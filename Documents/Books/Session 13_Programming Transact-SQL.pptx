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500" autoAdjust="0"/>
  </p:normalViewPr>
  <p:slideViewPr>
    <p:cSldViewPr>
      <p:cViewPr varScale="1">
        <p:scale>
          <a:sx n="62" d="100"/>
          <a:sy n="62" d="100"/>
        </p:scale>
        <p:origin x="20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5522F387-8546-487A-ABDE-848F24996553}" type="datetimeFigureOut">
              <a:rPr lang="en-US" smtClean="0"/>
              <a:t>10/26/2021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641E953-96C3-4CCD-A2C8-3914D170CD64}" type="slidenum">
              <a:rPr lang="en-US" smtClean="0"/>
              <a:t>‹#›</a:t>
            </a:fld>
            <a:endParaRPr lang="en-US"/>
          </a:p>
        </p:txBody>
      </p:sp>
    </p:spTree>
    <p:extLst>
      <p:ext uri="{BB962C8B-B14F-4D97-AF65-F5344CB8AC3E}">
        <p14:creationId xmlns:p14="http://schemas.microsoft.com/office/powerpoint/2010/main" val="1235060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13: Lập trình T-SQL</a:t>
            </a:r>
          </a:p>
        </p:txBody>
      </p:sp>
      <p:sp>
        <p:nvSpPr>
          <p:cNvPr id="4" name="Slide Number Placeholder 3"/>
          <p:cNvSpPr>
            <a:spLocks noGrp="1"/>
          </p:cNvSpPr>
          <p:nvPr>
            <p:ph type="sldNum" sz="quarter" idx="5"/>
          </p:nvPr>
        </p:nvSpPr>
        <p:spPr/>
        <p:txBody>
          <a:bodyPr/>
          <a:lstStyle/>
          <a:p>
            <a:fld id="{4641E953-96C3-4CCD-A2C8-3914D170CD64}" type="slidenum">
              <a:rPr lang="en-US" smtClean="0"/>
              <a:t>1</a:t>
            </a:fld>
            <a:endParaRPr lang="en-US"/>
          </a:p>
        </p:txBody>
      </p:sp>
    </p:spTree>
    <p:extLst>
      <p:ext uri="{BB962C8B-B14F-4D97-AF65-F5344CB8AC3E}">
        <p14:creationId xmlns:p14="http://schemas.microsoft.com/office/powerpoint/2010/main" val="1006197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en-US" b="0"/>
              <a:t>Mô tả tổng quan về lập trình Transact-SQL</a:t>
            </a:r>
          </a:p>
          <a:p>
            <a:pPr marL="171450" indent="-171450">
              <a:buFont typeface="Arial" panose="020B0604020202020204" pitchFamily="34" charset="0"/>
              <a:buChar char="•"/>
            </a:pPr>
            <a:r>
              <a:rPr lang="vi-VN" b="0"/>
              <a:t>Mô tả các câu lệnh </a:t>
            </a:r>
            <a:r>
              <a:rPr lang="en-US" b="0"/>
              <a:t>điều khiển </a:t>
            </a:r>
            <a:r>
              <a:rPr lang="vi-VN" b="0"/>
              <a:t>luồng chương trình</a:t>
            </a:r>
          </a:p>
          <a:p>
            <a:pPr marL="171450" indent="-171450">
              <a:buFont typeface="Arial" panose="020B0604020202020204" pitchFamily="34" charset="0"/>
              <a:buChar char="•"/>
            </a:pPr>
            <a:r>
              <a:rPr lang="vi-VN" b="0"/>
              <a:t>Mô tả các </a:t>
            </a:r>
            <a:r>
              <a:rPr lang="en-US" b="0"/>
              <a:t>hàm </a:t>
            </a:r>
            <a:r>
              <a:rPr lang="vi-VN" b="0"/>
              <a:t>Transact-SQL khác nhau</a:t>
            </a:r>
          </a:p>
          <a:p>
            <a:pPr marL="171450" indent="-171450">
              <a:buFont typeface="Arial" panose="020B0604020202020204" pitchFamily="34" charset="0"/>
              <a:buChar char="•"/>
            </a:pPr>
            <a:r>
              <a:rPr lang="vi-VN" b="0"/>
              <a:t>Giải thích </a:t>
            </a:r>
            <a:r>
              <a:rPr lang="en-US" b="0"/>
              <a:t>thủ tục </a:t>
            </a:r>
            <a:r>
              <a:rPr lang="vi-VN" b="0"/>
              <a:t>để tạo và thay đổi các hàm do người dùng định </a:t>
            </a:r>
            <a:r>
              <a:rPr lang="en-US" b="0"/>
              <a:t>nghĩa </a:t>
            </a:r>
            <a:r>
              <a:rPr lang="vi-VN" b="0"/>
              <a:t>(UDF)</a:t>
            </a:r>
          </a:p>
          <a:p>
            <a:pPr marL="171450" indent="-171450">
              <a:buFont typeface="Arial" panose="020B0604020202020204" pitchFamily="34" charset="0"/>
              <a:buChar char="•"/>
            </a:pPr>
            <a:r>
              <a:rPr lang="vi-VN" b="0"/>
              <a:t>Giải thích việc tạo ra các cửa sổ với </a:t>
            </a:r>
            <a:r>
              <a:rPr lang="en-US" sz="1200">
                <a:latin typeface="Calibri" pitchFamily="34" charset="0"/>
                <a:cs typeface="Calibri" pitchFamily="34" charset="0"/>
              </a:rPr>
              <a:t>OVER</a:t>
            </a:r>
            <a:endParaRPr lang="vi-VN" b="0"/>
          </a:p>
          <a:p>
            <a:pPr marL="171450" indent="-171450">
              <a:buFont typeface="Arial" panose="020B0604020202020204" pitchFamily="34" charset="0"/>
              <a:buChar char="•"/>
            </a:pPr>
            <a:r>
              <a:rPr lang="vi-VN" b="0"/>
              <a:t>Mô tả các </a:t>
            </a:r>
            <a:r>
              <a:rPr lang="en-US" b="0"/>
              <a:t>hàm </a:t>
            </a:r>
            <a:r>
              <a:rPr lang="vi-VN" b="0"/>
              <a:t>cửa sổ</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2</a:t>
            </a:fld>
            <a:endParaRPr lang="en-US"/>
          </a:p>
        </p:txBody>
      </p:sp>
    </p:spTree>
    <p:extLst>
      <p:ext uri="{BB962C8B-B14F-4D97-AF65-F5344CB8AC3E}">
        <p14:creationId xmlns:p14="http://schemas.microsoft.com/office/powerpoint/2010/main" val="2349026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en-US"/>
              <a:t>Lập trình Transact-SQL là m</a:t>
            </a:r>
            <a:r>
              <a:rPr lang="vi-VN"/>
              <a:t>ột phần mở rộng ngôn ngữ thủ tục SQL.</a:t>
            </a:r>
          </a:p>
          <a:p>
            <a:pPr marL="171450" lvl="0" indent="-171450">
              <a:buFont typeface="Arial" panose="020B0604020202020204" pitchFamily="34" charset="0"/>
              <a:buChar char="•"/>
            </a:pPr>
            <a:r>
              <a:rPr lang="en-US"/>
              <a:t>Lập trình Transact-SQL m</a:t>
            </a:r>
            <a:r>
              <a:rPr lang="vi-VN"/>
              <a:t>ở rộng bằng cách thêm các chương trình con và cấu trúc lập trình tương tự như các ngôn ngữ cấp cao.</a:t>
            </a:r>
            <a:endParaRPr lang="en-US"/>
          </a:p>
          <a:p>
            <a:pPr marL="171450" lvl="0" indent="-171450">
              <a:buFont typeface="Arial" panose="020B0604020202020204" pitchFamily="34" charset="0"/>
              <a:buChar char="•"/>
            </a:pPr>
            <a:r>
              <a:rPr lang="en-US"/>
              <a:t>Giống nh</a:t>
            </a:r>
            <a:r>
              <a:rPr lang="vi-VN"/>
              <a:t>ư</a:t>
            </a:r>
            <a:r>
              <a:rPr lang="en-US"/>
              <a:t> các ngôn ngữ lập trình cấp cao, lập trình Transact-SQL cũng có các quy tắc và cú pháp kiểm soát và cho phép các câu lệnh lập trình hoạt động cùng nhau.</a:t>
            </a:r>
          </a:p>
          <a:p>
            <a:pPr marL="171450" lvl="0" indent="-171450">
              <a:buFont typeface="Arial" panose="020B0604020202020204" pitchFamily="34" charset="0"/>
              <a:buChar char="•"/>
            </a:pPr>
            <a:r>
              <a:rPr lang="vi-VN"/>
              <a:t>Người dùng có thể kiểm soát luồng </a:t>
            </a:r>
            <a:r>
              <a:rPr lang="en-US"/>
              <a:t>của</a:t>
            </a:r>
            <a:r>
              <a:rPr lang="vi-VN"/>
              <a:t> chương trình bằng cách sử dụng các câu lệnh điều kiện như </a:t>
            </a:r>
            <a:r>
              <a:rPr lang="en-US"/>
              <a:t>IF</a:t>
            </a:r>
            <a:r>
              <a:rPr lang="vi-VN"/>
              <a:t> và </a:t>
            </a:r>
            <a:r>
              <a:rPr lang="en-US"/>
              <a:t>vòng lặp</a:t>
            </a:r>
            <a:r>
              <a:rPr lang="vi-VN"/>
              <a:t> như </a:t>
            </a:r>
            <a:r>
              <a:rPr lang="en-US"/>
              <a:t>WHILE</a:t>
            </a:r>
            <a:r>
              <a:rPr lang="vi-VN"/>
              <a:t>.</a:t>
            </a: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3</a:t>
            </a:fld>
            <a:endParaRPr lang="en-US"/>
          </a:p>
        </p:txBody>
      </p:sp>
    </p:spTree>
    <p:extLst>
      <p:ext uri="{BB962C8B-B14F-4D97-AF65-F5344CB8AC3E}">
        <p14:creationId xmlns:p14="http://schemas.microsoft.com/office/powerpoint/2010/main" val="650728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yếu tố lập trình Transact-SQL 1-3</a:t>
            </a:r>
          </a:p>
          <a:p>
            <a:pPr marL="171450" indent="-171450">
              <a:buFont typeface="Arial" panose="020B0604020202020204" pitchFamily="34" charset="0"/>
              <a:buChar char="•"/>
            </a:pPr>
            <a:r>
              <a:rPr lang="en-US" b="0"/>
              <a:t>Các yếu tố lập trình Transact-SQL cho phép thực hiện các thao tác khác nhau không thể thực hiện trong một câu lệnh.</a:t>
            </a:r>
          </a:p>
          <a:p>
            <a:pPr marL="171450" indent="-171450">
              <a:buFont typeface="Arial" panose="020B0604020202020204" pitchFamily="34" charset="0"/>
              <a:buChar char="•"/>
            </a:pPr>
            <a:r>
              <a:rPr lang="vi-VN" b="0"/>
              <a:t>Người dùng có thể nhóm một số câu lệnh Transact-SQL với nhau bằng cách sử dụng một trong các cách sau:</a:t>
            </a:r>
            <a:endParaRPr lang="en-US" b="0"/>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Lô</a:t>
            </a:r>
            <a:endParaRPr lang="en-US" b="1"/>
          </a:p>
          <a:p>
            <a:pPr marL="1085850" lvl="2" indent="-171450">
              <a:buFont typeface="Arial" panose="020B0604020202020204" pitchFamily="34" charset="0"/>
              <a:buChar char="•"/>
            </a:pPr>
            <a:r>
              <a:rPr lang="vi-VN" b="0"/>
              <a:t>Là một tập hợp của một hoặc nhiều câu lệnh Transact-SQL được gửi dưới dạng một đơn vị từ một ứng dụng đến máy chủ.</a:t>
            </a:r>
            <a:endParaRPr lang="en-US" b="0"/>
          </a:p>
          <a:p>
            <a:pPr marL="628650" lvl="1" indent="-171450">
              <a:buFont typeface="Arial" panose="020B0604020202020204" pitchFamily="34" charset="0"/>
              <a:buChar char="•"/>
            </a:pPr>
            <a:r>
              <a:rPr lang="vi-VN" b="1"/>
              <a:t>Thủ tục lưu trữ</a:t>
            </a:r>
            <a:endParaRPr lang="en-US" b="1"/>
          </a:p>
          <a:p>
            <a:pPr marL="1085850" lvl="2" indent="-171450">
              <a:buFont typeface="Arial" panose="020B0604020202020204" pitchFamily="34" charset="0"/>
              <a:buChar char="•"/>
            </a:pPr>
            <a:r>
              <a:rPr lang="vi-VN" b="0"/>
              <a:t>Là một tập hợp các câu lệnh Transact-SQL được biên dịch lại và được định </a:t>
            </a:r>
            <a:r>
              <a:rPr lang="en-US" b="0"/>
              <a:t>nghĩa </a:t>
            </a:r>
            <a:r>
              <a:rPr lang="vi-VN" b="0"/>
              <a:t>trước trên máy chủ.</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4</a:t>
            </a:fld>
            <a:endParaRPr lang="en-US"/>
          </a:p>
        </p:txBody>
      </p:sp>
    </p:spTree>
    <p:extLst>
      <p:ext uri="{BB962C8B-B14F-4D97-AF65-F5344CB8AC3E}">
        <p14:creationId xmlns:p14="http://schemas.microsoft.com/office/powerpoint/2010/main" val="1557086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yếu tố lập trình Transact-SQL 2-3</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Bẩy</a:t>
            </a:r>
          </a:p>
          <a:p>
            <a:pPr marL="628650" lvl="1" indent="-171450">
              <a:buFont typeface="Arial" panose="020B0604020202020204" pitchFamily="34" charset="0"/>
              <a:buChar char="•"/>
            </a:pPr>
            <a:r>
              <a:rPr lang="vi-VN" b="0"/>
              <a:t>Là một </a:t>
            </a:r>
            <a:r>
              <a:rPr lang="en-US" b="0"/>
              <a:t>kiểu</a:t>
            </a:r>
            <a:r>
              <a:rPr lang="vi-VN" b="0"/>
              <a:t> thủ tục lưu trữ đặc biệt được thực thi khi người dùng thực hiện một sự kiện như </a:t>
            </a:r>
            <a:r>
              <a:rPr lang="en-US" b="1"/>
              <a:t>THÊM</a:t>
            </a:r>
            <a:r>
              <a:rPr lang="vi-VN" b="0"/>
              <a:t>, </a:t>
            </a:r>
            <a:r>
              <a:rPr lang="en-US" b="1"/>
              <a:t>XÓA</a:t>
            </a:r>
            <a:r>
              <a:rPr lang="vi-VN" b="0"/>
              <a:t> hoặc </a:t>
            </a:r>
            <a:r>
              <a:rPr lang="vi-VN" b="1"/>
              <a:t>CẬP NHẬT </a:t>
            </a:r>
            <a:r>
              <a:rPr lang="vi-VN" b="0"/>
              <a:t>thao tác trên một bảng.</a:t>
            </a:r>
            <a:endParaRPr lang="en-US" b="0"/>
          </a:p>
          <a:p>
            <a:pPr marL="171450" lvl="0" indent="-171450">
              <a:buFont typeface="Arial" panose="020B0604020202020204" pitchFamily="34" charset="0"/>
              <a:buChar char="•"/>
            </a:pPr>
            <a:r>
              <a:rPr lang="en-US" b="1"/>
              <a:t>Kịch bản</a:t>
            </a:r>
          </a:p>
          <a:p>
            <a:pPr marL="628650" lvl="1" indent="-171450">
              <a:buFont typeface="Arial" panose="020B0604020202020204" pitchFamily="34" charset="0"/>
              <a:buChar char="•"/>
            </a:pPr>
            <a:r>
              <a:rPr lang="vi-VN" b="0"/>
              <a:t>Là một chuỗi các câu lệnh Transact-SQL được lưu trữ trong một t</a:t>
            </a:r>
            <a:r>
              <a:rPr lang="en-US" b="0"/>
              <a:t>ậ</a:t>
            </a:r>
            <a:r>
              <a:rPr lang="vi-VN" b="0"/>
              <a:t>p </a:t>
            </a:r>
            <a:r>
              <a:rPr lang="en-US" b="0"/>
              <a:t>tin </a:t>
            </a:r>
            <a:r>
              <a:rPr lang="vi-VN" b="0"/>
              <a:t>được sử dụng làm đầu vào cho trình soạn thảo mã SSMS hoặc tiện ích </a:t>
            </a:r>
            <a:r>
              <a:rPr lang="vi-VN" b="1"/>
              <a:t>sqlcmd</a:t>
            </a:r>
            <a:r>
              <a:rPr lang="vi-VN" b="0"/>
              <a:t>.</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5</a:t>
            </a:fld>
            <a:endParaRPr lang="en-US"/>
          </a:p>
        </p:txBody>
      </p:sp>
    </p:spTree>
    <p:extLst>
      <p:ext uri="{BB962C8B-B14F-4D97-AF65-F5344CB8AC3E}">
        <p14:creationId xmlns:p14="http://schemas.microsoft.com/office/powerpoint/2010/main" val="757624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yếu tố lập trình Transact-SQL 3-3</a:t>
            </a:r>
          </a:p>
          <a:p>
            <a:pPr marL="171450" indent="-171450">
              <a:buFont typeface="Arial" panose="020B0604020202020204" pitchFamily="34" charset="0"/>
              <a:buChar char="•"/>
            </a:pPr>
            <a:r>
              <a:rPr lang="vi-VN"/>
              <a:t>Các tính năng sau cho phép người dùng làm việc với các câu lệnh Transact-SQL:</a:t>
            </a:r>
            <a:endParaRPr lang="en-US"/>
          </a:p>
          <a:p>
            <a:pPr marL="628650" lvl="1" indent="-171450">
              <a:buFont typeface="Arial" panose="020B0604020202020204" pitchFamily="34" charset="0"/>
              <a:buChar char="•"/>
            </a:pPr>
            <a:r>
              <a:rPr lang="en-US" b="1"/>
              <a:t>Biến</a:t>
            </a:r>
          </a:p>
          <a:p>
            <a:pPr marL="1085850" lvl="2" indent="-171450">
              <a:buFont typeface="Arial" panose="020B0604020202020204" pitchFamily="34" charset="0"/>
              <a:buChar char="•"/>
            </a:pPr>
            <a:r>
              <a:rPr lang="vi-VN"/>
              <a:t>Cho phép người dùng lưu trữ dữ liệu có thể được sử dụng làm đầu vào trong câu lệnh Transact-SQL.</a:t>
            </a:r>
            <a:endParaRPr lang="en-US"/>
          </a:p>
          <a:p>
            <a:pPr marL="628650" lvl="1" indent="-171450">
              <a:buFont typeface="Arial" panose="020B0604020202020204" pitchFamily="34" charset="0"/>
              <a:buChar char="•"/>
            </a:pPr>
            <a:r>
              <a:rPr lang="en-US" b="1"/>
              <a:t>Kiểm soát luồng ch</a:t>
            </a:r>
            <a:r>
              <a:rPr lang="vi-VN" b="1"/>
              <a:t>ư</a:t>
            </a:r>
            <a:r>
              <a:rPr lang="en-US" b="1"/>
              <a:t>ơng trình</a:t>
            </a:r>
          </a:p>
          <a:p>
            <a:pPr marL="1085850" lvl="2" indent="-171450">
              <a:buFont typeface="Arial" panose="020B0604020202020204" pitchFamily="34" charset="0"/>
              <a:buChar char="•"/>
            </a:pPr>
            <a:r>
              <a:rPr lang="vi-VN" b="0"/>
              <a:t>Được sử dụng để bao gồm các cấu trúc có điều kiện trong Transact-SQL.</a:t>
            </a:r>
            <a:endParaRPr lang="en-US" b="0"/>
          </a:p>
          <a:p>
            <a:pPr marL="628650" lvl="1" indent="-171450">
              <a:buFont typeface="Arial" panose="020B0604020202020204" pitchFamily="34" charset="0"/>
              <a:buChar char="•"/>
            </a:pPr>
            <a:r>
              <a:rPr lang="en-US" b="1"/>
              <a:t>Xử lý lỗi</a:t>
            </a:r>
          </a:p>
          <a:p>
            <a:pPr marL="1085850" lvl="2" indent="-171450">
              <a:buFont typeface="Arial" panose="020B0604020202020204" pitchFamily="34" charset="0"/>
              <a:buChar char="•"/>
            </a:pPr>
            <a:r>
              <a:rPr lang="vi-VN" b="0"/>
              <a:t>Là một cơ chế được sử dụng để xử lý lỗi và cung cấp thông tin cho người dùng về lỗi xảy ra.</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6</a:t>
            </a:fld>
            <a:endParaRPr lang="en-US"/>
          </a:p>
        </p:txBody>
      </p:sp>
    </p:spTree>
    <p:extLst>
      <p:ext uri="{BB962C8B-B14F-4D97-AF65-F5344CB8AC3E}">
        <p14:creationId xmlns:p14="http://schemas.microsoft.com/office/powerpoint/2010/main" val="321313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lô Transact-SQL 1-2</a:t>
            </a:r>
          </a:p>
          <a:p>
            <a:pPr marL="171450" indent="-171450">
              <a:buFont typeface="Arial" panose="020B0604020202020204" pitchFamily="34" charset="0"/>
              <a:buChar char="•"/>
            </a:pPr>
            <a:r>
              <a:rPr lang="vi-VN" b="0"/>
              <a:t>Là một nhóm gồm một hoặc nhiều câu lệnh Transact-SQL được gửi đến máy chủ dưới dạng một đơn vị từ một ứng dụng để thực hiện.</a:t>
            </a:r>
            <a:endParaRPr lang="en-US" b="0"/>
          </a:p>
          <a:p>
            <a:pPr marL="171450" indent="-171450">
              <a:buFont typeface="Arial" panose="020B0604020202020204" pitchFamily="34" charset="0"/>
              <a:buChar char="•"/>
            </a:pPr>
            <a:r>
              <a:rPr lang="vi-VN" b="0"/>
              <a:t>Trong kế hoạch thực thi, các câu lệnh SQL được thực thi từng cái một.</a:t>
            </a:r>
            <a:r>
              <a:rPr lang="en-US" b="0"/>
              <a:t> </a:t>
            </a:r>
            <a:r>
              <a:rPr lang="vi-VN" b="0"/>
              <a:t>Một </a:t>
            </a:r>
            <a:r>
              <a:rPr lang="en-US" b="0"/>
              <a:t>phát biểu lô</a:t>
            </a:r>
            <a:r>
              <a:rPr lang="vi-VN" b="0"/>
              <a:t> Transact-SQL phải được </a:t>
            </a:r>
            <a:r>
              <a:rPr lang="en-US" b="0"/>
              <a:t>kết thúc bằng </a:t>
            </a:r>
            <a:r>
              <a:rPr lang="vi-VN" b="0"/>
              <a:t>dấu chấm phẩy.</a:t>
            </a:r>
            <a:endParaRPr lang="en-US" b="0"/>
          </a:p>
          <a:p>
            <a:pPr marL="171450" indent="-171450">
              <a:buFont typeface="Arial" panose="020B0604020202020204" pitchFamily="34" charset="0"/>
              <a:buChar char="•"/>
            </a:pPr>
            <a:r>
              <a:rPr lang="vi-VN" b="0"/>
              <a:t>Một lỗi biên dịch như lỗi cú pháp hạn chế quá trình biên dịch của kế hoạch thực thi.</a:t>
            </a:r>
            <a:r>
              <a:rPr lang="en-US" b="0"/>
              <a:t> </a:t>
            </a:r>
            <a:r>
              <a:rPr lang="vi-VN" b="0"/>
              <a:t>Vì vậy, nếu xảy ra lỗi biên dịch, không có câu lệnh nào trong lô được thực thi.</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7</a:t>
            </a:fld>
            <a:endParaRPr lang="en-US"/>
          </a:p>
        </p:txBody>
      </p:sp>
    </p:spTree>
    <p:extLst>
      <p:ext uri="{BB962C8B-B14F-4D97-AF65-F5344CB8AC3E}">
        <p14:creationId xmlns:p14="http://schemas.microsoft.com/office/powerpoint/2010/main" val="2002752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lô Transact-SQL 2-2</a:t>
            </a:r>
          </a:p>
          <a:p>
            <a:pPr marL="171450" indent="-171450">
              <a:buFont typeface="Arial" panose="020B0604020202020204" pitchFamily="34" charset="0"/>
              <a:buChar char="•"/>
            </a:pPr>
            <a:r>
              <a:rPr lang="vi-VN"/>
              <a:t>Một lỗi </a:t>
            </a:r>
            <a:r>
              <a:rPr lang="en-US" sz="1200" b="1">
                <a:latin typeface="Calibri" pitchFamily="34" charset="0"/>
                <a:cs typeface="Calibri" pitchFamily="34" charset="0"/>
              </a:rPr>
              <a:t>run-time</a:t>
            </a:r>
            <a:r>
              <a:rPr lang="en-US" sz="1200">
                <a:latin typeface="Calibri" pitchFamily="34" charset="0"/>
                <a:cs typeface="Calibri" pitchFamily="34" charset="0"/>
              </a:rPr>
              <a:t> </a:t>
            </a:r>
            <a:r>
              <a:rPr lang="vi-VN"/>
              <a:t>như vi phạm ràng buộc hoặc tràn số học có một trong các hiệu ứng sau:</a:t>
            </a:r>
            <a:endParaRPr lang="en-US"/>
          </a:p>
          <a:p>
            <a:pPr marL="628650" lvl="1" indent="-171450">
              <a:buFont typeface="Arial" panose="020B0604020202020204" pitchFamily="34" charset="0"/>
              <a:buChar char="•"/>
            </a:pPr>
            <a:r>
              <a:rPr lang="vi-VN"/>
              <a:t>Hầu hết các lỗi </a:t>
            </a:r>
            <a:r>
              <a:rPr lang="en-US" sz="1200" b="1">
                <a:latin typeface="Calibri" pitchFamily="34" charset="0"/>
                <a:cs typeface="Calibri" pitchFamily="34" charset="0"/>
              </a:rPr>
              <a:t>run-time </a:t>
            </a:r>
            <a:r>
              <a:rPr lang="vi-VN"/>
              <a:t>dừng câu lệnh hiện tại và các câu lệnh theo </a:t>
            </a:r>
            <a:r>
              <a:rPr lang="en-US"/>
              <a:t>sau</a:t>
            </a:r>
            <a:r>
              <a:rPr lang="vi-VN"/>
              <a:t> trong lô.</a:t>
            </a:r>
          </a:p>
          <a:p>
            <a:pPr marL="628650" lvl="1" indent="-171450">
              <a:buFont typeface="Arial" panose="020B0604020202020204" pitchFamily="34" charset="0"/>
              <a:buChar char="•"/>
            </a:pPr>
            <a:r>
              <a:rPr lang="vi-VN"/>
              <a:t>Một lỗi </a:t>
            </a:r>
            <a:r>
              <a:rPr lang="en-US" sz="1200" b="1">
                <a:latin typeface="Calibri" pitchFamily="34" charset="0"/>
                <a:cs typeface="Calibri" pitchFamily="34" charset="0"/>
              </a:rPr>
              <a:t>run-time </a:t>
            </a:r>
            <a:r>
              <a:rPr lang="vi-VN"/>
              <a:t>cụ thể như vi phạm ràng buộc chỉ dừng câu lệnh hiện có và các câu lệnh còn lại trong lô được thực thi.</a:t>
            </a: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8</a:t>
            </a:fld>
            <a:endParaRPr lang="en-US"/>
          </a:p>
        </p:txBody>
      </p:sp>
    </p:spTree>
    <p:extLst>
      <p:ext uri="{BB962C8B-B14F-4D97-AF65-F5344CB8AC3E}">
        <p14:creationId xmlns:p14="http://schemas.microsoft.com/office/powerpoint/2010/main" val="359205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biến Transact-SQL 1-3</a:t>
            </a:r>
          </a:p>
          <a:p>
            <a:pPr marL="171450" indent="-171450">
              <a:buFont typeface="Arial" panose="020B0604020202020204" pitchFamily="34" charset="0"/>
              <a:buChar char="•"/>
            </a:pPr>
            <a:r>
              <a:rPr lang="vi-VN" b="0"/>
              <a:t>Các biến cho phép người dùng lưu trữ dữ liệu để sử dụng dưới dạng đầu vào trong câu lệnh Transact-SQL.</a:t>
            </a:r>
            <a:endParaRPr lang="en-US" b="0"/>
          </a:p>
          <a:p>
            <a:pPr marL="0" indent="0">
              <a:buFont typeface="Arial" panose="020B0604020202020204" pitchFamily="34" charset="0"/>
              <a:buNone/>
            </a:pPr>
            <a:r>
              <a:rPr lang="en-US" b="0"/>
              <a:t>Ví dụ:</a:t>
            </a:r>
          </a:p>
          <a:p>
            <a:pPr marL="171450" indent="-171450">
              <a:buFont typeface="Arial" panose="020B0604020202020204" pitchFamily="34" charset="0"/>
              <a:buChar char="•"/>
            </a:pPr>
            <a:r>
              <a:rPr lang="vi-VN" b="0"/>
              <a:t>Người dùng có thể tạo một truy vấn yêu cầu các loại giá trị dữ liệu khác nhau được chỉ định trong mệnh đề WHRE mỗi khi truy vấn được thực thi.</a:t>
            </a:r>
          </a:p>
          <a:p>
            <a:pPr marL="171450" indent="-171450">
              <a:buFont typeface="Arial" panose="020B0604020202020204" pitchFamily="34" charset="0"/>
              <a:buChar char="•"/>
            </a:pPr>
            <a:r>
              <a:rPr lang="vi-VN" b="0"/>
              <a:t>Ở đây, người dùng có thể viết logic để lưu trữ các biến với dữ liệu phù hợp</a:t>
            </a:r>
            <a:r>
              <a:rPr lang="en-US" b="0"/>
              <a:t>.</a:t>
            </a:r>
          </a:p>
        </p:txBody>
      </p:sp>
      <p:sp>
        <p:nvSpPr>
          <p:cNvPr id="4" name="Slide Number Placeholder 3"/>
          <p:cNvSpPr>
            <a:spLocks noGrp="1"/>
          </p:cNvSpPr>
          <p:nvPr>
            <p:ph type="sldNum" sz="quarter" idx="5"/>
          </p:nvPr>
        </p:nvSpPr>
        <p:spPr/>
        <p:txBody>
          <a:bodyPr/>
          <a:lstStyle/>
          <a:p>
            <a:fld id="{4641E953-96C3-4CCD-A2C8-3914D170CD64}" type="slidenum">
              <a:rPr lang="en-US" smtClean="0"/>
              <a:t>9</a:t>
            </a:fld>
            <a:endParaRPr lang="en-US"/>
          </a:p>
        </p:txBody>
      </p:sp>
    </p:spTree>
    <p:extLst>
      <p:ext uri="{BB962C8B-B14F-4D97-AF65-F5344CB8AC3E}">
        <p14:creationId xmlns:p14="http://schemas.microsoft.com/office/powerpoint/2010/main" val="3363098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biến Transact-SQL 2-3</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ourier New" pitchFamily="49" charset="0"/>
                <a:cs typeface="Courier New" pitchFamily="49" charset="0"/>
              </a:rPr>
              <a:t>DECLARE</a:t>
            </a:r>
            <a:r>
              <a:rPr lang="vi-VN" b="0"/>
              <a:t>: </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biến được khai báo với </a:t>
            </a:r>
            <a:r>
              <a:rPr lang="en-US" b="0"/>
              <a:t>câu lệnh </a:t>
            </a:r>
            <a:r>
              <a:rPr lang="en-US" sz="1200" spc="90">
                <a:solidFill>
                  <a:srgbClr val="FFFFFF"/>
                </a:solidFill>
                <a:latin typeface="Times New Roman"/>
                <a:cs typeface="Times New Roman"/>
              </a:rPr>
              <a:t>DECLARE </a:t>
            </a:r>
            <a:r>
              <a:rPr lang="vi-VN" b="0"/>
              <a:t>trong phần thân của một </a:t>
            </a:r>
            <a:r>
              <a:rPr lang="en-US" b="0"/>
              <a:t>batch (lô)</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biến được gán giá trị bằng cách sử dụng câu lệnh </a:t>
            </a:r>
            <a:r>
              <a:rPr lang="en-US" sz="1200" b="1">
                <a:latin typeface="Courier New" pitchFamily="49" charset="0"/>
                <a:cs typeface="Courier New" pitchFamily="49" charset="0"/>
              </a:rPr>
              <a:t>SELECT</a:t>
            </a:r>
            <a:r>
              <a:rPr lang="vi-VN" b="0"/>
              <a:t> hoặc </a:t>
            </a:r>
            <a:r>
              <a:rPr lang="vi-VN" b="1"/>
              <a:t>SET</a:t>
            </a:r>
            <a:r>
              <a:rPr lang="vi-VN" b="0"/>
              <a:t> </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biến được được khởi tạo với các giá trị </a:t>
            </a:r>
            <a:r>
              <a:rPr lang="vi-VN" b="1"/>
              <a:t>NULL</a:t>
            </a:r>
            <a:r>
              <a:rPr lang="vi-VN" b="0"/>
              <a:t> nếu người dùng không cung cấp một giá trị tại thời điểm khai báo.</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Cú pháp:</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cs typeface="Courier New" pitchFamily="49" charset="0"/>
              </a:rPr>
              <a:t>	</a:t>
            </a:r>
            <a:r>
              <a:rPr lang="en-US" b="1">
                <a:cs typeface="Courier New" pitchFamily="49" charset="0"/>
              </a:rPr>
              <a:t>DECLARE {{ @local_variable [AS] data_type } | [ = value ] }</a:t>
            </a:r>
          </a:p>
          <a:p>
            <a:pPr marL="1085850" lvl="2" indent="-171450">
              <a:buFont typeface="Arial" panose="020B0604020202020204" pitchFamily="34" charset="0"/>
              <a:buChar char="•"/>
            </a:pPr>
            <a:r>
              <a:rPr lang="en-US" sz="1200" b="1">
                <a:cs typeface="Courier New" pitchFamily="49" charset="0"/>
              </a:rPr>
              <a:t>@local_variable</a:t>
            </a:r>
            <a:r>
              <a:rPr lang="vi-VN"/>
              <a:t>: Chỉ định tên của các biến và bắt đầu bằng dấu </a:t>
            </a:r>
            <a:r>
              <a:rPr lang="vi-VN" b="1"/>
              <a:t>@</a:t>
            </a:r>
            <a:r>
              <a:rPr lang="vi-VN"/>
              <a:t>.</a:t>
            </a:r>
          </a:p>
          <a:p>
            <a:pPr marL="1085850" lvl="2" indent="-171450">
              <a:buFont typeface="Arial" panose="020B0604020202020204" pitchFamily="34" charset="0"/>
              <a:buChar char="•"/>
            </a:pPr>
            <a:r>
              <a:rPr lang="en-US" sz="1200" b="1">
                <a:cs typeface="Courier New" pitchFamily="49" charset="0"/>
              </a:rPr>
              <a:t>data_type</a:t>
            </a:r>
            <a:r>
              <a:rPr lang="vi-VN"/>
              <a:t>: Chỉ định kiểu dữ liệu. Một biến không thể là </a:t>
            </a:r>
            <a:r>
              <a:rPr lang="en-US" sz="1200" b="1">
                <a:cs typeface="Courier New" pitchFamily="49" charset="0"/>
              </a:rPr>
              <a:t>image</a:t>
            </a:r>
            <a:r>
              <a:rPr lang="vi-VN"/>
              <a:t>, </a:t>
            </a:r>
            <a:r>
              <a:rPr lang="en-US" sz="1200" b="1">
                <a:cs typeface="Courier New" pitchFamily="49" charset="0"/>
              </a:rPr>
              <a:t>text</a:t>
            </a:r>
            <a:r>
              <a:rPr lang="en-US" sz="1200">
                <a:cs typeface="Courier New" pitchFamily="49" charset="0"/>
              </a:rPr>
              <a:t> </a:t>
            </a:r>
            <a:r>
              <a:rPr lang="vi-VN"/>
              <a:t>hoặc loại dữ liệu </a:t>
            </a:r>
            <a:r>
              <a:rPr lang="en-US" b="1"/>
              <a:t>n</a:t>
            </a:r>
            <a:r>
              <a:rPr lang="vi-VN" b="1"/>
              <a:t>text</a:t>
            </a:r>
            <a:r>
              <a:rPr lang="vi-VN"/>
              <a:t>.</a:t>
            </a:r>
          </a:p>
          <a:p>
            <a:pPr marL="1085850" lvl="2" indent="-171450">
              <a:buFont typeface="Arial" panose="020B0604020202020204" pitchFamily="34" charset="0"/>
              <a:buChar char="•"/>
            </a:pPr>
            <a:r>
              <a:rPr lang="en-US" sz="1200" b="1">
                <a:cs typeface="Courier New" pitchFamily="49" charset="0"/>
              </a:rPr>
              <a:t>=value</a:t>
            </a:r>
            <a:r>
              <a:rPr lang="vi-VN"/>
              <a:t>: Gán một giá trị nội tuyến cho một biến. Giá trị có thể là một biểu thức hoặc một giá trị không đổi. Giá trị phải khớp với </a:t>
            </a:r>
            <a:r>
              <a:rPr lang="en-US"/>
              <a:t>kiểu</a:t>
            </a:r>
            <a:r>
              <a:rPr lang="vi-VN"/>
              <a:t> khai báo biến hoặc nó phải được chuyển đổi ngầm thành loại đó.</a:t>
            </a:r>
            <a:endParaRPr lang="en-US"/>
          </a:p>
          <a:p>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10</a:t>
            </a:fld>
            <a:endParaRPr lang="en-US"/>
          </a:p>
        </p:txBody>
      </p:sp>
    </p:spTree>
    <p:extLst>
      <p:ext uri="{BB962C8B-B14F-4D97-AF65-F5344CB8AC3E}">
        <p14:creationId xmlns:p14="http://schemas.microsoft.com/office/powerpoint/2010/main" val="2382076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biến Transact-SQL 3-3</a:t>
            </a:r>
          </a:p>
          <a:p>
            <a:pPr marL="171450" indent="-171450">
              <a:buFont typeface="Arial" panose="020B0604020202020204" pitchFamily="34" charset="0"/>
              <a:buChar char="•"/>
            </a:pPr>
            <a:r>
              <a:rPr lang="en-US" b="1"/>
              <a:t>SET</a:t>
            </a:r>
          </a:p>
          <a:p>
            <a:pPr marL="628650" lvl="1" indent="-171450">
              <a:buFont typeface="Arial" panose="020B0604020202020204" pitchFamily="34" charset="0"/>
              <a:buChar char="•"/>
            </a:pPr>
            <a:r>
              <a:rPr lang="en-US" sz="1200" b="0">
                <a:latin typeface="Courier New" pitchFamily="49" charset="0"/>
                <a:cs typeface="Courier New" pitchFamily="49" charset="0"/>
              </a:rPr>
              <a:t>C</a:t>
            </a:r>
            <a:r>
              <a:rPr lang="vi-VN"/>
              <a:t>âu lệnh </a:t>
            </a:r>
            <a:r>
              <a:rPr lang="en-US"/>
              <a:t>đ</a:t>
            </a:r>
            <a:r>
              <a:rPr lang="vi-VN"/>
              <a:t>ặt biến cục bộ được tạo bởi câu lệnh </a:t>
            </a:r>
            <a:r>
              <a:rPr lang="en-US" sz="1200" b="1">
                <a:latin typeface="Courier New" pitchFamily="49" charset="0"/>
                <a:cs typeface="Courier New" pitchFamily="49" charset="0"/>
              </a:rPr>
              <a:t>DECLARE</a:t>
            </a:r>
            <a:r>
              <a:rPr lang="en-US" sz="1200">
                <a:latin typeface="Courier New" pitchFamily="49" charset="0"/>
                <a:cs typeface="Courier New" pitchFamily="49" charset="0"/>
              </a:rPr>
              <a:t> đến</a:t>
            </a:r>
            <a:r>
              <a:rPr lang="vi-VN"/>
              <a:t> giá trị được chỉ định.</a:t>
            </a:r>
            <a:endParaRPr lang="en-US"/>
          </a:p>
          <a:p>
            <a:pPr marL="171450" indent="-171450">
              <a:buFont typeface="Arial" panose="020B0604020202020204" pitchFamily="34" charset="0"/>
              <a:buChar char="•"/>
            </a:pPr>
            <a:r>
              <a:rPr lang="en-US" sz="1200" b="1">
                <a:latin typeface="Courier New" pitchFamily="49" charset="0"/>
                <a:cs typeface="Courier New" pitchFamily="49" charset="0"/>
              </a:rPr>
              <a:t>SELECT</a:t>
            </a:r>
            <a:r>
              <a:rPr lang="vi-VN"/>
              <a:t>: </a:t>
            </a:r>
            <a:endParaRPr lang="en-US"/>
          </a:p>
          <a:p>
            <a:pPr marL="628650" lvl="1" indent="-171450">
              <a:buFont typeface="Arial" panose="020B0604020202020204" pitchFamily="34" charset="0"/>
              <a:buChar char="•"/>
            </a:pPr>
            <a:r>
              <a:rPr lang="vi-VN"/>
              <a:t>Câu lệnh chỉ ra rằng biến cục bộ được chỉ định đã được tạo bằng cách sử dụng </a:t>
            </a:r>
            <a:r>
              <a:rPr lang="en-US" sz="1200" b="1">
                <a:latin typeface="Courier New" pitchFamily="49" charset="0"/>
                <a:cs typeface="Courier New" pitchFamily="49" charset="0"/>
              </a:rPr>
              <a:t>DECLARE</a:t>
            </a:r>
            <a:r>
              <a:rPr lang="en-US" sz="1200">
                <a:latin typeface="Courier New" pitchFamily="49" charset="0"/>
                <a:cs typeface="Courier New" pitchFamily="49" charset="0"/>
              </a:rPr>
              <a:t> </a:t>
            </a:r>
            <a:r>
              <a:rPr lang="vi-VN"/>
              <a:t>nên được đặt thành biểu thức đã cho.</a:t>
            </a: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11</a:t>
            </a:fld>
            <a:endParaRPr lang="en-US"/>
          </a:p>
        </p:txBody>
      </p:sp>
    </p:spTree>
    <p:extLst>
      <p:ext uri="{BB962C8B-B14F-4D97-AF65-F5344CB8AC3E}">
        <p14:creationId xmlns:p14="http://schemas.microsoft.com/office/powerpoint/2010/main" val="813001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Synonyms 1-5</a:t>
            </a:r>
          </a:p>
          <a:p>
            <a:pPr marL="171450" indent="-171450">
              <a:buFont typeface="Arial" panose="020B0604020202020204" pitchFamily="34" charset="0"/>
              <a:buChar char="•"/>
            </a:pPr>
            <a:r>
              <a:rPr lang="vi-VN" b="0"/>
              <a:t>Là các đối tượng cơ sở dữ liệu phục vụ các mục đích sau:</a:t>
            </a:r>
            <a:endParaRPr lang="en-US" b="0"/>
          </a:p>
          <a:p>
            <a:pPr marL="628650" lvl="1" indent="-171450">
              <a:buFont typeface="Arial" panose="020B0604020202020204" pitchFamily="34" charset="0"/>
              <a:buChar char="•"/>
            </a:pPr>
            <a:r>
              <a:rPr lang="en-US" b="0"/>
              <a:t>Chúng </a:t>
            </a:r>
            <a:r>
              <a:rPr lang="vi-VN" b="0"/>
              <a:t>cấp tên khác cho một đối tượng cơ sở dữ liệu khác, còn được gọi là đối tượng cơ sở</a:t>
            </a:r>
            <a:r>
              <a:rPr lang="en-US" b="0"/>
              <a:t>.</a:t>
            </a:r>
            <a:endParaRPr lang="vi-VN" b="0"/>
          </a:p>
          <a:p>
            <a:pPr marL="628650" lvl="1" indent="-171450">
              <a:buFont typeface="Arial" panose="020B0604020202020204" pitchFamily="34" charset="0"/>
              <a:buChar char="•"/>
            </a:pPr>
            <a:r>
              <a:rPr lang="en-US" b="0"/>
              <a:t>Chúng</a:t>
            </a:r>
            <a:r>
              <a:rPr lang="vi-VN" b="0"/>
              <a:t> trình bày một lớp trừu tượng bảo vệ một ứng dụng khách từ các sửa đổi được thực hiện đối với vị trí và tên của đối tượng cơ sở.</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Synonyms</a:t>
            </a:r>
            <a:r>
              <a:rPr lang="en-US" b="1"/>
              <a:t> </a:t>
            </a:r>
            <a:r>
              <a:rPr lang="en-US" b="0"/>
              <a:t>(từ đồng nghĩa) </a:t>
            </a:r>
            <a:r>
              <a:rPr lang="vi-VN" b="0"/>
              <a:t>là một phần của lược đồ, tên </a:t>
            </a:r>
            <a:r>
              <a:rPr lang="en-US" sz="1200">
                <a:latin typeface="Calibri" pitchFamily="34" charset="0"/>
                <a:cs typeface="Calibri" pitchFamily="34" charset="0"/>
              </a:rPr>
              <a:t>synonym </a:t>
            </a:r>
            <a:r>
              <a:rPr lang="vi-VN" b="0"/>
              <a:t>phải là duy nhất.</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Bảng sau liệt kê các đối tượng cơ sở dữ liệu mà người dùng có thể tạo </a:t>
            </a:r>
            <a:r>
              <a:rPr lang="en-US" sz="1200">
                <a:latin typeface="Calibri" pitchFamily="34" charset="0"/>
                <a:cs typeface="Calibri" pitchFamily="34" charset="0"/>
              </a:rPr>
              <a:t>synonyms</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12</a:t>
            </a:fld>
            <a:endParaRPr lang="en-US"/>
          </a:p>
        </p:txBody>
      </p:sp>
    </p:spTree>
    <p:extLst>
      <p:ext uri="{BB962C8B-B14F-4D97-AF65-F5344CB8AC3E}">
        <p14:creationId xmlns:p14="http://schemas.microsoft.com/office/powerpoint/2010/main" val="2794577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Synonyms 2-5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latin typeface="Calibri" pitchFamily="34" charset="0"/>
                <a:cs typeface="Calibri" pitchFamily="34" charset="0"/>
              </a:rPr>
              <a:t>Synonyms </a:t>
            </a:r>
            <a:r>
              <a:rPr lang="vi-VN" b="1"/>
              <a:t>và lược đồ</a:t>
            </a:r>
            <a:endParaRPr lang="en-US" b="1"/>
          </a:p>
          <a:p>
            <a:pPr marL="628650" lvl="1" indent="-171450">
              <a:buFont typeface="Arial" panose="020B0604020202020204" pitchFamily="34" charset="0"/>
              <a:buChar char="•"/>
            </a:pPr>
            <a:r>
              <a:rPr lang="vi-VN"/>
              <a:t>Giả sử người dùng muốn tạo một từ đồng nghĩa và có lược đồ mặc định không thuộc sở hữu của chúng.</a:t>
            </a:r>
          </a:p>
          <a:p>
            <a:pPr marL="628650" lvl="1" indent="-171450">
              <a:buFont typeface="Arial" panose="020B0604020202020204" pitchFamily="34" charset="0"/>
              <a:buChar char="•"/>
            </a:pPr>
            <a:r>
              <a:rPr lang="vi-VN"/>
              <a:t>Trong trường hợp như vậy, họ có thể định danh</a:t>
            </a:r>
            <a:r>
              <a:rPr lang="en-US"/>
              <a:t> </a:t>
            </a:r>
            <a:r>
              <a:rPr lang="vi-VN"/>
              <a:t>tên đồng nghĩa với tên lược đồ mà họ thực sự sở hữu.</a:t>
            </a:r>
            <a:endParaRPr lang="en-US"/>
          </a:p>
          <a:p>
            <a:pPr marL="171450" lvl="0" indent="-171450">
              <a:buFont typeface="Arial" panose="020B0604020202020204" pitchFamily="34" charset="0"/>
              <a:buChar char="•"/>
            </a:pPr>
            <a:r>
              <a:rPr lang="en-US"/>
              <a:t>Ví dụ</a:t>
            </a:r>
          </a:p>
          <a:p>
            <a:pPr marL="628650" lvl="1" indent="-171450">
              <a:buFont typeface="Arial" panose="020B0604020202020204" pitchFamily="34" charset="0"/>
              <a:buChar char="•"/>
            </a:pPr>
            <a:r>
              <a:rPr lang="vi-VN"/>
              <a:t>Người dùng sở hữu tài nguyên lược đồ, nhưng tài liệu là lược đồ mặc định của người dùng.</a:t>
            </a:r>
          </a:p>
          <a:p>
            <a:pPr marL="628650" lvl="1" indent="-171450">
              <a:buFont typeface="Arial" panose="020B0604020202020204" pitchFamily="34" charset="0"/>
              <a:buChar char="•"/>
            </a:pPr>
            <a:r>
              <a:rPr lang="vi-VN"/>
              <a:t>Nếu người dùng này muốn tạo một từ đồng nghĩa, anh ấy / cô ấy phải </a:t>
            </a:r>
            <a:r>
              <a:rPr lang="en-US"/>
              <a:t>tiếp đầu ngữa </a:t>
            </a:r>
            <a:r>
              <a:rPr lang="vi-VN"/>
              <a:t>tên từ đồng nghĩa với các tài nguyên lược đồ</a:t>
            </a: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13</a:t>
            </a:fld>
            <a:endParaRPr lang="en-US"/>
          </a:p>
        </p:txBody>
      </p:sp>
    </p:spTree>
    <p:extLst>
      <p:ext uri="{BB962C8B-B14F-4D97-AF65-F5344CB8AC3E}">
        <p14:creationId xmlns:p14="http://schemas.microsoft.com/office/powerpoint/2010/main" val="308415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Synonyms 3-5</a:t>
            </a:r>
          </a:p>
          <a:p>
            <a:pPr marL="171450" lvl="0" indent="-171450">
              <a:buFont typeface="Arial" panose="020B0604020202020204" pitchFamily="34" charset="0"/>
              <a:buChar char="•"/>
            </a:pPr>
            <a:r>
              <a:rPr lang="en-US" b="1"/>
              <a:t>Cấp quyền trên </a:t>
            </a:r>
            <a:r>
              <a:rPr lang="en-US" sz="1200" b="1">
                <a:latin typeface="Calibri" pitchFamily="34" charset="0"/>
                <a:cs typeface="Calibri" pitchFamily="34" charset="0"/>
              </a:rPr>
              <a:t>Synonyms</a:t>
            </a:r>
          </a:p>
          <a:p>
            <a:pPr marL="628650" lvl="1" indent="-171450">
              <a:buFont typeface="Arial" panose="020B0604020202020204" pitchFamily="34" charset="0"/>
              <a:buChar char="•"/>
            </a:pPr>
            <a:r>
              <a:rPr lang="vi-VN"/>
              <a:t>Người dùng có thể từ chối, cấp hoặc thu hồi tất cả hoặc bất kỳ quyền nào </a:t>
            </a:r>
            <a:r>
              <a:rPr lang="en-US"/>
              <a:t>trên</a:t>
            </a:r>
            <a:r>
              <a:rPr lang="vi-VN"/>
              <a:t> một</a:t>
            </a:r>
            <a:r>
              <a:rPr lang="en-US"/>
              <a:t> t</a:t>
            </a:r>
            <a:r>
              <a:rPr lang="vi-VN"/>
              <a:t>ừ đồng nghĩa</a:t>
            </a:r>
            <a:r>
              <a:rPr lang="en-US"/>
              <a:t>.</a:t>
            </a:r>
          </a:p>
          <a:p>
            <a:pPr marL="628650" lvl="1" indent="-171450">
              <a:buFont typeface="Arial" panose="020B0604020202020204" pitchFamily="34" charset="0"/>
              <a:buChar char="•"/>
            </a:pPr>
            <a:r>
              <a:rPr lang="vi-VN"/>
              <a:t>Chỉ các thành viên của vai trò </a:t>
            </a:r>
            <a:r>
              <a:rPr lang="vi-VN" b="1"/>
              <a:t>db_owner </a:t>
            </a:r>
            <a:r>
              <a:rPr lang="vi-VN"/>
              <a:t>hoặc </a:t>
            </a:r>
            <a:r>
              <a:rPr lang="vi-VN" b="1"/>
              <a:t>db_ddladmin </a:t>
            </a:r>
            <a:r>
              <a:rPr lang="vi-VN"/>
              <a:t>hoặc chủ sở hữu </a:t>
            </a:r>
            <a:r>
              <a:rPr lang="en-US" sz="1200">
                <a:latin typeface="Calibri" pitchFamily="34" charset="0"/>
                <a:cs typeface="Calibri" pitchFamily="34" charset="0"/>
              </a:rPr>
              <a:t>Synonym </a:t>
            </a:r>
            <a:r>
              <a:rPr lang="vi-VN"/>
              <a:t>được phép cấp quyền trên một </a:t>
            </a:r>
            <a:r>
              <a:rPr lang="en-US" sz="1200">
                <a:latin typeface="Calibri" pitchFamily="34" charset="0"/>
                <a:cs typeface="Calibri" pitchFamily="34" charset="0"/>
              </a:rPr>
              <a:t>Synonym</a:t>
            </a:r>
            <a:r>
              <a:rPr lang="vi-VN"/>
              <a:t>.</a:t>
            </a: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14</a:t>
            </a:fld>
            <a:endParaRPr lang="en-US"/>
          </a:p>
        </p:txBody>
      </p:sp>
    </p:spTree>
    <p:extLst>
      <p:ext uri="{BB962C8B-B14F-4D97-AF65-F5344CB8AC3E}">
        <p14:creationId xmlns:p14="http://schemas.microsoft.com/office/powerpoint/2010/main" val="511219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Synonyms 4-5</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Làm việc với Synonyms</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Để tạo </a:t>
            </a:r>
            <a:r>
              <a:rPr lang="en-US" b="0"/>
              <a:t>một</a:t>
            </a:r>
            <a:r>
              <a:rPr lang="vi-VN" b="0"/>
              <a:t> </a:t>
            </a:r>
            <a:r>
              <a:rPr lang="en-US" sz="1200">
                <a:latin typeface="Calibri" pitchFamily="34" charset="0"/>
                <a:cs typeface="Calibri" pitchFamily="34" charset="0"/>
              </a:rPr>
              <a:t>synonym </a:t>
            </a:r>
            <a:r>
              <a:rPr lang="vi-VN" b="0"/>
              <a:t>bằng SSMS, hãy thực hiện các bước sau:</a:t>
            </a:r>
            <a:endParaRPr lang="en-US" b="0"/>
          </a:p>
          <a:p>
            <a:pPr marL="1143000" marR="0" lvl="2"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Trong </a:t>
            </a:r>
            <a:r>
              <a:rPr lang="vi-VN" b="1"/>
              <a:t>Object Explorer</a:t>
            </a:r>
            <a:r>
              <a:rPr lang="vi-VN" b="0"/>
              <a:t>, mở rộng cơ sở dữ liệu nơi bạn muốn tạo một từ đồng nghĩa mới</a:t>
            </a:r>
          </a:p>
          <a:p>
            <a:pPr marL="1143000" marR="0" lvl="2"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Chọn thư mục </a:t>
            </a:r>
            <a:r>
              <a:rPr lang="en-US" sz="1200" b="1">
                <a:latin typeface="Calibri" pitchFamily="34" charset="0"/>
                <a:cs typeface="Calibri" pitchFamily="34" charset="0"/>
              </a:rPr>
              <a:t>Synonyms</a:t>
            </a:r>
            <a:r>
              <a:rPr lang="vi-VN" b="0"/>
              <a:t>, bấm chuột phải vào nó, rồi bấm </a:t>
            </a:r>
            <a:r>
              <a:rPr lang="en-US" sz="1200" b="1">
                <a:latin typeface="Calibri" pitchFamily="34" charset="0"/>
                <a:cs typeface="Calibri" pitchFamily="34" charset="0"/>
              </a:rPr>
              <a:t>New Synonym</a:t>
            </a:r>
            <a:r>
              <a:rPr lang="vi-VN" b="0"/>
              <a:t>...</a:t>
            </a:r>
          </a:p>
        </p:txBody>
      </p:sp>
      <p:sp>
        <p:nvSpPr>
          <p:cNvPr id="4" name="Slide Number Placeholder 3"/>
          <p:cNvSpPr>
            <a:spLocks noGrp="1"/>
          </p:cNvSpPr>
          <p:nvPr>
            <p:ph type="sldNum" sz="quarter" idx="5"/>
          </p:nvPr>
        </p:nvSpPr>
        <p:spPr/>
        <p:txBody>
          <a:bodyPr/>
          <a:lstStyle/>
          <a:p>
            <a:fld id="{4641E953-96C3-4CCD-A2C8-3914D170CD64}" type="slidenum">
              <a:rPr lang="en-US" smtClean="0"/>
              <a:t>15</a:t>
            </a:fld>
            <a:endParaRPr lang="en-US"/>
          </a:p>
        </p:txBody>
      </p:sp>
    </p:spTree>
    <p:extLst>
      <p:ext uri="{BB962C8B-B14F-4D97-AF65-F5344CB8AC3E}">
        <p14:creationId xmlns:p14="http://schemas.microsoft.com/office/powerpoint/2010/main" val="2560926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b="1"/>
              <a:t>Synonyms 5-5</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vi-VN" b="0"/>
              <a:t>Trong hộp thoại </a:t>
            </a:r>
            <a:r>
              <a:rPr lang="en-US" sz="1200" b="1">
                <a:latin typeface="Calibri" pitchFamily="34" charset="0"/>
                <a:cs typeface="Calibri" pitchFamily="34" charset="0"/>
              </a:rPr>
              <a:t>New Synonym </a:t>
            </a:r>
            <a:r>
              <a:rPr lang="vi-VN" b="0"/>
              <a:t>, cung cấp các thông tin sau:</a:t>
            </a:r>
            <a:endParaRPr lang="en-US" b="0"/>
          </a:p>
          <a:p>
            <a:pPr marL="228600" marR="0" lvl="0"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Synonym name</a:t>
            </a:r>
            <a:r>
              <a:rPr lang="vi-VN" b="0"/>
              <a:t>: là tên mới cho đối tượng.</a:t>
            </a:r>
            <a:r>
              <a:rPr lang="en-US" b="0"/>
              <a:t> </a:t>
            </a:r>
            <a:r>
              <a:rPr lang="fr-FR" b="0"/>
              <a:t>Ở đây, </a:t>
            </a:r>
            <a:r>
              <a:rPr lang="fr-FR" b="1"/>
              <a:t>Emp</a:t>
            </a:r>
            <a:r>
              <a:rPr lang="fr-FR" b="0"/>
              <a:t> là tên.</a:t>
            </a:r>
            <a:endParaRPr lang="vi-VN" b="0"/>
          </a:p>
          <a:p>
            <a:pPr marL="228600" marR="0" lvl="0"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Synonym schema</a:t>
            </a:r>
            <a:r>
              <a:rPr lang="vi-VN" b="0"/>
              <a:t>: là tên mới cho đối tượng lược đồ.</a:t>
            </a:r>
            <a:r>
              <a:rPr lang="en-US" b="0"/>
              <a:t> </a:t>
            </a:r>
            <a:r>
              <a:rPr lang="vi-VN" b="0"/>
              <a:t>Ở đây, </a:t>
            </a:r>
            <a:r>
              <a:rPr lang="en-US" sz="1200" b="1" spc="55">
                <a:solidFill>
                  <a:srgbClr val="251528"/>
                </a:solidFill>
                <a:latin typeface="Times New Roman"/>
                <a:cs typeface="Times New Roman"/>
              </a:rPr>
              <a:t>HumanResources</a:t>
            </a:r>
            <a:r>
              <a:rPr lang="en-US" sz="1200" spc="55">
                <a:solidFill>
                  <a:srgbClr val="251528"/>
                </a:solidFill>
                <a:latin typeface="Times New Roman"/>
                <a:cs typeface="Times New Roman"/>
              </a:rPr>
              <a:t> </a:t>
            </a:r>
            <a:r>
              <a:rPr lang="vi-VN" b="0"/>
              <a:t>được sử dụng cho từ đồng nghĩa và loại đối tượng.</a:t>
            </a:r>
          </a:p>
          <a:p>
            <a:pPr marL="228600" marR="0" lvl="0"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Server name</a:t>
            </a:r>
            <a:r>
              <a:rPr lang="vi-VN" b="0"/>
              <a:t>: là tên của máy chủ được kết nối.</a:t>
            </a:r>
            <a:r>
              <a:rPr lang="en-US" b="0"/>
              <a:t> </a:t>
            </a:r>
            <a:r>
              <a:rPr lang="vi-VN" b="0"/>
              <a:t>Ở đây, tên máy chủ được chỉ định là </a:t>
            </a:r>
            <a:r>
              <a:rPr lang="vi-VN" b="1"/>
              <a:t>10.2.110.140</a:t>
            </a:r>
          </a:p>
          <a:p>
            <a:pPr marL="228600" marR="0" lvl="0"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a:latin typeface="Calibri" pitchFamily="34" charset="0"/>
                <a:cs typeface="Calibri" pitchFamily="34" charset="0"/>
              </a:rPr>
              <a:t>Database name</a:t>
            </a:r>
            <a:r>
              <a:rPr lang="vi-VN" b="0"/>
              <a:t>: là tên cơ sở dữ liệu để kết nối đối tượng.</a:t>
            </a:r>
            <a:r>
              <a:rPr lang="en-US" b="0"/>
              <a:t> </a:t>
            </a:r>
            <a:r>
              <a:rPr lang="vi-VN" b="0"/>
              <a:t>Ở đây, </a:t>
            </a:r>
            <a:r>
              <a:rPr lang="vi-VN" b="1"/>
              <a:t>AdventureWorks2019</a:t>
            </a:r>
            <a:r>
              <a:rPr lang="vi-VN" b="0"/>
              <a:t> là tên cơ sở dữ liệu</a:t>
            </a:r>
          </a:p>
        </p:txBody>
      </p:sp>
      <p:sp>
        <p:nvSpPr>
          <p:cNvPr id="4" name="Slide Number Placeholder 3"/>
          <p:cNvSpPr>
            <a:spLocks noGrp="1"/>
          </p:cNvSpPr>
          <p:nvPr>
            <p:ph type="sldNum" sz="quarter" idx="5"/>
          </p:nvPr>
        </p:nvSpPr>
        <p:spPr/>
        <p:txBody>
          <a:bodyPr/>
          <a:lstStyle/>
          <a:p>
            <a:fld id="{4641E953-96C3-4CCD-A2C8-3914D170CD64}" type="slidenum">
              <a:rPr lang="en-US" smtClean="0"/>
              <a:t>16</a:t>
            </a:fld>
            <a:endParaRPr lang="en-US"/>
          </a:p>
        </p:txBody>
      </p:sp>
    </p:spTree>
    <p:extLst>
      <p:ext uri="{BB962C8B-B14F-4D97-AF65-F5344CB8AC3E}">
        <p14:creationId xmlns:p14="http://schemas.microsoft.com/office/powerpoint/2010/main" val="2361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Các câu lệnh</a:t>
            </a:r>
            <a:r>
              <a:rPr lang="en-US" b="1"/>
              <a:t> điều khiển </a:t>
            </a:r>
            <a:r>
              <a:rPr lang="vi-VN" b="1"/>
              <a:t>luồng chương trình</a:t>
            </a:r>
            <a:r>
              <a:rPr lang="en-US" b="1"/>
              <a:t> 1-2</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câu lệnh</a:t>
            </a:r>
            <a:r>
              <a:rPr lang="en-US" b="0"/>
              <a:t> điều khiển </a:t>
            </a:r>
            <a:r>
              <a:rPr lang="vi-VN" b="0"/>
              <a:t>luồng chương trình</a:t>
            </a:r>
            <a:r>
              <a:rPr lang="en-US" b="0"/>
              <a:t> </a:t>
            </a:r>
            <a:r>
              <a:rPr lang="vi-VN" b="0"/>
              <a:t>khác nhau được hỗ trợ bởi Transact-SQL như sau</a:t>
            </a:r>
            <a:r>
              <a:rPr lang="en-US" b="0"/>
              <a: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Transact-SQL ngôn ngữ điều khiển </a:t>
            </a:r>
            <a:r>
              <a:rPr lang="vi-VN" b="1"/>
              <a:t>luồng chương trình</a:t>
            </a:r>
            <a:endParaRPr lang="en-US" b="1"/>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Ngôn ngữ điều khiển luồng ch</a:t>
            </a:r>
            <a:r>
              <a:rPr lang="vi-VN" b="0"/>
              <a:t>ư</a:t>
            </a:r>
            <a:r>
              <a:rPr lang="en-US" b="0"/>
              <a:t>ơng trình x</a:t>
            </a:r>
            <a:r>
              <a:rPr lang="vi-VN" b="0"/>
              <a:t>ác định thực thi các câu lệnh Transact-SQL, các khối câu lệnh, </a:t>
            </a:r>
            <a:r>
              <a:rPr lang="en-US" b="0"/>
              <a:t>các hàm </a:t>
            </a:r>
            <a:r>
              <a:rPr lang="vi-VN" b="0"/>
              <a:t>do người dùng định </a:t>
            </a:r>
            <a:r>
              <a:rPr lang="en-US" b="0"/>
              <a:t>nghĩa </a:t>
            </a:r>
            <a:r>
              <a:rPr lang="vi-VN" b="0"/>
              <a:t>và các thủ tục lưu trữ</a:t>
            </a:r>
            <a:r>
              <a:rPr lang="en-US" b="0"/>
              <a:t>.</a:t>
            </a:r>
          </a:p>
        </p:txBody>
      </p:sp>
      <p:sp>
        <p:nvSpPr>
          <p:cNvPr id="4" name="Slide Number Placeholder 3"/>
          <p:cNvSpPr>
            <a:spLocks noGrp="1"/>
          </p:cNvSpPr>
          <p:nvPr>
            <p:ph type="sldNum" sz="quarter" idx="5"/>
          </p:nvPr>
        </p:nvSpPr>
        <p:spPr/>
        <p:txBody>
          <a:bodyPr/>
          <a:lstStyle/>
          <a:p>
            <a:fld id="{4641E953-96C3-4CCD-A2C8-3914D170CD64}" type="slidenum">
              <a:rPr lang="en-US" smtClean="0"/>
              <a:t>17</a:t>
            </a:fld>
            <a:endParaRPr lang="en-US"/>
          </a:p>
        </p:txBody>
      </p:sp>
    </p:spTree>
    <p:extLst>
      <p:ext uri="{BB962C8B-B14F-4D97-AF65-F5344CB8AC3E}">
        <p14:creationId xmlns:p14="http://schemas.microsoft.com/office/powerpoint/2010/main" val="1707495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a:latin typeface="Arial"/>
                <a:cs typeface="Arial"/>
              </a:rPr>
              <a:t>Các câu lệnh điều khiển luồng chương trình 2-2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1">
                <a:latin typeface="Arial"/>
                <a:cs typeface="Arial"/>
              </a:rPr>
              <a:t>BEGIN….END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a:latin typeface="Arial"/>
                <a:cs typeface="Arial"/>
              </a:rPr>
              <a:t>Câu lệnh BEGIN….END với một loạt các câu lệnh Transact-SQL để một nhóm các câu lệnh Transact-SQL được thực thi.</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1">
                <a:latin typeface="Arial"/>
                <a:cs typeface="Arial"/>
              </a:rPr>
              <a:t>IF…ELSE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a:latin typeface="Arial"/>
                <a:cs typeface="Arial"/>
              </a:rPr>
              <a:t>Câu lệnh IF…ELSE có thể thi hành một điều kiện về việc thực hiện một câu lệnh Transact-SQL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1">
                <a:latin typeface="Arial"/>
                <a:cs typeface="Arial"/>
              </a:rPr>
              <a:t>WHILE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a:latin typeface="Arial"/>
                <a:cs typeface="Arial"/>
              </a:rPr>
              <a:t>Câu lệnh WHILE chỉ định một điều kiện để thực hiện lặp đi lặp lại của khối tuyên bố</a:t>
            </a:r>
          </a:p>
        </p:txBody>
      </p:sp>
      <p:sp>
        <p:nvSpPr>
          <p:cNvPr id="4" name="Slide Number Placeholder 3"/>
          <p:cNvSpPr>
            <a:spLocks noGrp="1"/>
          </p:cNvSpPr>
          <p:nvPr>
            <p:ph type="sldNum" sz="quarter" idx="5"/>
          </p:nvPr>
        </p:nvSpPr>
        <p:spPr/>
        <p:txBody>
          <a:bodyPr/>
          <a:lstStyle/>
          <a:p>
            <a:fld id="{4641E953-96C3-4CCD-A2C8-3914D170CD64}" type="slidenum">
              <a:rPr lang="en-US" smtClean="0"/>
              <a:t>18</a:t>
            </a:fld>
            <a:endParaRPr lang="en-US"/>
          </a:p>
        </p:txBody>
      </p:sp>
    </p:spTree>
    <p:extLst>
      <p:ext uri="{BB962C8B-B14F-4D97-AF65-F5344CB8AC3E}">
        <p14:creationId xmlns:p14="http://schemas.microsoft.com/office/powerpoint/2010/main" val="341259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Các hàm Transact-SQL 1-3</a:t>
            </a:r>
          </a:p>
          <a:p>
            <a:pPr marL="171450" indent="-171450">
              <a:buFont typeface="Arial" panose="020B0604020202020204" pitchFamily="34" charset="0"/>
              <a:buChar char="•"/>
            </a:pPr>
            <a:r>
              <a:rPr lang="en-US"/>
              <a:t>Bảng sau liệt kê một số hàm tích hợp xác định và không xác định:</a:t>
            </a:r>
          </a:p>
        </p:txBody>
      </p:sp>
      <p:sp>
        <p:nvSpPr>
          <p:cNvPr id="4" name="Slide Number Placeholder 3"/>
          <p:cNvSpPr>
            <a:spLocks noGrp="1"/>
          </p:cNvSpPr>
          <p:nvPr>
            <p:ph type="sldNum" sz="quarter" idx="5"/>
          </p:nvPr>
        </p:nvSpPr>
        <p:spPr/>
        <p:txBody>
          <a:bodyPr/>
          <a:lstStyle/>
          <a:p>
            <a:fld id="{4641E953-96C3-4CCD-A2C8-3914D170CD64}" type="slidenum">
              <a:rPr lang="en-US" smtClean="0"/>
              <a:t>19</a:t>
            </a:fld>
            <a:endParaRPr lang="en-US"/>
          </a:p>
        </p:txBody>
      </p:sp>
    </p:spTree>
    <p:extLst>
      <p:ext uri="{BB962C8B-B14F-4D97-AF65-F5344CB8AC3E}">
        <p14:creationId xmlns:p14="http://schemas.microsoft.com/office/powerpoint/2010/main" val="21180037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hàm Transact-SQL 2-3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M</a:t>
            </a:r>
            <a:r>
              <a:rPr lang="vi-VN"/>
              <a:t>ột số </a:t>
            </a:r>
            <a:r>
              <a:rPr lang="en-US"/>
              <a:t>hàm </a:t>
            </a:r>
            <a:r>
              <a:rPr lang="vi-VN"/>
              <a:t>không phải lúc nào cũng xác định nhưng bạn có thể sử dụng chúng trong </a:t>
            </a:r>
            <a:r>
              <a:rPr lang="en-US"/>
              <a:t>khung nhìn </a:t>
            </a:r>
            <a:r>
              <a:rPr lang="vi-VN"/>
              <a:t>được lập chỉ mục nếu chúng được đưa ra theo cách xác định</a:t>
            </a:r>
            <a:endParaRPr lang="en-US"/>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20</a:t>
            </a:fld>
            <a:endParaRPr lang="en-US"/>
          </a:p>
        </p:txBody>
      </p:sp>
    </p:spTree>
    <p:extLst>
      <p:ext uri="{BB962C8B-B14F-4D97-AF65-F5344CB8AC3E}">
        <p14:creationId xmlns:p14="http://schemas.microsoft.com/office/powerpoint/2010/main" val="20938396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hàm Transact-SQL 3-3</a:t>
            </a:r>
          </a:p>
          <a:p>
            <a:pPr marL="171450" indent="-171450">
              <a:buFont typeface="Arial" panose="020B0604020202020204" pitchFamily="34" charset="0"/>
              <a:buChar char="•"/>
            </a:pPr>
            <a:r>
              <a:rPr lang="vi-VN" b="1"/>
              <a:t>Gọi các thủ tục lưu trữ mở rộng từ các </a:t>
            </a:r>
            <a:r>
              <a:rPr lang="en-US" b="1"/>
              <a:t>hàm</a:t>
            </a:r>
          </a:p>
          <a:p>
            <a:pPr marL="628650" lvl="1" indent="-171450">
              <a:buFont typeface="Arial" panose="020B0604020202020204" pitchFamily="34" charset="0"/>
              <a:buChar char="•"/>
            </a:pPr>
            <a:r>
              <a:rPr lang="vi-VN"/>
              <a:t>Các </a:t>
            </a:r>
            <a:r>
              <a:rPr lang="en-US"/>
              <a:t>hàm </a:t>
            </a:r>
            <a:r>
              <a:rPr lang="vi-VN"/>
              <a:t>gọi các thủ tục được lưu trữ mở rộng là không xác định vì các </a:t>
            </a:r>
            <a:r>
              <a:rPr lang="en-US"/>
              <a:t>thủ tục </a:t>
            </a:r>
            <a:r>
              <a:rPr lang="vi-VN"/>
              <a:t>lưu trữ mở rộng có thể dẫn đến các tác dụng phụ trên cơ sở dữ liệu.</a:t>
            </a:r>
            <a:endParaRPr lang="en-US"/>
          </a:p>
          <a:p>
            <a:pPr marL="171450" lvl="0" indent="-171450">
              <a:buFont typeface="Arial" panose="020B0604020202020204" pitchFamily="34" charset="0"/>
              <a:buChar char="•"/>
            </a:pPr>
            <a:r>
              <a:rPr lang="en-US" b="1"/>
              <a:t>Các hàm </a:t>
            </a:r>
            <a:r>
              <a:rPr lang="vi-VN" b="1"/>
              <a:t>có giá trị vô hướng</a:t>
            </a:r>
            <a:endParaRPr lang="en-US" b="1"/>
          </a:p>
          <a:p>
            <a:pPr marL="628650" lvl="1" indent="-171450">
              <a:buFont typeface="Arial" panose="020B0604020202020204" pitchFamily="34" charset="0"/>
              <a:buChar char="•"/>
            </a:pPr>
            <a:r>
              <a:rPr lang="vi-VN"/>
              <a:t>Một hàm có giá trị vô hướng (SVF) luôn trả về giá trị </a:t>
            </a:r>
            <a:r>
              <a:rPr lang="vi-VN" b="1"/>
              <a:t>int</a:t>
            </a:r>
            <a:r>
              <a:rPr lang="vi-VN"/>
              <a:t>, </a:t>
            </a:r>
            <a:r>
              <a:rPr lang="vi-VN" b="1"/>
              <a:t>bit</a:t>
            </a:r>
            <a:r>
              <a:rPr lang="vi-VN"/>
              <a:t> hoặc </a:t>
            </a:r>
            <a:r>
              <a:rPr lang="en-US" sz="1200" b="1">
                <a:cs typeface="Courier New" pitchFamily="49" charset="0"/>
              </a:rPr>
              <a:t>string</a:t>
            </a:r>
            <a:r>
              <a:rPr lang="vi-VN"/>
              <a: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Hàm có giá trị bảng</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Các </a:t>
            </a:r>
            <a:r>
              <a:rPr lang="en-US" b="0"/>
              <a:t>hàm </a:t>
            </a:r>
            <a:r>
              <a:rPr lang="vi-VN" b="0"/>
              <a:t>có giá trị bảng là các hàm do người dùng định </a:t>
            </a:r>
            <a:r>
              <a:rPr lang="en-US" b="0"/>
              <a:t>nghĩa </a:t>
            </a:r>
            <a:r>
              <a:rPr lang="vi-VN" b="0"/>
              <a:t>trả về một bảng.</a:t>
            </a:r>
          </a:p>
        </p:txBody>
      </p:sp>
      <p:sp>
        <p:nvSpPr>
          <p:cNvPr id="4" name="Slide Number Placeholder 3"/>
          <p:cNvSpPr>
            <a:spLocks noGrp="1"/>
          </p:cNvSpPr>
          <p:nvPr>
            <p:ph type="sldNum" sz="quarter" idx="5"/>
          </p:nvPr>
        </p:nvSpPr>
        <p:spPr/>
        <p:txBody>
          <a:bodyPr/>
          <a:lstStyle/>
          <a:p>
            <a:fld id="{4641E953-96C3-4CCD-A2C8-3914D170CD64}" type="slidenum">
              <a:rPr lang="en-US" smtClean="0"/>
              <a:t>21</a:t>
            </a:fld>
            <a:endParaRPr lang="en-US"/>
          </a:p>
        </p:txBody>
      </p:sp>
    </p:spTree>
    <p:extLst>
      <p:ext uri="{BB962C8B-B14F-4D97-AF65-F5344CB8AC3E}">
        <p14:creationId xmlns:p14="http://schemas.microsoft.com/office/powerpoint/2010/main" val="1551699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Thay đổi </a:t>
            </a:r>
            <a:r>
              <a:rPr lang="en-US" b="1"/>
              <a:t>hàm </a:t>
            </a:r>
            <a:r>
              <a:rPr lang="vi-VN" b="1"/>
              <a:t>do người dùng định</a:t>
            </a:r>
            <a:r>
              <a:rPr lang="en-US" b="1"/>
              <a:t> nghĩa 1-2</a:t>
            </a:r>
          </a:p>
          <a:p>
            <a:pPr marL="171450" indent="-171450">
              <a:buFont typeface="Arial" panose="020B0604020202020204" pitchFamily="34" charset="0"/>
              <a:buChar char="•"/>
            </a:pPr>
            <a:r>
              <a:rPr lang="vi-VN" b="0"/>
              <a:t>Người dùng có thể sửa đổi các hàm do người dùng </a:t>
            </a:r>
            <a:r>
              <a:rPr lang="en-US" b="0"/>
              <a:t>tự</a:t>
            </a:r>
            <a:r>
              <a:rPr lang="vi-VN" b="0"/>
              <a:t> định </a:t>
            </a:r>
            <a:r>
              <a:rPr lang="en-US" b="0"/>
              <a:t>nghĩa </a:t>
            </a:r>
            <a:r>
              <a:rPr lang="vi-VN" b="0"/>
              <a:t>trong SQL Server 2019 bằng cách sử dụng Transact-SQL hoặc SSMS</a:t>
            </a:r>
            <a:endParaRPr lang="en-US" b="0"/>
          </a:p>
          <a:p>
            <a:pPr marL="171450" indent="-171450">
              <a:buFont typeface="Arial" panose="020B0604020202020204" pitchFamily="34" charset="0"/>
              <a:buChar char="•"/>
            </a:pPr>
            <a:r>
              <a:rPr lang="vi-VN" b="0"/>
              <a:t>Thay đổi các </a:t>
            </a:r>
            <a:r>
              <a:rPr lang="en-US" b="0"/>
              <a:t>hàm </a:t>
            </a:r>
            <a:r>
              <a:rPr lang="vi-VN" b="0"/>
              <a:t>do người dùng </a:t>
            </a:r>
            <a:r>
              <a:rPr lang="en-US" b="0"/>
              <a:t>tự định nghĩa </a:t>
            </a:r>
            <a:r>
              <a:rPr lang="vi-VN" b="0"/>
              <a:t>không sửa đổi quyền của hàm, nó cũng sẽ không ảnh hưởng đến bất kỳ thủ tục lưu trữ, kích hoạt hoặc hàm nào</a:t>
            </a:r>
            <a:r>
              <a:rPr lang="en-US" b="0"/>
              <a:t>.</a:t>
            </a:r>
          </a:p>
          <a:p>
            <a:pPr marL="171450" indent="-171450">
              <a:buFont typeface="Arial" panose="020B0604020202020204" pitchFamily="34" charset="0"/>
              <a:buChar char="•"/>
            </a:pPr>
            <a:r>
              <a:rPr lang="en-US" b="1"/>
              <a:t>Hạn chế và giới hạn</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a:latin typeface="Courier New" pitchFamily="49" charset="0"/>
                <a:cs typeface="Courier New" pitchFamily="49" charset="0"/>
              </a:rPr>
              <a:t>ALTER FUNCTION</a:t>
            </a:r>
            <a:r>
              <a:rPr lang="en-US" sz="1200">
                <a:latin typeface="Calibri" pitchFamily="34" charset="0"/>
                <a:cs typeface="Calibri" pitchFamily="34" charset="0"/>
              </a:rPr>
              <a:t> </a:t>
            </a:r>
            <a:r>
              <a:rPr lang="vi-VN" b="0"/>
              <a:t>không cho phép người dùng thực hiện các hành động sau:</a:t>
            </a:r>
            <a:endParaRPr lang="en-US" b="0"/>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Sửa đổi một hàm có giá trị vô hướng đến một hàm có giá trị bảng.</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Sửa đổi hàm nội tuyến thành hàm đa câu lệnh.</a:t>
            </a:r>
          </a:p>
          <a:p>
            <a:pPr marL="1085850" marR="0" lvl="2"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Sửa đổi một Transact-SQL thành </a:t>
            </a:r>
            <a:r>
              <a:rPr lang="en-US" b="0"/>
              <a:t>hàm </a:t>
            </a:r>
            <a:r>
              <a:rPr lang="vi-VN" b="0"/>
              <a:t>CLR</a:t>
            </a:r>
            <a:r>
              <a:rPr lang="en-US" b="0"/>
              <a:t> (Common Language Runtime)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Quyền</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Quyền </a:t>
            </a:r>
            <a:r>
              <a:rPr lang="en-US" sz="1200">
                <a:latin typeface="Courier New" pitchFamily="49" charset="0"/>
                <a:cs typeface="Courier New" pitchFamily="49" charset="0"/>
              </a:rPr>
              <a:t>ALTER</a:t>
            </a:r>
            <a:r>
              <a:rPr lang="en-US" sz="1200" b="0">
                <a:latin typeface="Courier New" pitchFamily="49" charset="0"/>
                <a:cs typeface="Courier New" pitchFamily="49" charset="0"/>
              </a:rPr>
              <a:t> </a:t>
            </a:r>
            <a:r>
              <a:rPr lang="vi-VN" b="0"/>
              <a:t>được yêu cầu trên lược đồ hoặc </a:t>
            </a:r>
            <a:r>
              <a:rPr lang="en-US" b="0"/>
              <a:t>hàm</a:t>
            </a:r>
            <a:r>
              <a:rPr lang="vi-VN" b="0"/>
              <a:t>.</a:t>
            </a:r>
            <a:r>
              <a:rPr lang="en-US" b="0"/>
              <a:t> </a:t>
            </a:r>
            <a:r>
              <a:rPr lang="vi-VN" b="0"/>
              <a:t>Nếu hàm chỉ định một loại do người dùng định</a:t>
            </a:r>
            <a:r>
              <a:rPr lang="en-US" b="0"/>
              <a:t> nghĩa</a:t>
            </a:r>
            <a:r>
              <a:rPr lang="vi-VN" b="0"/>
              <a:t>, thì nó yêu cầu quyền </a:t>
            </a:r>
            <a:r>
              <a:rPr lang="en-US" sz="1200">
                <a:latin typeface="Courier New" pitchFamily="49" charset="0"/>
                <a:cs typeface="Courier New" pitchFamily="49" charset="0"/>
              </a:rPr>
              <a:t>EXECUTE</a:t>
            </a:r>
            <a:r>
              <a:rPr lang="en-US" sz="1200" b="0">
                <a:latin typeface="Courier New" pitchFamily="49" charset="0"/>
                <a:cs typeface="Courier New" pitchFamily="49" charset="0"/>
              </a:rPr>
              <a:t> </a:t>
            </a:r>
            <a:r>
              <a:rPr lang="vi-VN" b="0"/>
              <a:t>trên </a:t>
            </a:r>
            <a:r>
              <a:rPr lang="en-US" b="0"/>
              <a:t>kiểu</a:t>
            </a:r>
            <a:r>
              <a:rPr lang="vi-VN" b="0"/>
              <a:t>.</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22</a:t>
            </a:fld>
            <a:endParaRPr lang="en-US"/>
          </a:p>
        </p:txBody>
      </p:sp>
    </p:spTree>
    <p:extLst>
      <p:ext uri="{BB962C8B-B14F-4D97-AF65-F5344CB8AC3E}">
        <p14:creationId xmlns:p14="http://schemas.microsoft.com/office/powerpoint/2010/main" val="820911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Thay đổi </a:t>
            </a:r>
            <a:r>
              <a:rPr lang="en-US" b="1"/>
              <a:t>hàm </a:t>
            </a:r>
            <a:r>
              <a:rPr lang="vi-VN" b="1"/>
              <a:t>do người dùng định</a:t>
            </a:r>
            <a:r>
              <a:rPr lang="en-US" b="1"/>
              <a:t> nghĩa 2-2</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1"/>
              <a:t>Sửa đổi </a:t>
            </a:r>
            <a:r>
              <a:rPr lang="en-US" b="1"/>
              <a:t>hàm </a:t>
            </a:r>
            <a:r>
              <a:rPr lang="vi-VN" b="1"/>
              <a:t>do người dùng định</a:t>
            </a:r>
            <a:r>
              <a:rPr lang="en-US" b="1"/>
              <a:t>nghĩa </a:t>
            </a:r>
            <a:r>
              <a:rPr lang="vi-VN" b="1"/>
              <a:t> bằng SSMS</a:t>
            </a:r>
            <a:endParaRPr lang="en-US" b="1"/>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b="0"/>
              <a:t>Nhấp vào biểu tượng dấu cộng (+) bên cạnh cơ sở dữ liệu chứa </a:t>
            </a:r>
            <a:r>
              <a:rPr lang="en-US" b="0"/>
              <a:t>hàm </a:t>
            </a:r>
            <a:r>
              <a:rPr lang="vi-VN" b="0"/>
              <a:t>được sửa đổi.</a:t>
            </a:r>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b="0"/>
              <a:t>Nhấp vào biểu tượng Plus (+) bên cạnh thư mục </a:t>
            </a:r>
            <a:r>
              <a:rPr lang="en-US" sz="1200" b="1">
                <a:latin typeface="Calibri" pitchFamily="34" charset="0"/>
                <a:cs typeface="Calibri" pitchFamily="34" charset="0"/>
              </a:rPr>
              <a:t>Programmability</a:t>
            </a:r>
            <a:r>
              <a:rPr lang="vi-VN" b="0"/>
              <a:t>.</a:t>
            </a:r>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b="0"/>
              <a:t>Nhấp vào biểu tượng Plus (+) bên cạnh thư mục, chứa </a:t>
            </a:r>
            <a:r>
              <a:rPr lang="en-US" b="0"/>
              <a:t>hàm </a:t>
            </a:r>
            <a:r>
              <a:rPr lang="vi-VN" b="0"/>
              <a:t>được sửa đổi.</a:t>
            </a:r>
            <a:r>
              <a:rPr lang="en-US" b="0"/>
              <a:t> Có 4 kiểu th</a:t>
            </a:r>
            <a:r>
              <a:rPr lang="vi-VN" b="0"/>
              <a:t>ư</a:t>
            </a:r>
            <a:r>
              <a:rPr lang="en-US" b="0"/>
              <a:t> mục nh</a:t>
            </a:r>
            <a:r>
              <a:rPr lang="vi-VN" b="0"/>
              <a:t>ư</a:t>
            </a:r>
            <a:r>
              <a:rPr lang="en-US" b="0"/>
              <a:t> sau:</a:t>
            </a:r>
          </a:p>
          <a:p>
            <a:pPr marL="1143000" marR="0" lvl="2"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i="0"/>
              <a:t>Table-valued Functions </a:t>
            </a:r>
            <a:r>
              <a:rPr lang="en-US" i="0"/>
              <a:t>(L</a:t>
            </a:r>
            <a:r>
              <a:rPr lang="vi-VN" i="0"/>
              <a:t>à một hàm do người dùng </a:t>
            </a:r>
            <a:r>
              <a:rPr lang="en-US" i="0"/>
              <a:t>tự</a:t>
            </a:r>
            <a:r>
              <a:rPr lang="vi-VN" i="0"/>
              <a:t> định </a:t>
            </a:r>
            <a:r>
              <a:rPr lang="en-US" i="0"/>
              <a:t>nghĩa </a:t>
            </a:r>
            <a:r>
              <a:rPr lang="vi-VN" i="0"/>
              <a:t>trả về dữ liệu của </a:t>
            </a:r>
            <a:r>
              <a:rPr lang="en-US" i="0"/>
              <a:t>kiểu</a:t>
            </a:r>
            <a:r>
              <a:rPr lang="vi-VN" i="0"/>
              <a:t> bảng. </a:t>
            </a:r>
            <a:r>
              <a:rPr lang="en-US" i="0"/>
              <a:t>Kiểu</a:t>
            </a:r>
            <a:r>
              <a:rPr lang="vi-VN" i="0"/>
              <a:t> trả về của một hàm có giá trị bảng là một bảng</a:t>
            </a:r>
            <a:r>
              <a:rPr lang="en-US" i="0"/>
              <a:t>)</a:t>
            </a:r>
          </a:p>
          <a:p>
            <a:pPr marL="1143000" marR="0" lvl="2"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i="0"/>
              <a:t>Scala-valued Functions </a:t>
            </a:r>
            <a:r>
              <a:rPr lang="en-US" i="0"/>
              <a:t>(Đ</a:t>
            </a:r>
            <a:r>
              <a:rPr lang="vi-VN" i="0"/>
              <a:t>ược sử dụng để trả về một giá trị duy nhất của bất kỳ </a:t>
            </a:r>
            <a:r>
              <a:rPr lang="en-US" i="0"/>
              <a:t>kiểu</a:t>
            </a:r>
            <a:r>
              <a:rPr lang="vi-VN" i="0"/>
              <a:t> dữ liệu T-SQL</a:t>
            </a:r>
            <a:r>
              <a:rPr lang="en-US" i="0"/>
              <a:t>)</a:t>
            </a:r>
          </a:p>
          <a:p>
            <a:pPr marL="1143000" marR="0" lvl="2"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i="0"/>
              <a:t>Aggregate functions </a:t>
            </a:r>
            <a:r>
              <a:rPr lang="en-US" i="0"/>
              <a:t>(Các hàm thống kê)</a:t>
            </a:r>
          </a:p>
          <a:p>
            <a:pPr marL="1143000" marR="0" lvl="2" indent="-22860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i="0"/>
              <a:t>System Functions </a:t>
            </a:r>
            <a:r>
              <a:rPr lang="en-US" i="0"/>
              <a:t>(Các hàm hệ thống)</a:t>
            </a:r>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b="0"/>
              <a:t>Nhấp chuột phải vào </a:t>
            </a:r>
            <a:r>
              <a:rPr lang="en-US" b="0"/>
              <a:t>hàm </a:t>
            </a:r>
            <a:r>
              <a:rPr lang="vi-VN" b="0"/>
              <a:t>sẽ được sửa đổi và sau đó, chọn </a:t>
            </a:r>
            <a:r>
              <a:rPr lang="en-US" sz="1200" b="1">
                <a:latin typeface="Calibri" pitchFamily="34" charset="0"/>
                <a:cs typeface="Calibri" pitchFamily="34" charset="0"/>
              </a:rPr>
              <a:t>Modify</a:t>
            </a:r>
            <a:r>
              <a:rPr lang="vi-VN" b="0"/>
              <a:t>. Mã cho </a:t>
            </a:r>
            <a:r>
              <a:rPr lang="en-US" b="0"/>
              <a:t>hàm </a:t>
            </a:r>
            <a:r>
              <a:rPr lang="vi-VN" b="0"/>
              <a:t>xuất hiện trong cửa sổ </a:t>
            </a:r>
            <a:r>
              <a:rPr lang="en-US" b="0"/>
              <a:t>Query</a:t>
            </a:r>
            <a:r>
              <a:rPr lang="vi-VN" b="0"/>
              <a:t>.</a:t>
            </a:r>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b="0"/>
              <a:t>Trong cửa sổ </a:t>
            </a:r>
            <a:r>
              <a:rPr lang="en-US" b="1"/>
              <a:t>Query</a:t>
            </a:r>
            <a:r>
              <a:rPr lang="vi-VN" b="0"/>
              <a:t>, hãy thực hiện các thay đổi cần thiết cho </a:t>
            </a:r>
            <a:r>
              <a:rPr lang="en-US" b="0"/>
              <a:t>phần thân</a:t>
            </a:r>
            <a:r>
              <a:rPr lang="vi-VN" b="0"/>
              <a:t> câu lệnh</a:t>
            </a:r>
            <a:r>
              <a:rPr lang="en-US" b="0"/>
              <a:t> </a:t>
            </a:r>
            <a:r>
              <a:rPr lang="en-US" sz="1200">
                <a:latin typeface="Courier New" pitchFamily="49" charset="0"/>
                <a:cs typeface="Courier New" pitchFamily="49" charset="0"/>
              </a:rPr>
              <a:t>ALTER FUNCTION</a:t>
            </a:r>
            <a:r>
              <a:rPr lang="en-US" sz="1200">
                <a:latin typeface="Calibri" pitchFamily="34" charset="0"/>
                <a:cs typeface="Calibri" pitchFamily="34" charset="0"/>
              </a:rPr>
              <a:t> </a:t>
            </a:r>
            <a:endParaRPr lang="en-US"/>
          </a:p>
          <a:p>
            <a:pPr marL="6858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vi-VN" b="0"/>
              <a:t>Nhấp vào </a:t>
            </a:r>
            <a:r>
              <a:rPr lang="en-US" sz="1200" b="1">
                <a:latin typeface="Calibri" pitchFamily="34" charset="0"/>
                <a:cs typeface="Calibri" pitchFamily="34" charset="0"/>
              </a:rPr>
              <a:t>Execute</a:t>
            </a:r>
            <a:r>
              <a:rPr lang="en-US" sz="1200" b="0">
                <a:latin typeface="Calibri" pitchFamily="34" charset="0"/>
                <a:cs typeface="Calibri" pitchFamily="34" charset="0"/>
              </a:rPr>
              <a:t> </a:t>
            </a:r>
            <a:r>
              <a:rPr lang="vi-VN" b="0"/>
              <a:t>trên thanh công cụ để thực thi câu lệnh </a:t>
            </a:r>
            <a:r>
              <a:rPr lang="en-US" sz="1200">
                <a:latin typeface="Courier New" pitchFamily="49" charset="0"/>
                <a:cs typeface="Courier New" pitchFamily="49" charset="0"/>
              </a:rPr>
              <a:t>ALTER FUNCTION</a:t>
            </a: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23</a:t>
            </a:fld>
            <a:endParaRPr lang="en-US"/>
          </a:p>
        </p:txBody>
      </p:sp>
    </p:spTree>
    <p:extLst>
      <p:ext uri="{BB962C8B-B14F-4D97-AF65-F5344CB8AC3E}">
        <p14:creationId xmlns:p14="http://schemas.microsoft.com/office/powerpoint/2010/main" val="8083614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Tạo Windows với </a:t>
            </a:r>
            <a:r>
              <a:rPr lang="en-US" b="1"/>
              <a:t>OVER</a:t>
            </a:r>
          </a:p>
          <a:p>
            <a:pPr marL="171450" indent="-171450">
              <a:buFont typeface="Arial" panose="020B0604020202020204" pitchFamily="34" charset="0"/>
              <a:buChar char="•"/>
            </a:pPr>
            <a:r>
              <a:rPr lang="vi-VN" b="0"/>
              <a:t>Trong Transact-SQL, mệnh đề </a:t>
            </a:r>
            <a:r>
              <a:rPr lang="en-US" sz="1200" spc="235">
                <a:solidFill>
                  <a:srgbClr val="FFFFFF"/>
                </a:solidFill>
                <a:latin typeface="Times New Roman"/>
                <a:cs typeface="Times New Roman"/>
              </a:rPr>
              <a:t>O</a:t>
            </a:r>
            <a:r>
              <a:rPr lang="en-US" sz="1200" spc="225">
                <a:solidFill>
                  <a:srgbClr val="FFFFFF"/>
                </a:solidFill>
                <a:latin typeface="Times New Roman"/>
                <a:cs typeface="Times New Roman"/>
              </a:rPr>
              <a:t>V</a:t>
            </a:r>
            <a:r>
              <a:rPr lang="en-US" sz="1200" spc="45">
                <a:solidFill>
                  <a:srgbClr val="FFFFFF"/>
                </a:solidFill>
                <a:latin typeface="Times New Roman"/>
                <a:cs typeface="Times New Roman"/>
              </a:rPr>
              <a:t>ER </a:t>
            </a:r>
            <a:r>
              <a:rPr lang="vi-VN" b="0"/>
              <a:t>được sử dụng để định</a:t>
            </a:r>
            <a:r>
              <a:rPr lang="en-US" b="0"/>
              <a:t> nghĩa</a:t>
            </a:r>
            <a:r>
              <a:rPr lang="vi-VN" b="0"/>
              <a:t> một cửa sổ trong một kết quả truy vấn.</a:t>
            </a:r>
          </a:p>
          <a:p>
            <a:pPr marL="171450" indent="-171450">
              <a:buFont typeface="Arial" panose="020B0604020202020204" pitchFamily="34" charset="0"/>
              <a:buChar char="•"/>
            </a:pPr>
            <a:r>
              <a:rPr lang="vi-VN" b="0"/>
              <a:t>Sử dụng Windows và mệnh đề </a:t>
            </a:r>
            <a:r>
              <a:rPr lang="en-US" sz="1200" spc="235">
                <a:solidFill>
                  <a:srgbClr val="FFFFFF"/>
                </a:solidFill>
                <a:latin typeface="Times New Roman"/>
                <a:cs typeface="Times New Roman"/>
              </a:rPr>
              <a:t>O</a:t>
            </a:r>
            <a:r>
              <a:rPr lang="en-US" sz="1200" spc="225">
                <a:solidFill>
                  <a:srgbClr val="FFFFFF"/>
                </a:solidFill>
                <a:latin typeface="Times New Roman"/>
                <a:cs typeface="Times New Roman"/>
              </a:rPr>
              <a:t>V</a:t>
            </a:r>
            <a:r>
              <a:rPr lang="en-US" sz="1200" spc="45">
                <a:solidFill>
                  <a:srgbClr val="FFFFFF"/>
                </a:solidFill>
                <a:latin typeface="Times New Roman"/>
                <a:cs typeface="Times New Roman"/>
              </a:rPr>
              <a:t>ER v</a:t>
            </a:r>
            <a:r>
              <a:rPr lang="vi-VN" b="0"/>
              <a:t>ới các hàm cung cấp một số ưu điểm</a:t>
            </a:r>
            <a:r>
              <a:rPr lang="en-US" b="0"/>
              <a:t>.</a:t>
            </a:r>
          </a:p>
          <a:p>
            <a:pPr marL="171450" indent="-171450">
              <a:buFont typeface="Arial" panose="020B0604020202020204" pitchFamily="34" charset="0"/>
              <a:buChar char="•"/>
            </a:pPr>
            <a:r>
              <a:rPr lang="vi-VN" b="0"/>
              <a:t>Ví dụ</a:t>
            </a:r>
            <a:r>
              <a:rPr lang="en-US" b="0"/>
              <a:t>:</a:t>
            </a:r>
            <a:endParaRPr lang="vi-VN" b="0"/>
          </a:p>
          <a:p>
            <a:pPr marL="628650" lvl="1" indent="-171450">
              <a:buFont typeface="Arial" panose="020B0604020202020204" pitchFamily="34" charset="0"/>
              <a:buChar char="•"/>
            </a:pPr>
            <a:r>
              <a:rPr lang="en-US" b="0"/>
              <a:t>Chúng</a:t>
            </a:r>
            <a:r>
              <a:rPr lang="vi-VN" b="0"/>
              <a:t> giúp tính toán các giá trị tổng hợp. Chúng cũng kích hoạt các số hàng trong một kết quả được tạo dễ dàng</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24</a:t>
            </a:fld>
            <a:endParaRPr lang="en-US"/>
          </a:p>
        </p:txBody>
      </p:sp>
    </p:spTree>
    <p:extLst>
      <p:ext uri="{BB962C8B-B14F-4D97-AF65-F5344CB8AC3E}">
        <p14:creationId xmlns:p14="http://schemas.microsoft.com/office/powerpoint/2010/main" val="3397302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thành phần cửa sổ</a:t>
            </a:r>
          </a:p>
          <a:p>
            <a:pPr marL="171450" indent="-171450">
              <a:buFont typeface="Arial" panose="020B0604020202020204" pitchFamily="34" charset="0"/>
              <a:buChar char="•"/>
            </a:pPr>
            <a:r>
              <a:rPr lang="en-US" b="0"/>
              <a:t>Hàm Window là một hàm áp dụng cho một tập hợp các hàng.</a:t>
            </a:r>
          </a:p>
          <a:p>
            <a:pPr marL="171450" indent="-171450">
              <a:buFont typeface="Arial" panose="020B0604020202020204" pitchFamily="34" charset="0"/>
              <a:buChar char="•"/>
            </a:pPr>
            <a:r>
              <a:rPr lang="vi-VN" b="0"/>
              <a:t>Từ 'Window' được sử dụng để chỉ tập </a:t>
            </a:r>
            <a:r>
              <a:rPr lang="en-US" b="0"/>
              <a:t>hợp </a:t>
            </a:r>
            <a:r>
              <a:rPr lang="vi-VN" b="0"/>
              <a:t>các hàng mà </a:t>
            </a:r>
            <a:r>
              <a:rPr lang="en-US" b="0"/>
              <a:t>hàm </a:t>
            </a:r>
            <a:r>
              <a:rPr lang="vi-VN" b="0"/>
              <a:t>hoạt động trên.</a:t>
            </a:r>
            <a:endParaRPr lang="en-US" b="0"/>
          </a:p>
          <a:p>
            <a:pPr marL="171450" indent="-171450">
              <a:buFont typeface="Arial" panose="020B0604020202020204" pitchFamily="34" charset="0"/>
              <a:buChar char="•"/>
            </a:pPr>
            <a:r>
              <a:rPr lang="en-US" b="0"/>
              <a:t>M</a:t>
            </a:r>
            <a:r>
              <a:rPr lang="vi-VN" b="0"/>
              <a:t>ệnh đề </a:t>
            </a:r>
            <a:r>
              <a:rPr lang="en-US" sz="1200">
                <a:latin typeface="Courier New" pitchFamily="49" charset="0"/>
                <a:cs typeface="Courier New" pitchFamily="49" charset="0"/>
              </a:rPr>
              <a:t>OVER </a:t>
            </a:r>
            <a:r>
              <a:rPr lang="vi-VN" b="0"/>
              <a:t>được sử dụng để định </a:t>
            </a:r>
            <a:r>
              <a:rPr lang="en-US" b="0"/>
              <a:t>nghĩa </a:t>
            </a:r>
            <a:r>
              <a:rPr lang="vi-VN" b="0"/>
              <a:t>một cửa sổ trong một kết quả truy vấn.</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25</a:t>
            </a:fld>
            <a:endParaRPr lang="en-US"/>
          </a:p>
        </p:txBody>
      </p:sp>
    </p:spTree>
    <p:extLst>
      <p:ext uri="{BB962C8B-B14F-4D97-AF65-F5344CB8AC3E}">
        <p14:creationId xmlns:p14="http://schemas.microsoft.com/office/powerpoint/2010/main" val="33631480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thành phần cửa sổ 1-3</a:t>
            </a:r>
          </a:p>
          <a:p>
            <a:pPr marL="171450" indent="-171450">
              <a:buFont typeface="Arial" panose="020B0604020202020204" pitchFamily="34" charset="0"/>
              <a:buChar char="•"/>
            </a:pPr>
            <a:r>
              <a:rPr lang="en-US" b="0"/>
              <a:t>3</a:t>
            </a:r>
            <a:r>
              <a:rPr lang="vi-VN" b="0"/>
              <a:t> thành phần cốt lõi của việc tạo Window với mệnh đề </a:t>
            </a:r>
            <a:r>
              <a:rPr lang="en-US" sz="1200">
                <a:cs typeface="Courier New" pitchFamily="49" charset="0"/>
              </a:rPr>
              <a:t>OVER</a:t>
            </a:r>
            <a:r>
              <a:rPr lang="vi-VN" b="0"/>
              <a:t> như sau:</a:t>
            </a:r>
            <a:endParaRPr lang="en-US" b="0"/>
          </a:p>
          <a:p>
            <a:pPr marL="628650" lvl="1" indent="-171450">
              <a:buFont typeface="Arial" panose="020B0604020202020204" pitchFamily="34" charset="0"/>
              <a:buChar char="•"/>
            </a:pPr>
            <a:r>
              <a:rPr lang="vi-VN" b="1"/>
              <a:t>Phân vùng </a:t>
            </a:r>
            <a:r>
              <a:rPr lang="vi-VN" b="0"/>
              <a:t>- là một tính năng giới hạn cửa sổ của tính toán gần đây cho chỉ những hàng đó từ kết quả chứa các giá trị tương tự trong các cột phân vùng như trong hàng hiện có.</a:t>
            </a:r>
            <a:endParaRPr lang="en-US" b="0"/>
          </a:p>
          <a:p>
            <a:pPr marL="628650" lvl="1" indent="-171450">
              <a:buFont typeface="Arial" panose="020B0604020202020204" pitchFamily="34" charset="0"/>
              <a:buChar char="•"/>
            </a:pPr>
            <a:r>
              <a:rPr lang="en-US" b="0"/>
              <a:t>Nó sử dụng câu lệnh </a:t>
            </a:r>
            <a:r>
              <a:rPr lang="en-US" sz="1200" spc="100">
                <a:solidFill>
                  <a:srgbClr val="FFFFFF"/>
                </a:solidFill>
                <a:latin typeface="Times New Roman"/>
                <a:cs typeface="Times New Roman"/>
              </a:rPr>
              <a:t>PARTITION </a:t>
            </a:r>
            <a:r>
              <a:rPr lang="en-US" sz="1200" spc="-40">
                <a:solidFill>
                  <a:srgbClr val="FFFFFF"/>
                </a:solidFill>
                <a:latin typeface="Times New Roman"/>
                <a:cs typeface="Times New Roman"/>
              </a:rPr>
              <a:t>BY</a:t>
            </a:r>
            <a:endParaRPr lang="en-US" b="0"/>
          </a:p>
          <a:p>
            <a:pPr marL="171450" lvl="0" indent="-171450">
              <a:buFont typeface="Arial" panose="020B0604020202020204" pitchFamily="34" charset="0"/>
              <a:buChar char="•"/>
            </a:pPr>
            <a:r>
              <a:rPr lang="en-US" b="0"/>
              <a:t>Đoạn mã sau đây thể hiện việc sử dụng </a:t>
            </a:r>
            <a:r>
              <a:rPr lang="en-US" sz="1200">
                <a:cs typeface="Courier New" pitchFamily="49" charset="0"/>
              </a:rPr>
              <a:t>PARTITION BY</a:t>
            </a:r>
            <a:r>
              <a:rPr lang="en-US" sz="1200">
                <a:latin typeface="Calibri" pitchFamily="34" charset="0"/>
                <a:cs typeface="Calibri" pitchFamily="34" charset="0"/>
              </a:rPr>
              <a:t> </a:t>
            </a:r>
            <a:r>
              <a:rPr lang="en-US" b="0"/>
              <a:t>và mệnh đề </a:t>
            </a:r>
            <a:r>
              <a:rPr lang="en-US" sz="1200">
                <a:cs typeface="Courier New" pitchFamily="49" charset="0"/>
              </a:rPr>
              <a:t>OVER </a:t>
            </a:r>
            <a:r>
              <a:rPr lang="en-US" b="0"/>
              <a:t>với các hàm tổng hợp</a:t>
            </a:r>
          </a:p>
          <a:p>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26</a:t>
            </a:fld>
            <a:endParaRPr lang="en-US"/>
          </a:p>
        </p:txBody>
      </p:sp>
    </p:spTree>
    <p:extLst>
      <p:ext uri="{BB962C8B-B14F-4D97-AF65-F5344CB8AC3E}">
        <p14:creationId xmlns:p14="http://schemas.microsoft.com/office/powerpoint/2010/main" val="39115100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t>Các thành phần cửa sổ 2-3</a:t>
            </a:r>
          </a:p>
          <a:p>
            <a:pPr marL="171450" indent="-171450">
              <a:buFont typeface="Arial" panose="020B0604020202020204" pitchFamily="34" charset="0"/>
              <a:buChar char="•"/>
            </a:pPr>
            <a:r>
              <a:rPr lang="en-US" b="1"/>
              <a:t>Sắp xếp:</a:t>
            </a:r>
          </a:p>
          <a:p>
            <a:pPr marL="628650" lvl="1" indent="-171450">
              <a:buFont typeface="Arial" panose="020B0604020202020204" pitchFamily="34" charset="0"/>
              <a:buChar char="•"/>
            </a:pPr>
            <a:r>
              <a:rPr lang="en-US"/>
              <a:t>Phần tử định nghĩa thứ tự để tính toán trong phân vùng</a:t>
            </a:r>
          </a:p>
          <a:p>
            <a:pPr marL="628650" lvl="1" indent="-171450">
              <a:buFont typeface="Arial" panose="020B0604020202020204" pitchFamily="34" charset="0"/>
              <a:buChar char="•"/>
            </a:pPr>
            <a:r>
              <a:rPr lang="en-US"/>
              <a:t>Phần tử sắp xếp có ý nghĩa khác nhau ở một mức độ nào đó cho các loại hàm khác nhau. Với các hàm xếp hạng, sắp xếp là tự nhiên.</a:t>
            </a:r>
          </a:p>
        </p:txBody>
      </p:sp>
      <p:sp>
        <p:nvSpPr>
          <p:cNvPr id="4" name="Slide Number Placeholder 3"/>
          <p:cNvSpPr>
            <a:spLocks noGrp="1"/>
          </p:cNvSpPr>
          <p:nvPr>
            <p:ph type="sldNum" sz="quarter" idx="5"/>
          </p:nvPr>
        </p:nvSpPr>
        <p:spPr/>
        <p:txBody>
          <a:bodyPr/>
          <a:lstStyle/>
          <a:p>
            <a:fld id="{4641E953-96C3-4CCD-A2C8-3914D170CD64}" type="slidenum">
              <a:rPr lang="en-US" smtClean="0"/>
              <a:t>27</a:t>
            </a:fld>
            <a:endParaRPr lang="en-US"/>
          </a:p>
        </p:txBody>
      </p:sp>
    </p:spTree>
    <p:extLst>
      <p:ext uri="{BB962C8B-B14F-4D97-AF65-F5344CB8AC3E}">
        <p14:creationId xmlns:p14="http://schemas.microsoft.com/office/powerpoint/2010/main" val="16286975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thành phần cửa sổ 3-3</a:t>
            </a:r>
          </a:p>
          <a:p>
            <a:pPr marL="171450" indent="-171450">
              <a:buFont typeface="Arial" panose="020B0604020202020204" pitchFamily="34" charset="0"/>
              <a:buChar char="•"/>
            </a:pPr>
            <a:r>
              <a:rPr lang="vi-VN" b="1"/>
              <a:t>Khung</a:t>
            </a:r>
            <a:r>
              <a:rPr lang="vi-VN"/>
              <a:t> - là một tính năng cho phép bạn chỉ định một phân chia hàng hơn trong một phân vùng cửa sổ. Một khung giống như một cửa sổ di chuyển trên dữ liệu bắt đầu và kết thúc tại các vị trí được chỉ định và được xác định bằng cách sử dụng các </a:t>
            </a:r>
            <a:r>
              <a:rPr lang="en-US"/>
              <a:t>phát biểu con</a:t>
            </a:r>
            <a:r>
              <a:rPr lang="vi-VN"/>
              <a:t> </a:t>
            </a:r>
            <a:r>
              <a:rPr lang="en-US" sz="1200">
                <a:latin typeface="Calibri" pitchFamily="34" charset="0"/>
                <a:cs typeface="Calibri" pitchFamily="34" charset="0"/>
              </a:rPr>
              <a:t>ROW hoặc RANGE</a:t>
            </a:r>
          </a:p>
          <a:p>
            <a:pPr marL="171450" indent="-171450">
              <a:buFont typeface="Arial" panose="020B0604020202020204" pitchFamily="34" charset="0"/>
              <a:buChar char="•"/>
            </a:pPr>
            <a:r>
              <a:rPr lang="vi-VN"/>
              <a:t>Đoạn mã sau hiển thị một truy vấn đối với </a:t>
            </a:r>
            <a:r>
              <a:rPr lang="vi-VN" b="1"/>
              <a:t>ProductInventory</a:t>
            </a:r>
            <a:r>
              <a:rPr lang="vi-VN"/>
              <a:t>, tính toán tổng số lượng chạy cho từng sản phẩm và vị trí:</a:t>
            </a: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28</a:t>
            </a:fld>
            <a:endParaRPr lang="en-US"/>
          </a:p>
        </p:txBody>
      </p:sp>
    </p:spTree>
    <p:extLst>
      <p:ext uri="{BB962C8B-B14F-4D97-AF65-F5344CB8AC3E}">
        <p14:creationId xmlns:p14="http://schemas.microsoft.com/office/powerpoint/2010/main" val="771753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Các hàm cửa sổ 1-5</a:t>
            </a:r>
          </a:p>
          <a:p>
            <a:pPr marL="171450" indent="-171450">
              <a:buFont typeface="Arial" panose="020B0604020202020204" pitchFamily="34" charset="0"/>
              <a:buChar char="•"/>
            </a:pPr>
            <a:r>
              <a:rPr lang="vi-VN"/>
              <a:t>Một số loại </a:t>
            </a:r>
            <a:r>
              <a:rPr lang="en-US"/>
              <a:t>hàm </a:t>
            </a:r>
            <a:r>
              <a:rPr lang="vi-VN"/>
              <a:t>cửa sổ khác nhau như sau:</a:t>
            </a:r>
            <a:endParaRPr lang="en-US"/>
          </a:p>
          <a:p>
            <a:pPr marL="628650" lvl="1" indent="-171450">
              <a:buFont typeface="Arial" panose="020B0604020202020204" pitchFamily="34" charset="0"/>
              <a:buChar char="•"/>
            </a:pPr>
            <a:r>
              <a:rPr lang="vi-VN" b="1"/>
              <a:t>Các </a:t>
            </a:r>
            <a:r>
              <a:rPr lang="en-US" b="1"/>
              <a:t>hàm </a:t>
            </a:r>
            <a:r>
              <a:rPr lang="vi-VN" b="1"/>
              <a:t>xếp hạng</a:t>
            </a:r>
            <a:endParaRPr lang="en-US" b="1"/>
          </a:p>
          <a:p>
            <a:pPr marL="1085850" lvl="2" indent="-171450">
              <a:buFont typeface="Arial" panose="020B0604020202020204" pitchFamily="34" charset="0"/>
              <a:buChar char="•"/>
            </a:pPr>
            <a:r>
              <a:rPr lang="vi-VN"/>
              <a:t>Trả về giá trị cấp bậc cho mỗi hàng trong một phân vùng. </a:t>
            </a:r>
            <a:endParaRPr lang="en-US"/>
          </a:p>
          <a:p>
            <a:pPr marL="1085850" lvl="2" indent="-171450">
              <a:buFont typeface="Arial" panose="020B0604020202020204" pitchFamily="34" charset="0"/>
              <a:buChar char="•"/>
            </a:pPr>
            <a:r>
              <a:rPr lang="vi-VN"/>
              <a:t>Dựa trên hàm được sử dụng, nhiều hàng sẽ trả về cùng một giá trị với các hàng khác và không xác định.</a:t>
            </a:r>
            <a:endParaRPr lang="en-US"/>
          </a:p>
          <a:p>
            <a:pPr marL="1085850" lvl="2" indent="-171450">
              <a:buFont typeface="Arial" panose="020B0604020202020204" pitchFamily="34" charset="0"/>
              <a:buChar char="•"/>
            </a:pPr>
            <a:r>
              <a:rPr lang="en-US"/>
              <a:t>Các hàm xếp hạng là </a:t>
            </a:r>
            <a:r>
              <a:rPr lang="en-US" sz="1200" spc="65">
                <a:latin typeface="Times New Roman"/>
                <a:cs typeface="Times New Roman"/>
              </a:rPr>
              <a:t>non-deterministic (</a:t>
            </a:r>
            <a:r>
              <a:rPr lang="en-US"/>
              <a:t>không xác định)</a:t>
            </a:r>
          </a:p>
        </p:txBody>
      </p:sp>
      <p:sp>
        <p:nvSpPr>
          <p:cNvPr id="4" name="Slide Number Placeholder 3"/>
          <p:cNvSpPr>
            <a:spLocks noGrp="1"/>
          </p:cNvSpPr>
          <p:nvPr>
            <p:ph type="sldNum" sz="quarter" idx="5"/>
          </p:nvPr>
        </p:nvSpPr>
        <p:spPr/>
        <p:txBody>
          <a:bodyPr/>
          <a:lstStyle/>
          <a:p>
            <a:fld id="{4641E953-96C3-4CCD-A2C8-3914D170CD64}" type="slidenum">
              <a:rPr lang="en-US" smtClean="0"/>
              <a:t>29</a:t>
            </a:fld>
            <a:endParaRPr lang="en-US"/>
          </a:p>
        </p:txBody>
      </p:sp>
    </p:spTree>
    <p:extLst>
      <p:ext uri="{BB962C8B-B14F-4D97-AF65-F5344CB8AC3E}">
        <p14:creationId xmlns:p14="http://schemas.microsoft.com/office/powerpoint/2010/main" val="41287178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hàm cửa sổ 2-5</a:t>
            </a:r>
          </a:p>
          <a:p>
            <a:pPr marL="171450" indent="-171450">
              <a:buFont typeface="Arial" panose="020B0604020202020204" pitchFamily="34" charset="0"/>
              <a:buChar char="•"/>
            </a:pPr>
            <a:r>
              <a:rPr lang="en-US"/>
              <a:t>Các hàm </a:t>
            </a:r>
            <a:r>
              <a:rPr lang="en-US" sz="1200" b="0">
                <a:latin typeface="Calibri" pitchFamily="34" charset="0"/>
                <a:cs typeface="Calibri" pitchFamily="34" charset="0"/>
              </a:rPr>
              <a:t>OFFSET - </a:t>
            </a:r>
            <a:r>
              <a:rPr lang="vi-VN" sz="1200" b="0">
                <a:latin typeface="Calibri" pitchFamily="34" charset="0"/>
                <a:cs typeface="Calibri" pitchFamily="34" charset="0"/>
              </a:rPr>
              <a:t>Các </a:t>
            </a:r>
            <a:r>
              <a:rPr lang="en-US" sz="1200" b="0">
                <a:latin typeface="Calibri" pitchFamily="34" charset="0"/>
                <a:cs typeface="Calibri" pitchFamily="34" charset="0"/>
              </a:rPr>
              <a:t>kiểu</a:t>
            </a:r>
            <a:r>
              <a:rPr lang="vi-VN" sz="1200" b="0">
                <a:latin typeface="Calibri" pitchFamily="34" charset="0"/>
                <a:cs typeface="Calibri" pitchFamily="34" charset="0"/>
              </a:rPr>
              <a:t> </a:t>
            </a:r>
            <a:r>
              <a:rPr lang="en-US" sz="1200" b="0">
                <a:latin typeface="Calibri" pitchFamily="34" charset="0"/>
                <a:cs typeface="Calibri" pitchFamily="34" charset="0"/>
              </a:rPr>
              <a:t>hàm </a:t>
            </a:r>
            <a:r>
              <a:rPr lang="en-US" sz="1200" spc="50">
                <a:latin typeface="Times New Roman"/>
                <a:cs typeface="Times New Roman"/>
              </a:rPr>
              <a:t>offset</a:t>
            </a:r>
            <a:r>
              <a:rPr lang="vi-VN" sz="1200" b="0">
                <a:latin typeface="Calibri" pitchFamily="34" charset="0"/>
                <a:cs typeface="Calibri" pitchFamily="34" charset="0"/>
              </a:rPr>
              <a:t> khác nhau như sau:</a:t>
            </a:r>
            <a:endParaRPr lang="en-US" sz="1200" b="0">
              <a:latin typeface="Calibri" pitchFamily="34" charset="0"/>
              <a:cs typeface="Calibri" pitchFamily="34" charset="0"/>
            </a:endParaRPr>
          </a:p>
          <a:p>
            <a:pPr marL="171450" indent="-171450">
              <a:buFont typeface="Arial" panose="020B0604020202020204" pitchFamily="34" charset="0"/>
              <a:buChar char="•"/>
            </a:pPr>
            <a:r>
              <a:rPr lang="en-US" sz="1200">
                <a:cs typeface="Courier New" pitchFamily="49" charset="0"/>
              </a:rPr>
              <a:t>SWITCHOFFSET </a:t>
            </a:r>
            <a:r>
              <a:rPr lang="vi-VN" b="0"/>
              <a:t>- Trả về giá trị </a:t>
            </a:r>
            <a:r>
              <a:rPr lang="en-US" sz="1200">
                <a:cs typeface="Courier New" pitchFamily="49" charset="0"/>
              </a:rPr>
              <a:t>DATETIMEOFFSET</a:t>
            </a:r>
            <a:r>
              <a:rPr lang="vi-VN" b="0"/>
              <a:t> được sửa đổi từ phần bù múi giờ được lưu trữ sang phần bù múi giờ mới cụ thể</a:t>
            </a:r>
            <a:endParaRPr lang="en-US" b="0"/>
          </a:p>
          <a:p>
            <a:pPr marL="171450" indent="-171450">
              <a:buFont typeface="Arial" panose="020B0604020202020204" pitchFamily="34" charset="0"/>
              <a:buChar char="•"/>
            </a:pPr>
            <a:r>
              <a:rPr lang="en-US" b="0"/>
              <a:t>Cú pháp:</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a:cs typeface="Courier New" pitchFamily="49" charset="0"/>
              </a:rPr>
              <a:t>SWITCHOFFSET (DATETIMEOFFSET, time_zone)</a:t>
            </a:r>
          </a:p>
          <a:p>
            <a:pPr marL="1085850" lvl="2" indent="-171450">
              <a:buFont typeface="Arial" panose="020B0604020202020204" pitchFamily="34" charset="0"/>
              <a:buChar char="•"/>
            </a:pPr>
            <a:r>
              <a:rPr lang="en-US" sz="1200" b="1">
                <a:cs typeface="Courier New" pitchFamily="49" charset="0"/>
              </a:rPr>
              <a:t>DATETIMEOFFSET:</a:t>
            </a:r>
            <a:r>
              <a:rPr lang="vi-VN" b="0"/>
              <a:t> là một biểu thức</a:t>
            </a:r>
          </a:p>
          <a:p>
            <a:pPr marL="1085850" lvl="2" indent="-171450">
              <a:buFont typeface="Arial" panose="020B0604020202020204" pitchFamily="34" charset="0"/>
              <a:buChar char="•"/>
            </a:pPr>
            <a:r>
              <a:rPr lang="vi-VN" b="1"/>
              <a:t>time_zone</a:t>
            </a:r>
            <a:r>
              <a:rPr lang="vi-VN" b="0"/>
              <a:t>: Chỉ định chuỗi ký tự theo định dạng [+ -] TZH: TZM hoặc số nguyên đại diện cho phần bù múi giờ</a:t>
            </a:r>
            <a:endParaRPr lang="en-US" b="0"/>
          </a:p>
        </p:txBody>
      </p:sp>
      <p:sp>
        <p:nvSpPr>
          <p:cNvPr id="4" name="Slide Number Placeholder 3"/>
          <p:cNvSpPr>
            <a:spLocks noGrp="1"/>
          </p:cNvSpPr>
          <p:nvPr>
            <p:ph type="sldNum" sz="quarter" idx="5"/>
          </p:nvPr>
        </p:nvSpPr>
        <p:spPr/>
        <p:txBody>
          <a:bodyPr/>
          <a:lstStyle/>
          <a:p>
            <a:fld id="{4641E953-96C3-4CCD-A2C8-3914D170CD64}" type="slidenum">
              <a:rPr lang="en-US" smtClean="0"/>
              <a:t>30</a:t>
            </a:fld>
            <a:endParaRPr lang="en-US"/>
          </a:p>
        </p:txBody>
      </p:sp>
    </p:spTree>
    <p:extLst>
      <p:ext uri="{BB962C8B-B14F-4D97-AF65-F5344CB8AC3E}">
        <p14:creationId xmlns:p14="http://schemas.microsoft.com/office/powerpoint/2010/main" val="36851854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hàm cửa sổ 3-5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10">
                <a:latin typeface="Arial"/>
                <a:cs typeface="Arial"/>
              </a:rPr>
              <a:t>DATETIMEOFFSETFROMPARTS</a:t>
            </a:r>
            <a:endParaRPr lang="en-US" sz="1200">
              <a:latin typeface="Arial"/>
              <a:cs typeface="Arial"/>
            </a:endParaRPr>
          </a:p>
          <a:p>
            <a:pPr marL="628650" lvl="1" indent="-171450">
              <a:buFont typeface="Arial" panose="020B0604020202020204" pitchFamily="34" charset="0"/>
              <a:buChar char="•"/>
            </a:pPr>
            <a:r>
              <a:rPr lang="vi-VN"/>
              <a:t>Hàm này trả về giá trị </a:t>
            </a:r>
            <a:r>
              <a:rPr lang="en-US" sz="1200" spc="55">
                <a:latin typeface="Times New Roman"/>
                <a:cs typeface="Times New Roman"/>
              </a:rPr>
              <a:t>datetimeoffset</a:t>
            </a:r>
            <a:r>
              <a:rPr lang="vi-VN"/>
              <a:t> cho ngày và giờ được chỉ định với độ chính xác và bù được chỉ định</a:t>
            </a:r>
            <a:r>
              <a:rPr lang="en-US"/>
              <a:t>.</a:t>
            </a:r>
          </a:p>
          <a:p>
            <a:pPr marL="628650" lvl="1" indent="-171450">
              <a:buFont typeface="Arial" panose="020B0604020202020204" pitchFamily="34" charset="0"/>
              <a:buChar char="•"/>
            </a:pPr>
            <a:r>
              <a:rPr lang="en-US"/>
              <a:t>Cú pháp:</a:t>
            </a:r>
          </a:p>
          <a:p>
            <a:pPr marL="1085850" lvl="2" indent="-171450">
              <a:buFont typeface="Arial" panose="020B0604020202020204" pitchFamily="34" charset="0"/>
              <a:buChar char="•"/>
            </a:pPr>
            <a:r>
              <a:rPr lang="en-US" sz="1200" b="1">
                <a:cs typeface="Courier New" pitchFamily="49" charset="0"/>
              </a:rPr>
              <a:t>year</a:t>
            </a:r>
            <a:r>
              <a:rPr lang="vi-VN"/>
              <a:t>: Chỉ định biểu thức Integer trong một năm.</a:t>
            </a:r>
          </a:p>
          <a:p>
            <a:pPr marL="1085850" lvl="2" indent="-171450">
              <a:buFont typeface="Arial" panose="020B0604020202020204" pitchFamily="34" charset="0"/>
              <a:buChar char="•"/>
            </a:pPr>
            <a:r>
              <a:rPr lang="en-US" sz="1200" b="1">
                <a:cs typeface="Courier New" pitchFamily="49" charset="0"/>
              </a:rPr>
              <a:t>month</a:t>
            </a:r>
            <a:r>
              <a:rPr lang="vi-VN"/>
              <a:t>: Chỉ định biểu thức Integer trong một tháng.</a:t>
            </a:r>
          </a:p>
          <a:p>
            <a:pPr marL="1085850" lvl="2" indent="-171450">
              <a:buFont typeface="Arial" panose="020B0604020202020204" pitchFamily="34" charset="0"/>
              <a:buChar char="•"/>
            </a:pPr>
            <a:r>
              <a:rPr lang="en-US" sz="1200" b="1">
                <a:cs typeface="Courier New" pitchFamily="49" charset="0"/>
              </a:rPr>
              <a:t>day</a:t>
            </a:r>
            <a:r>
              <a:rPr lang="vi-VN"/>
              <a:t>: Chỉ định biểu thức Integer trong một ngày.</a:t>
            </a:r>
          </a:p>
          <a:p>
            <a:pPr marL="1085850" lvl="2" indent="-171450">
              <a:buFont typeface="Arial" panose="020B0604020202020204" pitchFamily="34" charset="0"/>
              <a:buChar char="•"/>
            </a:pPr>
            <a:r>
              <a:rPr lang="en-US" sz="1200" b="1">
                <a:cs typeface="Courier New" pitchFamily="49" charset="0"/>
              </a:rPr>
              <a:t>hour</a:t>
            </a:r>
            <a:r>
              <a:rPr lang="vi-VN"/>
              <a:t>: Chỉ định biểu thức Integer trong một giờ.</a:t>
            </a:r>
          </a:p>
          <a:p>
            <a:pPr marL="1085850" lvl="2" indent="-171450">
              <a:buFont typeface="Arial" panose="020B0604020202020204" pitchFamily="34" charset="0"/>
              <a:buChar char="•"/>
            </a:pPr>
            <a:r>
              <a:rPr lang="en-US" sz="1200" b="1">
                <a:cs typeface="Courier New" pitchFamily="49" charset="0"/>
              </a:rPr>
              <a:t>minute</a:t>
            </a:r>
            <a:r>
              <a:rPr lang="vi-VN"/>
              <a:t>: Chỉ định biểu thức Integer trong một phút.</a:t>
            </a:r>
          </a:p>
          <a:p>
            <a:pPr marL="1085850" lvl="2" indent="-171450">
              <a:buFont typeface="Arial" panose="020B0604020202020204" pitchFamily="34" charset="0"/>
              <a:buChar char="•"/>
            </a:pPr>
            <a:r>
              <a:rPr lang="en-US" sz="1200" b="1">
                <a:cs typeface="Courier New" pitchFamily="49" charset="0"/>
              </a:rPr>
              <a:t>seconds</a:t>
            </a:r>
            <a:r>
              <a:rPr lang="vi-VN"/>
              <a:t>: Chỉ định biểu thức nguyên trong một ngày.</a:t>
            </a:r>
          </a:p>
          <a:p>
            <a:pPr marL="1085850" lvl="2" indent="-171450">
              <a:buFont typeface="Arial" panose="020B0604020202020204" pitchFamily="34" charset="0"/>
              <a:buChar char="•"/>
            </a:pPr>
            <a:r>
              <a:rPr lang="en-US" sz="1200" b="1">
                <a:cs typeface="Courier New" pitchFamily="49" charset="0"/>
              </a:rPr>
              <a:t>fractions</a:t>
            </a:r>
            <a:r>
              <a:rPr lang="vi-VN"/>
              <a:t>: Chỉ định biểu thức nguyên cho các phân số.</a:t>
            </a:r>
          </a:p>
          <a:p>
            <a:pPr marL="1085850" lvl="2" indent="-171450">
              <a:buFont typeface="Arial" panose="020B0604020202020204" pitchFamily="34" charset="0"/>
              <a:buChar char="•"/>
            </a:pPr>
            <a:r>
              <a:rPr lang="en-US" sz="1200" b="1">
                <a:cs typeface="Courier New" pitchFamily="49" charset="0"/>
              </a:rPr>
              <a:t>hour_offset</a:t>
            </a:r>
            <a:r>
              <a:rPr lang="vi-VN"/>
              <a:t>: Chỉ định biểu thức số nguyên cho phần giờ của phần bù múi giờ.</a:t>
            </a:r>
          </a:p>
          <a:p>
            <a:pPr marL="1085850" lvl="2" indent="-171450">
              <a:buFont typeface="Arial" panose="020B0604020202020204" pitchFamily="34" charset="0"/>
              <a:buChar char="•"/>
            </a:pPr>
            <a:r>
              <a:rPr lang="en-US" sz="1200" b="1">
                <a:cs typeface="Courier New" pitchFamily="49" charset="0"/>
              </a:rPr>
              <a:t>minute_offset</a:t>
            </a:r>
            <a:r>
              <a:rPr lang="vi-VN"/>
              <a:t>: Chỉ định biểu thức nguyên cho phần phút của phần bù múi giờ.</a:t>
            </a:r>
          </a:p>
          <a:p>
            <a:pPr marL="1085850" lvl="2" indent="-171450">
              <a:buFont typeface="Arial" panose="020B0604020202020204" pitchFamily="34" charset="0"/>
              <a:buChar char="•"/>
            </a:pPr>
            <a:r>
              <a:rPr lang="en-US" b="1"/>
              <a:t>p</a:t>
            </a:r>
            <a:r>
              <a:rPr lang="vi-VN" b="1"/>
              <a:t>recision</a:t>
            </a:r>
            <a:r>
              <a:rPr lang="vi-VN"/>
              <a:t>: Chỉ định độ chính xác theo nghĩa đen của giá trị </a:t>
            </a:r>
            <a:r>
              <a:rPr lang="en-US" sz="1200">
                <a:cs typeface="Courier New" pitchFamily="49" charset="0"/>
              </a:rPr>
              <a:t>datetimeoffset </a:t>
            </a:r>
            <a:r>
              <a:rPr lang="vi-VN"/>
              <a:t>sẽ được trả về.</a:t>
            </a: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t>SYSDATETIMEOFFSET</a:t>
            </a:r>
          </a:p>
          <a:p>
            <a:pPr marL="628650" lvl="1" indent="-171450">
              <a:buFont typeface="Arial" panose="020B0604020202020204" pitchFamily="34" charset="0"/>
              <a:buChar char="•"/>
            </a:pPr>
            <a:r>
              <a:rPr lang="en-US"/>
              <a:t>Các hàm này trả về giá trị </a:t>
            </a:r>
            <a:r>
              <a:rPr lang="en-US" sz="1200" b="0" spc="45">
                <a:latin typeface="Times New Roman"/>
                <a:cs typeface="Times New Roman"/>
              </a:rPr>
              <a:t>datetimeoffset(7)</a:t>
            </a:r>
            <a:r>
              <a:rPr lang="en-US"/>
              <a:t> chứa ngày và giờ của máy tính mà phiên bản SQL Server đang chạy.</a:t>
            </a:r>
          </a:p>
        </p:txBody>
      </p:sp>
      <p:sp>
        <p:nvSpPr>
          <p:cNvPr id="4" name="Slide Number Placeholder 3"/>
          <p:cNvSpPr>
            <a:spLocks noGrp="1"/>
          </p:cNvSpPr>
          <p:nvPr>
            <p:ph type="sldNum" sz="quarter" idx="5"/>
          </p:nvPr>
        </p:nvSpPr>
        <p:spPr/>
        <p:txBody>
          <a:bodyPr/>
          <a:lstStyle/>
          <a:p>
            <a:fld id="{4641E953-96C3-4CCD-A2C8-3914D170CD64}" type="slidenum">
              <a:rPr lang="en-US" smtClean="0"/>
              <a:t>31</a:t>
            </a:fld>
            <a:endParaRPr lang="en-US"/>
          </a:p>
        </p:txBody>
      </p:sp>
    </p:spTree>
    <p:extLst>
      <p:ext uri="{BB962C8B-B14F-4D97-AF65-F5344CB8AC3E}">
        <p14:creationId xmlns:p14="http://schemas.microsoft.com/office/powerpoint/2010/main" val="38125602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hàm cửa sổ 4-5</a:t>
            </a:r>
          </a:p>
          <a:p>
            <a:pPr marL="171450" indent="-171450">
              <a:buFont typeface="Arial" panose="020B0604020202020204" pitchFamily="34" charset="0"/>
              <a:buChar char="•"/>
            </a:pPr>
            <a:r>
              <a:rPr lang="en-US" b="1"/>
              <a:t>Các hàm phân tích</a:t>
            </a:r>
          </a:p>
          <a:p>
            <a:pPr marL="628650" lvl="1" indent="-171450">
              <a:buFont typeface="Arial" panose="020B0604020202020204" pitchFamily="34" charset="0"/>
              <a:buChar char="•"/>
            </a:pPr>
            <a:r>
              <a:rPr lang="en-US"/>
              <a:t>SQL Server 2019 hỗ trợ một số chức năng phân tích. Những hàm này tính toán giá trị tổng hợp dựa trên một nhóm các hàng. Các hàm phân tích tính toán tổng số, trung bình di chuyển hoặc kết quả top đầu trong một nhóm.</a:t>
            </a:r>
          </a:p>
        </p:txBody>
      </p:sp>
      <p:sp>
        <p:nvSpPr>
          <p:cNvPr id="4" name="Slide Number Placeholder 3"/>
          <p:cNvSpPr>
            <a:spLocks noGrp="1"/>
          </p:cNvSpPr>
          <p:nvPr>
            <p:ph type="sldNum" sz="quarter" idx="5"/>
          </p:nvPr>
        </p:nvSpPr>
        <p:spPr/>
        <p:txBody>
          <a:bodyPr/>
          <a:lstStyle/>
          <a:p>
            <a:fld id="{4641E953-96C3-4CCD-A2C8-3914D170CD64}" type="slidenum">
              <a:rPr lang="en-US" smtClean="0"/>
              <a:t>32</a:t>
            </a:fld>
            <a:endParaRPr lang="en-US"/>
          </a:p>
        </p:txBody>
      </p:sp>
    </p:spTree>
    <p:extLst>
      <p:ext uri="{BB962C8B-B14F-4D97-AF65-F5344CB8AC3E}">
        <p14:creationId xmlns:p14="http://schemas.microsoft.com/office/powerpoint/2010/main" val="24331528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p>
          <a:p>
            <a:pPr marL="171450" indent="-171450">
              <a:buFont typeface="Arial" panose="020B0604020202020204" pitchFamily="34" charset="0"/>
              <a:buChar char="•"/>
            </a:pPr>
            <a:r>
              <a:rPr lang="vi-VN"/>
              <a:t>Transact-SQL cung cấp các </a:t>
            </a:r>
            <a:r>
              <a:rPr lang="en-US"/>
              <a:t>phần tử </a:t>
            </a:r>
            <a:r>
              <a:rPr lang="vi-VN"/>
              <a:t>lập trình cơ bản như các biến, các phần tử kiểm soát </a:t>
            </a:r>
            <a:r>
              <a:rPr lang="en-US"/>
              <a:t>luồng ch</a:t>
            </a:r>
            <a:r>
              <a:rPr lang="vi-VN"/>
              <a:t>ư</a:t>
            </a:r>
            <a:r>
              <a:rPr lang="en-US"/>
              <a:t>ơng trình</a:t>
            </a:r>
            <a:r>
              <a:rPr lang="vi-VN"/>
              <a:t>, c</a:t>
            </a:r>
            <a:r>
              <a:rPr lang="en-US"/>
              <a:t>ác</a:t>
            </a:r>
            <a:r>
              <a:rPr lang="vi-VN"/>
              <a:t> điều kiện và các cấu trúc vòng lặp.</a:t>
            </a:r>
          </a:p>
          <a:p>
            <a:pPr marL="171450" indent="-171450">
              <a:buFont typeface="Arial" panose="020B0604020202020204" pitchFamily="34" charset="0"/>
              <a:buChar char="•"/>
            </a:pPr>
            <a:r>
              <a:rPr lang="vi-VN"/>
              <a:t>Một lô là một tập hợp của một hoặc nhiều câu lệnh Transact-SQL được gửi dưới dạng một đơn vị từ một ứng dụng đến máy chủ.</a:t>
            </a:r>
          </a:p>
          <a:p>
            <a:pPr marL="171450" indent="-171450">
              <a:buFont typeface="Arial" panose="020B0604020202020204" pitchFamily="34" charset="0"/>
              <a:buChar char="•"/>
            </a:pPr>
            <a:r>
              <a:rPr lang="vi-VN"/>
              <a:t>Các biến cho phép người dùng lưu trữ dữ liệu để sử dụng dưới dạng đầu vào trong các câu lệnh Transact-SQL khác.</a:t>
            </a:r>
          </a:p>
          <a:p>
            <a:pPr marL="171450" indent="-171450">
              <a:buFont typeface="Arial" panose="020B0604020202020204" pitchFamily="34" charset="0"/>
              <a:buChar char="•"/>
            </a:pPr>
            <a:r>
              <a:rPr lang="vi-VN"/>
              <a:t>Từ đồng nghĩa cung cấp một cách để có một bí danh cho một đối tượng cơ sở dữ liệu có thể tồn tại trên một máy chủ từ xa hoặc cục bộ.</a:t>
            </a:r>
          </a:p>
          <a:p>
            <a:pPr marL="171450" indent="-171450">
              <a:buFont typeface="Arial" panose="020B0604020202020204" pitchFamily="34" charset="0"/>
              <a:buChar char="•"/>
            </a:pPr>
            <a:r>
              <a:rPr lang="vi-VN"/>
              <a:t>Các </a:t>
            </a:r>
            <a:r>
              <a:rPr lang="en-US"/>
              <a:t>hàm </a:t>
            </a:r>
            <a:r>
              <a:rPr lang="vi-VN"/>
              <a:t>xác định luôn trả về cùng kết quả mỗi lần khi chúng được gọi với một tập hợp các giá trị đầu vào xác định.</a:t>
            </a:r>
          </a:p>
          <a:p>
            <a:pPr marL="171450" indent="-171450">
              <a:buFont typeface="Arial" panose="020B0604020202020204" pitchFamily="34" charset="0"/>
              <a:buChar char="•"/>
            </a:pPr>
            <a:r>
              <a:rPr lang="vi-VN"/>
              <a:t>Các </a:t>
            </a:r>
            <a:r>
              <a:rPr lang="en-US"/>
              <a:t>hàm </a:t>
            </a:r>
            <a:r>
              <a:rPr lang="vi-VN"/>
              <a:t>không xác định </a:t>
            </a:r>
            <a:r>
              <a:rPr lang="en-US"/>
              <a:t>t</a:t>
            </a:r>
            <a:r>
              <a:rPr lang="vi-VN"/>
              <a:t>rả về kết quả khác nhau mỗi khi chúng được gọi với bộ giá trị đầu vào được chỉ định mặc dù cơ sở dữ liệu được truy cập vẫn giống nhau.</a:t>
            </a:r>
          </a:p>
          <a:p>
            <a:pPr marL="171450" indent="-171450">
              <a:buFont typeface="Arial" panose="020B0604020202020204" pitchFamily="34" charset="0"/>
              <a:buChar char="•"/>
            </a:pPr>
            <a:r>
              <a:rPr lang="en-US"/>
              <a:t>Hàm </a:t>
            </a:r>
            <a:r>
              <a:rPr lang="vi-VN"/>
              <a:t>Window là một hàm áp dụng cho một tập hợp các hàng.</a:t>
            </a:r>
            <a:endParaRPr lang="en-US"/>
          </a:p>
        </p:txBody>
      </p:sp>
      <p:sp>
        <p:nvSpPr>
          <p:cNvPr id="4" name="Slide Number Placeholder 3"/>
          <p:cNvSpPr>
            <a:spLocks noGrp="1"/>
          </p:cNvSpPr>
          <p:nvPr>
            <p:ph type="sldNum" sz="quarter" idx="5"/>
          </p:nvPr>
        </p:nvSpPr>
        <p:spPr/>
        <p:txBody>
          <a:bodyPr/>
          <a:lstStyle/>
          <a:p>
            <a:fld id="{4641E953-96C3-4CCD-A2C8-3914D170CD64}" type="slidenum">
              <a:rPr lang="en-US" smtClean="0"/>
              <a:t>34</a:t>
            </a:fld>
            <a:endParaRPr lang="en-US"/>
          </a:p>
        </p:txBody>
      </p:sp>
    </p:spTree>
    <p:extLst>
      <p:ext uri="{BB962C8B-B14F-4D97-AF65-F5344CB8AC3E}">
        <p14:creationId xmlns:p14="http://schemas.microsoft.com/office/powerpoint/2010/main" val="3216098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4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83540" y="15493"/>
            <a:ext cx="8376919" cy="635635"/>
          </a:xfrm>
          <a:prstGeom prst="rect">
            <a:avLst/>
          </a:prstGeom>
        </p:spPr>
        <p:txBody>
          <a:bodyPr wrap="square" lIns="0" tIns="0" rIns="0" bIns="0">
            <a:spAutoFit/>
          </a:bodyPr>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905002" y="3149854"/>
            <a:ext cx="7893050" cy="1509395"/>
          </a:xfrm>
          <a:prstGeom prst="rect">
            <a:avLst/>
          </a:prstGeom>
        </p:spPr>
        <p:txBody>
          <a:bodyPr wrap="square" lIns="0" tIns="0" rIns="0" bIns="0">
            <a:spAutoFit/>
          </a:bodyPr>
          <a:lstStyle>
            <a:lvl1pPr>
              <a:defRPr sz="14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10/26/2021</a:t>
            </a:fld>
            <a:endParaRPr lang="en-US"/>
          </a:p>
        </p:txBody>
      </p:sp>
      <p:sp>
        <p:nvSpPr>
          <p:cNvPr id="6" name="Holder 6"/>
          <p:cNvSpPr>
            <a:spLocks noGrp="1"/>
          </p:cNvSpPr>
          <p:nvPr>
            <p:ph type="sldNum" sz="quarter" idx="7"/>
          </p:nvPr>
        </p:nvSpPr>
        <p:spPr>
          <a:xfrm>
            <a:off x="7872983" y="6569709"/>
            <a:ext cx="944245" cy="256540"/>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6.jpg"/></Relationships>
</file>

<file path=ppt/slides/_rels/slide32.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520189" y="4147173"/>
            <a:ext cx="6138545" cy="1999614"/>
          </a:xfrm>
          <a:prstGeom prst="rect">
            <a:avLst/>
          </a:prstGeom>
        </p:spPr>
        <p:txBody>
          <a:bodyPr vert="horz" wrap="square" lIns="0" tIns="77470" rIns="0" bIns="0" rtlCol="0">
            <a:spAutoFit/>
          </a:bodyPr>
          <a:lstStyle/>
          <a:p>
            <a:pPr marL="109855">
              <a:lnSpc>
                <a:spcPct val="100000"/>
              </a:lnSpc>
              <a:spcBef>
                <a:spcPts val="61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13</a:t>
            </a:r>
            <a:endParaRPr sz="2800">
              <a:latin typeface="Book Antiqua"/>
              <a:cs typeface="Book Antiqua"/>
            </a:endParaRPr>
          </a:p>
          <a:p>
            <a:pPr marL="2497455" marR="5080" indent="-2485390">
              <a:lnSpc>
                <a:spcPct val="101000"/>
              </a:lnSpc>
              <a:spcBef>
                <a:spcPts val="765"/>
              </a:spcBef>
              <a:tabLst>
                <a:tab pos="3648710" algn="l"/>
              </a:tabLst>
            </a:pPr>
            <a:r>
              <a:rPr sz="4500" b="1" i="1" dirty="0">
                <a:latin typeface="Book Antiqua"/>
                <a:cs typeface="Book Antiqua"/>
              </a:rPr>
              <a:t>Programming	Transac</a:t>
            </a:r>
            <a:r>
              <a:rPr sz="4500" b="1" i="1" spc="-15" dirty="0">
                <a:latin typeface="Book Antiqua"/>
                <a:cs typeface="Book Antiqua"/>
              </a:rPr>
              <a:t>t</a:t>
            </a:r>
            <a:r>
              <a:rPr sz="4500" b="1" i="1" dirty="0">
                <a:latin typeface="Book Antiqua"/>
                <a:cs typeface="Book Antiqua"/>
              </a:rPr>
              <a:t>-  </a:t>
            </a:r>
            <a:r>
              <a:rPr sz="4500" b="1" i="1" spc="-5" dirty="0">
                <a:latin typeface="Book Antiqua"/>
                <a:cs typeface="Book Antiqua"/>
              </a:rPr>
              <a:t>SQL</a:t>
            </a:r>
            <a:endParaRPr sz="4500">
              <a:latin typeface="Book Antiqua"/>
              <a:cs typeface="Book Antiqua"/>
            </a:endParaRPr>
          </a:p>
        </p:txBody>
      </p:sp>
      <p:sp>
        <p:nvSpPr>
          <p:cNvPr id="7" name="object 7"/>
          <p:cNvSpPr txBox="1">
            <a:spLocks noGrp="1"/>
          </p:cNvSpPr>
          <p:nvPr>
            <p:ph type="title"/>
          </p:nvPr>
        </p:nvSpPr>
        <p:spPr>
          <a:xfrm>
            <a:off x="2606294" y="1379473"/>
            <a:ext cx="4544060" cy="1694180"/>
          </a:xfrm>
          <a:prstGeom prst="rect">
            <a:avLst/>
          </a:prstGeom>
        </p:spPr>
        <p:txBody>
          <a:bodyPr vert="horz" wrap="square" lIns="0" tIns="12700" rIns="0" bIns="0" rtlCol="0">
            <a:spAutoFit/>
          </a:bodyPr>
          <a:lstStyle/>
          <a:p>
            <a:pPr algn="ctr">
              <a:lnSpc>
                <a:spcPct val="100000"/>
              </a:lnSpc>
              <a:spcBef>
                <a:spcPts val="100"/>
              </a:spcBef>
            </a:pPr>
            <a:r>
              <a:rPr sz="3600" b="1" spc="-110" dirty="0">
                <a:latin typeface="Arial"/>
                <a:cs typeface="Arial"/>
              </a:rPr>
              <a:t>Intelligent</a:t>
            </a:r>
            <a:endParaRPr sz="3600">
              <a:latin typeface="Arial"/>
              <a:cs typeface="Arial"/>
            </a:endParaRPr>
          </a:p>
          <a:p>
            <a:pPr marL="12700" marR="5080" algn="ctr">
              <a:lnSpc>
                <a:spcPts val="4500"/>
              </a:lnSpc>
            </a:pPr>
            <a:r>
              <a:rPr sz="3600" b="1" spc="-130" dirty="0">
                <a:latin typeface="Arial"/>
                <a:cs typeface="Arial"/>
              </a:rPr>
              <a:t>Data </a:t>
            </a:r>
            <a:r>
              <a:rPr sz="3600" b="1" spc="-220" dirty="0">
                <a:latin typeface="Arial"/>
                <a:cs typeface="Arial"/>
              </a:rPr>
              <a:t>Management</a:t>
            </a:r>
            <a:r>
              <a:rPr sz="3600" b="1" spc="-495" dirty="0">
                <a:latin typeface="Arial"/>
                <a:cs typeface="Arial"/>
              </a:rPr>
              <a:t> </a:t>
            </a:r>
            <a:r>
              <a:rPr sz="3600" b="1" spc="-55" dirty="0">
                <a:latin typeface="Arial"/>
                <a:cs typeface="Arial"/>
              </a:rPr>
              <a:t>with  SQL</a:t>
            </a:r>
            <a:r>
              <a:rPr sz="3600" b="1" spc="-300" dirty="0">
                <a:latin typeface="Arial"/>
                <a:cs typeface="Arial"/>
              </a:rPr>
              <a:t> </a:t>
            </a:r>
            <a:r>
              <a:rPr sz="3600" b="1" spc="-215" dirty="0">
                <a:latin typeface="Arial"/>
                <a:cs typeface="Arial"/>
              </a:rPr>
              <a:t>Server</a:t>
            </a:r>
            <a:endParaRPr sz="36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pc="130" dirty="0"/>
              <a:t>Objectives</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383540" y="1463040"/>
            <a:ext cx="8072120" cy="258635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65" dirty="0">
                <a:latin typeface="Times New Roman"/>
                <a:cs typeface="Times New Roman"/>
              </a:rPr>
              <a:t>Describe </a:t>
            </a:r>
            <a:r>
              <a:rPr sz="2400" spc="95" dirty="0">
                <a:latin typeface="Times New Roman"/>
                <a:cs typeface="Times New Roman"/>
              </a:rPr>
              <a:t>Transact-SQL</a:t>
            </a:r>
            <a:r>
              <a:rPr sz="2400" spc="-245" dirty="0">
                <a:latin typeface="Times New Roman"/>
                <a:cs typeface="Times New Roman"/>
              </a:rPr>
              <a:t> </a:t>
            </a:r>
            <a:r>
              <a:rPr sz="2400" spc="80" dirty="0">
                <a:latin typeface="Times New Roman"/>
                <a:cs typeface="Times New Roman"/>
              </a:rPr>
              <a:t>programming</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 </a:t>
            </a:r>
            <a:r>
              <a:rPr sz="2400" spc="80" dirty="0">
                <a:latin typeface="Times New Roman"/>
                <a:cs typeface="Times New Roman"/>
              </a:rPr>
              <a:t>program </a:t>
            </a:r>
            <a:r>
              <a:rPr sz="2400" spc="50" dirty="0">
                <a:latin typeface="Times New Roman"/>
                <a:cs typeface="Times New Roman"/>
              </a:rPr>
              <a:t>flow</a:t>
            </a:r>
            <a:r>
              <a:rPr sz="2400" spc="-400" dirty="0">
                <a:latin typeface="Times New Roman"/>
                <a:cs typeface="Times New Roman"/>
              </a:rPr>
              <a:t> </a:t>
            </a:r>
            <a:r>
              <a:rPr sz="2400" spc="95" dirty="0">
                <a:latin typeface="Times New Roman"/>
                <a:cs typeface="Times New Roman"/>
              </a:rPr>
              <a:t>statements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 </a:t>
            </a:r>
            <a:r>
              <a:rPr sz="2400" spc="70" dirty="0">
                <a:latin typeface="Times New Roman"/>
                <a:cs typeface="Times New Roman"/>
              </a:rPr>
              <a:t>various </a:t>
            </a:r>
            <a:r>
              <a:rPr sz="2400" spc="95" dirty="0">
                <a:latin typeface="Times New Roman"/>
                <a:cs typeface="Times New Roman"/>
              </a:rPr>
              <a:t>Transact-SQL</a:t>
            </a:r>
            <a:r>
              <a:rPr sz="2400" spc="-400" dirty="0">
                <a:latin typeface="Times New Roman"/>
                <a:cs typeface="Times New Roman"/>
              </a:rPr>
              <a:t> </a:t>
            </a:r>
            <a:r>
              <a:rPr sz="2400" spc="105" dirty="0">
                <a:latin typeface="Times New Roman"/>
                <a:cs typeface="Times New Roman"/>
              </a:rPr>
              <a:t>functions</a:t>
            </a:r>
            <a:endParaRPr sz="2400">
              <a:latin typeface="Times New Roman"/>
              <a:cs typeface="Times New Roman"/>
            </a:endParaRPr>
          </a:p>
          <a:p>
            <a:pPr marL="353695" marR="5080" indent="-341630">
              <a:lnSpc>
                <a:spcPct val="100000"/>
              </a:lnSpc>
              <a:buFont typeface="Calibri"/>
              <a:buChar char="●"/>
              <a:tabLst>
                <a:tab pos="353695" algn="l"/>
                <a:tab pos="354330" algn="l"/>
                <a:tab pos="1511300" algn="l"/>
                <a:tab pos="2081530" algn="l"/>
                <a:tab pos="3559175" algn="l"/>
                <a:tab pos="3974465" algn="l"/>
                <a:tab pos="4900295" algn="l"/>
                <a:tab pos="5535930" algn="l"/>
                <a:tab pos="6266815" algn="l"/>
              </a:tabLst>
            </a:pPr>
            <a:r>
              <a:rPr sz="2400" spc="65" dirty="0">
                <a:latin typeface="Times New Roman"/>
                <a:cs typeface="Times New Roman"/>
              </a:rPr>
              <a:t>Exp</a:t>
            </a:r>
            <a:r>
              <a:rPr sz="2400" spc="35" dirty="0">
                <a:latin typeface="Times New Roman"/>
                <a:cs typeface="Times New Roman"/>
              </a:rPr>
              <a:t>l</a:t>
            </a:r>
            <a:r>
              <a:rPr sz="2400" spc="90" dirty="0">
                <a:latin typeface="Times New Roman"/>
                <a:cs typeface="Times New Roman"/>
              </a:rPr>
              <a:t>ain</a:t>
            </a:r>
            <a:r>
              <a:rPr sz="2400" dirty="0">
                <a:latin typeface="Times New Roman"/>
                <a:cs typeface="Times New Roman"/>
              </a:rPr>
              <a:t>	</a:t>
            </a:r>
            <a:r>
              <a:rPr sz="2400" spc="125" dirty="0">
                <a:latin typeface="Times New Roman"/>
                <a:cs typeface="Times New Roman"/>
              </a:rPr>
              <a:t>t</a:t>
            </a:r>
            <a:r>
              <a:rPr sz="2400" spc="240" dirty="0">
                <a:latin typeface="Times New Roman"/>
                <a:cs typeface="Times New Roman"/>
              </a:rPr>
              <a:t>h</a:t>
            </a:r>
            <a:r>
              <a:rPr sz="2400" spc="50" dirty="0">
                <a:latin typeface="Times New Roman"/>
                <a:cs typeface="Times New Roman"/>
              </a:rPr>
              <a:t>e</a:t>
            </a:r>
            <a:r>
              <a:rPr sz="2400" dirty="0">
                <a:latin typeface="Times New Roman"/>
                <a:cs typeface="Times New Roman"/>
              </a:rPr>
              <a:t>	</a:t>
            </a:r>
            <a:r>
              <a:rPr sz="2400" spc="114" dirty="0">
                <a:latin typeface="Times New Roman"/>
                <a:cs typeface="Times New Roman"/>
              </a:rPr>
              <a:t>pro</a:t>
            </a:r>
            <a:r>
              <a:rPr sz="2400" spc="90" dirty="0">
                <a:latin typeface="Times New Roman"/>
                <a:cs typeface="Times New Roman"/>
              </a:rPr>
              <a:t>cedure</a:t>
            </a:r>
            <a:r>
              <a:rPr sz="2400" dirty="0">
                <a:latin typeface="Times New Roman"/>
                <a:cs typeface="Times New Roman"/>
              </a:rPr>
              <a:t>	</a:t>
            </a:r>
            <a:r>
              <a:rPr sz="2400" spc="130" dirty="0">
                <a:latin typeface="Times New Roman"/>
                <a:cs typeface="Times New Roman"/>
              </a:rPr>
              <a:t>to</a:t>
            </a:r>
            <a:r>
              <a:rPr sz="2400" dirty="0">
                <a:latin typeface="Times New Roman"/>
                <a:cs typeface="Times New Roman"/>
              </a:rPr>
              <a:t>	</a:t>
            </a:r>
            <a:r>
              <a:rPr sz="2400" spc="75" dirty="0">
                <a:latin typeface="Times New Roman"/>
                <a:cs typeface="Times New Roman"/>
              </a:rPr>
              <a:t>crea</a:t>
            </a:r>
            <a:r>
              <a:rPr sz="2400" spc="55" dirty="0">
                <a:latin typeface="Times New Roman"/>
                <a:cs typeface="Times New Roman"/>
              </a:rPr>
              <a:t>t</a:t>
            </a:r>
            <a:r>
              <a:rPr sz="2400" spc="50" dirty="0">
                <a:latin typeface="Times New Roman"/>
                <a:cs typeface="Times New Roman"/>
              </a:rPr>
              <a:t>e</a:t>
            </a:r>
            <a:r>
              <a:rPr sz="2400" dirty="0">
                <a:latin typeface="Times New Roman"/>
                <a:cs typeface="Times New Roman"/>
              </a:rPr>
              <a:t>	</a:t>
            </a:r>
            <a:r>
              <a:rPr sz="2400" spc="130" dirty="0">
                <a:latin typeface="Times New Roman"/>
                <a:cs typeface="Times New Roman"/>
              </a:rPr>
              <a:t>an</a:t>
            </a:r>
            <a:r>
              <a:rPr sz="2400" spc="140" dirty="0">
                <a:latin typeface="Times New Roman"/>
                <a:cs typeface="Times New Roman"/>
              </a:rPr>
              <a:t>d</a:t>
            </a:r>
            <a:r>
              <a:rPr sz="2400" dirty="0">
                <a:latin typeface="Times New Roman"/>
                <a:cs typeface="Times New Roman"/>
              </a:rPr>
              <a:t>	</a:t>
            </a:r>
            <a:r>
              <a:rPr sz="2400" spc="70" dirty="0">
                <a:latin typeface="Times New Roman"/>
                <a:cs typeface="Times New Roman"/>
              </a:rPr>
              <a:t>alter</a:t>
            </a:r>
            <a:r>
              <a:rPr sz="2400" dirty="0">
                <a:latin typeface="Times New Roman"/>
                <a:cs typeface="Times New Roman"/>
              </a:rPr>
              <a:t>	</a:t>
            </a:r>
            <a:r>
              <a:rPr sz="2400" spc="100" dirty="0">
                <a:latin typeface="Times New Roman"/>
                <a:cs typeface="Times New Roman"/>
              </a:rPr>
              <a:t>Us</a:t>
            </a:r>
            <a:r>
              <a:rPr sz="2400" spc="70" dirty="0">
                <a:latin typeface="Times New Roman"/>
                <a:cs typeface="Times New Roman"/>
              </a:rPr>
              <a:t>e</a:t>
            </a:r>
            <a:r>
              <a:rPr sz="2400" spc="90" dirty="0">
                <a:latin typeface="Times New Roman"/>
                <a:cs typeface="Times New Roman"/>
              </a:rPr>
              <a:t>r</a:t>
            </a:r>
            <a:r>
              <a:rPr sz="2400" spc="15" dirty="0">
                <a:latin typeface="Times New Roman"/>
                <a:cs typeface="Times New Roman"/>
              </a:rPr>
              <a:t>-</a:t>
            </a:r>
            <a:r>
              <a:rPr sz="2400" spc="135" dirty="0">
                <a:latin typeface="Times New Roman"/>
                <a:cs typeface="Times New Roman"/>
              </a:rPr>
              <a:t>D</a:t>
            </a:r>
            <a:r>
              <a:rPr sz="2400" spc="70" dirty="0">
                <a:latin typeface="Times New Roman"/>
                <a:cs typeface="Times New Roman"/>
              </a:rPr>
              <a:t>efi</a:t>
            </a:r>
            <a:r>
              <a:rPr sz="2400" spc="100" dirty="0">
                <a:latin typeface="Times New Roman"/>
                <a:cs typeface="Times New Roman"/>
              </a:rPr>
              <a:t>n</a:t>
            </a:r>
            <a:r>
              <a:rPr sz="2400" spc="40" dirty="0">
                <a:latin typeface="Times New Roman"/>
                <a:cs typeface="Times New Roman"/>
              </a:rPr>
              <a:t>e</a:t>
            </a:r>
            <a:r>
              <a:rPr sz="2400" spc="100" dirty="0">
                <a:latin typeface="Times New Roman"/>
                <a:cs typeface="Times New Roman"/>
              </a:rPr>
              <a:t>d  Functions</a:t>
            </a:r>
            <a:r>
              <a:rPr sz="2400" spc="-105" dirty="0">
                <a:latin typeface="Times New Roman"/>
                <a:cs typeface="Times New Roman"/>
              </a:rPr>
              <a:t> </a:t>
            </a:r>
            <a:r>
              <a:rPr sz="2400" spc="60" dirty="0">
                <a:latin typeface="Times New Roman"/>
                <a:cs typeface="Times New Roman"/>
              </a:rPr>
              <a:t>(UDFs)</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70" dirty="0">
                <a:latin typeface="Times New Roman"/>
                <a:cs typeface="Times New Roman"/>
              </a:rPr>
              <a:t>Explain</a:t>
            </a:r>
            <a:r>
              <a:rPr sz="2400" spc="-80" dirty="0">
                <a:latin typeface="Times New Roman"/>
                <a:cs typeface="Times New Roman"/>
              </a:rPr>
              <a:t> </a:t>
            </a:r>
            <a:r>
              <a:rPr sz="2400" spc="85" dirty="0">
                <a:latin typeface="Times New Roman"/>
                <a:cs typeface="Times New Roman"/>
              </a:rPr>
              <a:t>creation</a:t>
            </a:r>
            <a:r>
              <a:rPr sz="2400" spc="-90" dirty="0">
                <a:latin typeface="Times New Roman"/>
                <a:cs typeface="Times New Roman"/>
              </a:rPr>
              <a:t> </a:t>
            </a:r>
            <a:r>
              <a:rPr sz="2400" spc="70" dirty="0">
                <a:latin typeface="Times New Roman"/>
                <a:cs typeface="Times New Roman"/>
              </a:rPr>
              <a:t>of</a:t>
            </a:r>
            <a:r>
              <a:rPr sz="2400" spc="-90" dirty="0">
                <a:latin typeface="Times New Roman"/>
                <a:cs typeface="Times New Roman"/>
              </a:rPr>
              <a:t> </a:t>
            </a:r>
            <a:r>
              <a:rPr sz="2400" spc="90" dirty="0">
                <a:latin typeface="Times New Roman"/>
                <a:cs typeface="Times New Roman"/>
              </a:rPr>
              <a:t>windows</a:t>
            </a:r>
            <a:r>
              <a:rPr sz="2400" spc="-90" dirty="0">
                <a:latin typeface="Times New Roman"/>
                <a:cs typeface="Times New Roman"/>
              </a:rPr>
              <a:t> </a:t>
            </a:r>
            <a:r>
              <a:rPr sz="2400" spc="105" dirty="0">
                <a:latin typeface="Times New Roman"/>
                <a:cs typeface="Times New Roman"/>
              </a:rPr>
              <a:t>with</a:t>
            </a:r>
            <a:r>
              <a:rPr sz="2400" spc="-75" dirty="0">
                <a:latin typeface="Times New Roman"/>
                <a:cs typeface="Times New Roman"/>
              </a:rPr>
              <a:t> </a:t>
            </a:r>
            <a:r>
              <a:rPr sz="2400" spc="155" dirty="0">
                <a:latin typeface="Times New Roman"/>
                <a:cs typeface="Times New Roman"/>
              </a:rPr>
              <a:t>OVER</a:t>
            </a:r>
            <a:endParaRPr sz="2400">
              <a:latin typeface="Times New Roman"/>
              <a:cs typeface="Times New Roman"/>
            </a:endParaRPr>
          </a:p>
          <a:p>
            <a:pPr marL="353695" indent="-341630">
              <a:lnSpc>
                <a:spcPct val="100000"/>
              </a:lnSpc>
              <a:buFont typeface="Calibri"/>
              <a:buChar char="●"/>
              <a:tabLst>
                <a:tab pos="353695" algn="l"/>
                <a:tab pos="354330" algn="l"/>
              </a:tabLst>
            </a:pPr>
            <a:r>
              <a:rPr sz="2400" spc="65" dirty="0">
                <a:latin typeface="Times New Roman"/>
                <a:cs typeface="Times New Roman"/>
              </a:rPr>
              <a:t>Describe </a:t>
            </a:r>
            <a:r>
              <a:rPr sz="2400" spc="100" dirty="0">
                <a:latin typeface="Times New Roman"/>
                <a:cs typeface="Times New Roman"/>
              </a:rPr>
              <a:t>window</a:t>
            </a:r>
            <a:r>
              <a:rPr sz="2400" spc="-254" dirty="0">
                <a:latin typeface="Times New Roman"/>
                <a:cs typeface="Times New Roman"/>
              </a:rPr>
              <a:t> </a:t>
            </a:r>
            <a:r>
              <a:rPr sz="2400" spc="105" dirty="0">
                <a:latin typeface="Times New Roman"/>
                <a:cs typeface="Times New Roman"/>
              </a:rPr>
              <a:t>functions</a:t>
            </a:r>
            <a:endParaRPr sz="24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pc="195" dirty="0"/>
              <a:t>Introduction</a:t>
            </a: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3</a:t>
            </a:fld>
            <a:endParaRPr sz="1200"/>
          </a:p>
        </p:txBody>
      </p:sp>
      <p:sp>
        <p:nvSpPr>
          <p:cNvPr id="6" name="object 6"/>
          <p:cNvSpPr txBox="1">
            <a:spLocks noGrp="1"/>
          </p:cNvSpPr>
          <p:nvPr>
            <p:ph type="ftr" sz="quarter" idx="5"/>
          </p:nvPr>
        </p:nvSpPr>
        <p:spPr>
          <a:xfrm>
            <a:off x="78738" y="6596379"/>
            <a:ext cx="12166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268731" y="906526"/>
            <a:ext cx="8340725" cy="3683635"/>
          </a:xfrm>
          <a:prstGeom prst="rect">
            <a:avLst/>
          </a:prstGeom>
        </p:spPr>
        <p:txBody>
          <a:bodyPr vert="horz" wrap="square" lIns="0" tIns="12700" rIns="0" bIns="0" rtlCol="0">
            <a:spAutoFit/>
          </a:bodyPr>
          <a:lstStyle/>
          <a:p>
            <a:pPr marL="353695" marR="6985" indent="-341630" algn="just">
              <a:lnSpc>
                <a:spcPct val="100000"/>
              </a:lnSpc>
              <a:spcBef>
                <a:spcPts val="100"/>
              </a:spcBef>
              <a:buSzPct val="83333"/>
              <a:buFont typeface="Segoe UI Symbol"/>
              <a:buChar char="⮚"/>
              <a:tabLst>
                <a:tab pos="354330" algn="l"/>
              </a:tabLst>
            </a:pPr>
            <a:r>
              <a:rPr sz="2400" spc="95" dirty="0">
                <a:latin typeface="Times New Roman"/>
                <a:cs typeface="Times New Roman"/>
              </a:rPr>
              <a:t>Transact-SQL </a:t>
            </a:r>
            <a:r>
              <a:rPr sz="2400" spc="80" dirty="0">
                <a:latin typeface="Times New Roman"/>
                <a:cs typeface="Times New Roman"/>
              </a:rPr>
              <a:t>programming </a:t>
            </a:r>
            <a:r>
              <a:rPr sz="2400" spc="10" dirty="0">
                <a:latin typeface="Times New Roman"/>
                <a:cs typeface="Times New Roman"/>
              </a:rPr>
              <a:t>is </a:t>
            </a:r>
            <a:r>
              <a:rPr sz="2400" spc="40" dirty="0">
                <a:latin typeface="Times New Roman"/>
                <a:cs typeface="Times New Roman"/>
              </a:rPr>
              <a:t>a </a:t>
            </a:r>
            <a:r>
              <a:rPr sz="2400" spc="90" dirty="0">
                <a:latin typeface="Times New Roman"/>
                <a:cs typeface="Times New Roman"/>
              </a:rPr>
              <a:t>procedural </a:t>
            </a:r>
            <a:r>
              <a:rPr sz="2400" spc="60" dirty="0">
                <a:latin typeface="Times New Roman"/>
                <a:cs typeface="Times New Roman"/>
              </a:rPr>
              <a:t>language  </a:t>
            </a:r>
            <a:r>
              <a:rPr sz="2400" spc="105" dirty="0">
                <a:latin typeface="Times New Roman"/>
                <a:cs typeface="Times New Roman"/>
              </a:rPr>
              <a:t>extension </a:t>
            </a:r>
            <a:r>
              <a:rPr sz="2400" spc="130" dirty="0">
                <a:latin typeface="Times New Roman"/>
                <a:cs typeface="Times New Roman"/>
              </a:rPr>
              <a:t>to</a:t>
            </a:r>
            <a:r>
              <a:rPr sz="2400" spc="-305" dirty="0">
                <a:latin typeface="Times New Roman"/>
                <a:cs typeface="Times New Roman"/>
              </a:rPr>
              <a:t> </a:t>
            </a:r>
            <a:r>
              <a:rPr sz="2400" spc="85" dirty="0">
                <a:latin typeface="Times New Roman"/>
                <a:cs typeface="Times New Roman"/>
              </a:rPr>
              <a:t>SQL.</a:t>
            </a:r>
            <a:endParaRPr sz="2400">
              <a:latin typeface="Times New Roman"/>
              <a:cs typeface="Times New Roman"/>
            </a:endParaRPr>
          </a:p>
          <a:p>
            <a:pPr marL="353695" marR="5080" indent="-341630" algn="just">
              <a:lnSpc>
                <a:spcPct val="100000"/>
              </a:lnSpc>
              <a:buSzPct val="83333"/>
              <a:buFont typeface="Segoe UI Symbol"/>
              <a:buChar char="⮚"/>
              <a:tabLst>
                <a:tab pos="354330" algn="l"/>
              </a:tabLst>
            </a:pPr>
            <a:r>
              <a:rPr sz="2400" spc="95" dirty="0">
                <a:latin typeface="Times New Roman"/>
                <a:cs typeface="Times New Roman"/>
              </a:rPr>
              <a:t>Transact-SQL </a:t>
            </a:r>
            <a:r>
              <a:rPr sz="2400" spc="80" dirty="0">
                <a:latin typeface="Times New Roman"/>
                <a:cs typeface="Times New Roman"/>
              </a:rPr>
              <a:t>programming </a:t>
            </a:r>
            <a:r>
              <a:rPr sz="2400" spc="10" dirty="0">
                <a:latin typeface="Times New Roman"/>
                <a:cs typeface="Times New Roman"/>
              </a:rPr>
              <a:t>is</a:t>
            </a:r>
            <a:r>
              <a:rPr sz="2400" spc="620" dirty="0">
                <a:latin typeface="Times New Roman"/>
                <a:cs typeface="Times New Roman"/>
              </a:rPr>
              <a:t> </a:t>
            </a:r>
            <a:r>
              <a:rPr sz="2400" spc="114" dirty="0">
                <a:latin typeface="Times New Roman"/>
                <a:cs typeface="Times New Roman"/>
              </a:rPr>
              <a:t>extended </a:t>
            </a:r>
            <a:r>
              <a:rPr sz="2400" spc="50" dirty="0">
                <a:latin typeface="Times New Roman"/>
                <a:cs typeface="Times New Roman"/>
              </a:rPr>
              <a:t>by </a:t>
            </a:r>
            <a:r>
              <a:rPr sz="2400" spc="90" dirty="0">
                <a:latin typeface="Times New Roman"/>
                <a:cs typeface="Times New Roman"/>
              </a:rPr>
              <a:t>adding </a:t>
            </a:r>
            <a:r>
              <a:rPr sz="2400" spc="135" dirty="0">
                <a:latin typeface="Times New Roman"/>
                <a:cs typeface="Times New Roman"/>
              </a:rPr>
              <a:t>the  </a:t>
            </a:r>
            <a:r>
              <a:rPr sz="2400" spc="100" dirty="0">
                <a:latin typeface="Times New Roman"/>
                <a:cs typeface="Times New Roman"/>
              </a:rPr>
              <a:t>subroutines </a:t>
            </a:r>
            <a:r>
              <a:rPr sz="2400" spc="135" dirty="0">
                <a:latin typeface="Times New Roman"/>
                <a:cs typeface="Times New Roman"/>
              </a:rPr>
              <a:t>and </a:t>
            </a:r>
            <a:r>
              <a:rPr sz="2400" spc="80" dirty="0">
                <a:latin typeface="Times New Roman"/>
                <a:cs typeface="Times New Roman"/>
              </a:rPr>
              <a:t>programming </a:t>
            </a:r>
            <a:r>
              <a:rPr sz="2400" spc="95" dirty="0">
                <a:latin typeface="Times New Roman"/>
                <a:cs typeface="Times New Roman"/>
              </a:rPr>
              <a:t>structures </a:t>
            </a:r>
            <a:r>
              <a:rPr sz="2400" spc="40" dirty="0">
                <a:latin typeface="Times New Roman"/>
                <a:cs typeface="Times New Roman"/>
              </a:rPr>
              <a:t>similar </a:t>
            </a:r>
            <a:r>
              <a:rPr sz="2400" spc="130" dirty="0">
                <a:latin typeface="Times New Roman"/>
                <a:cs typeface="Times New Roman"/>
              </a:rPr>
              <a:t>to </a:t>
            </a:r>
            <a:r>
              <a:rPr sz="2400" spc="85" dirty="0">
                <a:latin typeface="Times New Roman"/>
                <a:cs typeface="Times New Roman"/>
              </a:rPr>
              <a:t>high-  </a:t>
            </a:r>
            <a:r>
              <a:rPr sz="2400" spc="30" dirty="0">
                <a:latin typeface="Times New Roman"/>
                <a:cs typeface="Times New Roman"/>
              </a:rPr>
              <a:t>level</a:t>
            </a:r>
            <a:r>
              <a:rPr sz="2400" spc="-100" dirty="0">
                <a:latin typeface="Times New Roman"/>
                <a:cs typeface="Times New Roman"/>
              </a:rPr>
              <a:t> </a:t>
            </a:r>
            <a:r>
              <a:rPr sz="2400" spc="45" dirty="0">
                <a:latin typeface="Times New Roman"/>
                <a:cs typeface="Times New Roman"/>
              </a:rPr>
              <a:t>languages.</a:t>
            </a:r>
            <a:endParaRPr sz="2400">
              <a:latin typeface="Times New Roman"/>
              <a:cs typeface="Times New Roman"/>
            </a:endParaRPr>
          </a:p>
          <a:p>
            <a:pPr marL="353695" marR="6985" indent="-341630" algn="just">
              <a:lnSpc>
                <a:spcPct val="100000"/>
              </a:lnSpc>
              <a:buSzPct val="83333"/>
              <a:buFont typeface="Segoe UI Symbol"/>
              <a:buChar char="⮚"/>
              <a:tabLst>
                <a:tab pos="354330" algn="l"/>
              </a:tabLst>
            </a:pPr>
            <a:r>
              <a:rPr sz="2400" spc="35" dirty="0">
                <a:latin typeface="Times New Roman"/>
                <a:cs typeface="Times New Roman"/>
              </a:rPr>
              <a:t>Like </a:t>
            </a:r>
            <a:r>
              <a:rPr sz="2400" spc="55" dirty="0">
                <a:latin typeface="Times New Roman"/>
                <a:cs typeface="Times New Roman"/>
              </a:rPr>
              <a:t>high-level </a:t>
            </a:r>
            <a:r>
              <a:rPr sz="2400" spc="45" dirty="0">
                <a:latin typeface="Times New Roman"/>
                <a:cs typeface="Times New Roman"/>
              </a:rPr>
              <a:t>languages, </a:t>
            </a:r>
            <a:r>
              <a:rPr sz="2400" spc="95" dirty="0">
                <a:latin typeface="Times New Roman"/>
                <a:cs typeface="Times New Roman"/>
              </a:rPr>
              <a:t>Transact-SQL </a:t>
            </a:r>
            <a:r>
              <a:rPr sz="2400" spc="80" dirty="0">
                <a:latin typeface="Times New Roman"/>
                <a:cs typeface="Times New Roman"/>
              </a:rPr>
              <a:t>programming </a:t>
            </a:r>
            <a:r>
              <a:rPr sz="2400" spc="40" dirty="0">
                <a:latin typeface="Times New Roman"/>
                <a:cs typeface="Times New Roman"/>
              </a:rPr>
              <a:t>also  </a:t>
            </a:r>
            <a:r>
              <a:rPr sz="2400" spc="85" dirty="0">
                <a:latin typeface="Times New Roman"/>
                <a:cs typeface="Times New Roman"/>
              </a:rPr>
              <a:t>has </a:t>
            </a:r>
            <a:r>
              <a:rPr sz="2400" spc="70" dirty="0">
                <a:latin typeface="Times New Roman"/>
                <a:cs typeface="Times New Roman"/>
              </a:rPr>
              <a:t>rules </a:t>
            </a:r>
            <a:r>
              <a:rPr sz="2400" spc="135" dirty="0">
                <a:latin typeface="Times New Roman"/>
                <a:cs typeface="Times New Roman"/>
              </a:rPr>
              <a:t>and </a:t>
            </a:r>
            <a:r>
              <a:rPr sz="2400" spc="85" dirty="0">
                <a:latin typeface="Times New Roman"/>
                <a:cs typeface="Times New Roman"/>
              </a:rPr>
              <a:t>syntax </a:t>
            </a:r>
            <a:r>
              <a:rPr sz="2400" spc="135" dirty="0">
                <a:latin typeface="Times New Roman"/>
                <a:cs typeface="Times New Roman"/>
              </a:rPr>
              <a:t>that </a:t>
            </a:r>
            <a:r>
              <a:rPr sz="2400" spc="100" dirty="0">
                <a:latin typeface="Times New Roman"/>
                <a:cs typeface="Times New Roman"/>
              </a:rPr>
              <a:t>control </a:t>
            </a:r>
            <a:r>
              <a:rPr sz="2400" spc="135" dirty="0">
                <a:latin typeface="Times New Roman"/>
                <a:cs typeface="Times New Roman"/>
              </a:rPr>
              <a:t>and </a:t>
            </a:r>
            <a:r>
              <a:rPr sz="2400" spc="75" dirty="0">
                <a:latin typeface="Times New Roman"/>
                <a:cs typeface="Times New Roman"/>
              </a:rPr>
              <a:t>enable </a:t>
            </a:r>
            <a:r>
              <a:rPr sz="2400" spc="80" dirty="0">
                <a:latin typeface="Times New Roman"/>
                <a:cs typeface="Times New Roman"/>
              </a:rPr>
              <a:t>programming  </a:t>
            </a:r>
            <a:r>
              <a:rPr sz="2400" spc="95" dirty="0">
                <a:latin typeface="Times New Roman"/>
                <a:cs typeface="Times New Roman"/>
              </a:rPr>
              <a:t>statements</a:t>
            </a:r>
            <a:r>
              <a:rPr sz="2400" spc="-105" dirty="0">
                <a:latin typeface="Times New Roman"/>
                <a:cs typeface="Times New Roman"/>
              </a:rPr>
              <a:t> </a:t>
            </a:r>
            <a:r>
              <a:rPr sz="2400" spc="130" dirty="0">
                <a:latin typeface="Times New Roman"/>
                <a:cs typeface="Times New Roman"/>
              </a:rPr>
              <a:t>to</a:t>
            </a:r>
            <a:r>
              <a:rPr sz="2400" spc="-85" dirty="0">
                <a:latin typeface="Times New Roman"/>
                <a:cs typeface="Times New Roman"/>
              </a:rPr>
              <a:t> </a:t>
            </a:r>
            <a:r>
              <a:rPr sz="2400" spc="95" dirty="0">
                <a:latin typeface="Times New Roman"/>
                <a:cs typeface="Times New Roman"/>
              </a:rPr>
              <a:t>work</a:t>
            </a:r>
            <a:r>
              <a:rPr sz="2400" spc="-80" dirty="0">
                <a:latin typeface="Times New Roman"/>
                <a:cs typeface="Times New Roman"/>
              </a:rPr>
              <a:t> </a:t>
            </a:r>
            <a:r>
              <a:rPr sz="2400" spc="85" dirty="0">
                <a:latin typeface="Times New Roman"/>
                <a:cs typeface="Times New Roman"/>
              </a:rPr>
              <a:t>together.</a:t>
            </a:r>
            <a:endParaRPr sz="2400">
              <a:latin typeface="Times New Roman"/>
              <a:cs typeface="Times New Roman"/>
            </a:endParaRPr>
          </a:p>
          <a:p>
            <a:pPr marL="353695" marR="6985" indent="-341630" algn="just">
              <a:lnSpc>
                <a:spcPct val="100000"/>
              </a:lnSpc>
              <a:buSzPct val="83333"/>
              <a:buFont typeface="Segoe UI Symbol"/>
              <a:buChar char="⮚"/>
              <a:tabLst>
                <a:tab pos="354330" algn="l"/>
              </a:tabLst>
            </a:pPr>
            <a:r>
              <a:rPr sz="2400" spc="75" dirty="0">
                <a:latin typeface="Times New Roman"/>
                <a:cs typeface="Times New Roman"/>
              </a:rPr>
              <a:t>Users </a:t>
            </a:r>
            <a:r>
              <a:rPr sz="2400" spc="90" dirty="0">
                <a:latin typeface="Times New Roman"/>
                <a:cs typeface="Times New Roman"/>
              </a:rPr>
              <a:t>can </a:t>
            </a:r>
            <a:r>
              <a:rPr sz="2400" spc="100" dirty="0">
                <a:latin typeface="Times New Roman"/>
                <a:cs typeface="Times New Roman"/>
              </a:rPr>
              <a:t>control </a:t>
            </a:r>
            <a:r>
              <a:rPr sz="2400" spc="135" dirty="0">
                <a:latin typeface="Times New Roman"/>
                <a:cs typeface="Times New Roman"/>
              </a:rPr>
              <a:t>the </a:t>
            </a:r>
            <a:r>
              <a:rPr sz="2400" spc="50" dirty="0">
                <a:latin typeface="Times New Roman"/>
                <a:cs typeface="Times New Roman"/>
              </a:rPr>
              <a:t>flow </a:t>
            </a:r>
            <a:r>
              <a:rPr sz="2400" spc="70" dirty="0">
                <a:latin typeface="Times New Roman"/>
                <a:cs typeface="Times New Roman"/>
              </a:rPr>
              <a:t>of programs </a:t>
            </a:r>
            <a:r>
              <a:rPr sz="2400" spc="55" dirty="0">
                <a:latin typeface="Times New Roman"/>
                <a:cs typeface="Times New Roman"/>
              </a:rPr>
              <a:t>by </a:t>
            </a:r>
            <a:r>
              <a:rPr sz="2400" spc="80" dirty="0">
                <a:latin typeface="Times New Roman"/>
                <a:cs typeface="Times New Roman"/>
              </a:rPr>
              <a:t>using</a:t>
            </a:r>
            <a:r>
              <a:rPr sz="2400" dirty="0">
                <a:latin typeface="Times New Roman"/>
                <a:cs typeface="Times New Roman"/>
              </a:rPr>
              <a:t> </a:t>
            </a:r>
            <a:r>
              <a:rPr sz="2400" spc="95" dirty="0">
                <a:latin typeface="Times New Roman"/>
                <a:cs typeface="Times New Roman"/>
              </a:rPr>
              <a:t>conditional  statements</a:t>
            </a:r>
            <a:r>
              <a:rPr sz="2400" spc="-105" dirty="0">
                <a:latin typeface="Times New Roman"/>
                <a:cs typeface="Times New Roman"/>
              </a:rPr>
              <a:t> </a:t>
            </a:r>
            <a:r>
              <a:rPr sz="2400" spc="105" dirty="0">
                <a:latin typeface="Times New Roman"/>
                <a:cs typeface="Times New Roman"/>
              </a:rPr>
              <a:t>such</a:t>
            </a:r>
            <a:r>
              <a:rPr sz="2400" spc="-80" dirty="0">
                <a:latin typeface="Times New Roman"/>
                <a:cs typeface="Times New Roman"/>
              </a:rPr>
              <a:t> </a:t>
            </a:r>
            <a:r>
              <a:rPr sz="2400" spc="20" dirty="0">
                <a:latin typeface="Times New Roman"/>
                <a:cs typeface="Times New Roman"/>
              </a:rPr>
              <a:t>as</a:t>
            </a:r>
            <a:r>
              <a:rPr sz="2400" spc="-85" dirty="0">
                <a:latin typeface="Times New Roman"/>
                <a:cs typeface="Times New Roman"/>
              </a:rPr>
              <a:t> </a:t>
            </a:r>
            <a:r>
              <a:rPr sz="2400" spc="-15" dirty="0">
                <a:latin typeface="Times New Roman"/>
                <a:cs typeface="Times New Roman"/>
              </a:rPr>
              <a:t>IF</a:t>
            </a:r>
            <a:r>
              <a:rPr sz="2400" spc="-90" dirty="0">
                <a:latin typeface="Times New Roman"/>
                <a:cs typeface="Times New Roman"/>
              </a:rPr>
              <a:t> </a:t>
            </a:r>
            <a:r>
              <a:rPr sz="2400" spc="135" dirty="0">
                <a:latin typeface="Times New Roman"/>
                <a:cs typeface="Times New Roman"/>
              </a:rPr>
              <a:t>and</a:t>
            </a:r>
            <a:r>
              <a:rPr sz="2400" spc="-95" dirty="0">
                <a:latin typeface="Times New Roman"/>
                <a:cs typeface="Times New Roman"/>
              </a:rPr>
              <a:t> </a:t>
            </a:r>
            <a:r>
              <a:rPr sz="2400" spc="70" dirty="0">
                <a:latin typeface="Times New Roman"/>
                <a:cs typeface="Times New Roman"/>
              </a:rPr>
              <a:t>loops</a:t>
            </a:r>
            <a:r>
              <a:rPr sz="2400" spc="-90" dirty="0">
                <a:latin typeface="Times New Roman"/>
                <a:cs typeface="Times New Roman"/>
              </a:rPr>
              <a:t> </a:t>
            </a:r>
            <a:r>
              <a:rPr sz="2400" spc="105" dirty="0">
                <a:latin typeface="Times New Roman"/>
                <a:cs typeface="Times New Roman"/>
              </a:rPr>
              <a:t>such</a:t>
            </a:r>
            <a:r>
              <a:rPr sz="2400" spc="-80" dirty="0">
                <a:latin typeface="Times New Roman"/>
                <a:cs typeface="Times New Roman"/>
              </a:rPr>
              <a:t> </a:t>
            </a:r>
            <a:r>
              <a:rPr sz="2400" spc="20" dirty="0">
                <a:latin typeface="Times New Roman"/>
                <a:cs typeface="Times New Roman"/>
              </a:rPr>
              <a:t>as</a:t>
            </a:r>
            <a:r>
              <a:rPr sz="2400" spc="-90" dirty="0">
                <a:latin typeface="Times New Roman"/>
                <a:cs typeface="Times New Roman"/>
              </a:rPr>
              <a:t> </a:t>
            </a:r>
            <a:r>
              <a:rPr sz="2400" spc="85" dirty="0">
                <a:latin typeface="Times New Roman"/>
                <a:cs typeface="Times New Roman"/>
              </a:rPr>
              <a:t>WHILE.</a:t>
            </a:r>
            <a:endParaRPr sz="24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586" y="19558"/>
            <a:ext cx="8103870" cy="574040"/>
          </a:xfrm>
          <a:prstGeom prst="rect">
            <a:avLst/>
          </a:prstGeom>
        </p:spPr>
        <p:txBody>
          <a:bodyPr vert="horz" wrap="square" lIns="0" tIns="12700" rIns="0" bIns="0" rtlCol="0">
            <a:spAutoFit/>
          </a:bodyPr>
          <a:lstStyle/>
          <a:p>
            <a:pPr marL="12700">
              <a:lnSpc>
                <a:spcPct val="100000"/>
              </a:lnSpc>
              <a:spcBef>
                <a:spcPts val="100"/>
              </a:spcBef>
            </a:pPr>
            <a:r>
              <a:rPr sz="3600" spc="145" dirty="0"/>
              <a:t>Transact-SQL</a:t>
            </a:r>
            <a:r>
              <a:rPr sz="3600" spc="-675" dirty="0"/>
              <a:t> </a:t>
            </a:r>
            <a:r>
              <a:rPr sz="3600" spc="105" dirty="0"/>
              <a:t>Programming </a:t>
            </a:r>
            <a:r>
              <a:rPr sz="3600" spc="110" dirty="0"/>
              <a:t>Elements </a:t>
            </a:r>
            <a:r>
              <a:rPr sz="3600" spc="-305" dirty="0"/>
              <a:t>1-3</a:t>
            </a:r>
            <a:endParaRPr sz="3600"/>
          </a:p>
        </p:txBody>
      </p:sp>
      <p:sp>
        <p:nvSpPr>
          <p:cNvPr id="3" name="object 3"/>
          <p:cNvSpPr/>
          <p:nvPr/>
        </p:nvSpPr>
        <p:spPr>
          <a:xfrm>
            <a:off x="237744" y="938783"/>
            <a:ext cx="8669020" cy="1920239"/>
          </a:xfrm>
          <a:custGeom>
            <a:avLst/>
            <a:gdLst/>
            <a:ahLst/>
            <a:cxnLst/>
            <a:rect l="l" t="t" r="r" b="b"/>
            <a:pathLst>
              <a:path w="8669020" h="1920239">
                <a:moveTo>
                  <a:pt x="8668512" y="320040"/>
                </a:moveTo>
                <a:lnTo>
                  <a:pt x="8665032" y="272745"/>
                </a:lnTo>
                <a:lnTo>
                  <a:pt x="8654961" y="227609"/>
                </a:lnTo>
                <a:lnTo>
                  <a:pt x="8638769" y="185115"/>
                </a:lnTo>
                <a:lnTo>
                  <a:pt x="8616950" y="145770"/>
                </a:lnTo>
                <a:lnTo>
                  <a:pt x="8590013" y="110058"/>
                </a:lnTo>
                <a:lnTo>
                  <a:pt x="8558454" y="78498"/>
                </a:lnTo>
                <a:lnTo>
                  <a:pt x="8522741" y="51562"/>
                </a:lnTo>
                <a:lnTo>
                  <a:pt x="8483397" y="29743"/>
                </a:lnTo>
                <a:lnTo>
                  <a:pt x="8440903" y="13550"/>
                </a:lnTo>
                <a:lnTo>
                  <a:pt x="8395767" y="3479"/>
                </a:lnTo>
                <a:lnTo>
                  <a:pt x="8348472" y="0"/>
                </a:lnTo>
                <a:lnTo>
                  <a:pt x="320040" y="0"/>
                </a:lnTo>
                <a:lnTo>
                  <a:pt x="272745" y="3479"/>
                </a:lnTo>
                <a:lnTo>
                  <a:pt x="227609" y="13550"/>
                </a:lnTo>
                <a:lnTo>
                  <a:pt x="185115" y="29743"/>
                </a:lnTo>
                <a:lnTo>
                  <a:pt x="145770" y="51562"/>
                </a:lnTo>
                <a:lnTo>
                  <a:pt x="110070" y="78498"/>
                </a:lnTo>
                <a:lnTo>
                  <a:pt x="78498" y="110058"/>
                </a:lnTo>
                <a:lnTo>
                  <a:pt x="51562" y="145770"/>
                </a:lnTo>
                <a:lnTo>
                  <a:pt x="29743" y="185115"/>
                </a:lnTo>
                <a:lnTo>
                  <a:pt x="13538" y="227609"/>
                </a:lnTo>
                <a:lnTo>
                  <a:pt x="3467" y="272745"/>
                </a:lnTo>
                <a:lnTo>
                  <a:pt x="0" y="320040"/>
                </a:lnTo>
                <a:lnTo>
                  <a:pt x="0" y="1600200"/>
                </a:lnTo>
                <a:lnTo>
                  <a:pt x="3467" y="1647507"/>
                </a:lnTo>
                <a:lnTo>
                  <a:pt x="13538" y="1692643"/>
                </a:lnTo>
                <a:lnTo>
                  <a:pt x="29743" y="1735137"/>
                </a:lnTo>
                <a:lnTo>
                  <a:pt x="51562" y="1774482"/>
                </a:lnTo>
                <a:lnTo>
                  <a:pt x="78498" y="1810194"/>
                </a:lnTo>
                <a:lnTo>
                  <a:pt x="110070" y="1841754"/>
                </a:lnTo>
                <a:lnTo>
                  <a:pt x="145770" y="1868690"/>
                </a:lnTo>
                <a:lnTo>
                  <a:pt x="185115" y="1890509"/>
                </a:lnTo>
                <a:lnTo>
                  <a:pt x="227609" y="1906701"/>
                </a:lnTo>
                <a:lnTo>
                  <a:pt x="272745" y="1916772"/>
                </a:lnTo>
                <a:lnTo>
                  <a:pt x="320040" y="1920240"/>
                </a:lnTo>
                <a:lnTo>
                  <a:pt x="8348472" y="1920240"/>
                </a:lnTo>
                <a:lnTo>
                  <a:pt x="8395767" y="1916772"/>
                </a:lnTo>
                <a:lnTo>
                  <a:pt x="8440903" y="1906701"/>
                </a:lnTo>
                <a:lnTo>
                  <a:pt x="8483397" y="1890509"/>
                </a:lnTo>
                <a:lnTo>
                  <a:pt x="8522741" y="1868690"/>
                </a:lnTo>
                <a:lnTo>
                  <a:pt x="8558454" y="1841754"/>
                </a:lnTo>
                <a:lnTo>
                  <a:pt x="8590013" y="1810194"/>
                </a:lnTo>
                <a:lnTo>
                  <a:pt x="8616950" y="1774482"/>
                </a:lnTo>
                <a:lnTo>
                  <a:pt x="8638769" y="1735137"/>
                </a:lnTo>
                <a:lnTo>
                  <a:pt x="8654961" y="1692643"/>
                </a:lnTo>
                <a:lnTo>
                  <a:pt x="8665032" y="1647507"/>
                </a:lnTo>
                <a:lnTo>
                  <a:pt x="8668512" y="1600200"/>
                </a:lnTo>
                <a:lnTo>
                  <a:pt x="8668512" y="320040"/>
                </a:lnTo>
                <a:close/>
              </a:path>
            </a:pathLst>
          </a:custGeom>
          <a:solidFill>
            <a:srgbClr val="9BBA58"/>
          </a:solidFill>
        </p:spPr>
        <p:txBody>
          <a:bodyPr wrap="square" lIns="0" tIns="0" rIns="0" bIns="0" rtlCol="0"/>
          <a:lstStyle/>
          <a:p>
            <a:endParaRPr/>
          </a:p>
        </p:txBody>
      </p:sp>
      <p:sp>
        <p:nvSpPr>
          <p:cNvPr id="4" name="object 4"/>
          <p:cNvSpPr/>
          <p:nvPr/>
        </p:nvSpPr>
        <p:spPr>
          <a:xfrm>
            <a:off x="469392" y="3429000"/>
            <a:ext cx="8168005" cy="1104265"/>
          </a:xfrm>
          <a:custGeom>
            <a:avLst/>
            <a:gdLst/>
            <a:ahLst/>
            <a:cxnLst/>
            <a:rect l="l" t="t" r="r" b="b"/>
            <a:pathLst>
              <a:path w="8168005" h="1104264">
                <a:moveTo>
                  <a:pt x="8167878" y="184023"/>
                </a:moveTo>
                <a:lnTo>
                  <a:pt x="8161299" y="135115"/>
                </a:lnTo>
                <a:lnTo>
                  <a:pt x="8142745" y="91160"/>
                </a:lnTo>
                <a:lnTo>
                  <a:pt x="8113966" y="53911"/>
                </a:lnTo>
                <a:lnTo>
                  <a:pt x="8076717" y="25133"/>
                </a:lnTo>
                <a:lnTo>
                  <a:pt x="8032763" y="6578"/>
                </a:lnTo>
                <a:lnTo>
                  <a:pt x="7983855" y="0"/>
                </a:lnTo>
                <a:lnTo>
                  <a:pt x="184023" y="0"/>
                </a:lnTo>
                <a:lnTo>
                  <a:pt x="135102" y="6578"/>
                </a:lnTo>
                <a:lnTo>
                  <a:pt x="91135" y="25133"/>
                </a:lnTo>
                <a:lnTo>
                  <a:pt x="53898" y="53911"/>
                </a:lnTo>
                <a:lnTo>
                  <a:pt x="25120" y="91160"/>
                </a:lnTo>
                <a:lnTo>
                  <a:pt x="6565" y="135115"/>
                </a:lnTo>
                <a:lnTo>
                  <a:pt x="0" y="184023"/>
                </a:lnTo>
                <a:lnTo>
                  <a:pt x="0" y="920115"/>
                </a:lnTo>
                <a:lnTo>
                  <a:pt x="6565" y="969035"/>
                </a:lnTo>
                <a:lnTo>
                  <a:pt x="25120" y="1012990"/>
                </a:lnTo>
                <a:lnTo>
                  <a:pt x="53898" y="1050226"/>
                </a:lnTo>
                <a:lnTo>
                  <a:pt x="91135" y="1079017"/>
                </a:lnTo>
                <a:lnTo>
                  <a:pt x="135102" y="1097572"/>
                </a:lnTo>
                <a:lnTo>
                  <a:pt x="184023" y="1104138"/>
                </a:lnTo>
                <a:lnTo>
                  <a:pt x="7983855" y="1104138"/>
                </a:lnTo>
                <a:lnTo>
                  <a:pt x="8032763" y="1097572"/>
                </a:lnTo>
                <a:lnTo>
                  <a:pt x="8076717" y="1079017"/>
                </a:lnTo>
                <a:lnTo>
                  <a:pt x="8113966" y="1050226"/>
                </a:lnTo>
                <a:lnTo>
                  <a:pt x="8142745" y="1012990"/>
                </a:lnTo>
                <a:lnTo>
                  <a:pt x="8161299" y="969035"/>
                </a:lnTo>
                <a:lnTo>
                  <a:pt x="8167878" y="920115"/>
                </a:lnTo>
                <a:lnTo>
                  <a:pt x="8167878" y="184023"/>
                </a:lnTo>
                <a:close/>
              </a:path>
            </a:pathLst>
          </a:custGeom>
          <a:solidFill>
            <a:srgbClr val="C0504D"/>
          </a:solidFill>
        </p:spPr>
        <p:txBody>
          <a:bodyPr wrap="square" lIns="0" tIns="0" rIns="0" bIns="0" rtlCol="0"/>
          <a:lstStyle/>
          <a:p>
            <a:endParaRPr/>
          </a:p>
        </p:txBody>
      </p:sp>
      <p:sp>
        <p:nvSpPr>
          <p:cNvPr id="5" name="object 5"/>
          <p:cNvSpPr txBox="1"/>
          <p:nvPr/>
        </p:nvSpPr>
        <p:spPr>
          <a:xfrm>
            <a:off x="463550" y="1045972"/>
            <a:ext cx="7985759" cy="3190240"/>
          </a:xfrm>
          <a:prstGeom prst="rect">
            <a:avLst/>
          </a:prstGeom>
        </p:spPr>
        <p:txBody>
          <a:bodyPr vert="horz" wrap="square" lIns="0" tIns="49530" rIns="0" bIns="0" rtlCol="0">
            <a:spAutoFit/>
          </a:bodyPr>
          <a:lstStyle/>
          <a:p>
            <a:pPr marL="425450" marR="5080" indent="-342900" algn="just">
              <a:lnSpc>
                <a:spcPct val="90000"/>
              </a:lnSpc>
              <a:spcBef>
                <a:spcPts val="390"/>
              </a:spcBef>
              <a:buFont typeface="Wingdings"/>
              <a:buChar char=""/>
              <a:tabLst>
                <a:tab pos="425450" algn="l"/>
              </a:tabLst>
            </a:pPr>
            <a:r>
              <a:rPr sz="2400" spc="95" dirty="0">
                <a:solidFill>
                  <a:srgbClr val="FFFFFF"/>
                </a:solidFill>
                <a:latin typeface="Times New Roman"/>
                <a:cs typeface="Times New Roman"/>
              </a:rPr>
              <a:t>Transact-SQL </a:t>
            </a:r>
            <a:r>
              <a:rPr sz="2400" spc="80" dirty="0">
                <a:solidFill>
                  <a:srgbClr val="FFFFFF"/>
                </a:solidFill>
                <a:latin typeface="Times New Roman"/>
                <a:cs typeface="Times New Roman"/>
              </a:rPr>
              <a:t>programming elements </a:t>
            </a:r>
            <a:r>
              <a:rPr sz="2400" spc="75" dirty="0">
                <a:solidFill>
                  <a:srgbClr val="FFFFFF"/>
                </a:solidFill>
                <a:latin typeface="Times New Roman"/>
                <a:cs typeface="Times New Roman"/>
              </a:rPr>
              <a:t>enable </a:t>
            </a:r>
            <a:r>
              <a:rPr sz="2400" spc="130" dirty="0">
                <a:solidFill>
                  <a:srgbClr val="FFFFFF"/>
                </a:solidFill>
                <a:latin typeface="Times New Roman"/>
                <a:cs typeface="Times New Roman"/>
              </a:rPr>
              <a:t>to </a:t>
            </a:r>
            <a:r>
              <a:rPr sz="2400" spc="90" dirty="0">
                <a:solidFill>
                  <a:srgbClr val="FFFFFF"/>
                </a:solidFill>
                <a:latin typeface="Times New Roman"/>
                <a:cs typeface="Times New Roman"/>
              </a:rPr>
              <a:t>perform  </a:t>
            </a:r>
            <a:r>
              <a:rPr sz="2400" spc="70" dirty="0">
                <a:solidFill>
                  <a:srgbClr val="FFFFFF"/>
                </a:solidFill>
                <a:latin typeface="Times New Roman"/>
                <a:cs typeface="Times New Roman"/>
              </a:rPr>
              <a:t>various </a:t>
            </a:r>
            <a:r>
              <a:rPr sz="2400" spc="90" dirty="0">
                <a:solidFill>
                  <a:srgbClr val="FFFFFF"/>
                </a:solidFill>
                <a:latin typeface="Times New Roman"/>
                <a:cs typeface="Times New Roman"/>
              </a:rPr>
              <a:t>operations </a:t>
            </a:r>
            <a:r>
              <a:rPr sz="2400" spc="140" dirty="0">
                <a:solidFill>
                  <a:srgbClr val="FFFFFF"/>
                </a:solidFill>
                <a:latin typeface="Times New Roman"/>
                <a:cs typeface="Times New Roman"/>
              </a:rPr>
              <a:t>that </a:t>
            </a:r>
            <a:r>
              <a:rPr sz="2400" spc="125" dirty="0">
                <a:solidFill>
                  <a:srgbClr val="FFFFFF"/>
                </a:solidFill>
                <a:latin typeface="Times New Roman"/>
                <a:cs typeface="Times New Roman"/>
              </a:rPr>
              <a:t>cannot </a:t>
            </a:r>
            <a:r>
              <a:rPr sz="2400" spc="80" dirty="0">
                <a:solidFill>
                  <a:srgbClr val="FFFFFF"/>
                </a:solidFill>
                <a:latin typeface="Times New Roman"/>
                <a:cs typeface="Times New Roman"/>
              </a:rPr>
              <a:t>be </a:t>
            </a:r>
            <a:r>
              <a:rPr sz="2400" spc="130" dirty="0">
                <a:solidFill>
                  <a:srgbClr val="FFFFFF"/>
                </a:solidFill>
                <a:latin typeface="Times New Roman"/>
                <a:cs typeface="Times New Roman"/>
              </a:rPr>
              <a:t>done </a:t>
            </a:r>
            <a:r>
              <a:rPr sz="2400" spc="114" dirty="0">
                <a:solidFill>
                  <a:srgbClr val="FFFFFF"/>
                </a:solidFill>
                <a:latin typeface="Times New Roman"/>
                <a:cs typeface="Times New Roman"/>
              </a:rPr>
              <a:t>in </a:t>
            </a:r>
            <a:r>
              <a:rPr sz="2400" spc="40" dirty="0">
                <a:solidFill>
                  <a:srgbClr val="FFFFFF"/>
                </a:solidFill>
                <a:latin typeface="Times New Roman"/>
                <a:cs typeface="Times New Roman"/>
              </a:rPr>
              <a:t>a </a:t>
            </a:r>
            <a:r>
              <a:rPr sz="2400" spc="45" dirty="0">
                <a:solidFill>
                  <a:srgbClr val="FFFFFF"/>
                </a:solidFill>
                <a:latin typeface="Times New Roman"/>
                <a:cs typeface="Times New Roman"/>
              </a:rPr>
              <a:t>single  </a:t>
            </a:r>
            <a:r>
              <a:rPr sz="2400" spc="95" dirty="0">
                <a:solidFill>
                  <a:srgbClr val="FFFFFF"/>
                </a:solidFill>
                <a:latin typeface="Times New Roman"/>
                <a:cs typeface="Times New Roman"/>
              </a:rPr>
              <a:t>statement.</a:t>
            </a:r>
            <a:endParaRPr sz="2400">
              <a:latin typeface="Times New Roman"/>
              <a:cs typeface="Times New Roman"/>
            </a:endParaRPr>
          </a:p>
          <a:p>
            <a:pPr marL="425450" marR="5080" indent="-342900" algn="just">
              <a:lnSpc>
                <a:spcPts val="2590"/>
              </a:lnSpc>
              <a:spcBef>
                <a:spcPts val="40"/>
              </a:spcBef>
              <a:buFont typeface="Wingdings"/>
              <a:buChar char=""/>
              <a:tabLst>
                <a:tab pos="425450" algn="l"/>
              </a:tabLst>
            </a:pPr>
            <a:r>
              <a:rPr sz="2400" spc="75" dirty="0">
                <a:solidFill>
                  <a:srgbClr val="FFFFFF"/>
                </a:solidFill>
                <a:latin typeface="Times New Roman"/>
                <a:cs typeface="Times New Roman"/>
              </a:rPr>
              <a:t>Users </a:t>
            </a:r>
            <a:r>
              <a:rPr sz="2400" spc="90" dirty="0">
                <a:solidFill>
                  <a:srgbClr val="FFFFFF"/>
                </a:solidFill>
                <a:latin typeface="Times New Roman"/>
                <a:cs typeface="Times New Roman"/>
              </a:rPr>
              <a:t>can </a:t>
            </a:r>
            <a:r>
              <a:rPr sz="2400" spc="100" dirty="0">
                <a:solidFill>
                  <a:srgbClr val="FFFFFF"/>
                </a:solidFill>
                <a:latin typeface="Times New Roman"/>
                <a:cs typeface="Times New Roman"/>
              </a:rPr>
              <a:t>group </a:t>
            </a:r>
            <a:r>
              <a:rPr sz="2400" spc="40" dirty="0">
                <a:solidFill>
                  <a:srgbClr val="FFFFFF"/>
                </a:solidFill>
                <a:latin typeface="Times New Roman"/>
                <a:cs typeface="Times New Roman"/>
              </a:rPr>
              <a:t>several </a:t>
            </a:r>
            <a:r>
              <a:rPr sz="2400" spc="95" dirty="0">
                <a:solidFill>
                  <a:srgbClr val="FFFFFF"/>
                </a:solidFill>
                <a:latin typeface="Times New Roman"/>
                <a:cs typeface="Times New Roman"/>
              </a:rPr>
              <a:t>Transact-SQL statements  </a:t>
            </a:r>
            <a:r>
              <a:rPr sz="2400" spc="100" dirty="0">
                <a:solidFill>
                  <a:srgbClr val="FFFFFF"/>
                </a:solidFill>
                <a:latin typeface="Times New Roman"/>
                <a:cs typeface="Times New Roman"/>
              </a:rPr>
              <a:t>together</a:t>
            </a:r>
            <a:r>
              <a:rPr sz="2400" spc="-95" dirty="0">
                <a:solidFill>
                  <a:srgbClr val="FFFFFF"/>
                </a:solidFill>
                <a:latin typeface="Times New Roman"/>
                <a:cs typeface="Times New Roman"/>
              </a:rPr>
              <a:t> </a:t>
            </a:r>
            <a:r>
              <a:rPr sz="2400" spc="50" dirty="0">
                <a:solidFill>
                  <a:srgbClr val="FFFFFF"/>
                </a:solidFill>
                <a:latin typeface="Times New Roman"/>
                <a:cs typeface="Times New Roman"/>
              </a:rPr>
              <a:t>by</a:t>
            </a:r>
            <a:r>
              <a:rPr sz="2400" spc="-90" dirty="0">
                <a:solidFill>
                  <a:srgbClr val="FFFFFF"/>
                </a:solidFill>
                <a:latin typeface="Times New Roman"/>
                <a:cs typeface="Times New Roman"/>
              </a:rPr>
              <a:t> </a:t>
            </a:r>
            <a:r>
              <a:rPr sz="2400" spc="75" dirty="0">
                <a:solidFill>
                  <a:srgbClr val="FFFFFF"/>
                </a:solidFill>
                <a:latin typeface="Times New Roman"/>
                <a:cs typeface="Times New Roman"/>
              </a:rPr>
              <a:t>using</a:t>
            </a:r>
            <a:r>
              <a:rPr sz="2400" spc="-85" dirty="0">
                <a:solidFill>
                  <a:srgbClr val="FFFFFF"/>
                </a:solidFill>
                <a:latin typeface="Times New Roman"/>
                <a:cs typeface="Times New Roman"/>
              </a:rPr>
              <a:t> </a:t>
            </a:r>
            <a:r>
              <a:rPr sz="2400" spc="125" dirty="0">
                <a:solidFill>
                  <a:srgbClr val="FFFFFF"/>
                </a:solidFill>
                <a:latin typeface="Times New Roman"/>
                <a:cs typeface="Times New Roman"/>
              </a:rPr>
              <a:t>one</a:t>
            </a:r>
            <a:r>
              <a:rPr sz="2400" spc="-100" dirty="0">
                <a:solidFill>
                  <a:srgbClr val="FFFFFF"/>
                </a:solidFill>
                <a:latin typeface="Times New Roman"/>
                <a:cs typeface="Times New Roman"/>
              </a:rPr>
              <a:t> </a:t>
            </a:r>
            <a:r>
              <a:rPr sz="2400" spc="70" dirty="0">
                <a:solidFill>
                  <a:srgbClr val="FFFFFF"/>
                </a:solidFill>
                <a:latin typeface="Times New Roman"/>
                <a:cs typeface="Times New Roman"/>
              </a:rPr>
              <a:t>of</a:t>
            </a:r>
            <a:r>
              <a:rPr sz="2400" spc="-90" dirty="0">
                <a:solidFill>
                  <a:srgbClr val="FFFFFF"/>
                </a:solidFill>
                <a:latin typeface="Times New Roman"/>
                <a:cs typeface="Times New Roman"/>
              </a:rPr>
              <a:t> </a:t>
            </a:r>
            <a:r>
              <a:rPr sz="2400" spc="135" dirty="0">
                <a:solidFill>
                  <a:srgbClr val="FFFFFF"/>
                </a:solidFill>
                <a:latin typeface="Times New Roman"/>
                <a:cs typeface="Times New Roman"/>
              </a:rPr>
              <a:t>the</a:t>
            </a:r>
            <a:r>
              <a:rPr sz="2400" spc="-90" dirty="0">
                <a:solidFill>
                  <a:srgbClr val="FFFFFF"/>
                </a:solidFill>
                <a:latin typeface="Times New Roman"/>
                <a:cs typeface="Times New Roman"/>
              </a:rPr>
              <a:t> </a:t>
            </a:r>
            <a:r>
              <a:rPr sz="2400" spc="55" dirty="0">
                <a:solidFill>
                  <a:srgbClr val="FFFFFF"/>
                </a:solidFill>
                <a:latin typeface="Times New Roman"/>
                <a:cs typeface="Times New Roman"/>
              </a:rPr>
              <a:t>following</a:t>
            </a:r>
            <a:r>
              <a:rPr sz="2400" spc="-80" dirty="0">
                <a:solidFill>
                  <a:srgbClr val="FFFFFF"/>
                </a:solidFill>
                <a:latin typeface="Times New Roman"/>
                <a:cs typeface="Times New Roman"/>
              </a:rPr>
              <a:t> </a:t>
            </a:r>
            <a:r>
              <a:rPr sz="2400" spc="10" dirty="0">
                <a:solidFill>
                  <a:srgbClr val="FFFFFF"/>
                </a:solidFill>
                <a:latin typeface="Times New Roman"/>
                <a:cs typeface="Times New Roman"/>
              </a:rPr>
              <a:t>ways:</a:t>
            </a:r>
            <a:endParaRPr sz="2400">
              <a:latin typeface="Times New Roman"/>
              <a:cs typeface="Times New Roman"/>
            </a:endParaRPr>
          </a:p>
          <a:p>
            <a:pPr marL="12700">
              <a:lnSpc>
                <a:spcPct val="100000"/>
              </a:lnSpc>
              <a:spcBef>
                <a:spcPts val="1975"/>
              </a:spcBef>
            </a:pPr>
            <a:r>
              <a:rPr sz="2200" b="1" spc="-190" dirty="0">
                <a:latin typeface="Arial"/>
                <a:cs typeface="Arial"/>
              </a:rPr>
              <a:t>Batches</a:t>
            </a:r>
            <a:endParaRPr sz="2200">
              <a:latin typeface="Arial"/>
              <a:cs typeface="Arial"/>
            </a:endParaRPr>
          </a:p>
          <a:p>
            <a:pPr marL="624840" marR="272415" lvl="1" indent="-342900">
              <a:lnSpc>
                <a:spcPts val="2160"/>
              </a:lnSpc>
              <a:spcBef>
                <a:spcPts val="2730"/>
              </a:spcBef>
              <a:buFont typeface="Wingdings"/>
              <a:buChar char=""/>
              <a:tabLst>
                <a:tab pos="624840" algn="l"/>
                <a:tab pos="625475" algn="l"/>
              </a:tabLst>
            </a:pPr>
            <a:r>
              <a:rPr sz="2000" spc="175" dirty="0">
                <a:solidFill>
                  <a:srgbClr val="FFFFFF"/>
                </a:solidFill>
                <a:latin typeface="Times New Roman"/>
                <a:cs typeface="Times New Roman"/>
              </a:rPr>
              <a:t>A </a:t>
            </a:r>
            <a:r>
              <a:rPr sz="2000" spc="85" dirty="0">
                <a:solidFill>
                  <a:srgbClr val="FFFFFF"/>
                </a:solidFill>
                <a:latin typeface="Times New Roman"/>
                <a:cs typeface="Times New Roman"/>
              </a:rPr>
              <a:t>batch </a:t>
            </a:r>
            <a:r>
              <a:rPr sz="2000" spc="5" dirty="0">
                <a:solidFill>
                  <a:srgbClr val="FFFFFF"/>
                </a:solidFill>
                <a:latin typeface="Times New Roman"/>
                <a:cs typeface="Times New Roman"/>
              </a:rPr>
              <a:t>is </a:t>
            </a:r>
            <a:r>
              <a:rPr sz="2000" spc="30" dirty="0">
                <a:solidFill>
                  <a:srgbClr val="FFFFFF"/>
                </a:solidFill>
                <a:latin typeface="Times New Roman"/>
                <a:cs typeface="Times New Roman"/>
              </a:rPr>
              <a:t>a </a:t>
            </a:r>
            <a:r>
              <a:rPr sz="2000" spc="55" dirty="0">
                <a:solidFill>
                  <a:srgbClr val="FFFFFF"/>
                </a:solidFill>
                <a:latin typeface="Times New Roman"/>
                <a:cs typeface="Times New Roman"/>
              </a:rPr>
              <a:t>collection of </a:t>
            </a:r>
            <a:r>
              <a:rPr sz="2000" spc="105" dirty="0">
                <a:solidFill>
                  <a:srgbClr val="FFFFFF"/>
                </a:solidFill>
                <a:latin typeface="Times New Roman"/>
                <a:cs typeface="Times New Roman"/>
              </a:rPr>
              <a:t>one </a:t>
            </a:r>
            <a:r>
              <a:rPr sz="2000" spc="90" dirty="0">
                <a:solidFill>
                  <a:srgbClr val="FFFFFF"/>
                </a:solidFill>
                <a:latin typeface="Times New Roman"/>
                <a:cs typeface="Times New Roman"/>
              </a:rPr>
              <a:t>or </a:t>
            </a:r>
            <a:r>
              <a:rPr sz="2000" spc="75" dirty="0">
                <a:solidFill>
                  <a:srgbClr val="FFFFFF"/>
                </a:solidFill>
                <a:latin typeface="Times New Roman"/>
                <a:cs typeface="Times New Roman"/>
              </a:rPr>
              <a:t>more </a:t>
            </a:r>
            <a:r>
              <a:rPr sz="2000" spc="80" dirty="0">
                <a:solidFill>
                  <a:srgbClr val="FFFFFF"/>
                </a:solidFill>
                <a:latin typeface="Times New Roman"/>
                <a:cs typeface="Times New Roman"/>
              </a:rPr>
              <a:t>Transact-SQL statements  </a:t>
            </a:r>
            <a:r>
              <a:rPr sz="2000" spc="114" dirty="0">
                <a:solidFill>
                  <a:srgbClr val="FFFFFF"/>
                </a:solidFill>
                <a:latin typeface="Times New Roman"/>
                <a:cs typeface="Times New Roman"/>
              </a:rPr>
              <a:t>that</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85" dirty="0">
                <a:solidFill>
                  <a:srgbClr val="FFFFFF"/>
                </a:solidFill>
                <a:latin typeface="Times New Roman"/>
                <a:cs typeface="Times New Roman"/>
              </a:rPr>
              <a:t>sent</a:t>
            </a:r>
            <a:r>
              <a:rPr sz="2000" spc="-55"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75" dirty="0">
                <a:solidFill>
                  <a:srgbClr val="FFFFFF"/>
                </a:solidFill>
                <a:latin typeface="Times New Roman"/>
                <a:cs typeface="Times New Roman"/>
              </a:rPr>
              <a:t> </a:t>
            </a:r>
            <a:r>
              <a:rPr sz="2000" spc="105" dirty="0">
                <a:solidFill>
                  <a:srgbClr val="FFFFFF"/>
                </a:solidFill>
                <a:latin typeface="Times New Roman"/>
                <a:cs typeface="Times New Roman"/>
              </a:rPr>
              <a:t>one</a:t>
            </a:r>
            <a:r>
              <a:rPr sz="2000" spc="-55" dirty="0">
                <a:solidFill>
                  <a:srgbClr val="FFFFFF"/>
                </a:solidFill>
                <a:latin typeface="Times New Roman"/>
                <a:cs typeface="Times New Roman"/>
              </a:rPr>
              <a:t> </a:t>
            </a:r>
            <a:r>
              <a:rPr sz="2000" spc="114" dirty="0">
                <a:solidFill>
                  <a:srgbClr val="FFFFFF"/>
                </a:solidFill>
                <a:latin typeface="Times New Roman"/>
                <a:cs typeface="Times New Roman"/>
              </a:rPr>
              <a:t>unit</a:t>
            </a:r>
            <a:r>
              <a:rPr sz="2000" spc="-75" dirty="0">
                <a:solidFill>
                  <a:srgbClr val="FFFFFF"/>
                </a:solidFill>
                <a:latin typeface="Times New Roman"/>
                <a:cs typeface="Times New Roman"/>
              </a:rPr>
              <a:t> </a:t>
            </a:r>
            <a:r>
              <a:rPr sz="2000" spc="70" dirty="0">
                <a:solidFill>
                  <a:srgbClr val="FFFFFF"/>
                </a:solidFill>
                <a:latin typeface="Times New Roman"/>
                <a:cs typeface="Times New Roman"/>
              </a:rPr>
              <a:t>from</a:t>
            </a:r>
            <a:r>
              <a:rPr sz="2000" spc="-70" dirty="0">
                <a:solidFill>
                  <a:srgbClr val="FFFFFF"/>
                </a:solidFill>
                <a:latin typeface="Times New Roman"/>
                <a:cs typeface="Times New Roman"/>
              </a:rPr>
              <a:t> </a:t>
            </a:r>
            <a:r>
              <a:rPr sz="2000" spc="105" dirty="0">
                <a:solidFill>
                  <a:srgbClr val="FFFFFF"/>
                </a:solidFill>
                <a:latin typeface="Times New Roman"/>
                <a:cs typeface="Times New Roman"/>
              </a:rPr>
              <a:t>an</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application</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40" dirty="0">
                <a:solidFill>
                  <a:srgbClr val="FFFFFF"/>
                </a:solidFill>
                <a:latin typeface="Times New Roman"/>
                <a:cs typeface="Times New Roman"/>
              </a:rPr>
              <a:t>server.</a:t>
            </a:r>
            <a:endParaRPr sz="2000">
              <a:latin typeface="Times New Roman"/>
              <a:cs typeface="Times New Roman"/>
            </a:endParaRPr>
          </a:p>
        </p:txBody>
      </p:sp>
      <p:sp>
        <p:nvSpPr>
          <p:cNvPr id="6" name="object 6"/>
          <p:cNvSpPr/>
          <p:nvPr/>
        </p:nvSpPr>
        <p:spPr>
          <a:xfrm>
            <a:off x="469392" y="5201411"/>
            <a:ext cx="8168005" cy="1104265"/>
          </a:xfrm>
          <a:custGeom>
            <a:avLst/>
            <a:gdLst/>
            <a:ahLst/>
            <a:cxnLst/>
            <a:rect l="l" t="t" r="r" b="b"/>
            <a:pathLst>
              <a:path w="8168005" h="1104264">
                <a:moveTo>
                  <a:pt x="8167878" y="184023"/>
                </a:moveTo>
                <a:lnTo>
                  <a:pt x="8161299" y="135115"/>
                </a:lnTo>
                <a:lnTo>
                  <a:pt x="8142745" y="91160"/>
                </a:lnTo>
                <a:lnTo>
                  <a:pt x="8113966" y="53911"/>
                </a:lnTo>
                <a:lnTo>
                  <a:pt x="8076717" y="25133"/>
                </a:lnTo>
                <a:lnTo>
                  <a:pt x="8032763" y="6578"/>
                </a:lnTo>
                <a:lnTo>
                  <a:pt x="7983855" y="0"/>
                </a:lnTo>
                <a:lnTo>
                  <a:pt x="184023" y="0"/>
                </a:lnTo>
                <a:lnTo>
                  <a:pt x="135102" y="6578"/>
                </a:lnTo>
                <a:lnTo>
                  <a:pt x="91135" y="25133"/>
                </a:lnTo>
                <a:lnTo>
                  <a:pt x="53898" y="53911"/>
                </a:lnTo>
                <a:lnTo>
                  <a:pt x="25120" y="91160"/>
                </a:lnTo>
                <a:lnTo>
                  <a:pt x="6565" y="135115"/>
                </a:lnTo>
                <a:lnTo>
                  <a:pt x="0" y="184023"/>
                </a:lnTo>
                <a:lnTo>
                  <a:pt x="0" y="920115"/>
                </a:lnTo>
                <a:lnTo>
                  <a:pt x="6565" y="969035"/>
                </a:lnTo>
                <a:lnTo>
                  <a:pt x="25120" y="1013002"/>
                </a:lnTo>
                <a:lnTo>
                  <a:pt x="53898" y="1050239"/>
                </a:lnTo>
                <a:lnTo>
                  <a:pt x="91135" y="1079017"/>
                </a:lnTo>
                <a:lnTo>
                  <a:pt x="135102" y="1097572"/>
                </a:lnTo>
                <a:lnTo>
                  <a:pt x="184023" y="1104138"/>
                </a:lnTo>
                <a:lnTo>
                  <a:pt x="7983855" y="1104138"/>
                </a:lnTo>
                <a:lnTo>
                  <a:pt x="8032763" y="1097572"/>
                </a:lnTo>
                <a:lnTo>
                  <a:pt x="8076717" y="1079017"/>
                </a:lnTo>
                <a:lnTo>
                  <a:pt x="8113966" y="1050239"/>
                </a:lnTo>
                <a:lnTo>
                  <a:pt x="8142745" y="1013002"/>
                </a:lnTo>
                <a:lnTo>
                  <a:pt x="8161299" y="969035"/>
                </a:lnTo>
                <a:lnTo>
                  <a:pt x="8167878" y="920115"/>
                </a:lnTo>
                <a:lnTo>
                  <a:pt x="8167878" y="184023"/>
                </a:lnTo>
                <a:close/>
              </a:path>
            </a:pathLst>
          </a:custGeom>
          <a:solidFill>
            <a:srgbClr val="4F81BC"/>
          </a:solidFill>
        </p:spPr>
        <p:txBody>
          <a:bodyPr wrap="square" lIns="0" tIns="0" rIns="0" bIns="0" rtlCol="0"/>
          <a:lstStyle/>
          <a:p>
            <a:endParaRPr/>
          </a:p>
        </p:txBody>
      </p:sp>
      <p:sp>
        <p:nvSpPr>
          <p:cNvPr id="7" name="object 7"/>
          <p:cNvSpPr txBox="1"/>
          <p:nvPr/>
        </p:nvSpPr>
        <p:spPr>
          <a:xfrm>
            <a:off x="400304" y="4764023"/>
            <a:ext cx="7781925" cy="1245235"/>
          </a:xfrm>
          <a:prstGeom prst="rect">
            <a:avLst/>
          </a:prstGeom>
        </p:spPr>
        <p:txBody>
          <a:bodyPr vert="horz" wrap="square" lIns="0" tIns="12700" rIns="0" bIns="0" rtlCol="0">
            <a:spAutoFit/>
          </a:bodyPr>
          <a:lstStyle/>
          <a:p>
            <a:pPr marL="12700">
              <a:lnSpc>
                <a:spcPct val="100000"/>
              </a:lnSpc>
              <a:spcBef>
                <a:spcPts val="100"/>
              </a:spcBef>
            </a:pPr>
            <a:r>
              <a:rPr sz="2200" b="1" spc="-114" dirty="0">
                <a:latin typeface="Arial"/>
                <a:cs typeface="Arial"/>
              </a:rPr>
              <a:t>Stored</a:t>
            </a:r>
            <a:r>
              <a:rPr sz="2200" b="1" spc="-190" dirty="0">
                <a:latin typeface="Arial"/>
                <a:cs typeface="Arial"/>
              </a:rPr>
              <a:t> </a:t>
            </a:r>
            <a:r>
              <a:rPr sz="2200" b="1" spc="-175" dirty="0">
                <a:latin typeface="Arial"/>
                <a:cs typeface="Arial"/>
              </a:rPr>
              <a:t>Procedures</a:t>
            </a:r>
            <a:endParaRPr sz="2200">
              <a:latin typeface="Arial"/>
              <a:cs typeface="Arial"/>
            </a:endParaRPr>
          </a:p>
          <a:p>
            <a:pPr marL="688340" marR="5080" indent="-342900">
              <a:lnSpc>
                <a:spcPts val="2160"/>
              </a:lnSpc>
              <a:spcBef>
                <a:spcPts val="2675"/>
              </a:spcBef>
              <a:buFont typeface="Wingdings"/>
              <a:buChar char=""/>
              <a:tabLst>
                <a:tab pos="688340" algn="l"/>
                <a:tab pos="688975" algn="l"/>
              </a:tabLst>
            </a:pPr>
            <a:r>
              <a:rPr sz="2000" spc="175" dirty="0">
                <a:solidFill>
                  <a:srgbClr val="FFFFFF"/>
                </a:solidFill>
                <a:latin typeface="Times New Roman"/>
                <a:cs typeface="Times New Roman"/>
              </a:rPr>
              <a:t>A </a:t>
            </a:r>
            <a:r>
              <a:rPr sz="2000" spc="80" dirty="0">
                <a:solidFill>
                  <a:srgbClr val="FFFFFF"/>
                </a:solidFill>
                <a:latin typeface="Times New Roman"/>
                <a:cs typeface="Times New Roman"/>
              </a:rPr>
              <a:t>stored procedure </a:t>
            </a:r>
            <a:r>
              <a:rPr sz="2000" spc="5" dirty="0">
                <a:solidFill>
                  <a:srgbClr val="FFFFFF"/>
                </a:solidFill>
                <a:latin typeface="Times New Roman"/>
                <a:cs typeface="Times New Roman"/>
              </a:rPr>
              <a:t>is </a:t>
            </a:r>
            <a:r>
              <a:rPr sz="2000" spc="30" dirty="0">
                <a:solidFill>
                  <a:srgbClr val="FFFFFF"/>
                </a:solidFill>
                <a:latin typeface="Times New Roman"/>
                <a:cs typeface="Times New Roman"/>
              </a:rPr>
              <a:t>a </a:t>
            </a:r>
            <a:r>
              <a:rPr sz="2000" spc="55" dirty="0">
                <a:solidFill>
                  <a:srgbClr val="FFFFFF"/>
                </a:solidFill>
                <a:latin typeface="Times New Roman"/>
                <a:cs typeface="Times New Roman"/>
              </a:rPr>
              <a:t>collection of </a:t>
            </a:r>
            <a:r>
              <a:rPr sz="2000" spc="80" dirty="0">
                <a:solidFill>
                  <a:srgbClr val="FFFFFF"/>
                </a:solidFill>
                <a:latin typeface="Times New Roman"/>
                <a:cs typeface="Times New Roman"/>
              </a:rPr>
              <a:t>Transact-SQL statements  </a:t>
            </a:r>
            <a:r>
              <a:rPr sz="2000" spc="114" dirty="0">
                <a:solidFill>
                  <a:srgbClr val="FFFFFF"/>
                </a:solidFill>
                <a:latin typeface="Times New Roman"/>
                <a:cs typeface="Times New Roman"/>
              </a:rPr>
              <a:t>that</a:t>
            </a:r>
            <a:r>
              <a:rPr sz="2000" spc="-65" dirty="0">
                <a:solidFill>
                  <a:srgbClr val="FFFFFF"/>
                </a:solidFill>
                <a:latin typeface="Times New Roman"/>
                <a:cs typeface="Times New Roman"/>
              </a:rPr>
              <a:t> </a:t>
            </a:r>
            <a:r>
              <a:rPr sz="2000" spc="50" dirty="0">
                <a:solidFill>
                  <a:srgbClr val="FFFFFF"/>
                </a:solidFill>
                <a:latin typeface="Times New Roman"/>
                <a:cs typeface="Times New Roman"/>
              </a:rPr>
              <a:t>are</a:t>
            </a:r>
            <a:r>
              <a:rPr sz="2000" spc="-70" dirty="0">
                <a:solidFill>
                  <a:srgbClr val="FFFFFF"/>
                </a:solidFill>
                <a:latin typeface="Times New Roman"/>
                <a:cs typeface="Times New Roman"/>
              </a:rPr>
              <a:t> </a:t>
            </a:r>
            <a:r>
              <a:rPr sz="2000" spc="65" dirty="0">
                <a:solidFill>
                  <a:srgbClr val="FFFFFF"/>
                </a:solidFill>
                <a:latin typeface="Times New Roman"/>
                <a:cs typeface="Times New Roman"/>
              </a:rPr>
              <a:t>precompiled</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and</a:t>
            </a:r>
            <a:r>
              <a:rPr sz="2000" spc="-75" dirty="0">
                <a:solidFill>
                  <a:srgbClr val="FFFFFF"/>
                </a:solidFill>
                <a:latin typeface="Times New Roman"/>
                <a:cs typeface="Times New Roman"/>
              </a:rPr>
              <a:t> </a:t>
            </a:r>
            <a:r>
              <a:rPr sz="2000" spc="75" dirty="0">
                <a:solidFill>
                  <a:srgbClr val="FFFFFF"/>
                </a:solidFill>
                <a:latin typeface="Times New Roman"/>
                <a:cs typeface="Times New Roman"/>
              </a:rPr>
              <a:t>predefined</a:t>
            </a:r>
            <a:r>
              <a:rPr sz="2000" spc="-60" dirty="0">
                <a:solidFill>
                  <a:srgbClr val="FFFFFF"/>
                </a:solidFill>
                <a:latin typeface="Times New Roman"/>
                <a:cs typeface="Times New Roman"/>
              </a:rPr>
              <a:t> </a:t>
            </a:r>
            <a:r>
              <a:rPr sz="2000" spc="130" dirty="0">
                <a:solidFill>
                  <a:srgbClr val="FFFFFF"/>
                </a:solidFill>
                <a:latin typeface="Times New Roman"/>
                <a:cs typeface="Times New Roman"/>
              </a:rPr>
              <a:t>on</a:t>
            </a:r>
            <a:r>
              <a:rPr sz="2000" spc="-5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40" dirty="0">
                <a:solidFill>
                  <a:srgbClr val="FFFFFF"/>
                </a:solidFill>
                <a:latin typeface="Times New Roman"/>
                <a:cs typeface="Times New Roman"/>
              </a:rPr>
              <a:t>server.</a:t>
            </a:r>
            <a:endParaRPr sz="20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4</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777" y="24129"/>
            <a:ext cx="8162290" cy="574040"/>
          </a:xfrm>
          <a:prstGeom prst="rect">
            <a:avLst/>
          </a:prstGeom>
        </p:spPr>
        <p:txBody>
          <a:bodyPr vert="horz" wrap="square" lIns="0" tIns="12700" rIns="0" bIns="0" rtlCol="0">
            <a:spAutoFit/>
          </a:bodyPr>
          <a:lstStyle/>
          <a:p>
            <a:pPr marL="12700">
              <a:lnSpc>
                <a:spcPct val="100000"/>
              </a:lnSpc>
              <a:spcBef>
                <a:spcPts val="100"/>
              </a:spcBef>
            </a:pPr>
            <a:r>
              <a:rPr sz="3600" spc="145" dirty="0"/>
              <a:t>Transact-SQL</a:t>
            </a:r>
            <a:r>
              <a:rPr sz="3600" spc="-150" dirty="0"/>
              <a:t> </a:t>
            </a:r>
            <a:r>
              <a:rPr sz="3600" spc="105" dirty="0"/>
              <a:t>Programming</a:t>
            </a:r>
            <a:r>
              <a:rPr sz="3600" spc="-145" dirty="0"/>
              <a:t> </a:t>
            </a:r>
            <a:r>
              <a:rPr sz="3600" spc="110" dirty="0"/>
              <a:t>Elements</a:t>
            </a:r>
            <a:r>
              <a:rPr sz="3600" spc="-170" dirty="0"/>
              <a:t> </a:t>
            </a:r>
            <a:r>
              <a:rPr sz="3600" spc="-145" dirty="0"/>
              <a:t>2-3</a:t>
            </a:r>
            <a:endParaRPr sz="3600"/>
          </a:p>
        </p:txBody>
      </p:sp>
      <p:grpSp>
        <p:nvGrpSpPr>
          <p:cNvPr id="3" name="object 3"/>
          <p:cNvGrpSpPr/>
          <p:nvPr/>
        </p:nvGrpSpPr>
        <p:grpSpPr>
          <a:xfrm>
            <a:off x="891539" y="1394460"/>
            <a:ext cx="3440429" cy="555625"/>
            <a:chOff x="891539" y="1394460"/>
            <a:chExt cx="3440429" cy="555625"/>
          </a:xfrm>
        </p:grpSpPr>
        <p:pic>
          <p:nvPicPr>
            <p:cNvPr id="4" name="object 4"/>
            <p:cNvPicPr/>
            <p:nvPr/>
          </p:nvPicPr>
          <p:blipFill>
            <a:blip r:embed="rId3" cstate="print"/>
            <a:stretch>
              <a:fillRect/>
            </a:stretch>
          </p:blipFill>
          <p:spPr>
            <a:xfrm>
              <a:off x="891539" y="1405153"/>
              <a:ext cx="3440429" cy="488416"/>
            </a:xfrm>
            <a:prstGeom prst="rect">
              <a:avLst/>
            </a:prstGeom>
          </p:spPr>
        </p:pic>
        <p:pic>
          <p:nvPicPr>
            <p:cNvPr id="5" name="object 5"/>
            <p:cNvPicPr/>
            <p:nvPr/>
          </p:nvPicPr>
          <p:blipFill>
            <a:blip r:embed="rId4" cstate="print"/>
            <a:stretch>
              <a:fillRect/>
            </a:stretch>
          </p:blipFill>
          <p:spPr>
            <a:xfrm>
              <a:off x="2033777" y="1394460"/>
              <a:ext cx="1155217" cy="555498"/>
            </a:xfrm>
            <a:prstGeom prst="rect">
              <a:avLst/>
            </a:prstGeom>
          </p:spPr>
        </p:pic>
        <p:pic>
          <p:nvPicPr>
            <p:cNvPr id="6" name="object 6"/>
            <p:cNvPicPr/>
            <p:nvPr/>
          </p:nvPicPr>
          <p:blipFill>
            <a:blip r:embed="rId5" cstate="print"/>
            <a:stretch>
              <a:fillRect/>
            </a:stretch>
          </p:blipFill>
          <p:spPr>
            <a:xfrm>
              <a:off x="937640" y="1428369"/>
              <a:ext cx="3355086" cy="403098"/>
            </a:xfrm>
            <a:prstGeom prst="rect">
              <a:avLst/>
            </a:prstGeom>
          </p:spPr>
        </p:pic>
        <p:sp>
          <p:nvSpPr>
            <p:cNvPr id="7" name="object 7"/>
            <p:cNvSpPr/>
            <p:nvPr/>
          </p:nvSpPr>
          <p:spPr>
            <a:xfrm>
              <a:off x="937640" y="1428369"/>
              <a:ext cx="3355340" cy="403225"/>
            </a:xfrm>
            <a:custGeom>
              <a:avLst/>
              <a:gdLst/>
              <a:ahLst/>
              <a:cxnLst/>
              <a:rect l="l" t="t" r="r" b="b"/>
              <a:pathLst>
                <a:path w="3355340" h="403225">
                  <a:moveTo>
                    <a:pt x="0" y="403098"/>
                  </a:moveTo>
                  <a:lnTo>
                    <a:pt x="3355086" y="403098"/>
                  </a:lnTo>
                  <a:lnTo>
                    <a:pt x="3355086" y="0"/>
                  </a:lnTo>
                  <a:lnTo>
                    <a:pt x="0" y="0"/>
                  </a:lnTo>
                  <a:lnTo>
                    <a:pt x="0" y="403098"/>
                  </a:lnTo>
                  <a:close/>
                </a:path>
              </a:pathLst>
            </a:custGeom>
            <a:ln w="9906">
              <a:solidFill>
                <a:srgbClr val="159F85"/>
              </a:solidFill>
            </a:ln>
          </p:spPr>
          <p:txBody>
            <a:bodyPr wrap="square" lIns="0" tIns="0" rIns="0" bIns="0" rtlCol="0"/>
            <a:lstStyle/>
            <a:p>
              <a:endParaRPr/>
            </a:p>
          </p:txBody>
        </p:sp>
      </p:grpSp>
      <p:sp>
        <p:nvSpPr>
          <p:cNvPr id="8" name="object 8"/>
          <p:cNvSpPr txBox="1"/>
          <p:nvPr/>
        </p:nvSpPr>
        <p:spPr>
          <a:xfrm>
            <a:off x="942594" y="1423670"/>
            <a:ext cx="3345179" cy="299720"/>
          </a:xfrm>
          <a:prstGeom prst="rect">
            <a:avLst/>
          </a:prstGeom>
        </p:spPr>
        <p:txBody>
          <a:bodyPr vert="horz" wrap="square" lIns="0" tIns="12700" rIns="0" bIns="0" rtlCol="0">
            <a:spAutoFit/>
          </a:bodyPr>
          <a:lstStyle/>
          <a:p>
            <a:pPr algn="ctr">
              <a:lnSpc>
                <a:spcPct val="100000"/>
              </a:lnSpc>
              <a:spcBef>
                <a:spcPts val="100"/>
              </a:spcBef>
            </a:pPr>
            <a:r>
              <a:rPr sz="1800" b="1" spc="-110" dirty="0">
                <a:solidFill>
                  <a:srgbClr val="03060D"/>
                </a:solidFill>
                <a:latin typeface="Arial"/>
                <a:cs typeface="Arial"/>
              </a:rPr>
              <a:t>Triggers</a:t>
            </a:r>
            <a:endParaRPr sz="1800">
              <a:latin typeface="Arial"/>
              <a:cs typeface="Arial"/>
            </a:endParaRPr>
          </a:p>
        </p:txBody>
      </p:sp>
      <p:sp>
        <p:nvSpPr>
          <p:cNvPr id="9" name="object 9"/>
          <p:cNvSpPr/>
          <p:nvPr/>
        </p:nvSpPr>
        <p:spPr>
          <a:xfrm>
            <a:off x="937641" y="1831467"/>
            <a:ext cx="3355340" cy="2463800"/>
          </a:xfrm>
          <a:custGeom>
            <a:avLst/>
            <a:gdLst/>
            <a:ahLst/>
            <a:cxnLst/>
            <a:rect l="l" t="t" r="r" b="b"/>
            <a:pathLst>
              <a:path w="3355340" h="2463800">
                <a:moveTo>
                  <a:pt x="3355086" y="0"/>
                </a:moveTo>
                <a:lnTo>
                  <a:pt x="0" y="0"/>
                </a:lnTo>
                <a:lnTo>
                  <a:pt x="0" y="2463545"/>
                </a:lnTo>
                <a:lnTo>
                  <a:pt x="3355086" y="2463545"/>
                </a:lnTo>
                <a:lnTo>
                  <a:pt x="3355086" y="0"/>
                </a:lnTo>
                <a:close/>
              </a:path>
            </a:pathLst>
          </a:custGeom>
          <a:solidFill>
            <a:srgbClr val="CCDFD9">
              <a:alpha val="90194"/>
            </a:srgbClr>
          </a:solidFill>
        </p:spPr>
        <p:txBody>
          <a:bodyPr wrap="square" lIns="0" tIns="0" rIns="0" bIns="0" rtlCol="0"/>
          <a:lstStyle/>
          <a:p>
            <a:endParaRPr/>
          </a:p>
        </p:txBody>
      </p:sp>
      <p:sp>
        <p:nvSpPr>
          <p:cNvPr id="10" name="object 10"/>
          <p:cNvSpPr txBox="1"/>
          <p:nvPr/>
        </p:nvSpPr>
        <p:spPr>
          <a:xfrm>
            <a:off x="937641" y="1831467"/>
            <a:ext cx="3355340" cy="2463800"/>
          </a:xfrm>
          <a:prstGeom prst="rect">
            <a:avLst/>
          </a:prstGeom>
          <a:ln w="9905">
            <a:solidFill>
              <a:srgbClr val="244060"/>
            </a:solidFill>
          </a:ln>
        </p:spPr>
        <p:txBody>
          <a:bodyPr vert="horz" wrap="square" lIns="0" tIns="34925" rIns="0" bIns="0" rtlCol="0">
            <a:spAutoFit/>
          </a:bodyPr>
          <a:lstStyle/>
          <a:p>
            <a:pPr marL="188595" marR="128270" indent="-114300">
              <a:lnSpc>
                <a:spcPct val="90000"/>
              </a:lnSpc>
              <a:spcBef>
                <a:spcPts val="275"/>
              </a:spcBef>
              <a:buClr>
                <a:srgbClr val="000000"/>
              </a:buClr>
              <a:buFont typeface="Arial"/>
              <a:buChar char="•"/>
              <a:tabLst>
                <a:tab pos="189230" algn="l"/>
              </a:tabLst>
            </a:pPr>
            <a:r>
              <a:rPr sz="1800" spc="160" dirty="0">
                <a:solidFill>
                  <a:srgbClr val="03060D"/>
                </a:solidFill>
                <a:latin typeface="Times New Roman"/>
                <a:cs typeface="Times New Roman"/>
              </a:rPr>
              <a:t>A </a:t>
            </a:r>
            <a:r>
              <a:rPr sz="1800" spc="40" dirty="0">
                <a:solidFill>
                  <a:srgbClr val="03060D"/>
                </a:solidFill>
                <a:latin typeface="Times New Roman"/>
                <a:cs typeface="Times New Roman"/>
              </a:rPr>
              <a:t>trigger </a:t>
            </a:r>
            <a:r>
              <a:rPr sz="1800" spc="5" dirty="0">
                <a:solidFill>
                  <a:srgbClr val="03060D"/>
                </a:solidFill>
                <a:latin typeface="Times New Roman"/>
                <a:cs typeface="Times New Roman"/>
              </a:rPr>
              <a:t>is </a:t>
            </a:r>
            <a:r>
              <a:rPr sz="1800" spc="30" dirty="0">
                <a:solidFill>
                  <a:srgbClr val="03060D"/>
                </a:solidFill>
                <a:latin typeface="Times New Roman"/>
                <a:cs typeface="Times New Roman"/>
              </a:rPr>
              <a:t>a special </a:t>
            </a:r>
            <a:r>
              <a:rPr sz="1800" spc="60" dirty="0">
                <a:solidFill>
                  <a:srgbClr val="03060D"/>
                </a:solidFill>
                <a:latin typeface="Times New Roman"/>
                <a:cs typeface="Times New Roman"/>
              </a:rPr>
              <a:t>type </a:t>
            </a:r>
            <a:r>
              <a:rPr sz="1800" spc="50" dirty="0">
                <a:solidFill>
                  <a:srgbClr val="03060D"/>
                </a:solidFill>
                <a:latin typeface="Times New Roman"/>
                <a:cs typeface="Times New Roman"/>
              </a:rPr>
              <a:t>of  </a:t>
            </a:r>
            <a:r>
              <a:rPr sz="1800" spc="70" dirty="0">
                <a:solidFill>
                  <a:srgbClr val="03060D"/>
                </a:solidFill>
                <a:latin typeface="Times New Roman"/>
                <a:cs typeface="Times New Roman"/>
              </a:rPr>
              <a:t>stored </a:t>
            </a:r>
            <a:r>
              <a:rPr sz="1800" spc="75" dirty="0">
                <a:solidFill>
                  <a:srgbClr val="03060D"/>
                </a:solidFill>
                <a:latin typeface="Times New Roman"/>
                <a:cs typeface="Times New Roman"/>
              </a:rPr>
              <a:t>procedure </a:t>
            </a:r>
            <a:r>
              <a:rPr sz="1800" spc="100" dirty="0">
                <a:solidFill>
                  <a:srgbClr val="03060D"/>
                </a:solidFill>
                <a:latin typeface="Times New Roman"/>
                <a:cs typeface="Times New Roman"/>
              </a:rPr>
              <a:t>that </a:t>
            </a:r>
            <a:r>
              <a:rPr sz="1800" spc="5" dirty="0">
                <a:solidFill>
                  <a:srgbClr val="03060D"/>
                </a:solidFill>
                <a:latin typeface="Times New Roman"/>
                <a:cs typeface="Times New Roman"/>
              </a:rPr>
              <a:t>is  </a:t>
            </a:r>
            <a:r>
              <a:rPr sz="1800" spc="70" dirty="0">
                <a:solidFill>
                  <a:srgbClr val="03060D"/>
                </a:solidFill>
                <a:latin typeface="Times New Roman"/>
                <a:cs typeface="Times New Roman"/>
              </a:rPr>
              <a:t>executed </a:t>
            </a:r>
            <a:r>
              <a:rPr sz="1800" spc="100" dirty="0">
                <a:solidFill>
                  <a:srgbClr val="03060D"/>
                </a:solidFill>
                <a:latin typeface="Times New Roman"/>
                <a:cs typeface="Times New Roman"/>
              </a:rPr>
              <a:t>when the </a:t>
            </a:r>
            <a:r>
              <a:rPr sz="1800" spc="60" dirty="0">
                <a:solidFill>
                  <a:srgbClr val="03060D"/>
                </a:solidFill>
                <a:latin typeface="Times New Roman"/>
                <a:cs typeface="Times New Roman"/>
              </a:rPr>
              <a:t>user  performs </a:t>
            </a:r>
            <a:r>
              <a:rPr sz="1800" spc="95" dirty="0">
                <a:solidFill>
                  <a:srgbClr val="03060D"/>
                </a:solidFill>
                <a:latin typeface="Times New Roman"/>
                <a:cs typeface="Times New Roman"/>
              </a:rPr>
              <a:t>an </a:t>
            </a:r>
            <a:r>
              <a:rPr sz="1800" spc="80" dirty="0">
                <a:solidFill>
                  <a:srgbClr val="03060D"/>
                </a:solidFill>
                <a:latin typeface="Times New Roman"/>
                <a:cs typeface="Times New Roman"/>
              </a:rPr>
              <a:t>event </a:t>
            </a:r>
            <a:r>
              <a:rPr sz="1800" spc="75" dirty="0">
                <a:solidFill>
                  <a:srgbClr val="03060D"/>
                </a:solidFill>
                <a:latin typeface="Times New Roman"/>
                <a:cs typeface="Times New Roman"/>
              </a:rPr>
              <a:t>such </a:t>
            </a:r>
            <a:r>
              <a:rPr sz="1800" spc="15" dirty="0">
                <a:solidFill>
                  <a:srgbClr val="03060D"/>
                </a:solidFill>
                <a:latin typeface="Times New Roman"/>
                <a:cs typeface="Times New Roman"/>
              </a:rPr>
              <a:t>as </a:t>
            </a:r>
            <a:r>
              <a:rPr sz="1800" spc="95" dirty="0">
                <a:solidFill>
                  <a:srgbClr val="03060D"/>
                </a:solidFill>
                <a:latin typeface="Times New Roman"/>
                <a:cs typeface="Times New Roman"/>
              </a:rPr>
              <a:t>an  </a:t>
            </a:r>
            <a:r>
              <a:rPr sz="1800" spc="60" dirty="0">
                <a:solidFill>
                  <a:srgbClr val="03060D"/>
                </a:solidFill>
                <a:latin typeface="Times New Roman"/>
                <a:cs typeface="Times New Roman"/>
              </a:rPr>
              <a:t>INSERT, </a:t>
            </a:r>
            <a:r>
              <a:rPr sz="1800" spc="30" dirty="0">
                <a:solidFill>
                  <a:srgbClr val="03060D"/>
                </a:solidFill>
                <a:latin typeface="Times New Roman"/>
                <a:cs typeface="Times New Roman"/>
              </a:rPr>
              <a:t>DELETE, </a:t>
            </a:r>
            <a:r>
              <a:rPr sz="1800" spc="80" dirty="0">
                <a:solidFill>
                  <a:srgbClr val="03060D"/>
                </a:solidFill>
                <a:latin typeface="Times New Roman"/>
                <a:cs typeface="Times New Roman"/>
              </a:rPr>
              <a:t>or  </a:t>
            </a:r>
            <a:r>
              <a:rPr sz="1800" spc="100" dirty="0">
                <a:solidFill>
                  <a:srgbClr val="03060D"/>
                </a:solidFill>
                <a:latin typeface="Times New Roman"/>
                <a:cs typeface="Times New Roman"/>
              </a:rPr>
              <a:t>UPDATE</a:t>
            </a:r>
            <a:r>
              <a:rPr sz="1800" spc="-90" dirty="0">
                <a:solidFill>
                  <a:srgbClr val="03060D"/>
                </a:solidFill>
                <a:latin typeface="Times New Roman"/>
                <a:cs typeface="Times New Roman"/>
              </a:rPr>
              <a:t> </a:t>
            </a:r>
            <a:r>
              <a:rPr sz="1800" spc="75" dirty="0">
                <a:solidFill>
                  <a:srgbClr val="03060D"/>
                </a:solidFill>
                <a:latin typeface="Times New Roman"/>
                <a:cs typeface="Times New Roman"/>
              </a:rPr>
              <a:t>operation</a:t>
            </a:r>
            <a:r>
              <a:rPr sz="1800" spc="-75" dirty="0">
                <a:solidFill>
                  <a:srgbClr val="03060D"/>
                </a:solidFill>
                <a:latin typeface="Times New Roman"/>
                <a:cs typeface="Times New Roman"/>
              </a:rPr>
              <a:t> </a:t>
            </a:r>
            <a:r>
              <a:rPr sz="1800" spc="120" dirty="0">
                <a:solidFill>
                  <a:srgbClr val="03060D"/>
                </a:solidFill>
                <a:latin typeface="Times New Roman"/>
                <a:cs typeface="Times New Roman"/>
              </a:rPr>
              <a:t>on</a:t>
            </a:r>
            <a:r>
              <a:rPr sz="1800" spc="-75" dirty="0">
                <a:solidFill>
                  <a:srgbClr val="03060D"/>
                </a:solidFill>
                <a:latin typeface="Times New Roman"/>
                <a:cs typeface="Times New Roman"/>
              </a:rPr>
              <a:t> </a:t>
            </a:r>
            <a:r>
              <a:rPr sz="1800" spc="30" dirty="0">
                <a:solidFill>
                  <a:srgbClr val="03060D"/>
                </a:solidFill>
                <a:latin typeface="Times New Roman"/>
                <a:cs typeface="Times New Roman"/>
              </a:rPr>
              <a:t>a</a:t>
            </a:r>
            <a:r>
              <a:rPr sz="1800" spc="-75" dirty="0">
                <a:solidFill>
                  <a:srgbClr val="03060D"/>
                </a:solidFill>
                <a:latin typeface="Times New Roman"/>
                <a:cs typeface="Times New Roman"/>
              </a:rPr>
              <a:t> </a:t>
            </a:r>
            <a:r>
              <a:rPr sz="1800" spc="45" dirty="0">
                <a:solidFill>
                  <a:srgbClr val="03060D"/>
                </a:solidFill>
                <a:latin typeface="Times New Roman"/>
                <a:cs typeface="Times New Roman"/>
              </a:rPr>
              <a:t>table.</a:t>
            </a:r>
            <a:endParaRPr sz="1800">
              <a:latin typeface="Times New Roman"/>
              <a:cs typeface="Times New Roman"/>
            </a:endParaRPr>
          </a:p>
        </p:txBody>
      </p:sp>
      <p:grpSp>
        <p:nvGrpSpPr>
          <p:cNvPr id="11" name="object 11"/>
          <p:cNvGrpSpPr/>
          <p:nvPr/>
        </p:nvGrpSpPr>
        <p:grpSpPr>
          <a:xfrm>
            <a:off x="5326379" y="1371600"/>
            <a:ext cx="3142615" cy="555625"/>
            <a:chOff x="5326379" y="1371600"/>
            <a:chExt cx="3142615" cy="555625"/>
          </a:xfrm>
        </p:grpSpPr>
        <p:pic>
          <p:nvPicPr>
            <p:cNvPr id="12" name="object 12"/>
            <p:cNvPicPr/>
            <p:nvPr/>
          </p:nvPicPr>
          <p:blipFill>
            <a:blip r:embed="rId6" cstate="print"/>
            <a:stretch>
              <a:fillRect/>
            </a:stretch>
          </p:blipFill>
          <p:spPr>
            <a:xfrm>
              <a:off x="5326379" y="1381544"/>
              <a:ext cx="3142487" cy="489165"/>
            </a:xfrm>
            <a:prstGeom prst="rect">
              <a:avLst/>
            </a:prstGeom>
          </p:spPr>
        </p:pic>
        <p:pic>
          <p:nvPicPr>
            <p:cNvPr id="13" name="object 13"/>
            <p:cNvPicPr/>
            <p:nvPr/>
          </p:nvPicPr>
          <p:blipFill>
            <a:blip r:embed="rId7" cstate="print"/>
            <a:stretch>
              <a:fillRect/>
            </a:stretch>
          </p:blipFill>
          <p:spPr>
            <a:xfrm>
              <a:off x="6384797" y="1371600"/>
              <a:ext cx="1024864" cy="555498"/>
            </a:xfrm>
            <a:prstGeom prst="rect">
              <a:avLst/>
            </a:prstGeom>
          </p:spPr>
        </p:pic>
        <p:pic>
          <p:nvPicPr>
            <p:cNvPr id="14" name="object 14"/>
            <p:cNvPicPr/>
            <p:nvPr/>
          </p:nvPicPr>
          <p:blipFill>
            <a:blip r:embed="rId8" cstate="print"/>
            <a:stretch>
              <a:fillRect/>
            </a:stretch>
          </p:blipFill>
          <p:spPr>
            <a:xfrm>
              <a:off x="5372480" y="1404746"/>
              <a:ext cx="3057144" cy="403860"/>
            </a:xfrm>
            <a:prstGeom prst="rect">
              <a:avLst/>
            </a:prstGeom>
          </p:spPr>
        </p:pic>
        <p:sp>
          <p:nvSpPr>
            <p:cNvPr id="15" name="object 15"/>
            <p:cNvSpPr/>
            <p:nvPr/>
          </p:nvSpPr>
          <p:spPr>
            <a:xfrm>
              <a:off x="5372480" y="1404746"/>
              <a:ext cx="3057525" cy="403860"/>
            </a:xfrm>
            <a:custGeom>
              <a:avLst/>
              <a:gdLst/>
              <a:ahLst/>
              <a:cxnLst/>
              <a:rect l="l" t="t" r="r" b="b"/>
              <a:pathLst>
                <a:path w="3057525" h="403860">
                  <a:moveTo>
                    <a:pt x="0" y="403860"/>
                  </a:moveTo>
                  <a:lnTo>
                    <a:pt x="3057144" y="403860"/>
                  </a:lnTo>
                  <a:lnTo>
                    <a:pt x="3057144" y="0"/>
                  </a:lnTo>
                  <a:lnTo>
                    <a:pt x="0" y="0"/>
                  </a:lnTo>
                  <a:lnTo>
                    <a:pt x="0" y="403860"/>
                  </a:lnTo>
                  <a:close/>
                </a:path>
              </a:pathLst>
            </a:custGeom>
            <a:ln w="9906">
              <a:solidFill>
                <a:srgbClr val="9BBA58"/>
              </a:solidFill>
            </a:ln>
          </p:spPr>
          <p:txBody>
            <a:bodyPr wrap="square" lIns="0" tIns="0" rIns="0" bIns="0" rtlCol="0"/>
            <a:lstStyle/>
            <a:p>
              <a:endParaRPr/>
            </a:p>
          </p:txBody>
        </p:sp>
      </p:grpSp>
      <p:sp>
        <p:nvSpPr>
          <p:cNvPr id="16" name="object 16"/>
          <p:cNvSpPr txBox="1"/>
          <p:nvPr/>
        </p:nvSpPr>
        <p:spPr>
          <a:xfrm>
            <a:off x="5377434" y="1400555"/>
            <a:ext cx="3047365" cy="299720"/>
          </a:xfrm>
          <a:prstGeom prst="rect">
            <a:avLst/>
          </a:prstGeom>
        </p:spPr>
        <p:txBody>
          <a:bodyPr vert="horz" wrap="square" lIns="0" tIns="12700" rIns="0" bIns="0" rtlCol="0">
            <a:spAutoFit/>
          </a:bodyPr>
          <a:lstStyle/>
          <a:p>
            <a:pPr marL="1270" algn="ctr">
              <a:lnSpc>
                <a:spcPct val="100000"/>
              </a:lnSpc>
              <a:spcBef>
                <a:spcPts val="100"/>
              </a:spcBef>
            </a:pPr>
            <a:r>
              <a:rPr sz="1800" b="1" spc="-114" dirty="0">
                <a:solidFill>
                  <a:srgbClr val="03060D"/>
                </a:solidFill>
                <a:latin typeface="Arial"/>
                <a:cs typeface="Arial"/>
              </a:rPr>
              <a:t>Scripts</a:t>
            </a:r>
            <a:endParaRPr sz="1800">
              <a:latin typeface="Arial"/>
              <a:cs typeface="Arial"/>
            </a:endParaRPr>
          </a:p>
        </p:txBody>
      </p:sp>
      <p:sp>
        <p:nvSpPr>
          <p:cNvPr id="17" name="object 17"/>
          <p:cNvSpPr/>
          <p:nvPr/>
        </p:nvSpPr>
        <p:spPr>
          <a:xfrm>
            <a:off x="5372480" y="1808607"/>
            <a:ext cx="3057525" cy="2463800"/>
          </a:xfrm>
          <a:custGeom>
            <a:avLst/>
            <a:gdLst/>
            <a:ahLst/>
            <a:cxnLst/>
            <a:rect l="l" t="t" r="r" b="b"/>
            <a:pathLst>
              <a:path w="3057525" h="2463800">
                <a:moveTo>
                  <a:pt x="3057144" y="0"/>
                </a:moveTo>
                <a:lnTo>
                  <a:pt x="0" y="0"/>
                </a:lnTo>
                <a:lnTo>
                  <a:pt x="0" y="2463546"/>
                </a:lnTo>
                <a:lnTo>
                  <a:pt x="3057144" y="2463546"/>
                </a:lnTo>
                <a:lnTo>
                  <a:pt x="3057144" y="0"/>
                </a:lnTo>
                <a:close/>
              </a:path>
            </a:pathLst>
          </a:custGeom>
          <a:solidFill>
            <a:srgbClr val="DEE7D1">
              <a:alpha val="90194"/>
            </a:srgbClr>
          </a:solidFill>
        </p:spPr>
        <p:txBody>
          <a:bodyPr wrap="square" lIns="0" tIns="0" rIns="0" bIns="0" rtlCol="0"/>
          <a:lstStyle/>
          <a:p>
            <a:endParaRPr/>
          </a:p>
        </p:txBody>
      </p:sp>
      <p:sp>
        <p:nvSpPr>
          <p:cNvPr id="18" name="object 18"/>
          <p:cNvSpPr txBox="1"/>
          <p:nvPr/>
        </p:nvSpPr>
        <p:spPr>
          <a:xfrm>
            <a:off x="5372480" y="1808607"/>
            <a:ext cx="3057525" cy="2463800"/>
          </a:xfrm>
          <a:prstGeom prst="rect">
            <a:avLst/>
          </a:prstGeom>
          <a:ln w="9905">
            <a:solidFill>
              <a:srgbClr val="244060"/>
            </a:solidFill>
          </a:ln>
        </p:spPr>
        <p:txBody>
          <a:bodyPr vert="horz" wrap="square" lIns="0" tIns="34925" rIns="0" bIns="0" rtlCol="0">
            <a:spAutoFit/>
          </a:bodyPr>
          <a:lstStyle/>
          <a:p>
            <a:pPr marL="417195" marR="90805" indent="-342900" algn="just">
              <a:lnSpc>
                <a:spcPct val="90000"/>
              </a:lnSpc>
              <a:spcBef>
                <a:spcPts val="275"/>
              </a:spcBef>
              <a:buClr>
                <a:srgbClr val="FFFFFF"/>
              </a:buClr>
              <a:buFont typeface="Wingdings"/>
              <a:buChar char=""/>
              <a:tabLst>
                <a:tab pos="417195" algn="l"/>
              </a:tabLst>
            </a:pPr>
            <a:r>
              <a:rPr sz="1800" spc="160" dirty="0">
                <a:solidFill>
                  <a:srgbClr val="03060D"/>
                </a:solidFill>
                <a:latin typeface="Times New Roman"/>
                <a:cs typeface="Times New Roman"/>
              </a:rPr>
              <a:t>A </a:t>
            </a:r>
            <a:r>
              <a:rPr sz="1800" spc="50" dirty="0">
                <a:solidFill>
                  <a:srgbClr val="03060D"/>
                </a:solidFill>
                <a:latin typeface="Times New Roman"/>
                <a:cs typeface="Times New Roman"/>
              </a:rPr>
              <a:t>script </a:t>
            </a:r>
            <a:r>
              <a:rPr sz="1800" spc="5" dirty="0">
                <a:solidFill>
                  <a:srgbClr val="03060D"/>
                </a:solidFill>
                <a:latin typeface="Times New Roman"/>
                <a:cs typeface="Times New Roman"/>
              </a:rPr>
              <a:t>is </a:t>
            </a:r>
            <a:r>
              <a:rPr sz="1800" spc="30" dirty="0">
                <a:solidFill>
                  <a:srgbClr val="03060D"/>
                </a:solidFill>
                <a:latin typeface="Times New Roman"/>
                <a:cs typeface="Times New Roman"/>
              </a:rPr>
              <a:t>a </a:t>
            </a:r>
            <a:r>
              <a:rPr sz="1800" spc="75" dirty="0">
                <a:solidFill>
                  <a:srgbClr val="03060D"/>
                </a:solidFill>
                <a:latin typeface="Times New Roman"/>
                <a:cs typeface="Times New Roman"/>
              </a:rPr>
              <a:t>chain </a:t>
            </a:r>
            <a:r>
              <a:rPr sz="1800" spc="45" dirty="0">
                <a:solidFill>
                  <a:srgbClr val="03060D"/>
                </a:solidFill>
                <a:latin typeface="Times New Roman"/>
                <a:cs typeface="Times New Roman"/>
              </a:rPr>
              <a:t>of  </a:t>
            </a:r>
            <a:r>
              <a:rPr sz="1800" spc="70" dirty="0">
                <a:solidFill>
                  <a:srgbClr val="03060D"/>
                </a:solidFill>
                <a:latin typeface="Times New Roman"/>
                <a:cs typeface="Times New Roman"/>
              </a:rPr>
              <a:t>Transact-SQL statements  stored</a:t>
            </a:r>
            <a:r>
              <a:rPr sz="1800" spc="-65" dirty="0">
                <a:solidFill>
                  <a:srgbClr val="03060D"/>
                </a:solidFill>
                <a:latin typeface="Times New Roman"/>
                <a:cs typeface="Times New Roman"/>
              </a:rPr>
              <a:t> </a:t>
            </a:r>
            <a:r>
              <a:rPr sz="1800" spc="85" dirty="0">
                <a:solidFill>
                  <a:srgbClr val="03060D"/>
                </a:solidFill>
                <a:latin typeface="Times New Roman"/>
                <a:cs typeface="Times New Roman"/>
              </a:rPr>
              <a:t>in</a:t>
            </a:r>
            <a:r>
              <a:rPr sz="1800" spc="-70" dirty="0">
                <a:solidFill>
                  <a:srgbClr val="03060D"/>
                </a:solidFill>
                <a:latin typeface="Times New Roman"/>
                <a:cs typeface="Times New Roman"/>
              </a:rPr>
              <a:t> </a:t>
            </a:r>
            <a:r>
              <a:rPr sz="1800" spc="30" dirty="0">
                <a:solidFill>
                  <a:srgbClr val="03060D"/>
                </a:solidFill>
                <a:latin typeface="Times New Roman"/>
                <a:cs typeface="Times New Roman"/>
              </a:rPr>
              <a:t>a</a:t>
            </a:r>
            <a:r>
              <a:rPr sz="1800" spc="-75" dirty="0">
                <a:solidFill>
                  <a:srgbClr val="03060D"/>
                </a:solidFill>
                <a:latin typeface="Times New Roman"/>
                <a:cs typeface="Times New Roman"/>
              </a:rPr>
              <a:t> </a:t>
            </a:r>
            <a:r>
              <a:rPr sz="1800" spc="15" dirty="0">
                <a:solidFill>
                  <a:srgbClr val="03060D"/>
                </a:solidFill>
                <a:latin typeface="Times New Roman"/>
                <a:cs typeface="Times New Roman"/>
              </a:rPr>
              <a:t>file</a:t>
            </a:r>
            <a:r>
              <a:rPr sz="1800" spc="-65" dirty="0">
                <a:solidFill>
                  <a:srgbClr val="03060D"/>
                </a:solidFill>
                <a:latin typeface="Times New Roman"/>
                <a:cs typeface="Times New Roman"/>
              </a:rPr>
              <a:t> </a:t>
            </a:r>
            <a:r>
              <a:rPr sz="1800" spc="100" dirty="0">
                <a:solidFill>
                  <a:srgbClr val="03060D"/>
                </a:solidFill>
                <a:latin typeface="Times New Roman"/>
                <a:cs typeface="Times New Roman"/>
              </a:rPr>
              <a:t>that</a:t>
            </a:r>
            <a:r>
              <a:rPr sz="1800" spc="-70" dirty="0">
                <a:solidFill>
                  <a:srgbClr val="03060D"/>
                </a:solidFill>
                <a:latin typeface="Times New Roman"/>
                <a:cs typeface="Times New Roman"/>
              </a:rPr>
              <a:t> </a:t>
            </a:r>
            <a:r>
              <a:rPr sz="1800" spc="5" dirty="0">
                <a:solidFill>
                  <a:srgbClr val="03060D"/>
                </a:solidFill>
                <a:latin typeface="Times New Roman"/>
                <a:cs typeface="Times New Roman"/>
              </a:rPr>
              <a:t>is</a:t>
            </a:r>
            <a:r>
              <a:rPr sz="1800" spc="-60" dirty="0">
                <a:solidFill>
                  <a:srgbClr val="03060D"/>
                </a:solidFill>
                <a:latin typeface="Times New Roman"/>
                <a:cs typeface="Times New Roman"/>
              </a:rPr>
              <a:t> </a:t>
            </a:r>
            <a:r>
              <a:rPr sz="1800" spc="75" dirty="0">
                <a:solidFill>
                  <a:srgbClr val="03060D"/>
                </a:solidFill>
                <a:latin typeface="Times New Roman"/>
                <a:cs typeface="Times New Roman"/>
              </a:rPr>
              <a:t>used  </a:t>
            </a:r>
            <a:r>
              <a:rPr sz="1800" spc="15" dirty="0">
                <a:solidFill>
                  <a:srgbClr val="03060D"/>
                </a:solidFill>
                <a:latin typeface="Times New Roman"/>
                <a:cs typeface="Times New Roman"/>
              </a:rPr>
              <a:t>as </a:t>
            </a:r>
            <a:r>
              <a:rPr sz="1800" spc="105" dirty="0">
                <a:solidFill>
                  <a:srgbClr val="03060D"/>
                </a:solidFill>
                <a:latin typeface="Times New Roman"/>
                <a:cs typeface="Times New Roman"/>
              </a:rPr>
              <a:t>input </a:t>
            </a:r>
            <a:r>
              <a:rPr sz="1800" spc="100" dirty="0">
                <a:solidFill>
                  <a:srgbClr val="03060D"/>
                </a:solidFill>
                <a:latin typeface="Times New Roman"/>
                <a:cs typeface="Times New Roman"/>
              </a:rPr>
              <a:t>to the </a:t>
            </a:r>
            <a:r>
              <a:rPr sz="1800" spc="65" dirty="0">
                <a:solidFill>
                  <a:srgbClr val="03060D"/>
                </a:solidFill>
                <a:latin typeface="Times New Roman"/>
                <a:cs typeface="Times New Roman"/>
              </a:rPr>
              <a:t>SSMS  </a:t>
            </a:r>
            <a:r>
              <a:rPr sz="1800" spc="60" dirty="0">
                <a:solidFill>
                  <a:srgbClr val="03060D"/>
                </a:solidFill>
                <a:latin typeface="Times New Roman"/>
                <a:cs typeface="Times New Roman"/>
              </a:rPr>
              <a:t>code </a:t>
            </a:r>
            <a:r>
              <a:rPr sz="1800" spc="70" dirty="0">
                <a:solidFill>
                  <a:srgbClr val="03060D"/>
                </a:solidFill>
                <a:latin typeface="Times New Roman"/>
                <a:cs typeface="Times New Roman"/>
              </a:rPr>
              <a:t>editor </a:t>
            </a:r>
            <a:r>
              <a:rPr sz="1800" spc="75" dirty="0">
                <a:solidFill>
                  <a:srgbClr val="03060D"/>
                </a:solidFill>
                <a:latin typeface="Times New Roman"/>
                <a:cs typeface="Times New Roman"/>
              </a:rPr>
              <a:t>or </a:t>
            </a:r>
            <a:r>
              <a:rPr sz="1800" spc="50" dirty="0">
                <a:solidFill>
                  <a:srgbClr val="03060D"/>
                </a:solidFill>
                <a:latin typeface="Times New Roman"/>
                <a:cs typeface="Times New Roman"/>
              </a:rPr>
              <a:t>sqlcmd  </a:t>
            </a:r>
            <a:r>
              <a:rPr sz="1800" spc="45" dirty="0">
                <a:solidFill>
                  <a:srgbClr val="03060D"/>
                </a:solidFill>
                <a:latin typeface="Times New Roman"/>
                <a:cs typeface="Times New Roman"/>
              </a:rPr>
              <a:t>utility.</a:t>
            </a:r>
            <a:endParaRPr sz="1800">
              <a:latin typeface="Times New Roman"/>
              <a:cs typeface="Times New Roman"/>
            </a:endParaRPr>
          </a:p>
        </p:txBody>
      </p:sp>
      <p:sp>
        <p:nvSpPr>
          <p:cNvPr id="20" name="object 2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5</a:t>
            </a:fld>
            <a:endParaRPr sz="1200"/>
          </a:p>
        </p:txBody>
      </p:sp>
      <p:sp>
        <p:nvSpPr>
          <p:cNvPr id="21" name="object 2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881" y="35813"/>
            <a:ext cx="8133080" cy="574675"/>
          </a:xfrm>
          <a:prstGeom prst="rect">
            <a:avLst/>
          </a:prstGeom>
        </p:spPr>
        <p:txBody>
          <a:bodyPr vert="horz" wrap="square" lIns="0" tIns="12700" rIns="0" bIns="0" rtlCol="0">
            <a:spAutoFit/>
          </a:bodyPr>
          <a:lstStyle/>
          <a:p>
            <a:pPr marL="12700">
              <a:lnSpc>
                <a:spcPct val="100000"/>
              </a:lnSpc>
              <a:spcBef>
                <a:spcPts val="100"/>
              </a:spcBef>
            </a:pPr>
            <a:r>
              <a:rPr sz="3600" spc="145" dirty="0"/>
              <a:t>Transact-SQL</a:t>
            </a:r>
            <a:r>
              <a:rPr sz="3600" spc="-150" dirty="0"/>
              <a:t> </a:t>
            </a:r>
            <a:r>
              <a:rPr sz="3600" spc="105" dirty="0"/>
              <a:t>Programming</a:t>
            </a:r>
            <a:r>
              <a:rPr sz="3600" spc="-150" dirty="0"/>
              <a:t> </a:t>
            </a:r>
            <a:r>
              <a:rPr sz="3600" spc="110" dirty="0"/>
              <a:t>Elements</a:t>
            </a:r>
            <a:r>
              <a:rPr sz="3600" spc="-170" dirty="0"/>
              <a:t> </a:t>
            </a:r>
            <a:r>
              <a:rPr sz="3600" spc="-225" dirty="0"/>
              <a:t>3-3</a:t>
            </a:r>
            <a:endParaRPr sz="3600"/>
          </a:p>
        </p:txBody>
      </p:sp>
      <p:sp>
        <p:nvSpPr>
          <p:cNvPr id="3" name="object 3"/>
          <p:cNvSpPr/>
          <p:nvPr/>
        </p:nvSpPr>
        <p:spPr>
          <a:xfrm>
            <a:off x="330708" y="1930907"/>
            <a:ext cx="8309609" cy="916305"/>
          </a:xfrm>
          <a:custGeom>
            <a:avLst/>
            <a:gdLst/>
            <a:ahLst/>
            <a:cxnLst/>
            <a:rect l="l" t="t" r="r" b="b"/>
            <a:pathLst>
              <a:path w="8309609" h="916305">
                <a:moveTo>
                  <a:pt x="8309610" y="152654"/>
                </a:moveTo>
                <a:lnTo>
                  <a:pt x="8301825" y="104406"/>
                </a:lnTo>
                <a:lnTo>
                  <a:pt x="8280159" y="62496"/>
                </a:lnTo>
                <a:lnTo>
                  <a:pt x="8247113" y="29451"/>
                </a:lnTo>
                <a:lnTo>
                  <a:pt x="8205203" y="7785"/>
                </a:lnTo>
                <a:lnTo>
                  <a:pt x="8156956" y="0"/>
                </a:lnTo>
                <a:lnTo>
                  <a:pt x="152666" y="0"/>
                </a:lnTo>
                <a:lnTo>
                  <a:pt x="104406" y="7785"/>
                </a:lnTo>
                <a:lnTo>
                  <a:pt x="62496" y="29451"/>
                </a:lnTo>
                <a:lnTo>
                  <a:pt x="29451" y="62496"/>
                </a:lnTo>
                <a:lnTo>
                  <a:pt x="7772" y="104406"/>
                </a:lnTo>
                <a:lnTo>
                  <a:pt x="0" y="152654"/>
                </a:lnTo>
                <a:lnTo>
                  <a:pt x="0" y="763270"/>
                </a:lnTo>
                <a:lnTo>
                  <a:pt x="7772" y="811530"/>
                </a:lnTo>
                <a:lnTo>
                  <a:pt x="29451" y="853440"/>
                </a:lnTo>
                <a:lnTo>
                  <a:pt x="62496" y="886485"/>
                </a:lnTo>
                <a:lnTo>
                  <a:pt x="104406" y="908151"/>
                </a:lnTo>
                <a:lnTo>
                  <a:pt x="152666" y="915924"/>
                </a:lnTo>
                <a:lnTo>
                  <a:pt x="8156956" y="915924"/>
                </a:lnTo>
                <a:lnTo>
                  <a:pt x="8205203" y="908151"/>
                </a:lnTo>
                <a:lnTo>
                  <a:pt x="8247113" y="886485"/>
                </a:lnTo>
                <a:lnTo>
                  <a:pt x="8280159" y="853440"/>
                </a:lnTo>
                <a:lnTo>
                  <a:pt x="8301825" y="811530"/>
                </a:lnTo>
                <a:lnTo>
                  <a:pt x="8309610" y="763270"/>
                </a:lnTo>
                <a:lnTo>
                  <a:pt x="8309610" y="152654"/>
                </a:lnTo>
                <a:close/>
              </a:path>
            </a:pathLst>
          </a:custGeom>
          <a:solidFill>
            <a:srgbClr val="4AACC5"/>
          </a:solidFill>
        </p:spPr>
        <p:txBody>
          <a:bodyPr wrap="square" lIns="0" tIns="0" rIns="0" bIns="0" rtlCol="0"/>
          <a:lstStyle/>
          <a:p>
            <a:endParaRPr/>
          </a:p>
        </p:txBody>
      </p:sp>
      <p:sp>
        <p:nvSpPr>
          <p:cNvPr id="4" name="object 4"/>
          <p:cNvSpPr/>
          <p:nvPr/>
        </p:nvSpPr>
        <p:spPr>
          <a:xfrm>
            <a:off x="237744" y="3633470"/>
            <a:ext cx="8402955" cy="938530"/>
          </a:xfrm>
          <a:custGeom>
            <a:avLst/>
            <a:gdLst/>
            <a:ahLst/>
            <a:cxnLst/>
            <a:rect l="l" t="t" r="r" b="b"/>
            <a:pathLst>
              <a:path w="8402955" h="938529">
                <a:moveTo>
                  <a:pt x="8402574" y="156337"/>
                </a:moveTo>
                <a:lnTo>
                  <a:pt x="8394598" y="106921"/>
                </a:lnTo>
                <a:lnTo>
                  <a:pt x="8372411" y="64008"/>
                </a:lnTo>
                <a:lnTo>
                  <a:pt x="8338566" y="30162"/>
                </a:lnTo>
                <a:lnTo>
                  <a:pt x="8295653" y="7975"/>
                </a:lnTo>
                <a:lnTo>
                  <a:pt x="8246237" y="0"/>
                </a:lnTo>
                <a:lnTo>
                  <a:pt x="156349" y="0"/>
                </a:lnTo>
                <a:lnTo>
                  <a:pt x="106921" y="7975"/>
                </a:lnTo>
                <a:lnTo>
                  <a:pt x="64008" y="30162"/>
                </a:lnTo>
                <a:lnTo>
                  <a:pt x="30162" y="64008"/>
                </a:lnTo>
                <a:lnTo>
                  <a:pt x="7962" y="106921"/>
                </a:lnTo>
                <a:lnTo>
                  <a:pt x="0" y="156337"/>
                </a:lnTo>
                <a:lnTo>
                  <a:pt x="0" y="781685"/>
                </a:lnTo>
                <a:lnTo>
                  <a:pt x="7962" y="831113"/>
                </a:lnTo>
                <a:lnTo>
                  <a:pt x="30162" y="874026"/>
                </a:lnTo>
                <a:lnTo>
                  <a:pt x="64008" y="907872"/>
                </a:lnTo>
                <a:lnTo>
                  <a:pt x="106921" y="930059"/>
                </a:lnTo>
                <a:lnTo>
                  <a:pt x="156349" y="938022"/>
                </a:lnTo>
                <a:lnTo>
                  <a:pt x="8246237" y="938022"/>
                </a:lnTo>
                <a:lnTo>
                  <a:pt x="8295653" y="930059"/>
                </a:lnTo>
                <a:lnTo>
                  <a:pt x="8338566" y="907872"/>
                </a:lnTo>
                <a:lnTo>
                  <a:pt x="8372411" y="874026"/>
                </a:lnTo>
                <a:lnTo>
                  <a:pt x="8394598" y="831113"/>
                </a:lnTo>
                <a:lnTo>
                  <a:pt x="8402574" y="781685"/>
                </a:lnTo>
                <a:lnTo>
                  <a:pt x="8402574" y="156337"/>
                </a:lnTo>
                <a:close/>
              </a:path>
            </a:pathLst>
          </a:custGeom>
          <a:solidFill>
            <a:srgbClr val="C0504D"/>
          </a:solidFill>
        </p:spPr>
        <p:txBody>
          <a:bodyPr wrap="square" lIns="0" tIns="0" rIns="0" bIns="0" rtlCol="0"/>
          <a:lstStyle/>
          <a:p>
            <a:endParaRPr/>
          </a:p>
        </p:txBody>
      </p:sp>
      <p:sp>
        <p:nvSpPr>
          <p:cNvPr id="5" name="object 5"/>
          <p:cNvSpPr/>
          <p:nvPr/>
        </p:nvSpPr>
        <p:spPr>
          <a:xfrm>
            <a:off x="330708" y="5095494"/>
            <a:ext cx="8309609" cy="1179195"/>
          </a:xfrm>
          <a:custGeom>
            <a:avLst/>
            <a:gdLst/>
            <a:ahLst/>
            <a:cxnLst/>
            <a:rect l="l" t="t" r="r" b="b"/>
            <a:pathLst>
              <a:path w="8309609" h="1179195">
                <a:moveTo>
                  <a:pt x="8309610" y="152400"/>
                </a:moveTo>
                <a:lnTo>
                  <a:pt x="8304517" y="152400"/>
                </a:lnTo>
                <a:lnTo>
                  <a:pt x="8304416" y="151447"/>
                </a:lnTo>
                <a:lnTo>
                  <a:pt x="8289620" y="110096"/>
                </a:lnTo>
                <a:lnTo>
                  <a:pt x="8266430" y="73609"/>
                </a:lnTo>
                <a:lnTo>
                  <a:pt x="8236001" y="43180"/>
                </a:lnTo>
                <a:lnTo>
                  <a:pt x="8199514" y="19989"/>
                </a:lnTo>
                <a:lnTo>
                  <a:pt x="8158162" y="5194"/>
                </a:lnTo>
                <a:lnTo>
                  <a:pt x="8113141" y="0"/>
                </a:lnTo>
                <a:lnTo>
                  <a:pt x="196469" y="0"/>
                </a:lnTo>
                <a:lnTo>
                  <a:pt x="151409" y="5194"/>
                </a:lnTo>
                <a:lnTo>
                  <a:pt x="110058" y="19989"/>
                </a:lnTo>
                <a:lnTo>
                  <a:pt x="73583" y="43180"/>
                </a:lnTo>
                <a:lnTo>
                  <a:pt x="43154" y="73609"/>
                </a:lnTo>
                <a:lnTo>
                  <a:pt x="19964" y="110096"/>
                </a:lnTo>
                <a:lnTo>
                  <a:pt x="5181" y="151447"/>
                </a:lnTo>
                <a:lnTo>
                  <a:pt x="0" y="196469"/>
                </a:lnTo>
                <a:lnTo>
                  <a:pt x="0" y="982345"/>
                </a:lnTo>
                <a:lnTo>
                  <a:pt x="5181" y="1027404"/>
                </a:lnTo>
                <a:lnTo>
                  <a:pt x="19964" y="1068755"/>
                </a:lnTo>
                <a:lnTo>
                  <a:pt x="43154" y="1105230"/>
                </a:lnTo>
                <a:lnTo>
                  <a:pt x="73583" y="1135659"/>
                </a:lnTo>
                <a:lnTo>
                  <a:pt x="110058" y="1158849"/>
                </a:lnTo>
                <a:lnTo>
                  <a:pt x="151409" y="1173632"/>
                </a:lnTo>
                <a:lnTo>
                  <a:pt x="196469" y="1178814"/>
                </a:lnTo>
                <a:lnTo>
                  <a:pt x="8113141" y="1178814"/>
                </a:lnTo>
                <a:lnTo>
                  <a:pt x="8158162" y="1173632"/>
                </a:lnTo>
                <a:lnTo>
                  <a:pt x="8199514" y="1158849"/>
                </a:lnTo>
                <a:lnTo>
                  <a:pt x="8236001" y="1135659"/>
                </a:lnTo>
                <a:lnTo>
                  <a:pt x="8266430" y="1105230"/>
                </a:lnTo>
                <a:lnTo>
                  <a:pt x="8289620" y="1068755"/>
                </a:lnTo>
                <a:lnTo>
                  <a:pt x="8295221" y="1053084"/>
                </a:lnTo>
                <a:lnTo>
                  <a:pt x="8309610" y="1053084"/>
                </a:lnTo>
                <a:lnTo>
                  <a:pt x="8309610" y="982345"/>
                </a:lnTo>
                <a:lnTo>
                  <a:pt x="8309610" y="196469"/>
                </a:lnTo>
                <a:lnTo>
                  <a:pt x="8309610" y="152400"/>
                </a:lnTo>
                <a:close/>
              </a:path>
            </a:pathLst>
          </a:custGeom>
          <a:solidFill>
            <a:srgbClr val="9BBA58"/>
          </a:solidFill>
        </p:spPr>
        <p:txBody>
          <a:bodyPr wrap="square" lIns="0" tIns="0" rIns="0" bIns="0" rtlCol="0"/>
          <a:lstStyle/>
          <a:p>
            <a:endParaRPr/>
          </a:p>
        </p:txBody>
      </p:sp>
      <p:sp>
        <p:nvSpPr>
          <p:cNvPr id="6" name="object 6"/>
          <p:cNvSpPr txBox="1"/>
          <p:nvPr/>
        </p:nvSpPr>
        <p:spPr>
          <a:xfrm>
            <a:off x="280924" y="762000"/>
            <a:ext cx="8296909" cy="5329022"/>
          </a:xfrm>
          <a:prstGeom prst="rect">
            <a:avLst/>
          </a:prstGeom>
        </p:spPr>
        <p:txBody>
          <a:bodyPr vert="horz" wrap="square" lIns="0" tIns="126364" rIns="0" bIns="0" rtlCol="0">
            <a:spAutoFit/>
          </a:bodyPr>
          <a:lstStyle/>
          <a:p>
            <a:pPr marL="47625">
              <a:lnSpc>
                <a:spcPct val="100000"/>
              </a:lnSpc>
              <a:spcBef>
                <a:spcPts val="994"/>
              </a:spcBef>
            </a:pPr>
            <a:r>
              <a:rPr sz="2000" spc="45" dirty="0">
                <a:latin typeface="Times New Roman"/>
                <a:cs typeface="Times New Roman"/>
              </a:rPr>
              <a:t>Following</a:t>
            </a:r>
            <a:r>
              <a:rPr sz="2000" spc="-45" dirty="0">
                <a:latin typeface="Times New Roman"/>
                <a:cs typeface="Times New Roman"/>
              </a:rPr>
              <a:t> </a:t>
            </a:r>
            <a:r>
              <a:rPr sz="2000" spc="60" dirty="0">
                <a:latin typeface="Times New Roman"/>
                <a:cs typeface="Times New Roman"/>
              </a:rPr>
              <a:t>features</a:t>
            </a:r>
            <a:r>
              <a:rPr sz="2000" spc="-60" dirty="0">
                <a:latin typeface="Times New Roman"/>
                <a:cs typeface="Times New Roman"/>
              </a:rPr>
              <a:t> </a:t>
            </a:r>
            <a:r>
              <a:rPr sz="2000" spc="65" dirty="0">
                <a:latin typeface="Times New Roman"/>
                <a:cs typeface="Times New Roman"/>
              </a:rPr>
              <a:t>enable</a:t>
            </a:r>
            <a:r>
              <a:rPr sz="2000" spc="-40" dirty="0">
                <a:latin typeface="Times New Roman"/>
                <a:cs typeface="Times New Roman"/>
              </a:rPr>
              <a:t> </a:t>
            </a:r>
            <a:r>
              <a:rPr sz="2000" spc="55" dirty="0">
                <a:latin typeface="Times New Roman"/>
                <a:cs typeface="Times New Roman"/>
              </a:rPr>
              <a:t>users</a:t>
            </a:r>
            <a:r>
              <a:rPr sz="2000" spc="-65" dirty="0">
                <a:latin typeface="Times New Roman"/>
                <a:cs typeface="Times New Roman"/>
              </a:rPr>
              <a:t> </a:t>
            </a:r>
            <a:r>
              <a:rPr sz="2000" spc="110" dirty="0">
                <a:latin typeface="Times New Roman"/>
                <a:cs typeface="Times New Roman"/>
              </a:rPr>
              <a:t>to</a:t>
            </a:r>
            <a:r>
              <a:rPr sz="2000" spc="-65" dirty="0">
                <a:latin typeface="Times New Roman"/>
                <a:cs typeface="Times New Roman"/>
              </a:rPr>
              <a:t> </a:t>
            </a:r>
            <a:r>
              <a:rPr sz="2000" spc="75" dirty="0">
                <a:latin typeface="Times New Roman"/>
                <a:cs typeface="Times New Roman"/>
              </a:rPr>
              <a:t>work</a:t>
            </a:r>
            <a:r>
              <a:rPr sz="2000" spc="-65" dirty="0">
                <a:latin typeface="Times New Roman"/>
                <a:cs typeface="Times New Roman"/>
              </a:rPr>
              <a:t> </a:t>
            </a:r>
            <a:r>
              <a:rPr sz="2000" spc="90" dirty="0">
                <a:latin typeface="Times New Roman"/>
                <a:cs typeface="Times New Roman"/>
              </a:rPr>
              <a:t>with</a:t>
            </a:r>
            <a:r>
              <a:rPr sz="2000" spc="-70" dirty="0">
                <a:latin typeface="Times New Roman"/>
                <a:cs typeface="Times New Roman"/>
              </a:rPr>
              <a:t> </a:t>
            </a:r>
            <a:r>
              <a:rPr sz="2000" spc="80" dirty="0">
                <a:latin typeface="Times New Roman"/>
                <a:cs typeface="Times New Roman"/>
              </a:rPr>
              <a:t>Transact-SQL</a:t>
            </a:r>
            <a:r>
              <a:rPr sz="2000" spc="-75" dirty="0">
                <a:latin typeface="Times New Roman"/>
                <a:cs typeface="Times New Roman"/>
              </a:rPr>
              <a:t> </a:t>
            </a:r>
            <a:r>
              <a:rPr sz="2000" spc="65" dirty="0">
                <a:latin typeface="Times New Roman"/>
                <a:cs typeface="Times New Roman"/>
              </a:rPr>
              <a:t>statements:</a:t>
            </a:r>
            <a:endParaRPr sz="2000">
              <a:latin typeface="Times New Roman"/>
              <a:cs typeface="Times New Roman"/>
            </a:endParaRPr>
          </a:p>
          <a:p>
            <a:pPr marL="12700">
              <a:lnSpc>
                <a:spcPct val="100000"/>
              </a:lnSpc>
              <a:spcBef>
                <a:spcPts val="1080"/>
              </a:spcBef>
            </a:pPr>
            <a:r>
              <a:rPr sz="2400" b="1" spc="-114" dirty="0">
                <a:latin typeface="Arial"/>
                <a:cs typeface="Arial"/>
              </a:rPr>
              <a:t>Variables</a:t>
            </a:r>
            <a:endParaRPr sz="2400">
              <a:latin typeface="Arial"/>
              <a:cs typeface="Arial"/>
            </a:endParaRPr>
          </a:p>
          <a:p>
            <a:pPr marL="673100" indent="-343535">
              <a:lnSpc>
                <a:spcPts val="2280"/>
              </a:lnSpc>
              <a:spcBef>
                <a:spcPts val="2310"/>
              </a:spcBef>
              <a:buFont typeface="Wingdings"/>
              <a:buChar char=""/>
              <a:tabLst>
                <a:tab pos="673100" algn="l"/>
                <a:tab pos="673735" algn="l"/>
              </a:tabLst>
            </a:pPr>
            <a:r>
              <a:rPr sz="2000" spc="175" dirty="0">
                <a:solidFill>
                  <a:srgbClr val="FFFFFF"/>
                </a:solidFill>
                <a:latin typeface="Times New Roman"/>
                <a:cs typeface="Times New Roman"/>
              </a:rPr>
              <a:t>A</a:t>
            </a:r>
            <a:r>
              <a:rPr sz="2000" spc="-30" dirty="0">
                <a:solidFill>
                  <a:srgbClr val="FFFFFF"/>
                </a:solidFill>
                <a:latin typeface="Times New Roman"/>
                <a:cs typeface="Times New Roman"/>
              </a:rPr>
              <a:t> </a:t>
            </a:r>
            <a:r>
              <a:rPr sz="2000" spc="40" dirty="0">
                <a:solidFill>
                  <a:srgbClr val="FFFFFF"/>
                </a:solidFill>
                <a:latin typeface="Times New Roman"/>
                <a:cs typeface="Times New Roman"/>
              </a:rPr>
              <a:t>variable</a:t>
            </a:r>
            <a:r>
              <a:rPr sz="2000" spc="-20" dirty="0">
                <a:solidFill>
                  <a:srgbClr val="FFFFFF"/>
                </a:solidFill>
                <a:latin typeface="Times New Roman"/>
                <a:cs typeface="Times New Roman"/>
              </a:rPr>
              <a:t> </a:t>
            </a:r>
            <a:r>
              <a:rPr sz="2000" spc="30" dirty="0">
                <a:solidFill>
                  <a:srgbClr val="FFFFFF"/>
                </a:solidFill>
                <a:latin typeface="Times New Roman"/>
                <a:cs typeface="Times New Roman"/>
              </a:rPr>
              <a:t>allows</a:t>
            </a:r>
            <a:r>
              <a:rPr sz="2000" spc="-2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20" dirty="0">
                <a:solidFill>
                  <a:srgbClr val="FFFFFF"/>
                </a:solidFill>
                <a:latin typeface="Times New Roman"/>
                <a:cs typeface="Times New Roman"/>
              </a:rPr>
              <a:t> </a:t>
            </a:r>
            <a:r>
              <a:rPr sz="2000" spc="70" dirty="0">
                <a:solidFill>
                  <a:srgbClr val="FFFFFF"/>
                </a:solidFill>
                <a:latin typeface="Times New Roman"/>
                <a:cs typeface="Times New Roman"/>
              </a:rPr>
              <a:t>user</a:t>
            </a:r>
            <a:r>
              <a:rPr sz="2000" spc="-3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25" dirty="0">
                <a:solidFill>
                  <a:srgbClr val="FFFFFF"/>
                </a:solidFill>
                <a:latin typeface="Times New Roman"/>
                <a:cs typeface="Times New Roman"/>
              </a:rPr>
              <a:t> </a:t>
            </a:r>
            <a:r>
              <a:rPr sz="2000" spc="70" dirty="0">
                <a:solidFill>
                  <a:srgbClr val="FFFFFF"/>
                </a:solidFill>
                <a:latin typeface="Times New Roman"/>
                <a:cs typeface="Times New Roman"/>
              </a:rPr>
              <a:t>store</a:t>
            </a:r>
            <a:r>
              <a:rPr sz="2000" spc="-15" dirty="0">
                <a:solidFill>
                  <a:srgbClr val="FFFFFF"/>
                </a:solidFill>
                <a:latin typeface="Times New Roman"/>
                <a:cs typeface="Times New Roman"/>
              </a:rPr>
              <a:t> </a:t>
            </a:r>
            <a:r>
              <a:rPr sz="2000" spc="80" dirty="0">
                <a:solidFill>
                  <a:srgbClr val="FFFFFF"/>
                </a:solidFill>
                <a:latin typeface="Times New Roman"/>
                <a:cs typeface="Times New Roman"/>
              </a:rPr>
              <a:t>data</a:t>
            </a:r>
            <a:r>
              <a:rPr sz="2000" spc="-3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25" dirty="0">
                <a:solidFill>
                  <a:srgbClr val="FFFFFF"/>
                </a:solidFill>
                <a:latin typeface="Times New Roman"/>
                <a:cs typeface="Times New Roman"/>
              </a:rPr>
              <a:t> </a:t>
            </a:r>
            <a:r>
              <a:rPr sz="2000" spc="75" dirty="0">
                <a:solidFill>
                  <a:srgbClr val="FFFFFF"/>
                </a:solidFill>
                <a:latin typeface="Times New Roman"/>
                <a:cs typeface="Times New Roman"/>
              </a:rPr>
              <a:t>can</a:t>
            </a:r>
            <a:r>
              <a:rPr sz="2000" spc="-30" dirty="0">
                <a:solidFill>
                  <a:srgbClr val="FFFFFF"/>
                </a:solidFill>
                <a:latin typeface="Times New Roman"/>
                <a:cs typeface="Times New Roman"/>
              </a:rPr>
              <a:t> </a:t>
            </a:r>
            <a:r>
              <a:rPr sz="2000" spc="65" dirty="0">
                <a:solidFill>
                  <a:srgbClr val="FFFFFF"/>
                </a:solidFill>
                <a:latin typeface="Times New Roman"/>
                <a:cs typeface="Times New Roman"/>
              </a:rPr>
              <a:t>be</a:t>
            </a:r>
            <a:r>
              <a:rPr sz="2000" spc="-25" dirty="0">
                <a:solidFill>
                  <a:srgbClr val="FFFFFF"/>
                </a:solidFill>
                <a:latin typeface="Times New Roman"/>
                <a:cs typeface="Times New Roman"/>
              </a:rPr>
              <a:t> </a:t>
            </a:r>
            <a:r>
              <a:rPr sz="2000" spc="80" dirty="0">
                <a:solidFill>
                  <a:srgbClr val="FFFFFF"/>
                </a:solidFill>
                <a:latin typeface="Times New Roman"/>
                <a:cs typeface="Times New Roman"/>
              </a:rPr>
              <a:t>used</a:t>
            </a:r>
            <a:r>
              <a:rPr sz="2000" spc="-30" dirty="0">
                <a:solidFill>
                  <a:srgbClr val="FFFFFF"/>
                </a:solidFill>
                <a:latin typeface="Times New Roman"/>
                <a:cs typeface="Times New Roman"/>
              </a:rPr>
              <a:t> </a:t>
            </a:r>
            <a:r>
              <a:rPr sz="2000" spc="20" dirty="0">
                <a:solidFill>
                  <a:srgbClr val="FFFFFF"/>
                </a:solidFill>
                <a:latin typeface="Times New Roman"/>
                <a:cs typeface="Times New Roman"/>
              </a:rPr>
              <a:t>as</a:t>
            </a:r>
            <a:r>
              <a:rPr sz="2000" spc="-25" dirty="0">
                <a:solidFill>
                  <a:srgbClr val="FFFFFF"/>
                </a:solidFill>
                <a:latin typeface="Times New Roman"/>
                <a:cs typeface="Times New Roman"/>
              </a:rPr>
              <a:t> </a:t>
            </a:r>
            <a:r>
              <a:rPr sz="2000" spc="114" dirty="0">
                <a:solidFill>
                  <a:srgbClr val="FFFFFF"/>
                </a:solidFill>
                <a:latin typeface="Times New Roman"/>
                <a:cs typeface="Times New Roman"/>
              </a:rPr>
              <a:t>input</a:t>
            </a:r>
            <a:r>
              <a:rPr sz="2000" spc="-2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30" dirty="0">
                <a:solidFill>
                  <a:srgbClr val="FFFFFF"/>
                </a:solidFill>
                <a:latin typeface="Times New Roman"/>
                <a:cs typeface="Times New Roman"/>
              </a:rPr>
              <a:t> </a:t>
            </a:r>
            <a:r>
              <a:rPr sz="2000" spc="30" dirty="0">
                <a:solidFill>
                  <a:srgbClr val="FFFFFF"/>
                </a:solidFill>
                <a:latin typeface="Times New Roman"/>
                <a:cs typeface="Times New Roman"/>
              </a:rPr>
              <a:t>a</a:t>
            </a:r>
            <a:endParaRPr sz="2000">
              <a:latin typeface="Times New Roman"/>
              <a:cs typeface="Times New Roman"/>
            </a:endParaRPr>
          </a:p>
          <a:p>
            <a:pPr marL="673100">
              <a:lnSpc>
                <a:spcPts val="2280"/>
              </a:lnSpc>
            </a:pPr>
            <a:r>
              <a:rPr sz="2000" spc="80" dirty="0">
                <a:solidFill>
                  <a:srgbClr val="FFFFFF"/>
                </a:solidFill>
                <a:latin typeface="Times New Roman"/>
                <a:cs typeface="Times New Roman"/>
              </a:rPr>
              <a:t>Transact-SQL</a:t>
            </a:r>
            <a:r>
              <a:rPr sz="2000" spc="-85" dirty="0">
                <a:solidFill>
                  <a:srgbClr val="FFFFFF"/>
                </a:solidFill>
                <a:latin typeface="Times New Roman"/>
                <a:cs typeface="Times New Roman"/>
              </a:rPr>
              <a:t> </a:t>
            </a:r>
            <a:r>
              <a:rPr sz="2000" spc="75" dirty="0">
                <a:solidFill>
                  <a:srgbClr val="FFFFFF"/>
                </a:solidFill>
                <a:latin typeface="Times New Roman"/>
                <a:cs typeface="Times New Roman"/>
              </a:rPr>
              <a:t>statement.</a:t>
            </a:r>
            <a:endParaRPr sz="2000">
              <a:latin typeface="Times New Roman"/>
              <a:cs typeface="Times New Roman"/>
            </a:endParaRPr>
          </a:p>
          <a:p>
            <a:pPr>
              <a:lnSpc>
                <a:spcPct val="100000"/>
              </a:lnSpc>
              <a:spcBef>
                <a:spcPts val="55"/>
              </a:spcBef>
            </a:pPr>
            <a:endParaRPr sz="2400">
              <a:latin typeface="Times New Roman"/>
              <a:cs typeface="Times New Roman"/>
            </a:endParaRPr>
          </a:p>
          <a:p>
            <a:pPr marL="12700">
              <a:lnSpc>
                <a:spcPct val="100000"/>
              </a:lnSpc>
            </a:pPr>
            <a:r>
              <a:rPr sz="2400" b="1" spc="-50" dirty="0">
                <a:latin typeface="Arial"/>
                <a:cs typeface="Arial"/>
              </a:rPr>
              <a:t>Control-of-flow</a:t>
            </a:r>
            <a:endParaRPr sz="2400">
              <a:latin typeface="Arial"/>
              <a:cs typeface="Arial"/>
            </a:endParaRPr>
          </a:p>
          <a:p>
            <a:pPr marL="612140" marR="377190" indent="-343535">
              <a:lnSpc>
                <a:spcPts val="2160"/>
              </a:lnSpc>
              <a:spcBef>
                <a:spcPts val="1930"/>
              </a:spcBef>
              <a:buFont typeface="Wingdings"/>
              <a:buChar char=""/>
              <a:tabLst>
                <a:tab pos="612140" algn="l"/>
                <a:tab pos="612775" algn="l"/>
              </a:tabLst>
            </a:pPr>
            <a:r>
              <a:rPr sz="2000" spc="75" dirty="0">
                <a:solidFill>
                  <a:srgbClr val="FFFFFF"/>
                </a:solidFill>
                <a:latin typeface="Times New Roman"/>
                <a:cs typeface="Times New Roman"/>
              </a:rPr>
              <a:t>Control-of-flow </a:t>
            </a:r>
            <a:r>
              <a:rPr sz="2000" spc="5" dirty="0">
                <a:solidFill>
                  <a:srgbClr val="FFFFFF"/>
                </a:solidFill>
                <a:latin typeface="Times New Roman"/>
                <a:cs typeface="Times New Roman"/>
              </a:rPr>
              <a:t>is </a:t>
            </a:r>
            <a:r>
              <a:rPr sz="2000" spc="80" dirty="0">
                <a:solidFill>
                  <a:srgbClr val="FFFFFF"/>
                </a:solidFill>
                <a:latin typeface="Times New Roman"/>
                <a:cs typeface="Times New Roman"/>
              </a:rPr>
              <a:t>used </a:t>
            </a:r>
            <a:r>
              <a:rPr sz="2000" spc="65" dirty="0">
                <a:solidFill>
                  <a:srgbClr val="FFFFFF"/>
                </a:solidFill>
                <a:latin typeface="Times New Roman"/>
                <a:cs typeface="Times New Roman"/>
              </a:rPr>
              <a:t>for </a:t>
            </a:r>
            <a:r>
              <a:rPr sz="2000" spc="70" dirty="0">
                <a:solidFill>
                  <a:srgbClr val="FFFFFF"/>
                </a:solidFill>
                <a:latin typeface="Times New Roman"/>
                <a:cs typeface="Times New Roman"/>
              </a:rPr>
              <a:t>including </a:t>
            </a:r>
            <a:r>
              <a:rPr sz="2000" spc="80" dirty="0">
                <a:solidFill>
                  <a:srgbClr val="FFFFFF"/>
                </a:solidFill>
                <a:latin typeface="Times New Roman"/>
                <a:cs typeface="Times New Roman"/>
              </a:rPr>
              <a:t>conditional constructs </a:t>
            </a:r>
            <a:r>
              <a:rPr sz="2000" spc="95" dirty="0">
                <a:solidFill>
                  <a:srgbClr val="FFFFFF"/>
                </a:solidFill>
                <a:latin typeface="Times New Roman"/>
                <a:cs typeface="Times New Roman"/>
              </a:rPr>
              <a:t>in  </a:t>
            </a:r>
            <a:r>
              <a:rPr sz="2000" spc="70" dirty="0">
                <a:solidFill>
                  <a:srgbClr val="FFFFFF"/>
                </a:solidFill>
                <a:latin typeface="Times New Roman"/>
                <a:cs typeface="Times New Roman"/>
              </a:rPr>
              <a:t>Transact-SQL.</a:t>
            </a:r>
            <a:endParaRPr sz="2000">
              <a:latin typeface="Times New Roman"/>
              <a:cs typeface="Times New Roman"/>
            </a:endParaRPr>
          </a:p>
          <a:p>
            <a:pPr>
              <a:lnSpc>
                <a:spcPct val="100000"/>
              </a:lnSpc>
              <a:spcBef>
                <a:spcPts val="55"/>
              </a:spcBef>
              <a:buChar char=""/>
            </a:pPr>
            <a:endParaRPr sz="2200">
              <a:latin typeface="Times New Roman"/>
              <a:cs typeface="Times New Roman"/>
            </a:endParaRPr>
          </a:p>
          <a:p>
            <a:pPr marL="106045">
              <a:lnSpc>
                <a:spcPct val="100000"/>
              </a:lnSpc>
            </a:pPr>
            <a:r>
              <a:rPr sz="2400" b="1" spc="-100" dirty="0">
                <a:latin typeface="Arial"/>
                <a:cs typeface="Arial"/>
              </a:rPr>
              <a:t>Error</a:t>
            </a:r>
            <a:r>
              <a:rPr sz="2400" b="1" spc="-195" dirty="0">
                <a:latin typeface="Arial"/>
                <a:cs typeface="Arial"/>
              </a:rPr>
              <a:t> </a:t>
            </a:r>
            <a:r>
              <a:rPr sz="2400" b="1" spc="-85" dirty="0">
                <a:latin typeface="Arial"/>
                <a:cs typeface="Arial"/>
              </a:rPr>
              <a:t>Handling</a:t>
            </a:r>
            <a:endParaRPr sz="2400">
              <a:latin typeface="Arial"/>
              <a:cs typeface="Arial"/>
            </a:endParaRPr>
          </a:p>
          <a:p>
            <a:pPr marL="610870" marR="5080" indent="-342900">
              <a:lnSpc>
                <a:spcPts val="2380"/>
              </a:lnSpc>
              <a:buFont typeface="Wingdings"/>
              <a:buChar char=""/>
              <a:tabLst>
                <a:tab pos="611505" algn="l"/>
              </a:tabLst>
            </a:pPr>
            <a:r>
              <a:rPr sz="2200" spc="70">
                <a:solidFill>
                  <a:srgbClr val="FFFFFF"/>
                </a:solidFill>
                <a:latin typeface="Times New Roman"/>
                <a:cs typeface="Times New Roman"/>
              </a:rPr>
              <a:t>Error </a:t>
            </a:r>
            <a:r>
              <a:rPr sz="2200" spc="95" dirty="0">
                <a:solidFill>
                  <a:srgbClr val="FFFFFF"/>
                </a:solidFill>
                <a:latin typeface="Times New Roman"/>
                <a:cs typeface="Times New Roman"/>
              </a:rPr>
              <a:t>handling </a:t>
            </a:r>
            <a:r>
              <a:rPr sz="2200" spc="5" dirty="0">
                <a:solidFill>
                  <a:srgbClr val="FFFFFF"/>
                </a:solidFill>
                <a:latin typeface="Times New Roman"/>
                <a:cs typeface="Times New Roman"/>
              </a:rPr>
              <a:t>is </a:t>
            </a:r>
            <a:r>
              <a:rPr sz="2200" spc="35" dirty="0">
                <a:solidFill>
                  <a:srgbClr val="FFFFFF"/>
                </a:solidFill>
                <a:latin typeface="Times New Roman"/>
                <a:cs typeface="Times New Roman"/>
              </a:rPr>
              <a:t>a </a:t>
            </a:r>
            <a:r>
              <a:rPr sz="2200" spc="80" dirty="0">
                <a:solidFill>
                  <a:srgbClr val="FFFFFF"/>
                </a:solidFill>
                <a:latin typeface="Times New Roman"/>
                <a:cs typeface="Times New Roman"/>
              </a:rPr>
              <a:t>mechanism </a:t>
            </a:r>
            <a:r>
              <a:rPr sz="2200" spc="125" dirty="0">
                <a:solidFill>
                  <a:srgbClr val="FFFFFF"/>
                </a:solidFill>
                <a:latin typeface="Times New Roman"/>
                <a:cs typeface="Times New Roman"/>
              </a:rPr>
              <a:t>that </a:t>
            </a:r>
            <a:r>
              <a:rPr sz="2200" spc="5" dirty="0">
                <a:solidFill>
                  <a:srgbClr val="FFFFFF"/>
                </a:solidFill>
                <a:latin typeface="Times New Roman"/>
                <a:cs typeface="Times New Roman"/>
              </a:rPr>
              <a:t>is </a:t>
            </a:r>
            <a:r>
              <a:rPr sz="2200" spc="90" dirty="0">
                <a:solidFill>
                  <a:srgbClr val="FFFFFF"/>
                </a:solidFill>
                <a:latin typeface="Times New Roman"/>
                <a:cs typeface="Times New Roman"/>
              </a:rPr>
              <a:t>used </a:t>
            </a:r>
            <a:r>
              <a:rPr sz="2200" spc="70" dirty="0">
                <a:solidFill>
                  <a:srgbClr val="FFFFFF"/>
                </a:solidFill>
                <a:latin typeface="Times New Roman"/>
                <a:cs typeface="Times New Roman"/>
              </a:rPr>
              <a:t>for </a:t>
            </a:r>
            <a:r>
              <a:rPr sz="2200" spc="90" dirty="0">
                <a:solidFill>
                  <a:srgbClr val="FFFFFF"/>
                </a:solidFill>
                <a:latin typeface="Times New Roman"/>
                <a:cs typeface="Times New Roman"/>
              </a:rPr>
              <a:t>handling </a:t>
            </a:r>
            <a:r>
              <a:rPr sz="2200" spc="70" dirty="0">
                <a:solidFill>
                  <a:srgbClr val="FFFFFF"/>
                </a:solidFill>
                <a:latin typeface="Times New Roman"/>
                <a:cs typeface="Times New Roman"/>
              </a:rPr>
              <a:t>errors  </a:t>
            </a:r>
            <a:r>
              <a:rPr sz="2200" spc="125" dirty="0">
                <a:solidFill>
                  <a:srgbClr val="FFFFFF"/>
                </a:solidFill>
                <a:latin typeface="Times New Roman"/>
                <a:cs typeface="Times New Roman"/>
              </a:rPr>
              <a:t>and</a:t>
            </a:r>
            <a:r>
              <a:rPr sz="2200" spc="-100" dirty="0">
                <a:solidFill>
                  <a:srgbClr val="FFFFFF"/>
                </a:solidFill>
                <a:latin typeface="Times New Roman"/>
                <a:cs typeface="Times New Roman"/>
              </a:rPr>
              <a:t> </a:t>
            </a:r>
            <a:r>
              <a:rPr sz="2200" spc="70" dirty="0">
                <a:solidFill>
                  <a:srgbClr val="FFFFFF"/>
                </a:solidFill>
                <a:latin typeface="Times New Roman"/>
                <a:cs typeface="Times New Roman"/>
              </a:rPr>
              <a:t>provides</a:t>
            </a:r>
            <a:r>
              <a:rPr sz="2200" spc="-105" dirty="0">
                <a:solidFill>
                  <a:srgbClr val="FFFFFF"/>
                </a:solidFill>
                <a:latin typeface="Times New Roman"/>
                <a:cs typeface="Times New Roman"/>
              </a:rPr>
              <a:t> </a:t>
            </a:r>
            <a:r>
              <a:rPr sz="2200" spc="95" dirty="0">
                <a:solidFill>
                  <a:srgbClr val="FFFFFF"/>
                </a:solidFill>
                <a:latin typeface="Times New Roman"/>
                <a:cs typeface="Times New Roman"/>
              </a:rPr>
              <a:t>information</a:t>
            </a:r>
            <a:r>
              <a:rPr sz="2200" spc="-110" dirty="0">
                <a:solidFill>
                  <a:srgbClr val="FFFFFF"/>
                </a:solidFill>
                <a:latin typeface="Times New Roman"/>
                <a:cs typeface="Times New Roman"/>
              </a:rPr>
              <a:t> </a:t>
            </a:r>
            <a:r>
              <a:rPr sz="2200" spc="120" dirty="0">
                <a:solidFill>
                  <a:srgbClr val="FFFFFF"/>
                </a:solidFill>
                <a:latin typeface="Times New Roman"/>
                <a:cs typeface="Times New Roman"/>
              </a:rPr>
              <a:t>to</a:t>
            </a:r>
            <a:r>
              <a:rPr sz="2200" spc="-9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95" dirty="0">
                <a:solidFill>
                  <a:srgbClr val="FFFFFF"/>
                </a:solidFill>
                <a:latin typeface="Times New Roman"/>
                <a:cs typeface="Times New Roman"/>
              </a:rPr>
              <a:t> </a:t>
            </a:r>
            <a:r>
              <a:rPr sz="2200" spc="65" dirty="0">
                <a:solidFill>
                  <a:srgbClr val="FFFFFF"/>
                </a:solidFill>
                <a:latin typeface="Times New Roman"/>
                <a:cs typeface="Times New Roman"/>
              </a:rPr>
              <a:t>users</a:t>
            </a:r>
            <a:r>
              <a:rPr sz="2200" spc="-105" dirty="0">
                <a:solidFill>
                  <a:srgbClr val="FFFFFF"/>
                </a:solidFill>
                <a:latin typeface="Times New Roman"/>
                <a:cs typeface="Times New Roman"/>
              </a:rPr>
              <a:t> </a:t>
            </a:r>
            <a:r>
              <a:rPr sz="2200" spc="110" dirty="0">
                <a:solidFill>
                  <a:srgbClr val="FFFFFF"/>
                </a:solidFill>
                <a:latin typeface="Times New Roman"/>
                <a:cs typeface="Times New Roman"/>
              </a:rPr>
              <a:t>about</a:t>
            </a:r>
            <a:r>
              <a:rPr sz="2200" spc="-10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85" dirty="0">
                <a:solidFill>
                  <a:srgbClr val="FFFFFF"/>
                </a:solidFill>
                <a:latin typeface="Times New Roman"/>
                <a:cs typeface="Times New Roman"/>
              </a:rPr>
              <a:t>error</a:t>
            </a:r>
            <a:r>
              <a:rPr sz="2200" spc="-90" dirty="0">
                <a:solidFill>
                  <a:srgbClr val="FFFFFF"/>
                </a:solidFill>
                <a:latin typeface="Times New Roman"/>
                <a:cs typeface="Times New Roman"/>
              </a:rPr>
              <a:t> </a:t>
            </a:r>
            <a:r>
              <a:rPr sz="2200" spc="75" dirty="0">
                <a:solidFill>
                  <a:srgbClr val="FFFFFF"/>
                </a:solidFill>
                <a:latin typeface="Times New Roman"/>
                <a:cs typeface="Times New Roman"/>
              </a:rPr>
              <a:t>occurred.</a:t>
            </a:r>
            <a:endParaRPr sz="2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6</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5648960" cy="635635"/>
          </a:xfrm>
          <a:prstGeom prst="rect">
            <a:avLst/>
          </a:prstGeom>
        </p:spPr>
        <p:txBody>
          <a:bodyPr vert="horz" wrap="square" lIns="0" tIns="12700" rIns="0" bIns="0" rtlCol="0">
            <a:spAutoFit/>
          </a:bodyPr>
          <a:lstStyle/>
          <a:p>
            <a:pPr marL="12700">
              <a:lnSpc>
                <a:spcPct val="100000"/>
              </a:lnSpc>
              <a:spcBef>
                <a:spcPts val="100"/>
              </a:spcBef>
            </a:pPr>
            <a:r>
              <a:rPr spc="160" dirty="0"/>
              <a:t>Transact-SQL </a:t>
            </a:r>
            <a:r>
              <a:rPr spc="95" dirty="0"/>
              <a:t>Batches</a:t>
            </a:r>
            <a:r>
              <a:rPr spc="-495" dirty="0"/>
              <a:t> </a:t>
            </a:r>
            <a:r>
              <a:rPr spc="-245" dirty="0"/>
              <a:t>1-2</a:t>
            </a:r>
          </a:p>
        </p:txBody>
      </p:sp>
      <p:sp>
        <p:nvSpPr>
          <p:cNvPr id="3" name="object 3"/>
          <p:cNvSpPr/>
          <p:nvPr/>
        </p:nvSpPr>
        <p:spPr>
          <a:xfrm>
            <a:off x="137160" y="2341626"/>
            <a:ext cx="2689225" cy="2673985"/>
          </a:xfrm>
          <a:custGeom>
            <a:avLst/>
            <a:gdLst/>
            <a:ahLst/>
            <a:cxnLst/>
            <a:rect l="l" t="t" r="r" b="b"/>
            <a:pathLst>
              <a:path w="2689225" h="2673985">
                <a:moveTo>
                  <a:pt x="2689098" y="0"/>
                </a:moveTo>
                <a:lnTo>
                  <a:pt x="0" y="0"/>
                </a:lnTo>
                <a:lnTo>
                  <a:pt x="0" y="2673858"/>
                </a:lnTo>
                <a:lnTo>
                  <a:pt x="2689098" y="2673858"/>
                </a:lnTo>
                <a:lnTo>
                  <a:pt x="2689098" y="0"/>
                </a:lnTo>
                <a:close/>
              </a:path>
            </a:pathLst>
          </a:custGeom>
          <a:solidFill>
            <a:srgbClr val="4F6128"/>
          </a:solidFill>
        </p:spPr>
        <p:txBody>
          <a:bodyPr wrap="square" lIns="0" tIns="0" rIns="0" bIns="0" rtlCol="0"/>
          <a:lstStyle/>
          <a:p>
            <a:endParaRPr/>
          </a:p>
        </p:txBody>
      </p:sp>
      <p:sp>
        <p:nvSpPr>
          <p:cNvPr id="4" name="object 4"/>
          <p:cNvSpPr txBox="1"/>
          <p:nvPr/>
        </p:nvSpPr>
        <p:spPr>
          <a:xfrm>
            <a:off x="200913" y="2632963"/>
            <a:ext cx="2560320" cy="604520"/>
          </a:xfrm>
          <a:prstGeom prst="rect">
            <a:avLst/>
          </a:prstGeom>
        </p:spPr>
        <p:txBody>
          <a:bodyPr vert="horz" wrap="square" lIns="0" tIns="46990" rIns="0" bIns="0" rtlCol="0">
            <a:spAutoFit/>
          </a:bodyPr>
          <a:lstStyle/>
          <a:p>
            <a:pPr marL="12700" marR="5080">
              <a:lnSpc>
                <a:spcPts val="2160"/>
              </a:lnSpc>
              <a:spcBef>
                <a:spcPts val="370"/>
              </a:spcBef>
              <a:tabLst>
                <a:tab pos="330200" algn="l"/>
                <a:tab pos="593090" algn="l"/>
                <a:tab pos="1384935" algn="l"/>
                <a:tab pos="1757045" algn="l"/>
                <a:tab pos="2312670" algn="l"/>
              </a:tabLst>
            </a:pPr>
            <a:r>
              <a:rPr sz="2000" spc="175" dirty="0">
                <a:solidFill>
                  <a:srgbClr val="FFFFFF"/>
                </a:solidFill>
                <a:latin typeface="Times New Roman"/>
                <a:cs typeface="Times New Roman"/>
              </a:rPr>
              <a:t>A </a:t>
            </a:r>
            <a:r>
              <a:rPr sz="2000" spc="80" dirty="0">
                <a:solidFill>
                  <a:srgbClr val="FFFFFF"/>
                </a:solidFill>
                <a:latin typeface="Times New Roman"/>
                <a:cs typeface="Times New Roman"/>
              </a:rPr>
              <a:t>Transact-SQL</a:t>
            </a:r>
            <a:r>
              <a:rPr sz="2000" dirty="0">
                <a:solidFill>
                  <a:srgbClr val="FFFFFF"/>
                </a:solidFill>
                <a:latin typeface="Times New Roman"/>
                <a:cs typeface="Times New Roman"/>
              </a:rPr>
              <a:t> </a:t>
            </a:r>
            <a:r>
              <a:rPr sz="2000" spc="85" dirty="0">
                <a:solidFill>
                  <a:srgbClr val="FFFFFF"/>
                </a:solidFill>
                <a:latin typeface="Times New Roman"/>
                <a:cs typeface="Times New Roman"/>
              </a:rPr>
              <a:t>batch  </a:t>
            </a:r>
            <a:r>
              <a:rPr sz="2000" spc="5" dirty="0">
                <a:solidFill>
                  <a:srgbClr val="FFFFFF"/>
                </a:solidFill>
                <a:latin typeface="Times New Roman"/>
                <a:cs typeface="Times New Roman"/>
              </a:rPr>
              <a:t>is</a:t>
            </a:r>
            <a:r>
              <a:rPr sz="200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dirty="0">
                <a:solidFill>
                  <a:srgbClr val="FFFFFF"/>
                </a:solidFill>
                <a:latin typeface="Times New Roman"/>
                <a:cs typeface="Times New Roman"/>
              </a:rPr>
              <a:t>	</a:t>
            </a:r>
            <a:r>
              <a:rPr sz="2000" spc="80" dirty="0">
                <a:solidFill>
                  <a:srgbClr val="FFFFFF"/>
                </a:solidFill>
                <a:latin typeface="Times New Roman"/>
                <a:cs typeface="Times New Roman"/>
              </a:rPr>
              <a:t>group</a:t>
            </a:r>
            <a:r>
              <a:rPr sz="2000" dirty="0">
                <a:solidFill>
                  <a:srgbClr val="FFFFFF"/>
                </a:solidFill>
                <a:latin typeface="Times New Roman"/>
                <a:cs typeface="Times New Roman"/>
              </a:rPr>
              <a:t>	</a:t>
            </a:r>
            <a:r>
              <a:rPr sz="2000" spc="60" dirty="0">
                <a:solidFill>
                  <a:srgbClr val="FFFFFF"/>
                </a:solidFill>
                <a:latin typeface="Times New Roman"/>
                <a:cs typeface="Times New Roman"/>
              </a:rPr>
              <a:t>o</a:t>
            </a:r>
            <a:r>
              <a:rPr sz="2000" spc="45" dirty="0">
                <a:solidFill>
                  <a:srgbClr val="FFFFFF"/>
                </a:solidFill>
                <a:latin typeface="Times New Roman"/>
                <a:cs typeface="Times New Roman"/>
              </a:rPr>
              <a:t>f</a:t>
            </a:r>
            <a:r>
              <a:rPr sz="2000" dirty="0">
                <a:solidFill>
                  <a:srgbClr val="FFFFFF"/>
                </a:solidFill>
                <a:latin typeface="Times New Roman"/>
                <a:cs typeface="Times New Roman"/>
              </a:rPr>
              <a:t>	</a:t>
            </a:r>
            <a:r>
              <a:rPr sz="2000" spc="135" dirty="0">
                <a:solidFill>
                  <a:srgbClr val="FFFFFF"/>
                </a:solidFill>
                <a:latin typeface="Times New Roman"/>
                <a:cs typeface="Times New Roman"/>
              </a:rPr>
              <a:t>o</a:t>
            </a:r>
            <a:r>
              <a:rPr sz="2000" spc="145" dirty="0">
                <a:solidFill>
                  <a:srgbClr val="FFFFFF"/>
                </a:solidFill>
                <a:latin typeface="Times New Roman"/>
                <a:cs typeface="Times New Roman"/>
              </a:rPr>
              <a:t>n</a:t>
            </a:r>
            <a:r>
              <a:rPr sz="2000" spc="40" dirty="0">
                <a:solidFill>
                  <a:srgbClr val="FFFFFF"/>
                </a:solidFill>
                <a:latin typeface="Times New Roman"/>
                <a:cs typeface="Times New Roman"/>
              </a:rPr>
              <a:t>e</a:t>
            </a:r>
            <a:r>
              <a:rPr sz="2000" dirty="0">
                <a:solidFill>
                  <a:srgbClr val="FFFFFF"/>
                </a:solidFill>
                <a:latin typeface="Times New Roman"/>
                <a:cs typeface="Times New Roman"/>
              </a:rPr>
              <a:t>	</a:t>
            </a:r>
            <a:r>
              <a:rPr sz="2000" spc="80" dirty="0">
                <a:solidFill>
                  <a:srgbClr val="FFFFFF"/>
                </a:solidFill>
                <a:latin typeface="Times New Roman"/>
                <a:cs typeface="Times New Roman"/>
              </a:rPr>
              <a:t>or</a:t>
            </a:r>
            <a:endParaRPr sz="2000">
              <a:latin typeface="Times New Roman"/>
              <a:cs typeface="Times New Roman"/>
            </a:endParaRPr>
          </a:p>
        </p:txBody>
      </p:sp>
      <p:sp>
        <p:nvSpPr>
          <p:cNvPr id="5" name="object 5"/>
          <p:cNvSpPr txBox="1"/>
          <p:nvPr/>
        </p:nvSpPr>
        <p:spPr>
          <a:xfrm>
            <a:off x="200913" y="3181604"/>
            <a:ext cx="2561590" cy="330200"/>
          </a:xfrm>
          <a:prstGeom prst="rect">
            <a:avLst/>
          </a:prstGeom>
        </p:spPr>
        <p:txBody>
          <a:bodyPr vert="horz" wrap="square" lIns="0" tIns="12065" rIns="0" bIns="0" rtlCol="0">
            <a:spAutoFit/>
          </a:bodyPr>
          <a:lstStyle/>
          <a:p>
            <a:pPr marL="12700">
              <a:lnSpc>
                <a:spcPct val="100000"/>
              </a:lnSpc>
              <a:spcBef>
                <a:spcPts val="95"/>
              </a:spcBef>
              <a:tabLst>
                <a:tab pos="986155" algn="l"/>
              </a:tabLst>
            </a:pPr>
            <a:r>
              <a:rPr sz="2000" spc="75" dirty="0">
                <a:solidFill>
                  <a:srgbClr val="FFFFFF"/>
                </a:solidFill>
                <a:latin typeface="Times New Roman"/>
                <a:cs typeface="Times New Roman"/>
              </a:rPr>
              <a:t>more	</a:t>
            </a:r>
            <a:r>
              <a:rPr sz="2000" spc="85" dirty="0">
                <a:solidFill>
                  <a:srgbClr val="FFFFFF"/>
                </a:solidFill>
                <a:latin typeface="Times New Roman"/>
                <a:cs typeface="Times New Roman"/>
              </a:rPr>
              <a:t>Transac</a:t>
            </a:r>
            <a:r>
              <a:rPr sz="2000" spc="60" dirty="0">
                <a:solidFill>
                  <a:srgbClr val="FFFFFF"/>
                </a:solidFill>
                <a:latin typeface="Times New Roman"/>
                <a:cs typeface="Times New Roman"/>
              </a:rPr>
              <a:t>t</a:t>
            </a:r>
            <a:r>
              <a:rPr sz="2000" spc="5" dirty="0">
                <a:solidFill>
                  <a:srgbClr val="FFFFFF"/>
                </a:solidFill>
                <a:latin typeface="Times New Roman"/>
                <a:cs typeface="Times New Roman"/>
              </a:rPr>
              <a:t>-</a:t>
            </a:r>
            <a:r>
              <a:rPr sz="2000" spc="135" dirty="0">
                <a:solidFill>
                  <a:srgbClr val="FFFFFF"/>
                </a:solidFill>
                <a:latin typeface="Times New Roman"/>
                <a:cs typeface="Times New Roman"/>
              </a:rPr>
              <a:t>S</a:t>
            </a:r>
            <a:r>
              <a:rPr sz="2000" spc="160" dirty="0">
                <a:solidFill>
                  <a:srgbClr val="FFFFFF"/>
                </a:solidFill>
                <a:latin typeface="Times New Roman"/>
                <a:cs typeface="Times New Roman"/>
              </a:rPr>
              <a:t>Q</a:t>
            </a:r>
            <a:r>
              <a:rPr sz="2000" spc="-20" dirty="0">
                <a:solidFill>
                  <a:srgbClr val="FFFFFF"/>
                </a:solidFill>
                <a:latin typeface="Times New Roman"/>
                <a:cs typeface="Times New Roman"/>
              </a:rPr>
              <a:t>L</a:t>
            </a:r>
            <a:endParaRPr sz="2000">
              <a:latin typeface="Times New Roman"/>
              <a:cs typeface="Times New Roman"/>
            </a:endParaRPr>
          </a:p>
        </p:txBody>
      </p:sp>
      <p:sp>
        <p:nvSpPr>
          <p:cNvPr id="6" name="object 6"/>
          <p:cNvSpPr txBox="1"/>
          <p:nvPr/>
        </p:nvSpPr>
        <p:spPr>
          <a:xfrm>
            <a:off x="200913" y="3455923"/>
            <a:ext cx="2559685" cy="330200"/>
          </a:xfrm>
          <a:prstGeom prst="rect">
            <a:avLst/>
          </a:prstGeom>
        </p:spPr>
        <p:txBody>
          <a:bodyPr vert="horz" wrap="square" lIns="0" tIns="12065" rIns="0" bIns="0" rtlCol="0">
            <a:spAutoFit/>
          </a:bodyPr>
          <a:lstStyle/>
          <a:p>
            <a:pPr marL="12700">
              <a:lnSpc>
                <a:spcPct val="100000"/>
              </a:lnSpc>
              <a:spcBef>
                <a:spcPts val="95"/>
              </a:spcBef>
            </a:pPr>
            <a:r>
              <a:rPr sz="2000" spc="80" dirty="0">
                <a:solidFill>
                  <a:srgbClr val="FFFFFF"/>
                </a:solidFill>
                <a:latin typeface="Times New Roman"/>
                <a:cs typeface="Times New Roman"/>
              </a:rPr>
              <a:t>statements </a:t>
            </a:r>
            <a:r>
              <a:rPr sz="2000" spc="90" dirty="0">
                <a:solidFill>
                  <a:srgbClr val="FFFFFF"/>
                </a:solidFill>
                <a:latin typeface="Times New Roman"/>
                <a:cs typeface="Times New Roman"/>
              </a:rPr>
              <a:t>sent </a:t>
            </a:r>
            <a:r>
              <a:rPr sz="2000" spc="110" dirty="0">
                <a:solidFill>
                  <a:srgbClr val="FFFFFF"/>
                </a:solidFill>
                <a:latin typeface="Times New Roman"/>
                <a:cs typeface="Times New Roman"/>
              </a:rPr>
              <a:t>to</a:t>
            </a:r>
            <a:r>
              <a:rPr sz="2000" spc="210" dirty="0">
                <a:solidFill>
                  <a:srgbClr val="FFFFFF"/>
                </a:solidFill>
                <a:latin typeface="Times New Roman"/>
                <a:cs typeface="Times New Roman"/>
              </a:rPr>
              <a:t> </a:t>
            </a:r>
            <a:r>
              <a:rPr sz="2000" spc="110" dirty="0">
                <a:solidFill>
                  <a:srgbClr val="FFFFFF"/>
                </a:solidFill>
                <a:latin typeface="Times New Roman"/>
                <a:cs typeface="Times New Roman"/>
              </a:rPr>
              <a:t>the</a:t>
            </a:r>
            <a:endParaRPr sz="2000">
              <a:latin typeface="Times New Roman"/>
              <a:cs typeface="Times New Roman"/>
            </a:endParaRPr>
          </a:p>
        </p:txBody>
      </p:sp>
      <p:sp>
        <p:nvSpPr>
          <p:cNvPr id="7" name="object 7"/>
          <p:cNvSpPr txBox="1"/>
          <p:nvPr/>
        </p:nvSpPr>
        <p:spPr>
          <a:xfrm>
            <a:off x="200913" y="3730244"/>
            <a:ext cx="2560955" cy="330200"/>
          </a:xfrm>
          <a:prstGeom prst="rect">
            <a:avLst/>
          </a:prstGeom>
        </p:spPr>
        <p:txBody>
          <a:bodyPr vert="horz" wrap="square" lIns="0" tIns="12065" rIns="0" bIns="0" rtlCol="0">
            <a:spAutoFit/>
          </a:bodyPr>
          <a:lstStyle/>
          <a:p>
            <a:pPr marL="12700">
              <a:lnSpc>
                <a:spcPct val="100000"/>
              </a:lnSpc>
              <a:spcBef>
                <a:spcPts val="95"/>
              </a:spcBef>
            </a:pPr>
            <a:r>
              <a:rPr sz="2000" spc="50" dirty="0">
                <a:solidFill>
                  <a:srgbClr val="FFFFFF"/>
                </a:solidFill>
                <a:latin typeface="Times New Roman"/>
                <a:cs typeface="Times New Roman"/>
              </a:rPr>
              <a:t>server </a:t>
            </a:r>
            <a:r>
              <a:rPr sz="2000" spc="20" dirty="0">
                <a:solidFill>
                  <a:srgbClr val="FFFFFF"/>
                </a:solidFill>
                <a:latin typeface="Times New Roman"/>
                <a:cs typeface="Times New Roman"/>
              </a:rPr>
              <a:t>as </a:t>
            </a:r>
            <a:r>
              <a:rPr sz="2000" spc="105" dirty="0">
                <a:solidFill>
                  <a:srgbClr val="FFFFFF"/>
                </a:solidFill>
                <a:latin typeface="Times New Roman"/>
                <a:cs typeface="Times New Roman"/>
              </a:rPr>
              <a:t>one </a:t>
            </a:r>
            <a:r>
              <a:rPr sz="2000" spc="114" dirty="0">
                <a:solidFill>
                  <a:srgbClr val="FFFFFF"/>
                </a:solidFill>
                <a:latin typeface="Times New Roman"/>
                <a:cs typeface="Times New Roman"/>
              </a:rPr>
              <a:t>unit</a:t>
            </a:r>
            <a:r>
              <a:rPr sz="2000" spc="-160" dirty="0">
                <a:solidFill>
                  <a:srgbClr val="FFFFFF"/>
                </a:solidFill>
                <a:latin typeface="Times New Roman"/>
                <a:cs typeface="Times New Roman"/>
              </a:rPr>
              <a:t> </a:t>
            </a:r>
            <a:r>
              <a:rPr sz="2000" spc="70" dirty="0">
                <a:solidFill>
                  <a:srgbClr val="FFFFFF"/>
                </a:solidFill>
                <a:latin typeface="Times New Roman"/>
                <a:cs typeface="Times New Roman"/>
              </a:rPr>
              <a:t>from</a:t>
            </a:r>
            <a:endParaRPr sz="2000">
              <a:latin typeface="Times New Roman"/>
              <a:cs typeface="Times New Roman"/>
            </a:endParaRPr>
          </a:p>
        </p:txBody>
      </p:sp>
      <p:sp>
        <p:nvSpPr>
          <p:cNvPr id="8" name="object 8"/>
          <p:cNvSpPr txBox="1"/>
          <p:nvPr/>
        </p:nvSpPr>
        <p:spPr>
          <a:xfrm>
            <a:off x="200913" y="4004564"/>
            <a:ext cx="2560320" cy="330200"/>
          </a:xfrm>
          <a:prstGeom prst="rect">
            <a:avLst/>
          </a:prstGeom>
        </p:spPr>
        <p:txBody>
          <a:bodyPr vert="horz" wrap="square" lIns="0" tIns="12065" rIns="0" bIns="0" rtlCol="0">
            <a:spAutoFit/>
          </a:bodyPr>
          <a:lstStyle/>
          <a:p>
            <a:pPr marL="12700">
              <a:lnSpc>
                <a:spcPct val="100000"/>
              </a:lnSpc>
              <a:spcBef>
                <a:spcPts val="95"/>
              </a:spcBef>
              <a:tabLst>
                <a:tab pos="640080" algn="l"/>
                <a:tab pos="2225040" algn="l"/>
              </a:tabLst>
            </a:pPr>
            <a:r>
              <a:rPr sz="2000" spc="105" dirty="0">
                <a:solidFill>
                  <a:srgbClr val="FFFFFF"/>
                </a:solidFill>
                <a:latin typeface="Times New Roman"/>
                <a:cs typeface="Times New Roman"/>
              </a:rPr>
              <a:t>an	</a:t>
            </a:r>
            <a:r>
              <a:rPr sz="2000" spc="35" dirty="0">
                <a:solidFill>
                  <a:srgbClr val="FFFFFF"/>
                </a:solidFill>
                <a:latin typeface="Times New Roman"/>
                <a:cs typeface="Times New Roman"/>
              </a:rPr>
              <a:t>a</a:t>
            </a:r>
            <a:r>
              <a:rPr sz="2000" spc="105" dirty="0">
                <a:solidFill>
                  <a:srgbClr val="FFFFFF"/>
                </a:solidFill>
                <a:latin typeface="Times New Roman"/>
                <a:cs typeface="Times New Roman"/>
              </a:rPr>
              <a:t>p</a:t>
            </a:r>
            <a:r>
              <a:rPr sz="2000" spc="110" dirty="0">
                <a:solidFill>
                  <a:srgbClr val="FFFFFF"/>
                </a:solidFill>
                <a:latin typeface="Times New Roman"/>
                <a:cs typeface="Times New Roman"/>
              </a:rPr>
              <a:t>p</a:t>
            </a:r>
            <a:r>
              <a:rPr sz="2000" spc="30" dirty="0">
                <a:solidFill>
                  <a:srgbClr val="FFFFFF"/>
                </a:solidFill>
                <a:latin typeface="Times New Roman"/>
                <a:cs typeface="Times New Roman"/>
              </a:rPr>
              <a:t>licati</a:t>
            </a:r>
            <a:r>
              <a:rPr sz="2000" spc="135" dirty="0">
                <a:solidFill>
                  <a:srgbClr val="FFFFFF"/>
                </a:solidFill>
                <a:latin typeface="Times New Roman"/>
                <a:cs typeface="Times New Roman"/>
              </a:rPr>
              <a:t>on</a:t>
            </a:r>
            <a:r>
              <a:rPr sz="2000" dirty="0">
                <a:solidFill>
                  <a:srgbClr val="FFFFFF"/>
                </a:solidFill>
                <a:latin typeface="Times New Roman"/>
                <a:cs typeface="Times New Roman"/>
              </a:rPr>
              <a:t>	</a:t>
            </a:r>
            <a:r>
              <a:rPr sz="2000" spc="65" dirty="0">
                <a:solidFill>
                  <a:srgbClr val="FFFFFF"/>
                </a:solidFill>
                <a:latin typeface="Times New Roman"/>
                <a:cs typeface="Times New Roman"/>
              </a:rPr>
              <a:t>for</a:t>
            </a:r>
            <a:endParaRPr sz="2000">
              <a:latin typeface="Times New Roman"/>
              <a:cs typeface="Times New Roman"/>
            </a:endParaRPr>
          </a:p>
        </p:txBody>
      </p:sp>
      <p:sp>
        <p:nvSpPr>
          <p:cNvPr id="9" name="object 9"/>
          <p:cNvSpPr txBox="1"/>
          <p:nvPr/>
        </p:nvSpPr>
        <p:spPr>
          <a:xfrm>
            <a:off x="200913" y="4278883"/>
            <a:ext cx="1174115" cy="330200"/>
          </a:xfrm>
          <a:prstGeom prst="rect">
            <a:avLst/>
          </a:prstGeom>
        </p:spPr>
        <p:txBody>
          <a:bodyPr vert="horz" wrap="square" lIns="0" tIns="12065" rIns="0" bIns="0" rtlCol="0">
            <a:spAutoFit/>
          </a:bodyPr>
          <a:lstStyle/>
          <a:p>
            <a:pPr marL="12700">
              <a:lnSpc>
                <a:spcPct val="100000"/>
              </a:lnSpc>
              <a:spcBef>
                <a:spcPts val="95"/>
              </a:spcBef>
            </a:pPr>
            <a:r>
              <a:rPr sz="2000" spc="80" dirty="0">
                <a:solidFill>
                  <a:srgbClr val="FFFFFF"/>
                </a:solidFill>
                <a:latin typeface="Times New Roman"/>
                <a:cs typeface="Times New Roman"/>
              </a:rPr>
              <a:t>execution</a:t>
            </a:r>
            <a:r>
              <a:rPr sz="2000" dirty="0">
                <a:solidFill>
                  <a:srgbClr val="FFFFFF"/>
                </a:solidFill>
                <a:latin typeface="Times New Roman"/>
                <a:cs typeface="Times New Roman"/>
              </a:rPr>
              <a:t>.</a:t>
            </a:r>
            <a:endParaRPr sz="2000">
              <a:latin typeface="Times New Roman"/>
              <a:cs typeface="Times New Roman"/>
            </a:endParaRPr>
          </a:p>
        </p:txBody>
      </p:sp>
      <p:sp>
        <p:nvSpPr>
          <p:cNvPr id="10" name="object 10"/>
          <p:cNvSpPr txBox="1"/>
          <p:nvPr/>
        </p:nvSpPr>
        <p:spPr>
          <a:xfrm>
            <a:off x="2937510" y="2377439"/>
            <a:ext cx="2992755" cy="2673985"/>
          </a:xfrm>
          <a:prstGeom prst="rect">
            <a:avLst/>
          </a:prstGeom>
          <a:solidFill>
            <a:srgbClr val="5F497A"/>
          </a:solidFill>
        </p:spPr>
        <p:txBody>
          <a:bodyPr vert="horz" wrap="square" lIns="0" tIns="6350" rIns="0" bIns="0" rtlCol="0">
            <a:spAutoFit/>
          </a:bodyPr>
          <a:lstStyle/>
          <a:p>
            <a:pPr>
              <a:lnSpc>
                <a:spcPct val="100000"/>
              </a:lnSpc>
              <a:spcBef>
                <a:spcPts val="50"/>
              </a:spcBef>
            </a:pPr>
            <a:endParaRPr sz="3650">
              <a:latin typeface="Times New Roman"/>
              <a:cs typeface="Times New Roman"/>
            </a:endParaRPr>
          </a:p>
          <a:p>
            <a:pPr marL="75565" marR="67945" algn="just">
              <a:lnSpc>
                <a:spcPts val="2380"/>
              </a:lnSpc>
            </a:pPr>
            <a:r>
              <a:rPr sz="2200" spc="90" dirty="0">
                <a:solidFill>
                  <a:srgbClr val="FFFFFF"/>
                </a:solidFill>
                <a:latin typeface="Times New Roman"/>
                <a:cs typeface="Times New Roman"/>
              </a:rPr>
              <a:t>In </a:t>
            </a:r>
            <a:r>
              <a:rPr sz="2200" spc="120" dirty="0">
                <a:solidFill>
                  <a:srgbClr val="FFFFFF"/>
                </a:solidFill>
                <a:latin typeface="Times New Roman"/>
                <a:cs typeface="Times New Roman"/>
              </a:rPr>
              <a:t>the </a:t>
            </a:r>
            <a:r>
              <a:rPr sz="2200" spc="90" dirty="0">
                <a:solidFill>
                  <a:srgbClr val="FFFFFF"/>
                </a:solidFill>
                <a:latin typeface="Times New Roman"/>
                <a:cs typeface="Times New Roman"/>
              </a:rPr>
              <a:t>execution </a:t>
            </a:r>
            <a:r>
              <a:rPr sz="2200" spc="70" dirty="0">
                <a:solidFill>
                  <a:srgbClr val="FFFFFF"/>
                </a:solidFill>
                <a:latin typeface="Times New Roman"/>
                <a:cs typeface="Times New Roman"/>
              </a:rPr>
              <a:t>plan,  </a:t>
            </a:r>
            <a:r>
              <a:rPr sz="2200" spc="125" dirty="0">
                <a:solidFill>
                  <a:srgbClr val="FFFFFF"/>
                </a:solidFill>
                <a:latin typeface="Times New Roman"/>
                <a:cs typeface="Times New Roman"/>
              </a:rPr>
              <a:t>the </a:t>
            </a:r>
            <a:r>
              <a:rPr sz="2200" spc="110" dirty="0">
                <a:solidFill>
                  <a:srgbClr val="FFFFFF"/>
                </a:solidFill>
                <a:latin typeface="Times New Roman"/>
                <a:cs typeface="Times New Roman"/>
              </a:rPr>
              <a:t>SQL </a:t>
            </a:r>
            <a:r>
              <a:rPr sz="2200" spc="85" dirty="0">
                <a:solidFill>
                  <a:srgbClr val="FFFFFF"/>
                </a:solidFill>
                <a:latin typeface="Times New Roman"/>
                <a:cs typeface="Times New Roman"/>
              </a:rPr>
              <a:t>statements</a:t>
            </a:r>
            <a:r>
              <a:rPr sz="2200" spc="-170" dirty="0">
                <a:solidFill>
                  <a:srgbClr val="FFFFFF"/>
                </a:solidFill>
                <a:latin typeface="Times New Roman"/>
                <a:cs typeface="Times New Roman"/>
              </a:rPr>
              <a:t> </a:t>
            </a:r>
            <a:r>
              <a:rPr sz="2200" spc="55" dirty="0">
                <a:solidFill>
                  <a:srgbClr val="FFFFFF"/>
                </a:solidFill>
                <a:latin typeface="Times New Roman"/>
                <a:cs typeface="Times New Roman"/>
              </a:rPr>
              <a:t>are  </a:t>
            </a:r>
            <a:r>
              <a:rPr sz="2200" spc="90" dirty="0">
                <a:solidFill>
                  <a:srgbClr val="FFFFFF"/>
                </a:solidFill>
                <a:latin typeface="Times New Roman"/>
                <a:cs typeface="Times New Roman"/>
              </a:rPr>
              <a:t>executed</a:t>
            </a:r>
            <a:r>
              <a:rPr sz="2200" spc="-125" dirty="0">
                <a:solidFill>
                  <a:srgbClr val="FFFFFF"/>
                </a:solidFill>
                <a:latin typeface="Times New Roman"/>
                <a:cs typeface="Times New Roman"/>
              </a:rPr>
              <a:t> </a:t>
            </a:r>
            <a:r>
              <a:rPr sz="2200" spc="114" dirty="0">
                <a:solidFill>
                  <a:srgbClr val="FFFFFF"/>
                </a:solidFill>
                <a:latin typeface="Times New Roman"/>
                <a:cs typeface="Times New Roman"/>
              </a:rPr>
              <a:t>one</a:t>
            </a:r>
            <a:r>
              <a:rPr sz="2200" spc="-100" dirty="0">
                <a:solidFill>
                  <a:srgbClr val="FFFFFF"/>
                </a:solidFill>
                <a:latin typeface="Times New Roman"/>
                <a:cs typeface="Times New Roman"/>
              </a:rPr>
              <a:t> </a:t>
            </a:r>
            <a:r>
              <a:rPr sz="2200" spc="50" dirty="0">
                <a:solidFill>
                  <a:srgbClr val="FFFFFF"/>
                </a:solidFill>
                <a:latin typeface="Times New Roman"/>
                <a:cs typeface="Times New Roman"/>
              </a:rPr>
              <a:t>by</a:t>
            </a:r>
            <a:r>
              <a:rPr sz="2200" spc="-105" dirty="0">
                <a:solidFill>
                  <a:srgbClr val="FFFFFF"/>
                </a:solidFill>
                <a:latin typeface="Times New Roman"/>
                <a:cs typeface="Times New Roman"/>
              </a:rPr>
              <a:t> </a:t>
            </a:r>
            <a:r>
              <a:rPr sz="2200" spc="85" dirty="0">
                <a:solidFill>
                  <a:srgbClr val="FFFFFF"/>
                </a:solidFill>
                <a:latin typeface="Times New Roman"/>
                <a:cs typeface="Times New Roman"/>
              </a:rPr>
              <a:t>one.</a:t>
            </a:r>
            <a:endParaRPr sz="2200">
              <a:latin typeface="Times New Roman"/>
              <a:cs typeface="Times New Roman"/>
            </a:endParaRPr>
          </a:p>
          <a:p>
            <a:pPr marL="75565" algn="just">
              <a:lnSpc>
                <a:spcPts val="2200"/>
              </a:lnSpc>
            </a:pPr>
            <a:r>
              <a:rPr sz="2200" spc="60" dirty="0">
                <a:solidFill>
                  <a:srgbClr val="FFFFFF"/>
                </a:solidFill>
                <a:latin typeface="Times New Roman"/>
                <a:cs typeface="Times New Roman"/>
              </a:rPr>
              <a:t>It </a:t>
            </a:r>
            <a:r>
              <a:rPr sz="2200" spc="95" dirty="0">
                <a:solidFill>
                  <a:srgbClr val="FFFFFF"/>
                </a:solidFill>
                <a:latin typeface="Times New Roman"/>
                <a:cs typeface="Times New Roman"/>
              </a:rPr>
              <a:t>should </a:t>
            </a:r>
            <a:r>
              <a:rPr sz="2200" spc="75" dirty="0">
                <a:solidFill>
                  <a:srgbClr val="FFFFFF"/>
                </a:solidFill>
                <a:latin typeface="Times New Roman"/>
                <a:cs typeface="Times New Roman"/>
              </a:rPr>
              <a:t>be</a:t>
            </a:r>
            <a:r>
              <a:rPr sz="2200" spc="-35" dirty="0">
                <a:solidFill>
                  <a:srgbClr val="FFFFFF"/>
                </a:solidFill>
                <a:latin typeface="Times New Roman"/>
                <a:cs typeface="Times New Roman"/>
              </a:rPr>
              <a:t> </a:t>
            </a:r>
            <a:r>
              <a:rPr sz="2200" spc="95" dirty="0">
                <a:solidFill>
                  <a:srgbClr val="FFFFFF"/>
                </a:solidFill>
                <a:latin typeface="Times New Roman"/>
                <a:cs typeface="Times New Roman"/>
              </a:rPr>
              <a:t>terminated</a:t>
            </a:r>
            <a:endParaRPr sz="2200">
              <a:latin typeface="Times New Roman"/>
              <a:cs typeface="Times New Roman"/>
            </a:endParaRPr>
          </a:p>
          <a:p>
            <a:pPr marL="75565" algn="just">
              <a:lnSpc>
                <a:spcPts val="2510"/>
              </a:lnSpc>
            </a:pPr>
            <a:r>
              <a:rPr sz="2200" spc="100" dirty="0">
                <a:solidFill>
                  <a:srgbClr val="FFFFFF"/>
                </a:solidFill>
                <a:latin typeface="Times New Roman"/>
                <a:cs typeface="Times New Roman"/>
              </a:rPr>
              <a:t>with </a:t>
            </a:r>
            <a:r>
              <a:rPr sz="2200" spc="35" dirty="0">
                <a:solidFill>
                  <a:srgbClr val="FFFFFF"/>
                </a:solidFill>
                <a:latin typeface="Times New Roman"/>
                <a:cs typeface="Times New Roman"/>
              </a:rPr>
              <a:t>a</a:t>
            </a:r>
            <a:r>
              <a:rPr sz="2200" spc="-295" dirty="0">
                <a:solidFill>
                  <a:srgbClr val="FFFFFF"/>
                </a:solidFill>
                <a:latin typeface="Times New Roman"/>
                <a:cs typeface="Times New Roman"/>
              </a:rPr>
              <a:t> </a:t>
            </a:r>
            <a:r>
              <a:rPr sz="2200" spc="60" dirty="0">
                <a:solidFill>
                  <a:srgbClr val="FFFFFF"/>
                </a:solidFill>
                <a:latin typeface="Times New Roman"/>
                <a:cs typeface="Times New Roman"/>
              </a:rPr>
              <a:t>semicolon.</a:t>
            </a:r>
            <a:endParaRPr sz="2200">
              <a:latin typeface="Times New Roman"/>
              <a:cs typeface="Times New Roman"/>
            </a:endParaRPr>
          </a:p>
        </p:txBody>
      </p:sp>
      <p:sp>
        <p:nvSpPr>
          <p:cNvPr id="11" name="object 11"/>
          <p:cNvSpPr/>
          <p:nvPr/>
        </p:nvSpPr>
        <p:spPr>
          <a:xfrm>
            <a:off x="6040373" y="2355342"/>
            <a:ext cx="2993390" cy="2660650"/>
          </a:xfrm>
          <a:custGeom>
            <a:avLst/>
            <a:gdLst/>
            <a:ahLst/>
            <a:cxnLst/>
            <a:rect l="l" t="t" r="r" b="b"/>
            <a:pathLst>
              <a:path w="2993390" h="2660650">
                <a:moveTo>
                  <a:pt x="2993135" y="0"/>
                </a:moveTo>
                <a:lnTo>
                  <a:pt x="0" y="0"/>
                </a:lnTo>
                <a:lnTo>
                  <a:pt x="0" y="2660142"/>
                </a:lnTo>
                <a:lnTo>
                  <a:pt x="2993135" y="2660142"/>
                </a:lnTo>
                <a:lnTo>
                  <a:pt x="2993135" y="0"/>
                </a:lnTo>
                <a:close/>
              </a:path>
            </a:pathLst>
          </a:custGeom>
          <a:solidFill>
            <a:srgbClr val="000000"/>
          </a:solidFill>
        </p:spPr>
        <p:txBody>
          <a:bodyPr wrap="square" lIns="0" tIns="0" rIns="0" bIns="0" rtlCol="0"/>
          <a:lstStyle/>
          <a:p>
            <a:endParaRPr/>
          </a:p>
        </p:txBody>
      </p:sp>
      <p:sp>
        <p:nvSpPr>
          <p:cNvPr id="12" name="object 12"/>
          <p:cNvSpPr txBox="1"/>
          <p:nvPr/>
        </p:nvSpPr>
        <p:spPr>
          <a:xfrm>
            <a:off x="6104635" y="2639822"/>
            <a:ext cx="2867025" cy="604520"/>
          </a:xfrm>
          <a:prstGeom prst="rect">
            <a:avLst/>
          </a:prstGeom>
        </p:spPr>
        <p:txBody>
          <a:bodyPr vert="horz" wrap="square" lIns="0" tIns="46990" rIns="0" bIns="0" rtlCol="0">
            <a:spAutoFit/>
          </a:bodyPr>
          <a:lstStyle/>
          <a:p>
            <a:pPr marL="12700" marR="5080">
              <a:lnSpc>
                <a:spcPts val="2160"/>
              </a:lnSpc>
              <a:spcBef>
                <a:spcPts val="370"/>
              </a:spcBef>
            </a:pPr>
            <a:r>
              <a:rPr sz="2000" spc="175" dirty="0">
                <a:solidFill>
                  <a:srgbClr val="FFFFFF"/>
                </a:solidFill>
                <a:latin typeface="Times New Roman"/>
                <a:cs typeface="Times New Roman"/>
              </a:rPr>
              <a:t>A </a:t>
            </a:r>
            <a:r>
              <a:rPr sz="2000" spc="50" dirty="0">
                <a:solidFill>
                  <a:srgbClr val="FFFFFF"/>
                </a:solidFill>
                <a:latin typeface="Times New Roman"/>
                <a:cs typeface="Times New Roman"/>
              </a:rPr>
              <a:t>compile </a:t>
            </a:r>
            <a:r>
              <a:rPr sz="2000" spc="75" dirty="0">
                <a:solidFill>
                  <a:srgbClr val="FFFFFF"/>
                </a:solidFill>
                <a:latin typeface="Times New Roman"/>
                <a:cs typeface="Times New Roman"/>
              </a:rPr>
              <a:t>error </a:t>
            </a:r>
            <a:r>
              <a:rPr sz="2000" spc="85" dirty="0">
                <a:solidFill>
                  <a:srgbClr val="FFFFFF"/>
                </a:solidFill>
                <a:latin typeface="Times New Roman"/>
                <a:cs typeface="Times New Roman"/>
              </a:rPr>
              <a:t>such </a:t>
            </a:r>
            <a:r>
              <a:rPr sz="2000" spc="20" dirty="0">
                <a:solidFill>
                  <a:srgbClr val="FFFFFF"/>
                </a:solidFill>
                <a:latin typeface="Times New Roman"/>
                <a:cs typeface="Times New Roman"/>
              </a:rPr>
              <a:t>as  </a:t>
            </a:r>
            <a:r>
              <a:rPr sz="2000" spc="75" dirty="0">
                <a:solidFill>
                  <a:srgbClr val="FFFFFF"/>
                </a:solidFill>
                <a:latin typeface="Times New Roman"/>
                <a:cs typeface="Times New Roman"/>
              </a:rPr>
              <a:t>syntax error </a:t>
            </a:r>
            <a:r>
              <a:rPr sz="2000" spc="55" dirty="0">
                <a:solidFill>
                  <a:srgbClr val="FFFFFF"/>
                </a:solidFill>
                <a:latin typeface="Times New Roman"/>
                <a:cs typeface="Times New Roman"/>
              </a:rPr>
              <a:t>restricts</a:t>
            </a:r>
            <a:r>
              <a:rPr sz="2000" spc="-105" dirty="0">
                <a:solidFill>
                  <a:srgbClr val="FFFFFF"/>
                </a:solidFill>
                <a:latin typeface="Times New Roman"/>
                <a:cs typeface="Times New Roman"/>
              </a:rPr>
              <a:t> </a:t>
            </a:r>
            <a:r>
              <a:rPr sz="2000" spc="110" dirty="0">
                <a:solidFill>
                  <a:srgbClr val="FFFFFF"/>
                </a:solidFill>
                <a:latin typeface="Times New Roman"/>
                <a:cs typeface="Times New Roman"/>
              </a:rPr>
              <a:t>the</a:t>
            </a:r>
            <a:endParaRPr sz="2000">
              <a:latin typeface="Times New Roman"/>
              <a:cs typeface="Times New Roman"/>
            </a:endParaRPr>
          </a:p>
        </p:txBody>
      </p:sp>
      <p:sp>
        <p:nvSpPr>
          <p:cNvPr id="17" name="object 1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7</a:t>
            </a:fld>
            <a:endParaRPr sz="1200"/>
          </a:p>
        </p:txBody>
      </p:sp>
      <p:sp>
        <p:nvSpPr>
          <p:cNvPr id="18" name="object 18"/>
          <p:cNvSpPr txBox="1">
            <a:spLocks noGrp="1"/>
          </p:cNvSpPr>
          <p:nvPr>
            <p:ph type="ftr" sz="quarter" idx="5"/>
          </p:nvPr>
        </p:nvSpPr>
        <p:spPr>
          <a:xfrm>
            <a:off x="78738" y="6596379"/>
            <a:ext cx="10642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3" name="object 13"/>
          <p:cNvSpPr txBox="1"/>
          <p:nvPr/>
        </p:nvSpPr>
        <p:spPr>
          <a:xfrm>
            <a:off x="6104635" y="3188462"/>
            <a:ext cx="2864485" cy="330200"/>
          </a:xfrm>
          <a:prstGeom prst="rect">
            <a:avLst/>
          </a:prstGeom>
        </p:spPr>
        <p:txBody>
          <a:bodyPr vert="horz" wrap="square" lIns="0" tIns="12065" rIns="0" bIns="0" rtlCol="0">
            <a:spAutoFit/>
          </a:bodyPr>
          <a:lstStyle/>
          <a:p>
            <a:pPr marL="12700">
              <a:lnSpc>
                <a:spcPct val="100000"/>
              </a:lnSpc>
              <a:spcBef>
                <a:spcPts val="95"/>
              </a:spcBef>
              <a:tabLst>
                <a:tab pos="1798320" algn="l"/>
                <a:tab pos="2497455" algn="l"/>
              </a:tabLst>
            </a:pPr>
            <a:r>
              <a:rPr sz="2000" spc="50" dirty="0">
                <a:solidFill>
                  <a:srgbClr val="FFFFFF"/>
                </a:solidFill>
                <a:latin typeface="Times New Roman"/>
                <a:cs typeface="Times New Roman"/>
              </a:rPr>
              <a:t>compila</a:t>
            </a:r>
            <a:r>
              <a:rPr sz="2000" spc="60" dirty="0">
                <a:solidFill>
                  <a:srgbClr val="FFFFFF"/>
                </a:solidFill>
                <a:latin typeface="Times New Roman"/>
                <a:cs typeface="Times New Roman"/>
              </a:rPr>
              <a:t>ti</a:t>
            </a:r>
            <a:r>
              <a:rPr sz="2000" spc="114" dirty="0">
                <a:solidFill>
                  <a:srgbClr val="FFFFFF"/>
                </a:solidFill>
                <a:latin typeface="Times New Roman"/>
                <a:cs typeface="Times New Roman"/>
              </a:rPr>
              <a:t>o</a:t>
            </a:r>
            <a:r>
              <a:rPr sz="2000" spc="180" dirty="0">
                <a:solidFill>
                  <a:srgbClr val="FFFFFF"/>
                </a:solidFill>
                <a:latin typeface="Times New Roman"/>
                <a:cs typeface="Times New Roman"/>
              </a:rPr>
              <a:t>n</a:t>
            </a:r>
            <a:r>
              <a:rPr sz="2000" dirty="0">
                <a:solidFill>
                  <a:srgbClr val="FFFFFF"/>
                </a:solidFill>
                <a:latin typeface="Times New Roman"/>
                <a:cs typeface="Times New Roman"/>
              </a:rPr>
              <a:t>	</a:t>
            </a:r>
            <a:r>
              <a:rPr sz="2000" spc="60" dirty="0">
                <a:solidFill>
                  <a:srgbClr val="FFFFFF"/>
                </a:solidFill>
                <a:latin typeface="Times New Roman"/>
                <a:cs typeface="Times New Roman"/>
              </a:rPr>
              <a:t>o</a:t>
            </a:r>
            <a:r>
              <a:rPr sz="2000" spc="45" dirty="0">
                <a:solidFill>
                  <a:srgbClr val="FFFFFF"/>
                </a:solidFill>
                <a:latin typeface="Times New Roman"/>
                <a:cs typeface="Times New Roman"/>
              </a:rPr>
              <a:t>f</a:t>
            </a:r>
            <a:r>
              <a:rPr sz="2000" dirty="0">
                <a:solidFill>
                  <a:srgbClr val="FFFFFF"/>
                </a:solidFill>
                <a:latin typeface="Times New Roman"/>
                <a:cs typeface="Times New Roman"/>
              </a:rPr>
              <a:t>	</a:t>
            </a:r>
            <a:r>
              <a:rPr sz="2000" spc="110" dirty="0">
                <a:solidFill>
                  <a:srgbClr val="FFFFFF"/>
                </a:solidFill>
                <a:latin typeface="Times New Roman"/>
                <a:cs typeface="Times New Roman"/>
              </a:rPr>
              <a:t>the</a:t>
            </a:r>
            <a:endParaRPr sz="2000">
              <a:latin typeface="Times New Roman"/>
              <a:cs typeface="Times New Roman"/>
            </a:endParaRPr>
          </a:p>
        </p:txBody>
      </p:sp>
      <p:sp>
        <p:nvSpPr>
          <p:cNvPr id="14" name="object 14"/>
          <p:cNvSpPr txBox="1"/>
          <p:nvPr/>
        </p:nvSpPr>
        <p:spPr>
          <a:xfrm>
            <a:off x="6104635" y="3462782"/>
            <a:ext cx="1710689" cy="330200"/>
          </a:xfrm>
          <a:prstGeom prst="rect">
            <a:avLst/>
          </a:prstGeom>
        </p:spPr>
        <p:txBody>
          <a:bodyPr vert="horz" wrap="square" lIns="0" tIns="12065" rIns="0" bIns="0" rtlCol="0">
            <a:spAutoFit/>
          </a:bodyPr>
          <a:lstStyle/>
          <a:p>
            <a:pPr marL="12700">
              <a:lnSpc>
                <a:spcPct val="100000"/>
              </a:lnSpc>
              <a:spcBef>
                <a:spcPts val="95"/>
              </a:spcBef>
            </a:pPr>
            <a:r>
              <a:rPr sz="2000" spc="80" dirty="0">
                <a:solidFill>
                  <a:srgbClr val="FFFFFF"/>
                </a:solidFill>
                <a:latin typeface="Times New Roman"/>
                <a:cs typeface="Times New Roman"/>
              </a:rPr>
              <a:t>execution</a:t>
            </a:r>
            <a:r>
              <a:rPr sz="2000" spc="-95" dirty="0">
                <a:solidFill>
                  <a:srgbClr val="FFFFFF"/>
                </a:solidFill>
                <a:latin typeface="Times New Roman"/>
                <a:cs typeface="Times New Roman"/>
              </a:rPr>
              <a:t> </a:t>
            </a:r>
            <a:r>
              <a:rPr sz="2000" spc="65" dirty="0">
                <a:solidFill>
                  <a:srgbClr val="FFFFFF"/>
                </a:solidFill>
                <a:latin typeface="Times New Roman"/>
                <a:cs typeface="Times New Roman"/>
              </a:rPr>
              <a:t>plan.</a:t>
            </a:r>
            <a:endParaRPr sz="2000">
              <a:latin typeface="Times New Roman"/>
              <a:cs typeface="Times New Roman"/>
            </a:endParaRPr>
          </a:p>
        </p:txBody>
      </p:sp>
      <p:sp>
        <p:nvSpPr>
          <p:cNvPr id="15" name="object 15"/>
          <p:cNvSpPr txBox="1"/>
          <p:nvPr/>
        </p:nvSpPr>
        <p:spPr>
          <a:xfrm>
            <a:off x="6104635" y="3737102"/>
            <a:ext cx="2865755" cy="878840"/>
          </a:xfrm>
          <a:prstGeom prst="rect">
            <a:avLst/>
          </a:prstGeom>
        </p:spPr>
        <p:txBody>
          <a:bodyPr vert="horz" wrap="square" lIns="0" tIns="46990" rIns="0" bIns="0" rtlCol="0">
            <a:spAutoFit/>
          </a:bodyPr>
          <a:lstStyle/>
          <a:p>
            <a:pPr marL="12700" marR="5080" algn="just">
              <a:lnSpc>
                <a:spcPts val="2160"/>
              </a:lnSpc>
              <a:spcBef>
                <a:spcPts val="370"/>
              </a:spcBef>
            </a:pPr>
            <a:r>
              <a:rPr sz="2000" spc="55" dirty="0">
                <a:solidFill>
                  <a:srgbClr val="FFFFFF"/>
                </a:solidFill>
                <a:latin typeface="Times New Roman"/>
                <a:cs typeface="Times New Roman"/>
              </a:rPr>
              <a:t>So,</a:t>
            </a:r>
            <a:r>
              <a:rPr sz="2000" spc="-80" dirty="0">
                <a:solidFill>
                  <a:srgbClr val="FFFFFF"/>
                </a:solidFill>
                <a:latin typeface="Times New Roman"/>
                <a:cs typeface="Times New Roman"/>
              </a:rPr>
              <a:t> </a:t>
            </a:r>
            <a:r>
              <a:rPr sz="2000" spc="15" dirty="0">
                <a:solidFill>
                  <a:srgbClr val="FFFFFF"/>
                </a:solidFill>
                <a:latin typeface="Times New Roman"/>
                <a:cs typeface="Times New Roman"/>
              </a:rPr>
              <a:t>if</a:t>
            </a:r>
            <a:r>
              <a:rPr sz="2000" spc="-7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80" dirty="0">
                <a:solidFill>
                  <a:srgbClr val="FFFFFF"/>
                </a:solidFill>
                <a:latin typeface="Times New Roman"/>
                <a:cs typeface="Times New Roman"/>
              </a:rPr>
              <a:t> </a:t>
            </a:r>
            <a:r>
              <a:rPr sz="2000" spc="55" dirty="0">
                <a:solidFill>
                  <a:srgbClr val="FFFFFF"/>
                </a:solidFill>
                <a:latin typeface="Times New Roman"/>
                <a:cs typeface="Times New Roman"/>
              </a:rPr>
              <a:t>compile-time</a:t>
            </a:r>
            <a:r>
              <a:rPr sz="2000" spc="-70" dirty="0">
                <a:solidFill>
                  <a:srgbClr val="FFFFFF"/>
                </a:solidFill>
                <a:latin typeface="Times New Roman"/>
                <a:cs typeface="Times New Roman"/>
              </a:rPr>
              <a:t> </a:t>
            </a:r>
            <a:r>
              <a:rPr sz="2000" spc="75" dirty="0">
                <a:solidFill>
                  <a:srgbClr val="FFFFFF"/>
                </a:solidFill>
                <a:latin typeface="Times New Roman"/>
                <a:cs typeface="Times New Roman"/>
              </a:rPr>
              <a:t>error  </a:t>
            </a:r>
            <a:r>
              <a:rPr sz="2000" spc="50" dirty="0">
                <a:solidFill>
                  <a:srgbClr val="FFFFFF"/>
                </a:solidFill>
                <a:latin typeface="Times New Roman"/>
                <a:cs typeface="Times New Roman"/>
              </a:rPr>
              <a:t>occurs, </a:t>
            </a:r>
            <a:r>
              <a:rPr sz="2000" spc="135" dirty="0">
                <a:solidFill>
                  <a:srgbClr val="FFFFFF"/>
                </a:solidFill>
                <a:latin typeface="Times New Roman"/>
                <a:cs typeface="Times New Roman"/>
              </a:rPr>
              <a:t>no </a:t>
            </a:r>
            <a:r>
              <a:rPr sz="2000" spc="80" dirty="0">
                <a:solidFill>
                  <a:srgbClr val="FFFFFF"/>
                </a:solidFill>
                <a:latin typeface="Times New Roman"/>
                <a:cs typeface="Times New Roman"/>
              </a:rPr>
              <a:t>statements </a:t>
            </a:r>
            <a:r>
              <a:rPr sz="2000" spc="95"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85" dirty="0">
                <a:solidFill>
                  <a:srgbClr val="FFFFFF"/>
                </a:solidFill>
                <a:latin typeface="Times New Roman"/>
                <a:cs typeface="Times New Roman"/>
              </a:rPr>
              <a:t>batch</a:t>
            </a:r>
            <a:r>
              <a:rPr sz="2000" spc="-365" dirty="0">
                <a:solidFill>
                  <a:srgbClr val="FFFFFF"/>
                </a:solidFill>
                <a:latin typeface="Times New Roman"/>
                <a:cs typeface="Times New Roman"/>
              </a:rPr>
              <a:t> </a:t>
            </a:r>
            <a:r>
              <a:rPr sz="2000" spc="50" dirty="0">
                <a:solidFill>
                  <a:srgbClr val="FFFFFF"/>
                </a:solidFill>
                <a:latin typeface="Times New Roman"/>
                <a:cs typeface="Times New Roman"/>
              </a:rPr>
              <a:t>are </a:t>
            </a:r>
            <a:r>
              <a:rPr sz="2000" spc="70" dirty="0">
                <a:solidFill>
                  <a:srgbClr val="FFFFFF"/>
                </a:solidFill>
                <a:latin typeface="Times New Roman"/>
                <a:cs typeface="Times New Roman"/>
              </a:rPr>
              <a:t>executed.</a:t>
            </a:r>
            <a:endParaRPr sz="20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66039"/>
            <a:ext cx="5713730" cy="635635"/>
          </a:xfrm>
          <a:prstGeom prst="rect">
            <a:avLst/>
          </a:prstGeom>
        </p:spPr>
        <p:txBody>
          <a:bodyPr vert="horz" wrap="square" lIns="0" tIns="12700" rIns="0" bIns="0" rtlCol="0">
            <a:spAutoFit/>
          </a:bodyPr>
          <a:lstStyle/>
          <a:p>
            <a:pPr marL="12700">
              <a:lnSpc>
                <a:spcPct val="100000"/>
              </a:lnSpc>
              <a:spcBef>
                <a:spcPts val="100"/>
              </a:spcBef>
            </a:pPr>
            <a:r>
              <a:rPr spc="160" dirty="0"/>
              <a:t>Transact-SQL </a:t>
            </a:r>
            <a:r>
              <a:rPr spc="95" dirty="0"/>
              <a:t>Batches</a:t>
            </a:r>
            <a:r>
              <a:rPr spc="-500" dirty="0"/>
              <a:t> </a:t>
            </a:r>
            <a:r>
              <a:rPr spc="-75" dirty="0"/>
              <a:t>2-2</a:t>
            </a:r>
          </a:p>
        </p:txBody>
      </p:sp>
      <p:sp>
        <p:nvSpPr>
          <p:cNvPr id="3" name="object 3"/>
          <p:cNvSpPr/>
          <p:nvPr/>
        </p:nvSpPr>
        <p:spPr>
          <a:xfrm>
            <a:off x="381000" y="1664969"/>
            <a:ext cx="8594090" cy="2851150"/>
          </a:xfrm>
          <a:custGeom>
            <a:avLst/>
            <a:gdLst/>
            <a:ahLst/>
            <a:cxnLst/>
            <a:rect l="l" t="t" r="r" b="b"/>
            <a:pathLst>
              <a:path w="8594090" h="2851150">
                <a:moveTo>
                  <a:pt x="8593836" y="475107"/>
                </a:moveTo>
                <a:lnTo>
                  <a:pt x="8591372" y="426542"/>
                </a:lnTo>
                <a:lnTo>
                  <a:pt x="8584171" y="379361"/>
                </a:lnTo>
                <a:lnTo>
                  <a:pt x="8572475" y="333832"/>
                </a:lnTo>
                <a:lnTo>
                  <a:pt x="8556485" y="290182"/>
                </a:lnTo>
                <a:lnTo>
                  <a:pt x="8536483" y="248653"/>
                </a:lnTo>
                <a:lnTo>
                  <a:pt x="8512683" y="209486"/>
                </a:lnTo>
                <a:lnTo>
                  <a:pt x="8485340" y="172910"/>
                </a:lnTo>
                <a:lnTo>
                  <a:pt x="8454669" y="139166"/>
                </a:lnTo>
                <a:lnTo>
                  <a:pt x="8420925" y="108496"/>
                </a:lnTo>
                <a:lnTo>
                  <a:pt x="8384349" y="81153"/>
                </a:lnTo>
                <a:lnTo>
                  <a:pt x="8345183" y="57353"/>
                </a:lnTo>
                <a:lnTo>
                  <a:pt x="8303654" y="37338"/>
                </a:lnTo>
                <a:lnTo>
                  <a:pt x="8260004" y="21361"/>
                </a:lnTo>
                <a:lnTo>
                  <a:pt x="8214474" y="9664"/>
                </a:lnTo>
                <a:lnTo>
                  <a:pt x="8167294" y="2463"/>
                </a:lnTo>
                <a:lnTo>
                  <a:pt x="8118729" y="0"/>
                </a:lnTo>
                <a:lnTo>
                  <a:pt x="475119" y="0"/>
                </a:lnTo>
                <a:lnTo>
                  <a:pt x="426529" y="2463"/>
                </a:lnTo>
                <a:lnTo>
                  <a:pt x="379361" y="9664"/>
                </a:lnTo>
                <a:lnTo>
                  <a:pt x="333819" y="21361"/>
                </a:lnTo>
                <a:lnTo>
                  <a:pt x="290169" y="37338"/>
                </a:lnTo>
                <a:lnTo>
                  <a:pt x="248640" y="57353"/>
                </a:lnTo>
                <a:lnTo>
                  <a:pt x="209461" y="81153"/>
                </a:lnTo>
                <a:lnTo>
                  <a:pt x="172885" y="108496"/>
                </a:lnTo>
                <a:lnTo>
                  <a:pt x="139153" y="139166"/>
                </a:lnTo>
                <a:lnTo>
                  <a:pt x="108483" y="172910"/>
                </a:lnTo>
                <a:lnTo>
                  <a:pt x="81140" y="209486"/>
                </a:lnTo>
                <a:lnTo>
                  <a:pt x="57340" y="248653"/>
                </a:lnTo>
                <a:lnTo>
                  <a:pt x="37325" y="290182"/>
                </a:lnTo>
                <a:lnTo>
                  <a:pt x="21348" y="333832"/>
                </a:lnTo>
                <a:lnTo>
                  <a:pt x="9652" y="379361"/>
                </a:lnTo>
                <a:lnTo>
                  <a:pt x="2451" y="426542"/>
                </a:lnTo>
                <a:lnTo>
                  <a:pt x="0" y="475107"/>
                </a:lnTo>
                <a:lnTo>
                  <a:pt x="0" y="2375535"/>
                </a:lnTo>
                <a:lnTo>
                  <a:pt x="2451" y="2424112"/>
                </a:lnTo>
                <a:lnTo>
                  <a:pt x="9652" y="2471293"/>
                </a:lnTo>
                <a:lnTo>
                  <a:pt x="21348" y="2516822"/>
                </a:lnTo>
                <a:lnTo>
                  <a:pt x="37325" y="2560472"/>
                </a:lnTo>
                <a:lnTo>
                  <a:pt x="57340" y="2602001"/>
                </a:lnTo>
                <a:lnTo>
                  <a:pt x="81140" y="2641168"/>
                </a:lnTo>
                <a:lnTo>
                  <a:pt x="108483" y="2677744"/>
                </a:lnTo>
                <a:lnTo>
                  <a:pt x="139153" y="2711488"/>
                </a:lnTo>
                <a:lnTo>
                  <a:pt x="172885" y="2742158"/>
                </a:lnTo>
                <a:lnTo>
                  <a:pt x="209461" y="2769501"/>
                </a:lnTo>
                <a:lnTo>
                  <a:pt x="248640" y="2793301"/>
                </a:lnTo>
                <a:lnTo>
                  <a:pt x="290169" y="2813304"/>
                </a:lnTo>
                <a:lnTo>
                  <a:pt x="333819" y="2829293"/>
                </a:lnTo>
                <a:lnTo>
                  <a:pt x="379361" y="2840990"/>
                </a:lnTo>
                <a:lnTo>
                  <a:pt x="426529" y="2848191"/>
                </a:lnTo>
                <a:lnTo>
                  <a:pt x="475119" y="2850642"/>
                </a:lnTo>
                <a:lnTo>
                  <a:pt x="8118729" y="2850642"/>
                </a:lnTo>
                <a:lnTo>
                  <a:pt x="8167294" y="2848191"/>
                </a:lnTo>
                <a:lnTo>
                  <a:pt x="8214474" y="2840990"/>
                </a:lnTo>
                <a:lnTo>
                  <a:pt x="8260004" y="2829293"/>
                </a:lnTo>
                <a:lnTo>
                  <a:pt x="8303654" y="2813304"/>
                </a:lnTo>
                <a:lnTo>
                  <a:pt x="8345183" y="2793301"/>
                </a:lnTo>
                <a:lnTo>
                  <a:pt x="8384349" y="2769501"/>
                </a:lnTo>
                <a:lnTo>
                  <a:pt x="8420925" y="2742158"/>
                </a:lnTo>
                <a:lnTo>
                  <a:pt x="8454669" y="2711488"/>
                </a:lnTo>
                <a:lnTo>
                  <a:pt x="8485340" y="2677744"/>
                </a:lnTo>
                <a:lnTo>
                  <a:pt x="8512683" y="2641168"/>
                </a:lnTo>
                <a:lnTo>
                  <a:pt x="8536483" y="2602001"/>
                </a:lnTo>
                <a:lnTo>
                  <a:pt x="8556485" y="2560472"/>
                </a:lnTo>
                <a:lnTo>
                  <a:pt x="8572475" y="2516822"/>
                </a:lnTo>
                <a:lnTo>
                  <a:pt x="8584171" y="2471293"/>
                </a:lnTo>
                <a:lnTo>
                  <a:pt x="8591372" y="2424112"/>
                </a:lnTo>
                <a:lnTo>
                  <a:pt x="8593836" y="2375535"/>
                </a:lnTo>
                <a:lnTo>
                  <a:pt x="8593836" y="475107"/>
                </a:lnTo>
                <a:close/>
              </a:path>
            </a:pathLst>
          </a:custGeom>
          <a:solidFill>
            <a:srgbClr val="205868"/>
          </a:solidFill>
        </p:spPr>
        <p:txBody>
          <a:bodyPr wrap="square" lIns="0" tIns="0" rIns="0" bIns="0" rtlCol="0"/>
          <a:lstStyle/>
          <a:p>
            <a:endParaRPr/>
          </a:p>
        </p:txBody>
      </p:sp>
      <p:sp>
        <p:nvSpPr>
          <p:cNvPr id="4" name="object 4"/>
          <p:cNvSpPr txBox="1"/>
          <p:nvPr/>
        </p:nvSpPr>
        <p:spPr>
          <a:xfrm>
            <a:off x="517905" y="1830831"/>
            <a:ext cx="8321040" cy="2367915"/>
          </a:xfrm>
          <a:prstGeom prst="rect">
            <a:avLst/>
          </a:prstGeom>
        </p:spPr>
        <p:txBody>
          <a:bodyPr vert="horz" wrap="square" lIns="0" tIns="50165" rIns="0" bIns="0" rtlCol="0">
            <a:spAutoFit/>
          </a:bodyPr>
          <a:lstStyle/>
          <a:p>
            <a:pPr marL="12700" marR="5715">
              <a:lnSpc>
                <a:spcPts val="2380"/>
              </a:lnSpc>
              <a:spcBef>
                <a:spcPts val="395"/>
              </a:spcBef>
              <a:tabLst>
                <a:tab pos="379730" algn="l"/>
                <a:tab pos="1581785" algn="l"/>
                <a:tab pos="2318385" algn="l"/>
                <a:tab pos="3018790" algn="l"/>
                <a:tab pos="3395979" algn="l"/>
                <a:tab pos="3664585" algn="l"/>
                <a:tab pos="5026660" algn="l"/>
                <a:tab pos="6242050" algn="l"/>
                <a:tab pos="6640195" algn="l"/>
                <a:tab pos="7072630" algn="l"/>
              </a:tabLst>
            </a:pPr>
            <a:r>
              <a:rPr sz="2200" spc="195" dirty="0">
                <a:solidFill>
                  <a:srgbClr val="FFFFFF"/>
                </a:solidFill>
                <a:latin typeface="Times New Roman"/>
                <a:cs typeface="Times New Roman"/>
              </a:rPr>
              <a:t>A	</a:t>
            </a:r>
            <a:r>
              <a:rPr sz="2200" spc="100" dirty="0">
                <a:solidFill>
                  <a:srgbClr val="FFFFFF"/>
                </a:solidFill>
                <a:latin typeface="Times New Roman"/>
                <a:cs typeface="Times New Roman"/>
              </a:rPr>
              <a:t>r</a:t>
            </a:r>
            <a:r>
              <a:rPr sz="2200" spc="140" dirty="0">
                <a:solidFill>
                  <a:srgbClr val="FFFFFF"/>
                </a:solidFill>
                <a:latin typeface="Times New Roman"/>
                <a:cs typeface="Times New Roman"/>
              </a:rPr>
              <a:t>u</a:t>
            </a:r>
            <a:r>
              <a:rPr sz="2200" spc="200" dirty="0">
                <a:solidFill>
                  <a:srgbClr val="FFFFFF"/>
                </a:solidFill>
                <a:latin typeface="Times New Roman"/>
                <a:cs typeface="Times New Roman"/>
              </a:rPr>
              <a:t>n</a:t>
            </a:r>
            <a:r>
              <a:rPr sz="2200" spc="15" dirty="0">
                <a:solidFill>
                  <a:srgbClr val="FFFFFF"/>
                </a:solidFill>
                <a:latin typeface="Times New Roman"/>
                <a:cs typeface="Times New Roman"/>
              </a:rPr>
              <a:t>-</a:t>
            </a:r>
            <a:r>
              <a:rPr sz="2200" spc="75" dirty="0">
                <a:solidFill>
                  <a:srgbClr val="FFFFFF"/>
                </a:solidFill>
                <a:latin typeface="Times New Roman"/>
                <a:cs typeface="Times New Roman"/>
              </a:rPr>
              <a:t>time</a:t>
            </a:r>
            <a:r>
              <a:rPr sz="2200" dirty="0">
                <a:solidFill>
                  <a:srgbClr val="FFFFFF"/>
                </a:solidFill>
                <a:latin typeface="Times New Roman"/>
                <a:cs typeface="Times New Roman"/>
              </a:rPr>
              <a:t>	</a:t>
            </a:r>
            <a:r>
              <a:rPr sz="2200" spc="80" dirty="0">
                <a:solidFill>
                  <a:srgbClr val="FFFFFF"/>
                </a:solidFill>
                <a:latin typeface="Times New Roman"/>
                <a:cs typeface="Times New Roman"/>
              </a:rPr>
              <a:t>er</a:t>
            </a:r>
            <a:r>
              <a:rPr sz="2200" spc="60" dirty="0">
                <a:solidFill>
                  <a:srgbClr val="FFFFFF"/>
                </a:solidFill>
                <a:latin typeface="Times New Roman"/>
                <a:cs typeface="Times New Roman"/>
              </a:rPr>
              <a:t>r</a:t>
            </a:r>
            <a:r>
              <a:rPr sz="2200" spc="95" dirty="0">
                <a:solidFill>
                  <a:srgbClr val="FFFFFF"/>
                </a:solidFill>
                <a:latin typeface="Times New Roman"/>
                <a:cs typeface="Times New Roman"/>
              </a:rPr>
              <a:t>or</a:t>
            </a:r>
            <a:r>
              <a:rPr sz="2200" dirty="0">
                <a:solidFill>
                  <a:srgbClr val="FFFFFF"/>
                </a:solidFill>
                <a:latin typeface="Times New Roman"/>
                <a:cs typeface="Times New Roman"/>
              </a:rPr>
              <a:t>	</a:t>
            </a:r>
            <a:r>
              <a:rPr sz="2200" spc="-5" dirty="0">
                <a:solidFill>
                  <a:srgbClr val="FFFFFF"/>
                </a:solidFill>
                <a:latin typeface="Times New Roman"/>
                <a:cs typeface="Times New Roman"/>
              </a:rPr>
              <a:t>s</a:t>
            </a:r>
            <a:r>
              <a:rPr sz="2200" spc="125" dirty="0">
                <a:solidFill>
                  <a:srgbClr val="FFFFFF"/>
                </a:solidFill>
                <a:latin typeface="Times New Roman"/>
                <a:cs typeface="Times New Roman"/>
              </a:rPr>
              <a:t>uch</a:t>
            </a:r>
            <a:r>
              <a:rPr sz="2200" dirty="0">
                <a:solidFill>
                  <a:srgbClr val="FFFFFF"/>
                </a:solidFill>
                <a:latin typeface="Times New Roman"/>
                <a:cs typeface="Times New Roman"/>
              </a:rPr>
              <a:t>	</a:t>
            </a:r>
            <a:r>
              <a:rPr sz="2200" spc="15" dirty="0">
                <a:solidFill>
                  <a:srgbClr val="FFFFFF"/>
                </a:solidFill>
                <a:latin typeface="Times New Roman"/>
                <a:cs typeface="Times New Roman"/>
              </a:rPr>
              <a:t>a</a:t>
            </a:r>
            <a:r>
              <a:rPr sz="2200" spc="20" dirty="0">
                <a:solidFill>
                  <a:srgbClr val="FFFFFF"/>
                </a:solidFill>
                <a:latin typeface="Times New Roman"/>
                <a:cs typeface="Times New Roman"/>
              </a:rPr>
              <a:t>s</a:t>
            </a:r>
            <a:r>
              <a:rPr sz="2200" dirty="0">
                <a:solidFill>
                  <a:srgbClr val="FFFFFF"/>
                </a:solidFill>
                <a:latin typeface="Times New Roman"/>
                <a:cs typeface="Times New Roman"/>
              </a:rPr>
              <a:t>	</a:t>
            </a:r>
            <a:r>
              <a:rPr sz="2200" spc="35" dirty="0">
                <a:solidFill>
                  <a:srgbClr val="FFFFFF"/>
                </a:solidFill>
                <a:latin typeface="Times New Roman"/>
                <a:cs typeface="Times New Roman"/>
              </a:rPr>
              <a:t>a</a:t>
            </a:r>
            <a:r>
              <a:rPr sz="2200" dirty="0">
                <a:solidFill>
                  <a:srgbClr val="FFFFFF"/>
                </a:solidFill>
                <a:latin typeface="Times New Roman"/>
                <a:cs typeface="Times New Roman"/>
              </a:rPr>
              <a:t>	</a:t>
            </a:r>
            <a:r>
              <a:rPr sz="2200" spc="105" dirty="0">
                <a:solidFill>
                  <a:srgbClr val="FFFFFF"/>
                </a:solidFill>
                <a:latin typeface="Times New Roman"/>
                <a:cs typeface="Times New Roman"/>
              </a:rPr>
              <a:t>co</a:t>
            </a:r>
            <a:r>
              <a:rPr sz="2200" spc="100" dirty="0">
                <a:solidFill>
                  <a:srgbClr val="FFFFFF"/>
                </a:solidFill>
                <a:latin typeface="Times New Roman"/>
                <a:cs typeface="Times New Roman"/>
              </a:rPr>
              <a:t>n</a:t>
            </a:r>
            <a:r>
              <a:rPr sz="2200" spc="75" dirty="0">
                <a:solidFill>
                  <a:srgbClr val="FFFFFF"/>
                </a:solidFill>
                <a:latin typeface="Times New Roman"/>
                <a:cs typeface="Times New Roman"/>
              </a:rPr>
              <a:t>strai</a:t>
            </a:r>
            <a:r>
              <a:rPr sz="2200" spc="95" dirty="0">
                <a:solidFill>
                  <a:srgbClr val="FFFFFF"/>
                </a:solidFill>
                <a:latin typeface="Times New Roman"/>
                <a:cs typeface="Times New Roman"/>
              </a:rPr>
              <a:t>n</a:t>
            </a:r>
            <a:r>
              <a:rPr sz="2200" spc="140" dirty="0">
                <a:solidFill>
                  <a:srgbClr val="FFFFFF"/>
                </a:solidFill>
                <a:latin typeface="Times New Roman"/>
                <a:cs typeface="Times New Roman"/>
              </a:rPr>
              <a:t>t</a:t>
            </a:r>
            <a:r>
              <a:rPr sz="2200" dirty="0">
                <a:solidFill>
                  <a:srgbClr val="FFFFFF"/>
                </a:solidFill>
                <a:latin typeface="Times New Roman"/>
                <a:cs typeface="Times New Roman"/>
              </a:rPr>
              <a:t>	</a:t>
            </a:r>
            <a:r>
              <a:rPr sz="2200" spc="40" dirty="0">
                <a:solidFill>
                  <a:srgbClr val="FFFFFF"/>
                </a:solidFill>
                <a:latin typeface="Times New Roman"/>
                <a:cs typeface="Times New Roman"/>
              </a:rPr>
              <a:t>v</a:t>
            </a:r>
            <a:r>
              <a:rPr sz="2200" spc="10" dirty="0">
                <a:solidFill>
                  <a:srgbClr val="FFFFFF"/>
                </a:solidFill>
                <a:latin typeface="Times New Roman"/>
                <a:cs typeface="Times New Roman"/>
              </a:rPr>
              <a:t>i</a:t>
            </a:r>
            <a:r>
              <a:rPr sz="2200" spc="45" dirty="0">
                <a:solidFill>
                  <a:srgbClr val="FFFFFF"/>
                </a:solidFill>
                <a:latin typeface="Times New Roman"/>
                <a:cs typeface="Times New Roman"/>
              </a:rPr>
              <a:t>ol</a:t>
            </a:r>
            <a:r>
              <a:rPr sz="2200" spc="40" dirty="0">
                <a:solidFill>
                  <a:srgbClr val="FFFFFF"/>
                </a:solidFill>
                <a:latin typeface="Times New Roman"/>
                <a:cs typeface="Times New Roman"/>
              </a:rPr>
              <a:t>a</a:t>
            </a:r>
            <a:r>
              <a:rPr sz="2200" spc="114" dirty="0">
                <a:solidFill>
                  <a:srgbClr val="FFFFFF"/>
                </a:solidFill>
                <a:latin typeface="Times New Roman"/>
                <a:cs typeface="Times New Roman"/>
              </a:rPr>
              <a:t>tion</a:t>
            </a:r>
            <a:r>
              <a:rPr sz="2200" dirty="0">
                <a:solidFill>
                  <a:srgbClr val="FFFFFF"/>
                </a:solidFill>
                <a:latin typeface="Times New Roman"/>
                <a:cs typeface="Times New Roman"/>
              </a:rPr>
              <a:t>	</a:t>
            </a:r>
            <a:r>
              <a:rPr sz="2200" spc="95" dirty="0">
                <a:solidFill>
                  <a:srgbClr val="FFFFFF"/>
                </a:solidFill>
                <a:latin typeface="Times New Roman"/>
                <a:cs typeface="Times New Roman"/>
              </a:rPr>
              <a:t>or</a:t>
            </a:r>
            <a:r>
              <a:rPr sz="2200" dirty="0">
                <a:solidFill>
                  <a:srgbClr val="FFFFFF"/>
                </a:solidFill>
                <a:latin typeface="Times New Roman"/>
                <a:cs typeface="Times New Roman"/>
              </a:rPr>
              <a:t>	</a:t>
            </a:r>
            <a:r>
              <a:rPr sz="2200" spc="100" dirty="0">
                <a:solidFill>
                  <a:srgbClr val="FFFFFF"/>
                </a:solidFill>
                <a:latin typeface="Times New Roman"/>
                <a:cs typeface="Times New Roman"/>
              </a:rPr>
              <a:t>a</a:t>
            </a:r>
            <a:r>
              <a:rPr sz="2200" spc="125" dirty="0">
                <a:solidFill>
                  <a:srgbClr val="FFFFFF"/>
                </a:solidFill>
                <a:latin typeface="Times New Roman"/>
                <a:cs typeface="Times New Roman"/>
              </a:rPr>
              <a:t>n</a:t>
            </a:r>
            <a:r>
              <a:rPr sz="2200" dirty="0">
                <a:solidFill>
                  <a:srgbClr val="FFFFFF"/>
                </a:solidFill>
                <a:latin typeface="Times New Roman"/>
                <a:cs typeface="Times New Roman"/>
              </a:rPr>
              <a:t>	</a:t>
            </a:r>
            <a:r>
              <a:rPr sz="2200" spc="75" dirty="0">
                <a:solidFill>
                  <a:srgbClr val="FFFFFF"/>
                </a:solidFill>
                <a:latin typeface="Times New Roman"/>
                <a:cs typeface="Times New Roman"/>
              </a:rPr>
              <a:t>ari</a:t>
            </a:r>
            <a:r>
              <a:rPr sz="2200" spc="50" dirty="0">
                <a:solidFill>
                  <a:srgbClr val="FFFFFF"/>
                </a:solidFill>
                <a:latin typeface="Times New Roman"/>
                <a:cs typeface="Times New Roman"/>
              </a:rPr>
              <a:t>t</a:t>
            </a:r>
            <a:r>
              <a:rPr sz="2200" spc="180" dirty="0">
                <a:solidFill>
                  <a:srgbClr val="FFFFFF"/>
                </a:solidFill>
                <a:latin typeface="Times New Roman"/>
                <a:cs typeface="Times New Roman"/>
              </a:rPr>
              <a:t>h</a:t>
            </a:r>
            <a:r>
              <a:rPr sz="2200" spc="55" dirty="0">
                <a:solidFill>
                  <a:srgbClr val="FFFFFF"/>
                </a:solidFill>
                <a:latin typeface="Times New Roman"/>
                <a:cs typeface="Times New Roman"/>
              </a:rPr>
              <a:t>metic  </a:t>
            </a:r>
            <a:r>
              <a:rPr sz="2200" spc="60" dirty="0">
                <a:solidFill>
                  <a:srgbClr val="FFFFFF"/>
                </a:solidFill>
                <a:latin typeface="Times New Roman"/>
                <a:cs typeface="Times New Roman"/>
              </a:rPr>
              <a:t>overflow</a:t>
            </a:r>
            <a:r>
              <a:rPr sz="2200" spc="-105" dirty="0">
                <a:solidFill>
                  <a:srgbClr val="FFFFFF"/>
                </a:solidFill>
                <a:latin typeface="Times New Roman"/>
                <a:cs typeface="Times New Roman"/>
              </a:rPr>
              <a:t> </a:t>
            </a:r>
            <a:r>
              <a:rPr sz="2200" spc="80" dirty="0">
                <a:solidFill>
                  <a:srgbClr val="FFFFFF"/>
                </a:solidFill>
                <a:latin typeface="Times New Roman"/>
                <a:cs typeface="Times New Roman"/>
              </a:rPr>
              <a:t>has</a:t>
            </a:r>
            <a:r>
              <a:rPr sz="2200" spc="-100" dirty="0">
                <a:solidFill>
                  <a:srgbClr val="FFFFFF"/>
                </a:solidFill>
                <a:latin typeface="Times New Roman"/>
                <a:cs typeface="Times New Roman"/>
              </a:rPr>
              <a:t> </a:t>
            </a:r>
            <a:r>
              <a:rPr sz="2200" spc="114" dirty="0">
                <a:solidFill>
                  <a:srgbClr val="FFFFFF"/>
                </a:solidFill>
                <a:latin typeface="Times New Roman"/>
                <a:cs typeface="Times New Roman"/>
              </a:rPr>
              <a:t>one</a:t>
            </a:r>
            <a:r>
              <a:rPr sz="2200" spc="-95" dirty="0">
                <a:solidFill>
                  <a:srgbClr val="FFFFFF"/>
                </a:solidFill>
                <a:latin typeface="Times New Roman"/>
                <a:cs typeface="Times New Roman"/>
              </a:rPr>
              <a:t> </a:t>
            </a:r>
            <a:r>
              <a:rPr sz="2200" spc="65" dirty="0">
                <a:solidFill>
                  <a:srgbClr val="FFFFFF"/>
                </a:solidFill>
                <a:latin typeface="Times New Roman"/>
                <a:cs typeface="Times New Roman"/>
              </a:rPr>
              <a:t>of</a:t>
            </a:r>
            <a:r>
              <a:rPr sz="2200" spc="-9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95" dirty="0">
                <a:solidFill>
                  <a:srgbClr val="FFFFFF"/>
                </a:solidFill>
                <a:latin typeface="Times New Roman"/>
                <a:cs typeface="Times New Roman"/>
              </a:rPr>
              <a:t> </a:t>
            </a:r>
            <a:r>
              <a:rPr sz="2200" spc="50" dirty="0">
                <a:solidFill>
                  <a:srgbClr val="FFFFFF"/>
                </a:solidFill>
                <a:latin typeface="Times New Roman"/>
                <a:cs typeface="Times New Roman"/>
              </a:rPr>
              <a:t>following</a:t>
            </a:r>
            <a:r>
              <a:rPr sz="2200" spc="-100" dirty="0">
                <a:solidFill>
                  <a:srgbClr val="FFFFFF"/>
                </a:solidFill>
                <a:latin typeface="Times New Roman"/>
                <a:cs typeface="Times New Roman"/>
              </a:rPr>
              <a:t> </a:t>
            </a:r>
            <a:r>
              <a:rPr sz="2200" spc="35" dirty="0">
                <a:solidFill>
                  <a:srgbClr val="FFFFFF"/>
                </a:solidFill>
                <a:latin typeface="Times New Roman"/>
                <a:cs typeface="Times New Roman"/>
              </a:rPr>
              <a:t>effects:</a:t>
            </a:r>
            <a:endParaRPr sz="2200">
              <a:latin typeface="Times New Roman"/>
              <a:cs typeface="Times New Roman"/>
            </a:endParaRPr>
          </a:p>
          <a:p>
            <a:pPr marL="355600" marR="5080" indent="-342900" algn="just">
              <a:lnSpc>
                <a:spcPts val="2160"/>
              </a:lnSpc>
              <a:spcBef>
                <a:spcPts val="2615"/>
              </a:spcBef>
              <a:buFont typeface="Wingdings"/>
              <a:buChar char=""/>
              <a:tabLst>
                <a:tab pos="355600" algn="l"/>
              </a:tabLst>
            </a:pPr>
            <a:r>
              <a:rPr sz="2000" spc="70" dirty="0">
                <a:solidFill>
                  <a:srgbClr val="FFFFFF"/>
                </a:solidFill>
                <a:latin typeface="Times New Roman"/>
                <a:cs typeface="Times New Roman"/>
              </a:rPr>
              <a:t>Most </a:t>
            </a:r>
            <a:r>
              <a:rPr sz="2000" spc="55" dirty="0">
                <a:solidFill>
                  <a:srgbClr val="FFFFFF"/>
                </a:solidFill>
                <a:latin typeface="Times New Roman"/>
                <a:cs typeface="Times New Roman"/>
              </a:rPr>
              <a:t>of </a:t>
            </a:r>
            <a:r>
              <a:rPr sz="2000" spc="110" dirty="0">
                <a:solidFill>
                  <a:srgbClr val="FFFFFF"/>
                </a:solidFill>
                <a:latin typeface="Times New Roman"/>
                <a:cs typeface="Times New Roman"/>
              </a:rPr>
              <a:t>the </a:t>
            </a:r>
            <a:r>
              <a:rPr sz="2000" spc="85" dirty="0">
                <a:solidFill>
                  <a:srgbClr val="FFFFFF"/>
                </a:solidFill>
                <a:latin typeface="Times New Roman"/>
                <a:cs typeface="Times New Roman"/>
              </a:rPr>
              <a:t>run-time </a:t>
            </a:r>
            <a:r>
              <a:rPr sz="2000" spc="65" dirty="0">
                <a:solidFill>
                  <a:srgbClr val="FFFFFF"/>
                </a:solidFill>
                <a:latin typeface="Times New Roman"/>
                <a:cs typeface="Times New Roman"/>
              </a:rPr>
              <a:t>errors </a:t>
            </a:r>
            <a:r>
              <a:rPr sz="2000" spc="85" dirty="0">
                <a:solidFill>
                  <a:srgbClr val="FFFFFF"/>
                </a:solidFill>
                <a:latin typeface="Times New Roman"/>
                <a:cs typeface="Times New Roman"/>
              </a:rPr>
              <a:t>stop </a:t>
            </a:r>
            <a:r>
              <a:rPr sz="2000" spc="110" dirty="0">
                <a:solidFill>
                  <a:srgbClr val="FFFFFF"/>
                </a:solidFill>
                <a:latin typeface="Times New Roman"/>
                <a:cs typeface="Times New Roman"/>
              </a:rPr>
              <a:t>the </a:t>
            </a:r>
            <a:r>
              <a:rPr sz="2000" spc="95" dirty="0">
                <a:solidFill>
                  <a:srgbClr val="FFFFFF"/>
                </a:solidFill>
                <a:latin typeface="Times New Roman"/>
                <a:cs typeface="Times New Roman"/>
              </a:rPr>
              <a:t>current </a:t>
            </a:r>
            <a:r>
              <a:rPr sz="2000" spc="85" dirty="0">
                <a:solidFill>
                  <a:srgbClr val="FFFFFF"/>
                </a:solidFill>
                <a:latin typeface="Times New Roman"/>
                <a:cs typeface="Times New Roman"/>
              </a:rPr>
              <a:t>statement </a:t>
            </a:r>
            <a:r>
              <a:rPr sz="2000" spc="114" dirty="0">
                <a:solidFill>
                  <a:srgbClr val="FFFFFF"/>
                </a:solidFill>
                <a:latin typeface="Times New Roman"/>
                <a:cs typeface="Times New Roman"/>
              </a:rPr>
              <a:t>and </a:t>
            </a:r>
            <a:r>
              <a:rPr sz="2000" spc="110" dirty="0">
                <a:solidFill>
                  <a:srgbClr val="FFFFFF"/>
                </a:solidFill>
                <a:latin typeface="Times New Roman"/>
                <a:cs typeface="Times New Roman"/>
              </a:rPr>
              <a:t>the  </a:t>
            </a:r>
            <a:r>
              <a:rPr sz="2000" spc="75" dirty="0">
                <a:solidFill>
                  <a:srgbClr val="FFFFFF"/>
                </a:solidFill>
                <a:latin typeface="Times New Roman"/>
                <a:cs typeface="Times New Roman"/>
              </a:rPr>
              <a:t>statements</a:t>
            </a:r>
            <a:r>
              <a:rPr sz="2000" spc="-4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65" dirty="0">
                <a:solidFill>
                  <a:srgbClr val="FFFFFF"/>
                </a:solidFill>
                <a:latin typeface="Times New Roman"/>
                <a:cs typeface="Times New Roman"/>
              </a:rPr>
              <a:t> </a:t>
            </a:r>
            <a:r>
              <a:rPr sz="2000" spc="40" dirty="0">
                <a:solidFill>
                  <a:srgbClr val="FFFFFF"/>
                </a:solidFill>
                <a:latin typeface="Times New Roman"/>
                <a:cs typeface="Times New Roman"/>
              </a:rPr>
              <a:t>follow</a:t>
            </a:r>
            <a:r>
              <a:rPr sz="2000" spc="-55" dirty="0">
                <a:solidFill>
                  <a:srgbClr val="FFFFFF"/>
                </a:solidFill>
                <a:latin typeface="Times New Roman"/>
                <a:cs typeface="Times New Roman"/>
              </a:rPr>
              <a:t> </a:t>
            </a:r>
            <a:r>
              <a:rPr sz="2000" spc="95" dirty="0">
                <a:solidFill>
                  <a:srgbClr val="FFFFFF"/>
                </a:solidFill>
                <a:latin typeface="Times New Roman"/>
                <a:cs typeface="Times New Roman"/>
              </a:rPr>
              <a:t>in</a:t>
            </a:r>
            <a:r>
              <a:rPr sz="2000" spc="-7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70" dirty="0">
                <a:solidFill>
                  <a:srgbClr val="FFFFFF"/>
                </a:solidFill>
                <a:latin typeface="Times New Roman"/>
                <a:cs typeface="Times New Roman"/>
              </a:rPr>
              <a:t>batch.</a:t>
            </a:r>
            <a:endParaRPr sz="2000">
              <a:latin typeface="Times New Roman"/>
              <a:cs typeface="Times New Roman"/>
            </a:endParaRPr>
          </a:p>
          <a:p>
            <a:pPr marL="355600" marR="5080" indent="-342900" algn="just">
              <a:lnSpc>
                <a:spcPts val="2160"/>
              </a:lnSpc>
              <a:spcBef>
                <a:spcPts val="5"/>
              </a:spcBef>
              <a:buFont typeface="Wingdings"/>
              <a:buChar char=""/>
              <a:tabLst>
                <a:tab pos="355600" algn="l"/>
              </a:tabLst>
            </a:pPr>
            <a:r>
              <a:rPr sz="2000" spc="175" dirty="0">
                <a:solidFill>
                  <a:srgbClr val="FFFFFF"/>
                </a:solidFill>
                <a:latin typeface="Times New Roman"/>
                <a:cs typeface="Times New Roman"/>
              </a:rPr>
              <a:t>A </a:t>
            </a:r>
            <a:r>
              <a:rPr sz="2000" spc="25" dirty="0">
                <a:solidFill>
                  <a:srgbClr val="FFFFFF"/>
                </a:solidFill>
                <a:latin typeface="Times New Roman"/>
                <a:cs typeface="Times New Roman"/>
              </a:rPr>
              <a:t>specific </a:t>
            </a:r>
            <a:r>
              <a:rPr sz="2000" spc="85" dirty="0">
                <a:solidFill>
                  <a:srgbClr val="FFFFFF"/>
                </a:solidFill>
                <a:latin typeface="Times New Roman"/>
                <a:cs typeface="Times New Roman"/>
              </a:rPr>
              <a:t>run-time </a:t>
            </a:r>
            <a:r>
              <a:rPr sz="2000" spc="75" dirty="0">
                <a:solidFill>
                  <a:srgbClr val="FFFFFF"/>
                </a:solidFill>
                <a:latin typeface="Times New Roman"/>
                <a:cs typeface="Times New Roman"/>
              </a:rPr>
              <a:t>error </a:t>
            </a:r>
            <a:r>
              <a:rPr sz="2000" spc="85" dirty="0">
                <a:solidFill>
                  <a:srgbClr val="FFFFFF"/>
                </a:solidFill>
                <a:latin typeface="Times New Roman"/>
                <a:cs typeface="Times New Roman"/>
              </a:rPr>
              <a:t>such </a:t>
            </a:r>
            <a:r>
              <a:rPr sz="2000" spc="20" dirty="0">
                <a:solidFill>
                  <a:srgbClr val="FFFFFF"/>
                </a:solidFill>
                <a:latin typeface="Times New Roman"/>
                <a:cs typeface="Times New Roman"/>
              </a:rPr>
              <a:t>as </a:t>
            </a:r>
            <a:r>
              <a:rPr sz="2000" spc="30" dirty="0">
                <a:solidFill>
                  <a:srgbClr val="FFFFFF"/>
                </a:solidFill>
                <a:latin typeface="Times New Roman"/>
                <a:cs typeface="Times New Roman"/>
              </a:rPr>
              <a:t>a </a:t>
            </a:r>
            <a:r>
              <a:rPr sz="2000" spc="85" dirty="0">
                <a:solidFill>
                  <a:srgbClr val="FFFFFF"/>
                </a:solidFill>
                <a:latin typeface="Times New Roman"/>
                <a:cs typeface="Times New Roman"/>
              </a:rPr>
              <a:t>constraint </a:t>
            </a:r>
            <a:r>
              <a:rPr sz="2000" spc="65" dirty="0">
                <a:solidFill>
                  <a:srgbClr val="FFFFFF"/>
                </a:solidFill>
                <a:latin typeface="Times New Roman"/>
                <a:cs typeface="Times New Roman"/>
              </a:rPr>
              <a:t>violation stops </a:t>
            </a:r>
            <a:r>
              <a:rPr sz="2000" spc="70" dirty="0">
                <a:solidFill>
                  <a:srgbClr val="FFFFFF"/>
                </a:solidFill>
                <a:latin typeface="Times New Roman"/>
                <a:cs typeface="Times New Roman"/>
              </a:rPr>
              <a:t>only </a:t>
            </a:r>
            <a:r>
              <a:rPr sz="2000" spc="110" dirty="0">
                <a:solidFill>
                  <a:srgbClr val="FFFFFF"/>
                </a:solidFill>
                <a:latin typeface="Times New Roman"/>
                <a:cs typeface="Times New Roman"/>
              </a:rPr>
              <a:t>the  </a:t>
            </a:r>
            <a:r>
              <a:rPr sz="2000" spc="55" dirty="0">
                <a:solidFill>
                  <a:srgbClr val="FFFFFF"/>
                </a:solidFill>
                <a:latin typeface="Times New Roman"/>
                <a:cs typeface="Times New Roman"/>
              </a:rPr>
              <a:t>existing </a:t>
            </a:r>
            <a:r>
              <a:rPr sz="2000" spc="85" dirty="0">
                <a:solidFill>
                  <a:srgbClr val="FFFFFF"/>
                </a:solidFill>
                <a:latin typeface="Times New Roman"/>
                <a:cs typeface="Times New Roman"/>
              </a:rPr>
              <a:t>statement </a:t>
            </a:r>
            <a:r>
              <a:rPr sz="2000" spc="110" dirty="0">
                <a:solidFill>
                  <a:srgbClr val="FFFFFF"/>
                </a:solidFill>
                <a:latin typeface="Times New Roman"/>
                <a:cs typeface="Times New Roman"/>
              </a:rPr>
              <a:t>and the </a:t>
            </a:r>
            <a:r>
              <a:rPr sz="2000" spc="65" dirty="0">
                <a:solidFill>
                  <a:srgbClr val="FFFFFF"/>
                </a:solidFill>
                <a:latin typeface="Times New Roman"/>
                <a:cs typeface="Times New Roman"/>
              </a:rPr>
              <a:t>remaining </a:t>
            </a:r>
            <a:r>
              <a:rPr sz="2000" spc="80" dirty="0">
                <a:solidFill>
                  <a:srgbClr val="FFFFFF"/>
                </a:solidFill>
                <a:latin typeface="Times New Roman"/>
                <a:cs typeface="Times New Roman"/>
              </a:rPr>
              <a:t>statements </a:t>
            </a:r>
            <a:r>
              <a:rPr sz="2000" spc="95"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85" dirty="0">
                <a:solidFill>
                  <a:srgbClr val="FFFFFF"/>
                </a:solidFill>
                <a:latin typeface="Times New Roman"/>
                <a:cs typeface="Times New Roman"/>
              </a:rPr>
              <a:t>batch </a:t>
            </a:r>
            <a:r>
              <a:rPr sz="2000" spc="50" dirty="0">
                <a:solidFill>
                  <a:srgbClr val="FFFFFF"/>
                </a:solidFill>
                <a:latin typeface="Times New Roman"/>
                <a:cs typeface="Times New Roman"/>
              </a:rPr>
              <a:t>are  </a:t>
            </a:r>
            <a:r>
              <a:rPr sz="2000" spc="70" dirty="0">
                <a:solidFill>
                  <a:srgbClr val="FFFFFF"/>
                </a:solidFill>
                <a:latin typeface="Times New Roman"/>
                <a:cs typeface="Times New Roman"/>
              </a:rPr>
              <a:t>executed.</a:t>
            </a:r>
            <a:endParaRPr sz="20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004" y="21082"/>
            <a:ext cx="5392420" cy="574040"/>
          </a:xfrm>
          <a:prstGeom prst="rect">
            <a:avLst/>
          </a:prstGeom>
        </p:spPr>
        <p:txBody>
          <a:bodyPr vert="horz" wrap="square" lIns="0" tIns="12700" rIns="0" bIns="0" rtlCol="0">
            <a:spAutoFit/>
          </a:bodyPr>
          <a:lstStyle/>
          <a:p>
            <a:pPr marL="12700">
              <a:lnSpc>
                <a:spcPct val="100000"/>
              </a:lnSpc>
              <a:spcBef>
                <a:spcPts val="100"/>
              </a:spcBef>
            </a:pPr>
            <a:r>
              <a:rPr sz="3600" spc="145" dirty="0"/>
              <a:t>Transact-SQL </a:t>
            </a:r>
            <a:r>
              <a:rPr sz="3600" spc="90" dirty="0"/>
              <a:t>Variables</a:t>
            </a:r>
            <a:r>
              <a:rPr sz="3600" spc="-425" dirty="0"/>
              <a:t> </a:t>
            </a:r>
            <a:r>
              <a:rPr sz="3600" spc="-305" dirty="0"/>
              <a:t>1-3</a:t>
            </a:r>
            <a:endParaRPr sz="3600"/>
          </a:p>
        </p:txBody>
      </p:sp>
      <p:sp>
        <p:nvSpPr>
          <p:cNvPr id="3" name="object 3"/>
          <p:cNvSpPr/>
          <p:nvPr/>
        </p:nvSpPr>
        <p:spPr>
          <a:xfrm>
            <a:off x="342138" y="909066"/>
            <a:ext cx="8460105" cy="1215390"/>
          </a:xfrm>
          <a:custGeom>
            <a:avLst/>
            <a:gdLst/>
            <a:ahLst/>
            <a:cxnLst/>
            <a:rect l="l" t="t" r="r" b="b"/>
            <a:pathLst>
              <a:path w="8460105" h="1215389">
                <a:moveTo>
                  <a:pt x="8257158" y="0"/>
                </a:moveTo>
                <a:lnTo>
                  <a:pt x="202565" y="0"/>
                </a:lnTo>
                <a:lnTo>
                  <a:pt x="156118" y="5349"/>
                </a:lnTo>
                <a:lnTo>
                  <a:pt x="113481" y="20586"/>
                </a:lnTo>
                <a:lnTo>
                  <a:pt x="75870" y="44497"/>
                </a:lnTo>
                <a:lnTo>
                  <a:pt x="44501" y="75865"/>
                </a:lnTo>
                <a:lnTo>
                  <a:pt x="20588" y="113476"/>
                </a:lnTo>
                <a:lnTo>
                  <a:pt x="5349" y="156114"/>
                </a:lnTo>
                <a:lnTo>
                  <a:pt x="0" y="202564"/>
                </a:lnTo>
                <a:lnTo>
                  <a:pt x="0" y="1012824"/>
                </a:lnTo>
                <a:lnTo>
                  <a:pt x="5349" y="1059275"/>
                </a:lnTo>
                <a:lnTo>
                  <a:pt x="20588" y="1101913"/>
                </a:lnTo>
                <a:lnTo>
                  <a:pt x="44501" y="1139524"/>
                </a:lnTo>
                <a:lnTo>
                  <a:pt x="75870" y="1170892"/>
                </a:lnTo>
                <a:lnTo>
                  <a:pt x="113481" y="1194803"/>
                </a:lnTo>
                <a:lnTo>
                  <a:pt x="156118" y="1210040"/>
                </a:lnTo>
                <a:lnTo>
                  <a:pt x="202565" y="1215389"/>
                </a:lnTo>
                <a:lnTo>
                  <a:pt x="8257158" y="1215389"/>
                </a:lnTo>
                <a:lnTo>
                  <a:pt x="8303609" y="1210040"/>
                </a:lnTo>
                <a:lnTo>
                  <a:pt x="8346247" y="1194803"/>
                </a:lnTo>
                <a:lnTo>
                  <a:pt x="8383858" y="1170892"/>
                </a:lnTo>
                <a:lnTo>
                  <a:pt x="8415226" y="1139524"/>
                </a:lnTo>
                <a:lnTo>
                  <a:pt x="8439137" y="1101913"/>
                </a:lnTo>
                <a:lnTo>
                  <a:pt x="8454374" y="1059275"/>
                </a:lnTo>
                <a:lnTo>
                  <a:pt x="8459724" y="1012824"/>
                </a:lnTo>
                <a:lnTo>
                  <a:pt x="8459724" y="202564"/>
                </a:lnTo>
                <a:lnTo>
                  <a:pt x="8454374" y="156114"/>
                </a:lnTo>
                <a:lnTo>
                  <a:pt x="8439137" y="113476"/>
                </a:lnTo>
                <a:lnTo>
                  <a:pt x="8415226" y="75865"/>
                </a:lnTo>
                <a:lnTo>
                  <a:pt x="8383858" y="44497"/>
                </a:lnTo>
                <a:lnTo>
                  <a:pt x="8346247" y="20586"/>
                </a:lnTo>
                <a:lnTo>
                  <a:pt x="8303609" y="5349"/>
                </a:lnTo>
                <a:lnTo>
                  <a:pt x="8257158" y="0"/>
                </a:lnTo>
                <a:close/>
              </a:path>
            </a:pathLst>
          </a:custGeom>
          <a:solidFill>
            <a:srgbClr val="4F81BC"/>
          </a:solidFill>
        </p:spPr>
        <p:txBody>
          <a:bodyPr wrap="square" lIns="0" tIns="0" rIns="0" bIns="0" rtlCol="0"/>
          <a:lstStyle/>
          <a:p>
            <a:endParaRPr/>
          </a:p>
        </p:txBody>
      </p:sp>
      <p:sp>
        <p:nvSpPr>
          <p:cNvPr id="4" name="object 4"/>
          <p:cNvSpPr txBox="1"/>
          <p:nvPr/>
        </p:nvSpPr>
        <p:spPr>
          <a:xfrm>
            <a:off x="480059" y="1113281"/>
            <a:ext cx="8185150" cy="710565"/>
          </a:xfrm>
          <a:prstGeom prst="rect">
            <a:avLst/>
          </a:prstGeom>
        </p:spPr>
        <p:txBody>
          <a:bodyPr vert="horz" wrap="square" lIns="0" tIns="11430" rIns="0" bIns="0" rtlCol="0">
            <a:spAutoFit/>
          </a:bodyPr>
          <a:lstStyle/>
          <a:p>
            <a:pPr marL="355600" marR="5080" indent="-342900">
              <a:lnSpc>
                <a:spcPts val="2750"/>
              </a:lnSpc>
              <a:spcBef>
                <a:spcPts val="90"/>
              </a:spcBef>
              <a:buFont typeface="Wingdings"/>
              <a:buChar char=""/>
              <a:tabLst>
                <a:tab pos="355600" algn="l"/>
                <a:tab pos="1656080" algn="l"/>
                <a:tab pos="2465070" algn="l"/>
                <a:tab pos="3242945" algn="l"/>
                <a:tab pos="3655060" algn="l"/>
                <a:tab pos="4410075" algn="l"/>
                <a:tab pos="5083810" algn="l"/>
                <a:tab pos="5601335" algn="l"/>
                <a:tab pos="6414770" algn="l"/>
                <a:tab pos="6815455" algn="l"/>
                <a:tab pos="7635240" algn="l"/>
                <a:tab pos="8042909" algn="l"/>
              </a:tabLst>
            </a:pPr>
            <a:r>
              <a:rPr sz="2200" spc="70" dirty="0">
                <a:solidFill>
                  <a:srgbClr val="FFFFFF"/>
                </a:solidFill>
                <a:latin typeface="Times New Roman"/>
                <a:cs typeface="Times New Roman"/>
              </a:rPr>
              <a:t>Vari</a:t>
            </a:r>
            <a:r>
              <a:rPr sz="2200" spc="60" dirty="0">
                <a:solidFill>
                  <a:srgbClr val="FFFFFF"/>
                </a:solidFill>
                <a:latin typeface="Times New Roman"/>
                <a:cs typeface="Times New Roman"/>
              </a:rPr>
              <a:t>a</a:t>
            </a:r>
            <a:r>
              <a:rPr sz="2200" spc="40" dirty="0">
                <a:solidFill>
                  <a:srgbClr val="FFFFFF"/>
                </a:solidFill>
                <a:latin typeface="Times New Roman"/>
                <a:cs typeface="Times New Roman"/>
              </a:rPr>
              <a:t>bles</a:t>
            </a:r>
            <a:r>
              <a:rPr sz="2200" dirty="0">
                <a:solidFill>
                  <a:srgbClr val="FFFFFF"/>
                </a:solidFill>
                <a:latin typeface="Times New Roman"/>
                <a:cs typeface="Times New Roman"/>
              </a:rPr>
              <a:t>	</a:t>
            </a:r>
            <a:r>
              <a:rPr sz="2200" spc="25" dirty="0">
                <a:solidFill>
                  <a:srgbClr val="FFFFFF"/>
                </a:solidFill>
                <a:latin typeface="Times New Roman"/>
                <a:cs typeface="Times New Roman"/>
              </a:rPr>
              <a:t>a</a:t>
            </a:r>
            <a:r>
              <a:rPr sz="2200" spc="40" dirty="0">
                <a:solidFill>
                  <a:srgbClr val="FFFFFF"/>
                </a:solidFill>
                <a:latin typeface="Times New Roman"/>
                <a:cs typeface="Times New Roman"/>
              </a:rPr>
              <a:t>llow</a:t>
            </a:r>
            <a:r>
              <a:rPr sz="2200" dirty="0">
                <a:solidFill>
                  <a:srgbClr val="FFFFFF"/>
                </a:solidFill>
                <a:latin typeface="Times New Roman"/>
                <a:cs typeface="Times New Roman"/>
              </a:rPr>
              <a:t>	</a:t>
            </a:r>
            <a:r>
              <a:rPr sz="2200" spc="85" dirty="0">
                <a:solidFill>
                  <a:srgbClr val="FFFFFF"/>
                </a:solidFill>
                <a:latin typeface="Times New Roman"/>
                <a:cs typeface="Times New Roman"/>
              </a:rPr>
              <a:t>use</a:t>
            </a:r>
            <a:r>
              <a:rPr sz="2200" spc="50" dirty="0">
                <a:solidFill>
                  <a:srgbClr val="FFFFFF"/>
                </a:solidFill>
                <a:latin typeface="Times New Roman"/>
                <a:cs typeface="Times New Roman"/>
              </a:rPr>
              <a:t>r</a:t>
            </a:r>
            <a:r>
              <a:rPr sz="2200" spc="5" dirty="0">
                <a:solidFill>
                  <a:srgbClr val="FFFFFF"/>
                </a:solidFill>
                <a:latin typeface="Times New Roman"/>
                <a:cs typeface="Times New Roman"/>
              </a:rPr>
              <a:t>s</a:t>
            </a:r>
            <a:r>
              <a:rPr sz="2200" dirty="0">
                <a:solidFill>
                  <a:srgbClr val="FFFFFF"/>
                </a:solidFill>
                <a:latin typeface="Times New Roman"/>
                <a:cs typeface="Times New Roman"/>
              </a:rPr>
              <a:t>	</a:t>
            </a:r>
            <a:r>
              <a:rPr sz="2200" spc="80" dirty="0">
                <a:solidFill>
                  <a:srgbClr val="FFFFFF"/>
                </a:solidFill>
                <a:latin typeface="Times New Roman"/>
                <a:cs typeface="Times New Roman"/>
              </a:rPr>
              <a:t>t</a:t>
            </a:r>
            <a:r>
              <a:rPr sz="2200" spc="155" dirty="0">
                <a:solidFill>
                  <a:srgbClr val="FFFFFF"/>
                </a:solidFill>
                <a:latin typeface="Times New Roman"/>
                <a:cs typeface="Times New Roman"/>
              </a:rPr>
              <a:t>o</a:t>
            </a:r>
            <a:r>
              <a:rPr sz="2200" dirty="0">
                <a:solidFill>
                  <a:srgbClr val="FFFFFF"/>
                </a:solidFill>
                <a:latin typeface="Times New Roman"/>
                <a:cs typeface="Times New Roman"/>
              </a:rPr>
              <a:t>	</a:t>
            </a:r>
            <a:r>
              <a:rPr sz="2200" spc="-5" dirty="0">
                <a:solidFill>
                  <a:srgbClr val="FFFFFF"/>
                </a:solidFill>
                <a:latin typeface="Times New Roman"/>
                <a:cs typeface="Times New Roman"/>
              </a:rPr>
              <a:t>s</a:t>
            </a:r>
            <a:r>
              <a:rPr sz="2200" spc="85" dirty="0">
                <a:solidFill>
                  <a:srgbClr val="FFFFFF"/>
                </a:solidFill>
                <a:latin typeface="Times New Roman"/>
                <a:cs typeface="Times New Roman"/>
              </a:rPr>
              <a:t>t</a:t>
            </a:r>
            <a:r>
              <a:rPr sz="2200" spc="145" dirty="0">
                <a:solidFill>
                  <a:srgbClr val="FFFFFF"/>
                </a:solidFill>
                <a:latin typeface="Times New Roman"/>
                <a:cs typeface="Times New Roman"/>
              </a:rPr>
              <a:t>o</a:t>
            </a:r>
            <a:r>
              <a:rPr sz="2200" spc="70" dirty="0">
                <a:solidFill>
                  <a:srgbClr val="FFFFFF"/>
                </a:solidFill>
                <a:latin typeface="Times New Roman"/>
                <a:cs typeface="Times New Roman"/>
              </a:rPr>
              <a:t>re</a:t>
            </a:r>
            <a:r>
              <a:rPr sz="2200" dirty="0">
                <a:solidFill>
                  <a:srgbClr val="FFFFFF"/>
                </a:solidFill>
                <a:latin typeface="Times New Roman"/>
                <a:cs typeface="Times New Roman"/>
              </a:rPr>
              <a:t>	</a:t>
            </a:r>
            <a:r>
              <a:rPr sz="2200" spc="95" dirty="0">
                <a:solidFill>
                  <a:srgbClr val="FFFFFF"/>
                </a:solidFill>
                <a:latin typeface="Times New Roman"/>
                <a:cs typeface="Times New Roman"/>
              </a:rPr>
              <a:t>d</a:t>
            </a:r>
            <a:r>
              <a:rPr sz="2200" spc="75" dirty="0">
                <a:solidFill>
                  <a:srgbClr val="FFFFFF"/>
                </a:solidFill>
                <a:latin typeface="Times New Roman"/>
                <a:cs typeface="Times New Roman"/>
              </a:rPr>
              <a:t>a</a:t>
            </a:r>
            <a:r>
              <a:rPr sz="2200" spc="90" dirty="0">
                <a:solidFill>
                  <a:srgbClr val="FFFFFF"/>
                </a:solidFill>
                <a:latin typeface="Times New Roman"/>
                <a:cs typeface="Times New Roman"/>
              </a:rPr>
              <a:t>ta</a:t>
            </a:r>
            <a:r>
              <a:rPr sz="2200" dirty="0">
                <a:solidFill>
                  <a:srgbClr val="FFFFFF"/>
                </a:solidFill>
                <a:latin typeface="Times New Roman"/>
                <a:cs typeface="Times New Roman"/>
              </a:rPr>
              <a:t>	</a:t>
            </a:r>
            <a:r>
              <a:rPr sz="2200" spc="70" dirty="0">
                <a:solidFill>
                  <a:srgbClr val="FFFFFF"/>
                </a:solidFill>
                <a:latin typeface="Times New Roman"/>
                <a:cs typeface="Times New Roman"/>
              </a:rPr>
              <a:t>for</a:t>
            </a:r>
            <a:r>
              <a:rPr sz="2200" dirty="0">
                <a:solidFill>
                  <a:srgbClr val="FFFFFF"/>
                </a:solidFill>
                <a:latin typeface="Times New Roman"/>
                <a:cs typeface="Times New Roman"/>
              </a:rPr>
              <a:t>	</a:t>
            </a:r>
            <a:r>
              <a:rPr sz="2200" spc="70" dirty="0">
                <a:solidFill>
                  <a:srgbClr val="FFFFFF"/>
                </a:solidFill>
                <a:latin typeface="Times New Roman"/>
                <a:cs typeface="Times New Roman"/>
              </a:rPr>
              <a:t>us</a:t>
            </a:r>
            <a:r>
              <a:rPr sz="2200" spc="30" dirty="0">
                <a:solidFill>
                  <a:srgbClr val="FFFFFF"/>
                </a:solidFill>
                <a:latin typeface="Times New Roman"/>
                <a:cs typeface="Times New Roman"/>
              </a:rPr>
              <a:t>i</a:t>
            </a:r>
            <a:r>
              <a:rPr sz="2200" spc="85" dirty="0">
                <a:solidFill>
                  <a:srgbClr val="FFFFFF"/>
                </a:solidFill>
                <a:latin typeface="Times New Roman"/>
                <a:cs typeface="Times New Roman"/>
              </a:rPr>
              <a:t>ng</a:t>
            </a:r>
            <a:r>
              <a:rPr sz="2200" dirty="0">
                <a:solidFill>
                  <a:srgbClr val="FFFFFF"/>
                </a:solidFill>
                <a:latin typeface="Times New Roman"/>
                <a:cs typeface="Times New Roman"/>
              </a:rPr>
              <a:t>	</a:t>
            </a:r>
            <a:r>
              <a:rPr sz="2200" spc="20" dirty="0">
                <a:solidFill>
                  <a:srgbClr val="FFFFFF"/>
                </a:solidFill>
                <a:latin typeface="Times New Roman"/>
                <a:cs typeface="Times New Roman"/>
              </a:rPr>
              <a:t>as</a:t>
            </a:r>
            <a:r>
              <a:rPr sz="2200" dirty="0">
                <a:solidFill>
                  <a:srgbClr val="FFFFFF"/>
                </a:solidFill>
                <a:latin typeface="Times New Roman"/>
                <a:cs typeface="Times New Roman"/>
              </a:rPr>
              <a:t>	</a:t>
            </a:r>
            <a:r>
              <a:rPr sz="2200" spc="125" dirty="0">
                <a:solidFill>
                  <a:srgbClr val="FFFFFF"/>
                </a:solidFill>
                <a:latin typeface="Times New Roman"/>
                <a:cs typeface="Times New Roman"/>
              </a:rPr>
              <a:t>input</a:t>
            </a:r>
            <a:r>
              <a:rPr sz="2200" dirty="0">
                <a:solidFill>
                  <a:srgbClr val="FFFFFF"/>
                </a:solidFill>
                <a:latin typeface="Times New Roman"/>
                <a:cs typeface="Times New Roman"/>
              </a:rPr>
              <a:t>	</a:t>
            </a:r>
            <a:r>
              <a:rPr sz="2200" spc="70" dirty="0">
                <a:solidFill>
                  <a:srgbClr val="FFFFFF"/>
                </a:solidFill>
                <a:latin typeface="Times New Roman"/>
                <a:cs typeface="Times New Roman"/>
              </a:rPr>
              <a:t>i</a:t>
            </a:r>
            <a:r>
              <a:rPr sz="2200" spc="135" dirty="0">
                <a:solidFill>
                  <a:srgbClr val="FFFFFF"/>
                </a:solidFill>
                <a:latin typeface="Times New Roman"/>
                <a:cs typeface="Times New Roman"/>
              </a:rPr>
              <a:t>n</a:t>
            </a:r>
            <a:r>
              <a:rPr sz="2200" dirty="0">
                <a:solidFill>
                  <a:srgbClr val="FFFFFF"/>
                </a:solidFill>
                <a:latin typeface="Times New Roman"/>
                <a:cs typeface="Times New Roman"/>
              </a:rPr>
              <a:t>	</a:t>
            </a:r>
            <a:r>
              <a:rPr sz="2200" spc="25" dirty="0">
                <a:solidFill>
                  <a:srgbClr val="FFFFFF"/>
                </a:solidFill>
                <a:latin typeface="Times New Roman"/>
                <a:cs typeface="Times New Roman"/>
              </a:rPr>
              <a:t>a  </a:t>
            </a:r>
            <a:r>
              <a:rPr sz="2200" spc="90" dirty="0">
                <a:solidFill>
                  <a:srgbClr val="FFFFFF"/>
                </a:solidFill>
                <a:latin typeface="Times New Roman"/>
                <a:cs typeface="Times New Roman"/>
              </a:rPr>
              <a:t>Transact-SQL</a:t>
            </a:r>
            <a:r>
              <a:rPr sz="2200" spc="-105" dirty="0">
                <a:solidFill>
                  <a:srgbClr val="FFFFFF"/>
                </a:solidFill>
                <a:latin typeface="Times New Roman"/>
                <a:cs typeface="Times New Roman"/>
              </a:rPr>
              <a:t> </a:t>
            </a:r>
            <a:r>
              <a:rPr sz="2200" spc="85" dirty="0">
                <a:solidFill>
                  <a:srgbClr val="FFFFFF"/>
                </a:solidFill>
                <a:latin typeface="Times New Roman"/>
                <a:cs typeface="Times New Roman"/>
              </a:rPr>
              <a:t>statement.</a:t>
            </a:r>
            <a:endParaRPr sz="22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9</a:t>
            </a:fld>
            <a:endParaRPr sz="1200"/>
          </a:p>
        </p:txBody>
      </p:sp>
      <p:sp>
        <p:nvSpPr>
          <p:cNvPr id="8" name="object 8"/>
          <p:cNvSpPr txBox="1">
            <a:spLocks noGrp="1"/>
          </p:cNvSpPr>
          <p:nvPr>
            <p:ph type="ftr" sz="quarter" idx="5"/>
          </p:nvPr>
        </p:nvSpPr>
        <p:spPr>
          <a:xfrm>
            <a:off x="78738" y="6596379"/>
            <a:ext cx="10642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object 5"/>
          <p:cNvSpPr txBox="1"/>
          <p:nvPr/>
        </p:nvSpPr>
        <p:spPr>
          <a:xfrm>
            <a:off x="586740" y="2412238"/>
            <a:ext cx="8372475" cy="1441450"/>
          </a:xfrm>
          <a:prstGeom prst="rect">
            <a:avLst/>
          </a:prstGeom>
        </p:spPr>
        <p:txBody>
          <a:bodyPr vert="horz" wrap="square" lIns="0" tIns="12065" rIns="0" bIns="0" rtlCol="0">
            <a:spAutoFit/>
          </a:bodyPr>
          <a:lstStyle/>
          <a:p>
            <a:pPr marL="12700">
              <a:lnSpc>
                <a:spcPct val="100000"/>
              </a:lnSpc>
              <a:spcBef>
                <a:spcPts val="95"/>
              </a:spcBef>
            </a:pPr>
            <a:r>
              <a:rPr sz="2000" spc="55" dirty="0">
                <a:latin typeface="Times New Roman"/>
                <a:cs typeface="Times New Roman"/>
              </a:rPr>
              <a:t>For</a:t>
            </a:r>
            <a:r>
              <a:rPr sz="2000" spc="-70" dirty="0">
                <a:latin typeface="Times New Roman"/>
                <a:cs typeface="Times New Roman"/>
              </a:rPr>
              <a:t> </a:t>
            </a:r>
            <a:r>
              <a:rPr sz="2000" spc="50" dirty="0">
                <a:latin typeface="Times New Roman"/>
                <a:cs typeface="Times New Roman"/>
              </a:rPr>
              <a:t>example,</a:t>
            </a:r>
            <a:endParaRPr sz="2000">
              <a:latin typeface="Times New Roman"/>
              <a:cs typeface="Times New Roman"/>
            </a:endParaRPr>
          </a:p>
          <a:p>
            <a:pPr marL="547370" marR="5080" indent="-342900">
              <a:lnSpc>
                <a:spcPts val="2160"/>
              </a:lnSpc>
              <a:spcBef>
                <a:spcPts val="2300"/>
              </a:spcBef>
              <a:buFont typeface="Wingdings"/>
              <a:buChar char=""/>
              <a:tabLst>
                <a:tab pos="547370" algn="l"/>
                <a:tab pos="548005" algn="l"/>
              </a:tabLst>
            </a:pPr>
            <a:r>
              <a:rPr sz="2000" spc="65" dirty="0">
                <a:latin typeface="Times New Roman"/>
                <a:cs typeface="Times New Roman"/>
              </a:rPr>
              <a:t>Users </a:t>
            </a:r>
            <a:r>
              <a:rPr sz="2000" spc="75" dirty="0">
                <a:latin typeface="Times New Roman"/>
                <a:cs typeface="Times New Roman"/>
              </a:rPr>
              <a:t>can </a:t>
            </a:r>
            <a:r>
              <a:rPr sz="2000" spc="55" dirty="0">
                <a:latin typeface="Times New Roman"/>
                <a:cs typeface="Times New Roman"/>
              </a:rPr>
              <a:t>create </a:t>
            </a:r>
            <a:r>
              <a:rPr sz="2000" spc="30" dirty="0">
                <a:latin typeface="Times New Roman"/>
                <a:cs typeface="Times New Roman"/>
              </a:rPr>
              <a:t>a </a:t>
            </a:r>
            <a:r>
              <a:rPr sz="2000" spc="75" dirty="0">
                <a:latin typeface="Times New Roman"/>
                <a:cs typeface="Times New Roman"/>
              </a:rPr>
              <a:t>query </a:t>
            </a:r>
            <a:r>
              <a:rPr sz="2000" spc="114" dirty="0">
                <a:latin typeface="Times New Roman"/>
                <a:cs typeface="Times New Roman"/>
              </a:rPr>
              <a:t>that </a:t>
            </a:r>
            <a:r>
              <a:rPr sz="2000" spc="65" dirty="0">
                <a:latin typeface="Times New Roman"/>
                <a:cs typeface="Times New Roman"/>
              </a:rPr>
              <a:t>requires </a:t>
            </a:r>
            <a:r>
              <a:rPr sz="2000" spc="60" dirty="0">
                <a:latin typeface="Times New Roman"/>
                <a:cs typeface="Times New Roman"/>
              </a:rPr>
              <a:t>various </a:t>
            </a:r>
            <a:r>
              <a:rPr sz="2000" spc="55" dirty="0">
                <a:latin typeface="Times New Roman"/>
                <a:cs typeface="Times New Roman"/>
              </a:rPr>
              <a:t>types of </a:t>
            </a:r>
            <a:r>
              <a:rPr sz="2000" spc="80" dirty="0">
                <a:latin typeface="Times New Roman"/>
                <a:cs typeface="Times New Roman"/>
              </a:rPr>
              <a:t>data </a:t>
            </a:r>
            <a:r>
              <a:rPr sz="2000" spc="45" dirty="0">
                <a:latin typeface="Times New Roman"/>
                <a:cs typeface="Times New Roman"/>
              </a:rPr>
              <a:t>values  </a:t>
            </a:r>
            <a:r>
              <a:rPr sz="2000" spc="40" dirty="0">
                <a:latin typeface="Times New Roman"/>
                <a:cs typeface="Times New Roman"/>
              </a:rPr>
              <a:t>specified</a:t>
            </a:r>
            <a:r>
              <a:rPr sz="2000" spc="-85" dirty="0">
                <a:latin typeface="Times New Roman"/>
                <a:cs typeface="Times New Roman"/>
              </a:rPr>
              <a:t> </a:t>
            </a:r>
            <a:r>
              <a:rPr sz="2000" spc="95" dirty="0">
                <a:latin typeface="Times New Roman"/>
                <a:cs typeface="Times New Roman"/>
              </a:rPr>
              <a:t>in</a:t>
            </a:r>
            <a:r>
              <a:rPr sz="2000" spc="-80" dirty="0">
                <a:latin typeface="Times New Roman"/>
                <a:cs typeface="Times New Roman"/>
              </a:rPr>
              <a:t> </a:t>
            </a:r>
            <a:r>
              <a:rPr sz="2000" spc="105" dirty="0">
                <a:latin typeface="Times New Roman"/>
                <a:cs typeface="Times New Roman"/>
              </a:rPr>
              <a:t>WHERE</a:t>
            </a:r>
            <a:r>
              <a:rPr sz="2000" spc="-50" dirty="0">
                <a:latin typeface="Times New Roman"/>
                <a:cs typeface="Times New Roman"/>
              </a:rPr>
              <a:t> </a:t>
            </a:r>
            <a:r>
              <a:rPr sz="2000" spc="40" dirty="0">
                <a:latin typeface="Times New Roman"/>
                <a:cs typeface="Times New Roman"/>
              </a:rPr>
              <a:t>clause</a:t>
            </a:r>
            <a:r>
              <a:rPr sz="2000" spc="-60" dirty="0">
                <a:latin typeface="Times New Roman"/>
                <a:cs typeface="Times New Roman"/>
              </a:rPr>
              <a:t> </a:t>
            </a:r>
            <a:r>
              <a:rPr sz="2000" spc="65" dirty="0">
                <a:latin typeface="Times New Roman"/>
                <a:cs typeface="Times New Roman"/>
              </a:rPr>
              <a:t>each</a:t>
            </a:r>
            <a:r>
              <a:rPr sz="2000" spc="-70" dirty="0">
                <a:latin typeface="Times New Roman"/>
                <a:cs typeface="Times New Roman"/>
              </a:rPr>
              <a:t> </a:t>
            </a:r>
            <a:r>
              <a:rPr sz="2000" spc="65" dirty="0">
                <a:latin typeface="Times New Roman"/>
                <a:cs typeface="Times New Roman"/>
              </a:rPr>
              <a:t>time</a:t>
            </a:r>
            <a:r>
              <a:rPr sz="2000" spc="-70" dirty="0">
                <a:latin typeface="Times New Roman"/>
                <a:cs typeface="Times New Roman"/>
              </a:rPr>
              <a:t> </a:t>
            </a:r>
            <a:r>
              <a:rPr sz="2000" spc="110" dirty="0">
                <a:latin typeface="Times New Roman"/>
                <a:cs typeface="Times New Roman"/>
              </a:rPr>
              <a:t>the</a:t>
            </a:r>
            <a:r>
              <a:rPr sz="2000" spc="-70" dirty="0">
                <a:latin typeface="Times New Roman"/>
                <a:cs typeface="Times New Roman"/>
              </a:rPr>
              <a:t> </a:t>
            </a:r>
            <a:r>
              <a:rPr sz="2000" spc="75" dirty="0">
                <a:latin typeface="Times New Roman"/>
                <a:cs typeface="Times New Roman"/>
              </a:rPr>
              <a:t>query</a:t>
            </a:r>
            <a:r>
              <a:rPr sz="2000" spc="-65" dirty="0">
                <a:latin typeface="Times New Roman"/>
                <a:cs typeface="Times New Roman"/>
              </a:rPr>
              <a:t> </a:t>
            </a:r>
            <a:r>
              <a:rPr sz="2000" spc="5" dirty="0">
                <a:latin typeface="Times New Roman"/>
                <a:cs typeface="Times New Roman"/>
              </a:rPr>
              <a:t>is</a:t>
            </a:r>
            <a:r>
              <a:rPr sz="2000" spc="-80" dirty="0">
                <a:latin typeface="Times New Roman"/>
                <a:cs typeface="Times New Roman"/>
              </a:rPr>
              <a:t> </a:t>
            </a:r>
            <a:r>
              <a:rPr sz="2000" spc="70" dirty="0">
                <a:latin typeface="Times New Roman"/>
                <a:cs typeface="Times New Roman"/>
              </a:rPr>
              <a:t>executed.</a:t>
            </a:r>
            <a:endParaRPr sz="2000">
              <a:latin typeface="Times New Roman"/>
              <a:cs typeface="Times New Roman"/>
            </a:endParaRPr>
          </a:p>
          <a:p>
            <a:pPr marL="547370" indent="-343535">
              <a:lnSpc>
                <a:spcPts val="2130"/>
              </a:lnSpc>
              <a:buFont typeface="Wingdings"/>
              <a:buChar char=""/>
              <a:tabLst>
                <a:tab pos="547370" algn="l"/>
                <a:tab pos="548005" algn="l"/>
              </a:tabLst>
            </a:pPr>
            <a:r>
              <a:rPr sz="2000" spc="60" dirty="0">
                <a:latin typeface="Times New Roman"/>
                <a:cs typeface="Times New Roman"/>
              </a:rPr>
              <a:t>Here,</a:t>
            </a:r>
            <a:r>
              <a:rPr sz="2000" spc="-55" dirty="0">
                <a:latin typeface="Times New Roman"/>
                <a:cs typeface="Times New Roman"/>
              </a:rPr>
              <a:t> </a:t>
            </a:r>
            <a:r>
              <a:rPr sz="2000" spc="110" dirty="0">
                <a:latin typeface="Times New Roman"/>
                <a:cs typeface="Times New Roman"/>
              </a:rPr>
              <a:t>the</a:t>
            </a:r>
            <a:r>
              <a:rPr sz="2000" spc="-55" dirty="0">
                <a:latin typeface="Times New Roman"/>
                <a:cs typeface="Times New Roman"/>
              </a:rPr>
              <a:t> </a:t>
            </a:r>
            <a:r>
              <a:rPr sz="2000" spc="55" dirty="0">
                <a:latin typeface="Times New Roman"/>
                <a:cs typeface="Times New Roman"/>
              </a:rPr>
              <a:t>users</a:t>
            </a:r>
            <a:r>
              <a:rPr sz="2000" spc="-70" dirty="0">
                <a:latin typeface="Times New Roman"/>
                <a:cs typeface="Times New Roman"/>
              </a:rPr>
              <a:t> </a:t>
            </a:r>
            <a:r>
              <a:rPr sz="2000" spc="75" dirty="0">
                <a:latin typeface="Times New Roman"/>
                <a:cs typeface="Times New Roman"/>
              </a:rPr>
              <a:t>can</a:t>
            </a:r>
            <a:r>
              <a:rPr sz="2000" spc="-70" dirty="0">
                <a:latin typeface="Times New Roman"/>
                <a:cs typeface="Times New Roman"/>
              </a:rPr>
              <a:t> </a:t>
            </a:r>
            <a:r>
              <a:rPr sz="2000" spc="60" dirty="0">
                <a:latin typeface="Times New Roman"/>
                <a:cs typeface="Times New Roman"/>
              </a:rPr>
              <a:t>write</a:t>
            </a:r>
            <a:r>
              <a:rPr sz="2000" spc="-70" dirty="0">
                <a:latin typeface="Times New Roman"/>
                <a:cs typeface="Times New Roman"/>
              </a:rPr>
              <a:t> </a:t>
            </a:r>
            <a:r>
              <a:rPr sz="2000" spc="15" dirty="0">
                <a:latin typeface="Times New Roman"/>
                <a:cs typeface="Times New Roman"/>
              </a:rPr>
              <a:t>logic</a:t>
            </a:r>
            <a:r>
              <a:rPr sz="2000" spc="-65" dirty="0">
                <a:latin typeface="Times New Roman"/>
                <a:cs typeface="Times New Roman"/>
              </a:rPr>
              <a:t> </a:t>
            </a:r>
            <a:r>
              <a:rPr sz="2000" spc="110" dirty="0">
                <a:latin typeface="Times New Roman"/>
                <a:cs typeface="Times New Roman"/>
              </a:rPr>
              <a:t>to</a:t>
            </a:r>
            <a:r>
              <a:rPr sz="2000" spc="-65" dirty="0">
                <a:latin typeface="Times New Roman"/>
                <a:cs typeface="Times New Roman"/>
              </a:rPr>
              <a:t> </a:t>
            </a:r>
            <a:r>
              <a:rPr sz="2000" spc="70" dirty="0">
                <a:latin typeface="Times New Roman"/>
                <a:cs typeface="Times New Roman"/>
              </a:rPr>
              <a:t>store</a:t>
            </a:r>
            <a:r>
              <a:rPr sz="2000" spc="-50" dirty="0">
                <a:latin typeface="Times New Roman"/>
                <a:cs typeface="Times New Roman"/>
              </a:rPr>
              <a:t> </a:t>
            </a:r>
            <a:r>
              <a:rPr sz="2000" spc="35" dirty="0">
                <a:latin typeface="Times New Roman"/>
                <a:cs typeface="Times New Roman"/>
              </a:rPr>
              <a:t>variables</a:t>
            </a:r>
            <a:r>
              <a:rPr sz="2000" spc="-50" dirty="0">
                <a:latin typeface="Times New Roman"/>
                <a:cs typeface="Times New Roman"/>
              </a:rPr>
              <a:t> </a:t>
            </a:r>
            <a:r>
              <a:rPr sz="2000" spc="90" dirty="0">
                <a:latin typeface="Times New Roman"/>
                <a:cs typeface="Times New Roman"/>
              </a:rPr>
              <a:t>with</a:t>
            </a:r>
            <a:r>
              <a:rPr sz="2000" spc="-70" dirty="0">
                <a:latin typeface="Times New Roman"/>
                <a:cs typeface="Times New Roman"/>
              </a:rPr>
              <a:t> </a:t>
            </a:r>
            <a:r>
              <a:rPr sz="2000" spc="75" dirty="0">
                <a:latin typeface="Times New Roman"/>
                <a:cs typeface="Times New Roman"/>
              </a:rPr>
              <a:t>appropriate</a:t>
            </a:r>
            <a:r>
              <a:rPr sz="2000" spc="-50" dirty="0">
                <a:latin typeface="Times New Roman"/>
                <a:cs typeface="Times New Roman"/>
              </a:rPr>
              <a:t> </a:t>
            </a:r>
            <a:r>
              <a:rPr sz="2000" spc="65" dirty="0">
                <a:latin typeface="Times New Roman"/>
                <a:cs typeface="Times New Roman"/>
              </a:rPr>
              <a:t>data.</a:t>
            </a:r>
            <a:endParaRPr sz="20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857755"/>
            <a:ext cx="4291965" cy="3495675"/>
          </a:xfrm>
          <a:custGeom>
            <a:avLst/>
            <a:gdLst/>
            <a:ahLst/>
            <a:cxnLst/>
            <a:rect l="l" t="t" r="r" b="b"/>
            <a:pathLst>
              <a:path w="4291965" h="3495675">
                <a:moveTo>
                  <a:pt x="4291584" y="582549"/>
                </a:moveTo>
                <a:lnTo>
                  <a:pt x="4289641" y="534784"/>
                </a:lnTo>
                <a:lnTo>
                  <a:pt x="4283951" y="488073"/>
                </a:lnTo>
                <a:lnTo>
                  <a:pt x="4274642" y="442569"/>
                </a:lnTo>
                <a:lnTo>
                  <a:pt x="4261878" y="398437"/>
                </a:lnTo>
                <a:lnTo>
                  <a:pt x="4245788" y="355815"/>
                </a:lnTo>
                <a:lnTo>
                  <a:pt x="4226547" y="314858"/>
                </a:lnTo>
                <a:lnTo>
                  <a:pt x="4204284" y="275717"/>
                </a:lnTo>
                <a:lnTo>
                  <a:pt x="4179163" y="238531"/>
                </a:lnTo>
                <a:lnTo>
                  <a:pt x="4151338" y="203454"/>
                </a:lnTo>
                <a:lnTo>
                  <a:pt x="4120934" y="170649"/>
                </a:lnTo>
                <a:lnTo>
                  <a:pt x="4088130" y="140246"/>
                </a:lnTo>
                <a:lnTo>
                  <a:pt x="4053052" y="112420"/>
                </a:lnTo>
                <a:lnTo>
                  <a:pt x="4015867" y="87299"/>
                </a:lnTo>
                <a:lnTo>
                  <a:pt x="3976725" y="65036"/>
                </a:lnTo>
                <a:lnTo>
                  <a:pt x="3935768" y="45796"/>
                </a:lnTo>
                <a:lnTo>
                  <a:pt x="3893147" y="29705"/>
                </a:lnTo>
                <a:lnTo>
                  <a:pt x="3849014" y="16941"/>
                </a:lnTo>
                <a:lnTo>
                  <a:pt x="3803510" y="7632"/>
                </a:lnTo>
                <a:lnTo>
                  <a:pt x="3756799" y="1943"/>
                </a:lnTo>
                <a:lnTo>
                  <a:pt x="3709035" y="0"/>
                </a:lnTo>
                <a:lnTo>
                  <a:pt x="582561" y="0"/>
                </a:lnTo>
                <a:lnTo>
                  <a:pt x="534771" y="1943"/>
                </a:lnTo>
                <a:lnTo>
                  <a:pt x="488061" y="7632"/>
                </a:lnTo>
                <a:lnTo>
                  <a:pt x="442556" y="16941"/>
                </a:lnTo>
                <a:lnTo>
                  <a:pt x="398424" y="29705"/>
                </a:lnTo>
                <a:lnTo>
                  <a:pt x="355790" y="45796"/>
                </a:lnTo>
                <a:lnTo>
                  <a:pt x="314833" y="65036"/>
                </a:lnTo>
                <a:lnTo>
                  <a:pt x="275691" y="87299"/>
                </a:lnTo>
                <a:lnTo>
                  <a:pt x="238506" y="112420"/>
                </a:lnTo>
                <a:lnTo>
                  <a:pt x="203428" y="140246"/>
                </a:lnTo>
                <a:lnTo>
                  <a:pt x="170624" y="170649"/>
                </a:lnTo>
                <a:lnTo>
                  <a:pt x="140220" y="203454"/>
                </a:lnTo>
                <a:lnTo>
                  <a:pt x="112395" y="238531"/>
                </a:lnTo>
                <a:lnTo>
                  <a:pt x="87274" y="275717"/>
                </a:lnTo>
                <a:lnTo>
                  <a:pt x="65024" y="314858"/>
                </a:lnTo>
                <a:lnTo>
                  <a:pt x="45770" y="355815"/>
                </a:lnTo>
                <a:lnTo>
                  <a:pt x="29692" y="398437"/>
                </a:lnTo>
                <a:lnTo>
                  <a:pt x="16929" y="442569"/>
                </a:lnTo>
                <a:lnTo>
                  <a:pt x="7620" y="488073"/>
                </a:lnTo>
                <a:lnTo>
                  <a:pt x="1930" y="534784"/>
                </a:lnTo>
                <a:lnTo>
                  <a:pt x="0" y="582549"/>
                </a:lnTo>
                <a:lnTo>
                  <a:pt x="0" y="2912745"/>
                </a:lnTo>
                <a:lnTo>
                  <a:pt x="1930" y="2960522"/>
                </a:lnTo>
                <a:lnTo>
                  <a:pt x="7620" y="3007233"/>
                </a:lnTo>
                <a:lnTo>
                  <a:pt x="16929" y="3052737"/>
                </a:lnTo>
                <a:lnTo>
                  <a:pt x="29692" y="3096869"/>
                </a:lnTo>
                <a:lnTo>
                  <a:pt x="45770" y="3139490"/>
                </a:lnTo>
                <a:lnTo>
                  <a:pt x="65024" y="3180448"/>
                </a:lnTo>
                <a:lnTo>
                  <a:pt x="87274" y="3219589"/>
                </a:lnTo>
                <a:lnTo>
                  <a:pt x="112395" y="3256775"/>
                </a:lnTo>
                <a:lnTo>
                  <a:pt x="140220" y="3291852"/>
                </a:lnTo>
                <a:lnTo>
                  <a:pt x="170624" y="3324656"/>
                </a:lnTo>
                <a:lnTo>
                  <a:pt x="203428" y="3355060"/>
                </a:lnTo>
                <a:lnTo>
                  <a:pt x="238506" y="3382886"/>
                </a:lnTo>
                <a:lnTo>
                  <a:pt x="275691" y="3408007"/>
                </a:lnTo>
                <a:lnTo>
                  <a:pt x="314833" y="3430270"/>
                </a:lnTo>
                <a:lnTo>
                  <a:pt x="355790" y="3449510"/>
                </a:lnTo>
                <a:lnTo>
                  <a:pt x="398424" y="3465601"/>
                </a:lnTo>
                <a:lnTo>
                  <a:pt x="442556" y="3478365"/>
                </a:lnTo>
                <a:lnTo>
                  <a:pt x="488061" y="3487674"/>
                </a:lnTo>
                <a:lnTo>
                  <a:pt x="534771" y="3493363"/>
                </a:lnTo>
                <a:lnTo>
                  <a:pt x="582561" y="3495294"/>
                </a:lnTo>
                <a:lnTo>
                  <a:pt x="3709035" y="3495294"/>
                </a:lnTo>
                <a:lnTo>
                  <a:pt x="3756799" y="3493363"/>
                </a:lnTo>
                <a:lnTo>
                  <a:pt x="3803510" y="3487674"/>
                </a:lnTo>
                <a:lnTo>
                  <a:pt x="3849014" y="3478365"/>
                </a:lnTo>
                <a:lnTo>
                  <a:pt x="3893147" y="3465601"/>
                </a:lnTo>
                <a:lnTo>
                  <a:pt x="3935768" y="3449510"/>
                </a:lnTo>
                <a:lnTo>
                  <a:pt x="3976725" y="3430270"/>
                </a:lnTo>
                <a:lnTo>
                  <a:pt x="4015867" y="3408007"/>
                </a:lnTo>
                <a:lnTo>
                  <a:pt x="4053052" y="3382886"/>
                </a:lnTo>
                <a:lnTo>
                  <a:pt x="4088130" y="3355060"/>
                </a:lnTo>
                <a:lnTo>
                  <a:pt x="4120934" y="3324656"/>
                </a:lnTo>
                <a:lnTo>
                  <a:pt x="4151338" y="3291852"/>
                </a:lnTo>
                <a:lnTo>
                  <a:pt x="4179163" y="3256775"/>
                </a:lnTo>
                <a:lnTo>
                  <a:pt x="4204284" y="3219589"/>
                </a:lnTo>
                <a:lnTo>
                  <a:pt x="4226547" y="3180448"/>
                </a:lnTo>
                <a:lnTo>
                  <a:pt x="4245788" y="3139490"/>
                </a:lnTo>
                <a:lnTo>
                  <a:pt x="4261878" y="3096869"/>
                </a:lnTo>
                <a:lnTo>
                  <a:pt x="4274642" y="3052737"/>
                </a:lnTo>
                <a:lnTo>
                  <a:pt x="4283951" y="3007233"/>
                </a:lnTo>
                <a:lnTo>
                  <a:pt x="4289641" y="2960522"/>
                </a:lnTo>
                <a:lnTo>
                  <a:pt x="4291584" y="2912745"/>
                </a:lnTo>
                <a:lnTo>
                  <a:pt x="4291584" y="582549"/>
                </a:lnTo>
                <a:close/>
              </a:path>
            </a:pathLst>
          </a:custGeom>
          <a:solidFill>
            <a:srgbClr val="8063A1"/>
          </a:solidFill>
        </p:spPr>
        <p:txBody>
          <a:bodyPr wrap="square" lIns="0" tIns="0" rIns="0" bIns="0" rtlCol="0"/>
          <a:lstStyle/>
          <a:p>
            <a:endParaRPr/>
          </a:p>
        </p:txBody>
      </p:sp>
      <p:sp>
        <p:nvSpPr>
          <p:cNvPr id="3" name="object 3"/>
          <p:cNvSpPr txBox="1"/>
          <p:nvPr/>
        </p:nvSpPr>
        <p:spPr>
          <a:xfrm>
            <a:off x="239013" y="2093213"/>
            <a:ext cx="3813810" cy="2799080"/>
          </a:xfrm>
          <a:prstGeom prst="rect">
            <a:avLst/>
          </a:prstGeom>
        </p:spPr>
        <p:txBody>
          <a:bodyPr vert="horz" wrap="square" lIns="0" tIns="46990" rIns="0" bIns="0" rtlCol="0">
            <a:spAutoFit/>
          </a:bodyPr>
          <a:lstStyle/>
          <a:p>
            <a:pPr marL="355600" marR="6350" indent="-342900" algn="just">
              <a:lnSpc>
                <a:spcPts val="2160"/>
              </a:lnSpc>
              <a:spcBef>
                <a:spcPts val="370"/>
              </a:spcBef>
              <a:buFont typeface="Wingdings"/>
              <a:buChar char=""/>
              <a:tabLst>
                <a:tab pos="355600" algn="l"/>
              </a:tabLst>
            </a:pPr>
            <a:r>
              <a:rPr sz="2000" spc="50" dirty="0">
                <a:solidFill>
                  <a:srgbClr val="FFFFFF"/>
                </a:solidFill>
                <a:latin typeface="Times New Roman"/>
                <a:cs typeface="Times New Roman"/>
              </a:rPr>
              <a:t>Variables </a:t>
            </a:r>
            <a:r>
              <a:rPr sz="2000" spc="55" dirty="0">
                <a:solidFill>
                  <a:srgbClr val="FFFFFF"/>
                </a:solidFill>
                <a:latin typeface="Times New Roman"/>
                <a:cs typeface="Times New Roman"/>
              </a:rPr>
              <a:t>are </a:t>
            </a:r>
            <a:r>
              <a:rPr sz="2000" spc="60" dirty="0">
                <a:solidFill>
                  <a:srgbClr val="FFFFFF"/>
                </a:solidFill>
                <a:latin typeface="Times New Roman"/>
                <a:cs typeface="Times New Roman"/>
              </a:rPr>
              <a:t>declared </a:t>
            </a:r>
            <a:r>
              <a:rPr sz="2000" spc="90" dirty="0">
                <a:solidFill>
                  <a:srgbClr val="FFFFFF"/>
                </a:solidFill>
                <a:latin typeface="Times New Roman"/>
                <a:cs typeface="Times New Roman"/>
              </a:rPr>
              <a:t>with </a:t>
            </a:r>
            <a:r>
              <a:rPr sz="2000" spc="110" dirty="0">
                <a:solidFill>
                  <a:srgbClr val="FFFFFF"/>
                </a:solidFill>
                <a:latin typeface="Times New Roman"/>
                <a:cs typeface="Times New Roman"/>
              </a:rPr>
              <a:t>the  </a:t>
            </a:r>
            <a:r>
              <a:rPr sz="2000" spc="90" dirty="0">
                <a:solidFill>
                  <a:srgbClr val="FFFFFF"/>
                </a:solidFill>
                <a:latin typeface="Times New Roman"/>
                <a:cs typeface="Times New Roman"/>
              </a:rPr>
              <a:t>DECLARE </a:t>
            </a:r>
            <a:r>
              <a:rPr sz="2000" spc="85" dirty="0">
                <a:solidFill>
                  <a:srgbClr val="FFFFFF"/>
                </a:solidFill>
                <a:latin typeface="Times New Roman"/>
                <a:cs typeface="Times New Roman"/>
              </a:rPr>
              <a:t>statement </a:t>
            </a:r>
            <a:r>
              <a:rPr sz="2000" spc="95" dirty="0">
                <a:solidFill>
                  <a:srgbClr val="FFFFFF"/>
                </a:solidFill>
                <a:latin typeface="Times New Roman"/>
                <a:cs typeface="Times New Roman"/>
              </a:rPr>
              <a:t>in </a:t>
            </a:r>
            <a:r>
              <a:rPr sz="2000" spc="110" dirty="0">
                <a:solidFill>
                  <a:srgbClr val="FFFFFF"/>
                </a:solidFill>
                <a:latin typeface="Times New Roman"/>
                <a:cs typeface="Times New Roman"/>
              </a:rPr>
              <a:t>the  </a:t>
            </a:r>
            <a:r>
              <a:rPr sz="2000" spc="70" dirty="0">
                <a:solidFill>
                  <a:srgbClr val="FFFFFF"/>
                </a:solidFill>
                <a:latin typeface="Times New Roman"/>
                <a:cs typeface="Times New Roman"/>
              </a:rPr>
              <a:t>body </a:t>
            </a:r>
            <a:r>
              <a:rPr sz="2000" spc="55" dirty="0">
                <a:solidFill>
                  <a:srgbClr val="FFFFFF"/>
                </a:solidFill>
                <a:latin typeface="Times New Roman"/>
                <a:cs typeface="Times New Roman"/>
              </a:rPr>
              <a:t>of </a:t>
            </a:r>
            <a:r>
              <a:rPr sz="2000" spc="30" dirty="0">
                <a:solidFill>
                  <a:srgbClr val="FFFFFF"/>
                </a:solidFill>
                <a:latin typeface="Times New Roman"/>
                <a:cs typeface="Times New Roman"/>
              </a:rPr>
              <a:t>a</a:t>
            </a:r>
            <a:r>
              <a:rPr sz="2000" spc="-335" dirty="0">
                <a:solidFill>
                  <a:srgbClr val="FFFFFF"/>
                </a:solidFill>
                <a:latin typeface="Times New Roman"/>
                <a:cs typeface="Times New Roman"/>
              </a:rPr>
              <a:t> </a:t>
            </a:r>
            <a:r>
              <a:rPr sz="2000" spc="70" dirty="0">
                <a:solidFill>
                  <a:srgbClr val="FFFFFF"/>
                </a:solidFill>
                <a:latin typeface="Times New Roman"/>
                <a:cs typeface="Times New Roman"/>
              </a:rPr>
              <a:t>batch.</a:t>
            </a:r>
            <a:endParaRPr sz="2000">
              <a:latin typeface="Times New Roman"/>
              <a:cs typeface="Times New Roman"/>
            </a:endParaRPr>
          </a:p>
          <a:p>
            <a:pPr marL="355600" marR="5080" indent="-342900" algn="just">
              <a:lnSpc>
                <a:spcPts val="2160"/>
              </a:lnSpc>
              <a:buFont typeface="Wingdings"/>
              <a:buChar char=""/>
              <a:tabLst>
                <a:tab pos="355600" algn="l"/>
              </a:tabLst>
            </a:pPr>
            <a:r>
              <a:rPr sz="2000" spc="90" dirty="0">
                <a:solidFill>
                  <a:srgbClr val="FFFFFF"/>
                </a:solidFill>
                <a:latin typeface="Times New Roman"/>
                <a:cs typeface="Times New Roman"/>
              </a:rPr>
              <a:t>These </a:t>
            </a:r>
            <a:r>
              <a:rPr sz="2000" spc="40" dirty="0">
                <a:solidFill>
                  <a:srgbClr val="FFFFFF"/>
                </a:solidFill>
                <a:latin typeface="Times New Roman"/>
                <a:cs typeface="Times New Roman"/>
              </a:rPr>
              <a:t>variables </a:t>
            </a:r>
            <a:r>
              <a:rPr sz="2000" spc="55" dirty="0">
                <a:solidFill>
                  <a:srgbClr val="FFFFFF"/>
                </a:solidFill>
                <a:latin typeface="Times New Roman"/>
                <a:cs typeface="Times New Roman"/>
              </a:rPr>
              <a:t>are </a:t>
            </a:r>
            <a:r>
              <a:rPr sz="2000" spc="45" dirty="0">
                <a:solidFill>
                  <a:srgbClr val="FFFFFF"/>
                </a:solidFill>
                <a:latin typeface="Times New Roman"/>
                <a:cs typeface="Times New Roman"/>
              </a:rPr>
              <a:t>assigned  values by </a:t>
            </a:r>
            <a:r>
              <a:rPr sz="2000" spc="65" dirty="0">
                <a:solidFill>
                  <a:srgbClr val="FFFFFF"/>
                </a:solidFill>
                <a:latin typeface="Times New Roman"/>
                <a:cs typeface="Times New Roman"/>
              </a:rPr>
              <a:t>using </a:t>
            </a:r>
            <a:r>
              <a:rPr sz="2000" spc="110" dirty="0">
                <a:solidFill>
                  <a:srgbClr val="FFFFFF"/>
                </a:solidFill>
                <a:latin typeface="Times New Roman"/>
                <a:cs typeface="Times New Roman"/>
              </a:rPr>
              <a:t>the </a:t>
            </a:r>
            <a:r>
              <a:rPr sz="2000" spc="80" dirty="0">
                <a:solidFill>
                  <a:srgbClr val="FFFFFF"/>
                </a:solidFill>
                <a:latin typeface="Times New Roman"/>
                <a:cs typeface="Times New Roman"/>
              </a:rPr>
              <a:t>SELECT</a:t>
            </a:r>
            <a:r>
              <a:rPr sz="2000" spc="-305" dirty="0">
                <a:solidFill>
                  <a:srgbClr val="FFFFFF"/>
                </a:solidFill>
                <a:latin typeface="Times New Roman"/>
                <a:cs typeface="Times New Roman"/>
              </a:rPr>
              <a:t> </a:t>
            </a:r>
            <a:r>
              <a:rPr sz="2000" spc="85" dirty="0">
                <a:solidFill>
                  <a:srgbClr val="FFFFFF"/>
                </a:solidFill>
                <a:latin typeface="Times New Roman"/>
                <a:cs typeface="Times New Roman"/>
              </a:rPr>
              <a:t>or  </a:t>
            </a:r>
            <a:r>
              <a:rPr sz="2000" spc="80" dirty="0">
                <a:solidFill>
                  <a:srgbClr val="FFFFFF"/>
                </a:solidFill>
                <a:latin typeface="Times New Roman"/>
                <a:cs typeface="Times New Roman"/>
              </a:rPr>
              <a:t>SET</a:t>
            </a:r>
            <a:r>
              <a:rPr sz="2000" spc="-85" dirty="0">
                <a:solidFill>
                  <a:srgbClr val="FFFFFF"/>
                </a:solidFill>
                <a:latin typeface="Times New Roman"/>
                <a:cs typeface="Times New Roman"/>
              </a:rPr>
              <a:t> </a:t>
            </a:r>
            <a:r>
              <a:rPr sz="2000" spc="75" dirty="0">
                <a:solidFill>
                  <a:srgbClr val="FFFFFF"/>
                </a:solidFill>
                <a:latin typeface="Times New Roman"/>
                <a:cs typeface="Times New Roman"/>
              </a:rPr>
              <a:t>statement.</a:t>
            </a:r>
            <a:endParaRPr sz="2000">
              <a:latin typeface="Times New Roman"/>
              <a:cs typeface="Times New Roman"/>
            </a:endParaRPr>
          </a:p>
          <a:p>
            <a:pPr marL="355600" marR="5080" indent="-342900" algn="just">
              <a:lnSpc>
                <a:spcPts val="2160"/>
              </a:lnSpc>
              <a:buFont typeface="Wingdings"/>
              <a:buChar char=""/>
              <a:tabLst>
                <a:tab pos="355600" algn="l"/>
              </a:tabLst>
            </a:pPr>
            <a:r>
              <a:rPr sz="2000" spc="130" dirty="0">
                <a:solidFill>
                  <a:srgbClr val="FFFFFF"/>
                </a:solidFill>
                <a:latin typeface="Times New Roman"/>
                <a:cs typeface="Times New Roman"/>
              </a:rPr>
              <a:t>The </a:t>
            </a:r>
            <a:r>
              <a:rPr sz="2000" spc="40" dirty="0">
                <a:solidFill>
                  <a:srgbClr val="FFFFFF"/>
                </a:solidFill>
                <a:latin typeface="Times New Roman"/>
                <a:cs typeface="Times New Roman"/>
              </a:rPr>
              <a:t>variables </a:t>
            </a:r>
            <a:r>
              <a:rPr sz="2000" spc="50" dirty="0">
                <a:solidFill>
                  <a:srgbClr val="FFFFFF"/>
                </a:solidFill>
                <a:latin typeface="Times New Roman"/>
                <a:cs typeface="Times New Roman"/>
              </a:rPr>
              <a:t>are </a:t>
            </a:r>
            <a:r>
              <a:rPr sz="2000" spc="35" dirty="0">
                <a:solidFill>
                  <a:srgbClr val="FFFFFF"/>
                </a:solidFill>
                <a:latin typeface="Times New Roman"/>
                <a:cs typeface="Times New Roman"/>
              </a:rPr>
              <a:t>initialized  </a:t>
            </a:r>
            <a:r>
              <a:rPr sz="2000" spc="90" dirty="0">
                <a:solidFill>
                  <a:srgbClr val="FFFFFF"/>
                </a:solidFill>
                <a:latin typeface="Times New Roman"/>
                <a:cs typeface="Times New Roman"/>
              </a:rPr>
              <a:t>with </a:t>
            </a:r>
            <a:r>
              <a:rPr sz="2000" spc="75" dirty="0">
                <a:solidFill>
                  <a:srgbClr val="FFFFFF"/>
                </a:solidFill>
                <a:latin typeface="Times New Roman"/>
                <a:cs typeface="Times New Roman"/>
              </a:rPr>
              <a:t>NULL </a:t>
            </a:r>
            <a:r>
              <a:rPr sz="2000" spc="45" dirty="0">
                <a:solidFill>
                  <a:srgbClr val="FFFFFF"/>
                </a:solidFill>
                <a:latin typeface="Times New Roman"/>
                <a:cs typeface="Times New Roman"/>
              </a:rPr>
              <a:t>values </a:t>
            </a:r>
            <a:r>
              <a:rPr sz="2000" spc="15" dirty="0">
                <a:solidFill>
                  <a:srgbClr val="FFFFFF"/>
                </a:solidFill>
                <a:latin typeface="Times New Roman"/>
                <a:cs typeface="Times New Roman"/>
              </a:rPr>
              <a:t>if </a:t>
            </a:r>
            <a:r>
              <a:rPr sz="2000" spc="110" dirty="0">
                <a:solidFill>
                  <a:srgbClr val="FFFFFF"/>
                </a:solidFill>
                <a:latin typeface="Times New Roman"/>
                <a:cs typeface="Times New Roman"/>
              </a:rPr>
              <a:t>the </a:t>
            </a:r>
            <a:r>
              <a:rPr sz="2000" spc="70" dirty="0">
                <a:solidFill>
                  <a:srgbClr val="FFFFFF"/>
                </a:solidFill>
                <a:latin typeface="Times New Roman"/>
                <a:cs typeface="Times New Roman"/>
              </a:rPr>
              <a:t>user  has </a:t>
            </a:r>
            <a:r>
              <a:rPr sz="2000" spc="135" dirty="0">
                <a:solidFill>
                  <a:srgbClr val="FFFFFF"/>
                </a:solidFill>
                <a:latin typeface="Times New Roman"/>
                <a:cs typeface="Times New Roman"/>
              </a:rPr>
              <a:t>not </a:t>
            </a:r>
            <a:r>
              <a:rPr sz="2000" spc="80" dirty="0">
                <a:solidFill>
                  <a:srgbClr val="FFFFFF"/>
                </a:solidFill>
                <a:latin typeface="Times New Roman"/>
                <a:cs typeface="Times New Roman"/>
              </a:rPr>
              <a:t>provided </a:t>
            </a:r>
            <a:r>
              <a:rPr sz="2000" spc="30" dirty="0">
                <a:solidFill>
                  <a:srgbClr val="FFFFFF"/>
                </a:solidFill>
                <a:latin typeface="Times New Roman"/>
                <a:cs typeface="Times New Roman"/>
              </a:rPr>
              <a:t>a </a:t>
            </a:r>
            <a:r>
              <a:rPr sz="2000" spc="55" dirty="0">
                <a:solidFill>
                  <a:srgbClr val="FFFFFF"/>
                </a:solidFill>
                <a:latin typeface="Times New Roman"/>
                <a:cs typeface="Times New Roman"/>
              </a:rPr>
              <a:t>value </a:t>
            </a:r>
            <a:r>
              <a:rPr sz="2000" spc="80" dirty="0">
                <a:solidFill>
                  <a:srgbClr val="FFFFFF"/>
                </a:solidFill>
                <a:latin typeface="Times New Roman"/>
                <a:cs typeface="Times New Roman"/>
              </a:rPr>
              <a:t>at </a:t>
            </a:r>
            <a:r>
              <a:rPr sz="2000" spc="114" dirty="0">
                <a:solidFill>
                  <a:srgbClr val="FFFFFF"/>
                </a:solidFill>
                <a:latin typeface="Times New Roman"/>
                <a:cs typeface="Times New Roman"/>
              </a:rPr>
              <a:t>the  </a:t>
            </a:r>
            <a:r>
              <a:rPr sz="2000" spc="65" dirty="0">
                <a:solidFill>
                  <a:srgbClr val="FFFFFF"/>
                </a:solidFill>
                <a:latin typeface="Times New Roman"/>
                <a:cs typeface="Times New Roman"/>
              </a:rPr>
              <a:t>time </a:t>
            </a:r>
            <a:r>
              <a:rPr sz="2000" spc="55" dirty="0">
                <a:solidFill>
                  <a:srgbClr val="FFFFFF"/>
                </a:solidFill>
                <a:latin typeface="Times New Roman"/>
                <a:cs typeface="Times New Roman"/>
              </a:rPr>
              <a:t>of </a:t>
            </a:r>
            <a:r>
              <a:rPr sz="2000" spc="110" dirty="0">
                <a:solidFill>
                  <a:srgbClr val="FFFFFF"/>
                </a:solidFill>
                <a:latin typeface="Times New Roman"/>
                <a:cs typeface="Times New Roman"/>
              </a:rPr>
              <a:t>the</a:t>
            </a:r>
            <a:r>
              <a:rPr sz="2000" spc="-330" dirty="0">
                <a:solidFill>
                  <a:srgbClr val="FFFFFF"/>
                </a:solidFill>
                <a:latin typeface="Times New Roman"/>
                <a:cs typeface="Times New Roman"/>
              </a:rPr>
              <a:t> </a:t>
            </a:r>
            <a:r>
              <a:rPr sz="2000" spc="60" dirty="0">
                <a:solidFill>
                  <a:srgbClr val="FFFFFF"/>
                </a:solidFill>
                <a:latin typeface="Times New Roman"/>
                <a:cs typeface="Times New Roman"/>
              </a:rPr>
              <a:t>declaration.</a:t>
            </a:r>
            <a:endParaRPr sz="2000">
              <a:latin typeface="Times New Roman"/>
              <a:cs typeface="Times New Roman"/>
            </a:endParaRPr>
          </a:p>
        </p:txBody>
      </p:sp>
      <p:sp>
        <p:nvSpPr>
          <p:cNvPr id="4" name="object 4"/>
          <p:cNvSpPr txBox="1"/>
          <p:nvPr/>
        </p:nvSpPr>
        <p:spPr>
          <a:xfrm>
            <a:off x="442976" y="971804"/>
            <a:ext cx="1388110" cy="361315"/>
          </a:xfrm>
          <a:prstGeom prst="rect">
            <a:avLst/>
          </a:prstGeom>
        </p:spPr>
        <p:txBody>
          <a:bodyPr vert="horz" wrap="square" lIns="0" tIns="12700" rIns="0" bIns="0" rtlCol="0">
            <a:spAutoFit/>
          </a:bodyPr>
          <a:lstStyle/>
          <a:p>
            <a:pPr marL="12700">
              <a:lnSpc>
                <a:spcPct val="100000"/>
              </a:lnSpc>
              <a:spcBef>
                <a:spcPts val="100"/>
              </a:spcBef>
            </a:pPr>
            <a:r>
              <a:rPr sz="2200" b="1" spc="125" dirty="0">
                <a:latin typeface="Arial"/>
                <a:cs typeface="Arial"/>
              </a:rPr>
              <a:t>D</a:t>
            </a:r>
            <a:r>
              <a:rPr sz="2200" b="1" spc="-165" dirty="0">
                <a:latin typeface="Arial"/>
                <a:cs typeface="Arial"/>
              </a:rPr>
              <a:t>E</a:t>
            </a:r>
            <a:r>
              <a:rPr sz="2200" b="1" spc="160" dirty="0">
                <a:latin typeface="Arial"/>
                <a:cs typeface="Arial"/>
              </a:rPr>
              <a:t>C</a:t>
            </a:r>
            <a:r>
              <a:rPr sz="2200" b="1" spc="-40" dirty="0">
                <a:latin typeface="Arial"/>
                <a:cs typeface="Arial"/>
              </a:rPr>
              <a:t>L</a:t>
            </a:r>
            <a:r>
              <a:rPr sz="2200" b="1" spc="160" dirty="0">
                <a:latin typeface="Arial"/>
                <a:cs typeface="Arial"/>
              </a:rPr>
              <a:t>A</a:t>
            </a:r>
            <a:r>
              <a:rPr sz="2200" b="1" spc="-40" dirty="0">
                <a:latin typeface="Arial"/>
                <a:cs typeface="Arial"/>
              </a:rPr>
              <a:t>R</a:t>
            </a:r>
            <a:r>
              <a:rPr sz="2200" b="1" spc="-140" dirty="0">
                <a:latin typeface="Arial"/>
                <a:cs typeface="Arial"/>
              </a:rPr>
              <a:t>E</a:t>
            </a:r>
            <a:endParaRPr sz="2200">
              <a:latin typeface="Arial"/>
              <a:cs typeface="Arial"/>
            </a:endParaRPr>
          </a:p>
        </p:txBody>
      </p:sp>
      <p:pic>
        <p:nvPicPr>
          <p:cNvPr id="5" name="object 5"/>
          <p:cNvPicPr/>
          <p:nvPr/>
        </p:nvPicPr>
        <p:blipFill>
          <a:blip r:embed="rId3" cstate="print"/>
          <a:stretch>
            <a:fillRect/>
          </a:stretch>
        </p:blipFill>
        <p:spPr>
          <a:xfrm>
            <a:off x="4347971" y="2000250"/>
            <a:ext cx="4739639" cy="3263646"/>
          </a:xfrm>
          <a:prstGeom prst="rect">
            <a:avLst/>
          </a:prstGeom>
        </p:spPr>
      </p:pic>
      <p:sp>
        <p:nvSpPr>
          <p:cNvPr id="6" name="object 6"/>
          <p:cNvSpPr txBox="1"/>
          <p:nvPr/>
        </p:nvSpPr>
        <p:spPr>
          <a:xfrm>
            <a:off x="5878067" y="5262117"/>
            <a:ext cx="1604010" cy="238760"/>
          </a:xfrm>
          <a:prstGeom prst="rect">
            <a:avLst/>
          </a:prstGeom>
        </p:spPr>
        <p:txBody>
          <a:bodyPr vert="horz" wrap="square" lIns="0" tIns="12700" rIns="0" bIns="0" rtlCol="0">
            <a:spAutoFit/>
          </a:bodyPr>
          <a:lstStyle/>
          <a:p>
            <a:pPr marL="12700">
              <a:lnSpc>
                <a:spcPct val="100000"/>
              </a:lnSpc>
              <a:spcBef>
                <a:spcPts val="100"/>
              </a:spcBef>
            </a:pPr>
            <a:r>
              <a:rPr sz="1400" b="1" spc="-45" dirty="0">
                <a:latin typeface="Arial"/>
                <a:cs typeface="Arial"/>
              </a:rPr>
              <a:t>Contact</a:t>
            </a:r>
            <a:r>
              <a:rPr sz="1400" b="1" spc="-165" dirty="0">
                <a:latin typeface="Arial"/>
                <a:cs typeface="Arial"/>
              </a:rPr>
              <a:t> </a:t>
            </a:r>
            <a:r>
              <a:rPr sz="1400" b="1" spc="-45" dirty="0">
                <a:latin typeface="Arial"/>
                <a:cs typeface="Arial"/>
              </a:rPr>
              <a:t>Information</a:t>
            </a:r>
            <a:endParaRPr sz="14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10</a:t>
            </a:fld>
            <a:endParaRPr sz="1200"/>
          </a:p>
        </p:txBody>
      </p:sp>
      <p:sp>
        <p:nvSpPr>
          <p:cNvPr id="10" name="object 10"/>
          <p:cNvSpPr txBox="1">
            <a:spLocks noGrp="1"/>
          </p:cNvSpPr>
          <p:nvPr>
            <p:ph type="ftr" sz="quarter" idx="5"/>
          </p:nvPr>
        </p:nvSpPr>
        <p:spPr>
          <a:xfrm>
            <a:off x="78738" y="6616063"/>
            <a:ext cx="11404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7" name="object 7"/>
          <p:cNvSpPr txBox="1">
            <a:spLocks noGrp="1"/>
          </p:cNvSpPr>
          <p:nvPr>
            <p:ph type="title"/>
          </p:nvPr>
        </p:nvSpPr>
        <p:spPr>
          <a:xfrm>
            <a:off x="286004" y="21082"/>
            <a:ext cx="5450840" cy="574040"/>
          </a:xfrm>
          <a:prstGeom prst="rect">
            <a:avLst/>
          </a:prstGeom>
        </p:spPr>
        <p:txBody>
          <a:bodyPr vert="horz" wrap="square" lIns="0" tIns="12700" rIns="0" bIns="0" rtlCol="0">
            <a:spAutoFit/>
          </a:bodyPr>
          <a:lstStyle/>
          <a:p>
            <a:pPr marL="12700">
              <a:lnSpc>
                <a:spcPct val="100000"/>
              </a:lnSpc>
              <a:spcBef>
                <a:spcPts val="100"/>
              </a:spcBef>
            </a:pPr>
            <a:r>
              <a:rPr sz="3600" spc="145" dirty="0"/>
              <a:t>Transact-SQL </a:t>
            </a:r>
            <a:r>
              <a:rPr sz="3600" spc="90" dirty="0"/>
              <a:t>Variables</a:t>
            </a:r>
            <a:r>
              <a:rPr sz="3600" spc="-425" dirty="0"/>
              <a:t> </a:t>
            </a:r>
            <a:r>
              <a:rPr sz="3600" spc="-150" dirty="0"/>
              <a:t>2-3</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73023" y="1226058"/>
            <a:ext cx="8229600" cy="889254"/>
          </a:xfrm>
          <a:prstGeom prst="rect">
            <a:avLst/>
          </a:prstGeom>
        </p:spPr>
      </p:pic>
      <p:sp>
        <p:nvSpPr>
          <p:cNvPr id="3" name="object 3"/>
          <p:cNvSpPr txBox="1"/>
          <p:nvPr/>
        </p:nvSpPr>
        <p:spPr>
          <a:xfrm>
            <a:off x="912875" y="1269491"/>
            <a:ext cx="7550150" cy="802640"/>
          </a:xfrm>
          <a:prstGeom prst="rect">
            <a:avLst/>
          </a:prstGeom>
        </p:spPr>
        <p:txBody>
          <a:bodyPr vert="horz" wrap="square" lIns="0" tIns="88265" rIns="0" bIns="0" rtlCol="0">
            <a:spAutoFit/>
          </a:bodyPr>
          <a:lstStyle/>
          <a:p>
            <a:pPr marL="419100" marR="70485" indent="-342900">
              <a:lnSpc>
                <a:spcPts val="2160"/>
              </a:lnSpc>
              <a:spcBef>
                <a:spcPts val="695"/>
              </a:spcBef>
              <a:buFont typeface="Wingdings"/>
              <a:buChar char=""/>
              <a:tabLst>
                <a:tab pos="418465" algn="l"/>
                <a:tab pos="419100" algn="l"/>
                <a:tab pos="1029335" algn="l"/>
                <a:tab pos="1677670" algn="l"/>
                <a:tab pos="2920365" algn="l"/>
                <a:tab pos="3493135" algn="l"/>
                <a:tab pos="4013835" algn="l"/>
                <a:tab pos="4693920" algn="l"/>
                <a:tab pos="5723255" algn="l"/>
                <a:tab pos="6685280" algn="l"/>
                <a:tab pos="7116445" algn="l"/>
              </a:tabLst>
            </a:pPr>
            <a:r>
              <a:rPr sz="2000" spc="130" dirty="0">
                <a:solidFill>
                  <a:srgbClr val="FFFFFF"/>
                </a:solidFill>
                <a:latin typeface="Times New Roman"/>
                <a:cs typeface="Times New Roman"/>
              </a:rPr>
              <a:t>The	</a:t>
            </a:r>
            <a:r>
              <a:rPr sz="2000" spc="80" dirty="0">
                <a:solidFill>
                  <a:srgbClr val="FFFFFF"/>
                </a:solidFill>
                <a:latin typeface="Times New Roman"/>
                <a:cs typeface="Times New Roman"/>
              </a:rPr>
              <a:t>SET	</a:t>
            </a:r>
            <a:r>
              <a:rPr sz="2000" spc="75" dirty="0">
                <a:solidFill>
                  <a:srgbClr val="FFFFFF"/>
                </a:solidFill>
                <a:latin typeface="Times New Roman"/>
                <a:cs typeface="Times New Roman"/>
              </a:rPr>
              <a:t>s</a:t>
            </a:r>
            <a:r>
              <a:rPr sz="2000" spc="60" dirty="0">
                <a:solidFill>
                  <a:srgbClr val="FFFFFF"/>
                </a:solidFill>
                <a:latin typeface="Times New Roman"/>
                <a:cs typeface="Times New Roman"/>
              </a:rPr>
              <a:t>t</a:t>
            </a:r>
            <a:r>
              <a:rPr sz="2000" spc="95" dirty="0">
                <a:solidFill>
                  <a:srgbClr val="FFFFFF"/>
                </a:solidFill>
                <a:latin typeface="Times New Roman"/>
                <a:cs typeface="Times New Roman"/>
              </a:rPr>
              <a:t>a</a:t>
            </a:r>
            <a:r>
              <a:rPr sz="2000" spc="65" dirty="0">
                <a:solidFill>
                  <a:srgbClr val="FFFFFF"/>
                </a:solidFill>
                <a:latin typeface="Times New Roman"/>
                <a:cs typeface="Times New Roman"/>
              </a:rPr>
              <a:t>tem</a:t>
            </a:r>
            <a:r>
              <a:rPr sz="2000" spc="50" dirty="0">
                <a:solidFill>
                  <a:srgbClr val="FFFFFF"/>
                </a:solidFill>
                <a:latin typeface="Times New Roman"/>
                <a:cs typeface="Times New Roman"/>
              </a:rPr>
              <a:t>e</a:t>
            </a:r>
            <a:r>
              <a:rPr sz="2000" spc="185" dirty="0">
                <a:solidFill>
                  <a:srgbClr val="FFFFFF"/>
                </a:solidFill>
                <a:latin typeface="Times New Roman"/>
                <a:cs typeface="Times New Roman"/>
              </a:rPr>
              <a:t>n</a:t>
            </a:r>
            <a:r>
              <a:rPr sz="2000" spc="125" dirty="0">
                <a:solidFill>
                  <a:srgbClr val="FFFFFF"/>
                </a:solidFill>
                <a:latin typeface="Times New Roman"/>
                <a:cs typeface="Times New Roman"/>
              </a:rPr>
              <a:t>t</a:t>
            </a:r>
            <a:r>
              <a:rPr sz="2000" dirty="0">
                <a:solidFill>
                  <a:srgbClr val="FFFFFF"/>
                </a:solidFill>
                <a:latin typeface="Times New Roman"/>
                <a:cs typeface="Times New Roman"/>
              </a:rPr>
              <a:t>	</a:t>
            </a:r>
            <a:r>
              <a:rPr sz="2000" spc="5" dirty="0">
                <a:solidFill>
                  <a:srgbClr val="FFFFFF"/>
                </a:solidFill>
                <a:latin typeface="Times New Roman"/>
                <a:cs typeface="Times New Roman"/>
              </a:rPr>
              <a:t>s</a:t>
            </a:r>
            <a:r>
              <a:rPr sz="2000" spc="105" dirty="0">
                <a:solidFill>
                  <a:srgbClr val="FFFFFF"/>
                </a:solidFill>
                <a:latin typeface="Times New Roman"/>
                <a:cs typeface="Times New Roman"/>
              </a:rPr>
              <a:t>e</a:t>
            </a:r>
            <a:r>
              <a:rPr sz="2000" spc="75" dirty="0">
                <a:solidFill>
                  <a:srgbClr val="FFFFFF"/>
                </a:solidFill>
                <a:latin typeface="Times New Roman"/>
                <a:cs typeface="Times New Roman"/>
              </a:rPr>
              <a:t>t</a:t>
            </a:r>
            <a:r>
              <a:rPr sz="2000" spc="5" dirty="0">
                <a:solidFill>
                  <a:srgbClr val="FFFFFF"/>
                </a:solidFill>
                <a:latin typeface="Times New Roman"/>
                <a:cs typeface="Times New Roman"/>
              </a:rPr>
              <a:t>s</a:t>
            </a:r>
            <a:r>
              <a:rPr sz="2000" dirty="0">
                <a:solidFill>
                  <a:srgbClr val="FFFFFF"/>
                </a:solidFill>
                <a:latin typeface="Times New Roman"/>
                <a:cs typeface="Times New Roman"/>
              </a:rPr>
              <a:t>	</a:t>
            </a:r>
            <a:r>
              <a:rPr sz="2000" spc="125" dirty="0">
                <a:solidFill>
                  <a:srgbClr val="FFFFFF"/>
                </a:solidFill>
                <a:latin typeface="Times New Roman"/>
                <a:cs typeface="Times New Roman"/>
              </a:rPr>
              <a:t>t</a:t>
            </a:r>
            <a:r>
              <a:rPr sz="2000" spc="105" dirty="0">
                <a:solidFill>
                  <a:srgbClr val="FFFFFF"/>
                </a:solidFill>
                <a:latin typeface="Times New Roman"/>
                <a:cs typeface="Times New Roman"/>
              </a:rPr>
              <a:t>he</a:t>
            </a:r>
            <a:r>
              <a:rPr sz="2000" dirty="0">
                <a:solidFill>
                  <a:srgbClr val="FFFFFF"/>
                </a:solidFill>
                <a:latin typeface="Times New Roman"/>
                <a:cs typeface="Times New Roman"/>
              </a:rPr>
              <a:t>	l</a:t>
            </a:r>
            <a:r>
              <a:rPr sz="2000" spc="35" dirty="0">
                <a:solidFill>
                  <a:srgbClr val="FFFFFF"/>
                </a:solidFill>
                <a:latin typeface="Times New Roman"/>
                <a:cs typeface="Times New Roman"/>
              </a:rPr>
              <a:t>ocal</a:t>
            </a:r>
            <a:r>
              <a:rPr sz="2000" dirty="0">
                <a:solidFill>
                  <a:srgbClr val="FFFFFF"/>
                </a:solidFill>
                <a:latin typeface="Times New Roman"/>
                <a:cs typeface="Times New Roman"/>
              </a:rPr>
              <a:t>	</a:t>
            </a:r>
            <a:r>
              <a:rPr sz="2000" spc="40" dirty="0">
                <a:solidFill>
                  <a:srgbClr val="FFFFFF"/>
                </a:solidFill>
                <a:latin typeface="Times New Roman"/>
                <a:cs typeface="Times New Roman"/>
              </a:rPr>
              <a:t>vari</a:t>
            </a:r>
            <a:r>
              <a:rPr sz="2000" spc="50" dirty="0">
                <a:solidFill>
                  <a:srgbClr val="FFFFFF"/>
                </a:solidFill>
                <a:latin typeface="Times New Roman"/>
                <a:cs typeface="Times New Roman"/>
              </a:rPr>
              <a:t>a</a:t>
            </a:r>
            <a:r>
              <a:rPr sz="2000" spc="60" dirty="0">
                <a:solidFill>
                  <a:srgbClr val="FFFFFF"/>
                </a:solidFill>
                <a:latin typeface="Times New Roman"/>
                <a:cs typeface="Times New Roman"/>
              </a:rPr>
              <a:t>b</a:t>
            </a:r>
            <a:r>
              <a:rPr sz="2000" spc="40" dirty="0">
                <a:solidFill>
                  <a:srgbClr val="FFFFFF"/>
                </a:solidFill>
                <a:latin typeface="Times New Roman"/>
                <a:cs typeface="Times New Roman"/>
              </a:rPr>
              <a:t>le</a:t>
            </a:r>
            <a:r>
              <a:rPr sz="2000" dirty="0">
                <a:solidFill>
                  <a:srgbClr val="FFFFFF"/>
                </a:solidFill>
                <a:latin typeface="Times New Roman"/>
                <a:cs typeface="Times New Roman"/>
              </a:rPr>
              <a:t>	</a:t>
            </a:r>
            <a:r>
              <a:rPr sz="2000" spc="40" dirty="0">
                <a:solidFill>
                  <a:srgbClr val="FFFFFF"/>
                </a:solidFill>
                <a:latin typeface="Times New Roman"/>
                <a:cs typeface="Times New Roman"/>
              </a:rPr>
              <a:t>cre</a:t>
            </a:r>
            <a:r>
              <a:rPr sz="2000" spc="55" dirty="0">
                <a:solidFill>
                  <a:srgbClr val="FFFFFF"/>
                </a:solidFill>
                <a:latin typeface="Times New Roman"/>
                <a:cs typeface="Times New Roman"/>
              </a:rPr>
              <a:t>a</a:t>
            </a:r>
            <a:r>
              <a:rPr sz="2000" spc="125" dirty="0">
                <a:solidFill>
                  <a:srgbClr val="FFFFFF"/>
                </a:solidFill>
                <a:latin typeface="Times New Roman"/>
                <a:cs typeface="Times New Roman"/>
              </a:rPr>
              <a:t>t</a:t>
            </a:r>
            <a:r>
              <a:rPr sz="2000" spc="85" dirty="0">
                <a:solidFill>
                  <a:srgbClr val="FFFFFF"/>
                </a:solidFill>
                <a:latin typeface="Times New Roman"/>
                <a:cs typeface="Times New Roman"/>
              </a:rPr>
              <a:t>ed</a:t>
            </a:r>
            <a:r>
              <a:rPr sz="2000" dirty="0">
                <a:solidFill>
                  <a:srgbClr val="FFFFFF"/>
                </a:solidFill>
                <a:latin typeface="Times New Roman"/>
                <a:cs typeface="Times New Roman"/>
              </a:rPr>
              <a:t>	</a:t>
            </a:r>
            <a:r>
              <a:rPr sz="2000" spc="45" dirty="0">
                <a:solidFill>
                  <a:srgbClr val="FFFFFF"/>
                </a:solidFill>
                <a:latin typeface="Times New Roman"/>
                <a:cs typeface="Times New Roman"/>
              </a:rPr>
              <a:t>b</a:t>
            </a:r>
            <a:r>
              <a:rPr sz="2000" spc="40" dirty="0">
                <a:solidFill>
                  <a:srgbClr val="FFFFFF"/>
                </a:solidFill>
                <a:latin typeface="Times New Roman"/>
                <a:cs typeface="Times New Roman"/>
              </a:rPr>
              <a:t>y</a:t>
            </a:r>
            <a:r>
              <a:rPr sz="2000" dirty="0">
                <a:solidFill>
                  <a:srgbClr val="FFFFFF"/>
                </a:solidFill>
                <a:latin typeface="Times New Roman"/>
                <a:cs typeface="Times New Roman"/>
              </a:rPr>
              <a:t>	</a:t>
            </a:r>
            <a:r>
              <a:rPr sz="2000" spc="125" dirty="0">
                <a:solidFill>
                  <a:srgbClr val="FFFFFF"/>
                </a:solidFill>
                <a:latin typeface="Times New Roman"/>
                <a:cs typeface="Times New Roman"/>
              </a:rPr>
              <a:t>t</a:t>
            </a:r>
            <a:r>
              <a:rPr sz="2000" spc="80" dirty="0">
                <a:solidFill>
                  <a:srgbClr val="FFFFFF"/>
                </a:solidFill>
                <a:latin typeface="Times New Roman"/>
                <a:cs typeface="Times New Roman"/>
              </a:rPr>
              <a:t>he  </a:t>
            </a:r>
            <a:r>
              <a:rPr sz="2000" spc="90" dirty="0">
                <a:solidFill>
                  <a:srgbClr val="FFFFFF"/>
                </a:solidFill>
                <a:latin typeface="Times New Roman"/>
                <a:cs typeface="Times New Roman"/>
              </a:rPr>
              <a:t>DECLARE</a:t>
            </a:r>
            <a:r>
              <a:rPr sz="2000" spc="-60" dirty="0">
                <a:solidFill>
                  <a:srgbClr val="FFFFFF"/>
                </a:solidFill>
                <a:latin typeface="Times New Roman"/>
                <a:cs typeface="Times New Roman"/>
              </a:rPr>
              <a:t> </a:t>
            </a:r>
            <a:r>
              <a:rPr sz="2000" spc="85" dirty="0">
                <a:solidFill>
                  <a:srgbClr val="FFFFFF"/>
                </a:solidFill>
                <a:latin typeface="Times New Roman"/>
                <a:cs typeface="Times New Roman"/>
              </a:rPr>
              <a:t>statement</a:t>
            </a:r>
            <a:r>
              <a:rPr sz="2000" spc="-45"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65"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70" dirty="0">
                <a:solidFill>
                  <a:srgbClr val="FFFFFF"/>
                </a:solidFill>
                <a:latin typeface="Times New Roman"/>
                <a:cs typeface="Times New Roman"/>
              </a:rPr>
              <a:t> </a:t>
            </a:r>
            <a:r>
              <a:rPr sz="2000" spc="40" dirty="0">
                <a:solidFill>
                  <a:srgbClr val="FFFFFF"/>
                </a:solidFill>
                <a:latin typeface="Times New Roman"/>
                <a:cs typeface="Times New Roman"/>
              </a:rPr>
              <a:t>specified</a:t>
            </a:r>
            <a:r>
              <a:rPr sz="2000" spc="-75" dirty="0">
                <a:solidFill>
                  <a:srgbClr val="FFFFFF"/>
                </a:solidFill>
                <a:latin typeface="Times New Roman"/>
                <a:cs typeface="Times New Roman"/>
              </a:rPr>
              <a:t> </a:t>
            </a:r>
            <a:r>
              <a:rPr sz="2000" spc="45" dirty="0">
                <a:solidFill>
                  <a:srgbClr val="FFFFFF"/>
                </a:solidFill>
                <a:latin typeface="Times New Roman"/>
                <a:cs typeface="Times New Roman"/>
              </a:rPr>
              <a:t>value.</a:t>
            </a:r>
            <a:endParaRPr sz="2000">
              <a:latin typeface="Times New Roman"/>
              <a:cs typeface="Times New Roman"/>
            </a:endParaRPr>
          </a:p>
        </p:txBody>
      </p:sp>
      <p:sp>
        <p:nvSpPr>
          <p:cNvPr id="4" name="object 4"/>
          <p:cNvSpPr txBox="1"/>
          <p:nvPr/>
        </p:nvSpPr>
        <p:spPr>
          <a:xfrm>
            <a:off x="680973" y="849122"/>
            <a:ext cx="553085" cy="361315"/>
          </a:xfrm>
          <a:prstGeom prst="rect">
            <a:avLst/>
          </a:prstGeom>
        </p:spPr>
        <p:txBody>
          <a:bodyPr vert="horz" wrap="square" lIns="0" tIns="12700" rIns="0" bIns="0" rtlCol="0">
            <a:spAutoFit/>
          </a:bodyPr>
          <a:lstStyle/>
          <a:p>
            <a:pPr marL="12700">
              <a:lnSpc>
                <a:spcPct val="100000"/>
              </a:lnSpc>
              <a:spcBef>
                <a:spcPts val="100"/>
              </a:spcBef>
            </a:pPr>
            <a:r>
              <a:rPr sz="2200" b="1" spc="-175" dirty="0">
                <a:latin typeface="Arial"/>
                <a:cs typeface="Arial"/>
              </a:rPr>
              <a:t>S</a:t>
            </a:r>
            <a:r>
              <a:rPr sz="2200" b="1" spc="-165" dirty="0">
                <a:latin typeface="Arial"/>
                <a:cs typeface="Arial"/>
              </a:rPr>
              <a:t>E</a:t>
            </a:r>
            <a:r>
              <a:rPr sz="2200" b="1" spc="200" dirty="0">
                <a:latin typeface="Arial"/>
                <a:cs typeface="Arial"/>
              </a:rPr>
              <a:t>T</a:t>
            </a:r>
            <a:endParaRPr sz="2200">
              <a:latin typeface="Arial"/>
              <a:cs typeface="Arial"/>
            </a:endParaRPr>
          </a:p>
        </p:txBody>
      </p:sp>
      <p:sp>
        <p:nvSpPr>
          <p:cNvPr id="5" name="object 5"/>
          <p:cNvSpPr/>
          <p:nvPr/>
        </p:nvSpPr>
        <p:spPr>
          <a:xfrm>
            <a:off x="601980" y="2841497"/>
            <a:ext cx="8229600" cy="1220470"/>
          </a:xfrm>
          <a:custGeom>
            <a:avLst/>
            <a:gdLst/>
            <a:ahLst/>
            <a:cxnLst/>
            <a:rect l="l" t="t" r="r" b="b"/>
            <a:pathLst>
              <a:path w="8229600" h="1220470">
                <a:moveTo>
                  <a:pt x="8229600" y="203327"/>
                </a:moveTo>
                <a:lnTo>
                  <a:pt x="8224228" y="156718"/>
                </a:lnTo>
                <a:lnTo>
                  <a:pt x="8208924" y="113931"/>
                </a:lnTo>
                <a:lnTo>
                  <a:pt x="8184921" y="76174"/>
                </a:lnTo>
                <a:lnTo>
                  <a:pt x="8153425" y="44678"/>
                </a:lnTo>
                <a:lnTo>
                  <a:pt x="8115668" y="20675"/>
                </a:lnTo>
                <a:lnTo>
                  <a:pt x="8072882" y="5372"/>
                </a:lnTo>
                <a:lnTo>
                  <a:pt x="8026273" y="0"/>
                </a:lnTo>
                <a:lnTo>
                  <a:pt x="203327" y="0"/>
                </a:lnTo>
                <a:lnTo>
                  <a:pt x="156705" y="5372"/>
                </a:lnTo>
                <a:lnTo>
                  <a:pt x="113906" y="20675"/>
                </a:lnTo>
                <a:lnTo>
                  <a:pt x="76149" y="44678"/>
                </a:lnTo>
                <a:lnTo>
                  <a:pt x="44665" y="76174"/>
                </a:lnTo>
                <a:lnTo>
                  <a:pt x="20662" y="113931"/>
                </a:lnTo>
                <a:lnTo>
                  <a:pt x="5359" y="156718"/>
                </a:lnTo>
                <a:lnTo>
                  <a:pt x="0" y="203327"/>
                </a:lnTo>
                <a:lnTo>
                  <a:pt x="0" y="1016635"/>
                </a:lnTo>
                <a:lnTo>
                  <a:pt x="5359" y="1063256"/>
                </a:lnTo>
                <a:lnTo>
                  <a:pt x="20662" y="1106043"/>
                </a:lnTo>
                <a:lnTo>
                  <a:pt x="44665" y="1143800"/>
                </a:lnTo>
                <a:lnTo>
                  <a:pt x="76149" y="1175296"/>
                </a:lnTo>
                <a:lnTo>
                  <a:pt x="113906" y="1199299"/>
                </a:lnTo>
                <a:lnTo>
                  <a:pt x="156705" y="1214602"/>
                </a:lnTo>
                <a:lnTo>
                  <a:pt x="203327" y="1219962"/>
                </a:lnTo>
                <a:lnTo>
                  <a:pt x="8026273" y="1219962"/>
                </a:lnTo>
                <a:lnTo>
                  <a:pt x="8072882" y="1214602"/>
                </a:lnTo>
                <a:lnTo>
                  <a:pt x="8115668" y="1199299"/>
                </a:lnTo>
                <a:lnTo>
                  <a:pt x="8153425" y="1175296"/>
                </a:lnTo>
                <a:lnTo>
                  <a:pt x="8184921" y="1143800"/>
                </a:lnTo>
                <a:lnTo>
                  <a:pt x="8208924" y="1106043"/>
                </a:lnTo>
                <a:lnTo>
                  <a:pt x="8224228" y="1063256"/>
                </a:lnTo>
                <a:lnTo>
                  <a:pt x="8229600" y="1016635"/>
                </a:lnTo>
                <a:lnTo>
                  <a:pt x="8229600" y="203327"/>
                </a:lnTo>
                <a:close/>
              </a:path>
            </a:pathLst>
          </a:custGeom>
          <a:solidFill>
            <a:srgbClr val="4F6128"/>
          </a:solidFill>
        </p:spPr>
        <p:txBody>
          <a:bodyPr wrap="square" lIns="0" tIns="0" rIns="0" bIns="0" rtlCol="0"/>
          <a:lstStyle/>
          <a:p>
            <a:endParaRPr/>
          </a:p>
        </p:txBody>
      </p:sp>
      <p:sp>
        <p:nvSpPr>
          <p:cNvPr id="6" name="object 6"/>
          <p:cNvSpPr txBox="1"/>
          <p:nvPr/>
        </p:nvSpPr>
        <p:spPr>
          <a:xfrm>
            <a:off x="701294" y="2258924"/>
            <a:ext cx="7726045" cy="1574165"/>
          </a:xfrm>
          <a:prstGeom prst="rect">
            <a:avLst/>
          </a:prstGeom>
        </p:spPr>
        <p:txBody>
          <a:bodyPr vert="horz" wrap="square" lIns="0" tIns="201295" rIns="0" bIns="0" rtlCol="0">
            <a:spAutoFit/>
          </a:bodyPr>
          <a:lstStyle/>
          <a:p>
            <a:pPr marL="12700">
              <a:lnSpc>
                <a:spcPct val="100000"/>
              </a:lnSpc>
              <a:spcBef>
                <a:spcPts val="1585"/>
              </a:spcBef>
            </a:pPr>
            <a:r>
              <a:rPr sz="2200" b="1" spc="-30" dirty="0">
                <a:latin typeface="Arial"/>
                <a:cs typeface="Arial"/>
              </a:rPr>
              <a:t>SELECT</a:t>
            </a:r>
            <a:endParaRPr sz="2200">
              <a:latin typeface="Arial"/>
              <a:cs typeface="Arial"/>
            </a:endParaRPr>
          </a:p>
          <a:p>
            <a:pPr marL="659765" marR="5080" indent="-342900" algn="just">
              <a:lnSpc>
                <a:spcPts val="2160"/>
              </a:lnSpc>
              <a:spcBef>
                <a:spcPts val="1620"/>
              </a:spcBef>
              <a:buFont typeface="Wingdings"/>
              <a:buChar char=""/>
              <a:tabLst>
                <a:tab pos="660400" algn="l"/>
              </a:tabLst>
            </a:pPr>
            <a:r>
              <a:rPr sz="2000" spc="130" dirty="0">
                <a:solidFill>
                  <a:srgbClr val="FFFFFF"/>
                </a:solidFill>
                <a:latin typeface="Times New Roman"/>
                <a:cs typeface="Times New Roman"/>
              </a:rPr>
              <a:t>The </a:t>
            </a:r>
            <a:r>
              <a:rPr sz="2000" spc="80" dirty="0">
                <a:solidFill>
                  <a:srgbClr val="FFFFFF"/>
                </a:solidFill>
                <a:latin typeface="Times New Roman"/>
                <a:cs typeface="Times New Roman"/>
              </a:rPr>
              <a:t>SELECT </a:t>
            </a:r>
            <a:r>
              <a:rPr sz="2000" spc="85" dirty="0">
                <a:solidFill>
                  <a:srgbClr val="FFFFFF"/>
                </a:solidFill>
                <a:latin typeface="Times New Roman"/>
                <a:cs typeface="Times New Roman"/>
              </a:rPr>
              <a:t>statement </a:t>
            </a:r>
            <a:r>
              <a:rPr sz="2000" spc="60" dirty="0">
                <a:solidFill>
                  <a:srgbClr val="FFFFFF"/>
                </a:solidFill>
                <a:latin typeface="Times New Roman"/>
                <a:cs typeface="Times New Roman"/>
              </a:rPr>
              <a:t>indicates</a:t>
            </a:r>
            <a:r>
              <a:rPr sz="2000" spc="620" dirty="0">
                <a:solidFill>
                  <a:srgbClr val="FFFFFF"/>
                </a:solidFill>
                <a:latin typeface="Times New Roman"/>
                <a:cs typeface="Times New Roman"/>
              </a:rPr>
              <a:t> </a:t>
            </a:r>
            <a:r>
              <a:rPr sz="2000" spc="114" dirty="0">
                <a:solidFill>
                  <a:srgbClr val="FFFFFF"/>
                </a:solidFill>
                <a:latin typeface="Times New Roman"/>
                <a:cs typeface="Times New Roman"/>
              </a:rPr>
              <a:t>that </a:t>
            </a:r>
            <a:r>
              <a:rPr sz="2000" spc="110" dirty="0">
                <a:solidFill>
                  <a:srgbClr val="FFFFFF"/>
                </a:solidFill>
                <a:latin typeface="Times New Roman"/>
                <a:cs typeface="Times New Roman"/>
              </a:rPr>
              <a:t>the </a:t>
            </a:r>
            <a:r>
              <a:rPr sz="2000" spc="40" dirty="0">
                <a:solidFill>
                  <a:srgbClr val="FFFFFF"/>
                </a:solidFill>
                <a:latin typeface="Times New Roman"/>
                <a:cs typeface="Times New Roman"/>
              </a:rPr>
              <a:t>specified </a:t>
            </a:r>
            <a:r>
              <a:rPr sz="2000" spc="25" dirty="0">
                <a:solidFill>
                  <a:srgbClr val="FFFFFF"/>
                </a:solidFill>
                <a:latin typeface="Times New Roman"/>
                <a:cs typeface="Times New Roman"/>
              </a:rPr>
              <a:t>local  </a:t>
            </a:r>
            <a:r>
              <a:rPr sz="2000" spc="40" dirty="0">
                <a:solidFill>
                  <a:srgbClr val="FFFFFF"/>
                </a:solidFill>
                <a:latin typeface="Times New Roman"/>
                <a:cs typeface="Times New Roman"/>
              </a:rPr>
              <a:t>variable </a:t>
            </a:r>
            <a:r>
              <a:rPr sz="2000" spc="114" dirty="0">
                <a:solidFill>
                  <a:srgbClr val="FFFFFF"/>
                </a:solidFill>
                <a:latin typeface="Times New Roman"/>
                <a:cs typeface="Times New Roman"/>
              </a:rPr>
              <a:t>that </a:t>
            </a:r>
            <a:r>
              <a:rPr sz="2000" spc="30" dirty="0">
                <a:solidFill>
                  <a:srgbClr val="FFFFFF"/>
                </a:solidFill>
                <a:latin typeface="Times New Roman"/>
                <a:cs typeface="Times New Roman"/>
              </a:rPr>
              <a:t>was </a:t>
            </a:r>
            <a:r>
              <a:rPr sz="2000" spc="65" dirty="0">
                <a:solidFill>
                  <a:srgbClr val="FFFFFF"/>
                </a:solidFill>
                <a:latin typeface="Times New Roman"/>
                <a:cs typeface="Times New Roman"/>
              </a:rPr>
              <a:t>created using </a:t>
            </a:r>
            <a:r>
              <a:rPr sz="2000" spc="90" dirty="0">
                <a:solidFill>
                  <a:srgbClr val="FFFFFF"/>
                </a:solidFill>
                <a:latin typeface="Times New Roman"/>
                <a:cs typeface="Times New Roman"/>
              </a:rPr>
              <a:t>DECLARE should </a:t>
            </a:r>
            <a:r>
              <a:rPr sz="2000" spc="65" dirty="0">
                <a:solidFill>
                  <a:srgbClr val="FFFFFF"/>
                </a:solidFill>
                <a:latin typeface="Times New Roman"/>
                <a:cs typeface="Times New Roman"/>
              </a:rPr>
              <a:t>be </a:t>
            </a:r>
            <a:r>
              <a:rPr sz="2000" spc="60" dirty="0">
                <a:solidFill>
                  <a:srgbClr val="FFFFFF"/>
                </a:solidFill>
                <a:latin typeface="Times New Roman"/>
                <a:cs typeface="Times New Roman"/>
              </a:rPr>
              <a:t>set </a:t>
            </a:r>
            <a:r>
              <a:rPr sz="2000" spc="110" dirty="0">
                <a:solidFill>
                  <a:srgbClr val="FFFFFF"/>
                </a:solidFill>
                <a:latin typeface="Times New Roman"/>
                <a:cs typeface="Times New Roman"/>
              </a:rPr>
              <a:t>to </a:t>
            </a:r>
            <a:r>
              <a:rPr sz="2000" spc="114" dirty="0">
                <a:solidFill>
                  <a:srgbClr val="FFFFFF"/>
                </a:solidFill>
                <a:latin typeface="Times New Roman"/>
                <a:cs typeface="Times New Roman"/>
              </a:rPr>
              <a:t>the  </a:t>
            </a:r>
            <a:r>
              <a:rPr sz="2000" spc="50" dirty="0">
                <a:solidFill>
                  <a:srgbClr val="FFFFFF"/>
                </a:solidFill>
                <a:latin typeface="Times New Roman"/>
                <a:cs typeface="Times New Roman"/>
              </a:rPr>
              <a:t>given</a:t>
            </a:r>
            <a:r>
              <a:rPr sz="2000" spc="-70" dirty="0">
                <a:solidFill>
                  <a:srgbClr val="FFFFFF"/>
                </a:solidFill>
                <a:latin typeface="Times New Roman"/>
                <a:cs typeface="Times New Roman"/>
              </a:rPr>
              <a:t> </a:t>
            </a:r>
            <a:r>
              <a:rPr sz="2000" spc="60" dirty="0">
                <a:solidFill>
                  <a:srgbClr val="FFFFFF"/>
                </a:solidFill>
                <a:latin typeface="Times New Roman"/>
                <a:cs typeface="Times New Roman"/>
              </a:rPr>
              <a:t>expression.</a:t>
            </a:r>
            <a:endParaRPr sz="2000">
              <a:latin typeface="Times New Roman"/>
              <a:cs typeface="Times New Roman"/>
            </a:endParaRPr>
          </a:p>
        </p:txBody>
      </p:sp>
      <p:pic>
        <p:nvPicPr>
          <p:cNvPr id="7" name="object 7"/>
          <p:cNvPicPr/>
          <p:nvPr/>
        </p:nvPicPr>
        <p:blipFill>
          <a:blip r:embed="rId4" cstate="print"/>
          <a:stretch>
            <a:fillRect/>
          </a:stretch>
        </p:blipFill>
        <p:spPr>
          <a:xfrm>
            <a:off x="4488214" y="4117900"/>
            <a:ext cx="4178046" cy="2154174"/>
          </a:xfrm>
          <a:prstGeom prst="rect">
            <a:avLst/>
          </a:prstGeom>
        </p:spPr>
      </p:pic>
      <p:sp>
        <p:nvSpPr>
          <p:cNvPr id="8" name="object 8"/>
          <p:cNvSpPr txBox="1"/>
          <p:nvPr/>
        </p:nvSpPr>
        <p:spPr>
          <a:xfrm>
            <a:off x="6324600" y="6293819"/>
            <a:ext cx="111506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Generic</a:t>
            </a:r>
            <a:r>
              <a:rPr sz="1400" b="1" spc="-150" dirty="0">
                <a:latin typeface="Arial"/>
                <a:cs typeface="Arial"/>
              </a:rPr>
              <a:t> </a:t>
            </a:r>
            <a:r>
              <a:rPr sz="1400" b="1" spc="-75" dirty="0">
                <a:latin typeface="Arial"/>
                <a:cs typeface="Arial"/>
              </a:rPr>
              <a:t>Name</a:t>
            </a:r>
            <a:endParaRPr sz="140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11</a:t>
            </a:fld>
            <a:endParaRPr sz="1200"/>
          </a:p>
        </p:txBody>
      </p:sp>
      <p:sp>
        <p:nvSpPr>
          <p:cNvPr id="12" name="object 12"/>
          <p:cNvSpPr txBox="1">
            <a:spLocks noGrp="1"/>
          </p:cNvSpPr>
          <p:nvPr>
            <p:ph type="ftr" sz="quarter" idx="5"/>
          </p:nvPr>
        </p:nvSpPr>
        <p:spPr>
          <a:xfrm>
            <a:off x="78738" y="6596379"/>
            <a:ext cx="1155319"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9" name="object 9"/>
          <p:cNvSpPr txBox="1">
            <a:spLocks noGrp="1"/>
          </p:cNvSpPr>
          <p:nvPr>
            <p:ph type="title"/>
          </p:nvPr>
        </p:nvSpPr>
        <p:spPr>
          <a:xfrm>
            <a:off x="286004" y="21082"/>
            <a:ext cx="5420995" cy="574040"/>
          </a:xfrm>
          <a:prstGeom prst="rect">
            <a:avLst/>
          </a:prstGeom>
        </p:spPr>
        <p:txBody>
          <a:bodyPr vert="horz" wrap="square" lIns="0" tIns="12700" rIns="0" bIns="0" rtlCol="0">
            <a:spAutoFit/>
          </a:bodyPr>
          <a:lstStyle/>
          <a:p>
            <a:pPr marL="12700">
              <a:lnSpc>
                <a:spcPct val="100000"/>
              </a:lnSpc>
              <a:spcBef>
                <a:spcPts val="100"/>
              </a:spcBef>
            </a:pPr>
            <a:r>
              <a:rPr sz="3600" spc="145" dirty="0"/>
              <a:t>Transact-SQL </a:t>
            </a:r>
            <a:r>
              <a:rPr sz="3600" spc="90" dirty="0"/>
              <a:t>Variables</a:t>
            </a:r>
            <a:r>
              <a:rPr sz="3600" spc="-434" dirty="0"/>
              <a:t> </a:t>
            </a:r>
            <a:r>
              <a:rPr sz="3600" spc="-225" dirty="0"/>
              <a:t>3-3</a:t>
            </a:r>
            <a:endParaRPr sz="3600"/>
          </a:p>
        </p:txBody>
      </p:sp>
      <p:sp>
        <p:nvSpPr>
          <p:cNvPr id="13" name="TextBox 6">
            <a:extLst>
              <a:ext uri="{FF2B5EF4-FFF2-40B4-BE49-F238E27FC236}">
                <a16:creationId xmlns:a16="http://schemas.microsoft.com/office/drawing/2014/main" id="{5F56296A-C372-4F99-AAAD-2ACEC5BB8963}"/>
              </a:ext>
            </a:extLst>
          </p:cNvPr>
          <p:cNvSpPr txBox="1"/>
          <p:nvPr/>
        </p:nvSpPr>
        <p:spPr>
          <a:xfrm>
            <a:off x="700329" y="4154052"/>
            <a:ext cx="3619500" cy="523220"/>
          </a:xfrm>
          <a:prstGeom prst="rect">
            <a:avLst/>
          </a:prstGeom>
          <a:solidFill>
            <a:schemeClr val="accent1">
              <a:lumMod val="40000"/>
              <a:lumOff val="60000"/>
            </a:schemeClr>
          </a:solidFill>
        </p:spPr>
        <p:txBody>
          <a:bodyPr wrap="square" rtlCol="0">
            <a:spAutoFit/>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341313" indent="-341313">
              <a:lnSpc>
                <a:spcPct val="100000"/>
              </a:lnSpc>
              <a:spcBef>
                <a:spcPts val="0"/>
              </a:spcBef>
            </a:pPr>
            <a:r>
              <a:rPr lang="en-US" dirty="0">
                <a:cs typeface="Courier New" pitchFamily="49" charset="0"/>
              </a:rPr>
              <a:t>DECLARE @myvar char(20);</a:t>
            </a:r>
          </a:p>
          <a:p>
            <a:pPr marL="341313" indent="-341313">
              <a:lnSpc>
                <a:spcPct val="100000"/>
              </a:lnSpc>
              <a:spcBef>
                <a:spcPts val="0"/>
              </a:spcBef>
            </a:pPr>
            <a:r>
              <a:rPr lang="en-US" dirty="0">
                <a:cs typeface="Courier New" pitchFamily="49" charset="0"/>
              </a:rPr>
              <a:t>SET @myvar = 'This is a test';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952499"/>
            <a:ext cx="7349490" cy="361315"/>
          </a:xfrm>
          <a:prstGeom prst="rect">
            <a:avLst/>
          </a:prstGeom>
        </p:spPr>
        <p:txBody>
          <a:bodyPr vert="horz" wrap="square" lIns="0" tIns="12700" rIns="0" bIns="0" rtlCol="0">
            <a:spAutoFit/>
          </a:bodyPr>
          <a:lstStyle/>
          <a:p>
            <a:pPr marL="12700">
              <a:lnSpc>
                <a:spcPct val="100000"/>
              </a:lnSpc>
              <a:spcBef>
                <a:spcPts val="100"/>
              </a:spcBef>
            </a:pPr>
            <a:r>
              <a:rPr sz="2200" spc="85" dirty="0">
                <a:latin typeface="Times New Roman"/>
                <a:cs typeface="Times New Roman"/>
              </a:rPr>
              <a:t>Synonyms</a:t>
            </a:r>
            <a:r>
              <a:rPr sz="2200" spc="-85" dirty="0">
                <a:latin typeface="Times New Roman"/>
                <a:cs typeface="Times New Roman"/>
              </a:rPr>
              <a:t> </a:t>
            </a:r>
            <a:r>
              <a:rPr sz="2200" spc="60" dirty="0">
                <a:latin typeface="Times New Roman"/>
                <a:cs typeface="Times New Roman"/>
              </a:rPr>
              <a:t>are</a:t>
            </a:r>
            <a:r>
              <a:rPr sz="2200" spc="-90" dirty="0">
                <a:latin typeface="Times New Roman"/>
                <a:cs typeface="Times New Roman"/>
              </a:rPr>
              <a:t> </a:t>
            </a:r>
            <a:r>
              <a:rPr sz="2200" spc="65" dirty="0">
                <a:latin typeface="Times New Roman"/>
                <a:cs typeface="Times New Roman"/>
              </a:rPr>
              <a:t>database</a:t>
            </a:r>
            <a:r>
              <a:rPr sz="2200" spc="-100" dirty="0">
                <a:latin typeface="Times New Roman"/>
                <a:cs typeface="Times New Roman"/>
              </a:rPr>
              <a:t> </a:t>
            </a:r>
            <a:r>
              <a:rPr sz="2200" spc="60" dirty="0">
                <a:latin typeface="Times New Roman"/>
                <a:cs typeface="Times New Roman"/>
              </a:rPr>
              <a:t>objects</a:t>
            </a:r>
            <a:r>
              <a:rPr sz="2200" spc="-100" dirty="0">
                <a:latin typeface="Times New Roman"/>
                <a:cs typeface="Times New Roman"/>
              </a:rPr>
              <a:t> </a:t>
            </a:r>
            <a:r>
              <a:rPr sz="2200" spc="125" dirty="0">
                <a:latin typeface="Times New Roman"/>
                <a:cs typeface="Times New Roman"/>
              </a:rPr>
              <a:t>that</a:t>
            </a:r>
            <a:r>
              <a:rPr sz="2200" spc="-100" dirty="0">
                <a:latin typeface="Times New Roman"/>
                <a:cs typeface="Times New Roman"/>
              </a:rPr>
              <a:t> </a:t>
            </a:r>
            <a:r>
              <a:rPr sz="2200" spc="50" dirty="0">
                <a:latin typeface="Times New Roman"/>
                <a:cs typeface="Times New Roman"/>
              </a:rPr>
              <a:t>serve</a:t>
            </a:r>
            <a:r>
              <a:rPr sz="2200" spc="-85" dirty="0">
                <a:latin typeface="Times New Roman"/>
                <a:cs typeface="Times New Roman"/>
              </a:rPr>
              <a:t> </a:t>
            </a:r>
            <a:r>
              <a:rPr sz="2200" spc="50" dirty="0">
                <a:latin typeface="Times New Roman"/>
                <a:cs typeface="Times New Roman"/>
              </a:rPr>
              <a:t>following</a:t>
            </a:r>
            <a:r>
              <a:rPr sz="2200" spc="-95" dirty="0">
                <a:latin typeface="Times New Roman"/>
                <a:cs typeface="Times New Roman"/>
              </a:rPr>
              <a:t> </a:t>
            </a:r>
            <a:r>
              <a:rPr sz="2200" spc="70" dirty="0">
                <a:latin typeface="Times New Roman"/>
                <a:cs typeface="Times New Roman"/>
              </a:rPr>
              <a:t>purposes:</a:t>
            </a:r>
            <a:endParaRPr sz="2200">
              <a:latin typeface="Times New Roman"/>
              <a:cs typeface="Times New Roman"/>
            </a:endParaRPr>
          </a:p>
        </p:txBody>
      </p:sp>
      <p:sp>
        <p:nvSpPr>
          <p:cNvPr id="3" name="object 3"/>
          <p:cNvSpPr txBox="1">
            <a:spLocks noGrp="1"/>
          </p:cNvSpPr>
          <p:nvPr>
            <p:ph type="title"/>
          </p:nvPr>
        </p:nvSpPr>
        <p:spPr>
          <a:xfrm>
            <a:off x="383540" y="15493"/>
            <a:ext cx="2960370" cy="635635"/>
          </a:xfrm>
          <a:prstGeom prst="rect">
            <a:avLst/>
          </a:prstGeom>
        </p:spPr>
        <p:txBody>
          <a:bodyPr vert="horz" wrap="square" lIns="0" tIns="12700" rIns="0" bIns="0" rtlCol="0">
            <a:spAutoFit/>
          </a:bodyPr>
          <a:lstStyle/>
          <a:p>
            <a:pPr marL="12700">
              <a:lnSpc>
                <a:spcPct val="100000"/>
              </a:lnSpc>
              <a:spcBef>
                <a:spcPts val="100"/>
              </a:spcBef>
            </a:pPr>
            <a:r>
              <a:rPr spc="160" dirty="0"/>
              <a:t>Synonyms</a:t>
            </a:r>
            <a:r>
              <a:rPr spc="-235" dirty="0"/>
              <a:t> </a:t>
            </a:r>
            <a:r>
              <a:rPr spc="-420" dirty="0"/>
              <a:t>1-5</a:t>
            </a:r>
          </a:p>
        </p:txBody>
      </p:sp>
      <p:pic>
        <p:nvPicPr>
          <p:cNvPr id="4" name="object 4"/>
          <p:cNvPicPr/>
          <p:nvPr/>
        </p:nvPicPr>
        <p:blipFill>
          <a:blip r:embed="rId3" cstate="print"/>
          <a:stretch>
            <a:fillRect/>
          </a:stretch>
        </p:blipFill>
        <p:spPr>
          <a:xfrm>
            <a:off x="3289553" y="3758946"/>
            <a:ext cx="3240786" cy="2583180"/>
          </a:xfrm>
          <a:prstGeom prst="rect">
            <a:avLst/>
          </a:prstGeom>
        </p:spPr>
      </p:pic>
      <p:sp>
        <p:nvSpPr>
          <p:cNvPr id="5" name="object 5"/>
          <p:cNvSpPr txBox="1"/>
          <p:nvPr/>
        </p:nvSpPr>
        <p:spPr>
          <a:xfrm>
            <a:off x="1633982" y="4850891"/>
            <a:ext cx="1336040" cy="238760"/>
          </a:xfrm>
          <a:prstGeom prst="rect">
            <a:avLst/>
          </a:prstGeom>
        </p:spPr>
        <p:txBody>
          <a:bodyPr vert="horz" wrap="square" lIns="0" tIns="12065" rIns="0" bIns="0" rtlCol="0">
            <a:spAutoFit/>
          </a:bodyPr>
          <a:lstStyle/>
          <a:p>
            <a:pPr marL="12700">
              <a:lnSpc>
                <a:spcPct val="100000"/>
              </a:lnSpc>
              <a:spcBef>
                <a:spcPts val="95"/>
              </a:spcBef>
            </a:pPr>
            <a:r>
              <a:rPr sz="1400" b="1" spc="-105" dirty="0">
                <a:latin typeface="Arial"/>
                <a:cs typeface="Arial"/>
              </a:rPr>
              <a:t>Database</a:t>
            </a:r>
            <a:r>
              <a:rPr sz="1400" b="1" spc="-170" dirty="0">
                <a:latin typeface="Arial"/>
                <a:cs typeface="Arial"/>
              </a:rPr>
              <a:t> </a:t>
            </a:r>
            <a:r>
              <a:rPr sz="1400" b="1" spc="-75" dirty="0">
                <a:latin typeface="Arial"/>
                <a:cs typeface="Arial"/>
              </a:rPr>
              <a:t>Objects</a:t>
            </a:r>
            <a:endParaRPr sz="1400">
              <a:latin typeface="Arial"/>
              <a:cs typeface="Arial"/>
            </a:endParaRPr>
          </a:p>
        </p:txBody>
      </p:sp>
      <p:grpSp>
        <p:nvGrpSpPr>
          <p:cNvPr id="6" name="object 6"/>
          <p:cNvGrpSpPr/>
          <p:nvPr/>
        </p:nvGrpSpPr>
        <p:grpSpPr>
          <a:xfrm>
            <a:off x="418337" y="1559813"/>
            <a:ext cx="4274185" cy="1926589"/>
            <a:chOff x="418337" y="1559813"/>
            <a:chExt cx="4274185" cy="1926589"/>
          </a:xfrm>
        </p:grpSpPr>
        <p:pic>
          <p:nvPicPr>
            <p:cNvPr id="7" name="object 7"/>
            <p:cNvPicPr/>
            <p:nvPr/>
          </p:nvPicPr>
          <p:blipFill>
            <a:blip r:embed="rId4" cstate="print"/>
            <a:stretch>
              <a:fillRect/>
            </a:stretch>
          </p:blipFill>
          <p:spPr>
            <a:xfrm>
              <a:off x="418337" y="1559813"/>
              <a:ext cx="4274058" cy="1926336"/>
            </a:xfrm>
            <a:prstGeom prst="rect">
              <a:avLst/>
            </a:prstGeom>
          </p:spPr>
        </p:pic>
        <p:pic>
          <p:nvPicPr>
            <p:cNvPr id="8" name="object 8"/>
            <p:cNvPicPr/>
            <p:nvPr/>
          </p:nvPicPr>
          <p:blipFill>
            <a:blip r:embed="rId5" cstate="print"/>
            <a:stretch>
              <a:fillRect/>
            </a:stretch>
          </p:blipFill>
          <p:spPr>
            <a:xfrm>
              <a:off x="572261" y="2474950"/>
              <a:ext cx="4012691" cy="1003579"/>
            </a:xfrm>
            <a:prstGeom prst="rect">
              <a:avLst/>
            </a:prstGeom>
          </p:spPr>
        </p:pic>
        <p:pic>
          <p:nvPicPr>
            <p:cNvPr id="9" name="object 9"/>
            <p:cNvPicPr/>
            <p:nvPr/>
          </p:nvPicPr>
          <p:blipFill>
            <a:blip r:embed="rId6" cstate="print"/>
            <a:stretch>
              <a:fillRect/>
            </a:stretch>
          </p:blipFill>
          <p:spPr>
            <a:xfrm>
              <a:off x="459485" y="1578101"/>
              <a:ext cx="4198620" cy="1850898"/>
            </a:xfrm>
            <a:prstGeom prst="rect">
              <a:avLst/>
            </a:prstGeom>
          </p:spPr>
        </p:pic>
      </p:grpSp>
      <p:sp>
        <p:nvSpPr>
          <p:cNvPr id="10" name="object 10"/>
          <p:cNvSpPr txBox="1"/>
          <p:nvPr/>
        </p:nvSpPr>
        <p:spPr>
          <a:xfrm>
            <a:off x="730250" y="2503169"/>
            <a:ext cx="3655695" cy="759460"/>
          </a:xfrm>
          <a:prstGeom prst="rect">
            <a:avLst/>
          </a:prstGeom>
        </p:spPr>
        <p:txBody>
          <a:bodyPr vert="horz" wrap="square" lIns="0" tIns="34290" rIns="0" bIns="0" rtlCol="0">
            <a:spAutoFit/>
          </a:bodyPr>
          <a:lstStyle/>
          <a:p>
            <a:pPr marL="12700" marR="5080" algn="ctr">
              <a:lnSpc>
                <a:spcPct val="91600"/>
              </a:lnSpc>
              <a:spcBef>
                <a:spcPts val="270"/>
              </a:spcBef>
            </a:pPr>
            <a:r>
              <a:rPr sz="1700" spc="80" dirty="0">
                <a:solidFill>
                  <a:srgbClr val="FFFFFF"/>
                </a:solidFill>
                <a:latin typeface="Times New Roman"/>
                <a:cs typeface="Times New Roman"/>
              </a:rPr>
              <a:t>They</a:t>
            </a:r>
            <a:r>
              <a:rPr sz="1700" spc="-60" dirty="0">
                <a:solidFill>
                  <a:srgbClr val="FFFFFF"/>
                </a:solidFill>
                <a:latin typeface="Times New Roman"/>
                <a:cs typeface="Times New Roman"/>
              </a:rPr>
              <a:t> </a:t>
            </a:r>
            <a:r>
              <a:rPr sz="1700" spc="45" dirty="0">
                <a:solidFill>
                  <a:srgbClr val="FFFFFF"/>
                </a:solidFill>
                <a:latin typeface="Times New Roman"/>
                <a:cs typeface="Times New Roman"/>
              </a:rPr>
              <a:t>offer</a:t>
            </a:r>
            <a:r>
              <a:rPr sz="1700" spc="-80" dirty="0">
                <a:solidFill>
                  <a:srgbClr val="FFFFFF"/>
                </a:solidFill>
                <a:latin typeface="Times New Roman"/>
                <a:cs typeface="Times New Roman"/>
              </a:rPr>
              <a:t> </a:t>
            </a:r>
            <a:r>
              <a:rPr sz="1700" spc="85" dirty="0">
                <a:solidFill>
                  <a:srgbClr val="FFFFFF"/>
                </a:solidFill>
                <a:latin typeface="Times New Roman"/>
                <a:cs typeface="Times New Roman"/>
              </a:rPr>
              <a:t>another</a:t>
            </a:r>
            <a:r>
              <a:rPr sz="1700" spc="-65" dirty="0">
                <a:solidFill>
                  <a:srgbClr val="FFFFFF"/>
                </a:solidFill>
                <a:latin typeface="Times New Roman"/>
                <a:cs typeface="Times New Roman"/>
              </a:rPr>
              <a:t> </a:t>
            </a:r>
            <a:r>
              <a:rPr sz="1700" spc="75" dirty="0">
                <a:solidFill>
                  <a:srgbClr val="FFFFFF"/>
                </a:solidFill>
                <a:latin typeface="Times New Roman"/>
                <a:cs typeface="Times New Roman"/>
              </a:rPr>
              <a:t>name</a:t>
            </a:r>
            <a:r>
              <a:rPr sz="1700" spc="-85" dirty="0">
                <a:solidFill>
                  <a:srgbClr val="FFFFFF"/>
                </a:solidFill>
                <a:latin typeface="Times New Roman"/>
                <a:cs typeface="Times New Roman"/>
              </a:rPr>
              <a:t> </a:t>
            </a:r>
            <a:r>
              <a:rPr sz="1700" spc="55" dirty="0">
                <a:solidFill>
                  <a:srgbClr val="FFFFFF"/>
                </a:solidFill>
                <a:latin typeface="Times New Roman"/>
                <a:cs typeface="Times New Roman"/>
              </a:rPr>
              <a:t>for</a:t>
            </a:r>
            <a:r>
              <a:rPr sz="1700" spc="-70" dirty="0">
                <a:solidFill>
                  <a:srgbClr val="FFFFFF"/>
                </a:solidFill>
                <a:latin typeface="Times New Roman"/>
                <a:cs typeface="Times New Roman"/>
              </a:rPr>
              <a:t> </a:t>
            </a:r>
            <a:r>
              <a:rPr sz="1700" spc="25" dirty="0">
                <a:solidFill>
                  <a:srgbClr val="FFFFFF"/>
                </a:solidFill>
                <a:latin typeface="Times New Roman"/>
                <a:cs typeface="Times New Roman"/>
              </a:rPr>
              <a:t>a</a:t>
            </a:r>
            <a:r>
              <a:rPr sz="1700" spc="-60" dirty="0">
                <a:solidFill>
                  <a:srgbClr val="FFFFFF"/>
                </a:solidFill>
                <a:latin typeface="Times New Roman"/>
                <a:cs typeface="Times New Roman"/>
              </a:rPr>
              <a:t> </a:t>
            </a:r>
            <a:r>
              <a:rPr sz="1700" spc="60" dirty="0">
                <a:solidFill>
                  <a:srgbClr val="FFFFFF"/>
                </a:solidFill>
                <a:latin typeface="Times New Roman"/>
                <a:cs typeface="Times New Roman"/>
              </a:rPr>
              <a:t>different  </a:t>
            </a:r>
            <a:r>
              <a:rPr sz="1700" spc="50" dirty="0">
                <a:solidFill>
                  <a:srgbClr val="FFFFFF"/>
                </a:solidFill>
                <a:latin typeface="Times New Roman"/>
                <a:cs typeface="Times New Roman"/>
              </a:rPr>
              <a:t>database </a:t>
            </a:r>
            <a:r>
              <a:rPr sz="1700" spc="45" dirty="0">
                <a:solidFill>
                  <a:srgbClr val="FFFFFF"/>
                </a:solidFill>
                <a:latin typeface="Times New Roman"/>
                <a:cs typeface="Times New Roman"/>
              </a:rPr>
              <a:t>object, </a:t>
            </a:r>
            <a:r>
              <a:rPr sz="1700" spc="25" dirty="0">
                <a:solidFill>
                  <a:srgbClr val="FFFFFF"/>
                </a:solidFill>
                <a:latin typeface="Times New Roman"/>
                <a:cs typeface="Times New Roman"/>
              </a:rPr>
              <a:t>also </a:t>
            </a:r>
            <a:r>
              <a:rPr sz="1700" spc="30" dirty="0">
                <a:solidFill>
                  <a:srgbClr val="FFFFFF"/>
                </a:solidFill>
                <a:latin typeface="Times New Roman"/>
                <a:cs typeface="Times New Roman"/>
              </a:rPr>
              <a:t>called </a:t>
            </a:r>
            <a:r>
              <a:rPr sz="1700" spc="15" dirty="0">
                <a:solidFill>
                  <a:srgbClr val="FFFFFF"/>
                </a:solidFill>
                <a:latin typeface="Times New Roman"/>
                <a:cs typeface="Times New Roman"/>
              </a:rPr>
              <a:t>as </a:t>
            </a:r>
            <a:r>
              <a:rPr sz="1700" spc="95" dirty="0">
                <a:solidFill>
                  <a:srgbClr val="FFFFFF"/>
                </a:solidFill>
                <a:latin typeface="Times New Roman"/>
                <a:cs typeface="Times New Roman"/>
              </a:rPr>
              <a:t>the </a:t>
            </a:r>
            <a:r>
              <a:rPr sz="1700" spc="35" dirty="0">
                <a:solidFill>
                  <a:srgbClr val="FFFFFF"/>
                </a:solidFill>
                <a:latin typeface="Times New Roman"/>
                <a:cs typeface="Times New Roman"/>
              </a:rPr>
              <a:t>base  </a:t>
            </a:r>
            <a:r>
              <a:rPr sz="1700" spc="45" dirty="0">
                <a:solidFill>
                  <a:srgbClr val="FFFFFF"/>
                </a:solidFill>
                <a:latin typeface="Times New Roman"/>
                <a:cs typeface="Times New Roman"/>
              </a:rPr>
              <a:t>object.</a:t>
            </a:r>
            <a:endParaRPr sz="1700">
              <a:latin typeface="Times New Roman"/>
              <a:cs typeface="Times New Roman"/>
            </a:endParaRPr>
          </a:p>
        </p:txBody>
      </p:sp>
      <p:grpSp>
        <p:nvGrpSpPr>
          <p:cNvPr id="11" name="object 11"/>
          <p:cNvGrpSpPr/>
          <p:nvPr/>
        </p:nvGrpSpPr>
        <p:grpSpPr>
          <a:xfrm>
            <a:off x="2083307" y="1884451"/>
            <a:ext cx="690245" cy="530860"/>
            <a:chOff x="2083307" y="1884451"/>
            <a:chExt cx="690245" cy="530860"/>
          </a:xfrm>
        </p:grpSpPr>
        <p:pic>
          <p:nvPicPr>
            <p:cNvPr id="12" name="object 12"/>
            <p:cNvPicPr/>
            <p:nvPr/>
          </p:nvPicPr>
          <p:blipFill>
            <a:blip r:embed="rId7" cstate="print"/>
            <a:stretch>
              <a:fillRect/>
            </a:stretch>
          </p:blipFill>
          <p:spPr>
            <a:xfrm>
              <a:off x="2083307" y="1884451"/>
              <a:ext cx="689635" cy="530326"/>
            </a:xfrm>
            <a:prstGeom prst="rect">
              <a:avLst/>
            </a:prstGeom>
          </p:spPr>
        </p:pic>
        <p:sp>
          <p:nvSpPr>
            <p:cNvPr id="13" name="object 13"/>
            <p:cNvSpPr/>
            <p:nvPr/>
          </p:nvSpPr>
          <p:spPr>
            <a:xfrm>
              <a:off x="2124455" y="1902714"/>
              <a:ext cx="614680" cy="455295"/>
            </a:xfrm>
            <a:custGeom>
              <a:avLst/>
              <a:gdLst/>
              <a:ahLst/>
              <a:cxnLst/>
              <a:rect l="l" t="t" r="r" b="b"/>
              <a:pathLst>
                <a:path w="614680" h="455294">
                  <a:moveTo>
                    <a:pt x="307086" y="0"/>
                  </a:moveTo>
                  <a:lnTo>
                    <a:pt x="251901" y="3665"/>
                  </a:lnTo>
                  <a:lnTo>
                    <a:pt x="199955" y="14232"/>
                  </a:lnTo>
                  <a:lnTo>
                    <a:pt x="152117" y="31058"/>
                  </a:lnTo>
                  <a:lnTo>
                    <a:pt x="109256" y="53500"/>
                  </a:lnTo>
                  <a:lnTo>
                    <a:pt x="72240" y="80916"/>
                  </a:lnTo>
                  <a:lnTo>
                    <a:pt x="41938" y="112663"/>
                  </a:lnTo>
                  <a:lnTo>
                    <a:pt x="19218" y="148097"/>
                  </a:lnTo>
                  <a:lnTo>
                    <a:pt x="4949" y="186576"/>
                  </a:lnTo>
                  <a:lnTo>
                    <a:pt x="0" y="227457"/>
                  </a:lnTo>
                  <a:lnTo>
                    <a:pt x="4949" y="268337"/>
                  </a:lnTo>
                  <a:lnTo>
                    <a:pt x="19218" y="306816"/>
                  </a:lnTo>
                  <a:lnTo>
                    <a:pt x="41938" y="342250"/>
                  </a:lnTo>
                  <a:lnTo>
                    <a:pt x="72240" y="373997"/>
                  </a:lnTo>
                  <a:lnTo>
                    <a:pt x="109256" y="401413"/>
                  </a:lnTo>
                  <a:lnTo>
                    <a:pt x="152117" y="423855"/>
                  </a:lnTo>
                  <a:lnTo>
                    <a:pt x="199955" y="440681"/>
                  </a:lnTo>
                  <a:lnTo>
                    <a:pt x="251901" y="451248"/>
                  </a:lnTo>
                  <a:lnTo>
                    <a:pt x="307086" y="454914"/>
                  </a:lnTo>
                  <a:lnTo>
                    <a:pt x="362270" y="451248"/>
                  </a:lnTo>
                  <a:lnTo>
                    <a:pt x="414216" y="440681"/>
                  </a:lnTo>
                  <a:lnTo>
                    <a:pt x="462054" y="423855"/>
                  </a:lnTo>
                  <a:lnTo>
                    <a:pt x="504915" y="401413"/>
                  </a:lnTo>
                  <a:lnTo>
                    <a:pt x="541931" y="373997"/>
                  </a:lnTo>
                  <a:lnTo>
                    <a:pt x="572233" y="342250"/>
                  </a:lnTo>
                  <a:lnTo>
                    <a:pt x="594953" y="306816"/>
                  </a:lnTo>
                  <a:lnTo>
                    <a:pt x="609222" y="268337"/>
                  </a:lnTo>
                  <a:lnTo>
                    <a:pt x="614172" y="227457"/>
                  </a:lnTo>
                  <a:lnTo>
                    <a:pt x="609222" y="186576"/>
                  </a:lnTo>
                  <a:lnTo>
                    <a:pt x="594953" y="148097"/>
                  </a:lnTo>
                  <a:lnTo>
                    <a:pt x="572233" y="112663"/>
                  </a:lnTo>
                  <a:lnTo>
                    <a:pt x="541931" y="80916"/>
                  </a:lnTo>
                  <a:lnTo>
                    <a:pt x="504915" y="53500"/>
                  </a:lnTo>
                  <a:lnTo>
                    <a:pt x="462054" y="31058"/>
                  </a:lnTo>
                  <a:lnTo>
                    <a:pt x="414216" y="14232"/>
                  </a:lnTo>
                  <a:lnTo>
                    <a:pt x="362270" y="3665"/>
                  </a:lnTo>
                  <a:lnTo>
                    <a:pt x="307086" y="0"/>
                  </a:lnTo>
                  <a:close/>
                </a:path>
              </a:pathLst>
            </a:custGeom>
            <a:solidFill>
              <a:srgbClr val="E1BEBD"/>
            </a:solidFill>
          </p:spPr>
          <p:txBody>
            <a:bodyPr wrap="square" lIns="0" tIns="0" rIns="0" bIns="0" rtlCol="0"/>
            <a:lstStyle/>
            <a:p>
              <a:endParaRPr/>
            </a:p>
          </p:txBody>
        </p:sp>
      </p:grpSp>
      <p:grpSp>
        <p:nvGrpSpPr>
          <p:cNvPr id="14" name="object 14"/>
          <p:cNvGrpSpPr/>
          <p:nvPr/>
        </p:nvGrpSpPr>
        <p:grpSpPr>
          <a:xfrm>
            <a:off x="4743450" y="1559813"/>
            <a:ext cx="4274185" cy="2026920"/>
            <a:chOff x="4743450" y="1559813"/>
            <a:chExt cx="4274185" cy="2026920"/>
          </a:xfrm>
        </p:grpSpPr>
        <p:pic>
          <p:nvPicPr>
            <p:cNvPr id="15" name="object 15"/>
            <p:cNvPicPr/>
            <p:nvPr/>
          </p:nvPicPr>
          <p:blipFill>
            <a:blip r:embed="rId4" cstate="print"/>
            <a:stretch>
              <a:fillRect/>
            </a:stretch>
          </p:blipFill>
          <p:spPr>
            <a:xfrm>
              <a:off x="4743450" y="1559813"/>
              <a:ext cx="4274058" cy="1926336"/>
            </a:xfrm>
            <a:prstGeom prst="rect">
              <a:avLst/>
            </a:prstGeom>
          </p:spPr>
        </p:pic>
        <p:pic>
          <p:nvPicPr>
            <p:cNvPr id="16" name="object 16"/>
            <p:cNvPicPr/>
            <p:nvPr/>
          </p:nvPicPr>
          <p:blipFill>
            <a:blip r:embed="rId8" cstate="print"/>
            <a:stretch>
              <a:fillRect/>
            </a:stretch>
          </p:blipFill>
          <p:spPr>
            <a:xfrm>
              <a:off x="4910328" y="2358390"/>
              <a:ext cx="3987546" cy="1228343"/>
            </a:xfrm>
            <a:prstGeom prst="rect">
              <a:avLst/>
            </a:prstGeom>
          </p:spPr>
        </p:pic>
        <p:pic>
          <p:nvPicPr>
            <p:cNvPr id="17" name="object 17"/>
            <p:cNvPicPr/>
            <p:nvPr/>
          </p:nvPicPr>
          <p:blipFill>
            <a:blip r:embed="rId9" cstate="print"/>
            <a:stretch>
              <a:fillRect/>
            </a:stretch>
          </p:blipFill>
          <p:spPr>
            <a:xfrm>
              <a:off x="4784598" y="1578101"/>
              <a:ext cx="4198620" cy="1850898"/>
            </a:xfrm>
            <a:prstGeom prst="rect">
              <a:avLst/>
            </a:prstGeom>
          </p:spPr>
        </p:pic>
      </p:grpSp>
      <p:sp>
        <p:nvSpPr>
          <p:cNvPr id="18" name="object 18"/>
          <p:cNvSpPr txBox="1"/>
          <p:nvPr/>
        </p:nvSpPr>
        <p:spPr>
          <a:xfrm>
            <a:off x="5068315" y="2386583"/>
            <a:ext cx="3633470" cy="984250"/>
          </a:xfrm>
          <a:prstGeom prst="rect">
            <a:avLst/>
          </a:prstGeom>
        </p:spPr>
        <p:txBody>
          <a:bodyPr vert="horz" wrap="square" lIns="0" tIns="41275" rIns="0" bIns="0" rtlCol="0">
            <a:spAutoFit/>
          </a:bodyPr>
          <a:lstStyle/>
          <a:p>
            <a:pPr marL="12065" marR="5080" indent="-1905" algn="ctr">
              <a:lnSpc>
                <a:spcPts val="1839"/>
              </a:lnSpc>
              <a:spcBef>
                <a:spcPts val="325"/>
              </a:spcBef>
            </a:pPr>
            <a:r>
              <a:rPr sz="1700" spc="80" dirty="0">
                <a:solidFill>
                  <a:srgbClr val="FFFFFF"/>
                </a:solidFill>
                <a:latin typeface="Times New Roman"/>
                <a:cs typeface="Times New Roman"/>
              </a:rPr>
              <a:t>They</a:t>
            </a:r>
            <a:r>
              <a:rPr sz="1700" spc="-55" dirty="0">
                <a:solidFill>
                  <a:srgbClr val="FFFFFF"/>
                </a:solidFill>
                <a:latin typeface="Times New Roman"/>
                <a:cs typeface="Times New Roman"/>
              </a:rPr>
              <a:t> </a:t>
            </a:r>
            <a:r>
              <a:rPr sz="1700" spc="70" dirty="0">
                <a:solidFill>
                  <a:srgbClr val="FFFFFF"/>
                </a:solidFill>
                <a:latin typeface="Times New Roman"/>
                <a:cs typeface="Times New Roman"/>
              </a:rPr>
              <a:t>present</a:t>
            </a:r>
            <a:r>
              <a:rPr sz="1700" spc="-80" dirty="0">
                <a:solidFill>
                  <a:srgbClr val="FFFFFF"/>
                </a:solidFill>
                <a:latin typeface="Times New Roman"/>
                <a:cs typeface="Times New Roman"/>
              </a:rPr>
              <a:t> </a:t>
            </a:r>
            <a:r>
              <a:rPr sz="1700" spc="25" dirty="0">
                <a:solidFill>
                  <a:srgbClr val="FFFFFF"/>
                </a:solidFill>
                <a:latin typeface="Times New Roman"/>
                <a:cs typeface="Times New Roman"/>
              </a:rPr>
              <a:t>a</a:t>
            </a:r>
            <a:r>
              <a:rPr sz="1700" spc="-65" dirty="0">
                <a:solidFill>
                  <a:srgbClr val="FFFFFF"/>
                </a:solidFill>
                <a:latin typeface="Times New Roman"/>
                <a:cs typeface="Times New Roman"/>
              </a:rPr>
              <a:t> </a:t>
            </a:r>
            <a:r>
              <a:rPr sz="1700" spc="25" dirty="0">
                <a:solidFill>
                  <a:srgbClr val="FFFFFF"/>
                </a:solidFill>
                <a:latin typeface="Times New Roman"/>
                <a:cs typeface="Times New Roman"/>
              </a:rPr>
              <a:t>layer</a:t>
            </a:r>
            <a:r>
              <a:rPr sz="1700" spc="-65" dirty="0">
                <a:solidFill>
                  <a:srgbClr val="FFFFFF"/>
                </a:solidFill>
                <a:latin typeface="Times New Roman"/>
                <a:cs typeface="Times New Roman"/>
              </a:rPr>
              <a:t> </a:t>
            </a:r>
            <a:r>
              <a:rPr sz="1700" spc="45" dirty="0">
                <a:solidFill>
                  <a:srgbClr val="FFFFFF"/>
                </a:solidFill>
                <a:latin typeface="Times New Roman"/>
                <a:cs typeface="Times New Roman"/>
              </a:rPr>
              <a:t>of</a:t>
            </a:r>
            <a:r>
              <a:rPr sz="1700" spc="-65" dirty="0">
                <a:solidFill>
                  <a:srgbClr val="FFFFFF"/>
                </a:solidFill>
                <a:latin typeface="Times New Roman"/>
                <a:cs typeface="Times New Roman"/>
              </a:rPr>
              <a:t> </a:t>
            </a:r>
            <a:r>
              <a:rPr sz="1700" spc="60" dirty="0">
                <a:solidFill>
                  <a:srgbClr val="FFFFFF"/>
                </a:solidFill>
                <a:latin typeface="Times New Roman"/>
                <a:cs typeface="Times New Roman"/>
              </a:rPr>
              <a:t>abstraction</a:t>
            </a:r>
            <a:r>
              <a:rPr sz="1700" spc="-60" dirty="0">
                <a:solidFill>
                  <a:srgbClr val="FFFFFF"/>
                </a:solidFill>
                <a:latin typeface="Times New Roman"/>
                <a:cs typeface="Times New Roman"/>
              </a:rPr>
              <a:t> </a:t>
            </a:r>
            <a:r>
              <a:rPr sz="1700" spc="95" dirty="0">
                <a:solidFill>
                  <a:srgbClr val="FFFFFF"/>
                </a:solidFill>
                <a:latin typeface="Times New Roman"/>
                <a:cs typeface="Times New Roman"/>
              </a:rPr>
              <a:t>that  </a:t>
            </a:r>
            <a:r>
              <a:rPr sz="1700" spc="50" dirty="0">
                <a:solidFill>
                  <a:srgbClr val="FFFFFF"/>
                </a:solidFill>
                <a:latin typeface="Times New Roman"/>
                <a:cs typeface="Times New Roman"/>
              </a:rPr>
              <a:t>guards </a:t>
            </a:r>
            <a:r>
              <a:rPr sz="1700" spc="25" dirty="0">
                <a:solidFill>
                  <a:srgbClr val="FFFFFF"/>
                </a:solidFill>
                <a:latin typeface="Times New Roman"/>
                <a:cs typeface="Times New Roman"/>
              </a:rPr>
              <a:t>a </a:t>
            </a:r>
            <a:r>
              <a:rPr sz="1700" spc="50" dirty="0">
                <a:solidFill>
                  <a:srgbClr val="FFFFFF"/>
                </a:solidFill>
                <a:latin typeface="Times New Roman"/>
                <a:cs typeface="Times New Roman"/>
              </a:rPr>
              <a:t>client </a:t>
            </a:r>
            <a:r>
              <a:rPr sz="1700" spc="55" dirty="0">
                <a:solidFill>
                  <a:srgbClr val="FFFFFF"/>
                </a:solidFill>
                <a:latin typeface="Times New Roman"/>
                <a:cs typeface="Times New Roman"/>
              </a:rPr>
              <a:t>application </a:t>
            </a:r>
            <a:r>
              <a:rPr sz="1700" spc="60" dirty="0">
                <a:solidFill>
                  <a:srgbClr val="FFFFFF"/>
                </a:solidFill>
                <a:latin typeface="Times New Roman"/>
                <a:cs typeface="Times New Roman"/>
              </a:rPr>
              <a:t>from </a:t>
            </a:r>
            <a:r>
              <a:rPr sz="1700" spc="95" dirty="0">
                <a:solidFill>
                  <a:srgbClr val="FFFFFF"/>
                </a:solidFill>
                <a:latin typeface="Times New Roman"/>
                <a:cs typeface="Times New Roman"/>
              </a:rPr>
              <a:t>the  </a:t>
            </a:r>
            <a:r>
              <a:rPr sz="1700" spc="50" dirty="0">
                <a:solidFill>
                  <a:srgbClr val="FFFFFF"/>
                </a:solidFill>
                <a:latin typeface="Times New Roman"/>
                <a:cs typeface="Times New Roman"/>
              </a:rPr>
              <a:t>modifications</a:t>
            </a:r>
            <a:r>
              <a:rPr sz="1700" spc="-50" dirty="0">
                <a:solidFill>
                  <a:srgbClr val="FFFFFF"/>
                </a:solidFill>
                <a:latin typeface="Times New Roman"/>
                <a:cs typeface="Times New Roman"/>
              </a:rPr>
              <a:t> </a:t>
            </a:r>
            <a:r>
              <a:rPr sz="1700" spc="60" dirty="0">
                <a:solidFill>
                  <a:srgbClr val="FFFFFF"/>
                </a:solidFill>
                <a:latin typeface="Times New Roman"/>
                <a:cs typeface="Times New Roman"/>
              </a:rPr>
              <a:t>made</a:t>
            </a:r>
            <a:r>
              <a:rPr sz="1700" spc="-60" dirty="0">
                <a:solidFill>
                  <a:srgbClr val="FFFFFF"/>
                </a:solidFill>
                <a:latin typeface="Times New Roman"/>
                <a:cs typeface="Times New Roman"/>
              </a:rPr>
              <a:t> </a:t>
            </a:r>
            <a:r>
              <a:rPr sz="1700" spc="90" dirty="0">
                <a:solidFill>
                  <a:srgbClr val="FFFFFF"/>
                </a:solidFill>
                <a:latin typeface="Times New Roman"/>
                <a:cs typeface="Times New Roman"/>
              </a:rPr>
              <a:t>to</a:t>
            </a:r>
            <a:r>
              <a:rPr sz="1700" spc="-55" dirty="0">
                <a:solidFill>
                  <a:srgbClr val="FFFFFF"/>
                </a:solidFill>
                <a:latin typeface="Times New Roman"/>
                <a:cs typeface="Times New Roman"/>
              </a:rPr>
              <a:t> </a:t>
            </a:r>
            <a:r>
              <a:rPr sz="1700" spc="95" dirty="0">
                <a:solidFill>
                  <a:srgbClr val="FFFFFF"/>
                </a:solidFill>
                <a:latin typeface="Times New Roman"/>
                <a:cs typeface="Times New Roman"/>
              </a:rPr>
              <a:t>the</a:t>
            </a:r>
            <a:r>
              <a:rPr sz="1700" spc="-55" dirty="0">
                <a:solidFill>
                  <a:srgbClr val="FFFFFF"/>
                </a:solidFill>
                <a:latin typeface="Times New Roman"/>
                <a:cs typeface="Times New Roman"/>
              </a:rPr>
              <a:t> </a:t>
            </a:r>
            <a:r>
              <a:rPr sz="1700" spc="55" dirty="0">
                <a:solidFill>
                  <a:srgbClr val="FFFFFF"/>
                </a:solidFill>
                <a:latin typeface="Times New Roman"/>
                <a:cs typeface="Times New Roman"/>
              </a:rPr>
              <a:t>location</a:t>
            </a:r>
            <a:r>
              <a:rPr sz="1700" spc="-55" dirty="0">
                <a:solidFill>
                  <a:srgbClr val="FFFFFF"/>
                </a:solidFill>
                <a:latin typeface="Times New Roman"/>
                <a:cs typeface="Times New Roman"/>
              </a:rPr>
              <a:t> </a:t>
            </a:r>
            <a:r>
              <a:rPr sz="1700" spc="95" dirty="0">
                <a:solidFill>
                  <a:srgbClr val="FFFFFF"/>
                </a:solidFill>
                <a:latin typeface="Times New Roman"/>
                <a:cs typeface="Times New Roman"/>
              </a:rPr>
              <a:t>and  the</a:t>
            </a:r>
            <a:r>
              <a:rPr sz="1700" spc="-65" dirty="0">
                <a:solidFill>
                  <a:srgbClr val="FFFFFF"/>
                </a:solidFill>
                <a:latin typeface="Times New Roman"/>
                <a:cs typeface="Times New Roman"/>
              </a:rPr>
              <a:t> </a:t>
            </a:r>
            <a:r>
              <a:rPr sz="1700" spc="75" dirty="0">
                <a:solidFill>
                  <a:srgbClr val="FFFFFF"/>
                </a:solidFill>
                <a:latin typeface="Times New Roman"/>
                <a:cs typeface="Times New Roman"/>
              </a:rPr>
              <a:t>name</a:t>
            </a:r>
            <a:r>
              <a:rPr sz="1700" spc="-70" dirty="0">
                <a:solidFill>
                  <a:srgbClr val="FFFFFF"/>
                </a:solidFill>
                <a:latin typeface="Times New Roman"/>
                <a:cs typeface="Times New Roman"/>
              </a:rPr>
              <a:t> </a:t>
            </a:r>
            <a:r>
              <a:rPr sz="1700" spc="45" dirty="0">
                <a:solidFill>
                  <a:srgbClr val="FFFFFF"/>
                </a:solidFill>
                <a:latin typeface="Times New Roman"/>
                <a:cs typeface="Times New Roman"/>
              </a:rPr>
              <a:t>of</a:t>
            </a:r>
            <a:r>
              <a:rPr sz="1700" spc="-70" dirty="0">
                <a:solidFill>
                  <a:srgbClr val="FFFFFF"/>
                </a:solidFill>
                <a:latin typeface="Times New Roman"/>
                <a:cs typeface="Times New Roman"/>
              </a:rPr>
              <a:t> </a:t>
            </a:r>
            <a:r>
              <a:rPr sz="1700" spc="95" dirty="0">
                <a:solidFill>
                  <a:srgbClr val="FFFFFF"/>
                </a:solidFill>
                <a:latin typeface="Times New Roman"/>
                <a:cs typeface="Times New Roman"/>
              </a:rPr>
              <a:t>the</a:t>
            </a:r>
            <a:r>
              <a:rPr sz="1700" spc="-60" dirty="0">
                <a:solidFill>
                  <a:srgbClr val="FFFFFF"/>
                </a:solidFill>
                <a:latin typeface="Times New Roman"/>
                <a:cs typeface="Times New Roman"/>
              </a:rPr>
              <a:t> </a:t>
            </a:r>
            <a:r>
              <a:rPr sz="1700" spc="35" dirty="0">
                <a:solidFill>
                  <a:srgbClr val="FFFFFF"/>
                </a:solidFill>
                <a:latin typeface="Times New Roman"/>
                <a:cs typeface="Times New Roman"/>
              </a:rPr>
              <a:t>base</a:t>
            </a:r>
            <a:r>
              <a:rPr sz="1700" spc="-80" dirty="0">
                <a:solidFill>
                  <a:srgbClr val="FFFFFF"/>
                </a:solidFill>
                <a:latin typeface="Times New Roman"/>
                <a:cs typeface="Times New Roman"/>
              </a:rPr>
              <a:t> </a:t>
            </a:r>
            <a:r>
              <a:rPr sz="1700" spc="45" dirty="0">
                <a:solidFill>
                  <a:srgbClr val="FFFFFF"/>
                </a:solidFill>
                <a:latin typeface="Times New Roman"/>
                <a:cs typeface="Times New Roman"/>
              </a:rPr>
              <a:t>object.</a:t>
            </a:r>
            <a:endParaRPr sz="1700">
              <a:latin typeface="Times New Roman"/>
              <a:cs typeface="Times New Roman"/>
            </a:endParaRPr>
          </a:p>
        </p:txBody>
      </p:sp>
      <p:grpSp>
        <p:nvGrpSpPr>
          <p:cNvPr id="19" name="object 19"/>
          <p:cNvGrpSpPr/>
          <p:nvPr/>
        </p:nvGrpSpPr>
        <p:grpSpPr>
          <a:xfrm>
            <a:off x="6150864" y="1884451"/>
            <a:ext cx="651510" cy="530860"/>
            <a:chOff x="6150864" y="1884451"/>
            <a:chExt cx="651510" cy="530860"/>
          </a:xfrm>
        </p:grpSpPr>
        <p:pic>
          <p:nvPicPr>
            <p:cNvPr id="20" name="object 20"/>
            <p:cNvPicPr/>
            <p:nvPr/>
          </p:nvPicPr>
          <p:blipFill>
            <a:blip r:embed="rId10" cstate="print"/>
            <a:stretch>
              <a:fillRect/>
            </a:stretch>
          </p:blipFill>
          <p:spPr>
            <a:xfrm>
              <a:off x="6150864" y="1884451"/>
              <a:ext cx="651510" cy="530326"/>
            </a:xfrm>
            <a:prstGeom prst="rect">
              <a:avLst/>
            </a:prstGeom>
          </p:spPr>
        </p:pic>
        <p:sp>
          <p:nvSpPr>
            <p:cNvPr id="21" name="object 21"/>
            <p:cNvSpPr/>
            <p:nvPr/>
          </p:nvSpPr>
          <p:spPr>
            <a:xfrm>
              <a:off x="6192012" y="1902714"/>
              <a:ext cx="576580" cy="455295"/>
            </a:xfrm>
            <a:custGeom>
              <a:avLst/>
              <a:gdLst/>
              <a:ahLst/>
              <a:cxnLst/>
              <a:rect l="l" t="t" r="r" b="b"/>
              <a:pathLst>
                <a:path w="576579" h="455294">
                  <a:moveTo>
                    <a:pt x="288036" y="0"/>
                  </a:moveTo>
                  <a:lnTo>
                    <a:pt x="236247" y="3665"/>
                  </a:lnTo>
                  <a:lnTo>
                    <a:pt x="187509" y="14232"/>
                  </a:lnTo>
                  <a:lnTo>
                    <a:pt x="142635" y="31058"/>
                  </a:lnTo>
                  <a:lnTo>
                    <a:pt x="102436" y="53500"/>
                  </a:lnTo>
                  <a:lnTo>
                    <a:pt x="67724" y="80916"/>
                  </a:lnTo>
                  <a:lnTo>
                    <a:pt x="39313" y="112663"/>
                  </a:lnTo>
                  <a:lnTo>
                    <a:pt x="18014" y="148097"/>
                  </a:lnTo>
                  <a:lnTo>
                    <a:pt x="4638" y="186576"/>
                  </a:lnTo>
                  <a:lnTo>
                    <a:pt x="0" y="227457"/>
                  </a:lnTo>
                  <a:lnTo>
                    <a:pt x="4638" y="268337"/>
                  </a:lnTo>
                  <a:lnTo>
                    <a:pt x="18014" y="306816"/>
                  </a:lnTo>
                  <a:lnTo>
                    <a:pt x="39313" y="342250"/>
                  </a:lnTo>
                  <a:lnTo>
                    <a:pt x="67724" y="373997"/>
                  </a:lnTo>
                  <a:lnTo>
                    <a:pt x="102436" y="401413"/>
                  </a:lnTo>
                  <a:lnTo>
                    <a:pt x="142635" y="423855"/>
                  </a:lnTo>
                  <a:lnTo>
                    <a:pt x="187509" y="440681"/>
                  </a:lnTo>
                  <a:lnTo>
                    <a:pt x="236247" y="451248"/>
                  </a:lnTo>
                  <a:lnTo>
                    <a:pt x="288036" y="454914"/>
                  </a:lnTo>
                  <a:lnTo>
                    <a:pt x="339824" y="451248"/>
                  </a:lnTo>
                  <a:lnTo>
                    <a:pt x="388562" y="440681"/>
                  </a:lnTo>
                  <a:lnTo>
                    <a:pt x="433436" y="423855"/>
                  </a:lnTo>
                  <a:lnTo>
                    <a:pt x="473635" y="401413"/>
                  </a:lnTo>
                  <a:lnTo>
                    <a:pt x="508347" y="373997"/>
                  </a:lnTo>
                  <a:lnTo>
                    <a:pt x="536758" y="342250"/>
                  </a:lnTo>
                  <a:lnTo>
                    <a:pt x="558057" y="306816"/>
                  </a:lnTo>
                  <a:lnTo>
                    <a:pt x="571433" y="268337"/>
                  </a:lnTo>
                  <a:lnTo>
                    <a:pt x="576072" y="227457"/>
                  </a:lnTo>
                  <a:lnTo>
                    <a:pt x="571433" y="186576"/>
                  </a:lnTo>
                  <a:lnTo>
                    <a:pt x="558057" y="148097"/>
                  </a:lnTo>
                  <a:lnTo>
                    <a:pt x="536758" y="112663"/>
                  </a:lnTo>
                  <a:lnTo>
                    <a:pt x="508347" y="80916"/>
                  </a:lnTo>
                  <a:lnTo>
                    <a:pt x="473635" y="53500"/>
                  </a:lnTo>
                  <a:lnTo>
                    <a:pt x="433436" y="31058"/>
                  </a:lnTo>
                  <a:lnTo>
                    <a:pt x="388562" y="14232"/>
                  </a:lnTo>
                  <a:lnTo>
                    <a:pt x="339824" y="3665"/>
                  </a:lnTo>
                  <a:lnTo>
                    <a:pt x="288036" y="0"/>
                  </a:lnTo>
                  <a:close/>
                </a:path>
              </a:pathLst>
            </a:custGeom>
            <a:solidFill>
              <a:srgbClr val="E1BEBD"/>
            </a:solidFill>
          </p:spPr>
          <p:txBody>
            <a:bodyPr wrap="square" lIns="0" tIns="0" rIns="0" bIns="0" rtlCol="0"/>
            <a:lstStyle/>
            <a:p>
              <a:endParaRPr/>
            </a:p>
          </p:txBody>
        </p:sp>
      </p:grpSp>
      <p:sp>
        <p:nvSpPr>
          <p:cNvPr id="23" name="object 2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12</a:t>
            </a:fld>
            <a:endParaRPr sz="1200"/>
          </a:p>
        </p:txBody>
      </p:sp>
      <p:sp>
        <p:nvSpPr>
          <p:cNvPr id="24" name="object 24"/>
          <p:cNvSpPr txBox="1">
            <a:spLocks noGrp="1"/>
          </p:cNvSpPr>
          <p:nvPr>
            <p:ph type="ftr" sz="quarter" idx="5"/>
          </p:nvPr>
        </p:nvSpPr>
        <p:spPr>
          <a:xfrm>
            <a:off x="78738" y="6596379"/>
            <a:ext cx="12166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025140" cy="635635"/>
          </a:xfrm>
          <a:prstGeom prst="rect">
            <a:avLst/>
          </a:prstGeom>
        </p:spPr>
        <p:txBody>
          <a:bodyPr vert="horz" wrap="square" lIns="0" tIns="12700" rIns="0" bIns="0" rtlCol="0">
            <a:spAutoFit/>
          </a:bodyPr>
          <a:lstStyle/>
          <a:p>
            <a:pPr marL="12700">
              <a:lnSpc>
                <a:spcPct val="100000"/>
              </a:lnSpc>
              <a:spcBef>
                <a:spcPts val="100"/>
              </a:spcBef>
            </a:pPr>
            <a:r>
              <a:rPr spc="160" dirty="0"/>
              <a:t>Synonyms</a:t>
            </a:r>
            <a:r>
              <a:rPr spc="-235" dirty="0"/>
              <a:t> </a:t>
            </a:r>
            <a:r>
              <a:rPr spc="-250" dirty="0"/>
              <a:t>2-5</a:t>
            </a:r>
          </a:p>
        </p:txBody>
      </p:sp>
      <p:sp>
        <p:nvSpPr>
          <p:cNvPr id="3" name="object 3"/>
          <p:cNvSpPr txBox="1"/>
          <p:nvPr/>
        </p:nvSpPr>
        <p:spPr>
          <a:xfrm>
            <a:off x="1240536" y="4100321"/>
            <a:ext cx="7455534" cy="1461770"/>
          </a:xfrm>
          <a:prstGeom prst="rect">
            <a:avLst/>
          </a:prstGeom>
          <a:solidFill>
            <a:srgbClr val="205868"/>
          </a:solidFill>
        </p:spPr>
        <p:txBody>
          <a:bodyPr vert="horz" wrap="square" lIns="0" tIns="202565" rIns="0" bIns="0" rtlCol="0">
            <a:spAutoFit/>
          </a:bodyPr>
          <a:lstStyle/>
          <a:p>
            <a:pPr marL="361950" marR="69215" indent="-285750">
              <a:lnSpc>
                <a:spcPts val="1939"/>
              </a:lnSpc>
              <a:spcBef>
                <a:spcPts val="1595"/>
              </a:spcBef>
              <a:buFont typeface="Wingdings"/>
              <a:buChar char=""/>
              <a:tabLst>
                <a:tab pos="362585" algn="l"/>
              </a:tabLst>
            </a:pPr>
            <a:r>
              <a:rPr sz="1800" spc="160" dirty="0">
                <a:solidFill>
                  <a:srgbClr val="FFFFFF"/>
                </a:solidFill>
                <a:latin typeface="Times New Roman"/>
                <a:cs typeface="Times New Roman"/>
              </a:rPr>
              <a:t>A </a:t>
            </a:r>
            <a:r>
              <a:rPr sz="1800" spc="60" dirty="0">
                <a:solidFill>
                  <a:srgbClr val="FFFFFF"/>
                </a:solidFill>
                <a:latin typeface="Times New Roman"/>
                <a:cs typeface="Times New Roman"/>
              </a:rPr>
              <a:t>user </a:t>
            </a:r>
            <a:r>
              <a:rPr sz="1800" spc="75" dirty="0">
                <a:solidFill>
                  <a:srgbClr val="FFFFFF"/>
                </a:solidFill>
                <a:latin typeface="Times New Roman"/>
                <a:cs typeface="Times New Roman"/>
              </a:rPr>
              <a:t>owns </a:t>
            </a:r>
            <a:r>
              <a:rPr sz="1800" spc="30" dirty="0">
                <a:solidFill>
                  <a:srgbClr val="FFFFFF"/>
                </a:solidFill>
                <a:latin typeface="Times New Roman"/>
                <a:cs typeface="Times New Roman"/>
              </a:rPr>
              <a:t>a </a:t>
            </a:r>
            <a:r>
              <a:rPr sz="1800" spc="55" dirty="0">
                <a:solidFill>
                  <a:srgbClr val="FFFFFF"/>
                </a:solidFill>
                <a:latin typeface="Times New Roman"/>
                <a:cs typeface="Times New Roman"/>
              </a:rPr>
              <a:t>schema </a:t>
            </a:r>
            <a:r>
              <a:rPr sz="1800" spc="50" dirty="0">
                <a:solidFill>
                  <a:srgbClr val="FFFFFF"/>
                </a:solidFill>
                <a:latin typeface="Times New Roman"/>
                <a:cs typeface="Times New Roman"/>
              </a:rPr>
              <a:t>Resources, </a:t>
            </a:r>
            <a:r>
              <a:rPr sz="1800" spc="110" dirty="0">
                <a:solidFill>
                  <a:srgbClr val="FFFFFF"/>
                </a:solidFill>
                <a:latin typeface="Times New Roman"/>
                <a:cs typeface="Times New Roman"/>
              </a:rPr>
              <a:t>but </a:t>
            </a:r>
            <a:r>
              <a:rPr sz="1800" spc="35" dirty="0">
                <a:solidFill>
                  <a:srgbClr val="FFFFFF"/>
                </a:solidFill>
                <a:latin typeface="Times New Roman"/>
                <a:cs typeface="Times New Roman"/>
              </a:rPr>
              <a:t>Materials </a:t>
            </a:r>
            <a:r>
              <a:rPr sz="1800" spc="5" dirty="0">
                <a:solidFill>
                  <a:srgbClr val="FFFFFF"/>
                </a:solidFill>
                <a:latin typeface="Times New Roman"/>
                <a:cs typeface="Times New Roman"/>
              </a:rPr>
              <a:t>is </a:t>
            </a:r>
            <a:r>
              <a:rPr sz="1800" spc="100" dirty="0">
                <a:solidFill>
                  <a:srgbClr val="FFFFFF"/>
                </a:solidFill>
                <a:latin typeface="Times New Roman"/>
                <a:cs typeface="Times New Roman"/>
              </a:rPr>
              <a:t>the </a:t>
            </a:r>
            <a:r>
              <a:rPr sz="1800" spc="70" dirty="0">
                <a:solidFill>
                  <a:srgbClr val="FFFFFF"/>
                </a:solidFill>
                <a:latin typeface="Times New Roman"/>
                <a:cs typeface="Times New Roman"/>
              </a:rPr>
              <a:t>user's </a:t>
            </a:r>
            <a:r>
              <a:rPr sz="1800" spc="60" dirty="0">
                <a:solidFill>
                  <a:srgbClr val="FFFFFF"/>
                </a:solidFill>
                <a:latin typeface="Times New Roman"/>
                <a:cs typeface="Times New Roman"/>
              </a:rPr>
              <a:t>default  </a:t>
            </a:r>
            <a:r>
              <a:rPr sz="1800" spc="45" dirty="0">
                <a:solidFill>
                  <a:srgbClr val="FFFFFF"/>
                </a:solidFill>
                <a:latin typeface="Times New Roman"/>
                <a:cs typeface="Times New Roman"/>
              </a:rPr>
              <a:t>schema.</a:t>
            </a:r>
            <a:endParaRPr sz="1800">
              <a:latin typeface="Times New Roman"/>
              <a:cs typeface="Times New Roman"/>
            </a:endParaRPr>
          </a:p>
          <a:p>
            <a:pPr marL="361950" marR="70485" indent="-285750">
              <a:lnSpc>
                <a:spcPts val="1939"/>
              </a:lnSpc>
              <a:spcBef>
                <a:spcPts val="10"/>
              </a:spcBef>
              <a:buFont typeface="Wingdings"/>
              <a:buChar char=""/>
              <a:tabLst>
                <a:tab pos="362585" algn="l"/>
              </a:tabLst>
            </a:pPr>
            <a:r>
              <a:rPr sz="1800" dirty="0">
                <a:solidFill>
                  <a:srgbClr val="FFFFFF"/>
                </a:solidFill>
                <a:latin typeface="Times New Roman"/>
                <a:cs typeface="Times New Roman"/>
              </a:rPr>
              <a:t>If </a:t>
            </a:r>
            <a:r>
              <a:rPr sz="1800" spc="70" dirty="0">
                <a:solidFill>
                  <a:srgbClr val="FFFFFF"/>
                </a:solidFill>
                <a:latin typeface="Times New Roman"/>
                <a:cs typeface="Times New Roman"/>
              </a:rPr>
              <a:t>this </a:t>
            </a:r>
            <a:r>
              <a:rPr sz="1800" spc="60" dirty="0">
                <a:solidFill>
                  <a:srgbClr val="FFFFFF"/>
                </a:solidFill>
                <a:latin typeface="Times New Roman"/>
                <a:cs typeface="Times New Roman"/>
              </a:rPr>
              <a:t>user </a:t>
            </a:r>
            <a:r>
              <a:rPr sz="1800" spc="70" dirty="0">
                <a:solidFill>
                  <a:srgbClr val="FFFFFF"/>
                </a:solidFill>
                <a:latin typeface="Times New Roman"/>
                <a:cs typeface="Times New Roman"/>
              </a:rPr>
              <a:t>wants </a:t>
            </a:r>
            <a:r>
              <a:rPr sz="1800" spc="100" dirty="0">
                <a:solidFill>
                  <a:srgbClr val="FFFFFF"/>
                </a:solidFill>
                <a:latin typeface="Times New Roman"/>
                <a:cs typeface="Times New Roman"/>
              </a:rPr>
              <a:t>to </a:t>
            </a:r>
            <a:r>
              <a:rPr sz="1800" spc="50" dirty="0">
                <a:solidFill>
                  <a:srgbClr val="FFFFFF"/>
                </a:solidFill>
                <a:latin typeface="Times New Roman"/>
                <a:cs typeface="Times New Roman"/>
              </a:rPr>
              <a:t>create </a:t>
            </a:r>
            <a:r>
              <a:rPr sz="1800" spc="30" dirty="0">
                <a:solidFill>
                  <a:srgbClr val="FFFFFF"/>
                </a:solidFill>
                <a:latin typeface="Times New Roman"/>
                <a:cs typeface="Times New Roman"/>
              </a:rPr>
              <a:t>a </a:t>
            </a:r>
            <a:r>
              <a:rPr sz="1800" spc="60" dirty="0">
                <a:solidFill>
                  <a:srgbClr val="FFFFFF"/>
                </a:solidFill>
                <a:latin typeface="Times New Roman"/>
                <a:cs typeface="Times New Roman"/>
              </a:rPr>
              <a:t>synonym, </a:t>
            </a:r>
            <a:r>
              <a:rPr sz="1800" spc="105" dirty="0">
                <a:solidFill>
                  <a:srgbClr val="FFFFFF"/>
                </a:solidFill>
                <a:latin typeface="Times New Roman"/>
                <a:cs typeface="Times New Roman"/>
              </a:rPr>
              <a:t>he/she </a:t>
            </a:r>
            <a:r>
              <a:rPr sz="1800" spc="85" dirty="0">
                <a:solidFill>
                  <a:srgbClr val="FFFFFF"/>
                </a:solidFill>
                <a:latin typeface="Times New Roman"/>
                <a:cs typeface="Times New Roman"/>
              </a:rPr>
              <a:t>must </a:t>
            </a:r>
            <a:r>
              <a:rPr sz="1800" spc="55" dirty="0">
                <a:solidFill>
                  <a:srgbClr val="FFFFFF"/>
                </a:solidFill>
                <a:latin typeface="Times New Roman"/>
                <a:cs typeface="Times New Roman"/>
              </a:rPr>
              <a:t>prefix </a:t>
            </a:r>
            <a:r>
              <a:rPr sz="1800" spc="100" dirty="0">
                <a:solidFill>
                  <a:srgbClr val="FFFFFF"/>
                </a:solidFill>
                <a:latin typeface="Times New Roman"/>
                <a:cs typeface="Times New Roman"/>
              </a:rPr>
              <a:t>the </a:t>
            </a:r>
            <a:r>
              <a:rPr sz="1800" spc="80" dirty="0">
                <a:solidFill>
                  <a:srgbClr val="FFFFFF"/>
                </a:solidFill>
                <a:latin typeface="Times New Roman"/>
                <a:cs typeface="Times New Roman"/>
              </a:rPr>
              <a:t>name</a:t>
            </a:r>
            <a:r>
              <a:rPr sz="1800" spc="-5" dirty="0">
                <a:solidFill>
                  <a:srgbClr val="FFFFFF"/>
                </a:solidFill>
                <a:latin typeface="Times New Roman"/>
                <a:cs typeface="Times New Roman"/>
              </a:rPr>
              <a:t> </a:t>
            </a:r>
            <a:r>
              <a:rPr sz="1800" spc="45" dirty="0">
                <a:solidFill>
                  <a:srgbClr val="FFFFFF"/>
                </a:solidFill>
                <a:latin typeface="Times New Roman"/>
                <a:cs typeface="Times New Roman"/>
              </a:rPr>
              <a:t>of  </a:t>
            </a:r>
            <a:r>
              <a:rPr sz="1800" spc="100" dirty="0">
                <a:solidFill>
                  <a:srgbClr val="FFFFFF"/>
                </a:solidFill>
                <a:latin typeface="Times New Roman"/>
                <a:cs typeface="Times New Roman"/>
              </a:rPr>
              <a:t>the</a:t>
            </a:r>
            <a:r>
              <a:rPr sz="1800" spc="-70" dirty="0">
                <a:solidFill>
                  <a:srgbClr val="FFFFFF"/>
                </a:solidFill>
                <a:latin typeface="Times New Roman"/>
                <a:cs typeface="Times New Roman"/>
              </a:rPr>
              <a:t> </a:t>
            </a:r>
            <a:r>
              <a:rPr sz="1800" spc="70" dirty="0">
                <a:solidFill>
                  <a:srgbClr val="FFFFFF"/>
                </a:solidFill>
                <a:latin typeface="Times New Roman"/>
                <a:cs typeface="Times New Roman"/>
              </a:rPr>
              <a:t>synonym</a:t>
            </a:r>
            <a:r>
              <a:rPr sz="1800" spc="-50" dirty="0">
                <a:solidFill>
                  <a:srgbClr val="FFFFFF"/>
                </a:solidFill>
                <a:latin typeface="Times New Roman"/>
                <a:cs typeface="Times New Roman"/>
              </a:rPr>
              <a:t> </a:t>
            </a:r>
            <a:r>
              <a:rPr sz="1800" spc="80" dirty="0">
                <a:solidFill>
                  <a:srgbClr val="FFFFFF"/>
                </a:solidFill>
                <a:latin typeface="Times New Roman"/>
                <a:cs typeface="Times New Roman"/>
              </a:rPr>
              <a:t>with</a:t>
            </a:r>
            <a:r>
              <a:rPr sz="1800" spc="-5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55" dirty="0">
                <a:solidFill>
                  <a:srgbClr val="FFFFFF"/>
                </a:solidFill>
                <a:latin typeface="Times New Roman"/>
                <a:cs typeface="Times New Roman"/>
              </a:rPr>
              <a:t>schema</a:t>
            </a:r>
            <a:r>
              <a:rPr sz="1800" spc="-60" dirty="0">
                <a:solidFill>
                  <a:srgbClr val="FFFFFF"/>
                </a:solidFill>
                <a:latin typeface="Times New Roman"/>
                <a:cs typeface="Times New Roman"/>
              </a:rPr>
              <a:t> </a:t>
            </a:r>
            <a:r>
              <a:rPr sz="1800" spc="50" dirty="0">
                <a:solidFill>
                  <a:srgbClr val="FFFFFF"/>
                </a:solidFill>
                <a:latin typeface="Times New Roman"/>
                <a:cs typeface="Times New Roman"/>
              </a:rPr>
              <a:t>Resources.</a:t>
            </a:r>
            <a:endParaRPr sz="1800">
              <a:latin typeface="Times New Roman"/>
              <a:cs typeface="Times New Roman"/>
            </a:endParaRPr>
          </a:p>
        </p:txBody>
      </p:sp>
      <p:grpSp>
        <p:nvGrpSpPr>
          <p:cNvPr id="4" name="object 4"/>
          <p:cNvGrpSpPr/>
          <p:nvPr/>
        </p:nvGrpSpPr>
        <p:grpSpPr>
          <a:xfrm>
            <a:off x="2154935" y="1139825"/>
            <a:ext cx="4905375" cy="2513965"/>
            <a:chOff x="2154935" y="1139825"/>
            <a:chExt cx="4905375" cy="2513965"/>
          </a:xfrm>
        </p:grpSpPr>
        <p:sp>
          <p:nvSpPr>
            <p:cNvPr id="5" name="object 5"/>
            <p:cNvSpPr/>
            <p:nvPr/>
          </p:nvSpPr>
          <p:spPr>
            <a:xfrm>
              <a:off x="2200274" y="1144905"/>
              <a:ext cx="4743450" cy="1691005"/>
            </a:xfrm>
            <a:custGeom>
              <a:avLst/>
              <a:gdLst/>
              <a:ahLst/>
              <a:cxnLst/>
              <a:rect l="l" t="t" r="r" b="b"/>
              <a:pathLst>
                <a:path w="4743450" h="1691005">
                  <a:moveTo>
                    <a:pt x="4460240" y="0"/>
                  </a:moveTo>
                  <a:lnTo>
                    <a:pt x="283210" y="0"/>
                  </a:lnTo>
                  <a:lnTo>
                    <a:pt x="218296" y="3573"/>
                  </a:lnTo>
                  <a:lnTo>
                    <a:pt x="158694" y="13751"/>
                  </a:lnTo>
                  <a:lnTo>
                    <a:pt x="106108" y="29721"/>
                  </a:lnTo>
                  <a:lnTo>
                    <a:pt x="62241" y="50669"/>
                  </a:lnTo>
                  <a:lnTo>
                    <a:pt x="28799" y="75783"/>
                  </a:lnTo>
                  <a:lnTo>
                    <a:pt x="0" y="135255"/>
                  </a:lnTo>
                  <a:lnTo>
                    <a:pt x="0" y="1690877"/>
                  </a:lnTo>
                  <a:lnTo>
                    <a:pt x="4743450" y="1690877"/>
                  </a:lnTo>
                  <a:lnTo>
                    <a:pt x="4743450" y="135255"/>
                  </a:lnTo>
                  <a:lnTo>
                    <a:pt x="4714650" y="75783"/>
                  </a:lnTo>
                  <a:lnTo>
                    <a:pt x="4681208" y="50669"/>
                  </a:lnTo>
                  <a:lnTo>
                    <a:pt x="4637341" y="29721"/>
                  </a:lnTo>
                  <a:lnTo>
                    <a:pt x="4584755" y="13751"/>
                  </a:lnTo>
                  <a:lnTo>
                    <a:pt x="4525153" y="3573"/>
                  </a:lnTo>
                  <a:lnTo>
                    <a:pt x="4460240" y="0"/>
                  </a:lnTo>
                  <a:close/>
                </a:path>
              </a:pathLst>
            </a:custGeom>
            <a:solidFill>
              <a:srgbClr val="FFFFFF">
                <a:alpha val="90194"/>
              </a:srgbClr>
            </a:solidFill>
          </p:spPr>
          <p:txBody>
            <a:bodyPr wrap="square" lIns="0" tIns="0" rIns="0" bIns="0" rtlCol="0"/>
            <a:lstStyle/>
            <a:p>
              <a:endParaRPr/>
            </a:p>
          </p:txBody>
        </p:sp>
        <p:sp>
          <p:nvSpPr>
            <p:cNvPr id="6" name="object 6"/>
            <p:cNvSpPr/>
            <p:nvPr/>
          </p:nvSpPr>
          <p:spPr>
            <a:xfrm>
              <a:off x="2200274" y="1144905"/>
              <a:ext cx="4743450" cy="1691005"/>
            </a:xfrm>
            <a:custGeom>
              <a:avLst/>
              <a:gdLst/>
              <a:ahLst/>
              <a:cxnLst/>
              <a:rect l="l" t="t" r="r" b="b"/>
              <a:pathLst>
                <a:path w="4743450" h="1691005">
                  <a:moveTo>
                    <a:pt x="283210" y="0"/>
                  </a:moveTo>
                  <a:lnTo>
                    <a:pt x="4460240" y="0"/>
                  </a:lnTo>
                  <a:lnTo>
                    <a:pt x="4525153" y="3573"/>
                  </a:lnTo>
                  <a:lnTo>
                    <a:pt x="4584755" y="13751"/>
                  </a:lnTo>
                  <a:lnTo>
                    <a:pt x="4637341" y="29721"/>
                  </a:lnTo>
                  <a:lnTo>
                    <a:pt x="4681208" y="50669"/>
                  </a:lnTo>
                  <a:lnTo>
                    <a:pt x="4714650" y="75783"/>
                  </a:lnTo>
                  <a:lnTo>
                    <a:pt x="4743450" y="135255"/>
                  </a:lnTo>
                  <a:lnTo>
                    <a:pt x="4743450" y="1690877"/>
                  </a:lnTo>
                  <a:lnTo>
                    <a:pt x="0" y="1690877"/>
                  </a:lnTo>
                  <a:lnTo>
                    <a:pt x="0" y="135255"/>
                  </a:lnTo>
                  <a:lnTo>
                    <a:pt x="7483" y="104249"/>
                  </a:lnTo>
                  <a:lnTo>
                    <a:pt x="62241" y="50669"/>
                  </a:lnTo>
                  <a:lnTo>
                    <a:pt x="106108" y="29721"/>
                  </a:lnTo>
                  <a:lnTo>
                    <a:pt x="158694" y="13751"/>
                  </a:lnTo>
                  <a:lnTo>
                    <a:pt x="218296" y="3573"/>
                  </a:lnTo>
                  <a:lnTo>
                    <a:pt x="283210" y="0"/>
                  </a:lnTo>
                  <a:close/>
                </a:path>
              </a:pathLst>
            </a:custGeom>
            <a:ln w="9906">
              <a:solidFill>
                <a:srgbClr val="159F85"/>
              </a:solidFill>
            </a:ln>
          </p:spPr>
          <p:txBody>
            <a:bodyPr wrap="square" lIns="0" tIns="0" rIns="0" bIns="0" rtlCol="0"/>
            <a:lstStyle/>
            <a:p>
              <a:endParaRPr/>
            </a:p>
          </p:txBody>
        </p:sp>
        <p:pic>
          <p:nvPicPr>
            <p:cNvPr id="7" name="object 7"/>
            <p:cNvPicPr/>
            <p:nvPr/>
          </p:nvPicPr>
          <p:blipFill>
            <a:blip r:embed="rId3" cstate="print"/>
            <a:stretch>
              <a:fillRect/>
            </a:stretch>
          </p:blipFill>
          <p:spPr>
            <a:xfrm>
              <a:off x="2154935" y="2802585"/>
              <a:ext cx="4904994" cy="851204"/>
            </a:xfrm>
            <a:prstGeom prst="rect">
              <a:avLst/>
            </a:prstGeom>
          </p:spPr>
        </p:pic>
        <p:pic>
          <p:nvPicPr>
            <p:cNvPr id="8" name="object 8"/>
            <p:cNvPicPr/>
            <p:nvPr/>
          </p:nvPicPr>
          <p:blipFill>
            <a:blip r:embed="rId4" cstate="print"/>
            <a:stretch>
              <a:fillRect/>
            </a:stretch>
          </p:blipFill>
          <p:spPr>
            <a:xfrm>
              <a:off x="2201036" y="2825876"/>
              <a:ext cx="4819649" cy="765810"/>
            </a:xfrm>
            <a:prstGeom prst="rect">
              <a:avLst/>
            </a:prstGeom>
          </p:spPr>
        </p:pic>
        <p:sp>
          <p:nvSpPr>
            <p:cNvPr id="9" name="object 9"/>
            <p:cNvSpPr/>
            <p:nvPr/>
          </p:nvSpPr>
          <p:spPr>
            <a:xfrm>
              <a:off x="2201036" y="2825876"/>
              <a:ext cx="4819650" cy="765810"/>
            </a:xfrm>
            <a:custGeom>
              <a:avLst/>
              <a:gdLst/>
              <a:ahLst/>
              <a:cxnLst/>
              <a:rect l="l" t="t" r="r" b="b"/>
              <a:pathLst>
                <a:path w="4819650" h="765810">
                  <a:moveTo>
                    <a:pt x="0" y="765810"/>
                  </a:moveTo>
                  <a:lnTo>
                    <a:pt x="4819649" y="765810"/>
                  </a:lnTo>
                  <a:lnTo>
                    <a:pt x="4819649" y="0"/>
                  </a:lnTo>
                  <a:lnTo>
                    <a:pt x="0" y="0"/>
                  </a:lnTo>
                  <a:lnTo>
                    <a:pt x="0" y="765810"/>
                  </a:lnTo>
                  <a:close/>
                </a:path>
              </a:pathLst>
            </a:custGeom>
            <a:ln w="9906">
              <a:solidFill>
                <a:srgbClr val="159F85"/>
              </a:solidFill>
            </a:ln>
          </p:spPr>
          <p:txBody>
            <a:bodyPr wrap="square" lIns="0" tIns="0" rIns="0" bIns="0" rtlCol="0"/>
            <a:lstStyle/>
            <a:p>
              <a:endParaRPr/>
            </a:p>
          </p:txBody>
        </p:sp>
      </p:grpSp>
      <p:sp>
        <p:nvSpPr>
          <p:cNvPr id="10" name="object 10"/>
          <p:cNvSpPr txBox="1"/>
          <p:nvPr/>
        </p:nvSpPr>
        <p:spPr>
          <a:xfrm>
            <a:off x="383540" y="1130553"/>
            <a:ext cx="6637655" cy="2738120"/>
          </a:xfrm>
          <a:prstGeom prst="rect">
            <a:avLst/>
          </a:prstGeom>
        </p:spPr>
        <p:txBody>
          <a:bodyPr vert="horz" wrap="square" lIns="0" tIns="43815" rIns="0" bIns="0" rtlCol="0">
            <a:spAutoFit/>
          </a:bodyPr>
          <a:lstStyle/>
          <a:p>
            <a:pPr marL="2143760" marR="138430" indent="-285750">
              <a:lnSpc>
                <a:spcPts val="1939"/>
              </a:lnSpc>
              <a:spcBef>
                <a:spcPts val="345"/>
              </a:spcBef>
              <a:buFont typeface="Arial"/>
              <a:buChar char="•"/>
              <a:tabLst>
                <a:tab pos="2143760" algn="l"/>
                <a:tab pos="2144395" algn="l"/>
              </a:tabLst>
            </a:pPr>
            <a:r>
              <a:rPr sz="1800" spc="75" dirty="0">
                <a:latin typeface="Times New Roman"/>
                <a:cs typeface="Times New Roman"/>
              </a:rPr>
              <a:t>Suppose</a:t>
            </a:r>
            <a:r>
              <a:rPr sz="1800" spc="-65" dirty="0">
                <a:latin typeface="Times New Roman"/>
                <a:cs typeface="Times New Roman"/>
              </a:rPr>
              <a:t> </a:t>
            </a:r>
            <a:r>
              <a:rPr sz="1800" spc="50" dirty="0">
                <a:latin typeface="Times New Roman"/>
                <a:cs typeface="Times New Roman"/>
              </a:rPr>
              <a:t>users</a:t>
            </a:r>
            <a:r>
              <a:rPr sz="1800" spc="-70" dirty="0">
                <a:latin typeface="Times New Roman"/>
                <a:cs typeface="Times New Roman"/>
              </a:rPr>
              <a:t> </a:t>
            </a:r>
            <a:r>
              <a:rPr sz="1800" spc="85" dirty="0">
                <a:latin typeface="Times New Roman"/>
                <a:cs typeface="Times New Roman"/>
              </a:rPr>
              <a:t>want</a:t>
            </a:r>
            <a:r>
              <a:rPr sz="1800" spc="-75" dirty="0">
                <a:latin typeface="Times New Roman"/>
                <a:cs typeface="Times New Roman"/>
              </a:rPr>
              <a:t> </a:t>
            </a:r>
            <a:r>
              <a:rPr sz="1800" spc="100" dirty="0">
                <a:latin typeface="Times New Roman"/>
                <a:cs typeface="Times New Roman"/>
              </a:rPr>
              <a:t>to</a:t>
            </a:r>
            <a:r>
              <a:rPr sz="1800" spc="-65" dirty="0">
                <a:latin typeface="Times New Roman"/>
                <a:cs typeface="Times New Roman"/>
              </a:rPr>
              <a:t> </a:t>
            </a:r>
            <a:r>
              <a:rPr sz="1800" spc="50" dirty="0">
                <a:latin typeface="Times New Roman"/>
                <a:cs typeface="Times New Roman"/>
              </a:rPr>
              <a:t>create</a:t>
            </a:r>
            <a:r>
              <a:rPr sz="1800" spc="-75" dirty="0">
                <a:latin typeface="Times New Roman"/>
                <a:cs typeface="Times New Roman"/>
              </a:rPr>
              <a:t> </a:t>
            </a:r>
            <a:r>
              <a:rPr sz="1800" spc="30" dirty="0">
                <a:latin typeface="Times New Roman"/>
                <a:cs typeface="Times New Roman"/>
              </a:rPr>
              <a:t>a</a:t>
            </a:r>
            <a:r>
              <a:rPr sz="1800" spc="-85" dirty="0">
                <a:latin typeface="Times New Roman"/>
                <a:cs typeface="Times New Roman"/>
              </a:rPr>
              <a:t> </a:t>
            </a:r>
            <a:r>
              <a:rPr sz="1800" spc="70" dirty="0">
                <a:latin typeface="Times New Roman"/>
                <a:cs typeface="Times New Roman"/>
              </a:rPr>
              <a:t>synonym</a:t>
            </a:r>
            <a:r>
              <a:rPr sz="1800" spc="-55" dirty="0">
                <a:latin typeface="Times New Roman"/>
                <a:cs typeface="Times New Roman"/>
              </a:rPr>
              <a:t> </a:t>
            </a:r>
            <a:r>
              <a:rPr sz="1800" spc="100" dirty="0">
                <a:latin typeface="Times New Roman"/>
                <a:cs typeface="Times New Roman"/>
              </a:rPr>
              <a:t>and  </a:t>
            </a:r>
            <a:r>
              <a:rPr sz="1800" spc="65" dirty="0">
                <a:latin typeface="Times New Roman"/>
                <a:cs typeface="Times New Roman"/>
              </a:rPr>
              <a:t>have </a:t>
            </a:r>
            <a:r>
              <a:rPr sz="1800" spc="30" dirty="0">
                <a:latin typeface="Times New Roman"/>
                <a:cs typeface="Times New Roman"/>
              </a:rPr>
              <a:t>a </a:t>
            </a:r>
            <a:r>
              <a:rPr sz="1800" spc="65" dirty="0">
                <a:latin typeface="Times New Roman"/>
                <a:cs typeface="Times New Roman"/>
              </a:rPr>
              <a:t>default </a:t>
            </a:r>
            <a:r>
              <a:rPr sz="1800" spc="55" dirty="0">
                <a:latin typeface="Times New Roman"/>
                <a:cs typeface="Times New Roman"/>
              </a:rPr>
              <a:t>schema </a:t>
            </a:r>
            <a:r>
              <a:rPr sz="1800" spc="100" dirty="0">
                <a:latin typeface="Times New Roman"/>
                <a:cs typeface="Times New Roman"/>
              </a:rPr>
              <a:t>that </a:t>
            </a:r>
            <a:r>
              <a:rPr sz="1800" spc="5" dirty="0">
                <a:latin typeface="Times New Roman"/>
                <a:cs typeface="Times New Roman"/>
              </a:rPr>
              <a:t>is </a:t>
            </a:r>
            <a:r>
              <a:rPr sz="1800" spc="120" dirty="0">
                <a:latin typeface="Times New Roman"/>
                <a:cs typeface="Times New Roman"/>
              </a:rPr>
              <a:t>not </a:t>
            </a:r>
            <a:r>
              <a:rPr sz="1800" spc="90" dirty="0">
                <a:latin typeface="Times New Roman"/>
                <a:cs typeface="Times New Roman"/>
              </a:rPr>
              <a:t>owned </a:t>
            </a:r>
            <a:r>
              <a:rPr sz="1800" spc="40" dirty="0">
                <a:latin typeface="Times New Roman"/>
                <a:cs typeface="Times New Roman"/>
              </a:rPr>
              <a:t>by  </a:t>
            </a:r>
            <a:r>
              <a:rPr sz="1800" spc="80" dirty="0">
                <a:latin typeface="Times New Roman"/>
                <a:cs typeface="Times New Roman"/>
              </a:rPr>
              <a:t>them.</a:t>
            </a:r>
            <a:endParaRPr sz="1800">
              <a:latin typeface="Times New Roman"/>
              <a:cs typeface="Times New Roman"/>
            </a:endParaRPr>
          </a:p>
          <a:p>
            <a:pPr marL="2143760" marR="173990" indent="-285750">
              <a:lnSpc>
                <a:spcPts val="1939"/>
              </a:lnSpc>
              <a:spcBef>
                <a:spcPts val="335"/>
              </a:spcBef>
              <a:buFont typeface="Arial"/>
              <a:buChar char="•"/>
              <a:tabLst>
                <a:tab pos="2143760" algn="l"/>
                <a:tab pos="2144395" algn="l"/>
              </a:tabLst>
            </a:pPr>
            <a:r>
              <a:rPr sz="1800" spc="75" dirty="0">
                <a:latin typeface="Times New Roman"/>
                <a:cs typeface="Times New Roman"/>
              </a:rPr>
              <a:t>In</a:t>
            </a:r>
            <a:r>
              <a:rPr sz="1800" spc="-75" dirty="0">
                <a:latin typeface="Times New Roman"/>
                <a:cs typeface="Times New Roman"/>
              </a:rPr>
              <a:t> </a:t>
            </a:r>
            <a:r>
              <a:rPr sz="1800" spc="80" dirty="0">
                <a:latin typeface="Times New Roman"/>
                <a:cs typeface="Times New Roman"/>
              </a:rPr>
              <a:t>such</a:t>
            </a:r>
            <a:r>
              <a:rPr sz="1800" spc="-65" dirty="0">
                <a:latin typeface="Times New Roman"/>
                <a:cs typeface="Times New Roman"/>
              </a:rPr>
              <a:t> </a:t>
            </a:r>
            <a:r>
              <a:rPr sz="1800" spc="30" dirty="0">
                <a:latin typeface="Times New Roman"/>
                <a:cs typeface="Times New Roman"/>
              </a:rPr>
              <a:t>a</a:t>
            </a:r>
            <a:r>
              <a:rPr sz="1800" spc="-75" dirty="0">
                <a:latin typeface="Times New Roman"/>
                <a:cs typeface="Times New Roman"/>
              </a:rPr>
              <a:t> </a:t>
            </a:r>
            <a:r>
              <a:rPr sz="1800" spc="15" dirty="0">
                <a:latin typeface="Times New Roman"/>
                <a:cs typeface="Times New Roman"/>
              </a:rPr>
              <a:t>case,</a:t>
            </a:r>
            <a:r>
              <a:rPr sz="1800" spc="-70" dirty="0">
                <a:latin typeface="Times New Roman"/>
                <a:cs typeface="Times New Roman"/>
              </a:rPr>
              <a:t> </a:t>
            </a:r>
            <a:r>
              <a:rPr sz="1800" spc="75" dirty="0">
                <a:latin typeface="Times New Roman"/>
                <a:cs typeface="Times New Roman"/>
              </a:rPr>
              <a:t>they</a:t>
            </a:r>
            <a:r>
              <a:rPr sz="1800" spc="-60" dirty="0">
                <a:latin typeface="Times New Roman"/>
                <a:cs typeface="Times New Roman"/>
              </a:rPr>
              <a:t> </a:t>
            </a:r>
            <a:r>
              <a:rPr sz="1800" spc="65" dirty="0">
                <a:latin typeface="Times New Roman"/>
                <a:cs typeface="Times New Roman"/>
              </a:rPr>
              <a:t>can</a:t>
            </a:r>
            <a:r>
              <a:rPr sz="1800" spc="-75" dirty="0">
                <a:latin typeface="Times New Roman"/>
                <a:cs typeface="Times New Roman"/>
              </a:rPr>
              <a:t> </a:t>
            </a:r>
            <a:r>
              <a:rPr sz="1800" spc="40" dirty="0">
                <a:latin typeface="Times New Roman"/>
                <a:cs typeface="Times New Roman"/>
              </a:rPr>
              <a:t>qualify</a:t>
            </a:r>
            <a:r>
              <a:rPr sz="1800" spc="-70" dirty="0">
                <a:latin typeface="Times New Roman"/>
                <a:cs typeface="Times New Roman"/>
              </a:rPr>
              <a:t> </a:t>
            </a:r>
            <a:r>
              <a:rPr sz="1800" spc="100" dirty="0">
                <a:latin typeface="Times New Roman"/>
                <a:cs typeface="Times New Roman"/>
              </a:rPr>
              <a:t>the</a:t>
            </a:r>
            <a:r>
              <a:rPr sz="1800" spc="-70" dirty="0">
                <a:latin typeface="Times New Roman"/>
                <a:cs typeface="Times New Roman"/>
              </a:rPr>
              <a:t> </a:t>
            </a:r>
            <a:r>
              <a:rPr sz="1800" spc="70" dirty="0">
                <a:latin typeface="Times New Roman"/>
                <a:cs typeface="Times New Roman"/>
              </a:rPr>
              <a:t>synonym  </a:t>
            </a:r>
            <a:r>
              <a:rPr sz="1800" spc="80" dirty="0">
                <a:latin typeface="Times New Roman"/>
                <a:cs typeface="Times New Roman"/>
              </a:rPr>
              <a:t>name </a:t>
            </a:r>
            <a:r>
              <a:rPr sz="1800" spc="75" dirty="0">
                <a:latin typeface="Times New Roman"/>
                <a:cs typeface="Times New Roman"/>
              </a:rPr>
              <a:t>with </a:t>
            </a:r>
            <a:r>
              <a:rPr sz="1800" spc="100" dirty="0">
                <a:latin typeface="Times New Roman"/>
                <a:cs typeface="Times New Roman"/>
              </a:rPr>
              <a:t>the </a:t>
            </a:r>
            <a:r>
              <a:rPr sz="1800" spc="55" dirty="0">
                <a:latin typeface="Times New Roman"/>
                <a:cs typeface="Times New Roman"/>
              </a:rPr>
              <a:t>schema </a:t>
            </a:r>
            <a:r>
              <a:rPr sz="1800" spc="80" dirty="0">
                <a:latin typeface="Times New Roman"/>
                <a:cs typeface="Times New Roman"/>
              </a:rPr>
              <a:t>name </a:t>
            </a:r>
            <a:r>
              <a:rPr sz="1800" spc="100" dirty="0">
                <a:latin typeface="Times New Roman"/>
                <a:cs typeface="Times New Roman"/>
              </a:rPr>
              <a:t>that </a:t>
            </a:r>
            <a:r>
              <a:rPr sz="1800" spc="75" dirty="0">
                <a:latin typeface="Times New Roman"/>
                <a:cs typeface="Times New Roman"/>
              </a:rPr>
              <a:t>they  </a:t>
            </a:r>
            <a:r>
              <a:rPr sz="1800" spc="40" dirty="0">
                <a:latin typeface="Times New Roman"/>
                <a:cs typeface="Times New Roman"/>
              </a:rPr>
              <a:t>actually</a:t>
            </a:r>
            <a:r>
              <a:rPr sz="1800" spc="-80" dirty="0">
                <a:latin typeface="Times New Roman"/>
                <a:cs typeface="Times New Roman"/>
              </a:rPr>
              <a:t> </a:t>
            </a:r>
            <a:r>
              <a:rPr sz="1800" spc="70" dirty="0">
                <a:latin typeface="Times New Roman"/>
                <a:cs typeface="Times New Roman"/>
              </a:rPr>
              <a:t>own.</a:t>
            </a:r>
            <a:endParaRPr sz="1800">
              <a:latin typeface="Times New Roman"/>
              <a:cs typeface="Times New Roman"/>
            </a:endParaRPr>
          </a:p>
          <a:p>
            <a:pPr>
              <a:lnSpc>
                <a:spcPct val="100000"/>
              </a:lnSpc>
              <a:spcBef>
                <a:spcPts val="5"/>
              </a:spcBef>
            </a:pPr>
            <a:endParaRPr sz="2250">
              <a:latin typeface="Times New Roman"/>
              <a:cs typeface="Times New Roman"/>
            </a:endParaRPr>
          </a:p>
          <a:p>
            <a:pPr marL="2825115">
              <a:lnSpc>
                <a:spcPct val="100000"/>
              </a:lnSpc>
            </a:pPr>
            <a:r>
              <a:rPr sz="1800" b="1" spc="-135" dirty="0">
                <a:solidFill>
                  <a:srgbClr val="FFFFFF"/>
                </a:solidFill>
                <a:latin typeface="Arial"/>
                <a:cs typeface="Arial"/>
              </a:rPr>
              <a:t>Synonyms </a:t>
            </a:r>
            <a:r>
              <a:rPr sz="1800" b="1" spc="-105" dirty="0">
                <a:solidFill>
                  <a:srgbClr val="FFFFFF"/>
                </a:solidFill>
                <a:latin typeface="Arial"/>
                <a:cs typeface="Arial"/>
              </a:rPr>
              <a:t>and</a:t>
            </a:r>
            <a:r>
              <a:rPr sz="1800" b="1" spc="-175" dirty="0">
                <a:solidFill>
                  <a:srgbClr val="FFFFFF"/>
                </a:solidFill>
                <a:latin typeface="Arial"/>
                <a:cs typeface="Arial"/>
              </a:rPr>
              <a:t> Schemas</a:t>
            </a:r>
            <a:endParaRPr sz="1800">
              <a:latin typeface="Arial"/>
              <a:cs typeface="Arial"/>
            </a:endParaRPr>
          </a:p>
          <a:p>
            <a:pPr marL="12700">
              <a:lnSpc>
                <a:spcPct val="100000"/>
              </a:lnSpc>
              <a:spcBef>
                <a:spcPts val="1985"/>
              </a:spcBef>
            </a:pPr>
            <a:r>
              <a:rPr sz="2000" b="1" spc="-105" dirty="0">
                <a:latin typeface="Arial"/>
                <a:cs typeface="Arial"/>
              </a:rPr>
              <a:t>For</a:t>
            </a:r>
            <a:r>
              <a:rPr sz="2000" b="1" spc="-160" dirty="0">
                <a:latin typeface="Arial"/>
                <a:cs typeface="Arial"/>
              </a:rPr>
              <a:t> </a:t>
            </a:r>
            <a:r>
              <a:rPr sz="2000" b="1" spc="-125" dirty="0">
                <a:latin typeface="Arial"/>
                <a:cs typeface="Arial"/>
              </a:rPr>
              <a:t>example,</a:t>
            </a:r>
            <a:endParaRPr sz="2000">
              <a:latin typeface="Arial"/>
              <a:cs typeface="Arial"/>
            </a:endParaRPr>
          </a:p>
        </p:txBody>
      </p:sp>
      <p:grpSp>
        <p:nvGrpSpPr>
          <p:cNvPr id="11" name="object 11"/>
          <p:cNvGrpSpPr/>
          <p:nvPr/>
        </p:nvGrpSpPr>
        <p:grpSpPr>
          <a:xfrm>
            <a:off x="6377178" y="2830829"/>
            <a:ext cx="910590" cy="845185"/>
            <a:chOff x="6377178" y="2830829"/>
            <a:chExt cx="910590" cy="845185"/>
          </a:xfrm>
        </p:grpSpPr>
        <p:sp>
          <p:nvSpPr>
            <p:cNvPr id="12" name="object 12"/>
            <p:cNvSpPr/>
            <p:nvPr/>
          </p:nvSpPr>
          <p:spPr>
            <a:xfrm>
              <a:off x="6382131" y="2835782"/>
              <a:ext cx="901065" cy="835660"/>
            </a:xfrm>
            <a:custGeom>
              <a:avLst/>
              <a:gdLst/>
              <a:ahLst/>
              <a:cxnLst/>
              <a:rect l="l" t="t" r="r" b="b"/>
              <a:pathLst>
                <a:path w="901065" h="835660">
                  <a:moveTo>
                    <a:pt x="450342" y="0"/>
                  </a:moveTo>
                  <a:lnTo>
                    <a:pt x="401281" y="2450"/>
                  </a:lnTo>
                  <a:lnTo>
                    <a:pt x="353748" y="9630"/>
                  </a:lnTo>
                  <a:lnTo>
                    <a:pt x="308018" y="21287"/>
                  </a:lnTo>
                  <a:lnTo>
                    <a:pt x="264367" y="37164"/>
                  </a:lnTo>
                  <a:lnTo>
                    <a:pt x="223068" y="57008"/>
                  </a:lnTo>
                  <a:lnTo>
                    <a:pt x="184397" y="80564"/>
                  </a:lnTo>
                  <a:lnTo>
                    <a:pt x="148630" y="107577"/>
                  </a:lnTo>
                  <a:lnTo>
                    <a:pt x="116040" y="137793"/>
                  </a:lnTo>
                  <a:lnTo>
                    <a:pt x="86904" y="170956"/>
                  </a:lnTo>
                  <a:lnTo>
                    <a:pt x="61496" y="206812"/>
                  </a:lnTo>
                  <a:lnTo>
                    <a:pt x="40090" y="245107"/>
                  </a:lnTo>
                  <a:lnTo>
                    <a:pt x="22963" y="285585"/>
                  </a:lnTo>
                  <a:lnTo>
                    <a:pt x="10389" y="327992"/>
                  </a:lnTo>
                  <a:lnTo>
                    <a:pt x="2643" y="372074"/>
                  </a:lnTo>
                  <a:lnTo>
                    <a:pt x="0" y="417575"/>
                  </a:lnTo>
                  <a:lnTo>
                    <a:pt x="2643" y="463077"/>
                  </a:lnTo>
                  <a:lnTo>
                    <a:pt x="10389" y="507159"/>
                  </a:lnTo>
                  <a:lnTo>
                    <a:pt x="22963" y="549566"/>
                  </a:lnTo>
                  <a:lnTo>
                    <a:pt x="40090" y="590044"/>
                  </a:lnTo>
                  <a:lnTo>
                    <a:pt x="61496" y="628339"/>
                  </a:lnTo>
                  <a:lnTo>
                    <a:pt x="86904" y="664195"/>
                  </a:lnTo>
                  <a:lnTo>
                    <a:pt x="116040" y="697358"/>
                  </a:lnTo>
                  <a:lnTo>
                    <a:pt x="148630" y="727574"/>
                  </a:lnTo>
                  <a:lnTo>
                    <a:pt x="184397" y="754587"/>
                  </a:lnTo>
                  <a:lnTo>
                    <a:pt x="223068" y="778143"/>
                  </a:lnTo>
                  <a:lnTo>
                    <a:pt x="264367" y="797987"/>
                  </a:lnTo>
                  <a:lnTo>
                    <a:pt x="308018" y="813864"/>
                  </a:lnTo>
                  <a:lnTo>
                    <a:pt x="353748" y="825521"/>
                  </a:lnTo>
                  <a:lnTo>
                    <a:pt x="401281" y="832701"/>
                  </a:lnTo>
                  <a:lnTo>
                    <a:pt x="450342" y="835151"/>
                  </a:lnTo>
                  <a:lnTo>
                    <a:pt x="499402" y="832701"/>
                  </a:lnTo>
                  <a:lnTo>
                    <a:pt x="546935" y="825521"/>
                  </a:lnTo>
                  <a:lnTo>
                    <a:pt x="592665" y="813864"/>
                  </a:lnTo>
                  <a:lnTo>
                    <a:pt x="636316" y="797987"/>
                  </a:lnTo>
                  <a:lnTo>
                    <a:pt x="677615" y="778143"/>
                  </a:lnTo>
                  <a:lnTo>
                    <a:pt x="716286" y="754587"/>
                  </a:lnTo>
                  <a:lnTo>
                    <a:pt x="752053" y="727574"/>
                  </a:lnTo>
                  <a:lnTo>
                    <a:pt x="784643" y="697358"/>
                  </a:lnTo>
                  <a:lnTo>
                    <a:pt x="813779" y="664195"/>
                  </a:lnTo>
                  <a:lnTo>
                    <a:pt x="839187" y="628339"/>
                  </a:lnTo>
                  <a:lnTo>
                    <a:pt x="860593" y="590044"/>
                  </a:lnTo>
                  <a:lnTo>
                    <a:pt x="877720" y="549566"/>
                  </a:lnTo>
                  <a:lnTo>
                    <a:pt x="890294" y="507159"/>
                  </a:lnTo>
                  <a:lnTo>
                    <a:pt x="898040" y="463077"/>
                  </a:lnTo>
                  <a:lnTo>
                    <a:pt x="900684" y="417575"/>
                  </a:lnTo>
                  <a:lnTo>
                    <a:pt x="898040" y="372074"/>
                  </a:lnTo>
                  <a:lnTo>
                    <a:pt x="890294" y="327992"/>
                  </a:lnTo>
                  <a:lnTo>
                    <a:pt x="877720" y="285585"/>
                  </a:lnTo>
                  <a:lnTo>
                    <a:pt x="860593" y="245107"/>
                  </a:lnTo>
                  <a:lnTo>
                    <a:pt x="839187" y="206812"/>
                  </a:lnTo>
                  <a:lnTo>
                    <a:pt x="813779" y="170956"/>
                  </a:lnTo>
                  <a:lnTo>
                    <a:pt x="784643" y="137793"/>
                  </a:lnTo>
                  <a:lnTo>
                    <a:pt x="752053" y="107577"/>
                  </a:lnTo>
                  <a:lnTo>
                    <a:pt x="716286" y="80564"/>
                  </a:lnTo>
                  <a:lnTo>
                    <a:pt x="677615" y="57008"/>
                  </a:lnTo>
                  <a:lnTo>
                    <a:pt x="636316" y="37164"/>
                  </a:lnTo>
                  <a:lnTo>
                    <a:pt x="592665" y="21287"/>
                  </a:lnTo>
                  <a:lnTo>
                    <a:pt x="546935" y="9630"/>
                  </a:lnTo>
                  <a:lnTo>
                    <a:pt x="499402" y="2450"/>
                  </a:lnTo>
                  <a:lnTo>
                    <a:pt x="450342" y="0"/>
                  </a:lnTo>
                  <a:close/>
                </a:path>
              </a:pathLst>
            </a:custGeom>
            <a:solidFill>
              <a:srgbClr val="CCDFD9">
                <a:alpha val="90194"/>
              </a:srgbClr>
            </a:solidFill>
          </p:spPr>
          <p:txBody>
            <a:bodyPr wrap="square" lIns="0" tIns="0" rIns="0" bIns="0" rtlCol="0"/>
            <a:lstStyle/>
            <a:p>
              <a:endParaRPr/>
            </a:p>
          </p:txBody>
        </p:sp>
        <p:sp>
          <p:nvSpPr>
            <p:cNvPr id="13" name="object 13"/>
            <p:cNvSpPr/>
            <p:nvPr/>
          </p:nvSpPr>
          <p:spPr>
            <a:xfrm>
              <a:off x="6382131" y="2835782"/>
              <a:ext cx="901065" cy="835660"/>
            </a:xfrm>
            <a:custGeom>
              <a:avLst/>
              <a:gdLst/>
              <a:ahLst/>
              <a:cxnLst/>
              <a:rect l="l" t="t" r="r" b="b"/>
              <a:pathLst>
                <a:path w="901065" h="835660">
                  <a:moveTo>
                    <a:pt x="0" y="417575"/>
                  </a:moveTo>
                  <a:lnTo>
                    <a:pt x="2643" y="372074"/>
                  </a:lnTo>
                  <a:lnTo>
                    <a:pt x="10389" y="327992"/>
                  </a:lnTo>
                  <a:lnTo>
                    <a:pt x="22963" y="285585"/>
                  </a:lnTo>
                  <a:lnTo>
                    <a:pt x="40090" y="245107"/>
                  </a:lnTo>
                  <a:lnTo>
                    <a:pt x="61496" y="206812"/>
                  </a:lnTo>
                  <a:lnTo>
                    <a:pt x="86904" y="170956"/>
                  </a:lnTo>
                  <a:lnTo>
                    <a:pt x="116040" y="137793"/>
                  </a:lnTo>
                  <a:lnTo>
                    <a:pt x="148630" y="107577"/>
                  </a:lnTo>
                  <a:lnTo>
                    <a:pt x="184397" y="80564"/>
                  </a:lnTo>
                  <a:lnTo>
                    <a:pt x="223068" y="57008"/>
                  </a:lnTo>
                  <a:lnTo>
                    <a:pt x="264367" y="37164"/>
                  </a:lnTo>
                  <a:lnTo>
                    <a:pt x="308018" y="21287"/>
                  </a:lnTo>
                  <a:lnTo>
                    <a:pt x="353748" y="9630"/>
                  </a:lnTo>
                  <a:lnTo>
                    <a:pt x="401281" y="2450"/>
                  </a:lnTo>
                  <a:lnTo>
                    <a:pt x="450342" y="0"/>
                  </a:lnTo>
                  <a:lnTo>
                    <a:pt x="499402" y="2450"/>
                  </a:lnTo>
                  <a:lnTo>
                    <a:pt x="546935" y="9630"/>
                  </a:lnTo>
                  <a:lnTo>
                    <a:pt x="592665" y="21287"/>
                  </a:lnTo>
                  <a:lnTo>
                    <a:pt x="636316" y="37164"/>
                  </a:lnTo>
                  <a:lnTo>
                    <a:pt x="677615" y="57008"/>
                  </a:lnTo>
                  <a:lnTo>
                    <a:pt x="716286" y="80564"/>
                  </a:lnTo>
                  <a:lnTo>
                    <a:pt x="752053" y="107577"/>
                  </a:lnTo>
                  <a:lnTo>
                    <a:pt x="784643" y="137793"/>
                  </a:lnTo>
                  <a:lnTo>
                    <a:pt x="813779" y="170956"/>
                  </a:lnTo>
                  <a:lnTo>
                    <a:pt x="839187" y="206812"/>
                  </a:lnTo>
                  <a:lnTo>
                    <a:pt x="860593" y="245107"/>
                  </a:lnTo>
                  <a:lnTo>
                    <a:pt x="877720" y="285585"/>
                  </a:lnTo>
                  <a:lnTo>
                    <a:pt x="890294" y="327992"/>
                  </a:lnTo>
                  <a:lnTo>
                    <a:pt x="898040" y="372074"/>
                  </a:lnTo>
                  <a:lnTo>
                    <a:pt x="900684" y="417575"/>
                  </a:lnTo>
                  <a:lnTo>
                    <a:pt x="898040" y="463077"/>
                  </a:lnTo>
                  <a:lnTo>
                    <a:pt x="890294" y="507159"/>
                  </a:lnTo>
                  <a:lnTo>
                    <a:pt x="877720" y="549566"/>
                  </a:lnTo>
                  <a:lnTo>
                    <a:pt x="860593" y="590044"/>
                  </a:lnTo>
                  <a:lnTo>
                    <a:pt x="839187" y="628339"/>
                  </a:lnTo>
                  <a:lnTo>
                    <a:pt x="813779" y="664195"/>
                  </a:lnTo>
                  <a:lnTo>
                    <a:pt x="784643" y="697358"/>
                  </a:lnTo>
                  <a:lnTo>
                    <a:pt x="752053" y="727574"/>
                  </a:lnTo>
                  <a:lnTo>
                    <a:pt x="716286" y="754587"/>
                  </a:lnTo>
                  <a:lnTo>
                    <a:pt x="677615" y="778143"/>
                  </a:lnTo>
                  <a:lnTo>
                    <a:pt x="636316" y="797987"/>
                  </a:lnTo>
                  <a:lnTo>
                    <a:pt x="592665" y="813864"/>
                  </a:lnTo>
                  <a:lnTo>
                    <a:pt x="546935" y="825521"/>
                  </a:lnTo>
                  <a:lnTo>
                    <a:pt x="499402" y="832701"/>
                  </a:lnTo>
                  <a:lnTo>
                    <a:pt x="450342" y="835151"/>
                  </a:lnTo>
                  <a:lnTo>
                    <a:pt x="401281" y="832701"/>
                  </a:lnTo>
                  <a:lnTo>
                    <a:pt x="353748" y="825521"/>
                  </a:lnTo>
                  <a:lnTo>
                    <a:pt x="308018" y="813864"/>
                  </a:lnTo>
                  <a:lnTo>
                    <a:pt x="264367" y="797987"/>
                  </a:lnTo>
                  <a:lnTo>
                    <a:pt x="223068" y="778143"/>
                  </a:lnTo>
                  <a:lnTo>
                    <a:pt x="184397" y="754587"/>
                  </a:lnTo>
                  <a:lnTo>
                    <a:pt x="148630" y="727574"/>
                  </a:lnTo>
                  <a:lnTo>
                    <a:pt x="116040" y="697358"/>
                  </a:lnTo>
                  <a:lnTo>
                    <a:pt x="86904" y="664195"/>
                  </a:lnTo>
                  <a:lnTo>
                    <a:pt x="61496" y="628339"/>
                  </a:lnTo>
                  <a:lnTo>
                    <a:pt x="40090" y="590044"/>
                  </a:lnTo>
                  <a:lnTo>
                    <a:pt x="22963" y="549566"/>
                  </a:lnTo>
                  <a:lnTo>
                    <a:pt x="10389" y="507159"/>
                  </a:lnTo>
                  <a:lnTo>
                    <a:pt x="2643" y="463077"/>
                  </a:lnTo>
                  <a:lnTo>
                    <a:pt x="0" y="417575"/>
                  </a:lnTo>
                  <a:close/>
                </a:path>
              </a:pathLst>
            </a:custGeom>
            <a:ln w="9906">
              <a:solidFill>
                <a:srgbClr val="CCDFD9"/>
              </a:solidFill>
            </a:ln>
          </p:spPr>
          <p:txBody>
            <a:bodyPr wrap="square" lIns="0" tIns="0" rIns="0" bIns="0" rtlCol="0"/>
            <a:lstStyle/>
            <a:p>
              <a:endParaRPr/>
            </a:p>
          </p:txBody>
        </p:sp>
      </p:grpSp>
      <p:sp>
        <p:nvSpPr>
          <p:cNvPr id="15" name="object 1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13</a:t>
            </a:fld>
            <a:endParaRPr sz="1200"/>
          </a:p>
        </p:txBody>
      </p:sp>
      <p:sp>
        <p:nvSpPr>
          <p:cNvPr id="16" name="object 16"/>
          <p:cNvSpPr txBox="1">
            <a:spLocks noGrp="1"/>
          </p:cNvSpPr>
          <p:nvPr>
            <p:ph type="ftr" sz="quarter" idx="5"/>
          </p:nvPr>
        </p:nvSpPr>
        <p:spPr>
          <a:xfrm>
            <a:off x="78738" y="6596379"/>
            <a:ext cx="12166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2938" y="833373"/>
            <a:ext cx="5779262" cy="391160"/>
          </a:xfrm>
          <a:prstGeom prst="rect">
            <a:avLst/>
          </a:prstGeom>
        </p:spPr>
        <p:txBody>
          <a:bodyPr vert="horz" wrap="square" lIns="0" tIns="12700" rIns="0" bIns="0" rtlCol="0">
            <a:spAutoFit/>
          </a:bodyPr>
          <a:lstStyle/>
          <a:p>
            <a:pPr marL="12700">
              <a:lnSpc>
                <a:spcPct val="100000"/>
              </a:lnSpc>
              <a:spcBef>
                <a:spcPts val="100"/>
              </a:spcBef>
            </a:pPr>
            <a:r>
              <a:rPr sz="2400" b="1" spc="-85" dirty="0">
                <a:latin typeface="Arial"/>
                <a:cs typeface="Arial"/>
              </a:rPr>
              <a:t>Granting </a:t>
            </a:r>
            <a:r>
              <a:rPr sz="2400" b="1" spc="-200" dirty="0">
                <a:latin typeface="Arial"/>
                <a:cs typeface="Arial"/>
              </a:rPr>
              <a:t>Permissions </a:t>
            </a:r>
            <a:r>
              <a:rPr sz="2400" b="1" spc="-114" dirty="0">
                <a:latin typeface="Arial"/>
                <a:cs typeface="Arial"/>
              </a:rPr>
              <a:t>on</a:t>
            </a:r>
            <a:r>
              <a:rPr sz="2400" b="1" spc="-360" dirty="0">
                <a:latin typeface="Arial"/>
                <a:cs typeface="Arial"/>
              </a:rPr>
              <a:t> </a:t>
            </a:r>
            <a:r>
              <a:rPr sz="2400" b="1" spc="-175" dirty="0">
                <a:latin typeface="Arial"/>
                <a:cs typeface="Arial"/>
              </a:rPr>
              <a:t>Synonyms</a:t>
            </a:r>
            <a:endParaRPr sz="2400">
              <a:latin typeface="Arial"/>
              <a:cs typeface="Arial"/>
            </a:endParaRPr>
          </a:p>
        </p:txBody>
      </p:sp>
      <p:grpSp>
        <p:nvGrpSpPr>
          <p:cNvPr id="3" name="object 3"/>
          <p:cNvGrpSpPr/>
          <p:nvPr/>
        </p:nvGrpSpPr>
        <p:grpSpPr>
          <a:xfrm>
            <a:off x="1302258" y="1618488"/>
            <a:ext cx="5918200" cy="5115560"/>
            <a:chOff x="1302258" y="1618488"/>
            <a:chExt cx="5918200" cy="5115560"/>
          </a:xfrm>
        </p:grpSpPr>
        <p:pic>
          <p:nvPicPr>
            <p:cNvPr id="4" name="object 4"/>
            <p:cNvPicPr/>
            <p:nvPr/>
          </p:nvPicPr>
          <p:blipFill>
            <a:blip r:embed="rId3" cstate="print"/>
            <a:stretch>
              <a:fillRect/>
            </a:stretch>
          </p:blipFill>
          <p:spPr>
            <a:xfrm>
              <a:off x="4141469" y="5214366"/>
              <a:ext cx="2159507" cy="1519425"/>
            </a:xfrm>
            <a:prstGeom prst="rect">
              <a:avLst/>
            </a:prstGeom>
          </p:spPr>
        </p:pic>
        <p:pic>
          <p:nvPicPr>
            <p:cNvPr id="5" name="object 5"/>
            <p:cNvPicPr/>
            <p:nvPr/>
          </p:nvPicPr>
          <p:blipFill>
            <a:blip r:embed="rId4" cstate="print"/>
            <a:stretch>
              <a:fillRect/>
            </a:stretch>
          </p:blipFill>
          <p:spPr>
            <a:xfrm>
              <a:off x="3388613" y="2288286"/>
              <a:ext cx="3831336" cy="2890266"/>
            </a:xfrm>
            <a:prstGeom prst="rect">
              <a:avLst/>
            </a:prstGeom>
          </p:spPr>
        </p:pic>
        <p:pic>
          <p:nvPicPr>
            <p:cNvPr id="6" name="object 6"/>
            <p:cNvPicPr/>
            <p:nvPr/>
          </p:nvPicPr>
          <p:blipFill>
            <a:blip r:embed="rId5" cstate="print"/>
            <a:stretch>
              <a:fillRect/>
            </a:stretch>
          </p:blipFill>
          <p:spPr>
            <a:xfrm>
              <a:off x="3888486" y="3064002"/>
              <a:ext cx="2875025" cy="1387602"/>
            </a:xfrm>
            <a:prstGeom prst="rect">
              <a:avLst/>
            </a:prstGeom>
          </p:spPr>
        </p:pic>
        <p:pic>
          <p:nvPicPr>
            <p:cNvPr id="7" name="object 7"/>
            <p:cNvPicPr/>
            <p:nvPr/>
          </p:nvPicPr>
          <p:blipFill>
            <a:blip r:embed="rId6" cstate="print"/>
            <a:stretch>
              <a:fillRect/>
            </a:stretch>
          </p:blipFill>
          <p:spPr>
            <a:xfrm>
              <a:off x="3429508" y="2306701"/>
              <a:ext cx="3756405" cy="2814828"/>
            </a:xfrm>
            <a:prstGeom prst="rect">
              <a:avLst/>
            </a:prstGeom>
          </p:spPr>
        </p:pic>
        <p:pic>
          <p:nvPicPr>
            <p:cNvPr id="8" name="object 8"/>
            <p:cNvPicPr/>
            <p:nvPr/>
          </p:nvPicPr>
          <p:blipFill>
            <a:blip r:embed="rId7" cstate="print"/>
            <a:stretch>
              <a:fillRect/>
            </a:stretch>
          </p:blipFill>
          <p:spPr>
            <a:xfrm>
              <a:off x="1302258" y="1618488"/>
              <a:ext cx="2557272" cy="2125218"/>
            </a:xfrm>
            <a:prstGeom prst="rect">
              <a:avLst/>
            </a:prstGeom>
          </p:spPr>
        </p:pic>
        <p:pic>
          <p:nvPicPr>
            <p:cNvPr id="9" name="object 9"/>
            <p:cNvPicPr/>
            <p:nvPr/>
          </p:nvPicPr>
          <p:blipFill>
            <a:blip r:embed="rId8" cstate="print"/>
            <a:stretch>
              <a:fillRect/>
            </a:stretch>
          </p:blipFill>
          <p:spPr>
            <a:xfrm>
              <a:off x="1606296" y="2013204"/>
              <a:ext cx="1991105" cy="1379982"/>
            </a:xfrm>
            <a:prstGeom prst="rect">
              <a:avLst/>
            </a:prstGeom>
          </p:spPr>
        </p:pic>
        <p:pic>
          <p:nvPicPr>
            <p:cNvPr id="10" name="object 10"/>
            <p:cNvPicPr/>
            <p:nvPr/>
          </p:nvPicPr>
          <p:blipFill>
            <a:blip r:embed="rId9" cstate="print"/>
            <a:stretch>
              <a:fillRect/>
            </a:stretch>
          </p:blipFill>
          <p:spPr>
            <a:xfrm>
              <a:off x="1343152" y="1636776"/>
              <a:ext cx="2482341" cy="2049780"/>
            </a:xfrm>
            <a:prstGeom prst="rect">
              <a:avLst/>
            </a:prstGeom>
          </p:spPr>
        </p:pic>
      </p:grpSp>
      <p:sp>
        <p:nvSpPr>
          <p:cNvPr id="11" name="object 11"/>
          <p:cNvSpPr txBox="1"/>
          <p:nvPr/>
        </p:nvSpPr>
        <p:spPr>
          <a:xfrm>
            <a:off x="3003550" y="6149340"/>
            <a:ext cx="920115" cy="238760"/>
          </a:xfrm>
          <a:prstGeom prst="rect">
            <a:avLst/>
          </a:prstGeom>
        </p:spPr>
        <p:txBody>
          <a:bodyPr vert="horz" wrap="square" lIns="0" tIns="12065" rIns="0" bIns="0" rtlCol="0">
            <a:spAutoFit/>
          </a:bodyPr>
          <a:lstStyle/>
          <a:p>
            <a:pPr marL="12700">
              <a:lnSpc>
                <a:spcPct val="100000"/>
              </a:lnSpc>
              <a:spcBef>
                <a:spcPts val="95"/>
              </a:spcBef>
            </a:pPr>
            <a:r>
              <a:rPr sz="1400" b="1" spc="-160" dirty="0">
                <a:latin typeface="Arial"/>
                <a:cs typeface="Arial"/>
              </a:rPr>
              <a:t>P</a:t>
            </a:r>
            <a:r>
              <a:rPr sz="1400" b="1" spc="-90" dirty="0">
                <a:latin typeface="Arial"/>
                <a:cs typeface="Arial"/>
              </a:rPr>
              <a:t>e</a:t>
            </a:r>
            <a:r>
              <a:rPr sz="1400" b="1" spc="-80" dirty="0">
                <a:latin typeface="Arial"/>
                <a:cs typeface="Arial"/>
              </a:rPr>
              <a:t>r</a:t>
            </a:r>
            <a:r>
              <a:rPr sz="1400" b="1" spc="-110" dirty="0">
                <a:latin typeface="Arial"/>
                <a:cs typeface="Arial"/>
              </a:rPr>
              <a:t>m</a:t>
            </a:r>
            <a:r>
              <a:rPr sz="1400" b="1" spc="-5" dirty="0">
                <a:latin typeface="Arial"/>
                <a:cs typeface="Arial"/>
              </a:rPr>
              <a:t>i</a:t>
            </a:r>
            <a:r>
              <a:rPr sz="1400" b="1" spc="-240" dirty="0">
                <a:latin typeface="Arial"/>
                <a:cs typeface="Arial"/>
              </a:rPr>
              <a:t>s</a:t>
            </a:r>
            <a:r>
              <a:rPr sz="1400" b="1" spc="-250" dirty="0">
                <a:latin typeface="Arial"/>
                <a:cs typeface="Arial"/>
              </a:rPr>
              <a:t>s</a:t>
            </a:r>
            <a:r>
              <a:rPr sz="1400" b="1" spc="-5" dirty="0">
                <a:latin typeface="Arial"/>
                <a:cs typeface="Arial"/>
              </a:rPr>
              <a:t>i</a:t>
            </a:r>
            <a:r>
              <a:rPr sz="1400" b="1" spc="-114" dirty="0">
                <a:latin typeface="Arial"/>
                <a:cs typeface="Arial"/>
              </a:rPr>
              <a:t>o</a:t>
            </a:r>
            <a:r>
              <a:rPr sz="1400" b="1" spc="-50" dirty="0">
                <a:latin typeface="Arial"/>
                <a:cs typeface="Arial"/>
              </a:rPr>
              <a:t>n</a:t>
            </a:r>
            <a:r>
              <a:rPr sz="1400" b="1" spc="-229" dirty="0">
                <a:latin typeface="Arial"/>
                <a:cs typeface="Arial"/>
              </a:rPr>
              <a:t>s</a:t>
            </a:r>
            <a:endParaRPr sz="1400">
              <a:latin typeface="Arial"/>
              <a:cs typeface="Arial"/>
            </a:endParaRPr>
          </a:p>
        </p:txBody>
      </p:sp>
      <p:sp>
        <p:nvSpPr>
          <p:cNvPr id="12" name="object 12"/>
          <p:cNvSpPr txBox="1"/>
          <p:nvPr/>
        </p:nvSpPr>
        <p:spPr>
          <a:xfrm>
            <a:off x="1743964" y="2039111"/>
            <a:ext cx="4846320" cy="2205355"/>
          </a:xfrm>
          <a:prstGeom prst="rect">
            <a:avLst/>
          </a:prstGeom>
        </p:spPr>
        <p:txBody>
          <a:bodyPr vert="horz" wrap="square" lIns="0" tIns="40005" rIns="0" bIns="0" rtlCol="0">
            <a:spAutoFit/>
          </a:bodyPr>
          <a:lstStyle/>
          <a:p>
            <a:pPr marL="25400" marR="3184525" indent="635" algn="ctr">
              <a:lnSpc>
                <a:spcPts val="1730"/>
              </a:lnSpc>
              <a:spcBef>
                <a:spcPts val="315"/>
              </a:spcBef>
            </a:pPr>
            <a:r>
              <a:rPr sz="1600" spc="50" dirty="0">
                <a:latin typeface="Times New Roman"/>
                <a:cs typeface="Times New Roman"/>
              </a:rPr>
              <a:t>Users </a:t>
            </a:r>
            <a:r>
              <a:rPr sz="1600" spc="60" dirty="0">
                <a:latin typeface="Times New Roman"/>
                <a:cs typeface="Times New Roman"/>
              </a:rPr>
              <a:t>can </a:t>
            </a:r>
            <a:r>
              <a:rPr sz="1600" spc="55" dirty="0">
                <a:latin typeface="Times New Roman"/>
                <a:cs typeface="Times New Roman"/>
              </a:rPr>
              <a:t>deny,  </a:t>
            </a:r>
            <a:r>
              <a:rPr sz="1600" spc="50" dirty="0">
                <a:latin typeface="Times New Roman"/>
                <a:cs typeface="Times New Roman"/>
              </a:rPr>
              <a:t>grant,</a:t>
            </a:r>
            <a:r>
              <a:rPr sz="1600" spc="-85" dirty="0">
                <a:latin typeface="Times New Roman"/>
                <a:cs typeface="Times New Roman"/>
              </a:rPr>
              <a:t> </a:t>
            </a:r>
            <a:r>
              <a:rPr sz="1600" spc="70" dirty="0">
                <a:latin typeface="Times New Roman"/>
                <a:cs typeface="Times New Roman"/>
              </a:rPr>
              <a:t>or</a:t>
            </a:r>
            <a:r>
              <a:rPr sz="1600" spc="-80" dirty="0">
                <a:latin typeface="Times New Roman"/>
                <a:cs typeface="Times New Roman"/>
              </a:rPr>
              <a:t> </a:t>
            </a:r>
            <a:r>
              <a:rPr sz="1600" spc="50" dirty="0">
                <a:latin typeface="Times New Roman"/>
                <a:cs typeface="Times New Roman"/>
              </a:rPr>
              <a:t>revoke</a:t>
            </a:r>
            <a:r>
              <a:rPr sz="1600" spc="-70" dirty="0">
                <a:latin typeface="Times New Roman"/>
                <a:cs typeface="Times New Roman"/>
              </a:rPr>
              <a:t> </a:t>
            </a:r>
            <a:r>
              <a:rPr sz="1600" spc="10" dirty="0">
                <a:latin typeface="Times New Roman"/>
                <a:cs typeface="Times New Roman"/>
              </a:rPr>
              <a:t>all  </a:t>
            </a:r>
            <a:r>
              <a:rPr sz="1600" spc="70" dirty="0">
                <a:latin typeface="Times New Roman"/>
                <a:cs typeface="Times New Roman"/>
              </a:rPr>
              <a:t>or </a:t>
            </a:r>
            <a:r>
              <a:rPr sz="1600" spc="55" dirty="0">
                <a:latin typeface="Times New Roman"/>
                <a:cs typeface="Times New Roman"/>
              </a:rPr>
              <a:t>any </a:t>
            </a:r>
            <a:r>
              <a:rPr sz="1600" spc="45" dirty="0">
                <a:latin typeface="Times New Roman"/>
                <a:cs typeface="Times New Roman"/>
              </a:rPr>
              <a:t>of </a:t>
            </a:r>
            <a:r>
              <a:rPr sz="1600" spc="90" dirty="0">
                <a:latin typeface="Times New Roman"/>
                <a:cs typeface="Times New Roman"/>
              </a:rPr>
              <a:t>the  </a:t>
            </a:r>
            <a:r>
              <a:rPr sz="1600" spc="45" dirty="0">
                <a:latin typeface="Times New Roman"/>
                <a:cs typeface="Times New Roman"/>
              </a:rPr>
              <a:t>permissions </a:t>
            </a:r>
            <a:r>
              <a:rPr sz="1600" spc="110" dirty="0">
                <a:latin typeface="Times New Roman"/>
                <a:cs typeface="Times New Roman"/>
              </a:rPr>
              <a:t>on</a:t>
            </a:r>
            <a:r>
              <a:rPr sz="1600" spc="-204" dirty="0">
                <a:latin typeface="Times New Roman"/>
                <a:cs typeface="Times New Roman"/>
              </a:rPr>
              <a:t> </a:t>
            </a:r>
            <a:r>
              <a:rPr sz="1600" spc="25" dirty="0">
                <a:latin typeface="Times New Roman"/>
                <a:cs typeface="Times New Roman"/>
              </a:rPr>
              <a:t>a</a:t>
            </a:r>
            <a:endParaRPr sz="1600">
              <a:latin typeface="Times New Roman"/>
              <a:cs typeface="Times New Roman"/>
            </a:endParaRPr>
          </a:p>
          <a:p>
            <a:pPr marL="2307590" marR="17780" indent="-1894205">
              <a:lnSpc>
                <a:spcPts val="1730"/>
              </a:lnSpc>
              <a:spcBef>
                <a:spcPts val="1350"/>
              </a:spcBef>
              <a:tabLst>
                <a:tab pos="2412365" algn="l"/>
              </a:tabLst>
            </a:pPr>
            <a:r>
              <a:rPr sz="2400" spc="82" baseline="46875" dirty="0">
                <a:latin typeface="Times New Roman"/>
                <a:cs typeface="Times New Roman"/>
              </a:rPr>
              <a:t>synonym.		</a:t>
            </a:r>
            <a:r>
              <a:rPr sz="1600" spc="85" dirty="0">
                <a:latin typeface="Times New Roman"/>
                <a:cs typeface="Times New Roman"/>
              </a:rPr>
              <a:t>Only </a:t>
            </a:r>
            <a:r>
              <a:rPr sz="1600" spc="50" dirty="0">
                <a:latin typeface="Times New Roman"/>
                <a:cs typeface="Times New Roman"/>
              </a:rPr>
              <a:t>members </a:t>
            </a:r>
            <a:r>
              <a:rPr sz="1600" spc="45" dirty="0">
                <a:latin typeface="Times New Roman"/>
                <a:cs typeface="Times New Roman"/>
              </a:rPr>
              <a:t>of </a:t>
            </a:r>
            <a:r>
              <a:rPr sz="1600" spc="90" dirty="0">
                <a:latin typeface="Times New Roman"/>
                <a:cs typeface="Times New Roman"/>
              </a:rPr>
              <a:t>the </a:t>
            </a:r>
            <a:r>
              <a:rPr sz="1600" spc="35" dirty="0">
                <a:latin typeface="Times New Roman"/>
                <a:cs typeface="Times New Roman"/>
              </a:rPr>
              <a:t>roles  </a:t>
            </a:r>
            <a:r>
              <a:rPr sz="1600" spc="10" dirty="0">
                <a:latin typeface="Times New Roman"/>
                <a:cs typeface="Times New Roman"/>
              </a:rPr>
              <a:t>db_owner </a:t>
            </a:r>
            <a:r>
              <a:rPr sz="1600" spc="65" dirty="0">
                <a:latin typeface="Times New Roman"/>
                <a:cs typeface="Times New Roman"/>
              </a:rPr>
              <a:t>or </a:t>
            </a:r>
            <a:r>
              <a:rPr sz="1600" spc="25" dirty="0">
                <a:latin typeface="Times New Roman"/>
                <a:cs typeface="Times New Roman"/>
              </a:rPr>
              <a:t>db_ddladmin </a:t>
            </a:r>
            <a:r>
              <a:rPr sz="1600" spc="70" dirty="0">
                <a:latin typeface="Times New Roman"/>
                <a:cs typeface="Times New Roman"/>
              </a:rPr>
              <a:t>or  </a:t>
            </a:r>
            <a:r>
              <a:rPr sz="1600" spc="60" dirty="0">
                <a:latin typeface="Times New Roman"/>
                <a:cs typeface="Times New Roman"/>
              </a:rPr>
              <a:t>synonym</a:t>
            </a:r>
            <a:r>
              <a:rPr sz="1600" spc="-70" dirty="0">
                <a:latin typeface="Times New Roman"/>
                <a:cs typeface="Times New Roman"/>
              </a:rPr>
              <a:t> </a:t>
            </a:r>
            <a:r>
              <a:rPr sz="1600" spc="60" dirty="0">
                <a:latin typeface="Times New Roman"/>
                <a:cs typeface="Times New Roman"/>
              </a:rPr>
              <a:t>owners</a:t>
            </a:r>
            <a:r>
              <a:rPr sz="1600" spc="-70" dirty="0">
                <a:latin typeface="Times New Roman"/>
                <a:cs typeface="Times New Roman"/>
              </a:rPr>
              <a:t> </a:t>
            </a:r>
            <a:r>
              <a:rPr sz="1600" spc="40" dirty="0">
                <a:latin typeface="Times New Roman"/>
                <a:cs typeface="Times New Roman"/>
              </a:rPr>
              <a:t>are</a:t>
            </a:r>
            <a:r>
              <a:rPr sz="1600" spc="-75" dirty="0">
                <a:latin typeface="Times New Roman"/>
                <a:cs typeface="Times New Roman"/>
              </a:rPr>
              <a:t> </a:t>
            </a:r>
            <a:r>
              <a:rPr sz="1600" spc="40" dirty="0">
                <a:latin typeface="Times New Roman"/>
                <a:cs typeface="Times New Roman"/>
              </a:rPr>
              <a:t>allowed</a:t>
            </a:r>
            <a:endParaRPr sz="1600">
              <a:latin typeface="Times New Roman"/>
              <a:cs typeface="Times New Roman"/>
            </a:endParaRPr>
          </a:p>
          <a:p>
            <a:pPr marL="2282190" algn="ctr">
              <a:lnSpc>
                <a:spcPts val="1630"/>
              </a:lnSpc>
            </a:pPr>
            <a:r>
              <a:rPr sz="1600" spc="85" dirty="0">
                <a:latin typeface="Times New Roman"/>
                <a:cs typeface="Times New Roman"/>
              </a:rPr>
              <a:t>to</a:t>
            </a:r>
            <a:r>
              <a:rPr sz="1600" spc="-65" dirty="0">
                <a:latin typeface="Times New Roman"/>
                <a:cs typeface="Times New Roman"/>
              </a:rPr>
              <a:t> </a:t>
            </a:r>
            <a:r>
              <a:rPr sz="1600" spc="65" dirty="0">
                <a:latin typeface="Times New Roman"/>
                <a:cs typeface="Times New Roman"/>
              </a:rPr>
              <a:t>grant</a:t>
            </a:r>
            <a:r>
              <a:rPr sz="1600" spc="-75" dirty="0">
                <a:latin typeface="Times New Roman"/>
                <a:cs typeface="Times New Roman"/>
              </a:rPr>
              <a:t> </a:t>
            </a:r>
            <a:r>
              <a:rPr sz="1600" spc="45" dirty="0">
                <a:latin typeface="Times New Roman"/>
                <a:cs typeface="Times New Roman"/>
              </a:rPr>
              <a:t>permissions</a:t>
            </a:r>
            <a:r>
              <a:rPr sz="1600" spc="-85" dirty="0">
                <a:latin typeface="Times New Roman"/>
                <a:cs typeface="Times New Roman"/>
              </a:rPr>
              <a:t> </a:t>
            </a:r>
            <a:r>
              <a:rPr sz="1600" spc="110" dirty="0">
                <a:latin typeface="Times New Roman"/>
                <a:cs typeface="Times New Roman"/>
              </a:rPr>
              <a:t>on</a:t>
            </a:r>
            <a:r>
              <a:rPr sz="1600" spc="-65" dirty="0">
                <a:latin typeface="Times New Roman"/>
                <a:cs typeface="Times New Roman"/>
              </a:rPr>
              <a:t> </a:t>
            </a:r>
            <a:r>
              <a:rPr sz="1600" spc="25" dirty="0">
                <a:latin typeface="Times New Roman"/>
                <a:cs typeface="Times New Roman"/>
              </a:rPr>
              <a:t>a</a:t>
            </a:r>
            <a:endParaRPr sz="1600">
              <a:latin typeface="Times New Roman"/>
              <a:cs typeface="Times New Roman"/>
            </a:endParaRPr>
          </a:p>
          <a:p>
            <a:pPr marL="2280920" algn="ctr">
              <a:lnSpc>
                <a:spcPts val="1855"/>
              </a:lnSpc>
            </a:pPr>
            <a:r>
              <a:rPr sz="1600" spc="55" dirty="0">
                <a:latin typeface="Times New Roman"/>
                <a:cs typeface="Times New Roman"/>
              </a:rPr>
              <a:t>synonym.</a:t>
            </a:r>
            <a:endParaRPr sz="1600">
              <a:latin typeface="Times New Roman"/>
              <a:cs typeface="Times New Roman"/>
            </a:endParaRPr>
          </a:p>
        </p:txBody>
      </p:sp>
      <p:grpSp>
        <p:nvGrpSpPr>
          <p:cNvPr id="13" name="object 13"/>
          <p:cNvGrpSpPr/>
          <p:nvPr/>
        </p:nvGrpSpPr>
        <p:grpSpPr>
          <a:xfrm>
            <a:off x="692658" y="1296161"/>
            <a:ext cx="7524750" cy="3611879"/>
            <a:chOff x="692658" y="1296161"/>
            <a:chExt cx="7524750" cy="3611879"/>
          </a:xfrm>
        </p:grpSpPr>
        <p:pic>
          <p:nvPicPr>
            <p:cNvPr id="14" name="object 14"/>
            <p:cNvPicPr/>
            <p:nvPr/>
          </p:nvPicPr>
          <p:blipFill>
            <a:blip r:embed="rId10" cstate="print"/>
            <a:stretch>
              <a:fillRect/>
            </a:stretch>
          </p:blipFill>
          <p:spPr>
            <a:xfrm>
              <a:off x="6020561" y="1880615"/>
              <a:ext cx="2196845" cy="3027425"/>
            </a:xfrm>
            <a:prstGeom prst="rect">
              <a:avLst/>
            </a:prstGeom>
          </p:spPr>
        </p:pic>
        <p:pic>
          <p:nvPicPr>
            <p:cNvPr id="15" name="object 15"/>
            <p:cNvPicPr/>
            <p:nvPr/>
          </p:nvPicPr>
          <p:blipFill>
            <a:blip r:embed="rId11" cstate="print"/>
            <a:stretch>
              <a:fillRect/>
            </a:stretch>
          </p:blipFill>
          <p:spPr>
            <a:xfrm>
              <a:off x="6061583" y="1899157"/>
              <a:ext cx="2121188" cy="2951353"/>
            </a:xfrm>
            <a:prstGeom prst="rect">
              <a:avLst/>
            </a:prstGeom>
          </p:spPr>
        </p:pic>
        <p:pic>
          <p:nvPicPr>
            <p:cNvPr id="16" name="object 16"/>
            <p:cNvPicPr/>
            <p:nvPr/>
          </p:nvPicPr>
          <p:blipFill>
            <a:blip r:embed="rId12" cstate="print"/>
            <a:stretch>
              <a:fillRect/>
            </a:stretch>
          </p:blipFill>
          <p:spPr>
            <a:xfrm>
              <a:off x="692658" y="1296161"/>
              <a:ext cx="1399794" cy="1574291"/>
            </a:xfrm>
            <a:prstGeom prst="rect">
              <a:avLst/>
            </a:prstGeom>
          </p:spPr>
        </p:pic>
        <p:pic>
          <p:nvPicPr>
            <p:cNvPr id="17" name="object 17"/>
            <p:cNvPicPr/>
            <p:nvPr/>
          </p:nvPicPr>
          <p:blipFill>
            <a:blip r:embed="rId13" cstate="print"/>
            <a:stretch>
              <a:fillRect/>
            </a:stretch>
          </p:blipFill>
          <p:spPr>
            <a:xfrm>
              <a:off x="733615" y="1314703"/>
              <a:ext cx="1324419" cy="1498346"/>
            </a:xfrm>
            <a:prstGeom prst="rect">
              <a:avLst/>
            </a:prstGeom>
          </p:spPr>
        </p:pic>
      </p:grpSp>
      <p:sp>
        <p:nvSpPr>
          <p:cNvPr id="18" name="object 18"/>
          <p:cNvSpPr txBox="1">
            <a:spLocks noGrp="1"/>
          </p:cNvSpPr>
          <p:nvPr>
            <p:ph type="title"/>
          </p:nvPr>
        </p:nvSpPr>
        <p:spPr>
          <a:xfrm>
            <a:off x="383540" y="15493"/>
            <a:ext cx="4188460" cy="635635"/>
          </a:xfrm>
          <a:prstGeom prst="rect">
            <a:avLst/>
          </a:prstGeom>
        </p:spPr>
        <p:txBody>
          <a:bodyPr vert="horz" wrap="square" lIns="0" tIns="12700" rIns="0" bIns="0" rtlCol="0">
            <a:spAutoFit/>
          </a:bodyPr>
          <a:lstStyle/>
          <a:p>
            <a:pPr marL="12700">
              <a:lnSpc>
                <a:spcPct val="100000"/>
              </a:lnSpc>
              <a:spcBef>
                <a:spcPts val="100"/>
              </a:spcBef>
            </a:pPr>
            <a:r>
              <a:rPr spc="160" dirty="0"/>
              <a:t>Synonyms</a:t>
            </a:r>
            <a:r>
              <a:rPr spc="-240" dirty="0"/>
              <a:t> </a:t>
            </a:r>
            <a:r>
              <a:rPr spc="-335" dirty="0"/>
              <a:t>3-5</a:t>
            </a:r>
          </a:p>
        </p:txBody>
      </p:sp>
      <p:sp>
        <p:nvSpPr>
          <p:cNvPr id="20" name="object 2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14</a:t>
            </a:fld>
            <a:endParaRPr sz="1200"/>
          </a:p>
        </p:txBody>
      </p:sp>
      <p:sp>
        <p:nvSpPr>
          <p:cNvPr id="21" name="object 21"/>
          <p:cNvSpPr txBox="1">
            <a:spLocks noGrp="1"/>
          </p:cNvSpPr>
          <p:nvPr>
            <p:ph type="ftr" sz="quarter" idx="5"/>
          </p:nvPr>
        </p:nvSpPr>
        <p:spPr>
          <a:xfrm>
            <a:off x="78738" y="6629400"/>
            <a:ext cx="1264413"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5552" y="2463545"/>
            <a:ext cx="4526280" cy="2826385"/>
          </a:xfrm>
          <a:custGeom>
            <a:avLst/>
            <a:gdLst/>
            <a:ahLst/>
            <a:cxnLst/>
            <a:rect l="l" t="t" r="r" b="b"/>
            <a:pathLst>
              <a:path w="4526280" h="2826385">
                <a:moveTo>
                  <a:pt x="4526280" y="471043"/>
                </a:moveTo>
                <a:lnTo>
                  <a:pt x="4523841" y="422897"/>
                </a:lnTo>
                <a:lnTo>
                  <a:pt x="4516704" y="376135"/>
                </a:lnTo>
                <a:lnTo>
                  <a:pt x="4505096" y="331000"/>
                </a:lnTo>
                <a:lnTo>
                  <a:pt x="4489247" y="287718"/>
                </a:lnTo>
                <a:lnTo>
                  <a:pt x="4469409" y="246545"/>
                </a:lnTo>
                <a:lnTo>
                  <a:pt x="4445813" y="207708"/>
                </a:lnTo>
                <a:lnTo>
                  <a:pt x="4418698" y="171450"/>
                </a:lnTo>
                <a:lnTo>
                  <a:pt x="4388282" y="137985"/>
                </a:lnTo>
                <a:lnTo>
                  <a:pt x="4354830" y="107581"/>
                </a:lnTo>
                <a:lnTo>
                  <a:pt x="4318571" y="80467"/>
                </a:lnTo>
                <a:lnTo>
                  <a:pt x="4279735" y="56870"/>
                </a:lnTo>
                <a:lnTo>
                  <a:pt x="4238561" y="37033"/>
                </a:lnTo>
                <a:lnTo>
                  <a:pt x="4195280" y="21183"/>
                </a:lnTo>
                <a:lnTo>
                  <a:pt x="4150144" y="9575"/>
                </a:lnTo>
                <a:lnTo>
                  <a:pt x="4103382" y="2438"/>
                </a:lnTo>
                <a:lnTo>
                  <a:pt x="4055237" y="0"/>
                </a:lnTo>
                <a:lnTo>
                  <a:pt x="471055" y="0"/>
                </a:lnTo>
                <a:lnTo>
                  <a:pt x="422884" y="2438"/>
                </a:lnTo>
                <a:lnTo>
                  <a:pt x="376110" y="9575"/>
                </a:lnTo>
                <a:lnTo>
                  <a:pt x="330974" y="21183"/>
                </a:lnTo>
                <a:lnTo>
                  <a:pt x="287693" y="37033"/>
                </a:lnTo>
                <a:lnTo>
                  <a:pt x="246519" y="56870"/>
                </a:lnTo>
                <a:lnTo>
                  <a:pt x="207670" y="80467"/>
                </a:lnTo>
                <a:lnTo>
                  <a:pt x="171411" y="107581"/>
                </a:lnTo>
                <a:lnTo>
                  <a:pt x="137960" y="137985"/>
                </a:lnTo>
                <a:lnTo>
                  <a:pt x="107556" y="171450"/>
                </a:lnTo>
                <a:lnTo>
                  <a:pt x="80441" y="207708"/>
                </a:lnTo>
                <a:lnTo>
                  <a:pt x="56845" y="246545"/>
                </a:lnTo>
                <a:lnTo>
                  <a:pt x="37007" y="287718"/>
                </a:lnTo>
                <a:lnTo>
                  <a:pt x="21170" y="331000"/>
                </a:lnTo>
                <a:lnTo>
                  <a:pt x="9563" y="376135"/>
                </a:lnTo>
                <a:lnTo>
                  <a:pt x="2425" y="422897"/>
                </a:lnTo>
                <a:lnTo>
                  <a:pt x="0" y="471043"/>
                </a:lnTo>
                <a:lnTo>
                  <a:pt x="0" y="2355215"/>
                </a:lnTo>
                <a:lnTo>
                  <a:pt x="2425" y="2403373"/>
                </a:lnTo>
                <a:lnTo>
                  <a:pt x="9563" y="2450134"/>
                </a:lnTo>
                <a:lnTo>
                  <a:pt x="21170" y="2495270"/>
                </a:lnTo>
                <a:lnTo>
                  <a:pt x="37007" y="2538552"/>
                </a:lnTo>
                <a:lnTo>
                  <a:pt x="56845" y="2579725"/>
                </a:lnTo>
                <a:lnTo>
                  <a:pt x="80441" y="2618562"/>
                </a:lnTo>
                <a:lnTo>
                  <a:pt x="107556" y="2654820"/>
                </a:lnTo>
                <a:lnTo>
                  <a:pt x="137960" y="2688272"/>
                </a:lnTo>
                <a:lnTo>
                  <a:pt x="171411" y="2718689"/>
                </a:lnTo>
                <a:lnTo>
                  <a:pt x="207670" y="2745803"/>
                </a:lnTo>
                <a:lnTo>
                  <a:pt x="246519" y="2769400"/>
                </a:lnTo>
                <a:lnTo>
                  <a:pt x="287693" y="2789237"/>
                </a:lnTo>
                <a:lnTo>
                  <a:pt x="330974" y="2805087"/>
                </a:lnTo>
                <a:lnTo>
                  <a:pt x="376110" y="2816695"/>
                </a:lnTo>
                <a:lnTo>
                  <a:pt x="422884" y="2823832"/>
                </a:lnTo>
                <a:lnTo>
                  <a:pt x="471055" y="2826258"/>
                </a:lnTo>
                <a:lnTo>
                  <a:pt x="4055237" y="2826258"/>
                </a:lnTo>
                <a:lnTo>
                  <a:pt x="4103382" y="2823832"/>
                </a:lnTo>
                <a:lnTo>
                  <a:pt x="4150144" y="2816695"/>
                </a:lnTo>
                <a:lnTo>
                  <a:pt x="4195280" y="2805087"/>
                </a:lnTo>
                <a:lnTo>
                  <a:pt x="4238561" y="2789237"/>
                </a:lnTo>
                <a:lnTo>
                  <a:pt x="4279735" y="2769400"/>
                </a:lnTo>
                <a:lnTo>
                  <a:pt x="4318571" y="2745803"/>
                </a:lnTo>
                <a:lnTo>
                  <a:pt x="4354830" y="2718689"/>
                </a:lnTo>
                <a:lnTo>
                  <a:pt x="4388294" y="2688272"/>
                </a:lnTo>
                <a:lnTo>
                  <a:pt x="4418698" y="2654820"/>
                </a:lnTo>
                <a:lnTo>
                  <a:pt x="4445813" y="2618562"/>
                </a:lnTo>
                <a:lnTo>
                  <a:pt x="4469409" y="2579725"/>
                </a:lnTo>
                <a:lnTo>
                  <a:pt x="4489247" y="2538552"/>
                </a:lnTo>
                <a:lnTo>
                  <a:pt x="4505096" y="2495270"/>
                </a:lnTo>
                <a:lnTo>
                  <a:pt x="4516704" y="2450134"/>
                </a:lnTo>
                <a:lnTo>
                  <a:pt x="4523841" y="2403373"/>
                </a:lnTo>
                <a:lnTo>
                  <a:pt x="4526280" y="2355215"/>
                </a:lnTo>
                <a:lnTo>
                  <a:pt x="4526280" y="471043"/>
                </a:lnTo>
                <a:close/>
              </a:path>
            </a:pathLst>
          </a:custGeom>
          <a:solidFill>
            <a:srgbClr val="4AACC5"/>
          </a:solidFill>
        </p:spPr>
        <p:txBody>
          <a:bodyPr wrap="square" lIns="0" tIns="0" rIns="0" bIns="0" rtlCol="0"/>
          <a:lstStyle/>
          <a:p>
            <a:endParaRPr/>
          </a:p>
        </p:txBody>
      </p:sp>
      <p:sp>
        <p:nvSpPr>
          <p:cNvPr id="3" name="object 3"/>
          <p:cNvSpPr txBox="1"/>
          <p:nvPr/>
        </p:nvSpPr>
        <p:spPr>
          <a:xfrm>
            <a:off x="392938" y="2556255"/>
            <a:ext cx="4116070" cy="2313305"/>
          </a:xfrm>
          <a:prstGeom prst="rect">
            <a:avLst/>
          </a:prstGeom>
        </p:spPr>
        <p:txBody>
          <a:bodyPr vert="horz" wrap="square" lIns="0" tIns="50165" rIns="0" bIns="0" rtlCol="0">
            <a:spAutoFit/>
          </a:bodyPr>
          <a:lstStyle/>
          <a:p>
            <a:pPr marL="12700" marR="5080">
              <a:lnSpc>
                <a:spcPts val="2380"/>
              </a:lnSpc>
              <a:spcBef>
                <a:spcPts val="395"/>
              </a:spcBef>
            </a:pPr>
            <a:r>
              <a:rPr sz="2200" spc="150" dirty="0">
                <a:solidFill>
                  <a:srgbClr val="FFFFFF"/>
                </a:solidFill>
                <a:latin typeface="Times New Roman"/>
                <a:cs typeface="Times New Roman"/>
              </a:rPr>
              <a:t>To</a:t>
            </a:r>
            <a:r>
              <a:rPr sz="2200" spc="-70" dirty="0">
                <a:solidFill>
                  <a:srgbClr val="FFFFFF"/>
                </a:solidFill>
                <a:latin typeface="Times New Roman"/>
                <a:cs typeface="Times New Roman"/>
              </a:rPr>
              <a:t> </a:t>
            </a:r>
            <a:r>
              <a:rPr sz="2200" spc="65" dirty="0">
                <a:solidFill>
                  <a:srgbClr val="FFFFFF"/>
                </a:solidFill>
                <a:latin typeface="Times New Roman"/>
                <a:cs typeface="Times New Roman"/>
              </a:rPr>
              <a:t>create</a:t>
            </a:r>
            <a:r>
              <a:rPr sz="2200" spc="-70" dirty="0">
                <a:solidFill>
                  <a:srgbClr val="FFFFFF"/>
                </a:solidFill>
                <a:latin typeface="Times New Roman"/>
                <a:cs typeface="Times New Roman"/>
              </a:rPr>
              <a:t> </a:t>
            </a:r>
            <a:r>
              <a:rPr sz="2200" spc="35" dirty="0">
                <a:solidFill>
                  <a:srgbClr val="FFFFFF"/>
                </a:solidFill>
                <a:latin typeface="Times New Roman"/>
                <a:cs typeface="Times New Roman"/>
              </a:rPr>
              <a:t>a</a:t>
            </a:r>
            <a:r>
              <a:rPr sz="2200" spc="-70" dirty="0">
                <a:solidFill>
                  <a:srgbClr val="FFFFFF"/>
                </a:solidFill>
                <a:latin typeface="Times New Roman"/>
                <a:cs typeface="Times New Roman"/>
              </a:rPr>
              <a:t> </a:t>
            </a:r>
            <a:r>
              <a:rPr sz="2200" spc="85" dirty="0">
                <a:solidFill>
                  <a:srgbClr val="FFFFFF"/>
                </a:solidFill>
                <a:latin typeface="Times New Roman"/>
                <a:cs typeface="Times New Roman"/>
              </a:rPr>
              <a:t>synonym</a:t>
            </a:r>
            <a:r>
              <a:rPr sz="2200" spc="-65" dirty="0">
                <a:solidFill>
                  <a:srgbClr val="FFFFFF"/>
                </a:solidFill>
                <a:latin typeface="Times New Roman"/>
                <a:cs typeface="Times New Roman"/>
              </a:rPr>
              <a:t> </a:t>
            </a:r>
            <a:r>
              <a:rPr sz="2200" spc="70" dirty="0">
                <a:solidFill>
                  <a:srgbClr val="FFFFFF"/>
                </a:solidFill>
                <a:latin typeface="Times New Roman"/>
                <a:cs typeface="Times New Roman"/>
              </a:rPr>
              <a:t>using</a:t>
            </a:r>
            <a:r>
              <a:rPr sz="2200" spc="-65" dirty="0">
                <a:solidFill>
                  <a:srgbClr val="FFFFFF"/>
                </a:solidFill>
                <a:latin typeface="Times New Roman"/>
                <a:cs typeface="Times New Roman"/>
              </a:rPr>
              <a:t> </a:t>
            </a:r>
            <a:r>
              <a:rPr sz="2200" spc="65" dirty="0">
                <a:solidFill>
                  <a:srgbClr val="FFFFFF"/>
                </a:solidFill>
                <a:latin typeface="Times New Roman"/>
                <a:cs typeface="Times New Roman"/>
              </a:rPr>
              <a:t>SSMS,  </a:t>
            </a:r>
            <a:r>
              <a:rPr sz="2200" spc="85" dirty="0">
                <a:solidFill>
                  <a:srgbClr val="FFFFFF"/>
                </a:solidFill>
                <a:latin typeface="Times New Roman"/>
                <a:cs typeface="Times New Roman"/>
              </a:rPr>
              <a:t>perform</a:t>
            </a:r>
            <a:r>
              <a:rPr sz="2200" spc="-10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55" dirty="0">
                <a:solidFill>
                  <a:srgbClr val="FFFFFF"/>
                </a:solidFill>
                <a:latin typeface="Times New Roman"/>
                <a:cs typeface="Times New Roman"/>
              </a:rPr>
              <a:t>following</a:t>
            </a:r>
            <a:r>
              <a:rPr sz="2200" spc="-110" dirty="0">
                <a:solidFill>
                  <a:srgbClr val="FFFFFF"/>
                </a:solidFill>
                <a:latin typeface="Times New Roman"/>
                <a:cs typeface="Times New Roman"/>
              </a:rPr>
              <a:t> </a:t>
            </a:r>
            <a:r>
              <a:rPr sz="2200" spc="45" dirty="0">
                <a:solidFill>
                  <a:srgbClr val="FFFFFF"/>
                </a:solidFill>
                <a:latin typeface="Times New Roman"/>
                <a:cs typeface="Times New Roman"/>
              </a:rPr>
              <a:t>steps:</a:t>
            </a:r>
            <a:endParaRPr sz="2200">
              <a:latin typeface="Times New Roman"/>
              <a:cs typeface="Times New Roman"/>
            </a:endParaRPr>
          </a:p>
          <a:p>
            <a:pPr marL="342265" marR="5715" indent="-342265" algn="r">
              <a:lnSpc>
                <a:spcPts val="2280"/>
              </a:lnSpc>
              <a:spcBef>
                <a:spcPts val="1914"/>
              </a:spcBef>
              <a:buFont typeface="Wingdings"/>
              <a:buChar char=""/>
              <a:tabLst>
                <a:tab pos="342265" algn="l"/>
                <a:tab pos="342900" algn="l"/>
                <a:tab pos="720725" algn="l"/>
                <a:tab pos="1613535" algn="l"/>
                <a:tab pos="2778125" algn="l"/>
                <a:tab pos="3733165" algn="l"/>
              </a:tabLst>
            </a:pPr>
            <a:r>
              <a:rPr sz="2000" spc="60" dirty="0">
                <a:solidFill>
                  <a:srgbClr val="FFFFFF"/>
                </a:solidFill>
                <a:latin typeface="Times New Roman"/>
                <a:cs typeface="Times New Roman"/>
              </a:rPr>
              <a:t>I</a:t>
            </a:r>
            <a:r>
              <a:rPr sz="2000" spc="100" dirty="0">
                <a:solidFill>
                  <a:srgbClr val="FFFFFF"/>
                </a:solidFill>
                <a:latin typeface="Times New Roman"/>
                <a:cs typeface="Times New Roman"/>
              </a:rPr>
              <a:t>n</a:t>
            </a:r>
            <a:r>
              <a:rPr sz="2000" dirty="0">
                <a:solidFill>
                  <a:srgbClr val="FFFFFF"/>
                </a:solidFill>
                <a:latin typeface="Times New Roman"/>
                <a:cs typeface="Times New Roman"/>
              </a:rPr>
              <a:t>	</a:t>
            </a:r>
            <a:r>
              <a:rPr sz="2000" spc="90" dirty="0">
                <a:solidFill>
                  <a:srgbClr val="FFFFFF"/>
                </a:solidFill>
                <a:latin typeface="Times New Roman"/>
                <a:cs typeface="Times New Roman"/>
              </a:rPr>
              <a:t>Object</a:t>
            </a:r>
            <a:r>
              <a:rPr sz="2000" dirty="0">
                <a:solidFill>
                  <a:srgbClr val="FFFFFF"/>
                </a:solidFill>
                <a:latin typeface="Times New Roman"/>
                <a:cs typeface="Times New Roman"/>
              </a:rPr>
              <a:t>	</a:t>
            </a:r>
            <a:r>
              <a:rPr sz="2000" spc="40" dirty="0">
                <a:solidFill>
                  <a:srgbClr val="FFFFFF"/>
                </a:solidFill>
                <a:latin typeface="Times New Roman"/>
                <a:cs typeface="Times New Roman"/>
              </a:rPr>
              <a:t>Ex</a:t>
            </a:r>
            <a:r>
              <a:rPr sz="2000" spc="70" dirty="0">
                <a:solidFill>
                  <a:srgbClr val="FFFFFF"/>
                </a:solidFill>
                <a:latin typeface="Times New Roman"/>
                <a:cs typeface="Times New Roman"/>
              </a:rPr>
              <a:t>p</a:t>
            </a:r>
            <a:r>
              <a:rPr sz="2000" spc="50" dirty="0">
                <a:solidFill>
                  <a:srgbClr val="FFFFFF"/>
                </a:solidFill>
                <a:latin typeface="Times New Roman"/>
                <a:cs typeface="Times New Roman"/>
              </a:rPr>
              <a:t>l</a:t>
            </a:r>
            <a:r>
              <a:rPr sz="2000" spc="70" dirty="0">
                <a:solidFill>
                  <a:srgbClr val="FFFFFF"/>
                </a:solidFill>
                <a:latin typeface="Times New Roman"/>
                <a:cs typeface="Times New Roman"/>
              </a:rPr>
              <a:t>or</a:t>
            </a:r>
            <a:r>
              <a:rPr sz="2000" spc="80" dirty="0">
                <a:solidFill>
                  <a:srgbClr val="FFFFFF"/>
                </a:solidFill>
                <a:latin typeface="Times New Roman"/>
                <a:cs typeface="Times New Roman"/>
              </a:rPr>
              <a:t>e</a:t>
            </a:r>
            <a:r>
              <a:rPr sz="2000" spc="40" dirty="0">
                <a:solidFill>
                  <a:srgbClr val="FFFFFF"/>
                </a:solidFill>
                <a:latin typeface="Times New Roman"/>
                <a:cs typeface="Times New Roman"/>
              </a:rPr>
              <a:t>r,</a:t>
            </a:r>
            <a:r>
              <a:rPr sz="2000" dirty="0">
                <a:solidFill>
                  <a:srgbClr val="FFFFFF"/>
                </a:solidFill>
                <a:latin typeface="Times New Roman"/>
                <a:cs typeface="Times New Roman"/>
              </a:rPr>
              <a:t>	</a:t>
            </a:r>
            <a:r>
              <a:rPr sz="2000" spc="70" dirty="0">
                <a:solidFill>
                  <a:srgbClr val="FFFFFF"/>
                </a:solidFill>
                <a:latin typeface="Times New Roman"/>
                <a:cs typeface="Times New Roman"/>
              </a:rPr>
              <a:t>expa</a:t>
            </a:r>
            <a:r>
              <a:rPr sz="2000" spc="155" dirty="0">
                <a:solidFill>
                  <a:srgbClr val="FFFFFF"/>
                </a:solidFill>
                <a:latin typeface="Times New Roman"/>
                <a:cs typeface="Times New Roman"/>
              </a:rPr>
              <a:t>nd</a:t>
            </a:r>
            <a:r>
              <a:rPr sz="2000" dirty="0">
                <a:solidFill>
                  <a:srgbClr val="FFFFFF"/>
                </a:solidFill>
                <a:latin typeface="Times New Roman"/>
                <a:cs typeface="Times New Roman"/>
              </a:rPr>
              <a:t>	</a:t>
            </a:r>
            <a:r>
              <a:rPr sz="2000" spc="105" dirty="0">
                <a:solidFill>
                  <a:srgbClr val="FFFFFF"/>
                </a:solidFill>
                <a:latin typeface="Times New Roman"/>
                <a:cs typeface="Times New Roman"/>
              </a:rPr>
              <a:t>t</a:t>
            </a:r>
            <a:r>
              <a:rPr sz="2000" spc="200" dirty="0">
                <a:solidFill>
                  <a:srgbClr val="FFFFFF"/>
                </a:solidFill>
                <a:latin typeface="Times New Roman"/>
                <a:cs typeface="Times New Roman"/>
              </a:rPr>
              <a:t>h</a:t>
            </a:r>
            <a:r>
              <a:rPr sz="2000" spc="40" dirty="0">
                <a:solidFill>
                  <a:srgbClr val="FFFFFF"/>
                </a:solidFill>
                <a:latin typeface="Times New Roman"/>
                <a:cs typeface="Times New Roman"/>
              </a:rPr>
              <a:t>e</a:t>
            </a:r>
            <a:endParaRPr sz="2000">
              <a:latin typeface="Times New Roman"/>
              <a:cs typeface="Times New Roman"/>
            </a:endParaRPr>
          </a:p>
          <a:p>
            <a:pPr marR="17780" algn="r">
              <a:lnSpc>
                <a:spcPts val="2160"/>
              </a:lnSpc>
            </a:pPr>
            <a:r>
              <a:rPr sz="2000" spc="60" dirty="0">
                <a:solidFill>
                  <a:srgbClr val="FFFFFF"/>
                </a:solidFill>
                <a:latin typeface="Times New Roman"/>
                <a:cs typeface="Times New Roman"/>
              </a:rPr>
              <a:t>database</a:t>
            </a:r>
            <a:r>
              <a:rPr sz="2000" spc="-60" dirty="0">
                <a:solidFill>
                  <a:srgbClr val="FFFFFF"/>
                </a:solidFill>
                <a:latin typeface="Times New Roman"/>
                <a:cs typeface="Times New Roman"/>
              </a:rPr>
              <a:t> </a:t>
            </a:r>
            <a:r>
              <a:rPr sz="2000" spc="110" dirty="0">
                <a:solidFill>
                  <a:srgbClr val="FFFFFF"/>
                </a:solidFill>
                <a:latin typeface="Times New Roman"/>
                <a:cs typeface="Times New Roman"/>
              </a:rPr>
              <a:t>to</a:t>
            </a:r>
            <a:r>
              <a:rPr sz="2000" spc="-70" dirty="0">
                <a:solidFill>
                  <a:srgbClr val="FFFFFF"/>
                </a:solidFill>
                <a:latin typeface="Times New Roman"/>
                <a:cs typeface="Times New Roman"/>
              </a:rPr>
              <a:t> </a:t>
            </a:r>
            <a:r>
              <a:rPr sz="2000" spc="55" dirty="0">
                <a:solidFill>
                  <a:srgbClr val="FFFFFF"/>
                </a:solidFill>
                <a:latin typeface="Times New Roman"/>
                <a:cs typeface="Times New Roman"/>
              </a:rPr>
              <a:t>create</a:t>
            </a:r>
            <a:r>
              <a:rPr sz="2000" spc="-7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90" dirty="0">
                <a:solidFill>
                  <a:srgbClr val="FFFFFF"/>
                </a:solidFill>
                <a:latin typeface="Times New Roman"/>
                <a:cs typeface="Times New Roman"/>
              </a:rPr>
              <a:t>new</a:t>
            </a:r>
            <a:r>
              <a:rPr sz="2000" spc="-65" dirty="0">
                <a:solidFill>
                  <a:srgbClr val="FFFFFF"/>
                </a:solidFill>
                <a:latin typeface="Times New Roman"/>
                <a:cs typeface="Times New Roman"/>
              </a:rPr>
              <a:t> </a:t>
            </a:r>
            <a:r>
              <a:rPr sz="2000" spc="65" dirty="0">
                <a:solidFill>
                  <a:srgbClr val="FFFFFF"/>
                </a:solidFill>
                <a:latin typeface="Times New Roman"/>
                <a:cs typeface="Times New Roman"/>
              </a:rPr>
              <a:t>synonym.</a:t>
            </a:r>
            <a:endParaRPr sz="2000">
              <a:latin typeface="Times New Roman"/>
              <a:cs typeface="Times New Roman"/>
            </a:endParaRPr>
          </a:p>
          <a:p>
            <a:pPr marL="354965" marR="5080" indent="-342900" algn="just">
              <a:lnSpc>
                <a:spcPts val="2160"/>
              </a:lnSpc>
              <a:spcBef>
                <a:spcPts val="150"/>
              </a:spcBef>
              <a:buFont typeface="Wingdings"/>
              <a:buChar char=""/>
              <a:tabLst>
                <a:tab pos="355600" algn="l"/>
              </a:tabLst>
            </a:pPr>
            <a:r>
              <a:rPr sz="2000" spc="50" dirty="0">
                <a:solidFill>
                  <a:srgbClr val="FFFFFF"/>
                </a:solidFill>
                <a:latin typeface="Times New Roman"/>
                <a:cs typeface="Times New Roman"/>
              </a:rPr>
              <a:t>Select </a:t>
            </a:r>
            <a:r>
              <a:rPr sz="2000" spc="110" dirty="0">
                <a:solidFill>
                  <a:srgbClr val="FFFFFF"/>
                </a:solidFill>
                <a:latin typeface="Times New Roman"/>
                <a:cs typeface="Times New Roman"/>
              </a:rPr>
              <a:t>the </a:t>
            </a:r>
            <a:r>
              <a:rPr sz="2000" spc="80" dirty="0">
                <a:solidFill>
                  <a:srgbClr val="FFFFFF"/>
                </a:solidFill>
                <a:latin typeface="Times New Roman"/>
                <a:cs typeface="Times New Roman"/>
              </a:rPr>
              <a:t>Synonyms </a:t>
            </a:r>
            <a:r>
              <a:rPr sz="2000" spc="50" dirty="0">
                <a:solidFill>
                  <a:srgbClr val="FFFFFF"/>
                </a:solidFill>
                <a:latin typeface="Times New Roman"/>
                <a:cs typeface="Times New Roman"/>
              </a:rPr>
              <a:t>folder,</a:t>
            </a:r>
            <a:r>
              <a:rPr sz="2000" spc="-340" dirty="0">
                <a:solidFill>
                  <a:srgbClr val="FFFFFF"/>
                </a:solidFill>
                <a:latin typeface="Times New Roman"/>
                <a:cs typeface="Times New Roman"/>
              </a:rPr>
              <a:t> </a:t>
            </a:r>
            <a:r>
              <a:rPr sz="2000" spc="60" dirty="0">
                <a:solidFill>
                  <a:srgbClr val="FFFFFF"/>
                </a:solidFill>
                <a:latin typeface="Times New Roman"/>
                <a:cs typeface="Times New Roman"/>
              </a:rPr>
              <a:t>right-  </a:t>
            </a:r>
            <a:r>
              <a:rPr sz="2000" spc="25" dirty="0">
                <a:solidFill>
                  <a:srgbClr val="FFFFFF"/>
                </a:solidFill>
                <a:latin typeface="Times New Roman"/>
                <a:cs typeface="Times New Roman"/>
              </a:rPr>
              <a:t>click </a:t>
            </a:r>
            <a:r>
              <a:rPr sz="2000" spc="65" dirty="0">
                <a:solidFill>
                  <a:srgbClr val="FFFFFF"/>
                </a:solidFill>
                <a:latin typeface="Times New Roman"/>
                <a:cs typeface="Times New Roman"/>
              </a:rPr>
              <a:t>it </a:t>
            </a:r>
            <a:r>
              <a:rPr sz="2000" spc="114" dirty="0">
                <a:solidFill>
                  <a:srgbClr val="FFFFFF"/>
                </a:solidFill>
                <a:latin typeface="Times New Roman"/>
                <a:cs typeface="Times New Roman"/>
              </a:rPr>
              <a:t>and </a:t>
            </a:r>
            <a:r>
              <a:rPr sz="2000" spc="105" dirty="0">
                <a:solidFill>
                  <a:srgbClr val="FFFFFF"/>
                </a:solidFill>
                <a:latin typeface="Times New Roman"/>
                <a:cs typeface="Times New Roman"/>
              </a:rPr>
              <a:t>then, </a:t>
            </a:r>
            <a:r>
              <a:rPr sz="2000" spc="25" dirty="0">
                <a:solidFill>
                  <a:srgbClr val="FFFFFF"/>
                </a:solidFill>
                <a:latin typeface="Times New Roman"/>
                <a:cs typeface="Times New Roman"/>
              </a:rPr>
              <a:t>click </a:t>
            </a:r>
            <a:r>
              <a:rPr sz="2000" spc="80" dirty="0">
                <a:solidFill>
                  <a:srgbClr val="FFFFFF"/>
                </a:solidFill>
                <a:latin typeface="Times New Roman"/>
                <a:cs typeface="Times New Roman"/>
              </a:rPr>
              <a:t>New  </a:t>
            </a:r>
            <a:r>
              <a:rPr sz="2000" spc="75" dirty="0">
                <a:solidFill>
                  <a:srgbClr val="FFFFFF"/>
                </a:solidFill>
                <a:latin typeface="Times New Roman"/>
                <a:cs typeface="Times New Roman"/>
              </a:rPr>
              <a:t>Synonym.</a:t>
            </a:r>
            <a:endParaRPr sz="2000">
              <a:latin typeface="Times New Roman"/>
              <a:cs typeface="Times New Roman"/>
            </a:endParaRPr>
          </a:p>
        </p:txBody>
      </p:sp>
      <p:sp>
        <p:nvSpPr>
          <p:cNvPr id="4" name="object 4"/>
          <p:cNvSpPr txBox="1"/>
          <p:nvPr/>
        </p:nvSpPr>
        <p:spPr>
          <a:xfrm>
            <a:off x="392938" y="833373"/>
            <a:ext cx="4473956" cy="391160"/>
          </a:xfrm>
          <a:prstGeom prst="rect">
            <a:avLst/>
          </a:prstGeom>
        </p:spPr>
        <p:txBody>
          <a:bodyPr vert="horz" wrap="square" lIns="0" tIns="12700" rIns="0" bIns="0" rtlCol="0">
            <a:spAutoFit/>
          </a:bodyPr>
          <a:lstStyle/>
          <a:p>
            <a:pPr marL="12700">
              <a:lnSpc>
                <a:spcPct val="100000"/>
              </a:lnSpc>
              <a:spcBef>
                <a:spcPts val="100"/>
              </a:spcBef>
            </a:pPr>
            <a:r>
              <a:rPr sz="2400" b="1" spc="-40" dirty="0">
                <a:latin typeface="Arial"/>
                <a:cs typeface="Arial"/>
              </a:rPr>
              <a:t>Working </a:t>
            </a:r>
            <a:r>
              <a:rPr sz="2400" b="1" spc="-35" dirty="0">
                <a:latin typeface="Arial"/>
                <a:cs typeface="Arial"/>
              </a:rPr>
              <a:t>with</a:t>
            </a:r>
            <a:r>
              <a:rPr sz="2400" b="1" spc="-450" dirty="0">
                <a:latin typeface="Arial"/>
                <a:cs typeface="Arial"/>
              </a:rPr>
              <a:t> </a:t>
            </a:r>
            <a:r>
              <a:rPr sz="2400" b="1" spc="-175" dirty="0">
                <a:latin typeface="Arial"/>
                <a:cs typeface="Arial"/>
              </a:rPr>
              <a:t>Synonyms</a:t>
            </a:r>
            <a:endParaRPr sz="2400">
              <a:latin typeface="Arial"/>
              <a:cs typeface="Arial"/>
            </a:endParaRPr>
          </a:p>
        </p:txBody>
      </p:sp>
      <p:pic>
        <p:nvPicPr>
          <p:cNvPr id="5" name="object 5"/>
          <p:cNvPicPr/>
          <p:nvPr/>
        </p:nvPicPr>
        <p:blipFill>
          <a:blip r:embed="rId3" cstate="print"/>
          <a:stretch>
            <a:fillRect/>
          </a:stretch>
        </p:blipFill>
        <p:spPr>
          <a:xfrm>
            <a:off x="4866894" y="1750314"/>
            <a:ext cx="4079747" cy="4252722"/>
          </a:xfrm>
          <a:prstGeom prst="rect">
            <a:avLst/>
          </a:prstGeom>
        </p:spPr>
      </p:pic>
      <p:sp>
        <p:nvSpPr>
          <p:cNvPr id="6" name="object 6"/>
          <p:cNvSpPr txBox="1"/>
          <p:nvPr/>
        </p:nvSpPr>
        <p:spPr>
          <a:xfrm>
            <a:off x="5914644" y="6028182"/>
            <a:ext cx="2543556" cy="227626"/>
          </a:xfrm>
          <a:prstGeom prst="rect">
            <a:avLst/>
          </a:prstGeom>
        </p:spPr>
        <p:txBody>
          <a:bodyPr vert="horz" wrap="square" lIns="0" tIns="12065" rIns="0" bIns="0" rtlCol="0">
            <a:spAutoFit/>
          </a:bodyPr>
          <a:lstStyle/>
          <a:p>
            <a:pPr marL="12700">
              <a:lnSpc>
                <a:spcPct val="100000"/>
              </a:lnSpc>
              <a:spcBef>
                <a:spcPts val="95"/>
              </a:spcBef>
            </a:pPr>
            <a:r>
              <a:rPr sz="1400" b="1" spc="-55" dirty="0">
                <a:latin typeface="Arial"/>
                <a:cs typeface="Arial"/>
              </a:rPr>
              <a:t>Creating </a:t>
            </a:r>
            <a:r>
              <a:rPr sz="1400" b="1" spc="-135" dirty="0">
                <a:latin typeface="Arial"/>
                <a:cs typeface="Arial"/>
              </a:rPr>
              <a:t>a </a:t>
            </a:r>
            <a:r>
              <a:rPr sz="1400" b="1" spc="-30" dirty="0">
                <a:latin typeface="Arial"/>
                <a:cs typeface="Arial"/>
              </a:rPr>
              <a:t>New</a:t>
            </a:r>
            <a:r>
              <a:rPr sz="1400" b="1" spc="-185" dirty="0">
                <a:latin typeface="Arial"/>
                <a:cs typeface="Arial"/>
              </a:rPr>
              <a:t> </a:t>
            </a:r>
            <a:r>
              <a:rPr sz="1400" b="1" spc="-85" dirty="0">
                <a:latin typeface="Arial"/>
                <a:cs typeface="Arial"/>
              </a:rPr>
              <a:t>Synonym</a:t>
            </a:r>
            <a:endParaRPr sz="1400">
              <a:latin typeface="Arial"/>
              <a:cs typeface="Arial"/>
            </a:endParaRPr>
          </a:p>
        </p:txBody>
      </p:sp>
      <p:sp>
        <p:nvSpPr>
          <p:cNvPr id="9" name="object 9"/>
          <p:cNvSpPr txBox="1">
            <a:spLocks noGrp="1"/>
          </p:cNvSpPr>
          <p:nvPr>
            <p:ph type="sldNum" sz="quarter" idx="7"/>
          </p:nvPr>
        </p:nvSpPr>
        <p:spPr>
          <a:xfrm>
            <a:off x="7872983" y="6635171"/>
            <a:ext cx="1073658" cy="203261"/>
          </a:xfrm>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15</a:t>
            </a:fld>
            <a:endParaRPr sz="1200"/>
          </a:p>
        </p:txBody>
      </p:sp>
      <p:sp>
        <p:nvSpPr>
          <p:cNvPr id="10" name="object 10"/>
          <p:cNvSpPr txBox="1">
            <a:spLocks noGrp="1"/>
          </p:cNvSpPr>
          <p:nvPr>
            <p:ph type="ftr" sz="quarter" idx="5"/>
          </p:nvPr>
        </p:nvSpPr>
        <p:spPr>
          <a:xfrm>
            <a:off x="78738" y="6596379"/>
            <a:ext cx="1216661"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7" name="object 7"/>
          <p:cNvSpPr txBox="1">
            <a:spLocks noGrp="1"/>
          </p:cNvSpPr>
          <p:nvPr>
            <p:ph type="title"/>
          </p:nvPr>
        </p:nvSpPr>
        <p:spPr>
          <a:xfrm>
            <a:off x="383540" y="15493"/>
            <a:ext cx="3043555" cy="635635"/>
          </a:xfrm>
          <a:prstGeom prst="rect">
            <a:avLst/>
          </a:prstGeom>
        </p:spPr>
        <p:txBody>
          <a:bodyPr vert="horz" wrap="square" lIns="0" tIns="12700" rIns="0" bIns="0" rtlCol="0">
            <a:spAutoFit/>
          </a:bodyPr>
          <a:lstStyle/>
          <a:p>
            <a:pPr marL="12700">
              <a:lnSpc>
                <a:spcPct val="100000"/>
              </a:lnSpc>
              <a:spcBef>
                <a:spcPts val="100"/>
              </a:spcBef>
            </a:pPr>
            <a:r>
              <a:rPr spc="160" dirty="0"/>
              <a:t>Synonyms</a:t>
            </a:r>
            <a:r>
              <a:rPr spc="-240" dirty="0"/>
              <a:t> </a:t>
            </a:r>
            <a:r>
              <a:rPr spc="-200" dirty="0"/>
              <a:t>4-5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71523" y="1193164"/>
            <a:ext cx="7054850" cy="850900"/>
            <a:chOff x="1771523" y="1193164"/>
            <a:chExt cx="7054850" cy="850900"/>
          </a:xfrm>
        </p:grpSpPr>
        <p:sp>
          <p:nvSpPr>
            <p:cNvPr id="3" name="object 3"/>
            <p:cNvSpPr/>
            <p:nvPr/>
          </p:nvSpPr>
          <p:spPr>
            <a:xfrm>
              <a:off x="1776603" y="1198244"/>
              <a:ext cx="7044690" cy="840740"/>
            </a:xfrm>
            <a:custGeom>
              <a:avLst/>
              <a:gdLst/>
              <a:ahLst/>
              <a:cxnLst/>
              <a:rect l="l" t="t" r="r" b="b"/>
              <a:pathLst>
                <a:path w="7044690" h="840739">
                  <a:moveTo>
                    <a:pt x="6921754" y="0"/>
                  </a:moveTo>
                  <a:lnTo>
                    <a:pt x="0" y="0"/>
                  </a:lnTo>
                  <a:lnTo>
                    <a:pt x="0" y="840485"/>
                  </a:lnTo>
                  <a:lnTo>
                    <a:pt x="6921754" y="840485"/>
                  </a:lnTo>
                  <a:lnTo>
                    <a:pt x="6960581" y="833342"/>
                  </a:lnTo>
                  <a:lnTo>
                    <a:pt x="6994324" y="813452"/>
                  </a:lnTo>
                  <a:lnTo>
                    <a:pt x="7020948" y="783125"/>
                  </a:lnTo>
                  <a:lnTo>
                    <a:pt x="7038415" y="744673"/>
                  </a:lnTo>
                  <a:lnTo>
                    <a:pt x="7044690" y="700404"/>
                  </a:lnTo>
                  <a:lnTo>
                    <a:pt x="7044690" y="140080"/>
                  </a:lnTo>
                  <a:lnTo>
                    <a:pt x="7038415" y="95812"/>
                  </a:lnTo>
                  <a:lnTo>
                    <a:pt x="7020948" y="57360"/>
                  </a:lnTo>
                  <a:lnTo>
                    <a:pt x="6994324" y="27033"/>
                  </a:lnTo>
                  <a:lnTo>
                    <a:pt x="6960581" y="7143"/>
                  </a:lnTo>
                  <a:lnTo>
                    <a:pt x="6921754" y="0"/>
                  </a:lnTo>
                  <a:close/>
                </a:path>
              </a:pathLst>
            </a:custGeom>
            <a:solidFill>
              <a:srgbClr val="FFFFFF">
                <a:alpha val="90194"/>
              </a:srgbClr>
            </a:solidFill>
          </p:spPr>
          <p:txBody>
            <a:bodyPr wrap="square" lIns="0" tIns="0" rIns="0" bIns="0" rtlCol="0"/>
            <a:lstStyle/>
            <a:p>
              <a:endParaRPr/>
            </a:p>
          </p:txBody>
        </p:sp>
        <p:sp>
          <p:nvSpPr>
            <p:cNvPr id="4" name="object 4"/>
            <p:cNvSpPr/>
            <p:nvPr/>
          </p:nvSpPr>
          <p:spPr>
            <a:xfrm>
              <a:off x="1776603" y="1198244"/>
              <a:ext cx="7044690" cy="840740"/>
            </a:xfrm>
            <a:custGeom>
              <a:avLst/>
              <a:gdLst/>
              <a:ahLst/>
              <a:cxnLst/>
              <a:rect l="l" t="t" r="r" b="b"/>
              <a:pathLst>
                <a:path w="7044690" h="840739">
                  <a:moveTo>
                    <a:pt x="7044690" y="140080"/>
                  </a:moveTo>
                  <a:lnTo>
                    <a:pt x="7044690" y="700404"/>
                  </a:lnTo>
                  <a:lnTo>
                    <a:pt x="7038415" y="744673"/>
                  </a:lnTo>
                  <a:lnTo>
                    <a:pt x="7020948" y="783125"/>
                  </a:lnTo>
                  <a:lnTo>
                    <a:pt x="6994324" y="813452"/>
                  </a:lnTo>
                  <a:lnTo>
                    <a:pt x="6960581" y="833342"/>
                  </a:lnTo>
                  <a:lnTo>
                    <a:pt x="6921754" y="840485"/>
                  </a:lnTo>
                  <a:lnTo>
                    <a:pt x="0" y="840485"/>
                  </a:lnTo>
                  <a:lnTo>
                    <a:pt x="0" y="0"/>
                  </a:lnTo>
                  <a:lnTo>
                    <a:pt x="6921754" y="0"/>
                  </a:lnTo>
                  <a:lnTo>
                    <a:pt x="6960581" y="7143"/>
                  </a:lnTo>
                  <a:lnTo>
                    <a:pt x="6994324" y="27033"/>
                  </a:lnTo>
                  <a:lnTo>
                    <a:pt x="7020948" y="57360"/>
                  </a:lnTo>
                  <a:lnTo>
                    <a:pt x="7038415" y="95812"/>
                  </a:lnTo>
                  <a:lnTo>
                    <a:pt x="7044690" y="140080"/>
                  </a:lnTo>
                  <a:close/>
                </a:path>
              </a:pathLst>
            </a:custGeom>
            <a:ln w="9906">
              <a:solidFill>
                <a:srgbClr val="159F85"/>
              </a:solidFill>
            </a:ln>
          </p:spPr>
          <p:txBody>
            <a:bodyPr wrap="square" lIns="0" tIns="0" rIns="0" bIns="0" rtlCol="0"/>
            <a:lstStyle/>
            <a:p>
              <a:endParaRPr/>
            </a:p>
          </p:txBody>
        </p:sp>
      </p:grpSp>
      <p:sp>
        <p:nvSpPr>
          <p:cNvPr id="5" name="object 5"/>
          <p:cNvSpPr txBox="1"/>
          <p:nvPr/>
        </p:nvSpPr>
        <p:spPr>
          <a:xfrm>
            <a:off x="1899157" y="1462278"/>
            <a:ext cx="4425443" cy="228268"/>
          </a:xfrm>
          <a:prstGeom prst="rect">
            <a:avLst/>
          </a:prstGeom>
        </p:spPr>
        <p:txBody>
          <a:bodyPr vert="horz" wrap="square" lIns="0" tIns="12700" rIns="0" bIns="0" rtlCol="0">
            <a:spAutoFit/>
          </a:bodyPr>
          <a:lstStyle/>
          <a:p>
            <a:pPr marL="12700">
              <a:lnSpc>
                <a:spcPct val="100000"/>
              </a:lnSpc>
              <a:spcBef>
                <a:spcPts val="100"/>
              </a:spcBef>
            </a:pPr>
            <a:r>
              <a:rPr sz="1400" spc="55" dirty="0">
                <a:solidFill>
                  <a:srgbClr val="251528"/>
                </a:solidFill>
                <a:latin typeface="Times New Roman"/>
                <a:cs typeface="Times New Roman"/>
              </a:rPr>
              <a:t>New</a:t>
            </a:r>
            <a:r>
              <a:rPr sz="1400" spc="-60" dirty="0">
                <a:solidFill>
                  <a:srgbClr val="251528"/>
                </a:solidFill>
                <a:latin typeface="Times New Roman"/>
                <a:cs typeface="Times New Roman"/>
              </a:rPr>
              <a:t> </a:t>
            </a:r>
            <a:r>
              <a:rPr sz="1400" spc="60" dirty="0">
                <a:solidFill>
                  <a:srgbClr val="251528"/>
                </a:solidFill>
                <a:latin typeface="Times New Roman"/>
                <a:cs typeface="Times New Roman"/>
              </a:rPr>
              <a:t>name</a:t>
            </a:r>
            <a:r>
              <a:rPr sz="1400" spc="-55" dirty="0">
                <a:solidFill>
                  <a:srgbClr val="251528"/>
                </a:solidFill>
                <a:latin typeface="Times New Roman"/>
                <a:cs typeface="Times New Roman"/>
              </a:rPr>
              <a:t> </a:t>
            </a:r>
            <a:r>
              <a:rPr sz="1400" spc="40" dirty="0">
                <a:solidFill>
                  <a:srgbClr val="251528"/>
                </a:solidFill>
                <a:latin typeface="Times New Roman"/>
                <a:cs typeface="Times New Roman"/>
              </a:rPr>
              <a:t>for</a:t>
            </a:r>
            <a:r>
              <a:rPr sz="1400" spc="-50"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60" dirty="0">
                <a:solidFill>
                  <a:srgbClr val="251528"/>
                </a:solidFill>
                <a:latin typeface="Times New Roman"/>
                <a:cs typeface="Times New Roman"/>
              </a:rPr>
              <a:t> </a:t>
            </a:r>
            <a:r>
              <a:rPr sz="1400" spc="35" dirty="0">
                <a:solidFill>
                  <a:srgbClr val="251528"/>
                </a:solidFill>
                <a:latin typeface="Times New Roman"/>
                <a:cs typeface="Times New Roman"/>
              </a:rPr>
              <a:t>object.</a:t>
            </a:r>
            <a:r>
              <a:rPr sz="1400" spc="-65" dirty="0">
                <a:solidFill>
                  <a:srgbClr val="251528"/>
                </a:solidFill>
                <a:latin typeface="Times New Roman"/>
                <a:cs typeface="Times New Roman"/>
              </a:rPr>
              <a:t> </a:t>
            </a:r>
            <a:r>
              <a:rPr sz="1400" spc="40" dirty="0">
                <a:solidFill>
                  <a:srgbClr val="251528"/>
                </a:solidFill>
                <a:latin typeface="Times New Roman"/>
                <a:cs typeface="Times New Roman"/>
              </a:rPr>
              <a:t>Here,</a:t>
            </a:r>
            <a:r>
              <a:rPr sz="1400" spc="-55" dirty="0">
                <a:solidFill>
                  <a:srgbClr val="251528"/>
                </a:solidFill>
                <a:latin typeface="Times New Roman"/>
                <a:cs typeface="Times New Roman"/>
              </a:rPr>
              <a:t> </a:t>
            </a:r>
            <a:r>
              <a:rPr sz="1400" spc="45" dirty="0">
                <a:solidFill>
                  <a:srgbClr val="251528"/>
                </a:solidFill>
                <a:latin typeface="Times New Roman"/>
                <a:cs typeface="Times New Roman"/>
              </a:rPr>
              <a:t>Emp</a:t>
            </a:r>
            <a:r>
              <a:rPr sz="1400" spc="-50" dirty="0">
                <a:solidFill>
                  <a:srgbClr val="251528"/>
                </a:solidFill>
                <a:latin typeface="Times New Roman"/>
                <a:cs typeface="Times New Roman"/>
              </a:rPr>
              <a:t> </a:t>
            </a:r>
            <a:r>
              <a:rPr sz="1400" spc="5" dirty="0">
                <a:solidFill>
                  <a:srgbClr val="251528"/>
                </a:solidFill>
                <a:latin typeface="Times New Roman"/>
                <a:cs typeface="Times New Roman"/>
              </a:rPr>
              <a:t>is</a:t>
            </a:r>
            <a:r>
              <a:rPr sz="1400" spc="-60"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55" dirty="0">
                <a:solidFill>
                  <a:srgbClr val="251528"/>
                </a:solidFill>
                <a:latin typeface="Times New Roman"/>
                <a:cs typeface="Times New Roman"/>
              </a:rPr>
              <a:t> </a:t>
            </a:r>
            <a:r>
              <a:rPr sz="1400" spc="50" dirty="0">
                <a:solidFill>
                  <a:srgbClr val="251528"/>
                </a:solidFill>
                <a:latin typeface="Times New Roman"/>
                <a:cs typeface="Times New Roman"/>
              </a:rPr>
              <a:t>name.</a:t>
            </a:r>
            <a:endParaRPr sz="1400">
              <a:latin typeface="Times New Roman"/>
              <a:cs typeface="Times New Roman"/>
            </a:endParaRPr>
          </a:p>
        </p:txBody>
      </p:sp>
      <p:grpSp>
        <p:nvGrpSpPr>
          <p:cNvPr id="6" name="object 6"/>
          <p:cNvGrpSpPr/>
          <p:nvPr/>
        </p:nvGrpSpPr>
        <p:grpSpPr>
          <a:xfrm>
            <a:off x="1818004" y="2611247"/>
            <a:ext cx="7054215" cy="851535"/>
            <a:chOff x="1818004" y="2611247"/>
            <a:chExt cx="7054215" cy="851535"/>
          </a:xfrm>
        </p:grpSpPr>
        <p:sp>
          <p:nvSpPr>
            <p:cNvPr id="7" name="object 7"/>
            <p:cNvSpPr/>
            <p:nvPr/>
          </p:nvSpPr>
          <p:spPr>
            <a:xfrm>
              <a:off x="1823084" y="2616327"/>
              <a:ext cx="7044055" cy="841375"/>
            </a:xfrm>
            <a:custGeom>
              <a:avLst/>
              <a:gdLst/>
              <a:ahLst/>
              <a:cxnLst/>
              <a:rect l="l" t="t" r="r" b="b"/>
              <a:pathLst>
                <a:path w="7044055" h="841375">
                  <a:moveTo>
                    <a:pt x="6920992" y="0"/>
                  </a:moveTo>
                  <a:lnTo>
                    <a:pt x="0" y="0"/>
                  </a:lnTo>
                  <a:lnTo>
                    <a:pt x="0" y="841248"/>
                  </a:lnTo>
                  <a:lnTo>
                    <a:pt x="6920992" y="841248"/>
                  </a:lnTo>
                  <a:lnTo>
                    <a:pt x="6959819" y="834103"/>
                  </a:lnTo>
                  <a:lnTo>
                    <a:pt x="6993562" y="814206"/>
                  </a:lnTo>
                  <a:lnTo>
                    <a:pt x="7020186" y="783860"/>
                  </a:lnTo>
                  <a:lnTo>
                    <a:pt x="7037653" y="745370"/>
                  </a:lnTo>
                  <a:lnTo>
                    <a:pt x="7043928" y="701040"/>
                  </a:lnTo>
                  <a:lnTo>
                    <a:pt x="7043928" y="140208"/>
                  </a:lnTo>
                  <a:lnTo>
                    <a:pt x="7037653" y="95877"/>
                  </a:lnTo>
                  <a:lnTo>
                    <a:pt x="7020186" y="57387"/>
                  </a:lnTo>
                  <a:lnTo>
                    <a:pt x="6993562" y="27041"/>
                  </a:lnTo>
                  <a:lnTo>
                    <a:pt x="6959819" y="7144"/>
                  </a:lnTo>
                  <a:lnTo>
                    <a:pt x="6920992" y="0"/>
                  </a:lnTo>
                  <a:close/>
                </a:path>
              </a:pathLst>
            </a:custGeom>
            <a:solidFill>
              <a:srgbClr val="FFFFFF">
                <a:alpha val="90194"/>
              </a:srgbClr>
            </a:solidFill>
          </p:spPr>
          <p:txBody>
            <a:bodyPr wrap="square" lIns="0" tIns="0" rIns="0" bIns="0" rtlCol="0"/>
            <a:lstStyle/>
            <a:p>
              <a:endParaRPr/>
            </a:p>
          </p:txBody>
        </p:sp>
        <p:sp>
          <p:nvSpPr>
            <p:cNvPr id="8" name="object 8"/>
            <p:cNvSpPr/>
            <p:nvPr/>
          </p:nvSpPr>
          <p:spPr>
            <a:xfrm>
              <a:off x="1823084" y="2616327"/>
              <a:ext cx="7044055" cy="841375"/>
            </a:xfrm>
            <a:custGeom>
              <a:avLst/>
              <a:gdLst/>
              <a:ahLst/>
              <a:cxnLst/>
              <a:rect l="l" t="t" r="r" b="b"/>
              <a:pathLst>
                <a:path w="7044055" h="841375">
                  <a:moveTo>
                    <a:pt x="7043928" y="140208"/>
                  </a:moveTo>
                  <a:lnTo>
                    <a:pt x="7043928" y="701040"/>
                  </a:lnTo>
                  <a:lnTo>
                    <a:pt x="7037653" y="745370"/>
                  </a:lnTo>
                  <a:lnTo>
                    <a:pt x="7020186" y="783860"/>
                  </a:lnTo>
                  <a:lnTo>
                    <a:pt x="6993562" y="814206"/>
                  </a:lnTo>
                  <a:lnTo>
                    <a:pt x="6959819" y="834103"/>
                  </a:lnTo>
                  <a:lnTo>
                    <a:pt x="6920992" y="841248"/>
                  </a:lnTo>
                  <a:lnTo>
                    <a:pt x="0" y="841248"/>
                  </a:lnTo>
                  <a:lnTo>
                    <a:pt x="0" y="0"/>
                  </a:lnTo>
                  <a:lnTo>
                    <a:pt x="6920992" y="0"/>
                  </a:lnTo>
                  <a:lnTo>
                    <a:pt x="6959819" y="7144"/>
                  </a:lnTo>
                  <a:lnTo>
                    <a:pt x="6993562" y="27041"/>
                  </a:lnTo>
                  <a:lnTo>
                    <a:pt x="7020186" y="57387"/>
                  </a:lnTo>
                  <a:lnTo>
                    <a:pt x="7037653" y="95877"/>
                  </a:lnTo>
                  <a:lnTo>
                    <a:pt x="7043928" y="140208"/>
                  </a:lnTo>
                  <a:close/>
                </a:path>
              </a:pathLst>
            </a:custGeom>
            <a:ln w="9906">
              <a:solidFill>
                <a:srgbClr val="9BBA58"/>
              </a:solidFill>
            </a:ln>
          </p:spPr>
          <p:txBody>
            <a:bodyPr wrap="square" lIns="0" tIns="0" rIns="0" bIns="0" rtlCol="0"/>
            <a:lstStyle/>
            <a:p>
              <a:endParaRPr/>
            </a:p>
          </p:txBody>
        </p:sp>
      </p:grpSp>
      <p:sp>
        <p:nvSpPr>
          <p:cNvPr id="9" name="object 9"/>
          <p:cNvSpPr txBox="1"/>
          <p:nvPr/>
        </p:nvSpPr>
        <p:spPr>
          <a:xfrm>
            <a:off x="1945385" y="2778251"/>
            <a:ext cx="6687820" cy="430530"/>
          </a:xfrm>
          <a:prstGeom prst="rect">
            <a:avLst/>
          </a:prstGeom>
        </p:spPr>
        <p:txBody>
          <a:bodyPr vert="horz" wrap="square" lIns="0" tIns="36830" rIns="0" bIns="0" rtlCol="0">
            <a:spAutoFit/>
          </a:bodyPr>
          <a:lstStyle/>
          <a:p>
            <a:pPr marL="12700" marR="5080" indent="38100">
              <a:lnSpc>
                <a:spcPts val="1510"/>
              </a:lnSpc>
              <a:spcBef>
                <a:spcPts val="290"/>
              </a:spcBef>
            </a:pPr>
            <a:r>
              <a:rPr sz="1400" spc="-5" dirty="0">
                <a:solidFill>
                  <a:srgbClr val="251528"/>
                </a:solidFill>
                <a:latin typeface="Times New Roman"/>
                <a:cs typeface="Times New Roman"/>
              </a:rPr>
              <a:t>Is</a:t>
            </a:r>
            <a:r>
              <a:rPr sz="1400" spc="-50"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45" dirty="0">
                <a:solidFill>
                  <a:srgbClr val="251528"/>
                </a:solidFill>
                <a:latin typeface="Times New Roman"/>
                <a:cs typeface="Times New Roman"/>
              </a:rPr>
              <a:t> </a:t>
            </a:r>
            <a:r>
              <a:rPr sz="1400" spc="60" dirty="0">
                <a:solidFill>
                  <a:srgbClr val="251528"/>
                </a:solidFill>
                <a:latin typeface="Times New Roman"/>
                <a:cs typeface="Times New Roman"/>
              </a:rPr>
              <a:t>new</a:t>
            </a:r>
            <a:r>
              <a:rPr sz="1400" spc="-55" dirty="0">
                <a:solidFill>
                  <a:srgbClr val="251528"/>
                </a:solidFill>
                <a:latin typeface="Times New Roman"/>
                <a:cs typeface="Times New Roman"/>
              </a:rPr>
              <a:t> </a:t>
            </a:r>
            <a:r>
              <a:rPr sz="1400" spc="60" dirty="0">
                <a:solidFill>
                  <a:srgbClr val="251528"/>
                </a:solidFill>
                <a:latin typeface="Times New Roman"/>
                <a:cs typeface="Times New Roman"/>
              </a:rPr>
              <a:t>name</a:t>
            </a:r>
            <a:r>
              <a:rPr sz="1400" spc="-40" dirty="0">
                <a:solidFill>
                  <a:srgbClr val="251528"/>
                </a:solidFill>
                <a:latin typeface="Times New Roman"/>
                <a:cs typeface="Times New Roman"/>
              </a:rPr>
              <a:t> </a:t>
            </a:r>
            <a:r>
              <a:rPr sz="1400" spc="40" dirty="0">
                <a:solidFill>
                  <a:srgbClr val="251528"/>
                </a:solidFill>
                <a:latin typeface="Times New Roman"/>
                <a:cs typeface="Times New Roman"/>
              </a:rPr>
              <a:t>for</a:t>
            </a:r>
            <a:r>
              <a:rPr sz="1400" spc="-45"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50" dirty="0">
                <a:solidFill>
                  <a:srgbClr val="251528"/>
                </a:solidFill>
                <a:latin typeface="Times New Roman"/>
                <a:cs typeface="Times New Roman"/>
              </a:rPr>
              <a:t> </a:t>
            </a:r>
            <a:r>
              <a:rPr sz="1400" spc="40" dirty="0">
                <a:solidFill>
                  <a:srgbClr val="251528"/>
                </a:solidFill>
                <a:latin typeface="Times New Roman"/>
                <a:cs typeface="Times New Roman"/>
              </a:rPr>
              <a:t>schema</a:t>
            </a:r>
            <a:r>
              <a:rPr sz="1400" spc="-30" dirty="0">
                <a:solidFill>
                  <a:srgbClr val="251528"/>
                </a:solidFill>
                <a:latin typeface="Times New Roman"/>
                <a:cs typeface="Times New Roman"/>
              </a:rPr>
              <a:t> </a:t>
            </a:r>
            <a:r>
              <a:rPr sz="1400" spc="35" dirty="0">
                <a:solidFill>
                  <a:srgbClr val="251528"/>
                </a:solidFill>
                <a:latin typeface="Times New Roman"/>
                <a:cs typeface="Times New Roman"/>
              </a:rPr>
              <a:t>object.</a:t>
            </a:r>
            <a:r>
              <a:rPr sz="1400" spc="-55" dirty="0">
                <a:solidFill>
                  <a:srgbClr val="251528"/>
                </a:solidFill>
                <a:latin typeface="Times New Roman"/>
                <a:cs typeface="Times New Roman"/>
              </a:rPr>
              <a:t> </a:t>
            </a:r>
            <a:r>
              <a:rPr sz="1400" spc="40" dirty="0">
                <a:solidFill>
                  <a:srgbClr val="251528"/>
                </a:solidFill>
                <a:latin typeface="Times New Roman"/>
                <a:cs typeface="Times New Roman"/>
              </a:rPr>
              <a:t>Here,</a:t>
            </a:r>
            <a:r>
              <a:rPr sz="1400" spc="-40" dirty="0">
                <a:solidFill>
                  <a:srgbClr val="251528"/>
                </a:solidFill>
                <a:latin typeface="Times New Roman"/>
                <a:cs typeface="Times New Roman"/>
              </a:rPr>
              <a:t> </a:t>
            </a:r>
            <a:r>
              <a:rPr sz="1400" spc="55" dirty="0">
                <a:solidFill>
                  <a:srgbClr val="251528"/>
                </a:solidFill>
                <a:latin typeface="Times New Roman"/>
                <a:cs typeface="Times New Roman"/>
              </a:rPr>
              <a:t>HumanResources</a:t>
            </a:r>
            <a:r>
              <a:rPr sz="1400" spc="-20" dirty="0">
                <a:solidFill>
                  <a:srgbClr val="251528"/>
                </a:solidFill>
                <a:latin typeface="Times New Roman"/>
                <a:cs typeface="Times New Roman"/>
              </a:rPr>
              <a:t> </a:t>
            </a:r>
            <a:r>
              <a:rPr sz="1400" spc="5" dirty="0">
                <a:solidFill>
                  <a:srgbClr val="251528"/>
                </a:solidFill>
                <a:latin typeface="Times New Roman"/>
                <a:cs typeface="Times New Roman"/>
              </a:rPr>
              <a:t>is</a:t>
            </a:r>
            <a:r>
              <a:rPr sz="1400" spc="-45" dirty="0">
                <a:solidFill>
                  <a:srgbClr val="251528"/>
                </a:solidFill>
                <a:latin typeface="Times New Roman"/>
                <a:cs typeface="Times New Roman"/>
              </a:rPr>
              <a:t> </a:t>
            </a:r>
            <a:r>
              <a:rPr sz="1400" spc="55" dirty="0">
                <a:solidFill>
                  <a:srgbClr val="251528"/>
                </a:solidFill>
                <a:latin typeface="Times New Roman"/>
                <a:cs typeface="Times New Roman"/>
              </a:rPr>
              <a:t>used</a:t>
            </a:r>
            <a:r>
              <a:rPr sz="1400" spc="-45" dirty="0">
                <a:solidFill>
                  <a:srgbClr val="251528"/>
                </a:solidFill>
                <a:latin typeface="Times New Roman"/>
                <a:cs typeface="Times New Roman"/>
              </a:rPr>
              <a:t> </a:t>
            </a:r>
            <a:r>
              <a:rPr sz="1400" spc="40" dirty="0">
                <a:solidFill>
                  <a:srgbClr val="251528"/>
                </a:solidFill>
                <a:latin typeface="Times New Roman"/>
                <a:cs typeface="Times New Roman"/>
              </a:rPr>
              <a:t>for</a:t>
            </a:r>
            <a:r>
              <a:rPr sz="1400" spc="-45"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50" dirty="0">
                <a:solidFill>
                  <a:srgbClr val="251528"/>
                </a:solidFill>
                <a:latin typeface="Times New Roman"/>
                <a:cs typeface="Times New Roman"/>
              </a:rPr>
              <a:t> </a:t>
            </a:r>
            <a:r>
              <a:rPr sz="1400" spc="50" dirty="0">
                <a:solidFill>
                  <a:srgbClr val="251528"/>
                </a:solidFill>
                <a:latin typeface="Times New Roman"/>
                <a:cs typeface="Times New Roman"/>
              </a:rPr>
              <a:t>synonym  </a:t>
            </a:r>
            <a:r>
              <a:rPr sz="1400" spc="75" dirty="0">
                <a:solidFill>
                  <a:srgbClr val="251528"/>
                </a:solidFill>
                <a:latin typeface="Times New Roman"/>
                <a:cs typeface="Times New Roman"/>
              </a:rPr>
              <a:t>and</a:t>
            </a:r>
            <a:r>
              <a:rPr sz="1400" spc="-60"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55" dirty="0">
                <a:solidFill>
                  <a:srgbClr val="251528"/>
                </a:solidFill>
                <a:latin typeface="Times New Roman"/>
                <a:cs typeface="Times New Roman"/>
              </a:rPr>
              <a:t> </a:t>
            </a:r>
            <a:r>
              <a:rPr sz="1400" spc="40" dirty="0">
                <a:solidFill>
                  <a:srgbClr val="251528"/>
                </a:solidFill>
                <a:latin typeface="Times New Roman"/>
                <a:cs typeface="Times New Roman"/>
              </a:rPr>
              <a:t>object</a:t>
            </a:r>
            <a:r>
              <a:rPr sz="1400" spc="-55" dirty="0">
                <a:solidFill>
                  <a:srgbClr val="251528"/>
                </a:solidFill>
                <a:latin typeface="Times New Roman"/>
                <a:cs typeface="Times New Roman"/>
              </a:rPr>
              <a:t> </a:t>
            </a:r>
            <a:r>
              <a:rPr sz="1400" spc="35" dirty="0">
                <a:solidFill>
                  <a:srgbClr val="251528"/>
                </a:solidFill>
                <a:latin typeface="Times New Roman"/>
                <a:cs typeface="Times New Roman"/>
              </a:rPr>
              <a:t>type.</a:t>
            </a:r>
            <a:endParaRPr sz="1400">
              <a:latin typeface="Times New Roman"/>
              <a:cs typeface="Times New Roman"/>
            </a:endParaRPr>
          </a:p>
        </p:txBody>
      </p:sp>
      <p:grpSp>
        <p:nvGrpSpPr>
          <p:cNvPr id="10" name="object 10"/>
          <p:cNvGrpSpPr/>
          <p:nvPr/>
        </p:nvGrpSpPr>
        <p:grpSpPr>
          <a:xfrm>
            <a:off x="1818004" y="3772534"/>
            <a:ext cx="7054215" cy="851535"/>
            <a:chOff x="1818004" y="3772534"/>
            <a:chExt cx="7054215" cy="851535"/>
          </a:xfrm>
        </p:grpSpPr>
        <p:sp>
          <p:nvSpPr>
            <p:cNvPr id="11" name="object 11"/>
            <p:cNvSpPr/>
            <p:nvPr/>
          </p:nvSpPr>
          <p:spPr>
            <a:xfrm>
              <a:off x="1823084" y="3777614"/>
              <a:ext cx="7044055" cy="841375"/>
            </a:xfrm>
            <a:custGeom>
              <a:avLst/>
              <a:gdLst/>
              <a:ahLst/>
              <a:cxnLst/>
              <a:rect l="l" t="t" r="r" b="b"/>
              <a:pathLst>
                <a:path w="7044055" h="841375">
                  <a:moveTo>
                    <a:pt x="6920992" y="0"/>
                  </a:moveTo>
                  <a:lnTo>
                    <a:pt x="0" y="0"/>
                  </a:lnTo>
                  <a:lnTo>
                    <a:pt x="0" y="841248"/>
                  </a:lnTo>
                  <a:lnTo>
                    <a:pt x="6920992" y="841248"/>
                  </a:lnTo>
                  <a:lnTo>
                    <a:pt x="6959819" y="834103"/>
                  </a:lnTo>
                  <a:lnTo>
                    <a:pt x="6993562" y="814206"/>
                  </a:lnTo>
                  <a:lnTo>
                    <a:pt x="7020186" y="783860"/>
                  </a:lnTo>
                  <a:lnTo>
                    <a:pt x="7037653" y="745370"/>
                  </a:lnTo>
                  <a:lnTo>
                    <a:pt x="7043928" y="701040"/>
                  </a:lnTo>
                  <a:lnTo>
                    <a:pt x="7043928" y="140208"/>
                  </a:lnTo>
                  <a:lnTo>
                    <a:pt x="7037653" y="95877"/>
                  </a:lnTo>
                  <a:lnTo>
                    <a:pt x="7020186" y="57387"/>
                  </a:lnTo>
                  <a:lnTo>
                    <a:pt x="6993562" y="27041"/>
                  </a:lnTo>
                  <a:lnTo>
                    <a:pt x="6959819" y="7144"/>
                  </a:lnTo>
                  <a:lnTo>
                    <a:pt x="6920992" y="0"/>
                  </a:lnTo>
                  <a:close/>
                </a:path>
              </a:pathLst>
            </a:custGeom>
            <a:solidFill>
              <a:srgbClr val="FFFFFF">
                <a:alpha val="90194"/>
              </a:srgbClr>
            </a:solidFill>
          </p:spPr>
          <p:txBody>
            <a:bodyPr wrap="square" lIns="0" tIns="0" rIns="0" bIns="0" rtlCol="0"/>
            <a:lstStyle/>
            <a:p>
              <a:endParaRPr/>
            </a:p>
          </p:txBody>
        </p:sp>
        <p:sp>
          <p:nvSpPr>
            <p:cNvPr id="12" name="object 12"/>
            <p:cNvSpPr/>
            <p:nvPr/>
          </p:nvSpPr>
          <p:spPr>
            <a:xfrm>
              <a:off x="1823084" y="3777614"/>
              <a:ext cx="7044055" cy="841375"/>
            </a:xfrm>
            <a:custGeom>
              <a:avLst/>
              <a:gdLst/>
              <a:ahLst/>
              <a:cxnLst/>
              <a:rect l="l" t="t" r="r" b="b"/>
              <a:pathLst>
                <a:path w="7044055" h="841375">
                  <a:moveTo>
                    <a:pt x="7043928" y="140207"/>
                  </a:moveTo>
                  <a:lnTo>
                    <a:pt x="7043928" y="701039"/>
                  </a:lnTo>
                  <a:lnTo>
                    <a:pt x="7037653" y="745370"/>
                  </a:lnTo>
                  <a:lnTo>
                    <a:pt x="7020186" y="783860"/>
                  </a:lnTo>
                  <a:lnTo>
                    <a:pt x="6993562" y="814206"/>
                  </a:lnTo>
                  <a:lnTo>
                    <a:pt x="6959819" y="834103"/>
                  </a:lnTo>
                  <a:lnTo>
                    <a:pt x="6920992" y="841247"/>
                  </a:lnTo>
                  <a:lnTo>
                    <a:pt x="0" y="841247"/>
                  </a:lnTo>
                  <a:lnTo>
                    <a:pt x="0" y="0"/>
                  </a:lnTo>
                  <a:lnTo>
                    <a:pt x="6920992" y="0"/>
                  </a:lnTo>
                  <a:lnTo>
                    <a:pt x="6959819" y="7144"/>
                  </a:lnTo>
                  <a:lnTo>
                    <a:pt x="6993562" y="27041"/>
                  </a:lnTo>
                  <a:lnTo>
                    <a:pt x="7020186" y="57387"/>
                  </a:lnTo>
                  <a:lnTo>
                    <a:pt x="7037653" y="95877"/>
                  </a:lnTo>
                  <a:lnTo>
                    <a:pt x="7043928" y="140207"/>
                  </a:lnTo>
                  <a:close/>
                </a:path>
              </a:pathLst>
            </a:custGeom>
            <a:ln w="9906">
              <a:solidFill>
                <a:srgbClr val="F39C12"/>
              </a:solidFill>
            </a:ln>
          </p:spPr>
          <p:txBody>
            <a:bodyPr wrap="square" lIns="0" tIns="0" rIns="0" bIns="0" rtlCol="0"/>
            <a:lstStyle/>
            <a:p>
              <a:endParaRPr/>
            </a:p>
          </p:txBody>
        </p:sp>
      </p:grpSp>
      <p:sp>
        <p:nvSpPr>
          <p:cNvPr id="13" name="object 13"/>
          <p:cNvSpPr txBox="1"/>
          <p:nvPr/>
        </p:nvSpPr>
        <p:spPr>
          <a:xfrm>
            <a:off x="1945385" y="4035805"/>
            <a:ext cx="6423660" cy="238760"/>
          </a:xfrm>
          <a:prstGeom prst="rect">
            <a:avLst/>
          </a:prstGeom>
        </p:spPr>
        <p:txBody>
          <a:bodyPr vert="horz" wrap="square" lIns="0" tIns="12065" rIns="0" bIns="0" rtlCol="0">
            <a:spAutoFit/>
          </a:bodyPr>
          <a:lstStyle/>
          <a:p>
            <a:pPr marL="12700">
              <a:lnSpc>
                <a:spcPct val="100000"/>
              </a:lnSpc>
              <a:spcBef>
                <a:spcPts val="95"/>
              </a:spcBef>
            </a:pPr>
            <a:r>
              <a:rPr sz="1400" spc="55" dirty="0">
                <a:solidFill>
                  <a:srgbClr val="251528"/>
                </a:solidFill>
                <a:latin typeface="Times New Roman"/>
                <a:cs typeface="Times New Roman"/>
              </a:rPr>
              <a:t>Name</a:t>
            </a:r>
            <a:r>
              <a:rPr sz="1400" spc="-50" dirty="0">
                <a:solidFill>
                  <a:srgbClr val="251528"/>
                </a:solidFill>
                <a:latin typeface="Times New Roman"/>
                <a:cs typeface="Times New Roman"/>
              </a:rPr>
              <a:t> </a:t>
            </a:r>
            <a:r>
              <a:rPr sz="1400" spc="40" dirty="0">
                <a:solidFill>
                  <a:srgbClr val="251528"/>
                </a:solidFill>
                <a:latin typeface="Times New Roman"/>
                <a:cs typeface="Times New Roman"/>
              </a:rPr>
              <a:t>of</a:t>
            </a:r>
            <a:r>
              <a:rPr sz="1400" spc="-55"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50" dirty="0">
                <a:solidFill>
                  <a:srgbClr val="251528"/>
                </a:solidFill>
                <a:latin typeface="Times New Roman"/>
                <a:cs typeface="Times New Roman"/>
              </a:rPr>
              <a:t> </a:t>
            </a:r>
            <a:r>
              <a:rPr sz="1400" spc="35" dirty="0">
                <a:solidFill>
                  <a:srgbClr val="251528"/>
                </a:solidFill>
                <a:latin typeface="Times New Roman"/>
                <a:cs typeface="Times New Roman"/>
              </a:rPr>
              <a:t>server</a:t>
            </a:r>
            <a:r>
              <a:rPr sz="1400" spc="-55" dirty="0">
                <a:solidFill>
                  <a:srgbClr val="251528"/>
                </a:solidFill>
                <a:latin typeface="Times New Roman"/>
                <a:cs typeface="Times New Roman"/>
              </a:rPr>
              <a:t> </a:t>
            </a:r>
            <a:r>
              <a:rPr sz="1400" spc="75" dirty="0">
                <a:solidFill>
                  <a:srgbClr val="251528"/>
                </a:solidFill>
                <a:latin typeface="Times New Roman"/>
                <a:cs typeface="Times New Roman"/>
              </a:rPr>
              <a:t>to</a:t>
            </a:r>
            <a:r>
              <a:rPr sz="1400" spc="-55" dirty="0">
                <a:solidFill>
                  <a:srgbClr val="251528"/>
                </a:solidFill>
                <a:latin typeface="Times New Roman"/>
                <a:cs typeface="Times New Roman"/>
              </a:rPr>
              <a:t> </a:t>
            </a:r>
            <a:r>
              <a:rPr sz="1400" spc="45" dirty="0">
                <a:solidFill>
                  <a:srgbClr val="251528"/>
                </a:solidFill>
                <a:latin typeface="Times New Roman"/>
                <a:cs typeface="Times New Roman"/>
              </a:rPr>
              <a:t>be</a:t>
            </a:r>
            <a:r>
              <a:rPr sz="1400" spc="-60" dirty="0">
                <a:solidFill>
                  <a:srgbClr val="251528"/>
                </a:solidFill>
                <a:latin typeface="Times New Roman"/>
                <a:cs typeface="Times New Roman"/>
              </a:rPr>
              <a:t> </a:t>
            </a:r>
            <a:r>
              <a:rPr sz="1400" spc="55" dirty="0">
                <a:solidFill>
                  <a:srgbClr val="251528"/>
                </a:solidFill>
                <a:latin typeface="Times New Roman"/>
                <a:cs typeface="Times New Roman"/>
              </a:rPr>
              <a:t>connected.</a:t>
            </a:r>
            <a:r>
              <a:rPr sz="1400" spc="-65" dirty="0">
                <a:solidFill>
                  <a:srgbClr val="251528"/>
                </a:solidFill>
                <a:latin typeface="Times New Roman"/>
                <a:cs typeface="Times New Roman"/>
              </a:rPr>
              <a:t> </a:t>
            </a:r>
            <a:r>
              <a:rPr sz="1400" spc="40" dirty="0">
                <a:solidFill>
                  <a:srgbClr val="251528"/>
                </a:solidFill>
                <a:latin typeface="Times New Roman"/>
                <a:cs typeface="Times New Roman"/>
              </a:rPr>
              <a:t>Here,</a:t>
            </a:r>
            <a:r>
              <a:rPr sz="1400" spc="-50"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50" dirty="0">
                <a:solidFill>
                  <a:srgbClr val="251528"/>
                </a:solidFill>
                <a:latin typeface="Times New Roman"/>
                <a:cs typeface="Times New Roman"/>
              </a:rPr>
              <a:t> </a:t>
            </a:r>
            <a:r>
              <a:rPr sz="1400" spc="35" dirty="0">
                <a:solidFill>
                  <a:srgbClr val="251528"/>
                </a:solidFill>
                <a:latin typeface="Times New Roman"/>
                <a:cs typeface="Times New Roman"/>
              </a:rPr>
              <a:t>server</a:t>
            </a:r>
            <a:r>
              <a:rPr sz="1400" spc="-55" dirty="0">
                <a:solidFill>
                  <a:srgbClr val="251528"/>
                </a:solidFill>
                <a:latin typeface="Times New Roman"/>
                <a:cs typeface="Times New Roman"/>
              </a:rPr>
              <a:t> </a:t>
            </a:r>
            <a:r>
              <a:rPr sz="1400" spc="60" dirty="0">
                <a:solidFill>
                  <a:srgbClr val="251528"/>
                </a:solidFill>
                <a:latin typeface="Times New Roman"/>
                <a:cs typeface="Times New Roman"/>
              </a:rPr>
              <a:t>name</a:t>
            </a:r>
            <a:r>
              <a:rPr sz="1400" spc="-45" dirty="0">
                <a:solidFill>
                  <a:srgbClr val="251528"/>
                </a:solidFill>
                <a:latin typeface="Times New Roman"/>
                <a:cs typeface="Times New Roman"/>
              </a:rPr>
              <a:t> </a:t>
            </a:r>
            <a:r>
              <a:rPr sz="1400" spc="5" dirty="0">
                <a:solidFill>
                  <a:srgbClr val="251528"/>
                </a:solidFill>
                <a:latin typeface="Times New Roman"/>
                <a:cs typeface="Times New Roman"/>
              </a:rPr>
              <a:t>is</a:t>
            </a:r>
            <a:r>
              <a:rPr sz="1400" spc="-45" dirty="0">
                <a:solidFill>
                  <a:srgbClr val="251528"/>
                </a:solidFill>
                <a:latin typeface="Times New Roman"/>
                <a:cs typeface="Times New Roman"/>
              </a:rPr>
              <a:t> </a:t>
            </a:r>
            <a:r>
              <a:rPr sz="1400" spc="30" dirty="0">
                <a:solidFill>
                  <a:srgbClr val="251528"/>
                </a:solidFill>
                <a:latin typeface="Times New Roman"/>
                <a:cs typeface="Times New Roman"/>
              </a:rPr>
              <a:t>specified</a:t>
            </a:r>
            <a:r>
              <a:rPr sz="1400" spc="-45" dirty="0">
                <a:solidFill>
                  <a:srgbClr val="251528"/>
                </a:solidFill>
                <a:latin typeface="Times New Roman"/>
                <a:cs typeface="Times New Roman"/>
              </a:rPr>
              <a:t> </a:t>
            </a:r>
            <a:r>
              <a:rPr sz="1400" spc="10" dirty="0">
                <a:solidFill>
                  <a:srgbClr val="251528"/>
                </a:solidFill>
                <a:latin typeface="Times New Roman"/>
                <a:cs typeface="Times New Roman"/>
              </a:rPr>
              <a:t>as</a:t>
            </a:r>
            <a:r>
              <a:rPr sz="1400" spc="-50" dirty="0">
                <a:solidFill>
                  <a:srgbClr val="251528"/>
                </a:solidFill>
                <a:latin typeface="Times New Roman"/>
                <a:cs typeface="Times New Roman"/>
              </a:rPr>
              <a:t> </a:t>
            </a:r>
            <a:r>
              <a:rPr sz="1400" spc="-65" dirty="0">
                <a:solidFill>
                  <a:srgbClr val="251528"/>
                </a:solidFill>
                <a:latin typeface="Times New Roman"/>
                <a:cs typeface="Times New Roman"/>
              </a:rPr>
              <a:t>10.2.110.140.</a:t>
            </a:r>
            <a:endParaRPr sz="1400">
              <a:latin typeface="Times New Roman"/>
              <a:cs typeface="Times New Roman"/>
            </a:endParaRPr>
          </a:p>
        </p:txBody>
      </p:sp>
      <p:grpSp>
        <p:nvGrpSpPr>
          <p:cNvPr id="14" name="object 14"/>
          <p:cNvGrpSpPr/>
          <p:nvPr/>
        </p:nvGrpSpPr>
        <p:grpSpPr>
          <a:xfrm>
            <a:off x="1771523" y="5371210"/>
            <a:ext cx="7054850" cy="850900"/>
            <a:chOff x="1771523" y="5371210"/>
            <a:chExt cx="7054850" cy="850900"/>
          </a:xfrm>
        </p:grpSpPr>
        <p:sp>
          <p:nvSpPr>
            <p:cNvPr id="15" name="object 15"/>
            <p:cNvSpPr/>
            <p:nvPr/>
          </p:nvSpPr>
          <p:spPr>
            <a:xfrm>
              <a:off x="1776603" y="5376290"/>
              <a:ext cx="7044690" cy="840740"/>
            </a:xfrm>
            <a:custGeom>
              <a:avLst/>
              <a:gdLst/>
              <a:ahLst/>
              <a:cxnLst/>
              <a:rect l="l" t="t" r="r" b="b"/>
              <a:pathLst>
                <a:path w="7044690" h="840739">
                  <a:moveTo>
                    <a:pt x="6921754" y="0"/>
                  </a:moveTo>
                  <a:lnTo>
                    <a:pt x="0" y="0"/>
                  </a:lnTo>
                  <a:lnTo>
                    <a:pt x="0" y="840486"/>
                  </a:lnTo>
                  <a:lnTo>
                    <a:pt x="6921754" y="840486"/>
                  </a:lnTo>
                  <a:lnTo>
                    <a:pt x="6960581" y="833344"/>
                  </a:lnTo>
                  <a:lnTo>
                    <a:pt x="6994324" y="813459"/>
                  </a:lnTo>
                  <a:lnTo>
                    <a:pt x="7020948" y="783136"/>
                  </a:lnTo>
                  <a:lnTo>
                    <a:pt x="7038415" y="744682"/>
                  </a:lnTo>
                  <a:lnTo>
                    <a:pt x="7044690" y="700405"/>
                  </a:lnTo>
                  <a:lnTo>
                    <a:pt x="7044690" y="140081"/>
                  </a:lnTo>
                  <a:lnTo>
                    <a:pt x="7038415" y="95812"/>
                  </a:lnTo>
                  <a:lnTo>
                    <a:pt x="7020948" y="57360"/>
                  </a:lnTo>
                  <a:lnTo>
                    <a:pt x="6994324" y="27033"/>
                  </a:lnTo>
                  <a:lnTo>
                    <a:pt x="6960581" y="7143"/>
                  </a:lnTo>
                  <a:lnTo>
                    <a:pt x="6921754" y="0"/>
                  </a:lnTo>
                  <a:close/>
                </a:path>
              </a:pathLst>
            </a:custGeom>
            <a:solidFill>
              <a:srgbClr val="FFFFFF">
                <a:alpha val="90194"/>
              </a:srgbClr>
            </a:solidFill>
          </p:spPr>
          <p:txBody>
            <a:bodyPr wrap="square" lIns="0" tIns="0" rIns="0" bIns="0" rtlCol="0"/>
            <a:lstStyle/>
            <a:p>
              <a:endParaRPr/>
            </a:p>
          </p:txBody>
        </p:sp>
        <p:sp>
          <p:nvSpPr>
            <p:cNvPr id="16" name="object 16"/>
            <p:cNvSpPr/>
            <p:nvPr/>
          </p:nvSpPr>
          <p:spPr>
            <a:xfrm>
              <a:off x="1776603" y="5376290"/>
              <a:ext cx="7044690" cy="840740"/>
            </a:xfrm>
            <a:custGeom>
              <a:avLst/>
              <a:gdLst/>
              <a:ahLst/>
              <a:cxnLst/>
              <a:rect l="l" t="t" r="r" b="b"/>
              <a:pathLst>
                <a:path w="7044690" h="840739">
                  <a:moveTo>
                    <a:pt x="7044690" y="140081"/>
                  </a:moveTo>
                  <a:lnTo>
                    <a:pt x="7044690" y="700405"/>
                  </a:lnTo>
                  <a:lnTo>
                    <a:pt x="7038415" y="744682"/>
                  </a:lnTo>
                  <a:lnTo>
                    <a:pt x="7020948" y="783136"/>
                  </a:lnTo>
                  <a:lnTo>
                    <a:pt x="6994324" y="813459"/>
                  </a:lnTo>
                  <a:lnTo>
                    <a:pt x="6960581" y="833344"/>
                  </a:lnTo>
                  <a:lnTo>
                    <a:pt x="6921754" y="840486"/>
                  </a:lnTo>
                  <a:lnTo>
                    <a:pt x="0" y="840486"/>
                  </a:lnTo>
                  <a:lnTo>
                    <a:pt x="0" y="0"/>
                  </a:lnTo>
                  <a:lnTo>
                    <a:pt x="6921754" y="0"/>
                  </a:lnTo>
                  <a:lnTo>
                    <a:pt x="6960581" y="7143"/>
                  </a:lnTo>
                  <a:lnTo>
                    <a:pt x="6994324" y="27033"/>
                  </a:lnTo>
                  <a:lnTo>
                    <a:pt x="7020948" y="57360"/>
                  </a:lnTo>
                  <a:lnTo>
                    <a:pt x="7038415" y="95812"/>
                  </a:lnTo>
                  <a:lnTo>
                    <a:pt x="7044690" y="140081"/>
                  </a:lnTo>
                  <a:close/>
                </a:path>
              </a:pathLst>
            </a:custGeom>
            <a:ln w="9906">
              <a:solidFill>
                <a:srgbClr val="C0392B"/>
              </a:solidFill>
            </a:ln>
          </p:spPr>
          <p:txBody>
            <a:bodyPr wrap="square" lIns="0" tIns="0" rIns="0" bIns="0" rtlCol="0"/>
            <a:lstStyle/>
            <a:p>
              <a:endParaRPr/>
            </a:p>
          </p:txBody>
        </p:sp>
      </p:grpSp>
      <p:sp>
        <p:nvSpPr>
          <p:cNvPr id="17" name="object 17"/>
          <p:cNvSpPr txBox="1"/>
          <p:nvPr/>
        </p:nvSpPr>
        <p:spPr>
          <a:xfrm>
            <a:off x="1937257" y="5634228"/>
            <a:ext cx="5935726" cy="227626"/>
          </a:xfrm>
          <a:prstGeom prst="rect">
            <a:avLst/>
          </a:prstGeom>
        </p:spPr>
        <p:txBody>
          <a:bodyPr vert="horz" wrap="square" lIns="0" tIns="12065" rIns="0" bIns="0" rtlCol="0">
            <a:spAutoFit/>
          </a:bodyPr>
          <a:lstStyle/>
          <a:p>
            <a:pPr marL="12700">
              <a:lnSpc>
                <a:spcPct val="100000"/>
              </a:lnSpc>
              <a:spcBef>
                <a:spcPts val="95"/>
              </a:spcBef>
            </a:pPr>
            <a:r>
              <a:rPr sz="1400" spc="80" dirty="0">
                <a:solidFill>
                  <a:srgbClr val="251528"/>
                </a:solidFill>
                <a:latin typeface="Times New Roman"/>
                <a:cs typeface="Times New Roman"/>
              </a:rPr>
              <a:t>Connects</a:t>
            </a:r>
            <a:r>
              <a:rPr sz="1400" spc="-65"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50" dirty="0">
                <a:solidFill>
                  <a:srgbClr val="251528"/>
                </a:solidFill>
                <a:latin typeface="Times New Roman"/>
                <a:cs typeface="Times New Roman"/>
              </a:rPr>
              <a:t> </a:t>
            </a:r>
            <a:r>
              <a:rPr sz="1400" spc="35" dirty="0">
                <a:solidFill>
                  <a:srgbClr val="251528"/>
                </a:solidFill>
                <a:latin typeface="Times New Roman"/>
                <a:cs typeface="Times New Roman"/>
              </a:rPr>
              <a:t>object.</a:t>
            </a:r>
            <a:r>
              <a:rPr sz="1400" spc="-55" dirty="0">
                <a:solidFill>
                  <a:srgbClr val="251528"/>
                </a:solidFill>
                <a:latin typeface="Times New Roman"/>
                <a:cs typeface="Times New Roman"/>
              </a:rPr>
              <a:t> </a:t>
            </a:r>
            <a:r>
              <a:rPr sz="1400" spc="40" dirty="0">
                <a:solidFill>
                  <a:srgbClr val="251528"/>
                </a:solidFill>
                <a:latin typeface="Times New Roman"/>
                <a:cs typeface="Times New Roman"/>
              </a:rPr>
              <a:t>Here,</a:t>
            </a:r>
            <a:r>
              <a:rPr sz="1400" spc="-45" dirty="0">
                <a:solidFill>
                  <a:srgbClr val="251528"/>
                </a:solidFill>
                <a:latin typeface="Times New Roman"/>
                <a:cs typeface="Times New Roman"/>
              </a:rPr>
              <a:t> </a:t>
            </a:r>
            <a:r>
              <a:rPr sz="1400" spc="45" dirty="0">
                <a:solidFill>
                  <a:srgbClr val="251528"/>
                </a:solidFill>
                <a:latin typeface="Times New Roman"/>
                <a:cs typeface="Times New Roman"/>
              </a:rPr>
              <a:t>AdventureWorks2019</a:t>
            </a:r>
            <a:r>
              <a:rPr sz="1400" spc="-70" dirty="0">
                <a:solidFill>
                  <a:srgbClr val="251528"/>
                </a:solidFill>
                <a:latin typeface="Times New Roman"/>
                <a:cs typeface="Times New Roman"/>
              </a:rPr>
              <a:t> </a:t>
            </a:r>
            <a:r>
              <a:rPr sz="1400" spc="5" dirty="0">
                <a:solidFill>
                  <a:srgbClr val="251528"/>
                </a:solidFill>
                <a:latin typeface="Times New Roman"/>
                <a:cs typeface="Times New Roman"/>
              </a:rPr>
              <a:t>is</a:t>
            </a:r>
            <a:r>
              <a:rPr sz="1400" spc="-45" dirty="0">
                <a:solidFill>
                  <a:srgbClr val="251528"/>
                </a:solidFill>
                <a:latin typeface="Times New Roman"/>
                <a:cs typeface="Times New Roman"/>
              </a:rPr>
              <a:t> </a:t>
            </a:r>
            <a:r>
              <a:rPr sz="1400" spc="80" dirty="0">
                <a:solidFill>
                  <a:srgbClr val="251528"/>
                </a:solidFill>
                <a:latin typeface="Times New Roman"/>
                <a:cs typeface="Times New Roman"/>
              </a:rPr>
              <a:t>the</a:t>
            </a:r>
            <a:r>
              <a:rPr sz="1400" spc="-55" dirty="0">
                <a:solidFill>
                  <a:srgbClr val="251528"/>
                </a:solidFill>
                <a:latin typeface="Times New Roman"/>
                <a:cs typeface="Times New Roman"/>
              </a:rPr>
              <a:t> </a:t>
            </a:r>
            <a:r>
              <a:rPr sz="1400" spc="40" dirty="0">
                <a:solidFill>
                  <a:srgbClr val="251528"/>
                </a:solidFill>
                <a:latin typeface="Times New Roman"/>
                <a:cs typeface="Times New Roman"/>
              </a:rPr>
              <a:t>database</a:t>
            </a:r>
            <a:r>
              <a:rPr sz="1400" spc="-45" dirty="0">
                <a:solidFill>
                  <a:srgbClr val="251528"/>
                </a:solidFill>
                <a:latin typeface="Times New Roman"/>
                <a:cs typeface="Times New Roman"/>
              </a:rPr>
              <a:t> </a:t>
            </a:r>
            <a:r>
              <a:rPr sz="1400" spc="45" dirty="0">
                <a:solidFill>
                  <a:srgbClr val="251528"/>
                </a:solidFill>
                <a:latin typeface="Times New Roman"/>
                <a:cs typeface="Times New Roman"/>
              </a:rPr>
              <a:t>name.</a:t>
            </a:r>
            <a:endParaRPr sz="1400">
              <a:latin typeface="Times New Roman"/>
              <a:cs typeface="Times New Roman"/>
            </a:endParaRPr>
          </a:p>
        </p:txBody>
      </p:sp>
      <p:grpSp>
        <p:nvGrpSpPr>
          <p:cNvPr id="18" name="object 18"/>
          <p:cNvGrpSpPr/>
          <p:nvPr/>
        </p:nvGrpSpPr>
        <p:grpSpPr>
          <a:xfrm>
            <a:off x="348234" y="5041391"/>
            <a:ext cx="1612900" cy="1379220"/>
            <a:chOff x="348234" y="5041391"/>
            <a:chExt cx="1612900" cy="1379220"/>
          </a:xfrm>
        </p:grpSpPr>
        <p:pic>
          <p:nvPicPr>
            <p:cNvPr id="19" name="object 19"/>
            <p:cNvPicPr/>
            <p:nvPr/>
          </p:nvPicPr>
          <p:blipFill>
            <a:blip r:embed="rId3" cstate="print"/>
            <a:stretch>
              <a:fillRect/>
            </a:stretch>
          </p:blipFill>
          <p:spPr>
            <a:xfrm>
              <a:off x="348234" y="5041391"/>
              <a:ext cx="1612392" cy="1379220"/>
            </a:xfrm>
            <a:prstGeom prst="rect">
              <a:avLst/>
            </a:prstGeom>
          </p:spPr>
        </p:pic>
        <p:pic>
          <p:nvPicPr>
            <p:cNvPr id="20" name="object 20"/>
            <p:cNvPicPr/>
            <p:nvPr/>
          </p:nvPicPr>
          <p:blipFill>
            <a:blip r:embed="rId4" cstate="print"/>
            <a:stretch>
              <a:fillRect/>
            </a:stretch>
          </p:blipFill>
          <p:spPr>
            <a:xfrm>
              <a:off x="530352" y="5352287"/>
              <a:ext cx="1294638" cy="802386"/>
            </a:xfrm>
            <a:prstGeom prst="rect">
              <a:avLst/>
            </a:prstGeom>
          </p:spPr>
        </p:pic>
        <p:pic>
          <p:nvPicPr>
            <p:cNvPr id="21" name="object 21"/>
            <p:cNvPicPr/>
            <p:nvPr/>
          </p:nvPicPr>
          <p:blipFill>
            <a:blip r:embed="rId5" cstate="print"/>
            <a:stretch>
              <a:fillRect/>
            </a:stretch>
          </p:blipFill>
          <p:spPr>
            <a:xfrm>
              <a:off x="394335" y="5064632"/>
              <a:ext cx="1527048" cy="1293875"/>
            </a:xfrm>
            <a:prstGeom prst="rect">
              <a:avLst/>
            </a:prstGeom>
          </p:spPr>
        </p:pic>
        <p:sp>
          <p:nvSpPr>
            <p:cNvPr id="22" name="object 22"/>
            <p:cNvSpPr/>
            <p:nvPr/>
          </p:nvSpPr>
          <p:spPr>
            <a:xfrm>
              <a:off x="394335" y="5064632"/>
              <a:ext cx="1527175" cy="1294130"/>
            </a:xfrm>
            <a:custGeom>
              <a:avLst/>
              <a:gdLst/>
              <a:ahLst/>
              <a:cxnLst/>
              <a:rect l="l" t="t" r="r" b="b"/>
              <a:pathLst>
                <a:path w="1527175" h="1294129">
                  <a:moveTo>
                    <a:pt x="0" y="646937"/>
                  </a:moveTo>
                  <a:lnTo>
                    <a:pt x="1761" y="602649"/>
                  </a:lnTo>
                  <a:lnTo>
                    <a:pt x="6970" y="559161"/>
                  </a:lnTo>
                  <a:lnTo>
                    <a:pt x="15512" y="516569"/>
                  </a:lnTo>
                  <a:lnTo>
                    <a:pt x="27274" y="474971"/>
                  </a:lnTo>
                  <a:lnTo>
                    <a:pt x="42141" y="434462"/>
                  </a:lnTo>
                  <a:lnTo>
                    <a:pt x="60002" y="395138"/>
                  </a:lnTo>
                  <a:lnTo>
                    <a:pt x="80740" y="357097"/>
                  </a:lnTo>
                  <a:lnTo>
                    <a:pt x="104244" y="320435"/>
                  </a:lnTo>
                  <a:lnTo>
                    <a:pt x="130399" y="285247"/>
                  </a:lnTo>
                  <a:lnTo>
                    <a:pt x="159091" y="251631"/>
                  </a:lnTo>
                  <a:lnTo>
                    <a:pt x="190206" y="219683"/>
                  </a:lnTo>
                  <a:lnTo>
                    <a:pt x="223632" y="189499"/>
                  </a:lnTo>
                  <a:lnTo>
                    <a:pt x="259254" y="161176"/>
                  </a:lnTo>
                  <a:lnTo>
                    <a:pt x="296959" y="134810"/>
                  </a:lnTo>
                  <a:lnTo>
                    <a:pt x="336632" y="110498"/>
                  </a:lnTo>
                  <a:lnTo>
                    <a:pt x="378160" y="88335"/>
                  </a:lnTo>
                  <a:lnTo>
                    <a:pt x="421430" y="68419"/>
                  </a:lnTo>
                  <a:lnTo>
                    <a:pt x="466327" y="50845"/>
                  </a:lnTo>
                  <a:lnTo>
                    <a:pt x="512739" y="35711"/>
                  </a:lnTo>
                  <a:lnTo>
                    <a:pt x="560550" y="23112"/>
                  </a:lnTo>
                  <a:lnTo>
                    <a:pt x="609648" y="13145"/>
                  </a:lnTo>
                  <a:lnTo>
                    <a:pt x="659919" y="5906"/>
                  </a:lnTo>
                  <a:lnTo>
                    <a:pt x="711248" y="1492"/>
                  </a:lnTo>
                  <a:lnTo>
                    <a:pt x="763524" y="0"/>
                  </a:lnTo>
                  <a:lnTo>
                    <a:pt x="815794" y="1492"/>
                  </a:lnTo>
                  <a:lnTo>
                    <a:pt x="867120" y="5906"/>
                  </a:lnTo>
                  <a:lnTo>
                    <a:pt x="917388" y="13145"/>
                  </a:lnTo>
                  <a:lnTo>
                    <a:pt x="966484" y="23112"/>
                  </a:lnTo>
                  <a:lnTo>
                    <a:pt x="1014293" y="35711"/>
                  </a:lnTo>
                  <a:lnTo>
                    <a:pt x="1060704" y="50845"/>
                  </a:lnTo>
                  <a:lnTo>
                    <a:pt x="1105600" y="68419"/>
                  </a:lnTo>
                  <a:lnTo>
                    <a:pt x="1148870" y="88335"/>
                  </a:lnTo>
                  <a:lnTo>
                    <a:pt x="1190398" y="110498"/>
                  </a:lnTo>
                  <a:lnTo>
                    <a:pt x="1230072" y="134810"/>
                  </a:lnTo>
                  <a:lnTo>
                    <a:pt x="1267777" y="161176"/>
                  </a:lnTo>
                  <a:lnTo>
                    <a:pt x="1303401" y="189499"/>
                  </a:lnTo>
                  <a:lnTo>
                    <a:pt x="1336828" y="219683"/>
                  </a:lnTo>
                  <a:lnTo>
                    <a:pt x="1367945" y="251631"/>
                  </a:lnTo>
                  <a:lnTo>
                    <a:pt x="1396638" y="285247"/>
                  </a:lnTo>
                  <a:lnTo>
                    <a:pt x="1422795" y="320435"/>
                  </a:lnTo>
                  <a:lnTo>
                    <a:pt x="1446300" y="357097"/>
                  </a:lnTo>
                  <a:lnTo>
                    <a:pt x="1467040" y="395138"/>
                  </a:lnTo>
                  <a:lnTo>
                    <a:pt x="1484902" y="434462"/>
                  </a:lnTo>
                  <a:lnTo>
                    <a:pt x="1499771" y="474971"/>
                  </a:lnTo>
                  <a:lnTo>
                    <a:pt x="1511534" y="516569"/>
                  </a:lnTo>
                  <a:lnTo>
                    <a:pt x="1520077" y="559161"/>
                  </a:lnTo>
                  <a:lnTo>
                    <a:pt x="1525286" y="602649"/>
                  </a:lnTo>
                  <a:lnTo>
                    <a:pt x="1527048" y="646937"/>
                  </a:lnTo>
                  <a:lnTo>
                    <a:pt x="1525286" y="691230"/>
                  </a:lnTo>
                  <a:lnTo>
                    <a:pt x="1520077" y="734722"/>
                  </a:lnTo>
                  <a:lnTo>
                    <a:pt x="1511534" y="777317"/>
                  </a:lnTo>
                  <a:lnTo>
                    <a:pt x="1499771" y="818918"/>
                  </a:lnTo>
                  <a:lnTo>
                    <a:pt x="1484902" y="859428"/>
                  </a:lnTo>
                  <a:lnTo>
                    <a:pt x="1467040" y="898753"/>
                  </a:lnTo>
                  <a:lnTo>
                    <a:pt x="1446300" y="936795"/>
                  </a:lnTo>
                  <a:lnTo>
                    <a:pt x="1422795" y="973457"/>
                  </a:lnTo>
                  <a:lnTo>
                    <a:pt x="1396638" y="1008645"/>
                  </a:lnTo>
                  <a:lnTo>
                    <a:pt x="1367945" y="1042260"/>
                  </a:lnTo>
                  <a:lnTo>
                    <a:pt x="1336828" y="1074207"/>
                  </a:lnTo>
                  <a:lnTo>
                    <a:pt x="1303401" y="1104390"/>
                  </a:lnTo>
                  <a:lnTo>
                    <a:pt x="1267777" y="1132712"/>
                  </a:lnTo>
                  <a:lnTo>
                    <a:pt x="1230072" y="1159076"/>
                  </a:lnTo>
                  <a:lnTo>
                    <a:pt x="1190398" y="1183387"/>
                  </a:lnTo>
                  <a:lnTo>
                    <a:pt x="1148870" y="1205548"/>
                  </a:lnTo>
                  <a:lnTo>
                    <a:pt x="1105600" y="1225463"/>
                  </a:lnTo>
                  <a:lnTo>
                    <a:pt x="1060704" y="1243035"/>
                  </a:lnTo>
                  <a:lnTo>
                    <a:pt x="1014293" y="1258168"/>
                  </a:lnTo>
                  <a:lnTo>
                    <a:pt x="966484" y="1270766"/>
                  </a:lnTo>
                  <a:lnTo>
                    <a:pt x="917388" y="1280732"/>
                  </a:lnTo>
                  <a:lnTo>
                    <a:pt x="867120" y="1287970"/>
                  </a:lnTo>
                  <a:lnTo>
                    <a:pt x="815794" y="1292383"/>
                  </a:lnTo>
                  <a:lnTo>
                    <a:pt x="763524" y="1293875"/>
                  </a:lnTo>
                  <a:lnTo>
                    <a:pt x="711248" y="1292383"/>
                  </a:lnTo>
                  <a:lnTo>
                    <a:pt x="659919" y="1287970"/>
                  </a:lnTo>
                  <a:lnTo>
                    <a:pt x="609648" y="1280732"/>
                  </a:lnTo>
                  <a:lnTo>
                    <a:pt x="560550" y="1270766"/>
                  </a:lnTo>
                  <a:lnTo>
                    <a:pt x="512739" y="1258168"/>
                  </a:lnTo>
                  <a:lnTo>
                    <a:pt x="466327" y="1243035"/>
                  </a:lnTo>
                  <a:lnTo>
                    <a:pt x="421430" y="1225463"/>
                  </a:lnTo>
                  <a:lnTo>
                    <a:pt x="378160" y="1205548"/>
                  </a:lnTo>
                  <a:lnTo>
                    <a:pt x="336632" y="1183387"/>
                  </a:lnTo>
                  <a:lnTo>
                    <a:pt x="296959" y="1159076"/>
                  </a:lnTo>
                  <a:lnTo>
                    <a:pt x="259254" y="1132712"/>
                  </a:lnTo>
                  <a:lnTo>
                    <a:pt x="223632" y="1104390"/>
                  </a:lnTo>
                  <a:lnTo>
                    <a:pt x="190206" y="1074207"/>
                  </a:lnTo>
                  <a:lnTo>
                    <a:pt x="159091" y="1042260"/>
                  </a:lnTo>
                  <a:lnTo>
                    <a:pt x="130399" y="1008645"/>
                  </a:lnTo>
                  <a:lnTo>
                    <a:pt x="104244" y="973457"/>
                  </a:lnTo>
                  <a:lnTo>
                    <a:pt x="80740" y="936795"/>
                  </a:lnTo>
                  <a:lnTo>
                    <a:pt x="60002" y="898753"/>
                  </a:lnTo>
                  <a:lnTo>
                    <a:pt x="42141" y="859428"/>
                  </a:lnTo>
                  <a:lnTo>
                    <a:pt x="27274" y="818918"/>
                  </a:lnTo>
                  <a:lnTo>
                    <a:pt x="15512" y="777317"/>
                  </a:lnTo>
                  <a:lnTo>
                    <a:pt x="6970" y="734722"/>
                  </a:lnTo>
                  <a:lnTo>
                    <a:pt x="1761" y="691230"/>
                  </a:lnTo>
                  <a:lnTo>
                    <a:pt x="0" y="646937"/>
                  </a:lnTo>
                  <a:close/>
                </a:path>
              </a:pathLst>
            </a:custGeom>
            <a:ln w="9905">
              <a:solidFill>
                <a:srgbClr val="C0392B"/>
              </a:solidFill>
            </a:ln>
          </p:spPr>
          <p:txBody>
            <a:bodyPr wrap="square" lIns="0" tIns="0" rIns="0" bIns="0" rtlCol="0"/>
            <a:lstStyle/>
            <a:p>
              <a:endParaRPr/>
            </a:p>
          </p:txBody>
        </p:sp>
      </p:grpSp>
      <p:sp>
        <p:nvSpPr>
          <p:cNvPr id="23" name="object 23"/>
          <p:cNvSpPr txBox="1"/>
          <p:nvPr/>
        </p:nvSpPr>
        <p:spPr>
          <a:xfrm>
            <a:off x="696213" y="5382259"/>
            <a:ext cx="922655" cy="546735"/>
          </a:xfrm>
          <a:prstGeom prst="rect">
            <a:avLst/>
          </a:prstGeom>
        </p:spPr>
        <p:txBody>
          <a:bodyPr vert="horz" wrap="square" lIns="0" tIns="43815" rIns="0" bIns="0" rtlCol="0">
            <a:spAutoFit/>
          </a:bodyPr>
          <a:lstStyle/>
          <a:p>
            <a:pPr marL="193040" marR="5080" indent="-180975">
              <a:lnSpc>
                <a:spcPts val="1939"/>
              </a:lnSpc>
              <a:spcBef>
                <a:spcPts val="345"/>
              </a:spcBef>
            </a:pPr>
            <a:r>
              <a:rPr sz="1800" spc="50" dirty="0">
                <a:solidFill>
                  <a:srgbClr val="FFFFFF"/>
                </a:solidFill>
                <a:latin typeface="Times New Roman"/>
                <a:cs typeface="Times New Roman"/>
              </a:rPr>
              <a:t>Database  </a:t>
            </a:r>
            <a:r>
              <a:rPr sz="1800" spc="80" dirty="0">
                <a:solidFill>
                  <a:srgbClr val="FFFFFF"/>
                </a:solidFill>
                <a:latin typeface="Times New Roman"/>
                <a:cs typeface="Times New Roman"/>
              </a:rPr>
              <a:t>name</a:t>
            </a:r>
            <a:endParaRPr sz="1800">
              <a:latin typeface="Times New Roman"/>
              <a:cs typeface="Times New Roman"/>
            </a:endParaRPr>
          </a:p>
        </p:txBody>
      </p:sp>
      <p:grpSp>
        <p:nvGrpSpPr>
          <p:cNvPr id="24" name="object 24"/>
          <p:cNvGrpSpPr/>
          <p:nvPr/>
        </p:nvGrpSpPr>
        <p:grpSpPr>
          <a:xfrm>
            <a:off x="317754" y="3590544"/>
            <a:ext cx="1612900" cy="1379220"/>
            <a:chOff x="317754" y="3590544"/>
            <a:chExt cx="1612900" cy="1379220"/>
          </a:xfrm>
        </p:grpSpPr>
        <p:pic>
          <p:nvPicPr>
            <p:cNvPr id="25" name="object 25"/>
            <p:cNvPicPr/>
            <p:nvPr/>
          </p:nvPicPr>
          <p:blipFill>
            <a:blip r:embed="rId6" cstate="print"/>
            <a:stretch>
              <a:fillRect/>
            </a:stretch>
          </p:blipFill>
          <p:spPr>
            <a:xfrm>
              <a:off x="317754" y="3590544"/>
              <a:ext cx="1612392" cy="1379219"/>
            </a:xfrm>
            <a:prstGeom prst="rect">
              <a:avLst/>
            </a:prstGeom>
          </p:spPr>
        </p:pic>
        <p:pic>
          <p:nvPicPr>
            <p:cNvPr id="26" name="object 26"/>
            <p:cNvPicPr/>
            <p:nvPr/>
          </p:nvPicPr>
          <p:blipFill>
            <a:blip r:embed="rId7" cstate="print"/>
            <a:stretch>
              <a:fillRect/>
            </a:stretch>
          </p:blipFill>
          <p:spPr>
            <a:xfrm>
              <a:off x="363855" y="3613785"/>
              <a:ext cx="1527047" cy="1293876"/>
            </a:xfrm>
            <a:prstGeom prst="rect">
              <a:avLst/>
            </a:prstGeom>
          </p:spPr>
        </p:pic>
        <p:sp>
          <p:nvSpPr>
            <p:cNvPr id="27" name="object 27"/>
            <p:cNvSpPr/>
            <p:nvPr/>
          </p:nvSpPr>
          <p:spPr>
            <a:xfrm>
              <a:off x="363855" y="3613785"/>
              <a:ext cx="1527175" cy="1294130"/>
            </a:xfrm>
            <a:custGeom>
              <a:avLst/>
              <a:gdLst/>
              <a:ahLst/>
              <a:cxnLst/>
              <a:rect l="l" t="t" r="r" b="b"/>
              <a:pathLst>
                <a:path w="1527175" h="1294129">
                  <a:moveTo>
                    <a:pt x="0" y="646938"/>
                  </a:moveTo>
                  <a:lnTo>
                    <a:pt x="1761" y="602649"/>
                  </a:lnTo>
                  <a:lnTo>
                    <a:pt x="6970" y="559161"/>
                  </a:lnTo>
                  <a:lnTo>
                    <a:pt x="15512" y="516569"/>
                  </a:lnTo>
                  <a:lnTo>
                    <a:pt x="27274" y="474971"/>
                  </a:lnTo>
                  <a:lnTo>
                    <a:pt x="42141" y="434462"/>
                  </a:lnTo>
                  <a:lnTo>
                    <a:pt x="60002" y="395138"/>
                  </a:lnTo>
                  <a:lnTo>
                    <a:pt x="80740" y="357097"/>
                  </a:lnTo>
                  <a:lnTo>
                    <a:pt x="104244" y="320435"/>
                  </a:lnTo>
                  <a:lnTo>
                    <a:pt x="130399" y="285247"/>
                  </a:lnTo>
                  <a:lnTo>
                    <a:pt x="159091" y="251631"/>
                  </a:lnTo>
                  <a:lnTo>
                    <a:pt x="190206" y="219683"/>
                  </a:lnTo>
                  <a:lnTo>
                    <a:pt x="223632" y="189499"/>
                  </a:lnTo>
                  <a:lnTo>
                    <a:pt x="259254" y="161176"/>
                  </a:lnTo>
                  <a:lnTo>
                    <a:pt x="296959" y="134810"/>
                  </a:lnTo>
                  <a:lnTo>
                    <a:pt x="336632" y="110498"/>
                  </a:lnTo>
                  <a:lnTo>
                    <a:pt x="378160" y="88335"/>
                  </a:lnTo>
                  <a:lnTo>
                    <a:pt x="421430" y="68419"/>
                  </a:lnTo>
                  <a:lnTo>
                    <a:pt x="466327" y="50845"/>
                  </a:lnTo>
                  <a:lnTo>
                    <a:pt x="512739" y="35711"/>
                  </a:lnTo>
                  <a:lnTo>
                    <a:pt x="560550" y="23112"/>
                  </a:lnTo>
                  <a:lnTo>
                    <a:pt x="609648" y="13145"/>
                  </a:lnTo>
                  <a:lnTo>
                    <a:pt x="659919" y="5906"/>
                  </a:lnTo>
                  <a:lnTo>
                    <a:pt x="711248" y="1492"/>
                  </a:lnTo>
                  <a:lnTo>
                    <a:pt x="763524" y="0"/>
                  </a:lnTo>
                  <a:lnTo>
                    <a:pt x="815794" y="1492"/>
                  </a:lnTo>
                  <a:lnTo>
                    <a:pt x="867120" y="5906"/>
                  </a:lnTo>
                  <a:lnTo>
                    <a:pt x="917388" y="13145"/>
                  </a:lnTo>
                  <a:lnTo>
                    <a:pt x="966484" y="23112"/>
                  </a:lnTo>
                  <a:lnTo>
                    <a:pt x="1014293" y="35711"/>
                  </a:lnTo>
                  <a:lnTo>
                    <a:pt x="1060704" y="50845"/>
                  </a:lnTo>
                  <a:lnTo>
                    <a:pt x="1105600" y="68419"/>
                  </a:lnTo>
                  <a:lnTo>
                    <a:pt x="1148870" y="88335"/>
                  </a:lnTo>
                  <a:lnTo>
                    <a:pt x="1190398" y="110498"/>
                  </a:lnTo>
                  <a:lnTo>
                    <a:pt x="1230072" y="134810"/>
                  </a:lnTo>
                  <a:lnTo>
                    <a:pt x="1267777" y="161176"/>
                  </a:lnTo>
                  <a:lnTo>
                    <a:pt x="1303401" y="189499"/>
                  </a:lnTo>
                  <a:lnTo>
                    <a:pt x="1336828" y="219683"/>
                  </a:lnTo>
                  <a:lnTo>
                    <a:pt x="1367945" y="251631"/>
                  </a:lnTo>
                  <a:lnTo>
                    <a:pt x="1396638" y="285247"/>
                  </a:lnTo>
                  <a:lnTo>
                    <a:pt x="1422795" y="320435"/>
                  </a:lnTo>
                  <a:lnTo>
                    <a:pt x="1446300" y="357097"/>
                  </a:lnTo>
                  <a:lnTo>
                    <a:pt x="1467040" y="395138"/>
                  </a:lnTo>
                  <a:lnTo>
                    <a:pt x="1484902" y="434462"/>
                  </a:lnTo>
                  <a:lnTo>
                    <a:pt x="1499771" y="474971"/>
                  </a:lnTo>
                  <a:lnTo>
                    <a:pt x="1511534" y="516569"/>
                  </a:lnTo>
                  <a:lnTo>
                    <a:pt x="1520077" y="559161"/>
                  </a:lnTo>
                  <a:lnTo>
                    <a:pt x="1525286" y="602649"/>
                  </a:lnTo>
                  <a:lnTo>
                    <a:pt x="1527048" y="646938"/>
                  </a:lnTo>
                  <a:lnTo>
                    <a:pt x="1525286" y="691226"/>
                  </a:lnTo>
                  <a:lnTo>
                    <a:pt x="1520077" y="734714"/>
                  </a:lnTo>
                  <a:lnTo>
                    <a:pt x="1511534" y="777306"/>
                  </a:lnTo>
                  <a:lnTo>
                    <a:pt x="1499771" y="818904"/>
                  </a:lnTo>
                  <a:lnTo>
                    <a:pt x="1484902" y="859413"/>
                  </a:lnTo>
                  <a:lnTo>
                    <a:pt x="1467040" y="898737"/>
                  </a:lnTo>
                  <a:lnTo>
                    <a:pt x="1446300" y="936778"/>
                  </a:lnTo>
                  <a:lnTo>
                    <a:pt x="1422795" y="973440"/>
                  </a:lnTo>
                  <a:lnTo>
                    <a:pt x="1396638" y="1008628"/>
                  </a:lnTo>
                  <a:lnTo>
                    <a:pt x="1367945" y="1042244"/>
                  </a:lnTo>
                  <a:lnTo>
                    <a:pt x="1336828" y="1074192"/>
                  </a:lnTo>
                  <a:lnTo>
                    <a:pt x="1303401" y="1104376"/>
                  </a:lnTo>
                  <a:lnTo>
                    <a:pt x="1267777" y="1132699"/>
                  </a:lnTo>
                  <a:lnTo>
                    <a:pt x="1230072" y="1159065"/>
                  </a:lnTo>
                  <a:lnTo>
                    <a:pt x="1190398" y="1183377"/>
                  </a:lnTo>
                  <a:lnTo>
                    <a:pt x="1148870" y="1205540"/>
                  </a:lnTo>
                  <a:lnTo>
                    <a:pt x="1105600" y="1225456"/>
                  </a:lnTo>
                  <a:lnTo>
                    <a:pt x="1060704" y="1243030"/>
                  </a:lnTo>
                  <a:lnTo>
                    <a:pt x="1014293" y="1258164"/>
                  </a:lnTo>
                  <a:lnTo>
                    <a:pt x="966484" y="1270763"/>
                  </a:lnTo>
                  <a:lnTo>
                    <a:pt x="917388" y="1280730"/>
                  </a:lnTo>
                  <a:lnTo>
                    <a:pt x="867120" y="1287969"/>
                  </a:lnTo>
                  <a:lnTo>
                    <a:pt x="815794" y="1292383"/>
                  </a:lnTo>
                  <a:lnTo>
                    <a:pt x="763524" y="1293876"/>
                  </a:lnTo>
                  <a:lnTo>
                    <a:pt x="711248" y="1292383"/>
                  </a:lnTo>
                  <a:lnTo>
                    <a:pt x="659919" y="1287969"/>
                  </a:lnTo>
                  <a:lnTo>
                    <a:pt x="609648" y="1280730"/>
                  </a:lnTo>
                  <a:lnTo>
                    <a:pt x="560550" y="1270763"/>
                  </a:lnTo>
                  <a:lnTo>
                    <a:pt x="512739" y="1258164"/>
                  </a:lnTo>
                  <a:lnTo>
                    <a:pt x="466327" y="1243030"/>
                  </a:lnTo>
                  <a:lnTo>
                    <a:pt x="421430" y="1225456"/>
                  </a:lnTo>
                  <a:lnTo>
                    <a:pt x="378160" y="1205540"/>
                  </a:lnTo>
                  <a:lnTo>
                    <a:pt x="336632" y="1183377"/>
                  </a:lnTo>
                  <a:lnTo>
                    <a:pt x="296959" y="1159065"/>
                  </a:lnTo>
                  <a:lnTo>
                    <a:pt x="259254" y="1132699"/>
                  </a:lnTo>
                  <a:lnTo>
                    <a:pt x="223632" y="1104376"/>
                  </a:lnTo>
                  <a:lnTo>
                    <a:pt x="190206" y="1074192"/>
                  </a:lnTo>
                  <a:lnTo>
                    <a:pt x="159091" y="1042244"/>
                  </a:lnTo>
                  <a:lnTo>
                    <a:pt x="130399" y="1008628"/>
                  </a:lnTo>
                  <a:lnTo>
                    <a:pt x="104244" y="973440"/>
                  </a:lnTo>
                  <a:lnTo>
                    <a:pt x="80740" y="936778"/>
                  </a:lnTo>
                  <a:lnTo>
                    <a:pt x="60002" y="898737"/>
                  </a:lnTo>
                  <a:lnTo>
                    <a:pt x="42141" y="859413"/>
                  </a:lnTo>
                  <a:lnTo>
                    <a:pt x="27274" y="818904"/>
                  </a:lnTo>
                  <a:lnTo>
                    <a:pt x="15512" y="777306"/>
                  </a:lnTo>
                  <a:lnTo>
                    <a:pt x="6970" y="734714"/>
                  </a:lnTo>
                  <a:lnTo>
                    <a:pt x="1761" y="691226"/>
                  </a:lnTo>
                  <a:lnTo>
                    <a:pt x="0" y="646938"/>
                  </a:lnTo>
                  <a:close/>
                </a:path>
              </a:pathLst>
            </a:custGeom>
            <a:ln w="9906">
              <a:solidFill>
                <a:srgbClr val="F39C12"/>
              </a:solidFill>
            </a:ln>
          </p:spPr>
          <p:txBody>
            <a:bodyPr wrap="square" lIns="0" tIns="0" rIns="0" bIns="0" rtlCol="0"/>
            <a:lstStyle/>
            <a:p>
              <a:endParaRPr/>
            </a:p>
          </p:txBody>
        </p:sp>
      </p:grpSp>
      <p:sp>
        <p:nvSpPr>
          <p:cNvPr id="28" name="object 28"/>
          <p:cNvSpPr txBox="1"/>
          <p:nvPr/>
        </p:nvSpPr>
        <p:spPr>
          <a:xfrm>
            <a:off x="793241" y="3931666"/>
            <a:ext cx="666750" cy="546735"/>
          </a:xfrm>
          <a:prstGeom prst="rect">
            <a:avLst/>
          </a:prstGeom>
        </p:spPr>
        <p:txBody>
          <a:bodyPr vert="horz" wrap="square" lIns="0" tIns="43815" rIns="0" bIns="0" rtlCol="0">
            <a:spAutoFit/>
          </a:bodyPr>
          <a:lstStyle/>
          <a:p>
            <a:pPr marL="64769" marR="5080" indent="-52705">
              <a:lnSpc>
                <a:spcPts val="1939"/>
              </a:lnSpc>
              <a:spcBef>
                <a:spcPts val="345"/>
              </a:spcBef>
            </a:pPr>
            <a:r>
              <a:rPr sz="1800" spc="55" dirty="0">
                <a:solidFill>
                  <a:srgbClr val="FFFFFF"/>
                </a:solidFill>
                <a:latin typeface="Times New Roman"/>
                <a:cs typeface="Times New Roman"/>
              </a:rPr>
              <a:t>Serv</a:t>
            </a:r>
            <a:r>
              <a:rPr sz="1800" spc="45" dirty="0">
                <a:solidFill>
                  <a:srgbClr val="FFFFFF"/>
                </a:solidFill>
                <a:latin typeface="Times New Roman"/>
                <a:cs typeface="Times New Roman"/>
              </a:rPr>
              <a:t>er  </a:t>
            </a:r>
            <a:r>
              <a:rPr sz="1800" spc="80" dirty="0">
                <a:solidFill>
                  <a:srgbClr val="FFFFFF"/>
                </a:solidFill>
                <a:latin typeface="Times New Roman"/>
                <a:cs typeface="Times New Roman"/>
              </a:rPr>
              <a:t>name</a:t>
            </a:r>
            <a:endParaRPr sz="1800">
              <a:latin typeface="Times New Roman"/>
              <a:cs typeface="Times New Roman"/>
            </a:endParaRPr>
          </a:p>
        </p:txBody>
      </p:sp>
      <p:grpSp>
        <p:nvGrpSpPr>
          <p:cNvPr id="29" name="object 29"/>
          <p:cNvGrpSpPr/>
          <p:nvPr/>
        </p:nvGrpSpPr>
        <p:grpSpPr>
          <a:xfrm>
            <a:off x="317754" y="2300477"/>
            <a:ext cx="1612900" cy="1379220"/>
            <a:chOff x="317754" y="2300477"/>
            <a:chExt cx="1612900" cy="1379220"/>
          </a:xfrm>
        </p:grpSpPr>
        <p:pic>
          <p:nvPicPr>
            <p:cNvPr id="30" name="object 30"/>
            <p:cNvPicPr/>
            <p:nvPr/>
          </p:nvPicPr>
          <p:blipFill>
            <a:blip r:embed="rId6" cstate="print"/>
            <a:stretch>
              <a:fillRect/>
            </a:stretch>
          </p:blipFill>
          <p:spPr>
            <a:xfrm>
              <a:off x="317754" y="2300477"/>
              <a:ext cx="1612392" cy="1379220"/>
            </a:xfrm>
            <a:prstGeom prst="rect">
              <a:avLst/>
            </a:prstGeom>
          </p:spPr>
        </p:pic>
        <p:pic>
          <p:nvPicPr>
            <p:cNvPr id="31" name="object 31"/>
            <p:cNvPicPr/>
            <p:nvPr/>
          </p:nvPicPr>
          <p:blipFill>
            <a:blip r:embed="rId8" cstate="print"/>
            <a:stretch>
              <a:fillRect/>
            </a:stretch>
          </p:blipFill>
          <p:spPr>
            <a:xfrm>
              <a:off x="474726" y="2612136"/>
              <a:ext cx="1347978" cy="802386"/>
            </a:xfrm>
            <a:prstGeom prst="rect">
              <a:avLst/>
            </a:prstGeom>
          </p:spPr>
        </p:pic>
        <p:pic>
          <p:nvPicPr>
            <p:cNvPr id="32" name="object 32"/>
            <p:cNvPicPr/>
            <p:nvPr/>
          </p:nvPicPr>
          <p:blipFill>
            <a:blip r:embed="rId9" cstate="print"/>
            <a:stretch>
              <a:fillRect/>
            </a:stretch>
          </p:blipFill>
          <p:spPr>
            <a:xfrm>
              <a:off x="363855" y="2323718"/>
              <a:ext cx="1527047" cy="1293876"/>
            </a:xfrm>
            <a:prstGeom prst="rect">
              <a:avLst/>
            </a:prstGeom>
          </p:spPr>
        </p:pic>
        <p:sp>
          <p:nvSpPr>
            <p:cNvPr id="33" name="object 33"/>
            <p:cNvSpPr/>
            <p:nvPr/>
          </p:nvSpPr>
          <p:spPr>
            <a:xfrm>
              <a:off x="363855" y="2323718"/>
              <a:ext cx="1527175" cy="1294130"/>
            </a:xfrm>
            <a:custGeom>
              <a:avLst/>
              <a:gdLst/>
              <a:ahLst/>
              <a:cxnLst/>
              <a:rect l="l" t="t" r="r" b="b"/>
              <a:pathLst>
                <a:path w="1527175" h="1294129">
                  <a:moveTo>
                    <a:pt x="0" y="646938"/>
                  </a:moveTo>
                  <a:lnTo>
                    <a:pt x="1761" y="602649"/>
                  </a:lnTo>
                  <a:lnTo>
                    <a:pt x="6970" y="559161"/>
                  </a:lnTo>
                  <a:lnTo>
                    <a:pt x="15512" y="516569"/>
                  </a:lnTo>
                  <a:lnTo>
                    <a:pt x="27274" y="474971"/>
                  </a:lnTo>
                  <a:lnTo>
                    <a:pt x="42141" y="434462"/>
                  </a:lnTo>
                  <a:lnTo>
                    <a:pt x="60002" y="395138"/>
                  </a:lnTo>
                  <a:lnTo>
                    <a:pt x="80740" y="357097"/>
                  </a:lnTo>
                  <a:lnTo>
                    <a:pt x="104244" y="320435"/>
                  </a:lnTo>
                  <a:lnTo>
                    <a:pt x="130399" y="285247"/>
                  </a:lnTo>
                  <a:lnTo>
                    <a:pt x="159091" y="251631"/>
                  </a:lnTo>
                  <a:lnTo>
                    <a:pt x="190206" y="219683"/>
                  </a:lnTo>
                  <a:lnTo>
                    <a:pt x="223632" y="189499"/>
                  </a:lnTo>
                  <a:lnTo>
                    <a:pt x="259254" y="161176"/>
                  </a:lnTo>
                  <a:lnTo>
                    <a:pt x="296959" y="134810"/>
                  </a:lnTo>
                  <a:lnTo>
                    <a:pt x="336632" y="110498"/>
                  </a:lnTo>
                  <a:lnTo>
                    <a:pt x="378160" y="88335"/>
                  </a:lnTo>
                  <a:lnTo>
                    <a:pt x="421430" y="68419"/>
                  </a:lnTo>
                  <a:lnTo>
                    <a:pt x="466327" y="50845"/>
                  </a:lnTo>
                  <a:lnTo>
                    <a:pt x="512739" y="35711"/>
                  </a:lnTo>
                  <a:lnTo>
                    <a:pt x="560550" y="23112"/>
                  </a:lnTo>
                  <a:lnTo>
                    <a:pt x="609648" y="13145"/>
                  </a:lnTo>
                  <a:lnTo>
                    <a:pt x="659919" y="5906"/>
                  </a:lnTo>
                  <a:lnTo>
                    <a:pt x="711248" y="1492"/>
                  </a:lnTo>
                  <a:lnTo>
                    <a:pt x="763524" y="0"/>
                  </a:lnTo>
                  <a:lnTo>
                    <a:pt x="815794" y="1492"/>
                  </a:lnTo>
                  <a:lnTo>
                    <a:pt x="867120" y="5906"/>
                  </a:lnTo>
                  <a:lnTo>
                    <a:pt x="917388" y="13145"/>
                  </a:lnTo>
                  <a:lnTo>
                    <a:pt x="966484" y="23112"/>
                  </a:lnTo>
                  <a:lnTo>
                    <a:pt x="1014293" y="35711"/>
                  </a:lnTo>
                  <a:lnTo>
                    <a:pt x="1060704" y="50845"/>
                  </a:lnTo>
                  <a:lnTo>
                    <a:pt x="1105600" y="68419"/>
                  </a:lnTo>
                  <a:lnTo>
                    <a:pt x="1148870" y="88335"/>
                  </a:lnTo>
                  <a:lnTo>
                    <a:pt x="1190398" y="110498"/>
                  </a:lnTo>
                  <a:lnTo>
                    <a:pt x="1230072" y="134810"/>
                  </a:lnTo>
                  <a:lnTo>
                    <a:pt x="1267777" y="161176"/>
                  </a:lnTo>
                  <a:lnTo>
                    <a:pt x="1303401" y="189499"/>
                  </a:lnTo>
                  <a:lnTo>
                    <a:pt x="1336828" y="219683"/>
                  </a:lnTo>
                  <a:lnTo>
                    <a:pt x="1367945" y="251631"/>
                  </a:lnTo>
                  <a:lnTo>
                    <a:pt x="1396638" y="285247"/>
                  </a:lnTo>
                  <a:lnTo>
                    <a:pt x="1422795" y="320435"/>
                  </a:lnTo>
                  <a:lnTo>
                    <a:pt x="1446300" y="357097"/>
                  </a:lnTo>
                  <a:lnTo>
                    <a:pt x="1467040" y="395138"/>
                  </a:lnTo>
                  <a:lnTo>
                    <a:pt x="1484902" y="434462"/>
                  </a:lnTo>
                  <a:lnTo>
                    <a:pt x="1499771" y="474971"/>
                  </a:lnTo>
                  <a:lnTo>
                    <a:pt x="1511534" y="516569"/>
                  </a:lnTo>
                  <a:lnTo>
                    <a:pt x="1520077" y="559161"/>
                  </a:lnTo>
                  <a:lnTo>
                    <a:pt x="1525286" y="602649"/>
                  </a:lnTo>
                  <a:lnTo>
                    <a:pt x="1527048" y="646938"/>
                  </a:lnTo>
                  <a:lnTo>
                    <a:pt x="1525286" y="691226"/>
                  </a:lnTo>
                  <a:lnTo>
                    <a:pt x="1520077" y="734714"/>
                  </a:lnTo>
                  <a:lnTo>
                    <a:pt x="1511534" y="777306"/>
                  </a:lnTo>
                  <a:lnTo>
                    <a:pt x="1499771" y="818904"/>
                  </a:lnTo>
                  <a:lnTo>
                    <a:pt x="1484902" y="859413"/>
                  </a:lnTo>
                  <a:lnTo>
                    <a:pt x="1467040" y="898737"/>
                  </a:lnTo>
                  <a:lnTo>
                    <a:pt x="1446300" y="936778"/>
                  </a:lnTo>
                  <a:lnTo>
                    <a:pt x="1422795" y="973440"/>
                  </a:lnTo>
                  <a:lnTo>
                    <a:pt x="1396638" y="1008628"/>
                  </a:lnTo>
                  <a:lnTo>
                    <a:pt x="1367945" y="1042244"/>
                  </a:lnTo>
                  <a:lnTo>
                    <a:pt x="1336828" y="1074192"/>
                  </a:lnTo>
                  <a:lnTo>
                    <a:pt x="1303401" y="1104376"/>
                  </a:lnTo>
                  <a:lnTo>
                    <a:pt x="1267777" y="1132699"/>
                  </a:lnTo>
                  <a:lnTo>
                    <a:pt x="1230072" y="1159065"/>
                  </a:lnTo>
                  <a:lnTo>
                    <a:pt x="1190398" y="1183377"/>
                  </a:lnTo>
                  <a:lnTo>
                    <a:pt x="1148870" y="1205540"/>
                  </a:lnTo>
                  <a:lnTo>
                    <a:pt x="1105600" y="1225456"/>
                  </a:lnTo>
                  <a:lnTo>
                    <a:pt x="1060704" y="1243030"/>
                  </a:lnTo>
                  <a:lnTo>
                    <a:pt x="1014293" y="1258164"/>
                  </a:lnTo>
                  <a:lnTo>
                    <a:pt x="966484" y="1270763"/>
                  </a:lnTo>
                  <a:lnTo>
                    <a:pt x="917388" y="1280730"/>
                  </a:lnTo>
                  <a:lnTo>
                    <a:pt x="867120" y="1287969"/>
                  </a:lnTo>
                  <a:lnTo>
                    <a:pt x="815794" y="1292383"/>
                  </a:lnTo>
                  <a:lnTo>
                    <a:pt x="763524" y="1293876"/>
                  </a:lnTo>
                  <a:lnTo>
                    <a:pt x="711248" y="1292383"/>
                  </a:lnTo>
                  <a:lnTo>
                    <a:pt x="659919" y="1287969"/>
                  </a:lnTo>
                  <a:lnTo>
                    <a:pt x="609648" y="1280730"/>
                  </a:lnTo>
                  <a:lnTo>
                    <a:pt x="560550" y="1270763"/>
                  </a:lnTo>
                  <a:lnTo>
                    <a:pt x="512739" y="1258164"/>
                  </a:lnTo>
                  <a:lnTo>
                    <a:pt x="466327" y="1243030"/>
                  </a:lnTo>
                  <a:lnTo>
                    <a:pt x="421430" y="1225456"/>
                  </a:lnTo>
                  <a:lnTo>
                    <a:pt x="378160" y="1205540"/>
                  </a:lnTo>
                  <a:lnTo>
                    <a:pt x="336632" y="1183377"/>
                  </a:lnTo>
                  <a:lnTo>
                    <a:pt x="296959" y="1159065"/>
                  </a:lnTo>
                  <a:lnTo>
                    <a:pt x="259254" y="1132699"/>
                  </a:lnTo>
                  <a:lnTo>
                    <a:pt x="223632" y="1104376"/>
                  </a:lnTo>
                  <a:lnTo>
                    <a:pt x="190206" y="1074192"/>
                  </a:lnTo>
                  <a:lnTo>
                    <a:pt x="159091" y="1042244"/>
                  </a:lnTo>
                  <a:lnTo>
                    <a:pt x="130399" y="1008628"/>
                  </a:lnTo>
                  <a:lnTo>
                    <a:pt x="104244" y="973440"/>
                  </a:lnTo>
                  <a:lnTo>
                    <a:pt x="80740" y="936778"/>
                  </a:lnTo>
                  <a:lnTo>
                    <a:pt x="60002" y="898737"/>
                  </a:lnTo>
                  <a:lnTo>
                    <a:pt x="42141" y="859413"/>
                  </a:lnTo>
                  <a:lnTo>
                    <a:pt x="27274" y="818904"/>
                  </a:lnTo>
                  <a:lnTo>
                    <a:pt x="15512" y="777306"/>
                  </a:lnTo>
                  <a:lnTo>
                    <a:pt x="6970" y="734714"/>
                  </a:lnTo>
                  <a:lnTo>
                    <a:pt x="1761" y="691226"/>
                  </a:lnTo>
                  <a:lnTo>
                    <a:pt x="0" y="646938"/>
                  </a:lnTo>
                  <a:close/>
                </a:path>
              </a:pathLst>
            </a:custGeom>
            <a:ln w="9906">
              <a:solidFill>
                <a:srgbClr val="9BBA58"/>
              </a:solidFill>
            </a:ln>
          </p:spPr>
          <p:txBody>
            <a:bodyPr wrap="square" lIns="0" tIns="0" rIns="0" bIns="0" rtlCol="0"/>
            <a:lstStyle/>
            <a:p>
              <a:endParaRPr/>
            </a:p>
          </p:txBody>
        </p:sp>
      </p:grpSp>
      <p:sp>
        <p:nvSpPr>
          <p:cNvPr id="34" name="object 34"/>
          <p:cNvSpPr txBox="1"/>
          <p:nvPr/>
        </p:nvSpPr>
        <p:spPr>
          <a:xfrm>
            <a:off x="640080" y="2641346"/>
            <a:ext cx="1182624" cy="546735"/>
          </a:xfrm>
          <a:prstGeom prst="rect">
            <a:avLst/>
          </a:prstGeom>
        </p:spPr>
        <p:txBody>
          <a:bodyPr vert="horz" wrap="square" lIns="0" tIns="43815" rIns="0" bIns="0" rtlCol="0">
            <a:spAutoFit/>
          </a:bodyPr>
          <a:lstStyle/>
          <a:p>
            <a:pPr marL="121920" marR="5080" indent="-109855">
              <a:lnSpc>
                <a:spcPts val="1939"/>
              </a:lnSpc>
              <a:spcBef>
                <a:spcPts val="345"/>
              </a:spcBef>
            </a:pPr>
            <a:r>
              <a:rPr sz="1800" spc="95" dirty="0">
                <a:solidFill>
                  <a:srgbClr val="FFFFFF"/>
                </a:solidFill>
                <a:latin typeface="Times New Roman"/>
                <a:cs typeface="Times New Roman"/>
              </a:rPr>
              <a:t>Syno</a:t>
            </a:r>
            <a:r>
              <a:rPr sz="1800" spc="80" dirty="0">
                <a:solidFill>
                  <a:srgbClr val="FFFFFF"/>
                </a:solidFill>
                <a:latin typeface="Times New Roman"/>
                <a:cs typeface="Times New Roman"/>
              </a:rPr>
              <a:t>n</a:t>
            </a:r>
            <a:r>
              <a:rPr sz="1800" spc="25" dirty="0">
                <a:solidFill>
                  <a:srgbClr val="FFFFFF"/>
                </a:solidFill>
                <a:latin typeface="Times New Roman"/>
                <a:cs typeface="Times New Roman"/>
              </a:rPr>
              <a:t>ym  </a:t>
            </a:r>
            <a:r>
              <a:rPr sz="1800" spc="55" dirty="0">
                <a:solidFill>
                  <a:srgbClr val="FFFFFF"/>
                </a:solidFill>
                <a:latin typeface="Times New Roman"/>
                <a:cs typeface="Times New Roman"/>
              </a:rPr>
              <a:t>schema</a:t>
            </a:r>
            <a:endParaRPr sz="1800">
              <a:latin typeface="Times New Roman"/>
              <a:cs typeface="Times New Roman"/>
            </a:endParaRPr>
          </a:p>
        </p:txBody>
      </p:sp>
      <p:grpSp>
        <p:nvGrpSpPr>
          <p:cNvPr id="35" name="object 35"/>
          <p:cNvGrpSpPr/>
          <p:nvPr/>
        </p:nvGrpSpPr>
        <p:grpSpPr>
          <a:xfrm>
            <a:off x="249936" y="947927"/>
            <a:ext cx="1612900" cy="1379220"/>
            <a:chOff x="249936" y="947927"/>
            <a:chExt cx="1612900" cy="1379220"/>
          </a:xfrm>
        </p:grpSpPr>
        <p:pic>
          <p:nvPicPr>
            <p:cNvPr id="36" name="object 36"/>
            <p:cNvPicPr/>
            <p:nvPr/>
          </p:nvPicPr>
          <p:blipFill>
            <a:blip r:embed="rId6" cstate="print"/>
            <a:stretch>
              <a:fillRect/>
            </a:stretch>
          </p:blipFill>
          <p:spPr>
            <a:xfrm>
              <a:off x="249936" y="947927"/>
              <a:ext cx="1612391" cy="1379220"/>
            </a:xfrm>
            <a:prstGeom prst="rect">
              <a:avLst/>
            </a:prstGeom>
          </p:spPr>
        </p:pic>
        <p:pic>
          <p:nvPicPr>
            <p:cNvPr id="37" name="object 37"/>
            <p:cNvPicPr/>
            <p:nvPr/>
          </p:nvPicPr>
          <p:blipFill>
            <a:blip r:embed="rId10" cstate="print"/>
            <a:stretch>
              <a:fillRect/>
            </a:stretch>
          </p:blipFill>
          <p:spPr>
            <a:xfrm>
              <a:off x="406907" y="1259547"/>
              <a:ext cx="1347978" cy="811568"/>
            </a:xfrm>
            <a:prstGeom prst="rect">
              <a:avLst/>
            </a:prstGeom>
          </p:spPr>
        </p:pic>
        <p:pic>
          <p:nvPicPr>
            <p:cNvPr id="38" name="object 38"/>
            <p:cNvPicPr/>
            <p:nvPr/>
          </p:nvPicPr>
          <p:blipFill>
            <a:blip r:embed="rId11" cstate="print"/>
            <a:stretch>
              <a:fillRect/>
            </a:stretch>
          </p:blipFill>
          <p:spPr>
            <a:xfrm>
              <a:off x="296037" y="971168"/>
              <a:ext cx="1527047" cy="1293876"/>
            </a:xfrm>
            <a:prstGeom prst="rect">
              <a:avLst/>
            </a:prstGeom>
          </p:spPr>
        </p:pic>
        <p:sp>
          <p:nvSpPr>
            <p:cNvPr id="39" name="object 39"/>
            <p:cNvSpPr/>
            <p:nvPr/>
          </p:nvSpPr>
          <p:spPr>
            <a:xfrm>
              <a:off x="296037" y="971168"/>
              <a:ext cx="1527175" cy="1294130"/>
            </a:xfrm>
            <a:custGeom>
              <a:avLst/>
              <a:gdLst/>
              <a:ahLst/>
              <a:cxnLst/>
              <a:rect l="l" t="t" r="r" b="b"/>
              <a:pathLst>
                <a:path w="1527175" h="1294130">
                  <a:moveTo>
                    <a:pt x="0" y="646938"/>
                  </a:moveTo>
                  <a:lnTo>
                    <a:pt x="1761" y="602649"/>
                  </a:lnTo>
                  <a:lnTo>
                    <a:pt x="6970" y="559161"/>
                  </a:lnTo>
                  <a:lnTo>
                    <a:pt x="15512" y="516569"/>
                  </a:lnTo>
                  <a:lnTo>
                    <a:pt x="27274" y="474971"/>
                  </a:lnTo>
                  <a:lnTo>
                    <a:pt x="42141" y="434462"/>
                  </a:lnTo>
                  <a:lnTo>
                    <a:pt x="60002" y="395138"/>
                  </a:lnTo>
                  <a:lnTo>
                    <a:pt x="80740" y="357097"/>
                  </a:lnTo>
                  <a:lnTo>
                    <a:pt x="104244" y="320435"/>
                  </a:lnTo>
                  <a:lnTo>
                    <a:pt x="130399" y="285247"/>
                  </a:lnTo>
                  <a:lnTo>
                    <a:pt x="159091" y="251631"/>
                  </a:lnTo>
                  <a:lnTo>
                    <a:pt x="190206" y="219683"/>
                  </a:lnTo>
                  <a:lnTo>
                    <a:pt x="223632" y="189499"/>
                  </a:lnTo>
                  <a:lnTo>
                    <a:pt x="259254" y="161176"/>
                  </a:lnTo>
                  <a:lnTo>
                    <a:pt x="296959" y="134810"/>
                  </a:lnTo>
                  <a:lnTo>
                    <a:pt x="336632" y="110498"/>
                  </a:lnTo>
                  <a:lnTo>
                    <a:pt x="378160" y="88335"/>
                  </a:lnTo>
                  <a:lnTo>
                    <a:pt x="421430" y="68419"/>
                  </a:lnTo>
                  <a:lnTo>
                    <a:pt x="466327" y="50845"/>
                  </a:lnTo>
                  <a:lnTo>
                    <a:pt x="512739" y="35711"/>
                  </a:lnTo>
                  <a:lnTo>
                    <a:pt x="560550" y="23112"/>
                  </a:lnTo>
                  <a:lnTo>
                    <a:pt x="609648" y="13145"/>
                  </a:lnTo>
                  <a:lnTo>
                    <a:pt x="659919" y="5906"/>
                  </a:lnTo>
                  <a:lnTo>
                    <a:pt x="711248" y="1492"/>
                  </a:lnTo>
                  <a:lnTo>
                    <a:pt x="763524" y="0"/>
                  </a:lnTo>
                  <a:lnTo>
                    <a:pt x="815794" y="1492"/>
                  </a:lnTo>
                  <a:lnTo>
                    <a:pt x="867120" y="5906"/>
                  </a:lnTo>
                  <a:lnTo>
                    <a:pt x="917388" y="13145"/>
                  </a:lnTo>
                  <a:lnTo>
                    <a:pt x="966484" y="23112"/>
                  </a:lnTo>
                  <a:lnTo>
                    <a:pt x="1014293" y="35711"/>
                  </a:lnTo>
                  <a:lnTo>
                    <a:pt x="1060704" y="50845"/>
                  </a:lnTo>
                  <a:lnTo>
                    <a:pt x="1105600" y="68419"/>
                  </a:lnTo>
                  <a:lnTo>
                    <a:pt x="1148870" y="88335"/>
                  </a:lnTo>
                  <a:lnTo>
                    <a:pt x="1190398" y="110498"/>
                  </a:lnTo>
                  <a:lnTo>
                    <a:pt x="1230072" y="134810"/>
                  </a:lnTo>
                  <a:lnTo>
                    <a:pt x="1267777" y="161176"/>
                  </a:lnTo>
                  <a:lnTo>
                    <a:pt x="1303401" y="189499"/>
                  </a:lnTo>
                  <a:lnTo>
                    <a:pt x="1336828" y="219683"/>
                  </a:lnTo>
                  <a:lnTo>
                    <a:pt x="1367945" y="251631"/>
                  </a:lnTo>
                  <a:lnTo>
                    <a:pt x="1396638" y="285247"/>
                  </a:lnTo>
                  <a:lnTo>
                    <a:pt x="1422795" y="320435"/>
                  </a:lnTo>
                  <a:lnTo>
                    <a:pt x="1446300" y="357097"/>
                  </a:lnTo>
                  <a:lnTo>
                    <a:pt x="1467040" y="395138"/>
                  </a:lnTo>
                  <a:lnTo>
                    <a:pt x="1484902" y="434462"/>
                  </a:lnTo>
                  <a:lnTo>
                    <a:pt x="1499771" y="474971"/>
                  </a:lnTo>
                  <a:lnTo>
                    <a:pt x="1511534" y="516569"/>
                  </a:lnTo>
                  <a:lnTo>
                    <a:pt x="1520077" y="559161"/>
                  </a:lnTo>
                  <a:lnTo>
                    <a:pt x="1525286" y="602649"/>
                  </a:lnTo>
                  <a:lnTo>
                    <a:pt x="1527048" y="646938"/>
                  </a:lnTo>
                  <a:lnTo>
                    <a:pt x="1525286" y="691226"/>
                  </a:lnTo>
                  <a:lnTo>
                    <a:pt x="1520077" y="734714"/>
                  </a:lnTo>
                  <a:lnTo>
                    <a:pt x="1511534" y="777306"/>
                  </a:lnTo>
                  <a:lnTo>
                    <a:pt x="1499771" y="818904"/>
                  </a:lnTo>
                  <a:lnTo>
                    <a:pt x="1484902" y="859413"/>
                  </a:lnTo>
                  <a:lnTo>
                    <a:pt x="1467040" y="898737"/>
                  </a:lnTo>
                  <a:lnTo>
                    <a:pt x="1446300" y="936778"/>
                  </a:lnTo>
                  <a:lnTo>
                    <a:pt x="1422795" y="973440"/>
                  </a:lnTo>
                  <a:lnTo>
                    <a:pt x="1396638" y="1008628"/>
                  </a:lnTo>
                  <a:lnTo>
                    <a:pt x="1367945" y="1042244"/>
                  </a:lnTo>
                  <a:lnTo>
                    <a:pt x="1336828" y="1074192"/>
                  </a:lnTo>
                  <a:lnTo>
                    <a:pt x="1303401" y="1104376"/>
                  </a:lnTo>
                  <a:lnTo>
                    <a:pt x="1267777" y="1132699"/>
                  </a:lnTo>
                  <a:lnTo>
                    <a:pt x="1230072" y="1159065"/>
                  </a:lnTo>
                  <a:lnTo>
                    <a:pt x="1190398" y="1183377"/>
                  </a:lnTo>
                  <a:lnTo>
                    <a:pt x="1148870" y="1205540"/>
                  </a:lnTo>
                  <a:lnTo>
                    <a:pt x="1105600" y="1225456"/>
                  </a:lnTo>
                  <a:lnTo>
                    <a:pt x="1060704" y="1243030"/>
                  </a:lnTo>
                  <a:lnTo>
                    <a:pt x="1014293" y="1258164"/>
                  </a:lnTo>
                  <a:lnTo>
                    <a:pt x="966484" y="1270763"/>
                  </a:lnTo>
                  <a:lnTo>
                    <a:pt x="917388" y="1280730"/>
                  </a:lnTo>
                  <a:lnTo>
                    <a:pt x="867120" y="1287969"/>
                  </a:lnTo>
                  <a:lnTo>
                    <a:pt x="815794" y="1292383"/>
                  </a:lnTo>
                  <a:lnTo>
                    <a:pt x="763524" y="1293876"/>
                  </a:lnTo>
                  <a:lnTo>
                    <a:pt x="711248" y="1292383"/>
                  </a:lnTo>
                  <a:lnTo>
                    <a:pt x="659919" y="1287969"/>
                  </a:lnTo>
                  <a:lnTo>
                    <a:pt x="609648" y="1280730"/>
                  </a:lnTo>
                  <a:lnTo>
                    <a:pt x="560550" y="1270763"/>
                  </a:lnTo>
                  <a:lnTo>
                    <a:pt x="512739" y="1258164"/>
                  </a:lnTo>
                  <a:lnTo>
                    <a:pt x="466327" y="1243030"/>
                  </a:lnTo>
                  <a:lnTo>
                    <a:pt x="421430" y="1225456"/>
                  </a:lnTo>
                  <a:lnTo>
                    <a:pt x="378160" y="1205540"/>
                  </a:lnTo>
                  <a:lnTo>
                    <a:pt x="336632" y="1183377"/>
                  </a:lnTo>
                  <a:lnTo>
                    <a:pt x="296959" y="1159065"/>
                  </a:lnTo>
                  <a:lnTo>
                    <a:pt x="259254" y="1132699"/>
                  </a:lnTo>
                  <a:lnTo>
                    <a:pt x="223632" y="1104376"/>
                  </a:lnTo>
                  <a:lnTo>
                    <a:pt x="190206" y="1074192"/>
                  </a:lnTo>
                  <a:lnTo>
                    <a:pt x="159091" y="1042244"/>
                  </a:lnTo>
                  <a:lnTo>
                    <a:pt x="130399" y="1008628"/>
                  </a:lnTo>
                  <a:lnTo>
                    <a:pt x="104244" y="973440"/>
                  </a:lnTo>
                  <a:lnTo>
                    <a:pt x="80740" y="936778"/>
                  </a:lnTo>
                  <a:lnTo>
                    <a:pt x="60002" y="898737"/>
                  </a:lnTo>
                  <a:lnTo>
                    <a:pt x="42141" y="859413"/>
                  </a:lnTo>
                  <a:lnTo>
                    <a:pt x="27274" y="818904"/>
                  </a:lnTo>
                  <a:lnTo>
                    <a:pt x="15512" y="777306"/>
                  </a:lnTo>
                  <a:lnTo>
                    <a:pt x="6970" y="734714"/>
                  </a:lnTo>
                  <a:lnTo>
                    <a:pt x="1761" y="691226"/>
                  </a:lnTo>
                  <a:lnTo>
                    <a:pt x="0" y="646938"/>
                  </a:lnTo>
                  <a:close/>
                </a:path>
              </a:pathLst>
            </a:custGeom>
            <a:ln w="9906">
              <a:solidFill>
                <a:srgbClr val="159F85"/>
              </a:solidFill>
            </a:ln>
          </p:spPr>
          <p:txBody>
            <a:bodyPr wrap="square" lIns="0" tIns="0" rIns="0" bIns="0" rtlCol="0"/>
            <a:lstStyle/>
            <a:p>
              <a:endParaRPr/>
            </a:p>
          </p:txBody>
        </p:sp>
      </p:grpSp>
      <p:sp>
        <p:nvSpPr>
          <p:cNvPr id="40" name="object 40"/>
          <p:cNvSpPr txBox="1"/>
          <p:nvPr/>
        </p:nvSpPr>
        <p:spPr>
          <a:xfrm>
            <a:off x="572516" y="1288541"/>
            <a:ext cx="1136268" cy="556260"/>
          </a:xfrm>
          <a:prstGeom prst="rect">
            <a:avLst/>
          </a:prstGeom>
        </p:spPr>
        <p:txBody>
          <a:bodyPr vert="horz" wrap="square" lIns="0" tIns="35560" rIns="0" bIns="0" rtlCol="0">
            <a:spAutoFit/>
          </a:bodyPr>
          <a:lstStyle/>
          <a:p>
            <a:pPr marL="218440" marR="5080" indent="-205740">
              <a:lnSpc>
                <a:spcPts val="2020"/>
              </a:lnSpc>
              <a:spcBef>
                <a:spcPts val="280"/>
              </a:spcBef>
            </a:pPr>
            <a:r>
              <a:rPr sz="1800" spc="95" dirty="0">
                <a:solidFill>
                  <a:srgbClr val="FFFFFF"/>
                </a:solidFill>
                <a:latin typeface="Times New Roman"/>
                <a:cs typeface="Times New Roman"/>
              </a:rPr>
              <a:t>Syno</a:t>
            </a:r>
            <a:r>
              <a:rPr sz="1800" spc="80" dirty="0">
                <a:solidFill>
                  <a:srgbClr val="FFFFFF"/>
                </a:solidFill>
                <a:latin typeface="Times New Roman"/>
                <a:cs typeface="Times New Roman"/>
              </a:rPr>
              <a:t>n</a:t>
            </a:r>
            <a:r>
              <a:rPr sz="1800" spc="25" dirty="0">
                <a:solidFill>
                  <a:srgbClr val="FFFFFF"/>
                </a:solidFill>
                <a:latin typeface="Times New Roman"/>
                <a:cs typeface="Times New Roman"/>
              </a:rPr>
              <a:t>ym  </a:t>
            </a:r>
            <a:r>
              <a:rPr sz="1800" spc="80" dirty="0">
                <a:solidFill>
                  <a:srgbClr val="FFFFFF"/>
                </a:solidFill>
                <a:latin typeface="Times New Roman"/>
                <a:cs typeface="Times New Roman"/>
              </a:rPr>
              <a:t>name</a:t>
            </a:r>
            <a:endParaRPr sz="1800">
              <a:latin typeface="Times New Roman"/>
              <a:cs typeface="Times New Roman"/>
            </a:endParaRPr>
          </a:p>
        </p:txBody>
      </p:sp>
      <p:sp>
        <p:nvSpPr>
          <p:cNvPr id="43" name="object 43"/>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16</a:t>
            </a:fld>
            <a:endParaRPr sz="1200"/>
          </a:p>
        </p:txBody>
      </p:sp>
      <p:sp>
        <p:nvSpPr>
          <p:cNvPr id="44" name="object 4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41" name="object 41"/>
          <p:cNvSpPr txBox="1">
            <a:spLocks noGrp="1"/>
          </p:cNvSpPr>
          <p:nvPr>
            <p:ph type="title"/>
          </p:nvPr>
        </p:nvSpPr>
        <p:spPr>
          <a:xfrm>
            <a:off x="383540" y="15493"/>
            <a:ext cx="3578860" cy="635635"/>
          </a:xfrm>
          <a:prstGeom prst="rect">
            <a:avLst/>
          </a:prstGeom>
        </p:spPr>
        <p:txBody>
          <a:bodyPr vert="horz" wrap="square" lIns="0" tIns="12700" rIns="0" bIns="0" rtlCol="0">
            <a:spAutoFit/>
          </a:bodyPr>
          <a:lstStyle/>
          <a:p>
            <a:pPr marL="12700">
              <a:lnSpc>
                <a:spcPct val="100000"/>
              </a:lnSpc>
              <a:spcBef>
                <a:spcPts val="100"/>
              </a:spcBef>
            </a:pPr>
            <a:r>
              <a:rPr spc="160" dirty="0"/>
              <a:t>Synonyms</a:t>
            </a:r>
            <a:r>
              <a:rPr spc="-245" dirty="0"/>
              <a:t> </a:t>
            </a:r>
            <a:r>
              <a:rPr spc="-415" dirty="0"/>
              <a:t>5-5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9651"/>
            <a:ext cx="7769860" cy="635635"/>
          </a:xfrm>
          <a:prstGeom prst="rect">
            <a:avLst/>
          </a:prstGeom>
        </p:spPr>
        <p:txBody>
          <a:bodyPr vert="horz" wrap="square" lIns="0" tIns="12700" rIns="0" bIns="0" rtlCol="0">
            <a:spAutoFit/>
          </a:bodyPr>
          <a:lstStyle/>
          <a:p>
            <a:pPr marL="12700">
              <a:lnSpc>
                <a:spcPct val="100000"/>
              </a:lnSpc>
              <a:spcBef>
                <a:spcPts val="100"/>
              </a:spcBef>
            </a:pPr>
            <a:r>
              <a:rPr spc="110" dirty="0"/>
              <a:t>Program </a:t>
            </a:r>
            <a:r>
              <a:rPr spc="70" dirty="0"/>
              <a:t>Flow </a:t>
            </a:r>
            <a:r>
              <a:rPr spc="175" dirty="0"/>
              <a:t>Statements</a:t>
            </a:r>
            <a:r>
              <a:rPr spc="-745" dirty="0"/>
              <a:t> </a:t>
            </a:r>
            <a:r>
              <a:rPr spc="-245" dirty="0"/>
              <a:t>1-2</a:t>
            </a:r>
          </a:p>
        </p:txBody>
      </p:sp>
      <p:sp>
        <p:nvSpPr>
          <p:cNvPr id="3" name="object 3"/>
          <p:cNvSpPr txBox="1"/>
          <p:nvPr/>
        </p:nvSpPr>
        <p:spPr>
          <a:xfrm>
            <a:off x="664463" y="2241804"/>
            <a:ext cx="5339715" cy="2062480"/>
          </a:xfrm>
          <a:prstGeom prst="rect">
            <a:avLst/>
          </a:prstGeom>
          <a:solidFill>
            <a:srgbClr val="4F81BC"/>
          </a:solidFill>
        </p:spPr>
        <p:txBody>
          <a:bodyPr vert="horz" wrap="square" lIns="0" tIns="302260" rIns="0" bIns="0" rtlCol="0">
            <a:spAutoFit/>
          </a:bodyPr>
          <a:lstStyle/>
          <a:p>
            <a:pPr marL="419100" marR="93345" indent="-343535">
              <a:lnSpc>
                <a:spcPct val="90000"/>
              </a:lnSpc>
              <a:spcBef>
                <a:spcPts val="2380"/>
              </a:spcBef>
              <a:buFont typeface="Arial"/>
              <a:buChar char="•"/>
              <a:tabLst>
                <a:tab pos="419100" algn="l"/>
                <a:tab pos="419734" algn="l"/>
              </a:tabLst>
            </a:pPr>
            <a:r>
              <a:rPr sz="2000" spc="75" dirty="0">
                <a:solidFill>
                  <a:srgbClr val="FFFFFF"/>
                </a:solidFill>
                <a:latin typeface="Times New Roman"/>
                <a:cs typeface="Times New Roman"/>
              </a:rPr>
              <a:t>Control-of-flow </a:t>
            </a:r>
            <a:r>
              <a:rPr sz="2000" spc="50" dirty="0">
                <a:solidFill>
                  <a:srgbClr val="FFFFFF"/>
                </a:solidFill>
                <a:latin typeface="Times New Roman"/>
                <a:cs typeface="Times New Roman"/>
              </a:rPr>
              <a:t>language </a:t>
            </a:r>
            <a:r>
              <a:rPr sz="2000" spc="75" dirty="0">
                <a:solidFill>
                  <a:srgbClr val="FFFFFF"/>
                </a:solidFill>
                <a:latin typeface="Times New Roman"/>
                <a:cs typeface="Times New Roman"/>
              </a:rPr>
              <a:t>determines </a:t>
            </a:r>
            <a:r>
              <a:rPr sz="2000" spc="110" dirty="0">
                <a:solidFill>
                  <a:srgbClr val="FFFFFF"/>
                </a:solidFill>
                <a:latin typeface="Times New Roman"/>
                <a:cs typeface="Times New Roman"/>
              </a:rPr>
              <a:t>the  </a:t>
            </a:r>
            <a:r>
              <a:rPr sz="2000" spc="80" dirty="0">
                <a:solidFill>
                  <a:srgbClr val="FFFFFF"/>
                </a:solidFill>
                <a:latin typeface="Times New Roman"/>
                <a:cs typeface="Times New Roman"/>
              </a:rPr>
              <a:t>execution</a:t>
            </a:r>
            <a:r>
              <a:rPr sz="2000" spc="-55" dirty="0">
                <a:solidFill>
                  <a:srgbClr val="FFFFFF"/>
                </a:solidFill>
                <a:latin typeface="Times New Roman"/>
                <a:cs typeface="Times New Roman"/>
              </a:rPr>
              <a:t> </a:t>
            </a:r>
            <a:r>
              <a:rPr sz="2000" spc="40" dirty="0">
                <a:solidFill>
                  <a:srgbClr val="FFFFFF"/>
                </a:solidFill>
                <a:latin typeface="Times New Roman"/>
                <a:cs typeface="Times New Roman"/>
              </a:rPr>
              <a:t>flow</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Transact-SQL</a:t>
            </a:r>
            <a:r>
              <a:rPr sz="2000" spc="-85" dirty="0">
                <a:solidFill>
                  <a:srgbClr val="FFFFFF"/>
                </a:solidFill>
                <a:latin typeface="Times New Roman"/>
                <a:cs typeface="Times New Roman"/>
              </a:rPr>
              <a:t> </a:t>
            </a:r>
            <a:r>
              <a:rPr sz="2000" spc="70" dirty="0">
                <a:solidFill>
                  <a:srgbClr val="FFFFFF"/>
                </a:solidFill>
                <a:latin typeface="Times New Roman"/>
                <a:cs typeface="Times New Roman"/>
              </a:rPr>
              <a:t>statements,  </a:t>
            </a:r>
            <a:r>
              <a:rPr sz="2000" spc="85" dirty="0">
                <a:solidFill>
                  <a:srgbClr val="FFFFFF"/>
                </a:solidFill>
                <a:latin typeface="Times New Roman"/>
                <a:cs typeface="Times New Roman"/>
              </a:rPr>
              <a:t>statement </a:t>
            </a:r>
            <a:r>
              <a:rPr sz="2000" spc="40" dirty="0">
                <a:solidFill>
                  <a:srgbClr val="FFFFFF"/>
                </a:solidFill>
                <a:latin typeface="Times New Roman"/>
                <a:cs typeface="Times New Roman"/>
              </a:rPr>
              <a:t>blocks, </a:t>
            </a:r>
            <a:r>
              <a:rPr sz="2000" spc="70" dirty="0">
                <a:solidFill>
                  <a:srgbClr val="FFFFFF"/>
                </a:solidFill>
                <a:latin typeface="Times New Roman"/>
                <a:cs typeface="Times New Roman"/>
              </a:rPr>
              <a:t>user-defined </a:t>
            </a:r>
            <a:r>
              <a:rPr sz="2000" spc="75" dirty="0">
                <a:solidFill>
                  <a:srgbClr val="FFFFFF"/>
                </a:solidFill>
                <a:latin typeface="Times New Roman"/>
                <a:cs typeface="Times New Roman"/>
              </a:rPr>
              <a:t>functions,  </a:t>
            </a:r>
            <a:r>
              <a:rPr sz="2000" spc="110" dirty="0">
                <a:solidFill>
                  <a:srgbClr val="FFFFFF"/>
                </a:solidFill>
                <a:latin typeface="Times New Roman"/>
                <a:cs typeface="Times New Roman"/>
              </a:rPr>
              <a:t>and </a:t>
            </a:r>
            <a:r>
              <a:rPr sz="2000" spc="80" dirty="0">
                <a:solidFill>
                  <a:srgbClr val="FFFFFF"/>
                </a:solidFill>
                <a:latin typeface="Times New Roman"/>
                <a:cs typeface="Times New Roman"/>
              </a:rPr>
              <a:t>stored</a:t>
            </a:r>
            <a:r>
              <a:rPr sz="2000" spc="-245" dirty="0">
                <a:solidFill>
                  <a:srgbClr val="FFFFFF"/>
                </a:solidFill>
                <a:latin typeface="Times New Roman"/>
                <a:cs typeface="Times New Roman"/>
              </a:rPr>
              <a:t> </a:t>
            </a:r>
            <a:r>
              <a:rPr sz="2000" spc="65" dirty="0">
                <a:solidFill>
                  <a:srgbClr val="FFFFFF"/>
                </a:solidFill>
                <a:latin typeface="Times New Roman"/>
                <a:cs typeface="Times New Roman"/>
              </a:rPr>
              <a:t>procedures.</a:t>
            </a:r>
            <a:endParaRPr sz="2000">
              <a:latin typeface="Times New Roman"/>
              <a:cs typeface="Times New Roman"/>
            </a:endParaRPr>
          </a:p>
        </p:txBody>
      </p:sp>
      <p:sp>
        <p:nvSpPr>
          <p:cNvPr id="4" name="object 4"/>
          <p:cNvSpPr txBox="1"/>
          <p:nvPr/>
        </p:nvSpPr>
        <p:spPr>
          <a:xfrm>
            <a:off x="383540" y="945641"/>
            <a:ext cx="8361680" cy="1187450"/>
          </a:xfrm>
          <a:prstGeom prst="rect">
            <a:avLst/>
          </a:prstGeom>
        </p:spPr>
        <p:txBody>
          <a:bodyPr vert="horz" wrap="square" lIns="0" tIns="12065" rIns="0" bIns="0" rtlCol="0">
            <a:spAutoFit/>
          </a:bodyPr>
          <a:lstStyle/>
          <a:p>
            <a:pPr marL="12700" marR="5080">
              <a:lnSpc>
                <a:spcPct val="100000"/>
              </a:lnSpc>
              <a:spcBef>
                <a:spcPts val="95"/>
              </a:spcBef>
            </a:pPr>
            <a:r>
              <a:rPr sz="2000" spc="75" dirty="0">
                <a:latin typeface="Times New Roman"/>
                <a:cs typeface="Times New Roman"/>
              </a:rPr>
              <a:t>Different </a:t>
            </a:r>
            <a:r>
              <a:rPr sz="2000" spc="55" dirty="0">
                <a:latin typeface="Times New Roman"/>
                <a:cs typeface="Times New Roman"/>
              </a:rPr>
              <a:t>types of </a:t>
            </a:r>
            <a:r>
              <a:rPr sz="2000" spc="65" dirty="0">
                <a:latin typeface="Times New Roman"/>
                <a:cs typeface="Times New Roman"/>
              </a:rPr>
              <a:t>program </a:t>
            </a:r>
            <a:r>
              <a:rPr sz="2000" spc="40" dirty="0">
                <a:latin typeface="Times New Roman"/>
                <a:cs typeface="Times New Roman"/>
              </a:rPr>
              <a:t>flow </a:t>
            </a:r>
            <a:r>
              <a:rPr sz="2000" spc="80" dirty="0">
                <a:latin typeface="Times New Roman"/>
                <a:cs typeface="Times New Roman"/>
              </a:rPr>
              <a:t>statements </a:t>
            </a:r>
            <a:r>
              <a:rPr sz="2000" spc="110" dirty="0">
                <a:latin typeface="Times New Roman"/>
                <a:cs typeface="Times New Roman"/>
              </a:rPr>
              <a:t>and </a:t>
            </a:r>
            <a:r>
              <a:rPr sz="2000" spc="85" dirty="0">
                <a:latin typeface="Times New Roman"/>
                <a:cs typeface="Times New Roman"/>
              </a:rPr>
              <a:t>functions </a:t>
            </a:r>
            <a:r>
              <a:rPr sz="2000" spc="95" dirty="0">
                <a:latin typeface="Times New Roman"/>
                <a:cs typeface="Times New Roman"/>
              </a:rPr>
              <a:t>supported </a:t>
            </a:r>
            <a:r>
              <a:rPr sz="2000" spc="35" dirty="0">
                <a:latin typeface="Times New Roman"/>
                <a:cs typeface="Times New Roman"/>
              </a:rPr>
              <a:t>by </a:t>
            </a:r>
            <a:r>
              <a:rPr sz="2000" spc="570" dirty="0">
                <a:latin typeface="Times New Roman"/>
                <a:cs typeface="Times New Roman"/>
              </a:rPr>
              <a:t> </a:t>
            </a:r>
            <a:r>
              <a:rPr sz="2000" spc="80" dirty="0">
                <a:latin typeface="Times New Roman"/>
                <a:cs typeface="Times New Roman"/>
              </a:rPr>
              <a:t>Transact-SQL </a:t>
            </a:r>
            <a:r>
              <a:rPr sz="2000" spc="50" dirty="0">
                <a:latin typeface="Times New Roman"/>
                <a:cs typeface="Times New Roman"/>
              </a:rPr>
              <a:t>are </a:t>
            </a:r>
            <a:r>
              <a:rPr sz="2000" spc="20" dirty="0">
                <a:latin typeface="Times New Roman"/>
                <a:cs typeface="Times New Roman"/>
              </a:rPr>
              <a:t>as</a:t>
            </a:r>
            <a:r>
              <a:rPr sz="2000" spc="-360" dirty="0">
                <a:latin typeface="Times New Roman"/>
                <a:cs typeface="Times New Roman"/>
              </a:rPr>
              <a:t> </a:t>
            </a:r>
            <a:r>
              <a:rPr sz="2000" spc="25" dirty="0">
                <a:latin typeface="Times New Roman"/>
                <a:cs typeface="Times New Roman"/>
              </a:rPr>
              <a:t>follows:</a:t>
            </a:r>
            <a:endParaRPr sz="2000">
              <a:latin typeface="Times New Roman"/>
              <a:cs typeface="Times New Roman"/>
            </a:endParaRPr>
          </a:p>
          <a:p>
            <a:pPr marL="372110" indent="-342900">
              <a:lnSpc>
                <a:spcPct val="100000"/>
              </a:lnSpc>
              <a:spcBef>
                <a:spcPts val="1470"/>
              </a:spcBef>
              <a:buFont typeface="Wingdings"/>
              <a:buChar char=""/>
              <a:tabLst>
                <a:tab pos="372110" algn="l"/>
              </a:tabLst>
            </a:pPr>
            <a:r>
              <a:rPr sz="2400" b="1" spc="-100" dirty="0">
                <a:latin typeface="Arial"/>
                <a:cs typeface="Arial"/>
              </a:rPr>
              <a:t>Transact-SQL </a:t>
            </a:r>
            <a:r>
              <a:rPr sz="2400" b="1" spc="-60" dirty="0">
                <a:latin typeface="Arial"/>
                <a:cs typeface="Arial"/>
              </a:rPr>
              <a:t>Control-of-Flow</a:t>
            </a:r>
            <a:r>
              <a:rPr sz="2400" b="1" spc="-335" dirty="0">
                <a:latin typeface="Arial"/>
                <a:cs typeface="Arial"/>
              </a:rPr>
              <a:t> </a:t>
            </a:r>
            <a:r>
              <a:rPr sz="2400" b="1" spc="-190" dirty="0">
                <a:latin typeface="Arial"/>
                <a:cs typeface="Arial"/>
              </a:rPr>
              <a:t>language</a:t>
            </a:r>
            <a:endParaRPr sz="2400">
              <a:latin typeface="Arial"/>
              <a:cs typeface="Arial"/>
            </a:endParaRPr>
          </a:p>
        </p:txBody>
      </p:sp>
      <p:pic>
        <p:nvPicPr>
          <p:cNvPr id="5" name="object 5"/>
          <p:cNvPicPr/>
          <p:nvPr/>
        </p:nvPicPr>
        <p:blipFill>
          <a:blip r:embed="rId3" cstate="print"/>
          <a:stretch>
            <a:fillRect/>
          </a:stretch>
        </p:blipFill>
        <p:spPr>
          <a:xfrm>
            <a:off x="6236970" y="2683764"/>
            <a:ext cx="2782824" cy="2357627"/>
          </a:xfrm>
          <a:prstGeom prst="rect">
            <a:avLst/>
          </a:prstGeom>
        </p:spPr>
      </p:pic>
      <p:sp>
        <p:nvSpPr>
          <p:cNvPr id="6" name="object 6"/>
          <p:cNvSpPr txBox="1"/>
          <p:nvPr/>
        </p:nvSpPr>
        <p:spPr>
          <a:xfrm>
            <a:off x="7196581" y="5052314"/>
            <a:ext cx="78232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Arial"/>
                <a:cs typeface="Arial"/>
              </a:rPr>
              <a:t>K</a:t>
            </a:r>
            <a:r>
              <a:rPr sz="1400" b="1" spc="-105" dirty="0">
                <a:latin typeface="Arial"/>
                <a:cs typeface="Arial"/>
              </a:rPr>
              <a:t>e</a:t>
            </a:r>
            <a:r>
              <a:rPr sz="1400" b="1" spc="-114" dirty="0">
                <a:latin typeface="Arial"/>
                <a:cs typeface="Arial"/>
              </a:rPr>
              <a:t>y</a:t>
            </a:r>
            <a:r>
              <a:rPr sz="1400" b="1" spc="-65" dirty="0">
                <a:latin typeface="Arial"/>
                <a:cs typeface="Arial"/>
              </a:rPr>
              <a:t>w</a:t>
            </a:r>
            <a:r>
              <a:rPr sz="1400" b="1" spc="-114" dirty="0">
                <a:latin typeface="Arial"/>
                <a:cs typeface="Arial"/>
              </a:rPr>
              <a:t>o</a:t>
            </a:r>
            <a:r>
              <a:rPr sz="1400" b="1" spc="-35" dirty="0">
                <a:latin typeface="Arial"/>
                <a:cs typeface="Arial"/>
              </a:rPr>
              <a:t>r</a:t>
            </a:r>
            <a:r>
              <a:rPr sz="1400" b="1" spc="-90" dirty="0">
                <a:latin typeface="Arial"/>
                <a:cs typeface="Arial"/>
              </a:rPr>
              <a:t>d</a:t>
            </a:r>
            <a:r>
              <a:rPr sz="1400" b="1" spc="-229" dirty="0">
                <a:latin typeface="Arial"/>
                <a:cs typeface="Arial"/>
              </a:rPr>
              <a:t>s</a:t>
            </a:r>
            <a:endParaRPr sz="1400">
              <a:latin typeface="Arial"/>
              <a:cs typeface="Arial"/>
            </a:endParaRPr>
          </a:p>
        </p:txBody>
      </p:sp>
      <p:sp>
        <p:nvSpPr>
          <p:cNvPr id="8" name="object 8"/>
          <p:cNvSpPr txBox="1">
            <a:spLocks noGrp="1"/>
          </p:cNvSpPr>
          <p:nvPr>
            <p:ph type="sldNum" sz="quarter" idx="7"/>
          </p:nvPr>
        </p:nvSpPr>
        <p:spPr>
          <a:xfrm>
            <a:off x="7872983" y="6581139"/>
            <a:ext cx="1146811" cy="203261"/>
          </a:xfrm>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17</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6" y="0"/>
            <a:ext cx="6979413" cy="635635"/>
          </a:xfrm>
          <a:prstGeom prst="rect">
            <a:avLst/>
          </a:prstGeom>
        </p:spPr>
        <p:txBody>
          <a:bodyPr vert="horz" wrap="square" lIns="0" tIns="12700" rIns="0" bIns="0" rtlCol="0">
            <a:spAutoFit/>
          </a:bodyPr>
          <a:lstStyle/>
          <a:p>
            <a:pPr marL="12700">
              <a:lnSpc>
                <a:spcPct val="100000"/>
              </a:lnSpc>
              <a:spcBef>
                <a:spcPts val="100"/>
              </a:spcBef>
            </a:pPr>
            <a:r>
              <a:rPr spc="110" dirty="0"/>
              <a:t>Program </a:t>
            </a:r>
            <a:r>
              <a:rPr spc="70" dirty="0"/>
              <a:t>Flow </a:t>
            </a:r>
            <a:r>
              <a:rPr spc="175" dirty="0"/>
              <a:t>Statements</a:t>
            </a:r>
            <a:r>
              <a:rPr spc="-745" dirty="0"/>
              <a:t> </a:t>
            </a:r>
            <a:r>
              <a:rPr spc="-75" dirty="0"/>
              <a:t>2-2</a:t>
            </a:r>
          </a:p>
        </p:txBody>
      </p:sp>
      <p:sp>
        <p:nvSpPr>
          <p:cNvPr id="3" name="object 3"/>
          <p:cNvSpPr/>
          <p:nvPr/>
        </p:nvSpPr>
        <p:spPr>
          <a:xfrm>
            <a:off x="381762" y="1371599"/>
            <a:ext cx="8479155" cy="1062355"/>
          </a:xfrm>
          <a:custGeom>
            <a:avLst/>
            <a:gdLst/>
            <a:ahLst/>
            <a:cxnLst/>
            <a:rect l="l" t="t" r="r" b="b"/>
            <a:pathLst>
              <a:path w="8479155" h="1062355">
                <a:moveTo>
                  <a:pt x="8478774" y="177038"/>
                </a:moveTo>
                <a:lnTo>
                  <a:pt x="8472449" y="129971"/>
                </a:lnTo>
                <a:lnTo>
                  <a:pt x="8454606" y="87680"/>
                </a:lnTo>
                <a:lnTo>
                  <a:pt x="8426920" y="51854"/>
                </a:lnTo>
                <a:lnTo>
                  <a:pt x="8391093" y="24168"/>
                </a:lnTo>
                <a:lnTo>
                  <a:pt x="8348802" y="6324"/>
                </a:lnTo>
                <a:lnTo>
                  <a:pt x="8301736" y="0"/>
                </a:lnTo>
                <a:lnTo>
                  <a:pt x="177038" y="0"/>
                </a:lnTo>
                <a:lnTo>
                  <a:pt x="129971" y="6324"/>
                </a:lnTo>
                <a:lnTo>
                  <a:pt x="87680" y="24168"/>
                </a:lnTo>
                <a:lnTo>
                  <a:pt x="51841" y="51854"/>
                </a:lnTo>
                <a:lnTo>
                  <a:pt x="24168" y="87680"/>
                </a:lnTo>
                <a:lnTo>
                  <a:pt x="6311" y="129971"/>
                </a:lnTo>
                <a:lnTo>
                  <a:pt x="0" y="177038"/>
                </a:lnTo>
                <a:lnTo>
                  <a:pt x="0" y="885190"/>
                </a:lnTo>
                <a:lnTo>
                  <a:pt x="6311" y="932268"/>
                </a:lnTo>
                <a:lnTo>
                  <a:pt x="24168" y="974559"/>
                </a:lnTo>
                <a:lnTo>
                  <a:pt x="51841" y="1010386"/>
                </a:lnTo>
                <a:lnTo>
                  <a:pt x="87680" y="1038072"/>
                </a:lnTo>
                <a:lnTo>
                  <a:pt x="129971" y="1055916"/>
                </a:lnTo>
                <a:lnTo>
                  <a:pt x="177038" y="1062228"/>
                </a:lnTo>
                <a:lnTo>
                  <a:pt x="8301736" y="1062228"/>
                </a:lnTo>
                <a:lnTo>
                  <a:pt x="8348802" y="1055916"/>
                </a:lnTo>
                <a:lnTo>
                  <a:pt x="8391093" y="1038072"/>
                </a:lnTo>
                <a:lnTo>
                  <a:pt x="8426920" y="1010386"/>
                </a:lnTo>
                <a:lnTo>
                  <a:pt x="8454606" y="974559"/>
                </a:lnTo>
                <a:lnTo>
                  <a:pt x="8472449" y="932268"/>
                </a:lnTo>
                <a:lnTo>
                  <a:pt x="8478774" y="885190"/>
                </a:lnTo>
                <a:lnTo>
                  <a:pt x="8478774" y="177038"/>
                </a:lnTo>
                <a:close/>
              </a:path>
            </a:pathLst>
          </a:custGeom>
          <a:solidFill>
            <a:srgbClr val="8063A1"/>
          </a:solidFill>
        </p:spPr>
        <p:txBody>
          <a:bodyPr wrap="square" lIns="0" tIns="0" rIns="0" bIns="0" rtlCol="0"/>
          <a:lstStyle/>
          <a:p>
            <a:endParaRPr/>
          </a:p>
        </p:txBody>
      </p:sp>
      <p:sp>
        <p:nvSpPr>
          <p:cNvPr id="4" name="object 4"/>
          <p:cNvSpPr/>
          <p:nvPr/>
        </p:nvSpPr>
        <p:spPr>
          <a:xfrm>
            <a:off x="332993" y="3283458"/>
            <a:ext cx="8478520" cy="1061720"/>
          </a:xfrm>
          <a:custGeom>
            <a:avLst/>
            <a:gdLst/>
            <a:ahLst/>
            <a:cxnLst/>
            <a:rect l="l" t="t" r="r" b="b"/>
            <a:pathLst>
              <a:path w="8478520" h="1061720">
                <a:moveTo>
                  <a:pt x="8301101" y="0"/>
                </a:moveTo>
                <a:lnTo>
                  <a:pt x="176911" y="0"/>
                </a:lnTo>
                <a:lnTo>
                  <a:pt x="129882" y="6322"/>
                </a:lnTo>
                <a:lnTo>
                  <a:pt x="87622" y="24162"/>
                </a:lnTo>
                <a:lnTo>
                  <a:pt x="51817" y="51831"/>
                </a:lnTo>
                <a:lnTo>
                  <a:pt x="24154" y="87639"/>
                </a:lnTo>
                <a:lnTo>
                  <a:pt x="6319" y="129895"/>
                </a:lnTo>
                <a:lnTo>
                  <a:pt x="0" y="176911"/>
                </a:lnTo>
                <a:lnTo>
                  <a:pt x="0" y="884555"/>
                </a:lnTo>
                <a:lnTo>
                  <a:pt x="6319" y="931570"/>
                </a:lnTo>
                <a:lnTo>
                  <a:pt x="24154" y="973826"/>
                </a:lnTo>
                <a:lnTo>
                  <a:pt x="51817" y="1009634"/>
                </a:lnTo>
                <a:lnTo>
                  <a:pt x="87622" y="1037303"/>
                </a:lnTo>
                <a:lnTo>
                  <a:pt x="129882" y="1055143"/>
                </a:lnTo>
                <a:lnTo>
                  <a:pt x="176911" y="1061466"/>
                </a:lnTo>
                <a:lnTo>
                  <a:pt x="8301101" y="1061466"/>
                </a:lnTo>
                <a:lnTo>
                  <a:pt x="8348116" y="1055143"/>
                </a:lnTo>
                <a:lnTo>
                  <a:pt x="8390372" y="1037303"/>
                </a:lnTo>
                <a:lnTo>
                  <a:pt x="8426180" y="1009634"/>
                </a:lnTo>
                <a:lnTo>
                  <a:pt x="8453849" y="973826"/>
                </a:lnTo>
                <a:lnTo>
                  <a:pt x="8471689" y="931570"/>
                </a:lnTo>
                <a:lnTo>
                  <a:pt x="8478012" y="884555"/>
                </a:lnTo>
                <a:lnTo>
                  <a:pt x="8478012" y="176911"/>
                </a:lnTo>
                <a:lnTo>
                  <a:pt x="8471689" y="129895"/>
                </a:lnTo>
                <a:lnTo>
                  <a:pt x="8453849" y="87639"/>
                </a:lnTo>
                <a:lnTo>
                  <a:pt x="8426180" y="51831"/>
                </a:lnTo>
                <a:lnTo>
                  <a:pt x="8390372" y="24162"/>
                </a:lnTo>
                <a:lnTo>
                  <a:pt x="8348116" y="6322"/>
                </a:lnTo>
                <a:lnTo>
                  <a:pt x="8301101" y="0"/>
                </a:lnTo>
                <a:close/>
              </a:path>
            </a:pathLst>
          </a:custGeom>
          <a:solidFill>
            <a:srgbClr val="4F6128"/>
          </a:solidFill>
        </p:spPr>
        <p:txBody>
          <a:bodyPr wrap="square" lIns="0" tIns="0" rIns="0" bIns="0" rtlCol="0"/>
          <a:lstStyle/>
          <a:p>
            <a:endParaRPr/>
          </a:p>
        </p:txBody>
      </p:sp>
      <p:sp>
        <p:nvSpPr>
          <p:cNvPr id="5" name="object 5"/>
          <p:cNvSpPr/>
          <p:nvPr/>
        </p:nvSpPr>
        <p:spPr>
          <a:xfrm>
            <a:off x="390144" y="5194553"/>
            <a:ext cx="8479155" cy="1062355"/>
          </a:xfrm>
          <a:custGeom>
            <a:avLst/>
            <a:gdLst/>
            <a:ahLst/>
            <a:cxnLst/>
            <a:rect l="l" t="t" r="r" b="b"/>
            <a:pathLst>
              <a:path w="8479155" h="1062354">
                <a:moveTo>
                  <a:pt x="8478774" y="177038"/>
                </a:moveTo>
                <a:lnTo>
                  <a:pt x="8472449" y="129971"/>
                </a:lnTo>
                <a:lnTo>
                  <a:pt x="8454606" y="87680"/>
                </a:lnTo>
                <a:lnTo>
                  <a:pt x="8426920" y="51854"/>
                </a:lnTo>
                <a:lnTo>
                  <a:pt x="8391093" y="24168"/>
                </a:lnTo>
                <a:lnTo>
                  <a:pt x="8348802" y="6324"/>
                </a:lnTo>
                <a:lnTo>
                  <a:pt x="8301736" y="0"/>
                </a:lnTo>
                <a:lnTo>
                  <a:pt x="177038" y="0"/>
                </a:lnTo>
                <a:lnTo>
                  <a:pt x="129971" y="6324"/>
                </a:lnTo>
                <a:lnTo>
                  <a:pt x="87680" y="24168"/>
                </a:lnTo>
                <a:lnTo>
                  <a:pt x="51841" y="51854"/>
                </a:lnTo>
                <a:lnTo>
                  <a:pt x="24168" y="87680"/>
                </a:lnTo>
                <a:lnTo>
                  <a:pt x="6311" y="129971"/>
                </a:lnTo>
                <a:lnTo>
                  <a:pt x="0" y="177038"/>
                </a:lnTo>
                <a:lnTo>
                  <a:pt x="0" y="885190"/>
                </a:lnTo>
                <a:lnTo>
                  <a:pt x="6311" y="932256"/>
                </a:lnTo>
                <a:lnTo>
                  <a:pt x="24168" y="974547"/>
                </a:lnTo>
                <a:lnTo>
                  <a:pt x="51841" y="1010386"/>
                </a:lnTo>
                <a:lnTo>
                  <a:pt x="87680" y="1038059"/>
                </a:lnTo>
                <a:lnTo>
                  <a:pt x="129971" y="1055916"/>
                </a:lnTo>
                <a:lnTo>
                  <a:pt x="177038" y="1062228"/>
                </a:lnTo>
                <a:lnTo>
                  <a:pt x="8301736" y="1062228"/>
                </a:lnTo>
                <a:lnTo>
                  <a:pt x="8348802" y="1055916"/>
                </a:lnTo>
                <a:lnTo>
                  <a:pt x="8391093" y="1038059"/>
                </a:lnTo>
                <a:lnTo>
                  <a:pt x="8426920" y="1010386"/>
                </a:lnTo>
                <a:lnTo>
                  <a:pt x="8454606" y="974547"/>
                </a:lnTo>
                <a:lnTo>
                  <a:pt x="8472449" y="932256"/>
                </a:lnTo>
                <a:lnTo>
                  <a:pt x="8478774" y="885190"/>
                </a:lnTo>
                <a:lnTo>
                  <a:pt x="8478774" y="177038"/>
                </a:lnTo>
                <a:close/>
              </a:path>
            </a:pathLst>
          </a:custGeom>
          <a:solidFill>
            <a:srgbClr val="E36C09"/>
          </a:solidFill>
        </p:spPr>
        <p:txBody>
          <a:bodyPr wrap="square" lIns="0" tIns="0" rIns="0" bIns="0" rtlCol="0"/>
          <a:lstStyle/>
          <a:p>
            <a:endParaRPr/>
          </a:p>
        </p:txBody>
      </p:sp>
      <p:sp>
        <p:nvSpPr>
          <p:cNvPr id="6" name="object 6"/>
          <p:cNvSpPr txBox="1"/>
          <p:nvPr/>
        </p:nvSpPr>
        <p:spPr>
          <a:xfrm>
            <a:off x="362204" y="883158"/>
            <a:ext cx="8378190" cy="5190139"/>
          </a:xfrm>
          <a:prstGeom prst="rect">
            <a:avLst/>
          </a:prstGeom>
        </p:spPr>
        <p:txBody>
          <a:bodyPr vert="horz" wrap="square" lIns="0" tIns="12700" rIns="0" bIns="0" rtlCol="0">
            <a:spAutoFit/>
          </a:bodyPr>
          <a:lstStyle/>
          <a:p>
            <a:pPr marL="355600" indent="-343535">
              <a:lnSpc>
                <a:spcPct val="100000"/>
              </a:lnSpc>
              <a:spcBef>
                <a:spcPts val="100"/>
              </a:spcBef>
              <a:buFont typeface="Wingdings"/>
              <a:buChar char=""/>
              <a:tabLst>
                <a:tab pos="356235" algn="l"/>
              </a:tabLst>
            </a:pPr>
            <a:r>
              <a:rPr sz="2400" b="1" spc="-65" dirty="0">
                <a:latin typeface="Arial"/>
                <a:cs typeface="Arial"/>
              </a:rPr>
              <a:t>BEGIN….END</a:t>
            </a:r>
            <a:endParaRPr sz="2400">
              <a:latin typeface="Arial"/>
              <a:cs typeface="Arial"/>
            </a:endParaRPr>
          </a:p>
          <a:p>
            <a:pPr marL="519430" marR="14604" lvl="1" indent="-342900">
              <a:lnSpc>
                <a:spcPts val="2160"/>
              </a:lnSpc>
              <a:spcBef>
                <a:spcPts val="2580"/>
              </a:spcBef>
              <a:buFont typeface="Arial"/>
              <a:buChar char="•"/>
              <a:tabLst>
                <a:tab pos="519430" algn="l"/>
                <a:tab pos="520065" algn="l"/>
              </a:tabLst>
            </a:pPr>
            <a:r>
              <a:rPr sz="2000" spc="130" dirty="0">
                <a:solidFill>
                  <a:srgbClr val="FFFFFF"/>
                </a:solidFill>
                <a:latin typeface="Times New Roman"/>
                <a:cs typeface="Times New Roman"/>
              </a:rPr>
              <a:t>The</a:t>
            </a:r>
            <a:r>
              <a:rPr sz="2000" spc="-45" dirty="0">
                <a:solidFill>
                  <a:srgbClr val="FFFFFF"/>
                </a:solidFill>
                <a:latin typeface="Times New Roman"/>
                <a:cs typeface="Times New Roman"/>
              </a:rPr>
              <a:t> </a:t>
            </a:r>
            <a:r>
              <a:rPr sz="2000" dirty="0">
                <a:solidFill>
                  <a:srgbClr val="FFFFFF"/>
                </a:solidFill>
                <a:latin typeface="Times New Roman"/>
                <a:cs typeface="Times New Roman"/>
              </a:rPr>
              <a:t>BEGIN…END</a:t>
            </a:r>
            <a:r>
              <a:rPr sz="2000" spc="-25" dirty="0">
                <a:solidFill>
                  <a:srgbClr val="FFFFFF"/>
                </a:solidFill>
                <a:latin typeface="Times New Roman"/>
                <a:cs typeface="Times New Roman"/>
              </a:rPr>
              <a:t> </a:t>
            </a:r>
            <a:r>
              <a:rPr sz="2000" spc="75" dirty="0">
                <a:solidFill>
                  <a:srgbClr val="FFFFFF"/>
                </a:solidFill>
                <a:latin typeface="Times New Roman"/>
                <a:cs typeface="Times New Roman"/>
              </a:rPr>
              <a:t>statements</a:t>
            </a:r>
            <a:r>
              <a:rPr sz="2000" spc="-25" dirty="0">
                <a:solidFill>
                  <a:srgbClr val="FFFFFF"/>
                </a:solidFill>
                <a:latin typeface="Times New Roman"/>
                <a:cs typeface="Times New Roman"/>
              </a:rPr>
              <a:t> </a:t>
            </a:r>
            <a:r>
              <a:rPr sz="2000" spc="90" dirty="0">
                <a:solidFill>
                  <a:srgbClr val="FFFFFF"/>
                </a:solidFill>
                <a:latin typeface="Times New Roman"/>
                <a:cs typeface="Times New Roman"/>
              </a:rPr>
              <a:t>with</a:t>
            </a:r>
            <a:r>
              <a:rPr sz="2000" spc="-40"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35" dirty="0">
                <a:solidFill>
                  <a:srgbClr val="FFFFFF"/>
                </a:solidFill>
                <a:latin typeface="Times New Roman"/>
                <a:cs typeface="Times New Roman"/>
              </a:rPr>
              <a:t> </a:t>
            </a:r>
            <a:r>
              <a:rPr sz="2000" spc="30" dirty="0">
                <a:solidFill>
                  <a:srgbClr val="FFFFFF"/>
                </a:solidFill>
                <a:latin typeface="Times New Roman"/>
                <a:cs typeface="Times New Roman"/>
              </a:rPr>
              <a:t>series</a:t>
            </a:r>
            <a:r>
              <a:rPr sz="2000" spc="-30"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35" dirty="0">
                <a:solidFill>
                  <a:srgbClr val="FFFFFF"/>
                </a:solidFill>
                <a:latin typeface="Times New Roman"/>
                <a:cs typeface="Times New Roman"/>
              </a:rPr>
              <a:t> </a:t>
            </a:r>
            <a:r>
              <a:rPr sz="2000" spc="80" dirty="0">
                <a:solidFill>
                  <a:srgbClr val="FFFFFF"/>
                </a:solidFill>
                <a:latin typeface="Times New Roman"/>
                <a:cs typeface="Times New Roman"/>
              </a:rPr>
              <a:t>Transact-SQL</a:t>
            </a:r>
            <a:r>
              <a:rPr sz="2000" spc="-35" dirty="0">
                <a:solidFill>
                  <a:srgbClr val="FFFFFF"/>
                </a:solidFill>
                <a:latin typeface="Times New Roman"/>
                <a:cs typeface="Times New Roman"/>
              </a:rPr>
              <a:t> </a:t>
            </a:r>
            <a:r>
              <a:rPr sz="2000" spc="80" dirty="0">
                <a:solidFill>
                  <a:srgbClr val="FFFFFF"/>
                </a:solidFill>
                <a:latin typeface="Times New Roman"/>
                <a:cs typeface="Times New Roman"/>
              </a:rPr>
              <a:t>statements  </a:t>
            </a:r>
            <a:r>
              <a:rPr sz="2000" spc="45" dirty="0">
                <a:solidFill>
                  <a:srgbClr val="FFFFFF"/>
                </a:solidFill>
                <a:latin typeface="Times New Roman"/>
                <a:cs typeface="Times New Roman"/>
              </a:rPr>
              <a:t>so</a:t>
            </a:r>
            <a:r>
              <a:rPr sz="2000" spc="-70" dirty="0">
                <a:solidFill>
                  <a:srgbClr val="FFFFFF"/>
                </a:solidFill>
                <a:latin typeface="Times New Roman"/>
                <a:cs typeface="Times New Roman"/>
              </a:rPr>
              <a:t> </a:t>
            </a:r>
            <a:r>
              <a:rPr sz="2000" spc="114" dirty="0">
                <a:solidFill>
                  <a:srgbClr val="FFFFFF"/>
                </a:solidFill>
                <a:latin typeface="Times New Roman"/>
                <a:cs typeface="Times New Roman"/>
              </a:rPr>
              <a:t>that</a:t>
            </a:r>
            <a:r>
              <a:rPr sz="2000" spc="-6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75" dirty="0">
                <a:solidFill>
                  <a:srgbClr val="FFFFFF"/>
                </a:solidFill>
                <a:latin typeface="Times New Roman"/>
                <a:cs typeface="Times New Roman"/>
              </a:rPr>
              <a:t> </a:t>
            </a:r>
            <a:r>
              <a:rPr sz="2000" spc="80" dirty="0">
                <a:solidFill>
                  <a:srgbClr val="FFFFFF"/>
                </a:solidFill>
                <a:latin typeface="Times New Roman"/>
                <a:cs typeface="Times New Roman"/>
              </a:rPr>
              <a:t>group</a:t>
            </a:r>
            <a:r>
              <a:rPr sz="2000" spc="-65" dirty="0">
                <a:solidFill>
                  <a:srgbClr val="FFFFFF"/>
                </a:solidFill>
                <a:latin typeface="Times New Roman"/>
                <a:cs typeface="Times New Roman"/>
              </a:rPr>
              <a:t> </a:t>
            </a:r>
            <a:r>
              <a:rPr sz="2000" spc="55" dirty="0">
                <a:solidFill>
                  <a:srgbClr val="FFFFFF"/>
                </a:solidFill>
                <a:latin typeface="Times New Roman"/>
                <a:cs typeface="Times New Roman"/>
              </a:rPr>
              <a:t>of</a:t>
            </a:r>
            <a:r>
              <a:rPr sz="2000" spc="-70" dirty="0">
                <a:solidFill>
                  <a:srgbClr val="FFFFFF"/>
                </a:solidFill>
                <a:latin typeface="Times New Roman"/>
                <a:cs typeface="Times New Roman"/>
              </a:rPr>
              <a:t> </a:t>
            </a:r>
            <a:r>
              <a:rPr sz="2000" spc="80" dirty="0">
                <a:solidFill>
                  <a:srgbClr val="FFFFFF"/>
                </a:solidFill>
                <a:latin typeface="Times New Roman"/>
                <a:cs typeface="Times New Roman"/>
              </a:rPr>
              <a:t>Transact-SQL</a:t>
            </a:r>
            <a:r>
              <a:rPr sz="2000" spc="-80" dirty="0">
                <a:solidFill>
                  <a:srgbClr val="FFFFFF"/>
                </a:solidFill>
                <a:latin typeface="Times New Roman"/>
                <a:cs typeface="Times New Roman"/>
              </a:rPr>
              <a:t> </a:t>
            </a:r>
            <a:r>
              <a:rPr sz="2000" spc="75" dirty="0">
                <a:solidFill>
                  <a:srgbClr val="FFFFFF"/>
                </a:solidFill>
                <a:latin typeface="Times New Roman"/>
                <a:cs typeface="Times New Roman"/>
              </a:rPr>
              <a:t>statements</a:t>
            </a:r>
            <a:r>
              <a:rPr sz="2000" spc="-50" dirty="0">
                <a:solidFill>
                  <a:srgbClr val="FFFFFF"/>
                </a:solidFill>
                <a:latin typeface="Times New Roman"/>
                <a:cs typeface="Times New Roman"/>
              </a:rPr>
              <a:t> </a:t>
            </a:r>
            <a:r>
              <a:rPr sz="2000" spc="5" dirty="0">
                <a:solidFill>
                  <a:srgbClr val="FFFFFF"/>
                </a:solidFill>
                <a:latin typeface="Times New Roman"/>
                <a:cs typeface="Times New Roman"/>
              </a:rPr>
              <a:t>is</a:t>
            </a:r>
            <a:r>
              <a:rPr sz="2000" spc="-80" dirty="0">
                <a:solidFill>
                  <a:srgbClr val="FFFFFF"/>
                </a:solidFill>
                <a:latin typeface="Times New Roman"/>
                <a:cs typeface="Times New Roman"/>
              </a:rPr>
              <a:t> </a:t>
            </a:r>
            <a:r>
              <a:rPr sz="2000" spc="70" dirty="0">
                <a:solidFill>
                  <a:srgbClr val="FFFFFF"/>
                </a:solidFill>
                <a:latin typeface="Times New Roman"/>
                <a:cs typeface="Times New Roman"/>
              </a:rPr>
              <a:t>executed.</a:t>
            </a:r>
            <a:endParaRPr sz="2000">
              <a:latin typeface="Times New Roman"/>
              <a:cs typeface="Times New Roman"/>
            </a:endParaRPr>
          </a:p>
          <a:p>
            <a:pPr>
              <a:lnSpc>
                <a:spcPct val="100000"/>
              </a:lnSpc>
            </a:pPr>
            <a:endParaRPr sz="2800">
              <a:latin typeface="Times New Roman"/>
              <a:cs typeface="Times New Roman"/>
            </a:endParaRPr>
          </a:p>
          <a:p>
            <a:pPr marL="470534" indent="-343535">
              <a:lnSpc>
                <a:spcPct val="100000"/>
              </a:lnSpc>
              <a:spcBef>
                <a:spcPts val="1825"/>
              </a:spcBef>
              <a:buFont typeface="Wingdings"/>
              <a:buChar char=""/>
              <a:tabLst>
                <a:tab pos="471170" algn="l"/>
              </a:tabLst>
            </a:pPr>
            <a:r>
              <a:rPr sz="2400" b="1" spc="-175" dirty="0">
                <a:latin typeface="Arial"/>
                <a:cs typeface="Arial"/>
              </a:rPr>
              <a:t>IF…ELSE</a:t>
            </a:r>
            <a:endParaRPr sz="2400">
              <a:latin typeface="Arial"/>
              <a:cs typeface="Arial"/>
            </a:endParaRPr>
          </a:p>
          <a:p>
            <a:pPr marL="456565" marR="114300" indent="-342900">
              <a:lnSpc>
                <a:spcPct val="104200"/>
              </a:lnSpc>
              <a:spcBef>
                <a:spcPts val="2375"/>
              </a:spcBef>
              <a:buFont typeface="Arial"/>
              <a:buChar char="•"/>
              <a:tabLst>
                <a:tab pos="456565" algn="l"/>
                <a:tab pos="457200" algn="l"/>
              </a:tabLst>
            </a:pPr>
            <a:r>
              <a:rPr lang="en-US" sz="2000" spc="130">
                <a:solidFill>
                  <a:srgbClr val="FFFFFF"/>
                </a:solidFill>
                <a:latin typeface="Times New Roman"/>
                <a:cs typeface="Times New Roman"/>
              </a:rPr>
              <a:t>IF…ELSE statement enforces a condition on the execution of a Transact-SQL statement</a:t>
            </a:r>
            <a:r>
              <a:rPr lang="en-US" sz="2000" spc="70">
                <a:solidFill>
                  <a:srgbClr val="FFFFFF"/>
                </a:solidFill>
                <a:latin typeface="Times New Roman"/>
                <a:cs typeface="Times New Roman"/>
              </a:rPr>
              <a:t>.</a:t>
            </a:r>
            <a:endParaRPr lang="en-US" sz="2000">
              <a:latin typeface="Times New Roman"/>
              <a:cs typeface="Times New Roman"/>
            </a:endParaRPr>
          </a:p>
          <a:p>
            <a:pPr>
              <a:lnSpc>
                <a:spcPct val="100000"/>
              </a:lnSpc>
              <a:spcBef>
                <a:spcPts val="15"/>
              </a:spcBef>
            </a:pPr>
            <a:endParaRPr lang="en-US" sz="4150">
              <a:latin typeface="Times New Roman"/>
              <a:cs typeface="Times New Roman"/>
            </a:endParaRPr>
          </a:p>
          <a:p>
            <a:pPr marL="450850" indent="-343535">
              <a:lnSpc>
                <a:spcPct val="100000"/>
              </a:lnSpc>
              <a:spcBef>
                <a:spcPts val="5"/>
              </a:spcBef>
              <a:buFont typeface="Wingdings"/>
              <a:buChar char=""/>
              <a:tabLst>
                <a:tab pos="451484" algn="l"/>
              </a:tabLst>
            </a:pPr>
            <a:r>
              <a:rPr sz="2400" b="1" spc="80">
                <a:latin typeface="Arial"/>
                <a:cs typeface="Arial"/>
              </a:rPr>
              <a:t>WHILE</a:t>
            </a:r>
            <a:endParaRPr sz="2400">
              <a:latin typeface="Arial"/>
              <a:cs typeface="Arial"/>
            </a:endParaRPr>
          </a:p>
          <a:p>
            <a:pPr marL="527685" marR="5080" lvl="1" indent="-342900">
              <a:lnSpc>
                <a:spcPts val="2160"/>
              </a:lnSpc>
              <a:spcBef>
                <a:spcPts val="2810"/>
              </a:spcBef>
              <a:buFont typeface="Arial"/>
              <a:buChar char="•"/>
              <a:tabLst>
                <a:tab pos="527685" algn="l"/>
                <a:tab pos="528320" algn="l"/>
              </a:tabLst>
            </a:pPr>
            <a:r>
              <a:rPr sz="2000" spc="130" dirty="0">
                <a:solidFill>
                  <a:srgbClr val="FFFFFF"/>
                </a:solidFill>
                <a:latin typeface="Times New Roman"/>
                <a:cs typeface="Times New Roman"/>
              </a:rPr>
              <a:t>The</a:t>
            </a:r>
            <a:r>
              <a:rPr sz="2000" spc="-40" dirty="0">
                <a:solidFill>
                  <a:srgbClr val="FFFFFF"/>
                </a:solidFill>
                <a:latin typeface="Times New Roman"/>
                <a:cs typeface="Times New Roman"/>
              </a:rPr>
              <a:t> </a:t>
            </a:r>
            <a:r>
              <a:rPr sz="2000" spc="85" dirty="0">
                <a:solidFill>
                  <a:srgbClr val="FFFFFF"/>
                </a:solidFill>
                <a:latin typeface="Times New Roman"/>
                <a:cs typeface="Times New Roman"/>
              </a:rPr>
              <a:t>WHILE</a:t>
            </a:r>
            <a:r>
              <a:rPr sz="2000" spc="-45" dirty="0">
                <a:solidFill>
                  <a:srgbClr val="FFFFFF"/>
                </a:solidFill>
                <a:latin typeface="Times New Roman"/>
                <a:cs typeface="Times New Roman"/>
              </a:rPr>
              <a:t> </a:t>
            </a:r>
            <a:r>
              <a:rPr sz="2000" spc="85" dirty="0">
                <a:solidFill>
                  <a:srgbClr val="FFFFFF"/>
                </a:solidFill>
                <a:latin typeface="Times New Roman"/>
                <a:cs typeface="Times New Roman"/>
              </a:rPr>
              <a:t>statement</a:t>
            </a:r>
            <a:r>
              <a:rPr sz="2000" spc="-25" dirty="0">
                <a:solidFill>
                  <a:srgbClr val="FFFFFF"/>
                </a:solidFill>
                <a:latin typeface="Times New Roman"/>
                <a:cs typeface="Times New Roman"/>
              </a:rPr>
              <a:t> </a:t>
            </a:r>
            <a:r>
              <a:rPr sz="2000" spc="25" dirty="0">
                <a:solidFill>
                  <a:srgbClr val="FFFFFF"/>
                </a:solidFill>
                <a:latin typeface="Times New Roman"/>
                <a:cs typeface="Times New Roman"/>
              </a:rPr>
              <a:t>specifies</a:t>
            </a:r>
            <a:r>
              <a:rPr sz="2000" spc="-35" dirty="0">
                <a:solidFill>
                  <a:srgbClr val="FFFFFF"/>
                </a:solidFill>
                <a:latin typeface="Times New Roman"/>
                <a:cs typeface="Times New Roman"/>
              </a:rPr>
              <a:t> </a:t>
            </a:r>
            <a:r>
              <a:rPr sz="2000" spc="30" dirty="0">
                <a:solidFill>
                  <a:srgbClr val="FFFFFF"/>
                </a:solidFill>
                <a:latin typeface="Times New Roman"/>
                <a:cs typeface="Times New Roman"/>
              </a:rPr>
              <a:t>a</a:t>
            </a:r>
            <a:r>
              <a:rPr sz="2000" spc="-40" dirty="0">
                <a:solidFill>
                  <a:srgbClr val="FFFFFF"/>
                </a:solidFill>
                <a:latin typeface="Times New Roman"/>
                <a:cs typeface="Times New Roman"/>
              </a:rPr>
              <a:t> </a:t>
            </a:r>
            <a:r>
              <a:rPr sz="2000" spc="90" dirty="0">
                <a:solidFill>
                  <a:srgbClr val="FFFFFF"/>
                </a:solidFill>
                <a:latin typeface="Times New Roman"/>
                <a:cs typeface="Times New Roman"/>
              </a:rPr>
              <a:t>condition</a:t>
            </a:r>
            <a:r>
              <a:rPr sz="2000" spc="-20" dirty="0">
                <a:solidFill>
                  <a:srgbClr val="FFFFFF"/>
                </a:solidFill>
                <a:latin typeface="Times New Roman"/>
                <a:cs typeface="Times New Roman"/>
              </a:rPr>
              <a:t> </a:t>
            </a:r>
            <a:r>
              <a:rPr sz="2000" spc="65" dirty="0">
                <a:solidFill>
                  <a:srgbClr val="FFFFFF"/>
                </a:solidFill>
                <a:latin typeface="Times New Roman"/>
                <a:cs typeface="Times New Roman"/>
              </a:rPr>
              <a:t>for</a:t>
            </a:r>
            <a:r>
              <a:rPr sz="2000" spc="-40" dirty="0">
                <a:solidFill>
                  <a:srgbClr val="FFFFFF"/>
                </a:solidFill>
                <a:latin typeface="Times New Roman"/>
                <a:cs typeface="Times New Roman"/>
              </a:rPr>
              <a:t> </a:t>
            </a:r>
            <a:r>
              <a:rPr sz="2000" spc="110" dirty="0">
                <a:solidFill>
                  <a:srgbClr val="FFFFFF"/>
                </a:solidFill>
                <a:latin typeface="Times New Roman"/>
                <a:cs typeface="Times New Roman"/>
              </a:rPr>
              <a:t>the</a:t>
            </a:r>
            <a:r>
              <a:rPr sz="2000" spc="-20" dirty="0">
                <a:solidFill>
                  <a:srgbClr val="FFFFFF"/>
                </a:solidFill>
                <a:latin typeface="Times New Roman"/>
                <a:cs typeface="Times New Roman"/>
              </a:rPr>
              <a:t> </a:t>
            </a:r>
            <a:r>
              <a:rPr sz="2000" spc="65" dirty="0">
                <a:solidFill>
                  <a:srgbClr val="FFFFFF"/>
                </a:solidFill>
                <a:latin typeface="Times New Roman"/>
                <a:cs typeface="Times New Roman"/>
              </a:rPr>
              <a:t>repetitive</a:t>
            </a:r>
            <a:r>
              <a:rPr sz="2000" spc="-30" dirty="0">
                <a:solidFill>
                  <a:srgbClr val="FFFFFF"/>
                </a:solidFill>
                <a:latin typeface="Times New Roman"/>
                <a:cs typeface="Times New Roman"/>
              </a:rPr>
              <a:t> </a:t>
            </a:r>
            <a:r>
              <a:rPr sz="2000" spc="85" dirty="0">
                <a:solidFill>
                  <a:srgbClr val="FFFFFF"/>
                </a:solidFill>
                <a:latin typeface="Times New Roman"/>
                <a:cs typeface="Times New Roman"/>
              </a:rPr>
              <a:t>execution  </a:t>
            </a:r>
            <a:r>
              <a:rPr sz="2000" spc="55" dirty="0">
                <a:solidFill>
                  <a:srgbClr val="FFFFFF"/>
                </a:solidFill>
                <a:latin typeface="Times New Roman"/>
                <a:cs typeface="Times New Roman"/>
              </a:rPr>
              <a:t>of </a:t>
            </a:r>
            <a:r>
              <a:rPr sz="2000" spc="110" dirty="0">
                <a:solidFill>
                  <a:srgbClr val="FFFFFF"/>
                </a:solidFill>
                <a:latin typeface="Times New Roman"/>
                <a:cs typeface="Times New Roman"/>
              </a:rPr>
              <a:t>the </a:t>
            </a:r>
            <a:r>
              <a:rPr sz="2000" spc="85" dirty="0">
                <a:solidFill>
                  <a:srgbClr val="FFFFFF"/>
                </a:solidFill>
                <a:latin typeface="Times New Roman"/>
                <a:cs typeface="Times New Roman"/>
              </a:rPr>
              <a:t>statement</a:t>
            </a:r>
            <a:r>
              <a:rPr sz="2000" spc="-350" dirty="0">
                <a:solidFill>
                  <a:srgbClr val="FFFFFF"/>
                </a:solidFill>
                <a:latin typeface="Times New Roman"/>
                <a:cs typeface="Times New Roman"/>
              </a:rPr>
              <a:t> </a:t>
            </a:r>
            <a:r>
              <a:rPr sz="2000" spc="45" dirty="0">
                <a:solidFill>
                  <a:srgbClr val="FFFFFF"/>
                </a:solidFill>
                <a:latin typeface="Times New Roman"/>
                <a:cs typeface="Times New Roman"/>
              </a:rPr>
              <a:t>block.</a:t>
            </a:r>
            <a:endParaRPr sz="20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18</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7589013" cy="635635"/>
          </a:xfrm>
          <a:prstGeom prst="rect">
            <a:avLst/>
          </a:prstGeom>
        </p:spPr>
        <p:txBody>
          <a:bodyPr vert="horz" wrap="square" lIns="0" tIns="12700" rIns="0" bIns="0" rtlCol="0">
            <a:spAutoFit/>
          </a:bodyPr>
          <a:lstStyle/>
          <a:p>
            <a:pPr marL="12700">
              <a:lnSpc>
                <a:spcPct val="100000"/>
              </a:lnSpc>
              <a:spcBef>
                <a:spcPts val="100"/>
              </a:spcBef>
            </a:pPr>
            <a:r>
              <a:rPr spc="160" dirty="0"/>
              <a:t>Transact-SQL </a:t>
            </a:r>
            <a:r>
              <a:rPr spc="170" dirty="0"/>
              <a:t>Functions</a:t>
            </a:r>
            <a:r>
              <a:rPr spc="-505" dirty="0"/>
              <a:t> </a:t>
            </a:r>
            <a:r>
              <a:rPr spc="-330" dirty="0"/>
              <a:t>1-3</a:t>
            </a:r>
          </a:p>
        </p:txBody>
      </p:sp>
      <p:pic>
        <p:nvPicPr>
          <p:cNvPr id="3" name="object 3"/>
          <p:cNvPicPr/>
          <p:nvPr/>
        </p:nvPicPr>
        <p:blipFill>
          <a:blip r:embed="rId3" cstate="print"/>
          <a:stretch>
            <a:fillRect/>
          </a:stretch>
        </p:blipFill>
        <p:spPr>
          <a:xfrm>
            <a:off x="844296" y="956310"/>
            <a:ext cx="7709154" cy="5275326"/>
          </a:xfrm>
          <a:prstGeom prst="rect">
            <a:avLst/>
          </a:prstGeom>
        </p:spPr>
      </p:pic>
      <p:sp>
        <p:nvSpPr>
          <p:cNvPr id="4" name="object 4"/>
          <p:cNvSpPr txBox="1"/>
          <p:nvPr/>
        </p:nvSpPr>
        <p:spPr>
          <a:xfrm>
            <a:off x="2535682" y="6230620"/>
            <a:ext cx="4217035" cy="238760"/>
          </a:xfrm>
          <a:prstGeom prst="rect">
            <a:avLst/>
          </a:prstGeom>
        </p:spPr>
        <p:txBody>
          <a:bodyPr vert="horz" wrap="square" lIns="0" tIns="12065" rIns="0" bIns="0" rtlCol="0">
            <a:spAutoFit/>
          </a:bodyPr>
          <a:lstStyle/>
          <a:p>
            <a:pPr marL="12700">
              <a:lnSpc>
                <a:spcPct val="100000"/>
              </a:lnSpc>
              <a:spcBef>
                <a:spcPts val="95"/>
              </a:spcBef>
            </a:pPr>
            <a:r>
              <a:rPr sz="1400" b="1" spc="-60" dirty="0">
                <a:latin typeface="Arial"/>
                <a:cs typeface="Arial"/>
              </a:rPr>
              <a:t>Deterministic </a:t>
            </a:r>
            <a:r>
              <a:rPr sz="1400" b="1" spc="-85" dirty="0">
                <a:latin typeface="Arial"/>
                <a:cs typeface="Arial"/>
              </a:rPr>
              <a:t>and </a:t>
            </a:r>
            <a:r>
              <a:rPr sz="1400" b="1" spc="-60" dirty="0">
                <a:latin typeface="Arial"/>
                <a:cs typeface="Arial"/>
              </a:rPr>
              <a:t>Non-deterministic </a:t>
            </a:r>
            <a:r>
              <a:rPr sz="1400" b="1" spc="-30" dirty="0">
                <a:latin typeface="Arial"/>
                <a:cs typeface="Arial"/>
              </a:rPr>
              <a:t>Built-in</a:t>
            </a:r>
            <a:r>
              <a:rPr sz="1400" b="1" spc="-270" dirty="0">
                <a:latin typeface="Arial"/>
                <a:cs typeface="Arial"/>
              </a:rPr>
              <a:t> </a:t>
            </a:r>
            <a:r>
              <a:rPr sz="1400" b="1" spc="-85" dirty="0">
                <a:latin typeface="Arial"/>
                <a:cs typeface="Arial"/>
              </a:rPr>
              <a:t>Functions</a:t>
            </a:r>
            <a:endParaRPr sz="1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19</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9816" y="0"/>
            <a:ext cx="6185535" cy="635635"/>
          </a:xfrm>
          <a:prstGeom prst="rect">
            <a:avLst/>
          </a:prstGeom>
        </p:spPr>
        <p:txBody>
          <a:bodyPr vert="horz" wrap="square" lIns="0" tIns="12700" rIns="0" bIns="0" rtlCol="0">
            <a:spAutoFit/>
          </a:bodyPr>
          <a:lstStyle/>
          <a:p>
            <a:pPr marL="12700">
              <a:lnSpc>
                <a:spcPct val="100000"/>
              </a:lnSpc>
              <a:spcBef>
                <a:spcPts val="100"/>
              </a:spcBef>
            </a:pPr>
            <a:r>
              <a:rPr spc="160" dirty="0"/>
              <a:t>Transact-SQL </a:t>
            </a:r>
            <a:r>
              <a:rPr spc="170" dirty="0"/>
              <a:t>Functions</a:t>
            </a:r>
            <a:r>
              <a:rPr spc="-495" dirty="0"/>
              <a:t> </a:t>
            </a:r>
            <a:r>
              <a:rPr spc="-165" dirty="0"/>
              <a:t>2-3</a:t>
            </a:r>
          </a:p>
        </p:txBody>
      </p:sp>
      <p:sp>
        <p:nvSpPr>
          <p:cNvPr id="3" name="object 3"/>
          <p:cNvSpPr txBox="1"/>
          <p:nvPr/>
        </p:nvSpPr>
        <p:spPr>
          <a:xfrm>
            <a:off x="437387" y="1159509"/>
            <a:ext cx="8627745" cy="635000"/>
          </a:xfrm>
          <a:prstGeom prst="rect">
            <a:avLst/>
          </a:prstGeom>
        </p:spPr>
        <p:txBody>
          <a:bodyPr vert="horz" wrap="square" lIns="0" tIns="12065" rIns="0" bIns="0" rtlCol="0">
            <a:spAutoFit/>
          </a:bodyPr>
          <a:lstStyle/>
          <a:p>
            <a:pPr marL="12700" marR="5080">
              <a:lnSpc>
                <a:spcPct val="100000"/>
              </a:lnSpc>
              <a:spcBef>
                <a:spcPts val="95"/>
              </a:spcBef>
            </a:pPr>
            <a:r>
              <a:rPr sz="2000" spc="75" dirty="0">
                <a:latin typeface="Times New Roman"/>
                <a:cs typeface="Times New Roman"/>
              </a:rPr>
              <a:t>Some</a:t>
            </a:r>
            <a:r>
              <a:rPr sz="2000" spc="20" dirty="0">
                <a:latin typeface="Times New Roman"/>
                <a:cs typeface="Times New Roman"/>
              </a:rPr>
              <a:t> </a:t>
            </a:r>
            <a:r>
              <a:rPr sz="2000" spc="85" dirty="0">
                <a:latin typeface="Times New Roman"/>
                <a:cs typeface="Times New Roman"/>
              </a:rPr>
              <a:t>functions</a:t>
            </a:r>
            <a:r>
              <a:rPr sz="2000" spc="30" dirty="0">
                <a:latin typeface="Times New Roman"/>
                <a:cs typeface="Times New Roman"/>
              </a:rPr>
              <a:t> </a:t>
            </a:r>
            <a:r>
              <a:rPr sz="2000" spc="55" dirty="0">
                <a:latin typeface="Times New Roman"/>
                <a:cs typeface="Times New Roman"/>
              </a:rPr>
              <a:t>are</a:t>
            </a:r>
            <a:r>
              <a:rPr sz="2000" spc="25" dirty="0">
                <a:latin typeface="Times New Roman"/>
                <a:cs typeface="Times New Roman"/>
              </a:rPr>
              <a:t> </a:t>
            </a:r>
            <a:r>
              <a:rPr sz="2000" spc="135" dirty="0">
                <a:latin typeface="Times New Roman"/>
                <a:cs typeface="Times New Roman"/>
              </a:rPr>
              <a:t>not</a:t>
            </a:r>
            <a:r>
              <a:rPr sz="2000" spc="30" dirty="0">
                <a:latin typeface="Times New Roman"/>
                <a:cs typeface="Times New Roman"/>
              </a:rPr>
              <a:t> </a:t>
            </a:r>
            <a:r>
              <a:rPr sz="2000" spc="20" dirty="0">
                <a:latin typeface="Times New Roman"/>
                <a:cs typeface="Times New Roman"/>
              </a:rPr>
              <a:t>always</a:t>
            </a:r>
            <a:r>
              <a:rPr sz="2000" spc="30" dirty="0">
                <a:latin typeface="Times New Roman"/>
                <a:cs typeface="Times New Roman"/>
              </a:rPr>
              <a:t> </a:t>
            </a:r>
            <a:r>
              <a:rPr sz="2000" spc="60" dirty="0">
                <a:latin typeface="Times New Roman"/>
                <a:cs typeface="Times New Roman"/>
              </a:rPr>
              <a:t>deterministic,</a:t>
            </a:r>
            <a:r>
              <a:rPr sz="2000" spc="20" dirty="0">
                <a:latin typeface="Times New Roman"/>
                <a:cs typeface="Times New Roman"/>
              </a:rPr>
              <a:t> </a:t>
            </a:r>
            <a:r>
              <a:rPr sz="2000" spc="120" dirty="0">
                <a:latin typeface="Times New Roman"/>
                <a:cs typeface="Times New Roman"/>
              </a:rPr>
              <a:t>but</a:t>
            </a:r>
            <a:r>
              <a:rPr sz="2000" spc="25" dirty="0">
                <a:latin typeface="Times New Roman"/>
                <a:cs typeface="Times New Roman"/>
              </a:rPr>
              <a:t> </a:t>
            </a:r>
            <a:r>
              <a:rPr sz="2000" spc="80" dirty="0">
                <a:latin typeface="Times New Roman"/>
                <a:cs typeface="Times New Roman"/>
              </a:rPr>
              <a:t>you</a:t>
            </a:r>
            <a:r>
              <a:rPr sz="2000" spc="25" dirty="0">
                <a:latin typeface="Times New Roman"/>
                <a:cs typeface="Times New Roman"/>
              </a:rPr>
              <a:t> </a:t>
            </a:r>
            <a:r>
              <a:rPr sz="2000" spc="75" dirty="0">
                <a:latin typeface="Times New Roman"/>
                <a:cs typeface="Times New Roman"/>
              </a:rPr>
              <a:t>can</a:t>
            </a:r>
            <a:r>
              <a:rPr sz="2000" spc="25" dirty="0">
                <a:latin typeface="Times New Roman"/>
                <a:cs typeface="Times New Roman"/>
              </a:rPr>
              <a:t> </a:t>
            </a:r>
            <a:r>
              <a:rPr sz="2000" spc="65" dirty="0">
                <a:latin typeface="Times New Roman"/>
                <a:cs typeface="Times New Roman"/>
              </a:rPr>
              <a:t>use</a:t>
            </a:r>
            <a:r>
              <a:rPr sz="2000" spc="20" dirty="0">
                <a:latin typeface="Times New Roman"/>
                <a:cs typeface="Times New Roman"/>
              </a:rPr>
              <a:t> </a:t>
            </a:r>
            <a:r>
              <a:rPr sz="2000" spc="110" dirty="0">
                <a:latin typeface="Times New Roman"/>
                <a:cs typeface="Times New Roman"/>
              </a:rPr>
              <a:t>them</a:t>
            </a:r>
            <a:r>
              <a:rPr sz="2000" spc="25" dirty="0">
                <a:latin typeface="Times New Roman"/>
                <a:cs typeface="Times New Roman"/>
              </a:rPr>
              <a:t> </a:t>
            </a:r>
            <a:r>
              <a:rPr sz="2000" spc="95" dirty="0">
                <a:latin typeface="Times New Roman"/>
                <a:cs typeface="Times New Roman"/>
              </a:rPr>
              <a:t>in</a:t>
            </a:r>
            <a:r>
              <a:rPr sz="2000" spc="30" dirty="0">
                <a:latin typeface="Times New Roman"/>
                <a:cs typeface="Times New Roman"/>
              </a:rPr>
              <a:t> </a:t>
            </a:r>
            <a:r>
              <a:rPr sz="2000" spc="90" dirty="0">
                <a:latin typeface="Times New Roman"/>
                <a:cs typeface="Times New Roman"/>
              </a:rPr>
              <a:t>indexed  </a:t>
            </a:r>
            <a:r>
              <a:rPr sz="2000" spc="30" dirty="0">
                <a:latin typeface="Times New Roman"/>
                <a:cs typeface="Times New Roman"/>
              </a:rPr>
              <a:t>views</a:t>
            </a:r>
            <a:r>
              <a:rPr sz="2000" spc="-65" dirty="0">
                <a:latin typeface="Times New Roman"/>
                <a:cs typeface="Times New Roman"/>
              </a:rPr>
              <a:t> </a:t>
            </a:r>
            <a:r>
              <a:rPr sz="2000" spc="15" dirty="0">
                <a:latin typeface="Times New Roman"/>
                <a:cs typeface="Times New Roman"/>
              </a:rPr>
              <a:t>if</a:t>
            </a:r>
            <a:r>
              <a:rPr sz="2000" spc="-90" dirty="0">
                <a:latin typeface="Times New Roman"/>
                <a:cs typeface="Times New Roman"/>
              </a:rPr>
              <a:t> </a:t>
            </a:r>
            <a:r>
              <a:rPr sz="2000" spc="80" dirty="0">
                <a:latin typeface="Times New Roman"/>
                <a:cs typeface="Times New Roman"/>
              </a:rPr>
              <a:t>they</a:t>
            </a:r>
            <a:r>
              <a:rPr sz="2000" spc="-60" dirty="0">
                <a:latin typeface="Times New Roman"/>
                <a:cs typeface="Times New Roman"/>
              </a:rPr>
              <a:t> </a:t>
            </a:r>
            <a:r>
              <a:rPr sz="2000" spc="50" dirty="0">
                <a:latin typeface="Times New Roman"/>
                <a:cs typeface="Times New Roman"/>
              </a:rPr>
              <a:t>are</a:t>
            </a:r>
            <a:r>
              <a:rPr sz="2000" spc="-60" dirty="0">
                <a:latin typeface="Times New Roman"/>
                <a:cs typeface="Times New Roman"/>
              </a:rPr>
              <a:t> </a:t>
            </a:r>
            <a:r>
              <a:rPr sz="2000" spc="50" dirty="0">
                <a:latin typeface="Times New Roman"/>
                <a:cs typeface="Times New Roman"/>
              </a:rPr>
              <a:t>given</a:t>
            </a:r>
            <a:r>
              <a:rPr sz="2000" spc="-65" dirty="0">
                <a:latin typeface="Times New Roman"/>
                <a:cs typeface="Times New Roman"/>
              </a:rPr>
              <a:t> </a:t>
            </a:r>
            <a:r>
              <a:rPr sz="2000" spc="95" dirty="0">
                <a:latin typeface="Times New Roman"/>
                <a:cs typeface="Times New Roman"/>
              </a:rPr>
              <a:t>in</a:t>
            </a:r>
            <a:r>
              <a:rPr sz="2000" spc="-80" dirty="0">
                <a:latin typeface="Times New Roman"/>
                <a:cs typeface="Times New Roman"/>
              </a:rPr>
              <a:t> </a:t>
            </a:r>
            <a:r>
              <a:rPr sz="2000" spc="30" dirty="0">
                <a:latin typeface="Times New Roman"/>
                <a:cs typeface="Times New Roman"/>
              </a:rPr>
              <a:t>a</a:t>
            </a:r>
            <a:r>
              <a:rPr sz="2000" spc="-75" dirty="0">
                <a:latin typeface="Times New Roman"/>
                <a:cs typeface="Times New Roman"/>
              </a:rPr>
              <a:t> </a:t>
            </a:r>
            <a:r>
              <a:rPr sz="2000" spc="65" dirty="0">
                <a:latin typeface="Times New Roman"/>
                <a:cs typeface="Times New Roman"/>
              </a:rPr>
              <a:t>deterministic</a:t>
            </a:r>
            <a:r>
              <a:rPr sz="2000" spc="-70" dirty="0">
                <a:latin typeface="Times New Roman"/>
                <a:cs typeface="Times New Roman"/>
              </a:rPr>
              <a:t> </a:t>
            </a:r>
            <a:r>
              <a:rPr sz="2000" spc="85" dirty="0">
                <a:latin typeface="Times New Roman"/>
                <a:cs typeface="Times New Roman"/>
              </a:rPr>
              <a:t>manner.</a:t>
            </a:r>
            <a:endParaRPr sz="2000">
              <a:latin typeface="Times New Roman"/>
              <a:cs typeface="Times New Roman"/>
            </a:endParaRPr>
          </a:p>
        </p:txBody>
      </p:sp>
      <p:pic>
        <p:nvPicPr>
          <p:cNvPr id="4" name="object 4"/>
          <p:cNvPicPr/>
          <p:nvPr/>
        </p:nvPicPr>
        <p:blipFill>
          <a:blip r:embed="rId3" cstate="print"/>
          <a:stretch>
            <a:fillRect/>
          </a:stretch>
        </p:blipFill>
        <p:spPr>
          <a:xfrm>
            <a:off x="605027" y="2087880"/>
            <a:ext cx="7933943" cy="3413759"/>
          </a:xfrm>
          <a:prstGeom prst="rect">
            <a:avLst/>
          </a:prstGeom>
        </p:spPr>
      </p:pic>
      <p:sp>
        <p:nvSpPr>
          <p:cNvPr id="5" name="object 5"/>
          <p:cNvSpPr txBox="1"/>
          <p:nvPr/>
        </p:nvSpPr>
        <p:spPr>
          <a:xfrm>
            <a:off x="3660394" y="5893815"/>
            <a:ext cx="1851660" cy="238760"/>
          </a:xfrm>
          <a:prstGeom prst="rect">
            <a:avLst/>
          </a:prstGeom>
        </p:spPr>
        <p:txBody>
          <a:bodyPr vert="horz" wrap="square" lIns="0" tIns="12065" rIns="0" bIns="0" rtlCol="0">
            <a:spAutoFit/>
          </a:bodyPr>
          <a:lstStyle/>
          <a:p>
            <a:pPr marL="12700">
              <a:lnSpc>
                <a:spcPct val="100000"/>
              </a:lnSpc>
              <a:spcBef>
                <a:spcPts val="95"/>
              </a:spcBef>
            </a:pPr>
            <a:r>
              <a:rPr sz="1400" b="1" spc="-60" dirty="0">
                <a:latin typeface="Arial"/>
                <a:cs typeface="Arial"/>
              </a:rPr>
              <a:t>Deterministic</a:t>
            </a:r>
            <a:r>
              <a:rPr sz="1400" b="1" spc="-155" dirty="0">
                <a:latin typeface="Arial"/>
                <a:cs typeface="Arial"/>
              </a:rPr>
              <a:t> </a:t>
            </a:r>
            <a:r>
              <a:rPr sz="1400" b="1" spc="-85" dirty="0">
                <a:latin typeface="Arial"/>
                <a:cs typeface="Arial"/>
              </a:rPr>
              <a:t>Functions</a:t>
            </a:r>
            <a:endParaRPr sz="1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20</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202" y="47243"/>
            <a:ext cx="6152515" cy="635635"/>
          </a:xfrm>
          <a:prstGeom prst="rect">
            <a:avLst/>
          </a:prstGeom>
        </p:spPr>
        <p:txBody>
          <a:bodyPr vert="horz" wrap="square" lIns="0" tIns="12700" rIns="0" bIns="0" rtlCol="0">
            <a:spAutoFit/>
          </a:bodyPr>
          <a:lstStyle/>
          <a:p>
            <a:pPr marL="12700">
              <a:lnSpc>
                <a:spcPct val="100000"/>
              </a:lnSpc>
              <a:spcBef>
                <a:spcPts val="100"/>
              </a:spcBef>
            </a:pPr>
            <a:r>
              <a:rPr spc="160" dirty="0"/>
              <a:t>Transact-SQL </a:t>
            </a:r>
            <a:r>
              <a:rPr spc="170" dirty="0"/>
              <a:t>Functions</a:t>
            </a:r>
            <a:r>
              <a:rPr spc="-500" dirty="0"/>
              <a:t> </a:t>
            </a:r>
            <a:r>
              <a:rPr spc="-250" dirty="0"/>
              <a:t>3-3</a:t>
            </a:r>
          </a:p>
        </p:txBody>
      </p:sp>
      <p:sp>
        <p:nvSpPr>
          <p:cNvPr id="3" name="object 3"/>
          <p:cNvSpPr/>
          <p:nvPr/>
        </p:nvSpPr>
        <p:spPr>
          <a:xfrm>
            <a:off x="444246" y="1446275"/>
            <a:ext cx="6716395" cy="1225550"/>
          </a:xfrm>
          <a:custGeom>
            <a:avLst/>
            <a:gdLst/>
            <a:ahLst/>
            <a:cxnLst/>
            <a:rect l="l" t="t" r="r" b="b"/>
            <a:pathLst>
              <a:path w="6716395" h="1225550">
                <a:moveTo>
                  <a:pt x="6716268" y="204216"/>
                </a:moveTo>
                <a:lnTo>
                  <a:pt x="6710870" y="157403"/>
                </a:lnTo>
                <a:lnTo>
                  <a:pt x="6695503" y="114414"/>
                </a:lnTo>
                <a:lnTo>
                  <a:pt x="6671399" y="76504"/>
                </a:lnTo>
                <a:lnTo>
                  <a:pt x="6639763" y="44869"/>
                </a:lnTo>
                <a:lnTo>
                  <a:pt x="6601854" y="20764"/>
                </a:lnTo>
                <a:lnTo>
                  <a:pt x="6558864" y="5397"/>
                </a:lnTo>
                <a:lnTo>
                  <a:pt x="6512052" y="0"/>
                </a:lnTo>
                <a:lnTo>
                  <a:pt x="204216" y="0"/>
                </a:lnTo>
                <a:lnTo>
                  <a:pt x="157378" y="5397"/>
                </a:lnTo>
                <a:lnTo>
                  <a:pt x="114401" y="20764"/>
                </a:lnTo>
                <a:lnTo>
                  <a:pt x="76479" y="44869"/>
                </a:lnTo>
                <a:lnTo>
                  <a:pt x="44856" y="76504"/>
                </a:lnTo>
                <a:lnTo>
                  <a:pt x="20751" y="114414"/>
                </a:lnTo>
                <a:lnTo>
                  <a:pt x="5384" y="157403"/>
                </a:lnTo>
                <a:lnTo>
                  <a:pt x="0" y="204216"/>
                </a:lnTo>
                <a:lnTo>
                  <a:pt x="0" y="1021080"/>
                </a:lnTo>
                <a:lnTo>
                  <a:pt x="5384" y="1067904"/>
                </a:lnTo>
                <a:lnTo>
                  <a:pt x="20751" y="1110894"/>
                </a:lnTo>
                <a:lnTo>
                  <a:pt x="44856" y="1148803"/>
                </a:lnTo>
                <a:lnTo>
                  <a:pt x="76479" y="1180439"/>
                </a:lnTo>
                <a:lnTo>
                  <a:pt x="114401" y="1204544"/>
                </a:lnTo>
                <a:lnTo>
                  <a:pt x="157378" y="1219911"/>
                </a:lnTo>
                <a:lnTo>
                  <a:pt x="204216" y="1225296"/>
                </a:lnTo>
                <a:lnTo>
                  <a:pt x="6512052" y="1225296"/>
                </a:lnTo>
                <a:lnTo>
                  <a:pt x="6558864" y="1219911"/>
                </a:lnTo>
                <a:lnTo>
                  <a:pt x="6601854" y="1204544"/>
                </a:lnTo>
                <a:lnTo>
                  <a:pt x="6639763" y="1180439"/>
                </a:lnTo>
                <a:lnTo>
                  <a:pt x="6671399" y="1148803"/>
                </a:lnTo>
                <a:lnTo>
                  <a:pt x="6695503" y="1110894"/>
                </a:lnTo>
                <a:lnTo>
                  <a:pt x="6710870" y="1067904"/>
                </a:lnTo>
                <a:lnTo>
                  <a:pt x="6716268" y="1021080"/>
                </a:lnTo>
                <a:lnTo>
                  <a:pt x="6716268" y="204216"/>
                </a:lnTo>
                <a:close/>
              </a:path>
            </a:pathLst>
          </a:custGeom>
          <a:solidFill>
            <a:srgbClr val="4F81BC"/>
          </a:solidFill>
        </p:spPr>
        <p:txBody>
          <a:bodyPr wrap="square" lIns="0" tIns="0" rIns="0" bIns="0" rtlCol="0"/>
          <a:lstStyle/>
          <a:p>
            <a:endParaRPr/>
          </a:p>
        </p:txBody>
      </p:sp>
      <p:sp>
        <p:nvSpPr>
          <p:cNvPr id="4" name="object 4"/>
          <p:cNvSpPr/>
          <p:nvPr/>
        </p:nvSpPr>
        <p:spPr>
          <a:xfrm>
            <a:off x="509778" y="3328415"/>
            <a:ext cx="7480934" cy="990600"/>
          </a:xfrm>
          <a:custGeom>
            <a:avLst/>
            <a:gdLst/>
            <a:ahLst/>
            <a:cxnLst/>
            <a:rect l="l" t="t" r="r" b="b"/>
            <a:pathLst>
              <a:path w="7480934" h="990600">
                <a:moveTo>
                  <a:pt x="7480554" y="165100"/>
                </a:moveTo>
                <a:lnTo>
                  <a:pt x="7474648" y="121208"/>
                </a:lnTo>
                <a:lnTo>
                  <a:pt x="7458011" y="81775"/>
                </a:lnTo>
                <a:lnTo>
                  <a:pt x="7432192" y="48361"/>
                </a:lnTo>
                <a:lnTo>
                  <a:pt x="7398779" y="22542"/>
                </a:lnTo>
                <a:lnTo>
                  <a:pt x="7359345" y="5905"/>
                </a:lnTo>
                <a:lnTo>
                  <a:pt x="7315454" y="0"/>
                </a:lnTo>
                <a:lnTo>
                  <a:pt x="165100" y="0"/>
                </a:lnTo>
                <a:lnTo>
                  <a:pt x="121196" y="5905"/>
                </a:lnTo>
                <a:lnTo>
                  <a:pt x="81762" y="22542"/>
                </a:lnTo>
                <a:lnTo>
                  <a:pt x="48348" y="48361"/>
                </a:lnTo>
                <a:lnTo>
                  <a:pt x="22529" y="81775"/>
                </a:lnTo>
                <a:lnTo>
                  <a:pt x="5892" y="121208"/>
                </a:lnTo>
                <a:lnTo>
                  <a:pt x="0" y="165100"/>
                </a:lnTo>
                <a:lnTo>
                  <a:pt x="0" y="258330"/>
                </a:lnTo>
                <a:lnTo>
                  <a:pt x="0" y="766572"/>
                </a:lnTo>
                <a:lnTo>
                  <a:pt x="0" y="825500"/>
                </a:lnTo>
                <a:lnTo>
                  <a:pt x="5892" y="869403"/>
                </a:lnTo>
                <a:lnTo>
                  <a:pt x="22529" y="908837"/>
                </a:lnTo>
                <a:lnTo>
                  <a:pt x="48348" y="942251"/>
                </a:lnTo>
                <a:lnTo>
                  <a:pt x="81762" y="968070"/>
                </a:lnTo>
                <a:lnTo>
                  <a:pt x="121196" y="984707"/>
                </a:lnTo>
                <a:lnTo>
                  <a:pt x="165100" y="990600"/>
                </a:lnTo>
                <a:lnTo>
                  <a:pt x="7315454" y="990600"/>
                </a:lnTo>
                <a:lnTo>
                  <a:pt x="7359345" y="984707"/>
                </a:lnTo>
                <a:lnTo>
                  <a:pt x="7398779" y="968070"/>
                </a:lnTo>
                <a:lnTo>
                  <a:pt x="7432192" y="942251"/>
                </a:lnTo>
                <a:lnTo>
                  <a:pt x="7458011" y="908837"/>
                </a:lnTo>
                <a:lnTo>
                  <a:pt x="7474648" y="869403"/>
                </a:lnTo>
                <a:lnTo>
                  <a:pt x="7480554" y="825500"/>
                </a:lnTo>
                <a:lnTo>
                  <a:pt x="7480554" y="165100"/>
                </a:lnTo>
                <a:close/>
              </a:path>
            </a:pathLst>
          </a:custGeom>
          <a:solidFill>
            <a:srgbClr val="C0504D"/>
          </a:solidFill>
        </p:spPr>
        <p:txBody>
          <a:bodyPr wrap="square" lIns="0" tIns="0" rIns="0" bIns="0" rtlCol="0"/>
          <a:lstStyle/>
          <a:p>
            <a:endParaRPr/>
          </a:p>
        </p:txBody>
      </p:sp>
      <p:sp>
        <p:nvSpPr>
          <p:cNvPr id="5" name="object 5"/>
          <p:cNvSpPr txBox="1"/>
          <p:nvPr/>
        </p:nvSpPr>
        <p:spPr>
          <a:xfrm>
            <a:off x="497077" y="940307"/>
            <a:ext cx="5660390" cy="330200"/>
          </a:xfrm>
          <a:prstGeom prst="rect">
            <a:avLst/>
          </a:prstGeom>
        </p:spPr>
        <p:txBody>
          <a:bodyPr vert="horz" wrap="square" lIns="0" tIns="12065" rIns="0" bIns="0" rtlCol="0">
            <a:spAutoFit/>
          </a:bodyPr>
          <a:lstStyle/>
          <a:p>
            <a:pPr marL="12700">
              <a:lnSpc>
                <a:spcPct val="100000"/>
              </a:lnSpc>
              <a:spcBef>
                <a:spcPts val="95"/>
              </a:spcBef>
            </a:pPr>
            <a:r>
              <a:rPr sz="2000" b="1" spc="-55" dirty="0">
                <a:latin typeface="Arial"/>
                <a:cs typeface="Arial"/>
              </a:rPr>
              <a:t>Calling </a:t>
            </a:r>
            <a:r>
              <a:rPr sz="2000" b="1" spc="-105" dirty="0">
                <a:latin typeface="Arial"/>
                <a:cs typeface="Arial"/>
              </a:rPr>
              <a:t>Extended Stored </a:t>
            </a:r>
            <a:r>
              <a:rPr sz="2000" b="1" spc="-160" dirty="0">
                <a:latin typeface="Arial"/>
                <a:cs typeface="Arial"/>
              </a:rPr>
              <a:t>Procedures </a:t>
            </a:r>
            <a:r>
              <a:rPr sz="2000" b="1" spc="-75" dirty="0">
                <a:latin typeface="Arial"/>
                <a:cs typeface="Arial"/>
              </a:rPr>
              <a:t>from</a:t>
            </a:r>
            <a:r>
              <a:rPr sz="2000" b="1" spc="-365" dirty="0">
                <a:latin typeface="Arial"/>
                <a:cs typeface="Arial"/>
              </a:rPr>
              <a:t> </a:t>
            </a:r>
            <a:r>
              <a:rPr sz="2000" b="1" spc="-114" dirty="0">
                <a:latin typeface="Arial"/>
                <a:cs typeface="Arial"/>
              </a:rPr>
              <a:t>Functions</a:t>
            </a:r>
            <a:endParaRPr sz="2000">
              <a:latin typeface="Arial"/>
              <a:cs typeface="Arial"/>
            </a:endParaRPr>
          </a:p>
        </p:txBody>
      </p:sp>
      <p:sp>
        <p:nvSpPr>
          <p:cNvPr id="6" name="object 6"/>
          <p:cNvSpPr txBox="1"/>
          <p:nvPr/>
        </p:nvSpPr>
        <p:spPr>
          <a:xfrm>
            <a:off x="522986" y="1733041"/>
            <a:ext cx="7277100" cy="2329180"/>
          </a:xfrm>
          <a:prstGeom prst="rect">
            <a:avLst/>
          </a:prstGeom>
        </p:spPr>
        <p:txBody>
          <a:bodyPr vert="horz" wrap="square" lIns="0" tIns="43815" rIns="0" bIns="0" rtlCol="0">
            <a:spAutoFit/>
          </a:bodyPr>
          <a:lstStyle/>
          <a:p>
            <a:pPr marL="454659" marR="706755" indent="-342900">
              <a:lnSpc>
                <a:spcPts val="1939"/>
              </a:lnSpc>
              <a:spcBef>
                <a:spcPts val="345"/>
              </a:spcBef>
              <a:buFont typeface="Wingdings"/>
              <a:buChar char=""/>
              <a:tabLst>
                <a:tab pos="454659" algn="l"/>
                <a:tab pos="455295" algn="l"/>
                <a:tab pos="1121410" algn="l"/>
                <a:tab pos="1570355" algn="l"/>
                <a:tab pos="3490595" algn="l"/>
                <a:tab pos="4410075" algn="l"/>
                <a:tab pos="4879975" algn="l"/>
                <a:tab pos="5948045" algn="l"/>
              </a:tabLst>
            </a:pPr>
            <a:r>
              <a:rPr sz="1800" spc="85" dirty="0">
                <a:solidFill>
                  <a:srgbClr val="FFFFFF"/>
                </a:solidFill>
                <a:latin typeface="Times New Roman"/>
                <a:cs typeface="Times New Roman"/>
              </a:rPr>
              <a:t>They	</a:t>
            </a:r>
            <a:r>
              <a:rPr sz="1800" spc="45" dirty="0">
                <a:solidFill>
                  <a:srgbClr val="FFFFFF"/>
                </a:solidFill>
                <a:latin typeface="Times New Roman"/>
                <a:cs typeface="Times New Roman"/>
              </a:rPr>
              <a:t>are	</a:t>
            </a:r>
            <a:r>
              <a:rPr sz="1800" spc="135" dirty="0">
                <a:solidFill>
                  <a:srgbClr val="FFFFFF"/>
                </a:solidFill>
                <a:latin typeface="Times New Roman"/>
                <a:cs typeface="Times New Roman"/>
              </a:rPr>
              <a:t>non</a:t>
            </a:r>
            <a:r>
              <a:rPr sz="1800" spc="10" dirty="0">
                <a:solidFill>
                  <a:srgbClr val="FFFFFF"/>
                </a:solidFill>
                <a:latin typeface="Times New Roman"/>
                <a:cs typeface="Times New Roman"/>
              </a:rPr>
              <a:t>-</a:t>
            </a:r>
            <a:r>
              <a:rPr sz="1800" spc="105" dirty="0">
                <a:solidFill>
                  <a:srgbClr val="FFFFFF"/>
                </a:solidFill>
                <a:latin typeface="Times New Roman"/>
                <a:cs typeface="Times New Roman"/>
              </a:rPr>
              <a:t>de</a:t>
            </a:r>
            <a:r>
              <a:rPr sz="1800" spc="50" dirty="0">
                <a:solidFill>
                  <a:srgbClr val="FFFFFF"/>
                </a:solidFill>
                <a:latin typeface="Times New Roman"/>
                <a:cs typeface="Times New Roman"/>
              </a:rPr>
              <a:t>t</a:t>
            </a:r>
            <a:r>
              <a:rPr sz="1800" spc="70" dirty="0">
                <a:solidFill>
                  <a:srgbClr val="FFFFFF"/>
                </a:solidFill>
                <a:latin typeface="Times New Roman"/>
                <a:cs typeface="Times New Roman"/>
              </a:rPr>
              <a:t>ermin</a:t>
            </a:r>
            <a:r>
              <a:rPr sz="1800" spc="45" dirty="0">
                <a:solidFill>
                  <a:srgbClr val="FFFFFF"/>
                </a:solidFill>
                <a:latin typeface="Times New Roman"/>
                <a:cs typeface="Times New Roman"/>
              </a:rPr>
              <a:t>is</a:t>
            </a:r>
            <a:r>
              <a:rPr sz="1800" spc="40" dirty="0">
                <a:solidFill>
                  <a:srgbClr val="FFFFFF"/>
                </a:solidFill>
                <a:latin typeface="Times New Roman"/>
                <a:cs typeface="Times New Roman"/>
              </a:rPr>
              <a:t>t</a:t>
            </a:r>
            <a:r>
              <a:rPr sz="1800" spc="10" dirty="0">
                <a:solidFill>
                  <a:srgbClr val="FFFFFF"/>
                </a:solidFill>
                <a:latin typeface="Times New Roman"/>
                <a:cs typeface="Times New Roman"/>
              </a:rPr>
              <a:t>ic</a:t>
            </a:r>
            <a:r>
              <a:rPr sz="1800" dirty="0">
                <a:solidFill>
                  <a:srgbClr val="FFFFFF"/>
                </a:solidFill>
                <a:latin typeface="Times New Roman"/>
                <a:cs typeface="Times New Roman"/>
              </a:rPr>
              <a:t>	</a:t>
            </a:r>
            <a:r>
              <a:rPr sz="1800" spc="50" dirty="0">
                <a:solidFill>
                  <a:srgbClr val="FFFFFF"/>
                </a:solidFill>
                <a:latin typeface="Times New Roman"/>
                <a:cs typeface="Times New Roman"/>
              </a:rPr>
              <a:t>because</a:t>
            </a:r>
            <a:r>
              <a:rPr sz="1800"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dirty="0">
                <a:solidFill>
                  <a:srgbClr val="FFFFFF"/>
                </a:solidFill>
                <a:latin typeface="Times New Roman"/>
                <a:cs typeface="Times New Roman"/>
              </a:rPr>
              <a:t>	</a:t>
            </a:r>
            <a:r>
              <a:rPr sz="1800" spc="40" dirty="0">
                <a:solidFill>
                  <a:srgbClr val="FFFFFF"/>
                </a:solidFill>
                <a:latin typeface="Times New Roman"/>
                <a:cs typeface="Times New Roman"/>
              </a:rPr>
              <a:t>e</a:t>
            </a:r>
            <a:r>
              <a:rPr sz="1800" spc="95" dirty="0">
                <a:solidFill>
                  <a:srgbClr val="FFFFFF"/>
                </a:solidFill>
                <a:latin typeface="Times New Roman"/>
                <a:cs typeface="Times New Roman"/>
              </a:rPr>
              <a:t>xte</a:t>
            </a:r>
            <a:r>
              <a:rPr sz="1800" spc="105" dirty="0">
                <a:solidFill>
                  <a:srgbClr val="FFFFFF"/>
                </a:solidFill>
                <a:latin typeface="Times New Roman"/>
                <a:cs typeface="Times New Roman"/>
              </a:rPr>
              <a:t>n</a:t>
            </a:r>
            <a:r>
              <a:rPr sz="1800" spc="90" dirty="0">
                <a:solidFill>
                  <a:srgbClr val="FFFFFF"/>
                </a:solidFill>
                <a:latin typeface="Times New Roman"/>
                <a:cs typeface="Times New Roman"/>
              </a:rPr>
              <a:t>ded</a:t>
            </a:r>
            <a:r>
              <a:rPr sz="1800" dirty="0">
                <a:solidFill>
                  <a:srgbClr val="FFFFFF"/>
                </a:solidFill>
                <a:latin typeface="Times New Roman"/>
                <a:cs typeface="Times New Roman"/>
              </a:rPr>
              <a:t>	</a:t>
            </a:r>
            <a:r>
              <a:rPr sz="1800" spc="60" dirty="0">
                <a:solidFill>
                  <a:srgbClr val="FFFFFF"/>
                </a:solidFill>
                <a:latin typeface="Times New Roman"/>
                <a:cs typeface="Times New Roman"/>
              </a:rPr>
              <a:t>store</a:t>
            </a:r>
            <a:r>
              <a:rPr sz="1800" spc="75" dirty="0">
                <a:solidFill>
                  <a:srgbClr val="FFFFFF"/>
                </a:solidFill>
                <a:latin typeface="Times New Roman"/>
                <a:cs typeface="Times New Roman"/>
              </a:rPr>
              <a:t>d  </a:t>
            </a:r>
            <a:r>
              <a:rPr sz="1800" spc="65" dirty="0">
                <a:solidFill>
                  <a:srgbClr val="FFFFFF"/>
                </a:solidFill>
                <a:latin typeface="Times New Roman"/>
                <a:cs typeface="Times New Roman"/>
              </a:rPr>
              <a:t>procedures</a:t>
            </a:r>
            <a:r>
              <a:rPr sz="1800" spc="-70" dirty="0">
                <a:solidFill>
                  <a:srgbClr val="FFFFFF"/>
                </a:solidFill>
                <a:latin typeface="Times New Roman"/>
                <a:cs typeface="Times New Roman"/>
              </a:rPr>
              <a:t> </a:t>
            </a:r>
            <a:r>
              <a:rPr sz="1800" spc="35" dirty="0">
                <a:solidFill>
                  <a:srgbClr val="FFFFFF"/>
                </a:solidFill>
                <a:latin typeface="Times New Roman"/>
                <a:cs typeface="Times New Roman"/>
              </a:rPr>
              <a:t>may</a:t>
            </a:r>
            <a:r>
              <a:rPr sz="1800" spc="-65" dirty="0">
                <a:solidFill>
                  <a:srgbClr val="FFFFFF"/>
                </a:solidFill>
                <a:latin typeface="Times New Roman"/>
                <a:cs typeface="Times New Roman"/>
              </a:rPr>
              <a:t> </a:t>
            </a:r>
            <a:r>
              <a:rPr sz="1800" spc="60" dirty="0">
                <a:solidFill>
                  <a:srgbClr val="FFFFFF"/>
                </a:solidFill>
                <a:latin typeface="Times New Roman"/>
                <a:cs typeface="Times New Roman"/>
              </a:rPr>
              <a:t>result</a:t>
            </a:r>
            <a:r>
              <a:rPr sz="1800" spc="-70"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65" dirty="0">
                <a:solidFill>
                  <a:srgbClr val="FFFFFF"/>
                </a:solidFill>
                <a:latin typeface="Times New Roman"/>
                <a:cs typeface="Times New Roman"/>
              </a:rPr>
              <a:t> </a:t>
            </a:r>
            <a:r>
              <a:rPr sz="1800" spc="40" dirty="0">
                <a:solidFill>
                  <a:srgbClr val="FFFFFF"/>
                </a:solidFill>
                <a:latin typeface="Times New Roman"/>
                <a:cs typeface="Times New Roman"/>
              </a:rPr>
              <a:t>side</a:t>
            </a:r>
            <a:r>
              <a:rPr sz="1800" spc="-65" dirty="0">
                <a:solidFill>
                  <a:srgbClr val="FFFFFF"/>
                </a:solidFill>
                <a:latin typeface="Times New Roman"/>
                <a:cs typeface="Times New Roman"/>
              </a:rPr>
              <a:t> </a:t>
            </a:r>
            <a:r>
              <a:rPr sz="1800" spc="35" dirty="0">
                <a:solidFill>
                  <a:srgbClr val="FFFFFF"/>
                </a:solidFill>
                <a:latin typeface="Times New Roman"/>
                <a:cs typeface="Times New Roman"/>
              </a:rPr>
              <a:t>effects</a:t>
            </a:r>
            <a:r>
              <a:rPr sz="1800" spc="-65" dirty="0">
                <a:solidFill>
                  <a:srgbClr val="FFFFFF"/>
                </a:solidFill>
                <a:latin typeface="Times New Roman"/>
                <a:cs typeface="Times New Roman"/>
              </a:rPr>
              <a:t> </a:t>
            </a:r>
            <a:r>
              <a:rPr sz="1800" spc="120" dirty="0">
                <a:solidFill>
                  <a:srgbClr val="FFFFFF"/>
                </a:solidFill>
                <a:latin typeface="Times New Roman"/>
                <a:cs typeface="Times New Roman"/>
              </a:rPr>
              <a:t>on</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0" dirty="0">
                <a:solidFill>
                  <a:srgbClr val="FFFFFF"/>
                </a:solidFill>
                <a:latin typeface="Times New Roman"/>
                <a:cs typeface="Times New Roman"/>
              </a:rPr>
              <a:t> </a:t>
            </a:r>
            <a:r>
              <a:rPr sz="1800" spc="50" dirty="0">
                <a:solidFill>
                  <a:srgbClr val="FFFFFF"/>
                </a:solidFill>
                <a:latin typeface="Times New Roman"/>
                <a:cs typeface="Times New Roman"/>
              </a:rPr>
              <a:t>database.</a:t>
            </a:r>
            <a:endParaRPr sz="1800">
              <a:latin typeface="Times New Roman"/>
              <a:cs typeface="Times New Roman"/>
            </a:endParaRPr>
          </a:p>
          <a:p>
            <a:pPr>
              <a:lnSpc>
                <a:spcPct val="100000"/>
              </a:lnSpc>
              <a:buClr>
                <a:srgbClr val="FFFFFF"/>
              </a:buClr>
              <a:buFont typeface="Wingdings"/>
              <a:buChar char=""/>
            </a:pPr>
            <a:endParaRPr sz="2600">
              <a:latin typeface="Times New Roman"/>
              <a:cs typeface="Times New Roman"/>
            </a:endParaRPr>
          </a:p>
          <a:p>
            <a:pPr marL="12700">
              <a:lnSpc>
                <a:spcPct val="100000"/>
              </a:lnSpc>
              <a:spcBef>
                <a:spcPts val="2160"/>
              </a:spcBef>
            </a:pPr>
            <a:r>
              <a:rPr sz="2000" b="1" spc="-120" dirty="0">
                <a:latin typeface="Arial"/>
                <a:cs typeface="Arial"/>
              </a:rPr>
              <a:t>Scalar-valued</a:t>
            </a:r>
            <a:r>
              <a:rPr sz="2000" b="1" spc="-175" dirty="0">
                <a:latin typeface="Arial"/>
                <a:cs typeface="Arial"/>
              </a:rPr>
              <a:t> </a:t>
            </a:r>
            <a:r>
              <a:rPr sz="2000" b="1" spc="-114" dirty="0">
                <a:latin typeface="Arial"/>
                <a:cs typeface="Arial"/>
              </a:rPr>
              <a:t>Functions</a:t>
            </a:r>
            <a:endParaRPr sz="2000">
              <a:latin typeface="Arial"/>
              <a:cs typeface="Arial"/>
            </a:endParaRPr>
          </a:p>
          <a:p>
            <a:pPr marL="405765" marR="5080" indent="-342900">
              <a:lnSpc>
                <a:spcPts val="1939"/>
              </a:lnSpc>
              <a:spcBef>
                <a:spcPts val="2605"/>
              </a:spcBef>
              <a:buFont typeface="Wingdings"/>
              <a:buChar char=""/>
              <a:tabLst>
                <a:tab pos="405765" algn="l"/>
                <a:tab pos="406400" algn="l"/>
              </a:tabLst>
            </a:pPr>
            <a:r>
              <a:rPr sz="1800" spc="160" dirty="0">
                <a:solidFill>
                  <a:srgbClr val="FFFFFF"/>
                </a:solidFill>
                <a:latin typeface="Times New Roman"/>
                <a:cs typeface="Times New Roman"/>
              </a:rPr>
              <a:t>A </a:t>
            </a:r>
            <a:r>
              <a:rPr sz="1800" spc="40" dirty="0">
                <a:solidFill>
                  <a:srgbClr val="FFFFFF"/>
                </a:solidFill>
                <a:latin typeface="Times New Roman"/>
                <a:cs typeface="Times New Roman"/>
              </a:rPr>
              <a:t>Scalar-valued </a:t>
            </a:r>
            <a:r>
              <a:rPr sz="1800" spc="85" dirty="0">
                <a:solidFill>
                  <a:srgbClr val="FFFFFF"/>
                </a:solidFill>
                <a:latin typeface="Times New Roman"/>
                <a:cs typeface="Times New Roman"/>
              </a:rPr>
              <a:t>Function </a:t>
            </a:r>
            <a:r>
              <a:rPr sz="1800" spc="40" dirty="0">
                <a:solidFill>
                  <a:srgbClr val="FFFFFF"/>
                </a:solidFill>
                <a:latin typeface="Times New Roman"/>
                <a:cs typeface="Times New Roman"/>
              </a:rPr>
              <a:t>(SVF) </a:t>
            </a:r>
            <a:r>
              <a:rPr sz="1800" spc="15" dirty="0">
                <a:solidFill>
                  <a:srgbClr val="FFFFFF"/>
                </a:solidFill>
                <a:latin typeface="Times New Roman"/>
                <a:cs typeface="Times New Roman"/>
              </a:rPr>
              <a:t>always </a:t>
            </a:r>
            <a:r>
              <a:rPr sz="1800" spc="85" dirty="0">
                <a:solidFill>
                  <a:srgbClr val="FFFFFF"/>
                </a:solidFill>
                <a:latin typeface="Times New Roman"/>
                <a:cs typeface="Times New Roman"/>
              </a:rPr>
              <a:t>returns </a:t>
            </a:r>
            <a:r>
              <a:rPr sz="1800" spc="90" dirty="0">
                <a:solidFill>
                  <a:srgbClr val="FFFFFF"/>
                </a:solidFill>
                <a:latin typeface="Times New Roman"/>
                <a:cs typeface="Times New Roman"/>
              </a:rPr>
              <a:t>an </a:t>
            </a:r>
            <a:r>
              <a:rPr sz="1800" spc="70" dirty="0">
                <a:solidFill>
                  <a:srgbClr val="FFFFFF"/>
                </a:solidFill>
                <a:latin typeface="Times New Roman"/>
                <a:cs typeface="Times New Roman"/>
              </a:rPr>
              <a:t>int, </a:t>
            </a:r>
            <a:r>
              <a:rPr sz="1800" spc="50" dirty="0">
                <a:solidFill>
                  <a:srgbClr val="FFFFFF"/>
                </a:solidFill>
                <a:latin typeface="Times New Roman"/>
                <a:cs typeface="Times New Roman"/>
              </a:rPr>
              <a:t>bit, </a:t>
            </a:r>
            <a:r>
              <a:rPr sz="1800" spc="80" dirty="0">
                <a:solidFill>
                  <a:srgbClr val="FFFFFF"/>
                </a:solidFill>
                <a:latin typeface="Times New Roman"/>
                <a:cs typeface="Times New Roman"/>
              </a:rPr>
              <a:t>or </a:t>
            </a:r>
            <a:r>
              <a:rPr sz="1800" spc="55" dirty="0">
                <a:solidFill>
                  <a:srgbClr val="FFFFFF"/>
                </a:solidFill>
                <a:latin typeface="Times New Roman"/>
                <a:cs typeface="Times New Roman"/>
              </a:rPr>
              <a:t>string  </a:t>
            </a:r>
            <a:r>
              <a:rPr sz="1800" spc="40" dirty="0">
                <a:solidFill>
                  <a:srgbClr val="FFFFFF"/>
                </a:solidFill>
                <a:latin typeface="Times New Roman"/>
                <a:cs typeface="Times New Roman"/>
              </a:rPr>
              <a:t>value.</a:t>
            </a:r>
            <a:endParaRPr sz="1800">
              <a:latin typeface="Times New Roman"/>
              <a:cs typeface="Times New Roman"/>
            </a:endParaRPr>
          </a:p>
        </p:txBody>
      </p:sp>
      <p:sp>
        <p:nvSpPr>
          <p:cNvPr id="7" name="object 7"/>
          <p:cNvSpPr txBox="1"/>
          <p:nvPr/>
        </p:nvSpPr>
        <p:spPr>
          <a:xfrm>
            <a:off x="522986" y="4677664"/>
            <a:ext cx="2583815" cy="330200"/>
          </a:xfrm>
          <a:prstGeom prst="rect">
            <a:avLst/>
          </a:prstGeom>
        </p:spPr>
        <p:txBody>
          <a:bodyPr vert="horz" wrap="square" lIns="0" tIns="12065" rIns="0" bIns="0" rtlCol="0">
            <a:spAutoFit/>
          </a:bodyPr>
          <a:lstStyle/>
          <a:p>
            <a:pPr marL="12700">
              <a:lnSpc>
                <a:spcPct val="100000"/>
              </a:lnSpc>
              <a:spcBef>
                <a:spcPts val="95"/>
              </a:spcBef>
            </a:pPr>
            <a:r>
              <a:rPr sz="2000" b="1" spc="-90" dirty="0">
                <a:latin typeface="Arial"/>
                <a:cs typeface="Arial"/>
              </a:rPr>
              <a:t>Table-valued</a:t>
            </a:r>
            <a:r>
              <a:rPr sz="2000" b="1" spc="-204" dirty="0">
                <a:latin typeface="Arial"/>
                <a:cs typeface="Arial"/>
              </a:rPr>
              <a:t> </a:t>
            </a:r>
            <a:r>
              <a:rPr sz="2000" b="1" spc="-114" dirty="0">
                <a:latin typeface="Arial"/>
                <a:cs typeface="Arial"/>
              </a:rPr>
              <a:t>Functions</a:t>
            </a:r>
            <a:endParaRPr sz="2000">
              <a:latin typeface="Arial"/>
              <a:cs typeface="Arial"/>
            </a:endParaRPr>
          </a:p>
        </p:txBody>
      </p:sp>
      <p:sp>
        <p:nvSpPr>
          <p:cNvPr id="8" name="object 8"/>
          <p:cNvSpPr/>
          <p:nvPr/>
        </p:nvSpPr>
        <p:spPr>
          <a:xfrm>
            <a:off x="559308" y="5199126"/>
            <a:ext cx="8022590" cy="990600"/>
          </a:xfrm>
          <a:custGeom>
            <a:avLst/>
            <a:gdLst/>
            <a:ahLst/>
            <a:cxnLst/>
            <a:rect l="l" t="t" r="r" b="b"/>
            <a:pathLst>
              <a:path w="8022590" h="990600">
                <a:moveTo>
                  <a:pt x="8022336" y="165100"/>
                </a:moveTo>
                <a:lnTo>
                  <a:pt x="8016430" y="121208"/>
                </a:lnTo>
                <a:lnTo>
                  <a:pt x="7999793" y="81775"/>
                </a:lnTo>
                <a:lnTo>
                  <a:pt x="7973974" y="48361"/>
                </a:lnTo>
                <a:lnTo>
                  <a:pt x="7940561" y="22542"/>
                </a:lnTo>
                <a:lnTo>
                  <a:pt x="7901127" y="5905"/>
                </a:lnTo>
                <a:lnTo>
                  <a:pt x="7857236" y="0"/>
                </a:lnTo>
                <a:lnTo>
                  <a:pt x="165100" y="0"/>
                </a:lnTo>
                <a:lnTo>
                  <a:pt x="121196" y="5905"/>
                </a:lnTo>
                <a:lnTo>
                  <a:pt x="81762" y="22542"/>
                </a:lnTo>
                <a:lnTo>
                  <a:pt x="48348" y="48361"/>
                </a:lnTo>
                <a:lnTo>
                  <a:pt x="22529" y="81775"/>
                </a:lnTo>
                <a:lnTo>
                  <a:pt x="5892" y="121208"/>
                </a:lnTo>
                <a:lnTo>
                  <a:pt x="0" y="165100"/>
                </a:lnTo>
                <a:lnTo>
                  <a:pt x="0" y="825500"/>
                </a:lnTo>
                <a:lnTo>
                  <a:pt x="5892" y="869391"/>
                </a:lnTo>
                <a:lnTo>
                  <a:pt x="22529" y="908837"/>
                </a:lnTo>
                <a:lnTo>
                  <a:pt x="48348" y="942251"/>
                </a:lnTo>
                <a:lnTo>
                  <a:pt x="81762" y="968057"/>
                </a:lnTo>
                <a:lnTo>
                  <a:pt x="121196" y="984707"/>
                </a:lnTo>
                <a:lnTo>
                  <a:pt x="165100" y="990600"/>
                </a:lnTo>
                <a:lnTo>
                  <a:pt x="7857236" y="990600"/>
                </a:lnTo>
                <a:lnTo>
                  <a:pt x="7901127" y="984707"/>
                </a:lnTo>
                <a:lnTo>
                  <a:pt x="7940561" y="968057"/>
                </a:lnTo>
                <a:lnTo>
                  <a:pt x="7973974" y="942251"/>
                </a:lnTo>
                <a:lnTo>
                  <a:pt x="7999793" y="908837"/>
                </a:lnTo>
                <a:lnTo>
                  <a:pt x="8016430" y="869391"/>
                </a:lnTo>
                <a:lnTo>
                  <a:pt x="8022336" y="825500"/>
                </a:lnTo>
                <a:lnTo>
                  <a:pt x="8022336" y="739902"/>
                </a:lnTo>
                <a:lnTo>
                  <a:pt x="8022336" y="231648"/>
                </a:lnTo>
                <a:lnTo>
                  <a:pt x="8022336" y="165100"/>
                </a:lnTo>
                <a:close/>
              </a:path>
            </a:pathLst>
          </a:custGeom>
          <a:solidFill>
            <a:srgbClr val="000000"/>
          </a:solidFill>
        </p:spPr>
        <p:txBody>
          <a:bodyPr wrap="square" lIns="0" tIns="0" rIns="0" bIns="0" rtlCol="0"/>
          <a:lstStyle/>
          <a:p>
            <a:endParaRPr/>
          </a:p>
        </p:txBody>
      </p:sp>
      <p:sp>
        <p:nvSpPr>
          <p:cNvPr id="9" name="object 9"/>
          <p:cNvSpPr txBox="1"/>
          <p:nvPr/>
        </p:nvSpPr>
        <p:spPr>
          <a:xfrm>
            <a:off x="759713" y="5483097"/>
            <a:ext cx="7081520" cy="299720"/>
          </a:xfrm>
          <a:prstGeom prst="rect">
            <a:avLst/>
          </a:prstGeom>
        </p:spPr>
        <p:txBody>
          <a:bodyPr vert="horz" wrap="square" lIns="0" tIns="12700" rIns="0" bIns="0" rtlCol="0">
            <a:spAutoFit/>
          </a:bodyPr>
          <a:lstStyle/>
          <a:p>
            <a:pPr marL="298450" indent="-285750">
              <a:lnSpc>
                <a:spcPct val="100000"/>
              </a:lnSpc>
              <a:spcBef>
                <a:spcPts val="100"/>
              </a:spcBef>
              <a:buFont typeface="Wingdings"/>
              <a:buChar char=""/>
              <a:tabLst>
                <a:tab pos="298450" algn="l"/>
              </a:tabLst>
            </a:pPr>
            <a:r>
              <a:rPr sz="1800" spc="55" dirty="0">
                <a:solidFill>
                  <a:srgbClr val="FFFFFF"/>
                </a:solidFill>
                <a:latin typeface="Times New Roman"/>
                <a:cs typeface="Times New Roman"/>
              </a:rPr>
              <a:t>Table-valued</a:t>
            </a:r>
            <a:r>
              <a:rPr sz="1800" spc="-90" dirty="0">
                <a:solidFill>
                  <a:srgbClr val="FFFFFF"/>
                </a:solidFill>
                <a:latin typeface="Times New Roman"/>
                <a:cs typeface="Times New Roman"/>
              </a:rPr>
              <a:t> </a:t>
            </a:r>
            <a:r>
              <a:rPr sz="1800" spc="80" dirty="0">
                <a:solidFill>
                  <a:srgbClr val="FFFFFF"/>
                </a:solidFill>
                <a:latin typeface="Times New Roman"/>
                <a:cs typeface="Times New Roman"/>
              </a:rPr>
              <a:t>functions</a:t>
            </a:r>
            <a:r>
              <a:rPr sz="1800" spc="-55" dirty="0">
                <a:solidFill>
                  <a:srgbClr val="FFFFFF"/>
                </a:solidFill>
                <a:latin typeface="Times New Roman"/>
                <a:cs typeface="Times New Roman"/>
              </a:rPr>
              <a:t> </a:t>
            </a:r>
            <a:r>
              <a:rPr sz="1800" spc="45" dirty="0">
                <a:solidFill>
                  <a:srgbClr val="FFFFFF"/>
                </a:solidFill>
                <a:latin typeface="Times New Roman"/>
                <a:cs typeface="Times New Roman"/>
              </a:rPr>
              <a:t>are</a:t>
            </a:r>
            <a:r>
              <a:rPr sz="1800" spc="-70" dirty="0">
                <a:solidFill>
                  <a:srgbClr val="FFFFFF"/>
                </a:solidFill>
                <a:latin typeface="Times New Roman"/>
                <a:cs typeface="Times New Roman"/>
              </a:rPr>
              <a:t> </a:t>
            </a:r>
            <a:r>
              <a:rPr sz="1800" spc="65" dirty="0">
                <a:solidFill>
                  <a:srgbClr val="FFFFFF"/>
                </a:solidFill>
                <a:latin typeface="Times New Roman"/>
                <a:cs typeface="Times New Roman"/>
              </a:rPr>
              <a:t>user-defined</a:t>
            </a:r>
            <a:r>
              <a:rPr sz="1800" spc="-85" dirty="0">
                <a:solidFill>
                  <a:srgbClr val="FFFFFF"/>
                </a:solidFill>
                <a:latin typeface="Times New Roman"/>
                <a:cs typeface="Times New Roman"/>
              </a:rPr>
              <a:t> </a:t>
            </a:r>
            <a:r>
              <a:rPr sz="1800" spc="80" dirty="0">
                <a:solidFill>
                  <a:srgbClr val="FFFFFF"/>
                </a:solidFill>
                <a:latin typeface="Times New Roman"/>
                <a:cs typeface="Times New Roman"/>
              </a:rPr>
              <a:t>functions</a:t>
            </a:r>
            <a:r>
              <a:rPr sz="1800" spc="-60" dirty="0">
                <a:solidFill>
                  <a:srgbClr val="FFFFFF"/>
                </a:solidFill>
                <a:latin typeface="Times New Roman"/>
                <a:cs typeface="Times New Roman"/>
              </a:rPr>
              <a:t> </a:t>
            </a:r>
            <a:r>
              <a:rPr sz="1800" spc="100" dirty="0">
                <a:solidFill>
                  <a:srgbClr val="FFFFFF"/>
                </a:solidFill>
                <a:latin typeface="Times New Roman"/>
                <a:cs typeface="Times New Roman"/>
              </a:rPr>
              <a:t>that</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return</a:t>
            </a:r>
            <a:r>
              <a:rPr sz="1800" spc="-75" dirty="0">
                <a:solidFill>
                  <a:srgbClr val="FFFFFF"/>
                </a:solidFill>
                <a:latin typeface="Times New Roman"/>
                <a:cs typeface="Times New Roman"/>
              </a:rPr>
              <a:t> </a:t>
            </a:r>
            <a:r>
              <a:rPr sz="1800" spc="30" dirty="0">
                <a:solidFill>
                  <a:srgbClr val="FFFFFF"/>
                </a:solidFill>
                <a:latin typeface="Times New Roman"/>
                <a:cs typeface="Times New Roman"/>
              </a:rPr>
              <a:t>a</a:t>
            </a:r>
            <a:r>
              <a:rPr sz="1800" spc="-70" dirty="0">
                <a:solidFill>
                  <a:srgbClr val="FFFFFF"/>
                </a:solidFill>
                <a:latin typeface="Times New Roman"/>
                <a:cs typeface="Times New Roman"/>
              </a:rPr>
              <a:t> </a:t>
            </a:r>
            <a:r>
              <a:rPr sz="1800" spc="45" dirty="0">
                <a:solidFill>
                  <a:srgbClr val="FFFFFF"/>
                </a:solidFill>
                <a:latin typeface="Times New Roman"/>
                <a:cs typeface="Times New Roman"/>
              </a:rPr>
              <a:t>table.</a:t>
            </a:r>
            <a:endParaRPr sz="18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52" baseline="4629" dirty="0"/>
              <a:t>Session </a:t>
            </a:r>
            <a:r>
              <a:rPr sz="1800" spc="-75" baseline="4629" dirty="0"/>
              <a:t>13/</a:t>
            </a:r>
            <a:r>
              <a:rPr sz="1800" spc="-262" baseline="4629" dirty="0"/>
              <a:t> </a:t>
            </a:r>
            <a:fld id="{81D60167-4931-47E6-BA6A-407CBD079E47}" type="slidenum">
              <a:rPr sz="1200" spc="-5" dirty="0"/>
              <a:t>21</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141" y="36575"/>
            <a:ext cx="7860665" cy="635635"/>
          </a:xfrm>
          <a:prstGeom prst="rect">
            <a:avLst/>
          </a:prstGeom>
        </p:spPr>
        <p:txBody>
          <a:bodyPr vert="horz" wrap="square" lIns="0" tIns="12700" rIns="0" bIns="0" rtlCol="0">
            <a:spAutoFit/>
          </a:bodyPr>
          <a:lstStyle/>
          <a:p>
            <a:pPr marL="12700">
              <a:lnSpc>
                <a:spcPct val="100000"/>
              </a:lnSpc>
              <a:spcBef>
                <a:spcPts val="100"/>
              </a:spcBef>
            </a:pPr>
            <a:r>
              <a:rPr spc="150" dirty="0"/>
              <a:t>Altering</a:t>
            </a:r>
            <a:r>
              <a:rPr spc="-175" dirty="0"/>
              <a:t> </a:t>
            </a:r>
            <a:r>
              <a:rPr spc="150" dirty="0"/>
              <a:t>User-defined</a:t>
            </a:r>
            <a:r>
              <a:rPr spc="-170" dirty="0"/>
              <a:t> </a:t>
            </a:r>
            <a:r>
              <a:rPr spc="170" dirty="0"/>
              <a:t>Functions</a:t>
            </a:r>
            <a:r>
              <a:rPr spc="-180" dirty="0"/>
              <a:t> </a:t>
            </a:r>
            <a:r>
              <a:rPr spc="-250" dirty="0"/>
              <a:t>1-2</a:t>
            </a:r>
          </a:p>
        </p:txBody>
      </p:sp>
      <p:sp>
        <p:nvSpPr>
          <p:cNvPr id="3" name="object 3"/>
          <p:cNvSpPr/>
          <p:nvPr/>
        </p:nvSpPr>
        <p:spPr>
          <a:xfrm>
            <a:off x="156210" y="787907"/>
            <a:ext cx="7623175" cy="904875"/>
          </a:xfrm>
          <a:custGeom>
            <a:avLst/>
            <a:gdLst/>
            <a:ahLst/>
            <a:cxnLst/>
            <a:rect l="l" t="t" r="r" b="b"/>
            <a:pathLst>
              <a:path w="7623175" h="904875">
                <a:moveTo>
                  <a:pt x="7623048" y="150749"/>
                </a:moveTo>
                <a:lnTo>
                  <a:pt x="7615364" y="103085"/>
                </a:lnTo>
                <a:lnTo>
                  <a:pt x="7593978" y="61696"/>
                </a:lnTo>
                <a:lnTo>
                  <a:pt x="7561351" y="29070"/>
                </a:lnTo>
                <a:lnTo>
                  <a:pt x="7519962" y="7683"/>
                </a:lnTo>
                <a:lnTo>
                  <a:pt x="7472299" y="0"/>
                </a:lnTo>
                <a:lnTo>
                  <a:pt x="150749" y="0"/>
                </a:lnTo>
                <a:lnTo>
                  <a:pt x="103098" y="7683"/>
                </a:lnTo>
                <a:lnTo>
                  <a:pt x="61709" y="29070"/>
                </a:lnTo>
                <a:lnTo>
                  <a:pt x="29083" y="61696"/>
                </a:lnTo>
                <a:lnTo>
                  <a:pt x="7683" y="103085"/>
                </a:lnTo>
                <a:lnTo>
                  <a:pt x="0" y="150749"/>
                </a:lnTo>
                <a:lnTo>
                  <a:pt x="0" y="753745"/>
                </a:lnTo>
                <a:lnTo>
                  <a:pt x="7683" y="801420"/>
                </a:lnTo>
                <a:lnTo>
                  <a:pt x="29083" y="842810"/>
                </a:lnTo>
                <a:lnTo>
                  <a:pt x="61709" y="875436"/>
                </a:lnTo>
                <a:lnTo>
                  <a:pt x="103098" y="896823"/>
                </a:lnTo>
                <a:lnTo>
                  <a:pt x="150749" y="904494"/>
                </a:lnTo>
                <a:lnTo>
                  <a:pt x="7472299" y="904494"/>
                </a:lnTo>
                <a:lnTo>
                  <a:pt x="7519962" y="896823"/>
                </a:lnTo>
                <a:lnTo>
                  <a:pt x="7561351" y="875436"/>
                </a:lnTo>
                <a:lnTo>
                  <a:pt x="7593978" y="842810"/>
                </a:lnTo>
                <a:lnTo>
                  <a:pt x="7615364" y="801420"/>
                </a:lnTo>
                <a:lnTo>
                  <a:pt x="7623048" y="753745"/>
                </a:lnTo>
                <a:lnTo>
                  <a:pt x="7623048" y="150749"/>
                </a:lnTo>
                <a:close/>
              </a:path>
            </a:pathLst>
          </a:custGeom>
          <a:solidFill>
            <a:srgbClr val="8063A1"/>
          </a:solidFill>
        </p:spPr>
        <p:txBody>
          <a:bodyPr wrap="square" lIns="0" tIns="0" rIns="0" bIns="0" rtlCol="0"/>
          <a:lstStyle/>
          <a:p>
            <a:endParaRPr/>
          </a:p>
        </p:txBody>
      </p:sp>
      <p:sp>
        <p:nvSpPr>
          <p:cNvPr id="4" name="object 4"/>
          <p:cNvSpPr/>
          <p:nvPr/>
        </p:nvSpPr>
        <p:spPr>
          <a:xfrm>
            <a:off x="1264920" y="1783079"/>
            <a:ext cx="7752715" cy="1218565"/>
          </a:xfrm>
          <a:custGeom>
            <a:avLst/>
            <a:gdLst/>
            <a:ahLst/>
            <a:cxnLst/>
            <a:rect l="l" t="t" r="r" b="b"/>
            <a:pathLst>
              <a:path w="7752715" h="1218564">
                <a:moveTo>
                  <a:pt x="7752588" y="203073"/>
                </a:moveTo>
                <a:lnTo>
                  <a:pt x="7747216" y="156514"/>
                </a:lnTo>
                <a:lnTo>
                  <a:pt x="7731938" y="113779"/>
                </a:lnTo>
                <a:lnTo>
                  <a:pt x="7707960" y="76073"/>
                </a:lnTo>
                <a:lnTo>
                  <a:pt x="7676515" y="44627"/>
                </a:lnTo>
                <a:lnTo>
                  <a:pt x="7638809" y="20650"/>
                </a:lnTo>
                <a:lnTo>
                  <a:pt x="7596073" y="5372"/>
                </a:lnTo>
                <a:lnTo>
                  <a:pt x="7549515" y="0"/>
                </a:lnTo>
                <a:lnTo>
                  <a:pt x="203073" y="0"/>
                </a:lnTo>
                <a:lnTo>
                  <a:pt x="156502" y="5372"/>
                </a:lnTo>
                <a:lnTo>
                  <a:pt x="113766" y="20650"/>
                </a:lnTo>
                <a:lnTo>
                  <a:pt x="76060" y="44627"/>
                </a:lnTo>
                <a:lnTo>
                  <a:pt x="44615" y="76073"/>
                </a:lnTo>
                <a:lnTo>
                  <a:pt x="20637" y="113779"/>
                </a:lnTo>
                <a:lnTo>
                  <a:pt x="5359" y="156514"/>
                </a:lnTo>
                <a:lnTo>
                  <a:pt x="0" y="203073"/>
                </a:lnTo>
                <a:lnTo>
                  <a:pt x="0" y="1015365"/>
                </a:lnTo>
                <a:lnTo>
                  <a:pt x="5359" y="1061935"/>
                </a:lnTo>
                <a:lnTo>
                  <a:pt x="20637" y="1104671"/>
                </a:lnTo>
                <a:lnTo>
                  <a:pt x="44615" y="1142377"/>
                </a:lnTo>
                <a:lnTo>
                  <a:pt x="76060" y="1173822"/>
                </a:lnTo>
                <a:lnTo>
                  <a:pt x="113766" y="1197800"/>
                </a:lnTo>
                <a:lnTo>
                  <a:pt x="156502" y="1213078"/>
                </a:lnTo>
                <a:lnTo>
                  <a:pt x="203073" y="1218438"/>
                </a:lnTo>
                <a:lnTo>
                  <a:pt x="7549515" y="1218438"/>
                </a:lnTo>
                <a:lnTo>
                  <a:pt x="7596073" y="1213078"/>
                </a:lnTo>
                <a:lnTo>
                  <a:pt x="7638809" y="1197800"/>
                </a:lnTo>
                <a:lnTo>
                  <a:pt x="7676515" y="1173822"/>
                </a:lnTo>
                <a:lnTo>
                  <a:pt x="7707960" y="1142377"/>
                </a:lnTo>
                <a:lnTo>
                  <a:pt x="7731938" y="1104671"/>
                </a:lnTo>
                <a:lnTo>
                  <a:pt x="7747216" y="1061935"/>
                </a:lnTo>
                <a:lnTo>
                  <a:pt x="7752588" y="1015365"/>
                </a:lnTo>
                <a:lnTo>
                  <a:pt x="7752588" y="922020"/>
                </a:lnTo>
                <a:lnTo>
                  <a:pt x="7752588" y="296418"/>
                </a:lnTo>
                <a:lnTo>
                  <a:pt x="7752588" y="203073"/>
                </a:lnTo>
                <a:close/>
              </a:path>
            </a:pathLst>
          </a:custGeom>
          <a:solidFill>
            <a:srgbClr val="F79546"/>
          </a:solidFill>
        </p:spPr>
        <p:txBody>
          <a:bodyPr wrap="square" lIns="0" tIns="0" rIns="0" bIns="0" rtlCol="0"/>
          <a:lstStyle/>
          <a:p>
            <a:endParaRPr/>
          </a:p>
        </p:txBody>
      </p:sp>
      <p:sp>
        <p:nvSpPr>
          <p:cNvPr id="5" name="object 5"/>
          <p:cNvSpPr txBox="1"/>
          <p:nvPr/>
        </p:nvSpPr>
        <p:spPr>
          <a:xfrm>
            <a:off x="374141" y="848105"/>
            <a:ext cx="8566150" cy="2032000"/>
          </a:xfrm>
          <a:prstGeom prst="rect">
            <a:avLst/>
          </a:prstGeom>
        </p:spPr>
        <p:txBody>
          <a:bodyPr vert="horz" wrap="square" lIns="0" tIns="12700" rIns="0" bIns="0" rtlCol="0">
            <a:spAutoFit/>
          </a:bodyPr>
          <a:lstStyle/>
          <a:p>
            <a:pPr marL="355600" marR="1440815" indent="-342900">
              <a:lnSpc>
                <a:spcPct val="100000"/>
              </a:lnSpc>
              <a:spcBef>
                <a:spcPts val="100"/>
              </a:spcBef>
              <a:buFont typeface="Wingdings"/>
              <a:buChar char=""/>
              <a:tabLst>
                <a:tab pos="355600" algn="l"/>
                <a:tab pos="1170940" algn="l"/>
                <a:tab pos="1723389" algn="l"/>
                <a:tab pos="2713990" algn="l"/>
                <a:tab pos="3235960" algn="l"/>
                <a:tab pos="4885690" algn="l"/>
                <a:tab pos="6169660" algn="l"/>
                <a:tab pos="6546850" algn="l"/>
              </a:tabLst>
            </a:pPr>
            <a:r>
              <a:rPr sz="2200" spc="90" dirty="0">
                <a:solidFill>
                  <a:srgbClr val="FFFFFF"/>
                </a:solidFill>
                <a:latin typeface="Times New Roman"/>
                <a:cs typeface="Times New Roman"/>
              </a:rPr>
              <a:t>Us</a:t>
            </a:r>
            <a:r>
              <a:rPr sz="2200" spc="65" dirty="0">
                <a:solidFill>
                  <a:srgbClr val="FFFFFF"/>
                </a:solidFill>
                <a:latin typeface="Times New Roman"/>
                <a:cs typeface="Times New Roman"/>
              </a:rPr>
              <a:t>e</a:t>
            </a:r>
            <a:r>
              <a:rPr sz="2200" spc="50" dirty="0">
                <a:solidFill>
                  <a:srgbClr val="FFFFFF"/>
                </a:solidFill>
                <a:latin typeface="Times New Roman"/>
                <a:cs typeface="Times New Roman"/>
              </a:rPr>
              <a:t>rs</a:t>
            </a:r>
            <a:r>
              <a:rPr sz="2200" dirty="0">
                <a:solidFill>
                  <a:srgbClr val="FFFFFF"/>
                </a:solidFill>
                <a:latin typeface="Times New Roman"/>
                <a:cs typeface="Times New Roman"/>
              </a:rPr>
              <a:t>	</a:t>
            </a:r>
            <a:r>
              <a:rPr sz="2200" spc="85" dirty="0">
                <a:solidFill>
                  <a:srgbClr val="FFFFFF"/>
                </a:solidFill>
                <a:latin typeface="Times New Roman"/>
                <a:cs typeface="Times New Roman"/>
              </a:rPr>
              <a:t>can</a:t>
            </a:r>
            <a:r>
              <a:rPr sz="2200" dirty="0">
                <a:solidFill>
                  <a:srgbClr val="FFFFFF"/>
                </a:solidFill>
                <a:latin typeface="Times New Roman"/>
                <a:cs typeface="Times New Roman"/>
              </a:rPr>
              <a:t>	</a:t>
            </a:r>
            <a:r>
              <a:rPr sz="2200" spc="65" dirty="0">
                <a:solidFill>
                  <a:srgbClr val="FFFFFF"/>
                </a:solidFill>
                <a:latin typeface="Times New Roman"/>
                <a:cs typeface="Times New Roman"/>
              </a:rPr>
              <a:t>modify</a:t>
            </a:r>
            <a:r>
              <a:rPr sz="2200"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dirty="0">
                <a:solidFill>
                  <a:srgbClr val="FFFFFF"/>
                </a:solidFill>
                <a:latin typeface="Times New Roman"/>
                <a:cs typeface="Times New Roman"/>
              </a:rPr>
              <a:t>	</a:t>
            </a:r>
            <a:r>
              <a:rPr sz="2200" spc="75" dirty="0">
                <a:solidFill>
                  <a:srgbClr val="FFFFFF"/>
                </a:solidFill>
                <a:latin typeface="Times New Roman"/>
                <a:cs typeface="Times New Roman"/>
              </a:rPr>
              <a:t>us</a:t>
            </a:r>
            <a:r>
              <a:rPr sz="2200" spc="65" dirty="0">
                <a:solidFill>
                  <a:srgbClr val="FFFFFF"/>
                </a:solidFill>
                <a:latin typeface="Times New Roman"/>
                <a:cs typeface="Times New Roman"/>
              </a:rPr>
              <a:t>e</a:t>
            </a:r>
            <a:r>
              <a:rPr sz="2200" spc="90" dirty="0">
                <a:solidFill>
                  <a:srgbClr val="FFFFFF"/>
                </a:solidFill>
                <a:latin typeface="Times New Roman"/>
                <a:cs typeface="Times New Roman"/>
              </a:rPr>
              <a:t>r</a:t>
            </a:r>
            <a:r>
              <a:rPr sz="2200" spc="10" dirty="0">
                <a:solidFill>
                  <a:srgbClr val="FFFFFF"/>
                </a:solidFill>
                <a:latin typeface="Times New Roman"/>
                <a:cs typeface="Times New Roman"/>
              </a:rPr>
              <a:t>-</a:t>
            </a:r>
            <a:r>
              <a:rPr sz="2200" spc="75" dirty="0">
                <a:solidFill>
                  <a:srgbClr val="FFFFFF"/>
                </a:solidFill>
                <a:latin typeface="Times New Roman"/>
                <a:cs typeface="Times New Roman"/>
              </a:rPr>
              <a:t>define</a:t>
            </a:r>
            <a:r>
              <a:rPr sz="2200" spc="140" dirty="0">
                <a:solidFill>
                  <a:srgbClr val="FFFFFF"/>
                </a:solidFill>
                <a:latin typeface="Times New Roman"/>
                <a:cs typeface="Times New Roman"/>
              </a:rPr>
              <a:t>d</a:t>
            </a:r>
            <a:r>
              <a:rPr sz="2200" dirty="0">
                <a:solidFill>
                  <a:srgbClr val="FFFFFF"/>
                </a:solidFill>
                <a:latin typeface="Times New Roman"/>
                <a:cs typeface="Times New Roman"/>
              </a:rPr>
              <a:t>	</a:t>
            </a:r>
            <a:r>
              <a:rPr sz="2200" spc="120" dirty="0">
                <a:solidFill>
                  <a:srgbClr val="FFFFFF"/>
                </a:solidFill>
                <a:latin typeface="Times New Roman"/>
                <a:cs typeface="Times New Roman"/>
              </a:rPr>
              <a:t>fu</a:t>
            </a:r>
            <a:r>
              <a:rPr sz="2200" spc="130" dirty="0">
                <a:solidFill>
                  <a:srgbClr val="FFFFFF"/>
                </a:solidFill>
                <a:latin typeface="Times New Roman"/>
                <a:cs typeface="Times New Roman"/>
              </a:rPr>
              <a:t>n</a:t>
            </a:r>
            <a:r>
              <a:rPr sz="2200" spc="80" dirty="0">
                <a:solidFill>
                  <a:srgbClr val="FFFFFF"/>
                </a:solidFill>
                <a:latin typeface="Times New Roman"/>
                <a:cs typeface="Times New Roman"/>
              </a:rPr>
              <a:t>ctions</a:t>
            </a:r>
            <a:r>
              <a:rPr sz="2200" dirty="0">
                <a:solidFill>
                  <a:srgbClr val="FFFFFF"/>
                </a:solidFill>
                <a:latin typeface="Times New Roman"/>
                <a:cs typeface="Times New Roman"/>
              </a:rPr>
              <a:t>	</a:t>
            </a:r>
            <a:r>
              <a:rPr sz="2200" spc="70" dirty="0">
                <a:solidFill>
                  <a:srgbClr val="FFFFFF"/>
                </a:solidFill>
                <a:latin typeface="Times New Roman"/>
                <a:cs typeface="Times New Roman"/>
              </a:rPr>
              <a:t>i</a:t>
            </a:r>
            <a:r>
              <a:rPr sz="2200" spc="135" dirty="0">
                <a:solidFill>
                  <a:srgbClr val="FFFFFF"/>
                </a:solidFill>
                <a:latin typeface="Times New Roman"/>
                <a:cs typeface="Times New Roman"/>
              </a:rPr>
              <a:t>n</a:t>
            </a:r>
            <a:r>
              <a:rPr sz="2200" dirty="0">
                <a:solidFill>
                  <a:srgbClr val="FFFFFF"/>
                </a:solidFill>
                <a:latin typeface="Times New Roman"/>
                <a:cs typeface="Times New Roman"/>
              </a:rPr>
              <a:t>	</a:t>
            </a:r>
            <a:r>
              <a:rPr sz="2200" spc="80" dirty="0">
                <a:solidFill>
                  <a:srgbClr val="FFFFFF"/>
                </a:solidFill>
                <a:latin typeface="Times New Roman"/>
                <a:cs typeface="Times New Roman"/>
              </a:rPr>
              <a:t>SQL  </a:t>
            </a:r>
            <a:r>
              <a:rPr sz="2200" spc="70" dirty="0">
                <a:solidFill>
                  <a:srgbClr val="FFFFFF"/>
                </a:solidFill>
                <a:latin typeface="Times New Roman"/>
                <a:cs typeface="Times New Roman"/>
              </a:rPr>
              <a:t>Server</a:t>
            </a:r>
            <a:r>
              <a:rPr sz="2200" spc="-100" dirty="0">
                <a:solidFill>
                  <a:srgbClr val="FFFFFF"/>
                </a:solidFill>
                <a:latin typeface="Times New Roman"/>
                <a:cs typeface="Times New Roman"/>
              </a:rPr>
              <a:t> 2019</a:t>
            </a:r>
            <a:r>
              <a:rPr sz="2200" spc="-90" dirty="0">
                <a:solidFill>
                  <a:srgbClr val="FFFFFF"/>
                </a:solidFill>
                <a:latin typeface="Times New Roman"/>
                <a:cs typeface="Times New Roman"/>
              </a:rPr>
              <a:t> </a:t>
            </a:r>
            <a:r>
              <a:rPr sz="2200" spc="50" dirty="0">
                <a:solidFill>
                  <a:srgbClr val="FFFFFF"/>
                </a:solidFill>
                <a:latin typeface="Times New Roman"/>
                <a:cs typeface="Times New Roman"/>
              </a:rPr>
              <a:t>by</a:t>
            </a:r>
            <a:r>
              <a:rPr sz="2200" spc="-95" dirty="0">
                <a:solidFill>
                  <a:srgbClr val="FFFFFF"/>
                </a:solidFill>
                <a:latin typeface="Times New Roman"/>
                <a:cs typeface="Times New Roman"/>
              </a:rPr>
              <a:t> </a:t>
            </a:r>
            <a:r>
              <a:rPr sz="2200" spc="70" dirty="0">
                <a:solidFill>
                  <a:srgbClr val="FFFFFF"/>
                </a:solidFill>
                <a:latin typeface="Times New Roman"/>
                <a:cs typeface="Times New Roman"/>
              </a:rPr>
              <a:t>using</a:t>
            </a:r>
            <a:r>
              <a:rPr sz="2200" spc="-95" dirty="0">
                <a:solidFill>
                  <a:srgbClr val="FFFFFF"/>
                </a:solidFill>
                <a:latin typeface="Times New Roman"/>
                <a:cs typeface="Times New Roman"/>
              </a:rPr>
              <a:t> </a:t>
            </a:r>
            <a:r>
              <a:rPr sz="2200" spc="125" dirty="0">
                <a:solidFill>
                  <a:srgbClr val="FFFFFF"/>
                </a:solidFill>
                <a:latin typeface="Times New Roman"/>
                <a:cs typeface="Times New Roman"/>
              </a:rPr>
              <a:t>the</a:t>
            </a:r>
            <a:r>
              <a:rPr sz="2200" spc="-100" dirty="0">
                <a:solidFill>
                  <a:srgbClr val="FFFFFF"/>
                </a:solidFill>
                <a:latin typeface="Times New Roman"/>
                <a:cs typeface="Times New Roman"/>
              </a:rPr>
              <a:t> </a:t>
            </a:r>
            <a:r>
              <a:rPr sz="2200" spc="90" dirty="0">
                <a:solidFill>
                  <a:srgbClr val="FFFFFF"/>
                </a:solidFill>
                <a:latin typeface="Times New Roman"/>
                <a:cs typeface="Times New Roman"/>
              </a:rPr>
              <a:t>Transact-SQL</a:t>
            </a:r>
            <a:r>
              <a:rPr sz="2200" spc="-95" dirty="0">
                <a:solidFill>
                  <a:srgbClr val="FFFFFF"/>
                </a:solidFill>
                <a:latin typeface="Times New Roman"/>
                <a:cs typeface="Times New Roman"/>
              </a:rPr>
              <a:t> </a:t>
            </a:r>
            <a:r>
              <a:rPr sz="2200" spc="95" dirty="0">
                <a:solidFill>
                  <a:srgbClr val="FFFFFF"/>
                </a:solidFill>
                <a:latin typeface="Times New Roman"/>
                <a:cs typeface="Times New Roman"/>
              </a:rPr>
              <a:t>or</a:t>
            </a:r>
            <a:r>
              <a:rPr sz="2200" spc="-105" dirty="0">
                <a:solidFill>
                  <a:srgbClr val="FFFFFF"/>
                </a:solidFill>
                <a:latin typeface="Times New Roman"/>
                <a:cs typeface="Times New Roman"/>
              </a:rPr>
              <a:t> </a:t>
            </a:r>
            <a:r>
              <a:rPr sz="2200" spc="65" dirty="0">
                <a:solidFill>
                  <a:srgbClr val="FFFFFF"/>
                </a:solidFill>
                <a:latin typeface="Times New Roman"/>
                <a:cs typeface="Times New Roman"/>
              </a:rPr>
              <a:t>SSMS.</a:t>
            </a:r>
            <a:endParaRPr sz="2200">
              <a:latin typeface="Times New Roman"/>
              <a:cs typeface="Times New Roman"/>
            </a:endParaRPr>
          </a:p>
          <a:p>
            <a:pPr marL="1325245" marR="5080" lvl="1" indent="-342900" algn="just">
              <a:lnSpc>
                <a:spcPct val="100000"/>
              </a:lnSpc>
              <a:spcBef>
                <a:spcPts val="2595"/>
              </a:spcBef>
              <a:buFont typeface="Wingdings"/>
              <a:buChar char=""/>
              <a:tabLst>
                <a:tab pos="1325880" algn="l"/>
              </a:tabLst>
            </a:pPr>
            <a:r>
              <a:rPr sz="2200" spc="110" dirty="0">
                <a:solidFill>
                  <a:srgbClr val="FFFFFF"/>
                </a:solidFill>
                <a:latin typeface="Times New Roman"/>
                <a:cs typeface="Times New Roman"/>
              </a:rPr>
              <a:t>Changing </a:t>
            </a:r>
            <a:r>
              <a:rPr sz="2200" spc="120" dirty="0">
                <a:solidFill>
                  <a:srgbClr val="FFFFFF"/>
                </a:solidFill>
                <a:latin typeface="Times New Roman"/>
                <a:cs typeface="Times New Roman"/>
              </a:rPr>
              <a:t>the </a:t>
            </a:r>
            <a:r>
              <a:rPr sz="2200" spc="75" dirty="0">
                <a:solidFill>
                  <a:srgbClr val="FFFFFF"/>
                </a:solidFill>
                <a:latin typeface="Times New Roman"/>
                <a:cs typeface="Times New Roman"/>
              </a:rPr>
              <a:t>user-defined </a:t>
            </a:r>
            <a:r>
              <a:rPr sz="2200" spc="95" dirty="0">
                <a:solidFill>
                  <a:srgbClr val="FFFFFF"/>
                </a:solidFill>
                <a:latin typeface="Times New Roman"/>
                <a:cs typeface="Times New Roman"/>
              </a:rPr>
              <a:t>functions </a:t>
            </a:r>
            <a:r>
              <a:rPr sz="2200" spc="70" dirty="0">
                <a:solidFill>
                  <a:srgbClr val="FFFFFF"/>
                </a:solidFill>
                <a:latin typeface="Times New Roman"/>
                <a:cs typeface="Times New Roman"/>
              </a:rPr>
              <a:t>does </a:t>
            </a:r>
            <a:r>
              <a:rPr sz="2200" spc="140" dirty="0">
                <a:solidFill>
                  <a:srgbClr val="FFFFFF"/>
                </a:solidFill>
                <a:latin typeface="Times New Roman"/>
                <a:cs typeface="Times New Roman"/>
              </a:rPr>
              <a:t>not </a:t>
            </a:r>
            <a:r>
              <a:rPr sz="2200" spc="60" dirty="0">
                <a:solidFill>
                  <a:srgbClr val="FFFFFF"/>
                </a:solidFill>
                <a:latin typeface="Times New Roman"/>
                <a:cs typeface="Times New Roman"/>
              </a:rPr>
              <a:t>modify </a:t>
            </a:r>
            <a:r>
              <a:rPr sz="2200" spc="120" dirty="0">
                <a:solidFill>
                  <a:srgbClr val="FFFFFF"/>
                </a:solidFill>
                <a:latin typeface="Times New Roman"/>
                <a:cs typeface="Times New Roman"/>
              </a:rPr>
              <a:t>the  </a:t>
            </a:r>
            <a:r>
              <a:rPr sz="2200" spc="70" dirty="0">
                <a:solidFill>
                  <a:srgbClr val="FFFFFF"/>
                </a:solidFill>
                <a:latin typeface="Times New Roman"/>
                <a:cs typeface="Times New Roman"/>
              </a:rPr>
              <a:t>functions’ </a:t>
            </a:r>
            <a:r>
              <a:rPr sz="2200" spc="55" dirty="0">
                <a:solidFill>
                  <a:srgbClr val="FFFFFF"/>
                </a:solidFill>
                <a:latin typeface="Times New Roman"/>
                <a:cs typeface="Times New Roman"/>
              </a:rPr>
              <a:t>permissions, </a:t>
            </a:r>
            <a:r>
              <a:rPr sz="2200" spc="125" dirty="0">
                <a:solidFill>
                  <a:srgbClr val="FFFFFF"/>
                </a:solidFill>
                <a:latin typeface="Times New Roman"/>
                <a:cs typeface="Times New Roman"/>
              </a:rPr>
              <a:t>nor </a:t>
            </a:r>
            <a:r>
              <a:rPr sz="2200" spc="15" dirty="0">
                <a:solidFill>
                  <a:srgbClr val="FFFFFF"/>
                </a:solidFill>
                <a:latin typeface="Times New Roman"/>
                <a:cs typeface="Times New Roman"/>
              </a:rPr>
              <a:t>will </a:t>
            </a:r>
            <a:r>
              <a:rPr sz="2200" spc="70" dirty="0">
                <a:solidFill>
                  <a:srgbClr val="FFFFFF"/>
                </a:solidFill>
                <a:latin typeface="Times New Roman"/>
                <a:cs typeface="Times New Roman"/>
              </a:rPr>
              <a:t>it </a:t>
            </a:r>
            <a:r>
              <a:rPr sz="2200" spc="45" dirty="0">
                <a:solidFill>
                  <a:srgbClr val="FFFFFF"/>
                </a:solidFill>
                <a:latin typeface="Times New Roman"/>
                <a:cs typeface="Times New Roman"/>
              </a:rPr>
              <a:t>affect </a:t>
            </a:r>
            <a:r>
              <a:rPr sz="2200" spc="75" dirty="0">
                <a:solidFill>
                  <a:srgbClr val="FFFFFF"/>
                </a:solidFill>
                <a:latin typeface="Times New Roman"/>
                <a:cs typeface="Times New Roman"/>
              </a:rPr>
              <a:t>any </a:t>
            </a:r>
            <a:r>
              <a:rPr sz="2200" spc="85" dirty="0">
                <a:solidFill>
                  <a:srgbClr val="FFFFFF"/>
                </a:solidFill>
                <a:latin typeface="Times New Roman"/>
                <a:cs typeface="Times New Roman"/>
              </a:rPr>
              <a:t>stored  </a:t>
            </a:r>
            <a:r>
              <a:rPr sz="2200" spc="75" dirty="0">
                <a:solidFill>
                  <a:srgbClr val="FFFFFF"/>
                </a:solidFill>
                <a:latin typeface="Times New Roman"/>
                <a:cs typeface="Times New Roman"/>
              </a:rPr>
              <a:t>procedures, </a:t>
            </a:r>
            <a:r>
              <a:rPr sz="2200" spc="35" dirty="0">
                <a:solidFill>
                  <a:srgbClr val="FFFFFF"/>
                </a:solidFill>
                <a:latin typeface="Times New Roman"/>
                <a:cs typeface="Times New Roman"/>
              </a:rPr>
              <a:t>triggers, </a:t>
            </a:r>
            <a:r>
              <a:rPr sz="2200" spc="95" dirty="0">
                <a:solidFill>
                  <a:srgbClr val="FFFFFF"/>
                </a:solidFill>
                <a:latin typeface="Times New Roman"/>
                <a:cs typeface="Times New Roman"/>
              </a:rPr>
              <a:t>or</a:t>
            </a:r>
            <a:r>
              <a:rPr sz="2200" spc="-409" dirty="0">
                <a:solidFill>
                  <a:srgbClr val="FFFFFF"/>
                </a:solidFill>
                <a:latin typeface="Times New Roman"/>
                <a:cs typeface="Times New Roman"/>
              </a:rPr>
              <a:t> </a:t>
            </a:r>
            <a:r>
              <a:rPr sz="2200" spc="85" dirty="0">
                <a:solidFill>
                  <a:srgbClr val="FFFFFF"/>
                </a:solidFill>
                <a:latin typeface="Times New Roman"/>
                <a:cs typeface="Times New Roman"/>
              </a:rPr>
              <a:t>functions.</a:t>
            </a:r>
            <a:endParaRPr sz="2200">
              <a:latin typeface="Times New Roman"/>
              <a:cs typeface="Times New Roman"/>
            </a:endParaRPr>
          </a:p>
        </p:txBody>
      </p:sp>
      <p:sp>
        <p:nvSpPr>
          <p:cNvPr id="8" name="object 8"/>
          <p:cNvSpPr txBox="1"/>
          <p:nvPr/>
        </p:nvSpPr>
        <p:spPr>
          <a:xfrm>
            <a:off x="7872983" y="6569709"/>
            <a:ext cx="94043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62" baseline="4629" dirty="0">
                <a:latin typeface="Times New Roman"/>
                <a:cs typeface="Times New Roman"/>
              </a:rPr>
              <a:t> </a:t>
            </a:r>
            <a:fld id="{81D60167-4931-47E6-BA6A-407CBD079E47}" type="slidenum">
              <a:rPr sz="1200" spc="-20" dirty="0">
                <a:latin typeface="Times New Roman"/>
                <a:cs typeface="Times New Roman"/>
              </a:rPr>
              <a:t>22</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6" name="object 6"/>
          <p:cNvSpPr txBox="1"/>
          <p:nvPr/>
        </p:nvSpPr>
        <p:spPr>
          <a:xfrm>
            <a:off x="234950" y="3212083"/>
            <a:ext cx="8606790" cy="2796540"/>
          </a:xfrm>
          <a:prstGeom prst="rect">
            <a:avLst/>
          </a:prstGeom>
        </p:spPr>
        <p:txBody>
          <a:bodyPr vert="horz" wrap="square" lIns="0" tIns="12065" rIns="0" bIns="0" rtlCol="0">
            <a:spAutoFit/>
          </a:bodyPr>
          <a:lstStyle/>
          <a:p>
            <a:pPr marL="12700">
              <a:lnSpc>
                <a:spcPts val="2380"/>
              </a:lnSpc>
              <a:spcBef>
                <a:spcPts val="95"/>
              </a:spcBef>
            </a:pPr>
            <a:r>
              <a:rPr sz="2000" b="1" spc="-85" dirty="0">
                <a:latin typeface="Arial"/>
                <a:cs typeface="Arial"/>
              </a:rPr>
              <a:t>Limitations </a:t>
            </a:r>
            <a:r>
              <a:rPr sz="2000" b="1" spc="-120" dirty="0">
                <a:latin typeface="Arial"/>
                <a:cs typeface="Arial"/>
              </a:rPr>
              <a:t>and</a:t>
            </a:r>
            <a:r>
              <a:rPr sz="2000" b="1" spc="-250" dirty="0">
                <a:latin typeface="Arial"/>
                <a:cs typeface="Arial"/>
              </a:rPr>
              <a:t> </a:t>
            </a:r>
            <a:r>
              <a:rPr sz="2000" b="1" spc="-114" dirty="0">
                <a:latin typeface="Arial"/>
                <a:cs typeface="Arial"/>
              </a:rPr>
              <a:t>Restrictions</a:t>
            </a:r>
            <a:endParaRPr sz="2000">
              <a:latin typeface="Arial"/>
              <a:cs typeface="Arial"/>
            </a:endParaRPr>
          </a:p>
          <a:p>
            <a:pPr marL="188595">
              <a:lnSpc>
                <a:spcPts val="2140"/>
              </a:lnSpc>
            </a:pPr>
            <a:r>
              <a:rPr sz="1800" spc="120" dirty="0">
                <a:latin typeface="Times New Roman"/>
                <a:cs typeface="Times New Roman"/>
              </a:rPr>
              <a:t>The</a:t>
            </a:r>
            <a:r>
              <a:rPr sz="1800" spc="-60" dirty="0">
                <a:latin typeface="Times New Roman"/>
                <a:cs typeface="Times New Roman"/>
              </a:rPr>
              <a:t> </a:t>
            </a:r>
            <a:r>
              <a:rPr sz="1800" spc="75" dirty="0">
                <a:latin typeface="Times New Roman"/>
                <a:cs typeface="Times New Roman"/>
              </a:rPr>
              <a:t>ALTER</a:t>
            </a:r>
            <a:r>
              <a:rPr sz="1800" spc="-65" dirty="0">
                <a:latin typeface="Times New Roman"/>
                <a:cs typeface="Times New Roman"/>
              </a:rPr>
              <a:t> </a:t>
            </a:r>
            <a:r>
              <a:rPr sz="1800" spc="135" dirty="0">
                <a:latin typeface="Times New Roman"/>
                <a:cs typeface="Times New Roman"/>
              </a:rPr>
              <a:t>FUNCTION</a:t>
            </a:r>
            <a:r>
              <a:rPr sz="1800" spc="-75" dirty="0">
                <a:latin typeface="Times New Roman"/>
                <a:cs typeface="Times New Roman"/>
              </a:rPr>
              <a:t> </a:t>
            </a:r>
            <a:r>
              <a:rPr sz="1800" spc="60" dirty="0">
                <a:latin typeface="Times New Roman"/>
                <a:cs typeface="Times New Roman"/>
              </a:rPr>
              <a:t>does</a:t>
            </a:r>
            <a:r>
              <a:rPr sz="1800" spc="-60" dirty="0">
                <a:latin typeface="Times New Roman"/>
                <a:cs typeface="Times New Roman"/>
              </a:rPr>
              <a:t> </a:t>
            </a:r>
            <a:r>
              <a:rPr sz="1800" spc="120" dirty="0">
                <a:latin typeface="Times New Roman"/>
                <a:cs typeface="Times New Roman"/>
              </a:rPr>
              <a:t>not</a:t>
            </a:r>
            <a:r>
              <a:rPr sz="1800" spc="-55" dirty="0">
                <a:latin typeface="Times New Roman"/>
                <a:cs typeface="Times New Roman"/>
              </a:rPr>
              <a:t> </a:t>
            </a:r>
            <a:r>
              <a:rPr sz="1800" spc="30" dirty="0">
                <a:latin typeface="Times New Roman"/>
                <a:cs typeface="Times New Roman"/>
              </a:rPr>
              <a:t>allow</a:t>
            </a:r>
            <a:r>
              <a:rPr sz="1800" spc="-70" dirty="0">
                <a:latin typeface="Times New Roman"/>
                <a:cs typeface="Times New Roman"/>
              </a:rPr>
              <a:t> </a:t>
            </a:r>
            <a:r>
              <a:rPr sz="1800" spc="50" dirty="0">
                <a:latin typeface="Times New Roman"/>
                <a:cs typeface="Times New Roman"/>
              </a:rPr>
              <a:t>users</a:t>
            </a:r>
            <a:r>
              <a:rPr sz="1800" spc="-55" dirty="0">
                <a:latin typeface="Times New Roman"/>
                <a:cs typeface="Times New Roman"/>
              </a:rPr>
              <a:t> </a:t>
            </a:r>
            <a:r>
              <a:rPr sz="1800" spc="100" dirty="0">
                <a:latin typeface="Times New Roman"/>
                <a:cs typeface="Times New Roman"/>
              </a:rPr>
              <a:t>to</a:t>
            </a:r>
            <a:r>
              <a:rPr sz="1800" spc="-70" dirty="0">
                <a:latin typeface="Times New Roman"/>
                <a:cs typeface="Times New Roman"/>
              </a:rPr>
              <a:t> </a:t>
            </a:r>
            <a:r>
              <a:rPr sz="1800" spc="65" dirty="0">
                <a:latin typeface="Times New Roman"/>
                <a:cs typeface="Times New Roman"/>
              </a:rPr>
              <a:t>perform</a:t>
            </a:r>
            <a:r>
              <a:rPr sz="1800" spc="-55" dirty="0">
                <a:latin typeface="Times New Roman"/>
                <a:cs typeface="Times New Roman"/>
              </a:rPr>
              <a:t> </a:t>
            </a:r>
            <a:r>
              <a:rPr sz="1800" spc="100" dirty="0">
                <a:latin typeface="Times New Roman"/>
                <a:cs typeface="Times New Roman"/>
              </a:rPr>
              <a:t>the</a:t>
            </a:r>
            <a:r>
              <a:rPr sz="1800" spc="-60" dirty="0">
                <a:latin typeface="Times New Roman"/>
                <a:cs typeface="Times New Roman"/>
              </a:rPr>
              <a:t> </a:t>
            </a:r>
            <a:r>
              <a:rPr sz="1800" spc="40" dirty="0">
                <a:latin typeface="Times New Roman"/>
                <a:cs typeface="Times New Roman"/>
              </a:rPr>
              <a:t>following</a:t>
            </a:r>
            <a:r>
              <a:rPr sz="1800" spc="-55" dirty="0">
                <a:latin typeface="Times New Roman"/>
                <a:cs typeface="Times New Roman"/>
              </a:rPr>
              <a:t> </a:t>
            </a:r>
            <a:r>
              <a:rPr sz="1800" spc="45" dirty="0">
                <a:latin typeface="Times New Roman"/>
                <a:cs typeface="Times New Roman"/>
              </a:rPr>
              <a:t>actions:</a:t>
            </a:r>
            <a:endParaRPr sz="1800">
              <a:latin typeface="Times New Roman"/>
              <a:cs typeface="Times New Roman"/>
            </a:endParaRPr>
          </a:p>
          <a:p>
            <a:pPr marL="474345" indent="-286385">
              <a:lnSpc>
                <a:spcPct val="100000"/>
              </a:lnSpc>
              <a:buFont typeface="Wingdings"/>
              <a:buChar char=""/>
              <a:tabLst>
                <a:tab pos="474980" algn="l"/>
              </a:tabLst>
            </a:pPr>
            <a:r>
              <a:rPr sz="1800" spc="45" dirty="0">
                <a:latin typeface="Times New Roman"/>
                <a:cs typeface="Times New Roman"/>
              </a:rPr>
              <a:t>Modify</a:t>
            </a:r>
            <a:r>
              <a:rPr sz="1800" spc="-60"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40" dirty="0">
                <a:latin typeface="Times New Roman"/>
                <a:cs typeface="Times New Roman"/>
              </a:rPr>
              <a:t>scalar-valued</a:t>
            </a:r>
            <a:r>
              <a:rPr sz="1800" spc="-75" dirty="0">
                <a:latin typeface="Times New Roman"/>
                <a:cs typeface="Times New Roman"/>
              </a:rPr>
              <a:t> </a:t>
            </a:r>
            <a:r>
              <a:rPr sz="1800" spc="85" dirty="0">
                <a:latin typeface="Times New Roman"/>
                <a:cs typeface="Times New Roman"/>
              </a:rPr>
              <a:t>function</a:t>
            </a:r>
            <a:r>
              <a:rPr sz="1800" spc="-75" dirty="0">
                <a:latin typeface="Times New Roman"/>
                <a:cs typeface="Times New Roman"/>
              </a:rPr>
              <a:t> </a:t>
            </a:r>
            <a:r>
              <a:rPr sz="1800" spc="100" dirty="0">
                <a:latin typeface="Times New Roman"/>
                <a:cs typeface="Times New Roman"/>
              </a:rPr>
              <a:t>to</a:t>
            </a:r>
            <a:r>
              <a:rPr sz="1800" spc="-65"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50" dirty="0">
                <a:latin typeface="Times New Roman"/>
                <a:cs typeface="Times New Roman"/>
              </a:rPr>
              <a:t>table-valued</a:t>
            </a:r>
            <a:r>
              <a:rPr sz="1800" spc="-90" dirty="0">
                <a:latin typeface="Times New Roman"/>
                <a:cs typeface="Times New Roman"/>
              </a:rPr>
              <a:t> </a:t>
            </a:r>
            <a:r>
              <a:rPr sz="1800" spc="75" dirty="0">
                <a:latin typeface="Times New Roman"/>
                <a:cs typeface="Times New Roman"/>
              </a:rPr>
              <a:t>function.</a:t>
            </a:r>
            <a:endParaRPr sz="1800">
              <a:latin typeface="Times New Roman"/>
              <a:cs typeface="Times New Roman"/>
            </a:endParaRPr>
          </a:p>
          <a:p>
            <a:pPr marL="474345" indent="-286385">
              <a:lnSpc>
                <a:spcPct val="100000"/>
              </a:lnSpc>
              <a:buFont typeface="Wingdings"/>
              <a:buChar char=""/>
              <a:tabLst>
                <a:tab pos="474980" algn="l"/>
              </a:tabLst>
            </a:pPr>
            <a:r>
              <a:rPr sz="1800" spc="45" dirty="0">
                <a:latin typeface="Times New Roman"/>
                <a:cs typeface="Times New Roman"/>
              </a:rPr>
              <a:t>Modify</a:t>
            </a:r>
            <a:r>
              <a:rPr sz="1800" spc="-60" dirty="0">
                <a:latin typeface="Times New Roman"/>
                <a:cs typeface="Times New Roman"/>
              </a:rPr>
              <a:t> </a:t>
            </a:r>
            <a:r>
              <a:rPr sz="1800" spc="90" dirty="0">
                <a:latin typeface="Times New Roman"/>
                <a:cs typeface="Times New Roman"/>
              </a:rPr>
              <a:t>an</a:t>
            </a:r>
            <a:r>
              <a:rPr sz="1800" spc="-70" dirty="0">
                <a:latin typeface="Times New Roman"/>
                <a:cs typeface="Times New Roman"/>
              </a:rPr>
              <a:t> </a:t>
            </a:r>
            <a:r>
              <a:rPr sz="1800" spc="65" dirty="0">
                <a:latin typeface="Times New Roman"/>
                <a:cs typeface="Times New Roman"/>
              </a:rPr>
              <a:t>inline</a:t>
            </a:r>
            <a:r>
              <a:rPr sz="1800" spc="-70" dirty="0">
                <a:latin typeface="Times New Roman"/>
                <a:cs typeface="Times New Roman"/>
              </a:rPr>
              <a:t> </a:t>
            </a:r>
            <a:r>
              <a:rPr sz="1800" spc="85" dirty="0">
                <a:latin typeface="Times New Roman"/>
                <a:cs typeface="Times New Roman"/>
              </a:rPr>
              <a:t>function</a:t>
            </a:r>
            <a:r>
              <a:rPr sz="1800" spc="-65" dirty="0">
                <a:latin typeface="Times New Roman"/>
                <a:cs typeface="Times New Roman"/>
              </a:rPr>
              <a:t> </a:t>
            </a:r>
            <a:r>
              <a:rPr sz="1800" spc="100" dirty="0">
                <a:latin typeface="Times New Roman"/>
                <a:cs typeface="Times New Roman"/>
              </a:rPr>
              <a:t>to</a:t>
            </a:r>
            <a:r>
              <a:rPr sz="1800" spc="-70"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70" dirty="0">
                <a:latin typeface="Times New Roman"/>
                <a:cs typeface="Times New Roman"/>
              </a:rPr>
              <a:t>multi-statement</a:t>
            </a:r>
            <a:r>
              <a:rPr sz="1800" spc="-75" dirty="0">
                <a:latin typeface="Times New Roman"/>
                <a:cs typeface="Times New Roman"/>
              </a:rPr>
              <a:t> </a:t>
            </a:r>
            <a:r>
              <a:rPr sz="1800" spc="75" dirty="0">
                <a:latin typeface="Times New Roman"/>
                <a:cs typeface="Times New Roman"/>
              </a:rPr>
              <a:t>function.</a:t>
            </a:r>
            <a:endParaRPr sz="1800">
              <a:latin typeface="Times New Roman"/>
              <a:cs typeface="Times New Roman"/>
            </a:endParaRPr>
          </a:p>
          <a:p>
            <a:pPr marL="474345" indent="-286385">
              <a:lnSpc>
                <a:spcPct val="100000"/>
              </a:lnSpc>
              <a:buFont typeface="Wingdings"/>
              <a:buChar char=""/>
              <a:tabLst>
                <a:tab pos="474980" algn="l"/>
              </a:tabLst>
            </a:pPr>
            <a:r>
              <a:rPr sz="1800" spc="45" dirty="0">
                <a:latin typeface="Times New Roman"/>
                <a:cs typeface="Times New Roman"/>
              </a:rPr>
              <a:t>Modify</a:t>
            </a:r>
            <a:r>
              <a:rPr sz="1800" spc="-60"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70" dirty="0">
                <a:latin typeface="Times New Roman"/>
                <a:cs typeface="Times New Roman"/>
              </a:rPr>
              <a:t>Transact-SQL</a:t>
            </a:r>
            <a:r>
              <a:rPr sz="1800" spc="-80" dirty="0">
                <a:latin typeface="Times New Roman"/>
                <a:cs typeface="Times New Roman"/>
              </a:rPr>
              <a:t> </a:t>
            </a:r>
            <a:r>
              <a:rPr sz="1800" spc="100" dirty="0">
                <a:latin typeface="Times New Roman"/>
                <a:cs typeface="Times New Roman"/>
              </a:rPr>
              <a:t>to</a:t>
            </a:r>
            <a:r>
              <a:rPr sz="1800" spc="-70"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105" dirty="0">
                <a:latin typeface="Times New Roman"/>
                <a:cs typeface="Times New Roman"/>
              </a:rPr>
              <a:t>CLR</a:t>
            </a:r>
            <a:r>
              <a:rPr sz="1800" spc="-70" dirty="0">
                <a:latin typeface="Times New Roman"/>
                <a:cs typeface="Times New Roman"/>
              </a:rPr>
              <a:t> </a:t>
            </a:r>
            <a:r>
              <a:rPr sz="1800" spc="75" dirty="0">
                <a:latin typeface="Times New Roman"/>
                <a:cs typeface="Times New Roman"/>
              </a:rPr>
              <a:t>function.</a:t>
            </a:r>
            <a:endParaRPr sz="1800">
              <a:latin typeface="Times New Roman"/>
              <a:cs typeface="Times New Roman"/>
            </a:endParaRPr>
          </a:p>
          <a:p>
            <a:pPr>
              <a:lnSpc>
                <a:spcPct val="100000"/>
              </a:lnSpc>
              <a:spcBef>
                <a:spcPts val="40"/>
              </a:spcBef>
            </a:pPr>
            <a:endParaRPr sz="3100">
              <a:latin typeface="Times New Roman"/>
              <a:cs typeface="Times New Roman"/>
            </a:endParaRPr>
          </a:p>
          <a:p>
            <a:pPr marL="48260">
              <a:lnSpc>
                <a:spcPct val="100000"/>
              </a:lnSpc>
            </a:pPr>
            <a:r>
              <a:rPr sz="2000" b="1" spc="-165" dirty="0">
                <a:latin typeface="Arial"/>
                <a:cs typeface="Arial"/>
              </a:rPr>
              <a:t>Permissions</a:t>
            </a:r>
            <a:endParaRPr sz="2000">
              <a:latin typeface="Arial"/>
              <a:cs typeface="Arial"/>
            </a:endParaRPr>
          </a:p>
          <a:p>
            <a:pPr marL="77470" marR="5080">
              <a:lnSpc>
                <a:spcPct val="100000"/>
              </a:lnSpc>
              <a:spcBef>
                <a:spcPts val="495"/>
              </a:spcBef>
            </a:pPr>
            <a:r>
              <a:rPr sz="1800" spc="120" dirty="0">
                <a:latin typeface="Times New Roman"/>
                <a:cs typeface="Times New Roman"/>
              </a:rPr>
              <a:t>The </a:t>
            </a:r>
            <a:r>
              <a:rPr sz="1800" spc="75" dirty="0">
                <a:latin typeface="Times New Roman"/>
                <a:cs typeface="Times New Roman"/>
              </a:rPr>
              <a:t>ALTER </a:t>
            </a:r>
            <a:r>
              <a:rPr sz="1800" spc="55" dirty="0">
                <a:latin typeface="Times New Roman"/>
                <a:cs typeface="Times New Roman"/>
              </a:rPr>
              <a:t>permission </a:t>
            </a:r>
            <a:r>
              <a:rPr sz="1800" spc="5" dirty="0">
                <a:latin typeface="Times New Roman"/>
                <a:cs typeface="Times New Roman"/>
              </a:rPr>
              <a:t>is </a:t>
            </a:r>
            <a:r>
              <a:rPr sz="1800" spc="75" dirty="0">
                <a:latin typeface="Times New Roman"/>
                <a:cs typeface="Times New Roman"/>
              </a:rPr>
              <a:t>required </a:t>
            </a:r>
            <a:r>
              <a:rPr sz="1800" spc="120" dirty="0">
                <a:latin typeface="Times New Roman"/>
                <a:cs typeface="Times New Roman"/>
              </a:rPr>
              <a:t>on </a:t>
            </a:r>
            <a:r>
              <a:rPr sz="1800" spc="100" dirty="0">
                <a:latin typeface="Times New Roman"/>
                <a:cs typeface="Times New Roman"/>
              </a:rPr>
              <a:t>the </a:t>
            </a:r>
            <a:r>
              <a:rPr sz="1800" spc="55" dirty="0">
                <a:latin typeface="Times New Roman"/>
                <a:cs typeface="Times New Roman"/>
              </a:rPr>
              <a:t>schema </a:t>
            </a:r>
            <a:r>
              <a:rPr sz="1800" spc="75" dirty="0">
                <a:latin typeface="Times New Roman"/>
                <a:cs typeface="Times New Roman"/>
              </a:rPr>
              <a:t>or </a:t>
            </a:r>
            <a:r>
              <a:rPr sz="1800" spc="105" dirty="0">
                <a:latin typeface="Times New Roman"/>
                <a:cs typeface="Times New Roman"/>
              </a:rPr>
              <a:t>the </a:t>
            </a:r>
            <a:r>
              <a:rPr sz="1800" spc="75" dirty="0">
                <a:latin typeface="Times New Roman"/>
                <a:cs typeface="Times New Roman"/>
              </a:rPr>
              <a:t>function. </a:t>
            </a:r>
            <a:r>
              <a:rPr sz="1800" dirty="0">
                <a:latin typeface="Times New Roman"/>
                <a:cs typeface="Times New Roman"/>
              </a:rPr>
              <a:t>If </a:t>
            </a:r>
            <a:r>
              <a:rPr sz="1800" spc="100" dirty="0">
                <a:latin typeface="Times New Roman"/>
                <a:cs typeface="Times New Roman"/>
              </a:rPr>
              <a:t>the </a:t>
            </a:r>
            <a:r>
              <a:rPr sz="1800" spc="85" dirty="0">
                <a:latin typeface="Times New Roman"/>
                <a:cs typeface="Times New Roman"/>
              </a:rPr>
              <a:t>function  </a:t>
            </a:r>
            <a:r>
              <a:rPr sz="1800" spc="25" dirty="0">
                <a:latin typeface="Times New Roman"/>
                <a:cs typeface="Times New Roman"/>
              </a:rPr>
              <a:t>specifies</a:t>
            </a:r>
            <a:r>
              <a:rPr sz="1800" spc="-60" dirty="0">
                <a:latin typeface="Times New Roman"/>
                <a:cs typeface="Times New Roman"/>
              </a:rPr>
              <a:t> </a:t>
            </a:r>
            <a:r>
              <a:rPr sz="1800" spc="30" dirty="0">
                <a:latin typeface="Times New Roman"/>
                <a:cs typeface="Times New Roman"/>
              </a:rPr>
              <a:t>a</a:t>
            </a:r>
            <a:r>
              <a:rPr sz="1800" spc="-65" dirty="0">
                <a:latin typeface="Times New Roman"/>
                <a:cs typeface="Times New Roman"/>
              </a:rPr>
              <a:t> </a:t>
            </a:r>
            <a:r>
              <a:rPr sz="1800" spc="65" dirty="0">
                <a:latin typeface="Times New Roman"/>
                <a:cs typeface="Times New Roman"/>
              </a:rPr>
              <a:t>user-defined</a:t>
            </a:r>
            <a:r>
              <a:rPr sz="1800" spc="-75" dirty="0">
                <a:latin typeface="Times New Roman"/>
                <a:cs typeface="Times New Roman"/>
              </a:rPr>
              <a:t> </a:t>
            </a:r>
            <a:r>
              <a:rPr sz="1800" spc="50" dirty="0">
                <a:latin typeface="Times New Roman"/>
                <a:cs typeface="Times New Roman"/>
              </a:rPr>
              <a:t>type,</a:t>
            </a:r>
            <a:r>
              <a:rPr sz="1800" spc="-60" dirty="0">
                <a:latin typeface="Times New Roman"/>
                <a:cs typeface="Times New Roman"/>
              </a:rPr>
              <a:t> </a:t>
            </a:r>
            <a:r>
              <a:rPr sz="1800" spc="114" dirty="0">
                <a:latin typeface="Times New Roman"/>
                <a:cs typeface="Times New Roman"/>
              </a:rPr>
              <a:t>then</a:t>
            </a:r>
            <a:r>
              <a:rPr sz="1800" spc="-60" dirty="0">
                <a:latin typeface="Times New Roman"/>
                <a:cs typeface="Times New Roman"/>
              </a:rPr>
              <a:t> </a:t>
            </a:r>
            <a:r>
              <a:rPr sz="1800" spc="60" dirty="0">
                <a:latin typeface="Times New Roman"/>
                <a:cs typeface="Times New Roman"/>
              </a:rPr>
              <a:t>it</a:t>
            </a:r>
            <a:r>
              <a:rPr sz="1800" spc="-60" dirty="0">
                <a:latin typeface="Times New Roman"/>
                <a:cs typeface="Times New Roman"/>
              </a:rPr>
              <a:t> </a:t>
            </a:r>
            <a:r>
              <a:rPr sz="1800" spc="60" dirty="0">
                <a:latin typeface="Times New Roman"/>
                <a:cs typeface="Times New Roman"/>
              </a:rPr>
              <a:t>requires</a:t>
            </a:r>
            <a:r>
              <a:rPr sz="1800" spc="-75" dirty="0">
                <a:latin typeface="Times New Roman"/>
                <a:cs typeface="Times New Roman"/>
              </a:rPr>
              <a:t> </a:t>
            </a:r>
            <a:r>
              <a:rPr sz="1800" spc="100" dirty="0">
                <a:latin typeface="Times New Roman"/>
                <a:cs typeface="Times New Roman"/>
              </a:rPr>
              <a:t>the</a:t>
            </a:r>
            <a:r>
              <a:rPr sz="1800" spc="-65" dirty="0">
                <a:latin typeface="Times New Roman"/>
                <a:cs typeface="Times New Roman"/>
              </a:rPr>
              <a:t> </a:t>
            </a:r>
            <a:r>
              <a:rPr sz="1800" spc="85" dirty="0">
                <a:latin typeface="Times New Roman"/>
                <a:cs typeface="Times New Roman"/>
              </a:rPr>
              <a:t>EXECUTE</a:t>
            </a:r>
            <a:r>
              <a:rPr sz="1800" spc="-70" dirty="0">
                <a:latin typeface="Times New Roman"/>
                <a:cs typeface="Times New Roman"/>
              </a:rPr>
              <a:t> </a:t>
            </a:r>
            <a:r>
              <a:rPr sz="1800" spc="55" dirty="0">
                <a:latin typeface="Times New Roman"/>
                <a:cs typeface="Times New Roman"/>
              </a:rPr>
              <a:t>permission</a:t>
            </a:r>
            <a:r>
              <a:rPr sz="1800" spc="-55" dirty="0">
                <a:latin typeface="Times New Roman"/>
                <a:cs typeface="Times New Roman"/>
              </a:rPr>
              <a:t> </a:t>
            </a:r>
            <a:r>
              <a:rPr sz="1800" spc="120" dirty="0">
                <a:latin typeface="Times New Roman"/>
                <a:cs typeface="Times New Roman"/>
              </a:rPr>
              <a:t>on</a:t>
            </a:r>
            <a:r>
              <a:rPr sz="1800" spc="-65" dirty="0">
                <a:latin typeface="Times New Roman"/>
                <a:cs typeface="Times New Roman"/>
              </a:rPr>
              <a:t> </a:t>
            </a:r>
            <a:r>
              <a:rPr sz="1800" spc="100" dirty="0">
                <a:latin typeface="Times New Roman"/>
                <a:cs typeface="Times New Roman"/>
              </a:rPr>
              <a:t>the</a:t>
            </a:r>
            <a:r>
              <a:rPr sz="1800" spc="-60" dirty="0">
                <a:latin typeface="Times New Roman"/>
                <a:cs typeface="Times New Roman"/>
              </a:rPr>
              <a:t> </a:t>
            </a:r>
            <a:r>
              <a:rPr sz="1800" spc="50" dirty="0">
                <a:latin typeface="Times New Roman"/>
                <a:cs typeface="Times New Roman"/>
              </a:rPr>
              <a:t>type.</a:t>
            </a:r>
            <a:endParaRPr sz="18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7134859" cy="574040"/>
          </a:xfrm>
          <a:prstGeom prst="rect">
            <a:avLst/>
          </a:prstGeom>
        </p:spPr>
        <p:txBody>
          <a:bodyPr vert="horz" wrap="square" lIns="0" tIns="12700" rIns="0" bIns="0" rtlCol="0">
            <a:spAutoFit/>
          </a:bodyPr>
          <a:lstStyle/>
          <a:p>
            <a:pPr marL="12700">
              <a:lnSpc>
                <a:spcPct val="100000"/>
              </a:lnSpc>
              <a:spcBef>
                <a:spcPts val="100"/>
              </a:spcBef>
            </a:pPr>
            <a:r>
              <a:rPr sz="3600" spc="135" dirty="0"/>
              <a:t>Altering</a:t>
            </a:r>
            <a:r>
              <a:rPr sz="3600" spc="-160" dirty="0"/>
              <a:t> </a:t>
            </a:r>
            <a:r>
              <a:rPr sz="3600" spc="135" dirty="0"/>
              <a:t>User-defined</a:t>
            </a:r>
            <a:r>
              <a:rPr sz="3600" spc="-145" dirty="0"/>
              <a:t> </a:t>
            </a:r>
            <a:r>
              <a:rPr sz="3600" spc="150" dirty="0"/>
              <a:t>Functions</a:t>
            </a:r>
            <a:r>
              <a:rPr sz="3600" spc="-145" dirty="0"/>
              <a:t> </a:t>
            </a:r>
            <a:r>
              <a:rPr sz="3600" spc="-75" dirty="0"/>
              <a:t>2-2</a:t>
            </a:r>
            <a:endParaRPr sz="3600"/>
          </a:p>
        </p:txBody>
      </p:sp>
      <p:sp>
        <p:nvSpPr>
          <p:cNvPr id="3" name="object 3"/>
          <p:cNvSpPr txBox="1"/>
          <p:nvPr/>
        </p:nvSpPr>
        <p:spPr>
          <a:xfrm>
            <a:off x="345186" y="796544"/>
            <a:ext cx="5151120" cy="330200"/>
          </a:xfrm>
          <a:prstGeom prst="rect">
            <a:avLst/>
          </a:prstGeom>
        </p:spPr>
        <p:txBody>
          <a:bodyPr vert="horz" wrap="square" lIns="0" tIns="12065" rIns="0" bIns="0" rtlCol="0">
            <a:spAutoFit/>
          </a:bodyPr>
          <a:lstStyle/>
          <a:p>
            <a:pPr marL="12700">
              <a:lnSpc>
                <a:spcPct val="100000"/>
              </a:lnSpc>
              <a:spcBef>
                <a:spcPts val="95"/>
              </a:spcBef>
            </a:pPr>
            <a:r>
              <a:rPr sz="2000" b="1" spc="-60" dirty="0">
                <a:latin typeface="Arial"/>
                <a:cs typeface="Arial"/>
              </a:rPr>
              <a:t>Modifying </a:t>
            </a:r>
            <a:r>
              <a:rPr sz="2000" b="1" spc="-195" dirty="0">
                <a:latin typeface="Arial"/>
                <a:cs typeface="Arial"/>
              </a:rPr>
              <a:t>a </a:t>
            </a:r>
            <a:r>
              <a:rPr sz="2000" b="1" spc="-90" dirty="0">
                <a:latin typeface="Arial"/>
                <a:cs typeface="Arial"/>
              </a:rPr>
              <a:t>User-defined </a:t>
            </a:r>
            <a:r>
              <a:rPr sz="2000" b="1" spc="-70" dirty="0">
                <a:latin typeface="Arial"/>
                <a:cs typeface="Arial"/>
              </a:rPr>
              <a:t>function </a:t>
            </a:r>
            <a:r>
              <a:rPr sz="2000" b="1" spc="-145" dirty="0">
                <a:latin typeface="Arial"/>
                <a:cs typeface="Arial"/>
              </a:rPr>
              <a:t>using</a:t>
            </a:r>
            <a:r>
              <a:rPr sz="2000" b="1" spc="-420" dirty="0">
                <a:latin typeface="Arial"/>
                <a:cs typeface="Arial"/>
              </a:rPr>
              <a:t> </a:t>
            </a:r>
            <a:r>
              <a:rPr sz="2000" b="1" spc="-80" dirty="0">
                <a:latin typeface="Arial"/>
                <a:cs typeface="Arial"/>
              </a:rPr>
              <a:t>SSMS</a:t>
            </a:r>
            <a:endParaRPr sz="2000">
              <a:latin typeface="Arial"/>
              <a:cs typeface="Arial"/>
            </a:endParaRPr>
          </a:p>
        </p:txBody>
      </p:sp>
      <p:pic>
        <p:nvPicPr>
          <p:cNvPr id="4" name="object 4"/>
          <p:cNvPicPr/>
          <p:nvPr/>
        </p:nvPicPr>
        <p:blipFill>
          <a:blip r:embed="rId3" cstate="print"/>
          <a:stretch>
            <a:fillRect/>
          </a:stretch>
        </p:blipFill>
        <p:spPr>
          <a:xfrm>
            <a:off x="815339" y="1151382"/>
            <a:ext cx="6738366" cy="2529078"/>
          </a:xfrm>
          <a:prstGeom prst="rect">
            <a:avLst/>
          </a:prstGeom>
        </p:spPr>
      </p:pic>
      <p:sp>
        <p:nvSpPr>
          <p:cNvPr id="5" name="object 5"/>
          <p:cNvSpPr txBox="1"/>
          <p:nvPr/>
        </p:nvSpPr>
        <p:spPr>
          <a:xfrm>
            <a:off x="345186" y="3983989"/>
            <a:ext cx="6014085" cy="330200"/>
          </a:xfrm>
          <a:prstGeom prst="rect">
            <a:avLst/>
          </a:prstGeom>
        </p:spPr>
        <p:txBody>
          <a:bodyPr vert="horz" wrap="square" lIns="0" tIns="12065" rIns="0" bIns="0" rtlCol="0">
            <a:spAutoFit/>
          </a:bodyPr>
          <a:lstStyle/>
          <a:p>
            <a:pPr marL="12700">
              <a:lnSpc>
                <a:spcPct val="100000"/>
              </a:lnSpc>
              <a:spcBef>
                <a:spcPts val="95"/>
              </a:spcBef>
            </a:pPr>
            <a:r>
              <a:rPr sz="2000" b="1" spc="-60" dirty="0">
                <a:latin typeface="Arial"/>
                <a:cs typeface="Arial"/>
              </a:rPr>
              <a:t>Modifying </a:t>
            </a:r>
            <a:r>
              <a:rPr sz="2000" b="1" spc="-195" dirty="0">
                <a:latin typeface="Arial"/>
                <a:cs typeface="Arial"/>
              </a:rPr>
              <a:t>a </a:t>
            </a:r>
            <a:r>
              <a:rPr sz="2000" b="1" spc="-90" dirty="0">
                <a:latin typeface="Arial"/>
                <a:cs typeface="Arial"/>
              </a:rPr>
              <a:t>User-defined </a:t>
            </a:r>
            <a:r>
              <a:rPr sz="2000" b="1" spc="-70" dirty="0">
                <a:latin typeface="Arial"/>
                <a:cs typeface="Arial"/>
              </a:rPr>
              <a:t>function </a:t>
            </a:r>
            <a:r>
              <a:rPr sz="2000" b="1" spc="-145" dirty="0">
                <a:latin typeface="Arial"/>
                <a:cs typeface="Arial"/>
              </a:rPr>
              <a:t>using</a:t>
            </a:r>
            <a:r>
              <a:rPr sz="2000" b="1" spc="-400" dirty="0">
                <a:latin typeface="Arial"/>
                <a:cs typeface="Arial"/>
              </a:rPr>
              <a:t> </a:t>
            </a:r>
            <a:r>
              <a:rPr sz="2000" b="1" spc="-85" dirty="0">
                <a:latin typeface="Arial"/>
                <a:cs typeface="Arial"/>
              </a:rPr>
              <a:t>Transact-SQL</a:t>
            </a:r>
            <a:endParaRPr sz="2000">
              <a:latin typeface="Arial"/>
              <a:cs typeface="Arial"/>
            </a:endParaRPr>
          </a:p>
        </p:txBody>
      </p:sp>
      <p:pic>
        <p:nvPicPr>
          <p:cNvPr id="6" name="object 6"/>
          <p:cNvPicPr/>
          <p:nvPr/>
        </p:nvPicPr>
        <p:blipFill>
          <a:blip r:embed="rId4" cstate="print"/>
          <a:stretch>
            <a:fillRect/>
          </a:stretch>
        </p:blipFill>
        <p:spPr>
          <a:xfrm>
            <a:off x="858011" y="4400550"/>
            <a:ext cx="6653022" cy="1643634"/>
          </a:xfrm>
          <a:prstGeom prst="rect">
            <a:avLst/>
          </a:prstGeom>
        </p:spPr>
      </p:pic>
      <p:sp>
        <p:nvSpPr>
          <p:cNvPr id="8" name="object 8"/>
          <p:cNvSpPr txBox="1"/>
          <p:nvPr/>
        </p:nvSpPr>
        <p:spPr>
          <a:xfrm>
            <a:off x="7872983" y="6569709"/>
            <a:ext cx="94043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62" baseline="4629" dirty="0">
                <a:latin typeface="Times New Roman"/>
                <a:cs typeface="Times New Roman"/>
              </a:rPr>
              <a:t> </a:t>
            </a:r>
            <a:fld id="{81D60167-4931-47E6-BA6A-407CBD079E47}" type="slidenum">
              <a:rPr sz="1200" spc="-20" dirty="0">
                <a:latin typeface="Times New Roman"/>
                <a:cs typeface="Times New Roman"/>
              </a:rPr>
              <a:t>23</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6788150" cy="574040"/>
          </a:xfrm>
          <a:prstGeom prst="rect">
            <a:avLst/>
          </a:prstGeom>
        </p:spPr>
        <p:txBody>
          <a:bodyPr vert="horz" wrap="square" lIns="0" tIns="12700" rIns="0" bIns="0" rtlCol="0">
            <a:spAutoFit/>
          </a:bodyPr>
          <a:lstStyle/>
          <a:p>
            <a:pPr marL="12700">
              <a:lnSpc>
                <a:spcPct val="100000"/>
              </a:lnSpc>
              <a:spcBef>
                <a:spcPts val="100"/>
              </a:spcBef>
            </a:pPr>
            <a:r>
              <a:rPr sz="3600" spc="190" dirty="0"/>
              <a:t>Creation</a:t>
            </a:r>
            <a:r>
              <a:rPr sz="3600" spc="-145" dirty="0"/>
              <a:t> </a:t>
            </a:r>
            <a:r>
              <a:rPr sz="3600" spc="105" dirty="0"/>
              <a:t>of</a:t>
            </a:r>
            <a:r>
              <a:rPr sz="3600" spc="-140" dirty="0"/>
              <a:t> </a:t>
            </a:r>
            <a:r>
              <a:rPr sz="3600" spc="204" dirty="0"/>
              <a:t>Windows</a:t>
            </a:r>
            <a:r>
              <a:rPr sz="3600" spc="-145" dirty="0"/>
              <a:t> </a:t>
            </a:r>
            <a:r>
              <a:rPr sz="3600" spc="160" dirty="0"/>
              <a:t>with</a:t>
            </a:r>
            <a:r>
              <a:rPr sz="3600" spc="-155" dirty="0"/>
              <a:t> </a:t>
            </a:r>
            <a:r>
              <a:rPr sz="3600" spc="229" dirty="0"/>
              <a:t>OVER</a:t>
            </a:r>
            <a:endParaRPr sz="3600"/>
          </a:p>
        </p:txBody>
      </p:sp>
      <p:sp>
        <p:nvSpPr>
          <p:cNvPr id="3" name="object 3"/>
          <p:cNvSpPr/>
          <p:nvPr/>
        </p:nvSpPr>
        <p:spPr>
          <a:xfrm>
            <a:off x="790956" y="1008887"/>
            <a:ext cx="8040370" cy="971550"/>
          </a:xfrm>
          <a:custGeom>
            <a:avLst/>
            <a:gdLst/>
            <a:ahLst/>
            <a:cxnLst/>
            <a:rect l="l" t="t" r="r" b="b"/>
            <a:pathLst>
              <a:path w="8040370" h="971550">
                <a:moveTo>
                  <a:pt x="8039862" y="161925"/>
                </a:moveTo>
                <a:lnTo>
                  <a:pt x="8034071" y="118897"/>
                </a:lnTo>
                <a:lnTo>
                  <a:pt x="8017738" y="80213"/>
                </a:lnTo>
                <a:lnTo>
                  <a:pt x="7992415" y="47434"/>
                </a:lnTo>
                <a:lnTo>
                  <a:pt x="7959649" y="22123"/>
                </a:lnTo>
                <a:lnTo>
                  <a:pt x="7920964" y="5791"/>
                </a:lnTo>
                <a:lnTo>
                  <a:pt x="7877937" y="0"/>
                </a:lnTo>
                <a:lnTo>
                  <a:pt x="161937" y="0"/>
                </a:lnTo>
                <a:lnTo>
                  <a:pt x="118884" y="5791"/>
                </a:lnTo>
                <a:lnTo>
                  <a:pt x="80200" y="22123"/>
                </a:lnTo>
                <a:lnTo>
                  <a:pt x="47421" y="47434"/>
                </a:lnTo>
                <a:lnTo>
                  <a:pt x="22098" y="80213"/>
                </a:lnTo>
                <a:lnTo>
                  <a:pt x="5778" y="118897"/>
                </a:lnTo>
                <a:lnTo>
                  <a:pt x="0" y="161925"/>
                </a:lnTo>
                <a:lnTo>
                  <a:pt x="0" y="809625"/>
                </a:lnTo>
                <a:lnTo>
                  <a:pt x="5778" y="852665"/>
                </a:lnTo>
                <a:lnTo>
                  <a:pt x="22098" y="891349"/>
                </a:lnTo>
                <a:lnTo>
                  <a:pt x="47421" y="924115"/>
                </a:lnTo>
                <a:lnTo>
                  <a:pt x="80200" y="949439"/>
                </a:lnTo>
                <a:lnTo>
                  <a:pt x="118884" y="965771"/>
                </a:lnTo>
                <a:lnTo>
                  <a:pt x="161937" y="971550"/>
                </a:lnTo>
                <a:lnTo>
                  <a:pt x="7877937" y="971550"/>
                </a:lnTo>
                <a:lnTo>
                  <a:pt x="7920964" y="965771"/>
                </a:lnTo>
                <a:lnTo>
                  <a:pt x="7959649" y="949439"/>
                </a:lnTo>
                <a:lnTo>
                  <a:pt x="7992415" y="924115"/>
                </a:lnTo>
                <a:lnTo>
                  <a:pt x="8017738" y="891349"/>
                </a:lnTo>
                <a:lnTo>
                  <a:pt x="8034071" y="852665"/>
                </a:lnTo>
                <a:lnTo>
                  <a:pt x="8039862" y="809625"/>
                </a:lnTo>
                <a:lnTo>
                  <a:pt x="8039862" y="161925"/>
                </a:lnTo>
                <a:close/>
              </a:path>
            </a:pathLst>
          </a:custGeom>
          <a:solidFill>
            <a:srgbClr val="003300"/>
          </a:solidFill>
        </p:spPr>
        <p:txBody>
          <a:bodyPr wrap="square" lIns="0" tIns="0" rIns="0" bIns="0" rtlCol="0"/>
          <a:lstStyle/>
          <a:p>
            <a:endParaRPr/>
          </a:p>
        </p:txBody>
      </p:sp>
      <p:sp>
        <p:nvSpPr>
          <p:cNvPr id="4" name="object 4"/>
          <p:cNvSpPr/>
          <p:nvPr/>
        </p:nvSpPr>
        <p:spPr>
          <a:xfrm>
            <a:off x="790956" y="2373629"/>
            <a:ext cx="8040370" cy="1055370"/>
          </a:xfrm>
          <a:custGeom>
            <a:avLst/>
            <a:gdLst/>
            <a:ahLst/>
            <a:cxnLst/>
            <a:rect l="l" t="t" r="r" b="b"/>
            <a:pathLst>
              <a:path w="8040370" h="1055370">
                <a:moveTo>
                  <a:pt x="8039862" y="175895"/>
                </a:moveTo>
                <a:lnTo>
                  <a:pt x="8033575" y="129133"/>
                </a:lnTo>
                <a:lnTo>
                  <a:pt x="8015846" y="87122"/>
                </a:lnTo>
                <a:lnTo>
                  <a:pt x="7988338" y="51523"/>
                </a:lnTo>
                <a:lnTo>
                  <a:pt x="7952740" y="24015"/>
                </a:lnTo>
                <a:lnTo>
                  <a:pt x="7910728" y="6286"/>
                </a:lnTo>
                <a:lnTo>
                  <a:pt x="7863967" y="0"/>
                </a:lnTo>
                <a:lnTo>
                  <a:pt x="175895" y="0"/>
                </a:lnTo>
                <a:lnTo>
                  <a:pt x="129133" y="6286"/>
                </a:lnTo>
                <a:lnTo>
                  <a:pt x="87109" y="24015"/>
                </a:lnTo>
                <a:lnTo>
                  <a:pt x="51511" y="51523"/>
                </a:lnTo>
                <a:lnTo>
                  <a:pt x="24003" y="87122"/>
                </a:lnTo>
                <a:lnTo>
                  <a:pt x="6273" y="129133"/>
                </a:lnTo>
                <a:lnTo>
                  <a:pt x="0" y="175895"/>
                </a:lnTo>
                <a:lnTo>
                  <a:pt x="0" y="879475"/>
                </a:lnTo>
                <a:lnTo>
                  <a:pt x="6273" y="926249"/>
                </a:lnTo>
                <a:lnTo>
                  <a:pt x="24003" y="968260"/>
                </a:lnTo>
                <a:lnTo>
                  <a:pt x="51511" y="1003858"/>
                </a:lnTo>
                <a:lnTo>
                  <a:pt x="87109" y="1031367"/>
                </a:lnTo>
                <a:lnTo>
                  <a:pt x="129133" y="1049096"/>
                </a:lnTo>
                <a:lnTo>
                  <a:pt x="175895" y="1055370"/>
                </a:lnTo>
                <a:lnTo>
                  <a:pt x="7863967" y="1055370"/>
                </a:lnTo>
                <a:lnTo>
                  <a:pt x="7910728" y="1049096"/>
                </a:lnTo>
                <a:lnTo>
                  <a:pt x="7952740" y="1031367"/>
                </a:lnTo>
                <a:lnTo>
                  <a:pt x="7988338" y="1003858"/>
                </a:lnTo>
                <a:lnTo>
                  <a:pt x="8015846" y="968260"/>
                </a:lnTo>
                <a:lnTo>
                  <a:pt x="8033575" y="926249"/>
                </a:lnTo>
                <a:lnTo>
                  <a:pt x="8039862" y="879475"/>
                </a:lnTo>
                <a:lnTo>
                  <a:pt x="8039862" y="175895"/>
                </a:lnTo>
                <a:close/>
              </a:path>
            </a:pathLst>
          </a:custGeom>
          <a:solidFill>
            <a:srgbClr val="C0504D"/>
          </a:solidFill>
        </p:spPr>
        <p:txBody>
          <a:bodyPr wrap="square" lIns="0" tIns="0" rIns="0" bIns="0" rtlCol="0"/>
          <a:lstStyle/>
          <a:p>
            <a:endParaRPr/>
          </a:p>
        </p:txBody>
      </p:sp>
      <p:sp>
        <p:nvSpPr>
          <p:cNvPr id="5" name="object 5"/>
          <p:cNvSpPr txBox="1"/>
          <p:nvPr/>
        </p:nvSpPr>
        <p:spPr>
          <a:xfrm>
            <a:off x="1017016" y="1121410"/>
            <a:ext cx="7545705" cy="2134235"/>
          </a:xfrm>
          <a:prstGeom prst="rect">
            <a:avLst/>
          </a:prstGeom>
        </p:spPr>
        <p:txBody>
          <a:bodyPr vert="horz" wrap="square" lIns="0" tIns="12700" rIns="0" bIns="0" rtlCol="0">
            <a:spAutoFit/>
          </a:bodyPr>
          <a:lstStyle/>
          <a:p>
            <a:pPr marL="380365" marR="5715" indent="-342900">
              <a:lnSpc>
                <a:spcPct val="100000"/>
              </a:lnSpc>
              <a:spcBef>
                <a:spcPts val="100"/>
              </a:spcBef>
              <a:buFont typeface="Wingdings"/>
              <a:buChar char=""/>
              <a:tabLst>
                <a:tab pos="381000" algn="l"/>
                <a:tab pos="778510" algn="l"/>
                <a:tab pos="2710815" algn="l"/>
                <a:tab pos="3240405" algn="l"/>
                <a:tab pos="4213860" algn="l"/>
                <a:tab pos="5088255" algn="l"/>
                <a:tab pos="5417185" algn="l"/>
                <a:tab pos="6115685" algn="l"/>
                <a:tab pos="6504305" algn="l"/>
                <a:tab pos="7402195" algn="l"/>
              </a:tabLst>
            </a:pPr>
            <a:r>
              <a:rPr sz="2200" spc="70" dirty="0">
                <a:solidFill>
                  <a:srgbClr val="FFFFFF"/>
                </a:solidFill>
                <a:latin typeface="Times New Roman"/>
                <a:cs typeface="Times New Roman"/>
              </a:rPr>
              <a:t>I</a:t>
            </a:r>
            <a:r>
              <a:rPr sz="2200" spc="110" dirty="0">
                <a:solidFill>
                  <a:srgbClr val="FFFFFF"/>
                </a:solidFill>
                <a:latin typeface="Times New Roman"/>
                <a:cs typeface="Times New Roman"/>
              </a:rPr>
              <a:t>n</a:t>
            </a:r>
            <a:r>
              <a:rPr sz="2200" dirty="0">
                <a:solidFill>
                  <a:srgbClr val="FFFFFF"/>
                </a:solidFill>
                <a:latin typeface="Times New Roman"/>
                <a:cs typeface="Times New Roman"/>
              </a:rPr>
              <a:t>	</a:t>
            </a:r>
            <a:r>
              <a:rPr sz="2200" spc="95" dirty="0">
                <a:solidFill>
                  <a:srgbClr val="FFFFFF"/>
                </a:solidFill>
                <a:latin typeface="Times New Roman"/>
                <a:cs typeface="Times New Roman"/>
              </a:rPr>
              <a:t>Trans</a:t>
            </a:r>
            <a:r>
              <a:rPr sz="2200" spc="85" dirty="0">
                <a:solidFill>
                  <a:srgbClr val="FFFFFF"/>
                </a:solidFill>
                <a:latin typeface="Times New Roman"/>
                <a:cs typeface="Times New Roman"/>
              </a:rPr>
              <a:t>a</a:t>
            </a:r>
            <a:r>
              <a:rPr sz="2200" spc="95" dirty="0">
                <a:solidFill>
                  <a:srgbClr val="FFFFFF"/>
                </a:solidFill>
                <a:latin typeface="Times New Roman"/>
                <a:cs typeface="Times New Roman"/>
              </a:rPr>
              <a:t>c</a:t>
            </a:r>
            <a:r>
              <a:rPr sz="2200" spc="55" dirty="0">
                <a:solidFill>
                  <a:srgbClr val="FFFFFF"/>
                </a:solidFill>
                <a:latin typeface="Times New Roman"/>
                <a:cs typeface="Times New Roman"/>
              </a:rPr>
              <a:t>t</a:t>
            </a:r>
            <a:r>
              <a:rPr sz="2200" spc="15" dirty="0">
                <a:solidFill>
                  <a:srgbClr val="FFFFFF"/>
                </a:solidFill>
                <a:latin typeface="Times New Roman"/>
                <a:cs typeface="Times New Roman"/>
              </a:rPr>
              <a:t>-</a:t>
            </a:r>
            <a:r>
              <a:rPr sz="2200" spc="80" dirty="0">
                <a:solidFill>
                  <a:srgbClr val="FFFFFF"/>
                </a:solidFill>
                <a:latin typeface="Times New Roman"/>
                <a:cs typeface="Times New Roman"/>
              </a:rPr>
              <a:t>SQL,</a:t>
            </a:r>
            <a:r>
              <a:rPr sz="2200" dirty="0">
                <a:solidFill>
                  <a:srgbClr val="FFFFFF"/>
                </a:solidFill>
                <a:latin typeface="Times New Roman"/>
                <a:cs typeface="Times New Roman"/>
              </a:rPr>
              <a:t>	</a:t>
            </a:r>
            <a:r>
              <a:rPr sz="2200" spc="114" dirty="0">
                <a:solidFill>
                  <a:srgbClr val="FFFFFF"/>
                </a:solidFill>
                <a:latin typeface="Times New Roman"/>
                <a:cs typeface="Times New Roman"/>
              </a:rPr>
              <a:t>th</a:t>
            </a:r>
            <a:r>
              <a:rPr sz="2200" spc="135" dirty="0">
                <a:solidFill>
                  <a:srgbClr val="FFFFFF"/>
                </a:solidFill>
                <a:latin typeface="Times New Roman"/>
                <a:cs typeface="Times New Roman"/>
              </a:rPr>
              <a:t>e</a:t>
            </a:r>
            <a:r>
              <a:rPr sz="2200" dirty="0">
                <a:solidFill>
                  <a:srgbClr val="FFFFFF"/>
                </a:solidFill>
                <a:latin typeface="Times New Roman"/>
                <a:cs typeface="Times New Roman"/>
              </a:rPr>
              <a:t>	</a:t>
            </a:r>
            <a:r>
              <a:rPr sz="2200" spc="235" dirty="0">
                <a:solidFill>
                  <a:srgbClr val="FFFFFF"/>
                </a:solidFill>
                <a:latin typeface="Times New Roman"/>
                <a:cs typeface="Times New Roman"/>
              </a:rPr>
              <a:t>O</a:t>
            </a:r>
            <a:r>
              <a:rPr sz="2200" spc="225" dirty="0">
                <a:solidFill>
                  <a:srgbClr val="FFFFFF"/>
                </a:solidFill>
                <a:latin typeface="Times New Roman"/>
                <a:cs typeface="Times New Roman"/>
              </a:rPr>
              <a:t>V</a:t>
            </a:r>
            <a:r>
              <a:rPr sz="2200" spc="45" dirty="0">
                <a:solidFill>
                  <a:srgbClr val="FFFFFF"/>
                </a:solidFill>
                <a:latin typeface="Times New Roman"/>
                <a:cs typeface="Times New Roman"/>
              </a:rPr>
              <a:t>ER</a:t>
            </a:r>
            <a:r>
              <a:rPr sz="2200" dirty="0">
                <a:solidFill>
                  <a:srgbClr val="FFFFFF"/>
                </a:solidFill>
                <a:latin typeface="Times New Roman"/>
                <a:cs typeface="Times New Roman"/>
              </a:rPr>
              <a:t>	</a:t>
            </a:r>
            <a:r>
              <a:rPr sz="2200" spc="15" dirty="0">
                <a:solidFill>
                  <a:srgbClr val="FFFFFF"/>
                </a:solidFill>
                <a:latin typeface="Times New Roman"/>
                <a:cs typeface="Times New Roman"/>
              </a:rPr>
              <a:t>cl</a:t>
            </a:r>
            <a:r>
              <a:rPr sz="2200" spc="10" dirty="0">
                <a:solidFill>
                  <a:srgbClr val="FFFFFF"/>
                </a:solidFill>
                <a:latin typeface="Times New Roman"/>
                <a:cs typeface="Times New Roman"/>
              </a:rPr>
              <a:t>a</a:t>
            </a:r>
            <a:r>
              <a:rPr sz="2200" spc="75" dirty="0">
                <a:solidFill>
                  <a:srgbClr val="FFFFFF"/>
                </a:solidFill>
                <a:latin typeface="Times New Roman"/>
                <a:cs typeface="Times New Roman"/>
              </a:rPr>
              <a:t>use</a:t>
            </a:r>
            <a:r>
              <a:rPr sz="2200" dirty="0">
                <a:solidFill>
                  <a:srgbClr val="FFFFFF"/>
                </a:solidFill>
                <a:latin typeface="Times New Roman"/>
                <a:cs typeface="Times New Roman"/>
              </a:rPr>
              <a:t>	i</a:t>
            </a:r>
            <a:r>
              <a:rPr sz="2200" spc="10" dirty="0">
                <a:solidFill>
                  <a:srgbClr val="FFFFFF"/>
                </a:solidFill>
                <a:latin typeface="Times New Roman"/>
                <a:cs typeface="Times New Roman"/>
              </a:rPr>
              <a:t>s</a:t>
            </a:r>
            <a:r>
              <a:rPr sz="2200" dirty="0">
                <a:solidFill>
                  <a:srgbClr val="FFFFFF"/>
                </a:solidFill>
                <a:latin typeface="Times New Roman"/>
                <a:cs typeface="Times New Roman"/>
              </a:rPr>
              <a:t>	</a:t>
            </a:r>
            <a:r>
              <a:rPr sz="2200" spc="75" dirty="0">
                <a:solidFill>
                  <a:srgbClr val="FFFFFF"/>
                </a:solidFill>
                <a:latin typeface="Times New Roman"/>
                <a:cs typeface="Times New Roman"/>
              </a:rPr>
              <a:t>us</a:t>
            </a:r>
            <a:r>
              <a:rPr sz="2200" spc="65" dirty="0">
                <a:solidFill>
                  <a:srgbClr val="FFFFFF"/>
                </a:solidFill>
                <a:latin typeface="Times New Roman"/>
                <a:cs typeface="Times New Roman"/>
              </a:rPr>
              <a:t>e</a:t>
            </a:r>
            <a:r>
              <a:rPr sz="2200" spc="140" dirty="0">
                <a:solidFill>
                  <a:srgbClr val="FFFFFF"/>
                </a:solidFill>
                <a:latin typeface="Times New Roman"/>
                <a:cs typeface="Times New Roman"/>
              </a:rPr>
              <a:t>d</a:t>
            </a:r>
            <a:r>
              <a:rPr sz="2200" dirty="0">
                <a:solidFill>
                  <a:srgbClr val="FFFFFF"/>
                </a:solidFill>
                <a:latin typeface="Times New Roman"/>
                <a:cs typeface="Times New Roman"/>
              </a:rPr>
              <a:t>	</a:t>
            </a:r>
            <a:r>
              <a:rPr sz="2200" spc="80" dirty="0">
                <a:solidFill>
                  <a:srgbClr val="FFFFFF"/>
                </a:solidFill>
                <a:latin typeface="Times New Roman"/>
                <a:cs typeface="Times New Roman"/>
              </a:rPr>
              <a:t>t</a:t>
            </a:r>
            <a:r>
              <a:rPr sz="2200" spc="155" dirty="0">
                <a:solidFill>
                  <a:srgbClr val="FFFFFF"/>
                </a:solidFill>
                <a:latin typeface="Times New Roman"/>
                <a:cs typeface="Times New Roman"/>
              </a:rPr>
              <a:t>o</a:t>
            </a:r>
            <a:r>
              <a:rPr sz="2200" dirty="0">
                <a:solidFill>
                  <a:srgbClr val="FFFFFF"/>
                </a:solidFill>
                <a:latin typeface="Times New Roman"/>
                <a:cs typeface="Times New Roman"/>
              </a:rPr>
              <a:t>	</a:t>
            </a:r>
            <a:r>
              <a:rPr sz="2200" spc="130" dirty="0">
                <a:solidFill>
                  <a:srgbClr val="FFFFFF"/>
                </a:solidFill>
                <a:latin typeface="Times New Roman"/>
                <a:cs typeface="Times New Roman"/>
              </a:rPr>
              <a:t>d</a:t>
            </a:r>
            <a:r>
              <a:rPr sz="2200" spc="65" dirty="0">
                <a:solidFill>
                  <a:srgbClr val="FFFFFF"/>
                </a:solidFill>
                <a:latin typeface="Times New Roman"/>
                <a:cs typeface="Times New Roman"/>
              </a:rPr>
              <a:t>efine</a:t>
            </a:r>
            <a:r>
              <a:rPr sz="2200" dirty="0">
                <a:solidFill>
                  <a:srgbClr val="FFFFFF"/>
                </a:solidFill>
                <a:latin typeface="Times New Roman"/>
                <a:cs typeface="Times New Roman"/>
              </a:rPr>
              <a:t>	</a:t>
            </a:r>
            <a:r>
              <a:rPr sz="2200" spc="25" dirty="0">
                <a:solidFill>
                  <a:srgbClr val="FFFFFF"/>
                </a:solidFill>
                <a:latin typeface="Times New Roman"/>
                <a:cs typeface="Times New Roman"/>
              </a:rPr>
              <a:t>a  </a:t>
            </a:r>
            <a:r>
              <a:rPr sz="2200" spc="95" dirty="0">
                <a:solidFill>
                  <a:srgbClr val="FFFFFF"/>
                </a:solidFill>
                <a:latin typeface="Times New Roman"/>
                <a:cs typeface="Times New Roman"/>
              </a:rPr>
              <a:t>window</a:t>
            </a:r>
            <a:r>
              <a:rPr sz="2200" spc="-105" dirty="0">
                <a:solidFill>
                  <a:srgbClr val="FFFFFF"/>
                </a:solidFill>
                <a:latin typeface="Times New Roman"/>
                <a:cs typeface="Times New Roman"/>
              </a:rPr>
              <a:t> </a:t>
            </a:r>
            <a:r>
              <a:rPr sz="2200" spc="100" dirty="0">
                <a:solidFill>
                  <a:srgbClr val="FFFFFF"/>
                </a:solidFill>
                <a:latin typeface="Times New Roman"/>
                <a:cs typeface="Times New Roman"/>
              </a:rPr>
              <a:t>within</a:t>
            </a:r>
            <a:r>
              <a:rPr sz="2200" spc="-95" dirty="0">
                <a:solidFill>
                  <a:srgbClr val="FFFFFF"/>
                </a:solidFill>
                <a:latin typeface="Times New Roman"/>
                <a:cs typeface="Times New Roman"/>
              </a:rPr>
              <a:t> </a:t>
            </a:r>
            <a:r>
              <a:rPr sz="2200" spc="35" dirty="0">
                <a:solidFill>
                  <a:srgbClr val="FFFFFF"/>
                </a:solidFill>
                <a:latin typeface="Times New Roman"/>
                <a:cs typeface="Times New Roman"/>
              </a:rPr>
              <a:t>a</a:t>
            </a:r>
            <a:r>
              <a:rPr sz="2200" spc="-90" dirty="0">
                <a:solidFill>
                  <a:srgbClr val="FFFFFF"/>
                </a:solidFill>
                <a:latin typeface="Times New Roman"/>
                <a:cs typeface="Times New Roman"/>
              </a:rPr>
              <a:t> </a:t>
            </a:r>
            <a:r>
              <a:rPr sz="2200" spc="85" dirty="0">
                <a:solidFill>
                  <a:srgbClr val="FFFFFF"/>
                </a:solidFill>
                <a:latin typeface="Times New Roman"/>
                <a:cs typeface="Times New Roman"/>
              </a:rPr>
              <a:t>query</a:t>
            </a:r>
            <a:r>
              <a:rPr sz="2200" spc="-100" dirty="0">
                <a:solidFill>
                  <a:srgbClr val="FFFFFF"/>
                </a:solidFill>
                <a:latin typeface="Times New Roman"/>
                <a:cs typeface="Times New Roman"/>
              </a:rPr>
              <a:t> </a:t>
            </a:r>
            <a:r>
              <a:rPr sz="2200" spc="65" dirty="0">
                <a:solidFill>
                  <a:srgbClr val="FFFFFF"/>
                </a:solidFill>
                <a:latin typeface="Times New Roman"/>
                <a:cs typeface="Times New Roman"/>
              </a:rPr>
              <a:t>resultset.</a:t>
            </a:r>
            <a:endParaRPr sz="2200">
              <a:latin typeface="Times New Roman"/>
              <a:cs typeface="Times New Roman"/>
            </a:endParaRPr>
          </a:p>
          <a:p>
            <a:pPr>
              <a:lnSpc>
                <a:spcPct val="100000"/>
              </a:lnSpc>
              <a:buClr>
                <a:srgbClr val="FFFFFF"/>
              </a:buClr>
              <a:buFont typeface="Wingdings"/>
              <a:buChar char=""/>
            </a:pPr>
            <a:endParaRPr sz="3100">
              <a:latin typeface="Times New Roman"/>
              <a:cs typeface="Times New Roman"/>
            </a:endParaRPr>
          </a:p>
          <a:p>
            <a:pPr marL="355600" marR="5080" indent="-342900">
              <a:lnSpc>
                <a:spcPct val="100000"/>
              </a:lnSpc>
              <a:spcBef>
                <a:spcPts val="2480"/>
              </a:spcBef>
              <a:buFont typeface="Wingdings"/>
              <a:buChar char=""/>
              <a:tabLst>
                <a:tab pos="355600" algn="l"/>
              </a:tabLst>
            </a:pPr>
            <a:r>
              <a:rPr sz="2200" spc="80" dirty="0">
                <a:solidFill>
                  <a:srgbClr val="FFFFFF"/>
                </a:solidFill>
                <a:latin typeface="Times New Roman"/>
                <a:cs typeface="Times New Roman"/>
              </a:rPr>
              <a:t>Using windows </a:t>
            </a:r>
            <a:r>
              <a:rPr sz="2200" spc="120" dirty="0">
                <a:solidFill>
                  <a:srgbClr val="FFFFFF"/>
                </a:solidFill>
                <a:latin typeface="Times New Roman"/>
                <a:cs typeface="Times New Roman"/>
              </a:rPr>
              <a:t>and </a:t>
            </a:r>
            <a:r>
              <a:rPr sz="2200" spc="140" dirty="0">
                <a:solidFill>
                  <a:srgbClr val="FFFFFF"/>
                </a:solidFill>
                <a:latin typeface="Times New Roman"/>
                <a:cs typeface="Times New Roman"/>
              </a:rPr>
              <a:t>OVER </a:t>
            </a:r>
            <a:r>
              <a:rPr sz="2200" spc="45" dirty="0">
                <a:solidFill>
                  <a:srgbClr val="FFFFFF"/>
                </a:solidFill>
                <a:latin typeface="Times New Roman"/>
                <a:cs typeface="Times New Roman"/>
              </a:rPr>
              <a:t>clause </a:t>
            </a:r>
            <a:r>
              <a:rPr sz="2200" spc="100" dirty="0">
                <a:solidFill>
                  <a:srgbClr val="FFFFFF"/>
                </a:solidFill>
                <a:latin typeface="Times New Roman"/>
                <a:cs typeface="Times New Roman"/>
              </a:rPr>
              <a:t>with </a:t>
            </a:r>
            <a:r>
              <a:rPr sz="2200" spc="95" dirty="0">
                <a:solidFill>
                  <a:srgbClr val="FFFFFF"/>
                </a:solidFill>
                <a:latin typeface="Times New Roman"/>
                <a:cs typeface="Times New Roman"/>
              </a:rPr>
              <a:t>functions </a:t>
            </a:r>
            <a:r>
              <a:rPr sz="2200" spc="70" dirty="0">
                <a:solidFill>
                  <a:srgbClr val="FFFFFF"/>
                </a:solidFill>
                <a:latin typeface="Times New Roman"/>
                <a:cs typeface="Times New Roman"/>
              </a:rPr>
              <a:t>provides  </a:t>
            </a:r>
            <a:r>
              <a:rPr sz="2200" spc="40" dirty="0">
                <a:solidFill>
                  <a:srgbClr val="FFFFFF"/>
                </a:solidFill>
                <a:latin typeface="Times New Roman"/>
                <a:cs typeface="Times New Roman"/>
              </a:rPr>
              <a:t>several</a:t>
            </a:r>
            <a:r>
              <a:rPr sz="2200" spc="-105" dirty="0">
                <a:solidFill>
                  <a:srgbClr val="FFFFFF"/>
                </a:solidFill>
                <a:latin typeface="Times New Roman"/>
                <a:cs typeface="Times New Roman"/>
              </a:rPr>
              <a:t> </a:t>
            </a:r>
            <a:r>
              <a:rPr sz="2200" spc="60" dirty="0">
                <a:solidFill>
                  <a:srgbClr val="FFFFFF"/>
                </a:solidFill>
                <a:latin typeface="Times New Roman"/>
                <a:cs typeface="Times New Roman"/>
              </a:rPr>
              <a:t>advantages.</a:t>
            </a:r>
            <a:endParaRPr sz="2200">
              <a:latin typeface="Times New Roman"/>
              <a:cs typeface="Times New Roman"/>
            </a:endParaRPr>
          </a:p>
        </p:txBody>
      </p:sp>
      <p:sp>
        <p:nvSpPr>
          <p:cNvPr id="8" name="object 8"/>
          <p:cNvSpPr txBox="1"/>
          <p:nvPr/>
        </p:nvSpPr>
        <p:spPr>
          <a:xfrm>
            <a:off x="7872983" y="6569709"/>
            <a:ext cx="94043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62" baseline="4629" dirty="0">
                <a:latin typeface="Times New Roman"/>
                <a:cs typeface="Times New Roman"/>
              </a:rPr>
              <a:t> </a:t>
            </a:r>
            <a:fld id="{81D60167-4931-47E6-BA6A-407CBD079E47}" type="slidenum">
              <a:rPr sz="1200" spc="-20" dirty="0">
                <a:latin typeface="Times New Roman"/>
                <a:cs typeface="Times New Roman"/>
              </a:rPr>
              <a:t>24</a:t>
            </a:fld>
            <a:endParaRPr sz="1200">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6" name="object 6"/>
          <p:cNvSpPr txBox="1"/>
          <p:nvPr/>
        </p:nvSpPr>
        <p:spPr>
          <a:xfrm>
            <a:off x="768095" y="3817823"/>
            <a:ext cx="7914005" cy="1286510"/>
          </a:xfrm>
          <a:prstGeom prst="rect">
            <a:avLst/>
          </a:prstGeom>
        </p:spPr>
        <p:txBody>
          <a:bodyPr vert="horz" wrap="square" lIns="0" tIns="186055" rIns="0" bIns="0" rtlCol="0">
            <a:spAutoFit/>
          </a:bodyPr>
          <a:lstStyle/>
          <a:p>
            <a:pPr marL="12700">
              <a:lnSpc>
                <a:spcPct val="100000"/>
              </a:lnSpc>
              <a:spcBef>
                <a:spcPts val="1465"/>
              </a:spcBef>
            </a:pPr>
            <a:r>
              <a:rPr sz="2000" b="1" spc="-105" dirty="0">
                <a:latin typeface="Arial"/>
                <a:cs typeface="Arial"/>
              </a:rPr>
              <a:t>For</a:t>
            </a:r>
            <a:r>
              <a:rPr sz="2000" b="1" spc="-160" dirty="0">
                <a:latin typeface="Arial"/>
                <a:cs typeface="Arial"/>
              </a:rPr>
              <a:t> </a:t>
            </a:r>
            <a:r>
              <a:rPr sz="2000" b="1" spc="-130" dirty="0">
                <a:latin typeface="Arial"/>
                <a:cs typeface="Arial"/>
              </a:rPr>
              <a:t>instance,</a:t>
            </a:r>
            <a:endParaRPr sz="2000">
              <a:latin typeface="Arial"/>
              <a:cs typeface="Arial"/>
            </a:endParaRPr>
          </a:p>
          <a:p>
            <a:pPr marL="114300" marR="5080">
              <a:lnSpc>
                <a:spcPct val="100000"/>
              </a:lnSpc>
              <a:spcBef>
                <a:spcPts val="1360"/>
              </a:spcBef>
              <a:tabLst>
                <a:tab pos="852169" algn="l"/>
                <a:tab pos="1497330" algn="l"/>
                <a:tab pos="1888489" algn="l"/>
                <a:tab pos="3012440" algn="l"/>
                <a:tab pos="4347845" algn="l"/>
                <a:tab pos="5262880" algn="l"/>
                <a:tab pos="6000115" algn="l"/>
                <a:tab pos="6593205" algn="l"/>
                <a:tab pos="7475855" algn="l"/>
              </a:tabLst>
            </a:pPr>
            <a:r>
              <a:rPr sz="2000" spc="95" dirty="0">
                <a:latin typeface="Times New Roman"/>
                <a:cs typeface="Times New Roman"/>
              </a:rPr>
              <a:t>They	</a:t>
            </a:r>
            <a:r>
              <a:rPr sz="2000" spc="110" dirty="0">
                <a:latin typeface="Times New Roman"/>
                <a:cs typeface="Times New Roman"/>
              </a:rPr>
              <a:t>h</a:t>
            </a:r>
            <a:r>
              <a:rPr sz="2000" spc="105" dirty="0">
                <a:latin typeface="Times New Roman"/>
                <a:cs typeface="Times New Roman"/>
              </a:rPr>
              <a:t>e</a:t>
            </a:r>
            <a:r>
              <a:rPr sz="2000" spc="55" dirty="0">
                <a:latin typeface="Times New Roman"/>
                <a:cs typeface="Times New Roman"/>
              </a:rPr>
              <a:t>lp</a:t>
            </a:r>
            <a:r>
              <a:rPr sz="2000" dirty="0">
                <a:latin typeface="Times New Roman"/>
                <a:cs typeface="Times New Roman"/>
              </a:rPr>
              <a:t>	</a:t>
            </a:r>
            <a:r>
              <a:rPr sz="2000" spc="80" dirty="0">
                <a:latin typeface="Times New Roman"/>
                <a:cs typeface="Times New Roman"/>
              </a:rPr>
              <a:t>t</a:t>
            </a:r>
            <a:r>
              <a:rPr sz="2000" spc="140" dirty="0">
                <a:latin typeface="Times New Roman"/>
                <a:cs typeface="Times New Roman"/>
              </a:rPr>
              <a:t>o</a:t>
            </a:r>
            <a:r>
              <a:rPr sz="2000" dirty="0">
                <a:latin typeface="Times New Roman"/>
                <a:cs typeface="Times New Roman"/>
              </a:rPr>
              <a:t>	</a:t>
            </a:r>
            <a:r>
              <a:rPr sz="2000" spc="15" dirty="0">
                <a:latin typeface="Times New Roman"/>
                <a:cs typeface="Times New Roman"/>
              </a:rPr>
              <a:t>cal</a:t>
            </a:r>
            <a:r>
              <a:rPr sz="2000" spc="45" dirty="0">
                <a:latin typeface="Times New Roman"/>
                <a:cs typeface="Times New Roman"/>
              </a:rPr>
              <a:t>cul</a:t>
            </a:r>
            <a:r>
              <a:rPr sz="2000" spc="55" dirty="0">
                <a:latin typeface="Times New Roman"/>
                <a:cs typeface="Times New Roman"/>
              </a:rPr>
              <a:t>a</a:t>
            </a:r>
            <a:r>
              <a:rPr sz="2000" spc="125" dirty="0">
                <a:latin typeface="Times New Roman"/>
                <a:cs typeface="Times New Roman"/>
              </a:rPr>
              <a:t>t</a:t>
            </a:r>
            <a:r>
              <a:rPr sz="2000" spc="40" dirty="0">
                <a:latin typeface="Times New Roman"/>
                <a:cs typeface="Times New Roman"/>
              </a:rPr>
              <a:t>e</a:t>
            </a:r>
            <a:r>
              <a:rPr sz="2000" dirty="0">
                <a:latin typeface="Times New Roman"/>
                <a:cs typeface="Times New Roman"/>
              </a:rPr>
              <a:t>	a</a:t>
            </a:r>
            <a:r>
              <a:rPr sz="2000" spc="5" dirty="0">
                <a:latin typeface="Times New Roman"/>
                <a:cs typeface="Times New Roman"/>
              </a:rPr>
              <a:t>g</a:t>
            </a:r>
            <a:r>
              <a:rPr sz="2000" spc="30" dirty="0">
                <a:latin typeface="Times New Roman"/>
                <a:cs typeface="Times New Roman"/>
              </a:rPr>
              <a:t>gre</a:t>
            </a:r>
            <a:r>
              <a:rPr sz="2000" dirty="0">
                <a:latin typeface="Times New Roman"/>
                <a:cs typeface="Times New Roman"/>
              </a:rPr>
              <a:t>g</a:t>
            </a:r>
            <a:r>
              <a:rPr sz="2000" spc="5" dirty="0">
                <a:latin typeface="Times New Roman"/>
                <a:cs typeface="Times New Roman"/>
              </a:rPr>
              <a:t>a</a:t>
            </a:r>
            <a:r>
              <a:rPr sz="2000" spc="125" dirty="0">
                <a:latin typeface="Times New Roman"/>
                <a:cs typeface="Times New Roman"/>
              </a:rPr>
              <a:t>t</a:t>
            </a:r>
            <a:r>
              <a:rPr sz="2000" spc="85" dirty="0">
                <a:latin typeface="Times New Roman"/>
                <a:cs typeface="Times New Roman"/>
              </a:rPr>
              <a:t>ed</a:t>
            </a:r>
            <a:r>
              <a:rPr sz="2000" dirty="0">
                <a:latin typeface="Times New Roman"/>
                <a:cs typeface="Times New Roman"/>
              </a:rPr>
              <a:t>	</a:t>
            </a:r>
            <a:r>
              <a:rPr sz="2000" spc="40" dirty="0">
                <a:latin typeface="Times New Roman"/>
                <a:cs typeface="Times New Roman"/>
              </a:rPr>
              <a:t>va</a:t>
            </a:r>
            <a:r>
              <a:rPr sz="2000" spc="50" dirty="0">
                <a:latin typeface="Times New Roman"/>
                <a:cs typeface="Times New Roman"/>
              </a:rPr>
              <a:t>l</a:t>
            </a:r>
            <a:r>
              <a:rPr sz="2000" spc="100" dirty="0">
                <a:latin typeface="Times New Roman"/>
                <a:cs typeface="Times New Roman"/>
              </a:rPr>
              <a:t>u</a:t>
            </a:r>
            <a:r>
              <a:rPr sz="2000" spc="25" dirty="0">
                <a:latin typeface="Times New Roman"/>
                <a:cs typeface="Times New Roman"/>
              </a:rPr>
              <a:t>es</a:t>
            </a:r>
            <a:r>
              <a:rPr sz="2000" dirty="0">
                <a:latin typeface="Times New Roman"/>
                <a:cs typeface="Times New Roman"/>
              </a:rPr>
              <a:t>.	</a:t>
            </a:r>
            <a:r>
              <a:rPr sz="2000" spc="95" dirty="0">
                <a:latin typeface="Times New Roman"/>
                <a:cs typeface="Times New Roman"/>
              </a:rPr>
              <a:t>They</a:t>
            </a:r>
            <a:r>
              <a:rPr sz="2000" dirty="0">
                <a:latin typeface="Times New Roman"/>
                <a:cs typeface="Times New Roman"/>
              </a:rPr>
              <a:t>	</a:t>
            </a:r>
            <a:r>
              <a:rPr sz="2000" spc="10" dirty="0">
                <a:latin typeface="Times New Roman"/>
                <a:cs typeface="Times New Roman"/>
              </a:rPr>
              <a:t>al</a:t>
            </a:r>
            <a:r>
              <a:rPr sz="2000" spc="15" dirty="0">
                <a:latin typeface="Times New Roman"/>
                <a:cs typeface="Times New Roman"/>
              </a:rPr>
              <a:t>s</a:t>
            </a:r>
            <a:r>
              <a:rPr sz="2000" spc="90" dirty="0">
                <a:latin typeface="Times New Roman"/>
                <a:cs typeface="Times New Roman"/>
              </a:rPr>
              <a:t>o</a:t>
            </a:r>
            <a:r>
              <a:rPr sz="2000" dirty="0">
                <a:latin typeface="Times New Roman"/>
                <a:cs typeface="Times New Roman"/>
              </a:rPr>
              <a:t>	</a:t>
            </a:r>
            <a:r>
              <a:rPr sz="2000" spc="110" dirty="0">
                <a:latin typeface="Times New Roman"/>
                <a:cs typeface="Times New Roman"/>
              </a:rPr>
              <a:t>en</a:t>
            </a:r>
            <a:r>
              <a:rPr sz="2000" spc="35" dirty="0">
                <a:latin typeface="Times New Roman"/>
                <a:cs typeface="Times New Roman"/>
              </a:rPr>
              <a:t>a</a:t>
            </a:r>
            <a:r>
              <a:rPr sz="2000" spc="60" dirty="0">
                <a:latin typeface="Times New Roman"/>
                <a:cs typeface="Times New Roman"/>
              </a:rPr>
              <a:t>b</a:t>
            </a:r>
            <a:r>
              <a:rPr sz="2000" spc="40" dirty="0">
                <a:latin typeface="Times New Roman"/>
                <a:cs typeface="Times New Roman"/>
              </a:rPr>
              <a:t>le</a:t>
            </a:r>
            <a:r>
              <a:rPr sz="2000" dirty="0">
                <a:latin typeface="Times New Roman"/>
                <a:cs typeface="Times New Roman"/>
              </a:rPr>
              <a:t>	</a:t>
            </a:r>
            <a:r>
              <a:rPr sz="2000" spc="70" dirty="0">
                <a:latin typeface="Times New Roman"/>
                <a:cs typeface="Times New Roman"/>
              </a:rPr>
              <a:t>r</a:t>
            </a:r>
            <a:r>
              <a:rPr sz="2000" spc="114" dirty="0">
                <a:latin typeface="Times New Roman"/>
                <a:cs typeface="Times New Roman"/>
              </a:rPr>
              <a:t>o</a:t>
            </a:r>
            <a:r>
              <a:rPr sz="2000" spc="25" dirty="0">
                <a:latin typeface="Times New Roman"/>
                <a:cs typeface="Times New Roman"/>
              </a:rPr>
              <a:t>w  </a:t>
            </a:r>
            <a:r>
              <a:rPr sz="2000" spc="90" dirty="0">
                <a:latin typeface="Times New Roman"/>
                <a:cs typeface="Times New Roman"/>
              </a:rPr>
              <a:t>numbers</a:t>
            </a:r>
            <a:r>
              <a:rPr sz="2000" spc="-60" dirty="0">
                <a:latin typeface="Times New Roman"/>
                <a:cs typeface="Times New Roman"/>
              </a:rPr>
              <a:t> </a:t>
            </a:r>
            <a:r>
              <a:rPr sz="2000" spc="95" dirty="0">
                <a:latin typeface="Times New Roman"/>
                <a:cs typeface="Times New Roman"/>
              </a:rPr>
              <a:t>in</a:t>
            </a:r>
            <a:r>
              <a:rPr sz="2000" spc="-75" dirty="0">
                <a:latin typeface="Times New Roman"/>
                <a:cs typeface="Times New Roman"/>
              </a:rPr>
              <a:t> </a:t>
            </a:r>
            <a:r>
              <a:rPr sz="2000" spc="30" dirty="0">
                <a:latin typeface="Times New Roman"/>
                <a:cs typeface="Times New Roman"/>
              </a:rPr>
              <a:t>a</a:t>
            </a:r>
            <a:r>
              <a:rPr sz="2000" spc="-75" dirty="0">
                <a:latin typeface="Times New Roman"/>
                <a:cs typeface="Times New Roman"/>
              </a:rPr>
              <a:t> </a:t>
            </a:r>
            <a:r>
              <a:rPr sz="2000" spc="65" dirty="0">
                <a:latin typeface="Times New Roman"/>
                <a:cs typeface="Times New Roman"/>
              </a:rPr>
              <a:t>resultset</a:t>
            </a:r>
            <a:r>
              <a:rPr sz="2000" spc="-50" dirty="0">
                <a:latin typeface="Times New Roman"/>
                <a:cs typeface="Times New Roman"/>
              </a:rPr>
              <a:t> </a:t>
            </a:r>
            <a:r>
              <a:rPr sz="2000" spc="110" dirty="0">
                <a:latin typeface="Times New Roman"/>
                <a:cs typeface="Times New Roman"/>
              </a:rPr>
              <a:t>to</a:t>
            </a:r>
            <a:r>
              <a:rPr sz="2000" spc="-65" dirty="0">
                <a:latin typeface="Times New Roman"/>
                <a:cs typeface="Times New Roman"/>
              </a:rPr>
              <a:t> </a:t>
            </a:r>
            <a:r>
              <a:rPr sz="2000" spc="65" dirty="0">
                <a:latin typeface="Times New Roman"/>
                <a:cs typeface="Times New Roman"/>
              </a:rPr>
              <a:t>be</a:t>
            </a:r>
            <a:r>
              <a:rPr sz="2000" spc="-65" dirty="0">
                <a:latin typeface="Times New Roman"/>
                <a:cs typeface="Times New Roman"/>
              </a:rPr>
              <a:t> </a:t>
            </a:r>
            <a:r>
              <a:rPr sz="2000" spc="70" dirty="0">
                <a:latin typeface="Times New Roman"/>
                <a:cs typeface="Times New Roman"/>
              </a:rPr>
              <a:t>generated</a:t>
            </a:r>
            <a:r>
              <a:rPr sz="2000" spc="-50" dirty="0">
                <a:latin typeface="Times New Roman"/>
                <a:cs typeface="Times New Roman"/>
              </a:rPr>
              <a:t> </a:t>
            </a:r>
            <a:r>
              <a:rPr sz="2000" spc="10" dirty="0">
                <a:latin typeface="Times New Roman"/>
                <a:cs typeface="Times New Roman"/>
              </a:rPr>
              <a:t>easily.</a:t>
            </a:r>
            <a:endParaRPr sz="20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5095875" cy="574040"/>
          </a:xfrm>
          <a:prstGeom prst="rect">
            <a:avLst/>
          </a:prstGeom>
        </p:spPr>
        <p:txBody>
          <a:bodyPr vert="horz" wrap="square" lIns="0" tIns="12700" rIns="0" bIns="0" rtlCol="0">
            <a:spAutoFit/>
          </a:bodyPr>
          <a:lstStyle/>
          <a:p>
            <a:pPr marL="12700">
              <a:lnSpc>
                <a:spcPct val="100000"/>
              </a:lnSpc>
              <a:spcBef>
                <a:spcPts val="100"/>
              </a:spcBef>
            </a:pPr>
            <a:r>
              <a:rPr sz="3600" spc="190" dirty="0"/>
              <a:t>Windowing</a:t>
            </a:r>
            <a:r>
              <a:rPr sz="3600" spc="-185" dirty="0"/>
              <a:t> </a:t>
            </a:r>
            <a:r>
              <a:rPr sz="3600" spc="220" dirty="0"/>
              <a:t>Components</a:t>
            </a:r>
            <a:endParaRPr sz="3600"/>
          </a:p>
        </p:txBody>
      </p:sp>
      <p:sp>
        <p:nvSpPr>
          <p:cNvPr id="3" name="object 3"/>
          <p:cNvSpPr/>
          <p:nvPr/>
        </p:nvSpPr>
        <p:spPr>
          <a:xfrm>
            <a:off x="304800" y="979169"/>
            <a:ext cx="8698230" cy="1089025"/>
          </a:xfrm>
          <a:custGeom>
            <a:avLst/>
            <a:gdLst/>
            <a:ahLst/>
            <a:cxnLst/>
            <a:rect l="l" t="t" r="r" b="b"/>
            <a:pathLst>
              <a:path w="8698230" h="1089025">
                <a:moveTo>
                  <a:pt x="8698230" y="181483"/>
                </a:moveTo>
                <a:lnTo>
                  <a:pt x="8691740" y="133248"/>
                </a:lnTo>
                <a:lnTo>
                  <a:pt x="8673440" y="89903"/>
                </a:lnTo>
                <a:lnTo>
                  <a:pt x="8645055" y="53174"/>
                </a:lnTo>
                <a:lnTo>
                  <a:pt x="8608327" y="24790"/>
                </a:lnTo>
                <a:lnTo>
                  <a:pt x="8564982" y="6489"/>
                </a:lnTo>
                <a:lnTo>
                  <a:pt x="8516747" y="0"/>
                </a:lnTo>
                <a:lnTo>
                  <a:pt x="181483" y="0"/>
                </a:lnTo>
                <a:lnTo>
                  <a:pt x="133235" y="6489"/>
                </a:lnTo>
                <a:lnTo>
                  <a:pt x="89877" y="24790"/>
                </a:lnTo>
                <a:lnTo>
                  <a:pt x="53149" y="53174"/>
                </a:lnTo>
                <a:lnTo>
                  <a:pt x="24777" y="89903"/>
                </a:lnTo>
                <a:lnTo>
                  <a:pt x="6477" y="133248"/>
                </a:lnTo>
                <a:lnTo>
                  <a:pt x="0" y="181483"/>
                </a:lnTo>
                <a:lnTo>
                  <a:pt x="0" y="907415"/>
                </a:lnTo>
                <a:lnTo>
                  <a:pt x="6477" y="955662"/>
                </a:lnTo>
                <a:lnTo>
                  <a:pt x="24777" y="999007"/>
                </a:lnTo>
                <a:lnTo>
                  <a:pt x="53149" y="1035735"/>
                </a:lnTo>
                <a:lnTo>
                  <a:pt x="89877" y="1064120"/>
                </a:lnTo>
                <a:lnTo>
                  <a:pt x="133235" y="1082421"/>
                </a:lnTo>
                <a:lnTo>
                  <a:pt x="181483" y="1088898"/>
                </a:lnTo>
                <a:lnTo>
                  <a:pt x="8516747" y="1088898"/>
                </a:lnTo>
                <a:lnTo>
                  <a:pt x="8564982" y="1082421"/>
                </a:lnTo>
                <a:lnTo>
                  <a:pt x="8608327" y="1064120"/>
                </a:lnTo>
                <a:lnTo>
                  <a:pt x="8645055" y="1035735"/>
                </a:lnTo>
                <a:lnTo>
                  <a:pt x="8673440" y="999007"/>
                </a:lnTo>
                <a:lnTo>
                  <a:pt x="8691740" y="955662"/>
                </a:lnTo>
                <a:lnTo>
                  <a:pt x="8698230" y="907415"/>
                </a:lnTo>
                <a:lnTo>
                  <a:pt x="8698230" y="823722"/>
                </a:lnTo>
                <a:lnTo>
                  <a:pt x="8698230" y="265176"/>
                </a:lnTo>
                <a:lnTo>
                  <a:pt x="8698230" y="181483"/>
                </a:lnTo>
                <a:close/>
              </a:path>
            </a:pathLst>
          </a:custGeom>
          <a:solidFill>
            <a:srgbClr val="4AACC5"/>
          </a:solidFill>
        </p:spPr>
        <p:txBody>
          <a:bodyPr wrap="square" lIns="0" tIns="0" rIns="0" bIns="0" rtlCol="0"/>
          <a:lstStyle/>
          <a:p>
            <a:endParaRPr/>
          </a:p>
        </p:txBody>
      </p:sp>
      <p:sp>
        <p:nvSpPr>
          <p:cNvPr id="4" name="object 4"/>
          <p:cNvSpPr txBox="1"/>
          <p:nvPr/>
        </p:nvSpPr>
        <p:spPr>
          <a:xfrm>
            <a:off x="532130" y="1171955"/>
            <a:ext cx="8355965" cy="696595"/>
          </a:xfrm>
          <a:prstGeom prst="rect">
            <a:avLst/>
          </a:prstGeom>
        </p:spPr>
        <p:txBody>
          <a:bodyPr vert="horz" wrap="square" lIns="0" tIns="12700" rIns="0" bIns="0" rtlCol="0">
            <a:spAutoFit/>
          </a:bodyPr>
          <a:lstStyle/>
          <a:p>
            <a:pPr marL="355600" marR="5080" indent="-343535">
              <a:lnSpc>
                <a:spcPct val="100000"/>
              </a:lnSpc>
              <a:spcBef>
                <a:spcPts val="100"/>
              </a:spcBef>
              <a:buFont typeface="Wingdings"/>
              <a:buChar char=""/>
              <a:tabLst>
                <a:tab pos="356235" algn="l"/>
              </a:tabLst>
            </a:pPr>
            <a:r>
              <a:rPr sz="2200" spc="195" dirty="0">
                <a:solidFill>
                  <a:srgbClr val="FFFFFF"/>
                </a:solidFill>
                <a:latin typeface="Times New Roman"/>
                <a:cs typeface="Times New Roman"/>
              </a:rPr>
              <a:t>A </a:t>
            </a:r>
            <a:r>
              <a:rPr sz="2200" spc="90" dirty="0">
                <a:solidFill>
                  <a:srgbClr val="FFFFFF"/>
                </a:solidFill>
                <a:latin typeface="Times New Roman"/>
                <a:cs typeface="Times New Roman"/>
              </a:rPr>
              <a:t>window </a:t>
            </a:r>
            <a:r>
              <a:rPr sz="2200" spc="105" dirty="0">
                <a:solidFill>
                  <a:srgbClr val="FFFFFF"/>
                </a:solidFill>
                <a:latin typeface="Times New Roman"/>
                <a:cs typeface="Times New Roman"/>
              </a:rPr>
              <a:t>function </a:t>
            </a:r>
            <a:r>
              <a:rPr sz="2200" spc="5" dirty="0">
                <a:solidFill>
                  <a:srgbClr val="FFFFFF"/>
                </a:solidFill>
                <a:latin typeface="Times New Roman"/>
                <a:cs typeface="Times New Roman"/>
              </a:rPr>
              <a:t>is </a:t>
            </a:r>
            <a:r>
              <a:rPr sz="2200" spc="35" dirty="0">
                <a:solidFill>
                  <a:srgbClr val="FFFFFF"/>
                </a:solidFill>
                <a:latin typeface="Times New Roman"/>
                <a:cs typeface="Times New Roman"/>
              </a:rPr>
              <a:t>a </a:t>
            </a:r>
            <a:r>
              <a:rPr sz="2200" spc="105" dirty="0">
                <a:solidFill>
                  <a:srgbClr val="FFFFFF"/>
                </a:solidFill>
                <a:latin typeface="Times New Roman"/>
                <a:cs typeface="Times New Roman"/>
              </a:rPr>
              <a:t>function </a:t>
            </a:r>
            <a:r>
              <a:rPr sz="2200" spc="125" dirty="0">
                <a:solidFill>
                  <a:srgbClr val="FFFFFF"/>
                </a:solidFill>
                <a:latin typeface="Times New Roman"/>
                <a:cs typeface="Times New Roman"/>
              </a:rPr>
              <a:t>that </a:t>
            </a:r>
            <a:r>
              <a:rPr sz="2200" spc="45" dirty="0">
                <a:solidFill>
                  <a:srgbClr val="FFFFFF"/>
                </a:solidFill>
                <a:latin typeface="Times New Roman"/>
                <a:cs typeface="Times New Roman"/>
              </a:rPr>
              <a:t>applies </a:t>
            </a:r>
            <a:r>
              <a:rPr sz="2200" spc="120" dirty="0">
                <a:solidFill>
                  <a:srgbClr val="FFFFFF"/>
                </a:solidFill>
                <a:latin typeface="Times New Roman"/>
                <a:cs typeface="Times New Roman"/>
              </a:rPr>
              <a:t>to </a:t>
            </a:r>
            <a:r>
              <a:rPr sz="2200" spc="35" dirty="0">
                <a:solidFill>
                  <a:srgbClr val="FFFFFF"/>
                </a:solidFill>
                <a:latin typeface="Times New Roman"/>
                <a:cs typeface="Times New Roman"/>
              </a:rPr>
              <a:t>a </a:t>
            </a:r>
            <a:r>
              <a:rPr sz="2200" spc="65" dirty="0">
                <a:solidFill>
                  <a:srgbClr val="FFFFFF"/>
                </a:solidFill>
                <a:latin typeface="Times New Roman"/>
                <a:cs typeface="Times New Roman"/>
              </a:rPr>
              <a:t>collection </a:t>
            </a:r>
            <a:r>
              <a:rPr sz="2200" spc="60" dirty="0">
                <a:solidFill>
                  <a:srgbClr val="FFFFFF"/>
                </a:solidFill>
                <a:latin typeface="Times New Roman"/>
                <a:cs typeface="Times New Roman"/>
              </a:rPr>
              <a:t>of  </a:t>
            </a:r>
            <a:r>
              <a:rPr sz="2200" spc="50" dirty="0">
                <a:solidFill>
                  <a:srgbClr val="FFFFFF"/>
                </a:solidFill>
                <a:latin typeface="Times New Roman"/>
                <a:cs typeface="Times New Roman"/>
              </a:rPr>
              <a:t>rows.</a:t>
            </a:r>
            <a:endParaRPr sz="2200">
              <a:latin typeface="Times New Roman"/>
              <a:cs typeface="Times New Roman"/>
            </a:endParaRPr>
          </a:p>
        </p:txBody>
      </p:sp>
      <p:sp>
        <p:nvSpPr>
          <p:cNvPr id="5" name="object 5"/>
          <p:cNvSpPr/>
          <p:nvPr/>
        </p:nvSpPr>
        <p:spPr>
          <a:xfrm>
            <a:off x="304800" y="2480309"/>
            <a:ext cx="8698230" cy="1712595"/>
          </a:xfrm>
          <a:custGeom>
            <a:avLst/>
            <a:gdLst/>
            <a:ahLst/>
            <a:cxnLst/>
            <a:rect l="l" t="t" r="r" b="b"/>
            <a:pathLst>
              <a:path w="8698230" h="1712595">
                <a:moveTo>
                  <a:pt x="8698230" y="285369"/>
                </a:moveTo>
                <a:lnTo>
                  <a:pt x="8694483" y="239090"/>
                </a:lnTo>
                <a:lnTo>
                  <a:pt x="8683676" y="195173"/>
                </a:lnTo>
                <a:lnTo>
                  <a:pt x="8666366" y="154228"/>
                </a:lnTo>
                <a:lnTo>
                  <a:pt x="8643163" y="116840"/>
                </a:lnTo>
                <a:lnTo>
                  <a:pt x="8614639" y="83591"/>
                </a:lnTo>
                <a:lnTo>
                  <a:pt x="8581390" y="55067"/>
                </a:lnTo>
                <a:lnTo>
                  <a:pt x="8544001" y="31864"/>
                </a:lnTo>
                <a:lnTo>
                  <a:pt x="8503056" y="14554"/>
                </a:lnTo>
                <a:lnTo>
                  <a:pt x="8459140" y="3746"/>
                </a:lnTo>
                <a:lnTo>
                  <a:pt x="8412861" y="0"/>
                </a:lnTo>
                <a:lnTo>
                  <a:pt x="285369" y="0"/>
                </a:lnTo>
                <a:lnTo>
                  <a:pt x="239077" y="3746"/>
                </a:lnTo>
                <a:lnTo>
                  <a:pt x="195160" y="14554"/>
                </a:lnTo>
                <a:lnTo>
                  <a:pt x="154216" y="31864"/>
                </a:lnTo>
                <a:lnTo>
                  <a:pt x="116827" y="55067"/>
                </a:lnTo>
                <a:lnTo>
                  <a:pt x="83578" y="83591"/>
                </a:lnTo>
                <a:lnTo>
                  <a:pt x="55054" y="116840"/>
                </a:lnTo>
                <a:lnTo>
                  <a:pt x="31851" y="154228"/>
                </a:lnTo>
                <a:lnTo>
                  <a:pt x="14541" y="195173"/>
                </a:lnTo>
                <a:lnTo>
                  <a:pt x="3733" y="239090"/>
                </a:lnTo>
                <a:lnTo>
                  <a:pt x="0" y="285369"/>
                </a:lnTo>
                <a:lnTo>
                  <a:pt x="0" y="1426845"/>
                </a:lnTo>
                <a:lnTo>
                  <a:pt x="3733" y="1473136"/>
                </a:lnTo>
                <a:lnTo>
                  <a:pt x="14541" y="1517053"/>
                </a:lnTo>
                <a:lnTo>
                  <a:pt x="31851" y="1557997"/>
                </a:lnTo>
                <a:lnTo>
                  <a:pt x="55054" y="1595386"/>
                </a:lnTo>
                <a:lnTo>
                  <a:pt x="83578" y="1628635"/>
                </a:lnTo>
                <a:lnTo>
                  <a:pt x="116827" y="1657159"/>
                </a:lnTo>
                <a:lnTo>
                  <a:pt x="154216" y="1680362"/>
                </a:lnTo>
                <a:lnTo>
                  <a:pt x="195160" y="1697672"/>
                </a:lnTo>
                <a:lnTo>
                  <a:pt x="239077" y="1708480"/>
                </a:lnTo>
                <a:lnTo>
                  <a:pt x="285369" y="1712214"/>
                </a:lnTo>
                <a:lnTo>
                  <a:pt x="8412861" y="1712214"/>
                </a:lnTo>
                <a:lnTo>
                  <a:pt x="8459140" y="1708480"/>
                </a:lnTo>
                <a:lnTo>
                  <a:pt x="8503056" y="1697672"/>
                </a:lnTo>
                <a:lnTo>
                  <a:pt x="8544001" y="1680362"/>
                </a:lnTo>
                <a:lnTo>
                  <a:pt x="8581390" y="1657159"/>
                </a:lnTo>
                <a:lnTo>
                  <a:pt x="8614639" y="1628635"/>
                </a:lnTo>
                <a:lnTo>
                  <a:pt x="8643163" y="1595386"/>
                </a:lnTo>
                <a:lnTo>
                  <a:pt x="8666366" y="1557997"/>
                </a:lnTo>
                <a:lnTo>
                  <a:pt x="8683676" y="1517053"/>
                </a:lnTo>
                <a:lnTo>
                  <a:pt x="8694483" y="1473136"/>
                </a:lnTo>
                <a:lnTo>
                  <a:pt x="8698230" y="1426845"/>
                </a:lnTo>
                <a:lnTo>
                  <a:pt x="8698230" y="1294638"/>
                </a:lnTo>
                <a:lnTo>
                  <a:pt x="8698230" y="416814"/>
                </a:lnTo>
                <a:lnTo>
                  <a:pt x="8698230" y="285369"/>
                </a:lnTo>
                <a:close/>
              </a:path>
            </a:pathLst>
          </a:custGeom>
          <a:solidFill>
            <a:srgbClr val="00B050"/>
          </a:solidFill>
        </p:spPr>
        <p:txBody>
          <a:bodyPr wrap="square" lIns="0" tIns="0" rIns="0" bIns="0" rtlCol="0"/>
          <a:lstStyle/>
          <a:p>
            <a:endParaRPr/>
          </a:p>
        </p:txBody>
      </p:sp>
      <p:sp>
        <p:nvSpPr>
          <p:cNvPr id="6" name="object 6"/>
          <p:cNvSpPr txBox="1"/>
          <p:nvPr/>
        </p:nvSpPr>
        <p:spPr>
          <a:xfrm>
            <a:off x="475487" y="2694177"/>
            <a:ext cx="8359140" cy="1121461"/>
          </a:xfrm>
          <a:prstGeom prst="rect">
            <a:avLst/>
          </a:prstGeom>
        </p:spPr>
        <p:txBody>
          <a:bodyPr vert="horz" wrap="square" lIns="0" tIns="13335" rIns="0" bIns="0" rtlCol="0">
            <a:spAutoFit/>
          </a:bodyPr>
          <a:lstStyle/>
          <a:p>
            <a:pPr marL="355600" marR="5080" indent="-342900">
              <a:spcBef>
                <a:spcPts val="105"/>
              </a:spcBef>
              <a:buFont typeface="Wingdings"/>
              <a:buChar char=""/>
              <a:tabLst>
                <a:tab pos="355600" algn="l"/>
              </a:tabLst>
            </a:pPr>
            <a:r>
              <a:rPr lang="en-US" sz="2400">
                <a:solidFill>
                  <a:schemeClr val="bg1"/>
                </a:solidFill>
                <a:latin typeface="Calibri" pitchFamily="34" charset="0"/>
                <a:cs typeface="Calibri" pitchFamily="34" charset="0"/>
              </a:rPr>
              <a:t>The word 'window' is used to refer to the collection of rows that the function works on.</a:t>
            </a:r>
            <a:endParaRPr sz="2200">
              <a:solidFill>
                <a:schemeClr val="bg1"/>
              </a:solidFill>
              <a:latin typeface="Times New Roman"/>
              <a:cs typeface="Times New Roman"/>
            </a:endParaRPr>
          </a:p>
          <a:p>
            <a:pPr marL="355600" marR="5080" indent="-342900">
              <a:lnSpc>
                <a:spcPct val="100000"/>
              </a:lnSpc>
              <a:buFont typeface="Wingdings"/>
              <a:buChar char=""/>
              <a:tabLst>
                <a:tab pos="355600" algn="l"/>
                <a:tab pos="1204595" algn="l"/>
                <a:tab pos="2418715" algn="l"/>
                <a:tab pos="3000375" algn="l"/>
                <a:tab pos="3521710" algn="l"/>
                <a:tab pos="4485005" algn="l"/>
                <a:tab pos="5347970" algn="l"/>
                <a:tab pos="6028055" algn="l"/>
                <a:tab pos="7310755" algn="l"/>
              </a:tabLst>
            </a:pPr>
            <a:r>
              <a:rPr lang="en-US" sz="2400">
                <a:solidFill>
                  <a:schemeClr val="bg1"/>
                </a:solidFill>
                <a:latin typeface="Courier New" pitchFamily="49" charset="0"/>
                <a:cs typeface="Courier New" pitchFamily="49" charset="0"/>
              </a:rPr>
              <a:t>OVER</a:t>
            </a:r>
            <a:r>
              <a:rPr lang="en-US" sz="2400">
                <a:solidFill>
                  <a:schemeClr val="bg1"/>
                </a:solidFill>
                <a:latin typeface="Calibri" pitchFamily="34" charset="0"/>
                <a:cs typeface="Calibri" pitchFamily="34" charset="0"/>
              </a:rPr>
              <a:t> clause is used to define a window within a query resultset</a:t>
            </a:r>
            <a:endParaRPr sz="2200">
              <a:solidFill>
                <a:schemeClr val="bg1"/>
              </a:solidFill>
              <a:latin typeface="Times New Roman"/>
              <a:cs typeface="Times New Roman"/>
            </a:endParaRPr>
          </a:p>
        </p:txBody>
      </p:sp>
      <p:sp>
        <p:nvSpPr>
          <p:cNvPr id="9" name="object 9"/>
          <p:cNvSpPr txBox="1"/>
          <p:nvPr/>
        </p:nvSpPr>
        <p:spPr>
          <a:xfrm>
            <a:off x="7872983" y="6569709"/>
            <a:ext cx="94043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62" baseline="4629" dirty="0">
                <a:latin typeface="Times New Roman"/>
                <a:cs typeface="Times New Roman"/>
              </a:rPr>
              <a:t> </a:t>
            </a:r>
            <a:fld id="{81D60167-4931-47E6-BA6A-407CBD079E47}" type="slidenum">
              <a:rPr sz="1200" spc="-20" dirty="0">
                <a:latin typeface="Times New Roman"/>
                <a:cs typeface="Times New Roman"/>
              </a:rPr>
              <a:t>25</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7257288" cy="574040"/>
          </a:xfrm>
          <a:prstGeom prst="rect">
            <a:avLst/>
          </a:prstGeom>
        </p:spPr>
        <p:txBody>
          <a:bodyPr vert="horz" wrap="square" lIns="0" tIns="12700" rIns="0" bIns="0" rtlCol="0">
            <a:spAutoFit/>
          </a:bodyPr>
          <a:lstStyle/>
          <a:p>
            <a:pPr marL="12700">
              <a:lnSpc>
                <a:spcPct val="100000"/>
              </a:lnSpc>
              <a:spcBef>
                <a:spcPts val="100"/>
              </a:spcBef>
            </a:pPr>
            <a:r>
              <a:rPr sz="3600" spc="190" dirty="0"/>
              <a:t>Windowing </a:t>
            </a:r>
            <a:r>
              <a:rPr sz="3600" spc="220" dirty="0"/>
              <a:t>Components</a:t>
            </a:r>
            <a:r>
              <a:rPr sz="3600" spc="-525" dirty="0"/>
              <a:t> </a:t>
            </a:r>
            <a:r>
              <a:rPr sz="3600" spc="-300" dirty="0"/>
              <a:t>1-3</a:t>
            </a:r>
            <a:endParaRPr sz="3600"/>
          </a:p>
        </p:txBody>
      </p:sp>
      <p:sp>
        <p:nvSpPr>
          <p:cNvPr id="3" name="object 3"/>
          <p:cNvSpPr txBox="1"/>
          <p:nvPr/>
        </p:nvSpPr>
        <p:spPr>
          <a:xfrm>
            <a:off x="270256" y="762000"/>
            <a:ext cx="8339455" cy="1319530"/>
          </a:xfrm>
          <a:prstGeom prst="rect">
            <a:avLst/>
          </a:prstGeom>
        </p:spPr>
        <p:txBody>
          <a:bodyPr vert="horz" wrap="square" lIns="0" tIns="12700" rIns="0" bIns="0" rtlCol="0">
            <a:spAutoFit/>
          </a:bodyPr>
          <a:lstStyle/>
          <a:p>
            <a:pPr marL="12700" marR="5080">
              <a:lnSpc>
                <a:spcPct val="100000"/>
              </a:lnSpc>
              <a:spcBef>
                <a:spcPts val="100"/>
              </a:spcBef>
            </a:pPr>
            <a:r>
              <a:rPr sz="2200" spc="114" dirty="0">
                <a:latin typeface="Times New Roman"/>
                <a:cs typeface="Times New Roman"/>
              </a:rPr>
              <a:t>Three </a:t>
            </a:r>
            <a:r>
              <a:rPr sz="2200" spc="65" dirty="0">
                <a:latin typeface="Times New Roman"/>
                <a:cs typeface="Times New Roman"/>
              </a:rPr>
              <a:t>core </a:t>
            </a:r>
            <a:r>
              <a:rPr sz="2200" spc="105" dirty="0">
                <a:latin typeface="Times New Roman"/>
                <a:cs typeface="Times New Roman"/>
              </a:rPr>
              <a:t>components </a:t>
            </a:r>
            <a:r>
              <a:rPr sz="2200" spc="65" dirty="0">
                <a:latin typeface="Times New Roman"/>
                <a:cs typeface="Times New Roman"/>
              </a:rPr>
              <a:t>of creating </a:t>
            </a:r>
            <a:r>
              <a:rPr sz="2200" spc="80" dirty="0">
                <a:latin typeface="Times New Roman"/>
                <a:cs typeface="Times New Roman"/>
              </a:rPr>
              <a:t>windows </a:t>
            </a:r>
            <a:r>
              <a:rPr sz="2200" spc="100" dirty="0">
                <a:latin typeface="Times New Roman"/>
                <a:cs typeface="Times New Roman"/>
              </a:rPr>
              <a:t>with </a:t>
            </a:r>
            <a:r>
              <a:rPr sz="2200" spc="120" dirty="0">
                <a:latin typeface="Times New Roman"/>
                <a:cs typeface="Times New Roman"/>
              </a:rPr>
              <a:t>the </a:t>
            </a:r>
            <a:r>
              <a:rPr sz="2200" spc="140" dirty="0">
                <a:latin typeface="Times New Roman"/>
                <a:cs typeface="Times New Roman"/>
              </a:rPr>
              <a:t>OVER </a:t>
            </a:r>
            <a:r>
              <a:rPr sz="2200" spc="40" dirty="0">
                <a:latin typeface="Times New Roman"/>
                <a:cs typeface="Times New Roman"/>
              </a:rPr>
              <a:t>clause  </a:t>
            </a:r>
            <a:r>
              <a:rPr sz="2200" spc="60" dirty="0">
                <a:latin typeface="Times New Roman"/>
                <a:cs typeface="Times New Roman"/>
              </a:rPr>
              <a:t>are </a:t>
            </a:r>
            <a:r>
              <a:rPr sz="2200" spc="20" dirty="0">
                <a:latin typeface="Times New Roman"/>
                <a:cs typeface="Times New Roman"/>
              </a:rPr>
              <a:t>as</a:t>
            </a:r>
            <a:r>
              <a:rPr sz="2200" spc="-250" dirty="0">
                <a:latin typeface="Times New Roman"/>
                <a:cs typeface="Times New Roman"/>
              </a:rPr>
              <a:t> </a:t>
            </a:r>
            <a:r>
              <a:rPr sz="2200" spc="30" dirty="0">
                <a:latin typeface="Times New Roman"/>
                <a:cs typeface="Times New Roman"/>
              </a:rPr>
              <a:t>follows:</a:t>
            </a:r>
            <a:endParaRPr sz="2200">
              <a:latin typeface="Times New Roman"/>
              <a:cs typeface="Times New Roman"/>
            </a:endParaRPr>
          </a:p>
          <a:p>
            <a:pPr marL="125730">
              <a:lnSpc>
                <a:spcPct val="100000"/>
              </a:lnSpc>
              <a:spcBef>
                <a:spcPts val="2505"/>
              </a:spcBef>
            </a:pPr>
            <a:r>
              <a:rPr sz="2000" b="1" spc="-80" dirty="0">
                <a:latin typeface="Arial"/>
                <a:cs typeface="Arial"/>
              </a:rPr>
              <a:t>Partitioning</a:t>
            </a:r>
            <a:endParaRPr sz="2000">
              <a:latin typeface="Arial"/>
              <a:cs typeface="Arial"/>
            </a:endParaRPr>
          </a:p>
        </p:txBody>
      </p:sp>
      <p:sp>
        <p:nvSpPr>
          <p:cNvPr id="4" name="object 4"/>
          <p:cNvSpPr txBox="1"/>
          <p:nvPr/>
        </p:nvSpPr>
        <p:spPr>
          <a:xfrm>
            <a:off x="525144" y="2321004"/>
            <a:ext cx="3890010" cy="2215991"/>
          </a:xfrm>
          <a:prstGeom prst="rect">
            <a:avLst/>
          </a:prstGeom>
          <a:solidFill>
            <a:srgbClr val="003300"/>
          </a:solidFill>
        </p:spPr>
        <p:txBody>
          <a:bodyPr vert="horz" wrap="square" lIns="0" tIns="0" rIns="0" bIns="0" rtlCol="0">
            <a:spAutoFit/>
          </a:bodyPr>
          <a:lstStyle/>
          <a:p>
            <a:pPr marL="377190" marR="83185" indent="-285750" algn="just">
              <a:lnSpc>
                <a:spcPct val="100000"/>
              </a:lnSpc>
              <a:buFont typeface="Wingdings"/>
              <a:buChar char=""/>
              <a:tabLst>
                <a:tab pos="377825" algn="l"/>
              </a:tabLst>
            </a:pPr>
            <a:r>
              <a:rPr sz="1800" spc="60" dirty="0">
                <a:solidFill>
                  <a:srgbClr val="FFFFFF"/>
                </a:solidFill>
                <a:latin typeface="Times New Roman"/>
                <a:cs typeface="Times New Roman"/>
              </a:rPr>
              <a:t>Partitioning </a:t>
            </a:r>
            <a:r>
              <a:rPr sz="1800" spc="5" dirty="0">
                <a:solidFill>
                  <a:srgbClr val="FFFFFF"/>
                </a:solidFill>
                <a:latin typeface="Times New Roman"/>
                <a:cs typeface="Times New Roman"/>
              </a:rPr>
              <a:t>is </a:t>
            </a:r>
            <a:r>
              <a:rPr sz="1800" spc="30" dirty="0">
                <a:solidFill>
                  <a:srgbClr val="FFFFFF"/>
                </a:solidFill>
                <a:latin typeface="Times New Roman"/>
                <a:cs typeface="Times New Roman"/>
              </a:rPr>
              <a:t>a </a:t>
            </a:r>
            <a:r>
              <a:rPr sz="1800" spc="60" dirty="0">
                <a:solidFill>
                  <a:srgbClr val="FFFFFF"/>
                </a:solidFill>
                <a:latin typeface="Times New Roman"/>
                <a:cs typeface="Times New Roman"/>
              </a:rPr>
              <a:t>feature </a:t>
            </a:r>
            <a:r>
              <a:rPr sz="1800" spc="100" dirty="0">
                <a:solidFill>
                  <a:srgbClr val="FFFFFF"/>
                </a:solidFill>
                <a:latin typeface="Times New Roman"/>
                <a:cs typeface="Times New Roman"/>
              </a:rPr>
              <a:t>that  </a:t>
            </a:r>
            <a:r>
              <a:rPr sz="1800" spc="35" dirty="0">
                <a:solidFill>
                  <a:srgbClr val="FFFFFF"/>
                </a:solidFill>
                <a:latin typeface="Times New Roman"/>
                <a:cs typeface="Times New Roman"/>
              </a:rPr>
              <a:t>limits </a:t>
            </a:r>
            <a:r>
              <a:rPr sz="1800" spc="100" dirty="0">
                <a:solidFill>
                  <a:srgbClr val="FFFFFF"/>
                </a:solidFill>
                <a:latin typeface="Times New Roman"/>
                <a:cs typeface="Times New Roman"/>
              </a:rPr>
              <a:t>the </a:t>
            </a:r>
            <a:r>
              <a:rPr sz="1800" spc="75" dirty="0">
                <a:solidFill>
                  <a:srgbClr val="FFFFFF"/>
                </a:solidFill>
                <a:latin typeface="Times New Roman"/>
                <a:cs typeface="Times New Roman"/>
              </a:rPr>
              <a:t>window </a:t>
            </a:r>
            <a:r>
              <a:rPr sz="1800" spc="50" dirty="0">
                <a:solidFill>
                  <a:srgbClr val="FFFFFF"/>
                </a:solidFill>
                <a:latin typeface="Times New Roman"/>
                <a:cs typeface="Times New Roman"/>
              </a:rPr>
              <a:t>of </a:t>
            </a:r>
            <a:r>
              <a:rPr sz="1800" spc="105" dirty="0">
                <a:solidFill>
                  <a:srgbClr val="FFFFFF"/>
                </a:solidFill>
                <a:latin typeface="Times New Roman"/>
                <a:cs typeface="Times New Roman"/>
              </a:rPr>
              <a:t>the  </a:t>
            </a:r>
            <a:r>
              <a:rPr sz="1800" spc="70" dirty="0">
                <a:solidFill>
                  <a:srgbClr val="FFFFFF"/>
                </a:solidFill>
                <a:latin typeface="Times New Roman"/>
                <a:cs typeface="Times New Roman"/>
              </a:rPr>
              <a:t>recent </a:t>
            </a:r>
            <a:r>
              <a:rPr sz="1800" spc="50" dirty="0">
                <a:solidFill>
                  <a:srgbClr val="FFFFFF"/>
                </a:solidFill>
                <a:latin typeface="Times New Roman"/>
                <a:cs typeface="Times New Roman"/>
              </a:rPr>
              <a:t>calculation </a:t>
            </a:r>
            <a:r>
              <a:rPr sz="1800" spc="100" dirty="0">
                <a:solidFill>
                  <a:srgbClr val="FFFFFF"/>
                </a:solidFill>
                <a:latin typeface="Times New Roman"/>
                <a:cs typeface="Times New Roman"/>
              </a:rPr>
              <a:t>to </a:t>
            </a:r>
            <a:r>
              <a:rPr sz="1800" spc="60" dirty="0">
                <a:solidFill>
                  <a:srgbClr val="FFFFFF"/>
                </a:solidFill>
                <a:latin typeface="Times New Roman"/>
                <a:cs typeface="Times New Roman"/>
              </a:rPr>
              <a:t>only  </a:t>
            </a:r>
            <a:r>
              <a:rPr sz="1800" spc="80" dirty="0">
                <a:solidFill>
                  <a:srgbClr val="FFFFFF"/>
                </a:solidFill>
                <a:latin typeface="Times New Roman"/>
                <a:cs typeface="Times New Roman"/>
              </a:rPr>
              <a:t>those </a:t>
            </a:r>
            <a:r>
              <a:rPr sz="1800" spc="50" dirty="0">
                <a:solidFill>
                  <a:srgbClr val="FFFFFF"/>
                </a:solidFill>
                <a:latin typeface="Times New Roman"/>
                <a:cs typeface="Times New Roman"/>
              </a:rPr>
              <a:t>rows </a:t>
            </a:r>
            <a:r>
              <a:rPr sz="1800" spc="65" dirty="0">
                <a:solidFill>
                  <a:srgbClr val="FFFFFF"/>
                </a:solidFill>
                <a:latin typeface="Times New Roman"/>
                <a:cs typeface="Times New Roman"/>
              </a:rPr>
              <a:t>from </a:t>
            </a:r>
            <a:r>
              <a:rPr sz="1800" spc="100" dirty="0">
                <a:solidFill>
                  <a:srgbClr val="FFFFFF"/>
                </a:solidFill>
                <a:latin typeface="Times New Roman"/>
                <a:cs typeface="Times New Roman"/>
              </a:rPr>
              <a:t>the </a:t>
            </a:r>
            <a:r>
              <a:rPr sz="1800" spc="55" dirty="0">
                <a:solidFill>
                  <a:srgbClr val="FFFFFF"/>
                </a:solidFill>
                <a:latin typeface="Times New Roman"/>
                <a:cs typeface="Times New Roman"/>
              </a:rPr>
              <a:t>resultset  </a:t>
            </a:r>
            <a:r>
              <a:rPr sz="1800" spc="100" dirty="0">
                <a:solidFill>
                  <a:srgbClr val="FFFFFF"/>
                </a:solidFill>
                <a:latin typeface="Times New Roman"/>
                <a:cs typeface="Times New Roman"/>
              </a:rPr>
              <a:t>that </a:t>
            </a:r>
            <a:r>
              <a:rPr sz="1800" spc="70" dirty="0">
                <a:solidFill>
                  <a:srgbClr val="FFFFFF"/>
                </a:solidFill>
                <a:latin typeface="Times New Roman"/>
                <a:cs typeface="Times New Roman"/>
              </a:rPr>
              <a:t>contains </a:t>
            </a:r>
            <a:r>
              <a:rPr sz="1800" spc="100" dirty="0">
                <a:solidFill>
                  <a:srgbClr val="FFFFFF"/>
                </a:solidFill>
                <a:latin typeface="Times New Roman"/>
                <a:cs typeface="Times New Roman"/>
              </a:rPr>
              <a:t>the </a:t>
            </a:r>
            <a:r>
              <a:rPr sz="1800" spc="40" dirty="0">
                <a:solidFill>
                  <a:srgbClr val="FFFFFF"/>
                </a:solidFill>
                <a:latin typeface="Times New Roman"/>
                <a:cs typeface="Times New Roman"/>
              </a:rPr>
              <a:t>same values  </a:t>
            </a:r>
            <a:r>
              <a:rPr sz="1800" spc="85" dirty="0">
                <a:solidFill>
                  <a:srgbClr val="FFFFFF"/>
                </a:solidFill>
                <a:latin typeface="Times New Roman"/>
                <a:cs typeface="Times New Roman"/>
              </a:rPr>
              <a:t>in </a:t>
            </a:r>
            <a:r>
              <a:rPr sz="1800" spc="100" dirty="0">
                <a:solidFill>
                  <a:srgbClr val="FFFFFF"/>
                </a:solidFill>
                <a:latin typeface="Times New Roman"/>
                <a:cs typeface="Times New Roman"/>
              </a:rPr>
              <a:t>the </a:t>
            </a:r>
            <a:r>
              <a:rPr sz="1800" spc="75" dirty="0">
                <a:solidFill>
                  <a:srgbClr val="FFFFFF"/>
                </a:solidFill>
                <a:latin typeface="Times New Roman"/>
                <a:cs typeface="Times New Roman"/>
              </a:rPr>
              <a:t>partition </a:t>
            </a:r>
            <a:r>
              <a:rPr sz="1800" spc="70" dirty="0">
                <a:solidFill>
                  <a:srgbClr val="FFFFFF"/>
                </a:solidFill>
                <a:latin typeface="Times New Roman"/>
                <a:cs typeface="Times New Roman"/>
              </a:rPr>
              <a:t>columns </a:t>
            </a:r>
            <a:r>
              <a:rPr sz="1800" spc="15" dirty="0">
                <a:solidFill>
                  <a:srgbClr val="FFFFFF"/>
                </a:solidFill>
                <a:latin typeface="Times New Roman"/>
                <a:cs typeface="Times New Roman"/>
              </a:rPr>
              <a:t>as </a:t>
            </a:r>
            <a:r>
              <a:rPr sz="1800" spc="80" dirty="0">
                <a:solidFill>
                  <a:srgbClr val="FFFFFF"/>
                </a:solidFill>
                <a:latin typeface="Times New Roman"/>
                <a:cs typeface="Times New Roman"/>
              </a:rPr>
              <a:t>in  </a:t>
            </a:r>
            <a:r>
              <a:rPr sz="1800" spc="100" dirty="0">
                <a:solidFill>
                  <a:srgbClr val="FFFFFF"/>
                </a:solidFill>
                <a:latin typeface="Times New Roman"/>
                <a:cs typeface="Times New Roman"/>
              </a:rPr>
              <a:t>the </a:t>
            </a:r>
            <a:r>
              <a:rPr sz="1800" spc="50" dirty="0">
                <a:solidFill>
                  <a:srgbClr val="FFFFFF"/>
                </a:solidFill>
                <a:latin typeface="Times New Roman"/>
                <a:cs typeface="Times New Roman"/>
              </a:rPr>
              <a:t>existing</a:t>
            </a:r>
            <a:r>
              <a:rPr sz="1800" spc="-229" dirty="0">
                <a:solidFill>
                  <a:srgbClr val="FFFFFF"/>
                </a:solidFill>
                <a:latin typeface="Times New Roman"/>
                <a:cs typeface="Times New Roman"/>
              </a:rPr>
              <a:t> </a:t>
            </a:r>
            <a:r>
              <a:rPr sz="1800" spc="50" dirty="0">
                <a:solidFill>
                  <a:srgbClr val="FFFFFF"/>
                </a:solidFill>
                <a:latin typeface="Times New Roman"/>
                <a:cs typeface="Times New Roman"/>
              </a:rPr>
              <a:t>row.</a:t>
            </a:r>
            <a:endParaRPr sz="1800">
              <a:latin typeface="Times New Roman"/>
              <a:cs typeface="Times New Roman"/>
            </a:endParaRPr>
          </a:p>
          <a:p>
            <a:pPr marL="377190" marR="83185" indent="-285750" algn="just">
              <a:lnSpc>
                <a:spcPct val="100000"/>
              </a:lnSpc>
              <a:buFont typeface="Wingdings"/>
              <a:buChar char=""/>
              <a:tabLst>
                <a:tab pos="377825" algn="l"/>
              </a:tabLst>
            </a:pPr>
            <a:r>
              <a:rPr sz="1800" spc="50" dirty="0">
                <a:solidFill>
                  <a:srgbClr val="FFFFFF"/>
                </a:solidFill>
                <a:latin typeface="Times New Roman"/>
                <a:cs typeface="Times New Roman"/>
              </a:rPr>
              <a:t>It </a:t>
            </a:r>
            <a:r>
              <a:rPr sz="1800" spc="45" dirty="0">
                <a:solidFill>
                  <a:srgbClr val="FFFFFF"/>
                </a:solidFill>
                <a:latin typeface="Times New Roman"/>
                <a:cs typeface="Times New Roman"/>
              </a:rPr>
              <a:t>uses </a:t>
            </a:r>
            <a:r>
              <a:rPr sz="1800" spc="100" dirty="0">
                <a:solidFill>
                  <a:srgbClr val="FFFFFF"/>
                </a:solidFill>
                <a:latin typeface="Times New Roman"/>
                <a:cs typeface="Times New Roman"/>
              </a:rPr>
              <a:t>the PARTITION </a:t>
            </a:r>
            <a:r>
              <a:rPr sz="1800" spc="-40" dirty="0">
                <a:solidFill>
                  <a:srgbClr val="FFFFFF"/>
                </a:solidFill>
                <a:latin typeface="Times New Roman"/>
                <a:cs typeface="Times New Roman"/>
              </a:rPr>
              <a:t>BY  </a:t>
            </a:r>
            <a:r>
              <a:rPr sz="1800" spc="30" dirty="0">
                <a:solidFill>
                  <a:srgbClr val="FFFFFF"/>
                </a:solidFill>
                <a:latin typeface="Times New Roman"/>
                <a:cs typeface="Times New Roman"/>
              </a:rPr>
              <a:t>clause.</a:t>
            </a:r>
            <a:endParaRPr sz="1800">
              <a:latin typeface="Times New Roman"/>
              <a:cs typeface="Times New Roman"/>
            </a:endParaRPr>
          </a:p>
        </p:txBody>
      </p:sp>
      <p:pic>
        <p:nvPicPr>
          <p:cNvPr id="5" name="object 5"/>
          <p:cNvPicPr/>
          <p:nvPr/>
        </p:nvPicPr>
        <p:blipFill>
          <a:blip r:embed="rId3" cstate="print"/>
          <a:stretch>
            <a:fillRect/>
          </a:stretch>
        </p:blipFill>
        <p:spPr>
          <a:xfrm>
            <a:off x="5048693" y="1408723"/>
            <a:ext cx="3763394" cy="2932095"/>
          </a:xfrm>
          <a:prstGeom prst="rect">
            <a:avLst/>
          </a:prstGeom>
        </p:spPr>
      </p:pic>
      <p:sp>
        <p:nvSpPr>
          <p:cNvPr id="6" name="object 6"/>
          <p:cNvSpPr txBox="1"/>
          <p:nvPr/>
        </p:nvSpPr>
        <p:spPr>
          <a:xfrm>
            <a:off x="5715000" y="4340818"/>
            <a:ext cx="2430780" cy="238760"/>
          </a:xfrm>
          <a:prstGeom prst="rect">
            <a:avLst/>
          </a:prstGeom>
        </p:spPr>
        <p:txBody>
          <a:bodyPr vert="horz" wrap="square" lIns="0" tIns="12065" rIns="0" bIns="0" rtlCol="0">
            <a:spAutoFit/>
          </a:bodyPr>
          <a:lstStyle/>
          <a:p>
            <a:pPr marL="12700">
              <a:lnSpc>
                <a:spcPct val="100000"/>
              </a:lnSpc>
              <a:spcBef>
                <a:spcPts val="95"/>
              </a:spcBef>
            </a:pPr>
            <a:r>
              <a:rPr sz="1400" b="1" spc="-60" dirty="0">
                <a:latin typeface="Arial"/>
                <a:cs typeface="Arial"/>
              </a:rPr>
              <a:t>Partitioning </a:t>
            </a:r>
            <a:r>
              <a:rPr sz="1400" b="1" spc="-25" dirty="0">
                <a:latin typeface="Arial"/>
                <a:cs typeface="Arial"/>
              </a:rPr>
              <a:t>with </a:t>
            </a:r>
            <a:r>
              <a:rPr sz="1400" b="1" spc="35" dirty="0">
                <a:latin typeface="Arial"/>
                <a:cs typeface="Arial"/>
              </a:rPr>
              <a:t>OVER</a:t>
            </a:r>
            <a:r>
              <a:rPr sz="1400" b="1" spc="-270" dirty="0">
                <a:latin typeface="Arial"/>
                <a:cs typeface="Arial"/>
              </a:rPr>
              <a:t> </a:t>
            </a:r>
            <a:r>
              <a:rPr sz="1400" b="1" spc="-80" dirty="0">
                <a:latin typeface="Arial"/>
                <a:cs typeface="Arial"/>
              </a:rPr>
              <a:t>Clause</a:t>
            </a:r>
            <a:endParaRPr sz="1400">
              <a:latin typeface="Arial"/>
              <a:cs typeface="Arial"/>
            </a:endParaRPr>
          </a:p>
        </p:txBody>
      </p:sp>
      <p:sp>
        <p:nvSpPr>
          <p:cNvPr id="8" name="object 8"/>
          <p:cNvSpPr txBox="1"/>
          <p:nvPr/>
        </p:nvSpPr>
        <p:spPr>
          <a:xfrm>
            <a:off x="7872983" y="6569709"/>
            <a:ext cx="940435"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62" baseline="4629" dirty="0">
                <a:latin typeface="Times New Roman"/>
                <a:cs typeface="Times New Roman"/>
              </a:rPr>
              <a:t> </a:t>
            </a:r>
            <a:fld id="{81D60167-4931-47E6-BA6A-407CBD079E47}" type="slidenum">
              <a:rPr sz="1200" spc="-20" dirty="0">
                <a:latin typeface="Times New Roman"/>
                <a:cs typeface="Times New Roman"/>
              </a:rPr>
              <a:t>26</a:t>
            </a:fld>
            <a:endParaRPr sz="1200">
              <a:latin typeface="Times New Roman"/>
              <a:cs typeface="Times New Roman"/>
            </a:endParaRPr>
          </a:p>
        </p:txBody>
      </p:sp>
      <p:sp>
        <p:nvSpPr>
          <p:cNvPr id="9" name="object 9"/>
          <p:cNvSpPr txBox="1">
            <a:spLocks noGrp="1"/>
          </p:cNvSpPr>
          <p:nvPr>
            <p:ph type="ftr" sz="quarter" idx="5"/>
          </p:nvPr>
        </p:nvSpPr>
        <p:spPr>
          <a:xfrm>
            <a:off x="78739" y="6596379"/>
            <a:ext cx="1192278" cy="191078"/>
          </a:xfrm>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0" name="TextBox 9">
            <a:extLst>
              <a:ext uri="{FF2B5EF4-FFF2-40B4-BE49-F238E27FC236}">
                <a16:creationId xmlns:a16="http://schemas.microsoft.com/office/drawing/2014/main" id="{7468D5D1-6740-486D-81DF-0D73ACAF05F4}"/>
              </a:ext>
            </a:extLst>
          </p:cNvPr>
          <p:cNvSpPr txBox="1"/>
          <p:nvPr/>
        </p:nvSpPr>
        <p:spPr>
          <a:xfrm>
            <a:off x="1503172" y="4716987"/>
            <a:ext cx="6137656" cy="2092881"/>
          </a:xfrm>
          <a:prstGeom prst="rect">
            <a:avLst/>
          </a:prstGeom>
          <a:solidFill>
            <a:schemeClr val="accent1">
              <a:lumMod val="40000"/>
              <a:lumOff val="60000"/>
            </a:schemeClr>
          </a:solidFill>
        </p:spPr>
        <p:txBody>
          <a:bodyPr wrap="square" rtlCol="0">
            <a:spAutoFit/>
          </a:bodyPr>
          <a:lstStyle/>
          <a:p>
            <a:pPr marL="341313" indent="-341313">
              <a:lnSpc>
                <a:spcPct val="100000"/>
              </a:lnSpc>
              <a:spcBef>
                <a:spcPts val="0"/>
              </a:spcBef>
            </a:pPr>
            <a:r>
              <a:rPr lang="en-US" sz="1600">
                <a:cs typeface="Courier New" pitchFamily="49" charset="0"/>
              </a:rPr>
              <a:t>USE AdventureWorks2019;</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GO</a:t>
            </a:r>
          </a:p>
          <a:p>
            <a:pPr marL="341313" indent="-341313">
              <a:lnSpc>
                <a:spcPct val="100000"/>
              </a:lnSpc>
              <a:spcBef>
                <a:spcPts val="0"/>
              </a:spcBef>
            </a:pPr>
            <a:r>
              <a:rPr lang="en-US" sz="1600" dirty="0">
                <a:cs typeface="Courier New" pitchFamily="49" charset="0"/>
              </a:rPr>
              <a:t>SELECT </a:t>
            </a:r>
            <a:r>
              <a:rPr lang="en-US" sz="1600" dirty="0" err="1">
                <a:cs typeface="Courier New" pitchFamily="49" charset="0"/>
              </a:rPr>
              <a:t>SalesOrderID</a:t>
            </a:r>
            <a:r>
              <a:rPr lang="en-US" sz="1600" dirty="0">
                <a:cs typeface="Courier New" pitchFamily="49" charset="0"/>
              </a:rPr>
              <a:t>, </a:t>
            </a:r>
            <a:r>
              <a:rPr lang="en-US" sz="1600" dirty="0" err="1">
                <a:cs typeface="Courier New" pitchFamily="49" charset="0"/>
              </a:rPr>
              <a:t>ProductID</a:t>
            </a:r>
            <a:r>
              <a:rPr lang="en-US" sz="1600" dirty="0">
                <a:cs typeface="Courier New" pitchFamily="49" charset="0"/>
              </a:rPr>
              <a:t>, </a:t>
            </a:r>
            <a:r>
              <a:rPr lang="en-US" sz="1600" dirty="0" err="1">
                <a:cs typeface="Courier New" pitchFamily="49" charset="0"/>
              </a:rPr>
              <a:t>OrderQty</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,SUM(</a:t>
            </a:r>
            <a:r>
              <a:rPr lang="en-US" sz="1600" dirty="0" err="1">
                <a:cs typeface="Courier New" pitchFamily="49" charset="0"/>
              </a:rPr>
              <a:t>OrderQty</a:t>
            </a:r>
            <a:r>
              <a:rPr lang="en-US" sz="1600" dirty="0">
                <a:cs typeface="Courier New" pitchFamily="49" charset="0"/>
              </a:rPr>
              <a:t>) OVER(PARTITION BY </a:t>
            </a:r>
            <a:r>
              <a:rPr lang="en-US" sz="1600" dirty="0" err="1">
                <a:cs typeface="Courier New" pitchFamily="49" charset="0"/>
              </a:rPr>
              <a:t>SalesOrderID</a:t>
            </a:r>
            <a:r>
              <a:rPr lang="en-US" sz="1600" dirty="0">
                <a:cs typeface="Courier New" pitchFamily="49" charset="0"/>
              </a:rPr>
              <a:t>) AS Total</a:t>
            </a:r>
          </a:p>
          <a:p>
            <a:pPr marL="341313" indent="-341313">
              <a:lnSpc>
                <a:spcPct val="100000"/>
              </a:lnSpc>
              <a:spcBef>
                <a:spcPts val="0"/>
              </a:spcBef>
            </a:pPr>
            <a:r>
              <a:rPr lang="en-US" sz="1600" dirty="0">
                <a:cs typeface="Courier New" pitchFamily="49" charset="0"/>
              </a:rPr>
              <a:t>,MAX(</a:t>
            </a:r>
            <a:r>
              <a:rPr lang="en-US" sz="1600" dirty="0" err="1">
                <a:cs typeface="Courier New" pitchFamily="49" charset="0"/>
              </a:rPr>
              <a:t>OrderQty</a:t>
            </a:r>
            <a:r>
              <a:rPr lang="en-US" sz="1600" dirty="0">
                <a:cs typeface="Courier New" pitchFamily="49" charset="0"/>
              </a:rPr>
              <a:t>) OVER(PARTITION BY </a:t>
            </a:r>
            <a:r>
              <a:rPr lang="en-US" sz="1600" dirty="0" err="1">
                <a:cs typeface="Courier New" pitchFamily="49" charset="0"/>
              </a:rPr>
              <a:t>SalesOrderID</a:t>
            </a:r>
            <a:r>
              <a:rPr lang="en-US" sz="1600" dirty="0">
                <a:cs typeface="Courier New" pitchFamily="49" charset="0"/>
              </a:rPr>
              <a:t>) AS </a:t>
            </a:r>
            <a:r>
              <a:rPr lang="en-US" sz="1600" dirty="0" err="1">
                <a:cs typeface="Courier New" pitchFamily="49" charset="0"/>
              </a:rPr>
              <a:t>MaxOrderQty</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FROM </a:t>
            </a:r>
            <a:r>
              <a:rPr lang="en-US" sz="1600" dirty="0" err="1">
                <a:cs typeface="Courier New" pitchFamily="49" charset="0"/>
              </a:rPr>
              <a:t>Sales.SalesOrderDetail</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WHERE </a:t>
            </a:r>
            <a:r>
              <a:rPr lang="en-US" sz="1600" dirty="0" err="1">
                <a:cs typeface="Courier New" pitchFamily="49" charset="0"/>
              </a:rPr>
              <a:t>ProductId</a:t>
            </a:r>
            <a:r>
              <a:rPr lang="en-US" sz="1600" dirty="0">
                <a:cs typeface="Courier New" pitchFamily="49" charset="0"/>
              </a:rPr>
              <a:t> IN(776, 773);</a:t>
            </a:r>
          </a:p>
          <a:p>
            <a:pPr marL="341313" indent="-341313">
              <a:lnSpc>
                <a:spcPct val="100000"/>
              </a:lnSpc>
              <a:spcBef>
                <a:spcPts val="0"/>
              </a:spcBef>
            </a:pPr>
            <a:r>
              <a:rPr lang="en-US" sz="1600" dirty="0">
                <a:cs typeface="Courier New" pitchFamily="49" charset="0"/>
              </a:rPr>
              <a:t>GO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6041" y="1163065"/>
            <a:ext cx="1028065" cy="330200"/>
          </a:xfrm>
          <a:prstGeom prst="rect">
            <a:avLst/>
          </a:prstGeom>
        </p:spPr>
        <p:txBody>
          <a:bodyPr vert="horz" wrap="square" lIns="0" tIns="12065" rIns="0" bIns="0" rtlCol="0">
            <a:spAutoFit/>
          </a:bodyPr>
          <a:lstStyle/>
          <a:p>
            <a:pPr marL="12700">
              <a:lnSpc>
                <a:spcPct val="100000"/>
              </a:lnSpc>
              <a:spcBef>
                <a:spcPts val="95"/>
              </a:spcBef>
            </a:pPr>
            <a:r>
              <a:rPr sz="2000" b="1" spc="-75" dirty="0">
                <a:latin typeface="Arial"/>
                <a:cs typeface="Arial"/>
              </a:rPr>
              <a:t>Ordering</a:t>
            </a:r>
            <a:endParaRPr sz="2000">
              <a:latin typeface="Arial"/>
              <a:cs typeface="Arial"/>
            </a:endParaRPr>
          </a:p>
        </p:txBody>
      </p:sp>
      <p:sp>
        <p:nvSpPr>
          <p:cNvPr id="3" name="object 3"/>
          <p:cNvSpPr/>
          <p:nvPr/>
        </p:nvSpPr>
        <p:spPr>
          <a:xfrm>
            <a:off x="257556" y="1598295"/>
            <a:ext cx="4488180" cy="1754505"/>
          </a:xfrm>
          <a:custGeom>
            <a:avLst/>
            <a:gdLst/>
            <a:ahLst/>
            <a:cxnLst/>
            <a:rect l="l" t="t" r="r" b="b"/>
            <a:pathLst>
              <a:path w="4488180" h="1754504">
                <a:moveTo>
                  <a:pt x="4488180" y="0"/>
                </a:moveTo>
                <a:lnTo>
                  <a:pt x="0" y="0"/>
                </a:lnTo>
                <a:lnTo>
                  <a:pt x="0" y="1754123"/>
                </a:lnTo>
                <a:lnTo>
                  <a:pt x="4488180" y="1754123"/>
                </a:lnTo>
                <a:lnTo>
                  <a:pt x="4488180" y="0"/>
                </a:lnTo>
                <a:close/>
              </a:path>
            </a:pathLst>
          </a:custGeom>
          <a:solidFill>
            <a:srgbClr val="00CC99"/>
          </a:solidFill>
        </p:spPr>
        <p:txBody>
          <a:bodyPr wrap="square" lIns="0" tIns="0" rIns="0" bIns="0" rtlCol="0"/>
          <a:lstStyle/>
          <a:p>
            <a:endParaRPr/>
          </a:p>
        </p:txBody>
      </p:sp>
      <p:sp>
        <p:nvSpPr>
          <p:cNvPr id="4" name="object 4"/>
          <p:cNvSpPr txBox="1"/>
          <p:nvPr/>
        </p:nvSpPr>
        <p:spPr>
          <a:xfrm>
            <a:off x="348741" y="1676400"/>
            <a:ext cx="4319905" cy="574040"/>
          </a:xfrm>
          <a:prstGeom prst="rect">
            <a:avLst/>
          </a:prstGeom>
        </p:spPr>
        <p:txBody>
          <a:bodyPr vert="horz" wrap="square" lIns="0" tIns="12700" rIns="0" bIns="0" rtlCol="0">
            <a:spAutoFit/>
          </a:bodyPr>
          <a:lstStyle/>
          <a:p>
            <a:pPr marL="285750" marR="5080" indent="-286385">
              <a:lnSpc>
                <a:spcPct val="100000"/>
              </a:lnSpc>
              <a:spcBef>
                <a:spcPts val="100"/>
              </a:spcBef>
              <a:buFont typeface="Wingdings"/>
              <a:buChar char=""/>
              <a:tabLst>
                <a:tab pos="286385" algn="l"/>
                <a:tab pos="927100" algn="l"/>
                <a:tab pos="2011045" algn="l"/>
                <a:tab pos="3035935" algn="l"/>
                <a:tab pos="3987800" algn="l"/>
              </a:tabLst>
            </a:pPr>
            <a:r>
              <a:rPr sz="1800" spc="120" dirty="0">
                <a:solidFill>
                  <a:srgbClr val="FFFFFF"/>
                </a:solidFill>
                <a:latin typeface="Times New Roman"/>
                <a:cs typeface="Times New Roman"/>
              </a:rPr>
              <a:t>The	</a:t>
            </a:r>
            <a:r>
              <a:rPr sz="1800" spc="80" dirty="0">
                <a:solidFill>
                  <a:srgbClr val="FFFFFF"/>
                </a:solidFill>
                <a:latin typeface="Times New Roman"/>
                <a:cs typeface="Times New Roman"/>
              </a:rPr>
              <a:t>o</a:t>
            </a:r>
            <a:r>
              <a:rPr sz="1800" spc="65" dirty="0">
                <a:solidFill>
                  <a:srgbClr val="FFFFFF"/>
                </a:solidFill>
                <a:latin typeface="Times New Roman"/>
                <a:cs typeface="Times New Roman"/>
              </a:rPr>
              <a:t>rdering	element	</a:t>
            </a:r>
            <a:r>
              <a:rPr sz="1800" spc="55" dirty="0">
                <a:solidFill>
                  <a:srgbClr val="FFFFFF"/>
                </a:solidFill>
                <a:latin typeface="Times New Roman"/>
                <a:cs typeface="Times New Roman"/>
              </a:rPr>
              <a:t>defines	</a:t>
            </a:r>
            <a:r>
              <a:rPr sz="1800" spc="85" dirty="0">
                <a:solidFill>
                  <a:srgbClr val="FFFFFF"/>
                </a:solidFill>
                <a:latin typeface="Times New Roman"/>
                <a:cs typeface="Times New Roman"/>
              </a:rPr>
              <a:t>the  </a:t>
            </a:r>
            <a:r>
              <a:rPr sz="1800" spc="65" dirty="0">
                <a:solidFill>
                  <a:srgbClr val="FFFFFF"/>
                </a:solidFill>
                <a:latin typeface="Times New Roman"/>
                <a:cs typeface="Times New Roman"/>
              </a:rPr>
              <a:t>ordering</a:t>
            </a:r>
            <a:r>
              <a:rPr sz="1800" spc="-80" dirty="0">
                <a:solidFill>
                  <a:srgbClr val="FFFFFF"/>
                </a:solidFill>
                <a:latin typeface="Times New Roman"/>
                <a:cs typeface="Times New Roman"/>
              </a:rPr>
              <a:t> </a:t>
            </a:r>
            <a:r>
              <a:rPr sz="1800" spc="60" dirty="0">
                <a:solidFill>
                  <a:srgbClr val="FFFFFF"/>
                </a:solidFill>
                <a:latin typeface="Times New Roman"/>
                <a:cs typeface="Times New Roman"/>
              </a:rPr>
              <a:t>for</a:t>
            </a:r>
            <a:r>
              <a:rPr sz="1800" spc="-55" dirty="0">
                <a:solidFill>
                  <a:srgbClr val="FFFFFF"/>
                </a:solidFill>
                <a:latin typeface="Times New Roman"/>
                <a:cs typeface="Times New Roman"/>
              </a:rPr>
              <a:t> </a:t>
            </a:r>
            <a:r>
              <a:rPr sz="1800" spc="50" dirty="0">
                <a:solidFill>
                  <a:srgbClr val="FFFFFF"/>
                </a:solidFill>
                <a:latin typeface="Times New Roman"/>
                <a:cs typeface="Times New Roman"/>
              </a:rPr>
              <a:t>calculation</a:t>
            </a:r>
            <a:r>
              <a:rPr sz="1800" spc="-75" dirty="0">
                <a:solidFill>
                  <a:srgbClr val="FFFFFF"/>
                </a:solidFill>
                <a:latin typeface="Times New Roman"/>
                <a:cs typeface="Times New Roman"/>
              </a:rPr>
              <a:t> </a:t>
            </a:r>
            <a:r>
              <a:rPr sz="1800" spc="85" dirty="0">
                <a:solidFill>
                  <a:srgbClr val="FFFFFF"/>
                </a:solidFill>
                <a:latin typeface="Times New Roman"/>
                <a:cs typeface="Times New Roman"/>
              </a:rPr>
              <a:t>in</a:t>
            </a:r>
            <a:r>
              <a:rPr sz="1800" spc="-65" dirty="0">
                <a:solidFill>
                  <a:srgbClr val="FFFFFF"/>
                </a:solidFill>
                <a:latin typeface="Times New Roman"/>
                <a:cs typeface="Times New Roman"/>
              </a:rPr>
              <a:t> </a:t>
            </a:r>
            <a:r>
              <a:rPr sz="1800" spc="100" dirty="0">
                <a:solidFill>
                  <a:srgbClr val="FFFFFF"/>
                </a:solidFill>
                <a:latin typeface="Times New Roman"/>
                <a:cs typeface="Times New Roman"/>
              </a:rPr>
              <a:t>the</a:t>
            </a:r>
            <a:r>
              <a:rPr sz="1800" spc="-65" dirty="0">
                <a:solidFill>
                  <a:srgbClr val="FFFFFF"/>
                </a:solidFill>
                <a:latin typeface="Times New Roman"/>
                <a:cs typeface="Times New Roman"/>
              </a:rPr>
              <a:t> </a:t>
            </a:r>
            <a:r>
              <a:rPr sz="1800" spc="70" dirty="0">
                <a:solidFill>
                  <a:srgbClr val="FFFFFF"/>
                </a:solidFill>
                <a:latin typeface="Times New Roman"/>
                <a:cs typeface="Times New Roman"/>
              </a:rPr>
              <a:t>partition.</a:t>
            </a:r>
            <a:endParaRPr sz="1800">
              <a:latin typeface="Times New Roman"/>
              <a:cs typeface="Times New Roman"/>
            </a:endParaRPr>
          </a:p>
        </p:txBody>
      </p:sp>
      <p:sp>
        <p:nvSpPr>
          <p:cNvPr id="5" name="object 5"/>
          <p:cNvSpPr txBox="1"/>
          <p:nvPr/>
        </p:nvSpPr>
        <p:spPr>
          <a:xfrm>
            <a:off x="348741" y="2229485"/>
            <a:ext cx="4319905" cy="1123315"/>
          </a:xfrm>
          <a:prstGeom prst="rect">
            <a:avLst/>
          </a:prstGeom>
        </p:spPr>
        <p:txBody>
          <a:bodyPr vert="horz" wrap="square" lIns="0" tIns="12700" rIns="0" bIns="0" rtlCol="0">
            <a:spAutoFit/>
          </a:bodyPr>
          <a:lstStyle/>
          <a:p>
            <a:pPr marL="285750" marR="5080" indent="-286385" algn="just">
              <a:lnSpc>
                <a:spcPct val="100000"/>
              </a:lnSpc>
              <a:spcBef>
                <a:spcPts val="100"/>
              </a:spcBef>
              <a:buFont typeface="Wingdings"/>
              <a:buChar char=""/>
              <a:tabLst>
                <a:tab pos="286385" algn="l"/>
              </a:tabLst>
            </a:pPr>
            <a:r>
              <a:rPr sz="1800" spc="120" dirty="0">
                <a:solidFill>
                  <a:srgbClr val="FFFFFF"/>
                </a:solidFill>
                <a:latin typeface="Times New Roman"/>
                <a:cs typeface="Times New Roman"/>
              </a:rPr>
              <a:t>The </a:t>
            </a:r>
            <a:r>
              <a:rPr sz="1800" spc="65" dirty="0">
                <a:solidFill>
                  <a:srgbClr val="FFFFFF"/>
                </a:solidFill>
                <a:latin typeface="Times New Roman"/>
                <a:cs typeface="Times New Roman"/>
              </a:rPr>
              <a:t>ordering element </a:t>
            </a:r>
            <a:r>
              <a:rPr sz="1800" spc="60" dirty="0">
                <a:solidFill>
                  <a:srgbClr val="FFFFFF"/>
                </a:solidFill>
                <a:latin typeface="Times New Roman"/>
                <a:cs typeface="Times New Roman"/>
              </a:rPr>
              <a:t>has </a:t>
            </a:r>
            <a:r>
              <a:rPr sz="1800" spc="65" dirty="0">
                <a:solidFill>
                  <a:srgbClr val="FFFFFF"/>
                </a:solidFill>
                <a:latin typeface="Times New Roman"/>
                <a:cs typeface="Times New Roman"/>
              </a:rPr>
              <a:t>different  meaning </a:t>
            </a:r>
            <a:r>
              <a:rPr sz="1800" spc="100" dirty="0">
                <a:solidFill>
                  <a:srgbClr val="FFFFFF"/>
                </a:solidFill>
                <a:latin typeface="Times New Roman"/>
                <a:cs typeface="Times New Roman"/>
              </a:rPr>
              <a:t>to </a:t>
            </a:r>
            <a:r>
              <a:rPr sz="1800" spc="55" dirty="0">
                <a:solidFill>
                  <a:srgbClr val="FFFFFF"/>
                </a:solidFill>
                <a:latin typeface="Times New Roman"/>
                <a:cs typeface="Times New Roman"/>
              </a:rPr>
              <a:t>some </a:t>
            </a:r>
            <a:r>
              <a:rPr sz="1800" spc="90" dirty="0">
                <a:solidFill>
                  <a:srgbClr val="FFFFFF"/>
                </a:solidFill>
                <a:latin typeface="Times New Roman"/>
                <a:cs typeface="Times New Roman"/>
              </a:rPr>
              <a:t>extent </a:t>
            </a:r>
            <a:r>
              <a:rPr sz="1800" spc="60" dirty="0">
                <a:solidFill>
                  <a:srgbClr val="FFFFFF"/>
                </a:solidFill>
                <a:latin typeface="Times New Roman"/>
                <a:cs typeface="Times New Roman"/>
              </a:rPr>
              <a:t>for </a:t>
            </a:r>
            <a:r>
              <a:rPr sz="1800" spc="65" dirty="0">
                <a:solidFill>
                  <a:srgbClr val="FFFFFF"/>
                </a:solidFill>
                <a:latin typeface="Times New Roman"/>
                <a:cs typeface="Times New Roman"/>
              </a:rPr>
              <a:t>different  </a:t>
            </a:r>
            <a:r>
              <a:rPr sz="1800" spc="85" dirty="0">
                <a:solidFill>
                  <a:srgbClr val="FFFFFF"/>
                </a:solidFill>
                <a:latin typeface="Times New Roman"/>
                <a:cs typeface="Times New Roman"/>
              </a:rPr>
              <a:t>function </a:t>
            </a:r>
            <a:r>
              <a:rPr sz="1800" spc="30" dirty="0">
                <a:solidFill>
                  <a:srgbClr val="FFFFFF"/>
                </a:solidFill>
                <a:latin typeface="Times New Roman"/>
                <a:cs typeface="Times New Roman"/>
              </a:rPr>
              <a:t>categories. </a:t>
            </a:r>
            <a:r>
              <a:rPr sz="1800" spc="145" dirty="0">
                <a:solidFill>
                  <a:srgbClr val="FFFFFF"/>
                </a:solidFill>
                <a:latin typeface="Times New Roman"/>
                <a:cs typeface="Times New Roman"/>
              </a:rPr>
              <a:t>With </a:t>
            </a:r>
            <a:r>
              <a:rPr sz="1800" spc="70" dirty="0">
                <a:solidFill>
                  <a:srgbClr val="FFFFFF"/>
                </a:solidFill>
                <a:latin typeface="Times New Roman"/>
                <a:cs typeface="Times New Roman"/>
              </a:rPr>
              <a:t>ranking  functions, </a:t>
            </a:r>
            <a:r>
              <a:rPr sz="1800" spc="65" dirty="0">
                <a:solidFill>
                  <a:srgbClr val="FFFFFF"/>
                </a:solidFill>
                <a:latin typeface="Times New Roman"/>
                <a:cs typeface="Times New Roman"/>
              </a:rPr>
              <a:t>ordering</a:t>
            </a:r>
            <a:r>
              <a:rPr sz="1800" spc="-275" dirty="0">
                <a:solidFill>
                  <a:srgbClr val="FFFFFF"/>
                </a:solidFill>
                <a:latin typeface="Times New Roman"/>
                <a:cs typeface="Times New Roman"/>
              </a:rPr>
              <a:t> </a:t>
            </a:r>
            <a:r>
              <a:rPr sz="1800" spc="5" dirty="0">
                <a:solidFill>
                  <a:srgbClr val="FFFFFF"/>
                </a:solidFill>
                <a:latin typeface="Times New Roman"/>
                <a:cs typeface="Times New Roman"/>
              </a:rPr>
              <a:t>is </a:t>
            </a:r>
            <a:r>
              <a:rPr sz="1800" spc="75" dirty="0">
                <a:solidFill>
                  <a:srgbClr val="FFFFFF"/>
                </a:solidFill>
                <a:latin typeface="Times New Roman"/>
                <a:cs typeface="Times New Roman"/>
              </a:rPr>
              <a:t>spontaneous.</a:t>
            </a:r>
            <a:endParaRPr sz="1800">
              <a:latin typeface="Times New Roman"/>
              <a:cs typeface="Times New Roman"/>
            </a:endParaRPr>
          </a:p>
        </p:txBody>
      </p:sp>
      <p:pic>
        <p:nvPicPr>
          <p:cNvPr id="6" name="object 6"/>
          <p:cNvPicPr/>
          <p:nvPr/>
        </p:nvPicPr>
        <p:blipFill>
          <a:blip r:embed="rId3" cstate="print"/>
          <a:stretch>
            <a:fillRect/>
          </a:stretch>
        </p:blipFill>
        <p:spPr>
          <a:xfrm>
            <a:off x="4745735" y="799337"/>
            <a:ext cx="4210050" cy="2749295"/>
          </a:xfrm>
          <a:prstGeom prst="rect">
            <a:avLst/>
          </a:prstGeom>
        </p:spPr>
      </p:pic>
      <p:sp>
        <p:nvSpPr>
          <p:cNvPr id="7" name="object 7"/>
          <p:cNvSpPr txBox="1"/>
          <p:nvPr/>
        </p:nvSpPr>
        <p:spPr>
          <a:xfrm>
            <a:off x="6583426" y="3546602"/>
            <a:ext cx="725805" cy="238760"/>
          </a:xfrm>
          <a:prstGeom prst="rect">
            <a:avLst/>
          </a:prstGeom>
        </p:spPr>
        <p:txBody>
          <a:bodyPr vert="horz" wrap="square" lIns="0" tIns="12065" rIns="0" bIns="0" rtlCol="0">
            <a:spAutoFit/>
          </a:bodyPr>
          <a:lstStyle/>
          <a:p>
            <a:pPr marL="12700">
              <a:lnSpc>
                <a:spcPct val="100000"/>
              </a:lnSpc>
              <a:spcBef>
                <a:spcPts val="95"/>
              </a:spcBef>
            </a:pPr>
            <a:r>
              <a:rPr sz="1400" b="1" spc="-55" dirty="0">
                <a:latin typeface="Arial"/>
                <a:cs typeface="Arial"/>
              </a:rPr>
              <a:t>Ordering</a:t>
            </a:r>
            <a:endParaRPr sz="1400">
              <a:latin typeface="Arial"/>
              <a:cs typeface="Arial"/>
            </a:endParaRPr>
          </a:p>
        </p:txBody>
      </p:sp>
      <p:sp>
        <p:nvSpPr>
          <p:cNvPr id="9" name="object 9"/>
          <p:cNvSpPr txBox="1"/>
          <p:nvPr/>
        </p:nvSpPr>
        <p:spPr>
          <a:xfrm>
            <a:off x="5837173" y="6314440"/>
            <a:ext cx="1930400" cy="238760"/>
          </a:xfrm>
          <a:prstGeom prst="rect">
            <a:avLst/>
          </a:prstGeom>
        </p:spPr>
        <p:txBody>
          <a:bodyPr vert="horz" wrap="square" lIns="0" tIns="12700" rIns="0" bIns="0" rtlCol="0">
            <a:spAutoFit/>
          </a:bodyPr>
          <a:lstStyle/>
          <a:p>
            <a:pPr marL="12700">
              <a:lnSpc>
                <a:spcPct val="100000"/>
              </a:lnSpc>
              <a:spcBef>
                <a:spcPts val="100"/>
              </a:spcBef>
            </a:pPr>
            <a:r>
              <a:rPr sz="1400" b="1" spc="-60" dirty="0">
                <a:latin typeface="Arial"/>
                <a:cs typeface="Arial"/>
              </a:rPr>
              <a:t>Partitioning </a:t>
            </a:r>
            <a:r>
              <a:rPr sz="1400" b="1" spc="-85" dirty="0">
                <a:latin typeface="Arial"/>
                <a:cs typeface="Arial"/>
              </a:rPr>
              <a:t>and</a:t>
            </a:r>
            <a:r>
              <a:rPr sz="1400" b="1" spc="-225" dirty="0">
                <a:latin typeface="Arial"/>
                <a:cs typeface="Arial"/>
              </a:rPr>
              <a:t> </a:t>
            </a:r>
            <a:r>
              <a:rPr sz="1400" b="1" spc="-65" dirty="0">
                <a:latin typeface="Arial"/>
                <a:cs typeface="Arial"/>
              </a:rPr>
              <a:t>Ranking</a:t>
            </a:r>
            <a:endParaRPr sz="1400">
              <a:latin typeface="Arial"/>
              <a:cs typeface="Arial"/>
            </a:endParaRPr>
          </a:p>
        </p:txBody>
      </p:sp>
      <p:sp>
        <p:nvSpPr>
          <p:cNvPr id="12" name="object 12"/>
          <p:cNvSpPr txBox="1"/>
          <p:nvPr/>
        </p:nvSpPr>
        <p:spPr>
          <a:xfrm>
            <a:off x="7872983" y="6569709"/>
            <a:ext cx="93980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70" baseline="4629" dirty="0">
                <a:latin typeface="Times New Roman"/>
                <a:cs typeface="Times New Roman"/>
              </a:rPr>
              <a:t> </a:t>
            </a:r>
            <a:fld id="{81D60167-4931-47E6-BA6A-407CBD079E47}" type="slidenum">
              <a:rPr sz="1200" spc="-20" dirty="0">
                <a:latin typeface="Times New Roman"/>
                <a:cs typeface="Times New Roman"/>
              </a:rPr>
              <a:t>27</a:t>
            </a:fld>
            <a:endParaRPr sz="1200">
              <a:latin typeface="Times New Roman"/>
              <a:cs typeface="Times New Roman"/>
            </a:endParaRPr>
          </a:p>
        </p:txBody>
      </p:sp>
      <p:sp>
        <p:nvSpPr>
          <p:cNvPr id="13" name="object 1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0" name="object 10"/>
          <p:cNvSpPr txBox="1">
            <a:spLocks noGrp="1"/>
          </p:cNvSpPr>
          <p:nvPr>
            <p:ph type="title"/>
          </p:nvPr>
        </p:nvSpPr>
        <p:spPr>
          <a:xfrm>
            <a:off x="383540" y="56641"/>
            <a:ext cx="5746115" cy="574040"/>
          </a:xfrm>
          <a:prstGeom prst="rect">
            <a:avLst/>
          </a:prstGeom>
        </p:spPr>
        <p:txBody>
          <a:bodyPr vert="horz" wrap="square" lIns="0" tIns="12700" rIns="0" bIns="0" rtlCol="0">
            <a:spAutoFit/>
          </a:bodyPr>
          <a:lstStyle/>
          <a:p>
            <a:pPr marL="12700">
              <a:lnSpc>
                <a:spcPct val="100000"/>
              </a:lnSpc>
              <a:spcBef>
                <a:spcPts val="100"/>
              </a:spcBef>
            </a:pPr>
            <a:r>
              <a:rPr sz="3600" spc="190" dirty="0"/>
              <a:t>Windowing </a:t>
            </a:r>
            <a:r>
              <a:rPr sz="3600" spc="220" dirty="0"/>
              <a:t>Components</a:t>
            </a:r>
            <a:r>
              <a:rPr sz="3600" spc="-509" dirty="0"/>
              <a:t> </a:t>
            </a:r>
            <a:r>
              <a:rPr sz="3600" spc="-150" dirty="0"/>
              <a:t>2-3</a:t>
            </a:r>
            <a:endParaRPr sz="3600"/>
          </a:p>
        </p:txBody>
      </p:sp>
      <p:pic>
        <p:nvPicPr>
          <p:cNvPr id="14" name="Picture 2">
            <a:extLst>
              <a:ext uri="{FF2B5EF4-FFF2-40B4-BE49-F238E27FC236}">
                <a16:creationId xmlns:a16="http://schemas.microsoft.com/office/drawing/2014/main" id="{4110234E-E100-4170-8014-742CAF0983F9}"/>
              </a:ext>
            </a:extLst>
          </p:cNvPr>
          <p:cNvPicPr>
            <a:picLocks noChangeAspect="1" noChangeArrowheads="1"/>
          </p:cNvPicPr>
          <p:nvPr/>
        </p:nvPicPr>
        <p:blipFill>
          <a:blip r:embed="rId4" cstate="print"/>
          <a:srcRect/>
          <a:stretch>
            <a:fillRect/>
          </a:stretch>
        </p:blipFill>
        <p:spPr bwMode="auto">
          <a:xfrm>
            <a:off x="5322315" y="3876675"/>
            <a:ext cx="3248025" cy="2447925"/>
          </a:xfrm>
          <a:prstGeom prst="rect">
            <a:avLst/>
          </a:prstGeom>
          <a:noFill/>
          <a:ln w="9525">
            <a:noFill/>
            <a:miter lim="800000"/>
            <a:headEnd/>
            <a:tailEnd/>
          </a:ln>
          <a:effectLst/>
        </p:spPr>
      </p:pic>
      <p:sp>
        <p:nvSpPr>
          <p:cNvPr id="15" name="TextBox 14">
            <a:extLst>
              <a:ext uri="{FF2B5EF4-FFF2-40B4-BE49-F238E27FC236}">
                <a16:creationId xmlns:a16="http://schemas.microsoft.com/office/drawing/2014/main" id="{A274A377-81C0-4BC9-9A30-698B9B0C2179}"/>
              </a:ext>
            </a:extLst>
          </p:cNvPr>
          <p:cNvSpPr txBox="1"/>
          <p:nvPr/>
        </p:nvSpPr>
        <p:spPr>
          <a:xfrm>
            <a:off x="316084" y="4371496"/>
            <a:ext cx="4440973" cy="1323439"/>
          </a:xfrm>
          <a:prstGeom prst="rect">
            <a:avLst/>
          </a:prstGeom>
          <a:solidFill>
            <a:schemeClr val="accent1">
              <a:lumMod val="40000"/>
              <a:lumOff val="60000"/>
            </a:schemeClr>
          </a:solidFill>
        </p:spPr>
        <p:txBody>
          <a:bodyPr wrap="square" rtlCol="0">
            <a:spAutoFit/>
          </a:bodyPr>
          <a:lstStyle/>
          <a:p>
            <a:pPr marL="341313" indent="-341313">
              <a:lnSpc>
                <a:spcPct val="100000"/>
              </a:lnSpc>
              <a:spcBef>
                <a:spcPts val="0"/>
              </a:spcBef>
            </a:pPr>
            <a:r>
              <a:rPr lang="en-US" sz="1600" dirty="0">
                <a:cs typeface="Courier New" pitchFamily="49" charset="0"/>
              </a:rPr>
              <a:t>SELECT </a:t>
            </a:r>
            <a:r>
              <a:rPr lang="en-US" sz="1600" dirty="0" err="1">
                <a:cs typeface="Courier New" pitchFamily="49" charset="0"/>
              </a:rPr>
              <a:t>CustomerID</a:t>
            </a:r>
            <a:r>
              <a:rPr lang="en-US" sz="1600" dirty="0">
                <a:cs typeface="Courier New" pitchFamily="49" charset="0"/>
              </a:rPr>
              <a:t>, </a:t>
            </a:r>
            <a:r>
              <a:rPr lang="en-US" sz="1600" dirty="0" err="1">
                <a:cs typeface="Courier New" pitchFamily="49" charset="0"/>
              </a:rPr>
              <a:t>StoreID</a:t>
            </a:r>
            <a:r>
              <a:rPr lang="en-US" sz="1600" dirty="0">
                <a:cs typeface="Courier New" pitchFamily="49" charset="0"/>
              </a:rPr>
              <a:t>,</a:t>
            </a:r>
          </a:p>
          <a:p>
            <a:pPr marL="341313" indent="-341313">
              <a:lnSpc>
                <a:spcPct val="100000"/>
              </a:lnSpc>
              <a:spcBef>
                <a:spcPts val="0"/>
              </a:spcBef>
            </a:pPr>
            <a:r>
              <a:rPr lang="en-US" sz="1600" dirty="0">
                <a:cs typeface="Courier New" pitchFamily="49" charset="0"/>
              </a:rPr>
              <a:t>RANK() OVER(ORDER BY </a:t>
            </a:r>
            <a:r>
              <a:rPr lang="en-US" sz="1600" dirty="0" err="1">
                <a:cs typeface="Courier New" pitchFamily="49" charset="0"/>
              </a:rPr>
              <a:t>StoreID</a:t>
            </a:r>
            <a:r>
              <a:rPr lang="en-US" sz="1600" dirty="0">
                <a:cs typeface="Courier New" pitchFamily="49" charset="0"/>
              </a:rPr>
              <a:t> DESC) AS </a:t>
            </a:r>
            <a:r>
              <a:rPr lang="en-US" sz="1600" dirty="0" err="1">
                <a:cs typeface="Courier New" pitchFamily="49" charset="0"/>
              </a:rPr>
              <a:t>Rnk_All</a:t>
            </a:r>
            <a:r>
              <a:rPr lang="en-US" sz="1600" dirty="0">
                <a:cs typeface="Courier New" pitchFamily="49" charset="0"/>
              </a:rPr>
              <a:t>,</a:t>
            </a:r>
          </a:p>
          <a:p>
            <a:pPr marL="341313" indent="-341313">
              <a:lnSpc>
                <a:spcPct val="100000"/>
              </a:lnSpc>
              <a:spcBef>
                <a:spcPts val="0"/>
              </a:spcBef>
            </a:pPr>
            <a:r>
              <a:rPr lang="en-US" sz="1600" dirty="0">
                <a:cs typeface="Courier New" pitchFamily="49" charset="0"/>
              </a:rPr>
              <a:t>RANK() OVER(PARTITION BY </a:t>
            </a:r>
            <a:r>
              <a:rPr lang="en-US" sz="1600" dirty="0" err="1">
                <a:cs typeface="Courier New" pitchFamily="49" charset="0"/>
              </a:rPr>
              <a:t>PersonID</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ORDER BY </a:t>
            </a:r>
            <a:r>
              <a:rPr lang="en-US" sz="1600" dirty="0" err="1">
                <a:cs typeface="Courier New" pitchFamily="49" charset="0"/>
              </a:rPr>
              <a:t>CustomerID</a:t>
            </a:r>
            <a:r>
              <a:rPr lang="en-US" sz="1600" dirty="0">
                <a:cs typeface="Courier New" pitchFamily="49" charset="0"/>
              </a:rPr>
              <a:t> DESC) AS </a:t>
            </a:r>
            <a:r>
              <a:rPr lang="en-US" sz="1600" dirty="0" err="1">
                <a:cs typeface="Courier New" pitchFamily="49" charset="0"/>
              </a:rPr>
              <a:t>Rnk_Cust</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FROM </a:t>
            </a:r>
            <a:r>
              <a:rPr lang="en-US" sz="1600" dirty="0" err="1">
                <a:cs typeface="Courier New" pitchFamily="49" charset="0"/>
              </a:rPr>
              <a:t>Sales.Customer</a:t>
            </a:r>
            <a:r>
              <a:rPr lang="en-US" sz="1600" dirty="0">
                <a:cs typeface="Courier New" pitchFamily="49"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6041" y="990600"/>
            <a:ext cx="923925" cy="330200"/>
          </a:xfrm>
          <a:prstGeom prst="rect">
            <a:avLst/>
          </a:prstGeom>
        </p:spPr>
        <p:txBody>
          <a:bodyPr vert="horz" wrap="square" lIns="0" tIns="12065" rIns="0" bIns="0" rtlCol="0">
            <a:spAutoFit/>
          </a:bodyPr>
          <a:lstStyle/>
          <a:p>
            <a:pPr marL="12700">
              <a:lnSpc>
                <a:spcPct val="100000"/>
              </a:lnSpc>
              <a:spcBef>
                <a:spcPts val="95"/>
              </a:spcBef>
            </a:pPr>
            <a:r>
              <a:rPr sz="2000" b="1" spc="-130" dirty="0">
                <a:latin typeface="Arial"/>
                <a:cs typeface="Arial"/>
              </a:rPr>
              <a:t>F</a:t>
            </a:r>
            <a:r>
              <a:rPr sz="2000" b="1" spc="-95" dirty="0">
                <a:latin typeface="Arial"/>
                <a:cs typeface="Arial"/>
              </a:rPr>
              <a:t>r</a:t>
            </a:r>
            <a:r>
              <a:rPr sz="2000" b="1" spc="-150" dirty="0">
                <a:latin typeface="Arial"/>
                <a:cs typeface="Arial"/>
              </a:rPr>
              <a:t>a</a:t>
            </a:r>
            <a:r>
              <a:rPr sz="2000" b="1" spc="-160" dirty="0">
                <a:latin typeface="Arial"/>
                <a:cs typeface="Arial"/>
              </a:rPr>
              <a:t>m</a:t>
            </a:r>
            <a:r>
              <a:rPr sz="2000" b="1" spc="-10" dirty="0">
                <a:latin typeface="Arial"/>
                <a:cs typeface="Arial"/>
              </a:rPr>
              <a:t>i</a:t>
            </a:r>
            <a:r>
              <a:rPr sz="2000" b="1" spc="-40" dirty="0">
                <a:latin typeface="Arial"/>
                <a:cs typeface="Arial"/>
              </a:rPr>
              <a:t>n</a:t>
            </a:r>
            <a:r>
              <a:rPr sz="2000" b="1" spc="-250" dirty="0">
                <a:latin typeface="Arial"/>
                <a:cs typeface="Arial"/>
              </a:rPr>
              <a:t>g</a:t>
            </a:r>
            <a:endParaRPr sz="2000">
              <a:latin typeface="Arial"/>
              <a:cs typeface="Arial"/>
            </a:endParaRPr>
          </a:p>
        </p:txBody>
      </p:sp>
      <p:sp>
        <p:nvSpPr>
          <p:cNvPr id="3" name="object 3"/>
          <p:cNvSpPr/>
          <p:nvPr/>
        </p:nvSpPr>
        <p:spPr>
          <a:xfrm>
            <a:off x="606425" y="1447800"/>
            <a:ext cx="3432175" cy="2585720"/>
          </a:xfrm>
          <a:custGeom>
            <a:avLst/>
            <a:gdLst/>
            <a:ahLst/>
            <a:cxnLst/>
            <a:rect l="l" t="t" r="r" b="b"/>
            <a:pathLst>
              <a:path w="3432175" h="2585720">
                <a:moveTo>
                  <a:pt x="3432048" y="0"/>
                </a:moveTo>
                <a:lnTo>
                  <a:pt x="0" y="0"/>
                </a:lnTo>
                <a:lnTo>
                  <a:pt x="0" y="2585466"/>
                </a:lnTo>
                <a:lnTo>
                  <a:pt x="3432048" y="2585466"/>
                </a:lnTo>
                <a:lnTo>
                  <a:pt x="3432048" y="0"/>
                </a:lnTo>
                <a:close/>
              </a:path>
            </a:pathLst>
          </a:custGeom>
          <a:solidFill>
            <a:srgbClr val="4F81BC"/>
          </a:solidFill>
        </p:spPr>
        <p:txBody>
          <a:bodyPr wrap="square" lIns="0" tIns="0" rIns="0" bIns="0" rtlCol="0"/>
          <a:lstStyle/>
          <a:p>
            <a:endParaRPr/>
          </a:p>
        </p:txBody>
      </p:sp>
      <p:sp>
        <p:nvSpPr>
          <p:cNvPr id="4" name="object 4"/>
          <p:cNvSpPr txBox="1"/>
          <p:nvPr/>
        </p:nvSpPr>
        <p:spPr>
          <a:xfrm>
            <a:off x="674877" y="1524000"/>
            <a:ext cx="3263900" cy="2494915"/>
          </a:xfrm>
          <a:prstGeom prst="rect">
            <a:avLst/>
          </a:prstGeom>
        </p:spPr>
        <p:txBody>
          <a:bodyPr vert="horz" wrap="square" lIns="0" tIns="12700" rIns="0" bIns="0" rtlCol="0">
            <a:spAutoFit/>
          </a:bodyPr>
          <a:lstStyle/>
          <a:p>
            <a:pPr marL="285750" marR="5080" indent="-285750" algn="just">
              <a:lnSpc>
                <a:spcPct val="100000"/>
              </a:lnSpc>
              <a:spcBef>
                <a:spcPts val="100"/>
              </a:spcBef>
              <a:buFont typeface="Wingdings"/>
              <a:buChar char=""/>
              <a:tabLst>
                <a:tab pos="285750" algn="l"/>
              </a:tabLst>
            </a:pPr>
            <a:r>
              <a:rPr sz="1800" spc="45" dirty="0">
                <a:solidFill>
                  <a:srgbClr val="FFFFFF"/>
                </a:solidFill>
                <a:latin typeface="Times New Roman"/>
                <a:cs typeface="Times New Roman"/>
              </a:rPr>
              <a:t>Framing </a:t>
            </a:r>
            <a:r>
              <a:rPr sz="1800" spc="5" dirty="0">
                <a:solidFill>
                  <a:srgbClr val="FFFFFF"/>
                </a:solidFill>
                <a:latin typeface="Times New Roman"/>
                <a:cs typeface="Times New Roman"/>
              </a:rPr>
              <a:t>is </a:t>
            </a:r>
            <a:r>
              <a:rPr sz="1800" spc="30" dirty="0">
                <a:solidFill>
                  <a:srgbClr val="FFFFFF"/>
                </a:solidFill>
                <a:latin typeface="Times New Roman"/>
                <a:cs typeface="Times New Roman"/>
              </a:rPr>
              <a:t>a </a:t>
            </a:r>
            <a:r>
              <a:rPr sz="1800" spc="65" dirty="0">
                <a:solidFill>
                  <a:srgbClr val="FFFFFF"/>
                </a:solidFill>
                <a:latin typeface="Times New Roman"/>
                <a:cs typeface="Times New Roman"/>
              </a:rPr>
              <a:t>feature </a:t>
            </a:r>
            <a:r>
              <a:rPr sz="1800" spc="100" dirty="0">
                <a:solidFill>
                  <a:srgbClr val="FFFFFF"/>
                </a:solidFill>
                <a:latin typeface="Times New Roman"/>
                <a:cs typeface="Times New Roman"/>
              </a:rPr>
              <a:t>that  </a:t>
            </a:r>
            <a:r>
              <a:rPr sz="1800" spc="50" dirty="0">
                <a:solidFill>
                  <a:srgbClr val="FFFFFF"/>
                </a:solidFill>
                <a:latin typeface="Times New Roman"/>
                <a:cs typeface="Times New Roman"/>
              </a:rPr>
              <a:t>enables </a:t>
            </a:r>
            <a:r>
              <a:rPr sz="1800" spc="70" dirty="0">
                <a:solidFill>
                  <a:srgbClr val="FFFFFF"/>
                </a:solidFill>
                <a:latin typeface="Times New Roman"/>
                <a:cs typeface="Times New Roman"/>
              </a:rPr>
              <a:t>you </a:t>
            </a:r>
            <a:r>
              <a:rPr sz="1800" spc="100" dirty="0">
                <a:solidFill>
                  <a:srgbClr val="FFFFFF"/>
                </a:solidFill>
                <a:latin typeface="Times New Roman"/>
                <a:cs typeface="Times New Roman"/>
              </a:rPr>
              <a:t>to </a:t>
            </a:r>
            <a:r>
              <a:rPr sz="1800" spc="25" dirty="0">
                <a:solidFill>
                  <a:srgbClr val="FFFFFF"/>
                </a:solidFill>
                <a:latin typeface="Times New Roman"/>
                <a:cs typeface="Times New Roman"/>
              </a:rPr>
              <a:t>specify </a:t>
            </a:r>
            <a:r>
              <a:rPr sz="1800" spc="30" dirty="0">
                <a:solidFill>
                  <a:srgbClr val="FFFFFF"/>
                </a:solidFill>
                <a:latin typeface="Times New Roman"/>
                <a:cs typeface="Times New Roman"/>
              </a:rPr>
              <a:t>a  </a:t>
            </a:r>
            <a:r>
              <a:rPr sz="1800" spc="85" dirty="0">
                <a:solidFill>
                  <a:srgbClr val="FFFFFF"/>
                </a:solidFill>
                <a:latin typeface="Times New Roman"/>
                <a:cs typeface="Times New Roman"/>
              </a:rPr>
              <a:t>further </a:t>
            </a:r>
            <a:r>
              <a:rPr sz="1800" spc="55" dirty="0">
                <a:solidFill>
                  <a:srgbClr val="FFFFFF"/>
                </a:solidFill>
                <a:latin typeface="Times New Roman"/>
                <a:cs typeface="Times New Roman"/>
              </a:rPr>
              <a:t>division of </a:t>
            </a:r>
            <a:r>
              <a:rPr sz="1800" spc="50" dirty="0">
                <a:solidFill>
                  <a:srgbClr val="FFFFFF"/>
                </a:solidFill>
                <a:latin typeface="Times New Roman"/>
                <a:cs typeface="Times New Roman"/>
              </a:rPr>
              <a:t>rows  </a:t>
            </a:r>
            <a:r>
              <a:rPr sz="1800" spc="80" dirty="0">
                <a:solidFill>
                  <a:srgbClr val="FFFFFF"/>
                </a:solidFill>
                <a:latin typeface="Times New Roman"/>
                <a:cs typeface="Times New Roman"/>
              </a:rPr>
              <a:t>within </a:t>
            </a:r>
            <a:r>
              <a:rPr sz="1800" spc="30" dirty="0">
                <a:solidFill>
                  <a:srgbClr val="FFFFFF"/>
                </a:solidFill>
                <a:latin typeface="Times New Roman"/>
                <a:cs typeface="Times New Roman"/>
              </a:rPr>
              <a:t>a </a:t>
            </a:r>
            <a:r>
              <a:rPr sz="1800" spc="75" dirty="0">
                <a:solidFill>
                  <a:srgbClr val="FFFFFF"/>
                </a:solidFill>
                <a:latin typeface="Times New Roman"/>
                <a:cs typeface="Times New Roman"/>
              </a:rPr>
              <a:t>window</a:t>
            </a:r>
            <a:r>
              <a:rPr sz="1800" spc="-310" dirty="0">
                <a:solidFill>
                  <a:srgbClr val="FFFFFF"/>
                </a:solidFill>
                <a:latin typeface="Times New Roman"/>
                <a:cs typeface="Times New Roman"/>
              </a:rPr>
              <a:t> </a:t>
            </a:r>
            <a:r>
              <a:rPr sz="1800" spc="70" dirty="0">
                <a:solidFill>
                  <a:srgbClr val="FFFFFF"/>
                </a:solidFill>
                <a:latin typeface="Times New Roman"/>
                <a:cs typeface="Times New Roman"/>
              </a:rPr>
              <a:t>partition.</a:t>
            </a:r>
            <a:endParaRPr sz="1800">
              <a:latin typeface="Times New Roman"/>
              <a:cs typeface="Times New Roman"/>
            </a:endParaRPr>
          </a:p>
          <a:p>
            <a:pPr marL="285750" marR="5080" indent="-285750" algn="just">
              <a:lnSpc>
                <a:spcPct val="100000"/>
              </a:lnSpc>
              <a:buFont typeface="Wingdings"/>
              <a:buChar char=""/>
              <a:tabLst>
                <a:tab pos="285750" algn="l"/>
              </a:tabLst>
            </a:pPr>
            <a:r>
              <a:rPr sz="1800" spc="85" dirty="0">
                <a:solidFill>
                  <a:srgbClr val="FFFFFF"/>
                </a:solidFill>
                <a:latin typeface="Times New Roman"/>
                <a:cs typeface="Times New Roman"/>
              </a:rPr>
              <a:t>This</a:t>
            </a:r>
            <a:r>
              <a:rPr sz="1800" spc="620" dirty="0">
                <a:solidFill>
                  <a:srgbClr val="FFFFFF"/>
                </a:solidFill>
                <a:latin typeface="Times New Roman"/>
                <a:cs typeface="Times New Roman"/>
              </a:rPr>
              <a:t> </a:t>
            </a:r>
            <a:r>
              <a:rPr sz="1800" spc="5" dirty="0">
                <a:solidFill>
                  <a:srgbClr val="FFFFFF"/>
                </a:solidFill>
                <a:latin typeface="Times New Roman"/>
                <a:cs typeface="Times New Roman"/>
              </a:rPr>
              <a:t>is </a:t>
            </a:r>
            <a:r>
              <a:rPr sz="1800" spc="100" dirty="0">
                <a:solidFill>
                  <a:srgbClr val="FFFFFF"/>
                </a:solidFill>
                <a:latin typeface="Times New Roman"/>
                <a:cs typeface="Times New Roman"/>
              </a:rPr>
              <a:t>done </a:t>
            </a:r>
            <a:r>
              <a:rPr sz="1800" spc="40" dirty="0">
                <a:solidFill>
                  <a:srgbClr val="FFFFFF"/>
                </a:solidFill>
                <a:latin typeface="Times New Roman"/>
                <a:cs typeface="Times New Roman"/>
              </a:rPr>
              <a:t>by </a:t>
            </a:r>
            <a:r>
              <a:rPr sz="1800" spc="35" dirty="0">
                <a:solidFill>
                  <a:srgbClr val="FFFFFF"/>
                </a:solidFill>
                <a:latin typeface="Times New Roman"/>
                <a:cs typeface="Times New Roman"/>
              </a:rPr>
              <a:t>assigning  </a:t>
            </a:r>
            <a:r>
              <a:rPr sz="1800" spc="90" dirty="0">
                <a:solidFill>
                  <a:srgbClr val="FFFFFF"/>
                </a:solidFill>
                <a:latin typeface="Times New Roman"/>
                <a:cs typeface="Times New Roman"/>
              </a:rPr>
              <a:t>upper </a:t>
            </a:r>
            <a:r>
              <a:rPr sz="1800" spc="100" dirty="0">
                <a:solidFill>
                  <a:srgbClr val="FFFFFF"/>
                </a:solidFill>
                <a:latin typeface="Times New Roman"/>
                <a:cs typeface="Times New Roman"/>
              </a:rPr>
              <a:t>and </a:t>
            </a:r>
            <a:r>
              <a:rPr sz="1800" spc="45" dirty="0">
                <a:solidFill>
                  <a:srgbClr val="FFFFFF"/>
                </a:solidFill>
                <a:latin typeface="Times New Roman"/>
                <a:cs typeface="Times New Roman"/>
              </a:rPr>
              <a:t>lower </a:t>
            </a:r>
            <a:r>
              <a:rPr sz="1800" spc="70" dirty="0">
                <a:solidFill>
                  <a:srgbClr val="FFFFFF"/>
                </a:solidFill>
                <a:latin typeface="Times New Roman"/>
                <a:cs typeface="Times New Roman"/>
              </a:rPr>
              <a:t>boundaries  </a:t>
            </a:r>
            <a:r>
              <a:rPr sz="1800" spc="60" dirty="0">
                <a:solidFill>
                  <a:srgbClr val="FFFFFF"/>
                </a:solidFill>
                <a:latin typeface="Times New Roman"/>
                <a:cs typeface="Times New Roman"/>
              </a:rPr>
              <a:t>for </a:t>
            </a:r>
            <a:r>
              <a:rPr sz="1800" spc="100" dirty="0">
                <a:solidFill>
                  <a:srgbClr val="FFFFFF"/>
                </a:solidFill>
                <a:latin typeface="Times New Roman"/>
                <a:cs typeface="Times New Roman"/>
              </a:rPr>
              <a:t>the </a:t>
            </a:r>
            <a:r>
              <a:rPr sz="1800" spc="75" dirty="0">
                <a:solidFill>
                  <a:srgbClr val="FFFFFF"/>
                </a:solidFill>
                <a:latin typeface="Times New Roman"/>
                <a:cs typeface="Times New Roman"/>
              </a:rPr>
              <a:t>window </a:t>
            </a:r>
            <a:r>
              <a:rPr sz="1800" spc="50" dirty="0">
                <a:solidFill>
                  <a:srgbClr val="FFFFFF"/>
                </a:solidFill>
                <a:latin typeface="Times New Roman"/>
                <a:cs typeface="Times New Roman"/>
              </a:rPr>
              <a:t>frame </a:t>
            </a:r>
            <a:r>
              <a:rPr sz="1800" spc="100" dirty="0">
                <a:solidFill>
                  <a:srgbClr val="FFFFFF"/>
                </a:solidFill>
                <a:latin typeface="Times New Roman"/>
                <a:cs typeface="Times New Roman"/>
              </a:rPr>
              <a:t>that  </a:t>
            </a:r>
            <a:r>
              <a:rPr sz="1800" spc="65" dirty="0">
                <a:solidFill>
                  <a:srgbClr val="FFFFFF"/>
                </a:solidFill>
                <a:latin typeface="Times New Roman"/>
                <a:cs typeface="Times New Roman"/>
              </a:rPr>
              <a:t>presents </a:t>
            </a:r>
            <a:r>
              <a:rPr sz="1800" spc="50" dirty="0">
                <a:solidFill>
                  <a:srgbClr val="FFFFFF"/>
                </a:solidFill>
                <a:latin typeface="Times New Roman"/>
                <a:cs typeface="Times New Roman"/>
              </a:rPr>
              <a:t>rows </a:t>
            </a:r>
            <a:r>
              <a:rPr sz="1800" spc="100" dirty="0">
                <a:solidFill>
                  <a:srgbClr val="FFFFFF"/>
                </a:solidFill>
                <a:latin typeface="Times New Roman"/>
                <a:cs typeface="Times New Roman"/>
              </a:rPr>
              <a:t>to the </a:t>
            </a:r>
            <a:r>
              <a:rPr sz="1800" spc="75" dirty="0">
                <a:solidFill>
                  <a:srgbClr val="FFFFFF"/>
                </a:solidFill>
                <a:latin typeface="Times New Roman"/>
                <a:cs typeface="Times New Roman"/>
              </a:rPr>
              <a:t>window  </a:t>
            </a:r>
            <a:r>
              <a:rPr sz="1800" spc="80" dirty="0">
                <a:solidFill>
                  <a:srgbClr val="FFFFFF"/>
                </a:solidFill>
                <a:latin typeface="Times New Roman"/>
                <a:cs typeface="Times New Roman"/>
              </a:rPr>
              <a:t>function.</a:t>
            </a:r>
            <a:endParaRPr sz="1800">
              <a:latin typeface="Times New Roman"/>
              <a:cs typeface="Times New Roman"/>
            </a:endParaRPr>
          </a:p>
        </p:txBody>
      </p:sp>
      <p:pic>
        <p:nvPicPr>
          <p:cNvPr id="5" name="object 5"/>
          <p:cNvPicPr/>
          <p:nvPr/>
        </p:nvPicPr>
        <p:blipFill>
          <a:blip r:embed="rId3" cstate="print"/>
          <a:stretch>
            <a:fillRect/>
          </a:stretch>
        </p:blipFill>
        <p:spPr>
          <a:xfrm>
            <a:off x="4644390" y="1371600"/>
            <a:ext cx="4143755" cy="4056126"/>
          </a:xfrm>
          <a:prstGeom prst="rect">
            <a:avLst/>
          </a:prstGeom>
        </p:spPr>
      </p:pic>
      <p:sp>
        <p:nvSpPr>
          <p:cNvPr id="6" name="object 6"/>
          <p:cNvSpPr txBox="1"/>
          <p:nvPr/>
        </p:nvSpPr>
        <p:spPr>
          <a:xfrm>
            <a:off x="6432550" y="5410200"/>
            <a:ext cx="654050" cy="238760"/>
          </a:xfrm>
          <a:prstGeom prst="rect">
            <a:avLst/>
          </a:prstGeom>
        </p:spPr>
        <p:txBody>
          <a:bodyPr vert="horz" wrap="square" lIns="0" tIns="12065" rIns="0" bIns="0" rtlCol="0">
            <a:spAutoFit/>
          </a:bodyPr>
          <a:lstStyle/>
          <a:p>
            <a:pPr marL="12700">
              <a:lnSpc>
                <a:spcPct val="100000"/>
              </a:lnSpc>
              <a:spcBef>
                <a:spcPts val="95"/>
              </a:spcBef>
            </a:pPr>
            <a:r>
              <a:rPr sz="1400" b="1" spc="-95" dirty="0">
                <a:latin typeface="Arial"/>
                <a:cs typeface="Arial"/>
              </a:rPr>
              <a:t>F</a:t>
            </a:r>
            <a:r>
              <a:rPr sz="1400" b="1" spc="-65" dirty="0">
                <a:latin typeface="Arial"/>
                <a:cs typeface="Arial"/>
              </a:rPr>
              <a:t>r</a:t>
            </a:r>
            <a:r>
              <a:rPr sz="1400" b="1" spc="-100" dirty="0">
                <a:latin typeface="Arial"/>
                <a:cs typeface="Arial"/>
              </a:rPr>
              <a:t>a</a:t>
            </a:r>
            <a:r>
              <a:rPr sz="1400" b="1" spc="-114" dirty="0">
                <a:latin typeface="Arial"/>
                <a:cs typeface="Arial"/>
              </a:rPr>
              <a:t>m</a:t>
            </a:r>
            <a:r>
              <a:rPr sz="1400" b="1" spc="-5" dirty="0">
                <a:latin typeface="Arial"/>
                <a:cs typeface="Arial"/>
              </a:rPr>
              <a:t>i</a:t>
            </a:r>
            <a:r>
              <a:rPr sz="1400" b="1" spc="-50" dirty="0">
                <a:latin typeface="Arial"/>
                <a:cs typeface="Arial"/>
              </a:rPr>
              <a:t>n</a:t>
            </a:r>
            <a:r>
              <a:rPr sz="1400" b="1" spc="-175" dirty="0">
                <a:latin typeface="Arial"/>
                <a:cs typeface="Arial"/>
              </a:rPr>
              <a:t>g</a:t>
            </a:r>
            <a:endParaRPr sz="1400">
              <a:latin typeface="Arial"/>
              <a:cs typeface="Arial"/>
            </a:endParaRPr>
          </a:p>
        </p:txBody>
      </p:sp>
      <p:sp>
        <p:nvSpPr>
          <p:cNvPr id="9" name="object 9"/>
          <p:cNvSpPr txBox="1"/>
          <p:nvPr/>
        </p:nvSpPr>
        <p:spPr>
          <a:xfrm>
            <a:off x="7872983" y="6569709"/>
            <a:ext cx="93980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70" baseline="4629" dirty="0">
                <a:latin typeface="Times New Roman"/>
                <a:cs typeface="Times New Roman"/>
              </a:rPr>
              <a:t> </a:t>
            </a:r>
            <a:fld id="{81D60167-4931-47E6-BA6A-407CBD079E47}" type="slidenum">
              <a:rPr sz="1200" spc="-20" dirty="0">
                <a:latin typeface="Times New Roman"/>
                <a:cs typeface="Times New Roman"/>
              </a:rPr>
              <a:t>28</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7" name="object 7"/>
          <p:cNvSpPr txBox="1">
            <a:spLocks noGrp="1"/>
          </p:cNvSpPr>
          <p:nvPr>
            <p:ph type="title"/>
          </p:nvPr>
        </p:nvSpPr>
        <p:spPr>
          <a:xfrm>
            <a:off x="383540" y="56641"/>
            <a:ext cx="5716270" cy="574040"/>
          </a:xfrm>
          <a:prstGeom prst="rect">
            <a:avLst/>
          </a:prstGeom>
        </p:spPr>
        <p:txBody>
          <a:bodyPr vert="horz" wrap="square" lIns="0" tIns="12700" rIns="0" bIns="0" rtlCol="0">
            <a:spAutoFit/>
          </a:bodyPr>
          <a:lstStyle/>
          <a:p>
            <a:pPr marL="12700">
              <a:lnSpc>
                <a:spcPct val="100000"/>
              </a:lnSpc>
              <a:spcBef>
                <a:spcPts val="100"/>
              </a:spcBef>
            </a:pPr>
            <a:r>
              <a:rPr sz="3600" spc="190" dirty="0"/>
              <a:t>Windowing </a:t>
            </a:r>
            <a:r>
              <a:rPr sz="3600" spc="220" dirty="0"/>
              <a:t>Components</a:t>
            </a:r>
            <a:r>
              <a:rPr sz="3600" spc="-520" dirty="0"/>
              <a:t> </a:t>
            </a:r>
            <a:r>
              <a:rPr sz="3600" spc="-225" dirty="0"/>
              <a:t>3-3</a:t>
            </a:r>
            <a:endParaRPr sz="3600"/>
          </a:p>
        </p:txBody>
      </p:sp>
      <p:sp>
        <p:nvSpPr>
          <p:cNvPr id="11" name="TextBox 10">
            <a:extLst>
              <a:ext uri="{FF2B5EF4-FFF2-40B4-BE49-F238E27FC236}">
                <a16:creationId xmlns:a16="http://schemas.microsoft.com/office/drawing/2014/main" id="{05D3D1DF-A636-4BA3-B538-6A4E8C76C889}"/>
              </a:ext>
            </a:extLst>
          </p:cNvPr>
          <p:cNvSpPr txBox="1"/>
          <p:nvPr/>
        </p:nvSpPr>
        <p:spPr>
          <a:xfrm>
            <a:off x="383540" y="4419600"/>
            <a:ext cx="4114800" cy="1631216"/>
          </a:xfrm>
          <a:prstGeom prst="rect">
            <a:avLst/>
          </a:prstGeom>
          <a:solidFill>
            <a:schemeClr val="accent1">
              <a:lumMod val="40000"/>
              <a:lumOff val="60000"/>
            </a:schemeClr>
          </a:solidFill>
        </p:spPr>
        <p:txBody>
          <a:bodyPr wrap="square" rtlCol="0">
            <a:spAutoFit/>
          </a:bodyPr>
          <a:lstStyle/>
          <a:p>
            <a:pPr marL="341313" indent="-341313">
              <a:lnSpc>
                <a:spcPct val="100000"/>
              </a:lnSpc>
              <a:spcBef>
                <a:spcPts val="0"/>
              </a:spcBef>
            </a:pPr>
            <a:r>
              <a:rPr lang="en-US" sz="1600" dirty="0">
                <a:cs typeface="Courier New" pitchFamily="49" charset="0"/>
              </a:rPr>
              <a:t>SELECT </a:t>
            </a:r>
            <a:r>
              <a:rPr lang="en-US" sz="1600" dirty="0" err="1">
                <a:cs typeface="Courier New" pitchFamily="49" charset="0"/>
              </a:rPr>
              <a:t>ProductID</a:t>
            </a:r>
            <a:r>
              <a:rPr lang="en-US" sz="1600" dirty="0">
                <a:cs typeface="Courier New" pitchFamily="49" charset="0"/>
              </a:rPr>
              <a:t>, Shelf, Quantity,</a:t>
            </a:r>
          </a:p>
          <a:p>
            <a:pPr marL="341313" indent="-341313">
              <a:lnSpc>
                <a:spcPct val="100000"/>
              </a:lnSpc>
              <a:spcBef>
                <a:spcPts val="0"/>
              </a:spcBef>
            </a:pPr>
            <a:r>
              <a:rPr lang="en-US" sz="1600" dirty="0">
                <a:cs typeface="Courier New" pitchFamily="49" charset="0"/>
              </a:rPr>
              <a:t>SUM(Quantity) OVER(PARTITION BY </a:t>
            </a:r>
            <a:r>
              <a:rPr lang="en-US" sz="1600" dirty="0" err="1">
                <a:cs typeface="Courier New" pitchFamily="49" charset="0"/>
              </a:rPr>
              <a:t>ProductID</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ORDER BY </a:t>
            </a:r>
            <a:r>
              <a:rPr lang="en-US" sz="1600" dirty="0" err="1">
                <a:cs typeface="Courier New" pitchFamily="49" charset="0"/>
              </a:rPr>
              <a:t>LocationID</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ROWS BETWEEN UNBOUNDED PRECEDING</a:t>
            </a:r>
          </a:p>
          <a:p>
            <a:pPr marL="341313" indent="-341313">
              <a:lnSpc>
                <a:spcPct val="100000"/>
              </a:lnSpc>
              <a:spcBef>
                <a:spcPts val="0"/>
              </a:spcBef>
            </a:pPr>
            <a:r>
              <a:rPr lang="en-US" sz="1600" dirty="0">
                <a:cs typeface="Courier New" pitchFamily="49" charset="0"/>
              </a:rPr>
              <a:t>AND CURRENT ROW) AS </a:t>
            </a:r>
            <a:r>
              <a:rPr lang="en-US" sz="1600" dirty="0" err="1">
                <a:cs typeface="Courier New" pitchFamily="49" charset="0"/>
              </a:rPr>
              <a:t>RunQty</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FROM </a:t>
            </a:r>
            <a:r>
              <a:rPr lang="en-US" sz="1600" dirty="0" err="1">
                <a:cs typeface="Courier New" pitchFamily="49" charset="0"/>
              </a:rPr>
              <a:t>Production.ProductInventory</a:t>
            </a:r>
            <a:r>
              <a:rPr lang="en-US" sz="1600" dirty="0">
                <a:cs typeface="Courier New" pitchFamily="49" charset="0"/>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912995" cy="635635"/>
          </a:xfrm>
          <a:prstGeom prst="rect">
            <a:avLst/>
          </a:prstGeom>
        </p:spPr>
        <p:txBody>
          <a:bodyPr vert="horz" wrap="square" lIns="0" tIns="12700" rIns="0" bIns="0" rtlCol="0">
            <a:spAutoFit/>
          </a:bodyPr>
          <a:lstStyle/>
          <a:p>
            <a:pPr marL="12700">
              <a:lnSpc>
                <a:spcPct val="100000"/>
              </a:lnSpc>
              <a:spcBef>
                <a:spcPts val="100"/>
              </a:spcBef>
            </a:pPr>
            <a:r>
              <a:rPr spc="265" dirty="0"/>
              <a:t>Window </a:t>
            </a:r>
            <a:r>
              <a:rPr spc="170" dirty="0"/>
              <a:t>Functions</a:t>
            </a:r>
            <a:r>
              <a:rPr spc="-655" dirty="0"/>
              <a:t> </a:t>
            </a:r>
            <a:r>
              <a:rPr spc="-415" dirty="0"/>
              <a:t>1-5</a:t>
            </a:r>
          </a:p>
        </p:txBody>
      </p:sp>
      <p:sp>
        <p:nvSpPr>
          <p:cNvPr id="3" name="object 3"/>
          <p:cNvSpPr txBox="1"/>
          <p:nvPr/>
        </p:nvSpPr>
        <p:spPr>
          <a:xfrm>
            <a:off x="383540" y="732282"/>
            <a:ext cx="8274684" cy="2189480"/>
          </a:xfrm>
          <a:prstGeom prst="rect">
            <a:avLst/>
          </a:prstGeom>
        </p:spPr>
        <p:txBody>
          <a:bodyPr vert="horz" wrap="square" lIns="0" tIns="12700" rIns="0" bIns="0" rtlCol="0">
            <a:spAutoFit/>
          </a:bodyPr>
          <a:lstStyle/>
          <a:p>
            <a:pPr marL="116839" marR="45085" indent="-104775">
              <a:lnSpc>
                <a:spcPct val="139200"/>
              </a:lnSpc>
              <a:spcBef>
                <a:spcPts val="100"/>
              </a:spcBef>
            </a:pPr>
            <a:r>
              <a:rPr sz="2400" spc="90" dirty="0">
                <a:latin typeface="Times New Roman"/>
                <a:cs typeface="Times New Roman"/>
              </a:rPr>
              <a:t>Some</a:t>
            </a:r>
            <a:r>
              <a:rPr sz="2400" spc="-100" dirty="0">
                <a:latin typeface="Times New Roman"/>
                <a:cs typeface="Times New Roman"/>
              </a:rPr>
              <a:t> </a:t>
            </a:r>
            <a:r>
              <a:rPr sz="2400" spc="70" dirty="0">
                <a:latin typeface="Times New Roman"/>
                <a:cs typeface="Times New Roman"/>
              </a:rPr>
              <a:t>of</a:t>
            </a:r>
            <a:r>
              <a:rPr sz="2400" spc="-85" dirty="0">
                <a:latin typeface="Times New Roman"/>
                <a:cs typeface="Times New Roman"/>
              </a:rPr>
              <a:t> </a:t>
            </a:r>
            <a:r>
              <a:rPr sz="2400" spc="135" dirty="0">
                <a:latin typeface="Times New Roman"/>
                <a:cs typeface="Times New Roman"/>
              </a:rPr>
              <a:t>the</a:t>
            </a:r>
            <a:r>
              <a:rPr sz="2400" spc="-90" dirty="0">
                <a:latin typeface="Times New Roman"/>
                <a:cs typeface="Times New Roman"/>
              </a:rPr>
              <a:t> </a:t>
            </a:r>
            <a:r>
              <a:rPr sz="2400" spc="85" dirty="0">
                <a:latin typeface="Times New Roman"/>
                <a:cs typeface="Times New Roman"/>
              </a:rPr>
              <a:t>different</a:t>
            </a:r>
            <a:r>
              <a:rPr sz="2400" spc="-100" dirty="0">
                <a:latin typeface="Times New Roman"/>
                <a:cs typeface="Times New Roman"/>
              </a:rPr>
              <a:t> </a:t>
            </a:r>
            <a:r>
              <a:rPr sz="2400" spc="65" dirty="0">
                <a:latin typeface="Times New Roman"/>
                <a:cs typeface="Times New Roman"/>
              </a:rPr>
              <a:t>types</a:t>
            </a:r>
            <a:r>
              <a:rPr sz="2400" spc="-85" dirty="0">
                <a:latin typeface="Times New Roman"/>
                <a:cs typeface="Times New Roman"/>
              </a:rPr>
              <a:t> </a:t>
            </a:r>
            <a:r>
              <a:rPr sz="2400" spc="70" dirty="0">
                <a:latin typeface="Times New Roman"/>
                <a:cs typeface="Times New Roman"/>
              </a:rPr>
              <a:t>of</a:t>
            </a:r>
            <a:r>
              <a:rPr sz="2400" spc="-90" dirty="0">
                <a:latin typeface="Times New Roman"/>
                <a:cs typeface="Times New Roman"/>
              </a:rPr>
              <a:t> </a:t>
            </a:r>
            <a:r>
              <a:rPr sz="2400" spc="100" dirty="0">
                <a:latin typeface="Times New Roman"/>
                <a:cs typeface="Times New Roman"/>
              </a:rPr>
              <a:t>window</a:t>
            </a:r>
            <a:r>
              <a:rPr sz="2400" spc="-85" dirty="0">
                <a:latin typeface="Times New Roman"/>
                <a:cs typeface="Times New Roman"/>
              </a:rPr>
              <a:t> </a:t>
            </a:r>
            <a:r>
              <a:rPr sz="2400" spc="105" dirty="0">
                <a:latin typeface="Times New Roman"/>
                <a:cs typeface="Times New Roman"/>
              </a:rPr>
              <a:t>functions</a:t>
            </a:r>
            <a:r>
              <a:rPr sz="2400" spc="-85" dirty="0">
                <a:latin typeface="Times New Roman"/>
                <a:cs typeface="Times New Roman"/>
              </a:rPr>
              <a:t> </a:t>
            </a:r>
            <a:r>
              <a:rPr sz="2400" spc="65" dirty="0">
                <a:latin typeface="Times New Roman"/>
                <a:cs typeface="Times New Roman"/>
              </a:rPr>
              <a:t>are</a:t>
            </a:r>
            <a:r>
              <a:rPr sz="2400" spc="-90" dirty="0">
                <a:latin typeface="Times New Roman"/>
                <a:cs typeface="Times New Roman"/>
              </a:rPr>
              <a:t> </a:t>
            </a:r>
            <a:r>
              <a:rPr sz="2400" spc="25" dirty="0">
                <a:latin typeface="Times New Roman"/>
                <a:cs typeface="Times New Roman"/>
              </a:rPr>
              <a:t>as</a:t>
            </a:r>
            <a:r>
              <a:rPr sz="2400" spc="-80" dirty="0">
                <a:latin typeface="Times New Roman"/>
                <a:cs typeface="Times New Roman"/>
              </a:rPr>
              <a:t> </a:t>
            </a:r>
            <a:r>
              <a:rPr sz="2400" spc="35" dirty="0">
                <a:latin typeface="Times New Roman"/>
                <a:cs typeface="Times New Roman"/>
              </a:rPr>
              <a:t>follows:  </a:t>
            </a:r>
            <a:r>
              <a:rPr sz="2400" b="1" spc="-110" dirty="0">
                <a:latin typeface="Arial"/>
                <a:cs typeface="Arial"/>
              </a:rPr>
              <a:t>Ranking</a:t>
            </a:r>
            <a:r>
              <a:rPr sz="2400" b="1" spc="-215" dirty="0">
                <a:latin typeface="Arial"/>
                <a:cs typeface="Arial"/>
              </a:rPr>
              <a:t> </a:t>
            </a:r>
            <a:r>
              <a:rPr sz="2400" b="1" spc="-120" dirty="0">
                <a:latin typeface="Arial"/>
                <a:cs typeface="Arial"/>
              </a:rPr>
              <a:t>functions</a:t>
            </a:r>
            <a:endParaRPr sz="2400">
              <a:latin typeface="Arial"/>
              <a:cs typeface="Arial"/>
            </a:endParaRPr>
          </a:p>
          <a:p>
            <a:pPr marL="298450" indent="-285750">
              <a:lnSpc>
                <a:spcPct val="100000"/>
              </a:lnSpc>
              <a:spcBef>
                <a:spcPts val="380"/>
              </a:spcBef>
              <a:buFont typeface="Wingdings"/>
              <a:buChar char=""/>
              <a:tabLst>
                <a:tab pos="298450" algn="l"/>
              </a:tabLst>
            </a:pPr>
            <a:r>
              <a:rPr sz="1800" spc="80" dirty="0">
                <a:latin typeface="Times New Roman"/>
                <a:cs typeface="Times New Roman"/>
              </a:rPr>
              <a:t>These</a:t>
            </a:r>
            <a:r>
              <a:rPr sz="1800" spc="-65" dirty="0">
                <a:latin typeface="Times New Roman"/>
                <a:cs typeface="Times New Roman"/>
              </a:rPr>
              <a:t> </a:t>
            </a:r>
            <a:r>
              <a:rPr sz="1800" spc="80" dirty="0">
                <a:latin typeface="Times New Roman"/>
                <a:cs typeface="Times New Roman"/>
              </a:rPr>
              <a:t>functions</a:t>
            </a:r>
            <a:r>
              <a:rPr sz="1800" spc="-60" dirty="0">
                <a:latin typeface="Times New Roman"/>
                <a:cs typeface="Times New Roman"/>
              </a:rPr>
              <a:t> </a:t>
            </a:r>
            <a:r>
              <a:rPr sz="1800" spc="100" dirty="0">
                <a:latin typeface="Times New Roman"/>
                <a:cs typeface="Times New Roman"/>
              </a:rPr>
              <a:t>return</a:t>
            </a:r>
            <a:r>
              <a:rPr sz="1800" spc="-75"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85" dirty="0">
                <a:latin typeface="Times New Roman"/>
                <a:cs typeface="Times New Roman"/>
              </a:rPr>
              <a:t>rank</a:t>
            </a:r>
            <a:r>
              <a:rPr sz="1800" spc="-70" dirty="0">
                <a:latin typeface="Times New Roman"/>
                <a:cs typeface="Times New Roman"/>
              </a:rPr>
              <a:t> </a:t>
            </a:r>
            <a:r>
              <a:rPr sz="1800" spc="50" dirty="0">
                <a:latin typeface="Times New Roman"/>
                <a:cs typeface="Times New Roman"/>
              </a:rPr>
              <a:t>value</a:t>
            </a:r>
            <a:r>
              <a:rPr sz="1800" spc="-75" dirty="0">
                <a:latin typeface="Times New Roman"/>
                <a:cs typeface="Times New Roman"/>
              </a:rPr>
              <a:t> </a:t>
            </a:r>
            <a:r>
              <a:rPr sz="1800" spc="60" dirty="0">
                <a:latin typeface="Times New Roman"/>
                <a:cs typeface="Times New Roman"/>
              </a:rPr>
              <a:t>for</a:t>
            </a:r>
            <a:r>
              <a:rPr sz="1800" spc="-55" dirty="0">
                <a:latin typeface="Times New Roman"/>
                <a:cs typeface="Times New Roman"/>
              </a:rPr>
              <a:t> </a:t>
            </a:r>
            <a:r>
              <a:rPr sz="1800" spc="60" dirty="0">
                <a:latin typeface="Times New Roman"/>
                <a:cs typeface="Times New Roman"/>
              </a:rPr>
              <a:t>each</a:t>
            </a:r>
            <a:r>
              <a:rPr sz="1800" spc="-70" dirty="0">
                <a:latin typeface="Times New Roman"/>
                <a:cs typeface="Times New Roman"/>
              </a:rPr>
              <a:t> </a:t>
            </a:r>
            <a:r>
              <a:rPr sz="1800" spc="65" dirty="0">
                <a:latin typeface="Times New Roman"/>
                <a:cs typeface="Times New Roman"/>
              </a:rPr>
              <a:t>row</a:t>
            </a:r>
            <a:r>
              <a:rPr sz="1800" spc="-60" dirty="0">
                <a:latin typeface="Times New Roman"/>
                <a:cs typeface="Times New Roman"/>
              </a:rPr>
              <a:t> </a:t>
            </a:r>
            <a:r>
              <a:rPr sz="1800" spc="85" dirty="0">
                <a:latin typeface="Times New Roman"/>
                <a:cs typeface="Times New Roman"/>
              </a:rPr>
              <a:t>in</a:t>
            </a:r>
            <a:r>
              <a:rPr sz="1800" spc="-60"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70" dirty="0">
                <a:latin typeface="Times New Roman"/>
                <a:cs typeface="Times New Roman"/>
              </a:rPr>
              <a:t>partition.</a:t>
            </a:r>
            <a:endParaRPr sz="1800">
              <a:latin typeface="Times New Roman"/>
              <a:cs typeface="Times New Roman"/>
            </a:endParaRPr>
          </a:p>
          <a:p>
            <a:pPr marL="298450" marR="5080" indent="-285750">
              <a:lnSpc>
                <a:spcPct val="100000"/>
              </a:lnSpc>
              <a:buFont typeface="Wingdings"/>
              <a:buChar char=""/>
              <a:tabLst>
                <a:tab pos="298450" algn="l"/>
              </a:tabLst>
            </a:pPr>
            <a:r>
              <a:rPr sz="1800" spc="25" dirty="0">
                <a:latin typeface="Times New Roman"/>
                <a:cs typeface="Times New Roman"/>
              </a:rPr>
              <a:t>Based </a:t>
            </a:r>
            <a:r>
              <a:rPr sz="1800" spc="125" dirty="0">
                <a:latin typeface="Times New Roman"/>
                <a:cs typeface="Times New Roman"/>
              </a:rPr>
              <a:t>on </a:t>
            </a:r>
            <a:r>
              <a:rPr sz="1800" spc="100" dirty="0">
                <a:latin typeface="Times New Roman"/>
                <a:cs typeface="Times New Roman"/>
              </a:rPr>
              <a:t>the </a:t>
            </a:r>
            <a:r>
              <a:rPr sz="1800" spc="85" dirty="0">
                <a:latin typeface="Times New Roman"/>
                <a:cs typeface="Times New Roman"/>
              </a:rPr>
              <a:t>function </a:t>
            </a:r>
            <a:r>
              <a:rPr sz="1800" spc="100" dirty="0">
                <a:latin typeface="Times New Roman"/>
                <a:cs typeface="Times New Roman"/>
              </a:rPr>
              <a:t>that </a:t>
            </a:r>
            <a:r>
              <a:rPr sz="1800" spc="5" dirty="0">
                <a:latin typeface="Times New Roman"/>
                <a:cs typeface="Times New Roman"/>
              </a:rPr>
              <a:t>is </a:t>
            </a:r>
            <a:r>
              <a:rPr sz="1800" spc="60" dirty="0">
                <a:latin typeface="Times New Roman"/>
                <a:cs typeface="Times New Roman"/>
              </a:rPr>
              <a:t>used, </a:t>
            </a:r>
            <a:r>
              <a:rPr sz="1800" spc="65" dirty="0">
                <a:latin typeface="Times New Roman"/>
                <a:cs typeface="Times New Roman"/>
              </a:rPr>
              <a:t>many </a:t>
            </a:r>
            <a:r>
              <a:rPr sz="1800" spc="50" dirty="0">
                <a:latin typeface="Times New Roman"/>
                <a:cs typeface="Times New Roman"/>
              </a:rPr>
              <a:t>rows </a:t>
            </a:r>
            <a:r>
              <a:rPr sz="1800" spc="15" dirty="0">
                <a:latin typeface="Times New Roman"/>
                <a:cs typeface="Times New Roman"/>
              </a:rPr>
              <a:t>will </a:t>
            </a:r>
            <a:r>
              <a:rPr sz="1800" spc="100" dirty="0">
                <a:latin typeface="Times New Roman"/>
                <a:cs typeface="Times New Roman"/>
              </a:rPr>
              <a:t>return the </a:t>
            </a:r>
            <a:r>
              <a:rPr sz="1800" spc="40" dirty="0">
                <a:latin typeface="Times New Roman"/>
                <a:cs typeface="Times New Roman"/>
              </a:rPr>
              <a:t>same </a:t>
            </a:r>
            <a:r>
              <a:rPr sz="1800" spc="45" dirty="0">
                <a:latin typeface="Times New Roman"/>
                <a:cs typeface="Times New Roman"/>
              </a:rPr>
              <a:t>value </a:t>
            </a:r>
            <a:r>
              <a:rPr sz="1800" spc="15" dirty="0">
                <a:latin typeface="Times New Roman"/>
                <a:cs typeface="Times New Roman"/>
              </a:rPr>
              <a:t>as </a:t>
            </a:r>
            <a:r>
              <a:rPr sz="1800" spc="100" dirty="0">
                <a:latin typeface="Times New Roman"/>
                <a:cs typeface="Times New Roman"/>
              </a:rPr>
              <a:t>the  </a:t>
            </a:r>
            <a:r>
              <a:rPr sz="1800" spc="90" dirty="0">
                <a:latin typeface="Times New Roman"/>
                <a:cs typeface="Times New Roman"/>
              </a:rPr>
              <a:t>other</a:t>
            </a:r>
            <a:r>
              <a:rPr sz="1800" spc="-70" dirty="0">
                <a:latin typeface="Times New Roman"/>
                <a:cs typeface="Times New Roman"/>
              </a:rPr>
              <a:t> </a:t>
            </a:r>
            <a:r>
              <a:rPr sz="1800" spc="40" dirty="0">
                <a:latin typeface="Times New Roman"/>
                <a:cs typeface="Times New Roman"/>
              </a:rPr>
              <a:t>rows.</a:t>
            </a:r>
            <a:endParaRPr sz="1800">
              <a:latin typeface="Times New Roman"/>
              <a:cs typeface="Times New Roman"/>
            </a:endParaRPr>
          </a:p>
          <a:p>
            <a:pPr marL="298450" indent="-285750">
              <a:lnSpc>
                <a:spcPct val="100000"/>
              </a:lnSpc>
              <a:buFont typeface="Wingdings"/>
              <a:buChar char=""/>
              <a:tabLst>
                <a:tab pos="298450" algn="l"/>
              </a:tabLst>
            </a:pPr>
            <a:r>
              <a:rPr sz="1800" spc="70" dirty="0">
                <a:latin typeface="Times New Roman"/>
                <a:cs typeface="Times New Roman"/>
              </a:rPr>
              <a:t>Ranking </a:t>
            </a:r>
            <a:r>
              <a:rPr sz="1800" spc="75" dirty="0">
                <a:latin typeface="Times New Roman"/>
                <a:cs typeface="Times New Roman"/>
              </a:rPr>
              <a:t>functions</a:t>
            </a:r>
            <a:r>
              <a:rPr sz="1800" spc="-320" dirty="0">
                <a:latin typeface="Times New Roman"/>
                <a:cs typeface="Times New Roman"/>
              </a:rPr>
              <a:t> </a:t>
            </a:r>
            <a:r>
              <a:rPr sz="1800" spc="45" dirty="0">
                <a:latin typeface="Times New Roman"/>
                <a:cs typeface="Times New Roman"/>
              </a:rPr>
              <a:t>are </a:t>
            </a:r>
            <a:r>
              <a:rPr sz="1800" spc="65" dirty="0">
                <a:latin typeface="Times New Roman"/>
                <a:cs typeface="Times New Roman"/>
              </a:rPr>
              <a:t>non-deterministic.</a:t>
            </a:r>
            <a:endParaRPr sz="1800">
              <a:latin typeface="Times New Roman"/>
              <a:cs typeface="Times New Roman"/>
            </a:endParaRPr>
          </a:p>
        </p:txBody>
      </p:sp>
      <p:pic>
        <p:nvPicPr>
          <p:cNvPr id="4" name="object 4"/>
          <p:cNvPicPr/>
          <p:nvPr/>
        </p:nvPicPr>
        <p:blipFill>
          <a:blip r:embed="rId3" cstate="print"/>
          <a:stretch>
            <a:fillRect/>
          </a:stretch>
        </p:blipFill>
        <p:spPr>
          <a:xfrm>
            <a:off x="1052322" y="3545585"/>
            <a:ext cx="7300722" cy="2396490"/>
          </a:xfrm>
          <a:prstGeom prst="rect">
            <a:avLst/>
          </a:prstGeom>
        </p:spPr>
      </p:pic>
      <p:sp>
        <p:nvSpPr>
          <p:cNvPr id="5" name="object 5"/>
          <p:cNvSpPr txBox="1"/>
          <p:nvPr/>
        </p:nvSpPr>
        <p:spPr>
          <a:xfrm>
            <a:off x="3716273" y="6061709"/>
            <a:ext cx="1465580" cy="238760"/>
          </a:xfrm>
          <a:prstGeom prst="rect">
            <a:avLst/>
          </a:prstGeom>
        </p:spPr>
        <p:txBody>
          <a:bodyPr vert="horz" wrap="square" lIns="0" tIns="12065" rIns="0" bIns="0" rtlCol="0">
            <a:spAutoFit/>
          </a:bodyPr>
          <a:lstStyle/>
          <a:p>
            <a:pPr marL="12700">
              <a:lnSpc>
                <a:spcPct val="100000"/>
              </a:lnSpc>
              <a:spcBef>
                <a:spcPts val="95"/>
              </a:spcBef>
            </a:pPr>
            <a:r>
              <a:rPr sz="1400" b="1" spc="-65" dirty="0">
                <a:latin typeface="Arial"/>
                <a:cs typeface="Arial"/>
              </a:rPr>
              <a:t>Ranking</a:t>
            </a:r>
            <a:r>
              <a:rPr sz="1400" b="1" spc="-160" dirty="0">
                <a:latin typeface="Arial"/>
                <a:cs typeface="Arial"/>
              </a:rPr>
              <a:t> </a:t>
            </a:r>
            <a:r>
              <a:rPr sz="1400" b="1" spc="-85" dirty="0">
                <a:latin typeface="Arial"/>
                <a:cs typeface="Arial"/>
              </a:rPr>
              <a:t>Functions</a:t>
            </a:r>
            <a:endParaRPr sz="1400">
              <a:latin typeface="Arial"/>
              <a:cs typeface="Arial"/>
            </a:endParaRPr>
          </a:p>
        </p:txBody>
      </p:sp>
      <p:sp>
        <p:nvSpPr>
          <p:cNvPr id="7" name="object 7"/>
          <p:cNvSpPr txBox="1"/>
          <p:nvPr/>
        </p:nvSpPr>
        <p:spPr>
          <a:xfrm>
            <a:off x="7872983" y="6569709"/>
            <a:ext cx="93980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70" baseline="4629" dirty="0">
                <a:latin typeface="Times New Roman"/>
                <a:cs typeface="Times New Roman"/>
              </a:rPr>
              <a:t> </a:t>
            </a:r>
            <a:fld id="{81D60167-4931-47E6-BA6A-407CBD079E47}" type="slidenum">
              <a:rPr sz="1200" spc="-20" dirty="0">
                <a:latin typeface="Times New Roman"/>
                <a:cs typeface="Times New Roman"/>
              </a:rPr>
              <a:t>29</a:t>
            </a:fld>
            <a:endParaRPr sz="120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977765" cy="635635"/>
          </a:xfrm>
          <a:prstGeom prst="rect">
            <a:avLst/>
          </a:prstGeom>
        </p:spPr>
        <p:txBody>
          <a:bodyPr vert="horz" wrap="square" lIns="0" tIns="12700" rIns="0" bIns="0" rtlCol="0">
            <a:spAutoFit/>
          </a:bodyPr>
          <a:lstStyle/>
          <a:p>
            <a:pPr marL="12700">
              <a:lnSpc>
                <a:spcPct val="100000"/>
              </a:lnSpc>
              <a:spcBef>
                <a:spcPts val="100"/>
              </a:spcBef>
            </a:pPr>
            <a:r>
              <a:rPr spc="265" dirty="0"/>
              <a:t>Window </a:t>
            </a:r>
            <a:r>
              <a:rPr spc="170" dirty="0"/>
              <a:t>Functions</a:t>
            </a:r>
            <a:r>
              <a:rPr spc="-650" dirty="0"/>
              <a:t> </a:t>
            </a:r>
            <a:r>
              <a:rPr spc="-245" dirty="0"/>
              <a:t>2-5</a:t>
            </a:r>
          </a:p>
        </p:txBody>
      </p:sp>
      <p:sp>
        <p:nvSpPr>
          <p:cNvPr id="3" name="object 3"/>
          <p:cNvSpPr txBox="1"/>
          <p:nvPr/>
        </p:nvSpPr>
        <p:spPr>
          <a:xfrm>
            <a:off x="383540" y="811123"/>
            <a:ext cx="8328659" cy="2155190"/>
          </a:xfrm>
          <a:prstGeom prst="rect">
            <a:avLst/>
          </a:prstGeom>
        </p:spPr>
        <p:txBody>
          <a:bodyPr vert="horz" wrap="square" lIns="0" tIns="65405" rIns="0" bIns="0" rtlCol="0">
            <a:spAutoFit/>
          </a:bodyPr>
          <a:lstStyle/>
          <a:p>
            <a:pPr marL="12700">
              <a:lnSpc>
                <a:spcPct val="100000"/>
              </a:lnSpc>
              <a:spcBef>
                <a:spcPts val="515"/>
              </a:spcBef>
            </a:pPr>
            <a:r>
              <a:rPr sz="2400" b="1" spc="-55" dirty="0">
                <a:latin typeface="Arial"/>
                <a:cs typeface="Arial"/>
              </a:rPr>
              <a:t>OFFSET</a:t>
            </a:r>
            <a:r>
              <a:rPr sz="2400" b="1" spc="-220" dirty="0">
                <a:latin typeface="Arial"/>
                <a:cs typeface="Arial"/>
              </a:rPr>
              <a:t> </a:t>
            </a:r>
            <a:r>
              <a:rPr sz="2400" b="1" spc="-120" dirty="0">
                <a:latin typeface="Arial"/>
                <a:cs typeface="Arial"/>
              </a:rPr>
              <a:t>functions</a:t>
            </a:r>
            <a:endParaRPr sz="2400">
              <a:latin typeface="Arial"/>
              <a:cs typeface="Arial"/>
            </a:endParaRPr>
          </a:p>
          <a:p>
            <a:pPr marL="168275">
              <a:lnSpc>
                <a:spcPct val="100000"/>
              </a:lnSpc>
              <a:spcBef>
                <a:spcPts val="345"/>
              </a:spcBef>
            </a:pPr>
            <a:r>
              <a:rPr sz="2000" spc="75" dirty="0">
                <a:latin typeface="Times New Roman"/>
                <a:cs typeface="Times New Roman"/>
              </a:rPr>
              <a:t>Different</a:t>
            </a:r>
            <a:r>
              <a:rPr sz="2000" spc="-70" dirty="0">
                <a:latin typeface="Times New Roman"/>
                <a:cs typeface="Times New Roman"/>
              </a:rPr>
              <a:t> </a:t>
            </a:r>
            <a:r>
              <a:rPr sz="2000" spc="55" dirty="0">
                <a:latin typeface="Times New Roman"/>
                <a:cs typeface="Times New Roman"/>
              </a:rPr>
              <a:t>types</a:t>
            </a:r>
            <a:r>
              <a:rPr sz="2000" spc="-65" dirty="0">
                <a:latin typeface="Times New Roman"/>
                <a:cs typeface="Times New Roman"/>
              </a:rPr>
              <a:t> </a:t>
            </a:r>
            <a:r>
              <a:rPr sz="2000" spc="55" dirty="0">
                <a:latin typeface="Times New Roman"/>
                <a:cs typeface="Times New Roman"/>
              </a:rPr>
              <a:t>of</a:t>
            </a:r>
            <a:r>
              <a:rPr sz="2000" spc="-75" dirty="0">
                <a:latin typeface="Times New Roman"/>
                <a:cs typeface="Times New Roman"/>
              </a:rPr>
              <a:t> </a:t>
            </a:r>
            <a:r>
              <a:rPr sz="2000" spc="50" dirty="0">
                <a:latin typeface="Times New Roman"/>
                <a:cs typeface="Times New Roman"/>
              </a:rPr>
              <a:t>offset</a:t>
            </a:r>
            <a:r>
              <a:rPr sz="2000" spc="-60" dirty="0">
                <a:latin typeface="Times New Roman"/>
                <a:cs typeface="Times New Roman"/>
              </a:rPr>
              <a:t> </a:t>
            </a:r>
            <a:r>
              <a:rPr sz="2000" spc="85" dirty="0">
                <a:latin typeface="Times New Roman"/>
                <a:cs typeface="Times New Roman"/>
              </a:rPr>
              <a:t>functions</a:t>
            </a:r>
            <a:r>
              <a:rPr sz="2000" spc="-75" dirty="0">
                <a:latin typeface="Times New Roman"/>
                <a:cs typeface="Times New Roman"/>
              </a:rPr>
              <a:t> </a:t>
            </a:r>
            <a:r>
              <a:rPr sz="2000" spc="50" dirty="0">
                <a:latin typeface="Times New Roman"/>
                <a:cs typeface="Times New Roman"/>
              </a:rPr>
              <a:t>are</a:t>
            </a:r>
            <a:r>
              <a:rPr sz="2000" spc="-65" dirty="0">
                <a:latin typeface="Times New Roman"/>
                <a:cs typeface="Times New Roman"/>
              </a:rPr>
              <a:t> </a:t>
            </a:r>
            <a:r>
              <a:rPr sz="2000" spc="20" dirty="0">
                <a:latin typeface="Times New Roman"/>
                <a:cs typeface="Times New Roman"/>
              </a:rPr>
              <a:t>as</a:t>
            </a:r>
            <a:r>
              <a:rPr sz="2000" spc="-75" dirty="0">
                <a:latin typeface="Times New Roman"/>
                <a:cs typeface="Times New Roman"/>
              </a:rPr>
              <a:t> </a:t>
            </a:r>
            <a:r>
              <a:rPr sz="2000" spc="30" dirty="0">
                <a:latin typeface="Times New Roman"/>
                <a:cs typeface="Times New Roman"/>
              </a:rPr>
              <a:t>follows:</a:t>
            </a:r>
            <a:endParaRPr sz="2000">
              <a:latin typeface="Times New Roman"/>
              <a:cs typeface="Times New Roman"/>
            </a:endParaRPr>
          </a:p>
          <a:p>
            <a:pPr>
              <a:lnSpc>
                <a:spcPct val="100000"/>
              </a:lnSpc>
              <a:spcBef>
                <a:spcPts val="5"/>
              </a:spcBef>
            </a:pPr>
            <a:endParaRPr sz="3000">
              <a:latin typeface="Times New Roman"/>
              <a:cs typeface="Times New Roman"/>
            </a:endParaRPr>
          </a:p>
          <a:p>
            <a:pPr marL="678180" indent="-343535">
              <a:lnSpc>
                <a:spcPct val="100000"/>
              </a:lnSpc>
              <a:buFont typeface="Wingdings"/>
              <a:buChar char=""/>
              <a:tabLst>
                <a:tab pos="678180" algn="l"/>
                <a:tab pos="678815" algn="l"/>
              </a:tabLst>
            </a:pPr>
            <a:r>
              <a:rPr sz="2000" b="1" spc="30" dirty="0">
                <a:latin typeface="Arial"/>
                <a:cs typeface="Arial"/>
              </a:rPr>
              <a:t>SWITCHOFFSET</a:t>
            </a:r>
            <a:endParaRPr sz="2000">
              <a:latin typeface="Arial"/>
              <a:cs typeface="Arial"/>
            </a:endParaRPr>
          </a:p>
          <a:p>
            <a:pPr marL="335280" marR="5080">
              <a:lnSpc>
                <a:spcPct val="100000"/>
              </a:lnSpc>
              <a:spcBef>
                <a:spcPts val="550"/>
              </a:spcBef>
            </a:pPr>
            <a:r>
              <a:rPr sz="1800" spc="85" dirty="0">
                <a:latin typeface="Times New Roman"/>
                <a:cs typeface="Times New Roman"/>
              </a:rPr>
              <a:t>This function returns </a:t>
            </a:r>
            <a:r>
              <a:rPr sz="1800" spc="30" dirty="0">
                <a:latin typeface="Times New Roman"/>
                <a:cs typeface="Times New Roman"/>
              </a:rPr>
              <a:t>a </a:t>
            </a:r>
            <a:r>
              <a:rPr sz="1800" spc="75" dirty="0">
                <a:latin typeface="Times New Roman"/>
                <a:cs typeface="Times New Roman"/>
              </a:rPr>
              <a:t>DATETIMEOFFSET </a:t>
            </a:r>
            <a:r>
              <a:rPr sz="1800" spc="45" dirty="0">
                <a:latin typeface="Times New Roman"/>
                <a:cs typeface="Times New Roman"/>
              </a:rPr>
              <a:t>value </a:t>
            </a:r>
            <a:r>
              <a:rPr sz="1800" spc="100" dirty="0">
                <a:latin typeface="Times New Roman"/>
                <a:cs typeface="Times New Roman"/>
              </a:rPr>
              <a:t>that </a:t>
            </a:r>
            <a:r>
              <a:rPr sz="1800" spc="5" dirty="0">
                <a:latin typeface="Times New Roman"/>
                <a:cs typeface="Times New Roman"/>
              </a:rPr>
              <a:t>is </a:t>
            </a:r>
            <a:r>
              <a:rPr sz="1800" spc="60" dirty="0">
                <a:latin typeface="Times New Roman"/>
                <a:cs typeface="Times New Roman"/>
              </a:rPr>
              <a:t>modified </a:t>
            </a:r>
            <a:r>
              <a:rPr sz="1800" spc="65" dirty="0">
                <a:latin typeface="Times New Roman"/>
                <a:cs typeface="Times New Roman"/>
              </a:rPr>
              <a:t>from </a:t>
            </a:r>
            <a:r>
              <a:rPr sz="1800" spc="105" dirty="0">
                <a:latin typeface="Times New Roman"/>
                <a:cs typeface="Times New Roman"/>
              </a:rPr>
              <a:t>the  </a:t>
            </a:r>
            <a:r>
              <a:rPr sz="1800" spc="70" dirty="0">
                <a:latin typeface="Times New Roman"/>
                <a:cs typeface="Times New Roman"/>
              </a:rPr>
              <a:t>stored</a:t>
            </a:r>
            <a:r>
              <a:rPr sz="1800" spc="-70" dirty="0">
                <a:latin typeface="Times New Roman"/>
                <a:cs typeface="Times New Roman"/>
              </a:rPr>
              <a:t> </a:t>
            </a:r>
            <a:r>
              <a:rPr sz="1800" spc="60" dirty="0">
                <a:latin typeface="Times New Roman"/>
                <a:cs typeface="Times New Roman"/>
              </a:rPr>
              <a:t>time</a:t>
            </a:r>
            <a:r>
              <a:rPr sz="1800" spc="-75" dirty="0">
                <a:latin typeface="Times New Roman"/>
                <a:cs typeface="Times New Roman"/>
              </a:rPr>
              <a:t> </a:t>
            </a:r>
            <a:r>
              <a:rPr sz="1800" spc="40" dirty="0">
                <a:latin typeface="Times New Roman"/>
                <a:cs typeface="Times New Roman"/>
              </a:rPr>
              <a:t>zone</a:t>
            </a:r>
            <a:r>
              <a:rPr sz="1800" spc="-65" dirty="0">
                <a:latin typeface="Times New Roman"/>
                <a:cs typeface="Times New Roman"/>
              </a:rPr>
              <a:t> </a:t>
            </a:r>
            <a:r>
              <a:rPr sz="1800" spc="45" dirty="0">
                <a:latin typeface="Times New Roman"/>
                <a:cs typeface="Times New Roman"/>
              </a:rPr>
              <a:t>offset</a:t>
            </a:r>
            <a:r>
              <a:rPr sz="1800" spc="-55" dirty="0">
                <a:latin typeface="Times New Roman"/>
                <a:cs typeface="Times New Roman"/>
              </a:rPr>
              <a:t> </a:t>
            </a:r>
            <a:r>
              <a:rPr sz="1800" spc="100" dirty="0">
                <a:latin typeface="Times New Roman"/>
                <a:cs typeface="Times New Roman"/>
              </a:rPr>
              <a:t>to</a:t>
            </a:r>
            <a:r>
              <a:rPr sz="1800" spc="-70" dirty="0">
                <a:latin typeface="Times New Roman"/>
                <a:cs typeface="Times New Roman"/>
              </a:rPr>
              <a:t> </a:t>
            </a:r>
            <a:r>
              <a:rPr sz="1800" spc="30" dirty="0">
                <a:latin typeface="Times New Roman"/>
                <a:cs typeface="Times New Roman"/>
              </a:rPr>
              <a:t>a</a:t>
            </a:r>
            <a:r>
              <a:rPr sz="1800" spc="-70" dirty="0">
                <a:latin typeface="Times New Roman"/>
                <a:cs typeface="Times New Roman"/>
              </a:rPr>
              <a:t> </a:t>
            </a:r>
            <a:r>
              <a:rPr sz="1800" spc="25" dirty="0">
                <a:latin typeface="Times New Roman"/>
                <a:cs typeface="Times New Roman"/>
              </a:rPr>
              <a:t>specific</a:t>
            </a:r>
            <a:r>
              <a:rPr sz="1800" spc="-60" dirty="0">
                <a:latin typeface="Times New Roman"/>
                <a:cs typeface="Times New Roman"/>
              </a:rPr>
              <a:t> </a:t>
            </a:r>
            <a:r>
              <a:rPr sz="1800" spc="80" dirty="0">
                <a:latin typeface="Times New Roman"/>
                <a:cs typeface="Times New Roman"/>
              </a:rPr>
              <a:t>new</a:t>
            </a:r>
            <a:r>
              <a:rPr sz="1800" spc="-60" dirty="0">
                <a:latin typeface="Times New Roman"/>
                <a:cs typeface="Times New Roman"/>
              </a:rPr>
              <a:t> </a:t>
            </a:r>
            <a:r>
              <a:rPr sz="1800" spc="60" dirty="0">
                <a:latin typeface="Times New Roman"/>
                <a:cs typeface="Times New Roman"/>
              </a:rPr>
              <a:t>time</a:t>
            </a:r>
            <a:r>
              <a:rPr sz="1800" spc="-75" dirty="0">
                <a:latin typeface="Times New Roman"/>
                <a:cs typeface="Times New Roman"/>
              </a:rPr>
              <a:t> </a:t>
            </a:r>
            <a:r>
              <a:rPr sz="1800" spc="40" dirty="0">
                <a:latin typeface="Times New Roman"/>
                <a:cs typeface="Times New Roman"/>
              </a:rPr>
              <a:t>zone</a:t>
            </a:r>
            <a:r>
              <a:rPr sz="1800" spc="-65" dirty="0">
                <a:latin typeface="Times New Roman"/>
                <a:cs typeface="Times New Roman"/>
              </a:rPr>
              <a:t> </a:t>
            </a:r>
            <a:r>
              <a:rPr sz="1800" spc="40" dirty="0">
                <a:latin typeface="Times New Roman"/>
                <a:cs typeface="Times New Roman"/>
              </a:rPr>
              <a:t>offset.</a:t>
            </a:r>
            <a:endParaRPr sz="1800">
              <a:latin typeface="Times New Roman"/>
              <a:cs typeface="Times New Roman"/>
            </a:endParaRPr>
          </a:p>
        </p:txBody>
      </p:sp>
      <p:pic>
        <p:nvPicPr>
          <p:cNvPr id="4" name="object 4"/>
          <p:cNvPicPr/>
          <p:nvPr/>
        </p:nvPicPr>
        <p:blipFill>
          <a:blip r:embed="rId3" cstate="print"/>
          <a:stretch>
            <a:fillRect/>
          </a:stretch>
        </p:blipFill>
        <p:spPr>
          <a:xfrm>
            <a:off x="5737508" y="3429000"/>
            <a:ext cx="2974691" cy="1018828"/>
          </a:xfrm>
          <a:prstGeom prst="rect">
            <a:avLst/>
          </a:prstGeom>
        </p:spPr>
      </p:pic>
      <p:sp>
        <p:nvSpPr>
          <p:cNvPr id="5" name="object 5"/>
          <p:cNvSpPr txBox="1"/>
          <p:nvPr/>
        </p:nvSpPr>
        <p:spPr>
          <a:xfrm>
            <a:off x="6000114" y="4529251"/>
            <a:ext cx="2712085" cy="238760"/>
          </a:xfrm>
          <a:prstGeom prst="rect">
            <a:avLst/>
          </a:prstGeom>
        </p:spPr>
        <p:txBody>
          <a:bodyPr vert="horz" wrap="square" lIns="0" tIns="12065" rIns="0" bIns="0" rtlCol="0">
            <a:spAutoFit/>
          </a:bodyPr>
          <a:lstStyle/>
          <a:p>
            <a:pPr marL="12700">
              <a:lnSpc>
                <a:spcPct val="100000"/>
              </a:lnSpc>
              <a:spcBef>
                <a:spcPts val="95"/>
              </a:spcBef>
            </a:pPr>
            <a:r>
              <a:rPr sz="1400" b="1" spc="-85" dirty="0">
                <a:latin typeface="Arial"/>
                <a:cs typeface="Arial"/>
              </a:rPr>
              <a:t>Use </a:t>
            </a:r>
            <a:r>
              <a:rPr sz="1400" b="1" spc="-45" dirty="0">
                <a:latin typeface="Arial"/>
                <a:cs typeface="Arial"/>
              </a:rPr>
              <a:t>of </a:t>
            </a:r>
            <a:r>
              <a:rPr sz="1400" b="1" spc="20" dirty="0">
                <a:latin typeface="Arial"/>
                <a:cs typeface="Arial"/>
              </a:rPr>
              <a:t>SWITCHOFFSET</a:t>
            </a:r>
            <a:r>
              <a:rPr sz="1400" b="1" spc="-245" dirty="0">
                <a:latin typeface="Arial"/>
                <a:cs typeface="Arial"/>
              </a:rPr>
              <a:t> </a:t>
            </a:r>
            <a:r>
              <a:rPr sz="1400" b="1" spc="-65" dirty="0">
                <a:latin typeface="Arial"/>
                <a:cs typeface="Arial"/>
              </a:rPr>
              <a:t>Function</a:t>
            </a:r>
            <a:endParaRPr sz="1400">
              <a:latin typeface="Arial"/>
              <a:cs typeface="Arial"/>
            </a:endParaRPr>
          </a:p>
        </p:txBody>
      </p:sp>
      <p:sp>
        <p:nvSpPr>
          <p:cNvPr id="7" name="object 7"/>
          <p:cNvSpPr txBox="1"/>
          <p:nvPr/>
        </p:nvSpPr>
        <p:spPr>
          <a:xfrm>
            <a:off x="7872983" y="6569709"/>
            <a:ext cx="93980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70" baseline="4629" dirty="0">
                <a:latin typeface="Times New Roman"/>
                <a:cs typeface="Times New Roman"/>
              </a:rPr>
              <a:t> </a:t>
            </a:r>
            <a:fld id="{81D60167-4931-47E6-BA6A-407CBD079E47}" type="slidenum">
              <a:rPr sz="1200" spc="-20" dirty="0">
                <a:latin typeface="Times New Roman"/>
                <a:cs typeface="Times New Roman"/>
              </a:rPr>
              <a:t>30</a:t>
            </a:fld>
            <a:endParaRPr sz="120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9" name="TextBox 6">
            <a:extLst>
              <a:ext uri="{FF2B5EF4-FFF2-40B4-BE49-F238E27FC236}">
                <a16:creationId xmlns:a16="http://schemas.microsoft.com/office/drawing/2014/main" id="{0F002FDB-68D4-4F1F-AAE9-E57B0A1A6100}"/>
              </a:ext>
            </a:extLst>
          </p:cNvPr>
          <p:cNvSpPr txBox="1"/>
          <p:nvPr/>
        </p:nvSpPr>
        <p:spPr>
          <a:xfrm>
            <a:off x="431801" y="3125067"/>
            <a:ext cx="5164904" cy="3323987"/>
          </a:xfrm>
          <a:prstGeom prst="rect">
            <a:avLst/>
          </a:prstGeom>
          <a:solidFill>
            <a:schemeClr val="accent1">
              <a:lumMod val="40000"/>
              <a:lumOff val="60000"/>
            </a:schemeClr>
          </a:solidFill>
        </p:spPr>
        <p:txBody>
          <a:bodyPr wrap="square" rtlCol="0">
            <a:spAutoFit/>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341313" indent="-341313">
              <a:lnSpc>
                <a:spcPct val="100000"/>
              </a:lnSpc>
              <a:spcBef>
                <a:spcPts val="0"/>
              </a:spcBef>
            </a:pPr>
            <a:r>
              <a:rPr lang="en-US" dirty="0">
                <a:cs typeface="Courier New" pitchFamily="49" charset="0"/>
              </a:rPr>
              <a:t>CREATE TABLE Test</a:t>
            </a:r>
          </a:p>
          <a:p>
            <a:pPr marL="341313" indent="-341313">
              <a:lnSpc>
                <a:spcPct val="100000"/>
              </a:lnSpc>
              <a:spcBef>
                <a:spcPts val="0"/>
              </a:spcBef>
            </a:pPr>
            <a:r>
              <a:rPr lang="en-US" dirty="0">
                <a:cs typeface="Courier New" pitchFamily="49" charset="0"/>
              </a:rPr>
              <a:t>(</a:t>
            </a:r>
          </a:p>
          <a:p>
            <a:pPr marL="341313" indent="-341313">
              <a:lnSpc>
                <a:spcPct val="100000"/>
              </a:lnSpc>
              <a:spcBef>
                <a:spcPts val="0"/>
              </a:spcBef>
            </a:pPr>
            <a:r>
              <a:rPr lang="en-US" dirty="0" err="1">
                <a:cs typeface="Courier New" pitchFamily="49" charset="0"/>
              </a:rPr>
              <a:t>ColDatetimeoffset</a:t>
            </a:r>
            <a:r>
              <a:rPr lang="en-US" dirty="0">
                <a:cs typeface="Courier New" pitchFamily="49" charset="0"/>
              </a:rPr>
              <a:t> </a:t>
            </a:r>
            <a:r>
              <a:rPr lang="en-US" dirty="0" err="1">
                <a:cs typeface="Courier New" pitchFamily="49" charset="0"/>
              </a:rPr>
              <a:t>datetimeoffset</a:t>
            </a:r>
            <a:endParaRPr lang="en-US" dirty="0">
              <a:cs typeface="Courier New" pitchFamily="49" charset="0"/>
            </a:endParaRPr>
          </a:p>
          <a:p>
            <a:pPr marL="341313" indent="-341313">
              <a:lnSpc>
                <a:spcPct val="100000"/>
              </a:lnSpc>
              <a:spcBef>
                <a:spcPts val="0"/>
              </a:spcBef>
            </a:pPr>
            <a:r>
              <a:rPr lang="en-US" dirty="0">
                <a:cs typeface="Courier New" pitchFamily="49" charset="0"/>
              </a:rPr>
              <a:t>);</a:t>
            </a:r>
          </a:p>
          <a:p>
            <a:pPr marL="341313" indent="-341313">
              <a:lnSpc>
                <a:spcPct val="100000"/>
              </a:lnSpc>
              <a:spcBef>
                <a:spcPts val="0"/>
              </a:spcBef>
            </a:pPr>
            <a:r>
              <a:rPr lang="en-US" dirty="0">
                <a:cs typeface="Courier New" pitchFamily="49" charset="0"/>
              </a:rPr>
              <a:t>GO</a:t>
            </a:r>
          </a:p>
          <a:p>
            <a:pPr marL="341313" indent="-341313">
              <a:lnSpc>
                <a:spcPct val="100000"/>
              </a:lnSpc>
              <a:spcBef>
                <a:spcPts val="0"/>
              </a:spcBef>
            </a:pPr>
            <a:r>
              <a:rPr lang="en-US" dirty="0">
                <a:cs typeface="Courier New" pitchFamily="49" charset="0"/>
              </a:rPr>
              <a:t>INSERT INTO Test</a:t>
            </a:r>
          </a:p>
          <a:p>
            <a:pPr marL="341313" indent="-341313">
              <a:lnSpc>
                <a:spcPct val="100000"/>
              </a:lnSpc>
              <a:spcBef>
                <a:spcPts val="0"/>
              </a:spcBef>
            </a:pPr>
            <a:r>
              <a:rPr lang="en-US" dirty="0">
                <a:cs typeface="Courier New" pitchFamily="49" charset="0"/>
              </a:rPr>
              <a:t>VALUES ('1998-09-20 7:45:50.71345 -5:00');</a:t>
            </a:r>
          </a:p>
          <a:p>
            <a:pPr marL="341313" indent="-341313">
              <a:lnSpc>
                <a:spcPct val="100000"/>
              </a:lnSpc>
              <a:spcBef>
                <a:spcPts val="0"/>
              </a:spcBef>
            </a:pPr>
            <a:r>
              <a:rPr lang="en-US" dirty="0">
                <a:cs typeface="Courier New" pitchFamily="49" charset="0"/>
              </a:rPr>
              <a:t>GO</a:t>
            </a:r>
          </a:p>
          <a:p>
            <a:pPr marL="341313" indent="-341313">
              <a:lnSpc>
                <a:spcPct val="100000"/>
              </a:lnSpc>
              <a:spcBef>
                <a:spcPts val="0"/>
              </a:spcBef>
            </a:pPr>
            <a:r>
              <a:rPr lang="en-US" dirty="0">
                <a:cs typeface="Courier New" pitchFamily="49" charset="0"/>
              </a:rPr>
              <a:t>SELECT SWITCHOFFSET (</a:t>
            </a:r>
            <a:r>
              <a:rPr lang="en-US" dirty="0" err="1">
                <a:cs typeface="Courier New" pitchFamily="49" charset="0"/>
              </a:rPr>
              <a:t>ColDatetimeoffset</a:t>
            </a:r>
            <a:r>
              <a:rPr lang="en-US" dirty="0">
                <a:cs typeface="Courier New" pitchFamily="49" charset="0"/>
              </a:rPr>
              <a:t>, '-08:00')</a:t>
            </a:r>
          </a:p>
          <a:p>
            <a:pPr marL="341313" indent="-341313">
              <a:lnSpc>
                <a:spcPct val="100000"/>
              </a:lnSpc>
              <a:spcBef>
                <a:spcPts val="0"/>
              </a:spcBef>
            </a:pPr>
            <a:r>
              <a:rPr lang="en-US" dirty="0">
                <a:cs typeface="Courier New" pitchFamily="49" charset="0"/>
              </a:rPr>
              <a:t>FROM Test;</a:t>
            </a:r>
          </a:p>
          <a:p>
            <a:pPr marL="341313" indent="-341313">
              <a:lnSpc>
                <a:spcPct val="100000"/>
              </a:lnSpc>
              <a:spcBef>
                <a:spcPts val="0"/>
              </a:spcBef>
            </a:pPr>
            <a:r>
              <a:rPr lang="en-US" dirty="0">
                <a:cs typeface="Courier New" pitchFamily="49" charset="0"/>
              </a:rPr>
              <a:t>GO</a:t>
            </a:r>
          </a:p>
          <a:p>
            <a:pPr marL="341313" indent="-341313">
              <a:lnSpc>
                <a:spcPct val="100000"/>
              </a:lnSpc>
              <a:spcBef>
                <a:spcPts val="0"/>
              </a:spcBef>
            </a:pPr>
            <a:r>
              <a:rPr lang="en-US" dirty="0">
                <a:cs typeface="Courier New" pitchFamily="49" charset="0"/>
              </a:rPr>
              <a:t>--Returns: 1998-09-20 04:45:50.7134500 -08:00</a:t>
            </a:r>
          </a:p>
          <a:p>
            <a:pPr marL="341313" indent="-341313">
              <a:lnSpc>
                <a:spcPct val="100000"/>
              </a:lnSpc>
              <a:spcBef>
                <a:spcPts val="0"/>
              </a:spcBef>
            </a:pPr>
            <a:r>
              <a:rPr lang="en-US" dirty="0">
                <a:cs typeface="Courier New" pitchFamily="49" charset="0"/>
              </a:rPr>
              <a:t>SELECT </a:t>
            </a:r>
            <a:r>
              <a:rPr lang="en-US" dirty="0" err="1">
                <a:cs typeface="Courier New" pitchFamily="49" charset="0"/>
              </a:rPr>
              <a:t>ColDatetimeoffset</a:t>
            </a:r>
            <a:endParaRPr lang="en-US" dirty="0">
              <a:cs typeface="Courier New" pitchFamily="49" charset="0"/>
            </a:endParaRPr>
          </a:p>
          <a:p>
            <a:pPr marL="341313" indent="-341313">
              <a:lnSpc>
                <a:spcPct val="100000"/>
              </a:lnSpc>
              <a:spcBef>
                <a:spcPts val="0"/>
              </a:spcBef>
            </a:pPr>
            <a:r>
              <a:rPr lang="en-US" dirty="0">
                <a:cs typeface="Courier New" pitchFamily="49" charset="0"/>
              </a:rPr>
              <a:t>FROM Test;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944745" cy="635635"/>
          </a:xfrm>
          <a:prstGeom prst="rect">
            <a:avLst/>
          </a:prstGeom>
        </p:spPr>
        <p:txBody>
          <a:bodyPr vert="horz" wrap="square" lIns="0" tIns="12700" rIns="0" bIns="0" rtlCol="0">
            <a:spAutoFit/>
          </a:bodyPr>
          <a:lstStyle/>
          <a:p>
            <a:pPr marL="12700">
              <a:lnSpc>
                <a:spcPct val="100000"/>
              </a:lnSpc>
              <a:spcBef>
                <a:spcPts val="100"/>
              </a:spcBef>
            </a:pPr>
            <a:r>
              <a:rPr spc="265" dirty="0"/>
              <a:t>Window </a:t>
            </a:r>
            <a:r>
              <a:rPr spc="170" dirty="0"/>
              <a:t>Functions</a:t>
            </a:r>
            <a:r>
              <a:rPr spc="-655" dirty="0"/>
              <a:t> </a:t>
            </a:r>
            <a:r>
              <a:rPr spc="-330" dirty="0"/>
              <a:t>3-5</a:t>
            </a:r>
          </a:p>
        </p:txBody>
      </p:sp>
      <p:sp>
        <p:nvSpPr>
          <p:cNvPr id="3" name="object 3"/>
          <p:cNvSpPr txBox="1"/>
          <p:nvPr/>
        </p:nvSpPr>
        <p:spPr>
          <a:xfrm>
            <a:off x="805180" y="780625"/>
            <a:ext cx="7891780" cy="1090930"/>
          </a:xfrm>
          <a:prstGeom prst="rect">
            <a:avLst/>
          </a:prstGeom>
        </p:spPr>
        <p:txBody>
          <a:bodyPr vert="horz" wrap="square" lIns="0" tIns="123825" rIns="0" bIns="0" rtlCol="0">
            <a:spAutoFit/>
          </a:bodyPr>
          <a:lstStyle/>
          <a:p>
            <a:pPr marL="355600" indent="-342900">
              <a:lnSpc>
                <a:spcPct val="100000"/>
              </a:lnSpc>
              <a:spcBef>
                <a:spcPts val="975"/>
              </a:spcBef>
              <a:buFont typeface="Wingdings"/>
              <a:buChar char=""/>
              <a:tabLst>
                <a:tab pos="354965" algn="l"/>
                <a:tab pos="355600" algn="l"/>
              </a:tabLst>
            </a:pPr>
            <a:r>
              <a:rPr sz="2000" b="1" spc="10" dirty="0">
                <a:latin typeface="Arial"/>
                <a:cs typeface="Arial"/>
              </a:rPr>
              <a:t>DATETIMEOFFSETFROMPARTS</a:t>
            </a:r>
            <a:endParaRPr sz="2000">
              <a:latin typeface="Arial"/>
              <a:cs typeface="Arial"/>
            </a:endParaRPr>
          </a:p>
          <a:p>
            <a:pPr marL="12700" marR="5080">
              <a:lnSpc>
                <a:spcPct val="100000"/>
              </a:lnSpc>
              <a:spcBef>
                <a:spcPts val="790"/>
              </a:spcBef>
            </a:pPr>
            <a:r>
              <a:rPr sz="1800" spc="85" dirty="0">
                <a:latin typeface="Times New Roman"/>
                <a:cs typeface="Times New Roman"/>
              </a:rPr>
              <a:t>This</a:t>
            </a:r>
            <a:r>
              <a:rPr sz="1800" spc="-15" dirty="0">
                <a:latin typeface="Times New Roman"/>
                <a:cs typeface="Times New Roman"/>
              </a:rPr>
              <a:t> </a:t>
            </a:r>
            <a:r>
              <a:rPr sz="1800" spc="85" dirty="0">
                <a:latin typeface="Times New Roman"/>
                <a:cs typeface="Times New Roman"/>
              </a:rPr>
              <a:t>function</a:t>
            </a:r>
            <a:r>
              <a:rPr sz="1800" spc="-20" dirty="0">
                <a:latin typeface="Times New Roman"/>
                <a:cs typeface="Times New Roman"/>
              </a:rPr>
              <a:t> </a:t>
            </a:r>
            <a:r>
              <a:rPr sz="1800" spc="85" dirty="0">
                <a:latin typeface="Times New Roman"/>
                <a:cs typeface="Times New Roman"/>
              </a:rPr>
              <a:t>returns</a:t>
            </a:r>
            <a:r>
              <a:rPr sz="1800" spc="-15" dirty="0">
                <a:latin typeface="Times New Roman"/>
                <a:cs typeface="Times New Roman"/>
              </a:rPr>
              <a:t> </a:t>
            </a:r>
            <a:r>
              <a:rPr sz="1800" spc="30" dirty="0">
                <a:latin typeface="Times New Roman"/>
                <a:cs typeface="Times New Roman"/>
              </a:rPr>
              <a:t>a</a:t>
            </a:r>
            <a:r>
              <a:rPr sz="1800" spc="-30" dirty="0">
                <a:latin typeface="Times New Roman"/>
                <a:cs typeface="Times New Roman"/>
              </a:rPr>
              <a:t> </a:t>
            </a:r>
            <a:r>
              <a:rPr sz="1800" spc="55" dirty="0">
                <a:latin typeface="Times New Roman"/>
                <a:cs typeface="Times New Roman"/>
              </a:rPr>
              <a:t>datetimeoffset</a:t>
            </a:r>
            <a:r>
              <a:rPr sz="1800" spc="-10" dirty="0">
                <a:latin typeface="Times New Roman"/>
                <a:cs typeface="Times New Roman"/>
              </a:rPr>
              <a:t> </a:t>
            </a:r>
            <a:r>
              <a:rPr sz="1800" spc="45" dirty="0">
                <a:latin typeface="Times New Roman"/>
                <a:cs typeface="Times New Roman"/>
              </a:rPr>
              <a:t>value</a:t>
            </a:r>
            <a:r>
              <a:rPr sz="1800" spc="-25" dirty="0">
                <a:latin typeface="Times New Roman"/>
                <a:cs typeface="Times New Roman"/>
              </a:rPr>
              <a:t> </a:t>
            </a:r>
            <a:r>
              <a:rPr sz="1800" spc="60" dirty="0">
                <a:latin typeface="Times New Roman"/>
                <a:cs typeface="Times New Roman"/>
              </a:rPr>
              <a:t>for</a:t>
            </a:r>
            <a:r>
              <a:rPr sz="1800" spc="-15" dirty="0">
                <a:latin typeface="Times New Roman"/>
                <a:cs typeface="Times New Roman"/>
              </a:rPr>
              <a:t> </a:t>
            </a:r>
            <a:r>
              <a:rPr sz="1800" spc="100" dirty="0">
                <a:latin typeface="Times New Roman"/>
                <a:cs typeface="Times New Roman"/>
              </a:rPr>
              <a:t>the</a:t>
            </a:r>
            <a:r>
              <a:rPr sz="1800" spc="-15" dirty="0">
                <a:latin typeface="Times New Roman"/>
                <a:cs typeface="Times New Roman"/>
              </a:rPr>
              <a:t> </a:t>
            </a:r>
            <a:r>
              <a:rPr sz="1800" spc="40" dirty="0">
                <a:latin typeface="Times New Roman"/>
                <a:cs typeface="Times New Roman"/>
              </a:rPr>
              <a:t>specified</a:t>
            </a:r>
            <a:r>
              <a:rPr sz="1800" spc="-20" dirty="0">
                <a:latin typeface="Times New Roman"/>
                <a:cs typeface="Times New Roman"/>
              </a:rPr>
              <a:t> </a:t>
            </a:r>
            <a:r>
              <a:rPr sz="1800" spc="70" dirty="0">
                <a:latin typeface="Times New Roman"/>
                <a:cs typeface="Times New Roman"/>
              </a:rPr>
              <a:t>date</a:t>
            </a:r>
            <a:r>
              <a:rPr sz="1800" spc="-15" dirty="0">
                <a:latin typeface="Times New Roman"/>
                <a:cs typeface="Times New Roman"/>
              </a:rPr>
              <a:t> </a:t>
            </a:r>
            <a:r>
              <a:rPr sz="1800" spc="100" dirty="0">
                <a:latin typeface="Times New Roman"/>
                <a:cs typeface="Times New Roman"/>
              </a:rPr>
              <a:t>and</a:t>
            </a:r>
            <a:r>
              <a:rPr sz="1800" spc="-25" dirty="0">
                <a:latin typeface="Times New Roman"/>
                <a:cs typeface="Times New Roman"/>
              </a:rPr>
              <a:t> </a:t>
            </a:r>
            <a:r>
              <a:rPr sz="1800" spc="60" dirty="0">
                <a:latin typeface="Times New Roman"/>
                <a:cs typeface="Times New Roman"/>
              </a:rPr>
              <a:t>time</a:t>
            </a:r>
            <a:r>
              <a:rPr sz="1800" spc="-25" dirty="0">
                <a:latin typeface="Times New Roman"/>
                <a:cs typeface="Times New Roman"/>
              </a:rPr>
              <a:t> </a:t>
            </a:r>
            <a:r>
              <a:rPr sz="1800" spc="80" dirty="0">
                <a:latin typeface="Times New Roman"/>
                <a:cs typeface="Times New Roman"/>
              </a:rPr>
              <a:t>with  </a:t>
            </a:r>
            <a:r>
              <a:rPr sz="1800" spc="40" dirty="0">
                <a:latin typeface="Times New Roman"/>
                <a:cs typeface="Times New Roman"/>
              </a:rPr>
              <a:t>specified </a:t>
            </a:r>
            <a:r>
              <a:rPr sz="1800" spc="55" dirty="0">
                <a:latin typeface="Times New Roman"/>
                <a:cs typeface="Times New Roman"/>
              </a:rPr>
              <a:t>precision </a:t>
            </a:r>
            <a:r>
              <a:rPr sz="1800" spc="100" dirty="0">
                <a:latin typeface="Times New Roman"/>
                <a:cs typeface="Times New Roman"/>
              </a:rPr>
              <a:t>and</a:t>
            </a:r>
            <a:r>
              <a:rPr sz="1800" spc="-300" dirty="0">
                <a:latin typeface="Times New Roman"/>
                <a:cs typeface="Times New Roman"/>
              </a:rPr>
              <a:t> </a:t>
            </a:r>
            <a:r>
              <a:rPr sz="1800" spc="40" dirty="0">
                <a:latin typeface="Times New Roman"/>
                <a:cs typeface="Times New Roman"/>
              </a:rPr>
              <a:t>offset.</a:t>
            </a:r>
            <a:endParaRPr sz="1800">
              <a:latin typeface="Times New Roman"/>
              <a:cs typeface="Times New Roman"/>
            </a:endParaRPr>
          </a:p>
        </p:txBody>
      </p:sp>
      <p:pic>
        <p:nvPicPr>
          <p:cNvPr id="4" name="object 4"/>
          <p:cNvPicPr/>
          <p:nvPr/>
        </p:nvPicPr>
        <p:blipFill>
          <a:blip r:embed="rId3" cstate="print"/>
          <a:stretch>
            <a:fillRect/>
          </a:stretch>
        </p:blipFill>
        <p:spPr>
          <a:xfrm>
            <a:off x="2433827" y="2737104"/>
            <a:ext cx="3713988" cy="1149096"/>
          </a:xfrm>
          <a:prstGeom prst="rect">
            <a:avLst/>
          </a:prstGeom>
        </p:spPr>
      </p:pic>
      <p:sp>
        <p:nvSpPr>
          <p:cNvPr id="5" name="object 5"/>
          <p:cNvSpPr txBox="1">
            <a:spLocks noGrp="1"/>
          </p:cNvSpPr>
          <p:nvPr>
            <p:ph type="body" idx="1"/>
          </p:nvPr>
        </p:nvSpPr>
        <p:spPr>
          <a:xfrm>
            <a:off x="905002" y="3977005"/>
            <a:ext cx="7893050" cy="1509395"/>
          </a:xfrm>
          <a:prstGeom prst="rect">
            <a:avLst/>
          </a:prstGeom>
        </p:spPr>
        <p:txBody>
          <a:bodyPr vert="horz" wrap="square" lIns="0" tIns="12065" rIns="0" bIns="0" rtlCol="0">
            <a:spAutoFit/>
          </a:bodyPr>
          <a:lstStyle/>
          <a:p>
            <a:pPr marL="1306195">
              <a:lnSpc>
                <a:spcPct val="100000"/>
              </a:lnSpc>
              <a:spcBef>
                <a:spcPts val="95"/>
              </a:spcBef>
            </a:pPr>
            <a:r>
              <a:rPr spc="-85" dirty="0"/>
              <a:t>Use </a:t>
            </a:r>
            <a:r>
              <a:rPr spc="-45" dirty="0"/>
              <a:t>of </a:t>
            </a:r>
            <a:r>
              <a:rPr spc="5" dirty="0"/>
              <a:t>DATETIMEOFFSETFROMPARTS</a:t>
            </a:r>
            <a:r>
              <a:rPr spc="-215" dirty="0"/>
              <a:t> </a:t>
            </a:r>
            <a:r>
              <a:rPr spc="-65" dirty="0"/>
              <a:t>Function</a:t>
            </a:r>
          </a:p>
          <a:p>
            <a:pPr>
              <a:lnSpc>
                <a:spcPct val="100000"/>
              </a:lnSpc>
              <a:spcBef>
                <a:spcPts val="15"/>
              </a:spcBef>
            </a:pPr>
            <a:endParaRPr sz="2450"/>
          </a:p>
          <a:p>
            <a:pPr marL="355600" indent="-342900">
              <a:lnSpc>
                <a:spcPct val="100000"/>
              </a:lnSpc>
              <a:buFont typeface="Wingdings"/>
              <a:buChar char=""/>
              <a:tabLst>
                <a:tab pos="354965" algn="l"/>
                <a:tab pos="355600" algn="l"/>
              </a:tabLst>
            </a:pPr>
            <a:r>
              <a:rPr sz="2000" dirty="0"/>
              <a:t>SYSDATETIMEOFFSET</a:t>
            </a:r>
            <a:endParaRPr sz="2000"/>
          </a:p>
          <a:p>
            <a:pPr marL="12700" marR="5080">
              <a:lnSpc>
                <a:spcPct val="100000"/>
              </a:lnSpc>
              <a:spcBef>
                <a:spcPts val="455"/>
              </a:spcBef>
            </a:pPr>
            <a:r>
              <a:rPr sz="1800" b="0" spc="80" dirty="0">
                <a:latin typeface="Times New Roman"/>
                <a:cs typeface="Times New Roman"/>
              </a:rPr>
              <a:t>These functions </a:t>
            </a:r>
            <a:r>
              <a:rPr sz="1800" b="0" spc="85" dirty="0">
                <a:latin typeface="Times New Roman"/>
                <a:cs typeface="Times New Roman"/>
              </a:rPr>
              <a:t>returns </a:t>
            </a:r>
            <a:r>
              <a:rPr sz="1800" b="0" spc="45" dirty="0">
                <a:latin typeface="Times New Roman"/>
                <a:cs typeface="Times New Roman"/>
              </a:rPr>
              <a:t>datetimeoffset(7) </a:t>
            </a:r>
            <a:r>
              <a:rPr sz="1800" b="0" spc="50" dirty="0">
                <a:latin typeface="Times New Roman"/>
                <a:cs typeface="Times New Roman"/>
              </a:rPr>
              <a:t>value </a:t>
            </a:r>
            <a:r>
              <a:rPr sz="1800" b="0" spc="75" dirty="0">
                <a:latin typeface="Times New Roman"/>
                <a:cs typeface="Times New Roman"/>
              </a:rPr>
              <a:t>which </a:t>
            </a:r>
            <a:r>
              <a:rPr sz="1800" b="0" spc="70" dirty="0">
                <a:latin typeface="Times New Roman"/>
                <a:cs typeface="Times New Roman"/>
              </a:rPr>
              <a:t>contains </a:t>
            </a:r>
            <a:r>
              <a:rPr sz="1800" b="0" spc="100" dirty="0">
                <a:latin typeface="Times New Roman"/>
                <a:cs typeface="Times New Roman"/>
              </a:rPr>
              <a:t>the </a:t>
            </a:r>
            <a:r>
              <a:rPr sz="1800" b="0" spc="70" dirty="0">
                <a:latin typeface="Times New Roman"/>
                <a:cs typeface="Times New Roman"/>
              </a:rPr>
              <a:t>date </a:t>
            </a:r>
            <a:r>
              <a:rPr sz="1800" b="0" spc="100" dirty="0">
                <a:latin typeface="Times New Roman"/>
                <a:cs typeface="Times New Roman"/>
              </a:rPr>
              <a:t>and  </a:t>
            </a:r>
            <a:r>
              <a:rPr sz="1800" b="0" spc="60" dirty="0">
                <a:latin typeface="Times New Roman"/>
                <a:cs typeface="Times New Roman"/>
              </a:rPr>
              <a:t>time</a:t>
            </a:r>
            <a:r>
              <a:rPr sz="1800" b="0" spc="-65" dirty="0">
                <a:latin typeface="Times New Roman"/>
                <a:cs typeface="Times New Roman"/>
              </a:rPr>
              <a:t> </a:t>
            </a:r>
            <a:r>
              <a:rPr sz="1800" b="0" spc="50" dirty="0">
                <a:latin typeface="Times New Roman"/>
                <a:cs typeface="Times New Roman"/>
              </a:rPr>
              <a:t>of</a:t>
            </a:r>
            <a:r>
              <a:rPr sz="1800" b="0" spc="-60" dirty="0">
                <a:latin typeface="Times New Roman"/>
                <a:cs typeface="Times New Roman"/>
              </a:rPr>
              <a:t> </a:t>
            </a:r>
            <a:r>
              <a:rPr sz="1800" b="0" spc="100" dirty="0">
                <a:latin typeface="Times New Roman"/>
                <a:cs typeface="Times New Roman"/>
              </a:rPr>
              <a:t>the</a:t>
            </a:r>
            <a:r>
              <a:rPr sz="1800" b="0" spc="-65" dirty="0">
                <a:latin typeface="Times New Roman"/>
                <a:cs typeface="Times New Roman"/>
              </a:rPr>
              <a:t> </a:t>
            </a:r>
            <a:r>
              <a:rPr sz="1800" b="0" spc="80" dirty="0">
                <a:latin typeface="Times New Roman"/>
                <a:cs typeface="Times New Roman"/>
              </a:rPr>
              <a:t>computer</a:t>
            </a:r>
            <a:r>
              <a:rPr sz="1800" b="0" spc="-70" dirty="0">
                <a:latin typeface="Times New Roman"/>
                <a:cs typeface="Times New Roman"/>
              </a:rPr>
              <a:t> </a:t>
            </a:r>
            <a:r>
              <a:rPr sz="1800" b="0" spc="120" dirty="0">
                <a:latin typeface="Times New Roman"/>
                <a:cs typeface="Times New Roman"/>
              </a:rPr>
              <a:t>on</a:t>
            </a:r>
            <a:r>
              <a:rPr sz="1800" b="0" spc="-65" dirty="0">
                <a:latin typeface="Times New Roman"/>
                <a:cs typeface="Times New Roman"/>
              </a:rPr>
              <a:t> </a:t>
            </a:r>
            <a:r>
              <a:rPr sz="1800" b="0" spc="75" dirty="0">
                <a:latin typeface="Times New Roman"/>
                <a:cs typeface="Times New Roman"/>
              </a:rPr>
              <a:t>which</a:t>
            </a:r>
            <a:r>
              <a:rPr sz="1800" b="0" spc="-55" dirty="0">
                <a:latin typeface="Times New Roman"/>
                <a:cs typeface="Times New Roman"/>
              </a:rPr>
              <a:t> </a:t>
            </a:r>
            <a:r>
              <a:rPr sz="1800" b="0" spc="100" dirty="0">
                <a:latin typeface="Times New Roman"/>
                <a:cs typeface="Times New Roman"/>
              </a:rPr>
              <a:t>the</a:t>
            </a:r>
            <a:r>
              <a:rPr sz="1800" b="0" spc="-60" dirty="0">
                <a:latin typeface="Times New Roman"/>
                <a:cs typeface="Times New Roman"/>
              </a:rPr>
              <a:t> </a:t>
            </a:r>
            <a:r>
              <a:rPr sz="1800" b="0" spc="65" dirty="0">
                <a:latin typeface="Times New Roman"/>
                <a:cs typeface="Times New Roman"/>
              </a:rPr>
              <a:t>instance</a:t>
            </a:r>
            <a:r>
              <a:rPr sz="1800" b="0" spc="-70" dirty="0">
                <a:latin typeface="Times New Roman"/>
                <a:cs typeface="Times New Roman"/>
              </a:rPr>
              <a:t> </a:t>
            </a:r>
            <a:r>
              <a:rPr sz="1800" b="0" spc="50" dirty="0">
                <a:latin typeface="Times New Roman"/>
                <a:cs typeface="Times New Roman"/>
              </a:rPr>
              <a:t>of</a:t>
            </a:r>
            <a:r>
              <a:rPr sz="1800" b="0" spc="-55" dirty="0">
                <a:latin typeface="Times New Roman"/>
                <a:cs typeface="Times New Roman"/>
              </a:rPr>
              <a:t> </a:t>
            </a:r>
            <a:r>
              <a:rPr sz="1800" b="0" spc="85" dirty="0">
                <a:latin typeface="Times New Roman"/>
                <a:cs typeface="Times New Roman"/>
              </a:rPr>
              <a:t>SQL</a:t>
            </a:r>
            <a:r>
              <a:rPr sz="1800" b="0" spc="-60" dirty="0">
                <a:latin typeface="Times New Roman"/>
                <a:cs typeface="Times New Roman"/>
              </a:rPr>
              <a:t> </a:t>
            </a:r>
            <a:r>
              <a:rPr sz="1800" b="0" spc="55" dirty="0">
                <a:latin typeface="Times New Roman"/>
                <a:cs typeface="Times New Roman"/>
              </a:rPr>
              <a:t>Server</a:t>
            </a:r>
            <a:r>
              <a:rPr sz="1800" b="0" spc="-75" dirty="0">
                <a:latin typeface="Times New Roman"/>
                <a:cs typeface="Times New Roman"/>
              </a:rPr>
              <a:t> </a:t>
            </a:r>
            <a:r>
              <a:rPr sz="1800" b="0" spc="5" dirty="0">
                <a:latin typeface="Times New Roman"/>
                <a:cs typeface="Times New Roman"/>
              </a:rPr>
              <a:t>is</a:t>
            </a:r>
            <a:r>
              <a:rPr sz="1800" b="0" spc="-50" dirty="0">
                <a:latin typeface="Times New Roman"/>
                <a:cs typeface="Times New Roman"/>
              </a:rPr>
              <a:t> </a:t>
            </a:r>
            <a:r>
              <a:rPr sz="1800" b="0" spc="85" dirty="0">
                <a:latin typeface="Times New Roman"/>
                <a:cs typeface="Times New Roman"/>
              </a:rPr>
              <a:t>running.</a:t>
            </a:r>
            <a:endParaRPr sz="1800">
              <a:latin typeface="Times New Roman"/>
              <a:cs typeface="Times New Roman"/>
            </a:endParaRPr>
          </a:p>
        </p:txBody>
      </p:sp>
      <p:pic>
        <p:nvPicPr>
          <p:cNvPr id="6" name="object 6"/>
          <p:cNvPicPr/>
          <p:nvPr/>
        </p:nvPicPr>
        <p:blipFill>
          <a:blip r:embed="rId4" cstate="print"/>
          <a:stretch>
            <a:fillRect/>
          </a:stretch>
        </p:blipFill>
        <p:spPr>
          <a:xfrm>
            <a:off x="4337888" y="5678887"/>
            <a:ext cx="4653712" cy="668856"/>
          </a:xfrm>
          <a:prstGeom prst="rect">
            <a:avLst/>
          </a:prstGeom>
        </p:spPr>
      </p:pic>
      <p:sp>
        <p:nvSpPr>
          <p:cNvPr id="7" name="object 7"/>
          <p:cNvSpPr txBox="1"/>
          <p:nvPr/>
        </p:nvSpPr>
        <p:spPr>
          <a:xfrm>
            <a:off x="2950527" y="6420850"/>
            <a:ext cx="3242945" cy="238760"/>
          </a:xfrm>
          <a:prstGeom prst="rect">
            <a:avLst/>
          </a:prstGeom>
        </p:spPr>
        <p:txBody>
          <a:bodyPr vert="horz" wrap="square" lIns="0" tIns="12065" rIns="0" bIns="0" rtlCol="0">
            <a:spAutoFit/>
          </a:bodyPr>
          <a:lstStyle/>
          <a:p>
            <a:pPr marL="12700">
              <a:lnSpc>
                <a:spcPct val="100000"/>
              </a:lnSpc>
              <a:spcBef>
                <a:spcPts val="95"/>
              </a:spcBef>
            </a:pPr>
            <a:r>
              <a:rPr sz="1400" b="1" spc="-80" dirty="0">
                <a:latin typeface="Arial"/>
                <a:cs typeface="Arial"/>
              </a:rPr>
              <a:t>Use </a:t>
            </a:r>
            <a:r>
              <a:rPr sz="1400" b="1" spc="-45" dirty="0">
                <a:latin typeface="Arial"/>
                <a:cs typeface="Arial"/>
              </a:rPr>
              <a:t>of </a:t>
            </a:r>
            <a:r>
              <a:rPr sz="1400" b="1" spc="-5" dirty="0">
                <a:latin typeface="Arial"/>
                <a:cs typeface="Arial"/>
              </a:rPr>
              <a:t>SYSDATETIMEOFFSET</a:t>
            </a:r>
            <a:r>
              <a:rPr sz="1400" b="1" spc="-220" dirty="0">
                <a:latin typeface="Arial"/>
                <a:cs typeface="Arial"/>
              </a:rPr>
              <a:t> </a:t>
            </a:r>
            <a:r>
              <a:rPr sz="1400" b="1" spc="-65" dirty="0">
                <a:latin typeface="Arial"/>
                <a:cs typeface="Arial"/>
              </a:rPr>
              <a:t>Function</a:t>
            </a:r>
            <a:endParaRPr sz="1400">
              <a:latin typeface="Arial"/>
              <a:cs typeface="Arial"/>
            </a:endParaRPr>
          </a:p>
        </p:txBody>
      </p:sp>
      <p:sp>
        <p:nvSpPr>
          <p:cNvPr id="9" name="object 9"/>
          <p:cNvSpPr txBox="1"/>
          <p:nvPr/>
        </p:nvSpPr>
        <p:spPr>
          <a:xfrm>
            <a:off x="7872983" y="6569709"/>
            <a:ext cx="93980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70" baseline="4629" dirty="0">
                <a:latin typeface="Times New Roman"/>
                <a:cs typeface="Times New Roman"/>
              </a:rPr>
              <a:t> </a:t>
            </a:r>
            <a:fld id="{81D60167-4931-47E6-BA6A-407CBD079E47}" type="slidenum">
              <a:rPr sz="1200" spc="-20" dirty="0">
                <a:latin typeface="Times New Roman"/>
                <a:cs typeface="Times New Roman"/>
              </a:rPr>
              <a:t>31</a:t>
            </a:fld>
            <a:endParaRPr sz="1200">
              <a:latin typeface="Times New Roman"/>
              <a:cs typeface="Times New Roman"/>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1" name="TextBox 10">
            <a:extLst>
              <a:ext uri="{FF2B5EF4-FFF2-40B4-BE49-F238E27FC236}">
                <a16:creationId xmlns:a16="http://schemas.microsoft.com/office/drawing/2014/main" id="{DB58A706-6EC2-4738-81D7-1094F4ECDE19}"/>
              </a:ext>
            </a:extLst>
          </p:cNvPr>
          <p:cNvSpPr txBox="1"/>
          <p:nvPr/>
        </p:nvSpPr>
        <p:spPr>
          <a:xfrm>
            <a:off x="1146745" y="1962360"/>
            <a:ext cx="6738620" cy="584775"/>
          </a:xfrm>
          <a:prstGeom prst="rect">
            <a:avLst/>
          </a:prstGeom>
          <a:solidFill>
            <a:schemeClr val="accent1">
              <a:lumMod val="40000"/>
              <a:lumOff val="60000"/>
            </a:schemeClr>
          </a:solidFill>
        </p:spPr>
        <p:txBody>
          <a:bodyPr wrap="square" rtlCol="0">
            <a:spAutoFit/>
          </a:bodyPr>
          <a:lstStyle/>
          <a:p>
            <a:pPr marL="341313" indent="-341313">
              <a:lnSpc>
                <a:spcPct val="100000"/>
              </a:lnSpc>
              <a:spcBef>
                <a:spcPts val="0"/>
              </a:spcBef>
            </a:pPr>
            <a:r>
              <a:rPr lang="en-US" sz="1600" dirty="0">
                <a:cs typeface="Courier New" pitchFamily="49" charset="0"/>
              </a:rPr>
              <a:t>SELECT DATETIMEOFFSETFROMPARTS ( 2010, 12, 31, 14, 23, 23, 0, 12</a:t>
            </a:r>
            <a:r>
              <a:rPr lang="en-US" sz="1600">
                <a:cs typeface="Courier New" pitchFamily="49" charset="0"/>
              </a:rPr>
              <a:t>, 0,7 </a:t>
            </a:r>
            <a:r>
              <a:rPr lang="en-US" sz="1600" dirty="0">
                <a:cs typeface="Courier New" pitchFamily="49" charset="0"/>
              </a:rPr>
              <a:t>)</a:t>
            </a:r>
          </a:p>
          <a:p>
            <a:pPr marL="341313" indent="-341313">
              <a:lnSpc>
                <a:spcPct val="100000"/>
              </a:lnSpc>
              <a:spcBef>
                <a:spcPts val="0"/>
              </a:spcBef>
            </a:pPr>
            <a:r>
              <a:rPr lang="en-US" sz="1600" dirty="0">
                <a:cs typeface="Courier New" pitchFamily="49" charset="0"/>
              </a:rPr>
              <a:t>AS Result;</a:t>
            </a:r>
          </a:p>
        </p:txBody>
      </p:sp>
      <p:sp>
        <p:nvSpPr>
          <p:cNvPr id="12" name="TextBox 10">
            <a:extLst>
              <a:ext uri="{FF2B5EF4-FFF2-40B4-BE49-F238E27FC236}">
                <a16:creationId xmlns:a16="http://schemas.microsoft.com/office/drawing/2014/main" id="{63080E53-19FE-4054-80B8-2CB7856188BC}"/>
              </a:ext>
            </a:extLst>
          </p:cNvPr>
          <p:cNvSpPr txBox="1"/>
          <p:nvPr/>
        </p:nvSpPr>
        <p:spPr>
          <a:xfrm>
            <a:off x="257733" y="5701411"/>
            <a:ext cx="4033088" cy="646331"/>
          </a:xfrm>
          <a:prstGeom prst="rect">
            <a:avLst/>
          </a:prstGeom>
          <a:solidFill>
            <a:schemeClr val="accent1">
              <a:lumMod val="40000"/>
              <a:lumOff val="60000"/>
            </a:schemeClr>
          </a:solidFill>
        </p:spPr>
        <p:txBody>
          <a:bodyPr wrap="square" rtlCol="0">
            <a:spAutoFit/>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341313" indent="-341313">
              <a:lnSpc>
                <a:spcPct val="100000"/>
              </a:lnSpc>
              <a:spcBef>
                <a:spcPts val="0"/>
              </a:spcBef>
            </a:pPr>
            <a:r>
              <a:rPr lang="en-US" sz="1200" dirty="0">
                <a:cs typeface="Courier New" pitchFamily="49" charset="0"/>
              </a:rPr>
              <a:t>SELECT SYSDATETIME() AS SYSDATETIME</a:t>
            </a:r>
          </a:p>
          <a:p>
            <a:pPr marL="341313" indent="-341313">
              <a:lnSpc>
                <a:spcPct val="100000"/>
              </a:lnSpc>
              <a:spcBef>
                <a:spcPts val="0"/>
              </a:spcBef>
            </a:pPr>
            <a:r>
              <a:rPr lang="en-US" sz="1200" dirty="0">
                <a:cs typeface="Courier New" pitchFamily="49" charset="0"/>
              </a:rPr>
              <a:t>,SYSDATETIMEOFFSET() AS SYSDATETIMEOFFSET</a:t>
            </a:r>
          </a:p>
          <a:p>
            <a:pPr marL="341313" indent="-341313">
              <a:lnSpc>
                <a:spcPct val="100000"/>
              </a:lnSpc>
              <a:spcBef>
                <a:spcPts val="0"/>
              </a:spcBef>
            </a:pPr>
            <a:r>
              <a:rPr lang="en-US" sz="1200" dirty="0">
                <a:cs typeface="Courier New" pitchFamily="49" charset="0"/>
              </a:rPr>
              <a:t>,SYSUTCDATETIME() AS SYSUTCDATETIME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995545" cy="635635"/>
          </a:xfrm>
          <a:prstGeom prst="rect">
            <a:avLst/>
          </a:prstGeom>
        </p:spPr>
        <p:txBody>
          <a:bodyPr vert="horz" wrap="square" lIns="0" tIns="12700" rIns="0" bIns="0" rtlCol="0">
            <a:spAutoFit/>
          </a:bodyPr>
          <a:lstStyle/>
          <a:p>
            <a:pPr marL="12700">
              <a:lnSpc>
                <a:spcPct val="100000"/>
              </a:lnSpc>
              <a:spcBef>
                <a:spcPts val="100"/>
              </a:spcBef>
            </a:pPr>
            <a:r>
              <a:rPr spc="265" dirty="0"/>
              <a:t>Window </a:t>
            </a:r>
            <a:r>
              <a:rPr spc="170" dirty="0"/>
              <a:t>Functions</a:t>
            </a:r>
            <a:r>
              <a:rPr spc="-645" dirty="0"/>
              <a:t> </a:t>
            </a:r>
            <a:r>
              <a:rPr spc="-200" dirty="0"/>
              <a:t>4-5</a:t>
            </a:r>
          </a:p>
        </p:txBody>
      </p:sp>
      <p:sp>
        <p:nvSpPr>
          <p:cNvPr id="3" name="object 3"/>
          <p:cNvSpPr txBox="1"/>
          <p:nvPr/>
        </p:nvSpPr>
        <p:spPr>
          <a:xfrm>
            <a:off x="528827" y="757453"/>
            <a:ext cx="8324850" cy="1538605"/>
          </a:xfrm>
          <a:prstGeom prst="rect">
            <a:avLst/>
          </a:prstGeom>
        </p:spPr>
        <p:txBody>
          <a:bodyPr vert="horz" wrap="square" lIns="0" tIns="139700" rIns="0" bIns="0" rtlCol="0">
            <a:spAutoFit/>
          </a:bodyPr>
          <a:lstStyle/>
          <a:p>
            <a:pPr marL="12700" algn="just">
              <a:lnSpc>
                <a:spcPct val="100000"/>
              </a:lnSpc>
              <a:spcBef>
                <a:spcPts val="1100"/>
              </a:spcBef>
            </a:pPr>
            <a:r>
              <a:rPr sz="2400" b="1" spc="-70" dirty="0">
                <a:latin typeface="Arial"/>
                <a:cs typeface="Arial"/>
              </a:rPr>
              <a:t>Analytic</a:t>
            </a:r>
            <a:r>
              <a:rPr sz="2400" b="1" spc="-210" dirty="0">
                <a:latin typeface="Arial"/>
                <a:cs typeface="Arial"/>
              </a:rPr>
              <a:t> </a:t>
            </a:r>
            <a:r>
              <a:rPr sz="2400" b="1" spc="-140" dirty="0">
                <a:latin typeface="Arial"/>
                <a:cs typeface="Arial"/>
              </a:rPr>
              <a:t>Functions</a:t>
            </a:r>
            <a:endParaRPr sz="2400">
              <a:latin typeface="Arial"/>
              <a:cs typeface="Arial"/>
            </a:endParaRPr>
          </a:p>
          <a:p>
            <a:pPr marL="12700" marR="5080" algn="just">
              <a:lnSpc>
                <a:spcPct val="100000"/>
              </a:lnSpc>
              <a:spcBef>
                <a:spcPts val="830"/>
              </a:spcBef>
            </a:pPr>
            <a:r>
              <a:rPr sz="2000" spc="90" dirty="0">
                <a:latin typeface="Times New Roman"/>
                <a:cs typeface="Times New Roman"/>
              </a:rPr>
              <a:t>SQL </a:t>
            </a:r>
            <a:r>
              <a:rPr sz="2000" spc="60" dirty="0">
                <a:latin typeface="Times New Roman"/>
                <a:cs typeface="Times New Roman"/>
              </a:rPr>
              <a:t>Server </a:t>
            </a:r>
            <a:r>
              <a:rPr sz="2000" spc="-90" dirty="0">
                <a:latin typeface="Times New Roman"/>
                <a:cs typeface="Times New Roman"/>
              </a:rPr>
              <a:t>2019 </a:t>
            </a:r>
            <a:r>
              <a:rPr sz="2000" spc="85" dirty="0">
                <a:latin typeface="Times New Roman"/>
                <a:cs typeface="Times New Roman"/>
              </a:rPr>
              <a:t>supports </a:t>
            </a:r>
            <a:r>
              <a:rPr sz="2000" spc="35" dirty="0">
                <a:latin typeface="Times New Roman"/>
                <a:cs typeface="Times New Roman"/>
              </a:rPr>
              <a:t>several </a:t>
            </a:r>
            <a:r>
              <a:rPr sz="2000" spc="50" dirty="0">
                <a:latin typeface="Times New Roman"/>
                <a:cs typeface="Times New Roman"/>
              </a:rPr>
              <a:t>analytic </a:t>
            </a:r>
            <a:r>
              <a:rPr sz="2000" spc="75" dirty="0">
                <a:latin typeface="Times New Roman"/>
                <a:cs typeface="Times New Roman"/>
              </a:rPr>
              <a:t>functions. </a:t>
            </a:r>
            <a:r>
              <a:rPr sz="2000" spc="90" dirty="0">
                <a:latin typeface="Times New Roman"/>
                <a:cs typeface="Times New Roman"/>
              </a:rPr>
              <a:t>These </a:t>
            </a:r>
            <a:r>
              <a:rPr sz="2000" spc="85" dirty="0">
                <a:latin typeface="Times New Roman"/>
                <a:cs typeface="Times New Roman"/>
              </a:rPr>
              <a:t>functions  </a:t>
            </a:r>
            <a:r>
              <a:rPr sz="2000" spc="90" dirty="0">
                <a:latin typeface="Times New Roman"/>
                <a:cs typeface="Times New Roman"/>
              </a:rPr>
              <a:t>compute </a:t>
            </a:r>
            <a:r>
              <a:rPr sz="2000" spc="30" dirty="0">
                <a:latin typeface="Times New Roman"/>
                <a:cs typeface="Times New Roman"/>
              </a:rPr>
              <a:t>aggregate </a:t>
            </a:r>
            <a:r>
              <a:rPr sz="2000" spc="55" dirty="0">
                <a:latin typeface="Times New Roman"/>
                <a:cs typeface="Times New Roman"/>
              </a:rPr>
              <a:t>value </a:t>
            </a:r>
            <a:r>
              <a:rPr sz="2000" spc="60" dirty="0">
                <a:latin typeface="Times New Roman"/>
                <a:cs typeface="Times New Roman"/>
              </a:rPr>
              <a:t>based </a:t>
            </a:r>
            <a:r>
              <a:rPr sz="2000" spc="135" dirty="0">
                <a:latin typeface="Times New Roman"/>
                <a:cs typeface="Times New Roman"/>
              </a:rPr>
              <a:t>on </a:t>
            </a:r>
            <a:r>
              <a:rPr sz="2000" spc="30" dirty="0">
                <a:latin typeface="Times New Roman"/>
                <a:cs typeface="Times New Roman"/>
              </a:rPr>
              <a:t>a </a:t>
            </a:r>
            <a:r>
              <a:rPr sz="2000" spc="80" dirty="0">
                <a:latin typeface="Times New Roman"/>
                <a:cs typeface="Times New Roman"/>
              </a:rPr>
              <a:t>group </a:t>
            </a:r>
            <a:r>
              <a:rPr sz="2000" spc="55" dirty="0">
                <a:latin typeface="Times New Roman"/>
                <a:cs typeface="Times New Roman"/>
              </a:rPr>
              <a:t>of </a:t>
            </a:r>
            <a:r>
              <a:rPr sz="2000" spc="45" dirty="0">
                <a:latin typeface="Times New Roman"/>
                <a:cs typeface="Times New Roman"/>
              </a:rPr>
              <a:t>rows. </a:t>
            </a:r>
            <a:r>
              <a:rPr sz="2000" spc="65" dirty="0">
                <a:latin typeface="Times New Roman"/>
                <a:cs typeface="Times New Roman"/>
              </a:rPr>
              <a:t>Analytic </a:t>
            </a:r>
            <a:r>
              <a:rPr sz="2000" spc="85" dirty="0">
                <a:latin typeface="Times New Roman"/>
                <a:cs typeface="Times New Roman"/>
              </a:rPr>
              <a:t>functions  </a:t>
            </a:r>
            <a:r>
              <a:rPr sz="2000" spc="90" dirty="0">
                <a:latin typeface="Times New Roman"/>
                <a:cs typeface="Times New Roman"/>
              </a:rPr>
              <a:t>compute</a:t>
            </a:r>
            <a:r>
              <a:rPr sz="2000" spc="-65" dirty="0">
                <a:latin typeface="Times New Roman"/>
                <a:cs typeface="Times New Roman"/>
              </a:rPr>
              <a:t> </a:t>
            </a:r>
            <a:r>
              <a:rPr sz="2000" spc="110" dirty="0">
                <a:latin typeface="Times New Roman"/>
                <a:cs typeface="Times New Roman"/>
              </a:rPr>
              <a:t>running</a:t>
            </a:r>
            <a:r>
              <a:rPr sz="2000" spc="-70" dirty="0">
                <a:latin typeface="Times New Roman"/>
                <a:cs typeface="Times New Roman"/>
              </a:rPr>
              <a:t> </a:t>
            </a:r>
            <a:r>
              <a:rPr sz="2000" spc="55" dirty="0">
                <a:latin typeface="Times New Roman"/>
                <a:cs typeface="Times New Roman"/>
              </a:rPr>
              <a:t>totals,</a:t>
            </a:r>
            <a:r>
              <a:rPr sz="2000" spc="-50" dirty="0">
                <a:latin typeface="Times New Roman"/>
                <a:cs typeface="Times New Roman"/>
              </a:rPr>
              <a:t> </a:t>
            </a:r>
            <a:r>
              <a:rPr sz="2000" spc="65" dirty="0">
                <a:latin typeface="Times New Roman"/>
                <a:cs typeface="Times New Roman"/>
              </a:rPr>
              <a:t>moving</a:t>
            </a:r>
            <a:r>
              <a:rPr sz="2000" spc="-60" dirty="0">
                <a:latin typeface="Times New Roman"/>
                <a:cs typeface="Times New Roman"/>
              </a:rPr>
              <a:t> </a:t>
            </a:r>
            <a:r>
              <a:rPr sz="2000" spc="25" dirty="0">
                <a:latin typeface="Times New Roman"/>
                <a:cs typeface="Times New Roman"/>
              </a:rPr>
              <a:t>averages,</a:t>
            </a:r>
            <a:r>
              <a:rPr sz="2000" spc="-50" dirty="0">
                <a:latin typeface="Times New Roman"/>
                <a:cs typeface="Times New Roman"/>
              </a:rPr>
              <a:t> </a:t>
            </a:r>
            <a:r>
              <a:rPr sz="2000" spc="85" dirty="0">
                <a:latin typeface="Times New Roman"/>
                <a:cs typeface="Times New Roman"/>
              </a:rPr>
              <a:t>or</a:t>
            </a:r>
            <a:r>
              <a:rPr sz="2000" spc="-70" dirty="0">
                <a:latin typeface="Times New Roman"/>
                <a:cs typeface="Times New Roman"/>
              </a:rPr>
              <a:t> </a:t>
            </a:r>
            <a:r>
              <a:rPr sz="2000" spc="95" dirty="0">
                <a:latin typeface="Times New Roman"/>
                <a:cs typeface="Times New Roman"/>
              </a:rPr>
              <a:t>top-N</a:t>
            </a:r>
            <a:r>
              <a:rPr sz="2000" spc="-65" dirty="0">
                <a:latin typeface="Times New Roman"/>
                <a:cs typeface="Times New Roman"/>
              </a:rPr>
              <a:t> </a:t>
            </a:r>
            <a:r>
              <a:rPr sz="2000" spc="60" dirty="0">
                <a:latin typeface="Times New Roman"/>
                <a:cs typeface="Times New Roman"/>
              </a:rPr>
              <a:t>results</a:t>
            </a:r>
            <a:r>
              <a:rPr sz="2000" spc="-50" dirty="0">
                <a:latin typeface="Times New Roman"/>
                <a:cs typeface="Times New Roman"/>
              </a:rPr>
              <a:t> </a:t>
            </a:r>
            <a:r>
              <a:rPr sz="2000" spc="90" dirty="0">
                <a:latin typeface="Times New Roman"/>
                <a:cs typeface="Times New Roman"/>
              </a:rPr>
              <a:t>within</a:t>
            </a:r>
            <a:r>
              <a:rPr sz="2000" spc="-75" dirty="0">
                <a:latin typeface="Times New Roman"/>
                <a:cs typeface="Times New Roman"/>
              </a:rPr>
              <a:t> </a:t>
            </a:r>
            <a:r>
              <a:rPr sz="2000" spc="30" dirty="0">
                <a:latin typeface="Times New Roman"/>
                <a:cs typeface="Times New Roman"/>
              </a:rPr>
              <a:t>a</a:t>
            </a:r>
            <a:r>
              <a:rPr sz="2000" spc="-70" dirty="0">
                <a:latin typeface="Times New Roman"/>
                <a:cs typeface="Times New Roman"/>
              </a:rPr>
              <a:t> </a:t>
            </a:r>
            <a:r>
              <a:rPr sz="2000" spc="65" dirty="0">
                <a:latin typeface="Times New Roman"/>
                <a:cs typeface="Times New Roman"/>
              </a:rPr>
              <a:t>group.</a:t>
            </a:r>
            <a:endParaRPr sz="2000">
              <a:latin typeface="Times New Roman"/>
              <a:cs typeface="Times New Roman"/>
            </a:endParaRPr>
          </a:p>
        </p:txBody>
      </p:sp>
      <p:pic>
        <p:nvPicPr>
          <p:cNvPr id="4" name="object 4"/>
          <p:cNvPicPr/>
          <p:nvPr/>
        </p:nvPicPr>
        <p:blipFill>
          <a:blip r:embed="rId3" cstate="print"/>
          <a:stretch>
            <a:fillRect/>
          </a:stretch>
        </p:blipFill>
        <p:spPr>
          <a:xfrm>
            <a:off x="1027175" y="2388870"/>
            <a:ext cx="7146035" cy="3557016"/>
          </a:xfrm>
          <a:prstGeom prst="rect">
            <a:avLst/>
          </a:prstGeom>
        </p:spPr>
      </p:pic>
      <p:sp>
        <p:nvSpPr>
          <p:cNvPr id="5" name="object 5"/>
          <p:cNvSpPr txBox="1"/>
          <p:nvPr/>
        </p:nvSpPr>
        <p:spPr>
          <a:xfrm>
            <a:off x="3834891" y="5944870"/>
            <a:ext cx="1473835" cy="238760"/>
          </a:xfrm>
          <a:prstGeom prst="rect">
            <a:avLst/>
          </a:prstGeom>
        </p:spPr>
        <p:txBody>
          <a:bodyPr vert="horz" wrap="square" lIns="0" tIns="12065" rIns="0" bIns="0" rtlCol="0">
            <a:spAutoFit/>
          </a:bodyPr>
          <a:lstStyle/>
          <a:p>
            <a:pPr marL="12700">
              <a:lnSpc>
                <a:spcPct val="100000"/>
              </a:lnSpc>
              <a:spcBef>
                <a:spcPts val="95"/>
              </a:spcBef>
            </a:pPr>
            <a:r>
              <a:rPr sz="1400" b="1" spc="-40" dirty="0">
                <a:latin typeface="Arial"/>
                <a:cs typeface="Arial"/>
              </a:rPr>
              <a:t>Analytic</a:t>
            </a:r>
            <a:r>
              <a:rPr sz="1400" b="1" spc="-150" dirty="0">
                <a:latin typeface="Arial"/>
                <a:cs typeface="Arial"/>
              </a:rPr>
              <a:t> </a:t>
            </a:r>
            <a:r>
              <a:rPr sz="1400" b="1" spc="-85" dirty="0">
                <a:latin typeface="Arial"/>
                <a:cs typeface="Arial"/>
              </a:rPr>
              <a:t>Functions</a:t>
            </a:r>
            <a:endParaRPr sz="1400">
              <a:latin typeface="Arial"/>
              <a:cs typeface="Arial"/>
            </a:endParaRPr>
          </a:p>
        </p:txBody>
      </p:sp>
      <p:sp>
        <p:nvSpPr>
          <p:cNvPr id="7" name="object 7"/>
          <p:cNvSpPr txBox="1"/>
          <p:nvPr/>
        </p:nvSpPr>
        <p:spPr>
          <a:xfrm>
            <a:off x="7872983" y="6569709"/>
            <a:ext cx="93980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70" baseline="4629" dirty="0">
                <a:latin typeface="Times New Roman"/>
                <a:cs typeface="Times New Roman"/>
              </a:rPr>
              <a:t> </a:t>
            </a:r>
            <a:fld id="{81D60167-4931-47E6-BA6A-407CBD079E47}" type="slidenum">
              <a:rPr sz="1200" spc="-20" dirty="0">
                <a:latin typeface="Times New Roman"/>
                <a:cs typeface="Times New Roman"/>
              </a:rPr>
              <a:t>32</a:t>
            </a:fld>
            <a:endParaRPr sz="1200">
              <a:latin typeface="Times New Roman"/>
              <a:cs typeface="Times New Roman"/>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913630" cy="635635"/>
          </a:xfrm>
          <a:prstGeom prst="rect">
            <a:avLst/>
          </a:prstGeom>
        </p:spPr>
        <p:txBody>
          <a:bodyPr vert="horz" wrap="square" lIns="0" tIns="12700" rIns="0" bIns="0" rtlCol="0">
            <a:spAutoFit/>
          </a:bodyPr>
          <a:lstStyle/>
          <a:p>
            <a:pPr marL="12700">
              <a:lnSpc>
                <a:spcPct val="100000"/>
              </a:lnSpc>
              <a:spcBef>
                <a:spcPts val="100"/>
              </a:spcBef>
            </a:pPr>
            <a:r>
              <a:rPr spc="265" dirty="0"/>
              <a:t>Window </a:t>
            </a:r>
            <a:r>
              <a:rPr spc="170" dirty="0"/>
              <a:t>Functions</a:t>
            </a:r>
            <a:r>
              <a:rPr spc="-645" dirty="0"/>
              <a:t> </a:t>
            </a:r>
            <a:r>
              <a:rPr spc="-415" dirty="0"/>
              <a:t>5-5</a:t>
            </a:r>
          </a:p>
        </p:txBody>
      </p:sp>
      <p:pic>
        <p:nvPicPr>
          <p:cNvPr id="3" name="object 3"/>
          <p:cNvPicPr/>
          <p:nvPr/>
        </p:nvPicPr>
        <p:blipFill>
          <a:blip r:embed="rId2" cstate="print"/>
          <a:stretch>
            <a:fillRect/>
          </a:stretch>
        </p:blipFill>
        <p:spPr>
          <a:xfrm>
            <a:off x="2340292" y="2725979"/>
            <a:ext cx="4463415" cy="3384958"/>
          </a:xfrm>
          <a:prstGeom prst="rect">
            <a:avLst/>
          </a:prstGeom>
        </p:spPr>
      </p:pic>
      <p:sp>
        <p:nvSpPr>
          <p:cNvPr id="4" name="object 4"/>
          <p:cNvSpPr txBox="1"/>
          <p:nvPr/>
        </p:nvSpPr>
        <p:spPr>
          <a:xfrm>
            <a:off x="3815714" y="6330949"/>
            <a:ext cx="1699260"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First </a:t>
            </a:r>
            <a:r>
              <a:rPr sz="1400" b="1" spc="-30" dirty="0">
                <a:latin typeface="Arial"/>
                <a:cs typeface="Arial"/>
              </a:rPr>
              <a:t>Value()</a:t>
            </a:r>
            <a:r>
              <a:rPr sz="1400" b="1" spc="-190" dirty="0">
                <a:latin typeface="Arial"/>
                <a:cs typeface="Arial"/>
              </a:rPr>
              <a:t> </a:t>
            </a:r>
            <a:r>
              <a:rPr sz="1400" b="1" spc="-65" dirty="0">
                <a:latin typeface="Arial"/>
                <a:cs typeface="Arial"/>
              </a:rPr>
              <a:t>Function</a:t>
            </a:r>
            <a:endParaRPr sz="1400">
              <a:latin typeface="Arial"/>
              <a:cs typeface="Arial"/>
            </a:endParaRPr>
          </a:p>
        </p:txBody>
      </p:sp>
      <p:sp>
        <p:nvSpPr>
          <p:cNvPr id="6" name="object 6"/>
          <p:cNvSpPr txBox="1"/>
          <p:nvPr/>
        </p:nvSpPr>
        <p:spPr>
          <a:xfrm>
            <a:off x="7872983" y="6569709"/>
            <a:ext cx="93980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70" baseline="4629" dirty="0">
                <a:latin typeface="Times New Roman"/>
                <a:cs typeface="Times New Roman"/>
              </a:rPr>
              <a:t> </a:t>
            </a:r>
            <a:fld id="{81D60167-4931-47E6-BA6A-407CBD079E47}" type="slidenum">
              <a:rPr sz="1200" spc="-20" dirty="0">
                <a:latin typeface="Times New Roman"/>
                <a:cs typeface="Times New Roman"/>
              </a:rPr>
              <a:t>33</a:t>
            </a:fld>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8" name="TextBox 7">
            <a:extLst>
              <a:ext uri="{FF2B5EF4-FFF2-40B4-BE49-F238E27FC236}">
                <a16:creationId xmlns:a16="http://schemas.microsoft.com/office/drawing/2014/main" id="{C4428713-9351-4EDF-86DB-D619FB5EBD45}"/>
              </a:ext>
            </a:extLst>
          </p:cNvPr>
          <p:cNvSpPr txBox="1"/>
          <p:nvPr/>
        </p:nvSpPr>
        <p:spPr>
          <a:xfrm>
            <a:off x="1371600" y="984757"/>
            <a:ext cx="6248400" cy="1631216"/>
          </a:xfrm>
          <a:prstGeom prst="rect">
            <a:avLst/>
          </a:prstGeom>
          <a:solidFill>
            <a:schemeClr val="accent1">
              <a:lumMod val="40000"/>
              <a:lumOff val="60000"/>
            </a:schemeClr>
          </a:solidFill>
        </p:spPr>
        <p:txBody>
          <a:bodyPr wrap="square" rtlCol="0">
            <a:spAutoFit/>
          </a:bodyPr>
          <a:lstStyle/>
          <a:p>
            <a:pPr marL="341313" indent="-341313">
              <a:lnSpc>
                <a:spcPct val="100000"/>
              </a:lnSpc>
              <a:spcBef>
                <a:spcPts val="0"/>
              </a:spcBef>
            </a:pPr>
            <a:r>
              <a:rPr lang="en-US" sz="1600">
                <a:cs typeface="Courier New" pitchFamily="49" charset="0"/>
              </a:rPr>
              <a:t>USE AdventureWorks2019;</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GO</a:t>
            </a:r>
          </a:p>
          <a:p>
            <a:pPr marL="341313" indent="-341313">
              <a:lnSpc>
                <a:spcPct val="100000"/>
              </a:lnSpc>
              <a:spcBef>
                <a:spcPts val="0"/>
              </a:spcBef>
            </a:pPr>
            <a:r>
              <a:rPr lang="en-US" sz="1600" dirty="0">
                <a:cs typeface="Courier New" pitchFamily="49" charset="0"/>
              </a:rPr>
              <a:t>SELECT Name, </a:t>
            </a:r>
            <a:r>
              <a:rPr lang="en-US" sz="1600" dirty="0" err="1">
                <a:cs typeface="Courier New" pitchFamily="49" charset="0"/>
              </a:rPr>
              <a:t>ListPrice</a:t>
            </a:r>
            <a:r>
              <a:rPr lang="en-US" sz="1600" dirty="0">
                <a:cs typeface="Courier New" pitchFamily="49" charset="0"/>
              </a:rPr>
              <a:t>,</a:t>
            </a:r>
          </a:p>
          <a:p>
            <a:pPr marL="341313" indent="-341313">
              <a:lnSpc>
                <a:spcPct val="100000"/>
              </a:lnSpc>
              <a:spcBef>
                <a:spcPts val="0"/>
              </a:spcBef>
            </a:pPr>
            <a:r>
              <a:rPr lang="en-US" sz="1600" dirty="0">
                <a:cs typeface="Courier New" pitchFamily="49" charset="0"/>
              </a:rPr>
              <a:t>FIRST_VALUE(Name) OVER (ORDER BY </a:t>
            </a:r>
            <a:r>
              <a:rPr lang="en-US" sz="1600" dirty="0" err="1">
                <a:cs typeface="Courier New" pitchFamily="49" charset="0"/>
              </a:rPr>
              <a:t>ListPrice</a:t>
            </a:r>
            <a:r>
              <a:rPr lang="en-US" sz="1600" dirty="0">
                <a:cs typeface="Courier New" pitchFamily="49" charset="0"/>
              </a:rPr>
              <a:t> ASC) AS </a:t>
            </a:r>
            <a:r>
              <a:rPr lang="en-US" sz="1600" dirty="0" err="1">
                <a:cs typeface="Courier New" pitchFamily="49" charset="0"/>
              </a:rPr>
              <a:t>LessExpensive</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FROM </a:t>
            </a:r>
            <a:r>
              <a:rPr lang="en-US" sz="1600" dirty="0" err="1">
                <a:cs typeface="Courier New" pitchFamily="49" charset="0"/>
              </a:rPr>
              <a:t>Production.Product</a:t>
            </a:r>
            <a:endParaRPr lang="en-US" sz="1600" dirty="0">
              <a:cs typeface="Courier New" pitchFamily="49" charset="0"/>
            </a:endParaRPr>
          </a:p>
          <a:p>
            <a:pPr marL="341313" indent="-341313">
              <a:lnSpc>
                <a:spcPct val="100000"/>
              </a:lnSpc>
              <a:spcBef>
                <a:spcPts val="0"/>
              </a:spcBef>
            </a:pPr>
            <a:r>
              <a:rPr lang="en-US" sz="1600" dirty="0">
                <a:cs typeface="Courier New" pitchFamily="49" charset="0"/>
              </a:rPr>
              <a:t>WHERE </a:t>
            </a:r>
            <a:r>
              <a:rPr lang="en-US" sz="1600" dirty="0" err="1">
                <a:cs typeface="Courier New" pitchFamily="49" charset="0"/>
              </a:rPr>
              <a:t>ProductSubcategoryID</a:t>
            </a:r>
            <a:r>
              <a:rPr lang="en-US" sz="1600" dirty="0">
                <a:cs typeface="Courier New" pitchFamily="49" charset="0"/>
              </a:rPr>
              <a:t> = 37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pc="155" dirty="0"/>
              <a:t>Summary</a:t>
            </a:r>
          </a:p>
        </p:txBody>
      </p:sp>
      <p:sp>
        <p:nvSpPr>
          <p:cNvPr id="5" name="object 5"/>
          <p:cNvSpPr txBox="1"/>
          <p:nvPr/>
        </p:nvSpPr>
        <p:spPr>
          <a:xfrm>
            <a:off x="7872983" y="6569709"/>
            <a:ext cx="939800" cy="256540"/>
          </a:xfrm>
          <a:prstGeom prst="rect">
            <a:avLst/>
          </a:prstGeom>
        </p:spPr>
        <p:txBody>
          <a:bodyPr vert="horz" wrap="square" lIns="0" tIns="18415" rIns="0" bIns="0" rtlCol="0">
            <a:spAutoFit/>
          </a:bodyPr>
          <a:lstStyle/>
          <a:p>
            <a:pPr marL="12700">
              <a:lnSpc>
                <a:spcPct val="100000"/>
              </a:lnSpc>
              <a:spcBef>
                <a:spcPts val="145"/>
              </a:spcBef>
            </a:pPr>
            <a:r>
              <a:rPr sz="1800" spc="52" baseline="4629" dirty="0">
                <a:latin typeface="Times New Roman"/>
                <a:cs typeface="Times New Roman"/>
              </a:rPr>
              <a:t>Session </a:t>
            </a:r>
            <a:r>
              <a:rPr sz="1800" spc="-75" baseline="4629" dirty="0">
                <a:latin typeface="Times New Roman"/>
                <a:cs typeface="Times New Roman"/>
              </a:rPr>
              <a:t>13/</a:t>
            </a:r>
            <a:r>
              <a:rPr sz="1800" spc="-270" baseline="4629" dirty="0">
                <a:latin typeface="Times New Roman"/>
                <a:cs typeface="Times New Roman"/>
              </a:rPr>
              <a:t> </a:t>
            </a:r>
            <a:fld id="{81D60167-4931-47E6-BA6A-407CBD079E47}" type="slidenum">
              <a:rPr sz="1200" spc="-20" dirty="0">
                <a:latin typeface="Times New Roman"/>
                <a:cs typeface="Times New Roman"/>
              </a:rPr>
              <a:t>34</a:t>
            </a:fld>
            <a:endParaRPr sz="1200">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345440" y="1065022"/>
            <a:ext cx="8453755" cy="5055870"/>
          </a:xfrm>
          <a:prstGeom prst="rect">
            <a:avLst/>
          </a:prstGeom>
        </p:spPr>
        <p:txBody>
          <a:bodyPr vert="horz" wrap="square" lIns="0" tIns="12700" rIns="0" bIns="0" rtlCol="0">
            <a:spAutoFit/>
          </a:bodyPr>
          <a:lstStyle/>
          <a:p>
            <a:pPr marL="353695" marR="5080" indent="-341630" algn="just">
              <a:lnSpc>
                <a:spcPct val="100000"/>
              </a:lnSpc>
              <a:spcBef>
                <a:spcPts val="100"/>
              </a:spcBef>
              <a:buSzPct val="90909"/>
              <a:buFont typeface="Calibri"/>
              <a:buChar char="●"/>
              <a:tabLst>
                <a:tab pos="354330" algn="l"/>
              </a:tabLst>
            </a:pPr>
            <a:r>
              <a:rPr sz="2200" spc="90" dirty="0">
                <a:latin typeface="Times New Roman"/>
                <a:cs typeface="Times New Roman"/>
              </a:rPr>
              <a:t>Transact-SQL </a:t>
            </a:r>
            <a:r>
              <a:rPr sz="2200" spc="70" dirty="0">
                <a:latin typeface="Times New Roman"/>
                <a:cs typeface="Times New Roman"/>
              </a:rPr>
              <a:t>provides </a:t>
            </a:r>
            <a:r>
              <a:rPr sz="2200" spc="35" dirty="0">
                <a:latin typeface="Times New Roman"/>
                <a:cs typeface="Times New Roman"/>
              </a:rPr>
              <a:t>basic</a:t>
            </a:r>
            <a:r>
              <a:rPr sz="2200" spc="620" dirty="0">
                <a:latin typeface="Times New Roman"/>
                <a:cs typeface="Times New Roman"/>
              </a:rPr>
              <a:t> </a:t>
            </a:r>
            <a:r>
              <a:rPr sz="2200" spc="75" dirty="0">
                <a:latin typeface="Times New Roman"/>
                <a:cs typeface="Times New Roman"/>
              </a:rPr>
              <a:t>programming elements </a:t>
            </a:r>
            <a:r>
              <a:rPr sz="2200" spc="95" dirty="0">
                <a:latin typeface="Times New Roman"/>
                <a:cs typeface="Times New Roman"/>
              </a:rPr>
              <a:t>such </a:t>
            </a:r>
            <a:r>
              <a:rPr sz="2200" spc="15" dirty="0">
                <a:latin typeface="Times New Roman"/>
                <a:cs typeface="Times New Roman"/>
              </a:rPr>
              <a:t>as  </a:t>
            </a:r>
            <a:r>
              <a:rPr sz="2200" spc="35" dirty="0">
                <a:latin typeface="Times New Roman"/>
                <a:cs typeface="Times New Roman"/>
              </a:rPr>
              <a:t>variables, </a:t>
            </a:r>
            <a:r>
              <a:rPr sz="2200" spc="65" dirty="0">
                <a:latin typeface="Times New Roman"/>
                <a:cs typeface="Times New Roman"/>
              </a:rPr>
              <a:t>control-of-flow elements, </a:t>
            </a:r>
            <a:r>
              <a:rPr sz="2200" spc="80" dirty="0">
                <a:latin typeface="Times New Roman"/>
                <a:cs typeface="Times New Roman"/>
              </a:rPr>
              <a:t>conditional, </a:t>
            </a:r>
            <a:r>
              <a:rPr sz="2200" spc="125" dirty="0">
                <a:latin typeface="Times New Roman"/>
                <a:cs typeface="Times New Roman"/>
              </a:rPr>
              <a:t>and </a:t>
            </a:r>
            <a:r>
              <a:rPr sz="2200" spc="75" dirty="0">
                <a:latin typeface="Times New Roman"/>
                <a:cs typeface="Times New Roman"/>
              </a:rPr>
              <a:t>loop  </a:t>
            </a:r>
            <a:r>
              <a:rPr sz="2200" spc="80" dirty="0">
                <a:latin typeface="Times New Roman"/>
                <a:cs typeface="Times New Roman"/>
              </a:rPr>
              <a:t>constructs.</a:t>
            </a:r>
            <a:endParaRPr sz="2200">
              <a:latin typeface="Times New Roman"/>
              <a:cs typeface="Times New Roman"/>
            </a:endParaRPr>
          </a:p>
          <a:p>
            <a:pPr marL="353695" marR="5080" indent="-341630" algn="just">
              <a:lnSpc>
                <a:spcPct val="100000"/>
              </a:lnSpc>
              <a:buSzPct val="90909"/>
              <a:buFont typeface="Calibri"/>
              <a:buChar char="●"/>
              <a:tabLst>
                <a:tab pos="354330" algn="l"/>
              </a:tabLst>
            </a:pPr>
            <a:r>
              <a:rPr sz="2200" spc="195" dirty="0">
                <a:latin typeface="Times New Roman"/>
                <a:cs typeface="Times New Roman"/>
              </a:rPr>
              <a:t>A </a:t>
            </a:r>
            <a:r>
              <a:rPr sz="2200" spc="95" dirty="0">
                <a:latin typeface="Times New Roman"/>
                <a:cs typeface="Times New Roman"/>
              </a:rPr>
              <a:t>batch </a:t>
            </a:r>
            <a:r>
              <a:rPr sz="2200" spc="5" dirty="0">
                <a:latin typeface="Times New Roman"/>
                <a:cs typeface="Times New Roman"/>
              </a:rPr>
              <a:t>is </a:t>
            </a:r>
            <a:r>
              <a:rPr sz="2200" spc="35" dirty="0">
                <a:latin typeface="Times New Roman"/>
                <a:cs typeface="Times New Roman"/>
              </a:rPr>
              <a:t>a </a:t>
            </a:r>
            <a:r>
              <a:rPr sz="2200" spc="65" dirty="0">
                <a:latin typeface="Times New Roman"/>
                <a:cs typeface="Times New Roman"/>
              </a:rPr>
              <a:t>collection of </a:t>
            </a:r>
            <a:r>
              <a:rPr sz="2200" spc="114" dirty="0">
                <a:latin typeface="Times New Roman"/>
                <a:cs typeface="Times New Roman"/>
              </a:rPr>
              <a:t>one </a:t>
            </a:r>
            <a:r>
              <a:rPr sz="2200" spc="95" dirty="0">
                <a:latin typeface="Times New Roman"/>
                <a:cs typeface="Times New Roman"/>
              </a:rPr>
              <a:t>or </a:t>
            </a:r>
            <a:r>
              <a:rPr sz="2200" spc="85" dirty="0">
                <a:latin typeface="Times New Roman"/>
                <a:cs typeface="Times New Roman"/>
              </a:rPr>
              <a:t>more </a:t>
            </a:r>
            <a:r>
              <a:rPr sz="2200" spc="90" dirty="0">
                <a:latin typeface="Times New Roman"/>
                <a:cs typeface="Times New Roman"/>
              </a:rPr>
              <a:t>Transact-SQL </a:t>
            </a:r>
            <a:r>
              <a:rPr sz="2200" spc="85" dirty="0">
                <a:latin typeface="Times New Roman"/>
                <a:cs typeface="Times New Roman"/>
              </a:rPr>
              <a:t>statements  </a:t>
            </a:r>
            <a:r>
              <a:rPr sz="2200" spc="125" dirty="0">
                <a:latin typeface="Times New Roman"/>
                <a:cs typeface="Times New Roman"/>
              </a:rPr>
              <a:t>that</a:t>
            </a:r>
            <a:r>
              <a:rPr sz="2200" spc="-110" dirty="0">
                <a:latin typeface="Times New Roman"/>
                <a:cs typeface="Times New Roman"/>
              </a:rPr>
              <a:t> </a:t>
            </a:r>
            <a:r>
              <a:rPr sz="2200" spc="60" dirty="0">
                <a:latin typeface="Times New Roman"/>
                <a:cs typeface="Times New Roman"/>
              </a:rPr>
              <a:t>are</a:t>
            </a:r>
            <a:r>
              <a:rPr sz="2200" spc="-90" dirty="0">
                <a:latin typeface="Times New Roman"/>
                <a:cs typeface="Times New Roman"/>
              </a:rPr>
              <a:t> </a:t>
            </a:r>
            <a:r>
              <a:rPr sz="2200" spc="100" dirty="0">
                <a:latin typeface="Times New Roman"/>
                <a:cs typeface="Times New Roman"/>
              </a:rPr>
              <a:t>sent</a:t>
            </a:r>
            <a:r>
              <a:rPr sz="2200" spc="-100" dirty="0">
                <a:latin typeface="Times New Roman"/>
                <a:cs typeface="Times New Roman"/>
              </a:rPr>
              <a:t> </a:t>
            </a:r>
            <a:r>
              <a:rPr sz="2200" spc="20" dirty="0">
                <a:latin typeface="Times New Roman"/>
                <a:cs typeface="Times New Roman"/>
              </a:rPr>
              <a:t>as</a:t>
            </a:r>
            <a:r>
              <a:rPr sz="2200" spc="-90" dirty="0">
                <a:latin typeface="Times New Roman"/>
                <a:cs typeface="Times New Roman"/>
              </a:rPr>
              <a:t> </a:t>
            </a:r>
            <a:r>
              <a:rPr sz="2200" spc="114" dirty="0">
                <a:latin typeface="Times New Roman"/>
                <a:cs typeface="Times New Roman"/>
              </a:rPr>
              <a:t>one</a:t>
            </a:r>
            <a:r>
              <a:rPr sz="2200" spc="-105" dirty="0">
                <a:latin typeface="Times New Roman"/>
                <a:cs typeface="Times New Roman"/>
              </a:rPr>
              <a:t> </a:t>
            </a:r>
            <a:r>
              <a:rPr sz="2200" spc="130" dirty="0">
                <a:latin typeface="Times New Roman"/>
                <a:cs typeface="Times New Roman"/>
              </a:rPr>
              <a:t>unit</a:t>
            </a:r>
            <a:r>
              <a:rPr sz="2200" spc="-105" dirty="0">
                <a:latin typeface="Times New Roman"/>
                <a:cs typeface="Times New Roman"/>
              </a:rPr>
              <a:t> </a:t>
            </a:r>
            <a:r>
              <a:rPr sz="2200" spc="80" dirty="0">
                <a:latin typeface="Times New Roman"/>
                <a:cs typeface="Times New Roman"/>
              </a:rPr>
              <a:t>from</a:t>
            </a:r>
            <a:r>
              <a:rPr sz="2200" spc="-85" dirty="0">
                <a:latin typeface="Times New Roman"/>
                <a:cs typeface="Times New Roman"/>
              </a:rPr>
              <a:t> </a:t>
            </a:r>
            <a:r>
              <a:rPr sz="2200" spc="114" dirty="0">
                <a:latin typeface="Times New Roman"/>
                <a:cs typeface="Times New Roman"/>
              </a:rPr>
              <a:t>an</a:t>
            </a:r>
            <a:r>
              <a:rPr sz="2200" spc="-90" dirty="0">
                <a:latin typeface="Times New Roman"/>
                <a:cs typeface="Times New Roman"/>
              </a:rPr>
              <a:t> </a:t>
            </a:r>
            <a:r>
              <a:rPr sz="2200" spc="70" dirty="0">
                <a:latin typeface="Times New Roman"/>
                <a:cs typeface="Times New Roman"/>
              </a:rPr>
              <a:t>application</a:t>
            </a:r>
            <a:r>
              <a:rPr sz="2200" spc="-100" dirty="0">
                <a:latin typeface="Times New Roman"/>
                <a:cs typeface="Times New Roman"/>
              </a:rPr>
              <a:t> </a:t>
            </a:r>
            <a:r>
              <a:rPr sz="2200" spc="120" dirty="0">
                <a:latin typeface="Times New Roman"/>
                <a:cs typeface="Times New Roman"/>
              </a:rPr>
              <a:t>to</a:t>
            </a:r>
            <a:r>
              <a:rPr sz="2200" spc="-90" dirty="0">
                <a:latin typeface="Times New Roman"/>
                <a:cs typeface="Times New Roman"/>
              </a:rPr>
              <a:t> </a:t>
            </a:r>
            <a:r>
              <a:rPr sz="2200" spc="125" dirty="0">
                <a:latin typeface="Times New Roman"/>
                <a:cs typeface="Times New Roman"/>
              </a:rPr>
              <a:t>the</a:t>
            </a:r>
            <a:r>
              <a:rPr sz="2200" spc="-105" dirty="0">
                <a:latin typeface="Times New Roman"/>
                <a:cs typeface="Times New Roman"/>
              </a:rPr>
              <a:t> </a:t>
            </a:r>
            <a:r>
              <a:rPr sz="2200" spc="50" dirty="0">
                <a:latin typeface="Times New Roman"/>
                <a:cs typeface="Times New Roman"/>
              </a:rPr>
              <a:t>server.</a:t>
            </a:r>
            <a:endParaRPr sz="2200">
              <a:latin typeface="Times New Roman"/>
              <a:cs typeface="Times New Roman"/>
            </a:endParaRPr>
          </a:p>
          <a:p>
            <a:pPr marL="353695" marR="5715" indent="-341630" algn="just">
              <a:lnSpc>
                <a:spcPct val="100000"/>
              </a:lnSpc>
              <a:buSzPct val="90909"/>
              <a:buFont typeface="Calibri"/>
              <a:buChar char="●"/>
              <a:tabLst>
                <a:tab pos="354330" algn="l"/>
              </a:tabLst>
            </a:pPr>
            <a:r>
              <a:rPr sz="2200" spc="55" dirty="0">
                <a:latin typeface="Times New Roman"/>
                <a:cs typeface="Times New Roman"/>
              </a:rPr>
              <a:t>Variables </a:t>
            </a:r>
            <a:r>
              <a:rPr sz="2200" spc="35" dirty="0">
                <a:latin typeface="Times New Roman"/>
                <a:cs typeface="Times New Roman"/>
              </a:rPr>
              <a:t>allow </a:t>
            </a:r>
            <a:r>
              <a:rPr sz="2200" spc="60" dirty="0">
                <a:latin typeface="Times New Roman"/>
                <a:cs typeface="Times New Roman"/>
              </a:rPr>
              <a:t>users </a:t>
            </a:r>
            <a:r>
              <a:rPr sz="2200" spc="120" dirty="0">
                <a:latin typeface="Times New Roman"/>
                <a:cs typeface="Times New Roman"/>
              </a:rPr>
              <a:t>to </a:t>
            </a:r>
            <a:r>
              <a:rPr sz="2200" spc="75" dirty="0">
                <a:latin typeface="Times New Roman"/>
                <a:cs typeface="Times New Roman"/>
              </a:rPr>
              <a:t>store </a:t>
            </a:r>
            <a:r>
              <a:rPr sz="2200" spc="85" dirty="0">
                <a:latin typeface="Times New Roman"/>
                <a:cs typeface="Times New Roman"/>
              </a:rPr>
              <a:t>data </a:t>
            </a:r>
            <a:r>
              <a:rPr sz="2200" spc="70" dirty="0">
                <a:latin typeface="Times New Roman"/>
                <a:cs typeface="Times New Roman"/>
              </a:rPr>
              <a:t>for using </a:t>
            </a:r>
            <a:r>
              <a:rPr sz="2200" spc="15" dirty="0">
                <a:latin typeface="Times New Roman"/>
                <a:cs typeface="Times New Roman"/>
              </a:rPr>
              <a:t>as </a:t>
            </a:r>
            <a:r>
              <a:rPr sz="2200" spc="125" dirty="0">
                <a:latin typeface="Times New Roman"/>
                <a:cs typeface="Times New Roman"/>
              </a:rPr>
              <a:t>input </a:t>
            </a:r>
            <a:r>
              <a:rPr sz="2200" spc="100" dirty="0">
                <a:latin typeface="Times New Roman"/>
                <a:cs typeface="Times New Roman"/>
              </a:rPr>
              <a:t>in </a:t>
            </a:r>
            <a:r>
              <a:rPr sz="2200" spc="110" dirty="0">
                <a:latin typeface="Times New Roman"/>
                <a:cs typeface="Times New Roman"/>
              </a:rPr>
              <a:t>other  </a:t>
            </a:r>
            <a:r>
              <a:rPr sz="2200" spc="90" dirty="0">
                <a:latin typeface="Times New Roman"/>
                <a:cs typeface="Times New Roman"/>
              </a:rPr>
              <a:t>Transact-SQL</a:t>
            </a:r>
            <a:r>
              <a:rPr sz="2200" spc="-105" dirty="0">
                <a:latin typeface="Times New Roman"/>
                <a:cs typeface="Times New Roman"/>
              </a:rPr>
              <a:t> </a:t>
            </a:r>
            <a:r>
              <a:rPr sz="2200" spc="80" dirty="0">
                <a:latin typeface="Times New Roman"/>
                <a:cs typeface="Times New Roman"/>
              </a:rPr>
              <a:t>statements.</a:t>
            </a:r>
            <a:endParaRPr sz="2200">
              <a:latin typeface="Times New Roman"/>
              <a:cs typeface="Times New Roman"/>
            </a:endParaRPr>
          </a:p>
          <a:p>
            <a:pPr marL="353695" marR="5715" indent="-341630" algn="just">
              <a:lnSpc>
                <a:spcPct val="100000"/>
              </a:lnSpc>
              <a:buSzPct val="90909"/>
              <a:buFont typeface="Calibri"/>
              <a:buChar char="●"/>
              <a:tabLst>
                <a:tab pos="354330" algn="l"/>
              </a:tabLst>
            </a:pPr>
            <a:r>
              <a:rPr sz="2200" spc="85" dirty="0">
                <a:latin typeface="Times New Roman"/>
                <a:cs typeface="Times New Roman"/>
              </a:rPr>
              <a:t>Synonyms </a:t>
            </a:r>
            <a:r>
              <a:rPr sz="2200" spc="80" dirty="0">
                <a:latin typeface="Times New Roman"/>
                <a:cs typeface="Times New Roman"/>
              </a:rPr>
              <a:t>provide </a:t>
            </a:r>
            <a:r>
              <a:rPr sz="2200" spc="35" dirty="0">
                <a:latin typeface="Times New Roman"/>
                <a:cs typeface="Times New Roman"/>
              </a:rPr>
              <a:t>a </a:t>
            </a:r>
            <a:r>
              <a:rPr sz="2200" spc="30" dirty="0">
                <a:latin typeface="Times New Roman"/>
                <a:cs typeface="Times New Roman"/>
              </a:rPr>
              <a:t>way </a:t>
            </a:r>
            <a:r>
              <a:rPr sz="2200" spc="120" dirty="0">
                <a:latin typeface="Times New Roman"/>
                <a:cs typeface="Times New Roman"/>
              </a:rPr>
              <a:t>to </a:t>
            </a:r>
            <a:r>
              <a:rPr sz="2200" spc="80" dirty="0">
                <a:latin typeface="Times New Roman"/>
                <a:cs typeface="Times New Roman"/>
              </a:rPr>
              <a:t>have </a:t>
            </a:r>
            <a:r>
              <a:rPr sz="2200" spc="114" dirty="0">
                <a:latin typeface="Times New Roman"/>
                <a:cs typeface="Times New Roman"/>
              </a:rPr>
              <a:t>an </a:t>
            </a:r>
            <a:r>
              <a:rPr sz="2200" spc="20" dirty="0">
                <a:latin typeface="Times New Roman"/>
                <a:cs typeface="Times New Roman"/>
              </a:rPr>
              <a:t>alias </a:t>
            </a:r>
            <a:r>
              <a:rPr sz="2200" spc="70" dirty="0">
                <a:latin typeface="Times New Roman"/>
                <a:cs typeface="Times New Roman"/>
              </a:rPr>
              <a:t>for </a:t>
            </a:r>
            <a:r>
              <a:rPr sz="2200" spc="35" dirty="0">
                <a:latin typeface="Times New Roman"/>
                <a:cs typeface="Times New Roman"/>
              </a:rPr>
              <a:t>a </a:t>
            </a:r>
            <a:r>
              <a:rPr sz="2200" spc="65" dirty="0">
                <a:latin typeface="Times New Roman"/>
                <a:cs typeface="Times New Roman"/>
              </a:rPr>
              <a:t>database object</a:t>
            </a:r>
            <a:r>
              <a:rPr sz="2200" spc="-120" dirty="0">
                <a:latin typeface="Times New Roman"/>
                <a:cs typeface="Times New Roman"/>
              </a:rPr>
              <a:t> </a:t>
            </a:r>
            <a:r>
              <a:rPr sz="2200" spc="120" dirty="0">
                <a:latin typeface="Times New Roman"/>
                <a:cs typeface="Times New Roman"/>
              </a:rPr>
              <a:t>that  </a:t>
            </a:r>
            <a:r>
              <a:rPr sz="2200" spc="45" dirty="0">
                <a:latin typeface="Times New Roman"/>
                <a:cs typeface="Times New Roman"/>
              </a:rPr>
              <a:t>may</a:t>
            </a:r>
            <a:r>
              <a:rPr sz="2200" spc="-90" dirty="0">
                <a:latin typeface="Times New Roman"/>
                <a:cs typeface="Times New Roman"/>
              </a:rPr>
              <a:t> </a:t>
            </a:r>
            <a:r>
              <a:rPr sz="2200" spc="60" dirty="0">
                <a:latin typeface="Times New Roman"/>
                <a:cs typeface="Times New Roman"/>
              </a:rPr>
              <a:t>exist</a:t>
            </a:r>
            <a:r>
              <a:rPr sz="2200" spc="-105" dirty="0">
                <a:latin typeface="Times New Roman"/>
                <a:cs typeface="Times New Roman"/>
              </a:rPr>
              <a:t> </a:t>
            </a:r>
            <a:r>
              <a:rPr sz="2200" spc="150" dirty="0">
                <a:latin typeface="Times New Roman"/>
                <a:cs typeface="Times New Roman"/>
              </a:rPr>
              <a:t>on</a:t>
            </a:r>
            <a:r>
              <a:rPr sz="2200" spc="-95" dirty="0">
                <a:latin typeface="Times New Roman"/>
                <a:cs typeface="Times New Roman"/>
              </a:rPr>
              <a:t> </a:t>
            </a:r>
            <a:r>
              <a:rPr sz="2200" spc="35" dirty="0">
                <a:latin typeface="Times New Roman"/>
                <a:cs typeface="Times New Roman"/>
              </a:rPr>
              <a:t>a</a:t>
            </a:r>
            <a:r>
              <a:rPr sz="2200" spc="-90" dirty="0">
                <a:latin typeface="Times New Roman"/>
                <a:cs typeface="Times New Roman"/>
              </a:rPr>
              <a:t> </a:t>
            </a:r>
            <a:r>
              <a:rPr sz="2200" spc="90" dirty="0">
                <a:latin typeface="Times New Roman"/>
                <a:cs typeface="Times New Roman"/>
              </a:rPr>
              <a:t>remote</a:t>
            </a:r>
            <a:r>
              <a:rPr sz="2200" spc="-105" dirty="0">
                <a:latin typeface="Times New Roman"/>
                <a:cs typeface="Times New Roman"/>
              </a:rPr>
              <a:t> </a:t>
            </a:r>
            <a:r>
              <a:rPr sz="2200" spc="95" dirty="0">
                <a:latin typeface="Times New Roman"/>
                <a:cs typeface="Times New Roman"/>
              </a:rPr>
              <a:t>or</a:t>
            </a:r>
            <a:r>
              <a:rPr sz="2200" spc="-95" dirty="0">
                <a:latin typeface="Times New Roman"/>
                <a:cs typeface="Times New Roman"/>
              </a:rPr>
              <a:t> </a:t>
            </a:r>
            <a:r>
              <a:rPr sz="2200" spc="30" dirty="0">
                <a:latin typeface="Times New Roman"/>
                <a:cs typeface="Times New Roman"/>
              </a:rPr>
              <a:t>local</a:t>
            </a:r>
            <a:r>
              <a:rPr sz="2200" spc="-100" dirty="0">
                <a:latin typeface="Times New Roman"/>
                <a:cs typeface="Times New Roman"/>
              </a:rPr>
              <a:t> </a:t>
            </a:r>
            <a:r>
              <a:rPr sz="2200" spc="50" dirty="0">
                <a:latin typeface="Times New Roman"/>
                <a:cs typeface="Times New Roman"/>
              </a:rPr>
              <a:t>server.</a:t>
            </a:r>
            <a:endParaRPr sz="2200">
              <a:latin typeface="Times New Roman"/>
              <a:cs typeface="Times New Roman"/>
            </a:endParaRPr>
          </a:p>
          <a:p>
            <a:pPr marL="353695" marR="5080" indent="-341630" algn="just">
              <a:lnSpc>
                <a:spcPct val="100000"/>
              </a:lnSpc>
              <a:buSzPct val="90909"/>
              <a:buFont typeface="Calibri"/>
              <a:buChar char="●"/>
              <a:tabLst>
                <a:tab pos="354330" algn="l"/>
              </a:tabLst>
            </a:pPr>
            <a:r>
              <a:rPr sz="2200" spc="75" dirty="0">
                <a:latin typeface="Times New Roman"/>
                <a:cs typeface="Times New Roman"/>
              </a:rPr>
              <a:t>Deterministic </a:t>
            </a:r>
            <a:r>
              <a:rPr sz="2200" spc="95" dirty="0">
                <a:latin typeface="Times New Roman"/>
                <a:cs typeface="Times New Roman"/>
              </a:rPr>
              <a:t>functions </a:t>
            </a:r>
            <a:r>
              <a:rPr sz="2200" spc="20" dirty="0">
                <a:latin typeface="Times New Roman"/>
                <a:cs typeface="Times New Roman"/>
              </a:rPr>
              <a:t>always </a:t>
            </a:r>
            <a:r>
              <a:rPr sz="2200" spc="120" dirty="0">
                <a:latin typeface="Times New Roman"/>
                <a:cs typeface="Times New Roman"/>
              </a:rPr>
              <a:t>return </a:t>
            </a:r>
            <a:r>
              <a:rPr sz="2200" spc="45" dirty="0">
                <a:latin typeface="Times New Roman"/>
                <a:cs typeface="Times New Roman"/>
              </a:rPr>
              <a:t>same </a:t>
            </a:r>
            <a:r>
              <a:rPr sz="2200" spc="70" dirty="0">
                <a:latin typeface="Times New Roman"/>
                <a:cs typeface="Times New Roman"/>
              </a:rPr>
              <a:t>result each </a:t>
            </a:r>
            <a:r>
              <a:rPr sz="2200" spc="75" dirty="0">
                <a:latin typeface="Times New Roman"/>
                <a:cs typeface="Times New Roman"/>
              </a:rPr>
              <a:t>time </a:t>
            </a:r>
            <a:r>
              <a:rPr sz="2200" spc="125" dirty="0">
                <a:latin typeface="Times New Roman"/>
                <a:cs typeface="Times New Roman"/>
              </a:rPr>
              <a:t>when  </a:t>
            </a:r>
            <a:r>
              <a:rPr sz="2200" spc="95" dirty="0">
                <a:latin typeface="Times New Roman"/>
                <a:cs typeface="Times New Roman"/>
              </a:rPr>
              <a:t>they</a:t>
            </a:r>
            <a:r>
              <a:rPr sz="2200" spc="-100" dirty="0">
                <a:latin typeface="Times New Roman"/>
                <a:cs typeface="Times New Roman"/>
              </a:rPr>
              <a:t> </a:t>
            </a:r>
            <a:r>
              <a:rPr sz="2200" spc="60" dirty="0">
                <a:latin typeface="Times New Roman"/>
                <a:cs typeface="Times New Roman"/>
              </a:rPr>
              <a:t>are</a:t>
            </a:r>
            <a:r>
              <a:rPr sz="2200" spc="-95" dirty="0">
                <a:latin typeface="Times New Roman"/>
                <a:cs typeface="Times New Roman"/>
              </a:rPr>
              <a:t> </a:t>
            </a:r>
            <a:r>
              <a:rPr sz="2200" spc="40" dirty="0">
                <a:latin typeface="Times New Roman"/>
                <a:cs typeface="Times New Roman"/>
              </a:rPr>
              <a:t>called</a:t>
            </a:r>
            <a:r>
              <a:rPr sz="2200" spc="-95" dirty="0">
                <a:latin typeface="Times New Roman"/>
                <a:cs typeface="Times New Roman"/>
              </a:rPr>
              <a:t> </a:t>
            </a:r>
            <a:r>
              <a:rPr sz="2200" spc="100" dirty="0">
                <a:latin typeface="Times New Roman"/>
                <a:cs typeface="Times New Roman"/>
              </a:rPr>
              <a:t>with</a:t>
            </a:r>
            <a:r>
              <a:rPr sz="2200" spc="-95" dirty="0">
                <a:latin typeface="Times New Roman"/>
                <a:cs typeface="Times New Roman"/>
              </a:rPr>
              <a:t> </a:t>
            </a:r>
            <a:r>
              <a:rPr sz="2200" spc="35" dirty="0">
                <a:latin typeface="Times New Roman"/>
                <a:cs typeface="Times New Roman"/>
              </a:rPr>
              <a:t>a</a:t>
            </a:r>
            <a:r>
              <a:rPr sz="2200" spc="-100" dirty="0">
                <a:latin typeface="Times New Roman"/>
                <a:cs typeface="Times New Roman"/>
              </a:rPr>
              <a:t> </a:t>
            </a:r>
            <a:r>
              <a:rPr sz="2200" spc="80" dirty="0">
                <a:latin typeface="Times New Roman"/>
                <a:cs typeface="Times New Roman"/>
              </a:rPr>
              <a:t>definite</a:t>
            </a:r>
            <a:r>
              <a:rPr sz="2200" spc="-95" dirty="0">
                <a:latin typeface="Times New Roman"/>
                <a:cs typeface="Times New Roman"/>
              </a:rPr>
              <a:t> </a:t>
            </a:r>
            <a:r>
              <a:rPr sz="2200" spc="65" dirty="0">
                <a:latin typeface="Times New Roman"/>
                <a:cs typeface="Times New Roman"/>
              </a:rPr>
              <a:t>set</a:t>
            </a:r>
            <a:r>
              <a:rPr sz="2200" spc="-105" dirty="0">
                <a:latin typeface="Times New Roman"/>
                <a:cs typeface="Times New Roman"/>
              </a:rPr>
              <a:t> </a:t>
            </a:r>
            <a:r>
              <a:rPr sz="2200" spc="65" dirty="0">
                <a:latin typeface="Times New Roman"/>
                <a:cs typeface="Times New Roman"/>
              </a:rPr>
              <a:t>of</a:t>
            </a:r>
            <a:r>
              <a:rPr sz="2200" spc="-95" dirty="0">
                <a:latin typeface="Times New Roman"/>
                <a:cs typeface="Times New Roman"/>
              </a:rPr>
              <a:t> </a:t>
            </a:r>
            <a:r>
              <a:rPr sz="2200" spc="125" dirty="0">
                <a:latin typeface="Times New Roman"/>
                <a:cs typeface="Times New Roman"/>
              </a:rPr>
              <a:t>input</a:t>
            </a:r>
            <a:r>
              <a:rPr sz="2200" spc="-95" dirty="0">
                <a:latin typeface="Times New Roman"/>
                <a:cs typeface="Times New Roman"/>
              </a:rPr>
              <a:t> </a:t>
            </a:r>
            <a:r>
              <a:rPr sz="2200" spc="45" dirty="0">
                <a:latin typeface="Times New Roman"/>
                <a:cs typeface="Times New Roman"/>
              </a:rPr>
              <a:t>values.</a:t>
            </a:r>
            <a:endParaRPr sz="2200">
              <a:latin typeface="Times New Roman"/>
              <a:cs typeface="Times New Roman"/>
            </a:endParaRPr>
          </a:p>
          <a:p>
            <a:pPr marL="353695" marR="5715" indent="-341630" algn="just">
              <a:lnSpc>
                <a:spcPct val="100000"/>
              </a:lnSpc>
              <a:buSzPct val="90909"/>
              <a:buFont typeface="Calibri"/>
              <a:buChar char="●"/>
              <a:tabLst>
                <a:tab pos="354330" algn="l"/>
              </a:tabLst>
            </a:pPr>
            <a:r>
              <a:rPr sz="2200" spc="85" dirty="0">
                <a:latin typeface="Times New Roman"/>
                <a:cs typeface="Times New Roman"/>
              </a:rPr>
              <a:t>Non-deterministic </a:t>
            </a:r>
            <a:r>
              <a:rPr sz="2200" spc="95" dirty="0">
                <a:latin typeface="Times New Roman"/>
                <a:cs typeface="Times New Roman"/>
              </a:rPr>
              <a:t>functions </a:t>
            </a:r>
            <a:r>
              <a:rPr sz="2200" spc="120" dirty="0">
                <a:latin typeface="Times New Roman"/>
                <a:cs typeface="Times New Roman"/>
              </a:rPr>
              <a:t>return </a:t>
            </a:r>
            <a:r>
              <a:rPr sz="2200" spc="80" dirty="0">
                <a:latin typeface="Times New Roman"/>
                <a:cs typeface="Times New Roman"/>
              </a:rPr>
              <a:t>different </a:t>
            </a:r>
            <a:r>
              <a:rPr sz="2200" spc="65" dirty="0">
                <a:latin typeface="Times New Roman"/>
                <a:cs typeface="Times New Roman"/>
              </a:rPr>
              <a:t>results </a:t>
            </a:r>
            <a:r>
              <a:rPr sz="2200" spc="45" dirty="0">
                <a:latin typeface="Times New Roman"/>
                <a:cs typeface="Times New Roman"/>
              </a:rPr>
              <a:t>every </a:t>
            </a:r>
            <a:r>
              <a:rPr sz="2200" spc="75" dirty="0">
                <a:latin typeface="Times New Roman"/>
                <a:cs typeface="Times New Roman"/>
              </a:rPr>
              <a:t>time  </a:t>
            </a:r>
            <a:r>
              <a:rPr sz="2200" spc="90" dirty="0">
                <a:latin typeface="Times New Roman"/>
                <a:cs typeface="Times New Roman"/>
              </a:rPr>
              <a:t>they </a:t>
            </a:r>
            <a:r>
              <a:rPr sz="2200" spc="55" dirty="0">
                <a:latin typeface="Times New Roman"/>
                <a:cs typeface="Times New Roman"/>
              </a:rPr>
              <a:t>are </a:t>
            </a:r>
            <a:r>
              <a:rPr sz="2200" spc="40" dirty="0">
                <a:latin typeface="Times New Roman"/>
                <a:cs typeface="Times New Roman"/>
              </a:rPr>
              <a:t>called </a:t>
            </a:r>
            <a:r>
              <a:rPr sz="2200" spc="95" dirty="0">
                <a:latin typeface="Times New Roman"/>
                <a:cs typeface="Times New Roman"/>
              </a:rPr>
              <a:t>with </a:t>
            </a:r>
            <a:r>
              <a:rPr sz="2200" spc="45" dirty="0">
                <a:latin typeface="Times New Roman"/>
                <a:cs typeface="Times New Roman"/>
              </a:rPr>
              <a:t>specified </a:t>
            </a:r>
            <a:r>
              <a:rPr sz="2200" spc="65" dirty="0">
                <a:latin typeface="Times New Roman"/>
                <a:cs typeface="Times New Roman"/>
              </a:rPr>
              <a:t>set of </a:t>
            </a:r>
            <a:r>
              <a:rPr sz="2200" spc="125" dirty="0">
                <a:latin typeface="Times New Roman"/>
                <a:cs typeface="Times New Roman"/>
              </a:rPr>
              <a:t>input </a:t>
            </a:r>
            <a:r>
              <a:rPr sz="2200" spc="50" dirty="0">
                <a:latin typeface="Times New Roman"/>
                <a:cs typeface="Times New Roman"/>
              </a:rPr>
              <a:t>values </a:t>
            </a:r>
            <a:r>
              <a:rPr sz="2200" spc="85" dirty="0">
                <a:latin typeface="Times New Roman"/>
                <a:cs typeface="Times New Roman"/>
              </a:rPr>
              <a:t>even </a:t>
            </a:r>
            <a:r>
              <a:rPr sz="2200" spc="125" dirty="0">
                <a:latin typeface="Times New Roman"/>
                <a:cs typeface="Times New Roman"/>
              </a:rPr>
              <a:t>though </a:t>
            </a:r>
            <a:r>
              <a:rPr sz="2200" spc="120" dirty="0">
                <a:latin typeface="Times New Roman"/>
                <a:cs typeface="Times New Roman"/>
              </a:rPr>
              <a:t>the  </a:t>
            </a:r>
            <a:r>
              <a:rPr sz="2200" spc="65" dirty="0">
                <a:latin typeface="Times New Roman"/>
                <a:cs typeface="Times New Roman"/>
              </a:rPr>
              <a:t>database</a:t>
            </a:r>
            <a:r>
              <a:rPr sz="2200" spc="-110" dirty="0">
                <a:latin typeface="Times New Roman"/>
                <a:cs typeface="Times New Roman"/>
              </a:rPr>
              <a:t> </a:t>
            </a:r>
            <a:r>
              <a:rPr sz="2200" spc="125" dirty="0">
                <a:latin typeface="Times New Roman"/>
                <a:cs typeface="Times New Roman"/>
              </a:rPr>
              <a:t>that</a:t>
            </a:r>
            <a:r>
              <a:rPr sz="2200" spc="-100" dirty="0">
                <a:latin typeface="Times New Roman"/>
                <a:cs typeface="Times New Roman"/>
              </a:rPr>
              <a:t> </a:t>
            </a:r>
            <a:r>
              <a:rPr sz="2200" spc="5" dirty="0">
                <a:latin typeface="Times New Roman"/>
                <a:cs typeface="Times New Roman"/>
              </a:rPr>
              <a:t>is</a:t>
            </a:r>
            <a:r>
              <a:rPr sz="2200" spc="-90" dirty="0">
                <a:latin typeface="Times New Roman"/>
                <a:cs typeface="Times New Roman"/>
              </a:rPr>
              <a:t> </a:t>
            </a:r>
            <a:r>
              <a:rPr sz="2200" spc="40" dirty="0">
                <a:latin typeface="Times New Roman"/>
                <a:cs typeface="Times New Roman"/>
              </a:rPr>
              <a:t>accessed</a:t>
            </a:r>
            <a:r>
              <a:rPr sz="2200" spc="-100" dirty="0">
                <a:latin typeface="Times New Roman"/>
                <a:cs typeface="Times New Roman"/>
              </a:rPr>
              <a:t> </a:t>
            </a:r>
            <a:r>
              <a:rPr sz="2200" spc="70" dirty="0">
                <a:latin typeface="Times New Roman"/>
                <a:cs typeface="Times New Roman"/>
              </a:rPr>
              <a:t>remains</a:t>
            </a:r>
            <a:r>
              <a:rPr sz="2200" spc="-95" dirty="0">
                <a:latin typeface="Times New Roman"/>
                <a:cs typeface="Times New Roman"/>
              </a:rPr>
              <a:t> </a:t>
            </a:r>
            <a:r>
              <a:rPr sz="2200" spc="125" dirty="0">
                <a:latin typeface="Times New Roman"/>
                <a:cs typeface="Times New Roman"/>
              </a:rPr>
              <a:t>the</a:t>
            </a:r>
            <a:r>
              <a:rPr sz="2200" spc="-95" dirty="0">
                <a:latin typeface="Times New Roman"/>
                <a:cs typeface="Times New Roman"/>
              </a:rPr>
              <a:t> </a:t>
            </a:r>
            <a:r>
              <a:rPr sz="2200" spc="40" dirty="0">
                <a:latin typeface="Times New Roman"/>
                <a:cs typeface="Times New Roman"/>
              </a:rPr>
              <a:t>same.</a:t>
            </a:r>
            <a:endParaRPr sz="2200">
              <a:latin typeface="Times New Roman"/>
              <a:cs typeface="Times New Roman"/>
            </a:endParaRPr>
          </a:p>
          <a:p>
            <a:pPr marL="353695" indent="-341630" algn="just">
              <a:lnSpc>
                <a:spcPct val="100000"/>
              </a:lnSpc>
              <a:spcBef>
                <a:spcPts val="5"/>
              </a:spcBef>
              <a:buSzPct val="90909"/>
              <a:buFont typeface="Calibri"/>
              <a:buChar char="●"/>
              <a:tabLst>
                <a:tab pos="354330" algn="l"/>
              </a:tabLst>
            </a:pPr>
            <a:r>
              <a:rPr sz="2200" spc="195" dirty="0">
                <a:latin typeface="Times New Roman"/>
                <a:cs typeface="Times New Roman"/>
              </a:rPr>
              <a:t>A</a:t>
            </a:r>
            <a:r>
              <a:rPr sz="2200" spc="-85" dirty="0">
                <a:latin typeface="Times New Roman"/>
                <a:cs typeface="Times New Roman"/>
              </a:rPr>
              <a:t> </a:t>
            </a:r>
            <a:r>
              <a:rPr sz="2200" spc="95" dirty="0">
                <a:latin typeface="Times New Roman"/>
                <a:cs typeface="Times New Roman"/>
              </a:rPr>
              <a:t>window</a:t>
            </a:r>
            <a:r>
              <a:rPr sz="2200" spc="-90" dirty="0">
                <a:latin typeface="Times New Roman"/>
                <a:cs typeface="Times New Roman"/>
              </a:rPr>
              <a:t> </a:t>
            </a:r>
            <a:r>
              <a:rPr sz="2200" spc="105" dirty="0">
                <a:latin typeface="Times New Roman"/>
                <a:cs typeface="Times New Roman"/>
              </a:rPr>
              <a:t>function</a:t>
            </a:r>
            <a:r>
              <a:rPr sz="2200" spc="-95" dirty="0">
                <a:latin typeface="Times New Roman"/>
                <a:cs typeface="Times New Roman"/>
              </a:rPr>
              <a:t> </a:t>
            </a:r>
            <a:r>
              <a:rPr sz="2200" spc="5" dirty="0">
                <a:latin typeface="Times New Roman"/>
                <a:cs typeface="Times New Roman"/>
              </a:rPr>
              <a:t>is</a:t>
            </a:r>
            <a:r>
              <a:rPr sz="2200" spc="-85" dirty="0">
                <a:latin typeface="Times New Roman"/>
                <a:cs typeface="Times New Roman"/>
              </a:rPr>
              <a:t> </a:t>
            </a:r>
            <a:r>
              <a:rPr sz="2200" spc="35" dirty="0">
                <a:latin typeface="Times New Roman"/>
                <a:cs typeface="Times New Roman"/>
              </a:rPr>
              <a:t>a</a:t>
            </a:r>
            <a:r>
              <a:rPr sz="2200" spc="-85" dirty="0">
                <a:latin typeface="Times New Roman"/>
                <a:cs typeface="Times New Roman"/>
              </a:rPr>
              <a:t> </a:t>
            </a:r>
            <a:r>
              <a:rPr sz="2200" spc="105" dirty="0">
                <a:latin typeface="Times New Roman"/>
                <a:cs typeface="Times New Roman"/>
              </a:rPr>
              <a:t>function</a:t>
            </a:r>
            <a:r>
              <a:rPr sz="2200" spc="-95" dirty="0">
                <a:latin typeface="Times New Roman"/>
                <a:cs typeface="Times New Roman"/>
              </a:rPr>
              <a:t> </a:t>
            </a:r>
            <a:r>
              <a:rPr sz="2200" spc="125" dirty="0">
                <a:latin typeface="Times New Roman"/>
                <a:cs typeface="Times New Roman"/>
              </a:rPr>
              <a:t>that</a:t>
            </a:r>
            <a:r>
              <a:rPr sz="2200" spc="-100" dirty="0">
                <a:latin typeface="Times New Roman"/>
                <a:cs typeface="Times New Roman"/>
              </a:rPr>
              <a:t> </a:t>
            </a:r>
            <a:r>
              <a:rPr sz="2200" spc="50" dirty="0">
                <a:latin typeface="Times New Roman"/>
                <a:cs typeface="Times New Roman"/>
              </a:rPr>
              <a:t>applies</a:t>
            </a:r>
            <a:r>
              <a:rPr sz="2200" spc="-85" dirty="0">
                <a:latin typeface="Times New Roman"/>
                <a:cs typeface="Times New Roman"/>
              </a:rPr>
              <a:t> </a:t>
            </a:r>
            <a:r>
              <a:rPr sz="2200" spc="120" dirty="0">
                <a:latin typeface="Times New Roman"/>
                <a:cs typeface="Times New Roman"/>
              </a:rPr>
              <a:t>to</a:t>
            </a:r>
            <a:r>
              <a:rPr sz="2200" spc="-95" dirty="0">
                <a:latin typeface="Times New Roman"/>
                <a:cs typeface="Times New Roman"/>
              </a:rPr>
              <a:t> </a:t>
            </a:r>
            <a:r>
              <a:rPr sz="2200" spc="35" dirty="0">
                <a:latin typeface="Times New Roman"/>
                <a:cs typeface="Times New Roman"/>
              </a:rPr>
              <a:t>a</a:t>
            </a:r>
            <a:r>
              <a:rPr sz="2200" spc="-85" dirty="0">
                <a:latin typeface="Times New Roman"/>
                <a:cs typeface="Times New Roman"/>
              </a:rPr>
              <a:t> </a:t>
            </a:r>
            <a:r>
              <a:rPr sz="2200" spc="65" dirty="0">
                <a:latin typeface="Times New Roman"/>
                <a:cs typeface="Times New Roman"/>
              </a:rPr>
              <a:t>collection</a:t>
            </a:r>
            <a:r>
              <a:rPr sz="2200" spc="-95" dirty="0">
                <a:latin typeface="Times New Roman"/>
                <a:cs typeface="Times New Roman"/>
              </a:rPr>
              <a:t> </a:t>
            </a:r>
            <a:r>
              <a:rPr sz="2200" spc="65" dirty="0">
                <a:latin typeface="Times New Roman"/>
                <a:cs typeface="Times New Roman"/>
              </a:rPr>
              <a:t>of</a:t>
            </a:r>
            <a:r>
              <a:rPr sz="2200" spc="-90" dirty="0">
                <a:latin typeface="Times New Roman"/>
                <a:cs typeface="Times New Roman"/>
              </a:rPr>
              <a:t> </a:t>
            </a:r>
            <a:r>
              <a:rPr sz="2200" spc="50" dirty="0">
                <a:latin typeface="Times New Roman"/>
                <a:cs typeface="Times New Roman"/>
              </a:rPr>
              <a:t>rows.</a:t>
            </a:r>
            <a:endParaRPr sz="22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559</TotalTime>
  <Words>5573</Words>
  <Application>Microsoft Office PowerPoint</Application>
  <PresentationFormat>On-screen Show (4:3)</PresentationFormat>
  <Paragraphs>553</Paragraphs>
  <Slides>34</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Book Antiqua</vt:lpstr>
      <vt:lpstr>Calibri</vt:lpstr>
      <vt:lpstr>Courier New</vt:lpstr>
      <vt:lpstr>Palatino Linotype</vt:lpstr>
      <vt:lpstr>Segoe UI Symbol</vt:lpstr>
      <vt:lpstr>Times New Roman</vt:lpstr>
      <vt:lpstr>Wingdings</vt:lpstr>
      <vt:lpstr>Office Theme</vt:lpstr>
      <vt:lpstr>Intelligent Data Management with  SQL Server</vt:lpstr>
      <vt:lpstr>Objectives</vt:lpstr>
      <vt:lpstr>Introduction</vt:lpstr>
      <vt:lpstr>Transact-SQL Programming Elements 1-3</vt:lpstr>
      <vt:lpstr>Transact-SQL Programming Elements 2-3</vt:lpstr>
      <vt:lpstr>Transact-SQL Programming Elements 3-3</vt:lpstr>
      <vt:lpstr>Transact-SQL Batches 1-2</vt:lpstr>
      <vt:lpstr>Transact-SQL Batches 2-2</vt:lpstr>
      <vt:lpstr>Transact-SQL Variables 1-3</vt:lpstr>
      <vt:lpstr>Transact-SQL Variables 2-3</vt:lpstr>
      <vt:lpstr>Transact-SQL Variables 3-3</vt:lpstr>
      <vt:lpstr>Synonyms 1-5</vt:lpstr>
      <vt:lpstr>Synonyms 2-5</vt:lpstr>
      <vt:lpstr>Synonyms 3-5</vt:lpstr>
      <vt:lpstr>Synonyms 4-5</vt:lpstr>
      <vt:lpstr>Synonyms 5-5</vt:lpstr>
      <vt:lpstr>Program Flow Statements 1-2</vt:lpstr>
      <vt:lpstr>Program Flow Statements 2-2</vt:lpstr>
      <vt:lpstr>Transact-SQL Functions 1-3</vt:lpstr>
      <vt:lpstr>Transact-SQL Functions 2-3</vt:lpstr>
      <vt:lpstr>Transact-SQL Functions 3-3</vt:lpstr>
      <vt:lpstr>Altering User-defined Functions 1-2</vt:lpstr>
      <vt:lpstr>Altering User-defined Functions 2-2</vt:lpstr>
      <vt:lpstr>Creation of Windows with OVER</vt:lpstr>
      <vt:lpstr>Windowing Components</vt:lpstr>
      <vt:lpstr>Windowing Components 1-3</vt:lpstr>
      <vt:lpstr>Windowing Components 2-3</vt:lpstr>
      <vt:lpstr>Windowing Components 3-3</vt:lpstr>
      <vt:lpstr>Window Functions 1-5</vt:lpstr>
      <vt:lpstr>Window Functions 2-5</vt:lpstr>
      <vt:lpstr>Window Functions 3-5</vt:lpstr>
      <vt:lpstr>Window Functions 4-5</vt:lpstr>
      <vt:lpstr>Window Functions 5-5</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226</cp:revision>
  <dcterms:created xsi:type="dcterms:W3CDTF">2021-10-11T16:11:25Z</dcterms:created>
  <dcterms:modified xsi:type="dcterms:W3CDTF">2021-10-26T03:22:50Z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