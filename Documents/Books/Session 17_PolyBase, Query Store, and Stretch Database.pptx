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7375" autoAdjust="0"/>
  </p:normalViewPr>
  <p:slideViewPr>
    <p:cSldViewPr>
      <p:cViewPr varScale="1">
        <p:scale>
          <a:sx n="58" d="100"/>
          <a:sy n="58" d="100"/>
        </p:scale>
        <p:origin x="2170"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AE5A0E41-0CFC-4D97-9D3E-565309C4E09C}" type="datetimeFigureOut">
              <a:rPr lang="en-US" smtClean="0"/>
              <a:t>10/31/2021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52B0ADB8-CD9A-443E-B573-7F057FE2C40E}" type="slidenum">
              <a:rPr lang="en-US" smtClean="0"/>
              <a:t>‹#›</a:t>
            </a:fld>
            <a:endParaRPr lang="en-US"/>
          </a:p>
        </p:txBody>
      </p:sp>
    </p:spTree>
    <p:extLst>
      <p:ext uri="{BB962C8B-B14F-4D97-AF65-F5344CB8AC3E}">
        <p14:creationId xmlns:p14="http://schemas.microsoft.com/office/powerpoint/2010/main" val="3460968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Phiên 17:</a:t>
            </a:r>
          </a:p>
          <a:p>
            <a:r>
              <a:rPr lang="vi-VN" b="1"/>
              <a:t>Polybase, </a:t>
            </a:r>
            <a:r>
              <a:rPr lang="en-US" b="1"/>
              <a:t>kho </a:t>
            </a:r>
            <a:r>
              <a:rPr lang="vi-VN" b="1"/>
              <a:t>truy vấn và cơ sở dữ liệu </a:t>
            </a:r>
            <a:r>
              <a:rPr lang="en-US" b="1"/>
              <a:t>phân chia</a:t>
            </a:r>
          </a:p>
          <a:p>
            <a:endParaRPr lang="en-US"/>
          </a:p>
        </p:txBody>
      </p:sp>
      <p:sp>
        <p:nvSpPr>
          <p:cNvPr id="4" name="Slide Number Placeholder 3"/>
          <p:cNvSpPr>
            <a:spLocks noGrp="1"/>
          </p:cNvSpPr>
          <p:nvPr>
            <p:ph type="sldNum" sz="quarter" idx="5"/>
          </p:nvPr>
        </p:nvSpPr>
        <p:spPr/>
        <p:txBody>
          <a:bodyPr/>
          <a:lstStyle/>
          <a:p>
            <a:fld id="{52B0ADB8-CD9A-443E-B573-7F057FE2C40E}" type="slidenum">
              <a:rPr lang="en-US" smtClean="0"/>
              <a:t>1</a:t>
            </a:fld>
            <a:endParaRPr lang="en-US"/>
          </a:p>
        </p:txBody>
      </p:sp>
    </p:spTree>
    <p:extLst>
      <p:ext uri="{BB962C8B-B14F-4D97-AF65-F5344CB8AC3E}">
        <p14:creationId xmlns:p14="http://schemas.microsoft.com/office/powerpoint/2010/main" val="1452827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vi-VN" b="0"/>
              <a:t>Mô tả polybase.</a:t>
            </a:r>
          </a:p>
          <a:p>
            <a:pPr marL="171450" indent="-171450">
              <a:buFont typeface="Arial" panose="020B0604020202020204" pitchFamily="34" charset="0"/>
              <a:buChar char="•"/>
            </a:pPr>
            <a:r>
              <a:rPr lang="vi-VN" b="0"/>
              <a:t>Giải thích các tính năng và ưu điểm của Polybase</a:t>
            </a:r>
          </a:p>
          <a:p>
            <a:pPr marL="171450" indent="-171450">
              <a:buFont typeface="Arial" panose="020B0604020202020204" pitchFamily="34" charset="0"/>
              <a:buChar char="•"/>
            </a:pPr>
            <a:r>
              <a:rPr lang="vi-VN" b="0"/>
              <a:t>Xác định và mô tả </a:t>
            </a:r>
            <a:r>
              <a:rPr lang="en-US" b="0"/>
              <a:t>kho </a:t>
            </a:r>
            <a:r>
              <a:rPr lang="vi-VN" b="0"/>
              <a:t>truy vấn</a:t>
            </a:r>
            <a:r>
              <a:rPr lang="en-US" b="0"/>
              <a:t> (</a:t>
            </a:r>
            <a:r>
              <a:rPr lang="vi-VN" b="0"/>
              <a:t>Store Query</a:t>
            </a:r>
            <a:r>
              <a:rPr lang="en-US" b="0"/>
              <a:t>)</a:t>
            </a:r>
            <a:endParaRPr lang="vi-VN" b="0"/>
          </a:p>
          <a:p>
            <a:pPr marL="171450" indent="-171450">
              <a:buFont typeface="Arial" panose="020B0604020202020204" pitchFamily="34" charset="0"/>
              <a:buChar char="•"/>
            </a:pPr>
            <a:r>
              <a:rPr lang="vi-VN" b="0"/>
              <a:t>Giải thích cách kéo dài động </a:t>
            </a:r>
            <a:r>
              <a:rPr lang="en-US" b="0"/>
              <a:t>nóng </a:t>
            </a:r>
            <a:r>
              <a:rPr lang="vi-VN" b="0"/>
              <a:t>và lạnh giao dịch dữ liệu từ SQL Server sang Azure</a:t>
            </a:r>
          </a:p>
          <a:p>
            <a:pPr marL="171450" indent="-171450">
              <a:buFont typeface="Arial" panose="020B0604020202020204" pitchFamily="34" charset="0"/>
              <a:buChar char="•"/>
            </a:pPr>
            <a:r>
              <a:rPr lang="vi-VN" b="0"/>
              <a:t>Mô tả cách điều chỉnh hiệu suất khối lượng công việc với Store Query</a:t>
            </a:r>
            <a:endParaRPr lang="en-US" b="0"/>
          </a:p>
        </p:txBody>
      </p:sp>
      <p:sp>
        <p:nvSpPr>
          <p:cNvPr id="4" name="Slide Number Placeholder 3"/>
          <p:cNvSpPr>
            <a:spLocks noGrp="1"/>
          </p:cNvSpPr>
          <p:nvPr>
            <p:ph type="sldNum" sz="quarter" idx="5"/>
          </p:nvPr>
        </p:nvSpPr>
        <p:spPr/>
        <p:txBody>
          <a:bodyPr/>
          <a:lstStyle/>
          <a:p>
            <a:fld id="{52B0ADB8-CD9A-443E-B573-7F057FE2C40E}" type="slidenum">
              <a:rPr lang="en-US" smtClean="0"/>
              <a:t>2</a:t>
            </a:fld>
            <a:endParaRPr lang="en-US"/>
          </a:p>
        </p:txBody>
      </p:sp>
    </p:spTree>
    <p:extLst>
      <p:ext uri="{BB962C8B-B14F-4D97-AF65-F5344CB8AC3E}">
        <p14:creationId xmlns:p14="http://schemas.microsoft.com/office/powerpoint/2010/main" val="545666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Hiểu biết về Polybase 1-2</a:t>
            </a:r>
          </a:p>
          <a:p>
            <a:pPr marL="171450" indent="-171450">
              <a:buFont typeface="Arial" panose="020B0604020202020204" pitchFamily="34" charset="0"/>
              <a:buChar char="•"/>
            </a:pPr>
            <a:r>
              <a:rPr lang="vi-VN" b="1"/>
              <a:t>Polybase</a:t>
            </a:r>
            <a:r>
              <a:rPr lang="vi-VN"/>
              <a:t> cho phép phiên bản SQL Server của bạn xử lý các truy vấn Transact-SQL đọc dữ liệu từ các nguồn dữ liệu ngoài.</a:t>
            </a:r>
          </a:p>
          <a:p>
            <a:pPr marL="171450" indent="-171450">
              <a:buFont typeface="Arial" panose="020B0604020202020204" pitchFamily="34" charset="0"/>
              <a:buChar char="•"/>
            </a:pPr>
            <a:r>
              <a:rPr lang="vi-VN"/>
              <a:t>SQL Server 2016 và các phiên bản cao hơn có thể truy cập dữ liệu ngoài trong lưu trữ </a:t>
            </a:r>
            <a:r>
              <a:rPr lang="vi-VN" b="1"/>
              <a:t>Hadoop</a:t>
            </a:r>
            <a:r>
              <a:rPr lang="vi-VN"/>
              <a:t> và </a:t>
            </a:r>
            <a:r>
              <a:rPr lang="vi-VN" b="1"/>
              <a:t>Azure Blob</a:t>
            </a:r>
            <a:endParaRPr lang="en-US" b="1"/>
          </a:p>
          <a:p>
            <a:pPr marL="171450" indent="-171450">
              <a:buFont typeface="Arial" panose="020B0604020202020204" pitchFamily="34" charset="0"/>
              <a:buChar char="•"/>
            </a:pPr>
            <a:r>
              <a:rPr lang="vi-VN" b="0"/>
              <a:t>Các truy vấn truy cập dữ liệu ngoài cũng có thể sử dụng để nhắm mục tiêu các bảng quan hệ trong phiên bản SQL Server của bạn.</a:t>
            </a:r>
          </a:p>
          <a:p>
            <a:pPr marL="171450" indent="-171450">
              <a:buFont typeface="Arial" panose="020B0604020202020204" pitchFamily="34" charset="0"/>
              <a:buChar char="•"/>
            </a:pPr>
            <a:r>
              <a:rPr lang="vi-VN" b="0"/>
              <a:t>Điều này cho phép kết hợp dữ liệu từ các nguồn bên ngoài với dữ liệu quan hệ có giá trị cao trong cơ sở dữ liệu của bạn.</a:t>
            </a:r>
            <a:endParaRPr lang="en-US" b="0"/>
          </a:p>
        </p:txBody>
      </p:sp>
      <p:sp>
        <p:nvSpPr>
          <p:cNvPr id="4" name="Slide Number Placeholder 3"/>
          <p:cNvSpPr>
            <a:spLocks noGrp="1"/>
          </p:cNvSpPr>
          <p:nvPr>
            <p:ph type="sldNum" sz="quarter" idx="5"/>
          </p:nvPr>
        </p:nvSpPr>
        <p:spPr/>
        <p:txBody>
          <a:bodyPr/>
          <a:lstStyle/>
          <a:p>
            <a:fld id="{52B0ADB8-CD9A-443E-B573-7F057FE2C40E}" type="slidenum">
              <a:rPr lang="en-US" smtClean="0"/>
              <a:t>3</a:t>
            </a:fld>
            <a:endParaRPr lang="en-US"/>
          </a:p>
        </p:txBody>
      </p:sp>
    </p:spTree>
    <p:extLst>
      <p:ext uri="{BB962C8B-B14F-4D97-AF65-F5344CB8AC3E}">
        <p14:creationId xmlns:p14="http://schemas.microsoft.com/office/powerpoint/2010/main" val="3050040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Hiểu biết về Polybase 2-2</a:t>
            </a:r>
          </a:p>
          <a:p>
            <a:pPr marL="171450" indent="-171450">
              <a:buFont typeface="Arial" panose="020B0604020202020204" pitchFamily="34" charset="0"/>
              <a:buChar char="•"/>
            </a:pPr>
            <a:r>
              <a:rPr lang="en-US"/>
              <a:t>Polybase cho phép các kịch bản sau trong SQL Server:</a:t>
            </a:r>
          </a:p>
          <a:p>
            <a:pPr marL="628650" lvl="1" indent="-171450">
              <a:buFont typeface="Arial" panose="020B0604020202020204" pitchFamily="34" charset="0"/>
              <a:buChar char="•"/>
            </a:pPr>
            <a:r>
              <a:rPr lang="vi-VN"/>
              <a:t>Dữ liệu truy vấn được lưu trữ trong </a:t>
            </a:r>
            <a:r>
              <a:rPr lang="vi-VN" b="1"/>
              <a:t>Hadoop</a:t>
            </a:r>
            <a:r>
              <a:rPr lang="vi-VN"/>
              <a:t> từ SQL Server hoặc Kho dữ liệu song song (PDW)</a:t>
            </a:r>
            <a:endParaRPr lang="en-US"/>
          </a:p>
          <a:p>
            <a:pPr marL="628650" lvl="1" indent="-171450">
              <a:buFont typeface="Arial" panose="020B0604020202020204" pitchFamily="34" charset="0"/>
              <a:buChar char="•"/>
            </a:pPr>
            <a:r>
              <a:rPr lang="vi-VN"/>
              <a:t>Dữ liệu truy vấn được lưu trữ trong </a:t>
            </a:r>
            <a:r>
              <a:rPr lang="en-US" sz="1200" b="1" spc="-5">
                <a:latin typeface="Arial"/>
                <a:cs typeface="Arial"/>
              </a:rPr>
              <a:t>Azure</a:t>
            </a:r>
            <a:r>
              <a:rPr lang="en-US" sz="1200" b="1" spc="-110">
                <a:latin typeface="Arial"/>
                <a:cs typeface="Arial"/>
              </a:rPr>
              <a:t> </a:t>
            </a:r>
            <a:r>
              <a:rPr lang="en-US" sz="1200" b="1">
                <a:latin typeface="Arial"/>
                <a:cs typeface="Arial"/>
              </a:rPr>
              <a:t>Blob</a:t>
            </a:r>
            <a:r>
              <a:rPr lang="en-US" sz="1200" b="1" spc="-105">
                <a:latin typeface="Arial"/>
                <a:cs typeface="Arial"/>
              </a:rPr>
              <a:t> </a:t>
            </a:r>
            <a:r>
              <a:rPr lang="en-US" sz="1200" b="1" spc="-55">
                <a:latin typeface="Arial"/>
                <a:cs typeface="Arial"/>
              </a:rPr>
              <a:t>Storage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0" spc="-55">
                <a:latin typeface="Arial"/>
                <a:cs typeface="Arial"/>
              </a:rPr>
              <a:t>Nhập dữ liệu từ </a:t>
            </a:r>
            <a:r>
              <a:rPr lang="vi-VN" sz="1200" b="1" spc="-55">
                <a:latin typeface="Arial"/>
                <a:cs typeface="Arial"/>
              </a:rPr>
              <a:t>Hadoop</a:t>
            </a:r>
            <a:r>
              <a:rPr lang="vi-VN" sz="1200" b="0" spc="-55">
                <a:latin typeface="Arial"/>
                <a:cs typeface="Arial"/>
              </a:rPr>
              <a:t>, </a:t>
            </a:r>
            <a:r>
              <a:rPr lang="en-US" sz="1200" b="1" spc="-5">
                <a:latin typeface="Arial"/>
                <a:cs typeface="Arial"/>
              </a:rPr>
              <a:t>Azure</a:t>
            </a:r>
            <a:r>
              <a:rPr lang="en-US" sz="1200" b="1" spc="-110">
                <a:latin typeface="Arial"/>
                <a:cs typeface="Arial"/>
              </a:rPr>
              <a:t> </a:t>
            </a:r>
            <a:r>
              <a:rPr lang="en-US" sz="1200" b="1">
                <a:latin typeface="Arial"/>
                <a:cs typeface="Arial"/>
              </a:rPr>
              <a:t>Blob</a:t>
            </a:r>
            <a:r>
              <a:rPr lang="en-US" sz="1200" b="1" spc="-105">
                <a:latin typeface="Arial"/>
                <a:cs typeface="Arial"/>
              </a:rPr>
              <a:t> </a:t>
            </a:r>
            <a:r>
              <a:rPr lang="en-US" sz="1200" b="1" spc="-55">
                <a:latin typeface="Arial"/>
                <a:cs typeface="Arial"/>
              </a:rPr>
              <a:t>Storage</a:t>
            </a:r>
            <a:r>
              <a:rPr lang="vi-VN" sz="1200" b="0" spc="-55">
                <a:latin typeface="Arial"/>
                <a:cs typeface="Arial"/>
              </a:rPr>
              <a:t>, hoặc </a:t>
            </a:r>
            <a:r>
              <a:rPr lang="en-US" sz="1200" b="1" spc="-5">
                <a:latin typeface="Arial"/>
                <a:cs typeface="Arial"/>
              </a:rPr>
              <a:t>Azure </a:t>
            </a:r>
            <a:r>
              <a:rPr lang="en-US" sz="1200" b="1" spc="-25">
                <a:latin typeface="Arial"/>
                <a:cs typeface="Arial"/>
              </a:rPr>
              <a:t>Data </a:t>
            </a:r>
            <a:r>
              <a:rPr lang="en-US" sz="1200" b="1" spc="-40">
                <a:latin typeface="Arial"/>
                <a:cs typeface="Arial"/>
              </a:rPr>
              <a:t>Lake</a:t>
            </a:r>
            <a:r>
              <a:rPr lang="en-US" sz="1200" b="1" spc="-195">
                <a:latin typeface="Arial"/>
                <a:cs typeface="Arial"/>
              </a:rPr>
              <a:t> </a:t>
            </a:r>
            <a:r>
              <a:rPr lang="en-US" sz="1200" b="1" spc="-20">
                <a:latin typeface="Arial"/>
                <a:cs typeface="Arial"/>
              </a:rPr>
              <a:t>Store</a:t>
            </a:r>
            <a:endParaRPr lang="en-US" sz="1200" b="1">
              <a:latin typeface="Arial"/>
              <a:cs typeface="Arial"/>
            </a:endParaRPr>
          </a:p>
          <a:p>
            <a:pPr marL="628650" lvl="1" indent="-171450">
              <a:buFont typeface="Arial" panose="020B0604020202020204" pitchFamily="34" charset="0"/>
              <a:buChar char="•"/>
            </a:pPr>
            <a:r>
              <a:rPr lang="vi-VN" sz="1200" b="0" spc="-55">
                <a:latin typeface="Arial"/>
                <a:cs typeface="Arial"/>
              </a:rPr>
              <a:t>Xuất dữ liệu sang </a:t>
            </a:r>
            <a:r>
              <a:rPr lang="vi-VN" sz="1200" b="1" spc="-55">
                <a:latin typeface="Arial"/>
                <a:cs typeface="Arial"/>
              </a:rPr>
              <a:t>Hadoop</a:t>
            </a:r>
            <a:r>
              <a:rPr lang="vi-VN" sz="1200" b="0" spc="-55">
                <a:latin typeface="Arial"/>
                <a:cs typeface="Arial"/>
              </a:rPr>
              <a:t>, </a:t>
            </a:r>
            <a:r>
              <a:rPr lang="en-US" sz="1200" b="1" spc="-5">
                <a:latin typeface="Arial"/>
                <a:cs typeface="Arial"/>
              </a:rPr>
              <a:t>Azure</a:t>
            </a:r>
            <a:r>
              <a:rPr lang="en-US" sz="1200" b="1" spc="-110">
                <a:latin typeface="Arial"/>
                <a:cs typeface="Arial"/>
              </a:rPr>
              <a:t> </a:t>
            </a:r>
            <a:r>
              <a:rPr lang="en-US" sz="1200" b="1">
                <a:latin typeface="Arial"/>
                <a:cs typeface="Arial"/>
              </a:rPr>
              <a:t>Blob</a:t>
            </a:r>
            <a:r>
              <a:rPr lang="en-US" sz="1200" b="1" spc="-105">
                <a:latin typeface="Arial"/>
                <a:cs typeface="Arial"/>
              </a:rPr>
              <a:t> </a:t>
            </a:r>
            <a:r>
              <a:rPr lang="en-US" sz="1200" b="1" spc="-55">
                <a:latin typeface="Arial"/>
                <a:cs typeface="Arial"/>
              </a:rPr>
              <a:t>Storage </a:t>
            </a:r>
            <a:r>
              <a:rPr lang="vi-VN" sz="1200" b="0" spc="-55">
                <a:latin typeface="Arial"/>
                <a:cs typeface="Arial"/>
              </a:rPr>
              <a:t>hoặc </a:t>
            </a:r>
            <a:r>
              <a:rPr lang="en-US" sz="1200" b="1" spc="-5">
                <a:latin typeface="Arial"/>
                <a:cs typeface="Arial"/>
              </a:rPr>
              <a:t>Azure </a:t>
            </a:r>
            <a:r>
              <a:rPr lang="en-US" sz="1200" b="1" spc="-25">
                <a:latin typeface="Arial"/>
                <a:cs typeface="Arial"/>
              </a:rPr>
              <a:t>Data </a:t>
            </a:r>
            <a:r>
              <a:rPr lang="en-US" sz="1200" b="1" spc="-40">
                <a:latin typeface="Arial"/>
                <a:cs typeface="Arial"/>
              </a:rPr>
              <a:t>Lake</a:t>
            </a:r>
            <a:r>
              <a:rPr lang="en-US" sz="1200" b="1" spc="-195">
                <a:latin typeface="Arial"/>
                <a:cs typeface="Arial"/>
              </a:rPr>
              <a:t> </a:t>
            </a:r>
            <a:r>
              <a:rPr lang="en-US" sz="1200" b="1" spc="-20">
                <a:latin typeface="Arial"/>
                <a:cs typeface="Arial"/>
              </a:rPr>
              <a:t>Store</a:t>
            </a:r>
          </a:p>
          <a:p>
            <a:pPr marL="628650" lvl="1" indent="-171450">
              <a:buFont typeface="Arial" panose="020B0604020202020204" pitchFamily="34" charset="0"/>
              <a:buChar char="•"/>
            </a:pPr>
            <a:r>
              <a:rPr lang="en-US" sz="1200" b="0" spc="-55">
                <a:latin typeface="Arial"/>
                <a:cs typeface="Arial"/>
              </a:rPr>
              <a:t>Tích hợp với các công cụ </a:t>
            </a:r>
            <a:r>
              <a:rPr lang="en-US" sz="1200" b="1" spc="-55">
                <a:latin typeface="Arial"/>
                <a:cs typeface="Arial"/>
              </a:rPr>
              <a:t>BI</a:t>
            </a:r>
          </a:p>
          <a:p>
            <a:pPr marL="628650" lvl="1"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2B0ADB8-CD9A-443E-B573-7F057FE2C40E}" type="slidenum">
              <a:rPr lang="en-US" smtClean="0"/>
              <a:t>4</a:t>
            </a:fld>
            <a:endParaRPr lang="en-US"/>
          </a:p>
        </p:txBody>
      </p:sp>
    </p:spTree>
    <p:extLst>
      <p:ext uri="{BB962C8B-B14F-4D97-AF65-F5344CB8AC3E}">
        <p14:creationId xmlns:p14="http://schemas.microsoft.com/office/powerpoint/2010/main" val="4201148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Kiến trúc Polybase</a:t>
            </a:r>
          </a:p>
          <a:p>
            <a:pPr marL="171450" indent="-171450">
              <a:buFont typeface="Arial" panose="020B0604020202020204" pitchFamily="34" charset="0"/>
              <a:buChar char="•"/>
            </a:pPr>
            <a:r>
              <a:rPr lang="vi-VN"/>
              <a:t>Kiến trúc của </a:t>
            </a:r>
            <a:r>
              <a:rPr lang="vi-VN" b="1"/>
              <a:t>Polybase</a:t>
            </a:r>
            <a:r>
              <a:rPr lang="vi-VN"/>
              <a:t> có một số điểm tương đồng với kiến ​​trúc </a:t>
            </a:r>
            <a:r>
              <a:rPr lang="vi-VN" b="1"/>
              <a:t>Hadoop</a:t>
            </a:r>
            <a:endParaRPr lang="en-US" b="1"/>
          </a:p>
          <a:p>
            <a:pPr marL="628650" lvl="1" indent="-171450">
              <a:buFont typeface="Arial" panose="020B0604020202020204" pitchFamily="34" charset="0"/>
              <a:buChar char="•"/>
            </a:pPr>
            <a:r>
              <a:rPr lang="en-US" b="1"/>
              <a:t>Head node: </a:t>
            </a:r>
          </a:p>
          <a:p>
            <a:pPr marL="1085850" lvl="2" indent="-171450">
              <a:buFont typeface="Arial" panose="020B0604020202020204" pitchFamily="34" charset="0"/>
              <a:buChar char="•"/>
            </a:pPr>
            <a:r>
              <a:rPr lang="vi-VN" b="0"/>
              <a:t>Nó chứa </a:t>
            </a:r>
            <a:r>
              <a:rPr lang="en-US" b="0"/>
              <a:t>bản </a:t>
            </a:r>
            <a:r>
              <a:rPr lang="vi-VN" b="0"/>
              <a:t>SQL Server </a:t>
            </a:r>
            <a:r>
              <a:rPr lang="en-US" b="0"/>
              <a:t>mà t</a:t>
            </a:r>
            <a:r>
              <a:rPr lang="vi-VN" b="0"/>
              <a:t>ruy vấn </a:t>
            </a:r>
            <a:r>
              <a:rPr lang="en-US" b="0"/>
              <a:t>P</a:t>
            </a:r>
            <a:r>
              <a:rPr lang="vi-VN" b="0"/>
              <a:t>olybase được gửi. Mỗi </a:t>
            </a:r>
            <a:r>
              <a:rPr lang="en-US" b="0"/>
              <a:t>n</a:t>
            </a:r>
            <a:r>
              <a:rPr lang="vi-VN" b="0"/>
              <a:t>hóm Polybase chỉ có thể có một </a:t>
            </a:r>
            <a:r>
              <a:rPr lang="vi-VN" b="1"/>
              <a:t>Head node</a:t>
            </a:r>
            <a:r>
              <a:rPr lang="vi-VN" b="0"/>
              <a:t>. Một nút đầu là một nhóm logic của </a:t>
            </a:r>
            <a:r>
              <a:rPr lang="vi-VN" b="1"/>
              <a:t>SQL Database Engine</a:t>
            </a:r>
            <a:r>
              <a:rPr lang="vi-VN" b="0"/>
              <a:t>, </a:t>
            </a:r>
            <a:r>
              <a:rPr lang="vi-VN" b="1"/>
              <a:t>PolyBase Engine</a:t>
            </a:r>
            <a:r>
              <a:rPr lang="en-US" b="1"/>
              <a:t> </a:t>
            </a:r>
            <a:r>
              <a:rPr lang="vi-VN" b="0"/>
              <a:t>và </a:t>
            </a:r>
            <a:r>
              <a:rPr lang="vi-VN" b="1"/>
              <a:t>PolyBase Data Movement Service</a:t>
            </a:r>
            <a:r>
              <a:rPr lang="en-US" b="1"/>
              <a:t> </a:t>
            </a:r>
            <a:r>
              <a:rPr lang="en-US" b="0"/>
              <a:t>lên </a:t>
            </a:r>
            <a:r>
              <a:rPr lang="vi-VN" b="1"/>
              <a:t>SQL Server</a:t>
            </a:r>
            <a:r>
              <a:rPr lang="vi-VN" b="0"/>
              <a:t>.</a:t>
            </a:r>
            <a:endParaRPr lang="en-US" b="0"/>
          </a:p>
          <a:p>
            <a:pPr marL="628650" lvl="1" indent="-171450">
              <a:buFont typeface="Arial" panose="020B0604020202020204" pitchFamily="34" charset="0"/>
              <a:buChar char="•"/>
            </a:pPr>
            <a:r>
              <a:rPr lang="en-US" b="1"/>
              <a:t>Compute node</a:t>
            </a:r>
          </a:p>
          <a:p>
            <a:pPr marL="1085850" lvl="2" indent="-171450">
              <a:buFont typeface="Arial" panose="020B0604020202020204" pitchFamily="34" charset="0"/>
              <a:buChar char="•"/>
            </a:pPr>
            <a:r>
              <a:rPr lang="en-US" b="0"/>
              <a:t>Chứa bản SQL Server hỗ trợ mở rộng quy mô xử lý truy vấn dữ liệu bên ngoài. Một </a:t>
            </a:r>
            <a:r>
              <a:rPr lang="en-US" b="1"/>
              <a:t>Compute node</a:t>
            </a:r>
            <a:r>
              <a:rPr lang="en-US" b="0"/>
              <a:t> là một nhóm cục bộ của SQL Server và </a:t>
            </a:r>
            <a:r>
              <a:rPr lang="vi-VN" b="1"/>
              <a:t>PolyBase Data Movement Service</a:t>
            </a:r>
            <a:r>
              <a:rPr lang="en-US" b="1"/>
              <a:t> </a:t>
            </a:r>
            <a:r>
              <a:rPr lang="en-US" b="0"/>
              <a:t>trên SQL Server. Một nhóm Polybase có thể có nhiều </a:t>
            </a:r>
            <a:r>
              <a:rPr lang="en-US" b="1"/>
              <a:t>Compute node </a:t>
            </a:r>
            <a:r>
              <a:rPr lang="en-US" b="0"/>
              <a:t>. Cả </a:t>
            </a:r>
            <a:r>
              <a:rPr lang="vi-VN" b="1"/>
              <a:t>Head node</a:t>
            </a:r>
            <a:r>
              <a:rPr lang="en-US" b="1"/>
              <a:t> </a:t>
            </a:r>
            <a:r>
              <a:rPr lang="en-US" b="0"/>
              <a:t>và </a:t>
            </a:r>
            <a:r>
              <a:rPr lang="en-US" b="1"/>
              <a:t>Compute node </a:t>
            </a:r>
            <a:r>
              <a:rPr lang="en-US" b="0"/>
              <a:t>phải chạy trên cùng một phiên bản của SQL Server.</a:t>
            </a:r>
          </a:p>
          <a:p>
            <a:pPr marL="628650" lvl="1" indent="-171450">
              <a:buFont typeface="Arial" panose="020B0604020202020204" pitchFamily="34" charset="0"/>
              <a:buChar char="•"/>
            </a:pPr>
            <a:r>
              <a:rPr lang="en-US" b="1"/>
              <a:t>Scale-out Redas</a:t>
            </a:r>
          </a:p>
          <a:p>
            <a:pPr marL="1085850" lvl="2" indent="-171450">
              <a:buFont typeface="Arial" panose="020B0604020202020204" pitchFamily="34" charset="0"/>
              <a:buChar char="•"/>
            </a:pPr>
            <a:r>
              <a:rPr lang="vi-VN" b="0"/>
              <a:t>Khi truy vấn </a:t>
            </a:r>
            <a:r>
              <a:rPr lang="en-US" b="0"/>
              <a:t>m</a:t>
            </a:r>
            <a:r>
              <a:rPr lang="vi-VN" b="0"/>
              <a:t>áy chủ</a:t>
            </a:r>
            <a:r>
              <a:rPr lang="en-US" b="0"/>
              <a:t> </a:t>
            </a:r>
            <a:r>
              <a:rPr lang="vi-VN" b="0"/>
              <a:t>SQL bên ngoài, </a:t>
            </a:r>
            <a:r>
              <a:rPr lang="vi-VN" b="1"/>
              <a:t>Oracle</a:t>
            </a:r>
            <a:r>
              <a:rPr lang="vi-VN" b="0"/>
              <a:t> hoặc </a:t>
            </a:r>
            <a:r>
              <a:rPr lang="vi-VN" b="1"/>
              <a:t>Teradata</a:t>
            </a:r>
            <a:r>
              <a:rPr lang="vi-VN" b="0"/>
              <a:t>, bảng phân vùng sẽ được hưởng lợi từ </a:t>
            </a:r>
            <a:r>
              <a:rPr lang="vi-VN" b="1"/>
              <a:t>Scale-out Reads</a:t>
            </a:r>
            <a:r>
              <a:rPr lang="vi-VN" b="0"/>
              <a:t>. Mỗi nút trong một </a:t>
            </a:r>
            <a:r>
              <a:rPr lang="en-US" b="0"/>
              <a:t>n</a:t>
            </a:r>
            <a:r>
              <a:rPr lang="vi-VN" b="0"/>
              <a:t>hóm tỷ lệ Polybase có thể quay lên đến </a:t>
            </a:r>
            <a:r>
              <a:rPr lang="en-US" b="0"/>
              <a:t>8</a:t>
            </a:r>
            <a:r>
              <a:rPr lang="vi-VN" b="0"/>
              <a:t> </a:t>
            </a:r>
            <a:r>
              <a:rPr lang="en-US" b="0"/>
              <a:t>readers </a:t>
            </a:r>
            <a:r>
              <a:rPr lang="vi-VN" b="0"/>
              <a:t>để đọc </a:t>
            </a:r>
            <a:r>
              <a:rPr lang="en-US" b="0"/>
              <a:t>d</a:t>
            </a:r>
            <a:r>
              <a:rPr lang="vi-VN" b="0"/>
              <a:t>ữ liệu ngoài và mỗi </a:t>
            </a:r>
            <a:r>
              <a:rPr lang="en-US" b="0"/>
              <a:t>reader </a:t>
            </a:r>
            <a:r>
              <a:rPr lang="vi-VN" b="0"/>
              <a:t>được gán một phân vùng để </a:t>
            </a:r>
            <a:r>
              <a:rPr lang="en-US" b="0"/>
              <a:t>đ</a:t>
            </a:r>
            <a:r>
              <a:rPr lang="vi-VN" b="0"/>
              <a:t>ọc trong bảng bên ngoài.</a:t>
            </a:r>
            <a:endParaRPr lang="en-US" b="0"/>
          </a:p>
        </p:txBody>
      </p:sp>
      <p:sp>
        <p:nvSpPr>
          <p:cNvPr id="4" name="Slide Number Placeholder 3"/>
          <p:cNvSpPr>
            <a:spLocks noGrp="1"/>
          </p:cNvSpPr>
          <p:nvPr>
            <p:ph type="sldNum" sz="quarter" idx="5"/>
          </p:nvPr>
        </p:nvSpPr>
        <p:spPr/>
        <p:txBody>
          <a:bodyPr/>
          <a:lstStyle/>
          <a:p>
            <a:fld id="{52B0ADB8-CD9A-443E-B573-7F057FE2C40E}" type="slidenum">
              <a:rPr lang="en-US" smtClean="0"/>
              <a:t>5</a:t>
            </a:fld>
            <a:endParaRPr lang="en-US"/>
          </a:p>
        </p:txBody>
      </p:sp>
    </p:spTree>
    <p:extLst>
      <p:ext uri="{BB962C8B-B14F-4D97-AF65-F5344CB8AC3E}">
        <p14:creationId xmlns:p14="http://schemas.microsoft.com/office/powerpoint/2010/main" val="2384925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Kiến trúc Polybase</a:t>
            </a:r>
          </a:p>
          <a:p>
            <a:endParaRPr lang="en-US"/>
          </a:p>
        </p:txBody>
      </p:sp>
      <p:sp>
        <p:nvSpPr>
          <p:cNvPr id="4" name="Slide Number Placeholder 3"/>
          <p:cNvSpPr>
            <a:spLocks noGrp="1"/>
          </p:cNvSpPr>
          <p:nvPr>
            <p:ph type="sldNum" sz="quarter" idx="5"/>
          </p:nvPr>
        </p:nvSpPr>
        <p:spPr/>
        <p:txBody>
          <a:bodyPr/>
          <a:lstStyle/>
          <a:p>
            <a:fld id="{52B0ADB8-CD9A-443E-B573-7F057FE2C40E}" type="slidenum">
              <a:rPr lang="en-US" smtClean="0"/>
              <a:t>6</a:t>
            </a:fld>
            <a:endParaRPr lang="en-US"/>
          </a:p>
        </p:txBody>
      </p:sp>
    </p:spTree>
    <p:extLst>
      <p:ext uri="{BB962C8B-B14F-4D97-AF65-F5344CB8AC3E}">
        <p14:creationId xmlns:p14="http://schemas.microsoft.com/office/powerpoint/2010/main" val="83542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Cài đặt Polybase trong SQL Server 2019 1-4</a:t>
            </a:r>
          </a:p>
          <a:p>
            <a:pPr marL="171450" indent="-171450">
              <a:buFont typeface="Arial" panose="020B0604020202020204" pitchFamily="34" charset="0"/>
              <a:buChar char="•"/>
            </a:pPr>
            <a:r>
              <a:rPr lang="en-US" b="0"/>
              <a:t>Sau đây là điều kiện tiên quyết để cài đặt Polybase trong SQL Server 2019</a:t>
            </a:r>
          </a:p>
        </p:txBody>
      </p:sp>
      <p:sp>
        <p:nvSpPr>
          <p:cNvPr id="4" name="Slide Number Placeholder 3"/>
          <p:cNvSpPr>
            <a:spLocks noGrp="1"/>
          </p:cNvSpPr>
          <p:nvPr>
            <p:ph type="sldNum" sz="quarter" idx="5"/>
          </p:nvPr>
        </p:nvSpPr>
        <p:spPr/>
        <p:txBody>
          <a:bodyPr/>
          <a:lstStyle/>
          <a:p>
            <a:fld id="{52B0ADB8-CD9A-443E-B573-7F057FE2C40E}" type="slidenum">
              <a:rPr lang="en-US" smtClean="0"/>
              <a:t>7</a:t>
            </a:fld>
            <a:endParaRPr lang="en-US"/>
          </a:p>
        </p:txBody>
      </p:sp>
    </p:spTree>
    <p:extLst>
      <p:ext uri="{BB962C8B-B14F-4D97-AF65-F5344CB8AC3E}">
        <p14:creationId xmlns:p14="http://schemas.microsoft.com/office/powerpoint/2010/main" val="727098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Cài đặt Polybase trong SQL Server 2019 2-4</a:t>
            </a:r>
          </a:p>
          <a:p>
            <a:pPr marL="171450" indent="-171450">
              <a:buFont typeface="Arial" panose="020B0604020202020204" pitchFamily="34" charset="0"/>
              <a:buChar char="•"/>
            </a:pPr>
            <a:r>
              <a:rPr lang="vi-VN" b="1"/>
              <a:t>Nút đơn hoặc nhóm mở rộng Polybase</a:t>
            </a:r>
            <a:r>
              <a:rPr lang="en-US" b="1"/>
              <a:t>:</a:t>
            </a:r>
          </a:p>
          <a:p>
            <a:pPr marL="628650" lvl="1" indent="-171450">
              <a:buFont typeface="Arial" panose="020B0604020202020204" pitchFamily="34" charset="0"/>
              <a:buChar char="•"/>
            </a:pPr>
            <a:r>
              <a:rPr lang="vi-VN"/>
              <a:t>Sau đây là các bước để cài đặt và thiết lập Polybase</a:t>
            </a:r>
            <a:r>
              <a:rPr lang="en-US"/>
              <a:t>:</a:t>
            </a:r>
          </a:p>
          <a:p>
            <a:pPr marL="1085850" lvl="2" indent="-171450">
              <a:buFont typeface="Arial" panose="020B0604020202020204" pitchFamily="34" charset="0"/>
              <a:buChar char="•"/>
            </a:pPr>
            <a:r>
              <a:rPr lang="vi-VN"/>
              <a:t>Chạy SQL Server </a:t>
            </a:r>
            <a:r>
              <a:rPr lang="en-US" b="1"/>
              <a:t>s</a:t>
            </a:r>
            <a:r>
              <a:rPr lang="vi-VN" b="1"/>
              <a:t>etup.exe</a:t>
            </a:r>
          </a:p>
          <a:p>
            <a:pPr marL="1085850" lvl="2" indent="-171450">
              <a:buFont typeface="Arial" panose="020B0604020202020204" pitchFamily="34" charset="0"/>
              <a:buChar char="•"/>
            </a:pPr>
            <a:r>
              <a:rPr lang="vi-VN"/>
              <a:t>Chọn </a:t>
            </a:r>
            <a:r>
              <a:rPr lang="en-US" sz="1200" b="1" spc="15">
                <a:solidFill>
                  <a:srgbClr val="FFFFFF"/>
                </a:solidFill>
                <a:latin typeface="Arial"/>
                <a:cs typeface="Arial"/>
              </a:rPr>
              <a:t>Installation</a:t>
            </a:r>
            <a:r>
              <a:rPr lang="en-US" sz="1200" spc="15">
                <a:solidFill>
                  <a:srgbClr val="FFFFFF"/>
                </a:solidFill>
                <a:latin typeface="Arial"/>
                <a:cs typeface="Arial"/>
              </a:rPr>
              <a:t> </a:t>
            </a:r>
            <a:r>
              <a:rPr lang="vi-VN"/>
              <a:t>và sau đó, chọn </a:t>
            </a:r>
            <a:r>
              <a:rPr lang="en-US" sz="1200" b="1" spc="5">
                <a:solidFill>
                  <a:srgbClr val="FFFFFF"/>
                </a:solidFill>
                <a:latin typeface="Arial"/>
                <a:cs typeface="Arial"/>
              </a:rPr>
              <a:t>New </a:t>
            </a:r>
            <a:r>
              <a:rPr lang="en-US" sz="1200" b="1" spc="-40">
                <a:solidFill>
                  <a:srgbClr val="FFFFFF"/>
                </a:solidFill>
                <a:latin typeface="Arial"/>
                <a:cs typeface="Arial"/>
              </a:rPr>
              <a:t>standalone </a:t>
            </a:r>
            <a:r>
              <a:rPr lang="en-US" sz="1200" b="1" spc="20">
                <a:solidFill>
                  <a:srgbClr val="FFFFFF"/>
                </a:solidFill>
                <a:latin typeface="Arial"/>
                <a:cs typeface="Arial"/>
              </a:rPr>
              <a:t>SQL </a:t>
            </a:r>
            <a:r>
              <a:rPr lang="en-US" sz="1200" b="1" spc="-45">
                <a:solidFill>
                  <a:srgbClr val="FFFFFF"/>
                </a:solidFill>
                <a:latin typeface="Arial"/>
                <a:cs typeface="Arial"/>
              </a:rPr>
              <a:t>Server  </a:t>
            </a:r>
            <a:r>
              <a:rPr lang="en-US" sz="1200" b="1" spc="15">
                <a:solidFill>
                  <a:srgbClr val="FFFFFF"/>
                </a:solidFill>
                <a:latin typeface="Arial"/>
                <a:cs typeface="Arial"/>
              </a:rPr>
              <a:t>installation </a:t>
            </a:r>
            <a:r>
              <a:rPr lang="vi-VN"/>
              <a:t>hoặc </a:t>
            </a:r>
            <a:r>
              <a:rPr lang="en-US" sz="1200" b="1" spc="-50">
                <a:solidFill>
                  <a:srgbClr val="FFFFFF"/>
                </a:solidFill>
                <a:latin typeface="Arial"/>
                <a:cs typeface="Arial"/>
              </a:rPr>
              <a:t>Add </a:t>
            </a:r>
            <a:r>
              <a:rPr lang="en-US" sz="1200" b="1" spc="-45">
                <a:solidFill>
                  <a:srgbClr val="FFFFFF"/>
                </a:solidFill>
                <a:latin typeface="Arial"/>
                <a:cs typeface="Arial"/>
              </a:rPr>
              <a:t>features </a:t>
            </a:r>
            <a:r>
              <a:rPr lang="en-US" sz="1200" spc="-45">
                <a:solidFill>
                  <a:srgbClr val="FFFFFF"/>
                </a:solidFill>
                <a:latin typeface="Arial"/>
                <a:cs typeface="Arial"/>
              </a:rPr>
              <a:t>(T</a:t>
            </a:r>
            <a:r>
              <a:rPr lang="vi-VN"/>
              <a:t>hêm các tính năng</a:t>
            </a:r>
            <a:r>
              <a:rPr lang="en-US"/>
              <a:t>)</a:t>
            </a:r>
            <a:endParaRPr lang="vi-VN"/>
          </a:p>
          <a:p>
            <a:pPr marL="1085850" lvl="2" indent="-171450">
              <a:buFont typeface="Arial" panose="020B0604020202020204" pitchFamily="34" charset="0"/>
              <a:buChar char="•"/>
            </a:pPr>
            <a:r>
              <a:rPr lang="vi-VN"/>
              <a:t>Trên trang </a:t>
            </a:r>
            <a:r>
              <a:rPr lang="en-US" sz="1200" b="1" spc="-55">
                <a:solidFill>
                  <a:srgbClr val="FFFFFF"/>
                </a:solidFill>
                <a:latin typeface="Arial"/>
                <a:cs typeface="Arial"/>
              </a:rPr>
              <a:t>Feature </a:t>
            </a:r>
            <a:r>
              <a:rPr lang="en-US" sz="1200" b="1" spc="-20">
                <a:solidFill>
                  <a:srgbClr val="FFFFFF"/>
                </a:solidFill>
                <a:latin typeface="Arial"/>
                <a:cs typeface="Arial"/>
              </a:rPr>
              <a:t>Selection </a:t>
            </a:r>
            <a:r>
              <a:rPr lang="vi-VN"/>
              <a:t>như trong hình, chọn </a:t>
            </a:r>
            <a:r>
              <a:rPr lang="en-US" sz="1200" b="1" spc="-90">
                <a:solidFill>
                  <a:srgbClr val="FFFFFF"/>
                </a:solidFill>
                <a:latin typeface="Arial"/>
                <a:cs typeface="Arial"/>
              </a:rPr>
              <a:t>PolyBase  </a:t>
            </a:r>
            <a:r>
              <a:rPr lang="en-US" sz="1200" b="1" spc="10">
                <a:solidFill>
                  <a:srgbClr val="FFFFFF"/>
                </a:solidFill>
                <a:latin typeface="Arial"/>
                <a:cs typeface="Arial"/>
              </a:rPr>
              <a:t>Query</a:t>
            </a:r>
            <a:r>
              <a:rPr lang="en-US" sz="1200" b="1" spc="-114">
                <a:solidFill>
                  <a:srgbClr val="FFFFFF"/>
                </a:solidFill>
                <a:latin typeface="Arial"/>
                <a:cs typeface="Arial"/>
              </a:rPr>
              <a:t> </a:t>
            </a:r>
            <a:r>
              <a:rPr lang="en-US" sz="1200" b="1" spc="-45">
                <a:solidFill>
                  <a:srgbClr val="FFFFFF"/>
                </a:solidFill>
                <a:latin typeface="Arial"/>
                <a:cs typeface="Arial"/>
              </a:rPr>
              <a:t>Service</a:t>
            </a:r>
            <a:r>
              <a:rPr lang="en-US" sz="1200" b="1" spc="-130">
                <a:solidFill>
                  <a:srgbClr val="FFFFFF"/>
                </a:solidFill>
                <a:latin typeface="Arial"/>
                <a:cs typeface="Arial"/>
              </a:rPr>
              <a:t> </a:t>
            </a:r>
            <a:r>
              <a:rPr lang="en-US" sz="1200" b="1" spc="60">
                <a:solidFill>
                  <a:srgbClr val="FFFFFF"/>
                </a:solidFill>
                <a:latin typeface="Arial"/>
                <a:cs typeface="Arial"/>
              </a:rPr>
              <a:t>for</a:t>
            </a:r>
            <a:r>
              <a:rPr lang="en-US" sz="1200" b="1" spc="-110">
                <a:solidFill>
                  <a:srgbClr val="FFFFFF"/>
                </a:solidFill>
                <a:latin typeface="Arial"/>
                <a:cs typeface="Arial"/>
              </a:rPr>
              <a:t> </a:t>
            </a:r>
            <a:r>
              <a:rPr lang="en-US" sz="1200" b="1" spc="-5">
                <a:solidFill>
                  <a:srgbClr val="FFFFFF"/>
                </a:solidFill>
                <a:latin typeface="Arial"/>
                <a:cs typeface="Arial"/>
              </a:rPr>
              <a:t>External</a:t>
            </a:r>
            <a:r>
              <a:rPr lang="en-US" sz="1200" b="1" spc="-130">
                <a:solidFill>
                  <a:srgbClr val="FFFFFF"/>
                </a:solidFill>
                <a:latin typeface="Arial"/>
                <a:cs typeface="Arial"/>
              </a:rPr>
              <a:t> </a:t>
            </a:r>
            <a:r>
              <a:rPr lang="en-US" sz="1200" b="1" spc="-30">
                <a:solidFill>
                  <a:srgbClr val="FFFFFF"/>
                </a:solidFill>
                <a:latin typeface="Arial"/>
                <a:cs typeface="Arial"/>
              </a:rPr>
              <a:t>Data</a:t>
            </a:r>
            <a:endParaRPr lang="en-US" b="1"/>
          </a:p>
        </p:txBody>
      </p:sp>
      <p:sp>
        <p:nvSpPr>
          <p:cNvPr id="4" name="Slide Number Placeholder 3"/>
          <p:cNvSpPr>
            <a:spLocks noGrp="1"/>
          </p:cNvSpPr>
          <p:nvPr>
            <p:ph type="sldNum" sz="quarter" idx="5"/>
          </p:nvPr>
        </p:nvSpPr>
        <p:spPr/>
        <p:txBody>
          <a:bodyPr/>
          <a:lstStyle/>
          <a:p>
            <a:fld id="{52B0ADB8-CD9A-443E-B573-7F057FE2C40E}" type="slidenum">
              <a:rPr lang="en-US" smtClean="0"/>
              <a:t>8</a:t>
            </a:fld>
            <a:endParaRPr lang="en-US"/>
          </a:p>
        </p:txBody>
      </p:sp>
    </p:spTree>
    <p:extLst>
      <p:ext uri="{BB962C8B-B14F-4D97-AF65-F5344CB8AC3E}">
        <p14:creationId xmlns:p14="http://schemas.microsoft.com/office/powerpoint/2010/main" val="329029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Cài đặt Polybase trong SQL Server 2019 3-4</a:t>
            </a:r>
          </a:p>
          <a:p>
            <a:pPr marL="171450" indent="-171450">
              <a:buFont typeface="Arial" panose="020B0604020202020204" pitchFamily="34" charset="0"/>
              <a:buChar char="•"/>
            </a:pPr>
            <a:r>
              <a:rPr lang="en-US" b="1"/>
              <a:t>Kích hoạt Polybase</a:t>
            </a:r>
          </a:p>
          <a:p>
            <a:pPr marL="628650" lvl="1" indent="-171450">
              <a:buFont typeface="Arial" panose="020B0604020202020204" pitchFamily="34" charset="0"/>
              <a:buChar char="•"/>
            </a:pPr>
            <a:r>
              <a:rPr lang="vi-VN"/>
              <a:t>Khi cài đặt SQL Server hoàn tất với tính năng Polybase, Polybase phải được cấu hình để tương tác với các nguồn dữ liệu ngoài.</a:t>
            </a:r>
            <a:endParaRPr lang="en-US"/>
          </a:p>
          <a:p>
            <a:pPr marL="171450" lvl="0" indent="-171450">
              <a:buFont typeface="Arial" panose="020B0604020202020204" pitchFamily="34" charset="0"/>
              <a:buChar char="•"/>
            </a:pPr>
            <a:r>
              <a:rPr lang="en-US" b="1"/>
              <a:t>Cấu hình kết nối Hadoop</a:t>
            </a:r>
          </a:p>
          <a:p>
            <a:pPr marL="628650" lvl="1" indent="-171450">
              <a:buFont typeface="Arial" panose="020B0604020202020204" pitchFamily="34" charset="0"/>
              <a:buChar char="•"/>
            </a:pPr>
            <a:r>
              <a:rPr lang="en-US"/>
              <a:t>Chạy </a:t>
            </a:r>
            <a:r>
              <a:rPr lang="en-US" b="1"/>
              <a:t>sp_configure </a:t>
            </a:r>
            <a:r>
              <a:rPr lang="en-US"/>
              <a:t>với ‘</a:t>
            </a:r>
            <a:r>
              <a:rPr lang="en-US" b="1"/>
              <a:t>hadoop connectivity</a:t>
            </a:r>
            <a:r>
              <a:rPr lang="en-US"/>
              <a:t>' và đặt giá trị thích hợp cho nhà cung cấp của bạn.</a:t>
            </a:r>
          </a:p>
          <a:p>
            <a:pPr marL="628650" lvl="1" indent="-171450">
              <a:buFont typeface="Arial" panose="020B0604020202020204" pitchFamily="34" charset="0"/>
              <a:buChar char="•"/>
            </a:pPr>
            <a:r>
              <a:rPr lang="en-US"/>
              <a:t>Khởi động lại SQL Server bằng </a:t>
            </a:r>
            <a:r>
              <a:rPr lang="en-US" b="1"/>
              <a:t>services.msc</a:t>
            </a:r>
          </a:p>
        </p:txBody>
      </p:sp>
      <p:sp>
        <p:nvSpPr>
          <p:cNvPr id="4" name="Slide Number Placeholder 3"/>
          <p:cNvSpPr>
            <a:spLocks noGrp="1"/>
          </p:cNvSpPr>
          <p:nvPr>
            <p:ph type="sldNum" sz="quarter" idx="5"/>
          </p:nvPr>
        </p:nvSpPr>
        <p:spPr/>
        <p:txBody>
          <a:bodyPr/>
          <a:lstStyle/>
          <a:p>
            <a:fld id="{52B0ADB8-CD9A-443E-B573-7F057FE2C40E}" type="slidenum">
              <a:rPr lang="en-US" smtClean="0"/>
              <a:t>9</a:t>
            </a:fld>
            <a:endParaRPr lang="en-US"/>
          </a:p>
        </p:txBody>
      </p:sp>
    </p:spTree>
    <p:extLst>
      <p:ext uri="{BB962C8B-B14F-4D97-AF65-F5344CB8AC3E}">
        <p14:creationId xmlns:p14="http://schemas.microsoft.com/office/powerpoint/2010/main" val="24472839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Cài đặt Polybase trong SQL Server 2019 4-4</a:t>
            </a:r>
          </a:p>
          <a:p>
            <a:pPr marL="171450" indent="-171450">
              <a:buFont typeface="Arial" panose="020B0604020202020204" pitchFamily="34" charset="0"/>
              <a:buChar char="•"/>
            </a:pPr>
            <a:r>
              <a:rPr lang="en-US" b="1"/>
              <a:t>Cấu hình một bảng bên ngoài</a:t>
            </a:r>
          </a:p>
          <a:p>
            <a:pPr marL="628650" lvl="1" indent="-171450">
              <a:buFont typeface="Arial" panose="020B0604020202020204" pitchFamily="34" charset="0"/>
              <a:buChar char="•"/>
            </a:pPr>
            <a:r>
              <a:rPr lang="vi-VN"/>
              <a:t>Để truy vấn dữ liệu trong nguồn dữ liệu </a:t>
            </a:r>
            <a:r>
              <a:rPr lang="vi-VN" b="1"/>
              <a:t>Hadoop</a:t>
            </a:r>
            <a:r>
              <a:rPr lang="vi-VN"/>
              <a:t> của bạn, bạn phải xác định một bảng bên ngoài để sử dụng trong các truy vấn Transact-SQL. Các bước sau mô tả cách định cấu hình bảng bên ngoài</a:t>
            </a:r>
            <a:r>
              <a:rPr lang="en-US"/>
              <a:t>:</a:t>
            </a:r>
          </a:p>
          <a:p>
            <a:pPr marL="1085850" lvl="2" indent="-171450">
              <a:buFont typeface="Arial" panose="020B0604020202020204" pitchFamily="34" charset="0"/>
              <a:buChar char="•"/>
            </a:pPr>
            <a:r>
              <a:rPr lang="vi-VN"/>
              <a:t>Tạo một khóa chính trên cơ sở dữ liệu</a:t>
            </a:r>
          </a:p>
          <a:p>
            <a:pPr marL="1085850" lvl="2" indent="-171450">
              <a:buFont typeface="Arial" panose="020B0604020202020204" pitchFamily="34" charset="0"/>
              <a:buChar char="•"/>
            </a:pPr>
            <a:r>
              <a:rPr lang="vi-VN"/>
              <a:t>Tạo cơ sở dữ liệu có phạm vi thông tin cho các cụm </a:t>
            </a:r>
            <a:r>
              <a:rPr lang="en-US"/>
              <a:t>H</a:t>
            </a:r>
            <a:r>
              <a:rPr lang="vi-VN"/>
              <a:t>adoop được bảo mật của Kerberos</a:t>
            </a:r>
          </a:p>
          <a:p>
            <a:pPr marL="1085850" lvl="2" indent="-171450">
              <a:buFont typeface="Arial" panose="020B0604020202020204" pitchFamily="34" charset="0"/>
              <a:buChar char="•"/>
            </a:pPr>
            <a:r>
              <a:rPr lang="vi-VN"/>
              <a:t>Tạo một nguồn dữ liệu ngoài với </a:t>
            </a:r>
            <a:r>
              <a:rPr lang="en-US" sz="1200" b="1" spc="70">
                <a:solidFill>
                  <a:srgbClr val="FFFFFF"/>
                </a:solidFill>
                <a:latin typeface="Arial"/>
                <a:cs typeface="Arial"/>
              </a:rPr>
              <a:t>CREATE EXTERNAL DATA  SOURCE</a:t>
            </a:r>
            <a:endParaRPr lang="vi-VN" b="1"/>
          </a:p>
          <a:p>
            <a:pPr marL="1085850" lvl="2" indent="-171450">
              <a:buFont typeface="Arial" panose="020B0604020202020204" pitchFamily="34" charset="0"/>
              <a:buChar char="•"/>
            </a:pPr>
            <a:r>
              <a:rPr lang="vi-VN"/>
              <a:t>Tạo định dạng t</a:t>
            </a:r>
            <a:r>
              <a:rPr lang="en-US"/>
              <a:t>ậ</a:t>
            </a:r>
            <a:r>
              <a:rPr lang="vi-VN"/>
              <a:t>p </a:t>
            </a:r>
            <a:r>
              <a:rPr lang="en-US"/>
              <a:t>tin </a:t>
            </a:r>
            <a:r>
              <a:rPr lang="vi-VN"/>
              <a:t>bên ngoài với </a:t>
            </a:r>
            <a:r>
              <a:rPr lang="vi-VN" b="1"/>
              <a:t>CREATE EXTERNAL FILE FORMAT</a:t>
            </a:r>
          </a:p>
          <a:p>
            <a:pPr marL="1085850" lvl="2" indent="-171450">
              <a:buFont typeface="Arial" panose="020B0604020202020204" pitchFamily="34" charset="0"/>
              <a:buChar char="•"/>
            </a:pPr>
            <a:r>
              <a:rPr lang="vi-VN"/>
              <a:t>Tạo một bảng bên ngoài hướng đến dữ liệu được lưu trữ trong </a:t>
            </a:r>
            <a:r>
              <a:rPr lang="en-US"/>
              <a:t>H</a:t>
            </a:r>
            <a:r>
              <a:rPr lang="vi-VN"/>
              <a:t>adoop với </a:t>
            </a:r>
            <a:r>
              <a:rPr lang="vi-VN" b="1"/>
              <a:t>CREATE  EXTERNAL TABLE</a:t>
            </a:r>
            <a:endParaRPr lang="en-US" b="1"/>
          </a:p>
        </p:txBody>
      </p:sp>
      <p:sp>
        <p:nvSpPr>
          <p:cNvPr id="4" name="Slide Number Placeholder 3"/>
          <p:cNvSpPr>
            <a:spLocks noGrp="1"/>
          </p:cNvSpPr>
          <p:nvPr>
            <p:ph type="sldNum" sz="quarter" idx="5"/>
          </p:nvPr>
        </p:nvSpPr>
        <p:spPr/>
        <p:txBody>
          <a:bodyPr/>
          <a:lstStyle/>
          <a:p>
            <a:fld id="{52B0ADB8-CD9A-443E-B573-7F057FE2C40E}" type="slidenum">
              <a:rPr lang="en-US" smtClean="0"/>
              <a:t>10</a:t>
            </a:fld>
            <a:endParaRPr lang="en-US"/>
          </a:p>
        </p:txBody>
      </p:sp>
    </p:spTree>
    <p:extLst>
      <p:ext uri="{BB962C8B-B14F-4D97-AF65-F5344CB8AC3E}">
        <p14:creationId xmlns:p14="http://schemas.microsoft.com/office/powerpoint/2010/main" val="3071059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Kho truy vấn</a:t>
            </a:r>
          </a:p>
          <a:p>
            <a:pPr marL="171450" indent="-171450">
              <a:buFont typeface="Arial" panose="020B0604020202020204" pitchFamily="34" charset="0"/>
              <a:buChar char="•"/>
            </a:pPr>
            <a:r>
              <a:rPr lang="vi-VN" b="0"/>
              <a:t>Tính năng </a:t>
            </a:r>
            <a:r>
              <a:rPr lang="vi-VN" b="1"/>
              <a:t>SQL Server Query Store </a:t>
            </a:r>
            <a:r>
              <a:rPr lang="vi-VN" b="0"/>
              <a:t>cung cấp thông tin chi tiết về lựa chọn và hiệu suất của gói truy vấn</a:t>
            </a:r>
            <a:endParaRPr lang="en-US" b="0"/>
          </a:p>
          <a:p>
            <a:pPr marL="171450" indent="-171450">
              <a:buFont typeface="Arial" panose="020B0604020202020204" pitchFamily="34" charset="0"/>
              <a:buChar char="•"/>
            </a:pPr>
            <a:r>
              <a:rPr lang="vi-VN" b="0"/>
              <a:t>Nó đơn giản hóa sự cố hiệu suất bằng cách giúp nhanh chóng tìm thấy sự khác biệt về hiệu suất do thay đổi gói truy vấn</a:t>
            </a:r>
            <a:endParaRPr lang="en-US" b="0"/>
          </a:p>
          <a:p>
            <a:pPr marL="171450" indent="-171450">
              <a:buFont typeface="Arial" panose="020B0604020202020204" pitchFamily="34" charset="0"/>
              <a:buChar char="•"/>
            </a:pPr>
            <a:r>
              <a:rPr lang="en-US" b="0"/>
              <a:t>Kho truy vấn tự động nắm bắt lịch sử truy vấn, gói và thống kê thời gian chạy và giữ lại những điều này để xem xét</a:t>
            </a:r>
          </a:p>
          <a:p>
            <a:pPr marL="171450" indent="-171450">
              <a:buFont typeface="Arial" panose="020B0604020202020204" pitchFamily="34" charset="0"/>
              <a:buChar char="•"/>
            </a:pPr>
            <a:r>
              <a:rPr lang="vi-VN" b="0"/>
              <a:t>Nó phân tách dữ liệu theo các khung thời gian để các mẫu sử dụng cơ sở dữ liệu có thể được xác định và thay đổi gói truy vấn đã xảy ra trên máy chủ được ghi chú</a:t>
            </a:r>
            <a:endParaRPr lang="en-US" b="0"/>
          </a:p>
        </p:txBody>
      </p:sp>
      <p:sp>
        <p:nvSpPr>
          <p:cNvPr id="4" name="Slide Number Placeholder 3"/>
          <p:cNvSpPr>
            <a:spLocks noGrp="1"/>
          </p:cNvSpPr>
          <p:nvPr>
            <p:ph type="sldNum" sz="quarter" idx="5"/>
          </p:nvPr>
        </p:nvSpPr>
        <p:spPr/>
        <p:txBody>
          <a:bodyPr/>
          <a:lstStyle/>
          <a:p>
            <a:fld id="{52B0ADB8-CD9A-443E-B573-7F057FE2C40E}" type="slidenum">
              <a:rPr lang="en-US" smtClean="0"/>
              <a:t>11</a:t>
            </a:fld>
            <a:endParaRPr lang="en-US"/>
          </a:p>
        </p:txBody>
      </p:sp>
    </p:spTree>
    <p:extLst>
      <p:ext uri="{BB962C8B-B14F-4D97-AF65-F5344CB8AC3E}">
        <p14:creationId xmlns:p14="http://schemas.microsoft.com/office/powerpoint/2010/main" val="3526312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Kiến trúc kho truy vấn</a:t>
            </a:r>
          </a:p>
          <a:p>
            <a:pPr marL="171450" indent="-171450">
              <a:buFont typeface="Arial" panose="020B0604020202020204" pitchFamily="34" charset="0"/>
              <a:buChar char="•"/>
            </a:pPr>
            <a:r>
              <a:rPr lang="en-US"/>
              <a:t>Mỗi phần </a:t>
            </a:r>
            <a:r>
              <a:rPr lang="en-US" b="1"/>
              <a:t>Tổng hợp truy vấn </a:t>
            </a:r>
            <a:r>
              <a:rPr lang="en-US"/>
              <a:t>hoặc </a:t>
            </a:r>
            <a:r>
              <a:rPr lang="en-US" b="1"/>
              <a:t>Thực thi truy vấn </a:t>
            </a:r>
            <a:r>
              <a:rPr lang="en-US"/>
              <a:t>của SQL Server gửi tin nhắn đến kho truy vấn.</a:t>
            </a:r>
          </a:p>
          <a:p>
            <a:pPr marL="171450" indent="-171450">
              <a:buFont typeface="Arial" panose="020B0604020202020204" pitchFamily="34" charset="0"/>
              <a:buChar char="•"/>
            </a:pPr>
            <a:r>
              <a:rPr lang="vi-VN"/>
              <a:t>Thông tin về việc biên dịch và thực thi đầu tiên được lưu trữ trong bộ đệm và sau đó, được lưu trữ vào đĩa</a:t>
            </a:r>
            <a:r>
              <a:rPr lang="en-US"/>
              <a:t>.</a:t>
            </a:r>
          </a:p>
        </p:txBody>
      </p:sp>
      <p:sp>
        <p:nvSpPr>
          <p:cNvPr id="4" name="Slide Number Placeholder 3"/>
          <p:cNvSpPr>
            <a:spLocks noGrp="1"/>
          </p:cNvSpPr>
          <p:nvPr>
            <p:ph type="sldNum" sz="quarter" idx="5"/>
          </p:nvPr>
        </p:nvSpPr>
        <p:spPr/>
        <p:txBody>
          <a:bodyPr/>
          <a:lstStyle/>
          <a:p>
            <a:fld id="{52B0ADB8-CD9A-443E-B573-7F057FE2C40E}" type="slidenum">
              <a:rPr lang="en-US" smtClean="0"/>
              <a:t>12</a:t>
            </a:fld>
            <a:endParaRPr lang="en-US"/>
          </a:p>
        </p:txBody>
      </p:sp>
    </p:spTree>
    <p:extLst>
      <p:ext uri="{BB962C8B-B14F-4D97-AF65-F5344CB8AC3E}">
        <p14:creationId xmlns:p14="http://schemas.microsoft.com/office/powerpoint/2010/main" val="1901016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Kích hoạt kho truy vấn</a:t>
            </a:r>
          </a:p>
          <a:p>
            <a:pPr marL="171450" indent="-171450">
              <a:buFont typeface="Arial" panose="020B0604020202020204" pitchFamily="34" charset="0"/>
              <a:buChar char="•"/>
            </a:pPr>
            <a:r>
              <a:rPr lang="vi-VN"/>
              <a:t>Query Store không được bật theo mặc định cho cơ sở dữ liệu </a:t>
            </a:r>
            <a:r>
              <a:rPr lang="vi-VN" b="1"/>
              <a:t>SQL Server </a:t>
            </a:r>
            <a:r>
              <a:rPr lang="vi-VN"/>
              <a:t>và </a:t>
            </a:r>
            <a:r>
              <a:rPr lang="vi-VN" b="1"/>
              <a:t>Azure Synapse Analytics (SQL DW) </a:t>
            </a:r>
            <a:r>
              <a:rPr lang="vi-VN"/>
              <a:t>và được bật theo mặc định cho </a:t>
            </a:r>
            <a:r>
              <a:rPr lang="vi-VN" b="1"/>
              <a:t>Azure SQL Database</a:t>
            </a:r>
            <a:r>
              <a:rPr lang="en-US" b="1"/>
              <a:t> </a:t>
            </a:r>
            <a:r>
              <a:rPr lang="vi-VN"/>
              <a:t>mới</a:t>
            </a:r>
            <a:r>
              <a:rPr lang="en-US"/>
              <a:t>.</a:t>
            </a:r>
          </a:p>
          <a:p>
            <a:pPr marL="171450" indent="-171450">
              <a:buFont typeface="Arial" panose="020B0604020202020204" pitchFamily="34" charset="0"/>
              <a:buChar char="•"/>
            </a:pPr>
            <a:r>
              <a:rPr lang="en-US" b="1"/>
              <a:t>Sử dụng SQL Server Management Studio</a:t>
            </a:r>
          </a:p>
          <a:p>
            <a:pPr marL="685800" lvl="1" indent="-228600">
              <a:buFont typeface="+mj-lt"/>
              <a:buAutoNum type="arabicPeriod"/>
            </a:pPr>
            <a:r>
              <a:rPr lang="vi-VN"/>
              <a:t>Trong </a:t>
            </a:r>
            <a:r>
              <a:rPr lang="vi-VN" b="1"/>
              <a:t>Object Explorer</a:t>
            </a:r>
            <a:r>
              <a:rPr lang="vi-VN"/>
              <a:t>, nhấp chuột phải vào cơ sở dữ liệu và sau đó, nhấp vào </a:t>
            </a:r>
            <a:r>
              <a:rPr lang="vi-VN" b="1"/>
              <a:t>Properties</a:t>
            </a:r>
          </a:p>
          <a:p>
            <a:pPr marL="685800" lvl="1" indent="-228600">
              <a:buFont typeface="+mj-lt"/>
              <a:buAutoNum type="arabicPeriod"/>
            </a:pPr>
            <a:r>
              <a:rPr lang="vi-VN"/>
              <a:t>Trong hộp thoại </a:t>
            </a:r>
            <a:r>
              <a:rPr lang="vi-VN" b="1"/>
              <a:t>Thuộc tính Cơ sở dữ liệu</a:t>
            </a:r>
            <a:r>
              <a:rPr lang="vi-VN"/>
              <a:t>, chọn trang </a:t>
            </a:r>
            <a:r>
              <a:rPr lang="vi-VN" b="1"/>
              <a:t>Query Store</a:t>
            </a:r>
          </a:p>
          <a:p>
            <a:pPr marL="685800" lvl="1" indent="-228600">
              <a:buFont typeface="+mj-lt"/>
              <a:buAutoNum type="arabicPeriod"/>
            </a:pPr>
            <a:r>
              <a:rPr lang="vi-VN"/>
              <a:t>Trong </a:t>
            </a:r>
            <a:r>
              <a:rPr lang="vi-VN" b="1"/>
              <a:t>Operation Mode (Requested)</a:t>
            </a:r>
            <a:r>
              <a:rPr lang="vi-VN"/>
              <a:t>, chọn </a:t>
            </a:r>
            <a:r>
              <a:rPr lang="vi-VN" b="1"/>
              <a:t>Read Write</a:t>
            </a:r>
            <a:endParaRPr lang="en-US" b="1"/>
          </a:p>
          <a:p>
            <a:pPr marL="171450" lvl="0" indent="-171450">
              <a:buFont typeface="Arial" panose="020B0604020202020204" pitchFamily="34" charset="0"/>
              <a:buChar char="•"/>
            </a:pPr>
            <a:r>
              <a:rPr lang="en-US" b="1"/>
              <a:t>Sử dụng Transact-SQL</a:t>
            </a:r>
          </a:p>
          <a:p>
            <a:pPr marL="628650" lvl="1" indent="-171450">
              <a:buFont typeface="Arial" panose="020B0604020202020204" pitchFamily="34" charset="0"/>
              <a:buChar char="•"/>
            </a:pPr>
            <a:r>
              <a:rPr lang="vi-VN" b="0"/>
              <a:t>Sử dụng câu lệnh </a:t>
            </a:r>
            <a:r>
              <a:rPr lang="vi-VN" b="1"/>
              <a:t>ALTER DATABASE</a:t>
            </a:r>
            <a:r>
              <a:rPr lang="en-US" b="1"/>
              <a:t> </a:t>
            </a:r>
            <a:r>
              <a:rPr lang="vi-VN" b="0"/>
              <a:t>để bật </a:t>
            </a:r>
            <a:r>
              <a:rPr lang="vi-VN"/>
              <a:t>Query Store </a:t>
            </a:r>
            <a:r>
              <a:rPr lang="vi-VN" b="0"/>
              <a:t>cho một cơ sở dữ liệu nhất định được hiển thị như sau:</a:t>
            </a:r>
            <a:endParaRPr lang="en-US" b="0"/>
          </a:p>
          <a:p>
            <a:pPr marL="457200" lvl="1" indent="0">
              <a:buFont typeface="Arial" panose="020B0604020202020204" pitchFamily="34" charset="0"/>
              <a:buNone/>
            </a:pPr>
            <a:r>
              <a:rPr lang="en-US" b="0"/>
              <a:t>	</a:t>
            </a:r>
            <a:r>
              <a:rPr lang="en-US" b="1"/>
              <a:t>SET QUERY_STORE = ON (OPERATION_MODE = READ_WRITE);</a:t>
            </a:r>
          </a:p>
        </p:txBody>
      </p:sp>
      <p:sp>
        <p:nvSpPr>
          <p:cNvPr id="4" name="Slide Number Placeholder 3"/>
          <p:cNvSpPr>
            <a:spLocks noGrp="1"/>
          </p:cNvSpPr>
          <p:nvPr>
            <p:ph type="sldNum" sz="quarter" idx="5"/>
          </p:nvPr>
        </p:nvSpPr>
        <p:spPr/>
        <p:txBody>
          <a:bodyPr/>
          <a:lstStyle/>
          <a:p>
            <a:fld id="{52B0ADB8-CD9A-443E-B573-7F057FE2C40E}" type="slidenum">
              <a:rPr lang="en-US" smtClean="0"/>
              <a:t>13</a:t>
            </a:fld>
            <a:endParaRPr lang="en-US"/>
          </a:p>
        </p:txBody>
      </p:sp>
    </p:spTree>
    <p:extLst>
      <p:ext uri="{BB962C8B-B14F-4D97-AF65-F5344CB8AC3E}">
        <p14:creationId xmlns:p14="http://schemas.microsoft.com/office/powerpoint/2010/main" val="3484374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Cấu hình cửa kho truy vấn</a:t>
            </a:r>
          </a:p>
          <a:p>
            <a:pPr marL="171450" indent="-171450">
              <a:buFont typeface="Arial" panose="020B0604020202020204" pitchFamily="34" charset="0"/>
              <a:buChar char="•"/>
            </a:pPr>
            <a:r>
              <a:rPr lang="en-US" b="0"/>
              <a:t>Thông số thiết lập bằng SSMS</a:t>
            </a:r>
          </a:p>
          <a:p>
            <a:pPr marL="171450" indent="-171450">
              <a:buFont typeface="Arial" panose="020B0604020202020204" pitchFamily="34" charset="0"/>
              <a:buChar char="•"/>
            </a:pPr>
            <a:r>
              <a:rPr lang="en-US" b="0"/>
              <a:t>Thông số thiết lập bằng T-SQL</a:t>
            </a:r>
          </a:p>
        </p:txBody>
      </p:sp>
      <p:sp>
        <p:nvSpPr>
          <p:cNvPr id="4" name="Slide Number Placeholder 3"/>
          <p:cNvSpPr>
            <a:spLocks noGrp="1"/>
          </p:cNvSpPr>
          <p:nvPr>
            <p:ph type="sldNum" sz="quarter" idx="5"/>
          </p:nvPr>
        </p:nvSpPr>
        <p:spPr/>
        <p:txBody>
          <a:bodyPr/>
          <a:lstStyle/>
          <a:p>
            <a:fld id="{52B0ADB8-CD9A-443E-B573-7F057FE2C40E}" type="slidenum">
              <a:rPr lang="en-US" smtClean="0"/>
              <a:t>14</a:t>
            </a:fld>
            <a:endParaRPr lang="en-US"/>
          </a:p>
        </p:txBody>
      </p:sp>
    </p:spTree>
    <p:extLst>
      <p:ext uri="{BB962C8B-B14F-4D97-AF65-F5344CB8AC3E}">
        <p14:creationId xmlns:p14="http://schemas.microsoft.com/office/powerpoint/2010/main" val="3686626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đ</a:t>
            </a:r>
            <a:r>
              <a:rPr lang="vi-VN" b="1"/>
              <a:t>ối tượng hệ thống </a:t>
            </a:r>
            <a:r>
              <a:rPr lang="en-US" b="1"/>
              <a:t>Query </a:t>
            </a:r>
            <a:r>
              <a:rPr lang="vi-VN" b="1"/>
              <a:t>Store</a:t>
            </a:r>
            <a:endParaRPr lang="en-US" b="1"/>
          </a:p>
          <a:p>
            <a:pPr marL="171450" indent="-171450">
              <a:buFont typeface="Arial" panose="020B0604020202020204" pitchFamily="34" charset="0"/>
              <a:buChar char="•"/>
            </a:pPr>
            <a:r>
              <a:rPr lang="vi-VN" b="0"/>
              <a:t>Các </a:t>
            </a:r>
            <a:r>
              <a:rPr lang="en-US" b="0"/>
              <a:t>thủ tục mới </a:t>
            </a:r>
            <a:r>
              <a:rPr lang="vi-VN" b="0"/>
              <a:t>hệ thống </a:t>
            </a:r>
            <a:r>
              <a:rPr lang="en-US" b="0"/>
              <a:t> </a:t>
            </a:r>
            <a:r>
              <a:rPr lang="vi-VN" b="0"/>
              <a:t>và danh mục </a:t>
            </a:r>
            <a:r>
              <a:rPr lang="en-US" b="0"/>
              <a:t>l</a:t>
            </a:r>
            <a:r>
              <a:rPr lang="vi-VN" b="0"/>
              <a:t>ượt xem liên quan đến </a:t>
            </a:r>
            <a:r>
              <a:rPr lang="en-US" b="1"/>
              <a:t>Query </a:t>
            </a:r>
            <a:r>
              <a:rPr lang="vi-VN" b="1"/>
              <a:t>Store </a:t>
            </a:r>
            <a:r>
              <a:rPr lang="vi-VN" b="0"/>
              <a:t>có thể được tìm thấy trong </a:t>
            </a:r>
            <a:r>
              <a:rPr lang="vi-VN" b="1"/>
              <a:t>SQL Server</a:t>
            </a:r>
            <a:endParaRPr lang="en-US" b="1"/>
          </a:p>
        </p:txBody>
      </p:sp>
      <p:sp>
        <p:nvSpPr>
          <p:cNvPr id="4" name="Slide Number Placeholder 3"/>
          <p:cNvSpPr>
            <a:spLocks noGrp="1"/>
          </p:cNvSpPr>
          <p:nvPr>
            <p:ph type="sldNum" sz="quarter" idx="5"/>
          </p:nvPr>
        </p:nvSpPr>
        <p:spPr/>
        <p:txBody>
          <a:bodyPr/>
          <a:lstStyle/>
          <a:p>
            <a:fld id="{52B0ADB8-CD9A-443E-B573-7F057FE2C40E}" type="slidenum">
              <a:rPr lang="en-US" smtClean="0"/>
              <a:t>15</a:t>
            </a:fld>
            <a:endParaRPr lang="en-US"/>
          </a:p>
        </p:txBody>
      </p:sp>
    </p:spTree>
    <p:extLst>
      <p:ext uri="{BB962C8B-B14F-4D97-AF65-F5344CB8AC3E}">
        <p14:creationId xmlns:p14="http://schemas.microsoft.com/office/powerpoint/2010/main" val="23955257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Điều chỉnh hiệu suất với kho truy vấn</a:t>
            </a:r>
          </a:p>
          <a:p>
            <a:pPr marL="171450" indent="-171450">
              <a:buFont typeface="Arial" panose="020B0604020202020204" pitchFamily="34" charset="0"/>
              <a:buChar char="•"/>
            </a:pPr>
            <a:r>
              <a:rPr lang="vi-VN" b="0"/>
              <a:t>Nếu bất kỳ thay đổi kế hoạch gần đây nào gây ra hiệu suất kém, </a:t>
            </a:r>
            <a:r>
              <a:rPr lang="en-US" b="0"/>
              <a:t>kho </a:t>
            </a:r>
            <a:r>
              <a:rPr lang="vi-VN" b="0"/>
              <a:t>truy vấn có thể được sử dụng để nhanh chóng xác định vấn đề và yêu cầu trở lại kế hoạch trước đó.</a:t>
            </a:r>
            <a:endParaRPr lang="en-US" b="0"/>
          </a:p>
          <a:p>
            <a:pPr marL="171450" indent="-171450">
              <a:buFont typeface="Arial" panose="020B0604020202020204" pitchFamily="34" charset="0"/>
              <a:buChar char="•"/>
            </a:pPr>
            <a:r>
              <a:rPr lang="vi-VN" b="0"/>
              <a:t>Nếu bất kỳ </a:t>
            </a:r>
            <a:r>
              <a:rPr lang="en-US" b="0"/>
              <a:t>truy vấn </a:t>
            </a:r>
            <a:r>
              <a:rPr lang="vi-VN" b="0"/>
              <a:t>nào đang tiêu thụ hầu hết các tài nguyên hệ thống, chẳng hạn như CPU, bộ nhớ hoặc IO chúng có thể được xác định và thay đổi theo đó để đảm bảo mức sử dụng tối ưu</a:t>
            </a:r>
            <a:r>
              <a:rPr lang="en-US" b="0"/>
              <a:t>.</a:t>
            </a:r>
          </a:p>
          <a:p>
            <a:pPr marL="171450" indent="-171450">
              <a:buFont typeface="Arial" panose="020B0604020202020204" pitchFamily="34" charset="0"/>
              <a:buChar char="•"/>
            </a:pPr>
            <a:r>
              <a:rPr lang="vi-VN" b="0"/>
              <a:t>Khi thay đổi đối với các ứng dụng hoặc nền tảng được lên kế hoạch, </a:t>
            </a:r>
            <a:r>
              <a:rPr lang="en-US" b="1"/>
              <a:t>Query</a:t>
            </a:r>
            <a:r>
              <a:rPr lang="vi-VN" b="1"/>
              <a:t> Store </a:t>
            </a:r>
            <a:r>
              <a:rPr lang="vi-VN" b="0"/>
              <a:t>có thể được sử dụng để so sánh hiệu suất trước và sau khi thực hiện thay đổi. Những thay đổi này có thể bao gồm cài đặt các phiên bản mới của ứng dụng, cài đặt phần cứng mới, nâng cấp mức tương thích </a:t>
            </a:r>
            <a:r>
              <a:rPr lang="en-US" b="0"/>
              <a:t>cho</a:t>
            </a:r>
            <a:r>
              <a:rPr lang="vi-VN" b="0"/>
              <a:t> cơ sở dữ liệu,</a:t>
            </a:r>
            <a:r>
              <a:rPr lang="en-US" b="0"/>
              <a:t> </a:t>
            </a:r>
            <a:r>
              <a:rPr lang="vi-VN" b="0"/>
              <a:t>và thêm hoặc sửa đổi các chỉ mục</a:t>
            </a:r>
            <a:r>
              <a:rPr lang="en-US" b="0"/>
              <a:t>.</a:t>
            </a:r>
          </a:p>
          <a:p>
            <a:pPr marL="171450" indent="-171450">
              <a:buFont typeface="Arial" panose="020B0604020202020204" pitchFamily="34" charset="0"/>
              <a:buChar char="•"/>
            </a:pPr>
            <a:r>
              <a:rPr lang="vi-VN" b="0"/>
              <a:t>Khi nâng cấp được lên kế hoạch để tối ưu hóa truy vấn, hiệu suất của các truy vấn có thể được ghi lại trước khi nâng cấp và cố định trong quá trình nâng cấp</a:t>
            </a:r>
            <a:r>
              <a:rPr lang="en-US" b="0"/>
              <a:t>.</a:t>
            </a:r>
          </a:p>
          <a:p>
            <a:pPr marL="171450" indent="-171450">
              <a:buFont typeface="Arial" panose="020B0604020202020204" pitchFamily="34" charset="0"/>
              <a:buChar char="•"/>
            </a:pPr>
            <a:r>
              <a:rPr lang="vi-VN" b="0"/>
              <a:t>Khi cần tối ưu hóa tài nguyên, các truy vấn có tần suất thực thi thấp hơn có thể được xác định và phân bổ tài nguyên cho chúng có thể được xử lý chủ động</a:t>
            </a:r>
            <a:r>
              <a:rPr lang="en-US" b="0"/>
              <a:t>.</a:t>
            </a:r>
          </a:p>
        </p:txBody>
      </p:sp>
      <p:sp>
        <p:nvSpPr>
          <p:cNvPr id="4" name="Slide Number Placeholder 3"/>
          <p:cNvSpPr>
            <a:spLocks noGrp="1"/>
          </p:cNvSpPr>
          <p:nvPr>
            <p:ph type="sldNum" sz="quarter" idx="5"/>
          </p:nvPr>
        </p:nvSpPr>
        <p:spPr/>
        <p:txBody>
          <a:bodyPr/>
          <a:lstStyle/>
          <a:p>
            <a:fld id="{52B0ADB8-CD9A-443E-B573-7F057FE2C40E}" type="slidenum">
              <a:rPr lang="en-US" smtClean="0"/>
              <a:t>16</a:t>
            </a:fld>
            <a:endParaRPr lang="en-US"/>
          </a:p>
        </p:txBody>
      </p:sp>
    </p:spTree>
    <p:extLst>
      <p:ext uri="{BB962C8B-B14F-4D97-AF65-F5344CB8AC3E}">
        <p14:creationId xmlns:p14="http://schemas.microsoft.com/office/powerpoint/2010/main" val="2575159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a:t>
            </a:r>
            <a:r>
              <a:rPr lang="vi-VN" b="1"/>
              <a:t>ơ</a:t>
            </a:r>
            <a:r>
              <a:rPr lang="en-US" b="1"/>
              <a:t> </a:t>
            </a:r>
            <a:r>
              <a:rPr lang="vi-VN" b="1"/>
              <a:t>sở dữ liệu</a:t>
            </a:r>
            <a:r>
              <a:rPr lang="en-US" b="1"/>
              <a:t> phân chia </a:t>
            </a:r>
            <a:r>
              <a:rPr lang="en-US" b="0"/>
              <a:t>(L</a:t>
            </a:r>
            <a:r>
              <a:rPr lang="vi-VN" b="0"/>
              <a:t>ưu trữ tại chỗ và lưu trữ đám mây</a:t>
            </a:r>
            <a:r>
              <a:rPr lang="en-US" b="0"/>
              <a:t>)</a:t>
            </a:r>
            <a:endParaRPr lang="vi-VN" b="0"/>
          </a:p>
          <a:p>
            <a:pPr marL="171450" indent="-171450">
              <a:buFont typeface="Arial" panose="020B0604020202020204" pitchFamily="34" charset="0"/>
              <a:buChar char="•"/>
            </a:pPr>
            <a:r>
              <a:rPr lang="vi-VN" b="1"/>
              <a:t>Stretch Database </a:t>
            </a:r>
            <a:r>
              <a:rPr lang="vi-VN"/>
              <a:t>là một tính năng mới được tích hợp vào SQL Server tạo điều kiện cho việc lưu trữ một phần của cơ sở dữ liệu trong đám mây</a:t>
            </a:r>
            <a:r>
              <a:rPr lang="en-US"/>
              <a:t>.</a:t>
            </a:r>
          </a:p>
          <a:p>
            <a:pPr marL="171450" indent="-171450">
              <a:buFont typeface="Arial" panose="020B0604020202020204" pitchFamily="34" charset="0"/>
              <a:buChar char="•"/>
            </a:pPr>
            <a:r>
              <a:rPr lang="vi-VN"/>
              <a:t>Khi có nhu cầu duy trì dữ liệu trong thời gian dài hơn, tính năng </a:t>
            </a:r>
            <a:r>
              <a:rPr lang="vi-VN" b="1"/>
              <a:t>Stretch Database </a:t>
            </a:r>
            <a:r>
              <a:rPr lang="vi-VN"/>
              <a:t>cho phép di chuyển các bảng và dữ liệu an toàn cho đám mây</a:t>
            </a:r>
            <a:r>
              <a:rPr lang="en-US"/>
              <a:t>.</a:t>
            </a:r>
          </a:p>
          <a:p>
            <a:pPr marL="171450" indent="-171450">
              <a:buFont typeface="Arial" panose="020B0604020202020204" pitchFamily="34" charset="0"/>
              <a:buChar char="•"/>
            </a:pPr>
            <a:r>
              <a:rPr lang="vi-VN"/>
              <a:t>Hơn nữa, các ứng dụng vẫn có thể truy vấn dữ liệu theo cách tương tự như trước đây. Kích hoạt tính năng </a:t>
            </a:r>
            <a:r>
              <a:rPr lang="vi-VN" b="1"/>
              <a:t>Stretch Database </a:t>
            </a:r>
            <a:r>
              <a:rPr lang="vi-VN"/>
              <a:t>cho phép thực hiện như sau</a:t>
            </a:r>
            <a:r>
              <a:rPr lang="en-US"/>
              <a:t>:</a:t>
            </a:r>
            <a:endParaRPr lang="vi-VN"/>
          </a:p>
          <a:p>
            <a:pPr marL="628650" lvl="1" indent="-171450">
              <a:buFont typeface="Arial" panose="020B0604020202020204" pitchFamily="34" charset="0"/>
              <a:buChar char="•"/>
            </a:pPr>
            <a:r>
              <a:rPr lang="vi-VN"/>
              <a:t>Di chuyển dữ liệu lưu trữ cũng như dữ liệu hiện tại đến đám mây an toàn bằng cách sử dụng các tính năng mã hóa</a:t>
            </a:r>
            <a:r>
              <a:rPr lang="en-US"/>
              <a:t>.</a:t>
            </a:r>
            <a:endParaRPr lang="vi-VN"/>
          </a:p>
          <a:p>
            <a:pPr marL="628650" lvl="1" indent="-171450">
              <a:buFont typeface="Arial" panose="020B0604020202020204" pitchFamily="34" charset="0"/>
              <a:buChar char="•"/>
            </a:pPr>
            <a:r>
              <a:rPr lang="vi-VN"/>
              <a:t>Truy cập và truy vấn dữ liệu trên đám mây bất cứ lúc nào, mà không có bất kỳ thay đổi nào đối với các ứng dụng hoặc truy vấn hiện có</a:t>
            </a:r>
            <a:r>
              <a:rPr lang="en-US"/>
              <a:t>.</a:t>
            </a:r>
            <a:endParaRPr lang="vi-VN"/>
          </a:p>
          <a:p>
            <a:pPr marL="628650" lvl="1" indent="-171450">
              <a:buFont typeface="Arial" panose="020B0604020202020204" pitchFamily="34" charset="0"/>
              <a:buChar char="•"/>
            </a:pPr>
            <a:r>
              <a:rPr lang="vi-VN"/>
              <a:t>Giảm yêu cầu lưu trữ của dữ liệu tại chỗ bằng cách sử dụng dung lượng lưu trữ rộng lớn của đám mây</a:t>
            </a:r>
            <a:r>
              <a:rPr lang="en-US"/>
              <a:t>.</a:t>
            </a:r>
            <a:endParaRPr lang="vi-VN"/>
          </a:p>
          <a:p>
            <a:pPr marL="628650" lvl="1" indent="-171450">
              <a:buFont typeface="Arial" panose="020B0604020202020204" pitchFamily="34" charset="0"/>
              <a:buChar char="•"/>
            </a:pPr>
            <a:r>
              <a:rPr lang="vi-VN"/>
              <a:t>Giảm gánh nặng xử lý dữ liệu tại chỗ bằng cách chạy các quy trình trên đám mây theo cách minh bạch cho các ứng dụng</a:t>
            </a:r>
            <a:r>
              <a:rPr lang="en-US"/>
              <a:t>.</a:t>
            </a:r>
          </a:p>
        </p:txBody>
      </p:sp>
      <p:sp>
        <p:nvSpPr>
          <p:cNvPr id="4" name="Slide Number Placeholder 3"/>
          <p:cNvSpPr>
            <a:spLocks noGrp="1"/>
          </p:cNvSpPr>
          <p:nvPr>
            <p:ph type="sldNum" sz="quarter" idx="5"/>
          </p:nvPr>
        </p:nvSpPr>
        <p:spPr/>
        <p:txBody>
          <a:bodyPr/>
          <a:lstStyle/>
          <a:p>
            <a:fld id="{52B0ADB8-CD9A-443E-B573-7F057FE2C40E}" type="slidenum">
              <a:rPr lang="en-US" smtClean="0"/>
              <a:t>17</a:t>
            </a:fld>
            <a:endParaRPr lang="en-US"/>
          </a:p>
        </p:txBody>
      </p:sp>
    </p:spTree>
    <p:extLst>
      <p:ext uri="{BB962C8B-B14F-4D97-AF65-F5344CB8AC3E}">
        <p14:creationId xmlns:p14="http://schemas.microsoft.com/office/powerpoint/2010/main" val="15584911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Kiến trúc C</a:t>
            </a:r>
            <a:r>
              <a:rPr lang="vi-VN" b="1"/>
              <a:t>ơ</a:t>
            </a:r>
            <a:r>
              <a:rPr lang="en-US" b="1"/>
              <a:t> </a:t>
            </a:r>
            <a:r>
              <a:rPr lang="vi-VN" b="1"/>
              <a:t>sở dữ liệu</a:t>
            </a:r>
            <a:r>
              <a:rPr lang="en-US" b="1"/>
              <a:t> phân chia</a:t>
            </a:r>
          </a:p>
          <a:p>
            <a:pPr marL="171450" indent="-171450">
              <a:buFont typeface="Arial" panose="020B0604020202020204" pitchFamily="34" charset="0"/>
              <a:buChar char="•"/>
            </a:pPr>
            <a:r>
              <a:rPr lang="vi-VN" b="0"/>
              <a:t>Một định nghĩa máy chủ được liên kết an toàn được tạo trong SQL Server tại chỗ khi tính năng </a:t>
            </a:r>
            <a:r>
              <a:rPr lang="vi-VN" b="1"/>
              <a:t>Stretch Database </a:t>
            </a:r>
            <a:r>
              <a:rPr lang="vi-VN" b="0"/>
              <a:t>được bật trên cơ sở dữ liệu.</a:t>
            </a:r>
          </a:p>
          <a:p>
            <a:pPr marL="171450" indent="-171450">
              <a:buFont typeface="Arial" panose="020B0604020202020204" pitchFamily="34" charset="0"/>
              <a:buChar char="•"/>
            </a:pPr>
            <a:r>
              <a:rPr lang="vi-VN" b="0"/>
              <a:t>Điều này thiết lập một kết nối đến cơ sở dữ liệu từ xa hoặc đám mây.</a:t>
            </a:r>
          </a:p>
          <a:p>
            <a:pPr marL="171450" indent="-171450">
              <a:buFont typeface="Arial" panose="020B0604020202020204" pitchFamily="34" charset="0"/>
              <a:buChar char="•"/>
            </a:pPr>
            <a:r>
              <a:rPr lang="vi-VN" b="0"/>
              <a:t>Khi </a:t>
            </a:r>
            <a:r>
              <a:rPr lang="vi-VN" b="1"/>
              <a:t>Stretch Database </a:t>
            </a:r>
            <a:r>
              <a:rPr lang="vi-VN" b="0"/>
              <a:t>được bật trên một bảng, các tài nguyên trên đám mây được chuẩn bị và nếu di chuyển được bật, dữ liệu đủ điều kiện được di chuyển đến cơ sở dữ liệu đám mây..</a:t>
            </a:r>
            <a:endParaRPr lang="en-US" b="0"/>
          </a:p>
        </p:txBody>
      </p:sp>
      <p:sp>
        <p:nvSpPr>
          <p:cNvPr id="4" name="Slide Number Placeholder 3"/>
          <p:cNvSpPr>
            <a:spLocks noGrp="1"/>
          </p:cNvSpPr>
          <p:nvPr>
            <p:ph type="sldNum" sz="quarter" idx="5"/>
          </p:nvPr>
        </p:nvSpPr>
        <p:spPr/>
        <p:txBody>
          <a:bodyPr/>
          <a:lstStyle/>
          <a:p>
            <a:fld id="{52B0ADB8-CD9A-443E-B573-7F057FE2C40E}" type="slidenum">
              <a:rPr lang="en-US" smtClean="0"/>
              <a:t>18</a:t>
            </a:fld>
            <a:endParaRPr lang="en-US"/>
          </a:p>
        </p:txBody>
      </p:sp>
    </p:spTree>
    <p:extLst>
      <p:ext uri="{BB962C8B-B14F-4D97-AF65-F5344CB8AC3E}">
        <p14:creationId xmlns:p14="http://schemas.microsoft.com/office/powerpoint/2010/main" val="2868173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Thiết lập cơ sở dữ liệu </a:t>
            </a:r>
            <a:r>
              <a:rPr lang="en-US" b="1"/>
              <a:t>phân chia 1-2</a:t>
            </a:r>
          </a:p>
          <a:p>
            <a:pPr marL="171450" indent="-171450">
              <a:buFont typeface="Arial" panose="020B0604020202020204" pitchFamily="34" charset="0"/>
              <a:buChar char="•"/>
            </a:pPr>
            <a:r>
              <a:rPr lang="vi-VN" b="1"/>
              <a:t>Điều kiện tiên quyết để kích hoạt Stretch Database</a:t>
            </a:r>
            <a:endParaRPr lang="en-US" b="1"/>
          </a:p>
          <a:p>
            <a:pPr marL="628650" lvl="1" indent="-171450">
              <a:buFont typeface="Arial" panose="020B0604020202020204" pitchFamily="34" charset="0"/>
              <a:buChar char="•"/>
            </a:pPr>
            <a:r>
              <a:rPr lang="vi-VN"/>
              <a:t>Bật cơ sở dữ liệu cho trình hướng dẫn kéo dài cấu hình máy chủ để kéo dài.</a:t>
            </a:r>
          </a:p>
          <a:p>
            <a:pPr marL="628650" lvl="1" indent="-171450">
              <a:buFont typeface="Arial" panose="020B0604020202020204" pitchFamily="34" charset="0"/>
              <a:buChar char="•"/>
            </a:pPr>
            <a:r>
              <a:rPr lang="vi-VN"/>
              <a:t>Một quản trị viên phải kích hoạt thủ công bằng cách chạy </a:t>
            </a:r>
            <a:r>
              <a:rPr lang="vi-VN" b="1"/>
              <a:t>sp_configure </a:t>
            </a:r>
            <a:r>
              <a:rPr lang="vi-VN"/>
              <a:t>trước sau đó, chạy trình hướng dẫn hoặc quản trị viên phải chạy trình hướng dẫn.</a:t>
            </a:r>
            <a:endParaRPr lang="en-US"/>
          </a:p>
        </p:txBody>
      </p:sp>
      <p:sp>
        <p:nvSpPr>
          <p:cNvPr id="4" name="Slide Number Placeholder 3"/>
          <p:cNvSpPr>
            <a:spLocks noGrp="1"/>
          </p:cNvSpPr>
          <p:nvPr>
            <p:ph type="sldNum" sz="quarter" idx="5"/>
          </p:nvPr>
        </p:nvSpPr>
        <p:spPr/>
        <p:txBody>
          <a:bodyPr/>
          <a:lstStyle/>
          <a:p>
            <a:fld id="{52B0ADB8-CD9A-443E-B573-7F057FE2C40E}" type="slidenum">
              <a:rPr lang="en-US" smtClean="0"/>
              <a:t>19</a:t>
            </a:fld>
            <a:endParaRPr lang="en-US"/>
          </a:p>
        </p:txBody>
      </p:sp>
    </p:spTree>
    <p:extLst>
      <p:ext uri="{BB962C8B-B14F-4D97-AF65-F5344CB8AC3E}">
        <p14:creationId xmlns:p14="http://schemas.microsoft.com/office/powerpoint/2010/main" val="4085884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Thiết lập cơ sở dữ liệu </a:t>
            </a:r>
            <a:r>
              <a:rPr lang="en-US" b="1"/>
              <a:t>phân chia 2-2</a:t>
            </a:r>
          </a:p>
          <a:p>
            <a:endParaRPr lang="en-US"/>
          </a:p>
        </p:txBody>
      </p:sp>
      <p:sp>
        <p:nvSpPr>
          <p:cNvPr id="4" name="Slide Number Placeholder 3"/>
          <p:cNvSpPr>
            <a:spLocks noGrp="1"/>
          </p:cNvSpPr>
          <p:nvPr>
            <p:ph type="sldNum" sz="quarter" idx="5"/>
          </p:nvPr>
        </p:nvSpPr>
        <p:spPr/>
        <p:txBody>
          <a:bodyPr/>
          <a:lstStyle/>
          <a:p>
            <a:fld id="{52B0ADB8-CD9A-443E-B573-7F057FE2C40E}" type="slidenum">
              <a:rPr lang="en-US" smtClean="0"/>
              <a:t>20</a:t>
            </a:fld>
            <a:endParaRPr lang="en-US"/>
          </a:p>
        </p:txBody>
      </p:sp>
    </p:spTree>
    <p:extLst>
      <p:ext uri="{BB962C8B-B14F-4D97-AF65-F5344CB8AC3E}">
        <p14:creationId xmlns:p14="http://schemas.microsoft.com/office/powerpoint/2010/main" val="11500880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Giới hạn cơ sở dữ liệu </a:t>
            </a:r>
            <a:r>
              <a:rPr lang="en-US" b="1"/>
              <a:t>phân chia (</a:t>
            </a:r>
            <a:r>
              <a:rPr lang="vi-VN" b="1"/>
              <a:t>kéo dài</a:t>
            </a:r>
            <a:r>
              <a:rPr lang="en-US" b="1"/>
              <a:t>) 1-3</a:t>
            </a:r>
          </a:p>
          <a:p>
            <a:pPr marL="171450" indent="-171450">
              <a:buFont typeface="Arial" panose="020B0604020202020204" pitchFamily="34" charset="0"/>
              <a:buChar char="•"/>
            </a:pPr>
            <a:r>
              <a:rPr lang="vi-VN"/>
              <a:t>Hạn chế cho bảng </a:t>
            </a:r>
            <a:r>
              <a:rPr lang="en-US"/>
              <a:t>k</a:t>
            </a:r>
            <a:r>
              <a:rPr lang="vi-VN"/>
              <a:t>ích hoạt kéo dài là:</a:t>
            </a:r>
          </a:p>
          <a:p>
            <a:pPr marL="171450" indent="-171450">
              <a:buFont typeface="Arial" panose="020B0604020202020204" pitchFamily="34" charset="0"/>
              <a:buChar char="•"/>
            </a:pPr>
            <a:r>
              <a:rPr lang="en-US" b="1"/>
              <a:t>Các ràng buộc</a:t>
            </a:r>
            <a:endParaRPr lang="vi-VN" b="1"/>
          </a:p>
          <a:p>
            <a:pPr marL="628650" lvl="1" indent="-171450">
              <a:buFont typeface="Arial" panose="020B0604020202020204" pitchFamily="34" charset="0"/>
              <a:buChar char="•"/>
            </a:pPr>
            <a:r>
              <a:rPr lang="vi-VN"/>
              <a:t>Tính duy nhất không được thi hành cho các ràng buộc duy nhất và các ràng buộc khóa chính trong bảng Azure có chứa dữ liệu di chuyển.</a:t>
            </a:r>
          </a:p>
          <a:p>
            <a:pPr marL="171450" indent="-171450">
              <a:buFont typeface="Arial" panose="020B0604020202020204" pitchFamily="34" charset="0"/>
              <a:buChar char="•"/>
            </a:pPr>
            <a:r>
              <a:rPr lang="en-US" b="1"/>
              <a:t>Các thao tác </a:t>
            </a:r>
            <a:r>
              <a:rPr lang="vi-VN" b="1"/>
              <a:t>DML</a:t>
            </a:r>
          </a:p>
          <a:p>
            <a:pPr marL="628650" lvl="1" indent="-171450">
              <a:buFont typeface="Arial" panose="020B0604020202020204" pitchFamily="34" charset="0"/>
              <a:buChar char="•"/>
            </a:pPr>
            <a:r>
              <a:rPr lang="vi-VN"/>
              <a:t>Bạn không thể cập nhật hoặc xóa các hàng đã được di chuyển hoặc các hàng đủ điều kiện để di chuyển, trong một bảng hỗ trợ kéo dài hoặc trong </a:t>
            </a:r>
            <a:r>
              <a:rPr lang="en-US"/>
              <a:t>khung nhìn </a:t>
            </a:r>
            <a:r>
              <a:rPr lang="vi-VN"/>
              <a:t>bao gồm các bảng hỗ trợ kéo dài.</a:t>
            </a:r>
          </a:p>
          <a:p>
            <a:pPr marL="628650" lvl="1" indent="-171450">
              <a:buFont typeface="Arial" panose="020B0604020202020204" pitchFamily="34" charset="0"/>
              <a:buChar char="•"/>
            </a:pPr>
            <a:r>
              <a:rPr lang="vi-VN"/>
              <a:t>Bạn không thể </a:t>
            </a:r>
            <a:r>
              <a:rPr lang="en-US"/>
              <a:t>thêm</a:t>
            </a:r>
            <a:r>
              <a:rPr lang="vi-VN"/>
              <a:t> các hàng vào một bảng hỗ trợ kéo dài trên máy chủ được liên kết.</a:t>
            </a:r>
          </a:p>
          <a:p>
            <a:pPr marL="171450" indent="-171450">
              <a:buFont typeface="Arial" panose="020B0604020202020204" pitchFamily="34" charset="0"/>
              <a:buChar char="•"/>
            </a:pPr>
            <a:r>
              <a:rPr lang="vi-VN" b="1"/>
              <a:t>Chỉ </a:t>
            </a:r>
            <a:r>
              <a:rPr lang="en-US" b="1"/>
              <a:t>mục</a:t>
            </a:r>
            <a:endParaRPr lang="vi-VN" b="1"/>
          </a:p>
          <a:p>
            <a:pPr marL="628650" lvl="1" indent="-171450">
              <a:buFont typeface="Arial" panose="020B0604020202020204" pitchFamily="34" charset="0"/>
              <a:buChar char="•"/>
            </a:pPr>
            <a:r>
              <a:rPr lang="vi-VN"/>
              <a:t>Bạn không thể tạo một chỉ mục cho một khung nhìn bao gồm các bảng hỗ trợ kéo dài.</a:t>
            </a:r>
          </a:p>
          <a:p>
            <a:pPr marL="628650" lvl="1" indent="-171450">
              <a:buFont typeface="Arial" panose="020B0604020202020204" pitchFamily="34" charset="0"/>
              <a:buChar char="•"/>
            </a:pPr>
            <a:r>
              <a:rPr lang="vi-VN"/>
              <a:t>Các bộ lọc trên các chỉ mục máy chủ SQL không được truyền đến bảng từ xa.</a:t>
            </a:r>
            <a:endParaRPr lang="en-US"/>
          </a:p>
        </p:txBody>
      </p:sp>
      <p:sp>
        <p:nvSpPr>
          <p:cNvPr id="4" name="Slide Number Placeholder 3"/>
          <p:cNvSpPr>
            <a:spLocks noGrp="1"/>
          </p:cNvSpPr>
          <p:nvPr>
            <p:ph type="sldNum" sz="quarter" idx="5"/>
          </p:nvPr>
        </p:nvSpPr>
        <p:spPr/>
        <p:txBody>
          <a:bodyPr/>
          <a:lstStyle/>
          <a:p>
            <a:fld id="{52B0ADB8-CD9A-443E-B573-7F057FE2C40E}" type="slidenum">
              <a:rPr lang="en-US" smtClean="0"/>
              <a:t>21</a:t>
            </a:fld>
            <a:endParaRPr lang="en-US"/>
          </a:p>
        </p:txBody>
      </p:sp>
    </p:spTree>
    <p:extLst>
      <p:ext uri="{BB962C8B-B14F-4D97-AF65-F5344CB8AC3E}">
        <p14:creationId xmlns:p14="http://schemas.microsoft.com/office/powerpoint/2010/main" val="22307207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Giới hạn cơ sở dữ liệu </a:t>
            </a:r>
            <a:r>
              <a:rPr lang="en-US" b="1"/>
              <a:t>phân chia (</a:t>
            </a:r>
            <a:r>
              <a:rPr lang="vi-VN" b="1"/>
              <a:t>kéo dài</a:t>
            </a:r>
            <a:r>
              <a:rPr lang="en-US" b="1"/>
              <a:t>) 2-3</a:t>
            </a:r>
          </a:p>
          <a:p>
            <a:r>
              <a:rPr lang="en-US"/>
              <a:t>Các mục sau hiện đang ngăn bạn cho phép kéo dài cho một bảng</a:t>
            </a:r>
          </a:p>
          <a:p>
            <a:pPr marL="171450" indent="-171450">
              <a:buFont typeface="Arial" panose="020B0604020202020204" pitchFamily="34" charset="0"/>
              <a:buChar char="•"/>
            </a:pPr>
            <a:r>
              <a:rPr lang="en-US" b="1"/>
              <a:t>Các thuộc tính bảng</a:t>
            </a:r>
          </a:p>
          <a:p>
            <a:pPr marL="628650" lvl="1" indent="-171450">
              <a:buFont typeface="Arial" panose="020B0604020202020204" pitchFamily="34" charset="0"/>
              <a:buChar char="•"/>
            </a:pPr>
            <a:r>
              <a:rPr lang="vi-VN"/>
              <a:t>Các bảng có hơn 1.023 cột hoặc hơn 998 chỉ mục</a:t>
            </a:r>
          </a:p>
          <a:p>
            <a:pPr marL="628650" lvl="1" indent="-171450">
              <a:buFont typeface="Arial" panose="020B0604020202020204" pitchFamily="34" charset="0"/>
              <a:buChar char="•"/>
            </a:pPr>
            <a:r>
              <a:rPr lang="en-US" sz="1200" spc="-35">
                <a:latin typeface="Arial"/>
                <a:cs typeface="Arial"/>
              </a:rPr>
              <a:t>FileTables </a:t>
            </a:r>
            <a:r>
              <a:rPr lang="vi-VN"/>
              <a:t>hoặc bảng có chứa dữ liệu FILESTREAM</a:t>
            </a:r>
          </a:p>
          <a:p>
            <a:pPr marL="628650" lvl="1" indent="-171450">
              <a:buFont typeface="Arial" panose="020B0604020202020204" pitchFamily="34" charset="0"/>
              <a:buChar char="•"/>
            </a:pPr>
            <a:r>
              <a:rPr lang="vi-VN"/>
              <a:t>Các bảng được nhân rộng hoặc đang </a:t>
            </a:r>
            <a:r>
              <a:rPr lang="en-US" sz="1200" spc="-10">
                <a:latin typeface="Arial"/>
                <a:cs typeface="Arial"/>
              </a:rPr>
              <a:t>active </a:t>
            </a:r>
            <a:r>
              <a:rPr lang="vi-VN"/>
              <a:t>bằng cách sử dụng thay đổi theo dõi hoặc thay đổi</a:t>
            </a:r>
            <a:r>
              <a:rPr lang="en-US"/>
              <a:t>.</a:t>
            </a:r>
          </a:p>
          <a:p>
            <a:pPr marL="171450" lvl="0" indent="-171450">
              <a:buFont typeface="Arial" panose="020B0604020202020204" pitchFamily="34" charset="0"/>
              <a:buChar char="•"/>
            </a:pPr>
            <a:r>
              <a:rPr lang="en-US" b="1"/>
              <a:t>Thu thập dữ liệu</a:t>
            </a:r>
          </a:p>
          <a:p>
            <a:pPr marL="628650" lvl="1" indent="-171450">
              <a:buFont typeface="Arial" panose="020B0604020202020204" pitchFamily="34" charset="0"/>
              <a:buChar char="•"/>
            </a:pPr>
            <a:r>
              <a:rPr lang="en-US"/>
              <a:t>T</a:t>
            </a:r>
            <a:r>
              <a:rPr lang="vi-VN"/>
              <a:t>ối ưu hóa bộ nhớ</a:t>
            </a:r>
            <a:r>
              <a:rPr lang="en-US"/>
              <a:t> b</a:t>
            </a:r>
            <a:r>
              <a:rPr lang="vi-VN"/>
              <a:t>ảng</a:t>
            </a:r>
            <a:endParaRPr lang="en-US"/>
          </a:p>
          <a:p>
            <a:pPr marL="171450" lvl="0" indent="-171450">
              <a:buFont typeface="Arial" panose="020B0604020202020204" pitchFamily="34" charset="0"/>
              <a:buChar char="•"/>
            </a:pPr>
            <a:r>
              <a:rPr lang="en-US" b="1"/>
              <a:t>Các kiểu dữ liệu</a:t>
            </a:r>
          </a:p>
          <a:p>
            <a:pPr marL="614680" lvl="1" indent="-144780">
              <a:lnSpc>
                <a:spcPct val="100000"/>
              </a:lnSpc>
              <a:buChar char="•"/>
              <a:tabLst>
                <a:tab pos="157480" algn="l"/>
              </a:tabLst>
            </a:pPr>
            <a:r>
              <a:rPr lang="en-US" sz="1200" spc="20">
                <a:latin typeface="Arial"/>
                <a:cs typeface="Arial"/>
              </a:rPr>
              <a:t>text, </a:t>
            </a:r>
            <a:r>
              <a:rPr lang="en-US" sz="1200" spc="25">
                <a:latin typeface="Arial"/>
                <a:cs typeface="Arial"/>
              </a:rPr>
              <a:t>ntext,</a:t>
            </a:r>
            <a:r>
              <a:rPr lang="en-US" sz="1200" spc="-365">
                <a:latin typeface="Arial"/>
                <a:cs typeface="Arial"/>
              </a:rPr>
              <a:t> </a:t>
            </a:r>
            <a:r>
              <a:rPr lang="en-US" sz="1200" spc="-35">
                <a:latin typeface="Arial"/>
                <a:cs typeface="Arial"/>
              </a:rPr>
              <a:t>và </a:t>
            </a:r>
            <a:r>
              <a:rPr lang="en-US" sz="1200" spc="-75">
                <a:latin typeface="Arial"/>
                <a:cs typeface="Arial"/>
              </a:rPr>
              <a:t>image</a:t>
            </a:r>
            <a:endParaRPr lang="en-US" sz="1200">
              <a:latin typeface="Arial"/>
              <a:cs typeface="Arial"/>
            </a:endParaRPr>
          </a:p>
          <a:p>
            <a:pPr marL="628650" lvl="1" indent="-171450">
              <a:buFont typeface="Arial" panose="020B0604020202020204" pitchFamily="34" charset="0"/>
              <a:buChar char="•"/>
            </a:pPr>
            <a:r>
              <a:rPr lang="en-US"/>
              <a:t>t</a:t>
            </a:r>
            <a:r>
              <a:rPr lang="vi-VN"/>
              <a:t>imestamp</a:t>
            </a:r>
          </a:p>
          <a:p>
            <a:pPr marL="628650" lvl="1" indent="-171450">
              <a:buFont typeface="Arial" panose="020B0604020202020204" pitchFamily="34" charset="0"/>
              <a:buChar char="•"/>
            </a:pPr>
            <a:r>
              <a:rPr lang="vi-VN"/>
              <a:t>sql_variant</a:t>
            </a:r>
          </a:p>
          <a:p>
            <a:pPr marL="628650" lvl="1" indent="-171450">
              <a:buFont typeface="Arial" panose="020B0604020202020204" pitchFamily="34" charset="0"/>
              <a:buChar char="•"/>
            </a:pPr>
            <a:r>
              <a:rPr lang="vi-VN"/>
              <a:t>XML</a:t>
            </a:r>
          </a:p>
          <a:p>
            <a:pPr marL="628650" lvl="1" indent="-171450">
              <a:buFont typeface="Arial" panose="020B0604020202020204" pitchFamily="34" charset="0"/>
              <a:buChar char="•"/>
            </a:pPr>
            <a:r>
              <a:rPr lang="vi-VN"/>
              <a:t>Các loại dữ liệu CLR bao gồm hình học, địa lý, tiếng hierarchyid và các loại CLR do người dùng </a:t>
            </a:r>
            <a:r>
              <a:rPr lang="en-US"/>
              <a:t>tự</a:t>
            </a:r>
            <a:r>
              <a:rPr lang="vi-VN"/>
              <a:t> định</a:t>
            </a:r>
            <a:r>
              <a:rPr lang="en-US"/>
              <a:t> nghĩa</a:t>
            </a:r>
          </a:p>
          <a:p>
            <a:pPr marL="171450" lvl="0" indent="-171450">
              <a:buFont typeface="Arial" panose="020B0604020202020204" pitchFamily="34" charset="0"/>
              <a:buChar char="•"/>
            </a:pPr>
            <a:r>
              <a:rPr lang="en-US" b="1"/>
              <a:t>Các kiểu cột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spc="10">
                <a:latin typeface="Arial"/>
                <a:cs typeface="Arial"/>
              </a:rPr>
              <a:t>COLUMN_SET</a:t>
            </a:r>
            <a:endParaRPr lang="en-US" sz="1200">
              <a:latin typeface="Arial"/>
              <a:cs typeface="Arial"/>
            </a:endParaRPr>
          </a:p>
          <a:p>
            <a:pPr marL="628650" lvl="1" indent="-171450">
              <a:buFont typeface="Arial" panose="020B0604020202020204" pitchFamily="34" charset="0"/>
              <a:buChar char="•"/>
            </a:pPr>
            <a:r>
              <a:rPr lang="en-US"/>
              <a:t>Các cột tính toán</a:t>
            </a:r>
          </a:p>
        </p:txBody>
      </p:sp>
      <p:sp>
        <p:nvSpPr>
          <p:cNvPr id="4" name="Slide Number Placeholder 3"/>
          <p:cNvSpPr>
            <a:spLocks noGrp="1"/>
          </p:cNvSpPr>
          <p:nvPr>
            <p:ph type="sldNum" sz="quarter" idx="5"/>
          </p:nvPr>
        </p:nvSpPr>
        <p:spPr/>
        <p:txBody>
          <a:bodyPr/>
          <a:lstStyle/>
          <a:p>
            <a:fld id="{52B0ADB8-CD9A-443E-B573-7F057FE2C40E}" type="slidenum">
              <a:rPr lang="en-US" smtClean="0"/>
              <a:t>22</a:t>
            </a:fld>
            <a:endParaRPr lang="en-US"/>
          </a:p>
        </p:txBody>
      </p:sp>
    </p:spTree>
    <p:extLst>
      <p:ext uri="{BB962C8B-B14F-4D97-AF65-F5344CB8AC3E}">
        <p14:creationId xmlns:p14="http://schemas.microsoft.com/office/powerpoint/2010/main" val="27395606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Giới hạn cơ sở dữ liệu </a:t>
            </a:r>
            <a:r>
              <a:rPr lang="en-US" b="1"/>
              <a:t>phân chia (</a:t>
            </a:r>
            <a:r>
              <a:rPr lang="vi-VN" b="1"/>
              <a:t>kéo dài</a:t>
            </a:r>
            <a:r>
              <a:rPr lang="en-US" b="1"/>
              <a:t>) 2-3</a:t>
            </a:r>
          </a:p>
          <a:p>
            <a:pPr marL="171450" indent="-171450">
              <a:buFont typeface="Arial" panose="020B0604020202020204" pitchFamily="34" charset="0"/>
              <a:buChar char="•"/>
            </a:pPr>
            <a:r>
              <a:rPr lang="en-US" b="1"/>
              <a:t>Các ràng buộc</a:t>
            </a:r>
          </a:p>
          <a:p>
            <a:pPr marL="628650" lvl="1" indent="-171450">
              <a:buFont typeface="Arial" panose="020B0604020202020204" pitchFamily="34" charset="0"/>
              <a:buChar char="•"/>
            </a:pPr>
            <a:r>
              <a:rPr lang="en-US"/>
              <a:t>Các r</a:t>
            </a:r>
            <a:r>
              <a:rPr lang="vi-VN"/>
              <a:t>àng buộc mặc định và ràng buộc kiểm tra</a:t>
            </a:r>
          </a:p>
          <a:p>
            <a:pPr marL="628650" lvl="1" indent="-171450">
              <a:buFont typeface="Arial" panose="020B0604020202020204" pitchFamily="34" charset="0"/>
              <a:buChar char="•"/>
            </a:pPr>
            <a:r>
              <a:rPr lang="vi-VN"/>
              <a:t>Các ràng buộc khóa ngoại </a:t>
            </a:r>
            <a:r>
              <a:rPr lang="en-US"/>
              <a:t>trong </a:t>
            </a:r>
            <a:r>
              <a:rPr lang="vi-VN"/>
              <a:t>tham chiếu bảng. Trong mối quan hệ cha-con (ví dụ: thứ tự và </a:t>
            </a:r>
            <a:r>
              <a:rPr lang="en-US"/>
              <a:t>O</a:t>
            </a:r>
            <a:r>
              <a:rPr lang="vi-VN"/>
              <a:t>rder_</a:t>
            </a:r>
            <a:r>
              <a:rPr lang="en-US"/>
              <a:t>D</a:t>
            </a:r>
            <a:r>
              <a:rPr lang="vi-VN"/>
              <a:t>etail), bạn có thể kích hoạt kéo dài cho bảng con (</a:t>
            </a:r>
            <a:r>
              <a:rPr lang="en-US"/>
              <a:t>O</a:t>
            </a:r>
            <a:r>
              <a:rPr lang="vi-VN"/>
              <a:t>rder_</a:t>
            </a:r>
            <a:r>
              <a:rPr lang="en-US"/>
              <a:t>D</a:t>
            </a:r>
            <a:r>
              <a:rPr lang="vi-VN"/>
              <a:t>etail) nhưng không phải cho bảng cha (</a:t>
            </a:r>
            <a:r>
              <a:rPr lang="en-US" b="0" spc="5">
                <a:latin typeface="Arial"/>
                <a:cs typeface="Arial"/>
              </a:rPr>
              <a:t>Order</a:t>
            </a:r>
            <a:r>
              <a:rPr lang="vi-VN"/>
              <a:t>).</a:t>
            </a:r>
            <a:endParaRPr lang="en-US"/>
          </a:p>
          <a:p>
            <a:pPr marL="171450" lvl="0" indent="-171450">
              <a:buFont typeface="Arial" panose="020B0604020202020204" pitchFamily="34" charset="0"/>
              <a:buChar char="•"/>
            </a:pPr>
            <a:r>
              <a:rPr lang="en-US" b="1"/>
              <a:t>Các chỉ mục</a:t>
            </a:r>
          </a:p>
          <a:p>
            <a:pPr marL="628650" lvl="1" indent="-171450">
              <a:buFont typeface="Arial" panose="020B0604020202020204" pitchFamily="34" charset="0"/>
              <a:buChar char="•"/>
            </a:pPr>
            <a:r>
              <a:rPr lang="en-US"/>
              <a:t>Các c</a:t>
            </a:r>
            <a:r>
              <a:rPr lang="vi-VN"/>
              <a:t>hỉ </a:t>
            </a:r>
            <a:r>
              <a:rPr lang="en-US"/>
              <a:t>mục</a:t>
            </a:r>
            <a:r>
              <a:rPr lang="vi-VN"/>
              <a:t> toàn văn</a:t>
            </a:r>
            <a:r>
              <a:rPr lang="en-US"/>
              <a:t> bản</a:t>
            </a:r>
            <a:endParaRPr lang="vi-VN"/>
          </a:p>
          <a:p>
            <a:pPr marL="628650" lvl="1" indent="-171450">
              <a:buFont typeface="Arial" panose="020B0604020202020204" pitchFamily="34" charset="0"/>
              <a:buChar char="•"/>
            </a:pPr>
            <a:r>
              <a:rPr lang="en-US"/>
              <a:t>Các c</a:t>
            </a:r>
            <a:r>
              <a:rPr lang="vi-VN"/>
              <a:t>hỉ </a:t>
            </a:r>
            <a:r>
              <a:rPr lang="en-US"/>
              <a:t>mục</a:t>
            </a:r>
            <a:r>
              <a:rPr lang="vi-VN"/>
              <a:t> XML</a:t>
            </a:r>
          </a:p>
          <a:p>
            <a:pPr marL="628650" lvl="1" indent="-171450">
              <a:buFont typeface="Arial" panose="020B0604020202020204" pitchFamily="34" charset="0"/>
              <a:buChar char="•"/>
            </a:pPr>
            <a:r>
              <a:rPr lang="en-US"/>
              <a:t>Các c</a:t>
            </a:r>
            <a:r>
              <a:rPr lang="vi-VN"/>
              <a:t>hỉ </a:t>
            </a:r>
            <a:r>
              <a:rPr lang="en-US"/>
              <a:t>mục</a:t>
            </a:r>
            <a:r>
              <a:rPr lang="vi-VN"/>
              <a:t> không gian</a:t>
            </a:r>
          </a:p>
          <a:p>
            <a:pPr marL="628650" lvl="1" indent="-171450">
              <a:buFont typeface="Arial" panose="020B0604020202020204" pitchFamily="34" charset="0"/>
              <a:buChar char="•"/>
            </a:pPr>
            <a:r>
              <a:rPr lang="en-US"/>
              <a:t>Các khung nhìn </a:t>
            </a:r>
            <a:r>
              <a:rPr lang="vi-VN"/>
              <a:t>được lập chỉ mục tham chiếu bảng</a:t>
            </a:r>
            <a:endParaRPr lang="en-US"/>
          </a:p>
        </p:txBody>
      </p:sp>
      <p:sp>
        <p:nvSpPr>
          <p:cNvPr id="4" name="Slide Number Placeholder 3"/>
          <p:cNvSpPr>
            <a:spLocks noGrp="1"/>
          </p:cNvSpPr>
          <p:nvPr>
            <p:ph type="sldNum" sz="quarter" idx="5"/>
          </p:nvPr>
        </p:nvSpPr>
        <p:spPr/>
        <p:txBody>
          <a:bodyPr/>
          <a:lstStyle/>
          <a:p>
            <a:fld id="{52B0ADB8-CD9A-443E-B573-7F057FE2C40E}" type="slidenum">
              <a:rPr lang="en-US" smtClean="0"/>
              <a:t>23</a:t>
            </a:fld>
            <a:endParaRPr lang="en-US"/>
          </a:p>
        </p:txBody>
      </p:sp>
    </p:spTree>
    <p:extLst>
      <p:ext uri="{BB962C8B-B14F-4D97-AF65-F5344CB8AC3E}">
        <p14:creationId xmlns:p14="http://schemas.microsoft.com/office/powerpoint/2010/main" val="18638642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p>
          <a:p>
            <a:pPr marL="171450" indent="-171450">
              <a:buFont typeface="Arial" panose="020B0604020202020204" pitchFamily="34" charset="0"/>
              <a:buChar char="•"/>
            </a:pPr>
            <a:r>
              <a:rPr lang="vi-VN"/>
              <a:t>Tính năng </a:t>
            </a:r>
            <a:r>
              <a:rPr lang="vi-VN" b="1"/>
              <a:t>Polybase</a:t>
            </a:r>
            <a:r>
              <a:rPr lang="vi-VN"/>
              <a:t> cung cấp tích hợp liền mạch với các nguồn dữ liệu ngoài, chẳng hạn như lưu trữ </a:t>
            </a:r>
            <a:r>
              <a:rPr lang="vi-VN" b="1"/>
              <a:t>Hadoop</a:t>
            </a:r>
            <a:r>
              <a:rPr lang="vi-VN"/>
              <a:t> hoặc </a:t>
            </a:r>
            <a:r>
              <a:rPr lang="vi-VN" b="1"/>
              <a:t>Azure Blob</a:t>
            </a:r>
            <a:r>
              <a:rPr lang="en-US" b="1"/>
              <a:t> Storage</a:t>
            </a:r>
            <a:r>
              <a:rPr lang="vi-VN"/>
              <a:t>.</a:t>
            </a:r>
          </a:p>
          <a:p>
            <a:pPr marL="171450" indent="-171450">
              <a:buFont typeface="Arial" panose="020B0604020202020204" pitchFamily="34" charset="0"/>
              <a:buChar char="•"/>
            </a:pPr>
            <a:r>
              <a:rPr lang="vi-VN" b="1"/>
              <a:t>Polybase</a:t>
            </a:r>
            <a:r>
              <a:rPr lang="vi-VN"/>
              <a:t> giúp loại bỏ nhu cầu về các kỹ năng chuyên biệt trên </a:t>
            </a:r>
            <a:r>
              <a:rPr lang="vi-VN" b="1"/>
              <a:t>Hadoop Internals </a:t>
            </a:r>
            <a:r>
              <a:rPr lang="vi-VN"/>
              <a:t>bằng cách bật các truy vấn trên các nguồn dữ liệu ngoài với các lệnh Transact-SQL đơn giản.</a:t>
            </a:r>
          </a:p>
          <a:p>
            <a:pPr marL="171450" indent="-171450">
              <a:buFont typeface="Arial" panose="020B0604020202020204" pitchFamily="34" charset="0"/>
              <a:buChar char="•"/>
            </a:pPr>
            <a:r>
              <a:rPr lang="vi-VN" b="1"/>
              <a:t>Query Store </a:t>
            </a:r>
            <a:r>
              <a:rPr lang="vi-VN"/>
              <a:t>là một công cụ tích hợp để cải thiện hiệu suất bằng cách duy trì thông tin lịch sử của mọi truy vấn và kế hoạch thực hiện.</a:t>
            </a:r>
          </a:p>
          <a:p>
            <a:pPr marL="171450" indent="-171450">
              <a:buFont typeface="Arial" panose="020B0604020202020204" pitchFamily="34" charset="0"/>
              <a:buChar char="•"/>
            </a:pPr>
            <a:r>
              <a:rPr lang="vi-VN" b="1"/>
              <a:t>Store Query </a:t>
            </a:r>
            <a:r>
              <a:rPr lang="vi-VN"/>
              <a:t>theo dõi hiệu suất của các truy vấn và kích hoạt cảnh báo về các </a:t>
            </a:r>
            <a:r>
              <a:rPr lang="en-US"/>
              <a:t>kế hoạch</a:t>
            </a:r>
            <a:r>
              <a:rPr lang="vi-VN"/>
              <a:t> hoạt động kém.</a:t>
            </a:r>
          </a:p>
          <a:p>
            <a:pPr marL="171450" indent="-171450">
              <a:buFont typeface="Arial" panose="020B0604020202020204" pitchFamily="34" charset="0"/>
              <a:buChar char="•"/>
            </a:pPr>
            <a:r>
              <a:rPr lang="vi-VN" b="1"/>
              <a:t>Stretch Database </a:t>
            </a:r>
            <a:r>
              <a:rPr lang="vi-VN"/>
              <a:t>là một tính năng trong SQL Server 201</a:t>
            </a:r>
            <a:r>
              <a:rPr lang="en-US"/>
              <a:t>9</a:t>
            </a:r>
            <a:r>
              <a:rPr lang="vi-VN"/>
              <a:t> cho phép kéo dài</a:t>
            </a:r>
            <a:r>
              <a:rPr lang="en-US"/>
              <a:t> m</a:t>
            </a:r>
            <a:r>
              <a:rPr lang="vi-VN"/>
              <a:t>ột phần của cơ sở dữ liệu cho đám mây Azure, do đó giảm chi phí lưu trữ lâu dài cũng như các nỗ lực bảo trì.</a:t>
            </a:r>
          </a:p>
          <a:p>
            <a:pPr marL="171450" indent="-171450">
              <a:buFont typeface="Arial" panose="020B0604020202020204" pitchFamily="34" charset="0"/>
              <a:buChar char="•"/>
            </a:pPr>
            <a:r>
              <a:rPr lang="vi-VN" b="1"/>
              <a:t>Stretch Database </a:t>
            </a:r>
            <a:r>
              <a:rPr lang="vi-VN"/>
              <a:t>được sử dụng để di chuyển lưu trữ và dữ liệu trong giao dịch hiện tại vào đám mây an toàn.</a:t>
            </a:r>
          </a:p>
          <a:p>
            <a:pPr marL="171450" indent="-171450">
              <a:buFont typeface="Arial" panose="020B0604020202020204" pitchFamily="34" charset="0"/>
              <a:buChar char="•"/>
            </a:pPr>
            <a:r>
              <a:rPr lang="vi-VN" b="1"/>
              <a:t>Stretch Database </a:t>
            </a:r>
            <a:r>
              <a:rPr lang="vi-VN"/>
              <a:t>được sử dụng để truy cập dữ liệu đám mây bất cứ lúc nào tương tự như dữ liệu cục bộ có sẵn trên máy</a:t>
            </a:r>
            <a:r>
              <a:rPr lang="en-US"/>
              <a:t>.</a:t>
            </a:r>
          </a:p>
        </p:txBody>
      </p:sp>
      <p:sp>
        <p:nvSpPr>
          <p:cNvPr id="4" name="Slide Number Placeholder 3"/>
          <p:cNvSpPr>
            <a:spLocks noGrp="1"/>
          </p:cNvSpPr>
          <p:nvPr>
            <p:ph type="sldNum" sz="quarter" idx="5"/>
          </p:nvPr>
        </p:nvSpPr>
        <p:spPr/>
        <p:txBody>
          <a:bodyPr/>
          <a:lstStyle/>
          <a:p>
            <a:fld id="{52B0ADB8-CD9A-443E-B573-7F057FE2C40E}" type="slidenum">
              <a:rPr lang="en-US" smtClean="0"/>
              <a:t>24</a:t>
            </a:fld>
            <a:endParaRPr lang="en-US"/>
          </a:p>
        </p:txBody>
      </p:sp>
    </p:spTree>
    <p:extLst>
      <p:ext uri="{BB962C8B-B14F-4D97-AF65-F5344CB8AC3E}">
        <p14:creationId xmlns:p14="http://schemas.microsoft.com/office/powerpoint/2010/main" val="2299464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2777" y="-26924"/>
            <a:ext cx="8378444" cy="63563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a:t>
            </a:fld>
            <a:endParaRPr sz="12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3429253" y="1473961"/>
            <a:ext cx="4544059" cy="1694180"/>
          </a:xfrm>
          <a:prstGeom prst="rect">
            <a:avLst/>
          </a:prstGeom>
        </p:spPr>
        <p:txBody>
          <a:bodyPr wrap="square" lIns="0" tIns="0" rIns="0" bIns="0">
            <a:spAutoFit/>
          </a:bodyPr>
          <a:lstStyle>
            <a:lvl1pPr>
              <a:defRPr sz="36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383540" y="1036320"/>
            <a:ext cx="8120380" cy="3043554"/>
          </a:xfrm>
          <a:prstGeom prst="rect">
            <a:avLst/>
          </a:prstGeom>
        </p:spPr>
        <p:txBody>
          <a:bodyPr wrap="square" lIns="0" tIns="0" rIns="0" bIns="0">
            <a:spAutoFit/>
          </a:bodyPr>
          <a:lstStyle>
            <a:lvl1pPr>
              <a:defRPr sz="18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10/31/2021</a:t>
            </a:fld>
            <a:endParaRPr lang="en-US"/>
          </a:p>
        </p:txBody>
      </p:sp>
      <p:sp>
        <p:nvSpPr>
          <p:cNvPr id="6" name="Holder 6"/>
          <p:cNvSpPr>
            <a:spLocks noGrp="1"/>
          </p:cNvSpPr>
          <p:nvPr>
            <p:ph type="sldNum" sz="quarter" idx="7"/>
          </p:nvPr>
        </p:nvSpPr>
        <p:spPr>
          <a:xfrm>
            <a:off x="7858506" y="6569709"/>
            <a:ext cx="958850" cy="256540"/>
          </a:xfrm>
          <a:prstGeom prst="rect">
            <a:avLst/>
          </a:prstGeom>
        </p:spPr>
        <p:txBody>
          <a:bodyPr wrap="square" lIns="0" tIns="0" rIns="0" bIns="0">
            <a:spAutoFit/>
          </a:bodyPr>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617725" y="4147173"/>
            <a:ext cx="6008370" cy="1999614"/>
          </a:xfrm>
          <a:prstGeom prst="rect">
            <a:avLst/>
          </a:prstGeom>
        </p:spPr>
        <p:txBody>
          <a:bodyPr vert="horz" wrap="square" lIns="0" tIns="77470" rIns="0" bIns="0" rtlCol="0">
            <a:spAutoFit/>
          </a:bodyPr>
          <a:lstStyle/>
          <a:p>
            <a:pPr marL="12700">
              <a:lnSpc>
                <a:spcPct val="100000"/>
              </a:lnSpc>
              <a:spcBef>
                <a:spcPts val="610"/>
              </a:spcBef>
            </a:pPr>
            <a:r>
              <a:rPr sz="2800" b="1" dirty="0">
                <a:latin typeface="Book Antiqua"/>
                <a:cs typeface="Book Antiqua"/>
              </a:rPr>
              <a:t>Session:</a:t>
            </a:r>
            <a:r>
              <a:rPr sz="2800" b="1" spc="-5" dirty="0">
                <a:latin typeface="Book Antiqua"/>
                <a:cs typeface="Book Antiqua"/>
              </a:rPr>
              <a:t> </a:t>
            </a:r>
            <a:r>
              <a:rPr sz="2800" b="1" dirty="0">
                <a:latin typeface="Book Antiqua"/>
                <a:cs typeface="Book Antiqua"/>
              </a:rPr>
              <a:t>17</a:t>
            </a:r>
            <a:endParaRPr sz="2800">
              <a:latin typeface="Book Antiqua"/>
              <a:cs typeface="Book Antiqua"/>
            </a:endParaRPr>
          </a:p>
          <a:p>
            <a:pPr marL="229235" marR="5080" indent="-140335">
              <a:lnSpc>
                <a:spcPct val="101000"/>
              </a:lnSpc>
              <a:spcBef>
                <a:spcPts val="765"/>
              </a:spcBef>
              <a:tabLst>
                <a:tab pos="2788920" algn="l"/>
                <a:tab pos="4519295" algn="l"/>
              </a:tabLst>
            </a:pPr>
            <a:r>
              <a:rPr sz="4500" b="1" i="1" dirty="0">
                <a:latin typeface="Book Antiqua"/>
                <a:cs typeface="Book Antiqua"/>
              </a:rPr>
              <a:t>PolyBase,	</a:t>
            </a:r>
            <a:r>
              <a:rPr sz="4500" b="1" i="1" spc="-5" dirty="0">
                <a:latin typeface="Book Antiqua"/>
                <a:cs typeface="Book Antiqua"/>
              </a:rPr>
              <a:t>Quer</a:t>
            </a:r>
            <a:r>
              <a:rPr sz="4500" b="1" i="1" dirty="0">
                <a:latin typeface="Book Antiqua"/>
                <a:cs typeface="Book Antiqua"/>
              </a:rPr>
              <a:t>y	</a:t>
            </a:r>
            <a:r>
              <a:rPr sz="4500" b="1" i="1" spc="-5" dirty="0">
                <a:latin typeface="Book Antiqua"/>
                <a:cs typeface="Book Antiqua"/>
              </a:rPr>
              <a:t>Store,  and Stretch</a:t>
            </a:r>
            <a:r>
              <a:rPr sz="4500" b="1" i="1" spc="-50" dirty="0">
                <a:latin typeface="Book Antiqua"/>
                <a:cs typeface="Book Antiqua"/>
              </a:rPr>
              <a:t> </a:t>
            </a:r>
            <a:r>
              <a:rPr sz="4500" b="1" i="1" dirty="0">
                <a:latin typeface="Book Antiqua"/>
                <a:cs typeface="Book Antiqua"/>
              </a:rPr>
              <a:t>Database</a:t>
            </a:r>
            <a:endParaRPr sz="4500">
              <a:latin typeface="Book Antiqua"/>
              <a:cs typeface="Book Antiqua"/>
            </a:endParaRPr>
          </a:p>
        </p:txBody>
      </p:sp>
      <p:sp>
        <p:nvSpPr>
          <p:cNvPr id="7" name="object 7"/>
          <p:cNvSpPr txBox="1">
            <a:spLocks noGrp="1"/>
          </p:cNvSpPr>
          <p:nvPr>
            <p:ph type="title"/>
          </p:nvPr>
        </p:nvSpPr>
        <p:spPr>
          <a:prstGeom prst="rect">
            <a:avLst/>
          </a:prstGeom>
        </p:spPr>
        <p:txBody>
          <a:bodyPr vert="horz" wrap="square" lIns="0" tIns="12700" rIns="0" bIns="0" rtlCol="0">
            <a:spAutoFit/>
          </a:bodyPr>
          <a:lstStyle/>
          <a:p>
            <a:pPr algn="ctr">
              <a:lnSpc>
                <a:spcPct val="100000"/>
              </a:lnSpc>
              <a:spcBef>
                <a:spcPts val="100"/>
              </a:spcBef>
            </a:pPr>
            <a:r>
              <a:rPr spc="-5" dirty="0"/>
              <a:t>Intelligent</a:t>
            </a:r>
          </a:p>
          <a:p>
            <a:pPr marL="12700" marR="5080" algn="ctr">
              <a:lnSpc>
                <a:spcPts val="4500"/>
              </a:lnSpc>
            </a:pPr>
            <a:r>
              <a:rPr spc="-30" dirty="0"/>
              <a:t>Data </a:t>
            </a:r>
            <a:r>
              <a:rPr spc="-35" dirty="0"/>
              <a:t>Management</a:t>
            </a:r>
            <a:r>
              <a:rPr spc="-434" dirty="0"/>
              <a:t> </a:t>
            </a:r>
            <a:r>
              <a:rPr spc="45" dirty="0"/>
              <a:t>with  </a:t>
            </a:r>
            <a:r>
              <a:rPr spc="15" dirty="0"/>
              <a:t>SQL</a:t>
            </a:r>
            <a:r>
              <a:rPr spc="-200" dirty="0"/>
              <a:t> </a:t>
            </a:r>
            <a:r>
              <a:rPr spc="-45" dirty="0"/>
              <a:t>Server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67280" cy="635635"/>
          </a:xfrm>
          <a:prstGeom prst="rect">
            <a:avLst/>
          </a:prstGeom>
        </p:spPr>
        <p:txBody>
          <a:bodyPr vert="horz" wrap="square" lIns="0" tIns="12700" rIns="0" bIns="0" rtlCol="0">
            <a:spAutoFit/>
          </a:bodyPr>
          <a:lstStyle/>
          <a:p>
            <a:pPr marL="12700">
              <a:lnSpc>
                <a:spcPct val="100000"/>
              </a:lnSpc>
              <a:spcBef>
                <a:spcPts val="100"/>
              </a:spcBef>
            </a:pPr>
            <a:r>
              <a:rPr sz="4000" b="0" spc="-25" dirty="0">
                <a:latin typeface="Arial"/>
                <a:cs typeface="Arial"/>
              </a:rPr>
              <a:t>Objectives</a:t>
            </a:r>
            <a:endParaRPr sz="40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2</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83540" y="1463040"/>
            <a:ext cx="8071484" cy="2586355"/>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z="2400" spc="-55" dirty="0">
                <a:latin typeface="Arial"/>
                <a:cs typeface="Arial"/>
              </a:rPr>
              <a:t>Describe</a:t>
            </a:r>
            <a:r>
              <a:rPr sz="2400" spc="-170" dirty="0">
                <a:latin typeface="Arial"/>
                <a:cs typeface="Arial"/>
              </a:rPr>
              <a:t> </a:t>
            </a:r>
            <a:r>
              <a:rPr sz="2400" spc="-120" dirty="0">
                <a:latin typeface="Arial"/>
                <a:cs typeface="Arial"/>
              </a:rPr>
              <a:t>PolyBase</a:t>
            </a:r>
            <a:endParaRPr sz="2400">
              <a:latin typeface="Arial"/>
              <a:cs typeface="Arial"/>
            </a:endParaRPr>
          </a:p>
          <a:p>
            <a:pPr marL="353695" indent="-341630">
              <a:lnSpc>
                <a:spcPct val="100000"/>
              </a:lnSpc>
              <a:buFont typeface="Calibri"/>
              <a:buChar char="●"/>
              <a:tabLst>
                <a:tab pos="353695" algn="l"/>
                <a:tab pos="354330" algn="l"/>
              </a:tabLst>
            </a:pPr>
            <a:r>
              <a:rPr sz="2400" spc="10" dirty="0">
                <a:latin typeface="Arial"/>
                <a:cs typeface="Arial"/>
              </a:rPr>
              <a:t>Explain</a:t>
            </a:r>
            <a:r>
              <a:rPr sz="2400" spc="-140" dirty="0">
                <a:latin typeface="Arial"/>
                <a:cs typeface="Arial"/>
              </a:rPr>
              <a:t> </a:t>
            </a:r>
            <a:r>
              <a:rPr sz="2400" spc="-60" dirty="0">
                <a:latin typeface="Arial"/>
                <a:cs typeface="Arial"/>
              </a:rPr>
              <a:t>features</a:t>
            </a:r>
            <a:r>
              <a:rPr sz="2400" spc="-160" dirty="0">
                <a:latin typeface="Arial"/>
                <a:cs typeface="Arial"/>
              </a:rPr>
              <a:t> </a:t>
            </a:r>
            <a:r>
              <a:rPr sz="2400" spc="-45" dirty="0">
                <a:latin typeface="Arial"/>
                <a:cs typeface="Arial"/>
              </a:rPr>
              <a:t>and</a:t>
            </a:r>
            <a:r>
              <a:rPr sz="2400" spc="-160" dirty="0">
                <a:latin typeface="Arial"/>
                <a:cs typeface="Arial"/>
              </a:rPr>
              <a:t> </a:t>
            </a:r>
            <a:r>
              <a:rPr sz="2400" spc="-105" dirty="0">
                <a:latin typeface="Arial"/>
                <a:cs typeface="Arial"/>
              </a:rPr>
              <a:t>advantages</a:t>
            </a:r>
            <a:r>
              <a:rPr sz="2400" spc="-145" dirty="0">
                <a:latin typeface="Arial"/>
                <a:cs typeface="Arial"/>
              </a:rPr>
              <a:t> </a:t>
            </a:r>
            <a:r>
              <a:rPr sz="2400" spc="65" dirty="0">
                <a:latin typeface="Arial"/>
                <a:cs typeface="Arial"/>
              </a:rPr>
              <a:t>of</a:t>
            </a:r>
            <a:r>
              <a:rPr sz="2400" spc="-165" dirty="0">
                <a:latin typeface="Arial"/>
                <a:cs typeface="Arial"/>
              </a:rPr>
              <a:t> </a:t>
            </a:r>
            <a:r>
              <a:rPr sz="2400" spc="-120" dirty="0">
                <a:latin typeface="Arial"/>
                <a:cs typeface="Arial"/>
              </a:rPr>
              <a:t>PolyBase</a:t>
            </a:r>
            <a:endParaRPr sz="2400">
              <a:latin typeface="Arial"/>
              <a:cs typeface="Arial"/>
            </a:endParaRPr>
          </a:p>
          <a:p>
            <a:pPr marL="353695" indent="-341630">
              <a:lnSpc>
                <a:spcPct val="100000"/>
              </a:lnSpc>
              <a:buFont typeface="Calibri"/>
              <a:buChar char="●"/>
              <a:tabLst>
                <a:tab pos="353695" algn="l"/>
                <a:tab pos="354330" algn="l"/>
              </a:tabLst>
            </a:pPr>
            <a:r>
              <a:rPr sz="2400" spc="20" dirty="0">
                <a:latin typeface="Arial"/>
                <a:cs typeface="Arial"/>
              </a:rPr>
              <a:t>Define</a:t>
            </a:r>
            <a:r>
              <a:rPr sz="2400" spc="-180" dirty="0">
                <a:latin typeface="Arial"/>
                <a:cs typeface="Arial"/>
              </a:rPr>
              <a:t> </a:t>
            </a:r>
            <a:r>
              <a:rPr sz="2400" spc="-45" dirty="0">
                <a:latin typeface="Arial"/>
                <a:cs typeface="Arial"/>
              </a:rPr>
              <a:t>and</a:t>
            </a:r>
            <a:r>
              <a:rPr sz="2400" spc="-150" dirty="0">
                <a:latin typeface="Arial"/>
                <a:cs typeface="Arial"/>
              </a:rPr>
              <a:t> </a:t>
            </a:r>
            <a:r>
              <a:rPr sz="2400" spc="-70" dirty="0">
                <a:latin typeface="Arial"/>
                <a:cs typeface="Arial"/>
              </a:rPr>
              <a:t>describe</a:t>
            </a:r>
            <a:r>
              <a:rPr sz="2400" spc="-170" dirty="0">
                <a:latin typeface="Arial"/>
                <a:cs typeface="Arial"/>
              </a:rPr>
              <a:t> </a:t>
            </a:r>
            <a:r>
              <a:rPr sz="2400" spc="10" dirty="0">
                <a:latin typeface="Arial"/>
                <a:cs typeface="Arial"/>
              </a:rPr>
              <a:t>Query</a:t>
            </a:r>
            <a:r>
              <a:rPr sz="2400" spc="-155" dirty="0">
                <a:latin typeface="Arial"/>
                <a:cs typeface="Arial"/>
              </a:rPr>
              <a:t> </a:t>
            </a:r>
            <a:r>
              <a:rPr sz="2400" spc="-35" dirty="0">
                <a:latin typeface="Arial"/>
                <a:cs typeface="Arial"/>
              </a:rPr>
              <a:t>Store</a:t>
            </a:r>
            <a:endParaRPr sz="2400">
              <a:latin typeface="Arial"/>
              <a:cs typeface="Arial"/>
            </a:endParaRPr>
          </a:p>
          <a:p>
            <a:pPr marL="353695" marR="5080" indent="-341630">
              <a:lnSpc>
                <a:spcPct val="100000"/>
              </a:lnSpc>
              <a:buFont typeface="Calibri"/>
              <a:buChar char="●"/>
              <a:tabLst>
                <a:tab pos="353695" algn="l"/>
                <a:tab pos="354330" algn="l"/>
                <a:tab pos="1591310" algn="l"/>
                <a:tab pos="2389505" algn="l"/>
                <a:tab pos="2884805" algn="l"/>
                <a:tab pos="4695825" algn="l"/>
                <a:tab pos="5821045" algn="l"/>
                <a:tab pos="6781800" algn="l"/>
                <a:tab pos="7496175" algn="l"/>
              </a:tabLst>
            </a:pPr>
            <a:r>
              <a:rPr sz="2400" spc="25" dirty="0">
                <a:latin typeface="Arial"/>
                <a:cs typeface="Arial"/>
              </a:rPr>
              <a:t>Exp</a:t>
            </a:r>
            <a:r>
              <a:rPr sz="2400" spc="15" dirty="0">
                <a:latin typeface="Arial"/>
                <a:cs typeface="Arial"/>
              </a:rPr>
              <a:t>l</a:t>
            </a:r>
            <a:r>
              <a:rPr sz="2400" dirty="0">
                <a:latin typeface="Arial"/>
                <a:cs typeface="Arial"/>
              </a:rPr>
              <a:t>ain	</a:t>
            </a:r>
            <a:r>
              <a:rPr sz="2400" spc="70" dirty="0">
                <a:latin typeface="Arial"/>
                <a:cs typeface="Arial"/>
              </a:rPr>
              <a:t>h</a:t>
            </a:r>
            <a:r>
              <a:rPr sz="2400" spc="20" dirty="0">
                <a:latin typeface="Arial"/>
                <a:cs typeface="Arial"/>
              </a:rPr>
              <a:t>ow</a:t>
            </a:r>
            <a:r>
              <a:rPr sz="2400" dirty="0">
                <a:latin typeface="Arial"/>
                <a:cs typeface="Arial"/>
              </a:rPr>
              <a:t>	</a:t>
            </a:r>
            <a:r>
              <a:rPr sz="2400" spc="45" dirty="0">
                <a:latin typeface="Arial"/>
                <a:cs typeface="Arial"/>
              </a:rPr>
              <a:t>t</a:t>
            </a:r>
            <a:r>
              <a:rPr sz="2400" spc="85" dirty="0">
                <a:latin typeface="Arial"/>
                <a:cs typeface="Arial"/>
              </a:rPr>
              <a:t>o</a:t>
            </a:r>
            <a:r>
              <a:rPr sz="2400" dirty="0">
                <a:latin typeface="Arial"/>
                <a:cs typeface="Arial"/>
              </a:rPr>
              <a:t>	dynam</a:t>
            </a:r>
            <a:r>
              <a:rPr sz="2400" spc="5" dirty="0">
                <a:latin typeface="Arial"/>
                <a:cs typeface="Arial"/>
              </a:rPr>
              <a:t>i</a:t>
            </a:r>
            <a:r>
              <a:rPr sz="2400" spc="-120" dirty="0">
                <a:latin typeface="Arial"/>
                <a:cs typeface="Arial"/>
              </a:rPr>
              <a:t>c</a:t>
            </a:r>
            <a:r>
              <a:rPr sz="2400" spc="15" dirty="0">
                <a:latin typeface="Arial"/>
                <a:cs typeface="Arial"/>
              </a:rPr>
              <a:t>all</a:t>
            </a:r>
            <a:r>
              <a:rPr sz="2400" spc="-5" dirty="0">
                <a:latin typeface="Arial"/>
                <a:cs typeface="Arial"/>
              </a:rPr>
              <a:t>y</a:t>
            </a:r>
            <a:r>
              <a:rPr sz="2400" dirty="0">
                <a:latin typeface="Arial"/>
                <a:cs typeface="Arial"/>
              </a:rPr>
              <a:t>	</a:t>
            </a:r>
            <a:r>
              <a:rPr sz="2400" spc="-50" dirty="0">
                <a:latin typeface="Arial"/>
                <a:cs typeface="Arial"/>
              </a:rPr>
              <a:t>str</a:t>
            </a:r>
            <a:r>
              <a:rPr sz="2400" spc="-85" dirty="0">
                <a:latin typeface="Arial"/>
                <a:cs typeface="Arial"/>
              </a:rPr>
              <a:t>e</a:t>
            </a:r>
            <a:r>
              <a:rPr sz="2400" spc="35" dirty="0">
                <a:latin typeface="Arial"/>
                <a:cs typeface="Arial"/>
              </a:rPr>
              <a:t>tch</a:t>
            </a:r>
            <a:r>
              <a:rPr sz="2400" dirty="0">
                <a:latin typeface="Arial"/>
                <a:cs typeface="Arial"/>
              </a:rPr>
              <a:t>	</a:t>
            </a:r>
            <a:r>
              <a:rPr sz="2400" spc="-25" dirty="0">
                <a:latin typeface="Arial"/>
                <a:cs typeface="Arial"/>
              </a:rPr>
              <a:t>war</a:t>
            </a:r>
            <a:r>
              <a:rPr sz="2400" spc="-15" dirty="0">
                <a:latin typeface="Arial"/>
                <a:cs typeface="Arial"/>
              </a:rPr>
              <a:t>m</a:t>
            </a:r>
            <a:r>
              <a:rPr sz="2400" dirty="0">
                <a:latin typeface="Arial"/>
                <a:cs typeface="Arial"/>
              </a:rPr>
              <a:t>	</a:t>
            </a:r>
            <a:r>
              <a:rPr sz="2400" spc="-50" dirty="0">
                <a:latin typeface="Arial"/>
                <a:cs typeface="Arial"/>
              </a:rPr>
              <a:t>an</a:t>
            </a:r>
            <a:r>
              <a:rPr sz="2400" spc="-45" dirty="0">
                <a:latin typeface="Arial"/>
                <a:cs typeface="Arial"/>
              </a:rPr>
              <a:t>d</a:t>
            </a:r>
            <a:r>
              <a:rPr sz="2400" dirty="0">
                <a:latin typeface="Arial"/>
                <a:cs typeface="Arial"/>
              </a:rPr>
              <a:t>	cold  </a:t>
            </a:r>
            <a:r>
              <a:rPr sz="2400" spc="-20" dirty="0">
                <a:latin typeface="Arial"/>
                <a:cs typeface="Arial"/>
              </a:rPr>
              <a:t>transactional</a:t>
            </a:r>
            <a:r>
              <a:rPr sz="2400" spc="-130" dirty="0">
                <a:latin typeface="Arial"/>
                <a:cs typeface="Arial"/>
              </a:rPr>
              <a:t> </a:t>
            </a:r>
            <a:r>
              <a:rPr sz="2400" spc="-70" dirty="0">
                <a:latin typeface="Arial"/>
                <a:cs typeface="Arial"/>
              </a:rPr>
              <a:t>data</a:t>
            </a:r>
            <a:r>
              <a:rPr sz="2400" spc="-150" dirty="0">
                <a:latin typeface="Arial"/>
                <a:cs typeface="Arial"/>
              </a:rPr>
              <a:t> </a:t>
            </a:r>
            <a:r>
              <a:rPr sz="2400" spc="50" dirty="0">
                <a:latin typeface="Arial"/>
                <a:cs typeface="Arial"/>
              </a:rPr>
              <a:t>from</a:t>
            </a:r>
            <a:r>
              <a:rPr sz="2400" spc="-160" dirty="0">
                <a:latin typeface="Arial"/>
                <a:cs typeface="Arial"/>
              </a:rPr>
              <a:t> </a:t>
            </a:r>
            <a:r>
              <a:rPr sz="2400" spc="30" dirty="0">
                <a:latin typeface="Arial"/>
                <a:cs typeface="Arial"/>
              </a:rPr>
              <a:t>SQL</a:t>
            </a:r>
            <a:r>
              <a:rPr sz="2400" spc="-165" dirty="0">
                <a:latin typeface="Arial"/>
                <a:cs typeface="Arial"/>
              </a:rPr>
              <a:t> </a:t>
            </a:r>
            <a:r>
              <a:rPr sz="2400" spc="-60" dirty="0">
                <a:latin typeface="Arial"/>
                <a:cs typeface="Arial"/>
              </a:rPr>
              <a:t>Server</a:t>
            </a:r>
            <a:r>
              <a:rPr sz="2400" spc="-180" dirty="0">
                <a:latin typeface="Arial"/>
                <a:cs typeface="Arial"/>
              </a:rPr>
              <a:t> </a:t>
            </a:r>
            <a:r>
              <a:rPr sz="2400" spc="65" dirty="0">
                <a:latin typeface="Arial"/>
                <a:cs typeface="Arial"/>
              </a:rPr>
              <a:t>to</a:t>
            </a:r>
            <a:r>
              <a:rPr sz="2400" spc="-155" dirty="0">
                <a:latin typeface="Arial"/>
                <a:cs typeface="Arial"/>
              </a:rPr>
              <a:t> </a:t>
            </a:r>
            <a:r>
              <a:rPr sz="2400" spc="-5" dirty="0">
                <a:latin typeface="Arial"/>
                <a:cs typeface="Arial"/>
              </a:rPr>
              <a:t>Azure</a:t>
            </a:r>
            <a:endParaRPr sz="2400">
              <a:latin typeface="Arial"/>
              <a:cs typeface="Arial"/>
            </a:endParaRPr>
          </a:p>
          <a:p>
            <a:pPr marL="353695" marR="5080" indent="-341630">
              <a:lnSpc>
                <a:spcPct val="100000"/>
              </a:lnSpc>
              <a:buFont typeface="Calibri"/>
              <a:buChar char="●"/>
              <a:tabLst>
                <a:tab pos="353695" algn="l"/>
                <a:tab pos="354330" algn="l"/>
              </a:tabLst>
            </a:pPr>
            <a:r>
              <a:rPr sz="2400" spc="-55" dirty="0">
                <a:latin typeface="Arial"/>
                <a:cs typeface="Arial"/>
              </a:rPr>
              <a:t>Describe </a:t>
            </a:r>
            <a:r>
              <a:rPr sz="2400" spc="35" dirty="0">
                <a:latin typeface="Arial"/>
                <a:cs typeface="Arial"/>
              </a:rPr>
              <a:t>how </a:t>
            </a:r>
            <a:r>
              <a:rPr sz="2400" spc="65" dirty="0">
                <a:latin typeface="Arial"/>
                <a:cs typeface="Arial"/>
              </a:rPr>
              <a:t>to </a:t>
            </a:r>
            <a:r>
              <a:rPr sz="2400" spc="15" dirty="0">
                <a:latin typeface="Arial"/>
                <a:cs typeface="Arial"/>
              </a:rPr>
              <a:t>tune workload </a:t>
            </a:r>
            <a:r>
              <a:rPr sz="2400" spc="-35" dirty="0">
                <a:latin typeface="Arial"/>
                <a:cs typeface="Arial"/>
              </a:rPr>
              <a:t>performance </a:t>
            </a:r>
            <a:r>
              <a:rPr sz="2400" spc="110" dirty="0">
                <a:latin typeface="Arial"/>
                <a:cs typeface="Arial"/>
              </a:rPr>
              <a:t>with </a:t>
            </a:r>
            <a:r>
              <a:rPr sz="2400" spc="10" dirty="0">
                <a:latin typeface="Arial"/>
                <a:cs typeface="Arial"/>
              </a:rPr>
              <a:t>Query  </a:t>
            </a:r>
            <a:r>
              <a:rPr sz="2400" spc="-35" dirty="0">
                <a:latin typeface="Arial"/>
                <a:cs typeface="Arial"/>
              </a:rPr>
              <a:t>Store</a:t>
            </a:r>
            <a:endParaRPr sz="24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6091555" cy="635635"/>
          </a:xfrm>
          <a:prstGeom prst="rect">
            <a:avLst/>
          </a:prstGeom>
        </p:spPr>
        <p:txBody>
          <a:bodyPr vert="horz" wrap="square" lIns="0" tIns="12700" rIns="0" bIns="0" rtlCol="0">
            <a:spAutoFit/>
          </a:bodyPr>
          <a:lstStyle/>
          <a:p>
            <a:pPr marL="12700">
              <a:lnSpc>
                <a:spcPct val="100000"/>
              </a:lnSpc>
              <a:spcBef>
                <a:spcPts val="100"/>
              </a:spcBef>
            </a:pPr>
            <a:r>
              <a:rPr sz="4000" b="0" spc="5" dirty="0">
                <a:latin typeface="Arial"/>
                <a:cs typeface="Arial"/>
              </a:rPr>
              <a:t>Understanding </a:t>
            </a:r>
            <a:r>
              <a:rPr sz="4000" b="0" spc="-195" dirty="0">
                <a:latin typeface="Arial"/>
                <a:cs typeface="Arial"/>
              </a:rPr>
              <a:t>PolyBase</a:t>
            </a:r>
            <a:r>
              <a:rPr sz="4000" b="0" spc="-570" dirty="0">
                <a:latin typeface="Arial"/>
                <a:cs typeface="Arial"/>
              </a:rPr>
              <a:t> </a:t>
            </a:r>
            <a:r>
              <a:rPr sz="4000" b="0" spc="-400" dirty="0">
                <a:latin typeface="Arial"/>
                <a:cs typeface="Arial"/>
              </a:rPr>
              <a:t>1-2</a:t>
            </a:r>
            <a:endParaRPr sz="4000">
              <a:latin typeface="Arial"/>
              <a:cs typeface="Arial"/>
            </a:endParaRPr>
          </a:p>
        </p:txBody>
      </p:sp>
      <p:sp>
        <p:nvSpPr>
          <p:cNvPr id="3" name="object 3"/>
          <p:cNvSpPr/>
          <p:nvPr/>
        </p:nvSpPr>
        <p:spPr>
          <a:xfrm>
            <a:off x="131826" y="918209"/>
            <a:ext cx="8781415" cy="1291591"/>
          </a:xfrm>
          <a:custGeom>
            <a:avLst/>
            <a:gdLst/>
            <a:ahLst/>
            <a:cxnLst/>
            <a:rect l="l" t="t" r="r" b="b"/>
            <a:pathLst>
              <a:path w="8781415" h="1979930">
                <a:moveTo>
                  <a:pt x="8781288" y="329946"/>
                </a:moveTo>
                <a:lnTo>
                  <a:pt x="8777707" y="281190"/>
                </a:lnTo>
                <a:lnTo>
                  <a:pt x="8767318" y="234657"/>
                </a:lnTo>
                <a:lnTo>
                  <a:pt x="8750617" y="190842"/>
                </a:lnTo>
                <a:lnTo>
                  <a:pt x="8728126" y="150279"/>
                </a:lnTo>
                <a:lnTo>
                  <a:pt x="8700364" y="113474"/>
                </a:lnTo>
                <a:lnTo>
                  <a:pt x="8667813" y="80924"/>
                </a:lnTo>
                <a:lnTo>
                  <a:pt x="8631009" y="53162"/>
                </a:lnTo>
                <a:lnTo>
                  <a:pt x="8590445" y="30670"/>
                </a:lnTo>
                <a:lnTo>
                  <a:pt x="8546630" y="13970"/>
                </a:lnTo>
                <a:lnTo>
                  <a:pt x="8500097" y="3581"/>
                </a:lnTo>
                <a:lnTo>
                  <a:pt x="8451342" y="0"/>
                </a:lnTo>
                <a:lnTo>
                  <a:pt x="329946" y="0"/>
                </a:lnTo>
                <a:lnTo>
                  <a:pt x="281178" y="3581"/>
                </a:lnTo>
                <a:lnTo>
                  <a:pt x="234645" y="13970"/>
                </a:lnTo>
                <a:lnTo>
                  <a:pt x="190842" y="30670"/>
                </a:lnTo>
                <a:lnTo>
                  <a:pt x="150279" y="53162"/>
                </a:lnTo>
                <a:lnTo>
                  <a:pt x="113474" y="80924"/>
                </a:lnTo>
                <a:lnTo>
                  <a:pt x="80924" y="113474"/>
                </a:lnTo>
                <a:lnTo>
                  <a:pt x="53149" y="150279"/>
                </a:lnTo>
                <a:lnTo>
                  <a:pt x="30657" y="190842"/>
                </a:lnTo>
                <a:lnTo>
                  <a:pt x="13957" y="234657"/>
                </a:lnTo>
                <a:lnTo>
                  <a:pt x="3568" y="281190"/>
                </a:lnTo>
                <a:lnTo>
                  <a:pt x="0" y="329946"/>
                </a:lnTo>
                <a:lnTo>
                  <a:pt x="0" y="1649730"/>
                </a:lnTo>
                <a:lnTo>
                  <a:pt x="3568" y="1698498"/>
                </a:lnTo>
                <a:lnTo>
                  <a:pt x="13957" y="1745030"/>
                </a:lnTo>
                <a:lnTo>
                  <a:pt x="30657" y="1788845"/>
                </a:lnTo>
                <a:lnTo>
                  <a:pt x="53149" y="1829409"/>
                </a:lnTo>
                <a:lnTo>
                  <a:pt x="80924" y="1866214"/>
                </a:lnTo>
                <a:lnTo>
                  <a:pt x="113474" y="1898764"/>
                </a:lnTo>
                <a:lnTo>
                  <a:pt x="150279" y="1926526"/>
                </a:lnTo>
                <a:lnTo>
                  <a:pt x="190842" y="1949018"/>
                </a:lnTo>
                <a:lnTo>
                  <a:pt x="234645" y="1965718"/>
                </a:lnTo>
                <a:lnTo>
                  <a:pt x="281178" y="1976107"/>
                </a:lnTo>
                <a:lnTo>
                  <a:pt x="329946" y="1979676"/>
                </a:lnTo>
                <a:lnTo>
                  <a:pt x="8451342" y="1979676"/>
                </a:lnTo>
                <a:lnTo>
                  <a:pt x="8500097" y="1976107"/>
                </a:lnTo>
                <a:lnTo>
                  <a:pt x="8546630" y="1965718"/>
                </a:lnTo>
                <a:lnTo>
                  <a:pt x="8590445" y="1949018"/>
                </a:lnTo>
                <a:lnTo>
                  <a:pt x="8631009" y="1926526"/>
                </a:lnTo>
                <a:lnTo>
                  <a:pt x="8667813" y="1898764"/>
                </a:lnTo>
                <a:lnTo>
                  <a:pt x="8700364" y="1866214"/>
                </a:lnTo>
                <a:lnTo>
                  <a:pt x="8728126" y="1829409"/>
                </a:lnTo>
                <a:lnTo>
                  <a:pt x="8750617" y="1788845"/>
                </a:lnTo>
                <a:lnTo>
                  <a:pt x="8767318" y="1745030"/>
                </a:lnTo>
                <a:lnTo>
                  <a:pt x="8777707" y="1698498"/>
                </a:lnTo>
                <a:lnTo>
                  <a:pt x="8781288" y="1649730"/>
                </a:lnTo>
                <a:lnTo>
                  <a:pt x="8781288" y="329946"/>
                </a:lnTo>
                <a:close/>
              </a:path>
            </a:pathLst>
          </a:custGeom>
          <a:solidFill>
            <a:srgbClr val="9BBA58"/>
          </a:solidFill>
        </p:spPr>
        <p:txBody>
          <a:bodyPr wrap="square" lIns="0" tIns="0" rIns="0" bIns="0" rtlCol="0"/>
          <a:lstStyle/>
          <a:p>
            <a:endParaRPr/>
          </a:p>
        </p:txBody>
      </p:sp>
      <p:sp>
        <p:nvSpPr>
          <p:cNvPr id="4" name="object 4"/>
          <p:cNvSpPr txBox="1"/>
          <p:nvPr/>
        </p:nvSpPr>
        <p:spPr>
          <a:xfrm>
            <a:off x="430783" y="914400"/>
            <a:ext cx="8018145" cy="1153160"/>
          </a:xfrm>
          <a:prstGeom prst="rect">
            <a:avLst/>
          </a:prstGeom>
        </p:spPr>
        <p:txBody>
          <a:bodyPr vert="horz" wrap="square" lIns="0" tIns="46990" rIns="0" bIns="0" rtlCol="0">
            <a:spAutoFit/>
          </a:bodyPr>
          <a:lstStyle/>
          <a:p>
            <a:pPr marL="355600" marR="5080" indent="-342900">
              <a:lnSpc>
                <a:spcPts val="2160"/>
              </a:lnSpc>
              <a:spcBef>
                <a:spcPts val="370"/>
              </a:spcBef>
              <a:buFont typeface="Wingdings"/>
              <a:buChar char=""/>
              <a:tabLst>
                <a:tab pos="354965" algn="l"/>
                <a:tab pos="355600" algn="l"/>
              </a:tabLst>
            </a:pPr>
            <a:r>
              <a:rPr sz="2000" spc="-100" dirty="0">
                <a:solidFill>
                  <a:srgbClr val="FFFFFF"/>
                </a:solidFill>
                <a:latin typeface="Arial"/>
                <a:cs typeface="Arial"/>
              </a:rPr>
              <a:t>PolyBase </a:t>
            </a:r>
            <a:r>
              <a:rPr sz="2000" spc="-85" dirty="0">
                <a:solidFill>
                  <a:srgbClr val="FFFFFF"/>
                </a:solidFill>
                <a:latin typeface="Arial"/>
                <a:cs typeface="Arial"/>
              </a:rPr>
              <a:t>enables </a:t>
            </a:r>
            <a:r>
              <a:rPr sz="2000" spc="25" dirty="0">
                <a:solidFill>
                  <a:srgbClr val="FFFFFF"/>
                </a:solidFill>
                <a:latin typeface="Arial"/>
                <a:cs typeface="Arial"/>
              </a:rPr>
              <a:t>your </a:t>
            </a:r>
            <a:r>
              <a:rPr sz="2000" spc="15" dirty="0">
                <a:solidFill>
                  <a:srgbClr val="FFFFFF"/>
                </a:solidFill>
                <a:latin typeface="Arial"/>
                <a:cs typeface="Arial"/>
              </a:rPr>
              <a:t>SQL </a:t>
            </a:r>
            <a:r>
              <a:rPr sz="2000" spc="-50" dirty="0">
                <a:solidFill>
                  <a:srgbClr val="FFFFFF"/>
                </a:solidFill>
                <a:latin typeface="Arial"/>
                <a:cs typeface="Arial"/>
              </a:rPr>
              <a:t>Server </a:t>
            </a:r>
            <a:r>
              <a:rPr sz="2000" spc="-40" dirty="0">
                <a:solidFill>
                  <a:srgbClr val="FFFFFF"/>
                </a:solidFill>
                <a:latin typeface="Arial"/>
                <a:cs typeface="Arial"/>
              </a:rPr>
              <a:t>instance </a:t>
            </a:r>
            <a:r>
              <a:rPr sz="2000" spc="55" dirty="0">
                <a:solidFill>
                  <a:srgbClr val="FFFFFF"/>
                </a:solidFill>
                <a:latin typeface="Arial"/>
                <a:cs typeface="Arial"/>
              </a:rPr>
              <a:t>to </a:t>
            </a:r>
            <a:r>
              <a:rPr sz="2000" spc="-95" dirty="0">
                <a:solidFill>
                  <a:srgbClr val="FFFFFF"/>
                </a:solidFill>
                <a:latin typeface="Arial"/>
                <a:cs typeface="Arial"/>
              </a:rPr>
              <a:t>process </a:t>
            </a:r>
            <a:r>
              <a:rPr sz="2000" spc="-15" dirty="0">
                <a:solidFill>
                  <a:srgbClr val="FFFFFF"/>
                </a:solidFill>
                <a:latin typeface="Arial"/>
                <a:cs typeface="Arial"/>
              </a:rPr>
              <a:t>Transact-SQL  </a:t>
            </a:r>
            <a:r>
              <a:rPr sz="2000" spc="-50" dirty="0">
                <a:solidFill>
                  <a:srgbClr val="FFFFFF"/>
                </a:solidFill>
                <a:latin typeface="Arial"/>
                <a:cs typeface="Arial"/>
              </a:rPr>
              <a:t>queries</a:t>
            </a:r>
            <a:r>
              <a:rPr sz="2000" spc="-135" dirty="0">
                <a:solidFill>
                  <a:srgbClr val="FFFFFF"/>
                </a:solidFill>
                <a:latin typeface="Arial"/>
                <a:cs typeface="Arial"/>
              </a:rPr>
              <a:t> </a:t>
            </a:r>
            <a:r>
              <a:rPr sz="2000" spc="30" dirty="0">
                <a:solidFill>
                  <a:srgbClr val="FFFFFF"/>
                </a:solidFill>
                <a:latin typeface="Arial"/>
                <a:cs typeface="Arial"/>
              </a:rPr>
              <a:t>that</a:t>
            </a:r>
            <a:r>
              <a:rPr sz="2000" spc="-120" dirty="0">
                <a:solidFill>
                  <a:srgbClr val="FFFFFF"/>
                </a:solidFill>
                <a:latin typeface="Arial"/>
                <a:cs typeface="Arial"/>
              </a:rPr>
              <a:t> </a:t>
            </a:r>
            <a:r>
              <a:rPr sz="2000" spc="-70" dirty="0">
                <a:solidFill>
                  <a:srgbClr val="FFFFFF"/>
                </a:solidFill>
                <a:latin typeface="Arial"/>
                <a:cs typeface="Arial"/>
              </a:rPr>
              <a:t>read</a:t>
            </a:r>
            <a:r>
              <a:rPr sz="2000" spc="-120" dirty="0">
                <a:solidFill>
                  <a:srgbClr val="FFFFFF"/>
                </a:solidFill>
                <a:latin typeface="Arial"/>
                <a:cs typeface="Arial"/>
              </a:rPr>
              <a:t> </a:t>
            </a:r>
            <a:r>
              <a:rPr sz="2000" spc="-60" dirty="0">
                <a:solidFill>
                  <a:srgbClr val="FFFFFF"/>
                </a:solidFill>
                <a:latin typeface="Arial"/>
                <a:cs typeface="Arial"/>
              </a:rPr>
              <a:t>data</a:t>
            </a:r>
            <a:r>
              <a:rPr sz="2000" spc="-125" dirty="0">
                <a:solidFill>
                  <a:srgbClr val="FFFFFF"/>
                </a:solidFill>
                <a:latin typeface="Arial"/>
                <a:cs typeface="Arial"/>
              </a:rPr>
              <a:t> </a:t>
            </a:r>
            <a:r>
              <a:rPr sz="2000" spc="45" dirty="0">
                <a:solidFill>
                  <a:srgbClr val="FFFFFF"/>
                </a:solidFill>
                <a:latin typeface="Arial"/>
                <a:cs typeface="Arial"/>
              </a:rPr>
              <a:t>from</a:t>
            </a:r>
            <a:r>
              <a:rPr sz="2000" spc="-130" dirty="0">
                <a:solidFill>
                  <a:srgbClr val="FFFFFF"/>
                </a:solidFill>
                <a:latin typeface="Arial"/>
                <a:cs typeface="Arial"/>
              </a:rPr>
              <a:t> </a:t>
            </a:r>
            <a:r>
              <a:rPr sz="2000" spc="-10" dirty="0">
                <a:solidFill>
                  <a:srgbClr val="FFFFFF"/>
                </a:solidFill>
                <a:latin typeface="Arial"/>
                <a:cs typeface="Arial"/>
              </a:rPr>
              <a:t>external</a:t>
            </a:r>
            <a:r>
              <a:rPr sz="2000" spc="-100" dirty="0">
                <a:solidFill>
                  <a:srgbClr val="FFFFFF"/>
                </a:solidFill>
                <a:latin typeface="Arial"/>
                <a:cs typeface="Arial"/>
              </a:rPr>
              <a:t> </a:t>
            </a:r>
            <a:r>
              <a:rPr sz="2000" spc="-60" dirty="0">
                <a:solidFill>
                  <a:srgbClr val="FFFFFF"/>
                </a:solidFill>
                <a:latin typeface="Arial"/>
                <a:cs typeface="Arial"/>
              </a:rPr>
              <a:t>data</a:t>
            </a:r>
            <a:r>
              <a:rPr sz="2000" spc="-120" dirty="0">
                <a:solidFill>
                  <a:srgbClr val="FFFFFF"/>
                </a:solidFill>
                <a:latin typeface="Arial"/>
                <a:cs typeface="Arial"/>
              </a:rPr>
              <a:t> </a:t>
            </a:r>
            <a:r>
              <a:rPr sz="2000" spc="-85" dirty="0">
                <a:solidFill>
                  <a:srgbClr val="FFFFFF"/>
                </a:solidFill>
                <a:latin typeface="Arial"/>
                <a:cs typeface="Arial"/>
              </a:rPr>
              <a:t>sources.</a:t>
            </a:r>
            <a:endParaRPr sz="2000">
              <a:latin typeface="Arial"/>
              <a:cs typeface="Arial"/>
            </a:endParaRPr>
          </a:p>
          <a:p>
            <a:pPr marL="355600" marR="5715" indent="-342900">
              <a:lnSpc>
                <a:spcPts val="2160"/>
              </a:lnSpc>
              <a:buFont typeface="Wingdings"/>
              <a:buChar char=""/>
              <a:tabLst>
                <a:tab pos="354965" algn="l"/>
                <a:tab pos="355600" algn="l"/>
                <a:tab pos="1000125" algn="l"/>
                <a:tab pos="1840864" algn="l"/>
                <a:tab pos="2437130" algn="l"/>
                <a:tab pos="2977515" algn="l"/>
                <a:tab pos="3814445" algn="l"/>
                <a:tab pos="4852670" algn="l"/>
                <a:tab pos="5363845" algn="l"/>
                <a:tab pos="6158865" algn="l"/>
                <a:tab pos="7186930" algn="l"/>
                <a:tab pos="7781290" algn="l"/>
              </a:tabLst>
            </a:pPr>
            <a:r>
              <a:rPr sz="2000" spc="20" dirty="0">
                <a:solidFill>
                  <a:srgbClr val="FFFFFF"/>
                </a:solidFill>
                <a:latin typeface="Arial"/>
                <a:cs typeface="Arial"/>
              </a:rPr>
              <a:t>SQ</a:t>
            </a:r>
            <a:r>
              <a:rPr sz="2000" spc="15" dirty="0">
                <a:solidFill>
                  <a:srgbClr val="FFFFFF"/>
                </a:solidFill>
                <a:latin typeface="Arial"/>
                <a:cs typeface="Arial"/>
              </a:rPr>
              <a:t>L</a:t>
            </a:r>
            <a:r>
              <a:rPr sz="2000" dirty="0">
                <a:solidFill>
                  <a:srgbClr val="FFFFFF"/>
                </a:solidFill>
                <a:latin typeface="Arial"/>
                <a:cs typeface="Arial"/>
              </a:rPr>
              <a:t>	</a:t>
            </a:r>
            <a:r>
              <a:rPr sz="2000" spc="-50" dirty="0">
                <a:solidFill>
                  <a:srgbClr val="FFFFFF"/>
                </a:solidFill>
                <a:latin typeface="Arial"/>
                <a:cs typeface="Arial"/>
              </a:rPr>
              <a:t>Ser</a:t>
            </a:r>
            <a:r>
              <a:rPr sz="2000" spc="-45" dirty="0">
                <a:solidFill>
                  <a:srgbClr val="FFFFFF"/>
                </a:solidFill>
                <a:latin typeface="Arial"/>
                <a:cs typeface="Arial"/>
              </a:rPr>
              <a:t>v</a:t>
            </a:r>
            <a:r>
              <a:rPr sz="2000" spc="-50" dirty="0">
                <a:solidFill>
                  <a:srgbClr val="FFFFFF"/>
                </a:solidFill>
                <a:latin typeface="Arial"/>
                <a:cs typeface="Arial"/>
              </a:rPr>
              <a:t>er</a:t>
            </a:r>
            <a:r>
              <a:rPr sz="2000" dirty="0">
                <a:solidFill>
                  <a:srgbClr val="FFFFFF"/>
                </a:solidFill>
                <a:latin typeface="Arial"/>
                <a:cs typeface="Arial"/>
              </a:rPr>
              <a:t>	</a:t>
            </a:r>
            <a:r>
              <a:rPr sz="2000" spc="-180" dirty="0">
                <a:solidFill>
                  <a:srgbClr val="FFFFFF"/>
                </a:solidFill>
                <a:latin typeface="Arial"/>
                <a:cs typeface="Arial"/>
              </a:rPr>
              <a:t>2</a:t>
            </a:r>
            <a:r>
              <a:rPr sz="2000" spc="-204" dirty="0">
                <a:solidFill>
                  <a:srgbClr val="FFFFFF"/>
                </a:solidFill>
                <a:latin typeface="Arial"/>
                <a:cs typeface="Arial"/>
              </a:rPr>
              <a:t>016</a:t>
            </a:r>
            <a:r>
              <a:rPr sz="2000" dirty="0">
                <a:solidFill>
                  <a:srgbClr val="FFFFFF"/>
                </a:solidFill>
                <a:latin typeface="Arial"/>
                <a:cs typeface="Arial"/>
              </a:rPr>
              <a:t>	</a:t>
            </a:r>
            <a:r>
              <a:rPr sz="2000" spc="-40" dirty="0">
                <a:solidFill>
                  <a:srgbClr val="FFFFFF"/>
                </a:solidFill>
                <a:latin typeface="Arial"/>
                <a:cs typeface="Arial"/>
              </a:rPr>
              <a:t>and</a:t>
            </a:r>
            <a:r>
              <a:rPr sz="2000" dirty="0">
                <a:solidFill>
                  <a:srgbClr val="FFFFFF"/>
                </a:solidFill>
                <a:latin typeface="Arial"/>
                <a:cs typeface="Arial"/>
              </a:rPr>
              <a:t>	</a:t>
            </a:r>
            <a:r>
              <a:rPr sz="2000" spc="130" dirty="0">
                <a:solidFill>
                  <a:srgbClr val="FFFFFF"/>
                </a:solidFill>
                <a:latin typeface="Arial"/>
                <a:cs typeface="Arial"/>
              </a:rPr>
              <a:t>h</a:t>
            </a:r>
            <a:r>
              <a:rPr sz="2000" spc="40" dirty="0">
                <a:solidFill>
                  <a:srgbClr val="FFFFFF"/>
                </a:solidFill>
                <a:latin typeface="Arial"/>
                <a:cs typeface="Arial"/>
              </a:rPr>
              <a:t>i</a:t>
            </a:r>
            <a:r>
              <a:rPr sz="2000" spc="-40" dirty="0">
                <a:solidFill>
                  <a:srgbClr val="FFFFFF"/>
                </a:solidFill>
                <a:latin typeface="Arial"/>
                <a:cs typeface="Arial"/>
              </a:rPr>
              <a:t>gh</a:t>
            </a:r>
            <a:r>
              <a:rPr sz="2000" spc="-50" dirty="0">
                <a:solidFill>
                  <a:srgbClr val="FFFFFF"/>
                </a:solidFill>
                <a:latin typeface="Arial"/>
                <a:cs typeface="Arial"/>
              </a:rPr>
              <a:t>er</a:t>
            </a:r>
            <a:r>
              <a:rPr sz="2000" dirty="0">
                <a:solidFill>
                  <a:srgbClr val="FFFFFF"/>
                </a:solidFill>
                <a:latin typeface="Arial"/>
                <a:cs typeface="Arial"/>
              </a:rPr>
              <a:t>	</a:t>
            </a:r>
            <a:r>
              <a:rPr sz="2000" spc="-25" dirty="0">
                <a:solidFill>
                  <a:srgbClr val="FFFFFF"/>
                </a:solidFill>
                <a:latin typeface="Arial"/>
                <a:cs typeface="Arial"/>
              </a:rPr>
              <a:t>ve</a:t>
            </a:r>
            <a:r>
              <a:rPr sz="2000" spc="-10" dirty="0">
                <a:solidFill>
                  <a:srgbClr val="FFFFFF"/>
                </a:solidFill>
                <a:latin typeface="Arial"/>
                <a:cs typeface="Arial"/>
              </a:rPr>
              <a:t>r</a:t>
            </a:r>
            <a:r>
              <a:rPr sz="2000" spc="-35" dirty="0">
                <a:solidFill>
                  <a:srgbClr val="FFFFFF"/>
                </a:solidFill>
                <a:latin typeface="Arial"/>
                <a:cs typeface="Arial"/>
              </a:rPr>
              <a:t>si</a:t>
            </a:r>
            <a:r>
              <a:rPr sz="2000" spc="-45" dirty="0">
                <a:solidFill>
                  <a:srgbClr val="FFFFFF"/>
                </a:solidFill>
                <a:latin typeface="Arial"/>
                <a:cs typeface="Arial"/>
              </a:rPr>
              <a:t>o</a:t>
            </a:r>
            <a:r>
              <a:rPr sz="2000" spc="-75" dirty="0">
                <a:solidFill>
                  <a:srgbClr val="FFFFFF"/>
                </a:solidFill>
                <a:latin typeface="Arial"/>
                <a:cs typeface="Arial"/>
              </a:rPr>
              <a:t>ns</a:t>
            </a:r>
            <a:r>
              <a:rPr sz="2000" dirty="0">
                <a:solidFill>
                  <a:srgbClr val="FFFFFF"/>
                </a:solidFill>
                <a:latin typeface="Arial"/>
                <a:cs typeface="Arial"/>
              </a:rPr>
              <a:t>	</a:t>
            </a:r>
            <a:r>
              <a:rPr sz="2000" spc="-75" dirty="0">
                <a:solidFill>
                  <a:srgbClr val="FFFFFF"/>
                </a:solidFill>
                <a:latin typeface="Arial"/>
                <a:cs typeface="Arial"/>
              </a:rPr>
              <a:t>can</a:t>
            </a:r>
            <a:r>
              <a:rPr sz="2000" dirty="0">
                <a:solidFill>
                  <a:srgbClr val="FFFFFF"/>
                </a:solidFill>
                <a:latin typeface="Arial"/>
                <a:cs typeface="Arial"/>
              </a:rPr>
              <a:t>	</a:t>
            </a:r>
            <a:r>
              <a:rPr sz="2000" spc="-190" dirty="0">
                <a:solidFill>
                  <a:srgbClr val="FFFFFF"/>
                </a:solidFill>
                <a:latin typeface="Arial"/>
                <a:cs typeface="Arial"/>
              </a:rPr>
              <a:t>a</a:t>
            </a:r>
            <a:r>
              <a:rPr sz="2000" spc="-165" dirty="0">
                <a:solidFill>
                  <a:srgbClr val="FFFFFF"/>
                </a:solidFill>
                <a:latin typeface="Arial"/>
                <a:cs typeface="Arial"/>
              </a:rPr>
              <a:t>ccess</a:t>
            </a:r>
            <a:r>
              <a:rPr sz="2000" dirty="0">
                <a:solidFill>
                  <a:srgbClr val="FFFFFF"/>
                </a:solidFill>
                <a:latin typeface="Arial"/>
                <a:cs typeface="Arial"/>
              </a:rPr>
              <a:t>	</a:t>
            </a:r>
            <a:r>
              <a:rPr sz="2000" spc="-50" dirty="0">
                <a:solidFill>
                  <a:srgbClr val="FFFFFF"/>
                </a:solidFill>
                <a:latin typeface="Arial"/>
                <a:cs typeface="Arial"/>
              </a:rPr>
              <a:t>e</a:t>
            </a:r>
            <a:r>
              <a:rPr sz="2000" spc="-40" dirty="0">
                <a:solidFill>
                  <a:srgbClr val="FFFFFF"/>
                </a:solidFill>
                <a:latin typeface="Arial"/>
                <a:cs typeface="Arial"/>
              </a:rPr>
              <a:t>x</a:t>
            </a:r>
            <a:r>
              <a:rPr sz="2000" spc="125" dirty="0">
                <a:solidFill>
                  <a:srgbClr val="FFFFFF"/>
                </a:solidFill>
                <a:latin typeface="Arial"/>
                <a:cs typeface="Arial"/>
              </a:rPr>
              <a:t>t</a:t>
            </a:r>
            <a:r>
              <a:rPr sz="2000" spc="-10" dirty="0">
                <a:solidFill>
                  <a:srgbClr val="FFFFFF"/>
                </a:solidFill>
                <a:latin typeface="Arial"/>
                <a:cs typeface="Arial"/>
              </a:rPr>
              <a:t>er</a:t>
            </a:r>
            <a:r>
              <a:rPr sz="2000" spc="-5" dirty="0">
                <a:solidFill>
                  <a:srgbClr val="FFFFFF"/>
                </a:solidFill>
                <a:latin typeface="Arial"/>
                <a:cs typeface="Arial"/>
              </a:rPr>
              <a:t>n</a:t>
            </a:r>
            <a:r>
              <a:rPr sz="2000" spc="-40" dirty="0">
                <a:solidFill>
                  <a:srgbClr val="FFFFFF"/>
                </a:solidFill>
                <a:latin typeface="Arial"/>
                <a:cs typeface="Arial"/>
              </a:rPr>
              <a:t>al</a:t>
            </a:r>
            <a:r>
              <a:rPr sz="2000" dirty="0">
                <a:solidFill>
                  <a:srgbClr val="FFFFFF"/>
                </a:solidFill>
                <a:latin typeface="Arial"/>
                <a:cs typeface="Arial"/>
              </a:rPr>
              <a:t>	</a:t>
            </a:r>
            <a:r>
              <a:rPr sz="2000" spc="-20" dirty="0">
                <a:solidFill>
                  <a:srgbClr val="FFFFFF"/>
                </a:solidFill>
                <a:latin typeface="Arial"/>
                <a:cs typeface="Arial"/>
              </a:rPr>
              <a:t>da</a:t>
            </a:r>
            <a:r>
              <a:rPr sz="2000" spc="-5" dirty="0">
                <a:solidFill>
                  <a:srgbClr val="FFFFFF"/>
                </a:solidFill>
                <a:latin typeface="Arial"/>
                <a:cs typeface="Arial"/>
              </a:rPr>
              <a:t>t</a:t>
            </a:r>
            <a:r>
              <a:rPr sz="2000" spc="-195" dirty="0">
                <a:solidFill>
                  <a:srgbClr val="FFFFFF"/>
                </a:solidFill>
                <a:latin typeface="Arial"/>
                <a:cs typeface="Arial"/>
              </a:rPr>
              <a:t>a</a:t>
            </a:r>
            <a:r>
              <a:rPr sz="2000" dirty="0">
                <a:solidFill>
                  <a:srgbClr val="FFFFFF"/>
                </a:solidFill>
                <a:latin typeface="Arial"/>
                <a:cs typeface="Arial"/>
              </a:rPr>
              <a:t>	</a:t>
            </a:r>
            <a:r>
              <a:rPr sz="2000" spc="80" dirty="0">
                <a:solidFill>
                  <a:srgbClr val="FFFFFF"/>
                </a:solidFill>
                <a:latin typeface="Arial"/>
                <a:cs typeface="Arial"/>
              </a:rPr>
              <a:t>in  </a:t>
            </a:r>
            <a:r>
              <a:rPr sz="2000" spc="-15" dirty="0">
                <a:solidFill>
                  <a:srgbClr val="FFFFFF"/>
                </a:solidFill>
                <a:latin typeface="Arial"/>
                <a:cs typeface="Arial"/>
              </a:rPr>
              <a:t>Hadoop </a:t>
            </a:r>
            <a:r>
              <a:rPr sz="2000" spc="-40" dirty="0">
                <a:solidFill>
                  <a:srgbClr val="FFFFFF"/>
                </a:solidFill>
                <a:latin typeface="Arial"/>
                <a:cs typeface="Arial"/>
              </a:rPr>
              <a:t>and </a:t>
            </a:r>
            <a:r>
              <a:rPr sz="2000" spc="-5" dirty="0">
                <a:solidFill>
                  <a:srgbClr val="FFFFFF"/>
                </a:solidFill>
                <a:latin typeface="Arial"/>
                <a:cs typeface="Arial"/>
              </a:rPr>
              <a:t>Azure Blob</a:t>
            </a:r>
            <a:r>
              <a:rPr sz="2000" spc="-420" dirty="0">
                <a:solidFill>
                  <a:srgbClr val="FFFFFF"/>
                </a:solidFill>
                <a:latin typeface="Arial"/>
                <a:cs typeface="Arial"/>
              </a:rPr>
              <a:t> </a:t>
            </a:r>
            <a:r>
              <a:rPr sz="2000" spc="-65" dirty="0">
                <a:solidFill>
                  <a:srgbClr val="FFFFFF"/>
                </a:solidFill>
                <a:latin typeface="Arial"/>
                <a:cs typeface="Arial"/>
              </a:rPr>
              <a:t>Storage.</a:t>
            </a:r>
            <a:endParaRPr sz="2000">
              <a:latin typeface="Arial"/>
              <a:cs typeface="Arial"/>
            </a:endParaRPr>
          </a:p>
        </p:txBody>
      </p:sp>
      <p:sp>
        <p:nvSpPr>
          <p:cNvPr id="5" name="object 5"/>
          <p:cNvSpPr/>
          <p:nvPr/>
        </p:nvSpPr>
        <p:spPr>
          <a:xfrm>
            <a:off x="131826" y="2362200"/>
            <a:ext cx="8685530" cy="1291591"/>
          </a:xfrm>
          <a:custGeom>
            <a:avLst/>
            <a:gdLst/>
            <a:ahLst/>
            <a:cxnLst/>
            <a:rect l="l" t="t" r="r" b="b"/>
            <a:pathLst>
              <a:path w="8084820" h="1736725">
                <a:moveTo>
                  <a:pt x="8084820" y="289433"/>
                </a:moveTo>
                <a:lnTo>
                  <a:pt x="8081023" y="242481"/>
                </a:lnTo>
                <a:lnTo>
                  <a:pt x="8070062" y="197942"/>
                </a:lnTo>
                <a:lnTo>
                  <a:pt x="8052511" y="156413"/>
                </a:lnTo>
                <a:lnTo>
                  <a:pt x="8028978" y="118491"/>
                </a:lnTo>
                <a:lnTo>
                  <a:pt x="8000060" y="84759"/>
                </a:lnTo>
                <a:lnTo>
                  <a:pt x="7966329" y="55841"/>
                </a:lnTo>
                <a:lnTo>
                  <a:pt x="7928407" y="32308"/>
                </a:lnTo>
                <a:lnTo>
                  <a:pt x="7886878" y="14757"/>
                </a:lnTo>
                <a:lnTo>
                  <a:pt x="7842339" y="3797"/>
                </a:lnTo>
                <a:lnTo>
                  <a:pt x="7795387" y="0"/>
                </a:lnTo>
                <a:lnTo>
                  <a:pt x="289445" y="0"/>
                </a:lnTo>
                <a:lnTo>
                  <a:pt x="242493" y="3797"/>
                </a:lnTo>
                <a:lnTo>
                  <a:pt x="197954" y="14757"/>
                </a:lnTo>
                <a:lnTo>
                  <a:pt x="156425" y="32308"/>
                </a:lnTo>
                <a:lnTo>
                  <a:pt x="118491" y="55841"/>
                </a:lnTo>
                <a:lnTo>
                  <a:pt x="84772" y="84759"/>
                </a:lnTo>
                <a:lnTo>
                  <a:pt x="55841" y="118491"/>
                </a:lnTo>
                <a:lnTo>
                  <a:pt x="32296" y="156413"/>
                </a:lnTo>
                <a:lnTo>
                  <a:pt x="14744" y="197942"/>
                </a:lnTo>
                <a:lnTo>
                  <a:pt x="3784" y="242481"/>
                </a:lnTo>
                <a:lnTo>
                  <a:pt x="0" y="289433"/>
                </a:lnTo>
                <a:lnTo>
                  <a:pt x="0" y="1447165"/>
                </a:lnTo>
                <a:lnTo>
                  <a:pt x="3784" y="1494129"/>
                </a:lnTo>
                <a:lnTo>
                  <a:pt x="14744" y="1538668"/>
                </a:lnTo>
                <a:lnTo>
                  <a:pt x="32296" y="1580197"/>
                </a:lnTo>
                <a:lnTo>
                  <a:pt x="55841" y="1618119"/>
                </a:lnTo>
                <a:lnTo>
                  <a:pt x="84772" y="1651850"/>
                </a:lnTo>
                <a:lnTo>
                  <a:pt x="118491" y="1680768"/>
                </a:lnTo>
                <a:lnTo>
                  <a:pt x="156425" y="1704301"/>
                </a:lnTo>
                <a:lnTo>
                  <a:pt x="197954" y="1721853"/>
                </a:lnTo>
                <a:lnTo>
                  <a:pt x="242493" y="1732813"/>
                </a:lnTo>
                <a:lnTo>
                  <a:pt x="289445" y="1736598"/>
                </a:lnTo>
                <a:lnTo>
                  <a:pt x="7795387" y="1736598"/>
                </a:lnTo>
                <a:lnTo>
                  <a:pt x="7842339" y="1732813"/>
                </a:lnTo>
                <a:lnTo>
                  <a:pt x="7886878" y="1721853"/>
                </a:lnTo>
                <a:lnTo>
                  <a:pt x="7928407" y="1704301"/>
                </a:lnTo>
                <a:lnTo>
                  <a:pt x="7966329" y="1680768"/>
                </a:lnTo>
                <a:lnTo>
                  <a:pt x="8000060" y="1651850"/>
                </a:lnTo>
                <a:lnTo>
                  <a:pt x="8028978" y="1618119"/>
                </a:lnTo>
                <a:lnTo>
                  <a:pt x="8052511" y="1580197"/>
                </a:lnTo>
                <a:lnTo>
                  <a:pt x="8070062" y="1538668"/>
                </a:lnTo>
                <a:lnTo>
                  <a:pt x="8081023" y="1494129"/>
                </a:lnTo>
                <a:lnTo>
                  <a:pt x="8084820" y="1447165"/>
                </a:lnTo>
                <a:lnTo>
                  <a:pt x="8084820" y="289433"/>
                </a:lnTo>
                <a:close/>
              </a:path>
            </a:pathLst>
          </a:custGeom>
          <a:solidFill>
            <a:srgbClr val="8063A1"/>
          </a:solidFill>
        </p:spPr>
        <p:txBody>
          <a:bodyPr wrap="square" lIns="0" tIns="0" rIns="0" bIns="0" rtlCol="0"/>
          <a:lstStyle/>
          <a:p>
            <a:endParaRPr/>
          </a:p>
        </p:txBody>
      </p:sp>
      <p:sp>
        <p:nvSpPr>
          <p:cNvPr id="6" name="object 6"/>
          <p:cNvSpPr txBox="1"/>
          <p:nvPr/>
        </p:nvSpPr>
        <p:spPr>
          <a:xfrm>
            <a:off x="882141" y="2362200"/>
            <a:ext cx="7372984" cy="1153160"/>
          </a:xfrm>
          <a:prstGeom prst="rect">
            <a:avLst/>
          </a:prstGeom>
        </p:spPr>
        <p:txBody>
          <a:bodyPr vert="horz" wrap="square" lIns="0" tIns="46990" rIns="0" bIns="0" rtlCol="0">
            <a:spAutoFit/>
          </a:bodyPr>
          <a:lstStyle/>
          <a:p>
            <a:pPr marL="355600" marR="7620" indent="-343535">
              <a:lnSpc>
                <a:spcPts val="2160"/>
              </a:lnSpc>
              <a:spcBef>
                <a:spcPts val="370"/>
              </a:spcBef>
              <a:buFont typeface="Wingdings"/>
              <a:buChar char=""/>
              <a:tabLst>
                <a:tab pos="355600" algn="l"/>
                <a:tab pos="356235" algn="l"/>
              </a:tabLst>
            </a:pPr>
            <a:r>
              <a:rPr sz="2000" spc="-35" dirty="0">
                <a:solidFill>
                  <a:srgbClr val="FFFFFF"/>
                </a:solidFill>
                <a:latin typeface="Arial"/>
                <a:cs typeface="Arial"/>
              </a:rPr>
              <a:t>Queries </a:t>
            </a:r>
            <a:r>
              <a:rPr sz="2000" spc="30" dirty="0">
                <a:solidFill>
                  <a:srgbClr val="FFFFFF"/>
                </a:solidFill>
                <a:latin typeface="Arial"/>
                <a:cs typeface="Arial"/>
              </a:rPr>
              <a:t>that </a:t>
            </a:r>
            <a:r>
              <a:rPr sz="2000" spc="-170" dirty="0">
                <a:solidFill>
                  <a:srgbClr val="FFFFFF"/>
                </a:solidFill>
                <a:latin typeface="Arial"/>
                <a:cs typeface="Arial"/>
              </a:rPr>
              <a:t>access </a:t>
            </a:r>
            <a:r>
              <a:rPr sz="2000" spc="-10" dirty="0">
                <a:solidFill>
                  <a:srgbClr val="FFFFFF"/>
                </a:solidFill>
                <a:latin typeface="Arial"/>
                <a:cs typeface="Arial"/>
              </a:rPr>
              <a:t>external </a:t>
            </a:r>
            <a:r>
              <a:rPr sz="2000" spc="-60" dirty="0">
                <a:solidFill>
                  <a:srgbClr val="FFFFFF"/>
                </a:solidFill>
                <a:latin typeface="Arial"/>
                <a:cs typeface="Arial"/>
              </a:rPr>
              <a:t>data </a:t>
            </a:r>
            <a:r>
              <a:rPr sz="2000" spc="-75" dirty="0">
                <a:solidFill>
                  <a:srgbClr val="FFFFFF"/>
                </a:solidFill>
                <a:latin typeface="Arial"/>
                <a:cs typeface="Arial"/>
              </a:rPr>
              <a:t>can </a:t>
            </a:r>
            <a:r>
              <a:rPr sz="2000" spc="-80" dirty="0">
                <a:solidFill>
                  <a:srgbClr val="FFFFFF"/>
                </a:solidFill>
                <a:latin typeface="Arial"/>
                <a:cs typeface="Arial"/>
              </a:rPr>
              <a:t>also </a:t>
            </a:r>
            <a:r>
              <a:rPr sz="2000" spc="-120" dirty="0">
                <a:solidFill>
                  <a:srgbClr val="FFFFFF"/>
                </a:solidFill>
                <a:latin typeface="Arial"/>
                <a:cs typeface="Arial"/>
              </a:rPr>
              <a:t>use </a:t>
            </a:r>
            <a:r>
              <a:rPr sz="2000" spc="55" dirty="0">
                <a:solidFill>
                  <a:srgbClr val="FFFFFF"/>
                </a:solidFill>
                <a:latin typeface="Arial"/>
                <a:cs typeface="Arial"/>
              </a:rPr>
              <a:t>to </a:t>
            </a:r>
            <a:r>
              <a:rPr sz="2000" spc="-30" dirty="0">
                <a:solidFill>
                  <a:srgbClr val="FFFFFF"/>
                </a:solidFill>
                <a:latin typeface="Arial"/>
                <a:cs typeface="Arial"/>
              </a:rPr>
              <a:t>target</a:t>
            </a:r>
            <a:r>
              <a:rPr sz="2000" spc="-330" dirty="0">
                <a:solidFill>
                  <a:srgbClr val="FFFFFF"/>
                </a:solidFill>
                <a:latin typeface="Arial"/>
                <a:cs typeface="Arial"/>
              </a:rPr>
              <a:t> </a:t>
            </a:r>
            <a:r>
              <a:rPr sz="2000" spc="5" dirty="0">
                <a:solidFill>
                  <a:srgbClr val="FFFFFF"/>
                </a:solidFill>
                <a:latin typeface="Arial"/>
                <a:cs typeface="Arial"/>
              </a:rPr>
              <a:t>relational  </a:t>
            </a:r>
            <a:r>
              <a:rPr sz="2000" spc="-65" dirty="0">
                <a:solidFill>
                  <a:srgbClr val="FFFFFF"/>
                </a:solidFill>
                <a:latin typeface="Arial"/>
                <a:cs typeface="Arial"/>
              </a:rPr>
              <a:t>tables</a:t>
            </a:r>
            <a:r>
              <a:rPr sz="2000" spc="-110" dirty="0">
                <a:solidFill>
                  <a:srgbClr val="FFFFFF"/>
                </a:solidFill>
                <a:latin typeface="Arial"/>
                <a:cs typeface="Arial"/>
              </a:rPr>
              <a:t> </a:t>
            </a:r>
            <a:r>
              <a:rPr sz="2000" spc="95" dirty="0">
                <a:solidFill>
                  <a:srgbClr val="FFFFFF"/>
                </a:solidFill>
                <a:latin typeface="Arial"/>
                <a:cs typeface="Arial"/>
              </a:rPr>
              <a:t>in</a:t>
            </a:r>
            <a:r>
              <a:rPr sz="2000" spc="-130" dirty="0">
                <a:solidFill>
                  <a:srgbClr val="FFFFFF"/>
                </a:solidFill>
                <a:latin typeface="Arial"/>
                <a:cs typeface="Arial"/>
              </a:rPr>
              <a:t> </a:t>
            </a:r>
            <a:r>
              <a:rPr sz="2000" spc="20" dirty="0">
                <a:solidFill>
                  <a:srgbClr val="FFFFFF"/>
                </a:solidFill>
                <a:latin typeface="Arial"/>
                <a:cs typeface="Arial"/>
              </a:rPr>
              <a:t>your</a:t>
            </a:r>
            <a:r>
              <a:rPr sz="2000" spc="-125" dirty="0">
                <a:solidFill>
                  <a:srgbClr val="FFFFFF"/>
                </a:solidFill>
                <a:latin typeface="Arial"/>
                <a:cs typeface="Arial"/>
              </a:rPr>
              <a:t> </a:t>
            </a:r>
            <a:r>
              <a:rPr sz="2000" spc="20" dirty="0">
                <a:solidFill>
                  <a:srgbClr val="FFFFFF"/>
                </a:solidFill>
                <a:latin typeface="Arial"/>
                <a:cs typeface="Arial"/>
              </a:rPr>
              <a:t>SQL</a:t>
            </a:r>
            <a:r>
              <a:rPr sz="2000" spc="-135" dirty="0">
                <a:solidFill>
                  <a:srgbClr val="FFFFFF"/>
                </a:solidFill>
                <a:latin typeface="Arial"/>
                <a:cs typeface="Arial"/>
              </a:rPr>
              <a:t> </a:t>
            </a:r>
            <a:r>
              <a:rPr sz="2000" spc="-50" dirty="0">
                <a:solidFill>
                  <a:srgbClr val="FFFFFF"/>
                </a:solidFill>
                <a:latin typeface="Arial"/>
                <a:cs typeface="Arial"/>
              </a:rPr>
              <a:t>Server</a:t>
            </a:r>
            <a:r>
              <a:rPr sz="2000" spc="-120" dirty="0">
                <a:solidFill>
                  <a:srgbClr val="FFFFFF"/>
                </a:solidFill>
                <a:latin typeface="Arial"/>
                <a:cs typeface="Arial"/>
              </a:rPr>
              <a:t> </a:t>
            </a:r>
            <a:r>
              <a:rPr sz="2000" spc="-40" dirty="0">
                <a:solidFill>
                  <a:srgbClr val="FFFFFF"/>
                </a:solidFill>
                <a:latin typeface="Arial"/>
                <a:cs typeface="Arial"/>
              </a:rPr>
              <a:t>instance.</a:t>
            </a:r>
            <a:endParaRPr sz="2000">
              <a:latin typeface="Arial"/>
              <a:cs typeface="Arial"/>
            </a:endParaRPr>
          </a:p>
          <a:p>
            <a:pPr marL="355600" marR="5080" indent="-343535">
              <a:lnSpc>
                <a:spcPts val="2160"/>
              </a:lnSpc>
              <a:buFont typeface="Wingdings"/>
              <a:buChar char=""/>
              <a:tabLst>
                <a:tab pos="355600" algn="l"/>
                <a:tab pos="356235" algn="l"/>
              </a:tabLst>
            </a:pPr>
            <a:r>
              <a:rPr sz="2000" spc="35" dirty="0">
                <a:solidFill>
                  <a:srgbClr val="FFFFFF"/>
                </a:solidFill>
                <a:latin typeface="Arial"/>
                <a:cs typeface="Arial"/>
              </a:rPr>
              <a:t>This </a:t>
            </a:r>
            <a:r>
              <a:rPr sz="2000" spc="-25" dirty="0">
                <a:solidFill>
                  <a:srgbClr val="FFFFFF"/>
                </a:solidFill>
                <a:latin typeface="Arial"/>
                <a:cs typeface="Arial"/>
              </a:rPr>
              <a:t>allows </a:t>
            </a:r>
            <a:r>
              <a:rPr sz="2000" spc="55" dirty="0">
                <a:solidFill>
                  <a:srgbClr val="FFFFFF"/>
                </a:solidFill>
                <a:latin typeface="Arial"/>
                <a:cs typeface="Arial"/>
              </a:rPr>
              <a:t>to </a:t>
            </a:r>
            <a:r>
              <a:rPr sz="2000" spc="-20" dirty="0">
                <a:solidFill>
                  <a:srgbClr val="FFFFFF"/>
                </a:solidFill>
                <a:latin typeface="Arial"/>
                <a:cs typeface="Arial"/>
              </a:rPr>
              <a:t>combine </a:t>
            </a:r>
            <a:r>
              <a:rPr sz="2000" spc="-60" dirty="0">
                <a:solidFill>
                  <a:srgbClr val="FFFFFF"/>
                </a:solidFill>
                <a:latin typeface="Arial"/>
                <a:cs typeface="Arial"/>
              </a:rPr>
              <a:t>data </a:t>
            </a:r>
            <a:r>
              <a:rPr sz="2000" spc="45" dirty="0">
                <a:solidFill>
                  <a:srgbClr val="FFFFFF"/>
                </a:solidFill>
                <a:latin typeface="Arial"/>
                <a:cs typeface="Arial"/>
              </a:rPr>
              <a:t>from </a:t>
            </a:r>
            <a:r>
              <a:rPr sz="2000" spc="-10" dirty="0">
                <a:solidFill>
                  <a:srgbClr val="FFFFFF"/>
                </a:solidFill>
                <a:latin typeface="Arial"/>
                <a:cs typeface="Arial"/>
              </a:rPr>
              <a:t>external </a:t>
            </a:r>
            <a:r>
              <a:rPr sz="2000" spc="-90" dirty="0">
                <a:solidFill>
                  <a:srgbClr val="FFFFFF"/>
                </a:solidFill>
                <a:latin typeface="Arial"/>
                <a:cs typeface="Arial"/>
              </a:rPr>
              <a:t>sources </a:t>
            </a:r>
            <a:r>
              <a:rPr sz="2000" spc="90" dirty="0">
                <a:solidFill>
                  <a:srgbClr val="FFFFFF"/>
                </a:solidFill>
                <a:latin typeface="Arial"/>
                <a:cs typeface="Arial"/>
              </a:rPr>
              <a:t>with </a:t>
            </a:r>
            <a:r>
              <a:rPr sz="2000" spc="20" dirty="0">
                <a:solidFill>
                  <a:srgbClr val="FFFFFF"/>
                </a:solidFill>
                <a:latin typeface="Arial"/>
                <a:cs typeface="Arial"/>
              </a:rPr>
              <a:t>high-  </a:t>
            </a:r>
            <a:r>
              <a:rPr sz="2000" spc="-40" dirty="0">
                <a:solidFill>
                  <a:srgbClr val="FFFFFF"/>
                </a:solidFill>
                <a:latin typeface="Arial"/>
                <a:cs typeface="Arial"/>
              </a:rPr>
              <a:t>value</a:t>
            </a:r>
            <a:r>
              <a:rPr sz="2000" spc="-110" dirty="0">
                <a:solidFill>
                  <a:srgbClr val="FFFFFF"/>
                </a:solidFill>
                <a:latin typeface="Arial"/>
                <a:cs typeface="Arial"/>
              </a:rPr>
              <a:t> </a:t>
            </a:r>
            <a:r>
              <a:rPr sz="2000" dirty="0">
                <a:solidFill>
                  <a:srgbClr val="FFFFFF"/>
                </a:solidFill>
                <a:latin typeface="Arial"/>
                <a:cs typeface="Arial"/>
              </a:rPr>
              <a:t>relational</a:t>
            </a:r>
            <a:r>
              <a:rPr sz="2000" spc="-105" dirty="0">
                <a:solidFill>
                  <a:srgbClr val="FFFFFF"/>
                </a:solidFill>
                <a:latin typeface="Arial"/>
                <a:cs typeface="Arial"/>
              </a:rPr>
              <a:t> </a:t>
            </a:r>
            <a:r>
              <a:rPr sz="2000" spc="-60" dirty="0">
                <a:solidFill>
                  <a:srgbClr val="FFFFFF"/>
                </a:solidFill>
                <a:latin typeface="Arial"/>
                <a:cs typeface="Arial"/>
              </a:rPr>
              <a:t>data</a:t>
            </a:r>
            <a:r>
              <a:rPr sz="2000" spc="-125" dirty="0">
                <a:solidFill>
                  <a:srgbClr val="FFFFFF"/>
                </a:solidFill>
                <a:latin typeface="Arial"/>
                <a:cs typeface="Arial"/>
              </a:rPr>
              <a:t> </a:t>
            </a:r>
            <a:r>
              <a:rPr sz="2000" spc="95" dirty="0">
                <a:solidFill>
                  <a:srgbClr val="FFFFFF"/>
                </a:solidFill>
                <a:latin typeface="Arial"/>
                <a:cs typeface="Arial"/>
              </a:rPr>
              <a:t>in</a:t>
            </a:r>
            <a:r>
              <a:rPr sz="2000" spc="-130" dirty="0">
                <a:solidFill>
                  <a:srgbClr val="FFFFFF"/>
                </a:solidFill>
                <a:latin typeface="Arial"/>
                <a:cs typeface="Arial"/>
              </a:rPr>
              <a:t> </a:t>
            </a:r>
            <a:r>
              <a:rPr sz="2000" spc="20" dirty="0">
                <a:solidFill>
                  <a:srgbClr val="FFFFFF"/>
                </a:solidFill>
                <a:latin typeface="Arial"/>
                <a:cs typeface="Arial"/>
              </a:rPr>
              <a:t>your</a:t>
            </a:r>
            <a:r>
              <a:rPr sz="2000" spc="-125" dirty="0">
                <a:solidFill>
                  <a:srgbClr val="FFFFFF"/>
                </a:solidFill>
                <a:latin typeface="Arial"/>
                <a:cs typeface="Arial"/>
              </a:rPr>
              <a:t> </a:t>
            </a:r>
            <a:r>
              <a:rPr sz="2000" spc="-100" dirty="0">
                <a:solidFill>
                  <a:srgbClr val="FFFFFF"/>
                </a:solidFill>
                <a:latin typeface="Arial"/>
                <a:cs typeface="Arial"/>
              </a:rPr>
              <a:t>database.</a:t>
            </a:r>
            <a:endParaRPr sz="20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3</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0" name="object 21">
            <a:extLst>
              <a:ext uri="{FF2B5EF4-FFF2-40B4-BE49-F238E27FC236}">
                <a16:creationId xmlns:a16="http://schemas.microsoft.com/office/drawing/2014/main" id="{5548A793-9406-40F5-A4A6-0AF63AEF574D}"/>
              </a:ext>
            </a:extLst>
          </p:cNvPr>
          <p:cNvSpPr/>
          <p:nvPr/>
        </p:nvSpPr>
        <p:spPr>
          <a:xfrm>
            <a:off x="4613909" y="4030217"/>
            <a:ext cx="1754124" cy="2362200"/>
          </a:xfrm>
          <a:prstGeom prst="rect">
            <a:avLst/>
          </a:prstGeom>
          <a:blipFill>
            <a:blip r:embed="rId3" cstate="print"/>
            <a:stretch>
              <a:fillRect/>
            </a:stretch>
          </a:blipFill>
          <a:ln>
            <a:solidFill>
              <a:schemeClr val="tx1"/>
            </a:solidFill>
          </a:ln>
        </p:spPr>
        <p:txBody>
          <a:bodyPr wrap="square" lIns="0" tIns="0" rIns="0" bIns="0" rtlCol="0"/>
          <a:lstStyle/>
          <a:p>
            <a:endParaRPr/>
          </a:p>
        </p:txBody>
      </p:sp>
      <p:sp>
        <p:nvSpPr>
          <p:cNvPr id="11" name="object 25">
            <a:extLst>
              <a:ext uri="{FF2B5EF4-FFF2-40B4-BE49-F238E27FC236}">
                <a16:creationId xmlns:a16="http://schemas.microsoft.com/office/drawing/2014/main" id="{CAB55C03-2C89-474F-83EC-14FCB3198727}"/>
              </a:ext>
            </a:extLst>
          </p:cNvPr>
          <p:cNvSpPr/>
          <p:nvPr/>
        </p:nvSpPr>
        <p:spPr>
          <a:xfrm>
            <a:off x="3043427" y="4334255"/>
            <a:ext cx="1569720" cy="484631"/>
          </a:xfrm>
          <a:prstGeom prst="rect">
            <a:avLst/>
          </a:prstGeom>
          <a:blipFill>
            <a:blip r:embed="rId4" cstate="print"/>
            <a:stretch>
              <a:fillRect/>
            </a:stretch>
          </a:blipFill>
        </p:spPr>
        <p:txBody>
          <a:bodyPr wrap="square" lIns="0" tIns="0" rIns="0" bIns="0" rtlCol="0"/>
          <a:lstStyle/>
          <a:p>
            <a:endParaRPr/>
          </a:p>
        </p:txBody>
      </p:sp>
      <p:sp>
        <p:nvSpPr>
          <p:cNvPr id="12" name="object 28">
            <a:extLst>
              <a:ext uri="{FF2B5EF4-FFF2-40B4-BE49-F238E27FC236}">
                <a16:creationId xmlns:a16="http://schemas.microsoft.com/office/drawing/2014/main" id="{67D7DA96-243E-4C72-AD89-06E99471F0E6}"/>
              </a:ext>
            </a:extLst>
          </p:cNvPr>
          <p:cNvSpPr/>
          <p:nvPr/>
        </p:nvSpPr>
        <p:spPr>
          <a:xfrm>
            <a:off x="861822" y="4030217"/>
            <a:ext cx="2215895" cy="1295400"/>
          </a:xfrm>
          <a:prstGeom prst="rect">
            <a:avLst/>
          </a:prstGeom>
          <a:blipFill>
            <a:blip r:embed="rId5" cstate="print"/>
            <a:stretch>
              <a:fillRect/>
            </a:stretch>
          </a:blipFill>
          <a:ln>
            <a:solidFill>
              <a:schemeClr val="tx1"/>
            </a:solidFill>
          </a:ln>
        </p:spPr>
        <p:txBody>
          <a:bodyPr wrap="square" lIns="0" tIns="0" rIns="0" bIns="0" rtlCol="0"/>
          <a:lstStyle/>
          <a:p>
            <a:pPr algn="ctr"/>
            <a:br>
              <a:rPr lang="en-US" sz="1800" b="1" spc="-15">
                <a:latin typeface="Arial"/>
                <a:cs typeface="Arial"/>
              </a:rPr>
            </a:br>
            <a:br>
              <a:rPr lang="en-US" sz="1800" b="1" spc="-15">
                <a:latin typeface="Arial"/>
                <a:cs typeface="Arial"/>
              </a:rPr>
            </a:br>
            <a:r>
              <a:rPr lang="en-US" sz="1800" b="1" spc="-15">
                <a:latin typeface="Arial"/>
                <a:cs typeface="Arial"/>
              </a:rPr>
              <a:t>HADOOP</a:t>
            </a:r>
            <a:endParaRPr/>
          </a:p>
        </p:txBody>
      </p:sp>
      <p:sp>
        <p:nvSpPr>
          <p:cNvPr id="14" name="object 35">
            <a:extLst>
              <a:ext uri="{FF2B5EF4-FFF2-40B4-BE49-F238E27FC236}">
                <a16:creationId xmlns:a16="http://schemas.microsoft.com/office/drawing/2014/main" id="{74F614B5-14B5-4901-85C5-FEA18F2987C0}"/>
              </a:ext>
            </a:extLst>
          </p:cNvPr>
          <p:cNvSpPr/>
          <p:nvPr/>
        </p:nvSpPr>
        <p:spPr>
          <a:xfrm>
            <a:off x="3043427" y="5754623"/>
            <a:ext cx="1569720" cy="485140"/>
          </a:xfrm>
          <a:custGeom>
            <a:avLst/>
            <a:gdLst/>
            <a:ahLst/>
            <a:cxnLst/>
            <a:rect l="l" t="t" r="r" b="b"/>
            <a:pathLst>
              <a:path w="1569720" h="485139">
                <a:moveTo>
                  <a:pt x="0" y="242315"/>
                </a:moveTo>
                <a:lnTo>
                  <a:pt x="242315" y="0"/>
                </a:lnTo>
                <a:lnTo>
                  <a:pt x="242315" y="121157"/>
                </a:lnTo>
                <a:lnTo>
                  <a:pt x="1327404" y="121157"/>
                </a:lnTo>
                <a:lnTo>
                  <a:pt x="1327404" y="0"/>
                </a:lnTo>
                <a:lnTo>
                  <a:pt x="1569720" y="242315"/>
                </a:lnTo>
                <a:lnTo>
                  <a:pt x="1327404" y="484631"/>
                </a:lnTo>
                <a:lnTo>
                  <a:pt x="1327404" y="363473"/>
                </a:lnTo>
                <a:lnTo>
                  <a:pt x="242315" y="363473"/>
                </a:lnTo>
                <a:lnTo>
                  <a:pt x="242315" y="484631"/>
                </a:lnTo>
                <a:lnTo>
                  <a:pt x="0" y="242315"/>
                </a:lnTo>
                <a:close/>
              </a:path>
            </a:pathLst>
          </a:custGeom>
          <a:ln w="9143">
            <a:solidFill>
              <a:srgbClr val="ADADAD"/>
            </a:solidFill>
          </a:ln>
        </p:spPr>
        <p:txBody>
          <a:bodyPr wrap="square" lIns="0" tIns="0" rIns="0" bIns="0" rtlCol="0"/>
          <a:lstStyle/>
          <a:p>
            <a:endParaRPr/>
          </a:p>
        </p:txBody>
      </p:sp>
      <p:sp>
        <p:nvSpPr>
          <p:cNvPr id="15" name="object 37">
            <a:extLst>
              <a:ext uri="{FF2B5EF4-FFF2-40B4-BE49-F238E27FC236}">
                <a16:creationId xmlns:a16="http://schemas.microsoft.com/office/drawing/2014/main" id="{A0CC2E86-4D3D-4EB0-8EF9-D8AEF40463C1}"/>
              </a:ext>
            </a:extLst>
          </p:cNvPr>
          <p:cNvSpPr txBox="1"/>
          <p:nvPr/>
        </p:nvSpPr>
        <p:spPr>
          <a:xfrm>
            <a:off x="7175754" y="5083302"/>
            <a:ext cx="1501140" cy="547370"/>
          </a:xfrm>
          <a:prstGeom prst="rect">
            <a:avLst/>
          </a:prstGeom>
          <a:ln w="25907">
            <a:solidFill>
              <a:srgbClr val="A1A1A1"/>
            </a:solidFill>
          </a:ln>
        </p:spPr>
        <p:txBody>
          <a:bodyPr vert="horz" wrap="square" lIns="0" tIns="54610" rIns="0" bIns="0" rtlCol="0">
            <a:spAutoFit/>
          </a:bodyPr>
          <a:lstStyle/>
          <a:p>
            <a:pPr marL="1270" algn="ctr">
              <a:lnSpc>
                <a:spcPct val="100000"/>
              </a:lnSpc>
              <a:spcBef>
                <a:spcPts val="430"/>
              </a:spcBef>
            </a:pPr>
            <a:r>
              <a:rPr sz="1400" b="1" spc="-5" dirty="0">
                <a:latin typeface="Arial"/>
                <a:cs typeface="Arial"/>
              </a:rPr>
              <a:t>T-SQL</a:t>
            </a:r>
            <a:endParaRPr sz="1400">
              <a:latin typeface="Arial"/>
              <a:cs typeface="Arial"/>
            </a:endParaRPr>
          </a:p>
          <a:p>
            <a:pPr algn="ctr">
              <a:lnSpc>
                <a:spcPct val="100000"/>
              </a:lnSpc>
            </a:pPr>
            <a:r>
              <a:rPr sz="1400" b="1" spc="-5" dirty="0">
                <a:latin typeface="Arial"/>
                <a:cs typeface="Arial"/>
              </a:rPr>
              <a:t>QUERIES</a:t>
            </a:r>
            <a:endParaRPr sz="1400">
              <a:latin typeface="Arial"/>
              <a:cs typeface="Arial"/>
            </a:endParaRPr>
          </a:p>
        </p:txBody>
      </p:sp>
      <p:sp>
        <p:nvSpPr>
          <p:cNvPr id="17" name="object 41">
            <a:extLst>
              <a:ext uri="{FF2B5EF4-FFF2-40B4-BE49-F238E27FC236}">
                <a16:creationId xmlns:a16="http://schemas.microsoft.com/office/drawing/2014/main" id="{28DF2304-06F1-47A8-ADF3-87CD9B1084EF}"/>
              </a:ext>
            </a:extLst>
          </p:cNvPr>
          <p:cNvSpPr txBox="1"/>
          <p:nvPr/>
        </p:nvSpPr>
        <p:spPr>
          <a:xfrm>
            <a:off x="3119120" y="5139308"/>
            <a:ext cx="1529080" cy="391160"/>
          </a:xfrm>
          <a:prstGeom prst="rect">
            <a:avLst/>
          </a:prstGeom>
        </p:spPr>
        <p:txBody>
          <a:bodyPr vert="horz" wrap="square" lIns="0" tIns="12700" rIns="0" bIns="0" rtlCol="0">
            <a:spAutoFit/>
          </a:bodyPr>
          <a:lstStyle/>
          <a:p>
            <a:pPr marL="368935" marR="5080" indent="-356870">
              <a:lnSpc>
                <a:spcPct val="100000"/>
              </a:lnSpc>
              <a:spcBef>
                <a:spcPts val="100"/>
              </a:spcBef>
            </a:pPr>
            <a:r>
              <a:rPr sz="1200" b="1" spc="-5" dirty="0">
                <a:latin typeface="Arial"/>
                <a:cs typeface="Arial"/>
              </a:rPr>
              <a:t>QUERY TO</a:t>
            </a:r>
            <a:r>
              <a:rPr sz="1200" b="1" spc="-45" dirty="0">
                <a:latin typeface="Arial"/>
                <a:cs typeface="Arial"/>
              </a:rPr>
              <a:t> </a:t>
            </a:r>
            <a:r>
              <a:rPr sz="1200" b="1" spc="-10" dirty="0">
                <a:latin typeface="Arial"/>
                <a:cs typeface="Arial"/>
              </a:rPr>
              <a:t>HADOOP  </a:t>
            </a:r>
            <a:r>
              <a:rPr sz="1200" b="1" spc="-5" dirty="0">
                <a:latin typeface="Arial"/>
                <a:cs typeface="Arial"/>
              </a:rPr>
              <a:t>OR</a:t>
            </a:r>
            <a:r>
              <a:rPr sz="1200" b="1" spc="-10" dirty="0">
                <a:latin typeface="Arial"/>
                <a:cs typeface="Arial"/>
              </a:rPr>
              <a:t> AZURE</a:t>
            </a:r>
            <a:endParaRPr sz="1200">
              <a:latin typeface="Arial"/>
              <a:cs typeface="Arial"/>
            </a:endParaRPr>
          </a:p>
        </p:txBody>
      </p:sp>
      <p:sp>
        <p:nvSpPr>
          <p:cNvPr id="18" name="object 23">
            <a:extLst>
              <a:ext uri="{FF2B5EF4-FFF2-40B4-BE49-F238E27FC236}">
                <a16:creationId xmlns:a16="http://schemas.microsoft.com/office/drawing/2014/main" id="{9235534C-47DE-455B-9907-6FB6FB089576}"/>
              </a:ext>
            </a:extLst>
          </p:cNvPr>
          <p:cNvSpPr txBox="1"/>
          <p:nvPr/>
        </p:nvSpPr>
        <p:spPr>
          <a:xfrm>
            <a:off x="4823205" y="5072252"/>
            <a:ext cx="1334135"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Arial"/>
                <a:cs typeface="Arial"/>
              </a:rPr>
              <a:t>SQL</a:t>
            </a:r>
            <a:r>
              <a:rPr sz="1600" b="1" spc="-60" dirty="0">
                <a:latin typeface="Arial"/>
                <a:cs typeface="Arial"/>
              </a:rPr>
              <a:t> </a:t>
            </a:r>
            <a:r>
              <a:rPr sz="1600" b="1" spc="-5" dirty="0">
                <a:latin typeface="Arial"/>
                <a:cs typeface="Arial"/>
              </a:rPr>
              <a:t>SERVER</a:t>
            </a:r>
            <a:endParaRPr sz="1600">
              <a:latin typeface="Arial"/>
              <a:cs typeface="Arial"/>
            </a:endParaRPr>
          </a:p>
        </p:txBody>
      </p:sp>
      <p:sp>
        <p:nvSpPr>
          <p:cNvPr id="20" name="object 30">
            <a:extLst>
              <a:ext uri="{FF2B5EF4-FFF2-40B4-BE49-F238E27FC236}">
                <a16:creationId xmlns:a16="http://schemas.microsoft.com/office/drawing/2014/main" id="{6A70FA82-46BA-41AE-B91D-B20F18346936}"/>
              </a:ext>
            </a:extLst>
          </p:cNvPr>
          <p:cNvSpPr/>
          <p:nvPr/>
        </p:nvSpPr>
        <p:spPr>
          <a:xfrm>
            <a:off x="828294" y="5630417"/>
            <a:ext cx="2215896" cy="762000"/>
          </a:xfrm>
          <a:prstGeom prst="rect">
            <a:avLst/>
          </a:prstGeom>
          <a:blipFill>
            <a:blip r:embed="rId6" cstate="print"/>
            <a:stretch>
              <a:fillRect/>
            </a:stretch>
          </a:blipFill>
          <a:ln>
            <a:solidFill>
              <a:schemeClr val="tx1"/>
            </a:solidFill>
          </a:ln>
        </p:spPr>
        <p:txBody>
          <a:bodyPr wrap="square" lIns="0" tIns="0" rIns="0" bIns="0" rtlCol="0"/>
          <a:lstStyle/>
          <a:p>
            <a:endParaRPr/>
          </a:p>
        </p:txBody>
      </p:sp>
      <p:sp>
        <p:nvSpPr>
          <p:cNvPr id="21" name="object 32">
            <a:extLst>
              <a:ext uri="{FF2B5EF4-FFF2-40B4-BE49-F238E27FC236}">
                <a16:creationId xmlns:a16="http://schemas.microsoft.com/office/drawing/2014/main" id="{462C8387-05AA-46C0-AAA7-8D5E2A35389D}"/>
              </a:ext>
            </a:extLst>
          </p:cNvPr>
          <p:cNvSpPr txBox="1"/>
          <p:nvPr/>
        </p:nvSpPr>
        <p:spPr>
          <a:xfrm>
            <a:off x="1259205" y="5750153"/>
            <a:ext cx="1353185" cy="513080"/>
          </a:xfrm>
          <a:prstGeom prst="rect">
            <a:avLst/>
          </a:prstGeom>
        </p:spPr>
        <p:txBody>
          <a:bodyPr vert="horz" wrap="square" lIns="0" tIns="12065" rIns="0" bIns="0" rtlCol="0">
            <a:spAutoFit/>
          </a:bodyPr>
          <a:lstStyle/>
          <a:p>
            <a:pPr algn="ctr">
              <a:lnSpc>
                <a:spcPct val="100000"/>
              </a:lnSpc>
              <a:spcBef>
                <a:spcPts val="95"/>
              </a:spcBef>
            </a:pPr>
            <a:r>
              <a:rPr sz="1600" b="1" spc="-15" dirty="0">
                <a:latin typeface="Arial"/>
                <a:cs typeface="Arial"/>
              </a:rPr>
              <a:t>AZURE</a:t>
            </a:r>
            <a:r>
              <a:rPr sz="1600" b="1" spc="-20" dirty="0">
                <a:latin typeface="Arial"/>
                <a:cs typeface="Arial"/>
              </a:rPr>
              <a:t> </a:t>
            </a:r>
            <a:r>
              <a:rPr sz="1600" b="1" spc="-10" dirty="0">
                <a:latin typeface="Arial"/>
                <a:cs typeface="Arial"/>
              </a:rPr>
              <a:t>BLOB</a:t>
            </a:r>
            <a:endParaRPr sz="1600">
              <a:latin typeface="Arial"/>
              <a:cs typeface="Arial"/>
            </a:endParaRPr>
          </a:p>
          <a:p>
            <a:pPr algn="ctr">
              <a:lnSpc>
                <a:spcPct val="100000"/>
              </a:lnSpc>
              <a:spcBef>
                <a:spcPts val="5"/>
              </a:spcBef>
            </a:pPr>
            <a:r>
              <a:rPr sz="1600" b="1" spc="-15" dirty="0">
                <a:latin typeface="Arial"/>
                <a:cs typeface="Arial"/>
              </a:rPr>
              <a:t>STORAGE</a:t>
            </a:r>
            <a:endParaRPr sz="1600">
              <a:latin typeface="Arial"/>
              <a:cs typeface="Arial"/>
            </a:endParaRPr>
          </a:p>
        </p:txBody>
      </p:sp>
      <p:sp>
        <p:nvSpPr>
          <p:cNvPr id="22" name="object 25">
            <a:extLst>
              <a:ext uri="{FF2B5EF4-FFF2-40B4-BE49-F238E27FC236}">
                <a16:creationId xmlns:a16="http://schemas.microsoft.com/office/drawing/2014/main" id="{6A062D2A-30B7-4CAA-892F-6CB8BC6FA441}"/>
              </a:ext>
            </a:extLst>
          </p:cNvPr>
          <p:cNvSpPr/>
          <p:nvPr/>
        </p:nvSpPr>
        <p:spPr>
          <a:xfrm>
            <a:off x="3195827" y="4486655"/>
            <a:ext cx="1569720" cy="484631"/>
          </a:xfrm>
          <a:prstGeom prst="rect">
            <a:avLst/>
          </a:prstGeom>
          <a:blipFill>
            <a:blip r:embed="rId4" cstate="print"/>
            <a:stretch>
              <a:fillRect/>
            </a:stretch>
          </a:blipFill>
        </p:spPr>
        <p:txBody>
          <a:bodyPr wrap="square" lIns="0" tIns="0" rIns="0" bIns="0" rtlCol="0"/>
          <a:lstStyle/>
          <a:p>
            <a:endParaRPr/>
          </a:p>
        </p:txBody>
      </p:sp>
      <p:sp>
        <p:nvSpPr>
          <p:cNvPr id="24" name="object 35">
            <a:extLst>
              <a:ext uri="{FF2B5EF4-FFF2-40B4-BE49-F238E27FC236}">
                <a16:creationId xmlns:a16="http://schemas.microsoft.com/office/drawing/2014/main" id="{21D4D088-A0C9-4863-818F-BD735EF5506E}"/>
              </a:ext>
            </a:extLst>
          </p:cNvPr>
          <p:cNvSpPr/>
          <p:nvPr/>
        </p:nvSpPr>
        <p:spPr>
          <a:xfrm>
            <a:off x="3078480" y="4351272"/>
            <a:ext cx="1569720" cy="485140"/>
          </a:xfrm>
          <a:custGeom>
            <a:avLst/>
            <a:gdLst/>
            <a:ahLst/>
            <a:cxnLst/>
            <a:rect l="l" t="t" r="r" b="b"/>
            <a:pathLst>
              <a:path w="1569720" h="485139">
                <a:moveTo>
                  <a:pt x="0" y="242315"/>
                </a:moveTo>
                <a:lnTo>
                  <a:pt x="242315" y="0"/>
                </a:lnTo>
                <a:lnTo>
                  <a:pt x="242315" y="121157"/>
                </a:lnTo>
                <a:lnTo>
                  <a:pt x="1327404" y="121157"/>
                </a:lnTo>
                <a:lnTo>
                  <a:pt x="1327404" y="0"/>
                </a:lnTo>
                <a:lnTo>
                  <a:pt x="1569720" y="242315"/>
                </a:lnTo>
                <a:lnTo>
                  <a:pt x="1327404" y="484631"/>
                </a:lnTo>
                <a:lnTo>
                  <a:pt x="1327404" y="363473"/>
                </a:lnTo>
                <a:lnTo>
                  <a:pt x="242315" y="363473"/>
                </a:lnTo>
                <a:lnTo>
                  <a:pt x="242315" y="484631"/>
                </a:lnTo>
                <a:lnTo>
                  <a:pt x="0" y="242315"/>
                </a:lnTo>
                <a:close/>
              </a:path>
            </a:pathLst>
          </a:custGeom>
          <a:ln w="9143">
            <a:solidFill>
              <a:srgbClr val="ADADAD"/>
            </a:solidFill>
          </a:ln>
        </p:spPr>
        <p:txBody>
          <a:bodyPr wrap="square" lIns="0" tIns="0" rIns="0" bIns="0" rtlCol="0"/>
          <a:lstStyle/>
          <a:p>
            <a:endParaRPr/>
          </a:p>
        </p:txBody>
      </p:sp>
      <p:sp>
        <p:nvSpPr>
          <p:cNvPr id="27" name="object 35">
            <a:extLst>
              <a:ext uri="{FF2B5EF4-FFF2-40B4-BE49-F238E27FC236}">
                <a16:creationId xmlns:a16="http://schemas.microsoft.com/office/drawing/2014/main" id="{97441D77-7E7F-4B3E-BB6B-1D11DC188BC2}"/>
              </a:ext>
            </a:extLst>
          </p:cNvPr>
          <p:cNvSpPr/>
          <p:nvPr/>
        </p:nvSpPr>
        <p:spPr>
          <a:xfrm>
            <a:off x="6390894" y="5114417"/>
            <a:ext cx="784860" cy="485140"/>
          </a:xfrm>
          <a:custGeom>
            <a:avLst/>
            <a:gdLst/>
            <a:ahLst/>
            <a:cxnLst/>
            <a:rect l="l" t="t" r="r" b="b"/>
            <a:pathLst>
              <a:path w="1569720" h="485139">
                <a:moveTo>
                  <a:pt x="0" y="242315"/>
                </a:moveTo>
                <a:lnTo>
                  <a:pt x="242315" y="0"/>
                </a:lnTo>
                <a:lnTo>
                  <a:pt x="242315" y="121157"/>
                </a:lnTo>
                <a:lnTo>
                  <a:pt x="1327404" y="121157"/>
                </a:lnTo>
                <a:lnTo>
                  <a:pt x="1327404" y="0"/>
                </a:lnTo>
                <a:lnTo>
                  <a:pt x="1569720" y="242315"/>
                </a:lnTo>
                <a:lnTo>
                  <a:pt x="1327404" y="484631"/>
                </a:lnTo>
                <a:lnTo>
                  <a:pt x="1327404" y="363473"/>
                </a:lnTo>
                <a:lnTo>
                  <a:pt x="242315" y="363473"/>
                </a:lnTo>
                <a:lnTo>
                  <a:pt x="242315" y="484631"/>
                </a:lnTo>
                <a:lnTo>
                  <a:pt x="0" y="242315"/>
                </a:lnTo>
                <a:close/>
              </a:path>
            </a:pathLst>
          </a:custGeom>
          <a:ln w="9143">
            <a:solidFill>
              <a:srgbClr val="ADADAD"/>
            </a:solidFill>
          </a:ln>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27736" y="871728"/>
            <a:ext cx="6072505" cy="330200"/>
          </a:xfrm>
          <a:prstGeom prst="rect">
            <a:avLst/>
          </a:prstGeom>
        </p:spPr>
        <p:txBody>
          <a:bodyPr vert="horz" wrap="square" lIns="0" tIns="12700" rIns="0" bIns="0" rtlCol="0">
            <a:spAutoFit/>
          </a:bodyPr>
          <a:lstStyle/>
          <a:p>
            <a:pPr marL="12700">
              <a:lnSpc>
                <a:spcPct val="100000"/>
              </a:lnSpc>
              <a:spcBef>
                <a:spcPts val="100"/>
              </a:spcBef>
            </a:pPr>
            <a:r>
              <a:rPr sz="2000" spc="-100" dirty="0">
                <a:latin typeface="Arial"/>
                <a:cs typeface="Arial"/>
              </a:rPr>
              <a:t>PolyBase</a:t>
            </a:r>
            <a:r>
              <a:rPr sz="2000" spc="-105" dirty="0">
                <a:latin typeface="Arial"/>
                <a:cs typeface="Arial"/>
              </a:rPr>
              <a:t> </a:t>
            </a:r>
            <a:r>
              <a:rPr sz="2000" spc="-90" dirty="0">
                <a:latin typeface="Arial"/>
                <a:cs typeface="Arial"/>
              </a:rPr>
              <a:t>enables</a:t>
            </a:r>
            <a:r>
              <a:rPr sz="2000" spc="-95" dirty="0">
                <a:latin typeface="Arial"/>
                <a:cs typeface="Arial"/>
              </a:rPr>
              <a:t> </a:t>
            </a:r>
            <a:r>
              <a:rPr sz="2000" dirty="0">
                <a:latin typeface="Arial"/>
                <a:cs typeface="Arial"/>
              </a:rPr>
              <a:t>the</a:t>
            </a:r>
            <a:r>
              <a:rPr sz="2000" spc="-120" dirty="0">
                <a:latin typeface="Arial"/>
                <a:cs typeface="Arial"/>
              </a:rPr>
              <a:t> </a:t>
            </a:r>
            <a:r>
              <a:rPr sz="2000" spc="45" dirty="0">
                <a:latin typeface="Arial"/>
                <a:cs typeface="Arial"/>
              </a:rPr>
              <a:t>following</a:t>
            </a:r>
            <a:r>
              <a:rPr sz="2000" spc="-95" dirty="0">
                <a:latin typeface="Arial"/>
                <a:cs typeface="Arial"/>
              </a:rPr>
              <a:t> </a:t>
            </a:r>
            <a:r>
              <a:rPr sz="2000" spc="-75" dirty="0">
                <a:latin typeface="Arial"/>
                <a:cs typeface="Arial"/>
              </a:rPr>
              <a:t>scenarios</a:t>
            </a:r>
            <a:r>
              <a:rPr sz="2000" spc="-114" dirty="0">
                <a:latin typeface="Arial"/>
                <a:cs typeface="Arial"/>
              </a:rPr>
              <a:t> </a:t>
            </a:r>
            <a:r>
              <a:rPr sz="2000" spc="95" dirty="0">
                <a:latin typeface="Arial"/>
                <a:cs typeface="Arial"/>
              </a:rPr>
              <a:t>in</a:t>
            </a:r>
            <a:r>
              <a:rPr sz="2000" spc="-130" dirty="0">
                <a:latin typeface="Arial"/>
                <a:cs typeface="Arial"/>
              </a:rPr>
              <a:t> </a:t>
            </a:r>
            <a:r>
              <a:rPr sz="2000" spc="20" dirty="0">
                <a:latin typeface="Arial"/>
                <a:cs typeface="Arial"/>
              </a:rPr>
              <a:t>SQL</a:t>
            </a:r>
            <a:r>
              <a:rPr sz="2000" spc="-135" dirty="0">
                <a:latin typeface="Arial"/>
                <a:cs typeface="Arial"/>
              </a:rPr>
              <a:t> </a:t>
            </a:r>
            <a:r>
              <a:rPr sz="2000" spc="-60" dirty="0">
                <a:latin typeface="Arial"/>
                <a:cs typeface="Arial"/>
              </a:rPr>
              <a:t>server:</a:t>
            </a:r>
            <a:endParaRPr sz="2000">
              <a:latin typeface="Arial"/>
              <a:cs typeface="Arial"/>
            </a:endParaRPr>
          </a:p>
        </p:txBody>
      </p:sp>
      <p:grpSp>
        <p:nvGrpSpPr>
          <p:cNvPr id="3" name="object 3"/>
          <p:cNvGrpSpPr/>
          <p:nvPr/>
        </p:nvGrpSpPr>
        <p:grpSpPr>
          <a:xfrm>
            <a:off x="1023543" y="1597025"/>
            <a:ext cx="6489700" cy="4023360"/>
            <a:chOff x="1023543" y="1597025"/>
            <a:chExt cx="6489700" cy="4023360"/>
          </a:xfrm>
        </p:grpSpPr>
        <p:sp>
          <p:nvSpPr>
            <p:cNvPr id="4" name="object 4"/>
            <p:cNvSpPr/>
            <p:nvPr/>
          </p:nvSpPr>
          <p:spPr>
            <a:xfrm>
              <a:off x="1036243" y="1609725"/>
              <a:ext cx="943610" cy="3997960"/>
            </a:xfrm>
            <a:custGeom>
              <a:avLst/>
              <a:gdLst/>
              <a:ahLst/>
              <a:cxnLst/>
              <a:rect l="l" t="t" r="r" b="b"/>
              <a:pathLst>
                <a:path w="943610" h="3997960">
                  <a:moveTo>
                    <a:pt x="15303" y="0"/>
                  </a:moveTo>
                  <a:lnTo>
                    <a:pt x="51833" y="32480"/>
                  </a:lnTo>
                  <a:lnTo>
                    <a:pt x="87634" y="65406"/>
                  </a:lnTo>
                  <a:lnTo>
                    <a:pt x="122706" y="98770"/>
                  </a:lnTo>
                  <a:lnTo>
                    <a:pt x="157050" y="132563"/>
                  </a:lnTo>
                  <a:lnTo>
                    <a:pt x="190663" y="166775"/>
                  </a:lnTo>
                  <a:lnTo>
                    <a:pt x="223547" y="201397"/>
                  </a:lnTo>
                  <a:lnTo>
                    <a:pt x="255701" y="236421"/>
                  </a:lnTo>
                  <a:lnTo>
                    <a:pt x="287125" y="271837"/>
                  </a:lnTo>
                  <a:lnTo>
                    <a:pt x="317817" y="307636"/>
                  </a:lnTo>
                  <a:lnTo>
                    <a:pt x="347779" y="343810"/>
                  </a:lnTo>
                  <a:lnTo>
                    <a:pt x="377009" y="380350"/>
                  </a:lnTo>
                  <a:lnTo>
                    <a:pt x="405507" y="417245"/>
                  </a:lnTo>
                  <a:lnTo>
                    <a:pt x="433274" y="454488"/>
                  </a:lnTo>
                  <a:lnTo>
                    <a:pt x="460308" y="492070"/>
                  </a:lnTo>
                  <a:lnTo>
                    <a:pt x="486609" y="529981"/>
                  </a:lnTo>
                  <a:lnTo>
                    <a:pt x="512177" y="568212"/>
                  </a:lnTo>
                  <a:lnTo>
                    <a:pt x="537012" y="606755"/>
                  </a:lnTo>
                  <a:lnTo>
                    <a:pt x="561113" y="645600"/>
                  </a:lnTo>
                  <a:lnTo>
                    <a:pt x="584481" y="684738"/>
                  </a:lnTo>
                  <a:lnTo>
                    <a:pt x="607114" y="724161"/>
                  </a:lnTo>
                  <a:lnTo>
                    <a:pt x="629012" y="763860"/>
                  </a:lnTo>
                  <a:lnTo>
                    <a:pt x="650176" y="803824"/>
                  </a:lnTo>
                  <a:lnTo>
                    <a:pt x="670604" y="844046"/>
                  </a:lnTo>
                  <a:lnTo>
                    <a:pt x="690296" y="884517"/>
                  </a:lnTo>
                  <a:lnTo>
                    <a:pt x="709253" y="925227"/>
                  </a:lnTo>
                  <a:lnTo>
                    <a:pt x="727473" y="966167"/>
                  </a:lnTo>
                  <a:lnTo>
                    <a:pt x="744957" y="1007328"/>
                  </a:lnTo>
                  <a:lnTo>
                    <a:pt x="761704" y="1048702"/>
                  </a:lnTo>
                  <a:lnTo>
                    <a:pt x="777714" y="1090280"/>
                  </a:lnTo>
                  <a:lnTo>
                    <a:pt x="792986" y="1132051"/>
                  </a:lnTo>
                  <a:lnTo>
                    <a:pt x="807521" y="1174009"/>
                  </a:lnTo>
                  <a:lnTo>
                    <a:pt x="821317" y="1216142"/>
                  </a:lnTo>
                  <a:lnTo>
                    <a:pt x="834375" y="1258443"/>
                  </a:lnTo>
                  <a:lnTo>
                    <a:pt x="846694" y="1300902"/>
                  </a:lnTo>
                  <a:lnTo>
                    <a:pt x="858274" y="1343511"/>
                  </a:lnTo>
                  <a:lnTo>
                    <a:pt x="869114" y="1386260"/>
                  </a:lnTo>
                  <a:lnTo>
                    <a:pt x="879215" y="1429140"/>
                  </a:lnTo>
                  <a:lnTo>
                    <a:pt x="888575" y="1472143"/>
                  </a:lnTo>
                  <a:lnTo>
                    <a:pt x="897195" y="1515259"/>
                  </a:lnTo>
                  <a:lnTo>
                    <a:pt x="905075" y="1558479"/>
                  </a:lnTo>
                  <a:lnTo>
                    <a:pt x="912213" y="1601795"/>
                  </a:lnTo>
                  <a:lnTo>
                    <a:pt x="918610" y="1645198"/>
                  </a:lnTo>
                  <a:lnTo>
                    <a:pt x="924265" y="1688677"/>
                  </a:lnTo>
                  <a:lnTo>
                    <a:pt x="929178" y="1732225"/>
                  </a:lnTo>
                  <a:lnTo>
                    <a:pt x="933349" y="1775832"/>
                  </a:lnTo>
                  <a:lnTo>
                    <a:pt x="936777" y="1819490"/>
                  </a:lnTo>
                  <a:lnTo>
                    <a:pt x="939463" y="1863189"/>
                  </a:lnTo>
                  <a:lnTo>
                    <a:pt x="941404" y="1906920"/>
                  </a:lnTo>
                  <a:lnTo>
                    <a:pt x="942603" y="1950675"/>
                  </a:lnTo>
                  <a:lnTo>
                    <a:pt x="943057" y="1994444"/>
                  </a:lnTo>
                  <a:lnTo>
                    <a:pt x="942767" y="2038219"/>
                  </a:lnTo>
                  <a:lnTo>
                    <a:pt x="941733" y="2081989"/>
                  </a:lnTo>
                  <a:lnTo>
                    <a:pt x="939953" y="2125748"/>
                  </a:lnTo>
                  <a:lnTo>
                    <a:pt x="937428" y="2169484"/>
                  </a:lnTo>
                  <a:lnTo>
                    <a:pt x="934158" y="2213190"/>
                  </a:lnTo>
                  <a:lnTo>
                    <a:pt x="930142" y="2256856"/>
                  </a:lnTo>
                  <a:lnTo>
                    <a:pt x="925380" y="2300474"/>
                  </a:lnTo>
                  <a:lnTo>
                    <a:pt x="919871" y="2344034"/>
                  </a:lnTo>
                  <a:lnTo>
                    <a:pt x="913615" y="2387527"/>
                  </a:lnTo>
                  <a:lnTo>
                    <a:pt x="906612" y="2430944"/>
                  </a:lnTo>
                  <a:lnTo>
                    <a:pt x="898862" y="2474277"/>
                  </a:lnTo>
                  <a:lnTo>
                    <a:pt x="890363" y="2517517"/>
                  </a:lnTo>
                  <a:lnTo>
                    <a:pt x="881117" y="2560653"/>
                  </a:lnTo>
                  <a:lnTo>
                    <a:pt x="871122" y="2603678"/>
                  </a:lnTo>
                  <a:lnTo>
                    <a:pt x="860379" y="2646583"/>
                  </a:lnTo>
                  <a:lnTo>
                    <a:pt x="848886" y="2689357"/>
                  </a:lnTo>
                  <a:lnTo>
                    <a:pt x="836644" y="2731993"/>
                  </a:lnTo>
                  <a:lnTo>
                    <a:pt x="823652" y="2774481"/>
                  </a:lnTo>
                  <a:lnTo>
                    <a:pt x="809910" y="2816813"/>
                  </a:lnTo>
                  <a:lnTo>
                    <a:pt x="795418" y="2858979"/>
                  </a:lnTo>
                  <a:lnTo>
                    <a:pt x="780175" y="2900970"/>
                  </a:lnTo>
                  <a:lnTo>
                    <a:pt x="764181" y="2942778"/>
                  </a:lnTo>
                  <a:lnTo>
                    <a:pt x="747435" y="2984393"/>
                  </a:lnTo>
                  <a:lnTo>
                    <a:pt x="729938" y="3025806"/>
                  </a:lnTo>
                  <a:lnTo>
                    <a:pt x="711689" y="3067009"/>
                  </a:lnTo>
                  <a:lnTo>
                    <a:pt x="692688" y="3107992"/>
                  </a:lnTo>
                  <a:lnTo>
                    <a:pt x="672934" y="3148746"/>
                  </a:lnTo>
                  <a:lnTo>
                    <a:pt x="652427" y="3189263"/>
                  </a:lnTo>
                  <a:lnTo>
                    <a:pt x="631166" y="3229533"/>
                  </a:lnTo>
                  <a:lnTo>
                    <a:pt x="609152" y="3269547"/>
                  </a:lnTo>
                  <a:lnTo>
                    <a:pt x="586385" y="3309296"/>
                  </a:lnTo>
                  <a:lnTo>
                    <a:pt x="562862" y="3348772"/>
                  </a:lnTo>
                  <a:lnTo>
                    <a:pt x="538586" y="3387966"/>
                  </a:lnTo>
                  <a:lnTo>
                    <a:pt x="513554" y="3426867"/>
                  </a:lnTo>
                  <a:lnTo>
                    <a:pt x="487768" y="3465468"/>
                  </a:lnTo>
                  <a:lnTo>
                    <a:pt x="461225" y="3503759"/>
                  </a:lnTo>
                  <a:lnTo>
                    <a:pt x="433927" y="3541731"/>
                  </a:lnTo>
                  <a:lnTo>
                    <a:pt x="405873" y="3579376"/>
                  </a:lnTo>
                  <a:lnTo>
                    <a:pt x="377062" y="3616684"/>
                  </a:lnTo>
                  <a:lnTo>
                    <a:pt x="347494" y="3653647"/>
                  </a:lnTo>
                  <a:lnTo>
                    <a:pt x="317170" y="3690254"/>
                  </a:lnTo>
                  <a:lnTo>
                    <a:pt x="286087" y="3726498"/>
                  </a:lnTo>
                  <a:lnTo>
                    <a:pt x="254247" y="3762370"/>
                  </a:lnTo>
                  <a:lnTo>
                    <a:pt x="221649" y="3797859"/>
                  </a:lnTo>
                  <a:lnTo>
                    <a:pt x="188293" y="3832958"/>
                  </a:lnTo>
                  <a:lnTo>
                    <a:pt x="154177" y="3867658"/>
                  </a:lnTo>
                  <a:lnTo>
                    <a:pt x="120334" y="3900922"/>
                  </a:lnTo>
                  <a:lnTo>
                    <a:pt x="85902" y="3933650"/>
                  </a:lnTo>
                  <a:lnTo>
                    <a:pt x="50890" y="3965830"/>
                  </a:lnTo>
                  <a:lnTo>
                    <a:pt x="15303" y="3997452"/>
                  </a:lnTo>
                  <a:lnTo>
                    <a:pt x="0" y="3982135"/>
                  </a:lnTo>
                  <a:lnTo>
                    <a:pt x="36646" y="3949580"/>
                  </a:lnTo>
                  <a:lnTo>
                    <a:pt x="72554" y="3916572"/>
                  </a:lnTo>
                  <a:lnTo>
                    <a:pt x="107724" y="3883120"/>
                  </a:lnTo>
                  <a:lnTo>
                    <a:pt x="142154" y="3849235"/>
                  </a:lnTo>
                  <a:lnTo>
                    <a:pt x="175846" y="3814926"/>
                  </a:lnTo>
                  <a:lnTo>
                    <a:pt x="208797" y="3780200"/>
                  </a:lnTo>
                  <a:lnTo>
                    <a:pt x="241009" y="3745069"/>
                  </a:lnTo>
                  <a:lnTo>
                    <a:pt x="272480" y="3709540"/>
                  </a:lnTo>
                  <a:lnTo>
                    <a:pt x="303211" y="3673624"/>
                  </a:lnTo>
                  <a:lnTo>
                    <a:pt x="333200" y="3637329"/>
                  </a:lnTo>
                  <a:lnTo>
                    <a:pt x="362449" y="3600664"/>
                  </a:lnTo>
                  <a:lnTo>
                    <a:pt x="390955" y="3563640"/>
                  </a:lnTo>
                  <a:lnTo>
                    <a:pt x="418720" y="3526264"/>
                  </a:lnTo>
                  <a:lnTo>
                    <a:pt x="445743" y="3488547"/>
                  </a:lnTo>
                  <a:lnTo>
                    <a:pt x="472023" y="3450497"/>
                  </a:lnTo>
                  <a:lnTo>
                    <a:pt x="497559" y="3412124"/>
                  </a:lnTo>
                  <a:lnTo>
                    <a:pt x="522353" y="3373436"/>
                  </a:lnTo>
                  <a:lnTo>
                    <a:pt x="546403" y="3334444"/>
                  </a:lnTo>
                  <a:lnTo>
                    <a:pt x="569709" y="3295156"/>
                  </a:lnTo>
                  <a:lnTo>
                    <a:pt x="592271" y="3255582"/>
                  </a:lnTo>
                  <a:lnTo>
                    <a:pt x="614088" y="3215730"/>
                  </a:lnTo>
                  <a:lnTo>
                    <a:pt x="635160" y="3175611"/>
                  </a:lnTo>
                  <a:lnTo>
                    <a:pt x="655487" y="3135232"/>
                  </a:lnTo>
                  <a:lnTo>
                    <a:pt x="675068" y="3094604"/>
                  </a:lnTo>
                  <a:lnTo>
                    <a:pt x="693903" y="3053736"/>
                  </a:lnTo>
                  <a:lnTo>
                    <a:pt x="711992" y="3012636"/>
                  </a:lnTo>
                  <a:lnTo>
                    <a:pt x="729335" y="2971314"/>
                  </a:lnTo>
                  <a:lnTo>
                    <a:pt x="745930" y="2929780"/>
                  </a:lnTo>
                  <a:lnTo>
                    <a:pt x="761778" y="2888042"/>
                  </a:lnTo>
                  <a:lnTo>
                    <a:pt x="776879" y="2846110"/>
                  </a:lnTo>
                  <a:lnTo>
                    <a:pt x="791231" y="2803992"/>
                  </a:lnTo>
                  <a:lnTo>
                    <a:pt x="804836" y="2761699"/>
                  </a:lnTo>
                  <a:lnTo>
                    <a:pt x="817691" y="2719239"/>
                  </a:lnTo>
                  <a:lnTo>
                    <a:pt x="829798" y="2676622"/>
                  </a:lnTo>
                  <a:lnTo>
                    <a:pt x="841156" y="2633856"/>
                  </a:lnTo>
                  <a:lnTo>
                    <a:pt x="851764" y="2590952"/>
                  </a:lnTo>
                  <a:lnTo>
                    <a:pt x="861622" y="2547917"/>
                  </a:lnTo>
                  <a:lnTo>
                    <a:pt x="870729" y="2504762"/>
                  </a:lnTo>
                  <a:lnTo>
                    <a:pt x="879087" y="2461496"/>
                  </a:lnTo>
                  <a:lnTo>
                    <a:pt x="886693" y="2418127"/>
                  </a:lnTo>
                  <a:lnTo>
                    <a:pt x="893548" y="2374666"/>
                  </a:lnTo>
                  <a:lnTo>
                    <a:pt x="899651" y="2331121"/>
                  </a:lnTo>
                  <a:lnTo>
                    <a:pt x="905002" y="2287501"/>
                  </a:lnTo>
                  <a:lnTo>
                    <a:pt x="909602" y="2243816"/>
                  </a:lnTo>
                  <a:lnTo>
                    <a:pt x="913448" y="2200075"/>
                  </a:lnTo>
                  <a:lnTo>
                    <a:pt x="916542" y="2156287"/>
                  </a:lnTo>
                  <a:lnTo>
                    <a:pt x="918882" y="2112461"/>
                  </a:lnTo>
                  <a:lnTo>
                    <a:pt x="920469" y="2068607"/>
                  </a:lnTo>
                  <a:lnTo>
                    <a:pt x="921302" y="2024734"/>
                  </a:lnTo>
                  <a:lnTo>
                    <a:pt x="921381" y="1980850"/>
                  </a:lnTo>
                  <a:lnTo>
                    <a:pt x="920705" y="1936966"/>
                  </a:lnTo>
                  <a:lnTo>
                    <a:pt x="919274" y="1893090"/>
                  </a:lnTo>
                  <a:lnTo>
                    <a:pt x="917088" y="1849232"/>
                  </a:lnTo>
                  <a:lnTo>
                    <a:pt x="914147" y="1805401"/>
                  </a:lnTo>
                  <a:lnTo>
                    <a:pt x="910449" y="1761606"/>
                  </a:lnTo>
                  <a:lnTo>
                    <a:pt x="905995" y="1717856"/>
                  </a:lnTo>
                  <a:lnTo>
                    <a:pt x="900785" y="1674160"/>
                  </a:lnTo>
                  <a:lnTo>
                    <a:pt x="894818" y="1630529"/>
                  </a:lnTo>
                  <a:lnTo>
                    <a:pt x="888093" y="1586970"/>
                  </a:lnTo>
                  <a:lnTo>
                    <a:pt x="880611" y="1543493"/>
                  </a:lnTo>
                  <a:lnTo>
                    <a:pt x="872371" y="1500108"/>
                  </a:lnTo>
                  <a:lnTo>
                    <a:pt x="863373" y="1456823"/>
                  </a:lnTo>
                  <a:lnTo>
                    <a:pt x="853617" y="1413648"/>
                  </a:lnTo>
                  <a:lnTo>
                    <a:pt x="843101" y="1370592"/>
                  </a:lnTo>
                  <a:lnTo>
                    <a:pt x="831826" y="1327665"/>
                  </a:lnTo>
                  <a:lnTo>
                    <a:pt x="819792" y="1284874"/>
                  </a:lnTo>
                  <a:lnTo>
                    <a:pt x="806998" y="1242231"/>
                  </a:lnTo>
                  <a:lnTo>
                    <a:pt x="793443" y="1199743"/>
                  </a:lnTo>
                  <a:lnTo>
                    <a:pt x="779128" y="1157420"/>
                  </a:lnTo>
                  <a:lnTo>
                    <a:pt x="764052" y="1115272"/>
                  </a:lnTo>
                  <a:lnTo>
                    <a:pt x="748215" y="1073307"/>
                  </a:lnTo>
                  <a:lnTo>
                    <a:pt x="731617" y="1031535"/>
                  </a:lnTo>
                  <a:lnTo>
                    <a:pt x="714256" y="989964"/>
                  </a:lnTo>
                  <a:lnTo>
                    <a:pt x="696134" y="948605"/>
                  </a:lnTo>
                  <a:lnTo>
                    <a:pt x="677248" y="907467"/>
                  </a:lnTo>
                  <a:lnTo>
                    <a:pt x="657600" y="866557"/>
                  </a:lnTo>
                  <a:lnTo>
                    <a:pt x="637189" y="825887"/>
                  </a:lnTo>
                  <a:lnTo>
                    <a:pt x="616014" y="785465"/>
                  </a:lnTo>
                  <a:lnTo>
                    <a:pt x="594075" y="745300"/>
                  </a:lnTo>
                  <a:lnTo>
                    <a:pt x="571372" y="705401"/>
                  </a:lnTo>
                  <a:lnTo>
                    <a:pt x="547905" y="665778"/>
                  </a:lnTo>
                  <a:lnTo>
                    <a:pt x="523673" y="626440"/>
                  </a:lnTo>
                  <a:lnTo>
                    <a:pt x="498675" y="587396"/>
                  </a:lnTo>
                  <a:lnTo>
                    <a:pt x="472912" y="548655"/>
                  </a:lnTo>
                  <a:lnTo>
                    <a:pt x="446383" y="510227"/>
                  </a:lnTo>
                  <a:lnTo>
                    <a:pt x="419088" y="472120"/>
                  </a:lnTo>
                  <a:lnTo>
                    <a:pt x="391027" y="434345"/>
                  </a:lnTo>
                  <a:lnTo>
                    <a:pt x="362198" y="396909"/>
                  </a:lnTo>
                  <a:lnTo>
                    <a:pt x="332603" y="359823"/>
                  </a:lnTo>
                  <a:lnTo>
                    <a:pt x="302239" y="323096"/>
                  </a:lnTo>
                  <a:lnTo>
                    <a:pt x="271108" y="286736"/>
                  </a:lnTo>
                  <a:lnTo>
                    <a:pt x="239209" y="250754"/>
                  </a:lnTo>
                  <a:lnTo>
                    <a:pt x="206542" y="215158"/>
                  </a:lnTo>
                  <a:lnTo>
                    <a:pt x="173105" y="179957"/>
                  </a:lnTo>
                  <a:lnTo>
                    <a:pt x="138899" y="145161"/>
                  </a:lnTo>
                  <a:lnTo>
                    <a:pt x="105061" y="111896"/>
                  </a:lnTo>
                  <a:lnTo>
                    <a:pt x="70626" y="79168"/>
                  </a:lnTo>
                  <a:lnTo>
                    <a:pt x="35603" y="46988"/>
                  </a:lnTo>
                  <a:lnTo>
                    <a:pt x="0" y="15367"/>
                  </a:lnTo>
                  <a:lnTo>
                    <a:pt x="15303" y="0"/>
                  </a:lnTo>
                  <a:close/>
                </a:path>
              </a:pathLst>
            </a:custGeom>
            <a:ln w="25146">
              <a:solidFill>
                <a:srgbClr val="F79546"/>
              </a:solidFill>
            </a:ln>
          </p:spPr>
          <p:txBody>
            <a:bodyPr wrap="square" lIns="0" tIns="0" rIns="0" bIns="0" rtlCol="0"/>
            <a:lstStyle/>
            <a:p>
              <a:endParaRPr/>
            </a:p>
          </p:txBody>
        </p:sp>
        <p:sp>
          <p:nvSpPr>
            <p:cNvPr id="5" name="object 5"/>
            <p:cNvSpPr/>
            <p:nvPr/>
          </p:nvSpPr>
          <p:spPr>
            <a:xfrm>
              <a:off x="1451229" y="1830704"/>
              <a:ext cx="6049010" cy="508634"/>
            </a:xfrm>
            <a:custGeom>
              <a:avLst/>
              <a:gdLst/>
              <a:ahLst/>
              <a:cxnLst/>
              <a:rect l="l" t="t" r="r" b="b"/>
              <a:pathLst>
                <a:path w="6049009" h="508635">
                  <a:moveTo>
                    <a:pt x="6048756" y="0"/>
                  </a:moveTo>
                  <a:lnTo>
                    <a:pt x="0" y="0"/>
                  </a:lnTo>
                  <a:lnTo>
                    <a:pt x="0" y="508253"/>
                  </a:lnTo>
                  <a:lnTo>
                    <a:pt x="6048756" y="508253"/>
                  </a:lnTo>
                  <a:lnTo>
                    <a:pt x="6048756" y="0"/>
                  </a:lnTo>
                  <a:close/>
                </a:path>
              </a:pathLst>
            </a:custGeom>
            <a:solidFill>
              <a:srgbClr val="4AACC5"/>
            </a:solidFill>
          </p:spPr>
          <p:txBody>
            <a:bodyPr wrap="square" lIns="0" tIns="0" rIns="0" bIns="0" rtlCol="0"/>
            <a:lstStyle/>
            <a:p>
              <a:endParaRPr/>
            </a:p>
          </p:txBody>
        </p:sp>
        <p:sp>
          <p:nvSpPr>
            <p:cNvPr id="6" name="object 6"/>
            <p:cNvSpPr/>
            <p:nvPr/>
          </p:nvSpPr>
          <p:spPr>
            <a:xfrm>
              <a:off x="1451229" y="1830704"/>
              <a:ext cx="6049010" cy="508634"/>
            </a:xfrm>
            <a:custGeom>
              <a:avLst/>
              <a:gdLst/>
              <a:ahLst/>
              <a:cxnLst/>
              <a:rect l="l" t="t" r="r" b="b"/>
              <a:pathLst>
                <a:path w="6049009" h="508635">
                  <a:moveTo>
                    <a:pt x="0" y="508253"/>
                  </a:moveTo>
                  <a:lnTo>
                    <a:pt x="6048756" y="508253"/>
                  </a:lnTo>
                  <a:lnTo>
                    <a:pt x="6048756" y="0"/>
                  </a:lnTo>
                  <a:lnTo>
                    <a:pt x="0" y="0"/>
                  </a:lnTo>
                  <a:lnTo>
                    <a:pt x="0" y="508253"/>
                  </a:lnTo>
                  <a:close/>
                </a:path>
              </a:pathLst>
            </a:custGeom>
            <a:ln w="25146">
              <a:solidFill>
                <a:srgbClr val="FFFFFF"/>
              </a:solidFill>
            </a:ln>
          </p:spPr>
          <p:txBody>
            <a:bodyPr wrap="square" lIns="0" tIns="0" rIns="0" bIns="0" rtlCol="0"/>
            <a:lstStyle/>
            <a:p>
              <a:endParaRPr/>
            </a:p>
          </p:txBody>
        </p:sp>
        <p:sp>
          <p:nvSpPr>
            <p:cNvPr id="7" name="object 7"/>
            <p:cNvSpPr/>
            <p:nvPr/>
          </p:nvSpPr>
          <p:spPr>
            <a:xfrm>
              <a:off x="1111377" y="1766696"/>
              <a:ext cx="680085" cy="635635"/>
            </a:xfrm>
            <a:custGeom>
              <a:avLst/>
              <a:gdLst/>
              <a:ahLst/>
              <a:cxnLst/>
              <a:rect l="l" t="t" r="r" b="b"/>
              <a:pathLst>
                <a:path w="680085" h="635635">
                  <a:moveTo>
                    <a:pt x="339852" y="0"/>
                  </a:moveTo>
                  <a:lnTo>
                    <a:pt x="289631" y="3444"/>
                  </a:lnTo>
                  <a:lnTo>
                    <a:pt x="241698" y="13451"/>
                  </a:lnTo>
                  <a:lnTo>
                    <a:pt x="196579" y="29529"/>
                  </a:lnTo>
                  <a:lnTo>
                    <a:pt x="154799" y="51186"/>
                  </a:lnTo>
                  <a:lnTo>
                    <a:pt x="116884" y="77931"/>
                  </a:lnTo>
                  <a:lnTo>
                    <a:pt x="83360" y="109274"/>
                  </a:lnTo>
                  <a:lnTo>
                    <a:pt x="54752" y="144723"/>
                  </a:lnTo>
                  <a:lnTo>
                    <a:pt x="31586" y="183786"/>
                  </a:lnTo>
                  <a:lnTo>
                    <a:pt x="14389" y="225973"/>
                  </a:lnTo>
                  <a:lnTo>
                    <a:pt x="3684" y="270793"/>
                  </a:lnTo>
                  <a:lnTo>
                    <a:pt x="0" y="317753"/>
                  </a:lnTo>
                  <a:lnTo>
                    <a:pt x="3684" y="364714"/>
                  </a:lnTo>
                  <a:lnTo>
                    <a:pt x="14389" y="409534"/>
                  </a:lnTo>
                  <a:lnTo>
                    <a:pt x="31586" y="451721"/>
                  </a:lnTo>
                  <a:lnTo>
                    <a:pt x="54752" y="490784"/>
                  </a:lnTo>
                  <a:lnTo>
                    <a:pt x="83360" y="526233"/>
                  </a:lnTo>
                  <a:lnTo>
                    <a:pt x="116884" y="557576"/>
                  </a:lnTo>
                  <a:lnTo>
                    <a:pt x="154799" y="584321"/>
                  </a:lnTo>
                  <a:lnTo>
                    <a:pt x="196579" y="605978"/>
                  </a:lnTo>
                  <a:lnTo>
                    <a:pt x="241698" y="622056"/>
                  </a:lnTo>
                  <a:lnTo>
                    <a:pt x="289631" y="632063"/>
                  </a:lnTo>
                  <a:lnTo>
                    <a:pt x="339852" y="635507"/>
                  </a:lnTo>
                  <a:lnTo>
                    <a:pt x="390075" y="632063"/>
                  </a:lnTo>
                  <a:lnTo>
                    <a:pt x="438009" y="622056"/>
                  </a:lnTo>
                  <a:lnTo>
                    <a:pt x="483129" y="605978"/>
                  </a:lnTo>
                  <a:lnTo>
                    <a:pt x="524909" y="584321"/>
                  </a:lnTo>
                  <a:lnTo>
                    <a:pt x="562824" y="557576"/>
                  </a:lnTo>
                  <a:lnTo>
                    <a:pt x="596347" y="526233"/>
                  </a:lnTo>
                  <a:lnTo>
                    <a:pt x="624954" y="490784"/>
                  </a:lnTo>
                  <a:lnTo>
                    <a:pt x="648119" y="451721"/>
                  </a:lnTo>
                  <a:lnTo>
                    <a:pt x="665315" y="409534"/>
                  </a:lnTo>
                  <a:lnTo>
                    <a:pt x="676019" y="364714"/>
                  </a:lnTo>
                  <a:lnTo>
                    <a:pt x="679704" y="317753"/>
                  </a:lnTo>
                  <a:lnTo>
                    <a:pt x="676019" y="270793"/>
                  </a:lnTo>
                  <a:lnTo>
                    <a:pt x="665315" y="225973"/>
                  </a:lnTo>
                  <a:lnTo>
                    <a:pt x="648119" y="183786"/>
                  </a:lnTo>
                  <a:lnTo>
                    <a:pt x="624954" y="144723"/>
                  </a:lnTo>
                  <a:lnTo>
                    <a:pt x="596347" y="109274"/>
                  </a:lnTo>
                  <a:lnTo>
                    <a:pt x="562824" y="77931"/>
                  </a:lnTo>
                  <a:lnTo>
                    <a:pt x="524909" y="51186"/>
                  </a:lnTo>
                  <a:lnTo>
                    <a:pt x="483129" y="29529"/>
                  </a:lnTo>
                  <a:lnTo>
                    <a:pt x="438009" y="13451"/>
                  </a:lnTo>
                  <a:lnTo>
                    <a:pt x="390075" y="3444"/>
                  </a:lnTo>
                  <a:lnTo>
                    <a:pt x="339852" y="0"/>
                  </a:lnTo>
                  <a:close/>
                </a:path>
              </a:pathLst>
            </a:custGeom>
            <a:solidFill>
              <a:srgbClr val="FFFFFF"/>
            </a:solidFill>
          </p:spPr>
          <p:txBody>
            <a:bodyPr wrap="square" lIns="0" tIns="0" rIns="0" bIns="0" rtlCol="0"/>
            <a:lstStyle/>
            <a:p>
              <a:endParaRPr/>
            </a:p>
          </p:txBody>
        </p:sp>
        <p:sp>
          <p:nvSpPr>
            <p:cNvPr id="8" name="object 8"/>
            <p:cNvSpPr/>
            <p:nvPr/>
          </p:nvSpPr>
          <p:spPr>
            <a:xfrm>
              <a:off x="1111377" y="1766696"/>
              <a:ext cx="680085" cy="635635"/>
            </a:xfrm>
            <a:custGeom>
              <a:avLst/>
              <a:gdLst/>
              <a:ahLst/>
              <a:cxnLst/>
              <a:rect l="l" t="t" r="r" b="b"/>
              <a:pathLst>
                <a:path w="680085" h="635635">
                  <a:moveTo>
                    <a:pt x="0" y="317753"/>
                  </a:moveTo>
                  <a:lnTo>
                    <a:pt x="3684" y="270793"/>
                  </a:lnTo>
                  <a:lnTo>
                    <a:pt x="14389" y="225973"/>
                  </a:lnTo>
                  <a:lnTo>
                    <a:pt x="31586" y="183786"/>
                  </a:lnTo>
                  <a:lnTo>
                    <a:pt x="54752" y="144723"/>
                  </a:lnTo>
                  <a:lnTo>
                    <a:pt x="83360" y="109274"/>
                  </a:lnTo>
                  <a:lnTo>
                    <a:pt x="116884" y="77931"/>
                  </a:lnTo>
                  <a:lnTo>
                    <a:pt x="154799" y="51186"/>
                  </a:lnTo>
                  <a:lnTo>
                    <a:pt x="196579" y="29529"/>
                  </a:lnTo>
                  <a:lnTo>
                    <a:pt x="241698" y="13451"/>
                  </a:lnTo>
                  <a:lnTo>
                    <a:pt x="289631" y="3444"/>
                  </a:lnTo>
                  <a:lnTo>
                    <a:pt x="339852" y="0"/>
                  </a:lnTo>
                  <a:lnTo>
                    <a:pt x="390075" y="3444"/>
                  </a:lnTo>
                  <a:lnTo>
                    <a:pt x="438009" y="13451"/>
                  </a:lnTo>
                  <a:lnTo>
                    <a:pt x="483129" y="29529"/>
                  </a:lnTo>
                  <a:lnTo>
                    <a:pt x="524909" y="51186"/>
                  </a:lnTo>
                  <a:lnTo>
                    <a:pt x="562824" y="77931"/>
                  </a:lnTo>
                  <a:lnTo>
                    <a:pt x="596347" y="109274"/>
                  </a:lnTo>
                  <a:lnTo>
                    <a:pt x="624954" y="144723"/>
                  </a:lnTo>
                  <a:lnTo>
                    <a:pt x="648119" y="183786"/>
                  </a:lnTo>
                  <a:lnTo>
                    <a:pt x="665315" y="225973"/>
                  </a:lnTo>
                  <a:lnTo>
                    <a:pt x="676019" y="270793"/>
                  </a:lnTo>
                  <a:lnTo>
                    <a:pt x="679704" y="317753"/>
                  </a:lnTo>
                  <a:lnTo>
                    <a:pt x="676019" y="364714"/>
                  </a:lnTo>
                  <a:lnTo>
                    <a:pt x="665315" y="409534"/>
                  </a:lnTo>
                  <a:lnTo>
                    <a:pt x="648119" y="451721"/>
                  </a:lnTo>
                  <a:lnTo>
                    <a:pt x="624954" y="490784"/>
                  </a:lnTo>
                  <a:lnTo>
                    <a:pt x="596347" y="526233"/>
                  </a:lnTo>
                  <a:lnTo>
                    <a:pt x="562824" y="557576"/>
                  </a:lnTo>
                  <a:lnTo>
                    <a:pt x="524909" y="584321"/>
                  </a:lnTo>
                  <a:lnTo>
                    <a:pt x="483129" y="605978"/>
                  </a:lnTo>
                  <a:lnTo>
                    <a:pt x="438009" y="622056"/>
                  </a:lnTo>
                  <a:lnTo>
                    <a:pt x="390075" y="632063"/>
                  </a:lnTo>
                  <a:lnTo>
                    <a:pt x="339852" y="635507"/>
                  </a:lnTo>
                  <a:lnTo>
                    <a:pt x="289631" y="632063"/>
                  </a:lnTo>
                  <a:lnTo>
                    <a:pt x="241698" y="622056"/>
                  </a:lnTo>
                  <a:lnTo>
                    <a:pt x="196579" y="605978"/>
                  </a:lnTo>
                  <a:lnTo>
                    <a:pt x="154799" y="584321"/>
                  </a:lnTo>
                  <a:lnTo>
                    <a:pt x="116884" y="557576"/>
                  </a:lnTo>
                  <a:lnTo>
                    <a:pt x="83360" y="526233"/>
                  </a:lnTo>
                  <a:lnTo>
                    <a:pt x="54752" y="490784"/>
                  </a:lnTo>
                  <a:lnTo>
                    <a:pt x="31586" y="451721"/>
                  </a:lnTo>
                  <a:lnTo>
                    <a:pt x="14389" y="409534"/>
                  </a:lnTo>
                  <a:lnTo>
                    <a:pt x="3684" y="364714"/>
                  </a:lnTo>
                  <a:lnTo>
                    <a:pt x="0" y="317753"/>
                  </a:lnTo>
                  <a:close/>
                </a:path>
              </a:pathLst>
            </a:custGeom>
            <a:ln w="25145">
              <a:solidFill>
                <a:srgbClr val="4AACC5"/>
              </a:solidFill>
            </a:ln>
          </p:spPr>
          <p:txBody>
            <a:bodyPr wrap="square" lIns="0" tIns="0" rIns="0" bIns="0" rtlCol="0"/>
            <a:lstStyle/>
            <a:p>
              <a:endParaRPr/>
            </a:p>
          </p:txBody>
        </p:sp>
        <p:sp>
          <p:nvSpPr>
            <p:cNvPr id="9" name="object 9"/>
            <p:cNvSpPr/>
            <p:nvPr/>
          </p:nvSpPr>
          <p:spPr>
            <a:xfrm>
              <a:off x="1840611" y="2592705"/>
              <a:ext cx="5659755" cy="508634"/>
            </a:xfrm>
            <a:custGeom>
              <a:avLst/>
              <a:gdLst/>
              <a:ahLst/>
              <a:cxnLst/>
              <a:rect l="l" t="t" r="r" b="b"/>
              <a:pathLst>
                <a:path w="5659755" h="508635">
                  <a:moveTo>
                    <a:pt x="5659373" y="0"/>
                  </a:moveTo>
                  <a:lnTo>
                    <a:pt x="0" y="0"/>
                  </a:lnTo>
                  <a:lnTo>
                    <a:pt x="0" y="508253"/>
                  </a:lnTo>
                  <a:lnTo>
                    <a:pt x="5659373" y="508253"/>
                  </a:lnTo>
                  <a:lnTo>
                    <a:pt x="5659373" y="0"/>
                  </a:lnTo>
                  <a:close/>
                </a:path>
              </a:pathLst>
            </a:custGeom>
            <a:solidFill>
              <a:srgbClr val="47D391"/>
            </a:solidFill>
          </p:spPr>
          <p:txBody>
            <a:bodyPr wrap="square" lIns="0" tIns="0" rIns="0" bIns="0" rtlCol="0"/>
            <a:lstStyle/>
            <a:p>
              <a:endParaRPr/>
            </a:p>
          </p:txBody>
        </p:sp>
        <p:sp>
          <p:nvSpPr>
            <p:cNvPr id="10" name="object 10"/>
            <p:cNvSpPr/>
            <p:nvPr/>
          </p:nvSpPr>
          <p:spPr>
            <a:xfrm>
              <a:off x="1840611" y="2592705"/>
              <a:ext cx="5659755" cy="508634"/>
            </a:xfrm>
            <a:custGeom>
              <a:avLst/>
              <a:gdLst/>
              <a:ahLst/>
              <a:cxnLst/>
              <a:rect l="l" t="t" r="r" b="b"/>
              <a:pathLst>
                <a:path w="5659755" h="508635">
                  <a:moveTo>
                    <a:pt x="0" y="508253"/>
                  </a:moveTo>
                  <a:lnTo>
                    <a:pt x="5659373" y="508253"/>
                  </a:lnTo>
                  <a:lnTo>
                    <a:pt x="5659373" y="0"/>
                  </a:lnTo>
                  <a:lnTo>
                    <a:pt x="0" y="0"/>
                  </a:lnTo>
                  <a:lnTo>
                    <a:pt x="0" y="508253"/>
                  </a:lnTo>
                  <a:close/>
                </a:path>
              </a:pathLst>
            </a:custGeom>
            <a:ln w="25146">
              <a:solidFill>
                <a:srgbClr val="FFFFFF"/>
              </a:solidFill>
            </a:ln>
          </p:spPr>
          <p:txBody>
            <a:bodyPr wrap="square" lIns="0" tIns="0" rIns="0" bIns="0" rtlCol="0"/>
            <a:lstStyle/>
            <a:p>
              <a:endParaRPr/>
            </a:p>
          </p:txBody>
        </p:sp>
        <p:sp>
          <p:nvSpPr>
            <p:cNvPr id="11" name="object 11"/>
            <p:cNvSpPr/>
            <p:nvPr/>
          </p:nvSpPr>
          <p:spPr>
            <a:xfrm>
              <a:off x="1500759" y="2528697"/>
              <a:ext cx="680085" cy="635635"/>
            </a:xfrm>
            <a:custGeom>
              <a:avLst/>
              <a:gdLst/>
              <a:ahLst/>
              <a:cxnLst/>
              <a:rect l="l" t="t" r="r" b="b"/>
              <a:pathLst>
                <a:path w="680085" h="635635">
                  <a:moveTo>
                    <a:pt x="339852" y="0"/>
                  </a:moveTo>
                  <a:lnTo>
                    <a:pt x="289628" y="3444"/>
                  </a:lnTo>
                  <a:lnTo>
                    <a:pt x="241694" y="13451"/>
                  </a:lnTo>
                  <a:lnTo>
                    <a:pt x="196574" y="29529"/>
                  </a:lnTo>
                  <a:lnTo>
                    <a:pt x="154794" y="51186"/>
                  </a:lnTo>
                  <a:lnTo>
                    <a:pt x="116879" y="77931"/>
                  </a:lnTo>
                  <a:lnTo>
                    <a:pt x="83356" y="109274"/>
                  </a:lnTo>
                  <a:lnTo>
                    <a:pt x="54749" y="144723"/>
                  </a:lnTo>
                  <a:lnTo>
                    <a:pt x="31584" y="183786"/>
                  </a:lnTo>
                  <a:lnTo>
                    <a:pt x="14388" y="225973"/>
                  </a:lnTo>
                  <a:lnTo>
                    <a:pt x="3684" y="270793"/>
                  </a:lnTo>
                  <a:lnTo>
                    <a:pt x="0" y="317753"/>
                  </a:lnTo>
                  <a:lnTo>
                    <a:pt x="3684" y="364714"/>
                  </a:lnTo>
                  <a:lnTo>
                    <a:pt x="14388" y="409534"/>
                  </a:lnTo>
                  <a:lnTo>
                    <a:pt x="31584" y="451721"/>
                  </a:lnTo>
                  <a:lnTo>
                    <a:pt x="54749" y="490784"/>
                  </a:lnTo>
                  <a:lnTo>
                    <a:pt x="83356" y="526233"/>
                  </a:lnTo>
                  <a:lnTo>
                    <a:pt x="116879" y="557576"/>
                  </a:lnTo>
                  <a:lnTo>
                    <a:pt x="154794" y="584321"/>
                  </a:lnTo>
                  <a:lnTo>
                    <a:pt x="196574" y="605978"/>
                  </a:lnTo>
                  <a:lnTo>
                    <a:pt x="241694" y="622056"/>
                  </a:lnTo>
                  <a:lnTo>
                    <a:pt x="289628" y="632063"/>
                  </a:lnTo>
                  <a:lnTo>
                    <a:pt x="339852" y="635507"/>
                  </a:lnTo>
                  <a:lnTo>
                    <a:pt x="390075" y="632063"/>
                  </a:lnTo>
                  <a:lnTo>
                    <a:pt x="438009" y="622056"/>
                  </a:lnTo>
                  <a:lnTo>
                    <a:pt x="483129" y="605978"/>
                  </a:lnTo>
                  <a:lnTo>
                    <a:pt x="524909" y="584321"/>
                  </a:lnTo>
                  <a:lnTo>
                    <a:pt x="562824" y="557576"/>
                  </a:lnTo>
                  <a:lnTo>
                    <a:pt x="596347" y="526233"/>
                  </a:lnTo>
                  <a:lnTo>
                    <a:pt x="624954" y="490784"/>
                  </a:lnTo>
                  <a:lnTo>
                    <a:pt x="648119" y="451721"/>
                  </a:lnTo>
                  <a:lnTo>
                    <a:pt x="665315" y="409534"/>
                  </a:lnTo>
                  <a:lnTo>
                    <a:pt x="676019" y="364714"/>
                  </a:lnTo>
                  <a:lnTo>
                    <a:pt x="679704" y="317753"/>
                  </a:lnTo>
                  <a:lnTo>
                    <a:pt x="676019" y="270793"/>
                  </a:lnTo>
                  <a:lnTo>
                    <a:pt x="665315" y="225973"/>
                  </a:lnTo>
                  <a:lnTo>
                    <a:pt x="648119" y="183786"/>
                  </a:lnTo>
                  <a:lnTo>
                    <a:pt x="624954" y="144723"/>
                  </a:lnTo>
                  <a:lnTo>
                    <a:pt x="596347" y="109274"/>
                  </a:lnTo>
                  <a:lnTo>
                    <a:pt x="562824" y="77931"/>
                  </a:lnTo>
                  <a:lnTo>
                    <a:pt x="524909" y="51186"/>
                  </a:lnTo>
                  <a:lnTo>
                    <a:pt x="483129" y="29529"/>
                  </a:lnTo>
                  <a:lnTo>
                    <a:pt x="438009" y="13451"/>
                  </a:lnTo>
                  <a:lnTo>
                    <a:pt x="390075" y="3444"/>
                  </a:lnTo>
                  <a:lnTo>
                    <a:pt x="339852" y="0"/>
                  </a:lnTo>
                  <a:close/>
                </a:path>
              </a:pathLst>
            </a:custGeom>
            <a:solidFill>
              <a:srgbClr val="FFFFFF"/>
            </a:solidFill>
          </p:spPr>
          <p:txBody>
            <a:bodyPr wrap="square" lIns="0" tIns="0" rIns="0" bIns="0" rtlCol="0"/>
            <a:lstStyle/>
            <a:p>
              <a:endParaRPr/>
            </a:p>
          </p:txBody>
        </p:sp>
        <p:sp>
          <p:nvSpPr>
            <p:cNvPr id="12" name="object 12"/>
            <p:cNvSpPr/>
            <p:nvPr/>
          </p:nvSpPr>
          <p:spPr>
            <a:xfrm>
              <a:off x="1500759" y="2528697"/>
              <a:ext cx="680085" cy="635635"/>
            </a:xfrm>
            <a:custGeom>
              <a:avLst/>
              <a:gdLst/>
              <a:ahLst/>
              <a:cxnLst/>
              <a:rect l="l" t="t" r="r" b="b"/>
              <a:pathLst>
                <a:path w="680085" h="635635">
                  <a:moveTo>
                    <a:pt x="0" y="317753"/>
                  </a:moveTo>
                  <a:lnTo>
                    <a:pt x="3684" y="270793"/>
                  </a:lnTo>
                  <a:lnTo>
                    <a:pt x="14388" y="225973"/>
                  </a:lnTo>
                  <a:lnTo>
                    <a:pt x="31584" y="183786"/>
                  </a:lnTo>
                  <a:lnTo>
                    <a:pt x="54749" y="144723"/>
                  </a:lnTo>
                  <a:lnTo>
                    <a:pt x="83356" y="109274"/>
                  </a:lnTo>
                  <a:lnTo>
                    <a:pt x="116879" y="77931"/>
                  </a:lnTo>
                  <a:lnTo>
                    <a:pt x="154794" y="51186"/>
                  </a:lnTo>
                  <a:lnTo>
                    <a:pt x="196574" y="29529"/>
                  </a:lnTo>
                  <a:lnTo>
                    <a:pt x="241694" y="13451"/>
                  </a:lnTo>
                  <a:lnTo>
                    <a:pt x="289628" y="3444"/>
                  </a:lnTo>
                  <a:lnTo>
                    <a:pt x="339852" y="0"/>
                  </a:lnTo>
                  <a:lnTo>
                    <a:pt x="390075" y="3444"/>
                  </a:lnTo>
                  <a:lnTo>
                    <a:pt x="438009" y="13451"/>
                  </a:lnTo>
                  <a:lnTo>
                    <a:pt x="483129" y="29529"/>
                  </a:lnTo>
                  <a:lnTo>
                    <a:pt x="524909" y="51186"/>
                  </a:lnTo>
                  <a:lnTo>
                    <a:pt x="562824" y="77931"/>
                  </a:lnTo>
                  <a:lnTo>
                    <a:pt x="596347" y="109274"/>
                  </a:lnTo>
                  <a:lnTo>
                    <a:pt x="624954" y="144723"/>
                  </a:lnTo>
                  <a:lnTo>
                    <a:pt x="648119" y="183786"/>
                  </a:lnTo>
                  <a:lnTo>
                    <a:pt x="665315" y="225973"/>
                  </a:lnTo>
                  <a:lnTo>
                    <a:pt x="676019" y="270793"/>
                  </a:lnTo>
                  <a:lnTo>
                    <a:pt x="679704" y="317753"/>
                  </a:lnTo>
                  <a:lnTo>
                    <a:pt x="676019" y="364714"/>
                  </a:lnTo>
                  <a:lnTo>
                    <a:pt x="665315" y="409534"/>
                  </a:lnTo>
                  <a:lnTo>
                    <a:pt x="648119" y="451721"/>
                  </a:lnTo>
                  <a:lnTo>
                    <a:pt x="624954" y="490784"/>
                  </a:lnTo>
                  <a:lnTo>
                    <a:pt x="596347" y="526233"/>
                  </a:lnTo>
                  <a:lnTo>
                    <a:pt x="562824" y="557576"/>
                  </a:lnTo>
                  <a:lnTo>
                    <a:pt x="524909" y="584321"/>
                  </a:lnTo>
                  <a:lnTo>
                    <a:pt x="483129" y="605978"/>
                  </a:lnTo>
                  <a:lnTo>
                    <a:pt x="438009" y="622056"/>
                  </a:lnTo>
                  <a:lnTo>
                    <a:pt x="390075" y="632063"/>
                  </a:lnTo>
                  <a:lnTo>
                    <a:pt x="339852" y="635507"/>
                  </a:lnTo>
                  <a:lnTo>
                    <a:pt x="289628" y="632063"/>
                  </a:lnTo>
                  <a:lnTo>
                    <a:pt x="241694" y="622056"/>
                  </a:lnTo>
                  <a:lnTo>
                    <a:pt x="196574" y="605978"/>
                  </a:lnTo>
                  <a:lnTo>
                    <a:pt x="154794" y="584321"/>
                  </a:lnTo>
                  <a:lnTo>
                    <a:pt x="116879" y="557576"/>
                  </a:lnTo>
                  <a:lnTo>
                    <a:pt x="83356" y="526233"/>
                  </a:lnTo>
                  <a:lnTo>
                    <a:pt x="54749" y="490784"/>
                  </a:lnTo>
                  <a:lnTo>
                    <a:pt x="31584" y="451721"/>
                  </a:lnTo>
                  <a:lnTo>
                    <a:pt x="14388" y="409534"/>
                  </a:lnTo>
                  <a:lnTo>
                    <a:pt x="3684" y="364714"/>
                  </a:lnTo>
                  <a:lnTo>
                    <a:pt x="0" y="317753"/>
                  </a:lnTo>
                  <a:close/>
                </a:path>
              </a:pathLst>
            </a:custGeom>
            <a:ln w="25145">
              <a:solidFill>
                <a:srgbClr val="47D391"/>
              </a:solidFill>
            </a:ln>
          </p:spPr>
          <p:txBody>
            <a:bodyPr wrap="square" lIns="0" tIns="0" rIns="0" bIns="0" rtlCol="0"/>
            <a:lstStyle/>
            <a:p>
              <a:endParaRPr/>
            </a:p>
          </p:txBody>
        </p:sp>
        <p:sp>
          <p:nvSpPr>
            <p:cNvPr id="13" name="object 13"/>
            <p:cNvSpPr/>
            <p:nvPr/>
          </p:nvSpPr>
          <p:spPr>
            <a:xfrm>
              <a:off x="1960244" y="3354704"/>
              <a:ext cx="5539740" cy="508634"/>
            </a:xfrm>
            <a:custGeom>
              <a:avLst/>
              <a:gdLst/>
              <a:ahLst/>
              <a:cxnLst/>
              <a:rect l="l" t="t" r="r" b="b"/>
              <a:pathLst>
                <a:path w="5539740" h="508635">
                  <a:moveTo>
                    <a:pt x="5539739" y="0"/>
                  </a:moveTo>
                  <a:lnTo>
                    <a:pt x="0" y="0"/>
                  </a:lnTo>
                  <a:lnTo>
                    <a:pt x="0" y="508254"/>
                  </a:lnTo>
                  <a:lnTo>
                    <a:pt x="5539739" y="508254"/>
                  </a:lnTo>
                  <a:lnTo>
                    <a:pt x="5539739" y="0"/>
                  </a:lnTo>
                  <a:close/>
                </a:path>
              </a:pathLst>
            </a:custGeom>
            <a:solidFill>
              <a:srgbClr val="5FE046"/>
            </a:solidFill>
          </p:spPr>
          <p:txBody>
            <a:bodyPr wrap="square" lIns="0" tIns="0" rIns="0" bIns="0" rtlCol="0"/>
            <a:lstStyle/>
            <a:p>
              <a:endParaRPr/>
            </a:p>
          </p:txBody>
        </p:sp>
        <p:sp>
          <p:nvSpPr>
            <p:cNvPr id="14" name="object 14"/>
            <p:cNvSpPr/>
            <p:nvPr/>
          </p:nvSpPr>
          <p:spPr>
            <a:xfrm>
              <a:off x="1960244" y="3354704"/>
              <a:ext cx="5539740" cy="508634"/>
            </a:xfrm>
            <a:custGeom>
              <a:avLst/>
              <a:gdLst/>
              <a:ahLst/>
              <a:cxnLst/>
              <a:rect l="l" t="t" r="r" b="b"/>
              <a:pathLst>
                <a:path w="5539740" h="508635">
                  <a:moveTo>
                    <a:pt x="0" y="508254"/>
                  </a:moveTo>
                  <a:lnTo>
                    <a:pt x="5539739" y="508254"/>
                  </a:lnTo>
                  <a:lnTo>
                    <a:pt x="5539739" y="0"/>
                  </a:lnTo>
                  <a:lnTo>
                    <a:pt x="0" y="0"/>
                  </a:lnTo>
                  <a:lnTo>
                    <a:pt x="0" y="508254"/>
                  </a:lnTo>
                  <a:close/>
                </a:path>
              </a:pathLst>
            </a:custGeom>
            <a:ln w="25146">
              <a:solidFill>
                <a:srgbClr val="FFFFFF"/>
              </a:solidFill>
            </a:ln>
          </p:spPr>
          <p:txBody>
            <a:bodyPr wrap="square" lIns="0" tIns="0" rIns="0" bIns="0" rtlCol="0"/>
            <a:lstStyle/>
            <a:p>
              <a:endParaRPr/>
            </a:p>
          </p:txBody>
        </p:sp>
        <p:sp>
          <p:nvSpPr>
            <p:cNvPr id="15" name="object 15"/>
            <p:cNvSpPr/>
            <p:nvPr/>
          </p:nvSpPr>
          <p:spPr>
            <a:xfrm>
              <a:off x="1620393" y="3290697"/>
              <a:ext cx="680085" cy="635635"/>
            </a:xfrm>
            <a:custGeom>
              <a:avLst/>
              <a:gdLst/>
              <a:ahLst/>
              <a:cxnLst/>
              <a:rect l="l" t="t" r="r" b="b"/>
              <a:pathLst>
                <a:path w="680085" h="635635">
                  <a:moveTo>
                    <a:pt x="339852" y="0"/>
                  </a:moveTo>
                  <a:lnTo>
                    <a:pt x="289628" y="3444"/>
                  </a:lnTo>
                  <a:lnTo>
                    <a:pt x="241694" y="13451"/>
                  </a:lnTo>
                  <a:lnTo>
                    <a:pt x="196574" y="29529"/>
                  </a:lnTo>
                  <a:lnTo>
                    <a:pt x="154794" y="51186"/>
                  </a:lnTo>
                  <a:lnTo>
                    <a:pt x="116879" y="77931"/>
                  </a:lnTo>
                  <a:lnTo>
                    <a:pt x="83356" y="109274"/>
                  </a:lnTo>
                  <a:lnTo>
                    <a:pt x="54749" y="144723"/>
                  </a:lnTo>
                  <a:lnTo>
                    <a:pt x="31584" y="183786"/>
                  </a:lnTo>
                  <a:lnTo>
                    <a:pt x="14388" y="225973"/>
                  </a:lnTo>
                  <a:lnTo>
                    <a:pt x="3684" y="270793"/>
                  </a:lnTo>
                  <a:lnTo>
                    <a:pt x="0" y="317753"/>
                  </a:lnTo>
                  <a:lnTo>
                    <a:pt x="3684" y="364714"/>
                  </a:lnTo>
                  <a:lnTo>
                    <a:pt x="14388" y="409534"/>
                  </a:lnTo>
                  <a:lnTo>
                    <a:pt x="31584" y="451721"/>
                  </a:lnTo>
                  <a:lnTo>
                    <a:pt x="54749" y="490784"/>
                  </a:lnTo>
                  <a:lnTo>
                    <a:pt x="83356" y="526233"/>
                  </a:lnTo>
                  <a:lnTo>
                    <a:pt x="116879" y="557576"/>
                  </a:lnTo>
                  <a:lnTo>
                    <a:pt x="154794" y="584321"/>
                  </a:lnTo>
                  <a:lnTo>
                    <a:pt x="196574" y="605978"/>
                  </a:lnTo>
                  <a:lnTo>
                    <a:pt x="241694" y="622056"/>
                  </a:lnTo>
                  <a:lnTo>
                    <a:pt x="289628" y="632063"/>
                  </a:lnTo>
                  <a:lnTo>
                    <a:pt x="339852" y="635507"/>
                  </a:lnTo>
                  <a:lnTo>
                    <a:pt x="390075" y="632063"/>
                  </a:lnTo>
                  <a:lnTo>
                    <a:pt x="438009" y="622056"/>
                  </a:lnTo>
                  <a:lnTo>
                    <a:pt x="483129" y="605978"/>
                  </a:lnTo>
                  <a:lnTo>
                    <a:pt x="524909" y="584321"/>
                  </a:lnTo>
                  <a:lnTo>
                    <a:pt x="562824" y="557576"/>
                  </a:lnTo>
                  <a:lnTo>
                    <a:pt x="596347" y="526233"/>
                  </a:lnTo>
                  <a:lnTo>
                    <a:pt x="624954" y="490784"/>
                  </a:lnTo>
                  <a:lnTo>
                    <a:pt x="648119" y="451721"/>
                  </a:lnTo>
                  <a:lnTo>
                    <a:pt x="665315" y="409534"/>
                  </a:lnTo>
                  <a:lnTo>
                    <a:pt x="676019" y="364714"/>
                  </a:lnTo>
                  <a:lnTo>
                    <a:pt x="679704" y="317753"/>
                  </a:lnTo>
                  <a:lnTo>
                    <a:pt x="676019" y="270793"/>
                  </a:lnTo>
                  <a:lnTo>
                    <a:pt x="665315" y="225973"/>
                  </a:lnTo>
                  <a:lnTo>
                    <a:pt x="648119" y="183786"/>
                  </a:lnTo>
                  <a:lnTo>
                    <a:pt x="624954" y="144723"/>
                  </a:lnTo>
                  <a:lnTo>
                    <a:pt x="596347" y="109274"/>
                  </a:lnTo>
                  <a:lnTo>
                    <a:pt x="562824" y="77931"/>
                  </a:lnTo>
                  <a:lnTo>
                    <a:pt x="524909" y="51186"/>
                  </a:lnTo>
                  <a:lnTo>
                    <a:pt x="483129" y="29529"/>
                  </a:lnTo>
                  <a:lnTo>
                    <a:pt x="438009" y="13451"/>
                  </a:lnTo>
                  <a:lnTo>
                    <a:pt x="390075" y="3444"/>
                  </a:lnTo>
                  <a:lnTo>
                    <a:pt x="339852" y="0"/>
                  </a:lnTo>
                  <a:close/>
                </a:path>
              </a:pathLst>
            </a:custGeom>
            <a:solidFill>
              <a:srgbClr val="FFFFFF"/>
            </a:solidFill>
          </p:spPr>
          <p:txBody>
            <a:bodyPr wrap="square" lIns="0" tIns="0" rIns="0" bIns="0" rtlCol="0"/>
            <a:lstStyle/>
            <a:p>
              <a:endParaRPr/>
            </a:p>
          </p:txBody>
        </p:sp>
        <p:sp>
          <p:nvSpPr>
            <p:cNvPr id="16" name="object 16"/>
            <p:cNvSpPr/>
            <p:nvPr/>
          </p:nvSpPr>
          <p:spPr>
            <a:xfrm>
              <a:off x="1620393" y="3290697"/>
              <a:ext cx="680085" cy="635635"/>
            </a:xfrm>
            <a:custGeom>
              <a:avLst/>
              <a:gdLst/>
              <a:ahLst/>
              <a:cxnLst/>
              <a:rect l="l" t="t" r="r" b="b"/>
              <a:pathLst>
                <a:path w="680085" h="635635">
                  <a:moveTo>
                    <a:pt x="0" y="317753"/>
                  </a:moveTo>
                  <a:lnTo>
                    <a:pt x="3684" y="270793"/>
                  </a:lnTo>
                  <a:lnTo>
                    <a:pt x="14388" y="225973"/>
                  </a:lnTo>
                  <a:lnTo>
                    <a:pt x="31584" y="183786"/>
                  </a:lnTo>
                  <a:lnTo>
                    <a:pt x="54749" y="144723"/>
                  </a:lnTo>
                  <a:lnTo>
                    <a:pt x="83356" y="109274"/>
                  </a:lnTo>
                  <a:lnTo>
                    <a:pt x="116879" y="77931"/>
                  </a:lnTo>
                  <a:lnTo>
                    <a:pt x="154794" y="51186"/>
                  </a:lnTo>
                  <a:lnTo>
                    <a:pt x="196574" y="29529"/>
                  </a:lnTo>
                  <a:lnTo>
                    <a:pt x="241694" y="13451"/>
                  </a:lnTo>
                  <a:lnTo>
                    <a:pt x="289628" y="3444"/>
                  </a:lnTo>
                  <a:lnTo>
                    <a:pt x="339852" y="0"/>
                  </a:lnTo>
                  <a:lnTo>
                    <a:pt x="390075" y="3444"/>
                  </a:lnTo>
                  <a:lnTo>
                    <a:pt x="438009" y="13451"/>
                  </a:lnTo>
                  <a:lnTo>
                    <a:pt x="483129" y="29529"/>
                  </a:lnTo>
                  <a:lnTo>
                    <a:pt x="524909" y="51186"/>
                  </a:lnTo>
                  <a:lnTo>
                    <a:pt x="562824" y="77931"/>
                  </a:lnTo>
                  <a:lnTo>
                    <a:pt x="596347" y="109274"/>
                  </a:lnTo>
                  <a:lnTo>
                    <a:pt x="624954" y="144723"/>
                  </a:lnTo>
                  <a:lnTo>
                    <a:pt x="648119" y="183786"/>
                  </a:lnTo>
                  <a:lnTo>
                    <a:pt x="665315" y="225973"/>
                  </a:lnTo>
                  <a:lnTo>
                    <a:pt x="676019" y="270793"/>
                  </a:lnTo>
                  <a:lnTo>
                    <a:pt x="679704" y="317753"/>
                  </a:lnTo>
                  <a:lnTo>
                    <a:pt x="676019" y="364714"/>
                  </a:lnTo>
                  <a:lnTo>
                    <a:pt x="665315" y="409534"/>
                  </a:lnTo>
                  <a:lnTo>
                    <a:pt x="648119" y="451721"/>
                  </a:lnTo>
                  <a:lnTo>
                    <a:pt x="624954" y="490784"/>
                  </a:lnTo>
                  <a:lnTo>
                    <a:pt x="596347" y="526233"/>
                  </a:lnTo>
                  <a:lnTo>
                    <a:pt x="562824" y="557576"/>
                  </a:lnTo>
                  <a:lnTo>
                    <a:pt x="524909" y="584321"/>
                  </a:lnTo>
                  <a:lnTo>
                    <a:pt x="483129" y="605978"/>
                  </a:lnTo>
                  <a:lnTo>
                    <a:pt x="438009" y="622056"/>
                  </a:lnTo>
                  <a:lnTo>
                    <a:pt x="390075" y="632063"/>
                  </a:lnTo>
                  <a:lnTo>
                    <a:pt x="339852" y="635507"/>
                  </a:lnTo>
                  <a:lnTo>
                    <a:pt x="289628" y="632063"/>
                  </a:lnTo>
                  <a:lnTo>
                    <a:pt x="241694" y="622056"/>
                  </a:lnTo>
                  <a:lnTo>
                    <a:pt x="196574" y="605978"/>
                  </a:lnTo>
                  <a:lnTo>
                    <a:pt x="154794" y="584321"/>
                  </a:lnTo>
                  <a:lnTo>
                    <a:pt x="116879" y="557576"/>
                  </a:lnTo>
                  <a:lnTo>
                    <a:pt x="83356" y="526233"/>
                  </a:lnTo>
                  <a:lnTo>
                    <a:pt x="54749" y="490784"/>
                  </a:lnTo>
                  <a:lnTo>
                    <a:pt x="31584" y="451721"/>
                  </a:lnTo>
                  <a:lnTo>
                    <a:pt x="14388" y="409534"/>
                  </a:lnTo>
                  <a:lnTo>
                    <a:pt x="3684" y="364714"/>
                  </a:lnTo>
                  <a:lnTo>
                    <a:pt x="0" y="317753"/>
                  </a:lnTo>
                  <a:close/>
                </a:path>
              </a:pathLst>
            </a:custGeom>
            <a:ln w="25145">
              <a:solidFill>
                <a:srgbClr val="5FE046"/>
              </a:solidFill>
            </a:ln>
          </p:spPr>
          <p:txBody>
            <a:bodyPr wrap="square" lIns="0" tIns="0" rIns="0" bIns="0" rtlCol="0"/>
            <a:lstStyle/>
            <a:p>
              <a:endParaRPr/>
            </a:p>
          </p:txBody>
        </p:sp>
        <p:sp>
          <p:nvSpPr>
            <p:cNvPr id="17" name="object 17"/>
            <p:cNvSpPr/>
            <p:nvPr/>
          </p:nvSpPr>
          <p:spPr>
            <a:xfrm>
              <a:off x="1840611" y="4116704"/>
              <a:ext cx="5659755" cy="508634"/>
            </a:xfrm>
            <a:custGeom>
              <a:avLst/>
              <a:gdLst/>
              <a:ahLst/>
              <a:cxnLst/>
              <a:rect l="l" t="t" r="r" b="b"/>
              <a:pathLst>
                <a:path w="5659755" h="508635">
                  <a:moveTo>
                    <a:pt x="5659373" y="0"/>
                  </a:moveTo>
                  <a:lnTo>
                    <a:pt x="0" y="0"/>
                  </a:lnTo>
                  <a:lnTo>
                    <a:pt x="0" y="508254"/>
                  </a:lnTo>
                  <a:lnTo>
                    <a:pt x="5659373" y="508254"/>
                  </a:lnTo>
                  <a:lnTo>
                    <a:pt x="5659373" y="0"/>
                  </a:lnTo>
                  <a:close/>
                </a:path>
              </a:pathLst>
            </a:custGeom>
            <a:solidFill>
              <a:srgbClr val="D4EB46"/>
            </a:solidFill>
          </p:spPr>
          <p:txBody>
            <a:bodyPr wrap="square" lIns="0" tIns="0" rIns="0" bIns="0" rtlCol="0"/>
            <a:lstStyle/>
            <a:p>
              <a:endParaRPr/>
            </a:p>
          </p:txBody>
        </p:sp>
        <p:sp>
          <p:nvSpPr>
            <p:cNvPr id="18" name="object 18"/>
            <p:cNvSpPr/>
            <p:nvPr/>
          </p:nvSpPr>
          <p:spPr>
            <a:xfrm>
              <a:off x="1840611" y="4116704"/>
              <a:ext cx="5659755" cy="508634"/>
            </a:xfrm>
            <a:custGeom>
              <a:avLst/>
              <a:gdLst/>
              <a:ahLst/>
              <a:cxnLst/>
              <a:rect l="l" t="t" r="r" b="b"/>
              <a:pathLst>
                <a:path w="5659755" h="508635">
                  <a:moveTo>
                    <a:pt x="0" y="508254"/>
                  </a:moveTo>
                  <a:lnTo>
                    <a:pt x="5659373" y="508254"/>
                  </a:lnTo>
                  <a:lnTo>
                    <a:pt x="5659373" y="0"/>
                  </a:lnTo>
                  <a:lnTo>
                    <a:pt x="0" y="0"/>
                  </a:lnTo>
                  <a:lnTo>
                    <a:pt x="0" y="508254"/>
                  </a:lnTo>
                  <a:close/>
                </a:path>
              </a:pathLst>
            </a:custGeom>
            <a:ln w="25146">
              <a:solidFill>
                <a:srgbClr val="FFFFFF"/>
              </a:solidFill>
            </a:ln>
          </p:spPr>
          <p:txBody>
            <a:bodyPr wrap="square" lIns="0" tIns="0" rIns="0" bIns="0" rtlCol="0"/>
            <a:lstStyle/>
            <a:p>
              <a:endParaRPr/>
            </a:p>
          </p:txBody>
        </p:sp>
        <p:sp>
          <p:nvSpPr>
            <p:cNvPr id="19" name="object 19"/>
            <p:cNvSpPr/>
            <p:nvPr/>
          </p:nvSpPr>
          <p:spPr>
            <a:xfrm>
              <a:off x="1500759" y="4052697"/>
              <a:ext cx="680085" cy="635635"/>
            </a:xfrm>
            <a:custGeom>
              <a:avLst/>
              <a:gdLst/>
              <a:ahLst/>
              <a:cxnLst/>
              <a:rect l="l" t="t" r="r" b="b"/>
              <a:pathLst>
                <a:path w="680085" h="635635">
                  <a:moveTo>
                    <a:pt x="339852" y="0"/>
                  </a:moveTo>
                  <a:lnTo>
                    <a:pt x="289628" y="3444"/>
                  </a:lnTo>
                  <a:lnTo>
                    <a:pt x="241694" y="13451"/>
                  </a:lnTo>
                  <a:lnTo>
                    <a:pt x="196574" y="29529"/>
                  </a:lnTo>
                  <a:lnTo>
                    <a:pt x="154794" y="51186"/>
                  </a:lnTo>
                  <a:lnTo>
                    <a:pt x="116879" y="77931"/>
                  </a:lnTo>
                  <a:lnTo>
                    <a:pt x="83356" y="109274"/>
                  </a:lnTo>
                  <a:lnTo>
                    <a:pt x="54749" y="144723"/>
                  </a:lnTo>
                  <a:lnTo>
                    <a:pt x="31584" y="183786"/>
                  </a:lnTo>
                  <a:lnTo>
                    <a:pt x="14388" y="225973"/>
                  </a:lnTo>
                  <a:lnTo>
                    <a:pt x="3684" y="270793"/>
                  </a:lnTo>
                  <a:lnTo>
                    <a:pt x="0" y="317753"/>
                  </a:lnTo>
                  <a:lnTo>
                    <a:pt x="3684" y="364714"/>
                  </a:lnTo>
                  <a:lnTo>
                    <a:pt x="14388" y="409534"/>
                  </a:lnTo>
                  <a:lnTo>
                    <a:pt x="31584" y="451721"/>
                  </a:lnTo>
                  <a:lnTo>
                    <a:pt x="54749" y="490784"/>
                  </a:lnTo>
                  <a:lnTo>
                    <a:pt x="83356" y="526233"/>
                  </a:lnTo>
                  <a:lnTo>
                    <a:pt x="116879" y="557576"/>
                  </a:lnTo>
                  <a:lnTo>
                    <a:pt x="154794" y="584321"/>
                  </a:lnTo>
                  <a:lnTo>
                    <a:pt x="196574" y="605978"/>
                  </a:lnTo>
                  <a:lnTo>
                    <a:pt x="241694" y="622056"/>
                  </a:lnTo>
                  <a:lnTo>
                    <a:pt x="289628" y="632063"/>
                  </a:lnTo>
                  <a:lnTo>
                    <a:pt x="339852" y="635507"/>
                  </a:lnTo>
                  <a:lnTo>
                    <a:pt x="390075" y="632063"/>
                  </a:lnTo>
                  <a:lnTo>
                    <a:pt x="438009" y="622056"/>
                  </a:lnTo>
                  <a:lnTo>
                    <a:pt x="483129" y="605978"/>
                  </a:lnTo>
                  <a:lnTo>
                    <a:pt x="524909" y="584321"/>
                  </a:lnTo>
                  <a:lnTo>
                    <a:pt x="562824" y="557576"/>
                  </a:lnTo>
                  <a:lnTo>
                    <a:pt x="596347" y="526233"/>
                  </a:lnTo>
                  <a:lnTo>
                    <a:pt x="624954" y="490784"/>
                  </a:lnTo>
                  <a:lnTo>
                    <a:pt x="648119" y="451721"/>
                  </a:lnTo>
                  <a:lnTo>
                    <a:pt x="665315" y="409534"/>
                  </a:lnTo>
                  <a:lnTo>
                    <a:pt x="676019" y="364714"/>
                  </a:lnTo>
                  <a:lnTo>
                    <a:pt x="679704" y="317753"/>
                  </a:lnTo>
                  <a:lnTo>
                    <a:pt x="676019" y="270793"/>
                  </a:lnTo>
                  <a:lnTo>
                    <a:pt x="665315" y="225973"/>
                  </a:lnTo>
                  <a:lnTo>
                    <a:pt x="648119" y="183786"/>
                  </a:lnTo>
                  <a:lnTo>
                    <a:pt x="624954" y="144723"/>
                  </a:lnTo>
                  <a:lnTo>
                    <a:pt x="596347" y="109274"/>
                  </a:lnTo>
                  <a:lnTo>
                    <a:pt x="562824" y="77931"/>
                  </a:lnTo>
                  <a:lnTo>
                    <a:pt x="524909" y="51186"/>
                  </a:lnTo>
                  <a:lnTo>
                    <a:pt x="483129" y="29529"/>
                  </a:lnTo>
                  <a:lnTo>
                    <a:pt x="438009" y="13451"/>
                  </a:lnTo>
                  <a:lnTo>
                    <a:pt x="390075" y="3444"/>
                  </a:lnTo>
                  <a:lnTo>
                    <a:pt x="339852" y="0"/>
                  </a:lnTo>
                  <a:close/>
                </a:path>
              </a:pathLst>
            </a:custGeom>
            <a:solidFill>
              <a:srgbClr val="FFFFFF"/>
            </a:solidFill>
          </p:spPr>
          <p:txBody>
            <a:bodyPr wrap="square" lIns="0" tIns="0" rIns="0" bIns="0" rtlCol="0"/>
            <a:lstStyle/>
            <a:p>
              <a:endParaRPr/>
            </a:p>
          </p:txBody>
        </p:sp>
        <p:sp>
          <p:nvSpPr>
            <p:cNvPr id="20" name="object 20"/>
            <p:cNvSpPr/>
            <p:nvPr/>
          </p:nvSpPr>
          <p:spPr>
            <a:xfrm>
              <a:off x="1500759" y="4052697"/>
              <a:ext cx="680085" cy="635635"/>
            </a:xfrm>
            <a:custGeom>
              <a:avLst/>
              <a:gdLst/>
              <a:ahLst/>
              <a:cxnLst/>
              <a:rect l="l" t="t" r="r" b="b"/>
              <a:pathLst>
                <a:path w="680085" h="635635">
                  <a:moveTo>
                    <a:pt x="0" y="317753"/>
                  </a:moveTo>
                  <a:lnTo>
                    <a:pt x="3684" y="270793"/>
                  </a:lnTo>
                  <a:lnTo>
                    <a:pt x="14388" y="225973"/>
                  </a:lnTo>
                  <a:lnTo>
                    <a:pt x="31584" y="183786"/>
                  </a:lnTo>
                  <a:lnTo>
                    <a:pt x="54749" y="144723"/>
                  </a:lnTo>
                  <a:lnTo>
                    <a:pt x="83356" y="109274"/>
                  </a:lnTo>
                  <a:lnTo>
                    <a:pt x="116879" y="77931"/>
                  </a:lnTo>
                  <a:lnTo>
                    <a:pt x="154794" y="51186"/>
                  </a:lnTo>
                  <a:lnTo>
                    <a:pt x="196574" y="29529"/>
                  </a:lnTo>
                  <a:lnTo>
                    <a:pt x="241694" y="13451"/>
                  </a:lnTo>
                  <a:lnTo>
                    <a:pt x="289628" y="3444"/>
                  </a:lnTo>
                  <a:lnTo>
                    <a:pt x="339852" y="0"/>
                  </a:lnTo>
                  <a:lnTo>
                    <a:pt x="390075" y="3444"/>
                  </a:lnTo>
                  <a:lnTo>
                    <a:pt x="438009" y="13451"/>
                  </a:lnTo>
                  <a:lnTo>
                    <a:pt x="483129" y="29529"/>
                  </a:lnTo>
                  <a:lnTo>
                    <a:pt x="524909" y="51186"/>
                  </a:lnTo>
                  <a:lnTo>
                    <a:pt x="562824" y="77931"/>
                  </a:lnTo>
                  <a:lnTo>
                    <a:pt x="596347" y="109274"/>
                  </a:lnTo>
                  <a:lnTo>
                    <a:pt x="624954" y="144723"/>
                  </a:lnTo>
                  <a:lnTo>
                    <a:pt x="648119" y="183786"/>
                  </a:lnTo>
                  <a:lnTo>
                    <a:pt x="665315" y="225973"/>
                  </a:lnTo>
                  <a:lnTo>
                    <a:pt x="676019" y="270793"/>
                  </a:lnTo>
                  <a:lnTo>
                    <a:pt x="679704" y="317753"/>
                  </a:lnTo>
                  <a:lnTo>
                    <a:pt x="676019" y="364714"/>
                  </a:lnTo>
                  <a:lnTo>
                    <a:pt x="665315" y="409534"/>
                  </a:lnTo>
                  <a:lnTo>
                    <a:pt x="648119" y="451721"/>
                  </a:lnTo>
                  <a:lnTo>
                    <a:pt x="624954" y="490784"/>
                  </a:lnTo>
                  <a:lnTo>
                    <a:pt x="596347" y="526233"/>
                  </a:lnTo>
                  <a:lnTo>
                    <a:pt x="562824" y="557576"/>
                  </a:lnTo>
                  <a:lnTo>
                    <a:pt x="524909" y="584321"/>
                  </a:lnTo>
                  <a:lnTo>
                    <a:pt x="483129" y="605978"/>
                  </a:lnTo>
                  <a:lnTo>
                    <a:pt x="438009" y="622056"/>
                  </a:lnTo>
                  <a:lnTo>
                    <a:pt x="390075" y="632063"/>
                  </a:lnTo>
                  <a:lnTo>
                    <a:pt x="339852" y="635507"/>
                  </a:lnTo>
                  <a:lnTo>
                    <a:pt x="289628" y="632063"/>
                  </a:lnTo>
                  <a:lnTo>
                    <a:pt x="241694" y="622056"/>
                  </a:lnTo>
                  <a:lnTo>
                    <a:pt x="196574" y="605978"/>
                  </a:lnTo>
                  <a:lnTo>
                    <a:pt x="154794" y="584321"/>
                  </a:lnTo>
                  <a:lnTo>
                    <a:pt x="116879" y="557576"/>
                  </a:lnTo>
                  <a:lnTo>
                    <a:pt x="83356" y="526233"/>
                  </a:lnTo>
                  <a:lnTo>
                    <a:pt x="54749" y="490784"/>
                  </a:lnTo>
                  <a:lnTo>
                    <a:pt x="31584" y="451721"/>
                  </a:lnTo>
                  <a:lnTo>
                    <a:pt x="14388" y="409534"/>
                  </a:lnTo>
                  <a:lnTo>
                    <a:pt x="3684" y="364714"/>
                  </a:lnTo>
                  <a:lnTo>
                    <a:pt x="0" y="317753"/>
                  </a:lnTo>
                  <a:close/>
                </a:path>
              </a:pathLst>
            </a:custGeom>
            <a:ln w="25145">
              <a:solidFill>
                <a:srgbClr val="D4EB46"/>
              </a:solidFill>
            </a:ln>
          </p:spPr>
          <p:txBody>
            <a:bodyPr wrap="square" lIns="0" tIns="0" rIns="0" bIns="0" rtlCol="0"/>
            <a:lstStyle/>
            <a:p>
              <a:endParaRPr/>
            </a:p>
          </p:txBody>
        </p:sp>
        <p:sp>
          <p:nvSpPr>
            <p:cNvPr id="21" name="object 21"/>
            <p:cNvSpPr/>
            <p:nvPr/>
          </p:nvSpPr>
          <p:spPr>
            <a:xfrm>
              <a:off x="1451229" y="4878704"/>
              <a:ext cx="6049010" cy="508634"/>
            </a:xfrm>
            <a:custGeom>
              <a:avLst/>
              <a:gdLst/>
              <a:ahLst/>
              <a:cxnLst/>
              <a:rect l="l" t="t" r="r" b="b"/>
              <a:pathLst>
                <a:path w="6049009" h="508635">
                  <a:moveTo>
                    <a:pt x="6048756" y="0"/>
                  </a:moveTo>
                  <a:lnTo>
                    <a:pt x="0" y="0"/>
                  </a:lnTo>
                  <a:lnTo>
                    <a:pt x="0" y="508254"/>
                  </a:lnTo>
                  <a:lnTo>
                    <a:pt x="6048756" y="508254"/>
                  </a:lnTo>
                  <a:lnTo>
                    <a:pt x="6048756" y="0"/>
                  </a:lnTo>
                  <a:close/>
                </a:path>
              </a:pathLst>
            </a:custGeom>
            <a:solidFill>
              <a:srgbClr val="F79546"/>
            </a:solidFill>
          </p:spPr>
          <p:txBody>
            <a:bodyPr wrap="square" lIns="0" tIns="0" rIns="0" bIns="0" rtlCol="0"/>
            <a:lstStyle/>
            <a:p>
              <a:endParaRPr/>
            </a:p>
          </p:txBody>
        </p:sp>
        <p:sp>
          <p:nvSpPr>
            <p:cNvPr id="22" name="object 22"/>
            <p:cNvSpPr/>
            <p:nvPr/>
          </p:nvSpPr>
          <p:spPr>
            <a:xfrm>
              <a:off x="1451229" y="4878704"/>
              <a:ext cx="6049010" cy="508634"/>
            </a:xfrm>
            <a:custGeom>
              <a:avLst/>
              <a:gdLst/>
              <a:ahLst/>
              <a:cxnLst/>
              <a:rect l="l" t="t" r="r" b="b"/>
              <a:pathLst>
                <a:path w="6049009" h="508635">
                  <a:moveTo>
                    <a:pt x="0" y="508254"/>
                  </a:moveTo>
                  <a:lnTo>
                    <a:pt x="6048756" y="508254"/>
                  </a:lnTo>
                  <a:lnTo>
                    <a:pt x="6048756" y="0"/>
                  </a:lnTo>
                  <a:lnTo>
                    <a:pt x="0" y="0"/>
                  </a:lnTo>
                  <a:lnTo>
                    <a:pt x="0" y="508254"/>
                  </a:lnTo>
                  <a:close/>
                </a:path>
              </a:pathLst>
            </a:custGeom>
            <a:ln w="25146">
              <a:solidFill>
                <a:srgbClr val="FFFFFF"/>
              </a:solidFill>
            </a:ln>
          </p:spPr>
          <p:txBody>
            <a:bodyPr wrap="square" lIns="0" tIns="0" rIns="0" bIns="0" rtlCol="0"/>
            <a:lstStyle/>
            <a:p>
              <a:endParaRPr/>
            </a:p>
          </p:txBody>
        </p:sp>
      </p:grpSp>
      <p:sp>
        <p:nvSpPr>
          <p:cNvPr id="23" name="object 23"/>
          <p:cNvSpPr txBox="1"/>
          <p:nvPr/>
        </p:nvSpPr>
        <p:spPr>
          <a:xfrm>
            <a:off x="1841500" y="1790445"/>
            <a:ext cx="5500370" cy="3437890"/>
          </a:xfrm>
          <a:prstGeom prst="rect">
            <a:avLst/>
          </a:prstGeom>
        </p:spPr>
        <p:txBody>
          <a:bodyPr vert="horz" wrap="square" lIns="0" tIns="31750" rIns="0" bIns="0" rtlCol="0">
            <a:spAutoFit/>
          </a:bodyPr>
          <a:lstStyle/>
          <a:p>
            <a:pPr marL="12700" marR="33655">
              <a:lnSpc>
                <a:spcPts val="1810"/>
              </a:lnSpc>
              <a:spcBef>
                <a:spcPts val="250"/>
              </a:spcBef>
            </a:pPr>
            <a:r>
              <a:rPr sz="1600" spc="10" dirty="0">
                <a:latin typeface="Arial"/>
                <a:cs typeface="Arial"/>
              </a:rPr>
              <a:t>Query</a:t>
            </a:r>
            <a:r>
              <a:rPr sz="1600" spc="-110" dirty="0">
                <a:latin typeface="Arial"/>
                <a:cs typeface="Arial"/>
              </a:rPr>
              <a:t> </a:t>
            </a:r>
            <a:r>
              <a:rPr sz="1600" spc="-50" dirty="0">
                <a:latin typeface="Arial"/>
                <a:cs typeface="Arial"/>
              </a:rPr>
              <a:t>data</a:t>
            </a:r>
            <a:r>
              <a:rPr sz="1600" spc="-120" dirty="0">
                <a:latin typeface="Arial"/>
                <a:cs typeface="Arial"/>
              </a:rPr>
              <a:t> </a:t>
            </a:r>
            <a:r>
              <a:rPr sz="1600" spc="-25" dirty="0">
                <a:latin typeface="Arial"/>
                <a:cs typeface="Arial"/>
              </a:rPr>
              <a:t>stored</a:t>
            </a:r>
            <a:r>
              <a:rPr sz="1600" spc="-105" dirty="0">
                <a:latin typeface="Arial"/>
                <a:cs typeface="Arial"/>
              </a:rPr>
              <a:t> </a:t>
            </a:r>
            <a:r>
              <a:rPr sz="1600" spc="75" dirty="0">
                <a:latin typeface="Arial"/>
                <a:cs typeface="Arial"/>
              </a:rPr>
              <a:t>in</a:t>
            </a:r>
            <a:r>
              <a:rPr sz="1600" spc="-114" dirty="0">
                <a:latin typeface="Arial"/>
                <a:cs typeface="Arial"/>
              </a:rPr>
              <a:t> </a:t>
            </a:r>
            <a:r>
              <a:rPr sz="1600" spc="-10" dirty="0">
                <a:latin typeface="Arial"/>
                <a:cs typeface="Arial"/>
              </a:rPr>
              <a:t>Hadoop</a:t>
            </a:r>
            <a:r>
              <a:rPr sz="1600" spc="-125" dirty="0">
                <a:latin typeface="Arial"/>
                <a:cs typeface="Arial"/>
              </a:rPr>
              <a:t> </a:t>
            </a:r>
            <a:r>
              <a:rPr sz="1600" spc="35" dirty="0">
                <a:latin typeface="Arial"/>
                <a:cs typeface="Arial"/>
              </a:rPr>
              <a:t>from</a:t>
            </a:r>
            <a:r>
              <a:rPr sz="1600" spc="-110" dirty="0">
                <a:latin typeface="Arial"/>
                <a:cs typeface="Arial"/>
              </a:rPr>
              <a:t> </a:t>
            </a:r>
            <a:r>
              <a:rPr sz="1600" spc="20" dirty="0">
                <a:latin typeface="Arial"/>
                <a:cs typeface="Arial"/>
              </a:rPr>
              <a:t>SQL</a:t>
            </a:r>
            <a:r>
              <a:rPr sz="1600" spc="-125" dirty="0">
                <a:latin typeface="Arial"/>
                <a:cs typeface="Arial"/>
              </a:rPr>
              <a:t> </a:t>
            </a:r>
            <a:r>
              <a:rPr sz="1600" spc="-40" dirty="0">
                <a:latin typeface="Arial"/>
                <a:cs typeface="Arial"/>
              </a:rPr>
              <a:t>Server</a:t>
            </a:r>
            <a:r>
              <a:rPr sz="1600" spc="-114" dirty="0">
                <a:latin typeface="Arial"/>
                <a:cs typeface="Arial"/>
              </a:rPr>
              <a:t> </a:t>
            </a:r>
            <a:r>
              <a:rPr sz="1600" spc="25" dirty="0">
                <a:latin typeface="Arial"/>
                <a:cs typeface="Arial"/>
              </a:rPr>
              <a:t>or</a:t>
            </a:r>
            <a:r>
              <a:rPr sz="1600" spc="-110" dirty="0">
                <a:latin typeface="Arial"/>
                <a:cs typeface="Arial"/>
              </a:rPr>
              <a:t> </a:t>
            </a:r>
            <a:r>
              <a:rPr sz="1600" spc="-35" dirty="0">
                <a:latin typeface="Arial"/>
                <a:cs typeface="Arial"/>
              </a:rPr>
              <a:t>Parallel</a:t>
            </a:r>
            <a:r>
              <a:rPr sz="1600" spc="-105" dirty="0">
                <a:latin typeface="Arial"/>
                <a:cs typeface="Arial"/>
              </a:rPr>
              <a:t> </a:t>
            </a:r>
            <a:r>
              <a:rPr sz="1600" spc="-25" dirty="0">
                <a:latin typeface="Arial"/>
                <a:cs typeface="Arial"/>
              </a:rPr>
              <a:t>Data  Warehouse</a:t>
            </a:r>
            <a:r>
              <a:rPr sz="1600" spc="-110" dirty="0">
                <a:latin typeface="Arial"/>
                <a:cs typeface="Arial"/>
              </a:rPr>
              <a:t> </a:t>
            </a:r>
            <a:r>
              <a:rPr sz="1600" spc="35" dirty="0">
                <a:latin typeface="Arial"/>
                <a:cs typeface="Arial"/>
              </a:rPr>
              <a:t>(PDW)</a:t>
            </a:r>
            <a:endParaRPr sz="1600">
              <a:latin typeface="Arial"/>
              <a:cs typeface="Arial"/>
            </a:endParaRPr>
          </a:p>
          <a:p>
            <a:pPr>
              <a:lnSpc>
                <a:spcPct val="100000"/>
              </a:lnSpc>
              <a:spcBef>
                <a:spcPts val="45"/>
              </a:spcBef>
            </a:pPr>
            <a:endParaRPr sz="2650">
              <a:latin typeface="Arial"/>
              <a:cs typeface="Arial"/>
            </a:endParaRPr>
          </a:p>
          <a:p>
            <a:pPr marL="401955">
              <a:lnSpc>
                <a:spcPct val="100000"/>
              </a:lnSpc>
            </a:pPr>
            <a:r>
              <a:rPr sz="1600" spc="10" dirty="0">
                <a:latin typeface="Arial"/>
                <a:cs typeface="Arial"/>
              </a:rPr>
              <a:t>Query</a:t>
            </a:r>
            <a:r>
              <a:rPr sz="1600" spc="-110" dirty="0">
                <a:latin typeface="Arial"/>
                <a:cs typeface="Arial"/>
              </a:rPr>
              <a:t> </a:t>
            </a:r>
            <a:r>
              <a:rPr sz="1600" spc="-50" dirty="0">
                <a:latin typeface="Arial"/>
                <a:cs typeface="Arial"/>
              </a:rPr>
              <a:t>data</a:t>
            </a:r>
            <a:r>
              <a:rPr sz="1600" spc="-120" dirty="0">
                <a:latin typeface="Arial"/>
                <a:cs typeface="Arial"/>
              </a:rPr>
              <a:t> </a:t>
            </a:r>
            <a:r>
              <a:rPr sz="1600" spc="-25" dirty="0">
                <a:latin typeface="Arial"/>
                <a:cs typeface="Arial"/>
              </a:rPr>
              <a:t>stored</a:t>
            </a:r>
            <a:r>
              <a:rPr sz="1600" spc="-105" dirty="0">
                <a:latin typeface="Arial"/>
                <a:cs typeface="Arial"/>
              </a:rPr>
              <a:t> </a:t>
            </a:r>
            <a:r>
              <a:rPr sz="1600" spc="75" dirty="0">
                <a:latin typeface="Arial"/>
                <a:cs typeface="Arial"/>
              </a:rPr>
              <a:t>in</a:t>
            </a:r>
            <a:r>
              <a:rPr sz="1600" spc="-114" dirty="0">
                <a:latin typeface="Arial"/>
                <a:cs typeface="Arial"/>
              </a:rPr>
              <a:t> </a:t>
            </a:r>
            <a:r>
              <a:rPr sz="1600" spc="-5" dirty="0">
                <a:latin typeface="Arial"/>
                <a:cs typeface="Arial"/>
              </a:rPr>
              <a:t>Azure</a:t>
            </a:r>
            <a:r>
              <a:rPr sz="1600" spc="-110" dirty="0">
                <a:latin typeface="Arial"/>
                <a:cs typeface="Arial"/>
              </a:rPr>
              <a:t> </a:t>
            </a:r>
            <a:r>
              <a:rPr sz="1600" dirty="0">
                <a:latin typeface="Arial"/>
                <a:cs typeface="Arial"/>
              </a:rPr>
              <a:t>Blob</a:t>
            </a:r>
            <a:r>
              <a:rPr sz="1600" spc="-105" dirty="0">
                <a:latin typeface="Arial"/>
                <a:cs typeface="Arial"/>
              </a:rPr>
              <a:t> </a:t>
            </a:r>
            <a:r>
              <a:rPr sz="1600" spc="-55" dirty="0">
                <a:latin typeface="Arial"/>
                <a:cs typeface="Arial"/>
              </a:rPr>
              <a:t>Storage</a:t>
            </a:r>
            <a:endParaRPr sz="1600">
              <a:latin typeface="Arial"/>
              <a:cs typeface="Arial"/>
            </a:endParaRPr>
          </a:p>
          <a:p>
            <a:pPr>
              <a:lnSpc>
                <a:spcPct val="100000"/>
              </a:lnSpc>
              <a:spcBef>
                <a:spcPts val="45"/>
              </a:spcBef>
            </a:pPr>
            <a:endParaRPr sz="2950">
              <a:latin typeface="Arial"/>
              <a:cs typeface="Arial"/>
            </a:endParaRPr>
          </a:p>
          <a:p>
            <a:pPr marL="521334" marR="99060">
              <a:lnSpc>
                <a:spcPts val="1730"/>
              </a:lnSpc>
            </a:pPr>
            <a:r>
              <a:rPr sz="1600" spc="35" dirty="0">
                <a:latin typeface="Arial"/>
                <a:cs typeface="Arial"/>
              </a:rPr>
              <a:t>Import</a:t>
            </a:r>
            <a:r>
              <a:rPr sz="1600" spc="-105" dirty="0">
                <a:latin typeface="Arial"/>
                <a:cs typeface="Arial"/>
              </a:rPr>
              <a:t> </a:t>
            </a:r>
            <a:r>
              <a:rPr sz="1600" spc="-50" dirty="0">
                <a:latin typeface="Arial"/>
                <a:cs typeface="Arial"/>
              </a:rPr>
              <a:t>data</a:t>
            </a:r>
            <a:r>
              <a:rPr sz="1600" spc="-110" dirty="0">
                <a:latin typeface="Arial"/>
                <a:cs typeface="Arial"/>
              </a:rPr>
              <a:t> </a:t>
            </a:r>
            <a:r>
              <a:rPr sz="1600" spc="35" dirty="0">
                <a:latin typeface="Arial"/>
                <a:cs typeface="Arial"/>
              </a:rPr>
              <a:t>from</a:t>
            </a:r>
            <a:r>
              <a:rPr sz="1600" spc="-110" dirty="0">
                <a:latin typeface="Arial"/>
                <a:cs typeface="Arial"/>
              </a:rPr>
              <a:t> </a:t>
            </a:r>
            <a:r>
              <a:rPr sz="1600" spc="-15" dirty="0">
                <a:latin typeface="Arial"/>
                <a:cs typeface="Arial"/>
              </a:rPr>
              <a:t>Hadoop,</a:t>
            </a:r>
            <a:r>
              <a:rPr sz="1600" spc="-120" dirty="0">
                <a:latin typeface="Arial"/>
                <a:cs typeface="Arial"/>
              </a:rPr>
              <a:t> </a:t>
            </a:r>
            <a:r>
              <a:rPr sz="1600" spc="-5" dirty="0">
                <a:latin typeface="Arial"/>
                <a:cs typeface="Arial"/>
              </a:rPr>
              <a:t>Azure</a:t>
            </a:r>
            <a:r>
              <a:rPr sz="1600" spc="-105" dirty="0">
                <a:latin typeface="Arial"/>
                <a:cs typeface="Arial"/>
              </a:rPr>
              <a:t> </a:t>
            </a:r>
            <a:r>
              <a:rPr sz="1600" dirty="0">
                <a:latin typeface="Arial"/>
                <a:cs typeface="Arial"/>
              </a:rPr>
              <a:t>Blob</a:t>
            </a:r>
            <a:r>
              <a:rPr sz="1600" spc="-100" dirty="0">
                <a:latin typeface="Arial"/>
                <a:cs typeface="Arial"/>
              </a:rPr>
              <a:t> </a:t>
            </a:r>
            <a:r>
              <a:rPr sz="1600" spc="-55" dirty="0">
                <a:latin typeface="Arial"/>
                <a:cs typeface="Arial"/>
              </a:rPr>
              <a:t>Storage,</a:t>
            </a:r>
            <a:r>
              <a:rPr sz="1600" spc="-100" dirty="0">
                <a:latin typeface="Arial"/>
                <a:cs typeface="Arial"/>
              </a:rPr>
              <a:t> </a:t>
            </a:r>
            <a:r>
              <a:rPr sz="1600" spc="25" dirty="0">
                <a:latin typeface="Arial"/>
                <a:cs typeface="Arial"/>
              </a:rPr>
              <a:t>or</a:t>
            </a:r>
            <a:r>
              <a:rPr sz="1600" spc="-110" dirty="0">
                <a:latin typeface="Arial"/>
                <a:cs typeface="Arial"/>
              </a:rPr>
              <a:t> </a:t>
            </a:r>
            <a:r>
              <a:rPr sz="1600" spc="-5" dirty="0">
                <a:latin typeface="Arial"/>
                <a:cs typeface="Arial"/>
              </a:rPr>
              <a:t>Azure  </a:t>
            </a:r>
            <a:r>
              <a:rPr sz="1600" spc="-25" dirty="0">
                <a:latin typeface="Arial"/>
                <a:cs typeface="Arial"/>
              </a:rPr>
              <a:t>Data </a:t>
            </a:r>
            <a:r>
              <a:rPr sz="1600" spc="-40" dirty="0">
                <a:latin typeface="Arial"/>
                <a:cs typeface="Arial"/>
              </a:rPr>
              <a:t>Lake</a:t>
            </a:r>
            <a:r>
              <a:rPr sz="1600" spc="-195" dirty="0">
                <a:latin typeface="Arial"/>
                <a:cs typeface="Arial"/>
              </a:rPr>
              <a:t> </a:t>
            </a:r>
            <a:r>
              <a:rPr sz="1600" spc="-20" dirty="0">
                <a:latin typeface="Arial"/>
                <a:cs typeface="Arial"/>
              </a:rPr>
              <a:t>Store</a:t>
            </a:r>
            <a:endParaRPr sz="1600">
              <a:latin typeface="Arial"/>
              <a:cs typeface="Arial"/>
            </a:endParaRPr>
          </a:p>
          <a:p>
            <a:pPr>
              <a:lnSpc>
                <a:spcPct val="100000"/>
              </a:lnSpc>
              <a:spcBef>
                <a:spcPts val="10"/>
              </a:spcBef>
            </a:pPr>
            <a:endParaRPr sz="2200">
              <a:latin typeface="Arial"/>
              <a:cs typeface="Arial"/>
            </a:endParaRPr>
          </a:p>
          <a:p>
            <a:pPr marL="401955" marR="5080">
              <a:lnSpc>
                <a:spcPts val="1730"/>
              </a:lnSpc>
            </a:pPr>
            <a:r>
              <a:rPr sz="1600" spc="20" dirty="0">
                <a:latin typeface="Arial"/>
                <a:cs typeface="Arial"/>
              </a:rPr>
              <a:t>Export</a:t>
            </a:r>
            <a:r>
              <a:rPr sz="1600" spc="-114" dirty="0">
                <a:latin typeface="Arial"/>
                <a:cs typeface="Arial"/>
              </a:rPr>
              <a:t> </a:t>
            </a:r>
            <a:r>
              <a:rPr sz="1600" spc="-50" dirty="0">
                <a:latin typeface="Arial"/>
                <a:cs typeface="Arial"/>
              </a:rPr>
              <a:t>data</a:t>
            </a:r>
            <a:r>
              <a:rPr sz="1600" spc="-110" dirty="0">
                <a:latin typeface="Arial"/>
                <a:cs typeface="Arial"/>
              </a:rPr>
              <a:t> </a:t>
            </a:r>
            <a:r>
              <a:rPr sz="1600" spc="40" dirty="0">
                <a:latin typeface="Arial"/>
                <a:cs typeface="Arial"/>
              </a:rPr>
              <a:t>to</a:t>
            </a:r>
            <a:r>
              <a:rPr sz="1600" spc="-110" dirty="0">
                <a:latin typeface="Arial"/>
                <a:cs typeface="Arial"/>
              </a:rPr>
              <a:t> </a:t>
            </a:r>
            <a:r>
              <a:rPr sz="1600" spc="-15" dirty="0">
                <a:latin typeface="Arial"/>
                <a:cs typeface="Arial"/>
              </a:rPr>
              <a:t>Hadoop,</a:t>
            </a:r>
            <a:r>
              <a:rPr sz="1600" spc="-120" dirty="0">
                <a:latin typeface="Arial"/>
                <a:cs typeface="Arial"/>
              </a:rPr>
              <a:t> </a:t>
            </a:r>
            <a:r>
              <a:rPr sz="1600" spc="-5" dirty="0">
                <a:latin typeface="Arial"/>
                <a:cs typeface="Arial"/>
              </a:rPr>
              <a:t>Azure</a:t>
            </a:r>
            <a:r>
              <a:rPr sz="1600" spc="-105" dirty="0">
                <a:latin typeface="Arial"/>
                <a:cs typeface="Arial"/>
              </a:rPr>
              <a:t> </a:t>
            </a:r>
            <a:r>
              <a:rPr sz="1600" dirty="0">
                <a:latin typeface="Arial"/>
                <a:cs typeface="Arial"/>
              </a:rPr>
              <a:t>Blob</a:t>
            </a:r>
            <a:r>
              <a:rPr sz="1600" spc="-105" dirty="0">
                <a:latin typeface="Arial"/>
                <a:cs typeface="Arial"/>
              </a:rPr>
              <a:t> </a:t>
            </a:r>
            <a:r>
              <a:rPr sz="1600" spc="-55" dirty="0">
                <a:latin typeface="Arial"/>
                <a:cs typeface="Arial"/>
              </a:rPr>
              <a:t>Storage,</a:t>
            </a:r>
            <a:r>
              <a:rPr sz="1600" spc="-100" dirty="0">
                <a:latin typeface="Arial"/>
                <a:cs typeface="Arial"/>
              </a:rPr>
              <a:t> </a:t>
            </a:r>
            <a:r>
              <a:rPr sz="1600" spc="25" dirty="0">
                <a:latin typeface="Arial"/>
                <a:cs typeface="Arial"/>
              </a:rPr>
              <a:t>or</a:t>
            </a:r>
            <a:r>
              <a:rPr sz="1600" spc="-110" dirty="0">
                <a:latin typeface="Arial"/>
                <a:cs typeface="Arial"/>
              </a:rPr>
              <a:t> </a:t>
            </a:r>
            <a:r>
              <a:rPr sz="1600" spc="-5" dirty="0">
                <a:latin typeface="Arial"/>
                <a:cs typeface="Arial"/>
              </a:rPr>
              <a:t>Azure</a:t>
            </a:r>
            <a:r>
              <a:rPr sz="1600" spc="-105" dirty="0">
                <a:latin typeface="Arial"/>
                <a:cs typeface="Arial"/>
              </a:rPr>
              <a:t> </a:t>
            </a:r>
            <a:r>
              <a:rPr sz="1600" spc="-25" dirty="0">
                <a:latin typeface="Arial"/>
                <a:cs typeface="Arial"/>
              </a:rPr>
              <a:t>Data  </a:t>
            </a:r>
            <a:r>
              <a:rPr sz="1600" spc="-40" dirty="0">
                <a:latin typeface="Arial"/>
                <a:cs typeface="Arial"/>
              </a:rPr>
              <a:t>Lake</a:t>
            </a:r>
            <a:r>
              <a:rPr sz="1600" spc="-114" dirty="0">
                <a:latin typeface="Arial"/>
                <a:cs typeface="Arial"/>
              </a:rPr>
              <a:t> </a:t>
            </a:r>
            <a:r>
              <a:rPr sz="1600" spc="-20" dirty="0">
                <a:latin typeface="Arial"/>
                <a:cs typeface="Arial"/>
              </a:rPr>
              <a:t>Store</a:t>
            </a:r>
            <a:endParaRPr sz="1600">
              <a:latin typeface="Arial"/>
              <a:cs typeface="Arial"/>
            </a:endParaRPr>
          </a:p>
          <a:p>
            <a:pPr>
              <a:lnSpc>
                <a:spcPct val="100000"/>
              </a:lnSpc>
              <a:spcBef>
                <a:spcPts val="45"/>
              </a:spcBef>
            </a:pPr>
            <a:endParaRPr sz="2800">
              <a:latin typeface="Arial"/>
              <a:cs typeface="Arial"/>
            </a:endParaRPr>
          </a:p>
          <a:p>
            <a:pPr marL="12700">
              <a:lnSpc>
                <a:spcPct val="100000"/>
              </a:lnSpc>
            </a:pPr>
            <a:r>
              <a:rPr sz="1600" spc="-20" dirty="0">
                <a:latin typeface="Arial"/>
                <a:cs typeface="Arial"/>
              </a:rPr>
              <a:t>Integrate </a:t>
            </a:r>
            <a:r>
              <a:rPr sz="1600" spc="70" dirty="0">
                <a:latin typeface="Arial"/>
                <a:cs typeface="Arial"/>
              </a:rPr>
              <a:t>with</a:t>
            </a:r>
            <a:r>
              <a:rPr sz="1600" spc="-315" dirty="0">
                <a:latin typeface="Arial"/>
                <a:cs typeface="Arial"/>
              </a:rPr>
              <a:t> </a:t>
            </a:r>
            <a:r>
              <a:rPr sz="1600" spc="10" dirty="0">
                <a:latin typeface="Arial"/>
                <a:cs typeface="Arial"/>
              </a:rPr>
              <a:t>BI </a:t>
            </a:r>
            <a:r>
              <a:rPr sz="1600" spc="-5" dirty="0">
                <a:latin typeface="Arial"/>
                <a:cs typeface="Arial"/>
              </a:rPr>
              <a:t>tools</a:t>
            </a:r>
            <a:endParaRPr sz="1600">
              <a:latin typeface="Arial"/>
              <a:cs typeface="Arial"/>
            </a:endParaRPr>
          </a:p>
        </p:txBody>
      </p:sp>
      <p:grpSp>
        <p:nvGrpSpPr>
          <p:cNvPr id="24" name="object 24"/>
          <p:cNvGrpSpPr/>
          <p:nvPr/>
        </p:nvGrpSpPr>
        <p:grpSpPr>
          <a:xfrm>
            <a:off x="1098803" y="4802123"/>
            <a:ext cx="704850" cy="661035"/>
            <a:chOff x="1098803" y="4802123"/>
            <a:chExt cx="704850" cy="661035"/>
          </a:xfrm>
        </p:grpSpPr>
        <p:sp>
          <p:nvSpPr>
            <p:cNvPr id="25" name="object 25"/>
            <p:cNvSpPr/>
            <p:nvPr/>
          </p:nvSpPr>
          <p:spPr>
            <a:xfrm>
              <a:off x="1111376" y="4814696"/>
              <a:ext cx="680085" cy="635635"/>
            </a:xfrm>
            <a:custGeom>
              <a:avLst/>
              <a:gdLst/>
              <a:ahLst/>
              <a:cxnLst/>
              <a:rect l="l" t="t" r="r" b="b"/>
              <a:pathLst>
                <a:path w="680085" h="635635">
                  <a:moveTo>
                    <a:pt x="339852" y="0"/>
                  </a:moveTo>
                  <a:lnTo>
                    <a:pt x="289631" y="3444"/>
                  </a:lnTo>
                  <a:lnTo>
                    <a:pt x="241698" y="13451"/>
                  </a:lnTo>
                  <a:lnTo>
                    <a:pt x="196579" y="29529"/>
                  </a:lnTo>
                  <a:lnTo>
                    <a:pt x="154799" y="51186"/>
                  </a:lnTo>
                  <a:lnTo>
                    <a:pt x="116884" y="77931"/>
                  </a:lnTo>
                  <a:lnTo>
                    <a:pt x="83360" y="109274"/>
                  </a:lnTo>
                  <a:lnTo>
                    <a:pt x="54752" y="144723"/>
                  </a:lnTo>
                  <a:lnTo>
                    <a:pt x="31586" y="183786"/>
                  </a:lnTo>
                  <a:lnTo>
                    <a:pt x="14389" y="225973"/>
                  </a:lnTo>
                  <a:lnTo>
                    <a:pt x="3684" y="270793"/>
                  </a:lnTo>
                  <a:lnTo>
                    <a:pt x="0" y="317753"/>
                  </a:lnTo>
                  <a:lnTo>
                    <a:pt x="3684" y="364714"/>
                  </a:lnTo>
                  <a:lnTo>
                    <a:pt x="14389" y="409534"/>
                  </a:lnTo>
                  <a:lnTo>
                    <a:pt x="31586" y="451721"/>
                  </a:lnTo>
                  <a:lnTo>
                    <a:pt x="54752" y="490784"/>
                  </a:lnTo>
                  <a:lnTo>
                    <a:pt x="83360" y="526233"/>
                  </a:lnTo>
                  <a:lnTo>
                    <a:pt x="116884" y="557576"/>
                  </a:lnTo>
                  <a:lnTo>
                    <a:pt x="154799" y="584321"/>
                  </a:lnTo>
                  <a:lnTo>
                    <a:pt x="196579" y="605978"/>
                  </a:lnTo>
                  <a:lnTo>
                    <a:pt x="241698" y="622056"/>
                  </a:lnTo>
                  <a:lnTo>
                    <a:pt x="289631" y="632063"/>
                  </a:lnTo>
                  <a:lnTo>
                    <a:pt x="339852" y="635507"/>
                  </a:lnTo>
                  <a:lnTo>
                    <a:pt x="390075" y="632063"/>
                  </a:lnTo>
                  <a:lnTo>
                    <a:pt x="438009" y="622056"/>
                  </a:lnTo>
                  <a:lnTo>
                    <a:pt x="483129" y="605978"/>
                  </a:lnTo>
                  <a:lnTo>
                    <a:pt x="524909" y="584321"/>
                  </a:lnTo>
                  <a:lnTo>
                    <a:pt x="562824" y="557576"/>
                  </a:lnTo>
                  <a:lnTo>
                    <a:pt x="596347" y="526233"/>
                  </a:lnTo>
                  <a:lnTo>
                    <a:pt x="624954" y="490784"/>
                  </a:lnTo>
                  <a:lnTo>
                    <a:pt x="648119" y="451721"/>
                  </a:lnTo>
                  <a:lnTo>
                    <a:pt x="665315" y="409534"/>
                  </a:lnTo>
                  <a:lnTo>
                    <a:pt x="676019" y="364714"/>
                  </a:lnTo>
                  <a:lnTo>
                    <a:pt x="679704" y="317753"/>
                  </a:lnTo>
                  <a:lnTo>
                    <a:pt x="676019" y="270793"/>
                  </a:lnTo>
                  <a:lnTo>
                    <a:pt x="665315" y="225973"/>
                  </a:lnTo>
                  <a:lnTo>
                    <a:pt x="648119" y="183786"/>
                  </a:lnTo>
                  <a:lnTo>
                    <a:pt x="624954" y="144723"/>
                  </a:lnTo>
                  <a:lnTo>
                    <a:pt x="596347" y="109274"/>
                  </a:lnTo>
                  <a:lnTo>
                    <a:pt x="562824" y="77931"/>
                  </a:lnTo>
                  <a:lnTo>
                    <a:pt x="524909" y="51186"/>
                  </a:lnTo>
                  <a:lnTo>
                    <a:pt x="483129" y="29529"/>
                  </a:lnTo>
                  <a:lnTo>
                    <a:pt x="438009" y="13451"/>
                  </a:lnTo>
                  <a:lnTo>
                    <a:pt x="390075" y="3444"/>
                  </a:lnTo>
                  <a:lnTo>
                    <a:pt x="339852" y="0"/>
                  </a:lnTo>
                  <a:close/>
                </a:path>
              </a:pathLst>
            </a:custGeom>
            <a:solidFill>
              <a:srgbClr val="FFFFFF"/>
            </a:solidFill>
          </p:spPr>
          <p:txBody>
            <a:bodyPr wrap="square" lIns="0" tIns="0" rIns="0" bIns="0" rtlCol="0"/>
            <a:lstStyle/>
            <a:p>
              <a:endParaRPr/>
            </a:p>
          </p:txBody>
        </p:sp>
        <p:sp>
          <p:nvSpPr>
            <p:cNvPr id="26" name="object 26"/>
            <p:cNvSpPr/>
            <p:nvPr/>
          </p:nvSpPr>
          <p:spPr>
            <a:xfrm>
              <a:off x="1111376" y="4814696"/>
              <a:ext cx="680085" cy="635635"/>
            </a:xfrm>
            <a:custGeom>
              <a:avLst/>
              <a:gdLst/>
              <a:ahLst/>
              <a:cxnLst/>
              <a:rect l="l" t="t" r="r" b="b"/>
              <a:pathLst>
                <a:path w="680085" h="635635">
                  <a:moveTo>
                    <a:pt x="0" y="317753"/>
                  </a:moveTo>
                  <a:lnTo>
                    <a:pt x="3684" y="270793"/>
                  </a:lnTo>
                  <a:lnTo>
                    <a:pt x="14389" y="225973"/>
                  </a:lnTo>
                  <a:lnTo>
                    <a:pt x="31586" y="183786"/>
                  </a:lnTo>
                  <a:lnTo>
                    <a:pt x="54752" y="144723"/>
                  </a:lnTo>
                  <a:lnTo>
                    <a:pt x="83360" y="109274"/>
                  </a:lnTo>
                  <a:lnTo>
                    <a:pt x="116884" y="77931"/>
                  </a:lnTo>
                  <a:lnTo>
                    <a:pt x="154799" y="51186"/>
                  </a:lnTo>
                  <a:lnTo>
                    <a:pt x="196579" y="29529"/>
                  </a:lnTo>
                  <a:lnTo>
                    <a:pt x="241698" y="13451"/>
                  </a:lnTo>
                  <a:lnTo>
                    <a:pt x="289631" y="3444"/>
                  </a:lnTo>
                  <a:lnTo>
                    <a:pt x="339852" y="0"/>
                  </a:lnTo>
                  <a:lnTo>
                    <a:pt x="390075" y="3444"/>
                  </a:lnTo>
                  <a:lnTo>
                    <a:pt x="438009" y="13451"/>
                  </a:lnTo>
                  <a:lnTo>
                    <a:pt x="483129" y="29529"/>
                  </a:lnTo>
                  <a:lnTo>
                    <a:pt x="524909" y="51186"/>
                  </a:lnTo>
                  <a:lnTo>
                    <a:pt x="562824" y="77931"/>
                  </a:lnTo>
                  <a:lnTo>
                    <a:pt x="596347" y="109274"/>
                  </a:lnTo>
                  <a:lnTo>
                    <a:pt x="624954" y="144723"/>
                  </a:lnTo>
                  <a:lnTo>
                    <a:pt x="648119" y="183786"/>
                  </a:lnTo>
                  <a:lnTo>
                    <a:pt x="665315" y="225973"/>
                  </a:lnTo>
                  <a:lnTo>
                    <a:pt x="676019" y="270793"/>
                  </a:lnTo>
                  <a:lnTo>
                    <a:pt x="679704" y="317753"/>
                  </a:lnTo>
                  <a:lnTo>
                    <a:pt x="676019" y="364714"/>
                  </a:lnTo>
                  <a:lnTo>
                    <a:pt x="665315" y="409534"/>
                  </a:lnTo>
                  <a:lnTo>
                    <a:pt x="648119" y="451721"/>
                  </a:lnTo>
                  <a:lnTo>
                    <a:pt x="624954" y="490784"/>
                  </a:lnTo>
                  <a:lnTo>
                    <a:pt x="596347" y="526233"/>
                  </a:lnTo>
                  <a:lnTo>
                    <a:pt x="562824" y="557576"/>
                  </a:lnTo>
                  <a:lnTo>
                    <a:pt x="524909" y="584321"/>
                  </a:lnTo>
                  <a:lnTo>
                    <a:pt x="483129" y="605978"/>
                  </a:lnTo>
                  <a:lnTo>
                    <a:pt x="438009" y="622056"/>
                  </a:lnTo>
                  <a:lnTo>
                    <a:pt x="390075" y="632063"/>
                  </a:lnTo>
                  <a:lnTo>
                    <a:pt x="339852" y="635507"/>
                  </a:lnTo>
                  <a:lnTo>
                    <a:pt x="289631" y="632063"/>
                  </a:lnTo>
                  <a:lnTo>
                    <a:pt x="241698" y="622056"/>
                  </a:lnTo>
                  <a:lnTo>
                    <a:pt x="196579" y="605978"/>
                  </a:lnTo>
                  <a:lnTo>
                    <a:pt x="154799" y="584321"/>
                  </a:lnTo>
                  <a:lnTo>
                    <a:pt x="116884" y="557576"/>
                  </a:lnTo>
                  <a:lnTo>
                    <a:pt x="83360" y="526233"/>
                  </a:lnTo>
                  <a:lnTo>
                    <a:pt x="54752" y="490784"/>
                  </a:lnTo>
                  <a:lnTo>
                    <a:pt x="31586" y="451721"/>
                  </a:lnTo>
                  <a:lnTo>
                    <a:pt x="14389" y="409534"/>
                  </a:lnTo>
                  <a:lnTo>
                    <a:pt x="3684" y="364714"/>
                  </a:lnTo>
                  <a:lnTo>
                    <a:pt x="0" y="317753"/>
                  </a:lnTo>
                  <a:close/>
                </a:path>
              </a:pathLst>
            </a:custGeom>
            <a:ln w="25145">
              <a:solidFill>
                <a:srgbClr val="F79546"/>
              </a:solidFill>
            </a:ln>
          </p:spPr>
          <p:txBody>
            <a:bodyPr wrap="square" lIns="0" tIns="0" rIns="0" bIns="0" rtlCol="0"/>
            <a:lstStyle/>
            <a:p>
              <a:endParaRPr/>
            </a:p>
          </p:txBody>
        </p:sp>
      </p:grpSp>
      <p:sp>
        <p:nvSpPr>
          <p:cNvPr id="27" name="object 27"/>
          <p:cNvSpPr txBox="1">
            <a:spLocks noGrp="1"/>
          </p:cNvSpPr>
          <p:nvPr>
            <p:ph type="title"/>
          </p:nvPr>
        </p:nvSpPr>
        <p:spPr>
          <a:xfrm>
            <a:off x="383540" y="15493"/>
            <a:ext cx="6156325" cy="635635"/>
          </a:xfrm>
          <a:prstGeom prst="rect">
            <a:avLst/>
          </a:prstGeom>
        </p:spPr>
        <p:txBody>
          <a:bodyPr vert="horz" wrap="square" lIns="0" tIns="12700" rIns="0" bIns="0" rtlCol="0">
            <a:spAutoFit/>
          </a:bodyPr>
          <a:lstStyle/>
          <a:p>
            <a:pPr marL="12700">
              <a:lnSpc>
                <a:spcPct val="100000"/>
              </a:lnSpc>
              <a:spcBef>
                <a:spcPts val="100"/>
              </a:spcBef>
            </a:pPr>
            <a:r>
              <a:rPr sz="4000" b="0" spc="5" dirty="0">
                <a:latin typeface="Arial"/>
                <a:cs typeface="Arial"/>
              </a:rPr>
              <a:t>Understanding </a:t>
            </a:r>
            <a:r>
              <a:rPr sz="4000" b="0" spc="-195" dirty="0">
                <a:latin typeface="Arial"/>
                <a:cs typeface="Arial"/>
              </a:rPr>
              <a:t>PolyBase</a:t>
            </a:r>
            <a:r>
              <a:rPr sz="4000" b="0" spc="-575" dirty="0">
                <a:latin typeface="Arial"/>
                <a:cs typeface="Arial"/>
              </a:rPr>
              <a:t> </a:t>
            </a:r>
            <a:r>
              <a:rPr sz="4000" b="0" spc="-229" dirty="0">
                <a:latin typeface="Arial"/>
                <a:cs typeface="Arial"/>
              </a:rPr>
              <a:t>2-2</a:t>
            </a:r>
            <a:endParaRPr sz="4000">
              <a:latin typeface="Arial"/>
              <a:cs typeface="Arial"/>
            </a:endParaRPr>
          </a:p>
        </p:txBody>
      </p:sp>
      <p:sp>
        <p:nvSpPr>
          <p:cNvPr id="29" name="object 2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4</a:t>
            </a:fld>
            <a:endParaRPr sz="1200"/>
          </a:p>
        </p:txBody>
      </p:sp>
      <p:sp>
        <p:nvSpPr>
          <p:cNvPr id="30" name="object 3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2777" y="0"/>
            <a:ext cx="5583555" cy="635635"/>
          </a:xfrm>
          <a:prstGeom prst="rect">
            <a:avLst/>
          </a:prstGeom>
        </p:spPr>
        <p:txBody>
          <a:bodyPr vert="horz" wrap="square" lIns="0" tIns="12700" rIns="0" bIns="0" rtlCol="0">
            <a:spAutoFit/>
          </a:bodyPr>
          <a:lstStyle/>
          <a:p>
            <a:pPr marL="12700">
              <a:lnSpc>
                <a:spcPct val="100000"/>
              </a:lnSpc>
              <a:spcBef>
                <a:spcPts val="100"/>
              </a:spcBef>
            </a:pPr>
            <a:r>
              <a:rPr sz="4000" spc="-195" dirty="0">
                <a:solidFill>
                  <a:srgbClr val="FFFFFF"/>
                </a:solidFill>
                <a:latin typeface="Arial"/>
                <a:cs typeface="Arial"/>
              </a:rPr>
              <a:t>PolyBase </a:t>
            </a:r>
            <a:r>
              <a:rPr sz="4000" spc="65" dirty="0">
                <a:solidFill>
                  <a:srgbClr val="FFFFFF"/>
                </a:solidFill>
                <a:latin typeface="Arial"/>
                <a:cs typeface="Arial"/>
              </a:rPr>
              <a:t>Architecture</a:t>
            </a:r>
            <a:r>
              <a:rPr sz="4000" spc="-415" dirty="0">
                <a:solidFill>
                  <a:srgbClr val="FFFFFF"/>
                </a:solidFill>
                <a:latin typeface="Arial"/>
                <a:cs typeface="Arial"/>
              </a:rPr>
              <a:t> </a:t>
            </a:r>
            <a:r>
              <a:rPr sz="4000" spc="-400" dirty="0">
                <a:solidFill>
                  <a:srgbClr val="FFFFFF"/>
                </a:solidFill>
                <a:latin typeface="Arial"/>
                <a:cs typeface="Arial"/>
              </a:rPr>
              <a:t>1-2</a:t>
            </a:r>
            <a:endParaRPr sz="4000">
              <a:latin typeface="Arial"/>
              <a:cs typeface="Arial"/>
            </a:endParaRPr>
          </a:p>
        </p:txBody>
      </p:sp>
      <p:sp>
        <p:nvSpPr>
          <p:cNvPr id="3" name="object 3"/>
          <p:cNvSpPr txBox="1"/>
          <p:nvPr/>
        </p:nvSpPr>
        <p:spPr>
          <a:xfrm>
            <a:off x="303784" y="823975"/>
            <a:ext cx="8762365" cy="757555"/>
          </a:xfrm>
          <a:prstGeom prst="rect">
            <a:avLst/>
          </a:prstGeom>
        </p:spPr>
        <p:txBody>
          <a:bodyPr vert="horz" wrap="square" lIns="0" tIns="12700" rIns="0" bIns="0" rtlCol="0">
            <a:spAutoFit/>
          </a:bodyPr>
          <a:lstStyle/>
          <a:p>
            <a:pPr marL="12700" marR="5080">
              <a:lnSpc>
                <a:spcPct val="100000"/>
              </a:lnSpc>
              <a:spcBef>
                <a:spcPts val="100"/>
              </a:spcBef>
              <a:tabLst>
                <a:tab pos="1947545" algn="l"/>
                <a:tab pos="2465705" algn="l"/>
                <a:tab pos="3883025" algn="l"/>
                <a:tab pos="4570095" algn="l"/>
                <a:tab pos="5497830" algn="l"/>
                <a:tab pos="7171690" algn="l"/>
                <a:tab pos="7691755" algn="l"/>
              </a:tabLst>
            </a:pPr>
            <a:r>
              <a:rPr sz="2400" spc="114" dirty="0">
                <a:latin typeface="Arial"/>
                <a:cs typeface="Arial"/>
              </a:rPr>
              <a:t>Archit</a:t>
            </a:r>
            <a:r>
              <a:rPr sz="2400" spc="-40" dirty="0">
                <a:latin typeface="Arial"/>
                <a:cs typeface="Arial"/>
              </a:rPr>
              <a:t>ecture	</a:t>
            </a:r>
            <a:r>
              <a:rPr sz="2400" spc="70" dirty="0">
                <a:latin typeface="Arial"/>
                <a:cs typeface="Arial"/>
              </a:rPr>
              <a:t>of	</a:t>
            </a:r>
            <a:r>
              <a:rPr sz="2400" spc="-114" dirty="0">
                <a:latin typeface="Arial"/>
                <a:cs typeface="Arial"/>
              </a:rPr>
              <a:t>PolyBase	</a:t>
            </a:r>
            <a:r>
              <a:rPr sz="2400" spc="-140" dirty="0">
                <a:latin typeface="Arial"/>
                <a:cs typeface="Arial"/>
              </a:rPr>
              <a:t>has	</a:t>
            </a:r>
            <a:r>
              <a:rPr sz="2400" spc="-130" dirty="0">
                <a:latin typeface="Arial"/>
                <a:cs typeface="Arial"/>
              </a:rPr>
              <a:t>some	</a:t>
            </a:r>
            <a:r>
              <a:rPr sz="2400" spc="5" dirty="0">
                <a:latin typeface="Arial"/>
                <a:cs typeface="Arial"/>
              </a:rPr>
              <a:t>simi</a:t>
            </a:r>
            <a:r>
              <a:rPr sz="2400" spc="135" dirty="0">
                <a:latin typeface="Arial"/>
                <a:cs typeface="Arial"/>
              </a:rPr>
              <a:t>l</a:t>
            </a:r>
            <a:r>
              <a:rPr sz="2400" spc="45" dirty="0">
                <a:latin typeface="Arial"/>
                <a:cs typeface="Arial"/>
              </a:rPr>
              <a:t>ari</a:t>
            </a:r>
            <a:r>
              <a:rPr sz="2400" spc="40" dirty="0">
                <a:latin typeface="Arial"/>
                <a:cs typeface="Arial"/>
              </a:rPr>
              <a:t>t</a:t>
            </a:r>
            <a:r>
              <a:rPr sz="2400" spc="-110" dirty="0">
                <a:latin typeface="Arial"/>
                <a:cs typeface="Arial"/>
              </a:rPr>
              <a:t>ies</a:t>
            </a:r>
            <a:r>
              <a:rPr sz="2400" dirty="0">
                <a:latin typeface="Arial"/>
                <a:cs typeface="Arial"/>
              </a:rPr>
              <a:t>	</a:t>
            </a:r>
            <a:r>
              <a:rPr sz="2400" spc="65" dirty="0">
                <a:latin typeface="Arial"/>
                <a:cs typeface="Arial"/>
              </a:rPr>
              <a:t>to</a:t>
            </a:r>
            <a:r>
              <a:rPr sz="2400" dirty="0">
                <a:latin typeface="Arial"/>
                <a:cs typeface="Arial"/>
              </a:rPr>
              <a:t>	</a:t>
            </a:r>
            <a:r>
              <a:rPr sz="2400" spc="-15" dirty="0">
                <a:latin typeface="Arial"/>
                <a:cs typeface="Arial"/>
              </a:rPr>
              <a:t>Hadoop  architecture.</a:t>
            </a:r>
            <a:endParaRPr sz="2400">
              <a:latin typeface="Arial"/>
              <a:cs typeface="Arial"/>
            </a:endParaRPr>
          </a:p>
        </p:txBody>
      </p:sp>
      <p:pic>
        <p:nvPicPr>
          <p:cNvPr id="4" name="object 4"/>
          <p:cNvPicPr/>
          <p:nvPr/>
        </p:nvPicPr>
        <p:blipFill>
          <a:blip r:embed="rId3" cstate="print"/>
          <a:stretch>
            <a:fillRect/>
          </a:stretch>
        </p:blipFill>
        <p:spPr>
          <a:xfrm>
            <a:off x="224790" y="1751076"/>
            <a:ext cx="8577833" cy="3777234"/>
          </a:xfrm>
          <a:prstGeom prst="rect">
            <a:avLst/>
          </a:prstGeom>
        </p:spPr>
      </p:pic>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5</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881" y="35813"/>
            <a:ext cx="5081270" cy="574675"/>
          </a:xfrm>
          <a:prstGeom prst="rect">
            <a:avLst/>
          </a:prstGeom>
        </p:spPr>
        <p:txBody>
          <a:bodyPr vert="horz" wrap="square" lIns="0" tIns="12700" rIns="0" bIns="0" rtlCol="0">
            <a:spAutoFit/>
          </a:bodyPr>
          <a:lstStyle/>
          <a:p>
            <a:pPr marL="12700">
              <a:lnSpc>
                <a:spcPct val="100000"/>
              </a:lnSpc>
              <a:spcBef>
                <a:spcPts val="100"/>
              </a:spcBef>
            </a:pPr>
            <a:r>
              <a:rPr b="0" spc="-175" dirty="0">
                <a:latin typeface="Arial"/>
                <a:cs typeface="Arial"/>
              </a:rPr>
              <a:t>PolyBase </a:t>
            </a:r>
            <a:r>
              <a:rPr b="0" spc="55" dirty="0">
                <a:latin typeface="Arial"/>
                <a:cs typeface="Arial"/>
              </a:rPr>
              <a:t>Architecture</a:t>
            </a:r>
            <a:r>
              <a:rPr b="0" spc="-395" dirty="0">
                <a:latin typeface="Arial"/>
                <a:cs typeface="Arial"/>
              </a:rPr>
              <a:t> </a:t>
            </a:r>
            <a:r>
              <a:rPr b="0" spc="-204" dirty="0">
                <a:latin typeface="Arial"/>
                <a:cs typeface="Arial"/>
              </a:rPr>
              <a:t>2-2</a:t>
            </a:r>
          </a:p>
        </p:txBody>
      </p:sp>
      <p:pic>
        <p:nvPicPr>
          <p:cNvPr id="3" name="object 3"/>
          <p:cNvPicPr/>
          <p:nvPr/>
        </p:nvPicPr>
        <p:blipFill>
          <a:blip r:embed="rId3" cstate="print"/>
          <a:stretch>
            <a:fillRect/>
          </a:stretch>
        </p:blipFill>
        <p:spPr>
          <a:xfrm>
            <a:off x="0" y="762000"/>
            <a:ext cx="9144000" cy="5514447"/>
          </a:xfrm>
          <a:prstGeom prst="rect">
            <a:avLst/>
          </a:prstGeom>
        </p:spPr>
      </p:pic>
      <p:sp>
        <p:nvSpPr>
          <p:cNvPr id="4" name="object 4"/>
          <p:cNvSpPr txBox="1"/>
          <p:nvPr/>
        </p:nvSpPr>
        <p:spPr>
          <a:xfrm>
            <a:off x="3962400" y="6308579"/>
            <a:ext cx="1702435" cy="238760"/>
          </a:xfrm>
          <a:prstGeom prst="rect">
            <a:avLst/>
          </a:prstGeom>
        </p:spPr>
        <p:txBody>
          <a:bodyPr vert="horz" wrap="square" lIns="0" tIns="12700" rIns="0" bIns="0" rtlCol="0">
            <a:spAutoFit/>
          </a:bodyPr>
          <a:lstStyle/>
          <a:p>
            <a:pPr marL="12700">
              <a:lnSpc>
                <a:spcPct val="100000"/>
              </a:lnSpc>
              <a:spcBef>
                <a:spcPts val="100"/>
              </a:spcBef>
            </a:pPr>
            <a:r>
              <a:rPr sz="1400" b="1" spc="-20" dirty="0">
                <a:latin typeface="Times New Roman"/>
                <a:cs typeface="Times New Roman"/>
              </a:rPr>
              <a:t>PolyBase</a:t>
            </a:r>
            <a:r>
              <a:rPr sz="1400" b="1" spc="-114" dirty="0">
                <a:latin typeface="Times New Roman"/>
                <a:cs typeface="Times New Roman"/>
              </a:rPr>
              <a:t> </a:t>
            </a:r>
            <a:r>
              <a:rPr sz="1400" b="1" spc="-5" dirty="0">
                <a:latin typeface="Times New Roman"/>
                <a:cs typeface="Times New Roman"/>
              </a:rPr>
              <a:t>Architecture</a:t>
            </a:r>
            <a:endParaRPr sz="14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6</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6090" y="72135"/>
            <a:ext cx="8192134" cy="574040"/>
          </a:xfrm>
          <a:prstGeom prst="rect">
            <a:avLst/>
          </a:prstGeom>
        </p:spPr>
        <p:txBody>
          <a:bodyPr vert="horz" wrap="square" lIns="0" tIns="12700" rIns="0" bIns="0" rtlCol="0">
            <a:spAutoFit/>
          </a:bodyPr>
          <a:lstStyle/>
          <a:p>
            <a:pPr marL="12700">
              <a:lnSpc>
                <a:spcPct val="100000"/>
              </a:lnSpc>
              <a:spcBef>
                <a:spcPts val="100"/>
              </a:spcBef>
            </a:pPr>
            <a:r>
              <a:rPr b="0" spc="30" dirty="0">
                <a:latin typeface="Arial"/>
                <a:cs typeface="Arial"/>
              </a:rPr>
              <a:t>Installing</a:t>
            </a:r>
            <a:r>
              <a:rPr b="0" spc="-254" dirty="0">
                <a:latin typeface="Arial"/>
                <a:cs typeface="Arial"/>
              </a:rPr>
              <a:t> </a:t>
            </a:r>
            <a:r>
              <a:rPr b="0" spc="-175" dirty="0">
                <a:latin typeface="Arial"/>
                <a:cs typeface="Arial"/>
              </a:rPr>
              <a:t>PolyBase</a:t>
            </a:r>
            <a:r>
              <a:rPr b="0" spc="-260" dirty="0">
                <a:latin typeface="Arial"/>
                <a:cs typeface="Arial"/>
              </a:rPr>
              <a:t> </a:t>
            </a:r>
            <a:r>
              <a:rPr b="0" spc="170" dirty="0">
                <a:latin typeface="Arial"/>
                <a:cs typeface="Arial"/>
              </a:rPr>
              <a:t>in</a:t>
            </a:r>
            <a:r>
              <a:rPr b="0" spc="-235" dirty="0">
                <a:latin typeface="Arial"/>
                <a:cs typeface="Arial"/>
              </a:rPr>
              <a:t> </a:t>
            </a:r>
            <a:r>
              <a:rPr b="0" spc="40" dirty="0">
                <a:latin typeface="Arial"/>
                <a:cs typeface="Arial"/>
              </a:rPr>
              <a:t>SQL</a:t>
            </a:r>
            <a:r>
              <a:rPr b="0" spc="-235" dirty="0">
                <a:latin typeface="Arial"/>
                <a:cs typeface="Arial"/>
              </a:rPr>
              <a:t> </a:t>
            </a:r>
            <a:r>
              <a:rPr b="0" spc="-90" dirty="0">
                <a:latin typeface="Arial"/>
                <a:cs typeface="Arial"/>
              </a:rPr>
              <a:t>Server</a:t>
            </a:r>
            <a:r>
              <a:rPr b="0" spc="-245" dirty="0">
                <a:latin typeface="Arial"/>
                <a:cs typeface="Arial"/>
              </a:rPr>
              <a:t> </a:t>
            </a:r>
            <a:r>
              <a:rPr b="0" spc="-365" dirty="0">
                <a:latin typeface="Arial"/>
                <a:cs typeface="Arial"/>
              </a:rPr>
              <a:t>2019</a:t>
            </a:r>
            <a:r>
              <a:rPr b="0" spc="-235" dirty="0">
                <a:latin typeface="Arial"/>
                <a:cs typeface="Arial"/>
              </a:rPr>
              <a:t> </a:t>
            </a:r>
            <a:r>
              <a:rPr b="0" spc="-315" dirty="0">
                <a:latin typeface="Arial"/>
                <a:cs typeface="Arial"/>
              </a:rPr>
              <a:t>1-4</a:t>
            </a:r>
          </a:p>
        </p:txBody>
      </p:sp>
      <p:sp>
        <p:nvSpPr>
          <p:cNvPr id="3" name="object 3"/>
          <p:cNvSpPr txBox="1"/>
          <p:nvPr/>
        </p:nvSpPr>
        <p:spPr>
          <a:xfrm>
            <a:off x="342645" y="981201"/>
            <a:ext cx="7600315" cy="330200"/>
          </a:xfrm>
          <a:prstGeom prst="rect">
            <a:avLst/>
          </a:prstGeom>
        </p:spPr>
        <p:txBody>
          <a:bodyPr vert="horz" wrap="square" lIns="0" tIns="12065" rIns="0" bIns="0" rtlCol="0">
            <a:spAutoFit/>
          </a:bodyPr>
          <a:lstStyle/>
          <a:p>
            <a:pPr marL="12700">
              <a:lnSpc>
                <a:spcPct val="100000"/>
              </a:lnSpc>
              <a:spcBef>
                <a:spcPts val="95"/>
              </a:spcBef>
            </a:pPr>
            <a:r>
              <a:rPr sz="2000" spc="20" dirty="0">
                <a:latin typeface="Arial"/>
                <a:cs typeface="Arial"/>
              </a:rPr>
              <a:t>Following</a:t>
            </a:r>
            <a:r>
              <a:rPr sz="2000" spc="-105" dirty="0">
                <a:latin typeface="Arial"/>
                <a:cs typeface="Arial"/>
              </a:rPr>
              <a:t> </a:t>
            </a:r>
            <a:r>
              <a:rPr sz="2000" spc="-100" dirty="0">
                <a:latin typeface="Arial"/>
                <a:cs typeface="Arial"/>
              </a:rPr>
              <a:t>are</a:t>
            </a:r>
            <a:r>
              <a:rPr sz="2000" spc="-125" dirty="0">
                <a:latin typeface="Arial"/>
                <a:cs typeface="Arial"/>
              </a:rPr>
              <a:t> </a:t>
            </a:r>
            <a:r>
              <a:rPr sz="2000" dirty="0">
                <a:latin typeface="Arial"/>
                <a:cs typeface="Arial"/>
              </a:rPr>
              <a:t>the</a:t>
            </a:r>
            <a:r>
              <a:rPr sz="2000" spc="-130" dirty="0">
                <a:latin typeface="Arial"/>
                <a:cs typeface="Arial"/>
              </a:rPr>
              <a:t> </a:t>
            </a:r>
            <a:r>
              <a:rPr sz="2000" spc="-15" dirty="0">
                <a:latin typeface="Arial"/>
                <a:cs typeface="Arial"/>
              </a:rPr>
              <a:t>pre-requisite</a:t>
            </a:r>
            <a:r>
              <a:rPr sz="2000" spc="-125" dirty="0">
                <a:latin typeface="Arial"/>
                <a:cs typeface="Arial"/>
              </a:rPr>
              <a:t> </a:t>
            </a:r>
            <a:r>
              <a:rPr sz="2000" spc="50" dirty="0">
                <a:latin typeface="Arial"/>
                <a:cs typeface="Arial"/>
              </a:rPr>
              <a:t>to</a:t>
            </a:r>
            <a:r>
              <a:rPr sz="2000" spc="-120" dirty="0">
                <a:latin typeface="Arial"/>
                <a:cs typeface="Arial"/>
              </a:rPr>
              <a:t> </a:t>
            </a:r>
            <a:r>
              <a:rPr sz="2000" spc="20" dirty="0">
                <a:latin typeface="Arial"/>
                <a:cs typeface="Arial"/>
              </a:rPr>
              <a:t>install</a:t>
            </a:r>
            <a:r>
              <a:rPr sz="2000" spc="-120" dirty="0">
                <a:latin typeface="Arial"/>
                <a:cs typeface="Arial"/>
              </a:rPr>
              <a:t> </a:t>
            </a:r>
            <a:r>
              <a:rPr sz="2000" spc="-100" dirty="0">
                <a:latin typeface="Arial"/>
                <a:cs typeface="Arial"/>
              </a:rPr>
              <a:t>PolyBase</a:t>
            </a:r>
            <a:r>
              <a:rPr sz="2000" spc="-105" dirty="0">
                <a:latin typeface="Arial"/>
                <a:cs typeface="Arial"/>
              </a:rPr>
              <a:t> </a:t>
            </a:r>
            <a:r>
              <a:rPr sz="2000" spc="95" dirty="0">
                <a:latin typeface="Arial"/>
                <a:cs typeface="Arial"/>
              </a:rPr>
              <a:t>in</a:t>
            </a:r>
            <a:r>
              <a:rPr sz="2000" spc="-130" dirty="0">
                <a:latin typeface="Arial"/>
                <a:cs typeface="Arial"/>
              </a:rPr>
              <a:t> </a:t>
            </a:r>
            <a:r>
              <a:rPr sz="2000" spc="20" dirty="0">
                <a:latin typeface="Arial"/>
                <a:cs typeface="Arial"/>
              </a:rPr>
              <a:t>SQL</a:t>
            </a:r>
            <a:r>
              <a:rPr sz="2000" spc="-140" dirty="0">
                <a:latin typeface="Arial"/>
                <a:cs typeface="Arial"/>
              </a:rPr>
              <a:t> </a:t>
            </a:r>
            <a:r>
              <a:rPr sz="2000" spc="-50" dirty="0">
                <a:latin typeface="Arial"/>
                <a:cs typeface="Arial"/>
              </a:rPr>
              <a:t>Server</a:t>
            </a:r>
            <a:r>
              <a:rPr sz="2000" spc="-114" dirty="0">
                <a:latin typeface="Arial"/>
                <a:cs typeface="Arial"/>
              </a:rPr>
              <a:t> </a:t>
            </a:r>
            <a:r>
              <a:rPr sz="2000" spc="-170" dirty="0">
                <a:latin typeface="Arial"/>
                <a:cs typeface="Arial"/>
              </a:rPr>
              <a:t>2019:</a:t>
            </a:r>
            <a:endParaRPr sz="2000">
              <a:latin typeface="Arial"/>
              <a:cs typeface="Arial"/>
            </a:endParaRPr>
          </a:p>
        </p:txBody>
      </p:sp>
      <p:sp>
        <p:nvSpPr>
          <p:cNvPr id="4" name="object 4"/>
          <p:cNvSpPr txBox="1"/>
          <p:nvPr/>
        </p:nvSpPr>
        <p:spPr>
          <a:xfrm>
            <a:off x="266700" y="1786889"/>
            <a:ext cx="1327785" cy="2150745"/>
          </a:xfrm>
          <a:prstGeom prst="rect">
            <a:avLst/>
          </a:prstGeom>
          <a:solidFill>
            <a:srgbClr val="4AACC5"/>
          </a:solidFill>
        </p:spPr>
        <p:txBody>
          <a:bodyPr vert="horz" wrap="square" lIns="0" tIns="0" rIns="0" bIns="0" rtlCol="0">
            <a:spAutoFit/>
          </a:bodyPr>
          <a:lstStyle/>
          <a:p>
            <a:pPr>
              <a:lnSpc>
                <a:spcPct val="100000"/>
              </a:lnSpc>
            </a:pPr>
            <a:endParaRPr sz="2300">
              <a:latin typeface="Times New Roman"/>
              <a:cs typeface="Times New Roman"/>
            </a:endParaRPr>
          </a:p>
          <a:p>
            <a:pPr marL="178435" marR="170180" algn="ctr">
              <a:lnSpc>
                <a:spcPct val="91400"/>
              </a:lnSpc>
              <a:spcBef>
                <a:spcPts val="2045"/>
              </a:spcBef>
            </a:pPr>
            <a:r>
              <a:rPr sz="1600" dirty="0">
                <a:latin typeface="Arial"/>
                <a:cs typeface="Arial"/>
              </a:rPr>
              <a:t>64-bit</a:t>
            </a:r>
            <a:r>
              <a:rPr sz="1600" spc="-175" dirty="0">
                <a:latin typeface="Arial"/>
                <a:cs typeface="Arial"/>
              </a:rPr>
              <a:t> </a:t>
            </a:r>
            <a:r>
              <a:rPr sz="1600" spc="20" dirty="0">
                <a:latin typeface="Arial"/>
                <a:cs typeface="Arial"/>
              </a:rPr>
              <a:t>SQL  </a:t>
            </a:r>
            <a:r>
              <a:rPr sz="1600" spc="-40" dirty="0">
                <a:latin typeface="Arial"/>
                <a:cs typeface="Arial"/>
              </a:rPr>
              <a:t>Server  </a:t>
            </a:r>
            <a:r>
              <a:rPr sz="1600" dirty="0">
                <a:latin typeface="Arial"/>
                <a:cs typeface="Arial"/>
              </a:rPr>
              <a:t>Evaluation  </a:t>
            </a:r>
            <a:r>
              <a:rPr sz="1600" spc="20" dirty="0">
                <a:latin typeface="Arial"/>
                <a:cs typeface="Arial"/>
              </a:rPr>
              <a:t>edition.</a:t>
            </a:r>
            <a:endParaRPr sz="1600">
              <a:latin typeface="Arial"/>
              <a:cs typeface="Arial"/>
            </a:endParaRPr>
          </a:p>
        </p:txBody>
      </p:sp>
      <p:sp>
        <p:nvSpPr>
          <p:cNvPr id="5" name="object 5"/>
          <p:cNvSpPr txBox="1"/>
          <p:nvPr/>
        </p:nvSpPr>
        <p:spPr>
          <a:xfrm>
            <a:off x="1751838" y="1786889"/>
            <a:ext cx="1327785" cy="2150745"/>
          </a:xfrm>
          <a:prstGeom prst="rect">
            <a:avLst/>
          </a:prstGeom>
          <a:solidFill>
            <a:srgbClr val="48D1A2"/>
          </a:solidFill>
        </p:spPr>
        <p:txBody>
          <a:bodyPr vert="horz" wrap="square" lIns="0" tIns="0" rIns="0" bIns="0" rtlCol="0">
            <a:spAutoFit/>
          </a:bodyPr>
          <a:lstStyle/>
          <a:p>
            <a:pPr>
              <a:lnSpc>
                <a:spcPct val="100000"/>
              </a:lnSpc>
            </a:pPr>
            <a:endParaRPr sz="2300">
              <a:latin typeface="Times New Roman"/>
              <a:cs typeface="Times New Roman"/>
            </a:endParaRPr>
          </a:p>
          <a:p>
            <a:pPr algn="ctr">
              <a:lnSpc>
                <a:spcPts val="1825"/>
              </a:lnSpc>
              <a:spcBef>
                <a:spcPts val="1880"/>
              </a:spcBef>
            </a:pPr>
            <a:r>
              <a:rPr sz="1600" spc="25" dirty="0">
                <a:latin typeface="Arial"/>
                <a:cs typeface="Arial"/>
              </a:rPr>
              <a:t>Microsoft</a:t>
            </a:r>
            <a:endParaRPr sz="1600">
              <a:latin typeface="Arial"/>
              <a:cs typeface="Arial"/>
            </a:endParaRPr>
          </a:p>
          <a:p>
            <a:pPr algn="ctr">
              <a:lnSpc>
                <a:spcPts val="1730"/>
              </a:lnSpc>
            </a:pPr>
            <a:r>
              <a:rPr sz="1600" spc="30" dirty="0">
                <a:latin typeface="Arial"/>
                <a:cs typeface="Arial"/>
              </a:rPr>
              <a:t>.NET</a:t>
            </a:r>
            <a:endParaRPr sz="1600">
              <a:latin typeface="Arial"/>
              <a:cs typeface="Arial"/>
            </a:endParaRPr>
          </a:p>
          <a:p>
            <a:pPr marL="164465" marR="158115" algn="ctr">
              <a:lnSpc>
                <a:spcPts val="1730"/>
              </a:lnSpc>
              <a:spcBef>
                <a:spcPts val="120"/>
              </a:spcBef>
            </a:pPr>
            <a:r>
              <a:rPr sz="1600" spc="-20" dirty="0">
                <a:latin typeface="Arial"/>
                <a:cs typeface="Arial"/>
              </a:rPr>
              <a:t>Framework  </a:t>
            </a:r>
            <a:r>
              <a:rPr sz="1600" spc="-130" dirty="0">
                <a:latin typeface="Arial"/>
                <a:cs typeface="Arial"/>
              </a:rPr>
              <a:t>4.5.</a:t>
            </a:r>
            <a:endParaRPr sz="1600">
              <a:latin typeface="Arial"/>
              <a:cs typeface="Arial"/>
            </a:endParaRPr>
          </a:p>
        </p:txBody>
      </p:sp>
      <p:sp>
        <p:nvSpPr>
          <p:cNvPr id="6" name="object 6"/>
          <p:cNvSpPr txBox="1"/>
          <p:nvPr/>
        </p:nvSpPr>
        <p:spPr>
          <a:xfrm>
            <a:off x="3236214" y="1786889"/>
            <a:ext cx="1328420" cy="2150745"/>
          </a:xfrm>
          <a:prstGeom prst="rect">
            <a:avLst/>
          </a:prstGeom>
          <a:solidFill>
            <a:srgbClr val="46DC56"/>
          </a:solidFill>
        </p:spPr>
        <p:txBody>
          <a:bodyPr vert="horz" wrap="square" lIns="0" tIns="0" rIns="0" bIns="0" rtlCol="0">
            <a:spAutoFit/>
          </a:bodyPr>
          <a:lstStyle/>
          <a:p>
            <a:pPr>
              <a:lnSpc>
                <a:spcPct val="100000"/>
              </a:lnSpc>
            </a:pPr>
            <a:endParaRPr sz="2300">
              <a:latin typeface="Times New Roman"/>
              <a:cs typeface="Times New Roman"/>
            </a:endParaRPr>
          </a:p>
          <a:p>
            <a:pPr>
              <a:lnSpc>
                <a:spcPct val="100000"/>
              </a:lnSpc>
              <a:spcBef>
                <a:spcPts val="25"/>
              </a:spcBef>
            </a:pPr>
            <a:endParaRPr sz="2550">
              <a:latin typeface="Times New Roman"/>
              <a:cs typeface="Times New Roman"/>
            </a:endParaRPr>
          </a:p>
          <a:p>
            <a:pPr marL="203835" marR="196850" algn="ctr">
              <a:lnSpc>
                <a:spcPts val="1730"/>
              </a:lnSpc>
            </a:pPr>
            <a:r>
              <a:rPr sz="1600" spc="55" dirty="0">
                <a:latin typeface="Arial"/>
                <a:cs typeface="Arial"/>
              </a:rPr>
              <a:t>Minimum  </a:t>
            </a:r>
            <a:r>
              <a:rPr sz="1600" spc="-20" dirty="0">
                <a:latin typeface="Arial"/>
                <a:cs typeface="Arial"/>
              </a:rPr>
              <a:t>memory:</a:t>
            </a:r>
            <a:r>
              <a:rPr sz="1600" spc="-195" dirty="0">
                <a:latin typeface="Arial"/>
                <a:cs typeface="Arial"/>
              </a:rPr>
              <a:t> </a:t>
            </a:r>
            <a:r>
              <a:rPr sz="1600" spc="-85" dirty="0">
                <a:latin typeface="Arial"/>
                <a:cs typeface="Arial"/>
              </a:rPr>
              <a:t>4  </a:t>
            </a:r>
            <a:r>
              <a:rPr sz="1600" spc="-15" dirty="0">
                <a:latin typeface="Arial"/>
                <a:cs typeface="Arial"/>
              </a:rPr>
              <a:t>GB.</a:t>
            </a:r>
            <a:endParaRPr sz="1600">
              <a:latin typeface="Arial"/>
              <a:cs typeface="Arial"/>
            </a:endParaRPr>
          </a:p>
        </p:txBody>
      </p:sp>
      <p:sp>
        <p:nvSpPr>
          <p:cNvPr id="7" name="object 7"/>
          <p:cNvSpPr txBox="1"/>
          <p:nvPr/>
        </p:nvSpPr>
        <p:spPr>
          <a:xfrm>
            <a:off x="4721352" y="1786889"/>
            <a:ext cx="1327785" cy="2150745"/>
          </a:xfrm>
          <a:prstGeom prst="rect">
            <a:avLst/>
          </a:prstGeom>
          <a:solidFill>
            <a:srgbClr val="8DE646"/>
          </a:solidFill>
        </p:spPr>
        <p:txBody>
          <a:bodyPr vert="horz" wrap="square" lIns="0" tIns="0" rIns="0" bIns="0" rtlCol="0">
            <a:spAutoFit/>
          </a:bodyPr>
          <a:lstStyle/>
          <a:p>
            <a:pPr>
              <a:lnSpc>
                <a:spcPct val="100000"/>
              </a:lnSpc>
            </a:pPr>
            <a:endParaRPr sz="2300">
              <a:latin typeface="Times New Roman"/>
              <a:cs typeface="Times New Roman"/>
            </a:endParaRPr>
          </a:p>
          <a:p>
            <a:pPr>
              <a:lnSpc>
                <a:spcPct val="100000"/>
              </a:lnSpc>
              <a:spcBef>
                <a:spcPts val="25"/>
              </a:spcBef>
            </a:pPr>
            <a:endParaRPr sz="2550">
              <a:latin typeface="Times New Roman"/>
              <a:cs typeface="Times New Roman"/>
            </a:endParaRPr>
          </a:p>
          <a:p>
            <a:pPr marL="137160" marR="129539" indent="87630" algn="just">
              <a:lnSpc>
                <a:spcPts val="1730"/>
              </a:lnSpc>
            </a:pPr>
            <a:r>
              <a:rPr sz="1600" spc="55" dirty="0">
                <a:latin typeface="Arial"/>
                <a:cs typeface="Arial"/>
              </a:rPr>
              <a:t>Minimum  </a:t>
            </a:r>
            <a:r>
              <a:rPr sz="1600" dirty="0">
                <a:latin typeface="Arial"/>
                <a:cs typeface="Arial"/>
              </a:rPr>
              <a:t>hard-disk  </a:t>
            </a:r>
            <a:r>
              <a:rPr sz="1600" spc="-95" dirty="0">
                <a:latin typeface="Arial"/>
                <a:cs typeface="Arial"/>
              </a:rPr>
              <a:t>space: </a:t>
            </a:r>
            <a:r>
              <a:rPr sz="1600" spc="-145" dirty="0">
                <a:latin typeface="Arial"/>
                <a:cs typeface="Arial"/>
              </a:rPr>
              <a:t>2</a:t>
            </a:r>
            <a:r>
              <a:rPr sz="1600" spc="-210" dirty="0">
                <a:latin typeface="Arial"/>
                <a:cs typeface="Arial"/>
              </a:rPr>
              <a:t> </a:t>
            </a:r>
            <a:r>
              <a:rPr sz="1600" spc="-15" dirty="0">
                <a:latin typeface="Arial"/>
                <a:cs typeface="Arial"/>
              </a:rPr>
              <a:t>GB.</a:t>
            </a:r>
            <a:endParaRPr sz="1600">
              <a:latin typeface="Arial"/>
              <a:cs typeface="Arial"/>
            </a:endParaRPr>
          </a:p>
        </p:txBody>
      </p:sp>
      <p:sp>
        <p:nvSpPr>
          <p:cNvPr id="8" name="object 8"/>
          <p:cNvSpPr txBox="1"/>
          <p:nvPr/>
        </p:nvSpPr>
        <p:spPr>
          <a:xfrm>
            <a:off x="6205728" y="1786889"/>
            <a:ext cx="1328420" cy="2150745"/>
          </a:xfrm>
          <a:prstGeom prst="rect">
            <a:avLst/>
          </a:prstGeom>
          <a:solidFill>
            <a:srgbClr val="EDEE46"/>
          </a:solidFill>
        </p:spPr>
        <p:txBody>
          <a:bodyPr vert="horz" wrap="square" lIns="0" tIns="0" rIns="0" bIns="0" rtlCol="0">
            <a:spAutoFit/>
          </a:bodyPr>
          <a:lstStyle/>
          <a:p>
            <a:pPr>
              <a:lnSpc>
                <a:spcPct val="100000"/>
              </a:lnSpc>
            </a:pPr>
            <a:endParaRPr sz="2300">
              <a:latin typeface="Times New Roman"/>
              <a:cs typeface="Times New Roman"/>
            </a:endParaRPr>
          </a:p>
          <a:p>
            <a:pPr>
              <a:lnSpc>
                <a:spcPct val="100000"/>
              </a:lnSpc>
              <a:spcBef>
                <a:spcPts val="25"/>
              </a:spcBef>
            </a:pPr>
            <a:endParaRPr sz="1800">
              <a:latin typeface="Times New Roman"/>
              <a:cs typeface="Times New Roman"/>
            </a:endParaRPr>
          </a:p>
          <a:p>
            <a:pPr marL="60960" marR="53340" algn="ctr">
              <a:lnSpc>
                <a:spcPts val="1730"/>
              </a:lnSpc>
            </a:pPr>
            <a:r>
              <a:rPr sz="1600" spc="-45" dirty="0">
                <a:latin typeface="Arial"/>
                <a:cs typeface="Arial"/>
              </a:rPr>
              <a:t>Recommende  </a:t>
            </a:r>
            <a:r>
              <a:rPr sz="1600" spc="-10" dirty="0">
                <a:latin typeface="Arial"/>
                <a:cs typeface="Arial"/>
              </a:rPr>
              <a:t>d: </a:t>
            </a:r>
            <a:r>
              <a:rPr sz="1600" spc="55" dirty="0">
                <a:latin typeface="Arial"/>
                <a:cs typeface="Arial"/>
              </a:rPr>
              <a:t>Minimum  </a:t>
            </a:r>
            <a:r>
              <a:rPr sz="1600" spc="45" dirty="0">
                <a:latin typeface="Arial"/>
                <a:cs typeface="Arial"/>
              </a:rPr>
              <a:t>of </a:t>
            </a:r>
            <a:r>
              <a:rPr sz="1600" spc="-220" dirty="0">
                <a:latin typeface="Arial"/>
                <a:cs typeface="Arial"/>
              </a:rPr>
              <a:t>16 </a:t>
            </a:r>
            <a:r>
              <a:rPr sz="1600" dirty="0">
                <a:latin typeface="Arial"/>
                <a:cs typeface="Arial"/>
              </a:rPr>
              <a:t>GB  </a:t>
            </a:r>
            <a:r>
              <a:rPr sz="1600" spc="80" dirty="0">
                <a:latin typeface="Arial"/>
                <a:cs typeface="Arial"/>
              </a:rPr>
              <a:t>RAM.</a:t>
            </a:r>
            <a:endParaRPr sz="1600">
              <a:latin typeface="Arial"/>
              <a:cs typeface="Arial"/>
            </a:endParaRPr>
          </a:p>
        </p:txBody>
      </p:sp>
      <p:grpSp>
        <p:nvGrpSpPr>
          <p:cNvPr id="9" name="object 9"/>
          <p:cNvGrpSpPr/>
          <p:nvPr/>
        </p:nvGrpSpPr>
        <p:grpSpPr>
          <a:xfrm>
            <a:off x="7690866" y="1786889"/>
            <a:ext cx="1327785" cy="2150745"/>
            <a:chOff x="7690866" y="1786889"/>
            <a:chExt cx="1327785" cy="2150745"/>
          </a:xfrm>
        </p:grpSpPr>
        <p:sp>
          <p:nvSpPr>
            <p:cNvPr id="10" name="object 10"/>
            <p:cNvSpPr/>
            <p:nvPr/>
          </p:nvSpPr>
          <p:spPr>
            <a:xfrm>
              <a:off x="7703439" y="1799462"/>
              <a:ext cx="1302385" cy="2125345"/>
            </a:xfrm>
            <a:custGeom>
              <a:avLst/>
              <a:gdLst/>
              <a:ahLst/>
              <a:cxnLst/>
              <a:rect l="l" t="t" r="r" b="b"/>
              <a:pathLst>
                <a:path w="1302384" h="2125345">
                  <a:moveTo>
                    <a:pt x="1302257" y="0"/>
                  </a:moveTo>
                  <a:lnTo>
                    <a:pt x="0" y="0"/>
                  </a:lnTo>
                  <a:lnTo>
                    <a:pt x="0" y="2125218"/>
                  </a:lnTo>
                  <a:lnTo>
                    <a:pt x="1302257" y="2125218"/>
                  </a:lnTo>
                  <a:lnTo>
                    <a:pt x="1302257" y="0"/>
                  </a:lnTo>
                  <a:close/>
                </a:path>
              </a:pathLst>
            </a:custGeom>
            <a:solidFill>
              <a:srgbClr val="F79546"/>
            </a:solidFill>
          </p:spPr>
          <p:txBody>
            <a:bodyPr wrap="square" lIns="0" tIns="0" rIns="0" bIns="0" rtlCol="0"/>
            <a:lstStyle/>
            <a:p>
              <a:endParaRPr/>
            </a:p>
          </p:txBody>
        </p:sp>
        <p:sp>
          <p:nvSpPr>
            <p:cNvPr id="11" name="object 11"/>
            <p:cNvSpPr/>
            <p:nvPr/>
          </p:nvSpPr>
          <p:spPr>
            <a:xfrm>
              <a:off x="7703439" y="1799462"/>
              <a:ext cx="1302385" cy="2125345"/>
            </a:xfrm>
            <a:custGeom>
              <a:avLst/>
              <a:gdLst/>
              <a:ahLst/>
              <a:cxnLst/>
              <a:rect l="l" t="t" r="r" b="b"/>
              <a:pathLst>
                <a:path w="1302384" h="2125345">
                  <a:moveTo>
                    <a:pt x="0" y="2125218"/>
                  </a:moveTo>
                  <a:lnTo>
                    <a:pt x="1302257" y="2125218"/>
                  </a:lnTo>
                  <a:lnTo>
                    <a:pt x="1302257" y="0"/>
                  </a:lnTo>
                  <a:lnTo>
                    <a:pt x="0" y="0"/>
                  </a:lnTo>
                  <a:lnTo>
                    <a:pt x="0" y="2125218"/>
                  </a:lnTo>
                  <a:close/>
                </a:path>
              </a:pathLst>
            </a:custGeom>
            <a:ln w="25146">
              <a:solidFill>
                <a:srgbClr val="F79546"/>
              </a:solidFill>
            </a:ln>
          </p:spPr>
          <p:txBody>
            <a:bodyPr wrap="square" lIns="0" tIns="0" rIns="0" bIns="0" rtlCol="0"/>
            <a:lstStyle/>
            <a:p>
              <a:endParaRPr/>
            </a:p>
          </p:txBody>
        </p:sp>
      </p:grpSp>
      <p:sp>
        <p:nvSpPr>
          <p:cNvPr id="12" name="object 12"/>
          <p:cNvSpPr txBox="1"/>
          <p:nvPr/>
        </p:nvSpPr>
        <p:spPr>
          <a:xfrm>
            <a:off x="7760461" y="2239010"/>
            <a:ext cx="1189355" cy="1147445"/>
          </a:xfrm>
          <a:prstGeom prst="rect">
            <a:avLst/>
          </a:prstGeom>
        </p:spPr>
        <p:txBody>
          <a:bodyPr vert="horz" wrap="square" lIns="0" tIns="40005" rIns="0" bIns="0" rtlCol="0">
            <a:spAutoFit/>
          </a:bodyPr>
          <a:lstStyle/>
          <a:p>
            <a:pPr marL="12700" marR="5080" algn="ctr">
              <a:lnSpc>
                <a:spcPts val="1730"/>
              </a:lnSpc>
              <a:spcBef>
                <a:spcPts val="315"/>
              </a:spcBef>
            </a:pPr>
            <a:r>
              <a:rPr sz="1600" spc="40" dirty="0">
                <a:latin typeface="Arial"/>
                <a:cs typeface="Arial"/>
              </a:rPr>
              <a:t>TCP/IP</a:t>
            </a:r>
            <a:r>
              <a:rPr sz="1600" spc="-190" dirty="0">
                <a:latin typeface="Arial"/>
                <a:cs typeface="Arial"/>
              </a:rPr>
              <a:t> </a:t>
            </a:r>
            <a:r>
              <a:rPr sz="1600" spc="-15" dirty="0">
                <a:latin typeface="Arial"/>
                <a:cs typeface="Arial"/>
              </a:rPr>
              <a:t>must  </a:t>
            </a:r>
            <a:r>
              <a:rPr sz="1600" spc="-80" dirty="0">
                <a:latin typeface="Arial"/>
                <a:cs typeface="Arial"/>
              </a:rPr>
              <a:t>be </a:t>
            </a:r>
            <a:r>
              <a:rPr sz="1600" spc="-45" dirty="0">
                <a:latin typeface="Arial"/>
                <a:cs typeface="Arial"/>
              </a:rPr>
              <a:t>enabled  </a:t>
            </a:r>
            <a:r>
              <a:rPr sz="1600" spc="50" dirty="0">
                <a:latin typeface="Arial"/>
                <a:cs typeface="Arial"/>
              </a:rPr>
              <a:t>for </a:t>
            </a:r>
            <a:r>
              <a:rPr sz="1600" spc="-80" dirty="0">
                <a:latin typeface="Arial"/>
                <a:cs typeface="Arial"/>
              </a:rPr>
              <a:t>PolyBase  </a:t>
            </a:r>
            <a:r>
              <a:rPr sz="1600" spc="40" dirty="0">
                <a:latin typeface="Arial"/>
                <a:cs typeface="Arial"/>
              </a:rPr>
              <a:t>to </a:t>
            </a:r>
            <a:r>
              <a:rPr sz="1600" spc="45" dirty="0">
                <a:latin typeface="Arial"/>
                <a:cs typeface="Arial"/>
              </a:rPr>
              <a:t>function  </a:t>
            </a:r>
            <a:r>
              <a:rPr sz="1600" spc="-5" dirty="0">
                <a:latin typeface="Arial"/>
                <a:cs typeface="Arial"/>
              </a:rPr>
              <a:t>correctly.</a:t>
            </a:r>
            <a:endParaRPr sz="1600">
              <a:latin typeface="Arial"/>
              <a:cs typeface="Arial"/>
            </a:endParaRPr>
          </a:p>
        </p:txBody>
      </p:sp>
      <p:sp>
        <p:nvSpPr>
          <p:cNvPr id="14" name="object 14"/>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7</a:t>
            </a:fld>
            <a:endParaRPr sz="1200"/>
          </a:p>
        </p:txBody>
      </p:sp>
      <p:sp>
        <p:nvSpPr>
          <p:cNvPr id="15" name="object 15"/>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0829" y="21844"/>
            <a:ext cx="8250555" cy="574040"/>
          </a:xfrm>
          <a:prstGeom prst="rect">
            <a:avLst/>
          </a:prstGeom>
        </p:spPr>
        <p:txBody>
          <a:bodyPr vert="horz" wrap="square" lIns="0" tIns="12700" rIns="0" bIns="0" rtlCol="0">
            <a:spAutoFit/>
          </a:bodyPr>
          <a:lstStyle/>
          <a:p>
            <a:pPr marL="12700">
              <a:lnSpc>
                <a:spcPct val="100000"/>
              </a:lnSpc>
              <a:spcBef>
                <a:spcPts val="100"/>
              </a:spcBef>
            </a:pPr>
            <a:r>
              <a:rPr b="0" spc="30" dirty="0">
                <a:latin typeface="Arial"/>
                <a:cs typeface="Arial"/>
              </a:rPr>
              <a:t>Installing</a:t>
            </a:r>
            <a:r>
              <a:rPr b="0" spc="-260" dirty="0">
                <a:latin typeface="Arial"/>
                <a:cs typeface="Arial"/>
              </a:rPr>
              <a:t> </a:t>
            </a:r>
            <a:r>
              <a:rPr b="0" spc="-175" dirty="0">
                <a:latin typeface="Arial"/>
                <a:cs typeface="Arial"/>
              </a:rPr>
              <a:t>PolyBase</a:t>
            </a:r>
            <a:r>
              <a:rPr b="0" spc="-254" dirty="0">
                <a:latin typeface="Arial"/>
                <a:cs typeface="Arial"/>
              </a:rPr>
              <a:t> </a:t>
            </a:r>
            <a:r>
              <a:rPr b="0" spc="170" dirty="0">
                <a:latin typeface="Arial"/>
                <a:cs typeface="Arial"/>
              </a:rPr>
              <a:t>in</a:t>
            </a:r>
            <a:r>
              <a:rPr b="0" spc="-235" dirty="0">
                <a:latin typeface="Arial"/>
                <a:cs typeface="Arial"/>
              </a:rPr>
              <a:t> </a:t>
            </a:r>
            <a:r>
              <a:rPr b="0" spc="40" dirty="0">
                <a:latin typeface="Arial"/>
                <a:cs typeface="Arial"/>
              </a:rPr>
              <a:t>SQL</a:t>
            </a:r>
            <a:r>
              <a:rPr b="0" spc="-235" dirty="0">
                <a:latin typeface="Arial"/>
                <a:cs typeface="Arial"/>
              </a:rPr>
              <a:t> </a:t>
            </a:r>
            <a:r>
              <a:rPr b="0" spc="-90" dirty="0">
                <a:latin typeface="Arial"/>
                <a:cs typeface="Arial"/>
              </a:rPr>
              <a:t>Server</a:t>
            </a:r>
            <a:r>
              <a:rPr b="0" spc="-245" dirty="0">
                <a:latin typeface="Arial"/>
                <a:cs typeface="Arial"/>
              </a:rPr>
              <a:t> </a:t>
            </a:r>
            <a:r>
              <a:rPr b="0" spc="-365" dirty="0">
                <a:latin typeface="Arial"/>
                <a:cs typeface="Arial"/>
              </a:rPr>
              <a:t>2019</a:t>
            </a:r>
            <a:r>
              <a:rPr b="0" spc="-235" dirty="0">
                <a:latin typeface="Arial"/>
                <a:cs typeface="Arial"/>
              </a:rPr>
              <a:t> </a:t>
            </a:r>
            <a:r>
              <a:rPr b="0" spc="-160" dirty="0">
                <a:latin typeface="Arial"/>
                <a:cs typeface="Arial"/>
              </a:rPr>
              <a:t>2-4</a:t>
            </a:r>
          </a:p>
        </p:txBody>
      </p:sp>
      <p:sp>
        <p:nvSpPr>
          <p:cNvPr id="3" name="object 3"/>
          <p:cNvSpPr txBox="1"/>
          <p:nvPr/>
        </p:nvSpPr>
        <p:spPr>
          <a:xfrm>
            <a:off x="459740" y="917448"/>
            <a:ext cx="4802505" cy="361315"/>
          </a:xfrm>
          <a:prstGeom prst="rect">
            <a:avLst/>
          </a:prstGeom>
        </p:spPr>
        <p:txBody>
          <a:bodyPr vert="horz" wrap="square" lIns="0" tIns="12700" rIns="0" bIns="0" rtlCol="0">
            <a:spAutoFit/>
          </a:bodyPr>
          <a:lstStyle/>
          <a:p>
            <a:pPr marL="12700">
              <a:lnSpc>
                <a:spcPct val="100000"/>
              </a:lnSpc>
              <a:spcBef>
                <a:spcPts val="100"/>
              </a:spcBef>
            </a:pPr>
            <a:r>
              <a:rPr sz="2200" b="1" spc="15" dirty="0">
                <a:latin typeface="Times New Roman"/>
                <a:cs typeface="Times New Roman"/>
              </a:rPr>
              <a:t>Single</a:t>
            </a:r>
            <a:r>
              <a:rPr sz="2200" b="1" spc="-125" dirty="0">
                <a:latin typeface="Times New Roman"/>
                <a:cs typeface="Times New Roman"/>
              </a:rPr>
              <a:t> </a:t>
            </a:r>
            <a:r>
              <a:rPr sz="2200" b="1" spc="45" dirty="0">
                <a:latin typeface="Times New Roman"/>
                <a:cs typeface="Times New Roman"/>
              </a:rPr>
              <a:t>node</a:t>
            </a:r>
            <a:r>
              <a:rPr sz="2200" b="1" spc="-114" dirty="0">
                <a:latin typeface="Times New Roman"/>
                <a:cs typeface="Times New Roman"/>
              </a:rPr>
              <a:t> </a:t>
            </a:r>
            <a:r>
              <a:rPr sz="2200" b="1" spc="-35" dirty="0">
                <a:latin typeface="Times New Roman"/>
                <a:cs typeface="Times New Roman"/>
              </a:rPr>
              <a:t>or</a:t>
            </a:r>
            <a:r>
              <a:rPr sz="2200" b="1" spc="-105" dirty="0">
                <a:latin typeface="Times New Roman"/>
                <a:cs typeface="Times New Roman"/>
              </a:rPr>
              <a:t> </a:t>
            </a:r>
            <a:r>
              <a:rPr sz="2200" b="1" spc="-30" dirty="0">
                <a:latin typeface="Times New Roman"/>
                <a:cs typeface="Times New Roman"/>
              </a:rPr>
              <a:t>PolyBase</a:t>
            </a:r>
            <a:r>
              <a:rPr sz="2200" b="1" spc="-125" dirty="0">
                <a:latin typeface="Times New Roman"/>
                <a:cs typeface="Times New Roman"/>
              </a:rPr>
              <a:t> </a:t>
            </a:r>
            <a:r>
              <a:rPr sz="2200" b="1" spc="5" dirty="0">
                <a:latin typeface="Times New Roman"/>
                <a:cs typeface="Times New Roman"/>
              </a:rPr>
              <a:t>scale-out</a:t>
            </a:r>
            <a:r>
              <a:rPr sz="2200" b="1" spc="-125" dirty="0">
                <a:latin typeface="Times New Roman"/>
                <a:cs typeface="Times New Roman"/>
              </a:rPr>
              <a:t> </a:t>
            </a:r>
            <a:r>
              <a:rPr sz="2200" b="1" spc="-50" dirty="0">
                <a:latin typeface="Times New Roman"/>
                <a:cs typeface="Times New Roman"/>
              </a:rPr>
              <a:t>group:</a:t>
            </a:r>
            <a:endParaRPr sz="2200">
              <a:latin typeface="Times New Roman"/>
              <a:cs typeface="Times New Roman"/>
            </a:endParaRPr>
          </a:p>
        </p:txBody>
      </p:sp>
      <p:sp>
        <p:nvSpPr>
          <p:cNvPr id="4" name="object 4"/>
          <p:cNvSpPr txBox="1"/>
          <p:nvPr/>
        </p:nvSpPr>
        <p:spPr>
          <a:xfrm>
            <a:off x="317754" y="1508760"/>
            <a:ext cx="4018279" cy="3275965"/>
          </a:xfrm>
          <a:prstGeom prst="rect">
            <a:avLst/>
          </a:prstGeom>
          <a:solidFill>
            <a:srgbClr val="4AACC5"/>
          </a:solidFill>
        </p:spPr>
        <p:txBody>
          <a:bodyPr vert="horz" wrap="square" lIns="0" tIns="76200" rIns="0" bIns="0" rtlCol="0">
            <a:spAutoFit/>
          </a:bodyPr>
          <a:lstStyle/>
          <a:p>
            <a:pPr marL="76200" marR="67945">
              <a:lnSpc>
                <a:spcPts val="2160"/>
              </a:lnSpc>
              <a:spcBef>
                <a:spcPts val="600"/>
              </a:spcBef>
              <a:tabLst>
                <a:tab pos="1303655" algn="l"/>
                <a:tab pos="1762125" algn="l"/>
                <a:tab pos="2244090" algn="l"/>
                <a:tab pos="2918460" algn="l"/>
                <a:tab pos="3272154" algn="l"/>
              </a:tabLst>
            </a:pPr>
            <a:r>
              <a:rPr sz="2000" spc="-75" dirty="0">
                <a:solidFill>
                  <a:srgbClr val="FFFFFF"/>
                </a:solidFill>
                <a:latin typeface="Arial"/>
                <a:cs typeface="Arial"/>
              </a:rPr>
              <a:t>F</a:t>
            </a:r>
            <a:r>
              <a:rPr sz="2000" spc="-60" dirty="0">
                <a:solidFill>
                  <a:srgbClr val="FFFFFF"/>
                </a:solidFill>
                <a:latin typeface="Arial"/>
                <a:cs typeface="Arial"/>
              </a:rPr>
              <a:t>o</a:t>
            </a:r>
            <a:r>
              <a:rPr sz="2000" spc="110" dirty="0">
                <a:solidFill>
                  <a:srgbClr val="FFFFFF"/>
                </a:solidFill>
                <a:latin typeface="Arial"/>
                <a:cs typeface="Arial"/>
              </a:rPr>
              <a:t>ll</a:t>
            </a:r>
            <a:r>
              <a:rPr sz="2000" spc="10" dirty="0">
                <a:solidFill>
                  <a:srgbClr val="FFFFFF"/>
                </a:solidFill>
                <a:latin typeface="Arial"/>
                <a:cs typeface="Arial"/>
              </a:rPr>
              <a:t>o</a:t>
            </a:r>
            <a:r>
              <a:rPr sz="2000" spc="25" dirty="0">
                <a:solidFill>
                  <a:srgbClr val="FFFFFF"/>
                </a:solidFill>
                <a:latin typeface="Arial"/>
                <a:cs typeface="Arial"/>
              </a:rPr>
              <a:t>w</a:t>
            </a:r>
            <a:r>
              <a:rPr sz="2000" spc="15" dirty="0">
                <a:solidFill>
                  <a:srgbClr val="FFFFFF"/>
                </a:solidFill>
                <a:latin typeface="Arial"/>
                <a:cs typeface="Arial"/>
              </a:rPr>
              <a:t>ing</a:t>
            </a:r>
            <a:r>
              <a:rPr sz="2000" dirty="0">
                <a:solidFill>
                  <a:srgbClr val="FFFFFF"/>
                </a:solidFill>
                <a:latin typeface="Arial"/>
                <a:cs typeface="Arial"/>
              </a:rPr>
              <a:t>	</a:t>
            </a:r>
            <a:r>
              <a:rPr sz="2000" spc="-100" dirty="0">
                <a:solidFill>
                  <a:srgbClr val="FFFFFF"/>
                </a:solidFill>
                <a:latin typeface="Arial"/>
                <a:cs typeface="Arial"/>
              </a:rPr>
              <a:t>are</a:t>
            </a:r>
            <a:r>
              <a:rPr sz="2000" dirty="0">
                <a:solidFill>
                  <a:srgbClr val="FFFFFF"/>
                </a:solidFill>
                <a:latin typeface="Arial"/>
                <a:cs typeface="Arial"/>
              </a:rPr>
              <a:t>	</a:t>
            </a:r>
            <a:r>
              <a:rPr sz="2000" spc="125" dirty="0">
                <a:solidFill>
                  <a:srgbClr val="FFFFFF"/>
                </a:solidFill>
                <a:latin typeface="Arial"/>
                <a:cs typeface="Arial"/>
              </a:rPr>
              <a:t>t</a:t>
            </a:r>
            <a:r>
              <a:rPr sz="2000" spc="-65" dirty="0">
                <a:solidFill>
                  <a:srgbClr val="FFFFFF"/>
                </a:solidFill>
                <a:latin typeface="Arial"/>
                <a:cs typeface="Arial"/>
              </a:rPr>
              <a:t>he</a:t>
            </a:r>
            <a:r>
              <a:rPr sz="2000" dirty="0">
                <a:solidFill>
                  <a:srgbClr val="FFFFFF"/>
                </a:solidFill>
                <a:latin typeface="Arial"/>
                <a:cs typeface="Arial"/>
              </a:rPr>
              <a:t>	</a:t>
            </a:r>
            <a:r>
              <a:rPr sz="2000" spc="-60" dirty="0">
                <a:solidFill>
                  <a:srgbClr val="FFFFFF"/>
                </a:solidFill>
                <a:latin typeface="Arial"/>
                <a:cs typeface="Arial"/>
              </a:rPr>
              <a:t>s</a:t>
            </a:r>
            <a:r>
              <a:rPr sz="2000" spc="-30" dirty="0">
                <a:solidFill>
                  <a:srgbClr val="FFFFFF"/>
                </a:solidFill>
                <a:latin typeface="Arial"/>
                <a:cs typeface="Arial"/>
              </a:rPr>
              <a:t>t</a:t>
            </a:r>
            <a:r>
              <a:rPr sz="2000" spc="-95" dirty="0">
                <a:solidFill>
                  <a:srgbClr val="FFFFFF"/>
                </a:solidFill>
                <a:latin typeface="Arial"/>
                <a:cs typeface="Arial"/>
              </a:rPr>
              <a:t>ep</a:t>
            </a:r>
            <a:r>
              <a:rPr sz="2000" spc="-215" dirty="0">
                <a:solidFill>
                  <a:srgbClr val="FFFFFF"/>
                </a:solidFill>
                <a:latin typeface="Arial"/>
                <a:cs typeface="Arial"/>
              </a:rPr>
              <a:t>s</a:t>
            </a:r>
            <a:r>
              <a:rPr sz="2000" dirty="0">
                <a:solidFill>
                  <a:srgbClr val="FFFFFF"/>
                </a:solidFill>
                <a:latin typeface="Arial"/>
                <a:cs typeface="Arial"/>
              </a:rPr>
              <a:t>	</a:t>
            </a:r>
            <a:r>
              <a:rPr sz="2000" spc="40" dirty="0">
                <a:solidFill>
                  <a:srgbClr val="FFFFFF"/>
                </a:solidFill>
                <a:latin typeface="Arial"/>
                <a:cs typeface="Arial"/>
              </a:rPr>
              <a:t>t</a:t>
            </a:r>
            <a:r>
              <a:rPr sz="2000" spc="70" dirty="0">
                <a:solidFill>
                  <a:srgbClr val="FFFFFF"/>
                </a:solidFill>
                <a:latin typeface="Arial"/>
                <a:cs typeface="Arial"/>
              </a:rPr>
              <a:t>o</a:t>
            </a:r>
            <a:r>
              <a:rPr sz="2000" dirty="0">
                <a:solidFill>
                  <a:srgbClr val="FFFFFF"/>
                </a:solidFill>
                <a:latin typeface="Arial"/>
                <a:cs typeface="Arial"/>
              </a:rPr>
              <a:t>	</a:t>
            </a:r>
            <a:r>
              <a:rPr sz="2000" spc="25" dirty="0">
                <a:solidFill>
                  <a:srgbClr val="FFFFFF"/>
                </a:solidFill>
                <a:latin typeface="Arial"/>
                <a:cs typeface="Arial"/>
              </a:rPr>
              <a:t>inst</a:t>
            </a:r>
            <a:r>
              <a:rPr sz="2000" spc="-60" dirty="0">
                <a:solidFill>
                  <a:srgbClr val="FFFFFF"/>
                </a:solidFill>
                <a:latin typeface="Arial"/>
                <a:cs typeface="Arial"/>
              </a:rPr>
              <a:t>a</a:t>
            </a:r>
            <a:r>
              <a:rPr sz="2000" spc="-20" dirty="0">
                <a:solidFill>
                  <a:srgbClr val="FFFFFF"/>
                </a:solidFill>
                <a:latin typeface="Arial"/>
                <a:cs typeface="Arial"/>
              </a:rPr>
              <a:t>l</a:t>
            </a:r>
            <a:r>
              <a:rPr sz="2000" spc="130" dirty="0">
                <a:solidFill>
                  <a:srgbClr val="FFFFFF"/>
                </a:solidFill>
                <a:latin typeface="Arial"/>
                <a:cs typeface="Arial"/>
              </a:rPr>
              <a:t>l  </a:t>
            </a:r>
            <a:r>
              <a:rPr sz="2000" spc="-40" dirty="0">
                <a:solidFill>
                  <a:srgbClr val="FFFFFF"/>
                </a:solidFill>
                <a:latin typeface="Arial"/>
                <a:cs typeface="Arial"/>
              </a:rPr>
              <a:t>and </a:t>
            </a:r>
            <a:r>
              <a:rPr sz="2000" spc="-90" dirty="0">
                <a:solidFill>
                  <a:srgbClr val="FFFFFF"/>
                </a:solidFill>
                <a:latin typeface="Arial"/>
                <a:cs typeface="Arial"/>
              </a:rPr>
              <a:t>set </a:t>
            </a:r>
            <a:r>
              <a:rPr sz="2000" spc="15" dirty="0">
                <a:solidFill>
                  <a:srgbClr val="FFFFFF"/>
                </a:solidFill>
                <a:latin typeface="Arial"/>
                <a:cs typeface="Arial"/>
              </a:rPr>
              <a:t>up</a:t>
            </a:r>
            <a:r>
              <a:rPr sz="2000" spc="-250" dirty="0">
                <a:solidFill>
                  <a:srgbClr val="FFFFFF"/>
                </a:solidFill>
                <a:latin typeface="Arial"/>
                <a:cs typeface="Arial"/>
              </a:rPr>
              <a:t> </a:t>
            </a:r>
            <a:r>
              <a:rPr sz="2000" spc="-95" dirty="0">
                <a:solidFill>
                  <a:srgbClr val="FFFFFF"/>
                </a:solidFill>
                <a:latin typeface="Arial"/>
                <a:cs typeface="Arial"/>
              </a:rPr>
              <a:t>PolyBase:</a:t>
            </a:r>
            <a:endParaRPr sz="2000">
              <a:latin typeface="Arial"/>
              <a:cs typeface="Arial"/>
            </a:endParaRPr>
          </a:p>
          <a:p>
            <a:pPr marL="419100" indent="-343535">
              <a:lnSpc>
                <a:spcPct val="100000"/>
              </a:lnSpc>
              <a:spcBef>
                <a:spcPts val="1945"/>
              </a:spcBef>
              <a:buFont typeface="Wingdings"/>
              <a:buChar char=""/>
              <a:tabLst>
                <a:tab pos="419100" algn="l"/>
                <a:tab pos="419734" algn="l"/>
              </a:tabLst>
            </a:pPr>
            <a:r>
              <a:rPr sz="1800" spc="30" dirty="0">
                <a:solidFill>
                  <a:srgbClr val="FFFFFF"/>
                </a:solidFill>
                <a:latin typeface="Arial"/>
                <a:cs typeface="Arial"/>
              </a:rPr>
              <a:t>Run</a:t>
            </a:r>
            <a:r>
              <a:rPr sz="1800" spc="-125" dirty="0">
                <a:solidFill>
                  <a:srgbClr val="FFFFFF"/>
                </a:solidFill>
                <a:latin typeface="Arial"/>
                <a:cs typeface="Arial"/>
              </a:rPr>
              <a:t> </a:t>
            </a:r>
            <a:r>
              <a:rPr sz="1800" dirty="0">
                <a:solidFill>
                  <a:srgbClr val="FFFFFF"/>
                </a:solidFill>
                <a:latin typeface="Arial"/>
                <a:cs typeface="Arial"/>
              </a:rPr>
              <a:t>the</a:t>
            </a:r>
            <a:r>
              <a:rPr sz="1800" spc="-114" dirty="0">
                <a:solidFill>
                  <a:srgbClr val="FFFFFF"/>
                </a:solidFill>
                <a:latin typeface="Arial"/>
                <a:cs typeface="Arial"/>
              </a:rPr>
              <a:t> </a:t>
            </a:r>
            <a:r>
              <a:rPr sz="1800" spc="20" dirty="0">
                <a:solidFill>
                  <a:srgbClr val="FFFFFF"/>
                </a:solidFill>
                <a:latin typeface="Arial"/>
                <a:cs typeface="Arial"/>
              </a:rPr>
              <a:t>SQL</a:t>
            </a:r>
            <a:r>
              <a:rPr sz="1800" spc="-114" dirty="0">
                <a:solidFill>
                  <a:srgbClr val="FFFFFF"/>
                </a:solidFill>
                <a:latin typeface="Arial"/>
                <a:cs typeface="Arial"/>
              </a:rPr>
              <a:t> </a:t>
            </a:r>
            <a:r>
              <a:rPr sz="1800" spc="-45" dirty="0">
                <a:solidFill>
                  <a:srgbClr val="FFFFFF"/>
                </a:solidFill>
                <a:latin typeface="Arial"/>
                <a:cs typeface="Arial"/>
              </a:rPr>
              <a:t>Server</a:t>
            </a:r>
            <a:r>
              <a:rPr sz="1800" spc="-130" dirty="0">
                <a:solidFill>
                  <a:srgbClr val="FFFFFF"/>
                </a:solidFill>
                <a:latin typeface="Arial"/>
                <a:cs typeface="Arial"/>
              </a:rPr>
              <a:t> </a:t>
            </a:r>
            <a:r>
              <a:rPr sz="1800" spc="-55" dirty="0">
                <a:solidFill>
                  <a:srgbClr val="FFFFFF"/>
                </a:solidFill>
                <a:latin typeface="Arial"/>
                <a:cs typeface="Arial"/>
              </a:rPr>
              <a:t>setup.exe.</a:t>
            </a:r>
            <a:endParaRPr sz="1800">
              <a:latin typeface="Arial"/>
              <a:cs typeface="Arial"/>
            </a:endParaRPr>
          </a:p>
          <a:p>
            <a:pPr marL="419100" marR="66675" indent="-342900" algn="just">
              <a:lnSpc>
                <a:spcPct val="90000"/>
              </a:lnSpc>
              <a:spcBef>
                <a:spcPts val="1945"/>
              </a:spcBef>
              <a:buFont typeface="Wingdings"/>
              <a:buChar char=""/>
              <a:tabLst>
                <a:tab pos="419734" algn="l"/>
              </a:tabLst>
            </a:pPr>
            <a:r>
              <a:rPr sz="1800" spc="-60" dirty="0">
                <a:solidFill>
                  <a:srgbClr val="FFFFFF"/>
                </a:solidFill>
                <a:latin typeface="Arial"/>
                <a:cs typeface="Arial"/>
              </a:rPr>
              <a:t>Select </a:t>
            </a:r>
            <a:r>
              <a:rPr sz="1800" spc="15" dirty="0">
                <a:solidFill>
                  <a:srgbClr val="FFFFFF"/>
                </a:solidFill>
                <a:latin typeface="Arial"/>
                <a:cs typeface="Arial"/>
              </a:rPr>
              <a:t>Installation </a:t>
            </a:r>
            <a:r>
              <a:rPr sz="1800" spc="-35" dirty="0">
                <a:solidFill>
                  <a:srgbClr val="FFFFFF"/>
                </a:solidFill>
                <a:latin typeface="Arial"/>
                <a:cs typeface="Arial"/>
              </a:rPr>
              <a:t>and </a:t>
            </a:r>
            <a:r>
              <a:rPr sz="1800" dirty="0">
                <a:solidFill>
                  <a:srgbClr val="FFFFFF"/>
                </a:solidFill>
                <a:latin typeface="Arial"/>
                <a:cs typeface="Arial"/>
              </a:rPr>
              <a:t>then, </a:t>
            </a:r>
            <a:r>
              <a:rPr sz="1800" spc="-65" dirty="0">
                <a:solidFill>
                  <a:srgbClr val="FFFFFF"/>
                </a:solidFill>
                <a:latin typeface="Arial"/>
                <a:cs typeface="Arial"/>
              </a:rPr>
              <a:t>select  </a:t>
            </a:r>
            <a:r>
              <a:rPr sz="1800" spc="5" dirty="0">
                <a:solidFill>
                  <a:srgbClr val="FFFFFF"/>
                </a:solidFill>
                <a:latin typeface="Arial"/>
                <a:cs typeface="Arial"/>
              </a:rPr>
              <a:t>New </a:t>
            </a:r>
            <a:r>
              <a:rPr sz="1800" spc="-40" dirty="0">
                <a:solidFill>
                  <a:srgbClr val="FFFFFF"/>
                </a:solidFill>
                <a:latin typeface="Arial"/>
                <a:cs typeface="Arial"/>
              </a:rPr>
              <a:t>standalone </a:t>
            </a:r>
            <a:r>
              <a:rPr sz="1800" spc="20" dirty="0">
                <a:solidFill>
                  <a:srgbClr val="FFFFFF"/>
                </a:solidFill>
                <a:latin typeface="Arial"/>
                <a:cs typeface="Arial"/>
              </a:rPr>
              <a:t>SQL </a:t>
            </a:r>
            <a:r>
              <a:rPr sz="1800" spc="-45" dirty="0">
                <a:solidFill>
                  <a:srgbClr val="FFFFFF"/>
                </a:solidFill>
                <a:latin typeface="Arial"/>
                <a:cs typeface="Arial"/>
              </a:rPr>
              <a:t>Server  </a:t>
            </a:r>
            <a:r>
              <a:rPr sz="1800" spc="15" dirty="0">
                <a:solidFill>
                  <a:srgbClr val="FFFFFF"/>
                </a:solidFill>
                <a:latin typeface="Arial"/>
                <a:cs typeface="Arial"/>
              </a:rPr>
              <a:t>installation </a:t>
            </a:r>
            <a:r>
              <a:rPr sz="1800" spc="25" dirty="0">
                <a:solidFill>
                  <a:srgbClr val="FFFFFF"/>
                </a:solidFill>
                <a:latin typeface="Arial"/>
                <a:cs typeface="Arial"/>
              </a:rPr>
              <a:t>or</a:t>
            </a:r>
            <a:r>
              <a:rPr sz="1800" spc="-335" dirty="0">
                <a:solidFill>
                  <a:srgbClr val="FFFFFF"/>
                </a:solidFill>
                <a:latin typeface="Arial"/>
                <a:cs typeface="Arial"/>
              </a:rPr>
              <a:t> </a:t>
            </a:r>
            <a:r>
              <a:rPr sz="1800" spc="-50" dirty="0">
                <a:solidFill>
                  <a:srgbClr val="FFFFFF"/>
                </a:solidFill>
                <a:latin typeface="Arial"/>
                <a:cs typeface="Arial"/>
              </a:rPr>
              <a:t>add </a:t>
            </a:r>
            <a:r>
              <a:rPr sz="1800" spc="-45" dirty="0">
                <a:solidFill>
                  <a:srgbClr val="FFFFFF"/>
                </a:solidFill>
                <a:latin typeface="Arial"/>
                <a:cs typeface="Arial"/>
              </a:rPr>
              <a:t>features.</a:t>
            </a:r>
            <a:endParaRPr sz="1800">
              <a:latin typeface="Arial"/>
              <a:cs typeface="Arial"/>
            </a:endParaRPr>
          </a:p>
          <a:p>
            <a:pPr marL="419100" marR="67310" indent="-342900" algn="just">
              <a:lnSpc>
                <a:spcPts val="1939"/>
              </a:lnSpc>
              <a:spcBef>
                <a:spcPts val="1975"/>
              </a:spcBef>
              <a:buFont typeface="Wingdings"/>
              <a:buChar char=""/>
              <a:tabLst>
                <a:tab pos="419734" algn="l"/>
              </a:tabLst>
            </a:pPr>
            <a:r>
              <a:rPr sz="1800" spc="95" dirty="0">
                <a:solidFill>
                  <a:srgbClr val="FFFFFF"/>
                </a:solidFill>
                <a:latin typeface="Arial"/>
                <a:cs typeface="Arial"/>
              </a:rPr>
              <a:t>On </a:t>
            </a:r>
            <a:r>
              <a:rPr sz="1800" dirty="0">
                <a:solidFill>
                  <a:srgbClr val="FFFFFF"/>
                </a:solidFill>
                <a:latin typeface="Arial"/>
                <a:cs typeface="Arial"/>
              </a:rPr>
              <a:t>the </a:t>
            </a:r>
            <a:r>
              <a:rPr sz="1800" spc="-55" dirty="0">
                <a:solidFill>
                  <a:srgbClr val="FFFFFF"/>
                </a:solidFill>
                <a:latin typeface="Arial"/>
                <a:cs typeface="Arial"/>
              </a:rPr>
              <a:t>Feature </a:t>
            </a:r>
            <a:r>
              <a:rPr sz="1800" spc="-20" dirty="0">
                <a:solidFill>
                  <a:srgbClr val="FFFFFF"/>
                </a:solidFill>
                <a:latin typeface="Arial"/>
                <a:cs typeface="Arial"/>
              </a:rPr>
              <a:t>Selection </a:t>
            </a:r>
            <a:r>
              <a:rPr sz="1800" spc="-114" dirty="0">
                <a:solidFill>
                  <a:srgbClr val="FFFFFF"/>
                </a:solidFill>
                <a:latin typeface="Arial"/>
                <a:cs typeface="Arial"/>
              </a:rPr>
              <a:t>page </a:t>
            </a:r>
            <a:r>
              <a:rPr sz="1800" spc="-190" dirty="0">
                <a:solidFill>
                  <a:srgbClr val="FFFFFF"/>
                </a:solidFill>
                <a:latin typeface="Arial"/>
                <a:cs typeface="Arial"/>
              </a:rPr>
              <a:t>as  </a:t>
            </a:r>
            <a:r>
              <a:rPr sz="1800" spc="-10" dirty="0">
                <a:solidFill>
                  <a:srgbClr val="FFFFFF"/>
                </a:solidFill>
                <a:latin typeface="Arial"/>
                <a:cs typeface="Arial"/>
              </a:rPr>
              <a:t>shown </a:t>
            </a:r>
            <a:r>
              <a:rPr sz="1800" spc="85" dirty="0">
                <a:solidFill>
                  <a:srgbClr val="FFFFFF"/>
                </a:solidFill>
                <a:latin typeface="Arial"/>
                <a:cs typeface="Arial"/>
              </a:rPr>
              <a:t>in </a:t>
            </a:r>
            <a:r>
              <a:rPr sz="1800" dirty="0">
                <a:solidFill>
                  <a:srgbClr val="FFFFFF"/>
                </a:solidFill>
                <a:latin typeface="Arial"/>
                <a:cs typeface="Arial"/>
              </a:rPr>
              <a:t>the figure,</a:t>
            </a:r>
            <a:r>
              <a:rPr sz="1800" spc="-320" dirty="0">
                <a:solidFill>
                  <a:srgbClr val="FFFFFF"/>
                </a:solidFill>
                <a:latin typeface="Arial"/>
                <a:cs typeface="Arial"/>
              </a:rPr>
              <a:t> </a:t>
            </a:r>
            <a:r>
              <a:rPr sz="1800" spc="-65" dirty="0">
                <a:solidFill>
                  <a:srgbClr val="FFFFFF"/>
                </a:solidFill>
                <a:latin typeface="Arial"/>
                <a:cs typeface="Arial"/>
              </a:rPr>
              <a:t>select </a:t>
            </a:r>
            <a:r>
              <a:rPr sz="1800" spc="-90" dirty="0">
                <a:solidFill>
                  <a:srgbClr val="FFFFFF"/>
                </a:solidFill>
                <a:latin typeface="Arial"/>
                <a:cs typeface="Arial"/>
              </a:rPr>
              <a:t>PolyBase  </a:t>
            </a:r>
            <a:r>
              <a:rPr sz="1800" spc="10" dirty="0">
                <a:solidFill>
                  <a:srgbClr val="FFFFFF"/>
                </a:solidFill>
                <a:latin typeface="Arial"/>
                <a:cs typeface="Arial"/>
              </a:rPr>
              <a:t>Query</a:t>
            </a:r>
            <a:r>
              <a:rPr sz="1800" spc="-114" dirty="0">
                <a:solidFill>
                  <a:srgbClr val="FFFFFF"/>
                </a:solidFill>
                <a:latin typeface="Arial"/>
                <a:cs typeface="Arial"/>
              </a:rPr>
              <a:t> </a:t>
            </a:r>
            <a:r>
              <a:rPr sz="1800" spc="-45" dirty="0">
                <a:solidFill>
                  <a:srgbClr val="FFFFFF"/>
                </a:solidFill>
                <a:latin typeface="Arial"/>
                <a:cs typeface="Arial"/>
              </a:rPr>
              <a:t>Service</a:t>
            </a:r>
            <a:r>
              <a:rPr sz="1800" spc="-130" dirty="0">
                <a:solidFill>
                  <a:srgbClr val="FFFFFF"/>
                </a:solidFill>
                <a:latin typeface="Arial"/>
                <a:cs typeface="Arial"/>
              </a:rPr>
              <a:t> </a:t>
            </a:r>
            <a:r>
              <a:rPr sz="1800" spc="60" dirty="0">
                <a:solidFill>
                  <a:srgbClr val="FFFFFF"/>
                </a:solidFill>
                <a:latin typeface="Arial"/>
                <a:cs typeface="Arial"/>
              </a:rPr>
              <a:t>for</a:t>
            </a:r>
            <a:r>
              <a:rPr sz="1800" spc="-110" dirty="0">
                <a:solidFill>
                  <a:srgbClr val="FFFFFF"/>
                </a:solidFill>
                <a:latin typeface="Arial"/>
                <a:cs typeface="Arial"/>
              </a:rPr>
              <a:t> </a:t>
            </a:r>
            <a:r>
              <a:rPr sz="1800" spc="-5" dirty="0">
                <a:solidFill>
                  <a:srgbClr val="FFFFFF"/>
                </a:solidFill>
                <a:latin typeface="Arial"/>
                <a:cs typeface="Arial"/>
              </a:rPr>
              <a:t>External</a:t>
            </a:r>
            <a:r>
              <a:rPr sz="1800" spc="-130" dirty="0">
                <a:solidFill>
                  <a:srgbClr val="FFFFFF"/>
                </a:solidFill>
                <a:latin typeface="Arial"/>
                <a:cs typeface="Arial"/>
              </a:rPr>
              <a:t> </a:t>
            </a:r>
            <a:r>
              <a:rPr sz="1800" spc="-30" dirty="0">
                <a:solidFill>
                  <a:srgbClr val="FFFFFF"/>
                </a:solidFill>
                <a:latin typeface="Arial"/>
                <a:cs typeface="Arial"/>
              </a:rPr>
              <a:t>Data.</a:t>
            </a:r>
            <a:endParaRPr sz="1800">
              <a:latin typeface="Arial"/>
              <a:cs typeface="Arial"/>
            </a:endParaRPr>
          </a:p>
        </p:txBody>
      </p:sp>
      <p:pic>
        <p:nvPicPr>
          <p:cNvPr id="5" name="object 5"/>
          <p:cNvPicPr/>
          <p:nvPr/>
        </p:nvPicPr>
        <p:blipFill>
          <a:blip r:embed="rId3" cstate="print"/>
          <a:stretch>
            <a:fillRect/>
          </a:stretch>
        </p:blipFill>
        <p:spPr>
          <a:xfrm>
            <a:off x="4649723" y="1696211"/>
            <a:ext cx="4494276" cy="4178046"/>
          </a:xfrm>
          <a:prstGeom prst="rect">
            <a:avLst/>
          </a:prstGeom>
        </p:spPr>
      </p:pic>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8</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7650" y="72390"/>
            <a:ext cx="8221345" cy="574040"/>
          </a:xfrm>
          <a:prstGeom prst="rect">
            <a:avLst/>
          </a:prstGeom>
        </p:spPr>
        <p:txBody>
          <a:bodyPr vert="horz" wrap="square" lIns="0" tIns="12700" rIns="0" bIns="0" rtlCol="0">
            <a:spAutoFit/>
          </a:bodyPr>
          <a:lstStyle/>
          <a:p>
            <a:pPr marL="12700">
              <a:lnSpc>
                <a:spcPct val="100000"/>
              </a:lnSpc>
              <a:spcBef>
                <a:spcPts val="100"/>
              </a:spcBef>
            </a:pPr>
            <a:r>
              <a:rPr b="0" spc="30" dirty="0">
                <a:latin typeface="Arial"/>
                <a:cs typeface="Arial"/>
              </a:rPr>
              <a:t>Installing</a:t>
            </a:r>
            <a:r>
              <a:rPr b="0" spc="-254" dirty="0">
                <a:latin typeface="Arial"/>
                <a:cs typeface="Arial"/>
              </a:rPr>
              <a:t> </a:t>
            </a:r>
            <a:r>
              <a:rPr b="0" spc="-175" dirty="0">
                <a:latin typeface="Arial"/>
                <a:cs typeface="Arial"/>
              </a:rPr>
              <a:t>PolyBase</a:t>
            </a:r>
            <a:r>
              <a:rPr b="0" spc="-254" dirty="0">
                <a:latin typeface="Arial"/>
                <a:cs typeface="Arial"/>
              </a:rPr>
              <a:t> </a:t>
            </a:r>
            <a:r>
              <a:rPr b="0" spc="170" dirty="0">
                <a:latin typeface="Arial"/>
                <a:cs typeface="Arial"/>
              </a:rPr>
              <a:t>in</a:t>
            </a:r>
            <a:r>
              <a:rPr b="0" spc="-235" dirty="0">
                <a:latin typeface="Arial"/>
                <a:cs typeface="Arial"/>
              </a:rPr>
              <a:t> </a:t>
            </a:r>
            <a:r>
              <a:rPr b="0" spc="40" dirty="0">
                <a:latin typeface="Arial"/>
                <a:cs typeface="Arial"/>
              </a:rPr>
              <a:t>SQL</a:t>
            </a:r>
            <a:r>
              <a:rPr b="0" spc="-235" dirty="0">
                <a:latin typeface="Arial"/>
                <a:cs typeface="Arial"/>
              </a:rPr>
              <a:t> </a:t>
            </a:r>
            <a:r>
              <a:rPr b="0" spc="-90" dirty="0">
                <a:latin typeface="Arial"/>
                <a:cs typeface="Arial"/>
              </a:rPr>
              <a:t>Server</a:t>
            </a:r>
            <a:r>
              <a:rPr b="0" spc="-245" dirty="0">
                <a:latin typeface="Arial"/>
                <a:cs typeface="Arial"/>
              </a:rPr>
              <a:t> </a:t>
            </a:r>
            <a:r>
              <a:rPr b="0" spc="-365" dirty="0">
                <a:latin typeface="Arial"/>
                <a:cs typeface="Arial"/>
              </a:rPr>
              <a:t>2019</a:t>
            </a:r>
            <a:r>
              <a:rPr b="0" spc="-235" dirty="0">
                <a:latin typeface="Arial"/>
                <a:cs typeface="Arial"/>
              </a:rPr>
              <a:t> </a:t>
            </a:r>
            <a:r>
              <a:rPr b="0" spc="-240" dirty="0">
                <a:latin typeface="Arial"/>
                <a:cs typeface="Arial"/>
              </a:rPr>
              <a:t>3-4</a:t>
            </a:r>
          </a:p>
        </p:txBody>
      </p:sp>
      <p:sp>
        <p:nvSpPr>
          <p:cNvPr id="3" name="object 3"/>
          <p:cNvSpPr/>
          <p:nvPr/>
        </p:nvSpPr>
        <p:spPr>
          <a:xfrm>
            <a:off x="275082" y="1328165"/>
            <a:ext cx="8869045" cy="923925"/>
          </a:xfrm>
          <a:custGeom>
            <a:avLst/>
            <a:gdLst/>
            <a:ahLst/>
            <a:cxnLst/>
            <a:rect l="l" t="t" r="r" b="b"/>
            <a:pathLst>
              <a:path w="8869045" h="923925">
                <a:moveTo>
                  <a:pt x="8868918" y="153924"/>
                </a:moveTo>
                <a:lnTo>
                  <a:pt x="8861057" y="105295"/>
                </a:lnTo>
                <a:lnTo>
                  <a:pt x="8839200" y="63042"/>
                </a:lnTo>
                <a:lnTo>
                  <a:pt x="8805875" y="29718"/>
                </a:lnTo>
                <a:lnTo>
                  <a:pt x="8763622" y="7861"/>
                </a:lnTo>
                <a:lnTo>
                  <a:pt x="8714994" y="0"/>
                </a:lnTo>
                <a:lnTo>
                  <a:pt x="153924" y="0"/>
                </a:lnTo>
                <a:lnTo>
                  <a:pt x="105270" y="7861"/>
                </a:lnTo>
                <a:lnTo>
                  <a:pt x="63004" y="29718"/>
                </a:lnTo>
                <a:lnTo>
                  <a:pt x="29692" y="63042"/>
                </a:lnTo>
                <a:lnTo>
                  <a:pt x="7835" y="105295"/>
                </a:lnTo>
                <a:lnTo>
                  <a:pt x="0" y="153924"/>
                </a:lnTo>
                <a:lnTo>
                  <a:pt x="0" y="769620"/>
                </a:lnTo>
                <a:lnTo>
                  <a:pt x="7835" y="818261"/>
                </a:lnTo>
                <a:lnTo>
                  <a:pt x="29692" y="860513"/>
                </a:lnTo>
                <a:lnTo>
                  <a:pt x="63004" y="893838"/>
                </a:lnTo>
                <a:lnTo>
                  <a:pt x="105270" y="915695"/>
                </a:lnTo>
                <a:lnTo>
                  <a:pt x="153924" y="923544"/>
                </a:lnTo>
                <a:lnTo>
                  <a:pt x="8714994" y="923544"/>
                </a:lnTo>
                <a:lnTo>
                  <a:pt x="8763622" y="915695"/>
                </a:lnTo>
                <a:lnTo>
                  <a:pt x="8805875" y="893838"/>
                </a:lnTo>
                <a:lnTo>
                  <a:pt x="8839200" y="860513"/>
                </a:lnTo>
                <a:lnTo>
                  <a:pt x="8861057" y="818261"/>
                </a:lnTo>
                <a:lnTo>
                  <a:pt x="8868918" y="769620"/>
                </a:lnTo>
                <a:lnTo>
                  <a:pt x="8868918" y="153924"/>
                </a:lnTo>
                <a:close/>
              </a:path>
            </a:pathLst>
          </a:custGeom>
          <a:solidFill>
            <a:srgbClr val="000000"/>
          </a:solidFill>
        </p:spPr>
        <p:txBody>
          <a:bodyPr wrap="square" lIns="0" tIns="0" rIns="0" bIns="0" rtlCol="0"/>
          <a:lstStyle/>
          <a:p>
            <a:endParaRPr/>
          </a:p>
        </p:txBody>
      </p:sp>
      <p:sp>
        <p:nvSpPr>
          <p:cNvPr id="4" name="object 4"/>
          <p:cNvSpPr txBox="1"/>
          <p:nvPr/>
        </p:nvSpPr>
        <p:spPr>
          <a:xfrm>
            <a:off x="464058" y="872236"/>
            <a:ext cx="8379459" cy="1164590"/>
          </a:xfrm>
          <a:prstGeom prst="rect">
            <a:avLst/>
          </a:prstGeom>
        </p:spPr>
        <p:txBody>
          <a:bodyPr vert="horz" wrap="square" lIns="0" tIns="12700" rIns="0" bIns="0" rtlCol="0">
            <a:spAutoFit/>
          </a:bodyPr>
          <a:lstStyle/>
          <a:p>
            <a:pPr marL="12700">
              <a:lnSpc>
                <a:spcPct val="100000"/>
              </a:lnSpc>
              <a:spcBef>
                <a:spcPts val="100"/>
              </a:spcBef>
            </a:pPr>
            <a:r>
              <a:rPr sz="2200" b="1" spc="-35" dirty="0">
                <a:latin typeface="Times New Roman"/>
                <a:cs typeface="Times New Roman"/>
              </a:rPr>
              <a:t>Enable</a:t>
            </a:r>
            <a:r>
              <a:rPr sz="2200" b="1" spc="-120" dirty="0">
                <a:latin typeface="Times New Roman"/>
                <a:cs typeface="Times New Roman"/>
              </a:rPr>
              <a:t> </a:t>
            </a:r>
            <a:r>
              <a:rPr sz="2200" b="1" spc="-30" dirty="0">
                <a:latin typeface="Times New Roman"/>
                <a:cs typeface="Times New Roman"/>
              </a:rPr>
              <a:t>PolyBase</a:t>
            </a:r>
            <a:endParaRPr sz="2200">
              <a:latin typeface="Times New Roman"/>
              <a:cs typeface="Times New Roman"/>
            </a:endParaRPr>
          </a:p>
          <a:p>
            <a:pPr marL="467359" marR="5080" indent="-342900">
              <a:lnSpc>
                <a:spcPts val="1939"/>
              </a:lnSpc>
              <a:spcBef>
                <a:spcPts val="2470"/>
              </a:spcBef>
              <a:buFont typeface="Wingdings"/>
              <a:buChar char=""/>
              <a:tabLst>
                <a:tab pos="466725" algn="l"/>
                <a:tab pos="467359" algn="l"/>
              </a:tabLst>
            </a:pPr>
            <a:r>
              <a:rPr sz="1800" spc="-15" dirty="0">
                <a:solidFill>
                  <a:srgbClr val="FFFFFF"/>
                </a:solidFill>
                <a:latin typeface="Arial"/>
                <a:cs typeface="Arial"/>
              </a:rPr>
              <a:t>Once </a:t>
            </a:r>
            <a:r>
              <a:rPr sz="1800" spc="20" dirty="0">
                <a:solidFill>
                  <a:srgbClr val="FFFFFF"/>
                </a:solidFill>
                <a:latin typeface="Arial"/>
                <a:cs typeface="Arial"/>
              </a:rPr>
              <a:t>SQL </a:t>
            </a:r>
            <a:r>
              <a:rPr sz="1800" spc="-45" dirty="0">
                <a:solidFill>
                  <a:srgbClr val="FFFFFF"/>
                </a:solidFill>
                <a:latin typeface="Arial"/>
                <a:cs typeface="Arial"/>
              </a:rPr>
              <a:t>Server </a:t>
            </a:r>
            <a:r>
              <a:rPr sz="1800" spc="15" dirty="0">
                <a:solidFill>
                  <a:srgbClr val="FFFFFF"/>
                </a:solidFill>
                <a:latin typeface="Arial"/>
                <a:cs typeface="Arial"/>
              </a:rPr>
              <a:t>installation </a:t>
            </a:r>
            <a:r>
              <a:rPr sz="1800" spc="-45" dirty="0">
                <a:solidFill>
                  <a:srgbClr val="FFFFFF"/>
                </a:solidFill>
                <a:latin typeface="Arial"/>
                <a:cs typeface="Arial"/>
              </a:rPr>
              <a:t>is </a:t>
            </a:r>
            <a:r>
              <a:rPr sz="1800" spc="-30" dirty="0">
                <a:solidFill>
                  <a:srgbClr val="FFFFFF"/>
                </a:solidFill>
                <a:latin typeface="Arial"/>
                <a:cs typeface="Arial"/>
              </a:rPr>
              <a:t>complete </a:t>
            </a:r>
            <a:r>
              <a:rPr sz="1800" spc="80" dirty="0">
                <a:solidFill>
                  <a:srgbClr val="FFFFFF"/>
                </a:solidFill>
                <a:latin typeface="Arial"/>
                <a:cs typeface="Arial"/>
              </a:rPr>
              <a:t>with </a:t>
            </a:r>
            <a:r>
              <a:rPr sz="1800" dirty="0">
                <a:solidFill>
                  <a:srgbClr val="FFFFFF"/>
                </a:solidFill>
                <a:latin typeface="Arial"/>
                <a:cs typeface="Arial"/>
              </a:rPr>
              <a:t>the </a:t>
            </a:r>
            <a:r>
              <a:rPr sz="1800" spc="-90" dirty="0">
                <a:solidFill>
                  <a:srgbClr val="FFFFFF"/>
                </a:solidFill>
                <a:latin typeface="Arial"/>
                <a:cs typeface="Arial"/>
              </a:rPr>
              <a:t>PolyBase </a:t>
            </a:r>
            <a:r>
              <a:rPr sz="1800" spc="-30" dirty="0">
                <a:solidFill>
                  <a:srgbClr val="FFFFFF"/>
                </a:solidFill>
                <a:latin typeface="Arial"/>
                <a:cs typeface="Arial"/>
              </a:rPr>
              <a:t>feature, </a:t>
            </a:r>
            <a:r>
              <a:rPr sz="1800" spc="-90" dirty="0">
                <a:solidFill>
                  <a:srgbClr val="FFFFFF"/>
                </a:solidFill>
                <a:latin typeface="Arial"/>
                <a:cs typeface="Arial"/>
              </a:rPr>
              <a:t>PolyBase  </a:t>
            </a:r>
            <a:r>
              <a:rPr sz="1800" spc="-15" dirty="0">
                <a:solidFill>
                  <a:srgbClr val="FFFFFF"/>
                </a:solidFill>
                <a:latin typeface="Arial"/>
                <a:cs typeface="Arial"/>
              </a:rPr>
              <a:t>must</a:t>
            </a:r>
            <a:r>
              <a:rPr sz="1800" spc="-114" dirty="0">
                <a:solidFill>
                  <a:srgbClr val="FFFFFF"/>
                </a:solidFill>
                <a:latin typeface="Arial"/>
                <a:cs typeface="Arial"/>
              </a:rPr>
              <a:t> </a:t>
            </a:r>
            <a:r>
              <a:rPr sz="1800" spc="-95" dirty="0">
                <a:solidFill>
                  <a:srgbClr val="FFFFFF"/>
                </a:solidFill>
                <a:latin typeface="Arial"/>
                <a:cs typeface="Arial"/>
              </a:rPr>
              <a:t>be</a:t>
            </a:r>
            <a:r>
              <a:rPr sz="1800" spc="-110" dirty="0">
                <a:solidFill>
                  <a:srgbClr val="FFFFFF"/>
                </a:solidFill>
                <a:latin typeface="Arial"/>
                <a:cs typeface="Arial"/>
              </a:rPr>
              <a:t> </a:t>
            </a:r>
            <a:r>
              <a:rPr sz="1800" dirty="0">
                <a:solidFill>
                  <a:srgbClr val="FFFFFF"/>
                </a:solidFill>
                <a:latin typeface="Arial"/>
                <a:cs typeface="Arial"/>
              </a:rPr>
              <a:t>configured</a:t>
            </a:r>
            <a:r>
              <a:rPr sz="1800" spc="-114" dirty="0">
                <a:solidFill>
                  <a:srgbClr val="FFFFFF"/>
                </a:solidFill>
                <a:latin typeface="Arial"/>
                <a:cs typeface="Arial"/>
              </a:rPr>
              <a:t> </a:t>
            </a:r>
            <a:r>
              <a:rPr sz="1800" spc="45" dirty="0">
                <a:solidFill>
                  <a:srgbClr val="FFFFFF"/>
                </a:solidFill>
                <a:latin typeface="Arial"/>
                <a:cs typeface="Arial"/>
              </a:rPr>
              <a:t>to</a:t>
            </a:r>
            <a:r>
              <a:rPr sz="1800" spc="-120" dirty="0">
                <a:solidFill>
                  <a:srgbClr val="FFFFFF"/>
                </a:solidFill>
                <a:latin typeface="Arial"/>
                <a:cs typeface="Arial"/>
              </a:rPr>
              <a:t> </a:t>
            </a:r>
            <a:r>
              <a:rPr sz="1800" spc="5" dirty="0">
                <a:solidFill>
                  <a:srgbClr val="FFFFFF"/>
                </a:solidFill>
                <a:latin typeface="Arial"/>
                <a:cs typeface="Arial"/>
              </a:rPr>
              <a:t>interact</a:t>
            </a:r>
            <a:r>
              <a:rPr sz="1800" spc="-130" dirty="0">
                <a:solidFill>
                  <a:srgbClr val="FFFFFF"/>
                </a:solidFill>
                <a:latin typeface="Arial"/>
                <a:cs typeface="Arial"/>
              </a:rPr>
              <a:t> </a:t>
            </a:r>
            <a:r>
              <a:rPr sz="1800" spc="80" dirty="0">
                <a:solidFill>
                  <a:srgbClr val="FFFFFF"/>
                </a:solidFill>
                <a:latin typeface="Arial"/>
                <a:cs typeface="Arial"/>
              </a:rPr>
              <a:t>with</a:t>
            </a:r>
            <a:r>
              <a:rPr sz="1800" spc="-95" dirty="0">
                <a:solidFill>
                  <a:srgbClr val="FFFFFF"/>
                </a:solidFill>
                <a:latin typeface="Arial"/>
                <a:cs typeface="Arial"/>
              </a:rPr>
              <a:t> </a:t>
            </a:r>
            <a:r>
              <a:rPr sz="1800" spc="-10" dirty="0">
                <a:solidFill>
                  <a:srgbClr val="FFFFFF"/>
                </a:solidFill>
                <a:latin typeface="Arial"/>
                <a:cs typeface="Arial"/>
              </a:rPr>
              <a:t>external</a:t>
            </a:r>
            <a:r>
              <a:rPr sz="1800" spc="-135" dirty="0">
                <a:solidFill>
                  <a:srgbClr val="FFFFFF"/>
                </a:solidFill>
                <a:latin typeface="Arial"/>
                <a:cs typeface="Arial"/>
              </a:rPr>
              <a:t> </a:t>
            </a:r>
            <a:r>
              <a:rPr sz="1800" spc="-55" dirty="0">
                <a:solidFill>
                  <a:srgbClr val="FFFFFF"/>
                </a:solidFill>
                <a:latin typeface="Arial"/>
                <a:cs typeface="Arial"/>
              </a:rPr>
              <a:t>data</a:t>
            </a:r>
            <a:r>
              <a:rPr sz="1800" spc="-130" dirty="0">
                <a:solidFill>
                  <a:srgbClr val="FFFFFF"/>
                </a:solidFill>
                <a:latin typeface="Arial"/>
                <a:cs typeface="Arial"/>
              </a:rPr>
              <a:t> </a:t>
            </a:r>
            <a:r>
              <a:rPr sz="1800" spc="-75" dirty="0">
                <a:solidFill>
                  <a:srgbClr val="FFFFFF"/>
                </a:solidFill>
                <a:latin typeface="Arial"/>
                <a:cs typeface="Arial"/>
              </a:rPr>
              <a:t>sources.</a:t>
            </a:r>
            <a:endParaRPr sz="1800">
              <a:latin typeface="Arial"/>
              <a:cs typeface="Arial"/>
            </a:endParaRPr>
          </a:p>
        </p:txBody>
      </p:sp>
      <p:pic>
        <p:nvPicPr>
          <p:cNvPr id="5" name="object 5"/>
          <p:cNvPicPr/>
          <p:nvPr/>
        </p:nvPicPr>
        <p:blipFill>
          <a:blip r:embed="rId3" cstate="print"/>
          <a:stretch>
            <a:fillRect/>
          </a:stretch>
        </p:blipFill>
        <p:spPr>
          <a:xfrm>
            <a:off x="275081" y="2923794"/>
            <a:ext cx="8868918" cy="923544"/>
          </a:xfrm>
          <a:prstGeom prst="rect">
            <a:avLst/>
          </a:prstGeom>
        </p:spPr>
      </p:pic>
      <p:sp>
        <p:nvSpPr>
          <p:cNvPr id="6" name="object 6"/>
          <p:cNvSpPr txBox="1"/>
          <p:nvPr/>
        </p:nvSpPr>
        <p:spPr>
          <a:xfrm>
            <a:off x="484377" y="2279058"/>
            <a:ext cx="8357870" cy="1477010"/>
          </a:xfrm>
          <a:prstGeom prst="rect">
            <a:avLst/>
          </a:prstGeom>
        </p:spPr>
        <p:txBody>
          <a:bodyPr vert="horz" wrap="square" lIns="0" tIns="203835" rIns="0" bIns="0" rtlCol="0">
            <a:spAutoFit/>
          </a:bodyPr>
          <a:lstStyle/>
          <a:p>
            <a:pPr marL="12700">
              <a:lnSpc>
                <a:spcPct val="100000"/>
              </a:lnSpc>
              <a:spcBef>
                <a:spcPts val="1605"/>
              </a:spcBef>
            </a:pPr>
            <a:r>
              <a:rPr sz="2200" b="1" spc="20" dirty="0">
                <a:latin typeface="Times New Roman"/>
                <a:cs typeface="Times New Roman"/>
              </a:rPr>
              <a:t>Configure </a:t>
            </a:r>
            <a:r>
              <a:rPr sz="2200" b="1" spc="10" dirty="0">
                <a:latin typeface="Times New Roman"/>
                <a:cs typeface="Times New Roman"/>
              </a:rPr>
              <a:t>Hadoop</a:t>
            </a:r>
            <a:r>
              <a:rPr sz="2200" b="1" spc="-265" dirty="0">
                <a:latin typeface="Times New Roman"/>
                <a:cs typeface="Times New Roman"/>
              </a:rPr>
              <a:t> </a:t>
            </a:r>
            <a:r>
              <a:rPr sz="2200" b="1" spc="30" dirty="0">
                <a:latin typeface="Times New Roman"/>
                <a:cs typeface="Times New Roman"/>
              </a:rPr>
              <a:t>Connectivity</a:t>
            </a:r>
            <a:endParaRPr sz="2200">
              <a:latin typeface="Times New Roman"/>
              <a:cs typeface="Times New Roman"/>
            </a:endParaRPr>
          </a:p>
          <a:p>
            <a:pPr marL="447040" marR="5080" indent="-342900">
              <a:lnSpc>
                <a:spcPts val="1939"/>
              </a:lnSpc>
              <a:spcBef>
                <a:spcPts val="1480"/>
              </a:spcBef>
              <a:buFont typeface="Wingdings"/>
              <a:buChar char=""/>
              <a:tabLst>
                <a:tab pos="446405" algn="l"/>
                <a:tab pos="447040" algn="l"/>
              </a:tabLst>
            </a:pPr>
            <a:r>
              <a:rPr sz="1800" spc="30" dirty="0">
                <a:solidFill>
                  <a:srgbClr val="FFFFFF"/>
                </a:solidFill>
                <a:latin typeface="Arial"/>
                <a:cs typeface="Arial"/>
              </a:rPr>
              <a:t>Run </a:t>
            </a:r>
            <a:r>
              <a:rPr sz="1800" spc="-70" dirty="0">
                <a:solidFill>
                  <a:srgbClr val="FFFFFF"/>
                </a:solidFill>
                <a:latin typeface="Arial"/>
                <a:cs typeface="Arial"/>
              </a:rPr>
              <a:t>sp_configure </a:t>
            </a:r>
            <a:r>
              <a:rPr sz="1800" spc="80" dirty="0">
                <a:solidFill>
                  <a:srgbClr val="FFFFFF"/>
                </a:solidFill>
                <a:latin typeface="Arial"/>
                <a:cs typeface="Arial"/>
              </a:rPr>
              <a:t>with </a:t>
            </a:r>
            <a:r>
              <a:rPr sz="1800" spc="-5" dirty="0">
                <a:solidFill>
                  <a:srgbClr val="FFFFFF"/>
                </a:solidFill>
                <a:latin typeface="Arial"/>
                <a:cs typeface="Arial"/>
              </a:rPr>
              <a:t>'hadoop </a:t>
            </a:r>
            <a:r>
              <a:rPr sz="1800" spc="25" dirty="0">
                <a:solidFill>
                  <a:srgbClr val="FFFFFF"/>
                </a:solidFill>
                <a:latin typeface="Arial"/>
                <a:cs typeface="Arial"/>
              </a:rPr>
              <a:t>connectivity' </a:t>
            </a:r>
            <a:r>
              <a:rPr sz="1800" spc="-35" dirty="0">
                <a:solidFill>
                  <a:srgbClr val="FFFFFF"/>
                </a:solidFill>
                <a:latin typeface="Arial"/>
                <a:cs typeface="Arial"/>
              </a:rPr>
              <a:t>and </a:t>
            </a:r>
            <a:r>
              <a:rPr sz="1800" spc="-80" dirty="0">
                <a:solidFill>
                  <a:srgbClr val="FFFFFF"/>
                </a:solidFill>
                <a:latin typeface="Arial"/>
                <a:cs typeface="Arial"/>
              </a:rPr>
              <a:t>set </a:t>
            </a:r>
            <a:r>
              <a:rPr sz="1800" spc="-60" dirty="0">
                <a:solidFill>
                  <a:srgbClr val="FFFFFF"/>
                </a:solidFill>
                <a:latin typeface="Arial"/>
                <a:cs typeface="Arial"/>
              </a:rPr>
              <a:t>an </a:t>
            </a:r>
            <a:r>
              <a:rPr sz="1800" spc="-15" dirty="0">
                <a:solidFill>
                  <a:srgbClr val="FFFFFF"/>
                </a:solidFill>
                <a:latin typeface="Arial"/>
                <a:cs typeface="Arial"/>
              </a:rPr>
              <a:t>appropriate </a:t>
            </a:r>
            <a:r>
              <a:rPr sz="1800" spc="-35" dirty="0">
                <a:solidFill>
                  <a:srgbClr val="FFFFFF"/>
                </a:solidFill>
                <a:latin typeface="Arial"/>
                <a:cs typeface="Arial"/>
              </a:rPr>
              <a:t>value </a:t>
            </a:r>
            <a:r>
              <a:rPr sz="1800" spc="60" dirty="0">
                <a:solidFill>
                  <a:srgbClr val="FFFFFF"/>
                </a:solidFill>
                <a:latin typeface="Arial"/>
                <a:cs typeface="Arial"/>
              </a:rPr>
              <a:t>for  </a:t>
            </a:r>
            <a:r>
              <a:rPr sz="1800" spc="20" dirty="0">
                <a:solidFill>
                  <a:srgbClr val="FFFFFF"/>
                </a:solidFill>
                <a:latin typeface="Arial"/>
                <a:cs typeface="Arial"/>
              </a:rPr>
              <a:t>your</a:t>
            </a:r>
            <a:r>
              <a:rPr sz="1800" spc="-110" dirty="0">
                <a:solidFill>
                  <a:srgbClr val="FFFFFF"/>
                </a:solidFill>
                <a:latin typeface="Arial"/>
                <a:cs typeface="Arial"/>
              </a:rPr>
              <a:t> </a:t>
            </a:r>
            <a:r>
              <a:rPr sz="1800" spc="10" dirty="0">
                <a:solidFill>
                  <a:srgbClr val="FFFFFF"/>
                </a:solidFill>
                <a:latin typeface="Arial"/>
                <a:cs typeface="Arial"/>
              </a:rPr>
              <a:t>provider.</a:t>
            </a:r>
            <a:endParaRPr sz="1800">
              <a:latin typeface="Arial"/>
              <a:cs typeface="Arial"/>
            </a:endParaRPr>
          </a:p>
          <a:p>
            <a:pPr marL="447040" indent="-342900">
              <a:lnSpc>
                <a:spcPts val="1920"/>
              </a:lnSpc>
              <a:buFont typeface="Wingdings"/>
              <a:buChar char=""/>
              <a:tabLst>
                <a:tab pos="446405" algn="l"/>
                <a:tab pos="447040" algn="l"/>
              </a:tabLst>
            </a:pPr>
            <a:r>
              <a:rPr sz="1800" spc="-35" dirty="0">
                <a:solidFill>
                  <a:srgbClr val="FFFFFF"/>
                </a:solidFill>
                <a:latin typeface="Arial"/>
                <a:cs typeface="Arial"/>
              </a:rPr>
              <a:t>Restart </a:t>
            </a:r>
            <a:r>
              <a:rPr sz="1800" spc="20" dirty="0">
                <a:solidFill>
                  <a:srgbClr val="FFFFFF"/>
                </a:solidFill>
                <a:latin typeface="Arial"/>
                <a:cs typeface="Arial"/>
              </a:rPr>
              <a:t>SQL</a:t>
            </a:r>
            <a:r>
              <a:rPr sz="1800" spc="-365" dirty="0">
                <a:solidFill>
                  <a:srgbClr val="FFFFFF"/>
                </a:solidFill>
                <a:latin typeface="Arial"/>
                <a:cs typeface="Arial"/>
              </a:rPr>
              <a:t> </a:t>
            </a:r>
            <a:r>
              <a:rPr sz="1800" spc="-45" dirty="0">
                <a:solidFill>
                  <a:srgbClr val="FFFFFF"/>
                </a:solidFill>
                <a:latin typeface="Arial"/>
                <a:cs typeface="Arial"/>
              </a:rPr>
              <a:t>Server </a:t>
            </a:r>
            <a:r>
              <a:rPr sz="1800" spc="-25" dirty="0">
                <a:solidFill>
                  <a:srgbClr val="FFFFFF"/>
                </a:solidFill>
                <a:latin typeface="Arial"/>
                <a:cs typeface="Arial"/>
              </a:rPr>
              <a:t>using </a:t>
            </a:r>
            <a:r>
              <a:rPr sz="1800" spc="-75" dirty="0">
                <a:solidFill>
                  <a:srgbClr val="FFFFFF"/>
                </a:solidFill>
                <a:latin typeface="Arial"/>
                <a:cs typeface="Arial"/>
              </a:rPr>
              <a:t>services.msc.</a:t>
            </a:r>
            <a:endParaRPr sz="1800">
              <a:latin typeface="Arial"/>
              <a:cs typeface="Arial"/>
            </a:endParaRPr>
          </a:p>
        </p:txBody>
      </p:sp>
      <p:pic>
        <p:nvPicPr>
          <p:cNvPr id="7" name="object 7"/>
          <p:cNvPicPr/>
          <p:nvPr/>
        </p:nvPicPr>
        <p:blipFill>
          <a:blip r:embed="rId4" cstate="print"/>
          <a:stretch>
            <a:fillRect/>
          </a:stretch>
        </p:blipFill>
        <p:spPr>
          <a:xfrm>
            <a:off x="1731264" y="4041647"/>
            <a:ext cx="6019799" cy="1921764"/>
          </a:xfrm>
          <a:prstGeom prst="rect">
            <a:avLst/>
          </a:prstGeom>
        </p:spPr>
      </p:pic>
      <p:sp>
        <p:nvSpPr>
          <p:cNvPr id="8" name="object 8"/>
          <p:cNvSpPr txBox="1"/>
          <p:nvPr/>
        </p:nvSpPr>
        <p:spPr>
          <a:xfrm>
            <a:off x="3797300" y="6002527"/>
            <a:ext cx="1570990" cy="238760"/>
          </a:xfrm>
          <a:prstGeom prst="rect">
            <a:avLst/>
          </a:prstGeom>
        </p:spPr>
        <p:txBody>
          <a:bodyPr vert="horz" wrap="square" lIns="0" tIns="12065" rIns="0" bIns="0" rtlCol="0">
            <a:spAutoFit/>
          </a:bodyPr>
          <a:lstStyle/>
          <a:p>
            <a:pPr marL="12700">
              <a:lnSpc>
                <a:spcPct val="100000"/>
              </a:lnSpc>
              <a:spcBef>
                <a:spcPts val="95"/>
              </a:spcBef>
            </a:pPr>
            <a:r>
              <a:rPr sz="1400" b="1" dirty="0">
                <a:latin typeface="Times New Roman"/>
                <a:cs typeface="Times New Roman"/>
              </a:rPr>
              <a:t>SQL </a:t>
            </a:r>
            <a:r>
              <a:rPr sz="1400" b="1" spc="-20" dirty="0">
                <a:latin typeface="Times New Roman"/>
                <a:cs typeface="Times New Roman"/>
              </a:rPr>
              <a:t>Server</a:t>
            </a:r>
            <a:r>
              <a:rPr sz="1400" b="1" spc="-185" dirty="0">
                <a:latin typeface="Times New Roman"/>
                <a:cs typeface="Times New Roman"/>
              </a:rPr>
              <a:t> </a:t>
            </a:r>
            <a:r>
              <a:rPr sz="1400" b="1" spc="-5" dirty="0">
                <a:latin typeface="Times New Roman"/>
                <a:cs typeface="Times New Roman"/>
              </a:rPr>
              <a:t>Services</a:t>
            </a:r>
            <a:endParaRPr sz="14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9</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3784" y="91440"/>
            <a:ext cx="8267065" cy="574675"/>
          </a:xfrm>
          <a:prstGeom prst="rect">
            <a:avLst/>
          </a:prstGeom>
        </p:spPr>
        <p:txBody>
          <a:bodyPr vert="horz" wrap="square" lIns="0" tIns="12700" rIns="0" bIns="0" rtlCol="0">
            <a:spAutoFit/>
          </a:bodyPr>
          <a:lstStyle/>
          <a:p>
            <a:pPr marL="12700">
              <a:lnSpc>
                <a:spcPct val="100000"/>
              </a:lnSpc>
              <a:spcBef>
                <a:spcPts val="100"/>
              </a:spcBef>
            </a:pPr>
            <a:r>
              <a:rPr b="0" spc="30" dirty="0">
                <a:latin typeface="Arial"/>
                <a:cs typeface="Arial"/>
              </a:rPr>
              <a:t>Installing</a:t>
            </a:r>
            <a:r>
              <a:rPr b="0" spc="-254" dirty="0">
                <a:latin typeface="Arial"/>
                <a:cs typeface="Arial"/>
              </a:rPr>
              <a:t> </a:t>
            </a:r>
            <a:r>
              <a:rPr b="0" spc="-175" dirty="0">
                <a:latin typeface="Arial"/>
                <a:cs typeface="Arial"/>
              </a:rPr>
              <a:t>PolyBase</a:t>
            </a:r>
            <a:r>
              <a:rPr b="0" spc="-265" dirty="0">
                <a:latin typeface="Arial"/>
                <a:cs typeface="Arial"/>
              </a:rPr>
              <a:t> </a:t>
            </a:r>
            <a:r>
              <a:rPr b="0" spc="170" dirty="0">
                <a:latin typeface="Arial"/>
                <a:cs typeface="Arial"/>
              </a:rPr>
              <a:t>in</a:t>
            </a:r>
            <a:r>
              <a:rPr b="0" spc="-235" dirty="0">
                <a:latin typeface="Arial"/>
                <a:cs typeface="Arial"/>
              </a:rPr>
              <a:t> </a:t>
            </a:r>
            <a:r>
              <a:rPr b="0" spc="45" dirty="0">
                <a:latin typeface="Arial"/>
                <a:cs typeface="Arial"/>
              </a:rPr>
              <a:t>SQL</a:t>
            </a:r>
            <a:r>
              <a:rPr b="0" spc="-235" dirty="0">
                <a:latin typeface="Arial"/>
                <a:cs typeface="Arial"/>
              </a:rPr>
              <a:t> </a:t>
            </a:r>
            <a:r>
              <a:rPr b="0" spc="-90" dirty="0">
                <a:latin typeface="Arial"/>
                <a:cs typeface="Arial"/>
              </a:rPr>
              <a:t>Server</a:t>
            </a:r>
            <a:r>
              <a:rPr b="0" spc="-245" dirty="0">
                <a:latin typeface="Arial"/>
                <a:cs typeface="Arial"/>
              </a:rPr>
              <a:t> </a:t>
            </a:r>
            <a:r>
              <a:rPr b="0" spc="-365" dirty="0">
                <a:latin typeface="Arial"/>
                <a:cs typeface="Arial"/>
              </a:rPr>
              <a:t>2019</a:t>
            </a:r>
            <a:r>
              <a:rPr b="0" spc="-235" dirty="0">
                <a:latin typeface="Arial"/>
                <a:cs typeface="Arial"/>
              </a:rPr>
              <a:t> </a:t>
            </a:r>
            <a:r>
              <a:rPr b="0" spc="-125" dirty="0">
                <a:latin typeface="Arial"/>
                <a:cs typeface="Arial"/>
              </a:rPr>
              <a:t>4-4</a:t>
            </a:r>
          </a:p>
        </p:txBody>
      </p:sp>
      <p:sp>
        <p:nvSpPr>
          <p:cNvPr id="3" name="object 3"/>
          <p:cNvSpPr txBox="1"/>
          <p:nvPr/>
        </p:nvSpPr>
        <p:spPr>
          <a:xfrm>
            <a:off x="410209" y="832612"/>
            <a:ext cx="3272790" cy="361315"/>
          </a:xfrm>
          <a:prstGeom prst="rect">
            <a:avLst/>
          </a:prstGeom>
        </p:spPr>
        <p:txBody>
          <a:bodyPr vert="horz" wrap="square" lIns="0" tIns="13335" rIns="0" bIns="0" rtlCol="0">
            <a:spAutoFit/>
          </a:bodyPr>
          <a:lstStyle/>
          <a:p>
            <a:pPr marL="12700">
              <a:lnSpc>
                <a:spcPct val="100000"/>
              </a:lnSpc>
              <a:spcBef>
                <a:spcPts val="105"/>
              </a:spcBef>
            </a:pPr>
            <a:r>
              <a:rPr sz="2200" b="1" spc="15" dirty="0">
                <a:latin typeface="Times New Roman"/>
                <a:cs typeface="Times New Roman"/>
              </a:rPr>
              <a:t>Configure </a:t>
            </a:r>
            <a:r>
              <a:rPr sz="2200" b="1" spc="-10" dirty="0">
                <a:latin typeface="Times New Roman"/>
                <a:cs typeface="Times New Roman"/>
              </a:rPr>
              <a:t>an </a:t>
            </a:r>
            <a:r>
              <a:rPr sz="2200" b="1" spc="-5">
                <a:latin typeface="Times New Roman"/>
                <a:cs typeface="Times New Roman"/>
              </a:rPr>
              <a:t>external</a:t>
            </a:r>
            <a:r>
              <a:rPr sz="2200" b="1" spc="-405">
                <a:latin typeface="Times New Roman"/>
                <a:cs typeface="Times New Roman"/>
              </a:rPr>
              <a:t> </a:t>
            </a:r>
            <a:r>
              <a:rPr lang="en-US" sz="2200" b="1" spc="-405">
                <a:latin typeface="Times New Roman"/>
                <a:cs typeface="Times New Roman"/>
              </a:rPr>
              <a:t> </a:t>
            </a:r>
            <a:r>
              <a:rPr sz="2200" b="1" spc="-20">
                <a:latin typeface="Times New Roman"/>
                <a:cs typeface="Times New Roman"/>
              </a:rPr>
              <a:t>table</a:t>
            </a:r>
            <a:endParaRPr sz="2200">
              <a:latin typeface="Times New Roman"/>
              <a:cs typeface="Times New Roman"/>
            </a:endParaRPr>
          </a:p>
        </p:txBody>
      </p:sp>
      <p:sp>
        <p:nvSpPr>
          <p:cNvPr id="4" name="object 4"/>
          <p:cNvSpPr/>
          <p:nvPr/>
        </p:nvSpPr>
        <p:spPr>
          <a:xfrm>
            <a:off x="275082" y="1496567"/>
            <a:ext cx="8411845" cy="4248150"/>
          </a:xfrm>
          <a:custGeom>
            <a:avLst/>
            <a:gdLst/>
            <a:ahLst/>
            <a:cxnLst/>
            <a:rect l="l" t="t" r="r" b="b"/>
            <a:pathLst>
              <a:path w="8411845" h="4248150">
                <a:moveTo>
                  <a:pt x="8411718" y="708025"/>
                </a:moveTo>
                <a:lnTo>
                  <a:pt x="8410080" y="659549"/>
                </a:lnTo>
                <a:lnTo>
                  <a:pt x="8405254" y="611962"/>
                </a:lnTo>
                <a:lnTo>
                  <a:pt x="8397329" y="565340"/>
                </a:lnTo>
                <a:lnTo>
                  <a:pt x="8386419" y="519811"/>
                </a:lnTo>
                <a:lnTo>
                  <a:pt x="8372627" y="475475"/>
                </a:lnTo>
                <a:lnTo>
                  <a:pt x="8356066" y="432435"/>
                </a:lnTo>
                <a:lnTo>
                  <a:pt x="8336839" y="390804"/>
                </a:lnTo>
                <a:lnTo>
                  <a:pt x="8315045" y="350672"/>
                </a:lnTo>
                <a:lnTo>
                  <a:pt x="8290788" y="312166"/>
                </a:lnTo>
                <a:lnTo>
                  <a:pt x="8264182" y="275374"/>
                </a:lnTo>
                <a:lnTo>
                  <a:pt x="8235328" y="240411"/>
                </a:lnTo>
                <a:lnTo>
                  <a:pt x="8204340" y="207378"/>
                </a:lnTo>
                <a:lnTo>
                  <a:pt x="8171307" y="176390"/>
                </a:lnTo>
                <a:lnTo>
                  <a:pt x="8136344" y="147535"/>
                </a:lnTo>
                <a:lnTo>
                  <a:pt x="8099552" y="120929"/>
                </a:lnTo>
                <a:lnTo>
                  <a:pt x="8061045" y="96672"/>
                </a:lnTo>
                <a:lnTo>
                  <a:pt x="8020913" y="74879"/>
                </a:lnTo>
                <a:lnTo>
                  <a:pt x="7979283" y="55651"/>
                </a:lnTo>
                <a:lnTo>
                  <a:pt x="7936243" y="39090"/>
                </a:lnTo>
                <a:lnTo>
                  <a:pt x="7891907" y="25298"/>
                </a:lnTo>
                <a:lnTo>
                  <a:pt x="7846377" y="14389"/>
                </a:lnTo>
                <a:lnTo>
                  <a:pt x="7799756" y="6464"/>
                </a:lnTo>
                <a:lnTo>
                  <a:pt x="7752169" y="1638"/>
                </a:lnTo>
                <a:lnTo>
                  <a:pt x="7703693" y="0"/>
                </a:lnTo>
                <a:lnTo>
                  <a:pt x="708037" y="0"/>
                </a:lnTo>
                <a:lnTo>
                  <a:pt x="659549" y="1638"/>
                </a:lnTo>
                <a:lnTo>
                  <a:pt x="611962" y="6464"/>
                </a:lnTo>
                <a:lnTo>
                  <a:pt x="565340" y="14389"/>
                </a:lnTo>
                <a:lnTo>
                  <a:pt x="519811" y="25298"/>
                </a:lnTo>
                <a:lnTo>
                  <a:pt x="475475" y="39090"/>
                </a:lnTo>
                <a:lnTo>
                  <a:pt x="432435" y="55651"/>
                </a:lnTo>
                <a:lnTo>
                  <a:pt x="390804" y="74879"/>
                </a:lnTo>
                <a:lnTo>
                  <a:pt x="350672" y="96672"/>
                </a:lnTo>
                <a:lnTo>
                  <a:pt x="312166" y="120929"/>
                </a:lnTo>
                <a:lnTo>
                  <a:pt x="275374" y="147535"/>
                </a:lnTo>
                <a:lnTo>
                  <a:pt x="240411" y="176390"/>
                </a:lnTo>
                <a:lnTo>
                  <a:pt x="207378" y="207378"/>
                </a:lnTo>
                <a:lnTo>
                  <a:pt x="176377" y="240411"/>
                </a:lnTo>
                <a:lnTo>
                  <a:pt x="147523" y="275374"/>
                </a:lnTo>
                <a:lnTo>
                  <a:pt x="120916" y="312166"/>
                </a:lnTo>
                <a:lnTo>
                  <a:pt x="96659" y="350672"/>
                </a:lnTo>
                <a:lnTo>
                  <a:pt x="74866" y="390804"/>
                </a:lnTo>
                <a:lnTo>
                  <a:pt x="55638" y="432435"/>
                </a:lnTo>
                <a:lnTo>
                  <a:pt x="39077" y="475475"/>
                </a:lnTo>
                <a:lnTo>
                  <a:pt x="25285" y="519811"/>
                </a:lnTo>
                <a:lnTo>
                  <a:pt x="14376" y="565340"/>
                </a:lnTo>
                <a:lnTo>
                  <a:pt x="6451" y="611962"/>
                </a:lnTo>
                <a:lnTo>
                  <a:pt x="1625" y="659549"/>
                </a:lnTo>
                <a:lnTo>
                  <a:pt x="0" y="708025"/>
                </a:lnTo>
                <a:lnTo>
                  <a:pt x="0" y="3540125"/>
                </a:lnTo>
                <a:lnTo>
                  <a:pt x="1625" y="3588613"/>
                </a:lnTo>
                <a:lnTo>
                  <a:pt x="6451" y="3636200"/>
                </a:lnTo>
                <a:lnTo>
                  <a:pt x="14376" y="3682822"/>
                </a:lnTo>
                <a:lnTo>
                  <a:pt x="25285" y="3728351"/>
                </a:lnTo>
                <a:lnTo>
                  <a:pt x="39077" y="3772687"/>
                </a:lnTo>
                <a:lnTo>
                  <a:pt x="55638" y="3815727"/>
                </a:lnTo>
                <a:lnTo>
                  <a:pt x="74866" y="3857358"/>
                </a:lnTo>
                <a:lnTo>
                  <a:pt x="96659" y="3897490"/>
                </a:lnTo>
                <a:lnTo>
                  <a:pt x="120916" y="3935996"/>
                </a:lnTo>
                <a:lnTo>
                  <a:pt x="147523" y="3972788"/>
                </a:lnTo>
                <a:lnTo>
                  <a:pt x="176377" y="4007751"/>
                </a:lnTo>
                <a:lnTo>
                  <a:pt x="207378" y="4040784"/>
                </a:lnTo>
                <a:lnTo>
                  <a:pt x="240411" y="4071772"/>
                </a:lnTo>
                <a:lnTo>
                  <a:pt x="275374" y="4100626"/>
                </a:lnTo>
                <a:lnTo>
                  <a:pt x="312166" y="4127233"/>
                </a:lnTo>
                <a:lnTo>
                  <a:pt x="350672" y="4151490"/>
                </a:lnTo>
                <a:lnTo>
                  <a:pt x="390804" y="4173283"/>
                </a:lnTo>
                <a:lnTo>
                  <a:pt x="432435" y="4192511"/>
                </a:lnTo>
                <a:lnTo>
                  <a:pt x="475475" y="4209072"/>
                </a:lnTo>
                <a:lnTo>
                  <a:pt x="519811" y="4222864"/>
                </a:lnTo>
                <a:lnTo>
                  <a:pt x="565340" y="4233773"/>
                </a:lnTo>
                <a:lnTo>
                  <a:pt x="611962" y="4241698"/>
                </a:lnTo>
                <a:lnTo>
                  <a:pt x="659549" y="4246524"/>
                </a:lnTo>
                <a:lnTo>
                  <a:pt x="708037" y="4248150"/>
                </a:lnTo>
                <a:lnTo>
                  <a:pt x="7703693" y="4248150"/>
                </a:lnTo>
                <a:lnTo>
                  <a:pt x="7752169" y="4246524"/>
                </a:lnTo>
                <a:lnTo>
                  <a:pt x="7799756" y="4241698"/>
                </a:lnTo>
                <a:lnTo>
                  <a:pt x="7846377" y="4233773"/>
                </a:lnTo>
                <a:lnTo>
                  <a:pt x="7891907" y="4222864"/>
                </a:lnTo>
                <a:lnTo>
                  <a:pt x="7936243" y="4209072"/>
                </a:lnTo>
                <a:lnTo>
                  <a:pt x="7979283" y="4192511"/>
                </a:lnTo>
                <a:lnTo>
                  <a:pt x="8020913" y="4173283"/>
                </a:lnTo>
                <a:lnTo>
                  <a:pt x="8061045" y="4151490"/>
                </a:lnTo>
                <a:lnTo>
                  <a:pt x="8099552" y="4127233"/>
                </a:lnTo>
                <a:lnTo>
                  <a:pt x="8136344" y="4100626"/>
                </a:lnTo>
                <a:lnTo>
                  <a:pt x="8171307" y="4071772"/>
                </a:lnTo>
                <a:lnTo>
                  <a:pt x="8204340" y="4040784"/>
                </a:lnTo>
                <a:lnTo>
                  <a:pt x="8235328" y="4007751"/>
                </a:lnTo>
                <a:lnTo>
                  <a:pt x="8264182" y="3972788"/>
                </a:lnTo>
                <a:lnTo>
                  <a:pt x="8290788" y="3935996"/>
                </a:lnTo>
                <a:lnTo>
                  <a:pt x="8315045" y="3897490"/>
                </a:lnTo>
                <a:lnTo>
                  <a:pt x="8336839" y="3857358"/>
                </a:lnTo>
                <a:lnTo>
                  <a:pt x="8356066" y="3815727"/>
                </a:lnTo>
                <a:lnTo>
                  <a:pt x="8372627" y="3772687"/>
                </a:lnTo>
                <a:lnTo>
                  <a:pt x="8386419" y="3728351"/>
                </a:lnTo>
                <a:lnTo>
                  <a:pt x="8397329" y="3682822"/>
                </a:lnTo>
                <a:lnTo>
                  <a:pt x="8405254" y="3636200"/>
                </a:lnTo>
                <a:lnTo>
                  <a:pt x="8410080" y="3588613"/>
                </a:lnTo>
                <a:lnTo>
                  <a:pt x="8411718" y="3540125"/>
                </a:lnTo>
                <a:lnTo>
                  <a:pt x="8411718" y="708025"/>
                </a:lnTo>
                <a:close/>
              </a:path>
            </a:pathLst>
          </a:custGeom>
          <a:solidFill>
            <a:srgbClr val="4F81BC"/>
          </a:solidFill>
        </p:spPr>
        <p:txBody>
          <a:bodyPr wrap="square" lIns="0" tIns="0" rIns="0" bIns="0" rtlCol="0"/>
          <a:lstStyle/>
          <a:p>
            <a:endParaRPr/>
          </a:p>
        </p:txBody>
      </p:sp>
      <p:sp>
        <p:nvSpPr>
          <p:cNvPr id="5" name="object 5"/>
          <p:cNvSpPr txBox="1"/>
          <p:nvPr/>
        </p:nvSpPr>
        <p:spPr>
          <a:xfrm>
            <a:off x="563626" y="2242057"/>
            <a:ext cx="7835900" cy="2885440"/>
          </a:xfrm>
          <a:prstGeom prst="rect">
            <a:avLst/>
          </a:prstGeom>
        </p:spPr>
        <p:txBody>
          <a:bodyPr vert="horz" wrap="square" lIns="0" tIns="46990" rIns="0" bIns="0" rtlCol="0">
            <a:spAutoFit/>
          </a:bodyPr>
          <a:lstStyle/>
          <a:p>
            <a:pPr marL="12700" marR="5080" algn="just">
              <a:lnSpc>
                <a:spcPts val="2160"/>
              </a:lnSpc>
              <a:spcBef>
                <a:spcPts val="370"/>
              </a:spcBef>
            </a:pPr>
            <a:r>
              <a:rPr sz="2000" spc="75" dirty="0">
                <a:solidFill>
                  <a:srgbClr val="FFFFFF"/>
                </a:solidFill>
                <a:latin typeface="Arial"/>
                <a:cs typeface="Arial"/>
              </a:rPr>
              <a:t>To </a:t>
            </a:r>
            <a:r>
              <a:rPr sz="2000" spc="-15" dirty="0">
                <a:solidFill>
                  <a:srgbClr val="FFFFFF"/>
                </a:solidFill>
                <a:latin typeface="Arial"/>
                <a:cs typeface="Arial"/>
              </a:rPr>
              <a:t>query </a:t>
            </a:r>
            <a:r>
              <a:rPr sz="2000" dirty="0">
                <a:solidFill>
                  <a:srgbClr val="FFFFFF"/>
                </a:solidFill>
                <a:latin typeface="Arial"/>
                <a:cs typeface="Arial"/>
              </a:rPr>
              <a:t>the </a:t>
            </a:r>
            <a:r>
              <a:rPr sz="2000" spc="-60" dirty="0">
                <a:solidFill>
                  <a:srgbClr val="FFFFFF"/>
                </a:solidFill>
                <a:latin typeface="Arial"/>
                <a:cs typeface="Arial"/>
              </a:rPr>
              <a:t>data </a:t>
            </a:r>
            <a:r>
              <a:rPr sz="2000" spc="95" dirty="0">
                <a:solidFill>
                  <a:srgbClr val="FFFFFF"/>
                </a:solidFill>
                <a:latin typeface="Arial"/>
                <a:cs typeface="Arial"/>
              </a:rPr>
              <a:t>in </a:t>
            </a:r>
            <a:r>
              <a:rPr sz="2000" spc="25" dirty="0">
                <a:solidFill>
                  <a:srgbClr val="FFFFFF"/>
                </a:solidFill>
                <a:latin typeface="Arial"/>
                <a:cs typeface="Arial"/>
              </a:rPr>
              <a:t>your </a:t>
            </a:r>
            <a:r>
              <a:rPr sz="2000" spc="-15" dirty="0">
                <a:solidFill>
                  <a:srgbClr val="FFFFFF"/>
                </a:solidFill>
                <a:latin typeface="Arial"/>
                <a:cs typeface="Arial"/>
              </a:rPr>
              <a:t>Hadoop </a:t>
            </a:r>
            <a:r>
              <a:rPr sz="2000" spc="-60" dirty="0">
                <a:solidFill>
                  <a:srgbClr val="FFFFFF"/>
                </a:solidFill>
                <a:latin typeface="Arial"/>
                <a:cs typeface="Arial"/>
              </a:rPr>
              <a:t>data </a:t>
            </a:r>
            <a:r>
              <a:rPr sz="2000" spc="-65" dirty="0">
                <a:solidFill>
                  <a:srgbClr val="FFFFFF"/>
                </a:solidFill>
                <a:latin typeface="Arial"/>
                <a:cs typeface="Arial"/>
              </a:rPr>
              <a:t>source, </a:t>
            </a:r>
            <a:r>
              <a:rPr sz="2000" spc="5" dirty="0">
                <a:solidFill>
                  <a:srgbClr val="FFFFFF"/>
                </a:solidFill>
                <a:latin typeface="Arial"/>
                <a:cs typeface="Arial"/>
              </a:rPr>
              <a:t>you </a:t>
            </a:r>
            <a:r>
              <a:rPr sz="2000" spc="-20" dirty="0">
                <a:solidFill>
                  <a:srgbClr val="FFFFFF"/>
                </a:solidFill>
                <a:latin typeface="Arial"/>
                <a:cs typeface="Arial"/>
              </a:rPr>
              <a:t>must </a:t>
            </a:r>
            <a:r>
              <a:rPr sz="2000" spc="-5" dirty="0">
                <a:solidFill>
                  <a:srgbClr val="FFFFFF"/>
                </a:solidFill>
                <a:latin typeface="Arial"/>
                <a:cs typeface="Arial"/>
              </a:rPr>
              <a:t>define </a:t>
            </a:r>
            <a:r>
              <a:rPr sz="2000" spc="-65" dirty="0">
                <a:solidFill>
                  <a:srgbClr val="FFFFFF"/>
                </a:solidFill>
                <a:latin typeface="Arial"/>
                <a:cs typeface="Arial"/>
              </a:rPr>
              <a:t>an  </a:t>
            </a:r>
            <a:r>
              <a:rPr sz="2000" spc="-10" dirty="0">
                <a:solidFill>
                  <a:srgbClr val="FFFFFF"/>
                </a:solidFill>
                <a:latin typeface="Arial"/>
                <a:cs typeface="Arial"/>
              </a:rPr>
              <a:t>external </a:t>
            </a:r>
            <a:r>
              <a:rPr sz="2000" spc="-30" dirty="0">
                <a:solidFill>
                  <a:srgbClr val="FFFFFF"/>
                </a:solidFill>
                <a:latin typeface="Arial"/>
                <a:cs typeface="Arial"/>
              </a:rPr>
              <a:t>table </a:t>
            </a:r>
            <a:r>
              <a:rPr sz="2000" spc="55" dirty="0">
                <a:solidFill>
                  <a:srgbClr val="FFFFFF"/>
                </a:solidFill>
                <a:latin typeface="Arial"/>
                <a:cs typeface="Arial"/>
              </a:rPr>
              <a:t>to </a:t>
            </a:r>
            <a:r>
              <a:rPr sz="2000" spc="-120" dirty="0">
                <a:solidFill>
                  <a:srgbClr val="FFFFFF"/>
                </a:solidFill>
                <a:latin typeface="Arial"/>
                <a:cs typeface="Arial"/>
              </a:rPr>
              <a:t>use </a:t>
            </a:r>
            <a:r>
              <a:rPr sz="2000" spc="95" dirty="0">
                <a:solidFill>
                  <a:srgbClr val="FFFFFF"/>
                </a:solidFill>
                <a:latin typeface="Arial"/>
                <a:cs typeface="Arial"/>
              </a:rPr>
              <a:t>in </a:t>
            </a:r>
            <a:r>
              <a:rPr sz="2000" spc="-15" dirty="0">
                <a:solidFill>
                  <a:srgbClr val="FFFFFF"/>
                </a:solidFill>
                <a:latin typeface="Arial"/>
                <a:cs typeface="Arial"/>
              </a:rPr>
              <a:t>Transact-SQL </a:t>
            </a:r>
            <a:r>
              <a:rPr sz="2000" spc="-50" dirty="0">
                <a:solidFill>
                  <a:srgbClr val="FFFFFF"/>
                </a:solidFill>
                <a:latin typeface="Arial"/>
                <a:cs typeface="Arial"/>
              </a:rPr>
              <a:t>queries. </a:t>
            </a:r>
            <a:r>
              <a:rPr sz="2000" spc="20" dirty="0">
                <a:solidFill>
                  <a:srgbClr val="FFFFFF"/>
                </a:solidFill>
                <a:latin typeface="Arial"/>
                <a:cs typeface="Arial"/>
              </a:rPr>
              <a:t>Following </a:t>
            </a:r>
            <a:r>
              <a:rPr sz="2000" spc="-100" dirty="0">
                <a:solidFill>
                  <a:srgbClr val="FFFFFF"/>
                </a:solidFill>
                <a:latin typeface="Arial"/>
                <a:cs typeface="Arial"/>
              </a:rPr>
              <a:t>steps</a:t>
            </a:r>
            <a:r>
              <a:rPr sz="2000" spc="-200" dirty="0">
                <a:solidFill>
                  <a:srgbClr val="FFFFFF"/>
                </a:solidFill>
                <a:latin typeface="Arial"/>
                <a:cs typeface="Arial"/>
              </a:rPr>
              <a:t> </a:t>
            </a:r>
            <a:r>
              <a:rPr sz="2000" spc="-60" dirty="0">
                <a:solidFill>
                  <a:srgbClr val="FFFFFF"/>
                </a:solidFill>
                <a:latin typeface="Arial"/>
                <a:cs typeface="Arial"/>
              </a:rPr>
              <a:t>describe  </a:t>
            </a:r>
            <a:r>
              <a:rPr sz="2000" spc="25" dirty="0">
                <a:solidFill>
                  <a:srgbClr val="FFFFFF"/>
                </a:solidFill>
                <a:latin typeface="Arial"/>
                <a:cs typeface="Arial"/>
              </a:rPr>
              <a:t>how</a:t>
            </a:r>
            <a:r>
              <a:rPr sz="2000" spc="-120" dirty="0">
                <a:solidFill>
                  <a:srgbClr val="FFFFFF"/>
                </a:solidFill>
                <a:latin typeface="Arial"/>
                <a:cs typeface="Arial"/>
              </a:rPr>
              <a:t> </a:t>
            </a:r>
            <a:r>
              <a:rPr sz="2000" spc="55" dirty="0">
                <a:solidFill>
                  <a:srgbClr val="FFFFFF"/>
                </a:solidFill>
                <a:latin typeface="Arial"/>
                <a:cs typeface="Arial"/>
              </a:rPr>
              <a:t>to</a:t>
            </a:r>
            <a:r>
              <a:rPr sz="2000" spc="-120" dirty="0">
                <a:solidFill>
                  <a:srgbClr val="FFFFFF"/>
                </a:solidFill>
                <a:latin typeface="Arial"/>
                <a:cs typeface="Arial"/>
              </a:rPr>
              <a:t> </a:t>
            </a:r>
            <a:r>
              <a:rPr sz="2000" dirty="0">
                <a:solidFill>
                  <a:srgbClr val="FFFFFF"/>
                </a:solidFill>
                <a:latin typeface="Arial"/>
                <a:cs typeface="Arial"/>
              </a:rPr>
              <a:t>configure</a:t>
            </a:r>
            <a:r>
              <a:rPr sz="2000" spc="-130" dirty="0">
                <a:solidFill>
                  <a:srgbClr val="FFFFFF"/>
                </a:solidFill>
                <a:latin typeface="Arial"/>
                <a:cs typeface="Arial"/>
              </a:rPr>
              <a:t> </a:t>
            </a:r>
            <a:r>
              <a:rPr sz="2000" dirty="0">
                <a:solidFill>
                  <a:srgbClr val="FFFFFF"/>
                </a:solidFill>
                <a:latin typeface="Arial"/>
                <a:cs typeface="Arial"/>
              </a:rPr>
              <a:t>the</a:t>
            </a:r>
            <a:r>
              <a:rPr sz="2000" spc="-125" dirty="0">
                <a:solidFill>
                  <a:srgbClr val="FFFFFF"/>
                </a:solidFill>
                <a:latin typeface="Arial"/>
                <a:cs typeface="Arial"/>
              </a:rPr>
              <a:t> </a:t>
            </a:r>
            <a:r>
              <a:rPr sz="2000" spc="-10" dirty="0">
                <a:solidFill>
                  <a:srgbClr val="FFFFFF"/>
                </a:solidFill>
                <a:latin typeface="Arial"/>
                <a:cs typeface="Arial"/>
              </a:rPr>
              <a:t>external</a:t>
            </a:r>
            <a:r>
              <a:rPr sz="2000" spc="-100" dirty="0">
                <a:solidFill>
                  <a:srgbClr val="FFFFFF"/>
                </a:solidFill>
                <a:latin typeface="Arial"/>
                <a:cs typeface="Arial"/>
              </a:rPr>
              <a:t> </a:t>
            </a:r>
            <a:r>
              <a:rPr sz="2000" spc="-35" dirty="0">
                <a:solidFill>
                  <a:srgbClr val="FFFFFF"/>
                </a:solidFill>
                <a:latin typeface="Arial"/>
                <a:cs typeface="Arial"/>
              </a:rPr>
              <a:t>table:</a:t>
            </a:r>
            <a:endParaRPr sz="2000">
              <a:latin typeface="Arial"/>
              <a:cs typeface="Arial"/>
            </a:endParaRPr>
          </a:p>
          <a:p>
            <a:pPr marL="355600" indent="-342900">
              <a:lnSpc>
                <a:spcPts val="2050"/>
              </a:lnSpc>
              <a:spcBef>
                <a:spcPts val="1945"/>
              </a:spcBef>
              <a:buFont typeface="Wingdings"/>
              <a:buChar char=""/>
              <a:tabLst>
                <a:tab pos="354965" algn="l"/>
                <a:tab pos="355600" algn="l"/>
              </a:tabLst>
            </a:pPr>
            <a:r>
              <a:rPr sz="1800" spc="-30" dirty="0">
                <a:solidFill>
                  <a:srgbClr val="FFFFFF"/>
                </a:solidFill>
                <a:latin typeface="Arial"/>
                <a:cs typeface="Arial"/>
              </a:rPr>
              <a:t>Create</a:t>
            </a:r>
            <a:r>
              <a:rPr sz="1800" spc="-130" dirty="0">
                <a:solidFill>
                  <a:srgbClr val="FFFFFF"/>
                </a:solidFill>
                <a:latin typeface="Arial"/>
                <a:cs typeface="Arial"/>
              </a:rPr>
              <a:t> </a:t>
            </a:r>
            <a:r>
              <a:rPr sz="1800" spc="-175" dirty="0">
                <a:solidFill>
                  <a:srgbClr val="FFFFFF"/>
                </a:solidFill>
                <a:latin typeface="Arial"/>
                <a:cs typeface="Arial"/>
              </a:rPr>
              <a:t>a</a:t>
            </a:r>
            <a:r>
              <a:rPr sz="1800" spc="-120" dirty="0">
                <a:solidFill>
                  <a:srgbClr val="FFFFFF"/>
                </a:solidFill>
                <a:latin typeface="Arial"/>
                <a:cs typeface="Arial"/>
              </a:rPr>
              <a:t> </a:t>
            </a:r>
            <a:r>
              <a:rPr sz="1800" spc="-60" dirty="0">
                <a:solidFill>
                  <a:srgbClr val="FFFFFF"/>
                </a:solidFill>
                <a:latin typeface="Arial"/>
                <a:cs typeface="Arial"/>
              </a:rPr>
              <a:t>master</a:t>
            </a:r>
            <a:r>
              <a:rPr sz="1800" spc="-120" dirty="0">
                <a:solidFill>
                  <a:srgbClr val="FFFFFF"/>
                </a:solidFill>
                <a:latin typeface="Arial"/>
                <a:cs typeface="Arial"/>
              </a:rPr>
              <a:t> </a:t>
            </a:r>
            <a:r>
              <a:rPr sz="1800" spc="-30" dirty="0">
                <a:solidFill>
                  <a:srgbClr val="FFFFFF"/>
                </a:solidFill>
                <a:latin typeface="Arial"/>
                <a:cs typeface="Arial"/>
              </a:rPr>
              <a:t>key</a:t>
            </a:r>
            <a:r>
              <a:rPr sz="1800" spc="-125" dirty="0">
                <a:solidFill>
                  <a:srgbClr val="FFFFFF"/>
                </a:solidFill>
                <a:latin typeface="Arial"/>
                <a:cs typeface="Arial"/>
              </a:rPr>
              <a:t> </a:t>
            </a:r>
            <a:r>
              <a:rPr sz="1800" spc="20" dirty="0">
                <a:solidFill>
                  <a:srgbClr val="FFFFFF"/>
                </a:solidFill>
                <a:latin typeface="Arial"/>
                <a:cs typeface="Arial"/>
              </a:rPr>
              <a:t>on</a:t>
            </a:r>
            <a:r>
              <a:rPr sz="1800" spc="-110" dirty="0">
                <a:solidFill>
                  <a:srgbClr val="FFFFFF"/>
                </a:solidFill>
                <a:latin typeface="Arial"/>
                <a:cs typeface="Arial"/>
              </a:rPr>
              <a:t> </a:t>
            </a:r>
            <a:r>
              <a:rPr sz="1800" dirty="0">
                <a:solidFill>
                  <a:srgbClr val="FFFFFF"/>
                </a:solidFill>
                <a:latin typeface="Arial"/>
                <a:cs typeface="Arial"/>
              </a:rPr>
              <a:t>the</a:t>
            </a:r>
            <a:r>
              <a:rPr sz="1800" spc="-110" dirty="0">
                <a:solidFill>
                  <a:srgbClr val="FFFFFF"/>
                </a:solidFill>
                <a:latin typeface="Arial"/>
                <a:cs typeface="Arial"/>
              </a:rPr>
              <a:t> </a:t>
            </a:r>
            <a:r>
              <a:rPr sz="1800" spc="-95" dirty="0">
                <a:solidFill>
                  <a:srgbClr val="FFFFFF"/>
                </a:solidFill>
                <a:latin typeface="Arial"/>
                <a:cs typeface="Arial"/>
              </a:rPr>
              <a:t>database</a:t>
            </a:r>
            <a:endParaRPr sz="1800">
              <a:latin typeface="Arial"/>
              <a:cs typeface="Arial"/>
            </a:endParaRPr>
          </a:p>
          <a:p>
            <a:pPr marL="355600" indent="-342900">
              <a:lnSpc>
                <a:spcPts val="1945"/>
              </a:lnSpc>
              <a:buFont typeface="Wingdings"/>
              <a:buChar char=""/>
              <a:tabLst>
                <a:tab pos="354965" algn="l"/>
                <a:tab pos="355600" algn="l"/>
              </a:tabLst>
            </a:pPr>
            <a:r>
              <a:rPr sz="1800" spc="-30" dirty="0">
                <a:solidFill>
                  <a:srgbClr val="FFFFFF"/>
                </a:solidFill>
                <a:latin typeface="Arial"/>
                <a:cs typeface="Arial"/>
              </a:rPr>
              <a:t>Create</a:t>
            </a:r>
            <a:r>
              <a:rPr sz="1800" spc="-120" dirty="0">
                <a:solidFill>
                  <a:srgbClr val="FFFFFF"/>
                </a:solidFill>
                <a:latin typeface="Arial"/>
                <a:cs typeface="Arial"/>
              </a:rPr>
              <a:t> </a:t>
            </a:r>
            <a:r>
              <a:rPr sz="1800" spc="-175" dirty="0">
                <a:solidFill>
                  <a:srgbClr val="FFFFFF"/>
                </a:solidFill>
                <a:latin typeface="Arial"/>
                <a:cs typeface="Arial"/>
              </a:rPr>
              <a:t>a</a:t>
            </a:r>
            <a:r>
              <a:rPr sz="1800" spc="-114" dirty="0">
                <a:solidFill>
                  <a:srgbClr val="FFFFFF"/>
                </a:solidFill>
                <a:latin typeface="Arial"/>
                <a:cs typeface="Arial"/>
              </a:rPr>
              <a:t> </a:t>
            </a:r>
            <a:r>
              <a:rPr sz="1800" spc="-100" dirty="0">
                <a:solidFill>
                  <a:srgbClr val="FFFFFF"/>
                </a:solidFill>
                <a:latin typeface="Arial"/>
                <a:cs typeface="Arial"/>
              </a:rPr>
              <a:t>database</a:t>
            </a:r>
            <a:r>
              <a:rPr sz="1800" spc="-125" dirty="0">
                <a:solidFill>
                  <a:srgbClr val="FFFFFF"/>
                </a:solidFill>
                <a:latin typeface="Arial"/>
                <a:cs typeface="Arial"/>
              </a:rPr>
              <a:t> </a:t>
            </a:r>
            <a:r>
              <a:rPr sz="1800" spc="-75" dirty="0">
                <a:solidFill>
                  <a:srgbClr val="FFFFFF"/>
                </a:solidFill>
                <a:latin typeface="Arial"/>
                <a:cs typeface="Arial"/>
              </a:rPr>
              <a:t>scoped</a:t>
            </a:r>
            <a:r>
              <a:rPr sz="1800" spc="-105" dirty="0">
                <a:solidFill>
                  <a:srgbClr val="FFFFFF"/>
                </a:solidFill>
                <a:latin typeface="Arial"/>
                <a:cs typeface="Arial"/>
              </a:rPr>
              <a:t> </a:t>
            </a:r>
            <a:r>
              <a:rPr sz="1800" spc="-10" dirty="0">
                <a:solidFill>
                  <a:srgbClr val="FFFFFF"/>
                </a:solidFill>
                <a:latin typeface="Arial"/>
                <a:cs typeface="Arial"/>
              </a:rPr>
              <a:t>credential</a:t>
            </a:r>
            <a:r>
              <a:rPr sz="1800" spc="-120" dirty="0">
                <a:solidFill>
                  <a:srgbClr val="FFFFFF"/>
                </a:solidFill>
                <a:latin typeface="Arial"/>
                <a:cs typeface="Arial"/>
              </a:rPr>
              <a:t> </a:t>
            </a:r>
            <a:r>
              <a:rPr sz="1800" spc="60" dirty="0">
                <a:solidFill>
                  <a:srgbClr val="FFFFFF"/>
                </a:solidFill>
                <a:latin typeface="Arial"/>
                <a:cs typeface="Arial"/>
              </a:rPr>
              <a:t>for</a:t>
            </a:r>
            <a:r>
              <a:rPr sz="1800" spc="-120" dirty="0">
                <a:solidFill>
                  <a:srgbClr val="FFFFFF"/>
                </a:solidFill>
                <a:latin typeface="Arial"/>
                <a:cs typeface="Arial"/>
              </a:rPr>
              <a:t> </a:t>
            </a:r>
            <a:r>
              <a:rPr sz="1800" spc="-50" dirty="0">
                <a:solidFill>
                  <a:srgbClr val="FFFFFF"/>
                </a:solidFill>
                <a:latin typeface="Arial"/>
                <a:cs typeface="Arial"/>
              </a:rPr>
              <a:t>Kerberos-secured</a:t>
            </a:r>
            <a:r>
              <a:rPr sz="1800" spc="-120" dirty="0">
                <a:solidFill>
                  <a:srgbClr val="FFFFFF"/>
                </a:solidFill>
                <a:latin typeface="Arial"/>
                <a:cs typeface="Arial"/>
              </a:rPr>
              <a:t> </a:t>
            </a:r>
            <a:r>
              <a:rPr sz="1800" spc="-15" dirty="0">
                <a:solidFill>
                  <a:srgbClr val="FFFFFF"/>
                </a:solidFill>
                <a:latin typeface="Arial"/>
                <a:cs typeface="Arial"/>
              </a:rPr>
              <a:t>Hadoop</a:t>
            </a:r>
            <a:r>
              <a:rPr sz="1800" spc="-105" dirty="0">
                <a:solidFill>
                  <a:srgbClr val="FFFFFF"/>
                </a:solidFill>
                <a:latin typeface="Arial"/>
                <a:cs typeface="Arial"/>
              </a:rPr>
              <a:t> </a:t>
            </a:r>
            <a:r>
              <a:rPr sz="1800" spc="-40" dirty="0">
                <a:solidFill>
                  <a:srgbClr val="FFFFFF"/>
                </a:solidFill>
                <a:latin typeface="Arial"/>
                <a:cs typeface="Arial"/>
              </a:rPr>
              <a:t>clusters</a:t>
            </a:r>
            <a:endParaRPr sz="1800">
              <a:latin typeface="Arial"/>
              <a:cs typeface="Arial"/>
            </a:endParaRPr>
          </a:p>
          <a:p>
            <a:pPr marL="354965" marR="5080" indent="-342900">
              <a:lnSpc>
                <a:spcPts val="1939"/>
              </a:lnSpc>
              <a:spcBef>
                <a:spcPts val="140"/>
              </a:spcBef>
              <a:buFont typeface="Wingdings"/>
              <a:buChar char=""/>
              <a:tabLst>
                <a:tab pos="354965" algn="l"/>
                <a:tab pos="355600" algn="l"/>
                <a:tab pos="1181100" algn="l"/>
                <a:tab pos="1581785" algn="l"/>
                <a:tab pos="2548255" algn="l"/>
                <a:tab pos="3125470" algn="l"/>
                <a:tab pos="3929379" algn="l"/>
                <a:tab pos="4539615" algn="l"/>
                <a:tab pos="5670550" algn="l"/>
                <a:tab pos="7109459" algn="l"/>
              </a:tabLst>
            </a:pPr>
            <a:r>
              <a:rPr sz="1800" spc="-30" dirty="0">
                <a:solidFill>
                  <a:srgbClr val="FFFFFF"/>
                </a:solidFill>
                <a:latin typeface="Arial"/>
                <a:cs typeface="Arial"/>
              </a:rPr>
              <a:t>Cre</a:t>
            </a:r>
            <a:r>
              <a:rPr sz="1800" spc="-45" dirty="0">
                <a:solidFill>
                  <a:srgbClr val="FFFFFF"/>
                </a:solidFill>
                <a:latin typeface="Arial"/>
                <a:cs typeface="Arial"/>
              </a:rPr>
              <a:t>a</a:t>
            </a:r>
            <a:r>
              <a:rPr sz="1800" spc="-25" dirty="0">
                <a:solidFill>
                  <a:srgbClr val="FFFFFF"/>
                </a:solidFill>
                <a:latin typeface="Arial"/>
                <a:cs typeface="Arial"/>
              </a:rPr>
              <a:t>te</a:t>
            </a:r>
            <a:r>
              <a:rPr sz="1800" dirty="0">
                <a:solidFill>
                  <a:srgbClr val="FFFFFF"/>
                </a:solidFill>
                <a:latin typeface="Arial"/>
                <a:cs typeface="Arial"/>
              </a:rPr>
              <a:t>	</a:t>
            </a:r>
            <a:r>
              <a:rPr sz="1800" spc="-60" dirty="0">
                <a:solidFill>
                  <a:srgbClr val="FFFFFF"/>
                </a:solidFill>
                <a:latin typeface="Arial"/>
                <a:cs typeface="Arial"/>
              </a:rPr>
              <a:t>a</a:t>
            </a:r>
            <a:r>
              <a:rPr sz="1800" spc="-55" dirty="0">
                <a:solidFill>
                  <a:srgbClr val="FFFFFF"/>
                </a:solidFill>
                <a:latin typeface="Arial"/>
                <a:cs typeface="Arial"/>
              </a:rPr>
              <a:t>n</a:t>
            </a:r>
            <a:r>
              <a:rPr sz="1800" dirty="0">
                <a:solidFill>
                  <a:srgbClr val="FFFFFF"/>
                </a:solidFill>
                <a:latin typeface="Arial"/>
                <a:cs typeface="Arial"/>
              </a:rPr>
              <a:t>	</a:t>
            </a:r>
            <a:r>
              <a:rPr sz="1800" spc="-10" dirty="0">
                <a:solidFill>
                  <a:srgbClr val="FFFFFF"/>
                </a:solidFill>
                <a:latin typeface="Arial"/>
                <a:cs typeface="Arial"/>
              </a:rPr>
              <a:t>external</a:t>
            </a:r>
            <a:r>
              <a:rPr sz="1800" dirty="0">
                <a:solidFill>
                  <a:srgbClr val="FFFFFF"/>
                </a:solidFill>
                <a:latin typeface="Arial"/>
                <a:cs typeface="Arial"/>
              </a:rPr>
              <a:t>	</a:t>
            </a:r>
            <a:r>
              <a:rPr sz="1800" spc="-20" dirty="0">
                <a:solidFill>
                  <a:srgbClr val="FFFFFF"/>
                </a:solidFill>
                <a:latin typeface="Arial"/>
                <a:cs typeface="Arial"/>
              </a:rPr>
              <a:t>dat</a:t>
            </a:r>
            <a:r>
              <a:rPr sz="1800" spc="-175" dirty="0">
                <a:solidFill>
                  <a:srgbClr val="FFFFFF"/>
                </a:solidFill>
                <a:latin typeface="Arial"/>
                <a:cs typeface="Arial"/>
              </a:rPr>
              <a:t>a</a:t>
            </a:r>
            <a:r>
              <a:rPr sz="1800" dirty="0">
                <a:solidFill>
                  <a:srgbClr val="FFFFFF"/>
                </a:solidFill>
                <a:latin typeface="Arial"/>
                <a:cs typeface="Arial"/>
              </a:rPr>
              <a:t>	</a:t>
            </a:r>
            <a:r>
              <a:rPr sz="1800" spc="-40" dirty="0">
                <a:solidFill>
                  <a:srgbClr val="FFFFFF"/>
                </a:solidFill>
                <a:latin typeface="Arial"/>
                <a:cs typeface="Arial"/>
              </a:rPr>
              <a:t>sour</a:t>
            </a:r>
            <a:r>
              <a:rPr sz="1800" spc="-35" dirty="0">
                <a:solidFill>
                  <a:srgbClr val="FFFFFF"/>
                </a:solidFill>
                <a:latin typeface="Arial"/>
                <a:cs typeface="Arial"/>
              </a:rPr>
              <a:t>c</a:t>
            </a:r>
            <a:r>
              <a:rPr sz="1800" spc="-165" dirty="0">
                <a:solidFill>
                  <a:srgbClr val="FFFFFF"/>
                </a:solidFill>
                <a:latin typeface="Arial"/>
                <a:cs typeface="Arial"/>
              </a:rPr>
              <a:t>e</a:t>
            </a:r>
            <a:r>
              <a:rPr sz="1800" dirty="0">
                <a:solidFill>
                  <a:srgbClr val="FFFFFF"/>
                </a:solidFill>
                <a:latin typeface="Arial"/>
                <a:cs typeface="Arial"/>
              </a:rPr>
              <a:t>	</a:t>
            </a:r>
            <a:r>
              <a:rPr sz="1800" spc="80" dirty="0">
                <a:solidFill>
                  <a:srgbClr val="FFFFFF"/>
                </a:solidFill>
                <a:latin typeface="Arial"/>
                <a:cs typeface="Arial"/>
              </a:rPr>
              <a:t>with</a:t>
            </a:r>
            <a:r>
              <a:rPr sz="1800" dirty="0">
                <a:solidFill>
                  <a:srgbClr val="FFFFFF"/>
                </a:solidFill>
                <a:latin typeface="Arial"/>
                <a:cs typeface="Arial"/>
              </a:rPr>
              <a:t>	</a:t>
            </a:r>
            <a:r>
              <a:rPr sz="1800" spc="70" dirty="0">
                <a:solidFill>
                  <a:srgbClr val="FFFFFF"/>
                </a:solidFill>
                <a:latin typeface="Arial"/>
                <a:cs typeface="Arial"/>
              </a:rPr>
              <a:t>CRE</a:t>
            </a:r>
            <a:r>
              <a:rPr sz="1800" spc="60" dirty="0">
                <a:solidFill>
                  <a:srgbClr val="FFFFFF"/>
                </a:solidFill>
                <a:latin typeface="Arial"/>
                <a:cs typeface="Arial"/>
              </a:rPr>
              <a:t>A</a:t>
            </a:r>
            <a:r>
              <a:rPr sz="1800" spc="25" dirty="0">
                <a:solidFill>
                  <a:srgbClr val="FFFFFF"/>
                </a:solidFill>
                <a:latin typeface="Arial"/>
                <a:cs typeface="Arial"/>
              </a:rPr>
              <a:t>TE</a:t>
            </a:r>
            <a:r>
              <a:rPr sz="1800" dirty="0">
                <a:solidFill>
                  <a:srgbClr val="FFFFFF"/>
                </a:solidFill>
                <a:latin typeface="Arial"/>
                <a:cs typeface="Arial"/>
              </a:rPr>
              <a:t>	</a:t>
            </a:r>
            <a:r>
              <a:rPr sz="1800" spc="15" dirty="0">
                <a:solidFill>
                  <a:srgbClr val="FFFFFF"/>
                </a:solidFill>
                <a:latin typeface="Arial"/>
                <a:cs typeface="Arial"/>
              </a:rPr>
              <a:t>EXTE</a:t>
            </a:r>
            <a:r>
              <a:rPr sz="1800" spc="5" dirty="0">
                <a:solidFill>
                  <a:srgbClr val="FFFFFF"/>
                </a:solidFill>
                <a:latin typeface="Arial"/>
                <a:cs typeface="Arial"/>
              </a:rPr>
              <a:t>R</a:t>
            </a:r>
            <a:r>
              <a:rPr sz="1800" spc="160" dirty="0">
                <a:solidFill>
                  <a:srgbClr val="FFFFFF"/>
                </a:solidFill>
                <a:latin typeface="Arial"/>
                <a:cs typeface="Arial"/>
              </a:rPr>
              <a:t>NAL</a:t>
            </a:r>
            <a:r>
              <a:rPr sz="1800" dirty="0">
                <a:solidFill>
                  <a:srgbClr val="FFFFFF"/>
                </a:solidFill>
                <a:latin typeface="Arial"/>
                <a:cs typeface="Arial"/>
              </a:rPr>
              <a:t>	</a:t>
            </a:r>
            <a:r>
              <a:rPr sz="1800" spc="160" dirty="0">
                <a:solidFill>
                  <a:srgbClr val="FFFFFF"/>
                </a:solidFill>
                <a:latin typeface="Arial"/>
                <a:cs typeface="Arial"/>
              </a:rPr>
              <a:t>DATA  </a:t>
            </a:r>
            <a:r>
              <a:rPr sz="1800" spc="30" dirty="0">
                <a:solidFill>
                  <a:srgbClr val="FFFFFF"/>
                </a:solidFill>
                <a:latin typeface="Arial"/>
                <a:cs typeface="Arial"/>
              </a:rPr>
              <a:t>SOURCE</a:t>
            </a:r>
            <a:endParaRPr sz="1800">
              <a:latin typeface="Arial"/>
              <a:cs typeface="Arial"/>
            </a:endParaRPr>
          </a:p>
          <a:p>
            <a:pPr marL="355600" indent="-342900">
              <a:lnSpc>
                <a:spcPts val="1810"/>
              </a:lnSpc>
              <a:buFont typeface="Wingdings"/>
              <a:buChar char=""/>
              <a:tabLst>
                <a:tab pos="354965" algn="l"/>
                <a:tab pos="355600" algn="l"/>
              </a:tabLst>
            </a:pPr>
            <a:r>
              <a:rPr sz="1800" spc="-30" dirty="0">
                <a:solidFill>
                  <a:srgbClr val="FFFFFF"/>
                </a:solidFill>
                <a:latin typeface="Arial"/>
                <a:cs typeface="Arial"/>
              </a:rPr>
              <a:t>Create</a:t>
            </a:r>
            <a:r>
              <a:rPr sz="1800" spc="-120" dirty="0">
                <a:solidFill>
                  <a:srgbClr val="FFFFFF"/>
                </a:solidFill>
                <a:latin typeface="Arial"/>
                <a:cs typeface="Arial"/>
              </a:rPr>
              <a:t> </a:t>
            </a:r>
            <a:r>
              <a:rPr sz="1800" spc="-60" dirty="0">
                <a:solidFill>
                  <a:srgbClr val="FFFFFF"/>
                </a:solidFill>
                <a:latin typeface="Arial"/>
                <a:cs typeface="Arial"/>
              </a:rPr>
              <a:t>an</a:t>
            </a:r>
            <a:r>
              <a:rPr sz="1800" spc="-114" dirty="0">
                <a:solidFill>
                  <a:srgbClr val="FFFFFF"/>
                </a:solidFill>
                <a:latin typeface="Arial"/>
                <a:cs typeface="Arial"/>
              </a:rPr>
              <a:t> </a:t>
            </a:r>
            <a:r>
              <a:rPr sz="1800" spc="-10" dirty="0">
                <a:solidFill>
                  <a:srgbClr val="FFFFFF"/>
                </a:solidFill>
                <a:latin typeface="Arial"/>
                <a:cs typeface="Arial"/>
              </a:rPr>
              <a:t>external</a:t>
            </a:r>
            <a:r>
              <a:rPr sz="1800" spc="-114" dirty="0">
                <a:solidFill>
                  <a:srgbClr val="FFFFFF"/>
                </a:solidFill>
                <a:latin typeface="Arial"/>
                <a:cs typeface="Arial"/>
              </a:rPr>
              <a:t> </a:t>
            </a:r>
            <a:r>
              <a:rPr sz="1800" spc="40" dirty="0">
                <a:solidFill>
                  <a:srgbClr val="FFFFFF"/>
                </a:solidFill>
                <a:latin typeface="Arial"/>
                <a:cs typeface="Arial"/>
              </a:rPr>
              <a:t>file</a:t>
            </a:r>
            <a:r>
              <a:rPr sz="1800" spc="-105" dirty="0">
                <a:solidFill>
                  <a:srgbClr val="FFFFFF"/>
                </a:solidFill>
                <a:latin typeface="Arial"/>
                <a:cs typeface="Arial"/>
              </a:rPr>
              <a:t> </a:t>
            </a:r>
            <a:r>
              <a:rPr sz="1800" spc="15" dirty="0">
                <a:solidFill>
                  <a:srgbClr val="FFFFFF"/>
                </a:solidFill>
                <a:latin typeface="Arial"/>
                <a:cs typeface="Arial"/>
              </a:rPr>
              <a:t>format</a:t>
            </a:r>
            <a:r>
              <a:rPr sz="1800" spc="-120" dirty="0">
                <a:solidFill>
                  <a:srgbClr val="FFFFFF"/>
                </a:solidFill>
                <a:latin typeface="Arial"/>
                <a:cs typeface="Arial"/>
              </a:rPr>
              <a:t> </a:t>
            </a:r>
            <a:r>
              <a:rPr sz="1800" spc="80" dirty="0">
                <a:solidFill>
                  <a:srgbClr val="FFFFFF"/>
                </a:solidFill>
                <a:latin typeface="Arial"/>
                <a:cs typeface="Arial"/>
              </a:rPr>
              <a:t>with</a:t>
            </a:r>
            <a:r>
              <a:rPr sz="1800" spc="-100" dirty="0">
                <a:solidFill>
                  <a:srgbClr val="FFFFFF"/>
                </a:solidFill>
                <a:latin typeface="Arial"/>
                <a:cs typeface="Arial"/>
              </a:rPr>
              <a:t> </a:t>
            </a:r>
            <a:r>
              <a:rPr sz="1800" spc="55" dirty="0">
                <a:solidFill>
                  <a:srgbClr val="FFFFFF"/>
                </a:solidFill>
                <a:latin typeface="Arial"/>
                <a:cs typeface="Arial"/>
              </a:rPr>
              <a:t>CREATE</a:t>
            </a:r>
            <a:r>
              <a:rPr sz="1800" spc="-114" dirty="0">
                <a:solidFill>
                  <a:srgbClr val="FFFFFF"/>
                </a:solidFill>
                <a:latin typeface="Arial"/>
                <a:cs typeface="Arial"/>
              </a:rPr>
              <a:t> </a:t>
            </a:r>
            <a:r>
              <a:rPr sz="1800" spc="65" dirty="0">
                <a:solidFill>
                  <a:srgbClr val="FFFFFF"/>
                </a:solidFill>
                <a:latin typeface="Arial"/>
                <a:cs typeface="Arial"/>
              </a:rPr>
              <a:t>EXTERNAL</a:t>
            </a:r>
            <a:r>
              <a:rPr sz="1800" spc="-110" dirty="0">
                <a:solidFill>
                  <a:srgbClr val="FFFFFF"/>
                </a:solidFill>
                <a:latin typeface="Arial"/>
                <a:cs typeface="Arial"/>
              </a:rPr>
              <a:t> </a:t>
            </a:r>
            <a:r>
              <a:rPr sz="1800" spc="-15" dirty="0">
                <a:solidFill>
                  <a:srgbClr val="FFFFFF"/>
                </a:solidFill>
                <a:latin typeface="Arial"/>
                <a:cs typeface="Arial"/>
              </a:rPr>
              <a:t>FILE</a:t>
            </a:r>
            <a:r>
              <a:rPr sz="1800" spc="-105" dirty="0">
                <a:solidFill>
                  <a:srgbClr val="FFFFFF"/>
                </a:solidFill>
                <a:latin typeface="Arial"/>
                <a:cs typeface="Arial"/>
              </a:rPr>
              <a:t> </a:t>
            </a:r>
            <a:r>
              <a:rPr sz="1800" spc="100" dirty="0">
                <a:solidFill>
                  <a:srgbClr val="FFFFFF"/>
                </a:solidFill>
                <a:latin typeface="Arial"/>
                <a:cs typeface="Arial"/>
              </a:rPr>
              <a:t>FORMAT</a:t>
            </a:r>
            <a:endParaRPr sz="1800">
              <a:latin typeface="Arial"/>
              <a:cs typeface="Arial"/>
            </a:endParaRPr>
          </a:p>
          <a:p>
            <a:pPr marL="354965" marR="6350" indent="-342900">
              <a:lnSpc>
                <a:spcPts val="1939"/>
              </a:lnSpc>
              <a:spcBef>
                <a:spcPts val="140"/>
              </a:spcBef>
              <a:buFont typeface="Wingdings"/>
              <a:buChar char=""/>
              <a:tabLst>
                <a:tab pos="354965" algn="l"/>
                <a:tab pos="355600" algn="l"/>
              </a:tabLst>
            </a:pPr>
            <a:r>
              <a:rPr sz="1800" spc="-30" dirty="0">
                <a:solidFill>
                  <a:srgbClr val="FFFFFF"/>
                </a:solidFill>
                <a:latin typeface="Arial"/>
                <a:cs typeface="Arial"/>
              </a:rPr>
              <a:t>Create </a:t>
            </a:r>
            <a:r>
              <a:rPr sz="1800" spc="-60" dirty="0">
                <a:solidFill>
                  <a:srgbClr val="FFFFFF"/>
                </a:solidFill>
                <a:latin typeface="Arial"/>
                <a:cs typeface="Arial"/>
              </a:rPr>
              <a:t>an </a:t>
            </a:r>
            <a:r>
              <a:rPr sz="1800" spc="-10" dirty="0">
                <a:solidFill>
                  <a:srgbClr val="FFFFFF"/>
                </a:solidFill>
                <a:latin typeface="Arial"/>
                <a:cs typeface="Arial"/>
              </a:rPr>
              <a:t>external </a:t>
            </a:r>
            <a:r>
              <a:rPr sz="1800" spc="-30" dirty="0">
                <a:solidFill>
                  <a:srgbClr val="FFFFFF"/>
                </a:solidFill>
                <a:latin typeface="Arial"/>
                <a:cs typeface="Arial"/>
              </a:rPr>
              <a:t>table </a:t>
            </a:r>
            <a:r>
              <a:rPr sz="1800" spc="35" dirty="0">
                <a:solidFill>
                  <a:srgbClr val="FFFFFF"/>
                </a:solidFill>
                <a:latin typeface="Arial"/>
                <a:cs typeface="Arial"/>
              </a:rPr>
              <a:t>pointing </a:t>
            </a:r>
            <a:r>
              <a:rPr sz="1800" spc="45" dirty="0">
                <a:solidFill>
                  <a:srgbClr val="FFFFFF"/>
                </a:solidFill>
                <a:latin typeface="Arial"/>
                <a:cs typeface="Arial"/>
              </a:rPr>
              <a:t>to </a:t>
            </a:r>
            <a:r>
              <a:rPr sz="1800" spc="-60" dirty="0">
                <a:solidFill>
                  <a:srgbClr val="FFFFFF"/>
                </a:solidFill>
                <a:latin typeface="Arial"/>
                <a:cs typeface="Arial"/>
              </a:rPr>
              <a:t>data </a:t>
            </a:r>
            <a:r>
              <a:rPr sz="1800" spc="-30" dirty="0">
                <a:solidFill>
                  <a:srgbClr val="FFFFFF"/>
                </a:solidFill>
                <a:latin typeface="Arial"/>
                <a:cs typeface="Arial"/>
              </a:rPr>
              <a:t>stored </a:t>
            </a:r>
            <a:r>
              <a:rPr sz="1800" spc="80" dirty="0">
                <a:solidFill>
                  <a:srgbClr val="FFFFFF"/>
                </a:solidFill>
                <a:latin typeface="Arial"/>
                <a:cs typeface="Arial"/>
              </a:rPr>
              <a:t>in </a:t>
            </a:r>
            <a:r>
              <a:rPr sz="1800" spc="-15" dirty="0">
                <a:solidFill>
                  <a:srgbClr val="FFFFFF"/>
                </a:solidFill>
                <a:latin typeface="Arial"/>
                <a:cs typeface="Arial"/>
              </a:rPr>
              <a:t>Hadoop </a:t>
            </a:r>
            <a:r>
              <a:rPr sz="1800" spc="80" dirty="0">
                <a:solidFill>
                  <a:srgbClr val="FFFFFF"/>
                </a:solidFill>
                <a:latin typeface="Arial"/>
                <a:cs typeface="Arial"/>
              </a:rPr>
              <a:t>with </a:t>
            </a:r>
            <a:r>
              <a:rPr sz="1800" spc="55" dirty="0">
                <a:solidFill>
                  <a:srgbClr val="FFFFFF"/>
                </a:solidFill>
                <a:latin typeface="Arial"/>
                <a:cs typeface="Arial"/>
              </a:rPr>
              <a:t>CREATE  </a:t>
            </a:r>
            <a:r>
              <a:rPr sz="1800" spc="65" dirty="0">
                <a:solidFill>
                  <a:srgbClr val="FFFFFF"/>
                </a:solidFill>
                <a:latin typeface="Arial"/>
                <a:cs typeface="Arial"/>
              </a:rPr>
              <a:t>EXTERNAL</a:t>
            </a:r>
            <a:r>
              <a:rPr sz="1800" spc="-120" dirty="0">
                <a:solidFill>
                  <a:srgbClr val="FFFFFF"/>
                </a:solidFill>
                <a:latin typeface="Arial"/>
                <a:cs typeface="Arial"/>
              </a:rPr>
              <a:t> </a:t>
            </a:r>
            <a:r>
              <a:rPr sz="1800" spc="65" dirty="0">
                <a:solidFill>
                  <a:srgbClr val="FFFFFF"/>
                </a:solidFill>
                <a:latin typeface="Arial"/>
                <a:cs typeface="Arial"/>
              </a:rPr>
              <a:t>TABLE</a:t>
            </a:r>
            <a:endParaRPr sz="18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10</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854" y="2286"/>
            <a:ext cx="2712720" cy="635635"/>
          </a:xfrm>
          <a:prstGeom prst="rect">
            <a:avLst/>
          </a:prstGeom>
        </p:spPr>
        <p:txBody>
          <a:bodyPr vert="horz" wrap="square" lIns="0" tIns="12700" rIns="0" bIns="0" rtlCol="0">
            <a:spAutoFit/>
          </a:bodyPr>
          <a:lstStyle/>
          <a:p>
            <a:pPr marL="12700">
              <a:lnSpc>
                <a:spcPct val="100000"/>
              </a:lnSpc>
              <a:spcBef>
                <a:spcPts val="100"/>
              </a:spcBef>
            </a:pPr>
            <a:r>
              <a:rPr sz="4000" b="0" spc="25" dirty="0">
                <a:latin typeface="Arial"/>
                <a:cs typeface="Arial"/>
              </a:rPr>
              <a:t>Query</a:t>
            </a:r>
            <a:r>
              <a:rPr sz="4000" b="0" spc="-350" dirty="0">
                <a:latin typeface="Arial"/>
                <a:cs typeface="Arial"/>
              </a:rPr>
              <a:t> </a:t>
            </a:r>
            <a:r>
              <a:rPr sz="4000" b="0" spc="-55" dirty="0">
                <a:latin typeface="Arial"/>
                <a:cs typeface="Arial"/>
              </a:rPr>
              <a:t>Store</a:t>
            </a:r>
            <a:endParaRPr sz="4000">
              <a:latin typeface="Arial"/>
              <a:cs typeface="Arial"/>
            </a:endParaRPr>
          </a:p>
        </p:txBody>
      </p:sp>
      <p:sp>
        <p:nvSpPr>
          <p:cNvPr id="3" name="object 3"/>
          <p:cNvSpPr/>
          <p:nvPr/>
        </p:nvSpPr>
        <p:spPr>
          <a:xfrm>
            <a:off x="169164" y="963167"/>
            <a:ext cx="8270240" cy="950594"/>
          </a:xfrm>
          <a:custGeom>
            <a:avLst/>
            <a:gdLst/>
            <a:ahLst/>
            <a:cxnLst/>
            <a:rect l="l" t="t" r="r" b="b"/>
            <a:pathLst>
              <a:path w="8270240" h="950594">
                <a:moveTo>
                  <a:pt x="8269986" y="66294"/>
                </a:moveTo>
                <a:lnTo>
                  <a:pt x="8240179" y="66294"/>
                </a:lnTo>
                <a:lnTo>
                  <a:pt x="8239430" y="64833"/>
                </a:lnTo>
                <a:lnTo>
                  <a:pt x="8205152" y="30556"/>
                </a:lnTo>
                <a:lnTo>
                  <a:pt x="8161680" y="8077"/>
                </a:lnTo>
                <a:lnTo>
                  <a:pt x="8111617" y="0"/>
                </a:lnTo>
                <a:lnTo>
                  <a:pt x="158369" y="0"/>
                </a:lnTo>
                <a:lnTo>
                  <a:pt x="108305" y="8077"/>
                </a:lnTo>
                <a:lnTo>
                  <a:pt x="64833" y="30556"/>
                </a:lnTo>
                <a:lnTo>
                  <a:pt x="30543" y="64833"/>
                </a:lnTo>
                <a:lnTo>
                  <a:pt x="8064" y="108305"/>
                </a:lnTo>
                <a:lnTo>
                  <a:pt x="0" y="158369"/>
                </a:lnTo>
                <a:lnTo>
                  <a:pt x="0" y="791845"/>
                </a:lnTo>
                <a:lnTo>
                  <a:pt x="8064" y="841921"/>
                </a:lnTo>
                <a:lnTo>
                  <a:pt x="30543" y="885393"/>
                </a:lnTo>
                <a:lnTo>
                  <a:pt x="64833" y="919670"/>
                </a:lnTo>
                <a:lnTo>
                  <a:pt x="108305" y="942149"/>
                </a:lnTo>
                <a:lnTo>
                  <a:pt x="158369" y="950214"/>
                </a:lnTo>
                <a:lnTo>
                  <a:pt x="8111617" y="950214"/>
                </a:lnTo>
                <a:lnTo>
                  <a:pt x="8161680" y="942149"/>
                </a:lnTo>
                <a:lnTo>
                  <a:pt x="8205152" y="919670"/>
                </a:lnTo>
                <a:lnTo>
                  <a:pt x="8239430" y="885393"/>
                </a:lnTo>
                <a:lnTo>
                  <a:pt x="8255546" y="854202"/>
                </a:lnTo>
                <a:lnTo>
                  <a:pt x="8269986" y="854202"/>
                </a:lnTo>
                <a:lnTo>
                  <a:pt x="8269986" y="791845"/>
                </a:lnTo>
                <a:lnTo>
                  <a:pt x="8269986" y="158369"/>
                </a:lnTo>
                <a:lnTo>
                  <a:pt x="8269986" y="66294"/>
                </a:lnTo>
                <a:close/>
              </a:path>
            </a:pathLst>
          </a:custGeom>
          <a:solidFill>
            <a:srgbClr val="9BBA58"/>
          </a:solidFill>
        </p:spPr>
        <p:txBody>
          <a:bodyPr wrap="square" lIns="0" tIns="0" rIns="0" bIns="0" rtlCol="0"/>
          <a:lstStyle/>
          <a:p>
            <a:endParaRPr/>
          </a:p>
        </p:txBody>
      </p:sp>
      <p:sp>
        <p:nvSpPr>
          <p:cNvPr id="4" name="object 4"/>
          <p:cNvSpPr/>
          <p:nvPr/>
        </p:nvSpPr>
        <p:spPr>
          <a:xfrm>
            <a:off x="398526" y="2049017"/>
            <a:ext cx="8288655" cy="950594"/>
          </a:xfrm>
          <a:custGeom>
            <a:avLst/>
            <a:gdLst/>
            <a:ahLst/>
            <a:cxnLst/>
            <a:rect l="l" t="t" r="r" b="b"/>
            <a:pathLst>
              <a:path w="8288655" h="950594">
                <a:moveTo>
                  <a:pt x="8288274" y="158369"/>
                </a:moveTo>
                <a:lnTo>
                  <a:pt x="8280197" y="108305"/>
                </a:lnTo>
                <a:lnTo>
                  <a:pt x="8257718" y="64833"/>
                </a:lnTo>
                <a:lnTo>
                  <a:pt x="8223440" y="30556"/>
                </a:lnTo>
                <a:lnTo>
                  <a:pt x="8179968" y="8077"/>
                </a:lnTo>
                <a:lnTo>
                  <a:pt x="8129905" y="0"/>
                </a:lnTo>
                <a:lnTo>
                  <a:pt x="158369" y="0"/>
                </a:lnTo>
                <a:lnTo>
                  <a:pt x="108305" y="8077"/>
                </a:lnTo>
                <a:lnTo>
                  <a:pt x="64833" y="30556"/>
                </a:lnTo>
                <a:lnTo>
                  <a:pt x="30543" y="64833"/>
                </a:lnTo>
                <a:lnTo>
                  <a:pt x="8064" y="108305"/>
                </a:lnTo>
                <a:lnTo>
                  <a:pt x="0" y="158369"/>
                </a:lnTo>
                <a:lnTo>
                  <a:pt x="0" y="791845"/>
                </a:lnTo>
                <a:lnTo>
                  <a:pt x="8064" y="841921"/>
                </a:lnTo>
                <a:lnTo>
                  <a:pt x="30543" y="885393"/>
                </a:lnTo>
                <a:lnTo>
                  <a:pt x="64833" y="919670"/>
                </a:lnTo>
                <a:lnTo>
                  <a:pt x="108305" y="942149"/>
                </a:lnTo>
                <a:lnTo>
                  <a:pt x="158369" y="950214"/>
                </a:lnTo>
                <a:lnTo>
                  <a:pt x="8129905" y="950214"/>
                </a:lnTo>
                <a:lnTo>
                  <a:pt x="8179968" y="942149"/>
                </a:lnTo>
                <a:lnTo>
                  <a:pt x="8223440" y="919670"/>
                </a:lnTo>
                <a:lnTo>
                  <a:pt x="8257718" y="885393"/>
                </a:lnTo>
                <a:lnTo>
                  <a:pt x="8280197" y="841921"/>
                </a:lnTo>
                <a:lnTo>
                  <a:pt x="8288274" y="791845"/>
                </a:lnTo>
                <a:lnTo>
                  <a:pt x="8288274" y="158369"/>
                </a:lnTo>
                <a:close/>
              </a:path>
            </a:pathLst>
          </a:custGeom>
          <a:solidFill>
            <a:srgbClr val="C0504D"/>
          </a:solidFill>
        </p:spPr>
        <p:txBody>
          <a:bodyPr wrap="square" lIns="0" tIns="0" rIns="0" bIns="0" rtlCol="0"/>
          <a:lstStyle/>
          <a:p>
            <a:endParaRPr/>
          </a:p>
        </p:txBody>
      </p:sp>
      <p:sp>
        <p:nvSpPr>
          <p:cNvPr id="5" name="object 5"/>
          <p:cNvSpPr/>
          <p:nvPr/>
        </p:nvSpPr>
        <p:spPr>
          <a:xfrm>
            <a:off x="678180" y="3134867"/>
            <a:ext cx="8255000" cy="950594"/>
          </a:xfrm>
          <a:custGeom>
            <a:avLst/>
            <a:gdLst/>
            <a:ahLst/>
            <a:cxnLst/>
            <a:rect l="l" t="t" r="r" b="b"/>
            <a:pathLst>
              <a:path w="8255000" h="950595">
                <a:moveTo>
                  <a:pt x="8254746" y="66294"/>
                </a:moveTo>
                <a:lnTo>
                  <a:pt x="8224939" y="66294"/>
                </a:lnTo>
                <a:lnTo>
                  <a:pt x="8224190" y="64833"/>
                </a:lnTo>
                <a:lnTo>
                  <a:pt x="8189912" y="30556"/>
                </a:lnTo>
                <a:lnTo>
                  <a:pt x="8146440" y="8077"/>
                </a:lnTo>
                <a:lnTo>
                  <a:pt x="8096377" y="0"/>
                </a:lnTo>
                <a:lnTo>
                  <a:pt x="158369" y="0"/>
                </a:lnTo>
                <a:lnTo>
                  <a:pt x="108305" y="8077"/>
                </a:lnTo>
                <a:lnTo>
                  <a:pt x="64833" y="30556"/>
                </a:lnTo>
                <a:lnTo>
                  <a:pt x="30543" y="64833"/>
                </a:lnTo>
                <a:lnTo>
                  <a:pt x="8064" y="108305"/>
                </a:lnTo>
                <a:lnTo>
                  <a:pt x="0" y="158369"/>
                </a:lnTo>
                <a:lnTo>
                  <a:pt x="0" y="791845"/>
                </a:lnTo>
                <a:lnTo>
                  <a:pt x="8064" y="841921"/>
                </a:lnTo>
                <a:lnTo>
                  <a:pt x="30543" y="885393"/>
                </a:lnTo>
                <a:lnTo>
                  <a:pt x="64833" y="919670"/>
                </a:lnTo>
                <a:lnTo>
                  <a:pt x="108305" y="942149"/>
                </a:lnTo>
                <a:lnTo>
                  <a:pt x="158369" y="950214"/>
                </a:lnTo>
                <a:lnTo>
                  <a:pt x="8096377" y="950214"/>
                </a:lnTo>
                <a:lnTo>
                  <a:pt x="8146440" y="942149"/>
                </a:lnTo>
                <a:lnTo>
                  <a:pt x="8189912" y="919670"/>
                </a:lnTo>
                <a:lnTo>
                  <a:pt x="8224190" y="885393"/>
                </a:lnTo>
                <a:lnTo>
                  <a:pt x="8240306" y="854202"/>
                </a:lnTo>
                <a:lnTo>
                  <a:pt x="8254746" y="854202"/>
                </a:lnTo>
                <a:lnTo>
                  <a:pt x="8254746" y="791845"/>
                </a:lnTo>
                <a:lnTo>
                  <a:pt x="8254746" y="158369"/>
                </a:lnTo>
                <a:lnTo>
                  <a:pt x="8254746" y="66294"/>
                </a:lnTo>
                <a:close/>
              </a:path>
            </a:pathLst>
          </a:custGeom>
          <a:solidFill>
            <a:srgbClr val="8063A1"/>
          </a:solidFill>
        </p:spPr>
        <p:txBody>
          <a:bodyPr wrap="square" lIns="0" tIns="0" rIns="0" bIns="0" rtlCol="0"/>
          <a:lstStyle/>
          <a:p>
            <a:endParaRPr/>
          </a:p>
        </p:txBody>
      </p:sp>
      <p:sp>
        <p:nvSpPr>
          <p:cNvPr id="6" name="object 6"/>
          <p:cNvSpPr/>
          <p:nvPr/>
        </p:nvSpPr>
        <p:spPr>
          <a:xfrm>
            <a:off x="900684" y="4221479"/>
            <a:ext cx="8147684" cy="949960"/>
          </a:xfrm>
          <a:custGeom>
            <a:avLst/>
            <a:gdLst/>
            <a:ahLst/>
            <a:cxnLst/>
            <a:rect l="l" t="t" r="r" b="b"/>
            <a:pathLst>
              <a:path w="8147684" h="949960">
                <a:moveTo>
                  <a:pt x="8147304" y="158242"/>
                </a:moveTo>
                <a:lnTo>
                  <a:pt x="8147291" y="66294"/>
                </a:lnTo>
                <a:lnTo>
                  <a:pt x="8117535" y="66294"/>
                </a:lnTo>
                <a:lnTo>
                  <a:pt x="8116760" y="64795"/>
                </a:lnTo>
                <a:lnTo>
                  <a:pt x="8082508" y="30543"/>
                </a:lnTo>
                <a:lnTo>
                  <a:pt x="8039062" y="8077"/>
                </a:lnTo>
                <a:lnTo>
                  <a:pt x="7989062" y="0"/>
                </a:lnTo>
                <a:lnTo>
                  <a:pt x="158242" y="0"/>
                </a:lnTo>
                <a:lnTo>
                  <a:pt x="108216" y="8077"/>
                </a:lnTo>
                <a:lnTo>
                  <a:pt x="64782" y="30543"/>
                </a:lnTo>
                <a:lnTo>
                  <a:pt x="30530" y="64795"/>
                </a:lnTo>
                <a:lnTo>
                  <a:pt x="8064" y="108242"/>
                </a:lnTo>
                <a:lnTo>
                  <a:pt x="0" y="158242"/>
                </a:lnTo>
                <a:lnTo>
                  <a:pt x="0" y="791210"/>
                </a:lnTo>
                <a:lnTo>
                  <a:pt x="8064" y="841222"/>
                </a:lnTo>
                <a:lnTo>
                  <a:pt x="30530" y="884669"/>
                </a:lnTo>
                <a:lnTo>
                  <a:pt x="64782" y="918921"/>
                </a:lnTo>
                <a:lnTo>
                  <a:pt x="108216" y="941387"/>
                </a:lnTo>
                <a:lnTo>
                  <a:pt x="158242" y="949452"/>
                </a:lnTo>
                <a:lnTo>
                  <a:pt x="7989062" y="949452"/>
                </a:lnTo>
                <a:lnTo>
                  <a:pt x="8039062" y="941387"/>
                </a:lnTo>
                <a:lnTo>
                  <a:pt x="8082508" y="918921"/>
                </a:lnTo>
                <a:lnTo>
                  <a:pt x="8116760" y="884669"/>
                </a:lnTo>
                <a:lnTo>
                  <a:pt x="8132902" y="853440"/>
                </a:lnTo>
                <a:lnTo>
                  <a:pt x="8147291" y="853440"/>
                </a:lnTo>
                <a:lnTo>
                  <a:pt x="8147291" y="791298"/>
                </a:lnTo>
                <a:lnTo>
                  <a:pt x="8147304" y="158242"/>
                </a:lnTo>
                <a:close/>
              </a:path>
            </a:pathLst>
          </a:custGeom>
          <a:solidFill>
            <a:srgbClr val="F79546"/>
          </a:solidFill>
        </p:spPr>
        <p:txBody>
          <a:bodyPr wrap="square" lIns="0" tIns="0" rIns="0" bIns="0" rtlCol="0"/>
          <a:lstStyle/>
          <a:p>
            <a:endParaRPr/>
          </a:p>
        </p:txBody>
      </p:sp>
      <p:sp>
        <p:nvSpPr>
          <p:cNvPr id="7" name="object 7"/>
          <p:cNvSpPr txBox="1"/>
          <p:nvPr/>
        </p:nvSpPr>
        <p:spPr>
          <a:xfrm>
            <a:off x="570230" y="1097534"/>
            <a:ext cx="8415020" cy="3804920"/>
          </a:xfrm>
          <a:prstGeom prst="rect">
            <a:avLst/>
          </a:prstGeom>
        </p:spPr>
        <p:txBody>
          <a:bodyPr vert="horz" wrap="square" lIns="0" tIns="43815" rIns="0" bIns="0" rtlCol="0">
            <a:spAutoFit/>
          </a:bodyPr>
          <a:lstStyle/>
          <a:p>
            <a:pPr marL="355600" marR="614680" indent="-342900">
              <a:lnSpc>
                <a:spcPts val="1939"/>
              </a:lnSpc>
              <a:spcBef>
                <a:spcPts val="345"/>
              </a:spcBef>
              <a:buFont typeface="Wingdings"/>
              <a:buChar char=""/>
              <a:tabLst>
                <a:tab pos="354965" algn="l"/>
                <a:tab pos="355600" algn="l"/>
              </a:tabLst>
            </a:pPr>
            <a:r>
              <a:rPr sz="1800" spc="20" dirty="0">
                <a:solidFill>
                  <a:srgbClr val="FFFFFF"/>
                </a:solidFill>
                <a:latin typeface="Arial"/>
                <a:cs typeface="Arial"/>
              </a:rPr>
              <a:t>SQL </a:t>
            </a:r>
            <a:r>
              <a:rPr sz="1800" spc="-45" dirty="0">
                <a:solidFill>
                  <a:srgbClr val="FFFFFF"/>
                </a:solidFill>
                <a:latin typeface="Arial"/>
                <a:cs typeface="Arial"/>
              </a:rPr>
              <a:t>Server </a:t>
            </a:r>
            <a:r>
              <a:rPr sz="1800" spc="10" dirty="0">
                <a:solidFill>
                  <a:srgbClr val="FFFFFF"/>
                </a:solidFill>
                <a:latin typeface="Arial"/>
                <a:cs typeface="Arial"/>
              </a:rPr>
              <a:t>Query </a:t>
            </a:r>
            <a:r>
              <a:rPr sz="1800" spc="-25" dirty="0">
                <a:solidFill>
                  <a:srgbClr val="FFFFFF"/>
                </a:solidFill>
                <a:latin typeface="Arial"/>
                <a:cs typeface="Arial"/>
              </a:rPr>
              <a:t>Store feature </a:t>
            </a:r>
            <a:r>
              <a:rPr sz="1800" spc="-20" dirty="0">
                <a:solidFill>
                  <a:srgbClr val="FFFFFF"/>
                </a:solidFill>
                <a:latin typeface="Arial"/>
                <a:cs typeface="Arial"/>
              </a:rPr>
              <a:t>provides </a:t>
            </a:r>
            <a:r>
              <a:rPr sz="1800" spc="-60" dirty="0">
                <a:solidFill>
                  <a:srgbClr val="FFFFFF"/>
                </a:solidFill>
                <a:latin typeface="Arial"/>
                <a:cs typeface="Arial"/>
              </a:rPr>
              <a:t>an </a:t>
            </a:r>
            <a:r>
              <a:rPr sz="1800" spc="20" dirty="0">
                <a:solidFill>
                  <a:srgbClr val="FFFFFF"/>
                </a:solidFill>
                <a:latin typeface="Arial"/>
                <a:cs typeface="Arial"/>
              </a:rPr>
              <a:t>insight on </a:t>
            </a:r>
            <a:r>
              <a:rPr sz="1800" spc="-10" dirty="0">
                <a:solidFill>
                  <a:srgbClr val="FFFFFF"/>
                </a:solidFill>
                <a:latin typeface="Arial"/>
                <a:cs typeface="Arial"/>
              </a:rPr>
              <a:t>query </a:t>
            </a:r>
            <a:r>
              <a:rPr sz="1800" spc="-5" dirty="0">
                <a:solidFill>
                  <a:srgbClr val="FFFFFF"/>
                </a:solidFill>
                <a:latin typeface="Arial"/>
                <a:cs typeface="Arial"/>
              </a:rPr>
              <a:t>plan </a:t>
            </a:r>
            <a:r>
              <a:rPr sz="1800" spc="-35" dirty="0">
                <a:solidFill>
                  <a:srgbClr val="FFFFFF"/>
                </a:solidFill>
                <a:latin typeface="Arial"/>
                <a:cs typeface="Arial"/>
              </a:rPr>
              <a:t>choice  and</a:t>
            </a:r>
            <a:r>
              <a:rPr sz="1800" spc="-130" dirty="0">
                <a:solidFill>
                  <a:srgbClr val="FFFFFF"/>
                </a:solidFill>
                <a:latin typeface="Arial"/>
                <a:cs typeface="Arial"/>
              </a:rPr>
              <a:t> </a:t>
            </a:r>
            <a:r>
              <a:rPr sz="1800" spc="-30" dirty="0">
                <a:solidFill>
                  <a:srgbClr val="FFFFFF"/>
                </a:solidFill>
                <a:latin typeface="Arial"/>
                <a:cs typeface="Arial"/>
              </a:rPr>
              <a:t>performance.</a:t>
            </a:r>
            <a:endParaRPr sz="1800">
              <a:latin typeface="Arial"/>
              <a:cs typeface="Arial"/>
            </a:endParaRPr>
          </a:p>
          <a:p>
            <a:pPr>
              <a:lnSpc>
                <a:spcPct val="100000"/>
              </a:lnSpc>
              <a:buClr>
                <a:srgbClr val="FFFFFF"/>
              </a:buClr>
              <a:buFont typeface="Wingdings"/>
              <a:buChar char=""/>
            </a:pPr>
            <a:endParaRPr sz="2600">
              <a:latin typeface="Arial"/>
              <a:cs typeface="Arial"/>
            </a:endParaRPr>
          </a:p>
          <a:p>
            <a:pPr marL="586105" marR="443865" lvl="1" indent="-342900">
              <a:lnSpc>
                <a:spcPts val="1939"/>
              </a:lnSpc>
              <a:spcBef>
                <a:spcPts val="1685"/>
              </a:spcBef>
              <a:buFont typeface="Wingdings"/>
              <a:buChar char=""/>
              <a:tabLst>
                <a:tab pos="586105" algn="l"/>
                <a:tab pos="586740" algn="l"/>
                <a:tab pos="880110" algn="l"/>
                <a:tab pos="1961514" algn="l"/>
                <a:tab pos="3352165" algn="l"/>
                <a:tab pos="5074285" algn="l"/>
                <a:tab pos="5455285" algn="l"/>
                <a:tab pos="6339205" algn="l"/>
                <a:tab pos="7209790" algn="l"/>
                <a:tab pos="7553959" algn="l"/>
              </a:tabLst>
            </a:pPr>
            <a:r>
              <a:rPr sz="1800" spc="95" dirty="0">
                <a:solidFill>
                  <a:srgbClr val="FFFFFF"/>
                </a:solidFill>
                <a:latin typeface="Arial"/>
                <a:cs typeface="Arial"/>
              </a:rPr>
              <a:t>I</a:t>
            </a:r>
            <a:r>
              <a:rPr sz="1800" spc="100" dirty="0">
                <a:solidFill>
                  <a:srgbClr val="FFFFFF"/>
                </a:solidFill>
                <a:latin typeface="Arial"/>
                <a:cs typeface="Arial"/>
              </a:rPr>
              <a:t>t</a:t>
            </a:r>
            <a:r>
              <a:rPr sz="1800" dirty="0">
                <a:solidFill>
                  <a:srgbClr val="FFFFFF"/>
                </a:solidFill>
                <a:latin typeface="Arial"/>
                <a:cs typeface="Arial"/>
              </a:rPr>
              <a:t>	</a:t>
            </a:r>
            <a:r>
              <a:rPr sz="1800" spc="-5" dirty="0">
                <a:solidFill>
                  <a:srgbClr val="FFFFFF"/>
                </a:solidFill>
                <a:latin typeface="Arial"/>
                <a:cs typeface="Arial"/>
              </a:rPr>
              <a:t>simplifies</a:t>
            </a:r>
            <a:r>
              <a:rPr sz="1800" dirty="0">
                <a:solidFill>
                  <a:srgbClr val="FFFFFF"/>
                </a:solidFill>
                <a:latin typeface="Arial"/>
                <a:cs typeface="Arial"/>
              </a:rPr>
              <a:t>	p</a:t>
            </a:r>
            <a:r>
              <a:rPr sz="1800" spc="10" dirty="0">
                <a:solidFill>
                  <a:srgbClr val="FFFFFF"/>
                </a:solidFill>
                <a:latin typeface="Arial"/>
                <a:cs typeface="Arial"/>
              </a:rPr>
              <a:t>erf</a:t>
            </a:r>
            <a:r>
              <a:rPr sz="1800" spc="-35" dirty="0">
                <a:solidFill>
                  <a:srgbClr val="FFFFFF"/>
                </a:solidFill>
                <a:latin typeface="Arial"/>
                <a:cs typeface="Arial"/>
              </a:rPr>
              <a:t>orm</a:t>
            </a:r>
            <a:r>
              <a:rPr sz="1800" spc="-40" dirty="0">
                <a:solidFill>
                  <a:srgbClr val="FFFFFF"/>
                </a:solidFill>
                <a:latin typeface="Arial"/>
                <a:cs typeface="Arial"/>
              </a:rPr>
              <a:t>a</a:t>
            </a:r>
            <a:r>
              <a:rPr sz="1800" spc="-65" dirty="0">
                <a:solidFill>
                  <a:srgbClr val="FFFFFF"/>
                </a:solidFill>
                <a:latin typeface="Arial"/>
                <a:cs typeface="Arial"/>
              </a:rPr>
              <a:t>nce</a:t>
            </a:r>
            <a:r>
              <a:rPr sz="1800" dirty="0">
                <a:solidFill>
                  <a:srgbClr val="FFFFFF"/>
                </a:solidFill>
                <a:latin typeface="Arial"/>
                <a:cs typeface="Arial"/>
              </a:rPr>
              <a:t>	</a:t>
            </a:r>
            <a:r>
              <a:rPr sz="1800" spc="-5" dirty="0">
                <a:solidFill>
                  <a:srgbClr val="FFFFFF"/>
                </a:solidFill>
                <a:latin typeface="Arial"/>
                <a:cs typeface="Arial"/>
              </a:rPr>
              <a:t>troubles</a:t>
            </a:r>
            <a:r>
              <a:rPr sz="1800" dirty="0">
                <a:solidFill>
                  <a:srgbClr val="FFFFFF"/>
                </a:solidFill>
                <a:latin typeface="Arial"/>
                <a:cs typeface="Arial"/>
              </a:rPr>
              <a:t>h</a:t>
            </a:r>
            <a:r>
              <a:rPr sz="1800" spc="-20" dirty="0">
                <a:solidFill>
                  <a:srgbClr val="FFFFFF"/>
                </a:solidFill>
                <a:latin typeface="Arial"/>
                <a:cs typeface="Arial"/>
              </a:rPr>
              <a:t>o</a:t>
            </a:r>
            <a:r>
              <a:rPr sz="1800" spc="30" dirty="0">
                <a:solidFill>
                  <a:srgbClr val="FFFFFF"/>
                </a:solidFill>
                <a:latin typeface="Arial"/>
                <a:cs typeface="Arial"/>
              </a:rPr>
              <a:t>oting</a:t>
            </a:r>
            <a:r>
              <a:rPr sz="1800" dirty="0">
                <a:solidFill>
                  <a:srgbClr val="FFFFFF"/>
                </a:solidFill>
                <a:latin typeface="Arial"/>
                <a:cs typeface="Arial"/>
              </a:rPr>
              <a:t>	</a:t>
            </a:r>
            <a:r>
              <a:rPr sz="1800" spc="-10" dirty="0">
                <a:solidFill>
                  <a:srgbClr val="FFFFFF"/>
                </a:solidFill>
                <a:latin typeface="Arial"/>
                <a:cs typeface="Arial"/>
              </a:rPr>
              <a:t>by</a:t>
            </a:r>
            <a:r>
              <a:rPr sz="1800" dirty="0">
                <a:solidFill>
                  <a:srgbClr val="FFFFFF"/>
                </a:solidFill>
                <a:latin typeface="Arial"/>
                <a:cs typeface="Arial"/>
              </a:rPr>
              <a:t>	</a:t>
            </a:r>
            <a:r>
              <a:rPr sz="1800" spc="5" dirty="0">
                <a:solidFill>
                  <a:srgbClr val="FFFFFF"/>
                </a:solidFill>
                <a:latin typeface="Arial"/>
                <a:cs typeface="Arial"/>
              </a:rPr>
              <a:t>helping</a:t>
            </a:r>
            <a:r>
              <a:rPr sz="1800" dirty="0">
                <a:solidFill>
                  <a:srgbClr val="FFFFFF"/>
                </a:solidFill>
                <a:latin typeface="Arial"/>
                <a:cs typeface="Arial"/>
              </a:rPr>
              <a:t>	</a:t>
            </a:r>
            <a:r>
              <a:rPr sz="1800" spc="15" dirty="0">
                <a:solidFill>
                  <a:srgbClr val="FFFFFF"/>
                </a:solidFill>
                <a:latin typeface="Arial"/>
                <a:cs typeface="Arial"/>
              </a:rPr>
              <a:t>qui</a:t>
            </a:r>
            <a:r>
              <a:rPr sz="1800" spc="5" dirty="0">
                <a:solidFill>
                  <a:srgbClr val="FFFFFF"/>
                </a:solidFill>
                <a:latin typeface="Arial"/>
                <a:cs typeface="Arial"/>
              </a:rPr>
              <a:t>c</a:t>
            </a:r>
            <a:r>
              <a:rPr sz="1800" spc="55" dirty="0">
                <a:solidFill>
                  <a:srgbClr val="FFFFFF"/>
                </a:solidFill>
                <a:latin typeface="Arial"/>
                <a:cs typeface="Arial"/>
              </a:rPr>
              <a:t>kly</a:t>
            </a:r>
            <a:r>
              <a:rPr sz="1800" dirty="0">
                <a:solidFill>
                  <a:srgbClr val="FFFFFF"/>
                </a:solidFill>
                <a:latin typeface="Arial"/>
                <a:cs typeface="Arial"/>
              </a:rPr>
              <a:t>	</a:t>
            </a:r>
            <a:r>
              <a:rPr sz="1800" spc="45" dirty="0">
                <a:solidFill>
                  <a:srgbClr val="FFFFFF"/>
                </a:solidFill>
                <a:latin typeface="Arial"/>
                <a:cs typeface="Arial"/>
              </a:rPr>
              <a:t>to</a:t>
            </a:r>
            <a:r>
              <a:rPr sz="1800" dirty="0">
                <a:solidFill>
                  <a:srgbClr val="FFFFFF"/>
                </a:solidFill>
                <a:latin typeface="Arial"/>
                <a:cs typeface="Arial"/>
              </a:rPr>
              <a:t>	</a:t>
            </a:r>
            <a:r>
              <a:rPr sz="1800" spc="65" dirty="0">
                <a:solidFill>
                  <a:srgbClr val="FFFFFF"/>
                </a:solidFill>
                <a:latin typeface="Arial"/>
                <a:cs typeface="Arial"/>
              </a:rPr>
              <a:t>find  </a:t>
            </a:r>
            <a:r>
              <a:rPr sz="1800" spc="-25" dirty="0">
                <a:solidFill>
                  <a:srgbClr val="FFFFFF"/>
                </a:solidFill>
                <a:latin typeface="Arial"/>
                <a:cs typeface="Arial"/>
              </a:rPr>
              <a:t>performance</a:t>
            </a:r>
            <a:r>
              <a:rPr sz="1800" spc="-135" dirty="0">
                <a:solidFill>
                  <a:srgbClr val="FFFFFF"/>
                </a:solidFill>
                <a:latin typeface="Arial"/>
                <a:cs typeface="Arial"/>
              </a:rPr>
              <a:t> </a:t>
            </a:r>
            <a:r>
              <a:rPr sz="1800" spc="-25" dirty="0">
                <a:solidFill>
                  <a:srgbClr val="FFFFFF"/>
                </a:solidFill>
                <a:latin typeface="Arial"/>
                <a:cs typeface="Arial"/>
              </a:rPr>
              <a:t>differences</a:t>
            </a:r>
            <a:r>
              <a:rPr sz="1800" spc="-120" dirty="0">
                <a:solidFill>
                  <a:srgbClr val="FFFFFF"/>
                </a:solidFill>
                <a:latin typeface="Arial"/>
                <a:cs typeface="Arial"/>
              </a:rPr>
              <a:t> </a:t>
            </a:r>
            <a:r>
              <a:rPr sz="1800" spc="-95" dirty="0">
                <a:solidFill>
                  <a:srgbClr val="FFFFFF"/>
                </a:solidFill>
                <a:latin typeface="Arial"/>
                <a:cs typeface="Arial"/>
              </a:rPr>
              <a:t>caused</a:t>
            </a:r>
            <a:r>
              <a:rPr sz="1800" spc="-120" dirty="0">
                <a:solidFill>
                  <a:srgbClr val="FFFFFF"/>
                </a:solidFill>
                <a:latin typeface="Arial"/>
                <a:cs typeface="Arial"/>
              </a:rPr>
              <a:t> </a:t>
            </a:r>
            <a:r>
              <a:rPr sz="1800" spc="-15" dirty="0">
                <a:solidFill>
                  <a:srgbClr val="FFFFFF"/>
                </a:solidFill>
                <a:latin typeface="Arial"/>
                <a:cs typeface="Arial"/>
              </a:rPr>
              <a:t>by</a:t>
            </a:r>
            <a:r>
              <a:rPr sz="1800" spc="-110" dirty="0">
                <a:solidFill>
                  <a:srgbClr val="FFFFFF"/>
                </a:solidFill>
                <a:latin typeface="Arial"/>
                <a:cs typeface="Arial"/>
              </a:rPr>
              <a:t> </a:t>
            </a:r>
            <a:r>
              <a:rPr sz="1800" spc="-10" dirty="0">
                <a:solidFill>
                  <a:srgbClr val="FFFFFF"/>
                </a:solidFill>
                <a:latin typeface="Arial"/>
                <a:cs typeface="Arial"/>
              </a:rPr>
              <a:t>query</a:t>
            </a:r>
            <a:r>
              <a:rPr sz="1800" spc="-120" dirty="0">
                <a:solidFill>
                  <a:srgbClr val="FFFFFF"/>
                </a:solidFill>
                <a:latin typeface="Arial"/>
                <a:cs typeface="Arial"/>
              </a:rPr>
              <a:t> </a:t>
            </a:r>
            <a:r>
              <a:rPr sz="1800" spc="-5" dirty="0">
                <a:solidFill>
                  <a:srgbClr val="FFFFFF"/>
                </a:solidFill>
                <a:latin typeface="Arial"/>
                <a:cs typeface="Arial"/>
              </a:rPr>
              <a:t>plan</a:t>
            </a:r>
            <a:r>
              <a:rPr sz="1800" spc="-125" dirty="0">
                <a:solidFill>
                  <a:srgbClr val="FFFFFF"/>
                </a:solidFill>
                <a:latin typeface="Arial"/>
                <a:cs typeface="Arial"/>
              </a:rPr>
              <a:t> </a:t>
            </a:r>
            <a:r>
              <a:rPr sz="1800" spc="-85" dirty="0">
                <a:solidFill>
                  <a:srgbClr val="FFFFFF"/>
                </a:solidFill>
                <a:latin typeface="Arial"/>
                <a:cs typeface="Arial"/>
              </a:rPr>
              <a:t>changes.</a:t>
            </a:r>
            <a:endParaRPr sz="1800">
              <a:latin typeface="Arial"/>
              <a:cs typeface="Arial"/>
            </a:endParaRPr>
          </a:p>
          <a:p>
            <a:pPr lvl="1">
              <a:lnSpc>
                <a:spcPct val="100000"/>
              </a:lnSpc>
              <a:buClr>
                <a:srgbClr val="FFFFFF"/>
              </a:buClr>
              <a:buFont typeface="Wingdings"/>
              <a:buChar char=""/>
            </a:pPr>
            <a:endParaRPr sz="2600">
              <a:latin typeface="Arial"/>
              <a:cs typeface="Arial"/>
            </a:endParaRPr>
          </a:p>
          <a:p>
            <a:pPr marL="864235" marR="120014" lvl="2" indent="-342900">
              <a:lnSpc>
                <a:spcPts val="1939"/>
              </a:lnSpc>
              <a:spcBef>
                <a:spcPts val="1680"/>
              </a:spcBef>
              <a:buFont typeface="Wingdings"/>
              <a:buChar char=""/>
              <a:tabLst>
                <a:tab pos="864235" algn="l"/>
                <a:tab pos="864869" algn="l"/>
              </a:tabLst>
            </a:pPr>
            <a:r>
              <a:rPr sz="1800" spc="10" dirty="0">
                <a:solidFill>
                  <a:srgbClr val="FFFFFF"/>
                </a:solidFill>
                <a:latin typeface="Arial"/>
                <a:cs typeface="Arial"/>
              </a:rPr>
              <a:t>Query </a:t>
            </a:r>
            <a:r>
              <a:rPr sz="1800" spc="-25" dirty="0">
                <a:solidFill>
                  <a:srgbClr val="FFFFFF"/>
                </a:solidFill>
                <a:latin typeface="Arial"/>
                <a:cs typeface="Arial"/>
              </a:rPr>
              <a:t>Store </a:t>
            </a:r>
            <a:r>
              <a:rPr sz="1800" spc="-10" dirty="0">
                <a:solidFill>
                  <a:srgbClr val="FFFFFF"/>
                </a:solidFill>
                <a:latin typeface="Arial"/>
                <a:cs typeface="Arial"/>
              </a:rPr>
              <a:t>automatically </a:t>
            </a:r>
            <a:r>
              <a:rPr sz="1800" spc="-50" dirty="0">
                <a:solidFill>
                  <a:srgbClr val="FFFFFF"/>
                </a:solidFill>
                <a:latin typeface="Arial"/>
                <a:cs typeface="Arial"/>
              </a:rPr>
              <a:t>captures </a:t>
            </a:r>
            <a:r>
              <a:rPr sz="1800" spc="-175" dirty="0">
                <a:solidFill>
                  <a:srgbClr val="FFFFFF"/>
                </a:solidFill>
                <a:latin typeface="Arial"/>
                <a:cs typeface="Arial"/>
              </a:rPr>
              <a:t>a </a:t>
            </a:r>
            <a:r>
              <a:rPr sz="1800" spc="20" dirty="0">
                <a:solidFill>
                  <a:srgbClr val="FFFFFF"/>
                </a:solidFill>
                <a:latin typeface="Arial"/>
                <a:cs typeface="Arial"/>
              </a:rPr>
              <a:t>history </a:t>
            </a:r>
            <a:r>
              <a:rPr sz="1800" spc="45" dirty="0">
                <a:solidFill>
                  <a:srgbClr val="FFFFFF"/>
                </a:solidFill>
                <a:latin typeface="Arial"/>
                <a:cs typeface="Arial"/>
              </a:rPr>
              <a:t>of </a:t>
            </a:r>
            <a:r>
              <a:rPr sz="1800" spc="-45" dirty="0">
                <a:solidFill>
                  <a:srgbClr val="FFFFFF"/>
                </a:solidFill>
                <a:latin typeface="Arial"/>
                <a:cs typeface="Arial"/>
              </a:rPr>
              <a:t>queries, plans, </a:t>
            </a:r>
            <a:r>
              <a:rPr sz="1800" spc="-35" dirty="0">
                <a:solidFill>
                  <a:srgbClr val="FFFFFF"/>
                </a:solidFill>
                <a:latin typeface="Arial"/>
                <a:cs typeface="Arial"/>
              </a:rPr>
              <a:t>and </a:t>
            </a:r>
            <a:r>
              <a:rPr sz="1800" spc="30" dirty="0">
                <a:solidFill>
                  <a:srgbClr val="FFFFFF"/>
                </a:solidFill>
                <a:latin typeface="Arial"/>
                <a:cs typeface="Arial"/>
              </a:rPr>
              <a:t>runtime  </a:t>
            </a:r>
            <a:r>
              <a:rPr sz="1800" spc="-30" dirty="0">
                <a:solidFill>
                  <a:srgbClr val="FFFFFF"/>
                </a:solidFill>
                <a:latin typeface="Arial"/>
                <a:cs typeface="Arial"/>
              </a:rPr>
              <a:t>statistics,</a:t>
            </a:r>
            <a:r>
              <a:rPr sz="1800" spc="-120" dirty="0">
                <a:solidFill>
                  <a:srgbClr val="FFFFFF"/>
                </a:solidFill>
                <a:latin typeface="Arial"/>
                <a:cs typeface="Arial"/>
              </a:rPr>
              <a:t> </a:t>
            </a:r>
            <a:r>
              <a:rPr sz="1800" spc="-35" dirty="0">
                <a:solidFill>
                  <a:srgbClr val="FFFFFF"/>
                </a:solidFill>
                <a:latin typeface="Arial"/>
                <a:cs typeface="Arial"/>
              </a:rPr>
              <a:t>and</a:t>
            </a:r>
            <a:r>
              <a:rPr sz="1800" spc="-120" dirty="0">
                <a:solidFill>
                  <a:srgbClr val="FFFFFF"/>
                </a:solidFill>
                <a:latin typeface="Arial"/>
                <a:cs typeface="Arial"/>
              </a:rPr>
              <a:t> </a:t>
            </a:r>
            <a:r>
              <a:rPr sz="1800" spc="-25" dirty="0">
                <a:solidFill>
                  <a:srgbClr val="FFFFFF"/>
                </a:solidFill>
                <a:latin typeface="Arial"/>
                <a:cs typeface="Arial"/>
              </a:rPr>
              <a:t>retains</a:t>
            </a:r>
            <a:r>
              <a:rPr sz="1800" spc="-130" dirty="0">
                <a:solidFill>
                  <a:srgbClr val="FFFFFF"/>
                </a:solidFill>
                <a:latin typeface="Arial"/>
                <a:cs typeface="Arial"/>
              </a:rPr>
              <a:t> </a:t>
            </a:r>
            <a:r>
              <a:rPr sz="1800" spc="-70" dirty="0">
                <a:solidFill>
                  <a:srgbClr val="FFFFFF"/>
                </a:solidFill>
                <a:latin typeface="Arial"/>
                <a:cs typeface="Arial"/>
              </a:rPr>
              <a:t>these</a:t>
            </a:r>
            <a:r>
              <a:rPr sz="1800" spc="-110" dirty="0">
                <a:solidFill>
                  <a:srgbClr val="FFFFFF"/>
                </a:solidFill>
                <a:latin typeface="Arial"/>
                <a:cs typeface="Arial"/>
              </a:rPr>
              <a:t> </a:t>
            </a:r>
            <a:r>
              <a:rPr sz="1800" spc="60" dirty="0">
                <a:solidFill>
                  <a:srgbClr val="FFFFFF"/>
                </a:solidFill>
                <a:latin typeface="Arial"/>
                <a:cs typeface="Arial"/>
              </a:rPr>
              <a:t>for</a:t>
            </a:r>
            <a:r>
              <a:rPr sz="1800" spc="-105" dirty="0">
                <a:solidFill>
                  <a:srgbClr val="FFFFFF"/>
                </a:solidFill>
                <a:latin typeface="Arial"/>
                <a:cs typeface="Arial"/>
              </a:rPr>
              <a:t> </a:t>
            </a:r>
            <a:r>
              <a:rPr sz="1800" spc="-15" dirty="0">
                <a:solidFill>
                  <a:srgbClr val="FFFFFF"/>
                </a:solidFill>
                <a:latin typeface="Arial"/>
                <a:cs typeface="Arial"/>
              </a:rPr>
              <a:t>review.</a:t>
            </a:r>
            <a:endParaRPr sz="1800">
              <a:latin typeface="Arial"/>
              <a:cs typeface="Arial"/>
            </a:endParaRPr>
          </a:p>
          <a:p>
            <a:pPr lvl="2">
              <a:lnSpc>
                <a:spcPct val="100000"/>
              </a:lnSpc>
              <a:buClr>
                <a:srgbClr val="FFFFFF"/>
              </a:buClr>
              <a:buFont typeface="Wingdings"/>
              <a:buChar char=""/>
            </a:pPr>
            <a:endParaRPr sz="2600">
              <a:latin typeface="Arial"/>
              <a:cs typeface="Arial"/>
            </a:endParaRPr>
          </a:p>
          <a:p>
            <a:pPr marL="1082675" marR="5080" lvl="3" indent="-343535">
              <a:lnSpc>
                <a:spcPts val="1939"/>
              </a:lnSpc>
              <a:spcBef>
                <a:spcPts val="1685"/>
              </a:spcBef>
              <a:buFont typeface="Wingdings"/>
              <a:buChar char=""/>
              <a:tabLst>
                <a:tab pos="1082675" algn="l"/>
                <a:tab pos="1083310" algn="l"/>
              </a:tabLst>
            </a:pPr>
            <a:r>
              <a:rPr sz="1800" spc="100" dirty="0">
                <a:solidFill>
                  <a:srgbClr val="FFFFFF"/>
                </a:solidFill>
                <a:latin typeface="Arial"/>
                <a:cs typeface="Arial"/>
              </a:rPr>
              <a:t>It </a:t>
            </a:r>
            <a:r>
              <a:rPr sz="1800" spc="-100" dirty="0">
                <a:solidFill>
                  <a:srgbClr val="FFFFFF"/>
                </a:solidFill>
                <a:latin typeface="Arial"/>
                <a:cs typeface="Arial"/>
              </a:rPr>
              <a:t>separates </a:t>
            </a:r>
            <a:r>
              <a:rPr sz="1800" spc="-55" dirty="0">
                <a:solidFill>
                  <a:srgbClr val="FFFFFF"/>
                </a:solidFill>
                <a:latin typeface="Arial"/>
                <a:cs typeface="Arial"/>
              </a:rPr>
              <a:t>data </a:t>
            </a:r>
            <a:r>
              <a:rPr sz="1800" spc="-185" dirty="0">
                <a:solidFill>
                  <a:srgbClr val="FFFFFF"/>
                </a:solidFill>
                <a:latin typeface="Arial"/>
                <a:cs typeface="Arial"/>
              </a:rPr>
              <a:t>as </a:t>
            </a:r>
            <a:r>
              <a:rPr sz="1800" spc="-30" dirty="0">
                <a:solidFill>
                  <a:srgbClr val="FFFFFF"/>
                </a:solidFill>
                <a:latin typeface="Arial"/>
                <a:cs typeface="Arial"/>
              </a:rPr>
              <a:t>per </a:t>
            </a:r>
            <a:r>
              <a:rPr sz="1800" spc="10" dirty="0">
                <a:solidFill>
                  <a:srgbClr val="FFFFFF"/>
                </a:solidFill>
                <a:latin typeface="Arial"/>
                <a:cs typeface="Arial"/>
              </a:rPr>
              <a:t>time </a:t>
            </a:r>
            <a:r>
              <a:rPr sz="1800" spc="-60" dirty="0">
                <a:solidFill>
                  <a:srgbClr val="FFFFFF"/>
                </a:solidFill>
                <a:latin typeface="Arial"/>
                <a:cs typeface="Arial"/>
              </a:rPr>
              <a:t>frames </a:t>
            </a:r>
            <a:r>
              <a:rPr sz="1800" spc="-105" dirty="0">
                <a:solidFill>
                  <a:srgbClr val="FFFFFF"/>
                </a:solidFill>
                <a:latin typeface="Arial"/>
                <a:cs typeface="Arial"/>
              </a:rPr>
              <a:t>so </a:t>
            </a:r>
            <a:r>
              <a:rPr sz="1800" spc="-100" dirty="0">
                <a:solidFill>
                  <a:srgbClr val="FFFFFF"/>
                </a:solidFill>
                <a:latin typeface="Arial"/>
                <a:cs typeface="Arial"/>
              </a:rPr>
              <a:t>database </a:t>
            </a:r>
            <a:r>
              <a:rPr sz="1800" spc="-125" dirty="0">
                <a:solidFill>
                  <a:srgbClr val="FFFFFF"/>
                </a:solidFill>
                <a:latin typeface="Arial"/>
                <a:cs typeface="Arial"/>
              </a:rPr>
              <a:t>usage </a:t>
            </a:r>
            <a:r>
              <a:rPr sz="1800" spc="-25" dirty="0">
                <a:solidFill>
                  <a:srgbClr val="FFFFFF"/>
                </a:solidFill>
                <a:latin typeface="Arial"/>
                <a:cs typeface="Arial"/>
              </a:rPr>
              <a:t>patterns </a:t>
            </a:r>
            <a:r>
              <a:rPr sz="1800" spc="-65" dirty="0">
                <a:solidFill>
                  <a:srgbClr val="FFFFFF"/>
                </a:solidFill>
                <a:latin typeface="Arial"/>
                <a:cs typeface="Arial"/>
              </a:rPr>
              <a:t>can </a:t>
            </a:r>
            <a:r>
              <a:rPr sz="1800" spc="-90" dirty="0">
                <a:solidFill>
                  <a:srgbClr val="FFFFFF"/>
                </a:solidFill>
                <a:latin typeface="Arial"/>
                <a:cs typeface="Arial"/>
              </a:rPr>
              <a:t>be  </a:t>
            </a:r>
            <a:r>
              <a:rPr sz="1800" spc="30" dirty="0">
                <a:solidFill>
                  <a:srgbClr val="FFFFFF"/>
                </a:solidFill>
                <a:latin typeface="Arial"/>
                <a:cs typeface="Arial"/>
              </a:rPr>
              <a:t>identified</a:t>
            </a:r>
            <a:r>
              <a:rPr sz="1800" spc="-120" dirty="0">
                <a:solidFill>
                  <a:srgbClr val="FFFFFF"/>
                </a:solidFill>
                <a:latin typeface="Arial"/>
                <a:cs typeface="Arial"/>
              </a:rPr>
              <a:t> </a:t>
            </a:r>
            <a:r>
              <a:rPr sz="1800" spc="-35" dirty="0">
                <a:solidFill>
                  <a:srgbClr val="FFFFFF"/>
                </a:solidFill>
                <a:latin typeface="Arial"/>
                <a:cs typeface="Arial"/>
              </a:rPr>
              <a:t>and</a:t>
            </a:r>
            <a:r>
              <a:rPr sz="1800" spc="-114" dirty="0">
                <a:solidFill>
                  <a:srgbClr val="FFFFFF"/>
                </a:solidFill>
                <a:latin typeface="Arial"/>
                <a:cs typeface="Arial"/>
              </a:rPr>
              <a:t> </a:t>
            </a:r>
            <a:r>
              <a:rPr sz="1800" spc="-10" dirty="0">
                <a:solidFill>
                  <a:srgbClr val="FFFFFF"/>
                </a:solidFill>
                <a:latin typeface="Arial"/>
                <a:cs typeface="Arial"/>
              </a:rPr>
              <a:t>query</a:t>
            </a:r>
            <a:r>
              <a:rPr sz="1800" spc="-125" dirty="0">
                <a:solidFill>
                  <a:srgbClr val="FFFFFF"/>
                </a:solidFill>
                <a:latin typeface="Arial"/>
                <a:cs typeface="Arial"/>
              </a:rPr>
              <a:t> </a:t>
            </a:r>
            <a:r>
              <a:rPr sz="1800" spc="-5" dirty="0">
                <a:solidFill>
                  <a:srgbClr val="FFFFFF"/>
                </a:solidFill>
                <a:latin typeface="Arial"/>
                <a:cs typeface="Arial"/>
              </a:rPr>
              <a:t>plan</a:t>
            </a:r>
            <a:r>
              <a:rPr sz="1800" spc="-120" dirty="0">
                <a:solidFill>
                  <a:srgbClr val="FFFFFF"/>
                </a:solidFill>
                <a:latin typeface="Arial"/>
                <a:cs typeface="Arial"/>
              </a:rPr>
              <a:t> </a:t>
            </a:r>
            <a:r>
              <a:rPr sz="1800" spc="-90" dirty="0">
                <a:solidFill>
                  <a:srgbClr val="FFFFFF"/>
                </a:solidFill>
                <a:latin typeface="Arial"/>
                <a:cs typeface="Arial"/>
              </a:rPr>
              <a:t>changes</a:t>
            </a:r>
            <a:r>
              <a:rPr sz="1800" spc="-114" dirty="0">
                <a:solidFill>
                  <a:srgbClr val="FFFFFF"/>
                </a:solidFill>
                <a:latin typeface="Arial"/>
                <a:cs typeface="Arial"/>
              </a:rPr>
              <a:t> </a:t>
            </a:r>
            <a:r>
              <a:rPr sz="1800" spc="-50" dirty="0">
                <a:solidFill>
                  <a:srgbClr val="FFFFFF"/>
                </a:solidFill>
                <a:latin typeface="Arial"/>
                <a:cs typeface="Arial"/>
              </a:rPr>
              <a:t>happened</a:t>
            </a:r>
            <a:r>
              <a:rPr sz="1800" spc="-120" dirty="0">
                <a:solidFill>
                  <a:srgbClr val="FFFFFF"/>
                </a:solidFill>
                <a:latin typeface="Arial"/>
                <a:cs typeface="Arial"/>
              </a:rPr>
              <a:t> </a:t>
            </a:r>
            <a:r>
              <a:rPr sz="1800" spc="20" dirty="0">
                <a:solidFill>
                  <a:srgbClr val="FFFFFF"/>
                </a:solidFill>
                <a:latin typeface="Arial"/>
                <a:cs typeface="Arial"/>
              </a:rPr>
              <a:t>on</a:t>
            </a:r>
            <a:r>
              <a:rPr sz="1800" spc="-110" dirty="0">
                <a:solidFill>
                  <a:srgbClr val="FFFFFF"/>
                </a:solidFill>
                <a:latin typeface="Arial"/>
                <a:cs typeface="Arial"/>
              </a:rPr>
              <a:t> </a:t>
            </a:r>
            <a:r>
              <a:rPr sz="1800" dirty="0">
                <a:solidFill>
                  <a:srgbClr val="FFFFFF"/>
                </a:solidFill>
                <a:latin typeface="Arial"/>
                <a:cs typeface="Arial"/>
              </a:rPr>
              <a:t>the</a:t>
            </a:r>
            <a:r>
              <a:rPr sz="1800" spc="-114" dirty="0">
                <a:solidFill>
                  <a:srgbClr val="FFFFFF"/>
                </a:solidFill>
                <a:latin typeface="Arial"/>
                <a:cs typeface="Arial"/>
              </a:rPr>
              <a:t> </a:t>
            </a:r>
            <a:r>
              <a:rPr sz="1800" spc="-55" dirty="0">
                <a:solidFill>
                  <a:srgbClr val="FFFFFF"/>
                </a:solidFill>
                <a:latin typeface="Arial"/>
                <a:cs typeface="Arial"/>
              </a:rPr>
              <a:t>server</a:t>
            </a:r>
            <a:r>
              <a:rPr sz="1800" spc="-114" dirty="0">
                <a:solidFill>
                  <a:srgbClr val="FFFFFF"/>
                </a:solidFill>
                <a:latin typeface="Arial"/>
                <a:cs typeface="Arial"/>
              </a:rPr>
              <a:t> </a:t>
            </a:r>
            <a:r>
              <a:rPr sz="1800" spc="-90" dirty="0">
                <a:solidFill>
                  <a:srgbClr val="FFFFFF"/>
                </a:solidFill>
                <a:latin typeface="Arial"/>
                <a:cs typeface="Arial"/>
              </a:rPr>
              <a:t>are</a:t>
            </a:r>
            <a:r>
              <a:rPr sz="1800" spc="-120" dirty="0">
                <a:solidFill>
                  <a:srgbClr val="FFFFFF"/>
                </a:solidFill>
                <a:latin typeface="Arial"/>
                <a:cs typeface="Arial"/>
              </a:rPr>
              <a:t> </a:t>
            </a:r>
            <a:r>
              <a:rPr sz="1800" spc="-10" dirty="0">
                <a:solidFill>
                  <a:srgbClr val="FFFFFF"/>
                </a:solidFill>
                <a:latin typeface="Arial"/>
                <a:cs typeface="Arial"/>
              </a:rPr>
              <a:t>noted.</a:t>
            </a:r>
            <a:endParaRPr sz="18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11</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5648" y="0"/>
            <a:ext cx="5632450" cy="635635"/>
          </a:xfrm>
          <a:prstGeom prst="rect">
            <a:avLst/>
          </a:prstGeom>
        </p:spPr>
        <p:txBody>
          <a:bodyPr vert="horz" wrap="square" lIns="0" tIns="12700" rIns="0" bIns="0" rtlCol="0">
            <a:spAutoFit/>
          </a:bodyPr>
          <a:lstStyle/>
          <a:p>
            <a:pPr marL="12700">
              <a:lnSpc>
                <a:spcPct val="100000"/>
              </a:lnSpc>
              <a:spcBef>
                <a:spcPts val="100"/>
              </a:spcBef>
            </a:pPr>
            <a:r>
              <a:rPr sz="4000" b="0" spc="25" dirty="0">
                <a:latin typeface="Arial"/>
                <a:cs typeface="Arial"/>
              </a:rPr>
              <a:t>Query </a:t>
            </a:r>
            <a:r>
              <a:rPr sz="4000" b="0" spc="-55" dirty="0">
                <a:latin typeface="Arial"/>
                <a:cs typeface="Arial"/>
              </a:rPr>
              <a:t>Store</a:t>
            </a:r>
            <a:r>
              <a:rPr sz="4000" b="0" spc="-635" dirty="0">
                <a:latin typeface="Arial"/>
                <a:cs typeface="Arial"/>
              </a:rPr>
              <a:t> </a:t>
            </a:r>
            <a:r>
              <a:rPr sz="4000" b="0" spc="65" dirty="0">
                <a:latin typeface="Arial"/>
                <a:cs typeface="Arial"/>
              </a:rPr>
              <a:t>Architecture</a:t>
            </a:r>
            <a:endParaRPr sz="4000">
              <a:latin typeface="Arial"/>
              <a:cs typeface="Arial"/>
            </a:endParaRPr>
          </a:p>
        </p:txBody>
      </p:sp>
      <p:sp>
        <p:nvSpPr>
          <p:cNvPr id="3" name="object 3"/>
          <p:cNvSpPr/>
          <p:nvPr/>
        </p:nvSpPr>
        <p:spPr>
          <a:xfrm>
            <a:off x="381000" y="877823"/>
            <a:ext cx="8217534" cy="2048510"/>
          </a:xfrm>
          <a:custGeom>
            <a:avLst/>
            <a:gdLst/>
            <a:ahLst/>
            <a:cxnLst/>
            <a:rect l="l" t="t" r="r" b="b"/>
            <a:pathLst>
              <a:path w="8217534" h="2048510">
                <a:moveTo>
                  <a:pt x="8217408" y="341376"/>
                </a:moveTo>
                <a:lnTo>
                  <a:pt x="8214284" y="295046"/>
                </a:lnTo>
                <a:lnTo>
                  <a:pt x="8205216" y="250609"/>
                </a:lnTo>
                <a:lnTo>
                  <a:pt x="8190585" y="208483"/>
                </a:lnTo>
                <a:lnTo>
                  <a:pt x="8170812" y="169062"/>
                </a:lnTo>
                <a:lnTo>
                  <a:pt x="8146288" y="132753"/>
                </a:lnTo>
                <a:lnTo>
                  <a:pt x="8117433" y="99974"/>
                </a:lnTo>
                <a:lnTo>
                  <a:pt x="8084655" y="71120"/>
                </a:lnTo>
                <a:lnTo>
                  <a:pt x="8048345" y="46596"/>
                </a:lnTo>
                <a:lnTo>
                  <a:pt x="8008925" y="26822"/>
                </a:lnTo>
                <a:lnTo>
                  <a:pt x="7966799" y="12192"/>
                </a:lnTo>
                <a:lnTo>
                  <a:pt x="7922361" y="3124"/>
                </a:lnTo>
                <a:lnTo>
                  <a:pt x="7876032" y="0"/>
                </a:lnTo>
                <a:lnTo>
                  <a:pt x="341388" y="0"/>
                </a:lnTo>
                <a:lnTo>
                  <a:pt x="295059" y="3124"/>
                </a:lnTo>
                <a:lnTo>
                  <a:pt x="250621" y="12192"/>
                </a:lnTo>
                <a:lnTo>
                  <a:pt x="208495" y="26822"/>
                </a:lnTo>
                <a:lnTo>
                  <a:pt x="169075" y="46596"/>
                </a:lnTo>
                <a:lnTo>
                  <a:pt x="132765" y="71120"/>
                </a:lnTo>
                <a:lnTo>
                  <a:pt x="99987" y="99974"/>
                </a:lnTo>
                <a:lnTo>
                  <a:pt x="71120" y="132753"/>
                </a:lnTo>
                <a:lnTo>
                  <a:pt x="46609" y="169062"/>
                </a:lnTo>
                <a:lnTo>
                  <a:pt x="26822" y="208483"/>
                </a:lnTo>
                <a:lnTo>
                  <a:pt x="12192" y="250609"/>
                </a:lnTo>
                <a:lnTo>
                  <a:pt x="3111" y="295046"/>
                </a:lnTo>
                <a:lnTo>
                  <a:pt x="0" y="341376"/>
                </a:lnTo>
                <a:lnTo>
                  <a:pt x="0" y="1706880"/>
                </a:lnTo>
                <a:lnTo>
                  <a:pt x="3111" y="1753222"/>
                </a:lnTo>
                <a:lnTo>
                  <a:pt x="12192" y="1797659"/>
                </a:lnTo>
                <a:lnTo>
                  <a:pt x="26822" y="1839785"/>
                </a:lnTo>
                <a:lnTo>
                  <a:pt x="46609" y="1879206"/>
                </a:lnTo>
                <a:lnTo>
                  <a:pt x="71120" y="1915515"/>
                </a:lnTo>
                <a:lnTo>
                  <a:pt x="99987" y="1948294"/>
                </a:lnTo>
                <a:lnTo>
                  <a:pt x="132765" y="1977148"/>
                </a:lnTo>
                <a:lnTo>
                  <a:pt x="169075" y="2001672"/>
                </a:lnTo>
                <a:lnTo>
                  <a:pt x="208495" y="2021446"/>
                </a:lnTo>
                <a:lnTo>
                  <a:pt x="250621" y="2036076"/>
                </a:lnTo>
                <a:lnTo>
                  <a:pt x="295059" y="2045144"/>
                </a:lnTo>
                <a:lnTo>
                  <a:pt x="341388" y="2048256"/>
                </a:lnTo>
                <a:lnTo>
                  <a:pt x="7876032" y="2048256"/>
                </a:lnTo>
                <a:lnTo>
                  <a:pt x="7922361" y="2045144"/>
                </a:lnTo>
                <a:lnTo>
                  <a:pt x="7966799" y="2036076"/>
                </a:lnTo>
                <a:lnTo>
                  <a:pt x="8008925" y="2021446"/>
                </a:lnTo>
                <a:lnTo>
                  <a:pt x="8048345" y="2001672"/>
                </a:lnTo>
                <a:lnTo>
                  <a:pt x="8084655" y="1977148"/>
                </a:lnTo>
                <a:lnTo>
                  <a:pt x="8117433" y="1948294"/>
                </a:lnTo>
                <a:lnTo>
                  <a:pt x="8146288" y="1915515"/>
                </a:lnTo>
                <a:lnTo>
                  <a:pt x="8170812" y="1879206"/>
                </a:lnTo>
                <a:lnTo>
                  <a:pt x="8190585" y="1839785"/>
                </a:lnTo>
                <a:lnTo>
                  <a:pt x="8205216" y="1797659"/>
                </a:lnTo>
                <a:lnTo>
                  <a:pt x="8214284" y="1753222"/>
                </a:lnTo>
                <a:lnTo>
                  <a:pt x="8217408" y="1706880"/>
                </a:lnTo>
                <a:lnTo>
                  <a:pt x="8217408" y="341376"/>
                </a:lnTo>
                <a:close/>
              </a:path>
            </a:pathLst>
          </a:custGeom>
          <a:solidFill>
            <a:srgbClr val="C0504D"/>
          </a:solidFill>
        </p:spPr>
        <p:txBody>
          <a:bodyPr wrap="square" lIns="0" tIns="0" rIns="0" bIns="0" rtlCol="0"/>
          <a:lstStyle/>
          <a:p>
            <a:endParaRPr/>
          </a:p>
        </p:txBody>
      </p:sp>
      <p:sp>
        <p:nvSpPr>
          <p:cNvPr id="4" name="object 4"/>
          <p:cNvSpPr txBox="1"/>
          <p:nvPr/>
        </p:nvSpPr>
        <p:spPr>
          <a:xfrm>
            <a:off x="609091" y="1325371"/>
            <a:ext cx="7822565" cy="1153160"/>
          </a:xfrm>
          <a:prstGeom prst="rect">
            <a:avLst/>
          </a:prstGeom>
        </p:spPr>
        <p:txBody>
          <a:bodyPr vert="horz" wrap="square" lIns="0" tIns="46990" rIns="0" bIns="0" rtlCol="0">
            <a:spAutoFit/>
          </a:bodyPr>
          <a:lstStyle/>
          <a:p>
            <a:pPr marL="354965" marR="5080" indent="-342900">
              <a:lnSpc>
                <a:spcPts val="2160"/>
              </a:lnSpc>
              <a:spcBef>
                <a:spcPts val="370"/>
              </a:spcBef>
              <a:buFont typeface="Wingdings"/>
              <a:buChar char=""/>
              <a:tabLst>
                <a:tab pos="354965" algn="l"/>
                <a:tab pos="355600" algn="l"/>
              </a:tabLst>
            </a:pPr>
            <a:r>
              <a:rPr sz="2000" spc="-90" dirty="0">
                <a:solidFill>
                  <a:srgbClr val="FFFFFF"/>
                </a:solidFill>
                <a:latin typeface="Arial"/>
                <a:cs typeface="Arial"/>
              </a:rPr>
              <a:t>Each</a:t>
            </a:r>
            <a:r>
              <a:rPr sz="2000" spc="-125" dirty="0">
                <a:solidFill>
                  <a:srgbClr val="FFFFFF"/>
                </a:solidFill>
                <a:latin typeface="Arial"/>
                <a:cs typeface="Arial"/>
              </a:rPr>
              <a:t> </a:t>
            </a:r>
            <a:r>
              <a:rPr sz="2000" spc="-15" dirty="0">
                <a:solidFill>
                  <a:srgbClr val="FFFFFF"/>
                </a:solidFill>
                <a:latin typeface="Arial"/>
                <a:cs typeface="Arial"/>
              </a:rPr>
              <a:t>query</a:t>
            </a:r>
            <a:r>
              <a:rPr sz="2000" spc="-120" dirty="0">
                <a:solidFill>
                  <a:srgbClr val="FFFFFF"/>
                </a:solidFill>
                <a:latin typeface="Arial"/>
                <a:cs typeface="Arial"/>
              </a:rPr>
              <a:t> </a:t>
            </a:r>
            <a:r>
              <a:rPr sz="2000" spc="15" dirty="0">
                <a:solidFill>
                  <a:srgbClr val="FFFFFF"/>
                </a:solidFill>
                <a:latin typeface="Arial"/>
                <a:cs typeface="Arial"/>
              </a:rPr>
              <a:t>compilation</a:t>
            </a:r>
            <a:r>
              <a:rPr sz="2000" spc="-114" dirty="0">
                <a:solidFill>
                  <a:srgbClr val="FFFFFF"/>
                </a:solidFill>
                <a:latin typeface="Arial"/>
                <a:cs typeface="Arial"/>
              </a:rPr>
              <a:t> </a:t>
            </a:r>
            <a:r>
              <a:rPr sz="2000" spc="25" dirty="0">
                <a:solidFill>
                  <a:srgbClr val="FFFFFF"/>
                </a:solidFill>
                <a:latin typeface="Arial"/>
                <a:cs typeface="Arial"/>
              </a:rPr>
              <a:t>or</a:t>
            </a:r>
            <a:r>
              <a:rPr sz="2000" spc="-114" dirty="0">
                <a:solidFill>
                  <a:srgbClr val="FFFFFF"/>
                </a:solidFill>
                <a:latin typeface="Arial"/>
                <a:cs typeface="Arial"/>
              </a:rPr>
              <a:t> </a:t>
            </a:r>
            <a:r>
              <a:rPr sz="2000" spc="-5" dirty="0">
                <a:solidFill>
                  <a:srgbClr val="FFFFFF"/>
                </a:solidFill>
                <a:latin typeface="Arial"/>
                <a:cs typeface="Arial"/>
              </a:rPr>
              <a:t>execution</a:t>
            </a:r>
            <a:r>
              <a:rPr sz="2000" spc="-114" dirty="0">
                <a:solidFill>
                  <a:srgbClr val="FFFFFF"/>
                </a:solidFill>
                <a:latin typeface="Arial"/>
                <a:cs typeface="Arial"/>
              </a:rPr>
              <a:t> </a:t>
            </a:r>
            <a:r>
              <a:rPr sz="2000" spc="-10" dirty="0">
                <a:solidFill>
                  <a:srgbClr val="FFFFFF"/>
                </a:solidFill>
                <a:latin typeface="Arial"/>
                <a:cs typeface="Arial"/>
              </a:rPr>
              <a:t>by</a:t>
            </a:r>
            <a:r>
              <a:rPr sz="2000" spc="-120" dirty="0">
                <a:solidFill>
                  <a:srgbClr val="FFFFFF"/>
                </a:solidFill>
                <a:latin typeface="Arial"/>
                <a:cs typeface="Arial"/>
              </a:rPr>
              <a:t> </a:t>
            </a:r>
            <a:r>
              <a:rPr sz="2000" spc="20" dirty="0">
                <a:solidFill>
                  <a:srgbClr val="FFFFFF"/>
                </a:solidFill>
                <a:latin typeface="Arial"/>
                <a:cs typeface="Arial"/>
              </a:rPr>
              <a:t>SQL</a:t>
            </a:r>
            <a:r>
              <a:rPr sz="2000" spc="-125" dirty="0">
                <a:solidFill>
                  <a:srgbClr val="FFFFFF"/>
                </a:solidFill>
                <a:latin typeface="Arial"/>
                <a:cs typeface="Arial"/>
              </a:rPr>
              <a:t> </a:t>
            </a:r>
            <a:r>
              <a:rPr sz="2000" spc="-50" dirty="0">
                <a:solidFill>
                  <a:srgbClr val="FFFFFF"/>
                </a:solidFill>
                <a:latin typeface="Arial"/>
                <a:cs typeface="Arial"/>
              </a:rPr>
              <a:t>Server</a:t>
            </a:r>
            <a:r>
              <a:rPr sz="2000" spc="-114" dirty="0">
                <a:solidFill>
                  <a:srgbClr val="FFFFFF"/>
                </a:solidFill>
                <a:latin typeface="Arial"/>
                <a:cs typeface="Arial"/>
              </a:rPr>
              <a:t> </a:t>
            </a:r>
            <a:r>
              <a:rPr sz="2000" spc="-110" dirty="0">
                <a:solidFill>
                  <a:srgbClr val="FFFFFF"/>
                </a:solidFill>
                <a:latin typeface="Arial"/>
                <a:cs typeface="Arial"/>
              </a:rPr>
              <a:t>sends</a:t>
            </a:r>
            <a:r>
              <a:rPr sz="2000" spc="-120" dirty="0">
                <a:solidFill>
                  <a:srgbClr val="FFFFFF"/>
                </a:solidFill>
                <a:latin typeface="Arial"/>
                <a:cs typeface="Arial"/>
              </a:rPr>
              <a:t> </a:t>
            </a:r>
            <a:r>
              <a:rPr sz="2000" spc="-195" dirty="0">
                <a:solidFill>
                  <a:srgbClr val="FFFFFF"/>
                </a:solidFill>
                <a:latin typeface="Arial"/>
                <a:cs typeface="Arial"/>
              </a:rPr>
              <a:t>a</a:t>
            </a:r>
            <a:r>
              <a:rPr sz="2000" spc="-120" dirty="0">
                <a:solidFill>
                  <a:srgbClr val="FFFFFF"/>
                </a:solidFill>
                <a:latin typeface="Arial"/>
                <a:cs typeface="Arial"/>
              </a:rPr>
              <a:t> </a:t>
            </a:r>
            <a:r>
              <a:rPr sz="2000" spc="-165" dirty="0">
                <a:solidFill>
                  <a:srgbClr val="FFFFFF"/>
                </a:solidFill>
                <a:latin typeface="Arial"/>
                <a:cs typeface="Arial"/>
              </a:rPr>
              <a:t>message  </a:t>
            </a:r>
            <a:r>
              <a:rPr sz="2000" spc="50" dirty="0">
                <a:solidFill>
                  <a:srgbClr val="FFFFFF"/>
                </a:solidFill>
                <a:latin typeface="Arial"/>
                <a:cs typeface="Arial"/>
              </a:rPr>
              <a:t>to </a:t>
            </a:r>
            <a:r>
              <a:rPr sz="2000" dirty="0">
                <a:solidFill>
                  <a:srgbClr val="FFFFFF"/>
                </a:solidFill>
                <a:latin typeface="Arial"/>
                <a:cs typeface="Arial"/>
              </a:rPr>
              <a:t>the </a:t>
            </a:r>
            <a:r>
              <a:rPr sz="2000" spc="10" dirty="0">
                <a:solidFill>
                  <a:srgbClr val="FFFFFF"/>
                </a:solidFill>
                <a:latin typeface="Arial"/>
                <a:cs typeface="Arial"/>
              </a:rPr>
              <a:t>Query</a:t>
            </a:r>
            <a:r>
              <a:rPr sz="2000" spc="-420" dirty="0">
                <a:solidFill>
                  <a:srgbClr val="FFFFFF"/>
                </a:solidFill>
                <a:latin typeface="Arial"/>
                <a:cs typeface="Arial"/>
              </a:rPr>
              <a:t> </a:t>
            </a:r>
            <a:r>
              <a:rPr sz="2000" spc="-45" dirty="0">
                <a:solidFill>
                  <a:srgbClr val="FFFFFF"/>
                </a:solidFill>
                <a:latin typeface="Arial"/>
                <a:cs typeface="Arial"/>
              </a:rPr>
              <a:t>store.</a:t>
            </a:r>
            <a:endParaRPr sz="2000">
              <a:latin typeface="Arial"/>
              <a:cs typeface="Arial"/>
            </a:endParaRPr>
          </a:p>
          <a:p>
            <a:pPr marL="354965" marR="5080" indent="-342900">
              <a:lnSpc>
                <a:spcPts val="2160"/>
              </a:lnSpc>
              <a:buFont typeface="Wingdings"/>
              <a:buChar char=""/>
              <a:tabLst>
                <a:tab pos="354965" algn="l"/>
                <a:tab pos="355600" algn="l"/>
              </a:tabLst>
            </a:pPr>
            <a:r>
              <a:rPr sz="2000" spc="20" dirty="0">
                <a:solidFill>
                  <a:srgbClr val="FFFFFF"/>
                </a:solidFill>
                <a:latin typeface="Arial"/>
                <a:cs typeface="Arial"/>
              </a:rPr>
              <a:t>The </a:t>
            </a:r>
            <a:r>
              <a:rPr sz="2000" spc="40" dirty="0">
                <a:solidFill>
                  <a:srgbClr val="FFFFFF"/>
                </a:solidFill>
                <a:latin typeface="Arial"/>
                <a:cs typeface="Arial"/>
              </a:rPr>
              <a:t>information </a:t>
            </a:r>
            <a:r>
              <a:rPr sz="2000" spc="-10" dirty="0">
                <a:solidFill>
                  <a:srgbClr val="FFFFFF"/>
                </a:solidFill>
                <a:latin typeface="Arial"/>
                <a:cs typeface="Arial"/>
              </a:rPr>
              <a:t>about </a:t>
            </a:r>
            <a:r>
              <a:rPr sz="2000" dirty="0">
                <a:solidFill>
                  <a:srgbClr val="FFFFFF"/>
                </a:solidFill>
                <a:latin typeface="Arial"/>
                <a:cs typeface="Arial"/>
              </a:rPr>
              <a:t>the </a:t>
            </a:r>
            <a:r>
              <a:rPr sz="2000" spc="15" dirty="0">
                <a:solidFill>
                  <a:srgbClr val="FFFFFF"/>
                </a:solidFill>
                <a:latin typeface="Arial"/>
                <a:cs typeface="Arial"/>
              </a:rPr>
              <a:t>compilation </a:t>
            </a:r>
            <a:r>
              <a:rPr sz="2000" spc="-40" dirty="0">
                <a:solidFill>
                  <a:srgbClr val="FFFFFF"/>
                </a:solidFill>
                <a:latin typeface="Arial"/>
                <a:cs typeface="Arial"/>
              </a:rPr>
              <a:t>and </a:t>
            </a:r>
            <a:r>
              <a:rPr sz="2000" spc="-5" dirty="0">
                <a:solidFill>
                  <a:srgbClr val="FFFFFF"/>
                </a:solidFill>
                <a:latin typeface="Arial"/>
                <a:cs typeface="Arial"/>
              </a:rPr>
              <a:t>execution </a:t>
            </a:r>
            <a:r>
              <a:rPr sz="2000" spc="-50" dirty="0">
                <a:solidFill>
                  <a:srgbClr val="FFFFFF"/>
                </a:solidFill>
                <a:latin typeface="Arial"/>
                <a:cs typeface="Arial"/>
              </a:rPr>
              <a:t>is </a:t>
            </a:r>
            <a:r>
              <a:rPr sz="2000" spc="50" dirty="0">
                <a:solidFill>
                  <a:srgbClr val="FFFFFF"/>
                </a:solidFill>
                <a:latin typeface="Arial"/>
                <a:cs typeface="Arial"/>
              </a:rPr>
              <a:t>first</a:t>
            </a:r>
            <a:r>
              <a:rPr sz="2000" spc="-180" dirty="0">
                <a:solidFill>
                  <a:srgbClr val="FFFFFF"/>
                </a:solidFill>
                <a:latin typeface="Arial"/>
                <a:cs typeface="Arial"/>
              </a:rPr>
              <a:t> </a:t>
            </a:r>
            <a:r>
              <a:rPr sz="2000" spc="-35" dirty="0">
                <a:solidFill>
                  <a:srgbClr val="FFFFFF"/>
                </a:solidFill>
                <a:latin typeface="Arial"/>
                <a:cs typeface="Arial"/>
              </a:rPr>
              <a:t>stored  </a:t>
            </a:r>
            <a:r>
              <a:rPr sz="2000" spc="95" dirty="0">
                <a:solidFill>
                  <a:srgbClr val="FFFFFF"/>
                </a:solidFill>
                <a:latin typeface="Arial"/>
                <a:cs typeface="Arial"/>
              </a:rPr>
              <a:t>in</a:t>
            </a:r>
            <a:r>
              <a:rPr sz="2000" spc="-130" dirty="0">
                <a:solidFill>
                  <a:srgbClr val="FFFFFF"/>
                </a:solidFill>
                <a:latin typeface="Arial"/>
                <a:cs typeface="Arial"/>
              </a:rPr>
              <a:t> </a:t>
            </a:r>
            <a:r>
              <a:rPr sz="2000" spc="-105" dirty="0">
                <a:solidFill>
                  <a:srgbClr val="FFFFFF"/>
                </a:solidFill>
                <a:latin typeface="Arial"/>
                <a:cs typeface="Arial"/>
              </a:rPr>
              <a:t>cache</a:t>
            </a:r>
            <a:r>
              <a:rPr sz="2000" spc="-135" dirty="0">
                <a:solidFill>
                  <a:srgbClr val="FFFFFF"/>
                </a:solidFill>
                <a:latin typeface="Arial"/>
                <a:cs typeface="Arial"/>
              </a:rPr>
              <a:t> </a:t>
            </a:r>
            <a:r>
              <a:rPr sz="2000" spc="-40" dirty="0">
                <a:solidFill>
                  <a:srgbClr val="FFFFFF"/>
                </a:solidFill>
                <a:latin typeface="Arial"/>
                <a:cs typeface="Arial"/>
              </a:rPr>
              <a:t>and</a:t>
            </a:r>
            <a:r>
              <a:rPr sz="2000" spc="-130" dirty="0">
                <a:solidFill>
                  <a:srgbClr val="FFFFFF"/>
                </a:solidFill>
                <a:latin typeface="Arial"/>
                <a:cs typeface="Arial"/>
              </a:rPr>
              <a:t> </a:t>
            </a:r>
            <a:r>
              <a:rPr sz="2000" dirty="0">
                <a:solidFill>
                  <a:srgbClr val="FFFFFF"/>
                </a:solidFill>
                <a:latin typeface="Arial"/>
                <a:cs typeface="Arial"/>
              </a:rPr>
              <a:t>then,</a:t>
            </a:r>
            <a:r>
              <a:rPr sz="2000" spc="-110" dirty="0">
                <a:solidFill>
                  <a:srgbClr val="FFFFFF"/>
                </a:solidFill>
                <a:latin typeface="Arial"/>
                <a:cs typeface="Arial"/>
              </a:rPr>
              <a:t> </a:t>
            </a:r>
            <a:r>
              <a:rPr sz="2000" spc="-35" dirty="0">
                <a:solidFill>
                  <a:srgbClr val="FFFFFF"/>
                </a:solidFill>
                <a:latin typeface="Arial"/>
                <a:cs typeface="Arial"/>
              </a:rPr>
              <a:t>stored</a:t>
            </a:r>
            <a:r>
              <a:rPr sz="2000" spc="-114" dirty="0">
                <a:solidFill>
                  <a:srgbClr val="FFFFFF"/>
                </a:solidFill>
                <a:latin typeface="Arial"/>
                <a:cs typeface="Arial"/>
              </a:rPr>
              <a:t> </a:t>
            </a:r>
            <a:r>
              <a:rPr sz="2000" spc="50" dirty="0">
                <a:solidFill>
                  <a:srgbClr val="FFFFFF"/>
                </a:solidFill>
                <a:latin typeface="Arial"/>
                <a:cs typeface="Arial"/>
              </a:rPr>
              <a:t>to</a:t>
            </a:r>
            <a:r>
              <a:rPr sz="2000" spc="-125" dirty="0">
                <a:solidFill>
                  <a:srgbClr val="FFFFFF"/>
                </a:solidFill>
                <a:latin typeface="Arial"/>
                <a:cs typeface="Arial"/>
              </a:rPr>
              <a:t> </a:t>
            </a:r>
            <a:r>
              <a:rPr sz="2000" dirty="0">
                <a:solidFill>
                  <a:srgbClr val="FFFFFF"/>
                </a:solidFill>
                <a:latin typeface="Arial"/>
                <a:cs typeface="Arial"/>
              </a:rPr>
              <a:t>the</a:t>
            </a:r>
            <a:r>
              <a:rPr sz="2000" spc="-114" dirty="0">
                <a:solidFill>
                  <a:srgbClr val="FFFFFF"/>
                </a:solidFill>
                <a:latin typeface="Arial"/>
                <a:cs typeface="Arial"/>
              </a:rPr>
              <a:t> </a:t>
            </a:r>
            <a:r>
              <a:rPr sz="2000" spc="-10" dirty="0">
                <a:solidFill>
                  <a:srgbClr val="FFFFFF"/>
                </a:solidFill>
                <a:latin typeface="Arial"/>
                <a:cs typeface="Arial"/>
              </a:rPr>
              <a:t>disk.</a:t>
            </a:r>
            <a:endParaRPr sz="2000">
              <a:latin typeface="Arial"/>
              <a:cs typeface="Arial"/>
            </a:endParaRPr>
          </a:p>
        </p:txBody>
      </p:sp>
      <p:pic>
        <p:nvPicPr>
          <p:cNvPr id="5" name="object 5"/>
          <p:cNvPicPr/>
          <p:nvPr/>
        </p:nvPicPr>
        <p:blipFill>
          <a:blip r:embed="rId3" cstate="print"/>
          <a:stretch>
            <a:fillRect/>
          </a:stretch>
        </p:blipFill>
        <p:spPr>
          <a:xfrm>
            <a:off x="1641348" y="3452621"/>
            <a:ext cx="5697474" cy="2171700"/>
          </a:xfrm>
          <a:prstGeom prst="rect">
            <a:avLst/>
          </a:prstGeom>
        </p:spPr>
      </p:pic>
      <p:sp>
        <p:nvSpPr>
          <p:cNvPr id="6" name="object 6"/>
          <p:cNvSpPr txBox="1"/>
          <p:nvPr/>
        </p:nvSpPr>
        <p:spPr>
          <a:xfrm>
            <a:off x="3115055" y="5716778"/>
            <a:ext cx="2799715" cy="238760"/>
          </a:xfrm>
          <a:prstGeom prst="rect">
            <a:avLst/>
          </a:prstGeom>
        </p:spPr>
        <p:txBody>
          <a:bodyPr vert="horz" wrap="square" lIns="0" tIns="12065" rIns="0" bIns="0" rtlCol="0">
            <a:spAutoFit/>
          </a:bodyPr>
          <a:lstStyle/>
          <a:p>
            <a:pPr marL="12700">
              <a:lnSpc>
                <a:spcPct val="100000"/>
              </a:lnSpc>
              <a:spcBef>
                <a:spcPts val="95"/>
              </a:spcBef>
            </a:pPr>
            <a:r>
              <a:rPr sz="1400" b="1" dirty="0">
                <a:latin typeface="Times New Roman"/>
                <a:cs typeface="Times New Roman"/>
              </a:rPr>
              <a:t>SQL</a:t>
            </a:r>
            <a:r>
              <a:rPr sz="1400" b="1" spc="-85" dirty="0">
                <a:latin typeface="Times New Roman"/>
                <a:cs typeface="Times New Roman"/>
              </a:rPr>
              <a:t> </a:t>
            </a:r>
            <a:r>
              <a:rPr sz="1400" b="1" spc="-20" dirty="0">
                <a:latin typeface="Times New Roman"/>
                <a:cs typeface="Times New Roman"/>
              </a:rPr>
              <a:t>Server</a:t>
            </a:r>
            <a:r>
              <a:rPr sz="1400" b="1" spc="-90" dirty="0">
                <a:latin typeface="Times New Roman"/>
                <a:cs typeface="Times New Roman"/>
              </a:rPr>
              <a:t> </a:t>
            </a:r>
            <a:r>
              <a:rPr sz="1400" b="1" spc="-15" dirty="0">
                <a:latin typeface="Times New Roman"/>
                <a:cs typeface="Times New Roman"/>
              </a:rPr>
              <a:t>Messages</a:t>
            </a:r>
            <a:r>
              <a:rPr sz="1400" b="1" spc="-85" dirty="0">
                <a:latin typeface="Times New Roman"/>
                <a:cs typeface="Times New Roman"/>
              </a:rPr>
              <a:t> </a:t>
            </a:r>
            <a:r>
              <a:rPr sz="1400" b="1" spc="35" dirty="0">
                <a:latin typeface="Times New Roman"/>
                <a:cs typeface="Times New Roman"/>
              </a:rPr>
              <a:t>to</a:t>
            </a:r>
            <a:r>
              <a:rPr sz="1400" b="1" spc="-70" dirty="0">
                <a:latin typeface="Times New Roman"/>
                <a:cs typeface="Times New Roman"/>
              </a:rPr>
              <a:t> </a:t>
            </a:r>
            <a:r>
              <a:rPr sz="1400" b="1" spc="-5" dirty="0">
                <a:latin typeface="Times New Roman"/>
                <a:cs typeface="Times New Roman"/>
              </a:rPr>
              <a:t>Query</a:t>
            </a:r>
            <a:r>
              <a:rPr sz="1400" b="1" spc="-90" dirty="0">
                <a:latin typeface="Times New Roman"/>
                <a:cs typeface="Times New Roman"/>
              </a:rPr>
              <a:t> </a:t>
            </a:r>
            <a:r>
              <a:rPr sz="1400" b="1" spc="5" dirty="0">
                <a:latin typeface="Times New Roman"/>
                <a:cs typeface="Times New Roman"/>
              </a:rPr>
              <a:t>Store</a:t>
            </a:r>
            <a:endParaRPr sz="14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12</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1668" y="1063751"/>
            <a:ext cx="8524240" cy="1201420"/>
          </a:xfrm>
          <a:custGeom>
            <a:avLst/>
            <a:gdLst/>
            <a:ahLst/>
            <a:cxnLst/>
            <a:rect l="l" t="t" r="r" b="b"/>
            <a:pathLst>
              <a:path w="8524240" h="1201420">
                <a:moveTo>
                  <a:pt x="8523732" y="200152"/>
                </a:moveTo>
                <a:lnTo>
                  <a:pt x="8518436" y="154279"/>
                </a:lnTo>
                <a:lnTo>
                  <a:pt x="8503374" y="112153"/>
                </a:lnTo>
                <a:lnTo>
                  <a:pt x="8479739" y="74993"/>
                </a:lnTo>
                <a:lnTo>
                  <a:pt x="8448738" y="43992"/>
                </a:lnTo>
                <a:lnTo>
                  <a:pt x="8411578" y="20358"/>
                </a:lnTo>
                <a:lnTo>
                  <a:pt x="8369452" y="5295"/>
                </a:lnTo>
                <a:lnTo>
                  <a:pt x="8323580" y="0"/>
                </a:lnTo>
                <a:lnTo>
                  <a:pt x="200152" y="0"/>
                </a:lnTo>
                <a:lnTo>
                  <a:pt x="154254" y="5295"/>
                </a:lnTo>
                <a:lnTo>
                  <a:pt x="112128" y="20358"/>
                </a:lnTo>
                <a:lnTo>
                  <a:pt x="74955" y="43992"/>
                </a:lnTo>
                <a:lnTo>
                  <a:pt x="43967" y="74993"/>
                </a:lnTo>
                <a:lnTo>
                  <a:pt x="20332" y="112153"/>
                </a:lnTo>
                <a:lnTo>
                  <a:pt x="5283" y="154279"/>
                </a:lnTo>
                <a:lnTo>
                  <a:pt x="0" y="200152"/>
                </a:lnTo>
                <a:lnTo>
                  <a:pt x="0" y="1000760"/>
                </a:lnTo>
                <a:lnTo>
                  <a:pt x="5283" y="1046645"/>
                </a:lnTo>
                <a:lnTo>
                  <a:pt x="20332" y="1088771"/>
                </a:lnTo>
                <a:lnTo>
                  <a:pt x="43967" y="1125931"/>
                </a:lnTo>
                <a:lnTo>
                  <a:pt x="74955" y="1156931"/>
                </a:lnTo>
                <a:lnTo>
                  <a:pt x="112128" y="1180566"/>
                </a:lnTo>
                <a:lnTo>
                  <a:pt x="154254" y="1195628"/>
                </a:lnTo>
                <a:lnTo>
                  <a:pt x="200152" y="1200912"/>
                </a:lnTo>
                <a:lnTo>
                  <a:pt x="8323580" y="1200912"/>
                </a:lnTo>
                <a:lnTo>
                  <a:pt x="8369452" y="1195628"/>
                </a:lnTo>
                <a:lnTo>
                  <a:pt x="8411578" y="1180566"/>
                </a:lnTo>
                <a:lnTo>
                  <a:pt x="8448738" y="1156931"/>
                </a:lnTo>
                <a:lnTo>
                  <a:pt x="8479739" y="1125931"/>
                </a:lnTo>
                <a:lnTo>
                  <a:pt x="8503374" y="1088771"/>
                </a:lnTo>
                <a:lnTo>
                  <a:pt x="8518436" y="1046645"/>
                </a:lnTo>
                <a:lnTo>
                  <a:pt x="8523732" y="1000760"/>
                </a:lnTo>
                <a:lnTo>
                  <a:pt x="8523732" y="200152"/>
                </a:lnTo>
                <a:close/>
              </a:path>
            </a:pathLst>
          </a:custGeom>
          <a:solidFill>
            <a:srgbClr val="F79546"/>
          </a:solidFill>
        </p:spPr>
        <p:txBody>
          <a:bodyPr wrap="square" lIns="0" tIns="0" rIns="0" bIns="0" rtlCol="0"/>
          <a:lstStyle/>
          <a:p>
            <a:endParaRPr/>
          </a:p>
        </p:txBody>
      </p:sp>
      <p:sp>
        <p:nvSpPr>
          <p:cNvPr id="3" name="object 3"/>
          <p:cNvSpPr txBox="1">
            <a:spLocks noGrp="1"/>
          </p:cNvSpPr>
          <p:nvPr>
            <p:ph type="title"/>
          </p:nvPr>
        </p:nvSpPr>
        <p:spPr>
          <a:xfrm>
            <a:off x="383540" y="15493"/>
            <a:ext cx="4773295" cy="635635"/>
          </a:xfrm>
          <a:prstGeom prst="rect">
            <a:avLst/>
          </a:prstGeom>
        </p:spPr>
        <p:txBody>
          <a:bodyPr vert="horz" wrap="square" lIns="0" tIns="12700" rIns="0" bIns="0" rtlCol="0">
            <a:spAutoFit/>
          </a:bodyPr>
          <a:lstStyle/>
          <a:p>
            <a:pPr marL="12700">
              <a:lnSpc>
                <a:spcPct val="100000"/>
              </a:lnSpc>
              <a:spcBef>
                <a:spcPts val="100"/>
              </a:spcBef>
            </a:pPr>
            <a:r>
              <a:rPr sz="4000" b="0" spc="-25" dirty="0">
                <a:latin typeface="Arial"/>
                <a:cs typeface="Arial"/>
              </a:rPr>
              <a:t>Enabling </a:t>
            </a:r>
            <a:r>
              <a:rPr sz="4000" b="0" spc="25" dirty="0">
                <a:latin typeface="Arial"/>
                <a:cs typeface="Arial"/>
              </a:rPr>
              <a:t>Query</a:t>
            </a:r>
            <a:r>
              <a:rPr sz="4000" b="0" spc="-590" dirty="0">
                <a:latin typeface="Arial"/>
                <a:cs typeface="Arial"/>
              </a:rPr>
              <a:t> </a:t>
            </a:r>
            <a:r>
              <a:rPr sz="4000" b="0" spc="-55" dirty="0">
                <a:latin typeface="Arial"/>
                <a:cs typeface="Arial"/>
              </a:rPr>
              <a:t>Store</a:t>
            </a:r>
            <a:endParaRPr sz="40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13</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4" name="object 4"/>
          <p:cNvSpPr txBox="1"/>
          <p:nvPr/>
        </p:nvSpPr>
        <p:spPr>
          <a:xfrm>
            <a:off x="665733" y="1178559"/>
            <a:ext cx="7813040" cy="848360"/>
          </a:xfrm>
          <a:prstGeom prst="rect">
            <a:avLst/>
          </a:prstGeom>
        </p:spPr>
        <p:txBody>
          <a:bodyPr vert="horz" wrap="square" lIns="0" tIns="12700" rIns="0" bIns="0" rtlCol="0">
            <a:spAutoFit/>
          </a:bodyPr>
          <a:lstStyle/>
          <a:p>
            <a:pPr marL="298450" marR="5080" indent="-285750" algn="just">
              <a:lnSpc>
                <a:spcPct val="100000"/>
              </a:lnSpc>
              <a:spcBef>
                <a:spcPts val="100"/>
              </a:spcBef>
              <a:buFont typeface="Wingdings"/>
              <a:buChar char=""/>
              <a:tabLst>
                <a:tab pos="298450" algn="l"/>
              </a:tabLst>
            </a:pPr>
            <a:r>
              <a:rPr sz="1800" spc="10" dirty="0">
                <a:solidFill>
                  <a:srgbClr val="FFFFFF"/>
                </a:solidFill>
                <a:latin typeface="Arial"/>
                <a:cs typeface="Arial"/>
              </a:rPr>
              <a:t>Query </a:t>
            </a:r>
            <a:r>
              <a:rPr sz="1800" spc="-25" dirty="0">
                <a:solidFill>
                  <a:srgbClr val="FFFFFF"/>
                </a:solidFill>
                <a:latin typeface="Arial"/>
                <a:cs typeface="Arial"/>
              </a:rPr>
              <a:t>Store </a:t>
            </a:r>
            <a:r>
              <a:rPr sz="1800" spc="-45" dirty="0">
                <a:solidFill>
                  <a:srgbClr val="FFFFFF"/>
                </a:solidFill>
                <a:latin typeface="Arial"/>
                <a:cs typeface="Arial"/>
              </a:rPr>
              <a:t>is </a:t>
            </a:r>
            <a:r>
              <a:rPr sz="1800" spc="50" dirty="0">
                <a:solidFill>
                  <a:srgbClr val="FFFFFF"/>
                </a:solidFill>
                <a:latin typeface="Arial"/>
                <a:cs typeface="Arial"/>
              </a:rPr>
              <a:t>not </a:t>
            </a:r>
            <a:r>
              <a:rPr sz="1800" spc="-50" dirty="0">
                <a:solidFill>
                  <a:srgbClr val="FFFFFF"/>
                </a:solidFill>
                <a:latin typeface="Arial"/>
                <a:cs typeface="Arial"/>
              </a:rPr>
              <a:t>enabled </a:t>
            </a:r>
            <a:r>
              <a:rPr sz="1800" spc="-10" dirty="0">
                <a:solidFill>
                  <a:srgbClr val="FFFFFF"/>
                </a:solidFill>
                <a:latin typeface="Arial"/>
                <a:cs typeface="Arial"/>
              </a:rPr>
              <a:t>by </a:t>
            </a:r>
            <a:r>
              <a:rPr sz="1800" spc="5" dirty="0">
                <a:solidFill>
                  <a:srgbClr val="FFFFFF"/>
                </a:solidFill>
                <a:latin typeface="Arial"/>
                <a:cs typeface="Arial"/>
              </a:rPr>
              <a:t>default </a:t>
            </a:r>
            <a:r>
              <a:rPr sz="1800" spc="60" dirty="0">
                <a:solidFill>
                  <a:srgbClr val="FFFFFF"/>
                </a:solidFill>
                <a:latin typeface="Arial"/>
                <a:cs typeface="Arial"/>
              </a:rPr>
              <a:t>for </a:t>
            </a:r>
            <a:r>
              <a:rPr sz="1800" spc="-20" dirty="0">
                <a:solidFill>
                  <a:srgbClr val="FFFFFF"/>
                </a:solidFill>
                <a:latin typeface="Arial"/>
                <a:cs typeface="Arial"/>
              </a:rPr>
              <a:t>new </a:t>
            </a:r>
            <a:r>
              <a:rPr sz="1800" spc="20" dirty="0">
                <a:solidFill>
                  <a:srgbClr val="FFFFFF"/>
                </a:solidFill>
                <a:latin typeface="Arial"/>
                <a:cs typeface="Arial"/>
              </a:rPr>
              <a:t>SQL </a:t>
            </a:r>
            <a:r>
              <a:rPr sz="1800" spc="-45" dirty="0">
                <a:solidFill>
                  <a:srgbClr val="FFFFFF"/>
                </a:solidFill>
                <a:latin typeface="Arial"/>
                <a:cs typeface="Arial"/>
              </a:rPr>
              <a:t>Server </a:t>
            </a:r>
            <a:r>
              <a:rPr sz="1800" spc="-35" dirty="0">
                <a:solidFill>
                  <a:srgbClr val="FFFFFF"/>
                </a:solidFill>
                <a:latin typeface="Arial"/>
                <a:cs typeface="Arial"/>
              </a:rPr>
              <a:t>and </a:t>
            </a:r>
            <a:r>
              <a:rPr sz="1800" spc="-5" dirty="0">
                <a:solidFill>
                  <a:srgbClr val="FFFFFF"/>
                </a:solidFill>
                <a:latin typeface="Arial"/>
                <a:cs typeface="Arial"/>
              </a:rPr>
              <a:t>Azure  </a:t>
            </a:r>
            <a:r>
              <a:rPr sz="1800" spc="-90" dirty="0">
                <a:solidFill>
                  <a:srgbClr val="FFFFFF"/>
                </a:solidFill>
                <a:latin typeface="Arial"/>
                <a:cs typeface="Arial"/>
              </a:rPr>
              <a:t>Synapse </a:t>
            </a:r>
            <a:r>
              <a:rPr sz="1800" spc="20" dirty="0">
                <a:solidFill>
                  <a:srgbClr val="FFFFFF"/>
                </a:solidFill>
                <a:latin typeface="Arial"/>
                <a:cs typeface="Arial"/>
              </a:rPr>
              <a:t>Analytics </a:t>
            </a:r>
            <a:r>
              <a:rPr sz="1800" spc="10" dirty="0">
                <a:solidFill>
                  <a:srgbClr val="FFFFFF"/>
                </a:solidFill>
                <a:latin typeface="Arial"/>
                <a:cs typeface="Arial"/>
              </a:rPr>
              <a:t>(SQL </a:t>
            </a:r>
            <a:r>
              <a:rPr sz="1800" spc="135" dirty="0">
                <a:solidFill>
                  <a:srgbClr val="FFFFFF"/>
                </a:solidFill>
                <a:latin typeface="Arial"/>
                <a:cs typeface="Arial"/>
              </a:rPr>
              <a:t>DW) </a:t>
            </a:r>
            <a:r>
              <a:rPr sz="1800" spc="-110" dirty="0">
                <a:solidFill>
                  <a:srgbClr val="FFFFFF"/>
                </a:solidFill>
                <a:latin typeface="Arial"/>
                <a:cs typeface="Arial"/>
              </a:rPr>
              <a:t>databases </a:t>
            </a:r>
            <a:r>
              <a:rPr sz="1800" spc="-35" dirty="0">
                <a:solidFill>
                  <a:srgbClr val="FFFFFF"/>
                </a:solidFill>
                <a:latin typeface="Arial"/>
                <a:cs typeface="Arial"/>
              </a:rPr>
              <a:t>and </a:t>
            </a:r>
            <a:r>
              <a:rPr sz="1800" spc="-45" dirty="0">
                <a:solidFill>
                  <a:srgbClr val="FFFFFF"/>
                </a:solidFill>
                <a:latin typeface="Arial"/>
                <a:cs typeface="Arial"/>
              </a:rPr>
              <a:t>is </a:t>
            </a:r>
            <a:r>
              <a:rPr sz="1800" spc="-50" dirty="0">
                <a:solidFill>
                  <a:srgbClr val="FFFFFF"/>
                </a:solidFill>
                <a:latin typeface="Arial"/>
                <a:cs typeface="Arial"/>
              </a:rPr>
              <a:t>enabled </a:t>
            </a:r>
            <a:r>
              <a:rPr sz="1800" spc="-10" dirty="0">
                <a:solidFill>
                  <a:srgbClr val="FFFFFF"/>
                </a:solidFill>
                <a:latin typeface="Arial"/>
                <a:cs typeface="Arial"/>
              </a:rPr>
              <a:t>by </a:t>
            </a:r>
            <a:r>
              <a:rPr sz="1800" spc="5" dirty="0">
                <a:solidFill>
                  <a:srgbClr val="FFFFFF"/>
                </a:solidFill>
                <a:latin typeface="Arial"/>
                <a:cs typeface="Arial"/>
              </a:rPr>
              <a:t>default </a:t>
            </a:r>
            <a:r>
              <a:rPr sz="1800" spc="60" dirty="0">
                <a:solidFill>
                  <a:srgbClr val="FFFFFF"/>
                </a:solidFill>
                <a:latin typeface="Arial"/>
                <a:cs typeface="Arial"/>
              </a:rPr>
              <a:t>for </a:t>
            </a:r>
            <a:r>
              <a:rPr sz="1800" spc="-20" dirty="0">
                <a:solidFill>
                  <a:srgbClr val="FFFFFF"/>
                </a:solidFill>
                <a:latin typeface="Arial"/>
                <a:cs typeface="Arial"/>
              </a:rPr>
              <a:t>new  </a:t>
            </a:r>
            <a:r>
              <a:rPr sz="1800" spc="-5" dirty="0">
                <a:solidFill>
                  <a:srgbClr val="FFFFFF"/>
                </a:solidFill>
                <a:latin typeface="Arial"/>
                <a:cs typeface="Arial"/>
              </a:rPr>
              <a:t>Azure </a:t>
            </a:r>
            <a:r>
              <a:rPr sz="1800" spc="20" dirty="0">
                <a:solidFill>
                  <a:srgbClr val="FFFFFF"/>
                </a:solidFill>
                <a:latin typeface="Arial"/>
                <a:cs typeface="Arial"/>
              </a:rPr>
              <a:t>SQL </a:t>
            </a:r>
            <a:r>
              <a:rPr sz="1800" spc="-85">
                <a:solidFill>
                  <a:srgbClr val="FFFFFF"/>
                </a:solidFill>
                <a:latin typeface="Arial"/>
                <a:cs typeface="Arial"/>
              </a:rPr>
              <a:t>Database</a:t>
            </a:r>
            <a:r>
              <a:rPr sz="1800" spc="-365">
                <a:solidFill>
                  <a:srgbClr val="FFFFFF"/>
                </a:solidFill>
                <a:latin typeface="Arial"/>
                <a:cs typeface="Arial"/>
              </a:rPr>
              <a:t> </a:t>
            </a:r>
            <a:r>
              <a:rPr lang="en-US" sz="1800" spc="-365">
                <a:solidFill>
                  <a:srgbClr val="FFFFFF"/>
                </a:solidFill>
                <a:latin typeface="Arial"/>
                <a:cs typeface="Arial"/>
              </a:rPr>
              <a:t> </a:t>
            </a:r>
            <a:r>
              <a:rPr sz="1800" spc="-105">
                <a:solidFill>
                  <a:srgbClr val="FFFFFF"/>
                </a:solidFill>
                <a:latin typeface="Arial"/>
                <a:cs typeface="Arial"/>
              </a:rPr>
              <a:t>databases</a:t>
            </a:r>
            <a:r>
              <a:rPr sz="1800" spc="-105" dirty="0">
                <a:solidFill>
                  <a:srgbClr val="FFFFFF"/>
                </a:solidFill>
                <a:latin typeface="Arial"/>
                <a:cs typeface="Arial"/>
              </a:rPr>
              <a:t>.</a:t>
            </a:r>
            <a:endParaRPr sz="1800">
              <a:latin typeface="Arial"/>
              <a:cs typeface="Arial"/>
            </a:endParaRPr>
          </a:p>
        </p:txBody>
      </p:sp>
      <p:sp>
        <p:nvSpPr>
          <p:cNvPr id="5" name="object 5"/>
          <p:cNvSpPr txBox="1"/>
          <p:nvPr/>
        </p:nvSpPr>
        <p:spPr>
          <a:xfrm>
            <a:off x="470662" y="2667762"/>
            <a:ext cx="4177538" cy="1981953"/>
          </a:xfrm>
          <a:prstGeom prst="rect">
            <a:avLst/>
          </a:prstGeom>
        </p:spPr>
        <p:txBody>
          <a:bodyPr vert="horz" wrap="square" lIns="0" tIns="12065" rIns="0" bIns="0" rtlCol="0">
            <a:spAutoFit/>
          </a:bodyPr>
          <a:lstStyle/>
          <a:p>
            <a:pPr marL="12700">
              <a:lnSpc>
                <a:spcPct val="100000"/>
              </a:lnSpc>
              <a:spcBef>
                <a:spcPts val="95"/>
              </a:spcBef>
            </a:pPr>
            <a:r>
              <a:rPr sz="2000" b="1" spc="35" dirty="0">
                <a:latin typeface="Times New Roman"/>
                <a:cs typeface="Times New Roman"/>
              </a:rPr>
              <a:t>Using</a:t>
            </a:r>
            <a:r>
              <a:rPr sz="2000" b="1" spc="-365" dirty="0">
                <a:latin typeface="Times New Roman"/>
                <a:cs typeface="Times New Roman"/>
              </a:rPr>
              <a:t> </a:t>
            </a:r>
            <a:r>
              <a:rPr sz="2000" b="1" spc="5" dirty="0">
                <a:latin typeface="Times New Roman"/>
                <a:cs typeface="Times New Roman"/>
              </a:rPr>
              <a:t>SQL </a:t>
            </a:r>
            <a:r>
              <a:rPr sz="2000" b="1" spc="-25" dirty="0">
                <a:latin typeface="Times New Roman"/>
                <a:cs typeface="Times New Roman"/>
              </a:rPr>
              <a:t>Server Management </a:t>
            </a:r>
            <a:r>
              <a:rPr sz="2000" b="1" spc="30" dirty="0">
                <a:latin typeface="Times New Roman"/>
                <a:cs typeface="Times New Roman"/>
              </a:rPr>
              <a:t>Studio</a:t>
            </a:r>
            <a:endParaRPr sz="2000">
              <a:latin typeface="Times New Roman"/>
              <a:cs typeface="Times New Roman"/>
            </a:endParaRPr>
          </a:p>
          <a:p>
            <a:pPr marL="355600" indent="-342900">
              <a:lnSpc>
                <a:spcPct val="100000"/>
              </a:lnSpc>
              <a:spcBef>
                <a:spcPts val="40"/>
              </a:spcBef>
              <a:buAutoNum type="arabicPeriod"/>
              <a:tabLst>
                <a:tab pos="354965" algn="l"/>
                <a:tab pos="355600" algn="l"/>
              </a:tabLst>
            </a:pPr>
            <a:r>
              <a:rPr sz="1800" spc="75" dirty="0">
                <a:latin typeface="Arial"/>
                <a:cs typeface="Arial"/>
              </a:rPr>
              <a:t>In</a:t>
            </a:r>
            <a:r>
              <a:rPr sz="1800" spc="-120" dirty="0">
                <a:latin typeface="Arial"/>
                <a:cs typeface="Arial"/>
              </a:rPr>
              <a:t> </a:t>
            </a:r>
            <a:r>
              <a:rPr sz="1800" spc="15" dirty="0">
                <a:latin typeface="Arial"/>
                <a:cs typeface="Arial"/>
              </a:rPr>
              <a:t>Object</a:t>
            </a:r>
            <a:r>
              <a:rPr sz="1800" spc="-125" dirty="0">
                <a:latin typeface="Arial"/>
                <a:cs typeface="Arial"/>
              </a:rPr>
              <a:t> </a:t>
            </a:r>
            <a:r>
              <a:rPr sz="1800" dirty="0">
                <a:latin typeface="Arial"/>
                <a:cs typeface="Arial"/>
              </a:rPr>
              <a:t>Explorer,</a:t>
            </a:r>
            <a:r>
              <a:rPr sz="1800" spc="-120" dirty="0">
                <a:latin typeface="Arial"/>
                <a:cs typeface="Arial"/>
              </a:rPr>
              <a:t> </a:t>
            </a:r>
            <a:r>
              <a:rPr sz="1800" spc="30" dirty="0">
                <a:latin typeface="Arial"/>
                <a:cs typeface="Arial"/>
              </a:rPr>
              <a:t>right-click</a:t>
            </a:r>
            <a:r>
              <a:rPr sz="1800" spc="-130" dirty="0">
                <a:latin typeface="Arial"/>
                <a:cs typeface="Arial"/>
              </a:rPr>
              <a:t> </a:t>
            </a:r>
            <a:r>
              <a:rPr sz="1800" spc="-175" dirty="0">
                <a:latin typeface="Arial"/>
                <a:cs typeface="Arial"/>
              </a:rPr>
              <a:t>a</a:t>
            </a:r>
            <a:r>
              <a:rPr sz="1800" spc="-114" dirty="0">
                <a:latin typeface="Arial"/>
                <a:cs typeface="Arial"/>
              </a:rPr>
              <a:t> </a:t>
            </a:r>
            <a:r>
              <a:rPr sz="1800" spc="-95" dirty="0">
                <a:latin typeface="Arial"/>
                <a:cs typeface="Arial"/>
              </a:rPr>
              <a:t>database</a:t>
            </a:r>
            <a:r>
              <a:rPr sz="1800" spc="-130" dirty="0">
                <a:latin typeface="Arial"/>
                <a:cs typeface="Arial"/>
              </a:rPr>
              <a:t> </a:t>
            </a:r>
            <a:r>
              <a:rPr sz="1800" spc="-35" dirty="0">
                <a:latin typeface="Arial"/>
                <a:cs typeface="Arial"/>
              </a:rPr>
              <a:t>and</a:t>
            </a:r>
            <a:r>
              <a:rPr sz="1800" spc="-125" dirty="0">
                <a:latin typeface="Arial"/>
                <a:cs typeface="Arial"/>
              </a:rPr>
              <a:t> </a:t>
            </a:r>
            <a:r>
              <a:rPr sz="1800" dirty="0">
                <a:latin typeface="Arial"/>
                <a:cs typeface="Arial"/>
              </a:rPr>
              <a:t>then,</a:t>
            </a:r>
            <a:r>
              <a:rPr sz="1800" spc="-120" dirty="0">
                <a:latin typeface="Arial"/>
                <a:cs typeface="Arial"/>
              </a:rPr>
              <a:t> </a:t>
            </a:r>
            <a:r>
              <a:rPr sz="1800" spc="20" dirty="0">
                <a:latin typeface="Arial"/>
                <a:cs typeface="Arial"/>
              </a:rPr>
              <a:t>click</a:t>
            </a:r>
            <a:r>
              <a:rPr sz="1800" spc="-120" dirty="0">
                <a:latin typeface="Arial"/>
                <a:cs typeface="Arial"/>
              </a:rPr>
              <a:t> </a:t>
            </a:r>
            <a:r>
              <a:rPr sz="1800" spc="-35" dirty="0">
                <a:latin typeface="Arial"/>
                <a:cs typeface="Arial"/>
              </a:rPr>
              <a:t>Properties.</a:t>
            </a:r>
            <a:endParaRPr sz="1800">
              <a:latin typeface="Arial"/>
              <a:cs typeface="Arial"/>
            </a:endParaRPr>
          </a:p>
          <a:p>
            <a:pPr marL="355600" indent="-342900">
              <a:lnSpc>
                <a:spcPct val="100000"/>
              </a:lnSpc>
              <a:buAutoNum type="arabicPeriod"/>
              <a:tabLst>
                <a:tab pos="354965" algn="l"/>
                <a:tab pos="355600" algn="l"/>
              </a:tabLst>
            </a:pPr>
            <a:r>
              <a:rPr sz="1800" spc="75" dirty="0">
                <a:latin typeface="Arial"/>
                <a:cs typeface="Arial"/>
              </a:rPr>
              <a:t>In</a:t>
            </a:r>
            <a:r>
              <a:rPr sz="1800" spc="-120" dirty="0">
                <a:latin typeface="Arial"/>
                <a:cs typeface="Arial"/>
              </a:rPr>
              <a:t> </a:t>
            </a:r>
            <a:r>
              <a:rPr sz="1800" dirty="0">
                <a:latin typeface="Arial"/>
                <a:cs typeface="Arial"/>
              </a:rPr>
              <a:t>the</a:t>
            </a:r>
            <a:r>
              <a:rPr sz="1800" spc="-114" dirty="0">
                <a:latin typeface="Arial"/>
                <a:cs typeface="Arial"/>
              </a:rPr>
              <a:t> </a:t>
            </a:r>
            <a:r>
              <a:rPr sz="1800" spc="-85" dirty="0">
                <a:latin typeface="Arial"/>
                <a:cs typeface="Arial"/>
              </a:rPr>
              <a:t>Database</a:t>
            </a:r>
            <a:r>
              <a:rPr sz="1800" spc="-114" dirty="0">
                <a:latin typeface="Arial"/>
                <a:cs typeface="Arial"/>
              </a:rPr>
              <a:t> </a:t>
            </a:r>
            <a:r>
              <a:rPr sz="1800" spc="-35" dirty="0">
                <a:latin typeface="Arial"/>
                <a:cs typeface="Arial"/>
              </a:rPr>
              <a:t>Properties</a:t>
            </a:r>
            <a:r>
              <a:rPr sz="1800" spc="-120" dirty="0">
                <a:latin typeface="Arial"/>
                <a:cs typeface="Arial"/>
              </a:rPr>
              <a:t> </a:t>
            </a:r>
            <a:r>
              <a:rPr sz="1800" spc="-15" dirty="0">
                <a:latin typeface="Arial"/>
                <a:cs typeface="Arial"/>
              </a:rPr>
              <a:t>dialog</a:t>
            </a:r>
            <a:r>
              <a:rPr sz="1800" spc="-125" dirty="0">
                <a:latin typeface="Arial"/>
                <a:cs typeface="Arial"/>
              </a:rPr>
              <a:t> </a:t>
            </a:r>
            <a:r>
              <a:rPr sz="1800" dirty="0">
                <a:latin typeface="Arial"/>
                <a:cs typeface="Arial"/>
              </a:rPr>
              <a:t>box,</a:t>
            </a:r>
            <a:r>
              <a:rPr sz="1800" spc="-110" dirty="0">
                <a:latin typeface="Arial"/>
                <a:cs typeface="Arial"/>
              </a:rPr>
              <a:t> </a:t>
            </a:r>
            <a:r>
              <a:rPr sz="1800" spc="-65" dirty="0">
                <a:latin typeface="Arial"/>
                <a:cs typeface="Arial"/>
              </a:rPr>
              <a:t>select</a:t>
            </a:r>
            <a:r>
              <a:rPr sz="1800" spc="-125" dirty="0">
                <a:latin typeface="Arial"/>
                <a:cs typeface="Arial"/>
              </a:rPr>
              <a:t> </a:t>
            </a:r>
            <a:r>
              <a:rPr sz="1800" dirty="0">
                <a:latin typeface="Arial"/>
                <a:cs typeface="Arial"/>
              </a:rPr>
              <a:t>the</a:t>
            </a:r>
            <a:r>
              <a:rPr sz="1800" spc="-110" dirty="0">
                <a:latin typeface="Arial"/>
                <a:cs typeface="Arial"/>
              </a:rPr>
              <a:t> </a:t>
            </a:r>
            <a:r>
              <a:rPr sz="1800" spc="10" dirty="0">
                <a:latin typeface="Arial"/>
                <a:cs typeface="Arial"/>
              </a:rPr>
              <a:t>Query</a:t>
            </a:r>
            <a:r>
              <a:rPr sz="1800" spc="-114" dirty="0">
                <a:latin typeface="Arial"/>
                <a:cs typeface="Arial"/>
              </a:rPr>
              <a:t> </a:t>
            </a:r>
            <a:r>
              <a:rPr sz="1800" spc="-25" dirty="0">
                <a:latin typeface="Arial"/>
                <a:cs typeface="Arial"/>
              </a:rPr>
              <a:t>Store</a:t>
            </a:r>
            <a:r>
              <a:rPr sz="1800" spc="-114" dirty="0">
                <a:latin typeface="Arial"/>
                <a:cs typeface="Arial"/>
              </a:rPr>
              <a:t> </a:t>
            </a:r>
            <a:r>
              <a:rPr sz="1800" spc="-105" dirty="0">
                <a:latin typeface="Arial"/>
                <a:cs typeface="Arial"/>
              </a:rPr>
              <a:t>page.</a:t>
            </a:r>
            <a:endParaRPr sz="1800">
              <a:latin typeface="Arial"/>
              <a:cs typeface="Arial"/>
            </a:endParaRPr>
          </a:p>
          <a:p>
            <a:pPr marL="355600" indent="-342900">
              <a:lnSpc>
                <a:spcPct val="100000"/>
              </a:lnSpc>
              <a:buAutoNum type="arabicPeriod"/>
              <a:tabLst>
                <a:tab pos="354965" algn="l"/>
                <a:tab pos="355600" algn="l"/>
              </a:tabLst>
            </a:pPr>
            <a:r>
              <a:rPr sz="1800" spc="75" dirty="0">
                <a:latin typeface="Arial"/>
                <a:cs typeface="Arial"/>
              </a:rPr>
              <a:t>In</a:t>
            </a:r>
            <a:r>
              <a:rPr sz="1800" spc="-125" dirty="0">
                <a:latin typeface="Arial"/>
                <a:cs typeface="Arial"/>
              </a:rPr>
              <a:t> </a:t>
            </a:r>
            <a:r>
              <a:rPr sz="1800" dirty="0">
                <a:latin typeface="Arial"/>
                <a:cs typeface="Arial"/>
              </a:rPr>
              <a:t>the</a:t>
            </a:r>
            <a:r>
              <a:rPr sz="1800" spc="-114" dirty="0">
                <a:latin typeface="Arial"/>
                <a:cs typeface="Arial"/>
              </a:rPr>
              <a:t> </a:t>
            </a:r>
            <a:r>
              <a:rPr sz="1800" spc="15" dirty="0">
                <a:latin typeface="Arial"/>
                <a:cs typeface="Arial"/>
              </a:rPr>
              <a:t>Operation</a:t>
            </a:r>
            <a:r>
              <a:rPr sz="1800" spc="-125" dirty="0">
                <a:latin typeface="Arial"/>
                <a:cs typeface="Arial"/>
              </a:rPr>
              <a:t> </a:t>
            </a:r>
            <a:r>
              <a:rPr sz="1800" spc="-5" dirty="0">
                <a:latin typeface="Arial"/>
                <a:cs typeface="Arial"/>
              </a:rPr>
              <a:t>Mode</a:t>
            </a:r>
            <a:r>
              <a:rPr sz="1800" spc="-120" dirty="0">
                <a:latin typeface="Arial"/>
                <a:cs typeface="Arial"/>
              </a:rPr>
              <a:t> </a:t>
            </a:r>
            <a:r>
              <a:rPr sz="1800" spc="-50" dirty="0">
                <a:latin typeface="Arial"/>
                <a:cs typeface="Arial"/>
              </a:rPr>
              <a:t>(Requested)</a:t>
            </a:r>
            <a:r>
              <a:rPr sz="1800" spc="-135" dirty="0">
                <a:latin typeface="Arial"/>
                <a:cs typeface="Arial"/>
              </a:rPr>
              <a:t> </a:t>
            </a:r>
            <a:r>
              <a:rPr sz="1800" dirty="0">
                <a:latin typeface="Arial"/>
                <a:cs typeface="Arial"/>
              </a:rPr>
              <a:t>box,</a:t>
            </a:r>
            <a:r>
              <a:rPr sz="1800" spc="-110" dirty="0">
                <a:latin typeface="Arial"/>
                <a:cs typeface="Arial"/>
              </a:rPr>
              <a:t> </a:t>
            </a:r>
            <a:r>
              <a:rPr sz="1800" spc="-65" dirty="0">
                <a:latin typeface="Arial"/>
                <a:cs typeface="Arial"/>
              </a:rPr>
              <a:t>select</a:t>
            </a:r>
            <a:r>
              <a:rPr sz="1800" spc="-130" dirty="0">
                <a:latin typeface="Arial"/>
                <a:cs typeface="Arial"/>
              </a:rPr>
              <a:t> </a:t>
            </a:r>
            <a:r>
              <a:rPr sz="1800" spc="-85" dirty="0">
                <a:latin typeface="Arial"/>
                <a:cs typeface="Arial"/>
              </a:rPr>
              <a:t>Read</a:t>
            </a:r>
            <a:r>
              <a:rPr sz="1800" spc="-130" dirty="0">
                <a:latin typeface="Arial"/>
                <a:cs typeface="Arial"/>
              </a:rPr>
              <a:t> </a:t>
            </a:r>
            <a:r>
              <a:rPr sz="1800" spc="65" dirty="0">
                <a:latin typeface="Arial"/>
                <a:cs typeface="Arial"/>
              </a:rPr>
              <a:t>Write.</a:t>
            </a:r>
            <a:endParaRPr sz="1800">
              <a:latin typeface="Arial"/>
              <a:cs typeface="Arial"/>
            </a:endParaRPr>
          </a:p>
        </p:txBody>
      </p:sp>
      <p:sp>
        <p:nvSpPr>
          <p:cNvPr id="6" name="object 6"/>
          <p:cNvSpPr txBox="1"/>
          <p:nvPr/>
        </p:nvSpPr>
        <p:spPr>
          <a:xfrm>
            <a:off x="470662" y="5215129"/>
            <a:ext cx="7531734" cy="1158240"/>
          </a:xfrm>
          <a:prstGeom prst="rect">
            <a:avLst/>
          </a:prstGeom>
        </p:spPr>
        <p:txBody>
          <a:bodyPr vert="horz" wrap="square" lIns="0" tIns="12065" rIns="0" bIns="0" rtlCol="0">
            <a:spAutoFit/>
          </a:bodyPr>
          <a:lstStyle/>
          <a:p>
            <a:pPr marL="12700">
              <a:lnSpc>
                <a:spcPct val="100000"/>
              </a:lnSpc>
              <a:spcBef>
                <a:spcPts val="95"/>
              </a:spcBef>
            </a:pPr>
            <a:r>
              <a:rPr sz="2000" b="1" spc="35" dirty="0">
                <a:latin typeface="Times New Roman"/>
                <a:cs typeface="Times New Roman"/>
              </a:rPr>
              <a:t>Using</a:t>
            </a:r>
            <a:r>
              <a:rPr sz="2000" b="1" spc="-110" dirty="0">
                <a:latin typeface="Times New Roman"/>
                <a:cs typeface="Times New Roman"/>
              </a:rPr>
              <a:t> </a:t>
            </a:r>
            <a:r>
              <a:rPr sz="2000" b="1" spc="-20" dirty="0">
                <a:latin typeface="Times New Roman"/>
                <a:cs typeface="Times New Roman"/>
              </a:rPr>
              <a:t>Transact-SQL</a:t>
            </a:r>
            <a:endParaRPr sz="2000">
              <a:latin typeface="Times New Roman"/>
              <a:cs typeface="Times New Roman"/>
            </a:endParaRPr>
          </a:p>
          <a:p>
            <a:pPr marL="12700" marR="5080">
              <a:lnSpc>
                <a:spcPct val="100000"/>
              </a:lnSpc>
              <a:spcBef>
                <a:spcPts val="40"/>
              </a:spcBef>
            </a:pPr>
            <a:r>
              <a:rPr sz="1800" spc="-65" dirty="0">
                <a:latin typeface="Arial"/>
                <a:cs typeface="Arial"/>
              </a:rPr>
              <a:t>Use</a:t>
            </a:r>
            <a:r>
              <a:rPr sz="1800" spc="-114" dirty="0">
                <a:latin typeface="Arial"/>
                <a:cs typeface="Arial"/>
              </a:rPr>
              <a:t> </a:t>
            </a:r>
            <a:r>
              <a:rPr sz="1800" dirty="0">
                <a:latin typeface="Arial"/>
                <a:cs typeface="Arial"/>
              </a:rPr>
              <a:t>the</a:t>
            </a:r>
            <a:r>
              <a:rPr sz="1800" spc="-120" dirty="0">
                <a:latin typeface="Arial"/>
                <a:cs typeface="Arial"/>
              </a:rPr>
              <a:t> </a:t>
            </a:r>
            <a:r>
              <a:rPr sz="1800" spc="75" dirty="0">
                <a:latin typeface="Arial"/>
                <a:cs typeface="Arial"/>
              </a:rPr>
              <a:t>ALTER</a:t>
            </a:r>
            <a:r>
              <a:rPr sz="1800" spc="-114" dirty="0">
                <a:latin typeface="Arial"/>
                <a:cs typeface="Arial"/>
              </a:rPr>
              <a:t> </a:t>
            </a:r>
            <a:r>
              <a:rPr sz="1800" spc="95" dirty="0">
                <a:latin typeface="Arial"/>
                <a:cs typeface="Arial"/>
              </a:rPr>
              <a:t>DATABASE</a:t>
            </a:r>
            <a:r>
              <a:rPr sz="1800" spc="-120" dirty="0">
                <a:latin typeface="Arial"/>
                <a:cs typeface="Arial"/>
              </a:rPr>
              <a:t> </a:t>
            </a:r>
            <a:r>
              <a:rPr sz="1800" spc="-35" dirty="0">
                <a:latin typeface="Arial"/>
                <a:cs typeface="Arial"/>
              </a:rPr>
              <a:t>statement</a:t>
            </a:r>
            <a:r>
              <a:rPr sz="1800" spc="-114" dirty="0">
                <a:latin typeface="Arial"/>
                <a:cs typeface="Arial"/>
              </a:rPr>
              <a:t> </a:t>
            </a:r>
            <a:r>
              <a:rPr sz="1800" spc="45" dirty="0">
                <a:latin typeface="Arial"/>
                <a:cs typeface="Arial"/>
              </a:rPr>
              <a:t>to</a:t>
            </a:r>
            <a:r>
              <a:rPr sz="1800" spc="-130" dirty="0">
                <a:latin typeface="Arial"/>
                <a:cs typeface="Arial"/>
              </a:rPr>
              <a:t> </a:t>
            </a:r>
            <a:r>
              <a:rPr sz="1800" spc="-60" dirty="0">
                <a:latin typeface="Arial"/>
                <a:cs typeface="Arial"/>
              </a:rPr>
              <a:t>enable</a:t>
            </a:r>
            <a:r>
              <a:rPr sz="1800" spc="-120" dirty="0">
                <a:latin typeface="Arial"/>
                <a:cs typeface="Arial"/>
              </a:rPr>
              <a:t> </a:t>
            </a:r>
            <a:r>
              <a:rPr sz="1800" dirty="0">
                <a:latin typeface="Arial"/>
                <a:cs typeface="Arial"/>
              </a:rPr>
              <a:t>the</a:t>
            </a:r>
            <a:r>
              <a:rPr sz="1800" spc="-110" dirty="0">
                <a:latin typeface="Arial"/>
                <a:cs typeface="Arial"/>
              </a:rPr>
              <a:t> </a:t>
            </a:r>
            <a:r>
              <a:rPr sz="1800" spc="-10" dirty="0">
                <a:latin typeface="Arial"/>
                <a:cs typeface="Arial"/>
              </a:rPr>
              <a:t>query</a:t>
            </a:r>
            <a:r>
              <a:rPr sz="1800" spc="-120" dirty="0">
                <a:latin typeface="Arial"/>
                <a:cs typeface="Arial"/>
              </a:rPr>
              <a:t> </a:t>
            </a:r>
            <a:r>
              <a:rPr sz="1800" spc="-40" dirty="0">
                <a:latin typeface="Arial"/>
                <a:cs typeface="Arial"/>
              </a:rPr>
              <a:t>store</a:t>
            </a:r>
            <a:r>
              <a:rPr sz="1800" spc="-114" dirty="0">
                <a:latin typeface="Arial"/>
                <a:cs typeface="Arial"/>
              </a:rPr>
              <a:t> </a:t>
            </a:r>
            <a:r>
              <a:rPr sz="1800" spc="60" dirty="0">
                <a:latin typeface="Arial"/>
                <a:cs typeface="Arial"/>
              </a:rPr>
              <a:t>for</a:t>
            </a:r>
            <a:r>
              <a:rPr sz="1800" spc="-105" dirty="0">
                <a:latin typeface="Arial"/>
                <a:cs typeface="Arial"/>
              </a:rPr>
              <a:t> </a:t>
            </a:r>
            <a:r>
              <a:rPr sz="1800" spc="-175" dirty="0">
                <a:latin typeface="Arial"/>
                <a:cs typeface="Arial"/>
              </a:rPr>
              <a:t>a</a:t>
            </a:r>
            <a:r>
              <a:rPr sz="1800" spc="-120" dirty="0">
                <a:latin typeface="Arial"/>
                <a:cs typeface="Arial"/>
              </a:rPr>
              <a:t> </a:t>
            </a:r>
            <a:r>
              <a:rPr sz="1800" spc="-15" dirty="0">
                <a:latin typeface="Arial"/>
                <a:cs typeface="Arial"/>
              </a:rPr>
              <a:t>given  </a:t>
            </a:r>
            <a:r>
              <a:rPr sz="1800" spc="-95" dirty="0">
                <a:latin typeface="Arial"/>
                <a:cs typeface="Arial"/>
              </a:rPr>
              <a:t>database </a:t>
            </a:r>
            <a:r>
              <a:rPr sz="1800" spc="-10" dirty="0">
                <a:latin typeface="Arial"/>
                <a:cs typeface="Arial"/>
              </a:rPr>
              <a:t>shown </a:t>
            </a:r>
            <a:r>
              <a:rPr sz="1800" spc="-185" dirty="0">
                <a:latin typeface="Arial"/>
                <a:cs typeface="Arial"/>
              </a:rPr>
              <a:t>as</a:t>
            </a:r>
            <a:r>
              <a:rPr sz="1800" spc="-245" dirty="0">
                <a:latin typeface="Arial"/>
                <a:cs typeface="Arial"/>
              </a:rPr>
              <a:t> </a:t>
            </a:r>
            <a:r>
              <a:rPr sz="1800" spc="10" dirty="0">
                <a:latin typeface="Arial"/>
                <a:cs typeface="Arial"/>
              </a:rPr>
              <a:t>follows:</a:t>
            </a:r>
            <a:endParaRPr sz="1800">
              <a:latin typeface="Arial"/>
              <a:cs typeface="Arial"/>
            </a:endParaRPr>
          </a:p>
          <a:p>
            <a:pPr marL="61594">
              <a:lnSpc>
                <a:spcPct val="100000"/>
              </a:lnSpc>
            </a:pPr>
            <a:r>
              <a:rPr sz="1800" spc="-30" dirty="0">
                <a:latin typeface="Arial"/>
                <a:cs typeface="Arial"/>
              </a:rPr>
              <a:t>SET</a:t>
            </a:r>
            <a:r>
              <a:rPr sz="1800" spc="-120" dirty="0">
                <a:latin typeface="Arial"/>
                <a:cs typeface="Arial"/>
              </a:rPr>
              <a:t> </a:t>
            </a:r>
            <a:r>
              <a:rPr sz="1800" spc="-30" dirty="0">
                <a:latin typeface="Arial"/>
                <a:cs typeface="Arial"/>
              </a:rPr>
              <a:t>QUERY_STORE</a:t>
            </a:r>
            <a:r>
              <a:rPr sz="1800" spc="-120" dirty="0">
                <a:latin typeface="Arial"/>
                <a:cs typeface="Arial"/>
              </a:rPr>
              <a:t> </a:t>
            </a:r>
            <a:r>
              <a:rPr sz="1800" spc="-105" dirty="0">
                <a:latin typeface="Arial"/>
                <a:cs typeface="Arial"/>
              </a:rPr>
              <a:t>=</a:t>
            </a:r>
            <a:r>
              <a:rPr sz="1800" spc="-114" dirty="0">
                <a:latin typeface="Arial"/>
                <a:cs typeface="Arial"/>
              </a:rPr>
              <a:t> </a:t>
            </a:r>
            <a:r>
              <a:rPr sz="1800" spc="135" dirty="0">
                <a:latin typeface="Arial"/>
                <a:cs typeface="Arial"/>
              </a:rPr>
              <a:t>ON</a:t>
            </a:r>
            <a:r>
              <a:rPr sz="1800" spc="-120" dirty="0">
                <a:latin typeface="Arial"/>
                <a:cs typeface="Arial"/>
              </a:rPr>
              <a:t> </a:t>
            </a:r>
            <a:r>
              <a:rPr sz="1800" spc="15" dirty="0">
                <a:latin typeface="Arial"/>
                <a:cs typeface="Arial"/>
              </a:rPr>
              <a:t>(OPERATION_MODE</a:t>
            </a:r>
            <a:r>
              <a:rPr sz="1800" spc="-114" dirty="0">
                <a:latin typeface="Arial"/>
                <a:cs typeface="Arial"/>
              </a:rPr>
              <a:t> </a:t>
            </a:r>
            <a:r>
              <a:rPr sz="1800" spc="-105" dirty="0">
                <a:latin typeface="Arial"/>
                <a:cs typeface="Arial"/>
              </a:rPr>
              <a:t>=</a:t>
            </a:r>
            <a:r>
              <a:rPr sz="1800" spc="-120" dirty="0">
                <a:latin typeface="Arial"/>
                <a:cs typeface="Arial"/>
              </a:rPr>
              <a:t> </a:t>
            </a:r>
            <a:r>
              <a:rPr sz="1800" dirty="0">
                <a:latin typeface="Arial"/>
                <a:cs typeface="Arial"/>
              </a:rPr>
              <a:t>READ_WRITE);</a:t>
            </a:r>
            <a:endParaRPr sz="1800">
              <a:latin typeface="Arial"/>
              <a:cs typeface="Arial"/>
            </a:endParaRPr>
          </a:p>
        </p:txBody>
      </p:sp>
      <p:sp>
        <p:nvSpPr>
          <p:cNvPr id="10" name="object 18">
            <a:extLst>
              <a:ext uri="{FF2B5EF4-FFF2-40B4-BE49-F238E27FC236}">
                <a16:creationId xmlns:a16="http://schemas.microsoft.com/office/drawing/2014/main" id="{2D7DCCE2-ECD0-4C3E-9ECD-493A195A8EF9}"/>
              </a:ext>
            </a:extLst>
          </p:cNvPr>
          <p:cNvSpPr/>
          <p:nvPr/>
        </p:nvSpPr>
        <p:spPr>
          <a:xfrm>
            <a:off x="4684853" y="2517712"/>
            <a:ext cx="4367783" cy="2635885"/>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5549900" cy="635635"/>
          </a:xfrm>
          <a:prstGeom prst="rect">
            <a:avLst/>
          </a:prstGeom>
        </p:spPr>
        <p:txBody>
          <a:bodyPr vert="horz" wrap="square" lIns="0" tIns="12700" rIns="0" bIns="0" rtlCol="0">
            <a:spAutoFit/>
          </a:bodyPr>
          <a:lstStyle/>
          <a:p>
            <a:pPr marL="12700">
              <a:lnSpc>
                <a:spcPct val="100000"/>
              </a:lnSpc>
              <a:spcBef>
                <a:spcPts val="100"/>
              </a:spcBef>
            </a:pPr>
            <a:r>
              <a:rPr sz="4000" b="0" spc="95" dirty="0">
                <a:latin typeface="Arial"/>
                <a:cs typeface="Arial"/>
              </a:rPr>
              <a:t>Configuring </a:t>
            </a:r>
            <a:r>
              <a:rPr sz="4000" b="0" spc="25" dirty="0">
                <a:latin typeface="Arial"/>
                <a:cs typeface="Arial"/>
              </a:rPr>
              <a:t>Query</a:t>
            </a:r>
            <a:r>
              <a:rPr sz="4000" b="0" spc="-730" dirty="0">
                <a:latin typeface="Arial"/>
                <a:cs typeface="Arial"/>
              </a:rPr>
              <a:t> </a:t>
            </a:r>
            <a:r>
              <a:rPr sz="4000" b="0" spc="-55" dirty="0">
                <a:latin typeface="Arial"/>
                <a:cs typeface="Arial"/>
              </a:rPr>
              <a:t>Store</a:t>
            </a:r>
            <a:endParaRPr sz="4000">
              <a:latin typeface="Arial"/>
              <a:cs typeface="Arial"/>
            </a:endParaRPr>
          </a:p>
        </p:txBody>
      </p:sp>
      <p:sp>
        <p:nvSpPr>
          <p:cNvPr id="3" name="object 3"/>
          <p:cNvSpPr txBox="1"/>
          <p:nvPr/>
        </p:nvSpPr>
        <p:spPr>
          <a:xfrm>
            <a:off x="398272" y="876553"/>
            <a:ext cx="8053705" cy="635000"/>
          </a:xfrm>
          <a:prstGeom prst="rect">
            <a:avLst/>
          </a:prstGeom>
        </p:spPr>
        <p:txBody>
          <a:bodyPr vert="horz" wrap="square" lIns="0" tIns="12065" rIns="0" bIns="0" rtlCol="0">
            <a:spAutoFit/>
          </a:bodyPr>
          <a:lstStyle/>
          <a:p>
            <a:pPr marL="12700" marR="5080">
              <a:lnSpc>
                <a:spcPct val="100000"/>
              </a:lnSpc>
              <a:spcBef>
                <a:spcPts val="95"/>
              </a:spcBef>
            </a:pPr>
            <a:r>
              <a:rPr sz="2000" spc="-20" dirty="0">
                <a:latin typeface="Arial"/>
                <a:cs typeface="Arial"/>
              </a:rPr>
              <a:t>Once</a:t>
            </a:r>
            <a:r>
              <a:rPr sz="2000" spc="-130" dirty="0">
                <a:latin typeface="Arial"/>
                <a:cs typeface="Arial"/>
              </a:rPr>
              <a:t> </a:t>
            </a:r>
            <a:r>
              <a:rPr sz="2000" dirty="0">
                <a:latin typeface="Arial"/>
                <a:cs typeface="Arial"/>
              </a:rPr>
              <a:t>the</a:t>
            </a:r>
            <a:r>
              <a:rPr sz="2000" spc="-110" dirty="0">
                <a:latin typeface="Arial"/>
                <a:cs typeface="Arial"/>
              </a:rPr>
              <a:t> </a:t>
            </a:r>
            <a:r>
              <a:rPr sz="2000" spc="10" dirty="0">
                <a:latin typeface="Arial"/>
                <a:cs typeface="Arial"/>
              </a:rPr>
              <a:t>Query</a:t>
            </a:r>
            <a:r>
              <a:rPr sz="2000" spc="-130" dirty="0">
                <a:latin typeface="Arial"/>
                <a:cs typeface="Arial"/>
              </a:rPr>
              <a:t> </a:t>
            </a:r>
            <a:r>
              <a:rPr sz="2000" spc="-30" dirty="0">
                <a:latin typeface="Arial"/>
                <a:cs typeface="Arial"/>
              </a:rPr>
              <a:t>Store</a:t>
            </a:r>
            <a:r>
              <a:rPr sz="2000" spc="-110" dirty="0">
                <a:latin typeface="Arial"/>
                <a:cs typeface="Arial"/>
              </a:rPr>
              <a:t> </a:t>
            </a:r>
            <a:r>
              <a:rPr sz="2000" spc="-25" dirty="0">
                <a:latin typeface="Arial"/>
                <a:cs typeface="Arial"/>
              </a:rPr>
              <a:t>feature</a:t>
            </a:r>
            <a:r>
              <a:rPr sz="2000" spc="-110" dirty="0">
                <a:latin typeface="Arial"/>
                <a:cs typeface="Arial"/>
              </a:rPr>
              <a:t> </a:t>
            </a:r>
            <a:r>
              <a:rPr sz="2000" spc="-50" dirty="0">
                <a:latin typeface="Arial"/>
                <a:cs typeface="Arial"/>
              </a:rPr>
              <a:t>is</a:t>
            </a:r>
            <a:r>
              <a:rPr sz="2000" spc="-130" dirty="0">
                <a:latin typeface="Arial"/>
                <a:cs typeface="Arial"/>
              </a:rPr>
              <a:t> </a:t>
            </a:r>
            <a:r>
              <a:rPr sz="2000" spc="-55" dirty="0">
                <a:latin typeface="Arial"/>
                <a:cs typeface="Arial"/>
              </a:rPr>
              <a:t>enabled,</a:t>
            </a:r>
            <a:r>
              <a:rPr sz="2000" spc="-100" dirty="0">
                <a:latin typeface="Arial"/>
                <a:cs typeface="Arial"/>
              </a:rPr>
              <a:t> </a:t>
            </a:r>
            <a:r>
              <a:rPr sz="2000" spc="10" dirty="0">
                <a:latin typeface="Arial"/>
                <a:cs typeface="Arial"/>
              </a:rPr>
              <a:t>other</a:t>
            </a:r>
            <a:r>
              <a:rPr sz="2000" spc="-110" dirty="0">
                <a:latin typeface="Arial"/>
                <a:cs typeface="Arial"/>
              </a:rPr>
              <a:t> </a:t>
            </a:r>
            <a:r>
              <a:rPr sz="2000" spc="-70" dirty="0">
                <a:latin typeface="Arial"/>
                <a:cs typeface="Arial"/>
              </a:rPr>
              <a:t>parameters</a:t>
            </a:r>
            <a:r>
              <a:rPr sz="2000" spc="-110" dirty="0">
                <a:latin typeface="Arial"/>
                <a:cs typeface="Arial"/>
              </a:rPr>
              <a:t> </a:t>
            </a:r>
            <a:r>
              <a:rPr sz="2000" spc="65" dirty="0">
                <a:latin typeface="Arial"/>
                <a:cs typeface="Arial"/>
              </a:rPr>
              <a:t>for</a:t>
            </a:r>
            <a:r>
              <a:rPr sz="2000" spc="-130" dirty="0">
                <a:latin typeface="Arial"/>
                <a:cs typeface="Arial"/>
              </a:rPr>
              <a:t> </a:t>
            </a:r>
            <a:r>
              <a:rPr sz="2000" spc="55" dirty="0">
                <a:latin typeface="Arial"/>
                <a:cs typeface="Arial"/>
              </a:rPr>
              <a:t>Monitoring  </a:t>
            </a:r>
            <a:r>
              <a:rPr sz="2000" spc="-40" dirty="0">
                <a:latin typeface="Arial"/>
                <a:cs typeface="Arial"/>
              </a:rPr>
              <a:t>and</a:t>
            </a:r>
            <a:r>
              <a:rPr sz="2000" spc="-135" dirty="0">
                <a:latin typeface="Arial"/>
                <a:cs typeface="Arial"/>
              </a:rPr>
              <a:t> </a:t>
            </a:r>
            <a:r>
              <a:rPr sz="2000" spc="10" dirty="0">
                <a:latin typeface="Arial"/>
                <a:cs typeface="Arial"/>
              </a:rPr>
              <a:t>Query</a:t>
            </a:r>
            <a:r>
              <a:rPr sz="2000" spc="-120" dirty="0">
                <a:latin typeface="Arial"/>
                <a:cs typeface="Arial"/>
              </a:rPr>
              <a:t> </a:t>
            </a:r>
            <a:r>
              <a:rPr sz="2000" spc="-30" dirty="0">
                <a:latin typeface="Arial"/>
                <a:cs typeface="Arial"/>
              </a:rPr>
              <a:t>Store</a:t>
            </a:r>
            <a:r>
              <a:rPr sz="2000" spc="-120" dirty="0">
                <a:latin typeface="Arial"/>
                <a:cs typeface="Arial"/>
              </a:rPr>
              <a:t> </a:t>
            </a:r>
            <a:r>
              <a:rPr sz="2000" spc="10" dirty="0">
                <a:latin typeface="Arial"/>
                <a:cs typeface="Arial"/>
              </a:rPr>
              <a:t>Retention</a:t>
            </a:r>
            <a:r>
              <a:rPr sz="2000" spc="-105" dirty="0">
                <a:latin typeface="Arial"/>
                <a:cs typeface="Arial"/>
              </a:rPr>
              <a:t> </a:t>
            </a:r>
            <a:r>
              <a:rPr sz="2000" spc="-75" dirty="0">
                <a:latin typeface="Arial"/>
                <a:cs typeface="Arial"/>
              </a:rPr>
              <a:t>can</a:t>
            </a:r>
            <a:r>
              <a:rPr sz="2000" spc="-125" dirty="0">
                <a:latin typeface="Arial"/>
                <a:cs typeface="Arial"/>
              </a:rPr>
              <a:t> </a:t>
            </a:r>
            <a:r>
              <a:rPr sz="2000" spc="-105" dirty="0">
                <a:latin typeface="Arial"/>
                <a:cs typeface="Arial"/>
              </a:rPr>
              <a:t>be</a:t>
            </a:r>
            <a:r>
              <a:rPr sz="2000" spc="-125" dirty="0">
                <a:latin typeface="Arial"/>
                <a:cs typeface="Arial"/>
              </a:rPr>
              <a:t> </a:t>
            </a:r>
            <a:r>
              <a:rPr sz="2000" spc="-5" dirty="0">
                <a:latin typeface="Arial"/>
                <a:cs typeface="Arial"/>
              </a:rPr>
              <a:t>configured.</a:t>
            </a:r>
            <a:endParaRPr sz="2000">
              <a:latin typeface="Arial"/>
              <a:cs typeface="Arial"/>
            </a:endParaRPr>
          </a:p>
        </p:txBody>
      </p:sp>
      <p:sp>
        <p:nvSpPr>
          <p:cNvPr id="5" name="object 5"/>
          <p:cNvSpPr txBox="1"/>
          <p:nvPr/>
        </p:nvSpPr>
        <p:spPr>
          <a:xfrm>
            <a:off x="3158490" y="4000979"/>
            <a:ext cx="277114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Configure</a:t>
            </a:r>
            <a:r>
              <a:rPr sz="1400" b="1" spc="-90" dirty="0">
                <a:latin typeface="Times New Roman"/>
                <a:cs typeface="Times New Roman"/>
              </a:rPr>
              <a:t> </a:t>
            </a:r>
            <a:r>
              <a:rPr sz="1400" b="1" spc="-5" dirty="0">
                <a:latin typeface="Times New Roman"/>
                <a:cs typeface="Times New Roman"/>
              </a:rPr>
              <a:t>Query</a:t>
            </a:r>
            <a:r>
              <a:rPr sz="1400" b="1" spc="-90" dirty="0">
                <a:latin typeface="Times New Roman"/>
                <a:cs typeface="Times New Roman"/>
              </a:rPr>
              <a:t> </a:t>
            </a:r>
            <a:r>
              <a:rPr sz="1400" b="1" spc="5" dirty="0">
                <a:latin typeface="Times New Roman"/>
                <a:cs typeface="Times New Roman"/>
              </a:rPr>
              <a:t>Store</a:t>
            </a:r>
            <a:r>
              <a:rPr sz="1400" b="1" spc="-80" dirty="0">
                <a:latin typeface="Times New Roman"/>
                <a:cs typeface="Times New Roman"/>
              </a:rPr>
              <a:t> </a:t>
            </a:r>
            <a:r>
              <a:rPr sz="1400" b="1" spc="25" dirty="0">
                <a:latin typeface="Times New Roman"/>
                <a:cs typeface="Times New Roman"/>
              </a:rPr>
              <a:t>Using</a:t>
            </a:r>
            <a:r>
              <a:rPr sz="1400" b="1" spc="-85" dirty="0">
                <a:latin typeface="Times New Roman"/>
                <a:cs typeface="Times New Roman"/>
              </a:rPr>
              <a:t> </a:t>
            </a:r>
            <a:r>
              <a:rPr sz="1400" b="1" spc="15" dirty="0">
                <a:latin typeface="Times New Roman"/>
                <a:cs typeface="Times New Roman"/>
              </a:rPr>
              <a:t>SSMS</a:t>
            </a:r>
            <a:endParaRPr sz="1400">
              <a:latin typeface="Times New Roman"/>
              <a:cs typeface="Times New Roman"/>
            </a:endParaRPr>
          </a:p>
        </p:txBody>
      </p:sp>
      <p:sp>
        <p:nvSpPr>
          <p:cNvPr id="7" name="object 7"/>
          <p:cNvSpPr txBox="1"/>
          <p:nvPr/>
        </p:nvSpPr>
        <p:spPr>
          <a:xfrm>
            <a:off x="2746418" y="6329093"/>
            <a:ext cx="337439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Times New Roman"/>
                <a:cs typeface="Times New Roman"/>
              </a:rPr>
              <a:t>Configure</a:t>
            </a:r>
            <a:r>
              <a:rPr sz="1400" b="1" spc="-95" dirty="0">
                <a:latin typeface="Times New Roman"/>
                <a:cs typeface="Times New Roman"/>
              </a:rPr>
              <a:t> </a:t>
            </a:r>
            <a:r>
              <a:rPr sz="1400" b="1" spc="-5" dirty="0">
                <a:latin typeface="Times New Roman"/>
                <a:cs typeface="Times New Roman"/>
              </a:rPr>
              <a:t>Query</a:t>
            </a:r>
            <a:r>
              <a:rPr sz="1400" b="1" spc="-85" dirty="0">
                <a:latin typeface="Times New Roman"/>
                <a:cs typeface="Times New Roman"/>
              </a:rPr>
              <a:t> </a:t>
            </a:r>
            <a:r>
              <a:rPr sz="1400" b="1" spc="5" dirty="0">
                <a:latin typeface="Times New Roman"/>
                <a:cs typeface="Times New Roman"/>
              </a:rPr>
              <a:t>Store</a:t>
            </a:r>
            <a:r>
              <a:rPr sz="1400" b="1" spc="-90" dirty="0">
                <a:latin typeface="Times New Roman"/>
                <a:cs typeface="Times New Roman"/>
              </a:rPr>
              <a:t> </a:t>
            </a:r>
            <a:r>
              <a:rPr sz="1400" b="1" spc="25" dirty="0">
                <a:latin typeface="Times New Roman"/>
                <a:cs typeface="Times New Roman"/>
              </a:rPr>
              <a:t>Using</a:t>
            </a:r>
            <a:r>
              <a:rPr sz="1400" b="1" spc="-85" dirty="0">
                <a:latin typeface="Times New Roman"/>
                <a:cs typeface="Times New Roman"/>
              </a:rPr>
              <a:t> </a:t>
            </a:r>
            <a:r>
              <a:rPr sz="1400" b="1" spc="-15" dirty="0">
                <a:latin typeface="Times New Roman"/>
                <a:cs typeface="Times New Roman"/>
              </a:rPr>
              <a:t>Transact-SQL</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14</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11" name="object 21">
            <a:extLst>
              <a:ext uri="{FF2B5EF4-FFF2-40B4-BE49-F238E27FC236}">
                <a16:creationId xmlns:a16="http://schemas.microsoft.com/office/drawing/2014/main" id="{B49435C3-256B-4868-8A42-382B8B0AF759}"/>
              </a:ext>
            </a:extLst>
          </p:cNvPr>
          <p:cNvSpPr txBox="1"/>
          <p:nvPr/>
        </p:nvSpPr>
        <p:spPr>
          <a:xfrm>
            <a:off x="708787" y="4375418"/>
            <a:ext cx="7743190" cy="1951816"/>
          </a:xfrm>
          <a:prstGeom prst="rect">
            <a:avLst/>
          </a:prstGeom>
        </p:spPr>
        <p:style>
          <a:lnRef idx="2">
            <a:schemeClr val="accent4"/>
          </a:lnRef>
          <a:fillRef idx="1">
            <a:schemeClr val="lt1"/>
          </a:fillRef>
          <a:effectRef idx="0">
            <a:schemeClr val="accent4"/>
          </a:effectRef>
          <a:fontRef idx="minor">
            <a:schemeClr val="dk1"/>
          </a:fontRef>
        </p:style>
        <p:txBody>
          <a:bodyPr vert="horz" wrap="square" lIns="0" tIns="12700" rIns="0" bIns="0" rtlCol="0">
            <a:spAutoFit/>
          </a:bodyPr>
          <a:lstStyle/>
          <a:p>
            <a:pPr marL="494665">
              <a:lnSpc>
                <a:spcPct val="100000"/>
              </a:lnSpc>
              <a:spcBef>
                <a:spcPts val="1900"/>
              </a:spcBef>
            </a:pPr>
            <a:r>
              <a:rPr sz="1400" b="1" spc="-5">
                <a:solidFill>
                  <a:srgbClr val="001F5F"/>
                </a:solidFill>
                <a:latin typeface="Courier New"/>
                <a:cs typeface="Courier New"/>
              </a:rPr>
              <a:t>ALTER </a:t>
            </a:r>
            <a:r>
              <a:rPr sz="1400" b="1" spc="-10" dirty="0">
                <a:solidFill>
                  <a:srgbClr val="001F5F"/>
                </a:solidFill>
                <a:latin typeface="Courier New"/>
                <a:cs typeface="Courier New"/>
              </a:rPr>
              <a:t>DATABASE</a:t>
            </a:r>
            <a:r>
              <a:rPr sz="1400" b="1" spc="-20" dirty="0">
                <a:solidFill>
                  <a:srgbClr val="001F5F"/>
                </a:solidFill>
                <a:latin typeface="Courier New"/>
                <a:cs typeface="Courier New"/>
              </a:rPr>
              <a:t> </a:t>
            </a:r>
            <a:r>
              <a:rPr sz="1400" b="1" spc="-5" dirty="0">
                <a:solidFill>
                  <a:srgbClr val="001F5F"/>
                </a:solidFill>
                <a:latin typeface="Courier New"/>
                <a:cs typeface="Courier New"/>
              </a:rPr>
              <a:t>(DEMO_1)</a:t>
            </a:r>
            <a:endParaRPr sz="1400">
              <a:latin typeface="Courier New"/>
              <a:cs typeface="Courier New"/>
            </a:endParaRPr>
          </a:p>
          <a:p>
            <a:pPr marL="494665">
              <a:lnSpc>
                <a:spcPct val="100000"/>
              </a:lnSpc>
            </a:pPr>
            <a:r>
              <a:rPr sz="1400" b="1" spc="-5" dirty="0">
                <a:solidFill>
                  <a:srgbClr val="001F5F"/>
                </a:solidFill>
                <a:latin typeface="Courier New"/>
                <a:cs typeface="Courier New"/>
              </a:rPr>
              <a:t>SET </a:t>
            </a:r>
            <a:r>
              <a:rPr sz="1400" b="1" spc="-10" dirty="0">
                <a:solidFill>
                  <a:srgbClr val="001F5F"/>
                </a:solidFill>
                <a:latin typeface="Courier New"/>
                <a:cs typeface="Courier New"/>
              </a:rPr>
              <a:t>QUERY_STORE </a:t>
            </a:r>
            <a:r>
              <a:rPr sz="1400" b="1" spc="-5" dirty="0">
                <a:solidFill>
                  <a:srgbClr val="001F5F"/>
                </a:solidFill>
                <a:latin typeface="Courier New"/>
                <a:cs typeface="Courier New"/>
              </a:rPr>
              <a:t>(OPERATION_MODE </a:t>
            </a:r>
            <a:r>
              <a:rPr sz="1400" b="1" dirty="0">
                <a:solidFill>
                  <a:srgbClr val="001F5F"/>
                </a:solidFill>
                <a:latin typeface="Courier New"/>
                <a:cs typeface="Courier New"/>
              </a:rPr>
              <a:t>= </a:t>
            </a:r>
            <a:r>
              <a:rPr sz="1400" b="1" spc="-5" dirty="0">
                <a:solidFill>
                  <a:srgbClr val="001F5F"/>
                </a:solidFill>
                <a:latin typeface="Courier New"/>
                <a:cs typeface="Courier New"/>
              </a:rPr>
              <a:t>READ</a:t>
            </a:r>
            <a:r>
              <a:rPr sz="1400" b="1" spc="-20" dirty="0">
                <a:solidFill>
                  <a:srgbClr val="001F5F"/>
                </a:solidFill>
                <a:latin typeface="Courier New"/>
                <a:cs typeface="Courier New"/>
              </a:rPr>
              <a:t> </a:t>
            </a:r>
            <a:r>
              <a:rPr sz="1400" b="1" spc="-5" dirty="0">
                <a:solidFill>
                  <a:srgbClr val="001F5F"/>
                </a:solidFill>
                <a:latin typeface="Courier New"/>
                <a:cs typeface="Courier New"/>
              </a:rPr>
              <a:t>ONLY,</a:t>
            </a:r>
            <a:endParaRPr sz="1400">
              <a:latin typeface="Courier New"/>
              <a:cs typeface="Courier New"/>
            </a:endParaRPr>
          </a:p>
          <a:p>
            <a:pPr marL="2304415" marR="5080">
              <a:lnSpc>
                <a:spcPct val="100000"/>
              </a:lnSpc>
            </a:pPr>
            <a:r>
              <a:rPr sz="1400" b="1" spc="-10" dirty="0">
                <a:solidFill>
                  <a:srgbClr val="001F5F"/>
                </a:solidFill>
                <a:latin typeface="Courier New"/>
                <a:cs typeface="Courier New"/>
              </a:rPr>
              <a:t>CLEANUP_POLICY </a:t>
            </a:r>
            <a:r>
              <a:rPr sz="1400" b="1" dirty="0">
                <a:solidFill>
                  <a:srgbClr val="001F5F"/>
                </a:solidFill>
                <a:latin typeface="Courier New"/>
                <a:cs typeface="Courier New"/>
              </a:rPr>
              <a:t>= </a:t>
            </a:r>
            <a:r>
              <a:rPr sz="1400" b="1" spc="-10" dirty="0">
                <a:solidFill>
                  <a:srgbClr val="001F5F"/>
                </a:solidFill>
                <a:latin typeface="Courier New"/>
                <a:cs typeface="Courier New"/>
              </a:rPr>
              <a:t>STALE_QUERY_THRESHOLD_DAYS </a:t>
            </a:r>
            <a:r>
              <a:rPr sz="1400" b="1" dirty="0">
                <a:solidFill>
                  <a:srgbClr val="001F5F"/>
                </a:solidFill>
                <a:latin typeface="Courier New"/>
                <a:cs typeface="Courier New"/>
              </a:rPr>
              <a:t>= </a:t>
            </a:r>
            <a:r>
              <a:rPr sz="1400" b="1" spc="-5" dirty="0">
                <a:solidFill>
                  <a:srgbClr val="001F5F"/>
                </a:solidFill>
                <a:latin typeface="Courier New"/>
                <a:cs typeface="Courier New"/>
              </a:rPr>
              <a:t>367),  </a:t>
            </a:r>
            <a:r>
              <a:rPr sz="1400" b="1" spc="-10" dirty="0">
                <a:solidFill>
                  <a:srgbClr val="001F5F"/>
                </a:solidFill>
                <a:latin typeface="Courier New"/>
                <a:cs typeface="Courier New"/>
              </a:rPr>
              <a:t>DATA_FLUSH_INTERVAL_SECONDS </a:t>
            </a:r>
            <a:r>
              <a:rPr sz="1400" b="1" dirty="0">
                <a:solidFill>
                  <a:srgbClr val="001F5F"/>
                </a:solidFill>
                <a:latin typeface="Courier New"/>
                <a:cs typeface="Courier New"/>
              </a:rPr>
              <a:t>=</a:t>
            </a:r>
            <a:r>
              <a:rPr sz="1400" b="1" spc="0" dirty="0">
                <a:solidFill>
                  <a:srgbClr val="001F5F"/>
                </a:solidFill>
                <a:latin typeface="Courier New"/>
                <a:cs typeface="Courier New"/>
              </a:rPr>
              <a:t> </a:t>
            </a:r>
            <a:r>
              <a:rPr sz="1400" b="1" spc="-10" dirty="0">
                <a:solidFill>
                  <a:srgbClr val="001F5F"/>
                </a:solidFill>
                <a:latin typeface="Courier New"/>
                <a:cs typeface="Courier New"/>
              </a:rPr>
              <a:t>900,</a:t>
            </a:r>
            <a:endParaRPr sz="1400">
              <a:latin typeface="Courier New"/>
              <a:cs typeface="Courier New"/>
            </a:endParaRPr>
          </a:p>
          <a:p>
            <a:pPr marL="2304415">
              <a:lnSpc>
                <a:spcPct val="100000"/>
              </a:lnSpc>
            </a:pPr>
            <a:r>
              <a:rPr sz="1400" b="1" spc="-10" dirty="0">
                <a:solidFill>
                  <a:srgbClr val="001F5F"/>
                </a:solidFill>
                <a:latin typeface="Courier New"/>
                <a:cs typeface="Courier New"/>
              </a:rPr>
              <a:t>INTERVAL_LENGTH_MINUTES </a:t>
            </a:r>
            <a:r>
              <a:rPr sz="1400" b="1" dirty="0">
                <a:solidFill>
                  <a:srgbClr val="001F5F"/>
                </a:solidFill>
                <a:latin typeface="Courier New"/>
                <a:cs typeface="Courier New"/>
              </a:rPr>
              <a:t>=</a:t>
            </a:r>
            <a:r>
              <a:rPr sz="1400" b="1" spc="-10" dirty="0">
                <a:solidFill>
                  <a:srgbClr val="001F5F"/>
                </a:solidFill>
                <a:latin typeface="Courier New"/>
                <a:cs typeface="Courier New"/>
              </a:rPr>
              <a:t> </a:t>
            </a:r>
            <a:r>
              <a:rPr sz="1400" b="1" spc="-5" dirty="0">
                <a:solidFill>
                  <a:srgbClr val="001F5F"/>
                </a:solidFill>
                <a:latin typeface="Courier New"/>
                <a:cs typeface="Courier New"/>
              </a:rPr>
              <a:t>60,</a:t>
            </a:r>
            <a:endParaRPr sz="1400">
              <a:latin typeface="Courier New"/>
              <a:cs typeface="Courier New"/>
            </a:endParaRPr>
          </a:p>
          <a:p>
            <a:pPr marL="2304415" marR="2130425">
              <a:lnSpc>
                <a:spcPct val="100000"/>
              </a:lnSpc>
            </a:pPr>
            <a:r>
              <a:rPr sz="1400" b="1" spc="-5" dirty="0">
                <a:solidFill>
                  <a:srgbClr val="001F5F"/>
                </a:solidFill>
                <a:latin typeface="Courier New"/>
                <a:cs typeface="Courier New"/>
              </a:rPr>
              <a:t>MAX_STORAGE_SIZE_MB </a:t>
            </a:r>
            <a:r>
              <a:rPr sz="1400" b="1" dirty="0">
                <a:solidFill>
                  <a:srgbClr val="001F5F"/>
                </a:solidFill>
                <a:latin typeface="Courier New"/>
                <a:cs typeface="Courier New"/>
              </a:rPr>
              <a:t>= </a:t>
            </a:r>
            <a:r>
              <a:rPr sz="1400" b="1" spc="-5" dirty="0">
                <a:solidFill>
                  <a:srgbClr val="001F5F"/>
                </a:solidFill>
                <a:latin typeface="Courier New"/>
                <a:cs typeface="Courier New"/>
              </a:rPr>
              <a:t>100,  QUERY_CAPTURE_MODE </a:t>
            </a:r>
            <a:r>
              <a:rPr sz="1400" b="1" dirty="0">
                <a:solidFill>
                  <a:srgbClr val="001F5F"/>
                </a:solidFill>
                <a:latin typeface="Courier New"/>
                <a:cs typeface="Courier New"/>
              </a:rPr>
              <a:t>= </a:t>
            </a:r>
            <a:r>
              <a:rPr sz="1400" b="1" spc="-10" dirty="0">
                <a:solidFill>
                  <a:srgbClr val="001F5F"/>
                </a:solidFill>
                <a:latin typeface="Courier New"/>
                <a:cs typeface="Courier New"/>
              </a:rPr>
              <a:t>AUTO,  SIZE_BASED_CLEANUP_MODE </a:t>
            </a:r>
            <a:r>
              <a:rPr sz="1400" b="1" dirty="0">
                <a:solidFill>
                  <a:srgbClr val="001F5F"/>
                </a:solidFill>
                <a:latin typeface="Courier New"/>
                <a:cs typeface="Courier New"/>
              </a:rPr>
              <a:t>= </a:t>
            </a:r>
            <a:r>
              <a:rPr sz="1400" b="1" spc="-5" dirty="0">
                <a:solidFill>
                  <a:srgbClr val="001F5F"/>
                </a:solidFill>
                <a:latin typeface="Courier New"/>
                <a:cs typeface="Courier New"/>
              </a:rPr>
              <a:t>AUTO)</a:t>
            </a:r>
            <a:endParaRPr sz="1400">
              <a:latin typeface="Courier New"/>
              <a:cs typeface="Courier New"/>
            </a:endParaRPr>
          </a:p>
          <a:p>
            <a:pPr marL="494665">
              <a:lnSpc>
                <a:spcPct val="100000"/>
              </a:lnSpc>
              <a:spcBef>
                <a:spcPts val="5"/>
              </a:spcBef>
            </a:pPr>
            <a:r>
              <a:rPr sz="1400" b="1" spc="-5" dirty="0">
                <a:solidFill>
                  <a:srgbClr val="001F5F"/>
                </a:solidFill>
                <a:latin typeface="Courier New"/>
                <a:cs typeface="Courier New"/>
              </a:rPr>
              <a:t>GO</a:t>
            </a:r>
            <a:endParaRPr sz="1400">
              <a:latin typeface="Courier New"/>
              <a:cs typeface="Courier New"/>
            </a:endParaRPr>
          </a:p>
        </p:txBody>
      </p:sp>
      <p:sp>
        <p:nvSpPr>
          <p:cNvPr id="12" name="object 18">
            <a:extLst>
              <a:ext uri="{FF2B5EF4-FFF2-40B4-BE49-F238E27FC236}">
                <a16:creationId xmlns:a16="http://schemas.microsoft.com/office/drawing/2014/main" id="{E44B2366-F99A-41D5-9142-B290D3517D89}"/>
              </a:ext>
            </a:extLst>
          </p:cNvPr>
          <p:cNvSpPr/>
          <p:nvPr/>
        </p:nvSpPr>
        <p:spPr>
          <a:xfrm>
            <a:off x="2388394" y="1676917"/>
            <a:ext cx="4367212" cy="2244605"/>
          </a:xfrm>
          <a:prstGeom prst="rect">
            <a:avLst/>
          </a:prstGeom>
          <a:blipFill>
            <a:blip r:embed="rId3" cstate="print"/>
            <a:stretch>
              <a:fillRect/>
            </a:stretch>
          </a:blipFill>
          <a:ln>
            <a:solidFill>
              <a:schemeClr val="tx1"/>
            </a:solidFill>
          </a:ln>
        </p:spPr>
        <p:txBody>
          <a:bodyPr wrap="square" lIns="0" tIns="0" rIns="0" bIns="0" rtlCol="0"/>
          <a:lstStyle/>
          <a:p>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6208395" cy="635635"/>
          </a:xfrm>
          <a:prstGeom prst="rect">
            <a:avLst/>
          </a:prstGeom>
        </p:spPr>
        <p:txBody>
          <a:bodyPr vert="horz" wrap="square" lIns="0" tIns="12700" rIns="0" bIns="0" rtlCol="0">
            <a:spAutoFit/>
          </a:bodyPr>
          <a:lstStyle/>
          <a:p>
            <a:pPr marL="12700">
              <a:lnSpc>
                <a:spcPct val="100000"/>
              </a:lnSpc>
              <a:spcBef>
                <a:spcPts val="100"/>
              </a:spcBef>
            </a:pPr>
            <a:r>
              <a:rPr sz="4000" b="0" spc="25" dirty="0">
                <a:latin typeface="Arial"/>
                <a:cs typeface="Arial"/>
              </a:rPr>
              <a:t>Query </a:t>
            </a:r>
            <a:r>
              <a:rPr sz="4000" b="0" spc="-55" dirty="0">
                <a:latin typeface="Arial"/>
                <a:cs typeface="Arial"/>
              </a:rPr>
              <a:t>Store </a:t>
            </a:r>
            <a:r>
              <a:rPr sz="4000" b="0" spc="-145" dirty="0">
                <a:latin typeface="Arial"/>
                <a:cs typeface="Arial"/>
              </a:rPr>
              <a:t>System</a:t>
            </a:r>
            <a:r>
              <a:rPr sz="4000" b="0" spc="-810" dirty="0">
                <a:latin typeface="Arial"/>
                <a:cs typeface="Arial"/>
              </a:rPr>
              <a:t> </a:t>
            </a:r>
            <a:r>
              <a:rPr sz="4000" b="0" spc="-35" dirty="0">
                <a:latin typeface="Arial"/>
                <a:cs typeface="Arial"/>
              </a:rPr>
              <a:t>Objects</a:t>
            </a:r>
            <a:endParaRPr sz="4000">
              <a:latin typeface="Arial"/>
              <a:cs typeface="Arial"/>
            </a:endParaRPr>
          </a:p>
        </p:txBody>
      </p:sp>
      <p:sp>
        <p:nvSpPr>
          <p:cNvPr id="3" name="object 3"/>
          <p:cNvSpPr txBox="1"/>
          <p:nvPr/>
        </p:nvSpPr>
        <p:spPr>
          <a:xfrm>
            <a:off x="459740" y="917955"/>
            <a:ext cx="7906384" cy="574040"/>
          </a:xfrm>
          <a:prstGeom prst="rect">
            <a:avLst/>
          </a:prstGeom>
        </p:spPr>
        <p:txBody>
          <a:bodyPr vert="horz" wrap="square" lIns="0" tIns="12700" rIns="0" bIns="0" rtlCol="0">
            <a:spAutoFit/>
          </a:bodyPr>
          <a:lstStyle/>
          <a:p>
            <a:pPr marL="12700" marR="5080">
              <a:lnSpc>
                <a:spcPct val="100000"/>
              </a:lnSpc>
              <a:spcBef>
                <a:spcPts val="100"/>
              </a:spcBef>
            </a:pPr>
            <a:r>
              <a:rPr sz="1800" spc="5" dirty="0">
                <a:latin typeface="Arial"/>
                <a:cs typeface="Arial"/>
              </a:rPr>
              <a:t>New</a:t>
            </a:r>
            <a:r>
              <a:rPr sz="1800" spc="-110" dirty="0">
                <a:latin typeface="Arial"/>
                <a:cs typeface="Arial"/>
              </a:rPr>
              <a:t> </a:t>
            </a:r>
            <a:r>
              <a:rPr sz="1800" spc="-75" dirty="0">
                <a:latin typeface="Arial"/>
                <a:cs typeface="Arial"/>
              </a:rPr>
              <a:t>system</a:t>
            </a:r>
            <a:r>
              <a:rPr sz="1800" spc="-105" dirty="0">
                <a:latin typeface="Arial"/>
                <a:cs typeface="Arial"/>
              </a:rPr>
              <a:t> </a:t>
            </a:r>
            <a:r>
              <a:rPr sz="1800" spc="-45" dirty="0">
                <a:latin typeface="Arial"/>
                <a:cs typeface="Arial"/>
              </a:rPr>
              <a:t>procedures</a:t>
            </a:r>
            <a:r>
              <a:rPr sz="1800" spc="-125" dirty="0">
                <a:latin typeface="Arial"/>
                <a:cs typeface="Arial"/>
              </a:rPr>
              <a:t> </a:t>
            </a:r>
            <a:r>
              <a:rPr sz="1800" spc="-35" dirty="0">
                <a:latin typeface="Arial"/>
                <a:cs typeface="Arial"/>
              </a:rPr>
              <a:t>and</a:t>
            </a:r>
            <a:r>
              <a:rPr sz="1800" spc="-125" dirty="0">
                <a:latin typeface="Arial"/>
                <a:cs typeface="Arial"/>
              </a:rPr>
              <a:t> </a:t>
            </a:r>
            <a:r>
              <a:rPr sz="1800" spc="-50" dirty="0">
                <a:latin typeface="Arial"/>
                <a:cs typeface="Arial"/>
              </a:rPr>
              <a:t>catalog</a:t>
            </a:r>
            <a:r>
              <a:rPr sz="1800" spc="-125" dirty="0">
                <a:latin typeface="Arial"/>
                <a:cs typeface="Arial"/>
              </a:rPr>
              <a:t> </a:t>
            </a:r>
            <a:r>
              <a:rPr sz="1800" spc="-35" dirty="0">
                <a:latin typeface="Arial"/>
                <a:cs typeface="Arial"/>
              </a:rPr>
              <a:t>views</a:t>
            </a:r>
            <a:r>
              <a:rPr sz="1800" spc="-105" dirty="0">
                <a:latin typeface="Arial"/>
                <a:cs typeface="Arial"/>
              </a:rPr>
              <a:t> </a:t>
            </a:r>
            <a:r>
              <a:rPr sz="1800" spc="-30" dirty="0">
                <a:latin typeface="Arial"/>
                <a:cs typeface="Arial"/>
              </a:rPr>
              <a:t>related</a:t>
            </a:r>
            <a:r>
              <a:rPr sz="1800" spc="-120" dirty="0">
                <a:latin typeface="Arial"/>
                <a:cs typeface="Arial"/>
              </a:rPr>
              <a:t> </a:t>
            </a:r>
            <a:r>
              <a:rPr sz="1800" spc="45" dirty="0">
                <a:latin typeface="Arial"/>
                <a:cs typeface="Arial"/>
              </a:rPr>
              <a:t>to</a:t>
            </a:r>
            <a:r>
              <a:rPr sz="1800" spc="-130" dirty="0">
                <a:latin typeface="Arial"/>
                <a:cs typeface="Arial"/>
              </a:rPr>
              <a:t> </a:t>
            </a:r>
            <a:r>
              <a:rPr sz="1800" spc="10" dirty="0">
                <a:latin typeface="Arial"/>
                <a:cs typeface="Arial"/>
              </a:rPr>
              <a:t>Query</a:t>
            </a:r>
            <a:r>
              <a:rPr sz="1800" spc="-114" dirty="0">
                <a:latin typeface="Arial"/>
                <a:cs typeface="Arial"/>
              </a:rPr>
              <a:t> </a:t>
            </a:r>
            <a:r>
              <a:rPr sz="1800" spc="-25" dirty="0">
                <a:latin typeface="Arial"/>
                <a:cs typeface="Arial"/>
              </a:rPr>
              <a:t>Store</a:t>
            </a:r>
            <a:r>
              <a:rPr sz="1800" spc="-110" dirty="0">
                <a:latin typeface="Arial"/>
                <a:cs typeface="Arial"/>
              </a:rPr>
              <a:t> </a:t>
            </a:r>
            <a:r>
              <a:rPr sz="1800" spc="-65" dirty="0">
                <a:latin typeface="Arial"/>
                <a:cs typeface="Arial"/>
              </a:rPr>
              <a:t>can</a:t>
            </a:r>
            <a:r>
              <a:rPr sz="1800" spc="-114" dirty="0">
                <a:latin typeface="Arial"/>
                <a:cs typeface="Arial"/>
              </a:rPr>
              <a:t> </a:t>
            </a:r>
            <a:r>
              <a:rPr sz="1800" spc="-90" dirty="0">
                <a:latin typeface="Arial"/>
                <a:cs typeface="Arial"/>
              </a:rPr>
              <a:t>be</a:t>
            </a:r>
            <a:r>
              <a:rPr sz="1800" spc="-120" dirty="0">
                <a:latin typeface="Arial"/>
                <a:cs typeface="Arial"/>
              </a:rPr>
              <a:t> </a:t>
            </a:r>
            <a:r>
              <a:rPr sz="1800" spc="40" dirty="0">
                <a:latin typeface="Arial"/>
                <a:cs typeface="Arial"/>
              </a:rPr>
              <a:t>found</a:t>
            </a:r>
            <a:r>
              <a:rPr sz="1800" spc="-110" dirty="0">
                <a:latin typeface="Arial"/>
                <a:cs typeface="Arial"/>
              </a:rPr>
              <a:t> </a:t>
            </a:r>
            <a:r>
              <a:rPr sz="1800" spc="85" dirty="0">
                <a:latin typeface="Arial"/>
                <a:cs typeface="Arial"/>
              </a:rPr>
              <a:t>in  </a:t>
            </a:r>
            <a:r>
              <a:rPr sz="1800" spc="20" dirty="0">
                <a:latin typeface="Arial"/>
                <a:cs typeface="Arial"/>
              </a:rPr>
              <a:t>SQL</a:t>
            </a:r>
            <a:r>
              <a:rPr sz="1800" spc="-114" dirty="0">
                <a:latin typeface="Arial"/>
                <a:cs typeface="Arial"/>
              </a:rPr>
              <a:t> </a:t>
            </a:r>
            <a:r>
              <a:rPr sz="1800" spc="-45" dirty="0">
                <a:latin typeface="Arial"/>
                <a:cs typeface="Arial"/>
              </a:rPr>
              <a:t>Server.</a:t>
            </a:r>
            <a:endParaRPr sz="1800">
              <a:latin typeface="Arial"/>
              <a:cs typeface="Arial"/>
            </a:endParaRPr>
          </a:p>
        </p:txBody>
      </p:sp>
      <p:pic>
        <p:nvPicPr>
          <p:cNvPr id="4" name="object 4"/>
          <p:cNvPicPr/>
          <p:nvPr/>
        </p:nvPicPr>
        <p:blipFill>
          <a:blip r:embed="rId3" cstate="print"/>
          <a:stretch>
            <a:fillRect/>
          </a:stretch>
        </p:blipFill>
        <p:spPr>
          <a:xfrm>
            <a:off x="1659635" y="1744217"/>
            <a:ext cx="5697473" cy="3770376"/>
          </a:xfrm>
          <a:prstGeom prst="rect">
            <a:avLst/>
          </a:prstGeom>
        </p:spPr>
      </p:pic>
      <p:sp>
        <p:nvSpPr>
          <p:cNvPr id="5" name="object 5"/>
          <p:cNvSpPr txBox="1"/>
          <p:nvPr/>
        </p:nvSpPr>
        <p:spPr>
          <a:xfrm>
            <a:off x="2745994" y="5513070"/>
            <a:ext cx="3471545" cy="238760"/>
          </a:xfrm>
          <a:prstGeom prst="rect">
            <a:avLst/>
          </a:prstGeom>
        </p:spPr>
        <p:txBody>
          <a:bodyPr vert="horz" wrap="square" lIns="0" tIns="12065" rIns="0" bIns="0" rtlCol="0">
            <a:spAutoFit/>
          </a:bodyPr>
          <a:lstStyle/>
          <a:p>
            <a:pPr marL="12700">
              <a:lnSpc>
                <a:spcPct val="100000"/>
              </a:lnSpc>
              <a:spcBef>
                <a:spcPts val="95"/>
              </a:spcBef>
            </a:pPr>
            <a:r>
              <a:rPr sz="1400" b="1" dirty="0">
                <a:latin typeface="Times New Roman"/>
                <a:cs typeface="Times New Roman"/>
              </a:rPr>
              <a:t>System-Stored </a:t>
            </a:r>
            <a:r>
              <a:rPr sz="1400" b="1" spc="-25" dirty="0">
                <a:latin typeface="Times New Roman"/>
                <a:cs typeface="Times New Roman"/>
              </a:rPr>
              <a:t>Procedures </a:t>
            </a:r>
            <a:r>
              <a:rPr sz="1400" b="1" spc="-5" dirty="0">
                <a:latin typeface="Times New Roman"/>
                <a:cs typeface="Times New Roman"/>
              </a:rPr>
              <a:t>and </a:t>
            </a:r>
            <a:r>
              <a:rPr sz="1400" b="1" dirty="0">
                <a:latin typeface="Times New Roman"/>
                <a:cs typeface="Times New Roman"/>
              </a:rPr>
              <a:t>Catalog</a:t>
            </a:r>
            <a:r>
              <a:rPr sz="1400" b="1" spc="-265" dirty="0">
                <a:latin typeface="Times New Roman"/>
                <a:cs typeface="Times New Roman"/>
              </a:rPr>
              <a:t> </a:t>
            </a:r>
            <a:r>
              <a:rPr sz="1400" b="1" spc="25" dirty="0">
                <a:latin typeface="Times New Roman"/>
                <a:cs typeface="Times New Roman"/>
              </a:rPr>
              <a:t>Views</a:t>
            </a:r>
            <a:endParaRPr sz="140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15</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28194"/>
            <a:ext cx="8452485" cy="635635"/>
          </a:xfrm>
          <a:prstGeom prst="rect">
            <a:avLst/>
          </a:prstGeom>
        </p:spPr>
        <p:txBody>
          <a:bodyPr vert="horz" wrap="square" lIns="0" tIns="12700" rIns="0" bIns="0" rtlCol="0">
            <a:spAutoFit/>
          </a:bodyPr>
          <a:lstStyle/>
          <a:p>
            <a:pPr marL="12700">
              <a:lnSpc>
                <a:spcPct val="100000"/>
              </a:lnSpc>
              <a:spcBef>
                <a:spcPts val="100"/>
              </a:spcBef>
            </a:pPr>
            <a:r>
              <a:rPr sz="4000" b="0" spc="-95" dirty="0">
                <a:latin typeface="Arial"/>
                <a:cs typeface="Arial"/>
              </a:rPr>
              <a:t>Performance</a:t>
            </a:r>
            <a:r>
              <a:rPr sz="4000" b="0" spc="-270" dirty="0">
                <a:latin typeface="Arial"/>
                <a:cs typeface="Arial"/>
              </a:rPr>
              <a:t> </a:t>
            </a:r>
            <a:r>
              <a:rPr sz="4000" b="0" spc="114" dirty="0">
                <a:latin typeface="Arial"/>
                <a:cs typeface="Arial"/>
              </a:rPr>
              <a:t>Tuning</a:t>
            </a:r>
            <a:r>
              <a:rPr sz="4000" b="0" spc="-290" dirty="0">
                <a:latin typeface="Arial"/>
                <a:cs typeface="Arial"/>
              </a:rPr>
              <a:t> </a:t>
            </a:r>
            <a:r>
              <a:rPr sz="4000" b="0" spc="180" dirty="0">
                <a:latin typeface="Arial"/>
                <a:cs typeface="Arial"/>
              </a:rPr>
              <a:t>with</a:t>
            </a:r>
            <a:r>
              <a:rPr sz="4000" b="0" spc="-285" dirty="0">
                <a:latin typeface="Arial"/>
                <a:cs typeface="Arial"/>
              </a:rPr>
              <a:t> </a:t>
            </a:r>
            <a:r>
              <a:rPr sz="4000" b="0" spc="25" dirty="0">
                <a:latin typeface="Arial"/>
                <a:cs typeface="Arial"/>
              </a:rPr>
              <a:t>Query</a:t>
            </a:r>
            <a:r>
              <a:rPr sz="4000" b="0" spc="-295" dirty="0">
                <a:latin typeface="Arial"/>
                <a:cs typeface="Arial"/>
              </a:rPr>
              <a:t> </a:t>
            </a:r>
            <a:r>
              <a:rPr sz="4000" b="0" spc="-50" dirty="0">
                <a:latin typeface="Arial"/>
                <a:cs typeface="Arial"/>
              </a:rPr>
              <a:t>Store</a:t>
            </a:r>
            <a:endParaRPr sz="4000">
              <a:latin typeface="Arial"/>
              <a:cs typeface="Arial"/>
            </a:endParaRPr>
          </a:p>
        </p:txBody>
      </p:sp>
      <p:grpSp>
        <p:nvGrpSpPr>
          <p:cNvPr id="3" name="object 3"/>
          <p:cNvGrpSpPr/>
          <p:nvPr/>
        </p:nvGrpSpPr>
        <p:grpSpPr>
          <a:xfrm>
            <a:off x="361061" y="1061338"/>
            <a:ext cx="4134485" cy="1505585"/>
            <a:chOff x="361061" y="1061338"/>
            <a:chExt cx="4134485" cy="1505585"/>
          </a:xfrm>
        </p:grpSpPr>
        <p:sp>
          <p:nvSpPr>
            <p:cNvPr id="4" name="object 4"/>
            <p:cNvSpPr/>
            <p:nvPr/>
          </p:nvSpPr>
          <p:spPr>
            <a:xfrm>
              <a:off x="366141" y="1066418"/>
              <a:ext cx="4124325" cy="1495425"/>
            </a:xfrm>
            <a:custGeom>
              <a:avLst/>
              <a:gdLst/>
              <a:ahLst/>
              <a:cxnLst/>
              <a:rect l="l" t="t" r="r" b="b"/>
              <a:pathLst>
                <a:path w="4124325" h="1495425">
                  <a:moveTo>
                    <a:pt x="4123944" y="0"/>
                  </a:moveTo>
                  <a:lnTo>
                    <a:pt x="0" y="0"/>
                  </a:lnTo>
                  <a:lnTo>
                    <a:pt x="0" y="1354074"/>
                  </a:lnTo>
                  <a:lnTo>
                    <a:pt x="0" y="1495044"/>
                  </a:lnTo>
                  <a:lnTo>
                    <a:pt x="4123944" y="1495044"/>
                  </a:lnTo>
                  <a:lnTo>
                    <a:pt x="4123944" y="1354074"/>
                  </a:lnTo>
                  <a:lnTo>
                    <a:pt x="4123944" y="0"/>
                  </a:lnTo>
                  <a:close/>
                </a:path>
              </a:pathLst>
            </a:custGeom>
            <a:solidFill>
              <a:srgbClr val="FFFFFF">
                <a:alpha val="39999"/>
              </a:srgbClr>
            </a:solidFill>
          </p:spPr>
          <p:txBody>
            <a:bodyPr wrap="square" lIns="0" tIns="0" rIns="0" bIns="0" rtlCol="0"/>
            <a:lstStyle/>
            <a:p>
              <a:endParaRPr/>
            </a:p>
          </p:txBody>
        </p:sp>
        <p:sp>
          <p:nvSpPr>
            <p:cNvPr id="5" name="object 5"/>
            <p:cNvSpPr/>
            <p:nvPr/>
          </p:nvSpPr>
          <p:spPr>
            <a:xfrm>
              <a:off x="366141" y="1066418"/>
              <a:ext cx="4124325" cy="1495425"/>
            </a:xfrm>
            <a:custGeom>
              <a:avLst/>
              <a:gdLst/>
              <a:ahLst/>
              <a:cxnLst/>
              <a:rect l="l" t="t" r="r" b="b"/>
              <a:pathLst>
                <a:path w="4124325" h="1495425">
                  <a:moveTo>
                    <a:pt x="0" y="1495043"/>
                  </a:moveTo>
                  <a:lnTo>
                    <a:pt x="4123944" y="1495043"/>
                  </a:lnTo>
                  <a:lnTo>
                    <a:pt x="4123944" y="0"/>
                  </a:lnTo>
                  <a:lnTo>
                    <a:pt x="0" y="0"/>
                  </a:lnTo>
                  <a:lnTo>
                    <a:pt x="0" y="1495043"/>
                  </a:lnTo>
                  <a:close/>
                </a:path>
              </a:pathLst>
            </a:custGeom>
            <a:ln w="9905">
              <a:solidFill>
                <a:srgbClr val="46AAC5"/>
              </a:solidFill>
            </a:ln>
          </p:spPr>
          <p:txBody>
            <a:bodyPr wrap="square" lIns="0" tIns="0" rIns="0" bIns="0" rtlCol="0"/>
            <a:lstStyle/>
            <a:p>
              <a:endParaRPr/>
            </a:p>
          </p:txBody>
        </p:sp>
      </p:grpSp>
      <p:sp>
        <p:nvSpPr>
          <p:cNvPr id="6" name="object 6"/>
          <p:cNvSpPr txBox="1"/>
          <p:nvPr/>
        </p:nvSpPr>
        <p:spPr>
          <a:xfrm>
            <a:off x="1155953" y="1363218"/>
            <a:ext cx="2996565" cy="814705"/>
          </a:xfrm>
          <a:prstGeom prst="rect">
            <a:avLst/>
          </a:prstGeom>
        </p:spPr>
        <p:txBody>
          <a:bodyPr vert="horz" wrap="square" lIns="0" tIns="36830" rIns="0" bIns="0" rtlCol="0">
            <a:spAutoFit/>
          </a:bodyPr>
          <a:lstStyle/>
          <a:p>
            <a:pPr marL="12700" marR="5080" algn="just">
              <a:lnSpc>
                <a:spcPts val="1510"/>
              </a:lnSpc>
              <a:spcBef>
                <a:spcPts val="290"/>
              </a:spcBef>
            </a:pPr>
            <a:r>
              <a:rPr sz="1400" spc="80" dirty="0">
                <a:latin typeface="Arial"/>
                <a:cs typeface="Arial"/>
              </a:rPr>
              <a:t>If</a:t>
            </a:r>
            <a:r>
              <a:rPr sz="1400" spc="-90" dirty="0">
                <a:latin typeface="Arial"/>
                <a:cs typeface="Arial"/>
              </a:rPr>
              <a:t> </a:t>
            </a:r>
            <a:r>
              <a:rPr sz="1400" spc="-35" dirty="0">
                <a:latin typeface="Arial"/>
                <a:cs typeface="Arial"/>
              </a:rPr>
              <a:t>any</a:t>
            </a:r>
            <a:r>
              <a:rPr sz="1400" spc="-85" dirty="0">
                <a:latin typeface="Arial"/>
                <a:cs typeface="Arial"/>
              </a:rPr>
              <a:t> </a:t>
            </a:r>
            <a:r>
              <a:rPr sz="1400" spc="-25" dirty="0">
                <a:latin typeface="Arial"/>
                <a:cs typeface="Arial"/>
              </a:rPr>
              <a:t>recent</a:t>
            </a:r>
            <a:r>
              <a:rPr sz="1400" spc="-90" dirty="0">
                <a:latin typeface="Arial"/>
                <a:cs typeface="Arial"/>
              </a:rPr>
              <a:t> </a:t>
            </a:r>
            <a:r>
              <a:rPr sz="1400" spc="-10" dirty="0">
                <a:latin typeface="Arial"/>
                <a:cs typeface="Arial"/>
              </a:rPr>
              <a:t>plan</a:t>
            </a:r>
            <a:r>
              <a:rPr sz="1400" spc="-95" dirty="0">
                <a:latin typeface="Arial"/>
                <a:cs typeface="Arial"/>
              </a:rPr>
              <a:t> </a:t>
            </a:r>
            <a:r>
              <a:rPr sz="1400" spc="-70" dirty="0">
                <a:latin typeface="Arial"/>
                <a:cs typeface="Arial"/>
              </a:rPr>
              <a:t>changes</a:t>
            </a:r>
            <a:r>
              <a:rPr sz="1400" spc="-80" dirty="0">
                <a:latin typeface="Arial"/>
                <a:cs typeface="Arial"/>
              </a:rPr>
              <a:t> </a:t>
            </a:r>
            <a:r>
              <a:rPr sz="1400" spc="-50" dirty="0">
                <a:latin typeface="Arial"/>
                <a:cs typeface="Arial"/>
              </a:rPr>
              <a:t>have</a:t>
            </a:r>
            <a:r>
              <a:rPr sz="1400" spc="-80" dirty="0">
                <a:latin typeface="Arial"/>
                <a:cs typeface="Arial"/>
              </a:rPr>
              <a:t> </a:t>
            </a:r>
            <a:r>
              <a:rPr sz="1400" spc="-75" dirty="0">
                <a:latin typeface="Arial"/>
                <a:cs typeface="Arial"/>
              </a:rPr>
              <a:t>caused  </a:t>
            </a:r>
            <a:r>
              <a:rPr sz="1400" spc="5" dirty="0">
                <a:latin typeface="Arial"/>
                <a:cs typeface="Arial"/>
              </a:rPr>
              <a:t>poor </a:t>
            </a:r>
            <a:r>
              <a:rPr sz="1400" spc="-25" dirty="0">
                <a:latin typeface="Arial"/>
                <a:cs typeface="Arial"/>
              </a:rPr>
              <a:t>performance, </a:t>
            </a:r>
            <a:r>
              <a:rPr sz="1400" spc="5" dirty="0">
                <a:latin typeface="Arial"/>
                <a:cs typeface="Arial"/>
              </a:rPr>
              <a:t>Query </a:t>
            </a:r>
            <a:r>
              <a:rPr sz="1400" spc="-20" dirty="0">
                <a:latin typeface="Arial"/>
                <a:cs typeface="Arial"/>
              </a:rPr>
              <a:t>Store </a:t>
            </a:r>
            <a:r>
              <a:rPr sz="1400" spc="-55" dirty="0">
                <a:latin typeface="Arial"/>
                <a:cs typeface="Arial"/>
              </a:rPr>
              <a:t>can </a:t>
            </a:r>
            <a:r>
              <a:rPr sz="1400" spc="-75" dirty="0">
                <a:latin typeface="Arial"/>
                <a:cs typeface="Arial"/>
              </a:rPr>
              <a:t>be  </a:t>
            </a:r>
            <a:r>
              <a:rPr sz="1400" spc="-60" dirty="0">
                <a:latin typeface="Arial"/>
                <a:cs typeface="Arial"/>
              </a:rPr>
              <a:t>used</a:t>
            </a:r>
            <a:r>
              <a:rPr sz="1400" spc="-95" dirty="0">
                <a:latin typeface="Arial"/>
                <a:cs typeface="Arial"/>
              </a:rPr>
              <a:t> </a:t>
            </a:r>
            <a:r>
              <a:rPr sz="1400" spc="35" dirty="0">
                <a:latin typeface="Arial"/>
                <a:cs typeface="Arial"/>
              </a:rPr>
              <a:t>to</a:t>
            </a:r>
            <a:r>
              <a:rPr sz="1400" spc="-100" dirty="0">
                <a:latin typeface="Arial"/>
                <a:cs typeface="Arial"/>
              </a:rPr>
              <a:t> </a:t>
            </a:r>
            <a:r>
              <a:rPr sz="1400" spc="20" dirty="0">
                <a:latin typeface="Arial"/>
                <a:cs typeface="Arial"/>
              </a:rPr>
              <a:t>quickly</a:t>
            </a:r>
            <a:r>
              <a:rPr sz="1400" spc="-70" dirty="0">
                <a:latin typeface="Arial"/>
                <a:cs typeface="Arial"/>
              </a:rPr>
              <a:t> </a:t>
            </a:r>
            <a:r>
              <a:rPr sz="1400" spc="35" dirty="0">
                <a:latin typeface="Arial"/>
                <a:cs typeface="Arial"/>
              </a:rPr>
              <a:t>identify</a:t>
            </a:r>
            <a:r>
              <a:rPr sz="1400" spc="-95" dirty="0">
                <a:latin typeface="Arial"/>
                <a:cs typeface="Arial"/>
              </a:rPr>
              <a:t> </a:t>
            </a:r>
            <a:r>
              <a:rPr sz="1400" dirty="0">
                <a:latin typeface="Arial"/>
                <a:cs typeface="Arial"/>
              </a:rPr>
              <a:t>the</a:t>
            </a:r>
            <a:r>
              <a:rPr sz="1400" spc="-95" dirty="0">
                <a:latin typeface="Arial"/>
                <a:cs typeface="Arial"/>
              </a:rPr>
              <a:t> </a:t>
            </a:r>
            <a:r>
              <a:rPr sz="1400" spc="-65" dirty="0">
                <a:latin typeface="Arial"/>
                <a:cs typeface="Arial"/>
              </a:rPr>
              <a:t>issue</a:t>
            </a:r>
            <a:r>
              <a:rPr sz="1400" spc="-90" dirty="0">
                <a:latin typeface="Arial"/>
                <a:cs typeface="Arial"/>
              </a:rPr>
              <a:t> </a:t>
            </a:r>
            <a:r>
              <a:rPr sz="1400" spc="-30" dirty="0">
                <a:latin typeface="Arial"/>
                <a:cs typeface="Arial"/>
              </a:rPr>
              <a:t>and</a:t>
            </a:r>
            <a:r>
              <a:rPr sz="1400" spc="-95" dirty="0">
                <a:latin typeface="Arial"/>
                <a:cs typeface="Arial"/>
              </a:rPr>
              <a:t> </a:t>
            </a:r>
            <a:r>
              <a:rPr sz="1400" spc="85" dirty="0">
                <a:latin typeface="Arial"/>
                <a:cs typeface="Arial"/>
              </a:rPr>
              <a:t>if  </a:t>
            </a:r>
            <a:r>
              <a:rPr sz="1400" spc="-5" dirty="0">
                <a:latin typeface="Arial"/>
                <a:cs typeface="Arial"/>
              </a:rPr>
              <a:t>required revert </a:t>
            </a:r>
            <a:r>
              <a:rPr sz="1400" spc="35" dirty="0">
                <a:latin typeface="Arial"/>
                <a:cs typeface="Arial"/>
              </a:rPr>
              <a:t>to</a:t>
            </a:r>
            <a:r>
              <a:rPr sz="1400" spc="-285" dirty="0">
                <a:latin typeface="Arial"/>
                <a:cs typeface="Arial"/>
              </a:rPr>
              <a:t> </a:t>
            </a:r>
            <a:r>
              <a:rPr sz="1400" spc="-135" dirty="0">
                <a:latin typeface="Arial"/>
                <a:cs typeface="Arial"/>
              </a:rPr>
              <a:t>a </a:t>
            </a:r>
            <a:r>
              <a:rPr sz="1400" spc="-15" dirty="0">
                <a:latin typeface="Arial"/>
                <a:cs typeface="Arial"/>
              </a:rPr>
              <a:t>previous plan.</a:t>
            </a:r>
            <a:endParaRPr sz="1400">
              <a:latin typeface="Arial"/>
              <a:cs typeface="Arial"/>
            </a:endParaRPr>
          </a:p>
        </p:txBody>
      </p:sp>
      <p:grpSp>
        <p:nvGrpSpPr>
          <p:cNvPr id="7" name="object 7"/>
          <p:cNvGrpSpPr/>
          <p:nvPr/>
        </p:nvGrpSpPr>
        <p:grpSpPr>
          <a:xfrm>
            <a:off x="182118" y="837438"/>
            <a:ext cx="927100" cy="1595755"/>
            <a:chOff x="182118" y="837438"/>
            <a:chExt cx="927100" cy="1595755"/>
          </a:xfrm>
        </p:grpSpPr>
        <p:sp>
          <p:nvSpPr>
            <p:cNvPr id="8" name="object 8"/>
            <p:cNvSpPr/>
            <p:nvPr/>
          </p:nvSpPr>
          <p:spPr>
            <a:xfrm>
              <a:off x="194691" y="850011"/>
              <a:ext cx="901700" cy="1570990"/>
            </a:xfrm>
            <a:custGeom>
              <a:avLst/>
              <a:gdLst/>
              <a:ahLst/>
              <a:cxnLst/>
              <a:rect l="l" t="t" r="r" b="b"/>
              <a:pathLst>
                <a:path w="901700" h="1570989">
                  <a:moveTo>
                    <a:pt x="901446" y="0"/>
                  </a:moveTo>
                  <a:lnTo>
                    <a:pt x="0" y="0"/>
                  </a:lnTo>
                  <a:lnTo>
                    <a:pt x="0" y="1570482"/>
                  </a:lnTo>
                  <a:lnTo>
                    <a:pt x="901446" y="1570482"/>
                  </a:lnTo>
                  <a:lnTo>
                    <a:pt x="901446" y="0"/>
                  </a:lnTo>
                  <a:close/>
                </a:path>
              </a:pathLst>
            </a:custGeom>
            <a:solidFill>
              <a:srgbClr val="C1DBE4"/>
            </a:solidFill>
          </p:spPr>
          <p:txBody>
            <a:bodyPr wrap="square" lIns="0" tIns="0" rIns="0" bIns="0" rtlCol="0"/>
            <a:lstStyle/>
            <a:p>
              <a:endParaRPr/>
            </a:p>
          </p:txBody>
        </p:sp>
        <p:sp>
          <p:nvSpPr>
            <p:cNvPr id="9" name="object 9"/>
            <p:cNvSpPr/>
            <p:nvPr/>
          </p:nvSpPr>
          <p:spPr>
            <a:xfrm>
              <a:off x="194691" y="850011"/>
              <a:ext cx="901700" cy="1570990"/>
            </a:xfrm>
            <a:custGeom>
              <a:avLst/>
              <a:gdLst/>
              <a:ahLst/>
              <a:cxnLst/>
              <a:rect l="l" t="t" r="r" b="b"/>
              <a:pathLst>
                <a:path w="901700" h="1570989">
                  <a:moveTo>
                    <a:pt x="0" y="1570482"/>
                  </a:moveTo>
                  <a:lnTo>
                    <a:pt x="901446" y="1570482"/>
                  </a:lnTo>
                  <a:lnTo>
                    <a:pt x="901446" y="0"/>
                  </a:lnTo>
                  <a:lnTo>
                    <a:pt x="0" y="0"/>
                  </a:lnTo>
                  <a:lnTo>
                    <a:pt x="0" y="1570482"/>
                  </a:lnTo>
                  <a:close/>
                </a:path>
              </a:pathLst>
            </a:custGeom>
            <a:ln w="25146">
              <a:solidFill>
                <a:srgbClr val="FFFFFF"/>
              </a:solidFill>
            </a:ln>
          </p:spPr>
          <p:txBody>
            <a:bodyPr wrap="square" lIns="0" tIns="0" rIns="0" bIns="0" rtlCol="0"/>
            <a:lstStyle/>
            <a:p>
              <a:endParaRPr/>
            </a:p>
          </p:txBody>
        </p:sp>
      </p:grpSp>
      <p:grpSp>
        <p:nvGrpSpPr>
          <p:cNvPr id="10" name="object 10"/>
          <p:cNvGrpSpPr/>
          <p:nvPr/>
        </p:nvGrpSpPr>
        <p:grpSpPr>
          <a:xfrm>
            <a:off x="4941442" y="1061338"/>
            <a:ext cx="4134485" cy="1505585"/>
            <a:chOff x="4941442" y="1061338"/>
            <a:chExt cx="4134485" cy="1505585"/>
          </a:xfrm>
        </p:grpSpPr>
        <p:sp>
          <p:nvSpPr>
            <p:cNvPr id="11" name="object 11"/>
            <p:cNvSpPr/>
            <p:nvPr/>
          </p:nvSpPr>
          <p:spPr>
            <a:xfrm>
              <a:off x="4946523" y="1066418"/>
              <a:ext cx="4124325" cy="1495425"/>
            </a:xfrm>
            <a:custGeom>
              <a:avLst/>
              <a:gdLst/>
              <a:ahLst/>
              <a:cxnLst/>
              <a:rect l="l" t="t" r="r" b="b"/>
              <a:pathLst>
                <a:path w="4124325" h="1495425">
                  <a:moveTo>
                    <a:pt x="4123944" y="0"/>
                  </a:moveTo>
                  <a:lnTo>
                    <a:pt x="0" y="0"/>
                  </a:lnTo>
                  <a:lnTo>
                    <a:pt x="0" y="1354074"/>
                  </a:lnTo>
                  <a:lnTo>
                    <a:pt x="0" y="1495044"/>
                  </a:lnTo>
                  <a:lnTo>
                    <a:pt x="4123944" y="1495044"/>
                  </a:lnTo>
                  <a:lnTo>
                    <a:pt x="4123944" y="1354074"/>
                  </a:lnTo>
                  <a:lnTo>
                    <a:pt x="4123944" y="0"/>
                  </a:lnTo>
                  <a:close/>
                </a:path>
              </a:pathLst>
            </a:custGeom>
            <a:solidFill>
              <a:srgbClr val="FFFFFF">
                <a:alpha val="39999"/>
              </a:srgbClr>
            </a:solidFill>
          </p:spPr>
          <p:txBody>
            <a:bodyPr wrap="square" lIns="0" tIns="0" rIns="0" bIns="0" rtlCol="0"/>
            <a:lstStyle/>
            <a:p>
              <a:endParaRPr/>
            </a:p>
          </p:txBody>
        </p:sp>
        <p:sp>
          <p:nvSpPr>
            <p:cNvPr id="12" name="object 12"/>
            <p:cNvSpPr/>
            <p:nvPr/>
          </p:nvSpPr>
          <p:spPr>
            <a:xfrm>
              <a:off x="4946522" y="1066418"/>
              <a:ext cx="4124325" cy="1495425"/>
            </a:xfrm>
            <a:custGeom>
              <a:avLst/>
              <a:gdLst/>
              <a:ahLst/>
              <a:cxnLst/>
              <a:rect l="l" t="t" r="r" b="b"/>
              <a:pathLst>
                <a:path w="4124325" h="1495425">
                  <a:moveTo>
                    <a:pt x="0" y="1495043"/>
                  </a:moveTo>
                  <a:lnTo>
                    <a:pt x="4123944" y="1495043"/>
                  </a:lnTo>
                  <a:lnTo>
                    <a:pt x="4123944" y="0"/>
                  </a:lnTo>
                  <a:lnTo>
                    <a:pt x="0" y="0"/>
                  </a:lnTo>
                  <a:lnTo>
                    <a:pt x="0" y="1495043"/>
                  </a:lnTo>
                  <a:close/>
                </a:path>
              </a:pathLst>
            </a:custGeom>
            <a:ln w="9905">
              <a:solidFill>
                <a:srgbClr val="46AAC5"/>
              </a:solidFill>
            </a:ln>
          </p:spPr>
          <p:txBody>
            <a:bodyPr wrap="square" lIns="0" tIns="0" rIns="0" bIns="0" rtlCol="0"/>
            <a:lstStyle/>
            <a:p>
              <a:endParaRPr/>
            </a:p>
          </p:txBody>
        </p:sp>
      </p:grpSp>
      <p:sp>
        <p:nvSpPr>
          <p:cNvPr id="13" name="object 13"/>
          <p:cNvSpPr txBox="1"/>
          <p:nvPr/>
        </p:nvSpPr>
        <p:spPr>
          <a:xfrm>
            <a:off x="5736844" y="1267206"/>
            <a:ext cx="3115310" cy="1007110"/>
          </a:xfrm>
          <a:prstGeom prst="rect">
            <a:avLst/>
          </a:prstGeom>
        </p:spPr>
        <p:txBody>
          <a:bodyPr vert="horz" wrap="square" lIns="0" tIns="36830" rIns="0" bIns="0" rtlCol="0">
            <a:spAutoFit/>
          </a:bodyPr>
          <a:lstStyle/>
          <a:p>
            <a:pPr marL="12700" marR="5080">
              <a:lnSpc>
                <a:spcPts val="1510"/>
              </a:lnSpc>
              <a:spcBef>
                <a:spcPts val="290"/>
              </a:spcBef>
            </a:pPr>
            <a:r>
              <a:rPr sz="1400" spc="80" dirty="0">
                <a:latin typeface="Arial"/>
                <a:cs typeface="Arial"/>
              </a:rPr>
              <a:t>If</a:t>
            </a:r>
            <a:r>
              <a:rPr sz="1400" spc="-85" dirty="0">
                <a:latin typeface="Arial"/>
                <a:cs typeface="Arial"/>
              </a:rPr>
              <a:t> </a:t>
            </a:r>
            <a:r>
              <a:rPr sz="1400" spc="-35" dirty="0">
                <a:latin typeface="Arial"/>
                <a:cs typeface="Arial"/>
              </a:rPr>
              <a:t>any</a:t>
            </a:r>
            <a:r>
              <a:rPr sz="1400" spc="-80" dirty="0">
                <a:latin typeface="Arial"/>
                <a:cs typeface="Arial"/>
              </a:rPr>
              <a:t> </a:t>
            </a:r>
            <a:r>
              <a:rPr sz="1400" spc="-35" dirty="0">
                <a:latin typeface="Arial"/>
                <a:cs typeface="Arial"/>
              </a:rPr>
              <a:t>queries</a:t>
            </a:r>
            <a:r>
              <a:rPr sz="1400" spc="-85" dirty="0">
                <a:latin typeface="Arial"/>
                <a:cs typeface="Arial"/>
              </a:rPr>
              <a:t> </a:t>
            </a:r>
            <a:r>
              <a:rPr sz="1400" spc="-70" dirty="0">
                <a:latin typeface="Arial"/>
                <a:cs typeface="Arial"/>
              </a:rPr>
              <a:t>are</a:t>
            </a:r>
            <a:r>
              <a:rPr sz="1400" spc="-85" dirty="0">
                <a:latin typeface="Arial"/>
                <a:cs typeface="Arial"/>
              </a:rPr>
              <a:t> </a:t>
            </a:r>
            <a:r>
              <a:rPr sz="1400" spc="-20" dirty="0">
                <a:latin typeface="Arial"/>
                <a:cs typeface="Arial"/>
              </a:rPr>
              <a:t>consuming</a:t>
            </a:r>
            <a:r>
              <a:rPr sz="1400" spc="-65" dirty="0">
                <a:latin typeface="Arial"/>
                <a:cs typeface="Arial"/>
              </a:rPr>
              <a:t> </a:t>
            </a:r>
            <a:r>
              <a:rPr sz="1400" dirty="0">
                <a:latin typeface="Arial"/>
                <a:cs typeface="Arial"/>
              </a:rPr>
              <a:t>the</a:t>
            </a:r>
            <a:r>
              <a:rPr sz="1400" spc="-90" dirty="0">
                <a:latin typeface="Arial"/>
                <a:cs typeface="Arial"/>
              </a:rPr>
              <a:t> </a:t>
            </a:r>
            <a:r>
              <a:rPr sz="1400" spc="-25" dirty="0">
                <a:latin typeface="Arial"/>
                <a:cs typeface="Arial"/>
              </a:rPr>
              <a:t>most</a:t>
            </a:r>
            <a:r>
              <a:rPr sz="1400" spc="-90" dirty="0">
                <a:latin typeface="Arial"/>
                <a:cs typeface="Arial"/>
              </a:rPr>
              <a:t> </a:t>
            </a:r>
            <a:r>
              <a:rPr sz="1400" spc="30" dirty="0">
                <a:latin typeface="Arial"/>
                <a:cs typeface="Arial"/>
              </a:rPr>
              <a:t>of  </a:t>
            </a:r>
            <a:r>
              <a:rPr sz="1400" spc="-60" dirty="0">
                <a:latin typeface="Arial"/>
                <a:cs typeface="Arial"/>
              </a:rPr>
              <a:t>system </a:t>
            </a:r>
            <a:r>
              <a:rPr sz="1400" spc="-55" dirty="0">
                <a:latin typeface="Arial"/>
                <a:cs typeface="Arial"/>
              </a:rPr>
              <a:t>resources, </a:t>
            </a:r>
            <a:r>
              <a:rPr sz="1400" spc="-40" dirty="0">
                <a:latin typeface="Arial"/>
                <a:cs typeface="Arial"/>
              </a:rPr>
              <a:t>such </a:t>
            </a:r>
            <a:r>
              <a:rPr sz="1400" spc="-145" dirty="0">
                <a:latin typeface="Arial"/>
                <a:cs typeface="Arial"/>
              </a:rPr>
              <a:t>as </a:t>
            </a:r>
            <a:r>
              <a:rPr sz="1400" spc="15" dirty="0">
                <a:latin typeface="Arial"/>
                <a:cs typeface="Arial"/>
              </a:rPr>
              <a:t>CPU,</a:t>
            </a:r>
            <a:r>
              <a:rPr sz="1400" spc="-165" dirty="0">
                <a:latin typeface="Arial"/>
                <a:cs typeface="Arial"/>
              </a:rPr>
              <a:t> </a:t>
            </a:r>
            <a:r>
              <a:rPr sz="1400" spc="-25" dirty="0">
                <a:latin typeface="Arial"/>
                <a:cs typeface="Arial"/>
              </a:rPr>
              <a:t>memory,  </a:t>
            </a:r>
            <a:r>
              <a:rPr sz="1400" spc="15" dirty="0">
                <a:latin typeface="Arial"/>
                <a:cs typeface="Arial"/>
              </a:rPr>
              <a:t>or </a:t>
            </a:r>
            <a:r>
              <a:rPr sz="1400" spc="85" dirty="0">
                <a:latin typeface="Arial"/>
                <a:cs typeface="Arial"/>
              </a:rPr>
              <a:t>IO </a:t>
            </a:r>
            <a:r>
              <a:rPr sz="1400" dirty="0">
                <a:latin typeface="Arial"/>
                <a:cs typeface="Arial"/>
              </a:rPr>
              <a:t>they </a:t>
            </a:r>
            <a:r>
              <a:rPr sz="1400" spc="-55" dirty="0">
                <a:latin typeface="Arial"/>
                <a:cs typeface="Arial"/>
              </a:rPr>
              <a:t>can </a:t>
            </a:r>
            <a:r>
              <a:rPr sz="1400" spc="-75" dirty="0">
                <a:latin typeface="Arial"/>
                <a:cs typeface="Arial"/>
              </a:rPr>
              <a:t>be </a:t>
            </a:r>
            <a:r>
              <a:rPr sz="1400" spc="25" dirty="0">
                <a:latin typeface="Arial"/>
                <a:cs typeface="Arial"/>
              </a:rPr>
              <a:t>identified </a:t>
            </a:r>
            <a:r>
              <a:rPr sz="1400" spc="-30" dirty="0">
                <a:latin typeface="Arial"/>
                <a:cs typeface="Arial"/>
              </a:rPr>
              <a:t>and  </a:t>
            </a:r>
            <a:r>
              <a:rPr sz="1400" spc="-15" dirty="0">
                <a:latin typeface="Arial"/>
                <a:cs typeface="Arial"/>
              </a:rPr>
              <a:t>accordingly </a:t>
            </a:r>
            <a:r>
              <a:rPr sz="1400" spc="-50" dirty="0">
                <a:latin typeface="Arial"/>
                <a:cs typeface="Arial"/>
              </a:rPr>
              <a:t>changed </a:t>
            </a:r>
            <a:r>
              <a:rPr sz="1400" spc="35" dirty="0">
                <a:latin typeface="Arial"/>
                <a:cs typeface="Arial"/>
              </a:rPr>
              <a:t>to </a:t>
            </a:r>
            <a:r>
              <a:rPr sz="1400" spc="-50" dirty="0">
                <a:latin typeface="Arial"/>
                <a:cs typeface="Arial"/>
              </a:rPr>
              <a:t>ensure </a:t>
            </a:r>
            <a:r>
              <a:rPr sz="1400" spc="10" dirty="0">
                <a:latin typeface="Arial"/>
                <a:cs typeface="Arial"/>
              </a:rPr>
              <a:t>optimal  </a:t>
            </a:r>
            <a:r>
              <a:rPr sz="1400" spc="-90" dirty="0">
                <a:latin typeface="Arial"/>
                <a:cs typeface="Arial"/>
              </a:rPr>
              <a:t>usage.</a:t>
            </a:r>
            <a:endParaRPr sz="1400">
              <a:latin typeface="Arial"/>
              <a:cs typeface="Arial"/>
            </a:endParaRPr>
          </a:p>
        </p:txBody>
      </p:sp>
      <p:grpSp>
        <p:nvGrpSpPr>
          <p:cNvPr id="14" name="object 14"/>
          <p:cNvGrpSpPr/>
          <p:nvPr/>
        </p:nvGrpSpPr>
        <p:grpSpPr>
          <a:xfrm>
            <a:off x="4762500" y="837438"/>
            <a:ext cx="927735" cy="1595755"/>
            <a:chOff x="4762500" y="837438"/>
            <a:chExt cx="927735" cy="1595755"/>
          </a:xfrm>
        </p:grpSpPr>
        <p:sp>
          <p:nvSpPr>
            <p:cNvPr id="15" name="object 15"/>
            <p:cNvSpPr/>
            <p:nvPr/>
          </p:nvSpPr>
          <p:spPr>
            <a:xfrm>
              <a:off x="4775073" y="850011"/>
              <a:ext cx="902335" cy="1570990"/>
            </a:xfrm>
            <a:custGeom>
              <a:avLst/>
              <a:gdLst/>
              <a:ahLst/>
              <a:cxnLst/>
              <a:rect l="l" t="t" r="r" b="b"/>
              <a:pathLst>
                <a:path w="902335" h="1570989">
                  <a:moveTo>
                    <a:pt x="902208" y="0"/>
                  </a:moveTo>
                  <a:lnTo>
                    <a:pt x="0" y="0"/>
                  </a:lnTo>
                  <a:lnTo>
                    <a:pt x="0" y="1570482"/>
                  </a:lnTo>
                  <a:lnTo>
                    <a:pt x="902208" y="1570482"/>
                  </a:lnTo>
                  <a:lnTo>
                    <a:pt x="902208" y="0"/>
                  </a:lnTo>
                  <a:close/>
                </a:path>
              </a:pathLst>
            </a:custGeom>
            <a:solidFill>
              <a:srgbClr val="C0EBD7"/>
            </a:solidFill>
          </p:spPr>
          <p:txBody>
            <a:bodyPr wrap="square" lIns="0" tIns="0" rIns="0" bIns="0" rtlCol="0"/>
            <a:lstStyle/>
            <a:p>
              <a:endParaRPr/>
            </a:p>
          </p:txBody>
        </p:sp>
        <p:sp>
          <p:nvSpPr>
            <p:cNvPr id="16" name="object 16"/>
            <p:cNvSpPr/>
            <p:nvPr/>
          </p:nvSpPr>
          <p:spPr>
            <a:xfrm>
              <a:off x="4775073" y="850011"/>
              <a:ext cx="902335" cy="1570990"/>
            </a:xfrm>
            <a:custGeom>
              <a:avLst/>
              <a:gdLst/>
              <a:ahLst/>
              <a:cxnLst/>
              <a:rect l="l" t="t" r="r" b="b"/>
              <a:pathLst>
                <a:path w="902335" h="1570989">
                  <a:moveTo>
                    <a:pt x="0" y="1570482"/>
                  </a:moveTo>
                  <a:lnTo>
                    <a:pt x="902208" y="1570482"/>
                  </a:lnTo>
                  <a:lnTo>
                    <a:pt x="902208" y="0"/>
                  </a:lnTo>
                  <a:lnTo>
                    <a:pt x="0" y="0"/>
                  </a:lnTo>
                  <a:lnTo>
                    <a:pt x="0" y="1570482"/>
                  </a:lnTo>
                  <a:close/>
                </a:path>
              </a:pathLst>
            </a:custGeom>
            <a:ln w="25146">
              <a:solidFill>
                <a:srgbClr val="FFFFFF"/>
              </a:solidFill>
            </a:ln>
          </p:spPr>
          <p:txBody>
            <a:bodyPr wrap="square" lIns="0" tIns="0" rIns="0" bIns="0" rtlCol="0"/>
            <a:lstStyle/>
            <a:p>
              <a:endParaRPr/>
            </a:p>
          </p:txBody>
        </p:sp>
      </p:grpSp>
      <p:graphicFrame>
        <p:nvGraphicFramePr>
          <p:cNvPr id="17" name="object 17"/>
          <p:cNvGraphicFramePr>
            <a:graphicFrameLocks noGrp="1"/>
          </p:cNvGraphicFramePr>
          <p:nvPr/>
        </p:nvGraphicFramePr>
        <p:xfrm>
          <a:off x="182118" y="2772917"/>
          <a:ext cx="4378325" cy="1666492"/>
        </p:xfrm>
        <a:graphic>
          <a:graphicData uri="http://schemas.openxmlformats.org/drawingml/2006/table">
            <a:tbl>
              <a:tblPr firstRow="1" bandRow="1">
                <a:tableStyleId>{2D5ABB26-0587-4C30-8999-92F81FD0307C}</a:tableStyleId>
              </a:tblPr>
              <a:tblGrid>
                <a:gridCol w="171450">
                  <a:extLst>
                    <a:ext uri="{9D8B030D-6E8A-4147-A177-3AD203B41FA5}">
                      <a16:colId xmlns:a16="http://schemas.microsoft.com/office/drawing/2014/main" val="20000"/>
                    </a:ext>
                  </a:extLst>
                </a:gridCol>
                <a:gridCol w="730250">
                  <a:extLst>
                    <a:ext uri="{9D8B030D-6E8A-4147-A177-3AD203B41FA5}">
                      <a16:colId xmlns:a16="http://schemas.microsoft.com/office/drawing/2014/main" val="20001"/>
                    </a:ext>
                  </a:extLst>
                </a:gridCol>
                <a:gridCol w="3476625">
                  <a:extLst>
                    <a:ext uri="{9D8B030D-6E8A-4147-A177-3AD203B41FA5}">
                      <a16:colId xmlns:a16="http://schemas.microsoft.com/office/drawing/2014/main" val="20002"/>
                    </a:ext>
                  </a:extLst>
                </a:gridCol>
              </a:tblGrid>
              <a:tr h="1525523">
                <a:tc>
                  <a:txBody>
                    <a:bodyPr/>
                    <a:lstStyle/>
                    <a:p>
                      <a:pPr>
                        <a:lnSpc>
                          <a:spcPct val="100000"/>
                        </a:lnSpc>
                      </a:pPr>
                      <a:endParaRPr sz="1500">
                        <a:latin typeface="Times New Roman"/>
                        <a:cs typeface="Times New Roman"/>
                      </a:endParaRPr>
                    </a:p>
                  </a:txBody>
                  <a:tcPr marL="0" marR="0" marT="0" marB="0">
                    <a:lnL w="28575">
                      <a:solidFill>
                        <a:srgbClr val="FFFFFF"/>
                      </a:solidFill>
                      <a:prstDash val="solid"/>
                    </a:lnL>
                    <a:lnR w="12700">
                      <a:solidFill>
                        <a:srgbClr val="46AAC5"/>
                      </a:solidFill>
                      <a:prstDash val="solid"/>
                    </a:lnR>
                    <a:lnB w="28575">
                      <a:solidFill>
                        <a:srgbClr val="FFFFFF"/>
                      </a:solidFill>
                      <a:prstDash val="solid"/>
                    </a:lnB>
                    <a:solidFill>
                      <a:srgbClr val="C8F0C0"/>
                    </a:solidFill>
                  </a:tcPr>
                </a:tc>
                <a:tc>
                  <a:txBody>
                    <a:bodyPr/>
                    <a:lstStyle/>
                    <a:p>
                      <a:pPr>
                        <a:lnSpc>
                          <a:spcPct val="100000"/>
                        </a:lnSpc>
                      </a:pPr>
                      <a:endParaRPr sz="1500">
                        <a:latin typeface="Times New Roman"/>
                        <a:cs typeface="Times New Roman"/>
                      </a:endParaRPr>
                    </a:p>
                  </a:txBody>
                  <a:tcPr marL="0" marR="0" marT="0" marB="0">
                    <a:lnL w="12700">
                      <a:solidFill>
                        <a:srgbClr val="46AAC5"/>
                      </a:solidFill>
                      <a:prstDash val="solid"/>
                    </a:lnL>
                    <a:lnR w="28575">
                      <a:solidFill>
                        <a:srgbClr val="FFFFFF"/>
                      </a:solidFill>
                      <a:prstDash val="solid"/>
                    </a:lnR>
                    <a:lnT w="12700">
                      <a:solidFill>
                        <a:srgbClr val="FFFFFF"/>
                      </a:solidFill>
                      <a:prstDash val="solid"/>
                    </a:lnT>
                    <a:lnB w="28575">
                      <a:solidFill>
                        <a:srgbClr val="FFFFFF"/>
                      </a:solidFill>
                      <a:prstDash val="solid"/>
                    </a:lnB>
                    <a:solidFill>
                      <a:srgbClr val="C8F0C0"/>
                    </a:solidFill>
                  </a:tcPr>
                </a:tc>
                <a:tc>
                  <a:txBody>
                    <a:bodyPr/>
                    <a:lstStyle/>
                    <a:p>
                      <a:pPr marL="72390" marR="38735">
                        <a:lnSpc>
                          <a:spcPct val="90000"/>
                        </a:lnSpc>
                        <a:spcBef>
                          <a:spcPts val="254"/>
                        </a:spcBef>
                      </a:pPr>
                      <a:r>
                        <a:rPr sz="1400" spc="45" dirty="0">
                          <a:latin typeface="Arial"/>
                          <a:cs typeface="Arial"/>
                        </a:rPr>
                        <a:t>When </a:t>
                      </a:r>
                      <a:r>
                        <a:rPr sz="1400" spc="-75" dirty="0">
                          <a:latin typeface="Arial"/>
                          <a:cs typeface="Arial"/>
                        </a:rPr>
                        <a:t>changes </a:t>
                      </a:r>
                      <a:r>
                        <a:rPr sz="1400" spc="35" dirty="0">
                          <a:latin typeface="Arial"/>
                          <a:cs typeface="Arial"/>
                        </a:rPr>
                        <a:t>to </a:t>
                      </a:r>
                      <a:r>
                        <a:rPr sz="1400" spc="-15" dirty="0">
                          <a:latin typeface="Arial"/>
                          <a:cs typeface="Arial"/>
                        </a:rPr>
                        <a:t>applications </a:t>
                      </a:r>
                      <a:r>
                        <a:rPr sz="1400" spc="20" dirty="0">
                          <a:latin typeface="Arial"/>
                          <a:cs typeface="Arial"/>
                        </a:rPr>
                        <a:t>or </a:t>
                      </a:r>
                      <a:r>
                        <a:rPr sz="1400" spc="-5" dirty="0">
                          <a:latin typeface="Arial"/>
                          <a:cs typeface="Arial"/>
                        </a:rPr>
                        <a:t>platforms  </a:t>
                      </a:r>
                      <a:r>
                        <a:rPr sz="1400" spc="-70" dirty="0">
                          <a:latin typeface="Arial"/>
                          <a:cs typeface="Arial"/>
                        </a:rPr>
                        <a:t>are </a:t>
                      </a:r>
                      <a:r>
                        <a:rPr sz="1400" spc="-20" dirty="0">
                          <a:latin typeface="Arial"/>
                          <a:cs typeface="Arial"/>
                        </a:rPr>
                        <a:t>planned, </a:t>
                      </a:r>
                      <a:r>
                        <a:rPr sz="1400" spc="5" dirty="0">
                          <a:latin typeface="Arial"/>
                          <a:cs typeface="Arial"/>
                        </a:rPr>
                        <a:t>Query </a:t>
                      </a:r>
                      <a:r>
                        <a:rPr sz="1400" spc="-20" dirty="0">
                          <a:latin typeface="Arial"/>
                          <a:cs typeface="Arial"/>
                        </a:rPr>
                        <a:t>Store </a:t>
                      </a:r>
                      <a:r>
                        <a:rPr sz="1400" spc="-55" dirty="0">
                          <a:latin typeface="Arial"/>
                          <a:cs typeface="Arial"/>
                        </a:rPr>
                        <a:t>can </a:t>
                      </a:r>
                      <a:r>
                        <a:rPr sz="1400" spc="-75" dirty="0">
                          <a:latin typeface="Arial"/>
                          <a:cs typeface="Arial"/>
                        </a:rPr>
                        <a:t>be </a:t>
                      </a:r>
                      <a:r>
                        <a:rPr sz="1400" spc="-65" dirty="0">
                          <a:latin typeface="Arial"/>
                          <a:cs typeface="Arial"/>
                        </a:rPr>
                        <a:t>used </a:t>
                      </a:r>
                      <a:r>
                        <a:rPr sz="1400" spc="35" dirty="0">
                          <a:latin typeface="Arial"/>
                          <a:cs typeface="Arial"/>
                        </a:rPr>
                        <a:t>to  </a:t>
                      </a:r>
                      <a:r>
                        <a:rPr sz="1400" spc="-45" dirty="0">
                          <a:latin typeface="Arial"/>
                          <a:cs typeface="Arial"/>
                        </a:rPr>
                        <a:t>compare </a:t>
                      </a:r>
                      <a:r>
                        <a:rPr sz="1400" spc="-25" dirty="0">
                          <a:latin typeface="Arial"/>
                          <a:cs typeface="Arial"/>
                        </a:rPr>
                        <a:t>performance before </a:t>
                      </a:r>
                      <a:r>
                        <a:rPr sz="1400" spc="-30" dirty="0">
                          <a:latin typeface="Arial"/>
                          <a:cs typeface="Arial"/>
                        </a:rPr>
                        <a:t>and </a:t>
                      </a:r>
                      <a:r>
                        <a:rPr sz="1400" spc="-5" dirty="0">
                          <a:latin typeface="Arial"/>
                          <a:cs typeface="Arial"/>
                        </a:rPr>
                        <a:t>after  </a:t>
                      </a:r>
                      <a:r>
                        <a:rPr sz="1400" spc="-60" dirty="0">
                          <a:latin typeface="Arial"/>
                          <a:cs typeface="Arial"/>
                        </a:rPr>
                        <a:t>change </a:t>
                      </a:r>
                      <a:r>
                        <a:rPr sz="1400" dirty="0">
                          <a:latin typeface="Arial"/>
                          <a:cs typeface="Arial"/>
                        </a:rPr>
                        <a:t>implementation. </a:t>
                      </a:r>
                      <a:r>
                        <a:rPr sz="1400" spc="-50" dirty="0">
                          <a:latin typeface="Arial"/>
                          <a:cs typeface="Arial"/>
                        </a:rPr>
                        <a:t>These </a:t>
                      </a:r>
                      <a:r>
                        <a:rPr sz="1400" spc="-75" dirty="0">
                          <a:latin typeface="Arial"/>
                          <a:cs typeface="Arial"/>
                        </a:rPr>
                        <a:t>changes</a:t>
                      </a:r>
                      <a:r>
                        <a:rPr sz="1400" spc="-195" dirty="0">
                          <a:latin typeface="Arial"/>
                          <a:cs typeface="Arial"/>
                        </a:rPr>
                        <a:t> </a:t>
                      </a:r>
                      <a:r>
                        <a:rPr sz="1400" spc="-50" dirty="0">
                          <a:latin typeface="Arial"/>
                          <a:cs typeface="Arial"/>
                        </a:rPr>
                        <a:t>may  </a:t>
                      </a:r>
                      <a:r>
                        <a:rPr sz="1400" spc="5" dirty="0">
                          <a:latin typeface="Arial"/>
                          <a:cs typeface="Arial"/>
                        </a:rPr>
                        <a:t>include </a:t>
                      </a:r>
                      <a:r>
                        <a:rPr sz="1400" spc="10" dirty="0">
                          <a:latin typeface="Arial"/>
                          <a:cs typeface="Arial"/>
                        </a:rPr>
                        <a:t>installing </a:t>
                      </a:r>
                      <a:r>
                        <a:rPr sz="1400" spc="-15" dirty="0">
                          <a:latin typeface="Arial"/>
                          <a:cs typeface="Arial"/>
                        </a:rPr>
                        <a:t>new </a:t>
                      </a:r>
                      <a:r>
                        <a:rPr sz="1400" spc="-30" dirty="0">
                          <a:latin typeface="Arial"/>
                          <a:cs typeface="Arial"/>
                        </a:rPr>
                        <a:t>versions </a:t>
                      </a:r>
                      <a:r>
                        <a:rPr sz="1400" spc="40" dirty="0">
                          <a:latin typeface="Arial"/>
                          <a:cs typeface="Arial"/>
                        </a:rPr>
                        <a:t>of  </a:t>
                      </a:r>
                      <a:r>
                        <a:rPr sz="1400" spc="-15" dirty="0">
                          <a:latin typeface="Arial"/>
                          <a:cs typeface="Arial"/>
                        </a:rPr>
                        <a:t>applications, </a:t>
                      </a:r>
                      <a:r>
                        <a:rPr sz="1400" spc="10" dirty="0">
                          <a:latin typeface="Arial"/>
                          <a:cs typeface="Arial"/>
                        </a:rPr>
                        <a:t>installing </a:t>
                      </a:r>
                      <a:r>
                        <a:rPr sz="1400" spc="-15" dirty="0">
                          <a:latin typeface="Arial"/>
                          <a:cs typeface="Arial"/>
                        </a:rPr>
                        <a:t>new </a:t>
                      </a:r>
                      <a:r>
                        <a:rPr sz="1400" spc="-30" dirty="0">
                          <a:latin typeface="Arial"/>
                          <a:cs typeface="Arial"/>
                        </a:rPr>
                        <a:t>hardware,  </a:t>
                      </a:r>
                      <a:r>
                        <a:rPr sz="1400" spc="15" dirty="0">
                          <a:latin typeface="Arial"/>
                          <a:cs typeface="Arial"/>
                        </a:rPr>
                        <a:t>compatibility</a:t>
                      </a:r>
                      <a:r>
                        <a:rPr sz="1400" spc="-65" dirty="0">
                          <a:latin typeface="Arial"/>
                          <a:cs typeface="Arial"/>
                        </a:rPr>
                        <a:t> </a:t>
                      </a:r>
                      <a:r>
                        <a:rPr sz="1400" spc="-15" dirty="0">
                          <a:latin typeface="Arial"/>
                          <a:cs typeface="Arial"/>
                        </a:rPr>
                        <a:t>level</a:t>
                      </a:r>
                      <a:r>
                        <a:rPr sz="1400" spc="-90" dirty="0">
                          <a:latin typeface="Arial"/>
                          <a:cs typeface="Arial"/>
                        </a:rPr>
                        <a:t> </a:t>
                      </a:r>
                      <a:r>
                        <a:rPr sz="1400" spc="-55" dirty="0">
                          <a:latin typeface="Arial"/>
                          <a:cs typeface="Arial"/>
                        </a:rPr>
                        <a:t>upgrades</a:t>
                      </a:r>
                      <a:r>
                        <a:rPr sz="1400" spc="-75" dirty="0">
                          <a:latin typeface="Arial"/>
                          <a:cs typeface="Arial"/>
                        </a:rPr>
                        <a:t> </a:t>
                      </a:r>
                      <a:r>
                        <a:rPr sz="1400" spc="35" dirty="0">
                          <a:latin typeface="Arial"/>
                          <a:cs typeface="Arial"/>
                        </a:rPr>
                        <a:t>to</a:t>
                      </a:r>
                      <a:r>
                        <a:rPr sz="1400" spc="-90" dirty="0">
                          <a:latin typeface="Arial"/>
                          <a:cs typeface="Arial"/>
                        </a:rPr>
                        <a:t> </a:t>
                      </a:r>
                      <a:r>
                        <a:rPr sz="1400" dirty="0">
                          <a:latin typeface="Arial"/>
                          <a:cs typeface="Arial"/>
                        </a:rPr>
                        <a:t>the</a:t>
                      </a:r>
                      <a:r>
                        <a:rPr sz="1400" spc="-90" dirty="0">
                          <a:latin typeface="Arial"/>
                          <a:cs typeface="Arial"/>
                        </a:rPr>
                        <a:t> </a:t>
                      </a:r>
                      <a:r>
                        <a:rPr sz="1400" spc="-75" dirty="0">
                          <a:latin typeface="Arial"/>
                          <a:cs typeface="Arial"/>
                        </a:rPr>
                        <a:t>database,</a:t>
                      </a:r>
                      <a:endParaRPr sz="1400">
                        <a:latin typeface="Arial"/>
                        <a:cs typeface="Arial"/>
                      </a:endParaRPr>
                    </a:p>
                    <a:p>
                      <a:pPr marL="72390">
                        <a:lnSpc>
                          <a:spcPts val="1070"/>
                        </a:lnSpc>
                      </a:pPr>
                      <a:r>
                        <a:rPr sz="1400" spc="-30" dirty="0">
                          <a:latin typeface="Arial"/>
                          <a:cs typeface="Arial"/>
                        </a:rPr>
                        <a:t>and</a:t>
                      </a:r>
                      <a:r>
                        <a:rPr sz="1400" spc="-100" dirty="0">
                          <a:latin typeface="Arial"/>
                          <a:cs typeface="Arial"/>
                        </a:rPr>
                        <a:t> </a:t>
                      </a:r>
                      <a:r>
                        <a:rPr sz="1400" spc="-15" dirty="0">
                          <a:latin typeface="Arial"/>
                          <a:cs typeface="Arial"/>
                        </a:rPr>
                        <a:t>adding</a:t>
                      </a:r>
                      <a:r>
                        <a:rPr sz="1400" spc="-85" dirty="0">
                          <a:latin typeface="Arial"/>
                          <a:cs typeface="Arial"/>
                        </a:rPr>
                        <a:t> </a:t>
                      </a:r>
                      <a:r>
                        <a:rPr sz="1400" spc="20" dirty="0">
                          <a:latin typeface="Arial"/>
                          <a:cs typeface="Arial"/>
                        </a:rPr>
                        <a:t>or</a:t>
                      </a:r>
                      <a:r>
                        <a:rPr sz="1400" spc="-100" dirty="0">
                          <a:latin typeface="Arial"/>
                          <a:cs typeface="Arial"/>
                        </a:rPr>
                        <a:t> </a:t>
                      </a:r>
                      <a:r>
                        <a:rPr sz="1400" spc="20" dirty="0">
                          <a:latin typeface="Arial"/>
                          <a:cs typeface="Arial"/>
                        </a:rPr>
                        <a:t>modifying</a:t>
                      </a:r>
                      <a:r>
                        <a:rPr sz="1400" spc="-70" dirty="0">
                          <a:latin typeface="Arial"/>
                          <a:cs typeface="Arial"/>
                        </a:rPr>
                        <a:t> </a:t>
                      </a:r>
                      <a:r>
                        <a:rPr sz="1400" spc="-30" dirty="0">
                          <a:latin typeface="Arial"/>
                          <a:cs typeface="Arial"/>
                        </a:rPr>
                        <a:t>indexes.</a:t>
                      </a:r>
                      <a:endParaRPr sz="1400">
                        <a:latin typeface="Arial"/>
                        <a:cs typeface="Arial"/>
                      </a:endParaRPr>
                    </a:p>
                  </a:txBody>
                  <a:tcPr marL="0" marR="0" marT="32384" marB="0">
                    <a:lnL w="28575">
                      <a:solidFill>
                        <a:srgbClr val="FFFFFF"/>
                      </a:solidFill>
                      <a:prstDash val="solid"/>
                    </a:lnL>
                    <a:lnR w="12700">
                      <a:solidFill>
                        <a:srgbClr val="46AAC5"/>
                      </a:solidFill>
                      <a:prstDash val="solid"/>
                    </a:lnR>
                    <a:lnT w="12700">
                      <a:solidFill>
                        <a:srgbClr val="46AAC5"/>
                      </a:solidFill>
                      <a:prstDash val="solid"/>
                    </a:lnT>
                    <a:solidFill>
                      <a:srgbClr val="FFFFFF"/>
                    </a:solidFill>
                  </a:tcPr>
                </a:tc>
                <a:extLst>
                  <a:ext uri="{0D108BD9-81ED-4DB2-BD59-A6C34878D82A}">
                    <a16:rowId xmlns:a16="http://schemas.microsoft.com/office/drawing/2014/main" val="10000"/>
                  </a:ext>
                </a:extLst>
              </a:tr>
              <a:tr h="140969">
                <a:tc>
                  <a:txBody>
                    <a:bodyPr/>
                    <a:lstStyle/>
                    <a:p>
                      <a:pPr>
                        <a:lnSpc>
                          <a:spcPct val="100000"/>
                        </a:lnSpc>
                      </a:pPr>
                      <a:endParaRPr sz="700">
                        <a:latin typeface="Times New Roman"/>
                        <a:cs typeface="Times New Roman"/>
                      </a:endParaRPr>
                    </a:p>
                  </a:txBody>
                  <a:tcPr marL="0" marR="0" marT="0" marB="0">
                    <a:lnR w="12700">
                      <a:solidFill>
                        <a:srgbClr val="46AAC5"/>
                      </a:solidFill>
                      <a:prstDash val="solid"/>
                    </a:lnR>
                    <a:lnT w="28575">
                      <a:solidFill>
                        <a:srgbClr val="FFFFFF"/>
                      </a:solidFill>
                      <a:prstDash val="solid"/>
                    </a:lnT>
                  </a:tcPr>
                </a:tc>
                <a:tc gridSpan="2">
                  <a:txBody>
                    <a:bodyPr/>
                    <a:lstStyle/>
                    <a:p>
                      <a:pPr>
                        <a:lnSpc>
                          <a:spcPct val="100000"/>
                        </a:lnSpc>
                      </a:pPr>
                      <a:endParaRPr sz="700">
                        <a:latin typeface="Times New Roman"/>
                        <a:cs typeface="Times New Roman"/>
                      </a:endParaRPr>
                    </a:p>
                  </a:txBody>
                  <a:tcPr marL="0" marR="0" marT="0" marB="0">
                    <a:lnL w="12700">
                      <a:solidFill>
                        <a:srgbClr val="46AAC5"/>
                      </a:solidFill>
                      <a:prstDash val="solid"/>
                    </a:lnL>
                    <a:lnR w="12700">
                      <a:solidFill>
                        <a:srgbClr val="46AAC5"/>
                      </a:solidFill>
                      <a:prstDash val="solid"/>
                    </a:lnR>
                    <a:lnT w="28575" cap="flat" cmpd="sng" algn="ctr">
                      <a:solidFill>
                        <a:srgbClr val="FFFFFF"/>
                      </a:solidFill>
                      <a:prstDash val="solid"/>
                      <a:round/>
                      <a:headEnd type="none" w="med" len="med"/>
                      <a:tailEnd type="none" w="med" len="med"/>
                    </a:lnT>
                    <a:lnB w="12700">
                      <a:solidFill>
                        <a:srgbClr val="46AAC5"/>
                      </a:solidFill>
                      <a:prstDash val="solid"/>
                    </a:lnB>
                    <a:solidFill>
                      <a:srgbClr val="FFFFFF"/>
                    </a:solidFill>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21" name="object 2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16</a:t>
            </a:fld>
            <a:endParaRPr sz="1200"/>
          </a:p>
        </p:txBody>
      </p:sp>
      <p:sp>
        <p:nvSpPr>
          <p:cNvPr id="22" name="object 2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graphicFrame>
        <p:nvGraphicFramePr>
          <p:cNvPr id="18" name="object 18"/>
          <p:cNvGraphicFramePr>
            <a:graphicFrameLocks noGrp="1"/>
          </p:cNvGraphicFramePr>
          <p:nvPr/>
        </p:nvGraphicFramePr>
        <p:xfrm>
          <a:off x="4762500" y="2720339"/>
          <a:ext cx="4295775" cy="1711450"/>
        </p:xfrm>
        <a:graphic>
          <a:graphicData uri="http://schemas.openxmlformats.org/drawingml/2006/table">
            <a:tbl>
              <a:tblPr firstRow="1" bandRow="1">
                <a:tableStyleId>{2D5ABB26-0587-4C30-8999-92F81FD0307C}</a:tableStyleId>
              </a:tblPr>
              <a:tblGrid>
                <a:gridCol w="171450">
                  <a:extLst>
                    <a:ext uri="{9D8B030D-6E8A-4147-A177-3AD203B41FA5}">
                      <a16:colId xmlns:a16="http://schemas.microsoft.com/office/drawing/2014/main" val="20000"/>
                    </a:ext>
                  </a:extLst>
                </a:gridCol>
                <a:gridCol w="730885">
                  <a:extLst>
                    <a:ext uri="{9D8B030D-6E8A-4147-A177-3AD203B41FA5}">
                      <a16:colId xmlns:a16="http://schemas.microsoft.com/office/drawing/2014/main" val="20001"/>
                    </a:ext>
                  </a:extLst>
                </a:gridCol>
                <a:gridCol w="3393440">
                  <a:extLst>
                    <a:ext uri="{9D8B030D-6E8A-4147-A177-3AD203B41FA5}">
                      <a16:colId xmlns:a16="http://schemas.microsoft.com/office/drawing/2014/main" val="20002"/>
                    </a:ext>
                  </a:extLst>
                </a:gridCol>
              </a:tblGrid>
              <a:tr h="215645">
                <a:tc gridSpan="2">
                  <a:txBody>
                    <a:bodyPr/>
                    <a:lstStyle/>
                    <a:p>
                      <a:pPr>
                        <a:lnSpc>
                          <a:spcPct val="100000"/>
                        </a:lnSpc>
                      </a:pPr>
                      <a:endParaRPr sz="1300">
                        <a:latin typeface="Times New Roman"/>
                        <a:cs typeface="Times New Roman"/>
                      </a:endParaRPr>
                    </a:p>
                  </a:txBody>
                  <a:tcPr marL="0" marR="0" marT="0" marB="0">
                    <a:lnL w="28575">
                      <a:solidFill>
                        <a:srgbClr val="FFFFFF"/>
                      </a:solidFill>
                      <a:prstDash val="solid"/>
                    </a:lnL>
                    <a:lnR w="28575">
                      <a:solidFill>
                        <a:srgbClr val="FFFFFF"/>
                      </a:solidFill>
                      <a:prstDash val="solid"/>
                    </a:lnR>
                    <a:lnT w="28575">
                      <a:solidFill>
                        <a:srgbClr val="FFFFFF"/>
                      </a:solidFill>
                      <a:prstDash val="solid"/>
                    </a:lnT>
                    <a:solidFill>
                      <a:srgbClr val="F3F6C0"/>
                    </a:solidFill>
                  </a:tcPr>
                </a:tc>
                <a:tc hMerge="1">
                  <a:txBody>
                    <a:bodyPr/>
                    <a:lstStyle/>
                    <a:p>
                      <a:endParaRPr/>
                    </a:p>
                  </a:txBody>
                  <a:tcPr marL="0" marR="0" marT="0" marB="0"/>
                </a:tc>
                <a:tc>
                  <a:txBody>
                    <a:bodyPr/>
                    <a:lstStyle/>
                    <a:p>
                      <a:pPr>
                        <a:lnSpc>
                          <a:spcPct val="100000"/>
                        </a:lnSpc>
                      </a:pPr>
                      <a:endParaRPr sz="1300">
                        <a:latin typeface="Times New Roman"/>
                        <a:cs typeface="Times New Roman"/>
                      </a:endParaRPr>
                    </a:p>
                  </a:txBody>
                  <a:tcPr marL="0" marR="0" marT="0" marB="0">
                    <a:lnL w="28575">
                      <a:solidFill>
                        <a:srgbClr val="FFFFFF"/>
                      </a:solidFill>
                      <a:prstDash val="solid"/>
                    </a:lnL>
                    <a:lnB w="12700">
                      <a:solidFill>
                        <a:srgbClr val="46AAC5"/>
                      </a:solidFill>
                      <a:prstDash val="solid"/>
                    </a:lnB>
                  </a:tcPr>
                </a:tc>
                <a:extLst>
                  <a:ext uri="{0D108BD9-81ED-4DB2-BD59-A6C34878D82A}">
                    <a16:rowId xmlns:a16="http://schemas.microsoft.com/office/drawing/2014/main" val="10000"/>
                  </a:ext>
                </a:extLst>
              </a:tr>
              <a:tr h="1354836">
                <a:tc>
                  <a:txBody>
                    <a:bodyPr/>
                    <a:lstStyle/>
                    <a:p>
                      <a:pPr>
                        <a:lnSpc>
                          <a:spcPct val="100000"/>
                        </a:lnSpc>
                      </a:pPr>
                      <a:endParaRPr sz="1500">
                        <a:latin typeface="Times New Roman"/>
                        <a:cs typeface="Times New Roman"/>
                      </a:endParaRPr>
                    </a:p>
                  </a:txBody>
                  <a:tcPr marL="0" marR="0" marT="0" marB="0">
                    <a:lnL w="28575">
                      <a:solidFill>
                        <a:srgbClr val="FFFFFF"/>
                      </a:solidFill>
                      <a:prstDash val="solid"/>
                    </a:lnL>
                    <a:lnR w="12700">
                      <a:solidFill>
                        <a:srgbClr val="46AAC5"/>
                      </a:solidFill>
                      <a:prstDash val="solid"/>
                    </a:lnR>
                    <a:lnB w="28575">
                      <a:solidFill>
                        <a:srgbClr val="FFFFFF"/>
                      </a:solidFill>
                      <a:prstDash val="solid"/>
                    </a:lnB>
                    <a:solidFill>
                      <a:srgbClr val="F3F6C0"/>
                    </a:solidFill>
                  </a:tcPr>
                </a:tc>
                <a:tc>
                  <a:txBody>
                    <a:bodyPr/>
                    <a:lstStyle/>
                    <a:p>
                      <a:pPr>
                        <a:lnSpc>
                          <a:spcPct val="100000"/>
                        </a:lnSpc>
                      </a:pPr>
                      <a:endParaRPr sz="1500">
                        <a:latin typeface="Times New Roman"/>
                        <a:cs typeface="Times New Roman"/>
                      </a:endParaRPr>
                    </a:p>
                  </a:txBody>
                  <a:tcPr marL="0" marR="0" marT="0" marB="0">
                    <a:lnL w="12700">
                      <a:solidFill>
                        <a:srgbClr val="46AAC5"/>
                      </a:solidFill>
                      <a:prstDash val="solid"/>
                    </a:lnL>
                    <a:lnR w="28575">
                      <a:solidFill>
                        <a:srgbClr val="FFFFFF"/>
                      </a:solidFill>
                      <a:prstDash val="solid"/>
                    </a:lnR>
                    <a:lnT w="12700">
                      <a:solidFill>
                        <a:srgbClr val="46AAC5"/>
                      </a:solidFill>
                      <a:prstDash val="solid"/>
                    </a:lnT>
                    <a:lnB w="28575">
                      <a:solidFill>
                        <a:srgbClr val="FFFFFF"/>
                      </a:solidFill>
                      <a:prstDash val="solid"/>
                    </a:lnB>
                    <a:solidFill>
                      <a:srgbClr val="F3F6C0"/>
                    </a:solidFill>
                  </a:tcPr>
                </a:tc>
                <a:tc>
                  <a:txBody>
                    <a:bodyPr/>
                    <a:lstStyle/>
                    <a:p>
                      <a:pPr>
                        <a:lnSpc>
                          <a:spcPct val="100000"/>
                        </a:lnSpc>
                        <a:spcBef>
                          <a:spcPts val="45"/>
                        </a:spcBef>
                      </a:pPr>
                      <a:endParaRPr sz="2250">
                        <a:latin typeface="Times New Roman"/>
                        <a:cs typeface="Times New Roman"/>
                      </a:endParaRPr>
                    </a:p>
                    <a:p>
                      <a:pPr marL="71755" marR="168275">
                        <a:lnSpc>
                          <a:spcPts val="1510"/>
                        </a:lnSpc>
                      </a:pPr>
                      <a:r>
                        <a:rPr sz="1400" spc="45" dirty="0">
                          <a:latin typeface="Arial"/>
                          <a:cs typeface="Arial"/>
                        </a:rPr>
                        <a:t>When </a:t>
                      </a:r>
                      <a:r>
                        <a:rPr sz="1400" spc="-55" dirty="0">
                          <a:latin typeface="Arial"/>
                          <a:cs typeface="Arial"/>
                        </a:rPr>
                        <a:t>upgrades </a:t>
                      </a:r>
                      <a:r>
                        <a:rPr sz="1400" spc="-70" dirty="0">
                          <a:latin typeface="Arial"/>
                          <a:cs typeface="Arial"/>
                        </a:rPr>
                        <a:t>are </a:t>
                      </a:r>
                      <a:r>
                        <a:rPr sz="1400" spc="-15" dirty="0">
                          <a:latin typeface="Arial"/>
                          <a:cs typeface="Arial"/>
                        </a:rPr>
                        <a:t>planned </a:t>
                      </a:r>
                      <a:r>
                        <a:rPr sz="1400" spc="40" dirty="0">
                          <a:latin typeface="Arial"/>
                          <a:cs typeface="Arial"/>
                        </a:rPr>
                        <a:t>for </a:t>
                      </a:r>
                      <a:r>
                        <a:rPr sz="1400" spc="5" dirty="0">
                          <a:latin typeface="Arial"/>
                          <a:cs typeface="Arial"/>
                        </a:rPr>
                        <a:t>Query  Optimizer, </a:t>
                      </a:r>
                      <a:r>
                        <a:rPr sz="1400" spc="-25" dirty="0">
                          <a:latin typeface="Arial"/>
                          <a:cs typeface="Arial"/>
                        </a:rPr>
                        <a:t>performance </a:t>
                      </a:r>
                      <a:r>
                        <a:rPr sz="1400" spc="35" dirty="0">
                          <a:latin typeface="Arial"/>
                          <a:cs typeface="Arial"/>
                        </a:rPr>
                        <a:t>of</a:t>
                      </a:r>
                      <a:r>
                        <a:rPr sz="1400" spc="-290" dirty="0">
                          <a:latin typeface="Arial"/>
                          <a:cs typeface="Arial"/>
                        </a:rPr>
                        <a:t> </a:t>
                      </a:r>
                      <a:r>
                        <a:rPr sz="1400" spc="-35" dirty="0">
                          <a:latin typeface="Arial"/>
                          <a:cs typeface="Arial"/>
                        </a:rPr>
                        <a:t>queries </a:t>
                      </a:r>
                      <a:r>
                        <a:rPr sz="1400" spc="-55" dirty="0">
                          <a:latin typeface="Arial"/>
                          <a:cs typeface="Arial"/>
                        </a:rPr>
                        <a:t>can </a:t>
                      </a:r>
                      <a:r>
                        <a:rPr sz="1400" spc="-75" dirty="0">
                          <a:latin typeface="Arial"/>
                          <a:cs typeface="Arial"/>
                        </a:rPr>
                        <a:t>be  </a:t>
                      </a:r>
                      <a:r>
                        <a:rPr sz="1400" spc="-30" dirty="0">
                          <a:latin typeface="Arial"/>
                          <a:cs typeface="Arial"/>
                        </a:rPr>
                        <a:t>recorded </a:t>
                      </a:r>
                      <a:r>
                        <a:rPr sz="1400" spc="-25" dirty="0">
                          <a:latin typeface="Arial"/>
                          <a:cs typeface="Arial"/>
                        </a:rPr>
                        <a:t>before </a:t>
                      </a:r>
                      <a:r>
                        <a:rPr sz="1400" spc="-10" dirty="0">
                          <a:latin typeface="Arial"/>
                          <a:cs typeface="Arial"/>
                        </a:rPr>
                        <a:t>upgradation </a:t>
                      </a:r>
                      <a:r>
                        <a:rPr sz="1400" spc="-30" dirty="0">
                          <a:latin typeface="Arial"/>
                          <a:cs typeface="Arial"/>
                        </a:rPr>
                        <a:t>and </a:t>
                      </a:r>
                      <a:r>
                        <a:rPr sz="1400" spc="25" dirty="0">
                          <a:latin typeface="Arial"/>
                          <a:cs typeface="Arial"/>
                        </a:rPr>
                        <a:t>fixed  </a:t>
                      </a:r>
                      <a:r>
                        <a:rPr sz="1400" spc="20" dirty="0">
                          <a:latin typeface="Arial"/>
                          <a:cs typeface="Arial"/>
                        </a:rPr>
                        <a:t>during</a:t>
                      </a:r>
                      <a:r>
                        <a:rPr sz="1400" spc="-85" dirty="0">
                          <a:latin typeface="Arial"/>
                          <a:cs typeface="Arial"/>
                        </a:rPr>
                        <a:t> </a:t>
                      </a:r>
                      <a:r>
                        <a:rPr sz="1400" spc="-10" dirty="0">
                          <a:latin typeface="Arial"/>
                          <a:cs typeface="Arial"/>
                        </a:rPr>
                        <a:t>upgradation.</a:t>
                      </a:r>
                      <a:endParaRPr sz="1400">
                        <a:latin typeface="Arial"/>
                        <a:cs typeface="Arial"/>
                      </a:endParaRPr>
                    </a:p>
                  </a:txBody>
                  <a:tcPr marL="0" marR="0" marT="5715" marB="0">
                    <a:lnL w="28575">
                      <a:solidFill>
                        <a:srgbClr val="FFFFFF"/>
                      </a:solidFill>
                      <a:prstDash val="solid"/>
                    </a:lnL>
                    <a:lnR w="12700">
                      <a:solidFill>
                        <a:srgbClr val="46AAC5"/>
                      </a:solidFill>
                      <a:prstDash val="solid"/>
                    </a:lnR>
                    <a:lnT w="12700">
                      <a:solidFill>
                        <a:srgbClr val="46AAC5"/>
                      </a:solidFill>
                      <a:prstDash val="solid"/>
                    </a:lnT>
                    <a:solidFill>
                      <a:srgbClr val="FFFFFF"/>
                    </a:solidFill>
                  </a:tcPr>
                </a:tc>
                <a:extLst>
                  <a:ext uri="{0D108BD9-81ED-4DB2-BD59-A6C34878D82A}">
                    <a16:rowId xmlns:a16="http://schemas.microsoft.com/office/drawing/2014/main" val="10001"/>
                  </a:ext>
                </a:extLst>
              </a:tr>
              <a:tr h="140969">
                <a:tc>
                  <a:txBody>
                    <a:bodyPr/>
                    <a:lstStyle/>
                    <a:p>
                      <a:pPr>
                        <a:lnSpc>
                          <a:spcPct val="100000"/>
                        </a:lnSpc>
                      </a:pPr>
                      <a:endParaRPr sz="700">
                        <a:latin typeface="Times New Roman"/>
                        <a:cs typeface="Times New Roman"/>
                      </a:endParaRPr>
                    </a:p>
                  </a:txBody>
                  <a:tcPr marL="0" marR="0" marT="0" marB="0">
                    <a:lnR w="12700">
                      <a:solidFill>
                        <a:srgbClr val="46AAC5"/>
                      </a:solidFill>
                      <a:prstDash val="solid"/>
                    </a:lnR>
                    <a:lnT w="28575">
                      <a:solidFill>
                        <a:srgbClr val="FFFFFF"/>
                      </a:solidFill>
                      <a:prstDash val="solid"/>
                    </a:lnT>
                  </a:tcPr>
                </a:tc>
                <a:tc gridSpan="2">
                  <a:txBody>
                    <a:bodyPr/>
                    <a:lstStyle/>
                    <a:p>
                      <a:pPr>
                        <a:lnSpc>
                          <a:spcPct val="100000"/>
                        </a:lnSpc>
                      </a:pPr>
                      <a:endParaRPr sz="700">
                        <a:latin typeface="Times New Roman"/>
                        <a:cs typeface="Times New Roman"/>
                      </a:endParaRPr>
                    </a:p>
                  </a:txBody>
                  <a:tcPr marL="0" marR="0" marT="0" marB="0">
                    <a:lnL w="12700">
                      <a:solidFill>
                        <a:srgbClr val="46AAC5"/>
                      </a:solidFill>
                      <a:prstDash val="solid"/>
                    </a:lnL>
                    <a:lnR w="12700">
                      <a:solidFill>
                        <a:srgbClr val="46AAC5"/>
                      </a:solidFill>
                      <a:prstDash val="solid"/>
                    </a:lnR>
                    <a:lnT w="28575" cap="flat" cmpd="sng" algn="ctr">
                      <a:solidFill>
                        <a:srgbClr val="FFFFFF"/>
                      </a:solidFill>
                      <a:prstDash val="solid"/>
                      <a:round/>
                      <a:headEnd type="none" w="med" len="med"/>
                      <a:tailEnd type="none" w="med" len="med"/>
                    </a:lnT>
                    <a:lnB w="12700">
                      <a:solidFill>
                        <a:srgbClr val="46AAC5"/>
                      </a:solidFill>
                      <a:prstDash val="solid"/>
                    </a:lnB>
                    <a:solidFill>
                      <a:srgbClr val="FFFFFF"/>
                    </a:solidFill>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graphicFrame>
        <p:nvGraphicFramePr>
          <p:cNvPr id="19" name="object 19"/>
          <p:cNvGraphicFramePr>
            <a:graphicFrameLocks noGrp="1"/>
          </p:cNvGraphicFramePr>
          <p:nvPr/>
        </p:nvGraphicFramePr>
        <p:xfrm>
          <a:off x="2471927" y="4603241"/>
          <a:ext cx="4294504" cy="1711452"/>
        </p:xfrm>
        <a:graphic>
          <a:graphicData uri="http://schemas.openxmlformats.org/drawingml/2006/table">
            <a:tbl>
              <a:tblPr firstRow="1" bandRow="1">
                <a:tableStyleId>{2D5ABB26-0587-4C30-8999-92F81FD0307C}</a:tableStyleId>
              </a:tblPr>
              <a:tblGrid>
                <a:gridCol w="172085">
                  <a:extLst>
                    <a:ext uri="{9D8B030D-6E8A-4147-A177-3AD203B41FA5}">
                      <a16:colId xmlns:a16="http://schemas.microsoft.com/office/drawing/2014/main" val="20000"/>
                    </a:ext>
                  </a:extLst>
                </a:gridCol>
                <a:gridCol w="729615">
                  <a:extLst>
                    <a:ext uri="{9D8B030D-6E8A-4147-A177-3AD203B41FA5}">
                      <a16:colId xmlns:a16="http://schemas.microsoft.com/office/drawing/2014/main" val="20001"/>
                    </a:ext>
                  </a:extLst>
                </a:gridCol>
                <a:gridCol w="3392804">
                  <a:extLst>
                    <a:ext uri="{9D8B030D-6E8A-4147-A177-3AD203B41FA5}">
                      <a16:colId xmlns:a16="http://schemas.microsoft.com/office/drawing/2014/main" val="20002"/>
                    </a:ext>
                  </a:extLst>
                </a:gridCol>
              </a:tblGrid>
              <a:tr h="215646">
                <a:tc gridSpan="2">
                  <a:txBody>
                    <a:bodyPr/>
                    <a:lstStyle/>
                    <a:p>
                      <a:pPr>
                        <a:lnSpc>
                          <a:spcPct val="100000"/>
                        </a:lnSpc>
                      </a:pPr>
                      <a:endParaRPr sz="1300">
                        <a:latin typeface="Times New Roman"/>
                        <a:cs typeface="Times New Roman"/>
                      </a:endParaRPr>
                    </a:p>
                  </a:txBody>
                  <a:tcPr marL="0" marR="0" marT="0" marB="0">
                    <a:lnL w="28575">
                      <a:solidFill>
                        <a:srgbClr val="FFFFFF"/>
                      </a:solidFill>
                      <a:prstDash val="solid"/>
                    </a:lnL>
                    <a:lnR w="28575">
                      <a:solidFill>
                        <a:srgbClr val="FFFFFF"/>
                      </a:solidFill>
                      <a:prstDash val="solid"/>
                    </a:lnR>
                    <a:lnT w="28575">
                      <a:solidFill>
                        <a:srgbClr val="FFFFFF"/>
                      </a:solidFill>
                      <a:prstDash val="solid"/>
                    </a:lnT>
                    <a:solidFill>
                      <a:srgbClr val="FAD2C1"/>
                    </a:solidFill>
                  </a:tcPr>
                </a:tc>
                <a:tc hMerge="1">
                  <a:txBody>
                    <a:bodyPr/>
                    <a:lstStyle/>
                    <a:p>
                      <a:endParaRPr/>
                    </a:p>
                  </a:txBody>
                  <a:tcPr marL="0" marR="0" marT="0" marB="0"/>
                </a:tc>
                <a:tc>
                  <a:txBody>
                    <a:bodyPr/>
                    <a:lstStyle/>
                    <a:p>
                      <a:pPr>
                        <a:lnSpc>
                          <a:spcPct val="100000"/>
                        </a:lnSpc>
                      </a:pPr>
                      <a:endParaRPr sz="1300">
                        <a:latin typeface="Times New Roman"/>
                        <a:cs typeface="Times New Roman"/>
                      </a:endParaRPr>
                    </a:p>
                  </a:txBody>
                  <a:tcPr marL="0" marR="0" marT="0" marB="0">
                    <a:lnL w="28575">
                      <a:solidFill>
                        <a:srgbClr val="FFFFFF"/>
                      </a:solidFill>
                      <a:prstDash val="solid"/>
                    </a:lnL>
                    <a:lnB w="12700">
                      <a:solidFill>
                        <a:srgbClr val="46AAC5"/>
                      </a:solidFill>
                      <a:prstDash val="solid"/>
                    </a:lnB>
                  </a:tcPr>
                </a:tc>
                <a:extLst>
                  <a:ext uri="{0D108BD9-81ED-4DB2-BD59-A6C34878D82A}">
                    <a16:rowId xmlns:a16="http://schemas.microsoft.com/office/drawing/2014/main" val="10000"/>
                  </a:ext>
                </a:extLst>
              </a:tr>
              <a:tr h="1354836">
                <a:tc>
                  <a:txBody>
                    <a:bodyPr/>
                    <a:lstStyle/>
                    <a:p>
                      <a:pPr>
                        <a:lnSpc>
                          <a:spcPct val="100000"/>
                        </a:lnSpc>
                      </a:pPr>
                      <a:endParaRPr sz="1500">
                        <a:latin typeface="Times New Roman"/>
                        <a:cs typeface="Times New Roman"/>
                      </a:endParaRPr>
                    </a:p>
                  </a:txBody>
                  <a:tcPr marL="0" marR="0" marT="0" marB="0">
                    <a:lnL w="28575">
                      <a:solidFill>
                        <a:srgbClr val="FFFFFF"/>
                      </a:solidFill>
                      <a:prstDash val="solid"/>
                    </a:lnL>
                    <a:lnR w="12700">
                      <a:solidFill>
                        <a:srgbClr val="46AAC5"/>
                      </a:solidFill>
                      <a:prstDash val="solid"/>
                    </a:lnR>
                    <a:lnB w="28575">
                      <a:solidFill>
                        <a:srgbClr val="FFFFFF"/>
                      </a:solidFill>
                      <a:prstDash val="solid"/>
                    </a:lnB>
                    <a:solidFill>
                      <a:srgbClr val="FAD2C1"/>
                    </a:solidFill>
                  </a:tcPr>
                </a:tc>
                <a:tc>
                  <a:txBody>
                    <a:bodyPr/>
                    <a:lstStyle/>
                    <a:p>
                      <a:pPr>
                        <a:lnSpc>
                          <a:spcPct val="100000"/>
                        </a:lnSpc>
                      </a:pPr>
                      <a:endParaRPr sz="1500">
                        <a:latin typeface="Times New Roman"/>
                        <a:cs typeface="Times New Roman"/>
                      </a:endParaRPr>
                    </a:p>
                  </a:txBody>
                  <a:tcPr marL="0" marR="0" marT="0" marB="0">
                    <a:lnL w="12700">
                      <a:solidFill>
                        <a:srgbClr val="46AAC5"/>
                      </a:solidFill>
                      <a:prstDash val="solid"/>
                    </a:lnL>
                    <a:lnR w="28575">
                      <a:solidFill>
                        <a:srgbClr val="FFFFFF"/>
                      </a:solidFill>
                      <a:prstDash val="solid"/>
                    </a:lnR>
                    <a:lnT w="12700">
                      <a:solidFill>
                        <a:srgbClr val="46AAC5"/>
                      </a:solidFill>
                      <a:prstDash val="solid"/>
                    </a:lnT>
                    <a:lnB w="28575">
                      <a:solidFill>
                        <a:srgbClr val="FFFFFF"/>
                      </a:solidFill>
                      <a:prstDash val="solid"/>
                    </a:lnB>
                    <a:solidFill>
                      <a:srgbClr val="FAD2C1"/>
                    </a:solidFill>
                  </a:tcPr>
                </a:tc>
                <a:tc>
                  <a:txBody>
                    <a:bodyPr/>
                    <a:lstStyle/>
                    <a:p>
                      <a:pPr>
                        <a:lnSpc>
                          <a:spcPct val="100000"/>
                        </a:lnSpc>
                        <a:spcBef>
                          <a:spcPts val="10"/>
                        </a:spcBef>
                      </a:pPr>
                      <a:endParaRPr sz="1600">
                        <a:latin typeface="Times New Roman"/>
                        <a:cs typeface="Times New Roman"/>
                      </a:endParaRPr>
                    </a:p>
                    <a:p>
                      <a:pPr marL="72390" marR="174625">
                        <a:lnSpc>
                          <a:spcPct val="90000"/>
                        </a:lnSpc>
                      </a:pPr>
                      <a:r>
                        <a:rPr sz="1400" spc="45" dirty="0">
                          <a:latin typeface="Arial"/>
                          <a:cs typeface="Arial"/>
                        </a:rPr>
                        <a:t>When </a:t>
                      </a:r>
                      <a:r>
                        <a:rPr sz="1400" spc="-15" dirty="0">
                          <a:latin typeface="Arial"/>
                          <a:cs typeface="Arial"/>
                        </a:rPr>
                        <a:t>there </a:t>
                      </a:r>
                      <a:r>
                        <a:rPr sz="1400" spc="-35" dirty="0">
                          <a:latin typeface="Arial"/>
                          <a:cs typeface="Arial"/>
                        </a:rPr>
                        <a:t>is </a:t>
                      </a:r>
                      <a:r>
                        <a:rPr sz="1400" spc="-135" dirty="0">
                          <a:latin typeface="Arial"/>
                          <a:cs typeface="Arial"/>
                        </a:rPr>
                        <a:t>a </a:t>
                      </a:r>
                      <a:r>
                        <a:rPr sz="1400" spc="-50" dirty="0">
                          <a:latin typeface="Arial"/>
                          <a:cs typeface="Arial"/>
                        </a:rPr>
                        <a:t>need </a:t>
                      </a:r>
                      <a:r>
                        <a:rPr sz="1400" spc="35" dirty="0">
                          <a:latin typeface="Arial"/>
                          <a:cs typeface="Arial"/>
                        </a:rPr>
                        <a:t>to </a:t>
                      </a:r>
                      <a:r>
                        <a:rPr sz="1400" spc="-10" dirty="0">
                          <a:latin typeface="Arial"/>
                          <a:cs typeface="Arial"/>
                        </a:rPr>
                        <a:t>optimize  </a:t>
                      </a:r>
                      <a:r>
                        <a:rPr sz="1400" spc="-55" dirty="0">
                          <a:latin typeface="Arial"/>
                          <a:cs typeface="Arial"/>
                        </a:rPr>
                        <a:t>resources, </a:t>
                      </a:r>
                      <a:r>
                        <a:rPr sz="1400" spc="-35" dirty="0">
                          <a:latin typeface="Arial"/>
                          <a:cs typeface="Arial"/>
                        </a:rPr>
                        <a:t>queries </a:t>
                      </a:r>
                      <a:r>
                        <a:rPr sz="1400" spc="60" dirty="0">
                          <a:latin typeface="Arial"/>
                          <a:cs typeface="Arial"/>
                        </a:rPr>
                        <a:t>with </a:t>
                      </a:r>
                      <a:r>
                        <a:rPr sz="1400" spc="-135" dirty="0">
                          <a:latin typeface="Arial"/>
                          <a:cs typeface="Arial"/>
                        </a:rPr>
                        <a:t>a </a:t>
                      </a:r>
                      <a:r>
                        <a:rPr sz="1400" spc="5" dirty="0">
                          <a:latin typeface="Arial"/>
                          <a:cs typeface="Arial"/>
                        </a:rPr>
                        <a:t>lower</a:t>
                      </a:r>
                      <a:r>
                        <a:rPr sz="1400" spc="-290" dirty="0">
                          <a:latin typeface="Arial"/>
                          <a:cs typeface="Arial"/>
                        </a:rPr>
                        <a:t> </a:t>
                      </a:r>
                      <a:r>
                        <a:rPr sz="1400" spc="-15" dirty="0">
                          <a:latin typeface="Arial"/>
                          <a:cs typeface="Arial"/>
                        </a:rPr>
                        <a:t>frequency  </a:t>
                      </a:r>
                      <a:r>
                        <a:rPr sz="1400" spc="35" dirty="0">
                          <a:latin typeface="Arial"/>
                          <a:cs typeface="Arial"/>
                        </a:rPr>
                        <a:t>of </a:t>
                      </a:r>
                      <a:r>
                        <a:rPr sz="1400" spc="-5" dirty="0">
                          <a:latin typeface="Arial"/>
                          <a:cs typeface="Arial"/>
                        </a:rPr>
                        <a:t>execution </a:t>
                      </a:r>
                      <a:r>
                        <a:rPr sz="1400" spc="-55" dirty="0">
                          <a:latin typeface="Arial"/>
                          <a:cs typeface="Arial"/>
                        </a:rPr>
                        <a:t>can </a:t>
                      </a:r>
                      <a:r>
                        <a:rPr sz="1400" spc="-75" dirty="0">
                          <a:latin typeface="Arial"/>
                          <a:cs typeface="Arial"/>
                        </a:rPr>
                        <a:t>be </a:t>
                      </a:r>
                      <a:r>
                        <a:rPr sz="1400" spc="25" dirty="0">
                          <a:latin typeface="Arial"/>
                          <a:cs typeface="Arial"/>
                        </a:rPr>
                        <a:t>identified </a:t>
                      </a:r>
                      <a:r>
                        <a:rPr sz="1400" spc="-30" dirty="0">
                          <a:latin typeface="Arial"/>
                          <a:cs typeface="Arial"/>
                        </a:rPr>
                        <a:t>and  </a:t>
                      </a:r>
                      <a:r>
                        <a:rPr sz="1400" dirty="0">
                          <a:latin typeface="Arial"/>
                          <a:cs typeface="Arial"/>
                        </a:rPr>
                        <a:t>allocation </a:t>
                      </a:r>
                      <a:r>
                        <a:rPr sz="1400" spc="35" dirty="0">
                          <a:latin typeface="Arial"/>
                          <a:cs typeface="Arial"/>
                        </a:rPr>
                        <a:t>of </a:t>
                      </a:r>
                      <a:r>
                        <a:rPr sz="1400" spc="-60" dirty="0">
                          <a:latin typeface="Arial"/>
                          <a:cs typeface="Arial"/>
                        </a:rPr>
                        <a:t>resources </a:t>
                      </a:r>
                      <a:r>
                        <a:rPr sz="1400" spc="35" dirty="0">
                          <a:latin typeface="Arial"/>
                          <a:cs typeface="Arial"/>
                        </a:rPr>
                        <a:t>to </a:t>
                      </a:r>
                      <a:r>
                        <a:rPr sz="1400" spc="-5" dirty="0">
                          <a:latin typeface="Arial"/>
                          <a:cs typeface="Arial"/>
                        </a:rPr>
                        <a:t>them </a:t>
                      </a:r>
                      <a:r>
                        <a:rPr sz="1400" spc="-55" dirty="0">
                          <a:latin typeface="Arial"/>
                          <a:cs typeface="Arial"/>
                        </a:rPr>
                        <a:t>can </a:t>
                      </a:r>
                      <a:r>
                        <a:rPr sz="1400" spc="-75" dirty="0">
                          <a:latin typeface="Arial"/>
                          <a:cs typeface="Arial"/>
                        </a:rPr>
                        <a:t>be  </a:t>
                      </a:r>
                      <a:r>
                        <a:rPr sz="1400" spc="-5" dirty="0">
                          <a:latin typeface="Arial"/>
                          <a:cs typeface="Arial"/>
                        </a:rPr>
                        <a:t>proactively</a:t>
                      </a:r>
                      <a:r>
                        <a:rPr sz="1400" spc="-75" dirty="0">
                          <a:latin typeface="Arial"/>
                          <a:cs typeface="Arial"/>
                        </a:rPr>
                        <a:t> </a:t>
                      </a:r>
                      <a:r>
                        <a:rPr sz="1400" spc="-15" dirty="0">
                          <a:latin typeface="Arial"/>
                          <a:cs typeface="Arial"/>
                        </a:rPr>
                        <a:t>handled.</a:t>
                      </a:r>
                      <a:endParaRPr sz="1400">
                        <a:latin typeface="Arial"/>
                        <a:cs typeface="Arial"/>
                      </a:endParaRPr>
                    </a:p>
                  </a:txBody>
                  <a:tcPr marL="0" marR="0" marT="1270" marB="0">
                    <a:lnL w="28575">
                      <a:solidFill>
                        <a:srgbClr val="FFFFFF"/>
                      </a:solidFill>
                      <a:prstDash val="solid"/>
                    </a:lnL>
                    <a:lnR w="12700">
                      <a:solidFill>
                        <a:srgbClr val="46AAC5"/>
                      </a:solidFill>
                      <a:prstDash val="solid"/>
                    </a:lnR>
                    <a:lnT w="12700">
                      <a:solidFill>
                        <a:srgbClr val="46AAC5"/>
                      </a:solidFill>
                      <a:prstDash val="solid"/>
                    </a:lnT>
                    <a:solidFill>
                      <a:srgbClr val="FFFFFF"/>
                    </a:solidFill>
                  </a:tcPr>
                </a:tc>
                <a:extLst>
                  <a:ext uri="{0D108BD9-81ED-4DB2-BD59-A6C34878D82A}">
                    <a16:rowId xmlns:a16="http://schemas.microsoft.com/office/drawing/2014/main" val="10001"/>
                  </a:ext>
                </a:extLst>
              </a:tr>
              <a:tr h="140970">
                <a:tc>
                  <a:txBody>
                    <a:bodyPr/>
                    <a:lstStyle/>
                    <a:p>
                      <a:pPr>
                        <a:lnSpc>
                          <a:spcPct val="100000"/>
                        </a:lnSpc>
                      </a:pPr>
                      <a:endParaRPr sz="700">
                        <a:latin typeface="Times New Roman"/>
                        <a:cs typeface="Times New Roman"/>
                      </a:endParaRPr>
                    </a:p>
                  </a:txBody>
                  <a:tcPr marL="0" marR="0" marT="0" marB="0">
                    <a:lnR w="12700">
                      <a:solidFill>
                        <a:srgbClr val="46AAC5"/>
                      </a:solidFill>
                      <a:prstDash val="solid"/>
                    </a:lnR>
                    <a:lnT w="28575">
                      <a:solidFill>
                        <a:srgbClr val="FFFFFF"/>
                      </a:solidFill>
                      <a:prstDash val="solid"/>
                    </a:lnT>
                  </a:tcPr>
                </a:tc>
                <a:tc gridSpan="2">
                  <a:txBody>
                    <a:bodyPr/>
                    <a:lstStyle/>
                    <a:p>
                      <a:pPr>
                        <a:lnSpc>
                          <a:spcPct val="100000"/>
                        </a:lnSpc>
                      </a:pPr>
                      <a:endParaRPr sz="700">
                        <a:latin typeface="Times New Roman"/>
                        <a:cs typeface="Times New Roman"/>
                      </a:endParaRPr>
                    </a:p>
                  </a:txBody>
                  <a:tcPr marL="0" marR="0" marT="0" marB="0">
                    <a:lnL w="12700">
                      <a:solidFill>
                        <a:srgbClr val="46AAC5"/>
                      </a:solidFill>
                      <a:prstDash val="solid"/>
                    </a:lnL>
                    <a:lnR w="12700">
                      <a:solidFill>
                        <a:srgbClr val="46AAC5"/>
                      </a:solidFill>
                      <a:prstDash val="solid"/>
                    </a:lnR>
                    <a:lnT w="28575" cap="flat" cmpd="sng" algn="ctr">
                      <a:solidFill>
                        <a:srgbClr val="FFFFFF"/>
                      </a:solidFill>
                      <a:prstDash val="solid"/>
                      <a:round/>
                      <a:headEnd type="none" w="med" len="med"/>
                      <a:tailEnd type="none" w="med" len="med"/>
                    </a:lnT>
                    <a:lnB w="12700">
                      <a:solidFill>
                        <a:srgbClr val="46AAC5"/>
                      </a:solidFill>
                      <a:prstDash val="solid"/>
                    </a:lnB>
                    <a:solidFill>
                      <a:srgbClr val="FFFFFF"/>
                    </a:solidFill>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959" y="1778"/>
            <a:ext cx="3732529" cy="635635"/>
          </a:xfrm>
          <a:prstGeom prst="rect">
            <a:avLst/>
          </a:prstGeom>
        </p:spPr>
        <p:txBody>
          <a:bodyPr vert="horz" wrap="square" lIns="0" tIns="12700" rIns="0" bIns="0" rtlCol="0">
            <a:spAutoFit/>
          </a:bodyPr>
          <a:lstStyle/>
          <a:p>
            <a:pPr marL="12700">
              <a:lnSpc>
                <a:spcPct val="100000"/>
              </a:lnSpc>
              <a:spcBef>
                <a:spcPts val="100"/>
              </a:spcBef>
            </a:pPr>
            <a:r>
              <a:rPr sz="4000" b="0" spc="-5" dirty="0">
                <a:latin typeface="Arial"/>
                <a:cs typeface="Arial"/>
              </a:rPr>
              <a:t>Stretch</a:t>
            </a:r>
            <a:r>
              <a:rPr sz="4000" b="0" spc="-340" dirty="0">
                <a:latin typeface="Arial"/>
                <a:cs typeface="Arial"/>
              </a:rPr>
              <a:t> </a:t>
            </a:r>
            <a:r>
              <a:rPr sz="4000" b="0" spc="-180" dirty="0">
                <a:latin typeface="Arial"/>
                <a:cs typeface="Arial"/>
              </a:rPr>
              <a:t>Database</a:t>
            </a:r>
            <a:endParaRPr sz="4000">
              <a:latin typeface="Arial"/>
              <a:cs typeface="Arial"/>
            </a:endParaRPr>
          </a:p>
        </p:txBody>
      </p:sp>
      <p:sp>
        <p:nvSpPr>
          <p:cNvPr id="3" name="object 3"/>
          <p:cNvSpPr/>
          <p:nvPr/>
        </p:nvSpPr>
        <p:spPr>
          <a:xfrm>
            <a:off x="327660" y="940307"/>
            <a:ext cx="8488680" cy="1682750"/>
          </a:xfrm>
          <a:custGeom>
            <a:avLst/>
            <a:gdLst/>
            <a:ahLst/>
            <a:cxnLst/>
            <a:rect l="l" t="t" r="r" b="b"/>
            <a:pathLst>
              <a:path w="8488680" h="1682750">
                <a:moveTo>
                  <a:pt x="8488680" y="280416"/>
                </a:moveTo>
                <a:lnTo>
                  <a:pt x="8484997" y="234950"/>
                </a:lnTo>
                <a:lnTo>
                  <a:pt x="8474367" y="191808"/>
                </a:lnTo>
                <a:lnTo>
                  <a:pt x="8457362" y="151574"/>
                </a:lnTo>
                <a:lnTo>
                  <a:pt x="8434553" y="114833"/>
                </a:lnTo>
                <a:lnTo>
                  <a:pt x="8406524" y="82156"/>
                </a:lnTo>
                <a:lnTo>
                  <a:pt x="8373846" y="54127"/>
                </a:lnTo>
                <a:lnTo>
                  <a:pt x="8337105" y="31318"/>
                </a:lnTo>
                <a:lnTo>
                  <a:pt x="8296872" y="14312"/>
                </a:lnTo>
                <a:lnTo>
                  <a:pt x="8253730" y="3683"/>
                </a:lnTo>
                <a:lnTo>
                  <a:pt x="8208264" y="0"/>
                </a:lnTo>
                <a:lnTo>
                  <a:pt x="280416" y="0"/>
                </a:lnTo>
                <a:lnTo>
                  <a:pt x="234924" y="3683"/>
                </a:lnTo>
                <a:lnTo>
                  <a:pt x="191782" y="14312"/>
                </a:lnTo>
                <a:lnTo>
                  <a:pt x="151549" y="31318"/>
                </a:lnTo>
                <a:lnTo>
                  <a:pt x="114808" y="54127"/>
                </a:lnTo>
                <a:lnTo>
                  <a:pt x="82130" y="82156"/>
                </a:lnTo>
                <a:lnTo>
                  <a:pt x="54102" y="114833"/>
                </a:lnTo>
                <a:lnTo>
                  <a:pt x="31292" y="151574"/>
                </a:lnTo>
                <a:lnTo>
                  <a:pt x="14287" y="191808"/>
                </a:lnTo>
                <a:lnTo>
                  <a:pt x="3670" y="234950"/>
                </a:lnTo>
                <a:lnTo>
                  <a:pt x="0" y="280416"/>
                </a:lnTo>
                <a:lnTo>
                  <a:pt x="0" y="1402080"/>
                </a:lnTo>
                <a:lnTo>
                  <a:pt x="3670" y="1447558"/>
                </a:lnTo>
                <a:lnTo>
                  <a:pt x="14287" y="1490700"/>
                </a:lnTo>
                <a:lnTo>
                  <a:pt x="31292" y="1530934"/>
                </a:lnTo>
                <a:lnTo>
                  <a:pt x="54102" y="1567675"/>
                </a:lnTo>
                <a:lnTo>
                  <a:pt x="82130" y="1600352"/>
                </a:lnTo>
                <a:lnTo>
                  <a:pt x="114808" y="1628381"/>
                </a:lnTo>
                <a:lnTo>
                  <a:pt x="151549" y="1651190"/>
                </a:lnTo>
                <a:lnTo>
                  <a:pt x="191782" y="1668195"/>
                </a:lnTo>
                <a:lnTo>
                  <a:pt x="234924" y="1678825"/>
                </a:lnTo>
                <a:lnTo>
                  <a:pt x="280416" y="1682496"/>
                </a:lnTo>
                <a:lnTo>
                  <a:pt x="8208264" y="1682496"/>
                </a:lnTo>
                <a:lnTo>
                  <a:pt x="8253730" y="1678825"/>
                </a:lnTo>
                <a:lnTo>
                  <a:pt x="8296872" y="1668195"/>
                </a:lnTo>
                <a:lnTo>
                  <a:pt x="8337105" y="1651190"/>
                </a:lnTo>
                <a:lnTo>
                  <a:pt x="8373846" y="1628381"/>
                </a:lnTo>
                <a:lnTo>
                  <a:pt x="8406524" y="1600352"/>
                </a:lnTo>
                <a:lnTo>
                  <a:pt x="8434553" y="1567675"/>
                </a:lnTo>
                <a:lnTo>
                  <a:pt x="8457362" y="1530934"/>
                </a:lnTo>
                <a:lnTo>
                  <a:pt x="8474367" y="1490700"/>
                </a:lnTo>
                <a:lnTo>
                  <a:pt x="8484997" y="1447558"/>
                </a:lnTo>
                <a:lnTo>
                  <a:pt x="8488680" y="1402080"/>
                </a:lnTo>
                <a:lnTo>
                  <a:pt x="8488680" y="280416"/>
                </a:lnTo>
                <a:close/>
              </a:path>
            </a:pathLst>
          </a:custGeom>
          <a:solidFill>
            <a:srgbClr val="9BBA58"/>
          </a:solidFill>
        </p:spPr>
        <p:txBody>
          <a:bodyPr wrap="square" lIns="0" tIns="0" rIns="0" bIns="0" rtlCol="0"/>
          <a:lstStyle/>
          <a:p>
            <a:endParaRPr/>
          </a:p>
        </p:txBody>
      </p:sp>
      <p:sp>
        <p:nvSpPr>
          <p:cNvPr id="4" name="object 4"/>
          <p:cNvSpPr txBox="1"/>
          <p:nvPr/>
        </p:nvSpPr>
        <p:spPr>
          <a:xfrm>
            <a:off x="657351" y="1121918"/>
            <a:ext cx="7828915" cy="1427480"/>
          </a:xfrm>
          <a:prstGeom prst="rect">
            <a:avLst/>
          </a:prstGeom>
        </p:spPr>
        <p:txBody>
          <a:bodyPr vert="horz" wrap="square" lIns="0" tIns="46990" rIns="0" bIns="0" rtlCol="0">
            <a:spAutoFit/>
          </a:bodyPr>
          <a:lstStyle/>
          <a:p>
            <a:pPr marL="355600" marR="5715" indent="-343535" algn="just">
              <a:lnSpc>
                <a:spcPts val="2160"/>
              </a:lnSpc>
              <a:spcBef>
                <a:spcPts val="370"/>
              </a:spcBef>
              <a:buFont typeface="Wingdings"/>
              <a:buChar char=""/>
              <a:tabLst>
                <a:tab pos="356235" algn="l"/>
              </a:tabLst>
            </a:pPr>
            <a:r>
              <a:rPr sz="2000" spc="-5" dirty="0">
                <a:solidFill>
                  <a:srgbClr val="FFFFFF"/>
                </a:solidFill>
                <a:latin typeface="Arial"/>
                <a:cs typeface="Arial"/>
              </a:rPr>
              <a:t>Stretch </a:t>
            </a:r>
            <a:r>
              <a:rPr sz="2000" spc="-90" dirty="0">
                <a:solidFill>
                  <a:srgbClr val="FFFFFF"/>
                </a:solidFill>
                <a:latin typeface="Arial"/>
                <a:cs typeface="Arial"/>
              </a:rPr>
              <a:t>Database </a:t>
            </a:r>
            <a:r>
              <a:rPr sz="2000" spc="-50" dirty="0">
                <a:solidFill>
                  <a:srgbClr val="FFFFFF"/>
                </a:solidFill>
                <a:latin typeface="Arial"/>
                <a:cs typeface="Arial"/>
              </a:rPr>
              <a:t>is </a:t>
            </a:r>
            <a:r>
              <a:rPr sz="2000" spc="-195" dirty="0">
                <a:solidFill>
                  <a:srgbClr val="FFFFFF"/>
                </a:solidFill>
                <a:latin typeface="Arial"/>
                <a:cs typeface="Arial"/>
              </a:rPr>
              <a:t>a</a:t>
            </a:r>
            <a:r>
              <a:rPr sz="2000" spc="165" dirty="0">
                <a:solidFill>
                  <a:srgbClr val="FFFFFF"/>
                </a:solidFill>
                <a:latin typeface="Arial"/>
                <a:cs typeface="Arial"/>
              </a:rPr>
              <a:t> </a:t>
            </a:r>
            <a:r>
              <a:rPr sz="2000" spc="-25" dirty="0">
                <a:solidFill>
                  <a:srgbClr val="FFFFFF"/>
                </a:solidFill>
                <a:latin typeface="Arial"/>
                <a:cs typeface="Arial"/>
              </a:rPr>
              <a:t>new feature </a:t>
            </a:r>
            <a:r>
              <a:rPr sz="2000" spc="75" dirty="0">
                <a:solidFill>
                  <a:srgbClr val="FFFFFF"/>
                </a:solidFill>
                <a:latin typeface="Arial"/>
                <a:cs typeface="Arial"/>
              </a:rPr>
              <a:t>built into </a:t>
            </a:r>
            <a:r>
              <a:rPr sz="2000" spc="20" dirty="0">
                <a:solidFill>
                  <a:srgbClr val="FFFFFF"/>
                </a:solidFill>
                <a:latin typeface="Arial"/>
                <a:cs typeface="Arial"/>
              </a:rPr>
              <a:t>SQL </a:t>
            </a:r>
            <a:r>
              <a:rPr sz="2000" spc="-50" dirty="0">
                <a:solidFill>
                  <a:srgbClr val="FFFFFF"/>
                </a:solidFill>
                <a:latin typeface="Arial"/>
                <a:cs typeface="Arial"/>
              </a:rPr>
              <a:t>Server </a:t>
            </a:r>
            <a:r>
              <a:rPr sz="2000" spc="30" dirty="0">
                <a:solidFill>
                  <a:srgbClr val="FFFFFF"/>
                </a:solidFill>
                <a:latin typeface="Arial"/>
                <a:cs typeface="Arial"/>
              </a:rPr>
              <a:t>that  </a:t>
            </a:r>
            <a:r>
              <a:rPr sz="2000" spc="-15" dirty="0">
                <a:solidFill>
                  <a:srgbClr val="FFFFFF"/>
                </a:solidFill>
                <a:latin typeface="Arial"/>
                <a:cs typeface="Arial"/>
              </a:rPr>
              <a:t>facilitates</a:t>
            </a:r>
            <a:r>
              <a:rPr sz="2000" spc="-125" dirty="0">
                <a:solidFill>
                  <a:srgbClr val="FFFFFF"/>
                </a:solidFill>
                <a:latin typeface="Arial"/>
                <a:cs typeface="Arial"/>
              </a:rPr>
              <a:t> </a:t>
            </a:r>
            <a:r>
              <a:rPr sz="2000" spc="-80" dirty="0">
                <a:solidFill>
                  <a:srgbClr val="FFFFFF"/>
                </a:solidFill>
                <a:latin typeface="Arial"/>
                <a:cs typeface="Arial"/>
              </a:rPr>
              <a:t>storage</a:t>
            </a:r>
            <a:r>
              <a:rPr sz="2000" spc="-114" dirty="0">
                <a:solidFill>
                  <a:srgbClr val="FFFFFF"/>
                </a:solidFill>
                <a:latin typeface="Arial"/>
                <a:cs typeface="Arial"/>
              </a:rPr>
              <a:t> </a:t>
            </a:r>
            <a:r>
              <a:rPr sz="2000" spc="50" dirty="0">
                <a:solidFill>
                  <a:srgbClr val="FFFFFF"/>
                </a:solidFill>
                <a:latin typeface="Arial"/>
                <a:cs typeface="Arial"/>
              </a:rPr>
              <a:t>of</a:t>
            </a:r>
            <a:r>
              <a:rPr sz="2000" spc="-130" dirty="0">
                <a:solidFill>
                  <a:srgbClr val="FFFFFF"/>
                </a:solidFill>
                <a:latin typeface="Arial"/>
                <a:cs typeface="Arial"/>
              </a:rPr>
              <a:t> </a:t>
            </a:r>
            <a:r>
              <a:rPr sz="2000" spc="-195" dirty="0">
                <a:solidFill>
                  <a:srgbClr val="FFFFFF"/>
                </a:solidFill>
                <a:latin typeface="Arial"/>
                <a:cs typeface="Arial"/>
              </a:rPr>
              <a:t>a</a:t>
            </a:r>
            <a:r>
              <a:rPr sz="2000" spc="-130" dirty="0">
                <a:solidFill>
                  <a:srgbClr val="FFFFFF"/>
                </a:solidFill>
                <a:latin typeface="Arial"/>
                <a:cs typeface="Arial"/>
              </a:rPr>
              <a:t> </a:t>
            </a:r>
            <a:r>
              <a:rPr sz="2000" dirty="0">
                <a:solidFill>
                  <a:srgbClr val="FFFFFF"/>
                </a:solidFill>
                <a:latin typeface="Arial"/>
                <a:cs typeface="Arial"/>
              </a:rPr>
              <a:t>part</a:t>
            </a:r>
            <a:r>
              <a:rPr sz="2000" spc="-120" dirty="0">
                <a:solidFill>
                  <a:srgbClr val="FFFFFF"/>
                </a:solidFill>
                <a:latin typeface="Arial"/>
                <a:cs typeface="Arial"/>
              </a:rPr>
              <a:t> </a:t>
            </a:r>
            <a:r>
              <a:rPr sz="2000" spc="50" dirty="0">
                <a:solidFill>
                  <a:srgbClr val="FFFFFF"/>
                </a:solidFill>
                <a:latin typeface="Arial"/>
                <a:cs typeface="Arial"/>
              </a:rPr>
              <a:t>of</a:t>
            </a:r>
            <a:r>
              <a:rPr sz="2000" spc="-125" dirty="0">
                <a:solidFill>
                  <a:srgbClr val="FFFFFF"/>
                </a:solidFill>
                <a:latin typeface="Arial"/>
                <a:cs typeface="Arial"/>
              </a:rPr>
              <a:t> </a:t>
            </a:r>
            <a:r>
              <a:rPr sz="2000" spc="-195" dirty="0">
                <a:solidFill>
                  <a:srgbClr val="FFFFFF"/>
                </a:solidFill>
                <a:latin typeface="Arial"/>
                <a:cs typeface="Arial"/>
              </a:rPr>
              <a:t>a</a:t>
            </a:r>
            <a:r>
              <a:rPr sz="2000" spc="-130" dirty="0">
                <a:solidFill>
                  <a:srgbClr val="FFFFFF"/>
                </a:solidFill>
                <a:latin typeface="Arial"/>
                <a:cs typeface="Arial"/>
              </a:rPr>
              <a:t> </a:t>
            </a:r>
            <a:r>
              <a:rPr sz="2000" spc="-105" dirty="0">
                <a:solidFill>
                  <a:srgbClr val="FFFFFF"/>
                </a:solidFill>
                <a:latin typeface="Arial"/>
                <a:cs typeface="Arial"/>
              </a:rPr>
              <a:t>database</a:t>
            </a:r>
            <a:r>
              <a:rPr sz="2000" spc="-110" dirty="0">
                <a:solidFill>
                  <a:srgbClr val="FFFFFF"/>
                </a:solidFill>
                <a:latin typeface="Arial"/>
                <a:cs typeface="Arial"/>
              </a:rPr>
              <a:t> </a:t>
            </a:r>
            <a:r>
              <a:rPr sz="2000" spc="95" dirty="0">
                <a:solidFill>
                  <a:srgbClr val="FFFFFF"/>
                </a:solidFill>
                <a:latin typeface="Arial"/>
                <a:cs typeface="Arial"/>
              </a:rPr>
              <a:t>in</a:t>
            </a:r>
            <a:r>
              <a:rPr sz="2000" spc="-130" dirty="0">
                <a:solidFill>
                  <a:srgbClr val="FFFFFF"/>
                </a:solidFill>
                <a:latin typeface="Arial"/>
                <a:cs typeface="Arial"/>
              </a:rPr>
              <a:t> </a:t>
            </a:r>
            <a:r>
              <a:rPr sz="2000" dirty="0">
                <a:solidFill>
                  <a:srgbClr val="FFFFFF"/>
                </a:solidFill>
                <a:latin typeface="Arial"/>
                <a:cs typeface="Arial"/>
              </a:rPr>
              <a:t>the</a:t>
            </a:r>
            <a:r>
              <a:rPr sz="2000" spc="-125" dirty="0">
                <a:solidFill>
                  <a:srgbClr val="FFFFFF"/>
                </a:solidFill>
                <a:latin typeface="Arial"/>
                <a:cs typeface="Arial"/>
              </a:rPr>
              <a:t> </a:t>
            </a:r>
            <a:r>
              <a:rPr sz="2000" dirty="0">
                <a:solidFill>
                  <a:srgbClr val="FFFFFF"/>
                </a:solidFill>
                <a:latin typeface="Arial"/>
                <a:cs typeface="Arial"/>
              </a:rPr>
              <a:t>cloud.</a:t>
            </a:r>
            <a:endParaRPr sz="2000">
              <a:latin typeface="Arial"/>
              <a:cs typeface="Arial"/>
            </a:endParaRPr>
          </a:p>
          <a:p>
            <a:pPr marL="355600" marR="5080" indent="-343535" algn="just">
              <a:lnSpc>
                <a:spcPts val="2160"/>
              </a:lnSpc>
              <a:buFont typeface="Wingdings"/>
              <a:buChar char=""/>
              <a:tabLst>
                <a:tab pos="356235" algn="l"/>
              </a:tabLst>
            </a:pPr>
            <a:r>
              <a:rPr sz="2000" spc="70" dirty="0">
                <a:solidFill>
                  <a:srgbClr val="FFFFFF"/>
                </a:solidFill>
                <a:latin typeface="Arial"/>
                <a:cs typeface="Arial"/>
              </a:rPr>
              <a:t>When </a:t>
            </a:r>
            <a:r>
              <a:rPr sz="2000" spc="-20" dirty="0">
                <a:solidFill>
                  <a:srgbClr val="FFFFFF"/>
                </a:solidFill>
                <a:latin typeface="Arial"/>
                <a:cs typeface="Arial"/>
              </a:rPr>
              <a:t>there </a:t>
            </a:r>
            <a:r>
              <a:rPr sz="2000" spc="-50" dirty="0">
                <a:solidFill>
                  <a:srgbClr val="FFFFFF"/>
                </a:solidFill>
                <a:latin typeface="Arial"/>
                <a:cs typeface="Arial"/>
              </a:rPr>
              <a:t>is </a:t>
            </a:r>
            <a:r>
              <a:rPr sz="2000" spc="-195" dirty="0">
                <a:solidFill>
                  <a:srgbClr val="FFFFFF"/>
                </a:solidFill>
                <a:latin typeface="Arial"/>
                <a:cs typeface="Arial"/>
              </a:rPr>
              <a:t>a</a:t>
            </a:r>
            <a:r>
              <a:rPr sz="2000" spc="165" dirty="0">
                <a:solidFill>
                  <a:srgbClr val="FFFFFF"/>
                </a:solidFill>
                <a:latin typeface="Arial"/>
                <a:cs typeface="Arial"/>
              </a:rPr>
              <a:t> </a:t>
            </a:r>
            <a:r>
              <a:rPr sz="2000" spc="-70" dirty="0">
                <a:solidFill>
                  <a:srgbClr val="FFFFFF"/>
                </a:solidFill>
                <a:latin typeface="Arial"/>
                <a:cs typeface="Arial"/>
              </a:rPr>
              <a:t>need </a:t>
            </a:r>
            <a:r>
              <a:rPr sz="2000" spc="55" dirty="0">
                <a:solidFill>
                  <a:srgbClr val="FFFFFF"/>
                </a:solidFill>
                <a:latin typeface="Arial"/>
                <a:cs typeface="Arial"/>
              </a:rPr>
              <a:t>to </a:t>
            </a:r>
            <a:r>
              <a:rPr sz="2000" spc="5" dirty="0">
                <a:solidFill>
                  <a:srgbClr val="FFFFFF"/>
                </a:solidFill>
                <a:latin typeface="Arial"/>
                <a:cs typeface="Arial"/>
              </a:rPr>
              <a:t>retain </a:t>
            </a:r>
            <a:r>
              <a:rPr sz="2000" spc="-60" dirty="0">
                <a:solidFill>
                  <a:srgbClr val="FFFFFF"/>
                </a:solidFill>
                <a:latin typeface="Arial"/>
                <a:cs typeface="Arial"/>
              </a:rPr>
              <a:t>data </a:t>
            </a:r>
            <a:r>
              <a:rPr sz="2000" spc="65" dirty="0">
                <a:solidFill>
                  <a:srgbClr val="FFFFFF"/>
                </a:solidFill>
                <a:latin typeface="Arial"/>
                <a:cs typeface="Arial"/>
              </a:rPr>
              <a:t>for </a:t>
            </a:r>
            <a:r>
              <a:rPr sz="2000" spc="-195" dirty="0">
                <a:solidFill>
                  <a:srgbClr val="FFFFFF"/>
                </a:solidFill>
                <a:latin typeface="Arial"/>
                <a:cs typeface="Arial"/>
              </a:rPr>
              <a:t>a  </a:t>
            </a:r>
            <a:r>
              <a:rPr sz="2000" spc="-15" dirty="0">
                <a:solidFill>
                  <a:srgbClr val="FFFFFF"/>
                </a:solidFill>
                <a:latin typeface="Arial"/>
                <a:cs typeface="Arial"/>
              </a:rPr>
              <a:t>longer </a:t>
            </a:r>
            <a:r>
              <a:rPr sz="2000" dirty="0">
                <a:solidFill>
                  <a:srgbClr val="FFFFFF"/>
                </a:solidFill>
                <a:latin typeface="Arial"/>
                <a:cs typeface="Arial"/>
              </a:rPr>
              <a:t>time, </a:t>
            </a:r>
            <a:r>
              <a:rPr sz="2000" spc="-5" dirty="0">
                <a:solidFill>
                  <a:srgbClr val="FFFFFF"/>
                </a:solidFill>
                <a:latin typeface="Arial"/>
                <a:cs typeface="Arial"/>
              </a:rPr>
              <a:t>Stretch  </a:t>
            </a:r>
            <a:r>
              <a:rPr sz="2000" spc="-90" dirty="0">
                <a:solidFill>
                  <a:srgbClr val="FFFFFF"/>
                </a:solidFill>
                <a:latin typeface="Arial"/>
                <a:cs typeface="Arial"/>
              </a:rPr>
              <a:t>Database </a:t>
            </a:r>
            <a:r>
              <a:rPr sz="2000" spc="-25" dirty="0">
                <a:solidFill>
                  <a:srgbClr val="FFFFFF"/>
                </a:solidFill>
                <a:latin typeface="Arial"/>
                <a:cs typeface="Arial"/>
              </a:rPr>
              <a:t>feature </a:t>
            </a:r>
            <a:r>
              <a:rPr sz="2000" spc="-85" dirty="0">
                <a:solidFill>
                  <a:srgbClr val="FFFFFF"/>
                </a:solidFill>
                <a:latin typeface="Arial"/>
                <a:cs typeface="Arial"/>
              </a:rPr>
              <a:t>enables </a:t>
            </a:r>
            <a:r>
              <a:rPr sz="2000" spc="-95" dirty="0">
                <a:solidFill>
                  <a:srgbClr val="FFFFFF"/>
                </a:solidFill>
                <a:latin typeface="Arial"/>
                <a:cs typeface="Arial"/>
              </a:rPr>
              <a:t>secure </a:t>
            </a:r>
            <a:r>
              <a:rPr sz="2000" spc="15" dirty="0">
                <a:solidFill>
                  <a:srgbClr val="FFFFFF"/>
                </a:solidFill>
                <a:latin typeface="Arial"/>
                <a:cs typeface="Arial"/>
              </a:rPr>
              <a:t>migration </a:t>
            </a:r>
            <a:r>
              <a:rPr sz="2000" spc="50" dirty="0">
                <a:solidFill>
                  <a:srgbClr val="FFFFFF"/>
                </a:solidFill>
                <a:latin typeface="Arial"/>
                <a:cs typeface="Arial"/>
              </a:rPr>
              <a:t>of </a:t>
            </a:r>
            <a:r>
              <a:rPr sz="2000" spc="-60" dirty="0">
                <a:solidFill>
                  <a:srgbClr val="FFFFFF"/>
                </a:solidFill>
                <a:latin typeface="Arial"/>
                <a:cs typeface="Arial"/>
              </a:rPr>
              <a:t>tables </a:t>
            </a:r>
            <a:r>
              <a:rPr sz="2000" spc="-35" dirty="0">
                <a:solidFill>
                  <a:srgbClr val="FFFFFF"/>
                </a:solidFill>
                <a:latin typeface="Arial"/>
                <a:cs typeface="Arial"/>
              </a:rPr>
              <a:t>and </a:t>
            </a:r>
            <a:r>
              <a:rPr sz="2000" spc="-60" dirty="0">
                <a:solidFill>
                  <a:srgbClr val="FFFFFF"/>
                </a:solidFill>
                <a:latin typeface="Arial"/>
                <a:cs typeface="Arial"/>
              </a:rPr>
              <a:t>data </a:t>
            </a:r>
            <a:r>
              <a:rPr sz="2000" spc="55" dirty="0">
                <a:solidFill>
                  <a:srgbClr val="FFFFFF"/>
                </a:solidFill>
                <a:latin typeface="Arial"/>
                <a:cs typeface="Arial"/>
              </a:rPr>
              <a:t>to </a:t>
            </a:r>
            <a:r>
              <a:rPr sz="2000" dirty="0">
                <a:solidFill>
                  <a:srgbClr val="FFFFFF"/>
                </a:solidFill>
                <a:latin typeface="Arial"/>
                <a:cs typeface="Arial"/>
              </a:rPr>
              <a:t>the  cloud.</a:t>
            </a:r>
            <a:endParaRPr sz="20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17</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object 5"/>
          <p:cNvSpPr txBox="1"/>
          <p:nvPr/>
        </p:nvSpPr>
        <p:spPr>
          <a:xfrm>
            <a:off x="441959" y="2976625"/>
            <a:ext cx="8167370" cy="2901315"/>
          </a:xfrm>
          <a:prstGeom prst="rect">
            <a:avLst/>
          </a:prstGeom>
        </p:spPr>
        <p:txBody>
          <a:bodyPr vert="horz" wrap="square" lIns="0" tIns="12065" rIns="0" bIns="0" rtlCol="0">
            <a:spAutoFit/>
          </a:bodyPr>
          <a:lstStyle/>
          <a:p>
            <a:pPr marL="12700" marR="5715">
              <a:lnSpc>
                <a:spcPct val="100000"/>
              </a:lnSpc>
              <a:spcBef>
                <a:spcPts val="95"/>
              </a:spcBef>
            </a:pPr>
            <a:r>
              <a:rPr sz="2000" spc="-10" dirty="0">
                <a:latin typeface="Arial"/>
                <a:cs typeface="Arial"/>
              </a:rPr>
              <a:t>Moreover, </a:t>
            </a:r>
            <a:r>
              <a:rPr sz="2000" spc="-15" dirty="0">
                <a:latin typeface="Arial"/>
                <a:cs typeface="Arial"/>
              </a:rPr>
              <a:t>applications </a:t>
            </a:r>
            <a:r>
              <a:rPr sz="2000" spc="-75" dirty="0">
                <a:latin typeface="Arial"/>
                <a:cs typeface="Arial"/>
              </a:rPr>
              <a:t>can </a:t>
            </a:r>
            <a:r>
              <a:rPr sz="2000" spc="50" dirty="0">
                <a:latin typeface="Arial"/>
                <a:cs typeface="Arial"/>
              </a:rPr>
              <a:t>still </a:t>
            </a:r>
            <a:r>
              <a:rPr sz="2000" spc="-15" dirty="0">
                <a:latin typeface="Arial"/>
                <a:cs typeface="Arial"/>
              </a:rPr>
              <a:t>query </a:t>
            </a:r>
            <a:r>
              <a:rPr sz="2000" dirty="0">
                <a:latin typeface="Arial"/>
                <a:cs typeface="Arial"/>
              </a:rPr>
              <a:t>the </a:t>
            </a:r>
            <a:r>
              <a:rPr sz="2000" spc="-60" dirty="0">
                <a:latin typeface="Arial"/>
                <a:cs typeface="Arial"/>
              </a:rPr>
              <a:t>data </a:t>
            </a:r>
            <a:r>
              <a:rPr sz="2000" spc="95" dirty="0">
                <a:latin typeface="Arial"/>
                <a:cs typeface="Arial"/>
              </a:rPr>
              <a:t>in </a:t>
            </a:r>
            <a:r>
              <a:rPr sz="2000" dirty="0">
                <a:latin typeface="Arial"/>
                <a:cs typeface="Arial"/>
              </a:rPr>
              <a:t>the </a:t>
            </a:r>
            <a:r>
              <a:rPr sz="2000" spc="-150" dirty="0">
                <a:latin typeface="Arial"/>
                <a:cs typeface="Arial"/>
              </a:rPr>
              <a:t>same </a:t>
            </a:r>
            <a:r>
              <a:rPr sz="2000" spc="-50" dirty="0">
                <a:latin typeface="Arial"/>
                <a:cs typeface="Arial"/>
              </a:rPr>
              <a:t>way </a:t>
            </a:r>
            <a:r>
              <a:rPr sz="2000" spc="-204" dirty="0">
                <a:latin typeface="Arial"/>
                <a:cs typeface="Arial"/>
              </a:rPr>
              <a:t>as </a:t>
            </a:r>
            <a:r>
              <a:rPr sz="2000" spc="-35" dirty="0">
                <a:latin typeface="Arial"/>
                <a:cs typeface="Arial"/>
              </a:rPr>
              <a:t>before.  </a:t>
            </a:r>
            <a:r>
              <a:rPr sz="2000" spc="-15" dirty="0">
                <a:latin typeface="Arial"/>
                <a:cs typeface="Arial"/>
              </a:rPr>
              <a:t>Enabling</a:t>
            </a:r>
            <a:r>
              <a:rPr sz="2000" spc="-110" dirty="0">
                <a:latin typeface="Arial"/>
                <a:cs typeface="Arial"/>
              </a:rPr>
              <a:t> </a:t>
            </a:r>
            <a:r>
              <a:rPr sz="2000" spc="-5" dirty="0">
                <a:latin typeface="Arial"/>
                <a:cs typeface="Arial"/>
              </a:rPr>
              <a:t>Stretch</a:t>
            </a:r>
            <a:r>
              <a:rPr sz="2000" spc="-120" dirty="0">
                <a:latin typeface="Arial"/>
                <a:cs typeface="Arial"/>
              </a:rPr>
              <a:t> </a:t>
            </a:r>
            <a:r>
              <a:rPr sz="2000" spc="-90" dirty="0">
                <a:latin typeface="Arial"/>
                <a:cs typeface="Arial"/>
              </a:rPr>
              <a:t>Database </a:t>
            </a:r>
            <a:r>
              <a:rPr sz="2000" spc="-25" dirty="0">
                <a:latin typeface="Arial"/>
                <a:cs typeface="Arial"/>
              </a:rPr>
              <a:t>feature</a:t>
            </a:r>
            <a:r>
              <a:rPr sz="2000" spc="-114" dirty="0">
                <a:latin typeface="Arial"/>
                <a:cs typeface="Arial"/>
              </a:rPr>
              <a:t> </a:t>
            </a:r>
            <a:r>
              <a:rPr sz="2000" spc="-105" dirty="0">
                <a:latin typeface="Arial"/>
                <a:cs typeface="Arial"/>
              </a:rPr>
              <a:t>makes</a:t>
            </a:r>
            <a:r>
              <a:rPr sz="2000" spc="-120" dirty="0">
                <a:latin typeface="Arial"/>
                <a:cs typeface="Arial"/>
              </a:rPr>
              <a:t> </a:t>
            </a:r>
            <a:r>
              <a:rPr sz="2000" spc="125" dirty="0">
                <a:latin typeface="Arial"/>
                <a:cs typeface="Arial"/>
              </a:rPr>
              <a:t>it</a:t>
            </a:r>
            <a:r>
              <a:rPr sz="2000" spc="-135" dirty="0">
                <a:latin typeface="Arial"/>
                <a:cs typeface="Arial"/>
              </a:rPr>
              <a:t> </a:t>
            </a:r>
            <a:r>
              <a:rPr sz="2000" spc="-55" dirty="0">
                <a:latin typeface="Arial"/>
                <a:cs typeface="Arial"/>
              </a:rPr>
              <a:t>possible</a:t>
            </a:r>
            <a:r>
              <a:rPr sz="2000" spc="-100" dirty="0">
                <a:latin typeface="Arial"/>
                <a:cs typeface="Arial"/>
              </a:rPr>
              <a:t> </a:t>
            </a:r>
            <a:r>
              <a:rPr sz="2000" spc="50" dirty="0">
                <a:latin typeface="Arial"/>
                <a:cs typeface="Arial"/>
              </a:rPr>
              <a:t>to</a:t>
            </a:r>
            <a:r>
              <a:rPr sz="2000" spc="-120" dirty="0">
                <a:latin typeface="Arial"/>
                <a:cs typeface="Arial"/>
              </a:rPr>
              <a:t> </a:t>
            </a:r>
            <a:r>
              <a:rPr sz="2000" spc="-5" dirty="0">
                <a:latin typeface="Arial"/>
                <a:cs typeface="Arial"/>
              </a:rPr>
              <a:t>do</a:t>
            </a:r>
            <a:r>
              <a:rPr sz="2000" spc="-135" dirty="0">
                <a:latin typeface="Arial"/>
                <a:cs typeface="Arial"/>
              </a:rPr>
              <a:t> </a:t>
            </a:r>
            <a:r>
              <a:rPr sz="2000" dirty="0">
                <a:latin typeface="Arial"/>
                <a:cs typeface="Arial"/>
              </a:rPr>
              <a:t>the</a:t>
            </a:r>
            <a:r>
              <a:rPr sz="2000" spc="-110" dirty="0">
                <a:latin typeface="Arial"/>
                <a:cs typeface="Arial"/>
              </a:rPr>
              <a:t> </a:t>
            </a:r>
            <a:r>
              <a:rPr sz="2000" spc="35" dirty="0">
                <a:latin typeface="Arial"/>
                <a:cs typeface="Arial"/>
              </a:rPr>
              <a:t>following:</a:t>
            </a:r>
            <a:endParaRPr sz="2000">
              <a:latin typeface="Arial"/>
              <a:cs typeface="Arial"/>
            </a:endParaRPr>
          </a:p>
          <a:p>
            <a:pPr marL="12700" marR="5080">
              <a:lnSpc>
                <a:spcPct val="100000"/>
              </a:lnSpc>
              <a:spcBef>
                <a:spcPts val="2485"/>
              </a:spcBef>
              <a:buChar char="-"/>
              <a:tabLst>
                <a:tab pos="153035" algn="l"/>
              </a:tabLst>
            </a:pPr>
            <a:r>
              <a:rPr sz="1600" spc="5" dirty="0">
                <a:latin typeface="Arial"/>
                <a:cs typeface="Arial"/>
              </a:rPr>
              <a:t>Move </a:t>
            </a:r>
            <a:r>
              <a:rPr sz="1600" spc="-15" dirty="0">
                <a:latin typeface="Arial"/>
                <a:cs typeface="Arial"/>
              </a:rPr>
              <a:t>archived </a:t>
            </a:r>
            <a:r>
              <a:rPr sz="1600" spc="-50" dirty="0">
                <a:latin typeface="Arial"/>
                <a:cs typeface="Arial"/>
              </a:rPr>
              <a:t>data </a:t>
            </a:r>
            <a:r>
              <a:rPr sz="1600" spc="-170" dirty="0">
                <a:latin typeface="Arial"/>
                <a:cs typeface="Arial"/>
              </a:rPr>
              <a:t>as </a:t>
            </a:r>
            <a:r>
              <a:rPr sz="1600" spc="20" dirty="0">
                <a:latin typeface="Arial"/>
                <a:cs typeface="Arial"/>
              </a:rPr>
              <a:t>well </a:t>
            </a:r>
            <a:r>
              <a:rPr sz="1600" spc="-165" dirty="0">
                <a:latin typeface="Arial"/>
                <a:cs typeface="Arial"/>
              </a:rPr>
              <a:t>as </a:t>
            </a:r>
            <a:r>
              <a:rPr sz="1600" spc="15" dirty="0">
                <a:latin typeface="Arial"/>
                <a:cs typeface="Arial"/>
              </a:rPr>
              <a:t>current </a:t>
            </a:r>
            <a:r>
              <a:rPr sz="1600" spc="-50" dirty="0">
                <a:latin typeface="Arial"/>
                <a:cs typeface="Arial"/>
              </a:rPr>
              <a:t>data </a:t>
            </a:r>
            <a:r>
              <a:rPr sz="1600" spc="40" dirty="0">
                <a:latin typeface="Arial"/>
                <a:cs typeface="Arial"/>
              </a:rPr>
              <a:t>to </a:t>
            </a:r>
            <a:r>
              <a:rPr sz="1600" dirty="0">
                <a:latin typeface="Arial"/>
                <a:cs typeface="Arial"/>
              </a:rPr>
              <a:t>the </a:t>
            </a:r>
            <a:r>
              <a:rPr sz="1600" spc="10" dirty="0">
                <a:latin typeface="Arial"/>
                <a:cs typeface="Arial"/>
              </a:rPr>
              <a:t>cloud </a:t>
            </a:r>
            <a:r>
              <a:rPr sz="1600" spc="-45" dirty="0">
                <a:latin typeface="Arial"/>
                <a:cs typeface="Arial"/>
              </a:rPr>
              <a:t>securely </a:t>
            </a:r>
            <a:r>
              <a:rPr sz="1600" spc="-15" dirty="0">
                <a:latin typeface="Arial"/>
                <a:cs typeface="Arial"/>
              </a:rPr>
              <a:t>by </a:t>
            </a:r>
            <a:r>
              <a:rPr sz="1600" spc="-20" dirty="0">
                <a:latin typeface="Arial"/>
                <a:cs typeface="Arial"/>
              </a:rPr>
              <a:t>using </a:t>
            </a:r>
            <a:r>
              <a:rPr sz="1600" dirty="0">
                <a:latin typeface="Arial"/>
                <a:cs typeface="Arial"/>
              </a:rPr>
              <a:t>the </a:t>
            </a:r>
            <a:r>
              <a:rPr sz="1600" spc="10" dirty="0">
                <a:latin typeface="Arial"/>
                <a:cs typeface="Arial"/>
              </a:rPr>
              <a:t>encryption  </a:t>
            </a:r>
            <a:r>
              <a:rPr sz="1600" spc="-40" dirty="0">
                <a:latin typeface="Arial"/>
                <a:cs typeface="Arial"/>
              </a:rPr>
              <a:t>features</a:t>
            </a:r>
            <a:endParaRPr sz="1600">
              <a:latin typeface="Arial"/>
              <a:cs typeface="Arial"/>
            </a:endParaRPr>
          </a:p>
          <a:p>
            <a:pPr marL="12700" marR="5080">
              <a:lnSpc>
                <a:spcPct val="100000"/>
              </a:lnSpc>
              <a:buChar char="-"/>
              <a:tabLst>
                <a:tab pos="174625" algn="l"/>
              </a:tabLst>
            </a:pPr>
            <a:r>
              <a:rPr sz="1600" spc="-70" dirty="0">
                <a:latin typeface="Arial"/>
                <a:cs typeface="Arial"/>
              </a:rPr>
              <a:t>Access </a:t>
            </a:r>
            <a:r>
              <a:rPr sz="1600" spc="-30" dirty="0">
                <a:latin typeface="Arial"/>
                <a:cs typeface="Arial"/>
              </a:rPr>
              <a:t>and </a:t>
            </a:r>
            <a:r>
              <a:rPr sz="1600" spc="-10" dirty="0">
                <a:latin typeface="Arial"/>
                <a:cs typeface="Arial"/>
              </a:rPr>
              <a:t>query </a:t>
            </a:r>
            <a:r>
              <a:rPr sz="1600" dirty="0">
                <a:latin typeface="Arial"/>
                <a:cs typeface="Arial"/>
              </a:rPr>
              <a:t>the </a:t>
            </a:r>
            <a:r>
              <a:rPr sz="1600" spc="-50" dirty="0">
                <a:latin typeface="Arial"/>
                <a:cs typeface="Arial"/>
              </a:rPr>
              <a:t>data </a:t>
            </a:r>
            <a:r>
              <a:rPr sz="1600" spc="15" dirty="0">
                <a:latin typeface="Arial"/>
                <a:cs typeface="Arial"/>
              </a:rPr>
              <a:t>on </a:t>
            </a:r>
            <a:r>
              <a:rPr sz="1600" dirty="0">
                <a:latin typeface="Arial"/>
                <a:cs typeface="Arial"/>
              </a:rPr>
              <a:t>the </a:t>
            </a:r>
            <a:r>
              <a:rPr sz="1600" spc="5" dirty="0">
                <a:latin typeface="Arial"/>
                <a:cs typeface="Arial"/>
              </a:rPr>
              <a:t>cloud </a:t>
            </a:r>
            <a:r>
              <a:rPr sz="1600" spc="-30" dirty="0">
                <a:latin typeface="Arial"/>
                <a:cs typeface="Arial"/>
              </a:rPr>
              <a:t>at </a:t>
            </a:r>
            <a:r>
              <a:rPr sz="1600" spc="-40" dirty="0">
                <a:latin typeface="Arial"/>
                <a:cs typeface="Arial"/>
              </a:rPr>
              <a:t>any </a:t>
            </a:r>
            <a:r>
              <a:rPr sz="1600" dirty="0">
                <a:latin typeface="Arial"/>
                <a:cs typeface="Arial"/>
              </a:rPr>
              <a:t>time, </a:t>
            </a:r>
            <a:r>
              <a:rPr sz="1600" spc="55" dirty="0">
                <a:latin typeface="Arial"/>
                <a:cs typeface="Arial"/>
              </a:rPr>
              <a:t>without </a:t>
            </a:r>
            <a:r>
              <a:rPr sz="1600" spc="-35" dirty="0">
                <a:latin typeface="Arial"/>
                <a:cs typeface="Arial"/>
              </a:rPr>
              <a:t>any </a:t>
            </a:r>
            <a:r>
              <a:rPr sz="1600" spc="-80" dirty="0">
                <a:latin typeface="Arial"/>
                <a:cs typeface="Arial"/>
              </a:rPr>
              <a:t>changes </a:t>
            </a:r>
            <a:r>
              <a:rPr sz="1600" spc="40" dirty="0">
                <a:latin typeface="Arial"/>
                <a:cs typeface="Arial"/>
              </a:rPr>
              <a:t>to </a:t>
            </a:r>
            <a:r>
              <a:rPr sz="1600" spc="-5" dirty="0">
                <a:latin typeface="Arial"/>
                <a:cs typeface="Arial"/>
              </a:rPr>
              <a:t>existing  </a:t>
            </a:r>
            <a:r>
              <a:rPr sz="1600" spc="-10" dirty="0">
                <a:latin typeface="Arial"/>
                <a:cs typeface="Arial"/>
              </a:rPr>
              <a:t>applications </a:t>
            </a:r>
            <a:r>
              <a:rPr sz="1600" spc="20" dirty="0">
                <a:latin typeface="Arial"/>
                <a:cs typeface="Arial"/>
              </a:rPr>
              <a:t>or</a:t>
            </a:r>
            <a:r>
              <a:rPr sz="1600" spc="-225" dirty="0">
                <a:latin typeface="Arial"/>
                <a:cs typeface="Arial"/>
              </a:rPr>
              <a:t> </a:t>
            </a:r>
            <a:r>
              <a:rPr sz="1600" spc="-40" dirty="0">
                <a:latin typeface="Arial"/>
                <a:cs typeface="Arial"/>
              </a:rPr>
              <a:t>queries</a:t>
            </a:r>
            <a:endParaRPr sz="1600">
              <a:latin typeface="Arial"/>
              <a:cs typeface="Arial"/>
            </a:endParaRPr>
          </a:p>
          <a:p>
            <a:pPr marL="12700" marR="5715">
              <a:lnSpc>
                <a:spcPct val="100000"/>
              </a:lnSpc>
              <a:buChar char="-"/>
              <a:tabLst>
                <a:tab pos="151765" algn="l"/>
              </a:tabLst>
            </a:pPr>
            <a:r>
              <a:rPr sz="1600" spc="-55" dirty="0">
                <a:latin typeface="Arial"/>
                <a:cs typeface="Arial"/>
              </a:rPr>
              <a:t>Reduce </a:t>
            </a:r>
            <a:r>
              <a:rPr sz="1600" spc="-65" dirty="0">
                <a:latin typeface="Arial"/>
                <a:cs typeface="Arial"/>
              </a:rPr>
              <a:t>storage </a:t>
            </a:r>
            <a:r>
              <a:rPr sz="1600" spc="-15" dirty="0">
                <a:latin typeface="Arial"/>
                <a:cs typeface="Arial"/>
              </a:rPr>
              <a:t>requirements </a:t>
            </a:r>
            <a:r>
              <a:rPr sz="1600" spc="40" dirty="0">
                <a:latin typeface="Arial"/>
                <a:cs typeface="Arial"/>
              </a:rPr>
              <a:t>of </a:t>
            </a:r>
            <a:r>
              <a:rPr sz="1600" spc="-30" dirty="0">
                <a:latin typeface="Arial"/>
                <a:cs typeface="Arial"/>
              </a:rPr>
              <a:t>on-premise </a:t>
            </a:r>
            <a:r>
              <a:rPr sz="1600" spc="-50" dirty="0">
                <a:latin typeface="Arial"/>
                <a:cs typeface="Arial"/>
              </a:rPr>
              <a:t>data </a:t>
            </a:r>
            <a:r>
              <a:rPr sz="1600" spc="-15" dirty="0">
                <a:latin typeface="Arial"/>
                <a:cs typeface="Arial"/>
              </a:rPr>
              <a:t>by </a:t>
            </a:r>
            <a:r>
              <a:rPr sz="1600" spc="-25" dirty="0">
                <a:latin typeface="Arial"/>
                <a:cs typeface="Arial"/>
              </a:rPr>
              <a:t>using </a:t>
            </a:r>
            <a:r>
              <a:rPr sz="1600" dirty="0">
                <a:latin typeface="Arial"/>
                <a:cs typeface="Arial"/>
              </a:rPr>
              <a:t>the </a:t>
            </a:r>
            <a:r>
              <a:rPr sz="1600" spc="-50" dirty="0">
                <a:latin typeface="Arial"/>
                <a:cs typeface="Arial"/>
              </a:rPr>
              <a:t>vast </a:t>
            </a:r>
            <a:r>
              <a:rPr sz="1600" spc="-65" dirty="0">
                <a:latin typeface="Arial"/>
                <a:cs typeface="Arial"/>
              </a:rPr>
              <a:t>storage </a:t>
            </a:r>
            <a:r>
              <a:rPr sz="1600" spc="-35" dirty="0">
                <a:latin typeface="Arial"/>
                <a:cs typeface="Arial"/>
              </a:rPr>
              <a:t>capacity </a:t>
            </a:r>
            <a:r>
              <a:rPr sz="1600" spc="40" dirty="0">
                <a:latin typeface="Arial"/>
                <a:cs typeface="Arial"/>
              </a:rPr>
              <a:t>of </a:t>
            </a:r>
            <a:r>
              <a:rPr sz="1600" dirty="0">
                <a:latin typeface="Arial"/>
                <a:cs typeface="Arial"/>
              </a:rPr>
              <a:t>the  </a:t>
            </a:r>
            <a:r>
              <a:rPr sz="1600" spc="10" dirty="0">
                <a:latin typeface="Arial"/>
                <a:cs typeface="Arial"/>
              </a:rPr>
              <a:t>cloud</a:t>
            </a:r>
            <a:endParaRPr sz="1600">
              <a:latin typeface="Arial"/>
              <a:cs typeface="Arial"/>
            </a:endParaRPr>
          </a:p>
          <a:p>
            <a:pPr marL="12700" marR="5715">
              <a:lnSpc>
                <a:spcPct val="100000"/>
              </a:lnSpc>
              <a:buChar char="-"/>
              <a:tabLst>
                <a:tab pos="133985" algn="l"/>
              </a:tabLst>
            </a:pPr>
            <a:r>
              <a:rPr sz="1600" spc="-55" dirty="0">
                <a:latin typeface="Arial"/>
                <a:cs typeface="Arial"/>
              </a:rPr>
              <a:t>Reduce </a:t>
            </a:r>
            <a:r>
              <a:rPr sz="1600" spc="-50" dirty="0">
                <a:latin typeface="Arial"/>
                <a:cs typeface="Arial"/>
              </a:rPr>
              <a:t>processing </a:t>
            </a:r>
            <a:r>
              <a:rPr sz="1600" dirty="0">
                <a:latin typeface="Arial"/>
                <a:cs typeface="Arial"/>
              </a:rPr>
              <a:t>burden </a:t>
            </a:r>
            <a:r>
              <a:rPr sz="1600" spc="15" dirty="0">
                <a:latin typeface="Arial"/>
                <a:cs typeface="Arial"/>
              </a:rPr>
              <a:t>on </a:t>
            </a:r>
            <a:r>
              <a:rPr sz="1600" dirty="0">
                <a:latin typeface="Arial"/>
                <a:cs typeface="Arial"/>
              </a:rPr>
              <a:t>the </a:t>
            </a:r>
            <a:r>
              <a:rPr sz="1600" spc="-25" dirty="0">
                <a:latin typeface="Arial"/>
                <a:cs typeface="Arial"/>
              </a:rPr>
              <a:t>on-premise </a:t>
            </a:r>
            <a:r>
              <a:rPr sz="1600" spc="-50" dirty="0">
                <a:latin typeface="Arial"/>
                <a:cs typeface="Arial"/>
              </a:rPr>
              <a:t>data </a:t>
            </a:r>
            <a:r>
              <a:rPr sz="1600" spc="-15" dirty="0">
                <a:latin typeface="Arial"/>
                <a:cs typeface="Arial"/>
              </a:rPr>
              <a:t>by </a:t>
            </a:r>
            <a:r>
              <a:rPr sz="1600" spc="35" dirty="0">
                <a:latin typeface="Arial"/>
                <a:cs typeface="Arial"/>
              </a:rPr>
              <a:t>running </a:t>
            </a:r>
            <a:r>
              <a:rPr sz="1600" dirty="0">
                <a:latin typeface="Arial"/>
                <a:cs typeface="Arial"/>
              </a:rPr>
              <a:t>the </a:t>
            </a:r>
            <a:r>
              <a:rPr sz="1600" spc="-95" dirty="0">
                <a:latin typeface="Arial"/>
                <a:cs typeface="Arial"/>
              </a:rPr>
              <a:t>processes </a:t>
            </a:r>
            <a:r>
              <a:rPr sz="1600" spc="15" dirty="0">
                <a:latin typeface="Arial"/>
                <a:cs typeface="Arial"/>
              </a:rPr>
              <a:t>on </a:t>
            </a:r>
            <a:r>
              <a:rPr sz="1600" dirty="0">
                <a:latin typeface="Arial"/>
                <a:cs typeface="Arial"/>
              </a:rPr>
              <a:t>the </a:t>
            </a:r>
            <a:r>
              <a:rPr sz="1600" spc="10" dirty="0">
                <a:latin typeface="Arial"/>
                <a:cs typeface="Arial"/>
              </a:rPr>
              <a:t>cloud</a:t>
            </a:r>
            <a:r>
              <a:rPr sz="1600" spc="-325" dirty="0">
                <a:latin typeface="Arial"/>
                <a:cs typeface="Arial"/>
              </a:rPr>
              <a:t> </a:t>
            </a:r>
            <a:r>
              <a:rPr sz="1600" spc="70" dirty="0">
                <a:latin typeface="Arial"/>
                <a:cs typeface="Arial"/>
              </a:rPr>
              <a:t>in  </a:t>
            </a:r>
            <a:r>
              <a:rPr sz="1600" spc="-155" dirty="0">
                <a:latin typeface="Arial"/>
                <a:cs typeface="Arial"/>
              </a:rPr>
              <a:t>a</a:t>
            </a:r>
            <a:r>
              <a:rPr sz="1600" spc="-110" dirty="0">
                <a:latin typeface="Arial"/>
                <a:cs typeface="Arial"/>
              </a:rPr>
              <a:t> </a:t>
            </a:r>
            <a:r>
              <a:rPr sz="1600" spc="-40" dirty="0">
                <a:latin typeface="Arial"/>
                <a:cs typeface="Arial"/>
              </a:rPr>
              <a:t>way</a:t>
            </a:r>
            <a:r>
              <a:rPr sz="1600" spc="-105" dirty="0">
                <a:latin typeface="Arial"/>
                <a:cs typeface="Arial"/>
              </a:rPr>
              <a:t> </a:t>
            </a:r>
            <a:r>
              <a:rPr sz="1600" spc="25" dirty="0">
                <a:latin typeface="Arial"/>
                <a:cs typeface="Arial"/>
              </a:rPr>
              <a:t>that</a:t>
            </a:r>
            <a:r>
              <a:rPr sz="1600" spc="-114" dirty="0">
                <a:latin typeface="Arial"/>
                <a:cs typeface="Arial"/>
              </a:rPr>
              <a:t> </a:t>
            </a:r>
            <a:r>
              <a:rPr sz="1600" spc="-40" dirty="0">
                <a:latin typeface="Arial"/>
                <a:cs typeface="Arial"/>
              </a:rPr>
              <a:t>is</a:t>
            </a:r>
            <a:r>
              <a:rPr sz="1600" spc="-114" dirty="0">
                <a:latin typeface="Arial"/>
                <a:cs typeface="Arial"/>
              </a:rPr>
              <a:t> </a:t>
            </a:r>
            <a:r>
              <a:rPr sz="1600" spc="-20" dirty="0">
                <a:latin typeface="Arial"/>
                <a:cs typeface="Arial"/>
              </a:rPr>
              <a:t>transparent</a:t>
            </a:r>
            <a:r>
              <a:rPr sz="1600" spc="-100" dirty="0">
                <a:latin typeface="Arial"/>
                <a:cs typeface="Arial"/>
              </a:rPr>
              <a:t> </a:t>
            </a:r>
            <a:r>
              <a:rPr sz="1600" spc="40" dirty="0">
                <a:latin typeface="Arial"/>
                <a:cs typeface="Arial"/>
              </a:rPr>
              <a:t>to</a:t>
            </a:r>
            <a:r>
              <a:rPr sz="1600" spc="-105" dirty="0">
                <a:latin typeface="Arial"/>
                <a:cs typeface="Arial"/>
              </a:rPr>
              <a:t> </a:t>
            </a:r>
            <a:r>
              <a:rPr sz="1600" dirty="0">
                <a:latin typeface="Arial"/>
                <a:cs typeface="Arial"/>
              </a:rPr>
              <a:t>the</a:t>
            </a:r>
            <a:r>
              <a:rPr sz="1600" spc="-105" dirty="0">
                <a:latin typeface="Arial"/>
                <a:cs typeface="Arial"/>
              </a:rPr>
              <a:t> </a:t>
            </a:r>
            <a:r>
              <a:rPr sz="1600" spc="-10" dirty="0">
                <a:latin typeface="Arial"/>
                <a:cs typeface="Arial"/>
              </a:rPr>
              <a:t>applications</a:t>
            </a:r>
            <a:endParaRPr sz="1600">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9651"/>
            <a:ext cx="6650990" cy="635635"/>
          </a:xfrm>
          <a:prstGeom prst="rect">
            <a:avLst/>
          </a:prstGeom>
        </p:spPr>
        <p:txBody>
          <a:bodyPr vert="horz" wrap="square" lIns="0" tIns="12700" rIns="0" bIns="0" rtlCol="0">
            <a:spAutoFit/>
          </a:bodyPr>
          <a:lstStyle/>
          <a:p>
            <a:pPr marL="12700">
              <a:lnSpc>
                <a:spcPct val="100000"/>
              </a:lnSpc>
              <a:spcBef>
                <a:spcPts val="100"/>
              </a:spcBef>
            </a:pPr>
            <a:r>
              <a:rPr sz="4000" b="0" spc="-5" dirty="0">
                <a:latin typeface="Arial"/>
                <a:cs typeface="Arial"/>
              </a:rPr>
              <a:t>Stretch </a:t>
            </a:r>
            <a:r>
              <a:rPr sz="4000" b="0" spc="-180" dirty="0">
                <a:latin typeface="Arial"/>
                <a:cs typeface="Arial"/>
              </a:rPr>
              <a:t>Database</a:t>
            </a:r>
            <a:r>
              <a:rPr sz="4000" b="0" spc="-595" dirty="0">
                <a:latin typeface="Arial"/>
                <a:cs typeface="Arial"/>
              </a:rPr>
              <a:t> </a:t>
            </a:r>
            <a:r>
              <a:rPr sz="4000" b="0" spc="65" dirty="0">
                <a:latin typeface="Arial"/>
                <a:cs typeface="Arial"/>
              </a:rPr>
              <a:t>Architecture</a:t>
            </a:r>
            <a:endParaRPr sz="4000">
              <a:latin typeface="Arial"/>
              <a:cs typeface="Arial"/>
            </a:endParaRPr>
          </a:p>
        </p:txBody>
      </p:sp>
      <p:sp>
        <p:nvSpPr>
          <p:cNvPr id="3" name="object 3"/>
          <p:cNvSpPr/>
          <p:nvPr/>
        </p:nvSpPr>
        <p:spPr>
          <a:xfrm>
            <a:off x="327660" y="829055"/>
            <a:ext cx="8488680" cy="2056764"/>
          </a:xfrm>
          <a:custGeom>
            <a:avLst/>
            <a:gdLst/>
            <a:ahLst/>
            <a:cxnLst/>
            <a:rect l="l" t="t" r="r" b="b"/>
            <a:pathLst>
              <a:path w="8488680" h="2056764">
                <a:moveTo>
                  <a:pt x="8488680" y="342773"/>
                </a:moveTo>
                <a:lnTo>
                  <a:pt x="8485543" y="296252"/>
                </a:lnTo>
                <a:lnTo>
                  <a:pt x="8476437" y="251637"/>
                </a:lnTo>
                <a:lnTo>
                  <a:pt x="8461743" y="209334"/>
                </a:lnTo>
                <a:lnTo>
                  <a:pt x="8441880" y="169748"/>
                </a:lnTo>
                <a:lnTo>
                  <a:pt x="8417268" y="133299"/>
                </a:lnTo>
                <a:lnTo>
                  <a:pt x="8388299" y="100380"/>
                </a:lnTo>
                <a:lnTo>
                  <a:pt x="8355381" y="71412"/>
                </a:lnTo>
                <a:lnTo>
                  <a:pt x="8318932" y="46799"/>
                </a:lnTo>
                <a:lnTo>
                  <a:pt x="8279346" y="26936"/>
                </a:lnTo>
                <a:lnTo>
                  <a:pt x="8237042" y="12242"/>
                </a:lnTo>
                <a:lnTo>
                  <a:pt x="8192427" y="3136"/>
                </a:lnTo>
                <a:lnTo>
                  <a:pt x="8145907" y="0"/>
                </a:lnTo>
                <a:lnTo>
                  <a:pt x="342773" y="0"/>
                </a:lnTo>
                <a:lnTo>
                  <a:pt x="296252" y="3136"/>
                </a:lnTo>
                <a:lnTo>
                  <a:pt x="251650" y="12242"/>
                </a:lnTo>
                <a:lnTo>
                  <a:pt x="209346" y="26936"/>
                </a:lnTo>
                <a:lnTo>
                  <a:pt x="169760" y="46799"/>
                </a:lnTo>
                <a:lnTo>
                  <a:pt x="133311" y="71412"/>
                </a:lnTo>
                <a:lnTo>
                  <a:pt x="100393" y="100380"/>
                </a:lnTo>
                <a:lnTo>
                  <a:pt x="71412" y="133299"/>
                </a:lnTo>
                <a:lnTo>
                  <a:pt x="46786" y="169748"/>
                </a:lnTo>
                <a:lnTo>
                  <a:pt x="26936" y="209334"/>
                </a:lnTo>
                <a:lnTo>
                  <a:pt x="12242" y="251637"/>
                </a:lnTo>
                <a:lnTo>
                  <a:pt x="3124" y="296252"/>
                </a:lnTo>
                <a:lnTo>
                  <a:pt x="0" y="342773"/>
                </a:lnTo>
                <a:lnTo>
                  <a:pt x="0" y="1713865"/>
                </a:lnTo>
                <a:lnTo>
                  <a:pt x="3124" y="1760397"/>
                </a:lnTo>
                <a:lnTo>
                  <a:pt x="12242" y="1805012"/>
                </a:lnTo>
                <a:lnTo>
                  <a:pt x="26936" y="1847316"/>
                </a:lnTo>
                <a:lnTo>
                  <a:pt x="46786" y="1886902"/>
                </a:lnTo>
                <a:lnTo>
                  <a:pt x="71412" y="1923351"/>
                </a:lnTo>
                <a:lnTo>
                  <a:pt x="100393" y="1956269"/>
                </a:lnTo>
                <a:lnTo>
                  <a:pt x="133311" y="1985238"/>
                </a:lnTo>
                <a:lnTo>
                  <a:pt x="169760" y="2009851"/>
                </a:lnTo>
                <a:lnTo>
                  <a:pt x="209346" y="2029714"/>
                </a:lnTo>
                <a:lnTo>
                  <a:pt x="251650" y="2044407"/>
                </a:lnTo>
                <a:lnTo>
                  <a:pt x="296252" y="2053513"/>
                </a:lnTo>
                <a:lnTo>
                  <a:pt x="342773" y="2056638"/>
                </a:lnTo>
                <a:lnTo>
                  <a:pt x="8145907" y="2056638"/>
                </a:lnTo>
                <a:lnTo>
                  <a:pt x="8192427" y="2053513"/>
                </a:lnTo>
                <a:lnTo>
                  <a:pt x="8237042" y="2044407"/>
                </a:lnTo>
                <a:lnTo>
                  <a:pt x="8279346" y="2029714"/>
                </a:lnTo>
                <a:lnTo>
                  <a:pt x="8318932" y="2009851"/>
                </a:lnTo>
                <a:lnTo>
                  <a:pt x="8355381" y="1985238"/>
                </a:lnTo>
                <a:lnTo>
                  <a:pt x="8388299" y="1956269"/>
                </a:lnTo>
                <a:lnTo>
                  <a:pt x="8417268" y="1923351"/>
                </a:lnTo>
                <a:lnTo>
                  <a:pt x="8441880" y="1886902"/>
                </a:lnTo>
                <a:lnTo>
                  <a:pt x="8461743" y="1847316"/>
                </a:lnTo>
                <a:lnTo>
                  <a:pt x="8476437" y="1805012"/>
                </a:lnTo>
                <a:lnTo>
                  <a:pt x="8485543" y="1760397"/>
                </a:lnTo>
                <a:lnTo>
                  <a:pt x="8488680" y="1713865"/>
                </a:lnTo>
                <a:lnTo>
                  <a:pt x="8488680" y="342773"/>
                </a:lnTo>
                <a:close/>
              </a:path>
            </a:pathLst>
          </a:custGeom>
        </p:spPr>
        <p:style>
          <a:lnRef idx="3">
            <a:schemeClr val="lt1"/>
          </a:lnRef>
          <a:fillRef idx="1">
            <a:schemeClr val="accent1"/>
          </a:fillRef>
          <a:effectRef idx="1">
            <a:schemeClr val="accent1"/>
          </a:effectRef>
          <a:fontRef idx="minor">
            <a:schemeClr val="lt1"/>
          </a:fontRef>
        </p:style>
        <p:txBody>
          <a:bodyPr wrap="square" lIns="0" tIns="0" rIns="0" bIns="0" rtlCol="0"/>
          <a:lstStyle/>
          <a:p>
            <a:endParaRPr/>
          </a:p>
        </p:txBody>
      </p:sp>
      <p:sp>
        <p:nvSpPr>
          <p:cNvPr id="4" name="object 4"/>
          <p:cNvSpPr txBox="1"/>
          <p:nvPr/>
        </p:nvSpPr>
        <p:spPr>
          <a:xfrm>
            <a:off x="544830" y="1112520"/>
            <a:ext cx="7828915" cy="1534795"/>
          </a:xfrm>
          <a:prstGeom prst="rect">
            <a:avLst/>
          </a:prstGeom>
        </p:spPr>
        <p:txBody>
          <a:bodyPr vert="horz" wrap="square" lIns="0" tIns="43815" rIns="0" bIns="0" rtlCol="0">
            <a:spAutoFit/>
          </a:bodyPr>
          <a:lstStyle/>
          <a:p>
            <a:pPr marL="355600" marR="5080" indent="-342900" algn="just">
              <a:lnSpc>
                <a:spcPts val="1939"/>
              </a:lnSpc>
              <a:spcBef>
                <a:spcPts val="345"/>
              </a:spcBef>
              <a:buFont typeface="Wingdings"/>
              <a:buChar char=""/>
              <a:tabLst>
                <a:tab pos="355600" algn="l"/>
              </a:tabLst>
            </a:pPr>
            <a:r>
              <a:rPr sz="1800" spc="260" dirty="0">
                <a:solidFill>
                  <a:srgbClr val="FFFFFF"/>
                </a:solidFill>
                <a:latin typeface="Arial"/>
                <a:cs typeface="Arial"/>
              </a:rPr>
              <a:t>A </a:t>
            </a:r>
            <a:r>
              <a:rPr sz="1800" spc="-85" dirty="0">
                <a:solidFill>
                  <a:srgbClr val="FFFFFF"/>
                </a:solidFill>
                <a:latin typeface="Arial"/>
                <a:cs typeface="Arial"/>
              </a:rPr>
              <a:t>secure </a:t>
            </a:r>
            <a:r>
              <a:rPr sz="1800" spc="30" dirty="0">
                <a:solidFill>
                  <a:srgbClr val="FFFFFF"/>
                </a:solidFill>
                <a:latin typeface="Arial"/>
                <a:cs typeface="Arial"/>
              </a:rPr>
              <a:t>linked </a:t>
            </a:r>
            <a:r>
              <a:rPr sz="1800" spc="-60" dirty="0">
                <a:solidFill>
                  <a:srgbClr val="FFFFFF"/>
                </a:solidFill>
                <a:latin typeface="Arial"/>
                <a:cs typeface="Arial"/>
              </a:rPr>
              <a:t>server </a:t>
            </a:r>
            <a:r>
              <a:rPr sz="1800" spc="50" dirty="0">
                <a:solidFill>
                  <a:srgbClr val="FFFFFF"/>
                </a:solidFill>
                <a:latin typeface="Arial"/>
                <a:cs typeface="Arial"/>
              </a:rPr>
              <a:t>definition </a:t>
            </a:r>
            <a:r>
              <a:rPr sz="1800" spc="-45" dirty="0">
                <a:solidFill>
                  <a:srgbClr val="FFFFFF"/>
                </a:solidFill>
                <a:latin typeface="Arial"/>
                <a:cs typeface="Arial"/>
              </a:rPr>
              <a:t>is </a:t>
            </a:r>
            <a:r>
              <a:rPr sz="1800" spc="-55" dirty="0">
                <a:solidFill>
                  <a:srgbClr val="FFFFFF"/>
                </a:solidFill>
                <a:latin typeface="Arial"/>
                <a:cs typeface="Arial"/>
              </a:rPr>
              <a:t>created </a:t>
            </a:r>
            <a:r>
              <a:rPr sz="1800" spc="80" dirty="0">
                <a:solidFill>
                  <a:srgbClr val="FFFFFF"/>
                </a:solidFill>
                <a:latin typeface="Arial"/>
                <a:cs typeface="Arial"/>
              </a:rPr>
              <a:t>in </a:t>
            </a:r>
            <a:r>
              <a:rPr sz="1800" dirty="0">
                <a:solidFill>
                  <a:srgbClr val="FFFFFF"/>
                </a:solidFill>
                <a:latin typeface="Arial"/>
                <a:cs typeface="Arial"/>
              </a:rPr>
              <a:t>the </a:t>
            </a:r>
            <a:r>
              <a:rPr sz="1800" spc="-30" dirty="0">
                <a:solidFill>
                  <a:srgbClr val="FFFFFF"/>
                </a:solidFill>
                <a:latin typeface="Arial"/>
                <a:cs typeface="Arial"/>
              </a:rPr>
              <a:t>on-premise </a:t>
            </a:r>
            <a:r>
              <a:rPr sz="1800" spc="20" dirty="0">
                <a:solidFill>
                  <a:srgbClr val="FFFFFF"/>
                </a:solidFill>
                <a:latin typeface="Arial"/>
                <a:cs typeface="Arial"/>
              </a:rPr>
              <a:t>SQL </a:t>
            </a:r>
            <a:r>
              <a:rPr sz="1800" spc="-45" dirty="0">
                <a:solidFill>
                  <a:srgbClr val="FFFFFF"/>
                </a:solidFill>
                <a:latin typeface="Arial"/>
                <a:cs typeface="Arial"/>
              </a:rPr>
              <a:t>Server  </a:t>
            </a:r>
            <a:r>
              <a:rPr sz="1800" dirty="0">
                <a:solidFill>
                  <a:srgbClr val="FFFFFF"/>
                </a:solidFill>
                <a:latin typeface="Arial"/>
                <a:cs typeface="Arial"/>
              </a:rPr>
              <a:t>when</a:t>
            </a:r>
            <a:r>
              <a:rPr sz="1800" spc="-110" dirty="0">
                <a:solidFill>
                  <a:srgbClr val="FFFFFF"/>
                </a:solidFill>
                <a:latin typeface="Arial"/>
                <a:cs typeface="Arial"/>
              </a:rPr>
              <a:t> </a:t>
            </a:r>
            <a:r>
              <a:rPr sz="1800" dirty="0">
                <a:solidFill>
                  <a:srgbClr val="FFFFFF"/>
                </a:solidFill>
                <a:latin typeface="Arial"/>
                <a:cs typeface="Arial"/>
              </a:rPr>
              <a:t>the</a:t>
            </a:r>
            <a:r>
              <a:rPr sz="1800" spc="-110" dirty="0">
                <a:solidFill>
                  <a:srgbClr val="FFFFFF"/>
                </a:solidFill>
                <a:latin typeface="Arial"/>
                <a:cs typeface="Arial"/>
              </a:rPr>
              <a:t> </a:t>
            </a:r>
            <a:r>
              <a:rPr sz="1800" spc="-5" dirty="0">
                <a:solidFill>
                  <a:srgbClr val="FFFFFF"/>
                </a:solidFill>
                <a:latin typeface="Arial"/>
                <a:cs typeface="Arial"/>
              </a:rPr>
              <a:t>Stretch</a:t>
            </a:r>
            <a:r>
              <a:rPr sz="1800" spc="-130" dirty="0">
                <a:solidFill>
                  <a:srgbClr val="FFFFFF"/>
                </a:solidFill>
                <a:latin typeface="Arial"/>
                <a:cs typeface="Arial"/>
              </a:rPr>
              <a:t> </a:t>
            </a:r>
            <a:r>
              <a:rPr sz="1800" spc="-85" dirty="0">
                <a:solidFill>
                  <a:srgbClr val="FFFFFF"/>
                </a:solidFill>
                <a:latin typeface="Arial"/>
                <a:cs typeface="Arial"/>
              </a:rPr>
              <a:t>Database</a:t>
            </a:r>
            <a:r>
              <a:rPr sz="1800" spc="-125" dirty="0">
                <a:solidFill>
                  <a:srgbClr val="FFFFFF"/>
                </a:solidFill>
                <a:latin typeface="Arial"/>
                <a:cs typeface="Arial"/>
              </a:rPr>
              <a:t> </a:t>
            </a:r>
            <a:r>
              <a:rPr sz="1800" spc="-25" dirty="0">
                <a:solidFill>
                  <a:srgbClr val="FFFFFF"/>
                </a:solidFill>
                <a:latin typeface="Arial"/>
                <a:cs typeface="Arial"/>
              </a:rPr>
              <a:t>feature</a:t>
            </a:r>
            <a:r>
              <a:rPr sz="1800" spc="-125" dirty="0">
                <a:solidFill>
                  <a:srgbClr val="FFFFFF"/>
                </a:solidFill>
                <a:latin typeface="Arial"/>
                <a:cs typeface="Arial"/>
              </a:rPr>
              <a:t> </a:t>
            </a:r>
            <a:r>
              <a:rPr sz="1800" spc="-45" dirty="0">
                <a:solidFill>
                  <a:srgbClr val="FFFFFF"/>
                </a:solidFill>
                <a:latin typeface="Arial"/>
                <a:cs typeface="Arial"/>
              </a:rPr>
              <a:t>is</a:t>
            </a:r>
            <a:r>
              <a:rPr sz="1800" spc="-105" dirty="0">
                <a:solidFill>
                  <a:srgbClr val="FFFFFF"/>
                </a:solidFill>
                <a:latin typeface="Arial"/>
                <a:cs typeface="Arial"/>
              </a:rPr>
              <a:t> </a:t>
            </a:r>
            <a:r>
              <a:rPr sz="1800" spc="-50" dirty="0">
                <a:solidFill>
                  <a:srgbClr val="FFFFFF"/>
                </a:solidFill>
                <a:latin typeface="Arial"/>
                <a:cs typeface="Arial"/>
              </a:rPr>
              <a:t>enabled</a:t>
            </a:r>
            <a:r>
              <a:rPr sz="1800" spc="-125" dirty="0">
                <a:solidFill>
                  <a:srgbClr val="FFFFFF"/>
                </a:solidFill>
                <a:latin typeface="Arial"/>
                <a:cs typeface="Arial"/>
              </a:rPr>
              <a:t> </a:t>
            </a:r>
            <a:r>
              <a:rPr sz="1800" spc="20" dirty="0">
                <a:solidFill>
                  <a:srgbClr val="FFFFFF"/>
                </a:solidFill>
                <a:latin typeface="Arial"/>
                <a:cs typeface="Arial"/>
              </a:rPr>
              <a:t>on</a:t>
            </a:r>
            <a:r>
              <a:rPr sz="1800" spc="-110" dirty="0">
                <a:solidFill>
                  <a:srgbClr val="FFFFFF"/>
                </a:solidFill>
                <a:latin typeface="Arial"/>
                <a:cs typeface="Arial"/>
              </a:rPr>
              <a:t> </a:t>
            </a:r>
            <a:r>
              <a:rPr sz="1800" spc="-175" dirty="0">
                <a:solidFill>
                  <a:srgbClr val="FFFFFF"/>
                </a:solidFill>
                <a:latin typeface="Arial"/>
                <a:cs typeface="Arial"/>
              </a:rPr>
              <a:t>a</a:t>
            </a:r>
            <a:r>
              <a:rPr sz="1800" spc="-120" dirty="0">
                <a:solidFill>
                  <a:srgbClr val="FFFFFF"/>
                </a:solidFill>
                <a:latin typeface="Arial"/>
                <a:cs typeface="Arial"/>
              </a:rPr>
              <a:t> </a:t>
            </a:r>
            <a:r>
              <a:rPr sz="1800" spc="-90" dirty="0">
                <a:solidFill>
                  <a:srgbClr val="FFFFFF"/>
                </a:solidFill>
                <a:latin typeface="Arial"/>
                <a:cs typeface="Arial"/>
              </a:rPr>
              <a:t>database.</a:t>
            </a:r>
            <a:endParaRPr sz="1800">
              <a:latin typeface="Arial"/>
              <a:cs typeface="Arial"/>
            </a:endParaRPr>
          </a:p>
          <a:p>
            <a:pPr marL="355600" indent="-342900" algn="just">
              <a:lnSpc>
                <a:spcPts val="1810"/>
              </a:lnSpc>
              <a:buFont typeface="Wingdings"/>
              <a:buChar char=""/>
              <a:tabLst>
                <a:tab pos="355600" algn="l"/>
              </a:tabLst>
            </a:pPr>
            <a:r>
              <a:rPr sz="1800" spc="35" dirty="0">
                <a:solidFill>
                  <a:srgbClr val="FFFFFF"/>
                </a:solidFill>
                <a:latin typeface="Arial"/>
                <a:cs typeface="Arial"/>
              </a:rPr>
              <a:t>This</a:t>
            </a:r>
            <a:r>
              <a:rPr sz="1800" spc="-105" dirty="0">
                <a:solidFill>
                  <a:srgbClr val="FFFFFF"/>
                </a:solidFill>
                <a:latin typeface="Arial"/>
                <a:cs typeface="Arial"/>
              </a:rPr>
              <a:t> </a:t>
            </a:r>
            <a:r>
              <a:rPr sz="1800" spc="-65" dirty="0">
                <a:solidFill>
                  <a:srgbClr val="FFFFFF"/>
                </a:solidFill>
                <a:latin typeface="Arial"/>
                <a:cs typeface="Arial"/>
              </a:rPr>
              <a:t>establishes</a:t>
            </a:r>
            <a:r>
              <a:rPr sz="1800" spc="-100" dirty="0">
                <a:solidFill>
                  <a:srgbClr val="FFFFFF"/>
                </a:solidFill>
                <a:latin typeface="Arial"/>
                <a:cs typeface="Arial"/>
              </a:rPr>
              <a:t> </a:t>
            </a:r>
            <a:r>
              <a:rPr sz="1800" spc="-175" dirty="0">
                <a:solidFill>
                  <a:srgbClr val="FFFFFF"/>
                </a:solidFill>
                <a:latin typeface="Arial"/>
                <a:cs typeface="Arial"/>
              </a:rPr>
              <a:t>a</a:t>
            </a:r>
            <a:r>
              <a:rPr sz="1800" spc="-120" dirty="0">
                <a:solidFill>
                  <a:srgbClr val="FFFFFF"/>
                </a:solidFill>
                <a:latin typeface="Arial"/>
                <a:cs typeface="Arial"/>
              </a:rPr>
              <a:t> </a:t>
            </a:r>
            <a:r>
              <a:rPr sz="1800" dirty="0">
                <a:solidFill>
                  <a:srgbClr val="FFFFFF"/>
                </a:solidFill>
                <a:latin typeface="Arial"/>
                <a:cs typeface="Arial"/>
              </a:rPr>
              <a:t>connection</a:t>
            </a:r>
            <a:r>
              <a:rPr sz="1800" spc="-120" dirty="0">
                <a:solidFill>
                  <a:srgbClr val="FFFFFF"/>
                </a:solidFill>
                <a:latin typeface="Arial"/>
                <a:cs typeface="Arial"/>
              </a:rPr>
              <a:t> </a:t>
            </a:r>
            <a:r>
              <a:rPr sz="1800" spc="45" dirty="0">
                <a:solidFill>
                  <a:srgbClr val="FFFFFF"/>
                </a:solidFill>
                <a:latin typeface="Arial"/>
                <a:cs typeface="Arial"/>
              </a:rPr>
              <a:t>to</a:t>
            </a:r>
            <a:r>
              <a:rPr sz="1800" spc="-114" dirty="0">
                <a:solidFill>
                  <a:srgbClr val="FFFFFF"/>
                </a:solidFill>
                <a:latin typeface="Arial"/>
                <a:cs typeface="Arial"/>
              </a:rPr>
              <a:t> </a:t>
            </a:r>
            <a:r>
              <a:rPr sz="1800" dirty="0">
                <a:solidFill>
                  <a:srgbClr val="FFFFFF"/>
                </a:solidFill>
                <a:latin typeface="Arial"/>
                <a:cs typeface="Arial"/>
              </a:rPr>
              <a:t>the</a:t>
            </a:r>
            <a:r>
              <a:rPr sz="1800" spc="-114" dirty="0">
                <a:solidFill>
                  <a:srgbClr val="FFFFFF"/>
                </a:solidFill>
                <a:latin typeface="Arial"/>
                <a:cs typeface="Arial"/>
              </a:rPr>
              <a:t> </a:t>
            </a:r>
            <a:r>
              <a:rPr sz="1800" spc="-30" dirty="0">
                <a:solidFill>
                  <a:srgbClr val="FFFFFF"/>
                </a:solidFill>
                <a:latin typeface="Arial"/>
                <a:cs typeface="Arial"/>
              </a:rPr>
              <a:t>remote</a:t>
            </a:r>
            <a:r>
              <a:rPr sz="1800" spc="-120" dirty="0">
                <a:solidFill>
                  <a:srgbClr val="FFFFFF"/>
                </a:solidFill>
                <a:latin typeface="Arial"/>
                <a:cs typeface="Arial"/>
              </a:rPr>
              <a:t> </a:t>
            </a:r>
            <a:r>
              <a:rPr sz="1800" spc="25" dirty="0">
                <a:solidFill>
                  <a:srgbClr val="FFFFFF"/>
                </a:solidFill>
                <a:latin typeface="Arial"/>
                <a:cs typeface="Arial"/>
              </a:rPr>
              <a:t>or</a:t>
            </a:r>
            <a:r>
              <a:rPr sz="1800" spc="-114" dirty="0">
                <a:solidFill>
                  <a:srgbClr val="FFFFFF"/>
                </a:solidFill>
                <a:latin typeface="Arial"/>
                <a:cs typeface="Arial"/>
              </a:rPr>
              <a:t> </a:t>
            </a:r>
            <a:r>
              <a:rPr sz="1800" spc="10" dirty="0">
                <a:solidFill>
                  <a:srgbClr val="FFFFFF"/>
                </a:solidFill>
                <a:latin typeface="Arial"/>
                <a:cs typeface="Arial"/>
              </a:rPr>
              <a:t>cloud</a:t>
            </a:r>
            <a:r>
              <a:rPr sz="1800" spc="-114" dirty="0">
                <a:solidFill>
                  <a:srgbClr val="FFFFFF"/>
                </a:solidFill>
                <a:latin typeface="Arial"/>
                <a:cs typeface="Arial"/>
              </a:rPr>
              <a:t> </a:t>
            </a:r>
            <a:r>
              <a:rPr sz="1800" spc="-90" dirty="0">
                <a:solidFill>
                  <a:srgbClr val="FFFFFF"/>
                </a:solidFill>
                <a:latin typeface="Arial"/>
                <a:cs typeface="Arial"/>
              </a:rPr>
              <a:t>database.</a:t>
            </a:r>
            <a:endParaRPr sz="1800">
              <a:latin typeface="Arial"/>
              <a:cs typeface="Arial"/>
            </a:endParaRPr>
          </a:p>
          <a:p>
            <a:pPr marL="355600" marR="5080" indent="-342900" algn="just">
              <a:lnSpc>
                <a:spcPct val="90000"/>
              </a:lnSpc>
              <a:spcBef>
                <a:spcPts val="110"/>
              </a:spcBef>
              <a:buFont typeface="Wingdings"/>
              <a:buChar char=""/>
              <a:tabLst>
                <a:tab pos="355600" algn="l"/>
              </a:tabLst>
            </a:pPr>
            <a:r>
              <a:rPr sz="1800" spc="60" dirty="0">
                <a:solidFill>
                  <a:srgbClr val="FFFFFF"/>
                </a:solidFill>
                <a:latin typeface="Arial"/>
                <a:cs typeface="Arial"/>
              </a:rPr>
              <a:t>When </a:t>
            </a:r>
            <a:r>
              <a:rPr sz="1800" spc="-5" dirty="0">
                <a:solidFill>
                  <a:srgbClr val="FFFFFF"/>
                </a:solidFill>
                <a:latin typeface="Arial"/>
                <a:cs typeface="Arial"/>
              </a:rPr>
              <a:t>Stretch </a:t>
            </a:r>
            <a:r>
              <a:rPr sz="1800" spc="-85" dirty="0">
                <a:solidFill>
                  <a:srgbClr val="FFFFFF"/>
                </a:solidFill>
                <a:latin typeface="Arial"/>
                <a:cs typeface="Arial"/>
              </a:rPr>
              <a:t>Database </a:t>
            </a:r>
            <a:r>
              <a:rPr sz="1800" spc="-45" dirty="0">
                <a:solidFill>
                  <a:srgbClr val="FFFFFF"/>
                </a:solidFill>
                <a:latin typeface="Arial"/>
                <a:cs typeface="Arial"/>
              </a:rPr>
              <a:t>is </a:t>
            </a:r>
            <a:r>
              <a:rPr sz="1800" spc="-50" dirty="0">
                <a:solidFill>
                  <a:srgbClr val="FFFFFF"/>
                </a:solidFill>
                <a:latin typeface="Arial"/>
                <a:cs typeface="Arial"/>
              </a:rPr>
              <a:t>enabled </a:t>
            </a:r>
            <a:r>
              <a:rPr sz="1800" spc="20" dirty="0">
                <a:solidFill>
                  <a:srgbClr val="FFFFFF"/>
                </a:solidFill>
                <a:latin typeface="Arial"/>
                <a:cs typeface="Arial"/>
              </a:rPr>
              <a:t>on </a:t>
            </a:r>
            <a:r>
              <a:rPr sz="1800" spc="-175" dirty="0">
                <a:solidFill>
                  <a:srgbClr val="FFFFFF"/>
                </a:solidFill>
                <a:latin typeface="Arial"/>
                <a:cs typeface="Arial"/>
              </a:rPr>
              <a:t>a </a:t>
            </a:r>
            <a:r>
              <a:rPr sz="1800" spc="-35" dirty="0">
                <a:solidFill>
                  <a:srgbClr val="FFFFFF"/>
                </a:solidFill>
                <a:latin typeface="Arial"/>
                <a:cs typeface="Arial"/>
              </a:rPr>
              <a:t>table, </a:t>
            </a:r>
            <a:r>
              <a:rPr sz="1800" dirty="0">
                <a:solidFill>
                  <a:srgbClr val="FFFFFF"/>
                </a:solidFill>
                <a:latin typeface="Arial"/>
                <a:cs typeface="Arial"/>
              </a:rPr>
              <a:t>the </a:t>
            </a:r>
            <a:r>
              <a:rPr sz="1800" spc="-70" dirty="0">
                <a:solidFill>
                  <a:srgbClr val="FFFFFF"/>
                </a:solidFill>
                <a:latin typeface="Arial"/>
                <a:cs typeface="Arial"/>
              </a:rPr>
              <a:t>resources </a:t>
            </a:r>
            <a:r>
              <a:rPr sz="1800" spc="20" dirty="0">
                <a:solidFill>
                  <a:srgbClr val="FFFFFF"/>
                </a:solidFill>
                <a:latin typeface="Arial"/>
                <a:cs typeface="Arial"/>
              </a:rPr>
              <a:t>on </a:t>
            </a:r>
            <a:r>
              <a:rPr sz="1800" spc="10" dirty="0">
                <a:solidFill>
                  <a:srgbClr val="FFFFFF"/>
                </a:solidFill>
                <a:latin typeface="Arial"/>
                <a:cs typeface="Arial"/>
              </a:rPr>
              <a:t>cloud </a:t>
            </a:r>
            <a:r>
              <a:rPr sz="1800" spc="-90" dirty="0">
                <a:solidFill>
                  <a:srgbClr val="FFFFFF"/>
                </a:solidFill>
                <a:latin typeface="Arial"/>
                <a:cs typeface="Arial"/>
              </a:rPr>
              <a:t>are  </a:t>
            </a:r>
            <a:r>
              <a:rPr sz="1800" spc="-45" dirty="0">
                <a:solidFill>
                  <a:srgbClr val="FFFFFF"/>
                </a:solidFill>
                <a:latin typeface="Arial"/>
                <a:cs typeface="Arial"/>
              </a:rPr>
              <a:t>prepared </a:t>
            </a:r>
            <a:r>
              <a:rPr sz="1800" spc="-35" dirty="0">
                <a:solidFill>
                  <a:srgbClr val="FFFFFF"/>
                </a:solidFill>
                <a:latin typeface="Arial"/>
                <a:cs typeface="Arial"/>
              </a:rPr>
              <a:t>and </a:t>
            </a:r>
            <a:r>
              <a:rPr sz="1800" spc="110" dirty="0">
                <a:solidFill>
                  <a:srgbClr val="FFFFFF"/>
                </a:solidFill>
                <a:latin typeface="Arial"/>
                <a:cs typeface="Arial"/>
              </a:rPr>
              <a:t>if </a:t>
            </a:r>
            <a:r>
              <a:rPr sz="1800" spc="15" dirty="0">
                <a:solidFill>
                  <a:srgbClr val="FFFFFF"/>
                </a:solidFill>
                <a:latin typeface="Arial"/>
                <a:cs typeface="Arial"/>
              </a:rPr>
              <a:t>migration </a:t>
            </a:r>
            <a:r>
              <a:rPr sz="1800" spc="-45" dirty="0">
                <a:solidFill>
                  <a:srgbClr val="FFFFFF"/>
                </a:solidFill>
                <a:latin typeface="Arial"/>
                <a:cs typeface="Arial"/>
              </a:rPr>
              <a:t>is </a:t>
            </a:r>
            <a:r>
              <a:rPr sz="1800" spc="-55" dirty="0">
                <a:solidFill>
                  <a:srgbClr val="FFFFFF"/>
                </a:solidFill>
                <a:latin typeface="Arial"/>
                <a:cs typeface="Arial"/>
              </a:rPr>
              <a:t>enabled, </a:t>
            </a:r>
            <a:r>
              <a:rPr sz="1800" spc="-5" dirty="0">
                <a:solidFill>
                  <a:srgbClr val="FFFFFF"/>
                </a:solidFill>
                <a:latin typeface="Arial"/>
                <a:cs typeface="Arial"/>
              </a:rPr>
              <a:t>eligible </a:t>
            </a:r>
            <a:r>
              <a:rPr sz="1800" spc="-60" dirty="0">
                <a:solidFill>
                  <a:srgbClr val="FFFFFF"/>
                </a:solidFill>
                <a:latin typeface="Arial"/>
                <a:cs typeface="Arial"/>
              </a:rPr>
              <a:t>data </a:t>
            </a:r>
            <a:r>
              <a:rPr sz="1800" spc="-45" dirty="0">
                <a:solidFill>
                  <a:srgbClr val="FFFFFF"/>
                </a:solidFill>
                <a:latin typeface="Arial"/>
                <a:cs typeface="Arial"/>
              </a:rPr>
              <a:t>is </a:t>
            </a:r>
            <a:r>
              <a:rPr sz="1800" spc="-20" dirty="0">
                <a:solidFill>
                  <a:srgbClr val="FFFFFF"/>
                </a:solidFill>
                <a:latin typeface="Arial"/>
                <a:cs typeface="Arial"/>
              </a:rPr>
              <a:t>migrated </a:t>
            </a:r>
            <a:r>
              <a:rPr sz="1800" spc="45" dirty="0">
                <a:solidFill>
                  <a:srgbClr val="FFFFFF"/>
                </a:solidFill>
                <a:latin typeface="Arial"/>
                <a:cs typeface="Arial"/>
              </a:rPr>
              <a:t>to </a:t>
            </a:r>
            <a:r>
              <a:rPr sz="1800" dirty="0">
                <a:solidFill>
                  <a:srgbClr val="FFFFFF"/>
                </a:solidFill>
                <a:latin typeface="Arial"/>
                <a:cs typeface="Arial"/>
              </a:rPr>
              <a:t>the </a:t>
            </a:r>
            <a:r>
              <a:rPr sz="1800" spc="10" dirty="0">
                <a:solidFill>
                  <a:srgbClr val="FFFFFF"/>
                </a:solidFill>
                <a:latin typeface="Arial"/>
                <a:cs typeface="Arial"/>
              </a:rPr>
              <a:t>cloud  </a:t>
            </a:r>
            <a:r>
              <a:rPr sz="1800" spc="-90" dirty="0">
                <a:solidFill>
                  <a:srgbClr val="FFFFFF"/>
                </a:solidFill>
                <a:latin typeface="Arial"/>
                <a:cs typeface="Arial"/>
              </a:rPr>
              <a:t>database.</a:t>
            </a:r>
            <a:endParaRPr sz="1800">
              <a:latin typeface="Arial"/>
              <a:cs typeface="Arial"/>
            </a:endParaRPr>
          </a:p>
        </p:txBody>
      </p:sp>
      <p:pic>
        <p:nvPicPr>
          <p:cNvPr id="5" name="object 5"/>
          <p:cNvPicPr/>
          <p:nvPr/>
        </p:nvPicPr>
        <p:blipFill>
          <a:blip r:embed="rId3" cstate="print"/>
          <a:stretch>
            <a:fillRect/>
          </a:stretch>
        </p:blipFill>
        <p:spPr>
          <a:xfrm>
            <a:off x="1160907" y="3060634"/>
            <a:ext cx="6822186" cy="3334260"/>
          </a:xfrm>
          <a:prstGeom prst="rect">
            <a:avLst/>
          </a:prstGeom>
        </p:spPr>
      </p:pic>
      <p:sp>
        <p:nvSpPr>
          <p:cNvPr id="6" name="object 6"/>
          <p:cNvSpPr txBox="1"/>
          <p:nvPr/>
        </p:nvSpPr>
        <p:spPr>
          <a:xfrm>
            <a:off x="3303587" y="6508366"/>
            <a:ext cx="2311400" cy="238760"/>
          </a:xfrm>
          <a:prstGeom prst="rect">
            <a:avLst/>
          </a:prstGeom>
        </p:spPr>
        <p:txBody>
          <a:bodyPr vert="horz" wrap="square" lIns="0" tIns="12065" rIns="0" bIns="0" rtlCol="0">
            <a:spAutoFit/>
          </a:bodyPr>
          <a:lstStyle/>
          <a:p>
            <a:pPr marL="12700">
              <a:lnSpc>
                <a:spcPct val="100000"/>
              </a:lnSpc>
              <a:spcBef>
                <a:spcPts val="95"/>
              </a:spcBef>
            </a:pPr>
            <a:r>
              <a:rPr sz="1400" b="1" dirty="0">
                <a:latin typeface="Times New Roman"/>
                <a:cs typeface="Times New Roman"/>
              </a:rPr>
              <a:t>Stretch </a:t>
            </a:r>
            <a:r>
              <a:rPr sz="1400" b="1" spc="-15" dirty="0">
                <a:latin typeface="Times New Roman"/>
                <a:cs typeface="Times New Roman"/>
              </a:rPr>
              <a:t>Database</a:t>
            </a:r>
            <a:r>
              <a:rPr sz="1400" b="1" spc="-215" dirty="0">
                <a:latin typeface="Times New Roman"/>
                <a:cs typeface="Times New Roman"/>
              </a:rPr>
              <a:t> </a:t>
            </a:r>
            <a:r>
              <a:rPr sz="1400" b="1" dirty="0">
                <a:latin typeface="Times New Roman"/>
                <a:cs typeface="Times New Roman"/>
              </a:rPr>
              <a:t>Architecture</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18</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49174" y="1336547"/>
            <a:ext cx="8645652" cy="984503"/>
          </a:xfrm>
          <a:prstGeom prst="rect">
            <a:avLst/>
          </a:prstGeom>
        </p:spPr>
      </p:pic>
      <p:sp>
        <p:nvSpPr>
          <p:cNvPr id="3" name="object 3"/>
          <p:cNvSpPr txBox="1"/>
          <p:nvPr/>
        </p:nvSpPr>
        <p:spPr>
          <a:xfrm>
            <a:off x="389381" y="1384553"/>
            <a:ext cx="8289290" cy="889000"/>
          </a:xfrm>
          <a:prstGeom prst="rect">
            <a:avLst/>
          </a:prstGeom>
        </p:spPr>
        <p:txBody>
          <a:bodyPr vert="horz" wrap="square" lIns="0" tIns="7620" rIns="0" bIns="0" rtlCol="0">
            <a:spAutoFit/>
          </a:bodyPr>
          <a:lstStyle/>
          <a:p>
            <a:pPr marL="419100" indent="-343535">
              <a:lnSpc>
                <a:spcPts val="2050"/>
              </a:lnSpc>
              <a:spcBef>
                <a:spcPts val="60"/>
              </a:spcBef>
              <a:buFont typeface="Wingdings"/>
              <a:buChar char=""/>
              <a:tabLst>
                <a:tab pos="419100" algn="l"/>
                <a:tab pos="419734" algn="l"/>
              </a:tabLst>
            </a:pPr>
            <a:r>
              <a:rPr sz="1800" spc="-50" dirty="0">
                <a:solidFill>
                  <a:srgbClr val="FFFFFF"/>
                </a:solidFill>
                <a:latin typeface="Arial"/>
                <a:cs typeface="Arial"/>
              </a:rPr>
              <a:t>Enable</a:t>
            </a:r>
            <a:r>
              <a:rPr sz="1800" spc="-120" dirty="0">
                <a:solidFill>
                  <a:srgbClr val="FFFFFF"/>
                </a:solidFill>
                <a:latin typeface="Arial"/>
                <a:cs typeface="Arial"/>
              </a:rPr>
              <a:t> </a:t>
            </a:r>
            <a:r>
              <a:rPr sz="1800" spc="-85" dirty="0">
                <a:solidFill>
                  <a:srgbClr val="FFFFFF"/>
                </a:solidFill>
                <a:latin typeface="Arial"/>
                <a:cs typeface="Arial"/>
              </a:rPr>
              <a:t>Database</a:t>
            </a:r>
            <a:r>
              <a:rPr sz="1800" spc="-125" dirty="0">
                <a:solidFill>
                  <a:srgbClr val="FFFFFF"/>
                </a:solidFill>
                <a:latin typeface="Arial"/>
                <a:cs typeface="Arial"/>
              </a:rPr>
              <a:t> </a:t>
            </a:r>
            <a:r>
              <a:rPr sz="1800" spc="60" dirty="0">
                <a:solidFill>
                  <a:srgbClr val="FFFFFF"/>
                </a:solidFill>
                <a:latin typeface="Arial"/>
                <a:cs typeface="Arial"/>
              </a:rPr>
              <a:t>for</a:t>
            </a:r>
            <a:r>
              <a:rPr sz="1800" spc="-110" dirty="0">
                <a:solidFill>
                  <a:srgbClr val="FFFFFF"/>
                </a:solidFill>
                <a:latin typeface="Arial"/>
                <a:cs typeface="Arial"/>
              </a:rPr>
              <a:t> </a:t>
            </a:r>
            <a:r>
              <a:rPr sz="1800" spc="-5" dirty="0">
                <a:solidFill>
                  <a:srgbClr val="FFFFFF"/>
                </a:solidFill>
                <a:latin typeface="Arial"/>
                <a:cs typeface="Arial"/>
              </a:rPr>
              <a:t>Stretch</a:t>
            </a:r>
            <a:r>
              <a:rPr sz="1800" spc="-120" dirty="0">
                <a:solidFill>
                  <a:srgbClr val="FFFFFF"/>
                </a:solidFill>
                <a:latin typeface="Arial"/>
                <a:cs typeface="Arial"/>
              </a:rPr>
              <a:t> </a:t>
            </a:r>
            <a:r>
              <a:rPr sz="1800" spc="-30" dirty="0">
                <a:solidFill>
                  <a:srgbClr val="FFFFFF"/>
                </a:solidFill>
                <a:latin typeface="Arial"/>
                <a:cs typeface="Arial"/>
              </a:rPr>
              <a:t>wizard</a:t>
            </a:r>
            <a:r>
              <a:rPr sz="1800" spc="-120" dirty="0">
                <a:solidFill>
                  <a:srgbClr val="FFFFFF"/>
                </a:solidFill>
                <a:latin typeface="Arial"/>
                <a:cs typeface="Arial"/>
              </a:rPr>
              <a:t> </a:t>
            </a:r>
            <a:r>
              <a:rPr sz="1800" spc="-20" dirty="0">
                <a:solidFill>
                  <a:srgbClr val="FFFFFF"/>
                </a:solidFill>
                <a:latin typeface="Arial"/>
                <a:cs typeface="Arial"/>
              </a:rPr>
              <a:t>configures</a:t>
            </a:r>
            <a:r>
              <a:rPr sz="1800" spc="-105" dirty="0">
                <a:solidFill>
                  <a:srgbClr val="FFFFFF"/>
                </a:solidFill>
                <a:latin typeface="Arial"/>
                <a:cs typeface="Arial"/>
              </a:rPr>
              <a:t> </a:t>
            </a:r>
            <a:r>
              <a:rPr sz="1800" dirty="0">
                <a:solidFill>
                  <a:srgbClr val="FFFFFF"/>
                </a:solidFill>
                <a:latin typeface="Arial"/>
                <a:cs typeface="Arial"/>
              </a:rPr>
              <a:t>the</a:t>
            </a:r>
            <a:r>
              <a:rPr sz="1800" spc="-114" dirty="0">
                <a:solidFill>
                  <a:srgbClr val="FFFFFF"/>
                </a:solidFill>
                <a:latin typeface="Arial"/>
                <a:cs typeface="Arial"/>
              </a:rPr>
              <a:t> </a:t>
            </a:r>
            <a:r>
              <a:rPr sz="1800" spc="-55" dirty="0">
                <a:solidFill>
                  <a:srgbClr val="FFFFFF"/>
                </a:solidFill>
                <a:latin typeface="Arial"/>
                <a:cs typeface="Arial"/>
              </a:rPr>
              <a:t>server</a:t>
            </a:r>
            <a:r>
              <a:rPr sz="1800" spc="-120" dirty="0">
                <a:solidFill>
                  <a:srgbClr val="FFFFFF"/>
                </a:solidFill>
                <a:latin typeface="Arial"/>
                <a:cs typeface="Arial"/>
              </a:rPr>
              <a:t> </a:t>
            </a:r>
            <a:r>
              <a:rPr sz="1800" spc="60" dirty="0">
                <a:solidFill>
                  <a:srgbClr val="FFFFFF"/>
                </a:solidFill>
                <a:latin typeface="Arial"/>
                <a:cs typeface="Arial"/>
              </a:rPr>
              <a:t>for</a:t>
            </a:r>
            <a:r>
              <a:rPr sz="1800" spc="-100" dirty="0">
                <a:solidFill>
                  <a:srgbClr val="FFFFFF"/>
                </a:solidFill>
                <a:latin typeface="Arial"/>
                <a:cs typeface="Arial"/>
              </a:rPr>
              <a:t> </a:t>
            </a:r>
            <a:r>
              <a:rPr sz="1800" spc="-10" dirty="0">
                <a:solidFill>
                  <a:srgbClr val="FFFFFF"/>
                </a:solidFill>
                <a:latin typeface="Arial"/>
                <a:cs typeface="Arial"/>
              </a:rPr>
              <a:t>Stretch.</a:t>
            </a:r>
            <a:endParaRPr sz="1800">
              <a:latin typeface="Arial"/>
              <a:cs typeface="Arial"/>
            </a:endParaRPr>
          </a:p>
          <a:p>
            <a:pPr marL="419100" marR="69215" indent="-342900">
              <a:lnSpc>
                <a:spcPts val="1939"/>
              </a:lnSpc>
              <a:spcBef>
                <a:spcPts val="140"/>
              </a:spcBef>
              <a:buFont typeface="Wingdings"/>
              <a:buChar char=""/>
              <a:tabLst>
                <a:tab pos="419100" algn="l"/>
                <a:tab pos="419734" algn="l"/>
              </a:tabLst>
            </a:pPr>
            <a:r>
              <a:rPr sz="1800" spc="160" dirty="0">
                <a:solidFill>
                  <a:srgbClr val="FFFFFF"/>
                </a:solidFill>
                <a:latin typeface="Arial"/>
                <a:cs typeface="Arial"/>
              </a:rPr>
              <a:t>An </a:t>
            </a:r>
            <a:r>
              <a:rPr sz="1800" spc="5" dirty="0">
                <a:solidFill>
                  <a:srgbClr val="FFFFFF"/>
                </a:solidFill>
                <a:latin typeface="Arial"/>
                <a:cs typeface="Arial"/>
              </a:rPr>
              <a:t>administrator </a:t>
            </a:r>
            <a:r>
              <a:rPr sz="1800" spc="-110" dirty="0">
                <a:solidFill>
                  <a:srgbClr val="FFFFFF"/>
                </a:solidFill>
                <a:latin typeface="Arial"/>
                <a:cs typeface="Arial"/>
              </a:rPr>
              <a:t>has </a:t>
            </a:r>
            <a:r>
              <a:rPr sz="1800" spc="45" dirty="0">
                <a:solidFill>
                  <a:srgbClr val="FFFFFF"/>
                </a:solidFill>
                <a:latin typeface="Arial"/>
                <a:cs typeface="Arial"/>
              </a:rPr>
              <a:t>to </a:t>
            </a:r>
            <a:r>
              <a:rPr sz="1800" spc="-60" dirty="0">
                <a:solidFill>
                  <a:srgbClr val="FFFFFF"/>
                </a:solidFill>
                <a:latin typeface="Arial"/>
                <a:cs typeface="Arial"/>
              </a:rPr>
              <a:t>enable </a:t>
            </a:r>
            <a:r>
              <a:rPr sz="1800" spc="110" dirty="0">
                <a:solidFill>
                  <a:srgbClr val="FFFFFF"/>
                </a:solidFill>
                <a:latin typeface="Arial"/>
                <a:cs typeface="Arial"/>
              </a:rPr>
              <a:t>it </a:t>
            </a:r>
            <a:r>
              <a:rPr sz="1800" spc="-10" dirty="0">
                <a:solidFill>
                  <a:srgbClr val="FFFFFF"/>
                </a:solidFill>
                <a:latin typeface="Arial"/>
                <a:cs typeface="Arial"/>
              </a:rPr>
              <a:t>manually by </a:t>
            </a:r>
            <a:r>
              <a:rPr sz="1800" spc="40" dirty="0">
                <a:solidFill>
                  <a:srgbClr val="FFFFFF"/>
                </a:solidFill>
                <a:latin typeface="Arial"/>
                <a:cs typeface="Arial"/>
              </a:rPr>
              <a:t>running </a:t>
            </a:r>
            <a:r>
              <a:rPr sz="1800" spc="-70" dirty="0">
                <a:solidFill>
                  <a:srgbClr val="FFFFFF"/>
                </a:solidFill>
                <a:latin typeface="Arial"/>
                <a:cs typeface="Arial"/>
              </a:rPr>
              <a:t>sp_configure </a:t>
            </a:r>
            <a:r>
              <a:rPr sz="1800" spc="45" dirty="0">
                <a:solidFill>
                  <a:srgbClr val="FFFFFF"/>
                </a:solidFill>
                <a:latin typeface="Arial"/>
                <a:cs typeface="Arial"/>
              </a:rPr>
              <a:t>first </a:t>
            </a:r>
            <a:r>
              <a:rPr sz="1800" dirty="0">
                <a:solidFill>
                  <a:srgbClr val="FFFFFF"/>
                </a:solidFill>
                <a:latin typeface="Arial"/>
                <a:cs typeface="Arial"/>
              </a:rPr>
              <a:t>then,  </a:t>
            </a:r>
            <a:r>
              <a:rPr sz="1800" spc="55" dirty="0">
                <a:solidFill>
                  <a:srgbClr val="FFFFFF"/>
                </a:solidFill>
                <a:latin typeface="Arial"/>
                <a:cs typeface="Arial"/>
              </a:rPr>
              <a:t>run</a:t>
            </a:r>
            <a:r>
              <a:rPr sz="1800" spc="-120" dirty="0">
                <a:solidFill>
                  <a:srgbClr val="FFFFFF"/>
                </a:solidFill>
                <a:latin typeface="Arial"/>
                <a:cs typeface="Arial"/>
              </a:rPr>
              <a:t> </a:t>
            </a:r>
            <a:r>
              <a:rPr sz="1800" dirty="0">
                <a:solidFill>
                  <a:srgbClr val="FFFFFF"/>
                </a:solidFill>
                <a:latin typeface="Arial"/>
                <a:cs typeface="Arial"/>
              </a:rPr>
              <a:t>the</a:t>
            </a:r>
            <a:r>
              <a:rPr sz="1800" spc="-114" dirty="0">
                <a:solidFill>
                  <a:srgbClr val="FFFFFF"/>
                </a:solidFill>
                <a:latin typeface="Arial"/>
                <a:cs typeface="Arial"/>
              </a:rPr>
              <a:t> </a:t>
            </a:r>
            <a:r>
              <a:rPr sz="1800" spc="-30" dirty="0">
                <a:solidFill>
                  <a:srgbClr val="FFFFFF"/>
                </a:solidFill>
                <a:latin typeface="Arial"/>
                <a:cs typeface="Arial"/>
              </a:rPr>
              <a:t>wizard,</a:t>
            </a:r>
            <a:r>
              <a:rPr sz="1800" spc="-114" dirty="0">
                <a:solidFill>
                  <a:srgbClr val="FFFFFF"/>
                </a:solidFill>
                <a:latin typeface="Arial"/>
                <a:cs typeface="Arial"/>
              </a:rPr>
              <a:t> </a:t>
            </a:r>
            <a:r>
              <a:rPr sz="1800" spc="25" dirty="0">
                <a:solidFill>
                  <a:srgbClr val="FFFFFF"/>
                </a:solidFill>
                <a:latin typeface="Arial"/>
                <a:cs typeface="Arial"/>
              </a:rPr>
              <a:t>or</a:t>
            </a:r>
            <a:r>
              <a:rPr sz="1800" spc="-114" dirty="0">
                <a:solidFill>
                  <a:srgbClr val="FFFFFF"/>
                </a:solidFill>
                <a:latin typeface="Arial"/>
                <a:cs typeface="Arial"/>
              </a:rPr>
              <a:t> </a:t>
            </a:r>
            <a:r>
              <a:rPr sz="1800" spc="-60" dirty="0">
                <a:solidFill>
                  <a:srgbClr val="FFFFFF"/>
                </a:solidFill>
                <a:latin typeface="Arial"/>
                <a:cs typeface="Arial"/>
              </a:rPr>
              <a:t>an</a:t>
            </a:r>
            <a:r>
              <a:rPr sz="1800" spc="-114" dirty="0">
                <a:solidFill>
                  <a:srgbClr val="FFFFFF"/>
                </a:solidFill>
                <a:latin typeface="Arial"/>
                <a:cs typeface="Arial"/>
              </a:rPr>
              <a:t> </a:t>
            </a:r>
            <a:r>
              <a:rPr sz="1800" spc="5" dirty="0">
                <a:solidFill>
                  <a:srgbClr val="FFFFFF"/>
                </a:solidFill>
                <a:latin typeface="Arial"/>
                <a:cs typeface="Arial"/>
              </a:rPr>
              <a:t>administrator</a:t>
            </a:r>
            <a:r>
              <a:rPr sz="1800" spc="-130" dirty="0">
                <a:solidFill>
                  <a:srgbClr val="FFFFFF"/>
                </a:solidFill>
                <a:latin typeface="Arial"/>
                <a:cs typeface="Arial"/>
              </a:rPr>
              <a:t> </a:t>
            </a:r>
            <a:r>
              <a:rPr sz="1800" spc="-105" dirty="0">
                <a:solidFill>
                  <a:srgbClr val="FFFFFF"/>
                </a:solidFill>
                <a:latin typeface="Arial"/>
                <a:cs typeface="Arial"/>
              </a:rPr>
              <a:t>has </a:t>
            </a:r>
            <a:r>
              <a:rPr sz="1800" spc="45" dirty="0">
                <a:solidFill>
                  <a:srgbClr val="FFFFFF"/>
                </a:solidFill>
                <a:latin typeface="Arial"/>
                <a:cs typeface="Arial"/>
              </a:rPr>
              <a:t>to</a:t>
            </a:r>
            <a:r>
              <a:rPr sz="1800" spc="-114" dirty="0">
                <a:solidFill>
                  <a:srgbClr val="FFFFFF"/>
                </a:solidFill>
                <a:latin typeface="Arial"/>
                <a:cs typeface="Arial"/>
              </a:rPr>
              <a:t> </a:t>
            </a:r>
            <a:r>
              <a:rPr sz="1800" spc="55" dirty="0">
                <a:solidFill>
                  <a:srgbClr val="FFFFFF"/>
                </a:solidFill>
                <a:latin typeface="Arial"/>
                <a:cs typeface="Arial"/>
              </a:rPr>
              <a:t>run</a:t>
            </a:r>
            <a:r>
              <a:rPr sz="1800" spc="-114" dirty="0">
                <a:solidFill>
                  <a:srgbClr val="FFFFFF"/>
                </a:solidFill>
                <a:latin typeface="Arial"/>
                <a:cs typeface="Arial"/>
              </a:rPr>
              <a:t> </a:t>
            </a:r>
            <a:r>
              <a:rPr sz="1800" dirty="0">
                <a:solidFill>
                  <a:srgbClr val="FFFFFF"/>
                </a:solidFill>
                <a:latin typeface="Arial"/>
                <a:cs typeface="Arial"/>
              </a:rPr>
              <a:t>the</a:t>
            </a:r>
            <a:r>
              <a:rPr sz="1800" spc="-110" dirty="0">
                <a:solidFill>
                  <a:srgbClr val="FFFFFF"/>
                </a:solidFill>
                <a:latin typeface="Arial"/>
                <a:cs typeface="Arial"/>
              </a:rPr>
              <a:t> </a:t>
            </a:r>
            <a:r>
              <a:rPr sz="1800" spc="-30" dirty="0">
                <a:solidFill>
                  <a:srgbClr val="FFFFFF"/>
                </a:solidFill>
                <a:latin typeface="Arial"/>
                <a:cs typeface="Arial"/>
              </a:rPr>
              <a:t>wizard.</a:t>
            </a:r>
            <a:endParaRPr sz="1800">
              <a:latin typeface="Arial"/>
              <a:cs typeface="Arial"/>
            </a:endParaRPr>
          </a:p>
        </p:txBody>
      </p:sp>
      <p:sp>
        <p:nvSpPr>
          <p:cNvPr id="4" name="object 4"/>
          <p:cNvSpPr txBox="1">
            <a:spLocks noGrp="1"/>
          </p:cNvSpPr>
          <p:nvPr>
            <p:ph type="title"/>
          </p:nvPr>
        </p:nvSpPr>
        <p:spPr>
          <a:xfrm>
            <a:off x="383540" y="15493"/>
            <a:ext cx="7846060" cy="635635"/>
          </a:xfrm>
          <a:prstGeom prst="rect">
            <a:avLst/>
          </a:prstGeom>
        </p:spPr>
        <p:txBody>
          <a:bodyPr vert="horz" wrap="square" lIns="0" tIns="12700" rIns="0" bIns="0" rtlCol="0">
            <a:spAutoFit/>
          </a:bodyPr>
          <a:lstStyle/>
          <a:p>
            <a:pPr marL="12700">
              <a:lnSpc>
                <a:spcPct val="100000"/>
              </a:lnSpc>
              <a:spcBef>
                <a:spcPts val="100"/>
              </a:spcBef>
            </a:pPr>
            <a:r>
              <a:rPr sz="4000" b="0" spc="-5" dirty="0">
                <a:latin typeface="Arial"/>
                <a:cs typeface="Arial"/>
              </a:rPr>
              <a:t>Setting</a:t>
            </a:r>
            <a:r>
              <a:rPr sz="4000" b="0" spc="-285" dirty="0">
                <a:latin typeface="Arial"/>
                <a:cs typeface="Arial"/>
              </a:rPr>
              <a:t> </a:t>
            </a:r>
            <a:r>
              <a:rPr sz="4000" b="0" spc="35" dirty="0">
                <a:latin typeface="Arial"/>
                <a:cs typeface="Arial"/>
              </a:rPr>
              <a:t>up</a:t>
            </a:r>
            <a:r>
              <a:rPr sz="4000" b="0" spc="-270" dirty="0">
                <a:latin typeface="Arial"/>
                <a:cs typeface="Arial"/>
              </a:rPr>
              <a:t> </a:t>
            </a:r>
            <a:r>
              <a:rPr sz="4000" b="0" spc="-5" dirty="0">
                <a:latin typeface="Arial"/>
                <a:cs typeface="Arial"/>
              </a:rPr>
              <a:t>Stretch</a:t>
            </a:r>
            <a:r>
              <a:rPr sz="4000" b="0" spc="-290" dirty="0">
                <a:latin typeface="Arial"/>
                <a:cs typeface="Arial"/>
              </a:rPr>
              <a:t> </a:t>
            </a:r>
            <a:r>
              <a:rPr sz="4000" b="0" spc="-180" dirty="0">
                <a:latin typeface="Arial"/>
                <a:cs typeface="Arial"/>
              </a:rPr>
              <a:t>Database</a:t>
            </a:r>
            <a:r>
              <a:rPr sz="4000" b="0" spc="-270" dirty="0">
                <a:latin typeface="Arial"/>
                <a:cs typeface="Arial"/>
              </a:rPr>
              <a:t> </a:t>
            </a:r>
            <a:r>
              <a:rPr sz="4000" b="0" spc="-395" dirty="0">
                <a:latin typeface="Arial"/>
                <a:cs typeface="Arial"/>
              </a:rPr>
              <a:t>1-2</a:t>
            </a:r>
            <a:endParaRPr sz="4000">
              <a:latin typeface="Arial"/>
              <a:cs typeface="Arial"/>
            </a:endParaRPr>
          </a:p>
        </p:txBody>
      </p:sp>
      <p:sp>
        <p:nvSpPr>
          <p:cNvPr id="5" name="object 5"/>
          <p:cNvSpPr txBox="1"/>
          <p:nvPr/>
        </p:nvSpPr>
        <p:spPr>
          <a:xfrm>
            <a:off x="383540" y="835913"/>
            <a:ext cx="4256405" cy="330200"/>
          </a:xfrm>
          <a:prstGeom prst="rect">
            <a:avLst/>
          </a:prstGeom>
        </p:spPr>
        <p:txBody>
          <a:bodyPr vert="horz" wrap="square" lIns="0" tIns="12065" rIns="0" bIns="0" rtlCol="0">
            <a:spAutoFit/>
          </a:bodyPr>
          <a:lstStyle/>
          <a:p>
            <a:pPr marL="12700">
              <a:lnSpc>
                <a:spcPct val="100000"/>
              </a:lnSpc>
              <a:spcBef>
                <a:spcPts val="95"/>
              </a:spcBef>
            </a:pPr>
            <a:r>
              <a:rPr sz="2000" b="1" spc="-25" dirty="0">
                <a:latin typeface="Times New Roman"/>
                <a:cs typeface="Times New Roman"/>
              </a:rPr>
              <a:t>Prerequisite</a:t>
            </a:r>
            <a:r>
              <a:rPr sz="2000" b="1" spc="-125" dirty="0">
                <a:latin typeface="Times New Roman"/>
                <a:cs typeface="Times New Roman"/>
              </a:rPr>
              <a:t> </a:t>
            </a:r>
            <a:r>
              <a:rPr sz="2000" b="1" spc="55" dirty="0">
                <a:latin typeface="Times New Roman"/>
                <a:cs typeface="Times New Roman"/>
              </a:rPr>
              <a:t>to</a:t>
            </a:r>
            <a:r>
              <a:rPr sz="2000" b="1" spc="-100" dirty="0">
                <a:latin typeface="Times New Roman"/>
                <a:cs typeface="Times New Roman"/>
              </a:rPr>
              <a:t> </a:t>
            </a:r>
            <a:r>
              <a:rPr sz="2000" b="1" spc="-35" dirty="0">
                <a:latin typeface="Times New Roman"/>
                <a:cs typeface="Times New Roman"/>
              </a:rPr>
              <a:t>Enable</a:t>
            </a:r>
            <a:r>
              <a:rPr sz="2000" b="1" spc="-120" dirty="0">
                <a:latin typeface="Times New Roman"/>
                <a:cs typeface="Times New Roman"/>
              </a:rPr>
              <a:t> </a:t>
            </a:r>
            <a:r>
              <a:rPr sz="2000" b="1" dirty="0">
                <a:latin typeface="Times New Roman"/>
                <a:cs typeface="Times New Roman"/>
              </a:rPr>
              <a:t>Stretch</a:t>
            </a:r>
            <a:r>
              <a:rPr sz="2000" b="1" spc="-120" dirty="0">
                <a:latin typeface="Times New Roman"/>
                <a:cs typeface="Times New Roman"/>
              </a:rPr>
              <a:t> </a:t>
            </a:r>
            <a:r>
              <a:rPr sz="2000" b="1" spc="-25" dirty="0">
                <a:latin typeface="Times New Roman"/>
                <a:cs typeface="Times New Roman"/>
              </a:rPr>
              <a:t>Database</a:t>
            </a:r>
            <a:endParaRPr sz="2000">
              <a:latin typeface="Times New Roman"/>
              <a:cs typeface="Times New Roman"/>
            </a:endParaRPr>
          </a:p>
        </p:txBody>
      </p:sp>
      <p:pic>
        <p:nvPicPr>
          <p:cNvPr id="6" name="object 6"/>
          <p:cNvPicPr/>
          <p:nvPr/>
        </p:nvPicPr>
        <p:blipFill>
          <a:blip r:embed="rId4" cstate="print"/>
          <a:stretch>
            <a:fillRect/>
          </a:stretch>
        </p:blipFill>
        <p:spPr>
          <a:xfrm>
            <a:off x="2076450" y="2402585"/>
            <a:ext cx="4838700" cy="3956304"/>
          </a:xfrm>
          <a:prstGeom prst="rect">
            <a:avLst/>
          </a:prstGeom>
        </p:spPr>
      </p:pic>
      <p:sp>
        <p:nvSpPr>
          <p:cNvPr id="7" name="object 7"/>
          <p:cNvSpPr txBox="1"/>
          <p:nvPr/>
        </p:nvSpPr>
        <p:spPr>
          <a:xfrm>
            <a:off x="3522471" y="6304279"/>
            <a:ext cx="2277745"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Times New Roman"/>
                <a:cs typeface="Times New Roman"/>
              </a:rPr>
              <a:t>Enabling </a:t>
            </a:r>
            <a:r>
              <a:rPr sz="1400" b="1" spc="-15" dirty="0">
                <a:latin typeface="Times New Roman"/>
                <a:cs typeface="Times New Roman"/>
              </a:rPr>
              <a:t>Database for</a:t>
            </a:r>
            <a:r>
              <a:rPr sz="1400" b="1" spc="-215" dirty="0">
                <a:latin typeface="Times New Roman"/>
                <a:cs typeface="Times New Roman"/>
              </a:rPr>
              <a:t> </a:t>
            </a:r>
            <a:r>
              <a:rPr sz="1400" b="1" dirty="0">
                <a:latin typeface="Times New Roman"/>
                <a:cs typeface="Times New Roman"/>
              </a:rPr>
              <a:t>Stretch</a:t>
            </a:r>
            <a:endParaRPr sz="1400">
              <a:latin typeface="Times New Roman"/>
              <a:cs typeface="Times New Roman"/>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19</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987" y="0"/>
            <a:ext cx="8405369" cy="635635"/>
          </a:xfrm>
          <a:prstGeom prst="rect">
            <a:avLst/>
          </a:prstGeom>
        </p:spPr>
        <p:txBody>
          <a:bodyPr vert="horz" wrap="square" lIns="0" tIns="12700" rIns="0" bIns="0" rtlCol="0">
            <a:spAutoFit/>
          </a:bodyPr>
          <a:lstStyle/>
          <a:p>
            <a:pPr marL="12700">
              <a:lnSpc>
                <a:spcPct val="100000"/>
              </a:lnSpc>
              <a:spcBef>
                <a:spcPts val="100"/>
              </a:spcBef>
            </a:pPr>
            <a:r>
              <a:rPr sz="4000" b="0" spc="-5" dirty="0">
                <a:latin typeface="Arial"/>
                <a:cs typeface="Arial"/>
              </a:rPr>
              <a:t>Setting</a:t>
            </a:r>
            <a:r>
              <a:rPr sz="4000" b="0" spc="-295" dirty="0">
                <a:latin typeface="Arial"/>
                <a:cs typeface="Arial"/>
              </a:rPr>
              <a:t> </a:t>
            </a:r>
            <a:r>
              <a:rPr sz="4000" b="0" spc="35" dirty="0">
                <a:latin typeface="Arial"/>
                <a:cs typeface="Arial"/>
              </a:rPr>
              <a:t>up</a:t>
            </a:r>
            <a:r>
              <a:rPr sz="4000" b="0" spc="-270" dirty="0">
                <a:latin typeface="Arial"/>
                <a:cs typeface="Arial"/>
              </a:rPr>
              <a:t> </a:t>
            </a:r>
            <a:r>
              <a:rPr sz="4000" b="0" spc="-5" dirty="0">
                <a:latin typeface="Arial"/>
                <a:cs typeface="Arial"/>
              </a:rPr>
              <a:t>Stretch</a:t>
            </a:r>
            <a:r>
              <a:rPr sz="4000" b="0" spc="-280" dirty="0">
                <a:latin typeface="Arial"/>
                <a:cs typeface="Arial"/>
              </a:rPr>
              <a:t> </a:t>
            </a:r>
            <a:r>
              <a:rPr sz="4000" b="0" spc="-180" dirty="0">
                <a:latin typeface="Arial"/>
                <a:cs typeface="Arial"/>
              </a:rPr>
              <a:t>Database</a:t>
            </a:r>
            <a:r>
              <a:rPr sz="4000" b="0" spc="-270" dirty="0">
                <a:latin typeface="Arial"/>
                <a:cs typeface="Arial"/>
              </a:rPr>
              <a:t> </a:t>
            </a:r>
            <a:r>
              <a:rPr sz="4000" b="0" spc="-229" dirty="0">
                <a:latin typeface="Arial"/>
                <a:cs typeface="Arial"/>
              </a:rPr>
              <a:t>2-2</a:t>
            </a:r>
            <a:endParaRPr sz="4000">
              <a:latin typeface="Arial"/>
              <a:cs typeface="Arial"/>
            </a:endParaRPr>
          </a:p>
        </p:txBody>
      </p:sp>
      <p:pic>
        <p:nvPicPr>
          <p:cNvPr id="3" name="object 3"/>
          <p:cNvPicPr/>
          <p:nvPr/>
        </p:nvPicPr>
        <p:blipFill>
          <a:blip r:embed="rId3" cstate="print"/>
          <a:stretch>
            <a:fillRect/>
          </a:stretch>
        </p:blipFill>
        <p:spPr>
          <a:xfrm>
            <a:off x="106679" y="1325117"/>
            <a:ext cx="4585716" cy="4079748"/>
          </a:xfrm>
          <a:prstGeom prst="rect">
            <a:avLst/>
          </a:prstGeom>
        </p:spPr>
      </p:pic>
      <p:sp>
        <p:nvSpPr>
          <p:cNvPr id="4" name="object 4"/>
          <p:cNvSpPr txBox="1"/>
          <p:nvPr/>
        </p:nvSpPr>
        <p:spPr>
          <a:xfrm>
            <a:off x="1156208" y="5403596"/>
            <a:ext cx="2119630" cy="238760"/>
          </a:xfrm>
          <a:prstGeom prst="rect">
            <a:avLst/>
          </a:prstGeom>
        </p:spPr>
        <p:txBody>
          <a:bodyPr vert="horz" wrap="square" lIns="0" tIns="12065" rIns="0" bIns="0" rtlCol="0">
            <a:spAutoFit/>
          </a:bodyPr>
          <a:lstStyle/>
          <a:p>
            <a:pPr marL="12700">
              <a:lnSpc>
                <a:spcPct val="100000"/>
              </a:lnSpc>
              <a:spcBef>
                <a:spcPts val="95"/>
              </a:spcBef>
            </a:pPr>
            <a:r>
              <a:rPr sz="1400" b="1" spc="-20" dirty="0">
                <a:latin typeface="Times New Roman"/>
                <a:cs typeface="Times New Roman"/>
              </a:rPr>
              <a:t>Enable </a:t>
            </a:r>
            <a:r>
              <a:rPr sz="1400" b="1" spc="-15" dirty="0">
                <a:latin typeface="Times New Roman"/>
                <a:cs typeface="Times New Roman"/>
              </a:rPr>
              <a:t>Database for</a:t>
            </a:r>
            <a:r>
              <a:rPr sz="1400" b="1" spc="-245" dirty="0">
                <a:latin typeface="Times New Roman"/>
                <a:cs typeface="Times New Roman"/>
              </a:rPr>
              <a:t> </a:t>
            </a:r>
            <a:r>
              <a:rPr sz="1400" b="1" dirty="0">
                <a:latin typeface="Times New Roman"/>
                <a:cs typeface="Times New Roman"/>
              </a:rPr>
              <a:t>Stretch</a:t>
            </a:r>
            <a:endParaRPr sz="1400">
              <a:latin typeface="Times New Roman"/>
              <a:cs typeface="Times New Roman"/>
            </a:endParaRPr>
          </a:p>
        </p:txBody>
      </p:sp>
      <p:pic>
        <p:nvPicPr>
          <p:cNvPr id="5" name="object 5"/>
          <p:cNvPicPr/>
          <p:nvPr/>
        </p:nvPicPr>
        <p:blipFill>
          <a:blip r:embed="rId4" cstate="print"/>
          <a:stretch>
            <a:fillRect/>
          </a:stretch>
        </p:blipFill>
        <p:spPr>
          <a:xfrm>
            <a:off x="4853178" y="1364742"/>
            <a:ext cx="4184141" cy="4040123"/>
          </a:xfrm>
          <a:prstGeom prst="rect">
            <a:avLst/>
          </a:prstGeom>
        </p:spPr>
      </p:pic>
      <p:sp>
        <p:nvSpPr>
          <p:cNvPr id="6" name="object 6"/>
          <p:cNvSpPr txBox="1"/>
          <p:nvPr/>
        </p:nvSpPr>
        <p:spPr>
          <a:xfrm>
            <a:off x="6609333" y="5403596"/>
            <a:ext cx="1019810" cy="238760"/>
          </a:xfrm>
          <a:prstGeom prst="rect">
            <a:avLst/>
          </a:prstGeom>
        </p:spPr>
        <p:txBody>
          <a:bodyPr vert="horz" wrap="square" lIns="0" tIns="12065" rIns="0" bIns="0" rtlCol="0">
            <a:spAutoFit/>
          </a:bodyPr>
          <a:lstStyle/>
          <a:p>
            <a:pPr marL="12700">
              <a:lnSpc>
                <a:spcPct val="100000"/>
              </a:lnSpc>
              <a:spcBef>
                <a:spcPts val="95"/>
              </a:spcBef>
            </a:pPr>
            <a:r>
              <a:rPr sz="1400" b="1" spc="15" dirty="0">
                <a:latin typeface="Times New Roman"/>
                <a:cs typeface="Times New Roman"/>
              </a:rPr>
              <a:t>Select</a:t>
            </a:r>
            <a:r>
              <a:rPr sz="1400" b="1" spc="-125" dirty="0">
                <a:latin typeface="Times New Roman"/>
                <a:cs typeface="Times New Roman"/>
              </a:rPr>
              <a:t> </a:t>
            </a:r>
            <a:r>
              <a:rPr sz="1400" b="1" spc="-10" dirty="0">
                <a:latin typeface="Times New Roman"/>
                <a:cs typeface="Times New Roman"/>
              </a:rPr>
              <a:t>Tables</a:t>
            </a:r>
            <a:endParaRPr sz="14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20</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8531860" cy="635635"/>
          </a:xfrm>
          <a:prstGeom prst="rect">
            <a:avLst/>
          </a:prstGeom>
        </p:spPr>
        <p:txBody>
          <a:bodyPr vert="horz" wrap="square" lIns="0" tIns="12700" rIns="0" bIns="0" rtlCol="0">
            <a:spAutoFit/>
          </a:bodyPr>
          <a:lstStyle/>
          <a:p>
            <a:pPr marL="12700">
              <a:lnSpc>
                <a:spcPct val="100000"/>
              </a:lnSpc>
              <a:spcBef>
                <a:spcPts val="100"/>
              </a:spcBef>
            </a:pPr>
            <a:r>
              <a:rPr sz="4000" b="0" spc="-5" dirty="0">
                <a:latin typeface="Arial"/>
                <a:cs typeface="Arial"/>
              </a:rPr>
              <a:t>Stretch </a:t>
            </a:r>
            <a:r>
              <a:rPr sz="4000" b="0" spc="-180" dirty="0">
                <a:latin typeface="Arial"/>
                <a:cs typeface="Arial"/>
              </a:rPr>
              <a:t>Database </a:t>
            </a:r>
            <a:r>
              <a:rPr sz="4000" b="0" spc="60" dirty="0">
                <a:latin typeface="Arial"/>
                <a:cs typeface="Arial"/>
              </a:rPr>
              <a:t>Limitations</a:t>
            </a:r>
            <a:r>
              <a:rPr sz="4000" b="0" spc="-635" dirty="0">
                <a:latin typeface="Arial"/>
                <a:cs typeface="Arial"/>
              </a:rPr>
              <a:t> </a:t>
            </a:r>
            <a:r>
              <a:rPr sz="4000" b="0" spc="-480" dirty="0">
                <a:latin typeface="Arial"/>
                <a:cs typeface="Arial"/>
              </a:rPr>
              <a:t>1-3</a:t>
            </a:r>
            <a:endParaRPr sz="40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21</a:t>
            </a:fld>
            <a:endParaRPr sz="1200"/>
          </a:p>
        </p:txBody>
      </p:sp>
      <p:sp>
        <p:nvSpPr>
          <p:cNvPr id="6" name="object 6"/>
          <p:cNvSpPr txBox="1">
            <a:spLocks noGrp="1"/>
          </p:cNvSpPr>
          <p:nvPr>
            <p:ph type="ftr" sz="quarter" idx="5"/>
          </p:nvPr>
        </p:nvSpPr>
        <p:spPr>
          <a:xfrm>
            <a:off x="78738" y="6596379"/>
            <a:ext cx="1292861" cy="191078"/>
          </a:xfrm>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83540" y="1069339"/>
            <a:ext cx="8223884" cy="4245610"/>
          </a:xfrm>
          <a:prstGeom prst="rect">
            <a:avLst/>
          </a:prstGeom>
        </p:spPr>
        <p:txBody>
          <a:bodyPr vert="horz" wrap="square" lIns="0" tIns="12065" rIns="0" bIns="0" rtlCol="0">
            <a:spAutoFit/>
          </a:bodyPr>
          <a:lstStyle/>
          <a:p>
            <a:pPr marL="12700">
              <a:lnSpc>
                <a:spcPct val="100000"/>
              </a:lnSpc>
              <a:spcBef>
                <a:spcPts val="95"/>
              </a:spcBef>
            </a:pPr>
            <a:r>
              <a:rPr sz="2000" spc="30" dirty="0">
                <a:latin typeface="Arial"/>
                <a:cs typeface="Arial"/>
              </a:rPr>
              <a:t>Limitations</a:t>
            </a:r>
            <a:r>
              <a:rPr sz="2000" spc="-130" dirty="0">
                <a:latin typeface="Arial"/>
                <a:cs typeface="Arial"/>
              </a:rPr>
              <a:t> </a:t>
            </a:r>
            <a:r>
              <a:rPr sz="2000" spc="65" dirty="0">
                <a:latin typeface="Arial"/>
                <a:cs typeface="Arial"/>
              </a:rPr>
              <a:t>for</a:t>
            </a:r>
            <a:r>
              <a:rPr sz="2000" spc="-130" dirty="0">
                <a:latin typeface="Arial"/>
                <a:cs typeface="Arial"/>
              </a:rPr>
              <a:t> </a:t>
            </a:r>
            <a:r>
              <a:rPr sz="2000" spc="-5" dirty="0">
                <a:latin typeface="Arial"/>
                <a:cs typeface="Arial"/>
              </a:rPr>
              <a:t>Stretch</a:t>
            </a:r>
            <a:r>
              <a:rPr sz="2000" spc="-120" dirty="0">
                <a:latin typeface="Arial"/>
                <a:cs typeface="Arial"/>
              </a:rPr>
              <a:t> </a:t>
            </a:r>
            <a:r>
              <a:rPr sz="2000" spc="-60" dirty="0">
                <a:latin typeface="Arial"/>
                <a:cs typeface="Arial"/>
              </a:rPr>
              <a:t>Enable</a:t>
            </a:r>
            <a:r>
              <a:rPr sz="2000" spc="-100" dirty="0">
                <a:latin typeface="Arial"/>
                <a:cs typeface="Arial"/>
              </a:rPr>
              <a:t> </a:t>
            </a:r>
            <a:r>
              <a:rPr sz="2000" spc="-35" dirty="0">
                <a:latin typeface="Arial"/>
                <a:cs typeface="Arial"/>
              </a:rPr>
              <a:t>table</a:t>
            </a:r>
            <a:r>
              <a:rPr sz="2000" spc="-105" dirty="0">
                <a:latin typeface="Arial"/>
                <a:cs typeface="Arial"/>
              </a:rPr>
              <a:t> </a:t>
            </a:r>
            <a:r>
              <a:rPr sz="2000" spc="-85" dirty="0">
                <a:latin typeface="Arial"/>
                <a:cs typeface="Arial"/>
              </a:rPr>
              <a:t>are:</a:t>
            </a:r>
            <a:endParaRPr sz="2000">
              <a:latin typeface="Arial"/>
              <a:cs typeface="Arial"/>
            </a:endParaRPr>
          </a:p>
          <a:p>
            <a:pPr marL="12700">
              <a:lnSpc>
                <a:spcPct val="100000"/>
              </a:lnSpc>
              <a:spcBef>
                <a:spcPts val="2200"/>
              </a:spcBef>
            </a:pPr>
            <a:r>
              <a:rPr sz="1800" b="1" spc="5" dirty="0">
                <a:latin typeface="Times New Roman"/>
                <a:cs typeface="Times New Roman"/>
              </a:rPr>
              <a:t>Constraints</a:t>
            </a:r>
            <a:endParaRPr sz="1800">
              <a:latin typeface="Times New Roman"/>
              <a:cs typeface="Times New Roman"/>
            </a:endParaRPr>
          </a:p>
          <a:p>
            <a:pPr marL="12700" marR="5080" algn="just">
              <a:lnSpc>
                <a:spcPct val="100000"/>
              </a:lnSpc>
              <a:buChar char="•"/>
              <a:tabLst>
                <a:tab pos="238760" algn="l"/>
              </a:tabLst>
            </a:pPr>
            <a:r>
              <a:rPr sz="1800" spc="-30" dirty="0">
                <a:latin typeface="Arial"/>
                <a:cs typeface="Arial"/>
              </a:rPr>
              <a:t>Uniqueness </a:t>
            </a:r>
            <a:r>
              <a:rPr sz="1800" spc="-45" dirty="0">
                <a:latin typeface="Arial"/>
                <a:cs typeface="Arial"/>
              </a:rPr>
              <a:t>is </a:t>
            </a:r>
            <a:r>
              <a:rPr sz="1800" spc="50" dirty="0">
                <a:latin typeface="Arial"/>
                <a:cs typeface="Arial"/>
              </a:rPr>
              <a:t>not </a:t>
            </a:r>
            <a:r>
              <a:rPr sz="1800" spc="-20" dirty="0">
                <a:latin typeface="Arial"/>
                <a:cs typeface="Arial"/>
              </a:rPr>
              <a:t>enforced </a:t>
            </a:r>
            <a:r>
              <a:rPr sz="1800" spc="60" dirty="0">
                <a:latin typeface="Arial"/>
                <a:cs typeface="Arial"/>
              </a:rPr>
              <a:t>for </a:t>
            </a:r>
            <a:r>
              <a:rPr sz="1800" spc="90" dirty="0">
                <a:latin typeface="Arial"/>
                <a:cs typeface="Arial"/>
              </a:rPr>
              <a:t>UNIQUE </a:t>
            </a:r>
            <a:r>
              <a:rPr sz="1800" spc="-15" dirty="0">
                <a:latin typeface="Arial"/>
                <a:cs typeface="Arial"/>
              </a:rPr>
              <a:t>constraints </a:t>
            </a:r>
            <a:r>
              <a:rPr sz="1800" spc="-35" dirty="0">
                <a:latin typeface="Arial"/>
                <a:cs typeface="Arial"/>
              </a:rPr>
              <a:t>and </a:t>
            </a:r>
            <a:r>
              <a:rPr sz="1800" spc="50" dirty="0">
                <a:latin typeface="Arial"/>
                <a:cs typeface="Arial"/>
              </a:rPr>
              <a:t>PRIMARY </a:t>
            </a:r>
            <a:r>
              <a:rPr sz="1800" spc="20" dirty="0">
                <a:latin typeface="Arial"/>
                <a:cs typeface="Arial"/>
              </a:rPr>
              <a:t>KEY  </a:t>
            </a:r>
            <a:r>
              <a:rPr sz="1800" spc="-15" dirty="0">
                <a:latin typeface="Arial"/>
                <a:cs typeface="Arial"/>
              </a:rPr>
              <a:t>constraints</a:t>
            </a:r>
            <a:r>
              <a:rPr sz="1800" spc="-120" dirty="0">
                <a:latin typeface="Arial"/>
                <a:cs typeface="Arial"/>
              </a:rPr>
              <a:t> </a:t>
            </a:r>
            <a:r>
              <a:rPr sz="1800" spc="80" dirty="0">
                <a:latin typeface="Arial"/>
                <a:cs typeface="Arial"/>
              </a:rPr>
              <a:t>in</a:t>
            </a:r>
            <a:r>
              <a:rPr sz="1800" spc="-110" dirty="0">
                <a:latin typeface="Arial"/>
                <a:cs typeface="Arial"/>
              </a:rPr>
              <a:t> </a:t>
            </a:r>
            <a:r>
              <a:rPr sz="1800" dirty="0">
                <a:latin typeface="Arial"/>
                <a:cs typeface="Arial"/>
              </a:rPr>
              <a:t>the</a:t>
            </a:r>
            <a:r>
              <a:rPr sz="1800" spc="-114" dirty="0">
                <a:latin typeface="Arial"/>
                <a:cs typeface="Arial"/>
              </a:rPr>
              <a:t> </a:t>
            </a:r>
            <a:r>
              <a:rPr sz="1800" spc="-5" dirty="0">
                <a:latin typeface="Arial"/>
                <a:cs typeface="Arial"/>
              </a:rPr>
              <a:t>Azure</a:t>
            </a:r>
            <a:r>
              <a:rPr sz="1800" spc="-120" dirty="0">
                <a:latin typeface="Arial"/>
                <a:cs typeface="Arial"/>
              </a:rPr>
              <a:t> </a:t>
            </a:r>
            <a:r>
              <a:rPr sz="1800" spc="-30" dirty="0">
                <a:latin typeface="Arial"/>
                <a:cs typeface="Arial"/>
              </a:rPr>
              <a:t>table</a:t>
            </a:r>
            <a:r>
              <a:rPr sz="1800" spc="-114" dirty="0">
                <a:latin typeface="Arial"/>
                <a:cs typeface="Arial"/>
              </a:rPr>
              <a:t> </a:t>
            </a:r>
            <a:r>
              <a:rPr sz="1800" spc="25" dirty="0">
                <a:latin typeface="Arial"/>
                <a:cs typeface="Arial"/>
              </a:rPr>
              <a:t>that</a:t>
            </a:r>
            <a:r>
              <a:rPr sz="1800" spc="-120" dirty="0">
                <a:latin typeface="Arial"/>
                <a:cs typeface="Arial"/>
              </a:rPr>
              <a:t> </a:t>
            </a:r>
            <a:r>
              <a:rPr sz="1800" spc="-15" dirty="0">
                <a:latin typeface="Arial"/>
                <a:cs typeface="Arial"/>
              </a:rPr>
              <a:t>contains</a:t>
            </a:r>
            <a:r>
              <a:rPr sz="1800" spc="-114" dirty="0">
                <a:latin typeface="Arial"/>
                <a:cs typeface="Arial"/>
              </a:rPr>
              <a:t> </a:t>
            </a:r>
            <a:r>
              <a:rPr sz="1800" dirty="0">
                <a:latin typeface="Arial"/>
                <a:cs typeface="Arial"/>
              </a:rPr>
              <a:t>the</a:t>
            </a:r>
            <a:r>
              <a:rPr sz="1800" spc="-114" dirty="0">
                <a:latin typeface="Arial"/>
                <a:cs typeface="Arial"/>
              </a:rPr>
              <a:t> </a:t>
            </a:r>
            <a:r>
              <a:rPr sz="1800" spc="-20" dirty="0">
                <a:latin typeface="Arial"/>
                <a:cs typeface="Arial"/>
              </a:rPr>
              <a:t>migrated</a:t>
            </a:r>
            <a:r>
              <a:rPr sz="1800" spc="-130" dirty="0">
                <a:latin typeface="Arial"/>
                <a:cs typeface="Arial"/>
              </a:rPr>
              <a:t> </a:t>
            </a:r>
            <a:r>
              <a:rPr sz="1800" spc="-55" dirty="0">
                <a:latin typeface="Arial"/>
                <a:cs typeface="Arial"/>
              </a:rPr>
              <a:t>data.</a:t>
            </a:r>
            <a:endParaRPr sz="1800">
              <a:latin typeface="Arial"/>
              <a:cs typeface="Arial"/>
            </a:endParaRPr>
          </a:p>
          <a:p>
            <a:pPr marL="12700">
              <a:lnSpc>
                <a:spcPct val="100000"/>
              </a:lnSpc>
              <a:spcBef>
                <a:spcPts val="2160"/>
              </a:spcBef>
            </a:pPr>
            <a:r>
              <a:rPr sz="1800" b="1" spc="-30" dirty="0">
                <a:latin typeface="Times New Roman"/>
                <a:cs typeface="Times New Roman"/>
              </a:rPr>
              <a:t>DML</a:t>
            </a:r>
            <a:r>
              <a:rPr sz="1800" b="1" spc="-114" dirty="0">
                <a:latin typeface="Times New Roman"/>
                <a:cs typeface="Times New Roman"/>
              </a:rPr>
              <a:t> </a:t>
            </a:r>
            <a:r>
              <a:rPr sz="1800" b="1" spc="-5" dirty="0">
                <a:latin typeface="Times New Roman"/>
                <a:cs typeface="Times New Roman"/>
              </a:rPr>
              <a:t>operations</a:t>
            </a:r>
            <a:endParaRPr sz="1800">
              <a:latin typeface="Times New Roman"/>
              <a:cs typeface="Times New Roman"/>
            </a:endParaRPr>
          </a:p>
          <a:p>
            <a:pPr marL="12700" marR="5080" algn="just">
              <a:lnSpc>
                <a:spcPct val="100000"/>
              </a:lnSpc>
              <a:buChar char="•"/>
              <a:tabLst>
                <a:tab pos="175260" algn="l"/>
              </a:tabLst>
            </a:pPr>
            <a:r>
              <a:rPr sz="1800" spc="30" dirty="0">
                <a:latin typeface="Arial"/>
                <a:cs typeface="Arial"/>
              </a:rPr>
              <a:t>You </a:t>
            </a:r>
            <a:r>
              <a:rPr sz="1800" spc="-85" dirty="0">
                <a:latin typeface="Arial"/>
                <a:cs typeface="Arial"/>
              </a:rPr>
              <a:t>are </a:t>
            </a:r>
            <a:r>
              <a:rPr sz="1800" spc="50" dirty="0">
                <a:latin typeface="Arial"/>
                <a:cs typeface="Arial"/>
              </a:rPr>
              <a:t>not </a:t>
            </a:r>
            <a:r>
              <a:rPr sz="1800" spc="-65" dirty="0">
                <a:latin typeface="Arial"/>
                <a:cs typeface="Arial"/>
              </a:rPr>
              <a:t>able </a:t>
            </a:r>
            <a:r>
              <a:rPr sz="1800" spc="45" dirty="0">
                <a:latin typeface="Arial"/>
                <a:cs typeface="Arial"/>
              </a:rPr>
              <a:t>to </a:t>
            </a:r>
            <a:r>
              <a:rPr sz="1800" spc="65" dirty="0">
                <a:latin typeface="Arial"/>
                <a:cs typeface="Arial"/>
              </a:rPr>
              <a:t>UPDATE </a:t>
            </a:r>
            <a:r>
              <a:rPr sz="1800" spc="25" dirty="0">
                <a:latin typeface="Arial"/>
                <a:cs typeface="Arial"/>
              </a:rPr>
              <a:t>or </a:t>
            </a:r>
            <a:r>
              <a:rPr sz="1800" spc="5" dirty="0">
                <a:latin typeface="Arial"/>
                <a:cs typeface="Arial"/>
              </a:rPr>
              <a:t>DELETE </a:t>
            </a:r>
            <a:r>
              <a:rPr sz="1800" spc="-25" dirty="0">
                <a:latin typeface="Arial"/>
                <a:cs typeface="Arial"/>
              </a:rPr>
              <a:t>rows </a:t>
            </a:r>
            <a:r>
              <a:rPr sz="1800" spc="25" dirty="0">
                <a:latin typeface="Arial"/>
                <a:cs typeface="Arial"/>
              </a:rPr>
              <a:t>that </a:t>
            </a:r>
            <a:r>
              <a:rPr sz="1800" spc="-60" dirty="0">
                <a:latin typeface="Arial"/>
                <a:cs typeface="Arial"/>
              </a:rPr>
              <a:t>have </a:t>
            </a:r>
            <a:r>
              <a:rPr sz="1800" spc="-70" dirty="0">
                <a:latin typeface="Arial"/>
                <a:cs typeface="Arial"/>
              </a:rPr>
              <a:t>been </a:t>
            </a:r>
            <a:r>
              <a:rPr sz="1800" spc="-20" dirty="0">
                <a:latin typeface="Arial"/>
                <a:cs typeface="Arial"/>
              </a:rPr>
              <a:t>migrated </a:t>
            </a:r>
            <a:r>
              <a:rPr sz="1800" spc="25" dirty="0">
                <a:latin typeface="Arial"/>
                <a:cs typeface="Arial"/>
              </a:rPr>
              <a:t>or </a:t>
            </a:r>
            <a:r>
              <a:rPr sz="1800" spc="-25" dirty="0">
                <a:latin typeface="Arial"/>
                <a:cs typeface="Arial"/>
              </a:rPr>
              <a:t>rows  </a:t>
            </a:r>
            <a:r>
              <a:rPr sz="1800" spc="25" dirty="0">
                <a:latin typeface="Arial"/>
                <a:cs typeface="Arial"/>
              </a:rPr>
              <a:t>that </a:t>
            </a:r>
            <a:r>
              <a:rPr sz="1800" spc="-90" dirty="0">
                <a:latin typeface="Arial"/>
                <a:cs typeface="Arial"/>
              </a:rPr>
              <a:t>are </a:t>
            </a:r>
            <a:r>
              <a:rPr sz="1800" spc="-5" dirty="0">
                <a:latin typeface="Arial"/>
                <a:cs typeface="Arial"/>
              </a:rPr>
              <a:t>eligible </a:t>
            </a:r>
            <a:r>
              <a:rPr sz="1800" spc="60" dirty="0">
                <a:latin typeface="Arial"/>
                <a:cs typeface="Arial"/>
              </a:rPr>
              <a:t>for </a:t>
            </a:r>
            <a:r>
              <a:rPr sz="1800" spc="10" dirty="0">
                <a:latin typeface="Arial"/>
                <a:cs typeface="Arial"/>
              </a:rPr>
              <a:t>migration, </a:t>
            </a:r>
            <a:r>
              <a:rPr sz="1800" spc="80" dirty="0">
                <a:latin typeface="Arial"/>
                <a:cs typeface="Arial"/>
              </a:rPr>
              <a:t>in </a:t>
            </a:r>
            <a:r>
              <a:rPr sz="1800" spc="-175" dirty="0">
                <a:latin typeface="Arial"/>
                <a:cs typeface="Arial"/>
              </a:rPr>
              <a:t>a </a:t>
            </a:r>
            <a:r>
              <a:rPr sz="1800" spc="-25" dirty="0">
                <a:latin typeface="Arial"/>
                <a:cs typeface="Arial"/>
              </a:rPr>
              <a:t>Stretch-enabled </a:t>
            </a:r>
            <a:r>
              <a:rPr sz="1800" spc="-30" dirty="0">
                <a:latin typeface="Arial"/>
                <a:cs typeface="Arial"/>
              </a:rPr>
              <a:t>table </a:t>
            </a:r>
            <a:r>
              <a:rPr sz="1800" spc="25" dirty="0">
                <a:latin typeface="Arial"/>
                <a:cs typeface="Arial"/>
              </a:rPr>
              <a:t>or </a:t>
            </a:r>
            <a:r>
              <a:rPr sz="1800" spc="80" dirty="0">
                <a:latin typeface="Arial"/>
                <a:cs typeface="Arial"/>
              </a:rPr>
              <a:t>in </a:t>
            </a:r>
            <a:r>
              <a:rPr sz="1800" spc="-175" dirty="0">
                <a:latin typeface="Arial"/>
                <a:cs typeface="Arial"/>
              </a:rPr>
              <a:t>a </a:t>
            </a:r>
            <a:r>
              <a:rPr sz="1800" spc="10" dirty="0">
                <a:latin typeface="Arial"/>
                <a:cs typeface="Arial"/>
              </a:rPr>
              <a:t>view </a:t>
            </a:r>
            <a:r>
              <a:rPr sz="1800" spc="25" dirty="0">
                <a:latin typeface="Arial"/>
                <a:cs typeface="Arial"/>
              </a:rPr>
              <a:t>that </a:t>
            </a:r>
            <a:r>
              <a:rPr sz="1800" spc="-20" dirty="0">
                <a:latin typeface="Arial"/>
                <a:cs typeface="Arial"/>
              </a:rPr>
              <a:t>includes  </a:t>
            </a:r>
            <a:r>
              <a:rPr sz="1800" spc="-25" dirty="0">
                <a:latin typeface="Arial"/>
                <a:cs typeface="Arial"/>
              </a:rPr>
              <a:t>Stretch-enabled</a:t>
            </a:r>
            <a:r>
              <a:rPr sz="1800" spc="-125" dirty="0">
                <a:latin typeface="Arial"/>
                <a:cs typeface="Arial"/>
              </a:rPr>
              <a:t> </a:t>
            </a:r>
            <a:r>
              <a:rPr sz="1800" spc="-55" dirty="0">
                <a:latin typeface="Arial"/>
                <a:cs typeface="Arial"/>
              </a:rPr>
              <a:t>tables.</a:t>
            </a:r>
            <a:endParaRPr sz="1800">
              <a:latin typeface="Arial"/>
              <a:cs typeface="Arial"/>
            </a:endParaRPr>
          </a:p>
          <a:p>
            <a:pPr marL="157480" indent="-144780" algn="just">
              <a:lnSpc>
                <a:spcPct val="100000"/>
              </a:lnSpc>
              <a:buChar char="•"/>
              <a:tabLst>
                <a:tab pos="157480" algn="l"/>
              </a:tabLst>
            </a:pPr>
            <a:r>
              <a:rPr sz="1800" spc="30" dirty="0">
                <a:latin typeface="Arial"/>
                <a:cs typeface="Arial"/>
              </a:rPr>
              <a:t>You</a:t>
            </a:r>
            <a:r>
              <a:rPr sz="1800" spc="-105" dirty="0">
                <a:latin typeface="Arial"/>
                <a:cs typeface="Arial"/>
              </a:rPr>
              <a:t> </a:t>
            </a:r>
            <a:r>
              <a:rPr sz="1800" spc="-90" dirty="0">
                <a:latin typeface="Arial"/>
                <a:cs typeface="Arial"/>
              </a:rPr>
              <a:t>are</a:t>
            </a:r>
            <a:r>
              <a:rPr sz="1800" spc="-120" dirty="0">
                <a:latin typeface="Arial"/>
                <a:cs typeface="Arial"/>
              </a:rPr>
              <a:t> </a:t>
            </a:r>
            <a:r>
              <a:rPr sz="1800" spc="50" dirty="0">
                <a:latin typeface="Arial"/>
                <a:cs typeface="Arial"/>
              </a:rPr>
              <a:t>not</a:t>
            </a:r>
            <a:r>
              <a:rPr sz="1800" spc="-105" dirty="0">
                <a:latin typeface="Arial"/>
                <a:cs typeface="Arial"/>
              </a:rPr>
              <a:t> </a:t>
            </a:r>
            <a:r>
              <a:rPr sz="1800" spc="-65" dirty="0">
                <a:latin typeface="Arial"/>
                <a:cs typeface="Arial"/>
              </a:rPr>
              <a:t>able</a:t>
            </a:r>
            <a:r>
              <a:rPr sz="1800" spc="-120" dirty="0">
                <a:latin typeface="Arial"/>
                <a:cs typeface="Arial"/>
              </a:rPr>
              <a:t> </a:t>
            </a:r>
            <a:r>
              <a:rPr sz="1800" spc="45" dirty="0">
                <a:latin typeface="Arial"/>
                <a:cs typeface="Arial"/>
              </a:rPr>
              <a:t>to</a:t>
            </a:r>
            <a:r>
              <a:rPr sz="1800" spc="-110" dirty="0">
                <a:latin typeface="Arial"/>
                <a:cs typeface="Arial"/>
              </a:rPr>
              <a:t> </a:t>
            </a:r>
            <a:r>
              <a:rPr sz="1800" spc="20" dirty="0">
                <a:latin typeface="Arial"/>
                <a:cs typeface="Arial"/>
              </a:rPr>
              <a:t>INSERT</a:t>
            </a:r>
            <a:r>
              <a:rPr sz="1800" spc="-114" dirty="0">
                <a:latin typeface="Arial"/>
                <a:cs typeface="Arial"/>
              </a:rPr>
              <a:t> </a:t>
            </a:r>
            <a:r>
              <a:rPr sz="1800" spc="-25" dirty="0">
                <a:latin typeface="Arial"/>
                <a:cs typeface="Arial"/>
              </a:rPr>
              <a:t>rows</a:t>
            </a:r>
            <a:r>
              <a:rPr sz="1800" spc="-95" dirty="0">
                <a:latin typeface="Arial"/>
                <a:cs typeface="Arial"/>
              </a:rPr>
              <a:t> </a:t>
            </a:r>
            <a:r>
              <a:rPr sz="1800" spc="65" dirty="0">
                <a:latin typeface="Arial"/>
                <a:cs typeface="Arial"/>
              </a:rPr>
              <a:t>into</a:t>
            </a:r>
            <a:r>
              <a:rPr sz="1800" spc="-114" dirty="0">
                <a:latin typeface="Arial"/>
                <a:cs typeface="Arial"/>
              </a:rPr>
              <a:t> </a:t>
            </a:r>
            <a:r>
              <a:rPr sz="1800" spc="-175" dirty="0">
                <a:latin typeface="Arial"/>
                <a:cs typeface="Arial"/>
              </a:rPr>
              <a:t>a</a:t>
            </a:r>
            <a:r>
              <a:rPr sz="1800" spc="-114" dirty="0">
                <a:latin typeface="Arial"/>
                <a:cs typeface="Arial"/>
              </a:rPr>
              <a:t> </a:t>
            </a:r>
            <a:r>
              <a:rPr sz="1800" spc="-25" dirty="0">
                <a:latin typeface="Arial"/>
                <a:cs typeface="Arial"/>
              </a:rPr>
              <a:t>Stretch-enabled</a:t>
            </a:r>
            <a:r>
              <a:rPr sz="1800" spc="-135" dirty="0">
                <a:latin typeface="Arial"/>
                <a:cs typeface="Arial"/>
              </a:rPr>
              <a:t> </a:t>
            </a:r>
            <a:r>
              <a:rPr sz="1800" spc="-30" dirty="0">
                <a:latin typeface="Arial"/>
                <a:cs typeface="Arial"/>
              </a:rPr>
              <a:t>table</a:t>
            </a:r>
            <a:r>
              <a:rPr sz="1800" spc="-114" dirty="0">
                <a:latin typeface="Arial"/>
                <a:cs typeface="Arial"/>
              </a:rPr>
              <a:t> </a:t>
            </a:r>
            <a:r>
              <a:rPr sz="1800" spc="20" dirty="0">
                <a:latin typeface="Arial"/>
                <a:cs typeface="Arial"/>
              </a:rPr>
              <a:t>on</a:t>
            </a:r>
            <a:r>
              <a:rPr sz="1800" spc="-110" dirty="0">
                <a:latin typeface="Arial"/>
                <a:cs typeface="Arial"/>
              </a:rPr>
              <a:t> </a:t>
            </a:r>
            <a:r>
              <a:rPr sz="1800" spc="-175" dirty="0">
                <a:latin typeface="Arial"/>
                <a:cs typeface="Arial"/>
              </a:rPr>
              <a:t>a</a:t>
            </a:r>
            <a:r>
              <a:rPr sz="1800" spc="-114" dirty="0">
                <a:latin typeface="Arial"/>
                <a:cs typeface="Arial"/>
              </a:rPr>
              <a:t> </a:t>
            </a:r>
            <a:r>
              <a:rPr sz="1800" spc="35" dirty="0">
                <a:latin typeface="Arial"/>
                <a:cs typeface="Arial"/>
              </a:rPr>
              <a:t>linked</a:t>
            </a:r>
            <a:r>
              <a:rPr sz="1800" spc="-120" dirty="0">
                <a:latin typeface="Arial"/>
                <a:cs typeface="Arial"/>
              </a:rPr>
              <a:t> </a:t>
            </a:r>
            <a:r>
              <a:rPr sz="1800" spc="-55" dirty="0">
                <a:latin typeface="Arial"/>
                <a:cs typeface="Arial"/>
              </a:rPr>
              <a:t>server.</a:t>
            </a:r>
            <a:endParaRPr sz="1800">
              <a:latin typeface="Arial"/>
              <a:cs typeface="Arial"/>
            </a:endParaRPr>
          </a:p>
          <a:p>
            <a:pPr>
              <a:lnSpc>
                <a:spcPct val="100000"/>
              </a:lnSpc>
              <a:spcBef>
                <a:spcPts val="5"/>
              </a:spcBef>
              <a:buFont typeface="Arial"/>
              <a:buChar char="•"/>
            </a:pPr>
            <a:endParaRPr sz="2350">
              <a:latin typeface="Arial"/>
              <a:cs typeface="Arial"/>
            </a:endParaRPr>
          </a:p>
          <a:p>
            <a:pPr marL="12700">
              <a:lnSpc>
                <a:spcPct val="100000"/>
              </a:lnSpc>
            </a:pPr>
            <a:r>
              <a:rPr sz="1800" b="1" spc="10" dirty="0">
                <a:latin typeface="Times New Roman"/>
                <a:cs typeface="Times New Roman"/>
              </a:rPr>
              <a:t>Indexes</a:t>
            </a:r>
            <a:endParaRPr sz="1800">
              <a:latin typeface="Times New Roman"/>
              <a:cs typeface="Times New Roman"/>
            </a:endParaRPr>
          </a:p>
          <a:p>
            <a:pPr marL="157480" indent="-144780" algn="just">
              <a:lnSpc>
                <a:spcPct val="100000"/>
              </a:lnSpc>
              <a:buChar char="•"/>
              <a:tabLst>
                <a:tab pos="157480" algn="l"/>
              </a:tabLst>
            </a:pPr>
            <a:r>
              <a:rPr sz="1800" spc="30" dirty="0">
                <a:latin typeface="Arial"/>
                <a:cs typeface="Arial"/>
              </a:rPr>
              <a:t>You</a:t>
            </a:r>
            <a:r>
              <a:rPr sz="1800" spc="-110" dirty="0">
                <a:latin typeface="Arial"/>
                <a:cs typeface="Arial"/>
              </a:rPr>
              <a:t> </a:t>
            </a:r>
            <a:r>
              <a:rPr sz="1800" spc="-90" dirty="0">
                <a:latin typeface="Arial"/>
                <a:cs typeface="Arial"/>
              </a:rPr>
              <a:t>are</a:t>
            </a:r>
            <a:r>
              <a:rPr sz="1800" spc="-114" dirty="0">
                <a:latin typeface="Arial"/>
                <a:cs typeface="Arial"/>
              </a:rPr>
              <a:t> </a:t>
            </a:r>
            <a:r>
              <a:rPr sz="1800" spc="50" dirty="0">
                <a:latin typeface="Arial"/>
                <a:cs typeface="Arial"/>
              </a:rPr>
              <a:t>not</a:t>
            </a:r>
            <a:r>
              <a:rPr sz="1800" spc="-105" dirty="0">
                <a:latin typeface="Arial"/>
                <a:cs typeface="Arial"/>
              </a:rPr>
              <a:t> </a:t>
            </a:r>
            <a:r>
              <a:rPr sz="1800" spc="-65" dirty="0">
                <a:latin typeface="Arial"/>
                <a:cs typeface="Arial"/>
              </a:rPr>
              <a:t>able</a:t>
            </a:r>
            <a:r>
              <a:rPr sz="1800" spc="-120" dirty="0">
                <a:latin typeface="Arial"/>
                <a:cs typeface="Arial"/>
              </a:rPr>
              <a:t> </a:t>
            </a:r>
            <a:r>
              <a:rPr sz="1800" spc="45" dirty="0">
                <a:latin typeface="Arial"/>
                <a:cs typeface="Arial"/>
              </a:rPr>
              <a:t>to</a:t>
            </a:r>
            <a:r>
              <a:rPr sz="1800" spc="-110" dirty="0">
                <a:latin typeface="Arial"/>
                <a:cs typeface="Arial"/>
              </a:rPr>
              <a:t> </a:t>
            </a:r>
            <a:r>
              <a:rPr sz="1800" spc="-65" dirty="0">
                <a:latin typeface="Arial"/>
                <a:cs typeface="Arial"/>
              </a:rPr>
              <a:t>create</a:t>
            </a:r>
            <a:r>
              <a:rPr sz="1800" spc="-114" dirty="0">
                <a:latin typeface="Arial"/>
                <a:cs typeface="Arial"/>
              </a:rPr>
              <a:t> </a:t>
            </a:r>
            <a:r>
              <a:rPr sz="1800" spc="-60" dirty="0">
                <a:latin typeface="Arial"/>
                <a:cs typeface="Arial"/>
              </a:rPr>
              <a:t>an</a:t>
            </a:r>
            <a:r>
              <a:rPr sz="1800" spc="-125" dirty="0">
                <a:latin typeface="Arial"/>
                <a:cs typeface="Arial"/>
              </a:rPr>
              <a:t> </a:t>
            </a:r>
            <a:r>
              <a:rPr sz="1800" spc="20" dirty="0">
                <a:latin typeface="Arial"/>
                <a:cs typeface="Arial"/>
              </a:rPr>
              <a:t>index</a:t>
            </a:r>
            <a:r>
              <a:rPr sz="1800" spc="-114" dirty="0">
                <a:latin typeface="Arial"/>
                <a:cs typeface="Arial"/>
              </a:rPr>
              <a:t> </a:t>
            </a:r>
            <a:r>
              <a:rPr sz="1800" spc="60" dirty="0">
                <a:latin typeface="Arial"/>
                <a:cs typeface="Arial"/>
              </a:rPr>
              <a:t>for</a:t>
            </a:r>
            <a:r>
              <a:rPr sz="1800" spc="-100" dirty="0">
                <a:latin typeface="Arial"/>
                <a:cs typeface="Arial"/>
              </a:rPr>
              <a:t> </a:t>
            </a:r>
            <a:r>
              <a:rPr sz="1800" spc="-175" dirty="0">
                <a:latin typeface="Arial"/>
                <a:cs typeface="Arial"/>
              </a:rPr>
              <a:t>a</a:t>
            </a:r>
            <a:r>
              <a:rPr sz="1800" spc="-114" dirty="0">
                <a:latin typeface="Arial"/>
                <a:cs typeface="Arial"/>
              </a:rPr>
              <a:t> </a:t>
            </a:r>
            <a:r>
              <a:rPr sz="1800" spc="5" dirty="0">
                <a:latin typeface="Arial"/>
                <a:cs typeface="Arial"/>
              </a:rPr>
              <a:t>view</a:t>
            </a:r>
            <a:r>
              <a:rPr sz="1800" spc="-110" dirty="0">
                <a:latin typeface="Arial"/>
                <a:cs typeface="Arial"/>
              </a:rPr>
              <a:t> </a:t>
            </a:r>
            <a:r>
              <a:rPr sz="1800" spc="25" dirty="0">
                <a:latin typeface="Arial"/>
                <a:cs typeface="Arial"/>
              </a:rPr>
              <a:t>that</a:t>
            </a:r>
            <a:r>
              <a:rPr sz="1800" spc="-114" dirty="0">
                <a:latin typeface="Arial"/>
                <a:cs typeface="Arial"/>
              </a:rPr>
              <a:t> </a:t>
            </a:r>
            <a:r>
              <a:rPr sz="1800" spc="-15" dirty="0">
                <a:latin typeface="Arial"/>
                <a:cs typeface="Arial"/>
              </a:rPr>
              <a:t>includes</a:t>
            </a:r>
            <a:r>
              <a:rPr sz="1800" spc="-120" dirty="0">
                <a:latin typeface="Arial"/>
                <a:cs typeface="Arial"/>
              </a:rPr>
              <a:t> </a:t>
            </a:r>
            <a:r>
              <a:rPr sz="1800" spc="-25" dirty="0">
                <a:latin typeface="Arial"/>
                <a:cs typeface="Arial"/>
              </a:rPr>
              <a:t>Stretch-enabled</a:t>
            </a:r>
            <a:r>
              <a:rPr sz="1800" spc="-114" dirty="0">
                <a:latin typeface="Arial"/>
                <a:cs typeface="Arial"/>
              </a:rPr>
              <a:t> </a:t>
            </a:r>
            <a:r>
              <a:rPr sz="1800" spc="-55" dirty="0">
                <a:latin typeface="Arial"/>
                <a:cs typeface="Arial"/>
              </a:rPr>
              <a:t>tables.</a:t>
            </a:r>
            <a:endParaRPr sz="1800">
              <a:latin typeface="Arial"/>
              <a:cs typeface="Arial"/>
            </a:endParaRPr>
          </a:p>
          <a:p>
            <a:pPr marL="157480" indent="-144780" algn="just">
              <a:lnSpc>
                <a:spcPct val="100000"/>
              </a:lnSpc>
              <a:buChar char="•"/>
              <a:tabLst>
                <a:tab pos="157480" algn="l"/>
              </a:tabLst>
            </a:pPr>
            <a:r>
              <a:rPr sz="1800" spc="-10" dirty="0">
                <a:latin typeface="Arial"/>
                <a:cs typeface="Arial"/>
              </a:rPr>
              <a:t>Filters</a:t>
            </a:r>
            <a:r>
              <a:rPr sz="1800" spc="-114" dirty="0">
                <a:latin typeface="Arial"/>
                <a:cs typeface="Arial"/>
              </a:rPr>
              <a:t> </a:t>
            </a:r>
            <a:r>
              <a:rPr sz="1800" spc="20" dirty="0">
                <a:latin typeface="Arial"/>
                <a:cs typeface="Arial"/>
              </a:rPr>
              <a:t>on</a:t>
            </a:r>
            <a:r>
              <a:rPr sz="1800" spc="-114" dirty="0">
                <a:latin typeface="Arial"/>
                <a:cs typeface="Arial"/>
              </a:rPr>
              <a:t> </a:t>
            </a:r>
            <a:r>
              <a:rPr sz="1800" spc="20" dirty="0">
                <a:latin typeface="Arial"/>
                <a:cs typeface="Arial"/>
              </a:rPr>
              <a:t>SQL</a:t>
            </a:r>
            <a:r>
              <a:rPr sz="1800" spc="-114" dirty="0">
                <a:latin typeface="Arial"/>
                <a:cs typeface="Arial"/>
              </a:rPr>
              <a:t> </a:t>
            </a:r>
            <a:r>
              <a:rPr sz="1800" spc="-45" dirty="0">
                <a:latin typeface="Arial"/>
                <a:cs typeface="Arial"/>
              </a:rPr>
              <a:t>Server</a:t>
            </a:r>
            <a:r>
              <a:rPr sz="1800" spc="-125" dirty="0">
                <a:latin typeface="Arial"/>
                <a:cs typeface="Arial"/>
              </a:rPr>
              <a:t> </a:t>
            </a:r>
            <a:r>
              <a:rPr sz="1800" spc="-35" dirty="0">
                <a:latin typeface="Arial"/>
                <a:cs typeface="Arial"/>
              </a:rPr>
              <a:t>indexes</a:t>
            </a:r>
            <a:r>
              <a:rPr sz="1800" spc="-120" dirty="0">
                <a:latin typeface="Arial"/>
                <a:cs typeface="Arial"/>
              </a:rPr>
              <a:t> </a:t>
            </a:r>
            <a:r>
              <a:rPr sz="1800" spc="-90" dirty="0">
                <a:latin typeface="Arial"/>
                <a:cs typeface="Arial"/>
              </a:rPr>
              <a:t>are</a:t>
            </a:r>
            <a:r>
              <a:rPr sz="1800" spc="-114" dirty="0">
                <a:latin typeface="Arial"/>
                <a:cs typeface="Arial"/>
              </a:rPr>
              <a:t> </a:t>
            </a:r>
            <a:r>
              <a:rPr sz="1800" spc="50" dirty="0">
                <a:latin typeface="Arial"/>
                <a:cs typeface="Arial"/>
              </a:rPr>
              <a:t>not</a:t>
            </a:r>
            <a:r>
              <a:rPr sz="1800" spc="-120" dirty="0">
                <a:latin typeface="Arial"/>
                <a:cs typeface="Arial"/>
              </a:rPr>
              <a:t> </a:t>
            </a:r>
            <a:r>
              <a:rPr sz="1800" spc="-45" dirty="0">
                <a:latin typeface="Arial"/>
                <a:cs typeface="Arial"/>
              </a:rPr>
              <a:t>propagated</a:t>
            </a:r>
            <a:r>
              <a:rPr sz="1800" spc="-135" dirty="0">
                <a:latin typeface="Arial"/>
                <a:cs typeface="Arial"/>
              </a:rPr>
              <a:t> </a:t>
            </a:r>
            <a:r>
              <a:rPr sz="1800" spc="45" dirty="0">
                <a:latin typeface="Arial"/>
                <a:cs typeface="Arial"/>
              </a:rPr>
              <a:t>to</a:t>
            </a:r>
            <a:r>
              <a:rPr sz="1800" spc="-120" dirty="0">
                <a:latin typeface="Arial"/>
                <a:cs typeface="Arial"/>
              </a:rPr>
              <a:t> </a:t>
            </a:r>
            <a:r>
              <a:rPr sz="1800" dirty="0">
                <a:latin typeface="Arial"/>
                <a:cs typeface="Arial"/>
              </a:rPr>
              <a:t>the</a:t>
            </a:r>
            <a:r>
              <a:rPr sz="1800" spc="-110" dirty="0">
                <a:latin typeface="Arial"/>
                <a:cs typeface="Arial"/>
              </a:rPr>
              <a:t> </a:t>
            </a:r>
            <a:r>
              <a:rPr sz="1800" spc="-30" dirty="0">
                <a:latin typeface="Arial"/>
                <a:cs typeface="Arial"/>
              </a:rPr>
              <a:t>remote</a:t>
            </a:r>
            <a:r>
              <a:rPr sz="1800" spc="-120" dirty="0">
                <a:latin typeface="Arial"/>
                <a:cs typeface="Arial"/>
              </a:rPr>
              <a:t> </a:t>
            </a:r>
            <a:r>
              <a:rPr sz="1800" spc="-30" dirty="0">
                <a:latin typeface="Arial"/>
                <a:cs typeface="Arial"/>
              </a:rPr>
              <a:t>table.</a:t>
            </a:r>
            <a:endParaRPr sz="180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7084059" cy="635635"/>
          </a:xfrm>
          <a:prstGeom prst="rect">
            <a:avLst/>
          </a:prstGeom>
        </p:spPr>
        <p:txBody>
          <a:bodyPr vert="horz" wrap="square" lIns="0" tIns="12700" rIns="0" bIns="0" rtlCol="0">
            <a:spAutoFit/>
          </a:bodyPr>
          <a:lstStyle/>
          <a:p>
            <a:pPr marL="12700">
              <a:lnSpc>
                <a:spcPct val="100000"/>
              </a:lnSpc>
              <a:spcBef>
                <a:spcPts val="100"/>
              </a:spcBef>
            </a:pPr>
            <a:r>
              <a:rPr sz="4000" b="0" spc="-5" dirty="0">
                <a:latin typeface="Arial"/>
                <a:cs typeface="Arial"/>
              </a:rPr>
              <a:t>Stretch </a:t>
            </a:r>
            <a:r>
              <a:rPr sz="4000" b="0" spc="-180" dirty="0">
                <a:latin typeface="Arial"/>
                <a:cs typeface="Arial"/>
              </a:rPr>
              <a:t>Database </a:t>
            </a:r>
            <a:r>
              <a:rPr sz="4000" b="0" spc="60" dirty="0">
                <a:latin typeface="Arial"/>
                <a:cs typeface="Arial"/>
              </a:rPr>
              <a:t>Limitations</a:t>
            </a:r>
            <a:r>
              <a:rPr sz="4000" b="0" spc="-635" dirty="0">
                <a:latin typeface="Arial"/>
                <a:cs typeface="Arial"/>
              </a:rPr>
              <a:t> </a:t>
            </a:r>
            <a:r>
              <a:rPr sz="4000" b="0" spc="-310" dirty="0">
                <a:latin typeface="Arial"/>
                <a:cs typeface="Arial"/>
              </a:rPr>
              <a:t>2-3</a:t>
            </a:r>
            <a:endParaRPr sz="40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22</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83540" y="813561"/>
            <a:ext cx="8400415" cy="5568191"/>
          </a:xfrm>
          <a:prstGeom prst="rect">
            <a:avLst/>
          </a:prstGeom>
        </p:spPr>
        <p:txBody>
          <a:bodyPr vert="horz" wrap="square" lIns="0" tIns="12700" rIns="0" bIns="0" rtlCol="0">
            <a:spAutoFit/>
          </a:bodyPr>
          <a:lstStyle/>
          <a:p>
            <a:pPr marL="12700">
              <a:lnSpc>
                <a:spcPct val="100000"/>
              </a:lnSpc>
              <a:spcBef>
                <a:spcPts val="100"/>
              </a:spcBef>
            </a:pPr>
            <a:r>
              <a:rPr sz="1800" spc="15" dirty="0">
                <a:latin typeface="Arial"/>
                <a:cs typeface="Arial"/>
              </a:rPr>
              <a:t>Following</a:t>
            </a:r>
            <a:r>
              <a:rPr sz="1800" spc="-114" dirty="0">
                <a:latin typeface="Arial"/>
                <a:cs typeface="Arial"/>
              </a:rPr>
              <a:t> </a:t>
            </a:r>
            <a:r>
              <a:rPr sz="1800" spc="-30" dirty="0">
                <a:latin typeface="Arial"/>
                <a:cs typeface="Arial"/>
              </a:rPr>
              <a:t>items</a:t>
            </a:r>
            <a:r>
              <a:rPr sz="1800" spc="-110" dirty="0">
                <a:latin typeface="Arial"/>
                <a:cs typeface="Arial"/>
              </a:rPr>
              <a:t> </a:t>
            </a:r>
            <a:r>
              <a:rPr sz="1800" spc="20" dirty="0">
                <a:latin typeface="Arial"/>
                <a:cs typeface="Arial"/>
              </a:rPr>
              <a:t>currently</a:t>
            </a:r>
            <a:r>
              <a:rPr sz="1800" spc="-120" dirty="0">
                <a:latin typeface="Arial"/>
                <a:cs typeface="Arial"/>
              </a:rPr>
              <a:t> </a:t>
            </a:r>
            <a:r>
              <a:rPr sz="1800" spc="-5" dirty="0">
                <a:latin typeface="Arial"/>
                <a:cs typeface="Arial"/>
              </a:rPr>
              <a:t>prevent</a:t>
            </a:r>
            <a:r>
              <a:rPr sz="1800" spc="-130" dirty="0">
                <a:latin typeface="Arial"/>
                <a:cs typeface="Arial"/>
              </a:rPr>
              <a:t> </a:t>
            </a:r>
            <a:r>
              <a:rPr sz="1800" spc="5" dirty="0">
                <a:latin typeface="Arial"/>
                <a:cs typeface="Arial"/>
              </a:rPr>
              <a:t>you</a:t>
            </a:r>
            <a:r>
              <a:rPr sz="1800" spc="-110" dirty="0">
                <a:latin typeface="Arial"/>
                <a:cs typeface="Arial"/>
              </a:rPr>
              <a:t> </a:t>
            </a:r>
            <a:r>
              <a:rPr sz="1800" spc="40" dirty="0">
                <a:latin typeface="Arial"/>
                <a:cs typeface="Arial"/>
              </a:rPr>
              <a:t>from</a:t>
            </a:r>
            <a:r>
              <a:rPr sz="1800" spc="-105" dirty="0">
                <a:latin typeface="Arial"/>
                <a:cs typeface="Arial"/>
              </a:rPr>
              <a:t> </a:t>
            </a:r>
            <a:r>
              <a:rPr sz="1800" spc="-20" dirty="0">
                <a:latin typeface="Arial"/>
                <a:cs typeface="Arial"/>
              </a:rPr>
              <a:t>enabling</a:t>
            </a:r>
            <a:r>
              <a:rPr sz="1800" spc="-125" dirty="0">
                <a:latin typeface="Arial"/>
                <a:cs typeface="Arial"/>
              </a:rPr>
              <a:t> </a:t>
            </a:r>
            <a:r>
              <a:rPr sz="1800" spc="-5" dirty="0">
                <a:latin typeface="Arial"/>
                <a:cs typeface="Arial"/>
              </a:rPr>
              <a:t>Stretch</a:t>
            </a:r>
            <a:r>
              <a:rPr sz="1800" spc="-130" dirty="0">
                <a:latin typeface="Arial"/>
                <a:cs typeface="Arial"/>
              </a:rPr>
              <a:t> </a:t>
            </a:r>
            <a:r>
              <a:rPr sz="1800" spc="60" dirty="0">
                <a:latin typeface="Arial"/>
                <a:cs typeface="Arial"/>
              </a:rPr>
              <a:t>for</a:t>
            </a:r>
            <a:r>
              <a:rPr sz="1800" spc="-100" dirty="0">
                <a:latin typeface="Arial"/>
                <a:cs typeface="Arial"/>
              </a:rPr>
              <a:t> </a:t>
            </a:r>
            <a:r>
              <a:rPr sz="1800" spc="-175" dirty="0">
                <a:latin typeface="Arial"/>
                <a:cs typeface="Arial"/>
              </a:rPr>
              <a:t>a</a:t>
            </a:r>
            <a:r>
              <a:rPr sz="1800" spc="-120" dirty="0">
                <a:latin typeface="Arial"/>
                <a:cs typeface="Arial"/>
              </a:rPr>
              <a:t> </a:t>
            </a:r>
            <a:r>
              <a:rPr sz="1800" spc="-30" dirty="0">
                <a:latin typeface="Arial"/>
                <a:cs typeface="Arial"/>
              </a:rPr>
              <a:t>table:</a:t>
            </a:r>
            <a:endParaRPr sz="1800">
              <a:latin typeface="Arial"/>
              <a:cs typeface="Arial"/>
            </a:endParaRPr>
          </a:p>
          <a:p>
            <a:pPr marL="12700">
              <a:lnSpc>
                <a:spcPct val="100000"/>
              </a:lnSpc>
              <a:spcBef>
                <a:spcPts val="2160"/>
              </a:spcBef>
            </a:pPr>
            <a:r>
              <a:rPr sz="1800" b="1" spc="-5" dirty="0">
                <a:latin typeface="Times New Roman"/>
                <a:cs typeface="Times New Roman"/>
              </a:rPr>
              <a:t>Table</a:t>
            </a:r>
            <a:r>
              <a:rPr sz="1800" b="1" spc="-110" dirty="0">
                <a:latin typeface="Times New Roman"/>
                <a:cs typeface="Times New Roman"/>
              </a:rPr>
              <a:t> </a:t>
            </a:r>
            <a:r>
              <a:rPr sz="1800" b="1" spc="-20" dirty="0">
                <a:latin typeface="Times New Roman"/>
                <a:cs typeface="Times New Roman"/>
              </a:rPr>
              <a:t>properties</a:t>
            </a:r>
            <a:endParaRPr sz="1800">
              <a:latin typeface="Times New Roman"/>
              <a:cs typeface="Times New Roman"/>
            </a:endParaRPr>
          </a:p>
          <a:p>
            <a:pPr marL="157480" indent="-144780">
              <a:lnSpc>
                <a:spcPct val="100000"/>
              </a:lnSpc>
              <a:buChar char="•"/>
              <a:tabLst>
                <a:tab pos="157480" algn="l"/>
              </a:tabLst>
            </a:pPr>
            <a:r>
              <a:rPr sz="1800" spc="-50" dirty="0">
                <a:latin typeface="Arial"/>
                <a:cs typeface="Arial"/>
              </a:rPr>
              <a:t>Tables</a:t>
            </a:r>
            <a:r>
              <a:rPr sz="1800" spc="-125" dirty="0">
                <a:latin typeface="Arial"/>
                <a:cs typeface="Arial"/>
              </a:rPr>
              <a:t> </a:t>
            </a:r>
            <a:r>
              <a:rPr sz="1800" spc="25" dirty="0">
                <a:latin typeface="Arial"/>
                <a:cs typeface="Arial"/>
              </a:rPr>
              <a:t>that</a:t>
            </a:r>
            <a:r>
              <a:rPr sz="1800" spc="-114" dirty="0">
                <a:latin typeface="Arial"/>
                <a:cs typeface="Arial"/>
              </a:rPr>
              <a:t> </a:t>
            </a:r>
            <a:r>
              <a:rPr sz="1800" spc="-60" dirty="0">
                <a:latin typeface="Arial"/>
                <a:cs typeface="Arial"/>
              </a:rPr>
              <a:t>have</a:t>
            </a:r>
            <a:r>
              <a:rPr sz="1800" spc="-114" dirty="0">
                <a:latin typeface="Arial"/>
                <a:cs typeface="Arial"/>
              </a:rPr>
              <a:t> </a:t>
            </a:r>
            <a:r>
              <a:rPr sz="1800" spc="-30" dirty="0">
                <a:latin typeface="Arial"/>
                <a:cs typeface="Arial"/>
              </a:rPr>
              <a:t>more</a:t>
            </a:r>
            <a:r>
              <a:rPr sz="1800" spc="-114" dirty="0">
                <a:latin typeface="Arial"/>
                <a:cs typeface="Arial"/>
              </a:rPr>
              <a:t> </a:t>
            </a:r>
            <a:r>
              <a:rPr sz="1800" spc="15" dirty="0">
                <a:latin typeface="Arial"/>
                <a:cs typeface="Arial"/>
              </a:rPr>
              <a:t>than</a:t>
            </a:r>
            <a:r>
              <a:rPr sz="1800" spc="-120" dirty="0">
                <a:latin typeface="Arial"/>
                <a:cs typeface="Arial"/>
              </a:rPr>
              <a:t> </a:t>
            </a:r>
            <a:r>
              <a:rPr sz="1800" spc="-185" dirty="0">
                <a:latin typeface="Arial"/>
                <a:cs typeface="Arial"/>
              </a:rPr>
              <a:t>1,023</a:t>
            </a:r>
            <a:r>
              <a:rPr sz="1800" spc="-120" dirty="0">
                <a:latin typeface="Arial"/>
                <a:cs typeface="Arial"/>
              </a:rPr>
              <a:t> </a:t>
            </a:r>
            <a:r>
              <a:rPr sz="1800" spc="-20" dirty="0">
                <a:latin typeface="Arial"/>
                <a:cs typeface="Arial"/>
              </a:rPr>
              <a:t>columns</a:t>
            </a:r>
            <a:r>
              <a:rPr sz="1800" spc="-114" dirty="0">
                <a:latin typeface="Arial"/>
                <a:cs typeface="Arial"/>
              </a:rPr>
              <a:t> </a:t>
            </a:r>
            <a:r>
              <a:rPr sz="1800" spc="25" dirty="0">
                <a:latin typeface="Arial"/>
                <a:cs typeface="Arial"/>
              </a:rPr>
              <a:t>or</a:t>
            </a:r>
            <a:r>
              <a:rPr sz="1800" spc="-110" dirty="0">
                <a:latin typeface="Arial"/>
                <a:cs typeface="Arial"/>
              </a:rPr>
              <a:t> </a:t>
            </a:r>
            <a:r>
              <a:rPr sz="1800" spc="-30" dirty="0">
                <a:latin typeface="Arial"/>
                <a:cs typeface="Arial"/>
              </a:rPr>
              <a:t>more</a:t>
            </a:r>
            <a:r>
              <a:rPr sz="1800" spc="-114" dirty="0">
                <a:latin typeface="Arial"/>
                <a:cs typeface="Arial"/>
              </a:rPr>
              <a:t> </a:t>
            </a:r>
            <a:r>
              <a:rPr sz="1800" spc="15" dirty="0">
                <a:latin typeface="Arial"/>
                <a:cs typeface="Arial"/>
              </a:rPr>
              <a:t>than</a:t>
            </a:r>
            <a:r>
              <a:rPr sz="1800" spc="-120" dirty="0">
                <a:latin typeface="Arial"/>
                <a:cs typeface="Arial"/>
              </a:rPr>
              <a:t> 998</a:t>
            </a:r>
            <a:r>
              <a:rPr sz="1800" spc="-114" dirty="0">
                <a:latin typeface="Arial"/>
                <a:cs typeface="Arial"/>
              </a:rPr>
              <a:t> </a:t>
            </a:r>
            <a:r>
              <a:rPr sz="1800" spc="-35" dirty="0">
                <a:latin typeface="Arial"/>
                <a:cs typeface="Arial"/>
              </a:rPr>
              <a:t>indexes</a:t>
            </a:r>
            <a:endParaRPr sz="1800">
              <a:latin typeface="Arial"/>
              <a:cs typeface="Arial"/>
            </a:endParaRPr>
          </a:p>
          <a:p>
            <a:pPr marL="157480" indent="-144780">
              <a:lnSpc>
                <a:spcPct val="100000"/>
              </a:lnSpc>
              <a:buChar char="•"/>
              <a:tabLst>
                <a:tab pos="157480" algn="l"/>
              </a:tabLst>
            </a:pPr>
            <a:r>
              <a:rPr sz="1800" spc="-35" dirty="0">
                <a:latin typeface="Arial"/>
                <a:cs typeface="Arial"/>
              </a:rPr>
              <a:t>FileTables</a:t>
            </a:r>
            <a:r>
              <a:rPr sz="1800" spc="-120" dirty="0">
                <a:latin typeface="Arial"/>
                <a:cs typeface="Arial"/>
              </a:rPr>
              <a:t> </a:t>
            </a:r>
            <a:r>
              <a:rPr sz="1800" spc="25" dirty="0">
                <a:latin typeface="Arial"/>
                <a:cs typeface="Arial"/>
              </a:rPr>
              <a:t>or</a:t>
            </a:r>
            <a:r>
              <a:rPr sz="1800" spc="-110" dirty="0">
                <a:latin typeface="Arial"/>
                <a:cs typeface="Arial"/>
              </a:rPr>
              <a:t> </a:t>
            </a:r>
            <a:r>
              <a:rPr sz="1800" spc="-55" dirty="0">
                <a:latin typeface="Arial"/>
                <a:cs typeface="Arial"/>
              </a:rPr>
              <a:t>tables</a:t>
            </a:r>
            <a:r>
              <a:rPr sz="1800" spc="-120" dirty="0">
                <a:latin typeface="Arial"/>
                <a:cs typeface="Arial"/>
              </a:rPr>
              <a:t> </a:t>
            </a:r>
            <a:r>
              <a:rPr sz="1800" spc="25" dirty="0">
                <a:latin typeface="Arial"/>
                <a:cs typeface="Arial"/>
              </a:rPr>
              <a:t>that</a:t>
            </a:r>
            <a:r>
              <a:rPr sz="1800" spc="-114" dirty="0">
                <a:latin typeface="Arial"/>
                <a:cs typeface="Arial"/>
              </a:rPr>
              <a:t> </a:t>
            </a:r>
            <a:r>
              <a:rPr sz="1800" spc="10" dirty="0">
                <a:latin typeface="Arial"/>
                <a:cs typeface="Arial"/>
              </a:rPr>
              <a:t>contain</a:t>
            </a:r>
            <a:r>
              <a:rPr sz="1800" spc="-120" dirty="0">
                <a:latin typeface="Arial"/>
                <a:cs typeface="Arial"/>
              </a:rPr>
              <a:t> </a:t>
            </a:r>
            <a:r>
              <a:rPr sz="1800" spc="25" dirty="0">
                <a:latin typeface="Arial"/>
                <a:cs typeface="Arial"/>
              </a:rPr>
              <a:t>FILESTREAM</a:t>
            </a:r>
            <a:r>
              <a:rPr sz="1800" spc="-120" dirty="0">
                <a:latin typeface="Arial"/>
                <a:cs typeface="Arial"/>
              </a:rPr>
              <a:t> </a:t>
            </a:r>
            <a:r>
              <a:rPr sz="1800" spc="-55" dirty="0">
                <a:latin typeface="Arial"/>
                <a:cs typeface="Arial"/>
              </a:rPr>
              <a:t>data</a:t>
            </a:r>
            <a:endParaRPr sz="1800">
              <a:latin typeface="Arial"/>
              <a:cs typeface="Arial"/>
            </a:endParaRPr>
          </a:p>
          <a:p>
            <a:pPr marL="12700" marR="5080">
              <a:lnSpc>
                <a:spcPct val="100000"/>
              </a:lnSpc>
              <a:buChar char="•"/>
              <a:tabLst>
                <a:tab pos="190500" algn="l"/>
              </a:tabLst>
            </a:pPr>
            <a:r>
              <a:rPr sz="1800" spc="-50" dirty="0">
                <a:latin typeface="Arial"/>
                <a:cs typeface="Arial"/>
              </a:rPr>
              <a:t>Tables </a:t>
            </a:r>
            <a:r>
              <a:rPr sz="1800" spc="30" dirty="0">
                <a:latin typeface="Arial"/>
                <a:cs typeface="Arial"/>
              </a:rPr>
              <a:t>that </a:t>
            </a:r>
            <a:r>
              <a:rPr sz="1800" spc="-90" dirty="0">
                <a:latin typeface="Arial"/>
                <a:cs typeface="Arial"/>
              </a:rPr>
              <a:t>are </a:t>
            </a:r>
            <a:r>
              <a:rPr sz="1800" spc="-25" dirty="0">
                <a:latin typeface="Arial"/>
                <a:cs typeface="Arial"/>
              </a:rPr>
              <a:t>replicated, </a:t>
            </a:r>
            <a:r>
              <a:rPr sz="1800" spc="25" dirty="0">
                <a:latin typeface="Arial"/>
                <a:cs typeface="Arial"/>
              </a:rPr>
              <a:t>or that </a:t>
            </a:r>
            <a:r>
              <a:rPr sz="1800" spc="-90" dirty="0">
                <a:latin typeface="Arial"/>
                <a:cs typeface="Arial"/>
              </a:rPr>
              <a:t>are </a:t>
            </a:r>
            <a:r>
              <a:rPr sz="1800" spc="-10" dirty="0">
                <a:latin typeface="Arial"/>
                <a:cs typeface="Arial"/>
              </a:rPr>
              <a:t>actively </a:t>
            </a:r>
            <a:r>
              <a:rPr sz="1800" spc="-25" dirty="0">
                <a:latin typeface="Arial"/>
                <a:cs typeface="Arial"/>
              </a:rPr>
              <a:t>using </a:t>
            </a:r>
            <a:r>
              <a:rPr sz="1800" spc="-35" dirty="0">
                <a:latin typeface="Arial"/>
                <a:cs typeface="Arial"/>
              </a:rPr>
              <a:t>Change </a:t>
            </a:r>
            <a:r>
              <a:rPr sz="1800" spc="10" dirty="0">
                <a:latin typeface="Arial"/>
                <a:cs typeface="Arial"/>
              </a:rPr>
              <a:t>Tracking </a:t>
            </a:r>
            <a:r>
              <a:rPr sz="1800" spc="25" dirty="0">
                <a:latin typeface="Arial"/>
                <a:cs typeface="Arial"/>
              </a:rPr>
              <a:t>or </a:t>
            </a:r>
            <a:r>
              <a:rPr sz="1800" spc="-35" dirty="0">
                <a:latin typeface="Arial"/>
                <a:cs typeface="Arial"/>
              </a:rPr>
              <a:t>Change  </a:t>
            </a:r>
            <a:r>
              <a:rPr sz="1800" b="1" spc="-30" dirty="0">
                <a:latin typeface="Arial"/>
                <a:cs typeface="Arial"/>
              </a:rPr>
              <a:t>Data</a:t>
            </a:r>
            <a:r>
              <a:rPr sz="1800" b="1" spc="-135" dirty="0">
                <a:latin typeface="Arial"/>
                <a:cs typeface="Arial"/>
              </a:rPr>
              <a:t> </a:t>
            </a:r>
            <a:r>
              <a:rPr sz="1800" b="1" spc="5" dirty="0">
                <a:latin typeface="Arial"/>
                <a:cs typeface="Arial"/>
              </a:rPr>
              <a:t>Capture</a:t>
            </a:r>
            <a:endParaRPr sz="1800" b="1">
              <a:latin typeface="Arial"/>
              <a:cs typeface="Arial"/>
            </a:endParaRPr>
          </a:p>
          <a:p>
            <a:pPr marL="157480" indent="-144780">
              <a:lnSpc>
                <a:spcPct val="100000"/>
              </a:lnSpc>
              <a:buChar char="•"/>
              <a:tabLst>
                <a:tab pos="157480" algn="l"/>
              </a:tabLst>
            </a:pPr>
            <a:r>
              <a:rPr sz="1800" spc="-5" dirty="0">
                <a:latin typeface="Arial"/>
                <a:cs typeface="Arial"/>
              </a:rPr>
              <a:t>Memory-optimized</a:t>
            </a:r>
            <a:r>
              <a:rPr sz="1800" spc="-130" dirty="0">
                <a:latin typeface="Arial"/>
                <a:cs typeface="Arial"/>
              </a:rPr>
              <a:t> </a:t>
            </a:r>
            <a:r>
              <a:rPr sz="1800" spc="-55" dirty="0">
                <a:latin typeface="Arial"/>
                <a:cs typeface="Arial"/>
              </a:rPr>
              <a:t>tables</a:t>
            </a:r>
            <a:endParaRPr sz="1800">
              <a:latin typeface="Arial"/>
              <a:cs typeface="Arial"/>
            </a:endParaRPr>
          </a:p>
          <a:p>
            <a:pPr marL="12700">
              <a:lnSpc>
                <a:spcPct val="100000"/>
              </a:lnSpc>
              <a:spcBef>
                <a:spcPts val="2160"/>
              </a:spcBef>
            </a:pPr>
            <a:r>
              <a:rPr sz="1800" b="1" spc="-10" dirty="0">
                <a:latin typeface="Times New Roman"/>
                <a:cs typeface="Times New Roman"/>
              </a:rPr>
              <a:t>Data</a:t>
            </a:r>
            <a:r>
              <a:rPr sz="1800" b="1" spc="-110" dirty="0">
                <a:latin typeface="Times New Roman"/>
                <a:cs typeface="Times New Roman"/>
              </a:rPr>
              <a:t> </a:t>
            </a:r>
            <a:r>
              <a:rPr sz="1800" b="1" dirty="0">
                <a:latin typeface="Times New Roman"/>
                <a:cs typeface="Times New Roman"/>
              </a:rPr>
              <a:t>types</a:t>
            </a:r>
            <a:endParaRPr sz="1800">
              <a:latin typeface="Times New Roman"/>
              <a:cs typeface="Times New Roman"/>
            </a:endParaRPr>
          </a:p>
          <a:p>
            <a:pPr marL="157480" indent="-144780">
              <a:lnSpc>
                <a:spcPct val="100000"/>
              </a:lnSpc>
              <a:buChar char="•"/>
              <a:tabLst>
                <a:tab pos="157480" algn="l"/>
              </a:tabLst>
            </a:pPr>
            <a:r>
              <a:rPr sz="1800" spc="20" dirty="0">
                <a:latin typeface="Arial"/>
                <a:cs typeface="Arial"/>
              </a:rPr>
              <a:t>text, </a:t>
            </a:r>
            <a:r>
              <a:rPr sz="1800" spc="25" dirty="0">
                <a:latin typeface="Arial"/>
                <a:cs typeface="Arial"/>
              </a:rPr>
              <a:t>ntext,</a:t>
            </a:r>
            <a:r>
              <a:rPr sz="1800" spc="-365" dirty="0">
                <a:latin typeface="Arial"/>
                <a:cs typeface="Arial"/>
              </a:rPr>
              <a:t> </a:t>
            </a:r>
            <a:r>
              <a:rPr sz="1800" spc="-35" dirty="0">
                <a:latin typeface="Arial"/>
                <a:cs typeface="Arial"/>
              </a:rPr>
              <a:t>and </a:t>
            </a:r>
            <a:r>
              <a:rPr sz="1800" spc="-75" dirty="0">
                <a:latin typeface="Arial"/>
                <a:cs typeface="Arial"/>
              </a:rPr>
              <a:t>image</a:t>
            </a:r>
            <a:endParaRPr sz="1800">
              <a:latin typeface="Arial"/>
              <a:cs typeface="Arial"/>
            </a:endParaRPr>
          </a:p>
          <a:p>
            <a:pPr marL="157480" indent="-144780">
              <a:lnSpc>
                <a:spcPct val="100000"/>
              </a:lnSpc>
              <a:buChar char="•"/>
              <a:tabLst>
                <a:tab pos="157480" algn="l"/>
              </a:tabLst>
            </a:pPr>
            <a:r>
              <a:rPr sz="1800" spc="-25" dirty="0">
                <a:latin typeface="Arial"/>
                <a:cs typeface="Arial"/>
              </a:rPr>
              <a:t>timestamp</a:t>
            </a:r>
            <a:endParaRPr sz="1800">
              <a:latin typeface="Arial"/>
              <a:cs typeface="Arial"/>
            </a:endParaRPr>
          </a:p>
          <a:p>
            <a:pPr marL="157480" indent="-144780">
              <a:lnSpc>
                <a:spcPct val="100000"/>
              </a:lnSpc>
              <a:buChar char="•"/>
              <a:tabLst>
                <a:tab pos="157480" algn="l"/>
              </a:tabLst>
            </a:pPr>
            <a:r>
              <a:rPr sz="1800" spc="-60" dirty="0">
                <a:latin typeface="Arial"/>
                <a:cs typeface="Arial"/>
              </a:rPr>
              <a:t>sql_variant</a:t>
            </a:r>
            <a:endParaRPr sz="1800">
              <a:latin typeface="Arial"/>
              <a:cs typeface="Arial"/>
            </a:endParaRPr>
          </a:p>
          <a:p>
            <a:pPr marL="157480" indent="-144780">
              <a:lnSpc>
                <a:spcPct val="100000"/>
              </a:lnSpc>
              <a:buChar char="•"/>
              <a:tabLst>
                <a:tab pos="157480" algn="l"/>
              </a:tabLst>
            </a:pPr>
            <a:r>
              <a:rPr sz="1800" spc="130" dirty="0">
                <a:latin typeface="Arial"/>
                <a:cs typeface="Arial"/>
              </a:rPr>
              <a:t>XML</a:t>
            </a:r>
            <a:endParaRPr sz="1800">
              <a:latin typeface="Arial"/>
              <a:cs typeface="Arial"/>
            </a:endParaRPr>
          </a:p>
          <a:p>
            <a:pPr marL="12700" marR="5080">
              <a:lnSpc>
                <a:spcPct val="100000"/>
              </a:lnSpc>
              <a:buChar char="•"/>
              <a:tabLst>
                <a:tab pos="167640" algn="l"/>
              </a:tabLst>
            </a:pPr>
            <a:r>
              <a:rPr sz="1800" spc="75" dirty="0">
                <a:latin typeface="Arial"/>
                <a:cs typeface="Arial"/>
              </a:rPr>
              <a:t>CLR </a:t>
            </a:r>
            <a:r>
              <a:rPr sz="1800" spc="-60" dirty="0">
                <a:latin typeface="Arial"/>
                <a:cs typeface="Arial"/>
              </a:rPr>
              <a:t>data </a:t>
            </a:r>
            <a:r>
              <a:rPr sz="1800" spc="-50" dirty="0">
                <a:latin typeface="Arial"/>
                <a:cs typeface="Arial"/>
              </a:rPr>
              <a:t>types </a:t>
            </a:r>
            <a:r>
              <a:rPr sz="1800" spc="30" dirty="0">
                <a:latin typeface="Arial"/>
                <a:cs typeface="Arial"/>
              </a:rPr>
              <a:t>including </a:t>
            </a:r>
            <a:r>
              <a:rPr sz="1800" spc="-40" dirty="0">
                <a:latin typeface="Arial"/>
                <a:cs typeface="Arial"/>
              </a:rPr>
              <a:t>geometry, </a:t>
            </a:r>
            <a:r>
              <a:rPr sz="1800" spc="-55" dirty="0">
                <a:latin typeface="Arial"/>
                <a:cs typeface="Arial"/>
              </a:rPr>
              <a:t>geography, </a:t>
            </a:r>
            <a:r>
              <a:rPr sz="1800" dirty="0">
                <a:latin typeface="Arial"/>
                <a:cs typeface="Arial"/>
              </a:rPr>
              <a:t>hierarchyid, </a:t>
            </a:r>
            <a:r>
              <a:rPr sz="1800" spc="-35" dirty="0">
                <a:latin typeface="Arial"/>
                <a:cs typeface="Arial"/>
              </a:rPr>
              <a:t>and </a:t>
            </a:r>
            <a:r>
              <a:rPr sz="1800" spc="75" dirty="0">
                <a:latin typeface="Arial"/>
                <a:cs typeface="Arial"/>
              </a:rPr>
              <a:t>CLR</a:t>
            </a:r>
            <a:r>
              <a:rPr sz="1800" spc="-210" dirty="0">
                <a:latin typeface="Arial"/>
                <a:cs typeface="Arial"/>
              </a:rPr>
              <a:t> </a:t>
            </a:r>
            <a:r>
              <a:rPr sz="1800" spc="-20" dirty="0">
                <a:latin typeface="Arial"/>
                <a:cs typeface="Arial"/>
              </a:rPr>
              <a:t>user-defined  </a:t>
            </a:r>
            <a:r>
              <a:rPr sz="1800" spc="-50" dirty="0">
                <a:latin typeface="Arial"/>
                <a:cs typeface="Arial"/>
              </a:rPr>
              <a:t>types</a:t>
            </a:r>
            <a:endParaRPr sz="1800">
              <a:latin typeface="Arial"/>
              <a:cs typeface="Arial"/>
            </a:endParaRPr>
          </a:p>
          <a:p>
            <a:pPr marL="12700">
              <a:lnSpc>
                <a:spcPct val="100000"/>
              </a:lnSpc>
              <a:spcBef>
                <a:spcPts val="2160"/>
              </a:spcBef>
            </a:pPr>
            <a:r>
              <a:rPr sz="1800" b="1" spc="40" dirty="0">
                <a:latin typeface="Times New Roman"/>
                <a:cs typeface="Times New Roman"/>
              </a:rPr>
              <a:t>Column</a:t>
            </a:r>
            <a:r>
              <a:rPr sz="1800" b="1" spc="-120" dirty="0">
                <a:latin typeface="Times New Roman"/>
                <a:cs typeface="Times New Roman"/>
              </a:rPr>
              <a:t> </a:t>
            </a:r>
            <a:r>
              <a:rPr sz="1800" b="1" dirty="0">
                <a:latin typeface="Times New Roman"/>
                <a:cs typeface="Times New Roman"/>
              </a:rPr>
              <a:t>types</a:t>
            </a:r>
            <a:endParaRPr sz="1800">
              <a:latin typeface="Times New Roman"/>
              <a:cs typeface="Times New Roman"/>
            </a:endParaRPr>
          </a:p>
          <a:p>
            <a:pPr marL="157480" indent="-144780">
              <a:lnSpc>
                <a:spcPct val="100000"/>
              </a:lnSpc>
              <a:spcBef>
                <a:spcPts val="5"/>
              </a:spcBef>
              <a:buChar char="•"/>
              <a:tabLst>
                <a:tab pos="157480" algn="l"/>
              </a:tabLst>
            </a:pPr>
            <a:r>
              <a:rPr sz="1800" spc="10" dirty="0">
                <a:latin typeface="Arial"/>
                <a:cs typeface="Arial"/>
              </a:rPr>
              <a:t>COLUMN_SET</a:t>
            </a:r>
            <a:endParaRPr sz="1800">
              <a:latin typeface="Arial"/>
              <a:cs typeface="Arial"/>
            </a:endParaRPr>
          </a:p>
          <a:p>
            <a:pPr marL="157480" indent="-144780">
              <a:lnSpc>
                <a:spcPct val="100000"/>
              </a:lnSpc>
              <a:buChar char="•"/>
              <a:tabLst>
                <a:tab pos="157480" algn="l"/>
              </a:tabLst>
            </a:pPr>
            <a:r>
              <a:rPr sz="1800" spc="15" dirty="0">
                <a:latin typeface="Arial"/>
                <a:cs typeface="Arial"/>
              </a:rPr>
              <a:t>Computed</a:t>
            </a:r>
            <a:r>
              <a:rPr sz="1800" spc="-135" dirty="0">
                <a:latin typeface="Arial"/>
                <a:cs typeface="Arial"/>
              </a:rPr>
              <a:t> </a:t>
            </a:r>
            <a:r>
              <a:rPr sz="1800" spc="-20" dirty="0">
                <a:latin typeface="Arial"/>
                <a:cs typeface="Arial"/>
              </a:rPr>
              <a:t>columns</a:t>
            </a:r>
            <a:endParaRPr sz="180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7769860" cy="635635"/>
          </a:xfrm>
          <a:prstGeom prst="rect">
            <a:avLst/>
          </a:prstGeom>
        </p:spPr>
        <p:txBody>
          <a:bodyPr vert="horz" wrap="square" lIns="0" tIns="12700" rIns="0" bIns="0" rtlCol="0">
            <a:spAutoFit/>
          </a:bodyPr>
          <a:lstStyle/>
          <a:p>
            <a:pPr marL="12700">
              <a:lnSpc>
                <a:spcPct val="100000"/>
              </a:lnSpc>
              <a:spcBef>
                <a:spcPts val="100"/>
              </a:spcBef>
            </a:pPr>
            <a:r>
              <a:rPr sz="4000" b="0" spc="-5" dirty="0">
                <a:latin typeface="Arial"/>
                <a:cs typeface="Arial"/>
              </a:rPr>
              <a:t>Stretch </a:t>
            </a:r>
            <a:r>
              <a:rPr sz="4000" b="0" spc="-180" dirty="0">
                <a:latin typeface="Arial"/>
                <a:cs typeface="Arial"/>
              </a:rPr>
              <a:t>Database </a:t>
            </a:r>
            <a:r>
              <a:rPr sz="4000" b="0" spc="60" dirty="0">
                <a:latin typeface="Arial"/>
                <a:cs typeface="Arial"/>
              </a:rPr>
              <a:t>Limitations</a:t>
            </a:r>
            <a:r>
              <a:rPr sz="4000" b="0" spc="-625" dirty="0">
                <a:latin typeface="Arial"/>
                <a:cs typeface="Arial"/>
              </a:rPr>
              <a:t> </a:t>
            </a:r>
            <a:r>
              <a:rPr sz="4000" b="0" spc="-400" dirty="0">
                <a:latin typeface="Arial"/>
                <a:cs typeface="Arial"/>
              </a:rPr>
              <a:t>3-3</a:t>
            </a:r>
            <a:endParaRPr sz="40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23</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12700">
              <a:lnSpc>
                <a:spcPct val="100000"/>
              </a:lnSpc>
              <a:spcBef>
                <a:spcPts val="100"/>
              </a:spcBef>
            </a:pPr>
            <a:r>
              <a:rPr spc="5" dirty="0"/>
              <a:t>Constraints</a:t>
            </a:r>
          </a:p>
          <a:p>
            <a:pPr marL="157480" indent="-144780" algn="just">
              <a:lnSpc>
                <a:spcPct val="100000"/>
              </a:lnSpc>
              <a:buChar char="•"/>
              <a:tabLst>
                <a:tab pos="157480" algn="l"/>
              </a:tabLst>
            </a:pPr>
            <a:r>
              <a:rPr b="0" spc="20" dirty="0">
                <a:latin typeface="Arial"/>
                <a:cs typeface="Arial"/>
              </a:rPr>
              <a:t>Default</a:t>
            </a:r>
            <a:r>
              <a:rPr b="0" spc="-130" dirty="0">
                <a:latin typeface="Arial"/>
                <a:cs typeface="Arial"/>
              </a:rPr>
              <a:t> </a:t>
            </a:r>
            <a:r>
              <a:rPr b="0" spc="-15" dirty="0">
                <a:latin typeface="Arial"/>
                <a:cs typeface="Arial"/>
              </a:rPr>
              <a:t>constraints</a:t>
            </a:r>
            <a:r>
              <a:rPr b="0" spc="-114" dirty="0">
                <a:latin typeface="Arial"/>
                <a:cs typeface="Arial"/>
              </a:rPr>
              <a:t> </a:t>
            </a:r>
            <a:r>
              <a:rPr b="0" spc="-35" dirty="0">
                <a:latin typeface="Arial"/>
                <a:cs typeface="Arial"/>
              </a:rPr>
              <a:t>and</a:t>
            </a:r>
            <a:r>
              <a:rPr b="0" spc="-120" dirty="0">
                <a:latin typeface="Arial"/>
                <a:cs typeface="Arial"/>
              </a:rPr>
              <a:t> </a:t>
            </a:r>
            <a:r>
              <a:rPr b="0" spc="-40" dirty="0">
                <a:latin typeface="Arial"/>
                <a:cs typeface="Arial"/>
              </a:rPr>
              <a:t>check</a:t>
            </a:r>
            <a:r>
              <a:rPr b="0" spc="-120" dirty="0">
                <a:latin typeface="Arial"/>
                <a:cs typeface="Arial"/>
              </a:rPr>
              <a:t> </a:t>
            </a:r>
            <a:r>
              <a:rPr b="0" spc="-15" dirty="0">
                <a:latin typeface="Arial"/>
                <a:cs typeface="Arial"/>
              </a:rPr>
              <a:t>constraints</a:t>
            </a:r>
          </a:p>
          <a:p>
            <a:pPr marL="12700" marR="5080" algn="just">
              <a:lnSpc>
                <a:spcPct val="100000"/>
              </a:lnSpc>
              <a:buChar char="•"/>
              <a:tabLst>
                <a:tab pos="193675" algn="l"/>
              </a:tabLst>
            </a:pPr>
            <a:r>
              <a:rPr b="0" spc="-25" dirty="0">
                <a:latin typeface="Arial"/>
                <a:cs typeface="Arial"/>
              </a:rPr>
              <a:t>Foreign </a:t>
            </a:r>
            <a:r>
              <a:rPr b="0" spc="-30" dirty="0">
                <a:latin typeface="Arial"/>
                <a:cs typeface="Arial"/>
              </a:rPr>
              <a:t>key </a:t>
            </a:r>
            <a:r>
              <a:rPr b="0" spc="-15" dirty="0">
                <a:latin typeface="Arial"/>
                <a:cs typeface="Arial"/>
              </a:rPr>
              <a:t>constraints </a:t>
            </a:r>
            <a:r>
              <a:rPr b="0" spc="25" dirty="0">
                <a:latin typeface="Arial"/>
                <a:cs typeface="Arial"/>
              </a:rPr>
              <a:t>that </a:t>
            </a:r>
            <a:r>
              <a:rPr b="0" spc="-50" dirty="0">
                <a:latin typeface="Arial"/>
                <a:cs typeface="Arial"/>
              </a:rPr>
              <a:t>reference </a:t>
            </a:r>
            <a:r>
              <a:rPr b="0" dirty="0">
                <a:latin typeface="Arial"/>
                <a:cs typeface="Arial"/>
              </a:rPr>
              <a:t>the </a:t>
            </a:r>
            <a:r>
              <a:rPr b="0" spc="-35" dirty="0">
                <a:latin typeface="Arial"/>
                <a:cs typeface="Arial"/>
              </a:rPr>
              <a:t>table. </a:t>
            </a:r>
            <a:r>
              <a:rPr b="0" spc="70" dirty="0">
                <a:latin typeface="Arial"/>
                <a:cs typeface="Arial"/>
              </a:rPr>
              <a:t>In </a:t>
            </a:r>
            <a:r>
              <a:rPr b="0" spc="-175" dirty="0">
                <a:latin typeface="Arial"/>
                <a:cs typeface="Arial"/>
              </a:rPr>
              <a:t>a </a:t>
            </a:r>
            <a:r>
              <a:rPr b="0" spc="10" dirty="0">
                <a:latin typeface="Arial"/>
                <a:cs typeface="Arial"/>
              </a:rPr>
              <a:t>parent-child </a:t>
            </a:r>
            <a:r>
              <a:rPr b="0" spc="5" dirty="0">
                <a:latin typeface="Arial"/>
                <a:cs typeface="Arial"/>
              </a:rPr>
              <a:t>relationship  </a:t>
            </a:r>
            <a:r>
              <a:rPr b="0" spc="40" dirty="0">
                <a:latin typeface="Arial"/>
                <a:cs typeface="Arial"/>
              </a:rPr>
              <a:t>(for </a:t>
            </a:r>
            <a:r>
              <a:rPr b="0" spc="-50" dirty="0">
                <a:latin typeface="Arial"/>
                <a:cs typeface="Arial"/>
              </a:rPr>
              <a:t>example, </a:t>
            </a:r>
            <a:r>
              <a:rPr b="0" spc="25" dirty="0">
                <a:latin typeface="Arial"/>
                <a:cs typeface="Arial"/>
              </a:rPr>
              <a:t>Order </a:t>
            </a:r>
            <a:r>
              <a:rPr b="0" spc="-35" dirty="0">
                <a:latin typeface="Arial"/>
                <a:cs typeface="Arial"/>
              </a:rPr>
              <a:t>and Order_Detail), </a:t>
            </a:r>
            <a:r>
              <a:rPr b="0" spc="5" dirty="0">
                <a:latin typeface="Arial"/>
                <a:cs typeface="Arial"/>
              </a:rPr>
              <a:t>you </a:t>
            </a:r>
            <a:r>
              <a:rPr b="0" spc="-65" dirty="0">
                <a:latin typeface="Arial"/>
                <a:cs typeface="Arial"/>
              </a:rPr>
              <a:t>can </a:t>
            </a:r>
            <a:r>
              <a:rPr b="0" spc="-60" dirty="0">
                <a:latin typeface="Arial"/>
                <a:cs typeface="Arial"/>
              </a:rPr>
              <a:t>enable </a:t>
            </a:r>
            <a:r>
              <a:rPr b="0" spc="-5" dirty="0">
                <a:latin typeface="Arial"/>
                <a:cs typeface="Arial"/>
              </a:rPr>
              <a:t>Stretch </a:t>
            </a:r>
            <a:r>
              <a:rPr b="0" spc="60" dirty="0">
                <a:latin typeface="Arial"/>
                <a:cs typeface="Arial"/>
              </a:rPr>
              <a:t>for </a:t>
            </a:r>
            <a:r>
              <a:rPr b="0" dirty="0">
                <a:latin typeface="Arial"/>
                <a:cs typeface="Arial"/>
              </a:rPr>
              <a:t>the </a:t>
            </a:r>
            <a:r>
              <a:rPr b="0" spc="40" dirty="0">
                <a:latin typeface="Arial"/>
                <a:cs typeface="Arial"/>
              </a:rPr>
              <a:t>child </a:t>
            </a:r>
            <a:r>
              <a:rPr b="0" spc="-30" dirty="0">
                <a:latin typeface="Arial"/>
                <a:cs typeface="Arial"/>
              </a:rPr>
              <a:t>table  (Order_Detail)</a:t>
            </a:r>
            <a:r>
              <a:rPr b="0" spc="-114" dirty="0">
                <a:latin typeface="Arial"/>
                <a:cs typeface="Arial"/>
              </a:rPr>
              <a:t> </a:t>
            </a:r>
            <a:r>
              <a:rPr b="0" spc="40" dirty="0">
                <a:latin typeface="Arial"/>
                <a:cs typeface="Arial"/>
              </a:rPr>
              <a:t>but</a:t>
            </a:r>
            <a:r>
              <a:rPr b="0" spc="-130" dirty="0">
                <a:latin typeface="Arial"/>
                <a:cs typeface="Arial"/>
              </a:rPr>
              <a:t> </a:t>
            </a:r>
            <a:r>
              <a:rPr b="0" spc="50" dirty="0">
                <a:latin typeface="Arial"/>
                <a:cs typeface="Arial"/>
              </a:rPr>
              <a:t>not</a:t>
            </a:r>
            <a:r>
              <a:rPr b="0" spc="-114" dirty="0">
                <a:latin typeface="Arial"/>
                <a:cs typeface="Arial"/>
              </a:rPr>
              <a:t> </a:t>
            </a:r>
            <a:r>
              <a:rPr b="0" spc="60" dirty="0">
                <a:latin typeface="Arial"/>
                <a:cs typeface="Arial"/>
              </a:rPr>
              <a:t>for</a:t>
            </a:r>
            <a:r>
              <a:rPr b="0" spc="-114" dirty="0">
                <a:latin typeface="Arial"/>
                <a:cs typeface="Arial"/>
              </a:rPr>
              <a:t> </a:t>
            </a:r>
            <a:r>
              <a:rPr b="0" dirty="0">
                <a:latin typeface="Arial"/>
                <a:cs typeface="Arial"/>
              </a:rPr>
              <a:t>the</a:t>
            </a:r>
            <a:r>
              <a:rPr b="0" spc="-110" dirty="0">
                <a:latin typeface="Arial"/>
                <a:cs typeface="Arial"/>
              </a:rPr>
              <a:t> </a:t>
            </a:r>
            <a:r>
              <a:rPr b="0" spc="-15" dirty="0">
                <a:latin typeface="Arial"/>
                <a:cs typeface="Arial"/>
              </a:rPr>
              <a:t>parent</a:t>
            </a:r>
            <a:r>
              <a:rPr b="0" spc="-125" dirty="0">
                <a:latin typeface="Arial"/>
                <a:cs typeface="Arial"/>
              </a:rPr>
              <a:t> </a:t>
            </a:r>
            <a:r>
              <a:rPr b="0" spc="-30" dirty="0">
                <a:latin typeface="Arial"/>
                <a:cs typeface="Arial"/>
              </a:rPr>
              <a:t>table</a:t>
            </a:r>
            <a:r>
              <a:rPr b="0" spc="-130" dirty="0">
                <a:latin typeface="Arial"/>
                <a:cs typeface="Arial"/>
              </a:rPr>
              <a:t> </a:t>
            </a:r>
            <a:r>
              <a:rPr b="0" spc="5" dirty="0">
                <a:latin typeface="Arial"/>
                <a:cs typeface="Arial"/>
              </a:rPr>
              <a:t>(Order).</a:t>
            </a:r>
          </a:p>
          <a:p>
            <a:pPr marL="12700">
              <a:lnSpc>
                <a:spcPct val="100000"/>
              </a:lnSpc>
              <a:spcBef>
                <a:spcPts val="2160"/>
              </a:spcBef>
            </a:pPr>
            <a:r>
              <a:rPr spc="10" dirty="0"/>
              <a:t>Indexes</a:t>
            </a:r>
          </a:p>
          <a:p>
            <a:pPr marL="157480" indent="-144780">
              <a:lnSpc>
                <a:spcPct val="100000"/>
              </a:lnSpc>
              <a:buChar char="•"/>
              <a:tabLst>
                <a:tab pos="157480" algn="l"/>
              </a:tabLst>
            </a:pPr>
            <a:r>
              <a:rPr b="0" spc="30" dirty="0">
                <a:latin typeface="Arial"/>
                <a:cs typeface="Arial"/>
              </a:rPr>
              <a:t>Full </a:t>
            </a:r>
            <a:r>
              <a:rPr b="0" spc="35" dirty="0">
                <a:latin typeface="Arial"/>
                <a:cs typeface="Arial"/>
              </a:rPr>
              <a:t>text</a:t>
            </a:r>
            <a:r>
              <a:rPr b="0" spc="-275" dirty="0">
                <a:latin typeface="Arial"/>
                <a:cs typeface="Arial"/>
              </a:rPr>
              <a:t> </a:t>
            </a:r>
            <a:r>
              <a:rPr b="0" spc="-35" dirty="0">
                <a:latin typeface="Arial"/>
                <a:cs typeface="Arial"/>
              </a:rPr>
              <a:t>indexes</a:t>
            </a:r>
          </a:p>
          <a:p>
            <a:pPr marL="157480" indent="-144780">
              <a:lnSpc>
                <a:spcPct val="100000"/>
              </a:lnSpc>
              <a:buChar char="•"/>
              <a:tabLst>
                <a:tab pos="157480" algn="l"/>
              </a:tabLst>
            </a:pPr>
            <a:r>
              <a:rPr b="0" spc="130" dirty="0">
                <a:latin typeface="Arial"/>
                <a:cs typeface="Arial"/>
              </a:rPr>
              <a:t>XML</a:t>
            </a:r>
            <a:r>
              <a:rPr b="0" spc="-130" dirty="0">
                <a:latin typeface="Arial"/>
                <a:cs typeface="Arial"/>
              </a:rPr>
              <a:t> </a:t>
            </a:r>
            <a:r>
              <a:rPr b="0" spc="-35" dirty="0">
                <a:latin typeface="Arial"/>
                <a:cs typeface="Arial"/>
              </a:rPr>
              <a:t>indexes</a:t>
            </a:r>
          </a:p>
          <a:p>
            <a:pPr marL="157480" indent="-144780">
              <a:lnSpc>
                <a:spcPct val="100000"/>
              </a:lnSpc>
              <a:buChar char="•"/>
              <a:tabLst>
                <a:tab pos="157480" algn="l"/>
              </a:tabLst>
            </a:pPr>
            <a:r>
              <a:rPr b="0" spc="-25" dirty="0">
                <a:latin typeface="Arial"/>
                <a:cs typeface="Arial"/>
              </a:rPr>
              <a:t>Spatial</a:t>
            </a:r>
            <a:r>
              <a:rPr b="0" spc="-130" dirty="0">
                <a:latin typeface="Arial"/>
                <a:cs typeface="Arial"/>
              </a:rPr>
              <a:t> </a:t>
            </a:r>
            <a:r>
              <a:rPr b="0" spc="-35" dirty="0">
                <a:latin typeface="Arial"/>
                <a:cs typeface="Arial"/>
              </a:rPr>
              <a:t>indexes</a:t>
            </a:r>
          </a:p>
          <a:p>
            <a:pPr marL="157480" indent="-144780">
              <a:lnSpc>
                <a:spcPct val="100000"/>
              </a:lnSpc>
              <a:buChar char="•"/>
              <a:tabLst>
                <a:tab pos="157480" algn="l"/>
              </a:tabLst>
            </a:pPr>
            <a:r>
              <a:rPr b="0" spc="-10" dirty="0">
                <a:latin typeface="Arial"/>
                <a:cs typeface="Arial"/>
              </a:rPr>
              <a:t>Indexed</a:t>
            </a:r>
            <a:r>
              <a:rPr b="0" spc="-135" dirty="0">
                <a:latin typeface="Arial"/>
                <a:cs typeface="Arial"/>
              </a:rPr>
              <a:t> </a:t>
            </a:r>
            <a:r>
              <a:rPr b="0" spc="-35" dirty="0">
                <a:latin typeface="Arial"/>
                <a:cs typeface="Arial"/>
              </a:rPr>
              <a:t>views</a:t>
            </a:r>
            <a:r>
              <a:rPr b="0" spc="-110" dirty="0">
                <a:latin typeface="Arial"/>
                <a:cs typeface="Arial"/>
              </a:rPr>
              <a:t> </a:t>
            </a:r>
            <a:r>
              <a:rPr b="0" spc="25" dirty="0">
                <a:latin typeface="Arial"/>
                <a:cs typeface="Arial"/>
              </a:rPr>
              <a:t>that</a:t>
            </a:r>
            <a:r>
              <a:rPr b="0" spc="-125" dirty="0">
                <a:latin typeface="Arial"/>
                <a:cs typeface="Arial"/>
              </a:rPr>
              <a:t> </a:t>
            </a:r>
            <a:r>
              <a:rPr b="0" spc="-45" dirty="0">
                <a:latin typeface="Arial"/>
                <a:cs typeface="Arial"/>
              </a:rPr>
              <a:t>reference</a:t>
            </a:r>
            <a:r>
              <a:rPr b="0" spc="-130" dirty="0">
                <a:latin typeface="Arial"/>
                <a:cs typeface="Arial"/>
              </a:rPr>
              <a:t> </a:t>
            </a:r>
            <a:r>
              <a:rPr b="0" dirty="0">
                <a:latin typeface="Arial"/>
                <a:cs typeface="Arial"/>
              </a:rPr>
              <a:t>the</a:t>
            </a:r>
            <a:r>
              <a:rPr b="0" spc="-120" dirty="0">
                <a:latin typeface="Arial"/>
                <a:cs typeface="Arial"/>
              </a:rPr>
              <a:t> </a:t>
            </a:r>
            <a:r>
              <a:rPr b="0" spc="-30" dirty="0">
                <a:latin typeface="Arial"/>
                <a:cs typeface="Arial"/>
              </a:rPr>
              <a:t>table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39950" cy="635635"/>
          </a:xfrm>
          <a:prstGeom prst="rect">
            <a:avLst/>
          </a:prstGeom>
        </p:spPr>
        <p:txBody>
          <a:bodyPr vert="horz" wrap="square" lIns="0" tIns="12700" rIns="0" bIns="0" rtlCol="0">
            <a:spAutoFit/>
          </a:bodyPr>
          <a:lstStyle/>
          <a:p>
            <a:pPr marL="12700">
              <a:lnSpc>
                <a:spcPct val="100000"/>
              </a:lnSpc>
              <a:spcBef>
                <a:spcPts val="100"/>
              </a:spcBef>
            </a:pPr>
            <a:r>
              <a:rPr sz="4000" b="0" spc="-70" dirty="0">
                <a:latin typeface="Arial"/>
                <a:cs typeface="Arial"/>
              </a:rPr>
              <a:t>Summary</a:t>
            </a:r>
            <a:endParaRPr sz="400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82" baseline="4629" dirty="0"/>
              <a:t>17/</a:t>
            </a:r>
            <a:r>
              <a:rPr sz="1800" spc="-247" baseline="4629" dirty="0"/>
              <a:t> </a:t>
            </a:r>
            <a:fld id="{81D60167-4931-47E6-BA6A-407CBD079E47}" type="slidenum">
              <a:rPr sz="1200" spc="-70" dirty="0"/>
              <a:t>24</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83540" y="832865"/>
            <a:ext cx="8453120" cy="4902200"/>
          </a:xfrm>
          <a:prstGeom prst="rect">
            <a:avLst/>
          </a:prstGeom>
        </p:spPr>
        <p:txBody>
          <a:bodyPr vert="horz" wrap="square" lIns="0" tIns="12065" rIns="0" bIns="0" rtlCol="0">
            <a:spAutoFit/>
          </a:bodyPr>
          <a:lstStyle/>
          <a:p>
            <a:pPr marL="353695" marR="5715" indent="-341630" algn="just">
              <a:lnSpc>
                <a:spcPct val="100000"/>
              </a:lnSpc>
              <a:spcBef>
                <a:spcPts val="95"/>
              </a:spcBef>
              <a:buFont typeface="Calibri"/>
              <a:buChar char="●"/>
              <a:tabLst>
                <a:tab pos="354330" algn="l"/>
              </a:tabLst>
            </a:pPr>
            <a:r>
              <a:rPr sz="2000" spc="20" dirty="0">
                <a:latin typeface="Arial"/>
                <a:cs typeface="Arial"/>
              </a:rPr>
              <a:t>The </a:t>
            </a:r>
            <a:r>
              <a:rPr sz="2000" spc="-95" dirty="0">
                <a:latin typeface="Arial"/>
                <a:cs typeface="Arial"/>
              </a:rPr>
              <a:t>PolyBase </a:t>
            </a:r>
            <a:r>
              <a:rPr sz="2000" spc="-25" dirty="0">
                <a:latin typeface="Arial"/>
                <a:cs typeface="Arial"/>
              </a:rPr>
              <a:t>feature </a:t>
            </a:r>
            <a:r>
              <a:rPr sz="2000" spc="-20" dirty="0">
                <a:latin typeface="Arial"/>
                <a:cs typeface="Arial"/>
              </a:rPr>
              <a:t>provides </a:t>
            </a:r>
            <a:r>
              <a:rPr sz="2000" spc="-140" dirty="0">
                <a:latin typeface="Arial"/>
                <a:cs typeface="Arial"/>
              </a:rPr>
              <a:t>seamless </a:t>
            </a:r>
            <a:r>
              <a:rPr sz="2000" spc="15" dirty="0">
                <a:latin typeface="Arial"/>
                <a:cs typeface="Arial"/>
              </a:rPr>
              <a:t>integration </a:t>
            </a:r>
            <a:r>
              <a:rPr sz="2000" spc="90" dirty="0">
                <a:latin typeface="Arial"/>
                <a:cs typeface="Arial"/>
              </a:rPr>
              <a:t>with </a:t>
            </a:r>
            <a:r>
              <a:rPr sz="2000" spc="-10" dirty="0">
                <a:latin typeface="Arial"/>
                <a:cs typeface="Arial"/>
              </a:rPr>
              <a:t>external </a:t>
            </a:r>
            <a:r>
              <a:rPr sz="2000" spc="-60" dirty="0">
                <a:latin typeface="Arial"/>
                <a:cs typeface="Arial"/>
              </a:rPr>
              <a:t>data  </a:t>
            </a:r>
            <a:r>
              <a:rPr sz="2000" spc="-85" dirty="0">
                <a:latin typeface="Arial"/>
                <a:cs typeface="Arial"/>
              </a:rPr>
              <a:t>sources,</a:t>
            </a:r>
            <a:r>
              <a:rPr sz="2000" spc="-120" dirty="0">
                <a:latin typeface="Arial"/>
                <a:cs typeface="Arial"/>
              </a:rPr>
              <a:t> </a:t>
            </a:r>
            <a:r>
              <a:rPr sz="2000" spc="-55" dirty="0">
                <a:latin typeface="Arial"/>
                <a:cs typeface="Arial"/>
              </a:rPr>
              <a:t>such</a:t>
            </a:r>
            <a:r>
              <a:rPr sz="2000" spc="-130" dirty="0">
                <a:latin typeface="Arial"/>
                <a:cs typeface="Arial"/>
              </a:rPr>
              <a:t> </a:t>
            </a:r>
            <a:r>
              <a:rPr sz="2000" spc="-204" dirty="0">
                <a:latin typeface="Arial"/>
                <a:cs typeface="Arial"/>
              </a:rPr>
              <a:t>as</a:t>
            </a:r>
            <a:r>
              <a:rPr sz="2000" spc="-130" dirty="0">
                <a:latin typeface="Arial"/>
                <a:cs typeface="Arial"/>
              </a:rPr>
              <a:t> </a:t>
            </a:r>
            <a:r>
              <a:rPr sz="2000" spc="-15" dirty="0">
                <a:latin typeface="Arial"/>
                <a:cs typeface="Arial"/>
              </a:rPr>
              <a:t>Hadoop</a:t>
            </a:r>
            <a:r>
              <a:rPr sz="2000" spc="-110" dirty="0">
                <a:latin typeface="Arial"/>
                <a:cs typeface="Arial"/>
              </a:rPr>
              <a:t> </a:t>
            </a:r>
            <a:r>
              <a:rPr sz="2000" spc="25" dirty="0">
                <a:latin typeface="Arial"/>
                <a:cs typeface="Arial"/>
              </a:rPr>
              <a:t>or</a:t>
            </a:r>
            <a:r>
              <a:rPr sz="2000" spc="-125" dirty="0">
                <a:latin typeface="Arial"/>
                <a:cs typeface="Arial"/>
              </a:rPr>
              <a:t> </a:t>
            </a:r>
            <a:r>
              <a:rPr sz="2000" spc="-5" dirty="0">
                <a:latin typeface="Arial"/>
                <a:cs typeface="Arial"/>
              </a:rPr>
              <a:t>Azure</a:t>
            </a:r>
            <a:r>
              <a:rPr sz="2000" spc="-125" dirty="0">
                <a:latin typeface="Arial"/>
                <a:cs typeface="Arial"/>
              </a:rPr>
              <a:t> </a:t>
            </a:r>
            <a:r>
              <a:rPr sz="2000" spc="-5" dirty="0">
                <a:latin typeface="Arial"/>
                <a:cs typeface="Arial"/>
              </a:rPr>
              <a:t>Blob</a:t>
            </a:r>
            <a:r>
              <a:rPr sz="2000" spc="-114" dirty="0">
                <a:latin typeface="Arial"/>
                <a:cs typeface="Arial"/>
              </a:rPr>
              <a:t> </a:t>
            </a:r>
            <a:r>
              <a:rPr sz="2000" spc="-65" dirty="0">
                <a:latin typeface="Arial"/>
                <a:cs typeface="Arial"/>
              </a:rPr>
              <a:t>Storage.</a:t>
            </a:r>
            <a:endParaRPr sz="2000">
              <a:latin typeface="Arial"/>
              <a:cs typeface="Arial"/>
            </a:endParaRPr>
          </a:p>
          <a:p>
            <a:pPr marL="353695" marR="5080" indent="-341630" algn="just">
              <a:lnSpc>
                <a:spcPct val="100000"/>
              </a:lnSpc>
              <a:buFont typeface="Calibri"/>
              <a:buChar char="●"/>
              <a:tabLst>
                <a:tab pos="354330" algn="l"/>
              </a:tabLst>
            </a:pPr>
            <a:r>
              <a:rPr sz="2000" spc="-100" dirty="0">
                <a:latin typeface="Arial"/>
                <a:cs typeface="Arial"/>
              </a:rPr>
              <a:t>PolyBase </a:t>
            </a:r>
            <a:r>
              <a:rPr sz="2000" spc="-25" dirty="0">
                <a:latin typeface="Arial"/>
                <a:cs typeface="Arial"/>
              </a:rPr>
              <a:t>eliminates </a:t>
            </a:r>
            <a:r>
              <a:rPr sz="2000" dirty="0">
                <a:latin typeface="Arial"/>
                <a:cs typeface="Arial"/>
              </a:rPr>
              <a:t>the </a:t>
            </a:r>
            <a:r>
              <a:rPr sz="2000" spc="-70" dirty="0">
                <a:latin typeface="Arial"/>
                <a:cs typeface="Arial"/>
              </a:rPr>
              <a:t>need </a:t>
            </a:r>
            <a:r>
              <a:rPr sz="2000" spc="55" dirty="0">
                <a:latin typeface="Arial"/>
                <a:cs typeface="Arial"/>
              </a:rPr>
              <a:t>to </a:t>
            </a:r>
            <a:r>
              <a:rPr sz="2000" spc="-70" dirty="0">
                <a:latin typeface="Arial"/>
                <a:cs typeface="Arial"/>
              </a:rPr>
              <a:t>specialized </a:t>
            </a:r>
            <a:r>
              <a:rPr sz="2000" dirty="0">
                <a:latin typeface="Arial"/>
                <a:cs typeface="Arial"/>
              </a:rPr>
              <a:t>skills </a:t>
            </a:r>
            <a:r>
              <a:rPr sz="2000" spc="25" dirty="0">
                <a:latin typeface="Arial"/>
                <a:cs typeface="Arial"/>
              </a:rPr>
              <a:t>on </a:t>
            </a:r>
            <a:r>
              <a:rPr sz="2000" spc="-15" dirty="0">
                <a:latin typeface="Arial"/>
                <a:cs typeface="Arial"/>
              </a:rPr>
              <a:t>Hadoop </a:t>
            </a:r>
            <a:r>
              <a:rPr sz="2000" dirty="0">
                <a:latin typeface="Arial"/>
                <a:cs typeface="Arial"/>
              </a:rPr>
              <a:t>internals </a:t>
            </a:r>
            <a:r>
              <a:rPr sz="2000" spc="-5" dirty="0">
                <a:latin typeface="Arial"/>
                <a:cs typeface="Arial"/>
              </a:rPr>
              <a:t>by  </a:t>
            </a:r>
            <a:r>
              <a:rPr sz="2000" spc="-20" dirty="0">
                <a:latin typeface="Arial"/>
                <a:cs typeface="Arial"/>
              </a:rPr>
              <a:t>enabling </a:t>
            </a:r>
            <a:r>
              <a:rPr sz="2000" spc="-10" dirty="0">
                <a:latin typeface="Arial"/>
                <a:cs typeface="Arial"/>
              </a:rPr>
              <a:t>query-runs </a:t>
            </a:r>
            <a:r>
              <a:rPr sz="2000" spc="25" dirty="0">
                <a:latin typeface="Arial"/>
                <a:cs typeface="Arial"/>
              </a:rPr>
              <a:t>on </a:t>
            </a:r>
            <a:r>
              <a:rPr sz="2000" spc="-10" dirty="0">
                <a:latin typeface="Arial"/>
                <a:cs typeface="Arial"/>
              </a:rPr>
              <a:t>external </a:t>
            </a:r>
            <a:r>
              <a:rPr sz="2000" spc="-60" dirty="0">
                <a:latin typeface="Arial"/>
                <a:cs typeface="Arial"/>
              </a:rPr>
              <a:t>data </a:t>
            </a:r>
            <a:r>
              <a:rPr sz="2000" spc="-90" dirty="0">
                <a:latin typeface="Arial"/>
                <a:cs typeface="Arial"/>
              </a:rPr>
              <a:t>sources </a:t>
            </a:r>
            <a:r>
              <a:rPr sz="2000" spc="90" dirty="0">
                <a:latin typeface="Arial"/>
                <a:cs typeface="Arial"/>
              </a:rPr>
              <a:t>with </a:t>
            </a:r>
            <a:r>
              <a:rPr sz="2000" spc="-30" dirty="0">
                <a:latin typeface="Arial"/>
                <a:cs typeface="Arial"/>
              </a:rPr>
              <a:t>simple </a:t>
            </a:r>
            <a:r>
              <a:rPr sz="2000" spc="-15" dirty="0">
                <a:latin typeface="Arial"/>
                <a:cs typeface="Arial"/>
              </a:rPr>
              <a:t>Transact-SQL  </a:t>
            </a:r>
            <a:r>
              <a:rPr sz="2000" spc="-60" dirty="0">
                <a:latin typeface="Arial"/>
                <a:cs typeface="Arial"/>
              </a:rPr>
              <a:t>commands.</a:t>
            </a:r>
            <a:endParaRPr sz="2000">
              <a:latin typeface="Arial"/>
              <a:cs typeface="Arial"/>
            </a:endParaRPr>
          </a:p>
          <a:p>
            <a:pPr marL="353695" marR="6350" indent="-341630" algn="just">
              <a:lnSpc>
                <a:spcPct val="100000"/>
              </a:lnSpc>
              <a:buFont typeface="Calibri"/>
              <a:buChar char="●"/>
              <a:tabLst>
                <a:tab pos="354330" algn="l"/>
              </a:tabLst>
            </a:pPr>
            <a:r>
              <a:rPr sz="2000" spc="10" dirty="0">
                <a:latin typeface="Arial"/>
                <a:cs typeface="Arial"/>
              </a:rPr>
              <a:t>Query </a:t>
            </a:r>
            <a:r>
              <a:rPr sz="2000" spc="-30" dirty="0">
                <a:latin typeface="Arial"/>
                <a:cs typeface="Arial"/>
              </a:rPr>
              <a:t>Store </a:t>
            </a:r>
            <a:r>
              <a:rPr sz="2000" spc="-50" dirty="0">
                <a:latin typeface="Arial"/>
                <a:cs typeface="Arial"/>
              </a:rPr>
              <a:t>is </a:t>
            </a:r>
            <a:r>
              <a:rPr sz="2000" spc="-195" dirty="0">
                <a:latin typeface="Arial"/>
                <a:cs typeface="Arial"/>
              </a:rPr>
              <a:t>a </a:t>
            </a:r>
            <a:r>
              <a:rPr sz="2000" spc="70" dirty="0">
                <a:latin typeface="Arial"/>
                <a:cs typeface="Arial"/>
              </a:rPr>
              <a:t>built-in </a:t>
            </a:r>
            <a:r>
              <a:rPr sz="2000" spc="50" dirty="0">
                <a:latin typeface="Arial"/>
                <a:cs typeface="Arial"/>
              </a:rPr>
              <a:t>tool </a:t>
            </a:r>
            <a:r>
              <a:rPr sz="2000" spc="55" dirty="0">
                <a:latin typeface="Arial"/>
                <a:cs typeface="Arial"/>
              </a:rPr>
              <a:t>to </a:t>
            </a:r>
            <a:r>
              <a:rPr sz="2000" spc="5" dirty="0">
                <a:latin typeface="Arial"/>
                <a:cs typeface="Arial"/>
              </a:rPr>
              <a:t>improve </a:t>
            </a:r>
            <a:r>
              <a:rPr sz="2000" spc="-30" dirty="0">
                <a:latin typeface="Arial"/>
                <a:cs typeface="Arial"/>
              </a:rPr>
              <a:t>performance </a:t>
            </a:r>
            <a:r>
              <a:rPr sz="2000" spc="-10" dirty="0">
                <a:latin typeface="Arial"/>
                <a:cs typeface="Arial"/>
              </a:rPr>
              <a:t>by </a:t>
            </a:r>
            <a:r>
              <a:rPr sz="2000" spc="15" dirty="0">
                <a:latin typeface="Arial"/>
                <a:cs typeface="Arial"/>
              </a:rPr>
              <a:t>maintaining  </a:t>
            </a:r>
            <a:r>
              <a:rPr sz="2000" spc="10" dirty="0">
                <a:latin typeface="Arial"/>
                <a:cs typeface="Arial"/>
              </a:rPr>
              <a:t>historical</a:t>
            </a:r>
            <a:r>
              <a:rPr sz="2000" spc="-125" dirty="0">
                <a:latin typeface="Arial"/>
                <a:cs typeface="Arial"/>
              </a:rPr>
              <a:t> </a:t>
            </a:r>
            <a:r>
              <a:rPr sz="2000" spc="40" dirty="0">
                <a:latin typeface="Arial"/>
                <a:cs typeface="Arial"/>
              </a:rPr>
              <a:t>information</a:t>
            </a:r>
            <a:r>
              <a:rPr sz="2000" spc="-120" dirty="0">
                <a:latin typeface="Arial"/>
                <a:cs typeface="Arial"/>
              </a:rPr>
              <a:t> </a:t>
            </a:r>
            <a:r>
              <a:rPr sz="2000" spc="50" dirty="0">
                <a:latin typeface="Arial"/>
                <a:cs typeface="Arial"/>
              </a:rPr>
              <a:t>of</a:t>
            </a:r>
            <a:r>
              <a:rPr sz="2000" spc="-125" dirty="0">
                <a:latin typeface="Arial"/>
                <a:cs typeface="Arial"/>
              </a:rPr>
              <a:t> </a:t>
            </a:r>
            <a:r>
              <a:rPr sz="2000" spc="-50" dirty="0">
                <a:latin typeface="Arial"/>
                <a:cs typeface="Arial"/>
              </a:rPr>
              <a:t>every</a:t>
            </a:r>
            <a:r>
              <a:rPr sz="2000" spc="-110" dirty="0">
                <a:latin typeface="Arial"/>
                <a:cs typeface="Arial"/>
              </a:rPr>
              <a:t> </a:t>
            </a:r>
            <a:r>
              <a:rPr sz="2000" spc="-15" dirty="0">
                <a:latin typeface="Arial"/>
                <a:cs typeface="Arial"/>
              </a:rPr>
              <a:t>query</a:t>
            </a:r>
            <a:r>
              <a:rPr sz="2000" spc="-125" dirty="0">
                <a:latin typeface="Arial"/>
                <a:cs typeface="Arial"/>
              </a:rPr>
              <a:t> </a:t>
            </a:r>
            <a:r>
              <a:rPr sz="2000" spc="-40" dirty="0">
                <a:latin typeface="Arial"/>
                <a:cs typeface="Arial"/>
              </a:rPr>
              <a:t>and</a:t>
            </a:r>
            <a:r>
              <a:rPr sz="2000" spc="-125" dirty="0">
                <a:latin typeface="Arial"/>
                <a:cs typeface="Arial"/>
              </a:rPr>
              <a:t> </a:t>
            </a:r>
            <a:r>
              <a:rPr sz="2000" spc="-5" dirty="0">
                <a:latin typeface="Arial"/>
                <a:cs typeface="Arial"/>
              </a:rPr>
              <a:t>execution</a:t>
            </a:r>
            <a:r>
              <a:rPr sz="2000" spc="-105" dirty="0">
                <a:latin typeface="Arial"/>
                <a:cs typeface="Arial"/>
              </a:rPr>
              <a:t> </a:t>
            </a:r>
            <a:r>
              <a:rPr sz="2000" spc="-15" dirty="0">
                <a:latin typeface="Arial"/>
                <a:cs typeface="Arial"/>
              </a:rPr>
              <a:t>plan.</a:t>
            </a:r>
            <a:endParaRPr sz="2000">
              <a:latin typeface="Arial"/>
              <a:cs typeface="Arial"/>
            </a:endParaRPr>
          </a:p>
          <a:p>
            <a:pPr marL="353695" marR="5080" indent="-341630" algn="just">
              <a:lnSpc>
                <a:spcPct val="100000"/>
              </a:lnSpc>
              <a:buFont typeface="Calibri"/>
              <a:buChar char="●"/>
              <a:tabLst>
                <a:tab pos="354330" algn="l"/>
              </a:tabLst>
            </a:pPr>
            <a:r>
              <a:rPr sz="2000" spc="10" dirty="0">
                <a:latin typeface="Arial"/>
                <a:cs typeface="Arial"/>
              </a:rPr>
              <a:t>Query </a:t>
            </a:r>
            <a:r>
              <a:rPr sz="2000" spc="-30" dirty="0">
                <a:latin typeface="Arial"/>
                <a:cs typeface="Arial"/>
              </a:rPr>
              <a:t>Store </a:t>
            </a:r>
            <a:r>
              <a:rPr sz="2000" spc="-35" dirty="0">
                <a:latin typeface="Arial"/>
                <a:cs typeface="Arial"/>
              </a:rPr>
              <a:t>tracks </a:t>
            </a:r>
            <a:r>
              <a:rPr sz="2000" dirty="0">
                <a:latin typeface="Arial"/>
                <a:cs typeface="Arial"/>
              </a:rPr>
              <a:t>the </a:t>
            </a:r>
            <a:r>
              <a:rPr sz="2000" spc="-30" dirty="0">
                <a:latin typeface="Arial"/>
                <a:cs typeface="Arial"/>
              </a:rPr>
              <a:t>performance </a:t>
            </a:r>
            <a:r>
              <a:rPr sz="2000" spc="55" dirty="0">
                <a:latin typeface="Arial"/>
                <a:cs typeface="Arial"/>
              </a:rPr>
              <a:t>of </a:t>
            </a:r>
            <a:r>
              <a:rPr sz="2000" spc="-50" dirty="0">
                <a:latin typeface="Arial"/>
                <a:cs typeface="Arial"/>
              </a:rPr>
              <a:t>queries </a:t>
            </a:r>
            <a:r>
              <a:rPr sz="2000" spc="-35" dirty="0">
                <a:latin typeface="Arial"/>
                <a:cs typeface="Arial"/>
              </a:rPr>
              <a:t>and triggers </a:t>
            </a:r>
            <a:r>
              <a:rPr sz="2000" spc="-45" dirty="0">
                <a:latin typeface="Arial"/>
                <a:cs typeface="Arial"/>
              </a:rPr>
              <a:t>alerts </a:t>
            </a:r>
            <a:r>
              <a:rPr sz="2000" spc="25" dirty="0">
                <a:latin typeface="Arial"/>
                <a:cs typeface="Arial"/>
              </a:rPr>
              <a:t>on  poorly </a:t>
            </a:r>
            <a:r>
              <a:rPr sz="2000" spc="10" dirty="0">
                <a:latin typeface="Arial"/>
                <a:cs typeface="Arial"/>
              </a:rPr>
              <a:t>performing</a:t>
            </a:r>
            <a:r>
              <a:rPr sz="2000" spc="-254" dirty="0">
                <a:latin typeface="Arial"/>
                <a:cs typeface="Arial"/>
              </a:rPr>
              <a:t> </a:t>
            </a:r>
            <a:r>
              <a:rPr sz="2000" spc="-50" dirty="0">
                <a:latin typeface="Arial"/>
                <a:cs typeface="Arial"/>
              </a:rPr>
              <a:t>plans.</a:t>
            </a:r>
            <a:endParaRPr sz="2000">
              <a:latin typeface="Arial"/>
              <a:cs typeface="Arial"/>
            </a:endParaRPr>
          </a:p>
          <a:p>
            <a:pPr marL="353695" marR="5080" indent="-341630" algn="just">
              <a:lnSpc>
                <a:spcPct val="100000"/>
              </a:lnSpc>
              <a:spcBef>
                <a:spcPts val="5"/>
              </a:spcBef>
              <a:buFont typeface="Calibri"/>
              <a:buChar char="●"/>
              <a:tabLst>
                <a:tab pos="354330" algn="l"/>
              </a:tabLst>
            </a:pPr>
            <a:r>
              <a:rPr sz="2000" spc="-5" dirty="0">
                <a:latin typeface="Arial"/>
                <a:cs typeface="Arial"/>
              </a:rPr>
              <a:t>Stretch </a:t>
            </a:r>
            <a:r>
              <a:rPr sz="2000" spc="-90" dirty="0">
                <a:latin typeface="Arial"/>
                <a:cs typeface="Arial"/>
              </a:rPr>
              <a:t>Database </a:t>
            </a:r>
            <a:r>
              <a:rPr sz="2000" spc="95" dirty="0">
                <a:latin typeface="Arial"/>
                <a:cs typeface="Arial"/>
              </a:rPr>
              <a:t>in </a:t>
            </a:r>
            <a:r>
              <a:rPr sz="2000" spc="20" dirty="0">
                <a:latin typeface="Arial"/>
                <a:cs typeface="Arial"/>
              </a:rPr>
              <a:t>SQL </a:t>
            </a:r>
            <a:r>
              <a:rPr sz="2000" spc="-50" dirty="0">
                <a:latin typeface="Arial"/>
                <a:cs typeface="Arial"/>
              </a:rPr>
              <a:t>Server </a:t>
            </a:r>
            <a:r>
              <a:rPr sz="2000" spc="-204" dirty="0">
                <a:latin typeface="Arial"/>
                <a:cs typeface="Arial"/>
              </a:rPr>
              <a:t>2019 </a:t>
            </a:r>
            <a:r>
              <a:rPr sz="2000" spc="-85" dirty="0">
                <a:latin typeface="Arial"/>
                <a:cs typeface="Arial"/>
              </a:rPr>
              <a:t>enables </a:t>
            </a:r>
            <a:r>
              <a:rPr sz="2000" spc="-5" dirty="0">
                <a:latin typeface="Arial"/>
                <a:cs typeface="Arial"/>
              </a:rPr>
              <a:t>stretching </a:t>
            </a:r>
            <a:r>
              <a:rPr sz="2000" spc="-110" dirty="0">
                <a:latin typeface="Arial"/>
                <a:cs typeface="Arial"/>
              </a:rPr>
              <a:t>some </a:t>
            </a:r>
            <a:r>
              <a:rPr sz="2000" dirty="0">
                <a:latin typeface="Arial"/>
                <a:cs typeface="Arial"/>
              </a:rPr>
              <a:t>part </a:t>
            </a:r>
            <a:r>
              <a:rPr sz="2000" spc="50" dirty="0">
                <a:latin typeface="Arial"/>
                <a:cs typeface="Arial"/>
              </a:rPr>
              <a:t>of </a:t>
            </a:r>
            <a:r>
              <a:rPr sz="2000" spc="-195" dirty="0">
                <a:latin typeface="Arial"/>
                <a:cs typeface="Arial"/>
              </a:rPr>
              <a:t>a </a:t>
            </a:r>
            <a:r>
              <a:rPr sz="2000" spc="165" dirty="0">
                <a:latin typeface="Arial"/>
                <a:cs typeface="Arial"/>
              </a:rPr>
              <a:t> </a:t>
            </a:r>
            <a:r>
              <a:rPr sz="2000" spc="-105" dirty="0">
                <a:latin typeface="Arial"/>
                <a:cs typeface="Arial"/>
              </a:rPr>
              <a:t>database </a:t>
            </a:r>
            <a:r>
              <a:rPr sz="2000" spc="55" dirty="0">
                <a:latin typeface="Arial"/>
                <a:cs typeface="Arial"/>
              </a:rPr>
              <a:t>to </a:t>
            </a:r>
            <a:r>
              <a:rPr sz="2000" dirty="0">
                <a:latin typeface="Arial"/>
                <a:cs typeface="Arial"/>
              </a:rPr>
              <a:t>the </a:t>
            </a:r>
            <a:r>
              <a:rPr sz="2000" spc="-5" dirty="0">
                <a:latin typeface="Arial"/>
                <a:cs typeface="Arial"/>
              </a:rPr>
              <a:t>Azure </a:t>
            </a:r>
            <a:r>
              <a:rPr sz="2000" dirty="0">
                <a:latin typeface="Arial"/>
                <a:cs typeface="Arial"/>
              </a:rPr>
              <a:t>cloud, </a:t>
            </a:r>
            <a:r>
              <a:rPr sz="2000" spc="-20" dirty="0">
                <a:latin typeface="Arial"/>
                <a:cs typeface="Arial"/>
              </a:rPr>
              <a:t>thereby, </a:t>
            </a:r>
            <a:r>
              <a:rPr sz="2000" spc="10" dirty="0">
                <a:latin typeface="Arial"/>
                <a:cs typeface="Arial"/>
              </a:rPr>
              <a:t>lowering </a:t>
            </a:r>
            <a:r>
              <a:rPr sz="2000" spc="5" dirty="0">
                <a:latin typeface="Arial"/>
                <a:cs typeface="Arial"/>
              </a:rPr>
              <a:t>long-term </a:t>
            </a:r>
            <a:r>
              <a:rPr sz="2000" spc="-80" dirty="0">
                <a:latin typeface="Arial"/>
                <a:cs typeface="Arial"/>
              </a:rPr>
              <a:t>storage </a:t>
            </a:r>
            <a:r>
              <a:rPr sz="2000" spc="-85" dirty="0">
                <a:latin typeface="Arial"/>
                <a:cs typeface="Arial"/>
              </a:rPr>
              <a:t>costs </a:t>
            </a:r>
            <a:r>
              <a:rPr sz="2000" spc="-204" dirty="0">
                <a:latin typeface="Arial"/>
                <a:cs typeface="Arial"/>
              </a:rPr>
              <a:t>as  </a:t>
            </a:r>
            <a:r>
              <a:rPr sz="2000" spc="20" dirty="0">
                <a:latin typeface="Arial"/>
                <a:cs typeface="Arial"/>
              </a:rPr>
              <a:t>well </a:t>
            </a:r>
            <a:r>
              <a:rPr sz="2000" spc="-204" dirty="0">
                <a:latin typeface="Arial"/>
                <a:cs typeface="Arial"/>
              </a:rPr>
              <a:t>as </a:t>
            </a:r>
            <a:r>
              <a:rPr sz="2000" spc="-40" dirty="0">
                <a:latin typeface="Arial"/>
                <a:cs typeface="Arial"/>
              </a:rPr>
              <a:t>maintenance</a:t>
            </a:r>
            <a:r>
              <a:rPr sz="2000" spc="-160" dirty="0">
                <a:latin typeface="Arial"/>
                <a:cs typeface="Arial"/>
              </a:rPr>
              <a:t> </a:t>
            </a:r>
            <a:r>
              <a:rPr sz="2000" dirty="0">
                <a:latin typeface="Arial"/>
                <a:cs typeface="Arial"/>
              </a:rPr>
              <a:t>efforts.</a:t>
            </a:r>
            <a:endParaRPr sz="2000">
              <a:latin typeface="Arial"/>
              <a:cs typeface="Arial"/>
            </a:endParaRPr>
          </a:p>
          <a:p>
            <a:pPr marL="353695" marR="6985" indent="-341630" algn="just">
              <a:lnSpc>
                <a:spcPct val="100000"/>
              </a:lnSpc>
              <a:buFont typeface="Calibri"/>
              <a:buChar char="●"/>
              <a:tabLst>
                <a:tab pos="354330" algn="l"/>
              </a:tabLst>
            </a:pPr>
            <a:r>
              <a:rPr sz="2000" spc="-5" dirty="0">
                <a:latin typeface="Arial"/>
                <a:cs typeface="Arial"/>
              </a:rPr>
              <a:t>Stretch</a:t>
            </a:r>
            <a:r>
              <a:rPr sz="2000" spc="-120" dirty="0">
                <a:latin typeface="Arial"/>
                <a:cs typeface="Arial"/>
              </a:rPr>
              <a:t> </a:t>
            </a:r>
            <a:r>
              <a:rPr sz="2000" spc="-90" dirty="0">
                <a:latin typeface="Arial"/>
                <a:cs typeface="Arial"/>
              </a:rPr>
              <a:t>Database</a:t>
            </a:r>
            <a:r>
              <a:rPr sz="2000" spc="-105" dirty="0">
                <a:latin typeface="Arial"/>
                <a:cs typeface="Arial"/>
              </a:rPr>
              <a:t> </a:t>
            </a:r>
            <a:r>
              <a:rPr sz="2000" spc="-50" dirty="0">
                <a:latin typeface="Arial"/>
                <a:cs typeface="Arial"/>
              </a:rPr>
              <a:t>is</a:t>
            </a:r>
            <a:r>
              <a:rPr sz="2000" spc="-114" dirty="0">
                <a:latin typeface="Arial"/>
                <a:cs typeface="Arial"/>
              </a:rPr>
              <a:t> </a:t>
            </a:r>
            <a:r>
              <a:rPr sz="2000" spc="-90" dirty="0">
                <a:latin typeface="Arial"/>
                <a:cs typeface="Arial"/>
              </a:rPr>
              <a:t>used</a:t>
            </a:r>
            <a:r>
              <a:rPr sz="2000" spc="-114" dirty="0">
                <a:latin typeface="Arial"/>
                <a:cs typeface="Arial"/>
              </a:rPr>
              <a:t> </a:t>
            </a:r>
            <a:r>
              <a:rPr sz="2000" spc="55" dirty="0">
                <a:latin typeface="Arial"/>
                <a:cs typeface="Arial"/>
              </a:rPr>
              <a:t>to</a:t>
            </a:r>
            <a:r>
              <a:rPr sz="2000" spc="-114" dirty="0">
                <a:latin typeface="Arial"/>
                <a:cs typeface="Arial"/>
              </a:rPr>
              <a:t> </a:t>
            </a:r>
            <a:r>
              <a:rPr sz="2000" spc="-30" dirty="0">
                <a:latin typeface="Arial"/>
                <a:cs typeface="Arial"/>
              </a:rPr>
              <a:t>migrate</a:t>
            </a:r>
            <a:r>
              <a:rPr sz="2000" spc="-110" dirty="0">
                <a:latin typeface="Arial"/>
                <a:cs typeface="Arial"/>
              </a:rPr>
              <a:t> </a:t>
            </a:r>
            <a:r>
              <a:rPr sz="2000" spc="-25" dirty="0">
                <a:latin typeface="Arial"/>
                <a:cs typeface="Arial"/>
              </a:rPr>
              <a:t>archive</a:t>
            </a:r>
            <a:r>
              <a:rPr sz="2000" spc="-110" dirty="0">
                <a:latin typeface="Arial"/>
                <a:cs typeface="Arial"/>
              </a:rPr>
              <a:t> </a:t>
            </a:r>
            <a:r>
              <a:rPr sz="2000" spc="-35" dirty="0">
                <a:latin typeface="Arial"/>
                <a:cs typeface="Arial"/>
              </a:rPr>
              <a:t>and</a:t>
            </a:r>
            <a:r>
              <a:rPr sz="2000" spc="-110" dirty="0">
                <a:latin typeface="Arial"/>
                <a:cs typeface="Arial"/>
              </a:rPr>
              <a:t> </a:t>
            </a:r>
            <a:r>
              <a:rPr sz="2000" spc="-60" dirty="0">
                <a:latin typeface="Arial"/>
                <a:cs typeface="Arial"/>
              </a:rPr>
              <a:t>data</a:t>
            </a:r>
            <a:r>
              <a:rPr sz="2000" spc="-110" dirty="0">
                <a:latin typeface="Arial"/>
                <a:cs typeface="Arial"/>
              </a:rPr>
              <a:t> </a:t>
            </a:r>
            <a:r>
              <a:rPr sz="2000" spc="95" dirty="0">
                <a:latin typeface="Arial"/>
                <a:cs typeface="Arial"/>
              </a:rPr>
              <a:t>in</a:t>
            </a:r>
            <a:r>
              <a:rPr sz="2000" spc="-114" dirty="0">
                <a:latin typeface="Arial"/>
                <a:cs typeface="Arial"/>
              </a:rPr>
              <a:t> </a:t>
            </a:r>
            <a:r>
              <a:rPr sz="2000" spc="15" dirty="0">
                <a:latin typeface="Arial"/>
                <a:cs typeface="Arial"/>
              </a:rPr>
              <a:t>current</a:t>
            </a:r>
            <a:r>
              <a:rPr sz="2000" spc="-114" dirty="0">
                <a:latin typeface="Arial"/>
                <a:cs typeface="Arial"/>
              </a:rPr>
              <a:t> </a:t>
            </a:r>
            <a:r>
              <a:rPr sz="2000" spc="-10" dirty="0">
                <a:latin typeface="Arial"/>
                <a:cs typeface="Arial"/>
              </a:rPr>
              <a:t>transaction  </a:t>
            </a:r>
            <a:r>
              <a:rPr sz="2000" spc="50" dirty="0">
                <a:latin typeface="Arial"/>
                <a:cs typeface="Arial"/>
              </a:rPr>
              <a:t>to </a:t>
            </a:r>
            <a:r>
              <a:rPr sz="2000" dirty="0">
                <a:latin typeface="Arial"/>
                <a:cs typeface="Arial"/>
              </a:rPr>
              <a:t>the </a:t>
            </a:r>
            <a:r>
              <a:rPr sz="2000" spc="10" dirty="0">
                <a:latin typeface="Arial"/>
                <a:cs typeface="Arial"/>
              </a:rPr>
              <a:t>cloud</a:t>
            </a:r>
            <a:r>
              <a:rPr sz="2000" spc="-425" dirty="0">
                <a:latin typeface="Arial"/>
                <a:cs typeface="Arial"/>
              </a:rPr>
              <a:t> </a:t>
            </a:r>
            <a:r>
              <a:rPr sz="2000" spc="-55" dirty="0">
                <a:latin typeface="Arial"/>
                <a:cs typeface="Arial"/>
              </a:rPr>
              <a:t>securely.</a:t>
            </a:r>
            <a:endParaRPr sz="2000">
              <a:latin typeface="Arial"/>
              <a:cs typeface="Arial"/>
            </a:endParaRPr>
          </a:p>
          <a:p>
            <a:pPr marL="353695" marR="6985" indent="-341630" algn="just">
              <a:lnSpc>
                <a:spcPct val="100000"/>
              </a:lnSpc>
              <a:buFont typeface="Calibri"/>
              <a:buChar char="●"/>
              <a:tabLst>
                <a:tab pos="354330" algn="l"/>
              </a:tabLst>
            </a:pPr>
            <a:r>
              <a:rPr sz="2000" spc="-5" dirty="0">
                <a:latin typeface="Arial"/>
                <a:cs typeface="Arial"/>
              </a:rPr>
              <a:t>Stretch</a:t>
            </a:r>
            <a:r>
              <a:rPr sz="2000" spc="-125" dirty="0">
                <a:latin typeface="Arial"/>
                <a:cs typeface="Arial"/>
              </a:rPr>
              <a:t> </a:t>
            </a:r>
            <a:r>
              <a:rPr sz="2000" spc="-105" dirty="0">
                <a:latin typeface="Arial"/>
                <a:cs typeface="Arial"/>
              </a:rPr>
              <a:t>database</a:t>
            </a:r>
            <a:r>
              <a:rPr sz="2000" spc="-114" dirty="0">
                <a:latin typeface="Arial"/>
                <a:cs typeface="Arial"/>
              </a:rPr>
              <a:t> </a:t>
            </a:r>
            <a:r>
              <a:rPr sz="2000" spc="-50" dirty="0">
                <a:latin typeface="Arial"/>
                <a:cs typeface="Arial"/>
              </a:rPr>
              <a:t>is</a:t>
            </a:r>
            <a:r>
              <a:rPr sz="2000" spc="-120" dirty="0">
                <a:latin typeface="Arial"/>
                <a:cs typeface="Arial"/>
              </a:rPr>
              <a:t> </a:t>
            </a:r>
            <a:r>
              <a:rPr sz="2000" spc="-90" dirty="0">
                <a:latin typeface="Arial"/>
                <a:cs typeface="Arial"/>
              </a:rPr>
              <a:t>used</a:t>
            </a:r>
            <a:r>
              <a:rPr sz="2000" spc="-120" dirty="0">
                <a:latin typeface="Arial"/>
                <a:cs typeface="Arial"/>
              </a:rPr>
              <a:t> </a:t>
            </a:r>
            <a:r>
              <a:rPr sz="2000" spc="55" dirty="0">
                <a:latin typeface="Arial"/>
                <a:cs typeface="Arial"/>
              </a:rPr>
              <a:t>to</a:t>
            </a:r>
            <a:r>
              <a:rPr sz="2000" spc="-114" dirty="0">
                <a:latin typeface="Arial"/>
                <a:cs typeface="Arial"/>
              </a:rPr>
              <a:t> </a:t>
            </a:r>
            <a:r>
              <a:rPr sz="2000" spc="-170" dirty="0">
                <a:latin typeface="Arial"/>
                <a:cs typeface="Arial"/>
              </a:rPr>
              <a:t>access</a:t>
            </a:r>
            <a:r>
              <a:rPr sz="2000" spc="-120" dirty="0">
                <a:latin typeface="Arial"/>
                <a:cs typeface="Arial"/>
              </a:rPr>
              <a:t> </a:t>
            </a:r>
            <a:r>
              <a:rPr sz="2000" spc="10" dirty="0">
                <a:latin typeface="Arial"/>
                <a:cs typeface="Arial"/>
              </a:rPr>
              <a:t>cloud</a:t>
            </a:r>
            <a:r>
              <a:rPr sz="2000" spc="-105" dirty="0">
                <a:latin typeface="Arial"/>
                <a:cs typeface="Arial"/>
              </a:rPr>
              <a:t> </a:t>
            </a:r>
            <a:r>
              <a:rPr sz="2000" spc="-60" dirty="0">
                <a:latin typeface="Arial"/>
                <a:cs typeface="Arial"/>
              </a:rPr>
              <a:t>data</a:t>
            </a:r>
            <a:r>
              <a:rPr sz="2000" spc="-114" dirty="0">
                <a:latin typeface="Arial"/>
                <a:cs typeface="Arial"/>
              </a:rPr>
              <a:t> </a:t>
            </a:r>
            <a:r>
              <a:rPr sz="2000" spc="-35" dirty="0">
                <a:latin typeface="Arial"/>
                <a:cs typeface="Arial"/>
              </a:rPr>
              <a:t>at</a:t>
            </a:r>
            <a:r>
              <a:rPr sz="2000" spc="-114" dirty="0">
                <a:latin typeface="Arial"/>
                <a:cs typeface="Arial"/>
              </a:rPr>
              <a:t> </a:t>
            </a:r>
            <a:r>
              <a:rPr sz="2000" spc="-45" dirty="0">
                <a:latin typeface="Arial"/>
                <a:cs typeface="Arial"/>
              </a:rPr>
              <a:t>any</a:t>
            </a:r>
            <a:r>
              <a:rPr sz="2000" spc="-120" dirty="0">
                <a:latin typeface="Arial"/>
                <a:cs typeface="Arial"/>
              </a:rPr>
              <a:t> </a:t>
            </a:r>
            <a:r>
              <a:rPr sz="2000" spc="10" dirty="0">
                <a:latin typeface="Arial"/>
                <a:cs typeface="Arial"/>
              </a:rPr>
              <a:t>time</a:t>
            </a:r>
            <a:r>
              <a:rPr sz="2000" spc="-114" dirty="0">
                <a:latin typeface="Arial"/>
                <a:cs typeface="Arial"/>
              </a:rPr>
              <a:t> </a:t>
            </a:r>
            <a:r>
              <a:rPr sz="2000" dirty="0">
                <a:latin typeface="Arial"/>
                <a:cs typeface="Arial"/>
              </a:rPr>
              <a:t>similar</a:t>
            </a:r>
            <a:r>
              <a:rPr sz="2000" spc="-120" dirty="0">
                <a:latin typeface="Arial"/>
                <a:cs typeface="Arial"/>
              </a:rPr>
              <a:t> </a:t>
            </a:r>
            <a:r>
              <a:rPr sz="2000" spc="55" dirty="0">
                <a:latin typeface="Arial"/>
                <a:cs typeface="Arial"/>
              </a:rPr>
              <a:t>to</a:t>
            </a:r>
            <a:r>
              <a:rPr sz="2000" spc="-114" dirty="0">
                <a:latin typeface="Arial"/>
                <a:cs typeface="Arial"/>
              </a:rPr>
              <a:t> </a:t>
            </a:r>
            <a:r>
              <a:rPr sz="2000" dirty="0">
                <a:latin typeface="Arial"/>
                <a:cs typeface="Arial"/>
              </a:rPr>
              <a:t>the</a:t>
            </a:r>
            <a:r>
              <a:rPr sz="2000" spc="-110" dirty="0">
                <a:latin typeface="Arial"/>
                <a:cs typeface="Arial"/>
              </a:rPr>
              <a:t> </a:t>
            </a:r>
            <a:r>
              <a:rPr sz="2000" spc="-20" dirty="0">
                <a:latin typeface="Arial"/>
                <a:cs typeface="Arial"/>
              </a:rPr>
              <a:t>local  </a:t>
            </a:r>
            <a:r>
              <a:rPr sz="2000" spc="-60" dirty="0">
                <a:latin typeface="Arial"/>
                <a:cs typeface="Arial"/>
              </a:rPr>
              <a:t>data </a:t>
            </a:r>
            <a:r>
              <a:rPr sz="2000" spc="-45" dirty="0">
                <a:latin typeface="Arial"/>
                <a:cs typeface="Arial"/>
              </a:rPr>
              <a:t>available </a:t>
            </a:r>
            <a:r>
              <a:rPr sz="2000" spc="20" dirty="0">
                <a:latin typeface="Arial"/>
                <a:cs typeface="Arial"/>
              </a:rPr>
              <a:t>on</a:t>
            </a:r>
            <a:r>
              <a:rPr sz="2000" spc="-245" dirty="0">
                <a:latin typeface="Arial"/>
                <a:cs typeface="Arial"/>
              </a:rPr>
              <a:t> </a:t>
            </a:r>
            <a:r>
              <a:rPr sz="2000" spc="-60" dirty="0">
                <a:latin typeface="Arial"/>
                <a:cs typeface="Arial"/>
              </a:rPr>
              <a:t>machines.</a:t>
            </a:r>
            <a:endParaRPr sz="20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541</TotalTime>
  <Words>4429</Words>
  <Application>Microsoft Office PowerPoint</Application>
  <PresentationFormat>On-screen Show (4:3)</PresentationFormat>
  <Paragraphs>394</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Book Antiqua</vt:lpstr>
      <vt:lpstr>Calibri</vt:lpstr>
      <vt:lpstr>Courier New</vt:lpstr>
      <vt:lpstr>Palatino Linotype</vt:lpstr>
      <vt:lpstr>Times New Roman</vt:lpstr>
      <vt:lpstr>Wingdings</vt:lpstr>
      <vt:lpstr>Office Theme</vt:lpstr>
      <vt:lpstr>Intelligent Data Management with  SQL Server</vt:lpstr>
      <vt:lpstr>Objectives</vt:lpstr>
      <vt:lpstr>Understanding PolyBase 1-2</vt:lpstr>
      <vt:lpstr>Understanding PolyBase 2-2</vt:lpstr>
      <vt:lpstr>PowerPoint Presentation</vt:lpstr>
      <vt:lpstr>PolyBase Architecture 2-2</vt:lpstr>
      <vt:lpstr>Installing PolyBase in SQL Server 2019 1-4</vt:lpstr>
      <vt:lpstr>Installing PolyBase in SQL Server 2019 2-4</vt:lpstr>
      <vt:lpstr>Installing PolyBase in SQL Server 2019 3-4</vt:lpstr>
      <vt:lpstr>Installing PolyBase in SQL Server 2019 4-4</vt:lpstr>
      <vt:lpstr>Query Store</vt:lpstr>
      <vt:lpstr>Query Store Architecture</vt:lpstr>
      <vt:lpstr>Enabling Query Store</vt:lpstr>
      <vt:lpstr>Configuring Query Store</vt:lpstr>
      <vt:lpstr>Query Store System Objects</vt:lpstr>
      <vt:lpstr>Performance Tuning with Query Store</vt:lpstr>
      <vt:lpstr>Stretch Database</vt:lpstr>
      <vt:lpstr>Stretch Database Architecture</vt:lpstr>
      <vt:lpstr>Setting up Stretch Database 1-2</vt:lpstr>
      <vt:lpstr>Setting up Stretch Database 2-2</vt:lpstr>
      <vt:lpstr>Stretch Database Limitations 1-3</vt:lpstr>
      <vt:lpstr>Stretch Database Limitations 2-3</vt:lpstr>
      <vt:lpstr>Stretch Database Limitations 3-3</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186</cp:revision>
  <dcterms:created xsi:type="dcterms:W3CDTF">2021-10-11T16:12:47Z</dcterms:created>
  <dcterms:modified xsi:type="dcterms:W3CDTF">2021-10-31T08:14:28Z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