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875" autoAdjust="0"/>
  </p:normalViewPr>
  <p:slideViewPr>
    <p:cSldViewPr>
      <p:cViewPr varScale="1">
        <p:scale>
          <a:sx n="40" d="100"/>
          <a:sy n="40" d="100"/>
        </p:scale>
        <p:origin x="202" y="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1CE6DED-8D0C-408A-AED6-26F45AD9BD97}" type="datetimeFigureOut">
              <a:rPr lang="en-US" smtClean="0"/>
              <a:t>10/16/2021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D34B684-4C1B-4B3A-9E38-8C6B58E8F21A}" type="slidenum">
              <a:rPr lang="en-US" smtClean="0"/>
              <a:t>‹#›</a:t>
            </a:fld>
            <a:endParaRPr lang="en-US"/>
          </a:p>
        </p:txBody>
      </p:sp>
    </p:spTree>
    <p:extLst>
      <p:ext uri="{BB962C8B-B14F-4D97-AF65-F5344CB8AC3E}">
        <p14:creationId xmlns:p14="http://schemas.microsoft.com/office/powerpoint/2010/main" val="3388813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Phiên 8: Truy cập dữ liệu</a:t>
            </a:r>
          </a:p>
        </p:txBody>
      </p:sp>
      <p:sp>
        <p:nvSpPr>
          <p:cNvPr id="4" name="Slide Number Placeholder 3"/>
          <p:cNvSpPr>
            <a:spLocks noGrp="1"/>
          </p:cNvSpPr>
          <p:nvPr>
            <p:ph type="sldNum" sz="quarter" idx="5"/>
          </p:nvPr>
        </p:nvSpPr>
        <p:spPr/>
        <p:txBody>
          <a:bodyPr/>
          <a:lstStyle/>
          <a:p>
            <a:fld id="{9D34B684-4C1B-4B3A-9E38-8C6B58E8F21A}" type="slidenum">
              <a:rPr lang="en-US" smtClean="0"/>
              <a:t>1</a:t>
            </a:fld>
            <a:endParaRPr lang="en-US"/>
          </a:p>
        </p:txBody>
      </p:sp>
    </p:spTree>
    <p:extLst>
      <p:ext uri="{BB962C8B-B14F-4D97-AF65-F5344CB8AC3E}">
        <p14:creationId xmlns:p14="http://schemas.microsoft.com/office/powerpoint/2010/main" val="2012939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b="0"/>
              <a:t>Mô tả câu lệnh </a:t>
            </a:r>
            <a:r>
              <a:rPr lang="en-US" sz="1200" b="1">
                <a:latin typeface="Calibri" pitchFamily="34" charset="0"/>
                <a:cs typeface="Calibri" pitchFamily="34" charset="0"/>
              </a:rPr>
              <a:t>SELECT</a:t>
            </a:r>
            <a:r>
              <a:rPr lang="vi-VN" b="0"/>
              <a:t>, cú pháp của nó và sử dụng</a:t>
            </a:r>
          </a:p>
          <a:p>
            <a:pPr marL="171450" indent="-171450">
              <a:buFont typeface="Arial" panose="020B0604020202020204" pitchFamily="34" charset="0"/>
              <a:buChar char="•"/>
            </a:pPr>
            <a:r>
              <a:rPr lang="vi-VN" b="0"/>
              <a:t>Giải thích các mệnh đề khác nhau được sử dụng với </a:t>
            </a:r>
            <a:r>
              <a:rPr lang="en-US" sz="1200" b="1">
                <a:latin typeface="Calibri" pitchFamily="34" charset="0"/>
                <a:cs typeface="Calibri" pitchFamily="34" charset="0"/>
              </a:rPr>
              <a:t>SELECT</a:t>
            </a:r>
            <a:endParaRPr lang="vi-VN" b="1"/>
          </a:p>
          <a:p>
            <a:pPr marL="171450" indent="-171450">
              <a:buFont typeface="Arial" panose="020B0604020202020204" pitchFamily="34" charset="0"/>
              <a:buChar char="•"/>
            </a:pPr>
            <a:r>
              <a:rPr lang="vi-VN" b="0"/>
              <a:t>Nêu việc sử dụng mệnh đề</a:t>
            </a:r>
            <a:r>
              <a:rPr lang="en-US" b="0"/>
              <a:t> </a:t>
            </a:r>
            <a:r>
              <a:rPr lang="en-US" sz="1200" b="1">
                <a:latin typeface="Calibri" pitchFamily="34" charset="0"/>
                <a:cs typeface="Calibri" pitchFamily="34" charset="0"/>
              </a:rPr>
              <a:t>ORDER BY</a:t>
            </a:r>
            <a:endParaRPr lang="vi-VN" b="1"/>
          </a:p>
          <a:p>
            <a:pPr marL="171450" indent="-171450">
              <a:buFont typeface="Arial" panose="020B0604020202020204" pitchFamily="34" charset="0"/>
              <a:buChar char="•"/>
            </a:pPr>
            <a:r>
              <a:rPr lang="vi-VN" b="0"/>
              <a:t>Mô tả làm việc với XML </a:t>
            </a:r>
            <a:r>
              <a:rPr lang="en-US" b="0"/>
              <a:t>có kiểu </a:t>
            </a:r>
            <a:r>
              <a:rPr lang="vi-VN" b="0"/>
              <a:t>và XML</a:t>
            </a:r>
            <a:r>
              <a:rPr lang="en-US" b="0"/>
              <a:t> không kiểu</a:t>
            </a:r>
            <a:endParaRPr lang="vi-VN" b="0"/>
          </a:p>
          <a:p>
            <a:pPr marL="171450" indent="-171450">
              <a:buFont typeface="Arial" panose="020B0604020202020204" pitchFamily="34" charset="0"/>
              <a:buChar char="•"/>
            </a:pPr>
            <a:r>
              <a:rPr lang="vi-VN" b="0"/>
              <a:t>Giải thích quy trình để tạo, sử dụng và xem các lược đồ XML</a:t>
            </a:r>
          </a:p>
        </p:txBody>
      </p:sp>
      <p:sp>
        <p:nvSpPr>
          <p:cNvPr id="4" name="Slide Number Placeholder 3"/>
          <p:cNvSpPr>
            <a:spLocks noGrp="1"/>
          </p:cNvSpPr>
          <p:nvPr>
            <p:ph type="sldNum" sz="quarter" idx="5"/>
          </p:nvPr>
        </p:nvSpPr>
        <p:spPr/>
        <p:txBody>
          <a:bodyPr/>
          <a:lstStyle/>
          <a:p>
            <a:fld id="{9D34B684-4C1B-4B3A-9E38-8C6B58E8F21A}" type="slidenum">
              <a:rPr lang="en-US" smtClean="0"/>
              <a:t>2</a:t>
            </a:fld>
            <a:endParaRPr lang="en-US"/>
          </a:p>
        </p:txBody>
      </p:sp>
    </p:spTree>
    <p:extLst>
      <p:ext uri="{BB962C8B-B14F-4D97-AF65-F5344CB8AC3E}">
        <p14:creationId xmlns:p14="http://schemas.microsoft.com/office/powerpoint/2010/main" val="2841027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en-US"/>
              <a:t>Câu lệnh SELECT </a:t>
            </a:r>
            <a:r>
              <a:rPr lang="vi-VN"/>
              <a:t>là một lệnh lõi được sử dụng để truy cập dữ liệu trong SQL Server 2019.</a:t>
            </a:r>
          </a:p>
          <a:p>
            <a:pPr marL="171450" indent="-171450">
              <a:buFont typeface="Arial" panose="020B0604020202020204" pitchFamily="34" charset="0"/>
              <a:buChar char="•"/>
            </a:pPr>
            <a:r>
              <a:rPr lang="vi-VN"/>
              <a:t>XML cho phép các nhà phát triển phát triển bộ thẻ của riêng mình và giúp các chương trình khác có thể hiểu các thẻ này.</a:t>
            </a:r>
          </a:p>
          <a:p>
            <a:pPr marL="171450" indent="-171450">
              <a:buFont typeface="Arial" panose="020B0604020202020204" pitchFamily="34" charset="0"/>
              <a:buChar char="•"/>
            </a:pPr>
            <a:r>
              <a:rPr lang="vi-VN"/>
              <a:t>XML là phương tiện ưa thích cho các nhà phát triển lưu trữ, định dạng và quản lý dữ liệu trên web.</a:t>
            </a:r>
            <a:endParaRPr lang="en-US"/>
          </a:p>
        </p:txBody>
      </p:sp>
      <p:sp>
        <p:nvSpPr>
          <p:cNvPr id="4" name="Slide Number Placeholder 3"/>
          <p:cNvSpPr>
            <a:spLocks noGrp="1"/>
          </p:cNvSpPr>
          <p:nvPr>
            <p:ph type="sldNum" sz="quarter" idx="5"/>
          </p:nvPr>
        </p:nvSpPr>
        <p:spPr/>
        <p:txBody>
          <a:bodyPr/>
          <a:lstStyle/>
          <a:p>
            <a:fld id="{9D34B684-4C1B-4B3A-9E38-8C6B58E8F21A}" type="slidenum">
              <a:rPr lang="en-US" smtClean="0"/>
              <a:t>3</a:t>
            </a:fld>
            <a:endParaRPr lang="en-US"/>
          </a:p>
        </p:txBody>
      </p:sp>
    </p:spTree>
    <p:extLst>
      <p:ext uri="{BB962C8B-B14F-4D97-AF65-F5344CB8AC3E}">
        <p14:creationId xmlns:p14="http://schemas.microsoft.com/office/powerpoint/2010/main" val="3439121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Câu lệnh SELECT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b="0"/>
              <a:t>Dữ liệu trong một bảng có thể được xem bằng cách sử dụng câu lệnh chọn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Câu lệnh </a:t>
            </a:r>
            <a:r>
              <a:rPr lang="vi-VN" b="0"/>
              <a:t>này: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Hiển thị thông tin cần thiết trong một bảng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Lấy </a:t>
            </a:r>
            <a:r>
              <a:rPr lang="en-US" b="0"/>
              <a:t>thông tin </a:t>
            </a:r>
            <a:r>
              <a:rPr lang="vi-VN" b="0"/>
              <a:t>hàng và cột từ một hoặc nhiều bảng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Xác định các cột sẽ được sử dụng cho truy vấn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Bao gồm một loạt các biểu thức được phân tách bằng dấu phẩy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Lấy </a:t>
            </a:r>
            <a:r>
              <a:rPr lang="en-US" b="0"/>
              <a:t>thông tin </a:t>
            </a:r>
            <a:r>
              <a:rPr lang="vi-VN" b="0"/>
              <a:t>các hàng từ cơ sở dữ liệu và cho phép lựa chọn một hoặc nhiều hàng hoặc</a:t>
            </a:r>
            <a:r>
              <a:rPr lang="en-US" b="0"/>
              <a:t> </a:t>
            </a:r>
            <a:r>
              <a:rPr lang="vi-VN" b="0"/>
              <a:t>cột</a:t>
            </a:r>
            <a:endParaRPr lang="en-US" b="0"/>
          </a:p>
          <a:p>
            <a:endParaRPr lang="en-US"/>
          </a:p>
        </p:txBody>
      </p:sp>
      <p:sp>
        <p:nvSpPr>
          <p:cNvPr id="4" name="Slide Number Placeholder 3"/>
          <p:cNvSpPr>
            <a:spLocks noGrp="1"/>
          </p:cNvSpPr>
          <p:nvPr>
            <p:ph type="sldNum" sz="quarter" idx="5"/>
          </p:nvPr>
        </p:nvSpPr>
        <p:spPr/>
        <p:txBody>
          <a:bodyPr/>
          <a:lstStyle/>
          <a:p>
            <a:fld id="{9D34B684-4C1B-4B3A-9E38-8C6B58E8F21A}" type="slidenum">
              <a:rPr lang="en-US" smtClean="0"/>
              <a:t>4</a:t>
            </a:fld>
            <a:endParaRPr lang="en-US"/>
          </a:p>
        </p:txBody>
      </p:sp>
    </p:spTree>
    <p:extLst>
      <p:ext uri="{BB962C8B-B14F-4D97-AF65-F5344CB8AC3E}">
        <p14:creationId xmlns:p14="http://schemas.microsoft.com/office/powerpoint/2010/main" val="248051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SELECT không có FROM</a:t>
            </a:r>
          </a:p>
          <a:p>
            <a:pPr marL="171450" indent="-171450">
              <a:buFont typeface="Arial" panose="020B0604020202020204" pitchFamily="34" charset="0"/>
              <a:buChar char="•"/>
            </a:pPr>
            <a:r>
              <a:rPr lang="vi-VN" b="0"/>
              <a:t>Nhiều phiên bản SQL sử dụng </a:t>
            </a:r>
            <a:r>
              <a:rPr lang="en-US" sz="1200" b="1">
                <a:latin typeface="Courier New" pitchFamily="49" charset="0"/>
                <a:cs typeface="Courier New" pitchFamily="49" charset="0"/>
              </a:rPr>
              <a:t>FROM</a:t>
            </a:r>
            <a:r>
              <a:rPr lang="en-US" sz="1200">
                <a:latin typeface="Courier New" pitchFamily="49" charset="0"/>
                <a:cs typeface="Courier New" pitchFamily="49" charset="0"/>
              </a:rPr>
              <a:t> trong</a:t>
            </a:r>
            <a:r>
              <a:rPr lang="vi-VN" b="0"/>
              <a:t> truy vấn của họ, nhưng trong tất cả các phiên bản từ SQL Server 2005, bao gồm SQL Server 2012, người ta có thể sử dụng các câu lệnh </a:t>
            </a:r>
            <a:r>
              <a:rPr lang="en-US" sz="1200" b="1">
                <a:latin typeface="Courier New" pitchFamily="49" charset="0"/>
                <a:cs typeface="Courier New" pitchFamily="49" charset="0"/>
              </a:rPr>
              <a:t>SELECT</a:t>
            </a:r>
            <a:r>
              <a:rPr lang="vi-VN" b="1"/>
              <a:t> </a:t>
            </a:r>
            <a:r>
              <a:rPr lang="vi-VN" b="0"/>
              <a:t>mà không cần sử dụng mệnh đề </a:t>
            </a:r>
            <a:r>
              <a:rPr lang="en-US" b="1"/>
              <a:t>FROM</a:t>
            </a:r>
          </a:p>
          <a:p>
            <a:pPr marL="171450" indent="-171450">
              <a:buFont typeface="Arial" panose="020B0604020202020204" pitchFamily="34" charset="0"/>
              <a:buChar char="•"/>
            </a:pPr>
            <a:r>
              <a:rPr lang="en-US" b="0"/>
              <a:t>Ví dụ: </a:t>
            </a:r>
          </a:p>
          <a:p>
            <a:pPr marL="457200" lvl="1" indent="0">
              <a:buFont typeface="Arial" panose="020B0604020202020204" pitchFamily="34" charset="0"/>
              <a:buNone/>
            </a:pPr>
            <a:r>
              <a:rPr lang="en-US" sz="1200" b="1"/>
              <a:t>SELECT LEFT('International’,5)</a:t>
            </a:r>
            <a:endParaRPr lang="en-US" b="0"/>
          </a:p>
          <a:p>
            <a:pPr marL="171450" lvl="0" indent="-171450">
              <a:buFont typeface="Arial" panose="020B0604020202020204" pitchFamily="34" charset="0"/>
              <a:buChar char="•"/>
            </a:pPr>
            <a:r>
              <a:rPr lang="vi-VN" b="0"/>
              <a:t>Đầu ra được hiển thị trong hình dưới đây:</a:t>
            </a:r>
            <a:endParaRPr lang="en-US" b="0"/>
          </a:p>
        </p:txBody>
      </p:sp>
      <p:sp>
        <p:nvSpPr>
          <p:cNvPr id="4" name="Slide Number Placeholder 3"/>
          <p:cNvSpPr>
            <a:spLocks noGrp="1"/>
          </p:cNvSpPr>
          <p:nvPr>
            <p:ph type="sldNum" sz="quarter" idx="5"/>
          </p:nvPr>
        </p:nvSpPr>
        <p:spPr/>
        <p:txBody>
          <a:bodyPr/>
          <a:lstStyle/>
          <a:p>
            <a:fld id="{9D34B684-4C1B-4B3A-9E38-8C6B58E8F21A}" type="slidenum">
              <a:rPr lang="en-US" smtClean="0"/>
              <a:t>5</a:t>
            </a:fld>
            <a:endParaRPr lang="en-US"/>
          </a:p>
        </p:txBody>
      </p:sp>
    </p:spTree>
    <p:extLst>
      <p:ext uri="{BB962C8B-B14F-4D97-AF65-F5344CB8AC3E}">
        <p14:creationId xmlns:p14="http://schemas.microsoft.com/office/powerpoint/2010/main" val="3801969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Hiển thị tất cả các cột</a:t>
            </a:r>
          </a:p>
          <a:p>
            <a:pPr marL="171450" indent="-171450">
              <a:buFont typeface="Arial" panose="020B0604020202020204" pitchFamily="34" charset="0"/>
              <a:buChar char="•"/>
            </a:pPr>
            <a:r>
              <a:rPr lang="en-US" b="0"/>
              <a:t>Dấu</a:t>
            </a:r>
            <a:r>
              <a:rPr lang="vi-VN" b="0"/>
              <a:t> (*) được sử dụng trong câu lệnh </a:t>
            </a:r>
            <a:r>
              <a:rPr lang="en-US" sz="1200">
                <a:latin typeface="Courier New" pitchFamily="49" charset="0"/>
                <a:cs typeface="Courier New" pitchFamily="49" charset="0"/>
              </a:rPr>
              <a:t>SELECT</a:t>
            </a:r>
            <a:r>
              <a:rPr lang="vi-VN" b="0"/>
              <a:t> để truy xuất tất cả các cột từ bảng.</a:t>
            </a:r>
            <a:endParaRPr lang="en-US" b="0"/>
          </a:p>
          <a:p>
            <a:pPr marL="171450" indent="-171450">
              <a:buFont typeface="Arial" panose="020B0604020202020204" pitchFamily="34" charset="0"/>
              <a:buChar char="•"/>
            </a:pPr>
            <a:r>
              <a:rPr lang="en-US" b="0"/>
              <a:t>Cú pháp:</a:t>
            </a:r>
          </a:p>
          <a:p>
            <a:pPr marL="457200" marR="0" lvl="1"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b="0"/>
              <a:t>	</a:t>
            </a:r>
            <a:r>
              <a:rPr lang="en-US" sz="1200" b="1"/>
              <a:t>SELECT * FROM &lt;table_name&gt;</a:t>
            </a:r>
            <a:br>
              <a:rPr lang="en-US" sz="1200" b="1"/>
            </a:br>
            <a:endParaRPr lang="en-US" sz="1200" b="1"/>
          </a:p>
          <a:p>
            <a:pPr marL="171450" lvl="0" indent="-171450">
              <a:buFont typeface="Arial" panose="020B0604020202020204" pitchFamily="34" charset="0"/>
              <a:buChar char="•"/>
            </a:pPr>
            <a:r>
              <a:rPr lang="en-US" b="0"/>
              <a:t>Ví dụ:</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sz="1200" b="1" spc="-5">
                <a:latin typeface="Courier New"/>
                <a:cs typeface="Courier New"/>
              </a:rPr>
              <a:t>USE</a:t>
            </a:r>
            <a:r>
              <a:rPr lang="en-US" sz="1200" b="1" spc="-10">
                <a:latin typeface="Courier New"/>
                <a:cs typeface="Courier New"/>
              </a:rPr>
              <a:t> AdventureWorks2019</a:t>
            </a:r>
            <a:endParaRPr lang="en-US" sz="1200" b="1">
              <a:latin typeface="Courier New"/>
              <a:cs typeface="Courier New"/>
            </a:endParaRPr>
          </a:p>
          <a:p>
            <a:pPr lvl="2"/>
            <a:r>
              <a:rPr lang="en-US" sz="1200" b="1"/>
              <a:t>SELECT * FROM HumanResources.Employee</a:t>
            </a:r>
          </a:p>
          <a:p>
            <a:pPr lvl="2"/>
            <a:r>
              <a:rPr lang="en-US" sz="1200" b="1"/>
              <a:t>GO</a:t>
            </a:r>
            <a:endParaRPr lang="en-US" b="1"/>
          </a:p>
        </p:txBody>
      </p:sp>
      <p:sp>
        <p:nvSpPr>
          <p:cNvPr id="4" name="Slide Number Placeholder 3"/>
          <p:cNvSpPr>
            <a:spLocks noGrp="1"/>
          </p:cNvSpPr>
          <p:nvPr>
            <p:ph type="sldNum" sz="quarter" idx="5"/>
          </p:nvPr>
        </p:nvSpPr>
        <p:spPr/>
        <p:txBody>
          <a:bodyPr/>
          <a:lstStyle/>
          <a:p>
            <a:fld id="{9D34B684-4C1B-4B3A-9E38-8C6B58E8F21A}" type="slidenum">
              <a:rPr lang="en-US" smtClean="0"/>
              <a:t>6</a:t>
            </a:fld>
            <a:endParaRPr lang="en-US"/>
          </a:p>
        </p:txBody>
      </p:sp>
    </p:spTree>
    <p:extLst>
      <p:ext uri="{BB962C8B-B14F-4D97-AF65-F5344CB8AC3E}">
        <p14:creationId xmlns:p14="http://schemas.microsoft.com/office/powerpoint/2010/main" val="132630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Hiển thị cột được chọn</a:t>
            </a:r>
            <a:endParaRPr lang="en-US" b="1"/>
          </a:p>
          <a:p>
            <a:pPr marL="171450" indent="-171450">
              <a:buFont typeface="Arial" panose="020B0604020202020204" pitchFamily="34" charset="0"/>
              <a:buChar char="•"/>
            </a:pPr>
            <a:r>
              <a:rPr lang="vi-VN" b="0"/>
              <a:t>Câu lệnh </a:t>
            </a:r>
            <a:r>
              <a:rPr lang="en-US" b="0"/>
              <a:t>SELECT </a:t>
            </a:r>
            <a:r>
              <a:rPr lang="vi-VN" b="0"/>
              <a:t>hiển thị hoặc trả về một số cột có liên quan nhất định được người dùng chọn hoặc được đề cập trong câu lệnh.</a:t>
            </a:r>
          </a:p>
          <a:p>
            <a:pPr marL="171450" indent="-171450">
              <a:buFont typeface="Arial" panose="020B0604020202020204" pitchFamily="34" charset="0"/>
              <a:buChar char="•"/>
            </a:pPr>
            <a:r>
              <a:rPr lang="vi-VN" b="0"/>
              <a:t>Để hiển thị các cột cụ thể, kiến ​​thức về các tên cột có liên quan trong bảng là bắt buộc.</a:t>
            </a:r>
            <a:endParaRPr lang="en-US" b="0"/>
          </a:p>
          <a:p>
            <a:pPr marL="171450" indent="-171450">
              <a:buFont typeface="Arial" panose="020B0604020202020204" pitchFamily="34" charset="0"/>
              <a:buChar char="•"/>
            </a:pPr>
            <a:r>
              <a:rPr lang="en-US" b="0"/>
              <a:t>Cú pháp: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sz="1200" b="1"/>
              <a:t>SELECT &lt;column_name1&gt;.. &lt;column_nameN&gt;  FROM  &lt;table_name&gt;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t>Ví dụ:</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1" spc="-5">
                <a:latin typeface="Courier New"/>
                <a:cs typeface="Courier New"/>
              </a:rPr>
              <a:t>USE</a:t>
            </a:r>
            <a:r>
              <a:rPr lang="en-US" sz="1200" b="1" spc="-10">
                <a:latin typeface="Courier New"/>
                <a:cs typeface="Courier New"/>
              </a:rPr>
              <a:t> AdventureWorks2019</a:t>
            </a:r>
            <a:endParaRPr lang="en-US" sz="1200" b="1">
              <a:latin typeface="Courier New"/>
              <a:cs typeface="Courier New"/>
            </a:endParaRPr>
          </a:p>
          <a:p>
            <a:pPr lvl="1"/>
            <a:r>
              <a:rPr lang="en-US" sz="1200" b="1"/>
              <a:t>SELECT LocationID, CostRate  FROM  Production.Location</a:t>
            </a:r>
          </a:p>
          <a:p>
            <a:pPr lvl="1"/>
            <a:r>
              <a:rPr lang="en-US" sz="1200" b="1"/>
              <a:t>GO</a:t>
            </a:r>
          </a:p>
        </p:txBody>
      </p:sp>
      <p:sp>
        <p:nvSpPr>
          <p:cNvPr id="4" name="Slide Number Placeholder 3"/>
          <p:cNvSpPr>
            <a:spLocks noGrp="1"/>
          </p:cNvSpPr>
          <p:nvPr>
            <p:ph type="sldNum" sz="quarter" idx="5"/>
          </p:nvPr>
        </p:nvSpPr>
        <p:spPr/>
        <p:txBody>
          <a:bodyPr/>
          <a:lstStyle/>
          <a:p>
            <a:fld id="{9D34B684-4C1B-4B3A-9E38-8C6B58E8F21A}" type="slidenum">
              <a:rPr lang="en-US" smtClean="0"/>
              <a:t>7</a:t>
            </a:fld>
            <a:endParaRPr lang="en-US"/>
          </a:p>
        </p:txBody>
      </p:sp>
    </p:spTree>
    <p:extLst>
      <p:ext uri="{BB962C8B-B14F-4D97-AF65-F5344CB8AC3E}">
        <p14:creationId xmlns:p14="http://schemas.microsoft.com/office/powerpoint/2010/main" val="2676951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biểu thức khác nhau với </a:t>
            </a:r>
            <a:r>
              <a:rPr lang="en-US" sz="1200" b="1" spc="165">
                <a:latin typeface="Times New Roman"/>
                <a:cs typeface="Times New Roman"/>
              </a:rPr>
              <a:t>SELECT</a:t>
            </a:r>
          </a:p>
          <a:p>
            <a:pPr marL="171450" indent="-171450">
              <a:buFont typeface="Arial" panose="020B0604020202020204" pitchFamily="34" charset="0"/>
              <a:buChar char="•"/>
            </a:pPr>
            <a:r>
              <a:rPr lang="vi-VN" b="0"/>
              <a:t>Chọn câu lệnh cho phép người dùng chỉ định các biểu thức khác nhau để xem kết quả theo cách đặt hàng.</a:t>
            </a:r>
          </a:p>
          <a:p>
            <a:pPr marL="171450" indent="-171450">
              <a:buFont typeface="Arial" panose="020B0604020202020204" pitchFamily="34" charset="0"/>
              <a:buChar char="•"/>
            </a:pPr>
            <a:r>
              <a:rPr lang="vi-VN" b="0"/>
              <a:t>Các biểu thức này gán tên khác nhau cho các cột trong kết quả, tính toán các giá trị và loại bỏ các giá trị trùng lặp</a:t>
            </a:r>
            <a:endParaRPr lang="en-US" b="0"/>
          </a:p>
        </p:txBody>
      </p:sp>
      <p:sp>
        <p:nvSpPr>
          <p:cNvPr id="4" name="Slide Number Placeholder 3"/>
          <p:cNvSpPr>
            <a:spLocks noGrp="1"/>
          </p:cNvSpPr>
          <p:nvPr>
            <p:ph type="sldNum" sz="quarter" idx="5"/>
          </p:nvPr>
        </p:nvSpPr>
        <p:spPr/>
        <p:txBody>
          <a:bodyPr/>
          <a:lstStyle/>
          <a:p>
            <a:fld id="{9D34B684-4C1B-4B3A-9E38-8C6B58E8F21A}" type="slidenum">
              <a:rPr lang="en-US" smtClean="0"/>
              <a:t>8</a:t>
            </a:fld>
            <a:endParaRPr lang="en-US"/>
          </a:p>
        </p:txBody>
      </p:sp>
    </p:spTree>
    <p:extLst>
      <p:ext uri="{BB962C8B-B14F-4D97-AF65-F5344CB8AC3E}">
        <p14:creationId xmlns:p14="http://schemas.microsoft.com/office/powerpoint/2010/main" val="71564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Sử dụng các hằng số trong tập kết quả</a:t>
            </a:r>
          </a:p>
          <a:p>
            <a:pPr marL="171450" indent="-171450">
              <a:buFont typeface="Arial" panose="020B0604020202020204" pitchFamily="34" charset="0"/>
              <a:buChar char="•"/>
            </a:pPr>
            <a:r>
              <a:rPr lang="vi-VN" b="0"/>
              <a:t>Được sử dụng khi các cột ký tự được tham gia</a:t>
            </a:r>
          </a:p>
          <a:p>
            <a:pPr marL="171450" indent="-171450">
              <a:buFont typeface="Arial" panose="020B0604020202020204" pitchFamily="34" charset="0"/>
              <a:buChar char="•"/>
            </a:pPr>
            <a:r>
              <a:rPr lang="vi-VN" b="0"/>
              <a:t>Giúp định dạng hoặc khả năng đọc thích hợp</a:t>
            </a:r>
          </a:p>
          <a:p>
            <a:pPr marL="171450" indent="-171450">
              <a:buFont typeface="Arial" panose="020B0604020202020204" pitchFamily="34" charset="0"/>
              <a:buChar char="•"/>
            </a:pPr>
            <a:r>
              <a:rPr lang="vi-VN" b="0"/>
              <a:t>Không được chỉ định là một cột riêng biệt trong kết quả</a:t>
            </a:r>
          </a:p>
          <a:p>
            <a:pPr marL="171450" indent="-171450">
              <a:buFont typeface="Arial" panose="020B0604020202020204" pitchFamily="34" charset="0"/>
              <a:buChar char="•"/>
            </a:pPr>
            <a:r>
              <a:rPr lang="vi-VN" b="0"/>
              <a:t>Hiệu quả hơn cho một ứng dụng để xây dựng các giá trị không đổi thành kết quả</a:t>
            </a:r>
            <a:endParaRPr lang="en-US" b="0"/>
          </a:p>
          <a:p>
            <a:pPr marL="171450" indent="-171450">
              <a:buFont typeface="Arial" panose="020B0604020202020204" pitchFamily="34" charset="0"/>
              <a:buChar char="•"/>
            </a:pPr>
            <a:r>
              <a:rPr lang="en-US" b="0"/>
              <a:t>Ví dụ:</a:t>
            </a:r>
          </a:p>
          <a:p>
            <a:pPr marL="914400" marR="0" lvl="2" indent="0" algn="l" defTabSz="914400" rtl="0" eaLnBrk="1" fontAlgn="auto" latinLnBrk="0" hangingPunct="1">
              <a:lnSpc>
                <a:spcPct val="100000"/>
              </a:lnSpc>
              <a:spcBef>
                <a:spcPts val="1200"/>
              </a:spcBef>
              <a:spcAft>
                <a:spcPts val="0"/>
              </a:spcAft>
              <a:buClrTx/>
              <a:buSzTx/>
              <a:buFontTx/>
              <a:buNone/>
              <a:tabLst/>
              <a:defRPr/>
            </a:pPr>
            <a:r>
              <a:rPr lang="en-US" sz="1200" b="1" spc="-5">
                <a:latin typeface="Courier New"/>
                <a:cs typeface="Courier New"/>
              </a:rPr>
              <a:t>USE</a:t>
            </a:r>
            <a:r>
              <a:rPr lang="en-US" sz="1200" b="1" spc="-10">
                <a:latin typeface="Courier New"/>
                <a:cs typeface="Courier New"/>
              </a:rPr>
              <a:t> AdventureWorks2019</a:t>
            </a:r>
            <a:endParaRPr lang="en-US" sz="1200" b="1">
              <a:latin typeface="Courier New"/>
              <a:cs typeface="Courier New"/>
            </a:endParaRPr>
          </a:p>
          <a:p>
            <a:pPr lvl="2">
              <a:lnSpc>
                <a:spcPct val="100000"/>
              </a:lnSpc>
              <a:spcBef>
                <a:spcPts val="1200"/>
              </a:spcBef>
            </a:pPr>
            <a:r>
              <a:rPr lang="en-US" sz="1200" b="1">
                <a:latin typeface="Courier New" panose="02070309020205020404" pitchFamily="49" charset="0"/>
                <a:cs typeface="Courier New" panose="02070309020205020404" pitchFamily="49" charset="0"/>
              </a:rPr>
              <a:t>SELECT Name +':'+ CountryRegionCode +'→'+ Group FROM SalesTerritory</a:t>
            </a:r>
          </a:p>
          <a:p>
            <a:pPr lvl="2">
              <a:lnSpc>
                <a:spcPct val="100000"/>
              </a:lnSpc>
              <a:spcBef>
                <a:spcPts val="1200"/>
              </a:spcBef>
            </a:pPr>
            <a:r>
              <a:rPr lang="en-US" sz="1200" b="1">
                <a:latin typeface="Courier New" panose="02070309020205020404" pitchFamily="49" charset="0"/>
                <a:cs typeface="Courier New" panose="02070309020205020404" pitchFamily="49" charset="0"/>
              </a:rPr>
              <a:t>GO</a:t>
            </a:r>
          </a:p>
        </p:txBody>
      </p:sp>
      <p:sp>
        <p:nvSpPr>
          <p:cNvPr id="4" name="Slide Number Placeholder 3"/>
          <p:cNvSpPr>
            <a:spLocks noGrp="1"/>
          </p:cNvSpPr>
          <p:nvPr>
            <p:ph type="sldNum" sz="quarter" idx="5"/>
          </p:nvPr>
        </p:nvSpPr>
        <p:spPr/>
        <p:txBody>
          <a:bodyPr/>
          <a:lstStyle/>
          <a:p>
            <a:fld id="{9D34B684-4C1B-4B3A-9E38-8C6B58E8F21A}" type="slidenum">
              <a:rPr lang="en-US" smtClean="0"/>
              <a:t>9</a:t>
            </a:fld>
            <a:endParaRPr lang="en-US"/>
          </a:p>
        </p:txBody>
      </p:sp>
    </p:spTree>
    <p:extLst>
      <p:ext uri="{BB962C8B-B14F-4D97-AF65-F5344CB8AC3E}">
        <p14:creationId xmlns:p14="http://schemas.microsoft.com/office/powerpoint/2010/main" val="73803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Đổi tên tên cột kết quả 1-2</a:t>
            </a:r>
          </a:p>
          <a:p>
            <a:pPr marL="171450" indent="-171450">
              <a:buFont typeface="Arial" panose="020B0604020202020204" pitchFamily="34" charset="0"/>
              <a:buChar char="•"/>
            </a:pPr>
            <a:r>
              <a:rPr lang="en-US" b="0"/>
              <a:t>C</a:t>
            </a:r>
            <a:r>
              <a:rPr lang="vi-VN" b="0"/>
              <a:t>ác cột được hiển thị trong kết quả</a:t>
            </a:r>
            <a:r>
              <a:rPr lang="en-US" b="0"/>
              <a:t> truy vấn</a:t>
            </a:r>
            <a:r>
              <a:rPr lang="vi-VN" b="0"/>
              <a:t>, chúng có các tiêu đề tương ứng được chỉ định trong bảng.</a:t>
            </a:r>
            <a:endParaRPr lang="en-US" b="0"/>
          </a:p>
          <a:p>
            <a:pPr marL="171450" indent="-171450">
              <a:buFont typeface="Arial" panose="020B0604020202020204" pitchFamily="34" charset="0"/>
              <a:buChar char="•"/>
            </a:pPr>
            <a:r>
              <a:rPr lang="vi-VN" b="0"/>
              <a:t>Những tiêu đề này có thể</a:t>
            </a:r>
            <a:r>
              <a:rPr lang="en-US" b="0"/>
              <a:t>:</a:t>
            </a:r>
          </a:p>
          <a:p>
            <a:pPr marL="628650" lvl="1" indent="-171450">
              <a:buFont typeface="Arial" panose="020B0604020202020204" pitchFamily="34" charset="0"/>
              <a:buChar char="•"/>
            </a:pPr>
            <a:r>
              <a:rPr lang="en-US" b="0"/>
              <a:t>Đ</a:t>
            </a:r>
            <a:r>
              <a:rPr lang="vi-VN" b="0"/>
              <a:t>ược thay đổi </a:t>
            </a:r>
            <a:endParaRPr lang="en-US" b="0"/>
          </a:p>
          <a:p>
            <a:pPr marL="628650" lvl="1" indent="-171450">
              <a:buFont typeface="Arial" panose="020B0604020202020204" pitchFamily="34" charset="0"/>
              <a:buChar char="•"/>
            </a:pPr>
            <a:r>
              <a:rPr lang="en-US" b="0"/>
              <a:t>Đ</a:t>
            </a:r>
            <a:r>
              <a:rPr lang="vi-VN" b="0"/>
              <a:t>ược </a:t>
            </a:r>
            <a:r>
              <a:rPr lang="en-US" b="0"/>
              <a:t>đổi</a:t>
            </a:r>
            <a:r>
              <a:rPr lang="vi-VN" b="0"/>
              <a:t> tên</a:t>
            </a:r>
            <a:endParaRPr lang="en-US" b="0"/>
          </a:p>
          <a:p>
            <a:pPr marL="628650" lvl="1" indent="-171450">
              <a:buFont typeface="Arial" panose="020B0604020202020204" pitchFamily="34" charset="0"/>
              <a:buChar char="•"/>
            </a:pPr>
            <a:r>
              <a:rPr lang="vi-VN" b="0"/>
              <a:t>Có thể được </a:t>
            </a:r>
            <a:r>
              <a:rPr lang="en-US" b="0"/>
              <a:t>gán </a:t>
            </a:r>
            <a:r>
              <a:rPr lang="vi-VN" b="0"/>
              <a:t>một tên mới bằng cách sử dụng mệnh đề</a:t>
            </a:r>
            <a:r>
              <a:rPr lang="en-US" b="0"/>
              <a:t> </a:t>
            </a:r>
            <a:r>
              <a:rPr lang="en-US" b="1"/>
              <a:t>AS</a:t>
            </a:r>
          </a:p>
          <a:p>
            <a:pPr marL="171450" lvl="0" indent="-171450">
              <a:buFont typeface="Arial" panose="020B0604020202020204" pitchFamily="34" charset="0"/>
              <a:buChar char="•"/>
            </a:pPr>
            <a:r>
              <a:rPr lang="vi-VN" b="0"/>
              <a:t>Bằng cách tùy chỉnh các tiêu đề, chúng trở nên dễ hiểu và có ý nghĩa hơn.</a:t>
            </a:r>
            <a:endParaRPr lang="en-US" b="0"/>
          </a:p>
          <a:p>
            <a:pPr marL="171450" lvl="0" indent="-171450">
              <a:buFont typeface="Arial" panose="020B0604020202020204" pitchFamily="34" charset="0"/>
              <a:buChar char="•"/>
            </a:pPr>
            <a:r>
              <a:rPr lang="en-US" b="0"/>
              <a:t>Ví dụ:</a:t>
            </a:r>
          </a:p>
          <a:p>
            <a:pPr lvl="2"/>
            <a:r>
              <a:rPr lang="en-US" sz="1200" b="1"/>
              <a:t>SELECT ModifiedDate as 'ChangedDate' FROM Individual</a:t>
            </a:r>
          </a:p>
          <a:p>
            <a:pPr lvl="2"/>
            <a:r>
              <a:rPr lang="en-US" sz="1200" b="1"/>
              <a:t>GO</a:t>
            </a:r>
          </a:p>
        </p:txBody>
      </p:sp>
      <p:sp>
        <p:nvSpPr>
          <p:cNvPr id="4" name="Slide Number Placeholder 3"/>
          <p:cNvSpPr>
            <a:spLocks noGrp="1"/>
          </p:cNvSpPr>
          <p:nvPr>
            <p:ph type="sldNum" sz="quarter" idx="5"/>
          </p:nvPr>
        </p:nvSpPr>
        <p:spPr/>
        <p:txBody>
          <a:bodyPr/>
          <a:lstStyle/>
          <a:p>
            <a:fld id="{9D34B684-4C1B-4B3A-9E38-8C6B58E8F21A}" type="slidenum">
              <a:rPr lang="en-US" smtClean="0"/>
              <a:t>10</a:t>
            </a:fld>
            <a:endParaRPr lang="en-US"/>
          </a:p>
        </p:txBody>
      </p:sp>
    </p:spTree>
    <p:extLst>
      <p:ext uri="{BB962C8B-B14F-4D97-AF65-F5344CB8AC3E}">
        <p14:creationId xmlns:p14="http://schemas.microsoft.com/office/powerpoint/2010/main" val="2192652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Đổi tên tên cột kết quả 2-2</a:t>
            </a:r>
          </a:p>
          <a:p>
            <a:endParaRPr lang="en-US"/>
          </a:p>
        </p:txBody>
      </p:sp>
      <p:sp>
        <p:nvSpPr>
          <p:cNvPr id="4" name="Slide Number Placeholder 3"/>
          <p:cNvSpPr>
            <a:spLocks noGrp="1"/>
          </p:cNvSpPr>
          <p:nvPr>
            <p:ph type="sldNum" sz="quarter" idx="5"/>
          </p:nvPr>
        </p:nvSpPr>
        <p:spPr/>
        <p:txBody>
          <a:bodyPr/>
          <a:lstStyle/>
          <a:p>
            <a:fld id="{9D34B684-4C1B-4B3A-9E38-8C6B58E8F21A}" type="slidenum">
              <a:rPr lang="en-US" smtClean="0"/>
              <a:t>11</a:t>
            </a:fld>
            <a:endParaRPr lang="en-US"/>
          </a:p>
        </p:txBody>
      </p:sp>
    </p:spTree>
    <p:extLst>
      <p:ext uri="{BB962C8B-B14F-4D97-AF65-F5344CB8AC3E}">
        <p14:creationId xmlns:p14="http://schemas.microsoft.com/office/powerpoint/2010/main" val="854526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Tính toán giá trị trong kết quả</a:t>
            </a:r>
          </a:p>
          <a:p>
            <a:pPr marL="171450" indent="-171450">
              <a:buFont typeface="Arial" panose="020B0604020202020204" pitchFamily="34" charset="0"/>
              <a:buChar char="•"/>
            </a:pPr>
            <a:r>
              <a:rPr lang="en-US" b="0"/>
              <a:t>Một câu lệnh </a:t>
            </a:r>
            <a:r>
              <a:rPr lang="en-US" sz="1200">
                <a:latin typeface="Courier New" pitchFamily="49" charset="0"/>
                <a:cs typeface="Courier New" pitchFamily="49" charset="0"/>
              </a:rPr>
              <a:t>SELECT</a:t>
            </a:r>
            <a:r>
              <a:rPr lang="en-US" b="0"/>
              <a:t> có thể chứa các biểu thức toán học bằng cách áp dụng các toán tử vào một hoặc nhiều cột.</a:t>
            </a:r>
          </a:p>
          <a:p>
            <a:pPr marL="171450" indent="-171450">
              <a:buFont typeface="Arial" panose="020B0604020202020204" pitchFamily="34" charset="0"/>
              <a:buChar char="•"/>
            </a:pPr>
            <a:r>
              <a:rPr lang="vi-VN" b="0"/>
              <a:t>Nó cho phép kết quả chứa các giá trị không tồn tại trong cơ sở</a:t>
            </a:r>
            <a:r>
              <a:rPr lang="en-US" b="0"/>
              <a:t> </a:t>
            </a:r>
            <a:r>
              <a:rPr lang="vi-VN" b="0"/>
              <a:t>bảng, nhưng được tính từ các giá trị được lưu trong bảng gốc</a:t>
            </a:r>
            <a:endParaRPr lang="en-US" b="0"/>
          </a:p>
          <a:p>
            <a:pPr marL="171450" indent="-171450">
              <a:buFont typeface="Arial" panose="020B0604020202020204" pitchFamily="34" charset="0"/>
              <a:buChar char="•"/>
            </a:pPr>
            <a:r>
              <a:rPr lang="en-US" b="0"/>
              <a:t>Ví dụ:</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a:latin typeface="Courier New" panose="02070309020205020404" pitchFamily="49" charset="0"/>
                <a:cs typeface="Courier New" panose="02070309020205020404" pitchFamily="49" charset="0"/>
              </a:rPr>
              <a:t>SELECT ProductID,StandardCost,</a:t>
            </a:r>
            <a:r>
              <a:rPr lang="en-US" sz="1200" b="1">
                <a:latin typeface="Courier New" panose="02070309020205020404" pitchFamily="49" charset="0"/>
                <a:cs typeface="Courier New" panose="02070309020205020404" pitchFamily="49" charset="0"/>
              </a:rPr>
              <a:t>StandardCost * 0.15 </a:t>
            </a:r>
            <a:r>
              <a:rPr lang="en-US" sz="1200">
                <a:latin typeface="Courier New" panose="02070309020205020404" pitchFamily="49" charset="0"/>
                <a:cs typeface="Courier New" panose="02070309020205020404" pitchFamily="49" charset="0"/>
              </a:rPr>
              <a:t>as Discount </a:t>
            </a:r>
            <a:br>
              <a:rPr lang="en-US" sz="1200">
                <a:latin typeface="Courier New" panose="02070309020205020404" pitchFamily="49" charset="0"/>
                <a:cs typeface="Courier New" panose="02070309020205020404" pitchFamily="49" charset="0"/>
              </a:rPr>
            </a:br>
            <a:r>
              <a:rPr lang="en-US" sz="1200">
                <a:latin typeface="Courier New" panose="02070309020205020404" pitchFamily="49" charset="0"/>
                <a:cs typeface="Courier New" panose="02070309020205020404" pitchFamily="49" charset="0"/>
              </a:rPr>
              <a:t>FROM ProductCostHistory</a:t>
            </a:r>
          </a:p>
        </p:txBody>
      </p:sp>
      <p:sp>
        <p:nvSpPr>
          <p:cNvPr id="4" name="Slide Number Placeholder 3"/>
          <p:cNvSpPr>
            <a:spLocks noGrp="1"/>
          </p:cNvSpPr>
          <p:nvPr>
            <p:ph type="sldNum" sz="quarter" idx="5"/>
          </p:nvPr>
        </p:nvSpPr>
        <p:spPr/>
        <p:txBody>
          <a:bodyPr/>
          <a:lstStyle/>
          <a:p>
            <a:fld id="{9D34B684-4C1B-4B3A-9E38-8C6B58E8F21A}" type="slidenum">
              <a:rPr lang="en-US" smtClean="0"/>
              <a:t>12</a:t>
            </a:fld>
            <a:endParaRPr lang="en-US"/>
          </a:p>
        </p:txBody>
      </p:sp>
    </p:spTree>
    <p:extLst>
      <p:ext uri="{BB962C8B-B14F-4D97-AF65-F5344CB8AC3E}">
        <p14:creationId xmlns:p14="http://schemas.microsoft.com/office/powerpoint/2010/main" val="3185263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Sử dụng DISTINCT</a:t>
            </a:r>
          </a:p>
          <a:p>
            <a:pPr marL="171450" indent="-171450">
              <a:buFont typeface="Arial" panose="020B0604020202020204" pitchFamily="34" charset="0"/>
              <a:buChar char="•"/>
            </a:pPr>
            <a:r>
              <a:rPr lang="en-US" b="0"/>
              <a:t>Từ khóa </a:t>
            </a:r>
            <a:r>
              <a:rPr lang="en-US" sz="1200">
                <a:latin typeface="Courier New" pitchFamily="49" charset="0"/>
                <a:cs typeface="Courier New" pitchFamily="49" charset="0"/>
              </a:rPr>
              <a:t>DISTINCT để </a:t>
            </a:r>
            <a:r>
              <a:rPr lang="en-US" b="0"/>
              <a:t>ngăn chặn truy xuất các mẫu tin trùng lặp.</a:t>
            </a:r>
          </a:p>
          <a:p>
            <a:pPr marL="171450" indent="-171450">
              <a:buFont typeface="Arial" panose="020B0604020202020204" pitchFamily="34" charset="0"/>
              <a:buChar char="•"/>
            </a:pPr>
            <a:r>
              <a:rPr lang="en-US" b="0"/>
              <a:t>Nó loại bỏ các hàng đang lặp lại từ kết quả của một câu lệnh </a:t>
            </a:r>
            <a:r>
              <a:rPr lang="en-US" b="1"/>
              <a:t>SELECT</a:t>
            </a:r>
            <a:endParaRPr lang="en-US" b="0"/>
          </a:p>
          <a:p>
            <a:pPr marL="171450" indent="-171450">
              <a:buFont typeface="Arial" panose="020B0604020202020204" pitchFamily="34" charset="0"/>
              <a:buChar char="•"/>
            </a:pPr>
            <a:r>
              <a:rPr lang="en-US" b="0"/>
              <a:t>Ví dụ:</a:t>
            </a:r>
          </a:p>
          <a:p>
            <a:pPr lvl="2"/>
            <a:r>
              <a:rPr lang="en-US" sz="1200"/>
              <a:t>SELECT </a:t>
            </a:r>
            <a:r>
              <a:rPr lang="en-US" sz="1200" b="1"/>
              <a:t>DISTINCT</a:t>
            </a:r>
            <a:r>
              <a:rPr lang="en-US" sz="1200"/>
              <a:t> StandardCost FROM ProductCostHistory</a:t>
            </a:r>
          </a:p>
          <a:p>
            <a:pPr lvl="2"/>
            <a:r>
              <a:rPr lang="en-US" sz="1200"/>
              <a:t>GO</a:t>
            </a:r>
          </a:p>
          <a:p>
            <a:pPr marL="171450" lvl="0" indent="-171450">
              <a:buFont typeface="Arial" panose="020B0604020202020204" pitchFamily="34" charset="0"/>
              <a:buChar char="•"/>
            </a:pPr>
            <a:r>
              <a:rPr lang="vi-VN" sz="1000"/>
              <a:t>Nếu cột </a:t>
            </a:r>
            <a:r>
              <a:rPr lang="en-US" sz="1000" b="1"/>
              <a:t>StandardCost</a:t>
            </a:r>
            <a:r>
              <a:rPr lang="en-US" sz="1000"/>
              <a:t> </a:t>
            </a:r>
            <a:r>
              <a:rPr lang="vi-VN" sz="1000"/>
              <a:t>được chọn mà không cần sử dụng từ khóa </a:t>
            </a:r>
            <a:r>
              <a:rPr lang="en-US" sz="1000" b="1" spc="120">
                <a:solidFill>
                  <a:srgbClr val="FFFFFF"/>
                </a:solidFill>
                <a:latin typeface="Times New Roman"/>
                <a:cs typeface="Times New Roman"/>
              </a:rPr>
              <a:t>DISTINCT</a:t>
            </a:r>
            <a:r>
              <a:rPr lang="vi-VN" sz="1000"/>
              <a:t>, nó sẽ hiển thị tất cả các </a:t>
            </a:r>
            <a:r>
              <a:rPr lang="en-US" sz="1000" b="1"/>
              <a:t>StandardCost</a:t>
            </a:r>
            <a:r>
              <a:rPr lang="en-US" sz="1000"/>
              <a:t> </a:t>
            </a:r>
            <a:r>
              <a:rPr lang="vi-VN" sz="1000"/>
              <a:t>có trong bảng.</a:t>
            </a:r>
          </a:p>
          <a:p>
            <a:pPr marL="171450" lvl="0" indent="-171450">
              <a:buFont typeface="Arial" panose="020B0604020202020204" pitchFamily="34" charset="0"/>
              <a:buChar char="•"/>
            </a:pPr>
            <a:r>
              <a:rPr lang="vi-VN" sz="1000"/>
              <a:t>Khi sử dụng từ khóa </a:t>
            </a:r>
            <a:r>
              <a:rPr lang="en-US" sz="1000" b="1" spc="120">
                <a:solidFill>
                  <a:srgbClr val="FFFFFF"/>
                </a:solidFill>
                <a:latin typeface="Times New Roman"/>
                <a:cs typeface="Times New Roman"/>
              </a:rPr>
              <a:t>DISTINCT</a:t>
            </a:r>
            <a:r>
              <a:rPr lang="vi-VN" sz="1000"/>
              <a:t>trong truy vấn, SQL Server sẽ hiển thị mọi bản ghi của </a:t>
            </a:r>
            <a:r>
              <a:rPr lang="en-US" sz="1000" b="1"/>
              <a:t>StandardCost </a:t>
            </a:r>
            <a:r>
              <a:rPr lang="vi-VN" sz="1000"/>
              <a:t>chỉ một lần.</a:t>
            </a:r>
            <a:endParaRPr lang="en-US" sz="1000"/>
          </a:p>
        </p:txBody>
      </p:sp>
      <p:sp>
        <p:nvSpPr>
          <p:cNvPr id="4" name="Slide Number Placeholder 3"/>
          <p:cNvSpPr>
            <a:spLocks noGrp="1"/>
          </p:cNvSpPr>
          <p:nvPr>
            <p:ph type="sldNum" sz="quarter" idx="5"/>
          </p:nvPr>
        </p:nvSpPr>
        <p:spPr/>
        <p:txBody>
          <a:bodyPr/>
          <a:lstStyle/>
          <a:p>
            <a:fld id="{9D34B684-4C1B-4B3A-9E38-8C6B58E8F21A}" type="slidenum">
              <a:rPr lang="en-US" smtClean="0"/>
              <a:t>13</a:t>
            </a:fld>
            <a:endParaRPr lang="en-US"/>
          </a:p>
        </p:txBody>
      </p:sp>
    </p:spTree>
    <p:extLst>
      <p:ext uri="{BB962C8B-B14F-4D97-AF65-F5344CB8AC3E}">
        <p14:creationId xmlns:p14="http://schemas.microsoft.com/office/powerpoint/2010/main" val="14312790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Sử dụng hàng đầu và phần trăm</a:t>
            </a:r>
          </a:p>
          <a:p>
            <a:pPr marL="171450" indent="-171450">
              <a:buFont typeface="Arial" panose="020B0604020202020204" pitchFamily="34" charset="0"/>
              <a:buChar char="•"/>
            </a:pPr>
            <a:r>
              <a:rPr lang="en-US" b="0"/>
              <a:t>Từ khóa TOP sẽ chỉ hiển thị một vài dòng đầu tiên của một kết quả.</a:t>
            </a:r>
          </a:p>
          <a:p>
            <a:pPr marL="171450" indent="-171450">
              <a:buFont typeface="Arial" panose="020B0604020202020204" pitchFamily="34" charset="0"/>
              <a:buChar char="•"/>
            </a:pPr>
            <a:r>
              <a:rPr lang="vi-VN" b="0"/>
              <a:t>Biểu thức </a:t>
            </a:r>
            <a:r>
              <a:rPr lang="en-US" b="0"/>
              <a:t>TOP </a:t>
            </a:r>
            <a:r>
              <a:rPr lang="vi-VN" b="0"/>
              <a:t>cũng có thể được sử dụng với các câu lệnh khác như </a:t>
            </a:r>
            <a:r>
              <a:rPr lang="en-US" sz="1200" b="1" spc="65">
                <a:solidFill>
                  <a:srgbClr val="FFFFFF"/>
                </a:solidFill>
                <a:latin typeface="Times New Roman"/>
                <a:cs typeface="Times New Roman"/>
              </a:rPr>
              <a:t>INSERT</a:t>
            </a:r>
            <a:r>
              <a:rPr lang="vi-VN" b="0"/>
              <a:t>, </a:t>
            </a:r>
            <a:r>
              <a:rPr lang="en-US" sz="1200" b="1" spc="95">
                <a:solidFill>
                  <a:srgbClr val="FFFFFF"/>
                </a:solidFill>
                <a:latin typeface="Times New Roman"/>
                <a:cs typeface="Times New Roman"/>
              </a:rPr>
              <a:t>UPDATE</a:t>
            </a:r>
            <a:r>
              <a:rPr lang="en-US" sz="1200" spc="95">
                <a:solidFill>
                  <a:srgbClr val="FFFFFF"/>
                </a:solidFill>
                <a:latin typeface="Times New Roman"/>
                <a:cs typeface="Times New Roman"/>
              </a:rPr>
              <a:t> </a:t>
            </a:r>
            <a:r>
              <a:rPr lang="vi-VN" b="0"/>
              <a:t>và </a:t>
            </a:r>
            <a:r>
              <a:rPr lang="en-US" sz="1200" b="1" spc="35">
                <a:solidFill>
                  <a:srgbClr val="FFFFFF"/>
                </a:solidFill>
                <a:latin typeface="Times New Roman"/>
                <a:cs typeface="Times New Roman"/>
              </a:rPr>
              <a:t>DELETE</a:t>
            </a:r>
            <a:r>
              <a:rPr lang="vi-VN" b="0"/>
              <a:t>.</a:t>
            </a:r>
            <a:endParaRPr lang="en-US" b="0"/>
          </a:p>
          <a:p>
            <a:pPr marL="171450" indent="-171450">
              <a:buFont typeface="Arial" panose="020B0604020202020204" pitchFamily="34" charset="0"/>
              <a:buChar char="•"/>
            </a:pPr>
            <a:r>
              <a:rPr lang="en-US" b="0"/>
              <a:t>Cú pháp:</a:t>
            </a:r>
          </a:p>
          <a:p>
            <a:pPr marL="914400" lvl="2" indent="0">
              <a:buFont typeface="Arial" panose="020B0604020202020204" pitchFamily="34" charset="0"/>
              <a:buNone/>
            </a:pPr>
            <a:r>
              <a:rPr lang="en-US" sz="1200" b="1"/>
              <a:t>SELECT </a:t>
            </a:r>
            <a:r>
              <a:rPr lang="en-US" sz="1200" b="1">
                <a:solidFill>
                  <a:srgbClr val="F61828"/>
                </a:solidFill>
              </a:rPr>
              <a:t>[ALL|DISTINCT]  </a:t>
            </a:r>
            <a:r>
              <a:rPr lang="en-US" sz="1200" b="1"/>
              <a:t>[TOP expression</a:t>
            </a:r>
            <a:r>
              <a:rPr lang="en-US" sz="1200" b="1">
                <a:solidFill>
                  <a:srgbClr val="4411D5"/>
                </a:solidFill>
              </a:rPr>
              <a:t> [PERCENT]  [WITH TIES] </a:t>
            </a:r>
            <a:r>
              <a:rPr lang="en-US" sz="1200" b="1"/>
              <a:t>]</a:t>
            </a:r>
          </a:p>
          <a:p>
            <a:pPr marL="1085850" lvl="2" indent="-171450">
              <a:buFont typeface="Arial" panose="020B0604020202020204" pitchFamily="34" charset="0"/>
              <a:buChar char="•"/>
            </a:pPr>
            <a:r>
              <a:rPr lang="en-US" sz="1200" b="1"/>
              <a:t>expression</a:t>
            </a:r>
            <a:r>
              <a:rPr lang="vi-VN" sz="1200" b="0"/>
              <a:t>: là số hoặc tỷ lệ phần trăm của các </a:t>
            </a:r>
            <a:r>
              <a:rPr lang="en-US" sz="1200" b="0"/>
              <a:t>dòng</a:t>
            </a:r>
            <a:r>
              <a:rPr lang="vi-VN" sz="1200" b="0"/>
              <a:t> được trả về là kết quả.</a:t>
            </a:r>
          </a:p>
          <a:p>
            <a:pPr marL="1085850" lvl="2" indent="-171450">
              <a:buFont typeface="Arial" panose="020B0604020202020204" pitchFamily="34" charset="0"/>
              <a:buChar char="•"/>
            </a:pPr>
            <a:r>
              <a:rPr lang="en-US" sz="1200" b="1">
                <a:cs typeface="Courier New" pitchFamily="49" charset="0"/>
              </a:rPr>
              <a:t>PERCENT</a:t>
            </a:r>
            <a:r>
              <a:rPr lang="vi-VN" sz="1200" b="0"/>
              <a:t>: Trả về số lượng </a:t>
            </a:r>
            <a:r>
              <a:rPr lang="en-US" sz="1200" b="0"/>
              <a:t>dòng</a:t>
            </a:r>
            <a:r>
              <a:rPr lang="vi-VN" sz="1200" b="0"/>
              <a:t> giới hạn theo tỷ lệ phần trăm.</a:t>
            </a:r>
          </a:p>
          <a:p>
            <a:pPr marL="1085850" lvl="2" indent="-171450">
              <a:buFont typeface="Arial" panose="020B0604020202020204" pitchFamily="34" charset="0"/>
              <a:buChar char="•"/>
            </a:pPr>
            <a:r>
              <a:rPr lang="en-US" sz="1200" b="1">
                <a:solidFill>
                  <a:srgbClr val="4411D5"/>
                </a:solidFill>
              </a:rPr>
              <a:t>WITH TIES</a:t>
            </a:r>
            <a:r>
              <a:rPr lang="vi-VN" sz="1200" b="0"/>
              <a:t>: là số lượng </a:t>
            </a:r>
            <a:r>
              <a:rPr lang="en-US" sz="1200" b="0"/>
              <a:t>dòng</a:t>
            </a:r>
            <a:r>
              <a:rPr lang="vi-VN" sz="1200" b="0"/>
              <a:t> bổ sung sẽ được hiển thị.</a:t>
            </a:r>
            <a:endParaRPr lang="en-US" b="0"/>
          </a:p>
        </p:txBody>
      </p:sp>
      <p:sp>
        <p:nvSpPr>
          <p:cNvPr id="4" name="Slide Number Placeholder 3"/>
          <p:cNvSpPr>
            <a:spLocks noGrp="1"/>
          </p:cNvSpPr>
          <p:nvPr>
            <p:ph type="sldNum" sz="quarter" idx="5"/>
          </p:nvPr>
        </p:nvSpPr>
        <p:spPr/>
        <p:txBody>
          <a:bodyPr/>
          <a:lstStyle/>
          <a:p>
            <a:fld id="{9D34B684-4C1B-4B3A-9E38-8C6B58E8F21A}" type="slidenum">
              <a:rPr lang="en-US" smtClean="0"/>
              <a:t>14</a:t>
            </a:fld>
            <a:endParaRPr lang="en-US"/>
          </a:p>
        </p:txBody>
      </p:sp>
    </p:spTree>
    <p:extLst>
      <p:ext uri="{BB962C8B-B14F-4D97-AF65-F5344CB8AC3E}">
        <p14:creationId xmlns:p14="http://schemas.microsoft.com/office/powerpoint/2010/main" val="4197575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SELECT với INTO</a:t>
            </a:r>
          </a:p>
          <a:p>
            <a:pPr marL="171450" indent="-171450">
              <a:buFont typeface="Arial" panose="020B0604020202020204" pitchFamily="34" charset="0"/>
              <a:buChar char="•"/>
            </a:pPr>
            <a:r>
              <a:rPr lang="vi-VN" b="0"/>
              <a:t>Mệnh đề </a:t>
            </a:r>
            <a:r>
              <a:rPr lang="en-US" sz="1200" b="1">
                <a:latin typeface="Courier New" pitchFamily="49" charset="0"/>
                <a:cs typeface="Courier New" pitchFamily="49" charset="0"/>
              </a:rPr>
              <a:t>INTO</a:t>
            </a:r>
            <a:r>
              <a:rPr lang="vi-VN" b="0"/>
              <a:t> tạo một bảng mới và chèn các hàng và cột được liệt kê trong câu lệnh </a:t>
            </a:r>
            <a:r>
              <a:rPr lang="en-US" sz="1200" b="1">
                <a:latin typeface="Courier New" pitchFamily="49" charset="0"/>
                <a:cs typeface="Courier New" pitchFamily="49" charset="0"/>
              </a:rPr>
              <a:t>SELECT</a:t>
            </a:r>
            <a:r>
              <a:rPr lang="vi-VN" b="0"/>
              <a:t> vào đó.</a:t>
            </a:r>
            <a:endParaRPr lang="en-US" b="0"/>
          </a:p>
          <a:p>
            <a:pPr marL="171450" indent="-171450">
              <a:buFont typeface="Arial" panose="020B0604020202020204" pitchFamily="34" charset="0"/>
              <a:buChar char="•"/>
            </a:pPr>
            <a:r>
              <a:rPr lang="vi-VN" b="0"/>
              <a:t>Mệnh đề </a:t>
            </a:r>
            <a:r>
              <a:rPr lang="en-US" sz="1200" b="1">
                <a:latin typeface="Courier New" pitchFamily="49" charset="0"/>
                <a:cs typeface="Courier New" pitchFamily="49" charset="0"/>
              </a:rPr>
              <a:t>INTO</a:t>
            </a:r>
            <a:r>
              <a:rPr lang="vi-VN" b="0"/>
              <a:t> </a:t>
            </a:r>
            <a:r>
              <a:rPr lang="en-US" b="0"/>
              <a:t>cũng chèn các hàng hiện có vào bảng mới</a:t>
            </a:r>
          </a:p>
          <a:p>
            <a:pPr marL="171450" indent="-171450">
              <a:buFont typeface="Arial" panose="020B0604020202020204" pitchFamily="34" charset="0"/>
              <a:buChar char="•"/>
            </a:pPr>
            <a:r>
              <a:rPr lang="vi-VN" b="0"/>
              <a:t>Để thực hiện mệnh đề này với câu lệnh </a:t>
            </a:r>
            <a:r>
              <a:rPr lang="en-US" sz="1200" b="1">
                <a:latin typeface="Courier New" pitchFamily="49" charset="0"/>
                <a:cs typeface="Courier New" pitchFamily="49" charset="0"/>
              </a:rPr>
              <a:t>SELECT</a:t>
            </a:r>
            <a:r>
              <a:rPr lang="vi-VN" b="0"/>
              <a:t>, người dùng phải có quyền tạo bảng </a:t>
            </a:r>
            <a:r>
              <a:rPr lang="en-US" b="0"/>
              <a:t>(</a:t>
            </a:r>
            <a:r>
              <a:rPr lang="en-US" sz="1200">
                <a:latin typeface="Courier New" pitchFamily="49" charset="0"/>
                <a:cs typeface="Courier New" pitchFamily="49" charset="0"/>
              </a:rPr>
              <a:t>CREATE TABLE</a:t>
            </a:r>
            <a:r>
              <a:rPr lang="en-US" sz="1200">
                <a:latin typeface="Calibri" pitchFamily="34" charset="0"/>
                <a:cs typeface="Calibri" pitchFamily="34" charset="0"/>
              </a:rPr>
              <a:t>) </a:t>
            </a:r>
            <a:r>
              <a:rPr lang="vi-VN" b="0"/>
              <a:t>trong cơ sở dữ liệu đích.</a:t>
            </a:r>
            <a:endParaRPr lang="en-US" b="0"/>
          </a:p>
          <a:p>
            <a:pPr marL="171450" indent="-171450">
              <a:buFont typeface="Arial" panose="020B0604020202020204" pitchFamily="34" charset="0"/>
              <a:buChar char="•"/>
            </a:pPr>
            <a:r>
              <a:rPr lang="en-US" b="0"/>
              <a:t>Cú pháp:</a:t>
            </a:r>
          </a:p>
          <a:p>
            <a:pPr marL="0" indent="0">
              <a:buFont typeface="Arial" panose="020B0604020202020204" pitchFamily="34" charset="0"/>
              <a:buNone/>
            </a:pPr>
            <a:r>
              <a:rPr lang="en-US"/>
              <a:t>	</a:t>
            </a:r>
            <a:r>
              <a:rPr lang="en-US" b="1"/>
              <a:t>SELECT &lt;</a:t>
            </a:r>
            <a:r>
              <a:rPr lang="en-US" sz="1200" b="1"/>
              <a:t>column_name1&gt;..&lt;column_nameN&gt; [INTO new_table] FROM table_list</a:t>
            </a:r>
          </a:p>
          <a:p>
            <a:pPr marL="171450" indent="-171450">
              <a:buFont typeface="Arial" panose="020B0604020202020204" pitchFamily="34" charset="0"/>
              <a:buChar char="•"/>
            </a:pPr>
            <a:r>
              <a:rPr lang="en-US" sz="1200" b="0"/>
              <a:t>Ví dụ:</a:t>
            </a:r>
          </a:p>
          <a:p>
            <a:pPr lvl="2">
              <a:lnSpc>
                <a:spcPct val="100000"/>
              </a:lnSpc>
              <a:spcBef>
                <a:spcPts val="600"/>
              </a:spcBef>
            </a:pPr>
            <a:r>
              <a:rPr lang="en-US" sz="1200" b="1"/>
              <a:t>SELECT</a:t>
            </a:r>
            <a:r>
              <a:rPr lang="en-US" sz="1200" b="0"/>
              <a:t> ProductModelID,Name </a:t>
            </a:r>
            <a:r>
              <a:rPr lang="en-US" sz="1200" b="1"/>
              <a:t>INTO</a:t>
            </a:r>
            <a:r>
              <a:rPr lang="en-US" sz="1200" b="0"/>
              <a:t> </a:t>
            </a:r>
            <a:r>
              <a:rPr lang="en-US" sz="1200" b="1"/>
              <a:t>ProductName</a:t>
            </a:r>
            <a:r>
              <a:rPr lang="en-US" sz="1200" b="0"/>
              <a:t> FROM ProductModel</a:t>
            </a:r>
          </a:p>
          <a:p>
            <a:pPr lvl="2">
              <a:lnSpc>
                <a:spcPct val="100000"/>
              </a:lnSpc>
              <a:spcBef>
                <a:spcPts val="600"/>
              </a:spcBef>
            </a:pPr>
            <a:r>
              <a:rPr lang="en-US" sz="1200" b="0"/>
              <a:t>GO</a:t>
            </a:r>
          </a:p>
        </p:txBody>
      </p:sp>
      <p:sp>
        <p:nvSpPr>
          <p:cNvPr id="4" name="Slide Number Placeholder 3"/>
          <p:cNvSpPr>
            <a:spLocks noGrp="1"/>
          </p:cNvSpPr>
          <p:nvPr>
            <p:ph type="sldNum" sz="quarter" idx="5"/>
          </p:nvPr>
        </p:nvSpPr>
        <p:spPr/>
        <p:txBody>
          <a:bodyPr/>
          <a:lstStyle/>
          <a:p>
            <a:fld id="{9D34B684-4C1B-4B3A-9E38-8C6B58E8F21A}" type="slidenum">
              <a:rPr lang="en-US" smtClean="0"/>
              <a:t>15</a:t>
            </a:fld>
            <a:endParaRPr lang="en-US"/>
          </a:p>
        </p:txBody>
      </p:sp>
    </p:spTree>
    <p:extLst>
      <p:ext uri="{BB962C8B-B14F-4D97-AF65-F5344CB8AC3E}">
        <p14:creationId xmlns:p14="http://schemas.microsoft.com/office/powerpoint/2010/main" val="1594295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SELECT với WHERE 1-3</a:t>
            </a:r>
          </a:p>
          <a:p>
            <a:pPr marL="171450" indent="-171450">
              <a:buFont typeface="Arial" panose="020B0604020202020204" pitchFamily="34" charset="0"/>
              <a:buChar char="•"/>
            </a:pPr>
            <a:r>
              <a:rPr lang="vi-VN" b="0"/>
              <a:t>Mệnh đề WHERE được sử dụng để chọn hoặc giới hạn các </a:t>
            </a:r>
            <a:r>
              <a:rPr lang="en-US" b="0"/>
              <a:t>mẫu tin </a:t>
            </a:r>
            <a:r>
              <a:rPr lang="vi-VN" b="0"/>
              <a:t>được truy vấn.</a:t>
            </a:r>
            <a:endParaRPr lang="en-US" b="0"/>
          </a:p>
          <a:p>
            <a:pPr marL="171450" indent="-171450">
              <a:buFont typeface="Arial" panose="020B0604020202020204" pitchFamily="34" charset="0"/>
              <a:buChar char="•"/>
            </a:pPr>
            <a:r>
              <a:rPr lang="vi-VN" b="0"/>
              <a:t>Mệnh đề WHERE chỉ định một biểu thức Boolean để kiểm tra các </a:t>
            </a:r>
            <a:r>
              <a:rPr lang="en-US" b="0"/>
              <a:t>mẫu tin</a:t>
            </a:r>
            <a:r>
              <a:rPr lang="vi-VN" b="0"/>
              <a:t> được trả về bởi truy vấn.</a:t>
            </a:r>
            <a:endParaRPr lang="en-US" b="0"/>
          </a:p>
          <a:p>
            <a:pPr marL="171450" indent="-171450">
              <a:buFont typeface="Arial" panose="020B0604020202020204" pitchFamily="34" charset="0"/>
              <a:buChar char="•"/>
            </a:pPr>
            <a:r>
              <a:rPr lang="en-US" b="0"/>
              <a:t>Mẫu tin</a:t>
            </a:r>
            <a:r>
              <a:rPr lang="vi-VN" b="0"/>
              <a:t> được trả về nếu biểu thức là đúng và bị loại bỏ nếu nó là sai.</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Mệnh đề </a:t>
            </a:r>
            <a:r>
              <a:rPr lang="vi-VN" b="1"/>
              <a:t>WHERE</a:t>
            </a:r>
            <a:r>
              <a:rPr lang="vi-VN" b="0"/>
              <a:t> cũng sử dụng các toán tử logic như </a:t>
            </a:r>
            <a:r>
              <a:rPr lang="en-US" sz="1200" b="1">
                <a:latin typeface="Courier New" pitchFamily="49" charset="0"/>
                <a:cs typeface="Courier New" pitchFamily="49" charset="0"/>
              </a:rPr>
              <a:t>AND</a:t>
            </a:r>
            <a:r>
              <a:rPr lang="en-US" sz="1200">
                <a:latin typeface="Calibri" pitchFamily="34" charset="0"/>
                <a:cs typeface="Calibri" pitchFamily="34" charset="0"/>
              </a:rPr>
              <a:t>, </a:t>
            </a:r>
            <a:r>
              <a:rPr lang="en-US" sz="1200" b="1">
                <a:latin typeface="Courier New" pitchFamily="49" charset="0"/>
                <a:cs typeface="Courier New" pitchFamily="49" charset="0"/>
              </a:rPr>
              <a:t>OR</a:t>
            </a:r>
            <a:r>
              <a:rPr lang="en-US" sz="1200">
                <a:latin typeface="Calibri" pitchFamily="34" charset="0"/>
                <a:cs typeface="Calibri" pitchFamily="34" charset="0"/>
              </a:rPr>
              <a:t>, và </a:t>
            </a:r>
            <a:r>
              <a:rPr lang="en-US" sz="1200" b="1">
                <a:latin typeface="Courier New" pitchFamily="49" charset="0"/>
                <a:cs typeface="Courier New" pitchFamily="49" charset="0"/>
              </a:rPr>
              <a:t>NOT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a:t>Bảng sau hiển thị các toán tử khác nhau có thể được sử dụng với mệnh đề WHERE:</a:t>
            </a:r>
            <a:endParaRPr lang="en-US"/>
          </a:p>
          <a:p>
            <a:pPr marL="171450" indent="-171450">
              <a:buFont typeface="Arial" panose="020B0604020202020204" pitchFamily="34" charset="0"/>
              <a:buChar char="•"/>
            </a:pPr>
            <a:r>
              <a:rPr lang="en-US" b="0"/>
              <a:t>Cú pháp:</a:t>
            </a:r>
          </a:p>
          <a:p>
            <a:pPr lvl="2"/>
            <a:r>
              <a:rPr lang="en-US" sz="1200" b="1"/>
              <a:t>SELECT &lt;column_name1&gt;...&lt;column_nameN&gt;    FROM &lt;table_name&gt; </a:t>
            </a:r>
          </a:p>
          <a:p>
            <a:pPr lvl="2"/>
            <a:r>
              <a:rPr lang="en-US" sz="1200" b="1"/>
              <a:t>WHERE &lt;search_condition&gt;</a:t>
            </a:r>
          </a:p>
        </p:txBody>
      </p:sp>
      <p:sp>
        <p:nvSpPr>
          <p:cNvPr id="4" name="Slide Number Placeholder 3"/>
          <p:cNvSpPr>
            <a:spLocks noGrp="1"/>
          </p:cNvSpPr>
          <p:nvPr>
            <p:ph type="sldNum" sz="quarter" idx="5"/>
          </p:nvPr>
        </p:nvSpPr>
        <p:spPr/>
        <p:txBody>
          <a:bodyPr/>
          <a:lstStyle/>
          <a:p>
            <a:fld id="{9D34B684-4C1B-4B3A-9E38-8C6B58E8F21A}" type="slidenum">
              <a:rPr lang="en-US" smtClean="0"/>
              <a:t>16</a:t>
            </a:fld>
            <a:endParaRPr lang="en-US"/>
          </a:p>
        </p:txBody>
      </p:sp>
    </p:spTree>
    <p:extLst>
      <p:ext uri="{BB962C8B-B14F-4D97-AF65-F5344CB8AC3E}">
        <p14:creationId xmlns:p14="http://schemas.microsoft.com/office/powerpoint/2010/main" val="781074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SELECT với WHERE 2-3</a:t>
            </a:r>
          </a:p>
          <a:p>
            <a:endParaRPr lang="en-US"/>
          </a:p>
        </p:txBody>
      </p:sp>
      <p:sp>
        <p:nvSpPr>
          <p:cNvPr id="4" name="Slide Number Placeholder 3"/>
          <p:cNvSpPr>
            <a:spLocks noGrp="1"/>
          </p:cNvSpPr>
          <p:nvPr>
            <p:ph type="sldNum" sz="quarter" idx="5"/>
          </p:nvPr>
        </p:nvSpPr>
        <p:spPr/>
        <p:txBody>
          <a:bodyPr/>
          <a:lstStyle/>
          <a:p>
            <a:fld id="{9D34B684-4C1B-4B3A-9E38-8C6B58E8F21A}" type="slidenum">
              <a:rPr lang="en-US" smtClean="0"/>
              <a:t>17</a:t>
            </a:fld>
            <a:endParaRPr lang="en-US"/>
          </a:p>
        </p:txBody>
      </p:sp>
    </p:spTree>
    <p:extLst>
      <p:ext uri="{BB962C8B-B14F-4D97-AF65-F5344CB8AC3E}">
        <p14:creationId xmlns:p14="http://schemas.microsoft.com/office/powerpoint/2010/main" val="3036175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SELECT với WHERE 3-3</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M</a:t>
            </a:r>
            <a:r>
              <a:rPr lang="vi-VN" b="0"/>
              <a:t>ệnh đề </a:t>
            </a:r>
            <a:r>
              <a:rPr lang="en-US" sz="1200">
                <a:solidFill>
                  <a:schemeClr val="bg1"/>
                </a:solidFill>
                <a:cs typeface="Courier New" pitchFamily="49" charset="0"/>
              </a:rPr>
              <a:t>WHERE </a:t>
            </a:r>
            <a:r>
              <a:rPr lang="vi-VN" b="0"/>
              <a:t>cũng có thể được sử dụng với các ký tự đại diện như trong bảng sau:</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Tất cả các ký tự đại diện được sử dụng cùng với từ khóa như để thực hiện truy vấn chính xác và cụ thể.</a:t>
            </a:r>
            <a:endParaRPr lang="en-US" b="0"/>
          </a:p>
        </p:txBody>
      </p:sp>
      <p:sp>
        <p:nvSpPr>
          <p:cNvPr id="4" name="Slide Number Placeholder 3"/>
          <p:cNvSpPr>
            <a:spLocks noGrp="1"/>
          </p:cNvSpPr>
          <p:nvPr>
            <p:ph type="sldNum" sz="quarter" idx="5"/>
          </p:nvPr>
        </p:nvSpPr>
        <p:spPr/>
        <p:txBody>
          <a:bodyPr/>
          <a:lstStyle/>
          <a:p>
            <a:fld id="{9D34B684-4C1B-4B3A-9E38-8C6B58E8F21A}" type="slidenum">
              <a:rPr lang="en-US" smtClean="0"/>
              <a:t>18</a:t>
            </a:fld>
            <a:endParaRPr lang="en-US"/>
          </a:p>
        </p:txBody>
      </p:sp>
    </p:spTree>
    <p:extLst>
      <p:ext uri="{BB962C8B-B14F-4D97-AF65-F5344CB8AC3E}">
        <p14:creationId xmlns:p14="http://schemas.microsoft.com/office/powerpoint/2010/main" val="3956478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Mệnh đề GROUP BY</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Mệnh đề GROUP BY phân vùng kết quả thành một hoặc nhiều tập hợp con.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Mỗi tập hợp con có các giá trị và biểu thức chung.</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Nếu một hàm tổng hợp được sử dụng trong </a:t>
            </a:r>
            <a:r>
              <a:rPr lang="en-US" b="0"/>
              <a:t>mệnh đề </a:t>
            </a:r>
            <a:r>
              <a:rPr lang="en-US" sz="1200">
                <a:latin typeface="Courier New" pitchFamily="49" charset="0"/>
                <a:cs typeface="Courier New" pitchFamily="49" charset="0"/>
              </a:rPr>
              <a:t>GROUP BY</a:t>
            </a:r>
            <a:r>
              <a:rPr lang="vi-VN" b="0"/>
              <a:t>, kết quả tạo ra một giá trị đơn trên mỗi tổng hợp.</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Mệnh đề GROUP BY </a:t>
            </a:r>
            <a:r>
              <a:rPr lang="vi-VN" b="0"/>
              <a:t>có thể có nhiều hơn một cột được nhóm</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Cú pháp:</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a:t>SELECT &lt;column_name1&gt;..&lt;column_nameN&gt; </a:t>
            </a:r>
            <a:br>
              <a:rPr lang="en-US" sz="1200"/>
            </a:br>
            <a:r>
              <a:rPr lang="en-US" sz="1200"/>
              <a:t>FROM &lt;table_name&gt; </a:t>
            </a:r>
            <a:br>
              <a:rPr lang="en-US" sz="1200"/>
            </a:br>
            <a:r>
              <a:rPr lang="en-US" sz="1200" b="1"/>
              <a:t>GROUP BY &lt;column _name&gt;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0"/>
              <a:t>Ví dụ:</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a:t>SELECT WorkOrderID, SUM(ActualResourceHrs) </a:t>
            </a:r>
            <a:br>
              <a:rPr lang="en-US" sz="1200"/>
            </a:br>
            <a:r>
              <a:rPr lang="en-US" sz="1200"/>
              <a:t>FROM  WorkOrderRouting </a:t>
            </a:r>
            <a:br>
              <a:rPr lang="en-US" sz="1200"/>
            </a:br>
            <a:r>
              <a:rPr lang="en-US" sz="1200" b="1"/>
              <a:t>GROUP BY WorkOrderID</a:t>
            </a:r>
          </a:p>
        </p:txBody>
      </p:sp>
      <p:sp>
        <p:nvSpPr>
          <p:cNvPr id="4" name="Slide Number Placeholder 3"/>
          <p:cNvSpPr>
            <a:spLocks noGrp="1"/>
          </p:cNvSpPr>
          <p:nvPr>
            <p:ph type="sldNum" sz="quarter" idx="5"/>
          </p:nvPr>
        </p:nvSpPr>
        <p:spPr/>
        <p:txBody>
          <a:bodyPr/>
          <a:lstStyle/>
          <a:p>
            <a:fld id="{9D34B684-4C1B-4B3A-9E38-8C6B58E8F21A}" type="slidenum">
              <a:rPr lang="en-US" smtClean="0"/>
              <a:t>19</a:t>
            </a:fld>
            <a:endParaRPr lang="en-US"/>
          </a:p>
        </p:txBody>
      </p:sp>
    </p:spTree>
    <p:extLst>
      <p:ext uri="{BB962C8B-B14F-4D97-AF65-F5344CB8AC3E}">
        <p14:creationId xmlns:p14="http://schemas.microsoft.com/office/powerpoint/2010/main" val="1892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Mệnh đề ORDER BY</a:t>
            </a:r>
          </a:p>
          <a:p>
            <a:pPr marL="171450" indent="-171450">
              <a:buFont typeface="Arial" panose="020B0604020202020204" pitchFamily="34" charset="0"/>
              <a:buChar char="•"/>
            </a:pPr>
            <a:r>
              <a:rPr lang="vi-VN" b="0"/>
              <a:t>Nó chỉ định thứ tự trong đó các cột phải được sắp xếp trong một kết quả</a:t>
            </a:r>
            <a:endParaRPr lang="en-US" b="0"/>
          </a:p>
          <a:p>
            <a:pPr marL="171450" indent="-171450">
              <a:buFont typeface="Arial" panose="020B0604020202020204" pitchFamily="34" charset="0"/>
              <a:buChar char="•"/>
            </a:pPr>
            <a:r>
              <a:rPr lang="vi-VN" b="0"/>
              <a:t>Kết quả truy vấn được sắp xếp theo một hoặc nhiều cột </a:t>
            </a:r>
            <a:endParaRPr lang="en-US" b="0"/>
          </a:p>
          <a:p>
            <a:pPr marL="171450" indent="-171450">
              <a:buFont typeface="Arial" panose="020B0604020202020204" pitchFamily="34" charset="0"/>
              <a:buChar char="•"/>
            </a:pPr>
            <a:r>
              <a:rPr lang="en-US" b="0"/>
              <a:t>Một sắp xếp </a:t>
            </a:r>
            <a:r>
              <a:rPr lang="vi-VN" b="0"/>
              <a:t>trong thứ tự tăng dần (ASC) hoặc giảm dần (DESC)</a:t>
            </a:r>
            <a:r>
              <a:rPr lang="en-US" b="0"/>
              <a:t>. </a:t>
            </a:r>
            <a:r>
              <a:rPr lang="vi-VN" b="0"/>
              <a:t>Theo mặc định, các </a:t>
            </a:r>
            <a:r>
              <a:rPr lang="en-US" b="0"/>
              <a:t>mẫu tin </a:t>
            </a:r>
            <a:r>
              <a:rPr lang="vi-VN" b="0"/>
              <a:t>được sắp xếp theo thứ tự ASC.</a:t>
            </a:r>
            <a:endParaRPr lang="en-US" b="0"/>
          </a:p>
          <a:p>
            <a:pPr marL="171450" indent="-171450">
              <a:buFont typeface="Arial" panose="020B0604020202020204" pitchFamily="34" charset="0"/>
              <a:buChar char="•"/>
            </a:pPr>
            <a:r>
              <a:rPr lang="en-US" b="0"/>
              <a:t>Cú pháp:</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b="0"/>
              <a:t>	</a:t>
            </a:r>
            <a:r>
              <a:rPr lang="en-US" sz="1200"/>
              <a:t>SELECT &lt;column_name&gt; FROM &lt;table_name&gt; ORDER BY column_name&gt; {ASC|DESC}</a:t>
            </a:r>
          </a:p>
          <a:p>
            <a:pPr marL="171450" indent="-171450">
              <a:buFont typeface="Arial" panose="020B0604020202020204" pitchFamily="34" charset="0"/>
              <a:buChar char="•"/>
            </a:pPr>
            <a:r>
              <a:rPr lang="en-US" b="0"/>
              <a:t>Ví dụ:</a:t>
            </a:r>
          </a:p>
          <a:p>
            <a:pPr marL="457200" marR="0" lvl="1"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b="0"/>
              <a:t>	</a:t>
            </a:r>
            <a:r>
              <a:rPr lang="en-US" sz="1200" b="1"/>
              <a:t>SELECT * FROM  SalesTerritory ORDER BY SalesLastYear</a:t>
            </a:r>
          </a:p>
        </p:txBody>
      </p:sp>
      <p:sp>
        <p:nvSpPr>
          <p:cNvPr id="4" name="Slide Number Placeholder 3"/>
          <p:cNvSpPr>
            <a:spLocks noGrp="1"/>
          </p:cNvSpPr>
          <p:nvPr>
            <p:ph type="sldNum" sz="quarter" idx="5"/>
          </p:nvPr>
        </p:nvSpPr>
        <p:spPr/>
        <p:txBody>
          <a:bodyPr/>
          <a:lstStyle/>
          <a:p>
            <a:fld id="{9D34B684-4C1B-4B3A-9E38-8C6B58E8F21A}" type="slidenum">
              <a:rPr lang="en-US" smtClean="0"/>
              <a:t>20</a:t>
            </a:fld>
            <a:endParaRPr lang="en-US"/>
          </a:p>
        </p:txBody>
      </p:sp>
    </p:spTree>
    <p:extLst>
      <p:ext uri="{BB962C8B-B14F-4D97-AF65-F5344CB8AC3E}">
        <p14:creationId xmlns:p14="http://schemas.microsoft.com/office/powerpoint/2010/main" val="28958709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Làm việc với XML 1-2</a:t>
            </a:r>
          </a:p>
          <a:p>
            <a:pPr marL="171450" indent="-171450">
              <a:buFont typeface="Arial" panose="020B0604020202020204" pitchFamily="34" charset="0"/>
              <a:buChar char="•"/>
            </a:pPr>
            <a:r>
              <a:rPr lang="vi-VN" b="0"/>
              <a:t>Ngôn ngữ đánh dấu mở rộng (XML) cho phép các nhà phát triển phát triển bộ thẻ riêng của họ và giúp các chương trình khác có thể hiểu các thẻ này.</a:t>
            </a:r>
            <a:endParaRPr lang="en-US" b="0"/>
          </a:p>
          <a:p>
            <a:pPr marL="171450" indent="-171450">
              <a:buFont typeface="Arial" panose="020B0604020202020204" pitchFamily="34" charset="0"/>
              <a:buChar char="•"/>
            </a:pPr>
            <a:r>
              <a:rPr lang="vi-VN" b="0"/>
              <a:t>XML là phương tiện ưa thích cho các nhà phát triển lưu trữ, định dạng và quản lý dữ liệu trên web.</a:t>
            </a:r>
            <a:endParaRPr lang="en-US" b="0"/>
          </a:p>
          <a:p>
            <a:pPr marL="171450" indent="-171450">
              <a:buFont typeface="Arial" panose="020B0604020202020204" pitchFamily="34" charset="0"/>
              <a:buChar char="•"/>
            </a:pPr>
            <a:r>
              <a:rPr lang="vi-VN" b="0"/>
              <a:t>Các ứng dụng của ngày nay có sự pha trộn giữa các công nghệ như</a:t>
            </a:r>
            <a:r>
              <a:rPr lang="en-US" b="0"/>
              <a:t>:</a:t>
            </a:r>
            <a:r>
              <a:rPr lang="vi-VN" b="0"/>
              <a:t> </a:t>
            </a:r>
            <a:r>
              <a:rPr lang="vi-VN" b="1"/>
              <a:t>ASP</a:t>
            </a:r>
            <a:r>
              <a:rPr lang="vi-VN" b="0"/>
              <a:t>, </a:t>
            </a:r>
            <a:r>
              <a:rPr lang="vi-VN" b="1"/>
              <a:t>Microsoft .NET Technologies</a:t>
            </a:r>
            <a:r>
              <a:rPr lang="vi-VN" b="0"/>
              <a:t>, </a:t>
            </a:r>
            <a:r>
              <a:rPr lang="vi-VN" b="1"/>
              <a:t>XML</a:t>
            </a:r>
            <a:r>
              <a:rPr lang="vi-VN" b="0"/>
              <a:t> và </a:t>
            </a:r>
            <a:r>
              <a:rPr lang="vi-VN" b="1"/>
              <a:t>SQL Server 201</a:t>
            </a:r>
            <a:r>
              <a:rPr lang="en-US" b="1"/>
              <a:t>9</a:t>
            </a:r>
            <a:endParaRPr lang="en-US" b="0"/>
          </a:p>
          <a:p>
            <a:pPr marL="171450" indent="-171450">
              <a:buFont typeface="Arial" panose="020B0604020202020204" pitchFamily="34" charset="0"/>
              <a:buChar char="•"/>
            </a:pPr>
            <a:r>
              <a:rPr lang="vi-VN" b="0"/>
              <a:t>Trong một kịch bản như vậy, tốt hơn là lưu trữ dữ liệu XML trong SQL Server 201</a:t>
            </a:r>
            <a:r>
              <a:rPr lang="en-US" b="0"/>
              <a:t>9</a:t>
            </a:r>
          </a:p>
        </p:txBody>
      </p:sp>
      <p:sp>
        <p:nvSpPr>
          <p:cNvPr id="4" name="Slide Number Placeholder 3"/>
          <p:cNvSpPr>
            <a:spLocks noGrp="1"/>
          </p:cNvSpPr>
          <p:nvPr>
            <p:ph type="sldNum" sz="quarter" idx="5"/>
          </p:nvPr>
        </p:nvSpPr>
        <p:spPr/>
        <p:txBody>
          <a:bodyPr/>
          <a:lstStyle/>
          <a:p>
            <a:fld id="{9D34B684-4C1B-4B3A-9E38-8C6B58E8F21A}" type="slidenum">
              <a:rPr lang="en-US" smtClean="0"/>
              <a:t>21</a:t>
            </a:fld>
            <a:endParaRPr lang="en-US"/>
          </a:p>
        </p:txBody>
      </p:sp>
    </p:spTree>
    <p:extLst>
      <p:ext uri="{BB962C8B-B14F-4D97-AF65-F5344CB8AC3E}">
        <p14:creationId xmlns:p14="http://schemas.microsoft.com/office/powerpoint/2010/main" val="29143202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Làm việc với XML 2-2</a:t>
            </a:r>
          </a:p>
          <a:p>
            <a:pPr marL="171450" indent="-171450">
              <a:buFont typeface="Arial" panose="020B0604020202020204" pitchFamily="34" charset="0"/>
              <a:buChar char="•"/>
            </a:pPr>
            <a:r>
              <a:rPr lang="vi-VN"/>
              <a:t>Cơ sở dữ liệu XML gốc trong SQL Server 201</a:t>
            </a:r>
            <a:r>
              <a:rPr lang="en-US"/>
              <a:t>9</a:t>
            </a:r>
            <a:r>
              <a:rPr lang="vi-VN"/>
              <a:t> có một số ưu điểm. Một số trong số họ được liệt kê như sau</a:t>
            </a:r>
            <a:r>
              <a:rPr lang="en-US"/>
              <a:t>:</a:t>
            </a:r>
          </a:p>
          <a:p>
            <a:pPr marL="628650" lvl="1" indent="-171450">
              <a:buFont typeface="Arial" panose="020B0604020202020204" pitchFamily="34" charset="0"/>
              <a:buChar char="•"/>
            </a:pPr>
            <a:r>
              <a:rPr lang="en-US" b="1"/>
              <a:t>Quản lý và tìm kiếm dữ liệu dễ dàng</a:t>
            </a:r>
          </a:p>
          <a:p>
            <a:pPr marL="1085850" lvl="2" indent="-171450">
              <a:buFont typeface="Arial" panose="020B0604020202020204" pitchFamily="34" charset="0"/>
              <a:buChar char="•"/>
            </a:pPr>
            <a:r>
              <a:rPr lang="vi-VN" b="0"/>
              <a:t>Tất cả dữ liệu XML được lưu trữ cục bộ ở một nơi, do đó giúp tìm kiếm và quản lý dễ dàng hơn.</a:t>
            </a:r>
            <a:endParaRPr lang="en-US" b="0"/>
          </a:p>
          <a:p>
            <a:pPr marL="628650" lvl="1" indent="-171450">
              <a:buFont typeface="Arial" panose="020B0604020202020204" pitchFamily="34" charset="0"/>
              <a:buChar char="•"/>
            </a:pPr>
            <a:r>
              <a:rPr lang="vi-VN" b="1"/>
              <a:t>Hiệu suất tốt hơn</a:t>
            </a:r>
            <a:endParaRPr lang="en-US" b="1"/>
          </a:p>
          <a:p>
            <a:pPr marL="1085850" lvl="2" indent="-171450">
              <a:buFont typeface="Arial" panose="020B0604020202020204" pitchFamily="34" charset="0"/>
              <a:buChar char="•"/>
            </a:pPr>
            <a:r>
              <a:rPr lang="vi-VN" b="0"/>
              <a:t>Truy vấn từ một cơ sở dữ liệu XML được triển khai nhanh hơn các truy vấn qua các tài liệu được lưu trong hệ thống t</a:t>
            </a:r>
            <a:r>
              <a:rPr lang="en-US" b="0"/>
              <a:t>ậ</a:t>
            </a:r>
            <a:r>
              <a:rPr lang="vi-VN" b="0"/>
              <a:t>p</a:t>
            </a:r>
            <a:r>
              <a:rPr lang="en-US" b="0"/>
              <a:t> tin</a:t>
            </a:r>
            <a:r>
              <a:rPr lang="vi-VN" b="0"/>
              <a:t>.</a:t>
            </a:r>
          </a:p>
          <a:p>
            <a:pPr marL="1085850" lvl="2" indent="-171450">
              <a:buFont typeface="Arial" panose="020B0604020202020204" pitchFamily="34" charset="0"/>
              <a:buChar char="•"/>
            </a:pPr>
            <a:r>
              <a:rPr lang="vi-VN" b="0"/>
              <a:t>Ngoài ra, cơ sở dữ liệu về cơ bản phân tích từng tài liệu khi lưu trữ nó.</a:t>
            </a:r>
            <a:endParaRPr lang="en-US" b="0"/>
          </a:p>
          <a:p>
            <a:pPr marL="628650" lvl="1" indent="-171450">
              <a:buFont typeface="Arial" panose="020B0604020202020204" pitchFamily="34" charset="0"/>
              <a:buChar char="•"/>
            </a:pPr>
            <a:r>
              <a:rPr lang="en-US" b="1"/>
              <a:t>Xử lý dữ liệu dễ dàng</a:t>
            </a:r>
          </a:p>
          <a:p>
            <a:pPr marL="1085850" lvl="2" indent="-171450">
              <a:buFont typeface="Arial" panose="020B0604020202020204" pitchFamily="34" charset="0"/>
              <a:buChar char="•"/>
            </a:pPr>
            <a:r>
              <a:rPr lang="vi-VN" b="0"/>
              <a:t>Tài liệu lớn có thể được xử lý dễ dàng</a:t>
            </a:r>
            <a:endParaRPr lang="en-US" b="0"/>
          </a:p>
        </p:txBody>
      </p:sp>
      <p:sp>
        <p:nvSpPr>
          <p:cNvPr id="4" name="Slide Number Placeholder 3"/>
          <p:cNvSpPr>
            <a:spLocks noGrp="1"/>
          </p:cNvSpPr>
          <p:nvPr>
            <p:ph type="sldNum" sz="quarter" idx="5"/>
          </p:nvPr>
        </p:nvSpPr>
        <p:spPr/>
        <p:txBody>
          <a:bodyPr/>
          <a:lstStyle/>
          <a:p>
            <a:fld id="{9D34B684-4C1B-4B3A-9E38-8C6B58E8F21A}" type="slidenum">
              <a:rPr lang="en-US" smtClean="0"/>
              <a:t>22</a:t>
            </a:fld>
            <a:endParaRPr lang="en-US"/>
          </a:p>
        </p:txBody>
      </p:sp>
    </p:spTree>
    <p:extLst>
      <p:ext uri="{BB962C8B-B14F-4D97-AF65-F5344CB8AC3E}">
        <p14:creationId xmlns:p14="http://schemas.microsoft.com/office/powerpoint/2010/main" val="15669282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Kiểu dữ liệu XML</a:t>
            </a:r>
          </a:p>
          <a:p>
            <a:pPr marL="171450" indent="-171450">
              <a:buFont typeface="Arial" panose="020B0604020202020204" pitchFamily="34" charset="0"/>
              <a:buChar char="•"/>
            </a:pPr>
            <a:r>
              <a:rPr lang="vi-VN" b="0"/>
              <a:t>Kiểu dữ liệu XML được sử dụng để lưu trữ các tài liệu và đoạn XML trong cơ sở dữ liệu SQL Server.</a:t>
            </a:r>
            <a:endParaRPr lang="en-US" b="0"/>
          </a:p>
          <a:p>
            <a:pPr marL="171450" indent="-171450">
              <a:buFont typeface="Arial" panose="020B0604020202020204" pitchFamily="34" charset="0"/>
              <a:buChar char="•"/>
            </a:pPr>
            <a:r>
              <a:rPr lang="en-US" b="0"/>
              <a:t>Một đoạn XML là một thể hiện XML với phần tử cấp cao nhất bị thiếu từ cấu trúc của nó.</a:t>
            </a:r>
          </a:p>
        </p:txBody>
      </p:sp>
      <p:sp>
        <p:nvSpPr>
          <p:cNvPr id="4" name="Slide Number Placeholder 3"/>
          <p:cNvSpPr>
            <a:spLocks noGrp="1"/>
          </p:cNvSpPr>
          <p:nvPr>
            <p:ph type="sldNum" sz="quarter" idx="5"/>
          </p:nvPr>
        </p:nvSpPr>
        <p:spPr/>
        <p:txBody>
          <a:bodyPr/>
          <a:lstStyle/>
          <a:p>
            <a:fld id="{9D34B684-4C1B-4B3A-9E38-8C6B58E8F21A}" type="slidenum">
              <a:rPr lang="en-US" smtClean="0"/>
              <a:t>23</a:t>
            </a:fld>
            <a:endParaRPr lang="en-US"/>
          </a:p>
        </p:txBody>
      </p:sp>
    </p:spTree>
    <p:extLst>
      <p:ext uri="{BB962C8B-B14F-4D97-AF65-F5344CB8AC3E}">
        <p14:creationId xmlns:p14="http://schemas.microsoft.com/office/powerpoint/2010/main" val="2949129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Typed và Untyped XML</a:t>
            </a:r>
          </a:p>
          <a:p>
            <a:pPr marL="171450" indent="-171450">
              <a:buFont typeface="Arial" panose="020B0604020202020204" pitchFamily="34" charset="0"/>
              <a:buChar char="•"/>
            </a:pPr>
            <a:r>
              <a:rPr lang="vi-VN" b="0"/>
              <a:t>Có </a:t>
            </a:r>
            <a:r>
              <a:rPr lang="en-US" b="0"/>
              <a:t>2</a:t>
            </a:r>
            <a:r>
              <a:rPr lang="vi-VN" b="0"/>
              <a:t> cách lưu trữ các tài liệu XML</a:t>
            </a:r>
            <a:r>
              <a:rPr lang="en-US" b="0"/>
              <a:t>: </a:t>
            </a:r>
            <a:r>
              <a:rPr lang="en-US" b="1"/>
              <a:t>T</a:t>
            </a:r>
            <a:r>
              <a:rPr lang="en-US" sz="1200" b="1">
                <a:latin typeface="Calibri" pitchFamily="34" charset="0"/>
                <a:cs typeface="Calibri" pitchFamily="34" charset="0"/>
              </a:rPr>
              <a:t>yped XML </a:t>
            </a:r>
            <a:r>
              <a:rPr lang="en-US" sz="1200">
                <a:latin typeface="Calibri" pitchFamily="34" charset="0"/>
                <a:cs typeface="Calibri" pitchFamily="34" charset="0"/>
              </a:rPr>
              <a:t>và </a:t>
            </a:r>
            <a:r>
              <a:rPr lang="en-US" sz="1200" b="1">
                <a:latin typeface="Calibri" pitchFamily="34" charset="0"/>
                <a:cs typeface="Calibri" pitchFamily="34" charset="0"/>
              </a:rPr>
              <a:t>Untyped XML</a:t>
            </a:r>
          </a:p>
          <a:p>
            <a:pPr marL="171450" indent="-171450">
              <a:buFont typeface="Arial" panose="020B0604020202020204" pitchFamily="34" charset="0"/>
              <a:buChar char="•"/>
            </a:pPr>
            <a:r>
              <a:rPr lang="en-US" sz="1200" b="1" spc="-70">
                <a:latin typeface="Arial"/>
                <a:cs typeface="Arial"/>
              </a:rPr>
              <a:t>Typed </a:t>
            </a:r>
            <a:r>
              <a:rPr lang="en-US" sz="1200" b="1" spc="80">
                <a:latin typeface="Arial"/>
                <a:cs typeface="Arial"/>
              </a:rPr>
              <a:t>XML</a:t>
            </a:r>
            <a:r>
              <a:rPr lang="en-US" sz="1200" b="1" spc="-290">
                <a:latin typeface="Arial"/>
                <a:cs typeface="Arial"/>
              </a:rPr>
              <a:t> </a:t>
            </a:r>
            <a:r>
              <a:rPr lang="en-US" sz="1200" b="1" spc="-125">
                <a:latin typeface="Arial"/>
                <a:cs typeface="Arial"/>
              </a:rPr>
              <a:t>instance</a:t>
            </a:r>
          </a:p>
          <a:p>
            <a:pPr marL="628650" lvl="1" indent="-171450">
              <a:buFont typeface="Arial" panose="020B0604020202020204" pitchFamily="34" charset="0"/>
              <a:buChar char="•"/>
            </a:pPr>
            <a:r>
              <a:rPr lang="vi-VN" sz="1200" b="0" spc="-125">
                <a:latin typeface="Arial"/>
                <a:cs typeface="Arial"/>
              </a:rPr>
              <a:t>Một thể hiện XML có lược đồ liên quan</a:t>
            </a:r>
          </a:p>
          <a:p>
            <a:pPr marL="628650" lvl="1" indent="-171450">
              <a:buFont typeface="Arial" panose="020B0604020202020204" pitchFamily="34" charset="0"/>
              <a:buChar char="•"/>
            </a:pPr>
            <a:r>
              <a:rPr lang="vi-VN" sz="1200" b="0" spc="-125">
                <a:latin typeface="Arial"/>
                <a:cs typeface="Arial"/>
              </a:rPr>
              <a:t>Nó mô tả cấu trúc và giới hạn nội dung của các tài liệu XML</a:t>
            </a:r>
            <a:endParaRPr lang="en-US" sz="1200" b="0">
              <a:latin typeface="Calibri" pitchFamily="34" charset="0"/>
              <a:cs typeface="Calibri" pitchFamily="34" charset="0"/>
            </a:endParaRPr>
          </a:p>
        </p:txBody>
      </p:sp>
      <p:sp>
        <p:nvSpPr>
          <p:cNvPr id="4" name="Slide Number Placeholder 3"/>
          <p:cNvSpPr>
            <a:spLocks noGrp="1"/>
          </p:cNvSpPr>
          <p:nvPr>
            <p:ph type="sldNum" sz="quarter" idx="5"/>
          </p:nvPr>
        </p:nvSpPr>
        <p:spPr/>
        <p:txBody>
          <a:bodyPr/>
          <a:lstStyle/>
          <a:p>
            <a:fld id="{9D34B684-4C1B-4B3A-9E38-8C6B58E8F21A}" type="slidenum">
              <a:rPr lang="en-US" smtClean="0"/>
              <a:t>24</a:t>
            </a:fld>
            <a:endParaRPr lang="en-US"/>
          </a:p>
        </p:txBody>
      </p:sp>
    </p:spTree>
    <p:extLst>
      <p:ext uri="{BB962C8B-B14F-4D97-AF65-F5344CB8AC3E}">
        <p14:creationId xmlns:p14="http://schemas.microsoft.com/office/powerpoint/2010/main" val="2787859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pc="-70">
                <a:latin typeface="Arial"/>
                <a:cs typeface="Arial"/>
              </a:rPr>
              <a:t>Untyped </a:t>
            </a:r>
            <a:r>
              <a:rPr lang="en-US" sz="1200" b="1" spc="80">
                <a:latin typeface="Arial"/>
                <a:cs typeface="Arial"/>
              </a:rPr>
              <a:t>XML</a:t>
            </a:r>
            <a:r>
              <a:rPr lang="en-US" sz="1200" b="1" spc="-290">
                <a:latin typeface="Arial"/>
                <a:cs typeface="Arial"/>
              </a:rPr>
              <a:t> </a:t>
            </a:r>
            <a:r>
              <a:rPr lang="en-US" sz="1200" b="1" spc="-125">
                <a:latin typeface="Arial"/>
                <a:cs typeface="Arial"/>
              </a:rPr>
              <a:t>instance</a:t>
            </a:r>
          </a:p>
          <a:p>
            <a:pPr marL="171450" indent="-171450">
              <a:buFont typeface="Arial" panose="020B0604020202020204" pitchFamily="34" charset="0"/>
              <a:buChar char="•"/>
            </a:pPr>
            <a:r>
              <a:rPr lang="vi-VN"/>
              <a:t>Dữ liệu có thể được tạo và lưu trữ trong một trong hai cột hoặc các biến tùy thuộc vào nhu cầu và phạm vi dữ liệu</a:t>
            </a:r>
            <a:endParaRPr lang="en-US"/>
          </a:p>
        </p:txBody>
      </p:sp>
      <p:sp>
        <p:nvSpPr>
          <p:cNvPr id="4" name="Slide Number Placeholder 3"/>
          <p:cNvSpPr>
            <a:spLocks noGrp="1"/>
          </p:cNvSpPr>
          <p:nvPr>
            <p:ph type="sldNum" sz="quarter" idx="5"/>
          </p:nvPr>
        </p:nvSpPr>
        <p:spPr/>
        <p:txBody>
          <a:bodyPr/>
          <a:lstStyle/>
          <a:p>
            <a:fld id="{9D34B684-4C1B-4B3A-9E38-8C6B58E8F21A}" type="slidenum">
              <a:rPr lang="en-US" smtClean="0"/>
              <a:t>25</a:t>
            </a:fld>
            <a:endParaRPr lang="en-US"/>
          </a:p>
        </p:txBody>
      </p:sp>
    </p:spTree>
    <p:extLst>
      <p:ext uri="{BB962C8B-B14F-4D97-AF65-F5344CB8AC3E}">
        <p14:creationId xmlns:p14="http://schemas.microsoft.com/office/powerpoint/2010/main" val="38392204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p>
          <a:p>
            <a:pPr marL="171450" indent="-171450">
              <a:buFont typeface="Arial" panose="020B0604020202020204" pitchFamily="34" charset="0"/>
              <a:buChar char="•"/>
            </a:pPr>
            <a:r>
              <a:rPr lang="vi-VN"/>
              <a:t>Câu lệnh </a:t>
            </a:r>
            <a:r>
              <a:rPr lang="en-US" sz="1200" b="1">
                <a:latin typeface="Calibri" pitchFamily="34" charset="0"/>
                <a:cs typeface="Calibri" pitchFamily="34" charset="0"/>
              </a:rPr>
              <a:t>SELECT</a:t>
            </a:r>
            <a:r>
              <a:rPr lang="vi-VN"/>
              <a:t> truy xuất các hàng và cột từ các bảng.</a:t>
            </a:r>
          </a:p>
          <a:p>
            <a:pPr marL="171450" indent="-171450">
              <a:buFont typeface="Arial" panose="020B0604020202020204" pitchFamily="34" charset="0"/>
              <a:buChar char="•"/>
            </a:pPr>
            <a:r>
              <a:rPr lang="en-US" sz="1200">
                <a:latin typeface="Calibri" pitchFamily="34" charset="0"/>
                <a:cs typeface="Calibri" pitchFamily="34" charset="0"/>
              </a:rPr>
              <a:t>Phát biểu </a:t>
            </a:r>
            <a:r>
              <a:rPr lang="en-US" sz="1200" b="1">
                <a:latin typeface="Calibri" pitchFamily="34" charset="0"/>
                <a:cs typeface="Calibri" pitchFamily="34" charset="0"/>
              </a:rPr>
              <a:t>SELECT</a:t>
            </a:r>
            <a:r>
              <a:rPr lang="vi-VN"/>
              <a:t> cho phép người dùng chỉ định các biểu thức khác nhau để xem kết quả theo cách ra lệnh.</a:t>
            </a:r>
          </a:p>
          <a:p>
            <a:pPr marL="171450" indent="-171450">
              <a:buFont typeface="Arial" panose="020B0604020202020204" pitchFamily="34" charset="0"/>
              <a:buChar char="•"/>
            </a:pPr>
            <a:r>
              <a:rPr lang="vi-VN"/>
              <a:t>Một </a:t>
            </a:r>
            <a:r>
              <a:rPr lang="en-US" sz="1200">
                <a:latin typeface="Calibri" pitchFamily="34" charset="0"/>
                <a:cs typeface="Calibri" pitchFamily="34" charset="0"/>
              </a:rPr>
              <a:t>Phát biểu </a:t>
            </a:r>
            <a:r>
              <a:rPr lang="en-US" sz="1200" b="1">
                <a:latin typeface="Calibri" pitchFamily="34" charset="0"/>
                <a:cs typeface="Calibri" pitchFamily="34" charset="0"/>
              </a:rPr>
              <a:t>SELECT</a:t>
            </a:r>
            <a:r>
              <a:rPr lang="vi-VN"/>
              <a:t> có thể chứa các biểu thức toán học bằng cách áp dụng các toán tử vào một hoặc nhiều cột.</a:t>
            </a:r>
          </a:p>
          <a:p>
            <a:pPr marL="171450" indent="-171450">
              <a:buFont typeface="Arial" panose="020B0604020202020204" pitchFamily="34" charset="0"/>
              <a:buChar char="•"/>
            </a:pPr>
            <a:r>
              <a:rPr lang="vi-VN"/>
              <a:t>Từ khóa </a:t>
            </a:r>
            <a:r>
              <a:rPr lang="en-US" sz="1200" b="1">
                <a:latin typeface="Calibri" pitchFamily="34" charset="0"/>
                <a:cs typeface="Calibri" pitchFamily="34" charset="0"/>
              </a:rPr>
              <a:t>DISTINCT</a:t>
            </a:r>
            <a:r>
              <a:rPr lang="en-US" sz="1200">
                <a:latin typeface="Calibri" pitchFamily="34" charset="0"/>
                <a:cs typeface="Calibri" pitchFamily="34" charset="0"/>
              </a:rPr>
              <a:t> (</a:t>
            </a:r>
            <a:r>
              <a:rPr lang="vi-VN"/>
              <a:t>khác biệt</a:t>
            </a:r>
            <a:r>
              <a:rPr lang="en-US"/>
              <a:t>)</a:t>
            </a:r>
            <a:r>
              <a:rPr lang="vi-VN"/>
              <a:t> ngăn truy xuất các </a:t>
            </a:r>
            <a:r>
              <a:rPr lang="en-US"/>
              <a:t>mẫu tin </a:t>
            </a:r>
            <a:r>
              <a:rPr lang="vi-VN"/>
              <a:t>trùng lặp.</a:t>
            </a:r>
          </a:p>
          <a:p>
            <a:pPr marL="171450" indent="-171450">
              <a:buFont typeface="Arial" panose="020B0604020202020204" pitchFamily="34" charset="0"/>
              <a:buChar char="•"/>
            </a:pPr>
            <a:r>
              <a:rPr lang="vi-VN"/>
              <a:t>XML cho phép các nhà phát triển phát triển bộ thẻ riêng của họ và giúp các chương trình khác có thể hiểu các thẻ này.</a:t>
            </a:r>
          </a:p>
          <a:p>
            <a:pPr marL="171450" indent="-171450">
              <a:buFont typeface="Arial" panose="020B0604020202020204" pitchFamily="34" charset="0"/>
              <a:buChar char="•"/>
            </a:pPr>
            <a:r>
              <a:rPr lang="vi-VN"/>
              <a:t>Một </a:t>
            </a:r>
            <a:r>
              <a:rPr lang="en-US" sz="1200" b="1">
                <a:latin typeface="Calibri" pitchFamily="34" charset="0"/>
                <a:cs typeface="Calibri" pitchFamily="34" charset="0"/>
              </a:rPr>
              <a:t>typed XML </a:t>
            </a:r>
            <a:r>
              <a:rPr lang="en-US" b="1" spc="80"/>
              <a:t>instance</a:t>
            </a:r>
            <a:r>
              <a:rPr lang="en-US" spc="80"/>
              <a:t> </a:t>
            </a:r>
            <a:r>
              <a:rPr lang="vi-VN"/>
              <a:t>là một thể hiện XML có lược đồ liên quan đến nó.</a:t>
            </a:r>
          </a:p>
          <a:p>
            <a:pPr marL="171450" indent="-171450">
              <a:buFont typeface="Arial" panose="020B0604020202020204" pitchFamily="34" charset="0"/>
              <a:buChar char="•"/>
            </a:pPr>
            <a:r>
              <a:rPr lang="vi-VN"/>
              <a:t>Dữ liệu XML có thể được truy vấn và truy xuất bằng ngôn ngữ </a:t>
            </a:r>
            <a:r>
              <a:rPr lang="vi-VN" b="1"/>
              <a:t>XQuery</a:t>
            </a:r>
            <a:r>
              <a:rPr lang="vi-VN"/>
              <a:t>.</a:t>
            </a:r>
            <a:endParaRPr lang="en-US"/>
          </a:p>
        </p:txBody>
      </p:sp>
      <p:sp>
        <p:nvSpPr>
          <p:cNvPr id="4" name="Slide Number Placeholder 3"/>
          <p:cNvSpPr>
            <a:spLocks noGrp="1"/>
          </p:cNvSpPr>
          <p:nvPr>
            <p:ph type="sldNum" sz="quarter" idx="5"/>
          </p:nvPr>
        </p:nvSpPr>
        <p:spPr/>
        <p:txBody>
          <a:bodyPr/>
          <a:lstStyle/>
          <a:p>
            <a:fld id="{9D34B684-4C1B-4B3A-9E38-8C6B58E8F21A}" type="slidenum">
              <a:rPr lang="en-US" smtClean="0"/>
              <a:t>26</a:t>
            </a:fld>
            <a:endParaRPr lang="en-US"/>
          </a:p>
        </p:txBody>
      </p:sp>
    </p:spTree>
    <p:extLst>
      <p:ext uri="{BB962C8B-B14F-4D97-AF65-F5344CB8AC3E}">
        <p14:creationId xmlns:p14="http://schemas.microsoft.com/office/powerpoint/2010/main" val="3054112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47294" y="-2032"/>
            <a:ext cx="8249411" cy="63563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10/16/2021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10/16/2021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10/16/2021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10/16/2021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10/16/2021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2687827" y="1492250"/>
            <a:ext cx="4539615" cy="1694180"/>
          </a:xfrm>
          <a:prstGeom prst="rect">
            <a:avLst/>
          </a:prstGeom>
        </p:spPr>
        <p:txBody>
          <a:bodyPr wrap="square" lIns="0" tIns="0" rIns="0" bIns="0">
            <a:spAutoFit/>
          </a:bodyPr>
          <a:lstStyle>
            <a:lvl1pPr>
              <a:defRPr sz="3600" b="1" i="0">
                <a:solidFill>
                  <a:schemeClr val="bg1"/>
                </a:solidFill>
                <a:latin typeface="Arial"/>
                <a:cs typeface="Arial"/>
              </a:defRPr>
            </a:lvl1pPr>
          </a:lstStyle>
          <a:p>
            <a:endParaRPr/>
          </a:p>
        </p:txBody>
      </p:sp>
      <p:sp>
        <p:nvSpPr>
          <p:cNvPr id="3" name="Holder 3"/>
          <p:cNvSpPr>
            <a:spLocks noGrp="1"/>
          </p:cNvSpPr>
          <p:nvPr>
            <p:ph type="body" idx="1"/>
          </p:nvPr>
        </p:nvSpPr>
        <p:spPr>
          <a:xfrm>
            <a:off x="383540" y="1120139"/>
            <a:ext cx="8453120" cy="4050029"/>
          </a:xfrm>
          <a:prstGeom prst="rect">
            <a:avLst/>
          </a:prstGeom>
        </p:spPr>
        <p:txBody>
          <a:bodyPr wrap="square" lIns="0" tIns="0" rIns="0" bIns="0">
            <a:spAutoFit/>
          </a:bodyPr>
          <a:lstStyle>
            <a:lvl1pPr>
              <a:defRPr sz="2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10/16/2021</a:t>
            </a:fld>
            <a:endParaRPr lang="en-US"/>
          </a:p>
        </p:txBody>
      </p:sp>
      <p:sp>
        <p:nvSpPr>
          <p:cNvPr id="6" name="Holder 6"/>
          <p:cNvSpPr>
            <a:spLocks noGrp="1"/>
          </p:cNvSpPr>
          <p:nvPr>
            <p:ph type="sldNum" sz="quarter" idx="7"/>
          </p:nvPr>
        </p:nvSpPr>
        <p:spPr>
          <a:xfrm>
            <a:off x="7910321" y="6569709"/>
            <a:ext cx="906779" cy="25654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1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2.jpg"/><Relationship Id="rId4" Type="http://schemas.openxmlformats.org/officeDocument/2006/relationships/image" Target="../media/image41.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430274" y="4142902"/>
            <a:ext cx="5129530" cy="1318260"/>
          </a:xfrm>
          <a:prstGeom prst="rect">
            <a:avLst/>
          </a:prstGeom>
        </p:spPr>
        <p:txBody>
          <a:bodyPr vert="horz" wrap="square" lIns="0" tIns="81915" rIns="0" bIns="0" rtlCol="0">
            <a:spAutoFit/>
          </a:bodyPr>
          <a:lstStyle/>
          <a:p>
            <a:pPr marL="12700">
              <a:lnSpc>
                <a:spcPct val="100000"/>
              </a:lnSpc>
              <a:spcBef>
                <a:spcPts val="645"/>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8</a:t>
            </a:r>
            <a:endParaRPr sz="2800">
              <a:latin typeface="Book Antiqua"/>
              <a:cs typeface="Book Antiqua"/>
            </a:endParaRPr>
          </a:p>
          <a:p>
            <a:pPr marL="1184275" algn="ctr">
              <a:lnSpc>
                <a:spcPct val="100000"/>
              </a:lnSpc>
              <a:spcBef>
                <a:spcPts val="869"/>
              </a:spcBef>
            </a:pPr>
            <a:r>
              <a:rPr sz="4500" b="1" i="1" spc="-5" dirty="0">
                <a:latin typeface="Book Antiqua"/>
                <a:cs typeface="Book Antiqua"/>
              </a:rPr>
              <a:t>Accessing</a:t>
            </a:r>
            <a:r>
              <a:rPr sz="4500" b="1" i="1" spc="-85" dirty="0">
                <a:latin typeface="Book Antiqua"/>
                <a:cs typeface="Book Antiqua"/>
              </a:rPr>
              <a:t> </a:t>
            </a:r>
            <a:r>
              <a:rPr sz="4500" b="1" i="1" dirty="0">
                <a:latin typeface="Book Antiqua"/>
                <a:cs typeface="Book Antiqua"/>
              </a:rPr>
              <a:t>Data</a:t>
            </a:r>
            <a:endParaRPr sz="4500">
              <a:latin typeface="Book Antiqua"/>
              <a:cs typeface="Book Antiqua"/>
            </a:endParaRPr>
          </a:p>
        </p:txBody>
      </p:sp>
      <p:sp>
        <p:nvSpPr>
          <p:cNvPr id="7" name="object 7"/>
          <p:cNvSpPr txBox="1">
            <a:spLocks noGrp="1"/>
          </p:cNvSpPr>
          <p:nvPr>
            <p:ph type="title"/>
          </p:nvPr>
        </p:nvSpPr>
        <p:spPr>
          <a:prstGeom prst="rect">
            <a:avLst/>
          </a:prstGeom>
        </p:spPr>
        <p:txBody>
          <a:bodyPr vert="horz" wrap="square" lIns="0" tIns="1270" rIns="0" bIns="0" rtlCol="0">
            <a:spAutoFit/>
          </a:bodyPr>
          <a:lstStyle/>
          <a:p>
            <a:pPr marL="12700" marR="5080" indent="-635" algn="ctr">
              <a:lnSpc>
                <a:spcPct val="102099"/>
              </a:lnSpc>
              <a:spcBef>
                <a:spcPts val="10"/>
              </a:spcBef>
            </a:pPr>
            <a:r>
              <a:rPr spc="-110" dirty="0"/>
              <a:t>Intelligent </a:t>
            </a:r>
            <a:r>
              <a:rPr spc="-125" dirty="0"/>
              <a:t>Data  </a:t>
            </a:r>
            <a:r>
              <a:rPr spc="-215" dirty="0"/>
              <a:t>Management </a:t>
            </a:r>
            <a:r>
              <a:rPr spc="-55" dirty="0"/>
              <a:t>with</a:t>
            </a:r>
            <a:r>
              <a:rPr spc="-440" dirty="0"/>
              <a:t> </a:t>
            </a:r>
            <a:r>
              <a:rPr spc="-55" dirty="0"/>
              <a:t>SQL  </a:t>
            </a:r>
            <a:r>
              <a:rPr spc="-215" dirty="0"/>
              <a:t>Server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z="4000" b="0" spc="130" dirty="0">
                <a:latin typeface="Times New Roman"/>
                <a:cs typeface="Times New Roman"/>
              </a:rPr>
              <a:t>Objectives</a:t>
            </a:r>
            <a:endParaRPr sz="4000">
              <a:latin typeface="Times New Roman"/>
              <a:cs typeface="Times New Roman"/>
            </a:endParaRPr>
          </a:p>
        </p:txBody>
      </p:sp>
      <p:sp>
        <p:nvSpPr>
          <p:cNvPr id="5" name="object 5"/>
          <p:cNvSpPr txBox="1"/>
          <p:nvPr/>
        </p:nvSpPr>
        <p:spPr>
          <a:xfrm>
            <a:off x="7910321" y="6569709"/>
            <a:ext cx="83121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20" baseline="4629" dirty="0">
                <a:latin typeface="Times New Roman"/>
                <a:cs typeface="Times New Roman"/>
              </a:rPr>
              <a:t>8/</a:t>
            </a:r>
            <a:r>
              <a:rPr sz="1800" spc="-270" baseline="4629" dirty="0">
                <a:latin typeface="Times New Roman"/>
                <a:cs typeface="Times New Roman"/>
              </a:rPr>
              <a:t> </a:t>
            </a:r>
            <a:fld id="{81D60167-4931-47E6-BA6A-407CBD079E47}" type="slidenum">
              <a:rPr sz="1200" dirty="0">
                <a:latin typeface="Times New Roman"/>
                <a:cs typeface="Times New Roman"/>
              </a:rPr>
              <a:t>2</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463040"/>
            <a:ext cx="8071484" cy="222059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65" dirty="0">
                <a:latin typeface="Times New Roman"/>
                <a:cs typeface="Times New Roman"/>
              </a:rPr>
              <a:t>Describe</a:t>
            </a:r>
            <a:r>
              <a:rPr sz="2400" spc="-100" dirty="0">
                <a:latin typeface="Times New Roman"/>
                <a:cs typeface="Times New Roman"/>
              </a:rPr>
              <a:t> </a:t>
            </a:r>
            <a:r>
              <a:rPr sz="2400" spc="100" dirty="0">
                <a:latin typeface="Times New Roman"/>
                <a:cs typeface="Times New Roman"/>
              </a:rPr>
              <a:t>SELECT</a:t>
            </a:r>
            <a:r>
              <a:rPr sz="2400" spc="-90" dirty="0">
                <a:latin typeface="Times New Roman"/>
                <a:cs typeface="Times New Roman"/>
              </a:rPr>
              <a:t> </a:t>
            </a:r>
            <a:r>
              <a:rPr sz="2400" spc="95" dirty="0">
                <a:latin typeface="Times New Roman"/>
                <a:cs typeface="Times New Roman"/>
              </a:rPr>
              <a:t>statement,</a:t>
            </a:r>
            <a:r>
              <a:rPr sz="2400" spc="-90" dirty="0">
                <a:latin typeface="Times New Roman"/>
                <a:cs typeface="Times New Roman"/>
              </a:rPr>
              <a:t> </a:t>
            </a:r>
            <a:r>
              <a:rPr sz="2400" spc="55" dirty="0">
                <a:latin typeface="Times New Roman"/>
                <a:cs typeface="Times New Roman"/>
              </a:rPr>
              <a:t>its</a:t>
            </a:r>
            <a:r>
              <a:rPr sz="2400" spc="-85" dirty="0">
                <a:latin typeface="Times New Roman"/>
                <a:cs typeface="Times New Roman"/>
              </a:rPr>
              <a:t> </a:t>
            </a:r>
            <a:r>
              <a:rPr sz="2400" spc="70" dirty="0">
                <a:latin typeface="Times New Roman"/>
                <a:cs typeface="Times New Roman"/>
              </a:rPr>
              <a:t>syntax,</a:t>
            </a:r>
            <a:r>
              <a:rPr sz="2400" spc="-90" dirty="0">
                <a:latin typeface="Times New Roman"/>
                <a:cs typeface="Times New Roman"/>
              </a:rPr>
              <a:t> </a:t>
            </a:r>
            <a:r>
              <a:rPr sz="2400" spc="135" dirty="0">
                <a:latin typeface="Times New Roman"/>
                <a:cs typeface="Times New Roman"/>
              </a:rPr>
              <a:t>and</a:t>
            </a:r>
            <a:r>
              <a:rPr sz="2400" spc="-85" dirty="0">
                <a:latin typeface="Times New Roman"/>
                <a:cs typeface="Times New Roman"/>
              </a:rPr>
              <a:t> </a:t>
            </a:r>
            <a:r>
              <a:rPr sz="2400" spc="80" dirty="0">
                <a:latin typeface="Times New Roman"/>
                <a:cs typeface="Times New Roman"/>
              </a:rPr>
              <a:t>use</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70" dirty="0">
                <a:latin typeface="Times New Roman"/>
                <a:cs typeface="Times New Roman"/>
              </a:rPr>
              <a:t>various</a:t>
            </a:r>
            <a:r>
              <a:rPr sz="2400" spc="-85" dirty="0">
                <a:latin typeface="Times New Roman"/>
                <a:cs typeface="Times New Roman"/>
              </a:rPr>
              <a:t> </a:t>
            </a:r>
            <a:r>
              <a:rPr sz="2400" spc="45" dirty="0">
                <a:latin typeface="Times New Roman"/>
                <a:cs typeface="Times New Roman"/>
              </a:rPr>
              <a:t>clauses</a:t>
            </a:r>
            <a:r>
              <a:rPr sz="2400" spc="-90" dirty="0">
                <a:latin typeface="Times New Roman"/>
                <a:cs typeface="Times New Roman"/>
              </a:rPr>
              <a:t> </a:t>
            </a:r>
            <a:r>
              <a:rPr sz="2400" spc="100" dirty="0">
                <a:latin typeface="Times New Roman"/>
                <a:cs typeface="Times New Roman"/>
              </a:rPr>
              <a:t>used</a:t>
            </a:r>
            <a:r>
              <a:rPr sz="2400" spc="-100" dirty="0">
                <a:latin typeface="Times New Roman"/>
                <a:cs typeface="Times New Roman"/>
              </a:rPr>
              <a:t> </a:t>
            </a:r>
            <a:r>
              <a:rPr sz="2400" spc="105" dirty="0">
                <a:latin typeface="Times New Roman"/>
                <a:cs typeface="Times New Roman"/>
              </a:rPr>
              <a:t>with</a:t>
            </a:r>
            <a:r>
              <a:rPr sz="2400" spc="-70" dirty="0">
                <a:latin typeface="Times New Roman"/>
                <a:cs typeface="Times New Roman"/>
              </a:rPr>
              <a:t> </a:t>
            </a:r>
            <a:r>
              <a:rPr sz="2400" spc="100" dirty="0">
                <a:latin typeface="Times New Roman"/>
                <a:cs typeface="Times New Roman"/>
              </a:rPr>
              <a:t>SELECT</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95" dirty="0">
                <a:latin typeface="Times New Roman"/>
                <a:cs typeface="Times New Roman"/>
              </a:rPr>
              <a:t>State</a:t>
            </a:r>
            <a:r>
              <a:rPr sz="2400" spc="-90" dirty="0">
                <a:latin typeface="Times New Roman"/>
                <a:cs typeface="Times New Roman"/>
              </a:rPr>
              <a:t> </a:t>
            </a:r>
            <a:r>
              <a:rPr sz="2400" spc="135" dirty="0">
                <a:latin typeface="Times New Roman"/>
                <a:cs typeface="Times New Roman"/>
              </a:rPr>
              <a:t>the</a:t>
            </a:r>
            <a:r>
              <a:rPr sz="2400" spc="-85" dirty="0">
                <a:latin typeface="Times New Roman"/>
                <a:cs typeface="Times New Roman"/>
              </a:rPr>
              <a:t> </a:t>
            </a:r>
            <a:r>
              <a:rPr sz="2400" spc="80" dirty="0">
                <a:latin typeface="Times New Roman"/>
                <a:cs typeface="Times New Roman"/>
              </a:rPr>
              <a:t>use</a:t>
            </a:r>
            <a:r>
              <a:rPr sz="2400" spc="-100" dirty="0">
                <a:latin typeface="Times New Roman"/>
                <a:cs typeface="Times New Roman"/>
              </a:rPr>
              <a:t> </a:t>
            </a:r>
            <a:r>
              <a:rPr sz="2400" spc="70" dirty="0">
                <a:latin typeface="Times New Roman"/>
                <a:cs typeface="Times New Roman"/>
              </a:rPr>
              <a:t>of</a:t>
            </a:r>
            <a:r>
              <a:rPr sz="2400" spc="-90" dirty="0">
                <a:latin typeface="Times New Roman"/>
                <a:cs typeface="Times New Roman"/>
              </a:rPr>
              <a:t> </a:t>
            </a:r>
            <a:r>
              <a:rPr sz="2400" spc="140" dirty="0">
                <a:latin typeface="Times New Roman"/>
                <a:cs typeface="Times New Roman"/>
              </a:rPr>
              <a:t>ORDER</a:t>
            </a:r>
            <a:r>
              <a:rPr sz="2400" spc="-85" dirty="0">
                <a:latin typeface="Times New Roman"/>
                <a:cs typeface="Times New Roman"/>
              </a:rPr>
              <a:t> </a:t>
            </a:r>
            <a:r>
              <a:rPr sz="2400" spc="-60" dirty="0">
                <a:latin typeface="Times New Roman"/>
                <a:cs typeface="Times New Roman"/>
              </a:rPr>
              <a:t>BY</a:t>
            </a:r>
            <a:r>
              <a:rPr sz="2400" spc="-85" dirty="0">
                <a:latin typeface="Times New Roman"/>
                <a:cs typeface="Times New Roman"/>
              </a:rPr>
              <a:t> </a:t>
            </a:r>
            <a:r>
              <a:rPr sz="2400" spc="50" dirty="0">
                <a:latin typeface="Times New Roman"/>
                <a:cs typeface="Times New Roman"/>
              </a:rPr>
              <a:t>clause</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a:t>
            </a:r>
            <a:r>
              <a:rPr sz="2400" spc="-100" dirty="0">
                <a:latin typeface="Times New Roman"/>
                <a:cs typeface="Times New Roman"/>
              </a:rPr>
              <a:t> </a:t>
            </a:r>
            <a:r>
              <a:rPr sz="2400" spc="80" dirty="0">
                <a:latin typeface="Times New Roman"/>
                <a:cs typeface="Times New Roman"/>
              </a:rPr>
              <a:t>working</a:t>
            </a:r>
            <a:r>
              <a:rPr sz="2400" spc="-75" dirty="0">
                <a:latin typeface="Times New Roman"/>
                <a:cs typeface="Times New Roman"/>
              </a:rPr>
              <a:t> </a:t>
            </a:r>
            <a:r>
              <a:rPr sz="2400" spc="105" dirty="0">
                <a:latin typeface="Times New Roman"/>
                <a:cs typeface="Times New Roman"/>
              </a:rPr>
              <a:t>with</a:t>
            </a:r>
            <a:r>
              <a:rPr sz="2400" spc="-75" dirty="0">
                <a:latin typeface="Times New Roman"/>
                <a:cs typeface="Times New Roman"/>
              </a:rPr>
              <a:t> </a:t>
            </a:r>
            <a:r>
              <a:rPr sz="2400" spc="95" dirty="0">
                <a:latin typeface="Times New Roman"/>
                <a:cs typeface="Times New Roman"/>
              </a:rPr>
              <a:t>typed</a:t>
            </a:r>
            <a:r>
              <a:rPr sz="2400" spc="-85" dirty="0">
                <a:latin typeface="Times New Roman"/>
                <a:cs typeface="Times New Roman"/>
              </a:rPr>
              <a:t> </a:t>
            </a:r>
            <a:r>
              <a:rPr sz="2400" spc="135" dirty="0">
                <a:latin typeface="Times New Roman"/>
                <a:cs typeface="Times New Roman"/>
              </a:rPr>
              <a:t>and</a:t>
            </a:r>
            <a:r>
              <a:rPr sz="2400" spc="-90" dirty="0">
                <a:latin typeface="Times New Roman"/>
                <a:cs typeface="Times New Roman"/>
              </a:rPr>
              <a:t> </a:t>
            </a:r>
            <a:r>
              <a:rPr sz="2400" spc="125" dirty="0">
                <a:latin typeface="Times New Roman"/>
                <a:cs typeface="Times New Roman"/>
              </a:rPr>
              <a:t>untyped</a:t>
            </a:r>
            <a:r>
              <a:rPr sz="2400" spc="-80" dirty="0">
                <a:latin typeface="Times New Roman"/>
                <a:cs typeface="Times New Roman"/>
              </a:rPr>
              <a:t> </a:t>
            </a:r>
            <a:r>
              <a:rPr sz="2400" spc="40" dirty="0">
                <a:latin typeface="Times New Roman"/>
                <a:cs typeface="Times New Roman"/>
              </a:rPr>
              <a:t>XML</a:t>
            </a:r>
            <a:endParaRPr sz="2400">
              <a:latin typeface="Times New Roman"/>
              <a:cs typeface="Times New Roman"/>
            </a:endParaRPr>
          </a:p>
          <a:p>
            <a:pPr marL="353695" marR="5080" indent="-341630">
              <a:lnSpc>
                <a:spcPct val="100000"/>
              </a:lnSpc>
              <a:buFont typeface="Calibri"/>
              <a:buChar char="●"/>
              <a:tabLst>
                <a:tab pos="353695" algn="l"/>
                <a:tab pos="354330" algn="l"/>
                <a:tab pos="1553845" algn="l"/>
                <a:tab pos="2165985" algn="l"/>
                <a:tab pos="3685540" algn="l"/>
                <a:tab pos="4142740" algn="l"/>
                <a:tab pos="5186045" algn="l"/>
                <a:tab pos="5885815" algn="l"/>
                <a:tab pos="6562725" algn="l"/>
                <a:tab pos="7364730" algn="l"/>
              </a:tabLst>
            </a:pPr>
            <a:r>
              <a:rPr sz="2400" spc="55" dirty="0">
                <a:latin typeface="Times New Roman"/>
                <a:cs typeface="Times New Roman"/>
              </a:rPr>
              <a:t>Expla</a:t>
            </a:r>
            <a:r>
              <a:rPr sz="2400" spc="114" dirty="0">
                <a:latin typeface="Times New Roman"/>
                <a:cs typeface="Times New Roman"/>
              </a:rPr>
              <a:t>in	</a:t>
            </a:r>
            <a:r>
              <a:rPr sz="2400" spc="135" dirty="0">
                <a:latin typeface="Times New Roman"/>
                <a:cs typeface="Times New Roman"/>
              </a:rPr>
              <a:t>the	</a:t>
            </a:r>
            <a:r>
              <a:rPr sz="2400" spc="105" dirty="0">
                <a:latin typeface="Times New Roman"/>
                <a:cs typeface="Times New Roman"/>
              </a:rPr>
              <a:t>procedu</a:t>
            </a:r>
            <a:r>
              <a:rPr sz="2400" spc="75" dirty="0">
                <a:latin typeface="Times New Roman"/>
                <a:cs typeface="Times New Roman"/>
              </a:rPr>
              <a:t>re</a:t>
            </a:r>
            <a:r>
              <a:rPr sz="2400" dirty="0">
                <a:latin typeface="Times New Roman"/>
                <a:cs typeface="Times New Roman"/>
              </a:rPr>
              <a:t>	</a:t>
            </a:r>
            <a:r>
              <a:rPr sz="2400" spc="130" dirty="0">
                <a:latin typeface="Times New Roman"/>
                <a:cs typeface="Times New Roman"/>
              </a:rPr>
              <a:t>to</a:t>
            </a:r>
            <a:r>
              <a:rPr sz="2400" dirty="0">
                <a:latin typeface="Times New Roman"/>
                <a:cs typeface="Times New Roman"/>
              </a:rPr>
              <a:t>	</a:t>
            </a:r>
            <a:r>
              <a:rPr sz="2400" spc="60" dirty="0">
                <a:latin typeface="Times New Roman"/>
                <a:cs typeface="Times New Roman"/>
              </a:rPr>
              <a:t>create,</a:t>
            </a:r>
            <a:r>
              <a:rPr sz="2400" dirty="0">
                <a:latin typeface="Times New Roman"/>
                <a:cs typeface="Times New Roman"/>
              </a:rPr>
              <a:t>	</a:t>
            </a:r>
            <a:r>
              <a:rPr sz="2400" spc="60" dirty="0">
                <a:latin typeface="Times New Roman"/>
                <a:cs typeface="Times New Roman"/>
              </a:rPr>
              <a:t>use,</a:t>
            </a:r>
            <a:r>
              <a:rPr sz="2400" dirty="0">
                <a:latin typeface="Times New Roman"/>
                <a:cs typeface="Times New Roman"/>
              </a:rPr>
              <a:t>	</a:t>
            </a:r>
            <a:r>
              <a:rPr sz="2400" spc="120" dirty="0">
                <a:latin typeface="Times New Roman"/>
                <a:cs typeface="Times New Roman"/>
              </a:rPr>
              <a:t>an</a:t>
            </a:r>
            <a:r>
              <a:rPr sz="2400" spc="155" dirty="0">
                <a:latin typeface="Times New Roman"/>
                <a:cs typeface="Times New Roman"/>
              </a:rPr>
              <a:t>d</a:t>
            </a:r>
            <a:r>
              <a:rPr sz="2400" dirty="0">
                <a:latin typeface="Times New Roman"/>
                <a:cs typeface="Times New Roman"/>
              </a:rPr>
              <a:t>	</a:t>
            </a:r>
            <a:r>
              <a:rPr sz="2400" spc="45" dirty="0">
                <a:latin typeface="Times New Roman"/>
                <a:cs typeface="Times New Roman"/>
              </a:rPr>
              <a:t>v</a:t>
            </a:r>
            <a:r>
              <a:rPr sz="2400" spc="40" dirty="0">
                <a:latin typeface="Times New Roman"/>
                <a:cs typeface="Times New Roman"/>
              </a:rPr>
              <a:t>iew</a:t>
            </a:r>
            <a:r>
              <a:rPr sz="2400" dirty="0">
                <a:latin typeface="Times New Roman"/>
                <a:cs typeface="Times New Roman"/>
              </a:rPr>
              <a:t>	</a:t>
            </a:r>
            <a:r>
              <a:rPr sz="2400" spc="30" dirty="0">
                <a:latin typeface="Times New Roman"/>
                <a:cs typeface="Times New Roman"/>
              </a:rPr>
              <a:t>XML  </a:t>
            </a:r>
            <a:r>
              <a:rPr sz="2400" spc="65" dirty="0">
                <a:latin typeface="Times New Roman"/>
                <a:cs typeface="Times New Roman"/>
              </a:rPr>
              <a:t>schemas</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z="4000" b="0" spc="195" dirty="0">
                <a:latin typeface="Times New Roman"/>
                <a:cs typeface="Times New Roman"/>
              </a:rPr>
              <a:t>Introduction</a:t>
            </a:r>
            <a:endParaRPr sz="4000">
              <a:latin typeface="Times New Roman"/>
              <a:cs typeface="Times New Roman"/>
            </a:endParaRPr>
          </a:p>
        </p:txBody>
      </p:sp>
      <p:sp>
        <p:nvSpPr>
          <p:cNvPr id="3" name="object 3"/>
          <p:cNvSpPr txBox="1"/>
          <p:nvPr/>
        </p:nvSpPr>
        <p:spPr>
          <a:xfrm>
            <a:off x="349504" y="1152905"/>
            <a:ext cx="4732020" cy="4049395"/>
          </a:xfrm>
          <a:prstGeom prst="rect">
            <a:avLst/>
          </a:prstGeom>
        </p:spPr>
        <p:txBody>
          <a:bodyPr vert="horz" wrap="square" lIns="0" tIns="12700" rIns="0" bIns="0" rtlCol="0">
            <a:spAutoFit/>
          </a:bodyPr>
          <a:lstStyle/>
          <a:p>
            <a:pPr marL="353695" marR="5080" indent="-341630" algn="just">
              <a:lnSpc>
                <a:spcPct val="100000"/>
              </a:lnSpc>
              <a:spcBef>
                <a:spcPts val="100"/>
              </a:spcBef>
              <a:buSzPct val="83333"/>
              <a:buFont typeface="Segoe UI Symbol"/>
              <a:buChar char="⮚"/>
              <a:tabLst>
                <a:tab pos="354330" algn="l"/>
              </a:tabLst>
            </a:pPr>
            <a:r>
              <a:rPr sz="2400" spc="160" dirty="0">
                <a:latin typeface="Times New Roman"/>
                <a:cs typeface="Times New Roman"/>
              </a:rPr>
              <a:t>The </a:t>
            </a:r>
            <a:r>
              <a:rPr sz="2400" spc="100" dirty="0">
                <a:latin typeface="Times New Roman"/>
                <a:cs typeface="Times New Roman"/>
              </a:rPr>
              <a:t>SELECT </a:t>
            </a:r>
            <a:r>
              <a:rPr sz="2400" spc="105" dirty="0">
                <a:latin typeface="Times New Roman"/>
                <a:cs typeface="Times New Roman"/>
              </a:rPr>
              <a:t>statement </a:t>
            </a:r>
            <a:r>
              <a:rPr sz="2400" spc="10" dirty="0">
                <a:latin typeface="Times New Roman"/>
                <a:cs typeface="Times New Roman"/>
              </a:rPr>
              <a:t>is </a:t>
            </a:r>
            <a:r>
              <a:rPr sz="2400" spc="40" dirty="0">
                <a:latin typeface="Times New Roman"/>
                <a:cs typeface="Times New Roman"/>
              </a:rPr>
              <a:t>a</a:t>
            </a:r>
            <a:r>
              <a:rPr sz="2400" spc="-25" dirty="0">
                <a:latin typeface="Times New Roman"/>
                <a:cs typeface="Times New Roman"/>
              </a:rPr>
              <a:t> </a:t>
            </a:r>
            <a:r>
              <a:rPr sz="2400" spc="70" dirty="0">
                <a:latin typeface="Times New Roman"/>
                <a:cs typeface="Times New Roman"/>
              </a:rPr>
              <a:t>core  </a:t>
            </a:r>
            <a:r>
              <a:rPr sz="2400" spc="110" dirty="0">
                <a:latin typeface="Times New Roman"/>
                <a:cs typeface="Times New Roman"/>
              </a:rPr>
              <a:t>command </a:t>
            </a:r>
            <a:r>
              <a:rPr sz="2400" spc="100" dirty="0">
                <a:latin typeface="Times New Roman"/>
                <a:cs typeface="Times New Roman"/>
              </a:rPr>
              <a:t>used </a:t>
            </a:r>
            <a:r>
              <a:rPr sz="2400" spc="130" dirty="0">
                <a:latin typeface="Times New Roman"/>
                <a:cs typeface="Times New Roman"/>
              </a:rPr>
              <a:t>to </a:t>
            </a:r>
            <a:r>
              <a:rPr sz="2400" spc="20" dirty="0">
                <a:latin typeface="Times New Roman"/>
                <a:cs typeface="Times New Roman"/>
              </a:rPr>
              <a:t>access </a:t>
            </a:r>
            <a:r>
              <a:rPr sz="2400" spc="95" dirty="0">
                <a:latin typeface="Times New Roman"/>
                <a:cs typeface="Times New Roman"/>
              </a:rPr>
              <a:t>data </a:t>
            </a:r>
            <a:r>
              <a:rPr sz="2400" spc="120" dirty="0">
                <a:latin typeface="Times New Roman"/>
                <a:cs typeface="Times New Roman"/>
              </a:rPr>
              <a:t>in  </a:t>
            </a:r>
            <a:r>
              <a:rPr sz="2400" spc="114" dirty="0">
                <a:latin typeface="Times New Roman"/>
                <a:cs typeface="Times New Roman"/>
              </a:rPr>
              <a:t>SQL </a:t>
            </a:r>
            <a:r>
              <a:rPr sz="2400" spc="70" dirty="0">
                <a:latin typeface="Times New Roman"/>
                <a:cs typeface="Times New Roman"/>
              </a:rPr>
              <a:t>Server</a:t>
            </a:r>
            <a:r>
              <a:rPr sz="2400" spc="-315" dirty="0">
                <a:latin typeface="Times New Roman"/>
                <a:cs typeface="Times New Roman"/>
              </a:rPr>
              <a:t> </a:t>
            </a:r>
            <a:r>
              <a:rPr sz="2400" spc="-85" dirty="0">
                <a:latin typeface="Times New Roman"/>
                <a:cs typeface="Times New Roman"/>
              </a:rPr>
              <a:t>2019.</a:t>
            </a:r>
            <a:endParaRPr sz="2400">
              <a:latin typeface="Times New Roman"/>
              <a:cs typeface="Times New Roman"/>
            </a:endParaRPr>
          </a:p>
          <a:p>
            <a:pPr marL="353695" marR="5715" indent="-341630" algn="just">
              <a:lnSpc>
                <a:spcPct val="100000"/>
              </a:lnSpc>
              <a:buSzPct val="83333"/>
              <a:buFont typeface="Segoe UI Symbol"/>
              <a:buChar char="⮚"/>
              <a:tabLst>
                <a:tab pos="354330" algn="l"/>
              </a:tabLst>
            </a:pPr>
            <a:r>
              <a:rPr sz="2400" spc="40" dirty="0">
                <a:latin typeface="Times New Roman"/>
                <a:cs typeface="Times New Roman"/>
              </a:rPr>
              <a:t>XML allows </a:t>
            </a:r>
            <a:r>
              <a:rPr sz="2400" spc="70" dirty="0">
                <a:latin typeface="Times New Roman"/>
                <a:cs typeface="Times New Roman"/>
              </a:rPr>
              <a:t>developers </a:t>
            </a:r>
            <a:r>
              <a:rPr sz="2400" spc="130" dirty="0">
                <a:latin typeface="Times New Roman"/>
                <a:cs typeface="Times New Roman"/>
              </a:rPr>
              <a:t>to  </a:t>
            </a:r>
            <a:r>
              <a:rPr sz="2400" spc="75" dirty="0">
                <a:latin typeface="Times New Roman"/>
                <a:cs typeface="Times New Roman"/>
              </a:rPr>
              <a:t>develop </a:t>
            </a:r>
            <a:r>
              <a:rPr sz="2400" spc="105" dirty="0">
                <a:latin typeface="Times New Roman"/>
                <a:cs typeface="Times New Roman"/>
              </a:rPr>
              <a:t>their </a:t>
            </a:r>
            <a:r>
              <a:rPr sz="2400" spc="130" dirty="0">
                <a:latin typeface="Times New Roman"/>
                <a:cs typeface="Times New Roman"/>
              </a:rPr>
              <a:t>own </a:t>
            </a:r>
            <a:r>
              <a:rPr sz="2400" spc="70" dirty="0">
                <a:latin typeface="Times New Roman"/>
                <a:cs typeface="Times New Roman"/>
              </a:rPr>
              <a:t>set of </a:t>
            </a:r>
            <a:r>
              <a:rPr sz="2400" spc="45" dirty="0">
                <a:latin typeface="Times New Roman"/>
                <a:cs typeface="Times New Roman"/>
              </a:rPr>
              <a:t>tags</a:t>
            </a:r>
            <a:r>
              <a:rPr sz="2400" spc="-330" dirty="0">
                <a:latin typeface="Times New Roman"/>
                <a:cs typeface="Times New Roman"/>
              </a:rPr>
              <a:t> </a:t>
            </a:r>
            <a:r>
              <a:rPr sz="2400" spc="135" dirty="0">
                <a:latin typeface="Times New Roman"/>
                <a:cs typeface="Times New Roman"/>
              </a:rPr>
              <a:t>and  </a:t>
            </a:r>
            <a:r>
              <a:rPr sz="2400" spc="65" dirty="0">
                <a:latin typeface="Times New Roman"/>
                <a:cs typeface="Times New Roman"/>
              </a:rPr>
              <a:t>makes </a:t>
            </a:r>
            <a:r>
              <a:rPr sz="2400" spc="80" dirty="0">
                <a:latin typeface="Times New Roman"/>
                <a:cs typeface="Times New Roman"/>
              </a:rPr>
              <a:t>it </a:t>
            </a:r>
            <a:r>
              <a:rPr sz="2400" spc="55" dirty="0">
                <a:latin typeface="Times New Roman"/>
                <a:cs typeface="Times New Roman"/>
              </a:rPr>
              <a:t>possible </a:t>
            </a:r>
            <a:r>
              <a:rPr sz="2400" spc="80" dirty="0">
                <a:latin typeface="Times New Roman"/>
                <a:cs typeface="Times New Roman"/>
              </a:rPr>
              <a:t>for </a:t>
            </a:r>
            <a:r>
              <a:rPr sz="2400" spc="125" dirty="0">
                <a:latin typeface="Times New Roman"/>
                <a:cs typeface="Times New Roman"/>
              </a:rPr>
              <a:t>other  </a:t>
            </a:r>
            <a:r>
              <a:rPr sz="2400" spc="70" dirty="0">
                <a:latin typeface="Times New Roman"/>
                <a:cs typeface="Times New Roman"/>
              </a:rPr>
              <a:t>programs </a:t>
            </a:r>
            <a:r>
              <a:rPr sz="2400" spc="130" dirty="0">
                <a:latin typeface="Times New Roman"/>
                <a:cs typeface="Times New Roman"/>
              </a:rPr>
              <a:t>to </a:t>
            </a:r>
            <a:r>
              <a:rPr sz="2400" spc="125" dirty="0">
                <a:latin typeface="Times New Roman"/>
                <a:cs typeface="Times New Roman"/>
              </a:rPr>
              <a:t>understand </a:t>
            </a:r>
            <a:r>
              <a:rPr sz="2400" spc="95" dirty="0">
                <a:latin typeface="Times New Roman"/>
                <a:cs typeface="Times New Roman"/>
              </a:rPr>
              <a:t>these  </a:t>
            </a:r>
            <a:r>
              <a:rPr sz="2400" spc="30" dirty="0">
                <a:latin typeface="Times New Roman"/>
                <a:cs typeface="Times New Roman"/>
              </a:rPr>
              <a:t>tags.</a:t>
            </a:r>
            <a:endParaRPr sz="2400">
              <a:latin typeface="Times New Roman"/>
              <a:cs typeface="Times New Roman"/>
            </a:endParaRPr>
          </a:p>
          <a:p>
            <a:pPr marL="353695" marR="6350" indent="-341630" algn="just">
              <a:lnSpc>
                <a:spcPct val="100000"/>
              </a:lnSpc>
              <a:buSzPct val="83333"/>
              <a:buFont typeface="Segoe UI Symbol"/>
              <a:buChar char="⮚"/>
              <a:tabLst>
                <a:tab pos="354330" algn="l"/>
              </a:tabLst>
            </a:pPr>
            <a:r>
              <a:rPr sz="2400" spc="40" dirty="0">
                <a:latin typeface="Times New Roman"/>
                <a:cs typeface="Times New Roman"/>
              </a:rPr>
              <a:t>XML </a:t>
            </a:r>
            <a:r>
              <a:rPr sz="2400" spc="10" dirty="0">
                <a:latin typeface="Times New Roman"/>
                <a:cs typeface="Times New Roman"/>
              </a:rPr>
              <a:t>is </a:t>
            </a:r>
            <a:r>
              <a:rPr sz="2400" spc="135" dirty="0">
                <a:latin typeface="Times New Roman"/>
                <a:cs typeface="Times New Roman"/>
              </a:rPr>
              <a:t>the </a:t>
            </a:r>
            <a:r>
              <a:rPr sz="2400" spc="80" dirty="0">
                <a:latin typeface="Times New Roman"/>
                <a:cs typeface="Times New Roman"/>
              </a:rPr>
              <a:t>preferred </a:t>
            </a:r>
            <a:r>
              <a:rPr sz="2400" spc="85" dirty="0">
                <a:latin typeface="Times New Roman"/>
                <a:cs typeface="Times New Roman"/>
              </a:rPr>
              <a:t>means </a:t>
            </a:r>
            <a:r>
              <a:rPr sz="2400" spc="80" dirty="0">
                <a:latin typeface="Times New Roman"/>
                <a:cs typeface="Times New Roman"/>
              </a:rPr>
              <a:t>for  </a:t>
            </a:r>
            <a:r>
              <a:rPr sz="2400" spc="70" dirty="0">
                <a:latin typeface="Times New Roman"/>
                <a:cs typeface="Times New Roman"/>
              </a:rPr>
              <a:t>developers </a:t>
            </a:r>
            <a:r>
              <a:rPr sz="2400" spc="130" dirty="0">
                <a:latin typeface="Times New Roman"/>
                <a:cs typeface="Times New Roman"/>
              </a:rPr>
              <a:t>to </a:t>
            </a:r>
            <a:r>
              <a:rPr sz="2400" spc="70" dirty="0">
                <a:latin typeface="Times New Roman"/>
                <a:cs typeface="Times New Roman"/>
              </a:rPr>
              <a:t>store, </a:t>
            </a:r>
            <a:r>
              <a:rPr sz="2400" spc="75" dirty="0">
                <a:latin typeface="Times New Roman"/>
                <a:cs typeface="Times New Roman"/>
              </a:rPr>
              <a:t>format, </a:t>
            </a:r>
            <a:r>
              <a:rPr sz="2400" spc="130" dirty="0">
                <a:latin typeface="Times New Roman"/>
                <a:cs typeface="Times New Roman"/>
              </a:rPr>
              <a:t>and  </a:t>
            </a:r>
            <a:r>
              <a:rPr sz="2400" spc="70" dirty="0">
                <a:latin typeface="Times New Roman"/>
                <a:cs typeface="Times New Roman"/>
              </a:rPr>
              <a:t>manage</a:t>
            </a:r>
            <a:r>
              <a:rPr sz="2400" spc="-85" dirty="0">
                <a:latin typeface="Times New Roman"/>
                <a:cs typeface="Times New Roman"/>
              </a:rPr>
              <a:t> </a:t>
            </a:r>
            <a:r>
              <a:rPr sz="2400" spc="95" dirty="0">
                <a:latin typeface="Times New Roman"/>
                <a:cs typeface="Times New Roman"/>
              </a:rPr>
              <a:t>data</a:t>
            </a:r>
            <a:r>
              <a:rPr sz="2400" spc="-80" dirty="0">
                <a:latin typeface="Times New Roman"/>
                <a:cs typeface="Times New Roman"/>
              </a:rPr>
              <a:t> </a:t>
            </a:r>
            <a:r>
              <a:rPr sz="2400" spc="165" dirty="0">
                <a:latin typeface="Times New Roman"/>
                <a:cs typeface="Times New Roman"/>
              </a:rPr>
              <a:t>on</a:t>
            </a:r>
            <a:r>
              <a:rPr sz="2400" spc="-100" dirty="0">
                <a:latin typeface="Times New Roman"/>
                <a:cs typeface="Times New Roman"/>
              </a:rPr>
              <a:t> </a:t>
            </a:r>
            <a:r>
              <a:rPr sz="2400" spc="135" dirty="0">
                <a:latin typeface="Times New Roman"/>
                <a:cs typeface="Times New Roman"/>
              </a:rPr>
              <a:t>the</a:t>
            </a:r>
            <a:r>
              <a:rPr sz="2400" spc="-95" dirty="0">
                <a:latin typeface="Times New Roman"/>
                <a:cs typeface="Times New Roman"/>
              </a:rPr>
              <a:t> </a:t>
            </a:r>
            <a:r>
              <a:rPr sz="2400" spc="140" dirty="0">
                <a:latin typeface="Times New Roman"/>
                <a:cs typeface="Times New Roman"/>
              </a:rPr>
              <a:t>Web.</a:t>
            </a:r>
            <a:endParaRPr sz="2400">
              <a:latin typeface="Times New Roman"/>
              <a:cs typeface="Times New Roman"/>
            </a:endParaRPr>
          </a:p>
        </p:txBody>
      </p:sp>
      <p:pic>
        <p:nvPicPr>
          <p:cNvPr id="4" name="object 4"/>
          <p:cNvPicPr/>
          <p:nvPr/>
        </p:nvPicPr>
        <p:blipFill>
          <a:blip r:embed="rId3" cstate="print"/>
          <a:stretch>
            <a:fillRect/>
          </a:stretch>
        </p:blipFill>
        <p:spPr>
          <a:xfrm>
            <a:off x="5157978" y="2320289"/>
            <a:ext cx="3862578" cy="1658112"/>
          </a:xfrm>
          <a:prstGeom prst="rect">
            <a:avLst/>
          </a:prstGeom>
        </p:spPr>
      </p:pic>
      <p:sp>
        <p:nvSpPr>
          <p:cNvPr id="6" name="object 6"/>
          <p:cNvSpPr txBox="1"/>
          <p:nvPr/>
        </p:nvSpPr>
        <p:spPr>
          <a:xfrm>
            <a:off x="7910321" y="6569709"/>
            <a:ext cx="83121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20" baseline="4629" dirty="0">
                <a:latin typeface="Times New Roman"/>
                <a:cs typeface="Times New Roman"/>
              </a:rPr>
              <a:t>8/</a:t>
            </a:r>
            <a:r>
              <a:rPr sz="1800" spc="-270" baseline="4629" dirty="0">
                <a:latin typeface="Times New Roman"/>
                <a:cs typeface="Times New Roman"/>
              </a:rPr>
              <a:t> </a:t>
            </a:r>
            <a:fld id="{81D60167-4931-47E6-BA6A-407CBD079E47}" type="slidenum">
              <a:rPr sz="1200" dirty="0">
                <a:latin typeface="Times New Roman"/>
                <a:cs typeface="Times New Roman"/>
              </a:rPr>
              <a:t>3</a:t>
            </a:fld>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4383"/>
            <a:ext cx="4377055" cy="635635"/>
          </a:xfrm>
          <a:prstGeom prst="rect">
            <a:avLst/>
          </a:prstGeom>
        </p:spPr>
        <p:txBody>
          <a:bodyPr vert="horz" wrap="square" lIns="0" tIns="12700" rIns="0" bIns="0" rtlCol="0">
            <a:spAutoFit/>
          </a:bodyPr>
          <a:lstStyle/>
          <a:p>
            <a:pPr marL="12700">
              <a:lnSpc>
                <a:spcPct val="100000"/>
              </a:lnSpc>
              <a:spcBef>
                <a:spcPts val="100"/>
              </a:spcBef>
            </a:pPr>
            <a:r>
              <a:rPr sz="4000" b="0" spc="165" dirty="0">
                <a:latin typeface="Times New Roman"/>
                <a:cs typeface="Times New Roman"/>
              </a:rPr>
              <a:t>SELECT</a:t>
            </a:r>
            <a:r>
              <a:rPr sz="4000" b="0" spc="-204" dirty="0">
                <a:latin typeface="Times New Roman"/>
                <a:cs typeface="Times New Roman"/>
              </a:rPr>
              <a:t> </a:t>
            </a:r>
            <a:r>
              <a:rPr sz="4000" b="0" spc="190" dirty="0">
                <a:latin typeface="Times New Roman"/>
                <a:cs typeface="Times New Roman"/>
              </a:rPr>
              <a:t>Statement</a:t>
            </a:r>
            <a:endParaRPr sz="4000">
              <a:latin typeface="Times New Roman"/>
              <a:cs typeface="Times New Roman"/>
            </a:endParaRPr>
          </a:p>
        </p:txBody>
      </p:sp>
      <p:sp>
        <p:nvSpPr>
          <p:cNvPr id="3" name="object 3"/>
          <p:cNvSpPr/>
          <p:nvPr/>
        </p:nvSpPr>
        <p:spPr>
          <a:xfrm>
            <a:off x="0" y="900683"/>
            <a:ext cx="8898255" cy="3583304"/>
          </a:xfrm>
          <a:custGeom>
            <a:avLst/>
            <a:gdLst/>
            <a:ahLst/>
            <a:cxnLst/>
            <a:rect l="l" t="t" r="r" b="b"/>
            <a:pathLst>
              <a:path w="8898255" h="3583304">
                <a:moveTo>
                  <a:pt x="8897874" y="597154"/>
                </a:moveTo>
                <a:lnTo>
                  <a:pt x="8895893" y="548182"/>
                </a:lnTo>
                <a:lnTo>
                  <a:pt x="8890051" y="500291"/>
                </a:lnTo>
                <a:lnTo>
                  <a:pt x="8880513" y="453656"/>
                </a:lnTo>
                <a:lnTo>
                  <a:pt x="8867432" y="408406"/>
                </a:lnTo>
                <a:lnTo>
                  <a:pt x="8850947" y="364718"/>
                </a:lnTo>
                <a:lnTo>
                  <a:pt x="8831224" y="322719"/>
                </a:lnTo>
                <a:lnTo>
                  <a:pt x="8808402" y="282600"/>
                </a:lnTo>
                <a:lnTo>
                  <a:pt x="8782660" y="244475"/>
                </a:lnTo>
                <a:lnTo>
                  <a:pt x="8754123" y="208534"/>
                </a:lnTo>
                <a:lnTo>
                  <a:pt x="8722970" y="174904"/>
                </a:lnTo>
                <a:lnTo>
                  <a:pt x="8689340" y="143751"/>
                </a:lnTo>
                <a:lnTo>
                  <a:pt x="8653399" y="115214"/>
                </a:lnTo>
                <a:lnTo>
                  <a:pt x="8615274" y="89471"/>
                </a:lnTo>
                <a:lnTo>
                  <a:pt x="8575154" y="66649"/>
                </a:lnTo>
                <a:lnTo>
                  <a:pt x="8533155" y="46926"/>
                </a:lnTo>
                <a:lnTo>
                  <a:pt x="8489467" y="30441"/>
                </a:lnTo>
                <a:lnTo>
                  <a:pt x="8444217" y="17360"/>
                </a:lnTo>
                <a:lnTo>
                  <a:pt x="8397583" y="7823"/>
                </a:lnTo>
                <a:lnTo>
                  <a:pt x="8349691" y="1981"/>
                </a:lnTo>
                <a:lnTo>
                  <a:pt x="8300720" y="0"/>
                </a:lnTo>
                <a:lnTo>
                  <a:pt x="597166" y="0"/>
                </a:lnTo>
                <a:lnTo>
                  <a:pt x="548182" y="1981"/>
                </a:lnTo>
                <a:lnTo>
                  <a:pt x="500291" y="7823"/>
                </a:lnTo>
                <a:lnTo>
                  <a:pt x="453656" y="17360"/>
                </a:lnTo>
                <a:lnTo>
                  <a:pt x="408406" y="30441"/>
                </a:lnTo>
                <a:lnTo>
                  <a:pt x="364718" y="46926"/>
                </a:lnTo>
                <a:lnTo>
                  <a:pt x="322732" y="66649"/>
                </a:lnTo>
                <a:lnTo>
                  <a:pt x="282600" y="89471"/>
                </a:lnTo>
                <a:lnTo>
                  <a:pt x="244487" y="115214"/>
                </a:lnTo>
                <a:lnTo>
                  <a:pt x="208534" y="143751"/>
                </a:lnTo>
                <a:lnTo>
                  <a:pt x="174904" y="174904"/>
                </a:lnTo>
                <a:lnTo>
                  <a:pt x="143738" y="208534"/>
                </a:lnTo>
                <a:lnTo>
                  <a:pt x="115214" y="244475"/>
                </a:lnTo>
                <a:lnTo>
                  <a:pt x="89458" y="282600"/>
                </a:lnTo>
                <a:lnTo>
                  <a:pt x="66649" y="322719"/>
                </a:lnTo>
                <a:lnTo>
                  <a:pt x="46926" y="364718"/>
                </a:lnTo>
                <a:lnTo>
                  <a:pt x="30441" y="408406"/>
                </a:lnTo>
                <a:lnTo>
                  <a:pt x="17348" y="453656"/>
                </a:lnTo>
                <a:lnTo>
                  <a:pt x="7810" y="500291"/>
                </a:lnTo>
                <a:lnTo>
                  <a:pt x="1968" y="548182"/>
                </a:lnTo>
                <a:lnTo>
                  <a:pt x="0" y="597154"/>
                </a:lnTo>
                <a:lnTo>
                  <a:pt x="0" y="2985770"/>
                </a:lnTo>
                <a:lnTo>
                  <a:pt x="1968" y="3034754"/>
                </a:lnTo>
                <a:lnTo>
                  <a:pt x="7810" y="3082645"/>
                </a:lnTo>
                <a:lnTo>
                  <a:pt x="17348" y="3129280"/>
                </a:lnTo>
                <a:lnTo>
                  <a:pt x="30441" y="3174530"/>
                </a:lnTo>
                <a:lnTo>
                  <a:pt x="46926" y="3218218"/>
                </a:lnTo>
                <a:lnTo>
                  <a:pt x="66649" y="3260217"/>
                </a:lnTo>
                <a:lnTo>
                  <a:pt x="89458" y="3300336"/>
                </a:lnTo>
                <a:lnTo>
                  <a:pt x="115214" y="3338461"/>
                </a:lnTo>
                <a:lnTo>
                  <a:pt x="143738" y="3374402"/>
                </a:lnTo>
                <a:lnTo>
                  <a:pt x="174904" y="3408032"/>
                </a:lnTo>
                <a:lnTo>
                  <a:pt x="208534" y="3439185"/>
                </a:lnTo>
                <a:lnTo>
                  <a:pt x="244475" y="3467722"/>
                </a:lnTo>
                <a:lnTo>
                  <a:pt x="282600" y="3493465"/>
                </a:lnTo>
                <a:lnTo>
                  <a:pt x="322732" y="3516287"/>
                </a:lnTo>
                <a:lnTo>
                  <a:pt x="364718" y="3536010"/>
                </a:lnTo>
                <a:lnTo>
                  <a:pt x="408406" y="3552494"/>
                </a:lnTo>
                <a:lnTo>
                  <a:pt x="453656" y="3565575"/>
                </a:lnTo>
                <a:lnTo>
                  <a:pt x="500291" y="3575113"/>
                </a:lnTo>
                <a:lnTo>
                  <a:pt x="548182" y="3580955"/>
                </a:lnTo>
                <a:lnTo>
                  <a:pt x="597166" y="3582924"/>
                </a:lnTo>
                <a:lnTo>
                  <a:pt x="8300720" y="3582924"/>
                </a:lnTo>
                <a:lnTo>
                  <a:pt x="8349691" y="3580955"/>
                </a:lnTo>
                <a:lnTo>
                  <a:pt x="8397583" y="3575113"/>
                </a:lnTo>
                <a:lnTo>
                  <a:pt x="8444217" y="3565575"/>
                </a:lnTo>
                <a:lnTo>
                  <a:pt x="8489467" y="3552494"/>
                </a:lnTo>
                <a:lnTo>
                  <a:pt x="8533155" y="3536010"/>
                </a:lnTo>
                <a:lnTo>
                  <a:pt x="8575154" y="3516287"/>
                </a:lnTo>
                <a:lnTo>
                  <a:pt x="8615274" y="3493465"/>
                </a:lnTo>
                <a:lnTo>
                  <a:pt x="8653399" y="3467722"/>
                </a:lnTo>
                <a:lnTo>
                  <a:pt x="8689340" y="3439185"/>
                </a:lnTo>
                <a:lnTo>
                  <a:pt x="8722970" y="3408032"/>
                </a:lnTo>
                <a:lnTo>
                  <a:pt x="8754123" y="3374402"/>
                </a:lnTo>
                <a:lnTo>
                  <a:pt x="8782660" y="3338461"/>
                </a:lnTo>
                <a:lnTo>
                  <a:pt x="8808402" y="3300336"/>
                </a:lnTo>
                <a:lnTo>
                  <a:pt x="8831224" y="3260217"/>
                </a:lnTo>
                <a:lnTo>
                  <a:pt x="8850947" y="3218218"/>
                </a:lnTo>
                <a:lnTo>
                  <a:pt x="8867432" y="3174530"/>
                </a:lnTo>
                <a:lnTo>
                  <a:pt x="8880513" y="3129280"/>
                </a:lnTo>
                <a:lnTo>
                  <a:pt x="8890051" y="3082645"/>
                </a:lnTo>
                <a:lnTo>
                  <a:pt x="8895893" y="3034754"/>
                </a:lnTo>
                <a:lnTo>
                  <a:pt x="8897874" y="2985770"/>
                </a:lnTo>
                <a:lnTo>
                  <a:pt x="8897874" y="597154"/>
                </a:lnTo>
                <a:close/>
              </a:path>
            </a:pathLst>
          </a:custGeom>
          <a:solidFill>
            <a:srgbClr val="C0504D"/>
          </a:solidFill>
        </p:spPr>
        <p:txBody>
          <a:bodyPr wrap="square" lIns="0" tIns="0" rIns="0" bIns="0" rtlCol="0"/>
          <a:lstStyle/>
          <a:p>
            <a:endParaRPr/>
          </a:p>
        </p:txBody>
      </p:sp>
      <p:sp>
        <p:nvSpPr>
          <p:cNvPr id="4" name="object 4"/>
          <p:cNvSpPr txBox="1"/>
          <p:nvPr/>
        </p:nvSpPr>
        <p:spPr>
          <a:xfrm>
            <a:off x="368300" y="1355597"/>
            <a:ext cx="8256905" cy="2543175"/>
          </a:xfrm>
          <a:prstGeom prst="rect">
            <a:avLst/>
          </a:prstGeom>
        </p:spPr>
        <p:txBody>
          <a:bodyPr vert="horz" wrap="square" lIns="0" tIns="12700" rIns="0" bIns="0" rtlCol="0">
            <a:spAutoFit/>
          </a:bodyPr>
          <a:lstStyle/>
          <a:p>
            <a:pPr marL="12700">
              <a:lnSpc>
                <a:spcPct val="100000"/>
              </a:lnSpc>
              <a:spcBef>
                <a:spcPts val="100"/>
              </a:spcBef>
            </a:pPr>
            <a:r>
              <a:rPr sz="2400" spc="100" dirty="0">
                <a:solidFill>
                  <a:srgbClr val="FFFFFF"/>
                </a:solidFill>
                <a:latin typeface="Times New Roman"/>
                <a:cs typeface="Times New Roman"/>
              </a:rPr>
              <a:t>Data</a:t>
            </a:r>
            <a:r>
              <a:rPr sz="2400" spc="-80"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9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85" dirty="0">
                <a:solidFill>
                  <a:srgbClr val="FFFFFF"/>
                </a:solidFill>
                <a:latin typeface="Times New Roman"/>
                <a:cs typeface="Times New Roman"/>
              </a:rPr>
              <a:t> </a:t>
            </a:r>
            <a:r>
              <a:rPr sz="2400" spc="70" dirty="0">
                <a:solidFill>
                  <a:srgbClr val="FFFFFF"/>
                </a:solidFill>
                <a:latin typeface="Times New Roman"/>
                <a:cs typeface="Times New Roman"/>
              </a:rPr>
              <a:t>table</a:t>
            </a:r>
            <a:r>
              <a:rPr sz="2400" spc="-80" dirty="0">
                <a:solidFill>
                  <a:srgbClr val="FFFFFF"/>
                </a:solidFill>
                <a:latin typeface="Times New Roman"/>
                <a:cs typeface="Times New Roman"/>
              </a:rPr>
              <a:t> </a:t>
            </a:r>
            <a:r>
              <a:rPr sz="2400" spc="90" dirty="0">
                <a:solidFill>
                  <a:srgbClr val="FFFFFF"/>
                </a:solidFill>
                <a:latin typeface="Times New Roman"/>
                <a:cs typeface="Times New Roman"/>
              </a:rPr>
              <a:t>can</a:t>
            </a:r>
            <a:r>
              <a:rPr sz="2400" spc="-95" dirty="0">
                <a:solidFill>
                  <a:srgbClr val="FFFFFF"/>
                </a:solidFill>
                <a:latin typeface="Times New Roman"/>
                <a:cs typeface="Times New Roman"/>
              </a:rPr>
              <a:t> </a:t>
            </a:r>
            <a:r>
              <a:rPr sz="2400" spc="80" dirty="0">
                <a:solidFill>
                  <a:srgbClr val="FFFFFF"/>
                </a:solidFill>
                <a:latin typeface="Times New Roman"/>
                <a:cs typeface="Times New Roman"/>
              </a:rPr>
              <a:t>be</a:t>
            </a:r>
            <a:r>
              <a:rPr sz="2400" spc="-95" dirty="0">
                <a:solidFill>
                  <a:srgbClr val="FFFFFF"/>
                </a:solidFill>
                <a:latin typeface="Times New Roman"/>
                <a:cs typeface="Times New Roman"/>
              </a:rPr>
              <a:t> </a:t>
            </a:r>
            <a:r>
              <a:rPr sz="2400" spc="65" dirty="0">
                <a:solidFill>
                  <a:srgbClr val="FFFFFF"/>
                </a:solidFill>
                <a:latin typeface="Times New Roman"/>
                <a:cs typeface="Times New Roman"/>
              </a:rPr>
              <a:t>viewed</a:t>
            </a:r>
            <a:r>
              <a:rPr sz="2400" spc="-105" dirty="0">
                <a:solidFill>
                  <a:srgbClr val="FFFFFF"/>
                </a:solidFill>
                <a:latin typeface="Times New Roman"/>
                <a:cs typeface="Times New Roman"/>
              </a:rPr>
              <a:t> </a:t>
            </a:r>
            <a:r>
              <a:rPr sz="2400" spc="75" dirty="0">
                <a:solidFill>
                  <a:srgbClr val="FFFFFF"/>
                </a:solidFill>
                <a:latin typeface="Times New Roman"/>
                <a:cs typeface="Times New Roman"/>
              </a:rPr>
              <a:t>using</a:t>
            </a:r>
            <a:r>
              <a:rPr sz="2400" spc="-85" dirty="0">
                <a:solidFill>
                  <a:srgbClr val="FFFFFF"/>
                </a:solidFill>
                <a:latin typeface="Times New Roman"/>
                <a:cs typeface="Times New Roman"/>
              </a:rPr>
              <a:t> </a:t>
            </a:r>
            <a:r>
              <a:rPr sz="2400" spc="100" dirty="0">
                <a:solidFill>
                  <a:srgbClr val="FFFFFF"/>
                </a:solidFill>
                <a:latin typeface="Times New Roman"/>
                <a:cs typeface="Times New Roman"/>
              </a:rPr>
              <a:t>SELECT</a:t>
            </a:r>
            <a:r>
              <a:rPr sz="2400" spc="-90" dirty="0">
                <a:solidFill>
                  <a:srgbClr val="FFFFFF"/>
                </a:solidFill>
                <a:latin typeface="Times New Roman"/>
                <a:cs typeface="Times New Roman"/>
              </a:rPr>
              <a:t> </a:t>
            </a:r>
            <a:r>
              <a:rPr sz="2400" spc="105" dirty="0">
                <a:solidFill>
                  <a:srgbClr val="FFFFFF"/>
                </a:solidFill>
                <a:latin typeface="Times New Roman"/>
                <a:cs typeface="Times New Roman"/>
              </a:rPr>
              <a:t>statement</a:t>
            </a:r>
            <a:endParaRPr sz="2400">
              <a:latin typeface="Times New Roman"/>
              <a:cs typeface="Times New Roman"/>
            </a:endParaRPr>
          </a:p>
          <a:p>
            <a:pPr marL="12700">
              <a:lnSpc>
                <a:spcPts val="2820"/>
              </a:lnSpc>
              <a:spcBef>
                <a:spcPts val="2300"/>
              </a:spcBef>
            </a:pPr>
            <a:r>
              <a:rPr sz="2400" spc="110" dirty="0">
                <a:solidFill>
                  <a:srgbClr val="FFFFFF"/>
                </a:solidFill>
                <a:latin typeface="Times New Roman"/>
                <a:cs typeface="Times New Roman"/>
              </a:rPr>
              <a:t>This</a:t>
            </a:r>
            <a:r>
              <a:rPr sz="2400" spc="-90" dirty="0">
                <a:solidFill>
                  <a:srgbClr val="FFFFFF"/>
                </a:solidFill>
                <a:latin typeface="Times New Roman"/>
                <a:cs typeface="Times New Roman"/>
              </a:rPr>
              <a:t> </a:t>
            </a:r>
            <a:r>
              <a:rPr sz="2400" spc="90" dirty="0">
                <a:solidFill>
                  <a:srgbClr val="FFFFFF"/>
                </a:solidFill>
                <a:latin typeface="Times New Roman"/>
                <a:cs typeface="Times New Roman"/>
              </a:rPr>
              <a:t>statement:</a:t>
            </a:r>
            <a:endParaRPr sz="2400">
              <a:latin typeface="Times New Roman"/>
              <a:cs typeface="Times New Roman"/>
            </a:endParaRPr>
          </a:p>
          <a:p>
            <a:pPr marL="298450" indent="-285750">
              <a:lnSpc>
                <a:spcPts val="1989"/>
              </a:lnSpc>
              <a:buFont typeface="Wingdings"/>
              <a:buChar char=""/>
              <a:tabLst>
                <a:tab pos="298450" algn="l"/>
              </a:tabLst>
            </a:pPr>
            <a:r>
              <a:rPr sz="1800" spc="35" dirty="0">
                <a:solidFill>
                  <a:srgbClr val="FFFFFF"/>
                </a:solidFill>
                <a:latin typeface="Times New Roman"/>
                <a:cs typeface="Times New Roman"/>
              </a:rPr>
              <a:t>Displays</a:t>
            </a:r>
            <a:r>
              <a:rPr sz="1800" spc="-65" dirty="0">
                <a:solidFill>
                  <a:srgbClr val="FFFFFF"/>
                </a:solidFill>
                <a:latin typeface="Times New Roman"/>
                <a:cs typeface="Times New Roman"/>
              </a:rPr>
              <a:t> </a:t>
            </a:r>
            <a:r>
              <a:rPr sz="1800" spc="75" dirty="0">
                <a:solidFill>
                  <a:srgbClr val="FFFFFF"/>
                </a:solidFill>
                <a:latin typeface="Times New Roman"/>
                <a:cs typeface="Times New Roman"/>
              </a:rPr>
              <a:t>required</a:t>
            </a:r>
            <a:r>
              <a:rPr sz="1800" spc="-70" dirty="0">
                <a:solidFill>
                  <a:srgbClr val="FFFFFF"/>
                </a:solidFill>
                <a:latin typeface="Times New Roman"/>
                <a:cs typeface="Times New Roman"/>
              </a:rPr>
              <a:t> </a:t>
            </a:r>
            <a:r>
              <a:rPr sz="1800" spc="75" dirty="0">
                <a:solidFill>
                  <a:srgbClr val="FFFFFF"/>
                </a:solidFill>
                <a:latin typeface="Times New Roman"/>
                <a:cs typeface="Times New Roman"/>
              </a:rPr>
              <a:t>information</a:t>
            </a:r>
            <a:r>
              <a:rPr sz="1800" spc="-75"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table</a:t>
            </a:r>
            <a:endParaRPr sz="1800">
              <a:latin typeface="Times New Roman"/>
              <a:cs typeface="Times New Roman"/>
            </a:endParaRPr>
          </a:p>
          <a:p>
            <a:pPr marL="298450" indent="-285750">
              <a:lnSpc>
                <a:spcPts val="1945"/>
              </a:lnSpc>
              <a:buFont typeface="Wingdings"/>
              <a:buChar char=""/>
              <a:tabLst>
                <a:tab pos="298450" algn="l"/>
              </a:tabLst>
            </a:pPr>
            <a:r>
              <a:rPr sz="1800" spc="50" dirty="0">
                <a:solidFill>
                  <a:srgbClr val="FFFFFF"/>
                </a:solidFill>
                <a:latin typeface="Times New Roman"/>
                <a:cs typeface="Times New Roman"/>
              </a:rPr>
              <a:t>Retrieves</a:t>
            </a:r>
            <a:r>
              <a:rPr sz="1800" spc="-80" dirty="0">
                <a:solidFill>
                  <a:srgbClr val="FFFFFF"/>
                </a:solidFill>
                <a:latin typeface="Times New Roman"/>
                <a:cs typeface="Times New Roman"/>
              </a:rPr>
              <a:t> </a:t>
            </a:r>
            <a:r>
              <a:rPr sz="1800" spc="50" dirty="0">
                <a:solidFill>
                  <a:srgbClr val="FFFFFF"/>
                </a:solidFill>
                <a:latin typeface="Times New Roman"/>
                <a:cs typeface="Times New Roman"/>
              </a:rPr>
              <a:t>rows</a:t>
            </a:r>
            <a:r>
              <a:rPr sz="1800" spc="-55" dirty="0">
                <a:solidFill>
                  <a:srgbClr val="FFFFFF"/>
                </a:solidFill>
                <a:latin typeface="Times New Roman"/>
                <a:cs typeface="Times New Roman"/>
              </a:rPr>
              <a:t> </a:t>
            </a:r>
            <a:r>
              <a:rPr sz="1800" spc="100" dirty="0">
                <a:solidFill>
                  <a:srgbClr val="FFFFFF"/>
                </a:solidFill>
                <a:latin typeface="Times New Roman"/>
                <a:cs typeface="Times New Roman"/>
              </a:rPr>
              <a:t>and</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columns</a:t>
            </a:r>
            <a:r>
              <a:rPr sz="1800" spc="-60" dirty="0">
                <a:solidFill>
                  <a:srgbClr val="FFFFFF"/>
                </a:solidFill>
                <a:latin typeface="Times New Roman"/>
                <a:cs typeface="Times New Roman"/>
              </a:rPr>
              <a:t> </a:t>
            </a:r>
            <a:r>
              <a:rPr sz="1800" spc="65" dirty="0">
                <a:solidFill>
                  <a:srgbClr val="FFFFFF"/>
                </a:solidFill>
                <a:latin typeface="Times New Roman"/>
                <a:cs typeface="Times New Roman"/>
              </a:rPr>
              <a:t>from</a:t>
            </a:r>
            <a:r>
              <a:rPr sz="1800" spc="-60" dirty="0">
                <a:solidFill>
                  <a:srgbClr val="FFFFFF"/>
                </a:solidFill>
                <a:latin typeface="Times New Roman"/>
                <a:cs typeface="Times New Roman"/>
              </a:rPr>
              <a:t> </a:t>
            </a:r>
            <a:r>
              <a:rPr sz="1800" spc="95" dirty="0">
                <a:solidFill>
                  <a:srgbClr val="FFFFFF"/>
                </a:solidFill>
                <a:latin typeface="Times New Roman"/>
                <a:cs typeface="Times New Roman"/>
              </a:rPr>
              <a:t>one</a:t>
            </a:r>
            <a:r>
              <a:rPr sz="1800" spc="-70" dirty="0">
                <a:solidFill>
                  <a:srgbClr val="FFFFFF"/>
                </a:solidFill>
                <a:latin typeface="Times New Roman"/>
                <a:cs typeface="Times New Roman"/>
              </a:rPr>
              <a:t> </a:t>
            </a:r>
            <a:r>
              <a:rPr sz="1800" spc="75" dirty="0">
                <a:solidFill>
                  <a:srgbClr val="FFFFFF"/>
                </a:solidFill>
                <a:latin typeface="Times New Roman"/>
                <a:cs typeface="Times New Roman"/>
              </a:rPr>
              <a:t>or</a:t>
            </a:r>
            <a:r>
              <a:rPr sz="1800" spc="-60" dirty="0">
                <a:solidFill>
                  <a:srgbClr val="FFFFFF"/>
                </a:solidFill>
                <a:latin typeface="Times New Roman"/>
                <a:cs typeface="Times New Roman"/>
              </a:rPr>
              <a:t> </a:t>
            </a:r>
            <a:r>
              <a:rPr sz="1800" spc="70" dirty="0">
                <a:solidFill>
                  <a:srgbClr val="FFFFFF"/>
                </a:solidFill>
                <a:latin typeface="Times New Roman"/>
                <a:cs typeface="Times New Roman"/>
              </a:rPr>
              <a:t>more</a:t>
            </a:r>
            <a:r>
              <a:rPr sz="1800" spc="-65" dirty="0">
                <a:solidFill>
                  <a:srgbClr val="FFFFFF"/>
                </a:solidFill>
                <a:latin typeface="Times New Roman"/>
                <a:cs typeface="Times New Roman"/>
              </a:rPr>
              <a:t> </a:t>
            </a:r>
            <a:r>
              <a:rPr sz="1800" spc="45" dirty="0">
                <a:solidFill>
                  <a:srgbClr val="FFFFFF"/>
                </a:solidFill>
                <a:latin typeface="Times New Roman"/>
                <a:cs typeface="Times New Roman"/>
              </a:rPr>
              <a:t>tables</a:t>
            </a:r>
            <a:endParaRPr sz="1800">
              <a:latin typeface="Times New Roman"/>
              <a:cs typeface="Times New Roman"/>
            </a:endParaRPr>
          </a:p>
          <a:p>
            <a:pPr marL="298450" indent="-285750">
              <a:lnSpc>
                <a:spcPts val="1945"/>
              </a:lnSpc>
              <a:buFont typeface="Wingdings"/>
              <a:buChar char=""/>
              <a:tabLst>
                <a:tab pos="298450" algn="l"/>
              </a:tabLst>
            </a:pPr>
            <a:r>
              <a:rPr sz="1800" spc="55" dirty="0">
                <a:solidFill>
                  <a:srgbClr val="FFFFFF"/>
                </a:solidFill>
                <a:latin typeface="Times New Roman"/>
                <a:cs typeface="Times New Roman"/>
              </a:rPr>
              <a:t>Defines</a:t>
            </a:r>
            <a:r>
              <a:rPr sz="1800" spc="-65" dirty="0">
                <a:solidFill>
                  <a:srgbClr val="FFFFFF"/>
                </a:solidFill>
                <a:latin typeface="Times New Roman"/>
                <a:cs typeface="Times New Roman"/>
              </a:rPr>
              <a:t> </a:t>
            </a:r>
            <a:r>
              <a:rPr sz="1800" spc="70" dirty="0">
                <a:solidFill>
                  <a:srgbClr val="FFFFFF"/>
                </a:solidFill>
                <a:latin typeface="Times New Roman"/>
                <a:cs typeface="Times New Roman"/>
              </a:rPr>
              <a:t>columns</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65" dirty="0">
                <a:solidFill>
                  <a:srgbClr val="FFFFFF"/>
                </a:solidFill>
                <a:latin typeface="Times New Roman"/>
                <a:cs typeface="Times New Roman"/>
              </a:rPr>
              <a:t> </a:t>
            </a:r>
            <a:r>
              <a:rPr sz="1800" spc="55" dirty="0">
                <a:solidFill>
                  <a:srgbClr val="FFFFFF"/>
                </a:solidFill>
                <a:latin typeface="Times New Roman"/>
                <a:cs typeface="Times New Roman"/>
              </a:rPr>
              <a:t>be</a:t>
            </a:r>
            <a:r>
              <a:rPr sz="1800" spc="-65" dirty="0">
                <a:solidFill>
                  <a:srgbClr val="FFFFFF"/>
                </a:solidFill>
                <a:latin typeface="Times New Roman"/>
                <a:cs typeface="Times New Roman"/>
              </a:rPr>
              <a:t> </a:t>
            </a:r>
            <a:r>
              <a:rPr sz="1800" spc="75" dirty="0">
                <a:solidFill>
                  <a:srgbClr val="FFFFFF"/>
                </a:solidFill>
                <a:latin typeface="Times New Roman"/>
                <a:cs typeface="Times New Roman"/>
              </a:rPr>
              <a:t>used</a:t>
            </a:r>
            <a:r>
              <a:rPr sz="1800" spc="-65" dirty="0">
                <a:solidFill>
                  <a:srgbClr val="FFFFFF"/>
                </a:solidFill>
                <a:latin typeface="Times New Roman"/>
                <a:cs typeface="Times New Roman"/>
              </a:rPr>
              <a:t> </a:t>
            </a:r>
            <a:r>
              <a:rPr sz="1800" spc="60" dirty="0">
                <a:solidFill>
                  <a:srgbClr val="FFFFFF"/>
                </a:solidFill>
                <a:latin typeface="Times New Roman"/>
                <a:cs typeface="Times New Roman"/>
              </a:rPr>
              <a:t>for</a:t>
            </a:r>
            <a:r>
              <a:rPr sz="1800" spc="-5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query</a:t>
            </a:r>
            <a:endParaRPr sz="1800">
              <a:latin typeface="Times New Roman"/>
              <a:cs typeface="Times New Roman"/>
            </a:endParaRPr>
          </a:p>
          <a:p>
            <a:pPr marL="298450" indent="-285750">
              <a:lnSpc>
                <a:spcPts val="1945"/>
              </a:lnSpc>
              <a:buFont typeface="Wingdings"/>
              <a:buChar char=""/>
              <a:tabLst>
                <a:tab pos="298450" algn="l"/>
              </a:tabLst>
            </a:pPr>
            <a:r>
              <a:rPr sz="1800" spc="80" dirty="0">
                <a:solidFill>
                  <a:srgbClr val="FFFFFF"/>
                </a:solidFill>
                <a:latin typeface="Times New Roman"/>
                <a:cs typeface="Times New Roman"/>
              </a:rPr>
              <a:t>Consists</a:t>
            </a:r>
            <a:r>
              <a:rPr sz="1800" spc="-5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60"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30" dirty="0">
                <a:solidFill>
                  <a:srgbClr val="FFFFFF"/>
                </a:solidFill>
                <a:latin typeface="Times New Roman"/>
                <a:cs typeface="Times New Roman"/>
              </a:rPr>
              <a:t>series</a:t>
            </a:r>
            <a:r>
              <a:rPr sz="1800" spc="-5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5" dirty="0">
                <a:solidFill>
                  <a:srgbClr val="FFFFFF"/>
                </a:solidFill>
                <a:latin typeface="Times New Roman"/>
                <a:cs typeface="Times New Roman"/>
              </a:rPr>
              <a:t> </a:t>
            </a:r>
            <a:r>
              <a:rPr sz="1800" spc="55" dirty="0">
                <a:solidFill>
                  <a:srgbClr val="FFFFFF"/>
                </a:solidFill>
                <a:latin typeface="Times New Roman"/>
                <a:cs typeface="Times New Roman"/>
              </a:rPr>
              <a:t>expressions</a:t>
            </a:r>
            <a:r>
              <a:rPr sz="1800" spc="-55" dirty="0">
                <a:solidFill>
                  <a:srgbClr val="FFFFFF"/>
                </a:solidFill>
                <a:latin typeface="Times New Roman"/>
                <a:cs typeface="Times New Roman"/>
              </a:rPr>
              <a:t> </a:t>
            </a:r>
            <a:r>
              <a:rPr sz="1800" spc="60" dirty="0">
                <a:solidFill>
                  <a:srgbClr val="FFFFFF"/>
                </a:solidFill>
                <a:latin typeface="Times New Roman"/>
                <a:cs typeface="Times New Roman"/>
              </a:rPr>
              <a:t>separated</a:t>
            </a:r>
            <a:r>
              <a:rPr sz="1800" spc="-65" dirty="0">
                <a:solidFill>
                  <a:srgbClr val="FFFFFF"/>
                </a:solidFill>
                <a:latin typeface="Times New Roman"/>
                <a:cs typeface="Times New Roman"/>
              </a:rPr>
              <a:t> </a:t>
            </a:r>
            <a:r>
              <a:rPr sz="1800" spc="35" dirty="0">
                <a:solidFill>
                  <a:srgbClr val="FFFFFF"/>
                </a:solidFill>
                <a:latin typeface="Times New Roman"/>
                <a:cs typeface="Times New Roman"/>
              </a:rPr>
              <a:t>by</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commas</a:t>
            </a:r>
            <a:endParaRPr sz="1800">
              <a:latin typeface="Times New Roman"/>
              <a:cs typeface="Times New Roman"/>
            </a:endParaRPr>
          </a:p>
          <a:p>
            <a:pPr marL="298450" indent="-285750">
              <a:lnSpc>
                <a:spcPts val="1945"/>
              </a:lnSpc>
              <a:buFont typeface="Wingdings"/>
              <a:buChar char=""/>
              <a:tabLst>
                <a:tab pos="298450" algn="l"/>
              </a:tabLst>
            </a:pPr>
            <a:r>
              <a:rPr sz="1800" spc="45" dirty="0">
                <a:solidFill>
                  <a:srgbClr val="FFFFFF"/>
                </a:solidFill>
                <a:latin typeface="Times New Roman"/>
                <a:cs typeface="Times New Roman"/>
              </a:rPr>
              <a:t>Retrieves </a:t>
            </a:r>
            <a:r>
              <a:rPr sz="1800" spc="50" dirty="0">
                <a:solidFill>
                  <a:srgbClr val="FFFFFF"/>
                </a:solidFill>
                <a:latin typeface="Times New Roman"/>
                <a:cs typeface="Times New Roman"/>
              </a:rPr>
              <a:t>rows </a:t>
            </a:r>
            <a:r>
              <a:rPr sz="1800" spc="65" dirty="0">
                <a:solidFill>
                  <a:srgbClr val="FFFFFF"/>
                </a:solidFill>
                <a:latin typeface="Times New Roman"/>
                <a:cs typeface="Times New Roman"/>
              </a:rPr>
              <a:t>from </a:t>
            </a:r>
            <a:r>
              <a:rPr sz="1800" spc="55" dirty="0">
                <a:solidFill>
                  <a:srgbClr val="FFFFFF"/>
                </a:solidFill>
                <a:latin typeface="Times New Roman"/>
                <a:cs typeface="Times New Roman"/>
              </a:rPr>
              <a:t>database </a:t>
            </a:r>
            <a:r>
              <a:rPr sz="1800" spc="100" dirty="0">
                <a:solidFill>
                  <a:srgbClr val="FFFFFF"/>
                </a:solidFill>
                <a:latin typeface="Times New Roman"/>
                <a:cs typeface="Times New Roman"/>
              </a:rPr>
              <a:t>and </a:t>
            </a:r>
            <a:r>
              <a:rPr sz="1800" spc="50" dirty="0">
                <a:solidFill>
                  <a:srgbClr val="FFFFFF"/>
                </a:solidFill>
                <a:latin typeface="Times New Roman"/>
                <a:cs typeface="Times New Roman"/>
              </a:rPr>
              <a:t>enables selection </a:t>
            </a:r>
            <a:r>
              <a:rPr sz="1800" spc="55" dirty="0">
                <a:solidFill>
                  <a:srgbClr val="FFFFFF"/>
                </a:solidFill>
                <a:latin typeface="Times New Roman"/>
                <a:cs typeface="Times New Roman"/>
              </a:rPr>
              <a:t>of </a:t>
            </a:r>
            <a:r>
              <a:rPr sz="1800" spc="95" dirty="0">
                <a:solidFill>
                  <a:srgbClr val="FFFFFF"/>
                </a:solidFill>
                <a:latin typeface="Times New Roman"/>
                <a:cs typeface="Times New Roman"/>
              </a:rPr>
              <a:t>one </a:t>
            </a:r>
            <a:r>
              <a:rPr sz="1800" spc="75" dirty="0">
                <a:solidFill>
                  <a:srgbClr val="FFFFFF"/>
                </a:solidFill>
                <a:latin typeface="Times New Roman"/>
                <a:cs typeface="Times New Roman"/>
              </a:rPr>
              <a:t>or </a:t>
            </a:r>
            <a:r>
              <a:rPr sz="1800" spc="65" dirty="0">
                <a:solidFill>
                  <a:srgbClr val="FFFFFF"/>
                </a:solidFill>
                <a:latin typeface="Times New Roman"/>
                <a:cs typeface="Times New Roman"/>
              </a:rPr>
              <a:t>many</a:t>
            </a:r>
            <a:r>
              <a:rPr sz="1800" spc="235" dirty="0">
                <a:solidFill>
                  <a:srgbClr val="FFFFFF"/>
                </a:solidFill>
                <a:latin typeface="Times New Roman"/>
                <a:cs typeface="Times New Roman"/>
              </a:rPr>
              <a:t> </a:t>
            </a:r>
            <a:r>
              <a:rPr sz="1800" spc="50" dirty="0">
                <a:solidFill>
                  <a:srgbClr val="FFFFFF"/>
                </a:solidFill>
                <a:latin typeface="Times New Roman"/>
                <a:cs typeface="Times New Roman"/>
              </a:rPr>
              <a:t>rows </a:t>
            </a:r>
            <a:r>
              <a:rPr sz="1800" spc="85" dirty="0">
                <a:solidFill>
                  <a:srgbClr val="FFFFFF"/>
                </a:solidFill>
                <a:latin typeface="Times New Roman"/>
                <a:cs typeface="Times New Roman"/>
              </a:rPr>
              <a:t>or</a:t>
            </a:r>
            <a:endParaRPr sz="1800">
              <a:latin typeface="Times New Roman"/>
              <a:cs typeface="Times New Roman"/>
            </a:endParaRPr>
          </a:p>
          <a:p>
            <a:pPr marL="298450">
              <a:lnSpc>
                <a:spcPts val="2050"/>
              </a:lnSpc>
            </a:pPr>
            <a:r>
              <a:rPr sz="1800" spc="70" dirty="0">
                <a:solidFill>
                  <a:srgbClr val="FFFFFF"/>
                </a:solidFill>
                <a:latin typeface="Times New Roman"/>
                <a:cs typeface="Times New Roman"/>
              </a:rPr>
              <a:t>columns</a:t>
            </a:r>
            <a:endParaRPr sz="1800">
              <a:latin typeface="Times New Roman"/>
              <a:cs typeface="Times New Roman"/>
            </a:endParaRPr>
          </a:p>
        </p:txBody>
      </p:sp>
      <p:sp>
        <p:nvSpPr>
          <p:cNvPr id="5" name="object 5"/>
          <p:cNvSpPr txBox="1"/>
          <p:nvPr/>
        </p:nvSpPr>
        <p:spPr>
          <a:xfrm>
            <a:off x="473201" y="4872735"/>
            <a:ext cx="851535" cy="330200"/>
          </a:xfrm>
          <a:prstGeom prst="rect">
            <a:avLst/>
          </a:prstGeom>
        </p:spPr>
        <p:txBody>
          <a:bodyPr vert="horz" wrap="square" lIns="0" tIns="12065" rIns="0" bIns="0" rtlCol="0">
            <a:spAutoFit/>
          </a:bodyPr>
          <a:lstStyle/>
          <a:p>
            <a:pPr marL="12700">
              <a:lnSpc>
                <a:spcPct val="100000"/>
              </a:lnSpc>
              <a:spcBef>
                <a:spcPts val="95"/>
              </a:spcBef>
            </a:pPr>
            <a:r>
              <a:rPr sz="2000" b="1" spc="-160" dirty="0">
                <a:latin typeface="Arial"/>
                <a:cs typeface="Arial"/>
              </a:rPr>
              <a:t>S</a:t>
            </a:r>
            <a:r>
              <a:rPr sz="2000" b="1" spc="-135" dirty="0">
                <a:latin typeface="Arial"/>
                <a:cs typeface="Arial"/>
              </a:rPr>
              <a:t>y</a:t>
            </a:r>
            <a:r>
              <a:rPr sz="2000" b="1" spc="-65" dirty="0">
                <a:latin typeface="Arial"/>
                <a:cs typeface="Arial"/>
              </a:rPr>
              <a:t>n</a:t>
            </a:r>
            <a:r>
              <a:rPr sz="2000" b="1" spc="-70" dirty="0">
                <a:latin typeface="Arial"/>
                <a:cs typeface="Arial"/>
              </a:rPr>
              <a:t>t</a:t>
            </a:r>
            <a:r>
              <a:rPr sz="2000" b="1" spc="-130" dirty="0">
                <a:latin typeface="Arial"/>
                <a:cs typeface="Arial"/>
              </a:rPr>
              <a:t>a</a:t>
            </a:r>
            <a:r>
              <a:rPr sz="2000" b="1" spc="-40" dirty="0">
                <a:latin typeface="Arial"/>
                <a:cs typeface="Arial"/>
              </a:rPr>
              <a:t>x</a:t>
            </a:r>
            <a:r>
              <a:rPr sz="2000" b="1" spc="-150" dirty="0">
                <a:latin typeface="Arial"/>
                <a:cs typeface="Arial"/>
              </a:rPr>
              <a:t>:</a:t>
            </a:r>
            <a:endParaRPr sz="2000">
              <a:latin typeface="Arial"/>
              <a:cs typeface="Arial"/>
            </a:endParaRPr>
          </a:p>
        </p:txBody>
      </p:sp>
      <p:pic>
        <p:nvPicPr>
          <p:cNvPr id="6" name="object 6"/>
          <p:cNvPicPr/>
          <p:nvPr/>
        </p:nvPicPr>
        <p:blipFill>
          <a:blip r:embed="rId3" cstate="print"/>
          <a:stretch>
            <a:fillRect/>
          </a:stretch>
        </p:blipFill>
        <p:spPr>
          <a:xfrm>
            <a:off x="811530" y="5507735"/>
            <a:ext cx="7285482" cy="589787"/>
          </a:xfrm>
          <a:prstGeom prst="rect">
            <a:avLst/>
          </a:prstGeom>
        </p:spPr>
      </p:pic>
      <p:sp>
        <p:nvSpPr>
          <p:cNvPr id="8" name="object 8"/>
          <p:cNvSpPr txBox="1"/>
          <p:nvPr/>
        </p:nvSpPr>
        <p:spPr>
          <a:xfrm>
            <a:off x="7910321" y="6569709"/>
            <a:ext cx="83121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20" baseline="4629" dirty="0">
                <a:latin typeface="Times New Roman"/>
                <a:cs typeface="Times New Roman"/>
              </a:rPr>
              <a:t>8/</a:t>
            </a:r>
            <a:r>
              <a:rPr sz="1800" spc="-270" baseline="4629" dirty="0">
                <a:latin typeface="Times New Roman"/>
                <a:cs typeface="Times New Roman"/>
              </a:rPr>
              <a:t> </a:t>
            </a:r>
            <a:fld id="{81D60167-4931-47E6-BA6A-407CBD079E47}" type="slidenum">
              <a:rPr sz="1200" dirty="0">
                <a:latin typeface="Times New Roman"/>
                <a:cs typeface="Times New Roman"/>
              </a:rPr>
              <a:t>4</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586" y="0"/>
            <a:ext cx="5701030" cy="635635"/>
          </a:xfrm>
          <a:prstGeom prst="rect">
            <a:avLst/>
          </a:prstGeom>
        </p:spPr>
        <p:txBody>
          <a:bodyPr vert="horz" wrap="square" lIns="0" tIns="12700" rIns="0" bIns="0" rtlCol="0">
            <a:spAutoFit/>
          </a:bodyPr>
          <a:lstStyle/>
          <a:p>
            <a:pPr marL="12700">
              <a:lnSpc>
                <a:spcPct val="100000"/>
              </a:lnSpc>
              <a:spcBef>
                <a:spcPts val="100"/>
              </a:spcBef>
            </a:pPr>
            <a:r>
              <a:rPr sz="4000" b="0" spc="165" dirty="0">
                <a:latin typeface="Times New Roman"/>
                <a:cs typeface="Times New Roman"/>
              </a:rPr>
              <a:t>SELECT </a:t>
            </a:r>
            <a:r>
              <a:rPr sz="4000" b="0" spc="290" dirty="0">
                <a:latin typeface="Times New Roman"/>
                <a:cs typeface="Times New Roman"/>
              </a:rPr>
              <a:t>Without</a:t>
            </a:r>
            <a:r>
              <a:rPr sz="4000" b="0" spc="-555" dirty="0">
                <a:latin typeface="Times New Roman"/>
                <a:cs typeface="Times New Roman"/>
              </a:rPr>
              <a:t> </a:t>
            </a:r>
            <a:r>
              <a:rPr sz="4000" b="0" spc="210" dirty="0">
                <a:latin typeface="Times New Roman"/>
                <a:cs typeface="Times New Roman"/>
              </a:rPr>
              <a:t>FROM</a:t>
            </a:r>
            <a:endParaRPr sz="4000">
              <a:latin typeface="Times New Roman"/>
              <a:cs typeface="Times New Roman"/>
            </a:endParaRPr>
          </a:p>
        </p:txBody>
      </p:sp>
      <p:sp>
        <p:nvSpPr>
          <p:cNvPr id="3" name="object 3"/>
          <p:cNvSpPr/>
          <p:nvPr/>
        </p:nvSpPr>
        <p:spPr>
          <a:xfrm>
            <a:off x="219456" y="933449"/>
            <a:ext cx="8540750" cy="1545590"/>
          </a:xfrm>
          <a:custGeom>
            <a:avLst/>
            <a:gdLst/>
            <a:ahLst/>
            <a:cxnLst/>
            <a:rect l="l" t="t" r="r" b="b"/>
            <a:pathLst>
              <a:path w="8540750" h="1545589">
                <a:moveTo>
                  <a:pt x="8540496" y="257556"/>
                </a:moveTo>
                <a:lnTo>
                  <a:pt x="8536343" y="211264"/>
                </a:lnTo>
                <a:lnTo>
                  <a:pt x="8524380" y="167690"/>
                </a:lnTo>
                <a:lnTo>
                  <a:pt x="8505330" y="127571"/>
                </a:lnTo>
                <a:lnTo>
                  <a:pt x="8479917" y="91617"/>
                </a:lnTo>
                <a:lnTo>
                  <a:pt x="8448878" y="60579"/>
                </a:lnTo>
                <a:lnTo>
                  <a:pt x="8412924" y="35166"/>
                </a:lnTo>
                <a:lnTo>
                  <a:pt x="8372805" y="16116"/>
                </a:lnTo>
                <a:lnTo>
                  <a:pt x="8329231" y="4152"/>
                </a:lnTo>
                <a:lnTo>
                  <a:pt x="8282940" y="0"/>
                </a:lnTo>
                <a:lnTo>
                  <a:pt x="257556" y="0"/>
                </a:lnTo>
                <a:lnTo>
                  <a:pt x="211251" y="4152"/>
                </a:lnTo>
                <a:lnTo>
                  <a:pt x="167678" y="16116"/>
                </a:lnTo>
                <a:lnTo>
                  <a:pt x="127558" y="35166"/>
                </a:lnTo>
                <a:lnTo>
                  <a:pt x="91605" y="60579"/>
                </a:lnTo>
                <a:lnTo>
                  <a:pt x="60566" y="91617"/>
                </a:lnTo>
                <a:lnTo>
                  <a:pt x="35153" y="127571"/>
                </a:lnTo>
                <a:lnTo>
                  <a:pt x="16103" y="167690"/>
                </a:lnTo>
                <a:lnTo>
                  <a:pt x="4140" y="211264"/>
                </a:lnTo>
                <a:lnTo>
                  <a:pt x="0" y="257556"/>
                </a:lnTo>
                <a:lnTo>
                  <a:pt x="0" y="1287780"/>
                </a:lnTo>
                <a:lnTo>
                  <a:pt x="4140" y="1334084"/>
                </a:lnTo>
                <a:lnTo>
                  <a:pt x="16103" y="1377657"/>
                </a:lnTo>
                <a:lnTo>
                  <a:pt x="35153" y="1417777"/>
                </a:lnTo>
                <a:lnTo>
                  <a:pt x="60566" y="1453730"/>
                </a:lnTo>
                <a:lnTo>
                  <a:pt x="91605" y="1484769"/>
                </a:lnTo>
                <a:lnTo>
                  <a:pt x="127558" y="1510182"/>
                </a:lnTo>
                <a:lnTo>
                  <a:pt x="167678" y="1529232"/>
                </a:lnTo>
                <a:lnTo>
                  <a:pt x="211251" y="1541195"/>
                </a:lnTo>
                <a:lnTo>
                  <a:pt x="257556" y="1545336"/>
                </a:lnTo>
                <a:lnTo>
                  <a:pt x="8282940" y="1545336"/>
                </a:lnTo>
                <a:lnTo>
                  <a:pt x="8329231" y="1541195"/>
                </a:lnTo>
                <a:lnTo>
                  <a:pt x="8372805" y="1529232"/>
                </a:lnTo>
                <a:lnTo>
                  <a:pt x="8412924" y="1510182"/>
                </a:lnTo>
                <a:lnTo>
                  <a:pt x="8448878" y="1484769"/>
                </a:lnTo>
                <a:lnTo>
                  <a:pt x="8479917" y="1453730"/>
                </a:lnTo>
                <a:lnTo>
                  <a:pt x="8505330" y="1417777"/>
                </a:lnTo>
                <a:lnTo>
                  <a:pt x="8524380" y="1377657"/>
                </a:lnTo>
                <a:lnTo>
                  <a:pt x="8536343" y="1334084"/>
                </a:lnTo>
                <a:lnTo>
                  <a:pt x="8540496" y="1287780"/>
                </a:lnTo>
                <a:lnTo>
                  <a:pt x="8540496" y="257556"/>
                </a:lnTo>
                <a:close/>
              </a:path>
            </a:pathLst>
          </a:custGeom>
          <a:solidFill>
            <a:srgbClr val="9BBA58"/>
          </a:solidFill>
        </p:spPr>
        <p:txBody>
          <a:bodyPr wrap="square" lIns="0" tIns="0" rIns="0" bIns="0" rtlCol="0"/>
          <a:lstStyle/>
          <a:p>
            <a:endParaRPr/>
          </a:p>
        </p:txBody>
      </p:sp>
      <p:sp>
        <p:nvSpPr>
          <p:cNvPr id="4" name="object 4"/>
          <p:cNvSpPr/>
          <p:nvPr/>
        </p:nvSpPr>
        <p:spPr>
          <a:xfrm>
            <a:off x="338328" y="2560319"/>
            <a:ext cx="8467725" cy="942340"/>
          </a:xfrm>
          <a:custGeom>
            <a:avLst/>
            <a:gdLst/>
            <a:ahLst/>
            <a:cxnLst/>
            <a:rect l="l" t="t" r="r" b="b"/>
            <a:pathLst>
              <a:path w="8467725" h="942339">
                <a:moveTo>
                  <a:pt x="8467344" y="156972"/>
                </a:moveTo>
                <a:lnTo>
                  <a:pt x="8459343" y="107340"/>
                </a:lnTo>
                <a:lnTo>
                  <a:pt x="8437067" y="64249"/>
                </a:lnTo>
                <a:lnTo>
                  <a:pt x="8403095" y="30276"/>
                </a:lnTo>
                <a:lnTo>
                  <a:pt x="8360003" y="8001"/>
                </a:lnTo>
                <a:lnTo>
                  <a:pt x="8310372" y="0"/>
                </a:lnTo>
                <a:lnTo>
                  <a:pt x="156972" y="0"/>
                </a:lnTo>
                <a:lnTo>
                  <a:pt x="107353" y="8001"/>
                </a:lnTo>
                <a:lnTo>
                  <a:pt x="64262" y="30276"/>
                </a:lnTo>
                <a:lnTo>
                  <a:pt x="30276" y="64249"/>
                </a:lnTo>
                <a:lnTo>
                  <a:pt x="8001" y="107340"/>
                </a:lnTo>
                <a:lnTo>
                  <a:pt x="0" y="156972"/>
                </a:lnTo>
                <a:lnTo>
                  <a:pt x="0" y="784860"/>
                </a:lnTo>
                <a:lnTo>
                  <a:pt x="8001" y="834504"/>
                </a:lnTo>
                <a:lnTo>
                  <a:pt x="30276" y="877595"/>
                </a:lnTo>
                <a:lnTo>
                  <a:pt x="64262" y="911567"/>
                </a:lnTo>
                <a:lnTo>
                  <a:pt x="107353" y="933843"/>
                </a:lnTo>
                <a:lnTo>
                  <a:pt x="156972" y="941832"/>
                </a:lnTo>
                <a:lnTo>
                  <a:pt x="8310372" y="941832"/>
                </a:lnTo>
                <a:lnTo>
                  <a:pt x="8360003" y="933843"/>
                </a:lnTo>
                <a:lnTo>
                  <a:pt x="8403095" y="911567"/>
                </a:lnTo>
                <a:lnTo>
                  <a:pt x="8437067" y="877595"/>
                </a:lnTo>
                <a:lnTo>
                  <a:pt x="8459343" y="834504"/>
                </a:lnTo>
                <a:lnTo>
                  <a:pt x="8467344" y="784860"/>
                </a:lnTo>
                <a:lnTo>
                  <a:pt x="8467344" y="156972"/>
                </a:lnTo>
                <a:close/>
              </a:path>
            </a:pathLst>
          </a:custGeom>
          <a:solidFill>
            <a:srgbClr val="4F81BC"/>
          </a:solidFill>
        </p:spPr>
        <p:txBody>
          <a:bodyPr wrap="square" lIns="0" tIns="0" rIns="0" bIns="0" rtlCol="0"/>
          <a:lstStyle/>
          <a:p>
            <a:endParaRPr/>
          </a:p>
        </p:txBody>
      </p:sp>
      <p:sp>
        <p:nvSpPr>
          <p:cNvPr id="5" name="object 5"/>
          <p:cNvSpPr txBox="1"/>
          <p:nvPr/>
        </p:nvSpPr>
        <p:spPr>
          <a:xfrm>
            <a:off x="355345" y="988314"/>
            <a:ext cx="8313420" cy="2287270"/>
          </a:xfrm>
          <a:prstGeom prst="rect">
            <a:avLst/>
          </a:prstGeom>
        </p:spPr>
        <p:txBody>
          <a:bodyPr vert="horz" wrap="square" lIns="0" tIns="48895" rIns="0" bIns="0" rtlCol="0">
            <a:spAutoFit/>
          </a:bodyPr>
          <a:lstStyle/>
          <a:p>
            <a:pPr marL="354965" marR="49530" indent="-342900" algn="just">
              <a:lnSpc>
                <a:spcPct val="90000"/>
              </a:lnSpc>
              <a:spcBef>
                <a:spcPts val="385"/>
              </a:spcBef>
              <a:buClr>
                <a:srgbClr val="FFFFFF"/>
              </a:buClr>
              <a:buFont typeface="Wingdings"/>
              <a:buChar char=""/>
              <a:tabLst>
                <a:tab pos="420370" algn="l"/>
              </a:tabLst>
            </a:pPr>
            <a:r>
              <a:rPr dirty="0"/>
              <a:t>	</a:t>
            </a:r>
            <a:r>
              <a:rPr sz="2400" spc="80" dirty="0">
                <a:solidFill>
                  <a:srgbClr val="FFFFFF"/>
                </a:solidFill>
                <a:latin typeface="Times New Roman"/>
                <a:cs typeface="Times New Roman"/>
              </a:rPr>
              <a:t>Many</a:t>
            </a:r>
            <a:r>
              <a:rPr sz="2400" spc="-10" dirty="0">
                <a:solidFill>
                  <a:srgbClr val="FFFFFF"/>
                </a:solidFill>
                <a:latin typeface="Times New Roman"/>
                <a:cs typeface="Times New Roman"/>
              </a:rPr>
              <a:t> </a:t>
            </a:r>
            <a:r>
              <a:rPr sz="2400" spc="114" dirty="0">
                <a:solidFill>
                  <a:srgbClr val="FFFFFF"/>
                </a:solidFill>
                <a:latin typeface="Times New Roman"/>
                <a:cs typeface="Times New Roman"/>
              </a:rPr>
              <a:t>SQL</a:t>
            </a:r>
            <a:r>
              <a:rPr sz="2400" spc="-10" dirty="0">
                <a:solidFill>
                  <a:srgbClr val="FFFFFF"/>
                </a:solidFill>
                <a:latin typeface="Times New Roman"/>
                <a:cs typeface="Times New Roman"/>
              </a:rPr>
              <a:t> </a:t>
            </a:r>
            <a:r>
              <a:rPr sz="2400" spc="70" dirty="0">
                <a:solidFill>
                  <a:srgbClr val="FFFFFF"/>
                </a:solidFill>
                <a:latin typeface="Times New Roman"/>
                <a:cs typeface="Times New Roman"/>
              </a:rPr>
              <a:t>versions</a:t>
            </a:r>
            <a:r>
              <a:rPr sz="2400" spc="-10" dirty="0">
                <a:solidFill>
                  <a:srgbClr val="FFFFFF"/>
                </a:solidFill>
                <a:latin typeface="Times New Roman"/>
                <a:cs typeface="Times New Roman"/>
              </a:rPr>
              <a:t> </a:t>
            </a:r>
            <a:r>
              <a:rPr sz="2400" spc="80" dirty="0">
                <a:solidFill>
                  <a:srgbClr val="FFFFFF"/>
                </a:solidFill>
                <a:latin typeface="Times New Roman"/>
                <a:cs typeface="Times New Roman"/>
              </a:rPr>
              <a:t>use</a:t>
            </a:r>
            <a:r>
              <a:rPr sz="2400" spc="-15" dirty="0">
                <a:solidFill>
                  <a:srgbClr val="FFFFFF"/>
                </a:solidFill>
                <a:latin typeface="Times New Roman"/>
                <a:cs typeface="Times New Roman"/>
              </a:rPr>
              <a:t> </a:t>
            </a:r>
            <a:r>
              <a:rPr sz="2400" spc="125" dirty="0">
                <a:solidFill>
                  <a:srgbClr val="FFFFFF"/>
                </a:solidFill>
                <a:latin typeface="Times New Roman"/>
                <a:cs typeface="Times New Roman"/>
              </a:rPr>
              <a:t>FROM</a:t>
            </a:r>
            <a:r>
              <a:rPr sz="2400" spc="-10"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10" dirty="0">
                <a:solidFill>
                  <a:srgbClr val="FFFFFF"/>
                </a:solidFill>
                <a:latin typeface="Times New Roman"/>
                <a:cs typeface="Times New Roman"/>
              </a:rPr>
              <a:t> </a:t>
            </a:r>
            <a:r>
              <a:rPr sz="2400" spc="105" dirty="0">
                <a:solidFill>
                  <a:srgbClr val="FFFFFF"/>
                </a:solidFill>
                <a:latin typeface="Times New Roman"/>
                <a:cs typeface="Times New Roman"/>
              </a:rPr>
              <a:t>their</a:t>
            </a:r>
            <a:r>
              <a:rPr sz="2400" spc="-5" dirty="0">
                <a:solidFill>
                  <a:srgbClr val="FFFFFF"/>
                </a:solidFill>
                <a:latin typeface="Times New Roman"/>
                <a:cs typeface="Times New Roman"/>
              </a:rPr>
              <a:t> </a:t>
            </a:r>
            <a:r>
              <a:rPr sz="2400" spc="75" dirty="0">
                <a:solidFill>
                  <a:srgbClr val="FFFFFF"/>
                </a:solidFill>
                <a:latin typeface="Times New Roman"/>
                <a:cs typeface="Times New Roman"/>
              </a:rPr>
              <a:t>query,</a:t>
            </a:r>
            <a:r>
              <a:rPr sz="2400" spc="-5" dirty="0">
                <a:solidFill>
                  <a:srgbClr val="FFFFFF"/>
                </a:solidFill>
                <a:latin typeface="Times New Roman"/>
                <a:cs typeface="Times New Roman"/>
              </a:rPr>
              <a:t> </a:t>
            </a:r>
            <a:r>
              <a:rPr sz="2400" spc="145" dirty="0">
                <a:solidFill>
                  <a:srgbClr val="FFFFFF"/>
                </a:solidFill>
                <a:latin typeface="Times New Roman"/>
                <a:cs typeface="Times New Roman"/>
              </a:rPr>
              <a:t>but</a:t>
            </a:r>
            <a:r>
              <a:rPr sz="2400" spc="5"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5" dirty="0">
                <a:solidFill>
                  <a:srgbClr val="FFFFFF"/>
                </a:solidFill>
                <a:latin typeface="Times New Roman"/>
                <a:cs typeface="Times New Roman"/>
              </a:rPr>
              <a:t> </a:t>
            </a:r>
            <a:r>
              <a:rPr sz="2400" spc="15" dirty="0">
                <a:solidFill>
                  <a:srgbClr val="FFFFFF"/>
                </a:solidFill>
                <a:latin typeface="Times New Roman"/>
                <a:cs typeface="Times New Roman"/>
              </a:rPr>
              <a:t>all</a:t>
            </a:r>
            <a:r>
              <a:rPr sz="2400" spc="5" dirty="0">
                <a:solidFill>
                  <a:srgbClr val="FFFFFF"/>
                </a:solidFill>
                <a:latin typeface="Times New Roman"/>
                <a:cs typeface="Times New Roman"/>
              </a:rPr>
              <a:t> </a:t>
            </a:r>
            <a:r>
              <a:rPr sz="2400" spc="135" dirty="0">
                <a:solidFill>
                  <a:srgbClr val="FFFFFF"/>
                </a:solidFill>
                <a:latin typeface="Times New Roman"/>
                <a:cs typeface="Times New Roman"/>
              </a:rPr>
              <a:t>the  </a:t>
            </a:r>
            <a:r>
              <a:rPr sz="2400" spc="65" dirty="0">
                <a:solidFill>
                  <a:srgbClr val="FFFFFF"/>
                </a:solidFill>
                <a:latin typeface="Times New Roman"/>
                <a:cs typeface="Times New Roman"/>
              </a:rPr>
              <a:t>versions </a:t>
            </a:r>
            <a:r>
              <a:rPr sz="2400" spc="85" dirty="0">
                <a:solidFill>
                  <a:srgbClr val="FFFFFF"/>
                </a:solidFill>
                <a:latin typeface="Times New Roman"/>
                <a:cs typeface="Times New Roman"/>
              </a:rPr>
              <a:t>from </a:t>
            </a:r>
            <a:r>
              <a:rPr sz="2400" spc="120" dirty="0">
                <a:solidFill>
                  <a:srgbClr val="FFFFFF"/>
                </a:solidFill>
                <a:latin typeface="Times New Roman"/>
                <a:cs typeface="Times New Roman"/>
              </a:rPr>
              <a:t>SQL </a:t>
            </a:r>
            <a:r>
              <a:rPr sz="2400" spc="70" dirty="0">
                <a:solidFill>
                  <a:srgbClr val="FFFFFF"/>
                </a:solidFill>
                <a:latin typeface="Times New Roman"/>
                <a:cs typeface="Times New Roman"/>
              </a:rPr>
              <a:t>Server </a:t>
            </a:r>
            <a:r>
              <a:rPr sz="2400" spc="-65" dirty="0">
                <a:solidFill>
                  <a:srgbClr val="FFFFFF"/>
                </a:solidFill>
                <a:latin typeface="Times New Roman"/>
                <a:cs typeface="Times New Roman"/>
              </a:rPr>
              <a:t>2005, </a:t>
            </a:r>
            <a:r>
              <a:rPr sz="2400" spc="90" dirty="0">
                <a:solidFill>
                  <a:srgbClr val="FFFFFF"/>
                </a:solidFill>
                <a:latin typeface="Times New Roman"/>
                <a:cs typeface="Times New Roman"/>
              </a:rPr>
              <a:t>including </a:t>
            </a:r>
            <a:r>
              <a:rPr sz="2400" spc="120" dirty="0">
                <a:solidFill>
                  <a:srgbClr val="FFFFFF"/>
                </a:solidFill>
                <a:latin typeface="Times New Roman"/>
                <a:cs typeface="Times New Roman"/>
              </a:rPr>
              <a:t>SQL </a:t>
            </a:r>
            <a:r>
              <a:rPr sz="2400" spc="70" dirty="0">
                <a:solidFill>
                  <a:srgbClr val="FFFFFF"/>
                </a:solidFill>
                <a:latin typeface="Times New Roman"/>
                <a:cs typeface="Times New Roman"/>
              </a:rPr>
              <a:t>Server </a:t>
            </a:r>
            <a:r>
              <a:rPr sz="2400" spc="-85" dirty="0">
                <a:solidFill>
                  <a:srgbClr val="FFFFFF"/>
                </a:solidFill>
                <a:latin typeface="Times New Roman"/>
                <a:cs typeface="Times New Roman"/>
              </a:rPr>
              <a:t>2019,  </a:t>
            </a:r>
            <a:r>
              <a:rPr sz="2400" spc="125" dirty="0">
                <a:solidFill>
                  <a:srgbClr val="FFFFFF"/>
                </a:solidFill>
                <a:latin typeface="Times New Roman"/>
                <a:cs typeface="Times New Roman"/>
              </a:rPr>
              <a:t>one </a:t>
            </a:r>
            <a:r>
              <a:rPr sz="2400" spc="90" dirty="0">
                <a:solidFill>
                  <a:srgbClr val="FFFFFF"/>
                </a:solidFill>
                <a:latin typeface="Times New Roman"/>
                <a:cs typeface="Times New Roman"/>
              </a:rPr>
              <a:t>can </a:t>
            </a:r>
            <a:r>
              <a:rPr sz="2400" spc="80" dirty="0">
                <a:solidFill>
                  <a:srgbClr val="FFFFFF"/>
                </a:solidFill>
                <a:latin typeface="Times New Roman"/>
                <a:cs typeface="Times New Roman"/>
              </a:rPr>
              <a:t>use </a:t>
            </a:r>
            <a:r>
              <a:rPr sz="2400" spc="95" dirty="0">
                <a:solidFill>
                  <a:srgbClr val="FFFFFF"/>
                </a:solidFill>
                <a:latin typeface="Times New Roman"/>
                <a:cs typeface="Times New Roman"/>
              </a:rPr>
              <a:t>SELECT statements </a:t>
            </a:r>
            <a:r>
              <a:rPr sz="2400" spc="125" dirty="0">
                <a:solidFill>
                  <a:srgbClr val="FFFFFF"/>
                </a:solidFill>
                <a:latin typeface="Times New Roman"/>
                <a:cs typeface="Times New Roman"/>
              </a:rPr>
              <a:t>without </a:t>
            </a:r>
            <a:r>
              <a:rPr sz="2400" spc="80" dirty="0">
                <a:solidFill>
                  <a:srgbClr val="FFFFFF"/>
                </a:solidFill>
                <a:latin typeface="Times New Roman"/>
                <a:cs typeface="Times New Roman"/>
              </a:rPr>
              <a:t>using </a:t>
            </a:r>
            <a:r>
              <a:rPr sz="2400" spc="135" dirty="0">
                <a:solidFill>
                  <a:srgbClr val="FFFFFF"/>
                </a:solidFill>
                <a:latin typeface="Times New Roman"/>
                <a:cs typeface="Times New Roman"/>
              </a:rPr>
              <a:t>the </a:t>
            </a:r>
            <a:r>
              <a:rPr sz="2400" spc="120" dirty="0">
                <a:solidFill>
                  <a:srgbClr val="FFFFFF"/>
                </a:solidFill>
                <a:latin typeface="Times New Roman"/>
                <a:cs typeface="Times New Roman"/>
              </a:rPr>
              <a:t>FROM  </a:t>
            </a:r>
            <a:r>
              <a:rPr sz="2400" spc="40" dirty="0">
                <a:solidFill>
                  <a:srgbClr val="FFFFFF"/>
                </a:solidFill>
                <a:latin typeface="Times New Roman"/>
                <a:cs typeface="Times New Roman"/>
              </a:rPr>
              <a:t>clause.</a:t>
            </a:r>
            <a:endParaRPr sz="2400">
              <a:latin typeface="Times New Roman"/>
              <a:cs typeface="Times New Roman"/>
            </a:endParaRPr>
          </a:p>
          <a:p>
            <a:pPr marL="473709" marR="5080" lvl="1" indent="-342900" algn="just">
              <a:lnSpc>
                <a:spcPts val="2160"/>
              </a:lnSpc>
              <a:spcBef>
                <a:spcPts val="2865"/>
              </a:spcBef>
              <a:buClr>
                <a:srgbClr val="FFFFFF"/>
              </a:buClr>
              <a:buFont typeface="Wingdings"/>
              <a:buChar char=""/>
              <a:tabLst>
                <a:tab pos="528320" algn="l"/>
              </a:tabLst>
            </a:pPr>
            <a:r>
              <a:rPr dirty="0"/>
              <a:t>	</a:t>
            </a:r>
            <a:r>
              <a:rPr sz="2000" spc="45" dirty="0">
                <a:solidFill>
                  <a:srgbClr val="FFFFFF"/>
                </a:solidFill>
                <a:latin typeface="Times New Roman"/>
                <a:cs typeface="Times New Roman"/>
              </a:rPr>
              <a:t>Following </a:t>
            </a:r>
            <a:r>
              <a:rPr sz="2000" spc="70" dirty="0">
                <a:solidFill>
                  <a:srgbClr val="FFFFFF"/>
                </a:solidFill>
                <a:latin typeface="Times New Roman"/>
                <a:cs typeface="Times New Roman"/>
              </a:rPr>
              <a:t>code </a:t>
            </a:r>
            <a:r>
              <a:rPr sz="2000" spc="15" dirty="0">
                <a:solidFill>
                  <a:srgbClr val="FFFFFF"/>
                </a:solidFill>
                <a:latin typeface="Times New Roman"/>
                <a:cs typeface="Times New Roman"/>
              </a:rPr>
              <a:t>will </a:t>
            </a:r>
            <a:r>
              <a:rPr sz="2000" spc="40" dirty="0">
                <a:solidFill>
                  <a:srgbClr val="FFFFFF"/>
                </a:solidFill>
                <a:latin typeface="Times New Roman"/>
                <a:cs typeface="Times New Roman"/>
              </a:rPr>
              <a:t>display </a:t>
            </a:r>
            <a:r>
              <a:rPr sz="2000" spc="65" dirty="0">
                <a:solidFill>
                  <a:srgbClr val="FFFFFF"/>
                </a:solidFill>
                <a:latin typeface="Times New Roman"/>
                <a:cs typeface="Times New Roman"/>
              </a:rPr>
              <a:t>only </a:t>
            </a:r>
            <a:r>
              <a:rPr sz="2000" spc="50" dirty="0">
                <a:solidFill>
                  <a:srgbClr val="FFFFFF"/>
                </a:solidFill>
                <a:latin typeface="Times New Roman"/>
                <a:cs typeface="Times New Roman"/>
              </a:rPr>
              <a:t>first </a:t>
            </a:r>
            <a:r>
              <a:rPr sz="2000" spc="30" dirty="0">
                <a:solidFill>
                  <a:srgbClr val="FFFFFF"/>
                </a:solidFill>
                <a:latin typeface="Times New Roman"/>
                <a:cs typeface="Times New Roman"/>
              </a:rPr>
              <a:t>five </a:t>
            </a:r>
            <a:r>
              <a:rPr sz="2000" spc="60" dirty="0">
                <a:solidFill>
                  <a:srgbClr val="FFFFFF"/>
                </a:solidFill>
                <a:latin typeface="Times New Roman"/>
                <a:cs typeface="Times New Roman"/>
              </a:rPr>
              <a:t>characters </a:t>
            </a:r>
            <a:r>
              <a:rPr sz="2000" spc="70" dirty="0">
                <a:solidFill>
                  <a:srgbClr val="FFFFFF"/>
                </a:solidFill>
                <a:latin typeface="Times New Roman"/>
                <a:cs typeface="Times New Roman"/>
              </a:rPr>
              <a:t>from </a:t>
            </a:r>
            <a:r>
              <a:rPr sz="2000" spc="75" dirty="0">
                <a:solidFill>
                  <a:srgbClr val="FFFFFF"/>
                </a:solidFill>
                <a:latin typeface="Times New Roman"/>
                <a:cs typeface="Times New Roman"/>
              </a:rPr>
              <a:t>extreme </a:t>
            </a:r>
            <a:r>
              <a:rPr sz="2000" spc="45" dirty="0">
                <a:solidFill>
                  <a:srgbClr val="FFFFFF"/>
                </a:solidFill>
                <a:latin typeface="Times New Roman"/>
                <a:cs typeface="Times New Roman"/>
              </a:rPr>
              <a:t>left  </a:t>
            </a:r>
            <a:r>
              <a:rPr sz="2000" spc="55" dirty="0">
                <a:solidFill>
                  <a:srgbClr val="FFFFFF"/>
                </a:solidFill>
                <a:latin typeface="Times New Roman"/>
                <a:cs typeface="Times New Roman"/>
              </a:rPr>
              <a:t>of </a:t>
            </a:r>
            <a:r>
              <a:rPr sz="2000" spc="110" dirty="0">
                <a:solidFill>
                  <a:srgbClr val="FFFFFF"/>
                </a:solidFill>
                <a:latin typeface="Times New Roman"/>
                <a:cs typeface="Times New Roman"/>
              </a:rPr>
              <a:t>the</a:t>
            </a:r>
            <a:r>
              <a:rPr sz="2000" spc="-345" dirty="0">
                <a:solidFill>
                  <a:srgbClr val="FFFFFF"/>
                </a:solidFill>
                <a:latin typeface="Times New Roman"/>
                <a:cs typeface="Times New Roman"/>
              </a:rPr>
              <a:t> </a:t>
            </a:r>
            <a:r>
              <a:rPr sz="2000" spc="85" dirty="0">
                <a:solidFill>
                  <a:srgbClr val="FFFFFF"/>
                </a:solidFill>
                <a:latin typeface="Times New Roman"/>
                <a:cs typeface="Times New Roman"/>
              </a:rPr>
              <a:t>word 'International'.</a:t>
            </a:r>
            <a:endParaRPr sz="2000">
              <a:latin typeface="Times New Roman"/>
              <a:cs typeface="Times New Roman"/>
            </a:endParaRPr>
          </a:p>
        </p:txBody>
      </p:sp>
      <p:sp>
        <p:nvSpPr>
          <p:cNvPr id="6" name="object 6"/>
          <p:cNvSpPr txBox="1"/>
          <p:nvPr/>
        </p:nvSpPr>
        <p:spPr>
          <a:xfrm>
            <a:off x="489204" y="4293615"/>
            <a:ext cx="2686685" cy="330200"/>
          </a:xfrm>
          <a:prstGeom prst="rect">
            <a:avLst/>
          </a:prstGeom>
        </p:spPr>
        <p:txBody>
          <a:bodyPr vert="horz" wrap="square" lIns="0" tIns="12065" rIns="0" bIns="0" rtlCol="0">
            <a:spAutoFit/>
          </a:bodyPr>
          <a:lstStyle/>
          <a:p>
            <a:pPr marL="12700">
              <a:lnSpc>
                <a:spcPct val="100000"/>
              </a:lnSpc>
              <a:spcBef>
                <a:spcPts val="95"/>
              </a:spcBef>
            </a:pPr>
            <a:r>
              <a:rPr sz="2000" spc="130" dirty="0">
                <a:latin typeface="Times New Roman"/>
                <a:cs typeface="Times New Roman"/>
              </a:rPr>
              <a:t>The</a:t>
            </a:r>
            <a:r>
              <a:rPr sz="2000" spc="-85" dirty="0">
                <a:latin typeface="Times New Roman"/>
                <a:cs typeface="Times New Roman"/>
              </a:rPr>
              <a:t> </a:t>
            </a:r>
            <a:r>
              <a:rPr sz="2000" spc="125" dirty="0">
                <a:latin typeface="Times New Roman"/>
                <a:cs typeface="Times New Roman"/>
              </a:rPr>
              <a:t>output</a:t>
            </a:r>
            <a:r>
              <a:rPr sz="2000" spc="-70" dirty="0">
                <a:latin typeface="Times New Roman"/>
                <a:cs typeface="Times New Roman"/>
              </a:rPr>
              <a:t> </a:t>
            </a:r>
            <a:r>
              <a:rPr sz="2000" spc="5" dirty="0">
                <a:latin typeface="Times New Roman"/>
                <a:cs typeface="Times New Roman"/>
              </a:rPr>
              <a:t>is</a:t>
            </a:r>
            <a:r>
              <a:rPr sz="2000" spc="-80" dirty="0">
                <a:latin typeface="Times New Roman"/>
                <a:cs typeface="Times New Roman"/>
              </a:rPr>
              <a:t> </a:t>
            </a:r>
            <a:r>
              <a:rPr sz="2000" spc="20" dirty="0">
                <a:latin typeface="Times New Roman"/>
                <a:cs typeface="Times New Roman"/>
              </a:rPr>
              <a:t>as</a:t>
            </a:r>
            <a:r>
              <a:rPr sz="2000" spc="-85" dirty="0">
                <a:latin typeface="Times New Roman"/>
                <a:cs typeface="Times New Roman"/>
              </a:rPr>
              <a:t> </a:t>
            </a:r>
            <a:r>
              <a:rPr sz="2000" spc="25" dirty="0">
                <a:latin typeface="Times New Roman"/>
                <a:cs typeface="Times New Roman"/>
              </a:rPr>
              <a:t>follows:</a:t>
            </a:r>
            <a:endParaRPr sz="2000">
              <a:latin typeface="Times New Roman"/>
              <a:cs typeface="Times New Roman"/>
            </a:endParaRPr>
          </a:p>
        </p:txBody>
      </p:sp>
      <p:pic>
        <p:nvPicPr>
          <p:cNvPr id="7" name="object 7"/>
          <p:cNvPicPr/>
          <p:nvPr/>
        </p:nvPicPr>
        <p:blipFill>
          <a:blip r:embed="rId3" cstate="print"/>
          <a:stretch>
            <a:fillRect/>
          </a:stretch>
        </p:blipFill>
        <p:spPr>
          <a:xfrm>
            <a:off x="3300984" y="4732782"/>
            <a:ext cx="3059430" cy="1484376"/>
          </a:xfrm>
          <a:prstGeom prst="rect">
            <a:avLst/>
          </a:prstGeom>
        </p:spPr>
      </p:pic>
      <p:sp>
        <p:nvSpPr>
          <p:cNvPr id="8" name="object 8"/>
          <p:cNvSpPr txBox="1"/>
          <p:nvPr/>
        </p:nvSpPr>
        <p:spPr>
          <a:xfrm>
            <a:off x="2429510" y="6207505"/>
            <a:ext cx="425958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First</a:t>
            </a:r>
            <a:r>
              <a:rPr sz="1400" b="1" spc="-114" dirty="0">
                <a:latin typeface="Arial"/>
                <a:cs typeface="Arial"/>
              </a:rPr>
              <a:t> </a:t>
            </a:r>
            <a:r>
              <a:rPr sz="1400" b="1" spc="-70" dirty="0">
                <a:latin typeface="Arial"/>
                <a:cs typeface="Arial"/>
              </a:rPr>
              <a:t>Five</a:t>
            </a:r>
            <a:r>
              <a:rPr sz="1400" b="1" spc="-114" dirty="0">
                <a:latin typeface="Arial"/>
                <a:cs typeface="Arial"/>
              </a:rPr>
              <a:t> </a:t>
            </a:r>
            <a:r>
              <a:rPr sz="1400" b="1" spc="-85" dirty="0">
                <a:latin typeface="Arial"/>
                <a:cs typeface="Arial"/>
              </a:rPr>
              <a:t>Characters</a:t>
            </a:r>
            <a:r>
              <a:rPr sz="1400" b="1" spc="-120" dirty="0">
                <a:latin typeface="Arial"/>
                <a:cs typeface="Arial"/>
              </a:rPr>
              <a:t> </a:t>
            </a:r>
            <a:r>
              <a:rPr sz="1400" b="1" spc="-50" dirty="0">
                <a:latin typeface="Arial"/>
                <a:cs typeface="Arial"/>
              </a:rPr>
              <a:t>from</a:t>
            </a:r>
            <a:r>
              <a:rPr sz="1400" b="1" spc="-125" dirty="0">
                <a:latin typeface="Arial"/>
                <a:cs typeface="Arial"/>
              </a:rPr>
              <a:t> </a:t>
            </a:r>
            <a:r>
              <a:rPr sz="1400" b="1" spc="-60" dirty="0">
                <a:latin typeface="Arial"/>
                <a:cs typeface="Arial"/>
              </a:rPr>
              <a:t>the</a:t>
            </a:r>
            <a:r>
              <a:rPr sz="1400" b="1" spc="-100" dirty="0">
                <a:latin typeface="Arial"/>
                <a:cs typeface="Arial"/>
              </a:rPr>
              <a:t> </a:t>
            </a:r>
            <a:r>
              <a:rPr sz="1400" b="1" spc="-75" dirty="0">
                <a:latin typeface="Arial"/>
                <a:cs typeface="Arial"/>
              </a:rPr>
              <a:t>Extreme</a:t>
            </a:r>
            <a:r>
              <a:rPr sz="1400" b="1" spc="-114" dirty="0">
                <a:latin typeface="Arial"/>
                <a:cs typeface="Arial"/>
              </a:rPr>
              <a:t> </a:t>
            </a:r>
            <a:r>
              <a:rPr sz="1400" b="1" spc="-35" dirty="0">
                <a:latin typeface="Arial"/>
                <a:cs typeface="Arial"/>
              </a:rPr>
              <a:t>Left</a:t>
            </a:r>
            <a:r>
              <a:rPr sz="1400" b="1" spc="-114" dirty="0">
                <a:latin typeface="Arial"/>
                <a:cs typeface="Arial"/>
              </a:rPr>
              <a:t> </a:t>
            </a:r>
            <a:r>
              <a:rPr sz="1400" b="1" spc="-45" dirty="0">
                <a:latin typeface="Arial"/>
                <a:cs typeface="Arial"/>
              </a:rPr>
              <a:t>of</a:t>
            </a:r>
            <a:r>
              <a:rPr sz="1400" b="1" spc="-100" dirty="0">
                <a:latin typeface="Arial"/>
                <a:cs typeface="Arial"/>
              </a:rPr>
              <a:t> </a:t>
            </a:r>
            <a:r>
              <a:rPr sz="1400" b="1" spc="-60" dirty="0">
                <a:latin typeface="Arial"/>
                <a:cs typeface="Arial"/>
              </a:rPr>
              <a:t>the</a:t>
            </a:r>
            <a:r>
              <a:rPr sz="1400" b="1" spc="-100" dirty="0">
                <a:latin typeface="Arial"/>
                <a:cs typeface="Arial"/>
              </a:rPr>
              <a:t> </a:t>
            </a:r>
            <a:r>
              <a:rPr sz="1400" b="1" dirty="0">
                <a:latin typeface="Arial"/>
                <a:cs typeface="Arial"/>
              </a:rPr>
              <a:t>Word</a:t>
            </a:r>
            <a:endParaRPr sz="1400">
              <a:latin typeface="Arial"/>
              <a:cs typeface="Arial"/>
            </a:endParaRPr>
          </a:p>
        </p:txBody>
      </p:sp>
      <p:sp>
        <p:nvSpPr>
          <p:cNvPr id="11" name="object 11"/>
          <p:cNvSpPr txBox="1"/>
          <p:nvPr/>
        </p:nvSpPr>
        <p:spPr>
          <a:xfrm>
            <a:off x="7910321" y="6569709"/>
            <a:ext cx="83121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20" baseline="4629" dirty="0">
                <a:latin typeface="Times New Roman"/>
                <a:cs typeface="Times New Roman"/>
              </a:rPr>
              <a:t>8/</a:t>
            </a:r>
            <a:r>
              <a:rPr sz="1800" spc="-270" baseline="4629" dirty="0">
                <a:latin typeface="Times New Roman"/>
                <a:cs typeface="Times New Roman"/>
              </a:rPr>
              <a:t> </a:t>
            </a:r>
            <a:fld id="{81D60167-4931-47E6-BA6A-407CBD079E47}" type="slidenum">
              <a:rPr sz="1200" dirty="0">
                <a:latin typeface="Times New Roman"/>
                <a:cs typeface="Times New Roman"/>
              </a:rPr>
              <a:t>5</a:t>
            </a:fld>
            <a:endParaRPr sz="1200">
              <a:latin typeface="Times New Roman"/>
              <a:cs typeface="Times New Roman"/>
            </a:endParaRPr>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9" name="object 9"/>
          <p:cNvSpPr txBox="1"/>
          <p:nvPr/>
        </p:nvSpPr>
        <p:spPr>
          <a:xfrm>
            <a:off x="806195" y="3617976"/>
            <a:ext cx="6882765" cy="369570"/>
          </a:xfrm>
          <a:prstGeom prst="rect">
            <a:avLst/>
          </a:prstGeom>
          <a:solidFill>
            <a:srgbClr val="FFFFC5"/>
          </a:solidFill>
        </p:spPr>
        <p:txBody>
          <a:bodyPr vert="horz" wrap="square" lIns="0" tIns="19685" rIns="0" bIns="0" rtlCol="0">
            <a:spAutoFit/>
          </a:bodyPr>
          <a:lstStyle/>
          <a:p>
            <a:pPr marL="91440">
              <a:lnSpc>
                <a:spcPct val="100000"/>
              </a:lnSpc>
              <a:spcBef>
                <a:spcPts val="155"/>
              </a:spcBef>
            </a:pPr>
            <a:r>
              <a:rPr sz="1800" spc="-10" dirty="0">
                <a:latin typeface="Courier New"/>
                <a:cs typeface="Courier New"/>
              </a:rPr>
              <a:t>SELECT LEFT('International',5)</a:t>
            </a:r>
            <a:endParaRPr sz="1800">
              <a:latin typeface="Courier New"/>
              <a:cs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6601714"/>
            <a:ext cx="892810" cy="208279"/>
          </a:xfrm>
          <a:prstGeom prst="rect">
            <a:avLst/>
          </a:prstGeom>
        </p:spPr>
        <p:txBody>
          <a:bodyPr vert="horz" wrap="square" lIns="0" tIns="12700" rIns="0" bIns="0" rtlCol="0">
            <a:spAutoFit/>
          </a:bodyPr>
          <a:lstStyle/>
          <a:p>
            <a:pPr marL="12700">
              <a:lnSpc>
                <a:spcPct val="100000"/>
              </a:lnSpc>
              <a:spcBef>
                <a:spcPts val="100"/>
              </a:spcBef>
            </a:pPr>
            <a:r>
              <a:rPr sz="1200" spc="70" dirty="0">
                <a:latin typeface="Arial"/>
                <a:cs typeface="Arial"/>
              </a:rPr>
              <a:t>©</a:t>
            </a:r>
            <a:r>
              <a:rPr sz="1200" spc="-180" dirty="0">
                <a:latin typeface="Arial"/>
                <a:cs typeface="Arial"/>
              </a:rPr>
              <a:t> </a:t>
            </a:r>
            <a:r>
              <a:rPr sz="1200" i="1" dirty="0">
                <a:latin typeface="Palatino Linotype"/>
                <a:cs typeface="Palatino Linotype"/>
              </a:rPr>
              <a:t>Aptech </a:t>
            </a:r>
            <a:r>
              <a:rPr sz="1200" i="1" spc="-15" dirty="0">
                <a:latin typeface="Palatino Linotype"/>
                <a:cs typeface="Palatino Linotype"/>
              </a:rPr>
              <a:t>Ltd.</a:t>
            </a:r>
            <a:endParaRPr sz="1200">
              <a:latin typeface="Palatino Linotype"/>
              <a:cs typeface="Palatino Linotype"/>
            </a:endParaRPr>
          </a:p>
        </p:txBody>
      </p:sp>
      <p:sp>
        <p:nvSpPr>
          <p:cNvPr id="3" name="object 3"/>
          <p:cNvSpPr txBox="1"/>
          <p:nvPr/>
        </p:nvSpPr>
        <p:spPr>
          <a:xfrm>
            <a:off x="7910321" y="6575552"/>
            <a:ext cx="804545" cy="208279"/>
          </a:xfrm>
          <a:prstGeom prst="rect">
            <a:avLst/>
          </a:prstGeom>
        </p:spPr>
        <p:txBody>
          <a:bodyPr vert="horz" wrap="square" lIns="0" tIns="12700" rIns="0" bIns="0" rtlCol="0">
            <a:spAutoFit/>
          </a:bodyPr>
          <a:lstStyle/>
          <a:p>
            <a:pPr marL="12700">
              <a:lnSpc>
                <a:spcPct val="100000"/>
              </a:lnSpc>
              <a:spcBef>
                <a:spcPts val="100"/>
              </a:spcBef>
            </a:pPr>
            <a:r>
              <a:rPr sz="1800" spc="52" baseline="4629" dirty="0">
                <a:latin typeface="Times New Roman"/>
                <a:cs typeface="Times New Roman"/>
              </a:rPr>
              <a:t>Session </a:t>
            </a:r>
            <a:r>
              <a:rPr sz="1800" spc="120" baseline="4629" dirty="0">
                <a:latin typeface="Times New Roman"/>
                <a:cs typeface="Times New Roman"/>
              </a:rPr>
              <a:t>8/</a:t>
            </a:r>
            <a:r>
              <a:rPr sz="1800" spc="-300" baseline="4629" dirty="0">
                <a:latin typeface="Times New Roman"/>
                <a:cs typeface="Times New Roman"/>
              </a:rPr>
              <a:t> </a:t>
            </a:r>
            <a:r>
              <a:rPr sz="1200" spc="-5" dirty="0">
                <a:latin typeface="Times New Roman"/>
                <a:cs typeface="Times New Roman"/>
              </a:rPr>
              <a:t>6</a:t>
            </a:r>
            <a:endParaRPr sz="1200">
              <a:latin typeface="Times New Roman"/>
              <a:cs typeface="Times New Roman"/>
            </a:endParaRPr>
          </a:p>
        </p:txBody>
      </p:sp>
      <p:sp>
        <p:nvSpPr>
          <p:cNvPr id="4" name="object 4"/>
          <p:cNvSpPr txBox="1">
            <a:spLocks noGrp="1"/>
          </p:cNvSpPr>
          <p:nvPr>
            <p:ph type="title"/>
          </p:nvPr>
        </p:nvSpPr>
        <p:spPr>
          <a:xfrm>
            <a:off x="382777" y="0"/>
            <a:ext cx="5329555" cy="635635"/>
          </a:xfrm>
          <a:prstGeom prst="rect">
            <a:avLst/>
          </a:prstGeom>
        </p:spPr>
        <p:txBody>
          <a:bodyPr vert="horz" wrap="square" lIns="0" tIns="12700" rIns="0" bIns="0" rtlCol="0">
            <a:spAutoFit/>
          </a:bodyPr>
          <a:lstStyle/>
          <a:p>
            <a:pPr marL="12700">
              <a:lnSpc>
                <a:spcPct val="100000"/>
              </a:lnSpc>
              <a:spcBef>
                <a:spcPts val="100"/>
              </a:spcBef>
            </a:pPr>
            <a:r>
              <a:rPr sz="4000" b="0" spc="90" dirty="0">
                <a:latin typeface="Times New Roman"/>
                <a:cs typeface="Times New Roman"/>
              </a:rPr>
              <a:t>Displaying </a:t>
            </a:r>
            <a:r>
              <a:rPr sz="4000" b="0" spc="120" dirty="0">
                <a:latin typeface="Times New Roman"/>
                <a:cs typeface="Times New Roman"/>
              </a:rPr>
              <a:t>All</a:t>
            </a:r>
            <a:r>
              <a:rPr sz="4000" b="0" spc="-425" dirty="0">
                <a:latin typeface="Times New Roman"/>
                <a:cs typeface="Times New Roman"/>
              </a:rPr>
              <a:t> </a:t>
            </a:r>
            <a:r>
              <a:rPr sz="4000" b="0" spc="229" dirty="0">
                <a:latin typeface="Times New Roman"/>
                <a:cs typeface="Times New Roman"/>
              </a:rPr>
              <a:t>Columns</a:t>
            </a:r>
            <a:endParaRPr sz="4000">
              <a:latin typeface="Times New Roman"/>
              <a:cs typeface="Times New Roman"/>
            </a:endParaRPr>
          </a:p>
        </p:txBody>
      </p:sp>
      <p:sp>
        <p:nvSpPr>
          <p:cNvPr id="5" name="object 5"/>
          <p:cNvSpPr/>
          <p:nvPr/>
        </p:nvSpPr>
        <p:spPr>
          <a:xfrm>
            <a:off x="301752" y="834389"/>
            <a:ext cx="8540750" cy="1089025"/>
          </a:xfrm>
          <a:custGeom>
            <a:avLst/>
            <a:gdLst/>
            <a:ahLst/>
            <a:cxnLst/>
            <a:rect l="l" t="t" r="r" b="b"/>
            <a:pathLst>
              <a:path w="8540750" h="1089025">
                <a:moveTo>
                  <a:pt x="8540496" y="181483"/>
                </a:moveTo>
                <a:lnTo>
                  <a:pt x="8534006" y="133248"/>
                </a:lnTo>
                <a:lnTo>
                  <a:pt x="8515706" y="89903"/>
                </a:lnTo>
                <a:lnTo>
                  <a:pt x="8487321" y="53174"/>
                </a:lnTo>
                <a:lnTo>
                  <a:pt x="8450593" y="24790"/>
                </a:lnTo>
                <a:lnTo>
                  <a:pt x="8407247" y="6489"/>
                </a:lnTo>
                <a:lnTo>
                  <a:pt x="8359013" y="0"/>
                </a:lnTo>
                <a:lnTo>
                  <a:pt x="181483" y="0"/>
                </a:lnTo>
                <a:lnTo>
                  <a:pt x="133235" y="6489"/>
                </a:lnTo>
                <a:lnTo>
                  <a:pt x="89877" y="24790"/>
                </a:lnTo>
                <a:lnTo>
                  <a:pt x="53149" y="53174"/>
                </a:lnTo>
                <a:lnTo>
                  <a:pt x="24777" y="89903"/>
                </a:lnTo>
                <a:lnTo>
                  <a:pt x="6477" y="133248"/>
                </a:lnTo>
                <a:lnTo>
                  <a:pt x="0" y="181483"/>
                </a:lnTo>
                <a:lnTo>
                  <a:pt x="0" y="907415"/>
                </a:lnTo>
                <a:lnTo>
                  <a:pt x="6477" y="955662"/>
                </a:lnTo>
                <a:lnTo>
                  <a:pt x="24777" y="999007"/>
                </a:lnTo>
                <a:lnTo>
                  <a:pt x="53149" y="1035735"/>
                </a:lnTo>
                <a:lnTo>
                  <a:pt x="89877" y="1064120"/>
                </a:lnTo>
                <a:lnTo>
                  <a:pt x="133235" y="1082421"/>
                </a:lnTo>
                <a:lnTo>
                  <a:pt x="181483" y="1088898"/>
                </a:lnTo>
                <a:lnTo>
                  <a:pt x="8359013" y="1088898"/>
                </a:lnTo>
                <a:lnTo>
                  <a:pt x="8407247" y="1082421"/>
                </a:lnTo>
                <a:lnTo>
                  <a:pt x="8450593" y="1064120"/>
                </a:lnTo>
                <a:lnTo>
                  <a:pt x="8487321" y="1035735"/>
                </a:lnTo>
                <a:lnTo>
                  <a:pt x="8515706" y="999007"/>
                </a:lnTo>
                <a:lnTo>
                  <a:pt x="8534006" y="955662"/>
                </a:lnTo>
                <a:lnTo>
                  <a:pt x="8540496" y="907415"/>
                </a:lnTo>
                <a:lnTo>
                  <a:pt x="8540496" y="181483"/>
                </a:lnTo>
                <a:close/>
              </a:path>
            </a:pathLst>
          </a:custGeom>
          <a:solidFill>
            <a:srgbClr val="F79546"/>
          </a:solidFill>
        </p:spPr>
        <p:txBody>
          <a:bodyPr wrap="square" lIns="0" tIns="0" rIns="0" bIns="0" rtlCol="0"/>
          <a:lstStyle/>
          <a:p>
            <a:endParaRPr/>
          </a:p>
        </p:txBody>
      </p:sp>
      <p:sp>
        <p:nvSpPr>
          <p:cNvPr id="6" name="object 6"/>
          <p:cNvSpPr txBox="1"/>
          <p:nvPr/>
        </p:nvSpPr>
        <p:spPr>
          <a:xfrm>
            <a:off x="438404" y="806196"/>
            <a:ext cx="8267065" cy="1518920"/>
          </a:xfrm>
          <a:prstGeom prst="rect">
            <a:avLst/>
          </a:prstGeom>
        </p:spPr>
        <p:txBody>
          <a:bodyPr vert="horz" wrap="square" lIns="0" tIns="43815" rIns="0" bIns="0" rtlCol="0">
            <a:spAutoFit/>
          </a:bodyPr>
          <a:lstStyle/>
          <a:p>
            <a:pPr marL="355600" marR="5715" indent="-342900">
              <a:lnSpc>
                <a:spcPts val="1939"/>
              </a:lnSpc>
              <a:spcBef>
                <a:spcPts val="345"/>
              </a:spcBef>
              <a:buFont typeface="Wingdings"/>
              <a:buChar char=""/>
              <a:tabLst>
                <a:tab pos="354965" algn="l"/>
                <a:tab pos="355600" algn="l"/>
              </a:tabLst>
            </a:pPr>
            <a:r>
              <a:rPr sz="1800" spc="120" dirty="0">
                <a:solidFill>
                  <a:srgbClr val="FFFFFF"/>
                </a:solidFill>
                <a:latin typeface="Times New Roman"/>
                <a:cs typeface="Times New Roman"/>
              </a:rPr>
              <a:t>The </a:t>
            </a:r>
            <a:r>
              <a:rPr sz="1800" spc="45" dirty="0">
                <a:solidFill>
                  <a:srgbClr val="FFFFFF"/>
                </a:solidFill>
                <a:latin typeface="Times New Roman"/>
                <a:cs typeface="Times New Roman"/>
              </a:rPr>
              <a:t>asterisk </a:t>
            </a:r>
            <a:r>
              <a:rPr sz="1800" spc="-50" dirty="0">
                <a:solidFill>
                  <a:srgbClr val="FFFFFF"/>
                </a:solidFill>
                <a:latin typeface="Times New Roman"/>
                <a:cs typeface="Times New Roman"/>
              </a:rPr>
              <a:t>(*) </a:t>
            </a:r>
            <a:r>
              <a:rPr sz="1800" spc="5" dirty="0">
                <a:solidFill>
                  <a:srgbClr val="FFFFFF"/>
                </a:solidFill>
                <a:latin typeface="Times New Roman"/>
                <a:cs typeface="Times New Roman"/>
              </a:rPr>
              <a:t>is </a:t>
            </a:r>
            <a:r>
              <a:rPr sz="1800" spc="75" dirty="0">
                <a:solidFill>
                  <a:srgbClr val="FFFFFF"/>
                </a:solidFill>
                <a:latin typeface="Times New Roman"/>
                <a:cs typeface="Times New Roman"/>
              </a:rPr>
              <a:t>used </a:t>
            </a:r>
            <a:r>
              <a:rPr sz="1800" spc="85" dirty="0">
                <a:solidFill>
                  <a:srgbClr val="FFFFFF"/>
                </a:solidFill>
                <a:latin typeface="Times New Roman"/>
                <a:cs typeface="Times New Roman"/>
              </a:rPr>
              <a:t>in </a:t>
            </a:r>
            <a:r>
              <a:rPr sz="1800" spc="105" dirty="0">
                <a:solidFill>
                  <a:srgbClr val="FFFFFF"/>
                </a:solidFill>
                <a:latin typeface="Times New Roman"/>
                <a:cs typeface="Times New Roman"/>
              </a:rPr>
              <a:t>the </a:t>
            </a:r>
            <a:r>
              <a:rPr sz="1800" spc="75" dirty="0">
                <a:solidFill>
                  <a:srgbClr val="FFFFFF"/>
                </a:solidFill>
                <a:latin typeface="Times New Roman"/>
                <a:cs typeface="Times New Roman"/>
              </a:rPr>
              <a:t>SELECT statement </a:t>
            </a:r>
            <a:r>
              <a:rPr sz="1800" spc="100" dirty="0">
                <a:solidFill>
                  <a:srgbClr val="FFFFFF"/>
                </a:solidFill>
                <a:latin typeface="Times New Roman"/>
                <a:cs typeface="Times New Roman"/>
              </a:rPr>
              <a:t>to </a:t>
            </a:r>
            <a:r>
              <a:rPr sz="1800" spc="55" dirty="0">
                <a:solidFill>
                  <a:srgbClr val="FFFFFF"/>
                </a:solidFill>
                <a:latin typeface="Times New Roman"/>
                <a:cs typeface="Times New Roman"/>
              </a:rPr>
              <a:t>retrieve </a:t>
            </a:r>
            <a:r>
              <a:rPr sz="1800" spc="5" dirty="0">
                <a:solidFill>
                  <a:srgbClr val="FFFFFF"/>
                </a:solidFill>
                <a:latin typeface="Times New Roman"/>
                <a:cs typeface="Times New Roman"/>
              </a:rPr>
              <a:t>all </a:t>
            </a:r>
            <a:r>
              <a:rPr sz="1800" spc="100" dirty="0">
                <a:solidFill>
                  <a:srgbClr val="FFFFFF"/>
                </a:solidFill>
                <a:latin typeface="Times New Roman"/>
                <a:cs typeface="Times New Roman"/>
              </a:rPr>
              <a:t>the </a:t>
            </a:r>
            <a:r>
              <a:rPr sz="1800" spc="70" dirty="0">
                <a:solidFill>
                  <a:srgbClr val="FFFFFF"/>
                </a:solidFill>
                <a:latin typeface="Times New Roman"/>
                <a:cs typeface="Times New Roman"/>
              </a:rPr>
              <a:t>columns  </a:t>
            </a:r>
            <a:r>
              <a:rPr sz="1800" spc="65" dirty="0">
                <a:solidFill>
                  <a:srgbClr val="FFFFFF"/>
                </a:solidFill>
                <a:latin typeface="Times New Roman"/>
                <a:cs typeface="Times New Roman"/>
              </a:rPr>
              <a:t>from </a:t>
            </a:r>
            <a:r>
              <a:rPr sz="1800" spc="100" dirty="0">
                <a:solidFill>
                  <a:srgbClr val="FFFFFF"/>
                </a:solidFill>
                <a:latin typeface="Times New Roman"/>
                <a:cs typeface="Times New Roman"/>
              </a:rPr>
              <a:t>the</a:t>
            </a:r>
            <a:r>
              <a:rPr sz="1800" spc="-195" dirty="0">
                <a:solidFill>
                  <a:srgbClr val="FFFFFF"/>
                </a:solidFill>
                <a:latin typeface="Times New Roman"/>
                <a:cs typeface="Times New Roman"/>
              </a:rPr>
              <a:t> </a:t>
            </a:r>
            <a:r>
              <a:rPr sz="1800" spc="45" dirty="0">
                <a:solidFill>
                  <a:srgbClr val="FFFFFF"/>
                </a:solidFill>
                <a:latin typeface="Times New Roman"/>
                <a:cs typeface="Times New Roman"/>
              </a:rPr>
              <a:t>table.</a:t>
            </a:r>
            <a:endParaRPr sz="1800">
              <a:latin typeface="Times New Roman"/>
              <a:cs typeface="Times New Roman"/>
            </a:endParaRPr>
          </a:p>
          <a:p>
            <a:pPr marL="355600" marR="5080" indent="-342900">
              <a:lnSpc>
                <a:spcPts val="1939"/>
              </a:lnSpc>
              <a:spcBef>
                <a:spcPts val="10"/>
              </a:spcBef>
              <a:buFont typeface="Wingdings"/>
              <a:buChar char=""/>
              <a:tabLst>
                <a:tab pos="354965" algn="l"/>
                <a:tab pos="355600" algn="l"/>
              </a:tabLst>
            </a:pPr>
            <a:r>
              <a:rPr sz="1800" spc="50" dirty="0">
                <a:solidFill>
                  <a:srgbClr val="FFFFFF"/>
                </a:solidFill>
                <a:latin typeface="Times New Roman"/>
                <a:cs typeface="Times New Roman"/>
              </a:rPr>
              <a:t>It </a:t>
            </a:r>
            <a:r>
              <a:rPr sz="1800" spc="5" dirty="0">
                <a:solidFill>
                  <a:srgbClr val="FFFFFF"/>
                </a:solidFill>
                <a:latin typeface="Times New Roman"/>
                <a:cs typeface="Times New Roman"/>
              </a:rPr>
              <a:t>is </a:t>
            </a:r>
            <a:r>
              <a:rPr sz="1800" spc="75" dirty="0">
                <a:solidFill>
                  <a:srgbClr val="FFFFFF"/>
                </a:solidFill>
                <a:latin typeface="Times New Roman"/>
                <a:cs typeface="Times New Roman"/>
              </a:rPr>
              <a:t>used </a:t>
            </a:r>
            <a:r>
              <a:rPr sz="1800" spc="15" dirty="0">
                <a:solidFill>
                  <a:srgbClr val="FFFFFF"/>
                </a:solidFill>
                <a:latin typeface="Times New Roman"/>
                <a:cs typeface="Times New Roman"/>
              </a:rPr>
              <a:t>as </a:t>
            </a:r>
            <a:r>
              <a:rPr sz="1800" spc="30" dirty="0">
                <a:solidFill>
                  <a:srgbClr val="FFFFFF"/>
                </a:solidFill>
                <a:latin typeface="Times New Roman"/>
                <a:cs typeface="Times New Roman"/>
              </a:rPr>
              <a:t>a </a:t>
            </a:r>
            <a:r>
              <a:rPr sz="1800" spc="100" dirty="0">
                <a:solidFill>
                  <a:srgbClr val="FFFFFF"/>
                </a:solidFill>
                <a:latin typeface="Times New Roman"/>
                <a:cs typeface="Times New Roman"/>
              </a:rPr>
              <a:t>shorthand to </a:t>
            </a:r>
            <a:r>
              <a:rPr sz="1800" spc="30" dirty="0">
                <a:solidFill>
                  <a:srgbClr val="FFFFFF"/>
                </a:solidFill>
                <a:latin typeface="Times New Roman"/>
                <a:cs typeface="Times New Roman"/>
              </a:rPr>
              <a:t>list </a:t>
            </a:r>
            <a:r>
              <a:rPr sz="1800" spc="10" dirty="0">
                <a:solidFill>
                  <a:srgbClr val="FFFFFF"/>
                </a:solidFill>
                <a:latin typeface="Times New Roman"/>
                <a:cs typeface="Times New Roman"/>
              </a:rPr>
              <a:t>all </a:t>
            </a:r>
            <a:r>
              <a:rPr sz="1800" spc="100" dirty="0">
                <a:solidFill>
                  <a:srgbClr val="FFFFFF"/>
                </a:solidFill>
                <a:latin typeface="Times New Roman"/>
                <a:cs typeface="Times New Roman"/>
              </a:rPr>
              <a:t>the </a:t>
            </a:r>
            <a:r>
              <a:rPr sz="1800" spc="80" dirty="0">
                <a:solidFill>
                  <a:srgbClr val="FFFFFF"/>
                </a:solidFill>
                <a:latin typeface="Times New Roman"/>
                <a:cs typeface="Times New Roman"/>
              </a:rPr>
              <a:t>column </a:t>
            </a:r>
            <a:r>
              <a:rPr sz="1800" spc="65" dirty="0">
                <a:solidFill>
                  <a:srgbClr val="FFFFFF"/>
                </a:solidFill>
                <a:latin typeface="Times New Roman"/>
                <a:cs typeface="Times New Roman"/>
              </a:rPr>
              <a:t>names </a:t>
            </a:r>
            <a:r>
              <a:rPr sz="1800" spc="85" dirty="0">
                <a:solidFill>
                  <a:srgbClr val="FFFFFF"/>
                </a:solidFill>
                <a:latin typeface="Times New Roman"/>
                <a:cs typeface="Times New Roman"/>
              </a:rPr>
              <a:t>in </a:t>
            </a:r>
            <a:r>
              <a:rPr sz="1800" spc="100" dirty="0">
                <a:solidFill>
                  <a:srgbClr val="FFFFFF"/>
                </a:solidFill>
                <a:latin typeface="Times New Roman"/>
                <a:cs typeface="Times New Roman"/>
              </a:rPr>
              <a:t>the </a:t>
            </a:r>
            <a:r>
              <a:rPr sz="1800" spc="50" dirty="0">
                <a:solidFill>
                  <a:srgbClr val="FFFFFF"/>
                </a:solidFill>
                <a:latin typeface="Times New Roman"/>
                <a:cs typeface="Times New Roman"/>
              </a:rPr>
              <a:t>table </a:t>
            </a:r>
            <a:r>
              <a:rPr sz="1800" spc="85" dirty="0">
                <a:solidFill>
                  <a:srgbClr val="FFFFFF"/>
                </a:solidFill>
                <a:latin typeface="Times New Roman"/>
                <a:cs typeface="Times New Roman"/>
              </a:rPr>
              <a:t>named in </a:t>
            </a:r>
            <a:r>
              <a:rPr sz="1800" spc="105" dirty="0">
                <a:solidFill>
                  <a:srgbClr val="FFFFFF"/>
                </a:solidFill>
                <a:latin typeface="Times New Roman"/>
                <a:cs typeface="Times New Roman"/>
              </a:rPr>
              <a:t>the  </a:t>
            </a:r>
            <a:r>
              <a:rPr sz="1800" spc="90" dirty="0">
                <a:solidFill>
                  <a:srgbClr val="FFFFFF"/>
                </a:solidFill>
                <a:latin typeface="Times New Roman"/>
                <a:cs typeface="Times New Roman"/>
              </a:rPr>
              <a:t>FROM</a:t>
            </a:r>
            <a:r>
              <a:rPr sz="1800" spc="-75" dirty="0">
                <a:solidFill>
                  <a:srgbClr val="FFFFFF"/>
                </a:solidFill>
                <a:latin typeface="Times New Roman"/>
                <a:cs typeface="Times New Roman"/>
              </a:rPr>
              <a:t> </a:t>
            </a:r>
            <a:r>
              <a:rPr sz="1800" spc="30" dirty="0">
                <a:solidFill>
                  <a:srgbClr val="FFFFFF"/>
                </a:solidFill>
                <a:latin typeface="Times New Roman"/>
                <a:cs typeface="Times New Roman"/>
              </a:rPr>
              <a:t>clause.</a:t>
            </a:r>
            <a:endParaRPr sz="1800">
              <a:latin typeface="Times New Roman"/>
              <a:cs typeface="Times New Roman"/>
            </a:endParaRPr>
          </a:p>
          <a:p>
            <a:pPr marL="121285">
              <a:lnSpc>
                <a:spcPct val="100000"/>
              </a:lnSpc>
              <a:spcBef>
                <a:spcPts val="1340"/>
              </a:spcBef>
            </a:pPr>
            <a:r>
              <a:rPr sz="2000" spc="45" dirty="0">
                <a:latin typeface="Times New Roman"/>
                <a:cs typeface="Times New Roman"/>
              </a:rPr>
              <a:t>Following</a:t>
            </a:r>
            <a:r>
              <a:rPr sz="2000" spc="-60" dirty="0">
                <a:latin typeface="Times New Roman"/>
                <a:cs typeface="Times New Roman"/>
              </a:rPr>
              <a:t> </a:t>
            </a:r>
            <a:r>
              <a:rPr sz="2000" spc="5" dirty="0">
                <a:latin typeface="Times New Roman"/>
                <a:cs typeface="Times New Roman"/>
              </a:rPr>
              <a:t>is</a:t>
            </a:r>
            <a:r>
              <a:rPr sz="2000" spc="-90" dirty="0">
                <a:latin typeface="Times New Roman"/>
                <a:cs typeface="Times New Roman"/>
              </a:rPr>
              <a:t> </a:t>
            </a:r>
            <a:r>
              <a:rPr sz="2000" spc="110" dirty="0">
                <a:latin typeface="Times New Roman"/>
                <a:cs typeface="Times New Roman"/>
              </a:rPr>
              <a:t>the</a:t>
            </a:r>
            <a:r>
              <a:rPr sz="2000" spc="-60" dirty="0">
                <a:latin typeface="Times New Roman"/>
                <a:cs typeface="Times New Roman"/>
              </a:rPr>
              <a:t> </a:t>
            </a:r>
            <a:r>
              <a:rPr sz="2000" spc="70" dirty="0">
                <a:latin typeface="Times New Roman"/>
                <a:cs typeface="Times New Roman"/>
              </a:rPr>
              <a:t>syntax</a:t>
            </a:r>
            <a:r>
              <a:rPr sz="2000" spc="-55" dirty="0">
                <a:latin typeface="Times New Roman"/>
                <a:cs typeface="Times New Roman"/>
              </a:rPr>
              <a:t> </a:t>
            </a:r>
            <a:r>
              <a:rPr sz="2000" spc="65" dirty="0">
                <a:latin typeface="Times New Roman"/>
                <a:cs typeface="Times New Roman"/>
              </a:rPr>
              <a:t>for</a:t>
            </a:r>
            <a:r>
              <a:rPr sz="2000" spc="-75" dirty="0">
                <a:latin typeface="Times New Roman"/>
                <a:cs typeface="Times New Roman"/>
              </a:rPr>
              <a:t> </a:t>
            </a:r>
            <a:r>
              <a:rPr sz="2000" spc="45" dirty="0">
                <a:latin typeface="Times New Roman"/>
                <a:cs typeface="Times New Roman"/>
              </a:rPr>
              <a:t>selecting</a:t>
            </a:r>
            <a:r>
              <a:rPr sz="2000" spc="-50" dirty="0">
                <a:latin typeface="Times New Roman"/>
                <a:cs typeface="Times New Roman"/>
              </a:rPr>
              <a:t> </a:t>
            </a:r>
            <a:r>
              <a:rPr sz="2000" spc="10" dirty="0">
                <a:latin typeface="Times New Roman"/>
                <a:cs typeface="Times New Roman"/>
              </a:rPr>
              <a:t>all</a:t>
            </a:r>
            <a:r>
              <a:rPr sz="2000" spc="-65" dirty="0">
                <a:latin typeface="Times New Roman"/>
                <a:cs typeface="Times New Roman"/>
              </a:rPr>
              <a:t> </a:t>
            </a:r>
            <a:r>
              <a:rPr sz="2000" spc="75" dirty="0">
                <a:latin typeface="Times New Roman"/>
                <a:cs typeface="Times New Roman"/>
              </a:rPr>
              <a:t>columns</a:t>
            </a:r>
            <a:endParaRPr sz="2000">
              <a:latin typeface="Times New Roman"/>
              <a:cs typeface="Times New Roman"/>
            </a:endParaRPr>
          </a:p>
        </p:txBody>
      </p:sp>
      <p:pic>
        <p:nvPicPr>
          <p:cNvPr id="7" name="object 7"/>
          <p:cNvPicPr/>
          <p:nvPr/>
        </p:nvPicPr>
        <p:blipFill>
          <a:blip r:embed="rId3" cstate="print"/>
          <a:stretch>
            <a:fillRect/>
          </a:stretch>
        </p:blipFill>
        <p:spPr>
          <a:xfrm>
            <a:off x="957833" y="2393442"/>
            <a:ext cx="6991350" cy="400050"/>
          </a:xfrm>
          <a:prstGeom prst="rect">
            <a:avLst/>
          </a:prstGeom>
        </p:spPr>
      </p:pic>
      <p:pic>
        <p:nvPicPr>
          <p:cNvPr id="8" name="object 8"/>
          <p:cNvPicPr/>
          <p:nvPr/>
        </p:nvPicPr>
        <p:blipFill>
          <a:blip r:embed="rId4" cstate="print"/>
          <a:stretch>
            <a:fillRect/>
          </a:stretch>
        </p:blipFill>
        <p:spPr>
          <a:xfrm>
            <a:off x="805433" y="3855720"/>
            <a:ext cx="7533132" cy="2454402"/>
          </a:xfrm>
          <a:prstGeom prst="rect">
            <a:avLst/>
          </a:prstGeom>
        </p:spPr>
      </p:pic>
      <p:sp>
        <p:nvSpPr>
          <p:cNvPr id="9" name="object 9"/>
          <p:cNvSpPr txBox="1"/>
          <p:nvPr/>
        </p:nvSpPr>
        <p:spPr>
          <a:xfrm>
            <a:off x="3412744" y="6362446"/>
            <a:ext cx="1854835" cy="238760"/>
          </a:xfrm>
          <a:prstGeom prst="rect">
            <a:avLst/>
          </a:prstGeom>
        </p:spPr>
        <p:txBody>
          <a:bodyPr vert="horz" wrap="square" lIns="0" tIns="12065" rIns="0" bIns="0" rtlCol="0">
            <a:spAutoFit/>
          </a:bodyPr>
          <a:lstStyle/>
          <a:p>
            <a:pPr marL="12700">
              <a:lnSpc>
                <a:spcPct val="100000"/>
              </a:lnSpc>
              <a:spcBef>
                <a:spcPts val="95"/>
              </a:spcBef>
            </a:pPr>
            <a:r>
              <a:rPr sz="1400" b="1" spc="-75" dirty="0">
                <a:latin typeface="Arial"/>
                <a:cs typeface="Arial"/>
              </a:rPr>
              <a:t>Displaying </a:t>
            </a:r>
            <a:r>
              <a:rPr sz="1400" b="1" spc="35" dirty="0">
                <a:latin typeface="Arial"/>
                <a:cs typeface="Arial"/>
              </a:rPr>
              <a:t>All</a:t>
            </a:r>
            <a:r>
              <a:rPr sz="1400" b="1" spc="-195" dirty="0">
                <a:latin typeface="Arial"/>
                <a:cs typeface="Arial"/>
              </a:rPr>
              <a:t> </a:t>
            </a:r>
            <a:r>
              <a:rPr sz="1400" b="1" spc="-65" dirty="0">
                <a:latin typeface="Arial"/>
                <a:cs typeface="Arial"/>
              </a:rPr>
              <a:t>Columns</a:t>
            </a:r>
            <a:endParaRPr sz="1400">
              <a:latin typeface="Arial"/>
              <a:cs typeface="Arial"/>
            </a:endParaRPr>
          </a:p>
        </p:txBody>
      </p:sp>
      <p:sp>
        <p:nvSpPr>
          <p:cNvPr id="10" name="object 10"/>
          <p:cNvSpPr txBox="1"/>
          <p:nvPr/>
        </p:nvSpPr>
        <p:spPr>
          <a:xfrm>
            <a:off x="957833" y="2990088"/>
            <a:ext cx="6711950" cy="738505"/>
          </a:xfrm>
          <a:prstGeom prst="rect">
            <a:avLst/>
          </a:prstGeom>
          <a:solidFill>
            <a:srgbClr val="FFFFC5"/>
          </a:solidFill>
        </p:spPr>
        <p:txBody>
          <a:bodyPr vert="horz" wrap="square" lIns="0" tIns="24765" rIns="0" bIns="0" rtlCol="0">
            <a:spAutoFit/>
          </a:bodyPr>
          <a:lstStyle/>
          <a:p>
            <a:pPr marL="91440">
              <a:lnSpc>
                <a:spcPct val="100000"/>
              </a:lnSpc>
              <a:spcBef>
                <a:spcPts val="195"/>
              </a:spcBef>
            </a:pPr>
            <a:r>
              <a:rPr sz="1400" spc="-5" dirty="0">
                <a:latin typeface="Courier New"/>
                <a:cs typeface="Courier New"/>
              </a:rPr>
              <a:t>USE</a:t>
            </a:r>
            <a:r>
              <a:rPr sz="1400" spc="-10" dirty="0">
                <a:latin typeface="Courier New"/>
                <a:cs typeface="Courier New"/>
              </a:rPr>
              <a:t> AdventureWorks2019</a:t>
            </a:r>
            <a:endParaRPr sz="1400">
              <a:latin typeface="Courier New"/>
              <a:cs typeface="Courier New"/>
            </a:endParaRPr>
          </a:p>
          <a:p>
            <a:pPr marL="91440" marR="2675890">
              <a:lnSpc>
                <a:spcPct val="100000"/>
              </a:lnSpc>
            </a:pPr>
            <a:r>
              <a:rPr sz="1400" spc="-10" dirty="0">
                <a:latin typeface="Courier New"/>
                <a:cs typeface="Courier New"/>
              </a:rPr>
              <a:t>SELECT </a:t>
            </a:r>
            <a:r>
              <a:rPr sz="1400" spc="-5" dirty="0">
                <a:latin typeface="Courier New"/>
                <a:cs typeface="Courier New"/>
              </a:rPr>
              <a:t>* FROM </a:t>
            </a:r>
            <a:r>
              <a:rPr sz="1400" spc="-10" dirty="0">
                <a:latin typeface="Courier New"/>
                <a:cs typeface="Courier New"/>
              </a:rPr>
              <a:t>HumanResources.Employee  </a:t>
            </a:r>
            <a:r>
              <a:rPr sz="1400" spc="-5" dirty="0">
                <a:latin typeface="Courier New"/>
                <a:cs typeface="Courier New"/>
              </a:rPr>
              <a:t>GO</a:t>
            </a:r>
            <a:endParaRPr sz="1400">
              <a:latin typeface="Courier New"/>
              <a:cs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6595" y="948689"/>
            <a:ext cx="5211445" cy="3223260"/>
            <a:chOff x="196595" y="948689"/>
            <a:chExt cx="5211445" cy="3223260"/>
          </a:xfrm>
        </p:grpSpPr>
        <p:pic>
          <p:nvPicPr>
            <p:cNvPr id="3" name="object 3"/>
            <p:cNvPicPr/>
            <p:nvPr/>
          </p:nvPicPr>
          <p:blipFill>
            <a:blip r:embed="rId3" cstate="print"/>
            <a:stretch>
              <a:fillRect/>
            </a:stretch>
          </p:blipFill>
          <p:spPr>
            <a:xfrm>
              <a:off x="196595" y="948689"/>
              <a:ext cx="5211318" cy="3223260"/>
            </a:xfrm>
            <a:prstGeom prst="rect">
              <a:avLst/>
            </a:prstGeom>
          </p:spPr>
        </p:pic>
        <p:pic>
          <p:nvPicPr>
            <p:cNvPr id="4" name="object 4"/>
            <p:cNvPicPr/>
            <p:nvPr/>
          </p:nvPicPr>
          <p:blipFill>
            <a:blip r:embed="rId4" cstate="print"/>
            <a:stretch>
              <a:fillRect/>
            </a:stretch>
          </p:blipFill>
          <p:spPr>
            <a:xfrm>
              <a:off x="237743" y="966977"/>
              <a:ext cx="5135880" cy="3147822"/>
            </a:xfrm>
            <a:prstGeom prst="rect">
              <a:avLst/>
            </a:prstGeom>
          </p:spPr>
        </p:pic>
      </p:grpSp>
      <p:sp>
        <p:nvSpPr>
          <p:cNvPr id="5" name="object 5"/>
          <p:cNvSpPr txBox="1"/>
          <p:nvPr/>
        </p:nvSpPr>
        <p:spPr>
          <a:xfrm>
            <a:off x="344931" y="1193038"/>
            <a:ext cx="4921250" cy="2250440"/>
          </a:xfrm>
          <a:prstGeom prst="rect">
            <a:avLst/>
          </a:prstGeom>
        </p:spPr>
        <p:txBody>
          <a:bodyPr vert="horz" wrap="square" lIns="0" tIns="46990" rIns="0" bIns="0" rtlCol="0">
            <a:spAutoFit/>
          </a:bodyPr>
          <a:lstStyle/>
          <a:p>
            <a:pPr marL="354965" marR="5080" indent="-342900" algn="just">
              <a:lnSpc>
                <a:spcPts val="2160"/>
              </a:lnSpc>
              <a:spcBef>
                <a:spcPts val="370"/>
              </a:spcBef>
              <a:buFont typeface="Wingdings"/>
              <a:buChar char=""/>
              <a:tabLst>
                <a:tab pos="355600" algn="l"/>
              </a:tabLst>
            </a:pPr>
            <a:r>
              <a:rPr sz="2000" spc="130" dirty="0">
                <a:solidFill>
                  <a:srgbClr val="FFFFFF"/>
                </a:solidFill>
                <a:latin typeface="Times New Roman"/>
                <a:cs typeface="Times New Roman"/>
              </a:rPr>
              <a:t>The </a:t>
            </a:r>
            <a:r>
              <a:rPr sz="2000" spc="80" dirty="0">
                <a:solidFill>
                  <a:srgbClr val="FFFFFF"/>
                </a:solidFill>
                <a:latin typeface="Times New Roman"/>
                <a:cs typeface="Times New Roman"/>
              </a:rPr>
              <a:t>SELECT </a:t>
            </a:r>
            <a:r>
              <a:rPr sz="2000" spc="85" dirty="0">
                <a:solidFill>
                  <a:srgbClr val="FFFFFF"/>
                </a:solidFill>
                <a:latin typeface="Times New Roman"/>
                <a:cs typeface="Times New Roman"/>
              </a:rPr>
              <a:t>statement</a:t>
            </a:r>
            <a:r>
              <a:rPr sz="2000" spc="670" dirty="0">
                <a:solidFill>
                  <a:srgbClr val="FFFFFF"/>
                </a:solidFill>
                <a:latin typeface="Times New Roman"/>
                <a:cs typeface="Times New Roman"/>
              </a:rPr>
              <a:t> </a:t>
            </a:r>
            <a:r>
              <a:rPr sz="2000" spc="35" dirty="0">
                <a:solidFill>
                  <a:srgbClr val="FFFFFF"/>
                </a:solidFill>
                <a:latin typeface="Times New Roman"/>
                <a:cs typeface="Times New Roman"/>
              </a:rPr>
              <a:t>displays</a:t>
            </a:r>
            <a:r>
              <a:rPr sz="2000" spc="570" dirty="0">
                <a:solidFill>
                  <a:srgbClr val="FFFFFF"/>
                </a:solidFill>
                <a:latin typeface="Times New Roman"/>
                <a:cs typeface="Times New Roman"/>
              </a:rPr>
              <a:t> </a:t>
            </a:r>
            <a:r>
              <a:rPr sz="2000" spc="80" dirty="0">
                <a:solidFill>
                  <a:srgbClr val="FFFFFF"/>
                </a:solidFill>
                <a:latin typeface="Times New Roman"/>
                <a:cs typeface="Times New Roman"/>
              </a:rPr>
              <a:t>or  </a:t>
            </a:r>
            <a:r>
              <a:rPr sz="2000" spc="95" dirty="0">
                <a:solidFill>
                  <a:srgbClr val="FFFFFF"/>
                </a:solidFill>
                <a:latin typeface="Times New Roman"/>
                <a:cs typeface="Times New Roman"/>
              </a:rPr>
              <a:t>returns </a:t>
            </a:r>
            <a:r>
              <a:rPr sz="2000" spc="70" dirty="0">
                <a:solidFill>
                  <a:srgbClr val="FFFFFF"/>
                </a:solidFill>
                <a:latin typeface="Times New Roman"/>
                <a:cs typeface="Times New Roman"/>
              </a:rPr>
              <a:t>certain relevant </a:t>
            </a:r>
            <a:r>
              <a:rPr sz="2000" spc="80" dirty="0">
                <a:solidFill>
                  <a:srgbClr val="FFFFFF"/>
                </a:solidFill>
                <a:latin typeface="Times New Roman"/>
                <a:cs typeface="Times New Roman"/>
              </a:rPr>
              <a:t>columns </a:t>
            </a:r>
            <a:r>
              <a:rPr sz="2000" spc="114" dirty="0">
                <a:solidFill>
                  <a:srgbClr val="FFFFFF"/>
                </a:solidFill>
                <a:latin typeface="Times New Roman"/>
                <a:cs typeface="Times New Roman"/>
              </a:rPr>
              <a:t>that </a:t>
            </a:r>
            <a:r>
              <a:rPr sz="2000" spc="50" dirty="0">
                <a:solidFill>
                  <a:srgbClr val="FFFFFF"/>
                </a:solidFill>
                <a:latin typeface="Times New Roman"/>
                <a:cs typeface="Times New Roman"/>
              </a:rPr>
              <a:t>are  </a:t>
            </a:r>
            <a:r>
              <a:rPr sz="2000" spc="85" dirty="0">
                <a:solidFill>
                  <a:srgbClr val="FFFFFF"/>
                </a:solidFill>
                <a:latin typeface="Times New Roman"/>
                <a:cs typeface="Times New Roman"/>
              </a:rPr>
              <a:t>chosen </a:t>
            </a:r>
            <a:r>
              <a:rPr sz="2000" spc="45" dirty="0">
                <a:solidFill>
                  <a:srgbClr val="FFFFFF"/>
                </a:solidFill>
                <a:latin typeface="Times New Roman"/>
                <a:cs typeface="Times New Roman"/>
              </a:rPr>
              <a:t>by </a:t>
            </a:r>
            <a:r>
              <a:rPr sz="2000" spc="110" dirty="0">
                <a:solidFill>
                  <a:srgbClr val="FFFFFF"/>
                </a:solidFill>
                <a:latin typeface="Times New Roman"/>
                <a:cs typeface="Times New Roman"/>
              </a:rPr>
              <a:t>the </a:t>
            </a:r>
            <a:r>
              <a:rPr sz="2000" spc="70" dirty="0">
                <a:solidFill>
                  <a:srgbClr val="FFFFFF"/>
                </a:solidFill>
                <a:latin typeface="Times New Roman"/>
                <a:cs typeface="Times New Roman"/>
              </a:rPr>
              <a:t>user </a:t>
            </a:r>
            <a:r>
              <a:rPr sz="2000" spc="85" dirty="0">
                <a:solidFill>
                  <a:srgbClr val="FFFFFF"/>
                </a:solidFill>
                <a:latin typeface="Times New Roman"/>
                <a:cs typeface="Times New Roman"/>
              </a:rPr>
              <a:t>or </a:t>
            </a:r>
            <a:r>
              <a:rPr sz="2000" spc="100" dirty="0">
                <a:solidFill>
                  <a:srgbClr val="FFFFFF"/>
                </a:solidFill>
                <a:latin typeface="Times New Roman"/>
                <a:cs typeface="Times New Roman"/>
              </a:rPr>
              <a:t>mentioned </a:t>
            </a:r>
            <a:r>
              <a:rPr sz="2000" spc="95"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75" dirty="0">
                <a:solidFill>
                  <a:srgbClr val="FFFFFF"/>
                </a:solidFill>
                <a:latin typeface="Times New Roman"/>
                <a:cs typeface="Times New Roman"/>
              </a:rPr>
              <a:t>statement.</a:t>
            </a:r>
            <a:endParaRPr sz="2000">
              <a:latin typeface="Times New Roman"/>
              <a:cs typeface="Times New Roman"/>
            </a:endParaRPr>
          </a:p>
          <a:p>
            <a:pPr marL="354965" marR="5080" indent="-342900" algn="just">
              <a:lnSpc>
                <a:spcPct val="90000"/>
              </a:lnSpc>
              <a:spcBef>
                <a:spcPts val="2125"/>
              </a:spcBef>
              <a:buFont typeface="Wingdings"/>
              <a:buChar char=""/>
              <a:tabLst>
                <a:tab pos="355600" algn="l"/>
              </a:tabLst>
            </a:pPr>
            <a:r>
              <a:rPr sz="2000" spc="135" dirty="0">
                <a:solidFill>
                  <a:srgbClr val="FFFFFF"/>
                </a:solidFill>
                <a:latin typeface="Times New Roman"/>
                <a:cs typeface="Times New Roman"/>
              </a:rPr>
              <a:t>To </a:t>
            </a:r>
            <a:r>
              <a:rPr sz="2000" spc="40" dirty="0">
                <a:solidFill>
                  <a:srgbClr val="FFFFFF"/>
                </a:solidFill>
                <a:latin typeface="Times New Roman"/>
                <a:cs typeface="Times New Roman"/>
              </a:rPr>
              <a:t>display </a:t>
            </a:r>
            <a:r>
              <a:rPr sz="2000" spc="25" dirty="0">
                <a:solidFill>
                  <a:srgbClr val="FFFFFF"/>
                </a:solidFill>
                <a:latin typeface="Times New Roman"/>
                <a:cs typeface="Times New Roman"/>
              </a:rPr>
              <a:t>specific </a:t>
            </a:r>
            <a:r>
              <a:rPr sz="2000" spc="65" dirty="0">
                <a:solidFill>
                  <a:srgbClr val="FFFFFF"/>
                </a:solidFill>
                <a:latin typeface="Times New Roman"/>
                <a:cs typeface="Times New Roman"/>
              </a:rPr>
              <a:t>columns, knowledge  </a:t>
            </a:r>
            <a:r>
              <a:rPr sz="2000" spc="55" dirty="0">
                <a:solidFill>
                  <a:srgbClr val="FFFFFF"/>
                </a:solidFill>
                <a:latin typeface="Times New Roman"/>
                <a:cs typeface="Times New Roman"/>
              </a:rPr>
              <a:t>of</a:t>
            </a:r>
            <a:r>
              <a:rPr sz="2000" spc="-1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dirty="0">
                <a:solidFill>
                  <a:srgbClr val="FFFFFF"/>
                </a:solidFill>
                <a:latin typeface="Times New Roman"/>
                <a:cs typeface="Times New Roman"/>
              </a:rPr>
              <a:t> </a:t>
            </a:r>
            <a:r>
              <a:rPr sz="2000" spc="70" dirty="0">
                <a:solidFill>
                  <a:srgbClr val="FFFFFF"/>
                </a:solidFill>
                <a:latin typeface="Times New Roman"/>
                <a:cs typeface="Times New Roman"/>
              </a:rPr>
              <a:t>relevant</a:t>
            </a:r>
            <a:r>
              <a:rPr sz="2000" spc="-5" dirty="0">
                <a:solidFill>
                  <a:srgbClr val="FFFFFF"/>
                </a:solidFill>
                <a:latin typeface="Times New Roman"/>
                <a:cs typeface="Times New Roman"/>
              </a:rPr>
              <a:t> </a:t>
            </a:r>
            <a:r>
              <a:rPr sz="2000" spc="90" dirty="0">
                <a:solidFill>
                  <a:srgbClr val="FFFFFF"/>
                </a:solidFill>
                <a:latin typeface="Times New Roman"/>
                <a:cs typeface="Times New Roman"/>
              </a:rPr>
              <a:t>column</a:t>
            </a:r>
            <a:r>
              <a:rPr sz="2000" spc="-10" dirty="0">
                <a:solidFill>
                  <a:srgbClr val="FFFFFF"/>
                </a:solidFill>
                <a:latin typeface="Times New Roman"/>
                <a:cs typeface="Times New Roman"/>
              </a:rPr>
              <a:t> </a:t>
            </a:r>
            <a:r>
              <a:rPr sz="2000" spc="70" dirty="0">
                <a:solidFill>
                  <a:srgbClr val="FFFFFF"/>
                </a:solidFill>
                <a:latin typeface="Times New Roman"/>
                <a:cs typeface="Times New Roman"/>
              </a:rPr>
              <a:t>names</a:t>
            </a:r>
            <a:r>
              <a:rPr sz="2000" spc="-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2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dirty="0">
                <a:solidFill>
                  <a:srgbClr val="FFFFFF"/>
                </a:solidFill>
                <a:latin typeface="Times New Roman"/>
                <a:cs typeface="Times New Roman"/>
              </a:rPr>
              <a:t> </a:t>
            </a:r>
            <a:r>
              <a:rPr sz="2000" spc="60" dirty="0">
                <a:solidFill>
                  <a:srgbClr val="FFFFFF"/>
                </a:solidFill>
                <a:latin typeface="Times New Roman"/>
                <a:cs typeface="Times New Roman"/>
              </a:rPr>
              <a:t>table  </a:t>
            </a:r>
            <a:r>
              <a:rPr sz="2000" spc="5" dirty="0">
                <a:solidFill>
                  <a:srgbClr val="FFFFFF"/>
                </a:solidFill>
                <a:latin typeface="Times New Roman"/>
                <a:cs typeface="Times New Roman"/>
              </a:rPr>
              <a:t>is</a:t>
            </a:r>
            <a:r>
              <a:rPr sz="2000" spc="-85" dirty="0">
                <a:solidFill>
                  <a:srgbClr val="FFFFFF"/>
                </a:solidFill>
                <a:latin typeface="Times New Roman"/>
                <a:cs typeface="Times New Roman"/>
              </a:rPr>
              <a:t> </a:t>
            </a:r>
            <a:r>
              <a:rPr sz="2000" spc="70" dirty="0">
                <a:solidFill>
                  <a:srgbClr val="FFFFFF"/>
                </a:solidFill>
                <a:latin typeface="Times New Roman"/>
                <a:cs typeface="Times New Roman"/>
              </a:rPr>
              <a:t>required.</a:t>
            </a:r>
            <a:endParaRPr sz="2000">
              <a:latin typeface="Times New Roman"/>
              <a:cs typeface="Times New Roman"/>
            </a:endParaRPr>
          </a:p>
        </p:txBody>
      </p:sp>
      <p:sp>
        <p:nvSpPr>
          <p:cNvPr id="6" name="object 6"/>
          <p:cNvSpPr txBox="1">
            <a:spLocks noGrp="1"/>
          </p:cNvSpPr>
          <p:nvPr>
            <p:ph type="title"/>
          </p:nvPr>
        </p:nvSpPr>
        <p:spPr>
          <a:xfrm>
            <a:off x="325881" y="0"/>
            <a:ext cx="6479540" cy="635635"/>
          </a:xfrm>
          <a:prstGeom prst="rect">
            <a:avLst/>
          </a:prstGeom>
        </p:spPr>
        <p:txBody>
          <a:bodyPr vert="horz" wrap="square" lIns="0" tIns="12700" rIns="0" bIns="0" rtlCol="0">
            <a:spAutoFit/>
          </a:bodyPr>
          <a:lstStyle/>
          <a:p>
            <a:pPr marL="12700">
              <a:lnSpc>
                <a:spcPct val="100000"/>
              </a:lnSpc>
              <a:spcBef>
                <a:spcPts val="100"/>
              </a:spcBef>
            </a:pPr>
            <a:r>
              <a:rPr sz="4000" b="0" spc="90" dirty="0">
                <a:latin typeface="Times New Roman"/>
                <a:cs typeface="Times New Roman"/>
              </a:rPr>
              <a:t>Displaying </a:t>
            </a:r>
            <a:r>
              <a:rPr sz="4000" b="0" spc="120" dirty="0">
                <a:latin typeface="Times New Roman"/>
                <a:cs typeface="Times New Roman"/>
              </a:rPr>
              <a:t>Selected</a:t>
            </a:r>
            <a:r>
              <a:rPr sz="4000" b="0" spc="-440" dirty="0">
                <a:latin typeface="Times New Roman"/>
                <a:cs typeface="Times New Roman"/>
              </a:rPr>
              <a:t> </a:t>
            </a:r>
            <a:r>
              <a:rPr sz="4000" b="0" spc="235" dirty="0">
                <a:latin typeface="Times New Roman"/>
                <a:cs typeface="Times New Roman"/>
              </a:rPr>
              <a:t>Columns</a:t>
            </a:r>
            <a:endParaRPr sz="4000">
              <a:latin typeface="Times New Roman"/>
              <a:cs typeface="Times New Roman"/>
            </a:endParaRPr>
          </a:p>
        </p:txBody>
      </p:sp>
      <p:pic>
        <p:nvPicPr>
          <p:cNvPr id="7" name="object 7"/>
          <p:cNvPicPr/>
          <p:nvPr/>
        </p:nvPicPr>
        <p:blipFill>
          <a:blip r:embed="rId5" cstate="print"/>
          <a:stretch>
            <a:fillRect/>
          </a:stretch>
        </p:blipFill>
        <p:spPr>
          <a:xfrm>
            <a:off x="5632703" y="2161032"/>
            <a:ext cx="3230118" cy="3559302"/>
          </a:xfrm>
          <a:prstGeom prst="rect">
            <a:avLst/>
          </a:prstGeom>
        </p:spPr>
      </p:pic>
      <p:sp>
        <p:nvSpPr>
          <p:cNvPr id="8" name="object 8"/>
          <p:cNvSpPr txBox="1"/>
          <p:nvPr/>
        </p:nvSpPr>
        <p:spPr>
          <a:xfrm>
            <a:off x="5756147" y="5755640"/>
            <a:ext cx="2703830" cy="238760"/>
          </a:xfrm>
          <a:prstGeom prst="rect">
            <a:avLst/>
          </a:prstGeom>
        </p:spPr>
        <p:txBody>
          <a:bodyPr vert="horz" wrap="square" lIns="0" tIns="12065" rIns="0" bIns="0" rtlCol="0">
            <a:spAutoFit/>
          </a:bodyPr>
          <a:lstStyle/>
          <a:p>
            <a:pPr marL="12700">
              <a:lnSpc>
                <a:spcPct val="100000"/>
              </a:lnSpc>
              <a:spcBef>
                <a:spcPts val="95"/>
              </a:spcBef>
            </a:pPr>
            <a:r>
              <a:rPr sz="1400" b="1" spc="-45" dirty="0">
                <a:latin typeface="Arial"/>
                <a:cs typeface="Arial"/>
              </a:rPr>
              <a:t>LocationID </a:t>
            </a:r>
            <a:r>
              <a:rPr sz="1400" b="1" spc="-85" dirty="0">
                <a:latin typeface="Arial"/>
                <a:cs typeface="Arial"/>
              </a:rPr>
              <a:t>and </a:t>
            </a:r>
            <a:r>
              <a:rPr sz="1400" b="1" spc="-65" dirty="0">
                <a:latin typeface="Arial"/>
                <a:cs typeface="Arial"/>
              </a:rPr>
              <a:t>CostRate</a:t>
            </a:r>
            <a:r>
              <a:rPr sz="1400" b="1" spc="-275" dirty="0">
                <a:latin typeface="Arial"/>
                <a:cs typeface="Arial"/>
              </a:rPr>
              <a:t> </a:t>
            </a:r>
            <a:r>
              <a:rPr sz="1400" b="1" spc="-65" dirty="0">
                <a:latin typeface="Arial"/>
                <a:cs typeface="Arial"/>
              </a:rPr>
              <a:t>Columns</a:t>
            </a:r>
            <a:endParaRPr sz="140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7</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9" name="object 9"/>
          <p:cNvSpPr txBox="1"/>
          <p:nvPr/>
        </p:nvSpPr>
        <p:spPr>
          <a:xfrm>
            <a:off x="481583" y="4562094"/>
            <a:ext cx="4631690" cy="954405"/>
          </a:xfrm>
          <a:prstGeom prst="rect">
            <a:avLst/>
          </a:prstGeom>
          <a:solidFill>
            <a:srgbClr val="FFFFC5"/>
          </a:solidFill>
        </p:spPr>
        <p:txBody>
          <a:bodyPr vert="horz" wrap="square" lIns="0" tIns="25400" rIns="0" bIns="0" rtlCol="0">
            <a:spAutoFit/>
          </a:bodyPr>
          <a:lstStyle/>
          <a:p>
            <a:pPr marL="91440">
              <a:lnSpc>
                <a:spcPct val="100000"/>
              </a:lnSpc>
              <a:spcBef>
                <a:spcPts val="200"/>
              </a:spcBef>
            </a:pPr>
            <a:r>
              <a:rPr sz="1400" spc="-5" dirty="0">
                <a:latin typeface="Courier New"/>
                <a:cs typeface="Courier New"/>
              </a:rPr>
              <a:t>USE</a:t>
            </a:r>
            <a:r>
              <a:rPr sz="1400" spc="-10" dirty="0">
                <a:latin typeface="Courier New"/>
                <a:cs typeface="Courier New"/>
              </a:rPr>
              <a:t> AdventureWorks2019</a:t>
            </a:r>
            <a:endParaRPr sz="1400">
              <a:latin typeface="Courier New"/>
              <a:cs typeface="Courier New"/>
            </a:endParaRPr>
          </a:p>
          <a:p>
            <a:pPr marL="91440" marR="1127125">
              <a:lnSpc>
                <a:spcPct val="100000"/>
              </a:lnSpc>
            </a:pPr>
            <a:r>
              <a:rPr sz="1400" spc="-10" dirty="0">
                <a:latin typeface="Courier New"/>
                <a:cs typeface="Courier New"/>
              </a:rPr>
              <a:t>SELECT LocationID, CostRate FROM  Production.Location</a:t>
            </a:r>
            <a:endParaRPr sz="1400">
              <a:latin typeface="Courier New"/>
              <a:cs typeface="Courier New"/>
            </a:endParaRPr>
          </a:p>
          <a:p>
            <a:pPr marL="91440">
              <a:lnSpc>
                <a:spcPct val="100000"/>
              </a:lnSpc>
            </a:pPr>
            <a:r>
              <a:rPr sz="1400" spc="-5" dirty="0">
                <a:latin typeface="Courier New"/>
                <a:cs typeface="Courier New"/>
              </a:rPr>
              <a:t>GO</a:t>
            </a:r>
            <a:endParaRPr sz="1400">
              <a:latin typeface="Courier New"/>
              <a:cs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090" y="21081"/>
            <a:ext cx="7983220" cy="635635"/>
          </a:xfrm>
          <a:prstGeom prst="rect">
            <a:avLst/>
          </a:prstGeom>
        </p:spPr>
        <p:txBody>
          <a:bodyPr vert="horz" wrap="square" lIns="0" tIns="12700" rIns="0" bIns="0" rtlCol="0">
            <a:spAutoFit/>
          </a:bodyPr>
          <a:lstStyle/>
          <a:p>
            <a:pPr marL="12700">
              <a:lnSpc>
                <a:spcPct val="100000"/>
              </a:lnSpc>
              <a:spcBef>
                <a:spcPts val="100"/>
              </a:spcBef>
            </a:pPr>
            <a:r>
              <a:rPr sz="4000" b="0" spc="150" dirty="0">
                <a:latin typeface="Times New Roman"/>
                <a:cs typeface="Times New Roman"/>
              </a:rPr>
              <a:t>Different</a:t>
            </a:r>
            <a:r>
              <a:rPr sz="4000" b="0" spc="-200" dirty="0">
                <a:latin typeface="Times New Roman"/>
                <a:cs typeface="Times New Roman"/>
              </a:rPr>
              <a:t> </a:t>
            </a:r>
            <a:r>
              <a:rPr sz="4000" b="0" spc="114" dirty="0">
                <a:latin typeface="Times New Roman"/>
                <a:cs typeface="Times New Roman"/>
              </a:rPr>
              <a:t>Expressions</a:t>
            </a:r>
            <a:r>
              <a:rPr sz="4000" b="0" spc="-160" dirty="0">
                <a:latin typeface="Times New Roman"/>
                <a:cs typeface="Times New Roman"/>
              </a:rPr>
              <a:t> </a:t>
            </a:r>
            <a:r>
              <a:rPr sz="4000" b="0" spc="180" dirty="0">
                <a:latin typeface="Times New Roman"/>
                <a:cs typeface="Times New Roman"/>
              </a:rPr>
              <a:t>with</a:t>
            </a:r>
            <a:r>
              <a:rPr sz="4000" b="0" spc="-180" dirty="0">
                <a:latin typeface="Times New Roman"/>
                <a:cs typeface="Times New Roman"/>
              </a:rPr>
              <a:t> </a:t>
            </a:r>
            <a:r>
              <a:rPr sz="4000" b="0" spc="165" dirty="0">
                <a:latin typeface="Times New Roman"/>
                <a:cs typeface="Times New Roman"/>
              </a:rPr>
              <a:t>SELECT</a:t>
            </a:r>
            <a:endParaRPr sz="4000">
              <a:latin typeface="Times New Roman"/>
              <a:cs typeface="Times New Roman"/>
            </a:endParaRPr>
          </a:p>
        </p:txBody>
      </p:sp>
      <p:sp>
        <p:nvSpPr>
          <p:cNvPr id="3" name="object 3"/>
          <p:cNvSpPr/>
          <p:nvPr/>
        </p:nvSpPr>
        <p:spPr>
          <a:xfrm>
            <a:off x="547116" y="1262633"/>
            <a:ext cx="7400925" cy="3099435"/>
          </a:xfrm>
          <a:custGeom>
            <a:avLst/>
            <a:gdLst/>
            <a:ahLst/>
            <a:cxnLst/>
            <a:rect l="l" t="t" r="r" b="b"/>
            <a:pathLst>
              <a:path w="7400925" h="3099435">
                <a:moveTo>
                  <a:pt x="6884034" y="0"/>
                </a:moveTo>
                <a:lnTo>
                  <a:pt x="516521" y="0"/>
                </a:lnTo>
                <a:lnTo>
                  <a:pt x="469507" y="2110"/>
                </a:lnTo>
                <a:lnTo>
                  <a:pt x="423676" y="8322"/>
                </a:lnTo>
                <a:lnTo>
                  <a:pt x="379209" y="18451"/>
                </a:lnTo>
                <a:lnTo>
                  <a:pt x="336290" y="32316"/>
                </a:lnTo>
                <a:lnTo>
                  <a:pt x="295100" y="49734"/>
                </a:lnTo>
                <a:lnTo>
                  <a:pt x="255823" y="70522"/>
                </a:lnTo>
                <a:lnTo>
                  <a:pt x="218639" y="94499"/>
                </a:lnTo>
                <a:lnTo>
                  <a:pt x="183733" y="121482"/>
                </a:lnTo>
                <a:lnTo>
                  <a:pt x="151285" y="151288"/>
                </a:lnTo>
                <a:lnTo>
                  <a:pt x="121479" y="183736"/>
                </a:lnTo>
                <a:lnTo>
                  <a:pt x="94496" y="218642"/>
                </a:lnTo>
                <a:lnTo>
                  <a:pt x="70520" y="255825"/>
                </a:lnTo>
                <a:lnTo>
                  <a:pt x="49732" y="295101"/>
                </a:lnTo>
                <a:lnTo>
                  <a:pt x="32314" y="336289"/>
                </a:lnTo>
                <a:lnTo>
                  <a:pt x="18450" y="379206"/>
                </a:lnTo>
                <a:lnTo>
                  <a:pt x="8321" y="423670"/>
                </a:lnTo>
                <a:lnTo>
                  <a:pt x="2110" y="469498"/>
                </a:lnTo>
                <a:lnTo>
                  <a:pt x="0" y="516509"/>
                </a:lnTo>
                <a:lnTo>
                  <a:pt x="0" y="2582545"/>
                </a:lnTo>
                <a:lnTo>
                  <a:pt x="2110" y="2629555"/>
                </a:lnTo>
                <a:lnTo>
                  <a:pt x="8321" y="2675383"/>
                </a:lnTo>
                <a:lnTo>
                  <a:pt x="18450" y="2719847"/>
                </a:lnTo>
                <a:lnTo>
                  <a:pt x="32314" y="2762764"/>
                </a:lnTo>
                <a:lnTo>
                  <a:pt x="49732" y="2803952"/>
                </a:lnTo>
                <a:lnTo>
                  <a:pt x="70520" y="2843228"/>
                </a:lnTo>
                <a:lnTo>
                  <a:pt x="94496" y="2880411"/>
                </a:lnTo>
                <a:lnTo>
                  <a:pt x="121479" y="2915317"/>
                </a:lnTo>
                <a:lnTo>
                  <a:pt x="151285" y="2947765"/>
                </a:lnTo>
                <a:lnTo>
                  <a:pt x="183733" y="2977571"/>
                </a:lnTo>
                <a:lnTo>
                  <a:pt x="218639" y="3004554"/>
                </a:lnTo>
                <a:lnTo>
                  <a:pt x="255823" y="3028531"/>
                </a:lnTo>
                <a:lnTo>
                  <a:pt x="295100" y="3049319"/>
                </a:lnTo>
                <a:lnTo>
                  <a:pt x="336290" y="3066737"/>
                </a:lnTo>
                <a:lnTo>
                  <a:pt x="379209" y="3080602"/>
                </a:lnTo>
                <a:lnTo>
                  <a:pt x="423676" y="3090731"/>
                </a:lnTo>
                <a:lnTo>
                  <a:pt x="469507" y="3096943"/>
                </a:lnTo>
                <a:lnTo>
                  <a:pt x="516521" y="3099054"/>
                </a:lnTo>
                <a:lnTo>
                  <a:pt x="6884034" y="3099054"/>
                </a:lnTo>
                <a:lnTo>
                  <a:pt x="6931045" y="3096943"/>
                </a:lnTo>
                <a:lnTo>
                  <a:pt x="6976873" y="3090731"/>
                </a:lnTo>
                <a:lnTo>
                  <a:pt x="7021337" y="3080602"/>
                </a:lnTo>
                <a:lnTo>
                  <a:pt x="7064254" y="3066737"/>
                </a:lnTo>
                <a:lnTo>
                  <a:pt x="7105442" y="3049319"/>
                </a:lnTo>
                <a:lnTo>
                  <a:pt x="7144718" y="3028531"/>
                </a:lnTo>
                <a:lnTo>
                  <a:pt x="7181901" y="3004554"/>
                </a:lnTo>
                <a:lnTo>
                  <a:pt x="7216807" y="2977571"/>
                </a:lnTo>
                <a:lnTo>
                  <a:pt x="7249255" y="2947765"/>
                </a:lnTo>
                <a:lnTo>
                  <a:pt x="7279061" y="2915317"/>
                </a:lnTo>
                <a:lnTo>
                  <a:pt x="7306044" y="2880411"/>
                </a:lnTo>
                <a:lnTo>
                  <a:pt x="7330021" y="2843228"/>
                </a:lnTo>
                <a:lnTo>
                  <a:pt x="7350809" y="2803952"/>
                </a:lnTo>
                <a:lnTo>
                  <a:pt x="7368227" y="2762764"/>
                </a:lnTo>
                <a:lnTo>
                  <a:pt x="7382092" y="2719847"/>
                </a:lnTo>
                <a:lnTo>
                  <a:pt x="7392221" y="2675383"/>
                </a:lnTo>
                <a:lnTo>
                  <a:pt x="7398433" y="2629555"/>
                </a:lnTo>
                <a:lnTo>
                  <a:pt x="7400544" y="2582545"/>
                </a:lnTo>
                <a:lnTo>
                  <a:pt x="7400544" y="516509"/>
                </a:lnTo>
                <a:lnTo>
                  <a:pt x="7398433" y="469498"/>
                </a:lnTo>
                <a:lnTo>
                  <a:pt x="7392221" y="423670"/>
                </a:lnTo>
                <a:lnTo>
                  <a:pt x="7382092" y="379206"/>
                </a:lnTo>
                <a:lnTo>
                  <a:pt x="7368227" y="336289"/>
                </a:lnTo>
                <a:lnTo>
                  <a:pt x="7350809" y="295101"/>
                </a:lnTo>
                <a:lnTo>
                  <a:pt x="7330021" y="255825"/>
                </a:lnTo>
                <a:lnTo>
                  <a:pt x="7306044" y="218642"/>
                </a:lnTo>
                <a:lnTo>
                  <a:pt x="7279061" y="183736"/>
                </a:lnTo>
                <a:lnTo>
                  <a:pt x="7249255" y="151288"/>
                </a:lnTo>
                <a:lnTo>
                  <a:pt x="7216807" y="121482"/>
                </a:lnTo>
                <a:lnTo>
                  <a:pt x="7181901" y="94499"/>
                </a:lnTo>
                <a:lnTo>
                  <a:pt x="7144718" y="70522"/>
                </a:lnTo>
                <a:lnTo>
                  <a:pt x="7105442" y="49734"/>
                </a:lnTo>
                <a:lnTo>
                  <a:pt x="7064254" y="32316"/>
                </a:lnTo>
                <a:lnTo>
                  <a:pt x="7021337" y="18451"/>
                </a:lnTo>
                <a:lnTo>
                  <a:pt x="6976873" y="8322"/>
                </a:lnTo>
                <a:lnTo>
                  <a:pt x="6931045" y="2110"/>
                </a:lnTo>
                <a:lnTo>
                  <a:pt x="6884034" y="0"/>
                </a:lnTo>
                <a:close/>
              </a:path>
            </a:pathLst>
          </a:custGeom>
          <a:solidFill>
            <a:srgbClr val="C0504D"/>
          </a:solidFill>
        </p:spPr>
        <p:txBody>
          <a:bodyPr wrap="square" lIns="0" tIns="0" rIns="0" bIns="0" rtlCol="0"/>
          <a:lstStyle/>
          <a:p>
            <a:endParaRPr/>
          </a:p>
        </p:txBody>
      </p:sp>
      <p:sp>
        <p:nvSpPr>
          <p:cNvPr id="4" name="object 4"/>
          <p:cNvSpPr txBox="1"/>
          <p:nvPr/>
        </p:nvSpPr>
        <p:spPr>
          <a:xfrm>
            <a:off x="673862" y="1724914"/>
            <a:ext cx="7148830" cy="2037080"/>
          </a:xfrm>
          <a:prstGeom prst="rect">
            <a:avLst/>
          </a:prstGeom>
        </p:spPr>
        <p:txBody>
          <a:bodyPr vert="horz" wrap="square" lIns="0" tIns="53975" rIns="0" bIns="0" rtlCol="0">
            <a:spAutoFit/>
          </a:bodyPr>
          <a:lstStyle/>
          <a:p>
            <a:pPr marL="355600" marR="5080" indent="-342900" algn="just">
              <a:lnSpc>
                <a:spcPts val="2590"/>
              </a:lnSpc>
              <a:spcBef>
                <a:spcPts val="425"/>
              </a:spcBef>
              <a:buFont typeface="Wingdings"/>
              <a:buChar char=""/>
              <a:tabLst>
                <a:tab pos="355600" algn="l"/>
              </a:tabLst>
            </a:pPr>
            <a:r>
              <a:rPr sz="2400" spc="100" dirty="0">
                <a:solidFill>
                  <a:srgbClr val="FFFFFF"/>
                </a:solidFill>
                <a:latin typeface="Times New Roman"/>
                <a:cs typeface="Times New Roman"/>
              </a:rPr>
              <a:t>SELECT </a:t>
            </a:r>
            <a:r>
              <a:rPr sz="2400" spc="105" dirty="0">
                <a:solidFill>
                  <a:srgbClr val="FFFFFF"/>
                </a:solidFill>
                <a:latin typeface="Times New Roman"/>
                <a:cs typeface="Times New Roman"/>
              </a:rPr>
              <a:t>statement </a:t>
            </a:r>
            <a:r>
              <a:rPr sz="2400" spc="35" dirty="0">
                <a:solidFill>
                  <a:srgbClr val="FFFFFF"/>
                </a:solidFill>
                <a:latin typeface="Times New Roman"/>
                <a:cs typeface="Times New Roman"/>
              </a:rPr>
              <a:t>allows </a:t>
            </a:r>
            <a:r>
              <a:rPr sz="2400" spc="70" dirty="0">
                <a:solidFill>
                  <a:srgbClr val="FFFFFF"/>
                </a:solidFill>
                <a:latin typeface="Times New Roman"/>
                <a:cs typeface="Times New Roman"/>
              </a:rPr>
              <a:t>users </a:t>
            </a:r>
            <a:r>
              <a:rPr sz="2400" spc="130" dirty="0">
                <a:solidFill>
                  <a:srgbClr val="FFFFFF"/>
                </a:solidFill>
                <a:latin typeface="Times New Roman"/>
                <a:cs typeface="Times New Roman"/>
              </a:rPr>
              <a:t>to </a:t>
            </a:r>
            <a:r>
              <a:rPr sz="2400" spc="35" dirty="0">
                <a:solidFill>
                  <a:srgbClr val="FFFFFF"/>
                </a:solidFill>
                <a:latin typeface="Times New Roman"/>
                <a:cs typeface="Times New Roman"/>
              </a:rPr>
              <a:t>specify</a:t>
            </a:r>
            <a:r>
              <a:rPr sz="2400" spc="-415" dirty="0">
                <a:solidFill>
                  <a:srgbClr val="FFFFFF"/>
                </a:solidFill>
                <a:latin typeface="Times New Roman"/>
                <a:cs typeface="Times New Roman"/>
              </a:rPr>
              <a:t> </a:t>
            </a:r>
            <a:r>
              <a:rPr sz="2400" spc="85" dirty="0">
                <a:solidFill>
                  <a:srgbClr val="FFFFFF"/>
                </a:solidFill>
                <a:latin typeface="Times New Roman"/>
                <a:cs typeface="Times New Roman"/>
              </a:rPr>
              <a:t>different  </a:t>
            </a:r>
            <a:r>
              <a:rPr sz="2400" spc="70" dirty="0">
                <a:solidFill>
                  <a:srgbClr val="FFFFFF"/>
                </a:solidFill>
                <a:latin typeface="Times New Roman"/>
                <a:cs typeface="Times New Roman"/>
              </a:rPr>
              <a:t>expressions </a:t>
            </a:r>
            <a:r>
              <a:rPr sz="2400" spc="114" dirty="0">
                <a:solidFill>
                  <a:srgbClr val="FFFFFF"/>
                </a:solidFill>
                <a:latin typeface="Times New Roman"/>
                <a:cs typeface="Times New Roman"/>
              </a:rPr>
              <a:t>in </a:t>
            </a:r>
            <a:r>
              <a:rPr sz="2400" spc="100" dirty="0">
                <a:solidFill>
                  <a:srgbClr val="FFFFFF"/>
                </a:solidFill>
                <a:latin typeface="Times New Roman"/>
                <a:cs typeface="Times New Roman"/>
              </a:rPr>
              <a:t>order </a:t>
            </a:r>
            <a:r>
              <a:rPr sz="2400" spc="130" dirty="0">
                <a:solidFill>
                  <a:srgbClr val="FFFFFF"/>
                </a:solidFill>
                <a:latin typeface="Times New Roman"/>
                <a:cs typeface="Times New Roman"/>
              </a:rPr>
              <a:t>to </a:t>
            </a:r>
            <a:r>
              <a:rPr sz="2400" spc="45" dirty="0">
                <a:solidFill>
                  <a:srgbClr val="FFFFFF"/>
                </a:solidFill>
                <a:latin typeface="Times New Roman"/>
                <a:cs typeface="Times New Roman"/>
              </a:rPr>
              <a:t>view </a:t>
            </a:r>
            <a:r>
              <a:rPr sz="2400" spc="135" dirty="0">
                <a:solidFill>
                  <a:srgbClr val="FFFFFF"/>
                </a:solidFill>
                <a:latin typeface="Times New Roman"/>
                <a:cs typeface="Times New Roman"/>
              </a:rPr>
              <a:t>the </a:t>
            </a:r>
            <a:r>
              <a:rPr sz="2400" spc="75" dirty="0">
                <a:solidFill>
                  <a:srgbClr val="FFFFFF"/>
                </a:solidFill>
                <a:latin typeface="Times New Roman"/>
                <a:cs typeface="Times New Roman"/>
              </a:rPr>
              <a:t>resultset </a:t>
            </a:r>
            <a:r>
              <a:rPr sz="2400" spc="114" dirty="0">
                <a:solidFill>
                  <a:srgbClr val="FFFFFF"/>
                </a:solidFill>
                <a:latin typeface="Times New Roman"/>
                <a:cs typeface="Times New Roman"/>
              </a:rPr>
              <a:t>in </a:t>
            </a:r>
            <a:r>
              <a:rPr sz="2400" spc="125" dirty="0">
                <a:solidFill>
                  <a:srgbClr val="FFFFFF"/>
                </a:solidFill>
                <a:latin typeface="Times New Roman"/>
                <a:cs typeface="Times New Roman"/>
              </a:rPr>
              <a:t>an  </a:t>
            </a:r>
            <a:r>
              <a:rPr sz="2400" spc="100" dirty="0">
                <a:solidFill>
                  <a:srgbClr val="FFFFFF"/>
                </a:solidFill>
                <a:latin typeface="Times New Roman"/>
                <a:cs typeface="Times New Roman"/>
              </a:rPr>
              <a:t>ordered</a:t>
            </a:r>
            <a:r>
              <a:rPr sz="2400" spc="-114" dirty="0">
                <a:solidFill>
                  <a:srgbClr val="FFFFFF"/>
                </a:solidFill>
                <a:latin typeface="Times New Roman"/>
                <a:cs typeface="Times New Roman"/>
              </a:rPr>
              <a:t> </a:t>
            </a:r>
            <a:r>
              <a:rPr sz="2400" spc="105" dirty="0">
                <a:solidFill>
                  <a:srgbClr val="FFFFFF"/>
                </a:solidFill>
                <a:latin typeface="Times New Roman"/>
                <a:cs typeface="Times New Roman"/>
              </a:rPr>
              <a:t>manner.</a:t>
            </a:r>
            <a:endParaRPr sz="2400">
              <a:latin typeface="Times New Roman"/>
              <a:cs typeface="Times New Roman"/>
            </a:endParaRPr>
          </a:p>
          <a:p>
            <a:pPr marL="355600" marR="5080" indent="-342900" algn="just">
              <a:lnSpc>
                <a:spcPts val="2590"/>
              </a:lnSpc>
              <a:spcBef>
                <a:spcPts val="5"/>
              </a:spcBef>
              <a:buFont typeface="Wingdings"/>
              <a:buChar char=""/>
              <a:tabLst>
                <a:tab pos="355600" algn="l"/>
              </a:tabLst>
            </a:pPr>
            <a:r>
              <a:rPr sz="2400" spc="105" dirty="0">
                <a:solidFill>
                  <a:srgbClr val="FFFFFF"/>
                </a:solidFill>
                <a:latin typeface="Times New Roman"/>
                <a:cs typeface="Times New Roman"/>
              </a:rPr>
              <a:t>These </a:t>
            </a:r>
            <a:r>
              <a:rPr sz="2400" spc="70" dirty="0">
                <a:solidFill>
                  <a:srgbClr val="FFFFFF"/>
                </a:solidFill>
                <a:latin typeface="Times New Roman"/>
                <a:cs typeface="Times New Roman"/>
              </a:rPr>
              <a:t>expressions </a:t>
            </a:r>
            <a:r>
              <a:rPr sz="2400" spc="40" dirty="0">
                <a:solidFill>
                  <a:srgbClr val="FFFFFF"/>
                </a:solidFill>
                <a:latin typeface="Times New Roman"/>
                <a:cs typeface="Times New Roman"/>
              </a:rPr>
              <a:t>assign </a:t>
            </a:r>
            <a:r>
              <a:rPr sz="2400" spc="85" dirty="0">
                <a:solidFill>
                  <a:srgbClr val="FFFFFF"/>
                </a:solidFill>
                <a:latin typeface="Times New Roman"/>
                <a:cs typeface="Times New Roman"/>
              </a:rPr>
              <a:t>different  names</a:t>
            </a:r>
            <a:r>
              <a:rPr sz="2400" spc="770" dirty="0">
                <a:solidFill>
                  <a:srgbClr val="FFFFFF"/>
                </a:solidFill>
                <a:latin typeface="Times New Roman"/>
                <a:cs typeface="Times New Roman"/>
              </a:rPr>
              <a:t> </a:t>
            </a:r>
            <a:r>
              <a:rPr sz="2400" spc="135" dirty="0">
                <a:solidFill>
                  <a:srgbClr val="FFFFFF"/>
                </a:solidFill>
                <a:latin typeface="Times New Roman"/>
                <a:cs typeface="Times New Roman"/>
              </a:rPr>
              <a:t>to  </a:t>
            </a:r>
            <a:r>
              <a:rPr sz="2400" spc="95" dirty="0">
                <a:solidFill>
                  <a:srgbClr val="FFFFFF"/>
                </a:solidFill>
                <a:latin typeface="Times New Roman"/>
                <a:cs typeface="Times New Roman"/>
              </a:rPr>
              <a:t>columns </a:t>
            </a:r>
            <a:r>
              <a:rPr sz="2400" spc="114" dirty="0">
                <a:solidFill>
                  <a:srgbClr val="FFFFFF"/>
                </a:solidFill>
                <a:latin typeface="Times New Roman"/>
                <a:cs typeface="Times New Roman"/>
              </a:rPr>
              <a:t>in </a:t>
            </a:r>
            <a:r>
              <a:rPr sz="2400" spc="140" dirty="0">
                <a:solidFill>
                  <a:srgbClr val="FFFFFF"/>
                </a:solidFill>
                <a:latin typeface="Times New Roman"/>
                <a:cs typeface="Times New Roman"/>
              </a:rPr>
              <a:t>the </a:t>
            </a:r>
            <a:r>
              <a:rPr sz="2400" spc="70" dirty="0">
                <a:solidFill>
                  <a:srgbClr val="FFFFFF"/>
                </a:solidFill>
                <a:latin typeface="Times New Roman"/>
                <a:cs typeface="Times New Roman"/>
              </a:rPr>
              <a:t>resultset, </a:t>
            </a:r>
            <a:r>
              <a:rPr sz="2400" spc="110" dirty="0">
                <a:solidFill>
                  <a:srgbClr val="FFFFFF"/>
                </a:solidFill>
                <a:latin typeface="Times New Roman"/>
                <a:cs typeface="Times New Roman"/>
              </a:rPr>
              <a:t>compute </a:t>
            </a:r>
            <a:r>
              <a:rPr sz="2400" spc="45" dirty="0">
                <a:solidFill>
                  <a:srgbClr val="FFFFFF"/>
                </a:solidFill>
                <a:latin typeface="Times New Roman"/>
                <a:cs typeface="Times New Roman"/>
              </a:rPr>
              <a:t>values, </a:t>
            </a:r>
            <a:r>
              <a:rPr sz="2400" spc="130" dirty="0">
                <a:solidFill>
                  <a:srgbClr val="FFFFFF"/>
                </a:solidFill>
                <a:latin typeface="Times New Roman"/>
                <a:cs typeface="Times New Roman"/>
              </a:rPr>
              <a:t>and  </a:t>
            </a:r>
            <a:r>
              <a:rPr sz="2400" spc="70" dirty="0">
                <a:solidFill>
                  <a:srgbClr val="FFFFFF"/>
                </a:solidFill>
                <a:latin typeface="Times New Roman"/>
                <a:cs typeface="Times New Roman"/>
              </a:rPr>
              <a:t>eliminate </a:t>
            </a:r>
            <a:r>
              <a:rPr sz="2400" spc="80" dirty="0">
                <a:solidFill>
                  <a:srgbClr val="FFFFFF"/>
                </a:solidFill>
                <a:latin typeface="Times New Roman"/>
                <a:cs typeface="Times New Roman"/>
              </a:rPr>
              <a:t>duplicate</a:t>
            </a:r>
            <a:r>
              <a:rPr sz="2400" spc="-215" dirty="0">
                <a:solidFill>
                  <a:srgbClr val="FFFFFF"/>
                </a:solidFill>
                <a:latin typeface="Times New Roman"/>
                <a:cs typeface="Times New Roman"/>
              </a:rPr>
              <a:t> </a:t>
            </a:r>
            <a:r>
              <a:rPr sz="2400" spc="55" dirty="0">
                <a:solidFill>
                  <a:srgbClr val="FFFFFF"/>
                </a:solidFill>
                <a:latin typeface="Times New Roman"/>
                <a:cs typeface="Times New Roman"/>
              </a:rPr>
              <a:t>values</a:t>
            </a:r>
            <a:endParaRPr sz="2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6798945" cy="635635"/>
          </a:xfrm>
          <a:prstGeom prst="rect">
            <a:avLst/>
          </a:prstGeom>
        </p:spPr>
        <p:txBody>
          <a:bodyPr vert="horz" wrap="square" lIns="0" tIns="12700" rIns="0" bIns="0" rtlCol="0">
            <a:spAutoFit/>
          </a:bodyPr>
          <a:lstStyle/>
          <a:p>
            <a:pPr marL="12700">
              <a:lnSpc>
                <a:spcPct val="100000"/>
              </a:lnSpc>
              <a:spcBef>
                <a:spcPts val="100"/>
              </a:spcBef>
            </a:pPr>
            <a:r>
              <a:rPr sz="4000" b="0" spc="145" dirty="0">
                <a:latin typeface="Times New Roman"/>
                <a:cs typeface="Times New Roman"/>
              </a:rPr>
              <a:t>Using</a:t>
            </a:r>
            <a:r>
              <a:rPr sz="4000" b="0" spc="-170" dirty="0">
                <a:latin typeface="Times New Roman"/>
                <a:cs typeface="Times New Roman"/>
              </a:rPr>
              <a:t> </a:t>
            </a:r>
            <a:r>
              <a:rPr sz="4000" b="0" spc="229" dirty="0">
                <a:latin typeface="Times New Roman"/>
                <a:cs typeface="Times New Roman"/>
              </a:rPr>
              <a:t>Constants</a:t>
            </a:r>
            <a:r>
              <a:rPr sz="4000" b="0" spc="-165" dirty="0">
                <a:latin typeface="Times New Roman"/>
                <a:cs typeface="Times New Roman"/>
              </a:rPr>
              <a:t> </a:t>
            </a:r>
            <a:r>
              <a:rPr sz="4000" b="0" spc="195" dirty="0">
                <a:latin typeface="Times New Roman"/>
                <a:cs typeface="Times New Roman"/>
              </a:rPr>
              <a:t>in</a:t>
            </a:r>
            <a:r>
              <a:rPr sz="4000" b="0" spc="-175" dirty="0">
                <a:latin typeface="Times New Roman"/>
                <a:cs typeface="Times New Roman"/>
              </a:rPr>
              <a:t> </a:t>
            </a:r>
            <a:r>
              <a:rPr sz="4000" b="0" spc="145" dirty="0">
                <a:latin typeface="Times New Roman"/>
                <a:cs typeface="Times New Roman"/>
              </a:rPr>
              <a:t>Result</a:t>
            </a:r>
            <a:r>
              <a:rPr sz="4000" b="0" spc="-175" dirty="0">
                <a:latin typeface="Times New Roman"/>
                <a:cs typeface="Times New Roman"/>
              </a:rPr>
              <a:t> </a:t>
            </a:r>
            <a:r>
              <a:rPr sz="4000" b="0" spc="130" dirty="0">
                <a:latin typeface="Times New Roman"/>
                <a:cs typeface="Times New Roman"/>
              </a:rPr>
              <a:t>Sets</a:t>
            </a:r>
            <a:endParaRPr sz="4000">
              <a:latin typeface="Times New Roman"/>
              <a:cs typeface="Times New Roman"/>
            </a:endParaRPr>
          </a:p>
        </p:txBody>
      </p:sp>
      <p:grpSp>
        <p:nvGrpSpPr>
          <p:cNvPr id="3" name="object 3"/>
          <p:cNvGrpSpPr/>
          <p:nvPr/>
        </p:nvGrpSpPr>
        <p:grpSpPr>
          <a:xfrm>
            <a:off x="339852" y="943355"/>
            <a:ext cx="8079105" cy="1798320"/>
            <a:chOff x="339852" y="943355"/>
            <a:chExt cx="8079105" cy="1798320"/>
          </a:xfrm>
        </p:grpSpPr>
        <p:pic>
          <p:nvPicPr>
            <p:cNvPr id="4" name="object 4"/>
            <p:cNvPicPr/>
            <p:nvPr/>
          </p:nvPicPr>
          <p:blipFill>
            <a:blip r:embed="rId3" cstate="print"/>
            <a:stretch>
              <a:fillRect/>
            </a:stretch>
          </p:blipFill>
          <p:spPr>
            <a:xfrm>
              <a:off x="339852" y="943355"/>
              <a:ext cx="8078724" cy="1798320"/>
            </a:xfrm>
            <a:prstGeom prst="rect">
              <a:avLst/>
            </a:prstGeom>
          </p:spPr>
        </p:pic>
        <p:sp>
          <p:nvSpPr>
            <p:cNvPr id="5" name="object 5"/>
            <p:cNvSpPr/>
            <p:nvPr/>
          </p:nvSpPr>
          <p:spPr>
            <a:xfrm>
              <a:off x="381000" y="961643"/>
              <a:ext cx="8003540" cy="1723389"/>
            </a:xfrm>
            <a:custGeom>
              <a:avLst/>
              <a:gdLst/>
              <a:ahLst/>
              <a:cxnLst/>
              <a:rect l="l" t="t" r="r" b="b"/>
              <a:pathLst>
                <a:path w="8003540" h="1723389">
                  <a:moveTo>
                    <a:pt x="8003286" y="223266"/>
                  </a:moveTo>
                  <a:lnTo>
                    <a:pt x="7995259" y="223266"/>
                  </a:lnTo>
                  <a:lnTo>
                    <a:pt x="7988643" y="196380"/>
                  </a:lnTo>
                  <a:lnTo>
                    <a:pt x="7971231" y="155181"/>
                  </a:lnTo>
                  <a:lnTo>
                    <a:pt x="7947888" y="117551"/>
                  </a:lnTo>
                  <a:lnTo>
                    <a:pt x="7919186" y="84099"/>
                  </a:lnTo>
                  <a:lnTo>
                    <a:pt x="7885735" y="55397"/>
                  </a:lnTo>
                  <a:lnTo>
                    <a:pt x="7848105" y="32054"/>
                  </a:lnTo>
                  <a:lnTo>
                    <a:pt x="7806906" y="14643"/>
                  </a:lnTo>
                  <a:lnTo>
                    <a:pt x="7762722" y="3759"/>
                  </a:lnTo>
                  <a:lnTo>
                    <a:pt x="7716139" y="0"/>
                  </a:lnTo>
                  <a:lnTo>
                    <a:pt x="287147" y="0"/>
                  </a:lnTo>
                  <a:lnTo>
                    <a:pt x="240563" y="3759"/>
                  </a:lnTo>
                  <a:lnTo>
                    <a:pt x="196380" y="14643"/>
                  </a:lnTo>
                  <a:lnTo>
                    <a:pt x="155181" y="32054"/>
                  </a:lnTo>
                  <a:lnTo>
                    <a:pt x="117551" y="55397"/>
                  </a:lnTo>
                  <a:lnTo>
                    <a:pt x="84099" y="84099"/>
                  </a:lnTo>
                  <a:lnTo>
                    <a:pt x="55397" y="117551"/>
                  </a:lnTo>
                  <a:lnTo>
                    <a:pt x="32042" y="155181"/>
                  </a:lnTo>
                  <a:lnTo>
                    <a:pt x="14630" y="196380"/>
                  </a:lnTo>
                  <a:lnTo>
                    <a:pt x="3746" y="240563"/>
                  </a:lnTo>
                  <a:lnTo>
                    <a:pt x="0" y="287147"/>
                  </a:lnTo>
                  <a:lnTo>
                    <a:pt x="0" y="1435735"/>
                  </a:lnTo>
                  <a:lnTo>
                    <a:pt x="3746" y="1482331"/>
                  </a:lnTo>
                  <a:lnTo>
                    <a:pt x="14630" y="1526514"/>
                  </a:lnTo>
                  <a:lnTo>
                    <a:pt x="32042" y="1567713"/>
                  </a:lnTo>
                  <a:lnTo>
                    <a:pt x="55397" y="1605343"/>
                  </a:lnTo>
                  <a:lnTo>
                    <a:pt x="84099" y="1638795"/>
                  </a:lnTo>
                  <a:lnTo>
                    <a:pt x="117551" y="1667497"/>
                  </a:lnTo>
                  <a:lnTo>
                    <a:pt x="155181" y="1690839"/>
                  </a:lnTo>
                  <a:lnTo>
                    <a:pt x="196380" y="1708251"/>
                  </a:lnTo>
                  <a:lnTo>
                    <a:pt x="240563" y="1719135"/>
                  </a:lnTo>
                  <a:lnTo>
                    <a:pt x="287147" y="1722882"/>
                  </a:lnTo>
                  <a:lnTo>
                    <a:pt x="7716139" y="1722882"/>
                  </a:lnTo>
                  <a:lnTo>
                    <a:pt x="7762722" y="1719135"/>
                  </a:lnTo>
                  <a:lnTo>
                    <a:pt x="7806906" y="1708251"/>
                  </a:lnTo>
                  <a:lnTo>
                    <a:pt x="7848105" y="1690839"/>
                  </a:lnTo>
                  <a:lnTo>
                    <a:pt x="7885735" y="1667497"/>
                  </a:lnTo>
                  <a:lnTo>
                    <a:pt x="7919186" y="1638795"/>
                  </a:lnTo>
                  <a:lnTo>
                    <a:pt x="7947888" y="1605343"/>
                  </a:lnTo>
                  <a:lnTo>
                    <a:pt x="7971231" y="1567713"/>
                  </a:lnTo>
                  <a:lnTo>
                    <a:pt x="7988643" y="1526514"/>
                  </a:lnTo>
                  <a:lnTo>
                    <a:pt x="7995259" y="1499616"/>
                  </a:lnTo>
                  <a:lnTo>
                    <a:pt x="8003286" y="1499616"/>
                  </a:lnTo>
                  <a:lnTo>
                    <a:pt x="8003286" y="1435735"/>
                  </a:lnTo>
                  <a:lnTo>
                    <a:pt x="8003286" y="287147"/>
                  </a:lnTo>
                  <a:lnTo>
                    <a:pt x="8003286" y="223266"/>
                  </a:lnTo>
                  <a:close/>
                </a:path>
              </a:pathLst>
            </a:custGeom>
            <a:solidFill>
              <a:srgbClr val="1F487C"/>
            </a:solidFill>
          </p:spPr>
          <p:txBody>
            <a:bodyPr wrap="square" lIns="0" tIns="0" rIns="0" bIns="0" rtlCol="0"/>
            <a:lstStyle/>
            <a:p>
              <a:endParaRPr/>
            </a:p>
          </p:txBody>
        </p:sp>
      </p:grpSp>
      <p:sp>
        <p:nvSpPr>
          <p:cNvPr id="6" name="object 6"/>
          <p:cNvSpPr txBox="1"/>
          <p:nvPr/>
        </p:nvSpPr>
        <p:spPr>
          <a:xfrm>
            <a:off x="581405" y="975105"/>
            <a:ext cx="7740015" cy="1568450"/>
          </a:xfrm>
          <a:prstGeom prst="rect">
            <a:avLst/>
          </a:prstGeom>
        </p:spPr>
        <p:txBody>
          <a:bodyPr vert="horz" wrap="square" lIns="0" tIns="12700" rIns="0" bIns="0" rtlCol="0">
            <a:spAutoFit/>
          </a:bodyPr>
          <a:lstStyle/>
          <a:p>
            <a:pPr marL="355600" indent="-342900">
              <a:lnSpc>
                <a:spcPts val="2510"/>
              </a:lnSpc>
              <a:spcBef>
                <a:spcPts val="100"/>
              </a:spcBef>
              <a:buFont typeface="Wingdings"/>
              <a:buChar char=""/>
              <a:tabLst>
                <a:tab pos="355600" algn="l"/>
              </a:tabLst>
            </a:pPr>
            <a:r>
              <a:rPr sz="2200" spc="95" dirty="0">
                <a:solidFill>
                  <a:srgbClr val="FFFFFF"/>
                </a:solidFill>
                <a:latin typeface="Times New Roman"/>
                <a:cs typeface="Times New Roman"/>
              </a:rPr>
              <a:t>Used</a:t>
            </a:r>
            <a:r>
              <a:rPr sz="2200" spc="-110" dirty="0">
                <a:solidFill>
                  <a:srgbClr val="FFFFFF"/>
                </a:solidFill>
                <a:latin typeface="Times New Roman"/>
                <a:cs typeface="Times New Roman"/>
              </a:rPr>
              <a:t> </a:t>
            </a:r>
            <a:r>
              <a:rPr sz="2200" spc="125" dirty="0">
                <a:solidFill>
                  <a:srgbClr val="FFFFFF"/>
                </a:solidFill>
                <a:latin typeface="Times New Roman"/>
                <a:cs typeface="Times New Roman"/>
              </a:rPr>
              <a:t>when</a:t>
            </a:r>
            <a:r>
              <a:rPr sz="2200" spc="-95" dirty="0">
                <a:solidFill>
                  <a:srgbClr val="FFFFFF"/>
                </a:solidFill>
                <a:latin typeface="Times New Roman"/>
                <a:cs typeface="Times New Roman"/>
              </a:rPr>
              <a:t> </a:t>
            </a:r>
            <a:r>
              <a:rPr sz="2200" spc="75" dirty="0">
                <a:solidFill>
                  <a:srgbClr val="FFFFFF"/>
                </a:solidFill>
                <a:latin typeface="Times New Roman"/>
                <a:cs typeface="Times New Roman"/>
              </a:rPr>
              <a:t>character</a:t>
            </a:r>
            <a:r>
              <a:rPr sz="2200" spc="-100" dirty="0">
                <a:solidFill>
                  <a:srgbClr val="FFFFFF"/>
                </a:solidFill>
                <a:latin typeface="Times New Roman"/>
                <a:cs typeface="Times New Roman"/>
              </a:rPr>
              <a:t> </a:t>
            </a:r>
            <a:r>
              <a:rPr sz="2200" spc="85" dirty="0">
                <a:solidFill>
                  <a:srgbClr val="FFFFFF"/>
                </a:solidFill>
                <a:latin typeface="Times New Roman"/>
                <a:cs typeface="Times New Roman"/>
              </a:rPr>
              <a:t>columns</a:t>
            </a:r>
            <a:r>
              <a:rPr sz="2200" spc="-100" dirty="0">
                <a:solidFill>
                  <a:srgbClr val="FFFFFF"/>
                </a:solidFill>
                <a:latin typeface="Times New Roman"/>
                <a:cs typeface="Times New Roman"/>
              </a:rPr>
              <a:t> </a:t>
            </a:r>
            <a:r>
              <a:rPr sz="2200" spc="60" dirty="0">
                <a:solidFill>
                  <a:srgbClr val="FFFFFF"/>
                </a:solidFill>
                <a:latin typeface="Times New Roman"/>
                <a:cs typeface="Times New Roman"/>
              </a:rPr>
              <a:t>are</a:t>
            </a:r>
            <a:r>
              <a:rPr sz="2200" spc="-95" dirty="0">
                <a:solidFill>
                  <a:srgbClr val="FFFFFF"/>
                </a:solidFill>
                <a:latin typeface="Times New Roman"/>
                <a:cs typeface="Times New Roman"/>
              </a:rPr>
              <a:t> </a:t>
            </a:r>
            <a:r>
              <a:rPr sz="2200" spc="85" dirty="0">
                <a:solidFill>
                  <a:srgbClr val="FFFFFF"/>
                </a:solidFill>
                <a:latin typeface="Times New Roman"/>
                <a:cs typeface="Times New Roman"/>
              </a:rPr>
              <a:t>joined</a:t>
            </a:r>
            <a:endParaRPr sz="2200">
              <a:latin typeface="Times New Roman"/>
              <a:cs typeface="Times New Roman"/>
            </a:endParaRPr>
          </a:p>
          <a:p>
            <a:pPr marL="355600" indent="-342900">
              <a:lnSpc>
                <a:spcPts val="2375"/>
              </a:lnSpc>
              <a:buFont typeface="Wingdings"/>
              <a:buChar char=""/>
              <a:tabLst>
                <a:tab pos="355600" algn="l"/>
              </a:tabLst>
            </a:pPr>
            <a:r>
              <a:rPr sz="2200" spc="80" dirty="0">
                <a:solidFill>
                  <a:srgbClr val="FFFFFF"/>
                </a:solidFill>
                <a:latin typeface="Times New Roman"/>
                <a:cs typeface="Times New Roman"/>
              </a:rPr>
              <a:t>Help</a:t>
            </a:r>
            <a:r>
              <a:rPr sz="2200" spc="-100" dirty="0">
                <a:solidFill>
                  <a:srgbClr val="FFFFFF"/>
                </a:solidFill>
                <a:latin typeface="Times New Roman"/>
                <a:cs typeface="Times New Roman"/>
              </a:rPr>
              <a:t> </a:t>
            </a:r>
            <a:r>
              <a:rPr sz="2200" spc="105" dirty="0">
                <a:solidFill>
                  <a:srgbClr val="FFFFFF"/>
                </a:solidFill>
                <a:latin typeface="Times New Roman"/>
                <a:cs typeface="Times New Roman"/>
              </a:rPr>
              <a:t>in</a:t>
            </a:r>
            <a:r>
              <a:rPr sz="2200" spc="-90" dirty="0">
                <a:solidFill>
                  <a:srgbClr val="FFFFFF"/>
                </a:solidFill>
                <a:latin typeface="Times New Roman"/>
                <a:cs typeface="Times New Roman"/>
              </a:rPr>
              <a:t> </a:t>
            </a:r>
            <a:r>
              <a:rPr sz="2200" spc="95" dirty="0">
                <a:solidFill>
                  <a:srgbClr val="FFFFFF"/>
                </a:solidFill>
                <a:latin typeface="Times New Roman"/>
                <a:cs typeface="Times New Roman"/>
              </a:rPr>
              <a:t>proper</a:t>
            </a:r>
            <a:r>
              <a:rPr sz="2200" spc="-95" dirty="0">
                <a:solidFill>
                  <a:srgbClr val="FFFFFF"/>
                </a:solidFill>
                <a:latin typeface="Times New Roman"/>
                <a:cs typeface="Times New Roman"/>
              </a:rPr>
              <a:t> </a:t>
            </a:r>
            <a:r>
              <a:rPr sz="2200" spc="85" dirty="0">
                <a:solidFill>
                  <a:srgbClr val="FFFFFF"/>
                </a:solidFill>
                <a:latin typeface="Times New Roman"/>
                <a:cs typeface="Times New Roman"/>
              </a:rPr>
              <a:t>formatting</a:t>
            </a:r>
            <a:r>
              <a:rPr sz="2200" spc="-100" dirty="0">
                <a:solidFill>
                  <a:srgbClr val="FFFFFF"/>
                </a:solidFill>
                <a:latin typeface="Times New Roman"/>
                <a:cs typeface="Times New Roman"/>
              </a:rPr>
              <a:t> </a:t>
            </a:r>
            <a:r>
              <a:rPr sz="2200" spc="95" dirty="0">
                <a:solidFill>
                  <a:srgbClr val="FFFFFF"/>
                </a:solidFill>
                <a:latin typeface="Times New Roman"/>
                <a:cs typeface="Times New Roman"/>
              </a:rPr>
              <a:t>or</a:t>
            </a:r>
            <a:r>
              <a:rPr sz="2200" spc="-100" dirty="0">
                <a:solidFill>
                  <a:srgbClr val="FFFFFF"/>
                </a:solidFill>
                <a:latin typeface="Times New Roman"/>
                <a:cs typeface="Times New Roman"/>
              </a:rPr>
              <a:t> </a:t>
            </a:r>
            <a:r>
              <a:rPr sz="2200" spc="55" dirty="0">
                <a:solidFill>
                  <a:srgbClr val="FFFFFF"/>
                </a:solidFill>
                <a:latin typeface="Times New Roman"/>
                <a:cs typeface="Times New Roman"/>
              </a:rPr>
              <a:t>readability</a:t>
            </a:r>
            <a:endParaRPr sz="2200">
              <a:latin typeface="Times New Roman"/>
              <a:cs typeface="Times New Roman"/>
            </a:endParaRPr>
          </a:p>
          <a:p>
            <a:pPr marL="355600" indent="-342900">
              <a:lnSpc>
                <a:spcPts val="2375"/>
              </a:lnSpc>
              <a:buFont typeface="Wingdings"/>
              <a:buChar char=""/>
              <a:tabLst>
                <a:tab pos="355600" algn="l"/>
              </a:tabLst>
            </a:pPr>
            <a:r>
              <a:rPr sz="2200" spc="135" dirty="0">
                <a:solidFill>
                  <a:srgbClr val="FFFFFF"/>
                </a:solidFill>
                <a:latin typeface="Times New Roman"/>
                <a:cs typeface="Times New Roman"/>
              </a:rPr>
              <a:t>Not</a:t>
            </a:r>
            <a:r>
              <a:rPr sz="2200" spc="-105" dirty="0">
                <a:solidFill>
                  <a:srgbClr val="FFFFFF"/>
                </a:solidFill>
                <a:latin typeface="Times New Roman"/>
                <a:cs typeface="Times New Roman"/>
              </a:rPr>
              <a:t> </a:t>
            </a:r>
            <a:r>
              <a:rPr sz="2200" spc="50" dirty="0">
                <a:solidFill>
                  <a:srgbClr val="FFFFFF"/>
                </a:solidFill>
                <a:latin typeface="Times New Roman"/>
                <a:cs typeface="Times New Roman"/>
              </a:rPr>
              <a:t>specified</a:t>
            </a:r>
            <a:r>
              <a:rPr sz="2200" spc="-100" dirty="0">
                <a:solidFill>
                  <a:srgbClr val="FFFFFF"/>
                </a:solidFill>
                <a:latin typeface="Times New Roman"/>
                <a:cs typeface="Times New Roman"/>
              </a:rPr>
              <a:t> </a:t>
            </a:r>
            <a:r>
              <a:rPr sz="2200" spc="20" dirty="0">
                <a:solidFill>
                  <a:srgbClr val="FFFFFF"/>
                </a:solidFill>
                <a:latin typeface="Times New Roman"/>
                <a:cs typeface="Times New Roman"/>
              </a:rPr>
              <a:t>as</a:t>
            </a:r>
            <a:r>
              <a:rPr sz="2200" spc="-100" dirty="0">
                <a:solidFill>
                  <a:srgbClr val="FFFFFF"/>
                </a:solidFill>
                <a:latin typeface="Times New Roman"/>
                <a:cs typeface="Times New Roman"/>
              </a:rPr>
              <a:t> </a:t>
            </a:r>
            <a:r>
              <a:rPr sz="2200" spc="35" dirty="0">
                <a:solidFill>
                  <a:srgbClr val="FFFFFF"/>
                </a:solidFill>
                <a:latin typeface="Times New Roman"/>
                <a:cs typeface="Times New Roman"/>
              </a:rPr>
              <a:t>a</a:t>
            </a:r>
            <a:r>
              <a:rPr sz="2200" spc="-90" dirty="0">
                <a:solidFill>
                  <a:srgbClr val="FFFFFF"/>
                </a:solidFill>
                <a:latin typeface="Times New Roman"/>
                <a:cs typeface="Times New Roman"/>
              </a:rPr>
              <a:t> </a:t>
            </a:r>
            <a:r>
              <a:rPr sz="2200" spc="65" dirty="0">
                <a:solidFill>
                  <a:srgbClr val="FFFFFF"/>
                </a:solidFill>
                <a:latin typeface="Times New Roman"/>
                <a:cs typeface="Times New Roman"/>
              </a:rPr>
              <a:t>separate</a:t>
            </a:r>
            <a:r>
              <a:rPr sz="2200" spc="-105" dirty="0">
                <a:solidFill>
                  <a:srgbClr val="FFFFFF"/>
                </a:solidFill>
                <a:latin typeface="Times New Roman"/>
                <a:cs typeface="Times New Roman"/>
              </a:rPr>
              <a:t> </a:t>
            </a:r>
            <a:r>
              <a:rPr sz="2200" spc="100" dirty="0">
                <a:solidFill>
                  <a:srgbClr val="FFFFFF"/>
                </a:solidFill>
                <a:latin typeface="Times New Roman"/>
                <a:cs typeface="Times New Roman"/>
              </a:rPr>
              <a:t>column</a:t>
            </a:r>
            <a:r>
              <a:rPr sz="2200" spc="-100" dirty="0">
                <a:solidFill>
                  <a:srgbClr val="FFFFFF"/>
                </a:solidFill>
                <a:latin typeface="Times New Roman"/>
                <a:cs typeface="Times New Roman"/>
              </a:rPr>
              <a:t> </a:t>
            </a:r>
            <a:r>
              <a:rPr sz="2200" spc="105" dirty="0">
                <a:solidFill>
                  <a:srgbClr val="FFFFFF"/>
                </a:solidFill>
                <a:latin typeface="Times New Roman"/>
                <a:cs typeface="Times New Roman"/>
              </a:rPr>
              <a:t>in</a:t>
            </a:r>
            <a:r>
              <a:rPr sz="2200" spc="-9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5" dirty="0">
                <a:solidFill>
                  <a:srgbClr val="FFFFFF"/>
                </a:solidFill>
                <a:latin typeface="Times New Roman"/>
                <a:cs typeface="Times New Roman"/>
              </a:rPr>
              <a:t> </a:t>
            </a:r>
            <a:r>
              <a:rPr sz="2200" spc="70" dirty="0">
                <a:solidFill>
                  <a:srgbClr val="FFFFFF"/>
                </a:solidFill>
                <a:latin typeface="Times New Roman"/>
                <a:cs typeface="Times New Roman"/>
              </a:rPr>
              <a:t>resultset</a:t>
            </a:r>
            <a:endParaRPr sz="2200">
              <a:latin typeface="Times New Roman"/>
              <a:cs typeface="Times New Roman"/>
            </a:endParaRPr>
          </a:p>
          <a:p>
            <a:pPr marL="355600" marR="5080" indent="-342900">
              <a:lnSpc>
                <a:spcPts val="2380"/>
              </a:lnSpc>
              <a:spcBef>
                <a:spcPts val="165"/>
              </a:spcBef>
              <a:buFont typeface="Wingdings"/>
              <a:buChar char=""/>
              <a:tabLst>
                <a:tab pos="355600" algn="l"/>
              </a:tabLst>
            </a:pPr>
            <a:r>
              <a:rPr sz="2200" spc="75" dirty="0">
                <a:solidFill>
                  <a:srgbClr val="FFFFFF"/>
                </a:solidFill>
                <a:latin typeface="Times New Roman"/>
                <a:cs typeface="Times New Roman"/>
              </a:rPr>
              <a:t>More</a:t>
            </a:r>
            <a:r>
              <a:rPr sz="2200" spc="30" dirty="0">
                <a:solidFill>
                  <a:srgbClr val="FFFFFF"/>
                </a:solidFill>
                <a:latin typeface="Times New Roman"/>
                <a:cs typeface="Times New Roman"/>
              </a:rPr>
              <a:t> </a:t>
            </a:r>
            <a:r>
              <a:rPr sz="2200" spc="60" dirty="0">
                <a:solidFill>
                  <a:srgbClr val="FFFFFF"/>
                </a:solidFill>
                <a:latin typeface="Times New Roman"/>
                <a:cs typeface="Times New Roman"/>
              </a:rPr>
              <a:t>efficient</a:t>
            </a:r>
            <a:r>
              <a:rPr sz="2200" spc="45" dirty="0">
                <a:solidFill>
                  <a:srgbClr val="FFFFFF"/>
                </a:solidFill>
                <a:latin typeface="Times New Roman"/>
                <a:cs typeface="Times New Roman"/>
              </a:rPr>
              <a:t> </a:t>
            </a:r>
            <a:r>
              <a:rPr sz="2200" spc="70" dirty="0">
                <a:solidFill>
                  <a:srgbClr val="FFFFFF"/>
                </a:solidFill>
                <a:latin typeface="Times New Roman"/>
                <a:cs typeface="Times New Roman"/>
              </a:rPr>
              <a:t>for</a:t>
            </a:r>
            <a:r>
              <a:rPr sz="2200" spc="35" dirty="0">
                <a:solidFill>
                  <a:srgbClr val="FFFFFF"/>
                </a:solidFill>
                <a:latin typeface="Times New Roman"/>
                <a:cs typeface="Times New Roman"/>
              </a:rPr>
              <a:t> </a:t>
            </a:r>
            <a:r>
              <a:rPr sz="2200" spc="114" dirty="0">
                <a:solidFill>
                  <a:srgbClr val="FFFFFF"/>
                </a:solidFill>
                <a:latin typeface="Times New Roman"/>
                <a:cs typeface="Times New Roman"/>
              </a:rPr>
              <a:t>an</a:t>
            </a:r>
            <a:r>
              <a:rPr sz="2200" spc="40" dirty="0">
                <a:solidFill>
                  <a:srgbClr val="FFFFFF"/>
                </a:solidFill>
                <a:latin typeface="Times New Roman"/>
                <a:cs typeface="Times New Roman"/>
              </a:rPr>
              <a:t> </a:t>
            </a:r>
            <a:r>
              <a:rPr sz="2200" spc="75" dirty="0">
                <a:solidFill>
                  <a:srgbClr val="FFFFFF"/>
                </a:solidFill>
                <a:latin typeface="Times New Roman"/>
                <a:cs typeface="Times New Roman"/>
              </a:rPr>
              <a:t>application</a:t>
            </a:r>
            <a:r>
              <a:rPr sz="2200" spc="20" dirty="0">
                <a:solidFill>
                  <a:srgbClr val="FFFFFF"/>
                </a:solidFill>
                <a:latin typeface="Times New Roman"/>
                <a:cs typeface="Times New Roman"/>
              </a:rPr>
              <a:t> </a:t>
            </a:r>
            <a:r>
              <a:rPr sz="2200" spc="120" dirty="0">
                <a:solidFill>
                  <a:srgbClr val="FFFFFF"/>
                </a:solidFill>
                <a:latin typeface="Times New Roman"/>
                <a:cs typeface="Times New Roman"/>
              </a:rPr>
              <a:t>to</a:t>
            </a:r>
            <a:r>
              <a:rPr sz="2200" spc="35" dirty="0">
                <a:solidFill>
                  <a:srgbClr val="FFFFFF"/>
                </a:solidFill>
                <a:latin typeface="Times New Roman"/>
                <a:cs typeface="Times New Roman"/>
              </a:rPr>
              <a:t> </a:t>
            </a:r>
            <a:r>
              <a:rPr sz="2200" spc="85" dirty="0">
                <a:solidFill>
                  <a:srgbClr val="FFFFFF"/>
                </a:solidFill>
                <a:latin typeface="Times New Roman"/>
                <a:cs typeface="Times New Roman"/>
              </a:rPr>
              <a:t>build</a:t>
            </a:r>
            <a:r>
              <a:rPr sz="2200" spc="2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45" dirty="0">
                <a:solidFill>
                  <a:srgbClr val="FFFFFF"/>
                </a:solidFill>
                <a:latin typeface="Times New Roman"/>
                <a:cs typeface="Times New Roman"/>
              </a:rPr>
              <a:t> </a:t>
            </a:r>
            <a:r>
              <a:rPr sz="2200" spc="105" dirty="0">
                <a:solidFill>
                  <a:srgbClr val="FFFFFF"/>
                </a:solidFill>
                <a:latin typeface="Times New Roman"/>
                <a:cs typeface="Times New Roman"/>
              </a:rPr>
              <a:t>constant</a:t>
            </a:r>
            <a:r>
              <a:rPr sz="2200" spc="35" dirty="0">
                <a:solidFill>
                  <a:srgbClr val="FFFFFF"/>
                </a:solidFill>
                <a:latin typeface="Times New Roman"/>
                <a:cs typeface="Times New Roman"/>
              </a:rPr>
              <a:t> </a:t>
            </a:r>
            <a:r>
              <a:rPr sz="2200" spc="45" dirty="0">
                <a:solidFill>
                  <a:srgbClr val="FFFFFF"/>
                </a:solidFill>
                <a:latin typeface="Times New Roman"/>
                <a:cs typeface="Times New Roman"/>
              </a:rPr>
              <a:t>values  </a:t>
            </a:r>
            <a:r>
              <a:rPr sz="2200" spc="114" dirty="0">
                <a:solidFill>
                  <a:srgbClr val="FFFFFF"/>
                </a:solidFill>
                <a:latin typeface="Times New Roman"/>
                <a:cs typeface="Times New Roman"/>
              </a:rPr>
              <a:t>into </a:t>
            </a:r>
            <a:r>
              <a:rPr sz="2200" spc="125" dirty="0">
                <a:solidFill>
                  <a:srgbClr val="FFFFFF"/>
                </a:solidFill>
                <a:latin typeface="Times New Roman"/>
                <a:cs typeface="Times New Roman"/>
              </a:rPr>
              <a:t>the</a:t>
            </a:r>
            <a:r>
              <a:rPr sz="2200" spc="-320" dirty="0">
                <a:solidFill>
                  <a:srgbClr val="FFFFFF"/>
                </a:solidFill>
                <a:latin typeface="Times New Roman"/>
                <a:cs typeface="Times New Roman"/>
              </a:rPr>
              <a:t> </a:t>
            </a:r>
            <a:r>
              <a:rPr sz="2200" spc="65" dirty="0">
                <a:solidFill>
                  <a:srgbClr val="FFFFFF"/>
                </a:solidFill>
                <a:latin typeface="Times New Roman"/>
                <a:cs typeface="Times New Roman"/>
              </a:rPr>
              <a:t>results</a:t>
            </a:r>
            <a:endParaRPr sz="2200">
              <a:latin typeface="Times New Roman"/>
              <a:cs typeface="Times New Roman"/>
            </a:endParaRPr>
          </a:p>
        </p:txBody>
      </p:sp>
      <p:pic>
        <p:nvPicPr>
          <p:cNvPr id="7" name="object 7"/>
          <p:cNvPicPr/>
          <p:nvPr/>
        </p:nvPicPr>
        <p:blipFill>
          <a:blip r:embed="rId4" cstate="print"/>
          <a:stretch>
            <a:fillRect/>
          </a:stretch>
        </p:blipFill>
        <p:spPr>
          <a:xfrm>
            <a:off x="3195066" y="3722370"/>
            <a:ext cx="3099054" cy="2580132"/>
          </a:xfrm>
          <a:prstGeom prst="rect">
            <a:avLst/>
          </a:prstGeom>
        </p:spPr>
      </p:pic>
      <p:sp>
        <p:nvSpPr>
          <p:cNvPr id="8" name="object 8"/>
          <p:cNvSpPr txBox="1"/>
          <p:nvPr/>
        </p:nvSpPr>
        <p:spPr>
          <a:xfrm>
            <a:off x="2218689" y="6316979"/>
            <a:ext cx="5022215"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Arial"/>
                <a:cs typeface="Arial"/>
              </a:rPr>
              <a:t>Country</a:t>
            </a:r>
            <a:r>
              <a:rPr sz="1400" b="1" spc="-114" dirty="0">
                <a:latin typeface="Arial"/>
                <a:cs typeface="Arial"/>
              </a:rPr>
              <a:t> </a:t>
            </a:r>
            <a:r>
              <a:rPr sz="1400" b="1" spc="-65" dirty="0">
                <a:latin typeface="Arial"/>
                <a:cs typeface="Arial"/>
              </a:rPr>
              <a:t>Name,</a:t>
            </a:r>
            <a:r>
              <a:rPr sz="1400" b="1" spc="-110" dirty="0">
                <a:latin typeface="Arial"/>
                <a:cs typeface="Arial"/>
              </a:rPr>
              <a:t> </a:t>
            </a:r>
            <a:r>
              <a:rPr sz="1400" b="1" spc="-35" dirty="0">
                <a:latin typeface="Arial"/>
                <a:cs typeface="Arial"/>
              </a:rPr>
              <a:t>Country</a:t>
            </a:r>
            <a:r>
              <a:rPr sz="1400" b="1" spc="-114" dirty="0">
                <a:latin typeface="Arial"/>
                <a:cs typeface="Arial"/>
              </a:rPr>
              <a:t> </a:t>
            </a:r>
            <a:r>
              <a:rPr sz="1400" b="1" spc="-80" dirty="0">
                <a:latin typeface="Arial"/>
                <a:cs typeface="Arial"/>
              </a:rPr>
              <a:t>Region</a:t>
            </a:r>
            <a:r>
              <a:rPr sz="1400" b="1" spc="-114" dirty="0">
                <a:latin typeface="Arial"/>
                <a:cs typeface="Arial"/>
              </a:rPr>
              <a:t> </a:t>
            </a:r>
            <a:r>
              <a:rPr sz="1400" b="1" spc="-55" dirty="0">
                <a:latin typeface="Arial"/>
                <a:cs typeface="Arial"/>
              </a:rPr>
              <a:t>Code,</a:t>
            </a:r>
            <a:r>
              <a:rPr sz="1400" b="1" spc="-100" dirty="0">
                <a:latin typeface="Arial"/>
                <a:cs typeface="Arial"/>
              </a:rPr>
              <a:t> </a:t>
            </a:r>
            <a:r>
              <a:rPr sz="1400" b="1" spc="-85" dirty="0">
                <a:latin typeface="Arial"/>
                <a:cs typeface="Arial"/>
              </a:rPr>
              <a:t>and</a:t>
            </a:r>
            <a:r>
              <a:rPr sz="1400" b="1" spc="-110" dirty="0">
                <a:latin typeface="Arial"/>
                <a:cs typeface="Arial"/>
              </a:rPr>
              <a:t> </a:t>
            </a:r>
            <a:r>
              <a:rPr sz="1400" b="1" spc="-80" dirty="0">
                <a:latin typeface="Arial"/>
                <a:cs typeface="Arial"/>
              </a:rPr>
              <a:t>Corresponding</a:t>
            </a:r>
            <a:r>
              <a:rPr sz="1400" b="1" spc="-110" dirty="0">
                <a:latin typeface="Arial"/>
                <a:cs typeface="Arial"/>
              </a:rPr>
              <a:t> </a:t>
            </a:r>
            <a:r>
              <a:rPr sz="1400" b="1" spc="-50" dirty="0">
                <a:latin typeface="Arial"/>
                <a:cs typeface="Arial"/>
              </a:rPr>
              <a:t>Group</a:t>
            </a:r>
            <a:endParaRPr sz="140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9</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9" name="object 9"/>
          <p:cNvSpPr txBox="1"/>
          <p:nvPr/>
        </p:nvSpPr>
        <p:spPr>
          <a:xfrm>
            <a:off x="427481" y="2907029"/>
            <a:ext cx="8289290" cy="739140"/>
          </a:xfrm>
          <a:prstGeom prst="rect">
            <a:avLst/>
          </a:prstGeom>
          <a:solidFill>
            <a:srgbClr val="FFFFC5"/>
          </a:solidFill>
        </p:spPr>
        <p:txBody>
          <a:bodyPr vert="horz" wrap="square" lIns="0" tIns="25400" rIns="0" bIns="0" rtlCol="0">
            <a:spAutoFit/>
          </a:bodyPr>
          <a:lstStyle/>
          <a:p>
            <a:pPr marL="91440">
              <a:lnSpc>
                <a:spcPct val="100000"/>
              </a:lnSpc>
              <a:spcBef>
                <a:spcPts val="200"/>
              </a:spcBef>
            </a:pPr>
            <a:r>
              <a:rPr sz="1400" spc="-5" dirty="0">
                <a:latin typeface="Courier New"/>
                <a:cs typeface="Courier New"/>
              </a:rPr>
              <a:t>USE</a:t>
            </a:r>
            <a:r>
              <a:rPr sz="1400" spc="-10" dirty="0">
                <a:latin typeface="Courier New"/>
                <a:cs typeface="Courier New"/>
              </a:rPr>
              <a:t> AdventureWorks2019</a:t>
            </a:r>
            <a:endParaRPr sz="1400">
              <a:latin typeface="Courier New"/>
              <a:cs typeface="Courier New"/>
            </a:endParaRPr>
          </a:p>
          <a:p>
            <a:pPr marL="91440" marR="317500">
              <a:lnSpc>
                <a:spcPct val="100000"/>
              </a:lnSpc>
            </a:pPr>
            <a:r>
              <a:rPr sz="1400" spc="-10" dirty="0">
                <a:latin typeface="Courier New"/>
                <a:cs typeface="Courier New"/>
              </a:rPr>
              <a:t>SELECT </a:t>
            </a:r>
            <a:r>
              <a:rPr sz="1400" spc="-5" dirty="0">
                <a:latin typeface="Courier New"/>
                <a:cs typeface="Courier New"/>
              </a:rPr>
              <a:t>Name </a:t>
            </a:r>
            <a:r>
              <a:rPr sz="1400" spc="-10" dirty="0">
                <a:latin typeface="Courier New"/>
                <a:cs typeface="Courier New"/>
              </a:rPr>
              <a:t>+':'+ CountryRegionCode +'-&gt;'+ Group </a:t>
            </a:r>
            <a:r>
              <a:rPr sz="1400" spc="-5" dirty="0">
                <a:latin typeface="Courier New"/>
                <a:cs typeface="Courier New"/>
              </a:rPr>
              <a:t>FROM </a:t>
            </a:r>
            <a:r>
              <a:rPr sz="1400" spc="-10" dirty="0">
                <a:latin typeface="Courier New"/>
                <a:cs typeface="Courier New"/>
              </a:rPr>
              <a:t>Sales.SalesTerritory  </a:t>
            </a:r>
            <a:r>
              <a:rPr sz="1400" spc="-5" dirty="0">
                <a:latin typeface="Courier New"/>
                <a:cs typeface="Courier New"/>
              </a:rPr>
              <a:t>GO</a:t>
            </a:r>
            <a:endParaRPr sz="1400">
              <a:latin typeface="Courier New"/>
              <a:cs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29" y="0"/>
            <a:ext cx="8750300" cy="635635"/>
          </a:xfrm>
          <a:prstGeom prst="rect">
            <a:avLst/>
          </a:prstGeom>
        </p:spPr>
        <p:txBody>
          <a:bodyPr vert="horz" wrap="square" lIns="0" tIns="12700" rIns="0" bIns="0" rtlCol="0">
            <a:spAutoFit/>
          </a:bodyPr>
          <a:lstStyle/>
          <a:p>
            <a:pPr marL="12700">
              <a:lnSpc>
                <a:spcPct val="100000"/>
              </a:lnSpc>
              <a:spcBef>
                <a:spcPts val="100"/>
              </a:spcBef>
            </a:pPr>
            <a:r>
              <a:rPr sz="4000" b="0" spc="155" dirty="0">
                <a:latin typeface="Times New Roman"/>
                <a:cs typeface="Times New Roman"/>
              </a:rPr>
              <a:t>Renaming</a:t>
            </a:r>
            <a:r>
              <a:rPr sz="4000" b="0" spc="-155" dirty="0">
                <a:latin typeface="Times New Roman"/>
                <a:cs typeface="Times New Roman"/>
              </a:rPr>
              <a:t> </a:t>
            </a:r>
            <a:r>
              <a:rPr sz="4000" b="0" spc="150" dirty="0">
                <a:latin typeface="Times New Roman"/>
                <a:cs typeface="Times New Roman"/>
              </a:rPr>
              <a:t>ResultSet</a:t>
            </a:r>
            <a:r>
              <a:rPr sz="4000" b="0" spc="-180" dirty="0">
                <a:latin typeface="Times New Roman"/>
                <a:cs typeface="Times New Roman"/>
              </a:rPr>
              <a:t> </a:t>
            </a:r>
            <a:r>
              <a:rPr sz="4000" b="0" spc="270" dirty="0">
                <a:latin typeface="Times New Roman"/>
                <a:cs typeface="Times New Roman"/>
              </a:rPr>
              <a:t>Column</a:t>
            </a:r>
            <a:r>
              <a:rPr sz="4000" b="0" spc="-170" dirty="0">
                <a:latin typeface="Times New Roman"/>
                <a:cs typeface="Times New Roman"/>
              </a:rPr>
              <a:t> </a:t>
            </a:r>
            <a:r>
              <a:rPr sz="4000" b="0" spc="135" dirty="0">
                <a:latin typeface="Times New Roman"/>
                <a:cs typeface="Times New Roman"/>
              </a:rPr>
              <a:t>Names</a:t>
            </a:r>
            <a:r>
              <a:rPr sz="4000" b="0" spc="-155" dirty="0">
                <a:latin typeface="Times New Roman"/>
                <a:cs typeface="Times New Roman"/>
              </a:rPr>
              <a:t> </a:t>
            </a:r>
            <a:r>
              <a:rPr sz="4000" b="0" spc="-250" dirty="0">
                <a:latin typeface="Times New Roman"/>
                <a:cs typeface="Times New Roman"/>
              </a:rPr>
              <a:t>1-2</a:t>
            </a:r>
            <a:endParaRPr sz="4000">
              <a:latin typeface="Times New Roman"/>
              <a:cs typeface="Times New Roman"/>
            </a:endParaRPr>
          </a:p>
        </p:txBody>
      </p:sp>
      <p:pic>
        <p:nvPicPr>
          <p:cNvPr id="3" name="object 3"/>
          <p:cNvPicPr/>
          <p:nvPr/>
        </p:nvPicPr>
        <p:blipFill>
          <a:blip r:embed="rId3" cstate="print"/>
          <a:stretch>
            <a:fillRect/>
          </a:stretch>
        </p:blipFill>
        <p:spPr>
          <a:xfrm>
            <a:off x="381000" y="961644"/>
            <a:ext cx="7046976" cy="965454"/>
          </a:xfrm>
          <a:prstGeom prst="rect">
            <a:avLst/>
          </a:prstGeom>
        </p:spPr>
      </p:pic>
      <p:grpSp>
        <p:nvGrpSpPr>
          <p:cNvPr id="4" name="object 4"/>
          <p:cNvGrpSpPr/>
          <p:nvPr/>
        </p:nvGrpSpPr>
        <p:grpSpPr>
          <a:xfrm>
            <a:off x="973074" y="2277617"/>
            <a:ext cx="7513320" cy="1450975"/>
            <a:chOff x="973074" y="2277617"/>
            <a:chExt cx="7513320" cy="1450975"/>
          </a:xfrm>
        </p:grpSpPr>
        <p:pic>
          <p:nvPicPr>
            <p:cNvPr id="5" name="object 5"/>
            <p:cNvPicPr/>
            <p:nvPr/>
          </p:nvPicPr>
          <p:blipFill>
            <a:blip r:embed="rId4" cstate="print"/>
            <a:stretch>
              <a:fillRect/>
            </a:stretch>
          </p:blipFill>
          <p:spPr>
            <a:xfrm>
              <a:off x="973074" y="2277617"/>
              <a:ext cx="7513320" cy="1450847"/>
            </a:xfrm>
            <a:prstGeom prst="rect">
              <a:avLst/>
            </a:prstGeom>
          </p:spPr>
        </p:pic>
        <p:sp>
          <p:nvSpPr>
            <p:cNvPr id="6" name="object 6"/>
            <p:cNvSpPr/>
            <p:nvPr/>
          </p:nvSpPr>
          <p:spPr>
            <a:xfrm>
              <a:off x="1014222" y="2295905"/>
              <a:ext cx="7438390" cy="1375410"/>
            </a:xfrm>
            <a:custGeom>
              <a:avLst/>
              <a:gdLst/>
              <a:ahLst/>
              <a:cxnLst/>
              <a:rect l="l" t="t" r="r" b="b"/>
              <a:pathLst>
                <a:path w="7438390" h="1375410">
                  <a:moveTo>
                    <a:pt x="7437882" y="178320"/>
                  </a:moveTo>
                  <a:lnTo>
                    <a:pt x="7431748" y="178320"/>
                  </a:lnTo>
                  <a:lnTo>
                    <a:pt x="7419861" y="140004"/>
                  </a:lnTo>
                  <a:lnTo>
                    <a:pt x="7398728" y="101066"/>
                  </a:lnTo>
                  <a:lnTo>
                    <a:pt x="7370737" y="67144"/>
                  </a:lnTo>
                  <a:lnTo>
                    <a:pt x="7336815" y="39154"/>
                  </a:lnTo>
                  <a:lnTo>
                    <a:pt x="7297877" y="18021"/>
                  </a:lnTo>
                  <a:lnTo>
                    <a:pt x="7254849" y="4660"/>
                  </a:lnTo>
                  <a:lnTo>
                    <a:pt x="7208647" y="0"/>
                  </a:lnTo>
                  <a:lnTo>
                    <a:pt x="229235" y="0"/>
                  </a:lnTo>
                  <a:lnTo>
                    <a:pt x="183032" y="4660"/>
                  </a:lnTo>
                  <a:lnTo>
                    <a:pt x="140004" y="18021"/>
                  </a:lnTo>
                  <a:lnTo>
                    <a:pt x="101053" y="39154"/>
                  </a:lnTo>
                  <a:lnTo>
                    <a:pt x="67132" y="67144"/>
                  </a:lnTo>
                  <a:lnTo>
                    <a:pt x="39141" y="101066"/>
                  </a:lnTo>
                  <a:lnTo>
                    <a:pt x="18008" y="140004"/>
                  </a:lnTo>
                  <a:lnTo>
                    <a:pt x="4648" y="183032"/>
                  </a:lnTo>
                  <a:lnTo>
                    <a:pt x="0" y="229235"/>
                  </a:lnTo>
                  <a:lnTo>
                    <a:pt x="0" y="1146175"/>
                  </a:lnTo>
                  <a:lnTo>
                    <a:pt x="4648" y="1192390"/>
                  </a:lnTo>
                  <a:lnTo>
                    <a:pt x="18008" y="1235417"/>
                  </a:lnTo>
                  <a:lnTo>
                    <a:pt x="39141" y="1274356"/>
                  </a:lnTo>
                  <a:lnTo>
                    <a:pt x="67132" y="1308277"/>
                  </a:lnTo>
                  <a:lnTo>
                    <a:pt x="101053" y="1336268"/>
                  </a:lnTo>
                  <a:lnTo>
                    <a:pt x="140004" y="1357401"/>
                  </a:lnTo>
                  <a:lnTo>
                    <a:pt x="183032" y="1370761"/>
                  </a:lnTo>
                  <a:lnTo>
                    <a:pt x="229235" y="1375410"/>
                  </a:lnTo>
                  <a:lnTo>
                    <a:pt x="7208647" y="1375410"/>
                  </a:lnTo>
                  <a:lnTo>
                    <a:pt x="7254849" y="1370761"/>
                  </a:lnTo>
                  <a:lnTo>
                    <a:pt x="7297877" y="1357401"/>
                  </a:lnTo>
                  <a:lnTo>
                    <a:pt x="7336815" y="1336268"/>
                  </a:lnTo>
                  <a:lnTo>
                    <a:pt x="7370737" y="1308277"/>
                  </a:lnTo>
                  <a:lnTo>
                    <a:pt x="7398728" y="1274356"/>
                  </a:lnTo>
                  <a:lnTo>
                    <a:pt x="7419861" y="1235417"/>
                  </a:lnTo>
                  <a:lnTo>
                    <a:pt x="7431519" y="1197864"/>
                  </a:lnTo>
                  <a:lnTo>
                    <a:pt x="7437882" y="1197864"/>
                  </a:lnTo>
                  <a:lnTo>
                    <a:pt x="7437882" y="1146175"/>
                  </a:lnTo>
                  <a:lnTo>
                    <a:pt x="7437882" y="229235"/>
                  </a:lnTo>
                  <a:lnTo>
                    <a:pt x="7437882" y="178320"/>
                  </a:lnTo>
                  <a:close/>
                </a:path>
              </a:pathLst>
            </a:custGeom>
            <a:solidFill>
              <a:srgbClr val="000000"/>
            </a:solidFill>
          </p:spPr>
          <p:txBody>
            <a:bodyPr wrap="square" lIns="0" tIns="0" rIns="0" bIns="0" rtlCol="0"/>
            <a:lstStyle/>
            <a:p>
              <a:endParaRPr/>
            </a:p>
          </p:txBody>
        </p:sp>
      </p:grpSp>
      <p:sp>
        <p:nvSpPr>
          <p:cNvPr id="7" name="object 7"/>
          <p:cNvSpPr txBox="1"/>
          <p:nvPr/>
        </p:nvSpPr>
        <p:spPr>
          <a:xfrm>
            <a:off x="564895" y="1014984"/>
            <a:ext cx="6800850" cy="2487930"/>
          </a:xfrm>
          <a:prstGeom prst="rect">
            <a:avLst/>
          </a:prstGeom>
        </p:spPr>
        <p:txBody>
          <a:bodyPr vert="horz" wrap="square" lIns="0" tIns="53975" rIns="0" bIns="0" rtlCol="0">
            <a:spAutoFit/>
          </a:bodyPr>
          <a:lstStyle/>
          <a:p>
            <a:pPr marL="355600" marR="5080" indent="-342900">
              <a:lnSpc>
                <a:spcPts val="2590"/>
              </a:lnSpc>
              <a:spcBef>
                <a:spcPts val="425"/>
              </a:spcBef>
              <a:buClr>
                <a:srgbClr val="FFFFFF"/>
              </a:buClr>
              <a:buFont typeface="Wingdings"/>
              <a:buChar char=""/>
              <a:tabLst>
                <a:tab pos="419734" algn="l"/>
                <a:tab pos="420370" algn="l"/>
              </a:tabLst>
            </a:pPr>
            <a:r>
              <a:rPr dirty="0"/>
              <a:t>	</a:t>
            </a:r>
            <a:r>
              <a:rPr sz="2400" spc="140" dirty="0">
                <a:solidFill>
                  <a:srgbClr val="FFFFFF"/>
                </a:solidFill>
                <a:latin typeface="Times New Roman"/>
                <a:cs typeface="Times New Roman"/>
              </a:rPr>
              <a:t>Columns </a:t>
            </a:r>
            <a:r>
              <a:rPr sz="2400" spc="60" dirty="0">
                <a:solidFill>
                  <a:srgbClr val="FFFFFF"/>
                </a:solidFill>
                <a:latin typeface="Times New Roman"/>
                <a:cs typeface="Times New Roman"/>
              </a:rPr>
              <a:t>displayed </a:t>
            </a:r>
            <a:r>
              <a:rPr sz="2400" spc="114" dirty="0">
                <a:solidFill>
                  <a:srgbClr val="FFFFFF"/>
                </a:solidFill>
                <a:latin typeface="Times New Roman"/>
                <a:cs typeface="Times New Roman"/>
              </a:rPr>
              <a:t>in </a:t>
            </a:r>
            <a:r>
              <a:rPr sz="2400" spc="70" dirty="0">
                <a:solidFill>
                  <a:srgbClr val="FFFFFF"/>
                </a:solidFill>
                <a:latin typeface="Times New Roman"/>
                <a:cs typeface="Times New Roman"/>
              </a:rPr>
              <a:t>resultsets of </a:t>
            </a:r>
            <a:r>
              <a:rPr sz="2400" spc="75" dirty="0">
                <a:solidFill>
                  <a:srgbClr val="FFFFFF"/>
                </a:solidFill>
                <a:latin typeface="Times New Roman"/>
                <a:cs typeface="Times New Roman"/>
              </a:rPr>
              <a:t>queries </a:t>
            </a:r>
            <a:r>
              <a:rPr sz="2400" spc="85" dirty="0">
                <a:solidFill>
                  <a:srgbClr val="FFFFFF"/>
                </a:solidFill>
                <a:latin typeface="Times New Roman"/>
                <a:cs typeface="Times New Roman"/>
              </a:rPr>
              <a:t>have  </a:t>
            </a:r>
            <a:r>
              <a:rPr sz="2400" spc="90" dirty="0">
                <a:solidFill>
                  <a:srgbClr val="FFFFFF"/>
                </a:solidFill>
                <a:latin typeface="Times New Roman"/>
                <a:cs typeface="Times New Roman"/>
              </a:rPr>
              <a:t>corresponding</a:t>
            </a:r>
            <a:r>
              <a:rPr sz="2400" spc="-100" dirty="0">
                <a:solidFill>
                  <a:srgbClr val="FFFFFF"/>
                </a:solidFill>
                <a:latin typeface="Times New Roman"/>
                <a:cs typeface="Times New Roman"/>
              </a:rPr>
              <a:t> </a:t>
            </a:r>
            <a:r>
              <a:rPr sz="2400" spc="80" dirty="0">
                <a:solidFill>
                  <a:srgbClr val="FFFFFF"/>
                </a:solidFill>
                <a:latin typeface="Times New Roman"/>
                <a:cs typeface="Times New Roman"/>
              </a:rPr>
              <a:t>headings</a:t>
            </a:r>
            <a:r>
              <a:rPr sz="2400" spc="-85" dirty="0">
                <a:solidFill>
                  <a:srgbClr val="FFFFFF"/>
                </a:solidFill>
                <a:latin typeface="Times New Roman"/>
                <a:cs typeface="Times New Roman"/>
              </a:rPr>
              <a:t> </a:t>
            </a:r>
            <a:r>
              <a:rPr sz="2400" spc="50" dirty="0">
                <a:solidFill>
                  <a:srgbClr val="FFFFFF"/>
                </a:solidFill>
                <a:latin typeface="Times New Roman"/>
                <a:cs typeface="Times New Roman"/>
              </a:rPr>
              <a:t>specified</a:t>
            </a:r>
            <a:r>
              <a:rPr sz="2400" spc="-95"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8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95" dirty="0">
                <a:solidFill>
                  <a:srgbClr val="FFFFFF"/>
                </a:solidFill>
                <a:latin typeface="Times New Roman"/>
                <a:cs typeface="Times New Roman"/>
              </a:rPr>
              <a:t> </a:t>
            </a:r>
            <a:r>
              <a:rPr sz="2400" spc="60" dirty="0">
                <a:solidFill>
                  <a:srgbClr val="FFFFFF"/>
                </a:solidFill>
                <a:latin typeface="Times New Roman"/>
                <a:cs typeface="Times New Roman"/>
              </a:rPr>
              <a:t>table.</a:t>
            </a:r>
            <a:endParaRPr sz="2400">
              <a:latin typeface="Times New Roman"/>
              <a:cs typeface="Times New Roman"/>
            </a:endParaRPr>
          </a:p>
          <a:p>
            <a:pPr>
              <a:lnSpc>
                <a:spcPct val="100000"/>
              </a:lnSpc>
              <a:spcBef>
                <a:spcPts val="55"/>
              </a:spcBef>
              <a:buClr>
                <a:srgbClr val="FFFFFF"/>
              </a:buClr>
              <a:buFont typeface="Wingdings"/>
              <a:buChar char=""/>
            </a:pPr>
            <a:endParaRPr sz="4300">
              <a:latin typeface="Times New Roman"/>
              <a:cs typeface="Times New Roman"/>
            </a:endParaRPr>
          </a:p>
          <a:p>
            <a:pPr marL="652145">
              <a:lnSpc>
                <a:spcPts val="2280"/>
              </a:lnSpc>
            </a:pPr>
            <a:r>
              <a:rPr sz="2000" spc="85" dirty="0">
                <a:solidFill>
                  <a:srgbClr val="FFFFFF"/>
                </a:solidFill>
                <a:latin typeface="Times New Roman"/>
                <a:cs typeface="Times New Roman"/>
              </a:rPr>
              <a:t>These </a:t>
            </a:r>
            <a:r>
              <a:rPr sz="2000" spc="65" dirty="0">
                <a:solidFill>
                  <a:srgbClr val="FFFFFF"/>
                </a:solidFill>
                <a:latin typeface="Times New Roman"/>
                <a:cs typeface="Times New Roman"/>
              </a:rPr>
              <a:t>headings </a:t>
            </a:r>
            <a:r>
              <a:rPr sz="2000" spc="75" dirty="0">
                <a:solidFill>
                  <a:srgbClr val="FFFFFF"/>
                </a:solidFill>
                <a:latin typeface="Times New Roman"/>
                <a:cs typeface="Times New Roman"/>
              </a:rPr>
              <a:t>can</a:t>
            </a:r>
            <a:r>
              <a:rPr sz="2000" spc="-360" dirty="0">
                <a:solidFill>
                  <a:srgbClr val="FFFFFF"/>
                </a:solidFill>
                <a:latin typeface="Times New Roman"/>
                <a:cs typeface="Times New Roman"/>
              </a:rPr>
              <a:t> </a:t>
            </a:r>
            <a:r>
              <a:rPr sz="2000" spc="30" dirty="0">
                <a:solidFill>
                  <a:srgbClr val="FFFFFF"/>
                </a:solidFill>
                <a:latin typeface="Times New Roman"/>
                <a:cs typeface="Times New Roman"/>
              </a:rPr>
              <a:t>be:</a:t>
            </a:r>
            <a:endParaRPr sz="2000">
              <a:latin typeface="Times New Roman"/>
              <a:cs typeface="Times New Roman"/>
            </a:endParaRPr>
          </a:p>
          <a:p>
            <a:pPr marL="995044" lvl="1" indent="-343535">
              <a:lnSpc>
                <a:spcPts val="2160"/>
              </a:lnSpc>
              <a:buFont typeface="Wingdings"/>
              <a:buChar char=""/>
              <a:tabLst>
                <a:tab pos="995044" algn="l"/>
                <a:tab pos="995680" algn="l"/>
              </a:tabLst>
            </a:pPr>
            <a:r>
              <a:rPr sz="2000" spc="114" dirty="0">
                <a:solidFill>
                  <a:srgbClr val="FFFFFF"/>
                </a:solidFill>
                <a:latin typeface="Times New Roman"/>
                <a:cs typeface="Times New Roman"/>
              </a:rPr>
              <a:t>Changed</a:t>
            </a:r>
            <a:endParaRPr sz="2000">
              <a:latin typeface="Times New Roman"/>
              <a:cs typeface="Times New Roman"/>
            </a:endParaRPr>
          </a:p>
          <a:p>
            <a:pPr marL="995044" lvl="1" indent="-343535">
              <a:lnSpc>
                <a:spcPts val="2160"/>
              </a:lnSpc>
              <a:buFont typeface="Wingdings"/>
              <a:buChar char=""/>
              <a:tabLst>
                <a:tab pos="995044" algn="l"/>
                <a:tab pos="995680" algn="l"/>
              </a:tabLst>
            </a:pPr>
            <a:r>
              <a:rPr sz="2000" spc="85" dirty="0">
                <a:solidFill>
                  <a:srgbClr val="FFFFFF"/>
                </a:solidFill>
                <a:latin typeface="Times New Roman"/>
                <a:cs typeface="Times New Roman"/>
              </a:rPr>
              <a:t>Renamed</a:t>
            </a:r>
            <a:endParaRPr sz="2000">
              <a:latin typeface="Times New Roman"/>
              <a:cs typeface="Times New Roman"/>
            </a:endParaRPr>
          </a:p>
          <a:p>
            <a:pPr marL="995044" lvl="1" indent="-343535">
              <a:lnSpc>
                <a:spcPts val="2280"/>
              </a:lnSpc>
              <a:buFont typeface="Wingdings"/>
              <a:buChar char=""/>
              <a:tabLst>
                <a:tab pos="995044" algn="l"/>
                <a:tab pos="995680" algn="l"/>
              </a:tabLst>
            </a:pPr>
            <a:r>
              <a:rPr sz="2000" spc="160" dirty="0">
                <a:solidFill>
                  <a:srgbClr val="FFFFFF"/>
                </a:solidFill>
                <a:latin typeface="Times New Roman"/>
                <a:cs typeface="Times New Roman"/>
              </a:rPr>
              <a:t>Can</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5" dirty="0">
                <a:solidFill>
                  <a:srgbClr val="FFFFFF"/>
                </a:solidFill>
                <a:latin typeface="Times New Roman"/>
                <a:cs typeface="Times New Roman"/>
              </a:rPr>
              <a:t> </a:t>
            </a:r>
            <a:r>
              <a:rPr sz="2000" spc="45" dirty="0">
                <a:solidFill>
                  <a:srgbClr val="FFFFFF"/>
                </a:solidFill>
                <a:latin typeface="Times New Roman"/>
                <a:cs typeface="Times New Roman"/>
              </a:rPr>
              <a:t>assigned</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90" dirty="0">
                <a:solidFill>
                  <a:srgbClr val="FFFFFF"/>
                </a:solidFill>
                <a:latin typeface="Times New Roman"/>
                <a:cs typeface="Times New Roman"/>
              </a:rPr>
              <a:t>new</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name</a:t>
            </a:r>
            <a:r>
              <a:rPr sz="2000" spc="-65" dirty="0">
                <a:solidFill>
                  <a:srgbClr val="FFFFFF"/>
                </a:solidFill>
                <a:latin typeface="Times New Roman"/>
                <a:cs typeface="Times New Roman"/>
              </a:rPr>
              <a:t> </a:t>
            </a:r>
            <a:r>
              <a:rPr sz="2000" spc="40" dirty="0">
                <a:solidFill>
                  <a:srgbClr val="FFFFFF"/>
                </a:solidFill>
                <a:latin typeface="Times New Roman"/>
                <a:cs typeface="Times New Roman"/>
              </a:rPr>
              <a:t>by</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using</a:t>
            </a:r>
            <a:r>
              <a:rPr sz="2000" spc="-80" dirty="0">
                <a:solidFill>
                  <a:srgbClr val="FFFFFF"/>
                </a:solidFill>
                <a:latin typeface="Times New Roman"/>
                <a:cs typeface="Times New Roman"/>
              </a:rPr>
              <a:t> </a:t>
            </a:r>
            <a:r>
              <a:rPr sz="2000" spc="125"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40" dirty="0">
                <a:solidFill>
                  <a:srgbClr val="FFFFFF"/>
                </a:solidFill>
                <a:latin typeface="Times New Roman"/>
                <a:cs typeface="Times New Roman"/>
              </a:rPr>
              <a:t>clause</a:t>
            </a:r>
            <a:endParaRPr sz="2000">
              <a:latin typeface="Times New Roman"/>
              <a:cs typeface="Times New Roman"/>
            </a:endParaRPr>
          </a:p>
        </p:txBody>
      </p:sp>
      <p:pic>
        <p:nvPicPr>
          <p:cNvPr id="8" name="object 8"/>
          <p:cNvPicPr/>
          <p:nvPr/>
        </p:nvPicPr>
        <p:blipFill>
          <a:blip r:embed="rId5" cstate="print"/>
          <a:stretch>
            <a:fillRect/>
          </a:stretch>
        </p:blipFill>
        <p:spPr>
          <a:xfrm>
            <a:off x="1647444" y="4034028"/>
            <a:ext cx="7313676" cy="966216"/>
          </a:xfrm>
          <a:prstGeom prst="rect">
            <a:avLst/>
          </a:prstGeom>
        </p:spPr>
      </p:pic>
      <p:sp>
        <p:nvSpPr>
          <p:cNvPr id="9" name="object 9"/>
          <p:cNvSpPr txBox="1"/>
          <p:nvPr/>
        </p:nvSpPr>
        <p:spPr>
          <a:xfrm>
            <a:off x="1848357" y="4157471"/>
            <a:ext cx="7048500" cy="604520"/>
          </a:xfrm>
          <a:prstGeom prst="rect">
            <a:avLst/>
          </a:prstGeom>
        </p:spPr>
        <p:txBody>
          <a:bodyPr vert="horz" wrap="square" lIns="0" tIns="46990" rIns="0" bIns="0" rtlCol="0">
            <a:spAutoFit/>
          </a:bodyPr>
          <a:lstStyle/>
          <a:p>
            <a:pPr marL="342265" marR="5080" indent="-342265">
              <a:lnSpc>
                <a:spcPts val="2160"/>
              </a:lnSpc>
              <a:spcBef>
                <a:spcPts val="370"/>
              </a:spcBef>
              <a:buFont typeface="Wingdings"/>
              <a:buChar char=""/>
              <a:tabLst>
                <a:tab pos="342265" algn="l"/>
                <a:tab pos="342900" algn="l"/>
                <a:tab pos="931544" algn="l"/>
                <a:tab pos="2545080" algn="l"/>
                <a:tab pos="3203575" algn="l"/>
                <a:tab pos="4543425" algn="l"/>
                <a:tab pos="5329555" algn="l"/>
                <a:tab pos="6472555" algn="l"/>
              </a:tabLst>
            </a:pPr>
            <a:r>
              <a:rPr sz="2000" spc="-45" dirty="0">
                <a:latin typeface="Times New Roman"/>
                <a:cs typeface="Times New Roman"/>
              </a:rPr>
              <a:t>By	</a:t>
            </a:r>
            <a:r>
              <a:rPr sz="2000" spc="80" dirty="0">
                <a:latin typeface="Times New Roman"/>
                <a:cs typeface="Times New Roman"/>
              </a:rPr>
              <a:t>cus</a:t>
            </a:r>
            <a:r>
              <a:rPr sz="2000" spc="60" dirty="0">
                <a:latin typeface="Times New Roman"/>
                <a:cs typeface="Times New Roman"/>
              </a:rPr>
              <a:t>t</a:t>
            </a:r>
            <a:r>
              <a:rPr sz="2000" spc="30" dirty="0">
                <a:latin typeface="Times New Roman"/>
                <a:cs typeface="Times New Roman"/>
              </a:rPr>
              <a:t>omizing</a:t>
            </a:r>
            <a:r>
              <a:rPr sz="2000" dirty="0">
                <a:latin typeface="Times New Roman"/>
                <a:cs typeface="Times New Roman"/>
              </a:rPr>
              <a:t>	</a:t>
            </a:r>
            <a:r>
              <a:rPr sz="2000" spc="110" dirty="0">
                <a:latin typeface="Times New Roman"/>
                <a:cs typeface="Times New Roman"/>
              </a:rPr>
              <a:t>the</a:t>
            </a:r>
            <a:r>
              <a:rPr sz="2000" dirty="0">
                <a:latin typeface="Times New Roman"/>
                <a:cs typeface="Times New Roman"/>
              </a:rPr>
              <a:t>	</a:t>
            </a:r>
            <a:r>
              <a:rPr sz="2000" spc="75" dirty="0">
                <a:latin typeface="Times New Roman"/>
                <a:cs typeface="Times New Roman"/>
              </a:rPr>
              <a:t>headi</a:t>
            </a:r>
            <a:r>
              <a:rPr sz="2000" spc="40" dirty="0">
                <a:latin typeface="Times New Roman"/>
                <a:cs typeface="Times New Roman"/>
              </a:rPr>
              <a:t>ngs,</a:t>
            </a:r>
            <a:r>
              <a:rPr sz="2000" dirty="0">
                <a:latin typeface="Times New Roman"/>
                <a:cs typeface="Times New Roman"/>
              </a:rPr>
              <a:t>	</a:t>
            </a:r>
            <a:r>
              <a:rPr sz="2000" spc="125" dirty="0">
                <a:latin typeface="Times New Roman"/>
                <a:cs typeface="Times New Roman"/>
              </a:rPr>
              <a:t>t</a:t>
            </a:r>
            <a:r>
              <a:rPr sz="2000" spc="110" dirty="0">
                <a:latin typeface="Times New Roman"/>
                <a:cs typeface="Times New Roman"/>
              </a:rPr>
              <a:t>he</a:t>
            </a:r>
            <a:r>
              <a:rPr sz="2000" spc="-5" dirty="0">
                <a:latin typeface="Times New Roman"/>
                <a:cs typeface="Times New Roman"/>
              </a:rPr>
              <a:t>y</a:t>
            </a:r>
            <a:r>
              <a:rPr sz="2000" dirty="0">
                <a:latin typeface="Times New Roman"/>
                <a:cs typeface="Times New Roman"/>
              </a:rPr>
              <a:t>	</a:t>
            </a:r>
            <a:r>
              <a:rPr sz="2000" spc="50" dirty="0">
                <a:latin typeface="Times New Roman"/>
                <a:cs typeface="Times New Roman"/>
              </a:rPr>
              <a:t>be</a:t>
            </a:r>
            <a:r>
              <a:rPr sz="2000" spc="55" dirty="0">
                <a:latin typeface="Times New Roman"/>
                <a:cs typeface="Times New Roman"/>
              </a:rPr>
              <a:t>c</a:t>
            </a:r>
            <a:r>
              <a:rPr sz="2000" spc="75" dirty="0">
                <a:latin typeface="Times New Roman"/>
                <a:cs typeface="Times New Roman"/>
              </a:rPr>
              <a:t>ome</a:t>
            </a:r>
            <a:r>
              <a:rPr sz="2000" dirty="0">
                <a:latin typeface="Times New Roman"/>
                <a:cs typeface="Times New Roman"/>
              </a:rPr>
              <a:t>	</a:t>
            </a:r>
            <a:r>
              <a:rPr sz="2000" spc="114" dirty="0">
                <a:latin typeface="Times New Roman"/>
                <a:cs typeface="Times New Roman"/>
              </a:rPr>
              <a:t>m</a:t>
            </a:r>
            <a:r>
              <a:rPr sz="2000" spc="75" dirty="0">
                <a:latin typeface="Times New Roman"/>
                <a:cs typeface="Times New Roman"/>
              </a:rPr>
              <a:t>o</a:t>
            </a:r>
            <a:r>
              <a:rPr sz="2000" spc="50" dirty="0">
                <a:latin typeface="Times New Roman"/>
                <a:cs typeface="Times New Roman"/>
              </a:rPr>
              <a:t>re  </a:t>
            </a:r>
            <a:r>
              <a:rPr sz="2000" spc="85" dirty="0">
                <a:latin typeface="Times New Roman"/>
                <a:cs typeface="Times New Roman"/>
              </a:rPr>
              <a:t>understandable </a:t>
            </a:r>
            <a:r>
              <a:rPr sz="2000" spc="110" dirty="0">
                <a:latin typeface="Times New Roman"/>
                <a:cs typeface="Times New Roman"/>
              </a:rPr>
              <a:t>and</a:t>
            </a:r>
            <a:r>
              <a:rPr sz="2000" spc="-190" dirty="0">
                <a:latin typeface="Times New Roman"/>
                <a:cs typeface="Times New Roman"/>
              </a:rPr>
              <a:t> </a:t>
            </a:r>
            <a:r>
              <a:rPr sz="2000" spc="60" dirty="0">
                <a:latin typeface="Times New Roman"/>
                <a:cs typeface="Times New Roman"/>
              </a:rPr>
              <a:t>meaningful.</a:t>
            </a:r>
            <a:endParaRPr sz="20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10</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29" y="0"/>
            <a:ext cx="8815070" cy="635635"/>
          </a:xfrm>
          <a:prstGeom prst="rect">
            <a:avLst/>
          </a:prstGeom>
        </p:spPr>
        <p:txBody>
          <a:bodyPr vert="horz" wrap="square" lIns="0" tIns="12700" rIns="0" bIns="0" rtlCol="0">
            <a:spAutoFit/>
          </a:bodyPr>
          <a:lstStyle/>
          <a:p>
            <a:pPr marL="12700">
              <a:lnSpc>
                <a:spcPct val="100000"/>
              </a:lnSpc>
              <a:spcBef>
                <a:spcPts val="100"/>
              </a:spcBef>
            </a:pPr>
            <a:r>
              <a:rPr sz="4000" b="0" spc="155" dirty="0">
                <a:latin typeface="Times New Roman"/>
                <a:cs typeface="Times New Roman"/>
              </a:rPr>
              <a:t>Renaming</a:t>
            </a:r>
            <a:r>
              <a:rPr sz="4000" b="0" spc="-155" dirty="0">
                <a:latin typeface="Times New Roman"/>
                <a:cs typeface="Times New Roman"/>
              </a:rPr>
              <a:t> </a:t>
            </a:r>
            <a:r>
              <a:rPr sz="4000" b="0" spc="150" dirty="0">
                <a:latin typeface="Times New Roman"/>
                <a:cs typeface="Times New Roman"/>
              </a:rPr>
              <a:t>ResultSet</a:t>
            </a:r>
            <a:r>
              <a:rPr sz="4000" b="0" spc="-175" dirty="0">
                <a:latin typeface="Times New Roman"/>
                <a:cs typeface="Times New Roman"/>
              </a:rPr>
              <a:t> </a:t>
            </a:r>
            <a:r>
              <a:rPr sz="4000" b="0" spc="270" dirty="0">
                <a:latin typeface="Times New Roman"/>
                <a:cs typeface="Times New Roman"/>
              </a:rPr>
              <a:t>Column</a:t>
            </a:r>
            <a:r>
              <a:rPr sz="4000" b="0" spc="-175" dirty="0">
                <a:latin typeface="Times New Roman"/>
                <a:cs typeface="Times New Roman"/>
              </a:rPr>
              <a:t> </a:t>
            </a:r>
            <a:r>
              <a:rPr sz="4000" b="0" spc="135" dirty="0">
                <a:latin typeface="Times New Roman"/>
                <a:cs typeface="Times New Roman"/>
              </a:rPr>
              <a:t>Names</a:t>
            </a:r>
            <a:r>
              <a:rPr sz="4000" b="0" spc="-150" dirty="0">
                <a:latin typeface="Times New Roman"/>
                <a:cs typeface="Times New Roman"/>
              </a:rPr>
              <a:t> </a:t>
            </a:r>
            <a:r>
              <a:rPr sz="4000" b="0" spc="-80" dirty="0">
                <a:latin typeface="Times New Roman"/>
                <a:cs typeface="Times New Roman"/>
              </a:rPr>
              <a:t>2-2</a:t>
            </a:r>
            <a:endParaRPr sz="4000">
              <a:latin typeface="Times New Roman"/>
              <a:cs typeface="Times New Roman"/>
            </a:endParaRPr>
          </a:p>
        </p:txBody>
      </p:sp>
      <p:pic>
        <p:nvPicPr>
          <p:cNvPr id="3" name="object 3"/>
          <p:cNvPicPr/>
          <p:nvPr/>
        </p:nvPicPr>
        <p:blipFill>
          <a:blip r:embed="rId3" cstate="print"/>
          <a:stretch>
            <a:fillRect/>
          </a:stretch>
        </p:blipFill>
        <p:spPr>
          <a:xfrm>
            <a:off x="675131" y="1434846"/>
            <a:ext cx="3432810" cy="3207258"/>
          </a:xfrm>
          <a:prstGeom prst="rect">
            <a:avLst/>
          </a:prstGeom>
        </p:spPr>
      </p:pic>
      <p:pic>
        <p:nvPicPr>
          <p:cNvPr id="4" name="object 4"/>
          <p:cNvPicPr/>
          <p:nvPr/>
        </p:nvPicPr>
        <p:blipFill>
          <a:blip r:embed="rId4" cstate="print"/>
          <a:stretch>
            <a:fillRect/>
          </a:stretch>
        </p:blipFill>
        <p:spPr>
          <a:xfrm>
            <a:off x="4248150" y="1434846"/>
            <a:ext cx="4614672" cy="3207258"/>
          </a:xfrm>
          <a:prstGeom prst="rect">
            <a:avLst/>
          </a:prstGeom>
        </p:spPr>
      </p:pic>
      <p:sp>
        <p:nvSpPr>
          <p:cNvPr id="5" name="object 5"/>
          <p:cNvSpPr txBox="1"/>
          <p:nvPr/>
        </p:nvSpPr>
        <p:spPr>
          <a:xfrm>
            <a:off x="814832" y="4661915"/>
            <a:ext cx="3154045" cy="452120"/>
          </a:xfrm>
          <a:prstGeom prst="rect">
            <a:avLst/>
          </a:prstGeom>
        </p:spPr>
        <p:txBody>
          <a:bodyPr vert="horz" wrap="square" lIns="0" tIns="12065" rIns="0" bIns="0" rtlCol="0">
            <a:spAutoFit/>
          </a:bodyPr>
          <a:lstStyle/>
          <a:p>
            <a:pPr marL="12700" marR="5080">
              <a:lnSpc>
                <a:spcPct val="100000"/>
              </a:lnSpc>
              <a:spcBef>
                <a:spcPts val="95"/>
              </a:spcBef>
              <a:tabLst>
                <a:tab pos="982344" algn="l"/>
                <a:tab pos="1956435" algn="l"/>
                <a:tab pos="2985135" algn="l"/>
              </a:tabLst>
            </a:pPr>
            <a:r>
              <a:rPr sz="1400" b="1" spc="95" dirty="0">
                <a:latin typeface="Arial"/>
                <a:cs typeface="Arial"/>
              </a:rPr>
              <a:t>C</a:t>
            </a:r>
            <a:r>
              <a:rPr sz="1400" b="1" spc="-105" dirty="0">
                <a:latin typeface="Arial"/>
                <a:cs typeface="Arial"/>
              </a:rPr>
              <a:t>o</a:t>
            </a:r>
            <a:r>
              <a:rPr sz="1400" b="1" spc="-10" dirty="0">
                <a:latin typeface="Arial"/>
                <a:cs typeface="Arial"/>
              </a:rPr>
              <a:t>l</a:t>
            </a:r>
            <a:r>
              <a:rPr sz="1400" b="1" spc="-65" dirty="0">
                <a:latin typeface="Arial"/>
                <a:cs typeface="Arial"/>
              </a:rPr>
              <a:t>u</a:t>
            </a:r>
            <a:r>
              <a:rPr sz="1400" b="1" spc="-114" dirty="0">
                <a:latin typeface="Arial"/>
                <a:cs typeface="Arial"/>
              </a:rPr>
              <a:t>m</a:t>
            </a:r>
            <a:r>
              <a:rPr sz="1400" b="1" spc="-30" dirty="0">
                <a:latin typeface="Arial"/>
                <a:cs typeface="Arial"/>
              </a:rPr>
              <a:t>n</a:t>
            </a:r>
            <a:r>
              <a:rPr sz="1400" b="1" dirty="0">
                <a:latin typeface="Arial"/>
                <a:cs typeface="Arial"/>
              </a:rPr>
              <a:t>	</a:t>
            </a:r>
            <a:r>
              <a:rPr sz="1400" b="1" spc="70" dirty="0">
                <a:latin typeface="Arial"/>
                <a:cs typeface="Arial"/>
              </a:rPr>
              <a:t>H</a:t>
            </a:r>
            <a:r>
              <a:rPr sz="1400" b="1" spc="-140" dirty="0">
                <a:latin typeface="Arial"/>
                <a:cs typeface="Arial"/>
              </a:rPr>
              <a:t>e</a:t>
            </a:r>
            <a:r>
              <a:rPr sz="1400" b="1" spc="-145" dirty="0">
                <a:latin typeface="Arial"/>
                <a:cs typeface="Arial"/>
              </a:rPr>
              <a:t>a</a:t>
            </a:r>
            <a:r>
              <a:rPr sz="1400" b="1" spc="-90" dirty="0">
                <a:latin typeface="Arial"/>
                <a:cs typeface="Arial"/>
              </a:rPr>
              <a:t>d</a:t>
            </a:r>
            <a:r>
              <a:rPr sz="1400" b="1" spc="-5" dirty="0">
                <a:latin typeface="Arial"/>
                <a:cs typeface="Arial"/>
              </a:rPr>
              <a:t>i</a:t>
            </a:r>
            <a:r>
              <a:rPr sz="1400" b="1" spc="-40" dirty="0">
                <a:latin typeface="Arial"/>
                <a:cs typeface="Arial"/>
              </a:rPr>
              <a:t>n</a:t>
            </a:r>
            <a:r>
              <a:rPr sz="1400" b="1" spc="-175" dirty="0">
                <a:latin typeface="Arial"/>
                <a:cs typeface="Arial"/>
              </a:rPr>
              <a:t>g</a:t>
            </a:r>
            <a:r>
              <a:rPr sz="1400" b="1" dirty="0">
                <a:latin typeface="Arial"/>
                <a:cs typeface="Arial"/>
              </a:rPr>
              <a:t>	</a:t>
            </a:r>
            <a:r>
              <a:rPr sz="1400" b="1" spc="85" dirty="0">
                <a:latin typeface="Arial"/>
                <a:cs typeface="Arial"/>
              </a:rPr>
              <a:t>M</a:t>
            </a:r>
            <a:r>
              <a:rPr sz="1400" b="1" spc="-114" dirty="0">
                <a:latin typeface="Arial"/>
                <a:cs typeface="Arial"/>
              </a:rPr>
              <a:t>o</a:t>
            </a:r>
            <a:r>
              <a:rPr sz="1400" b="1" spc="-90" dirty="0">
                <a:latin typeface="Arial"/>
                <a:cs typeface="Arial"/>
              </a:rPr>
              <a:t>d</a:t>
            </a:r>
            <a:r>
              <a:rPr sz="1400" b="1" spc="-5" dirty="0">
                <a:latin typeface="Arial"/>
                <a:cs typeface="Arial"/>
              </a:rPr>
              <a:t>i</a:t>
            </a:r>
            <a:r>
              <a:rPr sz="1400" b="1" spc="5" dirty="0">
                <a:latin typeface="Arial"/>
                <a:cs typeface="Arial"/>
              </a:rPr>
              <a:t>f</a:t>
            </a:r>
            <a:r>
              <a:rPr sz="1400" b="1" spc="-5" dirty="0">
                <a:latin typeface="Arial"/>
                <a:cs typeface="Arial"/>
              </a:rPr>
              <a:t>i</a:t>
            </a:r>
            <a:r>
              <a:rPr sz="1400" b="1" spc="-140" dirty="0">
                <a:latin typeface="Arial"/>
                <a:cs typeface="Arial"/>
              </a:rPr>
              <a:t>e</a:t>
            </a:r>
            <a:r>
              <a:rPr sz="1400" b="1" spc="-70" dirty="0">
                <a:latin typeface="Arial"/>
                <a:cs typeface="Arial"/>
              </a:rPr>
              <a:t>d</a:t>
            </a:r>
            <a:r>
              <a:rPr sz="1400" b="1" dirty="0">
                <a:latin typeface="Arial"/>
                <a:cs typeface="Arial"/>
              </a:rPr>
              <a:t>	</a:t>
            </a:r>
            <a:r>
              <a:rPr sz="1400" b="1" spc="-50" dirty="0">
                <a:latin typeface="Arial"/>
                <a:cs typeface="Arial"/>
              </a:rPr>
              <a:t>to  </a:t>
            </a:r>
            <a:r>
              <a:rPr sz="1400" b="1" spc="-70" dirty="0">
                <a:latin typeface="Arial"/>
                <a:cs typeface="Arial"/>
              </a:rPr>
              <a:t>NameRegionGroup</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11</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object 6"/>
          <p:cNvSpPr txBox="1"/>
          <p:nvPr/>
        </p:nvSpPr>
        <p:spPr>
          <a:xfrm>
            <a:off x="4833620" y="4769611"/>
            <a:ext cx="3354070"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Arial"/>
                <a:cs typeface="Arial"/>
              </a:rPr>
              <a:t>Column</a:t>
            </a:r>
            <a:r>
              <a:rPr sz="1400" b="1" spc="-130" dirty="0">
                <a:latin typeface="Arial"/>
                <a:cs typeface="Arial"/>
              </a:rPr>
              <a:t> </a:t>
            </a:r>
            <a:r>
              <a:rPr sz="1400" b="1" spc="-75" dirty="0">
                <a:latin typeface="Arial"/>
                <a:cs typeface="Arial"/>
              </a:rPr>
              <a:t>Heading</a:t>
            </a:r>
            <a:r>
              <a:rPr sz="1400" b="1" spc="-120" dirty="0">
                <a:latin typeface="Arial"/>
                <a:cs typeface="Arial"/>
              </a:rPr>
              <a:t> </a:t>
            </a:r>
            <a:r>
              <a:rPr sz="1400" b="1" spc="-40" dirty="0">
                <a:latin typeface="Arial"/>
                <a:cs typeface="Arial"/>
              </a:rPr>
              <a:t>Modified</a:t>
            </a:r>
            <a:r>
              <a:rPr sz="1400" b="1" spc="-125" dirty="0">
                <a:latin typeface="Arial"/>
                <a:cs typeface="Arial"/>
              </a:rPr>
              <a:t> </a:t>
            </a:r>
            <a:r>
              <a:rPr sz="1400" b="1" spc="-45" dirty="0">
                <a:latin typeface="Arial"/>
                <a:cs typeface="Arial"/>
              </a:rPr>
              <a:t>to</a:t>
            </a:r>
            <a:r>
              <a:rPr sz="1400" b="1" spc="-110" dirty="0">
                <a:latin typeface="Arial"/>
                <a:cs typeface="Arial"/>
              </a:rPr>
              <a:t> </a:t>
            </a:r>
            <a:r>
              <a:rPr sz="1400" b="1" spc="-65" dirty="0">
                <a:latin typeface="Arial"/>
                <a:cs typeface="Arial"/>
              </a:rPr>
              <a:t>ChangedDate</a:t>
            </a:r>
            <a:endParaRPr sz="14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8525" y="26416"/>
            <a:ext cx="6979920" cy="635635"/>
          </a:xfrm>
          <a:prstGeom prst="rect">
            <a:avLst/>
          </a:prstGeom>
        </p:spPr>
        <p:txBody>
          <a:bodyPr vert="horz" wrap="square" lIns="0" tIns="12700" rIns="0" bIns="0" rtlCol="0">
            <a:spAutoFit/>
          </a:bodyPr>
          <a:lstStyle/>
          <a:p>
            <a:pPr marL="12700">
              <a:lnSpc>
                <a:spcPct val="100000"/>
              </a:lnSpc>
              <a:spcBef>
                <a:spcPts val="100"/>
              </a:spcBef>
            </a:pPr>
            <a:r>
              <a:rPr sz="4000" b="0" spc="229" dirty="0">
                <a:latin typeface="Times New Roman"/>
                <a:cs typeface="Times New Roman"/>
              </a:rPr>
              <a:t>Computing</a:t>
            </a:r>
            <a:r>
              <a:rPr sz="4000" b="0" spc="-190" dirty="0">
                <a:latin typeface="Times New Roman"/>
                <a:cs typeface="Times New Roman"/>
              </a:rPr>
              <a:t> </a:t>
            </a:r>
            <a:r>
              <a:rPr sz="4000" b="0" spc="135" dirty="0">
                <a:latin typeface="Times New Roman"/>
                <a:cs typeface="Times New Roman"/>
              </a:rPr>
              <a:t>Values</a:t>
            </a:r>
            <a:r>
              <a:rPr sz="4000" b="0" spc="-170" dirty="0">
                <a:latin typeface="Times New Roman"/>
                <a:cs typeface="Times New Roman"/>
              </a:rPr>
              <a:t> </a:t>
            </a:r>
            <a:r>
              <a:rPr sz="4000" b="0" spc="195" dirty="0">
                <a:latin typeface="Times New Roman"/>
                <a:cs typeface="Times New Roman"/>
              </a:rPr>
              <a:t>in</a:t>
            </a:r>
            <a:r>
              <a:rPr sz="4000" b="0" spc="-165" dirty="0">
                <a:latin typeface="Times New Roman"/>
                <a:cs typeface="Times New Roman"/>
              </a:rPr>
              <a:t> </a:t>
            </a:r>
            <a:r>
              <a:rPr sz="4000" b="0" spc="150" dirty="0">
                <a:latin typeface="Times New Roman"/>
                <a:cs typeface="Times New Roman"/>
              </a:rPr>
              <a:t>ResultSet</a:t>
            </a:r>
            <a:endParaRPr sz="4000">
              <a:latin typeface="Times New Roman"/>
              <a:cs typeface="Times New Roman"/>
            </a:endParaRPr>
          </a:p>
        </p:txBody>
      </p:sp>
      <p:sp>
        <p:nvSpPr>
          <p:cNvPr id="3" name="object 3"/>
          <p:cNvSpPr txBox="1"/>
          <p:nvPr/>
        </p:nvSpPr>
        <p:spPr>
          <a:xfrm>
            <a:off x="320040" y="938783"/>
            <a:ext cx="8542020" cy="2030730"/>
          </a:xfrm>
          <a:prstGeom prst="rect">
            <a:avLst/>
          </a:prstGeom>
          <a:solidFill>
            <a:srgbClr val="4F81BC"/>
          </a:solidFill>
        </p:spPr>
        <p:txBody>
          <a:bodyPr vert="horz" wrap="square" lIns="0" tIns="3810" rIns="0" bIns="0" rtlCol="0">
            <a:spAutoFit/>
          </a:bodyPr>
          <a:lstStyle/>
          <a:p>
            <a:pPr>
              <a:lnSpc>
                <a:spcPct val="100000"/>
              </a:lnSpc>
              <a:spcBef>
                <a:spcPts val="30"/>
              </a:spcBef>
            </a:pPr>
            <a:endParaRPr sz="2500">
              <a:latin typeface="Times New Roman"/>
              <a:cs typeface="Times New Roman"/>
            </a:endParaRPr>
          </a:p>
          <a:p>
            <a:pPr marL="418465" marR="67945" indent="-342900">
              <a:lnSpc>
                <a:spcPts val="2380"/>
              </a:lnSpc>
              <a:buFont typeface="Wingdings"/>
              <a:buChar char=""/>
              <a:tabLst>
                <a:tab pos="419100" algn="l"/>
                <a:tab pos="775335" algn="l"/>
                <a:tab pos="1998345" algn="l"/>
                <a:tab pos="3308350" algn="l"/>
                <a:tab pos="3858260" algn="l"/>
                <a:tab pos="4900930" algn="l"/>
                <a:tab pos="6646545" algn="l"/>
                <a:tab pos="8174355" algn="l"/>
              </a:tabLst>
            </a:pPr>
            <a:r>
              <a:rPr sz="2200" spc="195" dirty="0">
                <a:solidFill>
                  <a:srgbClr val="FFFFFF"/>
                </a:solidFill>
                <a:latin typeface="Times New Roman"/>
                <a:cs typeface="Times New Roman"/>
              </a:rPr>
              <a:t>A	</a:t>
            </a:r>
            <a:r>
              <a:rPr sz="2200" spc="35" dirty="0">
                <a:solidFill>
                  <a:srgbClr val="FFFFFF"/>
                </a:solidFill>
                <a:latin typeface="Times New Roman"/>
                <a:cs typeface="Times New Roman"/>
              </a:rPr>
              <a:t>S</a:t>
            </a:r>
            <a:r>
              <a:rPr sz="2200" spc="25" dirty="0">
                <a:solidFill>
                  <a:srgbClr val="FFFFFF"/>
                </a:solidFill>
                <a:latin typeface="Times New Roman"/>
                <a:cs typeface="Times New Roman"/>
              </a:rPr>
              <a:t>E</a:t>
            </a:r>
            <a:r>
              <a:rPr sz="2200" spc="120" dirty="0">
                <a:solidFill>
                  <a:srgbClr val="FFFFFF"/>
                </a:solidFill>
                <a:latin typeface="Times New Roman"/>
                <a:cs typeface="Times New Roman"/>
              </a:rPr>
              <a:t>LECT</a:t>
            </a:r>
            <a:r>
              <a:rPr sz="2200" dirty="0">
                <a:solidFill>
                  <a:srgbClr val="FFFFFF"/>
                </a:solidFill>
                <a:latin typeface="Times New Roman"/>
                <a:cs typeface="Times New Roman"/>
              </a:rPr>
              <a:t>	</a:t>
            </a:r>
            <a:r>
              <a:rPr sz="2200" spc="-5" dirty="0">
                <a:solidFill>
                  <a:srgbClr val="FFFFFF"/>
                </a:solidFill>
                <a:latin typeface="Times New Roman"/>
                <a:cs typeface="Times New Roman"/>
              </a:rPr>
              <a:t>s</a:t>
            </a:r>
            <a:r>
              <a:rPr sz="2200" spc="85" dirty="0">
                <a:solidFill>
                  <a:srgbClr val="FFFFFF"/>
                </a:solidFill>
                <a:latin typeface="Times New Roman"/>
                <a:cs typeface="Times New Roman"/>
              </a:rPr>
              <a:t>tat</a:t>
            </a:r>
            <a:r>
              <a:rPr sz="2200" spc="100" dirty="0">
                <a:solidFill>
                  <a:srgbClr val="FFFFFF"/>
                </a:solidFill>
                <a:latin typeface="Times New Roman"/>
                <a:cs typeface="Times New Roman"/>
              </a:rPr>
              <a:t>e</a:t>
            </a:r>
            <a:r>
              <a:rPr sz="2200" spc="125" dirty="0">
                <a:solidFill>
                  <a:srgbClr val="FFFFFF"/>
                </a:solidFill>
                <a:latin typeface="Times New Roman"/>
                <a:cs typeface="Times New Roman"/>
              </a:rPr>
              <a:t>ment</a:t>
            </a:r>
            <a:r>
              <a:rPr sz="2200" dirty="0">
                <a:solidFill>
                  <a:srgbClr val="FFFFFF"/>
                </a:solidFill>
                <a:latin typeface="Times New Roman"/>
                <a:cs typeface="Times New Roman"/>
              </a:rPr>
              <a:t>	</a:t>
            </a:r>
            <a:r>
              <a:rPr sz="2200" spc="85" dirty="0">
                <a:solidFill>
                  <a:srgbClr val="FFFFFF"/>
                </a:solidFill>
                <a:latin typeface="Times New Roman"/>
                <a:cs typeface="Times New Roman"/>
              </a:rPr>
              <a:t>can</a:t>
            </a:r>
            <a:r>
              <a:rPr sz="2200" dirty="0">
                <a:solidFill>
                  <a:srgbClr val="FFFFFF"/>
                </a:solidFill>
                <a:latin typeface="Times New Roman"/>
                <a:cs typeface="Times New Roman"/>
              </a:rPr>
              <a:t>	</a:t>
            </a:r>
            <a:r>
              <a:rPr sz="2200" spc="100" dirty="0">
                <a:solidFill>
                  <a:srgbClr val="FFFFFF"/>
                </a:solidFill>
                <a:latin typeface="Times New Roman"/>
                <a:cs typeface="Times New Roman"/>
              </a:rPr>
              <a:t>cont</a:t>
            </a:r>
            <a:r>
              <a:rPr sz="2200" spc="90" dirty="0">
                <a:solidFill>
                  <a:srgbClr val="FFFFFF"/>
                </a:solidFill>
                <a:latin typeface="Times New Roman"/>
                <a:cs typeface="Times New Roman"/>
              </a:rPr>
              <a:t>a</a:t>
            </a:r>
            <a:r>
              <a:rPr sz="2200" spc="105" dirty="0">
                <a:solidFill>
                  <a:srgbClr val="FFFFFF"/>
                </a:solidFill>
                <a:latin typeface="Times New Roman"/>
                <a:cs typeface="Times New Roman"/>
              </a:rPr>
              <a:t>in</a:t>
            </a:r>
            <a:r>
              <a:rPr sz="2200" dirty="0">
                <a:solidFill>
                  <a:srgbClr val="FFFFFF"/>
                </a:solidFill>
                <a:latin typeface="Times New Roman"/>
                <a:cs typeface="Times New Roman"/>
              </a:rPr>
              <a:t>	</a:t>
            </a:r>
            <a:r>
              <a:rPr sz="2200" spc="114" dirty="0">
                <a:solidFill>
                  <a:srgbClr val="FFFFFF"/>
                </a:solidFill>
                <a:latin typeface="Times New Roman"/>
                <a:cs typeface="Times New Roman"/>
              </a:rPr>
              <a:t>ma</a:t>
            </a:r>
            <a:r>
              <a:rPr sz="2200" spc="40" dirty="0">
                <a:solidFill>
                  <a:srgbClr val="FFFFFF"/>
                </a:solidFill>
                <a:latin typeface="Times New Roman"/>
                <a:cs typeface="Times New Roman"/>
              </a:rPr>
              <a:t>t</a:t>
            </a:r>
            <a:r>
              <a:rPr sz="2200" spc="100" dirty="0">
                <a:solidFill>
                  <a:srgbClr val="FFFFFF"/>
                </a:solidFill>
                <a:latin typeface="Times New Roman"/>
                <a:cs typeface="Times New Roman"/>
              </a:rPr>
              <a:t>hem</a:t>
            </a:r>
            <a:r>
              <a:rPr sz="2200" spc="70" dirty="0">
                <a:solidFill>
                  <a:srgbClr val="FFFFFF"/>
                </a:solidFill>
                <a:latin typeface="Times New Roman"/>
                <a:cs typeface="Times New Roman"/>
              </a:rPr>
              <a:t>a</a:t>
            </a:r>
            <a:r>
              <a:rPr sz="2200" spc="40" dirty="0">
                <a:solidFill>
                  <a:srgbClr val="FFFFFF"/>
                </a:solidFill>
                <a:latin typeface="Times New Roman"/>
                <a:cs typeface="Times New Roman"/>
              </a:rPr>
              <a:t>tical</a:t>
            </a:r>
            <a:r>
              <a:rPr sz="2200" dirty="0">
                <a:solidFill>
                  <a:srgbClr val="FFFFFF"/>
                </a:solidFill>
                <a:latin typeface="Times New Roman"/>
                <a:cs typeface="Times New Roman"/>
              </a:rPr>
              <a:t>	</a:t>
            </a:r>
            <a:r>
              <a:rPr sz="2200" spc="60" dirty="0">
                <a:solidFill>
                  <a:srgbClr val="FFFFFF"/>
                </a:solidFill>
                <a:latin typeface="Times New Roman"/>
                <a:cs typeface="Times New Roman"/>
              </a:rPr>
              <a:t>expres</a:t>
            </a:r>
            <a:r>
              <a:rPr sz="2200" spc="40" dirty="0">
                <a:solidFill>
                  <a:srgbClr val="FFFFFF"/>
                </a:solidFill>
                <a:latin typeface="Times New Roman"/>
                <a:cs typeface="Times New Roman"/>
              </a:rPr>
              <a:t>s</a:t>
            </a:r>
            <a:r>
              <a:rPr sz="2200" spc="80" dirty="0">
                <a:solidFill>
                  <a:srgbClr val="FFFFFF"/>
                </a:solidFill>
                <a:latin typeface="Times New Roman"/>
                <a:cs typeface="Times New Roman"/>
              </a:rPr>
              <a:t>ions</a:t>
            </a:r>
            <a:r>
              <a:rPr sz="2200" dirty="0">
                <a:solidFill>
                  <a:srgbClr val="FFFFFF"/>
                </a:solidFill>
                <a:latin typeface="Times New Roman"/>
                <a:cs typeface="Times New Roman"/>
              </a:rPr>
              <a:t>	</a:t>
            </a:r>
            <a:r>
              <a:rPr sz="2200" spc="30" dirty="0">
                <a:solidFill>
                  <a:srgbClr val="FFFFFF"/>
                </a:solidFill>
                <a:latin typeface="Times New Roman"/>
                <a:cs typeface="Times New Roman"/>
              </a:rPr>
              <a:t>by  </a:t>
            </a:r>
            <a:r>
              <a:rPr sz="2200" spc="55" dirty="0">
                <a:solidFill>
                  <a:srgbClr val="FFFFFF"/>
                </a:solidFill>
                <a:latin typeface="Times New Roman"/>
                <a:cs typeface="Times New Roman"/>
              </a:rPr>
              <a:t>applying</a:t>
            </a:r>
            <a:r>
              <a:rPr sz="2200" spc="-85" dirty="0">
                <a:solidFill>
                  <a:srgbClr val="FFFFFF"/>
                </a:solidFill>
                <a:latin typeface="Times New Roman"/>
                <a:cs typeface="Times New Roman"/>
              </a:rPr>
              <a:t> </a:t>
            </a:r>
            <a:r>
              <a:rPr sz="2200" spc="80" dirty="0">
                <a:solidFill>
                  <a:srgbClr val="FFFFFF"/>
                </a:solidFill>
                <a:latin typeface="Times New Roman"/>
                <a:cs typeface="Times New Roman"/>
              </a:rPr>
              <a:t>operators</a:t>
            </a:r>
            <a:r>
              <a:rPr sz="2200" spc="-120" dirty="0">
                <a:solidFill>
                  <a:srgbClr val="FFFFFF"/>
                </a:solidFill>
                <a:latin typeface="Times New Roman"/>
                <a:cs typeface="Times New Roman"/>
              </a:rPr>
              <a:t> </a:t>
            </a:r>
            <a:r>
              <a:rPr sz="2200" spc="120" dirty="0">
                <a:solidFill>
                  <a:srgbClr val="FFFFFF"/>
                </a:solidFill>
                <a:latin typeface="Times New Roman"/>
                <a:cs typeface="Times New Roman"/>
              </a:rPr>
              <a:t>to</a:t>
            </a:r>
            <a:r>
              <a:rPr sz="2200" spc="-100" dirty="0">
                <a:solidFill>
                  <a:srgbClr val="FFFFFF"/>
                </a:solidFill>
                <a:latin typeface="Times New Roman"/>
                <a:cs typeface="Times New Roman"/>
              </a:rPr>
              <a:t> </a:t>
            </a:r>
            <a:r>
              <a:rPr sz="2200" spc="114" dirty="0">
                <a:solidFill>
                  <a:srgbClr val="FFFFFF"/>
                </a:solidFill>
                <a:latin typeface="Times New Roman"/>
                <a:cs typeface="Times New Roman"/>
              </a:rPr>
              <a:t>one</a:t>
            </a:r>
            <a:r>
              <a:rPr sz="2200" spc="-95" dirty="0">
                <a:solidFill>
                  <a:srgbClr val="FFFFFF"/>
                </a:solidFill>
                <a:latin typeface="Times New Roman"/>
                <a:cs typeface="Times New Roman"/>
              </a:rPr>
              <a:t> </a:t>
            </a:r>
            <a:r>
              <a:rPr sz="2200" spc="95" dirty="0">
                <a:solidFill>
                  <a:srgbClr val="FFFFFF"/>
                </a:solidFill>
                <a:latin typeface="Times New Roman"/>
                <a:cs typeface="Times New Roman"/>
              </a:rPr>
              <a:t>or</a:t>
            </a:r>
            <a:r>
              <a:rPr sz="2200" spc="-100" dirty="0">
                <a:solidFill>
                  <a:srgbClr val="FFFFFF"/>
                </a:solidFill>
                <a:latin typeface="Times New Roman"/>
                <a:cs typeface="Times New Roman"/>
              </a:rPr>
              <a:t> </a:t>
            </a:r>
            <a:r>
              <a:rPr sz="2200" spc="85" dirty="0">
                <a:solidFill>
                  <a:srgbClr val="FFFFFF"/>
                </a:solidFill>
                <a:latin typeface="Times New Roman"/>
                <a:cs typeface="Times New Roman"/>
              </a:rPr>
              <a:t>more</a:t>
            </a:r>
            <a:r>
              <a:rPr sz="2200" spc="-95" dirty="0">
                <a:solidFill>
                  <a:srgbClr val="FFFFFF"/>
                </a:solidFill>
                <a:latin typeface="Times New Roman"/>
                <a:cs typeface="Times New Roman"/>
              </a:rPr>
              <a:t> </a:t>
            </a:r>
            <a:r>
              <a:rPr sz="2200" spc="75" dirty="0">
                <a:solidFill>
                  <a:srgbClr val="FFFFFF"/>
                </a:solidFill>
                <a:latin typeface="Times New Roman"/>
                <a:cs typeface="Times New Roman"/>
              </a:rPr>
              <a:t>columns.</a:t>
            </a:r>
            <a:endParaRPr sz="2200">
              <a:latin typeface="Times New Roman"/>
              <a:cs typeface="Times New Roman"/>
            </a:endParaRPr>
          </a:p>
          <a:p>
            <a:pPr marL="418465" indent="-343535">
              <a:lnSpc>
                <a:spcPts val="2205"/>
              </a:lnSpc>
              <a:buFont typeface="Wingdings"/>
              <a:buChar char=""/>
              <a:tabLst>
                <a:tab pos="419100" algn="l"/>
              </a:tabLst>
            </a:pPr>
            <a:r>
              <a:rPr sz="2200" spc="60" dirty="0">
                <a:solidFill>
                  <a:srgbClr val="FFFFFF"/>
                </a:solidFill>
                <a:latin typeface="Times New Roman"/>
                <a:cs typeface="Times New Roman"/>
              </a:rPr>
              <a:t>It </a:t>
            </a:r>
            <a:r>
              <a:rPr sz="2200" spc="30" dirty="0">
                <a:solidFill>
                  <a:srgbClr val="FFFFFF"/>
                </a:solidFill>
                <a:latin typeface="Times New Roman"/>
                <a:cs typeface="Times New Roman"/>
              </a:rPr>
              <a:t>allows </a:t>
            </a:r>
            <a:r>
              <a:rPr sz="2200" spc="35" dirty="0">
                <a:solidFill>
                  <a:srgbClr val="FFFFFF"/>
                </a:solidFill>
                <a:latin typeface="Times New Roman"/>
                <a:cs typeface="Times New Roman"/>
              </a:rPr>
              <a:t>a </a:t>
            </a:r>
            <a:r>
              <a:rPr sz="2200" spc="70" dirty="0">
                <a:solidFill>
                  <a:srgbClr val="FFFFFF"/>
                </a:solidFill>
                <a:latin typeface="Times New Roman"/>
                <a:cs typeface="Times New Roman"/>
              </a:rPr>
              <a:t>resultset </a:t>
            </a:r>
            <a:r>
              <a:rPr sz="2200" spc="120" dirty="0">
                <a:solidFill>
                  <a:srgbClr val="FFFFFF"/>
                </a:solidFill>
                <a:latin typeface="Times New Roman"/>
                <a:cs typeface="Times New Roman"/>
              </a:rPr>
              <a:t>to </a:t>
            </a:r>
            <a:r>
              <a:rPr sz="2200" spc="100" dirty="0">
                <a:solidFill>
                  <a:srgbClr val="FFFFFF"/>
                </a:solidFill>
                <a:latin typeface="Times New Roman"/>
                <a:cs typeface="Times New Roman"/>
              </a:rPr>
              <a:t>contain </a:t>
            </a:r>
            <a:r>
              <a:rPr sz="2200" spc="50" dirty="0">
                <a:solidFill>
                  <a:srgbClr val="FFFFFF"/>
                </a:solidFill>
                <a:latin typeface="Times New Roman"/>
                <a:cs typeface="Times New Roman"/>
              </a:rPr>
              <a:t>values </a:t>
            </a:r>
            <a:r>
              <a:rPr sz="2200" spc="120" dirty="0">
                <a:solidFill>
                  <a:srgbClr val="FFFFFF"/>
                </a:solidFill>
                <a:latin typeface="Times New Roman"/>
                <a:cs typeface="Times New Roman"/>
              </a:rPr>
              <a:t>that do </a:t>
            </a:r>
            <a:r>
              <a:rPr sz="2200" spc="140" dirty="0">
                <a:solidFill>
                  <a:srgbClr val="FFFFFF"/>
                </a:solidFill>
                <a:latin typeface="Times New Roman"/>
                <a:cs typeface="Times New Roman"/>
              </a:rPr>
              <a:t>not </a:t>
            </a:r>
            <a:r>
              <a:rPr sz="2200" spc="60" dirty="0">
                <a:solidFill>
                  <a:srgbClr val="FFFFFF"/>
                </a:solidFill>
                <a:latin typeface="Times New Roman"/>
                <a:cs typeface="Times New Roman"/>
              </a:rPr>
              <a:t>exist </a:t>
            </a:r>
            <a:r>
              <a:rPr sz="2200" spc="105" dirty="0">
                <a:solidFill>
                  <a:srgbClr val="FFFFFF"/>
                </a:solidFill>
                <a:latin typeface="Times New Roman"/>
                <a:cs typeface="Times New Roman"/>
              </a:rPr>
              <a:t>in </a:t>
            </a:r>
            <a:r>
              <a:rPr sz="2200" spc="125" dirty="0">
                <a:solidFill>
                  <a:srgbClr val="FFFFFF"/>
                </a:solidFill>
                <a:latin typeface="Times New Roman"/>
                <a:cs typeface="Times New Roman"/>
              </a:rPr>
              <a:t>the</a:t>
            </a:r>
            <a:r>
              <a:rPr sz="2200" spc="645" dirty="0">
                <a:solidFill>
                  <a:srgbClr val="FFFFFF"/>
                </a:solidFill>
                <a:latin typeface="Times New Roman"/>
                <a:cs typeface="Times New Roman"/>
              </a:rPr>
              <a:t> </a:t>
            </a:r>
            <a:r>
              <a:rPr sz="2200" spc="45" dirty="0">
                <a:solidFill>
                  <a:srgbClr val="FFFFFF"/>
                </a:solidFill>
                <a:latin typeface="Times New Roman"/>
                <a:cs typeface="Times New Roman"/>
              </a:rPr>
              <a:t>base</a:t>
            </a:r>
            <a:endParaRPr sz="2200">
              <a:latin typeface="Times New Roman"/>
              <a:cs typeface="Times New Roman"/>
            </a:endParaRPr>
          </a:p>
          <a:p>
            <a:pPr marL="418465">
              <a:lnSpc>
                <a:spcPts val="2510"/>
              </a:lnSpc>
            </a:pPr>
            <a:r>
              <a:rPr sz="2200" spc="55" dirty="0">
                <a:solidFill>
                  <a:srgbClr val="FFFFFF"/>
                </a:solidFill>
                <a:latin typeface="Times New Roman"/>
                <a:cs typeface="Times New Roman"/>
              </a:rPr>
              <a:t>table,</a:t>
            </a:r>
            <a:r>
              <a:rPr sz="2200" spc="-105" dirty="0">
                <a:solidFill>
                  <a:srgbClr val="FFFFFF"/>
                </a:solidFill>
                <a:latin typeface="Times New Roman"/>
                <a:cs typeface="Times New Roman"/>
              </a:rPr>
              <a:t> </a:t>
            </a:r>
            <a:r>
              <a:rPr sz="2200" spc="135" dirty="0">
                <a:solidFill>
                  <a:srgbClr val="FFFFFF"/>
                </a:solidFill>
                <a:latin typeface="Times New Roman"/>
                <a:cs typeface="Times New Roman"/>
              </a:rPr>
              <a:t>but</a:t>
            </a:r>
            <a:r>
              <a:rPr sz="2200" spc="-100" dirty="0">
                <a:solidFill>
                  <a:srgbClr val="FFFFFF"/>
                </a:solidFill>
                <a:latin typeface="Times New Roman"/>
                <a:cs typeface="Times New Roman"/>
              </a:rPr>
              <a:t> </a:t>
            </a:r>
            <a:r>
              <a:rPr sz="2200" spc="60" dirty="0">
                <a:solidFill>
                  <a:srgbClr val="FFFFFF"/>
                </a:solidFill>
                <a:latin typeface="Times New Roman"/>
                <a:cs typeface="Times New Roman"/>
              </a:rPr>
              <a:t>are</a:t>
            </a:r>
            <a:r>
              <a:rPr sz="2200" spc="-95" dirty="0">
                <a:solidFill>
                  <a:srgbClr val="FFFFFF"/>
                </a:solidFill>
                <a:latin typeface="Times New Roman"/>
                <a:cs typeface="Times New Roman"/>
              </a:rPr>
              <a:t> </a:t>
            </a:r>
            <a:r>
              <a:rPr sz="2200" spc="60" dirty="0">
                <a:solidFill>
                  <a:srgbClr val="FFFFFF"/>
                </a:solidFill>
                <a:latin typeface="Times New Roman"/>
                <a:cs typeface="Times New Roman"/>
              </a:rPr>
              <a:t>calculated</a:t>
            </a:r>
            <a:r>
              <a:rPr sz="2200" spc="-95" dirty="0">
                <a:solidFill>
                  <a:srgbClr val="FFFFFF"/>
                </a:solidFill>
                <a:latin typeface="Times New Roman"/>
                <a:cs typeface="Times New Roman"/>
              </a:rPr>
              <a:t> </a:t>
            </a:r>
            <a:r>
              <a:rPr sz="2200" spc="80" dirty="0">
                <a:solidFill>
                  <a:srgbClr val="FFFFFF"/>
                </a:solidFill>
                <a:latin typeface="Times New Roman"/>
                <a:cs typeface="Times New Roman"/>
              </a:rPr>
              <a:t>from</a:t>
            </a:r>
            <a:r>
              <a:rPr sz="2200" spc="-9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50" dirty="0">
                <a:solidFill>
                  <a:srgbClr val="FFFFFF"/>
                </a:solidFill>
                <a:latin typeface="Times New Roman"/>
                <a:cs typeface="Times New Roman"/>
              </a:rPr>
              <a:t>values</a:t>
            </a:r>
            <a:r>
              <a:rPr sz="2200" spc="-105" dirty="0">
                <a:solidFill>
                  <a:srgbClr val="FFFFFF"/>
                </a:solidFill>
                <a:latin typeface="Times New Roman"/>
                <a:cs typeface="Times New Roman"/>
              </a:rPr>
              <a:t> </a:t>
            </a:r>
            <a:r>
              <a:rPr sz="2200" spc="90" dirty="0">
                <a:solidFill>
                  <a:srgbClr val="FFFFFF"/>
                </a:solidFill>
                <a:latin typeface="Times New Roman"/>
                <a:cs typeface="Times New Roman"/>
              </a:rPr>
              <a:t>stored</a:t>
            </a:r>
            <a:r>
              <a:rPr sz="2200" spc="-114" dirty="0">
                <a:solidFill>
                  <a:srgbClr val="FFFFFF"/>
                </a:solidFill>
                <a:latin typeface="Times New Roman"/>
                <a:cs typeface="Times New Roman"/>
              </a:rPr>
              <a:t> </a:t>
            </a:r>
            <a:r>
              <a:rPr sz="2200" spc="105" dirty="0">
                <a:solidFill>
                  <a:srgbClr val="FFFFFF"/>
                </a:solidFill>
                <a:latin typeface="Times New Roman"/>
                <a:cs typeface="Times New Roman"/>
              </a:rPr>
              <a:t>in</a:t>
            </a:r>
            <a:r>
              <a:rPr sz="2200" spc="-9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50" dirty="0">
                <a:solidFill>
                  <a:srgbClr val="FFFFFF"/>
                </a:solidFill>
                <a:latin typeface="Times New Roman"/>
                <a:cs typeface="Times New Roman"/>
              </a:rPr>
              <a:t>base</a:t>
            </a:r>
            <a:r>
              <a:rPr sz="2200" spc="-100" dirty="0">
                <a:solidFill>
                  <a:srgbClr val="FFFFFF"/>
                </a:solidFill>
                <a:latin typeface="Times New Roman"/>
                <a:cs typeface="Times New Roman"/>
              </a:rPr>
              <a:t> </a:t>
            </a:r>
            <a:r>
              <a:rPr sz="2200" spc="55" dirty="0">
                <a:solidFill>
                  <a:srgbClr val="FFFFFF"/>
                </a:solidFill>
                <a:latin typeface="Times New Roman"/>
                <a:cs typeface="Times New Roman"/>
              </a:rPr>
              <a:t>table.</a:t>
            </a:r>
            <a:endParaRPr sz="2200">
              <a:latin typeface="Times New Roman"/>
              <a:cs typeface="Times New Roman"/>
            </a:endParaRPr>
          </a:p>
        </p:txBody>
      </p:sp>
      <p:pic>
        <p:nvPicPr>
          <p:cNvPr id="4" name="object 4"/>
          <p:cNvPicPr/>
          <p:nvPr/>
        </p:nvPicPr>
        <p:blipFill>
          <a:blip r:embed="rId3" cstate="print"/>
          <a:stretch>
            <a:fillRect/>
          </a:stretch>
        </p:blipFill>
        <p:spPr>
          <a:xfrm>
            <a:off x="2349245" y="3344417"/>
            <a:ext cx="4881372" cy="2264663"/>
          </a:xfrm>
          <a:prstGeom prst="rect">
            <a:avLst/>
          </a:prstGeom>
        </p:spPr>
      </p:pic>
      <p:sp>
        <p:nvSpPr>
          <p:cNvPr id="5" name="object 5"/>
          <p:cNvSpPr txBox="1"/>
          <p:nvPr/>
        </p:nvSpPr>
        <p:spPr>
          <a:xfrm>
            <a:off x="3621785" y="5607811"/>
            <a:ext cx="2263140" cy="238760"/>
          </a:xfrm>
          <a:prstGeom prst="rect">
            <a:avLst/>
          </a:prstGeom>
        </p:spPr>
        <p:txBody>
          <a:bodyPr vert="horz" wrap="square" lIns="0" tIns="12065" rIns="0" bIns="0" rtlCol="0">
            <a:spAutoFit/>
          </a:bodyPr>
          <a:lstStyle/>
          <a:p>
            <a:pPr marL="12700">
              <a:lnSpc>
                <a:spcPct val="100000"/>
              </a:lnSpc>
              <a:spcBef>
                <a:spcPts val="95"/>
              </a:spcBef>
            </a:pPr>
            <a:r>
              <a:rPr sz="1400" b="1" spc="-60" dirty="0">
                <a:latin typeface="Arial"/>
                <a:cs typeface="Arial"/>
              </a:rPr>
              <a:t>Calculated </a:t>
            </a:r>
            <a:r>
              <a:rPr sz="1400" b="1" spc="-70" dirty="0">
                <a:latin typeface="Arial"/>
                <a:cs typeface="Arial"/>
              </a:rPr>
              <a:t>Discount</a:t>
            </a:r>
            <a:r>
              <a:rPr sz="1400" b="1" spc="-204" dirty="0">
                <a:latin typeface="Arial"/>
                <a:cs typeface="Arial"/>
              </a:rPr>
              <a:t> </a:t>
            </a:r>
            <a:r>
              <a:rPr sz="1400" b="1" spc="-40" dirty="0">
                <a:latin typeface="Arial"/>
                <a:cs typeface="Arial"/>
              </a:rPr>
              <a:t>Amount</a:t>
            </a:r>
            <a:endParaRPr sz="1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12</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4010025" cy="635635"/>
          </a:xfrm>
          <a:prstGeom prst="rect">
            <a:avLst/>
          </a:prstGeom>
        </p:spPr>
        <p:txBody>
          <a:bodyPr vert="horz" wrap="square" lIns="0" tIns="12700" rIns="0" bIns="0" rtlCol="0">
            <a:spAutoFit/>
          </a:bodyPr>
          <a:lstStyle/>
          <a:p>
            <a:pPr marL="12700">
              <a:lnSpc>
                <a:spcPct val="100000"/>
              </a:lnSpc>
              <a:spcBef>
                <a:spcPts val="100"/>
              </a:spcBef>
            </a:pPr>
            <a:r>
              <a:rPr sz="4000" b="0" spc="145" dirty="0">
                <a:latin typeface="Times New Roman"/>
                <a:cs typeface="Times New Roman"/>
              </a:rPr>
              <a:t>Using</a:t>
            </a:r>
            <a:r>
              <a:rPr sz="4000" b="0" spc="-225" dirty="0">
                <a:latin typeface="Times New Roman"/>
                <a:cs typeface="Times New Roman"/>
              </a:rPr>
              <a:t> </a:t>
            </a:r>
            <a:r>
              <a:rPr sz="4000" b="0" spc="250" dirty="0">
                <a:latin typeface="Times New Roman"/>
                <a:cs typeface="Times New Roman"/>
              </a:rPr>
              <a:t>DISTINCT</a:t>
            </a:r>
            <a:endParaRPr sz="4000">
              <a:latin typeface="Times New Roman"/>
              <a:cs typeface="Times New Roman"/>
            </a:endParaRPr>
          </a:p>
        </p:txBody>
      </p:sp>
      <p:pic>
        <p:nvPicPr>
          <p:cNvPr id="3" name="object 3"/>
          <p:cNvPicPr/>
          <p:nvPr/>
        </p:nvPicPr>
        <p:blipFill>
          <a:blip r:embed="rId3" cstate="print"/>
          <a:stretch>
            <a:fillRect/>
          </a:stretch>
        </p:blipFill>
        <p:spPr>
          <a:xfrm>
            <a:off x="381000" y="1186433"/>
            <a:ext cx="8542020" cy="1347977"/>
          </a:xfrm>
          <a:prstGeom prst="rect">
            <a:avLst/>
          </a:prstGeom>
        </p:spPr>
      </p:pic>
      <p:sp>
        <p:nvSpPr>
          <p:cNvPr id="4" name="object 4"/>
          <p:cNvSpPr txBox="1"/>
          <p:nvPr/>
        </p:nvSpPr>
        <p:spPr>
          <a:xfrm>
            <a:off x="381000" y="1186433"/>
            <a:ext cx="8542020" cy="1348105"/>
          </a:xfrm>
          <a:prstGeom prst="rect">
            <a:avLst/>
          </a:prstGeom>
        </p:spPr>
        <p:txBody>
          <a:bodyPr vert="horz" wrap="square" lIns="0" tIns="133985" rIns="0" bIns="0" rtlCol="0">
            <a:spAutoFit/>
          </a:bodyPr>
          <a:lstStyle/>
          <a:p>
            <a:pPr marL="419100" marR="66040" indent="-342900" algn="just">
              <a:lnSpc>
                <a:spcPts val="2590"/>
              </a:lnSpc>
              <a:spcBef>
                <a:spcPts val="1055"/>
              </a:spcBef>
              <a:buFont typeface="Wingdings"/>
              <a:buChar char=""/>
              <a:tabLst>
                <a:tab pos="419100" algn="l"/>
              </a:tabLst>
            </a:pPr>
            <a:r>
              <a:rPr sz="2400" spc="160" dirty="0">
                <a:solidFill>
                  <a:srgbClr val="FFFFFF"/>
                </a:solidFill>
                <a:latin typeface="Times New Roman"/>
                <a:cs typeface="Times New Roman"/>
              </a:rPr>
              <a:t>The </a:t>
            </a:r>
            <a:r>
              <a:rPr sz="2400" spc="80" dirty="0">
                <a:solidFill>
                  <a:srgbClr val="FFFFFF"/>
                </a:solidFill>
                <a:latin typeface="Times New Roman"/>
                <a:cs typeface="Times New Roman"/>
              </a:rPr>
              <a:t>keyword </a:t>
            </a:r>
            <a:r>
              <a:rPr sz="2400" spc="150" dirty="0">
                <a:solidFill>
                  <a:srgbClr val="FFFFFF"/>
                </a:solidFill>
                <a:latin typeface="Times New Roman"/>
                <a:cs typeface="Times New Roman"/>
              </a:rPr>
              <a:t>DISTINCT </a:t>
            </a:r>
            <a:r>
              <a:rPr sz="2400" spc="95" dirty="0">
                <a:solidFill>
                  <a:srgbClr val="FFFFFF"/>
                </a:solidFill>
                <a:latin typeface="Times New Roman"/>
                <a:cs typeface="Times New Roman"/>
              </a:rPr>
              <a:t>prevents </a:t>
            </a:r>
            <a:r>
              <a:rPr sz="2400" spc="135" dirty="0">
                <a:solidFill>
                  <a:srgbClr val="FFFFFF"/>
                </a:solidFill>
                <a:latin typeface="Times New Roman"/>
                <a:cs typeface="Times New Roman"/>
              </a:rPr>
              <a:t>the </a:t>
            </a:r>
            <a:r>
              <a:rPr sz="2400" spc="60" dirty="0">
                <a:solidFill>
                  <a:srgbClr val="FFFFFF"/>
                </a:solidFill>
                <a:latin typeface="Times New Roman"/>
                <a:cs typeface="Times New Roman"/>
              </a:rPr>
              <a:t>retrieval </a:t>
            </a:r>
            <a:r>
              <a:rPr sz="2400" spc="70" dirty="0">
                <a:solidFill>
                  <a:srgbClr val="FFFFFF"/>
                </a:solidFill>
                <a:latin typeface="Times New Roman"/>
                <a:cs typeface="Times New Roman"/>
              </a:rPr>
              <a:t>of </a:t>
            </a:r>
            <a:r>
              <a:rPr sz="2400" spc="85" dirty="0">
                <a:solidFill>
                  <a:srgbClr val="FFFFFF"/>
                </a:solidFill>
                <a:latin typeface="Times New Roman"/>
                <a:cs typeface="Times New Roman"/>
              </a:rPr>
              <a:t>duplicate  </a:t>
            </a:r>
            <a:r>
              <a:rPr sz="2400" spc="65" dirty="0">
                <a:solidFill>
                  <a:srgbClr val="FFFFFF"/>
                </a:solidFill>
                <a:latin typeface="Times New Roman"/>
                <a:cs typeface="Times New Roman"/>
              </a:rPr>
              <a:t>records. It eliminates </a:t>
            </a:r>
            <a:r>
              <a:rPr sz="2400" spc="70" dirty="0">
                <a:solidFill>
                  <a:srgbClr val="FFFFFF"/>
                </a:solidFill>
                <a:latin typeface="Times New Roman"/>
                <a:cs typeface="Times New Roman"/>
              </a:rPr>
              <a:t>rows </a:t>
            </a:r>
            <a:r>
              <a:rPr sz="2400" spc="135" dirty="0">
                <a:solidFill>
                  <a:srgbClr val="FFFFFF"/>
                </a:solidFill>
                <a:latin typeface="Times New Roman"/>
                <a:cs typeface="Times New Roman"/>
              </a:rPr>
              <a:t>that </a:t>
            </a:r>
            <a:r>
              <a:rPr sz="2400" spc="65" dirty="0">
                <a:solidFill>
                  <a:srgbClr val="FFFFFF"/>
                </a:solidFill>
                <a:latin typeface="Times New Roman"/>
                <a:cs typeface="Times New Roman"/>
              </a:rPr>
              <a:t>are </a:t>
            </a:r>
            <a:r>
              <a:rPr sz="2400" spc="80" dirty="0">
                <a:solidFill>
                  <a:srgbClr val="FFFFFF"/>
                </a:solidFill>
                <a:latin typeface="Times New Roman"/>
                <a:cs typeface="Times New Roman"/>
              </a:rPr>
              <a:t>repeating </a:t>
            </a:r>
            <a:r>
              <a:rPr sz="2400" spc="90" dirty="0">
                <a:solidFill>
                  <a:srgbClr val="FFFFFF"/>
                </a:solidFill>
                <a:latin typeface="Times New Roman"/>
                <a:cs typeface="Times New Roman"/>
              </a:rPr>
              <a:t>from </a:t>
            </a:r>
            <a:r>
              <a:rPr sz="2400" spc="140" dirty="0">
                <a:solidFill>
                  <a:srgbClr val="FFFFFF"/>
                </a:solidFill>
                <a:latin typeface="Times New Roman"/>
                <a:cs typeface="Times New Roman"/>
              </a:rPr>
              <a:t>the  </a:t>
            </a:r>
            <a:r>
              <a:rPr sz="2400" spc="75" dirty="0">
                <a:solidFill>
                  <a:srgbClr val="FFFFFF"/>
                </a:solidFill>
                <a:latin typeface="Times New Roman"/>
                <a:cs typeface="Times New Roman"/>
              </a:rPr>
              <a:t>resultset</a:t>
            </a:r>
            <a:r>
              <a:rPr sz="2400" spc="-95" dirty="0">
                <a:solidFill>
                  <a:srgbClr val="FFFFFF"/>
                </a:solidFill>
                <a:latin typeface="Times New Roman"/>
                <a:cs typeface="Times New Roman"/>
              </a:rPr>
              <a:t> </a:t>
            </a:r>
            <a:r>
              <a:rPr sz="2400" spc="70" dirty="0">
                <a:solidFill>
                  <a:srgbClr val="FFFFFF"/>
                </a:solidFill>
                <a:latin typeface="Times New Roman"/>
                <a:cs typeface="Times New Roman"/>
              </a:rPr>
              <a:t>of</a:t>
            </a:r>
            <a:r>
              <a:rPr sz="2400" spc="-10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85" dirty="0">
                <a:solidFill>
                  <a:srgbClr val="FFFFFF"/>
                </a:solidFill>
                <a:latin typeface="Times New Roman"/>
                <a:cs typeface="Times New Roman"/>
              </a:rPr>
              <a:t> </a:t>
            </a:r>
            <a:r>
              <a:rPr sz="2400" spc="100" dirty="0">
                <a:solidFill>
                  <a:srgbClr val="FFFFFF"/>
                </a:solidFill>
                <a:latin typeface="Times New Roman"/>
                <a:cs typeface="Times New Roman"/>
              </a:rPr>
              <a:t>SELECT</a:t>
            </a:r>
            <a:r>
              <a:rPr sz="2400" spc="-90" dirty="0">
                <a:solidFill>
                  <a:srgbClr val="FFFFFF"/>
                </a:solidFill>
                <a:latin typeface="Times New Roman"/>
                <a:cs typeface="Times New Roman"/>
              </a:rPr>
              <a:t> </a:t>
            </a:r>
            <a:r>
              <a:rPr sz="2400" spc="95" dirty="0">
                <a:solidFill>
                  <a:srgbClr val="FFFFFF"/>
                </a:solidFill>
                <a:latin typeface="Times New Roman"/>
                <a:cs typeface="Times New Roman"/>
              </a:rPr>
              <a:t>statement.</a:t>
            </a:r>
            <a:endParaRPr sz="2400">
              <a:latin typeface="Times New Roman"/>
              <a:cs typeface="Times New Roman"/>
            </a:endParaRPr>
          </a:p>
        </p:txBody>
      </p:sp>
      <p:sp>
        <p:nvSpPr>
          <p:cNvPr id="5" name="object 5"/>
          <p:cNvSpPr txBox="1"/>
          <p:nvPr/>
        </p:nvSpPr>
        <p:spPr>
          <a:xfrm>
            <a:off x="359409" y="3411982"/>
            <a:ext cx="1433195" cy="330200"/>
          </a:xfrm>
          <a:prstGeom prst="rect">
            <a:avLst/>
          </a:prstGeom>
        </p:spPr>
        <p:txBody>
          <a:bodyPr vert="horz" wrap="square" lIns="0" tIns="12065" rIns="0" bIns="0" rtlCol="0">
            <a:spAutoFit/>
          </a:bodyPr>
          <a:lstStyle/>
          <a:p>
            <a:pPr marL="12700">
              <a:lnSpc>
                <a:spcPct val="100000"/>
              </a:lnSpc>
              <a:spcBef>
                <a:spcPts val="95"/>
              </a:spcBef>
            </a:pPr>
            <a:r>
              <a:rPr sz="2000" spc="55" dirty="0">
                <a:latin typeface="Times New Roman"/>
                <a:cs typeface="Times New Roman"/>
              </a:rPr>
              <a:t>For</a:t>
            </a:r>
            <a:r>
              <a:rPr sz="2000" spc="-125" dirty="0">
                <a:latin typeface="Times New Roman"/>
                <a:cs typeface="Times New Roman"/>
              </a:rPr>
              <a:t> </a:t>
            </a:r>
            <a:r>
              <a:rPr sz="2000" spc="50" dirty="0">
                <a:latin typeface="Times New Roman"/>
                <a:cs typeface="Times New Roman"/>
              </a:rPr>
              <a:t>example,</a:t>
            </a:r>
            <a:endParaRPr sz="2000">
              <a:latin typeface="Times New Roman"/>
              <a:cs typeface="Times New Roman"/>
            </a:endParaRPr>
          </a:p>
        </p:txBody>
      </p:sp>
      <p:sp>
        <p:nvSpPr>
          <p:cNvPr id="6" name="object 6"/>
          <p:cNvSpPr/>
          <p:nvPr/>
        </p:nvSpPr>
        <p:spPr>
          <a:xfrm>
            <a:off x="272795" y="4031741"/>
            <a:ext cx="8460740" cy="1493520"/>
          </a:xfrm>
          <a:custGeom>
            <a:avLst/>
            <a:gdLst/>
            <a:ahLst/>
            <a:cxnLst/>
            <a:rect l="l" t="t" r="r" b="b"/>
            <a:pathLst>
              <a:path w="8460740" h="1493520">
                <a:moveTo>
                  <a:pt x="8211566" y="0"/>
                </a:moveTo>
                <a:lnTo>
                  <a:pt x="248932" y="0"/>
                </a:lnTo>
                <a:lnTo>
                  <a:pt x="204187" y="4012"/>
                </a:lnTo>
                <a:lnTo>
                  <a:pt x="162073" y="15580"/>
                </a:lnTo>
                <a:lnTo>
                  <a:pt x="123293" y="33998"/>
                </a:lnTo>
                <a:lnTo>
                  <a:pt x="88550" y="58562"/>
                </a:lnTo>
                <a:lnTo>
                  <a:pt x="58547" y="88568"/>
                </a:lnTo>
                <a:lnTo>
                  <a:pt x="33987" y="123312"/>
                </a:lnTo>
                <a:lnTo>
                  <a:pt x="15574" y="162088"/>
                </a:lnTo>
                <a:lnTo>
                  <a:pt x="4010" y="204192"/>
                </a:lnTo>
                <a:lnTo>
                  <a:pt x="0" y="248919"/>
                </a:lnTo>
                <a:lnTo>
                  <a:pt x="0" y="1244599"/>
                </a:lnTo>
                <a:lnTo>
                  <a:pt x="4010" y="1289327"/>
                </a:lnTo>
                <a:lnTo>
                  <a:pt x="15574" y="1331431"/>
                </a:lnTo>
                <a:lnTo>
                  <a:pt x="33987" y="1370207"/>
                </a:lnTo>
                <a:lnTo>
                  <a:pt x="58547" y="1404951"/>
                </a:lnTo>
                <a:lnTo>
                  <a:pt x="88550" y="1434957"/>
                </a:lnTo>
                <a:lnTo>
                  <a:pt x="123293" y="1459521"/>
                </a:lnTo>
                <a:lnTo>
                  <a:pt x="162073" y="1477939"/>
                </a:lnTo>
                <a:lnTo>
                  <a:pt x="204187" y="1489507"/>
                </a:lnTo>
                <a:lnTo>
                  <a:pt x="248932" y="1493519"/>
                </a:lnTo>
                <a:lnTo>
                  <a:pt x="8211566" y="1493519"/>
                </a:lnTo>
                <a:lnTo>
                  <a:pt x="8256293" y="1489507"/>
                </a:lnTo>
                <a:lnTo>
                  <a:pt x="8298397" y="1477939"/>
                </a:lnTo>
                <a:lnTo>
                  <a:pt x="8337173" y="1459521"/>
                </a:lnTo>
                <a:lnTo>
                  <a:pt x="8371917" y="1434957"/>
                </a:lnTo>
                <a:lnTo>
                  <a:pt x="8401923" y="1404951"/>
                </a:lnTo>
                <a:lnTo>
                  <a:pt x="8426487" y="1370207"/>
                </a:lnTo>
                <a:lnTo>
                  <a:pt x="8444905" y="1331431"/>
                </a:lnTo>
                <a:lnTo>
                  <a:pt x="8456473" y="1289327"/>
                </a:lnTo>
                <a:lnTo>
                  <a:pt x="8460486" y="1244599"/>
                </a:lnTo>
                <a:lnTo>
                  <a:pt x="8460486" y="248919"/>
                </a:lnTo>
                <a:lnTo>
                  <a:pt x="8456473" y="204192"/>
                </a:lnTo>
                <a:lnTo>
                  <a:pt x="8444905" y="162088"/>
                </a:lnTo>
                <a:lnTo>
                  <a:pt x="8426487" y="123312"/>
                </a:lnTo>
                <a:lnTo>
                  <a:pt x="8401923" y="88568"/>
                </a:lnTo>
                <a:lnTo>
                  <a:pt x="8371917" y="58562"/>
                </a:lnTo>
                <a:lnTo>
                  <a:pt x="8337173" y="33998"/>
                </a:lnTo>
                <a:lnTo>
                  <a:pt x="8298397" y="15580"/>
                </a:lnTo>
                <a:lnTo>
                  <a:pt x="8256293" y="4012"/>
                </a:lnTo>
                <a:lnTo>
                  <a:pt x="8211566" y="0"/>
                </a:lnTo>
                <a:close/>
              </a:path>
            </a:pathLst>
          </a:custGeom>
          <a:solidFill>
            <a:srgbClr val="C0504D"/>
          </a:solidFill>
        </p:spPr>
        <p:txBody>
          <a:bodyPr wrap="square" lIns="0" tIns="0" rIns="0" bIns="0" rtlCol="0"/>
          <a:lstStyle/>
          <a:p>
            <a:endParaRPr/>
          </a:p>
        </p:txBody>
      </p:sp>
      <p:sp>
        <p:nvSpPr>
          <p:cNvPr id="7" name="object 7"/>
          <p:cNvSpPr txBox="1"/>
          <p:nvPr/>
        </p:nvSpPr>
        <p:spPr>
          <a:xfrm>
            <a:off x="424687" y="4106417"/>
            <a:ext cx="8157209" cy="1257300"/>
          </a:xfrm>
          <a:prstGeom prst="rect">
            <a:avLst/>
          </a:prstGeom>
        </p:spPr>
        <p:txBody>
          <a:bodyPr vert="horz" wrap="square" lIns="0" tIns="12065" rIns="0" bIns="0" rtlCol="0">
            <a:spAutoFit/>
          </a:bodyPr>
          <a:lstStyle/>
          <a:p>
            <a:pPr marL="355600" marR="5080" indent="-342900">
              <a:lnSpc>
                <a:spcPct val="100000"/>
              </a:lnSpc>
              <a:spcBef>
                <a:spcPts val="95"/>
              </a:spcBef>
              <a:buFont typeface="Wingdings"/>
              <a:buChar char=""/>
              <a:tabLst>
                <a:tab pos="354965" algn="l"/>
                <a:tab pos="355600" algn="l"/>
              </a:tabLst>
            </a:pPr>
            <a:r>
              <a:rPr sz="2000" dirty="0">
                <a:solidFill>
                  <a:srgbClr val="FFFFFF"/>
                </a:solidFill>
                <a:latin typeface="Times New Roman"/>
                <a:cs typeface="Times New Roman"/>
              </a:rPr>
              <a:t>If </a:t>
            </a:r>
            <a:r>
              <a:rPr sz="2000" spc="110" dirty="0">
                <a:solidFill>
                  <a:srgbClr val="FFFFFF"/>
                </a:solidFill>
                <a:latin typeface="Times New Roman"/>
                <a:cs typeface="Times New Roman"/>
              </a:rPr>
              <a:t>the </a:t>
            </a:r>
            <a:r>
              <a:rPr sz="2000" spc="105" dirty="0">
                <a:solidFill>
                  <a:srgbClr val="FFFFFF"/>
                </a:solidFill>
                <a:latin typeface="Times New Roman"/>
                <a:cs typeface="Times New Roman"/>
              </a:rPr>
              <a:t>StandardCost </a:t>
            </a:r>
            <a:r>
              <a:rPr sz="2000" spc="90" dirty="0">
                <a:solidFill>
                  <a:srgbClr val="FFFFFF"/>
                </a:solidFill>
                <a:latin typeface="Times New Roman"/>
                <a:cs typeface="Times New Roman"/>
              </a:rPr>
              <a:t>column </a:t>
            </a:r>
            <a:r>
              <a:rPr sz="2000" spc="5" dirty="0">
                <a:solidFill>
                  <a:srgbClr val="FFFFFF"/>
                </a:solidFill>
                <a:latin typeface="Times New Roman"/>
                <a:cs typeface="Times New Roman"/>
              </a:rPr>
              <a:t>is </a:t>
            </a:r>
            <a:r>
              <a:rPr sz="2000" spc="50" dirty="0">
                <a:solidFill>
                  <a:srgbClr val="FFFFFF"/>
                </a:solidFill>
                <a:latin typeface="Times New Roman"/>
                <a:cs typeface="Times New Roman"/>
              </a:rPr>
              <a:t>selected </a:t>
            </a:r>
            <a:r>
              <a:rPr sz="2000" spc="105" dirty="0">
                <a:solidFill>
                  <a:srgbClr val="FFFFFF"/>
                </a:solidFill>
                <a:latin typeface="Times New Roman"/>
                <a:cs typeface="Times New Roman"/>
              </a:rPr>
              <a:t>without </a:t>
            </a:r>
            <a:r>
              <a:rPr sz="2000" spc="65" dirty="0">
                <a:solidFill>
                  <a:srgbClr val="FFFFFF"/>
                </a:solidFill>
                <a:latin typeface="Times New Roman"/>
                <a:cs typeface="Times New Roman"/>
              </a:rPr>
              <a:t>using </a:t>
            </a:r>
            <a:r>
              <a:rPr sz="2000" spc="110" dirty="0">
                <a:solidFill>
                  <a:srgbClr val="FFFFFF"/>
                </a:solidFill>
                <a:latin typeface="Times New Roman"/>
                <a:cs typeface="Times New Roman"/>
              </a:rPr>
              <a:t>the </a:t>
            </a:r>
            <a:r>
              <a:rPr sz="2000" spc="120" dirty="0">
                <a:solidFill>
                  <a:srgbClr val="FFFFFF"/>
                </a:solidFill>
                <a:latin typeface="Times New Roman"/>
                <a:cs typeface="Times New Roman"/>
              </a:rPr>
              <a:t>DISTINCT  </a:t>
            </a:r>
            <a:r>
              <a:rPr sz="2000" spc="60" dirty="0">
                <a:solidFill>
                  <a:srgbClr val="FFFFFF"/>
                </a:solidFill>
                <a:latin typeface="Times New Roman"/>
                <a:cs typeface="Times New Roman"/>
              </a:rPr>
              <a:t>keyword,</a:t>
            </a:r>
            <a:r>
              <a:rPr sz="2000" spc="-60" dirty="0">
                <a:solidFill>
                  <a:srgbClr val="FFFFFF"/>
                </a:solidFill>
                <a:latin typeface="Times New Roman"/>
                <a:cs typeface="Times New Roman"/>
              </a:rPr>
              <a:t> </a:t>
            </a:r>
            <a:r>
              <a:rPr sz="2000" spc="65" dirty="0">
                <a:solidFill>
                  <a:srgbClr val="FFFFFF"/>
                </a:solidFill>
                <a:latin typeface="Times New Roman"/>
                <a:cs typeface="Times New Roman"/>
              </a:rPr>
              <a:t>it</a:t>
            </a:r>
            <a:r>
              <a:rPr sz="2000" spc="-80" dirty="0">
                <a:solidFill>
                  <a:srgbClr val="FFFFFF"/>
                </a:solidFill>
                <a:latin typeface="Times New Roman"/>
                <a:cs typeface="Times New Roman"/>
              </a:rPr>
              <a:t> </a:t>
            </a:r>
            <a:r>
              <a:rPr sz="2000" spc="15" dirty="0">
                <a:solidFill>
                  <a:srgbClr val="FFFFFF"/>
                </a:solidFill>
                <a:latin typeface="Times New Roman"/>
                <a:cs typeface="Times New Roman"/>
              </a:rPr>
              <a:t>will</a:t>
            </a:r>
            <a:r>
              <a:rPr sz="2000" spc="-65" dirty="0">
                <a:solidFill>
                  <a:srgbClr val="FFFFFF"/>
                </a:solidFill>
                <a:latin typeface="Times New Roman"/>
                <a:cs typeface="Times New Roman"/>
              </a:rPr>
              <a:t> </a:t>
            </a:r>
            <a:r>
              <a:rPr sz="2000" spc="40" dirty="0">
                <a:solidFill>
                  <a:srgbClr val="FFFFFF"/>
                </a:solidFill>
                <a:latin typeface="Times New Roman"/>
                <a:cs typeface="Times New Roman"/>
              </a:rPr>
              <a:t>display</a:t>
            </a:r>
            <a:r>
              <a:rPr sz="2000" spc="-70" dirty="0">
                <a:solidFill>
                  <a:srgbClr val="FFFFFF"/>
                </a:solidFill>
                <a:latin typeface="Times New Roman"/>
                <a:cs typeface="Times New Roman"/>
              </a:rPr>
              <a:t> </a:t>
            </a:r>
            <a:r>
              <a:rPr sz="2000" spc="10" dirty="0">
                <a:solidFill>
                  <a:srgbClr val="FFFFFF"/>
                </a:solidFill>
                <a:latin typeface="Times New Roman"/>
                <a:cs typeface="Times New Roman"/>
              </a:rPr>
              <a:t>all</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90" dirty="0">
                <a:solidFill>
                  <a:srgbClr val="FFFFFF"/>
                </a:solidFill>
                <a:latin typeface="Times New Roman"/>
                <a:cs typeface="Times New Roman"/>
              </a:rPr>
              <a:t>standard</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costs</a:t>
            </a:r>
            <a:r>
              <a:rPr sz="2000" spc="-65" dirty="0">
                <a:solidFill>
                  <a:srgbClr val="FFFFFF"/>
                </a:solidFill>
                <a:latin typeface="Times New Roman"/>
                <a:cs typeface="Times New Roman"/>
              </a:rPr>
              <a:t> </a:t>
            </a:r>
            <a:r>
              <a:rPr sz="2000" spc="80" dirty="0">
                <a:solidFill>
                  <a:srgbClr val="FFFFFF"/>
                </a:solidFill>
                <a:latin typeface="Times New Roman"/>
                <a:cs typeface="Times New Roman"/>
              </a:rPr>
              <a:t>present</a:t>
            </a:r>
            <a:r>
              <a:rPr sz="2000" spc="-5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table.</a:t>
            </a:r>
            <a:endParaRPr sz="2000">
              <a:latin typeface="Times New Roman"/>
              <a:cs typeface="Times New Roman"/>
            </a:endParaRPr>
          </a:p>
          <a:p>
            <a:pPr marL="355600" marR="5080" indent="-342900">
              <a:lnSpc>
                <a:spcPts val="2500"/>
              </a:lnSpc>
              <a:buFont typeface="Wingdings"/>
              <a:buChar char=""/>
              <a:tabLst>
                <a:tab pos="354965" algn="l"/>
                <a:tab pos="355600" algn="l"/>
                <a:tab pos="855980" algn="l"/>
                <a:tab pos="1583055" algn="l"/>
                <a:tab pos="2070735" algn="l"/>
                <a:tab pos="3487420" algn="l"/>
                <a:tab pos="4572635" algn="l"/>
                <a:tab pos="4928235" algn="l"/>
                <a:tab pos="5417185" algn="l"/>
                <a:tab pos="6243955" algn="l"/>
                <a:tab pos="6893559" algn="l"/>
                <a:tab pos="7740015" algn="l"/>
              </a:tabLst>
            </a:pPr>
            <a:r>
              <a:rPr sz="2000" spc="254" dirty="0">
                <a:solidFill>
                  <a:srgbClr val="FFFFFF"/>
                </a:solidFill>
                <a:latin typeface="Times New Roman"/>
                <a:cs typeface="Times New Roman"/>
              </a:rPr>
              <a:t>O</a:t>
            </a:r>
            <a:r>
              <a:rPr sz="2000" spc="180" dirty="0">
                <a:solidFill>
                  <a:srgbClr val="FFFFFF"/>
                </a:solidFill>
                <a:latin typeface="Times New Roman"/>
                <a:cs typeface="Times New Roman"/>
              </a:rPr>
              <a:t>n</a:t>
            </a:r>
            <a:r>
              <a:rPr sz="2000" dirty="0">
                <a:solidFill>
                  <a:srgbClr val="FFFFFF"/>
                </a:solidFill>
                <a:latin typeface="Times New Roman"/>
                <a:cs typeface="Times New Roman"/>
              </a:rPr>
              <a:t>	</a:t>
            </a:r>
            <a:r>
              <a:rPr sz="2000" spc="65" dirty="0">
                <a:solidFill>
                  <a:srgbClr val="FFFFFF"/>
                </a:solidFill>
                <a:latin typeface="Times New Roman"/>
                <a:cs typeface="Times New Roman"/>
              </a:rPr>
              <a:t>using</a:t>
            </a:r>
            <a:r>
              <a:rPr sz="200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dirty="0">
                <a:solidFill>
                  <a:srgbClr val="FFFFFF"/>
                </a:solidFill>
                <a:latin typeface="Times New Roman"/>
                <a:cs typeface="Times New Roman"/>
              </a:rPr>
              <a:t>	</a:t>
            </a:r>
            <a:r>
              <a:rPr sz="2000" spc="120" dirty="0">
                <a:solidFill>
                  <a:srgbClr val="FFFFFF"/>
                </a:solidFill>
                <a:latin typeface="Times New Roman"/>
                <a:cs typeface="Times New Roman"/>
              </a:rPr>
              <a:t>DISTINCT</a:t>
            </a:r>
            <a:r>
              <a:rPr sz="2000" dirty="0">
                <a:solidFill>
                  <a:srgbClr val="FFFFFF"/>
                </a:solidFill>
                <a:latin typeface="Times New Roman"/>
                <a:cs typeface="Times New Roman"/>
              </a:rPr>
              <a:t>	</a:t>
            </a:r>
            <a:r>
              <a:rPr sz="2000" spc="35" dirty="0">
                <a:solidFill>
                  <a:srgbClr val="FFFFFF"/>
                </a:solidFill>
                <a:latin typeface="Times New Roman"/>
                <a:cs typeface="Times New Roman"/>
              </a:rPr>
              <a:t>key</a:t>
            </a:r>
            <a:r>
              <a:rPr sz="2000" spc="60" dirty="0">
                <a:solidFill>
                  <a:srgbClr val="FFFFFF"/>
                </a:solidFill>
                <a:latin typeface="Times New Roman"/>
                <a:cs typeface="Times New Roman"/>
              </a:rPr>
              <a:t>w</a:t>
            </a:r>
            <a:r>
              <a:rPr sz="2000" spc="100" dirty="0">
                <a:solidFill>
                  <a:srgbClr val="FFFFFF"/>
                </a:solidFill>
                <a:latin typeface="Times New Roman"/>
                <a:cs typeface="Times New Roman"/>
              </a:rPr>
              <a:t>ord</a:t>
            </a:r>
            <a:r>
              <a:rPr sz="2000" dirty="0">
                <a:solidFill>
                  <a:srgbClr val="FFFFFF"/>
                </a:solidFill>
                <a:latin typeface="Times New Roman"/>
                <a:cs typeface="Times New Roman"/>
              </a:rPr>
              <a:t>	</a:t>
            </a:r>
            <a:r>
              <a:rPr sz="2000" spc="60" dirty="0">
                <a:solidFill>
                  <a:srgbClr val="FFFFFF"/>
                </a:solidFill>
                <a:latin typeface="Times New Roman"/>
                <a:cs typeface="Times New Roman"/>
              </a:rPr>
              <a:t>i</a:t>
            </a:r>
            <a:r>
              <a:rPr sz="2000" spc="120" dirty="0">
                <a:solidFill>
                  <a:srgbClr val="FFFFFF"/>
                </a:solidFill>
                <a:latin typeface="Times New Roman"/>
                <a:cs typeface="Times New Roman"/>
              </a:rPr>
              <a:t>n</a:t>
            </a:r>
            <a:r>
              <a:rPr sz="2000" dirty="0">
                <a:solidFill>
                  <a:srgbClr val="FFFFFF"/>
                </a:solidFill>
                <a:latin typeface="Times New Roman"/>
                <a:cs typeface="Times New Roman"/>
              </a:rPr>
              <a:t>	</a:t>
            </a:r>
            <a:r>
              <a:rPr sz="2000" spc="125" dirty="0">
                <a:solidFill>
                  <a:srgbClr val="FFFFFF"/>
                </a:solidFill>
                <a:latin typeface="Times New Roman"/>
                <a:cs typeface="Times New Roman"/>
              </a:rPr>
              <a:t>t</a:t>
            </a:r>
            <a:r>
              <a:rPr sz="2000" spc="105" dirty="0">
                <a:solidFill>
                  <a:srgbClr val="FFFFFF"/>
                </a:solidFill>
                <a:latin typeface="Times New Roman"/>
                <a:cs typeface="Times New Roman"/>
              </a:rPr>
              <a:t>he</a:t>
            </a:r>
            <a:r>
              <a:rPr sz="2000" dirty="0">
                <a:solidFill>
                  <a:srgbClr val="FFFFFF"/>
                </a:solidFill>
                <a:latin typeface="Times New Roman"/>
                <a:cs typeface="Times New Roman"/>
              </a:rPr>
              <a:t>	</a:t>
            </a:r>
            <a:r>
              <a:rPr sz="2000" spc="75" dirty="0">
                <a:solidFill>
                  <a:srgbClr val="FFFFFF"/>
                </a:solidFill>
                <a:latin typeface="Times New Roman"/>
                <a:cs typeface="Times New Roman"/>
              </a:rPr>
              <a:t>quer</a:t>
            </a:r>
            <a:r>
              <a:rPr sz="2000" spc="90" dirty="0">
                <a:solidFill>
                  <a:srgbClr val="FFFFFF"/>
                </a:solidFill>
                <a:latin typeface="Times New Roman"/>
                <a:cs typeface="Times New Roman"/>
              </a:rPr>
              <a:t>y</a:t>
            </a:r>
            <a:r>
              <a:rPr sz="2000" spc="-5" dirty="0">
                <a:solidFill>
                  <a:srgbClr val="FFFFFF"/>
                </a:solidFill>
                <a:latin typeface="Times New Roman"/>
                <a:cs typeface="Times New Roman"/>
              </a:rPr>
              <a:t>,</a:t>
            </a:r>
            <a:r>
              <a:rPr sz="2000" dirty="0">
                <a:solidFill>
                  <a:srgbClr val="FFFFFF"/>
                </a:solidFill>
                <a:latin typeface="Times New Roman"/>
                <a:cs typeface="Times New Roman"/>
              </a:rPr>
              <a:t>	</a:t>
            </a:r>
            <a:r>
              <a:rPr sz="2000" spc="90" dirty="0">
                <a:solidFill>
                  <a:srgbClr val="FFFFFF"/>
                </a:solidFill>
                <a:latin typeface="Times New Roman"/>
                <a:cs typeface="Times New Roman"/>
              </a:rPr>
              <a:t>SQL</a:t>
            </a:r>
            <a:r>
              <a:rPr sz="2000" dirty="0">
                <a:solidFill>
                  <a:srgbClr val="FFFFFF"/>
                </a:solidFill>
                <a:latin typeface="Times New Roman"/>
                <a:cs typeface="Times New Roman"/>
              </a:rPr>
              <a:t>	</a:t>
            </a:r>
            <a:r>
              <a:rPr sz="2000" spc="60" dirty="0">
                <a:solidFill>
                  <a:srgbClr val="FFFFFF"/>
                </a:solidFill>
                <a:latin typeface="Times New Roman"/>
                <a:cs typeface="Times New Roman"/>
              </a:rPr>
              <a:t>Ser</a:t>
            </a:r>
            <a:r>
              <a:rPr sz="2000" spc="70" dirty="0">
                <a:solidFill>
                  <a:srgbClr val="FFFFFF"/>
                </a:solidFill>
                <a:latin typeface="Times New Roman"/>
                <a:cs typeface="Times New Roman"/>
              </a:rPr>
              <a:t>v</a:t>
            </a:r>
            <a:r>
              <a:rPr sz="2000" spc="60" dirty="0">
                <a:solidFill>
                  <a:srgbClr val="FFFFFF"/>
                </a:solidFill>
                <a:latin typeface="Times New Roman"/>
                <a:cs typeface="Times New Roman"/>
              </a:rPr>
              <a:t>er</a:t>
            </a:r>
            <a:r>
              <a:rPr sz="2000" dirty="0">
                <a:solidFill>
                  <a:srgbClr val="FFFFFF"/>
                </a:solidFill>
                <a:latin typeface="Times New Roman"/>
                <a:cs typeface="Times New Roman"/>
              </a:rPr>
              <a:t>	</a:t>
            </a:r>
            <a:r>
              <a:rPr sz="2000" spc="10" dirty="0">
                <a:solidFill>
                  <a:srgbClr val="FFFFFF"/>
                </a:solidFill>
                <a:latin typeface="Times New Roman"/>
                <a:cs typeface="Times New Roman"/>
              </a:rPr>
              <a:t>will  </a:t>
            </a:r>
            <a:r>
              <a:rPr sz="2000" spc="40" dirty="0">
                <a:solidFill>
                  <a:srgbClr val="FFFFFF"/>
                </a:solidFill>
                <a:latin typeface="Times New Roman"/>
                <a:cs typeface="Times New Roman"/>
              </a:rPr>
              <a:t>display</a:t>
            </a:r>
            <a:r>
              <a:rPr sz="2000" spc="-75" dirty="0">
                <a:solidFill>
                  <a:srgbClr val="FFFFFF"/>
                </a:solidFill>
                <a:latin typeface="Times New Roman"/>
                <a:cs typeface="Times New Roman"/>
              </a:rPr>
              <a:t> </a:t>
            </a:r>
            <a:r>
              <a:rPr sz="2000" spc="40" dirty="0">
                <a:solidFill>
                  <a:srgbClr val="FFFFFF"/>
                </a:solidFill>
                <a:latin typeface="Times New Roman"/>
                <a:cs typeface="Times New Roman"/>
              </a:rPr>
              <a:t>every</a:t>
            </a:r>
            <a:r>
              <a:rPr sz="2000" spc="-55" dirty="0">
                <a:solidFill>
                  <a:srgbClr val="FFFFFF"/>
                </a:solidFill>
                <a:latin typeface="Times New Roman"/>
                <a:cs typeface="Times New Roman"/>
              </a:rPr>
              <a:t> </a:t>
            </a:r>
            <a:r>
              <a:rPr sz="2000" spc="70" dirty="0">
                <a:solidFill>
                  <a:srgbClr val="FFFFFF"/>
                </a:solidFill>
                <a:latin typeface="Times New Roman"/>
                <a:cs typeface="Times New Roman"/>
              </a:rPr>
              <a:t>record</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105" dirty="0">
                <a:solidFill>
                  <a:srgbClr val="FFFFFF"/>
                </a:solidFill>
                <a:latin typeface="Times New Roman"/>
                <a:cs typeface="Times New Roman"/>
              </a:rPr>
              <a:t>StandardCost</a:t>
            </a:r>
            <a:r>
              <a:rPr sz="2000" spc="-50" dirty="0">
                <a:solidFill>
                  <a:srgbClr val="FFFFFF"/>
                </a:solidFill>
                <a:latin typeface="Times New Roman"/>
                <a:cs typeface="Times New Roman"/>
              </a:rPr>
              <a:t> </a:t>
            </a:r>
            <a:r>
              <a:rPr sz="2000" spc="65" dirty="0">
                <a:solidFill>
                  <a:srgbClr val="FFFFFF"/>
                </a:solidFill>
                <a:latin typeface="Times New Roman"/>
                <a:cs typeface="Times New Roman"/>
              </a:rPr>
              <a:t>only</a:t>
            </a:r>
            <a:r>
              <a:rPr sz="2000" spc="-55" dirty="0">
                <a:solidFill>
                  <a:srgbClr val="FFFFFF"/>
                </a:solidFill>
                <a:latin typeface="Times New Roman"/>
                <a:cs typeface="Times New Roman"/>
              </a:rPr>
              <a:t> </a:t>
            </a:r>
            <a:r>
              <a:rPr sz="2000" spc="65" dirty="0">
                <a:solidFill>
                  <a:srgbClr val="FFFFFF"/>
                </a:solidFill>
                <a:latin typeface="Times New Roman"/>
                <a:cs typeface="Times New Roman"/>
              </a:rPr>
              <a:t>once.</a:t>
            </a:r>
            <a:endParaRPr sz="20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13</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3057" y="801623"/>
            <a:ext cx="7168515" cy="1346200"/>
            <a:chOff x="83057" y="801623"/>
            <a:chExt cx="7168515" cy="1346200"/>
          </a:xfrm>
        </p:grpSpPr>
        <p:pic>
          <p:nvPicPr>
            <p:cNvPr id="3" name="object 3"/>
            <p:cNvPicPr/>
            <p:nvPr/>
          </p:nvPicPr>
          <p:blipFill>
            <a:blip r:embed="rId3" cstate="print"/>
            <a:stretch>
              <a:fillRect/>
            </a:stretch>
          </p:blipFill>
          <p:spPr>
            <a:xfrm>
              <a:off x="83057" y="801623"/>
              <a:ext cx="7168133" cy="1345691"/>
            </a:xfrm>
            <a:prstGeom prst="rect">
              <a:avLst/>
            </a:prstGeom>
          </p:spPr>
        </p:pic>
        <p:pic>
          <p:nvPicPr>
            <p:cNvPr id="4" name="object 4"/>
            <p:cNvPicPr/>
            <p:nvPr/>
          </p:nvPicPr>
          <p:blipFill>
            <a:blip r:embed="rId4" cstate="print"/>
            <a:stretch>
              <a:fillRect/>
            </a:stretch>
          </p:blipFill>
          <p:spPr>
            <a:xfrm>
              <a:off x="124205" y="819911"/>
              <a:ext cx="7092696" cy="1270254"/>
            </a:xfrm>
            <a:prstGeom prst="rect">
              <a:avLst/>
            </a:prstGeom>
          </p:spPr>
        </p:pic>
      </p:grpSp>
      <p:sp>
        <p:nvSpPr>
          <p:cNvPr id="5" name="object 5"/>
          <p:cNvSpPr txBox="1"/>
          <p:nvPr/>
        </p:nvSpPr>
        <p:spPr>
          <a:xfrm>
            <a:off x="315468" y="980185"/>
            <a:ext cx="6458585" cy="757555"/>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Lst>
            </a:pPr>
            <a:r>
              <a:rPr sz="2400" spc="160" dirty="0">
                <a:solidFill>
                  <a:srgbClr val="FFFFFF"/>
                </a:solidFill>
                <a:latin typeface="Times New Roman"/>
                <a:cs typeface="Times New Roman"/>
              </a:rPr>
              <a:t>The </a:t>
            </a:r>
            <a:r>
              <a:rPr sz="2400" spc="180" dirty="0">
                <a:solidFill>
                  <a:srgbClr val="FFFFFF"/>
                </a:solidFill>
                <a:latin typeface="Times New Roman"/>
                <a:cs typeface="Times New Roman"/>
              </a:rPr>
              <a:t>TOP </a:t>
            </a:r>
            <a:r>
              <a:rPr sz="2400" spc="80" dirty="0">
                <a:solidFill>
                  <a:srgbClr val="FFFFFF"/>
                </a:solidFill>
                <a:latin typeface="Times New Roman"/>
                <a:cs typeface="Times New Roman"/>
              </a:rPr>
              <a:t>keyword </a:t>
            </a:r>
            <a:r>
              <a:rPr sz="2400" spc="20" dirty="0">
                <a:solidFill>
                  <a:srgbClr val="FFFFFF"/>
                </a:solidFill>
                <a:latin typeface="Times New Roman"/>
                <a:cs typeface="Times New Roman"/>
              </a:rPr>
              <a:t>will </a:t>
            </a:r>
            <a:r>
              <a:rPr sz="2400" spc="50" dirty="0">
                <a:solidFill>
                  <a:srgbClr val="FFFFFF"/>
                </a:solidFill>
                <a:latin typeface="Times New Roman"/>
                <a:cs typeface="Times New Roman"/>
              </a:rPr>
              <a:t>display </a:t>
            </a:r>
            <a:r>
              <a:rPr sz="2400" spc="80" dirty="0">
                <a:solidFill>
                  <a:srgbClr val="FFFFFF"/>
                </a:solidFill>
                <a:latin typeface="Times New Roman"/>
                <a:cs typeface="Times New Roman"/>
              </a:rPr>
              <a:t>only </a:t>
            </a:r>
            <a:r>
              <a:rPr sz="2400" spc="60" dirty="0">
                <a:solidFill>
                  <a:srgbClr val="FFFFFF"/>
                </a:solidFill>
                <a:latin typeface="Times New Roman"/>
                <a:cs typeface="Times New Roman"/>
              </a:rPr>
              <a:t>first </a:t>
            </a:r>
            <a:r>
              <a:rPr sz="2400" spc="45" dirty="0">
                <a:solidFill>
                  <a:srgbClr val="FFFFFF"/>
                </a:solidFill>
                <a:latin typeface="Times New Roman"/>
                <a:cs typeface="Times New Roman"/>
              </a:rPr>
              <a:t>few  </a:t>
            </a:r>
            <a:r>
              <a:rPr sz="2400" spc="70" dirty="0">
                <a:solidFill>
                  <a:srgbClr val="FFFFFF"/>
                </a:solidFill>
                <a:latin typeface="Times New Roman"/>
                <a:cs typeface="Times New Roman"/>
              </a:rPr>
              <a:t>set</a:t>
            </a:r>
            <a:r>
              <a:rPr sz="2400" spc="-100" dirty="0">
                <a:solidFill>
                  <a:srgbClr val="FFFFFF"/>
                </a:solidFill>
                <a:latin typeface="Times New Roman"/>
                <a:cs typeface="Times New Roman"/>
              </a:rPr>
              <a:t> </a:t>
            </a:r>
            <a:r>
              <a:rPr sz="2400" spc="70" dirty="0">
                <a:solidFill>
                  <a:srgbClr val="FFFFFF"/>
                </a:solidFill>
                <a:latin typeface="Times New Roman"/>
                <a:cs typeface="Times New Roman"/>
              </a:rPr>
              <a:t>of</a:t>
            </a:r>
            <a:r>
              <a:rPr sz="2400" spc="-100" dirty="0">
                <a:solidFill>
                  <a:srgbClr val="FFFFFF"/>
                </a:solidFill>
                <a:latin typeface="Times New Roman"/>
                <a:cs typeface="Times New Roman"/>
              </a:rPr>
              <a:t> </a:t>
            </a:r>
            <a:r>
              <a:rPr sz="2400" spc="70" dirty="0">
                <a:solidFill>
                  <a:srgbClr val="FFFFFF"/>
                </a:solidFill>
                <a:latin typeface="Times New Roman"/>
                <a:cs typeface="Times New Roman"/>
              </a:rPr>
              <a:t>rows</a:t>
            </a:r>
            <a:r>
              <a:rPr sz="2400" spc="-90" dirty="0">
                <a:solidFill>
                  <a:srgbClr val="FFFFFF"/>
                </a:solidFill>
                <a:latin typeface="Times New Roman"/>
                <a:cs typeface="Times New Roman"/>
              </a:rPr>
              <a:t> </a:t>
            </a:r>
            <a:r>
              <a:rPr sz="2400" spc="20" dirty="0">
                <a:solidFill>
                  <a:srgbClr val="FFFFFF"/>
                </a:solidFill>
                <a:latin typeface="Times New Roman"/>
                <a:cs typeface="Times New Roman"/>
              </a:rPr>
              <a:t>as</a:t>
            </a:r>
            <a:r>
              <a:rPr sz="2400" spc="-9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85" dirty="0">
                <a:solidFill>
                  <a:srgbClr val="FFFFFF"/>
                </a:solidFill>
                <a:latin typeface="Times New Roman"/>
                <a:cs typeface="Times New Roman"/>
              </a:rPr>
              <a:t> </a:t>
            </a:r>
            <a:r>
              <a:rPr sz="2400" spc="75" dirty="0">
                <a:solidFill>
                  <a:srgbClr val="FFFFFF"/>
                </a:solidFill>
                <a:latin typeface="Times New Roman"/>
                <a:cs typeface="Times New Roman"/>
              </a:rPr>
              <a:t>resultset</a:t>
            </a:r>
            <a:endParaRPr sz="2400">
              <a:latin typeface="Times New Roman"/>
              <a:cs typeface="Times New Roman"/>
            </a:endParaRPr>
          </a:p>
        </p:txBody>
      </p:sp>
      <p:sp>
        <p:nvSpPr>
          <p:cNvPr id="6" name="object 6"/>
          <p:cNvSpPr txBox="1">
            <a:spLocks noGrp="1"/>
          </p:cNvSpPr>
          <p:nvPr>
            <p:ph type="title"/>
          </p:nvPr>
        </p:nvSpPr>
        <p:spPr>
          <a:xfrm>
            <a:off x="383540" y="15493"/>
            <a:ext cx="5992495" cy="635635"/>
          </a:xfrm>
          <a:prstGeom prst="rect">
            <a:avLst/>
          </a:prstGeom>
        </p:spPr>
        <p:txBody>
          <a:bodyPr vert="horz" wrap="square" lIns="0" tIns="12700" rIns="0" bIns="0" rtlCol="0">
            <a:spAutoFit/>
          </a:bodyPr>
          <a:lstStyle/>
          <a:p>
            <a:pPr marL="12700">
              <a:lnSpc>
                <a:spcPct val="100000"/>
              </a:lnSpc>
              <a:spcBef>
                <a:spcPts val="100"/>
              </a:spcBef>
            </a:pPr>
            <a:r>
              <a:rPr sz="4000" b="0" spc="145" dirty="0">
                <a:latin typeface="Times New Roman"/>
                <a:cs typeface="Times New Roman"/>
              </a:rPr>
              <a:t>Using</a:t>
            </a:r>
            <a:r>
              <a:rPr sz="4000" b="0" spc="-170" dirty="0">
                <a:latin typeface="Times New Roman"/>
                <a:cs typeface="Times New Roman"/>
              </a:rPr>
              <a:t> </a:t>
            </a:r>
            <a:r>
              <a:rPr sz="4000" b="0" spc="305" dirty="0">
                <a:latin typeface="Times New Roman"/>
                <a:cs typeface="Times New Roman"/>
              </a:rPr>
              <a:t>TOP</a:t>
            </a:r>
            <a:r>
              <a:rPr sz="4000" b="0" spc="-185" dirty="0">
                <a:latin typeface="Times New Roman"/>
                <a:cs typeface="Times New Roman"/>
              </a:rPr>
              <a:t> </a:t>
            </a:r>
            <a:r>
              <a:rPr sz="4000" b="0" spc="229" dirty="0">
                <a:latin typeface="Times New Roman"/>
                <a:cs typeface="Times New Roman"/>
              </a:rPr>
              <a:t>and</a:t>
            </a:r>
            <a:r>
              <a:rPr sz="4000" b="0" spc="-165" dirty="0">
                <a:latin typeface="Times New Roman"/>
                <a:cs typeface="Times New Roman"/>
              </a:rPr>
              <a:t> </a:t>
            </a:r>
            <a:r>
              <a:rPr sz="4000" b="0" spc="200" dirty="0">
                <a:latin typeface="Times New Roman"/>
                <a:cs typeface="Times New Roman"/>
              </a:rPr>
              <a:t>PERCENT</a:t>
            </a:r>
            <a:endParaRPr sz="4000">
              <a:latin typeface="Times New Roman"/>
              <a:cs typeface="Times New Roman"/>
            </a:endParaRPr>
          </a:p>
        </p:txBody>
      </p:sp>
      <p:sp>
        <p:nvSpPr>
          <p:cNvPr id="7" name="object 7"/>
          <p:cNvSpPr/>
          <p:nvPr/>
        </p:nvSpPr>
        <p:spPr>
          <a:xfrm>
            <a:off x="887730" y="2700527"/>
            <a:ext cx="7973059" cy="723265"/>
          </a:xfrm>
          <a:custGeom>
            <a:avLst/>
            <a:gdLst/>
            <a:ahLst/>
            <a:cxnLst/>
            <a:rect l="l" t="t" r="r" b="b"/>
            <a:pathLst>
              <a:path w="7973059" h="723264">
                <a:moveTo>
                  <a:pt x="7972806" y="120523"/>
                </a:moveTo>
                <a:lnTo>
                  <a:pt x="7963332" y="73621"/>
                </a:lnTo>
                <a:lnTo>
                  <a:pt x="7937487" y="35306"/>
                </a:lnTo>
                <a:lnTo>
                  <a:pt x="7899184" y="9474"/>
                </a:lnTo>
                <a:lnTo>
                  <a:pt x="7852283" y="0"/>
                </a:lnTo>
                <a:lnTo>
                  <a:pt x="120523" y="0"/>
                </a:lnTo>
                <a:lnTo>
                  <a:pt x="73609" y="9474"/>
                </a:lnTo>
                <a:lnTo>
                  <a:pt x="35293" y="35306"/>
                </a:lnTo>
                <a:lnTo>
                  <a:pt x="9461" y="73621"/>
                </a:lnTo>
                <a:lnTo>
                  <a:pt x="0" y="120523"/>
                </a:lnTo>
                <a:lnTo>
                  <a:pt x="0" y="602615"/>
                </a:lnTo>
                <a:lnTo>
                  <a:pt x="9461" y="649528"/>
                </a:lnTo>
                <a:lnTo>
                  <a:pt x="35293" y="687832"/>
                </a:lnTo>
                <a:lnTo>
                  <a:pt x="73609" y="713676"/>
                </a:lnTo>
                <a:lnTo>
                  <a:pt x="120523" y="723138"/>
                </a:lnTo>
                <a:lnTo>
                  <a:pt x="7852283" y="723138"/>
                </a:lnTo>
                <a:lnTo>
                  <a:pt x="7899184" y="713676"/>
                </a:lnTo>
                <a:lnTo>
                  <a:pt x="7937500" y="687832"/>
                </a:lnTo>
                <a:lnTo>
                  <a:pt x="7963332" y="649528"/>
                </a:lnTo>
                <a:lnTo>
                  <a:pt x="7972806" y="602615"/>
                </a:lnTo>
                <a:lnTo>
                  <a:pt x="7972806" y="120523"/>
                </a:lnTo>
                <a:close/>
              </a:path>
            </a:pathLst>
          </a:custGeom>
          <a:solidFill>
            <a:srgbClr val="F79546"/>
          </a:solidFill>
        </p:spPr>
        <p:txBody>
          <a:bodyPr wrap="square" lIns="0" tIns="0" rIns="0" bIns="0" rtlCol="0"/>
          <a:lstStyle/>
          <a:p>
            <a:endParaRPr/>
          </a:p>
        </p:txBody>
      </p:sp>
      <p:sp>
        <p:nvSpPr>
          <p:cNvPr id="8" name="object 8"/>
          <p:cNvSpPr txBox="1"/>
          <p:nvPr/>
        </p:nvSpPr>
        <p:spPr>
          <a:xfrm>
            <a:off x="1009141" y="2698750"/>
            <a:ext cx="7555230" cy="635000"/>
          </a:xfrm>
          <a:prstGeom prst="rect">
            <a:avLst/>
          </a:prstGeom>
        </p:spPr>
        <p:txBody>
          <a:bodyPr vert="horz" wrap="square" lIns="0" tIns="12065" rIns="0" bIns="0" rtlCol="0">
            <a:spAutoFit/>
          </a:bodyPr>
          <a:lstStyle/>
          <a:p>
            <a:pPr marL="355600" marR="5080" indent="-343535">
              <a:lnSpc>
                <a:spcPct val="100000"/>
              </a:lnSpc>
              <a:spcBef>
                <a:spcPts val="95"/>
              </a:spcBef>
              <a:buClr>
                <a:srgbClr val="FFFFFF"/>
              </a:buClr>
              <a:buFont typeface="Wingdings"/>
              <a:buChar char=""/>
              <a:tabLst>
                <a:tab pos="409575" algn="l"/>
                <a:tab pos="410209" algn="l"/>
              </a:tabLst>
            </a:pPr>
            <a:r>
              <a:rPr dirty="0"/>
              <a:t>	</a:t>
            </a:r>
            <a:r>
              <a:rPr sz="2000" spc="130" dirty="0">
                <a:solidFill>
                  <a:srgbClr val="FFFFFF"/>
                </a:solidFill>
                <a:latin typeface="Times New Roman"/>
                <a:cs typeface="Times New Roman"/>
              </a:rPr>
              <a:t>The</a:t>
            </a:r>
            <a:r>
              <a:rPr sz="2000" spc="-15" dirty="0">
                <a:solidFill>
                  <a:srgbClr val="FFFFFF"/>
                </a:solidFill>
                <a:latin typeface="Times New Roman"/>
                <a:cs typeface="Times New Roman"/>
              </a:rPr>
              <a:t> </a:t>
            </a:r>
            <a:r>
              <a:rPr sz="2000" spc="145" dirty="0">
                <a:solidFill>
                  <a:srgbClr val="FFFFFF"/>
                </a:solidFill>
                <a:latin typeface="Times New Roman"/>
                <a:cs typeface="Times New Roman"/>
              </a:rPr>
              <a:t>TOP</a:t>
            </a:r>
            <a:r>
              <a:rPr sz="2000" spc="-15" dirty="0">
                <a:solidFill>
                  <a:srgbClr val="FFFFFF"/>
                </a:solidFill>
                <a:latin typeface="Times New Roman"/>
                <a:cs typeface="Times New Roman"/>
              </a:rPr>
              <a:t> </a:t>
            </a:r>
            <a:r>
              <a:rPr sz="2000" spc="65" dirty="0">
                <a:solidFill>
                  <a:srgbClr val="FFFFFF"/>
                </a:solidFill>
                <a:latin typeface="Times New Roman"/>
                <a:cs typeface="Times New Roman"/>
              </a:rPr>
              <a:t>expression</a:t>
            </a:r>
            <a:r>
              <a:rPr sz="2000" spc="-1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10" dirty="0">
                <a:solidFill>
                  <a:srgbClr val="FFFFFF"/>
                </a:solidFill>
                <a:latin typeface="Times New Roman"/>
                <a:cs typeface="Times New Roman"/>
              </a:rPr>
              <a:t> </a:t>
            </a:r>
            <a:r>
              <a:rPr sz="2000" spc="35" dirty="0">
                <a:solidFill>
                  <a:srgbClr val="FFFFFF"/>
                </a:solidFill>
                <a:latin typeface="Times New Roman"/>
                <a:cs typeface="Times New Roman"/>
              </a:rPr>
              <a:t>also</a:t>
            </a:r>
            <a:r>
              <a:rPr sz="2000" dirty="0">
                <a:solidFill>
                  <a:srgbClr val="FFFFFF"/>
                </a:solidFill>
                <a:latin typeface="Times New Roman"/>
                <a:cs typeface="Times New Roman"/>
              </a:rPr>
              <a:t> </a:t>
            </a:r>
            <a:r>
              <a:rPr sz="2000" spc="70" dirty="0">
                <a:solidFill>
                  <a:srgbClr val="FFFFFF"/>
                </a:solidFill>
                <a:latin typeface="Times New Roman"/>
                <a:cs typeface="Times New Roman"/>
              </a:rPr>
              <a:t>be</a:t>
            </a:r>
            <a:r>
              <a:rPr sz="2000" spc="-10"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spc="-5" dirty="0">
                <a:solidFill>
                  <a:srgbClr val="FFFFFF"/>
                </a:solidFill>
                <a:latin typeface="Times New Roman"/>
                <a:cs typeface="Times New Roman"/>
              </a:rPr>
              <a:t> </a:t>
            </a:r>
            <a:r>
              <a:rPr sz="2000" spc="90" dirty="0">
                <a:solidFill>
                  <a:srgbClr val="FFFFFF"/>
                </a:solidFill>
                <a:latin typeface="Times New Roman"/>
                <a:cs typeface="Times New Roman"/>
              </a:rPr>
              <a:t>with</a:t>
            </a:r>
            <a:r>
              <a:rPr sz="2000" spc="-10" dirty="0">
                <a:solidFill>
                  <a:srgbClr val="FFFFFF"/>
                </a:solidFill>
                <a:latin typeface="Times New Roman"/>
                <a:cs typeface="Times New Roman"/>
              </a:rPr>
              <a:t> </a:t>
            </a:r>
            <a:r>
              <a:rPr sz="2000" spc="105" dirty="0">
                <a:solidFill>
                  <a:srgbClr val="FFFFFF"/>
                </a:solidFill>
                <a:latin typeface="Times New Roman"/>
                <a:cs typeface="Times New Roman"/>
              </a:rPr>
              <a:t>other</a:t>
            </a:r>
            <a:r>
              <a:rPr sz="2000" spc="-10" dirty="0">
                <a:solidFill>
                  <a:srgbClr val="FFFFFF"/>
                </a:solidFill>
                <a:latin typeface="Times New Roman"/>
                <a:cs typeface="Times New Roman"/>
              </a:rPr>
              <a:t> </a:t>
            </a:r>
            <a:r>
              <a:rPr sz="2000" spc="80" dirty="0">
                <a:solidFill>
                  <a:srgbClr val="FFFFFF"/>
                </a:solidFill>
                <a:latin typeface="Times New Roman"/>
                <a:cs typeface="Times New Roman"/>
              </a:rPr>
              <a:t>statements</a:t>
            </a:r>
            <a:r>
              <a:rPr sz="2000" spc="-5" dirty="0">
                <a:solidFill>
                  <a:srgbClr val="FFFFFF"/>
                </a:solidFill>
                <a:latin typeface="Times New Roman"/>
                <a:cs typeface="Times New Roman"/>
              </a:rPr>
              <a:t> </a:t>
            </a:r>
            <a:r>
              <a:rPr sz="2000" spc="85" dirty="0">
                <a:solidFill>
                  <a:srgbClr val="FFFFFF"/>
                </a:solidFill>
                <a:latin typeface="Times New Roman"/>
                <a:cs typeface="Times New Roman"/>
              </a:rPr>
              <a:t>such  </a:t>
            </a:r>
            <a:r>
              <a:rPr sz="2000" spc="20" dirty="0">
                <a:solidFill>
                  <a:srgbClr val="FFFFFF"/>
                </a:solidFill>
                <a:latin typeface="Times New Roman"/>
                <a:cs typeface="Times New Roman"/>
              </a:rPr>
              <a:t>as</a:t>
            </a:r>
            <a:r>
              <a:rPr sz="2000" spc="-80" dirty="0">
                <a:solidFill>
                  <a:srgbClr val="FFFFFF"/>
                </a:solidFill>
                <a:latin typeface="Times New Roman"/>
                <a:cs typeface="Times New Roman"/>
              </a:rPr>
              <a:t> </a:t>
            </a:r>
            <a:r>
              <a:rPr sz="2000" spc="65" dirty="0">
                <a:solidFill>
                  <a:srgbClr val="FFFFFF"/>
                </a:solidFill>
                <a:latin typeface="Times New Roman"/>
                <a:cs typeface="Times New Roman"/>
              </a:rPr>
              <a:t>INSERT,</a:t>
            </a:r>
            <a:r>
              <a:rPr sz="2000" spc="-75" dirty="0">
                <a:solidFill>
                  <a:srgbClr val="FFFFFF"/>
                </a:solidFill>
                <a:latin typeface="Times New Roman"/>
                <a:cs typeface="Times New Roman"/>
              </a:rPr>
              <a:t> </a:t>
            </a:r>
            <a:r>
              <a:rPr sz="2000" spc="95" dirty="0">
                <a:solidFill>
                  <a:srgbClr val="FFFFFF"/>
                </a:solidFill>
                <a:latin typeface="Times New Roman"/>
                <a:cs typeface="Times New Roman"/>
              </a:rPr>
              <a:t>UPDATE,</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35" dirty="0">
                <a:solidFill>
                  <a:srgbClr val="FFFFFF"/>
                </a:solidFill>
                <a:latin typeface="Times New Roman"/>
                <a:cs typeface="Times New Roman"/>
              </a:rPr>
              <a:t>DELETE.</a:t>
            </a:r>
            <a:endParaRPr sz="2000">
              <a:latin typeface="Times New Roman"/>
              <a:cs typeface="Times New Roman"/>
            </a:endParaRPr>
          </a:p>
        </p:txBody>
      </p:sp>
      <p:pic>
        <p:nvPicPr>
          <p:cNvPr id="9" name="object 9"/>
          <p:cNvPicPr/>
          <p:nvPr/>
        </p:nvPicPr>
        <p:blipFill>
          <a:blip r:embed="rId5" cstate="print"/>
          <a:stretch>
            <a:fillRect/>
          </a:stretch>
        </p:blipFill>
        <p:spPr>
          <a:xfrm>
            <a:off x="887730" y="4187952"/>
            <a:ext cx="7464552" cy="400050"/>
          </a:xfrm>
          <a:prstGeom prst="rect">
            <a:avLst/>
          </a:prstGeom>
        </p:spPr>
      </p:pic>
      <p:sp>
        <p:nvSpPr>
          <p:cNvPr id="10" name="object 10"/>
          <p:cNvSpPr txBox="1"/>
          <p:nvPr/>
        </p:nvSpPr>
        <p:spPr>
          <a:xfrm>
            <a:off x="526541" y="3770883"/>
            <a:ext cx="8038465" cy="2309495"/>
          </a:xfrm>
          <a:prstGeom prst="rect">
            <a:avLst/>
          </a:prstGeom>
        </p:spPr>
        <p:txBody>
          <a:bodyPr vert="horz" wrap="square" lIns="0" tIns="12065" rIns="0" bIns="0" rtlCol="0">
            <a:spAutoFit/>
          </a:bodyPr>
          <a:lstStyle/>
          <a:p>
            <a:pPr marL="12700">
              <a:lnSpc>
                <a:spcPct val="100000"/>
              </a:lnSpc>
              <a:spcBef>
                <a:spcPts val="95"/>
              </a:spcBef>
            </a:pPr>
            <a:r>
              <a:rPr sz="2000" b="1" spc="-105" dirty="0">
                <a:latin typeface="Arial"/>
                <a:cs typeface="Arial"/>
              </a:rPr>
              <a:t>Syntax:</a:t>
            </a:r>
            <a:endParaRPr sz="2000">
              <a:latin typeface="Arial"/>
              <a:cs typeface="Arial"/>
            </a:endParaRPr>
          </a:p>
          <a:p>
            <a:pPr>
              <a:lnSpc>
                <a:spcPct val="100000"/>
              </a:lnSpc>
              <a:spcBef>
                <a:spcPts val="10"/>
              </a:spcBef>
            </a:pPr>
            <a:endParaRPr sz="4150">
              <a:latin typeface="Arial"/>
              <a:cs typeface="Arial"/>
            </a:endParaRPr>
          </a:p>
          <a:p>
            <a:pPr marL="160655">
              <a:lnSpc>
                <a:spcPct val="100000"/>
              </a:lnSpc>
              <a:spcBef>
                <a:spcPts val="5"/>
              </a:spcBef>
            </a:pPr>
            <a:r>
              <a:rPr sz="1800" spc="55" dirty="0">
                <a:latin typeface="Times New Roman"/>
                <a:cs typeface="Times New Roman"/>
              </a:rPr>
              <a:t>where,</a:t>
            </a:r>
            <a:endParaRPr sz="1800">
              <a:latin typeface="Times New Roman"/>
              <a:cs typeface="Times New Roman"/>
            </a:endParaRPr>
          </a:p>
          <a:p>
            <a:pPr marL="446405" marR="5080">
              <a:lnSpc>
                <a:spcPct val="100000"/>
              </a:lnSpc>
            </a:pPr>
            <a:r>
              <a:rPr sz="1800" spc="50" dirty="0">
                <a:latin typeface="Times New Roman"/>
                <a:cs typeface="Times New Roman"/>
              </a:rPr>
              <a:t>expression: </a:t>
            </a:r>
            <a:r>
              <a:rPr sz="1800" spc="5" dirty="0">
                <a:latin typeface="Times New Roman"/>
                <a:cs typeface="Times New Roman"/>
              </a:rPr>
              <a:t>is </a:t>
            </a:r>
            <a:r>
              <a:rPr sz="1800" spc="100" dirty="0">
                <a:latin typeface="Times New Roman"/>
                <a:cs typeface="Times New Roman"/>
              </a:rPr>
              <a:t>the </a:t>
            </a:r>
            <a:r>
              <a:rPr sz="1800" spc="95" dirty="0">
                <a:latin typeface="Times New Roman"/>
                <a:cs typeface="Times New Roman"/>
              </a:rPr>
              <a:t>number </a:t>
            </a:r>
            <a:r>
              <a:rPr sz="1800" spc="80" dirty="0">
                <a:latin typeface="Times New Roman"/>
                <a:cs typeface="Times New Roman"/>
              </a:rPr>
              <a:t>or </a:t>
            </a:r>
            <a:r>
              <a:rPr sz="1800" spc="100" dirty="0">
                <a:latin typeface="Times New Roman"/>
                <a:cs typeface="Times New Roman"/>
              </a:rPr>
              <a:t>the </a:t>
            </a:r>
            <a:r>
              <a:rPr sz="1800" spc="55" dirty="0">
                <a:latin typeface="Times New Roman"/>
                <a:cs typeface="Times New Roman"/>
              </a:rPr>
              <a:t>percentage </a:t>
            </a:r>
            <a:r>
              <a:rPr sz="1800" spc="50" dirty="0">
                <a:latin typeface="Times New Roman"/>
                <a:cs typeface="Times New Roman"/>
              </a:rPr>
              <a:t>of rows </a:t>
            </a:r>
            <a:r>
              <a:rPr sz="1800" spc="100" dirty="0">
                <a:latin typeface="Times New Roman"/>
                <a:cs typeface="Times New Roman"/>
              </a:rPr>
              <a:t>to </a:t>
            </a:r>
            <a:r>
              <a:rPr sz="1800" spc="60" dirty="0">
                <a:latin typeface="Times New Roman"/>
                <a:cs typeface="Times New Roman"/>
              </a:rPr>
              <a:t>be </a:t>
            </a:r>
            <a:r>
              <a:rPr sz="1800" spc="90" dirty="0">
                <a:latin typeface="Times New Roman"/>
                <a:cs typeface="Times New Roman"/>
              </a:rPr>
              <a:t>returned </a:t>
            </a:r>
            <a:r>
              <a:rPr sz="1800" spc="15" dirty="0">
                <a:latin typeface="Times New Roman"/>
                <a:cs typeface="Times New Roman"/>
              </a:rPr>
              <a:t>as </a:t>
            </a:r>
            <a:r>
              <a:rPr sz="1800" spc="100" dirty="0">
                <a:latin typeface="Times New Roman"/>
                <a:cs typeface="Times New Roman"/>
              </a:rPr>
              <a:t>the  </a:t>
            </a:r>
            <a:r>
              <a:rPr sz="1800" spc="55" dirty="0">
                <a:latin typeface="Times New Roman"/>
                <a:cs typeface="Times New Roman"/>
              </a:rPr>
              <a:t>result.</a:t>
            </a:r>
            <a:endParaRPr sz="1800">
              <a:latin typeface="Times New Roman"/>
              <a:cs typeface="Times New Roman"/>
            </a:endParaRPr>
          </a:p>
          <a:p>
            <a:pPr marL="446405" marR="856615">
              <a:lnSpc>
                <a:spcPct val="100000"/>
              </a:lnSpc>
            </a:pPr>
            <a:r>
              <a:rPr sz="1800" spc="70" dirty="0">
                <a:latin typeface="Times New Roman"/>
                <a:cs typeface="Times New Roman"/>
              </a:rPr>
              <a:t>PERCENT: </a:t>
            </a:r>
            <a:r>
              <a:rPr sz="1800" spc="85" dirty="0">
                <a:latin typeface="Times New Roman"/>
                <a:cs typeface="Times New Roman"/>
              </a:rPr>
              <a:t>returns </a:t>
            </a:r>
            <a:r>
              <a:rPr sz="1800" spc="100" dirty="0">
                <a:latin typeface="Times New Roman"/>
                <a:cs typeface="Times New Roman"/>
              </a:rPr>
              <a:t>the </a:t>
            </a:r>
            <a:r>
              <a:rPr sz="1800" spc="95" dirty="0">
                <a:latin typeface="Times New Roman"/>
                <a:cs typeface="Times New Roman"/>
              </a:rPr>
              <a:t>number </a:t>
            </a:r>
            <a:r>
              <a:rPr sz="1800" spc="50" dirty="0">
                <a:latin typeface="Times New Roman"/>
                <a:cs typeface="Times New Roman"/>
              </a:rPr>
              <a:t>of rows </a:t>
            </a:r>
            <a:r>
              <a:rPr sz="1800" spc="55" dirty="0">
                <a:latin typeface="Times New Roman"/>
                <a:cs typeface="Times New Roman"/>
              </a:rPr>
              <a:t>limited </a:t>
            </a:r>
            <a:r>
              <a:rPr sz="1800" spc="35" dirty="0">
                <a:latin typeface="Times New Roman"/>
                <a:cs typeface="Times New Roman"/>
              </a:rPr>
              <a:t>by </a:t>
            </a:r>
            <a:r>
              <a:rPr sz="1800" spc="50" dirty="0">
                <a:latin typeface="Times New Roman"/>
                <a:cs typeface="Times New Roman"/>
              </a:rPr>
              <a:t>percentage.  </a:t>
            </a:r>
            <a:r>
              <a:rPr sz="1800" spc="145" dirty="0">
                <a:latin typeface="Times New Roman"/>
                <a:cs typeface="Times New Roman"/>
              </a:rPr>
              <a:t>WITH</a:t>
            </a:r>
            <a:r>
              <a:rPr sz="1800" spc="-65" dirty="0">
                <a:latin typeface="Times New Roman"/>
                <a:cs typeface="Times New Roman"/>
              </a:rPr>
              <a:t> </a:t>
            </a:r>
            <a:r>
              <a:rPr sz="1800" spc="35" dirty="0">
                <a:latin typeface="Times New Roman"/>
                <a:cs typeface="Times New Roman"/>
              </a:rPr>
              <a:t>TIES:</a:t>
            </a:r>
            <a:r>
              <a:rPr sz="1800" spc="-70" dirty="0">
                <a:latin typeface="Times New Roman"/>
                <a:cs typeface="Times New Roman"/>
              </a:rPr>
              <a:t> </a:t>
            </a:r>
            <a:r>
              <a:rPr sz="1800" spc="5" dirty="0">
                <a:latin typeface="Times New Roman"/>
                <a:cs typeface="Times New Roman"/>
              </a:rPr>
              <a:t>is</a:t>
            </a:r>
            <a:r>
              <a:rPr sz="1800" spc="-50" dirty="0">
                <a:latin typeface="Times New Roman"/>
                <a:cs typeface="Times New Roman"/>
              </a:rPr>
              <a:t> </a:t>
            </a:r>
            <a:r>
              <a:rPr sz="1800" spc="100" dirty="0">
                <a:latin typeface="Times New Roman"/>
                <a:cs typeface="Times New Roman"/>
              </a:rPr>
              <a:t>the</a:t>
            </a:r>
            <a:r>
              <a:rPr sz="1800" spc="-60" dirty="0">
                <a:latin typeface="Times New Roman"/>
                <a:cs typeface="Times New Roman"/>
              </a:rPr>
              <a:t> </a:t>
            </a:r>
            <a:r>
              <a:rPr sz="1800" spc="65" dirty="0">
                <a:latin typeface="Times New Roman"/>
                <a:cs typeface="Times New Roman"/>
              </a:rPr>
              <a:t>additional</a:t>
            </a:r>
            <a:r>
              <a:rPr sz="1800" spc="-85" dirty="0">
                <a:latin typeface="Times New Roman"/>
                <a:cs typeface="Times New Roman"/>
              </a:rPr>
              <a:t> </a:t>
            </a:r>
            <a:r>
              <a:rPr sz="1800" spc="95" dirty="0">
                <a:latin typeface="Times New Roman"/>
                <a:cs typeface="Times New Roman"/>
              </a:rPr>
              <a:t>number</a:t>
            </a:r>
            <a:r>
              <a:rPr sz="1800" spc="-60" dirty="0">
                <a:latin typeface="Times New Roman"/>
                <a:cs typeface="Times New Roman"/>
              </a:rPr>
              <a:t> </a:t>
            </a:r>
            <a:r>
              <a:rPr sz="1800" spc="50" dirty="0">
                <a:latin typeface="Times New Roman"/>
                <a:cs typeface="Times New Roman"/>
              </a:rPr>
              <a:t>of</a:t>
            </a:r>
            <a:r>
              <a:rPr sz="1800" spc="-55" dirty="0">
                <a:latin typeface="Times New Roman"/>
                <a:cs typeface="Times New Roman"/>
              </a:rPr>
              <a:t> </a:t>
            </a:r>
            <a:r>
              <a:rPr sz="1800" spc="50" dirty="0">
                <a:latin typeface="Times New Roman"/>
                <a:cs typeface="Times New Roman"/>
              </a:rPr>
              <a:t>rows</a:t>
            </a:r>
            <a:r>
              <a:rPr sz="1800" spc="-50" dirty="0">
                <a:latin typeface="Times New Roman"/>
                <a:cs typeface="Times New Roman"/>
              </a:rPr>
              <a:t> </a:t>
            </a:r>
            <a:r>
              <a:rPr sz="1800" spc="100" dirty="0">
                <a:latin typeface="Times New Roman"/>
                <a:cs typeface="Times New Roman"/>
              </a:rPr>
              <a:t>that</a:t>
            </a:r>
            <a:r>
              <a:rPr sz="1800" spc="-60" dirty="0">
                <a:latin typeface="Times New Roman"/>
                <a:cs typeface="Times New Roman"/>
              </a:rPr>
              <a:t> </a:t>
            </a:r>
            <a:r>
              <a:rPr sz="1800" spc="5" dirty="0">
                <a:latin typeface="Times New Roman"/>
                <a:cs typeface="Times New Roman"/>
              </a:rPr>
              <a:t>is</a:t>
            </a:r>
            <a:r>
              <a:rPr sz="1800" spc="-55" dirty="0">
                <a:latin typeface="Times New Roman"/>
                <a:cs typeface="Times New Roman"/>
              </a:rPr>
              <a:t> </a:t>
            </a:r>
            <a:r>
              <a:rPr sz="1800" spc="100" dirty="0">
                <a:latin typeface="Times New Roman"/>
                <a:cs typeface="Times New Roman"/>
              </a:rPr>
              <a:t>to</a:t>
            </a:r>
            <a:r>
              <a:rPr sz="1800" spc="-60" dirty="0">
                <a:latin typeface="Times New Roman"/>
                <a:cs typeface="Times New Roman"/>
              </a:rPr>
              <a:t> </a:t>
            </a:r>
            <a:r>
              <a:rPr sz="1800" spc="55" dirty="0">
                <a:latin typeface="Times New Roman"/>
                <a:cs typeface="Times New Roman"/>
              </a:rPr>
              <a:t>be</a:t>
            </a:r>
            <a:r>
              <a:rPr sz="1800" spc="-60" dirty="0">
                <a:latin typeface="Times New Roman"/>
                <a:cs typeface="Times New Roman"/>
              </a:rPr>
              <a:t> </a:t>
            </a:r>
            <a:r>
              <a:rPr sz="1800" spc="40" dirty="0">
                <a:latin typeface="Times New Roman"/>
                <a:cs typeface="Times New Roman"/>
              </a:rPr>
              <a:t>displayed.</a:t>
            </a:r>
            <a:endParaRPr sz="18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14</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589145" cy="635635"/>
          </a:xfrm>
          <a:prstGeom prst="rect">
            <a:avLst/>
          </a:prstGeom>
        </p:spPr>
        <p:txBody>
          <a:bodyPr vert="horz" wrap="square" lIns="0" tIns="12700" rIns="0" bIns="0" rtlCol="0">
            <a:spAutoFit/>
          </a:bodyPr>
          <a:lstStyle/>
          <a:p>
            <a:pPr marL="12700">
              <a:lnSpc>
                <a:spcPct val="100000"/>
              </a:lnSpc>
              <a:spcBef>
                <a:spcPts val="100"/>
              </a:spcBef>
            </a:pPr>
            <a:r>
              <a:rPr sz="4000" b="0" spc="165" dirty="0">
                <a:latin typeface="Times New Roman"/>
                <a:cs typeface="Times New Roman"/>
              </a:rPr>
              <a:t>SELECT </a:t>
            </a:r>
            <a:r>
              <a:rPr sz="4000" b="0" spc="180" dirty="0">
                <a:latin typeface="Times New Roman"/>
                <a:cs typeface="Times New Roman"/>
              </a:rPr>
              <a:t>with</a:t>
            </a:r>
            <a:r>
              <a:rPr sz="4000" b="0" spc="-550" dirty="0">
                <a:latin typeface="Times New Roman"/>
                <a:cs typeface="Times New Roman"/>
              </a:rPr>
              <a:t> </a:t>
            </a:r>
            <a:r>
              <a:rPr sz="4000" b="0" spc="295" dirty="0">
                <a:latin typeface="Times New Roman"/>
                <a:cs typeface="Times New Roman"/>
              </a:rPr>
              <a:t>INTO</a:t>
            </a:r>
            <a:endParaRPr sz="4000">
              <a:latin typeface="Times New Roman"/>
              <a:cs typeface="Times New Roman"/>
            </a:endParaRPr>
          </a:p>
        </p:txBody>
      </p:sp>
      <p:grpSp>
        <p:nvGrpSpPr>
          <p:cNvPr id="3" name="object 3"/>
          <p:cNvGrpSpPr/>
          <p:nvPr/>
        </p:nvGrpSpPr>
        <p:grpSpPr>
          <a:xfrm>
            <a:off x="71627" y="835177"/>
            <a:ext cx="8792845" cy="1095375"/>
            <a:chOff x="71627" y="835177"/>
            <a:chExt cx="8792845" cy="1095375"/>
          </a:xfrm>
        </p:grpSpPr>
        <p:pic>
          <p:nvPicPr>
            <p:cNvPr id="4" name="object 4"/>
            <p:cNvPicPr/>
            <p:nvPr/>
          </p:nvPicPr>
          <p:blipFill>
            <a:blip r:embed="rId3" cstate="print"/>
            <a:stretch>
              <a:fillRect/>
            </a:stretch>
          </p:blipFill>
          <p:spPr>
            <a:xfrm>
              <a:off x="71627" y="835177"/>
              <a:ext cx="8792718" cy="1094968"/>
            </a:xfrm>
            <a:prstGeom prst="rect">
              <a:avLst/>
            </a:prstGeom>
          </p:spPr>
        </p:pic>
        <p:sp>
          <p:nvSpPr>
            <p:cNvPr id="5" name="object 5"/>
            <p:cNvSpPr/>
            <p:nvPr/>
          </p:nvSpPr>
          <p:spPr>
            <a:xfrm>
              <a:off x="112776" y="853439"/>
              <a:ext cx="8717280" cy="1019810"/>
            </a:xfrm>
            <a:custGeom>
              <a:avLst/>
              <a:gdLst/>
              <a:ahLst/>
              <a:cxnLst/>
              <a:rect l="l" t="t" r="r" b="b"/>
              <a:pathLst>
                <a:path w="8717280" h="1019810">
                  <a:moveTo>
                    <a:pt x="8717280" y="169926"/>
                  </a:moveTo>
                  <a:lnTo>
                    <a:pt x="8711209" y="124752"/>
                  </a:lnTo>
                  <a:lnTo>
                    <a:pt x="8694077" y="84162"/>
                  </a:lnTo>
                  <a:lnTo>
                    <a:pt x="8667509" y="49771"/>
                  </a:lnTo>
                  <a:lnTo>
                    <a:pt x="8633117" y="23202"/>
                  </a:lnTo>
                  <a:lnTo>
                    <a:pt x="8592528" y="6070"/>
                  </a:lnTo>
                  <a:lnTo>
                    <a:pt x="8547354" y="0"/>
                  </a:lnTo>
                  <a:lnTo>
                    <a:pt x="169926" y="0"/>
                  </a:lnTo>
                  <a:lnTo>
                    <a:pt x="124752" y="6070"/>
                  </a:lnTo>
                  <a:lnTo>
                    <a:pt x="84162" y="23202"/>
                  </a:lnTo>
                  <a:lnTo>
                    <a:pt x="49771" y="49771"/>
                  </a:lnTo>
                  <a:lnTo>
                    <a:pt x="23190" y="84162"/>
                  </a:lnTo>
                  <a:lnTo>
                    <a:pt x="6057" y="124752"/>
                  </a:lnTo>
                  <a:lnTo>
                    <a:pt x="0" y="169926"/>
                  </a:lnTo>
                  <a:lnTo>
                    <a:pt x="0" y="849630"/>
                  </a:lnTo>
                  <a:lnTo>
                    <a:pt x="6057" y="894816"/>
                  </a:lnTo>
                  <a:lnTo>
                    <a:pt x="23190" y="935405"/>
                  </a:lnTo>
                  <a:lnTo>
                    <a:pt x="49771" y="969797"/>
                  </a:lnTo>
                  <a:lnTo>
                    <a:pt x="84162" y="996365"/>
                  </a:lnTo>
                  <a:lnTo>
                    <a:pt x="124752" y="1013498"/>
                  </a:lnTo>
                  <a:lnTo>
                    <a:pt x="169926" y="1019556"/>
                  </a:lnTo>
                  <a:lnTo>
                    <a:pt x="8547354" y="1019556"/>
                  </a:lnTo>
                  <a:lnTo>
                    <a:pt x="8592528" y="1013498"/>
                  </a:lnTo>
                  <a:lnTo>
                    <a:pt x="8633117" y="996365"/>
                  </a:lnTo>
                  <a:lnTo>
                    <a:pt x="8667509" y="969797"/>
                  </a:lnTo>
                  <a:lnTo>
                    <a:pt x="8694077" y="935405"/>
                  </a:lnTo>
                  <a:lnTo>
                    <a:pt x="8711209" y="894816"/>
                  </a:lnTo>
                  <a:lnTo>
                    <a:pt x="8717280" y="849630"/>
                  </a:lnTo>
                  <a:lnTo>
                    <a:pt x="8717280" y="169926"/>
                  </a:lnTo>
                  <a:close/>
                </a:path>
              </a:pathLst>
            </a:custGeom>
            <a:solidFill>
              <a:srgbClr val="000000"/>
            </a:solidFill>
          </p:spPr>
          <p:txBody>
            <a:bodyPr wrap="square" lIns="0" tIns="0" rIns="0" bIns="0" rtlCol="0"/>
            <a:lstStyle/>
            <a:p>
              <a:endParaRPr/>
            </a:p>
          </p:txBody>
        </p:sp>
      </p:grpSp>
      <p:sp>
        <p:nvSpPr>
          <p:cNvPr id="6" name="object 6"/>
          <p:cNvSpPr txBox="1"/>
          <p:nvPr/>
        </p:nvSpPr>
        <p:spPr>
          <a:xfrm>
            <a:off x="392938" y="976883"/>
            <a:ext cx="8213725" cy="635000"/>
          </a:xfrm>
          <a:prstGeom prst="rect">
            <a:avLst/>
          </a:prstGeom>
        </p:spPr>
        <p:txBody>
          <a:bodyPr vert="horz" wrap="square" lIns="0" tIns="12065" rIns="0" bIns="0" rtlCol="0">
            <a:spAutoFit/>
          </a:bodyPr>
          <a:lstStyle/>
          <a:p>
            <a:pPr marL="354965" marR="5080" indent="-342900">
              <a:lnSpc>
                <a:spcPct val="100000"/>
              </a:lnSpc>
              <a:spcBef>
                <a:spcPts val="95"/>
              </a:spcBef>
              <a:buFont typeface="Wingdings"/>
              <a:buChar char=""/>
              <a:tabLst>
                <a:tab pos="354965" algn="l"/>
                <a:tab pos="355600" algn="l"/>
              </a:tabLst>
            </a:pPr>
            <a:r>
              <a:rPr sz="2000" spc="130" dirty="0">
                <a:solidFill>
                  <a:srgbClr val="FFFFFF"/>
                </a:solidFill>
                <a:latin typeface="Times New Roman"/>
                <a:cs typeface="Times New Roman"/>
              </a:rPr>
              <a:t>The </a:t>
            </a:r>
            <a:r>
              <a:rPr sz="2000" spc="145" dirty="0">
                <a:solidFill>
                  <a:srgbClr val="FFFFFF"/>
                </a:solidFill>
                <a:latin typeface="Times New Roman"/>
                <a:cs typeface="Times New Roman"/>
              </a:rPr>
              <a:t>INTO </a:t>
            </a:r>
            <a:r>
              <a:rPr sz="2000" spc="40" dirty="0">
                <a:solidFill>
                  <a:srgbClr val="FFFFFF"/>
                </a:solidFill>
                <a:latin typeface="Times New Roman"/>
                <a:cs typeface="Times New Roman"/>
              </a:rPr>
              <a:t>clause </a:t>
            </a:r>
            <a:r>
              <a:rPr sz="2000" spc="50" dirty="0">
                <a:solidFill>
                  <a:srgbClr val="FFFFFF"/>
                </a:solidFill>
                <a:latin typeface="Times New Roman"/>
                <a:cs typeface="Times New Roman"/>
              </a:rPr>
              <a:t>creates </a:t>
            </a:r>
            <a:r>
              <a:rPr sz="2000" spc="30" dirty="0">
                <a:solidFill>
                  <a:srgbClr val="FFFFFF"/>
                </a:solidFill>
                <a:latin typeface="Times New Roman"/>
                <a:cs typeface="Times New Roman"/>
              </a:rPr>
              <a:t>a </a:t>
            </a:r>
            <a:r>
              <a:rPr sz="2000" spc="90" dirty="0">
                <a:solidFill>
                  <a:srgbClr val="FFFFFF"/>
                </a:solidFill>
                <a:latin typeface="Times New Roman"/>
                <a:cs typeface="Times New Roman"/>
              </a:rPr>
              <a:t>new </a:t>
            </a:r>
            <a:r>
              <a:rPr sz="2000" spc="60" dirty="0">
                <a:solidFill>
                  <a:srgbClr val="FFFFFF"/>
                </a:solidFill>
                <a:latin typeface="Times New Roman"/>
                <a:cs typeface="Times New Roman"/>
              </a:rPr>
              <a:t>table </a:t>
            </a:r>
            <a:r>
              <a:rPr sz="2000" spc="110" dirty="0">
                <a:solidFill>
                  <a:srgbClr val="FFFFFF"/>
                </a:solidFill>
                <a:latin typeface="Times New Roman"/>
                <a:cs typeface="Times New Roman"/>
              </a:rPr>
              <a:t>and </a:t>
            </a:r>
            <a:r>
              <a:rPr sz="2000" spc="65" dirty="0">
                <a:solidFill>
                  <a:srgbClr val="FFFFFF"/>
                </a:solidFill>
                <a:latin typeface="Times New Roman"/>
                <a:cs typeface="Times New Roman"/>
              </a:rPr>
              <a:t>inserts </a:t>
            </a:r>
            <a:r>
              <a:rPr sz="2000" spc="60" dirty="0">
                <a:solidFill>
                  <a:srgbClr val="FFFFFF"/>
                </a:solidFill>
                <a:latin typeface="Times New Roman"/>
                <a:cs typeface="Times New Roman"/>
              </a:rPr>
              <a:t>rows </a:t>
            </a:r>
            <a:r>
              <a:rPr sz="2000" spc="110" dirty="0">
                <a:solidFill>
                  <a:srgbClr val="FFFFFF"/>
                </a:solidFill>
                <a:latin typeface="Times New Roman"/>
                <a:cs typeface="Times New Roman"/>
              </a:rPr>
              <a:t>and </a:t>
            </a:r>
            <a:r>
              <a:rPr sz="2000" spc="75" dirty="0">
                <a:solidFill>
                  <a:srgbClr val="FFFFFF"/>
                </a:solidFill>
                <a:latin typeface="Times New Roman"/>
                <a:cs typeface="Times New Roman"/>
              </a:rPr>
              <a:t>columns  </a:t>
            </a:r>
            <a:r>
              <a:rPr sz="2000" spc="50" dirty="0">
                <a:solidFill>
                  <a:srgbClr val="FFFFFF"/>
                </a:solidFill>
                <a:latin typeface="Times New Roman"/>
                <a:cs typeface="Times New Roman"/>
              </a:rPr>
              <a:t>listed</a:t>
            </a:r>
            <a:r>
              <a:rPr sz="2000" spc="-7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8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80" dirty="0">
                <a:solidFill>
                  <a:srgbClr val="FFFFFF"/>
                </a:solidFill>
                <a:latin typeface="Times New Roman"/>
                <a:cs typeface="Times New Roman"/>
              </a:rPr>
              <a:t>SELECT</a:t>
            </a:r>
            <a:r>
              <a:rPr sz="2000" spc="-75" dirty="0">
                <a:solidFill>
                  <a:srgbClr val="FFFFFF"/>
                </a:solidFill>
                <a:latin typeface="Times New Roman"/>
                <a:cs typeface="Times New Roman"/>
              </a:rPr>
              <a:t> </a:t>
            </a:r>
            <a:r>
              <a:rPr sz="2000" spc="85" dirty="0">
                <a:solidFill>
                  <a:srgbClr val="FFFFFF"/>
                </a:solidFill>
                <a:latin typeface="Times New Roman"/>
                <a:cs typeface="Times New Roman"/>
              </a:rPr>
              <a:t>statement</a:t>
            </a:r>
            <a:r>
              <a:rPr sz="2000" spc="-50" dirty="0">
                <a:solidFill>
                  <a:srgbClr val="FFFFFF"/>
                </a:solidFill>
                <a:latin typeface="Times New Roman"/>
                <a:cs typeface="Times New Roman"/>
              </a:rPr>
              <a:t> </a:t>
            </a:r>
            <a:r>
              <a:rPr sz="2000" spc="100" dirty="0">
                <a:solidFill>
                  <a:srgbClr val="FFFFFF"/>
                </a:solidFill>
                <a:latin typeface="Times New Roman"/>
                <a:cs typeface="Times New Roman"/>
              </a:rPr>
              <a:t>into</a:t>
            </a:r>
            <a:r>
              <a:rPr sz="2000" spc="-60" dirty="0">
                <a:solidFill>
                  <a:srgbClr val="FFFFFF"/>
                </a:solidFill>
                <a:latin typeface="Times New Roman"/>
                <a:cs typeface="Times New Roman"/>
              </a:rPr>
              <a:t> </a:t>
            </a:r>
            <a:r>
              <a:rPr sz="2000" spc="45" dirty="0">
                <a:solidFill>
                  <a:srgbClr val="FFFFFF"/>
                </a:solidFill>
                <a:latin typeface="Times New Roman"/>
                <a:cs typeface="Times New Roman"/>
              </a:rPr>
              <a:t>it.</a:t>
            </a:r>
            <a:endParaRPr sz="2000">
              <a:latin typeface="Times New Roman"/>
              <a:cs typeface="Times New Roman"/>
            </a:endParaRPr>
          </a:p>
        </p:txBody>
      </p:sp>
      <p:sp>
        <p:nvSpPr>
          <p:cNvPr id="7" name="object 7"/>
          <p:cNvSpPr/>
          <p:nvPr/>
        </p:nvSpPr>
        <p:spPr>
          <a:xfrm>
            <a:off x="515874" y="2227325"/>
            <a:ext cx="7938770" cy="748030"/>
          </a:xfrm>
          <a:custGeom>
            <a:avLst/>
            <a:gdLst/>
            <a:ahLst/>
            <a:cxnLst/>
            <a:rect l="l" t="t" r="r" b="b"/>
            <a:pathLst>
              <a:path w="7938770" h="748030">
                <a:moveTo>
                  <a:pt x="7938516" y="124587"/>
                </a:moveTo>
                <a:lnTo>
                  <a:pt x="7928724" y="76085"/>
                </a:lnTo>
                <a:lnTo>
                  <a:pt x="7902029" y="36487"/>
                </a:lnTo>
                <a:lnTo>
                  <a:pt x="7862430" y="9791"/>
                </a:lnTo>
                <a:lnTo>
                  <a:pt x="7813929" y="0"/>
                </a:lnTo>
                <a:lnTo>
                  <a:pt x="124587" y="0"/>
                </a:lnTo>
                <a:lnTo>
                  <a:pt x="76085" y="9791"/>
                </a:lnTo>
                <a:lnTo>
                  <a:pt x="36487" y="36487"/>
                </a:lnTo>
                <a:lnTo>
                  <a:pt x="9779" y="76085"/>
                </a:lnTo>
                <a:lnTo>
                  <a:pt x="0" y="124587"/>
                </a:lnTo>
                <a:lnTo>
                  <a:pt x="0" y="622935"/>
                </a:lnTo>
                <a:lnTo>
                  <a:pt x="9779" y="671449"/>
                </a:lnTo>
                <a:lnTo>
                  <a:pt x="36487" y="711047"/>
                </a:lnTo>
                <a:lnTo>
                  <a:pt x="76085" y="737743"/>
                </a:lnTo>
                <a:lnTo>
                  <a:pt x="124587" y="747522"/>
                </a:lnTo>
                <a:lnTo>
                  <a:pt x="7813929" y="747522"/>
                </a:lnTo>
                <a:lnTo>
                  <a:pt x="7862430" y="737743"/>
                </a:lnTo>
                <a:lnTo>
                  <a:pt x="7902029" y="711047"/>
                </a:lnTo>
                <a:lnTo>
                  <a:pt x="7928724" y="671449"/>
                </a:lnTo>
                <a:lnTo>
                  <a:pt x="7938516" y="622935"/>
                </a:lnTo>
                <a:lnTo>
                  <a:pt x="7938516" y="124587"/>
                </a:lnTo>
                <a:close/>
              </a:path>
            </a:pathLst>
          </a:custGeom>
          <a:solidFill>
            <a:srgbClr val="9BBA58"/>
          </a:solidFill>
        </p:spPr>
        <p:txBody>
          <a:bodyPr wrap="square" lIns="0" tIns="0" rIns="0" bIns="0" rtlCol="0"/>
          <a:lstStyle/>
          <a:p>
            <a:endParaRPr/>
          </a:p>
        </p:txBody>
      </p:sp>
      <p:sp>
        <p:nvSpPr>
          <p:cNvPr id="8" name="object 8"/>
          <p:cNvSpPr txBox="1"/>
          <p:nvPr/>
        </p:nvSpPr>
        <p:spPr>
          <a:xfrm>
            <a:off x="1244853" y="2396998"/>
            <a:ext cx="6262370" cy="330200"/>
          </a:xfrm>
          <a:prstGeom prst="rect">
            <a:avLst/>
          </a:prstGeom>
        </p:spPr>
        <p:txBody>
          <a:bodyPr vert="horz" wrap="square" lIns="0" tIns="12065" rIns="0" bIns="0" rtlCol="0">
            <a:spAutoFit/>
          </a:bodyPr>
          <a:lstStyle/>
          <a:p>
            <a:pPr marL="12700">
              <a:lnSpc>
                <a:spcPct val="100000"/>
              </a:lnSpc>
              <a:spcBef>
                <a:spcPts val="95"/>
              </a:spcBef>
            </a:pPr>
            <a:r>
              <a:rPr sz="2000" spc="145" dirty="0">
                <a:solidFill>
                  <a:srgbClr val="FFFFFF"/>
                </a:solidFill>
                <a:latin typeface="Times New Roman"/>
                <a:cs typeface="Times New Roman"/>
              </a:rPr>
              <a:t>INTO</a:t>
            </a:r>
            <a:r>
              <a:rPr sz="2000" spc="-90" dirty="0">
                <a:solidFill>
                  <a:srgbClr val="FFFFFF"/>
                </a:solidFill>
                <a:latin typeface="Times New Roman"/>
                <a:cs typeface="Times New Roman"/>
              </a:rPr>
              <a:t> </a:t>
            </a:r>
            <a:r>
              <a:rPr sz="2000" spc="40" dirty="0">
                <a:solidFill>
                  <a:srgbClr val="FFFFFF"/>
                </a:solidFill>
                <a:latin typeface="Times New Roman"/>
                <a:cs typeface="Times New Roman"/>
              </a:rPr>
              <a:t>clause</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also</a:t>
            </a:r>
            <a:r>
              <a:rPr sz="2000" spc="-55" dirty="0">
                <a:solidFill>
                  <a:srgbClr val="FFFFFF"/>
                </a:solidFill>
                <a:latin typeface="Times New Roman"/>
                <a:cs typeface="Times New Roman"/>
              </a:rPr>
              <a:t> </a:t>
            </a:r>
            <a:r>
              <a:rPr sz="2000" spc="65" dirty="0">
                <a:solidFill>
                  <a:srgbClr val="FFFFFF"/>
                </a:solidFill>
                <a:latin typeface="Times New Roman"/>
                <a:cs typeface="Times New Roman"/>
              </a:rPr>
              <a:t>inserts</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existing</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rows</a:t>
            </a:r>
            <a:r>
              <a:rPr sz="2000" spc="-65" dirty="0">
                <a:solidFill>
                  <a:srgbClr val="FFFFFF"/>
                </a:solidFill>
                <a:latin typeface="Times New Roman"/>
                <a:cs typeface="Times New Roman"/>
              </a:rPr>
              <a:t> </a:t>
            </a:r>
            <a:r>
              <a:rPr sz="2000" spc="100" dirty="0">
                <a:solidFill>
                  <a:srgbClr val="FFFFFF"/>
                </a:solidFill>
                <a:latin typeface="Times New Roman"/>
                <a:cs typeface="Times New Roman"/>
              </a:rPr>
              <a:t>into</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5" dirty="0">
                <a:solidFill>
                  <a:srgbClr val="FFFFFF"/>
                </a:solidFill>
                <a:latin typeface="Times New Roman"/>
                <a:cs typeface="Times New Roman"/>
              </a:rPr>
              <a:t> </a:t>
            </a:r>
            <a:r>
              <a:rPr sz="2000" spc="90" dirty="0">
                <a:solidFill>
                  <a:srgbClr val="FFFFFF"/>
                </a:solidFill>
                <a:latin typeface="Times New Roman"/>
                <a:cs typeface="Times New Roman"/>
              </a:rPr>
              <a:t>new</a:t>
            </a:r>
            <a:r>
              <a:rPr sz="2000" spc="-60" dirty="0">
                <a:solidFill>
                  <a:srgbClr val="FFFFFF"/>
                </a:solidFill>
                <a:latin typeface="Times New Roman"/>
                <a:cs typeface="Times New Roman"/>
              </a:rPr>
              <a:t> </a:t>
            </a:r>
            <a:r>
              <a:rPr sz="2000" spc="50" dirty="0">
                <a:solidFill>
                  <a:srgbClr val="FFFFFF"/>
                </a:solidFill>
                <a:latin typeface="Times New Roman"/>
                <a:cs typeface="Times New Roman"/>
              </a:rPr>
              <a:t>table.</a:t>
            </a:r>
            <a:endParaRPr sz="2000">
              <a:latin typeface="Times New Roman"/>
              <a:cs typeface="Times New Roman"/>
            </a:endParaRPr>
          </a:p>
        </p:txBody>
      </p:sp>
      <p:pic>
        <p:nvPicPr>
          <p:cNvPr id="9" name="object 9"/>
          <p:cNvPicPr/>
          <p:nvPr/>
        </p:nvPicPr>
        <p:blipFill>
          <a:blip r:embed="rId4" cstate="print"/>
          <a:stretch>
            <a:fillRect/>
          </a:stretch>
        </p:blipFill>
        <p:spPr>
          <a:xfrm>
            <a:off x="2667000" y="3172205"/>
            <a:ext cx="3621024" cy="2713482"/>
          </a:xfrm>
          <a:prstGeom prst="rect">
            <a:avLst/>
          </a:prstGeom>
        </p:spPr>
      </p:pic>
      <p:sp>
        <p:nvSpPr>
          <p:cNvPr id="10" name="object 10"/>
          <p:cNvSpPr txBox="1"/>
          <p:nvPr/>
        </p:nvSpPr>
        <p:spPr>
          <a:xfrm>
            <a:off x="4011421" y="5919470"/>
            <a:ext cx="847090" cy="238760"/>
          </a:xfrm>
          <a:prstGeom prst="rect">
            <a:avLst/>
          </a:prstGeom>
        </p:spPr>
        <p:txBody>
          <a:bodyPr vert="horz" wrap="square" lIns="0" tIns="12065" rIns="0" bIns="0" rtlCol="0">
            <a:spAutoFit/>
          </a:bodyPr>
          <a:lstStyle/>
          <a:p>
            <a:pPr marL="12700">
              <a:lnSpc>
                <a:spcPct val="100000"/>
              </a:lnSpc>
              <a:spcBef>
                <a:spcPts val="95"/>
              </a:spcBef>
            </a:pPr>
            <a:r>
              <a:rPr sz="1400" b="1" spc="-30" dirty="0">
                <a:latin typeface="Arial"/>
                <a:cs typeface="Arial"/>
              </a:rPr>
              <a:t>New</a:t>
            </a:r>
            <a:r>
              <a:rPr sz="1400" b="1" spc="-190" dirty="0">
                <a:latin typeface="Arial"/>
                <a:cs typeface="Arial"/>
              </a:rPr>
              <a:t> </a:t>
            </a:r>
            <a:r>
              <a:rPr sz="1400" b="1" spc="-55" dirty="0">
                <a:latin typeface="Arial"/>
                <a:cs typeface="Arial"/>
              </a:rPr>
              <a:t>Table</a:t>
            </a:r>
            <a:endParaRPr sz="14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15</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938" y="37337"/>
            <a:ext cx="5829300" cy="635635"/>
          </a:xfrm>
          <a:prstGeom prst="rect">
            <a:avLst/>
          </a:prstGeom>
        </p:spPr>
        <p:txBody>
          <a:bodyPr vert="horz" wrap="square" lIns="0" tIns="12700" rIns="0" bIns="0" rtlCol="0">
            <a:spAutoFit/>
          </a:bodyPr>
          <a:lstStyle/>
          <a:p>
            <a:pPr marL="12700">
              <a:lnSpc>
                <a:spcPct val="100000"/>
              </a:lnSpc>
              <a:spcBef>
                <a:spcPts val="100"/>
              </a:spcBef>
            </a:pPr>
            <a:r>
              <a:rPr sz="4000" b="0" spc="165" dirty="0">
                <a:latin typeface="Times New Roman"/>
                <a:cs typeface="Times New Roman"/>
              </a:rPr>
              <a:t>SELECT</a:t>
            </a:r>
            <a:r>
              <a:rPr sz="4000" b="0" spc="-175" dirty="0">
                <a:latin typeface="Times New Roman"/>
                <a:cs typeface="Times New Roman"/>
              </a:rPr>
              <a:t> </a:t>
            </a:r>
            <a:r>
              <a:rPr sz="4000" b="0" spc="180" dirty="0">
                <a:latin typeface="Times New Roman"/>
                <a:cs typeface="Times New Roman"/>
              </a:rPr>
              <a:t>with</a:t>
            </a:r>
            <a:r>
              <a:rPr sz="4000" b="0" spc="-170" dirty="0">
                <a:latin typeface="Times New Roman"/>
                <a:cs typeface="Times New Roman"/>
              </a:rPr>
              <a:t> </a:t>
            </a:r>
            <a:r>
              <a:rPr sz="4000" b="0" spc="215" dirty="0">
                <a:latin typeface="Times New Roman"/>
                <a:cs typeface="Times New Roman"/>
              </a:rPr>
              <a:t>WHERE</a:t>
            </a:r>
            <a:r>
              <a:rPr sz="4000" b="0" spc="-175" dirty="0">
                <a:latin typeface="Times New Roman"/>
                <a:cs typeface="Times New Roman"/>
              </a:rPr>
              <a:t> </a:t>
            </a:r>
            <a:r>
              <a:rPr sz="4000" b="0" spc="-335" dirty="0">
                <a:latin typeface="Times New Roman"/>
                <a:cs typeface="Times New Roman"/>
              </a:rPr>
              <a:t>1-3</a:t>
            </a:r>
            <a:endParaRPr sz="4000">
              <a:latin typeface="Times New Roman"/>
              <a:cs typeface="Times New Roman"/>
            </a:endParaRPr>
          </a:p>
        </p:txBody>
      </p:sp>
      <p:pic>
        <p:nvPicPr>
          <p:cNvPr id="3" name="object 3"/>
          <p:cNvPicPr/>
          <p:nvPr/>
        </p:nvPicPr>
        <p:blipFill>
          <a:blip r:embed="rId3" cstate="print"/>
          <a:stretch>
            <a:fillRect/>
          </a:stretch>
        </p:blipFill>
        <p:spPr>
          <a:xfrm>
            <a:off x="530351" y="1056894"/>
            <a:ext cx="8013954" cy="2106929"/>
          </a:xfrm>
          <a:prstGeom prst="rect">
            <a:avLst/>
          </a:prstGeom>
        </p:spPr>
      </p:pic>
      <p:sp>
        <p:nvSpPr>
          <p:cNvPr id="4" name="object 4"/>
          <p:cNvSpPr txBox="1"/>
          <p:nvPr/>
        </p:nvSpPr>
        <p:spPr>
          <a:xfrm>
            <a:off x="530351" y="1056894"/>
            <a:ext cx="8014334" cy="2106930"/>
          </a:xfrm>
          <a:prstGeom prst="rect">
            <a:avLst/>
          </a:prstGeom>
        </p:spPr>
        <p:txBody>
          <a:bodyPr vert="horz" wrap="square" lIns="0" tIns="56515" rIns="0" bIns="0" rtlCol="0">
            <a:spAutoFit/>
          </a:bodyPr>
          <a:lstStyle/>
          <a:p>
            <a:pPr marL="564515" marR="149860" indent="-342900">
              <a:lnSpc>
                <a:spcPct val="100000"/>
              </a:lnSpc>
              <a:spcBef>
                <a:spcPts val="445"/>
              </a:spcBef>
              <a:buFont typeface="Wingdings"/>
              <a:buChar char=""/>
              <a:tabLst>
                <a:tab pos="564515" algn="l"/>
                <a:tab pos="565150" algn="l"/>
                <a:tab pos="1226185" algn="l"/>
                <a:tab pos="2416175" algn="l"/>
                <a:tab pos="3300095" algn="l"/>
                <a:tab pos="4014470" algn="l"/>
                <a:tab pos="5224145" algn="l"/>
                <a:tab pos="6517005" algn="l"/>
                <a:tab pos="6904355" algn="l"/>
                <a:tab pos="7626984" algn="l"/>
              </a:tabLst>
            </a:pPr>
            <a:r>
              <a:rPr sz="2000" spc="130" dirty="0">
                <a:solidFill>
                  <a:srgbClr val="FFFFFF"/>
                </a:solidFill>
                <a:latin typeface="Times New Roman"/>
                <a:cs typeface="Times New Roman"/>
              </a:rPr>
              <a:t>The	</a:t>
            </a:r>
            <a:r>
              <a:rPr sz="2000" spc="335" dirty="0">
                <a:solidFill>
                  <a:srgbClr val="FFFFFF"/>
                </a:solidFill>
                <a:latin typeface="Times New Roman"/>
                <a:cs typeface="Times New Roman"/>
              </a:rPr>
              <a:t>W</a:t>
            </a:r>
            <a:r>
              <a:rPr sz="2000" spc="65" dirty="0">
                <a:solidFill>
                  <a:srgbClr val="FFFFFF"/>
                </a:solidFill>
                <a:latin typeface="Times New Roman"/>
                <a:cs typeface="Times New Roman"/>
              </a:rPr>
              <a:t>HE</a:t>
            </a:r>
            <a:r>
              <a:rPr sz="2000" spc="40" dirty="0">
                <a:solidFill>
                  <a:srgbClr val="FFFFFF"/>
                </a:solidFill>
                <a:latin typeface="Times New Roman"/>
                <a:cs typeface="Times New Roman"/>
              </a:rPr>
              <a:t>RE</a:t>
            </a:r>
            <a:r>
              <a:rPr sz="2000" dirty="0">
                <a:solidFill>
                  <a:srgbClr val="FFFFFF"/>
                </a:solidFill>
                <a:latin typeface="Times New Roman"/>
                <a:cs typeface="Times New Roman"/>
              </a:rPr>
              <a:t>	</a:t>
            </a:r>
            <a:r>
              <a:rPr sz="2000" spc="15" dirty="0">
                <a:solidFill>
                  <a:srgbClr val="FFFFFF"/>
                </a:solidFill>
                <a:latin typeface="Times New Roman"/>
                <a:cs typeface="Times New Roman"/>
              </a:rPr>
              <a:t>cla</a:t>
            </a:r>
            <a:r>
              <a:rPr sz="2000" spc="65" dirty="0">
                <a:solidFill>
                  <a:srgbClr val="FFFFFF"/>
                </a:solidFill>
                <a:latin typeface="Times New Roman"/>
                <a:cs typeface="Times New Roman"/>
              </a:rPr>
              <a:t>use</a:t>
            </a:r>
            <a:r>
              <a:rPr sz="2000" dirty="0">
                <a:solidFill>
                  <a:srgbClr val="FFFFFF"/>
                </a:solidFill>
                <a:latin typeface="Times New Roman"/>
                <a:cs typeface="Times New Roman"/>
              </a:rPr>
              <a:t>	</a:t>
            </a:r>
            <a:r>
              <a:rPr sz="2000" spc="90" dirty="0">
                <a:solidFill>
                  <a:srgbClr val="FFFFFF"/>
                </a:solidFill>
                <a:latin typeface="Times New Roman"/>
                <a:cs typeface="Times New Roman"/>
              </a:rPr>
              <a:t>with</a:t>
            </a:r>
            <a:r>
              <a:rPr sz="2000" dirty="0">
                <a:solidFill>
                  <a:srgbClr val="FFFFFF"/>
                </a:solidFill>
                <a:latin typeface="Times New Roman"/>
                <a:cs typeface="Times New Roman"/>
              </a:rPr>
              <a:t>	</a:t>
            </a:r>
            <a:r>
              <a:rPr sz="2000" spc="80" dirty="0">
                <a:solidFill>
                  <a:srgbClr val="FFFFFF"/>
                </a:solidFill>
                <a:latin typeface="Times New Roman"/>
                <a:cs typeface="Times New Roman"/>
              </a:rPr>
              <a:t>SELECT</a:t>
            </a:r>
            <a:r>
              <a:rPr sz="2000" dirty="0">
                <a:solidFill>
                  <a:srgbClr val="FFFFFF"/>
                </a:solidFill>
                <a:latin typeface="Times New Roman"/>
                <a:cs typeface="Times New Roman"/>
              </a:rPr>
              <a:t>	</a:t>
            </a:r>
            <a:r>
              <a:rPr sz="2000" spc="60" dirty="0">
                <a:solidFill>
                  <a:srgbClr val="FFFFFF"/>
                </a:solidFill>
                <a:latin typeface="Times New Roman"/>
                <a:cs typeface="Times New Roman"/>
              </a:rPr>
              <a:t>stat</a:t>
            </a:r>
            <a:r>
              <a:rPr sz="2000" spc="85" dirty="0">
                <a:solidFill>
                  <a:srgbClr val="FFFFFF"/>
                </a:solidFill>
                <a:latin typeface="Times New Roman"/>
                <a:cs typeface="Times New Roman"/>
              </a:rPr>
              <a:t>em</a:t>
            </a:r>
            <a:r>
              <a:rPr sz="2000" spc="55" dirty="0">
                <a:solidFill>
                  <a:srgbClr val="FFFFFF"/>
                </a:solidFill>
                <a:latin typeface="Times New Roman"/>
                <a:cs typeface="Times New Roman"/>
              </a:rPr>
              <a:t>e</a:t>
            </a:r>
            <a:r>
              <a:rPr sz="2000" spc="185" dirty="0">
                <a:solidFill>
                  <a:srgbClr val="FFFFFF"/>
                </a:solidFill>
                <a:latin typeface="Times New Roman"/>
                <a:cs typeface="Times New Roman"/>
              </a:rPr>
              <a:t>n</a:t>
            </a:r>
            <a:r>
              <a:rPr sz="2000" spc="125" dirty="0">
                <a:solidFill>
                  <a:srgbClr val="FFFFFF"/>
                </a:solidFill>
                <a:latin typeface="Times New Roman"/>
                <a:cs typeface="Times New Roman"/>
              </a:rPr>
              <a:t>t</a:t>
            </a:r>
            <a:r>
              <a:rPr sz="200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dirty="0">
                <a:solidFill>
                  <a:srgbClr val="FFFFFF"/>
                </a:solidFill>
                <a:latin typeface="Times New Roman"/>
                <a:cs typeface="Times New Roman"/>
              </a:rPr>
              <a:t>	</a:t>
            </a:r>
            <a:r>
              <a:rPr sz="2000" spc="100" dirty="0">
                <a:solidFill>
                  <a:srgbClr val="FFFFFF"/>
                </a:solidFill>
                <a:latin typeface="Times New Roman"/>
                <a:cs typeface="Times New Roman"/>
              </a:rPr>
              <a:t>to  </a:t>
            </a:r>
            <a:r>
              <a:rPr sz="2000" spc="65" dirty="0">
                <a:solidFill>
                  <a:srgbClr val="FFFFFF"/>
                </a:solidFill>
                <a:latin typeface="Times New Roman"/>
                <a:cs typeface="Times New Roman"/>
              </a:rPr>
              <a:t>conditionally</a:t>
            </a:r>
            <a:r>
              <a:rPr sz="2000" spc="-60" dirty="0">
                <a:solidFill>
                  <a:srgbClr val="FFFFFF"/>
                </a:solidFill>
                <a:latin typeface="Times New Roman"/>
                <a:cs typeface="Times New Roman"/>
              </a:rPr>
              <a:t> </a:t>
            </a:r>
            <a:r>
              <a:rPr sz="2000" spc="40" dirty="0">
                <a:solidFill>
                  <a:srgbClr val="FFFFFF"/>
                </a:solidFill>
                <a:latin typeface="Times New Roman"/>
                <a:cs typeface="Times New Roman"/>
              </a:rPr>
              <a:t>select</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or</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limit</a:t>
            </a:r>
            <a:r>
              <a:rPr sz="2000" spc="-80" dirty="0">
                <a:solidFill>
                  <a:srgbClr val="FFFFFF"/>
                </a:solidFill>
                <a:latin typeface="Times New Roman"/>
                <a:cs typeface="Times New Roman"/>
              </a:rPr>
              <a:t> </a:t>
            </a:r>
            <a:r>
              <a:rPr sz="2000" spc="114" dirty="0">
                <a:solidFill>
                  <a:srgbClr val="FFFFFF"/>
                </a:solidFill>
                <a:latin typeface="Times New Roman"/>
                <a:cs typeface="Times New Roman"/>
              </a:rPr>
              <a:t>the</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records</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retrieved</a:t>
            </a:r>
            <a:r>
              <a:rPr sz="2000" spc="-60" dirty="0">
                <a:solidFill>
                  <a:srgbClr val="FFFFFF"/>
                </a:solidFill>
                <a:latin typeface="Times New Roman"/>
                <a:cs typeface="Times New Roman"/>
              </a:rPr>
              <a:t> </a:t>
            </a:r>
            <a:r>
              <a:rPr sz="2000" spc="40" dirty="0">
                <a:solidFill>
                  <a:srgbClr val="FFFFFF"/>
                </a:solidFill>
                <a:latin typeface="Times New Roman"/>
                <a:cs typeface="Times New Roman"/>
              </a:rPr>
              <a:t>by</a:t>
            </a:r>
            <a:r>
              <a:rPr sz="2000" spc="-65" dirty="0">
                <a:solidFill>
                  <a:srgbClr val="FFFFFF"/>
                </a:solidFill>
                <a:latin typeface="Times New Roman"/>
                <a:cs typeface="Times New Roman"/>
              </a:rPr>
              <a:t> </a:t>
            </a:r>
            <a:r>
              <a:rPr sz="2000" spc="114"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query.</a:t>
            </a:r>
            <a:endParaRPr sz="2000">
              <a:latin typeface="Times New Roman"/>
              <a:cs typeface="Times New Roman"/>
            </a:endParaRPr>
          </a:p>
          <a:p>
            <a:pPr marL="564515" marR="152400" indent="-342900">
              <a:lnSpc>
                <a:spcPct val="100000"/>
              </a:lnSpc>
              <a:buFont typeface="Wingdings"/>
              <a:buChar char=""/>
              <a:tabLst>
                <a:tab pos="564515" algn="l"/>
                <a:tab pos="565150" algn="l"/>
              </a:tabLst>
            </a:pPr>
            <a:r>
              <a:rPr sz="2000" spc="175" dirty="0">
                <a:solidFill>
                  <a:srgbClr val="FFFFFF"/>
                </a:solidFill>
                <a:latin typeface="Times New Roman"/>
                <a:cs typeface="Times New Roman"/>
              </a:rPr>
              <a:t>A </a:t>
            </a:r>
            <a:r>
              <a:rPr sz="2000" spc="105" dirty="0">
                <a:solidFill>
                  <a:srgbClr val="FFFFFF"/>
                </a:solidFill>
                <a:latin typeface="Times New Roman"/>
                <a:cs typeface="Times New Roman"/>
              </a:rPr>
              <a:t>WHERE </a:t>
            </a:r>
            <a:r>
              <a:rPr sz="2000" spc="40" dirty="0">
                <a:solidFill>
                  <a:srgbClr val="FFFFFF"/>
                </a:solidFill>
                <a:latin typeface="Times New Roman"/>
                <a:cs typeface="Times New Roman"/>
              </a:rPr>
              <a:t>clause </a:t>
            </a:r>
            <a:r>
              <a:rPr sz="2000" spc="25" dirty="0">
                <a:solidFill>
                  <a:srgbClr val="FFFFFF"/>
                </a:solidFill>
                <a:latin typeface="Times New Roman"/>
                <a:cs typeface="Times New Roman"/>
              </a:rPr>
              <a:t>specifies </a:t>
            </a:r>
            <a:r>
              <a:rPr sz="2000" spc="30" dirty="0">
                <a:solidFill>
                  <a:srgbClr val="FFFFFF"/>
                </a:solidFill>
                <a:latin typeface="Times New Roman"/>
                <a:cs typeface="Times New Roman"/>
              </a:rPr>
              <a:t>a </a:t>
            </a:r>
            <a:r>
              <a:rPr sz="2000" spc="55" dirty="0">
                <a:solidFill>
                  <a:srgbClr val="FFFFFF"/>
                </a:solidFill>
                <a:latin typeface="Times New Roman"/>
                <a:cs typeface="Times New Roman"/>
              </a:rPr>
              <a:t>Boolean </a:t>
            </a:r>
            <a:r>
              <a:rPr sz="2000" spc="65" dirty="0">
                <a:solidFill>
                  <a:srgbClr val="FFFFFF"/>
                </a:solidFill>
                <a:latin typeface="Times New Roman"/>
                <a:cs typeface="Times New Roman"/>
              </a:rPr>
              <a:t>expression </a:t>
            </a:r>
            <a:r>
              <a:rPr sz="2000" spc="110" dirty="0">
                <a:solidFill>
                  <a:srgbClr val="FFFFFF"/>
                </a:solidFill>
                <a:latin typeface="Times New Roman"/>
                <a:cs typeface="Times New Roman"/>
              </a:rPr>
              <a:t>to </a:t>
            </a:r>
            <a:r>
              <a:rPr sz="2000" spc="75" dirty="0">
                <a:solidFill>
                  <a:srgbClr val="FFFFFF"/>
                </a:solidFill>
                <a:latin typeface="Times New Roman"/>
                <a:cs typeface="Times New Roman"/>
              </a:rPr>
              <a:t>test </a:t>
            </a:r>
            <a:r>
              <a:rPr sz="2000" spc="110" dirty="0">
                <a:solidFill>
                  <a:srgbClr val="FFFFFF"/>
                </a:solidFill>
                <a:latin typeface="Times New Roman"/>
                <a:cs typeface="Times New Roman"/>
              </a:rPr>
              <a:t>the </a:t>
            </a:r>
            <a:r>
              <a:rPr sz="2000" spc="55" dirty="0">
                <a:solidFill>
                  <a:srgbClr val="FFFFFF"/>
                </a:solidFill>
                <a:latin typeface="Times New Roman"/>
                <a:cs typeface="Times New Roman"/>
              </a:rPr>
              <a:t>rows  </a:t>
            </a:r>
            <a:r>
              <a:rPr sz="2000" spc="105" dirty="0">
                <a:solidFill>
                  <a:srgbClr val="FFFFFF"/>
                </a:solidFill>
                <a:latin typeface="Times New Roman"/>
                <a:cs typeface="Times New Roman"/>
              </a:rPr>
              <a:t>returned </a:t>
            </a:r>
            <a:r>
              <a:rPr sz="2000" spc="40" dirty="0">
                <a:solidFill>
                  <a:srgbClr val="FFFFFF"/>
                </a:solidFill>
                <a:latin typeface="Times New Roman"/>
                <a:cs typeface="Times New Roman"/>
              </a:rPr>
              <a:t>by </a:t>
            </a:r>
            <a:r>
              <a:rPr sz="2000" spc="110" dirty="0">
                <a:solidFill>
                  <a:srgbClr val="FFFFFF"/>
                </a:solidFill>
                <a:latin typeface="Times New Roman"/>
                <a:cs typeface="Times New Roman"/>
              </a:rPr>
              <a:t>the</a:t>
            </a:r>
            <a:r>
              <a:rPr sz="2000" spc="-335" dirty="0">
                <a:solidFill>
                  <a:srgbClr val="FFFFFF"/>
                </a:solidFill>
                <a:latin typeface="Times New Roman"/>
                <a:cs typeface="Times New Roman"/>
              </a:rPr>
              <a:t> </a:t>
            </a:r>
            <a:r>
              <a:rPr sz="2000" spc="65" dirty="0">
                <a:solidFill>
                  <a:srgbClr val="FFFFFF"/>
                </a:solidFill>
                <a:latin typeface="Times New Roman"/>
                <a:cs typeface="Times New Roman"/>
              </a:rPr>
              <a:t>query.</a:t>
            </a:r>
            <a:endParaRPr sz="2000">
              <a:latin typeface="Times New Roman"/>
              <a:cs typeface="Times New Roman"/>
            </a:endParaRPr>
          </a:p>
          <a:p>
            <a:pPr marL="564515" marR="149860" indent="-342900">
              <a:lnSpc>
                <a:spcPct val="100000"/>
              </a:lnSpc>
              <a:buFont typeface="Wingdings"/>
              <a:buChar char=""/>
              <a:tabLst>
                <a:tab pos="564515" algn="l"/>
                <a:tab pos="565150" algn="l"/>
              </a:tabLst>
            </a:pPr>
            <a:r>
              <a:rPr sz="2000" spc="130" dirty="0">
                <a:solidFill>
                  <a:srgbClr val="FFFFFF"/>
                </a:solidFill>
                <a:latin typeface="Times New Roman"/>
                <a:cs typeface="Times New Roman"/>
              </a:rPr>
              <a:t>The</a:t>
            </a:r>
            <a:r>
              <a:rPr sz="2000" spc="-15" dirty="0">
                <a:solidFill>
                  <a:srgbClr val="FFFFFF"/>
                </a:solidFill>
                <a:latin typeface="Times New Roman"/>
                <a:cs typeface="Times New Roman"/>
              </a:rPr>
              <a:t> </a:t>
            </a:r>
            <a:r>
              <a:rPr sz="2000" spc="75" dirty="0">
                <a:solidFill>
                  <a:srgbClr val="FFFFFF"/>
                </a:solidFill>
                <a:latin typeface="Times New Roman"/>
                <a:cs typeface="Times New Roman"/>
              </a:rPr>
              <a:t>row</a:t>
            </a:r>
            <a:r>
              <a:rPr sz="2000" spc="-1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10" dirty="0">
                <a:solidFill>
                  <a:srgbClr val="FFFFFF"/>
                </a:solidFill>
                <a:latin typeface="Times New Roman"/>
                <a:cs typeface="Times New Roman"/>
              </a:rPr>
              <a:t> </a:t>
            </a:r>
            <a:r>
              <a:rPr sz="2000" spc="105" dirty="0">
                <a:solidFill>
                  <a:srgbClr val="FFFFFF"/>
                </a:solidFill>
                <a:latin typeface="Times New Roman"/>
                <a:cs typeface="Times New Roman"/>
              </a:rPr>
              <a:t>returned</a:t>
            </a:r>
            <a:r>
              <a:rPr sz="2000" dirty="0">
                <a:solidFill>
                  <a:srgbClr val="FFFFFF"/>
                </a:solidFill>
                <a:latin typeface="Times New Roman"/>
                <a:cs typeface="Times New Roman"/>
              </a:rPr>
              <a:t> </a:t>
            </a:r>
            <a:r>
              <a:rPr sz="2000" spc="15" dirty="0">
                <a:solidFill>
                  <a:srgbClr val="FFFFFF"/>
                </a:solidFill>
                <a:latin typeface="Times New Roman"/>
                <a:cs typeface="Times New Roman"/>
              </a:rPr>
              <a:t>if</a:t>
            </a:r>
            <a:r>
              <a:rPr sz="2000" spc="-1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 dirty="0">
                <a:solidFill>
                  <a:srgbClr val="FFFFFF"/>
                </a:solidFill>
                <a:latin typeface="Times New Roman"/>
                <a:cs typeface="Times New Roman"/>
              </a:rPr>
              <a:t> </a:t>
            </a:r>
            <a:r>
              <a:rPr sz="2000" spc="65" dirty="0">
                <a:solidFill>
                  <a:srgbClr val="FFFFFF"/>
                </a:solidFill>
                <a:latin typeface="Times New Roman"/>
                <a:cs typeface="Times New Roman"/>
              </a:rPr>
              <a:t>expression</a:t>
            </a:r>
            <a:r>
              <a:rPr sz="200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10" dirty="0">
                <a:solidFill>
                  <a:srgbClr val="FFFFFF"/>
                </a:solidFill>
                <a:latin typeface="Times New Roman"/>
                <a:cs typeface="Times New Roman"/>
              </a:rPr>
              <a:t> </a:t>
            </a:r>
            <a:r>
              <a:rPr sz="2000" spc="100" dirty="0">
                <a:solidFill>
                  <a:srgbClr val="FFFFFF"/>
                </a:solidFill>
                <a:latin typeface="Times New Roman"/>
                <a:cs typeface="Times New Roman"/>
              </a:rPr>
              <a:t>true</a:t>
            </a:r>
            <a:r>
              <a:rPr sz="2000" spc="-10" dirty="0">
                <a:solidFill>
                  <a:srgbClr val="FFFFFF"/>
                </a:solidFill>
                <a:latin typeface="Times New Roman"/>
                <a:cs typeface="Times New Roman"/>
              </a:rPr>
              <a:t> </a:t>
            </a:r>
            <a:r>
              <a:rPr sz="2000" spc="114" dirty="0">
                <a:solidFill>
                  <a:srgbClr val="FFFFFF"/>
                </a:solidFill>
                <a:latin typeface="Times New Roman"/>
                <a:cs typeface="Times New Roman"/>
              </a:rPr>
              <a:t>and</a:t>
            </a:r>
            <a:r>
              <a:rPr sz="2000" spc="-1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10" dirty="0">
                <a:solidFill>
                  <a:srgbClr val="FFFFFF"/>
                </a:solidFill>
                <a:latin typeface="Times New Roman"/>
                <a:cs typeface="Times New Roman"/>
              </a:rPr>
              <a:t> </a:t>
            </a:r>
            <a:r>
              <a:rPr sz="2000" spc="60" dirty="0">
                <a:solidFill>
                  <a:srgbClr val="FFFFFF"/>
                </a:solidFill>
                <a:latin typeface="Times New Roman"/>
                <a:cs typeface="Times New Roman"/>
              </a:rPr>
              <a:t>discarded</a:t>
            </a:r>
            <a:r>
              <a:rPr sz="2000" spc="-10" dirty="0">
                <a:solidFill>
                  <a:srgbClr val="FFFFFF"/>
                </a:solidFill>
                <a:latin typeface="Times New Roman"/>
                <a:cs typeface="Times New Roman"/>
              </a:rPr>
              <a:t> </a:t>
            </a:r>
            <a:r>
              <a:rPr sz="2000" spc="15" dirty="0">
                <a:solidFill>
                  <a:srgbClr val="FFFFFF"/>
                </a:solidFill>
                <a:latin typeface="Times New Roman"/>
                <a:cs typeface="Times New Roman"/>
              </a:rPr>
              <a:t>if</a:t>
            </a:r>
            <a:r>
              <a:rPr sz="2000" spc="-15" dirty="0">
                <a:solidFill>
                  <a:srgbClr val="FFFFFF"/>
                </a:solidFill>
                <a:latin typeface="Times New Roman"/>
                <a:cs typeface="Times New Roman"/>
              </a:rPr>
              <a:t> </a:t>
            </a:r>
            <a:r>
              <a:rPr sz="2000" spc="65" dirty="0">
                <a:solidFill>
                  <a:srgbClr val="FFFFFF"/>
                </a:solidFill>
                <a:latin typeface="Times New Roman"/>
                <a:cs typeface="Times New Roman"/>
              </a:rPr>
              <a:t>it</a:t>
            </a:r>
            <a:r>
              <a:rPr sz="2000" spc="-15" dirty="0">
                <a:solidFill>
                  <a:srgbClr val="FFFFFF"/>
                </a:solidFill>
                <a:latin typeface="Times New Roman"/>
                <a:cs typeface="Times New Roman"/>
              </a:rPr>
              <a:t> </a:t>
            </a:r>
            <a:r>
              <a:rPr sz="2000" spc="5" dirty="0">
                <a:solidFill>
                  <a:srgbClr val="FFFFFF"/>
                </a:solidFill>
                <a:latin typeface="Times New Roman"/>
                <a:cs typeface="Times New Roman"/>
              </a:rPr>
              <a:t>is  </a:t>
            </a:r>
            <a:r>
              <a:rPr sz="2000" spc="15" dirty="0">
                <a:solidFill>
                  <a:srgbClr val="FFFFFF"/>
                </a:solidFill>
                <a:latin typeface="Times New Roman"/>
                <a:cs typeface="Times New Roman"/>
              </a:rPr>
              <a:t>false.</a:t>
            </a:r>
            <a:endParaRPr sz="2000">
              <a:latin typeface="Times New Roman"/>
              <a:cs typeface="Times New Roman"/>
            </a:endParaRPr>
          </a:p>
        </p:txBody>
      </p:sp>
      <p:pic>
        <p:nvPicPr>
          <p:cNvPr id="5" name="object 5"/>
          <p:cNvPicPr/>
          <p:nvPr/>
        </p:nvPicPr>
        <p:blipFill>
          <a:blip r:embed="rId4" cstate="print"/>
          <a:stretch>
            <a:fillRect/>
          </a:stretch>
        </p:blipFill>
        <p:spPr>
          <a:xfrm>
            <a:off x="2377439" y="3559302"/>
            <a:ext cx="4347210" cy="2658618"/>
          </a:xfrm>
          <a:prstGeom prst="rect">
            <a:avLst/>
          </a:prstGeom>
        </p:spPr>
      </p:pic>
      <p:sp>
        <p:nvSpPr>
          <p:cNvPr id="6" name="object 6"/>
          <p:cNvSpPr txBox="1"/>
          <p:nvPr/>
        </p:nvSpPr>
        <p:spPr>
          <a:xfrm>
            <a:off x="4133341" y="6245605"/>
            <a:ext cx="791845" cy="238760"/>
          </a:xfrm>
          <a:prstGeom prst="rect">
            <a:avLst/>
          </a:prstGeom>
        </p:spPr>
        <p:txBody>
          <a:bodyPr vert="horz" wrap="square" lIns="0" tIns="12065" rIns="0" bIns="0" rtlCol="0">
            <a:spAutoFit/>
          </a:bodyPr>
          <a:lstStyle/>
          <a:p>
            <a:pPr marL="12700">
              <a:lnSpc>
                <a:spcPct val="100000"/>
              </a:lnSpc>
              <a:spcBef>
                <a:spcPts val="95"/>
              </a:spcBef>
            </a:pPr>
            <a:r>
              <a:rPr sz="1400" b="1" spc="85" dirty="0">
                <a:latin typeface="Arial"/>
                <a:cs typeface="Arial"/>
              </a:rPr>
              <a:t>O</a:t>
            </a:r>
            <a:r>
              <a:rPr sz="1400" b="1" spc="-90" dirty="0">
                <a:latin typeface="Arial"/>
                <a:cs typeface="Arial"/>
              </a:rPr>
              <a:t>pe</a:t>
            </a:r>
            <a:r>
              <a:rPr sz="1400" b="1" spc="-80" dirty="0">
                <a:latin typeface="Arial"/>
                <a:cs typeface="Arial"/>
              </a:rPr>
              <a:t>r</a:t>
            </a:r>
            <a:r>
              <a:rPr sz="1400" b="1" spc="-145" dirty="0">
                <a:latin typeface="Arial"/>
                <a:cs typeface="Arial"/>
              </a:rPr>
              <a:t>a</a:t>
            </a:r>
            <a:r>
              <a:rPr sz="1400" b="1" spc="-30" dirty="0">
                <a:latin typeface="Arial"/>
                <a:cs typeface="Arial"/>
              </a:rPr>
              <a:t>t</a:t>
            </a:r>
            <a:r>
              <a:rPr sz="1400" b="1" spc="-75" dirty="0">
                <a:latin typeface="Arial"/>
                <a:cs typeface="Arial"/>
              </a:rPr>
              <a:t>o</a:t>
            </a:r>
            <a:r>
              <a:rPr sz="1400" b="1" spc="-40" dirty="0">
                <a:latin typeface="Arial"/>
                <a:cs typeface="Arial"/>
              </a:rPr>
              <a:t>r</a:t>
            </a:r>
            <a:r>
              <a:rPr sz="1400" b="1" spc="-229" dirty="0">
                <a:latin typeface="Arial"/>
                <a:cs typeface="Arial"/>
              </a:rPr>
              <a:t>s</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16</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624"/>
            <a:ext cx="5894070" cy="635635"/>
          </a:xfrm>
          <a:prstGeom prst="rect">
            <a:avLst/>
          </a:prstGeom>
        </p:spPr>
        <p:txBody>
          <a:bodyPr vert="horz" wrap="square" lIns="0" tIns="12700" rIns="0" bIns="0" rtlCol="0">
            <a:spAutoFit/>
          </a:bodyPr>
          <a:lstStyle/>
          <a:p>
            <a:pPr marL="12700">
              <a:lnSpc>
                <a:spcPct val="100000"/>
              </a:lnSpc>
              <a:spcBef>
                <a:spcPts val="100"/>
              </a:spcBef>
            </a:pPr>
            <a:r>
              <a:rPr sz="4000" b="0" spc="165" dirty="0">
                <a:latin typeface="Times New Roman"/>
                <a:cs typeface="Times New Roman"/>
              </a:rPr>
              <a:t>SELECT</a:t>
            </a:r>
            <a:r>
              <a:rPr sz="4000" b="0" spc="-175" dirty="0">
                <a:latin typeface="Times New Roman"/>
                <a:cs typeface="Times New Roman"/>
              </a:rPr>
              <a:t> </a:t>
            </a:r>
            <a:r>
              <a:rPr sz="4000" b="0" spc="180" dirty="0">
                <a:latin typeface="Times New Roman"/>
                <a:cs typeface="Times New Roman"/>
              </a:rPr>
              <a:t>with</a:t>
            </a:r>
            <a:r>
              <a:rPr sz="4000" b="0" spc="-170" dirty="0">
                <a:latin typeface="Times New Roman"/>
                <a:cs typeface="Times New Roman"/>
              </a:rPr>
              <a:t> </a:t>
            </a:r>
            <a:r>
              <a:rPr sz="4000" b="0" spc="215" dirty="0">
                <a:latin typeface="Times New Roman"/>
                <a:cs typeface="Times New Roman"/>
              </a:rPr>
              <a:t>WHERE</a:t>
            </a:r>
            <a:r>
              <a:rPr sz="4000" b="0" spc="-175" dirty="0">
                <a:latin typeface="Times New Roman"/>
                <a:cs typeface="Times New Roman"/>
              </a:rPr>
              <a:t> </a:t>
            </a:r>
            <a:r>
              <a:rPr sz="4000" b="0" spc="-165" dirty="0">
                <a:latin typeface="Times New Roman"/>
                <a:cs typeface="Times New Roman"/>
              </a:rPr>
              <a:t>2-3</a:t>
            </a:r>
            <a:endParaRPr sz="4000">
              <a:latin typeface="Times New Roman"/>
              <a:cs typeface="Times New Roman"/>
            </a:endParaRPr>
          </a:p>
        </p:txBody>
      </p:sp>
      <p:pic>
        <p:nvPicPr>
          <p:cNvPr id="3" name="object 3"/>
          <p:cNvPicPr/>
          <p:nvPr/>
        </p:nvPicPr>
        <p:blipFill>
          <a:blip r:embed="rId3" cstate="print"/>
          <a:stretch>
            <a:fillRect/>
          </a:stretch>
        </p:blipFill>
        <p:spPr>
          <a:xfrm>
            <a:off x="1772411" y="1035558"/>
            <a:ext cx="6119622" cy="1825752"/>
          </a:xfrm>
          <a:prstGeom prst="rect">
            <a:avLst/>
          </a:prstGeom>
        </p:spPr>
      </p:pic>
      <p:sp>
        <p:nvSpPr>
          <p:cNvPr id="4" name="object 4"/>
          <p:cNvSpPr txBox="1"/>
          <p:nvPr/>
        </p:nvSpPr>
        <p:spPr>
          <a:xfrm>
            <a:off x="3507740" y="2905760"/>
            <a:ext cx="230124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SELECT</a:t>
            </a:r>
            <a:r>
              <a:rPr sz="1400" b="1" spc="-125" dirty="0">
                <a:latin typeface="Arial"/>
                <a:cs typeface="Arial"/>
              </a:rPr>
              <a:t> </a:t>
            </a:r>
            <a:r>
              <a:rPr sz="1400" b="1" spc="-25" dirty="0">
                <a:latin typeface="Arial"/>
                <a:cs typeface="Arial"/>
              </a:rPr>
              <a:t>with</a:t>
            </a:r>
            <a:r>
              <a:rPr sz="1400" b="1" spc="-120" dirty="0">
                <a:latin typeface="Arial"/>
                <a:cs typeface="Arial"/>
              </a:rPr>
              <a:t> </a:t>
            </a:r>
            <a:r>
              <a:rPr sz="1400" b="1" spc="10" dirty="0">
                <a:latin typeface="Arial"/>
                <a:cs typeface="Arial"/>
              </a:rPr>
              <a:t>WHERE</a:t>
            </a:r>
            <a:r>
              <a:rPr sz="1400" b="1" spc="-110" dirty="0">
                <a:latin typeface="Arial"/>
                <a:cs typeface="Arial"/>
              </a:rPr>
              <a:t> </a:t>
            </a:r>
            <a:r>
              <a:rPr sz="1400" b="1" spc="-125" dirty="0">
                <a:latin typeface="Arial"/>
                <a:cs typeface="Arial"/>
              </a:rPr>
              <a:t>clause</a:t>
            </a:r>
            <a:endParaRPr sz="1400">
              <a:latin typeface="Arial"/>
              <a:cs typeface="Arial"/>
            </a:endParaRPr>
          </a:p>
        </p:txBody>
      </p:sp>
      <p:pic>
        <p:nvPicPr>
          <p:cNvPr id="5" name="object 5"/>
          <p:cNvPicPr/>
          <p:nvPr/>
        </p:nvPicPr>
        <p:blipFill>
          <a:blip r:embed="rId4" cstate="print"/>
          <a:stretch>
            <a:fillRect/>
          </a:stretch>
        </p:blipFill>
        <p:spPr>
          <a:xfrm>
            <a:off x="1772411" y="3429000"/>
            <a:ext cx="6232397" cy="2441448"/>
          </a:xfrm>
          <a:prstGeom prst="rect">
            <a:avLst/>
          </a:prstGeom>
        </p:spPr>
      </p:pic>
      <p:sp>
        <p:nvSpPr>
          <p:cNvPr id="6" name="object 6"/>
          <p:cNvSpPr txBox="1"/>
          <p:nvPr/>
        </p:nvSpPr>
        <p:spPr>
          <a:xfrm>
            <a:off x="3195066" y="5868670"/>
            <a:ext cx="315341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Output</a:t>
            </a:r>
            <a:r>
              <a:rPr sz="1400" b="1" spc="-120" dirty="0">
                <a:latin typeface="Arial"/>
                <a:cs typeface="Arial"/>
              </a:rPr>
              <a:t> </a:t>
            </a:r>
            <a:r>
              <a:rPr sz="1400" b="1" spc="-45" dirty="0">
                <a:latin typeface="Arial"/>
                <a:cs typeface="Arial"/>
              </a:rPr>
              <a:t>of</a:t>
            </a:r>
            <a:r>
              <a:rPr sz="1400" b="1" spc="-110" dirty="0">
                <a:latin typeface="Arial"/>
                <a:cs typeface="Arial"/>
              </a:rPr>
              <a:t> </a:t>
            </a:r>
            <a:r>
              <a:rPr sz="1400" b="1" spc="-30" dirty="0">
                <a:latin typeface="Arial"/>
                <a:cs typeface="Arial"/>
              </a:rPr>
              <a:t>Where</a:t>
            </a:r>
            <a:r>
              <a:rPr sz="1400" b="1" spc="-130" dirty="0">
                <a:latin typeface="Arial"/>
                <a:cs typeface="Arial"/>
              </a:rPr>
              <a:t> </a:t>
            </a:r>
            <a:r>
              <a:rPr sz="1400" b="1" spc="-80" dirty="0">
                <a:latin typeface="Arial"/>
                <a:cs typeface="Arial"/>
              </a:rPr>
              <a:t>Clause</a:t>
            </a:r>
            <a:r>
              <a:rPr sz="1400" b="1" spc="-125" dirty="0">
                <a:latin typeface="Arial"/>
                <a:cs typeface="Arial"/>
              </a:rPr>
              <a:t> </a:t>
            </a:r>
            <a:r>
              <a:rPr sz="1400" b="1" spc="-25" dirty="0">
                <a:latin typeface="Arial"/>
                <a:cs typeface="Arial"/>
              </a:rPr>
              <a:t>with</a:t>
            </a:r>
            <a:r>
              <a:rPr sz="1400" b="1" spc="-120" dirty="0">
                <a:latin typeface="Arial"/>
                <a:cs typeface="Arial"/>
              </a:rPr>
              <a:t> </a:t>
            </a:r>
            <a:r>
              <a:rPr sz="1400" b="1" spc="-85" dirty="0">
                <a:latin typeface="Arial"/>
                <a:cs typeface="Arial"/>
              </a:rPr>
              <a:t>&lt;</a:t>
            </a:r>
            <a:r>
              <a:rPr sz="1400" b="1" spc="-105" dirty="0">
                <a:latin typeface="Arial"/>
                <a:cs typeface="Arial"/>
              </a:rPr>
              <a:t> </a:t>
            </a:r>
            <a:r>
              <a:rPr sz="1400" b="1" spc="-55" dirty="0">
                <a:latin typeface="Arial"/>
                <a:cs typeface="Arial"/>
              </a:rPr>
              <a:t>Operator</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17</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624"/>
            <a:ext cx="5861050" cy="635635"/>
          </a:xfrm>
          <a:prstGeom prst="rect">
            <a:avLst/>
          </a:prstGeom>
        </p:spPr>
        <p:txBody>
          <a:bodyPr vert="horz" wrap="square" lIns="0" tIns="12700" rIns="0" bIns="0" rtlCol="0">
            <a:spAutoFit/>
          </a:bodyPr>
          <a:lstStyle/>
          <a:p>
            <a:pPr marL="12700">
              <a:lnSpc>
                <a:spcPct val="100000"/>
              </a:lnSpc>
              <a:spcBef>
                <a:spcPts val="100"/>
              </a:spcBef>
            </a:pPr>
            <a:r>
              <a:rPr sz="4000" b="0" spc="165" dirty="0">
                <a:latin typeface="Times New Roman"/>
                <a:cs typeface="Times New Roman"/>
              </a:rPr>
              <a:t>SELECT</a:t>
            </a:r>
            <a:r>
              <a:rPr sz="4000" b="0" spc="-175" dirty="0">
                <a:latin typeface="Times New Roman"/>
                <a:cs typeface="Times New Roman"/>
              </a:rPr>
              <a:t> </a:t>
            </a:r>
            <a:r>
              <a:rPr sz="4000" b="0" spc="180" dirty="0">
                <a:latin typeface="Times New Roman"/>
                <a:cs typeface="Times New Roman"/>
              </a:rPr>
              <a:t>with</a:t>
            </a:r>
            <a:r>
              <a:rPr sz="4000" b="0" spc="-170" dirty="0">
                <a:latin typeface="Times New Roman"/>
                <a:cs typeface="Times New Roman"/>
              </a:rPr>
              <a:t> </a:t>
            </a:r>
            <a:r>
              <a:rPr sz="4000" b="0" spc="215" dirty="0">
                <a:latin typeface="Times New Roman"/>
                <a:cs typeface="Times New Roman"/>
              </a:rPr>
              <a:t>WHERE</a:t>
            </a:r>
            <a:r>
              <a:rPr sz="4000" b="0" spc="-175" dirty="0">
                <a:latin typeface="Times New Roman"/>
                <a:cs typeface="Times New Roman"/>
              </a:rPr>
              <a:t> </a:t>
            </a:r>
            <a:r>
              <a:rPr sz="4000" b="0" spc="-250" dirty="0">
                <a:latin typeface="Times New Roman"/>
                <a:cs typeface="Times New Roman"/>
              </a:rPr>
              <a:t>3-3</a:t>
            </a:r>
            <a:endParaRPr sz="4000">
              <a:latin typeface="Times New Roman"/>
              <a:cs typeface="Times New Roman"/>
            </a:endParaRPr>
          </a:p>
        </p:txBody>
      </p:sp>
      <p:pic>
        <p:nvPicPr>
          <p:cNvPr id="3" name="object 3"/>
          <p:cNvPicPr/>
          <p:nvPr/>
        </p:nvPicPr>
        <p:blipFill>
          <a:blip r:embed="rId3" cstate="print"/>
          <a:stretch>
            <a:fillRect/>
          </a:stretch>
        </p:blipFill>
        <p:spPr>
          <a:xfrm>
            <a:off x="1195577" y="2173223"/>
            <a:ext cx="6963918" cy="2820924"/>
          </a:xfrm>
          <a:prstGeom prst="rect">
            <a:avLst/>
          </a:prstGeom>
        </p:spPr>
      </p:pic>
      <p:sp>
        <p:nvSpPr>
          <p:cNvPr id="4" name="object 4"/>
          <p:cNvSpPr txBox="1"/>
          <p:nvPr/>
        </p:nvSpPr>
        <p:spPr>
          <a:xfrm>
            <a:off x="3786123" y="5146040"/>
            <a:ext cx="1607185"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Arial"/>
                <a:cs typeface="Arial"/>
              </a:rPr>
              <a:t>Wildcard</a:t>
            </a:r>
            <a:r>
              <a:rPr sz="1400" b="1" spc="-150" dirty="0">
                <a:latin typeface="Arial"/>
                <a:cs typeface="Arial"/>
              </a:rPr>
              <a:t> </a:t>
            </a:r>
            <a:r>
              <a:rPr sz="1400" b="1" spc="-85" dirty="0">
                <a:latin typeface="Arial"/>
                <a:cs typeface="Arial"/>
              </a:rPr>
              <a:t>Characters</a:t>
            </a:r>
            <a:endParaRPr sz="1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048" y="0"/>
            <a:ext cx="4354830" cy="635635"/>
          </a:xfrm>
          <a:prstGeom prst="rect">
            <a:avLst/>
          </a:prstGeom>
        </p:spPr>
        <p:txBody>
          <a:bodyPr vert="horz" wrap="square" lIns="0" tIns="12700" rIns="0" bIns="0" rtlCol="0">
            <a:spAutoFit/>
          </a:bodyPr>
          <a:lstStyle/>
          <a:p>
            <a:pPr marL="12700">
              <a:lnSpc>
                <a:spcPct val="100000"/>
              </a:lnSpc>
              <a:spcBef>
                <a:spcPts val="100"/>
              </a:spcBef>
            </a:pPr>
            <a:r>
              <a:rPr sz="4000" b="0" spc="300" dirty="0">
                <a:latin typeface="Times New Roman"/>
                <a:cs typeface="Times New Roman"/>
              </a:rPr>
              <a:t>GROUP </a:t>
            </a:r>
            <a:r>
              <a:rPr sz="4000" b="0" spc="-95" dirty="0">
                <a:latin typeface="Times New Roman"/>
                <a:cs typeface="Times New Roman"/>
              </a:rPr>
              <a:t>BY</a:t>
            </a:r>
            <a:r>
              <a:rPr sz="4000" b="0" spc="-645" dirty="0">
                <a:latin typeface="Times New Roman"/>
                <a:cs typeface="Times New Roman"/>
              </a:rPr>
              <a:t> </a:t>
            </a:r>
            <a:r>
              <a:rPr sz="4000" b="0" spc="170" dirty="0">
                <a:latin typeface="Times New Roman"/>
                <a:cs typeface="Times New Roman"/>
              </a:rPr>
              <a:t>Clause</a:t>
            </a:r>
            <a:endParaRPr sz="4000">
              <a:latin typeface="Times New Roman"/>
              <a:cs typeface="Times New Roman"/>
            </a:endParaRPr>
          </a:p>
        </p:txBody>
      </p:sp>
      <p:sp>
        <p:nvSpPr>
          <p:cNvPr id="3" name="object 3"/>
          <p:cNvSpPr/>
          <p:nvPr/>
        </p:nvSpPr>
        <p:spPr>
          <a:xfrm>
            <a:off x="432054" y="994409"/>
            <a:ext cx="8255000" cy="2002155"/>
          </a:xfrm>
          <a:custGeom>
            <a:avLst/>
            <a:gdLst/>
            <a:ahLst/>
            <a:cxnLst/>
            <a:rect l="l" t="t" r="r" b="b"/>
            <a:pathLst>
              <a:path w="8255000" h="2002155">
                <a:moveTo>
                  <a:pt x="8254746" y="333629"/>
                </a:moveTo>
                <a:lnTo>
                  <a:pt x="8251126" y="284327"/>
                </a:lnTo>
                <a:lnTo>
                  <a:pt x="8240611" y="237274"/>
                </a:lnTo>
                <a:lnTo>
                  <a:pt x="8223732" y="192976"/>
                </a:lnTo>
                <a:lnTo>
                  <a:pt x="8200999" y="151968"/>
                </a:lnTo>
                <a:lnTo>
                  <a:pt x="8172907" y="114744"/>
                </a:lnTo>
                <a:lnTo>
                  <a:pt x="8140001" y="81838"/>
                </a:lnTo>
                <a:lnTo>
                  <a:pt x="8102778" y="53746"/>
                </a:lnTo>
                <a:lnTo>
                  <a:pt x="8061769" y="31013"/>
                </a:lnTo>
                <a:lnTo>
                  <a:pt x="8017472" y="14135"/>
                </a:lnTo>
                <a:lnTo>
                  <a:pt x="7970418" y="3619"/>
                </a:lnTo>
                <a:lnTo>
                  <a:pt x="7921117" y="0"/>
                </a:lnTo>
                <a:lnTo>
                  <a:pt x="333641" y="0"/>
                </a:lnTo>
                <a:lnTo>
                  <a:pt x="284327" y="3619"/>
                </a:lnTo>
                <a:lnTo>
                  <a:pt x="237274" y="14135"/>
                </a:lnTo>
                <a:lnTo>
                  <a:pt x="192976" y="31013"/>
                </a:lnTo>
                <a:lnTo>
                  <a:pt x="151968" y="53746"/>
                </a:lnTo>
                <a:lnTo>
                  <a:pt x="114744" y="81838"/>
                </a:lnTo>
                <a:lnTo>
                  <a:pt x="81826" y="114744"/>
                </a:lnTo>
                <a:lnTo>
                  <a:pt x="53746" y="151968"/>
                </a:lnTo>
                <a:lnTo>
                  <a:pt x="31000" y="192976"/>
                </a:lnTo>
                <a:lnTo>
                  <a:pt x="14122" y="237274"/>
                </a:lnTo>
                <a:lnTo>
                  <a:pt x="3606" y="284327"/>
                </a:lnTo>
                <a:lnTo>
                  <a:pt x="0" y="333629"/>
                </a:lnTo>
                <a:lnTo>
                  <a:pt x="0" y="1668145"/>
                </a:lnTo>
                <a:lnTo>
                  <a:pt x="3606" y="1717459"/>
                </a:lnTo>
                <a:lnTo>
                  <a:pt x="14122" y="1764512"/>
                </a:lnTo>
                <a:lnTo>
                  <a:pt x="31000" y="1808810"/>
                </a:lnTo>
                <a:lnTo>
                  <a:pt x="53746" y="1849818"/>
                </a:lnTo>
                <a:lnTo>
                  <a:pt x="81826" y="1887042"/>
                </a:lnTo>
                <a:lnTo>
                  <a:pt x="114744" y="1919947"/>
                </a:lnTo>
                <a:lnTo>
                  <a:pt x="151968" y="1948040"/>
                </a:lnTo>
                <a:lnTo>
                  <a:pt x="192976" y="1970773"/>
                </a:lnTo>
                <a:lnTo>
                  <a:pt x="237274" y="1987651"/>
                </a:lnTo>
                <a:lnTo>
                  <a:pt x="284327" y="1998167"/>
                </a:lnTo>
                <a:lnTo>
                  <a:pt x="333641" y="2001774"/>
                </a:lnTo>
                <a:lnTo>
                  <a:pt x="7921117" y="2001774"/>
                </a:lnTo>
                <a:lnTo>
                  <a:pt x="7970418" y="1998167"/>
                </a:lnTo>
                <a:lnTo>
                  <a:pt x="8017472" y="1987651"/>
                </a:lnTo>
                <a:lnTo>
                  <a:pt x="8061769" y="1970773"/>
                </a:lnTo>
                <a:lnTo>
                  <a:pt x="8102778" y="1948040"/>
                </a:lnTo>
                <a:lnTo>
                  <a:pt x="8140001" y="1919947"/>
                </a:lnTo>
                <a:lnTo>
                  <a:pt x="8172907" y="1887042"/>
                </a:lnTo>
                <a:lnTo>
                  <a:pt x="8200999" y="1849818"/>
                </a:lnTo>
                <a:lnTo>
                  <a:pt x="8223732" y="1808810"/>
                </a:lnTo>
                <a:lnTo>
                  <a:pt x="8240611" y="1764512"/>
                </a:lnTo>
                <a:lnTo>
                  <a:pt x="8251126" y="1717459"/>
                </a:lnTo>
                <a:lnTo>
                  <a:pt x="8254746" y="1668145"/>
                </a:lnTo>
                <a:lnTo>
                  <a:pt x="8254746" y="333629"/>
                </a:lnTo>
                <a:close/>
              </a:path>
            </a:pathLst>
          </a:custGeom>
          <a:solidFill>
            <a:srgbClr val="F79546"/>
          </a:solidFill>
        </p:spPr>
        <p:txBody>
          <a:bodyPr wrap="square" lIns="0" tIns="0" rIns="0" bIns="0" rtlCol="0"/>
          <a:lstStyle/>
          <a:p>
            <a:endParaRPr/>
          </a:p>
        </p:txBody>
      </p:sp>
      <p:sp>
        <p:nvSpPr>
          <p:cNvPr id="4" name="object 4"/>
          <p:cNvSpPr txBox="1"/>
          <p:nvPr/>
        </p:nvSpPr>
        <p:spPr>
          <a:xfrm>
            <a:off x="574294" y="1147318"/>
            <a:ext cx="7986395" cy="1569085"/>
          </a:xfrm>
          <a:prstGeom prst="rect">
            <a:avLst/>
          </a:prstGeom>
        </p:spPr>
        <p:txBody>
          <a:bodyPr vert="horz" wrap="square" lIns="0" tIns="50800" rIns="0" bIns="0" rtlCol="0">
            <a:spAutoFit/>
          </a:bodyPr>
          <a:lstStyle/>
          <a:p>
            <a:pPr marL="355600" marR="5080" indent="-342900">
              <a:lnSpc>
                <a:spcPts val="2380"/>
              </a:lnSpc>
              <a:spcBef>
                <a:spcPts val="400"/>
              </a:spcBef>
              <a:buFont typeface="Wingdings"/>
              <a:buChar char=""/>
              <a:tabLst>
                <a:tab pos="355600" algn="l"/>
                <a:tab pos="979805" algn="l"/>
                <a:tab pos="2165350" algn="l"/>
                <a:tab pos="2673350" algn="l"/>
                <a:tab pos="3540125" algn="l"/>
                <a:tab pos="4839335" algn="l"/>
                <a:tab pos="5362575" algn="l"/>
                <a:tab pos="6509384" algn="l"/>
                <a:tab pos="7134225" algn="l"/>
                <a:tab pos="7715884" algn="l"/>
              </a:tabLst>
            </a:pPr>
            <a:r>
              <a:rPr sz="2200" spc="150" dirty="0">
                <a:solidFill>
                  <a:srgbClr val="FFFFFF"/>
                </a:solidFill>
                <a:latin typeface="Times New Roman"/>
                <a:cs typeface="Times New Roman"/>
              </a:rPr>
              <a:t>The	</a:t>
            </a:r>
            <a:r>
              <a:rPr sz="2200" spc="170" dirty="0">
                <a:solidFill>
                  <a:srgbClr val="FFFFFF"/>
                </a:solidFill>
                <a:latin typeface="Times New Roman"/>
                <a:cs typeface="Times New Roman"/>
              </a:rPr>
              <a:t>G</a:t>
            </a:r>
            <a:r>
              <a:rPr sz="2200" spc="145" dirty="0">
                <a:solidFill>
                  <a:srgbClr val="FFFFFF"/>
                </a:solidFill>
                <a:latin typeface="Times New Roman"/>
                <a:cs typeface="Times New Roman"/>
              </a:rPr>
              <a:t>R</a:t>
            </a:r>
            <a:r>
              <a:rPr sz="2200" spc="280" dirty="0">
                <a:solidFill>
                  <a:srgbClr val="FFFFFF"/>
                </a:solidFill>
                <a:latin typeface="Times New Roman"/>
                <a:cs typeface="Times New Roman"/>
              </a:rPr>
              <a:t>O</a:t>
            </a:r>
            <a:r>
              <a:rPr sz="2200" spc="195" dirty="0">
                <a:solidFill>
                  <a:srgbClr val="FFFFFF"/>
                </a:solidFill>
                <a:latin typeface="Times New Roman"/>
                <a:cs typeface="Times New Roman"/>
              </a:rPr>
              <a:t>U</a:t>
            </a:r>
            <a:r>
              <a:rPr sz="2200" spc="15" dirty="0">
                <a:solidFill>
                  <a:srgbClr val="FFFFFF"/>
                </a:solidFill>
                <a:latin typeface="Times New Roman"/>
                <a:cs typeface="Times New Roman"/>
              </a:rPr>
              <a:t>P</a:t>
            </a:r>
            <a:r>
              <a:rPr sz="2200" dirty="0">
                <a:solidFill>
                  <a:srgbClr val="FFFFFF"/>
                </a:solidFill>
                <a:latin typeface="Times New Roman"/>
                <a:cs typeface="Times New Roman"/>
              </a:rPr>
              <a:t>	</a:t>
            </a:r>
            <a:r>
              <a:rPr sz="2200" spc="-60" dirty="0">
                <a:solidFill>
                  <a:srgbClr val="FFFFFF"/>
                </a:solidFill>
                <a:latin typeface="Times New Roman"/>
                <a:cs typeface="Times New Roman"/>
              </a:rPr>
              <a:t>B</a:t>
            </a:r>
            <a:r>
              <a:rPr sz="2200" spc="-55" dirty="0">
                <a:solidFill>
                  <a:srgbClr val="FFFFFF"/>
                </a:solidFill>
                <a:latin typeface="Times New Roman"/>
                <a:cs typeface="Times New Roman"/>
              </a:rPr>
              <a:t>Y</a:t>
            </a:r>
            <a:r>
              <a:rPr sz="2200" dirty="0">
                <a:solidFill>
                  <a:srgbClr val="FFFFFF"/>
                </a:solidFill>
                <a:latin typeface="Times New Roman"/>
                <a:cs typeface="Times New Roman"/>
              </a:rPr>
              <a:t>	</a:t>
            </a:r>
            <a:r>
              <a:rPr sz="2200" spc="15" dirty="0">
                <a:solidFill>
                  <a:srgbClr val="FFFFFF"/>
                </a:solidFill>
                <a:latin typeface="Times New Roman"/>
                <a:cs typeface="Times New Roman"/>
              </a:rPr>
              <a:t>cl</a:t>
            </a:r>
            <a:r>
              <a:rPr sz="2200" spc="5" dirty="0">
                <a:solidFill>
                  <a:srgbClr val="FFFFFF"/>
                </a:solidFill>
                <a:latin typeface="Times New Roman"/>
                <a:cs typeface="Times New Roman"/>
              </a:rPr>
              <a:t>a</a:t>
            </a:r>
            <a:r>
              <a:rPr sz="2200" spc="75" dirty="0">
                <a:solidFill>
                  <a:srgbClr val="FFFFFF"/>
                </a:solidFill>
                <a:latin typeface="Times New Roman"/>
                <a:cs typeface="Times New Roman"/>
              </a:rPr>
              <a:t>use</a:t>
            </a:r>
            <a:r>
              <a:rPr sz="2200" dirty="0">
                <a:solidFill>
                  <a:srgbClr val="FFFFFF"/>
                </a:solidFill>
                <a:latin typeface="Times New Roman"/>
                <a:cs typeface="Times New Roman"/>
              </a:rPr>
              <a:t>	</a:t>
            </a:r>
            <a:r>
              <a:rPr sz="2200" spc="85" dirty="0">
                <a:solidFill>
                  <a:srgbClr val="FFFFFF"/>
                </a:solidFill>
                <a:latin typeface="Times New Roman"/>
                <a:cs typeface="Times New Roman"/>
              </a:rPr>
              <a:t>part</a:t>
            </a:r>
            <a:r>
              <a:rPr sz="2200" spc="45" dirty="0">
                <a:solidFill>
                  <a:srgbClr val="FFFFFF"/>
                </a:solidFill>
                <a:latin typeface="Times New Roman"/>
                <a:cs typeface="Times New Roman"/>
              </a:rPr>
              <a:t>i</a:t>
            </a:r>
            <a:r>
              <a:rPr sz="2200" spc="95" dirty="0">
                <a:solidFill>
                  <a:srgbClr val="FFFFFF"/>
                </a:solidFill>
                <a:latin typeface="Times New Roman"/>
                <a:cs typeface="Times New Roman"/>
              </a:rPr>
              <a:t>tions</a:t>
            </a:r>
            <a:r>
              <a:rPr sz="2200" dirty="0">
                <a:solidFill>
                  <a:srgbClr val="FFFFFF"/>
                </a:solidFill>
                <a:latin typeface="Times New Roman"/>
                <a:cs typeface="Times New Roman"/>
              </a:rPr>
              <a:t>	</a:t>
            </a:r>
            <a:r>
              <a:rPr sz="2200" spc="120" dirty="0">
                <a:solidFill>
                  <a:srgbClr val="FFFFFF"/>
                </a:solidFill>
                <a:latin typeface="Times New Roman"/>
                <a:cs typeface="Times New Roman"/>
              </a:rPr>
              <a:t>t</a:t>
            </a:r>
            <a:r>
              <a:rPr sz="2200" spc="204" dirty="0">
                <a:solidFill>
                  <a:srgbClr val="FFFFFF"/>
                </a:solidFill>
                <a:latin typeface="Times New Roman"/>
                <a:cs typeface="Times New Roman"/>
              </a:rPr>
              <a:t>h</a:t>
            </a:r>
            <a:r>
              <a:rPr sz="2200" spc="50" dirty="0">
                <a:solidFill>
                  <a:srgbClr val="FFFFFF"/>
                </a:solidFill>
                <a:latin typeface="Times New Roman"/>
                <a:cs typeface="Times New Roman"/>
              </a:rPr>
              <a:t>e</a:t>
            </a:r>
            <a:r>
              <a:rPr sz="2200" dirty="0">
                <a:solidFill>
                  <a:srgbClr val="FFFFFF"/>
                </a:solidFill>
                <a:latin typeface="Times New Roman"/>
                <a:cs typeface="Times New Roman"/>
              </a:rPr>
              <a:t>	</a:t>
            </a:r>
            <a:r>
              <a:rPr sz="2200" spc="50" dirty="0">
                <a:solidFill>
                  <a:srgbClr val="FFFFFF"/>
                </a:solidFill>
                <a:latin typeface="Times New Roman"/>
                <a:cs typeface="Times New Roman"/>
              </a:rPr>
              <a:t>re</a:t>
            </a:r>
            <a:r>
              <a:rPr sz="2200" spc="40" dirty="0">
                <a:solidFill>
                  <a:srgbClr val="FFFFFF"/>
                </a:solidFill>
                <a:latin typeface="Times New Roman"/>
                <a:cs typeface="Times New Roman"/>
              </a:rPr>
              <a:t>s</a:t>
            </a:r>
            <a:r>
              <a:rPr sz="2200" spc="155" dirty="0">
                <a:solidFill>
                  <a:srgbClr val="FFFFFF"/>
                </a:solidFill>
                <a:latin typeface="Times New Roman"/>
                <a:cs typeface="Times New Roman"/>
              </a:rPr>
              <a:t>u</a:t>
            </a:r>
            <a:r>
              <a:rPr sz="2200" spc="45" dirty="0">
                <a:solidFill>
                  <a:srgbClr val="FFFFFF"/>
                </a:solidFill>
                <a:latin typeface="Times New Roman"/>
                <a:cs typeface="Times New Roman"/>
              </a:rPr>
              <a:t>lts</a:t>
            </a:r>
            <a:r>
              <a:rPr sz="2200" spc="50" dirty="0">
                <a:solidFill>
                  <a:srgbClr val="FFFFFF"/>
                </a:solidFill>
                <a:latin typeface="Times New Roman"/>
                <a:cs typeface="Times New Roman"/>
              </a:rPr>
              <a:t>e</a:t>
            </a:r>
            <a:r>
              <a:rPr sz="2200" spc="140" dirty="0">
                <a:solidFill>
                  <a:srgbClr val="FFFFFF"/>
                </a:solidFill>
                <a:latin typeface="Times New Roman"/>
                <a:cs typeface="Times New Roman"/>
              </a:rPr>
              <a:t>t</a:t>
            </a:r>
            <a:r>
              <a:rPr sz="2200" dirty="0">
                <a:solidFill>
                  <a:srgbClr val="FFFFFF"/>
                </a:solidFill>
                <a:latin typeface="Times New Roman"/>
                <a:cs typeface="Times New Roman"/>
              </a:rPr>
              <a:t>	i</a:t>
            </a:r>
            <a:r>
              <a:rPr sz="2200" spc="150" dirty="0">
                <a:solidFill>
                  <a:srgbClr val="FFFFFF"/>
                </a:solidFill>
                <a:latin typeface="Times New Roman"/>
                <a:cs typeface="Times New Roman"/>
              </a:rPr>
              <a:t>nto</a:t>
            </a:r>
            <a:r>
              <a:rPr sz="2200" dirty="0">
                <a:solidFill>
                  <a:srgbClr val="FFFFFF"/>
                </a:solidFill>
                <a:latin typeface="Times New Roman"/>
                <a:cs typeface="Times New Roman"/>
              </a:rPr>
              <a:t>	</a:t>
            </a:r>
            <a:r>
              <a:rPr sz="2200" spc="114" dirty="0">
                <a:solidFill>
                  <a:srgbClr val="FFFFFF"/>
                </a:solidFill>
                <a:latin typeface="Times New Roman"/>
                <a:cs typeface="Times New Roman"/>
              </a:rPr>
              <a:t>one</a:t>
            </a:r>
            <a:r>
              <a:rPr sz="2200" dirty="0">
                <a:solidFill>
                  <a:srgbClr val="FFFFFF"/>
                </a:solidFill>
                <a:latin typeface="Times New Roman"/>
                <a:cs typeface="Times New Roman"/>
              </a:rPr>
              <a:t>	</a:t>
            </a:r>
            <a:r>
              <a:rPr sz="2200" spc="70" dirty="0">
                <a:solidFill>
                  <a:srgbClr val="FFFFFF"/>
                </a:solidFill>
                <a:latin typeface="Times New Roman"/>
                <a:cs typeface="Times New Roman"/>
              </a:rPr>
              <a:t>or  </a:t>
            </a:r>
            <a:r>
              <a:rPr sz="2200" spc="90" dirty="0">
                <a:solidFill>
                  <a:srgbClr val="FFFFFF"/>
                </a:solidFill>
                <a:latin typeface="Times New Roman"/>
                <a:cs typeface="Times New Roman"/>
              </a:rPr>
              <a:t>more</a:t>
            </a:r>
            <a:r>
              <a:rPr sz="2200" spc="-100" dirty="0">
                <a:solidFill>
                  <a:srgbClr val="FFFFFF"/>
                </a:solidFill>
                <a:latin typeface="Times New Roman"/>
                <a:cs typeface="Times New Roman"/>
              </a:rPr>
              <a:t> </a:t>
            </a:r>
            <a:r>
              <a:rPr sz="2200" spc="60" dirty="0">
                <a:solidFill>
                  <a:srgbClr val="FFFFFF"/>
                </a:solidFill>
                <a:latin typeface="Times New Roman"/>
                <a:cs typeface="Times New Roman"/>
              </a:rPr>
              <a:t>subsets.</a:t>
            </a:r>
            <a:endParaRPr sz="2200">
              <a:latin typeface="Times New Roman"/>
              <a:cs typeface="Times New Roman"/>
            </a:endParaRPr>
          </a:p>
          <a:p>
            <a:pPr marL="355600" indent="-342900">
              <a:lnSpc>
                <a:spcPts val="2205"/>
              </a:lnSpc>
              <a:buFont typeface="Wingdings"/>
              <a:buChar char=""/>
              <a:tabLst>
                <a:tab pos="355600" algn="l"/>
              </a:tabLst>
            </a:pPr>
            <a:r>
              <a:rPr sz="2200" spc="55" dirty="0">
                <a:solidFill>
                  <a:srgbClr val="FFFFFF"/>
                </a:solidFill>
                <a:latin typeface="Times New Roman"/>
                <a:cs typeface="Times New Roman"/>
              </a:rPr>
              <a:t>Each</a:t>
            </a:r>
            <a:r>
              <a:rPr sz="2200" spc="-100" dirty="0">
                <a:solidFill>
                  <a:srgbClr val="FFFFFF"/>
                </a:solidFill>
                <a:latin typeface="Times New Roman"/>
                <a:cs typeface="Times New Roman"/>
              </a:rPr>
              <a:t> </a:t>
            </a:r>
            <a:r>
              <a:rPr sz="2200" spc="80" dirty="0">
                <a:solidFill>
                  <a:srgbClr val="FFFFFF"/>
                </a:solidFill>
                <a:latin typeface="Times New Roman"/>
                <a:cs typeface="Times New Roman"/>
              </a:rPr>
              <a:t>subset</a:t>
            </a:r>
            <a:r>
              <a:rPr sz="2200" spc="-110" dirty="0">
                <a:solidFill>
                  <a:srgbClr val="FFFFFF"/>
                </a:solidFill>
                <a:latin typeface="Times New Roman"/>
                <a:cs typeface="Times New Roman"/>
              </a:rPr>
              <a:t> </a:t>
            </a:r>
            <a:r>
              <a:rPr sz="2200" spc="80" dirty="0">
                <a:solidFill>
                  <a:srgbClr val="FFFFFF"/>
                </a:solidFill>
                <a:latin typeface="Times New Roman"/>
                <a:cs typeface="Times New Roman"/>
              </a:rPr>
              <a:t>has</a:t>
            </a:r>
            <a:r>
              <a:rPr sz="2200" spc="-100" dirty="0">
                <a:solidFill>
                  <a:srgbClr val="FFFFFF"/>
                </a:solidFill>
                <a:latin typeface="Times New Roman"/>
                <a:cs typeface="Times New Roman"/>
              </a:rPr>
              <a:t> </a:t>
            </a:r>
            <a:r>
              <a:rPr sz="2200" spc="50" dirty="0">
                <a:solidFill>
                  <a:srgbClr val="FFFFFF"/>
                </a:solidFill>
                <a:latin typeface="Times New Roman"/>
                <a:cs typeface="Times New Roman"/>
              </a:rPr>
              <a:t>values</a:t>
            </a:r>
            <a:r>
              <a:rPr sz="2200" spc="-105" dirty="0">
                <a:solidFill>
                  <a:srgbClr val="FFFFFF"/>
                </a:solidFill>
                <a:latin typeface="Times New Roman"/>
                <a:cs typeface="Times New Roman"/>
              </a:rPr>
              <a:t> </a:t>
            </a:r>
            <a:r>
              <a:rPr sz="2200" spc="125" dirty="0">
                <a:solidFill>
                  <a:srgbClr val="FFFFFF"/>
                </a:solidFill>
                <a:latin typeface="Times New Roman"/>
                <a:cs typeface="Times New Roman"/>
              </a:rPr>
              <a:t>and</a:t>
            </a:r>
            <a:r>
              <a:rPr sz="2200" spc="-105" dirty="0">
                <a:solidFill>
                  <a:srgbClr val="FFFFFF"/>
                </a:solidFill>
                <a:latin typeface="Times New Roman"/>
                <a:cs typeface="Times New Roman"/>
              </a:rPr>
              <a:t> </a:t>
            </a:r>
            <a:r>
              <a:rPr sz="2200" spc="65" dirty="0">
                <a:solidFill>
                  <a:srgbClr val="FFFFFF"/>
                </a:solidFill>
                <a:latin typeface="Times New Roman"/>
                <a:cs typeface="Times New Roman"/>
              </a:rPr>
              <a:t>expressions</a:t>
            </a:r>
            <a:r>
              <a:rPr sz="2200" spc="-100" dirty="0">
                <a:solidFill>
                  <a:srgbClr val="FFFFFF"/>
                </a:solidFill>
                <a:latin typeface="Times New Roman"/>
                <a:cs typeface="Times New Roman"/>
              </a:rPr>
              <a:t> </a:t>
            </a:r>
            <a:r>
              <a:rPr sz="2200" spc="105" dirty="0">
                <a:solidFill>
                  <a:srgbClr val="FFFFFF"/>
                </a:solidFill>
                <a:latin typeface="Times New Roman"/>
                <a:cs typeface="Times New Roman"/>
              </a:rPr>
              <a:t>in</a:t>
            </a:r>
            <a:r>
              <a:rPr sz="2200" spc="-90" dirty="0">
                <a:solidFill>
                  <a:srgbClr val="FFFFFF"/>
                </a:solidFill>
                <a:latin typeface="Times New Roman"/>
                <a:cs typeface="Times New Roman"/>
              </a:rPr>
              <a:t> </a:t>
            </a:r>
            <a:r>
              <a:rPr sz="2200" spc="90" dirty="0">
                <a:solidFill>
                  <a:srgbClr val="FFFFFF"/>
                </a:solidFill>
                <a:latin typeface="Times New Roman"/>
                <a:cs typeface="Times New Roman"/>
              </a:rPr>
              <a:t>common.</a:t>
            </a:r>
            <a:endParaRPr sz="2200">
              <a:latin typeface="Times New Roman"/>
              <a:cs typeface="Times New Roman"/>
            </a:endParaRPr>
          </a:p>
          <a:p>
            <a:pPr marL="355600" marR="5715" indent="-342900">
              <a:lnSpc>
                <a:spcPts val="2380"/>
              </a:lnSpc>
              <a:spcBef>
                <a:spcPts val="160"/>
              </a:spcBef>
              <a:buFont typeface="Wingdings"/>
              <a:buChar char=""/>
              <a:tabLst>
                <a:tab pos="355600" algn="l"/>
              </a:tabLst>
            </a:pPr>
            <a:r>
              <a:rPr sz="2200" spc="5" dirty="0">
                <a:solidFill>
                  <a:srgbClr val="FFFFFF"/>
                </a:solidFill>
                <a:latin typeface="Times New Roman"/>
                <a:cs typeface="Times New Roman"/>
              </a:rPr>
              <a:t>If </a:t>
            </a:r>
            <a:r>
              <a:rPr sz="2200" spc="114" dirty="0">
                <a:solidFill>
                  <a:srgbClr val="FFFFFF"/>
                </a:solidFill>
                <a:latin typeface="Times New Roman"/>
                <a:cs typeface="Times New Roman"/>
              </a:rPr>
              <a:t>an </a:t>
            </a:r>
            <a:r>
              <a:rPr sz="2200" spc="35" dirty="0">
                <a:solidFill>
                  <a:srgbClr val="FFFFFF"/>
                </a:solidFill>
                <a:latin typeface="Times New Roman"/>
                <a:cs typeface="Times New Roman"/>
              </a:rPr>
              <a:t>aggregate </a:t>
            </a:r>
            <a:r>
              <a:rPr sz="2200" spc="105" dirty="0">
                <a:solidFill>
                  <a:srgbClr val="FFFFFF"/>
                </a:solidFill>
                <a:latin typeface="Times New Roman"/>
                <a:cs typeface="Times New Roman"/>
              </a:rPr>
              <a:t>function </a:t>
            </a:r>
            <a:r>
              <a:rPr sz="2200" spc="5" dirty="0">
                <a:solidFill>
                  <a:srgbClr val="FFFFFF"/>
                </a:solidFill>
                <a:latin typeface="Times New Roman"/>
                <a:cs typeface="Times New Roman"/>
              </a:rPr>
              <a:t>is </a:t>
            </a:r>
            <a:r>
              <a:rPr sz="2200" spc="90" dirty="0">
                <a:solidFill>
                  <a:srgbClr val="FFFFFF"/>
                </a:solidFill>
                <a:latin typeface="Times New Roman"/>
                <a:cs typeface="Times New Roman"/>
              </a:rPr>
              <a:t>used </a:t>
            </a:r>
            <a:r>
              <a:rPr sz="2200" spc="105" dirty="0">
                <a:solidFill>
                  <a:srgbClr val="FFFFFF"/>
                </a:solidFill>
                <a:latin typeface="Times New Roman"/>
                <a:cs typeface="Times New Roman"/>
              </a:rPr>
              <a:t>in </a:t>
            </a:r>
            <a:r>
              <a:rPr sz="2200" spc="120" dirty="0">
                <a:solidFill>
                  <a:srgbClr val="FFFFFF"/>
                </a:solidFill>
                <a:latin typeface="Times New Roman"/>
                <a:cs typeface="Times New Roman"/>
              </a:rPr>
              <a:t>the </a:t>
            </a:r>
            <a:r>
              <a:rPr sz="2200" spc="160" dirty="0">
                <a:solidFill>
                  <a:srgbClr val="FFFFFF"/>
                </a:solidFill>
                <a:latin typeface="Times New Roman"/>
                <a:cs typeface="Times New Roman"/>
              </a:rPr>
              <a:t>GROUP </a:t>
            </a:r>
            <a:r>
              <a:rPr sz="2200" spc="-60" dirty="0">
                <a:solidFill>
                  <a:srgbClr val="FFFFFF"/>
                </a:solidFill>
                <a:latin typeface="Times New Roman"/>
                <a:cs typeface="Times New Roman"/>
              </a:rPr>
              <a:t>BY </a:t>
            </a:r>
            <a:r>
              <a:rPr sz="2200" spc="35" dirty="0">
                <a:solidFill>
                  <a:srgbClr val="FFFFFF"/>
                </a:solidFill>
                <a:latin typeface="Times New Roman"/>
                <a:cs typeface="Times New Roman"/>
              </a:rPr>
              <a:t>clause, </a:t>
            </a:r>
            <a:r>
              <a:rPr sz="2200" spc="114" dirty="0">
                <a:solidFill>
                  <a:srgbClr val="FFFFFF"/>
                </a:solidFill>
                <a:latin typeface="Times New Roman"/>
                <a:cs typeface="Times New Roman"/>
              </a:rPr>
              <a:t>the  </a:t>
            </a:r>
            <a:r>
              <a:rPr sz="2200" spc="70" dirty="0">
                <a:solidFill>
                  <a:srgbClr val="FFFFFF"/>
                </a:solidFill>
                <a:latin typeface="Times New Roman"/>
                <a:cs typeface="Times New Roman"/>
              </a:rPr>
              <a:t>resultset</a:t>
            </a:r>
            <a:r>
              <a:rPr sz="2200" spc="-110" dirty="0">
                <a:solidFill>
                  <a:srgbClr val="FFFFFF"/>
                </a:solidFill>
                <a:latin typeface="Times New Roman"/>
                <a:cs typeface="Times New Roman"/>
              </a:rPr>
              <a:t> </a:t>
            </a:r>
            <a:r>
              <a:rPr sz="2200" spc="85" dirty="0">
                <a:solidFill>
                  <a:srgbClr val="FFFFFF"/>
                </a:solidFill>
                <a:latin typeface="Times New Roman"/>
                <a:cs typeface="Times New Roman"/>
              </a:rPr>
              <a:t>produces</a:t>
            </a:r>
            <a:r>
              <a:rPr sz="2200" spc="-100" dirty="0">
                <a:solidFill>
                  <a:srgbClr val="FFFFFF"/>
                </a:solidFill>
                <a:latin typeface="Times New Roman"/>
                <a:cs typeface="Times New Roman"/>
              </a:rPr>
              <a:t> </a:t>
            </a:r>
            <a:r>
              <a:rPr sz="2200" spc="40" dirty="0">
                <a:solidFill>
                  <a:srgbClr val="FFFFFF"/>
                </a:solidFill>
                <a:latin typeface="Times New Roman"/>
                <a:cs typeface="Times New Roman"/>
              </a:rPr>
              <a:t>single</a:t>
            </a:r>
            <a:r>
              <a:rPr sz="2200" spc="-95" dirty="0">
                <a:solidFill>
                  <a:srgbClr val="FFFFFF"/>
                </a:solidFill>
                <a:latin typeface="Times New Roman"/>
                <a:cs typeface="Times New Roman"/>
              </a:rPr>
              <a:t> </a:t>
            </a:r>
            <a:r>
              <a:rPr sz="2200" spc="60" dirty="0">
                <a:solidFill>
                  <a:srgbClr val="FFFFFF"/>
                </a:solidFill>
                <a:latin typeface="Times New Roman"/>
                <a:cs typeface="Times New Roman"/>
              </a:rPr>
              <a:t>value</a:t>
            </a:r>
            <a:r>
              <a:rPr sz="2200" spc="-100" dirty="0">
                <a:solidFill>
                  <a:srgbClr val="FFFFFF"/>
                </a:solidFill>
                <a:latin typeface="Times New Roman"/>
                <a:cs typeface="Times New Roman"/>
              </a:rPr>
              <a:t> </a:t>
            </a:r>
            <a:r>
              <a:rPr sz="2200" spc="85" dirty="0">
                <a:solidFill>
                  <a:srgbClr val="FFFFFF"/>
                </a:solidFill>
                <a:latin typeface="Times New Roman"/>
                <a:cs typeface="Times New Roman"/>
              </a:rPr>
              <a:t>per</a:t>
            </a:r>
            <a:r>
              <a:rPr sz="2200" spc="-90" dirty="0">
                <a:solidFill>
                  <a:srgbClr val="FFFFFF"/>
                </a:solidFill>
                <a:latin typeface="Times New Roman"/>
                <a:cs typeface="Times New Roman"/>
              </a:rPr>
              <a:t> </a:t>
            </a:r>
            <a:r>
              <a:rPr sz="2200" spc="30" dirty="0">
                <a:solidFill>
                  <a:srgbClr val="FFFFFF"/>
                </a:solidFill>
                <a:latin typeface="Times New Roman"/>
                <a:cs typeface="Times New Roman"/>
              </a:rPr>
              <a:t>aggregate.</a:t>
            </a:r>
            <a:endParaRPr sz="2200">
              <a:latin typeface="Times New Roman"/>
              <a:cs typeface="Times New Roman"/>
            </a:endParaRPr>
          </a:p>
        </p:txBody>
      </p:sp>
      <p:pic>
        <p:nvPicPr>
          <p:cNvPr id="5" name="object 5"/>
          <p:cNvPicPr/>
          <p:nvPr/>
        </p:nvPicPr>
        <p:blipFill>
          <a:blip r:embed="rId3" cstate="print"/>
          <a:stretch>
            <a:fillRect/>
          </a:stretch>
        </p:blipFill>
        <p:spPr>
          <a:xfrm>
            <a:off x="2912364" y="3248405"/>
            <a:ext cx="3024378" cy="2588514"/>
          </a:xfrm>
          <a:prstGeom prst="rect">
            <a:avLst/>
          </a:prstGeom>
        </p:spPr>
      </p:pic>
      <p:sp>
        <p:nvSpPr>
          <p:cNvPr id="6" name="object 6"/>
          <p:cNvSpPr txBox="1"/>
          <p:nvPr/>
        </p:nvSpPr>
        <p:spPr>
          <a:xfrm>
            <a:off x="3720338" y="5859526"/>
            <a:ext cx="231775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Output</a:t>
            </a:r>
            <a:r>
              <a:rPr sz="1400" b="1" spc="-130" dirty="0">
                <a:latin typeface="Arial"/>
                <a:cs typeface="Arial"/>
              </a:rPr>
              <a:t> </a:t>
            </a:r>
            <a:r>
              <a:rPr sz="1400" b="1" spc="-45" dirty="0">
                <a:latin typeface="Arial"/>
                <a:cs typeface="Arial"/>
              </a:rPr>
              <a:t>of</a:t>
            </a:r>
            <a:r>
              <a:rPr sz="1400" b="1" spc="-114" dirty="0">
                <a:latin typeface="Arial"/>
                <a:cs typeface="Arial"/>
              </a:rPr>
              <a:t> </a:t>
            </a:r>
            <a:r>
              <a:rPr sz="1400" b="1" spc="10" dirty="0">
                <a:latin typeface="Arial"/>
                <a:cs typeface="Arial"/>
              </a:rPr>
              <a:t>GROUP</a:t>
            </a:r>
            <a:r>
              <a:rPr sz="1400" b="1" spc="-125" dirty="0">
                <a:latin typeface="Arial"/>
                <a:cs typeface="Arial"/>
              </a:rPr>
              <a:t> </a:t>
            </a:r>
            <a:r>
              <a:rPr sz="1400" b="1" spc="-45" dirty="0">
                <a:latin typeface="Arial"/>
                <a:cs typeface="Arial"/>
              </a:rPr>
              <a:t>BY</a:t>
            </a:r>
            <a:r>
              <a:rPr sz="1400" b="1" spc="-130" dirty="0">
                <a:latin typeface="Arial"/>
                <a:cs typeface="Arial"/>
              </a:rPr>
              <a:t> </a:t>
            </a:r>
            <a:r>
              <a:rPr sz="1400" b="1" spc="-80" dirty="0">
                <a:latin typeface="Arial"/>
                <a:cs typeface="Arial"/>
              </a:rPr>
              <a:t>Clause</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19</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4311015" cy="635635"/>
          </a:xfrm>
          <a:prstGeom prst="rect">
            <a:avLst/>
          </a:prstGeom>
        </p:spPr>
        <p:txBody>
          <a:bodyPr vert="horz" wrap="square" lIns="0" tIns="12700" rIns="0" bIns="0" rtlCol="0">
            <a:spAutoFit/>
          </a:bodyPr>
          <a:lstStyle/>
          <a:p>
            <a:pPr marL="12700">
              <a:lnSpc>
                <a:spcPct val="100000"/>
              </a:lnSpc>
              <a:spcBef>
                <a:spcPts val="100"/>
              </a:spcBef>
            </a:pPr>
            <a:r>
              <a:rPr sz="4000" b="0" spc="235" dirty="0">
                <a:latin typeface="Times New Roman"/>
                <a:cs typeface="Times New Roman"/>
              </a:rPr>
              <a:t>ORDER </a:t>
            </a:r>
            <a:r>
              <a:rPr sz="4000" b="0" spc="-105" dirty="0">
                <a:latin typeface="Times New Roman"/>
                <a:cs typeface="Times New Roman"/>
              </a:rPr>
              <a:t>BY</a:t>
            </a:r>
            <a:r>
              <a:rPr sz="4000" b="0" spc="-585" dirty="0">
                <a:latin typeface="Times New Roman"/>
                <a:cs typeface="Times New Roman"/>
              </a:rPr>
              <a:t> </a:t>
            </a:r>
            <a:r>
              <a:rPr sz="4000" b="0" spc="170" dirty="0">
                <a:latin typeface="Times New Roman"/>
                <a:cs typeface="Times New Roman"/>
              </a:rPr>
              <a:t>Clause</a:t>
            </a:r>
            <a:endParaRPr sz="4000">
              <a:latin typeface="Times New Roman"/>
              <a:cs typeface="Times New Roman"/>
            </a:endParaRPr>
          </a:p>
        </p:txBody>
      </p:sp>
      <p:sp>
        <p:nvSpPr>
          <p:cNvPr id="3" name="object 3"/>
          <p:cNvSpPr/>
          <p:nvPr/>
        </p:nvSpPr>
        <p:spPr>
          <a:xfrm>
            <a:off x="397764" y="893825"/>
            <a:ext cx="8255000" cy="1303020"/>
          </a:xfrm>
          <a:custGeom>
            <a:avLst/>
            <a:gdLst/>
            <a:ahLst/>
            <a:cxnLst/>
            <a:rect l="l" t="t" r="r" b="b"/>
            <a:pathLst>
              <a:path w="8255000" h="1303020">
                <a:moveTo>
                  <a:pt x="8254746" y="217170"/>
                </a:moveTo>
                <a:lnTo>
                  <a:pt x="8249005" y="167398"/>
                </a:lnTo>
                <a:lnTo>
                  <a:pt x="8232661" y="121691"/>
                </a:lnTo>
                <a:lnTo>
                  <a:pt x="8207019" y="81368"/>
                </a:lnTo>
                <a:lnTo>
                  <a:pt x="8173377" y="47726"/>
                </a:lnTo>
                <a:lnTo>
                  <a:pt x="8133054" y="22085"/>
                </a:lnTo>
                <a:lnTo>
                  <a:pt x="8087347" y="5740"/>
                </a:lnTo>
                <a:lnTo>
                  <a:pt x="8037576" y="0"/>
                </a:lnTo>
                <a:lnTo>
                  <a:pt x="217170" y="0"/>
                </a:lnTo>
                <a:lnTo>
                  <a:pt x="167373" y="5740"/>
                </a:lnTo>
                <a:lnTo>
                  <a:pt x="121653" y="22085"/>
                </a:lnTo>
                <a:lnTo>
                  <a:pt x="81330" y="47726"/>
                </a:lnTo>
                <a:lnTo>
                  <a:pt x="47701" y="81368"/>
                </a:lnTo>
                <a:lnTo>
                  <a:pt x="22072" y="121691"/>
                </a:lnTo>
                <a:lnTo>
                  <a:pt x="5727" y="167398"/>
                </a:lnTo>
                <a:lnTo>
                  <a:pt x="0" y="217170"/>
                </a:lnTo>
                <a:lnTo>
                  <a:pt x="0" y="1085850"/>
                </a:lnTo>
                <a:lnTo>
                  <a:pt x="5727" y="1135634"/>
                </a:lnTo>
                <a:lnTo>
                  <a:pt x="22072" y="1181341"/>
                </a:lnTo>
                <a:lnTo>
                  <a:pt x="47701" y="1221663"/>
                </a:lnTo>
                <a:lnTo>
                  <a:pt x="81330" y="1255306"/>
                </a:lnTo>
                <a:lnTo>
                  <a:pt x="121653" y="1280947"/>
                </a:lnTo>
                <a:lnTo>
                  <a:pt x="167373" y="1297292"/>
                </a:lnTo>
                <a:lnTo>
                  <a:pt x="217170" y="1303020"/>
                </a:lnTo>
                <a:lnTo>
                  <a:pt x="8037576" y="1303020"/>
                </a:lnTo>
                <a:lnTo>
                  <a:pt x="8087347" y="1297292"/>
                </a:lnTo>
                <a:lnTo>
                  <a:pt x="8133054" y="1280947"/>
                </a:lnTo>
                <a:lnTo>
                  <a:pt x="8173377" y="1255306"/>
                </a:lnTo>
                <a:lnTo>
                  <a:pt x="8207019" y="1221663"/>
                </a:lnTo>
                <a:lnTo>
                  <a:pt x="8232661" y="1181341"/>
                </a:lnTo>
                <a:lnTo>
                  <a:pt x="8249005" y="1135634"/>
                </a:lnTo>
                <a:lnTo>
                  <a:pt x="8254746" y="1085850"/>
                </a:lnTo>
                <a:lnTo>
                  <a:pt x="8254746" y="217170"/>
                </a:lnTo>
                <a:close/>
              </a:path>
            </a:pathLst>
          </a:custGeom>
          <a:solidFill>
            <a:srgbClr val="4F81BC"/>
          </a:solidFill>
        </p:spPr>
        <p:txBody>
          <a:bodyPr wrap="square" lIns="0" tIns="0" rIns="0" bIns="0" rtlCol="0"/>
          <a:lstStyle/>
          <a:p>
            <a:endParaRPr/>
          </a:p>
        </p:txBody>
      </p:sp>
      <p:sp>
        <p:nvSpPr>
          <p:cNvPr id="4" name="object 4"/>
          <p:cNvSpPr/>
          <p:nvPr/>
        </p:nvSpPr>
        <p:spPr>
          <a:xfrm>
            <a:off x="445008" y="2455925"/>
            <a:ext cx="8254365" cy="1031240"/>
          </a:xfrm>
          <a:custGeom>
            <a:avLst/>
            <a:gdLst/>
            <a:ahLst/>
            <a:cxnLst/>
            <a:rect l="l" t="t" r="r" b="b"/>
            <a:pathLst>
              <a:path w="8254365" h="1031239">
                <a:moveTo>
                  <a:pt x="8253984" y="171831"/>
                </a:moveTo>
                <a:lnTo>
                  <a:pt x="8247837" y="126174"/>
                </a:lnTo>
                <a:lnTo>
                  <a:pt x="8230514" y="85128"/>
                </a:lnTo>
                <a:lnTo>
                  <a:pt x="8203641" y="50342"/>
                </a:lnTo>
                <a:lnTo>
                  <a:pt x="8168856" y="23469"/>
                </a:lnTo>
                <a:lnTo>
                  <a:pt x="8127809" y="6146"/>
                </a:lnTo>
                <a:lnTo>
                  <a:pt x="8082153" y="0"/>
                </a:lnTo>
                <a:lnTo>
                  <a:pt x="171831" y="0"/>
                </a:lnTo>
                <a:lnTo>
                  <a:pt x="126149" y="6146"/>
                </a:lnTo>
                <a:lnTo>
                  <a:pt x="85102" y="23469"/>
                </a:lnTo>
                <a:lnTo>
                  <a:pt x="50330" y="50342"/>
                </a:lnTo>
                <a:lnTo>
                  <a:pt x="23456" y="85128"/>
                </a:lnTo>
                <a:lnTo>
                  <a:pt x="6134" y="126174"/>
                </a:lnTo>
                <a:lnTo>
                  <a:pt x="0" y="171831"/>
                </a:lnTo>
                <a:lnTo>
                  <a:pt x="0" y="859155"/>
                </a:lnTo>
                <a:lnTo>
                  <a:pt x="6134" y="904824"/>
                </a:lnTo>
                <a:lnTo>
                  <a:pt x="23456" y="945870"/>
                </a:lnTo>
                <a:lnTo>
                  <a:pt x="50330" y="980655"/>
                </a:lnTo>
                <a:lnTo>
                  <a:pt x="85102" y="1007529"/>
                </a:lnTo>
                <a:lnTo>
                  <a:pt x="126149" y="1024851"/>
                </a:lnTo>
                <a:lnTo>
                  <a:pt x="171831" y="1030986"/>
                </a:lnTo>
                <a:lnTo>
                  <a:pt x="8082153" y="1030986"/>
                </a:lnTo>
                <a:lnTo>
                  <a:pt x="8127809" y="1024851"/>
                </a:lnTo>
                <a:lnTo>
                  <a:pt x="8168856" y="1007529"/>
                </a:lnTo>
                <a:lnTo>
                  <a:pt x="8203641" y="980655"/>
                </a:lnTo>
                <a:lnTo>
                  <a:pt x="8230514" y="945870"/>
                </a:lnTo>
                <a:lnTo>
                  <a:pt x="8247837" y="904824"/>
                </a:lnTo>
                <a:lnTo>
                  <a:pt x="8253984" y="859155"/>
                </a:lnTo>
                <a:lnTo>
                  <a:pt x="8253984" y="171831"/>
                </a:lnTo>
                <a:close/>
              </a:path>
            </a:pathLst>
          </a:custGeom>
          <a:solidFill>
            <a:srgbClr val="4AACC5"/>
          </a:solidFill>
        </p:spPr>
        <p:txBody>
          <a:bodyPr wrap="square" lIns="0" tIns="0" rIns="0" bIns="0" rtlCol="0"/>
          <a:lstStyle/>
          <a:p>
            <a:endParaRPr/>
          </a:p>
        </p:txBody>
      </p:sp>
      <p:sp>
        <p:nvSpPr>
          <p:cNvPr id="5" name="object 5"/>
          <p:cNvSpPr txBox="1"/>
          <p:nvPr/>
        </p:nvSpPr>
        <p:spPr>
          <a:xfrm>
            <a:off x="540004" y="951229"/>
            <a:ext cx="8032115" cy="2265045"/>
          </a:xfrm>
          <a:prstGeom prst="rect">
            <a:avLst/>
          </a:prstGeom>
        </p:spPr>
        <p:txBody>
          <a:bodyPr vert="horz" wrap="square" lIns="0" tIns="53975" rIns="0" bIns="0" rtlCol="0">
            <a:spAutoFit/>
          </a:bodyPr>
          <a:lstStyle/>
          <a:p>
            <a:pPr marL="354965" marR="49530" indent="-342900">
              <a:lnSpc>
                <a:spcPts val="2590"/>
              </a:lnSpc>
              <a:spcBef>
                <a:spcPts val="425"/>
              </a:spcBef>
              <a:buFont typeface="Wingdings"/>
              <a:buChar char=""/>
              <a:tabLst>
                <a:tab pos="355600" algn="l"/>
                <a:tab pos="708025" algn="l"/>
                <a:tab pos="1966595" algn="l"/>
                <a:tab pos="2540635" algn="l"/>
                <a:tab pos="3397885" algn="l"/>
                <a:tab pos="3814445" algn="l"/>
                <a:tab pos="4775835" algn="l"/>
                <a:tab pos="5349875" algn="l"/>
                <a:tab pos="6616700" algn="l"/>
                <a:tab pos="7665084" algn="l"/>
              </a:tabLst>
            </a:pPr>
            <a:r>
              <a:rPr sz="2400" spc="70" dirty="0">
                <a:solidFill>
                  <a:srgbClr val="FFFFFF"/>
                </a:solidFill>
                <a:latin typeface="Times New Roman"/>
                <a:cs typeface="Times New Roman"/>
              </a:rPr>
              <a:t>I</a:t>
            </a:r>
            <a:r>
              <a:rPr sz="2400" spc="60" dirty="0">
                <a:solidFill>
                  <a:srgbClr val="FFFFFF"/>
                </a:solidFill>
                <a:latin typeface="Times New Roman"/>
                <a:cs typeface="Times New Roman"/>
              </a:rPr>
              <a:t>t</a:t>
            </a:r>
            <a:r>
              <a:rPr sz="2400" dirty="0">
                <a:solidFill>
                  <a:srgbClr val="FFFFFF"/>
                </a:solidFill>
                <a:latin typeface="Times New Roman"/>
                <a:cs typeface="Times New Roman"/>
              </a:rPr>
              <a:t>	</a:t>
            </a:r>
            <a:r>
              <a:rPr sz="2400" spc="60" dirty="0">
                <a:solidFill>
                  <a:srgbClr val="FFFFFF"/>
                </a:solidFill>
                <a:latin typeface="Times New Roman"/>
                <a:cs typeface="Times New Roman"/>
              </a:rPr>
              <a:t>s</a:t>
            </a:r>
            <a:r>
              <a:rPr sz="2400" spc="80" dirty="0">
                <a:solidFill>
                  <a:srgbClr val="FFFFFF"/>
                </a:solidFill>
                <a:latin typeface="Times New Roman"/>
                <a:cs typeface="Times New Roman"/>
              </a:rPr>
              <a:t>p</a:t>
            </a:r>
            <a:r>
              <a:rPr sz="2400" spc="25" dirty="0">
                <a:solidFill>
                  <a:srgbClr val="FFFFFF"/>
                </a:solidFill>
                <a:latin typeface="Times New Roman"/>
                <a:cs typeface="Times New Roman"/>
              </a:rPr>
              <a:t>ecifies</a:t>
            </a:r>
            <a:r>
              <a:rPr sz="2400"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dirty="0">
                <a:solidFill>
                  <a:srgbClr val="FFFFFF"/>
                </a:solidFill>
                <a:latin typeface="Times New Roman"/>
                <a:cs typeface="Times New Roman"/>
              </a:rPr>
              <a:t>	</a:t>
            </a:r>
            <a:r>
              <a:rPr sz="2400" spc="105" dirty="0">
                <a:solidFill>
                  <a:srgbClr val="FFFFFF"/>
                </a:solidFill>
                <a:latin typeface="Times New Roman"/>
                <a:cs typeface="Times New Roman"/>
              </a:rPr>
              <a:t>ord</a:t>
            </a:r>
            <a:r>
              <a:rPr sz="2400" spc="95" dirty="0">
                <a:solidFill>
                  <a:srgbClr val="FFFFFF"/>
                </a:solidFill>
                <a:latin typeface="Times New Roman"/>
                <a:cs typeface="Times New Roman"/>
              </a:rPr>
              <a:t>e</a:t>
            </a:r>
            <a:r>
              <a:rPr sz="2400" spc="100" dirty="0">
                <a:solidFill>
                  <a:srgbClr val="FFFFFF"/>
                </a:solidFill>
                <a:latin typeface="Times New Roman"/>
                <a:cs typeface="Times New Roman"/>
              </a:rPr>
              <a:t>r</a:t>
            </a:r>
            <a:r>
              <a:rPr sz="2400"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dirty="0">
                <a:solidFill>
                  <a:srgbClr val="FFFFFF"/>
                </a:solidFill>
                <a:latin typeface="Times New Roman"/>
                <a:cs typeface="Times New Roman"/>
              </a:rPr>
              <a:t>	</a:t>
            </a:r>
            <a:r>
              <a:rPr sz="2400" spc="95" dirty="0">
                <a:solidFill>
                  <a:srgbClr val="FFFFFF"/>
                </a:solidFill>
                <a:latin typeface="Times New Roman"/>
                <a:cs typeface="Times New Roman"/>
              </a:rPr>
              <a:t>whi</a:t>
            </a:r>
            <a:r>
              <a:rPr sz="2400" spc="15" dirty="0">
                <a:solidFill>
                  <a:srgbClr val="FFFFFF"/>
                </a:solidFill>
                <a:latin typeface="Times New Roman"/>
                <a:cs typeface="Times New Roman"/>
              </a:rPr>
              <a:t>c</a:t>
            </a:r>
            <a:r>
              <a:rPr sz="2400" spc="204" dirty="0">
                <a:solidFill>
                  <a:srgbClr val="FFFFFF"/>
                </a:solidFill>
                <a:latin typeface="Times New Roman"/>
                <a:cs typeface="Times New Roman"/>
              </a:rPr>
              <a:t>h</a:t>
            </a:r>
            <a:r>
              <a:rPr sz="2400"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dirty="0">
                <a:solidFill>
                  <a:srgbClr val="FFFFFF"/>
                </a:solidFill>
                <a:latin typeface="Times New Roman"/>
                <a:cs typeface="Times New Roman"/>
              </a:rPr>
              <a:t>	</a:t>
            </a:r>
            <a:r>
              <a:rPr sz="2400" spc="50" dirty="0">
                <a:solidFill>
                  <a:srgbClr val="FFFFFF"/>
                </a:solidFill>
                <a:latin typeface="Times New Roman"/>
                <a:cs typeface="Times New Roman"/>
              </a:rPr>
              <a:t>co</a:t>
            </a:r>
            <a:r>
              <a:rPr sz="2400" spc="35" dirty="0">
                <a:solidFill>
                  <a:srgbClr val="FFFFFF"/>
                </a:solidFill>
                <a:latin typeface="Times New Roman"/>
                <a:cs typeface="Times New Roman"/>
              </a:rPr>
              <a:t>l</a:t>
            </a:r>
            <a:r>
              <a:rPr sz="2400" spc="130" dirty="0">
                <a:solidFill>
                  <a:srgbClr val="FFFFFF"/>
                </a:solidFill>
                <a:latin typeface="Times New Roman"/>
                <a:cs typeface="Times New Roman"/>
              </a:rPr>
              <a:t>umns</a:t>
            </a:r>
            <a:r>
              <a:rPr sz="2400" dirty="0">
                <a:solidFill>
                  <a:srgbClr val="FFFFFF"/>
                </a:solidFill>
                <a:latin typeface="Times New Roman"/>
                <a:cs typeface="Times New Roman"/>
              </a:rPr>
              <a:t>	</a:t>
            </a:r>
            <a:r>
              <a:rPr sz="2400" spc="100" dirty="0">
                <a:solidFill>
                  <a:srgbClr val="FFFFFF"/>
                </a:solidFill>
                <a:latin typeface="Times New Roman"/>
                <a:cs typeface="Times New Roman"/>
              </a:rPr>
              <a:t>shoul</a:t>
            </a:r>
            <a:r>
              <a:rPr sz="2400" spc="155" dirty="0">
                <a:solidFill>
                  <a:srgbClr val="FFFFFF"/>
                </a:solidFill>
                <a:latin typeface="Times New Roman"/>
                <a:cs typeface="Times New Roman"/>
              </a:rPr>
              <a:t>d</a:t>
            </a:r>
            <a:r>
              <a:rPr sz="2400" dirty="0">
                <a:solidFill>
                  <a:srgbClr val="FFFFFF"/>
                </a:solidFill>
                <a:latin typeface="Times New Roman"/>
                <a:cs typeface="Times New Roman"/>
              </a:rPr>
              <a:t>	</a:t>
            </a:r>
            <a:r>
              <a:rPr sz="2400" spc="60" dirty="0">
                <a:solidFill>
                  <a:srgbClr val="FFFFFF"/>
                </a:solidFill>
                <a:latin typeface="Times New Roman"/>
                <a:cs typeface="Times New Roman"/>
              </a:rPr>
              <a:t>be  </a:t>
            </a:r>
            <a:r>
              <a:rPr sz="2400" spc="95" dirty="0">
                <a:solidFill>
                  <a:srgbClr val="FFFFFF"/>
                </a:solidFill>
                <a:latin typeface="Times New Roman"/>
                <a:cs typeface="Times New Roman"/>
              </a:rPr>
              <a:t>sorted </a:t>
            </a:r>
            <a:r>
              <a:rPr sz="2400" spc="114" dirty="0">
                <a:solidFill>
                  <a:srgbClr val="FFFFFF"/>
                </a:solidFill>
                <a:latin typeface="Times New Roman"/>
                <a:cs typeface="Times New Roman"/>
              </a:rPr>
              <a:t>in</a:t>
            </a:r>
            <a:r>
              <a:rPr sz="2400" spc="-420" dirty="0">
                <a:solidFill>
                  <a:srgbClr val="FFFFFF"/>
                </a:solidFill>
                <a:latin typeface="Times New Roman"/>
                <a:cs typeface="Times New Roman"/>
              </a:rPr>
              <a:t> </a:t>
            </a:r>
            <a:r>
              <a:rPr sz="2400" spc="40" dirty="0">
                <a:solidFill>
                  <a:srgbClr val="FFFFFF"/>
                </a:solidFill>
                <a:latin typeface="Times New Roman"/>
                <a:cs typeface="Times New Roman"/>
              </a:rPr>
              <a:t>a </a:t>
            </a:r>
            <a:r>
              <a:rPr sz="2400" spc="70" dirty="0">
                <a:solidFill>
                  <a:srgbClr val="FFFFFF"/>
                </a:solidFill>
                <a:latin typeface="Times New Roman"/>
                <a:cs typeface="Times New Roman"/>
              </a:rPr>
              <a:t>resultset.</a:t>
            </a:r>
            <a:endParaRPr sz="2400">
              <a:latin typeface="Times New Roman"/>
              <a:cs typeface="Times New Roman"/>
            </a:endParaRPr>
          </a:p>
          <a:p>
            <a:pPr marL="355600" indent="-342900">
              <a:lnSpc>
                <a:spcPts val="2555"/>
              </a:lnSpc>
              <a:buFont typeface="Wingdings"/>
              <a:buChar char=""/>
              <a:tabLst>
                <a:tab pos="355600" algn="l"/>
              </a:tabLst>
            </a:pPr>
            <a:r>
              <a:rPr sz="2400" spc="65" dirty="0">
                <a:solidFill>
                  <a:srgbClr val="FFFFFF"/>
                </a:solidFill>
                <a:latin typeface="Times New Roman"/>
                <a:cs typeface="Times New Roman"/>
              </a:rPr>
              <a:t>It</a:t>
            </a:r>
            <a:r>
              <a:rPr sz="2400" spc="-85" dirty="0">
                <a:solidFill>
                  <a:srgbClr val="FFFFFF"/>
                </a:solidFill>
                <a:latin typeface="Times New Roman"/>
                <a:cs typeface="Times New Roman"/>
              </a:rPr>
              <a:t> </a:t>
            </a:r>
            <a:r>
              <a:rPr sz="2400" spc="75" dirty="0">
                <a:solidFill>
                  <a:srgbClr val="FFFFFF"/>
                </a:solidFill>
                <a:latin typeface="Times New Roman"/>
                <a:cs typeface="Times New Roman"/>
              </a:rPr>
              <a:t>sorts</a:t>
            </a:r>
            <a:r>
              <a:rPr sz="2400" spc="-100" dirty="0">
                <a:solidFill>
                  <a:srgbClr val="FFFFFF"/>
                </a:solidFill>
                <a:latin typeface="Times New Roman"/>
                <a:cs typeface="Times New Roman"/>
              </a:rPr>
              <a:t> </a:t>
            </a:r>
            <a:r>
              <a:rPr sz="2400" spc="90" dirty="0">
                <a:solidFill>
                  <a:srgbClr val="FFFFFF"/>
                </a:solidFill>
                <a:latin typeface="Times New Roman"/>
                <a:cs typeface="Times New Roman"/>
              </a:rPr>
              <a:t>query</a:t>
            </a:r>
            <a:r>
              <a:rPr sz="2400" spc="-90" dirty="0">
                <a:solidFill>
                  <a:srgbClr val="FFFFFF"/>
                </a:solidFill>
                <a:latin typeface="Times New Roman"/>
                <a:cs typeface="Times New Roman"/>
              </a:rPr>
              <a:t> </a:t>
            </a:r>
            <a:r>
              <a:rPr sz="2400" spc="70" dirty="0">
                <a:solidFill>
                  <a:srgbClr val="FFFFFF"/>
                </a:solidFill>
                <a:latin typeface="Times New Roman"/>
                <a:cs typeface="Times New Roman"/>
              </a:rPr>
              <a:t>results</a:t>
            </a:r>
            <a:r>
              <a:rPr sz="2400" spc="-90" dirty="0">
                <a:solidFill>
                  <a:srgbClr val="FFFFFF"/>
                </a:solidFill>
                <a:latin typeface="Times New Roman"/>
                <a:cs typeface="Times New Roman"/>
              </a:rPr>
              <a:t> </a:t>
            </a:r>
            <a:r>
              <a:rPr sz="2400" spc="50" dirty="0">
                <a:solidFill>
                  <a:srgbClr val="FFFFFF"/>
                </a:solidFill>
                <a:latin typeface="Times New Roman"/>
                <a:cs typeface="Times New Roman"/>
              </a:rPr>
              <a:t>by</a:t>
            </a:r>
            <a:r>
              <a:rPr sz="2400" spc="-90" dirty="0">
                <a:solidFill>
                  <a:srgbClr val="FFFFFF"/>
                </a:solidFill>
                <a:latin typeface="Times New Roman"/>
                <a:cs typeface="Times New Roman"/>
              </a:rPr>
              <a:t> </a:t>
            </a:r>
            <a:r>
              <a:rPr sz="2400" spc="125" dirty="0">
                <a:solidFill>
                  <a:srgbClr val="FFFFFF"/>
                </a:solidFill>
                <a:latin typeface="Times New Roman"/>
                <a:cs typeface="Times New Roman"/>
              </a:rPr>
              <a:t>one</a:t>
            </a:r>
            <a:r>
              <a:rPr sz="2400" spc="-100" dirty="0">
                <a:solidFill>
                  <a:srgbClr val="FFFFFF"/>
                </a:solidFill>
                <a:latin typeface="Times New Roman"/>
                <a:cs typeface="Times New Roman"/>
              </a:rPr>
              <a:t> </a:t>
            </a:r>
            <a:r>
              <a:rPr sz="2400" spc="105" dirty="0">
                <a:solidFill>
                  <a:srgbClr val="FFFFFF"/>
                </a:solidFill>
                <a:latin typeface="Times New Roman"/>
                <a:cs typeface="Times New Roman"/>
              </a:rPr>
              <a:t>or</a:t>
            </a:r>
            <a:r>
              <a:rPr sz="2400" spc="-90" dirty="0">
                <a:solidFill>
                  <a:srgbClr val="FFFFFF"/>
                </a:solidFill>
                <a:latin typeface="Times New Roman"/>
                <a:cs typeface="Times New Roman"/>
              </a:rPr>
              <a:t> </a:t>
            </a:r>
            <a:r>
              <a:rPr sz="2400" spc="95" dirty="0">
                <a:solidFill>
                  <a:srgbClr val="FFFFFF"/>
                </a:solidFill>
                <a:latin typeface="Times New Roman"/>
                <a:cs typeface="Times New Roman"/>
              </a:rPr>
              <a:t>more</a:t>
            </a:r>
            <a:r>
              <a:rPr sz="2400" spc="-90" dirty="0">
                <a:solidFill>
                  <a:srgbClr val="FFFFFF"/>
                </a:solidFill>
                <a:latin typeface="Times New Roman"/>
                <a:cs typeface="Times New Roman"/>
              </a:rPr>
              <a:t> </a:t>
            </a:r>
            <a:r>
              <a:rPr sz="2400" spc="80" dirty="0">
                <a:solidFill>
                  <a:srgbClr val="FFFFFF"/>
                </a:solidFill>
                <a:latin typeface="Times New Roman"/>
                <a:cs typeface="Times New Roman"/>
              </a:rPr>
              <a:t>columns.</a:t>
            </a:r>
            <a:endParaRPr sz="2400">
              <a:latin typeface="Times New Roman"/>
              <a:cs typeface="Times New Roman"/>
            </a:endParaRPr>
          </a:p>
          <a:p>
            <a:pPr>
              <a:lnSpc>
                <a:spcPct val="100000"/>
              </a:lnSpc>
              <a:spcBef>
                <a:spcPts val="50"/>
              </a:spcBef>
              <a:buChar char=""/>
            </a:pPr>
            <a:endParaRPr sz="4550">
              <a:latin typeface="Times New Roman"/>
              <a:cs typeface="Times New Roman"/>
            </a:endParaRPr>
          </a:p>
          <a:p>
            <a:pPr marL="401955" marR="5080" indent="-342900">
              <a:lnSpc>
                <a:spcPts val="2160"/>
              </a:lnSpc>
              <a:buFont typeface="Wingdings"/>
              <a:buChar char=""/>
              <a:tabLst>
                <a:tab pos="401955" algn="l"/>
                <a:tab pos="402590" algn="l"/>
              </a:tabLst>
            </a:pPr>
            <a:r>
              <a:rPr sz="2000" spc="175" dirty="0">
                <a:solidFill>
                  <a:srgbClr val="FFFFFF"/>
                </a:solidFill>
                <a:latin typeface="Times New Roman"/>
                <a:cs typeface="Times New Roman"/>
              </a:rPr>
              <a:t>A</a:t>
            </a:r>
            <a:r>
              <a:rPr sz="2000" spc="-30" dirty="0">
                <a:solidFill>
                  <a:srgbClr val="FFFFFF"/>
                </a:solidFill>
                <a:latin typeface="Times New Roman"/>
                <a:cs typeface="Times New Roman"/>
              </a:rPr>
              <a:t> </a:t>
            </a:r>
            <a:r>
              <a:rPr sz="2000" spc="75" dirty="0">
                <a:solidFill>
                  <a:srgbClr val="FFFFFF"/>
                </a:solidFill>
                <a:latin typeface="Times New Roman"/>
                <a:cs typeface="Times New Roman"/>
              </a:rPr>
              <a:t>sort</a:t>
            </a:r>
            <a:r>
              <a:rPr sz="2000" spc="-15"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20" dirty="0">
                <a:solidFill>
                  <a:srgbClr val="FFFFFF"/>
                </a:solidFill>
                <a:latin typeface="Times New Roman"/>
                <a:cs typeface="Times New Roman"/>
              </a:rPr>
              <a:t> </a:t>
            </a:r>
            <a:r>
              <a:rPr sz="2000" spc="70" dirty="0">
                <a:solidFill>
                  <a:srgbClr val="FFFFFF"/>
                </a:solidFill>
                <a:latin typeface="Times New Roman"/>
                <a:cs typeface="Times New Roman"/>
              </a:rPr>
              <a:t>be</a:t>
            </a:r>
            <a:r>
              <a:rPr sz="2000" spc="-2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25" dirty="0">
                <a:solidFill>
                  <a:srgbClr val="FFFFFF"/>
                </a:solidFill>
                <a:latin typeface="Times New Roman"/>
                <a:cs typeface="Times New Roman"/>
              </a:rPr>
              <a:t> </a:t>
            </a:r>
            <a:r>
              <a:rPr sz="2000" spc="80" dirty="0">
                <a:solidFill>
                  <a:srgbClr val="FFFFFF"/>
                </a:solidFill>
                <a:latin typeface="Times New Roman"/>
                <a:cs typeface="Times New Roman"/>
              </a:rPr>
              <a:t>either</a:t>
            </a:r>
            <a:r>
              <a:rPr sz="2000" spc="-15" dirty="0">
                <a:solidFill>
                  <a:srgbClr val="FFFFFF"/>
                </a:solidFill>
                <a:latin typeface="Times New Roman"/>
                <a:cs typeface="Times New Roman"/>
              </a:rPr>
              <a:t> </a:t>
            </a:r>
            <a:r>
              <a:rPr sz="2000" spc="60" dirty="0">
                <a:solidFill>
                  <a:srgbClr val="FFFFFF"/>
                </a:solidFill>
                <a:latin typeface="Times New Roman"/>
                <a:cs typeface="Times New Roman"/>
              </a:rPr>
              <a:t>ascending</a:t>
            </a:r>
            <a:r>
              <a:rPr sz="2000" spc="-20" dirty="0">
                <a:solidFill>
                  <a:srgbClr val="FFFFFF"/>
                </a:solidFill>
                <a:latin typeface="Times New Roman"/>
                <a:cs typeface="Times New Roman"/>
              </a:rPr>
              <a:t> </a:t>
            </a:r>
            <a:r>
              <a:rPr sz="2000" spc="100" dirty="0">
                <a:solidFill>
                  <a:srgbClr val="FFFFFF"/>
                </a:solidFill>
                <a:latin typeface="Times New Roman"/>
                <a:cs typeface="Times New Roman"/>
              </a:rPr>
              <a:t>(ASC)</a:t>
            </a:r>
            <a:r>
              <a:rPr sz="2000" spc="-25" dirty="0">
                <a:solidFill>
                  <a:srgbClr val="FFFFFF"/>
                </a:solidFill>
                <a:latin typeface="Times New Roman"/>
                <a:cs typeface="Times New Roman"/>
              </a:rPr>
              <a:t> </a:t>
            </a:r>
            <a:r>
              <a:rPr sz="2000" spc="85" dirty="0">
                <a:solidFill>
                  <a:srgbClr val="FFFFFF"/>
                </a:solidFill>
                <a:latin typeface="Times New Roman"/>
                <a:cs typeface="Times New Roman"/>
              </a:rPr>
              <a:t>or</a:t>
            </a:r>
            <a:r>
              <a:rPr sz="2000" spc="-30" dirty="0">
                <a:solidFill>
                  <a:srgbClr val="FFFFFF"/>
                </a:solidFill>
                <a:latin typeface="Times New Roman"/>
                <a:cs typeface="Times New Roman"/>
              </a:rPr>
              <a:t> </a:t>
            </a:r>
            <a:r>
              <a:rPr sz="2000" spc="70" dirty="0">
                <a:solidFill>
                  <a:srgbClr val="FFFFFF"/>
                </a:solidFill>
                <a:latin typeface="Times New Roman"/>
                <a:cs typeface="Times New Roman"/>
              </a:rPr>
              <a:t>descending</a:t>
            </a:r>
            <a:r>
              <a:rPr sz="2000" spc="-15" dirty="0">
                <a:solidFill>
                  <a:srgbClr val="FFFFFF"/>
                </a:solidFill>
                <a:latin typeface="Times New Roman"/>
                <a:cs typeface="Times New Roman"/>
              </a:rPr>
              <a:t> </a:t>
            </a:r>
            <a:r>
              <a:rPr sz="2000" spc="75" dirty="0">
                <a:solidFill>
                  <a:srgbClr val="FFFFFF"/>
                </a:solidFill>
                <a:latin typeface="Times New Roman"/>
                <a:cs typeface="Times New Roman"/>
              </a:rPr>
              <a:t>(DESC)</a:t>
            </a:r>
            <a:r>
              <a:rPr sz="2000" spc="-20" dirty="0">
                <a:solidFill>
                  <a:srgbClr val="FFFFFF"/>
                </a:solidFill>
                <a:latin typeface="Times New Roman"/>
                <a:cs typeface="Times New Roman"/>
              </a:rPr>
              <a:t> </a:t>
            </a:r>
            <a:r>
              <a:rPr sz="2000" spc="70" dirty="0">
                <a:solidFill>
                  <a:srgbClr val="FFFFFF"/>
                </a:solidFill>
                <a:latin typeface="Times New Roman"/>
                <a:cs typeface="Times New Roman"/>
              </a:rPr>
              <a:t>order.  </a:t>
            </a:r>
            <a:r>
              <a:rPr sz="2000" spc="-45" dirty="0">
                <a:solidFill>
                  <a:srgbClr val="FFFFFF"/>
                </a:solidFill>
                <a:latin typeface="Times New Roman"/>
                <a:cs typeface="Times New Roman"/>
              </a:rPr>
              <a:t>By</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default,</a:t>
            </a:r>
            <a:r>
              <a:rPr sz="2000" spc="-60" dirty="0">
                <a:solidFill>
                  <a:srgbClr val="FFFFFF"/>
                </a:solidFill>
                <a:latin typeface="Times New Roman"/>
                <a:cs typeface="Times New Roman"/>
              </a:rPr>
              <a:t> </a:t>
            </a:r>
            <a:r>
              <a:rPr sz="2000" spc="60" dirty="0">
                <a:solidFill>
                  <a:srgbClr val="FFFFFF"/>
                </a:solidFill>
                <a:latin typeface="Times New Roman"/>
                <a:cs typeface="Times New Roman"/>
              </a:rPr>
              <a:t>records</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sorted</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80" dirty="0">
                <a:solidFill>
                  <a:srgbClr val="FFFFFF"/>
                </a:solidFill>
                <a:latin typeface="Times New Roman"/>
                <a:cs typeface="Times New Roman"/>
              </a:rPr>
              <a:t> </a:t>
            </a:r>
            <a:r>
              <a:rPr sz="2000" spc="105" dirty="0">
                <a:solidFill>
                  <a:srgbClr val="FFFFFF"/>
                </a:solidFill>
                <a:latin typeface="Times New Roman"/>
                <a:cs typeface="Times New Roman"/>
              </a:rPr>
              <a:t>an</a:t>
            </a:r>
            <a:r>
              <a:rPr sz="2000" spc="-70" dirty="0">
                <a:solidFill>
                  <a:srgbClr val="FFFFFF"/>
                </a:solidFill>
                <a:latin typeface="Times New Roman"/>
                <a:cs typeface="Times New Roman"/>
              </a:rPr>
              <a:t> </a:t>
            </a:r>
            <a:r>
              <a:rPr sz="2000" spc="175" dirty="0">
                <a:solidFill>
                  <a:srgbClr val="FFFFFF"/>
                </a:solidFill>
                <a:latin typeface="Times New Roman"/>
                <a:cs typeface="Times New Roman"/>
              </a:rPr>
              <a:t>ASC</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order.</a:t>
            </a:r>
            <a:endParaRPr sz="2000">
              <a:latin typeface="Times New Roman"/>
              <a:cs typeface="Times New Roman"/>
            </a:endParaRPr>
          </a:p>
        </p:txBody>
      </p:sp>
      <p:pic>
        <p:nvPicPr>
          <p:cNvPr id="6" name="object 6"/>
          <p:cNvPicPr/>
          <p:nvPr/>
        </p:nvPicPr>
        <p:blipFill>
          <a:blip r:embed="rId3" cstate="print"/>
          <a:stretch>
            <a:fillRect/>
          </a:stretch>
        </p:blipFill>
        <p:spPr>
          <a:xfrm>
            <a:off x="2124455" y="3699509"/>
            <a:ext cx="4909566" cy="2307336"/>
          </a:xfrm>
          <a:prstGeom prst="rect">
            <a:avLst/>
          </a:prstGeom>
        </p:spPr>
      </p:pic>
      <p:sp>
        <p:nvSpPr>
          <p:cNvPr id="7" name="object 7"/>
          <p:cNvSpPr txBox="1"/>
          <p:nvPr/>
        </p:nvSpPr>
        <p:spPr>
          <a:xfrm>
            <a:off x="3748023" y="6045200"/>
            <a:ext cx="2303145"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Output</a:t>
            </a:r>
            <a:r>
              <a:rPr sz="1400" b="1" spc="-130" dirty="0">
                <a:latin typeface="Arial"/>
                <a:cs typeface="Arial"/>
              </a:rPr>
              <a:t> </a:t>
            </a:r>
            <a:r>
              <a:rPr sz="1400" b="1" spc="-45" dirty="0">
                <a:latin typeface="Arial"/>
                <a:cs typeface="Arial"/>
              </a:rPr>
              <a:t>of</a:t>
            </a:r>
            <a:r>
              <a:rPr sz="1400" b="1" spc="-120" dirty="0">
                <a:latin typeface="Arial"/>
                <a:cs typeface="Arial"/>
              </a:rPr>
              <a:t> </a:t>
            </a:r>
            <a:r>
              <a:rPr sz="1400" b="1" spc="5" dirty="0">
                <a:latin typeface="Arial"/>
                <a:cs typeface="Arial"/>
              </a:rPr>
              <a:t>ORDER</a:t>
            </a:r>
            <a:r>
              <a:rPr sz="1400" b="1" spc="-125" dirty="0">
                <a:latin typeface="Arial"/>
                <a:cs typeface="Arial"/>
              </a:rPr>
              <a:t> </a:t>
            </a:r>
            <a:r>
              <a:rPr sz="1400" b="1" spc="-45" dirty="0">
                <a:latin typeface="Arial"/>
                <a:cs typeface="Arial"/>
              </a:rPr>
              <a:t>BY</a:t>
            </a:r>
            <a:r>
              <a:rPr sz="1400" b="1" spc="-130" dirty="0">
                <a:latin typeface="Arial"/>
                <a:cs typeface="Arial"/>
              </a:rPr>
              <a:t> </a:t>
            </a:r>
            <a:r>
              <a:rPr sz="1400" b="1" spc="-80" dirty="0">
                <a:latin typeface="Arial"/>
                <a:cs typeface="Arial"/>
              </a:rPr>
              <a:t>Clause</a:t>
            </a:r>
            <a:endParaRPr sz="14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20</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 y="0"/>
            <a:ext cx="5083175" cy="635635"/>
          </a:xfrm>
          <a:prstGeom prst="rect">
            <a:avLst/>
          </a:prstGeom>
        </p:spPr>
        <p:txBody>
          <a:bodyPr vert="horz" wrap="square" lIns="0" tIns="12700" rIns="0" bIns="0" rtlCol="0">
            <a:spAutoFit/>
          </a:bodyPr>
          <a:lstStyle/>
          <a:p>
            <a:pPr marL="12700">
              <a:lnSpc>
                <a:spcPct val="100000"/>
              </a:lnSpc>
              <a:spcBef>
                <a:spcPts val="100"/>
              </a:spcBef>
            </a:pPr>
            <a:r>
              <a:rPr sz="4000" b="0" spc="220" dirty="0">
                <a:latin typeface="Times New Roman"/>
                <a:cs typeface="Times New Roman"/>
              </a:rPr>
              <a:t>Working</a:t>
            </a:r>
            <a:r>
              <a:rPr sz="4000" b="0" spc="-190" dirty="0">
                <a:latin typeface="Times New Roman"/>
                <a:cs typeface="Times New Roman"/>
              </a:rPr>
              <a:t> </a:t>
            </a:r>
            <a:r>
              <a:rPr sz="4000" b="0" spc="180" dirty="0">
                <a:latin typeface="Times New Roman"/>
                <a:cs typeface="Times New Roman"/>
              </a:rPr>
              <a:t>with</a:t>
            </a:r>
            <a:r>
              <a:rPr sz="4000" b="0" spc="-175" dirty="0">
                <a:latin typeface="Times New Roman"/>
                <a:cs typeface="Times New Roman"/>
              </a:rPr>
              <a:t> </a:t>
            </a:r>
            <a:r>
              <a:rPr sz="4000" b="0" spc="65" dirty="0">
                <a:latin typeface="Times New Roman"/>
                <a:cs typeface="Times New Roman"/>
              </a:rPr>
              <a:t>XML</a:t>
            </a:r>
            <a:r>
              <a:rPr sz="4000" b="0" spc="-175" dirty="0">
                <a:latin typeface="Times New Roman"/>
                <a:cs typeface="Times New Roman"/>
              </a:rPr>
              <a:t> </a:t>
            </a:r>
            <a:r>
              <a:rPr sz="4000" b="0" spc="-250" dirty="0">
                <a:latin typeface="Times New Roman"/>
                <a:cs typeface="Times New Roman"/>
              </a:rPr>
              <a:t>1-2</a:t>
            </a:r>
            <a:endParaRPr sz="4000">
              <a:latin typeface="Times New Roman"/>
              <a:cs typeface="Times New Roman"/>
            </a:endParaRPr>
          </a:p>
        </p:txBody>
      </p:sp>
      <p:pic>
        <p:nvPicPr>
          <p:cNvPr id="3" name="object 3"/>
          <p:cNvPicPr/>
          <p:nvPr/>
        </p:nvPicPr>
        <p:blipFill>
          <a:blip r:embed="rId3" cstate="print"/>
          <a:stretch>
            <a:fillRect/>
          </a:stretch>
        </p:blipFill>
        <p:spPr>
          <a:xfrm>
            <a:off x="374141" y="839724"/>
            <a:ext cx="8254746" cy="1341120"/>
          </a:xfrm>
          <a:prstGeom prst="rect">
            <a:avLst/>
          </a:prstGeom>
        </p:spPr>
      </p:pic>
      <p:grpSp>
        <p:nvGrpSpPr>
          <p:cNvPr id="4" name="object 4"/>
          <p:cNvGrpSpPr/>
          <p:nvPr/>
        </p:nvGrpSpPr>
        <p:grpSpPr>
          <a:xfrm>
            <a:off x="390906" y="2374366"/>
            <a:ext cx="8272780" cy="1086485"/>
            <a:chOff x="390906" y="2374366"/>
            <a:chExt cx="8272780" cy="1086485"/>
          </a:xfrm>
        </p:grpSpPr>
        <p:pic>
          <p:nvPicPr>
            <p:cNvPr id="5" name="object 5"/>
            <p:cNvPicPr/>
            <p:nvPr/>
          </p:nvPicPr>
          <p:blipFill>
            <a:blip r:embed="rId4" cstate="print"/>
            <a:stretch>
              <a:fillRect/>
            </a:stretch>
          </p:blipFill>
          <p:spPr>
            <a:xfrm>
              <a:off x="390906" y="2374366"/>
              <a:ext cx="8272272" cy="1085875"/>
            </a:xfrm>
            <a:prstGeom prst="rect">
              <a:avLst/>
            </a:prstGeom>
          </p:spPr>
        </p:pic>
        <p:pic>
          <p:nvPicPr>
            <p:cNvPr id="6" name="object 6"/>
            <p:cNvPicPr/>
            <p:nvPr/>
          </p:nvPicPr>
          <p:blipFill>
            <a:blip r:embed="rId5" cstate="print"/>
            <a:stretch>
              <a:fillRect/>
            </a:stretch>
          </p:blipFill>
          <p:spPr>
            <a:xfrm>
              <a:off x="432054" y="2392679"/>
              <a:ext cx="8196833" cy="1010412"/>
            </a:xfrm>
            <a:prstGeom prst="rect">
              <a:avLst/>
            </a:prstGeom>
          </p:spPr>
        </p:pic>
      </p:grpSp>
      <p:sp>
        <p:nvSpPr>
          <p:cNvPr id="7" name="object 7"/>
          <p:cNvSpPr/>
          <p:nvPr/>
        </p:nvSpPr>
        <p:spPr>
          <a:xfrm>
            <a:off x="445008" y="3671315"/>
            <a:ext cx="8254365" cy="2403475"/>
          </a:xfrm>
          <a:custGeom>
            <a:avLst/>
            <a:gdLst/>
            <a:ahLst/>
            <a:cxnLst/>
            <a:rect l="l" t="t" r="r" b="b"/>
            <a:pathLst>
              <a:path w="8254365" h="2403475">
                <a:moveTo>
                  <a:pt x="8253984" y="400558"/>
                </a:moveTo>
                <a:lnTo>
                  <a:pt x="8251279" y="353847"/>
                </a:lnTo>
                <a:lnTo>
                  <a:pt x="8243405" y="308711"/>
                </a:lnTo>
                <a:lnTo>
                  <a:pt x="8230629" y="265468"/>
                </a:lnTo>
                <a:lnTo>
                  <a:pt x="8213268" y="224409"/>
                </a:lnTo>
                <a:lnTo>
                  <a:pt x="8191614" y="185826"/>
                </a:lnTo>
                <a:lnTo>
                  <a:pt x="8165986" y="150025"/>
                </a:lnTo>
                <a:lnTo>
                  <a:pt x="8136661" y="117322"/>
                </a:lnTo>
                <a:lnTo>
                  <a:pt x="8103959" y="87998"/>
                </a:lnTo>
                <a:lnTo>
                  <a:pt x="8068157" y="62369"/>
                </a:lnTo>
                <a:lnTo>
                  <a:pt x="8029575" y="40716"/>
                </a:lnTo>
                <a:lnTo>
                  <a:pt x="7988516" y="23355"/>
                </a:lnTo>
                <a:lnTo>
                  <a:pt x="7945272" y="10579"/>
                </a:lnTo>
                <a:lnTo>
                  <a:pt x="7900136" y="2705"/>
                </a:lnTo>
                <a:lnTo>
                  <a:pt x="7853426" y="0"/>
                </a:lnTo>
                <a:lnTo>
                  <a:pt x="400570" y="0"/>
                </a:lnTo>
                <a:lnTo>
                  <a:pt x="353847" y="2705"/>
                </a:lnTo>
                <a:lnTo>
                  <a:pt x="308711" y="10579"/>
                </a:lnTo>
                <a:lnTo>
                  <a:pt x="265468" y="23355"/>
                </a:lnTo>
                <a:lnTo>
                  <a:pt x="224396" y="40716"/>
                </a:lnTo>
                <a:lnTo>
                  <a:pt x="185826" y="62369"/>
                </a:lnTo>
                <a:lnTo>
                  <a:pt x="150025" y="87998"/>
                </a:lnTo>
                <a:lnTo>
                  <a:pt x="117322" y="117322"/>
                </a:lnTo>
                <a:lnTo>
                  <a:pt x="87998" y="150025"/>
                </a:lnTo>
                <a:lnTo>
                  <a:pt x="62357" y="185826"/>
                </a:lnTo>
                <a:lnTo>
                  <a:pt x="40703" y="224409"/>
                </a:lnTo>
                <a:lnTo>
                  <a:pt x="23342" y="265468"/>
                </a:lnTo>
                <a:lnTo>
                  <a:pt x="10579" y="308711"/>
                </a:lnTo>
                <a:lnTo>
                  <a:pt x="2692" y="353847"/>
                </a:lnTo>
                <a:lnTo>
                  <a:pt x="0" y="400558"/>
                </a:lnTo>
                <a:lnTo>
                  <a:pt x="0" y="2002777"/>
                </a:lnTo>
                <a:lnTo>
                  <a:pt x="2692" y="2049500"/>
                </a:lnTo>
                <a:lnTo>
                  <a:pt x="10566" y="2094636"/>
                </a:lnTo>
                <a:lnTo>
                  <a:pt x="23342" y="2137880"/>
                </a:lnTo>
                <a:lnTo>
                  <a:pt x="40703" y="2178951"/>
                </a:lnTo>
                <a:lnTo>
                  <a:pt x="62357" y="2217521"/>
                </a:lnTo>
                <a:lnTo>
                  <a:pt x="87998" y="2253323"/>
                </a:lnTo>
                <a:lnTo>
                  <a:pt x="117309" y="2286038"/>
                </a:lnTo>
                <a:lnTo>
                  <a:pt x="150025" y="2315349"/>
                </a:lnTo>
                <a:lnTo>
                  <a:pt x="185826" y="2340991"/>
                </a:lnTo>
                <a:lnTo>
                  <a:pt x="224396" y="2362644"/>
                </a:lnTo>
                <a:lnTo>
                  <a:pt x="265468" y="2380005"/>
                </a:lnTo>
                <a:lnTo>
                  <a:pt x="308711" y="2392769"/>
                </a:lnTo>
                <a:lnTo>
                  <a:pt x="353847" y="2400655"/>
                </a:lnTo>
                <a:lnTo>
                  <a:pt x="400570" y="2403348"/>
                </a:lnTo>
                <a:lnTo>
                  <a:pt x="7853426" y="2403348"/>
                </a:lnTo>
                <a:lnTo>
                  <a:pt x="7900136" y="2400655"/>
                </a:lnTo>
                <a:lnTo>
                  <a:pt x="7945272" y="2392769"/>
                </a:lnTo>
                <a:lnTo>
                  <a:pt x="7988516" y="2380005"/>
                </a:lnTo>
                <a:lnTo>
                  <a:pt x="8029575" y="2362644"/>
                </a:lnTo>
                <a:lnTo>
                  <a:pt x="8068157" y="2340991"/>
                </a:lnTo>
                <a:lnTo>
                  <a:pt x="8103959" y="2315349"/>
                </a:lnTo>
                <a:lnTo>
                  <a:pt x="8136661" y="2286025"/>
                </a:lnTo>
                <a:lnTo>
                  <a:pt x="8165986" y="2253323"/>
                </a:lnTo>
                <a:lnTo>
                  <a:pt x="8191614" y="2217521"/>
                </a:lnTo>
                <a:lnTo>
                  <a:pt x="8213268" y="2178951"/>
                </a:lnTo>
                <a:lnTo>
                  <a:pt x="8230629" y="2137880"/>
                </a:lnTo>
                <a:lnTo>
                  <a:pt x="8243405" y="2094636"/>
                </a:lnTo>
                <a:lnTo>
                  <a:pt x="8251279" y="2049500"/>
                </a:lnTo>
                <a:lnTo>
                  <a:pt x="8253984" y="2002777"/>
                </a:lnTo>
                <a:lnTo>
                  <a:pt x="8253984" y="400558"/>
                </a:lnTo>
                <a:close/>
              </a:path>
            </a:pathLst>
          </a:custGeom>
          <a:solidFill>
            <a:srgbClr val="9BBA58"/>
          </a:solidFill>
        </p:spPr>
        <p:txBody>
          <a:bodyPr wrap="square" lIns="0" tIns="0" rIns="0" bIns="0" rtlCol="0"/>
          <a:lstStyle/>
          <a:p>
            <a:endParaRPr/>
          </a:p>
        </p:txBody>
      </p:sp>
      <p:sp>
        <p:nvSpPr>
          <p:cNvPr id="8" name="object 8"/>
          <p:cNvSpPr txBox="1"/>
          <p:nvPr/>
        </p:nvSpPr>
        <p:spPr>
          <a:xfrm>
            <a:off x="508254" y="916432"/>
            <a:ext cx="7987665" cy="4789170"/>
          </a:xfrm>
          <a:prstGeom prst="rect">
            <a:avLst/>
          </a:prstGeom>
        </p:spPr>
        <p:txBody>
          <a:bodyPr vert="horz" wrap="square" lIns="0" tIns="53975" rIns="0" bIns="0" rtlCol="0">
            <a:spAutoFit/>
          </a:bodyPr>
          <a:lstStyle/>
          <a:p>
            <a:pPr marL="354965" marR="5715" indent="-342900" algn="just">
              <a:lnSpc>
                <a:spcPts val="2590"/>
              </a:lnSpc>
              <a:spcBef>
                <a:spcPts val="425"/>
              </a:spcBef>
              <a:buClr>
                <a:srgbClr val="FFFFFF"/>
              </a:buClr>
              <a:buFont typeface="Wingdings"/>
              <a:buChar char=""/>
              <a:tabLst>
                <a:tab pos="420370" algn="l"/>
              </a:tabLst>
            </a:pPr>
            <a:r>
              <a:rPr dirty="0"/>
              <a:t>	</a:t>
            </a:r>
            <a:r>
              <a:rPr sz="2400" spc="70" dirty="0">
                <a:solidFill>
                  <a:srgbClr val="FFFFFF"/>
                </a:solidFill>
                <a:latin typeface="Times New Roman"/>
                <a:cs typeface="Times New Roman"/>
              </a:rPr>
              <a:t>Extensible </a:t>
            </a:r>
            <a:r>
              <a:rPr sz="2400" spc="105" dirty="0">
                <a:solidFill>
                  <a:srgbClr val="FFFFFF"/>
                </a:solidFill>
                <a:latin typeface="Times New Roman"/>
                <a:cs typeface="Times New Roman"/>
              </a:rPr>
              <a:t>Markup </a:t>
            </a:r>
            <a:r>
              <a:rPr sz="2400" spc="55" dirty="0">
                <a:solidFill>
                  <a:srgbClr val="FFFFFF"/>
                </a:solidFill>
                <a:latin typeface="Times New Roman"/>
                <a:cs typeface="Times New Roman"/>
              </a:rPr>
              <a:t>Language </a:t>
            </a:r>
            <a:r>
              <a:rPr sz="2400" spc="15" dirty="0">
                <a:solidFill>
                  <a:srgbClr val="FFFFFF"/>
                </a:solidFill>
                <a:latin typeface="Times New Roman"/>
                <a:cs typeface="Times New Roman"/>
              </a:rPr>
              <a:t>(XML) </a:t>
            </a:r>
            <a:r>
              <a:rPr sz="2400" spc="35" dirty="0">
                <a:solidFill>
                  <a:srgbClr val="FFFFFF"/>
                </a:solidFill>
                <a:latin typeface="Times New Roman"/>
                <a:cs typeface="Times New Roman"/>
              </a:rPr>
              <a:t>allows </a:t>
            </a:r>
            <a:r>
              <a:rPr sz="2400" spc="70" dirty="0">
                <a:solidFill>
                  <a:srgbClr val="FFFFFF"/>
                </a:solidFill>
                <a:latin typeface="Times New Roman"/>
                <a:cs typeface="Times New Roman"/>
              </a:rPr>
              <a:t>developers</a:t>
            </a:r>
            <a:r>
              <a:rPr sz="2400" spc="-225" dirty="0">
                <a:solidFill>
                  <a:srgbClr val="FFFFFF"/>
                </a:solidFill>
                <a:latin typeface="Times New Roman"/>
                <a:cs typeface="Times New Roman"/>
              </a:rPr>
              <a:t> </a:t>
            </a:r>
            <a:r>
              <a:rPr sz="2400" spc="130" dirty="0">
                <a:solidFill>
                  <a:srgbClr val="FFFFFF"/>
                </a:solidFill>
                <a:latin typeface="Times New Roman"/>
                <a:cs typeface="Times New Roman"/>
              </a:rPr>
              <a:t>to  </a:t>
            </a:r>
            <a:r>
              <a:rPr sz="2400" spc="75" dirty="0">
                <a:solidFill>
                  <a:srgbClr val="FFFFFF"/>
                </a:solidFill>
                <a:latin typeface="Times New Roman"/>
                <a:cs typeface="Times New Roman"/>
              </a:rPr>
              <a:t>develop </a:t>
            </a:r>
            <a:r>
              <a:rPr sz="2400" spc="105" dirty="0">
                <a:solidFill>
                  <a:srgbClr val="FFFFFF"/>
                </a:solidFill>
                <a:latin typeface="Times New Roman"/>
                <a:cs typeface="Times New Roman"/>
              </a:rPr>
              <a:t>their </a:t>
            </a:r>
            <a:r>
              <a:rPr sz="2400" spc="130" dirty="0">
                <a:solidFill>
                  <a:srgbClr val="FFFFFF"/>
                </a:solidFill>
                <a:latin typeface="Times New Roman"/>
                <a:cs typeface="Times New Roman"/>
              </a:rPr>
              <a:t>own </a:t>
            </a:r>
            <a:r>
              <a:rPr sz="2400" spc="70" dirty="0">
                <a:solidFill>
                  <a:srgbClr val="FFFFFF"/>
                </a:solidFill>
                <a:latin typeface="Times New Roman"/>
                <a:cs typeface="Times New Roman"/>
              </a:rPr>
              <a:t>set of </a:t>
            </a:r>
            <a:r>
              <a:rPr sz="2400" spc="45" dirty="0">
                <a:solidFill>
                  <a:srgbClr val="FFFFFF"/>
                </a:solidFill>
                <a:latin typeface="Times New Roman"/>
                <a:cs typeface="Times New Roman"/>
              </a:rPr>
              <a:t>tags </a:t>
            </a:r>
            <a:r>
              <a:rPr sz="2400" spc="135" dirty="0">
                <a:solidFill>
                  <a:srgbClr val="FFFFFF"/>
                </a:solidFill>
                <a:latin typeface="Times New Roman"/>
                <a:cs typeface="Times New Roman"/>
              </a:rPr>
              <a:t>and </a:t>
            </a:r>
            <a:r>
              <a:rPr sz="2400" spc="65" dirty="0">
                <a:solidFill>
                  <a:srgbClr val="FFFFFF"/>
                </a:solidFill>
                <a:latin typeface="Times New Roman"/>
                <a:cs typeface="Times New Roman"/>
              </a:rPr>
              <a:t>makes </a:t>
            </a:r>
            <a:r>
              <a:rPr sz="2400" spc="80" dirty="0">
                <a:solidFill>
                  <a:srgbClr val="FFFFFF"/>
                </a:solidFill>
                <a:latin typeface="Times New Roman"/>
                <a:cs typeface="Times New Roman"/>
              </a:rPr>
              <a:t>it </a:t>
            </a:r>
            <a:r>
              <a:rPr sz="2400" spc="50" dirty="0">
                <a:solidFill>
                  <a:srgbClr val="FFFFFF"/>
                </a:solidFill>
                <a:latin typeface="Times New Roman"/>
                <a:cs typeface="Times New Roman"/>
              </a:rPr>
              <a:t>possible </a:t>
            </a:r>
            <a:r>
              <a:rPr sz="2400" spc="80" dirty="0">
                <a:solidFill>
                  <a:srgbClr val="FFFFFF"/>
                </a:solidFill>
                <a:latin typeface="Times New Roman"/>
                <a:cs typeface="Times New Roman"/>
              </a:rPr>
              <a:t>for  </a:t>
            </a:r>
            <a:r>
              <a:rPr sz="2400" spc="125" dirty="0">
                <a:solidFill>
                  <a:srgbClr val="FFFFFF"/>
                </a:solidFill>
                <a:latin typeface="Times New Roman"/>
                <a:cs typeface="Times New Roman"/>
              </a:rPr>
              <a:t>other</a:t>
            </a:r>
            <a:r>
              <a:rPr sz="2400" spc="-90" dirty="0">
                <a:solidFill>
                  <a:srgbClr val="FFFFFF"/>
                </a:solidFill>
                <a:latin typeface="Times New Roman"/>
                <a:cs typeface="Times New Roman"/>
              </a:rPr>
              <a:t> </a:t>
            </a:r>
            <a:r>
              <a:rPr sz="2400" spc="70" dirty="0">
                <a:solidFill>
                  <a:srgbClr val="FFFFFF"/>
                </a:solidFill>
                <a:latin typeface="Times New Roman"/>
                <a:cs typeface="Times New Roman"/>
              </a:rPr>
              <a:t>programs</a:t>
            </a:r>
            <a:r>
              <a:rPr sz="2400" spc="-85"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85" dirty="0">
                <a:solidFill>
                  <a:srgbClr val="FFFFFF"/>
                </a:solidFill>
                <a:latin typeface="Times New Roman"/>
                <a:cs typeface="Times New Roman"/>
              </a:rPr>
              <a:t> </a:t>
            </a:r>
            <a:r>
              <a:rPr sz="2400" spc="125" dirty="0">
                <a:solidFill>
                  <a:srgbClr val="FFFFFF"/>
                </a:solidFill>
                <a:latin typeface="Times New Roman"/>
                <a:cs typeface="Times New Roman"/>
              </a:rPr>
              <a:t>understand</a:t>
            </a:r>
            <a:r>
              <a:rPr sz="2400" spc="-105" dirty="0">
                <a:solidFill>
                  <a:srgbClr val="FFFFFF"/>
                </a:solidFill>
                <a:latin typeface="Times New Roman"/>
                <a:cs typeface="Times New Roman"/>
              </a:rPr>
              <a:t> </a:t>
            </a:r>
            <a:r>
              <a:rPr sz="2400" spc="95" dirty="0">
                <a:solidFill>
                  <a:srgbClr val="FFFFFF"/>
                </a:solidFill>
                <a:latin typeface="Times New Roman"/>
                <a:cs typeface="Times New Roman"/>
              </a:rPr>
              <a:t>these</a:t>
            </a:r>
            <a:r>
              <a:rPr sz="2400" spc="-95" dirty="0">
                <a:solidFill>
                  <a:srgbClr val="FFFFFF"/>
                </a:solidFill>
                <a:latin typeface="Times New Roman"/>
                <a:cs typeface="Times New Roman"/>
              </a:rPr>
              <a:t> </a:t>
            </a:r>
            <a:r>
              <a:rPr sz="2400" spc="35" dirty="0">
                <a:solidFill>
                  <a:srgbClr val="FFFFFF"/>
                </a:solidFill>
                <a:latin typeface="Times New Roman"/>
                <a:cs typeface="Times New Roman"/>
              </a:rPr>
              <a:t>tags.</a:t>
            </a:r>
            <a:endParaRPr sz="2400">
              <a:latin typeface="Times New Roman"/>
              <a:cs typeface="Times New Roman"/>
            </a:endParaRPr>
          </a:p>
          <a:p>
            <a:pPr>
              <a:lnSpc>
                <a:spcPct val="100000"/>
              </a:lnSpc>
              <a:spcBef>
                <a:spcPts val="35"/>
              </a:spcBef>
              <a:buClr>
                <a:srgbClr val="FFFFFF"/>
              </a:buClr>
              <a:buFont typeface="Wingdings"/>
              <a:buChar char=""/>
            </a:pPr>
            <a:endParaRPr sz="4050">
              <a:latin typeface="Times New Roman"/>
              <a:cs typeface="Times New Roman"/>
            </a:endParaRPr>
          </a:p>
          <a:p>
            <a:pPr marL="412750" marR="5080" lvl="1" indent="-342900" algn="just">
              <a:lnSpc>
                <a:spcPts val="2380"/>
              </a:lnSpc>
              <a:buFont typeface="Wingdings"/>
              <a:buChar char=""/>
              <a:tabLst>
                <a:tab pos="413384" algn="l"/>
              </a:tabLst>
            </a:pPr>
            <a:r>
              <a:rPr sz="2200" spc="35" dirty="0">
                <a:solidFill>
                  <a:srgbClr val="FFFFFF"/>
                </a:solidFill>
                <a:latin typeface="Times New Roman"/>
                <a:cs typeface="Times New Roman"/>
              </a:rPr>
              <a:t>XML </a:t>
            </a:r>
            <a:r>
              <a:rPr sz="2200" spc="5" dirty="0">
                <a:solidFill>
                  <a:srgbClr val="FFFFFF"/>
                </a:solidFill>
                <a:latin typeface="Times New Roman"/>
                <a:cs typeface="Times New Roman"/>
              </a:rPr>
              <a:t>is </a:t>
            </a:r>
            <a:r>
              <a:rPr sz="2200" spc="125" dirty="0">
                <a:solidFill>
                  <a:srgbClr val="FFFFFF"/>
                </a:solidFill>
                <a:latin typeface="Times New Roman"/>
                <a:cs typeface="Times New Roman"/>
              </a:rPr>
              <a:t>the </a:t>
            </a:r>
            <a:r>
              <a:rPr sz="2200" spc="80" dirty="0">
                <a:solidFill>
                  <a:srgbClr val="FFFFFF"/>
                </a:solidFill>
                <a:latin typeface="Times New Roman"/>
                <a:cs typeface="Times New Roman"/>
              </a:rPr>
              <a:t>preferred means </a:t>
            </a:r>
            <a:r>
              <a:rPr sz="2200" spc="70" dirty="0">
                <a:solidFill>
                  <a:srgbClr val="FFFFFF"/>
                </a:solidFill>
                <a:latin typeface="Times New Roman"/>
                <a:cs typeface="Times New Roman"/>
              </a:rPr>
              <a:t>for </a:t>
            </a:r>
            <a:r>
              <a:rPr sz="2200" spc="65" dirty="0">
                <a:solidFill>
                  <a:srgbClr val="FFFFFF"/>
                </a:solidFill>
                <a:latin typeface="Times New Roman"/>
                <a:cs typeface="Times New Roman"/>
              </a:rPr>
              <a:t>developers </a:t>
            </a:r>
            <a:r>
              <a:rPr sz="2200" spc="120" dirty="0">
                <a:solidFill>
                  <a:srgbClr val="FFFFFF"/>
                </a:solidFill>
                <a:latin typeface="Times New Roman"/>
                <a:cs typeface="Times New Roman"/>
              </a:rPr>
              <a:t>to </a:t>
            </a:r>
            <a:r>
              <a:rPr sz="2200" spc="60" dirty="0">
                <a:solidFill>
                  <a:srgbClr val="FFFFFF"/>
                </a:solidFill>
                <a:latin typeface="Times New Roman"/>
                <a:cs typeface="Times New Roman"/>
              </a:rPr>
              <a:t>store, </a:t>
            </a:r>
            <a:r>
              <a:rPr sz="2200" spc="70" dirty="0">
                <a:solidFill>
                  <a:srgbClr val="FFFFFF"/>
                </a:solidFill>
                <a:latin typeface="Times New Roman"/>
                <a:cs typeface="Times New Roman"/>
              </a:rPr>
              <a:t>format,  </a:t>
            </a:r>
            <a:r>
              <a:rPr sz="2200" spc="125" dirty="0">
                <a:solidFill>
                  <a:srgbClr val="FFFFFF"/>
                </a:solidFill>
                <a:latin typeface="Times New Roman"/>
                <a:cs typeface="Times New Roman"/>
              </a:rPr>
              <a:t>and</a:t>
            </a:r>
            <a:r>
              <a:rPr sz="2200" spc="-105" dirty="0">
                <a:solidFill>
                  <a:srgbClr val="FFFFFF"/>
                </a:solidFill>
                <a:latin typeface="Times New Roman"/>
                <a:cs typeface="Times New Roman"/>
              </a:rPr>
              <a:t> </a:t>
            </a:r>
            <a:r>
              <a:rPr sz="2200" spc="65" dirty="0">
                <a:solidFill>
                  <a:srgbClr val="FFFFFF"/>
                </a:solidFill>
                <a:latin typeface="Times New Roman"/>
                <a:cs typeface="Times New Roman"/>
              </a:rPr>
              <a:t>manage</a:t>
            </a:r>
            <a:r>
              <a:rPr sz="2200" spc="-95" dirty="0">
                <a:solidFill>
                  <a:srgbClr val="FFFFFF"/>
                </a:solidFill>
                <a:latin typeface="Times New Roman"/>
                <a:cs typeface="Times New Roman"/>
              </a:rPr>
              <a:t> </a:t>
            </a:r>
            <a:r>
              <a:rPr sz="2200" spc="90" dirty="0">
                <a:solidFill>
                  <a:srgbClr val="FFFFFF"/>
                </a:solidFill>
                <a:latin typeface="Times New Roman"/>
                <a:cs typeface="Times New Roman"/>
              </a:rPr>
              <a:t>data</a:t>
            </a:r>
            <a:r>
              <a:rPr sz="2200" spc="-100" dirty="0">
                <a:solidFill>
                  <a:srgbClr val="FFFFFF"/>
                </a:solidFill>
                <a:latin typeface="Times New Roman"/>
                <a:cs typeface="Times New Roman"/>
              </a:rPr>
              <a:t> </a:t>
            </a:r>
            <a:r>
              <a:rPr sz="2200" spc="150" dirty="0">
                <a:solidFill>
                  <a:srgbClr val="FFFFFF"/>
                </a:solidFill>
                <a:latin typeface="Times New Roman"/>
                <a:cs typeface="Times New Roman"/>
              </a:rPr>
              <a:t>on</a:t>
            </a:r>
            <a:r>
              <a:rPr sz="2200" spc="-9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170" dirty="0">
                <a:solidFill>
                  <a:srgbClr val="FFFFFF"/>
                </a:solidFill>
                <a:latin typeface="Times New Roman"/>
                <a:cs typeface="Times New Roman"/>
              </a:rPr>
              <a:t>Web</a:t>
            </a:r>
            <a:endParaRPr sz="2200">
              <a:latin typeface="Times New Roman"/>
              <a:cs typeface="Times New Roman"/>
            </a:endParaRPr>
          </a:p>
          <a:p>
            <a:pPr lvl="1">
              <a:lnSpc>
                <a:spcPct val="100000"/>
              </a:lnSpc>
              <a:buChar char=""/>
            </a:pPr>
            <a:endParaRPr sz="3100">
              <a:latin typeface="Times New Roman"/>
              <a:cs typeface="Times New Roman"/>
            </a:endParaRPr>
          </a:p>
          <a:p>
            <a:pPr marL="137160">
              <a:lnSpc>
                <a:spcPts val="2310"/>
              </a:lnSpc>
              <a:spcBef>
                <a:spcPts val="2115"/>
              </a:spcBef>
            </a:pPr>
            <a:r>
              <a:rPr sz="2000" spc="70" dirty="0">
                <a:solidFill>
                  <a:srgbClr val="FFFFFF"/>
                </a:solidFill>
                <a:latin typeface="Times New Roman"/>
                <a:cs typeface="Times New Roman"/>
              </a:rPr>
              <a:t>Applications</a:t>
            </a:r>
            <a:r>
              <a:rPr sz="2000" spc="-5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today</a:t>
            </a:r>
            <a:r>
              <a:rPr sz="2000" spc="-60" dirty="0">
                <a:solidFill>
                  <a:srgbClr val="FFFFFF"/>
                </a:solidFill>
                <a:latin typeface="Times New Roman"/>
                <a:cs typeface="Times New Roman"/>
              </a:rPr>
              <a:t> </a:t>
            </a:r>
            <a:r>
              <a:rPr sz="2000" spc="70" dirty="0">
                <a:solidFill>
                  <a:srgbClr val="FFFFFF"/>
                </a:solidFill>
                <a:latin typeface="Times New Roman"/>
                <a:cs typeface="Times New Roman"/>
              </a:rPr>
              <a:t>have</a:t>
            </a:r>
            <a:r>
              <a:rPr sz="2000" spc="-6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mix</a:t>
            </a:r>
            <a:r>
              <a:rPr sz="2000" spc="-8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technologies</a:t>
            </a:r>
            <a:r>
              <a:rPr sz="2000" spc="-40" dirty="0">
                <a:solidFill>
                  <a:srgbClr val="FFFFFF"/>
                </a:solidFill>
                <a:latin typeface="Times New Roman"/>
                <a:cs typeface="Times New Roman"/>
              </a:rPr>
              <a:t> </a:t>
            </a:r>
            <a:r>
              <a:rPr sz="2000" spc="85" dirty="0">
                <a:solidFill>
                  <a:srgbClr val="FFFFFF"/>
                </a:solidFill>
                <a:latin typeface="Times New Roman"/>
                <a:cs typeface="Times New Roman"/>
              </a:rPr>
              <a:t>such</a:t>
            </a:r>
            <a:r>
              <a:rPr sz="2000" spc="-75" dirty="0">
                <a:solidFill>
                  <a:srgbClr val="FFFFFF"/>
                </a:solidFill>
                <a:latin typeface="Times New Roman"/>
                <a:cs typeface="Times New Roman"/>
              </a:rPr>
              <a:t> </a:t>
            </a:r>
            <a:r>
              <a:rPr sz="2000" dirty="0">
                <a:solidFill>
                  <a:srgbClr val="FFFFFF"/>
                </a:solidFill>
                <a:latin typeface="Times New Roman"/>
                <a:cs typeface="Times New Roman"/>
              </a:rPr>
              <a:t>as:</a:t>
            </a:r>
            <a:endParaRPr sz="2000">
              <a:latin typeface="Times New Roman"/>
              <a:cs typeface="Times New Roman"/>
            </a:endParaRPr>
          </a:p>
          <a:p>
            <a:pPr marL="368935" lvl="1" indent="-286385">
              <a:lnSpc>
                <a:spcPts val="1960"/>
              </a:lnSpc>
              <a:buFont typeface="Wingdings"/>
              <a:buChar char=""/>
              <a:tabLst>
                <a:tab pos="369570" algn="l"/>
              </a:tabLst>
            </a:pPr>
            <a:r>
              <a:rPr sz="1800" spc="80" dirty="0">
                <a:solidFill>
                  <a:srgbClr val="FFFFFF"/>
                </a:solidFill>
                <a:latin typeface="Times New Roman"/>
                <a:cs typeface="Times New Roman"/>
              </a:rPr>
              <a:t>ASP</a:t>
            </a:r>
            <a:endParaRPr sz="1800">
              <a:latin typeface="Times New Roman"/>
              <a:cs typeface="Times New Roman"/>
            </a:endParaRPr>
          </a:p>
          <a:p>
            <a:pPr marL="368935" lvl="1" indent="-286385">
              <a:lnSpc>
                <a:spcPts val="1945"/>
              </a:lnSpc>
              <a:buFont typeface="Wingdings"/>
              <a:buChar char=""/>
              <a:tabLst>
                <a:tab pos="369570" algn="l"/>
              </a:tabLst>
            </a:pPr>
            <a:r>
              <a:rPr sz="1800" spc="50" dirty="0">
                <a:solidFill>
                  <a:srgbClr val="FFFFFF"/>
                </a:solidFill>
                <a:latin typeface="Times New Roman"/>
                <a:cs typeface="Times New Roman"/>
              </a:rPr>
              <a:t>Microsoft </a:t>
            </a:r>
            <a:r>
              <a:rPr sz="1800" spc="70" dirty="0">
                <a:solidFill>
                  <a:srgbClr val="FFFFFF"/>
                </a:solidFill>
                <a:latin typeface="Times New Roman"/>
                <a:cs typeface="Times New Roman"/>
              </a:rPr>
              <a:t>.NET</a:t>
            </a:r>
            <a:r>
              <a:rPr sz="1800" spc="-185" dirty="0">
                <a:solidFill>
                  <a:srgbClr val="FFFFFF"/>
                </a:solidFill>
                <a:latin typeface="Times New Roman"/>
                <a:cs typeface="Times New Roman"/>
              </a:rPr>
              <a:t> </a:t>
            </a:r>
            <a:r>
              <a:rPr sz="1800" spc="55" dirty="0">
                <a:solidFill>
                  <a:srgbClr val="FFFFFF"/>
                </a:solidFill>
                <a:latin typeface="Times New Roman"/>
                <a:cs typeface="Times New Roman"/>
              </a:rPr>
              <a:t>technologies</a:t>
            </a:r>
            <a:endParaRPr sz="1800">
              <a:latin typeface="Times New Roman"/>
              <a:cs typeface="Times New Roman"/>
            </a:endParaRPr>
          </a:p>
          <a:p>
            <a:pPr marL="368935" lvl="1" indent="-286385">
              <a:lnSpc>
                <a:spcPts val="1945"/>
              </a:lnSpc>
              <a:buFont typeface="Wingdings"/>
              <a:buChar char=""/>
              <a:tabLst>
                <a:tab pos="369570" algn="l"/>
              </a:tabLst>
            </a:pPr>
            <a:r>
              <a:rPr sz="1800" spc="30" dirty="0">
                <a:solidFill>
                  <a:srgbClr val="FFFFFF"/>
                </a:solidFill>
                <a:latin typeface="Times New Roman"/>
                <a:cs typeface="Times New Roman"/>
              </a:rPr>
              <a:t>XML</a:t>
            </a:r>
            <a:endParaRPr sz="1800">
              <a:latin typeface="Times New Roman"/>
              <a:cs typeface="Times New Roman"/>
            </a:endParaRPr>
          </a:p>
          <a:p>
            <a:pPr marL="368935" lvl="1" indent="-286385">
              <a:lnSpc>
                <a:spcPts val="2050"/>
              </a:lnSpc>
              <a:buFont typeface="Wingdings"/>
              <a:buChar char=""/>
              <a:tabLst>
                <a:tab pos="369570" algn="l"/>
              </a:tabLst>
            </a:pPr>
            <a:r>
              <a:rPr sz="1800" spc="85" dirty="0">
                <a:solidFill>
                  <a:srgbClr val="FFFFFF"/>
                </a:solidFill>
                <a:latin typeface="Times New Roman"/>
                <a:cs typeface="Times New Roman"/>
              </a:rPr>
              <a:t>SQL</a:t>
            </a:r>
            <a:r>
              <a:rPr sz="1800" spc="-65" dirty="0">
                <a:solidFill>
                  <a:srgbClr val="FFFFFF"/>
                </a:solidFill>
                <a:latin typeface="Times New Roman"/>
                <a:cs typeface="Times New Roman"/>
              </a:rPr>
              <a:t> </a:t>
            </a:r>
            <a:r>
              <a:rPr sz="1800" spc="55" dirty="0">
                <a:solidFill>
                  <a:srgbClr val="FFFFFF"/>
                </a:solidFill>
                <a:latin typeface="Times New Roman"/>
                <a:cs typeface="Times New Roman"/>
              </a:rPr>
              <a:t>Server</a:t>
            </a:r>
            <a:r>
              <a:rPr sz="1800" spc="-75" dirty="0">
                <a:solidFill>
                  <a:srgbClr val="FFFFFF"/>
                </a:solidFill>
                <a:latin typeface="Times New Roman"/>
                <a:cs typeface="Times New Roman"/>
              </a:rPr>
              <a:t> </a:t>
            </a:r>
            <a:r>
              <a:rPr sz="1800" spc="-80" dirty="0">
                <a:solidFill>
                  <a:srgbClr val="FFFFFF"/>
                </a:solidFill>
                <a:latin typeface="Times New Roman"/>
                <a:cs typeface="Times New Roman"/>
              </a:rPr>
              <a:t>2019</a:t>
            </a:r>
            <a:r>
              <a:rPr sz="1800" spc="-70" dirty="0">
                <a:solidFill>
                  <a:srgbClr val="FFFFFF"/>
                </a:solidFill>
                <a:latin typeface="Times New Roman"/>
                <a:cs typeface="Times New Roman"/>
              </a:rPr>
              <a:t> </a:t>
            </a:r>
            <a:r>
              <a:rPr sz="1800" spc="60" dirty="0">
                <a:solidFill>
                  <a:srgbClr val="FFFFFF"/>
                </a:solidFill>
                <a:latin typeface="Times New Roman"/>
                <a:cs typeface="Times New Roman"/>
              </a:rPr>
              <a:t>working</a:t>
            </a:r>
            <a:r>
              <a:rPr sz="1800" spc="-70"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65" dirty="0">
                <a:solidFill>
                  <a:srgbClr val="FFFFFF"/>
                </a:solidFill>
                <a:latin typeface="Times New Roman"/>
                <a:cs typeface="Times New Roman"/>
              </a:rPr>
              <a:t> </a:t>
            </a:r>
            <a:r>
              <a:rPr sz="1800" spc="90" dirty="0">
                <a:solidFill>
                  <a:srgbClr val="FFFFFF"/>
                </a:solidFill>
                <a:latin typeface="Times New Roman"/>
                <a:cs typeface="Times New Roman"/>
              </a:rPr>
              <a:t>tandem</a:t>
            </a:r>
            <a:endParaRPr sz="1800">
              <a:latin typeface="Times New Roman"/>
              <a:cs typeface="Times New Roman"/>
            </a:endParaRPr>
          </a:p>
          <a:p>
            <a:pPr marL="83185">
              <a:lnSpc>
                <a:spcPct val="100000"/>
              </a:lnSpc>
              <a:spcBef>
                <a:spcPts val="1670"/>
              </a:spcBef>
            </a:pPr>
            <a:r>
              <a:rPr sz="2000" spc="80"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85" dirty="0">
                <a:solidFill>
                  <a:srgbClr val="FFFFFF"/>
                </a:solidFill>
                <a:latin typeface="Times New Roman"/>
                <a:cs typeface="Times New Roman"/>
              </a:rPr>
              <a:t>such</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50" dirty="0">
                <a:solidFill>
                  <a:srgbClr val="FFFFFF"/>
                </a:solidFill>
                <a:latin typeface="Times New Roman"/>
                <a:cs typeface="Times New Roman"/>
              </a:rPr>
              <a:t>scenario,</a:t>
            </a:r>
            <a:r>
              <a:rPr sz="2000" spc="-55" dirty="0">
                <a:solidFill>
                  <a:srgbClr val="FFFFFF"/>
                </a:solidFill>
                <a:latin typeface="Times New Roman"/>
                <a:cs typeface="Times New Roman"/>
              </a:rPr>
              <a:t> </a:t>
            </a:r>
            <a:r>
              <a:rPr sz="2000" spc="65" dirty="0">
                <a:solidFill>
                  <a:srgbClr val="FFFFFF"/>
                </a:solidFill>
                <a:latin typeface="Times New Roman"/>
                <a:cs typeface="Times New Roman"/>
              </a:rPr>
              <a:t>it</a:t>
            </a:r>
            <a:r>
              <a:rPr sz="2000" spc="-8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75" dirty="0">
                <a:solidFill>
                  <a:srgbClr val="FFFFFF"/>
                </a:solidFill>
                <a:latin typeface="Times New Roman"/>
                <a:cs typeface="Times New Roman"/>
              </a:rPr>
              <a:t> </a:t>
            </a:r>
            <a:r>
              <a:rPr sz="2000" spc="85" dirty="0">
                <a:solidFill>
                  <a:srgbClr val="FFFFFF"/>
                </a:solidFill>
                <a:latin typeface="Times New Roman"/>
                <a:cs typeface="Times New Roman"/>
              </a:rPr>
              <a:t>better</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0" dirty="0">
                <a:solidFill>
                  <a:srgbClr val="FFFFFF"/>
                </a:solidFill>
                <a:latin typeface="Times New Roman"/>
                <a:cs typeface="Times New Roman"/>
              </a:rPr>
              <a:t> </a:t>
            </a:r>
            <a:r>
              <a:rPr sz="2000" spc="70" dirty="0">
                <a:solidFill>
                  <a:srgbClr val="FFFFFF"/>
                </a:solidFill>
                <a:latin typeface="Times New Roman"/>
                <a:cs typeface="Times New Roman"/>
              </a:rPr>
              <a:t>store</a:t>
            </a:r>
            <a:r>
              <a:rPr sz="2000" spc="-60" dirty="0">
                <a:solidFill>
                  <a:srgbClr val="FFFFFF"/>
                </a:solidFill>
                <a:latin typeface="Times New Roman"/>
                <a:cs typeface="Times New Roman"/>
              </a:rPr>
              <a:t> </a:t>
            </a:r>
            <a:r>
              <a:rPr sz="2000" spc="25" dirty="0">
                <a:solidFill>
                  <a:srgbClr val="FFFFFF"/>
                </a:solidFill>
                <a:latin typeface="Times New Roman"/>
                <a:cs typeface="Times New Roman"/>
              </a:rPr>
              <a:t>XML</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65" dirty="0">
                <a:solidFill>
                  <a:srgbClr val="FFFFFF"/>
                </a:solidFill>
                <a:latin typeface="Times New Roman"/>
                <a:cs typeface="Times New Roman"/>
              </a:rPr>
              <a:t> </a:t>
            </a:r>
            <a:r>
              <a:rPr sz="2000" spc="90" dirty="0">
                <a:solidFill>
                  <a:srgbClr val="FFFFFF"/>
                </a:solidFill>
                <a:latin typeface="Times New Roman"/>
                <a:cs typeface="Times New Roman"/>
              </a:rPr>
              <a:t>within</a:t>
            </a:r>
            <a:r>
              <a:rPr sz="2000" spc="-70" dirty="0">
                <a:solidFill>
                  <a:srgbClr val="FFFFFF"/>
                </a:solidFill>
                <a:latin typeface="Times New Roman"/>
                <a:cs typeface="Times New Roman"/>
              </a:rPr>
              <a:t> </a:t>
            </a:r>
            <a:r>
              <a:rPr sz="2000" spc="90" dirty="0">
                <a:solidFill>
                  <a:srgbClr val="FFFFFF"/>
                </a:solidFill>
                <a:latin typeface="Times New Roman"/>
                <a:cs typeface="Times New Roman"/>
              </a:rPr>
              <a:t>SQL</a:t>
            </a:r>
            <a:r>
              <a:rPr sz="2000" spc="-85" dirty="0">
                <a:solidFill>
                  <a:srgbClr val="FFFFFF"/>
                </a:solidFill>
                <a:latin typeface="Times New Roman"/>
                <a:cs typeface="Times New Roman"/>
              </a:rPr>
              <a:t> </a:t>
            </a:r>
            <a:r>
              <a:rPr sz="2000" spc="60" dirty="0">
                <a:solidFill>
                  <a:srgbClr val="FFFFFF"/>
                </a:solidFill>
                <a:latin typeface="Times New Roman"/>
                <a:cs typeface="Times New Roman"/>
              </a:rPr>
              <a:t>Server</a:t>
            </a:r>
            <a:r>
              <a:rPr sz="2000" spc="-50" dirty="0">
                <a:solidFill>
                  <a:srgbClr val="FFFFFF"/>
                </a:solidFill>
                <a:latin typeface="Times New Roman"/>
                <a:cs typeface="Times New Roman"/>
              </a:rPr>
              <a:t> </a:t>
            </a:r>
            <a:r>
              <a:rPr sz="2000" spc="-75" dirty="0">
                <a:solidFill>
                  <a:srgbClr val="FFFFFF"/>
                </a:solidFill>
                <a:latin typeface="Times New Roman"/>
                <a:cs typeface="Times New Roman"/>
              </a:rPr>
              <a:t>2019.</a:t>
            </a:r>
            <a:endParaRPr sz="20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21</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7294" y="0"/>
            <a:ext cx="5147945" cy="635635"/>
          </a:xfrm>
          <a:prstGeom prst="rect">
            <a:avLst/>
          </a:prstGeom>
        </p:spPr>
        <p:txBody>
          <a:bodyPr vert="horz" wrap="square" lIns="0" tIns="12700" rIns="0" bIns="0" rtlCol="0">
            <a:spAutoFit/>
          </a:bodyPr>
          <a:lstStyle/>
          <a:p>
            <a:pPr marL="12700">
              <a:lnSpc>
                <a:spcPct val="100000"/>
              </a:lnSpc>
              <a:spcBef>
                <a:spcPts val="100"/>
              </a:spcBef>
            </a:pPr>
            <a:r>
              <a:rPr sz="4000" spc="220" dirty="0">
                <a:solidFill>
                  <a:srgbClr val="FFFFFF"/>
                </a:solidFill>
                <a:latin typeface="Times New Roman"/>
                <a:cs typeface="Times New Roman"/>
              </a:rPr>
              <a:t>Working</a:t>
            </a:r>
            <a:r>
              <a:rPr sz="4000" spc="-185" dirty="0">
                <a:solidFill>
                  <a:srgbClr val="FFFFFF"/>
                </a:solidFill>
                <a:latin typeface="Times New Roman"/>
                <a:cs typeface="Times New Roman"/>
              </a:rPr>
              <a:t> </a:t>
            </a:r>
            <a:r>
              <a:rPr sz="4000" spc="180" dirty="0">
                <a:solidFill>
                  <a:srgbClr val="FFFFFF"/>
                </a:solidFill>
                <a:latin typeface="Times New Roman"/>
                <a:cs typeface="Times New Roman"/>
              </a:rPr>
              <a:t>with</a:t>
            </a:r>
            <a:r>
              <a:rPr sz="4000" spc="-175" dirty="0">
                <a:solidFill>
                  <a:srgbClr val="FFFFFF"/>
                </a:solidFill>
                <a:latin typeface="Times New Roman"/>
                <a:cs typeface="Times New Roman"/>
              </a:rPr>
              <a:t> </a:t>
            </a:r>
            <a:r>
              <a:rPr sz="4000" spc="65" dirty="0">
                <a:solidFill>
                  <a:srgbClr val="FFFFFF"/>
                </a:solidFill>
                <a:latin typeface="Times New Roman"/>
                <a:cs typeface="Times New Roman"/>
              </a:rPr>
              <a:t>XML</a:t>
            </a:r>
            <a:r>
              <a:rPr sz="4000" spc="-175" dirty="0">
                <a:solidFill>
                  <a:srgbClr val="FFFFFF"/>
                </a:solidFill>
                <a:latin typeface="Times New Roman"/>
                <a:cs typeface="Times New Roman"/>
              </a:rPr>
              <a:t> </a:t>
            </a:r>
            <a:r>
              <a:rPr sz="4000" spc="-80" dirty="0">
                <a:solidFill>
                  <a:srgbClr val="FFFFFF"/>
                </a:solidFill>
                <a:latin typeface="Times New Roman"/>
                <a:cs typeface="Times New Roman"/>
              </a:rPr>
              <a:t>2-2</a:t>
            </a:r>
            <a:endParaRPr sz="4000">
              <a:latin typeface="Times New Roman"/>
              <a:cs typeface="Times New Roman"/>
            </a:endParaRPr>
          </a:p>
        </p:txBody>
      </p:sp>
      <p:sp>
        <p:nvSpPr>
          <p:cNvPr id="3" name="object 3"/>
          <p:cNvSpPr txBox="1"/>
          <p:nvPr/>
        </p:nvSpPr>
        <p:spPr>
          <a:xfrm>
            <a:off x="459740" y="855980"/>
            <a:ext cx="8338820" cy="757555"/>
          </a:xfrm>
          <a:prstGeom prst="rect">
            <a:avLst/>
          </a:prstGeom>
        </p:spPr>
        <p:txBody>
          <a:bodyPr vert="horz" wrap="square" lIns="0" tIns="12700" rIns="0" bIns="0" rtlCol="0">
            <a:spAutoFit/>
          </a:bodyPr>
          <a:lstStyle/>
          <a:p>
            <a:pPr marL="12700" marR="5080">
              <a:lnSpc>
                <a:spcPct val="100000"/>
              </a:lnSpc>
              <a:spcBef>
                <a:spcPts val="100"/>
              </a:spcBef>
            </a:pPr>
            <a:r>
              <a:rPr sz="2400" spc="80" dirty="0">
                <a:latin typeface="Times New Roman"/>
                <a:cs typeface="Times New Roman"/>
              </a:rPr>
              <a:t>Native </a:t>
            </a:r>
            <a:r>
              <a:rPr sz="2400" spc="35" dirty="0">
                <a:latin typeface="Times New Roman"/>
                <a:cs typeface="Times New Roman"/>
              </a:rPr>
              <a:t>XML </a:t>
            </a:r>
            <a:r>
              <a:rPr sz="2400" spc="65" dirty="0">
                <a:latin typeface="Times New Roman"/>
                <a:cs typeface="Times New Roman"/>
              </a:rPr>
              <a:t>databases </a:t>
            </a:r>
            <a:r>
              <a:rPr sz="2400" spc="114" dirty="0">
                <a:latin typeface="Times New Roman"/>
                <a:cs typeface="Times New Roman"/>
              </a:rPr>
              <a:t>in </a:t>
            </a:r>
            <a:r>
              <a:rPr sz="2400" spc="120" dirty="0">
                <a:latin typeface="Times New Roman"/>
                <a:cs typeface="Times New Roman"/>
              </a:rPr>
              <a:t>SQL </a:t>
            </a:r>
            <a:r>
              <a:rPr sz="2400" spc="70" dirty="0">
                <a:latin typeface="Times New Roman"/>
                <a:cs typeface="Times New Roman"/>
              </a:rPr>
              <a:t>Server </a:t>
            </a:r>
            <a:r>
              <a:rPr sz="2400" spc="-110" dirty="0">
                <a:latin typeface="Times New Roman"/>
                <a:cs typeface="Times New Roman"/>
              </a:rPr>
              <a:t>2019 </a:t>
            </a:r>
            <a:r>
              <a:rPr sz="2400" spc="90" dirty="0">
                <a:latin typeface="Times New Roman"/>
                <a:cs typeface="Times New Roman"/>
              </a:rPr>
              <a:t>have </a:t>
            </a:r>
            <a:r>
              <a:rPr sz="2400" spc="40" dirty="0">
                <a:latin typeface="Times New Roman"/>
                <a:cs typeface="Times New Roman"/>
              </a:rPr>
              <a:t>a </a:t>
            </a:r>
            <a:r>
              <a:rPr sz="2400" spc="130" dirty="0">
                <a:latin typeface="Times New Roman"/>
                <a:cs typeface="Times New Roman"/>
              </a:rPr>
              <a:t>number </a:t>
            </a:r>
            <a:r>
              <a:rPr sz="2400" spc="70" dirty="0">
                <a:latin typeface="Times New Roman"/>
                <a:cs typeface="Times New Roman"/>
              </a:rPr>
              <a:t>of  </a:t>
            </a:r>
            <a:r>
              <a:rPr sz="2400" spc="65" dirty="0">
                <a:latin typeface="Times New Roman"/>
                <a:cs typeface="Times New Roman"/>
              </a:rPr>
              <a:t>advantages.</a:t>
            </a:r>
            <a:r>
              <a:rPr sz="2400" spc="-90" dirty="0">
                <a:latin typeface="Times New Roman"/>
                <a:cs typeface="Times New Roman"/>
              </a:rPr>
              <a:t> </a:t>
            </a:r>
            <a:r>
              <a:rPr sz="2400" spc="90" dirty="0">
                <a:latin typeface="Times New Roman"/>
                <a:cs typeface="Times New Roman"/>
              </a:rPr>
              <a:t>Some</a:t>
            </a:r>
            <a:r>
              <a:rPr sz="2400" spc="-95" dirty="0">
                <a:latin typeface="Times New Roman"/>
                <a:cs typeface="Times New Roman"/>
              </a:rPr>
              <a:t> </a:t>
            </a:r>
            <a:r>
              <a:rPr sz="2400" spc="70" dirty="0">
                <a:latin typeface="Times New Roman"/>
                <a:cs typeface="Times New Roman"/>
              </a:rPr>
              <a:t>of</a:t>
            </a:r>
            <a:r>
              <a:rPr sz="2400" spc="-100" dirty="0">
                <a:latin typeface="Times New Roman"/>
                <a:cs typeface="Times New Roman"/>
              </a:rPr>
              <a:t> </a:t>
            </a:r>
            <a:r>
              <a:rPr sz="2400" spc="130" dirty="0">
                <a:latin typeface="Times New Roman"/>
                <a:cs typeface="Times New Roman"/>
              </a:rPr>
              <a:t>them</a:t>
            </a:r>
            <a:r>
              <a:rPr sz="2400" spc="-85" dirty="0">
                <a:latin typeface="Times New Roman"/>
                <a:cs typeface="Times New Roman"/>
              </a:rPr>
              <a:t> </a:t>
            </a:r>
            <a:r>
              <a:rPr sz="2400" spc="65" dirty="0">
                <a:latin typeface="Times New Roman"/>
                <a:cs typeface="Times New Roman"/>
              </a:rPr>
              <a:t>are</a:t>
            </a:r>
            <a:r>
              <a:rPr sz="2400" spc="-85" dirty="0">
                <a:latin typeface="Times New Roman"/>
                <a:cs typeface="Times New Roman"/>
              </a:rPr>
              <a:t> </a:t>
            </a:r>
            <a:r>
              <a:rPr sz="2400" spc="65" dirty="0">
                <a:latin typeface="Times New Roman"/>
                <a:cs typeface="Times New Roman"/>
              </a:rPr>
              <a:t>listed</a:t>
            </a:r>
            <a:r>
              <a:rPr sz="2400" spc="-100" dirty="0">
                <a:latin typeface="Times New Roman"/>
                <a:cs typeface="Times New Roman"/>
              </a:rPr>
              <a:t> </a:t>
            </a:r>
            <a:r>
              <a:rPr sz="2400" spc="20" dirty="0">
                <a:latin typeface="Times New Roman"/>
                <a:cs typeface="Times New Roman"/>
              </a:rPr>
              <a:t>as</a:t>
            </a:r>
            <a:r>
              <a:rPr sz="2400" spc="-90" dirty="0">
                <a:latin typeface="Times New Roman"/>
                <a:cs typeface="Times New Roman"/>
              </a:rPr>
              <a:t> </a:t>
            </a:r>
            <a:r>
              <a:rPr sz="2400" spc="35" dirty="0">
                <a:latin typeface="Times New Roman"/>
                <a:cs typeface="Times New Roman"/>
              </a:rPr>
              <a:t>follows:</a:t>
            </a:r>
            <a:endParaRPr sz="2400">
              <a:latin typeface="Times New Roman"/>
              <a:cs typeface="Times New Roman"/>
            </a:endParaRPr>
          </a:p>
        </p:txBody>
      </p:sp>
      <p:pic>
        <p:nvPicPr>
          <p:cNvPr id="4" name="object 4"/>
          <p:cNvPicPr/>
          <p:nvPr/>
        </p:nvPicPr>
        <p:blipFill>
          <a:blip r:embed="rId3" cstate="print"/>
          <a:stretch>
            <a:fillRect/>
          </a:stretch>
        </p:blipFill>
        <p:spPr>
          <a:xfrm>
            <a:off x="826769" y="2300477"/>
            <a:ext cx="7490459" cy="3028188"/>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22</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723" y="17272"/>
            <a:ext cx="3569970" cy="635635"/>
          </a:xfrm>
          <a:prstGeom prst="rect">
            <a:avLst/>
          </a:prstGeom>
        </p:spPr>
        <p:txBody>
          <a:bodyPr vert="horz" wrap="square" lIns="0" tIns="12700" rIns="0" bIns="0" rtlCol="0">
            <a:spAutoFit/>
          </a:bodyPr>
          <a:lstStyle/>
          <a:p>
            <a:pPr marL="12700">
              <a:lnSpc>
                <a:spcPct val="100000"/>
              </a:lnSpc>
              <a:spcBef>
                <a:spcPts val="100"/>
              </a:spcBef>
            </a:pPr>
            <a:r>
              <a:rPr sz="4000" b="0" spc="65" dirty="0">
                <a:latin typeface="Times New Roman"/>
                <a:cs typeface="Times New Roman"/>
              </a:rPr>
              <a:t>XML </a:t>
            </a:r>
            <a:r>
              <a:rPr sz="4000" b="0" spc="165" dirty="0">
                <a:latin typeface="Times New Roman"/>
                <a:cs typeface="Times New Roman"/>
              </a:rPr>
              <a:t>Data</a:t>
            </a:r>
            <a:r>
              <a:rPr sz="4000" b="0" spc="-430" dirty="0">
                <a:latin typeface="Times New Roman"/>
                <a:cs typeface="Times New Roman"/>
              </a:rPr>
              <a:t> </a:t>
            </a:r>
            <a:r>
              <a:rPr sz="4000" b="0" spc="165" dirty="0">
                <a:latin typeface="Times New Roman"/>
                <a:cs typeface="Times New Roman"/>
              </a:rPr>
              <a:t>Type</a:t>
            </a:r>
            <a:endParaRPr sz="4000">
              <a:latin typeface="Times New Roman"/>
              <a:cs typeface="Times New Roman"/>
            </a:endParaRPr>
          </a:p>
        </p:txBody>
      </p:sp>
      <p:sp>
        <p:nvSpPr>
          <p:cNvPr id="3" name="object 3"/>
          <p:cNvSpPr/>
          <p:nvPr/>
        </p:nvSpPr>
        <p:spPr>
          <a:xfrm>
            <a:off x="380238" y="1013459"/>
            <a:ext cx="8254365" cy="1716405"/>
          </a:xfrm>
          <a:custGeom>
            <a:avLst/>
            <a:gdLst/>
            <a:ahLst/>
            <a:cxnLst/>
            <a:rect l="l" t="t" r="r" b="b"/>
            <a:pathLst>
              <a:path w="8254365" h="1716405">
                <a:moveTo>
                  <a:pt x="8253984" y="286004"/>
                </a:moveTo>
                <a:lnTo>
                  <a:pt x="8250237" y="239610"/>
                </a:lnTo>
                <a:lnTo>
                  <a:pt x="8239404" y="195592"/>
                </a:lnTo>
                <a:lnTo>
                  <a:pt x="8222056" y="154559"/>
                </a:lnTo>
                <a:lnTo>
                  <a:pt x="8198802" y="117081"/>
                </a:lnTo>
                <a:lnTo>
                  <a:pt x="8170215" y="83756"/>
                </a:lnTo>
                <a:lnTo>
                  <a:pt x="8136903" y="55181"/>
                </a:lnTo>
                <a:lnTo>
                  <a:pt x="8099425" y="31927"/>
                </a:lnTo>
                <a:lnTo>
                  <a:pt x="8058391" y="14579"/>
                </a:lnTo>
                <a:lnTo>
                  <a:pt x="8014373" y="3746"/>
                </a:lnTo>
                <a:lnTo>
                  <a:pt x="7967980" y="0"/>
                </a:lnTo>
                <a:lnTo>
                  <a:pt x="286004" y="0"/>
                </a:lnTo>
                <a:lnTo>
                  <a:pt x="239610" y="3746"/>
                </a:lnTo>
                <a:lnTo>
                  <a:pt x="195605" y="14579"/>
                </a:lnTo>
                <a:lnTo>
                  <a:pt x="154559" y="31927"/>
                </a:lnTo>
                <a:lnTo>
                  <a:pt x="117094" y="55181"/>
                </a:lnTo>
                <a:lnTo>
                  <a:pt x="83769" y="83756"/>
                </a:lnTo>
                <a:lnTo>
                  <a:pt x="55181" y="117081"/>
                </a:lnTo>
                <a:lnTo>
                  <a:pt x="31915" y="154559"/>
                </a:lnTo>
                <a:lnTo>
                  <a:pt x="14579" y="195592"/>
                </a:lnTo>
                <a:lnTo>
                  <a:pt x="3733" y="239610"/>
                </a:lnTo>
                <a:lnTo>
                  <a:pt x="0" y="286004"/>
                </a:lnTo>
                <a:lnTo>
                  <a:pt x="0" y="1430020"/>
                </a:lnTo>
                <a:lnTo>
                  <a:pt x="3733" y="1476425"/>
                </a:lnTo>
                <a:lnTo>
                  <a:pt x="14579" y="1520444"/>
                </a:lnTo>
                <a:lnTo>
                  <a:pt x="31915" y="1561477"/>
                </a:lnTo>
                <a:lnTo>
                  <a:pt x="55181" y="1598955"/>
                </a:lnTo>
                <a:lnTo>
                  <a:pt x="83769" y="1632267"/>
                </a:lnTo>
                <a:lnTo>
                  <a:pt x="117094" y="1660855"/>
                </a:lnTo>
                <a:lnTo>
                  <a:pt x="154559" y="1684108"/>
                </a:lnTo>
                <a:lnTo>
                  <a:pt x="195605" y="1701457"/>
                </a:lnTo>
                <a:lnTo>
                  <a:pt x="239610" y="1712290"/>
                </a:lnTo>
                <a:lnTo>
                  <a:pt x="286004" y="1716024"/>
                </a:lnTo>
                <a:lnTo>
                  <a:pt x="7967980" y="1716024"/>
                </a:lnTo>
                <a:lnTo>
                  <a:pt x="8014373" y="1712290"/>
                </a:lnTo>
                <a:lnTo>
                  <a:pt x="8058391" y="1701457"/>
                </a:lnTo>
                <a:lnTo>
                  <a:pt x="8099425" y="1684108"/>
                </a:lnTo>
                <a:lnTo>
                  <a:pt x="8136903" y="1660855"/>
                </a:lnTo>
                <a:lnTo>
                  <a:pt x="8170227" y="1632267"/>
                </a:lnTo>
                <a:lnTo>
                  <a:pt x="8198802" y="1598955"/>
                </a:lnTo>
                <a:lnTo>
                  <a:pt x="8222056" y="1561477"/>
                </a:lnTo>
                <a:lnTo>
                  <a:pt x="8239404" y="1520444"/>
                </a:lnTo>
                <a:lnTo>
                  <a:pt x="8250237" y="1476425"/>
                </a:lnTo>
                <a:lnTo>
                  <a:pt x="8253984" y="1430020"/>
                </a:lnTo>
                <a:lnTo>
                  <a:pt x="8253984" y="1297686"/>
                </a:lnTo>
                <a:lnTo>
                  <a:pt x="8253984" y="418338"/>
                </a:lnTo>
                <a:lnTo>
                  <a:pt x="8253984" y="286004"/>
                </a:lnTo>
                <a:close/>
              </a:path>
            </a:pathLst>
          </a:custGeom>
          <a:solidFill>
            <a:srgbClr val="F79546"/>
          </a:solidFill>
        </p:spPr>
        <p:txBody>
          <a:bodyPr wrap="square" lIns="0" tIns="0" rIns="0" bIns="0" rtlCol="0"/>
          <a:lstStyle/>
          <a:p>
            <a:endParaRPr/>
          </a:p>
        </p:txBody>
      </p:sp>
      <p:sp>
        <p:nvSpPr>
          <p:cNvPr id="4" name="object 4"/>
          <p:cNvSpPr txBox="1"/>
          <p:nvPr/>
        </p:nvSpPr>
        <p:spPr>
          <a:xfrm>
            <a:off x="584454" y="1112519"/>
            <a:ext cx="7987030" cy="1379220"/>
          </a:xfrm>
          <a:prstGeom prst="rect">
            <a:avLst/>
          </a:prstGeom>
        </p:spPr>
        <p:txBody>
          <a:bodyPr vert="horz" wrap="square" lIns="0" tIns="54610" rIns="0" bIns="0" rtlCol="0">
            <a:spAutoFit/>
          </a:bodyPr>
          <a:lstStyle/>
          <a:p>
            <a:pPr marL="354965" marR="5080" indent="-342900">
              <a:lnSpc>
                <a:spcPts val="2590"/>
              </a:lnSpc>
              <a:spcBef>
                <a:spcPts val="430"/>
              </a:spcBef>
              <a:buFont typeface="Wingdings"/>
              <a:buChar char=""/>
              <a:tabLst>
                <a:tab pos="355600" algn="l"/>
              </a:tabLst>
            </a:pPr>
            <a:r>
              <a:rPr sz="2400" spc="160" dirty="0">
                <a:solidFill>
                  <a:srgbClr val="FFFFFF"/>
                </a:solidFill>
                <a:latin typeface="Times New Roman"/>
                <a:cs typeface="Times New Roman"/>
              </a:rPr>
              <a:t>The </a:t>
            </a:r>
            <a:r>
              <a:rPr sz="2400" spc="75" dirty="0">
                <a:solidFill>
                  <a:srgbClr val="FFFFFF"/>
                </a:solidFill>
                <a:latin typeface="Times New Roman"/>
                <a:cs typeface="Times New Roman"/>
              </a:rPr>
              <a:t>xml </a:t>
            </a:r>
            <a:r>
              <a:rPr sz="2400" spc="95" dirty="0">
                <a:solidFill>
                  <a:srgbClr val="FFFFFF"/>
                </a:solidFill>
                <a:latin typeface="Times New Roman"/>
                <a:cs typeface="Times New Roman"/>
              </a:rPr>
              <a:t>data </a:t>
            </a:r>
            <a:r>
              <a:rPr sz="2400" spc="85" dirty="0">
                <a:solidFill>
                  <a:srgbClr val="FFFFFF"/>
                </a:solidFill>
                <a:latin typeface="Times New Roman"/>
                <a:cs typeface="Times New Roman"/>
              </a:rPr>
              <a:t>type </a:t>
            </a:r>
            <a:r>
              <a:rPr sz="2400" spc="10" dirty="0">
                <a:solidFill>
                  <a:srgbClr val="FFFFFF"/>
                </a:solidFill>
                <a:latin typeface="Times New Roman"/>
                <a:cs typeface="Times New Roman"/>
              </a:rPr>
              <a:t>is </a:t>
            </a:r>
            <a:r>
              <a:rPr sz="2400" spc="95" dirty="0">
                <a:solidFill>
                  <a:srgbClr val="FFFFFF"/>
                </a:solidFill>
                <a:latin typeface="Times New Roman"/>
                <a:cs typeface="Times New Roman"/>
              </a:rPr>
              <a:t>used </a:t>
            </a:r>
            <a:r>
              <a:rPr sz="2400" spc="130" dirty="0">
                <a:solidFill>
                  <a:srgbClr val="FFFFFF"/>
                </a:solidFill>
                <a:latin typeface="Times New Roman"/>
                <a:cs typeface="Times New Roman"/>
              </a:rPr>
              <a:t>to </a:t>
            </a:r>
            <a:r>
              <a:rPr sz="2400" spc="85" dirty="0">
                <a:solidFill>
                  <a:srgbClr val="FFFFFF"/>
                </a:solidFill>
                <a:latin typeface="Times New Roman"/>
                <a:cs typeface="Times New Roman"/>
              </a:rPr>
              <a:t>store </a:t>
            </a:r>
            <a:r>
              <a:rPr sz="2400" spc="40" dirty="0">
                <a:solidFill>
                  <a:srgbClr val="FFFFFF"/>
                </a:solidFill>
                <a:latin typeface="Times New Roman"/>
                <a:cs typeface="Times New Roman"/>
              </a:rPr>
              <a:t>XML </a:t>
            </a:r>
            <a:r>
              <a:rPr sz="2400" spc="110" dirty="0">
                <a:solidFill>
                  <a:srgbClr val="FFFFFF"/>
                </a:solidFill>
                <a:latin typeface="Times New Roman"/>
                <a:cs typeface="Times New Roman"/>
              </a:rPr>
              <a:t>documents </a:t>
            </a:r>
            <a:r>
              <a:rPr sz="2400" spc="130" dirty="0">
                <a:solidFill>
                  <a:srgbClr val="FFFFFF"/>
                </a:solidFill>
                <a:latin typeface="Times New Roman"/>
                <a:cs typeface="Times New Roman"/>
              </a:rPr>
              <a:t>and  </a:t>
            </a:r>
            <a:r>
              <a:rPr sz="2400" spc="75" dirty="0">
                <a:solidFill>
                  <a:srgbClr val="FFFFFF"/>
                </a:solidFill>
                <a:latin typeface="Times New Roman"/>
                <a:cs typeface="Times New Roman"/>
              </a:rPr>
              <a:t>fragments</a:t>
            </a:r>
            <a:r>
              <a:rPr sz="2400" spc="-90" dirty="0">
                <a:solidFill>
                  <a:srgbClr val="FFFFFF"/>
                </a:solidFill>
                <a:latin typeface="Times New Roman"/>
                <a:cs typeface="Times New Roman"/>
              </a:rPr>
              <a:t> </a:t>
            </a:r>
            <a:r>
              <a:rPr sz="2400" spc="114" dirty="0">
                <a:solidFill>
                  <a:srgbClr val="FFFFFF"/>
                </a:solidFill>
                <a:latin typeface="Times New Roman"/>
                <a:cs typeface="Times New Roman"/>
              </a:rPr>
              <a:t>in</a:t>
            </a:r>
            <a:r>
              <a:rPr sz="2400" spc="-95" dirty="0">
                <a:solidFill>
                  <a:srgbClr val="FFFFFF"/>
                </a:solidFill>
                <a:latin typeface="Times New Roman"/>
                <a:cs typeface="Times New Roman"/>
              </a:rPr>
              <a:t> </a:t>
            </a:r>
            <a:r>
              <a:rPr sz="2400" spc="125" dirty="0">
                <a:solidFill>
                  <a:srgbClr val="FFFFFF"/>
                </a:solidFill>
                <a:latin typeface="Times New Roman"/>
                <a:cs typeface="Times New Roman"/>
              </a:rPr>
              <a:t>an</a:t>
            </a:r>
            <a:r>
              <a:rPr sz="2400" spc="-85" dirty="0">
                <a:solidFill>
                  <a:srgbClr val="FFFFFF"/>
                </a:solidFill>
                <a:latin typeface="Times New Roman"/>
                <a:cs typeface="Times New Roman"/>
              </a:rPr>
              <a:t> </a:t>
            </a:r>
            <a:r>
              <a:rPr sz="2400" spc="114" dirty="0">
                <a:solidFill>
                  <a:srgbClr val="FFFFFF"/>
                </a:solidFill>
                <a:latin typeface="Times New Roman"/>
                <a:cs typeface="Times New Roman"/>
              </a:rPr>
              <a:t>SQL</a:t>
            </a:r>
            <a:r>
              <a:rPr sz="2400" spc="-95" dirty="0">
                <a:solidFill>
                  <a:srgbClr val="FFFFFF"/>
                </a:solidFill>
                <a:latin typeface="Times New Roman"/>
                <a:cs typeface="Times New Roman"/>
              </a:rPr>
              <a:t> </a:t>
            </a:r>
            <a:r>
              <a:rPr sz="2400" spc="70" dirty="0">
                <a:solidFill>
                  <a:srgbClr val="FFFFFF"/>
                </a:solidFill>
                <a:latin typeface="Times New Roman"/>
                <a:cs typeface="Times New Roman"/>
              </a:rPr>
              <a:t>Server</a:t>
            </a:r>
            <a:r>
              <a:rPr sz="2400" spc="-105" dirty="0">
                <a:solidFill>
                  <a:srgbClr val="FFFFFF"/>
                </a:solidFill>
                <a:latin typeface="Times New Roman"/>
                <a:cs typeface="Times New Roman"/>
              </a:rPr>
              <a:t> </a:t>
            </a:r>
            <a:r>
              <a:rPr sz="2400" spc="65" dirty="0">
                <a:solidFill>
                  <a:srgbClr val="FFFFFF"/>
                </a:solidFill>
                <a:latin typeface="Times New Roman"/>
                <a:cs typeface="Times New Roman"/>
              </a:rPr>
              <a:t>database.</a:t>
            </a:r>
            <a:endParaRPr sz="2400">
              <a:latin typeface="Times New Roman"/>
              <a:cs typeface="Times New Roman"/>
            </a:endParaRPr>
          </a:p>
          <a:p>
            <a:pPr marL="354965" marR="5080" indent="-342900">
              <a:lnSpc>
                <a:spcPts val="2590"/>
              </a:lnSpc>
              <a:spcBef>
                <a:spcPts val="5"/>
              </a:spcBef>
              <a:buFont typeface="Wingdings"/>
              <a:buChar char=""/>
              <a:tabLst>
                <a:tab pos="355600" algn="l"/>
              </a:tabLst>
            </a:pPr>
            <a:r>
              <a:rPr sz="2400" spc="215" dirty="0">
                <a:solidFill>
                  <a:srgbClr val="FFFFFF"/>
                </a:solidFill>
                <a:latin typeface="Times New Roman"/>
                <a:cs typeface="Times New Roman"/>
              </a:rPr>
              <a:t>An </a:t>
            </a:r>
            <a:r>
              <a:rPr sz="2400" spc="40" dirty="0">
                <a:solidFill>
                  <a:srgbClr val="FFFFFF"/>
                </a:solidFill>
                <a:latin typeface="Times New Roman"/>
                <a:cs typeface="Times New Roman"/>
              </a:rPr>
              <a:t>XML </a:t>
            </a:r>
            <a:r>
              <a:rPr sz="2400" spc="85" dirty="0">
                <a:solidFill>
                  <a:srgbClr val="FFFFFF"/>
                </a:solidFill>
                <a:latin typeface="Times New Roman"/>
                <a:cs typeface="Times New Roman"/>
              </a:rPr>
              <a:t>fragment </a:t>
            </a:r>
            <a:r>
              <a:rPr sz="2400" spc="10" dirty="0">
                <a:solidFill>
                  <a:srgbClr val="FFFFFF"/>
                </a:solidFill>
                <a:latin typeface="Times New Roman"/>
                <a:cs typeface="Times New Roman"/>
              </a:rPr>
              <a:t>is </a:t>
            </a:r>
            <a:r>
              <a:rPr sz="2400" spc="125" dirty="0">
                <a:solidFill>
                  <a:srgbClr val="FFFFFF"/>
                </a:solidFill>
                <a:latin typeface="Times New Roman"/>
                <a:cs typeface="Times New Roman"/>
              </a:rPr>
              <a:t>an </a:t>
            </a:r>
            <a:r>
              <a:rPr sz="2400" spc="40" dirty="0">
                <a:solidFill>
                  <a:srgbClr val="FFFFFF"/>
                </a:solidFill>
                <a:latin typeface="Times New Roman"/>
                <a:cs typeface="Times New Roman"/>
              </a:rPr>
              <a:t>XML </a:t>
            </a:r>
            <a:r>
              <a:rPr sz="2400" spc="90" dirty="0">
                <a:solidFill>
                  <a:srgbClr val="FFFFFF"/>
                </a:solidFill>
                <a:latin typeface="Times New Roman"/>
                <a:cs typeface="Times New Roman"/>
              </a:rPr>
              <a:t>instance </a:t>
            </a:r>
            <a:r>
              <a:rPr sz="2400" spc="110" dirty="0">
                <a:solidFill>
                  <a:srgbClr val="FFFFFF"/>
                </a:solidFill>
                <a:latin typeface="Times New Roman"/>
                <a:cs typeface="Times New Roman"/>
              </a:rPr>
              <a:t>with </a:t>
            </a:r>
            <a:r>
              <a:rPr sz="2400" spc="135" dirty="0">
                <a:solidFill>
                  <a:srgbClr val="FFFFFF"/>
                </a:solidFill>
                <a:latin typeface="Times New Roman"/>
                <a:cs typeface="Times New Roman"/>
              </a:rPr>
              <a:t>the </a:t>
            </a:r>
            <a:r>
              <a:rPr sz="2400" spc="60" dirty="0">
                <a:solidFill>
                  <a:srgbClr val="FFFFFF"/>
                </a:solidFill>
                <a:latin typeface="Times New Roman"/>
                <a:cs typeface="Times New Roman"/>
              </a:rPr>
              <a:t>top-level  </a:t>
            </a:r>
            <a:r>
              <a:rPr sz="2400" spc="90" dirty="0">
                <a:solidFill>
                  <a:srgbClr val="FFFFFF"/>
                </a:solidFill>
                <a:latin typeface="Times New Roman"/>
                <a:cs typeface="Times New Roman"/>
              </a:rPr>
              <a:t>element</a:t>
            </a:r>
            <a:r>
              <a:rPr sz="2400" spc="-105" dirty="0">
                <a:solidFill>
                  <a:srgbClr val="FFFFFF"/>
                </a:solidFill>
                <a:latin typeface="Times New Roman"/>
                <a:cs typeface="Times New Roman"/>
              </a:rPr>
              <a:t> </a:t>
            </a:r>
            <a:r>
              <a:rPr sz="2400" spc="50" dirty="0">
                <a:solidFill>
                  <a:srgbClr val="FFFFFF"/>
                </a:solidFill>
                <a:latin typeface="Times New Roman"/>
                <a:cs typeface="Times New Roman"/>
              </a:rPr>
              <a:t>missing</a:t>
            </a:r>
            <a:r>
              <a:rPr sz="2400" spc="-85" dirty="0">
                <a:solidFill>
                  <a:srgbClr val="FFFFFF"/>
                </a:solidFill>
                <a:latin typeface="Times New Roman"/>
                <a:cs typeface="Times New Roman"/>
              </a:rPr>
              <a:t> </a:t>
            </a:r>
            <a:r>
              <a:rPr sz="2400" spc="90" dirty="0">
                <a:solidFill>
                  <a:srgbClr val="FFFFFF"/>
                </a:solidFill>
                <a:latin typeface="Times New Roman"/>
                <a:cs typeface="Times New Roman"/>
              </a:rPr>
              <a:t>from</a:t>
            </a:r>
            <a:r>
              <a:rPr sz="2400" spc="-90" dirty="0">
                <a:solidFill>
                  <a:srgbClr val="FFFFFF"/>
                </a:solidFill>
                <a:latin typeface="Times New Roman"/>
                <a:cs typeface="Times New Roman"/>
              </a:rPr>
              <a:t> </a:t>
            </a:r>
            <a:r>
              <a:rPr sz="2400" spc="55" dirty="0">
                <a:solidFill>
                  <a:srgbClr val="FFFFFF"/>
                </a:solidFill>
                <a:latin typeface="Times New Roman"/>
                <a:cs typeface="Times New Roman"/>
              </a:rPr>
              <a:t>its</a:t>
            </a:r>
            <a:r>
              <a:rPr sz="2400" spc="-85" dirty="0">
                <a:solidFill>
                  <a:srgbClr val="FFFFFF"/>
                </a:solidFill>
                <a:latin typeface="Times New Roman"/>
                <a:cs typeface="Times New Roman"/>
              </a:rPr>
              <a:t> </a:t>
            </a:r>
            <a:r>
              <a:rPr sz="2400" spc="95" dirty="0">
                <a:solidFill>
                  <a:srgbClr val="FFFFFF"/>
                </a:solidFill>
                <a:latin typeface="Times New Roman"/>
                <a:cs typeface="Times New Roman"/>
              </a:rPr>
              <a:t>structure.</a:t>
            </a:r>
            <a:endParaRPr sz="2400">
              <a:latin typeface="Times New Roman"/>
              <a:cs typeface="Times New Roman"/>
            </a:endParaRPr>
          </a:p>
        </p:txBody>
      </p:sp>
      <p:pic>
        <p:nvPicPr>
          <p:cNvPr id="5" name="object 5"/>
          <p:cNvPicPr/>
          <p:nvPr/>
        </p:nvPicPr>
        <p:blipFill>
          <a:blip r:embed="rId3" cstate="print"/>
          <a:stretch>
            <a:fillRect/>
          </a:stretch>
        </p:blipFill>
        <p:spPr>
          <a:xfrm>
            <a:off x="2021585" y="3182873"/>
            <a:ext cx="5398770" cy="1259586"/>
          </a:xfrm>
          <a:prstGeom prst="rect">
            <a:avLst/>
          </a:prstGeom>
        </p:spPr>
      </p:pic>
      <p:sp>
        <p:nvSpPr>
          <p:cNvPr id="6" name="object 6"/>
          <p:cNvSpPr txBox="1"/>
          <p:nvPr/>
        </p:nvSpPr>
        <p:spPr>
          <a:xfrm>
            <a:off x="3597655" y="4910835"/>
            <a:ext cx="1755139" cy="238760"/>
          </a:xfrm>
          <a:prstGeom prst="rect">
            <a:avLst/>
          </a:prstGeom>
        </p:spPr>
        <p:txBody>
          <a:bodyPr vert="horz" wrap="square" lIns="0" tIns="12065" rIns="0" bIns="0" rtlCol="0">
            <a:spAutoFit/>
          </a:bodyPr>
          <a:lstStyle/>
          <a:p>
            <a:pPr marL="12700">
              <a:lnSpc>
                <a:spcPct val="100000"/>
              </a:lnSpc>
              <a:spcBef>
                <a:spcPts val="95"/>
              </a:spcBef>
            </a:pPr>
            <a:r>
              <a:rPr sz="1400" b="1" spc="60" dirty="0">
                <a:latin typeface="Arial"/>
                <a:cs typeface="Arial"/>
              </a:rPr>
              <a:t>XML</a:t>
            </a:r>
            <a:r>
              <a:rPr sz="1400" b="1" spc="-130" dirty="0">
                <a:latin typeface="Arial"/>
                <a:cs typeface="Arial"/>
              </a:rPr>
              <a:t> </a:t>
            </a:r>
            <a:r>
              <a:rPr sz="1400" b="1" spc="-50" dirty="0">
                <a:latin typeface="Arial"/>
                <a:cs typeface="Arial"/>
              </a:rPr>
              <a:t>Data</a:t>
            </a:r>
            <a:r>
              <a:rPr sz="1400" b="1" spc="-125" dirty="0">
                <a:latin typeface="Arial"/>
                <a:cs typeface="Arial"/>
              </a:rPr>
              <a:t> </a:t>
            </a:r>
            <a:r>
              <a:rPr sz="1400" b="1" spc="-15" dirty="0">
                <a:latin typeface="Arial"/>
                <a:cs typeface="Arial"/>
              </a:rPr>
              <a:t>in</a:t>
            </a:r>
            <a:r>
              <a:rPr sz="1400" b="1" spc="-135" dirty="0">
                <a:latin typeface="Arial"/>
                <a:cs typeface="Arial"/>
              </a:rPr>
              <a:t> </a:t>
            </a:r>
            <a:r>
              <a:rPr sz="1400" b="1" spc="-65" dirty="0">
                <a:latin typeface="Arial"/>
                <a:cs typeface="Arial"/>
              </a:rPr>
              <a:t>Columns</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23</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141" y="36575"/>
            <a:ext cx="6380480" cy="635635"/>
          </a:xfrm>
          <a:prstGeom prst="rect">
            <a:avLst/>
          </a:prstGeom>
        </p:spPr>
        <p:txBody>
          <a:bodyPr vert="horz" wrap="square" lIns="0" tIns="12700" rIns="0" bIns="0" rtlCol="0">
            <a:spAutoFit/>
          </a:bodyPr>
          <a:lstStyle/>
          <a:p>
            <a:pPr marL="12700">
              <a:lnSpc>
                <a:spcPct val="100000"/>
              </a:lnSpc>
              <a:spcBef>
                <a:spcPts val="100"/>
              </a:spcBef>
            </a:pPr>
            <a:r>
              <a:rPr sz="4000" b="0" spc="185" dirty="0">
                <a:latin typeface="Times New Roman"/>
                <a:cs typeface="Times New Roman"/>
              </a:rPr>
              <a:t>Typed</a:t>
            </a:r>
            <a:r>
              <a:rPr sz="4000" b="0" spc="-160" dirty="0">
                <a:latin typeface="Times New Roman"/>
                <a:cs typeface="Times New Roman"/>
              </a:rPr>
              <a:t> </a:t>
            </a:r>
            <a:r>
              <a:rPr sz="4000" b="0" spc="229" dirty="0">
                <a:latin typeface="Times New Roman"/>
                <a:cs typeface="Times New Roman"/>
              </a:rPr>
              <a:t>and</a:t>
            </a:r>
            <a:r>
              <a:rPr sz="4000" b="0" spc="-160" dirty="0">
                <a:latin typeface="Times New Roman"/>
                <a:cs typeface="Times New Roman"/>
              </a:rPr>
              <a:t> </a:t>
            </a:r>
            <a:r>
              <a:rPr sz="4000" b="0" spc="220" dirty="0">
                <a:latin typeface="Times New Roman"/>
                <a:cs typeface="Times New Roman"/>
              </a:rPr>
              <a:t>Untyped</a:t>
            </a:r>
            <a:r>
              <a:rPr sz="4000" b="0" spc="-175" dirty="0">
                <a:latin typeface="Times New Roman"/>
                <a:cs typeface="Times New Roman"/>
              </a:rPr>
              <a:t> </a:t>
            </a:r>
            <a:r>
              <a:rPr sz="4000" b="0" spc="65" dirty="0">
                <a:latin typeface="Times New Roman"/>
                <a:cs typeface="Times New Roman"/>
              </a:rPr>
              <a:t>XML</a:t>
            </a:r>
            <a:r>
              <a:rPr sz="4000" b="0" spc="-170" dirty="0">
                <a:latin typeface="Times New Roman"/>
                <a:cs typeface="Times New Roman"/>
              </a:rPr>
              <a:t> </a:t>
            </a:r>
            <a:r>
              <a:rPr sz="4000" b="0" spc="-250" dirty="0">
                <a:latin typeface="Times New Roman"/>
                <a:cs typeface="Times New Roman"/>
              </a:rPr>
              <a:t>1-2</a:t>
            </a:r>
            <a:endParaRPr sz="4000">
              <a:latin typeface="Times New Roman"/>
              <a:cs typeface="Times New Roman"/>
            </a:endParaRPr>
          </a:p>
        </p:txBody>
      </p:sp>
      <p:grpSp>
        <p:nvGrpSpPr>
          <p:cNvPr id="3" name="object 3"/>
          <p:cNvGrpSpPr/>
          <p:nvPr/>
        </p:nvGrpSpPr>
        <p:grpSpPr>
          <a:xfrm>
            <a:off x="803148" y="4117085"/>
            <a:ext cx="7306309" cy="1329690"/>
            <a:chOff x="803148" y="4117085"/>
            <a:chExt cx="7306309" cy="1329690"/>
          </a:xfrm>
        </p:grpSpPr>
        <p:pic>
          <p:nvPicPr>
            <p:cNvPr id="4" name="object 4"/>
            <p:cNvPicPr/>
            <p:nvPr/>
          </p:nvPicPr>
          <p:blipFill>
            <a:blip r:embed="rId3" cstate="print"/>
            <a:stretch>
              <a:fillRect/>
            </a:stretch>
          </p:blipFill>
          <p:spPr>
            <a:xfrm>
              <a:off x="803148" y="4117085"/>
              <a:ext cx="7306056" cy="1329689"/>
            </a:xfrm>
            <a:prstGeom prst="rect">
              <a:avLst/>
            </a:prstGeom>
          </p:spPr>
        </p:pic>
        <p:pic>
          <p:nvPicPr>
            <p:cNvPr id="5" name="object 5"/>
            <p:cNvPicPr/>
            <p:nvPr/>
          </p:nvPicPr>
          <p:blipFill>
            <a:blip r:embed="rId4" cstate="print"/>
            <a:stretch>
              <a:fillRect/>
            </a:stretch>
          </p:blipFill>
          <p:spPr>
            <a:xfrm>
              <a:off x="844296" y="4135373"/>
              <a:ext cx="7230618" cy="1254252"/>
            </a:xfrm>
            <a:prstGeom prst="rect">
              <a:avLst/>
            </a:prstGeom>
          </p:spPr>
        </p:pic>
      </p:grpSp>
      <p:sp>
        <p:nvSpPr>
          <p:cNvPr id="6" name="object 6"/>
          <p:cNvSpPr/>
          <p:nvPr/>
        </p:nvSpPr>
        <p:spPr>
          <a:xfrm>
            <a:off x="1669542" y="2260091"/>
            <a:ext cx="5730240" cy="741680"/>
          </a:xfrm>
          <a:custGeom>
            <a:avLst/>
            <a:gdLst/>
            <a:ahLst/>
            <a:cxnLst/>
            <a:rect l="l" t="t" r="r" b="b"/>
            <a:pathLst>
              <a:path w="5730240" h="741680">
                <a:moveTo>
                  <a:pt x="1934718" y="176276"/>
                </a:moveTo>
                <a:lnTo>
                  <a:pt x="1925840" y="132257"/>
                </a:lnTo>
                <a:lnTo>
                  <a:pt x="1901634" y="96329"/>
                </a:lnTo>
                <a:lnTo>
                  <a:pt x="1865706" y="72123"/>
                </a:lnTo>
                <a:lnTo>
                  <a:pt x="1821688" y="63246"/>
                </a:lnTo>
                <a:lnTo>
                  <a:pt x="113030" y="63246"/>
                </a:lnTo>
                <a:lnTo>
                  <a:pt x="68999" y="72123"/>
                </a:lnTo>
                <a:lnTo>
                  <a:pt x="33083" y="96329"/>
                </a:lnTo>
                <a:lnTo>
                  <a:pt x="8864" y="132257"/>
                </a:lnTo>
                <a:lnTo>
                  <a:pt x="0" y="176276"/>
                </a:lnTo>
                <a:lnTo>
                  <a:pt x="0" y="628396"/>
                </a:lnTo>
                <a:lnTo>
                  <a:pt x="8864" y="672426"/>
                </a:lnTo>
                <a:lnTo>
                  <a:pt x="33083" y="708342"/>
                </a:lnTo>
                <a:lnTo>
                  <a:pt x="68999" y="732561"/>
                </a:lnTo>
                <a:lnTo>
                  <a:pt x="113030" y="741426"/>
                </a:lnTo>
                <a:lnTo>
                  <a:pt x="1821688" y="741426"/>
                </a:lnTo>
                <a:lnTo>
                  <a:pt x="1865706" y="732561"/>
                </a:lnTo>
                <a:lnTo>
                  <a:pt x="1901634" y="708342"/>
                </a:lnTo>
                <a:lnTo>
                  <a:pt x="1925840" y="672426"/>
                </a:lnTo>
                <a:lnTo>
                  <a:pt x="1934718" y="628396"/>
                </a:lnTo>
                <a:lnTo>
                  <a:pt x="1934718" y="176276"/>
                </a:lnTo>
                <a:close/>
              </a:path>
              <a:path w="5730240" h="741680">
                <a:moveTo>
                  <a:pt x="5730240" y="113030"/>
                </a:moveTo>
                <a:lnTo>
                  <a:pt x="5721362" y="69011"/>
                </a:lnTo>
                <a:lnTo>
                  <a:pt x="5697156" y="33083"/>
                </a:lnTo>
                <a:lnTo>
                  <a:pt x="5661228" y="8877"/>
                </a:lnTo>
                <a:lnTo>
                  <a:pt x="5617210" y="0"/>
                </a:lnTo>
                <a:lnTo>
                  <a:pt x="3653282" y="0"/>
                </a:lnTo>
                <a:lnTo>
                  <a:pt x="3609251" y="8877"/>
                </a:lnTo>
                <a:lnTo>
                  <a:pt x="3573335" y="33083"/>
                </a:lnTo>
                <a:lnTo>
                  <a:pt x="3549116" y="69011"/>
                </a:lnTo>
                <a:lnTo>
                  <a:pt x="3540252" y="113030"/>
                </a:lnTo>
                <a:lnTo>
                  <a:pt x="3540252" y="565150"/>
                </a:lnTo>
                <a:lnTo>
                  <a:pt x="3549116" y="609180"/>
                </a:lnTo>
                <a:lnTo>
                  <a:pt x="3573335" y="645096"/>
                </a:lnTo>
                <a:lnTo>
                  <a:pt x="3609251" y="669315"/>
                </a:lnTo>
                <a:lnTo>
                  <a:pt x="3653282" y="678180"/>
                </a:lnTo>
                <a:lnTo>
                  <a:pt x="5617210" y="678180"/>
                </a:lnTo>
                <a:lnTo>
                  <a:pt x="5661228" y="669315"/>
                </a:lnTo>
                <a:lnTo>
                  <a:pt x="5697156" y="645096"/>
                </a:lnTo>
                <a:lnTo>
                  <a:pt x="5721362" y="609180"/>
                </a:lnTo>
                <a:lnTo>
                  <a:pt x="5730240" y="565150"/>
                </a:lnTo>
                <a:lnTo>
                  <a:pt x="5730240" y="512826"/>
                </a:lnTo>
                <a:lnTo>
                  <a:pt x="5730240" y="164592"/>
                </a:lnTo>
                <a:lnTo>
                  <a:pt x="5730240" y="113030"/>
                </a:lnTo>
                <a:close/>
              </a:path>
            </a:pathLst>
          </a:custGeom>
          <a:solidFill>
            <a:srgbClr val="C0504D"/>
          </a:solidFill>
        </p:spPr>
        <p:txBody>
          <a:bodyPr wrap="square" lIns="0" tIns="0" rIns="0" bIns="0" rtlCol="0"/>
          <a:lstStyle/>
          <a:p>
            <a:endParaRPr/>
          </a:p>
        </p:txBody>
      </p:sp>
      <p:sp>
        <p:nvSpPr>
          <p:cNvPr id="7" name="object 7"/>
          <p:cNvSpPr txBox="1"/>
          <p:nvPr/>
        </p:nvSpPr>
        <p:spPr>
          <a:xfrm>
            <a:off x="1147825" y="4281932"/>
            <a:ext cx="6365875" cy="848360"/>
          </a:xfrm>
          <a:prstGeom prst="rect">
            <a:avLst/>
          </a:prstGeom>
        </p:spPr>
        <p:txBody>
          <a:bodyPr vert="horz" wrap="square" lIns="0" tIns="12700" rIns="0" bIns="0" rtlCol="0">
            <a:spAutoFit/>
          </a:bodyPr>
          <a:lstStyle/>
          <a:p>
            <a:pPr marL="298450" indent="-285750">
              <a:lnSpc>
                <a:spcPct val="100000"/>
              </a:lnSpc>
              <a:spcBef>
                <a:spcPts val="100"/>
              </a:spcBef>
              <a:buFont typeface="Wingdings"/>
              <a:buChar char=""/>
              <a:tabLst>
                <a:tab pos="298450" algn="l"/>
              </a:tabLst>
            </a:pPr>
            <a:r>
              <a:rPr sz="1800" spc="160" dirty="0">
                <a:solidFill>
                  <a:srgbClr val="FFFFFF"/>
                </a:solidFill>
                <a:latin typeface="Times New Roman"/>
                <a:cs typeface="Times New Roman"/>
              </a:rPr>
              <a:t>An</a:t>
            </a:r>
            <a:r>
              <a:rPr sz="1800" spc="-75" dirty="0">
                <a:solidFill>
                  <a:srgbClr val="FFFFFF"/>
                </a:solidFill>
                <a:latin typeface="Times New Roman"/>
                <a:cs typeface="Times New Roman"/>
              </a:rPr>
              <a:t> </a:t>
            </a:r>
            <a:r>
              <a:rPr sz="1800" spc="30" dirty="0">
                <a:solidFill>
                  <a:srgbClr val="FFFFFF"/>
                </a:solidFill>
                <a:latin typeface="Times New Roman"/>
                <a:cs typeface="Times New Roman"/>
              </a:rPr>
              <a:t>XML</a:t>
            </a:r>
            <a:r>
              <a:rPr sz="1800" spc="-70" dirty="0">
                <a:solidFill>
                  <a:srgbClr val="FFFFFF"/>
                </a:solidFill>
                <a:latin typeface="Times New Roman"/>
                <a:cs typeface="Times New Roman"/>
              </a:rPr>
              <a:t> </a:t>
            </a:r>
            <a:r>
              <a:rPr sz="1800" spc="65" dirty="0">
                <a:solidFill>
                  <a:srgbClr val="FFFFFF"/>
                </a:solidFill>
                <a:latin typeface="Times New Roman"/>
                <a:cs typeface="Times New Roman"/>
              </a:rPr>
              <a:t>instance</a:t>
            </a:r>
            <a:r>
              <a:rPr sz="1800" spc="-65" dirty="0">
                <a:solidFill>
                  <a:srgbClr val="FFFFFF"/>
                </a:solidFill>
                <a:latin typeface="Times New Roman"/>
                <a:cs typeface="Times New Roman"/>
              </a:rPr>
              <a:t> </a:t>
            </a:r>
            <a:r>
              <a:rPr sz="1800" spc="75" dirty="0">
                <a:solidFill>
                  <a:srgbClr val="FFFFFF"/>
                </a:solidFill>
                <a:latin typeface="Times New Roman"/>
                <a:cs typeface="Times New Roman"/>
              </a:rPr>
              <a:t>which</a:t>
            </a:r>
            <a:r>
              <a:rPr sz="1800" spc="-55" dirty="0">
                <a:solidFill>
                  <a:srgbClr val="FFFFFF"/>
                </a:solidFill>
                <a:latin typeface="Times New Roman"/>
                <a:cs typeface="Times New Roman"/>
              </a:rPr>
              <a:t> </a:t>
            </a:r>
            <a:r>
              <a:rPr sz="1800" spc="60" dirty="0">
                <a:solidFill>
                  <a:srgbClr val="FFFFFF"/>
                </a:solidFill>
                <a:latin typeface="Times New Roman"/>
                <a:cs typeface="Times New Roman"/>
              </a:rPr>
              <a:t>has</a:t>
            </a:r>
            <a:r>
              <a:rPr sz="1800" spc="-60"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schema</a:t>
            </a:r>
            <a:r>
              <a:rPr sz="1800" spc="-65" dirty="0">
                <a:solidFill>
                  <a:srgbClr val="FFFFFF"/>
                </a:solidFill>
                <a:latin typeface="Times New Roman"/>
                <a:cs typeface="Times New Roman"/>
              </a:rPr>
              <a:t> </a:t>
            </a:r>
            <a:r>
              <a:rPr sz="1800" spc="45" dirty="0">
                <a:solidFill>
                  <a:srgbClr val="FFFFFF"/>
                </a:solidFill>
                <a:latin typeface="Times New Roman"/>
                <a:cs typeface="Times New Roman"/>
              </a:rPr>
              <a:t>associated</a:t>
            </a:r>
            <a:endParaRPr sz="1800">
              <a:latin typeface="Times New Roman"/>
              <a:cs typeface="Times New Roman"/>
            </a:endParaRPr>
          </a:p>
          <a:p>
            <a:pPr marL="298450" marR="5080" indent="-285750">
              <a:lnSpc>
                <a:spcPct val="100000"/>
              </a:lnSpc>
              <a:buFont typeface="Wingdings"/>
              <a:buChar char=""/>
              <a:tabLst>
                <a:tab pos="298450" algn="l"/>
              </a:tabLst>
            </a:pPr>
            <a:r>
              <a:rPr sz="1800" spc="50" dirty="0">
                <a:solidFill>
                  <a:srgbClr val="FFFFFF"/>
                </a:solidFill>
                <a:latin typeface="Times New Roman"/>
                <a:cs typeface="Times New Roman"/>
              </a:rPr>
              <a:t>It </a:t>
            </a:r>
            <a:r>
              <a:rPr sz="1800" spc="40" dirty="0">
                <a:solidFill>
                  <a:srgbClr val="FFFFFF"/>
                </a:solidFill>
                <a:latin typeface="Times New Roman"/>
                <a:cs typeface="Times New Roman"/>
              </a:rPr>
              <a:t>describes </a:t>
            </a:r>
            <a:r>
              <a:rPr sz="1800" spc="105" dirty="0">
                <a:solidFill>
                  <a:srgbClr val="FFFFFF"/>
                </a:solidFill>
                <a:latin typeface="Times New Roman"/>
                <a:cs typeface="Times New Roman"/>
              </a:rPr>
              <a:t>the </a:t>
            </a:r>
            <a:r>
              <a:rPr sz="1800" spc="75" dirty="0">
                <a:solidFill>
                  <a:srgbClr val="FFFFFF"/>
                </a:solidFill>
                <a:latin typeface="Times New Roman"/>
                <a:cs typeface="Times New Roman"/>
              </a:rPr>
              <a:t>structure </a:t>
            </a:r>
            <a:r>
              <a:rPr sz="1800" spc="100" dirty="0">
                <a:solidFill>
                  <a:srgbClr val="FFFFFF"/>
                </a:solidFill>
                <a:latin typeface="Times New Roman"/>
                <a:cs typeface="Times New Roman"/>
              </a:rPr>
              <a:t>and </a:t>
            </a:r>
            <a:r>
              <a:rPr sz="1800" spc="35" dirty="0">
                <a:solidFill>
                  <a:srgbClr val="FFFFFF"/>
                </a:solidFill>
                <a:latin typeface="Times New Roman"/>
                <a:cs typeface="Times New Roman"/>
              </a:rPr>
              <a:t>limits </a:t>
            </a:r>
            <a:r>
              <a:rPr sz="1800" spc="100" dirty="0">
                <a:solidFill>
                  <a:srgbClr val="FFFFFF"/>
                </a:solidFill>
                <a:latin typeface="Times New Roman"/>
                <a:cs typeface="Times New Roman"/>
              </a:rPr>
              <a:t>the </a:t>
            </a:r>
            <a:r>
              <a:rPr sz="1800" spc="85" dirty="0">
                <a:solidFill>
                  <a:srgbClr val="FFFFFF"/>
                </a:solidFill>
                <a:latin typeface="Times New Roman"/>
                <a:cs typeface="Times New Roman"/>
              </a:rPr>
              <a:t>contents </a:t>
            </a:r>
            <a:r>
              <a:rPr sz="1800" spc="50" dirty="0">
                <a:solidFill>
                  <a:srgbClr val="FFFFFF"/>
                </a:solidFill>
                <a:latin typeface="Times New Roman"/>
                <a:cs typeface="Times New Roman"/>
              </a:rPr>
              <a:t>of </a:t>
            </a:r>
            <a:r>
              <a:rPr sz="1800" spc="30" dirty="0">
                <a:solidFill>
                  <a:srgbClr val="FFFFFF"/>
                </a:solidFill>
                <a:latin typeface="Times New Roman"/>
                <a:cs typeface="Times New Roman"/>
              </a:rPr>
              <a:t>XML  </a:t>
            </a:r>
            <a:r>
              <a:rPr sz="1800" spc="85" dirty="0">
                <a:solidFill>
                  <a:srgbClr val="FFFFFF"/>
                </a:solidFill>
                <a:latin typeface="Times New Roman"/>
                <a:cs typeface="Times New Roman"/>
              </a:rPr>
              <a:t>documents</a:t>
            </a:r>
            <a:endParaRPr sz="1800">
              <a:latin typeface="Times New Roman"/>
              <a:cs typeface="Times New Roman"/>
            </a:endParaRPr>
          </a:p>
        </p:txBody>
      </p:sp>
      <p:sp>
        <p:nvSpPr>
          <p:cNvPr id="8" name="object 8"/>
          <p:cNvSpPr txBox="1"/>
          <p:nvPr/>
        </p:nvSpPr>
        <p:spPr>
          <a:xfrm>
            <a:off x="1880870" y="2487930"/>
            <a:ext cx="1363980" cy="330200"/>
          </a:xfrm>
          <a:prstGeom prst="rect">
            <a:avLst/>
          </a:prstGeom>
        </p:spPr>
        <p:txBody>
          <a:bodyPr vert="horz" wrap="square" lIns="0" tIns="12065" rIns="0" bIns="0" rtlCol="0">
            <a:spAutoFit/>
          </a:bodyPr>
          <a:lstStyle/>
          <a:p>
            <a:pPr marL="12700">
              <a:lnSpc>
                <a:spcPct val="100000"/>
              </a:lnSpc>
              <a:spcBef>
                <a:spcPts val="95"/>
              </a:spcBef>
            </a:pPr>
            <a:r>
              <a:rPr sz="2000" spc="90" dirty="0">
                <a:solidFill>
                  <a:srgbClr val="FFFFFF"/>
                </a:solidFill>
                <a:latin typeface="Times New Roman"/>
                <a:cs typeface="Times New Roman"/>
              </a:rPr>
              <a:t>Typed</a:t>
            </a:r>
            <a:r>
              <a:rPr sz="2000" spc="-140" dirty="0">
                <a:solidFill>
                  <a:srgbClr val="FFFFFF"/>
                </a:solidFill>
                <a:latin typeface="Times New Roman"/>
                <a:cs typeface="Times New Roman"/>
              </a:rPr>
              <a:t> </a:t>
            </a:r>
            <a:r>
              <a:rPr sz="2000" spc="25" dirty="0">
                <a:solidFill>
                  <a:srgbClr val="FFFFFF"/>
                </a:solidFill>
                <a:latin typeface="Times New Roman"/>
                <a:cs typeface="Times New Roman"/>
              </a:rPr>
              <a:t>XML</a:t>
            </a:r>
            <a:endParaRPr sz="2000">
              <a:latin typeface="Times New Roman"/>
              <a:cs typeface="Times New Roman"/>
            </a:endParaRPr>
          </a:p>
        </p:txBody>
      </p:sp>
      <p:sp>
        <p:nvSpPr>
          <p:cNvPr id="9" name="object 9"/>
          <p:cNvSpPr txBox="1"/>
          <p:nvPr/>
        </p:nvSpPr>
        <p:spPr>
          <a:xfrm>
            <a:off x="5462015" y="2434082"/>
            <a:ext cx="1631314" cy="330200"/>
          </a:xfrm>
          <a:prstGeom prst="rect">
            <a:avLst/>
          </a:prstGeom>
        </p:spPr>
        <p:txBody>
          <a:bodyPr vert="horz" wrap="square" lIns="0" tIns="12065" rIns="0" bIns="0" rtlCol="0">
            <a:spAutoFit/>
          </a:bodyPr>
          <a:lstStyle/>
          <a:p>
            <a:pPr marL="12700">
              <a:lnSpc>
                <a:spcPct val="100000"/>
              </a:lnSpc>
              <a:spcBef>
                <a:spcPts val="95"/>
              </a:spcBef>
            </a:pPr>
            <a:r>
              <a:rPr sz="2000" spc="105" dirty="0">
                <a:solidFill>
                  <a:srgbClr val="FFFFFF"/>
                </a:solidFill>
                <a:latin typeface="Times New Roman"/>
                <a:cs typeface="Times New Roman"/>
              </a:rPr>
              <a:t>Untyped</a:t>
            </a:r>
            <a:r>
              <a:rPr sz="2000" spc="-105" dirty="0">
                <a:solidFill>
                  <a:srgbClr val="FFFFFF"/>
                </a:solidFill>
                <a:latin typeface="Times New Roman"/>
                <a:cs typeface="Times New Roman"/>
              </a:rPr>
              <a:t> </a:t>
            </a:r>
            <a:r>
              <a:rPr sz="2000" spc="25" dirty="0">
                <a:solidFill>
                  <a:srgbClr val="FFFFFF"/>
                </a:solidFill>
                <a:latin typeface="Times New Roman"/>
                <a:cs typeface="Times New Roman"/>
              </a:rPr>
              <a:t>XML</a:t>
            </a:r>
            <a:endParaRPr sz="2000">
              <a:latin typeface="Times New Roman"/>
              <a:cs typeface="Times New Roman"/>
            </a:endParaRPr>
          </a:p>
        </p:txBody>
      </p:sp>
      <p:sp>
        <p:nvSpPr>
          <p:cNvPr id="10" name="object 10"/>
          <p:cNvSpPr/>
          <p:nvPr/>
        </p:nvSpPr>
        <p:spPr>
          <a:xfrm>
            <a:off x="2183130" y="815339"/>
            <a:ext cx="4552950" cy="916305"/>
          </a:xfrm>
          <a:custGeom>
            <a:avLst/>
            <a:gdLst/>
            <a:ahLst/>
            <a:cxnLst/>
            <a:rect l="l" t="t" r="r" b="b"/>
            <a:pathLst>
              <a:path w="4552950" h="916305">
                <a:moveTo>
                  <a:pt x="4552950" y="152654"/>
                </a:moveTo>
                <a:lnTo>
                  <a:pt x="4545165" y="104406"/>
                </a:lnTo>
                <a:lnTo>
                  <a:pt x="4523498" y="62496"/>
                </a:lnTo>
                <a:lnTo>
                  <a:pt x="4490453" y="29451"/>
                </a:lnTo>
                <a:lnTo>
                  <a:pt x="4448543" y="7785"/>
                </a:lnTo>
                <a:lnTo>
                  <a:pt x="4400296" y="0"/>
                </a:lnTo>
                <a:lnTo>
                  <a:pt x="152654" y="0"/>
                </a:lnTo>
                <a:lnTo>
                  <a:pt x="104394" y="7785"/>
                </a:lnTo>
                <a:lnTo>
                  <a:pt x="62484" y="29451"/>
                </a:lnTo>
                <a:lnTo>
                  <a:pt x="29438" y="62496"/>
                </a:lnTo>
                <a:lnTo>
                  <a:pt x="7772" y="104406"/>
                </a:lnTo>
                <a:lnTo>
                  <a:pt x="0" y="152654"/>
                </a:lnTo>
                <a:lnTo>
                  <a:pt x="0" y="763270"/>
                </a:lnTo>
                <a:lnTo>
                  <a:pt x="7772" y="811530"/>
                </a:lnTo>
                <a:lnTo>
                  <a:pt x="29438" y="853440"/>
                </a:lnTo>
                <a:lnTo>
                  <a:pt x="62484" y="886485"/>
                </a:lnTo>
                <a:lnTo>
                  <a:pt x="104394" y="908151"/>
                </a:lnTo>
                <a:lnTo>
                  <a:pt x="152654" y="915924"/>
                </a:lnTo>
                <a:lnTo>
                  <a:pt x="4400296" y="915924"/>
                </a:lnTo>
                <a:lnTo>
                  <a:pt x="4448543" y="908151"/>
                </a:lnTo>
                <a:lnTo>
                  <a:pt x="4490453" y="886485"/>
                </a:lnTo>
                <a:lnTo>
                  <a:pt x="4523498" y="853440"/>
                </a:lnTo>
                <a:lnTo>
                  <a:pt x="4545165" y="811530"/>
                </a:lnTo>
                <a:lnTo>
                  <a:pt x="4552950" y="763270"/>
                </a:lnTo>
                <a:lnTo>
                  <a:pt x="4552950" y="692658"/>
                </a:lnTo>
                <a:lnTo>
                  <a:pt x="4552950" y="223278"/>
                </a:lnTo>
                <a:lnTo>
                  <a:pt x="4552950" y="152654"/>
                </a:lnTo>
                <a:close/>
              </a:path>
            </a:pathLst>
          </a:custGeom>
          <a:solidFill>
            <a:srgbClr val="9BBA58"/>
          </a:solidFill>
        </p:spPr>
        <p:txBody>
          <a:bodyPr wrap="square" lIns="0" tIns="0" rIns="0" bIns="0" rtlCol="0"/>
          <a:lstStyle/>
          <a:p>
            <a:endParaRPr/>
          </a:p>
        </p:txBody>
      </p:sp>
      <p:sp>
        <p:nvSpPr>
          <p:cNvPr id="11" name="object 11"/>
          <p:cNvSpPr txBox="1"/>
          <p:nvPr/>
        </p:nvSpPr>
        <p:spPr>
          <a:xfrm>
            <a:off x="2643885" y="850646"/>
            <a:ext cx="3422650" cy="757555"/>
          </a:xfrm>
          <a:prstGeom prst="rect">
            <a:avLst/>
          </a:prstGeom>
        </p:spPr>
        <p:txBody>
          <a:bodyPr vert="horz" wrap="square" lIns="0" tIns="12700" rIns="0" bIns="0" rtlCol="0">
            <a:spAutoFit/>
          </a:bodyPr>
          <a:lstStyle/>
          <a:p>
            <a:pPr marL="985519" marR="5080" indent="-973455">
              <a:lnSpc>
                <a:spcPct val="100000"/>
              </a:lnSpc>
              <a:spcBef>
                <a:spcPts val="100"/>
              </a:spcBef>
            </a:pPr>
            <a:r>
              <a:rPr sz="2400" spc="130" dirty="0">
                <a:solidFill>
                  <a:srgbClr val="FFFFFF"/>
                </a:solidFill>
                <a:latin typeface="Times New Roman"/>
                <a:cs typeface="Times New Roman"/>
              </a:rPr>
              <a:t>Two</a:t>
            </a:r>
            <a:r>
              <a:rPr sz="2400" spc="-105" dirty="0">
                <a:solidFill>
                  <a:srgbClr val="FFFFFF"/>
                </a:solidFill>
                <a:latin typeface="Times New Roman"/>
                <a:cs typeface="Times New Roman"/>
              </a:rPr>
              <a:t> </a:t>
            </a:r>
            <a:r>
              <a:rPr sz="2400" spc="25" dirty="0">
                <a:solidFill>
                  <a:srgbClr val="FFFFFF"/>
                </a:solidFill>
                <a:latin typeface="Times New Roman"/>
                <a:cs typeface="Times New Roman"/>
              </a:rPr>
              <a:t>ways</a:t>
            </a:r>
            <a:r>
              <a:rPr sz="2400" spc="-90" dirty="0">
                <a:solidFill>
                  <a:srgbClr val="FFFFFF"/>
                </a:solidFill>
                <a:latin typeface="Times New Roman"/>
                <a:cs typeface="Times New Roman"/>
              </a:rPr>
              <a:t> </a:t>
            </a:r>
            <a:r>
              <a:rPr sz="2400" spc="70" dirty="0">
                <a:solidFill>
                  <a:srgbClr val="FFFFFF"/>
                </a:solidFill>
                <a:latin typeface="Times New Roman"/>
                <a:cs typeface="Times New Roman"/>
              </a:rPr>
              <a:t>of</a:t>
            </a:r>
            <a:r>
              <a:rPr sz="2400" spc="-110" dirty="0">
                <a:solidFill>
                  <a:srgbClr val="FFFFFF"/>
                </a:solidFill>
                <a:latin typeface="Times New Roman"/>
                <a:cs typeface="Times New Roman"/>
              </a:rPr>
              <a:t> </a:t>
            </a:r>
            <a:r>
              <a:rPr sz="2400" spc="80" dirty="0">
                <a:solidFill>
                  <a:srgbClr val="FFFFFF"/>
                </a:solidFill>
                <a:latin typeface="Times New Roman"/>
                <a:cs typeface="Times New Roman"/>
              </a:rPr>
              <a:t>storing</a:t>
            </a:r>
            <a:r>
              <a:rPr sz="2400" spc="-105" dirty="0">
                <a:solidFill>
                  <a:srgbClr val="FFFFFF"/>
                </a:solidFill>
                <a:latin typeface="Times New Roman"/>
                <a:cs typeface="Times New Roman"/>
              </a:rPr>
              <a:t> </a:t>
            </a:r>
            <a:r>
              <a:rPr sz="2400" spc="40" dirty="0">
                <a:solidFill>
                  <a:srgbClr val="FFFFFF"/>
                </a:solidFill>
                <a:latin typeface="Times New Roman"/>
                <a:cs typeface="Times New Roman"/>
              </a:rPr>
              <a:t>XML  </a:t>
            </a:r>
            <a:r>
              <a:rPr sz="2400" spc="110" dirty="0">
                <a:solidFill>
                  <a:srgbClr val="FFFFFF"/>
                </a:solidFill>
                <a:latin typeface="Times New Roman"/>
                <a:cs typeface="Times New Roman"/>
              </a:rPr>
              <a:t>documents</a:t>
            </a:r>
            <a:endParaRPr sz="2400">
              <a:latin typeface="Times New Roman"/>
              <a:cs typeface="Times New Roman"/>
            </a:endParaRPr>
          </a:p>
        </p:txBody>
      </p:sp>
      <p:grpSp>
        <p:nvGrpSpPr>
          <p:cNvPr id="12" name="object 12"/>
          <p:cNvGrpSpPr/>
          <p:nvPr/>
        </p:nvGrpSpPr>
        <p:grpSpPr>
          <a:xfrm>
            <a:off x="2528697" y="1731264"/>
            <a:ext cx="3963670" cy="629920"/>
            <a:chOff x="2528697" y="1731264"/>
            <a:chExt cx="3963670" cy="629920"/>
          </a:xfrm>
        </p:grpSpPr>
        <p:sp>
          <p:nvSpPr>
            <p:cNvPr id="13" name="object 13"/>
            <p:cNvSpPr/>
            <p:nvPr/>
          </p:nvSpPr>
          <p:spPr>
            <a:xfrm>
              <a:off x="2566416" y="2039112"/>
              <a:ext cx="3887470" cy="0"/>
            </a:xfrm>
            <a:custGeom>
              <a:avLst/>
              <a:gdLst/>
              <a:ahLst/>
              <a:cxnLst/>
              <a:rect l="l" t="t" r="r" b="b"/>
              <a:pathLst>
                <a:path w="3887470">
                  <a:moveTo>
                    <a:pt x="0" y="0"/>
                  </a:moveTo>
                  <a:lnTo>
                    <a:pt x="3887216" y="0"/>
                  </a:lnTo>
                </a:path>
              </a:pathLst>
            </a:custGeom>
            <a:ln w="28956">
              <a:solidFill>
                <a:srgbClr val="000000"/>
              </a:solidFill>
            </a:ln>
          </p:spPr>
          <p:txBody>
            <a:bodyPr wrap="square" lIns="0" tIns="0" rIns="0" bIns="0" rtlCol="0"/>
            <a:lstStyle/>
            <a:p>
              <a:endParaRPr/>
            </a:p>
          </p:txBody>
        </p:sp>
        <p:sp>
          <p:nvSpPr>
            <p:cNvPr id="14" name="object 14"/>
            <p:cNvSpPr/>
            <p:nvPr/>
          </p:nvSpPr>
          <p:spPr>
            <a:xfrm>
              <a:off x="2528697" y="2039492"/>
              <a:ext cx="3963670" cy="321945"/>
            </a:xfrm>
            <a:custGeom>
              <a:avLst/>
              <a:gdLst/>
              <a:ahLst/>
              <a:cxnLst/>
              <a:rect l="l" t="t" r="r" b="b"/>
              <a:pathLst>
                <a:path w="3963670" h="321944">
                  <a:moveTo>
                    <a:pt x="76200" y="245491"/>
                  </a:moveTo>
                  <a:lnTo>
                    <a:pt x="44450" y="245491"/>
                  </a:lnTo>
                  <a:lnTo>
                    <a:pt x="44450" y="0"/>
                  </a:lnTo>
                  <a:lnTo>
                    <a:pt x="31750" y="0"/>
                  </a:lnTo>
                  <a:lnTo>
                    <a:pt x="31750" y="245491"/>
                  </a:lnTo>
                  <a:lnTo>
                    <a:pt x="0" y="245491"/>
                  </a:lnTo>
                  <a:lnTo>
                    <a:pt x="38100" y="321691"/>
                  </a:lnTo>
                  <a:lnTo>
                    <a:pt x="69850" y="258191"/>
                  </a:lnTo>
                  <a:lnTo>
                    <a:pt x="76200" y="245491"/>
                  </a:lnTo>
                  <a:close/>
                </a:path>
                <a:path w="3963670" h="321944">
                  <a:moveTo>
                    <a:pt x="3963162" y="245491"/>
                  </a:moveTo>
                  <a:lnTo>
                    <a:pt x="3931412" y="245491"/>
                  </a:lnTo>
                  <a:lnTo>
                    <a:pt x="3931412" y="0"/>
                  </a:lnTo>
                  <a:lnTo>
                    <a:pt x="3918712" y="0"/>
                  </a:lnTo>
                  <a:lnTo>
                    <a:pt x="3918712" y="245491"/>
                  </a:lnTo>
                  <a:lnTo>
                    <a:pt x="3886962" y="245491"/>
                  </a:lnTo>
                  <a:lnTo>
                    <a:pt x="3925062" y="321691"/>
                  </a:lnTo>
                  <a:lnTo>
                    <a:pt x="3956812" y="258191"/>
                  </a:lnTo>
                  <a:lnTo>
                    <a:pt x="3963162" y="245491"/>
                  </a:lnTo>
                  <a:close/>
                </a:path>
              </a:pathLst>
            </a:custGeom>
            <a:solidFill>
              <a:srgbClr val="000000"/>
            </a:solidFill>
          </p:spPr>
          <p:txBody>
            <a:bodyPr wrap="square" lIns="0" tIns="0" rIns="0" bIns="0" rtlCol="0"/>
            <a:lstStyle/>
            <a:p>
              <a:endParaRPr/>
            </a:p>
          </p:txBody>
        </p:sp>
        <p:sp>
          <p:nvSpPr>
            <p:cNvPr id="15" name="object 15"/>
            <p:cNvSpPr/>
            <p:nvPr/>
          </p:nvSpPr>
          <p:spPr>
            <a:xfrm>
              <a:off x="4459223" y="1731264"/>
              <a:ext cx="0" cy="308610"/>
            </a:xfrm>
            <a:custGeom>
              <a:avLst/>
              <a:gdLst/>
              <a:ahLst/>
              <a:cxnLst/>
              <a:rect l="l" t="t" r="r" b="b"/>
              <a:pathLst>
                <a:path h="308610">
                  <a:moveTo>
                    <a:pt x="0" y="0"/>
                  </a:moveTo>
                  <a:lnTo>
                    <a:pt x="0" y="308102"/>
                  </a:lnTo>
                </a:path>
              </a:pathLst>
            </a:custGeom>
            <a:ln w="28956">
              <a:solidFill>
                <a:srgbClr val="000000"/>
              </a:solidFill>
            </a:ln>
          </p:spPr>
          <p:txBody>
            <a:bodyPr wrap="square" lIns="0" tIns="0" rIns="0" bIns="0" rtlCol="0"/>
            <a:lstStyle/>
            <a:p>
              <a:endParaRPr/>
            </a:p>
          </p:txBody>
        </p:sp>
      </p:grpSp>
      <p:sp>
        <p:nvSpPr>
          <p:cNvPr id="16" name="object 16"/>
          <p:cNvSpPr txBox="1"/>
          <p:nvPr/>
        </p:nvSpPr>
        <p:spPr>
          <a:xfrm>
            <a:off x="751840" y="3516629"/>
            <a:ext cx="2125980" cy="300355"/>
          </a:xfrm>
          <a:prstGeom prst="rect">
            <a:avLst/>
          </a:prstGeom>
        </p:spPr>
        <p:txBody>
          <a:bodyPr vert="horz" wrap="square" lIns="0" tIns="12700" rIns="0" bIns="0" rtlCol="0">
            <a:spAutoFit/>
          </a:bodyPr>
          <a:lstStyle/>
          <a:p>
            <a:pPr marL="12700">
              <a:lnSpc>
                <a:spcPct val="100000"/>
              </a:lnSpc>
              <a:spcBef>
                <a:spcPts val="100"/>
              </a:spcBef>
            </a:pPr>
            <a:r>
              <a:rPr sz="1800" b="1" spc="-70" dirty="0">
                <a:latin typeface="Arial"/>
                <a:cs typeface="Arial"/>
              </a:rPr>
              <a:t>Typed </a:t>
            </a:r>
            <a:r>
              <a:rPr sz="1800" b="1" spc="80" dirty="0">
                <a:latin typeface="Arial"/>
                <a:cs typeface="Arial"/>
              </a:rPr>
              <a:t>XML</a:t>
            </a:r>
            <a:r>
              <a:rPr sz="1800" b="1" spc="-290" dirty="0">
                <a:latin typeface="Arial"/>
                <a:cs typeface="Arial"/>
              </a:rPr>
              <a:t> </a:t>
            </a:r>
            <a:r>
              <a:rPr sz="1800" b="1" spc="-125" dirty="0">
                <a:latin typeface="Arial"/>
                <a:cs typeface="Arial"/>
              </a:rPr>
              <a:t>instance:</a:t>
            </a:r>
            <a:endParaRPr sz="1800">
              <a:latin typeface="Arial"/>
              <a:cs typeface="Arial"/>
            </a:endParaRPr>
          </a:p>
        </p:txBody>
      </p:sp>
      <p:sp>
        <p:nvSpPr>
          <p:cNvPr id="18" name="object 1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24</a:t>
            </a:fld>
            <a:endParaRPr sz="1200"/>
          </a:p>
        </p:txBody>
      </p:sp>
      <p:sp>
        <p:nvSpPr>
          <p:cNvPr id="19" name="object 1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6445250" cy="635635"/>
          </a:xfrm>
          <a:prstGeom prst="rect">
            <a:avLst/>
          </a:prstGeom>
        </p:spPr>
        <p:txBody>
          <a:bodyPr vert="horz" wrap="square" lIns="0" tIns="12700" rIns="0" bIns="0" rtlCol="0">
            <a:spAutoFit/>
          </a:bodyPr>
          <a:lstStyle/>
          <a:p>
            <a:pPr marL="12700">
              <a:lnSpc>
                <a:spcPct val="100000"/>
              </a:lnSpc>
              <a:spcBef>
                <a:spcPts val="100"/>
              </a:spcBef>
            </a:pPr>
            <a:r>
              <a:rPr sz="4000" b="0" spc="185" dirty="0">
                <a:latin typeface="Times New Roman"/>
                <a:cs typeface="Times New Roman"/>
              </a:rPr>
              <a:t>Typed</a:t>
            </a:r>
            <a:r>
              <a:rPr sz="4000" b="0" spc="-160" dirty="0">
                <a:latin typeface="Times New Roman"/>
                <a:cs typeface="Times New Roman"/>
              </a:rPr>
              <a:t> </a:t>
            </a:r>
            <a:r>
              <a:rPr sz="4000" b="0" spc="229" dirty="0">
                <a:latin typeface="Times New Roman"/>
                <a:cs typeface="Times New Roman"/>
              </a:rPr>
              <a:t>and</a:t>
            </a:r>
            <a:r>
              <a:rPr sz="4000" b="0" spc="-160" dirty="0">
                <a:latin typeface="Times New Roman"/>
                <a:cs typeface="Times New Roman"/>
              </a:rPr>
              <a:t> </a:t>
            </a:r>
            <a:r>
              <a:rPr sz="4000" b="0" spc="220" dirty="0">
                <a:latin typeface="Times New Roman"/>
                <a:cs typeface="Times New Roman"/>
              </a:rPr>
              <a:t>Untyped</a:t>
            </a:r>
            <a:r>
              <a:rPr sz="4000" b="0" spc="-175" dirty="0">
                <a:latin typeface="Times New Roman"/>
                <a:cs typeface="Times New Roman"/>
              </a:rPr>
              <a:t> </a:t>
            </a:r>
            <a:r>
              <a:rPr sz="4000" b="0" spc="65" dirty="0">
                <a:latin typeface="Times New Roman"/>
                <a:cs typeface="Times New Roman"/>
              </a:rPr>
              <a:t>XML</a:t>
            </a:r>
            <a:r>
              <a:rPr sz="4000" b="0" spc="-170" dirty="0">
                <a:latin typeface="Times New Roman"/>
                <a:cs typeface="Times New Roman"/>
              </a:rPr>
              <a:t> </a:t>
            </a:r>
            <a:r>
              <a:rPr sz="4000" b="0" spc="-80" dirty="0">
                <a:latin typeface="Times New Roman"/>
                <a:cs typeface="Times New Roman"/>
              </a:rPr>
              <a:t>2-2</a:t>
            </a:r>
            <a:endParaRPr sz="4000">
              <a:latin typeface="Times New Roman"/>
              <a:cs typeface="Times New Roman"/>
            </a:endParaRPr>
          </a:p>
        </p:txBody>
      </p:sp>
      <p:sp>
        <p:nvSpPr>
          <p:cNvPr id="3" name="object 3"/>
          <p:cNvSpPr txBox="1"/>
          <p:nvPr/>
        </p:nvSpPr>
        <p:spPr>
          <a:xfrm>
            <a:off x="768350" y="1143253"/>
            <a:ext cx="2618740" cy="330200"/>
          </a:xfrm>
          <a:prstGeom prst="rect">
            <a:avLst/>
          </a:prstGeom>
        </p:spPr>
        <p:txBody>
          <a:bodyPr vert="horz" wrap="square" lIns="0" tIns="12065" rIns="0" bIns="0" rtlCol="0">
            <a:spAutoFit/>
          </a:bodyPr>
          <a:lstStyle/>
          <a:p>
            <a:pPr marL="12700">
              <a:lnSpc>
                <a:spcPct val="100000"/>
              </a:lnSpc>
              <a:spcBef>
                <a:spcPts val="95"/>
              </a:spcBef>
            </a:pPr>
            <a:r>
              <a:rPr sz="2000" b="1" spc="-65" dirty="0">
                <a:latin typeface="Arial"/>
                <a:cs typeface="Arial"/>
              </a:rPr>
              <a:t>Untyped </a:t>
            </a:r>
            <a:r>
              <a:rPr sz="2000" b="1" spc="90" dirty="0">
                <a:latin typeface="Arial"/>
                <a:cs typeface="Arial"/>
              </a:rPr>
              <a:t>XML</a:t>
            </a:r>
            <a:r>
              <a:rPr sz="2000" b="1" spc="-310" dirty="0">
                <a:latin typeface="Arial"/>
                <a:cs typeface="Arial"/>
              </a:rPr>
              <a:t> </a:t>
            </a:r>
            <a:r>
              <a:rPr sz="2000" b="1" spc="-140" dirty="0">
                <a:latin typeface="Arial"/>
                <a:cs typeface="Arial"/>
              </a:rPr>
              <a:t>instance:</a:t>
            </a:r>
            <a:endParaRPr sz="2000">
              <a:latin typeface="Arial"/>
              <a:cs typeface="Arial"/>
            </a:endParaRPr>
          </a:p>
        </p:txBody>
      </p:sp>
      <p:pic>
        <p:nvPicPr>
          <p:cNvPr id="4" name="object 4"/>
          <p:cNvPicPr/>
          <p:nvPr/>
        </p:nvPicPr>
        <p:blipFill>
          <a:blip r:embed="rId3" cstate="print"/>
          <a:stretch>
            <a:fillRect/>
          </a:stretch>
        </p:blipFill>
        <p:spPr>
          <a:xfrm>
            <a:off x="736854" y="1680972"/>
            <a:ext cx="7573518" cy="1653539"/>
          </a:xfrm>
          <a:prstGeom prst="rect">
            <a:avLst/>
          </a:prstGeom>
        </p:spPr>
      </p:pic>
      <p:sp>
        <p:nvSpPr>
          <p:cNvPr id="5" name="object 5"/>
          <p:cNvSpPr txBox="1"/>
          <p:nvPr/>
        </p:nvSpPr>
        <p:spPr>
          <a:xfrm>
            <a:off x="912367" y="1877822"/>
            <a:ext cx="7040880" cy="1123315"/>
          </a:xfrm>
          <a:prstGeom prst="rect">
            <a:avLst/>
          </a:prstGeom>
        </p:spPr>
        <p:txBody>
          <a:bodyPr vert="horz" wrap="square" lIns="0" tIns="12700" rIns="0" bIns="0" rtlCol="0">
            <a:spAutoFit/>
          </a:bodyPr>
          <a:lstStyle/>
          <a:p>
            <a:pPr marL="355600" marR="5080" indent="-342900" algn="just">
              <a:lnSpc>
                <a:spcPct val="100000"/>
              </a:lnSpc>
              <a:spcBef>
                <a:spcPts val="100"/>
              </a:spcBef>
              <a:buClr>
                <a:srgbClr val="FFFFFF"/>
              </a:buClr>
              <a:buFont typeface="Wingdings"/>
              <a:buChar char=""/>
              <a:tabLst>
                <a:tab pos="420370" algn="l"/>
              </a:tabLst>
            </a:pPr>
            <a:r>
              <a:rPr dirty="0"/>
              <a:t>	</a:t>
            </a:r>
            <a:r>
              <a:rPr sz="2400" spc="100" dirty="0">
                <a:solidFill>
                  <a:srgbClr val="FFFFFF"/>
                </a:solidFill>
                <a:latin typeface="Times New Roman"/>
                <a:cs typeface="Times New Roman"/>
              </a:rPr>
              <a:t>Data </a:t>
            </a:r>
            <a:r>
              <a:rPr sz="2400" spc="90" dirty="0">
                <a:solidFill>
                  <a:srgbClr val="FFFFFF"/>
                </a:solidFill>
                <a:latin typeface="Times New Roman"/>
                <a:cs typeface="Times New Roman"/>
              </a:rPr>
              <a:t>can </a:t>
            </a:r>
            <a:r>
              <a:rPr sz="2400" spc="80" dirty="0">
                <a:solidFill>
                  <a:srgbClr val="FFFFFF"/>
                </a:solidFill>
                <a:latin typeface="Times New Roman"/>
                <a:cs typeface="Times New Roman"/>
              </a:rPr>
              <a:t>be created </a:t>
            </a:r>
            <a:r>
              <a:rPr sz="2400" spc="135" dirty="0">
                <a:solidFill>
                  <a:srgbClr val="FFFFFF"/>
                </a:solidFill>
                <a:latin typeface="Times New Roman"/>
                <a:cs typeface="Times New Roman"/>
              </a:rPr>
              <a:t>and </a:t>
            </a:r>
            <a:r>
              <a:rPr sz="2400" spc="95" dirty="0">
                <a:solidFill>
                  <a:srgbClr val="FFFFFF"/>
                </a:solidFill>
                <a:latin typeface="Times New Roman"/>
                <a:cs typeface="Times New Roman"/>
              </a:rPr>
              <a:t>stored </a:t>
            </a:r>
            <a:r>
              <a:rPr sz="2400" spc="114" dirty="0">
                <a:solidFill>
                  <a:srgbClr val="FFFFFF"/>
                </a:solidFill>
                <a:latin typeface="Times New Roman"/>
                <a:cs typeface="Times New Roman"/>
              </a:rPr>
              <a:t>in </a:t>
            </a:r>
            <a:r>
              <a:rPr sz="2400" spc="100" dirty="0">
                <a:solidFill>
                  <a:srgbClr val="FFFFFF"/>
                </a:solidFill>
                <a:latin typeface="Times New Roman"/>
                <a:cs typeface="Times New Roman"/>
              </a:rPr>
              <a:t>either </a:t>
            </a:r>
            <a:r>
              <a:rPr sz="2400" spc="70" dirty="0">
                <a:solidFill>
                  <a:srgbClr val="FFFFFF"/>
                </a:solidFill>
                <a:latin typeface="Times New Roman"/>
                <a:cs typeface="Times New Roman"/>
              </a:rPr>
              <a:t>table  </a:t>
            </a:r>
            <a:r>
              <a:rPr sz="2400" spc="95" dirty="0">
                <a:solidFill>
                  <a:srgbClr val="FFFFFF"/>
                </a:solidFill>
                <a:latin typeface="Times New Roman"/>
                <a:cs typeface="Times New Roman"/>
              </a:rPr>
              <a:t>columns</a:t>
            </a:r>
            <a:r>
              <a:rPr sz="2400" spc="-70" dirty="0">
                <a:solidFill>
                  <a:srgbClr val="FFFFFF"/>
                </a:solidFill>
                <a:latin typeface="Times New Roman"/>
                <a:cs typeface="Times New Roman"/>
              </a:rPr>
              <a:t> </a:t>
            </a:r>
            <a:r>
              <a:rPr sz="2400" spc="105" dirty="0">
                <a:solidFill>
                  <a:srgbClr val="FFFFFF"/>
                </a:solidFill>
                <a:latin typeface="Times New Roman"/>
                <a:cs typeface="Times New Roman"/>
              </a:rPr>
              <a:t>or</a:t>
            </a:r>
            <a:r>
              <a:rPr sz="2400" spc="-65" dirty="0">
                <a:solidFill>
                  <a:srgbClr val="FFFFFF"/>
                </a:solidFill>
                <a:latin typeface="Times New Roman"/>
                <a:cs typeface="Times New Roman"/>
              </a:rPr>
              <a:t> </a:t>
            </a:r>
            <a:r>
              <a:rPr sz="2400" spc="45" dirty="0">
                <a:solidFill>
                  <a:srgbClr val="FFFFFF"/>
                </a:solidFill>
                <a:latin typeface="Times New Roman"/>
                <a:cs typeface="Times New Roman"/>
              </a:rPr>
              <a:t>variables</a:t>
            </a:r>
            <a:r>
              <a:rPr sz="2400" spc="-60" dirty="0">
                <a:solidFill>
                  <a:srgbClr val="FFFFFF"/>
                </a:solidFill>
                <a:latin typeface="Times New Roman"/>
                <a:cs typeface="Times New Roman"/>
              </a:rPr>
              <a:t> </a:t>
            </a:r>
            <a:r>
              <a:rPr sz="2400" spc="105" dirty="0">
                <a:solidFill>
                  <a:srgbClr val="FFFFFF"/>
                </a:solidFill>
                <a:latin typeface="Times New Roman"/>
                <a:cs typeface="Times New Roman"/>
              </a:rPr>
              <a:t>depending</a:t>
            </a:r>
            <a:r>
              <a:rPr sz="2400" spc="-65" dirty="0">
                <a:solidFill>
                  <a:srgbClr val="FFFFFF"/>
                </a:solidFill>
                <a:latin typeface="Times New Roman"/>
                <a:cs typeface="Times New Roman"/>
              </a:rPr>
              <a:t> </a:t>
            </a:r>
            <a:r>
              <a:rPr sz="2400" spc="160" dirty="0">
                <a:solidFill>
                  <a:srgbClr val="FFFFFF"/>
                </a:solidFill>
                <a:latin typeface="Times New Roman"/>
                <a:cs typeface="Times New Roman"/>
              </a:rPr>
              <a:t>upon</a:t>
            </a:r>
            <a:r>
              <a:rPr sz="2400" spc="-60"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70" dirty="0">
                <a:solidFill>
                  <a:srgbClr val="FFFFFF"/>
                </a:solidFill>
                <a:latin typeface="Times New Roman"/>
                <a:cs typeface="Times New Roman"/>
              </a:rPr>
              <a:t> </a:t>
            </a:r>
            <a:r>
              <a:rPr sz="2400" spc="114" dirty="0">
                <a:solidFill>
                  <a:srgbClr val="FFFFFF"/>
                </a:solidFill>
                <a:latin typeface="Times New Roman"/>
                <a:cs typeface="Times New Roman"/>
              </a:rPr>
              <a:t>need</a:t>
            </a:r>
            <a:r>
              <a:rPr sz="2400" spc="-65" dirty="0">
                <a:solidFill>
                  <a:srgbClr val="FFFFFF"/>
                </a:solidFill>
                <a:latin typeface="Times New Roman"/>
                <a:cs typeface="Times New Roman"/>
              </a:rPr>
              <a:t> </a:t>
            </a:r>
            <a:r>
              <a:rPr sz="2400" spc="135" dirty="0">
                <a:solidFill>
                  <a:srgbClr val="FFFFFF"/>
                </a:solidFill>
                <a:latin typeface="Times New Roman"/>
                <a:cs typeface="Times New Roman"/>
              </a:rPr>
              <a:t>and  </a:t>
            </a:r>
            <a:r>
              <a:rPr sz="2400" spc="65" dirty="0">
                <a:solidFill>
                  <a:srgbClr val="FFFFFF"/>
                </a:solidFill>
                <a:latin typeface="Times New Roman"/>
                <a:cs typeface="Times New Roman"/>
              </a:rPr>
              <a:t>scope </a:t>
            </a:r>
            <a:r>
              <a:rPr sz="2400" spc="70" dirty="0">
                <a:solidFill>
                  <a:srgbClr val="FFFFFF"/>
                </a:solidFill>
                <a:latin typeface="Times New Roman"/>
                <a:cs typeface="Times New Roman"/>
              </a:rPr>
              <a:t>of</a:t>
            </a:r>
            <a:r>
              <a:rPr sz="2400" spc="-254" dirty="0">
                <a:solidFill>
                  <a:srgbClr val="FFFFFF"/>
                </a:solidFill>
                <a:latin typeface="Times New Roman"/>
                <a:cs typeface="Times New Roman"/>
              </a:rPr>
              <a:t> </a:t>
            </a:r>
            <a:r>
              <a:rPr sz="2400" spc="95" dirty="0">
                <a:solidFill>
                  <a:srgbClr val="FFFFFF"/>
                </a:solidFill>
                <a:latin typeface="Times New Roman"/>
                <a:cs typeface="Times New Roman"/>
              </a:rPr>
              <a:t>data</a:t>
            </a:r>
            <a:endParaRPr sz="2400">
              <a:latin typeface="Times New Roman"/>
              <a:cs typeface="Times New Roman"/>
            </a:endParaRPr>
          </a:p>
        </p:txBody>
      </p:sp>
      <p:pic>
        <p:nvPicPr>
          <p:cNvPr id="6" name="object 6"/>
          <p:cNvPicPr/>
          <p:nvPr/>
        </p:nvPicPr>
        <p:blipFill>
          <a:blip r:embed="rId4" cstate="print"/>
          <a:stretch>
            <a:fillRect/>
          </a:stretch>
        </p:blipFill>
        <p:spPr>
          <a:xfrm>
            <a:off x="910589" y="3520440"/>
            <a:ext cx="3441954" cy="1652777"/>
          </a:xfrm>
          <a:prstGeom prst="rect">
            <a:avLst/>
          </a:prstGeom>
        </p:spPr>
      </p:pic>
      <p:sp>
        <p:nvSpPr>
          <p:cNvPr id="7" name="object 7"/>
          <p:cNvSpPr txBox="1"/>
          <p:nvPr/>
        </p:nvSpPr>
        <p:spPr>
          <a:xfrm>
            <a:off x="1066291" y="5218938"/>
            <a:ext cx="3048635" cy="238760"/>
          </a:xfrm>
          <a:prstGeom prst="rect">
            <a:avLst/>
          </a:prstGeom>
        </p:spPr>
        <p:txBody>
          <a:bodyPr vert="horz" wrap="square" lIns="0" tIns="12065" rIns="0" bIns="0" rtlCol="0">
            <a:spAutoFit/>
          </a:bodyPr>
          <a:lstStyle/>
          <a:p>
            <a:pPr marL="12700">
              <a:lnSpc>
                <a:spcPct val="100000"/>
              </a:lnSpc>
              <a:spcBef>
                <a:spcPts val="95"/>
              </a:spcBef>
            </a:pPr>
            <a:r>
              <a:rPr sz="1400" b="1" spc="-75" dirty="0">
                <a:latin typeface="Arial"/>
                <a:cs typeface="Arial"/>
              </a:rPr>
              <a:t>Displaying</a:t>
            </a:r>
            <a:r>
              <a:rPr sz="1400" b="1" spc="-125" dirty="0">
                <a:latin typeface="Arial"/>
                <a:cs typeface="Arial"/>
              </a:rPr>
              <a:t> </a:t>
            </a:r>
            <a:r>
              <a:rPr sz="1400" b="1" spc="60" dirty="0">
                <a:latin typeface="Arial"/>
                <a:cs typeface="Arial"/>
              </a:rPr>
              <a:t>XML</a:t>
            </a:r>
            <a:r>
              <a:rPr sz="1400" b="1" spc="-114" dirty="0">
                <a:latin typeface="Arial"/>
                <a:cs typeface="Arial"/>
              </a:rPr>
              <a:t> </a:t>
            </a:r>
            <a:r>
              <a:rPr sz="1400" b="1" spc="-35" dirty="0">
                <a:latin typeface="Arial"/>
                <a:cs typeface="Arial"/>
              </a:rPr>
              <a:t>Column</a:t>
            </a:r>
            <a:r>
              <a:rPr sz="1400" b="1" spc="-125" dirty="0">
                <a:latin typeface="Arial"/>
                <a:cs typeface="Arial"/>
              </a:rPr>
              <a:t> </a:t>
            </a:r>
            <a:r>
              <a:rPr sz="1400" b="1" spc="-25" dirty="0">
                <a:latin typeface="Arial"/>
                <a:cs typeface="Arial"/>
              </a:rPr>
              <a:t>with</a:t>
            </a:r>
            <a:r>
              <a:rPr sz="1400" b="1" spc="-114" dirty="0">
                <a:latin typeface="Arial"/>
                <a:cs typeface="Arial"/>
              </a:rPr>
              <a:t> </a:t>
            </a:r>
            <a:r>
              <a:rPr sz="1400" b="1" spc="-20" dirty="0">
                <a:latin typeface="Arial"/>
                <a:cs typeface="Arial"/>
              </a:rPr>
              <a:t>SELECT</a:t>
            </a:r>
            <a:endParaRPr sz="1400">
              <a:latin typeface="Arial"/>
              <a:cs typeface="Arial"/>
            </a:endParaRPr>
          </a:p>
        </p:txBody>
      </p:sp>
      <p:pic>
        <p:nvPicPr>
          <p:cNvPr id="8" name="object 8"/>
          <p:cNvPicPr/>
          <p:nvPr/>
        </p:nvPicPr>
        <p:blipFill>
          <a:blip r:embed="rId5" cstate="print"/>
          <a:stretch>
            <a:fillRect/>
          </a:stretch>
        </p:blipFill>
        <p:spPr>
          <a:xfrm>
            <a:off x="4754879" y="3537965"/>
            <a:ext cx="3555491" cy="1682495"/>
          </a:xfrm>
          <a:prstGeom prst="rect">
            <a:avLst/>
          </a:prstGeom>
        </p:spPr>
      </p:pic>
      <p:sp>
        <p:nvSpPr>
          <p:cNvPr id="9" name="object 9"/>
          <p:cNvSpPr txBox="1"/>
          <p:nvPr/>
        </p:nvSpPr>
        <p:spPr>
          <a:xfrm>
            <a:off x="5366765" y="5173726"/>
            <a:ext cx="2486025" cy="238760"/>
          </a:xfrm>
          <a:prstGeom prst="rect">
            <a:avLst/>
          </a:prstGeom>
        </p:spPr>
        <p:txBody>
          <a:bodyPr vert="horz" wrap="square" lIns="0" tIns="12065" rIns="0" bIns="0" rtlCol="0">
            <a:spAutoFit/>
          </a:bodyPr>
          <a:lstStyle/>
          <a:p>
            <a:pPr marL="12700">
              <a:lnSpc>
                <a:spcPct val="100000"/>
              </a:lnSpc>
              <a:spcBef>
                <a:spcPts val="95"/>
              </a:spcBef>
            </a:pPr>
            <a:r>
              <a:rPr sz="1400" b="1" spc="-85" dirty="0">
                <a:latin typeface="Arial"/>
                <a:cs typeface="Arial"/>
              </a:rPr>
              <a:t>Expanded</a:t>
            </a:r>
            <a:r>
              <a:rPr sz="1400" b="1" spc="-140" dirty="0">
                <a:latin typeface="Arial"/>
                <a:cs typeface="Arial"/>
              </a:rPr>
              <a:t> </a:t>
            </a:r>
            <a:r>
              <a:rPr sz="1400" b="1" spc="60" dirty="0">
                <a:latin typeface="Arial"/>
                <a:cs typeface="Arial"/>
              </a:rPr>
              <a:t>XML</a:t>
            </a:r>
            <a:r>
              <a:rPr sz="1400" b="1" spc="-125" dirty="0">
                <a:latin typeface="Arial"/>
                <a:cs typeface="Arial"/>
              </a:rPr>
              <a:t> </a:t>
            </a:r>
            <a:r>
              <a:rPr sz="1400" b="1" spc="-50" dirty="0">
                <a:latin typeface="Arial"/>
                <a:cs typeface="Arial"/>
              </a:rPr>
              <a:t>Data</a:t>
            </a:r>
            <a:r>
              <a:rPr sz="1400" b="1" spc="-120" dirty="0">
                <a:latin typeface="Arial"/>
                <a:cs typeface="Arial"/>
              </a:rPr>
              <a:t> </a:t>
            </a:r>
            <a:r>
              <a:rPr sz="1400" b="1" spc="-15" dirty="0">
                <a:latin typeface="Arial"/>
                <a:cs typeface="Arial"/>
              </a:rPr>
              <a:t>in</a:t>
            </a:r>
            <a:r>
              <a:rPr sz="1400" b="1" spc="-125" dirty="0">
                <a:latin typeface="Arial"/>
                <a:cs typeface="Arial"/>
              </a:rPr>
              <a:t> </a:t>
            </a:r>
            <a:r>
              <a:rPr sz="1400" b="1" spc="-35" dirty="0">
                <a:latin typeface="Arial"/>
                <a:cs typeface="Arial"/>
              </a:rPr>
              <a:t>Column</a:t>
            </a:r>
            <a:endParaRPr sz="140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25</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z="4000" b="0" spc="155" dirty="0">
                <a:latin typeface="Times New Roman"/>
                <a:cs typeface="Times New Roman"/>
              </a:rPr>
              <a:t>Summary</a:t>
            </a:r>
            <a:endParaRPr sz="40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20" baseline="4629" dirty="0"/>
              <a:t>8/</a:t>
            </a:r>
            <a:r>
              <a:rPr sz="1800" spc="-270" baseline="4629" dirty="0"/>
              <a:t> </a:t>
            </a:r>
            <a:fld id="{81D60167-4931-47E6-BA6A-407CBD079E47}" type="slidenum">
              <a:rPr sz="1200" spc="-5" dirty="0"/>
              <a:t>26</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a:spLocks noGrp="1"/>
          </p:cNvSpPr>
          <p:nvPr>
            <p:ph type="body" idx="1"/>
          </p:nvPr>
        </p:nvSpPr>
        <p:spPr>
          <a:prstGeom prst="rect">
            <a:avLst/>
          </a:prstGeom>
        </p:spPr>
        <p:txBody>
          <a:bodyPr vert="horz" wrap="square" lIns="0" tIns="13335" rIns="0" bIns="0" rtlCol="0">
            <a:spAutoFit/>
          </a:bodyPr>
          <a:lstStyle/>
          <a:p>
            <a:pPr marL="353695" indent="-341630">
              <a:lnSpc>
                <a:spcPct val="100000"/>
              </a:lnSpc>
              <a:spcBef>
                <a:spcPts val="105"/>
              </a:spcBef>
              <a:buSzPct val="90909"/>
              <a:buFont typeface="Calibri"/>
              <a:buChar char="●"/>
              <a:tabLst>
                <a:tab pos="353695" algn="l"/>
                <a:tab pos="354330" algn="l"/>
              </a:tabLst>
            </a:pPr>
            <a:r>
              <a:rPr spc="150" dirty="0"/>
              <a:t>The</a:t>
            </a:r>
            <a:r>
              <a:rPr spc="-90" dirty="0"/>
              <a:t> </a:t>
            </a:r>
            <a:r>
              <a:rPr spc="90" dirty="0"/>
              <a:t>SELECT</a:t>
            </a:r>
            <a:r>
              <a:rPr spc="-105" dirty="0"/>
              <a:t> </a:t>
            </a:r>
            <a:r>
              <a:rPr spc="95" dirty="0"/>
              <a:t>statement</a:t>
            </a:r>
            <a:r>
              <a:rPr spc="-110" dirty="0"/>
              <a:t> </a:t>
            </a:r>
            <a:r>
              <a:rPr spc="60" dirty="0"/>
              <a:t>retrieves</a:t>
            </a:r>
            <a:r>
              <a:rPr spc="-100" dirty="0"/>
              <a:t> </a:t>
            </a:r>
            <a:r>
              <a:rPr spc="65" dirty="0"/>
              <a:t>rows</a:t>
            </a:r>
            <a:r>
              <a:rPr spc="-95" dirty="0"/>
              <a:t> </a:t>
            </a:r>
            <a:r>
              <a:rPr spc="125" dirty="0"/>
              <a:t>and</a:t>
            </a:r>
            <a:r>
              <a:rPr spc="-95" dirty="0"/>
              <a:t> </a:t>
            </a:r>
            <a:r>
              <a:rPr spc="85" dirty="0"/>
              <a:t>columns</a:t>
            </a:r>
            <a:r>
              <a:rPr spc="-100" dirty="0"/>
              <a:t> </a:t>
            </a:r>
            <a:r>
              <a:rPr spc="80" dirty="0"/>
              <a:t>from</a:t>
            </a:r>
            <a:r>
              <a:rPr spc="-95" dirty="0"/>
              <a:t> </a:t>
            </a:r>
            <a:r>
              <a:rPr spc="45" dirty="0"/>
              <a:t>tables.</a:t>
            </a:r>
          </a:p>
          <a:p>
            <a:pPr marL="353695" marR="5080" indent="-341630">
              <a:lnSpc>
                <a:spcPct val="100000"/>
              </a:lnSpc>
              <a:buSzPct val="90909"/>
              <a:buFont typeface="Calibri"/>
              <a:buChar char="●"/>
              <a:tabLst>
                <a:tab pos="353695" algn="l"/>
                <a:tab pos="354330" algn="l"/>
              </a:tabLst>
            </a:pPr>
            <a:r>
              <a:rPr spc="90" dirty="0"/>
              <a:t>SELECT </a:t>
            </a:r>
            <a:r>
              <a:rPr spc="95" dirty="0"/>
              <a:t>statement </a:t>
            </a:r>
            <a:r>
              <a:rPr spc="30" dirty="0"/>
              <a:t>allows </a:t>
            </a:r>
            <a:r>
              <a:rPr spc="60" dirty="0"/>
              <a:t>users </a:t>
            </a:r>
            <a:r>
              <a:rPr spc="120" dirty="0"/>
              <a:t>to </a:t>
            </a:r>
            <a:r>
              <a:rPr spc="30" dirty="0"/>
              <a:t>specify </a:t>
            </a:r>
            <a:r>
              <a:rPr spc="80" dirty="0"/>
              <a:t>different </a:t>
            </a:r>
            <a:r>
              <a:rPr spc="65" dirty="0"/>
              <a:t>expressions </a:t>
            </a:r>
            <a:r>
              <a:rPr spc="105" dirty="0"/>
              <a:t>in  </a:t>
            </a:r>
            <a:r>
              <a:rPr spc="95" dirty="0"/>
              <a:t>order</a:t>
            </a:r>
            <a:r>
              <a:rPr spc="-105" dirty="0"/>
              <a:t> </a:t>
            </a:r>
            <a:r>
              <a:rPr spc="120" dirty="0"/>
              <a:t>to</a:t>
            </a:r>
            <a:r>
              <a:rPr spc="-105" dirty="0"/>
              <a:t> </a:t>
            </a:r>
            <a:r>
              <a:rPr spc="40" dirty="0"/>
              <a:t>view</a:t>
            </a:r>
            <a:r>
              <a:rPr spc="-85" dirty="0"/>
              <a:t> </a:t>
            </a:r>
            <a:r>
              <a:rPr spc="125" dirty="0"/>
              <a:t>the</a:t>
            </a:r>
            <a:r>
              <a:rPr spc="-95" dirty="0"/>
              <a:t> </a:t>
            </a:r>
            <a:r>
              <a:rPr spc="70" dirty="0"/>
              <a:t>resultset</a:t>
            </a:r>
            <a:r>
              <a:rPr spc="-114" dirty="0"/>
              <a:t> </a:t>
            </a:r>
            <a:r>
              <a:rPr spc="105" dirty="0"/>
              <a:t>in</a:t>
            </a:r>
            <a:r>
              <a:rPr spc="-90" dirty="0"/>
              <a:t> </a:t>
            </a:r>
            <a:r>
              <a:rPr spc="114" dirty="0"/>
              <a:t>an</a:t>
            </a:r>
            <a:r>
              <a:rPr spc="-95" dirty="0"/>
              <a:t> </a:t>
            </a:r>
            <a:r>
              <a:rPr spc="95" dirty="0"/>
              <a:t>ordered</a:t>
            </a:r>
            <a:r>
              <a:rPr spc="-114" dirty="0"/>
              <a:t> </a:t>
            </a:r>
            <a:r>
              <a:rPr spc="100" dirty="0"/>
              <a:t>manner.</a:t>
            </a:r>
          </a:p>
          <a:p>
            <a:pPr marL="353695" marR="5080" indent="-341630">
              <a:lnSpc>
                <a:spcPct val="100000"/>
              </a:lnSpc>
              <a:buSzPct val="90909"/>
              <a:buFont typeface="Calibri"/>
              <a:buChar char="●"/>
              <a:tabLst>
                <a:tab pos="353695" algn="l"/>
                <a:tab pos="354330" algn="l"/>
                <a:tab pos="715645" algn="l"/>
                <a:tab pos="1944370" algn="l"/>
                <a:tab pos="3259454" algn="l"/>
                <a:tab pos="3815079" algn="l"/>
                <a:tab pos="4862830" algn="l"/>
                <a:tab pos="6614159" algn="l"/>
                <a:tab pos="8147050" algn="l"/>
              </a:tabLst>
            </a:pPr>
            <a:r>
              <a:rPr spc="195" dirty="0"/>
              <a:t>A	</a:t>
            </a:r>
            <a:r>
              <a:rPr spc="35" dirty="0"/>
              <a:t>S</a:t>
            </a:r>
            <a:r>
              <a:rPr spc="25" dirty="0"/>
              <a:t>E</a:t>
            </a:r>
            <a:r>
              <a:rPr spc="120" dirty="0"/>
              <a:t>LECT</a:t>
            </a:r>
            <a:r>
              <a:rPr dirty="0"/>
              <a:t>	</a:t>
            </a:r>
            <a:r>
              <a:rPr spc="-5" dirty="0"/>
              <a:t>s</a:t>
            </a:r>
            <a:r>
              <a:rPr spc="85" dirty="0"/>
              <a:t>tat</a:t>
            </a:r>
            <a:r>
              <a:rPr spc="100" dirty="0"/>
              <a:t>e</a:t>
            </a:r>
            <a:r>
              <a:rPr spc="125" dirty="0"/>
              <a:t>ment</a:t>
            </a:r>
            <a:r>
              <a:rPr dirty="0"/>
              <a:t>	</a:t>
            </a:r>
            <a:r>
              <a:rPr spc="85" dirty="0"/>
              <a:t>can</a:t>
            </a:r>
            <a:r>
              <a:rPr dirty="0"/>
              <a:t>	</a:t>
            </a:r>
            <a:r>
              <a:rPr spc="100" dirty="0"/>
              <a:t>cont</a:t>
            </a:r>
            <a:r>
              <a:rPr spc="90" dirty="0"/>
              <a:t>a</a:t>
            </a:r>
            <a:r>
              <a:rPr spc="105" dirty="0"/>
              <a:t>in</a:t>
            </a:r>
            <a:r>
              <a:rPr dirty="0"/>
              <a:t>	</a:t>
            </a:r>
            <a:r>
              <a:rPr spc="114" dirty="0"/>
              <a:t>ma</a:t>
            </a:r>
            <a:r>
              <a:rPr spc="40" dirty="0"/>
              <a:t>t</a:t>
            </a:r>
            <a:r>
              <a:rPr spc="100" dirty="0"/>
              <a:t>hem</a:t>
            </a:r>
            <a:r>
              <a:rPr spc="70" dirty="0"/>
              <a:t>a</a:t>
            </a:r>
            <a:r>
              <a:rPr spc="40" dirty="0"/>
              <a:t>tical</a:t>
            </a:r>
            <a:r>
              <a:rPr dirty="0"/>
              <a:t>	</a:t>
            </a:r>
            <a:r>
              <a:rPr spc="60" dirty="0"/>
              <a:t>expres</a:t>
            </a:r>
            <a:r>
              <a:rPr spc="40" dirty="0"/>
              <a:t>s</a:t>
            </a:r>
            <a:r>
              <a:rPr spc="80" dirty="0"/>
              <a:t>ions</a:t>
            </a:r>
            <a:r>
              <a:rPr dirty="0"/>
              <a:t>	</a:t>
            </a:r>
            <a:r>
              <a:rPr spc="35" dirty="0"/>
              <a:t>by  </a:t>
            </a:r>
            <a:r>
              <a:rPr spc="55" dirty="0"/>
              <a:t>applying</a:t>
            </a:r>
            <a:r>
              <a:rPr spc="-85" dirty="0"/>
              <a:t> </a:t>
            </a:r>
            <a:r>
              <a:rPr spc="80" dirty="0"/>
              <a:t>operators</a:t>
            </a:r>
            <a:r>
              <a:rPr spc="-120" dirty="0"/>
              <a:t> </a:t>
            </a:r>
            <a:r>
              <a:rPr spc="120" dirty="0"/>
              <a:t>to</a:t>
            </a:r>
            <a:r>
              <a:rPr spc="-100" dirty="0"/>
              <a:t> </a:t>
            </a:r>
            <a:r>
              <a:rPr spc="114" dirty="0"/>
              <a:t>one</a:t>
            </a:r>
            <a:r>
              <a:rPr spc="-95" dirty="0"/>
              <a:t> </a:t>
            </a:r>
            <a:r>
              <a:rPr spc="95" dirty="0"/>
              <a:t>or</a:t>
            </a:r>
            <a:r>
              <a:rPr spc="-100" dirty="0"/>
              <a:t> </a:t>
            </a:r>
            <a:r>
              <a:rPr spc="85" dirty="0"/>
              <a:t>more</a:t>
            </a:r>
            <a:r>
              <a:rPr spc="-95" dirty="0"/>
              <a:t> </a:t>
            </a:r>
            <a:r>
              <a:rPr spc="75" dirty="0"/>
              <a:t>columns.</a:t>
            </a:r>
          </a:p>
          <a:p>
            <a:pPr marL="353695" marR="6350" indent="-341630">
              <a:lnSpc>
                <a:spcPct val="100000"/>
              </a:lnSpc>
              <a:buSzPct val="90909"/>
              <a:buFont typeface="Calibri"/>
              <a:buChar char="●"/>
              <a:tabLst>
                <a:tab pos="353695" algn="l"/>
                <a:tab pos="354330" algn="l"/>
                <a:tab pos="1036955" algn="l"/>
                <a:tab pos="2276475" algn="l"/>
                <a:tab pos="3883025" algn="l"/>
                <a:tab pos="5112385" algn="l"/>
                <a:tab pos="5695315" algn="l"/>
                <a:tab pos="6884670" algn="l"/>
                <a:tab pos="7327265" algn="l"/>
              </a:tabLst>
            </a:pPr>
            <a:r>
              <a:rPr spc="145" dirty="0"/>
              <a:t>The	</a:t>
            </a:r>
            <a:r>
              <a:rPr spc="75" dirty="0"/>
              <a:t>keyword	</a:t>
            </a:r>
            <a:r>
              <a:rPr spc="135" dirty="0"/>
              <a:t>DISTINCT	</a:t>
            </a:r>
            <a:r>
              <a:rPr spc="85" dirty="0"/>
              <a:t>prevents	</a:t>
            </a:r>
            <a:r>
              <a:rPr spc="125" dirty="0"/>
              <a:t>the	</a:t>
            </a:r>
            <a:r>
              <a:rPr spc="100" dirty="0"/>
              <a:t>re</a:t>
            </a:r>
            <a:r>
              <a:rPr spc="65" dirty="0"/>
              <a:t>t</a:t>
            </a:r>
            <a:r>
              <a:rPr spc="40" dirty="0"/>
              <a:t>rieval</a:t>
            </a:r>
            <a:r>
              <a:rPr dirty="0"/>
              <a:t>	</a:t>
            </a:r>
            <a:r>
              <a:rPr spc="65" dirty="0"/>
              <a:t>of</a:t>
            </a:r>
            <a:r>
              <a:rPr dirty="0"/>
              <a:t>	</a:t>
            </a:r>
            <a:r>
              <a:rPr spc="130" dirty="0"/>
              <a:t>d</a:t>
            </a:r>
            <a:r>
              <a:rPr spc="110" dirty="0"/>
              <a:t>up</a:t>
            </a:r>
            <a:r>
              <a:rPr spc="50" dirty="0"/>
              <a:t>l</a:t>
            </a:r>
            <a:r>
              <a:rPr spc="45" dirty="0"/>
              <a:t>icate  </a:t>
            </a:r>
            <a:r>
              <a:rPr spc="60" dirty="0"/>
              <a:t>records.</a:t>
            </a:r>
          </a:p>
          <a:p>
            <a:pPr marL="353695" marR="5080" indent="-341630">
              <a:lnSpc>
                <a:spcPct val="100000"/>
              </a:lnSpc>
              <a:buSzPct val="90909"/>
              <a:buFont typeface="Calibri"/>
              <a:buChar char="●"/>
              <a:tabLst>
                <a:tab pos="353695" algn="l"/>
                <a:tab pos="354330" algn="l"/>
              </a:tabLst>
            </a:pPr>
            <a:r>
              <a:rPr spc="35" dirty="0"/>
              <a:t>XML allows </a:t>
            </a:r>
            <a:r>
              <a:rPr spc="65" dirty="0"/>
              <a:t>developers </a:t>
            </a:r>
            <a:r>
              <a:rPr spc="120" dirty="0"/>
              <a:t>to </a:t>
            </a:r>
            <a:r>
              <a:rPr spc="70" dirty="0"/>
              <a:t>develop </a:t>
            </a:r>
            <a:r>
              <a:rPr spc="95" dirty="0"/>
              <a:t>their </a:t>
            </a:r>
            <a:r>
              <a:rPr spc="120" dirty="0"/>
              <a:t>own </a:t>
            </a:r>
            <a:r>
              <a:rPr spc="60" dirty="0"/>
              <a:t>set </a:t>
            </a:r>
            <a:r>
              <a:rPr spc="65" dirty="0"/>
              <a:t>of </a:t>
            </a:r>
            <a:r>
              <a:rPr spc="40" dirty="0"/>
              <a:t>tags </a:t>
            </a:r>
            <a:r>
              <a:rPr spc="120" dirty="0"/>
              <a:t>and</a:t>
            </a:r>
            <a:r>
              <a:rPr spc="-145" dirty="0"/>
              <a:t> </a:t>
            </a:r>
            <a:r>
              <a:rPr spc="55" dirty="0"/>
              <a:t>makes  </a:t>
            </a:r>
            <a:r>
              <a:rPr spc="75" dirty="0"/>
              <a:t>it</a:t>
            </a:r>
            <a:r>
              <a:rPr spc="-95" dirty="0"/>
              <a:t> </a:t>
            </a:r>
            <a:r>
              <a:rPr spc="50" dirty="0"/>
              <a:t>possible</a:t>
            </a:r>
            <a:r>
              <a:rPr spc="-100" dirty="0"/>
              <a:t> </a:t>
            </a:r>
            <a:r>
              <a:rPr spc="75" dirty="0"/>
              <a:t>for</a:t>
            </a:r>
            <a:r>
              <a:rPr spc="-95" dirty="0"/>
              <a:t> </a:t>
            </a:r>
            <a:r>
              <a:rPr spc="114" dirty="0"/>
              <a:t>other</a:t>
            </a:r>
            <a:r>
              <a:rPr spc="-110" dirty="0"/>
              <a:t> </a:t>
            </a:r>
            <a:r>
              <a:rPr spc="65" dirty="0"/>
              <a:t>programs</a:t>
            </a:r>
            <a:r>
              <a:rPr spc="-100" dirty="0"/>
              <a:t> </a:t>
            </a:r>
            <a:r>
              <a:rPr spc="120" dirty="0"/>
              <a:t>to</a:t>
            </a:r>
            <a:r>
              <a:rPr spc="-100" dirty="0"/>
              <a:t> </a:t>
            </a:r>
            <a:r>
              <a:rPr spc="114" dirty="0"/>
              <a:t>understand</a:t>
            </a:r>
            <a:r>
              <a:rPr spc="-120" dirty="0"/>
              <a:t> </a:t>
            </a:r>
            <a:r>
              <a:rPr spc="85" dirty="0"/>
              <a:t>these</a:t>
            </a:r>
            <a:r>
              <a:rPr spc="-110" dirty="0"/>
              <a:t> </a:t>
            </a:r>
            <a:r>
              <a:rPr spc="30" dirty="0"/>
              <a:t>tags.</a:t>
            </a:r>
          </a:p>
          <a:p>
            <a:pPr marL="353695" marR="5080" indent="-341630">
              <a:lnSpc>
                <a:spcPct val="100000"/>
              </a:lnSpc>
              <a:buSzPct val="90909"/>
              <a:buFont typeface="Calibri"/>
              <a:buChar char="●"/>
              <a:tabLst>
                <a:tab pos="353695" algn="l"/>
                <a:tab pos="354330" algn="l"/>
              </a:tabLst>
            </a:pPr>
            <a:r>
              <a:rPr spc="195" dirty="0"/>
              <a:t>A </a:t>
            </a:r>
            <a:r>
              <a:rPr spc="90" dirty="0"/>
              <a:t>typed </a:t>
            </a:r>
            <a:r>
              <a:rPr spc="35" dirty="0"/>
              <a:t>XML </a:t>
            </a:r>
            <a:r>
              <a:rPr spc="80" dirty="0"/>
              <a:t>instance </a:t>
            </a:r>
            <a:r>
              <a:rPr spc="5" dirty="0"/>
              <a:t>is </a:t>
            </a:r>
            <a:r>
              <a:rPr spc="114" dirty="0"/>
              <a:t>an </a:t>
            </a:r>
            <a:r>
              <a:rPr spc="35" dirty="0"/>
              <a:t>XML </a:t>
            </a:r>
            <a:r>
              <a:rPr spc="80" dirty="0"/>
              <a:t>instance </a:t>
            </a:r>
            <a:r>
              <a:rPr spc="90" dirty="0"/>
              <a:t>which </a:t>
            </a:r>
            <a:r>
              <a:rPr spc="75" dirty="0"/>
              <a:t>has </a:t>
            </a:r>
            <a:r>
              <a:rPr spc="35" dirty="0"/>
              <a:t>a </a:t>
            </a:r>
            <a:r>
              <a:rPr spc="65" dirty="0"/>
              <a:t>schema  </a:t>
            </a:r>
            <a:r>
              <a:rPr spc="55" dirty="0"/>
              <a:t>associated </a:t>
            </a:r>
            <a:r>
              <a:rPr spc="100" dirty="0"/>
              <a:t>with</a:t>
            </a:r>
            <a:r>
              <a:rPr spc="-265" dirty="0"/>
              <a:t> </a:t>
            </a:r>
            <a:r>
              <a:rPr spc="50" dirty="0"/>
              <a:t>it.</a:t>
            </a:r>
          </a:p>
          <a:p>
            <a:pPr marL="353695" indent="-341630">
              <a:lnSpc>
                <a:spcPct val="100000"/>
              </a:lnSpc>
              <a:buSzPct val="90909"/>
              <a:buFont typeface="Calibri"/>
              <a:buChar char="●"/>
              <a:tabLst>
                <a:tab pos="353695" algn="l"/>
                <a:tab pos="354330" algn="l"/>
              </a:tabLst>
            </a:pPr>
            <a:r>
              <a:rPr spc="35" dirty="0"/>
              <a:t>XML</a:t>
            </a:r>
            <a:r>
              <a:rPr spc="-100" dirty="0"/>
              <a:t> </a:t>
            </a:r>
            <a:r>
              <a:rPr spc="90" dirty="0"/>
              <a:t>data</a:t>
            </a:r>
            <a:r>
              <a:rPr spc="-100" dirty="0"/>
              <a:t> </a:t>
            </a:r>
            <a:r>
              <a:rPr spc="85" dirty="0"/>
              <a:t>can</a:t>
            </a:r>
            <a:r>
              <a:rPr spc="-90" dirty="0"/>
              <a:t> </a:t>
            </a:r>
            <a:r>
              <a:rPr spc="75" dirty="0"/>
              <a:t>be</a:t>
            </a:r>
            <a:r>
              <a:rPr spc="-95" dirty="0"/>
              <a:t> </a:t>
            </a:r>
            <a:r>
              <a:rPr spc="90" dirty="0"/>
              <a:t>queried</a:t>
            </a:r>
            <a:r>
              <a:rPr spc="-105" dirty="0"/>
              <a:t> </a:t>
            </a:r>
            <a:r>
              <a:rPr spc="125" dirty="0"/>
              <a:t>and</a:t>
            </a:r>
            <a:r>
              <a:rPr spc="-100" dirty="0"/>
              <a:t> </a:t>
            </a:r>
            <a:r>
              <a:rPr spc="75" dirty="0"/>
              <a:t>retrieved</a:t>
            </a:r>
            <a:r>
              <a:rPr spc="-110" dirty="0"/>
              <a:t> </a:t>
            </a:r>
            <a:r>
              <a:rPr spc="70" dirty="0"/>
              <a:t>using</a:t>
            </a:r>
            <a:r>
              <a:rPr spc="-100" dirty="0"/>
              <a:t> </a:t>
            </a:r>
            <a:r>
              <a:rPr spc="105" dirty="0"/>
              <a:t>XQuery</a:t>
            </a:r>
            <a:r>
              <a:rPr spc="-90" dirty="0"/>
              <a:t> </a:t>
            </a:r>
            <a:r>
              <a:rPr spc="45" dirty="0"/>
              <a:t>language.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234</TotalTime>
  <Words>3590</Words>
  <Application>Microsoft Office PowerPoint</Application>
  <PresentationFormat>On-screen Show (4:3)</PresentationFormat>
  <Paragraphs>378</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Book Antiqua</vt:lpstr>
      <vt:lpstr>Calibri</vt:lpstr>
      <vt:lpstr>Courier New</vt:lpstr>
      <vt:lpstr>Palatino Linotype</vt:lpstr>
      <vt:lpstr>Segoe UI Symbol</vt:lpstr>
      <vt:lpstr>Times New Roman</vt:lpstr>
      <vt:lpstr>Wingdings</vt:lpstr>
      <vt:lpstr>Office Theme</vt:lpstr>
      <vt:lpstr>Intelligent Data  Management with SQL  Server</vt:lpstr>
      <vt:lpstr>Objectives</vt:lpstr>
      <vt:lpstr>Introduction</vt:lpstr>
      <vt:lpstr>SELECT Statement</vt:lpstr>
      <vt:lpstr>SELECT Without FROM</vt:lpstr>
      <vt:lpstr>Displaying All Columns</vt:lpstr>
      <vt:lpstr>Displaying Selected Columns</vt:lpstr>
      <vt:lpstr>Different Expressions with SELECT</vt:lpstr>
      <vt:lpstr>Using Constants in Result Sets</vt:lpstr>
      <vt:lpstr>Renaming ResultSet Column Names 1-2</vt:lpstr>
      <vt:lpstr>Renaming ResultSet Column Names 2-2</vt:lpstr>
      <vt:lpstr>Computing Values in ResultSet</vt:lpstr>
      <vt:lpstr>Using DISTINCT</vt:lpstr>
      <vt:lpstr>Using TOP and PERCENT</vt:lpstr>
      <vt:lpstr>SELECT with INTO</vt:lpstr>
      <vt:lpstr>SELECT with WHERE 1-3</vt:lpstr>
      <vt:lpstr>SELECT with WHERE 2-3</vt:lpstr>
      <vt:lpstr>SELECT with WHERE 3-3</vt:lpstr>
      <vt:lpstr>GROUP BY Clause</vt:lpstr>
      <vt:lpstr>ORDER BY Clause</vt:lpstr>
      <vt:lpstr>Working with XML 1-2</vt:lpstr>
      <vt:lpstr>PowerPoint Presentation</vt:lpstr>
      <vt:lpstr>XML Data Type</vt:lpstr>
      <vt:lpstr>Typed and Untyped XML 1-2</vt:lpstr>
      <vt:lpstr>Typed and Untyped XML 2-2</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104</cp:revision>
  <dcterms:created xsi:type="dcterms:W3CDTF">2021-10-11T16:09:28Z</dcterms:created>
  <dcterms:modified xsi:type="dcterms:W3CDTF">2021-10-16T08:08:38Z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