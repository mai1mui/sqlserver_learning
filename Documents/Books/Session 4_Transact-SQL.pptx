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250" autoAdjust="0"/>
  </p:normalViewPr>
  <p:slideViewPr>
    <p:cSldViewPr>
      <p:cViewPr varScale="1">
        <p:scale>
          <a:sx n="60" d="100"/>
          <a:sy n="60" d="100"/>
        </p:scale>
        <p:origin x="209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A531D97-28E4-4D60-8AF6-3587C90D1E3D}" type="datetimeFigureOut">
              <a:rPr lang="en-US" smtClean="0"/>
              <a:t>10/13/2021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90088EC-74C6-4CF8-982A-0858CE5A1564}" type="slidenum">
              <a:rPr lang="en-US" smtClean="0"/>
              <a:t>‹#›</a:t>
            </a:fld>
            <a:endParaRPr lang="en-US"/>
          </a:p>
        </p:txBody>
      </p:sp>
    </p:spTree>
    <p:extLst>
      <p:ext uri="{BB962C8B-B14F-4D97-AF65-F5344CB8AC3E}">
        <p14:creationId xmlns:p14="http://schemas.microsoft.com/office/powerpoint/2010/main" val="1417184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4: Transact-SQL</a:t>
            </a:r>
          </a:p>
          <a:p>
            <a:endParaRPr lang="en-US"/>
          </a:p>
        </p:txBody>
      </p:sp>
      <p:sp>
        <p:nvSpPr>
          <p:cNvPr id="4" name="Slide Number Placeholder 3"/>
          <p:cNvSpPr>
            <a:spLocks noGrp="1"/>
          </p:cNvSpPr>
          <p:nvPr>
            <p:ph type="sldNum" sz="quarter" idx="5"/>
          </p:nvPr>
        </p:nvSpPr>
        <p:spPr/>
        <p:txBody>
          <a:bodyPr/>
          <a:lstStyle/>
          <a:p>
            <a:fld id="{690088EC-74C6-4CF8-982A-0858CE5A1564}" type="slidenum">
              <a:rPr lang="en-US" smtClean="0"/>
              <a:t>1</a:t>
            </a:fld>
            <a:endParaRPr lang="en-US"/>
          </a:p>
        </p:txBody>
      </p:sp>
    </p:spTree>
    <p:extLst>
      <p:ext uri="{BB962C8B-B14F-4D97-AF65-F5344CB8AC3E}">
        <p14:creationId xmlns:p14="http://schemas.microsoft.com/office/powerpoint/2010/main" val="299303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Giải thích </a:t>
            </a:r>
            <a:r>
              <a:rPr lang="vi-VN" b="1"/>
              <a:t>Transact-SQL</a:t>
            </a:r>
          </a:p>
          <a:p>
            <a:pPr marL="171450" indent="-171450">
              <a:buFont typeface="Arial" panose="020B0604020202020204" pitchFamily="34" charset="0"/>
              <a:buChar char="•"/>
            </a:pPr>
            <a:r>
              <a:rPr lang="vi-VN" b="0"/>
              <a:t>Liệt kê các danh mục khác nhau của các câu lệnh </a:t>
            </a:r>
            <a:r>
              <a:rPr lang="vi-VN" b="1"/>
              <a:t>Transact-SQ</a:t>
            </a:r>
            <a:r>
              <a:rPr lang="vi-VN" b="0"/>
              <a:t>L</a:t>
            </a:r>
          </a:p>
          <a:p>
            <a:pPr marL="171450" indent="-171450">
              <a:buFont typeface="Arial" panose="020B0604020202020204" pitchFamily="34" charset="0"/>
              <a:buChar char="•"/>
            </a:pPr>
            <a:r>
              <a:rPr lang="vi-VN" b="0"/>
              <a:t>Giải thích các loại dữ liệu khác nhau được hỗ trợ bởi </a:t>
            </a:r>
            <a:r>
              <a:rPr lang="vi-VN" b="1"/>
              <a:t>Transact-SQL</a:t>
            </a:r>
          </a:p>
          <a:p>
            <a:pPr marL="171450" indent="-171450">
              <a:buFont typeface="Arial" panose="020B0604020202020204" pitchFamily="34" charset="0"/>
              <a:buChar char="•"/>
            </a:pPr>
            <a:r>
              <a:rPr lang="vi-VN" b="0"/>
              <a:t>Giải thích các </a:t>
            </a:r>
            <a:r>
              <a:rPr lang="en-US" b="0"/>
              <a:t>thành phần của </a:t>
            </a:r>
            <a:r>
              <a:rPr lang="vi-VN" b="0"/>
              <a:t>ngôn ngữ </a:t>
            </a:r>
            <a:r>
              <a:rPr lang="vi-VN" b="1"/>
              <a:t>Transact-SQL</a:t>
            </a:r>
          </a:p>
          <a:p>
            <a:pPr marL="171450" indent="-171450">
              <a:buFont typeface="Arial" panose="020B0604020202020204" pitchFamily="34" charset="0"/>
              <a:buChar char="•"/>
            </a:pPr>
            <a:r>
              <a:rPr lang="vi-VN" b="0"/>
              <a:t>Giải thích bộ và logic vị ngữ</a:t>
            </a:r>
          </a:p>
          <a:p>
            <a:pPr marL="171450" indent="-171450">
              <a:buFont typeface="Arial" panose="020B0604020202020204" pitchFamily="34" charset="0"/>
              <a:buChar char="•"/>
            </a:pPr>
            <a:r>
              <a:rPr lang="vi-VN" b="0"/>
              <a:t>Mô tả thứ tự hợp lý của các </a:t>
            </a:r>
            <a:r>
              <a:rPr lang="en-US" b="0"/>
              <a:t>toán tử </a:t>
            </a:r>
            <a:r>
              <a:rPr lang="vi-VN" b="0"/>
              <a:t>trong câu lệnh </a:t>
            </a:r>
            <a:r>
              <a:rPr lang="en-US" b="1"/>
              <a:t>SELECT</a:t>
            </a:r>
          </a:p>
        </p:txBody>
      </p:sp>
      <p:sp>
        <p:nvSpPr>
          <p:cNvPr id="4" name="Slide Number Placeholder 3"/>
          <p:cNvSpPr>
            <a:spLocks noGrp="1"/>
          </p:cNvSpPr>
          <p:nvPr>
            <p:ph type="sldNum" sz="quarter" idx="5"/>
          </p:nvPr>
        </p:nvSpPr>
        <p:spPr/>
        <p:txBody>
          <a:bodyPr/>
          <a:lstStyle/>
          <a:p>
            <a:fld id="{690088EC-74C6-4CF8-982A-0858CE5A1564}" type="slidenum">
              <a:rPr lang="en-US" smtClean="0"/>
              <a:t>2</a:t>
            </a:fld>
            <a:endParaRPr lang="en-US"/>
          </a:p>
        </p:txBody>
      </p:sp>
    </p:spTree>
    <p:extLst>
      <p:ext uri="{BB962C8B-B14F-4D97-AF65-F5344CB8AC3E}">
        <p14:creationId xmlns:p14="http://schemas.microsoft.com/office/powerpoint/2010/main" val="2210550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vi-VN" b="1"/>
              <a:t>SQL</a:t>
            </a:r>
            <a:r>
              <a:rPr lang="vi-VN"/>
              <a:t> là ngôn ngữ </a:t>
            </a:r>
            <a:r>
              <a:rPr lang="en-US"/>
              <a:t>thông dụng </a:t>
            </a:r>
            <a:r>
              <a:rPr lang="vi-VN"/>
              <a:t>được sử dụng trong thế giới cơ sở dữ liệu.</a:t>
            </a:r>
          </a:p>
          <a:p>
            <a:pPr marL="171450" indent="-171450">
              <a:buFont typeface="Arial" panose="020B0604020202020204" pitchFamily="34" charset="0"/>
              <a:buChar char="•"/>
            </a:pPr>
            <a:r>
              <a:rPr lang="vi-VN"/>
              <a:t>Hầu hết các sản phẩm </a:t>
            </a:r>
            <a:r>
              <a:rPr lang="vi-VN" b="1"/>
              <a:t>RDBMS</a:t>
            </a:r>
            <a:r>
              <a:rPr lang="vi-VN"/>
              <a:t> hiện đại sử dụng một số loại phương ngữ </a:t>
            </a:r>
            <a:r>
              <a:rPr lang="vi-VN" b="1"/>
              <a:t>SQL</a:t>
            </a:r>
            <a:r>
              <a:rPr lang="vi-VN"/>
              <a:t> là ngôn ngữ truy vấn chính của chúng.</a:t>
            </a:r>
          </a:p>
          <a:p>
            <a:pPr marL="171450" indent="-171450">
              <a:buFont typeface="Arial" panose="020B0604020202020204" pitchFamily="34" charset="0"/>
              <a:buChar char="•"/>
            </a:pPr>
            <a:r>
              <a:rPr lang="vi-VN" b="1"/>
              <a:t>SQL</a:t>
            </a:r>
            <a:r>
              <a:rPr lang="vi-VN"/>
              <a:t> có thể được sử dụng để tạo hoặc hủy các đối tượng, chẳng hạn như các bảng, cơ sở dữ liệu trên máy chủ và thực hiện mọi thứ với các đối tượng đó, chẳng hạn như </a:t>
            </a:r>
            <a:r>
              <a:rPr lang="en-US"/>
              <a:t>thêm</a:t>
            </a:r>
            <a:r>
              <a:rPr lang="vi-VN"/>
              <a:t> dữ liệu vào </a:t>
            </a:r>
            <a:r>
              <a:rPr lang="en-US"/>
              <a:t>bảng</a:t>
            </a:r>
            <a:r>
              <a:rPr lang="vi-VN"/>
              <a:t> hoặc truy vấn dữ liệu.</a:t>
            </a:r>
          </a:p>
          <a:p>
            <a:pPr marL="171450" indent="-171450">
              <a:buFont typeface="Arial" panose="020B0604020202020204" pitchFamily="34" charset="0"/>
              <a:buChar char="•"/>
            </a:pPr>
            <a:r>
              <a:rPr lang="vi-VN" b="1"/>
              <a:t>Transact-SQL</a:t>
            </a:r>
            <a:r>
              <a:rPr lang="vi-VN"/>
              <a:t> là triển khai SQL </a:t>
            </a:r>
            <a:r>
              <a:rPr lang="en-US"/>
              <a:t>theo </a:t>
            </a:r>
            <a:r>
              <a:rPr lang="vi-VN"/>
              <a:t>tiêu chuẩn của </a:t>
            </a:r>
            <a:r>
              <a:rPr lang="vi-VN" b="1"/>
              <a:t>Microsoft</a:t>
            </a:r>
            <a:r>
              <a:rPr lang="vi-VN"/>
              <a:t>.</a:t>
            </a:r>
          </a:p>
          <a:p>
            <a:pPr marL="171450" indent="-171450">
              <a:buFont typeface="Arial" panose="020B0604020202020204" pitchFamily="34" charset="0"/>
              <a:buChar char="•"/>
            </a:pPr>
            <a:r>
              <a:rPr lang="vi-VN"/>
              <a:t>Thường được gọi là </a:t>
            </a:r>
            <a:r>
              <a:rPr lang="vi-VN" b="1"/>
              <a:t>T-SQL</a:t>
            </a:r>
            <a:r>
              <a:rPr lang="vi-VN"/>
              <a:t>, ngôn ngữ này thực hiện một cách chuẩn hóa để liên lạc với cơ sở dữ liệu.</a:t>
            </a:r>
          </a:p>
          <a:p>
            <a:pPr marL="171450" indent="-171450">
              <a:buFont typeface="Arial" panose="020B0604020202020204" pitchFamily="34" charset="0"/>
              <a:buChar char="•"/>
            </a:pPr>
            <a:r>
              <a:rPr lang="vi-VN"/>
              <a:t>Nó cung cấp một ngôn ngữ toàn diện hỗ trợ định </a:t>
            </a:r>
            <a:r>
              <a:rPr lang="en-US"/>
              <a:t>nghĩa </a:t>
            </a:r>
            <a:r>
              <a:rPr lang="vi-VN"/>
              <a:t>các bảng, </a:t>
            </a:r>
            <a:r>
              <a:rPr lang="en-US"/>
              <a:t>thêm</a:t>
            </a:r>
            <a:r>
              <a:rPr lang="vi-VN"/>
              <a:t>, xóa, cập nhật và truy cập dữ liệu trong bảng</a:t>
            </a:r>
            <a:endParaRPr lang="en-US"/>
          </a:p>
        </p:txBody>
      </p:sp>
      <p:sp>
        <p:nvSpPr>
          <p:cNvPr id="4" name="Slide Number Placeholder 3"/>
          <p:cNvSpPr>
            <a:spLocks noGrp="1"/>
          </p:cNvSpPr>
          <p:nvPr>
            <p:ph type="sldNum" sz="quarter" idx="5"/>
          </p:nvPr>
        </p:nvSpPr>
        <p:spPr/>
        <p:txBody>
          <a:bodyPr/>
          <a:lstStyle/>
          <a:p>
            <a:fld id="{690088EC-74C6-4CF8-982A-0858CE5A1564}" type="slidenum">
              <a:rPr lang="en-US" smtClean="0"/>
              <a:t>3</a:t>
            </a:fld>
            <a:endParaRPr lang="en-US"/>
          </a:p>
        </p:txBody>
      </p:sp>
    </p:spTree>
    <p:extLst>
      <p:ext uri="{BB962C8B-B14F-4D97-AF65-F5344CB8AC3E}">
        <p14:creationId xmlns:p14="http://schemas.microsoft.com/office/powerpoint/2010/main" val="185676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Transact-SQL</a:t>
            </a:r>
            <a:r>
              <a:rPr lang="en-US" b="1"/>
              <a:t> 1-2</a:t>
            </a:r>
          </a:p>
          <a:p>
            <a:pPr marL="0" marR="0" lvl="0" indent="0" algn="l" defTabSz="914400" rtl="0" eaLnBrk="1" fontAlgn="auto" latinLnBrk="0" hangingPunct="1">
              <a:lnSpc>
                <a:spcPct val="100000"/>
              </a:lnSpc>
              <a:spcBef>
                <a:spcPts val="0"/>
              </a:spcBef>
              <a:spcAft>
                <a:spcPts val="0"/>
              </a:spcAft>
              <a:buClrTx/>
              <a:buSzTx/>
              <a:buFontTx/>
              <a:buNone/>
              <a:tabLst/>
              <a:defRPr/>
            </a:pPr>
            <a:r>
              <a:rPr lang="vi-VN" b="0"/>
              <a:t>Transact-SQL là một ngôn ngữ mạnh mẽ cung cấp các tính năng như:</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Kiểu</a:t>
            </a:r>
            <a:r>
              <a:rPr lang="vi-VN" b="0"/>
              <a:t> dữ liệu</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Đối tượng tạm thời</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T</a:t>
            </a:r>
            <a:r>
              <a:rPr lang="vi-VN" b="0"/>
              <a:t>hủ tục lưu trữ mở rộng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Con trỏ có thể cuộn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Xử lý có điều kiện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Kiểm soát giao dịch</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Ngoại lệ và xử lý lỗi</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Ngôn ngữ Transact-SQL cũng cung cấp: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Cải thiện hiệu suất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Tăng chức năng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Tính năng nâng cao.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vi-VN" b="0"/>
              <a:t>Cải tiến bao gồm </a:t>
            </a:r>
            <a:r>
              <a:rPr lang="en-US" b="0"/>
              <a:t>hàm </a:t>
            </a:r>
            <a:r>
              <a:rPr lang="en-US" sz="1200" spc="-80">
                <a:solidFill>
                  <a:srgbClr val="FFFFFF"/>
                </a:solidFill>
                <a:latin typeface="Arial"/>
                <a:cs typeface="Arial"/>
              </a:rPr>
              <a:t>scalar</a:t>
            </a:r>
            <a:r>
              <a:rPr lang="vi-VN" b="0"/>
              <a:t>,</a:t>
            </a:r>
            <a:r>
              <a:rPr lang="en-US" b="0"/>
              <a:t> phân trang, </a:t>
            </a:r>
            <a:r>
              <a:rPr lang="vi-VN" b="0"/>
              <a:t>trình tự</a:t>
            </a:r>
            <a:r>
              <a:rPr lang="en-US" b="0"/>
              <a:t>, </a:t>
            </a:r>
            <a:r>
              <a:rPr lang="vi-VN" b="0"/>
              <a:t>khám phá dữ liệu meta,</a:t>
            </a:r>
            <a:r>
              <a:rPr lang="en-US" b="0"/>
              <a:t> </a:t>
            </a:r>
            <a:r>
              <a:rPr lang="vi-VN" b="0"/>
              <a:t>và hỗ trợ xử lý lỗi tốt hơn</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4</a:t>
            </a:fld>
            <a:endParaRPr lang="en-US"/>
          </a:p>
        </p:txBody>
      </p:sp>
    </p:spTree>
    <p:extLst>
      <p:ext uri="{BB962C8B-B14F-4D97-AF65-F5344CB8AC3E}">
        <p14:creationId xmlns:p14="http://schemas.microsoft.com/office/powerpoint/2010/main" val="257675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Transact-SQL</a:t>
            </a:r>
            <a:r>
              <a:rPr lang="en-US" b="1"/>
              <a:t> 2-2</a:t>
            </a:r>
          </a:p>
          <a:p>
            <a:pPr marL="171450" indent="-171450">
              <a:buFont typeface="Arial" panose="020B0604020202020204" pitchFamily="34" charset="0"/>
              <a:buChar char="•"/>
            </a:pPr>
            <a:r>
              <a:rPr lang="vi-VN"/>
              <a:t>Transact-SQL bao gồm nhiều phần tử cú pháp được sử dụng điều đó</a:t>
            </a:r>
            <a:r>
              <a:rPr lang="en-US"/>
              <a:t> </a:t>
            </a:r>
            <a:r>
              <a:rPr lang="vi-VN"/>
              <a:t>ảnh hưởng đến hầu hết các tuyên bố.</a:t>
            </a:r>
          </a:p>
          <a:p>
            <a:pPr marL="171450" indent="-171450">
              <a:buFont typeface="Arial" panose="020B0604020202020204" pitchFamily="34" charset="0"/>
              <a:buChar char="•"/>
            </a:pPr>
            <a:r>
              <a:rPr lang="vi-VN"/>
              <a:t>Các phần tử này bao gồm các </a:t>
            </a:r>
            <a:r>
              <a:rPr lang="en-US"/>
              <a:t>kiểu</a:t>
            </a:r>
            <a:r>
              <a:rPr lang="vi-VN"/>
              <a:t> dữ liệu, các vị từ, </a:t>
            </a:r>
            <a:r>
              <a:rPr lang="en-US"/>
              <a:t>hàm</a:t>
            </a:r>
            <a:r>
              <a:rPr lang="vi-VN"/>
              <a:t>, biến, biểu thức, kiểm soát dòng chảy, </a:t>
            </a:r>
            <a:r>
              <a:rPr lang="en-US"/>
              <a:t>biểu thức </a:t>
            </a:r>
            <a:r>
              <a:rPr lang="vi-VN"/>
              <a:t>và </a:t>
            </a:r>
            <a:r>
              <a:rPr lang="en-US"/>
              <a:t>phân </a:t>
            </a:r>
            <a:r>
              <a:rPr lang="vi-VN"/>
              <a:t>tách </a:t>
            </a:r>
            <a:r>
              <a:rPr lang="en-US"/>
              <a:t>batch</a:t>
            </a:r>
            <a:r>
              <a:rPr lang="vi-VN"/>
              <a:t>.</a:t>
            </a:r>
            <a:endParaRPr lang="en-US"/>
          </a:p>
        </p:txBody>
      </p:sp>
      <p:sp>
        <p:nvSpPr>
          <p:cNvPr id="4" name="Slide Number Placeholder 3"/>
          <p:cNvSpPr>
            <a:spLocks noGrp="1"/>
          </p:cNvSpPr>
          <p:nvPr>
            <p:ph type="sldNum" sz="quarter" idx="5"/>
          </p:nvPr>
        </p:nvSpPr>
        <p:spPr/>
        <p:txBody>
          <a:bodyPr/>
          <a:lstStyle/>
          <a:p>
            <a:fld id="{690088EC-74C6-4CF8-982A-0858CE5A1564}" type="slidenum">
              <a:rPr lang="en-US" smtClean="0"/>
              <a:t>5</a:t>
            </a:fld>
            <a:endParaRPr lang="en-US"/>
          </a:p>
        </p:txBody>
      </p:sp>
    </p:spTree>
    <p:extLst>
      <p:ext uri="{BB962C8B-B14F-4D97-AF65-F5344CB8AC3E}">
        <p14:creationId xmlns:p14="http://schemas.microsoft.com/office/powerpoint/2010/main" val="1716388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loại khác nhau của câu lệnh Transact-SQL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SQL Server hỗ trợ 3 loại câu lệnh Transact-SQL, cụ thể là</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DDL (Ngôn ngữ định nghĩa dữ liệu)</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DML (Ngôn ngữ thao tác dữ liệu)</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DCL (Ngôn ngữ điều khiển dữ liệu)</a:t>
            </a:r>
          </a:p>
        </p:txBody>
      </p:sp>
      <p:sp>
        <p:nvSpPr>
          <p:cNvPr id="4" name="Slide Number Placeholder 3"/>
          <p:cNvSpPr>
            <a:spLocks noGrp="1"/>
          </p:cNvSpPr>
          <p:nvPr>
            <p:ph type="sldNum" sz="quarter" idx="5"/>
          </p:nvPr>
        </p:nvSpPr>
        <p:spPr/>
        <p:txBody>
          <a:bodyPr/>
          <a:lstStyle/>
          <a:p>
            <a:fld id="{690088EC-74C6-4CF8-982A-0858CE5A1564}" type="slidenum">
              <a:rPr lang="en-US" smtClean="0"/>
              <a:t>6</a:t>
            </a:fld>
            <a:endParaRPr lang="en-US"/>
          </a:p>
        </p:txBody>
      </p:sp>
    </p:spTree>
    <p:extLst>
      <p:ext uri="{BB962C8B-B14F-4D97-AF65-F5344CB8AC3E}">
        <p14:creationId xmlns:p14="http://schemas.microsoft.com/office/powerpoint/2010/main" val="2056394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Ngôn ngữ định nghĩa dữ liệu (DDL)</a:t>
            </a:r>
          </a:p>
          <a:p>
            <a:pPr marL="171450" indent="-171450">
              <a:buFont typeface="Arial" panose="020B0604020202020204" pitchFamily="34" charset="0"/>
              <a:buChar char="•"/>
            </a:pPr>
            <a:r>
              <a:rPr lang="en-US" b="0"/>
              <a:t>DDL đ</a:t>
            </a:r>
            <a:r>
              <a:rPr lang="vi-VN" b="0"/>
              <a:t>ược sử dụng để định </a:t>
            </a:r>
            <a:r>
              <a:rPr lang="en-US" b="0"/>
              <a:t>nghĩa </a:t>
            </a:r>
            <a:r>
              <a:rPr lang="vi-VN" b="0"/>
              <a:t>và quản lý tất cả các thuộc tính và tính </a:t>
            </a:r>
            <a:r>
              <a:rPr lang="en-US" b="0"/>
              <a:t>chất </a:t>
            </a:r>
            <a:r>
              <a:rPr lang="vi-VN" b="0"/>
              <a:t>của </a:t>
            </a:r>
            <a:r>
              <a:rPr lang="en-US" b="0"/>
              <a:t>c</a:t>
            </a:r>
            <a:r>
              <a:rPr lang="vi-VN" b="0"/>
              <a:t>ơ</a:t>
            </a:r>
            <a:r>
              <a:rPr lang="en-US" b="0"/>
              <a:t> sở dữ liệu</a:t>
            </a:r>
            <a:r>
              <a:rPr lang="vi-VN" b="0"/>
              <a:t> bao gồm</a:t>
            </a:r>
            <a:r>
              <a:rPr lang="en-US" b="0"/>
              <a:t>:</a:t>
            </a:r>
            <a:r>
              <a:rPr lang="vi-VN" b="0"/>
              <a:t> bố cục hàng, định nghĩa cột, cột khóa, vị trí t</a:t>
            </a:r>
            <a:r>
              <a:rPr lang="en-US" b="0"/>
              <a:t>ậ</a:t>
            </a:r>
            <a:r>
              <a:rPr lang="vi-VN" b="0"/>
              <a:t>p </a:t>
            </a:r>
            <a:r>
              <a:rPr lang="en-US" b="0"/>
              <a:t>tin </a:t>
            </a:r>
            <a:r>
              <a:rPr lang="vi-VN" b="0"/>
              <a:t>và chiến lược lưu trữ.</a:t>
            </a:r>
            <a:endParaRPr lang="en-US" b="0"/>
          </a:p>
          <a:p>
            <a:pPr marL="171450" indent="-171450">
              <a:buFont typeface="Arial" panose="020B0604020202020204" pitchFamily="34" charset="0"/>
              <a:buChar char="•"/>
            </a:pPr>
            <a:r>
              <a:rPr lang="vi-VN" b="0"/>
              <a:t>Được sử dụng để xây dựng và sửa đổi cấu trúc của các bảng và các đối tượng khác như</a:t>
            </a:r>
            <a:r>
              <a:rPr lang="en-US" b="0"/>
              <a:t>:</a:t>
            </a:r>
            <a:r>
              <a:rPr lang="vi-VN" b="0"/>
              <a:t> </a:t>
            </a:r>
            <a:r>
              <a:rPr lang="en-US" b="0"/>
              <a:t>khung nhìn</a:t>
            </a:r>
            <a:r>
              <a:rPr lang="vi-VN" b="0"/>
              <a:t>, kích hoạt, thủ tục lưu trữ, v.v.</a:t>
            </a:r>
            <a:endParaRPr lang="en-US" b="0"/>
          </a:p>
          <a:p>
            <a:pPr marL="171450" indent="-171450">
              <a:buFont typeface="Arial" panose="020B0604020202020204" pitchFamily="34" charset="0"/>
              <a:buChar char="•"/>
            </a:pPr>
            <a:r>
              <a:rPr lang="en-US" b="0"/>
              <a:t>Hầu hết các câu lệnh DDL đều có mẫu sau:</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latin typeface="Courier New" pitchFamily="49" charset="0"/>
                <a:cs typeface="Courier New" pitchFamily="49" charset="0"/>
              </a:rPr>
              <a:t>CREATE object_name</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latin typeface="Courier New" pitchFamily="49" charset="0"/>
                <a:cs typeface="Courier New" pitchFamily="49" charset="0"/>
              </a:rPr>
              <a:t>ALTER object_name</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latin typeface="Courier New" pitchFamily="49" charset="0"/>
                <a:cs typeface="Courier New" pitchFamily="49" charset="0"/>
              </a:rPr>
              <a:t>DROP object_name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1">
                <a:latin typeface="Courier New" pitchFamily="49" charset="0"/>
                <a:cs typeface="Courier New" pitchFamily="49" charset="0"/>
              </a:rPr>
              <a:t>Object_name </a:t>
            </a:r>
            <a:r>
              <a:rPr lang="vi-VN" b="0">
                <a:latin typeface="Courier New" pitchFamily="49" charset="0"/>
                <a:cs typeface="Courier New" pitchFamily="49" charset="0"/>
              </a:rPr>
              <a:t>có thể là một </a:t>
            </a:r>
            <a:r>
              <a:rPr lang="vi-VN" b="1">
                <a:latin typeface="Courier New" pitchFamily="49" charset="0"/>
                <a:cs typeface="Courier New" pitchFamily="49" charset="0"/>
              </a:rPr>
              <a:t>bảng, </a:t>
            </a:r>
            <a:r>
              <a:rPr lang="en-US" b="1">
                <a:latin typeface="Courier New" pitchFamily="49" charset="0"/>
                <a:cs typeface="Courier New" pitchFamily="49" charset="0"/>
              </a:rPr>
              <a:t>khung nhìn</a:t>
            </a:r>
            <a:r>
              <a:rPr lang="vi-VN" b="1">
                <a:latin typeface="Courier New" pitchFamily="49" charset="0"/>
                <a:cs typeface="Courier New" pitchFamily="49" charset="0"/>
              </a:rPr>
              <a:t>, kích hoạt, thủ tục lưu trữ, v.v.</a:t>
            </a:r>
            <a:endParaRPr lang="en-US" b="1">
              <a:latin typeface="Courier New" pitchFamily="49" charset="0"/>
              <a:cs typeface="Courier New" pitchFamily="49" charset="0"/>
            </a:endParaRPr>
          </a:p>
        </p:txBody>
      </p:sp>
      <p:sp>
        <p:nvSpPr>
          <p:cNvPr id="4" name="Slide Number Placeholder 3"/>
          <p:cNvSpPr>
            <a:spLocks noGrp="1"/>
          </p:cNvSpPr>
          <p:nvPr>
            <p:ph type="sldNum" sz="quarter" idx="5"/>
          </p:nvPr>
        </p:nvSpPr>
        <p:spPr/>
        <p:txBody>
          <a:bodyPr/>
          <a:lstStyle/>
          <a:p>
            <a:fld id="{690088EC-74C6-4CF8-982A-0858CE5A1564}" type="slidenum">
              <a:rPr lang="en-US" smtClean="0"/>
              <a:t>7</a:t>
            </a:fld>
            <a:endParaRPr lang="en-US"/>
          </a:p>
        </p:txBody>
      </p:sp>
    </p:spTree>
    <p:extLst>
      <p:ext uri="{BB962C8B-B14F-4D97-AF65-F5344CB8AC3E}">
        <p14:creationId xmlns:p14="http://schemas.microsoft.com/office/powerpoint/2010/main" val="2273819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Ngôn ngữ thao tác dữ liệu (DML)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t>Đ</a:t>
            </a:r>
            <a:r>
              <a:rPr lang="vi-VN"/>
              <a:t>ược sử dụng để chọn, </a:t>
            </a:r>
            <a:r>
              <a:rPr lang="en-US"/>
              <a:t>thêm</a:t>
            </a:r>
            <a:r>
              <a:rPr lang="vi-VN"/>
              <a:t>, cập nhật hoặc xóa dữ liệu trong các đối tượng được định </a:t>
            </a:r>
            <a:r>
              <a:rPr lang="en-US"/>
              <a:t>nghĩa </a:t>
            </a:r>
            <a:r>
              <a:rPr lang="vi-VN"/>
              <a:t>bằng DDL.</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Tất cả người dùng cơ sở dữ liệu có thể sử dụng các lệnh này trong các hoạt động thường xuyên trên cơ sở dữ liệu</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Các câu lệnh DML khác nhau như sau:</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SELECT</a:t>
            </a:r>
            <a:endParaRPr lang="en-US" b="1">
              <a:latin typeface="Calibri" pitchFamily="34" charset="0"/>
              <a:cs typeface="Calibri"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INSERT</a:t>
            </a:r>
            <a:endParaRPr lang="en-US" b="1">
              <a:latin typeface="Calibri" pitchFamily="34" charset="0"/>
              <a:cs typeface="Calibri"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UPDATE</a:t>
            </a:r>
            <a:endParaRPr lang="en-US" b="1">
              <a:latin typeface="Calibri" pitchFamily="34" charset="0"/>
              <a:cs typeface="Calibri"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DELETE</a:t>
            </a:r>
            <a:endParaRPr lang="en-US" b="1">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690088EC-74C6-4CF8-982A-0858CE5A1564}" type="slidenum">
              <a:rPr lang="en-US" smtClean="0"/>
              <a:t>8</a:t>
            </a:fld>
            <a:endParaRPr lang="en-US"/>
          </a:p>
        </p:txBody>
      </p:sp>
    </p:spTree>
    <p:extLst>
      <p:ext uri="{BB962C8B-B14F-4D97-AF65-F5344CB8AC3E}">
        <p14:creationId xmlns:p14="http://schemas.microsoft.com/office/powerpoint/2010/main" val="3016233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Ngôn ngữ điều khiển dữ liệu (DCL)</a:t>
            </a:r>
          </a:p>
          <a:p>
            <a:pPr marL="171450" indent="-171450">
              <a:buFont typeface="Arial" panose="020B0604020202020204" pitchFamily="34" charset="0"/>
              <a:buChar char="•"/>
            </a:pPr>
            <a:r>
              <a:rPr lang="vi-VN" b="0"/>
              <a:t>Ngôn ngữ điều khiển dữ liệu được sử dụng để kiểm soát quyền các đối tượng trên cơ sở dữ liệu.</a:t>
            </a:r>
            <a:endParaRPr lang="en-US" b="0"/>
          </a:p>
          <a:p>
            <a:pPr marL="171450" indent="-171450">
              <a:buFont typeface="Arial" panose="020B0604020202020204" pitchFamily="34" charset="0"/>
              <a:buChar char="•"/>
            </a:pPr>
            <a:r>
              <a:rPr lang="vi-VN" b="0"/>
              <a:t>Các câu lệnh DCL cũng được sử dụng để bảo mật cơ sở dữ liệu</a:t>
            </a:r>
            <a:endParaRPr lang="en-US" b="0"/>
          </a:p>
          <a:p>
            <a:pPr marL="171450" indent="-171450">
              <a:buFont typeface="Arial" panose="020B0604020202020204" pitchFamily="34" charset="0"/>
              <a:buChar char="•"/>
            </a:pPr>
            <a:r>
              <a:rPr lang="en-US" b="0"/>
              <a:t>3</a:t>
            </a:r>
            <a:r>
              <a:rPr lang="vi-VN" b="0"/>
              <a:t> câu lệnh DCL cơ bản như sau:</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GRANT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REVOKE</a:t>
            </a:r>
            <a:endParaRPr lang="en-US" b="1">
              <a:latin typeface="Calibri" pitchFamily="34" charset="0"/>
              <a:cs typeface="Calibri"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latin typeface="Courier New" pitchFamily="49" charset="0"/>
                <a:cs typeface="Courier New" pitchFamily="49" charset="0"/>
              </a:rPr>
              <a:t>Câu lệnh </a:t>
            </a:r>
            <a:r>
              <a:rPr lang="en-US" b="1">
                <a:latin typeface="Courier New" pitchFamily="49" charset="0"/>
                <a:cs typeface="Courier New" pitchFamily="49" charset="0"/>
              </a:rPr>
              <a:t>DENY</a:t>
            </a:r>
            <a:endParaRPr lang="en-US" b="1">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690088EC-74C6-4CF8-982A-0858CE5A1564}" type="slidenum">
              <a:rPr lang="en-US" smtClean="0"/>
              <a:t>9</a:t>
            </a:fld>
            <a:endParaRPr lang="en-US"/>
          </a:p>
        </p:txBody>
      </p:sp>
    </p:spTree>
    <p:extLst>
      <p:ext uri="{BB962C8B-B14F-4D97-AF65-F5344CB8AC3E}">
        <p14:creationId xmlns:p14="http://schemas.microsoft.com/office/powerpoint/2010/main" val="4100211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kiểu dữ liệu 1-3</a:t>
            </a:r>
          </a:p>
          <a:p>
            <a:pPr marL="171450" indent="-171450">
              <a:buFont typeface="Arial" panose="020B0604020202020204" pitchFamily="34" charset="0"/>
              <a:buChar char="•"/>
            </a:pPr>
            <a:r>
              <a:rPr lang="vi-VN" b="0"/>
              <a:t>Một kiểu dữ liệu là một thuộc tính xác định loại dữ liệu mà một đối tượng có thể chứa.</a:t>
            </a:r>
          </a:p>
          <a:p>
            <a:pPr marL="171450" indent="-171450">
              <a:buFont typeface="Arial" panose="020B0604020202020204" pitchFamily="34" charset="0"/>
              <a:buChar char="•"/>
            </a:pPr>
            <a:r>
              <a:rPr lang="vi-VN" b="0"/>
              <a:t>Các loại dữ liệu phải được cung cấp cho các cột, tham số, biến và các hàm trả về các giá trị dữ liệu và các thủ tục được lưu trữ có mã trả về.</a:t>
            </a:r>
          </a:p>
          <a:p>
            <a:pPr marL="0" indent="0">
              <a:buFont typeface="Arial" panose="020B0604020202020204" pitchFamily="34" charset="0"/>
              <a:buNone/>
            </a:pPr>
            <a:r>
              <a:rPr lang="vi-VN" b="0"/>
              <a:t>Các đối tượng sau đây có các loại dữ liệu:</a:t>
            </a:r>
            <a:endParaRPr lang="en-US" b="0"/>
          </a:p>
          <a:p>
            <a:pPr marL="628650" lvl="1" indent="-171450">
              <a:buFont typeface="Arial" panose="020B0604020202020204" pitchFamily="34" charset="0"/>
              <a:buChar char="•"/>
            </a:pPr>
            <a:r>
              <a:rPr lang="en-US" b="0"/>
              <a:t>Các c</a:t>
            </a:r>
            <a:r>
              <a:rPr lang="vi-VN" b="0"/>
              <a:t>ột có trong </a:t>
            </a:r>
            <a:r>
              <a:rPr lang="vi-VN" b="1"/>
              <a:t>bảng</a:t>
            </a:r>
            <a:r>
              <a:rPr lang="vi-VN" b="0"/>
              <a:t> và </a:t>
            </a:r>
            <a:r>
              <a:rPr lang="en-US" b="1"/>
              <a:t>khung nhìn</a:t>
            </a:r>
          </a:p>
          <a:p>
            <a:pPr marL="628650" lvl="1" indent="-171450">
              <a:buFont typeface="Arial" panose="020B0604020202020204" pitchFamily="34" charset="0"/>
              <a:buChar char="•"/>
            </a:pPr>
            <a:r>
              <a:rPr lang="en-US" b="0"/>
              <a:t>Các tham</a:t>
            </a:r>
            <a:r>
              <a:rPr lang="vi-VN" b="0"/>
              <a:t> số trong các thủ tục lưu trữ</a:t>
            </a:r>
            <a:endParaRPr lang="en-US" b="0"/>
          </a:p>
          <a:p>
            <a:pPr marL="628650" lvl="1" indent="-171450">
              <a:buFont typeface="Arial" panose="020B0604020202020204" pitchFamily="34" charset="0"/>
              <a:buChar char="•"/>
            </a:pPr>
            <a:r>
              <a:rPr lang="en-US" b="0"/>
              <a:t>Các biến</a:t>
            </a:r>
          </a:p>
          <a:p>
            <a:pPr marL="628650" lvl="1" indent="-171450">
              <a:buFont typeface="Arial" panose="020B0604020202020204" pitchFamily="34" charset="0"/>
              <a:buChar char="•"/>
            </a:pPr>
            <a:r>
              <a:rPr lang="en-US" b="0"/>
              <a:t>Các hàm </a:t>
            </a:r>
            <a:r>
              <a:rPr lang="en-US" b="1"/>
              <a:t>Transact-SQL</a:t>
            </a:r>
            <a:r>
              <a:rPr lang="en-US" b="0"/>
              <a:t> trả về một hoặc nhiều giá trị dữ liệu của một loại dữ liệu cụ thể</a:t>
            </a:r>
          </a:p>
          <a:p>
            <a:pPr marL="628650" lvl="1" indent="-171450">
              <a:buFont typeface="Arial" panose="020B0604020202020204" pitchFamily="34" charset="0"/>
              <a:buChar char="•"/>
            </a:pPr>
            <a:r>
              <a:rPr lang="vi-VN" b="0"/>
              <a:t>Các thủ tục lưu trữ có mã trả về thuộc loại dữ liệu số nguyên</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10</a:t>
            </a:fld>
            <a:endParaRPr lang="en-US"/>
          </a:p>
        </p:txBody>
      </p:sp>
    </p:spTree>
    <p:extLst>
      <p:ext uri="{BB962C8B-B14F-4D97-AF65-F5344CB8AC3E}">
        <p14:creationId xmlns:p14="http://schemas.microsoft.com/office/powerpoint/2010/main" val="1760747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kiểu dữ liệu 2-3</a:t>
            </a:r>
          </a:p>
          <a:p>
            <a:pPr marL="171450" indent="-171450">
              <a:buFont typeface="Arial" panose="020B0604020202020204" pitchFamily="34" charset="0"/>
              <a:buChar char="•"/>
            </a:pPr>
            <a:r>
              <a:rPr lang="vi-VN"/>
              <a:t>Các </a:t>
            </a:r>
            <a:r>
              <a:rPr lang="en-US"/>
              <a:t>kiểu </a:t>
            </a:r>
            <a:r>
              <a:rPr lang="vi-VN"/>
              <a:t>dữ liệu được hệ thống</a:t>
            </a:r>
            <a:r>
              <a:rPr lang="en-US"/>
              <a:t> </a:t>
            </a:r>
            <a:r>
              <a:rPr lang="vi-VN"/>
              <a:t>định </a:t>
            </a:r>
            <a:r>
              <a:rPr lang="en-US"/>
              <a:t>nghĩa</a:t>
            </a:r>
          </a:p>
        </p:txBody>
      </p:sp>
      <p:sp>
        <p:nvSpPr>
          <p:cNvPr id="4" name="Slide Number Placeholder 3"/>
          <p:cNvSpPr>
            <a:spLocks noGrp="1"/>
          </p:cNvSpPr>
          <p:nvPr>
            <p:ph type="sldNum" sz="quarter" idx="5"/>
          </p:nvPr>
        </p:nvSpPr>
        <p:spPr/>
        <p:txBody>
          <a:bodyPr/>
          <a:lstStyle/>
          <a:p>
            <a:fld id="{690088EC-74C6-4CF8-982A-0858CE5A1564}" type="slidenum">
              <a:rPr lang="en-US" smtClean="0"/>
              <a:t>11</a:t>
            </a:fld>
            <a:endParaRPr lang="en-US"/>
          </a:p>
        </p:txBody>
      </p:sp>
    </p:spTree>
    <p:extLst>
      <p:ext uri="{BB962C8B-B14F-4D97-AF65-F5344CB8AC3E}">
        <p14:creationId xmlns:p14="http://schemas.microsoft.com/office/powerpoint/2010/main" val="2156491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kiểu dữ liệu 3-3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Các kiểu dữ liệu bí danh</a:t>
            </a:r>
            <a:r>
              <a:rPr lang="en-US" b="0"/>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Được dựa trên các loại dữ liệu do hệ thống cung cấp.</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Được sử dụng và tạo khi nhiều bảng lưu trữ cùng một loại dữ liệu trong một cột và có các đặc điểm tương tự như độ dài, </a:t>
            </a:r>
            <a:r>
              <a:rPr lang="en-US" b="0"/>
              <a:t>khả năng rỗng</a:t>
            </a:r>
            <a:r>
              <a:rPr lang="vi-VN" b="0"/>
              <a:t> và </a:t>
            </a:r>
            <a:r>
              <a:rPr lang="en-US" b="0"/>
              <a:t>kiểu</a:t>
            </a:r>
            <a:r>
              <a:rPr lang="vi-VN" b="0"/>
              <a:t>.</a:t>
            </a:r>
          </a:p>
          <a:p>
            <a:pPr marL="628650" lvl="1" indent="-171450">
              <a:buFont typeface="Arial" panose="020B0604020202020204" pitchFamily="34" charset="0"/>
              <a:buChar char="•"/>
            </a:pPr>
            <a:r>
              <a:rPr lang="vi-VN" b="0"/>
              <a:t>Cú pháp:</a:t>
            </a:r>
            <a:r>
              <a:rPr lang="en-US" b="0"/>
              <a:t> </a:t>
            </a:r>
            <a:r>
              <a:rPr lang="en-US" b="1"/>
              <a:t>CREATE TYPE [ schema_name. ] type_name { FROM base_type [ ( precision [ ,scale ] ) ] [ NULL | NOT NULL ] } [ ; ]</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Ví dụ:  </a:t>
            </a:r>
            <a:r>
              <a:rPr lang="en-US"/>
              <a:t>CREATE TYPE usertype FROM varchar(20) NOT NULL</a:t>
            </a:r>
          </a:p>
          <a:p>
            <a:pPr marL="171450" lvl="0" indent="-171450">
              <a:buFont typeface="Arial" panose="020B0604020202020204" pitchFamily="34" charset="0"/>
              <a:buChar char="•"/>
            </a:pPr>
            <a:r>
              <a:rPr lang="vi-VN" b="1"/>
              <a:t>Các </a:t>
            </a:r>
            <a:r>
              <a:rPr lang="en-US" b="1"/>
              <a:t>kiểu</a:t>
            </a:r>
            <a:r>
              <a:rPr lang="vi-VN" b="1"/>
              <a:t> </a:t>
            </a:r>
            <a:r>
              <a:rPr lang="en-US" b="1"/>
              <a:t>dữ liệu </a:t>
            </a:r>
            <a:r>
              <a:rPr lang="vi-VN" b="1"/>
              <a:t>do người dùng </a:t>
            </a:r>
            <a:r>
              <a:rPr lang="en-US" b="1"/>
              <a:t>tự</a:t>
            </a:r>
            <a:r>
              <a:rPr lang="vi-VN" b="1"/>
              <a:t> định</a:t>
            </a:r>
            <a:r>
              <a:rPr lang="en-US" b="1"/>
              <a:t> nghĩa:</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Được tạo bằng các ngôn ngữ lập trình được hỗ trợ bởi .NET Framework.</a:t>
            </a:r>
            <a:endParaRPr lang="en-US" b="0"/>
          </a:p>
          <a:p>
            <a:endParaRPr lang="en-US"/>
          </a:p>
        </p:txBody>
      </p:sp>
      <p:sp>
        <p:nvSpPr>
          <p:cNvPr id="4" name="Slide Number Placeholder 3"/>
          <p:cNvSpPr>
            <a:spLocks noGrp="1"/>
          </p:cNvSpPr>
          <p:nvPr>
            <p:ph type="sldNum" sz="quarter" idx="5"/>
          </p:nvPr>
        </p:nvSpPr>
        <p:spPr/>
        <p:txBody>
          <a:bodyPr/>
          <a:lstStyle/>
          <a:p>
            <a:fld id="{690088EC-74C6-4CF8-982A-0858CE5A1564}" type="slidenum">
              <a:rPr lang="en-US" smtClean="0"/>
              <a:t>12</a:t>
            </a:fld>
            <a:endParaRPr lang="en-US"/>
          </a:p>
        </p:txBody>
      </p:sp>
    </p:spTree>
    <p:extLst>
      <p:ext uri="{BB962C8B-B14F-4D97-AF65-F5344CB8AC3E}">
        <p14:creationId xmlns:p14="http://schemas.microsoft.com/office/powerpoint/2010/main" val="3509890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thành phần của ngôn ngữ Transact-SQL</a:t>
            </a:r>
          </a:p>
          <a:p>
            <a:pPr marL="171450" indent="-171450">
              <a:buFont typeface="Arial" panose="020B0604020202020204" pitchFamily="34" charset="0"/>
              <a:buChar char="•"/>
            </a:pPr>
            <a:r>
              <a:rPr lang="vi-VN" b="0"/>
              <a:t>Các phần tử ngôn ngữ Transact-SQL được sử dụng trong SQL Server 2019 cho</a:t>
            </a:r>
            <a:r>
              <a:rPr lang="en-US" b="0"/>
              <a:t> l</a:t>
            </a:r>
            <a:r>
              <a:rPr lang="vi-VN" b="0"/>
              <a:t>àm việc trên dữ liệu được nhập vào cơ sở dữ liệu SQL Server</a:t>
            </a:r>
            <a:endParaRPr lang="en-US" b="0"/>
          </a:p>
          <a:p>
            <a:pPr marL="171450" indent="-171450">
              <a:buFont typeface="Arial" panose="020B0604020202020204" pitchFamily="34" charset="0"/>
              <a:buChar char="•"/>
            </a:pPr>
            <a:r>
              <a:rPr lang="en-US" b="0"/>
              <a:t>Các phần tử ngôn ngữ Transact-SQL bao gồm:</a:t>
            </a:r>
          </a:p>
          <a:p>
            <a:pPr marL="628650" lvl="1" indent="-171450">
              <a:buFont typeface="Arial" panose="020B0604020202020204" pitchFamily="34" charset="0"/>
              <a:buChar char="•"/>
            </a:pPr>
            <a:r>
              <a:rPr lang="en-US" b="0"/>
              <a:t>Các </a:t>
            </a:r>
            <a:r>
              <a:rPr lang="vi-VN" b="0"/>
              <a:t>thuộc t</a:t>
            </a:r>
            <a:r>
              <a:rPr lang="en-US" b="0"/>
              <a:t>ừ</a:t>
            </a:r>
          </a:p>
          <a:p>
            <a:pPr marL="628650" lvl="1" indent="-171450">
              <a:buFont typeface="Arial" panose="020B0604020202020204" pitchFamily="34" charset="0"/>
              <a:buChar char="•"/>
            </a:pPr>
            <a:r>
              <a:rPr lang="en-US" b="0"/>
              <a:t>Các toán tử</a:t>
            </a:r>
          </a:p>
          <a:p>
            <a:pPr marL="628650" lvl="1" indent="-171450">
              <a:buFont typeface="Arial" panose="020B0604020202020204" pitchFamily="34" charset="0"/>
              <a:buChar char="•"/>
            </a:pPr>
            <a:r>
              <a:rPr lang="en-US" b="0"/>
              <a:t>Các hàm</a:t>
            </a:r>
          </a:p>
          <a:p>
            <a:pPr marL="628650" lvl="1" indent="-171450">
              <a:buFont typeface="Arial" panose="020B0604020202020204" pitchFamily="34" charset="0"/>
              <a:buChar char="•"/>
            </a:pPr>
            <a:r>
              <a:rPr lang="en-US" b="0"/>
              <a:t>Các biến</a:t>
            </a:r>
          </a:p>
          <a:p>
            <a:pPr marL="628650" lvl="1" indent="-171450">
              <a:buFont typeface="Arial" panose="020B0604020202020204" pitchFamily="34" charset="0"/>
              <a:buChar char="•"/>
            </a:pPr>
            <a:r>
              <a:rPr lang="en-US" b="0"/>
              <a:t>Các biểu thức</a:t>
            </a:r>
          </a:p>
          <a:p>
            <a:pPr marL="628650" lvl="1" indent="-171450">
              <a:buFont typeface="Arial" panose="020B0604020202020204" pitchFamily="34" charset="0"/>
              <a:buChar char="•"/>
            </a:pPr>
            <a:r>
              <a:rPr lang="en-US" b="0"/>
              <a:t>Kiểm soát dòng chảy</a:t>
            </a:r>
          </a:p>
          <a:p>
            <a:pPr marL="628650" lvl="1" indent="-171450">
              <a:buFont typeface="Arial" panose="020B0604020202020204" pitchFamily="34" charset="0"/>
              <a:buChar char="•"/>
            </a:pPr>
            <a:r>
              <a:rPr lang="en-US" b="0"/>
              <a:t>Các lỗi và</a:t>
            </a:r>
          </a:p>
          <a:p>
            <a:pPr marL="628650" lvl="1" indent="-171450">
              <a:buFont typeface="Arial" panose="020B0604020202020204" pitchFamily="34" charset="0"/>
              <a:buChar char="•"/>
            </a:pPr>
            <a:r>
              <a:rPr lang="en-US" b="0"/>
              <a:t>Các giao dịch, các chú thích, và phân tách batch</a:t>
            </a:r>
          </a:p>
        </p:txBody>
      </p:sp>
      <p:sp>
        <p:nvSpPr>
          <p:cNvPr id="4" name="Slide Number Placeholder 3"/>
          <p:cNvSpPr>
            <a:spLocks noGrp="1"/>
          </p:cNvSpPr>
          <p:nvPr>
            <p:ph type="sldNum" sz="quarter" idx="5"/>
          </p:nvPr>
        </p:nvSpPr>
        <p:spPr/>
        <p:txBody>
          <a:bodyPr/>
          <a:lstStyle/>
          <a:p>
            <a:fld id="{690088EC-74C6-4CF8-982A-0858CE5A1564}" type="slidenum">
              <a:rPr lang="en-US" smtClean="0"/>
              <a:t>13</a:t>
            </a:fld>
            <a:endParaRPr lang="en-US"/>
          </a:p>
        </p:txBody>
      </p:sp>
    </p:spTree>
    <p:extLst>
      <p:ext uri="{BB962C8B-B14F-4D97-AF65-F5344CB8AC3E}">
        <p14:creationId xmlns:p14="http://schemas.microsoft.com/office/powerpoint/2010/main" val="4110858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Các </a:t>
            </a:r>
            <a:r>
              <a:rPr lang="vi-VN" b="1"/>
              <a:t>thuộc t</a:t>
            </a:r>
            <a:r>
              <a:rPr lang="en-US" b="1"/>
              <a:t>ừ 1-2</a:t>
            </a:r>
          </a:p>
          <a:p>
            <a:pPr marL="171450" indent="-171450">
              <a:buFont typeface="Arial" panose="020B0604020202020204" pitchFamily="34" charset="0"/>
              <a:buChar char="•"/>
            </a:pPr>
            <a:r>
              <a:rPr lang="vi-VN"/>
              <a:t>Các </a:t>
            </a:r>
            <a:r>
              <a:rPr lang="en-US"/>
              <a:t>thuộc</a:t>
            </a:r>
            <a:r>
              <a:rPr lang="vi-VN"/>
              <a:t> từ được sử dụng để đánh giá liệu một biểu thức là đúng, sai hoặc chưa biết.</a:t>
            </a:r>
            <a:endParaRPr lang="en-US"/>
          </a:p>
          <a:p>
            <a:pPr marL="628650" lvl="1" indent="-171450">
              <a:buFont typeface="Arial" panose="020B0604020202020204" pitchFamily="34" charset="0"/>
              <a:buChar char="•"/>
            </a:pPr>
            <a:r>
              <a:rPr lang="en-US" b="1"/>
              <a:t>IN</a:t>
            </a:r>
            <a:r>
              <a:rPr lang="en-US"/>
              <a:t>: </a:t>
            </a:r>
            <a:r>
              <a:rPr lang="vi-VN"/>
              <a:t>Xác định xem một giá trị được chỉ định khớp với bất kỳ giá trị nào trong một truy vấn con hoặc một danh sách.</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BETWEEN: </a:t>
            </a:r>
            <a:r>
              <a:rPr lang="en-US" sz="1200" b="0">
                <a:latin typeface="Calibri" pitchFamily="34" charset="0"/>
                <a:cs typeface="Calibri" pitchFamily="34" charset="0"/>
              </a:rPr>
              <a:t>Chỉ định một phạm vi giá trị để kiểm tra.</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LIKE: </a:t>
            </a:r>
            <a:r>
              <a:rPr lang="vi-VN" sz="1200" b="0">
                <a:latin typeface="Calibri" pitchFamily="34" charset="0"/>
                <a:cs typeface="Calibri" pitchFamily="34" charset="0"/>
              </a:rPr>
              <a:t>Được sử dụng để khớp các ký tự </a:t>
            </a:r>
            <a:r>
              <a:rPr lang="en-US" sz="1200" b="0">
                <a:latin typeface="Calibri" pitchFamily="34" charset="0"/>
                <a:cs typeface="Calibri" pitchFamily="34" charset="0"/>
              </a:rPr>
              <a:t>theo </a:t>
            </a:r>
            <a:r>
              <a:rPr lang="vi-VN" sz="1200" b="0">
                <a:latin typeface="Calibri" pitchFamily="34" charset="0"/>
                <a:cs typeface="Calibri" pitchFamily="34" charset="0"/>
              </a:rPr>
              <a:t>một mẫu được chỉ định.</a:t>
            </a:r>
            <a:endParaRPr lang="en-US" sz="1200" b="0">
              <a:latin typeface="Calibri" pitchFamily="34" charset="0"/>
              <a:cs typeface="Calibri"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CONTAINS: </a:t>
            </a:r>
            <a:r>
              <a:rPr lang="vi-VN" sz="1200" b="0">
                <a:latin typeface="Calibri" pitchFamily="34" charset="0"/>
                <a:cs typeface="Calibri" pitchFamily="34" charset="0"/>
              </a:rPr>
              <a:t>Tìm kiếm chính xác hoặc ít hơn cho các từ và cụm từ đơn lẻ, các từ trong một khoảng nhất định của nhau, hoặc các </a:t>
            </a:r>
            <a:r>
              <a:rPr lang="en-US" sz="1200" b="0">
                <a:latin typeface="Calibri" pitchFamily="34" charset="0"/>
                <a:cs typeface="Calibri" pitchFamily="34" charset="0"/>
              </a:rPr>
              <a:t>cặp </a:t>
            </a:r>
            <a:r>
              <a:rPr lang="vi-VN" sz="1200" b="0">
                <a:latin typeface="Calibri" pitchFamily="34" charset="0"/>
                <a:cs typeface="Calibri" pitchFamily="34" charset="0"/>
              </a:rPr>
              <a:t>có trọng số.</a:t>
            </a:r>
            <a:endParaRPr lang="en-US" sz="1200" b="0">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690088EC-74C6-4CF8-982A-0858CE5A1564}" type="slidenum">
              <a:rPr lang="en-US" smtClean="0"/>
              <a:t>14</a:t>
            </a:fld>
            <a:endParaRPr lang="en-US"/>
          </a:p>
        </p:txBody>
      </p:sp>
    </p:spTree>
    <p:extLst>
      <p:ext uri="{BB962C8B-B14F-4D97-AF65-F5344CB8AC3E}">
        <p14:creationId xmlns:p14="http://schemas.microsoft.com/office/powerpoint/2010/main" val="2236545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a:t>
            </a:r>
            <a:r>
              <a:rPr lang="vi-VN" b="1"/>
              <a:t>thuộc t</a:t>
            </a:r>
            <a:r>
              <a:rPr lang="en-US" b="1"/>
              <a:t>ừ 2-2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Ví dụ vị từ</a:t>
            </a:r>
          </a:p>
          <a:p>
            <a:pPr marL="171450" indent="-171450">
              <a:buFont typeface="Arial" panose="020B0604020202020204" pitchFamily="34" charset="0"/>
              <a:buChar char="•"/>
            </a:pPr>
            <a:r>
              <a:rPr lang="vi-VN" b="0"/>
              <a:t>Ưu tiên của các vị từ và </a:t>
            </a:r>
            <a:r>
              <a:rPr lang="en-US" b="0"/>
              <a:t>toán tử</a:t>
            </a:r>
          </a:p>
        </p:txBody>
      </p:sp>
      <p:sp>
        <p:nvSpPr>
          <p:cNvPr id="4" name="Slide Number Placeholder 3"/>
          <p:cNvSpPr>
            <a:spLocks noGrp="1"/>
          </p:cNvSpPr>
          <p:nvPr>
            <p:ph type="sldNum" sz="quarter" idx="5"/>
          </p:nvPr>
        </p:nvSpPr>
        <p:spPr/>
        <p:txBody>
          <a:bodyPr/>
          <a:lstStyle/>
          <a:p>
            <a:fld id="{690088EC-74C6-4CF8-982A-0858CE5A1564}" type="slidenum">
              <a:rPr lang="en-US" smtClean="0"/>
              <a:t>15</a:t>
            </a:fld>
            <a:endParaRPr lang="en-US"/>
          </a:p>
        </p:txBody>
      </p:sp>
    </p:spTree>
    <p:extLst>
      <p:ext uri="{BB962C8B-B14F-4D97-AF65-F5344CB8AC3E}">
        <p14:creationId xmlns:p14="http://schemas.microsoft.com/office/powerpoint/2010/main" val="2259481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1-2</a:t>
            </a:r>
          </a:p>
          <a:p>
            <a:pPr marL="171450" indent="-171450">
              <a:buFont typeface="Arial" panose="020B0604020202020204" pitchFamily="34" charset="0"/>
              <a:buChar char="•"/>
            </a:pPr>
            <a:r>
              <a:rPr lang="vi-VN" b="0"/>
              <a:t>Là một tập hợp các câu lệnh </a:t>
            </a:r>
            <a:r>
              <a:rPr lang="vi-VN" b="1"/>
              <a:t>Transact-SQL</a:t>
            </a:r>
            <a:r>
              <a:rPr lang="vi-VN" b="0"/>
              <a:t> được sử dụng để thực hiện một số nhiệm vụ.</a:t>
            </a:r>
            <a:r>
              <a:rPr lang="en-US" b="0"/>
              <a:t> C</a:t>
            </a:r>
            <a:r>
              <a:rPr lang="vi-VN" b="0"/>
              <a:t>ác </a:t>
            </a:r>
            <a:r>
              <a:rPr lang="en-US" b="0"/>
              <a:t>hàm </a:t>
            </a:r>
            <a:r>
              <a:rPr lang="vi-VN" b="0"/>
              <a:t>này có thể hữu ích khi dữ liệu được tính toán hoặc thao tác.</a:t>
            </a:r>
          </a:p>
          <a:p>
            <a:pPr marL="171450" indent="-171450">
              <a:buFont typeface="Arial" panose="020B0604020202020204" pitchFamily="34" charset="0"/>
              <a:buChar char="•"/>
            </a:pPr>
            <a:r>
              <a:rPr lang="en-US" b="0"/>
              <a:t>4</a:t>
            </a:r>
            <a:r>
              <a:rPr lang="vi-VN" b="0"/>
              <a:t> loại </a:t>
            </a:r>
            <a:r>
              <a:rPr lang="en-US" b="0"/>
              <a:t>hàm </a:t>
            </a:r>
            <a:r>
              <a:rPr lang="vi-VN" b="0"/>
              <a:t>trong SQL Server 201</a:t>
            </a:r>
            <a:r>
              <a:rPr lang="en-US" b="0"/>
              <a:t>9</a:t>
            </a:r>
            <a:r>
              <a:rPr lang="vi-VN" b="0"/>
              <a:t> như sau:</a:t>
            </a:r>
            <a:endParaRPr lang="en-US" b="0"/>
          </a:p>
          <a:p>
            <a:pPr marL="628650" lvl="1" indent="-171450">
              <a:buFont typeface="Arial" panose="020B0604020202020204" pitchFamily="34" charset="0"/>
              <a:buChar char="•"/>
            </a:pPr>
            <a:r>
              <a:rPr lang="en-US" b="1"/>
              <a:t>Các hàm Rowset</a:t>
            </a:r>
            <a:r>
              <a:rPr lang="en-US" b="0"/>
              <a:t>:</a:t>
            </a:r>
          </a:p>
          <a:p>
            <a:pPr marL="1085850" lvl="2" indent="-171450">
              <a:buFont typeface="Arial" panose="020B0604020202020204" pitchFamily="34" charset="0"/>
              <a:buChar char="•"/>
            </a:pPr>
            <a:r>
              <a:rPr lang="vi-VN" b="0"/>
              <a:t>Được sử dụng để trả về một đối tượng có thể được sử dụng thay cho tham chiếu bảng.</a:t>
            </a:r>
          </a:p>
          <a:p>
            <a:pPr marL="1085850" lvl="2" indent="-171450">
              <a:buFont typeface="Arial" panose="020B0604020202020204" pitchFamily="34" charset="0"/>
              <a:buChar char="•"/>
            </a:pPr>
            <a:r>
              <a:rPr lang="vi-VN" b="0"/>
              <a:t>Ví dụ: </a:t>
            </a:r>
            <a:r>
              <a:rPr lang="vi-VN" b="1"/>
              <a:t>OPENDATASOURCE</a:t>
            </a:r>
            <a:r>
              <a:rPr lang="vi-VN" b="0"/>
              <a:t>, </a:t>
            </a:r>
            <a:r>
              <a:rPr lang="vi-VN" b="1"/>
              <a:t>OPENQUERY</a:t>
            </a:r>
            <a:r>
              <a:rPr lang="vi-VN" b="0"/>
              <a:t>, </a:t>
            </a:r>
            <a:r>
              <a:rPr lang="vi-VN" b="1"/>
              <a:t>OPENROWSET</a:t>
            </a:r>
            <a:r>
              <a:rPr lang="vi-VN" b="0"/>
              <a:t> VÀ </a:t>
            </a:r>
            <a:r>
              <a:rPr lang="vi-VN" b="1"/>
              <a:t>OPENXML</a:t>
            </a:r>
            <a:r>
              <a:rPr lang="vi-VN" b="0"/>
              <a:t>.</a:t>
            </a:r>
            <a:endParaRPr lang="en-US" b="0"/>
          </a:p>
          <a:p>
            <a:pPr marL="628650" lvl="1" indent="-171450">
              <a:buFont typeface="Arial" panose="020B0604020202020204" pitchFamily="34" charset="0"/>
              <a:buChar char="•"/>
            </a:pPr>
            <a:r>
              <a:rPr lang="en-US" b="1"/>
              <a:t>Các hàm tổng hợp</a:t>
            </a:r>
            <a:r>
              <a:rPr lang="en-US" b="0"/>
              <a:t>:</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Ví dụ: </a:t>
            </a:r>
            <a:r>
              <a:rPr lang="en-US" sz="1200" b="1">
                <a:latin typeface="Courier New" pitchFamily="49" charset="0"/>
                <a:cs typeface="Courier New" pitchFamily="49" charset="0"/>
              </a:rPr>
              <a:t>SUM</a:t>
            </a:r>
            <a:r>
              <a:rPr lang="en-US" sz="1200">
                <a:latin typeface="Calibri" pitchFamily="34" charset="0"/>
                <a:cs typeface="Calibri" pitchFamily="34" charset="0"/>
              </a:rPr>
              <a:t>, </a:t>
            </a:r>
            <a:r>
              <a:rPr lang="en-US" sz="1200" b="1">
                <a:latin typeface="Courier New" pitchFamily="49" charset="0"/>
                <a:cs typeface="Courier New" pitchFamily="49" charset="0"/>
              </a:rPr>
              <a:t>MIN</a:t>
            </a:r>
            <a:r>
              <a:rPr lang="en-US" sz="1200">
                <a:latin typeface="Calibri" pitchFamily="34" charset="0"/>
                <a:cs typeface="Calibri" pitchFamily="34" charset="0"/>
              </a:rPr>
              <a:t>, </a:t>
            </a:r>
            <a:r>
              <a:rPr lang="en-US" sz="1200" b="1">
                <a:latin typeface="Courier New" pitchFamily="49" charset="0"/>
                <a:cs typeface="Courier New" pitchFamily="49" charset="0"/>
              </a:rPr>
              <a:t>MAX</a:t>
            </a:r>
            <a:r>
              <a:rPr lang="en-US" sz="1200">
                <a:latin typeface="Calibri" pitchFamily="34" charset="0"/>
                <a:cs typeface="Calibri" pitchFamily="34" charset="0"/>
              </a:rPr>
              <a:t>, </a:t>
            </a:r>
            <a:r>
              <a:rPr lang="en-US" sz="1200" b="1">
                <a:latin typeface="Courier New" pitchFamily="49" charset="0"/>
                <a:cs typeface="Courier New" pitchFamily="49" charset="0"/>
              </a:rPr>
              <a:t>AVG</a:t>
            </a:r>
            <a:r>
              <a:rPr lang="en-US" sz="1200">
                <a:latin typeface="Calibri" pitchFamily="34" charset="0"/>
                <a:cs typeface="Calibri" pitchFamily="34" charset="0"/>
              </a:rPr>
              <a:t>, </a:t>
            </a:r>
            <a:r>
              <a:rPr lang="en-US" sz="1200" b="1">
                <a:latin typeface="Courier New" pitchFamily="49" charset="0"/>
                <a:cs typeface="Courier New" pitchFamily="49" charset="0"/>
              </a:rPr>
              <a:t>COUNT</a:t>
            </a:r>
            <a:r>
              <a:rPr lang="en-US" sz="1200">
                <a:latin typeface="Calibri" pitchFamily="34" charset="0"/>
                <a:cs typeface="Calibri" pitchFamily="34" charset="0"/>
              </a:rPr>
              <a:t>, </a:t>
            </a:r>
            <a:r>
              <a:rPr lang="en-US" sz="1200" b="1">
                <a:latin typeface="Courier New" pitchFamily="49" charset="0"/>
                <a:cs typeface="Courier New" pitchFamily="49" charset="0"/>
              </a:rPr>
              <a:t>COUNTBIG</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Các hàm xếp hạng:</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Có thể thực hiện nhiều tác vụ, như tạo mảng, tạo các số tuần tự, tìm thứ hạng, v.v.</a:t>
            </a:r>
          </a:p>
          <a:p>
            <a:pPr marL="1085850" lvl="2" indent="-171450">
              <a:buFont typeface="Arial" panose="020B0604020202020204" pitchFamily="34" charset="0"/>
              <a:buChar char="•"/>
            </a:pPr>
            <a:r>
              <a:rPr lang="vi-VN" b="0"/>
              <a:t>Ví dụ: </a:t>
            </a:r>
            <a:r>
              <a:rPr lang="en-US" sz="1200" b="1">
                <a:latin typeface="Courier New" pitchFamily="49" charset="0"/>
                <a:cs typeface="Courier New" pitchFamily="49" charset="0"/>
              </a:rPr>
              <a:t>RANK</a:t>
            </a:r>
            <a:r>
              <a:rPr lang="en-US" sz="1200">
                <a:latin typeface="Calibri" pitchFamily="34" charset="0"/>
                <a:cs typeface="Calibri" pitchFamily="34" charset="0"/>
              </a:rPr>
              <a:t>, </a:t>
            </a:r>
            <a:r>
              <a:rPr lang="en-US" sz="1200" b="1">
                <a:latin typeface="Courier New" pitchFamily="49" charset="0"/>
                <a:cs typeface="Courier New" pitchFamily="49" charset="0"/>
              </a:rPr>
              <a:t>DENSE_RANK</a:t>
            </a:r>
            <a:r>
              <a:rPr lang="en-US" sz="1200">
                <a:latin typeface="Calibri" pitchFamily="34" charset="0"/>
                <a:cs typeface="Calibri" pitchFamily="34" charset="0"/>
              </a:rPr>
              <a:t>, </a:t>
            </a:r>
            <a:r>
              <a:rPr lang="en-US" sz="1200" b="1">
                <a:latin typeface="Courier New" pitchFamily="49" charset="0"/>
                <a:cs typeface="Courier New" pitchFamily="49" charset="0"/>
              </a:rPr>
              <a:t>NTILE</a:t>
            </a:r>
            <a:r>
              <a:rPr lang="en-US" sz="1200">
                <a:latin typeface="Calibri" pitchFamily="34" charset="0"/>
                <a:cs typeface="Calibri" pitchFamily="34" charset="0"/>
              </a:rPr>
              <a:t>, và </a:t>
            </a:r>
            <a:r>
              <a:rPr lang="en-US" sz="1200" b="1">
                <a:latin typeface="Courier New" pitchFamily="49" charset="0"/>
                <a:cs typeface="Courier New" pitchFamily="49" charset="0"/>
              </a:rPr>
              <a:t>ROW_NUMBER</a:t>
            </a:r>
            <a:r>
              <a:rPr lang="en-US" sz="1200">
                <a:latin typeface="Calibri" pitchFamily="34" charset="0"/>
                <a:cs typeface="Calibri" pitchFamily="34" charset="0"/>
              </a:rPr>
              <a:t>.</a:t>
            </a:r>
          </a:p>
          <a:p>
            <a:pPr marL="628650" lvl="1" indent="-171450">
              <a:buFont typeface="Arial" panose="020B0604020202020204" pitchFamily="34" charset="0"/>
              <a:buChar char="•"/>
            </a:pPr>
            <a:r>
              <a:rPr lang="en-US" b="1"/>
              <a:t>Các hàm v</a:t>
            </a:r>
            <a:r>
              <a:rPr lang="vi-VN" b="1"/>
              <a:t>ô hướng</a:t>
            </a:r>
            <a:endParaRPr lang="en-US" b="1"/>
          </a:p>
          <a:p>
            <a:pPr marL="1085850" lvl="2" indent="-171450">
              <a:buFont typeface="Arial" panose="020B0604020202020204" pitchFamily="34" charset="0"/>
              <a:buChar char="•"/>
            </a:pPr>
            <a:r>
              <a:rPr lang="vi-VN" b="0"/>
              <a:t>Đầu vào là một giá trị duy nhất và đầu ra nhận được cũng là một giá trị duy nhất.</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16</a:t>
            </a:fld>
            <a:endParaRPr lang="en-US"/>
          </a:p>
        </p:txBody>
      </p:sp>
    </p:spTree>
    <p:extLst>
      <p:ext uri="{BB962C8B-B14F-4D97-AF65-F5344CB8AC3E}">
        <p14:creationId xmlns:p14="http://schemas.microsoft.com/office/powerpoint/2010/main" val="2751916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Các hàm 2-2:</a:t>
            </a:r>
          </a:p>
          <a:p>
            <a:pPr marL="171450" indent="-171450">
              <a:buFont typeface="Arial" panose="020B0604020202020204" pitchFamily="34" charset="0"/>
              <a:buChar char="•"/>
            </a:pPr>
            <a:r>
              <a:rPr lang="en-US" b="1"/>
              <a:t>Các hàm chuyển đổi: </a:t>
            </a:r>
          </a:p>
          <a:p>
            <a:pPr marL="628650" lvl="1" indent="-171450">
              <a:buFont typeface="Arial" panose="020B0604020202020204" pitchFamily="34" charset="0"/>
              <a:buChar char="•"/>
            </a:pPr>
            <a:r>
              <a:rPr lang="vi-VN" b="0"/>
              <a:t>Hàm chuyển đổi được sử dụng để chuyển đổi giá trị của một loại dữ liệu sang loại khác. Ngoài ra, nó có thể được sử dụng để có được một loạt các định dạng ngày đặc biệt.</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Ví dụ: </a:t>
            </a:r>
            <a:r>
              <a:rPr lang="en-US" sz="1200" b="1" kern="1200" baseline="0">
                <a:solidFill>
                  <a:schemeClr val="tx1"/>
                </a:solidFill>
                <a:latin typeface="Arial" pitchFamily="34" charset="0"/>
                <a:ea typeface="+mn-ea"/>
                <a:cs typeface="Arial" pitchFamily="34" charset="0"/>
              </a:rPr>
              <a:t>CONVERT</a:t>
            </a:r>
          </a:p>
          <a:p>
            <a:pPr marL="171450" lvl="0" indent="-171450">
              <a:buFont typeface="Arial" panose="020B0604020202020204" pitchFamily="34" charset="0"/>
              <a:buChar char="•"/>
            </a:pPr>
            <a:r>
              <a:rPr lang="en-US" b="1"/>
              <a:t>Hàm Ngày và giờ</a:t>
            </a:r>
            <a:r>
              <a:rPr lang="en-US" b="0"/>
              <a:t>:</a:t>
            </a:r>
          </a:p>
          <a:p>
            <a:pPr marL="628650" lvl="1" indent="-171450">
              <a:buFont typeface="Arial" panose="020B0604020202020204" pitchFamily="34" charset="0"/>
              <a:buChar char="•"/>
            </a:pPr>
            <a:r>
              <a:rPr lang="en-US" b="0"/>
              <a:t>Các hàm </a:t>
            </a:r>
            <a:r>
              <a:rPr lang="vi-VN" b="0"/>
              <a:t>ngày và giờ được sử dụng để thao tác giá trị ngày và giờ. Chúng rất hữu ích để thực hiện các tính toán dựa trên thời gian và ngày</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Ví dụ: </a:t>
            </a:r>
            <a:r>
              <a:rPr lang="en-US" sz="1200" b="0" kern="1200" baseline="0">
                <a:solidFill>
                  <a:schemeClr val="tx1"/>
                </a:solidFill>
                <a:latin typeface="Arial" pitchFamily="34" charset="0"/>
                <a:ea typeface="+mn-ea"/>
                <a:cs typeface="Arial" pitchFamily="34" charset="0"/>
              </a:rPr>
              <a:t>GETDATE, SYSDATETIME, GETUTCDATE, DATEADD, DATEDIFF, YEAR, MONTH, DAY</a:t>
            </a:r>
          </a:p>
          <a:p>
            <a:pPr marL="171450" lvl="0" indent="-171450">
              <a:buFont typeface="Arial" panose="020B0604020202020204" pitchFamily="34" charset="0"/>
              <a:buChar char="•"/>
            </a:pPr>
            <a:r>
              <a:rPr lang="en-US" b="1"/>
              <a:t>Hàm Toán học</a:t>
            </a:r>
            <a:r>
              <a:rPr lang="en-US" b="0"/>
              <a:t>:</a:t>
            </a:r>
          </a:p>
          <a:p>
            <a:pPr marL="628650" lvl="1" indent="-171450">
              <a:buFont typeface="Arial" panose="020B0604020202020204" pitchFamily="34" charset="0"/>
              <a:buChar char="•"/>
            </a:pPr>
            <a:r>
              <a:rPr lang="en-US" b="0"/>
              <a:t>Các chức năng toán học thực hiện các hoạt động đại số trên các giá trị số</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Ví dụ: </a:t>
            </a:r>
            <a:r>
              <a:rPr lang="en-US" sz="1200" b="1" kern="1200" baseline="0">
                <a:solidFill>
                  <a:schemeClr val="tx1"/>
                </a:solidFill>
                <a:latin typeface="Arial" pitchFamily="34" charset="0"/>
                <a:ea typeface="+mn-ea"/>
                <a:cs typeface="Arial" pitchFamily="34" charset="0"/>
              </a:rPr>
              <a:t>RAND</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ROUND</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POWER</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ABS</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CEILING</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FLOOR</a:t>
            </a:r>
          </a:p>
          <a:p>
            <a:pPr marL="171450" lvl="0" indent="-171450">
              <a:buFont typeface="Arial" panose="020B0604020202020204" pitchFamily="34" charset="0"/>
              <a:buChar char="•"/>
            </a:pPr>
            <a:r>
              <a:rPr lang="en-US" b="1"/>
              <a:t>Hàm hệ thống</a:t>
            </a:r>
            <a:r>
              <a:rPr lang="en-US" b="0"/>
              <a:t>:</a:t>
            </a:r>
          </a:p>
          <a:p>
            <a:pPr marL="628650" lvl="1" indent="-171450">
              <a:buFont typeface="Arial" panose="020B0604020202020204" pitchFamily="34" charset="0"/>
              <a:buChar char="•"/>
            </a:pPr>
            <a:r>
              <a:rPr lang="en-US" b="0"/>
              <a:t>SQL Server cung cấp các hàm hệ thống để trả về siêu dữ liệu hoặc cài đặt cấu hình</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Ví dụ: </a:t>
            </a:r>
            <a:r>
              <a:rPr lang="en-US" sz="1200" b="1" kern="1200" baseline="0">
                <a:solidFill>
                  <a:schemeClr val="tx1"/>
                </a:solidFill>
                <a:latin typeface="Arial" pitchFamily="34" charset="0"/>
                <a:ea typeface="+mn-ea"/>
                <a:cs typeface="Arial" pitchFamily="34" charset="0"/>
              </a:rPr>
              <a:t>HOST_ID</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HOST_NAME</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ISNULL</a:t>
            </a:r>
          </a:p>
          <a:p>
            <a:pPr marL="171450" lvl="0" indent="-171450">
              <a:buFont typeface="Arial" panose="020B0604020202020204" pitchFamily="34" charset="0"/>
              <a:buChar char="•"/>
            </a:pPr>
            <a:r>
              <a:rPr lang="en-US" b="1"/>
              <a:t>Hàm xử lý chuỗi</a:t>
            </a:r>
            <a:r>
              <a:rPr lang="en-US" b="0"/>
              <a:t>:</a:t>
            </a:r>
          </a:p>
          <a:p>
            <a:pPr marL="628650" lvl="1" indent="-171450">
              <a:buFont typeface="Arial" panose="020B0604020202020204" pitchFamily="34" charset="0"/>
              <a:buChar char="•"/>
            </a:pPr>
            <a:r>
              <a:rPr lang="vi-VN" b="0"/>
              <a:t>Các hàm chuỗi được sử dụng cho các đầu vào chuỗi như </a:t>
            </a:r>
            <a:r>
              <a:rPr lang="vi-VN" b="1"/>
              <a:t>char</a:t>
            </a:r>
            <a:r>
              <a:rPr lang="vi-VN" b="0"/>
              <a:t> và </a:t>
            </a:r>
            <a:r>
              <a:rPr lang="vi-VN" b="1"/>
              <a:t>varchar</a:t>
            </a:r>
            <a:r>
              <a:rPr lang="vi-VN" b="0"/>
              <a:t>. Đầu ra có thể là một chuỗi hoặc một giá trị số.</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Ví dụ: </a:t>
            </a:r>
            <a:r>
              <a:rPr lang="en-US" sz="1200" b="1" kern="1200" baseline="0">
                <a:solidFill>
                  <a:schemeClr val="tx1"/>
                </a:solidFill>
                <a:latin typeface="Arial" pitchFamily="34" charset="0"/>
                <a:ea typeface="+mn-ea"/>
                <a:cs typeface="Arial" pitchFamily="34" charset="0"/>
              </a:rPr>
              <a:t>SUBSTRING</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LEFT</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RIGHT</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LEN</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DATALENGTH</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REPLACE</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REPLICATE</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UPPER</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LOWER</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RTRIM</a:t>
            </a:r>
            <a:r>
              <a:rPr lang="en-US" sz="1200" b="0" kern="1200" baseline="0">
                <a:solidFill>
                  <a:schemeClr val="tx1"/>
                </a:solidFill>
                <a:latin typeface="Arial" pitchFamily="34" charset="0"/>
                <a:ea typeface="+mn-ea"/>
                <a:cs typeface="Arial" pitchFamily="34" charset="0"/>
              </a:rPr>
              <a:t>, </a:t>
            </a:r>
            <a:r>
              <a:rPr lang="en-US" sz="1200" b="1" kern="1200" baseline="0">
                <a:solidFill>
                  <a:schemeClr val="tx1"/>
                </a:solidFill>
                <a:latin typeface="Arial" pitchFamily="34" charset="0"/>
                <a:ea typeface="+mn-ea"/>
                <a:cs typeface="Arial" pitchFamily="34" charset="0"/>
              </a:rPr>
              <a:t>LTRIM</a:t>
            </a:r>
          </a:p>
        </p:txBody>
      </p:sp>
      <p:sp>
        <p:nvSpPr>
          <p:cNvPr id="4" name="Slide Number Placeholder 3"/>
          <p:cNvSpPr>
            <a:spLocks noGrp="1"/>
          </p:cNvSpPr>
          <p:nvPr>
            <p:ph type="sldNum" sz="quarter" idx="5"/>
          </p:nvPr>
        </p:nvSpPr>
        <p:spPr/>
        <p:txBody>
          <a:bodyPr/>
          <a:lstStyle/>
          <a:p>
            <a:fld id="{690088EC-74C6-4CF8-982A-0858CE5A1564}" type="slidenum">
              <a:rPr lang="en-US" smtClean="0"/>
              <a:t>17</a:t>
            </a:fld>
            <a:endParaRPr lang="en-US"/>
          </a:p>
        </p:txBody>
      </p:sp>
    </p:spTree>
    <p:extLst>
      <p:ext uri="{BB962C8B-B14F-4D97-AF65-F5344CB8AC3E}">
        <p14:creationId xmlns:p14="http://schemas.microsoft.com/office/powerpoint/2010/main" val="82767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biến</a:t>
            </a:r>
          </a:p>
          <a:p>
            <a:pPr marL="171450" indent="-171450">
              <a:buFont typeface="Arial" panose="020B0604020202020204" pitchFamily="34" charset="0"/>
              <a:buChar char="•"/>
            </a:pPr>
            <a:r>
              <a:rPr lang="vi-VN" b="0"/>
              <a:t>Một biến là một đối tượng có thể chứa một giá trị dữ liệu. Trong Transact-SQL, các biến có thể được phân loại thành các </a:t>
            </a:r>
            <a:r>
              <a:rPr lang="vi-VN" b="1"/>
              <a:t>biến cục bộ </a:t>
            </a:r>
            <a:r>
              <a:rPr lang="vi-VN" b="0"/>
              <a:t>và </a:t>
            </a:r>
            <a:r>
              <a:rPr lang="vi-VN" b="1"/>
              <a:t>toàn </a:t>
            </a:r>
            <a:r>
              <a:rPr lang="en-US" b="1"/>
              <a:t>cục</a:t>
            </a:r>
          </a:p>
          <a:p>
            <a:pPr marL="171450" indent="-171450">
              <a:buFont typeface="Arial" panose="020B0604020202020204" pitchFamily="34" charset="0"/>
              <a:buChar char="•"/>
            </a:pPr>
            <a:r>
              <a:rPr lang="vi-VN" b="0"/>
              <a:t>Trong Transact-SQL, các biến cục bộ được tạo và được sử dụng để lưu trữ tạm thời trong khi các câu lệnh SQL được thực thi.</a:t>
            </a:r>
            <a:endParaRPr lang="en-US" b="0"/>
          </a:p>
          <a:p>
            <a:pPr marL="171450" indent="-171450">
              <a:buFont typeface="Arial" panose="020B0604020202020204" pitchFamily="34" charset="0"/>
              <a:buChar char="•"/>
            </a:pPr>
            <a:r>
              <a:rPr lang="vi-VN" b="0"/>
              <a:t>Dữ liệu có thể được truyền cho các câu lệnh SQL bằng các biến cục bộ.</a:t>
            </a:r>
            <a:endParaRPr lang="en-US" b="0"/>
          </a:p>
          <a:p>
            <a:pPr marL="171450" indent="-171450">
              <a:buFont typeface="Arial" panose="020B0604020202020204" pitchFamily="34" charset="0"/>
              <a:buChar char="•"/>
            </a:pPr>
            <a:r>
              <a:rPr lang="vi-VN" b="0"/>
              <a:t>Tên của một </a:t>
            </a:r>
            <a:r>
              <a:rPr lang="vi-VN" b="1"/>
              <a:t>biến cục bộ </a:t>
            </a:r>
            <a:r>
              <a:rPr lang="vi-VN" b="0"/>
              <a:t>phải </a:t>
            </a:r>
            <a:r>
              <a:rPr lang="en-US" b="0"/>
              <a:t>có </a:t>
            </a:r>
            <a:r>
              <a:rPr lang="vi-VN" b="0"/>
              <a:t>tiền tố</a:t>
            </a:r>
            <a:r>
              <a:rPr lang="en-US" b="0"/>
              <a:t> </a:t>
            </a:r>
            <a:r>
              <a:rPr lang="vi-VN" b="0"/>
              <a:t>dấu ‘</a:t>
            </a:r>
            <a:r>
              <a:rPr lang="vi-VN" b="1"/>
              <a:t>@</a:t>
            </a:r>
            <a:r>
              <a:rPr lang="vi-VN" b="0"/>
              <a:t>’</a:t>
            </a:r>
            <a:endParaRPr lang="en-US" b="0"/>
          </a:p>
          <a:p>
            <a:pPr marL="171450" indent="-171450">
              <a:buFont typeface="Arial" panose="020B0604020202020204" pitchFamily="34" charset="0"/>
              <a:buChar char="•"/>
            </a:pPr>
            <a:r>
              <a:rPr lang="vi-VN" b="0"/>
              <a:t>Các </a:t>
            </a:r>
            <a:r>
              <a:rPr lang="vi-VN" b="1"/>
              <a:t>biến toàn cục </a:t>
            </a:r>
            <a:r>
              <a:rPr lang="vi-VN" b="0"/>
              <a:t>là các biến được xây dựng được xác định và duy trì bởi hệ thống. Các biến toàn cục trong SQL Server được sử dụng trước với </a:t>
            </a:r>
            <a:r>
              <a:rPr lang="en-US" b="1"/>
              <a:t>2</a:t>
            </a:r>
            <a:r>
              <a:rPr lang="vi-VN" b="1"/>
              <a:t> dấu '@’</a:t>
            </a:r>
            <a:endParaRPr lang="en-US" b="1"/>
          </a:p>
          <a:p>
            <a:pPr marL="171450" indent="-171450">
              <a:buFont typeface="Arial" panose="020B0604020202020204" pitchFamily="34" charset="0"/>
              <a:buChar char="•"/>
            </a:pPr>
            <a:r>
              <a:rPr lang="vi-VN" b="0"/>
              <a:t>Giá trị của bất kỳ biến nào trong số các biến này có thể được lấy bằng một truy vấn </a:t>
            </a:r>
            <a:r>
              <a:rPr lang="en-US" b="1"/>
              <a:t>SELECT</a:t>
            </a:r>
            <a:r>
              <a:rPr lang="vi-VN" b="0"/>
              <a:t> đơn giản.</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18</a:t>
            </a:fld>
            <a:endParaRPr lang="en-US"/>
          </a:p>
        </p:txBody>
      </p:sp>
    </p:spTree>
    <p:extLst>
      <p:ext uri="{BB962C8B-B14F-4D97-AF65-F5344CB8AC3E}">
        <p14:creationId xmlns:p14="http://schemas.microsoft.com/office/powerpoint/2010/main" val="3205258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Biểu thức</a:t>
            </a:r>
          </a:p>
          <a:p>
            <a:pPr marL="171450" indent="-171450">
              <a:buFont typeface="Arial" panose="020B0604020202020204" pitchFamily="34" charset="0"/>
              <a:buChar char="•"/>
            </a:pPr>
            <a:r>
              <a:rPr lang="en-US" b="0"/>
              <a:t>L</a:t>
            </a:r>
            <a:r>
              <a:rPr lang="vi-VN" b="0"/>
              <a:t>à sự kết hợp của </a:t>
            </a:r>
            <a:r>
              <a:rPr lang="en-US" b="0"/>
              <a:t>dịnh danh</a:t>
            </a:r>
            <a:r>
              <a:rPr lang="vi-VN" b="0"/>
              <a:t>, giá trị và toán tử mà SQL Server có thể đánh giá để có được kết quả.</a:t>
            </a:r>
            <a:endParaRPr lang="en-US" b="0"/>
          </a:p>
          <a:p>
            <a:pPr marL="171450" indent="-171450">
              <a:buFont typeface="Arial" panose="020B0604020202020204" pitchFamily="34" charset="0"/>
              <a:buChar char="•"/>
            </a:pPr>
            <a:r>
              <a:rPr lang="vi-VN" b="0"/>
              <a:t>Biểu thức có thể được sử dụng ở một số nơi khác nhau khi truy cập hoặc thay đổi dữ liệu.</a:t>
            </a:r>
            <a:endParaRPr lang="en-US" b="0"/>
          </a:p>
          <a:p>
            <a:pPr marL="171450" indent="-171450">
              <a:buFont typeface="Arial" panose="020B0604020202020204" pitchFamily="34" charset="0"/>
              <a:buChar char="•"/>
            </a:pPr>
            <a:r>
              <a:rPr lang="en-US" b="0"/>
              <a:t>Ví dụ: </a:t>
            </a:r>
            <a:br>
              <a:rPr lang="en-US" b="1"/>
            </a:br>
            <a:r>
              <a:rPr lang="en-US" b="1"/>
              <a:t>SELECT SalesOrderID, CustomerID, SalesPersonID, TerritoryID,YEAR(OrderDate) AS CurrentYear, YEAR(OrderDate) + 1 AS NextYear  FROM Sales.SalesOrderHeader</a:t>
            </a:r>
          </a:p>
          <a:p>
            <a:pPr marL="171450" indent="-171450">
              <a:buFont typeface="Arial" panose="020B0604020202020204" pitchFamily="34" charset="0"/>
              <a:buChar char="•"/>
            </a:pPr>
            <a:r>
              <a:rPr lang="vi-VN" b="0"/>
              <a:t>Hình dưới đây cho thấy kết quả của biểu thức:</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19</a:t>
            </a:fld>
            <a:endParaRPr lang="en-US"/>
          </a:p>
        </p:txBody>
      </p:sp>
    </p:spTree>
    <p:extLst>
      <p:ext uri="{BB962C8B-B14F-4D97-AF65-F5344CB8AC3E}">
        <p14:creationId xmlns:p14="http://schemas.microsoft.com/office/powerpoint/2010/main" val="15351469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Kiểm soát dòng chảy, lỗi và giao dịch</a:t>
            </a:r>
          </a:p>
          <a:p>
            <a:pPr marL="171450" indent="-171450">
              <a:buFont typeface="Arial" panose="020B0604020202020204" pitchFamily="34" charset="0"/>
              <a:buChar char="•"/>
            </a:pPr>
            <a:r>
              <a:rPr lang="vi-VN" b="0"/>
              <a:t>Mặc dù Transact-SQL chủ yếu là ngôn ngữ truy xuất dữ liệu, nhưng nó hỗ trợ các câu lệnh kiểm soát chuyển đổi để thực thi và tìm lỗi.</a:t>
            </a:r>
          </a:p>
          <a:p>
            <a:pPr marL="171450" indent="-171450">
              <a:buFont typeface="Arial" panose="020B0604020202020204" pitchFamily="34" charset="0"/>
              <a:buChar char="•"/>
            </a:pPr>
            <a:r>
              <a:rPr lang="vi-VN" b="0"/>
              <a:t>Ngôn ngữ kiểm soát dòng chảy xác định luồng thực thi của các câu lệnh Transact-SQL, các khối câu lệnh, </a:t>
            </a:r>
            <a:r>
              <a:rPr lang="en-US" b="0"/>
              <a:t>hàm </a:t>
            </a:r>
            <a:r>
              <a:rPr lang="vi-VN" b="0"/>
              <a:t>do người dùng định </a:t>
            </a:r>
            <a:r>
              <a:rPr lang="en-US" b="0"/>
              <a:t>nghĩa </a:t>
            </a:r>
            <a:r>
              <a:rPr lang="vi-VN" b="0"/>
              <a:t>và các thủ tục lưu trữ.</a:t>
            </a:r>
          </a:p>
          <a:p>
            <a:pPr marL="171450" indent="-171450">
              <a:buFont typeface="Arial" panose="020B0604020202020204" pitchFamily="34" charset="0"/>
              <a:buChar char="•"/>
            </a:pPr>
            <a:r>
              <a:rPr lang="vi-VN" b="0"/>
              <a:t>Bảng sau đây cho thấy một số câu lệnh kiểm soát lưu lượng thường được sử dụng trong Transact-SQL:</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IF. . .ELSE</a:t>
            </a:r>
            <a:r>
              <a:rPr lang="en-US" sz="1200" b="0" kern="1200" baseline="0">
                <a:solidFill>
                  <a:schemeClr val="dk1"/>
                </a:solidFill>
                <a:latin typeface="Arial" pitchFamily="34" charset="0"/>
                <a:ea typeface="+mn-ea"/>
                <a:cs typeface="Arial" pitchFamily="34" charset="0"/>
              </a:rPr>
              <a:t>: Cung cấp kiểm soát phân nhánh dựa trên một bài kiểm tra logic</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WHILE</a:t>
            </a:r>
            <a:r>
              <a:rPr lang="en-US" sz="1200" b="0" kern="1200" baseline="0">
                <a:solidFill>
                  <a:schemeClr val="dk1"/>
                </a:solidFill>
                <a:latin typeface="Arial" pitchFamily="34" charset="0"/>
                <a:ea typeface="+mn-ea"/>
                <a:cs typeface="Arial" pitchFamily="34" charset="0"/>
              </a:rPr>
              <a:t>: Lặp lại một tuyên bố hoặc một khối tuyên bố miễn là điều kiện là đúng.</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BEGIN. . .END</a:t>
            </a:r>
            <a:r>
              <a:rPr lang="en-US" sz="1200" b="0" kern="1200" baseline="0">
                <a:solidFill>
                  <a:schemeClr val="dk1"/>
                </a:solidFill>
                <a:latin typeface="Arial" pitchFamily="34" charset="0"/>
                <a:ea typeface="+mn-ea"/>
                <a:cs typeface="Arial" pitchFamily="34" charset="0"/>
              </a:rPr>
              <a:t>: Định nghĩa phạm vi của một khối các câu lệnh Transact-SQL</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TRY. . . CATCH</a:t>
            </a:r>
            <a:r>
              <a:rPr lang="en-US" sz="1200" b="0" kern="1200" baseline="0">
                <a:solidFill>
                  <a:schemeClr val="dk1"/>
                </a:solidFill>
                <a:latin typeface="Arial" pitchFamily="34" charset="0"/>
                <a:ea typeface="+mn-ea"/>
                <a:cs typeface="Arial" pitchFamily="34" charset="0"/>
              </a:rPr>
              <a:t>: Định nghĩa cấu trúc để xử lý ngoại lệ và lỗi</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BEGIN TRANSACTION</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Đánh dấu một khối các tuyên bố như một phần của giao dịch rõ ràng</a:t>
            </a:r>
            <a:endParaRPr lang="en-US" sz="1200" b="0" kern="1200" baseline="0">
              <a:solidFill>
                <a:schemeClr val="dk1"/>
              </a:solidFill>
              <a:latin typeface="Arial" pitchFamily="34" charset="0"/>
              <a:ea typeface="+mn-ea"/>
              <a:cs typeface="Arial" pitchFamily="34" charset="0"/>
            </a:endParaRPr>
          </a:p>
        </p:txBody>
      </p:sp>
      <p:sp>
        <p:nvSpPr>
          <p:cNvPr id="4" name="Slide Number Placeholder 3"/>
          <p:cNvSpPr>
            <a:spLocks noGrp="1"/>
          </p:cNvSpPr>
          <p:nvPr>
            <p:ph type="sldNum" sz="quarter" idx="5"/>
          </p:nvPr>
        </p:nvSpPr>
        <p:spPr/>
        <p:txBody>
          <a:bodyPr/>
          <a:lstStyle/>
          <a:p>
            <a:fld id="{690088EC-74C6-4CF8-982A-0858CE5A1564}" type="slidenum">
              <a:rPr lang="en-US" smtClean="0"/>
              <a:t>20</a:t>
            </a:fld>
            <a:endParaRPr lang="en-US"/>
          </a:p>
        </p:txBody>
      </p:sp>
    </p:spTree>
    <p:extLst>
      <p:ext uri="{BB962C8B-B14F-4D97-AF65-F5344CB8AC3E}">
        <p14:creationId xmlns:p14="http://schemas.microsoft.com/office/powerpoint/2010/main" val="2690114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chú thích</a:t>
            </a:r>
          </a:p>
          <a:p>
            <a:pPr marL="171450" indent="-171450">
              <a:buFont typeface="Arial" panose="020B0604020202020204" pitchFamily="34" charset="0"/>
              <a:buChar char="•"/>
            </a:pPr>
            <a:r>
              <a:rPr lang="en-US"/>
              <a:t>L</a:t>
            </a:r>
            <a:r>
              <a:rPr lang="vi-VN"/>
              <a:t>à các chuỗi văn bản mô tả, còn được gọi là nhận xét, trong mã chương trình sẽ bị bỏ qua bởi trình biên dịch.</a:t>
            </a:r>
          </a:p>
          <a:p>
            <a:pPr marL="171450" indent="-171450">
              <a:buFont typeface="Arial" panose="020B0604020202020204" pitchFamily="34" charset="0"/>
              <a:buChar char="•"/>
            </a:pPr>
            <a:r>
              <a:rPr lang="vi-VN"/>
              <a:t>Có thể được bao gồm trong mã nguồn của một câu lệnh duy nhất, một lô hoặc một thủ tục lưu trữ.</a:t>
            </a:r>
          </a:p>
          <a:p>
            <a:pPr marL="171450" indent="-171450">
              <a:buFont typeface="Arial" panose="020B0604020202020204" pitchFamily="34" charset="0"/>
              <a:buChar char="•"/>
            </a:pPr>
            <a:r>
              <a:rPr lang="vi-VN"/>
              <a:t>Microsoft SQL Server hỗ trợ hai loại kiểu nhận xét:</a:t>
            </a:r>
            <a:endParaRPr lang="en-US"/>
          </a:p>
          <a:p>
            <a:pPr marL="628650" lvl="1" indent="-171450">
              <a:buFont typeface="Arial" panose="020B0604020202020204" pitchFamily="34" charset="0"/>
              <a:buChar char="•"/>
            </a:pPr>
            <a:r>
              <a:rPr lang="en-US" b="1"/>
              <a:t>--</a:t>
            </a:r>
            <a:r>
              <a:rPr lang="en-US"/>
              <a:t> (dấu gạch ngang kép)</a:t>
            </a:r>
          </a:p>
          <a:p>
            <a:pPr marL="628650" lvl="1" indent="-171450">
              <a:buFont typeface="Arial" panose="020B0604020202020204" pitchFamily="34" charset="0"/>
              <a:buChar char="•"/>
            </a:pPr>
            <a:r>
              <a:rPr lang="vi-VN" b="1"/>
              <a:t>/* ... */ </a:t>
            </a:r>
            <a:r>
              <a:rPr lang="vi-VN"/>
              <a:t>(các cặp ký tự dấu gạch chéo về phía trước)</a:t>
            </a:r>
            <a:endParaRPr lang="en-US"/>
          </a:p>
        </p:txBody>
      </p:sp>
      <p:sp>
        <p:nvSpPr>
          <p:cNvPr id="4" name="Slide Number Placeholder 3"/>
          <p:cNvSpPr>
            <a:spLocks noGrp="1"/>
          </p:cNvSpPr>
          <p:nvPr>
            <p:ph type="sldNum" sz="quarter" idx="5"/>
          </p:nvPr>
        </p:nvSpPr>
        <p:spPr/>
        <p:txBody>
          <a:bodyPr/>
          <a:lstStyle/>
          <a:p>
            <a:fld id="{690088EC-74C6-4CF8-982A-0858CE5A1564}" type="slidenum">
              <a:rPr lang="en-US" smtClean="0"/>
              <a:t>21</a:t>
            </a:fld>
            <a:endParaRPr lang="en-US"/>
          </a:p>
        </p:txBody>
      </p:sp>
    </p:spTree>
    <p:extLst>
      <p:ext uri="{BB962C8B-B14F-4D97-AF65-F5344CB8AC3E}">
        <p14:creationId xmlns:p14="http://schemas.microsoft.com/office/powerpoint/2010/main" val="2132851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a:t>Phân tách một Batch</a:t>
            </a:r>
          </a:p>
          <a:p>
            <a:pPr marL="171450" indent="-171450">
              <a:buFont typeface="Arial" panose="020B0604020202020204" pitchFamily="34" charset="0"/>
              <a:buChar char="•"/>
            </a:pPr>
            <a:r>
              <a:rPr lang="en-US" b="0"/>
              <a:t>Batch</a:t>
            </a:r>
            <a:r>
              <a:rPr lang="vi-VN"/>
              <a:t> là một tập hợp của một hoặc nhiều câu lệnh </a:t>
            </a:r>
            <a:r>
              <a:rPr lang="vi-VN" b="0"/>
              <a:t>Transact-SQL</a:t>
            </a:r>
            <a:r>
              <a:rPr lang="vi-VN"/>
              <a:t> được gửi cùng một lúc từ một ứng dụng sang </a:t>
            </a:r>
            <a:r>
              <a:rPr lang="vi-VN" b="0"/>
              <a:t>SQL Server </a:t>
            </a:r>
            <a:r>
              <a:rPr lang="vi-VN"/>
              <a:t>để thực thi.</a:t>
            </a:r>
            <a:endParaRPr lang="en-US"/>
          </a:p>
          <a:p>
            <a:pPr marL="171450" indent="-171450">
              <a:buFont typeface="Arial" panose="020B0604020202020204" pitchFamily="34" charset="0"/>
              <a:buChar char="•"/>
            </a:pPr>
            <a:r>
              <a:rPr lang="vi-VN"/>
              <a:t>Các câu lệnh </a:t>
            </a:r>
            <a:r>
              <a:rPr lang="vi-VN" b="0"/>
              <a:t>T-SQL</a:t>
            </a:r>
            <a:r>
              <a:rPr lang="vi-VN"/>
              <a:t> trong một </a:t>
            </a:r>
            <a:r>
              <a:rPr lang="en-US" b="0"/>
              <a:t>Batch</a:t>
            </a:r>
            <a:r>
              <a:rPr lang="vi-VN"/>
              <a:t> được biên dịch thành một đơn vị thực thi duy nhất, được gọi là </a:t>
            </a:r>
            <a:r>
              <a:rPr lang="en-US"/>
              <a:t>kế hoạch</a:t>
            </a:r>
            <a:r>
              <a:rPr lang="vi-VN"/>
              <a:t> thực thi.</a:t>
            </a:r>
            <a:endParaRPr lang="en-US"/>
          </a:p>
          <a:p>
            <a:pPr marL="171450" indent="-171450">
              <a:buFont typeface="Arial" panose="020B0604020202020204" pitchFamily="34" charset="0"/>
              <a:buChar char="•"/>
            </a:pPr>
            <a:r>
              <a:rPr lang="vi-VN"/>
              <a:t>Quá trình trong đó một tập hợp các lệnh được xử lý cùng một lúc từ một </a:t>
            </a:r>
            <a:r>
              <a:rPr lang="en-US" b="0"/>
              <a:t>Batch</a:t>
            </a:r>
            <a:r>
              <a:rPr lang="vi-VN"/>
              <a:t> các lệnh được gọi là </a:t>
            </a:r>
            <a:r>
              <a:rPr lang="en-US"/>
              <a:t>x</a:t>
            </a:r>
            <a:r>
              <a:rPr lang="vi-VN"/>
              <a:t>ử lý hàng loạt</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Phân tách một Batch </a:t>
            </a:r>
            <a:r>
              <a:rPr lang="vi-VN"/>
              <a:t>được xử lý bởi các công cụ máy khách SQL Server như SSMS để thực thi các lệnh. Ví dụ: bạn cần chỉ định GO như một </a:t>
            </a:r>
            <a:r>
              <a:rPr lang="en-US" b="0"/>
              <a:t>phân tách một Batch </a:t>
            </a:r>
            <a:r>
              <a:rPr lang="vi-VN"/>
              <a:t>trong SSMS.</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Một ví dụ về một câu lệnh Batch được đưa ra trong đoạn mã sau:</a:t>
            </a:r>
            <a:endParaRPr lang="en-US"/>
          </a:p>
          <a:p>
            <a:pPr lvl="1">
              <a:lnSpc>
                <a:spcPct val="100000"/>
              </a:lnSpc>
              <a:spcBef>
                <a:spcPts val="0"/>
              </a:spcBef>
            </a:pPr>
            <a:r>
              <a:rPr lang="en-US" b="1"/>
              <a:t>USE AdventureWorks2019</a:t>
            </a:r>
          </a:p>
          <a:p>
            <a:pPr lvl="1">
              <a:lnSpc>
                <a:spcPct val="100000"/>
              </a:lnSpc>
              <a:spcBef>
                <a:spcPts val="0"/>
              </a:spcBef>
            </a:pPr>
            <a:r>
              <a:rPr lang="en-US" b="1"/>
              <a:t>SELECT * FROM HumanResources.Employee</a:t>
            </a:r>
          </a:p>
          <a:p>
            <a:pPr lvl="1">
              <a:lnSpc>
                <a:spcPct val="100000"/>
              </a:lnSpc>
              <a:spcBef>
                <a:spcPts val="0"/>
              </a:spcBef>
            </a:pPr>
            <a:r>
              <a:rPr lang="en-US" b="1"/>
              <a:t>GO</a:t>
            </a:r>
          </a:p>
        </p:txBody>
      </p:sp>
      <p:sp>
        <p:nvSpPr>
          <p:cNvPr id="4" name="Slide Number Placeholder 3"/>
          <p:cNvSpPr>
            <a:spLocks noGrp="1"/>
          </p:cNvSpPr>
          <p:nvPr>
            <p:ph type="sldNum" sz="quarter" idx="5"/>
          </p:nvPr>
        </p:nvSpPr>
        <p:spPr/>
        <p:txBody>
          <a:bodyPr/>
          <a:lstStyle/>
          <a:p>
            <a:fld id="{690088EC-74C6-4CF8-982A-0858CE5A1564}" type="slidenum">
              <a:rPr lang="en-US" smtClean="0"/>
              <a:t>22</a:t>
            </a:fld>
            <a:endParaRPr lang="en-US"/>
          </a:p>
        </p:txBody>
      </p:sp>
    </p:spTree>
    <p:extLst>
      <p:ext uri="{BB962C8B-B14F-4D97-AF65-F5344CB8AC3E}">
        <p14:creationId xmlns:p14="http://schemas.microsoft.com/office/powerpoint/2010/main" val="2883803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Bộ và Logic định tính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Bộ và </a:t>
            </a:r>
            <a:r>
              <a:rPr lang="en-US" b="0"/>
              <a:t>Logic định tính </a:t>
            </a:r>
            <a:r>
              <a:rPr lang="vi-VN" b="0"/>
              <a:t>là hai nguyên tắc cơ bản toán học được sử dụng trong SQL Server 2019.</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Cả hai lý thuyết này đều được sử dụng trong việc truy vấn dữ liệu trong SQL Server 2019.</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23</a:t>
            </a:fld>
            <a:endParaRPr lang="en-US"/>
          </a:p>
        </p:txBody>
      </p:sp>
    </p:spTree>
    <p:extLst>
      <p:ext uri="{BB962C8B-B14F-4D97-AF65-F5344CB8AC3E}">
        <p14:creationId xmlns:p14="http://schemas.microsoft.com/office/powerpoint/2010/main" val="2115234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Lý thuyết về Bộ</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Lý thuyết về bộ </a:t>
            </a:r>
            <a:r>
              <a:rPr lang="vi-VN" b="0"/>
              <a:t>là một nền tảng toán học được sử dụng trong mô hình cơ sở dữ liệu quan hệ.</a:t>
            </a:r>
            <a:r>
              <a:rPr lang="en-US" b="0"/>
              <a:t> </a:t>
            </a:r>
            <a:r>
              <a:rPr lang="vi-VN" b="0"/>
              <a:t>Một bộ là một tập hợp các đối tượng riêng biệt được coi là toàn bộ</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Ví dụ, tất cả các nhân viên </a:t>
            </a:r>
            <a:r>
              <a:rPr lang="en-US" b="0"/>
              <a:t>trong</a:t>
            </a:r>
            <a:r>
              <a:rPr lang="vi-VN" b="0"/>
              <a:t> một bảng </a:t>
            </a:r>
            <a:r>
              <a:rPr lang="en-US" sz="1200" spc="-55">
                <a:solidFill>
                  <a:srgbClr val="FFFFFF"/>
                </a:solidFill>
                <a:latin typeface="Arial"/>
                <a:cs typeface="Arial"/>
              </a:rPr>
              <a:t>Employee </a:t>
            </a:r>
            <a:r>
              <a:rPr lang="vi-VN" b="0"/>
              <a:t>có thể được coi là một bộ.</a:t>
            </a:r>
            <a:r>
              <a:rPr lang="en-US" b="0"/>
              <a:t> </a:t>
            </a:r>
            <a:r>
              <a:rPr lang="vi-VN" b="0"/>
              <a:t>Nhân viên là những đối tượng khác nhau tạo thành một phần của bộ trong bảng </a:t>
            </a:r>
            <a:r>
              <a:rPr lang="en-US" sz="1200" spc="-55">
                <a:solidFill>
                  <a:srgbClr val="FFFFFF"/>
                </a:solidFill>
                <a:latin typeface="Arial"/>
                <a:cs typeface="Arial"/>
              </a:rPr>
              <a:t>Employee</a:t>
            </a:r>
            <a:r>
              <a:rPr lang="vi-VN" b="0"/>
              <a:t>.</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Bảng sau đây hiển thị các ứng dụng khác nhau trong Lý thuyết </a:t>
            </a:r>
            <a:r>
              <a:rPr lang="en-US" b="0"/>
              <a:t>về bộ </a:t>
            </a:r>
            <a:r>
              <a:rPr lang="vi-VN" b="0"/>
              <a:t>và ứng dụng tương ứng của chúng trong các truy vấn SQL Server.</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Hành động trên toàn bộ cùng một lúc</a:t>
            </a:r>
            <a:r>
              <a:rPr lang="en-US" b="0"/>
              <a:t>: Truy vấn toàn bộ bảng cùng một lúc</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Sử dụng xử lý khai báo, dựa trên thiết lập</a:t>
            </a:r>
            <a:r>
              <a:rPr lang="en-US" b="0"/>
              <a:t>: Sử dụng các thuộc tính trong SQL Server để truy xuất dữ liệu cụ thể</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Các phần tử trong tập hợp phải là duy nhất</a:t>
            </a:r>
            <a:r>
              <a:rPr lang="en-US" b="0"/>
              <a:t>: Định nghĩa các khóa duy nhất trong bảng.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1"/>
              <a:t>Không có hướng dẫn sắp xếp</a:t>
            </a:r>
            <a:r>
              <a:rPr lang="en-US" b="0"/>
              <a:t>: </a:t>
            </a:r>
            <a:r>
              <a:rPr lang="vi-VN" b="0"/>
              <a:t>Kết quả truy vấn không được truy xuất theo bất kỳ thứ tự nào.</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24</a:t>
            </a:fld>
            <a:endParaRPr lang="en-US"/>
          </a:p>
        </p:txBody>
      </p:sp>
    </p:spTree>
    <p:extLst>
      <p:ext uri="{BB962C8B-B14F-4D97-AF65-F5344CB8AC3E}">
        <p14:creationId xmlns:p14="http://schemas.microsoft.com/office/powerpoint/2010/main" val="3197940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Logic định tính</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Logic định tính là một khung toán học bao gồm các bài kiểm tra logic mang lại kết quả, đúng hoặc sai.</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Một số ứng dụng của </a:t>
            </a:r>
            <a:r>
              <a:rPr lang="en-US" b="0"/>
              <a:t>logic định tính </a:t>
            </a:r>
            <a:r>
              <a:rPr lang="vi-VN" b="0"/>
              <a:t>trong Transact-SQL như sau:</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Thực thi tính toàn vẹn dữ liệu bằng cách sử dụng ràng buộc </a:t>
            </a:r>
            <a:r>
              <a:rPr lang="en-US" sz="1200" b="1">
                <a:latin typeface="Courier New" pitchFamily="49" charset="0"/>
                <a:cs typeface="Courier New" pitchFamily="49" charset="0"/>
              </a:rPr>
              <a:t>CHECK</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Kiểm soát dòng chảy bằng cách sử dụng câu lệnh </a:t>
            </a:r>
            <a:r>
              <a:rPr lang="en-US" b="1"/>
              <a:t>IF</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Tham gia các bảng bằng cách sử dụng bộ lọc </a:t>
            </a:r>
            <a:r>
              <a:rPr lang="en-US" b="1"/>
              <a:t>ON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Lọc dữ liệu trong các truy vấn bằng cách sử dụng mệnh đề </a:t>
            </a:r>
            <a:r>
              <a:rPr lang="en-US" sz="1200" b="1">
                <a:latin typeface="Courier New" pitchFamily="49" charset="0"/>
                <a:cs typeface="Courier New" pitchFamily="49" charset="0"/>
              </a:rPr>
              <a:t>WHERE</a:t>
            </a:r>
            <a:r>
              <a:rPr lang="en-US" sz="1200" b="0">
                <a:latin typeface="Courier New" pitchFamily="49" charset="0"/>
                <a:cs typeface="Courier New" pitchFamily="49" charset="0"/>
              </a:rPr>
              <a:t> </a:t>
            </a:r>
            <a:r>
              <a:rPr lang="en-US" b="0"/>
              <a:t>và </a:t>
            </a:r>
            <a:r>
              <a:rPr lang="en-US" sz="1200" b="1">
                <a:latin typeface="Courier New" pitchFamily="49" charset="0"/>
                <a:cs typeface="Courier New" pitchFamily="49" charset="0"/>
              </a:rPr>
              <a:t>HAVING</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a:t>Cung cấp logic có điều kiện để thực hiện </a:t>
            </a:r>
            <a:r>
              <a:rPr lang="en-US"/>
              <a:t>biểu thức </a:t>
            </a:r>
            <a:r>
              <a:rPr lang="en-US" b="1"/>
              <a:t>CASE</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Định nghĩa các truy vấn con</a:t>
            </a:r>
          </a:p>
        </p:txBody>
      </p:sp>
      <p:sp>
        <p:nvSpPr>
          <p:cNvPr id="4" name="Slide Number Placeholder 3"/>
          <p:cNvSpPr>
            <a:spLocks noGrp="1"/>
          </p:cNvSpPr>
          <p:nvPr>
            <p:ph type="sldNum" sz="quarter" idx="5"/>
          </p:nvPr>
        </p:nvSpPr>
        <p:spPr/>
        <p:txBody>
          <a:bodyPr/>
          <a:lstStyle/>
          <a:p>
            <a:fld id="{690088EC-74C6-4CF8-982A-0858CE5A1564}" type="slidenum">
              <a:rPr lang="en-US" smtClean="0"/>
              <a:t>25</a:t>
            </a:fld>
            <a:endParaRPr lang="en-US"/>
          </a:p>
        </p:txBody>
      </p:sp>
    </p:spTree>
    <p:extLst>
      <p:ext uri="{BB962C8B-B14F-4D97-AF65-F5344CB8AC3E}">
        <p14:creationId xmlns:p14="http://schemas.microsoft.com/office/powerpoint/2010/main" val="9397301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Thứ tự hợp lý của các toán tử trong câu lệnh SELECT 1-3</a:t>
            </a:r>
          </a:p>
          <a:p>
            <a:pPr marL="171450" indent="-171450">
              <a:buFont typeface="Arial" panose="020B0604020202020204" pitchFamily="34" charset="0"/>
              <a:buChar char="•"/>
            </a:pPr>
            <a:r>
              <a:rPr lang="vi-VN" b="0"/>
              <a:t>Cùng với cú pháp khác nhau</a:t>
            </a:r>
            <a:r>
              <a:rPr lang="en-US" b="0"/>
              <a:t> </a:t>
            </a:r>
            <a:r>
              <a:rPr lang="vi-VN" b="0"/>
              <a:t>của các </a:t>
            </a:r>
            <a:r>
              <a:rPr lang="en-US" b="0"/>
              <a:t>phần tử </a:t>
            </a:r>
            <a:r>
              <a:rPr lang="vi-VN" b="0"/>
              <a:t>SQL Server, người dùng SQL Server cũng phải biết quy trình của toàn bộ truy vấn được thực thi.</a:t>
            </a:r>
          </a:p>
          <a:p>
            <a:pPr marL="171450" indent="-171450">
              <a:buFont typeface="Arial" panose="020B0604020202020204" pitchFamily="34" charset="0"/>
              <a:buChar char="•"/>
            </a:pPr>
            <a:r>
              <a:rPr lang="vi-VN" b="0"/>
              <a:t>Quá trình này là một quy trình logic phá vỡ truy vấn và thực thi truy vấn theo trình tự được xác định trước trong SQL Server 201</a:t>
            </a:r>
            <a:r>
              <a:rPr lang="en-US" b="0"/>
              <a:t>9</a:t>
            </a:r>
            <a:r>
              <a:rPr lang="vi-VN" b="0"/>
              <a:t>.</a:t>
            </a:r>
          </a:p>
          <a:p>
            <a:pPr marL="171450" indent="-171450">
              <a:buFont typeface="Arial" panose="020B0604020202020204" pitchFamily="34" charset="0"/>
              <a:buChar char="•"/>
            </a:pPr>
            <a:r>
              <a:rPr lang="vi-VN" b="0"/>
              <a:t>Câu lệnh </a:t>
            </a:r>
            <a:r>
              <a:rPr lang="en-US" b="0"/>
              <a:t>SELECT</a:t>
            </a:r>
            <a:r>
              <a:rPr lang="vi-VN" b="0"/>
              <a:t> là một truy vấn sẽ được sử dụng để giải thích quá trình hợp lý của việc thực thi truy vấn.</a:t>
            </a:r>
          </a:p>
          <a:p>
            <a:pPr marL="171450" indent="-171450">
              <a:buFont typeface="Arial" panose="020B0604020202020204" pitchFamily="34" charset="0"/>
              <a:buChar char="•"/>
            </a:pPr>
            <a:r>
              <a:rPr lang="vi-VN" b="0"/>
              <a:t>Cú pháp của câu lệnh SELECT như sau:</a:t>
            </a:r>
            <a:endParaRPr lang="en-US" b="0"/>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kern="1200" baseline="0">
                <a:solidFill>
                  <a:schemeClr val="dk1"/>
                </a:solidFill>
                <a:latin typeface="Arial" pitchFamily="34" charset="0"/>
                <a:ea typeface="+mn-ea"/>
                <a:cs typeface="Arial" pitchFamily="34" charset="0"/>
              </a:rPr>
              <a:t>SELECT &lt;select list&gt;</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Xác định các cột được trả về</a:t>
            </a:r>
            <a:endParaRPr lang="en-US" sz="1200" b="0" kern="1200" baseline="0">
              <a:solidFill>
                <a:schemeClr val="dk1"/>
              </a:solidFill>
              <a:latin typeface="Arial" pitchFamily="34" charset="0"/>
              <a:ea typeface="+mn-ea"/>
              <a:cs typeface="Arial" pitchFamily="34" charset="0"/>
            </a:endParaRP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kern="1200" baseline="0">
                <a:solidFill>
                  <a:schemeClr val="dk1"/>
                </a:solidFill>
                <a:latin typeface="Arial" pitchFamily="34" charset="0"/>
                <a:ea typeface="+mn-ea"/>
                <a:cs typeface="Arial" pitchFamily="34" charset="0"/>
              </a:rPr>
              <a:t>FROM &lt;table source&gt;</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Xác định bảng được truy vấn</a:t>
            </a:r>
            <a:endParaRPr lang="en-US" sz="1200" b="0" kern="1200" baseline="0">
              <a:solidFill>
                <a:schemeClr val="dk1"/>
              </a:solidFill>
              <a:latin typeface="Arial" pitchFamily="34" charset="0"/>
              <a:ea typeface="+mn-ea"/>
              <a:cs typeface="Arial" pitchFamily="34" charset="0"/>
            </a:endParaRP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kern="1200" baseline="0">
                <a:solidFill>
                  <a:schemeClr val="dk1"/>
                </a:solidFill>
                <a:latin typeface="Arial" pitchFamily="34" charset="0"/>
                <a:ea typeface="+mn-ea"/>
                <a:cs typeface="Arial" pitchFamily="34" charset="0"/>
              </a:rPr>
              <a:t>WHERE &lt;search condition&gt;</a:t>
            </a:r>
            <a:r>
              <a:rPr lang="en-US" sz="1200" b="0" kern="1200" baseline="0">
                <a:solidFill>
                  <a:schemeClr val="dk1"/>
                </a:solidFill>
                <a:latin typeface="Arial" pitchFamily="34" charset="0"/>
                <a:ea typeface="+mn-ea"/>
                <a:cs typeface="Arial" pitchFamily="34" charset="0"/>
              </a:rPr>
              <a:t>: Lọc các hàng bằng cách sử dụng các vị từ</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kern="1200" baseline="0">
                <a:solidFill>
                  <a:schemeClr val="dk1"/>
                </a:solidFill>
                <a:latin typeface="Arial" pitchFamily="34" charset="0"/>
                <a:ea typeface="+mn-ea"/>
                <a:cs typeface="Arial" pitchFamily="34" charset="0"/>
              </a:rPr>
              <a:t>GROUP BY &lt;group by list&gt;</a:t>
            </a:r>
            <a:r>
              <a:rPr lang="en-US" sz="1200" b="0" kern="1200" baseline="0">
                <a:solidFill>
                  <a:schemeClr val="dk1"/>
                </a:solidFill>
                <a:latin typeface="Arial" pitchFamily="34" charset="0"/>
                <a:ea typeface="+mn-ea"/>
                <a:cs typeface="Arial" pitchFamily="34" charset="0"/>
              </a:rPr>
              <a:t>: Sắp xếp các hàng theo nhóm</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kern="1200" baseline="0">
                <a:solidFill>
                  <a:schemeClr val="dk1"/>
                </a:solidFill>
                <a:latin typeface="Arial" pitchFamily="34" charset="0"/>
                <a:ea typeface="+mn-ea"/>
                <a:cs typeface="Arial" pitchFamily="34" charset="0"/>
              </a:rPr>
              <a:t>HAVING &lt;search condition&gt;</a:t>
            </a:r>
            <a:r>
              <a:rPr lang="en-US" sz="1200" b="0" kern="1200" baseline="0">
                <a:solidFill>
                  <a:schemeClr val="dk1"/>
                </a:solidFill>
                <a:latin typeface="Arial" pitchFamily="34" charset="0"/>
                <a:ea typeface="+mn-ea"/>
                <a:cs typeface="Arial" pitchFamily="34" charset="0"/>
              </a:rPr>
              <a:t>: Lọc các nhóm bằng cách sử dụng các vị từ</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kern="1200" baseline="0">
                <a:solidFill>
                  <a:schemeClr val="dk1"/>
                </a:solidFill>
                <a:latin typeface="Arial" pitchFamily="34" charset="0"/>
                <a:ea typeface="+mn-ea"/>
                <a:cs typeface="Arial" pitchFamily="34" charset="0"/>
              </a:rPr>
              <a:t>ORDER BY &lt;order by list&gt;</a:t>
            </a:r>
            <a:r>
              <a:rPr lang="en-US" sz="1200" b="0" kern="1200" baseline="0">
                <a:solidFill>
                  <a:schemeClr val="dk1"/>
                </a:solidFill>
                <a:latin typeface="Arial" pitchFamily="34" charset="0"/>
                <a:ea typeface="+mn-ea"/>
                <a:cs typeface="Arial" pitchFamily="34" charset="0"/>
              </a:rPr>
              <a:t>: Sắp xếp đầu ra</a:t>
            </a:r>
          </a:p>
        </p:txBody>
      </p:sp>
      <p:sp>
        <p:nvSpPr>
          <p:cNvPr id="4" name="Slide Number Placeholder 3"/>
          <p:cNvSpPr>
            <a:spLocks noGrp="1"/>
          </p:cNvSpPr>
          <p:nvPr>
            <p:ph type="sldNum" sz="quarter" idx="5"/>
          </p:nvPr>
        </p:nvSpPr>
        <p:spPr/>
        <p:txBody>
          <a:bodyPr/>
          <a:lstStyle/>
          <a:p>
            <a:fld id="{690088EC-74C6-4CF8-982A-0858CE5A1564}" type="slidenum">
              <a:rPr lang="en-US" smtClean="0"/>
              <a:t>26</a:t>
            </a:fld>
            <a:endParaRPr lang="en-US"/>
          </a:p>
        </p:txBody>
      </p:sp>
    </p:spTree>
    <p:extLst>
      <p:ext uri="{BB962C8B-B14F-4D97-AF65-F5344CB8AC3E}">
        <p14:creationId xmlns:p14="http://schemas.microsoft.com/office/powerpoint/2010/main" val="55666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Thứ tự hợp lý của các toán tử trong câu lệnh SELECT 2-3</a:t>
            </a:r>
          </a:p>
          <a:p>
            <a:pPr marL="171450" indent="-171450">
              <a:buFont typeface="Arial" panose="020B0604020202020204" pitchFamily="34" charset="0"/>
              <a:buChar char="•"/>
            </a:pPr>
            <a:r>
              <a:rPr lang="vi-VN"/>
              <a:t>Trong ví dụ, thứ tự trong đó SQL Server sẽ thực thi câu lệnh </a:t>
            </a:r>
            <a:r>
              <a:rPr lang="vi-VN" b="1"/>
              <a:t>SELECT</a:t>
            </a:r>
            <a:r>
              <a:rPr lang="vi-VN"/>
              <a:t> như sau:</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a:t>Đầu tiên, mệnh đề </a:t>
            </a:r>
            <a:r>
              <a:rPr lang="en-US" sz="1200" b="1">
                <a:latin typeface="Courier New" pitchFamily="49" charset="0"/>
                <a:cs typeface="Courier New" pitchFamily="49" charset="0"/>
              </a:rPr>
              <a:t>FROM</a:t>
            </a:r>
            <a:r>
              <a:rPr lang="vi-VN"/>
              <a:t> được đánh giá để xác định bảng nguồn sẽ được truy vấn.</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a:t>Tiếp theo, mệnh đề </a:t>
            </a:r>
            <a:r>
              <a:rPr lang="vi-VN" b="1"/>
              <a:t>WHERE</a:t>
            </a:r>
            <a:r>
              <a:rPr lang="vi-VN"/>
              <a:t> được đánh giá để lọc các hàng trong bảng nguồn.</a:t>
            </a:r>
            <a:r>
              <a:rPr lang="en-US"/>
              <a:t> </a:t>
            </a:r>
            <a:br>
              <a:rPr lang="en-US"/>
            </a:br>
            <a:r>
              <a:rPr lang="vi-VN"/>
              <a:t>Lọc này được xác định bởi vị ngữ được đề cập trong mệnh đề </a:t>
            </a:r>
            <a:r>
              <a:rPr lang="vi-VN" b="1"/>
              <a:t>WHERE</a:t>
            </a:r>
            <a:r>
              <a:rPr lang="vi-VN"/>
              <a:t>.</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a:t>Sau đó, mệnh đề </a:t>
            </a:r>
            <a:r>
              <a:rPr lang="en-US" sz="1200" b="1">
                <a:latin typeface="Courier New" pitchFamily="49" charset="0"/>
                <a:cs typeface="Courier New" pitchFamily="49" charset="0"/>
              </a:rPr>
              <a:t>GROUP BY </a:t>
            </a:r>
            <a:r>
              <a:rPr lang="vi-VN"/>
              <a:t>được đánh giá.</a:t>
            </a:r>
            <a:br>
              <a:rPr lang="en-US"/>
            </a:br>
            <a:r>
              <a:rPr lang="vi-VN"/>
              <a:t>Mệnh đề này sắp xếp các giá trị được lọc nhận được từ mệnh đề </a:t>
            </a:r>
            <a:r>
              <a:rPr lang="vi-VN" b="1"/>
              <a:t>WHERE</a:t>
            </a:r>
            <a:r>
              <a:rPr lang="vi-VN"/>
              <a:t>.</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a:t>Tiếp theo, mệnh đề </a:t>
            </a:r>
            <a:r>
              <a:rPr lang="en-US" sz="1200" b="1">
                <a:latin typeface="Courier New" pitchFamily="49" charset="0"/>
                <a:cs typeface="Courier New" pitchFamily="49" charset="0"/>
              </a:rPr>
              <a:t>HAVING</a:t>
            </a:r>
            <a:r>
              <a:rPr lang="vi-VN"/>
              <a:t> được đánh giá dựa trên vị từ được cung cấp.</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a:t>Tiếp theo, mệnh đề </a:t>
            </a:r>
            <a:r>
              <a:rPr lang="vi-VN" b="1"/>
              <a:t>SELEC</a:t>
            </a:r>
            <a:r>
              <a:rPr lang="en-US" b="1"/>
              <a:t>T</a:t>
            </a:r>
            <a:r>
              <a:rPr lang="vi-VN" b="1"/>
              <a:t> </a:t>
            </a:r>
            <a:r>
              <a:rPr lang="vi-VN"/>
              <a:t>được thực thi để xác định các cột sẽ xuất hiện trong kết quả truy vấn.</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a:t>Cuối cùng, </a:t>
            </a:r>
            <a:r>
              <a:rPr lang="en-US"/>
              <a:t>mệnh đề</a:t>
            </a:r>
            <a:r>
              <a:rPr lang="vi-VN"/>
              <a:t> </a:t>
            </a:r>
            <a:r>
              <a:rPr lang="en-US" sz="1200" b="1">
                <a:latin typeface="Courier New" pitchFamily="49" charset="0"/>
                <a:cs typeface="Courier New" pitchFamily="49" charset="0"/>
              </a:rPr>
              <a:t>ORDER BY </a:t>
            </a:r>
            <a:r>
              <a:rPr lang="en-US"/>
              <a:t>sắp xếp và </a:t>
            </a:r>
            <a:r>
              <a:rPr lang="vi-VN"/>
              <a:t>hiển thị đầu ra.</a:t>
            </a:r>
            <a:endParaRPr lang="en-US"/>
          </a:p>
        </p:txBody>
      </p:sp>
      <p:sp>
        <p:nvSpPr>
          <p:cNvPr id="4" name="Slide Number Placeholder 3"/>
          <p:cNvSpPr>
            <a:spLocks noGrp="1"/>
          </p:cNvSpPr>
          <p:nvPr>
            <p:ph type="sldNum" sz="quarter" idx="5"/>
          </p:nvPr>
        </p:nvSpPr>
        <p:spPr/>
        <p:txBody>
          <a:bodyPr/>
          <a:lstStyle/>
          <a:p>
            <a:fld id="{690088EC-74C6-4CF8-982A-0858CE5A1564}" type="slidenum">
              <a:rPr lang="en-US" smtClean="0"/>
              <a:t>27</a:t>
            </a:fld>
            <a:endParaRPr lang="en-US"/>
          </a:p>
        </p:txBody>
      </p:sp>
    </p:spTree>
    <p:extLst>
      <p:ext uri="{BB962C8B-B14F-4D97-AF65-F5344CB8AC3E}">
        <p14:creationId xmlns:p14="http://schemas.microsoft.com/office/powerpoint/2010/main" val="26115225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Thứ tự hợp lý của các toán tử trong câu lệnh SELECT 3-3</a:t>
            </a:r>
          </a:p>
          <a:p>
            <a:pPr marL="12066" indent="0">
              <a:lnSpc>
                <a:spcPts val="2280"/>
              </a:lnSpc>
              <a:buNone/>
              <a:tabLst>
                <a:tab pos="217804" algn="l"/>
              </a:tabLst>
            </a:pPr>
            <a:r>
              <a:rPr lang="en-US" sz="2000" spc="5">
                <a:solidFill>
                  <a:srgbClr val="FFFFFF"/>
                </a:solidFill>
                <a:latin typeface="Arial"/>
                <a:cs typeface="Arial"/>
              </a:rPr>
              <a:t> 5.  SELECT</a:t>
            </a:r>
            <a:r>
              <a:rPr lang="en-US" sz="2000" spc="-140">
                <a:solidFill>
                  <a:srgbClr val="FFFFFF"/>
                </a:solidFill>
                <a:latin typeface="Arial"/>
                <a:cs typeface="Arial"/>
              </a:rPr>
              <a:t> </a:t>
            </a:r>
            <a:r>
              <a:rPr lang="en-US" sz="2000" spc="-65">
                <a:solidFill>
                  <a:srgbClr val="FFFFFF"/>
                </a:solidFill>
                <a:latin typeface="Arial"/>
                <a:cs typeface="Arial"/>
              </a:rPr>
              <a:t>SalesPersonID,</a:t>
            </a:r>
            <a:r>
              <a:rPr lang="en-US" sz="2000" spc="-110">
                <a:solidFill>
                  <a:srgbClr val="FFFFFF"/>
                </a:solidFill>
                <a:latin typeface="Arial"/>
                <a:cs typeface="Arial"/>
              </a:rPr>
              <a:t> </a:t>
            </a:r>
            <a:r>
              <a:rPr lang="en-US" sz="2000" spc="15">
                <a:solidFill>
                  <a:srgbClr val="FFFFFF"/>
                </a:solidFill>
                <a:latin typeface="Arial"/>
                <a:cs typeface="Arial"/>
              </a:rPr>
              <a:t>YEAR(OrderDate)</a:t>
            </a:r>
            <a:r>
              <a:rPr lang="en-US" sz="2000" spc="-100">
                <a:solidFill>
                  <a:srgbClr val="FFFFFF"/>
                </a:solidFill>
                <a:latin typeface="Arial"/>
                <a:cs typeface="Arial"/>
              </a:rPr>
              <a:t> </a:t>
            </a:r>
            <a:r>
              <a:rPr lang="en-US" sz="2000" spc="70">
                <a:solidFill>
                  <a:srgbClr val="FFFFFF"/>
                </a:solidFill>
                <a:latin typeface="Arial"/>
                <a:cs typeface="Arial"/>
              </a:rPr>
              <a:t>AS</a:t>
            </a:r>
            <a:r>
              <a:rPr lang="en-US" sz="2000" spc="-135">
                <a:solidFill>
                  <a:srgbClr val="FFFFFF"/>
                </a:solidFill>
                <a:latin typeface="Arial"/>
                <a:cs typeface="Arial"/>
              </a:rPr>
              <a:t> </a:t>
            </a:r>
            <a:r>
              <a:rPr lang="en-US" sz="2000" spc="-10">
                <a:solidFill>
                  <a:srgbClr val="FFFFFF"/>
                </a:solidFill>
                <a:latin typeface="Arial"/>
                <a:cs typeface="Arial"/>
              </a:rPr>
              <a:t>OrderYear</a:t>
            </a:r>
            <a:endParaRPr lang="en-US" sz="2000" spc="0">
              <a:solidFill>
                <a:schemeClr val="tx1"/>
              </a:solidFill>
              <a:latin typeface="Arial"/>
              <a:cs typeface="Arial"/>
            </a:endParaRPr>
          </a:p>
          <a:p>
            <a:pPr marL="12066" indent="0">
              <a:lnSpc>
                <a:spcPts val="2280"/>
              </a:lnSpc>
              <a:buNone/>
              <a:tabLst>
                <a:tab pos="217804" algn="l"/>
              </a:tabLst>
            </a:pPr>
            <a:r>
              <a:rPr lang="en-US" sz="2000" spc="0">
                <a:solidFill>
                  <a:schemeClr val="tx1"/>
                </a:solidFill>
                <a:latin typeface="Arial"/>
                <a:cs typeface="Arial"/>
              </a:rPr>
              <a:t> 1.  </a:t>
            </a:r>
            <a:r>
              <a:rPr lang="en-US" sz="1800" spc="45">
                <a:solidFill>
                  <a:srgbClr val="FFFFFF"/>
                </a:solidFill>
                <a:latin typeface="Arial"/>
                <a:cs typeface="Arial"/>
              </a:rPr>
              <a:t>FROM</a:t>
            </a:r>
            <a:r>
              <a:rPr lang="en-US" sz="1800" spc="-125">
                <a:solidFill>
                  <a:srgbClr val="FFFFFF"/>
                </a:solidFill>
                <a:latin typeface="Arial"/>
                <a:cs typeface="Arial"/>
              </a:rPr>
              <a:t> </a:t>
            </a:r>
            <a:r>
              <a:rPr lang="en-US" sz="1800" spc="-45">
                <a:solidFill>
                  <a:srgbClr val="FFFFFF"/>
                </a:solidFill>
                <a:latin typeface="Arial"/>
                <a:cs typeface="Arial"/>
              </a:rPr>
              <a:t>SalesOrderHeader</a:t>
            </a:r>
            <a:endParaRPr lang="en-US" sz="1800">
              <a:latin typeface="Arial"/>
              <a:cs typeface="Arial"/>
            </a:endParaRPr>
          </a:p>
          <a:p>
            <a:pPr marL="60960" lvl="1" indent="0">
              <a:lnSpc>
                <a:spcPts val="1980"/>
              </a:lnSpc>
              <a:buNone/>
              <a:tabLst>
                <a:tab pos="274955" algn="l"/>
              </a:tabLst>
            </a:pPr>
            <a:r>
              <a:rPr lang="en-US" sz="1800" spc="35">
                <a:solidFill>
                  <a:srgbClr val="FFFFFF"/>
                </a:solidFill>
                <a:latin typeface="Arial"/>
                <a:cs typeface="Arial"/>
              </a:rPr>
              <a:t>2. WHERE </a:t>
            </a:r>
            <a:r>
              <a:rPr lang="en-US" sz="1800" spc="20">
                <a:solidFill>
                  <a:srgbClr val="FFFFFF"/>
                </a:solidFill>
                <a:latin typeface="Arial"/>
                <a:cs typeface="Arial"/>
              </a:rPr>
              <a:t>CustomerID</a:t>
            </a:r>
            <a:r>
              <a:rPr lang="en-US" sz="1800" spc="-290">
                <a:solidFill>
                  <a:srgbClr val="FFFFFF"/>
                </a:solidFill>
                <a:latin typeface="Arial"/>
                <a:cs typeface="Arial"/>
              </a:rPr>
              <a:t> </a:t>
            </a:r>
            <a:r>
              <a:rPr lang="en-US" sz="1800" spc="-105">
                <a:solidFill>
                  <a:srgbClr val="FFFFFF"/>
                </a:solidFill>
                <a:latin typeface="Arial"/>
                <a:cs typeface="Arial"/>
              </a:rPr>
              <a:t>= </a:t>
            </a:r>
            <a:r>
              <a:rPr lang="en-US" sz="1800" spc="-114">
                <a:solidFill>
                  <a:srgbClr val="FFFFFF"/>
                </a:solidFill>
                <a:latin typeface="Arial"/>
                <a:cs typeface="Arial"/>
              </a:rPr>
              <a:t>30084</a:t>
            </a:r>
            <a:endParaRPr lang="en-US" sz="1800">
              <a:latin typeface="Arial"/>
              <a:cs typeface="Arial"/>
            </a:endParaRPr>
          </a:p>
          <a:p>
            <a:pPr marL="61595" lvl="1" indent="0">
              <a:lnSpc>
                <a:spcPts val="1945"/>
              </a:lnSpc>
              <a:buNone/>
              <a:tabLst>
                <a:tab pos="260350" algn="l"/>
              </a:tabLst>
            </a:pPr>
            <a:r>
              <a:rPr lang="en-US" sz="1800" spc="35">
                <a:solidFill>
                  <a:srgbClr val="FFFFFF"/>
                </a:solidFill>
                <a:latin typeface="Arial"/>
                <a:cs typeface="Arial"/>
              </a:rPr>
              <a:t>3. GROUP </a:t>
            </a:r>
            <a:r>
              <a:rPr lang="en-US" sz="1800" spc="5">
                <a:solidFill>
                  <a:srgbClr val="FFFFFF"/>
                </a:solidFill>
                <a:latin typeface="Arial"/>
                <a:cs typeface="Arial"/>
              </a:rPr>
              <a:t>BY</a:t>
            </a:r>
            <a:r>
              <a:rPr lang="en-US" sz="1800" spc="-330">
                <a:solidFill>
                  <a:srgbClr val="FFFFFF"/>
                </a:solidFill>
                <a:latin typeface="Arial"/>
                <a:cs typeface="Arial"/>
              </a:rPr>
              <a:t> </a:t>
            </a:r>
            <a:r>
              <a:rPr lang="en-US" sz="1800" spc="-60">
                <a:solidFill>
                  <a:srgbClr val="FFFFFF"/>
                </a:solidFill>
                <a:latin typeface="Arial"/>
                <a:cs typeface="Arial"/>
              </a:rPr>
              <a:t>SalesPersonID, </a:t>
            </a:r>
            <a:r>
              <a:rPr lang="en-US" sz="1800" spc="15">
                <a:solidFill>
                  <a:srgbClr val="FFFFFF"/>
                </a:solidFill>
                <a:latin typeface="Arial"/>
                <a:cs typeface="Arial"/>
              </a:rPr>
              <a:t>YEAR(OrderDate)</a:t>
            </a:r>
            <a:endParaRPr lang="en-US" sz="1800">
              <a:latin typeface="Arial"/>
              <a:cs typeface="Arial"/>
            </a:endParaRPr>
          </a:p>
          <a:p>
            <a:pPr marL="60960" lvl="1" indent="0">
              <a:lnSpc>
                <a:spcPts val="1945"/>
              </a:lnSpc>
              <a:buNone/>
              <a:tabLst>
                <a:tab pos="284480" algn="l"/>
              </a:tabLst>
            </a:pPr>
            <a:r>
              <a:rPr lang="en-US" sz="1800" spc="155">
                <a:solidFill>
                  <a:srgbClr val="FFFFFF"/>
                </a:solidFill>
                <a:latin typeface="Arial"/>
                <a:cs typeface="Arial"/>
              </a:rPr>
              <a:t>4. HAVING</a:t>
            </a:r>
            <a:r>
              <a:rPr lang="en-US" sz="1800" spc="-350">
                <a:solidFill>
                  <a:srgbClr val="FFFFFF"/>
                </a:solidFill>
                <a:latin typeface="Arial"/>
                <a:cs typeface="Arial"/>
              </a:rPr>
              <a:t> </a:t>
            </a:r>
            <a:r>
              <a:rPr lang="en-US" sz="1800" spc="100">
                <a:solidFill>
                  <a:srgbClr val="FFFFFF"/>
                </a:solidFill>
                <a:latin typeface="Arial"/>
                <a:cs typeface="Arial"/>
              </a:rPr>
              <a:t>COUNT(*) </a:t>
            </a:r>
            <a:r>
              <a:rPr lang="en-US" sz="1800" spc="-105">
                <a:solidFill>
                  <a:srgbClr val="FFFFFF"/>
                </a:solidFill>
                <a:latin typeface="Arial"/>
                <a:cs typeface="Arial"/>
              </a:rPr>
              <a:t>&gt; </a:t>
            </a:r>
            <a:r>
              <a:rPr lang="en-US" sz="1800" spc="-390">
                <a:solidFill>
                  <a:srgbClr val="FFFFFF"/>
                </a:solidFill>
                <a:latin typeface="Arial"/>
                <a:cs typeface="Arial"/>
              </a:rPr>
              <a:t>1</a:t>
            </a:r>
            <a:endParaRPr lang="en-US" sz="1800">
              <a:latin typeface="Arial"/>
              <a:cs typeface="Arial"/>
            </a:endParaRPr>
          </a:p>
          <a:p>
            <a:pPr marL="61594" indent="0" algn="l">
              <a:lnSpc>
                <a:spcPts val="2050"/>
              </a:lnSpc>
              <a:buFont typeface="+mj-lt"/>
              <a:buNone/>
              <a:tabLst>
                <a:tab pos="380365" algn="l"/>
              </a:tabLst>
            </a:pPr>
            <a:r>
              <a:rPr lang="en-US" sz="1800" spc="-80">
                <a:solidFill>
                  <a:srgbClr val="FFFFFF"/>
                </a:solidFill>
                <a:latin typeface="Arial"/>
                <a:cs typeface="Arial"/>
              </a:rPr>
              <a:t>6.   </a:t>
            </a:r>
            <a:r>
              <a:rPr lang="en-US" sz="1800" spc="25">
                <a:solidFill>
                  <a:srgbClr val="FFFFFF"/>
                </a:solidFill>
                <a:latin typeface="Arial"/>
                <a:cs typeface="Arial"/>
              </a:rPr>
              <a:t>ORDER </a:t>
            </a:r>
            <a:r>
              <a:rPr lang="en-US" sz="1800" spc="5">
                <a:solidFill>
                  <a:srgbClr val="FFFFFF"/>
                </a:solidFill>
                <a:latin typeface="Arial"/>
                <a:cs typeface="Arial"/>
              </a:rPr>
              <a:t>BY </a:t>
            </a:r>
            <a:r>
              <a:rPr lang="en-US" sz="1800" spc="-60">
                <a:solidFill>
                  <a:srgbClr val="FFFFFF"/>
                </a:solidFill>
                <a:latin typeface="Arial"/>
                <a:cs typeface="Arial"/>
              </a:rPr>
              <a:t>SalesPersonID,</a:t>
            </a:r>
            <a:r>
              <a:rPr lang="en-US" sz="1800" spc="-385">
                <a:solidFill>
                  <a:srgbClr val="FFFFFF"/>
                </a:solidFill>
                <a:latin typeface="Arial"/>
                <a:cs typeface="Arial"/>
              </a:rPr>
              <a:t> </a:t>
            </a:r>
            <a:r>
              <a:rPr lang="en-US" sz="1800" spc="-10">
                <a:solidFill>
                  <a:srgbClr val="FFFFFF"/>
                </a:solidFill>
                <a:latin typeface="Arial"/>
                <a:cs typeface="Arial"/>
              </a:rPr>
              <a:t>OrderYear;</a:t>
            </a:r>
            <a:endParaRPr lang="en-US" b="1"/>
          </a:p>
        </p:txBody>
      </p:sp>
      <p:sp>
        <p:nvSpPr>
          <p:cNvPr id="4" name="Slide Number Placeholder 3"/>
          <p:cNvSpPr>
            <a:spLocks noGrp="1"/>
          </p:cNvSpPr>
          <p:nvPr>
            <p:ph type="sldNum" sz="quarter" idx="5"/>
          </p:nvPr>
        </p:nvSpPr>
        <p:spPr/>
        <p:txBody>
          <a:bodyPr/>
          <a:lstStyle/>
          <a:p>
            <a:fld id="{690088EC-74C6-4CF8-982A-0858CE5A1564}" type="slidenum">
              <a:rPr lang="en-US" smtClean="0"/>
              <a:t>28</a:t>
            </a:fld>
            <a:endParaRPr lang="en-US"/>
          </a:p>
        </p:txBody>
      </p:sp>
    </p:spTree>
    <p:extLst>
      <p:ext uri="{BB962C8B-B14F-4D97-AF65-F5344CB8AC3E}">
        <p14:creationId xmlns:p14="http://schemas.microsoft.com/office/powerpoint/2010/main" val="22870305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0"/>
              <a:t>Transact-SQL là một ngôn ngữ mạnh mẽ cung cấp các tính năng như các </a:t>
            </a:r>
            <a:r>
              <a:rPr lang="en-US" b="0"/>
              <a:t>kiểu</a:t>
            </a:r>
            <a:r>
              <a:rPr lang="vi-VN" b="0"/>
              <a:t> dữ liệu, đối tượng tạm thời và các thủ tục được lưu trữ mở rộng.</a:t>
            </a:r>
          </a:p>
          <a:p>
            <a:pPr marL="171450" indent="-171450">
              <a:buFont typeface="Arial" panose="020B0604020202020204" pitchFamily="34" charset="0"/>
              <a:buChar char="•"/>
            </a:pPr>
            <a:r>
              <a:rPr lang="vi-VN" b="0"/>
              <a:t>SQL Server hỗ trợ </a:t>
            </a:r>
            <a:r>
              <a:rPr lang="en-US" b="0"/>
              <a:t>3</a:t>
            </a:r>
            <a:r>
              <a:rPr lang="vi-VN" b="0"/>
              <a:t> loại câu lệnh Transact-SQL, cụ thể là DDL, DML và DCL.</a:t>
            </a:r>
          </a:p>
          <a:p>
            <a:pPr marL="171450" indent="-171450">
              <a:buFont typeface="Arial" panose="020B0604020202020204" pitchFamily="34" charset="0"/>
              <a:buChar char="•"/>
            </a:pPr>
            <a:r>
              <a:rPr lang="vi-VN" b="0"/>
              <a:t>Một kiểu dữ liệu là một thuộc tính xác định loại dữ liệu mà một đối tượng có thể chứa.</a:t>
            </a:r>
          </a:p>
          <a:p>
            <a:pPr marL="171450" indent="-171450">
              <a:buFont typeface="Arial" panose="020B0604020202020204" pitchFamily="34" charset="0"/>
              <a:buChar char="•"/>
            </a:pPr>
            <a:r>
              <a:rPr lang="vi-VN" b="0"/>
              <a:t>Các yếu tố ngôn ngữ Transact-SQL bao gồm các vị từ, toán tử, </a:t>
            </a:r>
            <a:r>
              <a:rPr lang="en-US" b="0"/>
              <a:t>hàm</a:t>
            </a:r>
            <a:r>
              <a:rPr lang="vi-VN" b="0"/>
              <a:t>, biến, biểu thức, kiểm soát dòng chảy, lỗi và giao dịch, </a:t>
            </a:r>
            <a:r>
              <a:rPr lang="en-US" b="0"/>
              <a:t>ghi chú </a:t>
            </a:r>
            <a:r>
              <a:rPr lang="vi-VN" b="0"/>
              <a:t>và </a:t>
            </a:r>
            <a:r>
              <a:rPr lang="en-US" b="0"/>
              <a:t>phân tách bacth</a:t>
            </a:r>
            <a:r>
              <a:rPr lang="vi-VN"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Bộ và </a:t>
            </a:r>
            <a:r>
              <a:rPr lang="en-US" b="0"/>
              <a:t>Logic định tính </a:t>
            </a:r>
            <a:r>
              <a:rPr lang="vi-VN" b="0"/>
              <a:t>là </a:t>
            </a:r>
            <a:r>
              <a:rPr lang="en-US" b="0"/>
              <a:t>2</a:t>
            </a:r>
            <a:r>
              <a:rPr lang="vi-VN" b="0"/>
              <a:t> nguyên tắc cơ bản toán học được sử dụng trong SQL Server 201</a:t>
            </a:r>
            <a:r>
              <a:rPr lang="en-US" b="0"/>
              <a:t>9</a:t>
            </a:r>
            <a:r>
              <a:rPr lang="vi-VN" b="0"/>
              <a:t>.</a:t>
            </a:r>
          </a:p>
          <a:p>
            <a:pPr marL="171450" indent="-171450">
              <a:buFont typeface="Arial" panose="020B0604020202020204" pitchFamily="34" charset="0"/>
              <a:buChar char="•"/>
            </a:pPr>
            <a:r>
              <a:rPr lang="en-US" b="0"/>
              <a:t>L</a:t>
            </a:r>
            <a:r>
              <a:rPr lang="vi-VN" b="0"/>
              <a:t>ý thuyết </a:t>
            </a:r>
            <a:r>
              <a:rPr lang="en-US" b="0"/>
              <a:t>b</a:t>
            </a:r>
            <a:r>
              <a:rPr lang="vi-VN" b="0"/>
              <a:t>ộ là một nền tảng toán học được sử dụng trong mô hình cơ sở dữ liệu quan hệ, trong đó một bộ là một tập hợp các đối tượng riêng biệt được coi là toàn bộ.</a:t>
            </a:r>
          </a:p>
          <a:p>
            <a:pPr marL="171450" indent="-171450">
              <a:buFont typeface="Arial" panose="020B0604020202020204" pitchFamily="34" charset="0"/>
              <a:buChar char="•"/>
            </a:pPr>
            <a:r>
              <a:rPr lang="en-US" b="0"/>
              <a:t>Logic định tính </a:t>
            </a:r>
            <a:r>
              <a:rPr lang="vi-VN" b="0"/>
              <a:t>là một khung toán học bao gồm các bài kiểm tra logic mang lại kết quả.</a:t>
            </a:r>
            <a:endParaRPr lang="en-US" b="0"/>
          </a:p>
        </p:txBody>
      </p:sp>
      <p:sp>
        <p:nvSpPr>
          <p:cNvPr id="4" name="Slide Number Placeholder 3"/>
          <p:cNvSpPr>
            <a:spLocks noGrp="1"/>
          </p:cNvSpPr>
          <p:nvPr>
            <p:ph type="sldNum" sz="quarter" idx="5"/>
          </p:nvPr>
        </p:nvSpPr>
        <p:spPr/>
        <p:txBody>
          <a:bodyPr/>
          <a:lstStyle/>
          <a:p>
            <a:fld id="{690088EC-74C6-4CF8-982A-0858CE5A1564}" type="slidenum">
              <a:rPr lang="en-US" smtClean="0"/>
              <a:t>29</a:t>
            </a:fld>
            <a:endParaRPr lang="en-US"/>
          </a:p>
        </p:txBody>
      </p:sp>
    </p:spTree>
    <p:extLst>
      <p:ext uri="{BB962C8B-B14F-4D97-AF65-F5344CB8AC3E}">
        <p14:creationId xmlns:p14="http://schemas.microsoft.com/office/powerpoint/2010/main" val="1562053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15493"/>
            <a:ext cx="8376919"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55345" y="-289814"/>
            <a:ext cx="8594090" cy="635635"/>
          </a:xfrm>
          <a:prstGeom prst="rect">
            <a:avLst/>
          </a:prstGeom>
        </p:spPr>
        <p:txBody>
          <a:bodyPr wrap="square" lIns="0" tIns="0" rIns="0" bIns="0">
            <a:spAutoFit/>
          </a:bodyPr>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a:xfrm>
            <a:off x="383540" y="1125473"/>
            <a:ext cx="8453120" cy="4598035"/>
          </a:xfrm>
          <a:prstGeom prst="rect">
            <a:avLst/>
          </a:prstGeom>
        </p:spPr>
        <p:txBody>
          <a:bodyPr wrap="square" lIns="0" tIns="0" rIns="0" bIns="0">
            <a:spAutoFit/>
          </a:bodyPr>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10/13/2021</a:t>
            </a:fld>
            <a:endParaRPr lang="en-US"/>
          </a:p>
        </p:txBody>
      </p:sp>
      <p:sp>
        <p:nvSpPr>
          <p:cNvPr id="6" name="Holder 6"/>
          <p:cNvSpPr>
            <a:spLocks noGrp="1"/>
          </p:cNvSpPr>
          <p:nvPr>
            <p:ph type="sldNum" sz="quarter" idx="7"/>
          </p:nvPr>
        </p:nvSpPr>
        <p:spPr>
          <a:xfrm>
            <a:off x="7909559" y="6569709"/>
            <a:ext cx="908050" cy="25654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8.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9.jp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4.jp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4.jpg"/><Relationship Id="rId5" Type="http://schemas.openxmlformats.org/officeDocument/2006/relationships/image" Target="../media/image53.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jp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4.jpg"/><Relationship Id="rId5" Type="http://schemas.openxmlformats.org/officeDocument/2006/relationships/image" Target="../media/image73.png"/><Relationship Id="rId4" Type="http://schemas.openxmlformats.org/officeDocument/2006/relationships/image" Target="../media/image66.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79.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78.jpg"/><Relationship Id="rId5" Type="http://schemas.openxmlformats.org/officeDocument/2006/relationships/image" Target="../media/image77.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82.jpg"/><Relationship Id="rId4" Type="http://schemas.openxmlformats.org/officeDocument/2006/relationships/image" Target="../media/image81.png"/></Relationships>
</file>

<file path=ppt/slides/_rels/slide2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5.jpg"/><Relationship Id="rId4" Type="http://schemas.openxmlformats.org/officeDocument/2006/relationships/image" Target="../media/image8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430274" y="4142902"/>
            <a:ext cx="4981575" cy="1318260"/>
          </a:xfrm>
          <a:prstGeom prst="rect">
            <a:avLst/>
          </a:prstGeom>
        </p:spPr>
        <p:txBody>
          <a:bodyPr vert="horz" wrap="square" lIns="0" tIns="81915" rIns="0" bIns="0" rtlCol="0">
            <a:spAutoFit/>
          </a:bodyPr>
          <a:lstStyle/>
          <a:p>
            <a:pPr marL="12700">
              <a:lnSpc>
                <a:spcPct val="100000"/>
              </a:lnSpc>
              <a:spcBef>
                <a:spcPts val="645"/>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4</a:t>
            </a:r>
            <a:endParaRPr sz="2800">
              <a:latin typeface="Book Antiqua"/>
              <a:cs typeface="Book Antiqua"/>
            </a:endParaRPr>
          </a:p>
          <a:p>
            <a:pPr marL="1335405" algn="ctr">
              <a:lnSpc>
                <a:spcPct val="100000"/>
              </a:lnSpc>
              <a:spcBef>
                <a:spcPts val="869"/>
              </a:spcBef>
            </a:pPr>
            <a:r>
              <a:rPr sz="4500" b="1" i="1" spc="-5" dirty="0">
                <a:latin typeface="Book Antiqua"/>
                <a:cs typeface="Book Antiqua"/>
              </a:rPr>
              <a:t>Transact-SQL</a:t>
            </a:r>
            <a:endParaRPr sz="4500">
              <a:latin typeface="Book Antiqua"/>
              <a:cs typeface="Book Antiqua"/>
            </a:endParaRPr>
          </a:p>
        </p:txBody>
      </p:sp>
      <p:sp>
        <p:nvSpPr>
          <p:cNvPr id="7" name="object 7"/>
          <p:cNvSpPr txBox="1">
            <a:spLocks noGrp="1"/>
          </p:cNvSpPr>
          <p:nvPr>
            <p:ph type="title"/>
          </p:nvPr>
        </p:nvSpPr>
        <p:spPr>
          <a:xfrm>
            <a:off x="3007360" y="1224534"/>
            <a:ext cx="4544060" cy="1694180"/>
          </a:xfrm>
          <a:prstGeom prst="rect">
            <a:avLst/>
          </a:prstGeom>
        </p:spPr>
        <p:txBody>
          <a:bodyPr vert="horz" wrap="square" lIns="0" tIns="12700" rIns="0" bIns="0" rtlCol="0">
            <a:spAutoFit/>
          </a:bodyPr>
          <a:lstStyle/>
          <a:p>
            <a:pPr marL="2540" algn="ctr">
              <a:lnSpc>
                <a:spcPct val="100000"/>
              </a:lnSpc>
              <a:spcBef>
                <a:spcPts val="100"/>
              </a:spcBef>
            </a:pPr>
            <a:r>
              <a:rPr sz="3600" b="1" spc="-110" dirty="0">
                <a:latin typeface="Arial"/>
                <a:cs typeface="Arial"/>
              </a:rPr>
              <a:t>Intelligent</a:t>
            </a:r>
            <a:endParaRPr sz="3600">
              <a:latin typeface="Arial"/>
              <a:cs typeface="Arial"/>
            </a:endParaRPr>
          </a:p>
          <a:p>
            <a:pPr marL="12700" marR="5080" algn="ctr">
              <a:lnSpc>
                <a:spcPts val="4500"/>
              </a:lnSpc>
            </a:pPr>
            <a:r>
              <a:rPr sz="3600" b="1" spc="-130" dirty="0">
                <a:latin typeface="Arial"/>
                <a:cs typeface="Arial"/>
              </a:rPr>
              <a:t>Data </a:t>
            </a:r>
            <a:r>
              <a:rPr sz="3600" b="1" spc="-220" dirty="0">
                <a:latin typeface="Arial"/>
                <a:cs typeface="Arial"/>
              </a:rPr>
              <a:t>Management</a:t>
            </a:r>
            <a:r>
              <a:rPr sz="3600" b="1" spc="-495" dirty="0">
                <a:latin typeface="Arial"/>
                <a:cs typeface="Arial"/>
              </a:rPr>
              <a:t> </a:t>
            </a:r>
            <a:r>
              <a:rPr sz="3600" b="1" spc="-55" dirty="0">
                <a:latin typeface="Arial"/>
                <a:cs typeface="Arial"/>
              </a:rPr>
              <a:t>with  </a:t>
            </a:r>
            <a:r>
              <a:rPr sz="3600" b="1" spc="-50" dirty="0">
                <a:latin typeface="Arial"/>
                <a:cs typeface="Arial"/>
              </a:rPr>
              <a:t>SQL</a:t>
            </a:r>
            <a:r>
              <a:rPr sz="3600" b="1" spc="-295" dirty="0">
                <a:latin typeface="Arial"/>
                <a:cs typeface="Arial"/>
              </a:rPr>
              <a:t> </a:t>
            </a:r>
            <a:r>
              <a:rPr sz="3600" b="1" spc="-215" dirty="0">
                <a:latin typeface="Arial"/>
                <a:cs typeface="Arial"/>
              </a:rPr>
              <a:t>Server</a:t>
            </a:r>
            <a:endParaRPr sz="36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25" dirty="0"/>
              <a:t>Objectives</a:t>
            </a:r>
          </a:p>
        </p:txBody>
      </p:sp>
      <p:sp>
        <p:nvSpPr>
          <p:cNvPr id="5" name="object 5"/>
          <p:cNvSpPr txBox="1"/>
          <p:nvPr/>
        </p:nvSpPr>
        <p:spPr>
          <a:xfrm>
            <a:off x="7909559" y="6569709"/>
            <a:ext cx="82676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75" baseline="4629" dirty="0">
                <a:latin typeface="Arial"/>
                <a:cs typeface="Arial"/>
              </a:rPr>
              <a:t>4/</a:t>
            </a:r>
            <a:r>
              <a:rPr sz="1800" spc="-240" baseline="4629" dirty="0">
                <a:latin typeface="Arial"/>
                <a:cs typeface="Arial"/>
              </a:rPr>
              <a:t> </a:t>
            </a:r>
            <a:fld id="{81D60167-4931-47E6-BA6A-407CBD079E47}" type="slidenum">
              <a:rPr sz="1200" spc="-110" dirty="0">
                <a:latin typeface="Arial"/>
                <a:cs typeface="Arial"/>
              </a:rPr>
              <a:t>2</a:t>
            </a:fld>
            <a:endParaRPr sz="1200">
              <a:latin typeface="Arial"/>
              <a:cs typeface="Arial"/>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115567"/>
            <a:ext cx="8072120" cy="259397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15" dirty="0">
                <a:latin typeface="Arial"/>
                <a:cs typeface="Arial"/>
              </a:rPr>
              <a:t>Explain</a:t>
            </a:r>
            <a:r>
              <a:rPr sz="2400" spc="-150" dirty="0">
                <a:latin typeface="Arial"/>
                <a:cs typeface="Arial"/>
              </a:rPr>
              <a:t> </a:t>
            </a:r>
            <a:r>
              <a:rPr sz="2400" spc="-15" dirty="0">
                <a:latin typeface="Arial"/>
                <a:cs typeface="Arial"/>
              </a:rPr>
              <a:t>Transact-SQL</a:t>
            </a:r>
            <a:endParaRPr sz="2400">
              <a:latin typeface="Arial"/>
              <a:cs typeface="Arial"/>
            </a:endParaRPr>
          </a:p>
          <a:p>
            <a:pPr marL="353695" indent="-341630">
              <a:lnSpc>
                <a:spcPct val="100000"/>
              </a:lnSpc>
              <a:spcBef>
                <a:spcPts val="5"/>
              </a:spcBef>
              <a:buFont typeface="Calibri"/>
              <a:buChar char="●"/>
              <a:tabLst>
                <a:tab pos="353695" algn="l"/>
                <a:tab pos="354330" algn="l"/>
              </a:tabLst>
            </a:pPr>
            <a:r>
              <a:rPr sz="2400" spc="35" dirty="0">
                <a:latin typeface="Arial"/>
                <a:cs typeface="Arial"/>
              </a:rPr>
              <a:t>List</a:t>
            </a:r>
            <a:r>
              <a:rPr sz="2400" spc="-150" dirty="0">
                <a:latin typeface="Arial"/>
                <a:cs typeface="Arial"/>
              </a:rPr>
              <a:t> </a:t>
            </a:r>
            <a:r>
              <a:rPr sz="2400" spc="40" dirty="0">
                <a:latin typeface="Arial"/>
                <a:cs typeface="Arial"/>
              </a:rPr>
              <a:t>different</a:t>
            </a:r>
            <a:r>
              <a:rPr sz="2400" spc="-175" dirty="0">
                <a:latin typeface="Arial"/>
                <a:cs typeface="Arial"/>
              </a:rPr>
              <a:t> </a:t>
            </a:r>
            <a:r>
              <a:rPr sz="2400" spc="-85" dirty="0">
                <a:latin typeface="Arial"/>
                <a:cs typeface="Arial"/>
              </a:rPr>
              <a:t>categories</a:t>
            </a:r>
            <a:r>
              <a:rPr sz="2400" spc="-150" dirty="0">
                <a:latin typeface="Arial"/>
                <a:cs typeface="Arial"/>
              </a:rPr>
              <a:t> </a:t>
            </a:r>
            <a:r>
              <a:rPr sz="2400" spc="65" dirty="0">
                <a:latin typeface="Arial"/>
                <a:cs typeface="Arial"/>
              </a:rPr>
              <a:t>of</a:t>
            </a:r>
            <a:r>
              <a:rPr sz="2400" spc="-160" dirty="0">
                <a:latin typeface="Arial"/>
                <a:cs typeface="Arial"/>
              </a:rPr>
              <a:t> </a:t>
            </a:r>
            <a:r>
              <a:rPr sz="2400" spc="-15" dirty="0">
                <a:latin typeface="Arial"/>
                <a:cs typeface="Arial"/>
              </a:rPr>
              <a:t>Transact-SQL</a:t>
            </a:r>
            <a:r>
              <a:rPr sz="2400" spc="-145" dirty="0">
                <a:latin typeface="Arial"/>
                <a:cs typeface="Arial"/>
              </a:rPr>
              <a:t> </a:t>
            </a:r>
            <a:r>
              <a:rPr sz="2400" spc="-65" dirty="0">
                <a:latin typeface="Arial"/>
                <a:cs typeface="Arial"/>
              </a:rPr>
              <a:t>statements</a:t>
            </a:r>
            <a:endParaRPr sz="2400">
              <a:latin typeface="Arial"/>
              <a:cs typeface="Arial"/>
            </a:endParaRPr>
          </a:p>
          <a:p>
            <a:pPr marL="353695" indent="-341630">
              <a:lnSpc>
                <a:spcPct val="100000"/>
              </a:lnSpc>
              <a:buFont typeface="Calibri"/>
              <a:buChar char="●"/>
              <a:tabLst>
                <a:tab pos="353695" algn="l"/>
                <a:tab pos="354330" algn="l"/>
              </a:tabLst>
            </a:pPr>
            <a:r>
              <a:rPr sz="2400" spc="10" dirty="0">
                <a:latin typeface="Arial"/>
                <a:cs typeface="Arial"/>
              </a:rPr>
              <a:t>Explain</a:t>
            </a:r>
            <a:r>
              <a:rPr sz="2400" spc="-140" dirty="0">
                <a:latin typeface="Arial"/>
                <a:cs typeface="Arial"/>
              </a:rPr>
              <a:t> </a:t>
            </a:r>
            <a:r>
              <a:rPr sz="2400" spc="-25" dirty="0">
                <a:latin typeface="Arial"/>
                <a:cs typeface="Arial"/>
              </a:rPr>
              <a:t>various</a:t>
            </a:r>
            <a:r>
              <a:rPr sz="2400" spc="-155" dirty="0">
                <a:latin typeface="Arial"/>
                <a:cs typeface="Arial"/>
              </a:rPr>
              <a:t> </a:t>
            </a:r>
            <a:r>
              <a:rPr sz="2400" spc="-75" dirty="0">
                <a:latin typeface="Arial"/>
                <a:cs typeface="Arial"/>
              </a:rPr>
              <a:t>data</a:t>
            </a:r>
            <a:r>
              <a:rPr sz="2400" spc="-150" dirty="0">
                <a:latin typeface="Arial"/>
                <a:cs typeface="Arial"/>
              </a:rPr>
              <a:t> </a:t>
            </a:r>
            <a:r>
              <a:rPr sz="2400" spc="-70" dirty="0">
                <a:latin typeface="Arial"/>
                <a:cs typeface="Arial"/>
              </a:rPr>
              <a:t>types</a:t>
            </a:r>
            <a:r>
              <a:rPr sz="2400" spc="-150" dirty="0">
                <a:latin typeface="Arial"/>
                <a:cs typeface="Arial"/>
              </a:rPr>
              <a:t> </a:t>
            </a:r>
            <a:r>
              <a:rPr sz="2400" spc="-20" dirty="0">
                <a:latin typeface="Arial"/>
                <a:cs typeface="Arial"/>
              </a:rPr>
              <a:t>supported</a:t>
            </a:r>
            <a:r>
              <a:rPr sz="2400" spc="-155" dirty="0">
                <a:latin typeface="Arial"/>
                <a:cs typeface="Arial"/>
              </a:rPr>
              <a:t> </a:t>
            </a:r>
            <a:r>
              <a:rPr sz="2400" spc="-15" dirty="0">
                <a:latin typeface="Arial"/>
                <a:cs typeface="Arial"/>
              </a:rPr>
              <a:t>by</a:t>
            </a:r>
            <a:r>
              <a:rPr sz="2400" spc="-150" dirty="0">
                <a:latin typeface="Arial"/>
                <a:cs typeface="Arial"/>
              </a:rPr>
              <a:t> </a:t>
            </a:r>
            <a:r>
              <a:rPr sz="2400" spc="-15" dirty="0">
                <a:latin typeface="Arial"/>
                <a:cs typeface="Arial"/>
              </a:rPr>
              <a:t>Transact-SQL</a:t>
            </a:r>
            <a:endParaRPr sz="2400">
              <a:latin typeface="Arial"/>
              <a:cs typeface="Arial"/>
            </a:endParaRPr>
          </a:p>
          <a:p>
            <a:pPr marL="353695" indent="-341630">
              <a:lnSpc>
                <a:spcPct val="100000"/>
              </a:lnSpc>
              <a:buFont typeface="Calibri"/>
              <a:buChar char="●"/>
              <a:tabLst>
                <a:tab pos="353695" algn="l"/>
                <a:tab pos="354330" algn="l"/>
              </a:tabLst>
            </a:pPr>
            <a:r>
              <a:rPr sz="2400" spc="10" dirty="0">
                <a:latin typeface="Arial"/>
                <a:cs typeface="Arial"/>
              </a:rPr>
              <a:t>Explain </a:t>
            </a:r>
            <a:r>
              <a:rPr sz="2400" spc="-15" dirty="0">
                <a:latin typeface="Arial"/>
                <a:cs typeface="Arial"/>
              </a:rPr>
              <a:t>Transact-SQL </a:t>
            </a:r>
            <a:r>
              <a:rPr sz="2400" spc="-95" dirty="0">
                <a:latin typeface="Arial"/>
                <a:cs typeface="Arial"/>
              </a:rPr>
              <a:t>language</a:t>
            </a:r>
            <a:r>
              <a:rPr sz="2400" spc="-425" dirty="0">
                <a:latin typeface="Arial"/>
                <a:cs typeface="Arial"/>
              </a:rPr>
              <a:t> </a:t>
            </a:r>
            <a:r>
              <a:rPr sz="2400" spc="-70" dirty="0">
                <a:latin typeface="Arial"/>
                <a:cs typeface="Arial"/>
              </a:rPr>
              <a:t>elements</a:t>
            </a:r>
            <a:endParaRPr sz="2400">
              <a:latin typeface="Arial"/>
              <a:cs typeface="Arial"/>
            </a:endParaRPr>
          </a:p>
          <a:p>
            <a:pPr marL="353695" indent="-341630">
              <a:lnSpc>
                <a:spcPct val="100000"/>
              </a:lnSpc>
              <a:buFont typeface="Calibri"/>
              <a:buChar char="●"/>
              <a:tabLst>
                <a:tab pos="353695" algn="l"/>
                <a:tab pos="354330" algn="l"/>
              </a:tabLst>
            </a:pPr>
            <a:r>
              <a:rPr sz="2400" spc="10" dirty="0">
                <a:latin typeface="Arial"/>
                <a:cs typeface="Arial"/>
              </a:rPr>
              <a:t>Explain </a:t>
            </a:r>
            <a:r>
              <a:rPr sz="2400" spc="-145" dirty="0">
                <a:latin typeface="Arial"/>
                <a:cs typeface="Arial"/>
              </a:rPr>
              <a:t>sets </a:t>
            </a:r>
            <a:r>
              <a:rPr sz="2400" spc="-45" dirty="0">
                <a:latin typeface="Arial"/>
                <a:cs typeface="Arial"/>
              </a:rPr>
              <a:t>and </a:t>
            </a:r>
            <a:r>
              <a:rPr sz="2400" spc="-40" dirty="0">
                <a:latin typeface="Arial"/>
                <a:cs typeface="Arial"/>
              </a:rPr>
              <a:t>predicate</a:t>
            </a:r>
            <a:r>
              <a:rPr sz="2400" spc="-440" dirty="0">
                <a:latin typeface="Arial"/>
                <a:cs typeface="Arial"/>
              </a:rPr>
              <a:t> </a:t>
            </a:r>
            <a:r>
              <a:rPr sz="2400" spc="-5" dirty="0">
                <a:latin typeface="Arial"/>
                <a:cs typeface="Arial"/>
              </a:rPr>
              <a:t>logic</a:t>
            </a:r>
            <a:endParaRPr sz="2400">
              <a:latin typeface="Arial"/>
              <a:cs typeface="Arial"/>
            </a:endParaRPr>
          </a:p>
          <a:p>
            <a:pPr marL="353695" marR="5080" indent="-341630">
              <a:lnSpc>
                <a:spcPts val="2940"/>
              </a:lnSpc>
              <a:spcBef>
                <a:spcPts val="40"/>
              </a:spcBef>
              <a:buFont typeface="Calibri"/>
              <a:buChar char="●"/>
              <a:tabLst>
                <a:tab pos="353695" algn="l"/>
                <a:tab pos="354330" algn="l"/>
                <a:tab pos="1731645" algn="l"/>
                <a:tab pos="2813685" algn="l"/>
                <a:tab pos="3750310" algn="l"/>
                <a:tab pos="4249420" algn="l"/>
                <a:tab pos="5715635" algn="l"/>
                <a:tab pos="6210935" algn="l"/>
                <a:tab pos="6864984" algn="l"/>
              </a:tabLst>
            </a:pPr>
            <a:r>
              <a:rPr sz="2400" spc="-30" dirty="0">
                <a:latin typeface="Arial"/>
                <a:cs typeface="Arial"/>
              </a:rPr>
              <a:t>D</a:t>
            </a:r>
            <a:r>
              <a:rPr sz="2400" spc="-35" dirty="0">
                <a:latin typeface="Arial"/>
                <a:cs typeface="Arial"/>
              </a:rPr>
              <a:t>e</a:t>
            </a:r>
            <a:r>
              <a:rPr sz="2400" spc="-65" dirty="0">
                <a:latin typeface="Arial"/>
                <a:cs typeface="Arial"/>
              </a:rPr>
              <a:t>scribe</a:t>
            </a:r>
            <a:r>
              <a:rPr sz="2400" dirty="0">
                <a:latin typeface="Arial"/>
                <a:cs typeface="Arial"/>
              </a:rPr>
              <a:t>	</a:t>
            </a:r>
            <a:r>
              <a:rPr sz="2400" spc="135" dirty="0">
                <a:latin typeface="Arial"/>
                <a:cs typeface="Arial"/>
              </a:rPr>
              <a:t>l</a:t>
            </a:r>
            <a:r>
              <a:rPr sz="2400" spc="-40" dirty="0">
                <a:latin typeface="Arial"/>
                <a:cs typeface="Arial"/>
              </a:rPr>
              <a:t>ogic</a:t>
            </a:r>
            <a:r>
              <a:rPr sz="2400" spc="-50" dirty="0">
                <a:latin typeface="Arial"/>
                <a:cs typeface="Arial"/>
              </a:rPr>
              <a:t>al</a:t>
            </a:r>
            <a:r>
              <a:rPr sz="2400" dirty="0">
                <a:latin typeface="Arial"/>
                <a:cs typeface="Arial"/>
              </a:rPr>
              <a:t>	</a:t>
            </a:r>
            <a:r>
              <a:rPr sz="2400" spc="-5" dirty="0">
                <a:latin typeface="Arial"/>
                <a:cs typeface="Arial"/>
              </a:rPr>
              <a:t>order</a:t>
            </a:r>
            <a:r>
              <a:rPr sz="2400" dirty="0">
                <a:latin typeface="Arial"/>
                <a:cs typeface="Arial"/>
              </a:rPr>
              <a:t>	</a:t>
            </a:r>
            <a:r>
              <a:rPr sz="2400" spc="65" dirty="0">
                <a:latin typeface="Arial"/>
                <a:cs typeface="Arial"/>
              </a:rPr>
              <a:t>of</a:t>
            </a:r>
            <a:r>
              <a:rPr sz="2400" dirty="0">
                <a:latin typeface="Arial"/>
                <a:cs typeface="Arial"/>
              </a:rPr>
              <a:t>	</a:t>
            </a:r>
            <a:r>
              <a:rPr sz="2400" spc="-45" dirty="0">
                <a:latin typeface="Arial"/>
                <a:cs typeface="Arial"/>
              </a:rPr>
              <a:t>operators</a:t>
            </a:r>
            <a:r>
              <a:rPr sz="2400" dirty="0">
                <a:latin typeface="Arial"/>
                <a:cs typeface="Arial"/>
              </a:rPr>
              <a:t>	</a:t>
            </a:r>
            <a:r>
              <a:rPr sz="2400" spc="114" dirty="0">
                <a:latin typeface="Arial"/>
                <a:cs typeface="Arial"/>
              </a:rPr>
              <a:t>in</a:t>
            </a:r>
            <a:r>
              <a:rPr sz="2400" dirty="0">
                <a:latin typeface="Arial"/>
                <a:cs typeface="Arial"/>
              </a:rPr>
              <a:t>	the	</a:t>
            </a:r>
            <a:r>
              <a:rPr sz="2400" spc="5" dirty="0">
                <a:latin typeface="Arial"/>
                <a:cs typeface="Arial"/>
              </a:rPr>
              <a:t>SELECT  </a:t>
            </a:r>
            <a:r>
              <a:rPr sz="2400" spc="-45" dirty="0">
                <a:latin typeface="Arial"/>
                <a:cs typeface="Arial"/>
              </a:rPr>
              <a:t>statement</a:t>
            </a:r>
            <a:endParaRPr sz="24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pc="105" dirty="0"/>
              <a:t>Introduction</a:t>
            </a:r>
          </a:p>
        </p:txBody>
      </p:sp>
      <p:sp>
        <p:nvSpPr>
          <p:cNvPr id="3" name="object 3"/>
          <p:cNvSpPr txBox="1"/>
          <p:nvPr/>
        </p:nvSpPr>
        <p:spPr>
          <a:xfrm>
            <a:off x="126745" y="918971"/>
            <a:ext cx="5041265" cy="5298440"/>
          </a:xfrm>
          <a:prstGeom prst="rect">
            <a:avLst/>
          </a:prstGeom>
        </p:spPr>
        <p:txBody>
          <a:bodyPr vert="horz" wrap="square" lIns="0" tIns="12065" rIns="0" bIns="0" rtlCol="0">
            <a:spAutoFit/>
          </a:bodyPr>
          <a:lstStyle/>
          <a:p>
            <a:pPr marL="353695" marR="7620" indent="-341630" algn="just">
              <a:lnSpc>
                <a:spcPct val="100000"/>
              </a:lnSpc>
              <a:spcBef>
                <a:spcPts val="95"/>
              </a:spcBef>
              <a:buFont typeface="Segoe UI Symbol"/>
              <a:buChar char="⮚"/>
              <a:tabLst>
                <a:tab pos="354330" algn="l"/>
              </a:tabLst>
            </a:pPr>
            <a:r>
              <a:rPr sz="2000" spc="20" dirty="0">
                <a:latin typeface="Arial"/>
                <a:cs typeface="Arial"/>
              </a:rPr>
              <a:t>SQL </a:t>
            </a:r>
            <a:r>
              <a:rPr sz="2000" spc="-50" dirty="0">
                <a:latin typeface="Arial"/>
                <a:cs typeface="Arial"/>
              </a:rPr>
              <a:t>is </a:t>
            </a:r>
            <a:r>
              <a:rPr sz="2000" dirty="0">
                <a:latin typeface="Arial"/>
                <a:cs typeface="Arial"/>
              </a:rPr>
              <a:t>the </a:t>
            </a:r>
            <a:r>
              <a:rPr sz="2000" spc="-15" dirty="0">
                <a:latin typeface="Arial"/>
                <a:cs typeface="Arial"/>
              </a:rPr>
              <a:t>universal </a:t>
            </a:r>
            <a:r>
              <a:rPr sz="2000" spc="-80" dirty="0">
                <a:latin typeface="Arial"/>
                <a:cs typeface="Arial"/>
              </a:rPr>
              <a:t>language </a:t>
            </a:r>
            <a:r>
              <a:rPr sz="2000" spc="-85" dirty="0">
                <a:latin typeface="Arial"/>
                <a:cs typeface="Arial"/>
              </a:rPr>
              <a:t>used </a:t>
            </a:r>
            <a:r>
              <a:rPr sz="2000" spc="95" dirty="0">
                <a:latin typeface="Arial"/>
                <a:cs typeface="Arial"/>
              </a:rPr>
              <a:t>in </a:t>
            </a:r>
            <a:r>
              <a:rPr sz="2000" dirty="0">
                <a:latin typeface="Arial"/>
                <a:cs typeface="Arial"/>
              </a:rPr>
              <a:t>the  </a:t>
            </a:r>
            <a:r>
              <a:rPr sz="2000" spc="-105" dirty="0">
                <a:latin typeface="Arial"/>
                <a:cs typeface="Arial"/>
              </a:rPr>
              <a:t>database</a:t>
            </a:r>
            <a:r>
              <a:rPr sz="2000" spc="-120" dirty="0">
                <a:latin typeface="Arial"/>
                <a:cs typeface="Arial"/>
              </a:rPr>
              <a:t> </a:t>
            </a:r>
            <a:r>
              <a:rPr sz="2000" spc="30" dirty="0">
                <a:latin typeface="Arial"/>
                <a:cs typeface="Arial"/>
              </a:rPr>
              <a:t>world.</a:t>
            </a:r>
            <a:endParaRPr sz="2000">
              <a:latin typeface="Arial"/>
              <a:cs typeface="Arial"/>
            </a:endParaRPr>
          </a:p>
          <a:p>
            <a:pPr marL="639445" marR="5080" lvl="1" indent="-285750" algn="just">
              <a:lnSpc>
                <a:spcPct val="100000"/>
              </a:lnSpc>
              <a:spcBef>
                <a:spcPts val="40"/>
              </a:spcBef>
              <a:buFont typeface="Arial"/>
              <a:buChar char="•"/>
              <a:tabLst>
                <a:tab pos="688975" algn="l"/>
              </a:tabLst>
            </a:pPr>
            <a:r>
              <a:rPr dirty="0"/>
              <a:t>	</a:t>
            </a:r>
            <a:r>
              <a:rPr sz="1800" spc="15" dirty="0">
                <a:latin typeface="Arial"/>
                <a:cs typeface="Arial"/>
              </a:rPr>
              <a:t>Most </a:t>
            </a:r>
            <a:r>
              <a:rPr sz="1800" spc="-10" dirty="0">
                <a:latin typeface="Arial"/>
                <a:cs typeface="Arial"/>
              </a:rPr>
              <a:t>modern </a:t>
            </a:r>
            <a:r>
              <a:rPr sz="1800" spc="15" dirty="0">
                <a:latin typeface="Arial"/>
                <a:cs typeface="Arial"/>
              </a:rPr>
              <a:t>RDBMS </a:t>
            </a:r>
            <a:r>
              <a:rPr sz="1800" spc="-10" dirty="0">
                <a:latin typeface="Arial"/>
                <a:cs typeface="Arial"/>
              </a:rPr>
              <a:t>products </a:t>
            </a:r>
            <a:r>
              <a:rPr sz="1800" spc="-110" dirty="0">
                <a:latin typeface="Arial"/>
                <a:cs typeface="Arial"/>
              </a:rPr>
              <a:t>use </a:t>
            </a:r>
            <a:r>
              <a:rPr sz="1800" spc="-100" dirty="0">
                <a:latin typeface="Arial"/>
                <a:cs typeface="Arial"/>
              </a:rPr>
              <a:t>some  </a:t>
            </a:r>
            <a:r>
              <a:rPr sz="1800" spc="-15" dirty="0">
                <a:latin typeface="Arial"/>
                <a:cs typeface="Arial"/>
              </a:rPr>
              <a:t>type </a:t>
            </a:r>
            <a:r>
              <a:rPr sz="1800" spc="45" dirty="0">
                <a:latin typeface="Arial"/>
                <a:cs typeface="Arial"/>
              </a:rPr>
              <a:t>of </a:t>
            </a:r>
            <a:r>
              <a:rPr sz="1800" spc="20" dirty="0">
                <a:latin typeface="Arial"/>
                <a:cs typeface="Arial"/>
              </a:rPr>
              <a:t>SQL </a:t>
            </a:r>
            <a:r>
              <a:rPr sz="1800" spc="-15" dirty="0">
                <a:latin typeface="Arial"/>
                <a:cs typeface="Arial"/>
              </a:rPr>
              <a:t>dialect </a:t>
            </a:r>
            <a:r>
              <a:rPr sz="1800" spc="-185" dirty="0">
                <a:latin typeface="Arial"/>
                <a:cs typeface="Arial"/>
              </a:rPr>
              <a:t>as </a:t>
            </a:r>
            <a:r>
              <a:rPr sz="1800" spc="35" dirty="0">
                <a:latin typeface="Arial"/>
                <a:cs typeface="Arial"/>
              </a:rPr>
              <a:t>their </a:t>
            </a:r>
            <a:r>
              <a:rPr sz="1800" spc="10" dirty="0">
                <a:latin typeface="Arial"/>
                <a:cs typeface="Arial"/>
              </a:rPr>
              <a:t>primary </a:t>
            </a:r>
            <a:r>
              <a:rPr sz="1800" spc="-10" dirty="0">
                <a:latin typeface="Arial"/>
                <a:cs typeface="Arial"/>
              </a:rPr>
              <a:t>query  </a:t>
            </a:r>
            <a:r>
              <a:rPr sz="1800" spc="-70" dirty="0">
                <a:latin typeface="Arial"/>
                <a:cs typeface="Arial"/>
              </a:rPr>
              <a:t>language.</a:t>
            </a:r>
            <a:endParaRPr sz="1800">
              <a:latin typeface="Arial"/>
              <a:cs typeface="Arial"/>
            </a:endParaRPr>
          </a:p>
          <a:p>
            <a:pPr marL="639445" marR="5080" lvl="1" indent="-285750" algn="just">
              <a:lnSpc>
                <a:spcPct val="100000"/>
              </a:lnSpc>
              <a:buChar char="•"/>
              <a:tabLst>
                <a:tab pos="640080" algn="l"/>
              </a:tabLst>
            </a:pPr>
            <a:r>
              <a:rPr sz="1800" spc="20" dirty="0">
                <a:latin typeface="Arial"/>
                <a:cs typeface="Arial"/>
              </a:rPr>
              <a:t>SQL </a:t>
            </a:r>
            <a:r>
              <a:rPr sz="1800" spc="-70" dirty="0">
                <a:latin typeface="Arial"/>
                <a:cs typeface="Arial"/>
              </a:rPr>
              <a:t>can </a:t>
            </a:r>
            <a:r>
              <a:rPr sz="1800" spc="-95" dirty="0">
                <a:latin typeface="Arial"/>
                <a:cs typeface="Arial"/>
              </a:rPr>
              <a:t>be </a:t>
            </a:r>
            <a:r>
              <a:rPr sz="1800" spc="-75" dirty="0">
                <a:latin typeface="Arial"/>
                <a:cs typeface="Arial"/>
              </a:rPr>
              <a:t>used </a:t>
            </a:r>
            <a:r>
              <a:rPr sz="1800" spc="45" dirty="0">
                <a:latin typeface="Arial"/>
                <a:cs typeface="Arial"/>
              </a:rPr>
              <a:t>to </a:t>
            </a:r>
            <a:r>
              <a:rPr sz="1800" spc="-70" dirty="0">
                <a:latin typeface="Arial"/>
                <a:cs typeface="Arial"/>
              </a:rPr>
              <a:t>create </a:t>
            </a:r>
            <a:r>
              <a:rPr sz="1800" spc="25" dirty="0">
                <a:latin typeface="Arial"/>
                <a:cs typeface="Arial"/>
              </a:rPr>
              <a:t>or </a:t>
            </a:r>
            <a:r>
              <a:rPr sz="1800" spc="-25" dirty="0">
                <a:latin typeface="Arial"/>
                <a:cs typeface="Arial"/>
              </a:rPr>
              <a:t>destroy</a:t>
            </a:r>
            <a:r>
              <a:rPr sz="1800" spc="-120" dirty="0">
                <a:latin typeface="Arial"/>
                <a:cs typeface="Arial"/>
              </a:rPr>
              <a:t> </a:t>
            </a:r>
            <a:r>
              <a:rPr sz="1800" spc="-40" dirty="0">
                <a:latin typeface="Arial"/>
                <a:cs typeface="Arial"/>
              </a:rPr>
              <a:t>objects  </a:t>
            </a:r>
            <a:r>
              <a:rPr sz="1800" spc="-50" dirty="0">
                <a:latin typeface="Arial"/>
                <a:cs typeface="Arial"/>
              </a:rPr>
              <a:t>such </a:t>
            </a:r>
            <a:r>
              <a:rPr sz="1800" spc="-185" dirty="0">
                <a:latin typeface="Arial"/>
                <a:cs typeface="Arial"/>
              </a:rPr>
              <a:t>as </a:t>
            </a:r>
            <a:r>
              <a:rPr sz="1800" spc="-55" dirty="0">
                <a:latin typeface="Arial"/>
                <a:cs typeface="Arial"/>
              </a:rPr>
              <a:t>tables </a:t>
            </a:r>
            <a:r>
              <a:rPr sz="1800" spc="20" dirty="0">
                <a:latin typeface="Arial"/>
                <a:cs typeface="Arial"/>
              </a:rPr>
              <a:t>on </a:t>
            </a:r>
            <a:r>
              <a:rPr sz="1800" dirty="0">
                <a:latin typeface="Arial"/>
                <a:cs typeface="Arial"/>
              </a:rPr>
              <a:t>the </a:t>
            </a:r>
            <a:r>
              <a:rPr sz="1800" spc="-100" dirty="0">
                <a:latin typeface="Arial"/>
                <a:cs typeface="Arial"/>
              </a:rPr>
              <a:t>database </a:t>
            </a:r>
            <a:r>
              <a:rPr sz="1800" spc="-55" dirty="0">
                <a:latin typeface="Arial"/>
                <a:cs typeface="Arial"/>
              </a:rPr>
              <a:t>server </a:t>
            </a:r>
            <a:r>
              <a:rPr sz="1800" spc="-35" dirty="0">
                <a:latin typeface="Arial"/>
                <a:cs typeface="Arial"/>
              </a:rPr>
              <a:t>and </a:t>
            </a:r>
            <a:r>
              <a:rPr sz="1800" spc="45" dirty="0">
                <a:latin typeface="Arial"/>
                <a:cs typeface="Arial"/>
              </a:rPr>
              <a:t>to  </a:t>
            </a:r>
            <a:r>
              <a:rPr sz="1800" spc="-15" dirty="0">
                <a:latin typeface="Arial"/>
                <a:cs typeface="Arial"/>
              </a:rPr>
              <a:t>manipulate </a:t>
            </a:r>
            <a:r>
              <a:rPr sz="1800" spc="-45" dirty="0">
                <a:latin typeface="Arial"/>
                <a:cs typeface="Arial"/>
              </a:rPr>
              <a:t>those </a:t>
            </a:r>
            <a:r>
              <a:rPr sz="1800" spc="-40" dirty="0">
                <a:latin typeface="Arial"/>
                <a:cs typeface="Arial"/>
              </a:rPr>
              <a:t>objects, </a:t>
            </a:r>
            <a:r>
              <a:rPr sz="1800" spc="-50" dirty="0">
                <a:latin typeface="Arial"/>
                <a:cs typeface="Arial"/>
              </a:rPr>
              <a:t>such </a:t>
            </a:r>
            <a:r>
              <a:rPr sz="1800" spc="-185" dirty="0">
                <a:latin typeface="Arial"/>
                <a:cs typeface="Arial"/>
              </a:rPr>
              <a:t>as </a:t>
            </a:r>
            <a:r>
              <a:rPr sz="1800" spc="-20" dirty="0">
                <a:latin typeface="Arial"/>
                <a:cs typeface="Arial"/>
              </a:rPr>
              <a:t>adding  </a:t>
            </a:r>
            <a:r>
              <a:rPr sz="1800" spc="-55" dirty="0">
                <a:latin typeface="Arial"/>
                <a:cs typeface="Arial"/>
              </a:rPr>
              <a:t>data</a:t>
            </a:r>
            <a:r>
              <a:rPr sz="1800" spc="-140" dirty="0">
                <a:latin typeface="Arial"/>
                <a:cs typeface="Arial"/>
              </a:rPr>
              <a:t> </a:t>
            </a:r>
            <a:r>
              <a:rPr sz="1800" spc="65" dirty="0">
                <a:latin typeface="Arial"/>
                <a:cs typeface="Arial"/>
              </a:rPr>
              <a:t>into</a:t>
            </a:r>
            <a:r>
              <a:rPr sz="1800" spc="-120" dirty="0">
                <a:latin typeface="Arial"/>
                <a:cs typeface="Arial"/>
              </a:rPr>
              <a:t> </a:t>
            </a:r>
            <a:r>
              <a:rPr sz="1800" spc="-5" dirty="0">
                <a:latin typeface="Arial"/>
                <a:cs typeface="Arial"/>
              </a:rPr>
              <a:t>them</a:t>
            </a:r>
            <a:r>
              <a:rPr sz="1800" spc="-120" dirty="0">
                <a:latin typeface="Arial"/>
                <a:cs typeface="Arial"/>
              </a:rPr>
              <a:t> </a:t>
            </a:r>
            <a:r>
              <a:rPr sz="1800" spc="25" dirty="0">
                <a:latin typeface="Arial"/>
                <a:cs typeface="Arial"/>
              </a:rPr>
              <a:t>or</a:t>
            </a:r>
            <a:r>
              <a:rPr sz="1800" spc="-114" dirty="0">
                <a:latin typeface="Arial"/>
                <a:cs typeface="Arial"/>
              </a:rPr>
              <a:t> </a:t>
            </a:r>
            <a:r>
              <a:rPr sz="1800" spc="15" dirty="0">
                <a:latin typeface="Arial"/>
                <a:cs typeface="Arial"/>
              </a:rPr>
              <a:t>retrieving</a:t>
            </a:r>
            <a:r>
              <a:rPr sz="1800" spc="-130" dirty="0">
                <a:latin typeface="Arial"/>
                <a:cs typeface="Arial"/>
              </a:rPr>
              <a:t> </a:t>
            </a:r>
            <a:r>
              <a:rPr sz="1800" spc="-55" dirty="0">
                <a:latin typeface="Arial"/>
                <a:cs typeface="Arial"/>
              </a:rPr>
              <a:t>data</a:t>
            </a:r>
            <a:r>
              <a:rPr sz="1800" spc="-140" dirty="0">
                <a:latin typeface="Arial"/>
                <a:cs typeface="Arial"/>
              </a:rPr>
              <a:t> </a:t>
            </a:r>
            <a:r>
              <a:rPr sz="1800" spc="40" dirty="0">
                <a:latin typeface="Arial"/>
                <a:cs typeface="Arial"/>
              </a:rPr>
              <a:t>from</a:t>
            </a:r>
            <a:r>
              <a:rPr sz="1800" spc="-114" dirty="0">
                <a:latin typeface="Arial"/>
                <a:cs typeface="Arial"/>
              </a:rPr>
              <a:t> </a:t>
            </a:r>
            <a:r>
              <a:rPr sz="1800" spc="-10" dirty="0">
                <a:latin typeface="Arial"/>
                <a:cs typeface="Arial"/>
              </a:rPr>
              <a:t>them.</a:t>
            </a:r>
            <a:endParaRPr sz="1800">
              <a:latin typeface="Arial"/>
              <a:cs typeface="Arial"/>
            </a:endParaRPr>
          </a:p>
          <a:p>
            <a:pPr marL="353695" marR="5080" indent="-341630" algn="just">
              <a:lnSpc>
                <a:spcPts val="2400"/>
              </a:lnSpc>
              <a:spcBef>
                <a:spcPts val="40"/>
              </a:spcBef>
              <a:buFont typeface="Segoe UI Symbol"/>
              <a:buChar char="⮚"/>
              <a:tabLst>
                <a:tab pos="354330" algn="l"/>
                <a:tab pos="2768600" algn="l"/>
                <a:tab pos="3792854" algn="l"/>
              </a:tabLst>
            </a:pPr>
            <a:r>
              <a:rPr sz="2000" spc="-45" dirty="0">
                <a:latin typeface="Arial"/>
                <a:cs typeface="Arial"/>
              </a:rPr>
              <a:t>Trans</a:t>
            </a:r>
            <a:r>
              <a:rPr sz="2000" spc="-40" dirty="0">
                <a:latin typeface="Arial"/>
                <a:cs typeface="Arial"/>
              </a:rPr>
              <a:t>a</a:t>
            </a:r>
            <a:r>
              <a:rPr sz="2000" spc="15" dirty="0">
                <a:latin typeface="Arial"/>
                <a:cs typeface="Arial"/>
              </a:rPr>
              <a:t>ct</a:t>
            </a:r>
            <a:r>
              <a:rPr sz="2000" spc="5" dirty="0">
                <a:latin typeface="Arial"/>
                <a:cs typeface="Arial"/>
              </a:rPr>
              <a:t>-</a:t>
            </a:r>
            <a:r>
              <a:rPr sz="2000" spc="-15" dirty="0">
                <a:latin typeface="Arial"/>
                <a:cs typeface="Arial"/>
              </a:rPr>
              <a:t>S</a:t>
            </a:r>
            <a:r>
              <a:rPr sz="2000" spc="-30" dirty="0">
                <a:latin typeface="Arial"/>
                <a:cs typeface="Arial"/>
              </a:rPr>
              <a:t>Q</a:t>
            </a:r>
            <a:r>
              <a:rPr sz="2000" spc="90" dirty="0">
                <a:latin typeface="Arial"/>
                <a:cs typeface="Arial"/>
              </a:rPr>
              <a:t>L</a:t>
            </a:r>
            <a:r>
              <a:rPr sz="2000" dirty="0">
                <a:latin typeface="Arial"/>
                <a:cs typeface="Arial"/>
              </a:rPr>
              <a:t>	</a:t>
            </a:r>
            <a:r>
              <a:rPr sz="2000" spc="-50" dirty="0">
                <a:latin typeface="Arial"/>
                <a:cs typeface="Arial"/>
              </a:rPr>
              <a:t>is</a:t>
            </a:r>
            <a:r>
              <a:rPr sz="2000" dirty="0">
                <a:latin typeface="Arial"/>
                <a:cs typeface="Arial"/>
              </a:rPr>
              <a:t>	</a:t>
            </a:r>
            <a:r>
              <a:rPr sz="2000" spc="20" dirty="0">
                <a:latin typeface="Arial"/>
                <a:cs typeface="Arial"/>
              </a:rPr>
              <a:t>Microsof</a:t>
            </a:r>
            <a:r>
              <a:rPr sz="2000" spc="15" dirty="0">
                <a:latin typeface="Arial"/>
                <a:cs typeface="Arial"/>
              </a:rPr>
              <a:t>t's  </a:t>
            </a:r>
            <a:r>
              <a:rPr sz="2000" spc="10" dirty="0">
                <a:latin typeface="Arial"/>
                <a:cs typeface="Arial"/>
              </a:rPr>
              <a:t>implementation</a:t>
            </a:r>
            <a:r>
              <a:rPr sz="2000" spc="-105" dirty="0">
                <a:latin typeface="Arial"/>
                <a:cs typeface="Arial"/>
              </a:rPr>
              <a:t> </a:t>
            </a:r>
            <a:r>
              <a:rPr sz="2000" spc="50" dirty="0">
                <a:latin typeface="Arial"/>
                <a:cs typeface="Arial"/>
              </a:rPr>
              <a:t>of</a:t>
            </a:r>
            <a:r>
              <a:rPr sz="2000" spc="-135" dirty="0">
                <a:latin typeface="Arial"/>
                <a:cs typeface="Arial"/>
              </a:rPr>
              <a:t> </a:t>
            </a:r>
            <a:r>
              <a:rPr sz="2000" dirty="0">
                <a:latin typeface="Arial"/>
                <a:cs typeface="Arial"/>
              </a:rPr>
              <a:t>the</a:t>
            </a:r>
            <a:r>
              <a:rPr sz="2000" spc="-120" dirty="0">
                <a:latin typeface="Arial"/>
                <a:cs typeface="Arial"/>
              </a:rPr>
              <a:t> </a:t>
            </a:r>
            <a:r>
              <a:rPr sz="2000" spc="-35" dirty="0">
                <a:latin typeface="Arial"/>
                <a:cs typeface="Arial"/>
              </a:rPr>
              <a:t>standard</a:t>
            </a:r>
            <a:r>
              <a:rPr sz="2000" spc="-135" dirty="0">
                <a:latin typeface="Arial"/>
                <a:cs typeface="Arial"/>
              </a:rPr>
              <a:t> </a:t>
            </a:r>
            <a:r>
              <a:rPr sz="2000" dirty="0">
                <a:latin typeface="Arial"/>
                <a:cs typeface="Arial"/>
              </a:rPr>
              <a:t>SQL.</a:t>
            </a:r>
            <a:endParaRPr sz="2000">
              <a:latin typeface="Arial"/>
              <a:cs typeface="Arial"/>
            </a:endParaRPr>
          </a:p>
          <a:p>
            <a:pPr marL="353695" marR="6350" indent="-341630" algn="just">
              <a:lnSpc>
                <a:spcPts val="2400"/>
              </a:lnSpc>
              <a:spcBef>
                <a:spcPts val="5"/>
              </a:spcBef>
              <a:buFont typeface="Segoe UI Symbol"/>
              <a:buChar char="⮚"/>
              <a:tabLst>
                <a:tab pos="354330" algn="l"/>
              </a:tabLst>
            </a:pPr>
            <a:r>
              <a:rPr sz="2000" spc="5" dirty="0">
                <a:latin typeface="Arial"/>
                <a:cs typeface="Arial"/>
              </a:rPr>
              <a:t>Usually </a:t>
            </a:r>
            <a:r>
              <a:rPr sz="2000" spc="-20" dirty="0">
                <a:latin typeface="Arial"/>
                <a:cs typeface="Arial"/>
              </a:rPr>
              <a:t>referred </a:t>
            </a:r>
            <a:r>
              <a:rPr sz="2000" spc="55" dirty="0">
                <a:latin typeface="Arial"/>
                <a:cs typeface="Arial"/>
              </a:rPr>
              <a:t>to </a:t>
            </a:r>
            <a:r>
              <a:rPr sz="2000" spc="-204" dirty="0">
                <a:latin typeface="Arial"/>
                <a:cs typeface="Arial"/>
              </a:rPr>
              <a:t>as </a:t>
            </a:r>
            <a:r>
              <a:rPr sz="2000" spc="30" dirty="0">
                <a:latin typeface="Arial"/>
                <a:cs typeface="Arial"/>
              </a:rPr>
              <a:t>T-SQL, </a:t>
            </a:r>
            <a:r>
              <a:rPr sz="2000" spc="20" dirty="0">
                <a:latin typeface="Arial"/>
                <a:cs typeface="Arial"/>
              </a:rPr>
              <a:t>this  </a:t>
            </a:r>
            <a:r>
              <a:rPr sz="2000" spc="-80" dirty="0">
                <a:latin typeface="Arial"/>
                <a:cs typeface="Arial"/>
              </a:rPr>
              <a:t>language </a:t>
            </a:r>
            <a:r>
              <a:rPr sz="2000" spc="-20" dirty="0">
                <a:latin typeface="Arial"/>
                <a:cs typeface="Arial"/>
              </a:rPr>
              <a:t>implements </a:t>
            </a:r>
            <a:r>
              <a:rPr sz="2000" spc="-195" dirty="0">
                <a:latin typeface="Arial"/>
                <a:cs typeface="Arial"/>
              </a:rPr>
              <a:t>a </a:t>
            </a:r>
            <a:r>
              <a:rPr sz="2000" spc="-50" dirty="0">
                <a:latin typeface="Arial"/>
                <a:cs typeface="Arial"/>
              </a:rPr>
              <a:t>standardized way  </a:t>
            </a:r>
            <a:r>
              <a:rPr sz="2000" spc="50" dirty="0">
                <a:latin typeface="Arial"/>
                <a:cs typeface="Arial"/>
              </a:rPr>
              <a:t>to</a:t>
            </a:r>
            <a:r>
              <a:rPr sz="2000" spc="-125" dirty="0">
                <a:latin typeface="Arial"/>
                <a:cs typeface="Arial"/>
              </a:rPr>
              <a:t> </a:t>
            </a:r>
            <a:r>
              <a:rPr sz="2000" spc="-25" dirty="0">
                <a:latin typeface="Arial"/>
                <a:cs typeface="Arial"/>
              </a:rPr>
              <a:t>communicate</a:t>
            </a:r>
            <a:r>
              <a:rPr sz="2000" spc="-130" dirty="0">
                <a:latin typeface="Arial"/>
                <a:cs typeface="Arial"/>
              </a:rPr>
              <a:t> </a:t>
            </a:r>
            <a:r>
              <a:rPr sz="2000" spc="50" dirty="0">
                <a:latin typeface="Arial"/>
                <a:cs typeface="Arial"/>
              </a:rPr>
              <a:t>to</a:t>
            </a:r>
            <a:r>
              <a:rPr sz="2000" spc="-125" dirty="0">
                <a:latin typeface="Arial"/>
                <a:cs typeface="Arial"/>
              </a:rPr>
              <a:t> </a:t>
            </a:r>
            <a:r>
              <a:rPr sz="2000" dirty="0">
                <a:latin typeface="Arial"/>
                <a:cs typeface="Arial"/>
              </a:rPr>
              <a:t>the</a:t>
            </a:r>
            <a:r>
              <a:rPr sz="2000" spc="-114" dirty="0">
                <a:latin typeface="Arial"/>
                <a:cs typeface="Arial"/>
              </a:rPr>
              <a:t> </a:t>
            </a:r>
            <a:r>
              <a:rPr sz="2000" spc="-100" dirty="0">
                <a:latin typeface="Arial"/>
                <a:cs typeface="Arial"/>
              </a:rPr>
              <a:t>database.</a:t>
            </a:r>
            <a:endParaRPr sz="2000">
              <a:latin typeface="Arial"/>
              <a:cs typeface="Arial"/>
            </a:endParaRPr>
          </a:p>
          <a:p>
            <a:pPr marL="353695" marR="5715" indent="-341630" algn="just">
              <a:lnSpc>
                <a:spcPts val="2400"/>
              </a:lnSpc>
              <a:buFont typeface="Segoe UI Symbol"/>
              <a:buChar char="⮚"/>
              <a:tabLst>
                <a:tab pos="354330" algn="l"/>
              </a:tabLst>
            </a:pPr>
            <a:r>
              <a:rPr sz="2000" spc="110" dirty="0">
                <a:latin typeface="Arial"/>
                <a:cs typeface="Arial"/>
              </a:rPr>
              <a:t>It </a:t>
            </a:r>
            <a:r>
              <a:rPr sz="2000" spc="-20" dirty="0">
                <a:latin typeface="Arial"/>
                <a:cs typeface="Arial"/>
              </a:rPr>
              <a:t>provides </a:t>
            </a:r>
            <a:r>
              <a:rPr sz="2000" spc="-195" dirty="0">
                <a:latin typeface="Arial"/>
                <a:cs typeface="Arial"/>
              </a:rPr>
              <a:t>a </a:t>
            </a:r>
            <a:r>
              <a:rPr sz="2000" spc="-40" dirty="0">
                <a:latin typeface="Arial"/>
                <a:cs typeface="Arial"/>
              </a:rPr>
              <a:t>comprehensive </a:t>
            </a:r>
            <a:r>
              <a:rPr sz="2000" spc="-80" dirty="0">
                <a:latin typeface="Arial"/>
                <a:cs typeface="Arial"/>
              </a:rPr>
              <a:t>language </a:t>
            </a:r>
            <a:r>
              <a:rPr sz="2000" spc="30" dirty="0">
                <a:latin typeface="Arial"/>
                <a:cs typeface="Arial"/>
              </a:rPr>
              <a:t>that  </a:t>
            </a:r>
            <a:r>
              <a:rPr sz="2000" spc="-30" dirty="0">
                <a:latin typeface="Arial"/>
                <a:cs typeface="Arial"/>
              </a:rPr>
              <a:t>supports </a:t>
            </a:r>
            <a:r>
              <a:rPr sz="2000" spc="25" dirty="0">
                <a:latin typeface="Arial"/>
                <a:cs typeface="Arial"/>
              </a:rPr>
              <a:t>defining </a:t>
            </a:r>
            <a:r>
              <a:rPr sz="2000" spc="-60" dirty="0">
                <a:latin typeface="Arial"/>
                <a:cs typeface="Arial"/>
              </a:rPr>
              <a:t>tables, </a:t>
            </a:r>
            <a:r>
              <a:rPr sz="2000" dirty="0">
                <a:latin typeface="Arial"/>
                <a:cs typeface="Arial"/>
              </a:rPr>
              <a:t>inserting,  </a:t>
            </a:r>
            <a:r>
              <a:rPr sz="2000" spc="-15" dirty="0">
                <a:latin typeface="Arial"/>
                <a:cs typeface="Arial"/>
              </a:rPr>
              <a:t>deleting, </a:t>
            </a:r>
            <a:r>
              <a:rPr sz="2000" spc="-5" dirty="0">
                <a:latin typeface="Arial"/>
                <a:cs typeface="Arial"/>
              </a:rPr>
              <a:t>updating, </a:t>
            </a:r>
            <a:r>
              <a:rPr sz="2000" spc="-40" dirty="0">
                <a:latin typeface="Arial"/>
                <a:cs typeface="Arial"/>
              </a:rPr>
              <a:t>and </a:t>
            </a:r>
            <a:r>
              <a:rPr sz="2000" spc="-105" dirty="0">
                <a:latin typeface="Arial"/>
                <a:cs typeface="Arial"/>
              </a:rPr>
              <a:t>accessing </a:t>
            </a:r>
            <a:r>
              <a:rPr sz="2000" dirty="0">
                <a:latin typeface="Arial"/>
                <a:cs typeface="Arial"/>
              </a:rPr>
              <a:t>the </a:t>
            </a:r>
            <a:r>
              <a:rPr sz="2000" spc="-60" dirty="0">
                <a:latin typeface="Arial"/>
                <a:cs typeface="Arial"/>
              </a:rPr>
              <a:t>data  </a:t>
            </a:r>
            <a:r>
              <a:rPr sz="2000" spc="95" dirty="0">
                <a:latin typeface="Arial"/>
                <a:cs typeface="Arial"/>
              </a:rPr>
              <a:t>in </a:t>
            </a:r>
            <a:r>
              <a:rPr sz="2000" dirty="0">
                <a:latin typeface="Arial"/>
                <a:cs typeface="Arial"/>
              </a:rPr>
              <a:t>the</a:t>
            </a:r>
            <a:r>
              <a:rPr sz="2000" spc="-355" dirty="0">
                <a:latin typeface="Arial"/>
                <a:cs typeface="Arial"/>
              </a:rPr>
              <a:t> </a:t>
            </a:r>
            <a:r>
              <a:rPr sz="2000" spc="-35" dirty="0">
                <a:latin typeface="Arial"/>
                <a:cs typeface="Arial"/>
              </a:rPr>
              <a:t>table.</a:t>
            </a:r>
            <a:endParaRPr sz="2000">
              <a:latin typeface="Arial"/>
              <a:cs typeface="Arial"/>
            </a:endParaRPr>
          </a:p>
        </p:txBody>
      </p:sp>
      <p:pic>
        <p:nvPicPr>
          <p:cNvPr id="4" name="object 4"/>
          <p:cNvPicPr/>
          <p:nvPr/>
        </p:nvPicPr>
        <p:blipFill>
          <a:blip r:embed="rId3" cstate="print"/>
          <a:stretch>
            <a:fillRect/>
          </a:stretch>
        </p:blipFill>
        <p:spPr>
          <a:xfrm>
            <a:off x="5345429" y="1575816"/>
            <a:ext cx="3601974" cy="3009899"/>
          </a:xfrm>
          <a:prstGeom prst="rect">
            <a:avLst/>
          </a:prstGeom>
        </p:spPr>
      </p:pic>
      <p:sp>
        <p:nvSpPr>
          <p:cNvPr id="6" name="object 6"/>
          <p:cNvSpPr txBox="1"/>
          <p:nvPr/>
        </p:nvSpPr>
        <p:spPr>
          <a:xfrm>
            <a:off x="7909559" y="6569709"/>
            <a:ext cx="82676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75" baseline="4629" dirty="0">
                <a:latin typeface="Arial"/>
                <a:cs typeface="Arial"/>
              </a:rPr>
              <a:t>4/</a:t>
            </a:r>
            <a:r>
              <a:rPr sz="1800" spc="-240" baseline="4629" dirty="0">
                <a:latin typeface="Arial"/>
                <a:cs typeface="Arial"/>
              </a:rPr>
              <a:t> </a:t>
            </a:r>
            <a:fld id="{81D60167-4931-47E6-BA6A-407CBD079E47}" type="slidenum">
              <a:rPr sz="1200" spc="-110" dirty="0">
                <a:latin typeface="Arial"/>
                <a:cs typeface="Arial"/>
              </a:rPr>
              <a:t>3</a:t>
            </a:fld>
            <a:endParaRPr sz="1200">
              <a:latin typeface="Arial"/>
              <a:cs typeface="Arial"/>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383"/>
            <a:ext cx="3846829" cy="635635"/>
          </a:xfrm>
          <a:prstGeom prst="rect">
            <a:avLst/>
          </a:prstGeom>
        </p:spPr>
        <p:txBody>
          <a:bodyPr vert="horz" wrap="square" lIns="0" tIns="12700" rIns="0" bIns="0" rtlCol="0">
            <a:spAutoFit/>
          </a:bodyPr>
          <a:lstStyle/>
          <a:p>
            <a:pPr marL="12700">
              <a:lnSpc>
                <a:spcPct val="100000"/>
              </a:lnSpc>
              <a:spcBef>
                <a:spcPts val="100"/>
              </a:spcBef>
            </a:pPr>
            <a:r>
              <a:rPr spc="-25" dirty="0"/>
              <a:t>Transact-SQL</a:t>
            </a:r>
            <a:r>
              <a:rPr spc="-320" dirty="0"/>
              <a:t> </a:t>
            </a:r>
            <a:r>
              <a:rPr spc="-395" dirty="0"/>
              <a:t>1-2</a:t>
            </a:r>
          </a:p>
        </p:txBody>
      </p:sp>
      <p:grpSp>
        <p:nvGrpSpPr>
          <p:cNvPr id="3" name="object 3"/>
          <p:cNvGrpSpPr/>
          <p:nvPr/>
        </p:nvGrpSpPr>
        <p:grpSpPr>
          <a:xfrm>
            <a:off x="377952" y="894588"/>
            <a:ext cx="8228965" cy="2788920"/>
            <a:chOff x="377952" y="894588"/>
            <a:chExt cx="8228965" cy="2788920"/>
          </a:xfrm>
        </p:grpSpPr>
        <p:pic>
          <p:nvPicPr>
            <p:cNvPr id="4" name="object 4"/>
            <p:cNvPicPr/>
            <p:nvPr/>
          </p:nvPicPr>
          <p:blipFill>
            <a:blip r:embed="rId3" cstate="print"/>
            <a:stretch>
              <a:fillRect/>
            </a:stretch>
          </p:blipFill>
          <p:spPr>
            <a:xfrm>
              <a:off x="377952" y="894588"/>
              <a:ext cx="8228838" cy="2788920"/>
            </a:xfrm>
            <a:prstGeom prst="rect">
              <a:avLst/>
            </a:prstGeom>
          </p:spPr>
        </p:pic>
        <p:pic>
          <p:nvPicPr>
            <p:cNvPr id="5" name="object 5"/>
            <p:cNvPicPr/>
            <p:nvPr/>
          </p:nvPicPr>
          <p:blipFill>
            <a:blip r:embed="rId4" cstate="print"/>
            <a:stretch>
              <a:fillRect/>
            </a:stretch>
          </p:blipFill>
          <p:spPr>
            <a:xfrm>
              <a:off x="419100" y="912876"/>
              <a:ext cx="8153400" cy="2713482"/>
            </a:xfrm>
            <a:prstGeom prst="rect">
              <a:avLst/>
            </a:prstGeom>
          </p:spPr>
        </p:pic>
      </p:grpSp>
      <p:sp>
        <p:nvSpPr>
          <p:cNvPr id="6" name="object 6"/>
          <p:cNvSpPr txBox="1"/>
          <p:nvPr/>
        </p:nvSpPr>
        <p:spPr>
          <a:xfrm>
            <a:off x="622045" y="1178559"/>
            <a:ext cx="6808470" cy="2062480"/>
          </a:xfrm>
          <a:prstGeom prst="rect">
            <a:avLst/>
          </a:prstGeom>
        </p:spPr>
        <p:txBody>
          <a:bodyPr vert="horz" wrap="square" lIns="0" tIns="12065" rIns="0" bIns="0" rtlCol="0">
            <a:spAutoFit/>
          </a:bodyPr>
          <a:lstStyle/>
          <a:p>
            <a:pPr marL="12700">
              <a:lnSpc>
                <a:spcPts val="2310"/>
              </a:lnSpc>
              <a:spcBef>
                <a:spcPts val="95"/>
              </a:spcBef>
            </a:pPr>
            <a:r>
              <a:rPr sz="2000" spc="-15" dirty="0">
                <a:solidFill>
                  <a:srgbClr val="FFFFFF"/>
                </a:solidFill>
                <a:latin typeface="Arial"/>
                <a:cs typeface="Arial"/>
              </a:rPr>
              <a:t>Transact-SQL</a:t>
            </a:r>
            <a:r>
              <a:rPr sz="2000" spc="-135" dirty="0">
                <a:solidFill>
                  <a:srgbClr val="FFFFFF"/>
                </a:solidFill>
                <a:latin typeface="Arial"/>
                <a:cs typeface="Arial"/>
              </a:rPr>
              <a:t> </a:t>
            </a:r>
            <a:r>
              <a:rPr sz="2000" spc="-50" dirty="0">
                <a:solidFill>
                  <a:srgbClr val="FFFFFF"/>
                </a:solidFill>
                <a:latin typeface="Arial"/>
                <a:cs typeface="Arial"/>
              </a:rPr>
              <a:t>is</a:t>
            </a:r>
            <a:r>
              <a:rPr sz="2000" spc="-135" dirty="0">
                <a:solidFill>
                  <a:srgbClr val="FFFFFF"/>
                </a:solidFill>
                <a:latin typeface="Arial"/>
                <a:cs typeface="Arial"/>
              </a:rPr>
              <a:t> </a:t>
            </a:r>
            <a:r>
              <a:rPr sz="2000" spc="-195" dirty="0">
                <a:solidFill>
                  <a:srgbClr val="FFFFFF"/>
                </a:solidFill>
                <a:latin typeface="Arial"/>
                <a:cs typeface="Arial"/>
              </a:rPr>
              <a:t>a</a:t>
            </a:r>
            <a:r>
              <a:rPr sz="2000" spc="-125" dirty="0">
                <a:solidFill>
                  <a:srgbClr val="FFFFFF"/>
                </a:solidFill>
                <a:latin typeface="Arial"/>
                <a:cs typeface="Arial"/>
              </a:rPr>
              <a:t> </a:t>
            </a:r>
            <a:r>
              <a:rPr sz="2000" spc="25" dirty="0">
                <a:solidFill>
                  <a:srgbClr val="FFFFFF"/>
                </a:solidFill>
                <a:latin typeface="Arial"/>
                <a:cs typeface="Arial"/>
              </a:rPr>
              <a:t>powerful</a:t>
            </a:r>
            <a:r>
              <a:rPr sz="2000" spc="-105" dirty="0">
                <a:solidFill>
                  <a:srgbClr val="FFFFFF"/>
                </a:solidFill>
                <a:latin typeface="Arial"/>
                <a:cs typeface="Arial"/>
              </a:rPr>
              <a:t> </a:t>
            </a:r>
            <a:r>
              <a:rPr sz="2000" spc="-80" dirty="0">
                <a:solidFill>
                  <a:srgbClr val="FFFFFF"/>
                </a:solidFill>
                <a:latin typeface="Arial"/>
                <a:cs typeface="Arial"/>
              </a:rPr>
              <a:t>language</a:t>
            </a:r>
            <a:r>
              <a:rPr sz="2000" spc="-120" dirty="0">
                <a:solidFill>
                  <a:srgbClr val="FFFFFF"/>
                </a:solidFill>
                <a:latin typeface="Arial"/>
                <a:cs typeface="Arial"/>
              </a:rPr>
              <a:t> </a:t>
            </a:r>
            <a:r>
              <a:rPr sz="2000" spc="25" dirty="0">
                <a:solidFill>
                  <a:srgbClr val="FFFFFF"/>
                </a:solidFill>
                <a:latin typeface="Arial"/>
                <a:cs typeface="Arial"/>
              </a:rPr>
              <a:t>offering</a:t>
            </a:r>
            <a:r>
              <a:rPr sz="2000" spc="-120" dirty="0">
                <a:solidFill>
                  <a:srgbClr val="FFFFFF"/>
                </a:solidFill>
                <a:latin typeface="Arial"/>
                <a:cs typeface="Arial"/>
              </a:rPr>
              <a:t> </a:t>
            </a:r>
            <a:r>
              <a:rPr sz="2000" spc="-50" dirty="0">
                <a:solidFill>
                  <a:srgbClr val="FFFFFF"/>
                </a:solidFill>
                <a:latin typeface="Arial"/>
                <a:cs typeface="Arial"/>
              </a:rPr>
              <a:t>features</a:t>
            </a:r>
            <a:r>
              <a:rPr sz="2000" spc="-105" dirty="0">
                <a:solidFill>
                  <a:srgbClr val="FFFFFF"/>
                </a:solidFill>
                <a:latin typeface="Arial"/>
                <a:cs typeface="Arial"/>
              </a:rPr>
              <a:t> </a:t>
            </a:r>
            <a:r>
              <a:rPr sz="2000" spc="-55" dirty="0">
                <a:solidFill>
                  <a:srgbClr val="FFFFFF"/>
                </a:solidFill>
                <a:latin typeface="Arial"/>
                <a:cs typeface="Arial"/>
              </a:rPr>
              <a:t>such</a:t>
            </a:r>
            <a:r>
              <a:rPr sz="2000" spc="-135" dirty="0">
                <a:solidFill>
                  <a:srgbClr val="FFFFFF"/>
                </a:solidFill>
                <a:latin typeface="Arial"/>
                <a:cs typeface="Arial"/>
              </a:rPr>
              <a:t> </a:t>
            </a:r>
            <a:r>
              <a:rPr sz="2000" spc="-150" dirty="0">
                <a:solidFill>
                  <a:srgbClr val="FFFFFF"/>
                </a:solidFill>
                <a:latin typeface="Arial"/>
                <a:cs typeface="Arial"/>
              </a:rPr>
              <a:t>as:</a:t>
            </a:r>
            <a:endParaRPr sz="2000">
              <a:latin typeface="Arial"/>
              <a:cs typeface="Arial"/>
            </a:endParaRPr>
          </a:p>
          <a:p>
            <a:pPr marL="355600" indent="-342900">
              <a:lnSpc>
                <a:spcPts val="1960"/>
              </a:lnSpc>
              <a:buClr>
                <a:srgbClr val="000000"/>
              </a:buClr>
              <a:buChar char="•"/>
              <a:tabLst>
                <a:tab pos="354965" algn="l"/>
                <a:tab pos="355600" algn="l"/>
              </a:tabLst>
            </a:pPr>
            <a:r>
              <a:rPr sz="1800" spc="-55" dirty="0">
                <a:solidFill>
                  <a:srgbClr val="FFFFFF"/>
                </a:solidFill>
                <a:latin typeface="Arial"/>
                <a:cs typeface="Arial"/>
              </a:rPr>
              <a:t>data</a:t>
            </a:r>
            <a:r>
              <a:rPr sz="1800" spc="-140" dirty="0">
                <a:solidFill>
                  <a:srgbClr val="FFFFFF"/>
                </a:solidFill>
                <a:latin typeface="Arial"/>
                <a:cs typeface="Arial"/>
              </a:rPr>
              <a:t> </a:t>
            </a:r>
            <a:r>
              <a:rPr sz="1800" spc="-50" dirty="0">
                <a:solidFill>
                  <a:srgbClr val="FFFFFF"/>
                </a:solidFill>
                <a:latin typeface="Arial"/>
                <a:cs typeface="Arial"/>
              </a:rPr>
              <a:t>types</a:t>
            </a:r>
            <a:endParaRPr sz="1800">
              <a:latin typeface="Arial"/>
              <a:cs typeface="Arial"/>
            </a:endParaRPr>
          </a:p>
          <a:p>
            <a:pPr marL="355600" indent="-342900">
              <a:lnSpc>
                <a:spcPts val="1945"/>
              </a:lnSpc>
              <a:buClr>
                <a:srgbClr val="000000"/>
              </a:buClr>
              <a:buChar char="•"/>
              <a:tabLst>
                <a:tab pos="354965" algn="l"/>
                <a:tab pos="355600" algn="l"/>
              </a:tabLst>
            </a:pPr>
            <a:r>
              <a:rPr sz="1800" spc="-15" dirty="0">
                <a:solidFill>
                  <a:srgbClr val="FFFFFF"/>
                </a:solidFill>
                <a:latin typeface="Arial"/>
                <a:cs typeface="Arial"/>
              </a:rPr>
              <a:t>temporary</a:t>
            </a:r>
            <a:r>
              <a:rPr sz="1800" spc="-125" dirty="0">
                <a:solidFill>
                  <a:srgbClr val="FFFFFF"/>
                </a:solidFill>
                <a:latin typeface="Arial"/>
                <a:cs typeface="Arial"/>
              </a:rPr>
              <a:t> </a:t>
            </a:r>
            <a:r>
              <a:rPr sz="1800" spc="-40" dirty="0">
                <a:solidFill>
                  <a:srgbClr val="FFFFFF"/>
                </a:solidFill>
                <a:latin typeface="Arial"/>
                <a:cs typeface="Arial"/>
              </a:rPr>
              <a:t>objects</a:t>
            </a:r>
            <a:endParaRPr sz="1800">
              <a:latin typeface="Arial"/>
              <a:cs typeface="Arial"/>
            </a:endParaRPr>
          </a:p>
          <a:p>
            <a:pPr marL="355600" indent="-342900">
              <a:lnSpc>
                <a:spcPts val="1945"/>
              </a:lnSpc>
              <a:buClr>
                <a:srgbClr val="000000"/>
              </a:buClr>
              <a:buChar char="•"/>
              <a:tabLst>
                <a:tab pos="354965" algn="l"/>
                <a:tab pos="355600" algn="l"/>
              </a:tabLst>
            </a:pPr>
            <a:r>
              <a:rPr sz="1800" spc="-25" dirty="0">
                <a:solidFill>
                  <a:srgbClr val="FFFFFF"/>
                </a:solidFill>
                <a:latin typeface="Arial"/>
                <a:cs typeface="Arial"/>
              </a:rPr>
              <a:t>extended </a:t>
            </a:r>
            <a:r>
              <a:rPr sz="1800" spc="-30" dirty="0">
                <a:solidFill>
                  <a:srgbClr val="FFFFFF"/>
                </a:solidFill>
                <a:latin typeface="Arial"/>
                <a:cs typeface="Arial"/>
              </a:rPr>
              <a:t>stored</a:t>
            </a:r>
            <a:r>
              <a:rPr sz="1800" spc="-235" dirty="0">
                <a:solidFill>
                  <a:srgbClr val="FFFFFF"/>
                </a:solidFill>
                <a:latin typeface="Arial"/>
                <a:cs typeface="Arial"/>
              </a:rPr>
              <a:t> </a:t>
            </a:r>
            <a:r>
              <a:rPr sz="1800" spc="-45" dirty="0">
                <a:solidFill>
                  <a:srgbClr val="FFFFFF"/>
                </a:solidFill>
                <a:latin typeface="Arial"/>
                <a:cs typeface="Arial"/>
              </a:rPr>
              <a:t>procedures</a:t>
            </a:r>
            <a:endParaRPr sz="1800">
              <a:latin typeface="Arial"/>
              <a:cs typeface="Arial"/>
            </a:endParaRPr>
          </a:p>
          <a:p>
            <a:pPr marL="355600" indent="-342900">
              <a:lnSpc>
                <a:spcPts val="1945"/>
              </a:lnSpc>
              <a:buClr>
                <a:srgbClr val="000000"/>
              </a:buClr>
              <a:buChar char="•"/>
              <a:tabLst>
                <a:tab pos="354965" algn="l"/>
                <a:tab pos="355600" algn="l"/>
              </a:tabLst>
            </a:pPr>
            <a:r>
              <a:rPr sz="1800" spc="-20" dirty="0">
                <a:solidFill>
                  <a:srgbClr val="FFFFFF"/>
                </a:solidFill>
                <a:latin typeface="Arial"/>
                <a:cs typeface="Arial"/>
              </a:rPr>
              <a:t>Scrollable</a:t>
            </a:r>
            <a:r>
              <a:rPr sz="1800" spc="-130" dirty="0">
                <a:solidFill>
                  <a:srgbClr val="FFFFFF"/>
                </a:solidFill>
                <a:latin typeface="Arial"/>
                <a:cs typeface="Arial"/>
              </a:rPr>
              <a:t> </a:t>
            </a:r>
            <a:r>
              <a:rPr sz="1800" spc="-45" dirty="0">
                <a:solidFill>
                  <a:srgbClr val="FFFFFF"/>
                </a:solidFill>
                <a:latin typeface="Arial"/>
                <a:cs typeface="Arial"/>
              </a:rPr>
              <a:t>cursors</a:t>
            </a:r>
            <a:endParaRPr sz="1800">
              <a:latin typeface="Arial"/>
              <a:cs typeface="Arial"/>
            </a:endParaRPr>
          </a:p>
          <a:p>
            <a:pPr marL="355600" indent="-342900">
              <a:lnSpc>
                <a:spcPts val="1945"/>
              </a:lnSpc>
              <a:buClr>
                <a:srgbClr val="000000"/>
              </a:buClr>
              <a:buChar char="•"/>
              <a:tabLst>
                <a:tab pos="354965" algn="l"/>
                <a:tab pos="355600" algn="l"/>
              </a:tabLst>
            </a:pPr>
            <a:r>
              <a:rPr sz="1800" spc="25" dirty="0">
                <a:solidFill>
                  <a:srgbClr val="FFFFFF"/>
                </a:solidFill>
                <a:latin typeface="Arial"/>
                <a:cs typeface="Arial"/>
              </a:rPr>
              <a:t>conditional</a:t>
            </a:r>
            <a:r>
              <a:rPr sz="1800" spc="-130" dirty="0">
                <a:solidFill>
                  <a:srgbClr val="FFFFFF"/>
                </a:solidFill>
                <a:latin typeface="Arial"/>
                <a:cs typeface="Arial"/>
              </a:rPr>
              <a:t> </a:t>
            </a:r>
            <a:r>
              <a:rPr sz="1800" spc="-55" dirty="0">
                <a:solidFill>
                  <a:srgbClr val="FFFFFF"/>
                </a:solidFill>
                <a:latin typeface="Arial"/>
                <a:cs typeface="Arial"/>
              </a:rPr>
              <a:t>processing</a:t>
            </a:r>
            <a:endParaRPr sz="1800">
              <a:latin typeface="Arial"/>
              <a:cs typeface="Arial"/>
            </a:endParaRPr>
          </a:p>
          <a:p>
            <a:pPr marL="355600" indent="-342900">
              <a:lnSpc>
                <a:spcPts val="1945"/>
              </a:lnSpc>
              <a:buClr>
                <a:srgbClr val="000000"/>
              </a:buClr>
              <a:buChar char="•"/>
              <a:tabLst>
                <a:tab pos="354965" algn="l"/>
                <a:tab pos="355600" algn="l"/>
              </a:tabLst>
            </a:pPr>
            <a:r>
              <a:rPr sz="1800" spc="-10" dirty="0">
                <a:solidFill>
                  <a:srgbClr val="FFFFFF"/>
                </a:solidFill>
                <a:latin typeface="Arial"/>
                <a:cs typeface="Arial"/>
              </a:rPr>
              <a:t>transaction</a:t>
            </a:r>
            <a:r>
              <a:rPr sz="1800" spc="-130" dirty="0">
                <a:solidFill>
                  <a:srgbClr val="FFFFFF"/>
                </a:solidFill>
                <a:latin typeface="Arial"/>
                <a:cs typeface="Arial"/>
              </a:rPr>
              <a:t> </a:t>
            </a:r>
            <a:r>
              <a:rPr sz="1800" spc="30" dirty="0">
                <a:solidFill>
                  <a:srgbClr val="FFFFFF"/>
                </a:solidFill>
                <a:latin typeface="Arial"/>
                <a:cs typeface="Arial"/>
              </a:rPr>
              <a:t>control</a:t>
            </a:r>
            <a:endParaRPr sz="1800">
              <a:latin typeface="Arial"/>
              <a:cs typeface="Arial"/>
            </a:endParaRPr>
          </a:p>
          <a:p>
            <a:pPr marL="355600" indent="-342900">
              <a:lnSpc>
                <a:spcPts val="2050"/>
              </a:lnSpc>
              <a:buClr>
                <a:srgbClr val="000000"/>
              </a:buClr>
              <a:buChar char="•"/>
              <a:tabLst>
                <a:tab pos="354965" algn="l"/>
                <a:tab pos="355600" algn="l"/>
              </a:tabLst>
            </a:pPr>
            <a:r>
              <a:rPr sz="1800" spc="-10" dirty="0">
                <a:solidFill>
                  <a:srgbClr val="FFFFFF"/>
                </a:solidFill>
                <a:latin typeface="Arial"/>
                <a:cs typeface="Arial"/>
              </a:rPr>
              <a:t>exception </a:t>
            </a:r>
            <a:r>
              <a:rPr sz="1800" spc="-35" dirty="0">
                <a:solidFill>
                  <a:srgbClr val="FFFFFF"/>
                </a:solidFill>
                <a:latin typeface="Arial"/>
                <a:cs typeface="Arial"/>
              </a:rPr>
              <a:t>and</a:t>
            </a:r>
            <a:r>
              <a:rPr sz="1800" spc="145" dirty="0">
                <a:solidFill>
                  <a:srgbClr val="FFFFFF"/>
                </a:solidFill>
                <a:latin typeface="Arial"/>
                <a:cs typeface="Arial"/>
              </a:rPr>
              <a:t> </a:t>
            </a:r>
            <a:r>
              <a:rPr sz="1800" spc="10" dirty="0">
                <a:solidFill>
                  <a:srgbClr val="FFFFFF"/>
                </a:solidFill>
                <a:latin typeface="Arial"/>
                <a:cs typeface="Arial"/>
              </a:rPr>
              <a:t>error-handling</a:t>
            </a:r>
            <a:endParaRPr sz="1800">
              <a:latin typeface="Arial"/>
              <a:cs typeface="Arial"/>
            </a:endParaRPr>
          </a:p>
        </p:txBody>
      </p:sp>
      <p:grpSp>
        <p:nvGrpSpPr>
          <p:cNvPr id="7" name="object 7"/>
          <p:cNvGrpSpPr/>
          <p:nvPr/>
        </p:nvGrpSpPr>
        <p:grpSpPr>
          <a:xfrm>
            <a:off x="447294" y="4347984"/>
            <a:ext cx="8228965" cy="2086610"/>
            <a:chOff x="447294" y="4347984"/>
            <a:chExt cx="8228965" cy="2086610"/>
          </a:xfrm>
        </p:grpSpPr>
        <p:pic>
          <p:nvPicPr>
            <p:cNvPr id="8" name="object 8"/>
            <p:cNvPicPr/>
            <p:nvPr/>
          </p:nvPicPr>
          <p:blipFill>
            <a:blip r:embed="rId5" cstate="print"/>
            <a:stretch>
              <a:fillRect/>
            </a:stretch>
          </p:blipFill>
          <p:spPr>
            <a:xfrm>
              <a:off x="447294" y="4347984"/>
              <a:ext cx="8228838" cy="2086356"/>
            </a:xfrm>
            <a:prstGeom prst="rect">
              <a:avLst/>
            </a:prstGeom>
          </p:spPr>
        </p:pic>
        <p:pic>
          <p:nvPicPr>
            <p:cNvPr id="9" name="object 9"/>
            <p:cNvPicPr/>
            <p:nvPr/>
          </p:nvPicPr>
          <p:blipFill>
            <a:blip r:embed="rId6" cstate="print"/>
            <a:stretch>
              <a:fillRect/>
            </a:stretch>
          </p:blipFill>
          <p:spPr>
            <a:xfrm>
              <a:off x="499872" y="4442434"/>
              <a:ext cx="8123682" cy="1946148"/>
            </a:xfrm>
            <a:prstGeom prst="rect">
              <a:avLst/>
            </a:prstGeom>
          </p:spPr>
        </p:pic>
        <p:pic>
          <p:nvPicPr>
            <p:cNvPr id="10" name="object 10"/>
            <p:cNvPicPr/>
            <p:nvPr/>
          </p:nvPicPr>
          <p:blipFill>
            <a:blip r:embed="rId7" cstate="print"/>
            <a:stretch>
              <a:fillRect/>
            </a:stretch>
          </p:blipFill>
          <p:spPr>
            <a:xfrm>
              <a:off x="488442" y="4366259"/>
              <a:ext cx="8153400" cy="2010917"/>
            </a:xfrm>
            <a:prstGeom prst="rect">
              <a:avLst/>
            </a:prstGeom>
          </p:spPr>
        </p:pic>
      </p:grpSp>
      <p:sp>
        <p:nvSpPr>
          <p:cNvPr id="11" name="object 11"/>
          <p:cNvSpPr txBox="1"/>
          <p:nvPr/>
        </p:nvSpPr>
        <p:spPr>
          <a:xfrm>
            <a:off x="5270753" y="5587746"/>
            <a:ext cx="737235" cy="300355"/>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FFFFFF"/>
                </a:solidFill>
                <a:latin typeface="Arial"/>
                <a:cs typeface="Arial"/>
              </a:rPr>
              <a:t>pag</a:t>
            </a:r>
            <a:r>
              <a:rPr sz="1800" spc="-35" dirty="0">
                <a:solidFill>
                  <a:srgbClr val="FFFFFF"/>
                </a:solidFill>
                <a:latin typeface="Arial"/>
                <a:cs typeface="Arial"/>
              </a:rPr>
              <a:t>i</a:t>
            </a:r>
            <a:r>
              <a:rPr sz="1800" spc="-30" dirty="0">
                <a:solidFill>
                  <a:srgbClr val="FFFFFF"/>
                </a:solidFill>
                <a:latin typeface="Arial"/>
                <a:cs typeface="Arial"/>
              </a:rPr>
              <a:t>n</a:t>
            </a:r>
            <a:r>
              <a:rPr sz="1800" spc="-40" dirty="0">
                <a:solidFill>
                  <a:srgbClr val="FFFFFF"/>
                </a:solidFill>
                <a:latin typeface="Arial"/>
                <a:cs typeface="Arial"/>
              </a:rPr>
              <a:t>g</a:t>
            </a:r>
            <a:r>
              <a:rPr sz="1800" spc="-50" dirty="0">
                <a:solidFill>
                  <a:srgbClr val="FFFFFF"/>
                </a:solidFill>
                <a:latin typeface="Arial"/>
                <a:cs typeface="Arial"/>
              </a:rPr>
              <a:t>,</a:t>
            </a:r>
            <a:endParaRPr sz="1800">
              <a:latin typeface="Arial"/>
              <a:cs typeface="Arial"/>
            </a:endParaRPr>
          </a:p>
        </p:txBody>
      </p:sp>
      <p:sp>
        <p:nvSpPr>
          <p:cNvPr id="16" name="object 1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4</a:t>
            </a:fld>
            <a:endParaRPr sz="1200"/>
          </a:p>
        </p:txBody>
      </p:sp>
      <p:sp>
        <p:nvSpPr>
          <p:cNvPr id="17" name="object 1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2" name="object 12"/>
          <p:cNvSpPr txBox="1"/>
          <p:nvPr/>
        </p:nvSpPr>
        <p:spPr>
          <a:xfrm>
            <a:off x="6198361" y="5587746"/>
            <a:ext cx="1079500" cy="300355"/>
          </a:xfrm>
          <a:prstGeom prst="rect">
            <a:avLst/>
          </a:prstGeom>
        </p:spPr>
        <p:txBody>
          <a:bodyPr vert="horz" wrap="square" lIns="0" tIns="12700" rIns="0" bIns="0" rtlCol="0">
            <a:spAutoFit/>
          </a:bodyPr>
          <a:lstStyle/>
          <a:p>
            <a:pPr marL="12700">
              <a:lnSpc>
                <a:spcPct val="100000"/>
              </a:lnSpc>
              <a:spcBef>
                <a:spcPts val="100"/>
              </a:spcBef>
            </a:pPr>
            <a:r>
              <a:rPr sz="1800" spc="-95" dirty="0">
                <a:solidFill>
                  <a:srgbClr val="FFFFFF"/>
                </a:solidFill>
                <a:latin typeface="Arial"/>
                <a:cs typeface="Arial"/>
              </a:rPr>
              <a:t>sequences,</a:t>
            </a:r>
            <a:endParaRPr sz="1800">
              <a:latin typeface="Arial"/>
              <a:cs typeface="Arial"/>
            </a:endParaRPr>
          </a:p>
        </p:txBody>
      </p:sp>
      <p:sp>
        <p:nvSpPr>
          <p:cNvPr id="13" name="object 13"/>
          <p:cNvSpPr txBox="1"/>
          <p:nvPr/>
        </p:nvSpPr>
        <p:spPr>
          <a:xfrm>
            <a:off x="7467854" y="5587746"/>
            <a:ext cx="999490" cy="300355"/>
          </a:xfrm>
          <a:prstGeom prst="rect">
            <a:avLst/>
          </a:prstGeom>
        </p:spPr>
        <p:txBody>
          <a:bodyPr vert="horz" wrap="square" lIns="0" tIns="12700" rIns="0" bIns="0" rtlCol="0">
            <a:spAutoFit/>
          </a:bodyPr>
          <a:lstStyle/>
          <a:p>
            <a:pPr marL="12700">
              <a:lnSpc>
                <a:spcPct val="100000"/>
              </a:lnSpc>
              <a:spcBef>
                <a:spcPts val="100"/>
              </a:spcBef>
            </a:pPr>
            <a:r>
              <a:rPr sz="1800" spc="-60" dirty="0">
                <a:solidFill>
                  <a:srgbClr val="FFFFFF"/>
                </a:solidFill>
                <a:latin typeface="Arial"/>
                <a:cs typeface="Arial"/>
              </a:rPr>
              <a:t>met</a:t>
            </a:r>
            <a:r>
              <a:rPr sz="1800" spc="-65" dirty="0">
                <a:solidFill>
                  <a:srgbClr val="FFFFFF"/>
                </a:solidFill>
                <a:latin typeface="Arial"/>
                <a:cs typeface="Arial"/>
              </a:rPr>
              <a:t>a</a:t>
            </a:r>
            <a:r>
              <a:rPr sz="1800" dirty="0">
                <a:solidFill>
                  <a:srgbClr val="FFFFFF"/>
                </a:solidFill>
                <a:latin typeface="Arial"/>
                <a:cs typeface="Arial"/>
              </a:rPr>
              <a:t>-</a:t>
            </a:r>
            <a:r>
              <a:rPr sz="1800" spc="-80" dirty="0">
                <a:solidFill>
                  <a:srgbClr val="FFFFFF"/>
                </a:solidFill>
                <a:latin typeface="Arial"/>
                <a:cs typeface="Arial"/>
              </a:rPr>
              <a:t>d</a:t>
            </a:r>
            <a:r>
              <a:rPr sz="1800" spc="-90" dirty="0">
                <a:solidFill>
                  <a:srgbClr val="FFFFFF"/>
                </a:solidFill>
                <a:latin typeface="Arial"/>
                <a:cs typeface="Arial"/>
              </a:rPr>
              <a:t>a</a:t>
            </a:r>
            <a:r>
              <a:rPr sz="1800" spc="-30" dirty="0">
                <a:solidFill>
                  <a:srgbClr val="FFFFFF"/>
                </a:solidFill>
                <a:latin typeface="Arial"/>
                <a:cs typeface="Arial"/>
              </a:rPr>
              <a:t>ta</a:t>
            </a:r>
            <a:endParaRPr sz="1800">
              <a:latin typeface="Arial"/>
              <a:cs typeface="Arial"/>
            </a:endParaRPr>
          </a:p>
        </p:txBody>
      </p:sp>
      <p:sp>
        <p:nvSpPr>
          <p:cNvPr id="14" name="object 14"/>
          <p:cNvSpPr txBox="1"/>
          <p:nvPr/>
        </p:nvSpPr>
        <p:spPr>
          <a:xfrm>
            <a:off x="637286" y="3948683"/>
            <a:ext cx="4654550" cy="2213610"/>
          </a:xfrm>
          <a:prstGeom prst="rect">
            <a:avLst/>
          </a:prstGeom>
        </p:spPr>
        <p:txBody>
          <a:bodyPr vert="horz" wrap="square" lIns="0" tIns="12700" rIns="0" bIns="0" rtlCol="0">
            <a:spAutoFit/>
          </a:bodyPr>
          <a:lstStyle/>
          <a:p>
            <a:pPr marL="12700">
              <a:lnSpc>
                <a:spcPct val="100000"/>
              </a:lnSpc>
              <a:spcBef>
                <a:spcPts val="100"/>
              </a:spcBef>
            </a:pPr>
            <a:r>
              <a:rPr sz="2000" spc="15" dirty="0">
                <a:latin typeface="Arial"/>
                <a:cs typeface="Arial"/>
              </a:rPr>
              <a:t>The </a:t>
            </a:r>
            <a:r>
              <a:rPr sz="2000" spc="-15" dirty="0">
                <a:latin typeface="Arial"/>
                <a:cs typeface="Arial"/>
              </a:rPr>
              <a:t>Transact-SQL </a:t>
            </a:r>
            <a:r>
              <a:rPr sz="2000" spc="-80" dirty="0">
                <a:latin typeface="Arial"/>
                <a:cs typeface="Arial"/>
              </a:rPr>
              <a:t>language </a:t>
            </a:r>
            <a:r>
              <a:rPr sz="2000" spc="-80">
                <a:latin typeface="Arial"/>
                <a:cs typeface="Arial"/>
              </a:rPr>
              <a:t>also</a:t>
            </a:r>
            <a:r>
              <a:rPr sz="2000" spc="-415">
                <a:latin typeface="Arial"/>
                <a:cs typeface="Arial"/>
              </a:rPr>
              <a:t> </a:t>
            </a:r>
            <a:r>
              <a:rPr lang="en-US" sz="2000" spc="-415">
                <a:latin typeface="Arial"/>
                <a:cs typeface="Arial"/>
              </a:rPr>
              <a:t> </a:t>
            </a:r>
            <a:r>
              <a:rPr sz="2000" spc="-25">
                <a:latin typeface="Arial"/>
                <a:cs typeface="Arial"/>
              </a:rPr>
              <a:t>provides</a:t>
            </a:r>
            <a:r>
              <a:rPr sz="2000" spc="-25" dirty="0">
                <a:latin typeface="Arial"/>
                <a:cs typeface="Arial"/>
              </a:rPr>
              <a:t>:</a:t>
            </a:r>
            <a:endParaRPr sz="2000">
              <a:latin typeface="Arial"/>
              <a:cs typeface="Arial"/>
            </a:endParaRPr>
          </a:p>
          <a:p>
            <a:pPr marL="326390" indent="-286385">
              <a:lnSpc>
                <a:spcPct val="100000"/>
              </a:lnSpc>
              <a:spcBef>
                <a:spcPts val="1864"/>
              </a:spcBef>
              <a:buClr>
                <a:srgbClr val="000000"/>
              </a:buClr>
              <a:buChar char="•"/>
              <a:tabLst>
                <a:tab pos="326390" algn="l"/>
                <a:tab pos="327025" algn="l"/>
              </a:tabLst>
            </a:pPr>
            <a:r>
              <a:rPr sz="1800" spc="5" dirty="0">
                <a:solidFill>
                  <a:srgbClr val="FFFFFF"/>
                </a:solidFill>
                <a:latin typeface="Arial"/>
                <a:cs typeface="Arial"/>
              </a:rPr>
              <a:t>improved</a:t>
            </a:r>
            <a:r>
              <a:rPr sz="1800" spc="-210" dirty="0">
                <a:solidFill>
                  <a:srgbClr val="FFFFFF"/>
                </a:solidFill>
                <a:latin typeface="Arial"/>
                <a:cs typeface="Arial"/>
              </a:rPr>
              <a:t> </a:t>
            </a:r>
            <a:r>
              <a:rPr sz="1800" spc="-25" dirty="0">
                <a:solidFill>
                  <a:srgbClr val="FFFFFF"/>
                </a:solidFill>
                <a:latin typeface="Arial"/>
                <a:cs typeface="Arial"/>
              </a:rPr>
              <a:t>performance</a:t>
            </a:r>
            <a:endParaRPr sz="1800">
              <a:latin typeface="Arial"/>
              <a:cs typeface="Arial"/>
            </a:endParaRPr>
          </a:p>
          <a:p>
            <a:pPr marL="326390" indent="-286385">
              <a:lnSpc>
                <a:spcPct val="100000"/>
              </a:lnSpc>
              <a:buClr>
                <a:srgbClr val="000000"/>
              </a:buClr>
              <a:buChar char="•"/>
              <a:tabLst>
                <a:tab pos="326390" algn="l"/>
                <a:tab pos="327025" algn="l"/>
              </a:tabLst>
            </a:pPr>
            <a:r>
              <a:rPr sz="1800" spc="-60" dirty="0">
                <a:solidFill>
                  <a:srgbClr val="FFFFFF"/>
                </a:solidFill>
                <a:latin typeface="Arial"/>
                <a:cs typeface="Arial"/>
              </a:rPr>
              <a:t>increased</a:t>
            </a:r>
            <a:r>
              <a:rPr sz="1800" spc="-150" dirty="0">
                <a:solidFill>
                  <a:srgbClr val="FFFFFF"/>
                </a:solidFill>
                <a:latin typeface="Arial"/>
                <a:cs typeface="Arial"/>
              </a:rPr>
              <a:t> </a:t>
            </a:r>
            <a:r>
              <a:rPr sz="1800" spc="40" dirty="0">
                <a:solidFill>
                  <a:srgbClr val="FFFFFF"/>
                </a:solidFill>
                <a:latin typeface="Arial"/>
                <a:cs typeface="Arial"/>
              </a:rPr>
              <a:t>functionality</a:t>
            </a:r>
            <a:endParaRPr sz="1800">
              <a:latin typeface="Arial"/>
              <a:cs typeface="Arial"/>
            </a:endParaRPr>
          </a:p>
          <a:p>
            <a:pPr marL="326390" indent="-286385">
              <a:lnSpc>
                <a:spcPct val="100000"/>
              </a:lnSpc>
              <a:buClr>
                <a:srgbClr val="000000"/>
              </a:buClr>
              <a:buChar char="•"/>
              <a:tabLst>
                <a:tab pos="326390" algn="l"/>
                <a:tab pos="327025" algn="l"/>
              </a:tabLst>
            </a:pPr>
            <a:r>
              <a:rPr sz="1800" spc="-50" dirty="0">
                <a:solidFill>
                  <a:srgbClr val="FFFFFF"/>
                </a:solidFill>
                <a:latin typeface="Arial"/>
                <a:cs typeface="Arial"/>
              </a:rPr>
              <a:t>enhanced</a:t>
            </a:r>
            <a:r>
              <a:rPr sz="1800" spc="-130" dirty="0">
                <a:solidFill>
                  <a:srgbClr val="FFFFFF"/>
                </a:solidFill>
                <a:latin typeface="Arial"/>
                <a:cs typeface="Arial"/>
              </a:rPr>
              <a:t> </a:t>
            </a:r>
            <a:r>
              <a:rPr sz="1800" spc="-45" dirty="0">
                <a:solidFill>
                  <a:srgbClr val="FFFFFF"/>
                </a:solidFill>
                <a:latin typeface="Arial"/>
                <a:cs typeface="Arial"/>
              </a:rPr>
              <a:t>features.</a:t>
            </a:r>
            <a:endParaRPr sz="1800">
              <a:latin typeface="Arial"/>
              <a:cs typeface="Arial"/>
            </a:endParaRPr>
          </a:p>
          <a:p>
            <a:pPr marL="40640">
              <a:lnSpc>
                <a:spcPct val="100000"/>
              </a:lnSpc>
              <a:spcBef>
                <a:spcPts val="2160"/>
              </a:spcBef>
              <a:tabLst>
                <a:tab pos="1711960" algn="l"/>
                <a:tab pos="2662555" algn="l"/>
                <a:tab pos="3430270" algn="l"/>
              </a:tabLst>
            </a:pPr>
            <a:r>
              <a:rPr sz="1800" spc="-50" dirty="0">
                <a:solidFill>
                  <a:srgbClr val="FFFFFF"/>
                </a:solidFill>
                <a:latin typeface="Arial"/>
                <a:cs typeface="Arial"/>
              </a:rPr>
              <a:t>Enhancements	</a:t>
            </a:r>
            <a:r>
              <a:rPr sz="1800" spc="10" dirty="0">
                <a:solidFill>
                  <a:srgbClr val="FFFFFF"/>
                </a:solidFill>
                <a:latin typeface="Arial"/>
                <a:cs typeface="Arial"/>
              </a:rPr>
              <a:t>include	</a:t>
            </a:r>
            <a:r>
              <a:rPr sz="1800" spc="-80" dirty="0">
                <a:solidFill>
                  <a:srgbClr val="FFFFFF"/>
                </a:solidFill>
                <a:latin typeface="Arial"/>
                <a:cs typeface="Arial"/>
              </a:rPr>
              <a:t>scalar	</a:t>
            </a:r>
            <a:r>
              <a:rPr sz="1800" spc="15" dirty="0">
                <a:solidFill>
                  <a:srgbClr val="FFFFFF"/>
                </a:solidFill>
                <a:latin typeface="Arial"/>
                <a:cs typeface="Arial"/>
              </a:rPr>
              <a:t>functions,</a:t>
            </a:r>
            <a:endParaRPr sz="1800">
              <a:latin typeface="Arial"/>
              <a:cs typeface="Arial"/>
            </a:endParaRPr>
          </a:p>
          <a:p>
            <a:pPr marL="40640">
              <a:lnSpc>
                <a:spcPct val="100000"/>
              </a:lnSpc>
              <a:spcBef>
                <a:spcPts val="5"/>
              </a:spcBef>
            </a:pPr>
            <a:r>
              <a:rPr sz="1800" spc="-30" dirty="0">
                <a:solidFill>
                  <a:srgbClr val="FFFFFF"/>
                </a:solidFill>
                <a:latin typeface="Arial"/>
                <a:cs typeface="Arial"/>
              </a:rPr>
              <a:t>discovery,</a:t>
            </a:r>
            <a:r>
              <a:rPr sz="1800" spc="-114" dirty="0">
                <a:solidFill>
                  <a:srgbClr val="FFFFFF"/>
                </a:solidFill>
                <a:latin typeface="Arial"/>
                <a:cs typeface="Arial"/>
              </a:rPr>
              <a:t> </a:t>
            </a:r>
            <a:r>
              <a:rPr sz="1800" spc="-35" dirty="0">
                <a:solidFill>
                  <a:srgbClr val="FFFFFF"/>
                </a:solidFill>
                <a:latin typeface="Arial"/>
                <a:cs typeface="Arial"/>
              </a:rPr>
              <a:t>and</a:t>
            </a:r>
            <a:r>
              <a:rPr sz="1800" spc="-114" dirty="0">
                <a:solidFill>
                  <a:srgbClr val="FFFFFF"/>
                </a:solidFill>
                <a:latin typeface="Arial"/>
                <a:cs typeface="Arial"/>
              </a:rPr>
              <a:t> </a:t>
            </a:r>
            <a:r>
              <a:rPr sz="1800" spc="-10" dirty="0">
                <a:solidFill>
                  <a:srgbClr val="FFFFFF"/>
                </a:solidFill>
                <a:latin typeface="Arial"/>
                <a:cs typeface="Arial"/>
              </a:rPr>
              <a:t>better</a:t>
            </a:r>
            <a:r>
              <a:rPr sz="1800" spc="-120" dirty="0">
                <a:solidFill>
                  <a:srgbClr val="FFFFFF"/>
                </a:solidFill>
                <a:latin typeface="Arial"/>
                <a:cs typeface="Arial"/>
              </a:rPr>
              <a:t> </a:t>
            </a:r>
            <a:r>
              <a:rPr sz="1800" spc="10" dirty="0">
                <a:solidFill>
                  <a:srgbClr val="FFFFFF"/>
                </a:solidFill>
                <a:latin typeface="Arial"/>
                <a:cs typeface="Arial"/>
              </a:rPr>
              <a:t>error</a:t>
            </a:r>
            <a:r>
              <a:rPr sz="1800" spc="-120" dirty="0">
                <a:solidFill>
                  <a:srgbClr val="FFFFFF"/>
                </a:solidFill>
                <a:latin typeface="Arial"/>
                <a:cs typeface="Arial"/>
              </a:rPr>
              <a:t> </a:t>
            </a:r>
            <a:r>
              <a:rPr sz="1800" spc="10" dirty="0">
                <a:solidFill>
                  <a:srgbClr val="FFFFFF"/>
                </a:solidFill>
                <a:latin typeface="Arial"/>
                <a:cs typeface="Arial"/>
              </a:rPr>
              <a:t>handling</a:t>
            </a:r>
            <a:r>
              <a:rPr sz="1800" spc="-120" dirty="0">
                <a:solidFill>
                  <a:srgbClr val="FFFFFF"/>
                </a:solidFill>
                <a:latin typeface="Arial"/>
                <a:cs typeface="Arial"/>
              </a:rPr>
              <a:t> </a:t>
            </a:r>
            <a:r>
              <a:rPr sz="1800" spc="-5" dirty="0">
                <a:solidFill>
                  <a:srgbClr val="FFFFFF"/>
                </a:solidFill>
                <a:latin typeface="Arial"/>
                <a:cs typeface="Arial"/>
              </a:rPr>
              <a:t>support.</a:t>
            </a:r>
            <a:endParaRPr sz="18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0"/>
            <a:ext cx="3911600" cy="635635"/>
          </a:xfrm>
          <a:prstGeom prst="rect">
            <a:avLst/>
          </a:prstGeom>
        </p:spPr>
        <p:txBody>
          <a:bodyPr vert="horz" wrap="square" lIns="0" tIns="12700" rIns="0" bIns="0" rtlCol="0">
            <a:spAutoFit/>
          </a:bodyPr>
          <a:lstStyle/>
          <a:p>
            <a:pPr marL="12700">
              <a:lnSpc>
                <a:spcPct val="100000"/>
              </a:lnSpc>
              <a:spcBef>
                <a:spcPts val="100"/>
              </a:spcBef>
            </a:pPr>
            <a:r>
              <a:rPr spc="-25" dirty="0"/>
              <a:t>Transact-SQL</a:t>
            </a:r>
            <a:r>
              <a:rPr spc="-320" dirty="0"/>
              <a:t> </a:t>
            </a:r>
            <a:r>
              <a:rPr spc="-225" dirty="0"/>
              <a:t>2-2</a:t>
            </a:r>
          </a:p>
        </p:txBody>
      </p:sp>
      <p:pic>
        <p:nvPicPr>
          <p:cNvPr id="3" name="object 3"/>
          <p:cNvPicPr/>
          <p:nvPr/>
        </p:nvPicPr>
        <p:blipFill>
          <a:blip r:embed="rId3" cstate="print"/>
          <a:stretch>
            <a:fillRect/>
          </a:stretch>
        </p:blipFill>
        <p:spPr>
          <a:xfrm>
            <a:off x="1238250" y="1103375"/>
            <a:ext cx="6836664" cy="1597914"/>
          </a:xfrm>
          <a:prstGeom prst="rect">
            <a:avLst/>
          </a:prstGeom>
        </p:spPr>
      </p:pic>
      <p:pic>
        <p:nvPicPr>
          <p:cNvPr id="4" name="object 4"/>
          <p:cNvPicPr/>
          <p:nvPr/>
        </p:nvPicPr>
        <p:blipFill>
          <a:blip r:embed="rId4" cstate="print"/>
          <a:stretch>
            <a:fillRect/>
          </a:stretch>
        </p:blipFill>
        <p:spPr>
          <a:xfrm>
            <a:off x="2667000" y="2800350"/>
            <a:ext cx="3986784" cy="1597152"/>
          </a:xfrm>
          <a:prstGeom prst="rect">
            <a:avLst/>
          </a:prstGeom>
        </p:spPr>
      </p:pic>
      <p:sp>
        <p:nvSpPr>
          <p:cNvPr id="5" name="object 5"/>
          <p:cNvSpPr txBox="1"/>
          <p:nvPr/>
        </p:nvSpPr>
        <p:spPr>
          <a:xfrm>
            <a:off x="599186" y="4567682"/>
            <a:ext cx="8169909" cy="1245235"/>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4965" algn="l"/>
                <a:tab pos="355600" algn="l"/>
              </a:tabLst>
            </a:pPr>
            <a:r>
              <a:rPr sz="2000" spc="-15" dirty="0">
                <a:latin typeface="Arial"/>
                <a:cs typeface="Arial"/>
              </a:rPr>
              <a:t>Transact-SQL </a:t>
            </a:r>
            <a:r>
              <a:rPr sz="2000" spc="-20" dirty="0">
                <a:latin typeface="Arial"/>
                <a:cs typeface="Arial"/>
              </a:rPr>
              <a:t>includes </a:t>
            </a:r>
            <a:r>
              <a:rPr sz="2000" spc="-35" dirty="0">
                <a:latin typeface="Arial"/>
                <a:cs typeface="Arial"/>
              </a:rPr>
              <a:t>many </a:t>
            </a:r>
            <a:r>
              <a:rPr sz="2000" spc="-20" dirty="0">
                <a:latin typeface="Arial"/>
                <a:cs typeface="Arial"/>
              </a:rPr>
              <a:t>syntax </a:t>
            </a:r>
            <a:r>
              <a:rPr sz="2000" spc="-60" dirty="0">
                <a:latin typeface="Arial"/>
                <a:cs typeface="Arial"/>
              </a:rPr>
              <a:t>elements </a:t>
            </a:r>
            <a:r>
              <a:rPr sz="2000" spc="30" dirty="0">
                <a:latin typeface="Arial"/>
                <a:cs typeface="Arial"/>
              </a:rPr>
              <a:t>that </a:t>
            </a:r>
            <a:r>
              <a:rPr sz="2000" spc="-100" dirty="0">
                <a:latin typeface="Arial"/>
                <a:cs typeface="Arial"/>
              </a:rPr>
              <a:t>are </a:t>
            </a:r>
            <a:r>
              <a:rPr sz="2000" spc="-85" dirty="0">
                <a:latin typeface="Arial"/>
                <a:cs typeface="Arial"/>
              </a:rPr>
              <a:t>used </a:t>
            </a:r>
            <a:r>
              <a:rPr sz="2000" spc="-15" dirty="0">
                <a:latin typeface="Arial"/>
                <a:cs typeface="Arial"/>
              </a:rPr>
              <a:t>by </a:t>
            </a:r>
            <a:r>
              <a:rPr sz="2000" spc="30" dirty="0">
                <a:latin typeface="Arial"/>
                <a:cs typeface="Arial"/>
              </a:rPr>
              <a:t>or</a:t>
            </a:r>
            <a:r>
              <a:rPr sz="2000" spc="195" dirty="0">
                <a:latin typeface="Arial"/>
                <a:cs typeface="Arial"/>
              </a:rPr>
              <a:t> </a:t>
            </a:r>
            <a:r>
              <a:rPr sz="2000" spc="30" dirty="0">
                <a:latin typeface="Arial"/>
                <a:cs typeface="Arial"/>
              </a:rPr>
              <a:t>that</a:t>
            </a:r>
            <a:endParaRPr sz="2000">
              <a:latin typeface="Arial"/>
              <a:cs typeface="Arial"/>
            </a:endParaRPr>
          </a:p>
          <a:p>
            <a:pPr marL="355600">
              <a:lnSpc>
                <a:spcPct val="100000"/>
              </a:lnSpc>
            </a:pPr>
            <a:r>
              <a:rPr sz="2000" spc="5" dirty="0">
                <a:latin typeface="Arial"/>
                <a:cs typeface="Arial"/>
              </a:rPr>
              <a:t>influence </a:t>
            </a:r>
            <a:r>
              <a:rPr sz="2000" spc="-30" dirty="0">
                <a:latin typeface="Arial"/>
                <a:cs typeface="Arial"/>
              </a:rPr>
              <a:t>most</a:t>
            </a:r>
            <a:r>
              <a:rPr sz="2000" spc="-245" dirty="0">
                <a:latin typeface="Arial"/>
                <a:cs typeface="Arial"/>
              </a:rPr>
              <a:t> </a:t>
            </a:r>
            <a:r>
              <a:rPr sz="2000" spc="-55" dirty="0">
                <a:latin typeface="Arial"/>
                <a:cs typeface="Arial"/>
              </a:rPr>
              <a:t>statements.</a:t>
            </a:r>
            <a:endParaRPr sz="2000">
              <a:latin typeface="Arial"/>
              <a:cs typeface="Arial"/>
            </a:endParaRPr>
          </a:p>
          <a:p>
            <a:pPr marL="355600" marR="6350" indent="-342900">
              <a:lnSpc>
                <a:spcPct val="100000"/>
              </a:lnSpc>
              <a:buFont typeface="Wingdings"/>
              <a:buChar char=""/>
              <a:tabLst>
                <a:tab pos="354965" algn="l"/>
                <a:tab pos="355600" algn="l"/>
                <a:tab pos="1153160" algn="l"/>
                <a:tab pos="2261870" algn="l"/>
                <a:tab pos="3211195" algn="l"/>
                <a:tab pos="3808729" algn="l"/>
                <a:tab pos="4580255" algn="l"/>
                <a:tab pos="5883910" algn="l"/>
                <a:tab pos="7128509" algn="l"/>
              </a:tabLst>
            </a:pPr>
            <a:r>
              <a:rPr sz="2000" spc="-40" dirty="0">
                <a:latin typeface="Arial"/>
                <a:cs typeface="Arial"/>
              </a:rPr>
              <a:t>The</a:t>
            </a:r>
            <a:r>
              <a:rPr sz="2000" spc="-30" dirty="0">
                <a:latin typeface="Arial"/>
                <a:cs typeface="Arial"/>
              </a:rPr>
              <a:t>s</a:t>
            </a:r>
            <a:r>
              <a:rPr sz="2000" spc="-185" dirty="0">
                <a:latin typeface="Arial"/>
                <a:cs typeface="Arial"/>
              </a:rPr>
              <a:t>e</a:t>
            </a:r>
            <a:r>
              <a:rPr sz="2000" dirty="0">
                <a:latin typeface="Arial"/>
                <a:cs typeface="Arial"/>
              </a:rPr>
              <a:t>	</a:t>
            </a:r>
            <a:r>
              <a:rPr sz="2000" spc="-50" dirty="0">
                <a:latin typeface="Arial"/>
                <a:cs typeface="Arial"/>
              </a:rPr>
              <a:t>e</a:t>
            </a:r>
            <a:r>
              <a:rPr sz="2000" spc="-10" dirty="0">
                <a:latin typeface="Arial"/>
                <a:cs typeface="Arial"/>
              </a:rPr>
              <a:t>l</a:t>
            </a:r>
            <a:r>
              <a:rPr sz="2000" spc="-135" dirty="0">
                <a:latin typeface="Arial"/>
                <a:cs typeface="Arial"/>
              </a:rPr>
              <a:t>em</a:t>
            </a:r>
            <a:r>
              <a:rPr sz="2000" spc="-100" dirty="0">
                <a:latin typeface="Arial"/>
                <a:cs typeface="Arial"/>
              </a:rPr>
              <a:t>e</a:t>
            </a:r>
            <a:r>
              <a:rPr sz="2000" spc="70" dirty="0">
                <a:latin typeface="Arial"/>
                <a:cs typeface="Arial"/>
              </a:rPr>
              <a:t>n</a:t>
            </a:r>
            <a:r>
              <a:rPr sz="2000" spc="-45" dirty="0">
                <a:latin typeface="Arial"/>
                <a:cs typeface="Arial"/>
              </a:rPr>
              <a:t>ts</a:t>
            </a:r>
            <a:r>
              <a:rPr sz="2000" dirty="0">
                <a:latin typeface="Arial"/>
                <a:cs typeface="Arial"/>
              </a:rPr>
              <a:t>	</a:t>
            </a:r>
            <a:r>
              <a:rPr sz="2000" spc="50" dirty="0">
                <a:latin typeface="Arial"/>
                <a:cs typeface="Arial"/>
              </a:rPr>
              <a:t>i</a:t>
            </a:r>
            <a:r>
              <a:rPr sz="2000" spc="140" dirty="0">
                <a:latin typeface="Arial"/>
                <a:cs typeface="Arial"/>
              </a:rPr>
              <a:t>n</a:t>
            </a:r>
            <a:r>
              <a:rPr sz="2000" spc="-25" dirty="0">
                <a:latin typeface="Arial"/>
                <a:cs typeface="Arial"/>
              </a:rPr>
              <a:t>clude</a:t>
            </a:r>
            <a:r>
              <a:rPr sz="2000" dirty="0">
                <a:latin typeface="Arial"/>
                <a:cs typeface="Arial"/>
              </a:rPr>
              <a:t>	</a:t>
            </a:r>
            <a:r>
              <a:rPr sz="2000" spc="-60" dirty="0">
                <a:latin typeface="Arial"/>
                <a:cs typeface="Arial"/>
              </a:rPr>
              <a:t>data</a:t>
            </a:r>
            <a:r>
              <a:rPr sz="2000" dirty="0">
                <a:latin typeface="Arial"/>
                <a:cs typeface="Arial"/>
              </a:rPr>
              <a:t>	</a:t>
            </a:r>
            <a:r>
              <a:rPr sz="2000" spc="125" dirty="0">
                <a:latin typeface="Arial"/>
                <a:cs typeface="Arial"/>
              </a:rPr>
              <a:t>t</a:t>
            </a:r>
            <a:r>
              <a:rPr sz="2000" spc="-5" dirty="0">
                <a:latin typeface="Arial"/>
                <a:cs typeface="Arial"/>
              </a:rPr>
              <a:t>y</a:t>
            </a:r>
            <a:r>
              <a:rPr sz="2000" dirty="0">
                <a:latin typeface="Arial"/>
                <a:cs typeface="Arial"/>
              </a:rPr>
              <a:t>p</a:t>
            </a:r>
            <a:r>
              <a:rPr sz="2000" spc="-155" dirty="0">
                <a:latin typeface="Arial"/>
                <a:cs typeface="Arial"/>
              </a:rPr>
              <a:t>es,</a:t>
            </a:r>
            <a:r>
              <a:rPr sz="2000" dirty="0">
                <a:latin typeface="Arial"/>
                <a:cs typeface="Arial"/>
              </a:rPr>
              <a:t>	</a:t>
            </a:r>
            <a:r>
              <a:rPr sz="2000" spc="45" dirty="0">
                <a:latin typeface="Arial"/>
                <a:cs typeface="Arial"/>
              </a:rPr>
              <a:t>p</a:t>
            </a:r>
            <a:r>
              <a:rPr sz="2000" spc="30" dirty="0">
                <a:latin typeface="Arial"/>
                <a:cs typeface="Arial"/>
              </a:rPr>
              <a:t>r</a:t>
            </a:r>
            <a:r>
              <a:rPr sz="2000" spc="-35" dirty="0">
                <a:latin typeface="Arial"/>
                <a:cs typeface="Arial"/>
              </a:rPr>
              <a:t>edi</a:t>
            </a:r>
            <a:r>
              <a:rPr sz="2000" spc="-50" dirty="0">
                <a:latin typeface="Arial"/>
                <a:cs typeface="Arial"/>
              </a:rPr>
              <a:t>c</a:t>
            </a:r>
            <a:r>
              <a:rPr sz="2000" spc="-45" dirty="0">
                <a:latin typeface="Arial"/>
                <a:cs typeface="Arial"/>
              </a:rPr>
              <a:t>a</a:t>
            </a:r>
            <a:r>
              <a:rPr sz="2000" spc="-20" dirty="0">
                <a:latin typeface="Arial"/>
                <a:cs typeface="Arial"/>
              </a:rPr>
              <a:t>t</a:t>
            </a:r>
            <a:r>
              <a:rPr sz="2000" spc="-155" dirty="0">
                <a:latin typeface="Arial"/>
                <a:cs typeface="Arial"/>
              </a:rPr>
              <a:t>es,</a:t>
            </a:r>
            <a:r>
              <a:rPr sz="2000" dirty="0">
                <a:latin typeface="Arial"/>
                <a:cs typeface="Arial"/>
              </a:rPr>
              <a:t>	</a:t>
            </a:r>
            <a:r>
              <a:rPr sz="2000" spc="50" dirty="0">
                <a:latin typeface="Arial"/>
                <a:cs typeface="Arial"/>
              </a:rPr>
              <a:t>funct</a:t>
            </a:r>
            <a:r>
              <a:rPr sz="2000" spc="-15" dirty="0">
                <a:latin typeface="Arial"/>
                <a:cs typeface="Arial"/>
              </a:rPr>
              <a:t>ion</a:t>
            </a:r>
            <a:r>
              <a:rPr sz="2000" spc="-10" dirty="0">
                <a:latin typeface="Arial"/>
                <a:cs typeface="Arial"/>
              </a:rPr>
              <a:t>s</a:t>
            </a:r>
            <a:r>
              <a:rPr sz="2000" spc="-60" dirty="0">
                <a:latin typeface="Arial"/>
                <a:cs typeface="Arial"/>
              </a:rPr>
              <a:t>,</a:t>
            </a:r>
            <a:r>
              <a:rPr sz="2000" dirty="0">
                <a:latin typeface="Arial"/>
                <a:cs typeface="Arial"/>
              </a:rPr>
              <a:t>	</a:t>
            </a:r>
            <a:r>
              <a:rPr sz="2000" spc="-70" dirty="0">
                <a:latin typeface="Arial"/>
                <a:cs typeface="Arial"/>
              </a:rPr>
              <a:t>v</a:t>
            </a:r>
            <a:r>
              <a:rPr sz="2000" spc="-75" dirty="0">
                <a:latin typeface="Arial"/>
                <a:cs typeface="Arial"/>
              </a:rPr>
              <a:t>a</a:t>
            </a:r>
            <a:r>
              <a:rPr sz="2000" spc="5" dirty="0">
                <a:latin typeface="Arial"/>
                <a:cs typeface="Arial"/>
              </a:rPr>
              <a:t>ria</a:t>
            </a:r>
            <a:r>
              <a:rPr sz="2000" spc="-30" dirty="0">
                <a:latin typeface="Arial"/>
                <a:cs typeface="Arial"/>
              </a:rPr>
              <a:t>bl</a:t>
            </a:r>
            <a:r>
              <a:rPr sz="2000" spc="-35" dirty="0">
                <a:latin typeface="Arial"/>
                <a:cs typeface="Arial"/>
              </a:rPr>
              <a:t>e</a:t>
            </a:r>
            <a:r>
              <a:rPr sz="2000" spc="-120" dirty="0">
                <a:latin typeface="Arial"/>
                <a:cs typeface="Arial"/>
              </a:rPr>
              <a:t>s,  </a:t>
            </a:r>
            <a:r>
              <a:rPr sz="2000" spc="-60" dirty="0">
                <a:latin typeface="Arial"/>
                <a:cs typeface="Arial"/>
              </a:rPr>
              <a:t>expressions, </a:t>
            </a:r>
            <a:r>
              <a:rPr sz="2000" spc="35" dirty="0">
                <a:latin typeface="Arial"/>
                <a:cs typeface="Arial"/>
              </a:rPr>
              <a:t>control-of-flow,</a:t>
            </a:r>
            <a:r>
              <a:rPr sz="2000" spc="-390" dirty="0">
                <a:latin typeface="Arial"/>
                <a:cs typeface="Arial"/>
              </a:rPr>
              <a:t> </a:t>
            </a:r>
            <a:r>
              <a:rPr sz="2000" spc="-45" dirty="0">
                <a:latin typeface="Arial"/>
                <a:cs typeface="Arial"/>
              </a:rPr>
              <a:t>comments, </a:t>
            </a:r>
            <a:r>
              <a:rPr sz="2000" spc="-40" dirty="0">
                <a:latin typeface="Arial"/>
                <a:cs typeface="Arial"/>
              </a:rPr>
              <a:t>and </a:t>
            </a:r>
            <a:r>
              <a:rPr sz="2000" spc="-25" dirty="0">
                <a:latin typeface="Arial"/>
                <a:cs typeface="Arial"/>
              </a:rPr>
              <a:t>batch </a:t>
            </a:r>
            <a:r>
              <a:rPr sz="2000" spc="-70" dirty="0">
                <a:latin typeface="Arial"/>
                <a:cs typeface="Arial"/>
              </a:rPr>
              <a:t>separators.</a:t>
            </a:r>
            <a:endParaRPr sz="20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5</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52" y="247649"/>
            <a:ext cx="7622540" cy="452755"/>
          </a:xfrm>
          <a:prstGeom prst="rect">
            <a:avLst/>
          </a:prstGeom>
        </p:spPr>
        <p:txBody>
          <a:bodyPr vert="horz" wrap="square" lIns="0" tIns="12700" rIns="0" bIns="0" rtlCol="0">
            <a:spAutoFit/>
          </a:bodyPr>
          <a:lstStyle/>
          <a:p>
            <a:pPr marL="12700">
              <a:lnSpc>
                <a:spcPct val="100000"/>
              </a:lnSpc>
              <a:spcBef>
                <a:spcPts val="100"/>
              </a:spcBef>
            </a:pPr>
            <a:r>
              <a:rPr sz="2800" spc="70" dirty="0"/>
              <a:t>Different</a:t>
            </a:r>
            <a:r>
              <a:rPr sz="2800" spc="-190" dirty="0"/>
              <a:t> </a:t>
            </a:r>
            <a:r>
              <a:rPr sz="2800" spc="-60" dirty="0"/>
              <a:t>Categories</a:t>
            </a:r>
            <a:r>
              <a:rPr sz="2800" spc="-195" dirty="0"/>
              <a:t> </a:t>
            </a:r>
            <a:r>
              <a:rPr sz="2800" spc="80" dirty="0"/>
              <a:t>of</a:t>
            </a:r>
            <a:r>
              <a:rPr sz="2800" spc="-185" dirty="0"/>
              <a:t> </a:t>
            </a:r>
            <a:r>
              <a:rPr sz="2800" spc="-20" dirty="0"/>
              <a:t>Transact-SQL</a:t>
            </a:r>
            <a:r>
              <a:rPr sz="2800" spc="-204" dirty="0"/>
              <a:t> </a:t>
            </a:r>
            <a:r>
              <a:rPr sz="2800" spc="-65" dirty="0"/>
              <a:t>Statements</a:t>
            </a:r>
            <a:endParaRPr sz="2800"/>
          </a:p>
        </p:txBody>
      </p:sp>
      <p:grpSp>
        <p:nvGrpSpPr>
          <p:cNvPr id="3" name="object 3"/>
          <p:cNvGrpSpPr/>
          <p:nvPr/>
        </p:nvGrpSpPr>
        <p:grpSpPr>
          <a:xfrm>
            <a:off x="204215" y="2148839"/>
            <a:ext cx="8616315" cy="1590675"/>
            <a:chOff x="204215" y="2148839"/>
            <a:chExt cx="8616315" cy="1590675"/>
          </a:xfrm>
        </p:grpSpPr>
        <p:pic>
          <p:nvPicPr>
            <p:cNvPr id="4" name="object 4"/>
            <p:cNvPicPr/>
            <p:nvPr/>
          </p:nvPicPr>
          <p:blipFill>
            <a:blip r:embed="rId3" cstate="print"/>
            <a:stretch>
              <a:fillRect/>
            </a:stretch>
          </p:blipFill>
          <p:spPr>
            <a:xfrm>
              <a:off x="204215" y="2148839"/>
              <a:ext cx="8615934" cy="1590294"/>
            </a:xfrm>
            <a:prstGeom prst="rect">
              <a:avLst/>
            </a:prstGeom>
          </p:spPr>
        </p:pic>
        <p:pic>
          <p:nvPicPr>
            <p:cNvPr id="5" name="object 5"/>
            <p:cNvPicPr/>
            <p:nvPr/>
          </p:nvPicPr>
          <p:blipFill>
            <a:blip r:embed="rId4" cstate="print"/>
            <a:stretch>
              <a:fillRect/>
            </a:stretch>
          </p:blipFill>
          <p:spPr>
            <a:xfrm>
              <a:off x="245363" y="2167127"/>
              <a:ext cx="8540496" cy="1514856"/>
            </a:xfrm>
            <a:prstGeom prst="rect">
              <a:avLst/>
            </a:prstGeom>
          </p:spPr>
        </p:pic>
      </p:grpSp>
      <p:sp>
        <p:nvSpPr>
          <p:cNvPr id="6" name="object 6"/>
          <p:cNvSpPr txBox="1"/>
          <p:nvPr/>
        </p:nvSpPr>
        <p:spPr>
          <a:xfrm>
            <a:off x="382015" y="2152650"/>
            <a:ext cx="7605395" cy="1428115"/>
          </a:xfrm>
          <a:prstGeom prst="rect">
            <a:avLst/>
          </a:prstGeom>
        </p:spPr>
        <p:txBody>
          <a:bodyPr vert="horz" wrap="square" lIns="0" tIns="12700" rIns="0" bIns="0" rtlCol="0">
            <a:spAutoFit/>
          </a:bodyPr>
          <a:lstStyle/>
          <a:p>
            <a:pPr marL="12700">
              <a:lnSpc>
                <a:spcPct val="100000"/>
              </a:lnSpc>
              <a:spcBef>
                <a:spcPts val="100"/>
              </a:spcBef>
            </a:pPr>
            <a:r>
              <a:rPr sz="2000" spc="20" dirty="0">
                <a:solidFill>
                  <a:srgbClr val="FFFFFF"/>
                </a:solidFill>
                <a:latin typeface="Arial"/>
                <a:cs typeface="Arial"/>
              </a:rPr>
              <a:t>SQL</a:t>
            </a:r>
            <a:r>
              <a:rPr sz="2000" spc="-140" dirty="0">
                <a:solidFill>
                  <a:srgbClr val="FFFFFF"/>
                </a:solidFill>
                <a:latin typeface="Arial"/>
                <a:cs typeface="Arial"/>
              </a:rPr>
              <a:t> </a:t>
            </a:r>
            <a:r>
              <a:rPr sz="2000" spc="-50" dirty="0">
                <a:solidFill>
                  <a:srgbClr val="FFFFFF"/>
                </a:solidFill>
                <a:latin typeface="Arial"/>
                <a:cs typeface="Arial"/>
              </a:rPr>
              <a:t>Server</a:t>
            </a:r>
            <a:r>
              <a:rPr sz="2000" spc="-130" dirty="0">
                <a:solidFill>
                  <a:srgbClr val="FFFFFF"/>
                </a:solidFill>
                <a:latin typeface="Arial"/>
                <a:cs typeface="Arial"/>
              </a:rPr>
              <a:t> </a:t>
            </a:r>
            <a:r>
              <a:rPr sz="2000" spc="-25" dirty="0">
                <a:solidFill>
                  <a:srgbClr val="FFFFFF"/>
                </a:solidFill>
                <a:latin typeface="Arial"/>
                <a:cs typeface="Arial"/>
              </a:rPr>
              <a:t>supports</a:t>
            </a:r>
            <a:r>
              <a:rPr sz="2000" spc="-120" dirty="0">
                <a:solidFill>
                  <a:srgbClr val="FFFFFF"/>
                </a:solidFill>
                <a:latin typeface="Arial"/>
                <a:cs typeface="Arial"/>
              </a:rPr>
              <a:t> </a:t>
            </a:r>
            <a:r>
              <a:rPr sz="2000" spc="-20" dirty="0">
                <a:solidFill>
                  <a:srgbClr val="FFFFFF"/>
                </a:solidFill>
                <a:latin typeface="Arial"/>
                <a:cs typeface="Arial"/>
              </a:rPr>
              <a:t>three</a:t>
            </a:r>
            <a:r>
              <a:rPr sz="2000" spc="-114" dirty="0">
                <a:solidFill>
                  <a:srgbClr val="FFFFFF"/>
                </a:solidFill>
                <a:latin typeface="Arial"/>
                <a:cs typeface="Arial"/>
              </a:rPr>
              <a:t> </a:t>
            </a:r>
            <a:r>
              <a:rPr sz="2000" spc="-55" dirty="0">
                <a:solidFill>
                  <a:srgbClr val="FFFFFF"/>
                </a:solidFill>
                <a:latin typeface="Arial"/>
                <a:cs typeface="Arial"/>
              </a:rPr>
              <a:t>types</a:t>
            </a:r>
            <a:r>
              <a:rPr sz="2000" spc="-120" dirty="0">
                <a:solidFill>
                  <a:srgbClr val="FFFFFF"/>
                </a:solidFill>
                <a:latin typeface="Arial"/>
                <a:cs typeface="Arial"/>
              </a:rPr>
              <a:t> </a:t>
            </a:r>
            <a:r>
              <a:rPr sz="2000" spc="55" dirty="0">
                <a:solidFill>
                  <a:srgbClr val="FFFFFF"/>
                </a:solidFill>
                <a:latin typeface="Arial"/>
                <a:cs typeface="Arial"/>
              </a:rPr>
              <a:t>of</a:t>
            </a:r>
            <a:r>
              <a:rPr sz="2000" spc="-135" dirty="0">
                <a:solidFill>
                  <a:srgbClr val="FFFFFF"/>
                </a:solidFill>
                <a:latin typeface="Arial"/>
                <a:cs typeface="Arial"/>
              </a:rPr>
              <a:t> </a:t>
            </a:r>
            <a:r>
              <a:rPr sz="2000" spc="-15" dirty="0">
                <a:solidFill>
                  <a:srgbClr val="FFFFFF"/>
                </a:solidFill>
                <a:latin typeface="Arial"/>
                <a:cs typeface="Arial"/>
              </a:rPr>
              <a:t>Transact-SQL</a:t>
            </a:r>
            <a:r>
              <a:rPr sz="2000" spc="-145" dirty="0">
                <a:solidFill>
                  <a:srgbClr val="FFFFFF"/>
                </a:solidFill>
                <a:latin typeface="Arial"/>
                <a:cs typeface="Arial"/>
              </a:rPr>
              <a:t> </a:t>
            </a:r>
            <a:r>
              <a:rPr sz="2000" spc="-55" dirty="0">
                <a:solidFill>
                  <a:srgbClr val="FFFFFF"/>
                </a:solidFill>
                <a:latin typeface="Arial"/>
                <a:cs typeface="Arial"/>
              </a:rPr>
              <a:t>statements,</a:t>
            </a:r>
            <a:r>
              <a:rPr sz="2000" spc="-105" dirty="0">
                <a:solidFill>
                  <a:srgbClr val="FFFFFF"/>
                </a:solidFill>
                <a:latin typeface="Arial"/>
                <a:cs typeface="Arial"/>
              </a:rPr>
              <a:t> </a:t>
            </a:r>
            <a:r>
              <a:rPr sz="2000" spc="-35" dirty="0">
                <a:solidFill>
                  <a:srgbClr val="FFFFFF"/>
                </a:solidFill>
                <a:latin typeface="Arial"/>
                <a:cs typeface="Arial"/>
              </a:rPr>
              <a:t>namely</a:t>
            </a:r>
            <a:endParaRPr sz="2000">
              <a:latin typeface="Arial"/>
              <a:cs typeface="Arial"/>
            </a:endParaRPr>
          </a:p>
          <a:p>
            <a:pPr marL="355600" indent="-342900">
              <a:lnSpc>
                <a:spcPts val="2280"/>
              </a:lnSpc>
              <a:spcBef>
                <a:spcPts val="1920"/>
              </a:spcBef>
              <a:buClr>
                <a:srgbClr val="000000"/>
              </a:buClr>
              <a:buChar char="•"/>
              <a:tabLst>
                <a:tab pos="354965" algn="l"/>
                <a:tab pos="355600" algn="l"/>
              </a:tabLst>
            </a:pPr>
            <a:r>
              <a:rPr sz="2000" spc="120">
                <a:solidFill>
                  <a:srgbClr val="FFFFFF"/>
                </a:solidFill>
                <a:latin typeface="Arial"/>
                <a:cs typeface="Arial"/>
              </a:rPr>
              <a:t>DDL</a:t>
            </a:r>
            <a:r>
              <a:rPr lang="en-US" sz="2000" spc="120">
                <a:solidFill>
                  <a:srgbClr val="FFFFFF"/>
                </a:solidFill>
                <a:latin typeface="Arial"/>
                <a:cs typeface="Arial"/>
              </a:rPr>
              <a:t> </a:t>
            </a:r>
            <a:r>
              <a:rPr lang="en-US" sz="2000" spc="120">
                <a:solidFill>
                  <a:schemeClr val="bg1"/>
                </a:solidFill>
                <a:latin typeface="Arial" panose="020B0604020202020204" pitchFamily="34" charset="0"/>
                <a:cs typeface="Arial" panose="020B0604020202020204" pitchFamily="34" charset="0"/>
              </a:rPr>
              <a:t>(</a:t>
            </a:r>
            <a:r>
              <a:rPr lang="en-US" sz="2000">
                <a:solidFill>
                  <a:schemeClr val="bg1"/>
                </a:solidFill>
                <a:latin typeface="Arial" panose="020B0604020202020204" pitchFamily="34" charset="0"/>
                <a:cs typeface="Arial" panose="020B0604020202020204" pitchFamily="34" charset="0"/>
              </a:rPr>
              <a:t>Data Definition Language)</a:t>
            </a:r>
            <a:endParaRPr sz="2000">
              <a:solidFill>
                <a:schemeClr val="bg1"/>
              </a:solidFill>
              <a:latin typeface="Arial" panose="020B0604020202020204" pitchFamily="34" charset="0"/>
              <a:cs typeface="Arial" panose="020B0604020202020204" pitchFamily="34" charset="0"/>
            </a:endParaRPr>
          </a:p>
          <a:p>
            <a:pPr marL="355600" indent="-342900">
              <a:lnSpc>
                <a:spcPts val="2160"/>
              </a:lnSpc>
              <a:buClr>
                <a:srgbClr val="000000"/>
              </a:buClr>
              <a:buChar char="•"/>
              <a:tabLst>
                <a:tab pos="354965" algn="l"/>
                <a:tab pos="355600" algn="l"/>
              </a:tabLst>
            </a:pPr>
            <a:r>
              <a:rPr lang="en-US" sz="2000" spc="130">
                <a:solidFill>
                  <a:schemeClr val="bg1"/>
                </a:solidFill>
                <a:latin typeface="Arial"/>
                <a:cs typeface="Arial"/>
              </a:rPr>
              <a:t>DML </a:t>
            </a:r>
            <a:r>
              <a:rPr lang="en-US" sz="2000" spc="130">
                <a:solidFill>
                  <a:schemeClr val="bg1"/>
                </a:solidFill>
                <a:latin typeface="Arial" panose="020B0604020202020204" pitchFamily="34" charset="0"/>
                <a:cs typeface="Arial" panose="020B0604020202020204" pitchFamily="34" charset="0"/>
              </a:rPr>
              <a:t>(</a:t>
            </a:r>
            <a:r>
              <a:rPr lang="en-US" sz="2000">
                <a:solidFill>
                  <a:schemeClr val="bg1"/>
                </a:solidFill>
                <a:latin typeface="Arial" panose="020B0604020202020204" pitchFamily="34" charset="0"/>
                <a:cs typeface="Arial" panose="020B0604020202020204" pitchFamily="34" charset="0"/>
              </a:rPr>
              <a:t>Data Manipulation Language)</a:t>
            </a:r>
          </a:p>
          <a:p>
            <a:pPr marL="355600" indent="-342900">
              <a:lnSpc>
                <a:spcPts val="2280"/>
              </a:lnSpc>
              <a:buClr>
                <a:srgbClr val="000000"/>
              </a:buClr>
              <a:buChar char="•"/>
              <a:tabLst>
                <a:tab pos="354965" algn="l"/>
                <a:tab pos="355600" algn="l"/>
              </a:tabLst>
            </a:pPr>
            <a:r>
              <a:rPr sz="2000" spc="130">
                <a:solidFill>
                  <a:srgbClr val="FFFFFF"/>
                </a:solidFill>
                <a:latin typeface="Arial"/>
                <a:cs typeface="Arial"/>
              </a:rPr>
              <a:t>DCL</a:t>
            </a:r>
            <a:r>
              <a:rPr lang="en-US" sz="2000" spc="130">
                <a:solidFill>
                  <a:srgbClr val="FFFFFF"/>
                </a:solidFill>
                <a:latin typeface="Arial"/>
                <a:cs typeface="Arial"/>
              </a:rPr>
              <a:t> </a:t>
            </a:r>
            <a:r>
              <a:rPr lang="en-US" sz="2000" spc="130">
                <a:solidFill>
                  <a:schemeClr val="bg1"/>
                </a:solidFill>
                <a:latin typeface="Arial" panose="020B0604020202020204" pitchFamily="34" charset="0"/>
                <a:cs typeface="Arial" panose="020B0604020202020204" pitchFamily="34" charset="0"/>
              </a:rPr>
              <a:t>(</a:t>
            </a:r>
            <a:r>
              <a:rPr lang="en-US" sz="2000">
                <a:solidFill>
                  <a:schemeClr val="bg1"/>
                </a:solidFill>
                <a:latin typeface="Arial" panose="020B0604020202020204" pitchFamily="34" charset="0"/>
                <a:cs typeface="Arial" panose="020B0604020202020204" pitchFamily="34" charset="0"/>
              </a:rPr>
              <a:t>Data Control Language)</a:t>
            </a:r>
            <a:endParaRPr sz="2000">
              <a:solidFill>
                <a:schemeClr val="bg1"/>
              </a:solidFill>
              <a:latin typeface="Arial" panose="020B0604020202020204" pitchFamily="34" charset="0"/>
              <a:cs typeface="Arial" panose="020B0604020202020204" pitchFamily="34" charset="0"/>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6</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973" y="0"/>
            <a:ext cx="7233920" cy="635635"/>
          </a:xfrm>
          <a:prstGeom prst="rect">
            <a:avLst/>
          </a:prstGeom>
        </p:spPr>
        <p:txBody>
          <a:bodyPr vert="horz" wrap="square" lIns="0" tIns="12700" rIns="0" bIns="0" rtlCol="0">
            <a:spAutoFit/>
          </a:bodyPr>
          <a:lstStyle/>
          <a:p>
            <a:pPr marL="12700">
              <a:lnSpc>
                <a:spcPct val="100000"/>
              </a:lnSpc>
              <a:spcBef>
                <a:spcPts val="100"/>
              </a:spcBef>
            </a:pPr>
            <a:r>
              <a:rPr spc="-60" dirty="0"/>
              <a:t>Data </a:t>
            </a:r>
            <a:r>
              <a:rPr spc="140" dirty="0"/>
              <a:t>Definition</a:t>
            </a:r>
            <a:r>
              <a:rPr spc="-610" dirty="0"/>
              <a:t> </a:t>
            </a:r>
            <a:r>
              <a:rPr spc="-160" dirty="0"/>
              <a:t>Language </a:t>
            </a:r>
            <a:r>
              <a:rPr spc="135" dirty="0"/>
              <a:t>(DDL)</a:t>
            </a:r>
          </a:p>
        </p:txBody>
      </p:sp>
      <p:grpSp>
        <p:nvGrpSpPr>
          <p:cNvPr id="3" name="object 3"/>
          <p:cNvGrpSpPr/>
          <p:nvPr/>
        </p:nvGrpSpPr>
        <p:grpSpPr>
          <a:xfrm>
            <a:off x="246888" y="1027938"/>
            <a:ext cx="8743950" cy="2602230"/>
            <a:chOff x="246888" y="1027938"/>
            <a:chExt cx="8743950" cy="2602230"/>
          </a:xfrm>
        </p:grpSpPr>
        <p:pic>
          <p:nvPicPr>
            <p:cNvPr id="4" name="object 4"/>
            <p:cNvPicPr/>
            <p:nvPr/>
          </p:nvPicPr>
          <p:blipFill>
            <a:blip r:embed="rId3" cstate="print"/>
            <a:stretch>
              <a:fillRect/>
            </a:stretch>
          </p:blipFill>
          <p:spPr>
            <a:xfrm>
              <a:off x="246888" y="1027938"/>
              <a:ext cx="8743950" cy="2602230"/>
            </a:xfrm>
            <a:prstGeom prst="rect">
              <a:avLst/>
            </a:prstGeom>
          </p:spPr>
        </p:pic>
        <p:pic>
          <p:nvPicPr>
            <p:cNvPr id="5" name="object 5"/>
            <p:cNvPicPr/>
            <p:nvPr/>
          </p:nvPicPr>
          <p:blipFill>
            <a:blip r:embed="rId4" cstate="print"/>
            <a:stretch>
              <a:fillRect/>
            </a:stretch>
          </p:blipFill>
          <p:spPr>
            <a:xfrm>
              <a:off x="288036" y="1046226"/>
              <a:ext cx="8668512" cy="2526792"/>
            </a:xfrm>
            <a:prstGeom prst="rect">
              <a:avLst/>
            </a:prstGeom>
          </p:spPr>
        </p:pic>
      </p:grpSp>
      <p:sp>
        <p:nvSpPr>
          <p:cNvPr id="6" name="object 6"/>
          <p:cNvSpPr txBox="1"/>
          <p:nvPr/>
        </p:nvSpPr>
        <p:spPr>
          <a:xfrm>
            <a:off x="425450" y="1332483"/>
            <a:ext cx="8392795" cy="1842770"/>
          </a:xfrm>
          <a:prstGeom prst="rect">
            <a:avLst/>
          </a:prstGeom>
        </p:spPr>
        <p:txBody>
          <a:bodyPr vert="horz" wrap="square" lIns="0" tIns="46990" rIns="0" bIns="0" rtlCol="0">
            <a:spAutoFit/>
          </a:bodyPr>
          <a:lstStyle/>
          <a:p>
            <a:pPr marL="12700" marR="5080">
              <a:lnSpc>
                <a:spcPts val="2160"/>
              </a:lnSpc>
              <a:spcBef>
                <a:spcPts val="370"/>
              </a:spcBef>
            </a:pPr>
            <a:r>
              <a:rPr sz="2000" spc="120" dirty="0">
                <a:solidFill>
                  <a:srgbClr val="FFFFFF"/>
                </a:solidFill>
                <a:latin typeface="Arial"/>
                <a:cs typeface="Arial"/>
              </a:rPr>
              <a:t>DDL </a:t>
            </a:r>
            <a:r>
              <a:rPr sz="2000" spc="-50" dirty="0">
                <a:solidFill>
                  <a:srgbClr val="FFFFFF"/>
                </a:solidFill>
                <a:latin typeface="Arial"/>
                <a:cs typeface="Arial"/>
              </a:rPr>
              <a:t>is </a:t>
            </a:r>
            <a:r>
              <a:rPr sz="2000" spc="-90" dirty="0">
                <a:solidFill>
                  <a:srgbClr val="FFFFFF"/>
                </a:solidFill>
                <a:latin typeface="Arial"/>
                <a:cs typeface="Arial"/>
              </a:rPr>
              <a:t>used </a:t>
            </a:r>
            <a:r>
              <a:rPr sz="2000" spc="55" dirty="0">
                <a:solidFill>
                  <a:srgbClr val="FFFFFF"/>
                </a:solidFill>
                <a:latin typeface="Arial"/>
                <a:cs typeface="Arial"/>
              </a:rPr>
              <a:t>to </a:t>
            </a:r>
            <a:r>
              <a:rPr sz="2000" spc="-5" dirty="0">
                <a:solidFill>
                  <a:srgbClr val="FFFFFF"/>
                </a:solidFill>
                <a:latin typeface="Arial"/>
                <a:cs typeface="Arial"/>
              </a:rPr>
              <a:t>define </a:t>
            </a:r>
            <a:r>
              <a:rPr sz="2000" spc="-35" dirty="0">
                <a:solidFill>
                  <a:srgbClr val="FFFFFF"/>
                </a:solidFill>
                <a:latin typeface="Arial"/>
                <a:cs typeface="Arial"/>
              </a:rPr>
              <a:t>and </a:t>
            </a:r>
            <a:r>
              <a:rPr sz="2000" spc="-110" dirty="0">
                <a:solidFill>
                  <a:srgbClr val="FFFFFF"/>
                </a:solidFill>
                <a:latin typeface="Arial"/>
                <a:cs typeface="Arial"/>
              </a:rPr>
              <a:t>manage </a:t>
            </a:r>
            <a:r>
              <a:rPr sz="2000" spc="10" dirty="0">
                <a:solidFill>
                  <a:srgbClr val="FFFFFF"/>
                </a:solidFill>
                <a:latin typeface="Arial"/>
                <a:cs typeface="Arial"/>
              </a:rPr>
              <a:t>all </a:t>
            </a:r>
            <a:r>
              <a:rPr sz="2000" dirty="0">
                <a:solidFill>
                  <a:srgbClr val="FFFFFF"/>
                </a:solidFill>
                <a:latin typeface="Arial"/>
                <a:cs typeface="Arial"/>
              </a:rPr>
              <a:t>attributes </a:t>
            </a:r>
            <a:r>
              <a:rPr sz="2000" spc="-40" dirty="0">
                <a:solidFill>
                  <a:srgbClr val="FFFFFF"/>
                </a:solidFill>
                <a:latin typeface="Arial"/>
                <a:cs typeface="Arial"/>
              </a:rPr>
              <a:t>and </a:t>
            </a:r>
            <a:r>
              <a:rPr sz="2000" spc="-20" dirty="0">
                <a:solidFill>
                  <a:srgbClr val="FFFFFF"/>
                </a:solidFill>
                <a:latin typeface="Arial"/>
                <a:cs typeface="Arial"/>
              </a:rPr>
              <a:t>properties </a:t>
            </a:r>
            <a:r>
              <a:rPr sz="2000" spc="50" dirty="0">
                <a:solidFill>
                  <a:srgbClr val="FFFFFF"/>
                </a:solidFill>
                <a:latin typeface="Arial"/>
                <a:cs typeface="Arial"/>
              </a:rPr>
              <a:t>of </a:t>
            </a:r>
            <a:r>
              <a:rPr sz="2000" spc="-195">
                <a:solidFill>
                  <a:srgbClr val="FFFFFF"/>
                </a:solidFill>
                <a:latin typeface="Arial"/>
                <a:cs typeface="Arial"/>
              </a:rPr>
              <a:t>a</a:t>
            </a:r>
            <a:r>
              <a:rPr sz="2000" spc="-330">
                <a:solidFill>
                  <a:srgbClr val="FFFFFF"/>
                </a:solidFill>
                <a:latin typeface="Arial"/>
                <a:cs typeface="Arial"/>
              </a:rPr>
              <a:t> </a:t>
            </a:r>
            <a:r>
              <a:rPr lang="en-US" sz="2000" spc="-330">
                <a:solidFill>
                  <a:srgbClr val="FFFFFF"/>
                </a:solidFill>
                <a:latin typeface="Arial"/>
                <a:cs typeface="Arial"/>
              </a:rPr>
              <a:t> </a:t>
            </a:r>
            <a:r>
              <a:rPr sz="2000" spc="-105">
                <a:solidFill>
                  <a:srgbClr val="FFFFFF"/>
                </a:solidFill>
                <a:latin typeface="Arial"/>
                <a:cs typeface="Arial"/>
              </a:rPr>
              <a:t>database  </a:t>
            </a:r>
            <a:r>
              <a:rPr sz="2000" spc="35" dirty="0">
                <a:solidFill>
                  <a:srgbClr val="FFFFFF"/>
                </a:solidFill>
                <a:latin typeface="Arial"/>
                <a:cs typeface="Arial"/>
              </a:rPr>
              <a:t>which</a:t>
            </a:r>
            <a:r>
              <a:rPr sz="2000" spc="-140" dirty="0">
                <a:solidFill>
                  <a:srgbClr val="FFFFFF"/>
                </a:solidFill>
                <a:latin typeface="Arial"/>
                <a:cs typeface="Arial"/>
              </a:rPr>
              <a:t> </a:t>
            </a:r>
            <a:r>
              <a:rPr sz="2000" spc="-20" dirty="0">
                <a:solidFill>
                  <a:srgbClr val="FFFFFF"/>
                </a:solidFill>
                <a:latin typeface="Arial"/>
                <a:cs typeface="Arial"/>
              </a:rPr>
              <a:t>includes:</a:t>
            </a:r>
            <a:endParaRPr sz="2000">
              <a:latin typeface="Arial"/>
              <a:cs typeface="Arial"/>
            </a:endParaRPr>
          </a:p>
          <a:p>
            <a:pPr marL="355600" indent="-342900">
              <a:lnSpc>
                <a:spcPts val="1835"/>
              </a:lnSpc>
              <a:buClr>
                <a:srgbClr val="000000"/>
              </a:buClr>
              <a:buChar char="•"/>
              <a:tabLst>
                <a:tab pos="354965" algn="l"/>
                <a:tab pos="355600" algn="l"/>
              </a:tabLst>
            </a:pPr>
            <a:r>
              <a:rPr sz="1800" spc="35" dirty="0">
                <a:solidFill>
                  <a:srgbClr val="FFFFFF"/>
                </a:solidFill>
                <a:latin typeface="Arial"/>
                <a:cs typeface="Arial"/>
              </a:rPr>
              <a:t>row</a:t>
            </a:r>
            <a:r>
              <a:rPr sz="1800" spc="-110" dirty="0">
                <a:solidFill>
                  <a:srgbClr val="FFFFFF"/>
                </a:solidFill>
                <a:latin typeface="Arial"/>
                <a:cs typeface="Arial"/>
              </a:rPr>
              <a:t> </a:t>
            </a:r>
            <a:r>
              <a:rPr sz="1800" spc="-20" dirty="0">
                <a:solidFill>
                  <a:srgbClr val="FFFFFF"/>
                </a:solidFill>
                <a:latin typeface="Arial"/>
                <a:cs typeface="Arial"/>
              </a:rPr>
              <a:t>layouts</a:t>
            </a:r>
            <a:endParaRPr sz="1800">
              <a:latin typeface="Arial"/>
              <a:cs typeface="Arial"/>
            </a:endParaRPr>
          </a:p>
          <a:p>
            <a:pPr marL="355600" indent="-342900">
              <a:lnSpc>
                <a:spcPts val="1945"/>
              </a:lnSpc>
              <a:buClr>
                <a:srgbClr val="000000"/>
              </a:buClr>
              <a:buChar char="•"/>
              <a:tabLst>
                <a:tab pos="354965" algn="l"/>
                <a:tab pos="355600" algn="l"/>
              </a:tabLst>
            </a:pPr>
            <a:r>
              <a:rPr sz="1800" spc="10" dirty="0">
                <a:solidFill>
                  <a:srgbClr val="FFFFFF"/>
                </a:solidFill>
                <a:latin typeface="Arial"/>
                <a:cs typeface="Arial"/>
              </a:rPr>
              <a:t>column</a:t>
            </a:r>
            <a:r>
              <a:rPr sz="1800" spc="-120" dirty="0">
                <a:solidFill>
                  <a:srgbClr val="FFFFFF"/>
                </a:solidFill>
                <a:latin typeface="Arial"/>
                <a:cs typeface="Arial"/>
              </a:rPr>
              <a:t> </a:t>
            </a:r>
            <a:r>
              <a:rPr sz="1800" spc="30" dirty="0">
                <a:solidFill>
                  <a:srgbClr val="FFFFFF"/>
                </a:solidFill>
                <a:latin typeface="Arial"/>
                <a:cs typeface="Arial"/>
              </a:rPr>
              <a:t>definitions</a:t>
            </a:r>
            <a:endParaRPr sz="1800">
              <a:latin typeface="Arial"/>
              <a:cs typeface="Arial"/>
            </a:endParaRPr>
          </a:p>
          <a:p>
            <a:pPr marL="355600" indent="-342900">
              <a:lnSpc>
                <a:spcPts val="1945"/>
              </a:lnSpc>
              <a:buClr>
                <a:srgbClr val="000000"/>
              </a:buClr>
              <a:buChar char="•"/>
              <a:tabLst>
                <a:tab pos="354965" algn="l"/>
                <a:tab pos="355600" algn="l"/>
              </a:tabLst>
            </a:pPr>
            <a:r>
              <a:rPr sz="1800" spc="-30" dirty="0">
                <a:solidFill>
                  <a:srgbClr val="FFFFFF"/>
                </a:solidFill>
                <a:latin typeface="Arial"/>
                <a:cs typeface="Arial"/>
              </a:rPr>
              <a:t>key</a:t>
            </a:r>
            <a:r>
              <a:rPr sz="1800" spc="-180" dirty="0">
                <a:solidFill>
                  <a:srgbClr val="FFFFFF"/>
                </a:solidFill>
                <a:latin typeface="Arial"/>
                <a:cs typeface="Arial"/>
              </a:rPr>
              <a:t> </a:t>
            </a:r>
            <a:r>
              <a:rPr sz="1800" spc="-20" dirty="0">
                <a:solidFill>
                  <a:srgbClr val="FFFFFF"/>
                </a:solidFill>
                <a:latin typeface="Arial"/>
                <a:cs typeface="Arial"/>
              </a:rPr>
              <a:t>columns</a:t>
            </a:r>
            <a:endParaRPr sz="1800">
              <a:latin typeface="Arial"/>
              <a:cs typeface="Arial"/>
            </a:endParaRPr>
          </a:p>
          <a:p>
            <a:pPr marL="355600" indent="-342900">
              <a:lnSpc>
                <a:spcPts val="1945"/>
              </a:lnSpc>
              <a:buClr>
                <a:srgbClr val="000000"/>
              </a:buClr>
              <a:buChar char="•"/>
              <a:tabLst>
                <a:tab pos="354965" algn="l"/>
                <a:tab pos="355600" algn="l"/>
              </a:tabLst>
            </a:pPr>
            <a:r>
              <a:rPr sz="1800" spc="40" dirty="0">
                <a:solidFill>
                  <a:srgbClr val="FFFFFF"/>
                </a:solidFill>
                <a:latin typeface="Arial"/>
                <a:cs typeface="Arial"/>
              </a:rPr>
              <a:t>file</a:t>
            </a:r>
            <a:r>
              <a:rPr sz="1800" spc="-160" dirty="0">
                <a:solidFill>
                  <a:srgbClr val="FFFFFF"/>
                </a:solidFill>
                <a:latin typeface="Arial"/>
                <a:cs typeface="Arial"/>
              </a:rPr>
              <a:t> </a:t>
            </a:r>
            <a:r>
              <a:rPr sz="1800" spc="-15" dirty="0">
                <a:solidFill>
                  <a:srgbClr val="FFFFFF"/>
                </a:solidFill>
                <a:latin typeface="Arial"/>
                <a:cs typeface="Arial"/>
              </a:rPr>
              <a:t>locations</a:t>
            </a:r>
            <a:endParaRPr sz="1800">
              <a:latin typeface="Arial"/>
              <a:cs typeface="Arial"/>
            </a:endParaRPr>
          </a:p>
          <a:p>
            <a:pPr marL="355600" indent="-342900">
              <a:lnSpc>
                <a:spcPts val="2050"/>
              </a:lnSpc>
              <a:buClr>
                <a:srgbClr val="000000"/>
              </a:buClr>
              <a:buChar char="•"/>
              <a:tabLst>
                <a:tab pos="354965" algn="l"/>
                <a:tab pos="355600" algn="l"/>
              </a:tabLst>
            </a:pPr>
            <a:r>
              <a:rPr sz="1800" spc="-70" dirty="0">
                <a:solidFill>
                  <a:srgbClr val="FFFFFF"/>
                </a:solidFill>
                <a:latin typeface="Arial"/>
                <a:cs typeface="Arial"/>
              </a:rPr>
              <a:t>storage</a:t>
            </a:r>
            <a:r>
              <a:rPr sz="1800" spc="-125" dirty="0">
                <a:solidFill>
                  <a:srgbClr val="FFFFFF"/>
                </a:solidFill>
                <a:latin typeface="Arial"/>
                <a:cs typeface="Arial"/>
              </a:rPr>
              <a:t> </a:t>
            </a:r>
            <a:r>
              <a:rPr sz="1800" spc="-45" dirty="0">
                <a:solidFill>
                  <a:srgbClr val="FFFFFF"/>
                </a:solidFill>
                <a:latin typeface="Arial"/>
                <a:cs typeface="Arial"/>
              </a:rPr>
              <a:t>strategy</a:t>
            </a:r>
            <a:endParaRPr sz="1800">
              <a:latin typeface="Arial"/>
              <a:cs typeface="Arial"/>
            </a:endParaRPr>
          </a:p>
        </p:txBody>
      </p:sp>
      <p:grpSp>
        <p:nvGrpSpPr>
          <p:cNvPr id="7" name="object 7"/>
          <p:cNvGrpSpPr/>
          <p:nvPr/>
        </p:nvGrpSpPr>
        <p:grpSpPr>
          <a:xfrm>
            <a:off x="226313" y="3900690"/>
            <a:ext cx="8818880" cy="2443480"/>
            <a:chOff x="226313" y="3900690"/>
            <a:chExt cx="8818880" cy="2443480"/>
          </a:xfrm>
        </p:grpSpPr>
        <p:pic>
          <p:nvPicPr>
            <p:cNvPr id="8" name="object 8"/>
            <p:cNvPicPr/>
            <p:nvPr/>
          </p:nvPicPr>
          <p:blipFill>
            <a:blip r:embed="rId5" cstate="print"/>
            <a:stretch>
              <a:fillRect/>
            </a:stretch>
          </p:blipFill>
          <p:spPr>
            <a:xfrm>
              <a:off x="226313" y="3900690"/>
              <a:ext cx="8818626" cy="2442972"/>
            </a:xfrm>
            <a:prstGeom prst="rect">
              <a:avLst/>
            </a:prstGeom>
          </p:spPr>
        </p:pic>
        <p:pic>
          <p:nvPicPr>
            <p:cNvPr id="9" name="object 9"/>
            <p:cNvPicPr/>
            <p:nvPr/>
          </p:nvPicPr>
          <p:blipFill>
            <a:blip r:embed="rId6" cstate="print"/>
            <a:stretch>
              <a:fillRect/>
            </a:stretch>
          </p:blipFill>
          <p:spPr>
            <a:xfrm>
              <a:off x="267461" y="3918965"/>
              <a:ext cx="8743188" cy="2367534"/>
            </a:xfrm>
            <a:prstGeom prst="rect">
              <a:avLst/>
            </a:prstGeom>
          </p:spPr>
        </p:pic>
      </p:grpSp>
      <p:sp>
        <p:nvSpPr>
          <p:cNvPr id="10" name="object 10"/>
          <p:cNvSpPr txBox="1"/>
          <p:nvPr/>
        </p:nvSpPr>
        <p:spPr>
          <a:xfrm>
            <a:off x="425958" y="4214367"/>
            <a:ext cx="8467725" cy="1388110"/>
          </a:xfrm>
          <a:prstGeom prst="rect">
            <a:avLst/>
          </a:prstGeom>
        </p:spPr>
        <p:txBody>
          <a:bodyPr vert="horz" wrap="square" lIns="0" tIns="46990" rIns="0" bIns="0" rtlCol="0">
            <a:spAutoFit/>
          </a:bodyPr>
          <a:lstStyle/>
          <a:p>
            <a:pPr marL="12700" marR="5080">
              <a:lnSpc>
                <a:spcPts val="2160"/>
              </a:lnSpc>
              <a:spcBef>
                <a:spcPts val="370"/>
              </a:spcBef>
            </a:pPr>
            <a:r>
              <a:rPr sz="2000" spc="15" dirty="0">
                <a:solidFill>
                  <a:srgbClr val="FFFFFF"/>
                </a:solidFill>
                <a:latin typeface="Arial"/>
                <a:cs typeface="Arial"/>
              </a:rPr>
              <a:t>Most </a:t>
            </a:r>
            <a:r>
              <a:rPr sz="2000" spc="120" dirty="0">
                <a:solidFill>
                  <a:srgbClr val="FFFFFF"/>
                </a:solidFill>
                <a:latin typeface="Arial"/>
                <a:cs typeface="Arial"/>
              </a:rPr>
              <a:t>DDL </a:t>
            </a:r>
            <a:r>
              <a:rPr sz="2000" spc="-55" dirty="0">
                <a:solidFill>
                  <a:srgbClr val="FFFFFF"/>
                </a:solidFill>
                <a:latin typeface="Arial"/>
                <a:cs typeface="Arial"/>
              </a:rPr>
              <a:t>statements </a:t>
            </a:r>
            <a:r>
              <a:rPr sz="2000" spc="-40" dirty="0">
                <a:solidFill>
                  <a:srgbClr val="FFFFFF"/>
                </a:solidFill>
                <a:latin typeface="Arial"/>
                <a:cs typeface="Arial"/>
              </a:rPr>
              <a:t>take </a:t>
            </a:r>
            <a:r>
              <a:rPr sz="2000" dirty="0">
                <a:solidFill>
                  <a:srgbClr val="FFFFFF"/>
                </a:solidFill>
                <a:latin typeface="Arial"/>
                <a:cs typeface="Arial"/>
              </a:rPr>
              <a:t>the </a:t>
            </a:r>
            <a:r>
              <a:rPr sz="2000" spc="45" dirty="0">
                <a:solidFill>
                  <a:srgbClr val="FFFFFF"/>
                </a:solidFill>
                <a:latin typeface="Arial"/>
                <a:cs typeface="Arial"/>
              </a:rPr>
              <a:t>following </a:t>
            </a:r>
            <a:r>
              <a:rPr sz="2000" spc="25" dirty="0">
                <a:solidFill>
                  <a:srgbClr val="FFFFFF"/>
                </a:solidFill>
                <a:latin typeface="Arial"/>
                <a:cs typeface="Arial"/>
              </a:rPr>
              <a:t>form, </a:t>
            </a:r>
            <a:r>
              <a:rPr sz="2000" spc="-35" dirty="0">
                <a:solidFill>
                  <a:srgbClr val="FFFFFF"/>
                </a:solidFill>
                <a:latin typeface="Arial"/>
                <a:cs typeface="Arial"/>
              </a:rPr>
              <a:t>where </a:t>
            </a:r>
            <a:r>
              <a:rPr sz="2000" spc="-100" dirty="0">
                <a:solidFill>
                  <a:srgbClr val="FFFFFF"/>
                </a:solidFill>
                <a:latin typeface="Arial"/>
                <a:cs typeface="Arial"/>
              </a:rPr>
              <a:t>object_name </a:t>
            </a:r>
            <a:r>
              <a:rPr sz="2000" spc="-75" dirty="0">
                <a:solidFill>
                  <a:srgbClr val="FFFFFF"/>
                </a:solidFill>
                <a:latin typeface="Arial"/>
                <a:cs typeface="Arial"/>
              </a:rPr>
              <a:t>can </a:t>
            </a:r>
            <a:r>
              <a:rPr sz="2000" spc="-100" dirty="0">
                <a:solidFill>
                  <a:srgbClr val="FFFFFF"/>
                </a:solidFill>
                <a:latin typeface="Arial"/>
                <a:cs typeface="Arial"/>
              </a:rPr>
              <a:t>be </a:t>
            </a:r>
            <a:r>
              <a:rPr sz="2000" spc="-195" dirty="0">
                <a:solidFill>
                  <a:srgbClr val="FFFFFF"/>
                </a:solidFill>
                <a:latin typeface="Arial"/>
                <a:cs typeface="Arial"/>
              </a:rPr>
              <a:t>a  </a:t>
            </a:r>
            <a:r>
              <a:rPr sz="2000" spc="-35" dirty="0">
                <a:solidFill>
                  <a:srgbClr val="FFFFFF"/>
                </a:solidFill>
                <a:latin typeface="Arial"/>
                <a:cs typeface="Arial"/>
              </a:rPr>
              <a:t>table,</a:t>
            </a:r>
            <a:r>
              <a:rPr sz="2000" spc="-105" dirty="0">
                <a:solidFill>
                  <a:srgbClr val="FFFFFF"/>
                </a:solidFill>
                <a:latin typeface="Arial"/>
                <a:cs typeface="Arial"/>
              </a:rPr>
              <a:t> </a:t>
            </a:r>
            <a:r>
              <a:rPr sz="2000" spc="-5" dirty="0">
                <a:solidFill>
                  <a:srgbClr val="FFFFFF"/>
                </a:solidFill>
                <a:latin typeface="Arial"/>
                <a:cs typeface="Arial"/>
              </a:rPr>
              <a:t>view,</a:t>
            </a:r>
            <a:r>
              <a:rPr sz="2000" spc="-120" dirty="0">
                <a:solidFill>
                  <a:srgbClr val="FFFFFF"/>
                </a:solidFill>
                <a:latin typeface="Arial"/>
                <a:cs typeface="Arial"/>
              </a:rPr>
              <a:t> </a:t>
            </a:r>
            <a:r>
              <a:rPr sz="2000" spc="-15" dirty="0">
                <a:solidFill>
                  <a:srgbClr val="FFFFFF"/>
                </a:solidFill>
                <a:latin typeface="Arial"/>
                <a:cs typeface="Arial"/>
              </a:rPr>
              <a:t>trigger,</a:t>
            </a:r>
            <a:r>
              <a:rPr sz="2000" spc="-130" dirty="0">
                <a:solidFill>
                  <a:srgbClr val="FFFFFF"/>
                </a:solidFill>
                <a:latin typeface="Arial"/>
                <a:cs typeface="Arial"/>
              </a:rPr>
              <a:t> </a:t>
            </a:r>
            <a:r>
              <a:rPr sz="2000" spc="-35" dirty="0">
                <a:solidFill>
                  <a:srgbClr val="FFFFFF"/>
                </a:solidFill>
                <a:latin typeface="Arial"/>
                <a:cs typeface="Arial"/>
              </a:rPr>
              <a:t>stored</a:t>
            </a:r>
            <a:r>
              <a:rPr sz="2000" spc="-114" dirty="0">
                <a:solidFill>
                  <a:srgbClr val="FFFFFF"/>
                </a:solidFill>
                <a:latin typeface="Arial"/>
                <a:cs typeface="Arial"/>
              </a:rPr>
              <a:t> </a:t>
            </a:r>
            <a:r>
              <a:rPr sz="2000" spc="-35" dirty="0">
                <a:solidFill>
                  <a:srgbClr val="FFFFFF"/>
                </a:solidFill>
                <a:latin typeface="Arial"/>
                <a:cs typeface="Arial"/>
              </a:rPr>
              <a:t>procedure,</a:t>
            </a:r>
            <a:r>
              <a:rPr sz="2000" spc="-114" dirty="0">
                <a:solidFill>
                  <a:srgbClr val="FFFFFF"/>
                </a:solidFill>
                <a:latin typeface="Arial"/>
                <a:cs typeface="Arial"/>
              </a:rPr>
              <a:t> </a:t>
            </a:r>
            <a:r>
              <a:rPr sz="2000" spc="-35" dirty="0">
                <a:solidFill>
                  <a:srgbClr val="FFFFFF"/>
                </a:solidFill>
                <a:latin typeface="Arial"/>
                <a:cs typeface="Arial"/>
              </a:rPr>
              <a:t>and</a:t>
            </a:r>
            <a:r>
              <a:rPr sz="2000" spc="-135" dirty="0">
                <a:solidFill>
                  <a:srgbClr val="FFFFFF"/>
                </a:solidFill>
                <a:latin typeface="Arial"/>
                <a:cs typeface="Arial"/>
              </a:rPr>
              <a:t> </a:t>
            </a:r>
            <a:r>
              <a:rPr sz="2000" spc="-120" dirty="0">
                <a:solidFill>
                  <a:srgbClr val="FFFFFF"/>
                </a:solidFill>
                <a:latin typeface="Arial"/>
                <a:cs typeface="Arial"/>
              </a:rPr>
              <a:t>so</a:t>
            </a:r>
            <a:r>
              <a:rPr sz="2000" spc="-125" dirty="0">
                <a:solidFill>
                  <a:srgbClr val="FFFFFF"/>
                </a:solidFill>
                <a:latin typeface="Arial"/>
                <a:cs typeface="Arial"/>
              </a:rPr>
              <a:t> </a:t>
            </a:r>
            <a:r>
              <a:rPr sz="2000" dirty="0">
                <a:solidFill>
                  <a:srgbClr val="FFFFFF"/>
                </a:solidFill>
                <a:latin typeface="Arial"/>
                <a:cs typeface="Arial"/>
              </a:rPr>
              <a:t>on:</a:t>
            </a:r>
            <a:endParaRPr sz="2000">
              <a:latin typeface="Arial"/>
              <a:cs typeface="Arial"/>
            </a:endParaRPr>
          </a:p>
          <a:p>
            <a:pPr marL="311150" indent="-299085">
              <a:lnSpc>
                <a:spcPts val="2080"/>
              </a:lnSpc>
              <a:spcBef>
                <a:spcPts val="30"/>
              </a:spcBef>
              <a:buSzPct val="111111"/>
              <a:buFont typeface="Segoe UI Symbol"/>
              <a:buChar char="➢"/>
              <a:tabLst>
                <a:tab pos="311785" algn="l"/>
              </a:tabLst>
            </a:pPr>
            <a:r>
              <a:rPr sz="1800" spc="55" dirty="0">
                <a:solidFill>
                  <a:srgbClr val="FFFFFF"/>
                </a:solidFill>
                <a:latin typeface="Arial"/>
                <a:cs typeface="Arial"/>
              </a:rPr>
              <a:t>CREATE</a:t>
            </a:r>
            <a:r>
              <a:rPr sz="1800" spc="-135" dirty="0">
                <a:solidFill>
                  <a:srgbClr val="FFFFFF"/>
                </a:solidFill>
                <a:latin typeface="Arial"/>
                <a:cs typeface="Arial"/>
              </a:rPr>
              <a:t> </a:t>
            </a:r>
            <a:r>
              <a:rPr sz="1800" spc="-90" dirty="0">
                <a:solidFill>
                  <a:srgbClr val="FFFFFF"/>
                </a:solidFill>
                <a:latin typeface="Arial"/>
                <a:cs typeface="Arial"/>
              </a:rPr>
              <a:t>object_name</a:t>
            </a:r>
            <a:endParaRPr sz="1800">
              <a:latin typeface="Arial"/>
              <a:cs typeface="Arial"/>
            </a:endParaRPr>
          </a:p>
          <a:p>
            <a:pPr marL="280670" indent="-268605">
              <a:lnSpc>
                <a:spcPts val="1975"/>
              </a:lnSpc>
              <a:buFont typeface="Segoe UI Symbol"/>
              <a:buChar char="➢"/>
              <a:tabLst>
                <a:tab pos="281305" algn="l"/>
              </a:tabLst>
            </a:pPr>
            <a:r>
              <a:rPr sz="1800" spc="75" dirty="0">
                <a:solidFill>
                  <a:srgbClr val="FFFFFF"/>
                </a:solidFill>
                <a:latin typeface="Arial"/>
                <a:cs typeface="Arial"/>
              </a:rPr>
              <a:t>ALTER</a:t>
            </a:r>
            <a:r>
              <a:rPr sz="1800" spc="-125" dirty="0">
                <a:solidFill>
                  <a:srgbClr val="FFFFFF"/>
                </a:solidFill>
                <a:latin typeface="Arial"/>
                <a:cs typeface="Arial"/>
              </a:rPr>
              <a:t> </a:t>
            </a:r>
            <a:r>
              <a:rPr sz="1800" spc="-90" dirty="0">
                <a:solidFill>
                  <a:srgbClr val="FFFFFF"/>
                </a:solidFill>
                <a:latin typeface="Arial"/>
                <a:cs typeface="Arial"/>
              </a:rPr>
              <a:t>object_name</a:t>
            </a:r>
            <a:endParaRPr sz="1800">
              <a:latin typeface="Arial"/>
              <a:cs typeface="Arial"/>
            </a:endParaRPr>
          </a:p>
          <a:p>
            <a:pPr marL="280670" indent="-268605">
              <a:lnSpc>
                <a:spcPts val="2050"/>
              </a:lnSpc>
              <a:buFont typeface="Segoe UI Symbol"/>
              <a:buChar char="➢"/>
              <a:tabLst>
                <a:tab pos="281305" algn="l"/>
              </a:tabLst>
            </a:pPr>
            <a:r>
              <a:rPr sz="1800" spc="15" dirty="0">
                <a:solidFill>
                  <a:srgbClr val="FFFFFF"/>
                </a:solidFill>
                <a:latin typeface="Arial"/>
                <a:cs typeface="Arial"/>
              </a:rPr>
              <a:t>DROP</a:t>
            </a:r>
            <a:r>
              <a:rPr sz="1800" spc="-130" dirty="0">
                <a:solidFill>
                  <a:srgbClr val="FFFFFF"/>
                </a:solidFill>
                <a:latin typeface="Arial"/>
                <a:cs typeface="Arial"/>
              </a:rPr>
              <a:t> </a:t>
            </a:r>
            <a:r>
              <a:rPr sz="1800" spc="-90" dirty="0">
                <a:solidFill>
                  <a:srgbClr val="FFFFFF"/>
                </a:solidFill>
                <a:latin typeface="Arial"/>
                <a:cs typeface="Arial"/>
              </a:rPr>
              <a:t>object_name</a:t>
            </a:r>
            <a:endParaRPr sz="18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7</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463" y="0"/>
            <a:ext cx="7994015" cy="635635"/>
          </a:xfrm>
          <a:prstGeom prst="rect">
            <a:avLst/>
          </a:prstGeom>
        </p:spPr>
        <p:txBody>
          <a:bodyPr vert="horz" wrap="square" lIns="0" tIns="12700" rIns="0" bIns="0" rtlCol="0">
            <a:spAutoFit/>
          </a:bodyPr>
          <a:lstStyle/>
          <a:p>
            <a:pPr marL="12700">
              <a:lnSpc>
                <a:spcPct val="100000"/>
              </a:lnSpc>
              <a:spcBef>
                <a:spcPts val="100"/>
              </a:spcBef>
            </a:pPr>
            <a:r>
              <a:rPr spc="-60" dirty="0"/>
              <a:t>Data </a:t>
            </a:r>
            <a:r>
              <a:rPr spc="70" dirty="0"/>
              <a:t>Manipulation </a:t>
            </a:r>
            <a:r>
              <a:rPr spc="-160" dirty="0"/>
              <a:t>Language</a:t>
            </a:r>
            <a:r>
              <a:rPr spc="-795" dirty="0"/>
              <a:t> </a:t>
            </a:r>
            <a:r>
              <a:rPr spc="145" dirty="0"/>
              <a:t>(DML)</a:t>
            </a:r>
          </a:p>
        </p:txBody>
      </p:sp>
      <p:grpSp>
        <p:nvGrpSpPr>
          <p:cNvPr id="3" name="object 3"/>
          <p:cNvGrpSpPr/>
          <p:nvPr/>
        </p:nvGrpSpPr>
        <p:grpSpPr>
          <a:xfrm>
            <a:off x="263652" y="1444713"/>
            <a:ext cx="8457565" cy="962025"/>
            <a:chOff x="263652" y="1444713"/>
            <a:chExt cx="8457565" cy="962025"/>
          </a:xfrm>
        </p:grpSpPr>
        <p:pic>
          <p:nvPicPr>
            <p:cNvPr id="4" name="object 4"/>
            <p:cNvPicPr/>
            <p:nvPr/>
          </p:nvPicPr>
          <p:blipFill>
            <a:blip r:embed="rId3" cstate="print"/>
            <a:stretch>
              <a:fillRect/>
            </a:stretch>
          </p:blipFill>
          <p:spPr>
            <a:xfrm>
              <a:off x="263652" y="1444713"/>
              <a:ext cx="8457438" cy="961682"/>
            </a:xfrm>
            <a:prstGeom prst="rect">
              <a:avLst/>
            </a:prstGeom>
          </p:spPr>
        </p:pic>
        <p:pic>
          <p:nvPicPr>
            <p:cNvPr id="5" name="object 5"/>
            <p:cNvPicPr/>
            <p:nvPr/>
          </p:nvPicPr>
          <p:blipFill>
            <a:blip r:embed="rId4" cstate="print"/>
            <a:stretch>
              <a:fillRect/>
            </a:stretch>
          </p:blipFill>
          <p:spPr>
            <a:xfrm>
              <a:off x="304800" y="1463040"/>
              <a:ext cx="8382000" cy="886205"/>
            </a:xfrm>
            <a:prstGeom prst="rect">
              <a:avLst/>
            </a:prstGeom>
          </p:spPr>
        </p:pic>
      </p:grpSp>
      <p:grpSp>
        <p:nvGrpSpPr>
          <p:cNvPr id="6" name="object 6"/>
          <p:cNvGrpSpPr/>
          <p:nvPr/>
        </p:nvGrpSpPr>
        <p:grpSpPr>
          <a:xfrm>
            <a:off x="290322" y="2769069"/>
            <a:ext cx="8430895" cy="962660"/>
            <a:chOff x="290322" y="2769069"/>
            <a:chExt cx="8430895" cy="962660"/>
          </a:xfrm>
        </p:grpSpPr>
        <p:pic>
          <p:nvPicPr>
            <p:cNvPr id="7" name="object 7"/>
            <p:cNvPicPr/>
            <p:nvPr/>
          </p:nvPicPr>
          <p:blipFill>
            <a:blip r:embed="rId5" cstate="print"/>
            <a:stretch>
              <a:fillRect/>
            </a:stretch>
          </p:blipFill>
          <p:spPr>
            <a:xfrm>
              <a:off x="290322" y="2769069"/>
              <a:ext cx="8430768" cy="962444"/>
            </a:xfrm>
            <a:prstGeom prst="rect">
              <a:avLst/>
            </a:prstGeom>
          </p:spPr>
        </p:pic>
        <p:pic>
          <p:nvPicPr>
            <p:cNvPr id="8" name="object 8"/>
            <p:cNvPicPr/>
            <p:nvPr/>
          </p:nvPicPr>
          <p:blipFill>
            <a:blip r:embed="rId6" cstate="print"/>
            <a:stretch>
              <a:fillRect/>
            </a:stretch>
          </p:blipFill>
          <p:spPr>
            <a:xfrm>
              <a:off x="331470" y="2787396"/>
              <a:ext cx="8355330" cy="886967"/>
            </a:xfrm>
            <a:prstGeom prst="rect">
              <a:avLst/>
            </a:prstGeom>
          </p:spPr>
        </p:pic>
      </p:grpSp>
      <p:grpSp>
        <p:nvGrpSpPr>
          <p:cNvPr id="9" name="object 9"/>
          <p:cNvGrpSpPr/>
          <p:nvPr/>
        </p:nvGrpSpPr>
        <p:grpSpPr>
          <a:xfrm>
            <a:off x="290322" y="3915181"/>
            <a:ext cx="8430895" cy="2180590"/>
            <a:chOff x="290322" y="3915181"/>
            <a:chExt cx="8430895" cy="2180590"/>
          </a:xfrm>
        </p:grpSpPr>
        <p:pic>
          <p:nvPicPr>
            <p:cNvPr id="10" name="object 10"/>
            <p:cNvPicPr/>
            <p:nvPr/>
          </p:nvPicPr>
          <p:blipFill>
            <a:blip r:embed="rId7" cstate="print"/>
            <a:stretch>
              <a:fillRect/>
            </a:stretch>
          </p:blipFill>
          <p:spPr>
            <a:xfrm>
              <a:off x="290322" y="3915181"/>
              <a:ext cx="8430768" cy="2180082"/>
            </a:xfrm>
            <a:prstGeom prst="rect">
              <a:avLst/>
            </a:prstGeom>
          </p:spPr>
        </p:pic>
        <p:pic>
          <p:nvPicPr>
            <p:cNvPr id="11" name="object 11"/>
            <p:cNvPicPr/>
            <p:nvPr/>
          </p:nvPicPr>
          <p:blipFill>
            <a:blip r:embed="rId8" cstate="print"/>
            <a:stretch>
              <a:fillRect/>
            </a:stretch>
          </p:blipFill>
          <p:spPr>
            <a:xfrm>
              <a:off x="331470" y="3933444"/>
              <a:ext cx="8355330" cy="2104644"/>
            </a:xfrm>
            <a:prstGeom prst="rect">
              <a:avLst/>
            </a:prstGeom>
          </p:spPr>
        </p:pic>
      </p:grpSp>
      <p:sp>
        <p:nvSpPr>
          <p:cNvPr id="12" name="object 12"/>
          <p:cNvSpPr txBox="1"/>
          <p:nvPr/>
        </p:nvSpPr>
        <p:spPr>
          <a:xfrm>
            <a:off x="511555" y="1546097"/>
            <a:ext cx="8110220" cy="4133183"/>
          </a:xfrm>
          <a:prstGeom prst="rect">
            <a:avLst/>
          </a:prstGeom>
        </p:spPr>
        <p:txBody>
          <a:bodyPr vert="horz" wrap="square" lIns="0" tIns="46990" rIns="0" bIns="0" rtlCol="0">
            <a:spAutoFit/>
          </a:bodyPr>
          <a:lstStyle/>
          <a:p>
            <a:pPr marL="12700" marR="5080">
              <a:lnSpc>
                <a:spcPts val="2160"/>
              </a:lnSpc>
              <a:spcBef>
                <a:spcPts val="370"/>
              </a:spcBef>
            </a:pPr>
            <a:r>
              <a:rPr sz="2000" spc="130" dirty="0">
                <a:solidFill>
                  <a:srgbClr val="FFFFFF"/>
                </a:solidFill>
                <a:latin typeface="Arial"/>
                <a:cs typeface="Arial"/>
              </a:rPr>
              <a:t>DML </a:t>
            </a:r>
            <a:r>
              <a:rPr sz="2000" spc="-50" dirty="0">
                <a:solidFill>
                  <a:srgbClr val="FFFFFF"/>
                </a:solidFill>
                <a:latin typeface="Arial"/>
                <a:cs typeface="Arial"/>
              </a:rPr>
              <a:t>is </a:t>
            </a:r>
            <a:r>
              <a:rPr sz="2000" spc="-90" dirty="0">
                <a:solidFill>
                  <a:srgbClr val="FFFFFF"/>
                </a:solidFill>
                <a:latin typeface="Arial"/>
                <a:cs typeface="Arial"/>
              </a:rPr>
              <a:t>used </a:t>
            </a:r>
            <a:r>
              <a:rPr sz="2000" spc="55" dirty="0">
                <a:solidFill>
                  <a:srgbClr val="FFFFFF"/>
                </a:solidFill>
                <a:latin typeface="Arial"/>
                <a:cs typeface="Arial"/>
              </a:rPr>
              <a:t>to </a:t>
            </a:r>
            <a:r>
              <a:rPr sz="2000" spc="-70" dirty="0">
                <a:solidFill>
                  <a:srgbClr val="FFFFFF"/>
                </a:solidFill>
                <a:latin typeface="Arial"/>
                <a:cs typeface="Arial"/>
              </a:rPr>
              <a:t>select, </a:t>
            </a:r>
            <a:r>
              <a:rPr sz="2000" spc="-10" dirty="0">
                <a:solidFill>
                  <a:srgbClr val="FFFFFF"/>
                </a:solidFill>
                <a:latin typeface="Arial"/>
                <a:cs typeface="Arial"/>
              </a:rPr>
              <a:t>insert, </a:t>
            </a:r>
            <a:r>
              <a:rPr sz="2000" spc="-35" dirty="0">
                <a:solidFill>
                  <a:srgbClr val="FFFFFF"/>
                </a:solidFill>
                <a:latin typeface="Arial"/>
                <a:cs typeface="Arial"/>
              </a:rPr>
              <a:t>update, </a:t>
            </a:r>
            <a:r>
              <a:rPr sz="2000" spc="30" dirty="0">
                <a:solidFill>
                  <a:srgbClr val="FFFFFF"/>
                </a:solidFill>
                <a:latin typeface="Arial"/>
                <a:cs typeface="Arial"/>
              </a:rPr>
              <a:t>or </a:t>
            </a:r>
            <a:r>
              <a:rPr sz="2000" spc="-50" dirty="0">
                <a:solidFill>
                  <a:srgbClr val="FFFFFF"/>
                </a:solidFill>
                <a:latin typeface="Arial"/>
                <a:cs typeface="Arial"/>
              </a:rPr>
              <a:t>delete </a:t>
            </a:r>
            <a:r>
              <a:rPr sz="2000" spc="-60" dirty="0">
                <a:solidFill>
                  <a:srgbClr val="FFFFFF"/>
                </a:solidFill>
                <a:latin typeface="Arial"/>
                <a:cs typeface="Arial"/>
              </a:rPr>
              <a:t>data </a:t>
            </a:r>
            <a:r>
              <a:rPr sz="2000" spc="95" dirty="0">
                <a:solidFill>
                  <a:srgbClr val="FFFFFF"/>
                </a:solidFill>
                <a:latin typeface="Arial"/>
                <a:cs typeface="Arial"/>
              </a:rPr>
              <a:t>in </a:t>
            </a:r>
            <a:r>
              <a:rPr sz="2000" dirty="0">
                <a:solidFill>
                  <a:srgbClr val="FFFFFF"/>
                </a:solidFill>
                <a:latin typeface="Arial"/>
                <a:cs typeface="Arial"/>
              </a:rPr>
              <a:t>the </a:t>
            </a:r>
            <a:r>
              <a:rPr sz="2000" spc="-40" dirty="0">
                <a:solidFill>
                  <a:srgbClr val="FFFFFF"/>
                </a:solidFill>
                <a:latin typeface="Arial"/>
                <a:cs typeface="Arial"/>
              </a:rPr>
              <a:t>objects</a:t>
            </a:r>
            <a:r>
              <a:rPr sz="2000" spc="-260" dirty="0">
                <a:solidFill>
                  <a:srgbClr val="FFFFFF"/>
                </a:solidFill>
                <a:latin typeface="Arial"/>
                <a:cs typeface="Arial"/>
              </a:rPr>
              <a:t> </a:t>
            </a:r>
            <a:r>
              <a:rPr sz="2000" dirty="0">
                <a:solidFill>
                  <a:srgbClr val="FFFFFF"/>
                </a:solidFill>
                <a:latin typeface="Arial"/>
                <a:cs typeface="Arial"/>
              </a:rPr>
              <a:t>defined  </a:t>
            </a:r>
            <a:r>
              <a:rPr sz="2000" spc="90" dirty="0">
                <a:solidFill>
                  <a:srgbClr val="FFFFFF"/>
                </a:solidFill>
                <a:latin typeface="Arial"/>
                <a:cs typeface="Arial"/>
              </a:rPr>
              <a:t>with</a:t>
            </a:r>
            <a:r>
              <a:rPr sz="2000" spc="-130" dirty="0">
                <a:solidFill>
                  <a:srgbClr val="FFFFFF"/>
                </a:solidFill>
                <a:latin typeface="Arial"/>
                <a:cs typeface="Arial"/>
              </a:rPr>
              <a:t> </a:t>
            </a:r>
            <a:r>
              <a:rPr sz="2000" spc="120" dirty="0">
                <a:solidFill>
                  <a:srgbClr val="FFFFFF"/>
                </a:solidFill>
                <a:latin typeface="Arial"/>
                <a:cs typeface="Arial"/>
              </a:rPr>
              <a:t>DDL</a:t>
            </a:r>
            <a:endParaRPr sz="2000">
              <a:latin typeface="Arial"/>
              <a:cs typeface="Arial"/>
            </a:endParaRPr>
          </a:p>
          <a:p>
            <a:pPr>
              <a:lnSpc>
                <a:spcPct val="100000"/>
              </a:lnSpc>
            </a:pPr>
            <a:endParaRPr sz="2800">
              <a:latin typeface="Arial"/>
              <a:cs typeface="Arial"/>
            </a:endParaRPr>
          </a:p>
          <a:p>
            <a:pPr>
              <a:lnSpc>
                <a:spcPct val="100000"/>
              </a:lnSpc>
              <a:spcBef>
                <a:spcPts val="20"/>
              </a:spcBef>
            </a:pPr>
            <a:endParaRPr sz="2550">
              <a:latin typeface="Arial"/>
              <a:cs typeface="Arial"/>
            </a:endParaRPr>
          </a:p>
          <a:p>
            <a:pPr marL="25400" marR="17780">
              <a:lnSpc>
                <a:spcPts val="2160"/>
              </a:lnSpc>
            </a:pPr>
            <a:r>
              <a:rPr sz="2000" spc="170" dirty="0">
                <a:solidFill>
                  <a:srgbClr val="FFFFFF"/>
                </a:solidFill>
                <a:latin typeface="Arial"/>
                <a:cs typeface="Arial"/>
              </a:rPr>
              <a:t>All </a:t>
            </a:r>
            <a:r>
              <a:rPr sz="2000" spc="-105" dirty="0">
                <a:solidFill>
                  <a:srgbClr val="FFFFFF"/>
                </a:solidFill>
                <a:latin typeface="Arial"/>
                <a:cs typeface="Arial"/>
              </a:rPr>
              <a:t>database </a:t>
            </a:r>
            <a:r>
              <a:rPr sz="2000" spc="-100" dirty="0">
                <a:solidFill>
                  <a:srgbClr val="FFFFFF"/>
                </a:solidFill>
                <a:latin typeface="Arial"/>
                <a:cs typeface="Arial"/>
              </a:rPr>
              <a:t>users </a:t>
            </a:r>
            <a:r>
              <a:rPr sz="2000" spc="-75" dirty="0">
                <a:solidFill>
                  <a:srgbClr val="FFFFFF"/>
                </a:solidFill>
                <a:latin typeface="Arial"/>
                <a:cs typeface="Arial"/>
              </a:rPr>
              <a:t>can </a:t>
            </a:r>
            <a:r>
              <a:rPr sz="2000" spc="-120" dirty="0">
                <a:solidFill>
                  <a:srgbClr val="FFFFFF"/>
                </a:solidFill>
                <a:latin typeface="Arial"/>
                <a:cs typeface="Arial"/>
              </a:rPr>
              <a:t>use </a:t>
            </a:r>
            <a:r>
              <a:rPr sz="2000" spc="-80" dirty="0">
                <a:solidFill>
                  <a:srgbClr val="FFFFFF"/>
                </a:solidFill>
                <a:latin typeface="Arial"/>
                <a:cs typeface="Arial"/>
              </a:rPr>
              <a:t>these </a:t>
            </a:r>
            <a:r>
              <a:rPr sz="2000" spc="-60" dirty="0">
                <a:solidFill>
                  <a:srgbClr val="FFFFFF"/>
                </a:solidFill>
                <a:latin typeface="Arial"/>
                <a:cs typeface="Arial"/>
              </a:rPr>
              <a:t>commands </a:t>
            </a:r>
            <a:r>
              <a:rPr sz="2000" spc="30" dirty="0">
                <a:solidFill>
                  <a:srgbClr val="FFFFFF"/>
                </a:solidFill>
                <a:latin typeface="Arial"/>
                <a:cs typeface="Arial"/>
              </a:rPr>
              <a:t>during </a:t>
            </a:r>
            <a:r>
              <a:rPr sz="2000" dirty="0">
                <a:solidFill>
                  <a:srgbClr val="FFFFFF"/>
                </a:solidFill>
                <a:latin typeface="Arial"/>
                <a:cs typeface="Arial"/>
              </a:rPr>
              <a:t>the </a:t>
            </a:r>
            <a:r>
              <a:rPr sz="2000" spc="35" dirty="0">
                <a:solidFill>
                  <a:srgbClr val="FFFFFF"/>
                </a:solidFill>
                <a:latin typeface="Arial"/>
                <a:cs typeface="Arial"/>
              </a:rPr>
              <a:t>routine</a:t>
            </a:r>
            <a:r>
              <a:rPr sz="2000" spc="-75" dirty="0">
                <a:solidFill>
                  <a:srgbClr val="FFFFFF"/>
                </a:solidFill>
                <a:latin typeface="Arial"/>
                <a:cs typeface="Arial"/>
              </a:rPr>
              <a:t> </a:t>
            </a:r>
            <a:r>
              <a:rPr sz="2000" spc="-25" dirty="0">
                <a:solidFill>
                  <a:srgbClr val="FFFFFF"/>
                </a:solidFill>
                <a:latin typeface="Arial"/>
                <a:cs typeface="Arial"/>
              </a:rPr>
              <a:t>operations  </a:t>
            </a:r>
            <a:r>
              <a:rPr sz="2000" spc="20" dirty="0">
                <a:solidFill>
                  <a:srgbClr val="FFFFFF"/>
                </a:solidFill>
                <a:latin typeface="Arial"/>
                <a:cs typeface="Arial"/>
              </a:rPr>
              <a:t>on </a:t>
            </a:r>
            <a:r>
              <a:rPr sz="2000" spc="-195" dirty="0">
                <a:solidFill>
                  <a:srgbClr val="FFFFFF"/>
                </a:solidFill>
                <a:latin typeface="Arial"/>
                <a:cs typeface="Arial"/>
              </a:rPr>
              <a:t>a</a:t>
            </a:r>
            <a:r>
              <a:rPr sz="2000" spc="-270" dirty="0">
                <a:solidFill>
                  <a:srgbClr val="FFFFFF"/>
                </a:solidFill>
                <a:latin typeface="Arial"/>
                <a:cs typeface="Arial"/>
              </a:rPr>
              <a:t> </a:t>
            </a:r>
            <a:r>
              <a:rPr sz="2000" spc="-105" dirty="0">
                <a:solidFill>
                  <a:srgbClr val="FFFFFF"/>
                </a:solidFill>
                <a:latin typeface="Arial"/>
                <a:cs typeface="Arial"/>
              </a:rPr>
              <a:t>database</a:t>
            </a:r>
            <a:endParaRPr sz="2000">
              <a:latin typeface="Arial"/>
              <a:cs typeface="Arial"/>
            </a:endParaRPr>
          </a:p>
          <a:p>
            <a:pPr>
              <a:lnSpc>
                <a:spcPct val="100000"/>
              </a:lnSpc>
            </a:pPr>
            <a:endParaRPr sz="2800">
              <a:latin typeface="Arial"/>
              <a:cs typeface="Arial"/>
            </a:endParaRPr>
          </a:p>
          <a:p>
            <a:pPr>
              <a:lnSpc>
                <a:spcPct val="100000"/>
              </a:lnSpc>
              <a:spcBef>
                <a:spcPts val="55"/>
              </a:spcBef>
            </a:pPr>
            <a:endParaRPr sz="2150">
              <a:latin typeface="Arial"/>
              <a:cs typeface="Arial"/>
            </a:endParaRPr>
          </a:p>
          <a:p>
            <a:pPr marL="164465">
              <a:lnSpc>
                <a:spcPct val="100000"/>
              </a:lnSpc>
            </a:pPr>
            <a:r>
              <a:rPr sz="2000" spc="45" dirty="0">
                <a:solidFill>
                  <a:srgbClr val="FFFFFF"/>
                </a:solidFill>
                <a:latin typeface="Arial"/>
                <a:cs typeface="Arial"/>
              </a:rPr>
              <a:t>Different </a:t>
            </a:r>
            <a:r>
              <a:rPr sz="2000" spc="130" dirty="0">
                <a:solidFill>
                  <a:srgbClr val="FFFFFF"/>
                </a:solidFill>
                <a:latin typeface="Arial"/>
                <a:cs typeface="Arial"/>
              </a:rPr>
              <a:t>DML</a:t>
            </a:r>
            <a:r>
              <a:rPr sz="2000" spc="-285" dirty="0">
                <a:solidFill>
                  <a:srgbClr val="FFFFFF"/>
                </a:solidFill>
                <a:latin typeface="Arial"/>
                <a:cs typeface="Arial"/>
              </a:rPr>
              <a:t> </a:t>
            </a:r>
            <a:r>
              <a:rPr sz="2000" spc="-55" dirty="0">
                <a:solidFill>
                  <a:srgbClr val="FFFFFF"/>
                </a:solidFill>
                <a:latin typeface="Arial"/>
                <a:cs typeface="Arial"/>
              </a:rPr>
              <a:t>statements </a:t>
            </a:r>
            <a:r>
              <a:rPr sz="2000" spc="-100" dirty="0">
                <a:solidFill>
                  <a:srgbClr val="FFFFFF"/>
                </a:solidFill>
                <a:latin typeface="Arial"/>
                <a:cs typeface="Arial"/>
              </a:rPr>
              <a:t>are </a:t>
            </a:r>
            <a:r>
              <a:rPr sz="2000" spc="-204">
                <a:solidFill>
                  <a:srgbClr val="FFFFFF"/>
                </a:solidFill>
                <a:latin typeface="Arial"/>
                <a:cs typeface="Arial"/>
              </a:rPr>
              <a:t>as </a:t>
            </a:r>
            <a:r>
              <a:rPr lang="en-US" sz="2000" spc="-204">
                <a:solidFill>
                  <a:srgbClr val="FFFFFF"/>
                </a:solidFill>
                <a:latin typeface="Arial"/>
                <a:cs typeface="Arial"/>
              </a:rPr>
              <a:t> </a:t>
            </a:r>
            <a:r>
              <a:rPr sz="2000" spc="15">
                <a:solidFill>
                  <a:srgbClr val="FFFFFF"/>
                </a:solidFill>
                <a:latin typeface="Arial"/>
                <a:cs typeface="Arial"/>
              </a:rPr>
              <a:t>follows</a:t>
            </a:r>
            <a:r>
              <a:rPr sz="2000" spc="15" dirty="0">
                <a:solidFill>
                  <a:srgbClr val="FFFFFF"/>
                </a:solidFill>
                <a:latin typeface="Arial"/>
                <a:cs typeface="Arial"/>
              </a:rPr>
              <a:t>:</a:t>
            </a:r>
            <a:endParaRPr sz="2000">
              <a:latin typeface="Arial"/>
              <a:cs typeface="Arial"/>
            </a:endParaRPr>
          </a:p>
          <a:p>
            <a:pPr marL="462915" indent="-299085">
              <a:lnSpc>
                <a:spcPts val="2080"/>
              </a:lnSpc>
              <a:spcBef>
                <a:spcPts val="60"/>
              </a:spcBef>
              <a:buSzPct val="111111"/>
              <a:buFont typeface="Segoe UI Symbol"/>
              <a:buChar char="➢"/>
              <a:tabLst>
                <a:tab pos="463550" algn="l"/>
              </a:tabLst>
            </a:pPr>
            <a:r>
              <a:rPr sz="1800" spc="5" dirty="0">
                <a:solidFill>
                  <a:srgbClr val="FFFFFF"/>
                </a:solidFill>
                <a:latin typeface="Arial"/>
                <a:cs typeface="Arial"/>
              </a:rPr>
              <a:t>SELECT</a:t>
            </a:r>
            <a:r>
              <a:rPr sz="1800" spc="-130"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a:p>
            <a:pPr marL="432434" indent="-268605">
              <a:lnSpc>
                <a:spcPts val="1975"/>
              </a:lnSpc>
              <a:buFont typeface="Segoe UI Symbol"/>
              <a:buChar char="➢"/>
              <a:tabLst>
                <a:tab pos="433070" algn="l"/>
              </a:tabLst>
            </a:pPr>
            <a:r>
              <a:rPr sz="1800" spc="20" dirty="0">
                <a:solidFill>
                  <a:srgbClr val="FFFFFF"/>
                </a:solidFill>
                <a:latin typeface="Arial"/>
                <a:cs typeface="Arial"/>
              </a:rPr>
              <a:t>INSERT</a:t>
            </a:r>
            <a:r>
              <a:rPr sz="1800" spc="-114"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a:p>
            <a:pPr marL="432434" indent="-268605">
              <a:lnSpc>
                <a:spcPts val="1945"/>
              </a:lnSpc>
              <a:buFont typeface="Segoe UI Symbol"/>
              <a:buChar char="➢"/>
              <a:tabLst>
                <a:tab pos="433070" algn="l"/>
              </a:tabLst>
            </a:pPr>
            <a:r>
              <a:rPr sz="1800" spc="70" dirty="0">
                <a:solidFill>
                  <a:srgbClr val="FFFFFF"/>
                </a:solidFill>
                <a:latin typeface="Arial"/>
                <a:cs typeface="Arial"/>
              </a:rPr>
              <a:t>UPDATE</a:t>
            </a:r>
            <a:r>
              <a:rPr sz="1800" spc="-135"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a:p>
            <a:pPr marL="432434" indent="-268605">
              <a:lnSpc>
                <a:spcPts val="2050"/>
              </a:lnSpc>
              <a:buFont typeface="Segoe UI Symbol"/>
              <a:buChar char="➢"/>
              <a:tabLst>
                <a:tab pos="433070" algn="l"/>
              </a:tabLst>
            </a:pPr>
            <a:r>
              <a:rPr sz="1800" spc="5" dirty="0">
                <a:solidFill>
                  <a:srgbClr val="FFFFFF"/>
                </a:solidFill>
                <a:latin typeface="Arial"/>
                <a:cs typeface="Arial"/>
              </a:rPr>
              <a:t>DELETE</a:t>
            </a:r>
            <a:r>
              <a:rPr sz="1800" spc="-114"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p:txBody>
      </p:sp>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8</a:t>
            </a:fld>
            <a:endParaRPr sz="1200"/>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326" y="13969"/>
            <a:ext cx="6715125" cy="635635"/>
          </a:xfrm>
          <a:prstGeom prst="rect">
            <a:avLst/>
          </a:prstGeom>
        </p:spPr>
        <p:txBody>
          <a:bodyPr vert="horz" wrap="square" lIns="0" tIns="12700" rIns="0" bIns="0" rtlCol="0">
            <a:spAutoFit/>
          </a:bodyPr>
          <a:lstStyle/>
          <a:p>
            <a:pPr marL="12700">
              <a:lnSpc>
                <a:spcPct val="100000"/>
              </a:lnSpc>
              <a:spcBef>
                <a:spcPts val="100"/>
              </a:spcBef>
            </a:pPr>
            <a:r>
              <a:rPr spc="-60" dirty="0"/>
              <a:t>Data </a:t>
            </a:r>
            <a:r>
              <a:rPr spc="150" dirty="0"/>
              <a:t>Control</a:t>
            </a:r>
            <a:r>
              <a:rPr spc="-615" dirty="0"/>
              <a:t> </a:t>
            </a:r>
            <a:r>
              <a:rPr spc="-160" dirty="0"/>
              <a:t>Language </a:t>
            </a:r>
            <a:r>
              <a:rPr spc="145" dirty="0"/>
              <a:t>(DCL)</a:t>
            </a:r>
          </a:p>
        </p:txBody>
      </p:sp>
      <p:grpSp>
        <p:nvGrpSpPr>
          <p:cNvPr id="3" name="object 3"/>
          <p:cNvGrpSpPr/>
          <p:nvPr/>
        </p:nvGrpSpPr>
        <p:grpSpPr>
          <a:xfrm>
            <a:off x="339852" y="1069809"/>
            <a:ext cx="8457565" cy="962660"/>
            <a:chOff x="339852" y="1069809"/>
            <a:chExt cx="8457565" cy="962660"/>
          </a:xfrm>
        </p:grpSpPr>
        <p:pic>
          <p:nvPicPr>
            <p:cNvPr id="4" name="object 4"/>
            <p:cNvPicPr/>
            <p:nvPr/>
          </p:nvPicPr>
          <p:blipFill>
            <a:blip r:embed="rId3" cstate="print"/>
            <a:stretch>
              <a:fillRect/>
            </a:stretch>
          </p:blipFill>
          <p:spPr>
            <a:xfrm>
              <a:off x="339852" y="1069809"/>
              <a:ext cx="8457438" cy="962444"/>
            </a:xfrm>
            <a:prstGeom prst="rect">
              <a:avLst/>
            </a:prstGeom>
          </p:spPr>
        </p:pic>
        <p:pic>
          <p:nvPicPr>
            <p:cNvPr id="5" name="object 5"/>
            <p:cNvPicPr/>
            <p:nvPr/>
          </p:nvPicPr>
          <p:blipFill>
            <a:blip r:embed="rId4" cstate="print"/>
            <a:stretch>
              <a:fillRect/>
            </a:stretch>
          </p:blipFill>
          <p:spPr>
            <a:xfrm>
              <a:off x="381000" y="1088135"/>
              <a:ext cx="8382000" cy="886967"/>
            </a:xfrm>
            <a:prstGeom prst="rect">
              <a:avLst/>
            </a:prstGeom>
          </p:spPr>
        </p:pic>
      </p:grpSp>
      <p:sp>
        <p:nvSpPr>
          <p:cNvPr id="6" name="object 6"/>
          <p:cNvSpPr txBox="1"/>
          <p:nvPr/>
        </p:nvSpPr>
        <p:spPr>
          <a:xfrm>
            <a:off x="587755" y="1308607"/>
            <a:ext cx="7861934" cy="330200"/>
          </a:xfrm>
          <a:prstGeom prst="rect">
            <a:avLst/>
          </a:prstGeom>
        </p:spPr>
        <p:txBody>
          <a:bodyPr vert="horz" wrap="square" lIns="0" tIns="12065" rIns="0" bIns="0" rtlCol="0">
            <a:spAutoFit/>
          </a:bodyPr>
          <a:lstStyle/>
          <a:p>
            <a:pPr marL="12700">
              <a:lnSpc>
                <a:spcPct val="100000"/>
              </a:lnSpc>
              <a:spcBef>
                <a:spcPts val="95"/>
              </a:spcBef>
            </a:pPr>
            <a:r>
              <a:rPr sz="2000" spc="-30" dirty="0">
                <a:solidFill>
                  <a:srgbClr val="FFFFFF"/>
                </a:solidFill>
                <a:latin typeface="Arial"/>
                <a:cs typeface="Arial"/>
              </a:rPr>
              <a:t>Data</a:t>
            </a:r>
            <a:r>
              <a:rPr sz="2000" spc="-114" dirty="0">
                <a:solidFill>
                  <a:srgbClr val="FFFFFF"/>
                </a:solidFill>
                <a:latin typeface="Arial"/>
                <a:cs typeface="Arial"/>
              </a:rPr>
              <a:t> </a:t>
            </a:r>
            <a:r>
              <a:rPr sz="2000" spc="35" dirty="0">
                <a:solidFill>
                  <a:srgbClr val="FFFFFF"/>
                </a:solidFill>
                <a:latin typeface="Arial"/>
                <a:cs typeface="Arial"/>
              </a:rPr>
              <a:t>control</a:t>
            </a:r>
            <a:r>
              <a:rPr sz="2000" spc="-95" dirty="0">
                <a:solidFill>
                  <a:srgbClr val="FFFFFF"/>
                </a:solidFill>
                <a:latin typeface="Arial"/>
                <a:cs typeface="Arial"/>
              </a:rPr>
              <a:t> </a:t>
            </a:r>
            <a:r>
              <a:rPr sz="2000" spc="-80" dirty="0">
                <a:solidFill>
                  <a:srgbClr val="FFFFFF"/>
                </a:solidFill>
                <a:latin typeface="Arial"/>
                <a:cs typeface="Arial"/>
              </a:rPr>
              <a:t>language</a:t>
            </a:r>
            <a:r>
              <a:rPr sz="2000" spc="-114" dirty="0">
                <a:solidFill>
                  <a:srgbClr val="FFFFFF"/>
                </a:solidFill>
                <a:latin typeface="Arial"/>
                <a:cs typeface="Arial"/>
              </a:rPr>
              <a:t> </a:t>
            </a:r>
            <a:r>
              <a:rPr sz="2000" spc="-50" dirty="0">
                <a:solidFill>
                  <a:srgbClr val="FFFFFF"/>
                </a:solidFill>
                <a:latin typeface="Arial"/>
                <a:cs typeface="Arial"/>
              </a:rPr>
              <a:t>is</a:t>
            </a:r>
            <a:r>
              <a:rPr sz="2000" spc="-130" dirty="0">
                <a:solidFill>
                  <a:srgbClr val="FFFFFF"/>
                </a:solidFill>
                <a:latin typeface="Arial"/>
                <a:cs typeface="Arial"/>
              </a:rPr>
              <a:t> </a:t>
            </a:r>
            <a:r>
              <a:rPr sz="2000" spc="-90" dirty="0">
                <a:solidFill>
                  <a:srgbClr val="FFFFFF"/>
                </a:solidFill>
                <a:latin typeface="Arial"/>
                <a:cs typeface="Arial"/>
              </a:rPr>
              <a:t>used</a:t>
            </a:r>
            <a:r>
              <a:rPr sz="2000" spc="-125" dirty="0">
                <a:solidFill>
                  <a:srgbClr val="FFFFFF"/>
                </a:solidFill>
                <a:latin typeface="Arial"/>
                <a:cs typeface="Arial"/>
              </a:rPr>
              <a:t> </a:t>
            </a:r>
            <a:r>
              <a:rPr sz="2000" spc="50" dirty="0">
                <a:solidFill>
                  <a:srgbClr val="FFFFFF"/>
                </a:solidFill>
                <a:latin typeface="Arial"/>
                <a:cs typeface="Arial"/>
              </a:rPr>
              <a:t>to</a:t>
            </a:r>
            <a:r>
              <a:rPr sz="2000" spc="-114" dirty="0">
                <a:solidFill>
                  <a:srgbClr val="FFFFFF"/>
                </a:solidFill>
                <a:latin typeface="Arial"/>
                <a:cs typeface="Arial"/>
              </a:rPr>
              <a:t> </a:t>
            </a:r>
            <a:r>
              <a:rPr sz="2000" spc="35" dirty="0">
                <a:solidFill>
                  <a:srgbClr val="FFFFFF"/>
                </a:solidFill>
                <a:latin typeface="Arial"/>
                <a:cs typeface="Arial"/>
              </a:rPr>
              <a:t>control</a:t>
            </a:r>
            <a:r>
              <a:rPr sz="2000" spc="-100" dirty="0">
                <a:solidFill>
                  <a:srgbClr val="FFFFFF"/>
                </a:solidFill>
                <a:latin typeface="Arial"/>
                <a:cs typeface="Arial"/>
              </a:rPr>
              <a:t> </a:t>
            </a:r>
            <a:r>
              <a:rPr sz="2000" spc="-45" dirty="0">
                <a:solidFill>
                  <a:srgbClr val="FFFFFF"/>
                </a:solidFill>
                <a:latin typeface="Arial"/>
                <a:cs typeface="Arial"/>
              </a:rPr>
              <a:t>permissions</a:t>
            </a:r>
            <a:r>
              <a:rPr sz="2000" spc="-105" dirty="0">
                <a:solidFill>
                  <a:srgbClr val="FFFFFF"/>
                </a:solidFill>
                <a:latin typeface="Arial"/>
                <a:cs typeface="Arial"/>
              </a:rPr>
              <a:t> </a:t>
            </a:r>
            <a:r>
              <a:rPr sz="2000" spc="20" dirty="0">
                <a:solidFill>
                  <a:srgbClr val="FFFFFF"/>
                </a:solidFill>
                <a:latin typeface="Arial"/>
                <a:cs typeface="Arial"/>
              </a:rPr>
              <a:t>on</a:t>
            </a:r>
            <a:r>
              <a:rPr sz="2000" spc="-110" dirty="0">
                <a:solidFill>
                  <a:srgbClr val="FFFFFF"/>
                </a:solidFill>
                <a:latin typeface="Arial"/>
                <a:cs typeface="Arial"/>
              </a:rPr>
              <a:t> </a:t>
            </a:r>
            <a:r>
              <a:rPr sz="2000" spc="-105" dirty="0">
                <a:solidFill>
                  <a:srgbClr val="FFFFFF"/>
                </a:solidFill>
                <a:latin typeface="Arial"/>
                <a:cs typeface="Arial"/>
              </a:rPr>
              <a:t>database</a:t>
            </a:r>
            <a:r>
              <a:rPr sz="2000" spc="-110" dirty="0">
                <a:solidFill>
                  <a:srgbClr val="FFFFFF"/>
                </a:solidFill>
                <a:latin typeface="Arial"/>
                <a:cs typeface="Arial"/>
              </a:rPr>
              <a:t> </a:t>
            </a:r>
            <a:r>
              <a:rPr sz="2000" spc="-45" dirty="0">
                <a:solidFill>
                  <a:srgbClr val="FFFFFF"/>
                </a:solidFill>
                <a:latin typeface="Arial"/>
                <a:cs typeface="Arial"/>
              </a:rPr>
              <a:t>objects</a:t>
            </a:r>
            <a:endParaRPr sz="2000">
              <a:latin typeface="Arial"/>
              <a:cs typeface="Arial"/>
            </a:endParaRPr>
          </a:p>
        </p:txBody>
      </p:sp>
      <p:grpSp>
        <p:nvGrpSpPr>
          <p:cNvPr id="7" name="object 7"/>
          <p:cNvGrpSpPr/>
          <p:nvPr/>
        </p:nvGrpSpPr>
        <p:grpSpPr>
          <a:xfrm>
            <a:off x="329184" y="2216619"/>
            <a:ext cx="8457565" cy="962025"/>
            <a:chOff x="329184" y="2216619"/>
            <a:chExt cx="8457565" cy="962025"/>
          </a:xfrm>
        </p:grpSpPr>
        <p:pic>
          <p:nvPicPr>
            <p:cNvPr id="8" name="object 8"/>
            <p:cNvPicPr/>
            <p:nvPr/>
          </p:nvPicPr>
          <p:blipFill>
            <a:blip r:embed="rId5" cstate="print"/>
            <a:stretch>
              <a:fillRect/>
            </a:stretch>
          </p:blipFill>
          <p:spPr>
            <a:xfrm>
              <a:off x="329184" y="2216619"/>
              <a:ext cx="8457438" cy="961682"/>
            </a:xfrm>
            <a:prstGeom prst="rect">
              <a:avLst/>
            </a:prstGeom>
          </p:spPr>
        </p:pic>
        <p:pic>
          <p:nvPicPr>
            <p:cNvPr id="9" name="object 9"/>
            <p:cNvPicPr/>
            <p:nvPr/>
          </p:nvPicPr>
          <p:blipFill>
            <a:blip r:embed="rId6" cstate="print"/>
            <a:stretch>
              <a:fillRect/>
            </a:stretch>
          </p:blipFill>
          <p:spPr>
            <a:xfrm>
              <a:off x="370332" y="2234946"/>
              <a:ext cx="8382000" cy="886205"/>
            </a:xfrm>
            <a:prstGeom prst="rect">
              <a:avLst/>
            </a:prstGeom>
          </p:spPr>
        </p:pic>
      </p:grpSp>
      <p:sp>
        <p:nvSpPr>
          <p:cNvPr id="10" name="object 10"/>
          <p:cNvSpPr txBox="1"/>
          <p:nvPr/>
        </p:nvSpPr>
        <p:spPr>
          <a:xfrm>
            <a:off x="631444" y="2455418"/>
            <a:ext cx="6000115" cy="330200"/>
          </a:xfrm>
          <a:prstGeom prst="rect">
            <a:avLst/>
          </a:prstGeom>
        </p:spPr>
        <p:txBody>
          <a:bodyPr vert="horz" wrap="square" lIns="0" tIns="12065" rIns="0" bIns="0" rtlCol="0">
            <a:spAutoFit/>
          </a:bodyPr>
          <a:lstStyle/>
          <a:p>
            <a:pPr marL="12700">
              <a:lnSpc>
                <a:spcPct val="100000"/>
              </a:lnSpc>
              <a:spcBef>
                <a:spcPts val="95"/>
              </a:spcBef>
            </a:pPr>
            <a:r>
              <a:rPr sz="2000" spc="130" dirty="0">
                <a:solidFill>
                  <a:srgbClr val="FFFFFF"/>
                </a:solidFill>
                <a:latin typeface="Arial"/>
                <a:cs typeface="Arial"/>
              </a:rPr>
              <a:t>DCL</a:t>
            </a:r>
            <a:r>
              <a:rPr sz="2000" spc="-140" dirty="0">
                <a:solidFill>
                  <a:srgbClr val="FFFFFF"/>
                </a:solidFill>
                <a:latin typeface="Arial"/>
                <a:cs typeface="Arial"/>
              </a:rPr>
              <a:t> </a:t>
            </a:r>
            <a:r>
              <a:rPr sz="2000" spc="-55" dirty="0">
                <a:solidFill>
                  <a:srgbClr val="FFFFFF"/>
                </a:solidFill>
                <a:latin typeface="Arial"/>
                <a:cs typeface="Arial"/>
              </a:rPr>
              <a:t>statements</a:t>
            </a:r>
            <a:r>
              <a:rPr sz="2000" spc="-105" dirty="0">
                <a:solidFill>
                  <a:srgbClr val="FFFFFF"/>
                </a:solidFill>
                <a:latin typeface="Arial"/>
                <a:cs typeface="Arial"/>
              </a:rPr>
              <a:t> </a:t>
            </a:r>
            <a:r>
              <a:rPr sz="2000" spc="-100" dirty="0">
                <a:solidFill>
                  <a:srgbClr val="FFFFFF"/>
                </a:solidFill>
                <a:latin typeface="Arial"/>
                <a:cs typeface="Arial"/>
              </a:rPr>
              <a:t>are</a:t>
            </a:r>
            <a:r>
              <a:rPr sz="2000" spc="-125" dirty="0">
                <a:solidFill>
                  <a:srgbClr val="FFFFFF"/>
                </a:solidFill>
                <a:latin typeface="Arial"/>
                <a:cs typeface="Arial"/>
              </a:rPr>
              <a:t> </a:t>
            </a:r>
            <a:r>
              <a:rPr sz="2000" spc="-80" dirty="0">
                <a:solidFill>
                  <a:srgbClr val="FFFFFF"/>
                </a:solidFill>
                <a:latin typeface="Arial"/>
                <a:cs typeface="Arial"/>
              </a:rPr>
              <a:t>also</a:t>
            </a:r>
            <a:r>
              <a:rPr sz="2000" spc="-120" dirty="0">
                <a:solidFill>
                  <a:srgbClr val="FFFFFF"/>
                </a:solidFill>
                <a:latin typeface="Arial"/>
                <a:cs typeface="Arial"/>
              </a:rPr>
              <a:t> </a:t>
            </a:r>
            <a:r>
              <a:rPr sz="2000" spc="-90" dirty="0">
                <a:solidFill>
                  <a:srgbClr val="FFFFFF"/>
                </a:solidFill>
                <a:latin typeface="Arial"/>
                <a:cs typeface="Arial"/>
              </a:rPr>
              <a:t>used</a:t>
            </a:r>
            <a:r>
              <a:rPr sz="2000" spc="-130" dirty="0">
                <a:solidFill>
                  <a:srgbClr val="FFFFFF"/>
                </a:solidFill>
                <a:latin typeface="Arial"/>
                <a:cs typeface="Arial"/>
              </a:rPr>
              <a:t> </a:t>
            </a:r>
            <a:r>
              <a:rPr sz="2000" spc="65" dirty="0">
                <a:solidFill>
                  <a:srgbClr val="FFFFFF"/>
                </a:solidFill>
                <a:latin typeface="Arial"/>
                <a:cs typeface="Arial"/>
              </a:rPr>
              <a:t>for</a:t>
            </a:r>
            <a:r>
              <a:rPr sz="2000" spc="-125" dirty="0">
                <a:solidFill>
                  <a:srgbClr val="FFFFFF"/>
                </a:solidFill>
                <a:latin typeface="Arial"/>
                <a:cs typeface="Arial"/>
              </a:rPr>
              <a:t> </a:t>
            </a:r>
            <a:r>
              <a:rPr sz="2000" spc="-40" dirty="0">
                <a:solidFill>
                  <a:srgbClr val="FFFFFF"/>
                </a:solidFill>
                <a:latin typeface="Arial"/>
                <a:cs typeface="Arial"/>
              </a:rPr>
              <a:t>securing</a:t>
            </a:r>
            <a:r>
              <a:rPr sz="2000" spc="-140" dirty="0">
                <a:solidFill>
                  <a:srgbClr val="FFFFFF"/>
                </a:solidFill>
                <a:latin typeface="Arial"/>
                <a:cs typeface="Arial"/>
              </a:rPr>
              <a:t> </a:t>
            </a:r>
            <a:r>
              <a:rPr sz="2000" dirty="0">
                <a:solidFill>
                  <a:srgbClr val="FFFFFF"/>
                </a:solidFill>
                <a:latin typeface="Arial"/>
                <a:cs typeface="Arial"/>
              </a:rPr>
              <a:t>the</a:t>
            </a:r>
            <a:r>
              <a:rPr sz="2000" spc="-130" dirty="0">
                <a:solidFill>
                  <a:srgbClr val="FFFFFF"/>
                </a:solidFill>
                <a:latin typeface="Arial"/>
                <a:cs typeface="Arial"/>
              </a:rPr>
              <a:t> </a:t>
            </a:r>
            <a:r>
              <a:rPr sz="2000" spc="-105" dirty="0">
                <a:solidFill>
                  <a:srgbClr val="FFFFFF"/>
                </a:solidFill>
                <a:latin typeface="Arial"/>
                <a:cs typeface="Arial"/>
              </a:rPr>
              <a:t>database</a:t>
            </a:r>
            <a:endParaRPr sz="2000">
              <a:latin typeface="Arial"/>
              <a:cs typeface="Arial"/>
            </a:endParaRPr>
          </a:p>
        </p:txBody>
      </p:sp>
      <p:grpSp>
        <p:nvGrpSpPr>
          <p:cNvPr id="11" name="object 11"/>
          <p:cNvGrpSpPr/>
          <p:nvPr/>
        </p:nvGrpSpPr>
        <p:grpSpPr>
          <a:xfrm>
            <a:off x="329184" y="3457194"/>
            <a:ext cx="8457565" cy="1952625"/>
            <a:chOff x="329184" y="3457194"/>
            <a:chExt cx="8457565" cy="1952625"/>
          </a:xfrm>
        </p:grpSpPr>
        <p:pic>
          <p:nvPicPr>
            <p:cNvPr id="12" name="object 12"/>
            <p:cNvPicPr/>
            <p:nvPr/>
          </p:nvPicPr>
          <p:blipFill>
            <a:blip r:embed="rId7" cstate="print"/>
            <a:stretch>
              <a:fillRect/>
            </a:stretch>
          </p:blipFill>
          <p:spPr>
            <a:xfrm>
              <a:off x="329184" y="3457194"/>
              <a:ext cx="8457438" cy="1952243"/>
            </a:xfrm>
            <a:prstGeom prst="rect">
              <a:avLst/>
            </a:prstGeom>
          </p:spPr>
        </p:pic>
        <p:pic>
          <p:nvPicPr>
            <p:cNvPr id="13" name="object 13"/>
            <p:cNvPicPr/>
            <p:nvPr/>
          </p:nvPicPr>
          <p:blipFill>
            <a:blip r:embed="rId8" cstate="print"/>
            <a:stretch>
              <a:fillRect/>
            </a:stretch>
          </p:blipFill>
          <p:spPr>
            <a:xfrm>
              <a:off x="370332" y="3475482"/>
              <a:ext cx="8382000" cy="1876806"/>
            </a:xfrm>
            <a:prstGeom prst="rect">
              <a:avLst/>
            </a:prstGeom>
          </p:spPr>
        </p:pic>
      </p:grpSp>
      <p:sp>
        <p:nvSpPr>
          <p:cNvPr id="14" name="object 14"/>
          <p:cNvSpPr txBox="1"/>
          <p:nvPr/>
        </p:nvSpPr>
        <p:spPr>
          <a:xfrm>
            <a:off x="577341" y="3683508"/>
            <a:ext cx="5219700" cy="1086485"/>
          </a:xfrm>
          <a:prstGeom prst="rect">
            <a:avLst/>
          </a:prstGeom>
        </p:spPr>
        <p:txBody>
          <a:bodyPr vert="horz" wrap="square" lIns="0" tIns="12065" rIns="0" bIns="0" rtlCol="0">
            <a:spAutoFit/>
          </a:bodyPr>
          <a:lstStyle/>
          <a:p>
            <a:pPr marL="120650">
              <a:lnSpc>
                <a:spcPts val="2355"/>
              </a:lnSpc>
              <a:spcBef>
                <a:spcPts val="95"/>
              </a:spcBef>
            </a:pPr>
            <a:r>
              <a:rPr sz="2000" spc="20" dirty="0">
                <a:solidFill>
                  <a:srgbClr val="FFFFFF"/>
                </a:solidFill>
                <a:latin typeface="Arial"/>
                <a:cs typeface="Arial"/>
              </a:rPr>
              <a:t>The</a:t>
            </a:r>
            <a:r>
              <a:rPr sz="2000" spc="-140" dirty="0">
                <a:solidFill>
                  <a:srgbClr val="FFFFFF"/>
                </a:solidFill>
                <a:latin typeface="Arial"/>
                <a:cs typeface="Arial"/>
              </a:rPr>
              <a:t> </a:t>
            </a:r>
            <a:r>
              <a:rPr sz="2000" spc="-20" dirty="0">
                <a:solidFill>
                  <a:srgbClr val="FFFFFF"/>
                </a:solidFill>
                <a:latin typeface="Arial"/>
                <a:cs typeface="Arial"/>
              </a:rPr>
              <a:t>three</a:t>
            </a:r>
            <a:r>
              <a:rPr sz="2000" spc="-114" dirty="0">
                <a:solidFill>
                  <a:srgbClr val="FFFFFF"/>
                </a:solidFill>
                <a:latin typeface="Arial"/>
                <a:cs typeface="Arial"/>
              </a:rPr>
              <a:t> </a:t>
            </a:r>
            <a:r>
              <a:rPr sz="2000" spc="-80" dirty="0">
                <a:solidFill>
                  <a:srgbClr val="FFFFFF"/>
                </a:solidFill>
                <a:latin typeface="Arial"/>
                <a:cs typeface="Arial"/>
              </a:rPr>
              <a:t>basic</a:t>
            </a:r>
            <a:r>
              <a:rPr sz="2000" spc="-140" dirty="0">
                <a:solidFill>
                  <a:srgbClr val="FFFFFF"/>
                </a:solidFill>
                <a:latin typeface="Arial"/>
                <a:cs typeface="Arial"/>
              </a:rPr>
              <a:t> </a:t>
            </a:r>
            <a:r>
              <a:rPr sz="2000" spc="130" dirty="0">
                <a:solidFill>
                  <a:srgbClr val="FFFFFF"/>
                </a:solidFill>
                <a:latin typeface="Arial"/>
                <a:cs typeface="Arial"/>
              </a:rPr>
              <a:t>DCL</a:t>
            </a:r>
            <a:r>
              <a:rPr sz="2000" spc="-140" dirty="0">
                <a:solidFill>
                  <a:srgbClr val="FFFFFF"/>
                </a:solidFill>
                <a:latin typeface="Arial"/>
                <a:cs typeface="Arial"/>
              </a:rPr>
              <a:t> </a:t>
            </a:r>
            <a:r>
              <a:rPr sz="2000" spc="-55" dirty="0">
                <a:solidFill>
                  <a:srgbClr val="FFFFFF"/>
                </a:solidFill>
                <a:latin typeface="Arial"/>
                <a:cs typeface="Arial"/>
              </a:rPr>
              <a:t>statements</a:t>
            </a:r>
            <a:r>
              <a:rPr sz="2000" spc="-100" dirty="0">
                <a:solidFill>
                  <a:srgbClr val="FFFFFF"/>
                </a:solidFill>
                <a:latin typeface="Arial"/>
                <a:cs typeface="Arial"/>
              </a:rPr>
              <a:t> are</a:t>
            </a:r>
            <a:r>
              <a:rPr sz="2000" spc="-135" dirty="0">
                <a:solidFill>
                  <a:srgbClr val="FFFFFF"/>
                </a:solidFill>
                <a:latin typeface="Arial"/>
                <a:cs typeface="Arial"/>
              </a:rPr>
              <a:t> </a:t>
            </a:r>
            <a:r>
              <a:rPr sz="2000" spc="-204" dirty="0">
                <a:solidFill>
                  <a:srgbClr val="FFFFFF"/>
                </a:solidFill>
                <a:latin typeface="Arial"/>
                <a:cs typeface="Arial"/>
              </a:rPr>
              <a:t>as</a:t>
            </a:r>
            <a:r>
              <a:rPr sz="2000" spc="-135" dirty="0">
                <a:solidFill>
                  <a:srgbClr val="FFFFFF"/>
                </a:solidFill>
                <a:latin typeface="Arial"/>
                <a:cs typeface="Arial"/>
              </a:rPr>
              <a:t> </a:t>
            </a:r>
            <a:r>
              <a:rPr sz="2000" spc="15" dirty="0">
                <a:solidFill>
                  <a:srgbClr val="FFFFFF"/>
                </a:solidFill>
                <a:latin typeface="Arial"/>
                <a:cs typeface="Arial"/>
              </a:rPr>
              <a:t>follows:</a:t>
            </a:r>
            <a:endParaRPr sz="2000">
              <a:latin typeface="Arial"/>
              <a:cs typeface="Arial"/>
            </a:endParaRPr>
          </a:p>
          <a:p>
            <a:pPr marL="280670" indent="-268605">
              <a:lnSpc>
                <a:spcPts val="2005"/>
              </a:lnSpc>
              <a:buFont typeface="Segoe UI Symbol"/>
              <a:buChar char="➢"/>
              <a:tabLst>
                <a:tab pos="281305" algn="l"/>
              </a:tabLst>
            </a:pPr>
            <a:r>
              <a:rPr sz="1800" spc="125" dirty="0">
                <a:solidFill>
                  <a:srgbClr val="FFFFFF"/>
                </a:solidFill>
                <a:latin typeface="Arial"/>
                <a:cs typeface="Arial"/>
              </a:rPr>
              <a:t>GRANT</a:t>
            </a:r>
            <a:r>
              <a:rPr sz="1800" spc="-120"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a:p>
            <a:pPr marL="280670" indent="-268605">
              <a:lnSpc>
                <a:spcPts val="1945"/>
              </a:lnSpc>
              <a:buFont typeface="Segoe UI Symbol"/>
              <a:buChar char="➢"/>
              <a:tabLst>
                <a:tab pos="281305" algn="l"/>
              </a:tabLst>
            </a:pPr>
            <a:r>
              <a:rPr sz="1800" spc="40" dirty="0">
                <a:solidFill>
                  <a:srgbClr val="FFFFFF"/>
                </a:solidFill>
                <a:latin typeface="Arial"/>
                <a:cs typeface="Arial"/>
              </a:rPr>
              <a:t>REVOKE</a:t>
            </a:r>
            <a:r>
              <a:rPr sz="1800" spc="-130"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a:p>
            <a:pPr marL="280670" indent="-268605">
              <a:lnSpc>
                <a:spcPts val="2050"/>
              </a:lnSpc>
              <a:buFont typeface="Segoe UI Symbol"/>
              <a:buChar char="➢"/>
              <a:tabLst>
                <a:tab pos="281305" algn="l"/>
              </a:tabLst>
            </a:pPr>
            <a:r>
              <a:rPr sz="1800" spc="55" dirty="0">
                <a:solidFill>
                  <a:srgbClr val="FFFFFF"/>
                </a:solidFill>
                <a:latin typeface="Arial"/>
                <a:cs typeface="Arial"/>
              </a:rPr>
              <a:t>DENY</a:t>
            </a:r>
            <a:r>
              <a:rPr sz="1800" spc="-110" dirty="0">
                <a:solidFill>
                  <a:srgbClr val="FFFFFF"/>
                </a:solidFill>
                <a:latin typeface="Arial"/>
                <a:cs typeface="Arial"/>
              </a:rPr>
              <a:t> </a:t>
            </a:r>
            <a:r>
              <a:rPr sz="1800" spc="-35" dirty="0">
                <a:solidFill>
                  <a:srgbClr val="FFFFFF"/>
                </a:solidFill>
                <a:latin typeface="Arial"/>
                <a:cs typeface="Arial"/>
              </a:rPr>
              <a:t>statement</a:t>
            </a:r>
            <a:endParaRPr sz="1800">
              <a:latin typeface="Arial"/>
              <a:cs typeface="Arial"/>
            </a:endParaRPr>
          </a:p>
        </p:txBody>
      </p:sp>
      <p:sp>
        <p:nvSpPr>
          <p:cNvPr id="16" name="object 1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9</a:t>
            </a:fld>
            <a:endParaRPr sz="1200"/>
          </a:p>
        </p:txBody>
      </p:sp>
      <p:sp>
        <p:nvSpPr>
          <p:cNvPr id="17" name="object 1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166745" cy="635635"/>
          </a:xfrm>
          <a:prstGeom prst="rect">
            <a:avLst/>
          </a:prstGeom>
        </p:spPr>
        <p:txBody>
          <a:bodyPr vert="horz" wrap="square" lIns="0" tIns="12700" rIns="0" bIns="0" rtlCol="0">
            <a:spAutoFit/>
          </a:bodyPr>
          <a:lstStyle/>
          <a:p>
            <a:pPr marL="12700">
              <a:lnSpc>
                <a:spcPct val="100000"/>
              </a:lnSpc>
              <a:spcBef>
                <a:spcPts val="100"/>
              </a:spcBef>
            </a:pPr>
            <a:r>
              <a:rPr spc="-60" dirty="0"/>
              <a:t>Data </a:t>
            </a:r>
            <a:r>
              <a:rPr spc="-90" dirty="0"/>
              <a:t>Types</a:t>
            </a:r>
            <a:r>
              <a:rPr spc="-515" dirty="0"/>
              <a:t> </a:t>
            </a:r>
            <a:r>
              <a:rPr spc="-484" dirty="0"/>
              <a:t>1-3</a:t>
            </a:r>
          </a:p>
        </p:txBody>
      </p:sp>
      <p:grpSp>
        <p:nvGrpSpPr>
          <p:cNvPr id="3" name="object 3"/>
          <p:cNvGrpSpPr/>
          <p:nvPr/>
        </p:nvGrpSpPr>
        <p:grpSpPr>
          <a:xfrm>
            <a:off x="332993" y="873252"/>
            <a:ext cx="8228965" cy="1774189"/>
            <a:chOff x="332993" y="873252"/>
            <a:chExt cx="8228965" cy="1774189"/>
          </a:xfrm>
        </p:grpSpPr>
        <p:pic>
          <p:nvPicPr>
            <p:cNvPr id="4" name="object 4"/>
            <p:cNvPicPr/>
            <p:nvPr/>
          </p:nvPicPr>
          <p:blipFill>
            <a:blip r:embed="rId3" cstate="print"/>
            <a:stretch>
              <a:fillRect/>
            </a:stretch>
          </p:blipFill>
          <p:spPr>
            <a:xfrm>
              <a:off x="332993" y="873252"/>
              <a:ext cx="8228838" cy="1773936"/>
            </a:xfrm>
            <a:prstGeom prst="rect">
              <a:avLst/>
            </a:prstGeom>
          </p:spPr>
        </p:pic>
        <p:pic>
          <p:nvPicPr>
            <p:cNvPr id="5" name="object 5"/>
            <p:cNvPicPr/>
            <p:nvPr/>
          </p:nvPicPr>
          <p:blipFill>
            <a:blip r:embed="rId4" cstate="print"/>
            <a:stretch>
              <a:fillRect/>
            </a:stretch>
          </p:blipFill>
          <p:spPr>
            <a:xfrm>
              <a:off x="374141" y="891540"/>
              <a:ext cx="8153400" cy="1698498"/>
            </a:xfrm>
            <a:prstGeom prst="rect">
              <a:avLst/>
            </a:prstGeom>
          </p:spPr>
        </p:pic>
      </p:grpSp>
      <p:sp>
        <p:nvSpPr>
          <p:cNvPr id="6" name="object 6"/>
          <p:cNvSpPr txBox="1"/>
          <p:nvPr/>
        </p:nvSpPr>
        <p:spPr>
          <a:xfrm>
            <a:off x="437895" y="1037844"/>
            <a:ext cx="7887970" cy="1427480"/>
          </a:xfrm>
          <a:prstGeom prst="rect">
            <a:avLst/>
          </a:prstGeom>
        </p:spPr>
        <p:txBody>
          <a:bodyPr vert="horz" wrap="square" lIns="0" tIns="46990" rIns="0" bIns="0" rtlCol="0">
            <a:spAutoFit/>
          </a:bodyPr>
          <a:lstStyle/>
          <a:p>
            <a:pPr marL="298450" marR="5715" indent="-286385" algn="just">
              <a:lnSpc>
                <a:spcPts val="2160"/>
              </a:lnSpc>
              <a:spcBef>
                <a:spcPts val="370"/>
              </a:spcBef>
              <a:buClr>
                <a:srgbClr val="000000"/>
              </a:buClr>
              <a:buChar char="•"/>
              <a:tabLst>
                <a:tab pos="299085" algn="l"/>
              </a:tabLst>
            </a:pPr>
            <a:r>
              <a:rPr sz="2000" spc="285" dirty="0">
                <a:solidFill>
                  <a:srgbClr val="FFFFFF"/>
                </a:solidFill>
                <a:latin typeface="Arial"/>
                <a:cs typeface="Arial"/>
              </a:rPr>
              <a:t>A</a:t>
            </a:r>
            <a:r>
              <a:rPr sz="2000" spc="-90" dirty="0">
                <a:solidFill>
                  <a:srgbClr val="FFFFFF"/>
                </a:solidFill>
                <a:latin typeface="Arial"/>
                <a:cs typeface="Arial"/>
              </a:rPr>
              <a:t> </a:t>
            </a:r>
            <a:r>
              <a:rPr sz="2000" spc="-60" dirty="0">
                <a:solidFill>
                  <a:srgbClr val="FFFFFF"/>
                </a:solidFill>
                <a:latin typeface="Arial"/>
                <a:cs typeface="Arial"/>
              </a:rPr>
              <a:t>data</a:t>
            </a:r>
            <a:r>
              <a:rPr sz="2000" spc="-75" dirty="0">
                <a:solidFill>
                  <a:srgbClr val="FFFFFF"/>
                </a:solidFill>
                <a:latin typeface="Arial"/>
                <a:cs typeface="Arial"/>
              </a:rPr>
              <a:t> </a:t>
            </a:r>
            <a:r>
              <a:rPr sz="2000" spc="-15" dirty="0">
                <a:solidFill>
                  <a:srgbClr val="FFFFFF"/>
                </a:solidFill>
                <a:latin typeface="Arial"/>
                <a:cs typeface="Arial"/>
              </a:rPr>
              <a:t>type</a:t>
            </a:r>
            <a:r>
              <a:rPr sz="2000" spc="-85" dirty="0">
                <a:solidFill>
                  <a:srgbClr val="FFFFFF"/>
                </a:solidFill>
                <a:latin typeface="Arial"/>
                <a:cs typeface="Arial"/>
              </a:rPr>
              <a:t> </a:t>
            </a:r>
            <a:r>
              <a:rPr sz="2000" spc="-50" dirty="0">
                <a:solidFill>
                  <a:srgbClr val="FFFFFF"/>
                </a:solidFill>
                <a:latin typeface="Arial"/>
                <a:cs typeface="Arial"/>
              </a:rPr>
              <a:t>is</a:t>
            </a:r>
            <a:r>
              <a:rPr sz="2000" spc="-85" dirty="0">
                <a:solidFill>
                  <a:srgbClr val="FFFFFF"/>
                </a:solidFill>
                <a:latin typeface="Arial"/>
                <a:cs typeface="Arial"/>
              </a:rPr>
              <a:t> </a:t>
            </a:r>
            <a:r>
              <a:rPr sz="2000" spc="-65" dirty="0">
                <a:solidFill>
                  <a:srgbClr val="FFFFFF"/>
                </a:solidFill>
                <a:latin typeface="Arial"/>
                <a:cs typeface="Arial"/>
              </a:rPr>
              <a:t>an</a:t>
            </a:r>
            <a:r>
              <a:rPr sz="2000" spc="-85" dirty="0">
                <a:solidFill>
                  <a:srgbClr val="FFFFFF"/>
                </a:solidFill>
                <a:latin typeface="Arial"/>
                <a:cs typeface="Arial"/>
              </a:rPr>
              <a:t> </a:t>
            </a:r>
            <a:r>
              <a:rPr sz="2000" spc="25" dirty="0">
                <a:solidFill>
                  <a:srgbClr val="FFFFFF"/>
                </a:solidFill>
                <a:latin typeface="Arial"/>
                <a:cs typeface="Arial"/>
              </a:rPr>
              <a:t>attribute</a:t>
            </a:r>
            <a:r>
              <a:rPr sz="2000" spc="-80" dirty="0">
                <a:solidFill>
                  <a:srgbClr val="FFFFFF"/>
                </a:solidFill>
                <a:latin typeface="Arial"/>
                <a:cs typeface="Arial"/>
              </a:rPr>
              <a:t> </a:t>
            </a:r>
            <a:r>
              <a:rPr sz="2000" spc="25" dirty="0">
                <a:solidFill>
                  <a:srgbClr val="FFFFFF"/>
                </a:solidFill>
                <a:latin typeface="Arial"/>
                <a:cs typeface="Arial"/>
              </a:rPr>
              <a:t>defining</a:t>
            </a:r>
            <a:r>
              <a:rPr sz="2000" spc="-85" dirty="0">
                <a:solidFill>
                  <a:srgbClr val="FFFFFF"/>
                </a:solidFill>
                <a:latin typeface="Arial"/>
                <a:cs typeface="Arial"/>
              </a:rPr>
              <a:t> </a:t>
            </a:r>
            <a:r>
              <a:rPr sz="2000" dirty="0">
                <a:solidFill>
                  <a:srgbClr val="FFFFFF"/>
                </a:solidFill>
                <a:latin typeface="Arial"/>
                <a:cs typeface="Arial"/>
              </a:rPr>
              <a:t>the</a:t>
            </a:r>
            <a:r>
              <a:rPr sz="2000" spc="-75" dirty="0">
                <a:solidFill>
                  <a:srgbClr val="FFFFFF"/>
                </a:solidFill>
                <a:latin typeface="Arial"/>
                <a:cs typeface="Arial"/>
              </a:rPr>
              <a:t> </a:t>
            </a:r>
            <a:r>
              <a:rPr sz="2000" spc="-15" dirty="0">
                <a:solidFill>
                  <a:srgbClr val="FFFFFF"/>
                </a:solidFill>
                <a:latin typeface="Arial"/>
                <a:cs typeface="Arial"/>
              </a:rPr>
              <a:t>type</a:t>
            </a:r>
            <a:r>
              <a:rPr sz="2000" spc="-75" dirty="0">
                <a:solidFill>
                  <a:srgbClr val="FFFFFF"/>
                </a:solidFill>
                <a:latin typeface="Arial"/>
                <a:cs typeface="Arial"/>
              </a:rPr>
              <a:t> </a:t>
            </a:r>
            <a:r>
              <a:rPr sz="2000" spc="50" dirty="0">
                <a:solidFill>
                  <a:srgbClr val="FFFFFF"/>
                </a:solidFill>
                <a:latin typeface="Arial"/>
                <a:cs typeface="Arial"/>
              </a:rPr>
              <a:t>of</a:t>
            </a:r>
            <a:r>
              <a:rPr sz="2000" spc="-90" dirty="0">
                <a:solidFill>
                  <a:srgbClr val="FFFFFF"/>
                </a:solidFill>
                <a:latin typeface="Arial"/>
                <a:cs typeface="Arial"/>
              </a:rPr>
              <a:t> </a:t>
            </a:r>
            <a:r>
              <a:rPr sz="2000" spc="-60" dirty="0">
                <a:solidFill>
                  <a:srgbClr val="FFFFFF"/>
                </a:solidFill>
                <a:latin typeface="Arial"/>
                <a:cs typeface="Arial"/>
              </a:rPr>
              <a:t>data</a:t>
            </a:r>
            <a:r>
              <a:rPr sz="2000" spc="-75" dirty="0">
                <a:solidFill>
                  <a:srgbClr val="FFFFFF"/>
                </a:solidFill>
                <a:latin typeface="Arial"/>
                <a:cs typeface="Arial"/>
              </a:rPr>
              <a:t> </a:t>
            </a:r>
            <a:r>
              <a:rPr sz="2000" spc="30" dirty="0">
                <a:solidFill>
                  <a:srgbClr val="FFFFFF"/>
                </a:solidFill>
                <a:latin typeface="Arial"/>
                <a:cs typeface="Arial"/>
              </a:rPr>
              <a:t>that</a:t>
            </a:r>
            <a:r>
              <a:rPr sz="2000" spc="-80" dirty="0">
                <a:solidFill>
                  <a:srgbClr val="FFFFFF"/>
                </a:solidFill>
                <a:latin typeface="Arial"/>
                <a:cs typeface="Arial"/>
              </a:rPr>
              <a:t> </a:t>
            </a:r>
            <a:r>
              <a:rPr sz="2000" spc="-65" dirty="0">
                <a:solidFill>
                  <a:srgbClr val="FFFFFF"/>
                </a:solidFill>
                <a:latin typeface="Arial"/>
                <a:cs typeface="Arial"/>
              </a:rPr>
              <a:t>an</a:t>
            </a:r>
            <a:r>
              <a:rPr sz="2000" spc="-70" dirty="0">
                <a:solidFill>
                  <a:srgbClr val="FFFFFF"/>
                </a:solidFill>
                <a:latin typeface="Arial"/>
                <a:cs typeface="Arial"/>
              </a:rPr>
              <a:t> </a:t>
            </a:r>
            <a:r>
              <a:rPr sz="2000" spc="-15" dirty="0">
                <a:solidFill>
                  <a:srgbClr val="FFFFFF"/>
                </a:solidFill>
                <a:latin typeface="Arial"/>
                <a:cs typeface="Arial"/>
              </a:rPr>
              <a:t>object</a:t>
            </a:r>
            <a:r>
              <a:rPr sz="2000" spc="-70" dirty="0">
                <a:solidFill>
                  <a:srgbClr val="FFFFFF"/>
                </a:solidFill>
                <a:latin typeface="Arial"/>
                <a:cs typeface="Arial"/>
              </a:rPr>
              <a:t> </a:t>
            </a:r>
            <a:r>
              <a:rPr sz="2000" spc="-75" dirty="0">
                <a:solidFill>
                  <a:srgbClr val="FFFFFF"/>
                </a:solidFill>
                <a:latin typeface="Arial"/>
                <a:cs typeface="Arial"/>
              </a:rPr>
              <a:t>can  </a:t>
            </a:r>
            <a:r>
              <a:rPr sz="2000" dirty="0">
                <a:solidFill>
                  <a:srgbClr val="FFFFFF"/>
                </a:solidFill>
                <a:latin typeface="Arial"/>
                <a:cs typeface="Arial"/>
              </a:rPr>
              <a:t>contain.</a:t>
            </a:r>
            <a:endParaRPr sz="2000">
              <a:latin typeface="Arial"/>
              <a:cs typeface="Arial"/>
            </a:endParaRPr>
          </a:p>
          <a:p>
            <a:pPr marL="298450" marR="5080" indent="-286385" algn="just">
              <a:lnSpc>
                <a:spcPts val="2160"/>
              </a:lnSpc>
              <a:buClr>
                <a:srgbClr val="000000"/>
              </a:buClr>
              <a:buChar char="•"/>
              <a:tabLst>
                <a:tab pos="299085" algn="l"/>
              </a:tabLst>
            </a:pPr>
            <a:r>
              <a:rPr sz="2000" spc="-30" dirty="0">
                <a:solidFill>
                  <a:srgbClr val="FFFFFF"/>
                </a:solidFill>
                <a:latin typeface="Arial"/>
                <a:cs typeface="Arial"/>
              </a:rPr>
              <a:t>Data </a:t>
            </a:r>
            <a:r>
              <a:rPr sz="2000" spc="-55" dirty="0">
                <a:solidFill>
                  <a:srgbClr val="FFFFFF"/>
                </a:solidFill>
                <a:latin typeface="Arial"/>
                <a:cs typeface="Arial"/>
              </a:rPr>
              <a:t>types </a:t>
            </a:r>
            <a:r>
              <a:rPr sz="2000" spc="-20" dirty="0">
                <a:solidFill>
                  <a:srgbClr val="FFFFFF"/>
                </a:solidFill>
                <a:latin typeface="Arial"/>
                <a:cs typeface="Arial"/>
              </a:rPr>
              <a:t>must </a:t>
            </a:r>
            <a:r>
              <a:rPr sz="2000" spc="-100" dirty="0">
                <a:solidFill>
                  <a:srgbClr val="FFFFFF"/>
                </a:solidFill>
                <a:latin typeface="Arial"/>
                <a:cs typeface="Arial"/>
              </a:rPr>
              <a:t>be </a:t>
            </a:r>
            <a:r>
              <a:rPr sz="2000" spc="5" dirty="0">
                <a:solidFill>
                  <a:srgbClr val="FFFFFF"/>
                </a:solidFill>
                <a:latin typeface="Arial"/>
                <a:cs typeface="Arial"/>
              </a:rPr>
              <a:t>provided </a:t>
            </a:r>
            <a:r>
              <a:rPr sz="2000" spc="65" dirty="0">
                <a:solidFill>
                  <a:srgbClr val="FFFFFF"/>
                </a:solidFill>
                <a:latin typeface="Arial"/>
                <a:cs typeface="Arial"/>
              </a:rPr>
              <a:t>for </a:t>
            </a:r>
            <a:r>
              <a:rPr sz="2000" spc="-25" dirty="0">
                <a:solidFill>
                  <a:srgbClr val="FFFFFF"/>
                </a:solidFill>
                <a:latin typeface="Arial"/>
                <a:cs typeface="Arial"/>
              </a:rPr>
              <a:t>columns, </a:t>
            </a:r>
            <a:r>
              <a:rPr sz="2000" spc="-70" dirty="0">
                <a:solidFill>
                  <a:srgbClr val="FFFFFF"/>
                </a:solidFill>
                <a:latin typeface="Arial"/>
                <a:cs typeface="Arial"/>
              </a:rPr>
              <a:t>parameters, </a:t>
            </a:r>
            <a:r>
              <a:rPr sz="2000" spc="-50" dirty="0">
                <a:solidFill>
                  <a:srgbClr val="FFFFFF"/>
                </a:solidFill>
                <a:latin typeface="Arial"/>
                <a:cs typeface="Arial"/>
              </a:rPr>
              <a:t>variables, </a:t>
            </a:r>
            <a:r>
              <a:rPr sz="2000" spc="-35" dirty="0">
                <a:solidFill>
                  <a:srgbClr val="FFFFFF"/>
                </a:solidFill>
                <a:latin typeface="Arial"/>
                <a:cs typeface="Arial"/>
              </a:rPr>
              <a:t>and  </a:t>
            </a:r>
            <a:r>
              <a:rPr sz="2000" spc="25" dirty="0">
                <a:solidFill>
                  <a:srgbClr val="FFFFFF"/>
                </a:solidFill>
                <a:latin typeface="Arial"/>
                <a:cs typeface="Arial"/>
              </a:rPr>
              <a:t>functions </a:t>
            </a:r>
            <a:r>
              <a:rPr sz="2000" spc="30" dirty="0">
                <a:solidFill>
                  <a:srgbClr val="FFFFFF"/>
                </a:solidFill>
                <a:latin typeface="Arial"/>
                <a:cs typeface="Arial"/>
              </a:rPr>
              <a:t>that </a:t>
            </a:r>
            <a:r>
              <a:rPr sz="2000" spc="35" dirty="0">
                <a:solidFill>
                  <a:srgbClr val="FFFFFF"/>
                </a:solidFill>
                <a:latin typeface="Arial"/>
                <a:cs typeface="Arial"/>
              </a:rPr>
              <a:t>return </a:t>
            </a:r>
            <a:r>
              <a:rPr sz="2000" spc="-60" dirty="0">
                <a:solidFill>
                  <a:srgbClr val="FFFFFF"/>
                </a:solidFill>
                <a:latin typeface="Arial"/>
                <a:cs typeface="Arial"/>
              </a:rPr>
              <a:t>data </a:t>
            </a:r>
            <a:r>
              <a:rPr sz="2000" spc="-65" dirty="0">
                <a:solidFill>
                  <a:srgbClr val="FFFFFF"/>
                </a:solidFill>
                <a:latin typeface="Arial"/>
                <a:cs typeface="Arial"/>
              </a:rPr>
              <a:t>values, </a:t>
            </a:r>
            <a:r>
              <a:rPr sz="2000" spc="-35" dirty="0">
                <a:solidFill>
                  <a:srgbClr val="FFFFFF"/>
                </a:solidFill>
                <a:latin typeface="Arial"/>
                <a:cs typeface="Arial"/>
              </a:rPr>
              <a:t>and stored </a:t>
            </a:r>
            <a:r>
              <a:rPr sz="2000" spc="-50" dirty="0">
                <a:solidFill>
                  <a:srgbClr val="FFFFFF"/>
                </a:solidFill>
                <a:latin typeface="Arial"/>
                <a:cs typeface="Arial"/>
              </a:rPr>
              <a:t>procedures </a:t>
            </a:r>
            <a:r>
              <a:rPr sz="2000" spc="30" dirty="0">
                <a:solidFill>
                  <a:srgbClr val="FFFFFF"/>
                </a:solidFill>
                <a:latin typeface="Arial"/>
                <a:cs typeface="Arial"/>
              </a:rPr>
              <a:t>that </a:t>
            </a:r>
            <a:r>
              <a:rPr sz="2000" spc="-70" dirty="0">
                <a:solidFill>
                  <a:srgbClr val="FFFFFF"/>
                </a:solidFill>
                <a:latin typeface="Arial"/>
                <a:cs typeface="Arial"/>
              </a:rPr>
              <a:t>have </a:t>
            </a:r>
            <a:r>
              <a:rPr sz="2000" spc="-195" dirty="0">
                <a:solidFill>
                  <a:srgbClr val="FFFFFF"/>
                </a:solidFill>
                <a:latin typeface="Arial"/>
                <a:cs typeface="Arial"/>
              </a:rPr>
              <a:t>a </a:t>
            </a:r>
            <a:r>
              <a:rPr sz="2000" spc="165" dirty="0">
                <a:solidFill>
                  <a:srgbClr val="FFFFFF"/>
                </a:solidFill>
                <a:latin typeface="Arial"/>
                <a:cs typeface="Arial"/>
              </a:rPr>
              <a:t> </a:t>
            </a:r>
            <a:r>
              <a:rPr sz="2000" spc="35" dirty="0">
                <a:solidFill>
                  <a:srgbClr val="FFFFFF"/>
                </a:solidFill>
                <a:latin typeface="Arial"/>
                <a:cs typeface="Arial"/>
              </a:rPr>
              <a:t>return</a:t>
            </a:r>
            <a:r>
              <a:rPr sz="2000" spc="-120" dirty="0">
                <a:solidFill>
                  <a:srgbClr val="FFFFFF"/>
                </a:solidFill>
                <a:latin typeface="Arial"/>
                <a:cs typeface="Arial"/>
              </a:rPr>
              <a:t> </a:t>
            </a:r>
            <a:r>
              <a:rPr sz="2000" spc="-70" dirty="0">
                <a:solidFill>
                  <a:srgbClr val="FFFFFF"/>
                </a:solidFill>
                <a:latin typeface="Arial"/>
                <a:cs typeface="Arial"/>
              </a:rPr>
              <a:t>code.</a:t>
            </a:r>
            <a:endParaRPr sz="2000">
              <a:latin typeface="Arial"/>
              <a:cs typeface="Arial"/>
            </a:endParaRPr>
          </a:p>
        </p:txBody>
      </p:sp>
      <p:grpSp>
        <p:nvGrpSpPr>
          <p:cNvPr id="7" name="object 7"/>
          <p:cNvGrpSpPr/>
          <p:nvPr/>
        </p:nvGrpSpPr>
        <p:grpSpPr>
          <a:xfrm>
            <a:off x="377952" y="2946666"/>
            <a:ext cx="8228965" cy="2925445"/>
            <a:chOff x="377952" y="2946666"/>
            <a:chExt cx="8228965" cy="2925445"/>
          </a:xfrm>
        </p:grpSpPr>
        <p:pic>
          <p:nvPicPr>
            <p:cNvPr id="8" name="object 8"/>
            <p:cNvPicPr/>
            <p:nvPr/>
          </p:nvPicPr>
          <p:blipFill>
            <a:blip r:embed="rId5" cstate="print"/>
            <a:stretch>
              <a:fillRect/>
            </a:stretch>
          </p:blipFill>
          <p:spPr>
            <a:xfrm>
              <a:off x="377952" y="2946666"/>
              <a:ext cx="8228838" cy="2925317"/>
            </a:xfrm>
            <a:prstGeom prst="rect">
              <a:avLst/>
            </a:prstGeom>
          </p:spPr>
        </p:pic>
        <p:pic>
          <p:nvPicPr>
            <p:cNvPr id="9" name="object 9"/>
            <p:cNvPicPr/>
            <p:nvPr/>
          </p:nvPicPr>
          <p:blipFill>
            <a:blip r:embed="rId6" cstate="print"/>
            <a:stretch>
              <a:fillRect/>
            </a:stretch>
          </p:blipFill>
          <p:spPr>
            <a:xfrm>
              <a:off x="419100" y="2964941"/>
              <a:ext cx="8153400" cy="2849879"/>
            </a:xfrm>
            <a:prstGeom prst="rect">
              <a:avLst/>
            </a:prstGeom>
          </p:spPr>
        </p:pic>
      </p:grpSp>
      <p:sp>
        <p:nvSpPr>
          <p:cNvPr id="10" name="object 10"/>
          <p:cNvSpPr txBox="1"/>
          <p:nvPr/>
        </p:nvSpPr>
        <p:spPr>
          <a:xfrm>
            <a:off x="482600" y="3528314"/>
            <a:ext cx="7889240" cy="1854835"/>
          </a:xfrm>
          <a:prstGeom prst="rect">
            <a:avLst/>
          </a:prstGeom>
        </p:spPr>
        <p:txBody>
          <a:bodyPr vert="horz" wrap="square" lIns="0" tIns="12065" rIns="0" bIns="0" rtlCol="0">
            <a:spAutoFit/>
          </a:bodyPr>
          <a:lstStyle/>
          <a:p>
            <a:pPr marL="12700">
              <a:lnSpc>
                <a:spcPct val="100000"/>
              </a:lnSpc>
              <a:spcBef>
                <a:spcPts val="95"/>
              </a:spcBef>
            </a:pPr>
            <a:r>
              <a:rPr sz="2000" spc="20" dirty="0">
                <a:solidFill>
                  <a:srgbClr val="FFFFFF"/>
                </a:solidFill>
                <a:latin typeface="Arial"/>
                <a:cs typeface="Arial"/>
              </a:rPr>
              <a:t>Following </a:t>
            </a:r>
            <a:r>
              <a:rPr sz="2000" spc="-45" dirty="0">
                <a:solidFill>
                  <a:srgbClr val="FFFFFF"/>
                </a:solidFill>
                <a:latin typeface="Arial"/>
                <a:cs typeface="Arial"/>
              </a:rPr>
              <a:t>objects </a:t>
            </a:r>
            <a:r>
              <a:rPr sz="2000" spc="-70" dirty="0">
                <a:solidFill>
                  <a:srgbClr val="FFFFFF"/>
                </a:solidFill>
                <a:latin typeface="Arial"/>
                <a:cs typeface="Arial"/>
              </a:rPr>
              <a:t>have </a:t>
            </a:r>
            <a:r>
              <a:rPr sz="2000" spc="-60" dirty="0">
                <a:solidFill>
                  <a:srgbClr val="FFFFFF"/>
                </a:solidFill>
                <a:latin typeface="Arial"/>
                <a:cs typeface="Arial"/>
              </a:rPr>
              <a:t>data</a:t>
            </a:r>
            <a:r>
              <a:rPr sz="2000" spc="-365" dirty="0">
                <a:solidFill>
                  <a:srgbClr val="FFFFFF"/>
                </a:solidFill>
                <a:latin typeface="Arial"/>
                <a:cs typeface="Arial"/>
              </a:rPr>
              <a:t> </a:t>
            </a:r>
            <a:r>
              <a:rPr sz="2000" spc="-55" dirty="0">
                <a:solidFill>
                  <a:srgbClr val="FFFFFF"/>
                </a:solidFill>
                <a:latin typeface="Arial"/>
                <a:cs typeface="Arial"/>
              </a:rPr>
              <a:t>types:</a:t>
            </a:r>
            <a:endParaRPr sz="2000">
              <a:latin typeface="Arial"/>
              <a:cs typeface="Arial"/>
            </a:endParaRPr>
          </a:p>
          <a:p>
            <a:pPr marL="311150" indent="-299085">
              <a:lnSpc>
                <a:spcPts val="2080"/>
              </a:lnSpc>
              <a:spcBef>
                <a:spcPts val="65"/>
              </a:spcBef>
              <a:buSzPct val="111111"/>
              <a:buFont typeface="Segoe UI Symbol"/>
              <a:buChar char="➢"/>
              <a:tabLst>
                <a:tab pos="311785" algn="l"/>
              </a:tabLst>
            </a:pPr>
            <a:r>
              <a:rPr sz="1800" spc="15" dirty="0">
                <a:solidFill>
                  <a:srgbClr val="FFFFFF"/>
                </a:solidFill>
                <a:latin typeface="Arial"/>
                <a:cs typeface="Arial"/>
              </a:rPr>
              <a:t>Columns</a:t>
            </a:r>
            <a:r>
              <a:rPr sz="1800" spc="-114" dirty="0">
                <a:solidFill>
                  <a:srgbClr val="FFFFFF"/>
                </a:solidFill>
                <a:latin typeface="Arial"/>
                <a:cs typeface="Arial"/>
              </a:rPr>
              <a:t> </a:t>
            </a:r>
            <a:r>
              <a:rPr sz="1800" spc="-40" dirty="0">
                <a:solidFill>
                  <a:srgbClr val="FFFFFF"/>
                </a:solidFill>
                <a:latin typeface="Arial"/>
                <a:cs typeface="Arial"/>
              </a:rPr>
              <a:t>present</a:t>
            </a:r>
            <a:r>
              <a:rPr sz="1800" spc="-125" dirty="0">
                <a:solidFill>
                  <a:srgbClr val="FFFFFF"/>
                </a:solidFill>
                <a:latin typeface="Arial"/>
                <a:cs typeface="Arial"/>
              </a:rPr>
              <a:t> </a:t>
            </a:r>
            <a:r>
              <a:rPr sz="1800" spc="80" dirty="0">
                <a:solidFill>
                  <a:srgbClr val="FFFFFF"/>
                </a:solidFill>
                <a:latin typeface="Arial"/>
                <a:cs typeface="Arial"/>
              </a:rPr>
              <a:t>in</a:t>
            </a:r>
            <a:r>
              <a:rPr sz="1800" spc="-114" dirty="0">
                <a:solidFill>
                  <a:srgbClr val="FFFFFF"/>
                </a:solidFill>
                <a:latin typeface="Arial"/>
                <a:cs typeface="Arial"/>
              </a:rPr>
              <a:t> </a:t>
            </a:r>
            <a:r>
              <a:rPr sz="1800" spc="-55" dirty="0">
                <a:solidFill>
                  <a:srgbClr val="FFFFFF"/>
                </a:solidFill>
                <a:latin typeface="Arial"/>
                <a:cs typeface="Arial"/>
              </a:rPr>
              <a:t>tables</a:t>
            </a:r>
            <a:r>
              <a:rPr sz="1800" spc="-114" dirty="0">
                <a:solidFill>
                  <a:srgbClr val="FFFFFF"/>
                </a:solidFill>
                <a:latin typeface="Arial"/>
                <a:cs typeface="Arial"/>
              </a:rPr>
              <a:t> </a:t>
            </a:r>
            <a:r>
              <a:rPr sz="1800" spc="-35" dirty="0">
                <a:solidFill>
                  <a:srgbClr val="FFFFFF"/>
                </a:solidFill>
                <a:latin typeface="Arial"/>
                <a:cs typeface="Arial"/>
              </a:rPr>
              <a:t>and</a:t>
            </a:r>
            <a:r>
              <a:rPr sz="1800" spc="-120" dirty="0">
                <a:solidFill>
                  <a:srgbClr val="FFFFFF"/>
                </a:solidFill>
                <a:latin typeface="Arial"/>
                <a:cs typeface="Arial"/>
              </a:rPr>
              <a:t> </a:t>
            </a:r>
            <a:r>
              <a:rPr sz="1800" spc="-35" dirty="0">
                <a:solidFill>
                  <a:srgbClr val="FFFFFF"/>
                </a:solidFill>
                <a:latin typeface="Arial"/>
                <a:cs typeface="Arial"/>
              </a:rPr>
              <a:t>views</a:t>
            </a:r>
            <a:endParaRPr sz="1800">
              <a:latin typeface="Arial"/>
              <a:cs typeface="Arial"/>
            </a:endParaRPr>
          </a:p>
          <a:p>
            <a:pPr marL="280670" indent="-268605">
              <a:lnSpc>
                <a:spcPts val="1975"/>
              </a:lnSpc>
              <a:buFont typeface="Segoe UI Symbol"/>
              <a:buChar char="➢"/>
              <a:tabLst>
                <a:tab pos="281305" algn="l"/>
              </a:tabLst>
            </a:pPr>
            <a:r>
              <a:rPr sz="1800" spc="-80" dirty="0">
                <a:solidFill>
                  <a:srgbClr val="FFFFFF"/>
                </a:solidFill>
                <a:latin typeface="Arial"/>
                <a:cs typeface="Arial"/>
              </a:rPr>
              <a:t>Parameters </a:t>
            </a:r>
            <a:r>
              <a:rPr sz="1800" spc="80" dirty="0">
                <a:solidFill>
                  <a:srgbClr val="FFFFFF"/>
                </a:solidFill>
                <a:latin typeface="Arial"/>
                <a:cs typeface="Arial"/>
              </a:rPr>
              <a:t>in </a:t>
            </a:r>
            <a:r>
              <a:rPr sz="1800" spc="-30" dirty="0">
                <a:solidFill>
                  <a:srgbClr val="FFFFFF"/>
                </a:solidFill>
                <a:latin typeface="Arial"/>
                <a:cs typeface="Arial"/>
              </a:rPr>
              <a:t>stored</a:t>
            </a:r>
            <a:r>
              <a:rPr sz="1800" spc="-370" dirty="0">
                <a:solidFill>
                  <a:srgbClr val="FFFFFF"/>
                </a:solidFill>
                <a:latin typeface="Arial"/>
                <a:cs typeface="Arial"/>
              </a:rPr>
              <a:t> </a:t>
            </a:r>
            <a:r>
              <a:rPr sz="1800" spc="-45" dirty="0">
                <a:solidFill>
                  <a:srgbClr val="FFFFFF"/>
                </a:solidFill>
                <a:latin typeface="Arial"/>
                <a:cs typeface="Arial"/>
              </a:rPr>
              <a:t>procedures</a:t>
            </a:r>
            <a:endParaRPr sz="1800">
              <a:latin typeface="Arial"/>
              <a:cs typeface="Arial"/>
            </a:endParaRPr>
          </a:p>
          <a:p>
            <a:pPr marL="280670" indent="-268605">
              <a:lnSpc>
                <a:spcPts val="1945"/>
              </a:lnSpc>
              <a:buFont typeface="Segoe UI Symbol"/>
              <a:buChar char="➢"/>
              <a:tabLst>
                <a:tab pos="281305" algn="l"/>
              </a:tabLst>
            </a:pPr>
            <a:r>
              <a:rPr sz="1800" spc="-20" dirty="0">
                <a:solidFill>
                  <a:srgbClr val="FFFFFF"/>
                </a:solidFill>
                <a:latin typeface="Arial"/>
                <a:cs typeface="Arial"/>
              </a:rPr>
              <a:t>Variables</a:t>
            </a:r>
            <a:endParaRPr sz="1800">
              <a:latin typeface="Arial"/>
              <a:cs typeface="Arial"/>
            </a:endParaRPr>
          </a:p>
          <a:p>
            <a:pPr marL="12700" marR="5080">
              <a:lnSpc>
                <a:spcPts val="1850"/>
              </a:lnSpc>
              <a:spcBef>
                <a:spcPts val="210"/>
              </a:spcBef>
              <a:buFont typeface="Segoe UI Symbol"/>
              <a:buChar char="➢"/>
              <a:tabLst>
                <a:tab pos="285115" algn="l"/>
              </a:tabLst>
            </a:pPr>
            <a:r>
              <a:rPr sz="1800" spc="-15" dirty="0">
                <a:solidFill>
                  <a:srgbClr val="FFFFFF"/>
                </a:solidFill>
                <a:latin typeface="Arial"/>
                <a:cs typeface="Arial"/>
              </a:rPr>
              <a:t>Transact-SQL</a:t>
            </a:r>
            <a:r>
              <a:rPr sz="1800" spc="-80" dirty="0">
                <a:solidFill>
                  <a:srgbClr val="FFFFFF"/>
                </a:solidFill>
                <a:latin typeface="Arial"/>
                <a:cs typeface="Arial"/>
              </a:rPr>
              <a:t> </a:t>
            </a:r>
            <a:r>
              <a:rPr sz="1800" spc="20" dirty="0">
                <a:solidFill>
                  <a:srgbClr val="FFFFFF"/>
                </a:solidFill>
                <a:latin typeface="Arial"/>
                <a:cs typeface="Arial"/>
              </a:rPr>
              <a:t>functions</a:t>
            </a:r>
            <a:r>
              <a:rPr sz="1800" spc="-75" dirty="0">
                <a:solidFill>
                  <a:srgbClr val="FFFFFF"/>
                </a:solidFill>
                <a:latin typeface="Arial"/>
                <a:cs typeface="Arial"/>
              </a:rPr>
              <a:t> </a:t>
            </a:r>
            <a:r>
              <a:rPr sz="1800" spc="25" dirty="0">
                <a:solidFill>
                  <a:srgbClr val="FFFFFF"/>
                </a:solidFill>
                <a:latin typeface="Arial"/>
                <a:cs typeface="Arial"/>
              </a:rPr>
              <a:t>that</a:t>
            </a:r>
            <a:r>
              <a:rPr sz="1800" spc="-75" dirty="0">
                <a:solidFill>
                  <a:srgbClr val="FFFFFF"/>
                </a:solidFill>
                <a:latin typeface="Arial"/>
                <a:cs typeface="Arial"/>
              </a:rPr>
              <a:t> </a:t>
            </a:r>
            <a:r>
              <a:rPr sz="1800" spc="30" dirty="0">
                <a:solidFill>
                  <a:srgbClr val="FFFFFF"/>
                </a:solidFill>
                <a:latin typeface="Arial"/>
                <a:cs typeface="Arial"/>
              </a:rPr>
              <a:t>return</a:t>
            </a:r>
            <a:r>
              <a:rPr sz="1800" spc="-85" dirty="0">
                <a:solidFill>
                  <a:srgbClr val="FFFFFF"/>
                </a:solidFill>
                <a:latin typeface="Arial"/>
                <a:cs typeface="Arial"/>
              </a:rPr>
              <a:t> </a:t>
            </a:r>
            <a:r>
              <a:rPr sz="1800" spc="-40" dirty="0">
                <a:solidFill>
                  <a:srgbClr val="FFFFFF"/>
                </a:solidFill>
                <a:latin typeface="Arial"/>
                <a:cs typeface="Arial"/>
              </a:rPr>
              <a:t>one</a:t>
            </a:r>
            <a:r>
              <a:rPr sz="1800" spc="-70" dirty="0">
                <a:solidFill>
                  <a:srgbClr val="FFFFFF"/>
                </a:solidFill>
                <a:latin typeface="Arial"/>
                <a:cs typeface="Arial"/>
              </a:rPr>
              <a:t> </a:t>
            </a:r>
            <a:r>
              <a:rPr sz="1800" spc="25" dirty="0">
                <a:solidFill>
                  <a:srgbClr val="FFFFFF"/>
                </a:solidFill>
                <a:latin typeface="Arial"/>
                <a:cs typeface="Arial"/>
              </a:rPr>
              <a:t>or</a:t>
            </a:r>
            <a:r>
              <a:rPr sz="1800" spc="-75" dirty="0">
                <a:solidFill>
                  <a:srgbClr val="FFFFFF"/>
                </a:solidFill>
                <a:latin typeface="Arial"/>
                <a:cs typeface="Arial"/>
              </a:rPr>
              <a:t> </a:t>
            </a:r>
            <a:r>
              <a:rPr sz="1800" spc="-30" dirty="0">
                <a:solidFill>
                  <a:srgbClr val="FFFFFF"/>
                </a:solidFill>
                <a:latin typeface="Arial"/>
                <a:cs typeface="Arial"/>
              </a:rPr>
              <a:t>more</a:t>
            </a:r>
            <a:r>
              <a:rPr sz="1800" spc="-75" dirty="0">
                <a:solidFill>
                  <a:srgbClr val="FFFFFF"/>
                </a:solidFill>
                <a:latin typeface="Arial"/>
                <a:cs typeface="Arial"/>
              </a:rPr>
              <a:t> </a:t>
            </a:r>
            <a:r>
              <a:rPr sz="1800" spc="-55" dirty="0">
                <a:solidFill>
                  <a:srgbClr val="FFFFFF"/>
                </a:solidFill>
                <a:latin typeface="Arial"/>
                <a:cs typeface="Arial"/>
              </a:rPr>
              <a:t>data</a:t>
            </a:r>
            <a:r>
              <a:rPr sz="1800" spc="-90" dirty="0">
                <a:solidFill>
                  <a:srgbClr val="FFFFFF"/>
                </a:solidFill>
                <a:latin typeface="Arial"/>
                <a:cs typeface="Arial"/>
              </a:rPr>
              <a:t> </a:t>
            </a:r>
            <a:r>
              <a:rPr sz="1800" spc="-60" dirty="0">
                <a:solidFill>
                  <a:srgbClr val="FFFFFF"/>
                </a:solidFill>
                <a:latin typeface="Arial"/>
                <a:cs typeface="Arial"/>
              </a:rPr>
              <a:t>values</a:t>
            </a:r>
            <a:r>
              <a:rPr sz="1800" spc="-70" dirty="0">
                <a:solidFill>
                  <a:srgbClr val="FFFFFF"/>
                </a:solidFill>
                <a:latin typeface="Arial"/>
                <a:cs typeface="Arial"/>
              </a:rPr>
              <a:t> </a:t>
            </a:r>
            <a:r>
              <a:rPr sz="1800" spc="45" dirty="0">
                <a:solidFill>
                  <a:srgbClr val="FFFFFF"/>
                </a:solidFill>
                <a:latin typeface="Arial"/>
                <a:cs typeface="Arial"/>
              </a:rPr>
              <a:t>of</a:t>
            </a:r>
            <a:r>
              <a:rPr sz="1800" spc="-65" dirty="0">
                <a:solidFill>
                  <a:srgbClr val="FFFFFF"/>
                </a:solidFill>
                <a:latin typeface="Arial"/>
                <a:cs typeface="Arial"/>
              </a:rPr>
              <a:t> </a:t>
            </a:r>
            <a:r>
              <a:rPr sz="1800" spc="-175" dirty="0">
                <a:solidFill>
                  <a:srgbClr val="FFFFFF"/>
                </a:solidFill>
                <a:latin typeface="Arial"/>
                <a:cs typeface="Arial"/>
              </a:rPr>
              <a:t>a</a:t>
            </a:r>
            <a:r>
              <a:rPr sz="1800" spc="-75" dirty="0">
                <a:solidFill>
                  <a:srgbClr val="FFFFFF"/>
                </a:solidFill>
                <a:latin typeface="Arial"/>
                <a:cs typeface="Arial"/>
              </a:rPr>
              <a:t> </a:t>
            </a:r>
            <a:r>
              <a:rPr sz="1800" spc="-25" dirty="0">
                <a:solidFill>
                  <a:srgbClr val="FFFFFF"/>
                </a:solidFill>
                <a:latin typeface="Arial"/>
                <a:cs typeface="Arial"/>
              </a:rPr>
              <a:t>specific</a:t>
            </a:r>
            <a:r>
              <a:rPr sz="1800" spc="-80" dirty="0">
                <a:solidFill>
                  <a:srgbClr val="FFFFFF"/>
                </a:solidFill>
                <a:latin typeface="Arial"/>
                <a:cs typeface="Arial"/>
              </a:rPr>
              <a:t> </a:t>
            </a:r>
            <a:r>
              <a:rPr sz="1800" spc="-60" dirty="0">
                <a:solidFill>
                  <a:srgbClr val="FFFFFF"/>
                </a:solidFill>
                <a:latin typeface="Arial"/>
                <a:cs typeface="Arial"/>
              </a:rPr>
              <a:t>data  </a:t>
            </a:r>
            <a:r>
              <a:rPr sz="1800" spc="-15" dirty="0">
                <a:solidFill>
                  <a:srgbClr val="FFFFFF"/>
                </a:solidFill>
                <a:latin typeface="Arial"/>
                <a:cs typeface="Arial"/>
              </a:rPr>
              <a:t>type</a:t>
            </a:r>
            <a:endParaRPr sz="1800">
              <a:latin typeface="Arial"/>
              <a:cs typeface="Arial"/>
            </a:endParaRPr>
          </a:p>
          <a:p>
            <a:pPr marL="280670" indent="-268605">
              <a:lnSpc>
                <a:spcPts val="2030"/>
              </a:lnSpc>
              <a:buFont typeface="Segoe UI Symbol"/>
              <a:buChar char="➢"/>
              <a:tabLst>
                <a:tab pos="281305" algn="l"/>
              </a:tabLst>
            </a:pPr>
            <a:r>
              <a:rPr sz="1800" spc="-20" dirty="0">
                <a:solidFill>
                  <a:srgbClr val="FFFFFF"/>
                </a:solidFill>
                <a:latin typeface="Arial"/>
                <a:cs typeface="Arial"/>
              </a:rPr>
              <a:t>Stored</a:t>
            </a:r>
            <a:r>
              <a:rPr sz="1800" spc="-120" dirty="0">
                <a:solidFill>
                  <a:srgbClr val="FFFFFF"/>
                </a:solidFill>
                <a:latin typeface="Arial"/>
                <a:cs typeface="Arial"/>
              </a:rPr>
              <a:t> </a:t>
            </a:r>
            <a:r>
              <a:rPr sz="1800" spc="-45" dirty="0">
                <a:solidFill>
                  <a:srgbClr val="FFFFFF"/>
                </a:solidFill>
                <a:latin typeface="Arial"/>
                <a:cs typeface="Arial"/>
              </a:rPr>
              <a:t>procedures</a:t>
            </a:r>
            <a:r>
              <a:rPr sz="1800" spc="-114" dirty="0">
                <a:solidFill>
                  <a:srgbClr val="FFFFFF"/>
                </a:solidFill>
                <a:latin typeface="Arial"/>
                <a:cs typeface="Arial"/>
              </a:rPr>
              <a:t> </a:t>
            </a:r>
            <a:r>
              <a:rPr sz="1800" spc="25" dirty="0">
                <a:solidFill>
                  <a:srgbClr val="FFFFFF"/>
                </a:solidFill>
                <a:latin typeface="Arial"/>
                <a:cs typeface="Arial"/>
              </a:rPr>
              <a:t>that</a:t>
            </a:r>
            <a:r>
              <a:rPr sz="1800" spc="-110" dirty="0">
                <a:solidFill>
                  <a:srgbClr val="FFFFFF"/>
                </a:solidFill>
                <a:latin typeface="Arial"/>
                <a:cs typeface="Arial"/>
              </a:rPr>
              <a:t> </a:t>
            </a:r>
            <a:r>
              <a:rPr sz="1800" spc="-60" dirty="0">
                <a:solidFill>
                  <a:srgbClr val="FFFFFF"/>
                </a:solidFill>
                <a:latin typeface="Arial"/>
                <a:cs typeface="Arial"/>
              </a:rPr>
              <a:t>have</a:t>
            </a:r>
            <a:r>
              <a:rPr sz="1800" spc="-114" dirty="0">
                <a:solidFill>
                  <a:srgbClr val="FFFFFF"/>
                </a:solidFill>
                <a:latin typeface="Arial"/>
                <a:cs typeface="Arial"/>
              </a:rPr>
              <a:t> </a:t>
            </a:r>
            <a:r>
              <a:rPr sz="1800" spc="-175" dirty="0">
                <a:solidFill>
                  <a:srgbClr val="FFFFFF"/>
                </a:solidFill>
                <a:latin typeface="Arial"/>
                <a:cs typeface="Arial"/>
              </a:rPr>
              <a:t>a</a:t>
            </a:r>
            <a:r>
              <a:rPr sz="1800" spc="-114" dirty="0">
                <a:solidFill>
                  <a:srgbClr val="FFFFFF"/>
                </a:solidFill>
                <a:latin typeface="Arial"/>
                <a:cs typeface="Arial"/>
              </a:rPr>
              <a:t> </a:t>
            </a:r>
            <a:r>
              <a:rPr sz="1800" spc="30" dirty="0">
                <a:solidFill>
                  <a:srgbClr val="FFFFFF"/>
                </a:solidFill>
                <a:latin typeface="Arial"/>
                <a:cs typeface="Arial"/>
              </a:rPr>
              <a:t>return</a:t>
            </a:r>
            <a:r>
              <a:rPr sz="1800" spc="-120" dirty="0">
                <a:solidFill>
                  <a:srgbClr val="FFFFFF"/>
                </a:solidFill>
                <a:latin typeface="Arial"/>
                <a:cs typeface="Arial"/>
              </a:rPr>
              <a:t> </a:t>
            </a:r>
            <a:r>
              <a:rPr sz="1800" spc="-65" dirty="0">
                <a:solidFill>
                  <a:srgbClr val="FFFFFF"/>
                </a:solidFill>
                <a:latin typeface="Arial"/>
                <a:cs typeface="Arial"/>
              </a:rPr>
              <a:t>code</a:t>
            </a:r>
            <a:r>
              <a:rPr sz="1800" spc="-110" dirty="0">
                <a:solidFill>
                  <a:srgbClr val="FFFFFF"/>
                </a:solidFill>
                <a:latin typeface="Arial"/>
                <a:cs typeface="Arial"/>
              </a:rPr>
              <a:t> </a:t>
            </a:r>
            <a:r>
              <a:rPr sz="1800" spc="-15" dirty="0">
                <a:solidFill>
                  <a:srgbClr val="FFFFFF"/>
                </a:solidFill>
                <a:latin typeface="Arial"/>
                <a:cs typeface="Arial"/>
              </a:rPr>
              <a:t>belonging</a:t>
            </a:r>
            <a:r>
              <a:rPr sz="1800" spc="-110"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15" dirty="0">
                <a:solidFill>
                  <a:srgbClr val="FFFFFF"/>
                </a:solidFill>
                <a:latin typeface="Arial"/>
                <a:cs typeface="Arial"/>
              </a:rPr>
              <a:t>integer</a:t>
            </a:r>
            <a:r>
              <a:rPr sz="1800" spc="-114" dirty="0">
                <a:solidFill>
                  <a:srgbClr val="FFFFFF"/>
                </a:solidFill>
                <a:latin typeface="Arial"/>
                <a:cs typeface="Arial"/>
              </a:rPr>
              <a:t> </a:t>
            </a:r>
            <a:r>
              <a:rPr sz="1800" spc="-55" dirty="0">
                <a:solidFill>
                  <a:srgbClr val="FFFFFF"/>
                </a:solidFill>
                <a:latin typeface="Arial"/>
                <a:cs typeface="Arial"/>
              </a:rPr>
              <a:t>data</a:t>
            </a:r>
            <a:r>
              <a:rPr sz="1800" spc="-130" dirty="0">
                <a:solidFill>
                  <a:srgbClr val="FFFFFF"/>
                </a:solidFill>
                <a:latin typeface="Arial"/>
                <a:cs typeface="Arial"/>
              </a:rPr>
              <a:t> </a:t>
            </a:r>
            <a:r>
              <a:rPr sz="1800" spc="-15" dirty="0">
                <a:solidFill>
                  <a:srgbClr val="FFFFFF"/>
                </a:solidFill>
                <a:latin typeface="Arial"/>
                <a:cs typeface="Arial"/>
              </a:rPr>
              <a:t>type</a:t>
            </a:r>
            <a:endParaRPr sz="18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10</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5947" y="782065"/>
            <a:ext cx="2839085" cy="330200"/>
          </a:xfrm>
          <a:prstGeom prst="rect">
            <a:avLst/>
          </a:prstGeom>
        </p:spPr>
        <p:txBody>
          <a:bodyPr vert="horz" wrap="square" lIns="0" tIns="12065" rIns="0" bIns="0" rtlCol="0">
            <a:spAutoFit/>
          </a:bodyPr>
          <a:lstStyle/>
          <a:p>
            <a:pPr marL="12700">
              <a:lnSpc>
                <a:spcPct val="100000"/>
              </a:lnSpc>
              <a:spcBef>
                <a:spcPts val="95"/>
              </a:spcBef>
            </a:pPr>
            <a:r>
              <a:rPr sz="2000" b="1" spc="-114" dirty="0">
                <a:latin typeface="Arial"/>
                <a:cs typeface="Arial"/>
              </a:rPr>
              <a:t>System-defined </a:t>
            </a:r>
            <a:r>
              <a:rPr sz="2000" b="1" spc="-125" dirty="0">
                <a:latin typeface="Arial"/>
                <a:cs typeface="Arial"/>
              </a:rPr>
              <a:t>data</a:t>
            </a:r>
            <a:r>
              <a:rPr sz="2000" b="1" spc="-290" dirty="0">
                <a:latin typeface="Arial"/>
                <a:cs typeface="Arial"/>
              </a:rPr>
              <a:t> </a:t>
            </a:r>
            <a:r>
              <a:rPr sz="2000" b="1" spc="-160" dirty="0">
                <a:latin typeface="Arial"/>
                <a:cs typeface="Arial"/>
              </a:rPr>
              <a:t>types</a:t>
            </a:r>
            <a:endParaRPr sz="2000">
              <a:latin typeface="Arial"/>
              <a:cs typeface="Arial"/>
            </a:endParaRPr>
          </a:p>
        </p:txBody>
      </p:sp>
      <p:sp>
        <p:nvSpPr>
          <p:cNvPr id="3" name="object 3"/>
          <p:cNvSpPr txBox="1"/>
          <p:nvPr/>
        </p:nvSpPr>
        <p:spPr>
          <a:xfrm>
            <a:off x="383540" y="15493"/>
            <a:ext cx="3231515" cy="635635"/>
          </a:xfrm>
          <a:prstGeom prst="rect">
            <a:avLst/>
          </a:prstGeom>
        </p:spPr>
        <p:txBody>
          <a:bodyPr vert="horz" wrap="square" lIns="0" tIns="12700" rIns="0" bIns="0" rtlCol="0">
            <a:spAutoFit/>
          </a:bodyPr>
          <a:lstStyle/>
          <a:p>
            <a:pPr marL="12700">
              <a:lnSpc>
                <a:spcPct val="100000"/>
              </a:lnSpc>
              <a:spcBef>
                <a:spcPts val="100"/>
              </a:spcBef>
            </a:pPr>
            <a:r>
              <a:rPr sz="4000" spc="-60" dirty="0">
                <a:solidFill>
                  <a:srgbClr val="FFFFFF"/>
                </a:solidFill>
                <a:latin typeface="Arial"/>
                <a:cs typeface="Arial"/>
              </a:rPr>
              <a:t>Data </a:t>
            </a:r>
            <a:r>
              <a:rPr sz="4000" spc="-90" dirty="0">
                <a:solidFill>
                  <a:srgbClr val="FFFFFF"/>
                </a:solidFill>
                <a:latin typeface="Arial"/>
                <a:cs typeface="Arial"/>
              </a:rPr>
              <a:t>Types</a:t>
            </a:r>
            <a:r>
              <a:rPr sz="4000" spc="-515" dirty="0">
                <a:solidFill>
                  <a:srgbClr val="FFFFFF"/>
                </a:solidFill>
                <a:latin typeface="Arial"/>
                <a:cs typeface="Arial"/>
              </a:rPr>
              <a:t> </a:t>
            </a:r>
            <a:r>
              <a:rPr sz="4000" spc="-315" dirty="0">
                <a:solidFill>
                  <a:srgbClr val="FFFFFF"/>
                </a:solidFill>
                <a:latin typeface="Arial"/>
                <a:cs typeface="Arial"/>
              </a:rPr>
              <a:t>2-3</a:t>
            </a:r>
            <a:endParaRPr sz="4000">
              <a:latin typeface="Arial"/>
              <a:cs typeface="Arial"/>
            </a:endParaRPr>
          </a:p>
        </p:txBody>
      </p:sp>
      <p:pic>
        <p:nvPicPr>
          <p:cNvPr id="4" name="object 4"/>
          <p:cNvPicPr/>
          <p:nvPr/>
        </p:nvPicPr>
        <p:blipFill>
          <a:blip r:embed="rId3" cstate="print"/>
          <a:stretch>
            <a:fillRect/>
          </a:stretch>
        </p:blipFill>
        <p:spPr>
          <a:xfrm>
            <a:off x="1225296" y="1199388"/>
            <a:ext cx="6962394" cy="5414010"/>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11</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198495" cy="635635"/>
          </a:xfrm>
          <a:prstGeom prst="rect">
            <a:avLst/>
          </a:prstGeom>
        </p:spPr>
        <p:txBody>
          <a:bodyPr vert="horz" wrap="square" lIns="0" tIns="12700" rIns="0" bIns="0" rtlCol="0">
            <a:spAutoFit/>
          </a:bodyPr>
          <a:lstStyle/>
          <a:p>
            <a:pPr marL="12700">
              <a:lnSpc>
                <a:spcPct val="100000"/>
              </a:lnSpc>
              <a:spcBef>
                <a:spcPts val="100"/>
              </a:spcBef>
            </a:pPr>
            <a:r>
              <a:rPr spc="-60" dirty="0"/>
              <a:t>Data </a:t>
            </a:r>
            <a:r>
              <a:rPr spc="-90" dirty="0"/>
              <a:t>Types</a:t>
            </a:r>
            <a:r>
              <a:rPr spc="-505" dirty="0"/>
              <a:t> </a:t>
            </a:r>
            <a:r>
              <a:rPr spc="-405" dirty="0"/>
              <a:t>3-3</a:t>
            </a:r>
          </a:p>
        </p:txBody>
      </p:sp>
      <p:sp>
        <p:nvSpPr>
          <p:cNvPr id="3" name="object 3"/>
          <p:cNvSpPr txBox="1"/>
          <p:nvPr/>
        </p:nvSpPr>
        <p:spPr>
          <a:xfrm>
            <a:off x="437641" y="810259"/>
            <a:ext cx="8289290" cy="1832610"/>
          </a:xfrm>
          <a:prstGeom prst="rect">
            <a:avLst/>
          </a:prstGeom>
        </p:spPr>
        <p:txBody>
          <a:bodyPr vert="horz" wrap="square" lIns="0" tIns="12065" rIns="0" bIns="0" rtlCol="0">
            <a:spAutoFit/>
          </a:bodyPr>
          <a:lstStyle/>
          <a:p>
            <a:pPr marL="12700">
              <a:lnSpc>
                <a:spcPct val="100000"/>
              </a:lnSpc>
              <a:spcBef>
                <a:spcPts val="95"/>
              </a:spcBef>
            </a:pPr>
            <a:r>
              <a:rPr sz="2000" b="1" spc="-75" dirty="0">
                <a:latin typeface="Arial"/>
                <a:cs typeface="Arial"/>
              </a:rPr>
              <a:t>Alias </a:t>
            </a:r>
            <a:r>
              <a:rPr sz="2000" b="1" spc="-125" dirty="0">
                <a:latin typeface="Arial"/>
                <a:cs typeface="Arial"/>
              </a:rPr>
              <a:t>data</a:t>
            </a:r>
            <a:r>
              <a:rPr sz="2000" b="1" spc="-260" dirty="0">
                <a:latin typeface="Arial"/>
                <a:cs typeface="Arial"/>
              </a:rPr>
              <a:t> </a:t>
            </a:r>
            <a:r>
              <a:rPr sz="2000" b="1" spc="-160" dirty="0">
                <a:latin typeface="Arial"/>
                <a:cs typeface="Arial"/>
              </a:rPr>
              <a:t>types</a:t>
            </a:r>
            <a:endParaRPr sz="2000">
              <a:latin typeface="Arial"/>
              <a:cs typeface="Arial"/>
            </a:endParaRPr>
          </a:p>
          <a:p>
            <a:pPr marL="580390" indent="-343535" algn="just">
              <a:lnSpc>
                <a:spcPct val="100000"/>
              </a:lnSpc>
              <a:spcBef>
                <a:spcPts val="2230"/>
              </a:spcBef>
              <a:buChar char="•"/>
              <a:tabLst>
                <a:tab pos="581025" algn="l"/>
              </a:tabLst>
            </a:pPr>
            <a:r>
              <a:rPr sz="2000" spc="-70" dirty="0">
                <a:latin typeface="Arial"/>
                <a:cs typeface="Arial"/>
              </a:rPr>
              <a:t>These</a:t>
            </a:r>
            <a:r>
              <a:rPr sz="2000" spc="-120" dirty="0">
                <a:latin typeface="Arial"/>
                <a:cs typeface="Arial"/>
              </a:rPr>
              <a:t> </a:t>
            </a:r>
            <a:r>
              <a:rPr sz="2000" spc="-100" dirty="0">
                <a:latin typeface="Arial"/>
                <a:cs typeface="Arial"/>
              </a:rPr>
              <a:t>are</a:t>
            </a:r>
            <a:r>
              <a:rPr sz="2000" spc="-125" dirty="0">
                <a:latin typeface="Arial"/>
                <a:cs typeface="Arial"/>
              </a:rPr>
              <a:t> </a:t>
            </a:r>
            <a:r>
              <a:rPr sz="2000" spc="-120" dirty="0">
                <a:latin typeface="Arial"/>
                <a:cs typeface="Arial"/>
              </a:rPr>
              <a:t>based </a:t>
            </a:r>
            <a:r>
              <a:rPr sz="2000" spc="20" dirty="0">
                <a:latin typeface="Arial"/>
                <a:cs typeface="Arial"/>
              </a:rPr>
              <a:t>on</a:t>
            </a:r>
            <a:r>
              <a:rPr sz="2000" spc="-120" dirty="0">
                <a:latin typeface="Arial"/>
                <a:cs typeface="Arial"/>
              </a:rPr>
              <a:t> </a:t>
            </a:r>
            <a:r>
              <a:rPr sz="2000" dirty="0">
                <a:latin typeface="Arial"/>
                <a:cs typeface="Arial"/>
              </a:rPr>
              <a:t>the</a:t>
            </a:r>
            <a:r>
              <a:rPr sz="2000" spc="-114" dirty="0">
                <a:latin typeface="Arial"/>
                <a:cs typeface="Arial"/>
              </a:rPr>
              <a:t> </a:t>
            </a:r>
            <a:r>
              <a:rPr sz="2000" spc="-45" dirty="0">
                <a:latin typeface="Arial"/>
                <a:cs typeface="Arial"/>
              </a:rPr>
              <a:t>system-supplied</a:t>
            </a:r>
            <a:r>
              <a:rPr sz="2000" spc="-114" dirty="0">
                <a:latin typeface="Arial"/>
                <a:cs typeface="Arial"/>
              </a:rPr>
              <a:t> </a:t>
            </a:r>
            <a:r>
              <a:rPr sz="2000" spc="-60" dirty="0">
                <a:latin typeface="Arial"/>
                <a:cs typeface="Arial"/>
              </a:rPr>
              <a:t>data</a:t>
            </a:r>
            <a:r>
              <a:rPr sz="2000" spc="-120" dirty="0">
                <a:latin typeface="Arial"/>
                <a:cs typeface="Arial"/>
              </a:rPr>
              <a:t> </a:t>
            </a:r>
            <a:r>
              <a:rPr sz="2000" spc="-55" dirty="0">
                <a:latin typeface="Arial"/>
                <a:cs typeface="Arial"/>
              </a:rPr>
              <a:t>types.</a:t>
            </a:r>
            <a:endParaRPr sz="2000">
              <a:latin typeface="Arial"/>
              <a:cs typeface="Arial"/>
            </a:endParaRPr>
          </a:p>
          <a:p>
            <a:pPr marL="580390" marR="5080" indent="-342900" algn="just">
              <a:lnSpc>
                <a:spcPct val="100000"/>
              </a:lnSpc>
              <a:buChar char="•"/>
              <a:tabLst>
                <a:tab pos="581025" algn="l"/>
              </a:tabLst>
            </a:pPr>
            <a:r>
              <a:rPr sz="2000" spc="20" dirty="0">
                <a:latin typeface="Arial"/>
                <a:cs typeface="Arial"/>
              </a:rPr>
              <a:t>Alias </a:t>
            </a:r>
            <a:r>
              <a:rPr sz="2000" spc="-60" dirty="0">
                <a:latin typeface="Arial"/>
                <a:cs typeface="Arial"/>
              </a:rPr>
              <a:t>data </a:t>
            </a:r>
            <a:r>
              <a:rPr sz="2000" spc="-55" dirty="0">
                <a:latin typeface="Arial"/>
                <a:cs typeface="Arial"/>
              </a:rPr>
              <a:t>types </a:t>
            </a:r>
            <a:r>
              <a:rPr sz="2000" spc="-95" dirty="0">
                <a:latin typeface="Arial"/>
                <a:cs typeface="Arial"/>
              </a:rPr>
              <a:t>are </a:t>
            </a:r>
            <a:r>
              <a:rPr sz="2000" spc="-85" dirty="0">
                <a:latin typeface="Arial"/>
                <a:cs typeface="Arial"/>
              </a:rPr>
              <a:t>used </a:t>
            </a:r>
            <a:r>
              <a:rPr sz="2000" dirty="0">
                <a:latin typeface="Arial"/>
                <a:cs typeface="Arial"/>
              </a:rPr>
              <a:t>when </a:t>
            </a:r>
            <a:r>
              <a:rPr sz="2000" spc="-35" dirty="0">
                <a:latin typeface="Arial"/>
                <a:cs typeface="Arial"/>
              </a:rPr>
              <a:t>more </a:t>
            </a:r>
            <a:r>
              <a:rPr sz="2000" spc="15" dirty="0">
                <a:latin typeface="Arial"/>
                <a:cs typeface="Arial"/>
              </a:rPr>
              <a:t>than </a:t>
            </a:r>
            <a:r>
              <a:rPr sz="2000" spc="-45" dirty="0">
                <a:latin typeface="Arial"/>
                <a:cs typeface="Arial"/>
              </a:rPr>
              <a:t>one </a:t>
            </a:r>
            <a:r>
              <a:rPr sz="2000" spc="-30" dirty="0">
                <a:latin typeface="Arial"/>
                <a:cs typeface="Arial"/>
              </a:rPr>
              <a:t>table </a:t>
            </a:r>
            <a:r>
              <a:rPr sz="2000" spc="-70" dirty="0">
                <a:latin typeface="Arial"/>
                <a:cs typeface="Arial"/>
              </a:rPr>
              <a:t>stores </a:t>
            </a:r>
            <a:r>
              <a:rPr sz="2000" dirty="0">
                <a:latin typeface="Arial"/>
                <a:cs typeface="Arial"/>
              </a:rPr>
              <a:t>the </a:t>
            </a:r>
            <a:r>
              <a:rPr sz="2000" spc="-155" dirty="0">
                <a:latin typeface="Arial"/>
                <a:cs typeface="Arial"/>
              </a:rPr>
              <a:t>same  </a:t>
            </a:r>
            <a:r>
              <a:rPr sz="2000" spc="-15" dirty="0">
                <a:latin typeface="Arial"/>
                <a:cs typeface="Arial"/>
              </a:rPr>
              <a:t>type </a:t>
            </a:r>
            <a:r>
              <a:rPr sz="2000" spc="50" dirty="0">
                <a:latin typeface="Arial"/>
                <a:cs typeface="Arial"/>
              </a:rPr>
              <a:t>of </a:t>
            </a:r>
            <a:r>
              <a:rPr sz="2000" spc="-60" dirty="0">
                <a:latin typeface="Arial"/>
                <a:cs typeface="Arial"/>
              </a:rPr>
              <a:t>data </a:t>
            </a:r>
            <a:r>
              <a:rPr sz="2000" spc="90" dirty="0">
                <a:latin typeface="Arial"/>
                <a:cs typeface="Arial"/>
              </a:rPr>
              <a:t>in </a:t>
            </a:r>
            <a:r>
              <a:rPr sz="2000" spc="-195" dirty="0">
                <a:latin typeface="Arial"/>
                <a:cs typeface="Arial"/>
              </a:rPr>
              <a:t>a </a:t>
            </a:r>
            <a:r>
              <a:rPr sz="2000" spc="15" dirty="0">
                <a:latin typeface="Arial"/>
                <a:cs typeface="Arial"/>
              </a:rPr>
              <a:t>column </a:t>
            </a:r>
            <a:r>
              <a:rPr sz="2000" spc="-35" dirty="0">
                <a:latin typeface="Arial"/>
                <a:cs typeface="Arial"/>
              </a:rPr>
              <a:t>and </a:t>
            </a:r>
            <a:r>
              <a:rPr sz="2000" spc="-120" dirty="0">
                <a:latin typeface="Arial"/>
                <a:cs typeface="Arial"/>
              </a:rPr>
              <a:t>has </a:t>
            </a:r>
            <a:r>
              <a:rPr sz="2000" dirty="0">
                <a:latin typeface="Arial"/>
                <a:cs typeface="Arial"/>
              </a:rPr>
              <a:t>similar </a:t>
            </a:r>
            <a:r>
              <a:rPr sz="2000" spc="-40" dirty="0">
                <a:latin typeface="Arial"/>
                <a:cs typeface="Arial"/>
              </a:rPr>
              <a:t>characteristics </a:t>
            </a:r>
            <a:r>
              <a:rPr sz="2000" spc="-60" dirty="0">
                <a:latin typeface="Arial"/>
                <a:cs typeface="Arial"/>
              </a:rPr>
              <a:t>such </a:t>
            </a:r>
            <a:r>
              <a:rPr sz="2000" spc="-204" dirty="0">
                <a:latin typeface="Arial"/>
                <a:cs typeface="Arial"/>
              </a:rPr>
              <a:t>as </a:t>
            </a:r>
            <a:r>
              <a:rPr sz="2000" dirty="0">
                <a:latin typeface="Arial"/>
                <a:cs typeface="Arial"/>
              </a:rPr>
              <a:t>length,  </a:t>
            </a:r>
            <a:r>
              <a:rPr sz="2000" spc="45" dirty="0">
                <a:latin typeface="Arial"/>
                <a:cs typeface="Arial"/>
              </a:rPr>
              <a:t>nullability.</a:t>
            </a:r>
            <a:endParaRPr sz="2000">
              <a:latin typeface="Arial"/>
              <a:cs typeface="Arial"/>
            </a:endParaRPr>
          </a:p>
        </p:txBody>
      </p:sp>
      <p:pic>
        <p:nvPicPr>
          <p:cNvPr id="4" name="object 4"/>
          <p:cNvPicPr/>
          <p:nvPr/>
        </p:nvPicPr>
        <p:blipFill>
          <a:blip r:embed="rId3" cstate="print"/>
          <a:stretch>
            <a:fillRect/>
          </a:stretch>
        </p:blipFill>
        <p:spPr>
          <a:xfrm>
            <a:off x="1336547" y="2926079"/>
            <a:ext cx="6640068" cy="956310"/>
          </a:xfrm>
          <a:prstGeom prst="rect">
            <a:avLst/>
          </a:prstGeom>
        </p:spPr>
      </p:pic>
      <p:sp>
        <p:nvSpPr>
          <p:cNvPr id="5" name="object 5"/>
          <p:cNvSpPr txBox="1"/>
          <p:nvPr/>
        </p:nvSpPr>
        <p:spPr>
          <a:xfrm>
            <a:off x="547116" y="4351273"/>
            <a:ext cx="7812405" cy="1160780"/>
          </a:xfrm>
          <a:prstGeom prst="rect">
            <a:avLst/>
          </a:prstGeom>
        </p:spPr>
        <p:txBody>
          <a:bodyPr vert="horz" wrap="square" lIns="0" tIns="12065" rIns="0" bIns="0" rtlCol="0">
            <a:spAutoFit/>
          </a:bodyPr>
          <a:lstStyle/>
          <a:p>
            <a:pPr marL="12700">
              <a:lnSpc>
                <a:spcPct val="100000"/>
              </a:lnSpc>
              <a:spcBef>
                <a:spcPts val="95"/>
              </a:spcBef>
            </a:pPr>
            <a:r>
              <a:rPr sz="2000" b="1" spc="-90" dirty="0">
                <a:latin typeface="Arial"/>
                <a:cs typeface="Arial"/>
              </a:rPr>
              <a:t>User-defined</a:t>
            </a:r>
            <a:r>
              <a:rPr sz="2000" b="1" spc="-175" dirty="0">
                <a:latin typeface="Arial"/>
                <a:cs typeface="Arial"/>
              </a:rPr>
              <a:t> </a:t>
            </a:r>
            <a:r>
              <a:rPr sz="2000" b="1" spc="-160" dirty="0">
                <a:latin typeface="Arial"/>
                <a:cs typeface="Arial"/>
              </a:rPr>
              <a:t>types</a:t>
            </a:r>
            <a:endParaRPr sz="2000">
              <a:latin typeface="Arial"/>
              <a:cs typeface="Arial"/>
            </a:endParaRPr>
          </a:p>
          <a:p>
            <a:pPr marL="95885">
              <a:lnSpc>
                <a:spcPct val="100000"/>
              </a:lnSpc>
              <a:spcBef>
                <a:spcPts val="1745"/>
              </a:spcBef>
              <a:tabLst>
                <a:tab pos="890905" algn="l"/>
                <a:tab pos="1351915" algn="l"/>
                <a:tab pos="2277745" algn="l"/>
                <a:tab pos="2999105" algn="l"/>
                <a:tab pos="4606925" algn="l"/>
                <a:tab pos="5806440" algn="l"/>
                <a:tab pos="7049770" algn="l"/>
                <a:tab pos="7445375" algn="l"/>
              </a:tabLst>
            </a:pPr>
            <a:r>
              <a:rPr sz="2000" spc="-40" dirty="0">
                <a:latin typeface="Arial"/>
                <a:cs typeface="Arial"/>
              </a:rPr>
              <a:t>The</a:t>
            </a:r>
            <a:r>
              <a:rPr sz="2000" spc="-30" dirty="0">
                <a:latin typeface="Arial"/>
                <a:cs typeface="Arial"/>
              </a:rPr>
              <a:t>s</a:t>
            </a:r>
            <a:r>
              <a:rPr sz="2000" spc="-185" dirty="0">
                <a:latin typeface="Arial"/>
                <a:cs typeface="Arial"/>
              </a:rPr>
              <a:t>e</a:t>
            </a:r>
            <a:r>
              <a:rPr sz="2000" dirty="0">
                <a:latin typeface="Arial"/>
                <a:cs typeface="Arial"/>
              </a:rPr>
              <a:t>	</a:t>
            </a:r>
            <a:r>
              <a:rPr sz="2000" spc="-70" dirty="0">
                <a:latin typeface="Arial"/>
                <a:cs typeface="Arial"/>
              </a:rPr>
              <a:t>a</a:t>
            </a:r>
            <a:r>
              <a:rPr sz="2000" spc="-40" dirty="0">
                <a:latin typeface="Arial"/>
                <a:cs typeface="Arial"/>
              </a:rPr>
              <a:t>r</a:t>
            </a:r>
            <a:r>
              <a:rPr sz="2000" spc="-185" dirty="0">
                <a:latin typeface="Arial"/>
                <a:cs typeface="Arial"/>
              </a:rPr>
              <a:t>e</a:t>
            </a:r>
            <a:r>
              <a:rPr sz="2000" dirty="0">
                <a:latin typeface="Arial"/>
                <a:cs typeface="Arial"/>
              </a:rPr>
              <a:t>	</a:t>
            </a:r>
            <a:r>
              <a:rPr sz="2000" spc="-95" dirty="0">
                <a:latin typeface="Arial"/>
                <a:cs typeface="Arial"/>
              </a:rPr>
              <a:t>cre</a:t>
            </a:r>
            <a:r>
              <a:rPr sz="2000" spc="-105" dirty="0">
                <a:latin typeface="Arial"/>
                <a:cs typeface="Arial"/>
              </a:rPr>
              <a:t>a</a:t>
            </a:r>
            <a:r>
              <a:rPr sz="2000" spc="125" dirty="0">
                <a:latin typeface="Arial"/>
                <a:cs typeface="Arial"/>
              </a:rPr>
              <a:t>t</a:t>
            </a:r>
            <a:r>
              <a:rPr sz="2000" spc="-85" dirty="0">
                <a:latin typeface="Arial"/>
                <a:cs typeface="Arial"/>
              </a:rPr>
              <a:t>ed</a:t>
            </a:r>
            <a:r>
              <a:rPr sz="2000" dirty="0">
                <a:latin typeface="Arial"/>
                <a:cs typeface="Arial"/>
              </a:rPr>
              <a:t>	</a:t>
            </a:r>
            <a:r>
              <a:rPr sz="2000" spc="-25" dirty="0">
                <a:latin typeface="Arial"/>
                <a:cs typeface="Arial"/>
              </a:rPr>
              <a:t>using</a:t>
            </a:r>
            <a:r>
              <a:rPr sz="2000" dirty="0">
                <a:latin typeface="Arial"/>
                <a:cs typeface="Arial"/>
              </a:rPr>
              <a:t>	</a:t>
            </a:r>
            <a:r>
              <a:rPr sz="2000" spc="45" dirty="0">
                <a:latin typeface="Arial"/>
                <a:cs typeface="Arial"/>
              </a:rPr>
              <a:t>p</a:t>
            </a:r>
            <a:r>
              <a:rPr sz="2000" spc="30" dirty="0">
                <a:latin typeface="Arial"/>
                <a:cs typeface="Arial"/>
              </a:rPr>
              <a:t>r</a:t>
            </a:r>
            <a:r>
              <a:rPr sz="2000" spc="-30" dirty="0">
                <a:latin typeface="Arial"/>
                <a:cs typeface="Arial"/>
              </a:rPr>
              <a:t>ogramming</a:t>
            </a:r>
            <a:r>
              <a:rPr sz="2000" dirty="0">
                <a:latin typeface="Arial"/>
                <a:cs typeface="Arial"/>
              </a:rPr>
              <a:t>	</a:t>
            </a:r>
            <a:r>
              <a:rPr sz="2000" spc="-35" dirty="0">
                <a:latin typeface="Arial"/>
                <a:cs typeface="Arial"/>
              </a:rPr>
              <a:t>lang</a:t>
            </a:r>
            <a:r>
              <a:rPr sz="2000" spc="-100" dirty="0">
                <a:latin typeface="Arial"/>
                <a:cs typeface="Arial"/>
              </a:rPr>
              <a:t>ua</a:t>
            </a:r>
            <a:r>
              <a:rPr sz="2000" spc="-95" dirty="0">
                <a:latin typeface="Arial"/>
                <a:cs typeface="Arial"/>
              </a:rPr>
              <a:t>g</a:t>
            </a:r>
            <a:r>
              <a:rPr sz="2000" spc="-200" dirty="0">
                <a:latin typeface="Arial"/>
                <a:cs typeface="Arial"/>
              </a:rPr>
              <a:t>es</a:t>
            </a:r>
            <a:r>
              <a:rPr sz="2000" dirty="0">
                <a:latin typeface="Arial"/>
                <a:cs typeface="Arial"/>
              </a:rPr>
              <a:t>	</a:t>
            </a:r>
            <a:r>
              <a:rPr sz="2000" spc="-50" dirty="0">
                <a:latin typeface="Arial"/>
                <a:cs typeface="Arial"/>
              </a:rPr>
              <a:t>sup</a:t>
            </a:r>
            <a:r>
              <a:rPr sz="2000" spc="-45" dirty="0">
                <a:latin typeface="Arial"/>
                <a:cs typeface="Arial"/>
              </a:rPr>
              <a:t>p</a:t>
            </a:r>
            <a:r>
              <a:rPr sz="2000" spc="70" dirty="0">
                <a:latin typeface="Arial"/>
                <a:cs typeface="Arial"/>
              </a:rPr>
              <a:t>or</a:t>
            </a:r>
            <a:r>
              <a:rPr sz="2000" spc="55" dirty="0">
                <a:latin typeface="Arial"/>
                <a:cs typeface="Arial"/>
              </a:rPr>
              <a:t>t</a:t>
            </a:r>
            <a:r>
              <a:rPr sz="2000" spc="-85" dirty="0">
                <a:latin typeface="Arial"/>
                <a:cs typeface="Arial"/>
              </a:rPr>
              <a:t>ed</a:t>
            </a:r>
            <a:r>
              <a:rPr sz="2000" dirty="0">
                <a:latin typeface="Arial"/>
                <a:cs typeface="Arial"/>
              </a:rPr>
              <a:t>	</a:t>
            </a:r>
            <a:r>
              <a:rPr sz="2000" spc="-20" dirty="0">
                <a:latin typeface="Arial"/>
                <a:cs typeface="Arial"/>
              </a:rPr>
              <a:t>b</a:t>
            </a:r>
            <a:r>
              <a:rPr sz="2000" spc="-15" dirty="0">
                <a:latin typeface="Arial"/>
                <a:cs typeface="Arial"/>
              </a:rPr>
              <a:t>y</a:t>
            </a:r>
            <a:r>
              <a:rPr sz="2000" dirty="0">
                <a:latin typeface="Arial"/>
                <a:cs typeface="Arial"/>
              </a:rPr>
              <a:t>	the</a:t>
            </a:r>
            <a:endParaRPr sz="2000">
              <a:latin typeface="Arial"/>
              <a:cs typeface="Arial"/>
            </a:endParaRPr>
          </a:p>
          <a:p>
            <a:pPr marL="95885">
              <a:lnSpc>
                <a:spcPct val="100000"/>
              </a:lnSpc>
            </a:pPr>
            <a:r>
              <a:rPr sz="2000" spc="35" dirty="0">
                <a:latin typeface="Arial"/>
                <a:cs typeface="Arial"/>
              </a:rPr>
              <a:t>.NET</a:t>
            </a:r>
            <a:r>
              <a:rPr sz="2000" spc="-135" dirty="0">
                <a:latin typeface="Arial"/>
                <a:cs typeface="Arial"/>
              </a:rPr>
              <a:t> </a:t>
            </a:r>
            <a:r>
              <a:rPr sz="2000" spc="-30" dirty="0">
                <a:latin typeface="Arial"/>
                <a:cs typeface="Arial"/>
              </a:rPr>
              <a:t>Framework.</a:t>
            </a:r>
            <a:endParaRPr sz="20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12</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487920" cy="635635"/>
          </a:xfrm>
          <a:prstGeom prst="rect">
            <a:avLst/>
          </a:prstGeom>
        </p:spPr>
        <p:txBody>
          <a:bodyPr vert="horz" wrap="square" lIns="0" tIns="12700" rIns="0" bIns="0" rtlCol="0">
            <a:spAutoFit/>
          </a:bodyPr>
          <a:lstStyle/>
          <a:p>
            <a:pPr marL="12700">
              <a:lnSpc>
                <a:spcPct val="100000"/>
              </a:lnSpc>
              <a:spcBef>
                <a:spcPts val="100"/>
              </a:spcBef>
            </a:pPr>
            <a:r>
              <a:rPr spc="-25" dirty="0"/>
              <a:t>Transact-SQL </a:t>
            </a:r>
            <a:r>
              <a:rPr spc="-160" dirty="0"/>
              <a:t>Language</a:t>
            </a:r>
            <a:r>
              <a:rPr spc="-530" dirty="0"/>
              <a:t> </a:t>
            </a:r>
            <a:r>
              <a:rPr spc="-100" dirty="0"/>
              <a:t>Elements</a:t>
            </a:r>
          </a:p>
        </p:txBody>
      </p:sp>
      <p:grpSp>
        <p:nvGrpSpPr>
          <p:cNvPr id="3" name="object 3"/>
          <p:cNvGrpSpPr/>
          <p:nvPr/>
        </p:nvGrpSpPr>
        <p:grpSpPr>
          <a:xfrm>
            <a:off x="332993" y="873252"/>
            <a:ext cx="8228965" cy="1774189"/>
            <a:chOff x="332993" y="873252"/>
            <a:chExt cx="8228965" cy="1774189"/>
          </a:xfrm>
        </p:grpSpPr>
        <p:pic>
          <p:nvPicPr>
            <p:cNvPr id="4" name="object 4"/>
            <p:cNvPicPr/>
            <p:nvPr/>
          </p:nvPicPr>
          <p:blipFill>
            <a:blip r:embed="rId3" cstate="print"/>
            <a:stretch>
              <a:fillRect/>
            </a:stretch>
          </p:blipFill>
          <p:spPr>
            <a:xfrm>
              <a:off x="332993" y="873252"/>
              <a:ext cx="8228838" cy="1773936"/>
            </a:xfrm>
            <a:prstGeom prst="rect">
              <a:avLst/>
            </a:prstGeom>
          </p:spPr>
        </p:pic>
        <p:pic>
          <p:nvPicPr>
            <p:cNvPr id="5" name="object 5"/>
            <p:cNvPicPr/>
            <p:nvPr/>
          </p:nvPicPr>
          <p:blipFill>
            <a:blip r:embed="rId4" cstate="print"/>
            <a:stretch>
              <a:fillRect/>
            </a:stretch>
          </p:blipFill>
          <p:spPr>
            <a:xfrm>
              <a:off x="374141" y="891540"/>
              <a:ext cx="8153400" cy="1698498"/>
            </a:xfrm>
            <a:prstGeom prst="rect">
              <a:avLst/>
            </a:prstGeom>
          </p:spPr>
        </p:pic>
      </p:grpSp>
      <p:sp>
        <p:nvSpPr>
          <p:cNvPr id="6" name="object 6"/>
          <p:cNvSpPr txBox="1"/>
          <p:nvPr/>
        </p:nvSpPr>
        <p:spPr>
          <a:xfrm>
            <a:off x="437895" y="1449070"/>
            <a:ext cx="7887970" cy="605155"/>
          </a:xfrm>
          <a:prstGeom prst="rect">
            <a:avLst/>
          </a:prstGeom>
        </p:spPr>
        <p:txBody>
          <a:bodyPr vert="horz" wrap="square" lIns="0" tIns="12700" rIns="0" bIns="0" rtlCol="0">
            <a:spAutoFit/>
          </a:bodyPr>
          <a:lstStyle/>
          <a:p>
            <a:pPr marL="298450" indent="-286385">
              <a:lnSpc>
                <a:spcPts val="2280"/>
              </a:lnSpc>
              <a:spcBef>
                <a:spcPts val="100"/>
              </a:spcBef>
              <a:buClr>
                <a:srgbClr val="000000"/>
              </a:buClr>
              <a:buChar char="•"/>
              <a:tabLst>
                <a:tab pos="298450" algn="l"/>
                <a:tab pos="299085" algn="l"/>
              </a:tabLst>
            </a:pPr>
            <a:r>
              <a:rPr sz="2000" spc="15" dirty="0">
                <a:solidFill>
                  <a:srgbClr val="FFFFFF"/>
                </a:solidFill>
                <a:latin typeface="Arial"/>
                <a:cs typeface="Arial"/>
              </a:rPr>
              <a:t>The</a:t>
            </a:r>
            <a:r>
              <a:rPr sz="2000" spc="-125" dirty="0">
                <a:solidFill>
                  <a:srgbClr val="FFFFFF"/>
                </a:solidFill>
                <a:latin typeface="Arial"/>
                <a:cs typeface="Arial"/>
              </a:rPr>
              <a:t> </a:t>
            </a:r>
            <a:r>
              <a:rPr sz="2000" spc="-15" dirty="0">
                <a:solidFill>
                  <a:srgbClr val="FFFFFF"/>
                </a:solidFill>
                <a:latin typeface="Arial"/>
                <a:cs typeface="Arial"/>
              </a:rPr>
              <a:t>Transact-SQL</a:t>
            </a:r>
            <a:r>
              <a:rPr sz="2000" spc="-120" dirty="0">
                <a:solidFill>
                  <a:srgbClr val="FFFFFF"/>
                </a:solidFill>
                <a:latin typeface="Arial"/>
                <a:cs typeface="Arial"/>
              </a:rPr>
              <a:t> </a:t>
            </a:r>
            <a:r>
              <a:rPr sz="2000" spc="-80" dirty="0">
                <a:solidFill>
                  <a:srgbClr val="FFFFFF"/>
                </a:solidFill>
                <a:latin typeface="Arial"/>
                <a:cs typeface="Arial"/>
              </a:rPr>
              <a:t>language</a:t>
            </a:r>
            <a:r>
              <a:rPr sz="2000" spc="-114" dirty="0">
                <a:solidFill>
                  <a:srgbClr val="FFFFFF"/>
                </a:solidFill>
                <a:latin typeface="Arial"/>
                <a:cs typeface="Arial"/>
              </a:rPr>
              <a:t> </a:t>
            </a:r>
            <a:r>
              <a:rPr sz="2000" spc="-60" dirty="0">
                <a:solidFill>
                  <a:srgbClr val="FFFFFF"/>
                </a:solidFill>
                <a:latin typeface="Arial"/>
                <a:cs typeface="Arial"/>
              </a:rPr>
              <a:t>elements</a:t>
            </a:r>
            <a:r>
              <a:rPr sz="2000" spc="-114" dirty="0">
                <a:solidFill>
                  <a:srgbClr val="FFFFFF"/>
                </a:solidFill>
                <a:latin typeface="Arial"/>
                <a:cs typeface="Arial"/>
              </a:rPr>
              <a:t> </a:t>
            </a:r>
            <a:r>
              <a:rPr sz="2000" spc="-95" dirty="0">
                <a:solidFill>
                  <a:srgbClr val="FFFFFF"/>
                </a:solidFill>
                <a:latin typeface="Arial"/>
                <a:cs typeface="Arial"/>
              </a:rPr>
              <a:t>are</a:t>
            </a:r>
            <a:r>
              <a:rPr sz="2000" spc="-120" dirty="0">
                <a:solidFill>
                  <a:srgbClr val="FFFFFF"/>
                </a:solidFill>
                <a:latin typeface="Arial"/>
                <a:cs typeface="Arial"/>
              </a:rPr>
              <a:t> </a:t>
            </a:r>
            <a:r>
              <a:rPr sz="2000" spc="-85" dirty="0">
                <a:solidFill>
                  <a:srgbClr val="FFFFFF"/>
                </a:solidFill>
                <a:latin typeface="Arial"/>
                <a:cs typeface="Arial"/>
              </a:rPr>
              <a:t>used</a:t>
            </a:r>
            <a:r>
              <a:rPr sz="2000" spc="-120" dirty="0">
                <a:solidFill>
                  <a:srgbClr val="FFFFFF"/>
                </a:solidFill>
                <a:latin typeface="Arial"/>
                <a:cs typeface="Arial"/>
              </a:rPr>
              <a:t> </a:t>
            </a:r>
            <a:r>
              <a:rPr sz="2000" spc="95" dirty="0">
                <a:solidFill>
                  <a:srgbClr val="FFFFFF"/>
                </a:solidFill>
                <a:latin typeface="Arial"/>
                <a:cs typeface="Arial"/>
              </a:rPr>
              <a:t>in</a:t>
            </a:r>
            <a:r>
              <a:rPr sz="2000" spc="-120" dirty="0">
                <a:solidFill>
                  <a:srgbClr val="FFFFFF"/>
                </a:solidFill>
                <a:latin typeface="Arial"/>
                <a:cs typeface="Arial"/>
              </a:rPr>
              <a:t> </a:t>
            </a:r>
            <a:r>
              <a:rPr sz="2000" spc="15" dirty="0">
                <a:solidFill>
                  <a:srgbClr val="FFFFFF"/>
                </a:solidFill>
                <a:latin typeface="Arial"/>
                <a:cs typeface="Arial"/>
              </a:rPr>
              <a:t>SQL</a:t>
            </a:r>
            <a:r>
              <a:rPr sz="2000" spc="-125" dirty="0">
                <a:solidFill>
                  <a:srgbClr val="FFFFFF"/>
                </a:solidFill>
                <a:latin typeface="Arial"/>
                <a:cs typeface="Arial"/>
              </a:rPr>
              <a:t> </a:t>
            </a:r>
            <a:r>
              <a:rPr sz="2000" spc="-50" dirty="0">
                <a:solidFill>
                  <a:srgbClr val="FFFFFF"/>
                </a:solidFill>
                <a:latin typeface="Arial"/>
                <a:cs typeface="Arial"/>
              </a:rPr>
              <a:t>Server</a:t>
            </a:r>
            <a:r>
              <a:rPr sz="2000" spc="-120" dirty="0">
                <a:solidFill>
                  <a:srgbClr val="FFFFFF"/>
                </a:solidFill>
                <a:latin typeface="Arial"/>
                <a:cs typeface="Arial"/>
              </a:rPr>
              <a:t> </a:t>
            </a:r>
            <a:r>
              <a:rPr sz="2000" spc="-204" dirty="0">
                <a:solidFill>
                  <a:srgbClr val="FFFFFF"/>
                </a:solidFill>
                <a:latin typeface="Arial"/>
                <a:cs typeface="Arial"/>
              </a:rPr>
              <a:t>2019</a:t>
            </a:r>
            <a:r>
              <a:rPr sz="2000" spc="-114" dirty="0">
                <a:solidFill>
                  <a:srgbClr val="FFFFFF"/>
                </a:solidFill>
                <a:latin typeface="Arial"/>
                <a:cs typeface="Arial"/>
              </a:rPr>
              <a:t> </a:t>
            </a:r>
            <a:r>
              <a:rPr sz="2000" spc="65" dirty="0">
                <a:solidFill>
                  <a:srgbClr val="FFFFFF"/>
                </a:solidFill>
                <a:latin typeface="Arial"/>
                <a:cs typeface="Arial"/>
              </a:rPr>
              <a:t>for</a:t>
            </a:r>
            <a:endParaRPr sz="2000">
              <a:latin typeface="Arial"/>
              <a:cs typeface="Arial"/>
            </a:endParaRPr>
          </a:p>
          <a:p>
            <a:pPr marL="298450">
              <a:lnSpc>
                <a:spcPts val="2280"/>
              </a:lnSpc>
            </a:pPr>
            <a:r>
              <a:rPr sz="2000" spc="35" dirty="0">
                <a:solidFill>
                  <a:srgbClr val="FFFFFF"/>
                </a:solidFill>
                <a:latin typeface="Arial"/>
                <a:cs typeface="Arial"/>
              </a:rPr>
              <a:t>working</a:t>
            </a:r>
            <a:r>
              <a:rPr sz="2000" spc="-120" dirty="0">
                <a:solidFill>
                  <a:srgbClr val="FFFFFF"/>
                </a:solidFill>
                <a:latin typeface="Arial"/>
                <a:cs typeface="Arial"/>
              </a:rPr>
              <a:t> </a:t>
            </a:r>
            <a:r>
              <a:rPr sz="2000" spc="20" dirty="0">
                <a:solidFill>
                  <a:srgbClr val="FFFFFF"/>
                </a:solidFill>
                <a:latin typeface="Arial"/>
                <a:cs typeface="Arial"/>
              </a:rPr>
              <a:t>on</a:t>
            </a:r>
            <a:r>
              <a:rPr sz="2000" spc="-120" dirty="0">
                <a:solidFill>
                  <a:srgbClr val="FFFFFF"/>
                </a:solidFill>
                <a:latin typeface="Arial"/>
                <a:cs typeface="Arial"/>
              </a:rPr>
              <a:t> </a:t>
            </a:r>
            <a:r>
              <a:rPr sz="2000" dirty="0">
                <a:solidFill>
                  <a:srgbClr val="FFFFFF"/>
                </a:solidFill>
                <a:latin typeface="Arial"/>
                <a:cs typeface="Arial"/>
              </a:rPr>
              <a:t>the</a:t>
            </a:r>
            <a:r>
              <a:rPr sz="2000" spc="-125" dirty="0">
                <a:solidFill>
                  <a:srgbClr val="FFFFFF"/>
                </a:solidFill>
                <a:latin typeface="Arial"/>
                <a:cs typeface="Arial"/>
              </a:rPr>
              <a:t> </a:t>
            </a:r>
            <a:r>
              <a:rPr sz="2000" spc="-60" dirty="0">
                <a:solidFill>
                  <a:srgbClr val="FFFFFF"/>
                </a:solidFill>
                <a:latin typeface="Arial"/>
                <a:cs typeface="Arial"/>
              </a:rPr>
              <a:t>data</a:t>
            </a:r>
            <a:r>
              <a:rPr sz="2000" spc="-125" dirty="0">
                <a:solidFill>
                  <a:srgbClr val="FFFFFF"/>
                </a:solidFill>
                <a:latin typeface="Arial"/>
                <a:cs typeface="Arial"/>
              </a:rPr>
              <a:t> </a:t>
            </a:r>
            <a:r>
              <a:rPr sz="2000" spc="30" dirty="0">
                <a:solidFill>
                  <a:srgbClr val="FFFFFF"/>
                </a:solidFill>
                <a:latin typeface="Arial"/>
                <a:cs typeface="Arial"/>
              </a:rPr>
              <a:t>that</a:t>
            </a:r>
            <a:r>
              <a:rPr sz="2000" spc="-120" dirty="0">
                <a:solidFill>
                  <a:srgbClr val="FFFFFF"/>
                </a:solidFill>
                <a:latin typeface="Arial"/>
                <a:cs typeface="Arial"/>
              </a:rPr>
              <a:t> </a:t>
            </a:r>
            <a:r>
              <a:rPr sz="2000" spc="-50" dirty="0">
                <a:solidFill>
                  <a:srgbClr val="FFFFFF"/>
                </a:solidFill>
                <a:latin typeface="Arial"/>
                <a:cs typeface="Arial"/>
              </a:rPr>
              <a:t>is</a:t>
            </a:r>
            <a:r>
              <a:rPr sz="2000" spc="-135" dirty="0">
                <a:solidFill>
                  <a:srgbClr val="FFFFFF"/>
                </a:solidFill>
                <a:latin typeface="Arial"/>
                <a:cs typeface="Arial"/>
              </a:rPr>
              <a:t> </a:t>
            </a:r>
            <a:r>
              <a:rPr sz="2000" spc="-40" dirty="0">
                <a:solidFill>
                  <a:srgbClr val="FFFFFF"/>
                </a:solidFill>
                <a:latin typeface="Arial"/>
                <a:cs typeface="Arial"/>
              </a:rPr>
              <a:t>entered</a:t>
            </a:r>
            <a:r>
              <a:rPr sz="2000" spc="-105"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spc="20" dirty="0">
                <a:solidFill>
                  <a:srgbClr val="FFFFFF"/>
                </a:solidFill>
                <a:latin typeface="Arial"/>
                <a:cs typeface="Arial"/>
              </a:rPr>
              <a:t>SQL</a:t>
            </a:r>
            <a:r>
              <a:rPr sz="2000" spc="-135" dirty="0">
                <a:solidFill>
                  <a:srgbClr val="FFFFFF"/>
                </a:solidFill>
                <a:latin typeface="Arial"/>
                <a:cs typeface="Arial"/>
              </a:rPr>
              <a:t> </a:t>
            </a:r>
            <a:r>
              <a:rPr sz="2000" spc="-50" dirty="0">
                <a:solidFill>
                  <a:srgbClr val="FFFFFF"/>
                </a:solidFill>
                <a:latin typeface="Arial"/>
                <a:cs typeface="Arial"/>
              </a:rPr>
              <a:t>Server</a:t>
            </a:r>
            <a:r>
              <a:rPr sz="2000" spc="-114" dirty="0">
                <a:solidFill>
                  <a:srgbClr val="FFFFFF"/>
                </a:solidFill>
                <a:latin typeface="Arial"/>
                <a:cs typeface="Arial"/>
              </a:rPr>
              <a:t> </a:t>
            </a:r>
            <a:r>
              <a:rPr sz="2000" spc="-100" dirty="0">
                <a:solidFill>
                  <a:srgbClr val="FFFFFF"/>
                </a:solidFill>
                <a:latin typeface="Arial"/>
                <a:cs typeface="Arial"/>
              </a:rPr>
              <a:t>database.</a:t>
            </a:r>
            <a:endParaRPr sz="2000">
              <a:latin typeface="Arial"/>
              <a:cs typeface="Arial"/>
            </a:endParaRPr>
          </a:p>
        </p:txBody>
      </p:sp>
      <p:grpSp>
        <p:nvGrpSpPr>
          <p:cNvPr id="7" name="object 7"/>
          <p:cNvGrpSpPr/>
          <p:nvPr/>
        </p:nvGrpSpPr>
        <p:grpSpPr>
          <a:xfrm>
            <a:off x="377952" y="2946654"/>
            <a:ext cx="8228965" cy="3077210"/>
            <a:chOff x="377952" y="2946654"/>
            <a:chExt cx="8228965" cy="3077210"/>
          </a:xfrm>
        </p:grpSpPr>
        <p:pic>
          <p:nvPicPr>
            <p:cNvPr id="8" name="object 8"/>
            <p:cNvPicPr/>
            <p:nvPr/>
          </p:nvPicPr>
          <p:blipFill>
            <a:blip r:embed="rId5" cstate="print"/>
            <a:stretch>
              <a:fillRect/>
            </a:stretch>
          </p:blipFill>
          <p:spPr>
            <a:xfrm>
              <a:off x="377952" y="2946654"/>
              <a:ext cx="8228838" cy="3076956"/>
            </a:xfrm>
            <a:prstGeom prst="rect">
              <a:avLst/>
            </a:prstGeom>
          </p:spPr>
        </p:pic>
        <p:pic>
          <p:nvPicPr>
            <p:cNvPr id="9" name="object 9"/>
            <p:cNvPicPr/>
            <p:nvPr/>
          </p:nvPicPr>
          <p:blipFill>
            <a:blip r:embed="rId6" cstate="print"/>
            <a:stretch>
              <a:fillRect/>
            </a:stretch>
          </p:blipFill>
          <p:spPr>
            <a:xfrm>
              <a:off x="419100" y="2964942"/>
              <a:ext cx="8153400" cy="3001517"/>
            </a:xfrm>
            <a:prstGeom prst="rect">
              <a:avLst/>
            </a:prstGeom>
          </p:spPr>
        </p:pic>
      </p:grpSp>
      <p:sp>
        <p:nvSpPr>
          <p:cNvPr id="10" name="object 10"/>
          <p:cNvSpPr txBox="1"/>
          <p:nvPr/>
        </p:nvSpPr>
        <p:spPr>
          <a:xfrm>
            <a:off x="482600" y="3377183"/>
            <a:ext cx="5918200" cy="2294859"/>
          </a:xfrm>
          <a:prstGeom prst="rect">
            <a:avLst/>
          </a:prstGeom>
        </p:spPr>
        <p:txBody>
          <a:bodyPr vert="horz" wrap="square" lIns="0" tIns="12065" rIns="0" bIns="0" rtlCol="0">
            <a:spAutoFit/>
          </a:bodyPr>
          <a:lstStyle/>
          <a:p>
            <a:pPr marL="120650">
              <a:lnSpc>
                <a:spcPts val="2310"/>
              </a:lnSpc>
              <a:spcBef>
                <a:spcPts val="95"/>
              </a:spcBef>
            </a:pPr>
            <a:r>
              <a:rPr sz="2000" spc="20" dirty="0">
                <a:solidFill>
                  <a:srgbClr val="FFFFFF"/>
                </a:solidFill>
                <a:latin typeface="Arial"/>
                <a:cs typeface="Arial"/>
              </a:rPr>
              <a:t>The </a:t>
            </a:r>
            <a:r>
              <a:rPr sz="2000" spc="-15" dirty="0">
                <a:solidFill>
                  <a:srgbClr val="FFFFFF"/>
                </a:solidFill>
                <a:latin typeface="Arial"/>
                <a:cs typeface="Arial"/>
              </a:rPr>
              <a:t>Transact-SQL </a:t>
            </a:r>
            <a:r>
              <a:rPr sz="2000" spc="-80">
                <a:solidFill>
                  <a:srgbClr val="FFFFFF"/>
                </a:solidFill>
                <a:latin typeface="Arial"/>
                <a:cs typeface="Arial"/>
              </a:rPr>
              <a:t>language </a:t>
            </a:r>
            <a:r>
              <a:rPr sz="2000" spc="-60">
                <a:solidFill>
                  <a:srgbClr val="FFFFFF"/>
                </a:solidFill>
                <a:latin typeface="Arial"/>
                <a:cs typeface="Arial"/>
              </a:rPr>
              <a:t>elements</a:t>
            </a:r>
            <a:r>
              <a:rPr lang="en-US" sz="2000" spc="-60">
                <a:solidFill>
                  <a:srgbClr val="FFFFFF"/>
                </a:solidFill>
                <a:latin typeface="Arial"/>
                <a:cs typeface="Arial"/>
              </a:rPr>
              <a:t> </a:t>
            </a:r>
            <a:r>
              <a:rPr sz="2000" spc="-420">
                <a:solidFill>
                  <a:srgbClr val="FFFFFF"/>
                </a:solidFill>
                <a:latin typeface="Arial"/>
                <a:cs typeface="Arial"/>
              </a:rPr>
              <a:t> </a:t>
            </a:r>
            <a:r>
              <a:rPr sz="2000" spc="-20" dirty="0">
                <a:solidFill>
                  <a:srgbClr val="FFFFFF"/>
                </a:solidFill>
                <a:latin typeface="Arial"/>
                <a:cs typeface="Arial"/>
              </a:rPr>
              <a:t>includes:</a:t>
            </a:r>
            <a:endParaRPr sz="2000">
              <a:latin typeface="Arial"/>
              <a:cs typeface="Arial"/>
            </a:endParaRPr>
          </a:p>
          <a:p>
            <a:pPr marL="355600" indent="-342900">
              <a:lnSpc>
                <a:spcPts val="1960"/>
              </a:lnSpc>
              <a:buClr>
                <a:srgbClr val="000000"/>
              </a:buClr>
              <a:buChar char="•"/>
              <a:tabLst>
                <a:tab pos="354965" algn="l"/>
                <a:tab pos="355600" algn="l"/>
              </a:tabLst>
            </a:pPr>
            <a:r>
              <a:rPr sz="1800" spc="-65" dirty="0">
                <a:solidFill>
                  <a:srgbClr val="FFFFFF"/>
                </a:solidFill>
                <a:latin typeface="Arial"/>
                <a:cs typeface="Arial"/>
              </a:rPr>
              <a:t>Predicates</a:t>
            </a:r>
            <a:endParaRPr sz="1800">
              <a:latin typeface="Arial"/>
              <a:cs typeface="Arial"/>
            </a:endParaRPr>
          </a:p>
          <a:p>
            <a:pPr marL="298450" indent="-285750">
              <a:lnSpc>
                <a:spcPts val="1945"/>
              </a:lnSpc>
              <a:buClr>
                <a:srgbClr val="000000"/>
              </a:buClr>
              <a:buChar char="•"/>
              <a:tabLst>
                <a:tab pos="297815" algn="l"/>
                <a:tab pos="298450" algn="l"/>
              </a:tabLst>
            </a:pPr>
            <a:r>
              <a:rPr sz="1800" spc="-20" dirty="0">
                <a:solidFill>
                  <a:srgbClr val="FFFFFF"/>
                </a:solidFill>
                <a:latin typeface="Arial"/>
                <a:cs typeface="Arial"/>
              </a:rPr>
              <a:t>Operators</a:t>
            </a:r>
            <a:endParaRPr sz="1800">
              <a:latin typeface="Arial"/>
              <a:cs typeface="Arial"/>
            </a:endParaRPr>
          </a:p>
          <a:p>
            <a:pPr marL="298450" indent="-285750">
              <a:lnSpc>
                <a:spcPts val="1945"/>
              </a:lnSpc>
              <a:buClr>
                <a:srgbClr val="000000"/>
              </a:buClr>
              <a:buChar char="•"/>
              <a:tabLst>
                <a:tab pos="297815" algn="l"/>
                <a:tab pos="298450" algn="l"/>
              </a:tabLst>
            </a:pPr>
            <a:r>
              <a:rPr sz="1800" spc="-5" dirty="0">
                <a:solidFill>
                  <a:srgbClr val="FFFFFF"/>
                </a:solidFill>
                <a:latin typeface="Arial"/>
                <a:cs typeface="Arial"/>
              </a:rPr>
              <a:t>Functions</a:t>
            </a:r>
            <a:endParaRPr sz="1800">
              <a:latin typeface="Arial"/>
              <a:cs typeface="Arial"/>
            </a:endParaRPr>
          </a:p>
          <a:p>
            <a:pPr marL="298450" indent="-285750">
              <a:lnSpc>
                <a:spcPts val="1945"/>
              </a:lnSpc>
              <a:buClr>
                <a:srgbClr val="000000"/>
              </a:buClr>
              <a:buChar char="•"/>
              <a:tabLst>
                <a:tab pos="297815" algn="l"/>
                <a:tab pos="298450" algn="l"/>
              </a:tabLst>
            </a:pPr>
            <a:r>
              <a:rPr sz="1800" spc="-20" dirty="0">
                <a:solidFill>
                  <a:srgbClr val="FFFFFF"/>
                </a:solidFill>
                <a:latin typeface="Arial"/>
                <a:cs typeface="Arial"/>
              </a:rPr>
              <a:t>Variables</a:t>
            </a:r>
            <a:endParaRPr sz="1800">
              <a:latin typeface="Arial"/>
              <a:cs typeface="Arial"/>
            </a:endParaRPr>
          </a:p>
          <a:p>
            <a:pPr marL="298450" indent="-285750">
              <a:lnSpc>
                <a:spcPts val="1945"/>
              </a:lnSpc>
              <a:buClr>
                <a:srgbClr val="000000"/>
              </a:buClr>
              <a:buChar char="•"/>
              <a:tabLst>
                <a:tab pos="297815" algn="l"/>
                <a:tab pos="298450" algn="l"/>
              </a:tabLst>
            </a:pPr>
            <a:r>
              <a:rPr sz="1800" spc="-50" dirty="0">
                <a:solidFill>
                  <a:srgbClr val="FFFFFF"/>
                </a:solidFill>
                <a:latin typeface="Arial"/>
                <a:cs typeface="Arial"/>
              </a:rPr>
              <a:t>Expressions</a:t>
            </a:r>
            <a:endParaRPr sz="1800">
              <a:latin typeface="Arial"/>
              <a:cs typeface="Arial"/>
            </a:endParaRPr>
          </a:p>
          <a:p>
            <a:pPr marL="298450" indent="-285750">
              <a:lnSpc>
                <a:spcPts val="1945"/>
              </a:lnSpc>
              <a:buClr>
                <a:srgbClr val="000000"/>
              </a:buClr>
              <a:buChar char="•"/>
              <a:tabLst>
                <a:tab pos="297815" algn="l"/>
                <a:tab pos="298450" algn="l"/>
              </a:tabLst>
            </a:pPr>
            <a:r>
              <a:rPr sz="1800" spc="40" dirty="0">
                <a:solidFill>
                  <a:srgbClr val="FFFFFF"/>
                </a:solidFill>
                <a:latin typeface="Arial"/>
                <a:cs typeface="Arial"/>
              </a:rPr>
              <a:t>control-of-flow</a:t>
            </a:r>
            <a:endParaRPr sz="1800">
              <a:latin typeface="Arial"/>
              <a:cs typeface="Arial"/>
            </a:endParaRPr>
          </a:p>
          <a:p>
            <a:pPr marL="298450" indent="-285750">
              <a:lnSpc>
                <a:spcPts val="1945"/>
              </a:lnSpc>
              <a:buClr>
                <a:srgbClr val="000000"/>
              </a:buClr>
              <a:buChar char="•"/>
              <a:tabLst>
                <a:tab pos="297815" algn="l"/>
                <a:tab pos="298450" algn="l"/>
              </a:tabLst>
            </a:pPr>
            <a:r>
              <a:rPr sz="1800" spc="-20" dirty="0">
                <a:solidFill>
                  <a:srgbClr val="FFFFFF"/>
                </a:solidFill>
                <a:latin typeface="Arial"/>
                <a:cs typeface="Arial"/>
              </a:rPr>
              <a:t>Errors</a:t>
            </a:r>
            <a:r>
              <a:rPr sz="1800" spc="-114" dirty="0">
                <a:solidFill>
                  <a:srgbClr val="FFFFFF"/>
                </a:solidFill>
                <a:latin typeface="Arial"/>
                <a:cs typeface="Arial"/>
              </a:rPr>
              <a:t> </a:t>
            </a:r>
            <a:r>
              <a:rPr sz="1800" spc="-40" dirty="0">
                <a:solidFill>
                  <a:srgbClr val="FFFFFF"/>
                </a:solidFill>
                <a:latin typeface="Arial"/>
                <a:cs typeface="Arial"/>
              </a:rPr>
              <a:t>and</a:t>
            </a:r>
            <a:endParaRPr sz="1800">
              <a:latin typeface="Arial"/>
              <a:cs typeface="Arial"/>
            </a:endParaRPr>
          </a:p>
          <a:p>
            <a:pPr marL="298450" indent="-285750">
              <a:lnSpc>
                <a:spcPts val="2050"/>
              </a:lnSpc>
              <a:buClr>
                <a:srgbClr val="000000"/>
              </a:buClr>
              <a:buChar char="•"/>
              <a:tabLst>
                <a:tab pos="297815" algn="l"/>
                <a:tab pos="298450" algn="l"/>
              </a:tabLst>
            </a:pPr>
            <a:r>
              <a:rPr lang="en-US" sz="1800" spc="-30">
                <a:solidFill>
                  <a:srgbClr val="FFFFFF"/>
                </a:solidFill>
                <a:latin typeface="Arial"/>
                <a:cs typeface="Arial"/>
              </a:rPr>
              <a:t>T</a:t>
            </a:r>
            <a:r>
              <a:rPr sz="1800" spc="-30">
                <a:solidFill>
                  <a:srgbClr val="FFFFFF"/>
                </a:solidFill>
                <a:latin typeface="Arial"/>
                <a:cs typeface="Arial"/>
              </a:rPr>
              <a:t>ransactions</a:t>
            </a:r>
            <a:r>
              <a:rPr sz="1800" spc="-30" dirty="0">
                <a:solidFill>
                  <a:srgbClr val="FFFFFF"/>
                </a:solidFill>
                <a:latin typeface="Arial"/>
                <a:cs typeface="Arial"/>
              </a:rPr>
              <a:t>, </a:t>
            </a:r>
            <a:r>
              <a:rPr sz="1800" spc="-40" dirty="0">
                <a:solidFill>
                  <a:srgbClr val="FFFFFF"/>
                </a:solidFill>
                <a:latin typeface="Arial"/>
                <a:cs typeface="Arial"/>
              </a:rPr>
              <a:t>comments, </a:t>
            </a:r>
            <a:r>
              <a:rPr sz="1800" spc="-35" dirty="0">
                <a:solidFill>
                  <a:srgbClr val="FFFFFF"/>
                </a:solidFill>
                <a:latin typeface="Arial"/>
                <a:cs typeface="Arial"/>
              </a:rPr>
              <a:t>and </a:t>
            </a:r>
            <a:r>
              <a:rPr sz="1800" spc="-25" dirty="0">
                <a:solidFill>
                  <a:srgbClr val="FFFFFF"/>
                </a:solidFill>
                <a:latin typeface="Arial"/>
                <a:cs typeface="Arial"/>
              </a:rPr>
              <a:t>batch</a:t>
            </a:r>
            <a:r>
              <a:rPr sz="1800" spc="-370" dirty="0">
                <a:solidFill>
                  <a:srgbClr val="FFFFFF"/>
                </a:solidFill>
                <a:latin typeface="Arial"/>
                <a:cs typeface="Arial"/>
              </a:rPr>
              <a:t> </a:t>
            </a:r>
            <a:r>
              <a:rPr sz="1800" spc="-65" dirty="0">
                <a:solidFill>
                  <a:srgbClr val="FFFFFF"/>
                </a:solidFill>
                <a:latin typeface="Arial"/>
                <a:cs typeface="Arial"/>
              </a:rPr>
              <a:t>separators.</a:t>
            </a:r>
            <a:endParaRPr sz="18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13</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493"/>
            <a:ext cx="6194425" cy="635635"/>
          </a:xfrm>
          <a:prstGeom prst="rect">
            <a:avLst/>
          </a:prstGeom>
        </p:spPr>
        <p:txBody>
          <a:bodyPr vert="horz" wrap="square" lIns="0" tIns="12700" rIns="0" bIns="0" rtlCol="0">
            <a:spAutoFit/>
          </a:bodyPr>
          <a:lstStyle/>
          <a:p>
            <a:pPr marL="12700">
              <a:lnSpc>
                <a:spcPct val="100000"/>
              </a:lnSpc>
              <a:spcBef>
                <a:spcPts val="100"/>
              </a:spcBef>
            </a:pPr>
            <a:r>
              <a:rPr sz="4000" spc="-145" dirty="0">
                <a:solidFill>
                  <a:srgbClr val="FFFFFF"/>
                </a:solidFill>
                <a:latin typeface="Arial"/>
                <a:cs typeface="Arial"/>
              </a:rPr>
              <a:t>Predicates </a:t>
            </a:r>
            <a:r>
              <a:rPr sz="4000" spc="-75" dirty="0">
                <a:solidFill>
                  <a:srgbClr val="FFFFFF"/>
                </a:solidFill>
                <a:latin typeface="Arial"/>
                <a:cs typeface="Arial"/>
              </a:rPr>
              <a:t>and </a:t>
            </a:r>
            <a:r>
              <a:rPr sz="4000" spc="-35" dirty="0">
                <a:solidFill>
                  <a:srgbClr val="FFFFFF"/>
                </a:solidFill>
                <a:latin typeface="Arial"/>
                <a:cs typeface="Arial"/>
              </a:rPr>
              <a:t>Operators</a:t>
            </a:r>
            <a:r>
              <a:rPr sz="4000" spc="-610" dirty="0">
                <a:solidFill>
                  <a:srgbClr val="FFFFFF"/>
                </a:solidFill>
                <a:latin typeface="Arial"/>
                <a:cs typeface="Arial"/>
              </a:rPr>
              <a:t> </a:t>
            </a:r>
            <a:r>
              <a:rPr sz="4000" spc="-395" dirty="0">
                <a:solidFill>
                  <a:srgbClr val="FFFFFF"/>
                </a:solidFill>
                <a:latin typeface="Arial"/>
                <a:cs typeface="Arial"/>
              </a:rPr>
              <a:t>1-2</a:t>
            </a:r>
            <a:endParaRPr sz="4000">
              <a:latin typeface="Arial"/>
              <a:cs typeface="Arial"/>
            </a:endParaRPr>
          </a:p>
        </p:txBody>
      </p:sp>
      <p:grpSp>
        <p:nvGrpSpPr>
          <p:cNvPr id="3" name="object 3"/>
          <p:cNvGrpSpPr/>
          <p:nvPr/>
        </p:nvGrpSpPr>
        <p:grpSpPr>
          <a:xfrm>
            <a:off x="454151" y="927366"/>
            <a:ext cx="8228965" cy="913765"/>
            <a:chOff x="454151" y="927366"/>
            <a:chExt cx="8228965" cy="913765"/>
          </a:xfrm>
        </p:grpSpPr>
        <p:pic>
          <p:nvPicPr>
            <p:cNvPr id="4" name="object 4"/>
            <p:cNvPicPr/>
            <p:nvPr/>
          </p:nvPicPr>
          <p:blipFill>
            <a:blip r:embed="rId3" cstate="print"/>
            <a:stretch>
              <a:fillRect/>
            </a:stretch>
          </p:blipFill>
          <p:spPr>
            <a:xfrm>
              <a:off x="454151" y="927366"/>
              <a:ext cx="8228838" cy="913625"/>
            </a:xfrm>
            <a:prstGeom prst="rect">
              <a:avLst/>
            </a:prstGeom>
          </p:spPr>
        </p:pic>
        <p:pic>
          <p:nvPicPr>
            <p:cNvPr id="5" name="object 5"/>
            <p:cNvPicPr/>
            <p:nvPr/>
          </p:nvPicPr>
          <p:blipFill>
            <a:blip r:embed="rId4" cstate="print"/>
            <a:stretch>
              <a:fillRect/>
            </a:stretch>
          </p:blipFill>
          <p:spPr>
            <a:xfrm>
              <a:off x="495299" y="945642"/>
              <a:ext cx="8153400" cy="838200"/>
            </a:xfrm>
            <a:prstGeom prst="rect">
              <a:avLst/>
            </a:prstGeom>
          </p:spPr>
        </p:pic>
      </p:grpSp>
      <p:sp>
        <p:nvSpPr>
          <p:cNvPr id="6" name="object 6"/>
          <p:cNvSpPr txBox="1"/>
          <p:nvPr/>
        </p:nvSpPr>
        <p:spPr>
          <a:xfrm>
            <a:off x="643636" y="1065530"/>
            <a:ext cx="7857490" cy="635000"/>
          </a:xfrm>
          <a:prstGeom prst="rect">
            <a:avLst/>
          </a:prstGeom>
        </p:spPr>
        <p:txBody>
          <a:bodyPr vert="horz" wrap="square" lIns="0" tIns="12065" rIns="0" bIns="0" rtlCol="0">
            <a:spAutoFit/>
          </a:bodyPr>
          <a:lstStyle/>
          <a:p>
            <a:pPr marL="12700" marR="5080">
              <a:lnSpc>
                <a:spcPct val="100000"/>
              </a:lnSpc>
              <a:spcBef>
                <a:spcPts val="95"/>
              </a:spcBef>
            </a:pPr>
            <a:r>
              <a:rPr sz="2000" spc="-75" dirty="0">
                <a:solidFill>
                  <a:srgbClr val="FFFFFF"/>
                </a:solidFill>
                <a:latin typeface="Arial"/>
                <a:cs typeface="Arial"/>
              </a:rPr>
              <a:t>Predicates</a:t>
            </a:r>
            <a:r>
              <a:rPr sz="2000" spc="-105" dirty="0">
                <a:solidFill>
                  <a:srgbClr val="FFFFFF"/>
                </a:solidFill>
                <a:latin typeface="Arial"/>
                <a:cs typeface="Arial"/>
              </a:rPr>
              <a:t> </a:t>
            </a:r>
            <a:r>
              <a:rPr sz="2000" spc="-95" dirty="0">
                <a:solidFill>
                  <a:srgbClr val="FFFFFF"/>
                </a:solidFill>
                <a:latin typeface="Arial"/>
                <a:cs typeface="Arial"/>
              </a:rPr>
              <a:t>are</a:t>
            </a:r>
            <a:r>
              <a:rPr sz="2000" spc="-110" dirty="0">
                <a:solidFill>
                  <a:srgbClr val="FFFFFF"/>
                </a:solidFill>
                <a:latin typeface="Arial"/>
                <a:cs typeface="Arial"/>
              </a:rPr>
              <a:t> </a:t>
            </a:r>
            <a:r>
              <a:rPr sz="2000" spc="-85" dirty="0">
                <a:solidFill>
                  <a:srgbClr val="FFFFFF"/>
                </a:solidFill>
                <a:latin typeface="Arial"/>
                <a:cs typeface="Arial"/>
              </a:rPr>
              <a:t>used</a:t>
            </a:r>
            <a:r>
              <a:rPr sz="2000" spc="-105" dirty="0">
                <a:solidFill>
                  <a:srgbClr val="FFFFFF"/>
                </a:solidFill>
                <a:latin typeface="Arial"/>
                <a:cs typeface="Arial"/>
              </a:rPr>
              <a:t> </a:t>
            </a:r>
            <a:r>
              <a:rPr sz="2000" spc="55" dirty="0">
                <a:solidFill>
                  <a:srgbClr val="FFFFFF"/>
                </a:solidFill>
                <a:latin typeface="Arial"/>
                <a:cs typeface="Arial"/>
              </a:rPr>
              <a:t>to</a:t>
            </a:r>
            <a:r>
              <a:rPr sz="2000" spc="-105" dirty="0">
                <a:solidFill>
                  <a:srgbClr val="FFFFFF"/>
                </a:solidFill>
                <a:latin typeface="Arial"/>
                <a:cs typeface="Arial"/>
              </a:rPr>
              <a:t> </a:t>
            </a:r>
            <a:r>
              <a:rPr sz="2000" spc="-55" dirty="0">
                <a:solidFill>
                  <a:srgbClr val="FFFFFF"/>
                </a:solidFill>
                <a:latin typeface="Arial"/>
                <a:cs typeface="Arial"/>
              </a:rPr>
              <a:t>evaluate</a:t>
            </a:r>
            <a:r>
              <a:rPr sz="2000" spc="-100" dirty="0">
                <a:solidFill>
                  <a:srgbClr val="FFFFFF"/>
                </a:solidFill>
                <a:latin typeface="Arial"/>
                <a:cs typeface="Arial"/>
              </a:rPr>
              <a:t> </a:t>
            </a:r>
            <a:r>
              <a:rPr sz="2000" dirty="0">
                <a:solidFill>
                  <a:srgbClr val="FFFFFF"/>
                </a:solidFill>
                <a:latin typeface="Arial"/>
                <a:cs typeface="Arial"/>
              </a:rPr>
              <a:t>whether</a:t>
            </a:r>
            <a:r>
              <a:rPr sz="2000" spc="-95" dirty="0">
                <a:solidFill>
                  <a:srgbClr val="FFFFFF"/>
                </a:solidFill>
                <a:latin typeface="Arial"/>
                <a:cs typeface="Arial"/>
              </a:rPr>
              <a:t> </a:t>
            </a:r>
            <a:r>
              <a:rPr sz="2000" spc="-65" dirty="0">
                <a:solidFill>
                  <a:srgbClr val="FFFFFF"/>
                </a:solidFill>
                <a:latin typeface="Arial"/>
                <a:cs typeface="Arial"/>
              </a:rPr>
              <a:t>an</a:t>
            </a:r>
            <a:r>
              <a:rPr sz="2000" spc="-95" dirty="0">
                <a:solidFill>
                  <a:srgbClr val="FFFFFF"/>
                </a:solidFill>
                <a:latin typeface="Arial"/>
                <a:cs typeface="Arial"/>
              </a:rPr>
              <a:t> </a:t>
            </a:r>
            <a:r>
              <a:rPr sz="2000" spc="-45" dirty="0">
                <a:solidFill>
                  <a:srgbClr val="FFFFFF"/>
                </a:solidFill>
                <a:latin typeface="Arial"/>
                <a:cs typeface="Arial"/>
              </a:rPr>
              <a:t>expression</a:t>
            </a:r>
            <a:r>
              <a:rPr sz="2000" spc="-95" dirty="0">
                <a:solidFill>
                  <a:srgbClr val="FFFFFF"/>
                </a:solidFill>
                <a:latin typeface="Arial"/>
                <a:cs typeface="Arial"/>
              </a:rPr>
              <a:t> </a:t>
            </a:r>
            <a:r>
              <a:rPr sz="2000" spc="-50" dirty="0">
                <a:solidFill>
                  <a:srgbClr val="FFFFFF"/>
                </a:solidFill>
                <a:latin typeface="Arial"/>
                <a:cs typeface="Arial"/>
              </a:rPr>
              <a:t>is</a:t>
            </a:r>
            <a:r>
              <a:rPr sz="2000" spc="-110" dirty="0">
                <a:solidFill>
                  <a:srgbClr val="FFFFFF"/>
                </a:solidFill>
                <a:latin typeface="Arial"/>
                <a:cs typeface="Arial"/>
              </a:rPr>
              <a:t> </a:t>
            </a:r>
            <a:r>
              <a:rPr sz="2000" spc="30" dirty="0">
                <a:solidFill>
                  <a:srgbClr val="FFFFFF"/>
                </a:solidFill>
                <a:latin typeface="Arial"/>
                <a:cs typeface="Arial"/>
              </a:rPr>
              <a:t>TRUE,</a:t>
            </a:r>
            <a:r>
              <a:rPr sz="2000" spc="-105" dirty="0">
                <a:solidFill>
                  <a:srgbClr val="FFFFFF"/>
                </a:solidFill>
                <a:latin typeface="Arial"/>
                <a:cs typeface="Arial"/>
              </a:rPr>
              <a:t> </a:t>
            </a:r>
            <a:r>
              <a:rPr sz="2000" spc="-10" dirty="0">
                <a:solidFill>
                  <a:srgbClr val="FFFFFF"/>
                </a:solidFill>
                <a:latin typeface="Arial"/>
                <a:cs typeface="Arial"/>
              </a:rPr>
              <a:t>FALSE,  </a:t>
            </a:r>
            <a:r>
              <a:rPr sz="2000" spc="30" dirty="0">
                <a:solidFill>
                  <a:srgbClr val="FFFFFF"/>
                </a:solidFill>
                <a:latin typeface="Arial"/>
                <a:cs typeface="Arial"/>
              </a:rPr>
              <a:t>or</a:t>
            </a:r>
            <a:r>
              <a:rPr sz="2000" spc="-130" dirty="0">
                <a:solidFill>
                  <a:srgbClr val="FFFFFF"/>
                </a:solidFill>
                <a:latin typeface="Arial"/>
                <a:cs typeface="Arial"/>
              </a:rPr>
              <a:t> </a:t>
            </a:r>
            <a:r>
              <a:rPr sz="2000" spc="145" dirty="0">
                <a:solidFill>
                  <a:srgbClr val="FFFFFF"/>
                </a:solidFill>
                <a:latin typeface="Arial"/>
                <a:cs typeface="Arial"/>
              </a:rPr>
              <a:t>UNKNOWN.</a:t>
            </a:r>
            <a:endParaRPr sz="2000">
              <a:latin typeface="Arial"/>
              <a:cs typeface="Arial"/>
            </a:endParaRPr>
          </a:p>
        </p:txBody>
      </p:sp>
      <p:pic>
        <p:nvPicPr>
          <p:cNvPr id="7" name="object 7"/>
          <p:cNvPicPr/>
          <p:nvPr/>
        </p:nvPicPr>
        <p:blipFill>
          <a:blip r:embed="rId5" cstate="print"/>
          <a:stretch>
            <a:fillRect/>
          </a:stretch>
        </p:blipFill>
        <p:spPr>
          <a:xfrm>
            <a:off x="1175003" y="2062733"/>
            <a:ext cx="6793992" cy="3712464"/>
          </a:xfrm>
          <a:prstGeom prst="rect">
            <a:avLst/>
          </a:prstGeom>
        </p:spPr>
      </p:pic>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14</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259195" cy="635635"/>
          </a:xfrm>
          <a:prstGeom prst="rect">
            <a:avLst/>
          </a:prstGeom>
        </p:spPr>
        <p:txBody>
          <a:bodyPr vert="horz" wrap="square" lIns="0" tIns="12700" rIns="0" bIns="0" rtlCol="0">
            <a:spAutoFit/>
          </a:bodyPr>
          <a:lstStyle/>
          <a:p>
            <a:pPr marL="12700">
              <a:lnSpc>
                <a:spcPct val="100000"/>
              </a:lnSpc>
              <a:spcBef>
                <a:spcPts val="100"/>
              </a:spcBef>
            </a:pPr>
            <a:r>
              <a:rPr spc="-145" dirty="0"/>
              <a:t>Predicates </a:t>
            </a:r>
            <a:r>
              <a:rPr spc="-75" dirty="0"/>
              <a:t>and </a:t>
            </a:r>
            <a:r>
              <a:rPr spc="-35" dirty="0"/>
              <a:t>Operators</a:t>
            </a:r>
            <a:r>
              <a:rPr spc="-615" dirty="0"/>
              <a:t> </a:t>
            </a:r>
            <a:r>
              <a:rPr spc="-225" dirty="0"/>
              <a:t>2-2</a:t>
            </a:r>
          </a:p>
        </p:txBody>
      </p:sp>
      <p:pic>
        <p:nvPicPr>
          <p:cNvPr id="3" name="object 3"/>
          <p:cNvPicPr/>
          <p:nvPr/>
        </p:nvPicPr>
        <p:blipFill>
          <a:blip r:embed="rId3" cstate="print"/>
          <a:stretch>
            <a:fillRect/>
          </a:stretch>
        </p:blipFill>
        <p:spPr>
          <a:xfrm>
            <a:off x="1434846" y="783336"/>
            <a:ext cx="6358889" cy="2391918"/>
          </a:xfrm>
          <a:prstGeom prst="rect">
            <a:avLst/>
          </a:prstGeom>
        </p:spPr>
      </p:pic>
      <p:sp>
        <p:nvSpPr>
          <p:cNvPr id="4" name="object 4"/>
          <p:cNvSpPr txBox="1"/>
          <p:nvPr/>
        </p:nvSpPr>
        <p:spPr>
          <a:xfrm>
            <a:off x="3590544" y="3173475"/>
            <a:ext cx="1483995" cy="238760"/>
          </a:xfrm>
          <a:prstGeom prst="rect">
            <a:avLst/>
          </a:prstGeom>
        </p:spPr>
        <p:txBody>
          <a:bodyPr vert="horz" wrap="square" lIns="0" tIns="12065" rIns="0" bIns="0" rtlCol="0">
            <a:spAutoFit/>
          </a:bodyPr>
          <a:lstStyle/>
          <a:p>
            <a:pPr marL="12700">
              <a:lnSpc>
                <a:spcPct val="100000"/>
              </a:lnSpc>
              <a:spcBef>
                <a:spcPts val="95"/>
              </a:spcBef>
            </a:pPr>
            <a:r>
              <a:rPr sz="1400" b="1" spc="-95" dirty="0">
                <a:latin typeface="Arial"/>
                <a:cs typeface="Arial"/>
              </a:rPr>
              <a:t>Predicate</a:t>
            </a:r>
            <a:r>
              <a:rPr sz="1400" b="1" spc="-160" dirty="0">
                <a:latin typeface="Arial"/>
                <a:cs typeface="Arial"/>
              </a:rPr>
              <a:t> </a:t>
            </a:r>
            <a:r>
              <a:rPr sz="1400" b="1" spc="-105" dirty="0">
                <a:latin typeface="Arial"/>
                <a:cs typeface="Arial"/>
              </a:rPr>
              <a:t>Examples</a:t>
            </a:r>
            <a:endParaRPr sz="1400">
              <a:latin typeface="Arial"/>
              <a:cs typeface="Arial"/>
            </a:endParaRPr>
          </a:p>
        </p:txBody>
      </p:sp>
      <p:pic>
        <p:nvPicPr>
          <p:cNvPr id="5" name="object 5"/>
          <p:cNvPicPr/>
          <p:nvPr/>
        </p:nvPicPr>
        <p:blipFill>
          <a:blip r:embed="rId4" cstate="print"/>
          <a:stretch>
            <a:fillRect/>
          </a:stretch>
        </p:blipFill>
        <p:spPr>
          <a:xfrm>
            <a:off x="1434846" y="3713988"/>
            <a:ext cx="6358889" cy="2360676"/>
          </a:xfrm>
          <a:prstGeom prst="rect">
            <a:avLst/>
          </a:prstGeom>
        </p:spPr>
      </p:pic>
      <p:sp>
        <p:nvSpPr>
          <p:cNvPr id="6" name="object 6"/>
          <p:cNvSpPr txBox="1"/>
          <p:nvPr/>
        </p:nvSpPr>
        <p:spPr>
          <a:xfrm>
            <a:off x="2950464" y="6073394"/>
            <a:ext cx="2991485" cy="238760"/>
          </a:xfrm>
          <a:prstGeom prst="rect">
            <a:avLst/>
          </a:prstGeom>
        </p:spPr>
        <p:txBody>
          <a:bodyPr vert="horz" wrap="square" lIns="0" tIns="12065" rIns="0" bIns="0" rtlCol="0">
            <a:spAutoFit/>
          </a:bodyPr>
          <a:lstStyle/>
          <a:p>
            <a:pPr marL="12700">
              <a:lnSpc>
                <a:spcPct val="100000"/>
              </a:lnSpc>
              <a:spcBef>
                <a:spcPts val="95"/>
              </a:spcBef>
            </a:pPr>
            <a:r>
              <a:rPr sz="1400" b="1" spc="-120" dirty="0">
                <a:latin typeface="Arial"/>
                <a:cs typeface="Arial"/>
              </a:rPr>
              <a:t>Precedence </a:t>
            </a:r>
            <a:r>
              <a:rPr sz="1400" b="1" spc="-45" dirty="0">
                <a:latin typeface="Arial"/>
                <a:cs typeface="Arial"/>
              </a:rPr>
              <a:t>of </a:t>
            </a:r>
            <a:r>
              <a:rPr sz="1400" b="1" spc="-110" dirty="0">
                <a:latin typeface="Arial"/>
                <a:cs typeface="Arial"/>
              </a:rPr>
              <a:t>Predicates </a:t>
            </a:r>
            <a:r>
              <a:rPr sz="1400" b="1" spc="-85" dirty="0">
                <a:latin typeface="Arial"/>
                <a:cs typeface="Arial"/>
              </a:rPr>
              <a:t>and</a:t>
            </a:r>
            <a:r>
              <a:rPr sz="1400" b="1" spc="-175" dirty="0">
                <a:latin typeface="Arial"/>
                <a:cs typeface="Arial"/>
              </a:rPr>
              <a:t> </a:t>
            </a:r>
            <a:r>
              <a:rPr sz="1400" b="1" spc="-80" dirty="0">
                <a:latin typeface="Arial"/>
                <a:cs typeface="Arial"/>
              </a:rPr>
              <a:t>Operators</a:t>
            </a:r>
            <a:endParaRPr sz="14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15</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7547" y="5054589"/>
            <a:ext cx="1149985" cy="563245"/>
          </a:xfrm>
          <a:prstGeom prst="rect">
            <a:avLst/>
          </a:prstGeom>
        </p:spPr>
        <p:txBody>
          <a:bodyPr vert="horz" wrap="square" lIns="0" tIns="52069" rIns="0" bIns="0" rtlCol="0">
            <a:spAutoFit/>
          </a:bodyPr>
          <a:lstStyle/>
          <a:p>
            <a:pPr>
              <a:lnSpc>
                <a:spcPct val="72100"/>
              </a:lnSpc>
              <a:spcBef>
                <a:spcPts val="409"/>
              </a:spcBef>
            </a:pPr>
            <a:r>
              <a:rPr sz="1400" b="1" spc="-70" dirty="0">
                <a:solidFill>
                  <a:srgbClr val="F1F1F1"/>
                </a:solidFill>
                <a:latin typeface="Arial"/>
                <a:cs typeface="Arial"/>
              </a:rPr>
              <a:t>Computerized  </a:t>
            </a:r>
            <a:r>
              <a:rPr sz="1400" b="1" spc="-95" dirty="0">
                <a:solidFill>
                  <a:srgbClr val="F1F1F1"/>
                </a:solidFill>
                <a:latin typeface="Arial"/>
                <a:cs typeface="Arial"/>
              </a:rPr>
              <a:t>parts</a:t>
            </a:r>
            <a:r>
              <a:rPr sz="1400" b="1" spc="-210" dirty="0">
                <a:solidFill>
                  <a:srgbClr val="F1F1F1"/>
                </a:solidFill>
                <a:latin typeface="Arial"/>
                <a:cs typeface="Arial"/>
              </a:rPr>
              <a:t> </a:t>
            </a:r>
            <a:r>
              <a:rPr sz="1400" b="1" spc="-55" dirty="0">
                <a:solidFill>
                  <a:srgbClr val="F1F1F1"/>
                </a:solidFill>
                <a:latin typeface="Arial"/>
                <a:cs typeface="Arial"/>
              </a:rPr>
              <a:t>inventory  </a:t>
            </a:r>
            <a:r>
              <a:rPr sz="1400" b="1" spc="-150" dirty="0">
                <a:solidFill>
                  <a:srgbClr val="F1F1F1"/>
                </a:solidFill>
                <a:latin typeface="Arial"/>
                <a:cs typeface="Arial"/>
              </a:rPr>
              <a:t>systems</a:t>
            </a:r>
            <a:endParaRPr sz="1400">
              <a:latin typeface="Arial"/>
              <a:cs typeface="Arial"/>
            </a:endParaRPr>
          </a:p>
        </p:txBody>
      </p:sp>
      <p:sp>
        <p:nvSpPr>
          <p:cNvPr id="3" name="object 3"/>
          <p:cNvSpPr txBox="1">
            <a:spLocks noGrp="1"/>
          </p:cNvSpPr>
          <p:nvPr>
            <p:ph type="title"/>
          </p:nvPr>
        </p:nvSpPr>
        <p:spPr>
          <a:xfrm>
            <a:off x="392938" y="37337"/>
            <a:ext cx="2916555" cy="635635"/>
          </a:xfrm>
          <a:prstGeom prst="rect">
            <a:avLst/>
          </a:prstGeom>
        </p:spPr>
        <p:txBody>
          <a:bodyPr vert="horz" wrap="square" lIns="0" tIns="12700" rIns="0" bIns="0" rtlCol="0">
            <a:spAutoFit/>
          </a:bodyPr>
          <a:lstStyle/>
          <a:p>
            <a:pPr marL="12700">
              <a:lnSpc>
                <a:spcPct val="100000"/>
              </a:lnSpc>
              <a:spcBef>
                <a:spcPts val="100"/>
              </a:spcBef>
            </a:pPr>
            <a:r>
              <a:rPr spc="-5" dirty="0"/>
              <a:t>Functions</a:t>
            </a:r>
            <a:r>
              <a:rPr spc="-330" dirty="0"/>
              <a:t> </a:t>
            </a:r>
            <a:r>
              <a:rPr spc="-400" dirty="0"/>
              <a:t>1-2</a:t>
            </a:r>
          </a:p>
        </p:txBody>
      </p:sp>
      <p:grpSp>
        <p:nvGrpSpPr>
          <p:cNvPr id="4" name="object 4"/>
          <p:cNvGrpSpPr/>
          <p:nvPr/>
        </p:nvGrpSpPr>
        <p:grpSpPr>
          <a:xfrm>
            <a:off x="416051" y="960119"/>
            <a:ext cx="8166100" cy="1291590"/>
            <a:chOff x="416051" y="960119"/>
            <a:chExt cx="8166100" cy="1291590"/>
          </a:xfrm>
        </p:grpSpPr>
        <p:pic>
          <p:nvPicPr>
            <p:cNvPr id="5" name="object 5"/>
            <p:cNvPicPr/>
            <p:nvPr/>
          </p:nvPicPr>
          <p:blipFill>
            <a:blip r:embed="rId3" cstate="print"/>
            <a:stretch>
              <a:fillRect/>
            </a:stretch>
          </p:blipFill>
          <p:spPr>
            <a:xfrm>
              <a:off x="416051" y="960119"/>
              <a:ext cx="8165592" cy="1291589"/>
            </a:xfrm>
            <a:prstGeom prst="rect">
              <a:avLst/>
            </a:prstGeom>
          </p:spPr>
        </p:pic>
        <p:pic>
          <p:nvPicPr>
            <p:cNvPr id="6" name="object 6"/>
            <p:cNvPicPr/>
            <p:nvPr/>
          </p:nvPicPr>
          <p:blipFill>
            <a:blip r:embed="rId4" cstate="print"/>
            <a:stretch>
              <a:fillRect/>
            </a:stretch>
          </p:blipFill>
          <p:spPr>
            <a:xfrm>
              <a:off x="457199" y="978407"/>
              <a:ext cx="8090154" cy="1216152"/>
            </a:xfrm>
            <a:prstGeom prst="rect">
              <a:avLst/>
            </a:prstGeom>
          </p:spPr>
        </p:pic>
      </p:grpSp>
      <p:sp>
        <p:nvSpPr>
          <p:cNvPr id="7" name="object 7"/>
          <p:cNvSpPr txBox="1"/>
          <p:nvPr/>
        </p:nvSpPr>
        <p:spPr>
          <a:xfrm>
            <a:off x="536194" y="1061465"/>
            <a:ext cx="7862570" cy="1599565"/>
          </a:xfrm>
          <a:prstGeom prst="rect">
            <a:avLst/>
          </a:prstGeom>
        </p:spPr>
        <p:txBody>
          <a:bodyPr vert="horz" wrap="square" lIns="0" tIns="12065" rIns="0" bIns="0" rtlCol="0">
            <a:spAutoFit/>
          </a:bodyPr>
          <a:lstStyle/>
          <a:p>
            <a:pPr marL="215900" marR="5080" algn="just">
              <a:lnSpc>
                <a:spcPct val="100000"/>
              </a:lnSpc>
              <a:spcBef>
                <a:spcPts val="95"/>
              </a:spcBef>
            </a:pPr>
            <a:r>
              <a:rPr sz="2000" spc="285" dirty="0">
                <a:solidFill>
                  <a:srgbClr val="FFFFFF"/>
                </a:solidFill>
                <a:latin typeface="Arial"/>
                <a:cs typeface="Arial"/>
              </a:rPr>
              <a:t>A</a:t>
            </a:r>
            <a:r>
              <a:rPr sz="2000" spc="-110" dirty="0">
                <a:solidFill>
                  <a:srgbClr val="FFFFFF"/>
                </a:solidFill>
                <a:latin typeface="Arial"/>
                <a:cs typeface="Arial"/>
              </a:rPr>
              <a:t> </a:t>
            </a:r>
            <a:r>
              <a:rPr sz="2000" spc="55" dirty="0">
                <a:solidFill>
                  <a:srgbClr val="FFFFFF"/>
                </a:solidFill>
                <a:latin typeface="Arial"/>
                <a:cs typeface="Arial"/>
              </a:rPr>
              <a:t>function</a:t>
            </a:r>
            <a:r>
              <a:rPr sz="2000" spc="-100" dirty="0">
                <a:solidFill>
                  <a:srgbClr val="FFFFFF"/>
                </a:solidFill>
                <a:latin typeface="Arial"/>
                <a:cs typeface="Arial"/>
              </a:rPr>
              <a:t> </a:t>
            </a:r>
            <a:r>
              <a:rPr sz="2000" spc="-50" dirty="0">
                <a:solidFill>
                  <a:srgbClr val="FFFFFF"/>
                </a:solidFill>
                <a:latin typeface="Arial"/>
                <a:cs typeface="Arial"/>
              </a:rPr>
              <a:t>is</a:t>
            </a:r>
            <a:r>
              <a:rPr sz="2000" spc="-120" dirty="0">
                <a:solidFill>
                  <a:srgbClr val="FFFFFF"/>
                </a:solidFill>
                <a:latin typeface="Arial"/>
                <a:cs typeface="Arial"/>
              </a:rPr>
              <a:t> </a:t>
            </a:r>
            <a:r>
              <a:rPr sz="2000" spc="-195" dirty="0">
                <a:solidFill>
                  <a:srgbClr val="FFFFFF"/>
                </a:solidFill>
                <a:latin typeface="Arial"/>
                <a:cs typeface="Arial"/>
              </a:rPr>
              <a:t>a</a:t>
            </a:r>
            <a:r>
              <a:rPr sz="2000" spc="-100" dirty="0">
                <a:solidFill>
                  <a:srgbClr val="FFFFFF"/>
                </a:solidFill>
                <a:latin typeface="Arial"/>
                <a:cs typeface="Arial"/>
              </a:rPr>
              <a:t> </a:t>
            </a:r>
            <a:r>
              <a:rPr sz="2000" spc="-90" dirty="0">
                <a:solidFill>
                  <a:srgbClr val="FFFFFF"/>
                </a:solidFill>
                <a:latin typeface="Arial"/>
                <a:cs typeface="Arial"/>
              </a:rPr>
              <a:t>set</a:t>
            </a:r>
            <a:r>
              <a:rPr sz="2000" spc="-95" dirty="0">
                <a:solidFill>
                  <a:srgbClr val="FFFFFF"/>
                </a:solidFill>
                <a:latin typeface="Arial"/>
                <a:cs typeface="Arial"/>
              </a:rPr>
              <a:t> </a:t>
            </a:r>
            <a:r>
              <a:rPr sz="2000" spc="50" dirty="0">
                <a:solidFill>
                  <a:srgbClr val="FFFFFF"/>
                </a:solidFill>
                <a:latin typeface="Arial"/>
                <a:cs typeface="Arial"/>
              </a:rPr>
              <a:t>of</a:t>
            </a:r>
            <a:r>
              <a:rPr sz="2000" spc="-105" dirty="0">
                <a:solidFill>
                  <a:srgbClr val="FFFFFF"/>
                </a:solidFill>
                <a:latin typeface="Arial"/>
                <a:cs typeface="Arial"/>
              </a:rPr>
              <a:t> </a:t>
            </a:r>
            <a:r>
              <a:rPr sz="2000" spc="-15" dirty="0">
                <a:solidFill>
                  <a:srgbClr val="FFFFFF"/>
                </a:solidFill>
                <a:latin typeface="Arial"/>
                <a:cs typeface="Arial"/>
              </a:rPr>
              <a:t>Transact-SQL</a:t>
            </a:r>
            <a:r>
              <a:rPr sz="2000" spc="-100" dirty="0">
                <a:solidFill>
                  <a:srgbClr val="FFFFFF"/>
                </a:solidFill>
                <a:latin typeface="Arial"/>
                <a:cs typeface="Arial"/>
              </a:rPr>
              <a:t> </a:t>
            </a:r>
            <a:r>
              <a:rPr sz="2000" spc="-55" dirty="0">
                <a:solidFill>
                  <a:srgbClr val="FFFFFF"/>
                </a:solidFill>
                <a:latin typeface="Arial"/>
                <a:cs typeface="Arial"/>
              </a:rPr>
              <a:t>statements</a:t>
            </a:r>
            <a:r>
              <a:rPr sz="2000" spc="-90" dirty="0">
                <a:solidFill>
                  <a:srgbClr val="FFFFFF"/>
                </a:solidFill>
                <a:latin typeface="Arial"/>
                <a:cs typeface="Arial"/>
              </a:rPr>
              <a:t> </a:t>
            </a:r>
            <a:r>
              <a:rPr sz="2000" spc="30" dirty="0">
                <a:solidFill>
                  <a:srgbClr val="FFFFFF"/>
                </a:solidFill>
                <a:latin typeface="Arial"/>
                <a:cs typeface="Arial"/>
              </a:rPr>
              <a:t>that</a:t>
            </a:r>
            <a:r>
              <a:rPr sz="2000" spc="-105" dirty="0">
                <a:solidFill>
                  <a:srgbClr val="FFFFFF"/>
                </a:solidFill>
                <a:latin typeface="Arial"/>
                <a:cs typeface="Arial"/>
              </a:rPr>
              <a:t> </a:t>
            </a:r>
            <a:r>
              <a:rPr sz="2000" spc="-50" dirty="0">
                <a:solidFill>
                  <a:srgbClr val="FFFFFF"/>
                </a:solidFill>
                <a:latin typeface="Arial"/>
                <a:cs typeface="Arial"/>
              </a:rPr>
              <a:t>is</a:t>
            </a:r>
            <a:r>
              <a:rPr sz="2000" spc="-110" dirty="0">
                <a:solidFill>
                  <a:srgbClr val="FFFFFF"/>
                </a:solidFill>
                <a:latin typeface="Arial"/>
                <a:cs typeface="Arial"/>
              </a:rPr>
              <a:t> </a:t>
            </a:r>
            <a:r>
              <a:rPr sz="2000" spc="-90" dirty="0">
                <a:solidFill>
                  <a:srgbClr val="FFFFFF"/>
                </a:solidFill>
                <a:latin typeface="Arial"/>
                <a:cs typeface="Arial"/>
              </a:rPr>
              <a:t>used</a:t>
            </a:r>
            <a:r>
              <a:rPr sz="2000" spc="-110" dirty="0">
                <a:solidFill>
                  <a:srgbClr val="FFFFFF"/>
                </a:solidFill>
                <a:latin typeface="Arial"/>
                <a:cs typeface="Arial"/>
              </a:rPr>
              <a:t> </a:t>
            </a:r>
            <a:r>
              <a:rPr sz="2000" spc="55" dirty="0">
                <a:solidFill>
                  <a:srgbClr val="FFFFFF"/>
                </a:solidFill>
                <a:latin typeface="Arial"/>
                <a:cs typeface="Arial"/>
              </a:rPr>
              <a:t>to</a:t>
            </a:r>
            <a:r>
              <a:rPr sz="2000" spc="-105" dirty="0">
                <a:solidFill>
                  <a:srgbClr val="FFFFFF"/>
                </a:solidFill>
                <a:latin typeface="Arial"/>
                <a:cs typeface="Arial"/>
              </a:rPr>
              <a:t> </a:t>
            </a:r>
            <a:r>
              <a:rPr sz="2000" spc="10" dirty="0">
                <a:solidFill>
                  <a:srgbClr val="FFFFFF"/>
                </a:solidFill>
                <a:latin typeface="Arial"/>
                <a:cs typeface="Arial"/>
              </a:rPr>
              <a:t>perform  </a:t>
            </a:r>
            <a:r>
              <a:rPr sz="2000" spc="-110" dirty="0">
                <a:solidFill>
                  <a:srgbClr val="FFFFFF"/>
                </a:solidFill>
                <a:latin typeface="Arial"/>
                <a:cs typeface="Arial"/>
              </a:rPr>
              <a:t>some </a:t>
            </a:r>
            <a:r>
              <a:rPr sz="2000" spc="-50" dirty="0">
                <a:solidFill>
                  <a:srgbClr val="FFFFFF"/>
                </a:solidFill>
                <a:latin typeface="Arial"/>
                <a:cs typeface="Arial"/>
              </a:rPr>
              <a:t>task. </a:t>
            </a:r>
            <a:r>
              <a:rPr sz="2000" spc="-70" dirty="0">
                <a:solidFill>
                  <a:srgbClr val="FFFFFF"/>
                </a:solidFill>
                <a:latin typeface="Arial"/>
                <a:cs typeface="Arial"/>
              </a:rPr>
              <a:t>These </a:t>
            </a:r>
            <a:r>
              <a:rPr sz="2000" spc="25" dirty="0">
                <a:solidFill>
                  <a:srgbClr val="FFFFFF"/>
                </a:solidFill>
                <a:latin typeface="Arial"/>
                <a:cs typeface="Arial"/>
              </a:rPr>
              <a:t>functions </a:t>
            </a:r>
            <a:r>
              <a:rPr sz="2000" spc="-75" dirty="0">
                <a:solidFill>
                  <a:srgbClr val="FFFFFF"/>
                </a:solidFill>
                <a:latin typeface="Arial"/>
                <a:cs typeface="Arial"/>
              </a:rPr>
              <a:t>can </a:t>
            </a:r>
            <a:r>
              <a:rPr sz="2000" spc="-100" dirty="0">
                <a:solidFill>
                  <a:srgbClr val="FFFFFF"/>
                </a:solidFill>
                <a:latin typeface="Arial"/>
                <a:cs typeface="Arial"/>
              </a:rPr>
              <a:t>be </a:t>
            </a:r>
            <a:r>
              <a:rPr sz="2000" spc="-15" dirty="0">
                <a:solidFill>
                  <a:srgbClr val="FFFFFF"/>
                </a:solidFill>
                <a:latin typeface="Arial"/>
                <a:cs typeface="Arial"/>
              </a:rPr>
              <a:t>useful </a:t>
            </a:r>
            <a:r>
              <a:rPr sz="2000" dirty="0">
                <a:solidFill>
                  <a:srgbClr val="FFFFFF"/>
                </a:solidFill>
                <a:latin typeface="Arial"/>
                <a:cs typeface="Arial"/>
              </a:rPr>
              <a:t>when </a:t>
            </a:r>
            <a:r>
              <a:rPr sz="2000" spc="-60" dirty="0">
                <a:solidFill>
                  <a:srgbClr val="FFFFFF"/>
                </a:solidFill>
                <a:latin typeface="Arial"/>
                <a:cs typeface="Arial"/>
              </a:rPr>
              <a:t>data </a:t>
            </a:r>
            <a:r>
              <a:rPr sz="2000" spc="-50" dirty="0">
                <a:solidFill>
                  <a:srgbClr val="FFFFFF"/>
                </a:solidFill>
                <a:latin typeface="Arial"/>
                <a:cs typeface="Arial"/>
              </a:rPr>
              <a:t>is </a:t>
            </a:r>
            <a:r>
              <a:rPr sz="2000" spc="-35" dirty="0">
                <a:solidFill>
                  <a:srgbClr val="FFFFFF"/>
                </a:solidFill>
                <a:latin typeface="Arial"/>
                <a:cs typeface="Arial"/>
              </a:rPr>
              <a:t>calculated </a:t>
            </a:r>
            <a:r>
              <a:rPr sz="2000" spc="25" dirty="0">
                <a:solidFill>
                  <a:srgbClr val="FFFFFF"/>
                </a:solidFill>
                <a:latin typeface="Arial"/>
                <a:cs typeface="Arial"/>
              </a:rPr>
              <a:t>or  </a:t>
            </a:r>
            <a:r>
              <a:rPr sz="2000" spc="-15" dirty="0">
                <a:solidFill>
                  <a:srgbClr val="FFFFFF"/>
                </a:solidFill>
                <a:latin typeface="Arial"/>
                <a:cs typeface="Arial"/>
              </a:rPr>
              <a:t>manipulated.</a:t>
            </a:r>
            <a:endParaRPr sz="2000">
              <a:latin typeface="Arial"/>
              <a:cs typeface="Arial"/>
            </a:endParaRPr>
          </a:p>
          <a:p>
            <a:pPr>
              <a:lnSpc>
                <a:spcPct val="100000"/>
              </a:lnSpc>
              <a:spcBef>
                <a:spcPts val="35"/>
              </a:spcBef>
            </a:pPr>
            <a:endParaRPr sz="2400">
              <a:latin typeface="Arial"/>
              <a:cs typeface="Arial"/>
            </a:endParaRPr>
          </a:p>
          <a:p>
            <a:pPr marL="12700">
              <a:lnSpc>
                <a:spcPct val="100000"/>
              </a:lnSpc>
              <a:spcBef>
                <a:spcPts val="5"/>
              </a:spcBef>
            </a:pPr>
            <a:r>
              <a:rPr sz="2000" spc="20" dirty="0">
                <a:latin typeface="Arial"/>
                <a:cs typeface="Arial"/>
              </a:rPr>
              <a:t>The</a:t>
            </a:r>
            <a:r>
              <a:rPr sz="2000" spc="-125" dirty="0">
                <a:latin typeface="Arial"/>
                <a:cs typeface="Arial"/>
              </a:rPr>
              <a:t> </a:t>
            </a:r>
            <a:r>
              <a:rPr sz="2000" spc="55" dirty="0">
                <a:latin typeface="Arial"/>
                <a:cs typeface="Arial"/>
              </a:rPr>
              <a:t>four</a:t>
            </a:r>
            <a:r>
              <a:rPr sz="2000" spc="-125" dirty="0">
                <a:latin typeface="Arial"/>
                <a:cs typeface="Arial"/>
              </a:rPr>
              <a:t> </a:t>
            </a:r>
            <a:r>
              <a:rPr sz="2000" spc="-60" dirty="0">
                <a:latin typeface="Arial"/>
                <a:cs typeface="Arial"/>
              </a:rPr>
              <a:t>types</a:t>
            </a:r>
            <a:r>
              <a:rPr sz="2000" spc="-114" dirty="0">
                <a:latin typeface="Arial"/>
                <a:cs typeface="Arial"/>
              </a:rPr>
              <a:t> </a:t>
            </a:r>
            <a:r>
              <a:rPr sz="2000" spc="55" dirty="0">
                <a:latin typeface="Arial"/>
                <a:cs typeface="Arial"/>
              </a:rPr>
              <a:t>of</a:t>
            </a:r>
            <a:r>
              <a:rPr sz="2000" spc="-135" dirty="0">
                <a:latin typeface="Arial"/>
                <a:cs typeface="Arial"/>
              </a:rPr>
              <a:t> </a:t>
            </a:r>
            <a:r>
              <a:rPr sz="2000" spc="25" dirty="0">
                <a:latin typeface="Arial"/>
                <a:cs typeface="Arial"/>
              </a:rPr>
              <a:t>functions</a:t>
            </a:r>
            <a:r>
              <a:rPr sz="2000" spc="-125" dirty="0">
                <a:latin typeface="Arial"/>
                <a:cs typeface="Arial"/>
              </a:rPr>
              <a:t> </a:t>
            </a:r>
            <a:r>
              <a:rPr sz="2000" spc="95" dirty="0">
                <a:latin typeface="Arial"/>
                <a:cs typeface="Arial"/>
              </a:rPr>
              <a:t>in</a:t>
            </a:r>
            <a:r>
              <a:rPr sz="2000" spc="-130" dirty="0">
                <a:latin typeface="Arial"/>
                <a:cs typeface="Arial"/>
              </a:rPr>
              <a:t> </a:t>
            </a:r>
            <a:r>
              <a:rPr sz="2000" spc="20" dirty="0">
                <a:latin typeface="Arial"/>
                <a:cs typeface="Arial"/>
              </a:rPr>
              <a:t>SQL</a:t>
            </a:r>
            <a:r>
              <a:rPr sz="2000" spc="-135" dirty="0">
                <a:latin typeface="Arial"/>
                <a:cs typeface="Arial"/>
              </a:rPr>
              <a:t> </a:t>
            </a:r>
            <a:r>
              <a:rPr sz="2000" spc="-50" dirty="0">
                <a:latin typeface="Arial"/>
                <a:cs typeface="Arial"/>
              </a:rPr>
              <a:t>Server</a:t>
            </a:r>
            <a:r>
              <a:rPr sz="2000" spc="-114" dirty="0">
                <a:latin typeface="Arial"/>
                <a:cs typeface="Arial"/>
              </a:rPr>
              <a:t> </a:t>
            </a:r>
            <a:r>
              <a:rPr sz="2000" spc="-204" dirty="0">
                <a:latin typeface="Arial"/>
                <a:cs typeface="Arial"/>
              </a:rPr>
              <a:t>2019</a:t>
            </a:r>
            <a:r>
              <a:rPr sz="2000" spc="-125" dirty="0">
                <a:latin typeface="Arial"/>
                <a:cs typeface="Arial"/>
              </a:rPr>
              <a:t> </a:t>
            </a:r>
            <a:r>
              <a:rPr sz="2000" spc="-100" dirty="0">
                <a:latin typeface="Arial"/>
                <a:cs typeface="Arial"/>
              </a:rPr>
              <a:t>are</a:t>
            </a:r>
            <a:r>
              <a:rPr sz="2000" spc="-125" dirty="0">
                <a:latin typeface="Arial"/>
                <a:cs typeface="Arial"/>
              </a:rPr>
              <a:t> </a:t>
            </a:r>
            <a:r>
              <a:rPr sz="2000" spc="-204" dirty="0">
                <a:latin typeface="Arial"/>
                <a:cs typeface="Arial"/>
              </a:rPr>
              <a:t>as</a:t>
            </a:r>
            <a:r>
              <a:rPr sz="2000" spc="-125" dirty="0">
                <a:latin typeface="Arial"/>
                <a:cs typeface="Arial"/>
              </a:rPr>
              <a:t> </a:t>
            </a:r>
            <a:r>
              <a:rPr sz="2000" spc="15" dirty="0">
                <a:latin typeface="Arial"/>
                <a:cs typeface="Arial"/>
              </a:rPr>
              <a:t>follows:</a:t>
            </a:r>
            <a:endParaRPr sz="2000">
              <a:latin typeface="Arial"/>
              <a:cs typeface="Arial"/>
            </a:endParaRPr>
          </a:p>
        </p:txBody>
      </p:sp>
      <p:pic>
        <p:nvPicPr>
          <p:cNvPr id="8" name="object 8"/>
          <p:cNvPicPr/>
          <p:nvPr/>
        </p:nvPicPr>
        <p:blipFill>
          <a:blip r:embed="rId5" cstate="print"/>
          <a:stretch>
            <a:fillRect/>
          </a:stretch>
        </p:blipFill>
        <p:spPr>
          <a:xfrm>
            <a:off x="999744" y="2813304"/>
            <a:ext cx="7005066" cy="3428238"/>
          </a:xfrm>
          <a:prstGeom prst="rect">
            <a:avLst/>
          </a:prstGeom>
        </p:spPr>
      </p:pic>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16</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37337"/>
            <a:ext cx="2981325" cy="635635"/>
          </a:xfrm>
          <a:prstGeom prst="rect">
            <a:avLst/>
          </a:prstGeom>
        </p:spPr>
        <p:txBody>
          <a:bodyPr vert="horz" wrap="square" lIns="0" tIns="12700" rIns="0" bIns="0" rtlCol="0">
            <a:spAutoFit/>
          </a:bodyPr>
          <a:lstStyle/>
          <a:p>
            <a:pPr marL="12700">
              <a:lnSpc>
                <a:spcPct val="100000"/>
              </a:lnSpc>
              <a:spcBef>
                <a:spcPts val="100"/>
              </a:spcBef>
            </a:pPr>
            <a:r>
              <a:rPr spc="-5" dirty="0"/>
              <a:t>Functions</a:t>
            </a:r>
            <a:r>
              <a:rPr spc="-340" dirty="0"/>
              <a:t> </a:t>
            </a:r>
            <a:r>
              <a:rPr spc="-225" dirty="0"/>
              <a:t>2-2</a:t>
            </a:r>
          </a:p>
        </p:txBody>
      </p:sp>
      <p:pic>
        <p:nvPicPr>
          <p:cNvPr id="3" name="object 3"/>
          <p:cNvPicPr/>
          <p:nvPr/>
        </p:nvPicPr>
        <p:blipFill>
          <a:blip r:embed="rId3" cstate="print"/>
          <a:stretch>
            <a:fillRect/>
          </a:stretch>
        </p:blipFill>
        <p:spPr>
          <a:xfrm>
            <a:off x="745236" y="970788"/>
            <a:ext cx="7737348" cy="5148834"/>
          </a:xfrm>
          <a:prstGeom prst="rect">
            <a:avLst/>
          </a:prstGeom>
        </p:spPr>
      </p:pic>
      <p:sp>
        <p:nvSpPr>
          <p:cNvPr id="4" name="object 4"/>
          <p:cNvSpPr txBox="1"/>
          <p:nvPr/>
        </p:nvSpPr>
        <p:spPr>
          <a:xfrm>
            <a:off x="3839464" y="6211061"/>
            <a:ext cx="1283335" cy="238760"/>
          </a:xfrm>
          <a:prstGeom prst="rect">
            <a:avLst/>
          </a:prstGeom>
        </p:spPr>
        <p:txBody>
          <a:bodyPr vert="horz" wrap="square" lIns="0" tIns="12065" rIns="0" bIns="0" rtlCol="0">
            <a:spAutoFit/>
          </a:bodyPr>
          <a:lstStyle/>
          <a:p>
            <a:pPr marL="12700">
              <a:lnSpc>
                <a:spcPct val="100000"/>
              </a:lnSpc>
              <a:spcBef>
                <a:spcPts val="95"/>
              </a:spcBef>
            </a:pPr>
            <a:r>
              <a:rPr sz="1400" b="1" spc="-95" dirty="0">
                <a:latin typeface="Arial"/>
                <a:cs typeface="Arial"/>
              </a:rPr>
              <a:t>Scalar</a:t>
            </a:r>
            <a:r>
              <a:rPr sz="1400" b="1" spc="-155" dirty="0">
                <a:latin typeface="Arial"/>
                <a:cs typeface="Arial"/>
              </a:rPr>
              <a:t> </a:t>
            </a:r>
            <a:r>
              <a:rPr sz="1400" b="1" spc="-85" dirty="0">
                <a:latin typeface="Arial"/>
                <a:cs typeface="Arial"/>
              </a:rPr>
              <a:t>Functions</a:t>
            </a:r>
            <a:endParaRPr sz="1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17</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096135" cy="635635"/>
          </a:xfrm>
          <a:prstGeom prst="rect">
            <a:avLst/>
          </a:prstGeom>
        </p:spPr>
        <p:txBody>
          <a:bodyPr vert="horz" wrap="square" lIns="0" tIns="12700" rIns="0" bIns="0" rtlCol="0">
            <a:spAutoFit/>
          </a:bodyPr>
          <a:lstStyle/>
          <a:p>
            <a:pPr marL="12700">
              <a:lnSpc>
                <a:spcPct val="100000"/>
              </a:lnSpc>
              <a:spcBef>
                <a:spcPts val="100"/>
              </a:spcBef>
            </a:pPr>
            <a:r>
              <a:rPr spc="-45" dirty="0"/>
              <a:t>Variables</a:t>
            </a:r>
          </a:p>
        </p:txBody>
      </p:sp>
      <p:grpSp>
        <p:nvGrpSpPr>
          <p:cNvPr id="3" name="object 3"/>
          <p:cNvGrpSpPr/>
          <p:nvPr/>
        </p:nvGrpSpPr>
        <p:grpSpPr>
          <a:xfrm>
            <a:off x="446531" y="907541"/>
            <a:ext cx="8244205" cy="1144905"/>
            <a:chOff x="446531" y="907541"/>
            <a:chExt cx="8244205" cy="1144905"/>
          </a:xfrm>
        </p:grpSpPr>
        <p:pic>
          <p:nvPicPr>
            <p:cNvPr id="4" name="object 4"/>
            <p:cNvPicPr/>
            <p:nvPr/>
          </p:nvPicPr>
          <p:blipFill>
            <a:blip r:embed="rId3" cstate="print"/>
            <a:stretch>
              <a:fillRect/>
            </a:stretch>
          </p:blipFill>
          <p:spPr>
            <a:xfrm>
              <a:off x="446531" y="907541"/>
              <a:ext cx="8244078" cy="1144524"/>
            </a:xfrm>
            <a:prstGeom prst="rect">
              <a:avLst/>
            </a:prstGeom>
          </p:spPr>
        </p:pic>
        <p:pic>
          <p:nvPicPr>
            <p:cNvPr id="5" name="object 5"/>
            <p:cNvPicPr/>
            <p:nvPr/>
          </p:nvPicPr>
          <p:blipFill>
            <a:blip r:embed="rId4" cstate="print"/>
            <a:stretch>
              <a:fillRect/>
            </a:stretch>
          </p:blipFill>
          <p:spPr>
            <a:xfrm>
              <a:off x="487679" y="925829"/>
              <a:ext cx="8168640" cy="1069086"/>
            </a:xfrm>
            <a:prstGeom prst="rect">
              <a:avLst/>
            </a:prstGeom>
          </p:spPr>
        </p:pic>
      </p:grpSp>
      <p:grpSp>
        <p:nvGrpSpPr>
          <p:cNvPr id="6" name="object 6"/>
          <p:cNvGrpSpPr/>
          <p:nvPr/>
        </p:nvGrpSpPr>
        <p:grpSpPr>
          <a:xfrm>
            <a:off x="446531" y="2221229"/>
            <a:ext cx="8244205" cy="1704975"/>
            <a:chOff x="446531" y="2221229"/>
            <a:chExt cx="8244205" cy="1704975"/>
          </a:xfrm>
        </p:grpSpPr>
        <p:pic>
          <p:nvPicPr>
            <p:cNvPr id="7" name="object 7"/>
            <p:cNvPicPr/>
            <p:nvPr/>
          </p:nvPicPr>
          <p:blipFill>
            <a:blip r:embed="rId5" cstate="print"/>
            <a:stretch>
              <a:fillRect/>
            </a:stretch>
          </p:blipFill>
          <p:spPr>
            <a:xfrm>
              <a:off x="446531" y="2221229"/>
              <a:ext cx="8244078" cy="1704594"/>
            </a:xfrm>
            <a:prstGeom prst="rect">
              <a:avLst/>
            </a:prstGeom>
          </p:spPr>
        </p:pic>
        <p:pic>
          <p:nvPicPr>
            <p:cNvPr id="8" name="object 8"/>
            <p:cNvPicPr/>
            <p:nvPr/>
          </p:nvPicPr>
          <p:blipFill>
            <a:blip r:embed="rId6" cstate="print"/>
            <a:stretch>
              <a:fillRect/>
            </a:stretch>
          </p:blipFill>
          <p:spPr>
            <a:xfrm>
              <a:off x="487679" y="2239517"/>
              <a:ext cx="8168640" cy="1629156"/>
            </a:xfrm>
            <a:prstGeom prst="rect">
              <a:avLst/>
            </a:prstGeom>
          </p:spPr>
        </p:pic>
      </p:grpSp>
      <p:grpSp>
        <p:nvGrpSpPr>
          <p:cNvPr id="9" name="object 9"/>
          <p:cNvGrpSpPr/>
          <p:nvPr/>
        </p:nvGrpSpPr>
        <p:grpSpPr>
          <a:xfrm>
            <a:off x="446531" y="4078998"/>
            <a:ext cx="8244205" cy="1704975"/>
            <a:chOff x="446531" y="4078998"/>
            <a:chExt cx="8244205" cy="1704975"/>
          </a:xfrm>
        </p:grpSpPr>
        <p:pic>
          <p:nvPicPr>
            <p:cNvPr id="10" name="object 10"/>
            <p:cNvPicPr/>
            <p:nvPr/>
          </p:nvPicPr>
          <p:blipFill>
            <a:blip r:embed="rId5" cstate="print"/>
            <a:stretch>
              <a:fillRect/>
            </a:stretch>
          </p:blipFill>
          <p:spPr>
            <a:xfrm>
              <a:off x="446531" y="4078998"/>
              <a:ext cx="8244078" cy="1704594"/>
            </a:xfrm>
            <a:prstGeom prst="rect">
              <a:avLst/>
            </a:prstGeom>
          </p:spPr>
        </p:pic>
        <p:pic>
          <p:nvPicPr>
            <p:cNvPr id="11" name="object 11"/>
            <p:cNvPicPr/>
            <p:nvPr/>
          </p:nvPicPr>
          <p:blipFill>
            <a:blip r:embed="rId7" cstate="print"/>
            <a:stretch>
              <a:fillRect/>
            </a:stretch>
          </p:blipFill>
          <p:spPr>
            <a:xfrm>
              <a:off x="487679" y="4097273"/>
              <a:ext cx="8168640" cy="1629156"/>
            </a:xfrm>
            <a:prstGeom prst="rect">
              <a:avLst/>
            </a:prstGeom>
          </p:spPr>
        </p:pic>
      </p:grpSp>
      <p:sp>
        <p:nvSpPr>
          <p:cNvPr id="12" name="object 12"/>
          <p:cNvSpPr txBox="1"/>
          <p:nvPr/>
        </p:nvSpPr>
        <p:spPr>
          <a:xfrm>
            <a:off x="636777" y="1043177"/>
            <a:ext cx="7571740" cy="4378960"/>
          </a:xfrm>
          <a:prstGeom prst="rect">
            <a:avLst/>
          </a:prstGeom>
        </p:spPr>
        <p:txBody>
          <a:bodyPr vert="horz" wrap="square" lIns="0" tIns="12065" rIns="0" bIns="0" rtlCol="0">
            <a:spAutoFit/>
          </a:bodyPr>
          <a:lstStyle/>
          <a:p>
            <a:pPr marL="159385" marR="5080">
              <a:lnSpc>
                <a:spcPct val="100000"/>
              </a:lnSpc>
              <a:spcBef>
                <a:spcPts val="95"/>
              </a:spcBef>
            </a:pPr>
            <a:r>
              <a:rPr sz="2000" spc="285" dirty="0">
                <a:solidFill>
                  <a:srgbClr val="FFFFFF"/>
                </a:solidFill>
                <a:latin typeface="Arial"/>
                <a:cs typeface="Arial"/>
              </a:rPr>
              <a:t>A </a:t>
            </a:r>
            <a:r>
              <a:rPr sz="2000" spc="-30" dirty="0">
                <a:solidFill>
                  <a:srgbClr val="FFFFFF"/>
                </a:solidFill>
                <a:latin typeface="Arial"/>
                <a:cs typeface="Arial"/>
              </a:rPr>
              <a:t>variable </a:t>
            </a:r>
            <a:r>
              <a:rPr sz="2000" spc="-50" dirty="0">
                <a:solidFill>
                  <a:srgbClr val="FFFFFF"/>
                </a:solidFill>
                <a:latin typeface="Arial"/>
                <a:cs typeface="Arial"/>
              </a:rPr>
              <a:t>is </a:t>
            </a:r>
            <a:r>
              <a:rPr sz="2000" spc="-65" dirty="0">
                <a:solidFill>
                  <a:srgbClr val="FFFFFF"/>
                </a:solidFill>
                <a:latin typeface="Arial"/>
                <a:cs typeface="Arial"/>
              </a:rPr>
              <a:t>an </a:t>
            </a:r>
            <a:r>
              <a:rPr sz="2000" spc="-15" dirty="0">
                <a:solidFill>
                  <a:srgbClr val="FFFFFF"/>
                </a:solidFill>
                <a:latin typeface="Arial"/>
                <a:cs typeface="Arial"/>
              </a:rPr>
              <a:t>object </a:t>
            </a:r>
            <a:r>
              <a:rPr sz="2000" spc="30" dirty="0">
                <a:solidFill>
                  <a:srgbClr val="FFFFFF"/>
                </a:solidFill>
                <a:latin typeface="Arial"/>
                <a:cs typeface="Arial"/>
              </a:rPr>
              <a:t>that </a:t>
            </a:r>
            <a:r>
              <a:rPr sz="2000" spc="-75" dirty="0">
                <a:solidFill>
                  <a:srgbClr val="FFFFFF"/>
                </a:solidFill>
                <a:latin typeface="Arial"/>
                <a:cs typeface="Arial"/>
              </a:rPr>
              <a:t>can </a:t>
            </a:r>
            <a:r>
              <a:rPr sz="2000" spc="40" dirty="0">
                <a:solidFill>
                  <a:srgbClr val="FFFFFF"/>
                </a:solidFill>
                <a:latin typeface="Arial"/>
                <a:cs typeface="Arial"/>
              </a:rPr>
              <a:t>hold </a:t>
            </a:r>
            <a:r>
              <a:rPr sz="2000" spc="-195" dirty="0">
                <a:solidFill>
                  <a:srgbClr val="FFFFFF"/>
                </a:solidFill>
                <a:latin typeface="Arial"/>
                <a:cs typeface="Arial"/>
              </a:rPr>
              <a:t>a </a:t>
            </a:r>
            <a:r>
              <a:rPr sz="2000" spc="-60" dirty="0">
                <a:solidFill>
                  <a:srgbClr val="FFFFFF"/>
                </a:solidFill>
                <a:latin typeface="Arial"/>
                <a:cs typeface="Arial"/>
              </a:rPr>
              <a:t>data </a:t>
            </a:r>
            <a:r>
              <a:rPr sz="2000" spc="-40" dirty="0">
                <a:solidFill>
                  <a:srgbClr val="FFFFFF"/>
                </a:solidFill>
                <a:latin typeface="Arial"/>
                <a:cs typeface="Arial"/>
              </a:rPr>
              <a:t>value. </a:t>
            </a:r>
            <a:r>
              <a:rPr sz="2000" spc="80" dirty="0">
                <a:solidFill>
                  <a:srgbClr val="FFFFFF"/>
                </a:solidFill>
                <a:latin typeface="Arial"/>
                <a:cs typeface="Arial"/>
              </a:rPr>
              <a:t>In</a:t>
            </a:r>
            <a:r>
              <a:rPr sz="2000" spc="-114" dirty="0">
                <a:solidFill>
                  <a:srgbClr val="FFFFFF"/>
                </a:solidFill>
                <a:latin typeface="Arial"/>
                <a:cs typeface="Arial"/>
              </a:rPr>
              <a:t> </a:t>
            </a:r>
            <a:r>
              <a:rPr sz="2000" spc="-20" dirty="0">
                <a:solidFill>
                  <a:srgbClr val="FFFFFF"/>
                </a:solidFill>
                <a:latin typeface="Arial"/>
                <a:cs typeface="Arial"/>
              </a:rPr>
              <a:t>Transact-SQL,  </a:t>
            </a:r>
            <a:r>
              <a:rPr sz="2000" spc="-50" dirty="0">
                <a:solidFill>
                  <a:srgbClr val="FFFFFF"/>
                </a:solidFill>
                <a:latin typeface="Arial"/>
                <a:cs typeface="Arial"/>
              </a:rPr>
              <a:t>variables</a:t>
            </a:r>
            <a:r>
              <a:rPr sz="2000" spc="-105" dirty="0">
                <a:solidFill>
                  <a:srgbClr val="FFFFFF"/>
                </a:solidFill>
                <a:latin typeface="Arial"/>
                <a:cs typeface="Arial"/>
              </a:rPr>
              <a:t> </a:t>
            </a:r>
            <a:r>
              <a:rPr sz="2000" spc="-75" dirty="0">
                <a:solidFill>
                  <a:srgbClr val="FFFFFF"/>
                </a:solidFill>
                <a:latin typeface="Arial"/>
                <a:cs typeface="Arial"/>
              </a:rPr>
              <a:t>can</a:t>
            </a:r>
            <a:r>
              <a:rPr sz="2000" spc="-135" dirty="0">
                <a:solidFill>
                  <a:srgbClr val="FFFFFF"/>
                </a:solidFill>
                <a:latin typeface="Arial"/>
                <a:cs typeface="Arial"/>
              </a:rPr>
              <a:t> </a:t>
            </a:r>
            <a:r>
              <a:rPr sz="2000" spc="-105" dirty="0">
                <a:solidFill>
                  <a:srgbClr val="FFFFFF"/>
                </a:solidFill>
                <a:latin typeface="Arial"/>
                <a:cs typeface="Arial"/>
              </a:rPr>
              <a:t>be</a:t>
            </a:r>
            <a:r>
              <a:rPr sz="2000" spc="-114" dirty="0">
                <a:solidFill>
                  <a:srgbClr val="FFFFFF"/>
                </a:solidFill>
                <a:latin typeface="Arial"/>
                <a:cs typeface="Arial"/>
              </a:rPr>
              <a:t> </a:t>
            </a:r>
            <a:r>
              <a:rPr sz="2000" spc="-40" dirty="0">
                <a:solidFill>
                  <a:srgbClr val="FFFFFF"/>
                </a:solidFill>
                <a:latin typeface="Arial"/>
                <a:cs typeface="Arial"/>
              </a:rPr>
              <a:t>classified</a:t>
            </a:r>
            <a:r>
              <a:rPr sz="2000" spc="-140" dirty="0">
                <a:solidFill>
                  <a:srgbClr val="FFFFFF"/>
                </a:solidFill>
                <a:latin typeface="Arial"/>
                <a:cs typeface="Arial"/>
              </a:rPr>
              <a:t> </a:t>
            </a:r>
            <a:r>
              <a:rPr sz="2000" spc="75" dirty="0">
                <a:solidFill>
                  <a:srgbClr val="FFFFFF"/>
                </a:solidFill>
                <a:latin typeface="Arial"/>
                <a:cs typeface="Arial"/>
              </a:rPr>
              <a:t>into</a:t>
            </a:r>
            <a:r>
              <a:rPr sz="2000" spc="-125" dirty="0">
                <a:solidFill>
                  <a:srgbClr val="FFFFFF"/>
                </a:solidFill>
                <a:latin typeface="Arial"/>
                <a:cs typeface="Arial"/>
              </a:rPr>
              <a:t> </a:t>
            </a:r>
            <a:r>
              <a:rPr sz="2000" spc="-20" dirty="0">
                <a:solidFill>
                  <a:srgbClr val="FFFFFF"/>
                </a:solidFill>
                <a:latin typeface="Arial"/>
                <a:cs typeface="Arial"/>
              </a:rPr>
              <a:t>local</a:t>
            </a:r>
            <a:r>
              <a:rPr sz="2000" spc="-114" dirty="0">
                <a:solidFill>
                  <a:srgbClr val="FFFFFF"/>
                </a:solidFill>
                <a:latin typeface="Arial"/>
                <a:cs typeface="Arial"/>
              </a:rPr>
              <a:t> </a:t>
            </a:r>
            <a:r>
              <a:rPr sz="2000" spc="-40" dirty="0">
                <a:solidFill>
                  <a:srgbClr val="FFFFFF"/>
                </a:solidFill>
                <a:latin typeface="Arial"/>
                <a:cs typeface="Arial"/>
              </a:rPr>
              <a:t>and</a:t>
            </a:r>
            <a:r>
              <a:rPr sz="2000" spc="-125" dirty="0">
                <a:solidFill>
                  <a:srgbClr val="FFFFFF"/>
                </a:solidFill>
                <a:latin typeface="Arial"/>
                <a:cs typeface="Arial"/>
              </a:rPr>
              <a:t> </a:t>
            </a:r>
            <a:r>
              <a:rPr sz="2000" spc="-25" dirty="0">
                <a:solidFill>
                  <a:srgbClr val="FFFFFF"/>
                </a:solidFill>
                <a:latin typeface="Arial"/>
                <a:cs typeface="Arial"/>
              </a:rPr>
              <a:t>global</a:t>
            </a:r>
            <a:r>
              <a:rPr sz="2000" spc="-114" dirty="0">
                <a:solidFill>
                  <a:srgbClr val="FFFFFF"/>
                </a:solidFill>
                <a:latin typeface="Arial"/>
                <a:cs typeface="Arial"/>
              </a:rPr>
              <a:t> </a:t>
            </a:r>
            <a:r>
              <a:rPr sz="2000" spc="-50" dirty="0">
                <a:solidFill>
                  <a:srgbClr val="FFFFFF"/>
                </a:solidFill>
                <a:latin typeface="Arial"/>
                <a:cs typeface="Arial"/>
              </a:rPr>
              <a:t>variables.</a:t>
            </a:r>
            <a:endParaRPr sz="2000">
              <a:latin typeface="Arial"/>
              <a:cs typeface="Arial"/>
            </a:endParaRPr>
          </a:p>
          <a:p>
            <a:pPr>
              <a:lnSpc>
                <a:spcPct val="100000"/>
              </a:lnSpc>
            </a:pPr>
            <a:endParaRPr sz="2800">
              <a:latin typeface="Arial"/>
              <a:cs typeface="Arial"/>
            </a:endParaRPr>
          </a:p>
          <a:p>
            <a:pPr marL="355600" marR="152400" indent="-342900">
              <a:lnSpc>
                <a:spcPct val="100000"/>
              </a:lnSpc>
              <a:spcBef>
                <a:spcPts val="2305"/>
              </a:spcBef>
              <a:buClr>
                <a:srgbClr val="000000"/>
              </a:buClr>
              <a:buChar char="•"/>
              <a:tabLst>
                <a:tab pos="354965" algn="l"/>
                <a:tab pos="355600" algn="l"/>
                <a:tab pos="756920" algn="l"/>
                <a:tab pos="2552065" algn="l"/>
                <a:tab pos="3234690" algn="l"/>
                <a:tab pos="4368165" algn="l"/>
                <a:tab pos="4868545" algn="l"/>
                <a:tab pos="5831840" algn="l"/>
                <a:tab pos="6412865" algn="l"/>
                <a:tab pos="7089140" algn="l"/>
              </a:tabLst>
            </a:pPr>
            <a:r>
              <a:rPr sz="2000" spc="50" dirty="0">
                <a:solidFill>
                  <a:srgbClr val="FFFFFF"/>
                </a:solidFill>
                <a:latin typeface="Arial"/>
                <a:cs typeface="Arial"/>
              </a:rPr>
              <a:t>I</a:t>
            </a:r>
            <a:r>
              <a:rPr sz="2000" spc="110" dirty="0">
                <a:solidFill>
                  <a:srgbClr val="FFFFFF"/>
                </a:solidFill>
                <a:latin typeface="Arial"/>
                <a:cs typeface="Arial"/>
              </a:rPr>
              <a:t>n</a:t>
            </a:r>
            <a:r>
              <a:rPr sz="2000" dirty="0">
                <a:solidFill>
                  <a:srgbClr val="FFFFFF"/>
                </a:solidFill>
                <a:latin typeface="Arial"/>
                <a:cs typeface="Arial"/>
              </a:rPr>
              <a:t>	</a:t>
            </a:r>
            <a:r>
              <a:rPr sz="2000" spc="-15" dirty="0">
                <a:solidFill>
                  <a:srgbClr val="FFFFFF"/>
                </a:solidFill>
                <a:latin typeface="Arial"/>
                <a:cs typeface="Arial"/>
              </a:rPr>
              <a:t>Tran</a:t>
            </a:r>
            <a:r>
              <a:rPr sz="2000" spc="-5" dirty="0">
                <a:solidFill>
                  <a:srgbClr val="FFFFFF"/>
                </a:solidFill>
                <a:latin typeface="Arial"/>
                <a:cs typeface="Arial"/>
              </a:rPr>
              <a:t>s</a:t>
            </a:r>
            <a:r>
              <a:rPr sz="2000" spc="-65" dirty="0">
                <a:solidFill>
                  <a:srgbClr val="FFFFFF"/>
                </a:solidFill>
                <a:latin typeface="Arial"/>
                <a:cs typeface="Arial"/>
              </a:rPr>
              <a:t>ac</a:t>
            </a:r>
            <a:r>
              <a:rPr sz="2000" spc="-30" dirty="0">
                <a:solidFill>
                  <a:srgbClr val="FFFFFF"/>
                </a:solidFill>
                <a:latin typeface="Arial"/>
                <a:cs typeface="Arial"/>
              </a:rPr>
              <a:t>t</a:t>
            </a:r>
            <a:r>
              <a:rPr sz="2000" spc="5" dirty="0">
                <a:solidFill>
                  <a:srgbClr val="FFFFFF"/>
                </a:solidFill>
                <a:latin typeface="Arial"/>
                <a:cs typeface="Arial"/>
              </a:rPr>
              <a:t>-</a:t>
            </a:r>
            <a:r>
              <a:rPr sz="2000" dirty="0">
                <a:solidFill>
                  <a:srgbClr val="FFFFFF"/>
                </a:solidFill>
                <a:latin typeface="Arial"/>
                <a:cs typeface="Arial"/>
              </a:rPr>
              <a:t>SQL,	</a:t>
            </a:r>
            <a:r>
              <a:rPr sz="2000" spc="110" dirty="0">
                <a:solidFill>
                  <a:srgbClr val="FFFFFF"/>
                </a:solidFill>
                <a:latin typeface="Arial"/>
                <a:cs typeface="Arial"/>
              </a:rPr>
              <a:t>l</a:t>
            </a:r>
            <a:r>
              <a:rPr sz="2000" spc="-50" dirty="0">
                <a:solidFill>
                  <a:srgbClr val="FFFFFF"/>
                </a:solidFill>
                <a:latin typeface="Arial"/>
                <a:cs typeface="Arial"/>
              </a:rPr>
              <a:t>ocal</a:t>
            </a:r>
            <a:r>
              <a:rPr sz="2000" dirty="0">
                <a:solidFill>
                  <a:srgbClr val="FFFFFF"/>
                </a:solidFill>
                <a:latin typeface="Arial"/>
                <a:cs typeface="Arial"/>
              </a:rPr>
              <a:t>	</a:t>
            </a:r>
            <a:r>
              <a:rPr sz="2000" spc="-25" dirty="0">
                <a:solidFill>
                  <a:srgbClr val="FFFFFF"/>
                </a:solidFill>
                <a:latin typeface="Arial"/>
                <a:cs typeface="Arial"/>
              </a:rPr>
              <a:t>vari</a:t>
            </a:r>
            <a:r>
              <a:rPr sz="2000" spc="-30" dirty="0">
                <a:solidFill>
                  <a:srgbClr val="FFFFFF"/>
                </a:solidFill>
                <a:latin typeface="Arial"/>
                <a:cs typeface="Arial"/>
              </a:rPr>
              <a:t>a</a:t>
            </a:r>
            <a:r>
              <a:rPr sz="2000" spc="65" dirty="0">
                <a:solidFill>
                  <a:srgbClr val="FFFFFF"/>
                </a:solidFill>
                <a:latin typeface="Arial"/>
                <a:cs typeface="Arial"/>
              </a:rPr>
              <a:t>b</a:t>
            </a:r>
            <a:r>
              <a:rPr sz="2000" spc="35" dirty="0">
                <a:solidFill>
                  <a:srgbClr val="FFFFFF"/>
                </a:solidFill>
                <a:latin typeface="Arial"/>
                <a:cs typeface="Arial"/>
              </a:rPr>
              <a:t>l</a:t>
            </a:r>
            <a:r>
              <a:rPr sz="2000" spc="-200" dirty="0">
                <a:solidFill>
                  <a:srgbClr val="FFFFFF"/>
                </a:solidFill>
                <a:latin typeface="Arial"/>
                <a:cs typeface="Arial"/>
              </a:rPr>
              <a:t>es</a:t>
            </a:r>
            <a:r>
              <a:rPr sz="2000" dirty="0">
                <a:solidFill>
                  <a:srgbClr val="FFFFFF"/>
                </a:solidFill>
                <a:latin typeface="Arial"/>
                <a:cs typeface="Arial"/>
              </a:rPr>
              <a:t>	</a:t>
            </a:r>
            <a:r>
              <a:rPr sz="2000" spc="-70" dirty="0">
                <a:solidFill>
                  <a:srgbClr val="FFFFFF"/>
                </a:solidFill>
                <a:latin typeface="Arial"/>
                <a:cs typeface="Arial"/>
              </a:rPr>
              <a:t>a</a:t>
            </a:r>
            <a:r>
              <a:rPr sz="2000" spc="-40" dirty="0">
                <a:solidFill>
                  <a:srgbClr val="FFFFFF"/>
                </a:solidFill>
                <a:latin typeface="Arial"/>
                <a:cs typeface="Arial"/>
              </a:rPr>
              <a:t>r</a:t>
            </a:r>
            <a:r>
              <a:rPr sz="2000" spc="-185" dirty="0">
                <a:solidFill>
                  <a:srgbClr val="FFFFFF"/>
                </a:solidFill>
                <a:latin typeface="Arial"/>
                <a:cs typeface="Arial"/>
              </a:rPr>
              <a:t>e</a:t>
            </a:r>
            <a:r>
              <a:rPr sz="2000" dirty="0">
                <a:solidFill>
                  <a:srgbClr val="FFFFFF"/>
                </a:solidFill>
                <a:latin typeface="Arial"/>
                <a:cs typeface="Arial"/>
              </a:rPr>
              <a:t>	</a:t>
            </a:r>
            <a:r>
              <a:rPr sz="2000" spc="-60" dirty="0">
                <a:solidFill>
                  <a:srgbClr val="FFFFFF"/>
                </a:solidFill>
                <a:latin typeface="Arial"/>
                <a:cs typeface="Arial"/>
              </a:rPr>
              <a:t>crea</a:t>
            </a:r>
            <a:r>
              <a:rPr sz="2000" spc="-25" dirty="0">
                <a:solidFill>
                  <a:srgbClr val="FFFFFF"/>
                </a:solidFill>
                <a:latin typeface="Arial"/>
                <a:cs typeface="Arial"/>
              </a:rPr>
              <a:t>t</a:t>
            </a:r>
            <a:r>
              <a:rPr sz="2000" spc="-85" dirty="0">
                <a:solidFill>
                  <a:srgbClr val="FFFFFF"/>
                </a:solidFill>
                <a:latin typeface="Arial"/>
                <a:cs typeface="Arial"/>
              </a:rPr>
              <a:t>ed</a:t>
            </a:r>
            <a:r>
              <a:rPr sz="2000" dirty="0">
                <a:solidFill>
                  <a:srgbClr val="FFFFFF"/>
                </a:solidFill>
                <a:latin typeface="Arial"/>
                <a:cs typeface="Arial"/>
              </a:rPr>
              <a:t>	</a:t>
            </a:r>
            <a:r>
              <a:rPr sz="2000" spc="-190" dirty="0">
                <a:solidFill>
                  <a:srgbClr val="FFFFFF"/>
                </a:solidFill>
                <a:latin typeface="Arial"/>
                <a:cs typeface="Arial"/>
              </a:rPr>
              <a:t>a</a:t>
            </a:r>
            <a:r>
              <a:rPr sz="2000" spc="70" dirty="0">
                <a:solidFill>
                  <a:srgbClr val="FFFFFF"/>
                </a:solidFill>
                <a:latin typeface="Arial"/>
                <a:cs typeface="Arial"/>
              </a:rPr>
              <a:t>n</a:t>
            </a:r>
            <a:r>
              <a:rPr sz="2000" spc="15" dirty="0">
                <a:solidFill>
                  <a:srgbClr val="FFFFFF"/>
                </a:solidFill>
                <a:latin typeface="Arial"/>
                <a:cs typeface="Arial"/>
              </a:rPr>
              <a:t>d</a:t>
            </a:r>
            <a:r>
              <a:rPr sz="2000" dirty="0">
                <a:solidFill>
                  <a:srgbClr val="FFFFFF"/>
                </a:solidFill>
                <a:latin typeface="Arial"/>
                <a:cs typeface="Arial"/>
              </a:rPr>
              <a:t>	</a:t>
            </a:r>
            <a:r>
              <a:rPr sz="2000" spc="-120" dirty="0">
                <a:solidFill>
                  <a:srgbClr val="FFFFFF"/>
                </a:solidFill>
                <a:latin typeface="Arial"/>
                <a:cs typeface="Arial"/>
              </a:rPr>
              <a:t>use</a:t>
            </a:r>
            <a:r>
              <a:rPr sz="2000" spc="15" dirty="0">
                <a:solidFill>
                  <a:srgbClr val="FFFFFF"/>
                </a:solidFill>
                <a:latin typeface="Arial"/>
                <a:cs typeface="Arial"/>
              </a:rPr>
              <a:t>d</a:t>
            </a:r>
            <a:r>
              <a:rPr sz="2000" dirty="0">
                <a:solidFill>
                  <a:srgbClr val="FFFFFF"/>
                </a:solidFill>
                <a:latin typeface="Arial"/>
                <a:cs typeface="Arial"/>
              </a:rPr>
              <a:t>	</a:t>
            </a:r>
            <a:r>
              <a:rPr sz="2000" spc="55" dirty="0">
                <a:solidFill>
                  <a:srgbClr val="FFFFFF"/>
                </a:solidFill>
                <a:latin typeface="Arial"/>
                <a:cs typeface="Arial"/>
              </a:rPr>
              <a:t>for  </a:t>
            </a:r>
            <a:r>
              <a:rPr sz="2000" spc="-15" dirty="0">
                <a:solidFill>
                  <a:srgbClr val="FFFFFF"/>
                </a:solidFill>
                <a:latin typeface="Arial"/>
                <a:cs typeface="Arial"/>
              </a:rPr>
              <a:t>temporary</a:t>
            </a:r>
            <a:r>
              <a:rPr sz="2000" spc="-105" dirty="0">
                <a:solidFill>
                  <a:srgbClr val="FFFFFF"/>
                </a:solidFill>
                <a:latin typeface="Arial"/>
                <a:cs typeface="Arial"/>
              </a:rPr>
              <a:t> </a:t>
            </a:r>
            <a:r>
              <a:rPr sz="2000" spc="-80" dirty="0">
                <a:solidFill>
                  <a:srgbClr val="FFFFFF"/>
                </a:solidFill>
                <a:latin typeface="Arial"/>
                <a:cs typeface="Arial"/>
              </a:rPr>
              <a:t>storage</a:t>
            </a:r>
            <a:r>
              <a:rPr sz="2000" spc="-114" dirty="0">
                <a:solidFill>
                  <a:srgbClr val="FFFFFF"/>
                </a:solidFill>
                <a:latin typeface="Arial"/>
                <a:cs typeface="Arial"/>
              </a:rPr>
              <a:t> </a:t>
            </a:r>
            <a:r>
              <a:rPr sz="2000" spc="30" dirty="0">
                <a:solidFill>
                  <a:srgbClr val="FFFFFF"/>
                </a:solidFill>
                <a:latin typeface="Arial"/>
                <a:cs typeface="Arial"/>
              </a:rPr>
              <a:t>while</a:t>
            </a:r>
            <a:r>
              <a:rPr sz="2000" spc="-114" dirty="0">
                <a:solidFill>
                  <a:srgbClr val="FFFFFF"/>
                </a:solidFill>
                <a:latin typeface="Arial"/>
                <a:cs typeface="Arial"/>
              </a:rPr>
              <a:t> </a:t>
            </a:r>
            <a:r>
              <a:rPr sz="2000" spc="20" dirty="0">
                <a:solidFill>
                  <a:srgbClr val="FFFFFF"/>
                </a:solidFill>
                <a:latin typeface="Arial"/>
                <a:cs typeface="Arial"/>
              </a:rPr>
              <a:t>SQL</a:t>
            </a:r>
            <a:r>
              <a:rPr sz="2000" spc="-135" dirty="0">
                <a:solidFill>
                  <a:srgbClr val="FFFFFF"/>
                </a:solidFill>
                <a:latin typeface="Arial"/>
                <a:cs typeface="Arial"/>
              </a:rPr>
              <a:t> </a:t>
            </a:r>
            <a:r>
              <a:rPr sz="2000" spc="-55" dirty="0">
                <a:solidFill>
                  <a:srgbClr val="FFFFFF"/>
                </a:solidFill>
                <a:latin typeface="Arial"/>
                <a:cs typeface="Arial"/>
              </a:rPr>
              <a:t>statements</a:t>
            </a:r>
            <a:r>
              <a:rPr sz="2000" spc="-100" dirty="0">
                <a:solidFill>
                  <a:srgbClr val="FFFFFF"/>
                </a:solidFill>
                <a:latin typeface="Arial"/>
                <a:cs typeface="Arial"/>
              </a:rPr>
              <a:t> are</a:t>
            </a:r>
            <a:r>
              <a:rPr sz="2000" spc="-125" dirty="0">
                <a:solidFill>
                  <a:srgbClr val="FFFFFF"/>
                </a:solidFill>
                <a:latin typeface="Arial"/>
                <a:cs typeface="Arial"/>
              </a:rPr>
              <a:t> </a:t>
            </a:r>
            <a:r>
              <a:rPr sz="2000" spc="-50" dirty="0">
                <a:solidFill>
                  <a:srgbClr val="FFFFFF"/>
                </a:solidFill>
                <a:latin typeface="Arial"/>
                <a:cs typeface="Arial"/>
              </a:rPr>
              <a:t>executed.</a:t>
            </a:r>
            <a:endParaRPr sz="2000">
              <a:latin typeface="Arial"/>
              <a:cs typeface="Arial"/>
            </a:endParaRPr>
          </a:p>
          <a:p>
            <a:pPr marL="355600" indent="-342900">
              <a:lnSpc>
                <a:spcPct val="100000"/>
              </a:lnSpc>
              <a:buClr>
                <a:srgbClr val="000000"/>
              </a:buClr>
              <a:buChar char="•"/>
              <a:tabLst>
                <a:tab pos="354965" algn="l"/>
                <a:tab pos="355600" algn="l"/>
              </a:tabLst>
            </a:pPr>
            <a:r>
              <a:rPr sz="2000" spc="-30" dirty="0">
                <a:solidFill>
                  <a:srgbClr val="FFFFFF"/>
                </a:solidFill>
                <a:latin typeface="Arial"/>
                <a:cs typeface="Arial"/>
              </a:rPr>
              <a:t>Data</a:t>
            </a:r>
            <a:r>
              <a:rPr sz="2000" spc="-125" dirty="0">
                <a:solidFill>
                  <a:srgbClr val="FFFFFF"/>
                </a:solidFill>
                <a:latin typeface="Arial"/>
                <a:cs typeface="Arial"/>
              </a:rPr>
              <a:t> </a:t>
            </a:r>
            <a:r>
              <a:rPr sz="2000" spc="-75" dirty="0">
                <a:solidFill>
                  <a:srgbClr val="FFFFFF"/>
                </a:solidFill>
                <a:latin typeface="Arial"/>
                <a:cs typeface="Arial"/>
              </a:rPr>
              <a:t>can</a:t>
            </a:r>
            <a:r>
              <a:rPr sz="2000" spc="-130" dirty="0">
                <a:solidFill>
                  <a:srgbClr val="FFFFFF"/>
                </a:solidFill>
                <a:latin typeface="Arial"/>
                <a:cs typeface="Arial"/>
              </a:rPr>
              <a:t> </a:t>
            </a:r>
            <a:r>
              <a:rPr sz="2000" spc="-105" dirty="0">
                <a:solidFill>
                  <a:srgbClr val="FFFFFF"/>
                </a:solidFill>
                <a:latin typeface="Arial"/>
                <a:cs typeface="Arial"/>
              </a:rPr>
              <a:t>be</a:t>
            </a:r>
            <a:r>
              <a:rPr sz="2000" spc="-114" dirty="0">
                <a:solidFill>
                  <a:srgbClr val="FFFFFF"/>
                </a:solidFill>
                <a:latin typeface="Arial"/>
                <a:cs typeface="Arial"/>
              </a:rPr>
              <a:t> </a:t>
            </a:r>
            <a:r>
              <a:rPr sz="2000" spc="-135" dirty="0">
                <a:solidFill>
                  <a:srgbClr val="FFFFFF"/>
                </a:solidFill>
                <a:latin typeface="Arial"/>
                <a:cs typeface="Arial"/>
              </a:rPr>
              <a:t>passed</a:t>
            </a:r>
            <a:r>
              <a:rPr sz="2000" spc="-120" dirty="0">
                <a:solidFill>
                  <a:srgbClr val="FFFFFF"/>
                </a:solidFill>
                <a:latin typeface="Arial"/>
                <a:cs typeface="Arial"/>
              </a:rPr>
              <a:t> </a:t>
            </a:r>
            <a:r>
              <a:rPr sz="2000" spc="50" dirty="0">
                <a:solidFill>
                  <a:srgbClr val="FFFFFF"/>
                </a:solidFill>
                <a:latin typeface="Arial"/>
                <a:cs typeface="Arial"/>
              </a:rPr>
              <a:t>to</a:t>
            </a:r>
            <a:r>
              <a:rPr sz="2000" spc="-120" dirty="0">
                <a:solidFill>
                  <a:srgbClr val="FFFFFF"/>
                </a:solidFill>
                <a:latin typeface="Arial"/>
                <a:cs typeface="Arial"/>
              </a:rPr>
              <a:t> </a:t>
            </a:r>
            <a:r>
              <a:rPr sz="2000" spc="20" dirty="0">
                <a:solidFill>
                  <a:srgbClr val="FFFFFF"/>
                </a:solidFill>
                <a:latin typeface="Arial"/>
                <a:cs typeface="Arial"/>
              </a:rPr>
              <a:t>SQL</a:t>
            </a:r>
            <a:r>
              <a:rPr sz="2000" spc="-135" dirty="0">
                <a:solidFill>
                  <a:srgbClr val="FFFFFF"/>
                </a:solidFill>
                <a:latin typeface="Arial"/>
                <a:cs typeface="Arial"/>
              </a:rPr>
              <a:t> </a:t>
            </a:r>
            <a:r>
              <a:rPr sz="2000" spc="-55" dirty="0">
                <a:solidFill>
                  <a:srgbClr val="FFFFFF"/>
                </a:solidFill>
                <a:latin typeface="Arial"/>
                <a:cs typeface="Arial"/>
              </a:rPr>
              <a:t>statements</a:t>
            </a:r>
            <a:r>
              <a:rPr sz="2000" spc="-100" dirty="0">
                <a:solidFill>
                  <a:srgbClr val="FFFFFF"/>
                </a:solidFill>
                <a:latin typeface="Arial"/>
                <a:cs typeface="Arial"/>
              </a:rPr>
              <a:t> </a:t>
            </a:r>
            <a:r>
              <a:rPr sz="2000" spc="-25" dirty="0">
                <a:solidFill>
                  <a:srgbClr val="FFFFFF"/>
                </a:solidFill>
                <a:latin typeface="Arial"/>
                <a:cs typeface="Arial"/>
              </a:rPr>
              <a:t>using</a:t>
            </a:r>
            <a:r>
              <a:rPr sz="2000" spc="-130" dirty="0">
                <a:solidFill>
                  <a:srgbClr val="FFFFFF"/>
                </a:solidFill>
                <a:latin typeface="Arial"/>
                <a:cs typeface="Arial"/>
              </a:rPr>
              <a:t> </a:t>
            </a:r>
            <a:r>
              <a:rPr sz="2000" spc="-20" dirty="0">
                <a:solidFill>
                  <a:srgbClr val="FFFFFF"/>
                </a:solidFill>
                <a:latin typeface="Arial"/>
                <a:cs typeface="Arial"/>
              </a:rPr>
              <a:t>local</a:t>
            </a:r>
            <a:r>
              <a:rPr sz="2000" spc="-120" dirty="0">
                <a:solidFill>
                  <a:srgbClr val="FFFFFF"/>
                </a:solidFill>
                <a:latin typeface="Arial"/>
                <a:cs typeface="Arial"/>
              </a:rPr>
              <a:t> </a:t>
            </a:r>
            <a:r>
              <a:rPr sz="2000" spc="-50" dirty="0">
                <a:solidFill>
                  <a:srgbClr val="FFFFFF"/>
                </a:solidFill>
                <a:latin typeface="Arial"/>
                <a:cs typeface="Arial"/>
              </a:rPr>
              <a:t>variables.</a:t>
            </a:r>
            <a:endParaRPr sz="2000">
              <a:latin typeface="Arial"/>
              <a:cs typeface="Arial"/>
            </a:endParaRPr>
          </a:p>
          <a:p>
            <a:pPr marL="355600" indent="-342900">
              <a:lnSpc>
                <a:spcPct val="100000"/>
              </a:lnSpc>
              <a:buClr>
                <a:srgbClr val="000000"/>
              </a:buClr>
              <a:buChar char="•"/>
              <a:tabLst>
                <a:tab pos="354965" algn="l"/>
                <a:tab pos="355600" algn="l"/>
              </a:tabLst>
            </a:pPr>
            <a:r>
              <a:rPr sz="2000" spc="20" dirty="0">
                <a:solidFill>
                  <a:srgbClr val="FFFFFF"/>
                </a:solidFill>
                <a:latin typeface="Arial"/>
                <a:cs typeface="Arial"/>
              </a:rPr>
              <a:t>The</a:t>
            </a:r>
            <a:r>
              <a:rPr sz="2000" spc="-130" dirty="0">
                <a:solidFill>
                  <a:srgbClr val="FFFFFF"/>
                </a:solidFill>
                <a:latin typeface="Arial"/>
                <a:cs typeface="Arial"/>
              </a:rPr>
              <a:t> </a:t>
            </a:r>
            <a:r>
              <a:rPr sz="2000" spc="-80" dirty="0">
                <a:solidFill>
                  <a:srgbClr val="FFFFFF"/>
                </a:solidFill>
                <a:latin typeface="Arial"/>
                <a:cs typeface="Arial"/>
              </a:rPr>
              <a:t>name</a:t>
            </a:r>
            <a:r>
              <a:rPr sz="2000" spc="-120" dirty="0">
                <a:solidFill>
                  <a:srgbClr val="FFFFFF"/>
                </a:solidFill>
                <a:latin typeface="Arial"/>
                <a:cs typeface="Arial"/>
              </a:rPr>
              <a:t> </a:t>
            </a:r>
            <a:r>
              <a:rPr sz="2000" spc="50" dirty="0">
                <a:solidFill>
                  <a:srgbClr val="FFFFFF"/>
                </a:solidFill>
                <a:latin typeface="Arial"/>
                <a:cs typeface="Arial"/>
              </a:rPr>
              <a:t>of</a:t>
            </a:r>
            <a:r>
              <a:rPr sz="2000" spc="-125" dirty="0">
                <a:solidFill>
                  <a:srgbClr val="FFFFFF"/>
                </a:solidFill>
                <a:latin typeface="Arial"/>
                <a:cs typeface="Arial"/>
              </a:rPr>
              <a:t> </a:t>
            </a:r>
            <a:r>
              <a:rPr sz="2000" spc="-195" dirty="0">
                <a:solidFill>
                  <a:srgbClr val="FFFFFF"/>
                </a:solidFill>
                <a:latin typeface="Arial"/>
                <a:cs typeface="Arial"/>
              </a:rPr>
              <a:t>a</a:t>
            </a:r>
            <a:r>
              <a:rPr sz="2000" spc="-130" dirty="0">
                <a:solidFill>
                  <a:srgbClr val="FFFFFF"/>
                </a:solidFill>
                <a:latin typeface="Arial"/>
                <a:cs typeface="Arial"/>
              </a:rPr>
              <a:t> </a:t>
            </a:r>
            <a:r>
              <a:rPr sz="2000" spc="-20" dirty="0">
                <a:solidFill>
                  <a:srgbClr val="FFFFFF"/>
                </a:solidFill>
                <a:latin typeface="Arial"/>
                <a:cs typeface="Arial"/>
              </a:rPr>
              <a:t>local</a:t>
            </a:r>
            <a:r>
              <a:rPr sz="2000" spc="-114" dirty="0">
                <a:solidFill>
                  <a:srgbClr val="FFFFFF"/>
                </a:solidFill>
                <a:latin typeface="Arial"/>
                <a:cs typeface="Arial"/>
              </a:rPr>
              <a:t> </a:t>
            </a:r>
            <a:r>
              <a:rPr sz="2000" spc="-30" dirty="0">
                <a:solidFill>
                  <a:srgbClr val="FFFFFF"/>
                </a:solidFill>
                <a:latin typeface="Arial"/>
                <a:cs typeface="Arial"/>
              </a:rPr>
              <a:t>variable</a:t>
            </a:r>
            <a:r>
              <a:rPr sz="2000" spc="-110" dirty="0">
                <a:solidFill>
                  <a:srgbClr val="FFFFFF"/>
                </a:solidFill>
                <a:latin typeface="Arial"/>
                <a:cs typeface="Arial"/>
              </a:rPr>
              <a:t> </a:t>
            </a:r>
            <a:r>
              <a:rPr sz="2000" spc="-20" dirty="0">
                <a:solidFill>
                  <a:srgbClr val="FFFFFF"/>
                </a:solidFill>
                <a:latin typeface="Arial"/>
                <a:cs typeface="Arial"/>
              </a:rPr>
              <a:t>must</a:t>
            </a:r>
            <a:r>
              <a:rPr sz="2000" spc="-125" dirty="0">
                <a:solidFill>
                  <a:srgbClr val="FFFFFF"/>
                </a:solidFill>
                <a:latin typeface="Arial"/>
                <a:cs typeface="Arial"/>
              </a:rPr>
              <a:t> </a:t>
            </a:r>
            <a:r>
              <a:rPr sz="2000" spc="-105" dirty="0">
                <a:solidFill>
                  <a:srgbClr val="FFFFFF"/>
                </a:solidFill>
                <a:latin typeface="Arial"/>
                <a:cs typeface="Arial"/>
              </a:rPr>
              <a:t>be</a:t>
            </a:r>
            <a:r>
              <a:rPr sz="2000" spc="-120" dirty="0">
                <a:solidFill>
                  <a:srgbClr val="FFFFFF"/>
                </a:solidFill>
                <a:latin typeface="Arial"/>
                <a:cs typeface="Arial"/>
              </a:rPr>
              <a:t> </a:t>
            </a:r>
            <a:r>
              <a:rPr sz="2000" spc="10" dirty="0">
                <a:solidFill>
                  <a:srgbClr val="FFFFFF"/>
                </a:solidFill>
                <a:latin typeface="Arial"/>
                <a:cs typeface="Arial"/>
              </a:rPr>
              <a:t>prefixed</a:t>
            </a:r>
            <a:r>
              <a:rPr sz="2000" spc="-120" dirty="0">
                <a:solidFill>
                  <a:srgbClr val="FFFFFF"/>
                </a:solidFill>
                <a:latin typeface="Arial"/>
                <a:cs typeface="Arial"/>
              </a:rPr>
              <a:t> </a:t>
            </a:r>
            <a:r>
              <a:rPr sz="2000" spc="90" dirty="0">
                <a:solidFill>
                  <a:srgbClr val="FFFFFF"/>
                </a:solidFill>
                <a:latin typeface="Arial"/>
                <a:cs typeface="Arial"/>
              </a:rPr>
              <a:t>with</a:t>
            </a:r>
            <a:r>
              <a:rPr sz="2000" spc="-125" dirty="0">
                <a:solidFill>
                  <a:srgbClr val="FFFFFF"/>
                </a:solidFill>
                <a:latin typeface="Arial"/>
                <a:cs typeface="Arial"/>
              </a:rPr>
              <a:t> </a:t>
            </a:r>
            <a:r>
              <a:rPr sz="2000" spc="-35" dirty="0">
                <a:solidFill>
                  <a:srgbClr val="FFFFFF"/>
                </a:solidFill>
                <a:latin typeface="Arial"/>
                <a:cs typeface="Arial"/>
              </a:rPr>
              <a:t>'@'</a:t>
            </a:r>
            <a:r>
              <a:rPr sz="2000" spc="-135" dirty="0">
                <a:solidFill>
                  <a:srgbClr val="FFFFFF"/>
                </a:solidFill>
                <a:latin typeface="Arial"/>
                <a:cs typeface="Arial"/>
              </a:rPr>
              <a:t> </a:t>
            </a:r>
            <a:r>
              <a:rPr sz="2000" spc="-45" dirty="0">
                <a:solidFill>
                  <a:srgbClr val="FFFFFF"/>
                </a:solidFill>
                <a:latin typeface="Arial"/>
                <a:cs typeface="Arial"/>
              </a:rPr>
              <a:t>sign.</a:t>
            </a:r>
            <a:endParaRPr sz="2000">
              <a:latin typeface="Arial"/>
              <a:cs typeface="Arial"/>
            </a:endParaRPr>
          </a:p>
          <a:p>
            <a:pPr>
              <a:lnSpc>
                <a:spcPct val="100000"/>
              </a:lnSpc>
            </a:pPr>
            <a:endParaRPr sz="2800">
              <a:latin typeface="Arial"/>
              <a:cs typeface="Arial"/>
            </a:endParaRPr>
          </a:p>
          <a:p>
            <a:pPr marL="70485">
              <a:lnSpc>
                <a:spcPct val="100000"/>
              </a:lnSpc>
              <a:spcBef>
                <a:spcPts val="1975"/>
              </a:spcBef>
            </a:pPr>
            <a:r>
              <a:rPr sz="2000" spc="-20" dirty="0">
                <a:solidFill>
                  <a:srgbClr val="FFFFFF"/>
                </a:solidFill>
                <a:latin typeface="Arial"/>
                <a:cs typeface="Arial"/>
              </a:rPr>
              <a:t>For</a:t>
            </a:r>
            <a:r>
              <a:rPr sz="2000" spc="-120" dirty="0">
                <a:solidFill>
                  <a:srgbClr val="FFFFFF"/>
                </a:solidFill>
                <a:latin typeface="Arial"/>
                <a:cs typeface="Arial"/>
              </a:rPr>
              <a:t> </a:t>
            </a:r>
            <a:r>
              <a:rPr sz="2000" spc="-55" dirty="0">
                <a:solidFill>
                  <a:srgbClr val="FFFFFF"/>
                </a:solidFill>
                <a:latin typeface="Arial"/>
                <a:cs typeface="Arial"/>
              </a:rPr>
              <a:t>example,</a:t>
            </a:r>
            <a:endParaRPr sz="2000">
              <a:latin typeface="Arial"/>
              <a:cs typeface="Arial"/>
            </a:endParaRPr>
          </a:p>
          <a:p>
            <a:pPr marL="70485" marR="3018790">
              <a:lnSpc>
                <a:spcPct val="100000"/>
              </a:lnSpc>
              <a:spcBef>
                <a:spcPts val="2440"/>
              </a:spcBef>
            </a:pPr>
            <a:r>
              <a:rPr sz="1800" spc="55" dirty="0">
                <a:solidFill>
                  <a:srgbClr val="FFFFFF"/>
                </a:solidFill>
                <a:latin typeface="Arial"/>
                <a:cs typeface="Arial"/>
              </a:rPr>
              <a:t>DECLARE </a:t>
            </a:r>
            <a:r>
              <a:rPr sz="1800" spc="-40" dirty="0">
                <a:solidFill>
                  <a:srgbClr val="FFFFFF"/>
                </a:solidFill>
                <a:latin typeface="Arial"/>
                <a:cs typeface="Arial"/>
              </a:rPr>
              <a:t>@SearchWord</a:t>
            </a:r>
            <a:r>
              <a:rPr sz="1800" spc="-310" dirty="0">
                <a:solidFill>
                  <a:srgbClr val="FFFFFF"/>
                </a:solidFill>
                <a:latin typeface="Arial"/>
                <a:cs typeface="Arial"/>
              </a:rPr>
              <a:t> </a:t>
            </a:r>
            <a:r>
              <a:rPr sz="1800" spc="65" dirty="0">
                <a:solidFill>
                  <a:srgbClr val="FFFFFF"/>
                </a:solidFill>
                <a:latin typeface="Arial"/>
                <a:cs typeface="Arial"/>
              </a:rPr>
              <a:t>NVARCHAR(30)  </a:t>
            </a:r>
            <a:r>
              <a:rPr sz="1800" spc="-30" dirty="0">
                <a:solidFill>
                  <a:srgbClr val="FFFFFF"/>
                </a:solidFill>
                <a:latin typeface="Arial"/>
                <a:cs typeface="Arial"/>
              </a:rPr>
              <a:t>SET </a:t>
            </a:r>
            <a:r>
              <a:rPr sz="1800" spc="-40" dirty="0">
                <a:solidFill>
                  <a:srgbClr val="FFFFFF"/>
                </a:solidFill>
                <a:latin typeface="Arial"/>
                <a:cs typeface="Arial"/>
              </a:rPr>
              <a:t>@SearchWord </a:t>
            </a:r>
            <a:r>
              <a:rPr sz="1800" spc="-105" dirty="0">
                <a:solidFill>
                  <a:srgbClr val="FFFFFF"/>
                </a:solidFill>
                <a:latin typeface="Arial"/>
                <a:cs typeface="Arial"/>
              </a:rPr>
              <a:t>=</a:t>
            </a:r>
            <a:r>
              <a:rPr sz="1800" spc="-280" dirty="0">
                <a:solidFill>
                  <a:srgbClr val="FFFFFF"/>
                </a:solidFill>
                <a:latin typeface="Arial"/>
                <a:cs typeface="Arial"/>
              </a:rPr>
              <a:t> </a:t>
            </a:r>
            <a:r>
              <a:rPr sz="1800" spc="5" dirty="0">
                <a:solidFill>
                  <a:srgbClr val="FFFFFF"/>
                </a:solidFill>
                <a:latin typeface="Arial"/>
                <a:cs typeface="Arial"/>
              </a:rPr>
              <a:t>N'performance'</a:t>
            </a:r>
            <a:endParaRPr sz="1800">
              <a:latin typeface="Arial"/>
              <a:cs typeface="Arial"/>
            </a:endParaRPr>
          </a:p>
        </p:txBody>
      </p:sp>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18</a:t>
            </a:fld>
            <a:endParaRPr sz="1200"/>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4019" y="0"/>
            <a:ext cx="2642870" cy="635635"/>
          </a:xfrm>
          <a:prstGeom prst="rect">
            <a:avLst/>
          </a:prstGeom>
        </p:spPr>
        <p:txBody>
          <a:bodyPr vert="horz" wrap="square" lIns="0" tIns="12700" rIns="0" bIns="0" rtlCol="0">
            <a:spAutoFit/>
          </a:bodyPr>
          <a:lstStyle/>
          <a:p>
            <a:pPr marL="12700">
              <a:lnSpc>
                <a:spcPct val="100000"/>
              </a:lnSpc>
              <a:spcBef>
                <a:spcPts val="100"/>
              </a:spcBef>
            </a:pPr>
            <a:r>
              <a:rPr spc="-110" dirty="0"/>
              <a:t>Expressions</a:t>
            </a:r>
          </a:p>
        </p:txBody>
      </p:sp>
      <p:grpSp>
        <p:nvGrpSpPr>
          <p:cNvPr id="3" name="object 3"/>
          <p:cNvGrpSpPr/>
          <p:nvPr/>
        </p:nvGrpSpPr>
        <p:grpSpPr>
          <a:xfrm>
            <a:off x="525018" y="996670"/>
            <a:ext cx="8087359" cy="1003935"/>
            <a:chOff x="525018" y="996670"/>
            <a:chExt cx="8087359" cy="1003935"/>
          </a:xfrm>
        </p:grpSpPr>
        <p:pic>
          <p:nvPicPr>
            <p:cNvPr id="4" name="object 4"/>
            <p:cNvPicPr/>
            <p:nvPr/>
          </p:nvPicPr>
          <p:blipFill>
            <a:blip r:embed="rId3" cstate="print"/>
            <a:stretch>
              <a:fillRect/>
            </a:stretch>
          </p:blipFill>
          <p:spPr>
            <a:xfrm>
              <a:off x="525018" y="996670"/>
              <a:ext cx="8087106" cy="1003579"/>
            </a:xfrm>
            <a:prstGeom prst="rect">
              <a:avLst/>
            </a:prstGeom>
          </p:spPr>
        </p:pic>
        <p:pic>
          <p:nvPicPr>
            <p:cNvPr id="5" name="object 5"/>
            <p:cNvPicPr/>
            <p:nvPr/>
          </p:nvPicPr>
          <p:blipFill>
            <a:blip r:embed="rId4" cstate="print"/>
            <a:stretch>
              <a:fillRect/>
            </a:stretch>
          </p:blipFill>
          <p:spPr>
            <a:xfrm>
              <a:off x="566166" y="1014983"/>
              <a:ext cx="8011668" cy="928115"/>
            </a:xfrm>
            <a:prstGeom prst="rect">
              <a:avLst/>
            </a:prstGeom>
          </p:spPr>
        </p:pic>
      </p:grpSp>
      <p:grpSp>
        <p:nvGrpSpPr>
          <p:cNvPr id="6" name="object 6"/>
          <p:cNvGrpSpPr/>
          <p:nvPr/>
        </p:nvGrpSpPr>
        <p:grpSpPr>
          <a:xfrm>
            <a:off x="508254" y="2245588"/>
            <a:ext cx="8087995" cy="1003935"/>
            <a:chOff x="508254" y="2245588"/>
            <a:chExt cx="8087995" cy="1003935"/>
          </a:xfrm>
        </p:grpSpPr>
        <p:pic>
          <p:nvPicPr>
            <p:cNvPr id="7" name="object 7"/>
            <p:cNvPicPr/>
            <p:nvPr/>
          </p:nvPicPr>
          <p:blipFill>
            <a:blip r:embed="rId3" cstate="print"/>
            <a:stretch>
              <a:fillRect/>
            </a:stretch>
          </p:blipFill>
          <p:spPr>
            <a:xfrm>
              <a:off x="508254" y="2245588"/>
              <a:ext cx="8087868" cy="1003579"/>
            </a:xfrm>
            <a:prstGeom prst="rect">
              <a:avLst/>
            </a:prstGeom>
          </p:spPr>
        </p:pic>
        <p:pic>
          <p:nvPicPr>
            <p:cNvPr id="8" name="object 8"/>
            <p:cNvPicPr/>
            <p:nvPr/>
          </p:nvPicPr>
          <p:blipFill>
            <a:blip r:embed="rId5" cstate="print"/>
            <a:stretch>
              <a:fillRect/>
            </a:stretch>
          </p:blipFill>
          <p:spPr>
            <a:xfrm>
              <a:off x="549402" y="2263901"/>
              <a:ext cx="8012430" cy="928115"/>
            </a:xfrm>
            <a:prstGeom prst="rect">
              <a:avLst/>
            </a:prstGeom>
          </p:spPr>
        </p:pic>
      </p:grpSp>
      <p:sp>
        <p:nvSpPr>
          <p:cNvPr id="9" name="object 9"/>
          <p:cNvSpPr txBox="1"/>
          <p:nvPr/>
        </p:nvSpPr>
        <p:spPr>
          <a:xfrm>
            <a:off x="733298" y="1063244"/>
            <a:ext cx="7762240" cy="1853564"/>
          </a:xfrm>
          <a:prstGeom prst="rect">
            <a:avLst/>
          </a:prstGeom>
        </p:spPr>
        <p:txBody>
          <a:bodyPr vert="horz" wrap="square" lIns="0" tIns="46990" rIns="0" bIns="0" rtlCol="0">
            <a:spAutoFit/>
          </a:bodyPr>
          <a:lstStyle/>
          <a:p>
            <a:pPr marL="28575" marR="5080">
              <a:lnSpc>
                <a:spcPts val="2160"/>
              </a:lnSpc>
              <a:spcBef>
                <a:spcPts val="370"/>
              </a:spcBef>
            </a:pPr>
            <a:r>
              <a:rPr sz="2000" spc="175" dirty="0">
                <a:solidFill>
                  <a:srgbClr val="FFFFFF"/>
                </a:solidFill>
                <a:latin typeface="Arial"/>
                <a:cs typeface="Arial"/>
              </a:rPr>
              <a:t>An </a:t>
            </a:r>
            <a:r>
              <a:rPr sz="2000" spc="-45" dirty="0">
                <a:solidFill>
                  <a:srgbClr val="FFFFFF"/>
                </a:solidFill>
                <a:latin typeface="Arial"/>
                <a:cs typeface="Arial"/>
              </a:rPr>
              <a:t>expression </a:t>
            </a:r>
            <a:r>
              <a:rPr sz="2000" spc="-50" dirty="0">
                <a:solidFill>
                  <a:srgbClr val="FFFFFF"/>
                </a:solidFill>
                <a:latin typeface="Arial"/>
                <a:cs typeface="Arial"/>
              </a:rPr>
              <a:t>is </a:t>
            </a:r>
            <a:r>
              <a:rPr sz="2000" spc="-195" dirty="0">
                <a:solidFill>
                  <a:srgbClr val="FFFFFF"/>
                </a:solidFill>
                <a:latin typeface="Arial"/>
                <a:cs typeface="Arial"/>
              </a:rPr>
              <a:t>a </a:t>
            </a:r>
            <a:r>
              <a:rPr sz="2000" spc="15" dirty="0">
                <a:solidFill>
                  <a:srgbClr val="FFFFFF"/>
                </a:solidFill>
                <a:latin typeface="Arial"/>
                <a:cs typeface="Arial"/>
              </a:rPr>
              <a:t>combination </a:t>
            </a:r>
            <a:r>
              <a:rPr sz="2000" spc="50" dirty="0">
                <a:solidFill>
                  <a:srgbClr val="FFFFFF"/>
                </a:solidFill>
                <a:latin typeface="Arial"/>
                <a:cs typeface="Arial"/>
              </a:rPr>
              <a:t>of </a:t>
            </a:r>
            <a:r>
              <a:rPr sz="2000" spc="10" dirty="0">
                <a:solidFill>
                  <a:srgbClr val="FFFFFF"/>
                </a:solidFill>
                <a:latin typeface="Arial"/>
                <a:cs typeface="Arial"/>
              </a:rPr>
              <a:t>identifiers, </a:t>
            </a:r>
            <a:r>
              <a:rPr sz="2000" spc="-65" dirty="0">
                <a:solidFill>
                  <a:srgbClr val="FFFFFF"/>
                </a:solidFill>
                <a:latin typeface="Arial"/>
                <a:cs typeface="Arial"/>
              </a:rPr>
              <a:t>values, </a:t>
            </a:r>
            <a:r>
              <a:rPr sz="2000" spc="-35" dirty="0">
                <a:solidFill>
                  <a:srgbClr val="FFFFFF"/>
                </a:solidFill>
                <a:latin typeface="Arial"/>
                <a:cs typeface="Arial"/>
              </a:rPr>
              <a:t>and </a:t>
            </a:r>
            <a:r>
              <a:rPr sz="2000" spc="-40" dirty="0">
                <a:solidFill>
                  <a:srgbClr val="FFFFFF"/>
                </a:solidFill>
                <a:latin typeface="Arial"/>
                <a:cs typeface="Arial"/>
              </a:rPr>
              <a:t>operators  </a:t>
            </a:r>
            <a:r>
              <a:rPr sz="2000" spc="30" dirty="0">
                <a:solidFill>
                  <a:srgbClr val="FFFFFF"/>
                </a:solidFill>
                <a:latin typeface="Arial"/>
                <a:cs typeface="Arial"/>
              </a:rPr>
              <a:t>that</a:t>
            </a:r>
            <a:r>
              <a:rPr sz="2000" spc="-125" dirty="0">
                <a:solidFill>
                  <a:srgbClr val="FFFFFF"/>
                </a:solidFill>
                <a:latin typeface="Arial"/>
                <a:cs typeface="Arial"/>
              </a:rPr>
              <a:t> </a:t>
            </a:r>
            <a:r>
              <a:rPr sz="2000" spc="20" dirty="0">
                <a:solidFill>
                  <a:srgbClr val="FFFFFF"/>
                </a:solidFill>
                <a:latin typeface="Arial"/>
                <a:cs typeface="Arial"/>
              </a:rPr>
              <a:t>SQL</a:t>
            </a:r>
            <a:r>
              <a:rPr sz="2000" spc="-135" dirty="0">
                <a:solidFill>
                  <a:srgbClr val="FFFFFF"/>
                </a:solidFill>
                <a:latin typeface="Arial"/>
                <a:cs typeface="Arial"/>
              </a:rPr>
              <a:t> </a:t>
            </a:r>
            <a:r>
              <a:rPr sz="2000" spc="-50" dirty="0">
                <a:solidFill>
                  <a:srgbClr val="FFFFFF"/>
                </a:solidFill>
                <a:latin typeface="Arial"/>
                <a:cs typeface="Arial"/>
              </a:rPr>
              <a:t>Server</a:t>
            </a:r>
            <a:r>
              <a:rPr sz="2000" spc="-120" dirty="0">
                <a:solidFill>
                  <a:srgbClr val="FFFFFF"/>
                </a:solidFill>
                <a:latin typeface="Arial"/>
                <a:cs typeface="Arial"/>
              </a:rPr>
              <a:t> </a:t>
            </a:r>
            <a:r>
              <a:rPr sz="2000" spc="-75" dirty="0">
                <a:solidFill>
                  <a:srgbClr val="FFFFFF"/>
                </a:solidFill>
                <a:latin typeface="Arial"/>
                <a:cs typeface="Arial"/>
              </a:rPr>
              <a:t>can</a:t>
            </a:r>
            <a:r>
              <a:rPr sz="2000" spc="-130" dirty="0">
                <a:solidFill>
                  <a:srgbClr val="FFFFFF"/>
                </a:solidFill>
                <a:latin typeface="Arial"/>
                <a:cs typeface="Arial"/>
              </a:rPr>
              <a:t> </a:t>
            </a:r>
            <a:r>
              <a:rPr sz="2000" spc="-55" dirty="0">
                <a:solidFill>
                  <a:srgbClr val="FFFFFF"/>
                </a:solidFill>
                <a:latin typeface="Arial"/>
                <a:cs typeface="Arial"/>
              </a:rPr>
              <a:t>evaluate</a:t>
            </a:r>
            <a:r>
              <a:rPr sz="2000" spc="-100"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spc="-5" dirty="0">
                <a:solidFill>
                  <a:srgbClr val="FFFFFF"/>
                </a:solidFill>
                <a:latin typeface="Arial"/>
                <a:cs typeface="Arial"/>
              </a:rPr>
              <a:t>order</a:t>
            </a:r>
            <a:r>
              <a:rPr sz="2000" spc="-120" dirty="0">
                <a:solidFill>
                  <a:srgbClr val="FFFFFF"/>
                </a:solidFill>
                <a:latin typeface="Arial"/>
                <a:cs typeface="Arial"/>
              </a:rPr>
              <a:t> </a:t>
            </a:r>
            <a:r>
              <a:rPr sz="2000" spc="50" dirty="0">
                <a:solidFill>
                  <a:srgbClr val="FFFFFF"/>
                </a:solidFill>
                <a:latin typeface="Arial"/>
                <a:cs typeface="Arial"/>
              </a:rPr>
              <a:t>to</a:t>
            </a:r>
            <a:r>
              <a:rPr sz="2000" spc="-120" dirty="0">
                <a:solidFill>
                  <a:srgbClr val="FFFFFF"/>
                </a:solidFill>
                <a:latin typeface="Arial"/>
                <a:cs typeface="Arial"/>
              </a:rPr>
              <a:t> </a:t>
            </a:r>
            <a:r>
              <a:rPr sz="2000" spc="15" dirty="0">
                <a:solidFill>
                  <a:srgbClr val="FFFFFF"/>
                </a:solidFill>
                <a:latin typeface="Arial"/>
                <a:cs typeface="Arial"/>
              </a:rPr>
              <a:t>obtain</a:t>
            </a:r>
            <a:r>
              <a:rPr sz="2000" spc="-114" dirty="0">
                <a:solidFill>
                  <a:srgbClr val="FFFFFF"/>
                </a:solidFill>
                <a:latin typeface="Arial"/>
                <a:cs typeface="Arial"/>
              </a:rPr>
              <a:t> </a:t>
            </a:r>
            <a:r>
              <a:rPr sz="2000" spc="-195" dirty="0">
                <a:solidFill>
                  <a:srgbClr val="FFFFFF"/>
                </a:solidFill>
                <a:latin typeface="Arial"/>
                <a:cs typeface="Arial"/>
              </a:rPr>
              <a:t>a</a:t>
            </a:r>
            <a:r>
              <a:rPr sz="2000" spc="-130" dirty="0">
                <a:solidFill>
                  <a:srgbClr val="FFFFFF"/>
                </a:solidFill>
                <a:latin typeface="Arial"/>
                <a:cs typeface="Arial"/>
              </a:rPr>
              <a:t> </a:t>
            </a:r>
            <a:r>
              <a:rPr sz="2000" spc="-15" dirty="0">
                <a:solidFill>
                  <a:srgbClr val="FFFFFF"/>
                </a:solidFill>
                <a:latin typeface="Arial"/>
                <a:cs typeface="Arial"/>
              </a:rPr>
              <a:t>result.</a:t>
            </a:r>
            <a:endParaRPr sz="2000">
              <a:latin typeface="Arial"/>
              <a:cs typeface="Arial"/>
            </a:endParaRPr>
          </a:p>
          <a:p>
            <a:pPr>
              <a:lnSpc>
                <a:spcPct val="100000"/>
              </a:lnSpc>
            </a:pPr>
            <a:endParaRPr sz="2800">
              <a:latin typeface="Arial"/>
              <a:cs typeface="Arial"/>
            </a:endParaRPr>
          </a:p>
          <a:p>
            <a:pPr marL="12700" marR="20320">
              <a:lnSpc>
                <a:spcPts val="2160"/>
              </a:lnSpc>
              <a:spcBef>
                <a:spcPts val="2295"/>
              </a:spcBef>
            </a:pPr>
            <a:r>
              <a:rPr sz="2000" spc="-55" dirty="0">
                <a:solidFill>
                  <a:srgbClr val="FFFFFF"/>
                </a:solidFill>
                <a:latin typeface="Arial"/>
                <a:cs typeface="Arial"/>
              </a:rPr>
              <a:t>Expressions </a:t>
            </a:r>
            <a:r>
              <a:rPr sz="2000" spc="-75" dirty="0">
                <a:solidFill>
                  <a:srgbClr val="FFFFFF"/>
                </a:solidFill>
                <a:latin typeface="Arial"/>
                <a:cs typeface="Arial"/>
              </a:rPr>
              <a:t>can </a:t>
            </a:r>
            <a:r>
              <a:rPr sz="2000" spc="-100" dirty="0">
                <a:solidFill>
                  <a:srgbClr val="FFFFFF"/>
                </a:solidFill>
                <a:latin typeface="Arial"/>
                <a:cs typeface="Arial"/>
              </a:rPr>
              <a:t>be </a:t>
            </a:r>
            <a:r>
              <a:rPr sz="2000" spc="-90" dirty="0">
                <a:solidFill>
                  <a:srgbClr val="FFFFFF"/>
                </a:solidFill>
                <a:latin typeface="Arial"/>
                <a:cs typeface="Arial"/>
              </a:rPr>
              <a:t>used </a:t>
            </a:r>
            <a:r>
              <a:rPr sz="2000" spc="90" dirty="0">
                <a:solidFill>
                  <a:srgbClr val="FFFFFF"/>
                </a:solidFill>
                <a:latin typeface="Arial"/>
                <a:cs typeface="Arial"/>
              </a:rPr>
              <a:t>in </a:t>
            </a:r>
            <a:r>
              <a:rPr sz="2000" spc="-75" dirty="0">
                <a:solidFill>
                  <a:srgbClr val="FFFFFF"/>
                </a:solidFill>
                <a:latin typeface="Arial"/>
                <a:cs typeface="Arial"/>
              </a:rPr>
              <a:t>several </a:t>
            </a:r>
            <a:r>
              <a:rPr sz="2000" spc="35" dirty="0">
                <a:solidFill>
                  <a:srgbClr val="FFFFFF"/>
                </a:solidFill>
                <a:latin typeface="Arial"/>
                <a:cs typeface="Arial"/>
              </a:rPr>
              <a:t>different </a:t>
            </a:r>
            <a:r>
              <a:rPr sz="2000" spc="-95" dirty="0">
                <a:solidFill>
                  <a:srgbClr val="FFFFFF"/>
                </a:solidFill>
                <a:latin typeface="Arial"/>
                <a:cs typeface="Arial"/>
              </a:rPr>
              <a:t>places </a:t>
            </a:r>
            <a:r>
              <a:rPr sz="2000" dirty="0">
                <a:solidFill>
                  <a:srgbClr val="FFFFFF"/>
                </a:solidFill>
                <a:latin typeface="Arial"/>
                <a:cs typeface="Arial"/>
              </a:rPr>
              <a:t>when </a:t>
            </a:r>
            <a:r>
              <a:rPr sz="2000" spc="-105" dirty="0">
                <a:solidFill>
                  <a:srgbClr val="FFFFFF"/>
                </a:solidFill>
                <a:latin typeface="Arial"/>
                <a:cs typeface="Arial"/>
              </a:rPr>
              <a:t>accessing </a:t>
            </a:r>
            <a:r>
              <a:rPr sz="2000" spc="25" dirty="0">
                <a:solidFill>
                  <a:srgbClr val="FFFFFF"/>
                </a:solidFill>
                <a:latin typeface="Arial"/>
                <a:cs typeface="Arial"/>
              </a:rPr>
              <a:t>or  </a:t>
            </a:r>
            <a:r>
              <a:rPr sz="2000" spc="-30" dirty="0">
                <a:solidFill>
                  <a:srgbClr val="FFFFFF"/>
                </a:solidFill>
                <a:latin typeface="Arial"/>
                <a:cs typeface="Arial"/>
              </a:rPr>
              <a:t>changing</a:t>
            </a:r>
            <a:r>
              <a:rPr sz="2000" spc="-135" dirty="0">
                <a:solidFill>
                  <a:srgbClr val="FFFFFF"/>
                </a:solidFill>
                <a:latin typeface="Arial"/>
                <a:cs typeface="Arial"/>
              </a:rPr>
              <a:t> </a:t>
            </a:r>
            <a:r>
              <a:rPr sz="2000" spc="-60" dirty="0">
                <a:solidFill>
                  <a:srgbClr val="FFFFFF"/>
                </a:solidFill>
                <a:latin typeface="Arial"/>
                <a:cs typeface="Arial"/>
              </a:rPr>
              <a:t>data.</a:t>
            </a:r>
            <a:endParaRPr sz="2000">
              <a:latin typeface="Arial"/>
              <a:cs typeface="Arial"/>
            </a:endParaRPr>
          </a:p>
        </p:txBody>
      </p:sp>
      <p:pic>
        <p:nvPicPr>
          <p:cNvPr id="10" name="object 10"/>
          <p:cNvPicPr/>
          <p:nvPr/>
        </p:nvPicPr>
        <p:blipFill>
          <a:blip r:embed="rId6" cstate="print"/>
          <a:stretch>
            <a:fillRect/>
          </a:stretch>
        </p:blipFill>
        <p:spPr>
          <a:xfrm>
            <a:off x="1948433" y="3400805"/>
            <a:ext cx="5317998" cy="2803398"/>
          </a:xfrm>
          <a:prstGeom prst="rect">
            <a:avLst/>
          </a:prstGeom>
        </p:spPr>
      </p:pic>
      <p:sp>
        <p:nvSpPr>
          <p:cNvPr id="11" name="object 11"/>
          <p:cNvSpPr txBox="1"/>
          <p:nvPr/>
        </p:nvSpPr>
        <p:spPr>
          <a:xfrm>
            <a:off x="3795267" y="6229096"/>
            <a:ext cx="1379220" cy="238760"/>
          </a:xfrm>
          <a:prstGeom prst="rect">
            <a:avLst/>
          </a:prstGeom>
        </p:spPr>
        <p:txBody>
          <a:bodyPr vert="horz" wrap="square" lIns="0" tIns="12065" rIns="0" bIns="0" rtlCol="0">
            <a:spAutoFit/>
          </a:bodyPr>
          <a:lstStyle/>
          <a:p>
            <a:pPr marL="12700">
              <a:lnSpc>
                <a:spcPct val="100000"/>
              </a:lnSpc>
              <a:spcBef>
                <a:spcPts val="95"/>
              </a:spcBef>
            </a:pPr>
            <a:r>
              <a:rPr sz="1400" b="1" spc="-105" dirty="0">
                <a:latin typeface="Arial"/>
                <a:cs typeface="Arial"/>
              </a:rPr>
              <a:t>Expression</a:t>
            </a:r>
            <a:r>
              <a:rPr sz="1400" b="1" spc="-140" dirty="0">
                <a:latin typeface="Arial"/>
                <a:cs typeface="Arial"/>
              </a:rPr>
              <a:t> </a:t>
            </a:r>
            <a:r>
              <a:rPr sz="1400" b="1" spc="-80" dirty="0">
                <a:latin typeface="Arial"/>
                <a:cs typeface="Arial"/>
              </a:rPr>
              <a:t>Result</a:t>
            </a:r>
            <a:endParaRPr sz="1400">
              <a:latin typeface="Arial"/>
              <a:cs typeface="Arial"/>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19</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751" y="15493"/>
            <a:ext cx="9270365" cy="635635"/>
          </a:xfrm>
          <a:prstGeom prst="rect">
            <a:avLst/>
          </a:prstGeom>
        </p:spPr>
        <p:txBody>
          <a:bodyPr vert="horz" wrap="square" lIns="0" tIns="12700" rIns="0" bIns="0" rtlCol="0">
            <a:spAutoFit/>
          </a:bodyPr>
          <a:lstStyle/>
          <a:p>
            <a:pPr marL="12700">
              <a:lnSpc>
                <a:spcPct val="100000"/>
              </a:lnSpc>
              <a:spcBef>
                <a:spcPts val="100"/>
              </a:spcBef>
            </a:pPr>
            <a:r>
              <a:rPr spc="80" dirty="0"/>
              <a:t>Control-of-Flow,</a:t>
            </a:r>
            <a:r>
              <a:rPr spc="-750" dirty="0"/>
              <a:t> </a:t>
            </a:r>
            <a:r>
              <a:rPr spc="-50" dirty="0"/>
              <a:t>Errors, </a:t>
            </a:r>
            <a:r>
              <a:rPr spc="-70" dirty="0"/>
              <a:t>and </a:t>
            </a:r>
            <a:r>
              <a:rPr spc="-45" dirty="0"/>
              <a:t>Transactions</a:t>
            </a:r>
          </a:p>
        </p:txBody>
      </p:sp>
      <p:grpSp>
        <p:nvGrpSpPr>
          <p:cNvPr id="3" name="object 3"/>
          <p:cNvGrpSpPr/>
          <p:nvPr/>
        </p:nvGrpSpPr>
        <p:grpSpPr>
          <a:xfrm>
            <a:off x="327659" y="765060"/>
            <a:ext cx="8329930" cy="969010"/>
            <a:chOff x="327659" y="765060"/>
            <a:chExt cx="8329930" cy="969010"/>
          </a:xfrm>
        </p:grpSpPr>
        <p:pic>
          <p:nvPicPr>
            <p:cNvPr id="4" name="object 4"/>
            <p:cNvPicPr/>
            <p:nvPr/>
          </p:nvPicPr>
          <p:blipFill>
            <a:blip r:embed="rId3" cstate="print"/>
            <a:stretch>
              <a:fillRect/>
            </a:stretch>
          </p:blipFill>
          <p:spPr>
            <a:xfrm>
              <a:off x="327659" y="765060"/>
              <a:ext cx="8329422" cy="968489"/>
            </a:xfrm>
            <a:prstGeom prst="rect">
              <a:avLst/>
            </a:prstGeom>
          </p:spPr>
        </p:pic>
        <p:pic>
          <p:nvPicPr>
            <p:cNvPr id="5" name="object 5"/>
            <p:cNvPicPr/>
            <p:nvPr/>
          </p:nvPicPr>
          <p:blipFill>
            <a:blip r:embed="rId4" cstate="print"/>
            <a:stretch>
              <a:fillRect/>
            </a:stretch>
          </p:blipFill>
          <p:spPr>
            <a:xfrm>
              <a:off x="368807" y="783336"/>
              <a:ext cx="8253983" cy="893064"/>
            </a:xfrm>
            <a:prstGeom prst="rect">
              <a:avLst/>
            </a:prstGeom>
          </p:spPr>
        </p:pic>
      </p:grpSp>
      <p:grpSp>
        <p:nvGrpSpPr>
          <p:cNvPr id="6" name="object 6"/>
          <p:cNvGrpSpPr/>
          <p:nvPr/>
        </p:nvGrpSpPr>
        <p:grpSpPr>
          <a:xfrm>
            <a:off x="327659" y="1824227"/>
            <a:ext cx="8329930" cy="1691639"/>
            <a:chOff x="327659" y="1824227"/>
            <a:chExt cx="8329930" cy="1691639"/>
          </a:xfrm>
        </p:grpSpPr>
        <p:pic>
          <p:nvPicPr>
            <p:cNvPr id="7" name="object 7"/>
            <p:cNvPicPr/>
            <p:nvPr/>
          </p:nvPicPr>
          <p:blipFill>
            <a:blip r:embed="rId5" cstate="print"/>
            <a:stretch>
              <a:fillRect/>
            </a:stretch>
          </p:blipFill>
          <p:spPr>
            <a:xfrm>
              <a:off x="327659" y="1824227"/>
              <a:ext cx="8329422" cy="1691639"/>
            </a:xfrm>
            <a:prstGeom prst="rect">
              <a:avLst/>
            </a:prstGeom>
          </p:spPr>
        </p:pic>
        <p:pic>
          <p:nvPicPr>
            <p:cNvPr id="8" name="object 8"/>
            <p:cNvPicPr/>
            <p:nvPr/>
          </p:nvPicPr>
          <p:blipFill>
            <a:blip r:embed="rId6" cstate="print"/>
            <a:stretch>
              <a:fillRect/>
            </a:stretch>
          </p:blipFill>
          <p:spPr>
            <a:xfrm>
              <a:off x="368807" y="1842515"/>
              <a:ext cx="8253983" cy="1616202"/>
            </a:xfrm>
            <a:prstGeom prst="rect">
              <a:avLst/>
            </a:prstGeom>
          </p:spPr>
        </p:pic>
      </p:grpSp>
      <p:sp>
        <p:nvSpPr>
          <p:cNvPr id="9" name="object 9"/>
          <p:cNvSpPr txBox="1"/>
          <p:nvPr/>
        </p:nvSpPr>
        <p:spPr>
          <a:xfrm>
            <a:off x="510540" y="869695"/>
            <a:ext cx="7985759" cy="2386330"/>
          </a:xfrm>
          <a:prstGeom prst="rect">
            <a:avLst/>
          </a:prstGeom>
        </p:spPr>
        <p:txBody>
          <a:bodyPr vert="horz" wrap="square" lIns="0" tIns="46990" rIns="0" bIns="0" rtlCol="0">
            <a:spAutoFit/>
          </a:bodyPr>
          <a:lstStyle/>
          <a:p>
            <a:pPr marL="12700" marR="5080">
              <a:lnSpc>
                <a:spcPts val="2160"/>
              </a:lnSpc>
              <a:spcBef>
                <a:spcPts val="370"/>
              </a:spcBef>
            </a:pPr>
            <a:r>
              <a:rPr sz="2000" spc="65" dirty="0">
                <a:solidFill>
                  <a:srgbClr val="FFFFFF"/>
                </a:solidFill>
                <a:latin typeface="Arial"/>
                <a:cs typeface="Arial"/>
              </a:rPr>
              <a:t>Although</a:t>
            </a:r>
            <a:r>
              <a:rPr sz="2000" spc="-85" dirty="0">
                <a:solidFill>
                  <a:srgbClr val="FFFFFF"/>
                </a:solidFill>
                <a:latin typeface="Arial"/>
                <a:cs typeface="Arial"/>
              </a:rPr>
              <a:t> </a:t>
            </a:r>
            <a:r>
              <a:rPr sz="2000" spc="-15" dirty="0">
                <a:solidFill>
                  <a:srgbClr val="FFFFFF"/>
                </a:solidFill>
                <a:latin typeface="Arial"/>
                <a:cs typeface="Arial"/>
              </a:rPr>
              <a:t>Transact-SQL</a:t>
            </a:r>
            <a:r>
              <a:rPr sz="2000" spc="-95" dirty="0">
                <a:solidFill>
                  <a:srgbClr val="FFFFFF"/>
                </a:solidFill>
                <a:latin typeface="Arial"/>
                <a:cs typeface="Arial"/>
              </a:rPr>
              <a:t> </a:t>
            </a:r>
            <a:r>
              <a:rPr sz="2000" spc="-50" dirty="0">
                <a:solidFill>
                  <a:srgbClr val="FFFFFF"/>
                </a:solidFill>
                <a:latin typeface="Arial"/>
                <a:cs typeface="Arial"/>
              </a:rPr>
              <a:t>is</a:t>
            </a:r>
            <a:r>
              <a:rPr sz="2000" spc="-95" dirty="0">
                <a:solidFill>
                  <a:srgbClr val="FFFFFF"/>
                </a:solidFill>
                <a:latin typeface="Arial"/>
                <a:cs typeface="Arial"/>
              </a:rPr>
              <a:t> </a:t>
            </a:r>
            <a:r>
              <a:rPr sz="2000" spc="30" dirty="0">
                <a:solidFill>
                  <a:srgbClr val="FFFFFF"/>
                </a:solidFill>
                <a:latin typeface="Arial"/>
                <a:cs typeface="Arial"/>
              </a:rPr>
              <a:t>primarily</a:t>
            </a:r>
            <a:r>
              <a:rPr sz="2000" spc="-90" dirty="0">
                <a:solidFill>
                  <a:srgbClr val="FFFFFF"/>
                </a:solidFill>
                <a:latin typeface="Arial"/>
                <a:cs typeface="Arial"/>
              </a:rPr>
              <a:t> </a:t>
            </a:r>
            <a:r>
              <a:rPr sz="2000" spc="-195" dirty="0">
                <a:solidFill>
                  <a:srgbClr val="FFFFFF"/>
                </a:solidFill>
                <a:latin typeface="Arial"/>
                <a:cs typeface="Arial"/>
              </a:rPr>
              <a:t>a</a:t>
            </a:r>
            <a:r>
              <a:rPr sz="2000" spc="-85" dirty="0">
                <a:solidFill>
                  <a:srgbClr val="FFFFFF"/>
                </a:solidFill>
                <a:latin typeface="Arial"/>
                <a:cs typeface="Arial"/>
              </a:rPr>
              <a:t> </a:t>
            </a:r>
            <a:r>
              <a:rPr sz="2000" spc="-65" dirty="0">
                <a:solidFill>
                  <a:srgbClr val="FFFFFF"/>
                </a:solidFill>
                <a:latin typeface="Arial"/>
                <a:cs typeface="Arial"/>
              </a:rPr>
              <a:t>data</a:t>
            </a:r>
            <a:r>
              <a:rPr sz="2000" spc="-85" dirty="0">
                <a:solidFill>
                  <a:srgbClr val="FFFFFF"/>
                </a:solidFill>
                <a:latin typeface="Arial"/>
                <a:cs typeface="Arial"/>
              </a:rPr>
              <a:t> </a:t>
            </a:r>
            <a:r>
              <a:rPr sz="2000" dirty="0">
                <a:solidFill>
                  <a:srgbClr val="FFFFFF"/>
                </a:solidFill>
                <a:latin typeface="Arial"/>
                <a:cs typeface="Arial"/>
              </a:rPr>
              <a:t>retrieval</a:t>
            </a:r>
            <a:r>
              <a:rPr sz="2000" spc="-85" dirty="0">
                <a:solidFill>
                  <a:srgbClr val="FFFFFF"/>
                </a:solidFill>
                <a:latin typeface="Arial"/>
                <a:cs typeface="Arial"/>
              </a:rPr>
              <a:t> </a:t>
            </a:r>
            <a:r>
              <a:rPr sz="2000" spc="-75" dirty="0">
                <a:solidFill>
                  <a:srgbClr val="FFFFFF"/>
                </a:solidFill>
                <a:latin typeface="Arial"/>
                <a:cs typeface="Arial"/>
              </a:rPr>
              <a:t>language,</a:t>
            </a:r>
            <a:r>
              <a:rPr sz="2000" spc="-90" dirty="0">
                <a:solidFill>
                  <a:srgbClr val="FFFFFF"/>
                </a:solidFill>
                <a:latin typeface="Arial"/>
                <a:cs typeface="Arial"/>
              </a:rPr>
              <a:t> </a:t>
            </a:r>
            <a:r>
              <a:rPr sz="2000" spc="125" dirty="0">
                <a:solidFill>
                  <a:srgbClr val="FFFFFF"/>
                </a:solidFill>
                <a:latin typeface="Arial"/>
                <a:cs typeface="Arial"/>
              </a:rPr>
              <a:t>it</a:t>
            </a:r>
            <a:r>
              <a:rPr sz="2000" spc="-90" dirty="0">
                <a:solidFill>
                  <a:srgbClr val="FFFFFF"/>
                </a:solidFill>
                <a:latin typeface="Arial"/>
                <a:cs typeface="Arial"/>
              </a:rPr>
              <a:t> </a:t>
            </a:r>
            <a:r>
              <a:rPr sz="2000" spc="-30" dirty="0">
                <a:solidFill>
                  <a:srgbClr val="FFFFFF"/>
                </a:solidFill>
                <a:latin typeface="Arial"/>
                <a:cs typeface="Arial"/>
              </a:rPr>
              <a:t>supports  </a:t>
            </a:r>
            <a:r>
              <a:rPr sz="2000" spc="40" dirty="0">
                <a:solidFill>
                  <a:srgbClr val="FFFFFF"/>
                </a:solidFill>
                <a:latin typeface="Arial"/>
                <a:cs typeface="Arial"/>
              </a:rPr>
              <a:t>control-of-flow</a:t>
            </a:r>
            <a:r>
              <a:rPr sz="2000" spc="-100" dirty="0">
                <a:solidFill>
                  <a:srgbClr val="FFFFFF"/>
                </a:solidFill>
                <a:latin typeface="Arial"/>
                <a:cs typeface="Arial"/>
              </a:rPr>
              <a:t> </a:t>
            </a:r>
            <a:r>
              <a:rPr sz="2000" spc="-55" dirty="0">
                <a:solidFill>
                  <a:srgbClr val="FFFFFF"/>
                </a:solidFill>
                <a:latin typeface="Arial"/>
                <a:cs typeface="Arial"/>
              </a:rPr>
              <a:t>statements</a:t>
            </a:r>
            <a:r>
              <a:rPr sz="2000" spc="-100" dirty="0">
                <a:solidFill>
                  <a:srgbClr val="FFFFFF"/>
                </a:solidFill>
                <a:latin typeface="Arial"/>
                <a:cs typeface="Arial"/>
              </a:rPr>
              <a:t> </a:t>
            </a:r>
            <a:r>
              <a:rPr sz="2000" spc="65" dirty="0">
                <a:solidFill>
                  <a:srgbClr val="FFFFFF"/>
                </a:solidFill>
                <a:latin typeface="Arial"/>
                <a:cs typeface="Arial"/>
              </a:rPr>
              <a:t>for</a:t>
            </a:r>
            <a:r>
              <a:rPr sz="2000" spc="-120" dirty="0">
                <a:solidFill>
                  <a:srgbClr val="FFFFFF"/>
                </a:solidFill>
                <a:latin typeface="Arial"/>
                <a:cs typeface="Arial"/>
              </a:rPr>
              <a:t> </a:t>
            </a:r>
            <a:r>
              <a:rPr sz="2000" spc="-20" dirty="0">
                <a:solidFill>
                  <a:srgbClr val="FFFFFF"/>
                </a:solidFill>
                <a:latin typeface="Arial"/>
                <a:cs typeface="Arial"/>
              </a:rPr>
              <a:t>executing</a:t>
            </a:r>
            <a:r>
              <a:rPr sz="2000" spc="-110" dirty="0">
                <a:solidFill>
                  <a:srgbClr val="FFFFFF"/>
                </a:solidFill>
                <a:latin typeface="Arial"/>
                <a:cs typeface="Arial"/>
              </a:rPr>
              <a:t> </a:t>
            </a:r>
            <a:r>
              <a:rPr sz="2000" spc="-40" dirty="0">
                <a:solidFill>
                  <a:srgbClr val="FFFFFF"/>
                </a:solidFill>
                <a:latin typeface="Arial"/>
                <a:cs typeface="Arial"/>
              </a:rPr>
              <a:t>and</a:t>
            </a:r>
            <a:r>
              <a:rPr sz="2000" spc="-125" dirty="0">
                <a:solidFill>
                  <a:srgbClr val="FFFFFF"/>
                </a:solidFill>
                <a:latin typeface="Arial"/>
                <a:cs typeface="Arial"/>
              </a:rPr>
              <a:t> </a:t>
            </a:r>
            <a:r>
              <a:rPr sz="2000" spc="55" dirty="0">
                <a:solidFill>
                  <a:srgbClr val="FFFFFF"/>
                </a:solidFill>
                <a:latin typeface="Arial"/>
                <a:cs typeface="Arial"/>
              </a:rPr>
              <a:t>finding</a:t>
            </a:r>
            <a:r>
              <a:rPr sz="2000" spc="-140" dirty="0">
                <a:solidFill>
                  <a:srgbClr val="FFFFFF"/>
                </a:solidFill>
                <a:latin typeface="Arial"/>
                <a:cs typeface="Arial"/>
              </a:rPr>
              <a:t> </a:t>
            </a:r>
            <a:r>
              <a:rPr sz="2000" spc="-35" dirty="0">
                <a:solidFill>
                  <a:srgbClr val="FFFFFF"/>
                </a:solidFill>
                <a:latin typeface="Arial"/>
                <a:cs typeface="Arial"/>
              </a:rPr>
              <a:t>errors.</a:t>
            </a:r>
            <a:endParaRPr sz="2000">
              <a:latin typeface="Arial"/>
              <a:cs typeface="Arial"/>
            </a:endParaRPr>
          </a:p>
          <a:p>
            <a:pPr>
              <a:lnSpc>
                <a:spcPct val="100000"/>
              </a:lnSpc>
              <a:spcBef>
                <a:spcPts val="50"/>
              </a:spcBef>
            </a:pPr>
            <a:endParaRPr sz="3250">
              <a:latin typeface="Arial"/>
              <a:cs typeface="Arial"/>
            </a:endParaRPr>
          </a:p>
          <a:p>
            <a:pPr marL="60325">
              <a:lnSpc>
                <a:spcPts val="2310"/>
              </a:lnSpc>
            </a:pPr>
            <a:r>
              <a:rPr sz="2000" spc="60" dirty="0">
                <a:solidFill>
                  <a:srgbClr val="FFFFFF"/>
                </a:solidFill>
                <a:latin typeface="Arial"/>
                <a:cs typeface="Arial"/>
              </a:rPr>
              <a:t>Control-of-flow</a:t>
            </a:r>
            <a:r>
              <a:rPr sz="2000" spc="-90" dirty="0">
                <a:solidFill>
                  <a:srgbClr val="FFFFFF"/>
                </a:solidFill>
                <a:latin typeface="Arial"/>
                <a:cs typeface="Arial"/>
              </a:rPr>
              <a:t> </a:t>
            </a:r>
            <a:r>
              <a:rPr sz="2000" spc="-80" dirty="0">
                <a:solidFill>
                  <a:srgbClr val="FFFFFF"/>
                </a:solidFill>
                <a:latin typeface="Arial"/>
                <a:cs typeface="Arial"/>
              </a:rPr>
              <a:t>language</a:t>
            </a:r>
            <a:r>
              <a:rPr sz="2000" spc="-110" dirty="0">
                <a:solidFill>
                  <a:srgbClr val="FFFFFF"/>
                </a:solidFill>
                <a:latin typeface="Arial"/>
                <a:cs typeface="Arial"/>
              </a:rPr>
              <a:t> </a:t>
            </a:r>
            <a:r>
              <a:rPr sz="2000" spc="-40" dirty="0">
                <a:solidFill>
                  <a:srgbClr val="FFFFFF"/>
                </a:solidFill>
                <a:latin typeface="Arial"/>
                <a:cs typeface="Arial"/>
              </a:rPr>
              <a:t>determines</a:t>
            </a:r>
            <a:r>
              <a:rPr sz="2000" spc="-105" dirty="0">
                <a:solidFill>
                  <a:srgbClr val="FFFFFF"/>
                </a:solidFill>
                <a:latin typeface="Arial"/>
                <a:cs typeface="Arial"/>
              </a:rPr>
              <a:t> </a:t>
            </a:r>
            <a:r>
              <a:rPr sz="2000" dirty="0">
                <a:solidFill>
                  <a:srgbClr val="FFFFFF"/>
                </a:solidFill>
                <a:latin typeface="Arial"/>
                <a:cs typeface="Arial"/>
              </a:rPr>
              <a:t>the</a:t>
            </a:r>
            <a:r>
              <a:rPr sz="2000" spc="-105" dirty="0">
                <a:solidFill>
                  <a:srgbClr val="FFFFFF"/>
                </a:solidFill>
                <a:latin typeface="Arial"/>
                <a:cs typeface="Arial"/>
              </a:rPr>
              <a:t> </a:t>
            </a:r>
            <a:r>
              <a:rPr sz="2000" spc="-5" dirty="0">
                <a:solidFill>
                  <a:srgbClr val="FFFFFF"/>
                </a:solidFill>
                <a:latin typeface="Arial"/>
                <a:cs typeface="Arial"/>
              </a:rPr>
              <a:t>execution</a:t>
            </a:r>
            <a:r>
              <a:rPr sz="2000" spc="-95" dirty="0">
                <a:solidFill>
                  <a:srgbClr val="FFFFFF"/>
                </a:solidFill>
                <a:latin typeface="Arial"/>
                <a:cs typeface="Arial"/>
              </a:rPr>
              <a:t> </a:t>
            </a:r>
            <a:r>
              <a:rPr sz="2000" spc="65" dirty="0">
                <a:solidFill>
                  <a:srgbClr val="FFFFFF"/>
                </a:solidFill>
                <a:latin typeface="Arial"/>
                <a:cs typeface="Arial"/>
              </a:rPr>
              <a:t>flow</a:t>
            </a:r>
            <a:r>
              <a:rPr sz="2000" spc="-110" dirty="0">
                <a:solidFill>
                  <a:srgbClr val="FFFFFF"/>
                </a:solidFill>
                <a:latin typeface="Arial"/>
                <a:cs typeface="Arial"/>
              </a:rPr>
              <a:t> </a:t>
            </a:r>
            <a:r>
              <a:rPr sz="2000" spc="50" dirty="0">
                <a:solidFill>
                  <a:srgbClr val="FFFFFF"/>
                </a:solidFill>
                <a:latin typeface="Arial"/>
                <a:cs typeface="Arial"/>
              </a:rPr>
              <a:t>of</a:t>
            </a:r>
            <a:endParaRPr sz="2000">
              <a:latin typeface="Arial"/>
              <a:cs typeface="Arial"/>
            </a:endParaRPr>
          </a:p>
          <a:p>
            <a:pPr marL="403225" indent="-343535">
              <a:lnSpc>
                <a:spcPts val="1960"/>
              </a:lnSpc>
              <a:buClr>
                <a:srgbClr val="000000"/>
              </a:buClr>
              <a:buChar char="•"/>
              <a:tabLst>
                <a:tab pos="403225" algn="l"/>
                <a:tab pos="403860" algn="l"/>
              </a:tabLst>
            </a:pPr>
            <a:r>
              <a:rPr sz="1800" spc="-10" dirty="0">
                <a:solidFill>
                  <a:srgbClr val="FFFFFF"/>
                </a:solidFill>
                <a:latin typeface="Arial"/>
                <a:cs typeface="Arial"/>
              </a:rPr>
              <a:t>Transact-SQL</a:t>
            </a:r>
            <a:r>
              <a:rPr sz="1800" spc="-135" dirty="0">
                <a:solidFill>
                  <a:srgbClr val="FFFFFF"/>
                </a:solidFill>
                <a:latin typeface="Arial"/>
                <a:cs typeface="Arial"/>
              </a:rPr>
              <a:t> </a:t>
            </a:r>
            <a:r>
              <a:rPr sz="1800" spc="-50" dirty="0">
                <a:solidFill>
                  <a:srgbClr val="FFFFFF"/>
                </a:solidFill>
                <a:latin typeface="Arial"/>
                <a:cs typeface="Arial"/>
              </a:rPr>
              <a:t>statements</a:t>
            </a:r>
            <a:endParaRPr sz="1800">
              <a:latin typeface="Arial"/>
              <a:cs typeface="Arial"/>
            </a:endParaRPr>
          </a:p>
          <a:p>
            <a:pPr marL="403225" indent="-343535">
              <a:lnSpc>
                <a:spcPts val="1945"/>
              </a:lnSpc>
              <a:buClr>
                <a:srgbClr val="000000"/>
              </a:buClr>
              <a:buChar char="•"/>
              <a:tabLst>
                <a:tab pos="403225" algn="l"/>
                <a:tab pos="403860" algn="l"/>
              </a:tabLst>
            </a:pPr>
            <a:r>
              <a:rPr sz="1800" spc="-35" dirty="0">
                <a:solidFill>
                  <a:srgbClr val="FFFFFF"/>
                </a:solidFill>
                <a:latin typeface="Arial"/>
                <a:cs typeface="Arial"/>
              </a:rPr>
              <a:t>statement</a:t>
            </a:r>
            <a:r>
              <a:rPr sz="1800" spc="-135" dirty="0">
                <a:solidFill>
                  <a:srgbClr val="FFFFFF"/>
                </a:solidFill>
                <a:latin typeface="Arial"/>
                <a:cs typeface="Arial"/>
              </a:rPr>
              <a:t> </a:t>
            </a:r>
            <a:r>
              <a:rPr sz="1800" spc="-25" dirty="0">
                <a:solidFill>
                  <a:srgbClr val="FFFFFF"/>
                </a:solidFill>
                <a:latin typeface="Arial"/>
                <a:cs typeface="Arial"/>
              </a:rPr>
              <a:t>blocks</a:t>
            </a:r>
            <a:endParaRPr sz="1800">
              <a:latin typeface="Arial"/>
              <a:cs typeface="Arial"/>
            </a:endParaRPr>
          </a:p>
          <a:p>
            <a:pPr marL="403225" indent="-343535">
              <a:lnSpc>
                <a:spcPts val="1945"/>
              </a:lnSpc>
              <a:buClr>
                <a:srgbClr val="000000"/>
              </a:buClr>
              <a:buChar char="•"/>
              <a:tabLst>
                <a:tab pos="403225" algn="l"/>
                <a:tab pos="403860" algn="l"/>
              </a:tabLst>
            </a:pPr>
            <a:r>
              <a:rPr sz="1800" spc="-20" dirty="0">
                <a:solidFill>
                  <a:srgbClr val="FFFFFF"/>
                </a:solidFill>
                <a:latin typeface="Arial"/>
                <a:cs typeface="Arial"/>
              </a:rPr>
              <a:t>user-defined</a:t>
            </a:r>
            <a:r>
              <a:rPr sz="1800" spc="-130" dirty="0">
                <a:solidFill>
                  <a:srgbClr val="FFFFFF"/>
                </a:solidFill>
                <a:latin typeface="Arial"/>
                <a:cs typeface="Arial"/>
              </a:rPr>
              <a:t> </a:t>
            </a:r>
            <a:r>
              <a:rPr sz="1800" spc="20" dirty="0">
                <a:solidFill>
                  <a:srgbClr val="FFFFFF"/>
                </a:solidFill>
                <a:latin typeface="Arial"/>
                <a:cs typeface="Arial"/>
              </a:rPr>
              <a:t>functions</a:t>
            </a:r>
            <a:endParaRPr sz="1800">
              <a:latin typeface="Arial"/>
              <a:cs typeface="Arial"/>
            </a:endParaRPr>
          </a:p>
          <a:p>
            <a:pPr marL="403225" indent="-343535">
              <a:lnSpc>
                <a:spcPts val="2050"/>
              </a:lnSpc>
              <a:buClr>
                <a:srgbClr val="000000"/>
              </a:buClr>
              <a:buChar char="•"/>
              <a:tabLst>
                <a:tab pos="403225" algn="l"/>
                <a:tab pos="403860" algn="l"/>
              </a:tabLst>
            </a:pPr>
            <a:r>
              <a:rPr sz="1800" spc="-35" dirty="0">
                <a:solidFill>
                  <a:srgbClr val="FFFFFF"/>
                </a:solidFill>
                <a:latin typeface="Arial"/>
                <a:cs typeface="Arial"/>
              </a:rPr>
              <a:t>and </a:t>
            </a:r>
            <a:r>
              <a:rPr sz="1800" spc="-30" dirty="0">
                <a:solidFill>
                  <a:srgbClr val="FFFFFF"/>
                </a:solidFill>
                <a:latin typeface="Arial"/>
                <a:cs typeface="Arial"/>
              </a:rPr>
              <a:t>stored</a:t>
            </a:r>
            <a:r>
              <a:rPr sz="1800" spc="-210" dirty="0">
                <a:solidFill>
                  <a:srgbClr val="FFFFFF"/>
                </a:solidFill>
                <a:latin typeface="Arial"/>
                <a:cs typeface="Arial"/>
              </a:rPr>
              <a:t> </a:t>
            </a:r>
            <a:r>
              <a:rPr sz="1800" spc="-45" dirty="0">
                <a:solidFill>
                  <a:srgbClr val="FFFFFF"/>
                </a:solidFill>
                <a:latin typeface="Arial"/>
                <a:cs typeface="Arial"/>
              </a:rPr>
              <a:t>procedures</a:t>
            </a:r>
            <a:endParaRPr sz="1800">
              <a:latin typeface="Arial"/>
              <a:cs typeface="Arial"/>
            </a:endParaRPr>
          </a:p>
        </p:txBody>
      </p:sp>
      <p:pic>
        <p:nvPicPr>
          <p:cNvPr id="10" name="object 10"/>
          <p:cNvPicPr/>
          <p:nvPr/>
        </p:nvPicPr>
        <p:blipFill>
          <a:blip r:embed="rId7" cstate="print"/>
          <a:stretch>
            <a:fillRect/>
          </a:stretch>
        </p:blipFill>
        <p:spPr>
          <a:xfrm>
            <a:off x="605027" y="3625596"/>
            <a:ext cx="7779258" cy="2449068"/>
          </a:xfrm>
          <a:prstGeom prst="rect">
            <a:avLst/>
          </a:prstGeom>
        </p:spPr>
      </p:pic>
      <p:sp>
        <p:nvSpPr>
          <p:cNvPr id="11" name="object 11"/>
          <p:cNvSpPr txBox="1"/>
          <p:nvPr/>
        </p:nvSpPr>
        <p:spPr>
          <a:xfrm>
            <a:off x="3135122" y="6086855"/>
            <a:ext cx="2169160"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Control-of-Flow</a:t>
            </a:r>
            <a:r>
              <a:rPr sz="1400" b="1" spc="-180" dirty="0">
                <a:latin typeface="Arial"/>
                <a:cs typeface="Arial"/>
              </a:rPr>
              <a:t> </a:t>
            </a:r>
            <a:r>
              <a:rPr sz="1400" b="1" spc="-90" dirty="0">
                <a:latin typeface="Arial"/>
                <a:cs typeface="Arial"/>
              </a:rPr>
              <a:t>Statements</a:t>
            </a:r>
            <a:endParaRPr sz="1400">
              <a:latin typeface="Arial"/>
              <a:cs typeface="Arial"/>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20</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6145" y="925093"/>
            <a:ext cx="8228965" cy="1012825"/>
            <a:chOff x="406145" y="925093"/>
            <a:chExt cx="8228965" cy="1012825"/>
          </a:xfrm>
        </p:grpSpPr>
        <p:pic>
          <p:nvPicPr>
            <p:cNvPr id="3" name="object 3"/>
            <p:cNvPicPr/>
            <p:nvPr/>
          </p:nvPicPr>
          <p:blipFill>
            <a:blip r:embed="rId3" cstate="print"/>
            <a:stretch>
              <a:fillRect/>
            </a:stretch>
          </p:blipFill>
          <p:spPr>
            <a:xfrm>
              <a:off x="406145" y="925093"/>
              <a:ext cx="8228838" cy="1012672"/>
            </a:xfrm>
            <a:prstGeom prst="rect">
              <a:avLst/>
            </a:prstGeom>
          </p:spPr>
        </p:pic>
        <p:pic>
          <p:nvPicPr>
            <p:cNvPr id="4" name="object 4"/>
            <p:cNvPicPr/>
            <p:nvPr/>
          </p:nvPicPr>
          <p:blipFill>
            <a:blip r:embed="rId4" cstate="print"/>
            <a:stretch>
              <a:fillRect/>
            </a:stretch>
          </p:blipFill>
          <p:spPr>
            <a:xfrm>
              <a:off x="447293" y="943356"/>
              <a:ext cx="8153400" cy="937260"/>
            </a:xfrm>
            <a:prstGeom prst="rect">
              <a:avLst/>
            </a:prstGeom>
          </p:spPr>
        </p:pic>
      </p:grpSp>
      <p:sp>
        <p:nvSpPr>
          <p:cNvPr id="5" name="object 5"/>
          <p:cNvSpPr txBox="1"/>
          <p:nvPr/>
        </p:nvSpPr>
        <p:spPr>
          <a:xfrm>
            <a:off x="663448" y="1052068"/>
            <a:ext cx="7887970" cy="604520"/>
          </a:xfrm>
          <a:prstGeom prst="rect">
            <a:avLst/>
          </a:prstGeom>
        </p:spPr>
        <p:txBody>
          <a:bodyPr vert="horz" wrap="square" lIns="0" tIns="46990" rIns="0" bIns="0" rtlCol="0">
            <a:spAutoFit/>
          </a:bodyPr>
          <a:lstStyle/>
          <a:p>
            <a:pPr marL="12700" marR="5080">
              <a:lnSpc>
                <a:spcPts val="2160"/>
              </a:lnSpc>
              <a:spcBef>
                <a:spcPts val="370"/>
              </a:spcBef>
              <a:tabLst>
                <a:tab pos="1377950" algn="l"/>
                <a:tab pos="1855470" algn="l"/>
                <a:tab pos="3197860" algn="l"/>
                <a:tab pos="3776979" algn="l"/>
                <a:tab pos="4714240" algn="l"/>
                <a:tab pos="5288915" algn="l"/>
                <a:tab pos="6203950" algn="l"/>
                <a:tab pos="6567170" algn="l"/>
                <a:tab pos="7651750" algn="l"/>
              </a:tabLst>
            </a:pPr>
            <a:r>
              <a:rPr sz="2000" spc="-15" dirty="0">
                <a:solidFill>
                  <a:srgbClr val="FFFFFF"/>
                </a:solidFill>
                <a:latin typeface="Arial"/>
                <a:cs typeface="Arial"/>
              </a:rPr>
              <a:t>Comme</a:t>
            </a:r>
            <a:r>
              <a:rPr sz="2000" spc="70" dirty="0">
                <a:solidFill>
                  <a:srgbClr val="FFFFFF"/>
                </a:solidFill>
                <a:latin typeface="Arial"/>
                <a:cs typeface="Arial"/>
              </a:rPr>
              <a:t>n</a:t>
            </a:r>
            <a:r>
              <a:rPr sz="2000" spc="-45" dirty="0">
                <a:solidFill>
                  <a:srgbClr val="FFFFFF"/>
                </a:solidFill>
                <a:latin typeface="Arial"/>
                <a:cs typeface="Arial"/>
              </a:rPr>
              <a:t>ts</a:t>
            </a:r>
            <a:r>
              <a:rPr sz="2000" dirty="0">
                <a:solidFill>
                  <a:srgbClr val="FFFFFF"/>
                </a:solidFill>
                <a:latin typeface="Arial"/>
                <a:cs typeface="Arial"/>
              </a:rPr>
              <a:t>	</a:t>
            </a:r>
            <a:r>
              <a:rPr sz="2000" spc="-190" dirty="0">
                <a:solidFill>
                  <a:srgbClr val="FFFFFF"/>
                </a:solidFill>
                <a:latin typeface="Arial"/>
                <a:cs typeface="Arial"/>
              </a:rPr>
              <a:t>a</a:t>
            </a:r>
            <a:r>
              <a:rPr sz="2000" spc="-50" dirty="0">
                <a:solidFill>
                  <a:srgbClr val="FFFFFF"/>
                </a:solidFill>
                <a:latin typeface="Arial"/>
                <a:cs typeface="Arial"/>
              </a:rPr>
              <a:t>re</a:t>
            </a:r>
            <a:r>
              <a:rPr sz="2000" dirty="0">
                <a:solidFill>
                  <a:srgbClr val="FFFFFF"/>
                </a:solidFill>
                <a:latin typeface="Arial"/>
                <a:cs typeface="Arial"/>
              </a:rPr>
              <a:t>	</a:t>
            </a:r>
            <a:r>
              <a:rPr sz="2000" spc="-135" dirty="0">
                <a:solidFill>
                  <a:srgbClr val="FFFFFF"/>
                </a:solidFill>
                <a:latin typeface="Arial"/>
                <a:cs typeface="Arial"/>
              </a:rPr>
              <a:t>de</a:t>
            </a:r>
            <a:r>
              <a:rPr sz="2000" spc="-114" dirty="0">
                <a:solidFill>
                  <a:srgbClr val="FFFFFF"/>
                </a:solidFill>
                <a:latin typeface="Arial"/>
                <a:cs typeface="Arial"/>
              </a:rPr>
              <a:t>s</a:t>
            </a:r>
            <a:r>
              <a:rPr sz="2000" spc="25" dirty="0">
                <a:solidFill>
                  <a:srgbClr val="FFFFFF"/>
                </a:solidFill>
                <a:latin typeface="Arial"/>
                <a:cs typeface="Arial"/>
              </a:rPr>
              <a:t>criptive</a:t>
            </a:r>
            <a:r>
              <a:rPr sz="2000" dirty="0">
                <a:solidFill>
                  <a:srgbClr val="FFFFFF"/>
                </a:solidFill>
                <a:latin typeface="Arial"/>
                <a:cs typeface="Arial"/>
              </a:rPr>
              <a:t>	</a:t>
            </a:r>
            <a:r>
              <a:rPr sz="2000" spc="125" dirty="0">
                <a:solidFill>
                  <a:srgbClr val="FFFFFF"/>
                </a:solidFill>
                <a:latin typeface="Arial"/>
                <a:cs typeface="Arial"/>
              </a:rPr>
              <a:t>t</a:t>
            </a:r>
            <a:r>
              <a:rPr sz="2000" spc="-50" dirty="0">
                <a:solidFill>
                  <a:srgbClr val="FFFFFF"/>
                </a:solidFill>
                <a:latin typeface="Arial"/>
                <a:cs typeface="Arial"/>
              </a:rPr>
              <a:t>e</a:t>
            </a:r>
            <a:r>
              <a:rPr sz="2000" spc="-40" dirty="0">
                <a:solidFill>
                  <a:srgbClr val="FFFFFF"/>
                </a:solidFill>
                <a:latin typeface="Arial"/>
                <a:cs typeface="Arial"/>
              </a:rPr>
              <a:t>x</a:t>
            </a:r>
            <a:r>
              <a:rPr sz="2000" spc="125" dirty="0">
                <a:solidFill>
                  <a:srgbClr val="FFFFFF"/>
                </a:solidFill>
                <a:latin typeface="Arial"/>
                <a:cs typeface="Arial"/>
              </a:rPr>
              <a:t>t</a:t>
            </a:r>
            <a:r>
              <a:rPr sz="2000" dirty="0">
                <a:solidFill>
                  <a:srgbClr val="FFFFFF"/>
                </a:solidFill>
                <a:latin typeface="Arial"/>
                <a:cs typeface="Arial"/>
              </a:rPr>
              <a:t>	</a:t>
            </a:r>
            <a:r>
              <a:rPr sz="2000" spc="5" dirty="0">
                <a:solidFill>
                  <a:srgbClr val="FFFFFF"/>
                </a:solidFill>
                <a:latin typeface="Arial"/>
                <a:cs typeface="Arial"/>
              </a:rPr>
              <a:t>strin</a:t>
            </a:r>
            <a:r>
              <a:rPr sz="2000" spc="15" dirty="0">
                <a:solidFill>
                  <a:srgbClr val="FFFFFF"/>
                </a:solidFill>
                <a:latin typeface="Arial"/>
                <a:cs typeface="Arial"/>
              </a:rPr>
              <a:t>g</a:t>
            </a:r>
            <a:r>
              <a:rPr sz="2000" spc="-140" dirty="0">
                <a:solidFill>
                  <a:srgbClr val="FFFFFF"/>
                </a:solidFill>
                <a:latin typeface="Arial"/>
                <a:cs typeface="Arial"/>
              </a:rPr>
              <a:t>s,</a:t>
            </a:r>
            <a:r>
              <a:rPr sz="2000" dirty="0">
                <a:solidFill>
                  <a:srgbClr val="FFFFFF"/>
                </a:solidFill>
                <a:latin typeface="Arial"/>
                <a:cs typeface="Arial"/>
              </a:rPr>
              <a:t>	</a:t>
            </a:r>
            <a:r>
              <a:rPr sz="2000" spc="-190" dirty="0">
                <a:solidFill>
                  <a:srgbClr val="FFFFFF"/>
                </a:solidFill>
                <a:latin typeface="Arial"/>
                <a:cs typeface="Arial"/>
              </a:rPr>
              <a:t>a</a:t>
            </a:r>
            <a:r>
              <a:rPr sz="2000" spc="-35" dirty="0">
                <a:solidFill>
                  <a:srgbClr val="FFFFFF"/>
                </a:solidFill>
                <a:latin typeface="Arial"/>
                <a:cs typeface="Arial"/>
              </a:rPr>
              <a:t>l</a:t>
            </a:r>
            <a:r>
              <a:rPr sz="2000" spc="-70" dirty="0">
                <a:solidFill>
                  <a:srgbClr val="FFFFFF"/>
                </a:solidFill>
                <a:latin typeface="Arial"/>
                <a:cs typeface="Arial"/>
              </a:rPr>
              <a:t>s</a:t>
            </a:r>
            <a:r>
              <a:rPr sz="2000" spc="-20" dirty="0">
                <a:solidFill>
                  <a:srgbClr val="FFFFFF"/>
                </a:solidFill>
                <a:latin typeface="Arial"/>
                <a:cs typeface="Arial"/>
              </a:rPr>
              <a:t>o</a:t>
            </a:r>
            <a:r>
              <a:rPr sz="2000" dirty="0">
                <a:solidFill>
                  <a:srgbClr val="FFFFFF"/>
                </a:solidFill>
                <a:latin typeface="Arial"/>
                <a:cs typeface="Arial"/>
              </a:rPr>
              <a:t>	</a:t>
            </a:r>
            <a:r>
              <a:rPr sz="2000" spc="45" dirty="0">
                <a:solidFill>
                  <a:srgbClr val="FFFFFF"/>
                </a:solidFill>
                <a:latin typeface="Arial"/>
                <a:cs typeface="Arial"/>
              </a:rPr>
              <a:t>kn</a:t>
            </a:r>
            <a:r>
              <a:rPr sz="2000" spc="50" dirty="0">
                <a:solidFill>
                  <a:srgbClr val="FFFFFF"/>
                </a:solidFill>
                <a:latin typeface="Arial"/>
                <a:cs typeface="Arial"/>
              </a:rPr>
              <a:t>o</a:t>
            </a:r>
            <a:r>
              <a:rPr sz="2000" spc="60" dirty="0">
                <a:solidFill>
                  <a:srgbClr val="FFFFFF"/>
                </a:solidFill>
                <a:latin typeface="Arial"/>
                <a:cs typeface="Arial"/>
              </a:rPr>
              <a:t>w</a:t>
            </a:r>
            <a:r>
              <a:rPr sz="2000" spc="65" dirty="0">
                <a:solidFill>
                  <a:srgbClr val="FFFFFF"/>
                </a:solidFill>
                <a:latin typeface="Arial"/>
                <a:cs typeface="Arial"/>
              </a:rPr>
              <a:t>n</a:t>
            </a:r>
            <a:r>
              <a:rPr sz="2000" dirty="0">
                <a:solidFill>
                  <a:srgbClr val="FFFFFF"/>
                </a:solidFill>
                <a:latin typeface="Arial"/>
                <a:cs typeface="Arial"/>
              </a:rPr>
              <a:t>	</a:t>
            </a:r>
            <a:r>
              <a:rPr sz="2000" spc="-210" dirty="0">
                <a:solidFill>
                  <a:srgbClr val="FFFFFF"/>
                </a:solidFill>
                <a:latin typeface="Arial"/>
                <a:cs typeface="Arial"/>
              </a:rPr>
              <a:t>a</a:t>
            </a:r>
            <a:r>
              <a:rPr sz="2000" spc="-195" dirty="0">
                <a:solidFill>
                  <a:srgbClr val="FFFFFF"/>
                </a:solidFill>
                <a:latin typeface="Arial"/>
                <a:cs typeface="Arial"/>
              </a:rPr>
              <a:t>s</a:t>
            </a:r>
            <a:r>
              <a:rPr sz="2000" dirty="0">
                <a:solidFill>
                  <a:srgbClr val="FFFFFF"/>
                </a:solidFill>
                <a:latin typeface="Arial"/>
                <a:cs typeface="Arial"/>
              </a:rPr>
              <a:t>	</a:t>
            </a:r>
            <a:r>
              <a:rPr sz="2000" spc="80" dirty="0">
                <a:solidFill>
                  <a:srgbClr val="FFFFFF"/>
                </a:solidFill>
                <a:latin typeface="Arial"/>
                <a:cs typeface="Arial"/>
              </a:rPr>
              <a:t>r</a:t>
            </a:r>
            <a:r>
              <a:rPr sz="2000" spc="-80" dirty="0">
                <a:solidFill>
                  <a:srgbClr val="FFFFFF"/>
                </a:solidFill>
                <a:latin typeface="Arial"/>
                <a:cs typeface="Arial"/>
              </a:rPr>
              <a:t>emar</a:t>
            </a:r>
            <a:r>
              <a:rPr sz="2000" spc="-65" dirty="0">
                <a:solidFill>
                  <a:srgbClr val="FFFFFF"/>
                </a:solidFill>
                <a:latin typeface="Arial"/>
                <a:cs typeface="Arial"/>
              </a:rPr>
              <a:t>ks,</a:t>
            </a:r>
            <a:r>
              <a:rPr sz="2000" dirty="0">
                <a:solidFill>
                  <a:srgbClr val="FFFFFF"/>
                </a:solidFill>
                <a:latin typeface="Arial"/>
                <a:cs typeface="Arial"/>
              </a:rPr>
              <a:t>	</a:t>
            </a:r>
            <a:r>
              <a:rPr sz="2000" spc="80" dirty="0">
                <a:solidFill>
                  <a:srgbClr val="FFFFFF"/>
                </a:solidFill>
                <a:latin typeface="Arial"/>
                <a:cs typeface="Arial"/>
              </a:rPr>
              <a:t>in  </a:t>
            </a:r>
            <a:r>
              <a:rPr sz="2000" spc="-30" dirty="0">
                <a:solidFill>
                  <a:srgbClr val="FFFFFF"/>
                </a:solidFill>
                <a:latin typeface="Arial"/>
                <a:cs typeface="Arial"/>
              </a:rPr>
              <a:t>program</a:t>
            </a:r>
            <a:r>
              <a:rPr sz="2000" spc="-125" dirty="0">
                <a:solidFill>
                  <a:srgbClr val="FFFFFF"/>
                </a:solidFill>
                <a:latin typeface="Arial"/>
                <a:cs typeface="Arial"/>
              </a:rPr>
              <a:t> </a:t>
            </a:r>
            <a:r>
              <a:rPr sz="2000" spc="-75" dirty="0">
                <a:solidFill>
                  <a:srgbClr val="FFFFFF"/>
                </a:solidFill>
                <a:latin typeface="Arial"/>
                <a:cs typeface="Arial"/>
              </a:rPr>
              <a:t>code</a:t>
            </a:r>
            <a:r>
              <a:rPr sz="2000" spc="-125" dirty="0">
                <a:solidFill>
                  <a:srgbClr val="FFFFFF"/>
                </a:solidFill>
                <a:latin typeface="Arial"/>
                <a:cs typeface="Arial"/>
              </a:rPr>
              <a:t> </a:t>
            </a:r>
            <a:r>
              <a:rPr sz="2000" spc="30" dirty="0">
                <a:solidFill>
                  <a:srgbClr val="FFFFFF"/>
                </a:solidFill>
                <a:latin typeface="Arial"/>
                <a:cs typeface="Arial"/>
              </a:rPr>
              <a:t>that</a:t>
            </a:r>
            <a:r>
              <a:rPr sz="2000" spc="-120" dirty="0">
                <a:solidFill>
                  <a:srgbClr val="FFFFFF"/>
                </a:solidFill>
                <a:latin typeface="Arial"/>
                <a:cs typeface="Arial"/>
              </a:rPr>
              <a:t> </a:t>
            </a:r>
            <a:r>
              <a:rPr sz="2000" spc="95" dirty="0">
                <a:solidFill>
                  <a:srgbClr val="FFFFFF"/>
                </a:solidFill>
                <a:latin typeface="Arial"/>
                <a:cs typeface="Arial"/>
              </a:rPr>
              <a:t>will</a:t>
            </a:r>
            <a:r>
              <a:rPr sz="2000" spc="-125" dirty="0">
                <a:solidFill>
                  <a:srgbClr val="FFFFFF"/>
                </a:solidFill>
                <a:latin typeface="Arial"/>
                <a:cs typeface="Arial"/>
              </a:rPr>
              <a:t> </a:t>
            </a:r>
            <a:r>
              <a:rPr sz="2000" spc="-105" dirty="0">
                <a:solidFill>
                  <a:srgbClr val="FFFFFF"/>
                </a:solidFill>
                <a:latin typeface="Arial"/>
                <a:cs typeface="Arial"/>
              </a:rPr>
              <a:t>be</a:t>
            </a:r>
            <a:r>
              <a:rPr sz="2000" spc="-114" dirty="0">
                <a:solidFill>
                  <a:srgbClr val="FFFFFF"/>
                </a:solidFill>
                <a:latin typeface="Arial"/>
                <a:cs typeface="Arial"/>
              </a:rPr>
              <a:t> </a:t>
            </a:r>
            <a:r>
              <a:rPr sz="2000" spc="-10" dirty="0">
                <a:solidFill>
                  <a:srgbClr val="FFFFFF"/>
                </a:solidFill>
                <a:latin typeface="Arial"/>
                <a:cs typeface="Arial"/>
              </a:rPr>
              <a:t>ignored</a:t>
            </a:r>
            <a:r>
              <a:rPr sz="2000" spc="-125" dirty="0">
                <a:solidFill>
                  <a:srgbClr val="FFFFFF"/>
                </a:solidFill>
                <a:latin typeface="Arial"/>
                <a:cs typeface="Arial"/>
              </a:rPr>
              <a:t> </a:t>
            </a:r>
            <a:r>
              <a:rPr sz="2000" spc="-15" dirty="0">
                <a:solidFill>
                  <a:srgbClr val="FFFFFF"/>
                </a:solidFill>
                <a:latin typeface="Arial"/>
                <a:cs typeface="Arial"/>
              </a:rPr>
              <a:t>by</a:t>
            </a:r>
            <a:r>
              <a:rPr sz="2000" spc="-114" dirty="0">
                <a:solidFill>
                  <a:srgbClr val="FFFFFF"/>
                </a:solidFill>
                <a:latin typeface="Arial"/>
                <a:cs typeface="Arial"/>
              </a:rPr>
              <a:t> </a:t>
            </a:r>
            <a:r>
              <a:rPr sz="2000" dirty="0">
                <a:solidFill>
                  <a:srgbClr val="FFFFFF"/>
                </a:solidFill>
                <a:latin typeface="Arial"/>
                <a:cs typeface="Arial"/>
              </a:rPr>
              <a:t>the</a:t>
            </a:r>
            <a:r>
              <a:rPr sz="2000" spc="-125" dirty="0">
                <a:solidFill>
                  <a:srgbClr val="FFFFFF"/>
                </a:solidFill>
                <a:latin typeface="Arial"/>
                <a:cs typeface="Arial"/>
              </a:rPr>
              <a:t> </a:t>
            </a:r>
            <a:r>
              <a:rPr sz="2000" spc="-10" dirty="0">
                <a:solidFill>
                  <a:srgbClr val="FFFFFF"/>
                </a:solidFill>
                <a:latin typeface="Arial"/>
                <a:cs typeface="Arial"/>
              </a:rPr>
              <a:t>compiler.</a:t>
            </a:r>
            <a:endParaRPr sz="2000">
              <a:latin typeface="Arial"/>
              <a:cs typeface="Arial"/>
            </a:endParaRPr>
          </a:p>
        </p:txBody>
      </p:sp>
      <p:sp>
        <p:nvSpPr>
          <p:cNvPr id="6" name="object 6"/>
          <p:cNvSpPr txBox="1">
            <a:spLocks noGrp="1"/>
          </p:cNvSpPr>
          <p:nvPr>
            <p:ph type="title"/>
          </p:nvPr>
        </p:nvSpPr>
        <p:spPr>
          <a:xfrm>
            <a:off x="497840" y="0"/>
            <a:ext cx="2465070" cy="635635"/>
          </a:xfrm>
          <a:prstGeom prst="rect">
            <a:avLst/>
          </a:prstGeom>
        </p:spPr>
        <p:txBody>
          <a:bodyPr vert="horz" wrap="square" lIns="0" tIns="12700" rIns="0" bIns="0" rtlCol="0">
            <a:spAutoFit/>
          </a:bodyPr>
          <a:lstStyle/>
          <a:p>
            <a:pPr marL="12700">
              <a:lnSpc>
                <a:spcPct val="100000"/>
              </a:lnSpc>
              <a:spcBef>
                <a:spcPts val="100"/>
              </a:spcBef>
            </a:pPr>
            <a:r>
              <a:rPr spc="-20" dirty="0"/>
              <a:t>Comments</a:t>
            </a:r>
          </a:p>
        </p:txBody>
      </p:sp>
      <p:grpSp>
        <p:nvGrpSpPr>
          <p:cNvPr id="7" name="object 7"/>
          <p:cNvGrpSpPr/>
          <p:nvPr/>
        </p:nvGrpSpPr>
        <p:grpSpPr>
          <a:xfrm>
            <a:off x="454151" y="2187689"/>
            <a:ext cx="8228965" cy="1156970"/>
            <a:chOff x="454151" y="2187689"/>
            <a:chExt cx="8228965" cy="1156970"/>
          </a:xfrm>
        </p:grpSpPr>
        <p:pic>
          <p:nvPicPr>
            <p:cNvPr id="8" name="object 8"/>
            <p:cNvPicPr/>
            <p:nvPr/>
          </p:nvPicPr>
          <p:blipFill>
            <a:blip r:embed="rId5" cstate="print"/>
            <a:stretch>
              <a:fillRect/>
            </a:stretch>
          </p:blipFill>
          <p:spPr>
            <a:xfrm>
              <a:off x="454151" y="2187689"/>
              <a:ext cx="8228838" cy="1156728"/>
            </a:xfrm>
            <a:prstGeom prst="rect">
              <a:avLst/>
            </a:prstGeom>
          </p:spPr>
        </p:pic>
        <p:pic>
          <p:nvPicPr>
            <p:cNvPr id="9" name="object 9"/>
            <p:cNvPicPr/>
            <p:nvPr/>
          </p:nvPicPr>
          <p:blipFill>
            <a:blip r:embed="rId6" cstate="print"/>
            <a:stretch>
              <a:fillRect/>
            </a:stretch>
          </p:blipFill>
          <p:spPr>
            <a:xfrm>
              <a:off x="495299" y="2205990"/>
              <a:ext cx="8153400" cy="1081277"/>
            </a:xfrm>
            <a:prstGeom prst="rect">
              <a:avLst/>
            </a:prstGeom>
          </p:spPr>
        </p:pic>
      </p:grpSp>
      <p:sp>
        <p:nvSpPr>
          <p:cNvPr id="10" name="object 10"/>
          <p:cNvSpPr txBox="1"/>
          <p:nvPr/>
        </p:nvSpPr>
        <p:spPr>
          <a:xfrm>
            <a:off x="628395" y="2439669"/>
            <a:ext cx="7958455" cy="604520"/>
          </a:xfrm>
          <a:prstGeom prst="rect">
            <a:avLst/>
          </a:prstGeom>
        </p:spPr>
        <p:txBody>
          <a:bodyPr vert="horz" wrap="square" lIns="0" tIns="46990" rIns="0" bIns="0" rtlCol="0">
            <a:spAutoFit/>
          </a:bodyPr>
          <a:lstStyle/>
          <a:p>
            <a:pPr marL="12700" marR="5080">
              <a:lnSpc>
                <a:spcPts val="2160"/>
              </a:lnSpc>
              <a:spcBef>
                <a:spcPts val="370"/>
              </a:spcBef>
            </a:pPr>
            <a:r>
              <a:rPr sz="2000" spc="15" dirty="0">
                <a:solidFill>
                  <a:srgbClr val="FFFFFF"/>
                </a:solidFill>
                <a:latin typeface="Arial"/>
                <a:cs typeface="Arial"/>
              </a:rPr>
              <a:t>Can </a:t>
            </a:r>
            <a:r>
              <a:rPr sz="2000" spc="-100" dirty="0">
                <a:solidFill>
                  <a:srgbClr val="FFFFFF"/>
                </a:solidFill>
                <a:latin typeface="Arial"/>
                <a:cs typeface="Arial"/>
              </a:rPr>
              <a:t>be </a:t>
            </a:r>
            <a:r>
              <a:rPr sz="2000" spc="10" dirty="0">
                <a:solidFill>
                  <a:srgbClr val="FFFFFF"/>
                </a:solidFill>
                <a:latin typeface="Arial"/>
                <a:cs typeface="Arial"/>
              </a:rPr>
              <a:t>included </a:t>
            </a:r>
            <a:r>
              <a:rPr sz="2000" spc="-10" dirty="0">
                <a:solidFill>
                  <a:srgbClr val="FFFFFF"/>
                </a:solidFill>
                <a:latin typeface="Arial"/>
                <a:cs typeface="Arial"/>
              </a:rPr>
              <a:t>inside </a:t>
            </a:r>
            <a:r>
              <a:rPr sz="2000" dirty="0">
                <a:solidFill>
                  <a:srgbClr val="FFFFFF"/>
                </a:solidFill>
                <a:latin typeface="Arial"/>
                <a:cs typeface="Arial"/>
              </a:rPr>
              <a:t>the </a:t>
            </a:r>
            <a:r>
              <a:rPr sz="2000" spc="-65" dirty="0">
                <a:solidFill>
                  <a:srgbClr val="FFFFFF"/>
                </a:solidFill>
                <a:latin typeface="Arial"/>
                <a:cs typeface="Arial"/>
              </a:rPr>
              <a:t>source </a:t>
            </a:r>
            <a:r>
              <a:rPr sz="2000" spc="-75" dirty="0">
                <a:solidFill>
                  <a:srgbClr val="FFFFFF"/>
                </a:solidFill>
                <a:latin typeface="Arial"/>
                <a:cs typeface="Arial"/>
              </a:rPr>
              <a:t>code </a:t>
            </a:r>
            <a:r>
              <a:rPr sz="2000" spc="50" dirty="0">
                <a:solidFill>
                  <a:srgbClr val="FFFFFF"/>
                </a:solidFill>
                <a:latin typeface="Arial"/>
                <a:cs typeface="Arial"/>
              </a:rPr>
              <a:t>of </a:t>
            </a:r>
            <a:r>
              <a:rPr sz="2000" spc="-195" dirty="0">
                <a:solidFill>
                  <a:srgbClr val="FFFFFF"/>
                </a:solidFill>
                <a:latin typeface="Arial"/>
                <a:cs typeface="Arial"/>
              </a:rPr>
              <a:t>a </a:t>
            </a:r>
            <a:r>
              <a:rPr sz="2000" spc="-40" dirty="0">
                <a:solidFill>
                  <a:srgbClr val="FFFFFF"/>
                </a:solidFill>
                <a:latin typeface="Arial"/>
                <a:cs typeface="Arial"/>
              </a:rPr>
              <a:t>single statement, </a:t>
            </a:r>
            <a:r>
              <a:rPr sz="2000" spc="-195" dirty="0">
                <a:solidFill>
                  <a:srgbClr val="FFFFFF"/>
                </a:solidFill>
                <a:latin typeface="Arial"/>
                <a:cs typeface="Arial"/>
              </a:rPr>
              <a:t>a </a:t>
            </a:r>
            <a:r>
              <a:rPr sz="2000" spc="-30" dirty="0">
                <a:solidFill>
                  <a:srgbClr val="FFFFFF"/>
                </a:solidFill>
                <a:latin typeface="Arial"/>
                <a:cs typeface="Arial"/>
              </a:rPr>
              <a:t>batch, </a:t>
            </a:r>
            <a:r>
              <a:rPr sz="2000" spc="35" dirty="0">
                <a:solidFill>
                  <a:srgbClr val="FFFFFF"/>
                </a:solidFill>
                <a:latin typeface="Arial"/>
                <a:cs typeface="Arial"/>
              </a:rPr>
              <a:t>or  </a:t>
            </a:r>
            <a:r>
              <a:rPr sz="2000" spc="-195" dirty="0">
                <a:solidFill>
                  <a:srgbClr val="FFFFFF"/>
                </a:solidFill>
                <a:latin typeface="Arial"/>
                <a:cs typeface="Arial"/>
              </a:rPr>
              <a:t>a </a:t>
            </a:r>
            <a:r>
              <a:rPr sz="2000" spc="-35" dirty="0">
                <a:solidFill>
                  <a:srgbClr val="FFFFFF"/>
                </a:solidFill>
                <a:latin typeface="Arial"/>
                <a:cs typeface="Arial"/>
              </a:rPr>
              <a:t>stored</a:t>
            </a:r>
            <a:r>
              <a:rPr sz="2000" spc="-60" dirty="0">
                <a:solidFill>
                  <a:srgbClr val="FFFFFF"/>
                </a:solidFill>
                <a:latin typeface="Arial"/>
                <a:cs typeface="Arial"/>
              </a:rPr>
              <a:t> </a:t>
            </a:r>
            <a:r>
              <a:rPr sz="2000" spc="-35" dirty="0">
                <a:solidFill>
                  <a:srgbClr val="FFFFFF"/>
                </a:solidFill>
                <a:latin typeface="Arial"/>
                <a:cs typeface="Arial"/>
              </a:rPr>
              <a:t>procedure.</a:t>
            </a:r>
            <a:endParaRPr sz="2000">
              <a:latin typeface="Arial"/>
              <a:cs typeface="Arial"/>
            </a:endParaRPr>
          </a:p>
        </p:txBody>
      </p:sp>
      <p:sp>
        <p:nvSpPr>
          <p:cNvPr id="11" name="object 11"/>
          <p:cNvSpPr txBox="1"/>
          <p:nvPr/>
        </p:nvSpPr>
        <p:spPr>
          <a:xfrm>
            <a:off x="627887" y="3442461"/>
            <a:ext cx="5847715" cy="330200"/>
          </a:xfrm>
          <a:prstGeom prst="rect">
            <a:avLst/>
          </a:prstGeom>
        </p:spPr>
        <p:txBody>
          <a:bodyPr vert="horz" wrap="square" lIns="0" tIns="12065" rIns="0" bIns="0" rtlCol="0">
            <a:spAutoFit/>
          </a:bodyPr>
          <a:lstStyle/>
          <a:p>
            <a:pPr marL="12700">
              <a:lnSpc>
                <a:spcPct val="100000"/>
              </a:lnSpc>
              <a:spcBef>
                <a:spcPts val="95"/>
              </a:spcBef>
            </a:pPr>
            <a:r>
              <a:rPr sz="2000" spc="20" dirty="0">
                <a:latin typeface="Arial"/>
                <a:cs typeface="Arial"/>
              </a:rPr>
              <a:t>SQL</a:t>
            </a:r>
            <a:r>
              <a:rPr sz="2000" spc="-135" dirty="0">
                <a:latin typeface="Arial"/>
                <a:cs typeface="Arial"/>
              </a:rPr>
              <a:t> </a:t>
            </a:r>
            <a:r>
              <a:rPr sz="2000" spc="-50" dirty="0">
                <a:latin typeface="Arial"/>
                <a:cs typeface="Arial"/>
              </a:rPr>
              <a:t>Server</a:t>
            </a:r>
            <a:r>
              <a:rPr sz="2000" spc="-114" dirty="0">
                <a:latin typeface="Arial"/>
                <a:cs typeface="Arial"/>
              </a:rPr>
              <a:t> </a:t>
            </a:r>
            <a:r>
              <a:rPr sz="2000" spc="-30" dirty="0">
                <a:latin typeface="Arial"/>
                <a:cs typeface="Arial"/>
              </a:rPr>
              <a:t>supports</a:t>
            </a:r>
            <a:r>
              <a:rPr sz="2000" spc="-105" dirty="0">
                <a:latin typeface="Arial"/>
                <a:cs typeface="Arial"/>
              </a:rPr>
              <a:t> </a:t>
            </a:r>
            <a:r>
              <a:rPr sz="2000" spc="50" dirty="0">
                <a:latin typeface="Arial"/>
                <a:cs typeface="Arial"/>
              </a:rPr>
              <a:t>two</a:t>
            </a:r>
            <a:r>
              <a:rPr sz="2000" spc="-114" dirty="0">
                <a:latin typeface="Arial"/>
                <a:cs typeface="Arial"/>
              </a:rPr>
              <a:t> </a:t>
            </a:r>
            <a:r>
              <a:rPr sz="2000" spc="-60" dirty="0">
                <a:latin typeface="Arial"/>
                <a:cs typeface="Arial"/>
              </a:rPr>
              <a:t>types</a:t>
            </a:r>
            <a:r>
              <a:rPr sz="2000" spc="-105" dirty="0">
                <a:latin typeface="Arial"/>
                <a:cs typeface="Arial"/>
              </a:rPr>
              <a:t> </a:t>
            </a:r>
            <a:r>
              <a:rPr sz="2000" spc="50" dirty="0">
                <a:latin typeface="Arial"/>
                <a:cs typeface="Arial"/>
              </a:rPr>
              <a:t>of</a:t>
            </a:r>
            <a:r>
              <a:rPr sz="2000" spc="-130" dirty="0">
                <a:latin typeface="Arial"/>
                <a:cs typeface="Arial"/>
              </a:rPr>
              <a:t> </a:t>
            </a:r>
            <a:r>
              <a:rPr sz="2000" spc="-10" dirty="0">
                <a:latin typeface="Arial"/>
                <a:cs typeface="Arial"/>
              </a:rPr>
              <a:t>commenting</a:t>
            </a:r>
            <a:r>
              <a:rPr sz="2000" spc="-105" dirty="0">
                <a:latin typeface="Arial"/>
                <a:cs typeface="Arial"/>
              </a:rPr>
              <a:t> </a:t>
            </a:r>
            <a:r>
              <a:rPr sz="2000" spc="-60" dirty="0">
                <a:latin typeface="Arial"/>
                <a:cs typeface="Arial"/>
              </a:rPr>
              <a:t>styles:</a:t>
            </a:r>
            <a:endParaRPr sz="2000">
              <a:latin typeface="Arial"/>
              <a:cs typeface="Arial"/>
            </a:endParaRPr>
          </a:p>
        </p:txBody>
      </p:sp>
      <p:pic>
        <p:nvPicPr>
          <p:cNvPr id="12" name="object 12"/>
          <p:cNvPicPr/>
          <p:nvPr/>
        </p:nvPicPr>
        <p:blipFill>
          <a:blip r:embed="rId7" cstate="print"/>
          <a:stretch>
            <a:fillRect/>
          </a:stretch>
        </p:blipFill>
        <p:spPr>
          <a:xfrm>
            <a:off x="731519" y="3838194"/>
            <a:ext cx="7667244" cy="2534412"/>
          </a:xfrm>
          <a:prstGeom prst="rect">
            <a:avLst/>
          </a:prstGeom>
        </p:spPr>
      </p:pic>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21</a:t>
            </a:fld>
            <a:endParaRPr sz="1200"/>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713479" cy="635635"/>
          </a:xfrm>
          <a:prstGeom prst="rect">
            <a:avLst/>
          </a:prstGeom>
        </p:spPr>
        <p:txBody>
          <a:bodyPr vert="horz" wrap="square" lIns="0" tIns="12700" rIns="0" bIns="0" rtlCol="0">
            <a:spAutoFit/>
          </a:bodyPr>
          <a:lstStyle/>
          <a:p>
            <a:pPr marL="12700">
              <a:lnSpc>
                <a:spcPct val="100000"/>
              </a:lnSpc>
              <a:spcBef>
                <a:spcPts val="100"/>
              </a:spcBef>
            </a:pPr>
            <a:r>
              <a:rPr spc="-70" dirty="0"/>
              <a:t>Batch</a:t>
            </a:r>
            <a:r>
              <a:rPr spc="-315" dirty="0"/>
              <a:t> </a:t>
            </a:r>
            <a:r>
              <a:rPr spc="-130" dirty="0"/>
              <a:t>Separators</a:t>
            </a:r>
          </a:p>
        </p:txBody>
      </p:sp>
      <p:grpSp>
        <p:nvGrpSpPr>
          <p:cNvPr id="3" name="object 3"/>
          <p:cNvGrpSpPr/>
          <p:nvPr/>
        </p:nvGrpSpPr>
        <p:grpSpPr>
          <a:xfrm>
            <a:off x="94488" y="885405"/>
            <a:ext cx="7185025" cy="1042669"/>
            <a:chOff x="94488" y="885405"/>
            <a:chExt cx="7185025" cy="1042669"/>
          </a:xfrm>
        </p:grpSpPr>
        <p:pic>
          <p:nvPicPr>
            <p:cNvPr id="4" name="object 4"/>
            <p:cNvPicPr/>
            <p:nvPr/>
          </p:nvPicPr>
          <p:blipFill>
            <a:blip r:embed="rId3" cstate="print"/>
            <a:stretch>
              <a:fillRect/>
            </a:stretch>
          </p:blipFill>
          <p:spPr>
            <a:xfrm>
              <a:off x="94488" y="885405"/>
              <a:ext cx="7184898" cy="1042454"/>
            </a:xfrm>
            <a:prstGeom prst="rect">
              <a:avLst/>
            </a:prstGeom>
          </p:spPr>
        </p:pic>
        <p:pic>
          <p:nvPicPr>
            <p:cNvPr id="5" name="object 5"/>
            <p:cNvPicPr/>
            <p:nvPr/>
          </p:nvPicPr>
          <p:blipFill>
            <a:blip r:embed="rId4" cstate="print"/>
            <a:stretch>
              <a:fillRect/>
            </a:stretch>
          </p:blipFill>
          <p:spPr>
            <a:xfrm>
              <a:off x="135636" y="903732"/>
              <a:ext cx="7109459" cy="966977"/>
            </a:xfrm>
            <a:prstGeom prst="rect">
              <a:avLst/>
            </a:prstGeom>
          </p:spPr>
        </p:pic>
      </p:grpSp>
      <p:grpSp>
        <p:nvGrpSpPr>
          <p:cNvPr id="6" name="object 6"/>
          <p:cNvGrpSpPr/>
          <p:nvPr/>
        </p:nvGrpSpPr>
        <p:grpSpPr>
          <a:xfrm>
            <a:off x="1682495" y="2157945"/>
            <a:ext cx="7184390" cy="1042669"/>
            <a:chOff x="1682495" y="2157945"/>
            <a:chExt cx="7184390" cy="1042669"/>
          </a:xfrm>
        </p:grpSpPr>
        <p:pic>
          <p:nvPicPr>
            <p:cNvPr id="7" name="object 7"/>
            <p:cNvPicPr/>
            <p:nvPr/>
          </p:nvPicPr>
          <p:blipFill>
            <a:blip r:embed="rId3" cstate="print"/>
            <a:stretch>
              <a:fillRect/>
            </a:stretch>
          </p:blipFill>
          <p:spPr>
            <a:xfrm>
              <a:off x="1682495" y="2157945"/>
              <a:ext cx="7184135" cy="1042454"/>
            </a:xfrm>
            <a:prstGeom prst="rect">
              <a:avLst/>
            </a:prstGeom>
          </p:spPr>
        </p:pic>
        <p:pic>
          <p:nvPicPr>
            <p:cNvPr id="8" name="object 8"/>
            <p:cNvPicPr/>
            <p:nvPr/>
          </p:nvPicPr>
          <p:blipFill>
            <a:blip r:embed="rId5" cstate="print"/>
            <a:stretch>
              <a:fillRect/>
            </a:stretch>
          </p:blipFill>
          <p:spPr>
            <a:xfrm>
              <a:off x="1723643" y="2176272"/>
              <a:ext cx="7108698" cy="966977"/>
            </a:xfrm>
            <a:prstGeom prst="rect">
              <a:avLst/>
            </a:prstGeom>
          </p:spPr>
        </p:pic>
      </p:grpSp>
      <p:grpSp>
        <p:nvGrpSpPr>
          <p:cNvPr id="9" name="object 9"/>
          <p:cNvGrpSpPr/>
          <p:nvPr/>
        </p:nvGrpSpPr>
        <p:grpSpPr>
          <a:xfrm>
            <a:off x="155447" y="3429723"/>
            <a:ext cx="7184390" cy="1042669"/>
            <a:chOff x="155447" y="3429723"/>
            <a:chExt cx="7184390" cy="1042669"/>
          </a:xfrm>
        </p:grpSpPr>
        <p:pic>
          <p:nvPicPr>
            <p:cNvPr id="10" name="object 10"/>
            <p:cNvPicPr/>
            <p:nvPr/>
          </p:nvPicPr>
          <p:blipFill>
            <a:blip r:embed="rId3" cstate="print"/>
            <a:stretch>
              <a:fillRect/>
            </a:stretch>
          </p:blipFill>
          <p:spPr>
            <a:xfrm>
              <a:off x="155447" y="3429723"/>
              <a:ext cx="7184135" cy="1042454"/>
            </a:xfrm>
            <a:prstGeom prst="rect">
              <a:avLst/>
            </a:prstGeom>
          </p:spPr>
        </p:pic>
        <p:pic>
          <p:nvPicPr>
            <p:cNvPr id="11" name="object 11"/>
            <p:cNvPicPr/>
            <p:nvPr/>
          </p:nvPicPr>
          <p:blipFill>
            <a:blip r:embed="rId6" cstate="print"/>
            <a:stretch>
              <a:fillRect/>
            </a:stretch>
          </p:blipFill>
          <p:spPr>
            <a:xfrm>
              <a:off x="196595" y="3448050"/>
              <a:ext cx="7108698" cy="966977"/>
            </a:xfrm>
            <a:prstGeom prst="rect">
              <a:avLst/>
            </a:prstGeom>
          </p:spPr>
        </p:pic>
      </p:grpSp>
      <p:grpSp>
        <p:nvGrpSpPr>
          <p:cNvPr id="12" name="object 12"/>
          <p:cNvGrpSpPr/>
          <p:nvPr/>
        </p:nvGrpSpPr>
        <p:grpSpPr>
          <a:xfrm>
            <a:off x="1742694" y="4701540"/>
            <a:ext cx="7184390" cy="1043305"/>
            <a:chOff x="1742694" y="4701540"/>
            <a:chExt cx="7184390" cy="1043305"/>
          </a:xfrm>
        </p:grpSpPr>
        <p:pic>
          <p:nvPicPr>
            <p:cNvPr id="13" name="object 13"/>
            <p:cNvPicPr/>
            <p:nvPr/>
          </p:nvPicPr>
          <p:blipFill>
            <a:blip r:embed="rId7" cstate="print"/>
            <a:stretch>
              <a:fillRect/>
            </a:stretch>
          </p:blipFill>
          <p:spPr>
            <a:xfrm>
              <a:off x="1742694" y="4701540"/>
              <a:ext cx="7184135" cy="1043216"/>
            </a:xfrm>
            <a:prstGeom prst="rect">
              <a:avLst/>
            </a:prstGeom>
          </p:spPr>
        </p:pic>
        <p:pic>
          <p:nvPicPr>
            <p:cNvPr id="14" name="object 14"/>
            <p:cNvPicPr/>
            <p:nvPr/>
          </p:nvPicPr>
          <p:blipFill>
            <a:blip r:embed="rId8" cstate="print"/>
            <a:stretch>
              <a:fillRect/>
            </a:stretch>
          </p:blipFill>
          <p:spPr>
            <a:xfrm>
              <a:off x="1783842" y="4719828"/>
              <a:ext cx="7108698" cy="967739"/>
            </a:xfrm>
            <a:prstGeom prst="rect">
              <a:avLst/>
            </a:prstGeom>
          </p:spPr>
        </p:pic>
      </p:grpSp>
      <p:sp>
        <p:nvSpPr>
          <p:cNvPr id="15" name="object 15"/>
          <p:cNvSpPr txBox="1"/>
          <p:nvPr/>
        </p:nvSpPr>
        <p:spPr>
          <a:xfrm>
            <a:off x="260350" y="882903"/>
            <a:ext cx="8509000" cy="4558030"/>
          </a:xfrm>
          <a:prstGeom prst="rect">
            <a:avLst/>
          </a:prstGeom>
        </p:spPr>
        <p:txBody>
          <a:bodyPr vert="horz" wrap="square" lIns="0" tIns="46990" rIns="0" bIns="0" rtlCol="0">
            <a:spAutoFit/>
          </a:bodyPr>
          <a:lstStyle/>
          <a:p>
            <a:pPr marL="12700" marR="1654175" algn="just">
              <a:lnSpc>
                <a:spcPts val="2160"/>
              </a:lnSpc>
              <a:spcBef>
                <a:spcPts val="370"/>
              </a:spcBef>
            </a:pPr>
            <a:r>
              <a:rPr sz="2000" spc="285" dirty="0">
                <a:solidFill>
                  <a:srgbClr val="FFFFFF"/>
                </a:solidFill>
                <a:latin typeface="Arial"/>
                <a:cs typeface="Arial"/>
              </a:rPr>
              <a:t>A </a:t>
            </a:r>
            <a:r>
              <a:rPr sz="2000" spc="-25" dirty="0">
                <a:solidFill>
                  <a:srgbClr val="FFFFFF"/>
                </a:solidFill>
                <a:latin typeface="Arial"/>
                <a:cs typeface="Arial"/>
              </a:rPr>
              <a:t>batch </a:t>
            </a:r>
            <a:r>
              <a:rPr sz="2000" spc="-50" dirty="0">
                <a:solidFill>
                  <a:srgbClr val="FFFFFF"/>
                </a:solidFill>
                <a:latin typeface="Arial"/>
                <a:cs typeface="Arial"/>
              </a:rPr>
              <a:t>is </a:t>
            </a:r>
            <a:r>
              <a:rPr sz="2000" spc="-195" dirty="0">
                <a:solidFill>
                  <a:srgbClr val="FFFFFF"/>
                </a:solidFill>
                <a:latin typeface="Arial"/>
                <a:cs typeface="Arial"/>
              </a:rPr>
              <a:t>a </a:t>
            </a:r>
            <a:r>
              <a:rPr sz="2000" spc="10" dirty="0">
                <a:solidFill>
                  <a:srgbClr val="FFFFFF"/>
                </a:solidFill>
                <a:latin typeface="Arial"/>
                <a:cs typeface="Arial"/>
              </a:rPr>
              <a:t>collection </a:t>
            </a:r>
            <a:r>
              <a:rPr sz="2000" spc="55" dirty="0">
                <a:solidFill>
                  <a:srgbClr val="FFFFFF"/>
                </a:solidFill>
                <a:latin typeface="Arial"/>
                <a:cs typeface="Arial"/>
              </a:rPr>
              <a:t>of </a:t>
            </a:r>
            <a:r>
              <a:rPr sz="2000" spc="-45" dirty="0">
                <a:solidFill>
                  <a:srgbClr val="FFFFFF"/>
                </a:solidFill>
                <a:latin typeface="Arial"/>
                <a:cs typeface="Arial"/>
              </a:rPr>
              <a:t>one </a:t>
            </a:r>
            <a:r>
              <a:rPr sz="2000" spc="30" dirty="0">
                <a:solidFill>
                  <a:srgbClr val="FFFFFF"/>
                </a:solidFill>
                <a:latin typeface="Arial"/>
                <a:cs typeface="Arial"/>
              </a:rPr>
              <a:t>or </a:t>
            </a:r>
            <a:r>
              <a:rPr sz="2000" spc="-35" dirty="0">
                <a:solidFill>
                  <a:srgbClr val="FFFFFF"/>
                </a:solidFill>
                <a:latin typeface="Arial"/>
                <a:cs typeface="Arial"/>
              </a:rPr>
              <a:t>more </a:t>
            </a:r>
            <a:r>
              <a:rPr sz="2000" spc="-15" dirty="0">
                <a:solidFill>
                  <a:srgbClr val="FFFFFF"/>
                </a:solidFill>
                <a:latin typeface="Arial"/>
                <a:cs typeface="Arial"/>
              </a:rPr>
              <a:t>Transact-SQL  </a:t>
            </a:r>
            <a:r>
              <a:rPr sz="2000" spc="-55" dirty="0">
                <a:solidFill>
                  <a:srgbClr val="FFFFFF"/>
                </a:solidFill>
                <a:latin typeface="Arial"/>
                <a:cs typeface="Arial"/>
              </a:rPr>
              <a:t>statements</a:t>
            </a:r>
            <a:r>
              <a:rPr sz="2000" spc="-70" dirty="0">
                <a:solidFill>
                  <a:srgbClr val="FFFFFF"/>
                </a:solidFill>
                <a:latin typeface="Arial"/>
                <a:cs typeface="Arial"/>
              </a:rPr>
              <a:t> </a:t>
            </a:r>
            <a:r>
              <a:rPr sz="2000" spc="-50" dirty="0">
                <a:solidFill>
                  <a:srgbClr val="FFFFFF"/>
                </a:solidFill>
                <a:latin typeface="Arial"/>
                <a:cs typeface="Arial"/>
              </a:rPr>
              <a:t>sent</a:t>
            </a:r>
            <a:r>
              <a:rPr sz="2000" spc="-65" dirty="0">
                <a:solidFill>
                  <a:srgbClr val="FFFFFF"/>
                </a:solidFill>
                <a:latin typeface="Arial"/>
                <a:cs typeface="Arial"/>
              </a:rPr>
              <a:t> </a:t>
            </a:r>
            <a:r>
              <a:rPr sz="2000" spc="-35" dirty="0">
                <a:solidFill>
                  <a:srgbClr val="FFFFFF"/>
                </a:solidFill>
                <a:latin typeface="Arial"/>
                <a:cs typeface="Arial"/>
              </a:rPr>
              <a:t>at</a:t>
            </a:r>
            <a:r>
              <a:rPr sz="2000" spc="-65" dirty="0">
                <a:solidFill>
                  <a:srgbClr val="FFFFFF"/>
                </a:solidFill>
                <a:latin typeface="Arial"/>
                <a:cs typeface="Arial"/>
              </a:rPr>
              <a:t> </a:t>
            </a:r>
            <a:r>
              <a:rPr sz="2000" spc="-40" dirty="0">
                <a:solidFill>
                  <a:srgbClr val="FFFFFF"/>
                </a:solidFill>
                <a:latin typeface="Arial"/>
                <a:cs typeface="Arial"/>
              </a:rPr>
              <a:t>one</a:t>
            </a:r>
            <a:r>
              <a:rPr sz="2000" spc="-65" dirty="0">
                <a:solidFill>
                  <a:srgbClr val="FFFFFF"/>
                </a:solidFill>
                <a:latin typeface="Arial"/>
                <a:cs typeface="Arial"/>
              </a:rPr>
              <a:t> </a:t>
            </a:r>
            <a:r>
              <a:rPr sz="2000" spc="10" dirty="0">
                <a:solidFill>
                  <a:srgbClr val="FFFFFF"/>
                </a:solidFill>
                <a:latin typeface="Arial"/>
                <a:cs typeface="Arial"/>
              </a:rPr>
              <a:t>time</a:t>
            </a:r>
            <a:r>
              <a:rPr sz="2000" spc="-70" dirty="0">
                <a:solidFill>
                  <a:srgbClr val="FFFFFF"/>
                </a:solidFill>
                <a:latin typeface="Arial"/>
                <a:cs typeface="Arial"/>
              </a:rPr>
              <a:t> </a:t>
            </a:r>
            <a:r>
              <a:rPr sz="2000" spc="45" dirty="0">
                <a:solidFill>
                  <a:srgbClr val="FFFFFF"/>
                </a:solidFill>
                <a:latin typeface="Arial"/>
                <a:cs typeface="Arial"/>
              </a:rPr>
              <a:t>from</a:t>
            </a:r>
            <a:r>
              <a:rPr sz="2000" spc="-65" dirty="0">
                <a:solidFill>
                  <a:srgbClr val="FFFFFF"/>
                </a:solidFill>
                <a:latin typeface="Arial"/>
                <a:cs typeface="Arial"/>
              </a:rPr>
              <a:t> an</a:t>
            </a:r>
            <a:r>
              <a:rPr sz="2000" spc="-70" dirty="0">
                <a:solidFill>
                  <a:srgbClr val="FFFFFF"/>
                </a:solidFill>
                <a:latin typeface="Arial"/>
                <a:cs typeface="Arial"/>
              </a:rPr>
              <a:t> </a:t>
            </a:r>
            <a:r>
              <a:rPr sz="2000" spc="5" dirty="0">
                <a:solidFill>
                  <a:srgbClr val="FFFFFF"/>
                </a:solidFill>
                <a:latin typeface="Arial"/>
                <a:cs typeface="Arial"/>
              </a:rPr>
              <a:t>application</a:t>
            </a:r>
            <a:r>
              <a:rPr sz="2000" spc="-60" dirty="0">
                <a:solidFill>
                  <a:srgbClr val="FFFFFF"/>
                </a:solidFill>
                <a:latin typeface="Arial"/>
                <a:cs typeface="Arial"/>
              </a:rPr>
              <a:t> </a:t>
            </a:r>
            <a:r>
              <a:rPr sz="2000" spc="55" dirty="0">
                <a:solidFill>
                  <a:srgbClr val="FFFFFF"/>
                </a:solidFill>
                <a:latin typeface="Arial"/>
                <a:cs typeface="Arial"/>
              </a:rPr>
              <a:t>to</a:t>
            </a:r>
            <a:r>
              <a:rPr sz="2000" spc="-75" dirty="0">
                <a:solidFill>
                  <a:srgbClr val="FFFFFF"/>
                </a:solidFill>
                <a:latin typeface="Arial"/>
                <a:cs typeface="Arial"/>
              </a:rPr>
              <a:t> </a:t>
            </a:r>
            <a:r>
              <a:rPr sz="2000" spc="20" dirty="0">
                <a:solidFill>
                  <a:srgbClr val="FFFFFF"/>
                </a:solidFill>
                <a:latin typeface="Arial"/>
                <a:cs typeface="Arial"/>
              </a:rPr>
              <a:t>SQL</a:t>
            </a:r>
            <a:r>
              <a:rPr sz="2000" spc="-75" dirty="0">
                <a:solidFill>
                  <a:srgbClr val="FFFFFF"/>
                </a:solidFill>
                <a:latin typeface="Arial"/>
                <a:cs typeface="Arial"/>
              </a:rPr>
              <a:t> </a:t>
            </a:r>
            <a:r>
              <a:rPr sz="2000" spc="-50" dirty="0">
                <a:solidFill>
                  <a:srgbClr val="FFFFFF"/>
                </a:solidFill>
                <a:latin typeface="Arial"/>
                <a:cs typeface="Arial"/>
              </a:rPr>
              <a:t>Server  </a:t>
            </a:r>
            <a:r>
              <a:rPr sz="2000" spc="65" dirty="0">
                <a:solidFill>
                  <a:srgbClr val="FFFFFF"/>
                </a:solidFill>
                <a:latin typeface="Arial"/>
                <a:cs typeface="Arial"/>
              </a:rPr>
              <a:t>for</a:t>
            </a:r>
            <a:r>
              <a:rPr sz="2000" spc="-135" dirty="0">
                <a:solidFill>
                  <a:srgbClr val="FFFFFF"/>
                </a:solidFill>
                <a:latin typeface="Arial"/>
                <a:cs typeface="Arial"/>
              </a:rPr>
              <a:t> </a:t>
            </a:r>
            <a:r>
              <a:rPr sz="2000" spc="-10" dirty="0">
                <a:solidFill>
                  <a:srgbClr val="FFFFFF"/>
                </a:solidFill>
                <a:latin typeface="Arial"/>
                <a:cs typeface="Arial"/>
              </a:rPr>
              <a:t>execution.</a:t>
            </a:r>
            <a:endParaRPr sz="2000">
              <a:latin typeface="Arial"/>
              <a:cs typeface="Arial"/>
            </a:endParaRPr>
          </a:p>
          <a:p>
            <a:pPr>
              <a:lnSpc>
                <a:spcPct val="100000"/>
              </a:lnSpc>
              <a:spcBef>
                <a:spcPts val="15"/>
              </a:spcBef>
            </a:pPr>
            <a:endParaRPr sz="4000">
              <a:latin typeface="Arial"/>
              <a:cs typeface="Arial"/>
            </a:endParaRPr>
          </a:p>
          <a:p>
            <a:pPr marL="1599565" marR="65405" indent="53975">
              <a:lnSpc>
                <a:spcPts val="2160"/>
              </a:lnSpc>
            </a:pPr>
            <a:r>
              <a:rPr sz="2000" spc="20" dirty="0">
                <a:solidFill>
                  <a:srgbClr val="FFFFFF"/>
                </a:solidFill>
                <a:latin typeface="Arial"/>
                <a:cs typeface="Arial"/>
              </a:rPr>
              <a:t>The </a:t>
            </a:r>
            <a:r>
              <a:rPr sz="2000" spc="-15" dirty="0">
                <a:solidFill>
                  <a:srgbClr val="FFFFFF"/>
                </a:solidFill>
                <a:latin typeface="Arial"/>
                <a:cs typeface="Arial"/>
              </a:rPr>
              <a:t>Transact-SQL </a:t>
            </a:r>
            <a:r>
              <a:rPr sz="2000" spc="-55" dirty="0">
                <a:solidFill>
                  <a:srgbClr val="FFFFFF"/>
                </a:solidFill>
                <a:latin typeface="Arial"/>
                <a:cs typeface="Arial"/>
              </a:rPr>
              <a:t>statements </a:t>
            </a:r>
            <a:r>
              <a:rPr sz="2000" spc="95" dirty="0">
                <a:solidFill>
                  <a:srgbClr val="FFFFFF"/>
                </a:solidFill>
                <a:latin typeface="Arial"/>
                <a:cs typeface="Arial"/>
              </a:rPr>
              <a:t>in </a:t>
            </a:r>
            <a:r>
              <a:rPr sz="2000" spc="-195" dirty="0">
                <a:solidFill>
                  <a:srgbClr val="FFFFFF"/>
                </a:solidFill>
                <a:latin typeface="Arial"/>
                <a:cs typeface="Arial"/>
              </a:rPr>
              <a:t>a </a:t>
            </a:r>
            <a:r>
              <a:rPr sz="2000" spc="-25" dirty="0">
                <a:solidFill>
                  <a:srgbClr val="FFFFFF"/>
                </a:solidFill>
                <a:latin typeface="Arial"/>
                <a:cs typeface="Arial"/>
              </a:rPr>
              <a:t>batch </a:t>
            </a:r>
            <a:r>
              <a:rPr sz="2000" spc="-95" dirty="0">
                <a:solidFill>
                  <a:srgbClr val="FFFFFF"/>
                </a:solidFill>
                <a:latin typeface="Arial"/>
                <a:cs typeface="Arial"/>
              </a:rPr>
              <a:t>are </a:t>
            </a:r>
            <a:r>
              <a:rPr sz="2000" spc="-10" dirty="0">
                <a:solidFill>
                  <a:srgbClr val="FFFFFF"/>
                </a:solidFill>
                <a:latin typeface="Arial"/>
                <a:cs typeface="Arial"/>
              </a:rPr>
              <a:t>compiled </a:t>
            </a:r>
            <a:r>
              <a:rPr sz="2000" spc="75" dirty="0">
                <a:solidFill>
                  <a:srgbClr val="FFFFFF"/>
                </a:solidFill>
                <a:latin typeface="Arial"/>
                <a:cs typeface="Arial"/>
              </a:rPr>
              <a:t>into </a:t>
            </a:r>
            <a:r>
              <a:rPr sz="2000" spc="-195" dirty="0">
                <a:solidFill>
                  <a:srgbClr val="FFFFFF"/>
                </a:solidFill>
                <a:latin typeface="Arial"/>
                <a:cs typeface="Arial"/>
              </a:rPr>
              <a:t>a  </a:t>
            </a:r>
            <a:r>
              <a:rPr sz="2000" spc="-40" dirty="0">
                <a:solidFill>
                  <a:srgbClr val="FFFFFF"/>
                </a:solidFill>
                <a:latin typeface="Arial"/>
                <a:cs typeface="Arial"/>
              </a:rPr>
              <a:t>single</a:t>
            </a:r>
            <a:r>
              <a:rPr sz="2000" spc="-125" dirty="0">
                <a:solidFill>
                  <a:srgbClr val="FFFFFF"/>
                </a:solidFill>
                <a:latin typeface="Arial"/>
                <a:cs typeface="Arial"/>
              </a:rPr>
              <a:t> </a:t>
            </a:r>
            <a:r>
              <a:rPr sz="2000" spc="-50" dirty="0">
                <a:solidFill>
                  <a:srgbClr val="FFFFFF"/>
                </a:solidFill>
                <a:latin typeface="Arial"/>
                <a:cs typeface="Arial"/>
              </a:rPr>
              <a:t>executable</a:t>
            </a:r>
            <a:r>
              <a:rPr sz="2000" spc="-110" dirty="0">
                <a:solidFill>
                  <a:srgbClr val="FFFFFF"/>
                </a:solidFill>
                <a:latin typeface="Arial"/>
                <a:cs typeface="Arial"/>
              </a:rPr>
              <a:t> </a:t>
            </a:r>
            <a:r>
              <a:rPr sz="2000" spc="60" dirty="0">
                <a:solidFill>
                  <a:srgbClr val="FFFFFF"/>
                </a:solidFill>
                <a:latin typeface="Arial"/>
                <a:cs typeface="Arial"/>
              </a:rPr>
              <a:t>unit,</a:t>
            </a:r>
            <a:r>
              <a:rPr sz="2000" spc="-130" dirty="0">
                <a:solidFill>
                  <a:srgbClr val="FFFFFF"/>
                </a:solidFill>
                <a:latin typeface="Arial"/>
                <a:cs typeface="Arial"/>
              </a:rPr>
              <a:t> </a:t>
            </a:r>
            <a:r>
              <a:rPr sz="2000" spc="-40" dirty="0">
                <a:solidFill>
                  <a:srgbClr val="FFFFFF"/>
                </a:solidFill>
                <a:latin typeface="Arial"/>
                <a:cs typeface="Arial"/>
              </a:rPr>
              <a:t>called</a:t>
            </a:r>
            <a:r>
              <a:rPr sz="2000" spc="-125" dirty="0">
                <a:solidFill>
                  <a:srgbClr val="FFFFFF"/>
                </a:solidFill>
                <a:latin typeface="Arial"/>
                <a:cs typeface="Arial"/>
              </a:rPr>
              <a:t> </a:t>
            </a:r>
            <a:r>
              <a:rPr sz="2000" spc="-65" dirty="0">
                <a:solidFill>
                  <a:srgbClr val="FFFFFF"/>
                </a:solidFill>
                <a:latin typeface="Arial"/>
                <a:cs typeface="Arial"/>
              </a:rPr>
              <a:t>an</a:t>
            </a:r>
            <a:r>
              <a:rPr sz="2000" spc="-125" dirty="0">
                <a:solidFill>
                  <a:srgbClr val="FFFFFF"/>
                </a:solidFill>
                <a:latin typeface="Arial"/>
                <a:cs typeface="Arial"/>
              </a:rPr>
              <a:t> </a:t>
            </a:r>
            <a:r>
              <a:rPr sz="2000" spc="-5" dirty="0">
                <a:solidFill>
                  <a:srgbClr val="FFFFFF"/>
                </a:solidFill>
                <a:latin typeface="Arial"/>
                <a:cs typeface="Arial"/>
              </a:rPr>
              <a:t>execution</a:t>
            </a:r>
            <a:r>
              <a:rPr sz="2000" spc="-105" dirty="0">
                <a:solidFill>
                  <a:srgbClr val="FFFFFF"/>
                </a:solidFill>
                <a:latin typeface="Arial"/>
                <a:cs typeface="Arial"/>
              </a:rPr>
              <a:t> </a:t>
            </a:r>
            <a:r>
              <a:rPr sz="2000" spc="-15" dirty="0">
                <a:solidFill>
                  <a:srgbClr val="FFFFFF"/>
                </a:solidFill>
                <a:latin typeface="Arial"/>
                <a:cs typeface="Arial"/>
              </a:rPr>
              <a:t>plan.</a:t>
            </a:r>
            <a:endParaRPr sz="2000">
              <a:latin typeface="Arial"/>
              <a:cs typeface="Arial"/>
            </a:endParaRPr>
          </a:p>
          <a:p>
            <a:pPr>
              <a:lnSpc>
                <a:spcPct val="100000"/>
              </a:lnSpc>
            </a:pPr>
            <a:endParaRPr sz="2800">
              <a:latin typeface="Arial"/>
              <a:cs typeface="Arial"/>
            </a:endParaRPr>
          </a:p>
          <a:p>
            <a:pPr marL="73025" algn="just">
              <a:lnSpc>
                <a:spcPts val="2280"/>
              </a:lnSpc>
              <a:spcBef>
                <a:spcPts val="2205"/>
              </a:spcBef>
            </a:pPr>
            <a:r>
              <a:rPr sz="2000" spc="15" dirty="0">
                <a:solidFill>
                  <a:srgbClr val="FFFFFF"/>
                </a:solidFill>
                <a:latin typeface="Arial"/>
                <a:cs typeface="Arial"/>
              </a:rPr>
              <a:t>The </a:t>
            </a:r>
            <a:r>
              <a:rPr sz="2000" spc="-95" dirty="0">
                <a:solidFill>
                  <a:srgbClr val="FFFFFF"/>
                </a:solidFill>
                <a:latin typeface="Arial"/>
                <a:cs typeface="Arial"/>
              </a:rPr>
              <a:t>process </a:t>
            </a:r>
            <a:r>
              <a:rPr sz="2000" spc="5" dirty="0">
                <a:solidFill>
                  <a:srgbClr val="FFFFFF"/>
                </a:solidFill>
                <a:latin typeface="Arial"/>
                <a:cs typeface="Arial"/>
              </a:rPr>
              <a:t>wherein </a:t>
            </a:r>
            <a:r>
              <a:rPr sz="2000" spc="-195" dirty="0">
                <a:solidFill>
                  <a:srgbClr val="FFFFFF"/>
                </a:solidFill>
                <a:latin typeface="Arial"/>
                <a:cs typeface="Arial"/>
              </a:rPr>
              <a:t>a </a:t>
            </a:r>
            <a:r>
              <a:rPr sz="2000" spc="-90" dirty="0">
                <a:solidFill>
                  <a:srgbClr val="FFFFFF"/>
                </a:solidFill>
                <a:latin typeface="Arial"/>
                <a:cs typeface="Arial"/>
              </a:rPr>
              <a:t>set </a:t>
            </a:r>
            <a:r>
              <a:rPr sz="2000" spc="55" dirty="0">
                <a:solidFill>
                  <a:srgbClr val="FFFFFF"/>
                </a:solidFill>
                <a:latin typeface="Arial"/>
                <a:cs typeface="Arial"/>
              </a:rPr>
              <a:t>of </a:t>
            </a:r>
            <a:r>
              <a:rPr sz="2000" spc="-60" dirty="0">
                <a:solidFill>
                  <a:srgbClr val="FFFFFF"/>
                </a:solidFill>
                <a:latin typeface="Arial"/>
                <a:cs typeface="Arial"/>
              </a:rPr>
              <a:t>commands </a:t>
            </a:r>
            <a:r>
              <a:rPr sz="2000" spc="-95" dirty="0">
                <a:solidFill>
                  <a:srgbClr val="FFFFFF"/>
                </a:solidFill>
                <a:latin typeface="Arial"/>
                <a:cs typeface="Arial"/>
              </a:rPr>
              <a:t>are </a:t>
            </a:r>
            <a:r>
              <a:rPr sz="2000" spc="-90" dirty="0">
                <a:solidFill>
                  <a:srgbClr val="FFFFFF"/>
                </a:solidFill>
                <a:latin typeface="Arial"/>
                <a:cs typeface="Arial"/>
              </a:rPr>
              <a:t>processed </a:t>
            </a:r>
            <a:r>
              <a:rPr sz="2000" spc="-45">
                <a:solidFill>
                  <a:srgbClr val="FFFFFF"/>
                </a:solidFill>
                <a:latin typeface="Arial"/>
                <a:cs typeface="Arial"/>
              </a:rPr>
              <a:t>one </a:t>
            </a:r>
            <a:r>
              <a:rPr sz="2000" spc="-35">
                <a:solidFill>
                  <a:srgbClr val="FFFFFF"/>
                </a:solidFill>
                <a:latin typeface="Arial"/>
                <a:cs typeface="Arial"/>
              </a:rPr>
              <a:t>at</a:t>
            </a:r>
            <a:r>
              <a:rPr sz="2000" spc="-240">
                <a:solidFill>
                  <a:srgbClr val="FFFFFF"/>
                </a:solidFill>
                <a:latin typeface="Arial"/>
                <a:cs typeface="Arial"/>
              </a:rPr>
              <a:t> </a:t>
            </a:r>
            <a:r>
              <a:rPr sz="2000" spc="-195">
                <a:solidFill>
                  <a:srgbClr val="FFFFFF"/>
                </a:solidFill>
                <a:latin typeface="Arial"/>
                <a:cs typeface="Arial"/>
              </a:rPr>
              <a:t>a</a:t>
            </a:r>
            <a:endParaRPr lang="en-US" sz="2000">
              <a:latin typeface="Arial"/>
              <a:cs typeface="Arial"/>
            </a:endParaRPr>
          </a:p>
          <a:p>
            <a:pPr marL="73025" algn="just">
              <a:lnSpc>
                <a:spcPts val="2280"/>
              </a:lnSpc>
            </a:pPr>
            <a:r>
              <a:rPr lang="en-US" sz="2000" spc="10">
                <a:solidFill>
                  <a:srgbClr val="FFFFFF"/>
                </a:solidFill>
                <a:latin typeface="Arial"/>
                <a:cs typeface="Arial"/>
              </a:rPr>
              <a:t>time</a:t>
            </a:r>
            <a:r>
              <a:rPr lang="en-US" sz="2000" spc="-130">
                <a:solidFill>
                  <a:srgbClr val="FFFFFF"/>
                </a:solidFill>
                <a:latin typeface="Arial"/>
                <a:cs typeface="Arial"/>
              </a:rPr>
              <a:t> </a:t>
            </a:r>
            <a:r>
              <a:rPr lang="en-US" sz="2000" spc="45">
                <a:solidFill>
                  <a:srgbClr val="FFFFFF"/>
                </a:solidFill>
                <a:latin typeface="Arial"/>
                <a:cs typeface="Arial"/>
              </a:rPr>
              <a:t>from</a:t>
            </a:r>
            <a:r>
              <a:rPr lang="en-US" sz="2000" spc="-130">
                <a:solidFill>
                  <a:srgbClr val="FFFFFF"/>
                </a:solidFill>
                <a:latin typeface="Arial"/>
                <a:cs typeface="Arial"/>
              </a:rPr>
              <a:t> </a:t>
            </a:r>
            <a:r>
              <a:rPr lang="en-US" sz="2000" spc="-195">
                <a:solidFill>
                  <a:srgbClr val="FFFFFF"/>
                </a:solidFill>
                <a:latin typeface="Arial"/>
                <a:cs typeface="Arial"/>
              </a:rPr>
              <a:t>a</a:t>
            </a:r>
            <a:r>
              <a:rPr lang="en-US" sz="2000" spc="-130">
                <a:solidFill>
                  <a:srgbClr val="FFFFFF"/>
                </a:solidFill>
                <a:latin typeface="Arial"/>
                <a:cs typeface="Arial"/>
              </a:rPr>
              <a:t> </a:t>
            </a:r>
            <a:r>
              <a:rPr lang="en-US" sz="2000" spc="-25">
                <a:solidFill>
                  <a:srgbClr val="FFFFFF"/>
                </a:solidFill>
                <a:latin typeface="Arial"/>
                <a:cs typeface="Arial"/>
              </a:rPr>
              <a:t>batch</a:t>
            </a:r>
            <a:r>
              <a:rPr lang="en-US" sz="2000" spc="-114">
                <a:solidFill>
                  <a:srgbClr val="FFFFFF"/>
                </a:solidFill>
                <a:latin typeface="Arial"/>
                <a:cs typeface="Arial"/>
              </a:rPr>
              <a:t> </a:t>
            </a:r>
            <a:r>
              <a:rPr lang="en-US" sz="2000" spc="50">
                <a:solidFill>
                  <a:srgbClr val="FFFFFF"/>
                </a:solidFill>
                <a:latin typeface="Arial"/>
                <a:cs typeface="Arial"/>
              </a:rPr>
              <a:t>of</a:t>
            </a:r>
            <a:r>
              <a:rPr lang="en-US" sz="2000" spc="-125">
                <a:solidFill>
                  <a:srgbClr val="FFFFFF"/>
                </a:solidFill>
                <a:latin typeface="Arial"/>
                <a:cs typeface="Arial"/>
              </a:rPr>
              <a:t> </a:t>
            </a:r>
            <a:r>
              <a:rPr lang="en-US" sz="2000" spc="-60">
                <a:solidFill>
                  <a:srgbClr val="FFFFFF"/>
                </a:solidFill>
                <a:latin typeface="Arial"/>
                <a:cs typeface="Arial"/>
              </a:rPr>
              <a:t>commands</a:t>
            </a:r>
            <a:r>
              <a:rPr lang="en-US" sz="2000" spc="-125">
                <a:solidFill>
                  <a:srgbClr val="FFFFFF"/>
                </a:solidFill>
                <a:latin typeface="Arial"/>
                <a:cs typeface="Arial"/>
              </a:rPr>
              <a:t> </a:t>
            </a:r>
            <a:r>
              <a:rPr lang="en-US" sz="2000" spc="-50">
                <a:solidFill>
                  <a:srgbClr val="FFFFFF"/>
                </a:solidFill>
                <a:latin typeface="Arial"/>
                <a:cs typeface="Arial"/>
              </a:rPr>
              <a:t>is</a:t>
            </a:r>
            <a:r>
              <a:rPr lang="en-US" sz="2000" spc="-135">
                <a:solidFill>
                  <a:srgbClr val="FFFFFF"/>
                </a:solidFill>
                <a:latin typeface="Arial"/>
                <a:cs typeface="Arial"/>
              </a:rPr>
              <a:t> </a:t>
            </a:r>
            <a:r>
              <a:rPr lang="en-US" sz="2000" spc="-40">
                <a:solidFill>
                  <a:srgbClr val="FFFFFF"/>
                </a:solidFill>
                <a:latin typeface="Arial"/>
                <a:cs typeface="Arial"/>
              </a:rPr>
              <a:t>called</a:t>
            </a:r>
            <a:r>
              <a:rPr lang="en-US" sz="2000" spc="-125">
                <a:solidFill>
                  <a:srgbClr val="FFFFFF"/>
                </a:solidFill>
                <a:latin typeface="Arial"/>
                <a:cs typeface="Arial"/>
              </a:rPr>
              <a:t> </a:t>
            </a:r>
            <a:r>
              <a:rPr lang="en-US" sz="2000" spc="-25">
                <a:solidFill>
                  <a:srgbClr val="FFFFFF"/>
                </a:solidFill>
                <a:latin typeface="Arial"/>
                <a:cs typeface="Arial"/>
              </a:rPr>
              <a:t>batch</a:t>
            </a:r>
            <a:r>
              <a:rPr lang="en-US" sz="2000" spc="-114">
                <a:solidFill>
                  <a:srgbClr val="FFFFFF"/>
                </a:solidFill>
                <a:latin typeface="Arial"/>
                <a:cs typeface="Arial"/>
              </a:rPr>
              <a:t> </a:t>
            </a:r>
            <a:r>
              <a:rPr lang="en-US" sz="2000" spc="-60">
                <a:solidFill>
                  <a:srgbClr val="FFFFFF"/>
                </a:solidFill>
                <a:latin typeface="Arial"/>
                <a:cs typeface="Arial"/>
              </a:rPr>
              <a:t>processing.</a:t>
            </a:r>
            <a:endParaRPr lang="en-US" sz="2000">
              <a:latin typeface="Arial"/>
              <a:cs typeface="Arial"/>
            </a:endParaRPr>
          </a:p>
          <a:p>
            <a:pPr>
              <a:lnSpc>
                <a:spcPct val="100000"/>
              </a:lnSpc>
            </a:pPr>
            <a:endParaRPr sz="2800">
              <a:latin typeface="Arial"/>
              <a:cs typeface="Arial"/>
            </a:endParaRPr>
          </a:p>
          <a:p>
            <a:pPr marL="1660525" marR="5080">
              <a:lnSpc>
                <a:spcPts val="2160"/>
              </a:lnSpc>
              <a:spcBef>
                <a:spcPts val="2510"/>
              </a:spcBef>
            </a:pPr>
            <a:r>
              <a:rPr sz="2000" spc="285" dirty="0">
                <a:solidFill>
                  <a:srgbClr val="FFFFFF"/>
                </a:solidFill>
                <a:latin typeface="Arial"/>
                <a:cs typeface="Arial"/>
              </a:rPr>
              <a:t>A </a:t>
            </a:r>
            <a:r>
              <a:rPr sz="2000" spc="-25" dirty="0">
                <a:solidFill>
                  <a:srgbClr val="FFFFFF"/>
                </a:solidFill>
                <a:latin typeface="Arial"/>
                <a:cs typeface="Arial"/>
              </a:rPr>
              <a:t>batch </a:t>
            </a:r>
            <a:r>
              <a:rPr sz="2000" spc="-60" dirty="0">
                <a:solidFill>
                  <a:srgbClr val="FFFFFF"/>
                </a:solidFill>
                <a:latin typeface="Arial"/>
                <a:cs typeface="Arial"/>
              </a:rPr>
              <a:t>separator </a:t>
            </a:r>
            <a:r>
              <a:rPr sz="2000" spc="-50" dirty="0">
                <a:solidFill>
                  <a:srgbClr val="FFFFFF"/>
                </a:solidFill>
                <a:latin typeface="Arial"/>
                <a:cs typeface="Arial"/>
              </a:rPr>
              <a:t>is </a:t>
            </a:r>
            <a:r>
              <a:rPr sz="2000" spc="-15" dirty="0">
                <a:solidFill>
                  <a:srgbClr val="FFFFFF"/>
                </a:solidFill>
                <a:latin typeface="Arial"/>
                <a:cs typeface="Arial"/>
              </a:rPr>
              <a:t>handled by </a:t>
            </a:r>
            <a:r>
              <a:rPr sz="2000" spc="20" dirty="0">
                <a:solidFill>
                  <a:srgbClr val="FFFFFF"/>
                </a:solidFill>
                <a:latin typeface="Arial"/>
                <a:cs typeface="Arial"/>
              </a:rPr>
              <a:t>SQL </a:t>
            </a:r>
            <a:r>
              <a:rPr sz="2000" spc="-50" dirty="0">
                <a:solidFill>
                  <a:srgbClr val="FFFFFF"/>
                </a:solidFill>
                <a:latin typeface="Arial"/>
                <a:cs typeface="Arial"/>
              </a:rPr>
              <a:t>Server </a:t>
            </a:r>
            <a:r>
              <a:rPr sz="2000" spc="25" dirty="0">
                <a:solidFill>
                  <a:srgbClr val="FFFFFF"/>
                </a:solidFill>
                <a:latin typeface="Arial"/>
                <a:cs typeface="Arial"/>
              </a:rPr>
              <a:t>client </a:t>
            </a:r>
            <a:r>
              <a:rPr sz="2000" spc="-5" dirty="0">
                <a:solidFill>
                  <a:srgbClr val="FFFFFF"/>
                </a:solidFill>
                <a:latin typeface="Arial"/>
                <a:cs typeface="Arial"/>
              </a:rPr>
              <a:t>tools </a:t>
            </a:r>
            <a:r>
              <a:rPr sz="2000" spc="-55" dirty="0">
                <a:solidFill>
                  <a:srgbClr val="FFFFFF"/>
                </a:solidFill>
                <a:latin typeface="Arial"/>
                <a:cs typeface="Arial"/>
              </a:rPr>
              <a:t>such  </a:t>
            </a:r>
            <a:r>
              <a:rPr sz="2000" spc="-204" dirty="0">
                <a:solidFill>
                  <a:srgbClr val="FFFFFF"/>
                </a:solidFill>
                <a:latin typeface="Arial"/>
                <a:cs typeface="Arial"/>
              </a:rPr>
              <a:t>as </a:t>
            </a:r>
            <a:r>
              <a:rPr sz="2000" spc="-65" dirty="0">
                <a:solidFill>
                  <a:srgbClr val="FFFFFF"/>
                </a:solidFill>
                <a:latin typeface="Arial"/>
                <a:cs typeface="Arial"/>
              </a:rPr>
              <a:t>SSMS </a:t>
            </a:r>
            <a:r>
              <a:rPr sz="2000" spc="50" dirty="0">
                <a:solidFill>
                  <a:srgbClr val="FFFFFF"/>
                </a:solidFill>
                <a:latin typeface="Arial"/>
                <a:cs typeface="Arial"/>
              </a:rPr>
              <a:t>to </a:t>
            </a:r>
            <a:r>
              <a:rPr sz="2000" spc="-55" dirty="0">
                <a:solidFill>
                  <a:srgbClr val="FFFFFF"/>
                </a:solidFill>
                <a:latin typeface="Arial"/>
                <a:cs typeface="Arial"/>
              </a:rPr>
              <a:t>execute</a:t>
            </a:r>
            <a:r>
              <a:rPr sz="2000" spc="-285" dirty="0">
                <a:solidFill>
                  <a:srgbClr val="FFFFFF"/>
                </a:solidFill>
                <a:latin typeface="Arial"/>
                <a:cs typeface="Arial"/>
              </a:rPr>
              <a:t> </a:t>
            </a:r>
            <a:r>
              <a:rPr sz="2000" spc="-60" dirty="0">
                <a:solidFill>
                  <a:srgbClr val="FFFFFF"/>
                </a:solidFill>
                <a:latin typeface="Arial"/>
                <a:cs typeface="Arial"/>
              </a:rPr>
              <a:t>commands.</a:t>
            </a:r>
            <a:endParaRPr sz="2000">
              <a:latin typeface="Arial"/>
              <a:cs typeface="Arial"/>
            </a:endParaRPr>
          </a:p>
        </p:txBody>
      </p:sp>
      <p:sp>
        <p:nvSpPr>
          <p:cNvPr id="17" name="object 1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22</a:t>
            </a:fld>
            <a:endParaRPr sz="1200"/>
          </a:p>
        </p:txBody>
      </p:sp>
      <p:sp>
        <p:nvSpPr>
          <p:cNvPr id="18" name="object 18"/>
          <p:cNvSpPr txBox="1">
            <a:spLocks noGrp="1"/>
          </p:cNvSpPr>
          <p:nvPr>
            <p:ph type="ftr" sz="quarter" idx="5"/>
          </p:nvPr>
        </p:nvSpPr>
        <p:spPr>
          <a:xfrm>
            <a:off x="78738" y="6607810"/>
            <a:ext cx="1216661" cy="191078"/>
          </a:xfrm>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48767"/>
            <a:ext cx="4779010" cy="574040"/>
          </a:xfrm>
          <a:prstGeom prst="rect">
            <a:avLst/>
          </a:prstGeom>
        </p:spPr>
        <p:txBody>
          <a:bodyPr vert="horz" wrap="square" lIns="0" tIns="12700" rIns="0" bIns="0" rtlCol="0">
            <a:spAutoFit/>
          </a:bodyPr>
          <a:lstStyle/>
          <a:p>
            <a:pPr marL="12700">
              <a:lnSpc>
                <a:spcPct val="100000"/>
              </a:lnSpc>
              <a:spcBef>
                <a:spcPts val="100"/>
              </a:spcBef>
            </a:pPr>
            <a:r>
              <a:rPr sz="3600" spc="-185" dirty="0"/>
              <a:t>Sets </a:t>
            </a:r>
            <a:r>
              <a:rPr sz="3600" spc="-65" dirty="0"/>
              <a:t>and </a:t>
            </a:r>
            <a:r>
              <a:rPr sz="3600" spc="-100" dirty="0"/>
              <a:t>Predicate</a:t>
            </a:r>
            <a:r>
              <a:rPr sz="3600" spc="-545" dirty="0"/>
              <a:t> </a:t>
            </a:r>
            <a:r>
              <a:rPr sz="3600" spc="-15" dirty="0"/>
              <a:t>Logic</a:t>
            </a:r>
            <a:endParaRPr sz="3600"/>
          </a:p>
        </p:txBody>
      </p:sp>
      <p:grpSp>
        <p:nvGrpSpPr>
          <p:cNvPr id="3" name="object 3"/>
          <p:cNvGrpSpPr/>
          <p:nvPr/>
        </p:nvGrpSpPr>
        <p:grpSpPr>
          <a:xfrm>
            <a:off x="1149858" y="1408938"/>
            <a:ext cx="7184390" cy="4081779"/>
            <a:chOff x="1149858" y="1408938"/>
            <a:chExt cx="7184390" cy="4081779"/>
          </a:xfrm>
        </p:grpSpPr>
        <p:pic>
          <p:nvPicPr>
            <p:cNvPr id="4" name="object 4"/>
            <p:cNvPicPr/>
            <p:nvPr/>
          </p:nvPicPr>
          <p:blipFill>
            <a:blip r:embed="rId3" cstate="print"/>
            <a:stretch>
              <a:fillRect/>
            </a:stretch>
          </p:blipFill>
          <p:spPr>
            <a:xfrm>
              <a:off x="1149858" y="1408938"/>
              <a:ext cx="7184135" cy="4081272"/>
            </a:xfrm>
            <a:prstGeom prst="rect">
              <a:avLst/>
            </a:prstGeom>
          </p:spPr>
        </p:pic>
        <p:pic>
          <p:nvPicPr>
            <p:cNvPr id="5" name="object 5"/>
            <p:cNvPicPr/>
            <p:nvPr/>
          </p:nvPicPr>
          <p:blipFill>
            <a:blip r:embed="rId4" cstate="print"/>
            <a:stretch>
              <a:fillRect/>
            </a:stretch>
          </p:blipFill>
          <p:spPr>
            <a:xfrm>
              <a:off x="1191006" y="1427226"/>
              <a:ext cx="7108698" cy="4005834"/>
            </a:xfrm>
            <a:prstGeom prst="rect">
              <a:avLst/>
            </a:prstGeom>
          </p:spPr>
        </p:pic>
      </p:grpSp>
      <p:sp>
        <p:nvSpPr>
          <p:cNvPr id="6" name="object 6"/>
          <p:cNvSpPr txBox="1"/>
          <p:nvPr/>
        </p:nvSpPr>
        <p:spPr>
          <a:xfrm>
            <a:off x="1315466" y="2629154"/>
            <a:ext cx="6860540" cy="1427480"/>
          </a:xfrm>
          <a:prstGeom prst="rect">
            <a:avLst/>
          </a:prstGeom>
        </p:spPr>
        <p:txBody>
          <a:bodyPr vert="horz" wrap="square" lIns="0" tIns="46990" rIns="0" bIns="0" rtlCol="0">
            <a:spAutoFit/>
          </a:bodyPr>
          <a:lstStyle/>
          <a:p>
            <a:pPr marL="355600" marR="5080" indent="-342900">
              <a:lnSpc>
                <a:spcPts val="2160"/>
              </a:lnSpc>
              <a:spcBef>
                <a:spcPts val="370"/>
              </a:spcBef>
              <a:buClr>
                <a:srgbClr val="000000"/>
              </a:buClr>
              <a:buFont typeface="Wingdings"/>
              <a:buChar char=""/>
              <a:tabLst>
                <a:tab pos="354965" algn="l"/>
                <a:tab pos="355600" algn="l"/>
                <a:tab pos="1016635" algn="l"/>
                <a:tab pos="1633220" algn="l"/>
                <a:tab pos="2848610" algn="l"/>
                <a:tab pos="3656329" algn="l"/>
                <a:tab pos="4192904" algn="l"/>
                <a:tab pos="4753610" algn="l"/>
                <a:tab pos="5376545" algn="l"/>
              </a:tabLst>
            </a:pPr>
            <a:r>
              <a:rPr sz="2000" spc="-105" dirty="0">
                <a:solidFill>
                  <a:srgbClr val="FFFFFF"/>
                </a:solidFill>
                <a:latin typeface="Arial"/>
                <a:cs typeface="Arial"/>
              </a:rPr>
              <a:t>Sets	</a:t>
            </a:r>
            <a:r>
              <a:rPr sz="2000" spc="-190" dirty="0">
                <a:solidFill>
                  <a:srgbClr val="FFFFFF"/>
                </a:solidFill>
                <a:latin typeface="Arial"/>
                <a:cs typeface="Arial"/>
              </a:rPr>
              <a:t>a</a:t>
            </a:r>
            <a:r>
              <a:rPr sz="2000" spc="40" dirty="0">
                <a:solidFill>
                  <a:srgbClr val="FFFFFF"/>
                </a:solidFill>
                <a:latin typeface="Arial"/>
                <a:cs typeface="Arial"/>
              </a:rPr>
              <a:t>nd</a:t>
            </a:r>
            <a:r>
              <a:rPr sz="2000" dirty="0">
                <a:solidFill>
                  <a:srgbClr val="FFFFFF"/>
                </a:solidFill>
                <a:latin typeface="Arial"/>
                <a:cs typeface="Arial"/>
              </a:rPr>
              <a:t>	</a:t>
            </a:r>
            <a:r>
              <a:rPr sz="2000" spc="-65" dirty="0">
                <a:solidFill>
                  <a:srgbClr val="FFFFFF"/>
                </a:solidFill>
                <a:latin typeface="Arial"/>
                <a:cs typeface="Arial"/>
              </a:rPr>
              <a:t>Predic</a:t>
            </a:r>
            <a:r>
              <a:rPr sz="2000" spc="-70" dirty="0">
                <a:solidFill>
                  <a:srgbClr val="FFFFFF"/>
                </a:solidFill>
                <a:latin typeface="Arial"/>
                <a:cs typeface="Arial"/>
              </a:rPr>
              <a:t>a</a:t>
            </a:r>
            <a:r>
              <a:rPr sz="2000" spc="-30" dirty="0">
                <a:solidFill>
                  <a:srgbClr val="FFFFFF"/>
                </a:solidFill>
                <a:latin typeface="Arial"/>
                <a:cs typeface="Arial"/>
              </a:rPr>
              <a:t>te</a:t>
            </a:r>
            <a:r>
              <a:rPr sz="2000" dirty="0">
                <a:solidFill>
                  <a:srgbClr val="FFFFFF"/>
                </a:solidFill>
                <a:latin typeface="Arial"/>
                <a:cs typeface="Arial"/>
              </a:rPr>
              <a:t>	</a:t>
            </a:r>
            <a:r>
              <a:rPr sz="2000" spc="-10" dirty="0">
                <a:solidFill>
                  <a:srgbClr val="FFFFFF"/>
                </a:solidFill>
                <a:latin typeface="Arial"/>
                <a:cs typeface="Arial"/>
              </a:rPr>
              <a:t>Logic</a:t>
            </a:r>
            <a:r>
              <a:rPr sz="2000" dirty="0">
                <a:solidFill>
                  <a:srgbClr val="FFFFFF"/>
                </a:solidFill>
                <a:latin typeface="Arial"/>
                <a:cs typeface="Arial"/>
              </a:rPr>
              <a:t>	</a:t>
            </a:r>
            <a:r>
              <a:rPr sz="2000" spc="-100" dirty="0">
                <a:solidFill>
                  <a:srgbClr val="FFFFFF"/>
                </a:solidFill>
                <a:latin typeface="Arial"/>
                <a:cs typeface="Arial"/>
              </a:rPr>
              <a:t>are</a:t>
            </a:r>
            <a:r>
              <a:rPr sz="2000" dirty="0">
                <a:solidFill>
                  <a:srgbClr val="FFFFFF"/>
                </a:solidFill>
                <a:latin typeface="Arial"/>
                <a:cs typeface="Arial"/>
              </a:rPr>
              <a:t>	the	</a:t>
            </a:r>
            <a:r>
              <a:rPr sz="2000" spc="125" dirty="0">
                <a:solidFill>
                  <a:srgbClr val="FFFFFF"/>
                </a:solidFill>
                <a:latin typeface="Arial"/>
                <a:cs typeface="Arial"/>
              </a:rPr>
              <a:t>t</a:t>
            </a:r>
            <a:r>
              <a:rPr sz="2000" spc="15" dirty="0">
                <a:solidFill>
                  <a:srgbClr val="FFFFFF"/>
                </a:solidFill>
                <a:latin typeface="Arial"/>
                <a:cs typeface="Arial"/>
              </a:rPr>
              <a:t>wo</a:t>
            </a:r>
            <a:r>
              <a:rPr sz="2000" dirty="0">
                <a:solidFill>
                  <a:srgbClr val="FFFFFF"/>
                </a:solidFill>
                <a:latin typeface="Arial"/>
                <a:cs typeface="Arial"/>
              </a:rPr>
              <a:t>	</a:t>
            </a:r>
            <a:r>
              <a:rPr sz="2000" spc="-35" dirty="0">
                <a:solidFill>
                  <a:srgbClr val="FFFFFF"/>
                </a:solidFill>
                <a:latin typeface="Arial"/>
                <a:cs typeface="Arial"/>
              </a:rPr>
              <a:t>ma</a:t>
            </a:r>
            <a:r>
              <a:rPr sz="2000" spc="-10" dirty="0">
                <a:solidFill>
                  <a:srgbClr val="FFFFFF"/>
                </a:solidFill>
                <a:latin typeface="Arial"/>
                <a:cs typeface="Arial"/>
              </a:rPr>
              <a:t>t</a:t>
            </a:r>
            <a:r>
              <a:rPr sz="2000" spc="-65" dirty="0">
                <a:solidFill>
                  <a:srgbClr val="FFFFFF"/>
                </a:solidFill>
                <a:latin typeface="Arial"/>
                <a:cs typeface="Arial"/>
              </a:rPr>
              <a:t>h</a:t>
            </a:r>
            <a:r>
              <a:rPr sz="2000" spc="-60" dirty="0">
                <a:solidFill>
                  <a:srgbClr val="FFFFFF"/>
                </a:solidFill>
                <a:latin typeface="Arial"/>
                <a:cs typeface="Arial"/>
              </a:rPr>
              <a:t>e</a:t>
            </a:r>
            <a:r>
              <a:rPr sz="2000" spc="-15" dirty="0">
                <a:solidFill>
                  <a:srgbClr val="FFFFFF"/>
                </a:solidFill>
                <a:latin typeface="Arial"/>
                <a:cs typeface="Arial"/>
              </a:rPr>
              <a:t>matic</a:t>
            </a:r>
            <a:r>
              <a:rPr sz="2000" spc="-35" dirty="0">
                <a:solidFill>
                  <a:srgbClr val="FFFFFF"/>
                </a:solidFill>
                <a:latin typeface="Arial"/>
                <a:cs typeface="Arial"/>
              </a:rPr>
              <a:t>al  </a:t>
            </a:r>
            <a:r>
              <a:rPr sz="2000" spc="-20" dirty="0">
                <a:solidFill>
                  <a:srgbClr val="FFFFFF"/>
                </a:solidFill>
                <a:latin typeface="Arial"/>
                <a:cs typeface="Arial"/>
              </a:rPr>
              <a:t>fundamentals</a:t>
            </a:r>
            <a:r>
              <a:rPr sz="2000" spc="-110" dirty="0">
                <a:solidFill>
                  <a:srgbClr val="FFFFFF"/>
                </a:solidFill>
                <a:latin typeface="Arial"/>
                <a:cs typeface="Arial"/>
              </a:rPr>
              <a:t> </a:t>
            </a:r>
            <a:r>
              <a:rPr sz="2000" spc="30" dirty="0">
                <a:solidFill>
                  <a:srgbClr val="FFFFFF"/>
                </a:solidFill>
                <a:latin typeface="Arial"/>
                <a:cs typeface="Arial"/>
              </a:rPr>
              <a:t>that</a:t>
            </a:r>
            <a:r>
              <a:rPr sz="2000" spc="-120" dirty="0">
                <a:solidFill>
                  <a:srgbClr val="FFFFFF"/>
                </a:solidFill>
                <a:latin typeface="Arial"/>
                <a:cs typeface="Arial"/>
              </a:rPr>
              <a:t> </a:t>
            </a:r>
            <a:r>
              <a:rPr sz="2000" spc="-100" dirty="0">
                <a:solidFill>
                  <a:srgbClr val="FFFFFF"/>
                </a:solidFill>
                <a:latin typeface="Arial"/>
                <a:cs typeface="Arial"/>
              </a:rPr>
              <a:t>are</a:t>
            </a:r>
            <a:r>
              <a:rPr sz="2000" spc="-120" dirty="0">
                <a:solidFill>
                  <a:srgbClr val="FFFFFF"/>
                </a:solidFill>
                <a:latin typeface="Arial"/>
                <a:cs typeface="Arial"/>
              </a:rPr>
              <a:t> </a:t>
            </a:r>
            <a:r>
              <a:rPr sz="2000" spc="-90" dirty="0">
                <a:solidFill>
                  <a:srgbClr val="FFFFFF"/>
                </a:solidFill>
                <a:latin typeface="Arial"/>
                <a:cs typeface="Arial"/>
              </a:rPr>
              <a:t>used</a:t>
            </a:r>
            <a:r>
              <a:rPr sz="2000" spc="-130"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spc="20" dirty="0">
                <a:solidFill>
                  <a:srgbClr val="FFFFFF"/>
                </a:solidFill>
                <a:latin typeface="Arial"/>
                <a:cs typeface="Arial"/>
              </a:rPr>
              <a:t>SQL</a:t>
            </a:r>
            <a:r>
              <a:rPr sz="2000" spc="-135" dirty="0">
                <a:solidFill>
                  <a:srgbClr val="FFFFFF"/>
                </a:solidFill>
                <a:latin typeface="Arial"/>
                <a:cs typeface="Arial"/>
              </a:rPr>
              <a:t> </a:t>
            </a:r>
            <a:r>
              <a:rPr sz="2000" spc="-50" dirty="0">
                <a:solidFill>
                  <a:srgbClr val="FFFFFF"/>
                </a:solidFill>
                <a:latin typeface="Arial"/>
                <a:cs typeface="Arial"/>
              </a:rPr>
              <a:t>Server</a:t>
            </a:r>
            <a:r>
              <a:rPr sz="2000" spc="-120" dirty="0">
                <a:solidFill>
                  <a:srgbClr val="FFFFFF"/>
                </a:solidFill>
                <a:latin typeface="Arial"/>
                <a:cs typeface="Arial"/>
              </a:rPr>
              <a:t> </a:t>
            </a:r>
            <a:r>
              <a:rPr sz="2000" spc="-175" dirty="0">
                <a:solidFill>
                  <a:srgbClr val="FFFFFF"/>
                </a:solidFill>
                <a:latin typeface="Arial"/>
                <a:cs typeface="Arial"/>
              </a:rPr>
              <a:t>2019.</a:t>
            </a:r>
            <a:endParaRPr sz="2000">
              <a:latin typeface="Arial"/>
              <a:cs typeface="Arial"/>
            </a:endParaRPr>
          </a:p>
          <a:p>
            <a:pPr marL="355600" marR="5080" indent="-342900">
              <a:lnSpc>
                <a:spcPts val="2160"/>
              </a:lnSpc>
              <a:spcBef>
                <a:spcPts val="2160"/>
              </a:spcBef>
              <a:buClr>
                <a:srgbClr val="000000"/>
              </a:buClr>
              <a:buFont typeface="Wingdings"/>
              <a:buChar char=""/>
              <a:tabLst>
                <a:tab pos="354965" algn="l"/>
                <a:tab pos="355600" algn="l"/>
              </a:tabLst>
            </a:pPr>
            <a:r>
              <a:rPr sz="2000" spc="20" dirty="0">
                <a:solidFill>
                  <a:srgbClr val="FFFFFF"/>
                </a:solidFill>
                <a:latin typeface="Arial"/>
                <a:cs typeface="Arial"/>
              </a:rPr>
              <a:t>Both </a:t>
            </a:r>
            <a:r>
              <a:rPr sz="2000" spc="-80" dirty="0">
                <a:solidFill>
                  <a:srgbClr val="FFFFFF"/>
                </a:solidFill>
                <a:latin typeface="Arial"/>
                <a:cs typeface="Arial"/>
              </a:rPr>
              <a:t>these </a:t>
            </a:r>
            <a:r>
              <a:rPr sz="2000" spc="-25" dirty="0">
                <a:solidFill>
                  <a:srgbClr val="FFFFFF"/>
                </a:solidFill>
                <a:latin typeface="Arial"/>
                <a:cs typeface="Arial"/>
              </a:rPr>
              <a:t>theories </a:t>
            </a:r>
            <a:r>
              <a:rPr sz="2000" spc="-100" dirty="0">
                <a:solidFill>
                  <a:srgbClr val="FFFFFF"/>
                </a:solidFill>
                <a:latin typeface="Arial"/>
                <a:cs typeface="Arial"/>
              </a:rPr>
              <a:t>are </a:t>
            </a:r>
            <a:r>
              <a:rPr sz="2000" spc="-90" dirty="0">
                <a:solidFill>
                  <a:srgbClr val="FFFFFF"/>
                </a:solidFill>
                <a:latin typeface="Arial"/>
                <a:cs typeface="Arial"/>
              </a:rPr>
              <a:t>used </a:t>
            </a:r>
            <a:r>
              <a:rPr sz="2000" spc="90" dirty="0">
                <a:solidFill>
                  <a:srgbClr val="FFFFFF"/>
                </a:solidFill>
                <a:latin typeface="Arial"/>
                <a:cs typeface="Arial"/>
              </a:rPr>
              <a:t>in </a:t>
            </a:r>
            <a:r>
              <a:rPr sz="2000" spc="-5" dirty="0">
                <a:solidFill>
                  <a:srgbClr val="FFFFFF"/>
                </a:solidFill>
                <a:latin typeface="Arial"/>
                <a:cs typeface="Arial"/>
              </a:rPr>
              <a:t>querying </a:t>
            </a:r>
            <a:r>
              <a:rPr sz="2000" spc="55" dirty="0">
                <a:solidFill>
                  <a:srgbClr val="FFFFFF"/>
                </a:solidFill>
                <a:latin typeface="Arial"/>
                <a:cs typeface="Arial"/>
              </a:rPr>
              <a:t>of </a:t>
            </a:r>
            <a:r>
              <a:rPr sz="2000" spc="-60" dirty="0">
                <a:solidFill>
                  <a:srgbClr val="FFFFFF"/>
                </a:solidFill>
                <a:latin typeface="Arial"/>
                <a:cs typeface="Arial"/>
              </a:rPr>
              <a:t>data </a:t>
            </a:r>
            <a:r>
              <a:rPr sz="2000" spc="95" dirty="0">
                <a:solidFill>
                  <a:srgbClr val="FFFFFF"/>
                </a:solidFill>
                <a:latin typeface="Arial"/>
                <a:cs typeface="Arial"/>
              </a:rPr>
              <a:t>in </a:t>
            </a:r>
            <a:r>
              <a:rPr sz="2000" spc="10" dirty="0">
                <a:solidFill>
                  <a:srgbClr val="FFFFFF"/>
                </a:solidFill>
                <a:latin typeface="Arial"/>
                <a:cs typeface="Arial"/>
              </a:rPr>
              <a:t>SQL  </a:t>
            </a:r>
            <a:r>
              <a:rPr sz="2000" spc="-50" dirty="0">
                <a:solidFill>
                  <a:srgbClr val="FFFFFF"/>
                </a:solidFill>
                <a:latin typeface="Arial"/>
                <a:cs typeface="Arial"/>
              </a:rPr>
              <a:t>Server</a:t>
            </a:r>
            <a:r>
              <a:rPr sz="2000" spc="-125" dirty="0">
                <a:solidFill>
                  <a:srgbClr val="FFFFFF"/>
                </a:solidFill>
                <a:latin typeface="Arial"/>
                <a:cs typeface="Arial"/>
              </a:rPr>
              <a:t> </a:t>
            </a:r>
            <a:r>
              <a:rPr sz="2000" spc="-175" dirty="0">
                <a:solidFill>
                  <a:srgbClr val="FFFFFF"/>
                </a:solidFill>
                <a:latin typeface="Arial"/>
                <a:cs typeface="Arial"/>
              </a:rPr>
              <a:t>2019.</a:t>
            </a:r>
            <a:endParaRPr sz="2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461895" cy="635635"/>
          </a:xfrm>
          <a:prstGeom prst="rect">
            <a:avLst/>
          </a:prstGeom>
        </p:spPr>
        <p:txBody>
          <a:bodyPr vert="horz" wrap="square" lIns="0" tIns="12700" rIns="0" bIns="0" rtlCol="0">
            <a:spAutoFit/>
          </a:bodyPr>
          <a:lstStyle/>
          <a:p>
            <a:pPr marL="12700">
              <a:lnSpc>
                <a:spcPct val="100000"/>
              </a:lnSpc>
              <a:spcBef>
                <a:spcPts val="100"/>
              </a:spcBef>
            </a:pPr>
            <a:r>
              <a:rPr spc="-130" dirty="0"/>
              <a:t>Set</a:t>
            </a:r>
            <a:r>
              <a:rPr spc="-330" dirty="0"/>
              <a:t> </a:t>
            </a:r>
            <a:r>
              <a:rPr spc="40" dirty="0"/>
              <a:t>Theory</a:t>
            </a:r>
          </a:p>
        </p:txBody>
      </p:sp>
      <p:grpSp>
        <p:nvGrpSpPr>
          <p:cNvPr id="3" name="object 3"/>
          <p:cNvGrpSpPr/>
          <p:nvPr/>
        </p:nvGrpSpPr>
        <p:grpSpPr>
          <a:xfrm>
            <a:off x="94488" y="885405"/>
            <a:ext cx="7185025" cy="1042669"/>
            <a:chOff x="94488" y="885405"/>
            <a:chExt cx="7185025" cy="1042669"/>
          </a:xfrm>
        </p:grpSpPr>
        <p:pic>
          <p:nvPicPr>
            <p:cNvPr id="4" name="object 4"/>
            <p:cNvPicPr/>
            <p:nvPr/>
          </p:nvPicPr>
          <p:blipFill>
            <a:blip r:embed="rId3" cstate="print"/>
            <a:stretch>
              <a:fillRect/>
            </a:stretch>
          </p:blipFill>
          <p:spPr>
            <a:xfrm>
              <a:off x="94488" y="885405"/>
              <a:ext cx="7184898" cy="1042454"/>
            </a:xfrm>
            <a:prstGeom prst="rect">
              <a:avLst/>
            </a:prstGeom>
          </p:spPr>
        </p:pic>
        <p:pic>
          <p:nvPicPr>
            <p:cNvPr id="5" name="object 5"/>
            <p:cNvPicPr/>
            <p:nvPr/>
          </p:nvPicPr>
          <p:blipFill>
            <a:blip r:embed="rId4" cstate="print"/>
            <a:stretch>
              <a:fillRect/>
            </a:stretch>
          </p:blipFill>
          <p:spPr>
            <a:xfrm>
              <a:off x="135636" y="903732"/>
              <a:ext cx="7109459" cy="966977"/>
            </a:xfrm>
            <a:prstGeom prst="rect">
              <a:avLst/>
            </a:prstGeom>
          </p:spPr>
        </p:pic>
      </p:grpSp>
      <p:grpSp>
        <p:nvGrpSpPr>
          <p:cNvPr id="6" name="object 6"/>
          <p:cNvGrpSpPr/>
          <p:nvPr/>
        </p:nvGrpSpPr>
        <p:grpSpPr>
          <a:xfrm>
            <a:off x="1668017" y="2025357"/>
            <a:ext cx="7184390" cy="1042669"/>
            <a:chOff x="1668017" y="2025357"/>
            <a:chExt cx="7184390" cy="1042669"/>
          </a:xfrm>
        </p:grpSpPr>
        <p:pic>
          <p:nvPicPr>
            <p:cNvPr id="7" name="object 7"/>
            <p:cNvPicPr/>
            <p:nvPr/>
          </p:nvPicPr>
          <p:blipFill>
            <a:blip r:embed="rId3" cstate="print"/>
            <a:stretch>
              <a:fillRect/>
            </a:stretch>
          </p:blipFill>
          <p:spPr>
            <a:xfrm>
              <a:off x="1668017" y="2025357"/>
              <a:ext cx="7184135" cy="1042454"/>
            </a:xfrm>
            <a:prstGeom prst="rect">
              <a:avLst/>
            </a:prstGeom>
          </p:spPr>
        </p:pic>
        <p:pic>
          <p:nvPicPr>
            <p:cNvPr id="8" name="object 8"/>
            <p:cNvPicPr/>
            <p:nvPr/>
          </p:nvPicPr>
          <p:blipFill>
            <a:blip r:embed="rId5" cstate="print"/>
            <a:stretch>
              <a:fillRect/>
            </a:stretch>
          </p:blipFill>
          <p:spPr>
            <a:xfrm>
              <a:off x="1709165" y="2043684"/>
              <a:ext cx="7108698" cy="966977"/>
            </a:xfrm>
            <a:prstGeom prst="rect">
              <a:avLst/>
            </a:prstGeom>
          </p:spPr>
        </p:pic>
      </p:grpSp>
      <p:sp>
        <p:nvSpPr>
          <p:cNvPr id="9" name="object 9"/>
          <p:cNvSpPr txBox="1"/>
          <p:nvPr/>
        </p:nvSpPr>
        <p:spPr>
          <a:xfrm>
            <a:off x="260350" y="882903"/>
            <a:ext cx="8434705" cy="2019300"/>
          </a:xfrm>
          <a:prstGeom prst="rect">
            <a:avLst/>
          </a:prstGeom>
        </p:spPr>
        <p:txBody>
          <a:bodyPr vert="horz" wrap="square" lIns="0" tIns="46990" rIns="0" bIns="0" rtlCol="0">
            <a:spAutoFit/>
          </a:bodyPr>
          <a:lstStyle/>
          <a:p>
            <a:pPr marL="12700" marR="1580515" algn="just">
              <a:lnSpc>
                <a:spcPts val="2160"/>
              </a:lnSpc>
              <a:spcBef>
                <a:spcPts val="370"/>
              </a:spcBef>
            </a:pPr>
            <a:r>
              <a:rPr sz="2000" spc="-70" dirty="0">
                <a:solidFill>
                  <a:srgbClr val="FFFFFF"/>
                </a:solidFill>
                <a:latin typeface="Arial"/>
                <a:cs typeface="Arial"/>
              </a:rPr>
              <a:t>Set </a:t>
            </a:r>
            <a:r>
              <a:rPr sz="2000" spc="10" dirty="0">
                <a:solidFill>
                  <a:srgbClr val="FFFFFF"/>
                </a:solidFill>
                <a:latin typeface="Arial"/>
                <a:cs typeface="Arial"/>
              </a:rPr>
              <a:t>theory </a:t>
            </a:r>
            <a:r>
              <a:rPr sz="2000" spc="-50" dirty="0">
                <a:solidFill>
                  <a:srgbClr val="FFFFFF"/>
                </a:solidFill>
                <a:latin typeface="Arial"/>
                <a:cs typeface="Arial"/>
              </a:rPr>
              <a:t>is </a:t>
            </a:r>
            <a:r>
              <a:rPr sz="2000" spc="-195" dirty="0">
                <a:solidFill>
                  <a:srgbClr val="FFFFFF"/>
                </a:solidFill>
                <a:latin typeface="Arial"/>
                <a:cs typeface="Arial"/>
              </a:rPr>
              <a:t>a </a:t>
            </a:r>
            <a:r>
              <a:rPr sz="2000" spc="-30" dirty="0">
                <a:solidFill>
                  <a:srgbClr val="FFFFFF"/>
                </a:solidFill>
                <a:latin typeface="Arial"/>
                <a:cs typeface="Arial"/>
              </a:rPr>
              <a:t>mathematical </a:t>
            </a:r>
            <a:r>
              <a:rPr sz="2000" spc="30" dirty="0">
                <a:solidFill>
                  <a:srgbClr val="FFFFFF"/>
                </a:solidFill>
                <a:latin typeface="Arial"/>
                <a:cs typeface="Arial"/>
              </a:rPr>
              <a:t>foundation </a:t>
            </a:r>
            <a:r>
              <a:rPr sz="2000" spc="-85" dirty="0">
                <a:solidFill>
                  <a:srgbClr val="FFFFFF"/>
                </a:solidFill>
                <a:latin typeface="Arial"/>
                <a:cs typeface="Arial"/>
              </a:rPr>
              <a:t>used </a:t>
            </a:r>
            <a:r>
              <a:rPr sz="2000" spc="95" dirty="0">
                <a:solidFill>
                  <a:srgbClr val="FFFFFF"/>
                </a:solidFill>
                <a:latin typeface="Arial"/>
                <a:cs typeface="Arial"/>
              </a:rPr>
              <a:t>in </a:t>
            </a:r>
            <a:r>
              <a:rPr sz="2000" spc="5" dirty="0">
                <a:solidFill>
                  <a:srgbClr val="FFFFFF"/>
                </a:solidFill>
                <a:latin typeface="Arial"/>
                <a:cs typeface="Arial"/>
              </a:rPr>
              <a:t>relational  </a:t>
            </a:r>
            <a:r>
              <a:rPr sz="2000" spc="-105" dirty="0">
                <a:solidFill>
                  <a:srgbClr val="FFFFFF"/>
                </a:solidFill>
                <a:latin typeface="Arial"/>
                <a:cs typeface="Arial"/>
              </a:rPr>
              <a:t>database </a:t>
            </a:r>
            <a:r>
              <a:rPr sz="2000" spc="-25" dirty="0">
                <a:solidFill>
                  <a:srgbClr val="FFFFFF"/>
                </a:solidFill>
                <a:latin typeface="Arial"/>
                <a:cs typeface="Arial"/>
              </a:rPr>
              <a:t>model. </a:t>
            </a:r>
            <a:r>
              <a:rPr sz="2000" spc="285" dirty="0">
                <a:solidFill>
                  <a:srgbClr val="FFFFFF"/>
                </a:solidFill>
                <a:latin typeface="Arial"/>
                <a:cs typeface="Arial"/>
              </a:rPr>
              <a:t>A </a:t>
            </a:r>
            <a:r>
              <a:rPr sz="2000" spc="-90" dirty="0">
                <a:solidFill>
                  <a:srgbClr val="FFFFFF"/>
                </a:solidFill>
                <a:latin typeface="Arial"/>
                <a:cs typeface="Arial"/>
              </a:rPr>
              <a:t>set </a:t>
            </a:r>
            <a:r>
              <a:rPr sz="2000" spc="-50" dirty="0">
                <a:solidFill>
                  <a:srgbClr val="FFFFFF"/>
                </a:solidFill>
                <a:latin typeface="Arial"/>
                <a:cs typeface="Arial"/>
              </a:rPr>
              <a:t>is </a:t>
            </a:r>
            <a:r>
              <a:rPr sz="2000" spc="-195" dirty="0">
                <a:solidFill>
                  <a:srgbClr val="FFFFFF"/>
                </a:solidFill>
                <a:latin typeface="Arial"/>
                <a:cs typeface="Arial"/>
              </a:rPr>
              <a:t>a  </a:t>
            </a:r>
            <a:r>
              <a:rPr sz="2000" spc="10" dirty="0">
                <a:solidFill>
                  <a:srgbClr val="FFFFFF"/>
                </a:solidFill>
                <a:latin typeface="Arial"/>
                <a:cs typeface="Arial"/>
              </a:rPr>
              <a:t>collection </a:t>
            </a:r>
            <a:r>
              <a:rPr sz="2000" spc="50" dirty="0">
                <a:solidFill>
                  <a:srgbClr val="FFFFFF"/>
                </a:solidFill>
                <a:latin typeface="Arial"/>
                <a:cs typeface="Arial"/>
              </a:rPr>
              <a:t>of </a:t>
            </a:r>
            <a:r>
              <a:rPr sz="2000" spc="30" dirty="0">
                <a:solidFill>
                  <a:srgbClr val="FFFFFF"/>
                </a:solidFill>
                <a:latin typeface="Arial"/>
                <a:cs typeface="Arial"/>
              </a:rPr>
              <a:t>distinct </a:t>
            </a:r>
            <a:r>
              <a:rPr sz="2000" spc="-40" dirty="0">
                <a:solidFill>
                  <a:srgbClr val="FFFFFF"/>
                </a:solidFill>
                <a:latin typeface="Arial"/>
                <a:cs typeface="Arial"/>
              </a:rPr>
              <a:t>objects  considered </a:t>
            </a:r>
            <a:r>
              <a:rPr sz="2000" spc="-204" dirty="0">
                <a:solidFill>
                  <a:srgbClr val="FFFFFF"/>
                </a:solidFill>
                <a:latin typeface="Arial"/>
                <a:cs typeface="Arial"/>
              </a:rPr>
              <a:t>as </a:t>
            </a:r>
            <a:r>
              <a:rPr sz="2000" spc="-195" dirty="0">
                <a:solidFill>
                  <a:srgbClr val="FFFFFF"/>
                </a:solidFill>
                <a:latin typeface="Arial"/>
                <a:cs typeface="Arial"/>
              </a:rPr>
              <a:t>a</a:t>
            </a:r>
            <a:r>
              <a:rPr sz="2000" spc="-145" dirty="0">
                <a:solidFill>
                  <a:srgbClr val="FFFFFF"/>
                </a:solidFill>
                <a:latin typeface="Arial"/>
                <a:cs typeface="Arial"/>
              </a:rPr>
              <a:t> </a:t>
            </a:r>
            <a:r>
              <a:rPr sz="2000" spc="-10" dirty="0">
                <a:solidFill>
                  <a:srgbClr val="FFFFFF"/>
                </a:solidFill>
                <a:latin typeface="Arial"/>
                <a:cs typeface="Arial"/>
              </a:rPr>
              <a:t>whole.</a:t>
            </a:r>
            <a:endParaRPr sz="2000">
              <a:latin typeface="Arial"/>
              <a:cs typeface="Arial"/>
            </a:endParaRPr>
          </a:p>
          <a:p>
            <a:pPr marL="1585595" marR="5080" algn="just">
              <a:lnSpc>
                <a:spcPts val="2160"/>
              </a:lnSpc>
              <a:spcBef>
                <a:spcPts val="2495"/>
              </a:spcBef>
            </a:pPr>
            <a:r>
              <a:rPr sz="2000" spc="-20" dirty="0">
                <a:solidFill>
                  <a:srgbClr val="FFFFFF"/>
                </a:solidFill>
                <a:latin typeface="Arial"/>
                <a:cs typeface="Arial"/>
              </a:rPr>
              <a:t>For </a:t>
            </a:r>
            <a:r>
              <a:rPr sz="2000" spc="-55" dirty="0">
                <a:solidFill>
                  <a:srgbClr val="FFFFFF"/>
                </a:solidFill>
                <a:latin typeface="Arial"/>
                <a:cs typeface="Arial"/>
              </a:rPr>
              <a:t>example, </a:t>
            </a:r>
            <a:r>
              <a:rPr sz="2000" spc="10" dirty="0">
                <a:solidFill>
                  <a:srgbClr val="FFFFFF"/>
                </a:solidFill>
                <a:latin typeface="Arial"/>
                <a:cs typeface="Arial"/>
              </a:rPr>
              <a:t>all </a:t>
            </a:r>
            <a:r>
              <a:rPr sz="2000" dirty="0">
                <a:solidFill>
                  <a:srgbClr val="FFFFFF"/>
                </a:solidFill>
                <a:latin typeface="Arial"/>
                <a:cs typeface="Arial"/>
              </a:rPr>
              <a:t>the </a:t>
            </a:r>
            <a:r>
              <a:rPr sz="2000" spc="-75" dirty="0">
                <a:solidFill>
                  <a:srgbClr val="FFFFFF"/>
                </a:solidFill>
                <a:latin typeface="Arial"/>
                <a:cs typeface="Arial"/>
              </a:rPr>
              <a:t>employees </a:t>
            </a:r>
            <a:r>
              <a:rPr sz="2000" spc="5" dirty="0">
                <a:solidFill>
                  <a:srgbClr val="FFFFFF"/>
                </a:solidFill>
                <a:latin typeface="Arial"/>
                <a:cs typeface="Arial"/>
              </a:rPr>
              <a:t>under </a:t>
            </a:r>
            <a:r>
              <a:rPr sz="2000" spc="-65" dirty="0">
                <a:solidFill>
                  <a:srgbClr val="FFFFFF"/>
                </a:solidFill>
                <a:latin typeface="Arial"/>
                <a:cs typeface="Arial"/>
              </a:rPr>
              <a:t>an </a:t>
            </a:r>
            <a:r>
              <a:rPr sz="2000" spc="-55" dirty="0">
                <a:solidFill>
                  <a:srgbClr val="FFFFFF"/>
                </a:solidFill>
                <a:latin typeface="Arial"/>
                <a:cs typeface="Arial"/>
              </a:rPr>
              <a:t>Employee </a:t>
            </a:r>
            <a:r>
              <a:rPr sz="2000" spc="-30" dirty="0">
                <a:solidFill>
                  <a:srgbClr val="FFFFFF"/>
                </a:solidFill>
                <a:latin typeface="Arial"/>
                <a:cs typeface="Arial"/>
              </a:rPr>
              <a:t>table </a:t>
            </a:r>
            <a:r>
              <a:rPr sz="2000" spc="-75" dirty="0">
                <a:solidFill>
                  <a:srgbClr val="FFFFFF"/>
                </a:solidFill>
                <a:latin typeface="Arial"/>
                <a:cs typeface="Arial"/>
              </a:rPr>
              <a:t>can  </a:t>
            </a:r>
            <a:r>
              <a:rPr sz="2000" spc="-100" dirty="0">
                <a:solidFill>
                  <a:srgbClr val="FFFFFF"/>
                </a:solidFill>
                <a:latin typeface="Arial"/>
                <a:cs typeface="Arial"/>
              </a:rPr>
              <a:t>be </a:t>
            </a:r>
            <a:r>
              <a:rPr sz="2000" spc="-40" dirty="0">
                <a:solidFill>
                  <a:srgbClr val="FFFFFF"/>
                </a:solidFill>
                <a:latin typeface="Arial"/>
                <a:cs typeface="Arial"/>
              </a:rPr>
              <a:t>considered </a:t>
            </a:r>
            <a:r>
              <a:rPr sz="2000" spc="-204" dirty="0">
                <a:solidFill>
                  <a:srgbClr val="FFFFFF"/>
                </a:solidFill>
                <a:latin typeface="Arial"/>
                <a:cs typeface="Arial"/>
              </a:rPr>
              <a:t>as </a:t>
            </a:r>
            <a:r>
              <a:rPr sz="2000" spc="-45" dirty="0">
                <a:solidFill>
                  <a:srgbClr val="FFFFFF"/>
                </a:solidFill>
                <a:latin typeface="Arial"/>
                <a:cs typeface="Arial"/>
              </a:rPr>
              <a:t>one </a:t>
            </a:r>
            <a:r>
              <a:rPr sz="2000" spc="-80" dirty="0">
                <a:solidFill>
                  <a:srgbClr val="FFFFFF"/>
                </a:solidFill>
                <a:latin typeface="Arial"/>
                <a:cs typeface="Arial"/>
              </a:rPr>
              <a:t>set. </a:t>
            </a:r>
            <a:r>
              <a:rPr sz="2000" spc="-70" dirty="0">
                <a:solidFill>
                  <a:srgbClr val="FFFFFF"/>
                </a:solidFill>
                <a:latin typeface="Arial"/>
                <a:cs typeface="Arial"/>
              </a:rPr>
              <a:t>Employees </a:t>
            </a:r>
            <a:r>
              <a:rPr sz="2000" spc="-100" dirty="0">
                <a:solidFill>
                  <a:srgbClr val="FFFFFF"/>
                </a:solidFill>
                <a:latin typeface="Arial"/>
                <a:cs typeface="Arial"/>
              </a:rPr>
              <a:t>are </a:t>
            </a:r>
            <a:r>
              <a:rPr sz="2000" spc="35" dirty="0">
                <a:solidFill>
                  <a:srgbClr val="FFFFFF"/>
                </a:solidFill>
                <a:latin typeface="Arial"/>
                <a:cs typeface="Arial"/>
              </a:rPr>
              <a:t>different </a:t>
            </a:r>
            <a:r>
              <a:rPr sz="2000" spc="-40" dirty="0">
                <a:solidFill>
                  <a:srgbClr val="FFFFFF"/>
                </a:solidFill>
                <a:latin typeface="Arial"/>
                <a:cs typeface="Arial"/>
              </a:rPr>
              <a:t>objects </a:t>
            </a:r>
            <a:r>
              <a:rPr sz="2000" spc="30" dirty="0">
                <a:solidFill>
                  <a:srgbClr val="FFFFFF"/>
                </a:solidFill>
                <a:latin typeface="Arial"/>
                <a:cs typeface="Arial"/>
              </a:rPr>
              <a:t>that  </a:t>
            </a:r>
            <a:r>
              <a:rPr sz="2000" spc="45" dirty="0">
                <a:solidFill>
                  <a:srgbClr val="FFFFFF"/>
                </a:solidFill>
                <a:latin typeface="Arial"/>
                <a:cs typeface="Arial"/>
              </a:rPr>
              <a:t>form</a:t>
            </a:r>
            <a:r>
              <a:rPr sz="2000" spc="-135" dirty="0">
                <a:solidFill>
                  <a:srgbClr val="FFFFFF"/>
                </a:solidFill>
                <a:latin typeface="Arial"/>
                <a:cs typeface="Arial"/>
              </a:rPr>
              <a:t> </a:t>
            </a:r>
            <a:r>
              <a:rPr sz="2000" spc="-195" dirty="0">
                <a:solidFill>
                  <a:srgbClr val="FFFFFF"/>
                </a:solidFill>
                <a:latin typeface="Arial"/>
                <a:cs typeface="Arial"/>
              </a:rPr>
              <a:t>a</a:t>
            </a:r>
            <a:r>
              <a:rPr sz="2000" spc="-130" dirty="0">
                <a:solidFill>
                  <a:srgbClr val="FFFFFF"/>
                </a:solidFill>
                <a:latin typeface="Arial"/>
                <a:cs typeface="Arial"/>
              </a:rPr>
              <a:t> </a:t>
            </a:r>
            <a:r>
              <a:rPr sz="2000" dirty="0">
                <a:solidFill>
                  <a:srgbClr val="FFFFFF"/>
                </a:solidFill>
                <a:latin typeface="Arial"/>
                <a:cs typeface="Arial"/>
              </a:rPr>
              <a:t>part</a:t>
            </a:r>
            <a:r>
              <a:rPr sz="2000" spc="-120" dirty="0">
                <a:solidFill>
                  <a:srgbClr val="FFFFFF"/>
                </a:solidFill>
                <a:latin typeface="Arial"/>
                <a:cs typeface="Arial"/>
              </a:rPr>
              <a:t> </a:t>
            </a:r>
            <a:r>
              <a:rPr sz="2000" spc="50" dirty="0">
                <a:solidFill>
                  <a:srgbClr val="FFFFFF"/>
                </a:solidFill>
                <a:latin typeface="Arial"/>
                <a:cs typeface="Arial"/>
              </a:rPr>
              <a:t>of</a:t>
            </a:r>
            <a:r>
              <a:rPr sz="2000" spc="-125" dirty="0">
                <a:solidFill>
                  <a:srgbClr val="FFFFFF"/>
                </a:solidFill>
                <a:latin typeface="Arial"/>
                <a:cs typeface="Arial"/>
              </a:rPr>
              <a:t> </a:t>
            </a:r>
            <a:r>
              <a:rPr sz="2000" dirty="0">
                <a:solidFill>
                  <a:srgbClr val="FFFFFF"/>
                </a:solidFill>
                <a:latin typeface="Arial"/>
                <a:cs typeface="Arial"/>
              </a:rPr>
              <a:t>the</a:t>
            </a:r>
            <a:r>
              <a:rPr sz="2000" spc="-125" dirty="0">
                <a:solidFill>
                  <a:srgbClr val="FFFFFF"/>
                </a:solidFill>
                <a:latin typeface="Arial"/>
                <a:cs typeface="Arial"/>
              </a:rPr>
              <a:t> </a:t>
            </a:r>
            <a:r>
              <a:rPr sz="2000" spc="-90" dirty="0">
                <a:solidFill>
                  <a:srgbClr val="FFFFFF"/>
                </a:solidFill>
                <a:latin typeface="Arial"/>
                <a:cs typeface="Arial"/>
              </a:rPr>
              <a:t>set</a:t>
            </a:r>
            <a:r>
              <a:rPr sz="2000" spc="-120"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dirty="0">
                <a:solidFill>
                  <a:srgbClr val="FFFFFF"/>
                </a:solidFill>
                <a:latin typeface="Arial"/>
                <a:cs typeface="Arial"/>
              </a:rPr>
              <a:t>the</a:t>
            </a:r>
            <a:r>
              <a:rPr sz="2000" spc="-114" dirty="0">
                <a:solidFill>
                  <a:srgbClr val="FFFFFF"/>
                </a:solidFill>
                <a:latin typeface="Arial"/>
                <a:cs typeface="Arial"/>
              </a:rPr>
              <a:t> </a:t>
            </a:r>
            <a:r>
              <a:rPr sz="2000" spc="-55" dirty="0">
                <a:solidFill>
                  <a:srgbClr val="FFFFFF"/>
                </a:solidFill>
                <a:latin typeface="Arial"/>
                <a:cs typeface="Arial"/>
              </a:rPr>
              <a:t>Employee</a:t>
            </a:r>
            <a:r>
              <a:rPr sz="2000" spc="-95" dirty="0">
                <a:solidFill>
                  <a:srgbClr val="FFFFFF"/>
                </a:solidFill>
                <a:latin typeface="Arial"/>
                <a:cs typeface="Arial"/>
              </a:rPr>
              <a:t> </a:t>
            </a:r>
            <a:r>
              <a:rPr sz="2000" spc="-35" dirty="0">
                <a:solidFill>
                  <a:srgbClr val="FFFFFF"/>
                </a:solidFill>
                <a:latin typeface="Arial"/>
                <a:cs typeface="Arial"/>
              </a:rPr>
              <a:t>table.</a:t>
            </a:r>
            <a:endParaRPr sz="2000">
              <a:latin typeface="Arial"/>
              <a:cs typeface="Arial"/>
            </a:endParaRPr>
          </a:p>
        </p:txBody>
      </p:sp>
      <p:pic>
        <p:nvPicPr>
          <p:cNvPr id="10" name="object 10"/>
          <p:cNvPicPr/>
          <p:nvPr/>
        </p:nvPicPr>
        <p:blipFill>
          <a:blip r:embed="rId6" cstate="print"/>
          <a:stretch>
            <a:fillRect/>
          </a:stretch>
        </p:blipFill>
        <p:spPr>
          <a:xfrm>
            <a:off x="646937" y="3429000"/>
            <a:ext cx="8039861" cy="2747010"/>
          </a:xfrm>
          <a:prstGeom prst="rect">
            <a:avLst/>
          </a:prstGeom>
        </p:spPr>
      </p:pic>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24</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345" y="15493"/>
            <a:ext cx="3361054" cy="635635"/>
          </a:xfrm>
          <a:prstGeom prst="rect">
            <a:avLst/>
          </a:prstGeom>
        </p:spPr>
        <p:txBody>
          <a:bodyPr vert="horz" wrap="square" lIns="0" tIns="12700" rIns="0" bIns="0" rtlCol="0">
            <a:spAutoFit/>
          </a:bodyPr>
          <a:lstStyle/>
          <a:p>
            <a:pPr marL="12700">
              <a:lnSpc>
                <a:spcPct val="100000"/>
              </a:lnSpc>
              <a:spcBef>
                <a:spcPts val="100"/>
              </a:spcBef>
            </a:pPr>
            <a:r>
              <a:rPr spc="-110" dirty="0"/>
              <a:t>Predicate</a:t>
            </a:r>
            <a:r>
              <a:rPr spc="-340" dirty="0"/>
              <a:t> </a:t>
            </a:r>
            <a:r>
              <a:rPr spc="-15" dirty="0"/>
              <a:t>Logic</a:t>
            </a:r>
          </a:p>
        </p:txBody>
      </p:sp>
      <p:grpSp>
        <p:nvGrpSpPr>
          <p:cNvPr id="3" name="object 3"/>
          <p:cNvGrpSpPr/>
          <p:nvPr/>
        </p:nvGrpSpPr>
        <p:grpSpPr>
          <a:xfrm>
            <a:off x="447294" y="883183"/>
            <a:ext cx="8228965" cy="1012825"/>
            <a:chOff x="447294" y="883183"/>
            <a:chExt cx="8228965" cy="1012825"/>
          </a:xfrm>
        </p:grpSpPr>
        <p:pic>
          <p:nvPicPr>
            <p:cNvPr id="4" name="object 4"/>
            <p:cNvPicPr/>
            <p:nvPr/>
          </p:nvPicPr>
          <p:blipFill>
            <a:blip r:embed="rId3" cstate="print"/>
            <a:stretch>
              <a:fillRect/>
            </a:stretch>
          </p:blipFill>
          <p:spPr>
            <a:xfrm>
              <a:off x="447294" y="883183"/>
              <a:ext cx="8228838" cy="1012672"/>
            </a:xfrm>
            <a:prstGeom prst="rect">
              <a:avLst/>
            </a:prstGeom>
          </p:spPr>
        </p:pic>
        <p:pic>
          <p:nvPicPr>
            <p:cNvPr id="5" name="object 5"/>
            <p:cNvPicPr/>
            <p:nvPr/>
          </p:nvPicPr>
          <p:blipFill>
            <a:blip r:embed="rId4" cstate="print"/>
            <a:stretch>
              <a:fillRect/>
            </a:stretch>
          </p:blipFill>
          <p:spPr>
            <a:xfrm>
              <a:off x="488442" y="901445"/>
              <a:ext cx="8153400" cy="937260"/>
            </a:xfrm>
            <a:prstGeom prst="rect">
              <a:avLst/>
            </a:prstGeom>
          </p:spPr>
        </p:pic>
      </p:grpSp>
      <p:sp>
        <p:nvSpPr>
          <p:cNvPr id="6" name="object 6"/>
          <p:cNvSpPr txBox="1"/>
          <p:nvPr/>
        </p:nvSpPr>
        <p:spPr>
          <a:xfrm>
            <a:off x="704850" y="1009903"/>
            <a:ext cx="7887334" cy="604520"/>
          </a:xfrm>
          <a:prstGeom prst="rect">
            <a:avLst/>
          </a:prstGeom>
        </p:spPr>
        <p:txBody>
          <a:bodyPr vert="horz" wrap="square" lIns="0" tIns="46990" rIns="0" bIns="0" rtlCol="0">
            <a:spAutoFit/>
          </a:bodyPr>
          <a:lstStyle/>
          <a:p>
            <a:pPr marL="12700" marR="5080">
              <a:lnSpc>
                <a:spcPts val="2160"/>
              </a:lnSpc>
              <a:spcBef>
                <a:spcPts val="370"/>
              </a:spcBef>
            </a:pPr>
            <a:r>
              <a:rPr sz="2000" spc="-60" dirty="0">
                <a:solidFill>
                  <a:srgbClr val="FFFFFF"/>
                </a:solidFill>
                <a:latin typeface="Arial"/>
                <a:cs typeface="Arial"/>
              </a:rPr>
              <a:t>Predicate </a:t>
            </a:r>
            <a:r>
              <a:rPr sz="2000" spc="-5" dirty="0">
                <a:solidFill>
                  <a:srgbClr val="FFFFFF"/>
                </a:solidFill>
                <a:latin typeface="Arial"/>
                <a:cs typeface="Arial"/>
              </a:rPr>
              <a:t>logic </a:t>
            </a:r>
            <a:r>
              <a:rPr sz="2000" spc="-50" dirty="0">
                <a:solidFill>
                  <a:srgbClr val="FFFFFF"/>
                </a:solidFill>
                <a:latin typeface="Arial"/>
                <a:cs typeface="Arial"/>
              </a:rPr>
              <a:t>is </a:t>
            </a:r>
            <a:r>
              <a:rPr sz="2000" spc="-195" dirty="0">
                <a:solidFill>
                  <a:srgbClr val="FFFFFF"/>
                </a:solidFill>
                <a:latin typeface="Arial"/>
                <a:cs typeface="Arial"/>
              </a:rPr>
              <a:t>a </a:t>
            </a:r>
            <a:r>
              <a:rPr sz="2000" spc="-30" dirty="0">
                <a:solidFill>
                  <a:srgbClr val="FFFFFF"/>
                </a:solidFill>
                <a:latin typeface="Arial"/>
                <a:cs typeface="Arial"/>
              </a:rPr>
              <a:t>mathematical </a:t>
            </a:r>
            <a:r>
              <a:rPr sz="2000" dirty="0">
                <a:solidFill>
                  <a:srgbClr val="FFFFFF"/>
                </a:solidFill>
                <a:latin typeface="Arial"/>
                <a:cs typeface="Arial"/>
              </a:rPr>
              <a:t>framework </a:t>
            </a:r>
            <a:r>
              <a:rPr sz="2000" spc="30" dirty="0">
                <a:solidFill>
                  <a:srgbClr val="FFFFFF"/>
                </a:solidFill>
                <a:latin typeface="Arial"/>
                <a:cs typeface="Arial"/>
              </a:rPr>
              <a:t>that </a:t>
            </a:r>
            <a:r>
              <a:rPr sz="2000" spc="-60" dirty="0">
                <a:solidFill>
                  <a:srgbClr val="FFFFFF"/>
                </a:solidFill>
                <a:latin typeface="Arial"/>
                <a:cs typeface="Arial"/>
              </a:rPr>
              <a:t>consists </a:t>
            </a:r>
            <a:r>
              <a:rPr sz="2000" spc="50" dirty="0">
                <a:solidFill>
                  <a:srgbClr val="FFFFFF"/>
                </a:solidFill>
                <a:latin typeface="Arial"/>
                <a:cs typeface="Arial"/>
              </a:rPr>
              <a:t>of </a:t>
            </a:r>
            <a:r>
              <a:rPr sz="2000" spc="-15" dirty="0">
                <a:solidFill>
                  <a:srgbClr val="FFFFFF"/>
                </a:solidFill>
                <a:latin typeface="Arial"/>
                <a:cs typeface="Arial"/>
              </a:rPr>
              <a:t>logical </a:t>
            </a:r>
            <a:r>
              <a:rPr sz="2000" spc="-75" dirty="0">
                <a:solidFill>
                  <a:srgbClr val="FFFFFF"/>
                </a:solidFill>
                <a:latin typeface="Arial"/>
                <a:cs typeface="Arial"/>
              </a:rPr>
              <a:t>tests  </a:t>
            </a:r>
            <a:r>
              <a:rPr sz="2000" spc="30" dirty="0">
                <a:solidFill>
                  <a:srgbClr val="FFFFFF"/>
                </a:solidFill>
                <a:latin typeface="Arial"/>
                <a:cs typeface="Arial"/>
              </a:rPr>
              <a:t>that</a:t>
            </a:r>
            <a:r>
              <a:rPr sz="2000" spc="-114" dirty="0">
                <a:solidFill>
                  <a:srgbClr val="FFFFFF"/>
                </a:solidFill>
                <a:latin typeface="Arial"/>
                <a:cs typeface="Arial"/>
              </a:rPr>
              <a:t> </a:t>
            </a:r>
            <a:r>
              <a:rPr sz="2000" spc="-75" dirty="0">
                <a:solidFill>
                  <a:srgbClr val="FFFFFF"/>
                </a:solidFill>
                <a:latin typeface="Arial"/>
                <a:cs typeface="Arial"/>
              </a:rPr>
              <a:t>gives</a:t>
            </a:r>
            <a:r>
              <a:rPr sz="2000" spc="-114" dirty="0">
                <a:solidFill>
                  <a:srgbClr val="FFFFFF"/>
                </a:solidFill>
                <a:latin typeface="Arial"/>
                <a:cs typeface="Arial"/>
              </a:rPr>
              <a:t> </a:t>
            </a:r>
            <a:r>
              <a:rPr sz="2000" spc="-195" dirty="0">
                <a:solidFill>
                  <a:srgbClr val="FFFFFF"/>
                </a:solidFill>
                <a:latin typeface="Arial"/>
                <a:cs typeface="Arial"/>
              </a:rPr>
              <a:t>a</a:t>
            </a:r>
            <a:r>
              <a:rPr sz="2000" spc="-125" dirty="0">
                <a:solidFill>
                  <a:srgbClr val="FFFFFF"/>
                </a:solidFill>
                <a:latin typeface="Arial"/>
                <a:cs typeface="Arial"/>
              </a:rPr>
              <a:t> </a:t>
            </a:r>
            <a:r>
              <a:rPr sz="2000" spc="-15" dirty="0">
                <a:solidFill>
                  <a:srgbClr val="FFFFFF"/>
                </a:solidFill>
                <a:latin typeface="Arial"/>
                <a:cs typeface="Arial"/>
              </a:rPr>
              <a:t>result.</a:t>
            </a:r>
            <a:r>
              <a:rPr sz="2000" spc="-120" dirty="0">
                <a:solidFill>
                  <a:srgbClr val="FFFFFF"/>
                </a:solidFill>
                <a:latin typeface="Arial"/>
                <a:cs typeface="Arial"/>
              </a:rPr>
              <a:t> </a:t>
            </a:r>
            <a:r>
              <a:rPr sz="2000" spc="20" dirty="0">
                <a:solidFill>
                  <a:srgbClr val="FFFFFF"/>
                </a:solidFill>
                <a:latin typeface="Arial"/>
                <a:cs typeface="Arial"/>
              </a:rPr>
              <a:t>The</a:t>
            </a:r>
            <a:r>
              <a:rPr sz="2000" spc="-114" dirty="0">
                <a:solidFill>
                  <a:srgbClr val="FFFFFF"/>
                </a:solidFill>
                <a:latin typeface="Arial"/>
                <a:cs typeface="Arial"/>
              </a:rPr>
              <a:t> </a:t>
            </a:r>
            <a:r>
              <a:rPr sz="2000" spc="-40" dirty="0">
                <a:solidFill>
                  <a:srgbClr val="FFFFFF"/>
                </a:solidFill>
                <a:latin typeface="Arial"/>
                <a:cs typeface="Arial"/>
              </a:rPr>
              <a:t>results</a:t>
            </a:r>
            <a:r>
              <a:rPr sz="2000" spc="-110" dirty="0">
                <a:solidFill>
                  <a:srgbClr val="FFFFFF"/>
                </a:solidFill>
                <a:latin typeface="Arial"/>
                <a:cs typeface="Arial"/>
              </a:rPr>
              <a:t> </a:t>
            </a:r>
            <a:r>
              <a:rPr sz="2000" spc="-100" dirty="0">
                <a:solidFill>
                  <a:srgbClr val="FFFFFF"/>
                </a:solidFill>
                <a:latin typeface="Arial"/>
                <a:cs typeface="Arial"/>
              </a:rPr>
              <a:t>are</a:t>
            </a:r>
            <a:r>
              <a:rPr sz="2000" spc="-114" dirty="0">
                <a:solidFill>
                  <a:srgbClr val="FFFFFF"/>
                </a:solidFill>
                <a:latin typeface="Arial"/>
                <a:cs typeface="Arial"/>
              </a:rPr>
              <a:t> </a:t>
            </a:r>
            <a:r>
              <a:rPr sz="2000" spc="-75" dirty="0">
                <a:solidFill>
                  <a:srgbClr val="FFFFFF"/>
                </a:solidFill>
                <a:latin typeface="Arial"/>
                <a:cs typeface="Arial"/>
              </a:rPr>
              <a:t>always</a:t>
            </a:r>
            <a:r>
              <a:rPr sz="2000" spc="-105" dirty="0">
                <a:solidFill>
                  <a:srgbClr val="FFFFFF"/>
                </a:solidFill>
                <a:latin typeface="Arial"/>
                <a:cs typeface="Arial"/>
              </a:rPr>
              <a:t> </a:t>
            </a:r>
            <a:r>
              <a:rPr sz="2000" spc="-40" dirty="0">
                <a:solidFill>
                  <a:srgbClr val="FFFFFF"/>
                </a:solidFill>
                <a:latin typeface="Arial"/>
                <a:cs typeface="Arial"/>
              </a:rPr>
              <a:t>displayed</a:t>
            </a:r>
            <a:r>
              <a:rPr sz="2000" spc="-114" dirty="0">
                <a:solidFill>
                  <a:srgbClr val="FFFFFF"/>
                </a:solidFill>
                <a:latin typeface="Arial"/>
                <a:cs typeface="Arial"/>
              </a:rPr>
              <a:t> </a:t>
            </a:r>
            <a:r>
              <a:rPr sz="2000" spc="-204" dirty="0">
                <a:solidFill>
                  <a:srgbClr val="FFFFFF"/>
                </a:solidFill>
                <a:latin typeface="Arial"/>
                <a:cs typeface="Arial"/>
              </a:rPr>
              <a:t>as</a:t>
            </a:r>
            <a:r>
              <a:rPr sz="2000" spc="-120" dirty="0">
                <a:solidFill>
                  <a:srgbClr val="FFFFFF"/>
                </a:solidFill>
                <a:latin typeface="Arial"/>
                <a:cs typeface="Arial"/>
              </a:rPr>
              <a:t> </a:t>
            </a:r>
            <a:r>
              <a:rPr sz="2000" spc="5" dirty="0">
                <a:solidFill>
                  <a:srgbClr val="FFFFFF"/>
                </a:solidFill>
                <a:latin typeface="Arial"/>
                <a:cs typeface="Arial"/>
              </a:rPr>
              <a:t>either</a:t>
            </a:r>
            <a:r>
              <a:rPr sz="2000" spc="-114" dirty="0">
                <a:solidFill>
                  <a:srgbClr val="FFFFFF"/>
                </a:solidFill>
                <a:latin typeface="Arial"/>
                <a:cs typeface="Arial"/>
              </a:rPr>
              <a:t> </a:t>
            </a:r>
            <a:r>
              <a:rPr sz="2000" spc="15" dirty="0">
                <a:solidFill>
                  <a:srgbClr val="FFFFFF"/>
                </a:solidFill>
                <a:latin typeface="Arial"/>
                <a:cs typeface="Arial"/>
              </a:rPr>
              <a:t>true</a:t>
            </a:r>
            <a:r>
              <a:rPr sz="2000" spc="-120" dirty="0">
                <a:solidFill>
                  <a:srgbClr val="FFFFFF"/>
                </a:solidFill>
                <a:latin typeface="Arial"/>
                <a:cs typeface="Arial"/>
              </a:rPr>
              <a:t> </a:t>
            </a:r>
            <a:r>
              <a:rPr sz="2000" spc="25" dirty="0">
                <a:solidFill>
                  <a:srgbClr val="FFFFFF"/>
                </a:solidFill>
                <a:latin typeface="Arial"/>
                <a:cs typeface="Arial"/>
              </a:rPr>
              <a:t>or</a:t>
            </a:r>
            <a:r>
              <a:rPr sz="2000" spc="-110" dirty="0">
                <a:solidFill>
                  <a:srgbClr val="FFFFFF"/>
                </a:solidFill>
                <a:latin typeface="Arial"/>
                <a:cs typeface="Arial"/>
              </a:rPr>
              <a:t> </a:t>
            </a:r>
            <a:r>
              <a:rPr sz="2000" spc="-70" dirty="0">
                <a:solidFill>
                  <a:srgbClr val="FFFFFF"/>
                </a:solidFill>
                <a:latin typeface="Arial"/>
                <a:cs typeface="Arial"/>
              </a:rPr>
              <a:t>false.</a:t>
            </a:r>
            <a:endParaRPr sz="2000">
              <a:latin typeface="Arial"/>
              <a:cs typeface="Arial"/>
            </a:endParaRPr>
          </a:p>
        </p:txBody>
      </p:sp>
      <p:sp>
        <p:nvSpPr>
          <p:cNvPr id="7" name="object 7"/>
          <p:cNvSpPr txBox="1"/>
          <p:nvPr/>
        </p:nvSpPr>
        <p:spPr>
          <a:xfrm>
            <a:off x="567436" y="2082800"/>
            <a:ext cx="8098155" cy="330200"/>
          </a:xfrm>
          <a:prstGeom prst="rect">
            <a:avLst/>
          </a:prstGeom>
        </p:spPr>
        <p:txBody>
          <a:bodyPr vert="horz" wrap="square" lIns="0" tIns="12065" rIns="0" bIns="0" rtlCol="0">
            <a:spAutoFit/>
          </a:bodyPr>
          <a:lstStyle/>
          <a:p>
            <a:pPr marL="12700">
              <a:lnSpc>
                <a:spcPct val="100000"/>
              </a:lnSpc>
              <a:spcBef>
                <a:spcPts val="95"/>
              </a:spcBef>
            </a:pPr>
            <a:r>
              <a:rPr sz="2000" spc="-90" dirty="0">
                <a:latin typeface="Arial"/>
                <a:cs typeface="Arial"/>
              </a:rPr>
              <a:t>Some</a:t>
            </a:r>
            <a:r>
              <a:rPr sz="2000" spc="-125" dirty="0">
                <a:latin typeface="Arial"/>
                <a:cs typeface="Arial"/>
              </a:rPr>
              <a:t> </a:t>
            </a:r>
            <a:r>
              <a:rPr sz="2000" spc="50" dirty="0">
                <a:latin typeface="Arial"/>
                <a:cs typeface="Arial"/>
              </a:rPr>
              <a:t>of</a:t>
            </a:r>
            <a:r>
              <a:rPr sz="2000" spc="-125" dirty="0">
                <a:latin typeface="Arial"/>
                <a:cs typeface="Arial"/>
              </a:rPr>
              <a:t> </a:t>
            </a:r>
            <a:r>
              <a:rPr sz="2000" dirty="0">
                <a:latin typeface="Arial"/>
                <a:cs typeface="Arial"/>
              </a:rPr>
              <a:t>the</a:t>
            </a:r>
            <a:r>
              <a:rPr sz="2000" spc="-114" dirty="0">
                <a:latin typeface="Arial"/>
                <a:cs typeface="Arial"/>
              </a:rPr>
              <a:t> </a:t>
            </a:r>
            <a:r>
              <a:rPr sz="2000" spc="-15" dirty="0">
                <a:latin typeface="Arial"/>
                <a:cs typeface="Arial"/>
              </a:rPr>
              <a:t>applications</a:t>
            </a:r>
            <a:r>
              <a:rPr sz="2000" spc="-114" dirty="0">
                <a:latin typeface="Arial"/>
                <a:cs typeface="Arial"/>
              </a:rPr>
              <a:t> </a:t>
            </a:r>
            <a:r>
              <a:rPr sz="2000" spc="50" dirty="0">
                <a:latin typeface="Arial"/>
                <a:cs typeface="Arial"/>
              </a:rPr>
              <a:t>of</a:t>
            </a:r>
            <a:r>
              <a:rPr sz="2000" spc="-125" dirty="0">
                <a:latin typeface="Arial"/>
                <a:cs typeface="Arial"/>
              </a:rPr>
              <a:t> </a:t>
            </a:r>
            <a:r>
              <a:rPr sz="2000" spc="-35" dirty="0">
                <a:latin typeface="Arial"/>
                <a:cs typeface="Arial"/>
              </a:rPr>
              <a:t>predicate</a:t>
            </a:r>
            <a:r>
              <a:rPr sz="2000" spc="-130" dirty="0">
                <a:latin typeface="Arial"/>
                <a:cs typeface="Arial"/>
              </a:rPr>
              <a:t> </a:t>
            </a:r>
            <a:r>
              <a:rPr sz="2000" spc="-5" dirty="0">
                <a:latin typeface="Arial"/>
                <a:cs typeface="Arial"/>
              </a:rPr>
              <a:t>logic</a:t>
            </a:r>
            <a:r>
              <a:rPr sz="2000" spc="-125" dirty="0">
                <a:latin typeface="Arial"/>
                <a:cs typeface="Arial"/>
              </a:rPr>
              <a:t> </a:t>
            </a:r>
            <a:r>
              <a:rPr sz="2000" spc="95" dirty="0">
                <a:latin typeface="Arial"/>
                <a:cs typeface="Arial"/>
              </a:rPr>
              <a:t>in</a:t>
            </a:r>
            <a:r>
              <a:rPr sz="2000" spc="-130" dirty="0">
                <a:latin typeface="Arial"/>
                <a:cs typeface="Arial"/>
              </a:rPr>
              <a:t> </a:t>
            </a:r>
            <a:r>
              <a:rPr sz="2000" spc="-15" dirty="0">
                <a:latin typeface="Arial"/>
                <a:cs typeface="Arial"/>
              </a:rPr>
              <a:t>Transact-SQL</a:t>
            </a:r>
            <a:r>
              <a:rPr sz="2000" spc="-135" dirty="0">
                <a:latin typeface="Arial"/>
                <a:cs typeface="Arial"/>
              </a:rPr>
              <a:t> </a:t>
            </a:r>
            <a:r>
              <a:rPr sz="2000" spc="-100" dirty="0">
                <a:latin typeface="Arial"/>
                <a:cs typeface="Arial"/>
              </a:rPr>
              <a:t>are</a:t>
            </a:r>
            <a:r>
              <a:rPr sz="2000" spc="-125" dirty="0">
                <a:latin typeface="Arial"/>
                <a:cs typeface="Arial"/>
              </a:rPr>
              <a:t> </a:t>
            </a:r>
            <a:r>
              <a:rPr sz="2000" spc="-204" dirty="0">
                <a:latin typeface="Arial"/>
                <a:cs typeface="Arial"/>
              </a:rPr>
              <a:t>as</a:t>
            </a:r>
            <a:r>
              <a:rPr sz="2000" spc="-130" dirty="0">
                <a:latin typeface="Arial"/>
                <a:cs typeface="Arial"/>
              </a:rPr>
              <a:t> </a:t>
            </a:r>
            <a:r>
              <a:rPr sz="2000" spc="15" dirty="0">
                <a:latin typeface="Arial"/>
                <a:cs typeface="Arial"/>
              </a:rPr>
              <a:t>follows:</a:t>
            </a:r>
            <a:endParaRPr sz="2000">
              <a:latin typeface="Arial"/>
              <a:cs typeface="Arial"/>
            </a:endParaRPr>
          </a:p>
        </p:txBody>
      </p:sp>
      <p:pic>
        <p:nvPicPr>
          <p:cNvPr id="8" name="object 8"/>
          <p:cNvPicPr/>
          <p:nvPr/>
        </p:nvPicPr>
        <p:blipFill>
          <a:blip r:embed="rId5" cstate="print"/>
          <a:stretch>
            <a:fillRect/>
          </a:stretch>
        </p:blipFill>
        <p:spPr>
          <a:xfrm>
            <a:off x="970788" y="2482595"/>
            <a:ext cx="7441692" cy="3904488"/>
          </a:xfrm>
          <a:prstGeom prst="rect">
            <a:avLst/>
          </a:prstGeom>
        </p:spPr>
      </p:pic>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25</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519" y="139746"/>
            <a:ext cx="8594090" cy="412934"/>
          </a:xfrm>
          <a:prstGeom prst="rect">
            <a:avLst/>
          </a:prstGeom>
        </p:spPr>
        <p:txBody>
          <a:bodyPr vert="horz" wrap="square" lIns="0" tIns="12700" rIns="0" bIns="0" rtlCol="0">
            <a:spAutoFit/>
          </a:bodyPr>
          <a:lstStyle/>
          <a:p>
            <a:pPr marL="12700">
              <a:spcBef>
                <a:spcPts val="100"/>
              </a:spcBef>
            </a:pPr>
            <a:r>
              <a:rPr sz="2600" spc="-30" dirty="0"/>
              <a:t>Logical</a:t>
            </a:r>
            <a:r>
              <a:rPr sz="2600" spc="-285" dirty="0"/>
              <a:t> </a:t>
            </a:r>
            <a:r>
              <a:rPr sz="2600" spc="60" dirty="0"/>
              <a:t>Order</a:t>
            </a:r>
            <a:r>
              <a:rPr sz="2600" spc="-265" dirty="0"/>
              <a:t> </a:t>
            </a:r>
            <a:r>
              <a:rPr sz="2600" spc="114" dirty="0"/>
              <a:t>of</a:t>
            </a:r>
            <a:r>
              <a:rPr sz="2600" spc="-290" dirty="0"/>
              <a:t> </a:t>
            </a:r>
            <a:r>
              <a:rPr sz="2600" spc="-35" dirty="0"/>
              <a:t>Operators</a:t>
            </a:r>
            <a:r>
              <a:rPr sz="2600" spc="-280" dirty="0"/>
              <a:t> </a:t>
            </a:r>
            <a:r>
              <a:rPr sz="2600" spc="195"/>
              <a:t>in</a:t>
            </a:r>
            <a:r>
              <a:rPr sz="2600" spc="-270"/>
              <a:t> </a:t>
            </a:r>
            <a:r>
              <a:rPr sz="2600" spc="15"/>
              <a:t>SELECT</a:t>
            </a:r>
            <a:r>
              <a:rPr lang="en-US" sz="2600" spc="15"/>
              <a:t> </a:t>
            </a:r>
            <a:r>
              <a:rPr lang="en-US" sz="2600" spc="-55">
                <a:solidFill>
                  <a:srgbClr val="FFFFFF"/>
                </a:solidFill>
                <a:latin typeface="Arial"/>
                <a:cs typeface="Arial"/>
              </a:rPr>
              <a:t>Statement</a:t>
            </a:r>
            <a:r>
              <a:rPr lang="en-US" sz="2600" spc="-355">
                <a:solidFill>
                  <a:srgbClr val="FFFFFF"/>
                </a:solidFill>
                <a:latin typeface="Arial"/>
                <a:cs typeface="Arial"/>
              </a:rPr>
              <a:t> </a:t>
            </a:r>
            <a:r>
              <a:rPr lang="en-US" sz="2600" spc="-484">
                <a:solidFill>
                  <a:srgbClr val="FFFFFF"/>
                </a:solidFill>
                <a:latin typeface="Arial"/>
                <a:cs typeface="Arial"/>
              </a:rPr>
              <a:t>1-3</a:t>
            </a:r>
            <a:endParaRPr sz="2600" spc="15" dirty="0"/>
          </a:p>
        </p:txBody>
      </p:sp>
      <p:grpSp>
        <p:nvGrpSpPr>
          <p:cNvPr id="4" name="object 4"/>
          <p:cNvGrpSpPr/>
          <p:nvPr/>
        </p:nvGrpSpPr>
        <p:grpSpPr>
          <a:xfrm>
            <a:off x="96011" y="1020343"/>
            <a:ext cx="8228965" cy="1012825"/>
            <a:chOff x="96011" y="1020343"/>
            <a:chExt cx="8228965" cy="1012825"/>
          </a:xfrm>
        </p:grpSpPr>
        <p:pic>
          <p:nvPicPr>
            <p:cNvPr id="5" name="object 5"/>
            <p:cNvPicPr/>
            <p:nvPr/>
          </p:nvPicPr>
          <p:blipFill>
            <a:blip r:embed="rId3" cstate="print"/>
            <a:stretch>
              <a:fillRect/>
            </a:stretch>
          </p:blipFill>
          <p:spPr>
            <a:xfrm>
              <a:off x="96011" y="1020343"/>
              <a:ext cx="8228838" cy="1012672"/>
            </a:xfrm>
            <a:prstGeom prst="rect">
              <a:avLst/>
            </a:prstGeom>
          </p:spPr>
        </p:pic>
        <p:pic>
          <p:nvPicPr>
            <p:cNvPr id="6" name="object 6"/>
            <p:cNvPicPr/>
            <p:nvPr/>
          </p:nvPicPr>
          <p:blipFill>
            <a:blip r:embed="rId4" cstate="print"/>
            <a:stretch>
              <a:fillRect/>
            </a:stretch>
          </p:blipFill>
          <p:spPr>
            <a:xfrm>
              <a:off x="137159" y="1038606"/>
              <a:ext cx="8153400" cy="937260"/>
            </a:xfrm>
            <a:prstGeom prst="rect">
              <a:avLst/>
            </a:prstGeom>
          </p:spPr>
        </p:pic>
      </p:grpSp>
      <p:grpSp>
        <p:nvGrpSpPr>
          <p:cNvPr id="7" name="object 7"/>
          <p:cNvGrpSpPr/>
          <p:nvPr/>
        </p:nvGrpSpPr>
        <p:grpSpPr>
          <a:xfrm>
            <a:off x="797051" y="2180107"/>
            <a:ext cx="8228965" cy="1012825"/>
            <a:chOff x="797051" y="2180107"/>
            <a:chExt cx="8228965" cy="1012825"/>
          </a:xfrm>
        </p:grpSpPr>
        <p:pic>
          <p:nvPicPr>
            <p:cNvPr id="8" name="object 8"/>
            <p:cNvPicPr/>
            <p:nvPr/>
          </p:nvPicPr>
          <p:blipFill>
            <a:blip r:embed="rId3" cstate="print"/>
            <a:stretch>
              <a:fillRect/>
            </a:stretch>
          </p:blipFill>
          <p:spPr>
            <a:xfrm>
              <a:off x="797051" y="2180107"/>
              <a:ext cx="8228838" cy="1012672"/>
            </a:xfrm>
            <a:prstGeom prst="rect">
              <a:avLst/>
            </a:prstGeom>
          </p:spPr>
        </p:pic>
        <p:pic>
          <p:nvPicPr>
            <p:cNvPr id="9" name="object 9"/>
            <p:cNvPicPr/>
            <p:nvPr/>
          </p:nvPicPr>
          <p:blipFill>
            <a:blip r:embed="rId5" cstate="print"/>
            <a:stretch>
              <a:fillRect/>
            </a:stretch>
          </p:blipFill>
          <p:spPr>
            <a:xfrm>
              <a:off x="838199" y="2198370"/>
              <a:ext cx="8153400" cy="937260"/>
            </a:xfrm>
            <a:prstGeom prst="rect">
              <a:avLst/>
            </a:prstGeom>
          </p:spPr>
        </p:pic>
      </p:grpSp>
      <p:sp>
        <p:nvSpPr>
          <p:cNvPr id="10" name="object 10"/>
          <p:cNvSpPr txBox="1"/>
          <p:nvPr/>
        </p:nvSpPr>
        <p:spPr>
          <a:xfrm>
            <a:off x="353059" y="1147318"/>
            <a:ext cx="8587740" cy="1764030"/>
          </a:xfrm>
          <a:prstGeom prst="rect">
            <a:avLst/>
          </a:prstGeom>
        </p:spPr>
        <p:txBody>
          <a:bodyPr vert="horz" wrap="square" lIns="0" tIns="46990" rIns="0" bIns="0" rtlCol="0">
            <a:spAutoFit/>
          </a:bodyPr>
          <a:lstStyle/>
          <a:p>
            <a:pPr marL="12700" marR="706120">
              <a:lnSpc>
                <a:spcPts val="2160"/>
              </a:lnSpc>
              <a:spcBef>
                <a:spcPts val="370"/>
              </a:spcBef>
            </a:pPr>
            <a:r>
              <a:rPr sz="2000" spc="60" dirty="0">
                <a:solidFill>
                  <a:srgbClr val="FFFFFF"/>
                </a:solidFill>
                <a:latin typeface="Arial"/>
                <a:cs typeface="Arial"/>
              </a:rPr>
              <a:t>Along </a:t>
            </a:r>
            <a:r>
              <a:rPr sz="2000" spc="90" dirty="0">
                <a:solidFill>
                  <a:srgbClr val="FFFFFF"/>
                </a:solidFill>
                <a:latin typeface="Arial"/>
                <a:cs typeface="Arial"/>
              </a:rPr>
              <a:t>with </a:t>
            </a:r>
            <a:r>
              <a:rPr sz="2000" spc="-20" dirty="0">
                <a:solidFill>
                  <a:srgbClr val="FFFFFF"/>
                </a:solidFill>
                <a:latin typeface="Arial"/>
                <a:cs typeface="Arial"/>
              </a:rPr>
              <a:t>syntax </a:t>
            </a:r>
            <a:r>
              <a:rPr sz="2000" spc="50" dirty="0">
                <a:solidFill>
                  <a:srgbClr val="FFFFFF"/>
                </a:solidFill>
                <a:latin typeface="Arial"/>
                <a:cs typeface="Arial"/>
              </a:rPr>
              <a:t>of </a:t>
            </a:r>
            <a:r>
              <a:rPr sz="2000" spc="35" dirty="0">
                <a:solidFill>
                  <a:srgbClr val="FFFFFF"/>
                </a:solidFill>
                <a:latin typeface="Arial"/>
                <a:cs typeface="Arial"/>
              </a:rPr>
              <a:t>different </a:t>
            </a:r>
            <a:r>
              <a:rPr sz="2000" spc="20" dirty="0">
                <a:solidFill>
                  <a:srgbClr val="FFFFFF"/>
                </a:solidFill>
                <a:latin typeface="Arial"/>
                <a:cs typeface="Arial"/>
              </a:rPr>
              <a:t>SQL </a:t>
            </a:r>
            <a:r>
              <a:rPr sz="2000" spc="-50" dirty="0">
                <a:solidFill>
                  <a:srgbClr val="FFFFFF"/>
                </a:solidFill>
                <a:latin typeface="Arial"/>
                <a:cs typeface="Arial"/>
              </a:rPr>
              <a:t>Server </a:t>
            </a:r>
            <a:r>
              <a:rPr sz="2000" spc="-55" dirty="0">
                <a:solidFill>
                  <a:srgbClr val="FFFFFF"/>
                </a:solidFill>
                <a:latin typeface="Arial"/>
                <a:cs typeface="Arial"/>
              </a:rPr>
              <a:t>elements, </a:t>
            </a:r>
            <a:r>
              <a:rPr sz="2000" spc="-60" dirty="0">
                <a:solidFill>
                  <a:srgbClr val="FFFFFF"/>
                </a:solidFill>
                <a:latin typeface="Arial"/>
                <a:cs typeface="Arial"/>
              </a:rPr>
              <a:t>an </a:t>
            </a:r>
            <a:r>
              <a:rPr sz="2000" spc="20" dirty="0">
                <a:solidFill>
                  <a:srgbClr val="FFFFFF"/>
                </a:solidFill>
                <a:latin typeface="Arial"/>
                <a:cs typeface="Arial"/>
              </a:rPr>
              <a:t>SQL </a:t>
            </a:r>
            <a:r>
              <a:rPr sz="2000" spc="-50" dirty="0">
                <a:solidFill>
                  <a:srgbClr val="FFFFFF"/>
                </a:solidFill>
                <a:latin typeface="Arial"/>
                <a:cs typeface="Arial"/>
              </a:rPr>
              <a:t>Server  </a:t>
            </a:r>
            <a:r>
              <a:rPr sz="2000" spc="-70" dirty="0">
                <a:solidFill>
                  <a:srgbClr val="FFFFFF"/>
                </a:solidFill>
                <a:latin typeface="Arial"/>
                <a:cs typeface="Arial"/>
              </a:rPr>
              <a:t>user</a:t>
            </a:r>
            <a:r>
              <a:rPr sz="2000" spc="-125" dirty="0">
                <a:solidFill>
                  <a:srgbClr val="FFFFFF"/>
                </a:solidFill>
                <a:latin typeface="Arial"/>
                <a:cs typeface="Arial"/>
              </a:rPr>
              <a:t> </a:t>
            </a:r>
            <a:r>
              <a:rPr sz="2000" spc="-20" dirty="0">
                <a:solidFill>
                  <a:srgbClr val="FFFFFF"/>
                </a:solidFill>
                <a:latin typeface="Arial"/>
                <a:cs typeface="Arial"/>
              </a:rPr>
              <a:t>must</a:t>
            </a:r>
            <a:r>
              <a:rPr sz="2000" spc="-130" dirty="0">
                <a:solidFill>
                  <a:srgbClr val="FFFFFF"/>
                </a:solidFill>
                <a:latin typeface="Arial"/>
                <a:cs typeface="Arial"/>
              </a:rPr>
              <a:t> </a:t>
            </a:r>
            <a:r>
              <a:rPr sz="2000" spc="-80" dirty="0">
                <a:solidFill>
                  <a:srgbClr val="FFFFFF"/>
                </a:solidFill>
                <a:latin typeface="Arial"/>
                <a:cs typeface="Arial"/>
              </a:rPr>
              <a:t>also</a:t>
            </a:r>
            <a:r>
              <a:rPr sz="2000" spc="-105" dirty="0">
                <a:solidFill>
                  <a:srgbClr val="FFFFFF"/>
                </a:solidFill>
                <a:latin typeface="Arial"/>
                <a:cs typeface="Arial"/>
              </a:rPr>
              <a:t> </a:t>
            </a:r>
            <a:r>
              <a:rPr sz="2000" spc="45" dirty="0">
                <a:solidFill>
                  <a:srgbClr val="FFFFFF"/>
                </a:solidFill>
                <a:latin typeface="Arial"/>
                <a:cs typeface="Arial"/>
              </a:rPr>
              <a:t>know</a:t>
            </a:r>
            <a:r>
              <a:rPr sz="2000" spc="-114" dirty="0">
                <a:solidFill>
                  <a:srgbClr val="FFFFFF"/>
                </a:solidFill>
                <a:latin typeface="Arial"/>
                <a:cs typeface="Arial"/>
              </a:rPr>
              <a:t> </a:t>
            </a:r>
            <a:r>
              <a:rPr sz="2000" dirty="0">
                <a:solidFill>
                  <a:srgbClr val="FFFFFF"/>
                </a:solidFill>
                <a:latin typeface="Arial"/>
                <a:cs typeface="Arial"/>
              </a:rPr>
              <a:t>the</a:t>
            </a:r>
            <a:r>
              <a:rPr sz="2000" spc="-110" dirty="0">
                <a:solidFill>
                  <a:srgbClr val="FFFFFF"/>
                </a:solidFill>
                <a:latin typeface="Arial"/>
                <a:cs typeface="Arial"/>
              </a:rPr>
              <a:t> </a:t>
            </a:r>
            <a:r>
              <a:rPr sz="2000" spc="-95" dirty="0">
                <a:solidFill>
                  <a:srgbClr val="FFFFFF"/>
                </a:solidFill>
                <a:latin typeface="Arial"/>
                <a:cs typeface="Arial"/>
              </a:rPr>
              <a:t>process</a:t>
            </a:r>
            <a:r>
              <a:rPr sz="2000" spc="-114" dirty="0">
                <a:solidFill>
                  <a:srgbClr val="FFFFFF"/>
                </a:solidFill>
                <a:latin typeface="Arial"/>
                <a:cs typeface="Arial"/>
              </a:rPr>
              <a:t> </a:t>
            </a:r>
            <a:r>
              <a:rPr sz="2000" spc="50" dirty="0">
                <a:solidFill>
                  <a:srgbClr val="FFFFFF"/>
                </a:solidFill>
                <a:latin typeface="Arial"/>
                <a:cs typeface="Arial"/>
              </a:rPr>
              <a:t>of</a:t>
            </a:r>
            <a:r>
              <a:rPr sz="2000" spc="-120" dirty="0">
                <a:solidFill>
                  <a:srgbClr val="FFFFFF"/>
                </a:solidFill>
                <a:latin typeface="Arial"/>
                <a:cs typeface="Arial"/>
              </a:rPr>
              <a:t> </a:t>
            </a:r>
            <a:r>
              <a:rPr sz="2000" spc="30" dirty="0">
                <a:solidFill>
                  <a:srgbClr val="FFFFFF"/>
                </a:solidFill>
                <a:latin typeface="Arial"/>
                <a:cs typeface="Arial"/>
              </a:rPr>
              <a:t>how</a:t>
            </a:r>
            <a:r>
              <a:rPr sz="2000" spc="-120" dirty="0">
                <a:solidFill>
                  <a:srgbClr val="FFFFFF"/>
                </a:solidFill>
                <a:latin typeface="Arial"/>
                <a:cs typeface="Arial"/>
              </a:rPr>
              <a:t> </a:t>
            </a:r>
            <a:r>
              <a:rPr sz="2000" dirty="0">
                <a:solidFill>
                  <a:srgbClr val="FFFFFF"/>
                </a:solidFill>
                <a:latin typeface="Arial"/>
                <a:cs typeface="Arial"/>
              </a:rPr>
              <a:t>the</a:t>
            </a:r>
            <a:r>
              <a:rPr sz="2000" spc="-120" dirty="0">
                <a:solidFill>
                  <a:srgbClr val="FFFFFF"/>
                </a:solidFill>
                <a:latin typeface="Arial"/>
                <a:cs typeface="Arial"/>
              </a:rPr>
              <a:t> </a:t>
            </a:r>
            <a:r>
              <a:rPr sz="2000" spc="5" dirty="0">
                <a:solidFill>
                  <a:srgbClr val="FFFFFF"/>
                </a:solidFill>
                <a:latin typeface="Arial"/>
                <a:cs typeface="Arial"/>
              </a:rPr>
              <a:t>entire</a:t>
            </a:r>
            <a:r>
              <a:rPr sz="2000" spc="-110" dirty="0">
                <a:solidFill>
                  <a:srgbClr val="FFFFFF"/>
                </a:solidFill>
                <a:latin typeface="Arial"/>
                <a:cs typeface="Arial"/>
              </a:rPr>
              <a:t> </a:t>
            </a:r>
            <a:r>
              <a:rPr sz="2000" spc="-15" dirty="0">
                <a:solidFill>
                  <a:srgbClr val="FFFFFF"/>
                </a:solidFill>
                <a:latin typeface="Arial"/>
                <a:cs typeface="Arial"/>
              </a:rPr>
              <a:t>query</a:t>
            </a:r>
            <a:r>
              <a:rPr sz="2000" spc="-125" dirty="0">
                <a:solidFill>
                  <a:srgbClr val="FFFFFF"/>
                </a:solidFill>
                <a:latin typeface="Arial"/>
                <a:cs typeface="Arial"/>
              </a:rPr>
              <a:t> </a:t>
            </a:r>
            <a:r>
              <a:rPr sz="2000" spc="-50" dirty="0">
                <a:solidFill>
                  <a:srgbClr val="FFFFFF"/>
                </a:solidFill>
                <a:latin typeface="Arial"/>
                <a:cs typeface="Arial"/>
              </a:rPr>
              <a:t>is</a:t>
            </a:r>
            <a:r>
              <a:rPr sz="2000" spc="-135" dirty="0">
                <a:solidFill>
                  <a:srgbClr val="FFFFFF"/>
                </a:solidFill>
                <a:latin typeface="Arial"/>
                <a:cs typeface="Arial"/>
              </a:rPr>
              <a:t> </a:t>
            </a:r>
            <a:r>
              <a:rPr sz="2000" spc="-50" dirty="0">
                <a:solidFill>
                  <a:srgbClr val="FFFFFF"/>
                </a:solidFill>
                <a:latin typeface="Arial"/>
                <a:cs typeface="Arial"/>
              </a:rPr>
              <a:t>executed.</a:t>
            </a:r>
            <a:endParaRPr sz="2000">
              <a:latin typeface="Arial"/>
              <a:cs typeface="Arial"/>
            </a:endParaRPr>
          </a:p>
          <a:p>
            <a:pPr>
              <a:lnSpc>
                <a:spcPct val="100000"/>
              </a:lnSpc>
              <a:spcBef>
                <a:spcPts val="35"/>
              </a:spcBef>
            </a:pPr>
            <a:endParaRPr sz="4150">
              <a:latin typeface="Arial"/>
              <a:cs typeface="Arial"/>
            </a:endParaRPr>
          </a:p>
          <a:p>
            <a:pPr marL="713740" marR="5080">
              <a:lnSpc>
                <a:spcPts val="2160"/>
              </a:lnSpc>
            </a:pPr>
            <a:r>
              <a:rPr sz="2000" spc="35" dirty="0">
                <a:solidFill>
                  <a:srgbClr val="FFFFFF"/>
                </a:solidFill>
                <a:latin typeface="Arial"/>
                <a:cs typeface="Arial"/>
              </a:rPr>
              <a:t>This </a:t>
            </a:r>
            <a:r>
              <a:rPr sz="2000" spc="-95" dirty="0">
                <a:solidFill>
                  <a:srgbClr val="FFFFFF"/>
                </a:solidFill>
                <a:latin typeface="Arial"/>
                <a:cs typeface="Arial"/>
              </a:rPr>
              <a:t>process </a:t>
            </a:r>
            <a:r>
              <a:rPr sz="2000" spc="-50" dirty="0">
                <a:solidFill>
                  <a:srgbClr val="FFFFFF"/>
                </a:solidFill>
                <a:latin typeface="Arial"/>
                <a:cs typeface="Arial"/>
              </a:rPr>
              <a:t>is </a:t>
            </a:r>
            <a:r>
              <a:rPr sz="2000" spc="-195" dirty="0">
                <a:solidFill>
                  <a:srgbClr val="FFFFFF"/>
                </a:solidFill>
                <a:latin typeface="Arial"/>
                <a:cs typeface="Arial"/>
              </a:rPr>
              <a:t>a </a:t>
            </a:r>
            <a:r>
              <a:rPr sz="2000" spc="-15" dirty="0">
                <a:solidFill>
                  <a:srgbClr val="FFFFFF"/>
                </a:solidFill>
                <a:latin typeface="Arial"/>
                <a:cs typeface="Arial"/>
              </a:rPr>
              <a:t>logical </a:t>
            </a:r>
            <a:r>
              <a:rPr sz="2000" spc="-95" dirty="0">
                <a:solidFill>
                  <a:srgbClr val="FFFFFF"/>
                </a:solidFill>
                <a:latin typeface="Arial"/>
                <a:cs typeface="Arial"/>
              </a:rPr>
              <a:t>process </a:t>
            </a:r>
            <a:r>
              <a:rPr sz="2000" spc="30" dirty="0">
                <a:solidFill>
                  <a:srgbClr val="FFFFFF"/>
                </a:solidFill>
                <a:latin typeface="Arial"/>
                <a:cs typeface="Arial"/>
              </a:rPr>
              <a:t>that </a:t>
            </a:r>
            <a:r>
              <a:rPr sz="2000" spc="-75" dirty="0">
                <a:solidFill>
                  <a:srgbClr val="FFFFFF"/>
                </a:solidFill>
                <a:latin typeface="Arial"/>
                <a:cs typeface="Arial"/>
              </a:rPr>
              <a:t>breaks </a:t>
            </a:r>
            <a:r>
              <a:rPr sz="2000" dirty="0">
                <a:solidFill>
                  <a:srgbClr val="FFFFFF"/>
                </a:solidFill>
                <a:latin typeface="Arial"/>
                <a:cs typeface="Arial"/>
              </a:rPr>
              <a:t>the </a:t>
            </a:r>
            <a:r>
              <a:rPr sz="2000" spc="-15" dirty="0">
                <a:solidFill>
                  <a:srgbClr val="FFFFFF"/>
                </a:solidFill>
                <a:latin typeface="Arial"/>
                <a:cs typeface="Arial"/>
              </a:rPr>
              <a:t>query </a:t>
            </a:r>
            <a:r>
              <a:rPr sz="2000" spc="-35" dirty="0">
                <a:solidFill>
                  <a:srgbClr val="FFFFFF"/>
                </a:solidFill>
                <a:latin typeface="Arial"/>
                <a:cs typeface="Arial"/>
              </a:rPr>
              <a:t>and </a:t>
            </a:r>
            <a:r>
              <a:rPr sz="2000" spc="-75" dirty="0">
                <a:solidFill>
                  <a:srgbClr val="FFFFFF"/>
                </a:solidFill>
                <a:latin typeface="Arial"/>
                <a:cs typeface="Arial"/>
              </a:rPr>
              <a:t>executes </a:t>
            </a:r>
            <a:r>
              <a:rPr sz="2000" dirty="0">
                <a:solidFill>
                  <a:srgbClr val="FFFFFF"/>
                </a:solidFill>
                <a:latin typeface="Arial"/>
                <a:cs typeface="Arial"/>
              </a:rPr>
              <a:t>the  </a:t>
            </a:r>
            <a:r>
              <a:rPr sz="2000" spc="-15" dirty="0">
                <a:solidFill>
                  <a:srgbClr val="FFFFFF"/>
                </a:solidFill>
                <a:latin typeface="Arial"/>
                <a:cs typeface="Arial"/>
              </a:rPr>
              <a:t>query</a:t>
            </a:r>
            <a:r>
              <a:rPr sz="2000" spc="-130" dirty="0">
                <a:solidFill>
                  <a:srgbClr val="FFFFFF"/>
                </a:solidFill>
                <a:latin typeface="Arial"/>
                <a:cs typeface="Arial"/>
              </a:rPr>
              <a:t> </a:t>
            </a:r>
            <a:r>
              <a:rPr sz="2000" spc="-30" dirty="0">
                <a:solidFill>
                  <a:srgbClr val="FFFFFF"/>
                </a:solidFill>
                <a:latin typeface="Arial"/>
                <a:cs typeface="Arial"/>
              </a:rPr>
              <a:t>according</a:t>
            </a:r>
            <a:r>
              <a:rPr sz="2000" spc="-140" dirty="0">
                <a:solidFill>
                  <a:srgbClr val="FFFFFF"/>
                </a:solidFill>
                <a:latin typeface="Arial"/>
                <a:cs typeface="Arial"/>
              </a:rPr>
              <a:t> </a:t>
            </a:r>
            <a:r>
              <a:rPr sz="2000" spc="55" dirty="0">
                <a:solidFill>
                  <a:srgbClr val="FFFFFF"/>
                </a:solidFill>
                <a:latin typeface="Arial"/>
                <a:cs typeface="Arial"/>
              </a:rPr>
              <a:t>to</a:t>
            </a:r>
            <a:r>
              <a:rPr sz="2000" spc="-120" dirty="0">
                <a:solidFill>
                  <a:srgbClr val="FFFFFF"/>
                </a:solidFill>
                <a:latin typeface="Arial"/>
                <a:cs typeface="Arial"/>
              </a:rPr>
              <a:t> </a:t>
            </a:r>
            <a:r>
              <a:rPr sz="2000" spc="-195" dirty="0">
                <a:solidFill>
                  <a:srgbClr val="FFFFFF"/>
                </a:solidFill>
                <a:latin typeface="Arial"/>
                <a:cs typeface="Arial"/>
              </a:rPr>
              <a:t>a</a:t>
            </a:r>
            <a:r>
              <a:rPr sz="2000" spc="-125" dirty="0">
                <a:solidFill>
                  <a:srgbClr val="FFFFFF"/>
                </a:solidFill>
                <a:latin typeface="Arial"/>
                <a:cs typeface="Arial"/>
              </a:rPr>
              <a:t> </a:t>
            </a:r>
            <a:r>
              <a:rPr sz="2000" spc="-15" dirty="0">
                <a:solidFill>
                  <a:srgbClr val="FFFFFF"/>
                </a:solidFill>
                <a:latin typeface="Arial"/>
                <a:cs typeface="Arial"/>
              </a:rPr>
              <a:t>predefined</a:t>
            </a:r>
            <a:r>
              <a:rPr sz="2000" spc="-120" dirty="0">
                <a:solidFill>
                  <a:srgbClr val="FFFFFF"/>
                </a:solidFill>
                <a:latin typeface="Arial"/>
                <a:cs typeface="Arial"/>
              </a:rPr>
              <a:t> </a:t>
            </a:r>
            <a:r>
              <a:rPr sz="2000" spc="-95" dirty="0">
                <a:solidFill>
                  <a:srgbClr val="FFFFFF"/>
                </a:solidFill>
                <a:latin typeface="Arial"/>
                <a:cs typeface="Arial"/>
              </a:rPr>
              <a:t>sequence</a:t>
            </a:r>
            <a:r>
              <a:rPr sz="2000" spc="-114" dirty="0">
                <a:solidFill>
                  <a:srgbClr val="FFFFFF"/>
                </a:solidFill>
                <a:latin typeface="Arial"/>
                <a:cs typeface="Arial"/>
              </a:rPr>
              <a:t> </a:t>
            </a:r>
            <a:r>
              <a:rPr sz="2000" spc="95" dirty="0">
                <a:solidFill>
                  <a:srgbClr val="FFFFFF"/>
                </a:solidFill>
                <a:latin typeface="Arial"/>
                <a:cs typeface="Arial"/>
              </a:rPr>
              <a:t>in</a:t>
            </a:r>
            <a:r>
              <a:rPr sz="2000" spc="-135" dirty="0">
                <a:solidFill>
                  <a:srgbClr val="FFFFFF"/>
                </a:solidFill>
                <a:latin typeface="Arial"/>
                <a:cs typeface="Arial"/>
              </a:rPr>
              <a:t> </a:t>
            </a:r>
            <a:r>
              <a:rPr sz="2000" spc="20" dirty="0">
                <a:solidFill>
                  <a:srgbClr val="FFFFFF"/>
                </a:solidFill>
                <a:latin typeface="Arial"/>
                <a:cs typeface="Arial"/>
              </a:rPr>
              <a:t>SQL</a:t>
            </a:r>
            <a:r>
              <a:rPr sz="2000" spc="-140" dirty="0">
                <a:solidFill>
                  <a:srgbClr val="FFFFFF"/>
                </a:solidFill>
                <a:latin typeface="Arial"/>
                <a:cs typeface="Arial"/>
              </a:rPr>
              <a:t> </a:t>
            </a:r>
            <a:r>
              <a:rPr sz="2000" spc="-50" dirty="0">
                <a:solidFill>
                  <a:srgbClr val="FFFFFF"/>
                </a:solidFill>
                <a:latin typeface="Arial"/>
                <a:cs typeface="Arial"/>
              </a:rPr>
              <a:t>Server</a:t>
            </a:r>
            <a:r>
              <a:rPr sz="2000" spc="-120" dirty="0">
                <a:solidFill>
                  <a:srgbClr val="FFFFFF"/>
                </a:solidFill>
                <a:latin typeface="Arial"/>
                <a:cs typeface="Arial"/>
              </a:rPr>
              <a:t> </a:t>
            </a:r>
            <a:r>
              <a:rPr sz="2000" spc="-175" dirty="0">
                <a:solidFill>
                  <a:srgbClr val="FFFFFF"/>
                </a:solidFill>
                <a:latin typeface="Arial"/>
                <a:cs typeface="Arial"/>
              </a:rPr>
              <a:t>2019.</a:t>
            </a:r>
            <a:endParaRPr sz="2000">
              <a:latin typeface="Arial"/>
              <a:cs typeface="Arial"/>
            </a:endParaRPr>
          </a:p>
        </p:txBody>
      </p:sp>
      <p:grpSp>
        <p:nvGrpSpPr>
          <p:cNvPr id="11" name="object 11"/>
          <p:cNvGrpSpPr/>
          <p:nvPr/>
        </p:nvGrpSpPr>
        <p:grpSpPr>
          <a:xfrm>
            <a:off x="1712976" y="3370326"/>
            <a:ext cx="5687060" cy="2150745"/>
            <a:chOff x="1712976" y="3370326"/>
            <a:chExt cx="5687060" cy="2150745"/>
          </a:xfrm>
        </p:grpSpPr>
        <p:pic>
          <p:nvPicPr>
            <p:cNvPr id="12" name="object 12"/>
            <p:cNvPicPr/>
            <p:nvPr/>
          </p:nvPicPr>
          <p:blipFill>
            <a:blip r:embed="rId6" cstate="print"/>
            <a:stretch>
              <a:fillRect/>
            </a:stretch>
          </p:blipFill>
          <p:spPr>
            <a:xfrm>
              <a:off x="1712976" y="3370326"/>
              <a:ext cx="5686806" cy="884682"/>
            </a:xfrm>
            <a:prstGeom prst="rect">
              <a:avLst/>
            </a:prstGeom>
          </p:spPr>
        </p:pic>
        <p:pic>
          <p:nvPicPr>
            <p:cNvPr id="13" name="object 13"/>
            <p:cNvPicPr/>
            <p:nvPr/>
          </p:nvPicPr>
          <p:blipFill>
            <a:blip r:embed="rId7" cstate="print"/>
            <a:stretch>
              <a:fillRect/>
            </a:stretch>
          </p:blipFill>
          <p:spPr>
            <a:xfrm>
              <a:off x="1712976" y="4192524"/>
              <a:ext cx="5686806" cy="1328166"/>
            </a:xfrm>
            <a:prstGeom prst="rect">
              <a:avLst/>
            </a:prstGeom>
          </p:spPr>
        </p:pic>
      </p:grpSp>
      <p:sp>
        <p:nvSpPr>
          <p:cNvPr id="14" name="object 14"/>
          <p:cNvSpPr txBox="1"/>
          <p:nvPr/>
        </p:nvSpPr>
        <p:spPr>
          <a:xfrm>
            <a:off x="3253740" y="5559044"/>
            <a:ext cx="2454275" cy="238760"/>
          </a:xfrm>
          <a:prstGeom prst="rect">
            <a:avLst/>
          </a:prstGeom>
        </p:spPr>
        <p:txBody>
          <a:bodyPr vert="horz" wrap="square" lIns="0" tIns="12065" rIns="0" bIns="0" rtlCol="0">
            <a:spAutoFit/>
          </a:bodyPr>
          <a:lstStyle/>
          <a:p>
            <a:pPr marL="12700">
              <a:lnSpc>
                <a:spcPct val="100000"/>
              </a:lnSpc>
              <a:spcBef>
                <a:spcPts val="95"/>
              </a:spcBef>
            </a:pPr>
            <a:r>
              <a:rPr sz="1400" b="1" spc="-95" dirty="0">
                <a:latin typeface="Arial"/>
                <a:cs typeface="Arial"/>
              </a:rPr>
              <a:t>Elements </a:t>
            </a:r>
            <a:r>
              <a:rPr sz="1400" b="1" spc="-45" dirty="0">
                <a:latin typeface="Arial"/>
                <a:cs typeface="Arial"/>
              </a:rPr>
              <a:t>of </a:t>
            </a:r>
            <a:r>
              <a:rPr sz="1400" b="1" spc="-20" dirty="0">
                <a:latin typeface="Arial"/>
                <a:cs typeface="Arial"/>
              </a:rPr>
              <a:t>SELECT</a:t>
            </a:r>
            <a:r>
              <a:rPr sz="1400" b="1" spc="-229" dirty="0">
                <a:latin typeface="Arial"/>
                <a:cs typeface="Arial"/>
              </a:rPr>
              <a:t> </a:t>
            </a:r>
            <a:r>
              <a:rPr sz="1400" b="1" spc="-75" dirty="0">
                <a:latin typeface="Arial"/>
                <a:cs typeface="Arial"/>
              </a:rPr>
              <a:t>Statement</a:t>
            </a:r>
            <a:endParaRPr sz="1400">
              <a:latin typeface="Arial"/>
              <a:cs typeface="Arial"/>
            </a:endParaRPr>
          </a:p>
        </p:txBody>
      </p:sp>
      <p:sp>
        <p:nvSpPr>
          <p:cNvPr id="16" name="object 1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26</a:t>
            </a:fld>
            <a:endParaRPr sz="1200"/>
          </a:p>
        </p:txBody>
      </p:sp>
      <p:sp>
        <p:nvSpPr>
          <p:cNvPr id="17" name="object 1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345" y="152400"/>
            <a:ext cx="8594090" cy="412934"/>
          </a:xfrm>
          <a:prstGeom prst="rect">
            <a:avLst/>
          </a:prstGeom>
        </p:spPr>
        <p:txBody>
          <a:bodyPr vert="horz" wrap="square" lIns="0" tIns="12700" rIns="0" bIns="0" rtlCol="0">
            <a:spAutoFit/>
          </a:bodyPr>
          <a:lstStyle/>
          <a:p>
            <a:pPr marL="12700">
              <a:spcBef>
                <a:spcPts val="100"/>
              </a:spcBef>
            </a:pPr>
            <a:r>
              <a:rPr sz="2600" spc="-30" dirty="0"/>
              <a:t>Logical</a:t>
            </a:r>
            <a:r>
              <a:rPr sz="2600" spc="-285" dirty="0"/>
              <a:t> </a:t>
            </a:r>
            <a:r>
              <a:rPr sz="2600" spc="60" dirty="0"/>
              <a:t>Order</a:t>
            </a:r>
            <a:r>
              <a:rPr sz="2600" spc="-265" dirty="0"/>
              <a:t> </a:t>
            </a:r>
            <a:r>
              <a:rPr sz="2600" spc="114" dirty="0"/>
              <a:t>of</a:t>
            </a:r>
            <a:r>
              <a:rPr sz="2600" spc="-290" dirty="0"/>
              <a:t> </a:t>
            </a:r>
            <a:r>
              <a:rPr sz="2600" spc="-35" dirty="0"/>
              <a:t>Operators</a:t>
            </a:r>
            <a:r>
              <a:rPr sz="2600" spc="-280" dirty="0"/>
              <a:t> </a:t>
            </a:r>
            <a:r>
              <a:rPr sz="2600" spc="195"/>
              <a:t>in</a:t>
            </a:r>
            <a:r>
              <a:rPr sz="2600" spc="-270"/>
              <a:t> </a:t>
            </a:r>
            <a:r>
              <a:rPr sz="2600" spc="15"/>
              <a:t>SELECT</a:t>
            </a:r>
            <a:r>
              <a:rPr lang="en-US" sz="2600" spc="15"/>
              <a:t> </a:t>
            </a:r>
            <a:r>
              <a:rPr lang="en-US" sz="2600" spc="-55">
                <a:solidFill>
                  <a:srgbClr val="FFFFFF"/>
                </a:solidFill>
                <a:latin typeface="Arial"/>
                <a:cs typeface="Arial"/>
              </a:rPr>
              <a:t>Statement</a:t>
            </a:r>
            <a:r>
              <a:rPr lang="en-US" sz="2600" spc="-355">
                <a:solidFill>
                  <a:srgbClr val="FFFFFF"/>
                </a:solidFill>
                <a:latin typeface="Arial"/>
                <a:cs typeface="Arial"/>
              </a:rPr>
              <a:t> </a:t>
            </a:r>
            <a:r>
              <a:rPr lang="en-US" sz="2600" spc="-315">
                <a:solidFill>
                  <a:srgbClr val="FFFFFF"/>
                </a:solidFill>
                <a:latin typeface="Arial"/>
                <a:cs typeface="Arial"/>
              </a:rPr>
              <a:t>2-3</a:t>
            </a:r>
            <a:endParaRPr sz="2600" spc="15" dirty="0"/>
          </a:p>
        </p:txBody>
      </p:sp>
      <p:grpSp>
        <p:nvGrpSpPr>
          <p:cNvPr id="4" name="object 4"/>
          <p:cNvGrpSpPr/>
          <p:nvPr/>
        </p:nvGrpSpPr>
        <p:grpSpPr>
          <a:xfrm>
            <a:off x="479298" y="2555760"/>
            <a:ext cx="8228965" cy="3923029"/>
            <a:chOff x="479298" y="2555760"/>
            <a:chExt cx="8228965" cy="3923029"/>
          </a:xfrm>
        </p:grpSpPr>
        <p:pic>
          <p:nvPicPr>
            <p:cNvPr id="5" name="object 5"/>
            <p:cNvPicPr/>
            <p:nvPr/>
          </p:nvPicPr>
          <p:blipFill>
            <a:blip r:embed="rId3" cstate="print"/>
            <a:stretch>
              <a:fillRect/>
            </a:stretch>
          </p:blipFill>
          <p:spPr>
            <a:xfrm>
              <a:off x="479298" y="2555760"/>
              <a:ext cx="8228838" cy="3922776"/>
            </a:xfrm>
            <a:prstGeom prst="rect">
              <a:avLst/>
            </a:prstGeom>
          </p:spPr>
        </p:pic>
        <p:pic>
          <p:nvPicPr>
            <p:cNvPr id="6" name="object 6"/>
            <p:cNvPicPr/>
            <p:nvPr/>
          </p:nvPicPr>
          <p:blipFill>
            <a:blip r:embed="rId4" cstate="print"/>
            <a:stretch>
              <a:fillRect/>
            </a:stretch>
          </p:blipFill>
          <p:spPr>
            <a:xfrm>
              <a:off x="520446" y="2574035"/>
              <a:ext cx="8153400" cy="3847338"/>
            </a:xfrm>
            <a:prstGeom prst="rect">
              <a:avLst/>
            </a:prstGeom>
          </p:spPr>
        </p:pic>
      </p:grpSp>
      <p:sp>
        <p:nvSpPr>
          <p:cNvPr id="7" name="object 7"/>
          <p:cNvSpPr txBox="1"/>
          <p:nvPr/>
        </p:nvSpPr>
        <p:spPr>
          <a:xfrm>
            <a:off x="736345" y="2862580"/>
            <a:ext cx="7887970" cy="3352165"/>
          </a:xfrm>
          <a:prstGeom prst="rect">
            <a:avLst/>
          </a:prstGeom>
        </p:spPr>
        <p:txBody>
          <a:bodyPr vert="horz" wrap="square" lIns="0" tIns="46990" rIns="0" bIns="0" rtlCol="0">
            <a:spAutoFit/>
          </a:bodyPr>
          <a:lstStyle/>
          <a:p>
            <a:pPr marL="12700" marR="6350">
              <a:lnSpc>
                <a:spcPts val="2160"/>
              </a:lnSpc>
              <a:spcBef>
                <a:spcPts val="370"/>
              </a:spcBef>
              <a:tabLst>
                <a:tab pos="392430" algn="l"/>
                <a:tab pos="894715" algn="l"/>
                <a:tab pos="2021839" algn="l"/>
                <a:tab pos="2524760" algn="l"/>
                <a:tab pos="3263265" algn="l"/>
                <a:tab pos="3632835" algn="l"/>
                <a:tab pos="4454525" algn="l"/>
                <a:tab pos="5117465" algn="l"/>
                <a:tab pos="5976620" algn="l"/>
                <a:tab pos="6528434" algn="l"/>
                <a:tab pos="7519034" algn="l"/>
              </a:tabLst>
            </a:pPr>
            <a:r>
              <a:rPr sz="2000" spc="50" dirty="0">
                <a:solidFill>
                  <a:srgbClr val="FFFFFF"/>
                </a:solidFill>
                <a:latin typeface="Arial"/>
                <a:cs typeface="Arial"/>
              </a:rPr>
              <a:t>I</a:t>
            </a:r>
            <a:r>
              <a:rPr sz="2000" spc="110" dirty="0">
                <a:solidFill>
                  <a:srgbClr val="FFFFFF"/>
                </a:solidFill>
                <a:latin typeface="Arial"/>
                <a:cs typeface="Arial"/>
              </a:rPr>
              <a:t>n</a:t>
            </a:r>
            <a:r>
              <a:rPr sz="2000" dirty="0">
                <a:solidFill>
                  <a:srgbClr val="FFFFFF"/>
                </a:solidFill>
                <a:latin typeface="Arial"/>
                <a:cs typeface="Arial"/>
              </a:rPr>
              <a:t>	the	</a:t>
            </a:r>
            <a:r>
              <a:rPr sz="2000" spc="-65" dirty="0">
                <a:solidFill>
                  <a:srgbClr val="FFFFFF"/>
                </a:solidFill>
                <a:latin typeface="Arial"/>
                <a:cs typeface="Arial"/>
              </a:rPr>
              <a:t>exa</a:t>
            </a:r>
            <a:r>
              <a:rPr sz="2000" spc="-95" dirty="0">
                <a:solidFill>
                  <a:srgbClr val="FFFFFF"/>
                </a:solidFill>
                <a:latin typeface="Arial"/>
                <a:cs typeface="Arial"/>
              </a:rPr>
              <a:t>m</a:t>
            </a:r>
            <a:r>
              <a:rPr sz="2000" spc="75" dirty="0">
                <a:solidFill>
                  <a:srgbClr val="FFFFFF"/>
                </a:solidFill>
                <a:latin typeface="Arial"/>
                <a:cs typeface="Arial"/>
              </a:rPr>
              <a:t>p</a:t>
            </a:r>
            <a:r>
              <a:rPr sz="2000" spc="35" dirty="0">
                <a:solidFill>
                  <a:srgbClr val="FFFFFF"/>
                </a:solidFill>
                <a:latin typeface="Arial"/>
                <a:cs typeface="Arial"/>
              </a:rPr>
              <a:t>l</a:t>
            </a:r>
            <a:r>
              <a:rPr sz="2000" spc="-120" dirty="0">
                <a:solidFill>
                  <a:srgbClr val="FFFFFF"/>
                </a:solidFill>
                <a:latin typeface="Arial"/>
                <a:cs typeface="Arial"/>
              </a:rPr>
              <a:t>e,</a:t>
            </a:r>
            <a:r>
              <a:rPr sz="2000" dirty="0">
                <a:solidFill>
                  <a:srgbClr val="FFFFFF"/>
                </a:solidFill>
                <a:latin typeface="Arial"/>
                <a:cs typeface="Arial"/>
              </a:rPr>
              <a:t>	</a:t>
            </a:r>
            <a:r>
              <a:rPr sz="2000" spc="125" dirty="0">
                <a:solidFill>
                  <a:srgbClr val="FFFFFF"/>
                </a:solidFill>
                <a:latin typeface="Arial"/>
                <a:cs typeface="Arial"/>
              </a:rPr>
              <a:t>t</a:t>
            </a:r>
            <a:r>
              <a:rPr sz="2000" spc="-65" dirty="0">
                <a:solidFill>
                  <a:srgbClr val="FFFFFF"/>
                </a:solidFill>
                <a:latin typeface="Arial"/>
                <a:cs typeface="Arial"/>
              </a:rPr>
              <a:t>he</a:t>
            </a:r>
            <a:r>
              <a:rPr sz="2000" dirty="0">
                <a:solidFill>
                  <a:srgbClr val="FFFFFF"/>
                </a:solidFill>
                <a:latin typeface="Arial"/>
                <a:cs typeface="Arial"/>
              </a:rPr>
              <a:t>	</a:t>
            </a:r>
            <a:r>
              <a:rPr sz="2000" spc="20" dirty="0">
                <a:solidFill>
                  <a:srgbClr val="FFFFFF"/>
                </a:solidFill>
                <a:latin typeface="Arial"/>
                <a:cs typeface="Arial"/>
              </a:rPr>
              <a:t>or</a:t>
            </a:r>
            <a:r>
              <a:rPr sz="2000" spc="35" dirty="0">
                <a:solidFill>
                  <a:srgbClr val="FFFFFF"/>
                </a:solidFill>
                <a:latin typeface="Arial"/>
                <a:cs typeface="Arial"/>
              </a:rPr>
              <a:t>d</a:t>
            </a:r>
            <a:r>
              <a:rPr sz="2000" spc="-185" dirty="0">
                <a:solidFill>
                  <a:srgbClr val="FFFFFF"/>
                </a:solidFill>
                <a:latin typeface="Arial"/>
                <a:cs typeface="Arial"/>
              </a:rPr>
              <a:t>e</a:t>
            </a:r>
            <a:r>
              <a:rPr sz="2000" spc="80" dirty="0">
                <a:solidFill>
                  <a:srgbClr val="FFFFFF"/>
                </a:solidFill>
                <a:latin typeface="Arial"/>
                <a:cs typeface="Arial"/>
              </a:rPr>
              <a:t>r</a:t>
            </a:r>
            <a:r>
              <a:rPr sz="2000" dirty="0">
                <a:solidFill>
                  <a:srgbClr val="FFFFFF"/>
                </a:solidFill>
                <a:latin typeface="Arial"/>
                <a:cs typeface="Arial"/>
              </a:rPr>
              <a:t>	</a:t>
            </a:r>
            <a:r>
              <a:rPr sz="2000" spc="95" dirty="0">
                <a:solidFill>
                  <a:srgbClr val="FFFFFF"/>
                </a:solidFill>
                <a:latin typeface="Arial"/>
                <a:cs typeface="Arial"/>
              </a:rPr>
              <a:t>in</a:t>
            </a:r>
            <a:r>
              <a:rPr sz="2000" dirty="0">
                <a:solidFill>
                  <a:srgbClr val="FFFFFF"/>
                </a:solidFill>
                <a:latin typeface="Arial"/>
                <a:cs typeface="Arial"/>
              </a:rPr>
              <a:t>	</a:t>
            </a:r>
            <a:r>
              <a:rPr sz="2000" spc="30" dirty="0">
                <a:solidFill>
                  <a:srgbClr val="FFFFFF"/>
                </a:solidFill>
                <a:latin typeface="Arial"/>
                <a:cs typeface="Arial"/>
              </a:rPr>
              <a:t>whi</a:t>
            </a:r>
            <a:r>
              <a:rPr sz="2000" spc="35" dirty="0">
                <a:solidFill>
                  <a:srgbClr val="FFFFFF"/>
                </a:solidFill>
                <a:latin typeface="Arial"/>
                <a:cs typeface="Arial"/>
              </a:rPr>
              <a:t>c</a:t>
            </a:r>
            <a:r>
              <a:rPr sz="2000" spc="60" dirty="0">
                <a:solidFill>
                  <a:srgbClr val="FFFFFF"/>
                </a:solidFill>
                <a:latin typeface="Arial"/>
                <a:cs typeface="Arial"/>
              </a:rPr>
              <a:t>h</a:t>
            </a:r>
            <a:r>
              <a:rPr sz="2000" dirty="0">
                <a:solidFill>
                  <a:srgbClr val="FFFFFF"/>
                </a:solidFill>
                <a:latin typeface="Arial"/>
                <a:cs typeface="Arial"/>
              </a:rPr>
              <a:t>	</a:t>
            </a:r>
            <a:r>
              <a:rPr sz="2000" spc="20" dirty="0">
                <a:solidFill>
                  <a:srgbClr val="FFFFFF"/>
                </a:solidFill>
                <a:latin typeface="Arial"/>
                <a:cs typeface="Arial"/>
              </a:rPr>
              <a:t>SQ</a:t>
            </a:r>
            <a:r>
              <a:rPr sz="2000" spc="15" dirty="0">
                <a:solidFill>
                  <a:srgbClr val="FFFFFF"/>
                </a:solidFill>
                <a:latin typeface="Arial"/>
                <a:cs typeface="Arial"/>
              </a:rPr>
              <a:t>L</a:t>
            </a:r>
            <a:r>
              <a:rPr sz="2000" dirty="0">
                <a:solidFill>
                  <a:srgbClr val="FFFFFF"/>
                </a:solidFill>
                <a:latin typeface="Arial"/>
                <a:cs typeface="Arial"/>
              </a:rPr>
              <a:t>	</a:t>
            </a:r>
            <a:r>
              <a:rPr sz="2000" spc="-50" dirty="0">
                <a:solidFill>
                  <a:srgbClr val="FFFFFF"/>
                </a:solidFill>
                <a:latin typeface="Arial"/>
                <a:cs typeface="Arial"/>
              </a:rPr>
              <a:t>Ser</a:t>
            </a:r>
            <a:r>
              <a:rPr sz="2000" spc="-45" dirty="0">
                <a:solidFill>
                  <a:srgbClr val="FFFFFF"/>
                </a:solidFill>
                <a:latin typeface="Arial"/>
                <a:cs typeface="Arial"/>
              </a:rPr>
              <a:t>v</a:t>
            </a:r>
            <a:r>
              <a:rPr sz="2000" spc="-50" dirty="0">
                <a:solidFill>
                  <a:srgbClr val="FFFFFF"/>
                </a:solidFill>
                <a:latin typeface="Arial"/>
                <a:cs typeface="Arial"/>
              </a:rPr>
              <a:t>er</a:t>
            </a:r>
            <a:r>
              <a:rPr sz="2000" dirty="0">
                <a:solidFill>
                  <a:srgbClr val="FFFFFF"/>
                </a:solidFill>
                <a:latin typeface="Arial"/>
                <a:cs typeface="Arial"/>
              </a:rPr>
              <a:t>	</a:t>
            </a:r>
            <a:r>
              <a:rPr sz="2000" spc="95" dirty="0">
                <a:solidFill>
                  <a:srgbClr val="FFFFFF"/>
                </a:solidFill>
                <a:latin typeface="Arial"/>
                <a:cs typeface="Arial"/>
              </a:rPr>
              <a:t>will</a:t>
            </a:r>
            <a:r>
              <a:rPr sz="2000" dirty="0">
                <a:solidFill>
                  <a:srgbClr val="FFFFFF"/>
                </a:solidFill>
                <a:latin typeface="Arial"/>
                <a:cs typeface="Arial"/>
              </a:rPr>
              <a:t>	</a:t>
            </a:r>
            <a:r>
              <a:rPr sz="2000" spc="-50" dirty="0">
                <a:solidFill>
                  <a:srgbClr val="FFFFFF"/>
                </a:solidFill>
                <a:latin typeface="Arial"/>
                <a:cs typeface="Arial"/>
              </a:rPr>
              <a:t>e</a:t>
            </a:r>
            <a:r>
              <a:rPr sz="2000" spc="-40" dirty="0">
                <a:solidFill>
                  <a:srgbClr val="FFFFFF"/>
                </a:solidFill>
                <a:latin typeface="Arial"/>
                <a:cs typeface="Arial"/>
              </a:rPr>
              <a:t>x</a:t>
            </a:r>
            <a:r>
              <a:rPr sz="2000" spc="-35" dirty="0">
                <a:solidFill>
                  <a:srgbClr val="FFFFFF"/>
                </a:solidFill>
                <a:latin typeface="Arial"/>
                <a:cs typeface="Arial"/>
              </a:rPr>
              <a:t>ecu</a:t>
            </a:r>
            <a:r>
              <a:rPr sz="2000" spc="-15" dirty="0">
                <a:solidFill>
                  <a:srgbClr val="FFFFFF"/>
                </a:solidFill>
                <a:latin typeface="Arial"/>
                <a:cs typeface="Arial"/>
              </a:rPr>
              <a:t>t</a:t>
            </a:r>
            <a:r>
              <a:rPr sz="2000" spc="-185" dirty="0">
                <a:solidFill>
                  <a:srgbClr val="FFFFFF"/>
                </a:solidFill>
                <a:latin typeface="Arial"/>
                <a:cs typeface="Arial"/>
              </a:rPr>
              <a:t>e</a:t>
            </a:r>
            <a:r>
              <a:rPr sz="2000" dirty="0">
                <a:solidFill>
                  <a:srgbClr val="FFFFFF"/>
                </a:solidFill>
                <a:latin typeface="Arial"/>
                <a:cs typeface="Arial"/>
              </a:rPr>
              <a:t>	the  </a:t>
            </a:r>
            <a:r>
              <a:rPr sz="2000" spc="5" dirty="0">
                <a:solidFill>
                  <a:srgbClr val="FFFFFF"/>
                </a:solidFill>
                <a:latin typeface="Arial"/>
                <a:cs typeface="Arial"/>
              </a:rPr>
              <a:t>SELECT </a:t>
            </a:r>
            <a:r>
              <a:rPr sz="2000" spc="-40" dirty="0">
                <a:solidFill>
                  <a:srgbClr val="FFFFFF"/>
                </a:solidFill>
                <a:latin typeface="Arial"/>
                <a:cs typeface="Arial"/>
              </a:rPr>
              <a:t>statement </a:t>
            </a:r>
            <a:r>
              <a:rPr sz="2000" spc="-50" dirty="0">
                <a:solidFill>
                  <a:srgbClr val="FFFFFF"/>
                </a:solidFill>
                <a:latin typeface="Arial"/>
                <a:cs typeface="Arial"/>
              </a:rPr>
              <a:t>is </a:t>
            </a:r>
            <a:r>
              <a:rPr sz="2000" spc="-204" dirty="0">
                <a:solidFill>
                  <a:srgbClr val="FFFFFF"/>
                </a:solidFill>
                <a:latin typeface="Arial"/>
                <a:cs typeface="Arial"/>
              </a:rPr>
              <a:t>as</a:t>
            </a:r>
            <a:r>
              <a:rPr sz="2000" spc="-420" dirty="0">
                <a:solidFill>
                  <a:srgbClr val="FFFFFF"/>
                </a:solidFill>
                <a:latin typeface="Arial"/>
                <a:cs typeface="Arial"/>
              </a:rPr>
              <a:t> </a:t>
            </a:r>
            <a:r>
              <a:rPr sz="2000" spc="15" dirty="0">
                <a:solidFill>
                  <a:srgbClr val="FFFFFF"/>
                </a:solidFill>
                <a:latin typeface="Arial"/>
                <a:cs typeface="Arial"/>
              </a:rPr>
              <a:t>follows:</a:t>
            </a:r>
            <a:endParaRPr sz="2000">
              <a:latin typeface="Arial"/>
              <a:cs typeface="Arial"/>
            </a:endParaRPr>
          </a:p>
          <a:p>
            <a:pPr marL="12700" marR="5715">
              <a:lnSpc>
                <a:spcPts val="2020"/>
              </a:lnSpc>
              <a:spcBef>
                <a:spcPts val="110"/>
              </a:spcBef>
              <a:buSzPct val="111111"/>
              <a:buAutoNum type="arabicPeriod"/>
              <a:tabLst>
                <a:tab pos="263525" algn="l"/>
              </a:tabLst>
            </a:pPr>
            <a:r>
              <a:rPr sz="1800" spc="-10" dirty="0">
                <a:solidFill>
                  <a:srgbClr val="FFFFFF"/>
                </a:solidFill>
                <a:latin typeface="Arial"/>
                <a:cs typeface="Arial"/>
              </a:rPr>
              <a:t>First, </a:t>
            </a:r>
            <a:r>
              <a:rPr sz="1800" dirty="0">
                <a:solidFill>
                  <a:srgbClr val="FFFFFF"/>
                </a:solidFill>
                <a:latin typeface="Arial"/>
                <a:cs typeface="Arial"/>
              </a:rPr>
              <a:t>the </a:t>
            </a:r>
            <a:r>
              <a:rPr sz="1800" spc="45" dirty="0">
                <a:solidFill>
                  <a:srgbClr val="FFFFFF"/>
                </a:solidFill>
                <a:latin typeface="Arial"/>
                <a:cs typeface="Arial"/>
              </a:rPr>
              <a:t>FROM </a:t>
            </a:r>
            <a:r>
              <a:rPr sz="1800" spc="-80" dirty="0">
                <a:solidFill>
                  <a:srgbClr val="FFFFFF"/>
                </a:solidFill>
                <a:latin typeface="Arial"/>
                <a:cs typeface="Arial"/>
              </a:rPr>
              <a:t>clause </a:t>
            </a:r>
            <a:r>
              <a:rPr sz="1800" spc="-45" dirty="0">
                <a:solidFill>
                  <a:srgbClr val="FFFFFF"/>
                </a:solidFill>
                <a:latin typeface="Arial"/>
                <a:cs typeface="Arial"/>
              </a:rPr>
              <a:t>is evaluated </a:t>
            </a:r>
            <a:r>
              <a:rPr sz="1800" spc="45" dirty="0">
                <a:solidFill>
                  <a:srgbClr val="FFFFFF"/>
                </a:solidFill>
                <a:latin typeface="Arial"/>
                <a:cs typeface="Arial"/>
              </a:rPr>
              <a:t>to </a:t>
            </a:r>
            <a:r>
              <a:rPr sz="1800" spc="-5" dirty="0">
                <a:solidFill>
                  <a:srgbClr val="FFFFFF"/>
                </a:solidFill>
                <a:latin typeface="Arial"/>
                <a:cs typeface="Arial"/>
              </a:rPr>
              <a:t>define </a:t>
            </a:r>
            <a:r>
              <a:rPr sz="1800" dirty="0">
                <a:solidFill>
                  <a:srgbClr val="FFFFFF"/>
                </a:solidFill>
                <a:latin typeface="Arial"/>
                <a:cs typeface="Arial"/>
              </a:rPr>
              <a:t>the </a:t>
            </a:r>
            <a:r>
              <a:rPr sz="1800" spc="-60" dirty="0">
                <a:solidFill>
                  <a:srgbClr val="FFFFFF"/>
                </a:solidFill>
                <a:latin typeface="Arial"/>
                <a:cs typeface="Arial"/>
              </a:rPr>
              <a:t>source </a:t>
            </a:r>
            <a:r>
              <a:rPr sz="1800" spc="-30" dirty="0">
                <a:solidFill>
                  <a:srgbClr val="FFFFFF"/>
                </a:solidFill>
                <a:latin typeface="Arial"/>
                <a:cs typeface="Arial"/>
              </a:rPr>
              <a:t>table </a:t>
            </a:r>
            <a:r>
              <a:rPr sz="1800" spc="25" dirty="0">
                <a:solidFill>
                  <a:srgbClr val="FFFFFF"/>
                </a:solidFill>
                <a:latin typeface="Arial"/>
                <a:cs typeface="Arial"/>
              </a:rPr>
              <a:t>that </a:t>
            </a:r>
            <a:r>
              <a:rPr sz="1800" spc="90" dirty="0">
                <a:solidFill>
                  <a:srgbClr val="FFFFFF"/>
                </a:solidFill>
                <a:latin typeface="Arial"/>
                <a:cs typeface="Arial"/>
              </a:rPr>
              <a:t>will </a:t>
            </a:r>
            <a:r>
              <a:rPr sz="1800" spc="-85" dirty="0">
                <a:solidFill>
                  <a:srgbClr val="FFFFFF"/>
                </a:solidFill>
                <a:latin typeface="Arial"/>
                <a:cs typeface="Arial"/>
              </a:rPr>
              <a:t>be  </a:t>
            </a:r>
            <a:r>
              <a:rPr sz="1800" spc="-20" dirty="0">
                <a:solidFill>
                  <a:srgbClr val="FFFFFF"/>
                </a:solidFill>
                <a:latin typeface="Arial"/>
                <a:cs typeface="Arial"/>
              </a:rPr>
              <a:t>queried.</a:t>
            </a:r>
            <a:endParaRPr sz="1800">
              <a:latin typeface="Arial"/>
              <a:cs typeface="Arial"/>
            </a:endParaRPr>
          </a:p>
          <a:p>
            <a:pPr marL="254000" indent="-241935">
              <a:lnSpc>
                <a:spcPts val="1789"/>
              </a:lnSpc>
              <a:buAutoNum type="arabicPeriod"/>
              <a:tabLst>
                <a:tab pos="254635" algn="l"/>
              </a:tabLst>
            </a:pPr>
            <a:r>
              <a:rPr sz="1800" spc="20" dirty="0">
                <a:solidFill>
                  <a:srgbClr val="FFFFFF"/>
                </a:solidFill>
                <a:latin typeface="Arial"/>
                <a:cs typeface="Arial"/>
              </a:rPr>
              <a:t>Next, </a:t>
            </a:r>
            <a:r>
              <a:rPr sz="1800" dirty="0">
                <a:solidFill>
                  <a:srgbClr val="FFFFFF"/>
                </a:solidFill>
                <a:latin typeface="Arial"/>
                <a:cs typeface="Arial"/>
              </a:rPr>
              <a:t>the </a:t>
            </a:r>
            <a:r>
              <a:rPr sz="1800" spc="35" dirty="0">
                <a:solidFill>
                  <a:srgbClr val="FFFFFF"/>
                </a:solidFill>
                <a:latin typeface="Arial"/>
                <a:cs typeface="Arial"/>
              </a:rPr>
              <a:t>WHERE </a:t>
            </a:r>
            <a:r>
              <a:rPr sz="1800" spc="-80" dirty="0">
                <a:solidFill>
                  <a:srgbClr val="FFFFFF"/>
                </a:solidFill>
                <a:latin typeface="Arial"/>
                <a:cs typeface="Arial"/>
              </a:rPr>
              <a:t>clause </a:t>
            </a:r>
            <a:r>
              <a:rPr sz="1800" spc="-45" dirty="0">
                <a:solidFill>
                  <a:srgbClr val="FFFFFF"/>
                </a:solidFill>
                <a:latin typeface="Arial"/>
                <a:cs typeface="Arial"/>
              </a:rPr>
              <a:t>is evaluated </a:t>
            </a:r>
            <a:r>
              <a:rPr sz="1800" spc="45" dirty="0">
                <a:solidFill>
                  <a:srgbClr val="FFFFFF"/>
                </a:solidFill>
                <a:latin typeface="Arial"/>
                <a:cs typeface="Arial"/>
              </a:rPr>
              <a:t>to </a:t>
            </a:r>
            <a:r>
              <a:rPr sz="1800" spc="60" dirty="0">
                <a:solidFill>
                  <a:srgbClr val="FFFFFF"/>
                </a:solidFill>
                <a:latin typeface="Arial"/>
                <a:cs typeface="Arial"/>
              </a:rPr>
              <a:t>filter </a:t>
            </a:r>
            <a:r>
              <a:rPr sz="1800" dirty="0">
                <a:solidFill>
                  <a:srgbClr val="FFFFFF"/>
                </a:solidFill>
                <a:latin typeface="Arial"/>
                <a:cs typeface="Arial"/>
              </a:rPr>
              <a:t>the </a:t>
            </a:r>
            <a:r>
              <a:rPr sz="1800" spc="-25" dirty="0">
                <a:solidFill>
                  <a:srgbClr val="FFFFFF"/>
                </a:solidFill>
                <a:latin typeface="Arial"/>
                <a:cs typeface="Arial"/>
              </a:rPr>
              <a:t>rows </a:t>
            </a:r>
            <a:r>
              <a:rPr sz="1800" spc="80" dirty="0">
                <a:solidFill>
                  <a:srgbClr val="FFFFFF"/>
                </a:solidFill>
                <a:latin typeface="Arial"/>
                <a:cs typeface="Arial"/>
              </a:rPr>
              <a:t>in </a:t>
            </a:r>
            <a:r>
              <a:rPr sz="1800" dirty="0">
                <a:solidFill>
                  <a:srgbClr val="FFFFFF"/>
                </a:solidFill>
                <a:latin typeface="Arial"/>
                <a:cs typeface="Arial"/>
              </a:rPr>
              <a:t>the</a:t>
            </a:r>
            <a:r>
              <a:rPr sz="1800" spc="140" dirty="0">
                <a:solidFill>
                  <a:srgbClr val="FFFFFF"/>
                </a:solidFill>
                <a:latin typeface="Arial"/>
                <a:cs typeface="Arial"/>
              </a:rPr>
              <a:t> </a:t>
            </a:r>
            <a:r>
              <a:rPr sz="1800" spc="-60" dirty="0">
                <a:solidFill>
                  <a:srgbClr val="FFFFFF"/>
                </a:solidFill>
                <a:latin typeface="Arial"/>
                <a:cs typeface="Arial"/>
              </a:rPr>
              <a:t>source </a:t>
            </a:r>
            <a:r>
              <a:rPr sz="1800" spc="-35" dirty="0">
                <a:solidFill>
                  <a:srgbClr val="FFFFFF"/>
                </a:solidFill>
                <a:latin typeface="Arial"/>
                <a:cs typeface="Arial"/>
              </a:rPr>
              <a:t>table.</a:t>
            </a:r>
            <a:endParaRPr sz="1800">
              <a:latin typeface="Arial"/>
              <a:cs typeface="Arial"/>
            </a:endParaRPr>
          </a:p>
          <a:p>
            <a:pPr marL="12700">
              <a:lnSpc>
                <a:spcPts val="1945"/>
              </a:lnSpc>
            </a:pPr>
            <a:r>
              <a:rPr sz="1800" spc="35" dirty="0">
                <a:solidFill>
                  <a:srgbClr val="FFFFFF"/>
                </a:solidFill>
                <a:latin typeface="Arial"/>
                <a:cs typeface="Arial"/>
              </a:rPr>
              <a:t>This</a:t>
            </a:r>
            <a:r>
              <a:rPr sz="1800" spc="-110" dirty="0">
                <a:solidFill>
                  <a:srgbClr val="FFFFFF"/>
                </a:solidFill>
                <a:latin typeface="Arial"/>
                <a:cs typeface="Arial"/>
              </a:rPr>
              <a:t> </a:t>
            </a:r>
            <a:r>
              <a:rPr sz="1800" spc="45" dirty="0">
                <a:solidFill>
                  <a:srgbClr val="FFFFFF"/>
                </a:solidFill>
                <a:latin typeface="Arial"/>
                <a:cs typeface="Arial"/>
              </a:rPr>
              <a:t>filtering</a:t>
            </a:r>
            <a:r>
              <a:rPr sz="1800" spc="-125" dirty="0">
                <a:solidFill>
                  <a:srgbClr val="FFFFFF"/>
                </a:solidFill>
                <a:latin typeface="Arial"/>
                <a:cs typeface="Arial"/>
              </a:rPr>
              <a:t> </a:t>
            </a:r>
            <a:r>
              <a:rPr sz="1800" spc="-45" dirty="0">
                <a:solidFill>
                  <a:srgbClr val="FFFFFF"/>
                </a:solidFill>
                <a:latin typeface="Arial"/>
                <a:cs typeface="Arial"/>
              </a:rPr>
              <a:t>is</a:t>
            </a:r>
            <a:r>
              <a:rPr sz="1800" spc="-105" dirty="0">
                <a:solidFill>
                  <a:srgbClr val="FFFFFF"/>
                </a:solidFill>
                <a:latin typeface="Arial"/>
                <a:cs typeface="Arial"/>
              </a:rPr>
              <a:t> </a:t>
            </a:r>
            <a:r>
              <a:rPr sz="1800" dirty="0">
                <a:solidFill>
                  <a:srgbClr val="FFFFFF"/>
                </a:solidFill>
                <a:latin typeface="Arial"/>
                <a:cs typeface="Arial"/>
              </a:rPr>
              <a:t>defined</a:t>
            </a:r>
            <a:r>
              <a:rPr sz="1800" spc="-130" dirty="0">
                <a:solidFill>
                  <a:srgbClr val="FFFFFF"/>
                </a:solidFill>
                <a:latin typeface="Arial"/>
                <a:cs typeface="Arial"/>
              </a:rPr>
              <a:t> </a:t>
            </a:r>
            <a:r>
              <a:rPr sz="1800" spc="-10" dirty="0">
                <a:solidFill>
                  <a:srgbClr val="FFFFFF"/>
                </a:solidFill>
                <a:latin typeface="Arial"/>
                <a:cs typeface="Arial"/>
              </a:rPr>
              <a:t>by</a:t>
            </a:r>
            <a:r>
              <a:rPr sz="1800" spc="-110"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30" dirty="0">
                <a:solidFill>
                  <a:srgbClr val="FFFFFF"/>
                </a:solidFill>
                <a:latin typeface="Arial"/>
                <a:cs typeface="Arial"/>
              </a:rPr>
              <a:t>predicate</a:t>
            </a:r>
            <a:r>
              <a:rPr sz="1800" spc="-125" dirty="0">
                <a:solidFill>
                  <a:srgbClr val="FFFFFF"/>
                </a:solidFill>
                <a:latin typeface="Arial"/>
                <a:cs typeface="Arial"/>
              </a:rPr>
              <a:t> </a:t>
            </a:r>
            <a:r>
              <a:rPr sz="1800" dirty="0">
                <a:solidFill>
                  <a:srgbClr val="FFFFFF"/>
                </a:solidFill>
                <a:latin typeface="Arial"/>
                <a:cs typeface="Arial"/>
              </a:rPr>
              <a:t>mentioned</a:t>
            </a:r>
            <a:r>
              <a:rPr sz="1800" spc="-130" dirty="0">
                <a:solidFill>
                  <a:srgbClr val="FFFFFF"/>
                </a:solidFill>
                <a:latin typeface="Arial"/>
                <a:cs typeface="Arial"/>
              </a:rPr>
              <a:t> </a:t>
            </a:r>
            <a:r>
              <a:rPr sz="1800" spc="80" dirty="0">
                <a:solidFill>
                  <a:srgbClr val="FFFFFF"/>
                </a:solidFill>
                <a:latin typeface="Arial"/>
                <a:cs typeface="Arial"/>
              </a:rPr>
              <a:t>in</a:t>
            </a:r>
            <a:r>
              <a:rPr sz="1800" spc="-114"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35" dirty="0">
                <a:solidFill>
                  <a:srgbClr val="FFFFFF"/>
                </a:solidFill>
                <a:latin typeface="Arial"/>
                <a:cs typeface="Arial"/>
              </a:rPr>
              <a:t>WHERE</a:t>
            </a:r>
            <a:r>
              <a:rPr sz="1800" spc="-114" dirty="0">
                <a:solidFill>
                  <a:srgbClr val="FFFFFF"/>
                </a:solidFill>
                <a:latin typeface="Arial"/>
                <a:cs typeface="Arial"/>
              </a:rPr>
              <a:t> </a:t>
            </a:r>
            <a:r>
              <a:rPr sz="1800" spc="-75" dirty="0">
                <a:solidFill>
                  <a:srgbClr val="FFFFFF"/>
                </a:solidFill>
                <a:latin typeface="Arial"/>
                <a:cs typeface="Arial"/>
              </a:rPr>
              <a:t>clause.</a:t>
            </a:r>
            <a:endParaRPr sz="1800">
              <a:latin typeface="Arial"/>
              <a:cs typeface="Arial"/>
            </a:endParaRPr>
          </a:p>
          <a:p>
            <a:pPr marL="12700" marR="6350">
              <a:lnSpc>
                <a:spcPts val="1939"/>
              </a:lnSpc>
              <a:spcBef>
                <a:spcPts val="140"/>
              </a:spcBef>
              <a:buAutoNum type="arabicPeriod" startAt="3"/>
              <a:tabLst>
                <a:tab pos="271780" algn="l"/>
              </a:tabLst>
            </a:pPr>
            <a:r>
              <a:rPr sz="1800" spc="80" dirty="0">
                <a:solidFill>
                  <a:srgbClr val="FFFFFF"/>
                </a:solidFill>
                <a:latin typeface="Arial"/>
                <a:cs typeface="Arial"/>
              </a:rPr>
              <a:t>After </a:t>
            </a:r>
            <a:r>
              <a:rPr sz="1800" spc="5" dirty="0">
                <a:solidFill>
                  <a:srgbClr val="FFFFFF"/>
                </a:solidFill>
                <a:latin typeface="Arial"/>
                <a:cs typeface="Arial"/>
              </a:rPr>
              <a:t>this, </a:t>
            </a:r>
            <a:r>
              <a:rPr sz="1800" dirty="0">
                <a:solidFill>
                  <a:srgbClr val="FFFFFF"/>
                </a:solidFill>
                <a:latin typeface="Arial"/>
                <a:cs typeface="Arial"/>
              </a:rPr>
              <a:t>the </a:t>
            </a:r>
            <a:r>
              <a:rPr sz="1800" spc="35" dirty="0">
                <a:solidFill>
                  <a:srgbClr val="FFFFFF"/>
                </a:solidFill>
                <a:latin typeface="Arial"/>
                <a:cs typeface="Arial"/>
              </a:rPr>
              <a:t>GROUP </a:t>
            </a:r>
            <a:r>
              <a:rPr sz="1800" spc="5" dirty="0">
                <a:solidFill>
                  <a:srgbClr val="FFFFFF"/>
                </a:solidFill>
                <a:latin typeface="Arial"/>
                <a:cs typeface="Arial"/>
              </a:rPr>
              <a:t>BY </a:t>
            </a:r>
            <a:r>
              <a:rPr sz="1800" spc="-80" dirty="0">
                <a:solidFill>
                  <a:srgbClr val="FFFFFF"/>
                </a:solidFill>
                <a:latin typeface="Arial"/>
                <a:cs typeface="Arial"/>
              </a:rPr>
              <a:t>clause </a:t>
            </a:r>
            <a:r>
              <a:rPr sz="1800" spc="-45" dirty="0">
                <a:solidFill>
                  <a:srgbClr val="FFFFFF"/>
                </a:solidFill>
                <a:latin typeface="Arial"/>
                <a:cs typeface="Arial"/>
              </a:rPr>
              <a:t>is evaluated. </a:t>
            </a:r>
            <a:r>
              <a:rPr sz="1800" spc="35" dirty="0">
                <a:solidFill>
                  <a:srgbClr val="FFFFFF"/>
                </a:solidFill>
                <a:latin typeface="Arial"/>
                <a:cs typeface="Arial"/>
              </a:rPr>
              <a:t>This </a:t>
            </a:r>
            <a:r>
              <a:rPr sz="1800" spc="-80" dirty="0">
                <a:solidFill>
                  <a:srgbClr val="FFFFFF"/>
                </a:solidFill>
                <a:latin typeface="Arial"/>
                <a:cs typeface="Arial"/>
              </a:rPr>
              <a:t>clause arranges </a:t>
            </a:r>
            <a:r>
              <a:rPr sz="1800" dirty="0">
                <a:solidFill>
                  <a:srgbClr val="FFFFFF"/>
                </a:solidFill>
                <a:latin typeface="Arial"/>
                <a:cs typeface="Arial"/>
              </a:rPr>
              <a:t>the  </a:t>
            </a:r>
            <a:r>
              <a:rPr sz="1800" spc="25" dirty="0">
                <a:solidFill>
                  <a:srgbClr val="FFFFFF"/>
                </a:solidFill>
                <a:latin typeface="Arial"/>
                <a:cs typeface="Arial"/>
              </a:rPr>
              <a:t>filtered </a:t>
            </a:r>
            <a:r>
              <a:rPr sz="1800" spc="-60" dirty="0">
                <a:solidFill>
                  <a:srgbClr val="FFFFFF"/>
                </a:solidFill>
                <a:latin typeface="Arial"/>
                <a:cs typeface="Arial"/>
              </a:rPr>
              <a:t>values </a:t>
            </a:r>
            <a:r>
              <a:rPr sz="1800" spc="-45" dirty="0">
                <a:solidFill>
                  <a:srgbClr val="FFFFFF"/>
                </a:solidFill>
                <a:latin typeface="Arial"/>
                <a:cs typeface="Arial"/>
              </a:rPr>
              <a:t>received </a:t>
            </a:r>
            <a:r>
              <a:rPr sz="1800" spc="40" dirty="0">
                <a:solidFill>
                  <a:srgbClr val="FFFFFF"/>
                </a:solidFill>
                <a:latin typeface="Arial"/>
                <a:cs typeface="Arial"/>
              </a:rPr>
              <a:t>from </a:t>
            </a:r>
            <a:r>
              <a:rPr sz="1800" dirty="0">
                <a:solidFill>
                  <a:srgbClr val="FFFFFF"/>
                </a:solidFill>
                <a:latin typeface="Arial"/>
                <a:cs typeface="Arial"/>
              </a:rPr>
              <a:t>the </a:t>
            </a:r>
            <a:r>
              <a:rPr sz="1800" spc="35" dirty="0">
                <a:solidFill>
                  <a:srgbClr val="FFFFFF"/>
                </a:solidFill>
                <a:latin typeface="Arial"/>
                <a:cs typeface="Arial"/>
              </a:rPr>
              <a:t>WHERE</a:t>
            </a:r>
            <a:r>
              <a:rPr sz="1800" spc="-295" dirty="0">
                <a:solidFill>
                  <a:srgbClr val="FFFFFF"/>
                </a:solidFill>
                <a:latin typeface="Arial"/>
                <a:cs typeface="Arial"/>
              </a:rPr>
              <a:t> </a:t>
            </a:r>
            <a:r>
              <a:rPr sz="1800" spc="-75" dirty="0">
                <a:solidFill>
                  <a:srgbClr val="FFFFFF"/>
                </a:solidFill>
                <a:latin typeface="Arial"/>
                <a:cs typeface="Arial"/>
              </a:rPr>
              <a:t>clause.</a:t>
            </a:r>
            <a:endParaRPr sz="1800">
              <a:latin typeface="Arial"/>
              <a:cs typeface="Arial"/>
            </a:endParaRPr>
          </a:p>
          <a:p>
            <a:pPr marL="12700" marR="5715">
              <a:lnSpc>
                <a:spcPts val="1939"/>
              </a:lnSpc>
              <a:spcBef>
                <a:spcPts val="10"/>
              </a:spcBef>
              <a:buAutoNum type="arabicPeriod" startAt="3"/>
              <a:tabLst>
                <a:tab pos="313055" algn="l"/>
                <a:tab pos="313690" algn="l"/>
                <a:tab pos="990600" algn="l"/>
                <a:tab pos="1438275" algn="l"/>
                <a:tab pos="2560955" algn="l"/>
                <a:tab pos="3289935" algn="l"/>
                <a:tab pos="3573145" algn="l"/>
                <a:tab pos="4643755" algn="l"/>
                <a:tab pos="5327650" algn="l"/>
                <a:tab pos="5716270" algn="l"/>
                <a:tab pos="6162675" algn="l"/>
                <a:tab pos="7196455" algn="l"/>
                <a:tab pos="7719695" algn="l"/>
              </a:tabLst>
            </a:pPr>
            <a:r>
              <a:rPr sz="1800" spc="25" dirty="0">
                <a:solidFill>
                  <a:srgbClr val="FFFFFF"/>
                </a:solidFill>
                <a:latin typeface="Arial"/>
                <a:cs typeface="Arial"/>
              </a:rPr>
              <a:t>Next,	</a:t>
            </a:r>
            <a:r>
              <a:rPr sz="1800" dirty="0">
                <a:solidFill>
                  <a:srgbClr val="FFFFFF"/>
                </a:solidFill>
                <a:latin typeface="Arial"/>
                <a:cs typeface="Arial"/>
              </a:rPr>
              <a:t>the	</a:t>
            </a:r>
            <a:r>
              <a:rPr sz="1800" spc="155" dirty="0">
                <a:solidFill>
                  <a:srgbClr val="FFFFFF"/>
                </a:solidFill>
                <a:latin typeface="Arial"/>
                <a:cs typeface="Arial"/>
              </a:rPr>
              <a:t>HAVING	</a:t>
            </a:r>
            <a:r>
              <a:rPr sz="1800" spc="-80" dirty="0">
                <a:solidFill>
                  <a:srgbClr val="FFFFFF"/>
                </a:solidFill>
                <a:latin typeface="Arial"/>
                <a:cs typeface="Arial"/>
              </a:rPr>
              <a:t>clause	</a:t>
            </a:r>
            <a:r>
              <a:rPr sz="1800" spc="-30" dirty="0">
                <a:solidFill>
                  <a:srgbClr val="FFFFFF"/>
                </a:solidFill>
                <a:latin typeface="Arial"/>
                <a:cs typeface="Arial"/>
              </a:rPr>
              <a:t>i</a:t>
            </a:r>
            <a:r>
              <a:rPr sz="1800" spc="-60" dirty="0">
                <a:solidFill>
                  <a:srgbClr val="FFFFFF"/>
                </a:solidFill>
                <a:latin typeface="Arial"/>
                <a:cs typeface="Arial"/>
              </a:rPr>
              <a:t>s</a:t>
            </a:r>
            <a:r>
              <a:rPr sz="1800" dirty="0">
                <a:solidFill>
                  <a:srgbClr val="FFFFFF"/>
                </a:solidFill>
                <a:latin typeface="Arial"/>
                <a:cs typeface="Arial"/>
              </a:rPr>
              <a:t>	</a:t>
            </a:r>
            <a:r>
              <a:rPr sz="1800" spc="-100" dirty="0">
                <a:solidFill>
                  <a:srgbClr val="FFFFFF"/>
                </a:solidFill>
                <a:latin typeface="Arial"/>
                <a:cs typeface="Arial"/>
              </a:rPr>
              <a:t>ev</a:t>
            </a:r>
            <a:r>
              <a:rPr sz="1800" spc="-114" dirty="0">
                <a:solidFill>
                  <a:srgbClr val="FFFFFF"/>
                </a:solidFill>
                <a:latin typeface="Arial"/>
                <a:cs typeface="Arial"/>
              </a:rPr>
              <a:t>a</a:t>
            </a:r>
            <a:r>
              <a:rPr sz="1800" spc="-10" dirty="0">
                <a:solidFill>
                  <a:srgbClr val="FFFFFF"/>
                </a:solidFill>
                <a:latin typeface="Arial"/>
                <a:cs typeface="Arial"/>
              </a:rPr>
              <a:t>lu</a:t>
            </a:r>
            <a:r>
              <a:rPr sz="1800" spc="-30" dirty="0">
                <a:solidFill>
                  <a:srgbClr val="FFFFFF"/>
                </a:solidFill>
                <a:latin typeface="Arial"/>
                <a:cs typeface="Arial"/>
              </a:rPr>
              <a:t>a</a:t>
            </a:r>
            <a:r>
              <a:rPr sz="1800" spc="-20" dirty="0">
                <a:solidFill>
                  <a:srgbClr val="FFFFFF"/>
                </a:solidFill>
                <a:latin typeface="Arial"/>
                <a:cs typeface="Arial"/>
              </a:rPr>
              <a:t>t</a:t>
            </a:r>
            <a:r>
              <a:rPr sz="1800" spc="-45" dirty="0">
                <a:solidFill>
                  <a:srgbClr val="FFFFFF"/>
                </a:solidFill>
                <a:latin typeface="Arial"/>
                <a:cs typeface="Arial"/>
              </a:rPr>
              <a:t>e</a:t>
            </a:r>
            <a:r>
              <a:rPr sz="1800" spc="15" dirty="0">
                <a:solidFill>
                  <a:srgbClr val="FFFFFF"/>
                </a:solidFill>
                <a:latin typeface="Arial"/>
                <a:cs typeface="Arial"/>
              </a:rPr>
              <a:t>d</a:t>
            </a:r>
            <a:r>
              <a:rPr sz="1800" dirty="0">
                <a:solidFill>
                  <a:srgbClr val="FFFFFF"/>
                </a:solidFill>
                <a:latin typeface="Arial"/>
                <a:cs typeface="Arial"/>
              </a:rPr>
              <a:t>	</a:t>
            </a:r>
            <a:r>
              <a:rPr sz="1800" spc="-110" dirty="0">
                <a:solidFill>
                  <a:srgbClr val="FFFFFF"/>
                </a:solidFill>
                <a:latin typeface="Arial"/>
                <a:cs typeface="Arial"/>
              </a:rPr>
              <a:t>based</a:t>
            </a:r>
            <a:r>
              <a:rPr sz="1800" dirty="0">
                <a:solidFill>
                  <a:srgbClr val="FFFFFF"/>
                </a:solidFill>
                <a:latin typeface="Arial"/>
                <a:cs typeface="Arial"/>
              </a:rPr>
              <a:t>	</a:t>
            </a:r>
            <a:r>
              <a:rPr sz="1800" spc="15" dirty="0">
                <a:solidFill>
                  <a:srgbClr val="FFFFFF"/>
                </a:solidFill>
                <a:latin typeface="Arial"/>
                <a:cs typeface="Arial"/>
              </a:rPr>
              <a:t>o</a:t>
            </a:r>
            <a:r>
              <a:rPr sz="1800" spc="20" dirty="0">
                <a:solidFill>
                  <a:srgbClr val="FFFFFF"/>
                </a:solidFill>
                <a:latin typeface="Arial"/>
                <a:cs typeface="Arial"/>
              </a:rPr>
              <a:t>n</a:t>
            </a:r>
            <a:r>
              <a:rPr sz="1800" dirty="0">
                <a:solidFill>
                  <a:srgbClr val="FFFFFF"/>
                </a:solidFill>
                <a:latin typeface="Arial"/>
                <a:cs typeface="Arial"/>
              </a:rPr>
              <a:t>	the	</a:t>
            </a:r>
            <a:r>
              <a:rPr sz="1800" spc="45" dirty="0">
                <a:solidFill>
                  <a:srgbClr val="FFFFFF"/>
                </a:solidFill>
                <a:latin typeface="Arial"/>
                <a:cs typeface="Arial"/>
              </a:rPr>
              <a:t>p</a:t>
            </a:r>
            <a:r>
              <a:rPr sz="1800" spc="30" dirty="0">
                <a:solidFill>
                  <a:srgbClr val="FFFFFF"/>
                </a:solidFill>
                <a:latin typeface="Arial"/>
                <a:cs typeface="Arial"/>
              </a:rPr>
              <a:t>r</a:t>
            </a:r>
            <a:r>
              <a:rPr sz="1800" spc="-60" dirty="0">
                <a:solidFill>
                  <a:srgbClr val="FFFFFF"/>
                </a:solidFill>
                <a:latin typeface="Arial"/>
                <a:cs typeface="Arial"/>
              </a:rPr>
              <a:t>edic</a:t>
            </a:r>
            <a:r>
              <a:rPr sz="1800" spc="-85" dirty="0">
                <a:solidFill>
                  <a:srgbClr val="FFFFFF"/>
                </a:solidFill>
                <a:latin typeface="Arial"/>
                <a:cs typeface="Arial"/>
              </a:rPr>
              <a:t>a</a:t>
            </a:r>
            <a:r>
              <a:rPr sz="1800" spc="-25" dirty="0">
                <a:solidFill>
                  <a:srgbClr val="FFFFFF"/>
                </a:solidFill>
                <a:latin typeface="Arial"/>
                <a:cs typeface="Arial"/>
              </a:rPr>
              <a:t>te</a:t>
            </a:r>
            <a:r>
              <a:rPr sz="1800" dirty="0">
                <a:solidFill>
                  <a:srgbClr val="FFFFFF"/>
                </a:solidFill>
                <a:latin typeface="Arial"/>
                <a:cs typeface="Arial"/>
              </a:rPr>
              <a:t>	</a:t>
            </a:r>
            <a:r>
              <a:rPr sz="1800" spc="25" dirty="0">
                <a:solidFill>
                  <a:srgbClr val="FFFFFF"/>
                </a:solidFill>
                <a:latin typeface="Arial"/>
                <a:cs typeface="Arial"/>
              </a:rPr>
              <a:t>that</a:t>
            </a:r>
            <a:r>
              <a:rPr sz="1800" dirty="0">
                <a:solidFill>
                  <a:srgbClr val="FFFFFF"/>
                </a:solidFill>
                <a:latin typeface="Arial"/>
                <a:cs typeface="Arial"/>
              </a:rPr>
              <a:t>	</a:t>
            </a:r>
            <a:r>
              <a:rPr sz="1800" spc="-45" dirty="0">
                <a:solidFill>
                  <a:srgbClr val="FFFFFF"/>
                </a:solidFill>
                <a:latin typeface="Arial"/>
                <a:cs typeface="Arial"/>
              </a:rPr>
              <a:t>is  </a:t>
            </a:r>
            <a:r>
              <a:rPr sz="1800" dirty="0">
                <a:solidFill>
                  <a:srgbClr val="FFFFFF"/>
                </a:solidFill>
                <a:latin typeface="Arial"/>
                <a:cs typeface="Arial"/>
              </a:rPr>
              <a:t>provided.</a:t>
            </a:r>
            <a:endParaRPr sz="1800">
              <a:latin typeface="Arial"/>
              <a:cs typeface="Arial"/>
            </a:endParaRPr>
          </a:p>
          <a:p>
            <a:pPr marL="247650" indent="-235585">
              <a:lnSpc>
                <a:spcPts val="1814"/>
              </a:lnSpc>
              <a:buAutoNum type="arabicPeriod" startAt="3"/>
              <a:tabLst>
                <a:tab pos="248285" algn="l"/>
              </a:tabLst>
            </a:pPr>
            <a:r>
              <a:rPr sz="1800" spc="20" dirty="0">
                <a:solidFill>
                  <a:srgbClr val="FFFFFF"/>
                </a:solidFill>
                <a:latin typeface="Arial"/>
                <a:cs typeface="Arial"/>
              </a:rPr>
              <a:t>Next, </a:t>
            </a:r>
            <a:r>
              <a:rPr sz="1800" dirty="0">
                <a:solidFill>
                  <a:srgbClr val="FFFFFF"/>
                </a:solidFill>
                <a:latin typeface="Arial"/>
                <a:cs typeface="Arial"/>
              </a:rPr>
              <a:t>the </a:t>
            </a:r>
            <a:r>
              <a:rPr sz="1800" spc="5" dirty="0">
                <a:solidFill>
                  <a:srgbClr val="FFFFFF"/>
                </a:solidFill>
                <a:latin typeface="Arial"/>
                <a:cs typeface="Arial"/>
              </a:rPr>
              <a:t>SELECT </a:t>
            </a:r>
            <a:r>
              <a:rPr sz="1800" spc="-80" dirty="0">
                <a:solidFill>
                  <a:srgbClr val="FFFFFF"/>
                </a:solidFill>
                <a:latin typeface="Arial"/>
                <a:cs typeface="Arial"/>
              </a:rPr>
              <a:t>clause </a:t>
            </a:r>
            <a:r>
              <a:rPr sz="1800" spc="-40" dirty="0">
                <a:solidFill>
                  <a:srgbClr val="FFFFFF"/>
                </a:solidFill>
                <a:latin typeface="Arial"/>
                <a:cs typeface="Arial"/>
              </a:rPr>
              <a:t>is </a:t>
            </a:r>
            <a:r>
              <a:rPr sz="1800" spc="-45" dirty="0">
                <a:solidFill>
                  <a:srgbClr val="FFFFFF"/>
                </a:solidFill>
                <a:latin typeface="Arial"/>
                <a:cs typeface="Arial"/>
              </a:rPr>
              <a:t>executed </a:t>
            </a:r>
            <a:r>
              <a:rPr sz="1800" spc="45" dirty="0">
                <a:solidFill>
                  <a:srgbClr val="FFFFFF"/>
                </a:solidFill>
                <a:latin typeface="Arial"/>
                <a:cs typeface="Arial"/>
              </a:rPr>
              <a:t>to </a:t>
            </a:r>
            <a:r>
              <a:rPr sz="1800" spc="-15" dirty="0">
                <a:solidFill>
                  <a:srgbClr val="FFFFFF"/>
                </a:solidFill>
                <a:latin typeface="Arial"/>
                <a:cs typeface="Arial"/>
              </a:rPr>
              <a:t>determine </a:t>
            </a:r>
            <a:r>
              <a:rPr sz="1800" dirty="0">
                <a:solidFill>
                  <a:srgbClr val="FFFFFF"/>
                </a:solidFill>
                <a:latin typeface="Arial"/>
                <a:cs typeface="Arial"/>
              </a:rPr>
              <a:t>the </a:t>
            </a:r>
            <a:r>
              <a:rPr sz="1800" spc="-15" dirty="0">
                <a:solidFill>
                  <a:srgbClr val="FFFFFF"/>
                </a:solidFill>
                <a:latin typeface="Arial"/>
                <a:cs typeface="Arial"/>
              </a:rPr>
              <a:t>columns</a:t>
            </a:r>
            <a:r>
              <a:rPr sz="1800" spc="-70" dirty="0">
                <a:solidFill>
                  <a:srgbClr val="FFFFFF"/>
                </a:solidFill>
                <a:latin typeface="Arial"/>
                <a:cs typeface="Arial"/>
              </a:rPr>
              <a:t> </a:t>
            </a:r>
            <a:r>
              <a:rPr sz="1800" spc="25" dirty="0">
                <a:solidFill>
                  <a:srgbClr val="FFFFFF"/>
                </a:solidFill>
                <a:latin typeface="Arial"/>
                <a:cs typeface="Arial"/>
              </a:rPr>
              <a:t>that </a:t>
            </a:r>
            <a:r>
              <a:rPr sz="1800" spc="85" dirty="0">
                <a:solidFill>
                  <a:srgbClr val="FFFFFF"/>
                </a:solidFill>
                <a:latin typeface="Arial"/>
                <a:cs typeface="Arial"/>
              </a:rPr>
              <a:t>will</a:t>
            </a:r>
            <a:endParaRPr sz="1800">
              <a:latin typeface="Arial"/>
              <a:cs typeface="Arial"/>
            </a:endParaRPr>
          </a:p>
          <a:p>
            <a:pPr marL="12700">
              <a:lnSpc>
                <a:spcPts val="1945"/>
              </a:lnSpc>
            </a:pPr>
            <a:r>
              <a:rPr sz="1800" spc="-75" dirty="0">
                <a:solidFill>
                  <a:srgbClr val="FFFFFF"/>
                </a:solidFill>
                <a:latin typeface="Arial"/>
                <a:cs typeface="Arial"/>
              </a:rPr>
              <a:t>appear</a:t>
            </a:r>
            <a:r>
              <a:rPr sz="1800" spc="-130" dirty="0">
                <a:solidFill>
                  <a:srgbClr val="FFFFFF"/>
                </a:solidFill>
                <a:latin typeface="Arial"/>
                <a:cs typeface="Arial"/>
              </a:rPr>
              <a:t> </a:t>
            </a:r>
            <a:r>
              <a:rPr sz="1800" spc="80" dirty="0">
                <a:solidFill>
                  <a:srgbClr val="FFFFFF"/>
                </a:solidFill>
                <a:latin typeface="Arial"/>
                <a:cs typeface="Arial"/>
              </a:rPr>
              <a:t>in</a:t>
            </a:r>
            <a:r>
              <a:rPr sz="1800" spc="-114"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10" dirty="0">
                <a:solidFill>
                  <a:srgbClr val="FFFFFF"/>
                </a:solidFill>
                <a:latin typeface="Arial"/>
                <a:cs typeface="Arial"/>
              </a:rPr>
              <a:t>query</a:t>
            </a:r>
            <a:r>
              <a:rPr sz="1800" spc="-120" dirty="0">
                <a:solidFill>
                  <a:srgbClr val="FFFFFF"/>
                </a:solidFill>
                <a:latin typeface="Arial"/>
                <a:cs typeface="Arial"/>
              </a:rPr>
              <a:t> </a:t>
            </a:r>
            <a:r>
              <a:rPr sz="1800" spc="-35" dirty="0">
                <a:solidFill>
                  <a:srgbClr val="FFFFFF"/>
                </a:solidFill>
                <a:latin typeface="Arial"/>
                <a:cs typeface="Arial"/>
              </a:rPr>
              <a:t>results.</a:t>
            </a:r>
            <a:endParaRPr sz="1800">
              <a:latin typeface="Arial"/>
              <a:cs typeface="Arial"/>
            </a:endParaRPr>
          </a:p>
          <a:p>
            <a:pPr marL="233679" indent="-220979">
              <a:lnSpc>
                <a:spcPts val="2050"/>
              </a:lnSpc>
              <a:buAutoNum type="arabicPeriod" startAt="6"/>
              <a:tabLst>
                <a:tab pos="233679" algn="l"/>
              </a:tabLst>
            </a:pPr>
            <a:r>
              <a:rPr sz="1800" spc="5" dirty="0">
                <a:solidFill>
                  <a:srgbClr val="FFFFFF"/>
                </a:solidFill>
                <a:latin typeface="Arial"/>
                <a:cs typeface="Arial"/>
              </a:rPr>
              <a:t>Finally,</a:t>
            </a:r>
            <a:r>
              <a:rPr sz="1800" spc="-110"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25" dirty="0">
                <a:solidFill>
                  <a:srgbClr val="FFFFFF"/>
                </a:solidFill>
                <a:latin typeface="Arial"/>
                <a:cs typeface="Arial"/>
              </a:rPr>
              <a:t>ORDER</a:t>
            </a:r>
            <a:r>
              <a:rPr sz="1800" spc="-120" dirty="0">
                <a:solidFill>
                  <a:srgbClr val="FFFFFF"/>
                </a:solidFill>
                <a:latin typeface="Arial"/>
                <a:cs typeface="Arial"/>
              </a:rPr>
              <a:t> </a:t>
            </a:r>
            <a:r>
              <a:rPr sz="1800" spc="5" dirty="0">
                <a:solidFill>
                  <a:srgbClr val="FFFFFF"/>
                </a:solidFill>
                <a:latin typeface="Arial"/>
                <a:cs typeface="Arial"/>
              </a:rPr>
              <a:t>BY</a:t>
            </a:r>
            <a:r>
              <a:rPr sz="1800" spc="-110" dirty="0">
                <a:solidFill>
                  <a:srgbClr val="FFFFFF"/>
                </a:solidFill>
                <a:latin typeface="Arial"/>
                <a:cs typeface="Arial"/>
              </a:rPr>
              <a:t> </a:t>
            </a:r>
            <a:r>
              <a:rPr sz="1800" spc="-35" dirty="0">
                <a:solidFill>
                  <a:srgbClr val="FFFFFF"/>
                </a:solidFill>
                <a:latin typeface="Arial"/>
                <a:cs typeface="Arial"/>
              </a:rPr>
              <a:t>statement</a:t>
            </a:r>
            <a:r>
              <a:rPr sz="1800" spc="-130" dirty="0">
                <a:solidFill>
                  <a:srgbClr val="FFFFFF"/>
                </a:solidFill>
                <a:latin typeface="Arial"/>
                <a:cs typeface="Arial"/>
              </a:rPr>
              <a:t> </a:t>
            </a:r>
            <a:r>
              <a:rPr sz="1800" spc="-45" dirty="0">
                <a:solidFill>
                  <a:srgbClr val="FFFFFF"/>
                </a:solidFill>
                <a:latin typeface="Arial"/>
                <a:cs typeface="Arial"/>
              </a:rPr>
              <a:t>is</a:t>
            </a:r>
            <a:r>
              <a:rPr sz="1800" spc="-110" dirty="0">
                <a:solidFill>
                  <a:srgbClr val="FFFFFF"/>
                </a:solidFill>
                <a:latin typeface="Arial"/>
                <a:cs typeface="Arial"/>
              </a:rPr>
              <a:t> </a:t>
            </a:r>
            <a:r>
              <a:rPr sz="1800" spc="-40" dirty="0">
                <a:solidFill>
                  <a:srgbClr val="FFFFFF"/>
                </a:solidFill>
                <a:latin typeface="Arial"/>
                <a:cs typeface="Arial"/>
              </a:rPr>
              <a:t>evaluated</a:t>
            </a:r>
            <a:r>
              <a:rPr sz="1800" spc="-140"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spc="-20" dirty="0">
                <a:solidFill>
                  <a:srgbClr val="FFFFFF"/>
                </a:solidFill>
                <a:latin typeface="Arial"/>
                <a:cs typeface="Arial"/>
              </a:rPr>
              <a:t>display</a:t>
            </a:r>
            <a:r>
              <a:rPr sz="1800" spc="-120"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30" dirty="0">
                <a:solidFill>
                  <a:srgbClr val="FFFFFF"/>
                </a:solidFill>
                <a:latin typeface="Arial"/>
                <a:cs typeface="Arial"/>
              </a:rPr>
              <a:t>output.</a:t>
            </a:r>
            <a:endParaRPr sz="1800">
              <a:latin typeface="Arial"/>
              <a:cs typeface="Arial"/>
            </a:endParaRPr>
          </a:p>
        </p:txBody>
      </p:sp>
      <p:pic>
        <p:nvPicPr>
          <p:cNvPr id="8" name="object 8"/>
          <p:cNvPicPr/>
          <p:nvPr/>
        </p:nvPicPr>
        <p:blipFill>
          <a:blip r:embed="rId5" cstate="print"/>
          <a:stretch>
            <a:fillRect/>
          </a:stretch>
        </p:blipFill>
        <p:spPr>
          <a:xfrm>
            <a:off x="672845" y="1012697"/>
            <a:ext cx="7889748" cy="1561338"/>
          </a:xfrm>
          <a:prstGeom prst="rect">
            <a:avLst/>
          </a:prstGeom>
        </p:spPr>
      </p:pic>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27</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345" y="152400"/>
            <a:ext cx="8594090" cy="412934"/>
          </a:xfrm>
          <a:prstGeom prst="rect">
            <a:avLst/>
          </a:prstGeom>
        </p:spPr>
        <p:txBody>
          <a:bodyPr vert="horz" wrap="square" lIns="0" tIns="12700" rIns="0" bIns="0" rtlCol="0">
            <a:spAutoFit/>
          </a:bodyPr>
          <a:lstStyle/>
          <a:p>
            <a:pPr marL="12700">
              <a:spcBef>
                <a:spcPts val="100"/>
              </a:spcBef>
            </a:pPr>
            <a:r>
              <a:rPr sz="2600" spc="-30" dirty="0"/>
              <a:t>Logical</a:t>
            </a:r>
            <a:r>
              <a:rPr sz="2600" spc="-285" dirty="0"/>
              <a:t> </a:t>
            </a:r>
            <a:r>
              <a:rPr sz="2600" spc="60" dirty="0"/>
              <a:t>Order</a:t>
            </a:r>
            <a:r>
              <a:rPr sz="2600" spc="-265" dirty="0"/>
              <a:t> </a:t>
            </a:r>
            <a:r>
              <a:rPr sz="2600" spc="114" dirty="0"/>
              <a:t>of</a:t>
            </a:r>
            <a:r>
              <a:rPr sz="2600" spc="-290" dirty="0"/>
              <a:t> </a:t>
            </a:r>
            <a:r>
              <a:rPr sz="2600" spc="-35" dirty="0"/>
              <a:t>Operators</a:t>
            </a:r>
            <a:r>
              <a:rPr sz="2600" spc="-280" dirty="0"/>
              <a:t> </a:t>
            </a:r>
            <a:r>
              <a:rPr sz="2600" spc="195"/>
              <a:t>in</a:t>
            </a:r>
            <a:r>
              <a:rPr sz="2600" spc="-270"/>
              <a:t> </a:t>
            </a:r>
            <a:r>
              <a:rPr sz="2600" spc="15"/>
              <a:t>SELECT</a:t>
            </a:r>
            <a:r>
              <a:rPr lang="en-US" sz="2600" spc="15"/>
              <a:t> </a:t>
            </a:r>
            <a:r>
              <a:rPr lang="en-US" sz="2600" spc="-55">
                <a:solidFill>
                  <a:srgbClr val="FFFFFF"/>
                </a:solidFill>
                <a:latin typeface="Arial"/>
                <a:cs typeface="Arial"/>
              </a:rPr>
              <a:t>Statement</a:t>
            </a:r>
            <a:r>
              <a:rPr lang="en-US" sz="2600" spc="-355">
                <a:solidFill>
                  <a:srgbClr val="FFFFFF"/>
                </a:solidFill>
                <a:latin typeface="Arial"/>
                <a:cs typeface="Arial"/>
              </a:rPr>
              <a:t> </a:t>
            </a:r>
            <a:r>
              <a:rPr lang="en-US" sz="2600" spc="-400">
                <a:solidFill>
                  <a:srgbClr val="FFFFFF"/>
                </a:solidFill>
                <a:latin typeface="Arial"/>
                <a:cs typeface="Arial"/>
              </a:rPr>
              <a:t>3-3</a:t>
            </a:r>
            <a:endParaRPr sz="2600" spc="15" dirty="0"/>
          </a:p>
        </p:txBody>
      </p:sp>
      <p:grpSp>
        <p:nvGrpSpPr>
          <p:cNvPr id="4" name="object 4"/>
          <p:cNvGrpSpPr/>
          <p:nvPr/>
        </p:nvGrpSpPr>
        <p:grpSpPr>
          <a:xfrm>
            <a:off x="235458" y="952500"/>
            <a:ext cx="8228965" cy="3030220"/>
            <a:chOff x="235458" y="952500"/>
            <a:chExt cx="8228965" cy="3030220"/>
          </a:xfrm>
        </p:grpSpPr>
        <p:pic>
          <p:nvPicPr>
            <p:cNvPr id="5" name="object 5"/>
            <p:cNvPicPr/>
            <p:nvPr/>
          </p:nvPicPr>
          <p:blipFill>
            <a:blip r:embed="rId3" cstate="print"/>
            <a:stretch>
              <a:fillRect/>
            </a:stretch>
          </p:blipFill>
          <p:spPr>
            <a:xfrm>
              <a:off x="235458" y="952500"/>
              <a:ext cx="8228838" cy="3029712"/>
            </a:xfrm>
            <a:prstGeom prst="rect">
              <a:avLst/>
            </a:prstGeom>
          </p:spPr>
        </p:pic>
        <p:pic>
          <p:nvPicPr>
            <p:cNvPr id="6" name="object 6"/>
            <p:cNvPicPr/>
            <p:nvPr/>
          </p:nvPicPr>
          <p:blipFill>
            <a:blip r:embed="rId4" cstate="print"/>
            <a:stretch>
              <a:fillRect/>
            </a:stretch>
          </p:blipFill>
          <p:spPr>
            <a:xfrm>
              <a:off x="276606" y="970788"/>
              <a:ext cx="8153400" cy="2954273"/>
            </a:xfrm>
            <a:prstGeom prst="rect">
              <a:avLst/>
            </a:prstGeom>
          </p:spPr>
        </p:pic>
      </p:grpSp>
      <p:sp>
        <p:nvSpPr>
          <p:cNvPr id="7" name="object 7"/>
          <p:cNvSpPr txBox="1"/>
          <p:nvPr/>
        </p:nvSpPr>
        <p:spPr>
          <a:xfrm>
            <a:off x="479551" y="1456436"/>
            <a:ext cx="7886700" cy="2145030"/>
          </a:xfrm>
          <a:prstGeom prst="rect">
            <a:avLst/>
          </a:prstGeom>
        </p:spPr>
        <p:txBody>
          <a:bodyPr vert="horz" wrap="square" lIns="0" tIns="12065" rIns="0" bIns="0" rtlCol="0">
            <a:spAutoFit/>
          </a:bodyPr>
          <a:lstStyle/>
          <a:p>
            <a:pPr marL="12700">
              <a:lnSpc>
                <a:spcPts val="2280"/>
              </a:lnSpc>
              <a:spcBef>
                <a:spcPts val="95"/>
              </a:spcBef>
            </a:pPr>
            <a:r>
              <a:rPr sz="2000" spc="20" dirty="0">
                <a:solidFill>
                  <a:srgbClr val="FFFFFF"/>
                </a:solidFill>
                <a:latin typeface="Arial"/>
                <a:cs typeface="Arial"/>
              </a:rPr>
              <a:t>The </a:t>
            </a:r>
            <a:r>
              <a:rPr sz="2000" spc="-5" dirty="0">
                <a:solidFill>
                  <a:srgbClr val="FFFFFF"/>
                </a:solidFill>
                <a:latin typeface="Arial"/>
                <a:cs typeface="Arial"/>
              </a:rPr>
              <a:t>order </a:t>
            </a:r>
            <a:r>
              <a:rPr sz="2000" spc="50" dirty="0">
                <a:solidFill>
                  <a:srgbClr val="FFFFFF"/>
                </a:solidFill>
                <a:latin typeface="Arial"/>
                <a:cs typeface="Arial"/>
              </a:rPr>
              <a:t>of </a:t>
            </a:r>
            <a:r>
              <a:rPr sz="2000" spc="-5" dirty="0">
                <a:solidFill>
                  <a:srgbClr val="FFFFFF"/>
                </a:solidFill>
                <a:latin typeface="Arial"/>
                <a:cs typeface="Arial"/>
              </a:rPr>
              <a:t>execution </a:t>
            </a:r>
            <a:r>
              <a:rPr sz="2000" spc="65" dirty="0">
                <a:solidFill>
                  <a:srgbClr val="FFFFFF"/>
                </a:solidFill>
                <a:latin typeface="Arial"/>
                <a:cs typeface="Arial"/>
              </a:rPr>
              <a:t>for </a:t>
            </a:r>
            <a:r>
              <a:rPr sz="2000" dirty="0">
                <a:solidFill>
                  <a:srgbClr val="FFFFFF"/>
                </a:solidFill>
                <a:latin typeface="Arial"/>
                <a:cs typeface="Arial"/>
              </a:rPr>
              <a:t>the </a:t>
            </a:r>
            <a:r>
              <a:rPr sz="2000" spc="5" dirty="0">
                <a:solidFill>
                  <a:srgbClr val="FFFFFF"/>
                </a:solidFill>
                <a:latin typeface="Arial"/>
                <a:cs typeface="Arial"/>
              </a:rPr>
              <a:t>SELECT </a:t>
            </a:r>
            <a:r>
              <a:rPr sz="2000" spc="-35" dirty="0">
                <a:solidFill>
                  <a:srgbClr val="FFFFFF"/>
                </a:solidFill>
                <a:latin typeface="Arial"/>
                <a:cs typeface="Arial"/>
              </a:rPr>
              <a:t>statement </a:t>
            </a:r>
            <a:r>
              <a:rPr sz="2000" spc="40" dirty="0">
                <a:solidFill>
                  <a:srgbClr val="FFFFFF"/>
                </a:solidFill>
                <a:latin typeface="Arial"/>
                <a:cs typeface="Arial"/>
              </a:rPr>
              <a:t>would </a:t>
            </a:r>
            <a:r>
              <a:rPr sz="2000" spc="-100" dirty="0">
                <a:solidFill>
                  <a:srgbClr val="FFFFFF"/>
                </a:solidFill>
                <a:latin typeface="Arial"/>
                <a:cs typeface="Arial"/>
              </a:rPr>
              <a:t>be </a:t>
            </a:r>
            <a:r>
              <a:rPr sz="2000" spc="-204" dirty="0">
                <a:solidFill>
                  <a:srgbClr val="FFFFFF"/>
                </a:solidFill>
                <a:latin typeface="Arial"/>
                <a:cs typeface="Arial"/>
              </a:rPr>
              <a:t>as</a:t>
            </a:r>
            <a:r>
              <a:rPr sz="2000" spc="-370" dirty="0">
                <a:solidFill>
                  <a:srgbClr val="FFFFFF"/>
                </a:solidFill>
                <a:latin typeface="Arial"/>
                <a:cs typeface="Arial"/>
              </a:rPr>
              <a:t> </a:t>
            </a:r>
            <a:r>
              <a:rPr sz="2000" spc="15" dirty="0">
                <a:solidFill>
                  <a:srgbClr val="FFFFFF"/>
                </a:solidFill>
                <a:latin typeface="Arial"/>
                <a:cs typeface="Arial"/>
              </a:rPr>
              <a:t>follows:</a:t>
            </a:r>
            <a:endParaRPr sz="2000">
              <a:latin typeface="Arial"/>
              <a:cs typeface="Arial"/>
            </a:endParaRPr>
          </a:p>
          <a:p>
            <a:pPr marL="217170" indent="-205104">
              <a:lnSpc>
                <a:spcPts val="2280"/>
              </a:lnSpc>
              <a:buAutoNum type="arabicPeriod" startAt="5"/>
              <a:tabLst>
                <a:tab pos="217804" algn="l"/>
              </a:tabLst>
            </a:pPr>
            <a:r>
              <a:rPr sz="2000" spc="5" dirty="0">
                <a:solidFill>
                  <a:srgbClr val="FFFFFF"/>
                </a:solidFill>
                <a:latin typeface="Arial"/>
                <a:cs typeface="Arial"/>
              </a:rPr>
              <a:t>SELECT</a:t>
            </a:r>
            <a:r>
              <a:rPr sz="2000" spc="-140" dirty="0">
                <a:solidFill>
                  <a:srgbClr val="FFFFFF"/>
                </a:solidFill>
                <a:latin typeface="Arial"/>
                <a:cs typeface="Arial"/>
              </a:rPr>
              <a:t> </a:t>
            </a:r>
            <a:r>
              <a:rPr sz="2000" spc="-65" dirty="0">
                <a:solidFill>
                  <a:srgbClr val="FFFFFF"/>
                </a:solidFill>
                <a:latin typeface="Arial"/>
                <a:cs typeface="Arial"/>
              </a:rPr>
              <a:t>SalesPersonID,</a:t>
            </a:r>
            <a:r>
              <a:rPr sz="2000" spc="-110" dirty="0">
                <a:solidFill>
                  <a:srgbClr val="FFFFFF"/>
                </a:solidFill>
                <a:latin typeface="Arial"/>
                <a:cs typeface="Arial"/>
              </a:rPr>
              <a:t> </a:t>
            </a:r>
            <a:r>
              <a:rPr sz="2000" spc="15" dirty="0">
                <a:solidFill>
                  <a:srgbClr val="FFFFFF"/>
                </a:solidFill>
                <a:latin typeface="Arial"/>
                <a:cs typeface="Arial"/>
              </a:rPr>
              <a:t>YEAR(OrderDate)</a:t>
            </a:r>
            <a:r>
              <a:rPr sz="2000" spc="-100" dirty="0">
                <a:solidFill>
                  <a:srgbClr val="FFFFFF"/>
                </a:solidFill>
                <a:latin typeface="Arial"/>
                <a:cs typeface="Arial"/>
              </a:rPr>
              <a:t> </a:t>
            </a:r>
            <a:r>
              <a:rPr sz="2000" spc="70" dirty="0">
                <a:solidFill>
                  <a:srgbClr val="FFFFFF"/>
                </a:solidFill>
                <a:latin typeface="Arial"/>
                <a:cs typeface="Arial"/>
              </a:rPr>
              <a:t>AS</a:t>
            </a:r>
            <a:r>
              <a:rPr sz="2000" spc="-135" dirty="0">
                <a:solidFill>
                  <a:srgbClr val="FFFFFF"/>
                </a:solidFill>
                <a:latin typeface="Arial"/>
                <a:cs typeface="Arial"/>
              </a:rPr>
              <a:t> </a:t>
            </a:r>
            <a:r>
              <a:rPr sz="2000" spc="-10" dirty="0">
                <a:solidFill>
                  <a:srgbClr val="FFFFFF"/>
                </a:solidFill>
                <a:latin typeface="Arial"/>
                <a:cs typeface="Arial"/>
              </a:rPr>
              <a:t>OrderYear</a:t>
            </a:r>
            <a:endParaRPr sz="2000">
              <a:latin typeface="Arial"/>
              <a:cs typeface="Arial"/>
            </a:endParaRPr>
          </a:p>
          <a:p>
            <a:pPr marL="304165" lvl="1" indent="-184150">
              <a:lnSpc>
                <a:spcPts val="2090"/>
              </a:lnSpc>
              <a:spcBef>
                <a:spcPts val="2120"/>
              </a:spcBef>
              <a:buAutoNum type="arabicPeriod"/>
              <a:tabLst>
                <a:tab pos="304800" algn="l"/>
              </a:tabLst>
            </a:pPr>
            <a:r>
              <a:rPr sz="1800" spc="45" dirty="0">
                <a:solidFill>
                  <a:srgbClr val="FFFFFF"/>
                </a:solidFill>
                <a:latin typeface="Arial"/>
                <a:cs typeface="Arial"/>
              </a:rPr>
              <a:t>FROM</a:t>
            </a:r>
            <a:r>
              <a:rPr sz="1800" spc="-125" dirty="0">
                <a:solidFill>
                  <a:srgbClr val="FFFFFF"/>
                </a:solidFill>
                <a:latin typeface="Arial"/>
                <a:cs typeface="Arial"/>
              </a:rPr>
              <a:t> </a:t>
            </a:r>
            <a:r>
              <a:rPr sz="1800" spc="-45" dirty="0">
                <a:solidFill>
                  <a:srgbClr val="FFFFFF"/>
                </a:solidFill>
                <a:latin typeface="Arial"/>
                <a:cs typeface="Arial"/>
              </a:rPr>
              <a:t>SalesOrderHeader</a:t>
            </a:r>
            <a:endParaRPr sz="1800">
              <a:latin typeface="Arial"/>
              <a:cs typeface="Arial"/>
            </a:endParaRPr>
          </a:p>
          <a:p>
            <a:pPr marL="274320" lvl="1" indent="-213360">
              <a:lnSpc>
                <a:spcPts val="1980"/>
              </a:lnSpc>
              <a:buAutoNum type="arabicPeriod"/>
              <a:tabLst>
                <a:tab pos="274955" algn="l"/>
              </a:tabLst>
            </a:pPr>
            <a:r>
              <a:rPr sz="1800" spc="35" dirty="0">
                <a:solidFill>
                  <a:srgbClr val="FFFFFF"/>
                </a:solidFill>
                <a:latin typeface="Arial"/>
                <a:cs typeface="Arial"/>
              </a:rPr>
              <a:t>WHERE </a:t>
            </a:r>
            <a:r>
              <a:rPr sz="1800" spc="20" dirty="0">
                <a:solidFill>
                  <a:srgbClr val="FFFFFF"/>
                </a:solidFill>
                <a:latin typeface="Arial"/>
                <a:cs typeface="Arial"/>
              </a:rPr>
              <a:t>CustomerID</a:t>
            </a:r>
            <a:r>
              <a:rPr sz="1800" spc="-290" dirty="0">
                <a:solidFill>
                  <a:srgbClr val="FFFFFF"/>
                </a:solidFill>
                <a:latin typeface="Arial"/>
                <a:cs typeface="Arial"/>
              </a:rPr>
              <a:t> </a:t>
            </a:r>
            <a:r>
              <a:rPr sz="1800" spc="-105" dirty="0">
                <a:solidFill>
                  <a:srgbClr val="FFFFFF"/>
                </a:solidFill>
                <a:latin typeface="Arial"/>
                <a:cs typeface="Arial"/>
              </a:rPr>
              <a:t>= </a:t>
            </a:r>
            <a:r>
              <a:rPr sz="1800" spc="-114" dirty="0">
                <a:solidFill>
                  <a:srgbClr val="FFFFFF"/>
                </a:solidFill>
                <a:latin typeface="Arial"/>
                <a:cs typeface="Arial"/>
              </a:rPr>
              <a:t>30084</a:t>
            </a:r>
            <a:endParaRPr sz="1800">
              <a:latin typeface="Arial"/>
              <a:cs typeface="Arial"/>
            </a:endParaRPr>
          </a:p>
          <a:p>
            <a:pPr marL="260350" lvl="1" indent="-198755">
              <a:lnSpc>
                <a:spcPts val="1945"/>
              </a:lnSpc>
              <a:buAutoNum type="arabicPeriod"/>
              <a:tabLst>
                <a:tab pos="260350" algn="l"/>
              </a:tabLst>
            </a:pPr>
            <a:r>
              <a:rPr sz="1800" spc="35" dirty="0">
                <a:solidFill>
                  <a:srgbClr val="FFFFFF"/>
                </a:solidFill>
                <a:latin typeface="Arial"/>
                <a:cs typeface="Arial"/>
              </a:rPr>
              <a:t>GROUP </a:t>
            </a:r>
            <a:r>
              <a:rPr sz="1800" spc="5" dirty="0">
                <a:solidFill>
                  <a:srgbClr val="FFFFFF"/>
                </a:solidFill>
                <a:latin typeface="Arial"/>
                <a:cs typeface="Arial"/>
              </a:rPr>
              <a:t>BY</a:t>
            </a:r>
            <a:r>
              <a:rPr sz="1800" spc="-330" dirty="0">
                <a:solidFill>
                  <a:srgbClr val="FFFFFF"/>
                </a:solidFill>
                <a:latin typeface="Arial"/>
                <a:cs typeface="Arial"/>
              </a:rPr>
              <a:t> </a:t>
            </a:r>
            <a:r>
              <a:rPr sz="1800" spc="-60" dirty="0">
                <a:solidFill>
                  <a:srgbClr val="FFFFFF"/>
                </a:solidFill>
                <a:latin typeface="Arial"/>
                <a:cs typeface="Arial"/>
              </a:rPr>
              <a:t>SalesPersonID, </a:t>
            </a:r>
            <a:r>
              <a:rPr sz="1800" spc="15" dirty="0">
                <a:solidFill>
                  <a:srgbClr val="FFFFFF"/>
                </a:solidFill>
                <a:latin typeface="Arial"/>
                <a:cs typeface="Arial"/>
              </a:rPr>
              <a:t>YEAR(OrderDate)</a:t>
            </a:r>
            <a:endParaRPr sz="1800">
              <a:latin typeface="Arial"/>
              <a:cs typeface="Arial"/>
            </a:endParaRPr>
          </a:p>
          <a:p>
            <a:pPr marL="283845" lvl="1" indent="-222885">
              <a:lnSpc>
                <a:spcPts val="1945"/>
              </a:lnSpc>
              <a:buAutoNum type="arabicPeriod"/>
              <a:tabLst>
                <a:tab pos="284480" algn="l"/>
              </a:tabLst>
            </a:pPr>
            <a:r>
              <a:rPr sz="1800" spc="155" dirty="0">
                <a:solidFill>
                  <a:srgbClr val="FFFFFF"/>
                </a:solidFill>
                <a:latin typeface="Arial"/>
                <a:cs typeface="Arial"/>
              </a:rPr>
              <a:t>HAVING</a:t>
            </a:r>
            <a:r>
              <a:rPr sz="1800" spc="-350" dirty="0">
                <a:solidFill>
                  <a:srgbClr val="FFFFFF"/>
                </a:solidFill>
                <a:latin typeface="Arial"/>
                <a:cs typeface="Arial"/>
              </a:rPr>
              <a:t> </a:t>
            </a:r>
            <a:r>
              <a:rPr sz="1800" spc="100" dirty="0">
                <a:solidFill>
                  <a:srgbClr val="FFFFFF"/>
                </a:solidFill>
                <a:latin typeface="Arial"/>
                <a:cs typeface="Arial"/>
              </a:rPr>
              <a:t>COUNT(*) </a:t>
            </a:r>
            <a:r>
              <a:rPr sz="1800" spc="-105" dirty="0">
                <a:solidFill>
                  <a:srgbClr val="FFFFFF"/>
                </a:solidFill>
                <a:latin typeface="Arial"/>
                <a:cs typeface="Arial"/>
              </a:rPr>
              <a:t>&gt; </a:t>
            </a:r>
            <a:r>
              <a:rPr sz="1800" spc="-390" dirty="0">
                <a:solidFill>
                  <a:srgbClr val="FFFFFF"/>
                </a:solidFill>
                <a:latin typeface="Arial"/>
                <a:cs typeface="Arial"/>
              </a:rPr>
              <a:t>1</a:t>
            </a:r>
            <a:endParaRPr sz="1800">
              <a:latin typeface="Arial"/>
              <a:cs typeface="Arial"/>
            </a:endParaRPr>
          </a:p>
          <a:p>
            <a:pPr marL="61594">
              <a:lnSpc>
                <a:spcPts val="2050"/>
              </a:lnSpc>
              <a:tabLst>
                <a:tab pos="380365" algn="l"/>
              </a:tabLst>
            </a:pPr>
            <a:r>
              <a:rPr sz="1800" spc="-80" dirty="0">
                <a:solidFill>
                  <a:srgbClr val="FFFFFF"/>
                </a:solidFill>
                <a:latin typeface="Arial"/>
                <a:cs typeface="Arial"/>
              </a:rPr>
              <a:t>6.	</a:t>
            </a:r>
            <a:r>
              <a:rPr sz="1800" spc="25" dirty="0">
                <a:solidFill>
                  <a:srgbClr val="FFFFFF"/>
                </a:solidFill>
                <a:latin typeface="Arial"/>
                <a:cs typeface="Arial"/>
              </a:rPr>
              <a:t>ORDER </a:t>
            </a:r>
            <a:r>
              <a:rPr sz="1800" spc="5" dirty="0">
                <a:solidFill>
                  <a:srgbClr val="FFFFFF"/>
                </a:solidFill>
                <a:latin typeface="Arial"/>
                <a:cs typeface="Arial"/>
              </a:rPr>
              <a:t>BY </a:t>
            </a:r>
            <a:r>
              <a:rPr sz="1800" spc="-60" dirty="0">
                <a:solidFill>
                  <a:srgbClr val="FFFFFF"/>
                </a:solidFill>
                <a:latin typeface="Arial"/>
                <a:cs typeface="Arial"/>
              </a:rPr>
              <a:t>SalesPersonID,</a:t>
            </a:r>
            <a:r>
              <a:rPr sz="1800" spc="-385" dirty="0">
                <a:solidFill>
                  <a:srgbClr val="FFFFFF"/>
                </a:solidFill>
                <a:latin typeface="Arial"/>
                <a:cs typeface="Arial"/>
              </a:rPr>
              <a:t> </a:t>
            </a:r>
            <a:r>
              <a:rPr sz="1800" spc="-10" dirty="0">
                <a:solidFill>
                  <a:srgbClr val="FFFFFF"/>
                </a:solidFill>
                <a:latin typeface="Arial"/>
                <a:cs typeface="Arial"/>
              </a:rPr>
              <a:t>OrderYear;</a:t>
            </a:r>
            <a:endParaRPr sz="1800">
              <a:latin typeface="Arial"/>
              <a:cs typeface="Arial"/>
            </a:endParaRPr>
          </a:p>
        </p:txBody>
      </p:sp>
      <p:pic>
        <p:nvPicPr>
          <p:cNvPr id="8" name="object 8"/>
          <p:cNvPicPr/>
          <p:nvPr/>
        </p:nvPicPr>
        <p:blipFill>
          <a:blip r:embed="rId5" cstate="print"/>
          <a:stretch>
            <a:fillRect/>
          </a:stretch>
        </p:blipFill>
        <p:spPr>
          <a:xfrm>
            <a:off x="2299716" y="4023359"/>
            <a:ext cx="4544567" cy="1863852"/>
          </a:xfrm>
          <a:prstGeom prst="rect">
            <a:avLst/>
          </a:prstGeom>
        </p:spPr>
      </p:pic>
      <p:sp>
        <p:nvSpPr>
          <p:cNvPr id="9" name="object 9"/>
          <p:cNvSpPr txBox="1"/>
          <p:nvPr/>
        </p:nvSpPr>
        <p:spPr>
          <a:xfrm>
            <a:off x="3497326" y="5895085"/>
            <a:ext cx="205105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Arial"/>
                <a:cs typeface="Arial"/>
              </a:rPr>
              <a:t>SELECT </a:t>
            </a:r>
            <a:r>
              <a:rPr sz="1400" b="1" spc="-75" dirty="0">
                <a:latin typeface="Arial"/>
                <a:cs typeface="Arial"/>
              </a:rPr>
              <a:t>Statement</a:t>
            </a:r>
            <a:r>
              <a:rPr sz="1400" b="1" spc="-265" dirty="0">
                <a:latin typeface="Arial"/>
                <a:cs typeface="Arial"/>
              </a:rPr>
              <a:t> </a:t>
            </a:r>
            <a:r>
              <a:rPr sz="1400" b="1" spc="-75" dirty="0">
                <a:latin typeface="Arial"/>
                <a:cs typeface="Arial"/>
              </a:rPr>
              <a:t>Result</a:t>
            </a:r>
            <a:endParaRPr sz="14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28</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70" dirty="0"/>
              <a:t>Summary</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75" baseline="4629" dirty="0"/>
              <a:t>4/</a:t>
            </a:r>
            <a:r>
              <a:rPr sz="1800" spc="-247" baseline="4629" dirty="0"/>
              <a:t> </a:t>
            </a:r>
            <a:fld id="{81D60167-4931-47E6-BA6A-407CBD079E47}" type="slidenum">
              <a:rPr sz="1200" spc="-70" dirty="0"/>
              <a:t>29</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pc="-15" dirty="0"/>
              <a:t>Transact-SQL </a:t>
            </a:r>
            <a:r>
              <a:rPr spc="-50" dirty="0"/>
              <a:t>is </a:t>
            </a:r>
            <a:r>
              <a:rPr spc="-195" dirty="0"/>
              <a:t>a </a:t>
            </a:r>
            <a:r>
              <a:rPr spc="25" dirty="0"/>
              <a:t>powerful </a:t>
            </a:r>
            <a:r>
              <a:rPr spc="-80" dirty="0"/>
              <a:t>language </a:t>
            </a:r>
            <a:r>
              <a:rPr spc="40" dirty="0"/>
              <a:t>which </a:t>
            </a:r>
            <a:r>
              <a:rPr spc="-10" dirty="0"/>
              <a:t>offers </a:t>
            </a:r>
            <a:r>
              <a:rPr spc="-50" dirty="0"/>
              <a:t>features </a:t>
            </a:r>
            <a:r>
              <a:rPr spc="-55" dirty="0"/>
              <a:t>such </a:t>
            </a:r>
            <a:r>
              <a:rPr spc="-204" dirty="0"/>
              <a:t>as</a:t>
            </a:r>
            <a:r>
              <a:rPr spc="-315" dirty="0"/>
              <a:t> </a:t>
            </a:r>
            <a:r>
              <a:rPr spc="-60" dirty="0"/>
              <a:t>data</a:t>
            </a:r>
          </a:p>
          <a:p>
            <a:pPr marL="353695">
              <a:lnSpc>
                <a:spcPct val="100000"/>
              </a:lnSpc>
            </a:pPr>
            <a:r>
              <a:rPr spc="-60" dirty="0"/>
              <a:t>types,</a:t>
            </a:r>
            <a:r>
              <a:rPr spc="-114" dirty="0"/>
              <a:t> </a:t>
            </a:r>
            <a:r>
              <a:rPr spc="-15" dirty="0"/>
              <a:t>temporary</a:t>
            </a:r>
            <a:r>
              <a:rPr spc="-95" dirty="0"/>
              <a:t> </a:t>
            </a:r>
            <a:r>
              <a:rPr spc="-45" dirty="0"/>
              <a:t>objects,</a:t>
            </a:r>
            <a:r>
              <a:rPr spc="-110" dirty="0"/>
              <a:t> </a:t>
            </a:r>
            <a:r>
              <a:rPr spc="-40" dirty="0"/>
              <a:t>and</a:t>
            </a:r>
            <a:r>
              <a:rPr spc="-125" dirty="0"/>
              <a:t> </a:t>
            </a:r>
            <a:r>
              <a:rPr spc="-30" dirty="0"/>
              <a:t>extended</a:t>
            </a:r>
            <a:r>
              <a:rPr spc="-105" dirty="0"/>
              <a:t> </a:t>
            </a:r>
            <a:r>
              <a:rPr spc="-35" dirty="0"/>
              <a:t>stored</a:t>
            </a:r>
            <a:r>
              <a:rPr spc="-114" dirty="0"/>
              <a:t> </a:t>
            </a:r>
            <a:r>
              <a:rPr spc="-50" dirty="0"/>
              <a:t>procedures.</a:t>
            </a:r>
          </a:p>
          <a:p>
            <a:pPr marL="353695" marR="6350" indent="-341630">
              <a:lnSpc>
                <a:spcPct val="100000"/>
              </a:lnSpc>
              <a:buFont typeface="Calibri"/>
              <a:buChar char="●"/>
              <a:tabLst>
                <a:tab pos="353695" algn="l"/>
                <a:tab pos="354330" algn="l"/>
              </a:tabLst>
            </a:pPr>
            <a:r>
              <a:rPr spc="20" dirty="0"/>
              <a:t>SQL </a:t>
            </a:r>
            <a:r>
              <a:rPr spc="-50" dirty="0"/>
              <a:t>Server </a:t>
            </a:r>
            <a:r>
              <a:rPr spc="-30" dirty="0"/>
              <a:t>supports </a:t>
            </a:r>
            <a:r>
              <a:rPr spc="-20" dirty="0"/>
              <a:t>three </a:t>
            </a:r>
            <a:r>
              <a:rPr spc="-55" dirty="0"/>
              <a:t>types </a:t>
            </a:r>
            <a:r>
              <a:rPr spc="50" dirty="0"/>
              <a:t>of </a:t>
            </a:r>
            <a:r>
              <a:rPr spc="-15" dirty="0"/>
              <a:t>Transact-SQL </a:t>
            </a:r>
            <a:r>
              <a:rPr spc="-55" dirty="0"/>
              <a:t>statements, </a:t>
            </a:r>
            <a:r>
              <a:rPr spc="-40" dirty="0"/>
              <a:t>namely,  </a:t>
            </a:r>
            <a:r>
              <a:rPr spc="75" dirty="0"/>
              <a:t>DDL, </a:t>
            </a:r>
            <a:r>
              <a:rPr spc="85" dirty="0"/>
              <a:t>DML,</a:t>
            </a:r>
            <a:r>
              <a:rPr spc="-430" dirty="0"/>
              <a:t> </a:t>
            </a:r>
            <a:r>
              <a:rPr spc="-40" dirty="0"/>
              <a:t>and </a:t>
            </a:r>
            <a:r>
              <a:rPr spc="85" dirty="0"/>
              <a:t>DCL.</a:t>
            </a:r>
          </a:p>
          <a:p>
            <a:pPr marL="353695" marR="5715" indent="-341630" algn="just">
              <a:lnSpc>
                <a:spcPct val="100000"/>
              </a:lnSpc>
              <a:buFont typeface="Calibri"/>
              <a:buChar char="●"/>
              <a:tabLst>
                <a:tab pos="354330" algn="l"/>
              </a:tabLst>
            </a:pPr>
            <a:r>
              <a:rPr spc="285" dirty="0"/>
              <a:t>A </a:t>
            </a:r>
            <a:r>
              <a:rPr spc="-60" dirty="0"/>
              <a:t>data </a:t>
            </a:r>
            <a:r>
              <a:rPr spc="-15" dirty="0"/>
              <a:t>type </a:t>
            </a:r>
            <a:r>
              <a:rPr spc="-50" dirty="0"/>
              <a:t>is </a:t>
            </a:r>
            <a:r>
              <a:rPr spc="-65" dirty="0"/>
              <a:t>an </a:t>
            </a:r>
            <a:r>
              <a:rPr spc="25" dirty="0"/>
              <a:t>attribute defining </a:t>
            </a:r>
            <a:r>
              <a:rPr dirty="0"/>
              <a:t>the </a:t>
            </a:r>
            <a:r>
              <a:rPr spc="-15" dirty="0"/>
              <a:t>type </a:t>
            </a:r>
            <a:r>
              <a:rPr spc="50" dirty="0"/>
              <a:t>of </a:t>
            </a:r>
            <a:r>
              <a:rPr spc="-60" dirty="0"/>
              <a:t>data </a:t>
            </a:r>
            <a:r>
              <a:rPr spc="30" dirty="0"/>
              <a:t>that </a:t>
            </a:r>
            <a:r>
              <a:rPr spc="-65" dirty="0"/>
              <a:t>an </a:t>
            </a:r>
            <a:r>
              <a:rPr spc="-15" dirty="0"/>
              <a:t>object </a:t>
            </a:r>
            <a:r>
              <a:rPr spc="-75" dirty="0"/>
              <a:t>can  </a:t>
            </a:r>
            <a:r>
              <a:rPr dirty="0"/>
              <a:t>contain.</a:t>
            </a:r>
          </a:p>
          <a:p>
            <a:pPr marL="353695" marR="5715" indent="-341630" algn="just">
              <a:lnSpc>
                <a:spcPct val="100000"/>
              </a:lnSpc>
              <a:buFont typeface="Calibri"/>
              <a:buChar char="●"/>
              <a:tabLst>
                <a:tab pos="354330" algn="l"/>
              </a:tabLst>
            </a:pPr>
            <a:r>
              <a:rPr spc="20" dirty="0"/>
              <a:t>The </a:t>
            </a:r>
            <a:r>
              <a:rPr spc="-15" dirty="0"/>
              <a:t>Transact-SQL </a:t>
            </a:r>
            <a:r>
              <a:rPr spc="-80" dirty="0"/>
              <a:t>language </a:t>
            </a:r>
            <a:r>
              <a:rPr spc="-55" dirty="0"/>
              <a:t>elements </a:t>
            </a:r>
            <a:r>
              <a:rPr spc="-20" dirty="0"/>
              <a:t>includes </a:t>
            </a:r>
            <a:r>
              <a:rPr spc="-55" dirty="0"/>
              <a:t>predicates, </a:t>
            </a:r>
            <a:r>
              <a:rPr spc="-40" dirty="0"/>
              <a:t>operators,  </a:t>
            </a:r>
            <a:r>
              <a:rPr spc="15" dirty="0"/>
              <a:t>functions, </a:t>
            </a:r>
            <a:r>
              <a:rPr spc="-50" dirty="0"/>
              <a:t>variables, </a:t>
            </a:r>
            <a:r>
              <a:rPr spc="-60" dirty="0"/>
              <a:t>expressions, </a:t>
            </a:r>
            <a:r>
              <a:rPr spc="35" dirty="0"/>
              <a:t>control-of-flow, </a:t>
            </a:r>
            <a:r>
              <a:rPr spc="-35" dirty="0"/>
              <a:t>errors, </a:t>
            </a:r>
            <a:r>
              <a:rPr spc="-40" dirty="0"/>
              <a:t>and</a:t>
            </a:r>
            <a:r>
              <a:rPr spc="-409" dirty="0"/>
              <a:t> </a:t>
            </a:r>
            <a:r>
              <a:rPr spc="-30" dirty="0"/>
              <a:t>transactions,  </a:t>
            </a:r>
            <a:r>
              <a:rPr spc="-45" dirty="0"/>
              <a:t>comments, </a:t>
            </a:r>
            <a:r>
              <a:rPr spc="-40" dirty="0"/>
              <a:t>and </a:t>
            </a:r>
            <a:r>
              <a:rPr spc="-25" dirty="0"/>
              <a:t>batch</a:t>
            </a:r>
            <a:r>
              <a:rPr spc="-275" dirty="0"/>
              <a:t> </a:t>
            </a:r>
            <a:r>
              <a:rPr spc="-70" dirty="0"/>
              <a:t>separators.</a:t>
            </a:r>
          </a:p>
          <a:p>
            <a:pPr marL="353695" marR="6350" indent="-341630" algn="just">
              <a:lnSpc>
                <a:spcPct val="100000"/>
              </a:lnSpc>
              <a:buFont typeface="Calibri"/>
              <a:buChar char="●"/>
              <a:tabLst>
                <a:tab pos="354330" algn="l"/>
              </a:tabLst>
            </a:pPr>
            <a:r>
              <a:rPr spc="-105" dirty="0"/>
              <a:t>Sets </a:t>
            </a:r>
            <a:r>
              <a:rPr spc="-35" dirty="0"/>
              <a:t>and </a:t>
            </a:r>
            <a:r>
              <a:rPr spc="-60" dirty="0"/>
              <a:t>Predicate </a:t>
            </a:r>
            <a:r>
              <a:rPr spc="-10" dirty="0"/>
              <a:t>Logic </a:t>
            </a:r>
            <a:r>
              <a:rPr spc="-100" dirty="0"/>
              <a:t>are </a:t>
            </a:r>
            <a:r>
              <a:rPr dirty="0"/>
              <a:t>the </a:t>
            </a:r>
            <a:r>
              <a:rPr spc="50" dirty="0"/>
              <a:t>two </a:t>
            </a:r>
            <a:r>
              <a:rPr spc="-30" dirty="0"/>
              <a:t>mathematical </a:t>
            </a:r>
            <a:r>
              <a:rPr spc="-20" dirty="0"/>
              <a:t>fundamentals </a:t>
            </a:r>
            <a:r>
              <a:rPr spc="30" dirty="0"/>
              <a:t>that </a:t>
            </a:r>
            <a:r>
              <a:rPr spc="-95" dirty="0"/>
              <a:t>are  </a:t>
            </a:r>
            <a:r>
              <a:rPr spc="-90" dirty="0"/>
              <a:t>used </a:t>
            </a:r>
            <a:r>
              <a:rPr spc="95" dirty="0"/>
              <a:t>in</a:t>
            </a:r>
            <a:r>
              <a:rPr spc="-400" dirty="0"/>
              <a:t> </a:t>
            </a:r>
            <a:r>
              <a:rPr spc="20" dirty="0"/>
              <a:t>SQL </a:t>
            </a:r>
            <a:r>
              <a:rPr spc="-50" dirty="0"/>
              <a:t>Server </a:t>
            </a:r>
            <a:r>
              <a:rPr spc="-175" dirty="0"/>
              <a:t>2019.</a:t>
            </a:r>
          </a:p>
          <a:p>
            <a:pPr marL="353695" marR="5715" indent="-341630" algn="just">
              <a:lnSpc>
                <a:spcPct val="100000"/>
              </a:lnSpc>
              <a:spcBef>
                <a:spcPts val="5"/>
              </a:spcBef>
              <a:buFont typeface="Calibri"/>
              <a:buChar char="●"/>
              <a:tabLst>
                <a:tab pos="354330" algn="l"/>
              </a:tabLst>
            </a:pPr>
            <a:r>
              <a:rPr spc="-70" dirty="0"/>
              <a:t>Set</a:t>
            </a:r>
            <a:r>
              <a:rPr spc="-114" dirty="0"/>
              <a:t> </a:t>
            </a:r>
            <a:r>
              <a:rPr spc="10" dirty="0"/>
              <a:t>theory</a:t>
            </a:r>
            <a:r>
              <a:rPr spc="-105" dirty="0"/>
              <a:t> </a:t>
            </a:r>
            <a:r>
              <a:rPr spc="-50" dirty="0"/>
              <a:t>is</a:t>
            </a:r>
            <a:r>
              <a:rPr spc="-110" dirty="0"/>
              <a:t> </a:t>
            </a:r>
            <a:r>
              <a:rPr spc="-195" dirty="0"/>
              <a:t>a</a:t>
            </a:r>
            <a:r>
              <a:rPr spc="-110" dirty="0"/>
              <a:t> </a:t>
            </a:r>
            <a:r>
              <a:rPr spc="-30" dirty="0"/>
              <a:t>mathematical</a:t>
            </a:r>
            <a:r>
              <a:rPr spc="-110" dirty="0"/>
              <a:t> </a:t>
            </a:r>
            <a:r>
              <a:rPr spc="35" dirty="0"/>
              <a:t>foundation</a:t>
            </a:r>
            <a:r>
              <a:rPr spc="-100" dirty="0"/>
              <a:t> </a:t>
            </a:r>
            <a:r>
              <a:rPr spc="-90" dirty="0"/>
              <a:t>used</a:t>
            </a:r>
            <a:r>
              <a:rPr spc="-114" dirty="0"/>
              <a:t> </a:t>
            </a:r>
            <a:r>
              <a:rPr spc="95" dirty="0"/>
              <a:t>in</a:t>
            </a:r>
            <a:r>
              <a:rPr spc="-114" dirty="0"/>
              <a:t> </a:t>
            </a:r>
            <a:r>
              <a:rPr spc="5" dirty="0"/>
              <a:t>relational</a:t>
            </a:r>
            <a:r>
              <a:rPr spc="-105" dirty="0"/>
              <a:t> database</a:t>
            </a:r>
            <a:r>
              <a:rPr spc="-110" dirty="0"/>
              <a:t> </a:t>
            </a:r>
            <a:r>
              <a:rPr spc="-25" dirty="0"/>
              <a:t>model,  </a:t>
            </a:r>
            <a:r>
              <a:rPr spc="-35" dirty="0"/>
              <a:t>where</a:t>
            </a:r>
            <a:r>
              <a:rPr spc="-114" dirty="0"/>
              <a:t> </a:t>
            </a:r>
            <a:r>
              <a:rPr spc="-195" dirty="0"/>
              <a:t>a</a:t>
            </a:r>
            <a:r>
              <a:rPr spc="-125" dirty="0"/>
              <a:t> </a:t>
            </a:r>
            <a:r>
              <a:rPr spc="-90" dirty="0"/>
              <a:t>set</a:t>
            </a:r>
            <a:r>
              <a:rPr spc="-120" dirty="0"/>
              <a:t> </a:t>
            </a:r>
            <a:r>
              <a:rPr spc="-50" dirty="0"/>
              <a:t>is</a:t>
            </a:r>
            <a:r>
              <a:rPr spc="-130" dirty="0"/>
              <a:t> </a:t>
            </a:r>
            <a:r>
              <a:rPr spc="-195" dirty="0"/>
              <a:t>a</a:t>
            </a:r>
            <a:r>
              <a:rPr spc="-130" dirty="0"/>
              <a:t> </a:t>
            </a:r>
            <a:r>
              <a:rPr spc="10" dirty="0"/>
              <a:t>collection</a:t>
            </a:r>
            <a:r>
              <a:rPr spc="-105" dirty="0"/>
              <a:t> </a:t>
            </a:r>
            <a:r>
              <a:rPr spc="50" dirty="0"/>
              <a:t>of</a:t>
            </a:r>
            <a:r>
              <a:rPr spc="-120" dirty="0"/>
              <a:t> </a:t>
            </a:r>
            <a:r>
              <a:rPr spc="30" dirty="0"/>
              <a:t>distinct</a:t>
            </a:r>
            <a:r>
              <a:rPr spc="-140" dirty="0"/>
              <a:t> </a:t>
            </a:r>
            <a:r>
              <a:rPr spc="-45" dirty="0"/>
              <a:t>objects</a:t>
            </a:r>
            <a:r>
              <a:rPr spc="-100" dirty="0"/>
              <a:t> </a:t>
            </a:r>
            <a:r>
              <a:rPr spc="-40" dirty="0"/>
              <a:t>considered</a:t>
            </a:r>
            <a:r>
              <a:rPr spc="-130" dirty="0"/>
              <a:t> </a:t>
            </a:r>
            <a:r>
              <a:rPr spc="-204" dirty="0"/>
              <a:t>as</a:t>
            </a:r>
            <a:r>
              <a:rPr spc="-120" dirty="0"/>
              <a:t> </a:t>
            </a:r>
            <a:r>
              <a:rPr spc="-195" dirty="0"/>
              <a:t>a</a:t>
            </a:r>
            <a:r>
              <a:rPr spc="-130" dirty="0"/>
              <a:t> </a:t>
            </a:r>
            <a:r>
              <a:rPr spc="-10" dirty="0"/>
              <a:t>whole.</a:t>
            </a:r>
          </a:p>
          <a:p>
            <a:pPr marL="353695" marR="5080" indent="-341630" algn="just">
              <a:lnSpc>
                <a:spcPct val="100000"/>
              </a:lnSpc>
              <a:buFont typeface="Calibri"/>
              <a:buChar char="●"/>
              <a:tabLst>
                <a:tab pos="408305" algn="l"/>
              </a:tabLst>
            </a:pPr>
            <a:r>
              <a:rPr dirty="0"/>
              <a:t>	</a:t>
            </a:r>
            <a:r>
              <a:rPr spc="-60" dirty="0"/>
              <a:t>Predicate </a:t>
            </a:r>
            <a:r>
              <a:rPr spc="-5" dirty="0"/>
              <a:t>logic </a:t>
            </a:r>
            <a:r>
              <a:rPr spc="-50" dirty="0"/>
              <a:t>is </a:t>
            </a:r>
            <a:r>
              <a:rPr spc="-195" dirty="0"/>
              <a:t>a </a:t>
            </a:r>
            <a:r>
              <a:rPr spc="-30" dirty="0"/>
              <a:t>mathematical </a:t>
            </a:r>
            <a:r>
              <a:rPr dirty="0"/>
              <a:t>framework </a:t>
            </a:r>
            <a:r>
              <a:rPr spc="30" dirty="0"/>
              <a:t>that </a:t>
            </a:r>
            <a:r>
              <a:rPr spc="-55" dirty="0"/>
              <a:t>consists </a:t>
            </a:r>
            <a:r>
              <a:rPr spc="50" dirty="0"/>
              <a:t>of </a:t>
            </a:r>
            <a:r>
              <a:rPr spc="-15" dirty="0"/>
              <a:t>logical </a:t>
            </a:r>
            <a:r>
              <a:rPr spc="-75" dirty="0"/>
              <a:t>tests  </a:t>
            </a:r>
            <a:r>
              <a:rPr spc="30" dirty="0"/>
              <a:t>that </a:t>
            </a:r>
            <a:r>
              <a:rPr spc="-75" dirty="0"/>
              <a:t>gives </a:t>
            </a:r>
            <a:r>
              <a:rPr spc="-195" dirty="0"/>
              <a:t>a</a:t>
            </a:r>
            <a:r>
              <a:rPr spc="-325" dirty="0"/>
              <a:t> </a:t>
            </a:r>
            <a:r>
              <a:rPr spc="-15" dirty="0"/>
              <a:t>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TotalTime>
  <Words>5185</Words>
  <Application>Microsoft Office PowerPoint</Application>
  <PresentationFormat>On-screen Show (4:3)</PresentationFormat>
  <Paragraphs>498</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Book Antiqua</vt:lpstr>
      <vt:lpstr>Calibri</vt:lpstr>
      <vt:lpstr>Courier New</vt:lpstr>
      <vt:lpstr>Palatino Linotype</vt:lpstr>
      <vt:lpstr>Segoe UI Symbol</vt:lpstr>
      <vt:lpstr>Wingdings</vt:lpstr>
      <vt:lpstr>Office Theme</vt:lpstr>
      <vt:lpstr>Intelligent Data Management with  SQL Server</vt:lpstr>
      <vt:lpstr>Objectives</vt:lpstr>
      <vt:lpstr>Introduction</vt:lpstr>
      <vt:lpstr>Transact-SQL 1-2</vt:lpstr>
      <vt:lpstr>Transact-SQL 2-2</vt:lpstr>
      <vt:lpstr>Different Categories of Transact-SQL Statements</vt:lpstr>
      <vt:lpstr>Data Definition Language (DDL)</vt:lpstr>
      <vt:lpstr>Data Manipulation Language (DML)</vt:lpstr>
      <vt:lpstr>Data Control Language (DCL)</vt:lpstr>
      <vt:lpstr>Data Types 1-3</vt:lpstr>
      <vt:lpstr>PowerPoint Presentation</vt:lpstr>
      <vt:lpstr>Data Types 3-3</vt:lpstr>
      <vt:lpstr>Transact-SQL Language Elements</vt:lpstr>
      <vt:lpstr>PowerPoint Presentation</vt:lpstr>
      <vt:lpstr>Predicates and Operators 2-2</vt:lpstr>
      <vt:lpstr>Functions 1-2</vt:lpstr>
      <vt:lpstr>Functions 2-2</vt:lpstr>
      <vt:lpstr>Variables</vt:lpstr>
      <vt:lpstr>Expressions</vt:lpstr>
      <vt:lpstr>Control-of-Flow, Errors, and Transactions</vt:lpstr>
      <vt:lpstr>Comments</vt:lpstr>
      <vt:lpstr>Batch Separators</vt:lpstr>
      <vt:lpstr>Sets and Predicate Logic</vt:lpstr>
      <vt:lpstr>Set Theory</vt:lpstr>
      <vt:lpstr>Predicate Logic</vt:lpstr>
      <vt:lpstr>Logical Order of Operators in SELECT Statement 1-3</vt:lpstr>
      <vt:lpstr>Logical Order of Operators in SELECT Statement 2-3</vt:lpstr>
      <vt:lpstr>Logical Order of Operators in SELECT Statement 3-3</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116</cp:revision>
  <dcterms:created xsi:type="dcterms:W3CDTF">2021-10-11T16:08:17Z</dcterms:created>
  <dcterms:modified xsi:type="dcterms:W3CDTF">2021-10-13T07:25:54Z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