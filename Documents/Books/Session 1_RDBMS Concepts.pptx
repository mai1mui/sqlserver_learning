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750" autoAdjust="0"/>
  </p:normalViewPr>
  <p:slideViewPr>
    <p:cSldViewPr>
      <p:cViewPr varScale="1">
        <p:scale>
          <a:sx n="76" d="100"/>
          <a:sy n="76" d="100"/>
        </p:scale>
        <p:origin x="1642"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D221CE44-AE70-4651-8994-53FB2F5A8127}" type="datetimeFigureOut">
              <a:rPr lang="en-US" smtClean="0"/>
              <a:t>10/12/2021</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D976D214-27A4-4BD1-B27C-D9D1F2D40EE5}" type="slidenum">
              <a:rPr lang="en-US" smtClean="0"/>
              <a:t>‹#›</a:t>
            </a:fld>
            <a:endParaRPr lang="en-US"/>
          </a:p>
        </p:txBody>
      </p:sp>
    </p:spTree>
    <p:extLst>
      <p:ext uri="{BB962C8B-B14F-4D97-AF65-F5344CB8AC3E}">
        <p14:creationId xmlns:p14="http://schemas.microsoft.com/office/powerpoint/2010/main" val="1995385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Quản lý dữ liệu thông minh với SQL Server</a:t>
            </a:r>
          </a:p>
          <a:p>
            <a:r>
              <a:rPr lang="en-US" b="1"/>
              <a:t>Phiên 1: Khái niệm Hệ Quản Trị C</a:t>
            </a:r>
            <a:r>
              <a:rPr lang="vi-VN" b="1"/>
              <a:t>ơ</a:t>
            </a:r>
            <a:r>
              <a:rPr lang="en-US" b="1"/>
              <a:t> Sở Dữ Liệu Quan Hệ (RDBMS)</a:t>
            </a:r>
          </a:p>
        </p:txBody>
      </p:sp>
      <p:sp>
        <p:nvSpPr>
          <p:cNvPr id="4" name="Slide Number Placeholder 3"/>
          <p:cNvSpPr>
            <a:spLocks noGrp="1"/>
          </p:cNvSpPr>
          <p:nvPr>
            <p:ph type="sldNum" sz="quarter" idx="5"/>
          </p:nvPr>
        </p:nvSpPr>
        <p:spPr/>
        <p:txBody>
          <a:bodyPr/>
          <a:lstStyle/>
          <a:p>
            <a:fld id="{D976D214-27A4-4BD1-B27C-D9D1F2D40EE5}" type="slidenum">
              <a:rPr lang="en-US" smtClean="0"/>
              <a:t>1</a:t>
            </a:fld>
            <a:endParaRPr lang="en-US"/>
          </a:p>
        </p:txBody>
      </p:sp>
    </p:spTree>
    <p:extLst>
      <p:ext uri="{BB962C8B-B14F-4D97-AF65-F5344CB8AC3E}">
        <p14:creationId xmlns:p14="http://schemas.microsoft.com/office/powerpoint/2010/main" val="2359474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Mục tiêu</a:t>
            </a:r>
          </a:p>
          <a:p>
            <a:pPr marL="171450" indent="-171450">
              <a:buFont typeface="Arial" panose="020B0604020202020204" pitchFamily="34" charset="0"/>
              <a:buChar char="•"/>
            </a:pPr>
            <a:r>
              <a:rPr lang="vi-VN" b="0"/>
              <a:t>Giải thích khái niệm dữ liệu và cơ sở dữ liệu</a:t>
            </a:r>
          </a:p>
          <a:p>
            <a:pPr marL="171450" indent="-171450">
              <a:buFont typeface="Arial" panose="020B0604020202020204" pitchFamily="34" charset="0"/>
              <a:buChar char="•"/>
            </a:pPr>
            <a:r>
              <a:rPr lang="vi-VN" b="0"/>
              <a:t>Mô tả các cách tiếp cận để quản lý dữ liệu</a:t>
            </a:r>
          </a:p>
          <a:p>
            <a:pPr marL="171450" indent="-171450">
              <a:buFont typeface="Arial" panose="020B0604020202020204" pitchFamily="34" charset="0"/>
              <a:buChar char="•"/>
            </a:pPr>
            <a:r>
              <a:rPr lang="vi-VN" b="0"/>
              <a:t>Xác định hệ thống quản lý cơ sở dữ liệu (DBMS) và liệt kê các lợi ích của nó</a:t>
            </a:r>
          </a:p>
          <a:p>
            <a:pPr marL="171450" indent="-171450">
              <a:buFont typeface="Arial" panose="020B0604020202020204" pitchFamily="34" charset="0"/>
              <a:buChar char="•"/>
            </a:pPr>
            <a:r>
              <a:rPr lang="vi-VN" b="0"/>
              <a:t>Giải thích các mô hình cơ sở dữ liệu khác nhau</a:t>
            </a:r>
          </a:p>
          <a:p>
            <a:pPr marL="171450" indent="-171450">
              <a:buFont typeface="Arial" panose="020B0604020202020204" pitchFamily="34" charset="0"/>
              <a:buChar char="•"/>
            </a:pPr>
            <a:r>
              <a:rPr lang="vi-VN" b="0"/>
              <a:t>Xác định và giải thích RDBMS</a:t>
            </a:r>
          </a:p>
          <a:p>
            <a:pPr marL="171450" indent="-171450">
              <a:buFont typeface="Arial" panose="020B0604020202020204" pitchFamily="34" charset="0"/>
              <a:buChar char="•"/>
            </a:pPr>
            <a:r>
              <a:rPr lang="vi-VN" b="0"/>
              <a:t>Mô tả các thực thể và bảng và liệt kê các đặc điểm của bảng</a:t>
            </a:r>
          </a:p>
          <a:p>
            <a:pPr marL="171450" indent="-171450">
              <a:buFont typeface="Arial" panose="020B0604020202020204" pitchFamily="34" charset="0"/>
              <a:buChar char="•"/>
            </a:pPr>
            <a:r>
              <a:rPr lang="vi-VN" b="0"/>
              <a:t>Liệt kê sự khác biệt giữa DBMS và RDBMS</a:t>
            </a:r>
            <a:endParaRPr lang="en-US" b="0"/>
          </a:p>
        </p:txBody>
      </p:sp>
      <p:sp>
        <p:nvSpPr>
          <p:cNvPr id="4" name="Slide Number Placeholder 3"/>
          <p:cNvSpPr>
            <a:spLocks noGrp="1"/>
          </p:cNvSpPr>
          <p:nvPr>
            <p:ph type="sldNum" sz="quarter" idx="5"/>
          </p:nvPr>
        </p:nvSpPr>
        <p:spPr/>
        <p:txBody>
          <a:bodyPr/>
          <a:lstStyle/>
          <a:p>
            <a:fld id="{D976D214-27A4-4BD1-B27C-D9D1F2D40EE5}" type="slidenum">
              <a:rPr lang="en-US" smtClean="0"/>
              <a:t>2</a:t>
            </a:fld>
            <a:endParaRPr lang="en-US"/>
          </a:p>
        </p:txBody>
      </p:sp>
    </p:spTree>
    <p:extLst>
      <p:ext uri="{BB962C8B-B14F-4D97-AF65-F5344CB8AC3E}">
        <p14:creationId xmlns:p14="http://schemas.microsoft.com/office/powerpoint/2010/main" val="2113310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Giới thiệu</a:t>
            </a:r>
          </a:p>
          <a:p>
            <a:pPr marL="171450" indent="-171450">
              <a:buFont typeface="Arial" panose="020B0604020202020204" pitchFamily="34" charset="0"/>
              <a:buChar char="•"/>
            </a:pPr>
            <a:r>
              <a:rPr lang="vi-VN"/>
              <a:t>Các tổ chức thường duy trì một lượng lớn dữ liệu, được tạo ra do kết quả của các hoạt động hàng ngày.</a:t>
            </a:r>
            <a:endParaRPr lang="en-US"/>
          </a:p>
          <a:p>
            <a:pPr marL="171450" indent="-171450">
              <a:buFont typeface="Arial" panose="020B0604020202020204" pitchFamily="34" charset="0"/>
              <a:buChar char="•"/>
            </a:pPr>
            <a:r>
              <a:rPr lang="vi-VN"/>
              <a:t>Một cơ sở dữ liệu:</a:t>
            </a:r>
          </a:p>
          <a:p>
            <a:pPr marL="628650" lvl="1" indent="-171450">
              <a:buFont typeface="Arial" panose="020B0604020202020204" pitchFamily="34" charset="0"/>
              <a:buChar char="•"/>
            </a:pPr>
            <a:r>
              <a:rPr lang="vi-VN"/>
              <a:t>là một hình thức có tổ chức của dữ liệu như vậy.</a:t>
            </a:r>
          </a:p>
          <a:p>
            <a:pPr marL="628650" lvl="1" indent="-171450">
              <a:buFont typeface="Arial" panose="020B0604020202020204" pitchFamily="34" charset="0"/>
              <a:buChar char="•"/>
            </a:pPr>
            <a:r>
              <a:rPr lang="vi-VN"/>
              <a:t>có thể bao gồm một hoặc nhiều mục dữ liệu liên quan được gọi là hồ sơ.</a:t>
            </a:r>
          </a:p>
          <a:p>
            <a:pPr marL="628650" lvl="1" indent="-171450">
              <a:buFont typeface="Arial" panose="020B0604020202020204" pitchFamily="34" charset="0"/>
              <a:buChar char="•"/>
            </a:pPr>
            <a:r>
              <a:rPr lang="vi-VN"/>
              <a:t>là một bộ sưu tập dữ liệu mà các câu hỏi khác nhau có thể được hỏi.</a:t>
            </a:r>
            <a:endParaRPr lang="en-US"/>
          </a:p>
          <a:p>
            <a:pPr marL="171450" lvl="0" indent="-171450">
              <a:buFont typeface="Arial" panose="020B0604020202020204" pitchFamily="34" charset="0"/>
              <a:buChar char="•"/>
            </a:pPr>
            <a:r>
              <a:rPr lang="vi-VN"/>
              <a:t>Ví dụ,</a:t>
            </a:r>
          </a:p>
          <a:p>
            <a:pPr marL="628650" lvl="1" indent="-171450">
              <a:buFont typeface="Arial" panose="020B0604020202020204" pitchFamily="34" charset="0"/>
              <a:buChar char="•"/>
            </a:pPr>
            <a:r>
              <a:rPr lang="vi-VN"/>
              <a:t>'Số điện thoại và địa chỉ của </a:t>
            </a:r>
            <a:r>
              <a:rPr lang="en-US"/>
              <a:t>5</a:t>
            </a:r>
            <a:r>
              <a:rPr lang="vi-VN"/>
              <a:t> bưu điện gần nhất là gì?' hoặc</a:t>
            </a:r>
          </a:p>
          <a:p>
            <a:pPr marL="628650" lvl="1" indent="-171450">
              <a:buFont typeface="Arial" panose="020B0604020202020204" pitchFamily="34" charset="0"/>
              <a:buChar char="•"/>
            </a:pPr>
            <a:r>
              <a:rPr lang="vi-VN"/>
              <a:t>'Chúng ta có cuốn sách nào trong thư viện của chúng t</a:t>
            </a:r>
            <a:r>
              <a:rPr lang="en-US"/>
              <a:t>a</a:t>
            </a:r>
            <a:r>
              <a:rPr lang="vi-VN"/>
              <a:t> đối phó với thực phẩm sức khỏe không?'</a:t>
            </a:r>
            <a:endParaRPr lang="en-US"/>
          </a:p>
        </p:txBody>
      </p:sp>
      <p:sp>
        <p:nvSpPr>
          <p:cNvPr id="4" name="Slide Number Placeholder 3"/>
          <p:cNvSpPr>
            <a:spLocks noGrp="1"/>
          </p:cNvSpPr>
          <p:nvPr>
            <p:ph type="sldNum" sz="quarter" idx="5"/>
          </p:nvPr>
        </p:nvSpPr>
        <p:spPr/>
        <p:txBody>
          <a:bodyPr/>
          <a:lstStyle/>
          <a:p>
            <a:fld id="{D976D214-27A4-4BD1-B27C-D9D1F2D40EE5}" type="slidenum">
              <a:rPr lang="en-US" smtClean="0"/>
              <a:t>3</a:t>
            </a:fld>
            <a:endParaRPr lang="en-US"/>
          </a:p>
        </p:txBody>
      </p:sp>
    </p:spTree>
    <p:extLst>
      <p:ext uri="{BB962C8B-B14F-4D97-AF65-F5344CB8AC3E}">
        <p14:creationId xmlns:p14="http://schemas.microsoft.com/office/powerpoint/2010/main" val="38529021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Dữ liệu và cơ sở dữ liệu</a:t>
            </a:r>
            <a:endParaRPr lang="en-US" b="1"/>
          </a:p>
          <a:p>
            <a:pPr marL="171450" indent="-171450">
              <a:buFont typeface="Arial" panose="020B0604020202020204" pitchFamily="34" charset="0"/>
              <a:buChar char="•"/>
            </a:pPr>
            <a:r>
              <a:rPr lang="vi-VN" b="0"/>
              <a:t>Khi dữ liệu được thu thập và phân tích, nó mang lại thông tin. Giải thích thông minh về thông tin năng suất dữ liệu.</a:t>
            </a:r>
            <a:endParaRPr lang="en-US" b="0"/>
          </a:p>
          <a:p>
            <a:pPr marL="171450" indent="-171450">
              <a:buFont typeface="Arial" panose="020B0604020202020204" pitchFamily="34" charset="0"/>
              <a:buChar char="•"/>
            </a:pPr>
            <a:r>
              <a:rPr lang="vi-VN" b="0"/>
              <a:t>Thông tin giúp thấy trước và lên kế hoạch cho các sự kiện.</a:t>
            </a:r>
            <a:endParaRPr lang="en-US" b="0"/>
          </a:p>
          <a:p>
            <a:pPr marL="171450" indent="-171450">
              <a:buFont typeface="Arial" panose="020B0604020202020204" pitchFamily="34" charset="0"/>
              <a:buChar char="•"/>
            </a:pPr>
            <a:r>
              <a:rPr lang="vi-VN" b="0"/>
              <a:t>Cơ sở dữ liệu là một tập hợp dữ liệu có tổ chức sao cho nội dung của nó có thể dễ dàng truy cập, quản lý và cập nhật.</a:t>
            </a:r>
            <a:endParaRPr lang="en-US" b="0"/>
          </a:p>
          <a:p>
            <a:pPr marL="171450" indent="-171450">
              <a:buFont typeface="Arial" panose="020B0604020202020204" pitchFamily="34" charset="0"/>
              <a:buChar char="•"/>
            </a:pPr>
            <a:r>
              <a:rPr lang="en-US" b="1"/>
              <a:t>V</a:t>
            </a:r>
            <a:r>
              <a:rPr lang="vi-VN" b="1"/>
              <a:t>í dụ:</a:t>
            </a:r>
          </a:p>
          <a:p>
            <a:pPr marL="628650" lvl="1" indent="-171450">
              <a:buFont typeface="Arial" panose="020B0604020202020204" pitchFamily="34" charset="0"/>
              <a:buChar char="•"/>
            </a:pPr>
            <a:r>
              <a:rPr lang="vi-VN" b="0"/>
              <a:t>Một danh bạ điện thoại là một cơ sở dữ liệu bao gồm</a:t>
            </a:r>
            <a:r>
              <a:rPr lang="en-US" b="0"/>
              <a:t> </a:t>
            </a:r>
            <a:r>
              <a:rPr lang="vi-VN" b="0"/>
              <a:t>tên, địa chỉ và </a:t>
            </a:r>
            <a:r>
              <a:rPr lang="en-US" b="0"/>
              <a:t>số </a:t>
            </a:r>
            <a:r>
              <a:rPr lang="vi-VN" b="0"/>
              <a:t>điện thoại.</a:t>
            </a:r>
            <a:endParaRPr lang="en-US" b="0"/>
          </a:p>
        </p:txBody>
      </p:sp>
      <p:sp>
        <p:nvSpPr>
          <p:cNvPr id="4" name="Slide Number Placeholder 3"/>
          <p:cNvSpPr>
            <a:spLocks noGrp="1"/>
          </p:cNvSpPr>
          <p:nvPr>
            <p:ph type="sldNum" sz="quarter" idx="5"/>
          </p:nvPr>
        </p:nvSpPr>
        <p:spPr/>
        <p:txBody>
          <a:bodyPr/>
          <a:lstStyle/>
          <a:p>
            <a:fld id="{D976D214-27A4-4BD1-B27C-D9D1F2D40EE5}" type="slidenum">
              <a:rPr lang="en-US" smtClean="0"/>
              <a:t>4</a:t>
            </a:fld>
            <a:endParaRPr lang="en-US"/>
          </a:p>
        </p:txBody>
      </p:sp>
    </p:spTree>
    <p:extLst>
      <p:ext uri="{BB962C8B-B14F-4D97-AF65-F5344CB8AC3E}">
        <p14:creationId xmlns:p14="http://schemas.microsoft.com/office/powerpoint/2010/main" val="2137567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Quản lý dữ liệu</a:t>
            </a:r>
          </a:p>
          <a:p>
            <a:pPr marL="171450" indent="-171450">
              <a:buFont typeface="Arial" panose="020B0604020202020204" pitchFamily="34" charset="0"/>
              <a:buChar char="•"/>
            </a:pPr>
            <a:r>
              <a:rPr lang="vi-VN" b="0"/>
              <a:t>Quản lý dữ liệu liên quan đến việc quản lý một lượng lớn thông tin, liên quan đến:</a:t>
            </a:r>
            <a:endParaRPr lang="en-US" b="0"/>
          </a:p>
          <a:p>
            <a:pPr marL="628650" lvl="1" indent="-171450">
              <a:buFont typeface="Arial" panose="020B0604020202020204" pitchFamily="34" charset="0"/>
              <a:buChar char="•"/>
            </a:pPr>
            <a:r>
              <a:rPr lang="vi-VN" b="0"/>
              <a:t>Lưu trữ thông tin</a:t>
            </a:r>
          </a:p>
          <a:p>
            <a:pPr marL="628650" lvl="1" indent="-171450">
              <a:buFont typeface="Arial" panose="020B0604020202020204" pitchFamily="34" charset="0"/>
              <a:buChar char="•"/>
            </a:pPr>
            <a:r>
              <a:rPr lang="vi-VN" b="0"/>
              <a:t>Cung cấp các cơ chế để thao tác thông tin</a:t>
            </a:r>
          </a:p>
          <a:p>
            <a:pPr marL="628650" lvl="1" indent="-171450">
              <a:buFont typeface="Arial" panose="020B0604020202020204" pitchFamily="34" charset="0"/>
              <a:buChar char="•"/>
            </a:pPr>
            <a:r>
              <a:rPr lang="vi-VN" b="0"/>
              <a:t>Cung cấp sự an toàn của thông tin được lưu trữ trong các trường hợp khác nhau</a:t>
            </a:r>
            <a:endParaRPr lang="en-US" b="0"/>
          </a:p>
          <a:p>
            <a:pPr marL="171450" lvl="0" indent="-171450">
              <a:buFont typeface="Arial" panose="020B0604020202020204" pitchFamily="34" charset="0"/>
              <a:buChar char="•"/>
            </a:pPr>
            <a:r>
              <a:rPr lang="en-US" b="0"/>
              <a:t>Hai cách tiếp cận khác nhau của việc quản lý dữ liệu là:</a:t>
            </a:r>
          </a:p>
          <a:p>
            <a:pPr marL="628650" lvl="1" indent="-171450">
              <a:buFont typeface="Arial" panose="020B0604020202020204" pitchFamily="34" charset="0"/>
              <a:buChar char="•"/>
            </a:pPr>
            <a:r>
              <a:rPr lang="en-US" b="0"/>
              <a:t>Hệ thống dựa trên tập tin</a:t>
            </a:r>
          </a:p>
          <a:p>
            <a:pPr marL="628650" lvl="1" indent="-171450">
              <a:buFont typeface="Arial" panose="020B0604020202020204" pitchFamily="34" charset="0"/>
              <a:buChar char="•"/>
            </a:pPr>
            <a:r>
              <a:rPr lang="vi-VN" b="0"/>
              <a:t>Hệ thống cơ sở dữ liệu</a:t>
            </a:r>
            <a:endParaRPr lang="en-US" b="0"/>
          </a:p>
        </p:txBody>
      </p:sp>
      <p:sp>
        <p:nvSpPr>
          <p:cNvPr id="4" name="Slide Number Placeholder 3"/>
          <p:cNvSpPr>
            <a:spLocks noGrp="1"/>
          </p:cNvSpPr>
          <p:nvPr>
            <p:ph type="sldNum" sz="quarter" idx="5"/>
          </p:nvPr>
        </p:nvSpPr>
        <p:spPr/>
        <p:txBody>
          <a:bodyPr/>
          <a:lstStyle/>
          <a:p>
            <a:fld id="{D976D214-27A4-4BD1-B27C-D9D1F2D40EE5}" type="slidenum">
              <a:rPr lang="en-US" smtClean="0"/>
              <a:t>5</a:t>
            </a:fld>
            <a:endParaRPr lang="en-US"/>
          </a:p>
        </p:txBody>
      </p:sp>
    </p:spTree>
    <p:extLst>
      <p:ext uri="{BB962C8B-B14F-4D97-AF65-F5344CB8AC3E}">
        <p14:creationId xmlns:p14="http://schemas.microsoft.com/office/powerpoint/2010/main" val="27085032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a:t>Hệ thống dựa trên tập tin</a:t>
            </a:r>
          </a:p>
          <a:p>
            <a:pPr marL="171450" indent="-171450">
              <a:buFont typeface="Arial" panose="020B0604020202020204" pitchFamily="34" charset="0"/>
              <a:buChar char="•"/>
            </a:pPr>
            <a:r>
              <a:rPr lang="vi-VN"/>
              <a:t>Trong một hệ thống dựa trên t</a:t>
            </a:r>
            <a:r>
              <a:rPr lang="en-US"/>
              <a:t>ậ</a:t>
            </a:r>
            <a:r>
              <a:rPr lang="vi-VN"/>
              <a:t>p</a:t>
            </a:r>
            <a:r>
              <a:rPr lang="en-US"/>
              <a:t> tin</a:t>
            </a:r>
            <a:r>
              <a:rPr lang="vi-VN"/>
              <a:t>, dữ liệu được lưu trữ trong các t</a:t>
            </a:r>
            <a:r>
              <a:rPr lang="en-US"/>
              <a:t>ậ</a:t>
            </a:r>
            <a:r>
              <a:rPr lang="vi-VN"/>
              <a:t>p riêng biệt và một bộ sưu tập các t</a:t>
            </a:r>
            <a:r>
              <a:rPr lang="en-US"/>
              <a:t>ậ</a:t>
            </a:r>
            <a:r>
              <a:rPr lang="vi-VN"/>
              <a:t>p đó được lưu trữ trên máy tính</a:t>
            </a:r>
            <a:endParaRPr lang="en-US"/>
          </a:p>
          <a:p>
            <a:pPr marL="171450" indent="-171450">
              <a:buFont typeface="Arial" panose="020B0604020202020204" pitchFamily="34" charset="0"/>
              <a:buChar char="•"/>
            </a:pPr>
            <a:r>
              <a:rPr lang="vi-VN"/>
              <a:t>Các t</a:t>
            </a:r>
            <a:r>
              <a:rPr lang="en-US"/>
              <a:t>ậ</a:t>
            </a:r>
            <a:r>
              <a:rPr lang="vi-VN"/>
              <a:t>p </a:t>
            </a:r>
            <a:r>
              <a:rPr lang="en-US"/>
              <a:t>tin </a:t>
            </a:r>
            <a:r>
              <a:rPr lang="vi-VN"/>
              <a:t>của dữ liệu lưu trữ được gọi là bảng</a:t>
            </a:r>
            <a:endParaRPr lang="en-US"/>
          </a:p>
          <a:p>
            <a:pPr marL="171450" indent="-171450">
              <a:buFont typeface="Arial" panose="020B0604020202020204" pitchFamily="34" charset="0"/>
              <a:buChar char="•"/>
            </a:pPr>
            <a:r>
              <a:rPr lang="vi-VN"/>
              <a:t>Các hàng trong bảng được gọi là </a:t>
            </a:r>
            <a:r>
              <a:rPr lang="en-US"/>
              <a:t>các mẫu tin </a:t>
            </a:r>
            <a:r>
              <a:rPr lang="vi-VN"/>
              <a:t>và cột được gọi là trường </a:t>
            </a:r>
            <a:endParaRPr lang="en-US"/>
          </a:p>
          <a:p>
            <a:pPr marL="171450" indent="-171450">
              <a:buFont typeface="Arial" panose="020B0604020202020204" pitchFamily="34" charset="0"/>
              <a:buChar char="•"/>
            </a:pPr>
            <a:r>
              <a:rPr lang="vi-VN"/>
              <a:t>Ví dụ:</a:t>
            </a:r>
            <a:endParaRPr lang="en-US"/>
          </a:p>
        </p:txBody>
      </p:sp>
      <p:sp>
        <p:nvSpPr>
          <p:cNvPr id="4" name="Slide Number Placeholder 3"/>
          <p:cNvSpPr>
            <a:spLocks noGrp="1"/>
          </p:cNvSpPr>
          <p:nvPr>
            <p:ph type="sldNum" sz="quarter" idx="5"/>
          </p:nvPr>
        </p:nvSpPr>
        <p:spPr/>
        <p:txBody>
          <a:bodyPr/>
          <a:lstStyle/>
          <a:p>
            <a:fld id="{D976D214-27A4-4BD1-B27C-D9D1F2D40EE5}" type="slidenum">
              <a:rPr lang="en-US" smtClean="0"/>
              <a:t>6</a:t>
            </a:fld>
            <a:endParaRPr lang="en-US"/>
          </a:p>
        </p:txBody>
      </p:sp>
    </p:spTree>
    <p:extLst>
      <p:ext uri="{BB962C8B-B14F-4D97-AF65-F5344CB8AC3E}">
        <p14:creationId xmlns:p14="http://schemas.microsoft.com/office/powerpoint/2010/main" val="34080670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Nhược điểm của hệ thống dựa trên t</a:t>
            </a:r>
            <a:r>
              <a:rPr lang="en-US" b="1"/>
              <a:t>ậ</a:t>
            </a:r>
            <a:r>
              <a:rPr lang="vi-VN" b="1"/>
              <a:t>p</a:t>
            </a:r>
            <a:r>
              <a:rPr lang="en-US" b="1"/>
              <a:t> tin</a:t>
            </a:r>
          </a:p>
          <a:p>
            <a:pPr marL="171450" indent="-171450">
              <a:buFont typeface="Arial" panose="020B0604020202020204" pitchFamily="34" charset="0"/>
              <a:buChar char="•"/>
            </a:pPr>
            <a:r>
              <a:rPr lang="en-US" b="0"/>
              <a:t>Dự phòng dữ liệu và không nhất quán</a:t>
            </a:r>
          </a:p>
          <a:p>
            <a:pPr marL="171450" indent="-171450">
              <a:buFont typeface="Arial" panose="020B0604020202020204" pitchFamily="34" charset="0"/>
              <a:buChar char="•"/>
            </a:pPr>
            <a:r>
              <a:rPr lang="vi-VN" b="0"/>
              <a:t>Truy vấn không lường trước được</a:t>
            </a:r>
            <a:endParaRPr lang="en-US" b="0"/>
          </a:p>
          <a:p>
            <a:pPr marL="171450" indent="-171450">
              <a:buFont typeface="Arial" panose="020B0604020202020204" pitchFamily="34" charset="0"/>
              <a:buChar char="•"/>
            </a:pPr>
            <a:r>
              <a:rPr lang="en-US" b="0"/>
              <a:t>Cô lập dữ liệu</a:t>
            </a:r>
          </a:p>
          <a:p>
            <a:pPr marL="171450" indent="-171450">
              <a:buFont typeface="Arial" panose="020B0604020202020204" pitchFamily="34" charset="0"/>
              <a:buChar char="•"/>
            </a:pPr>
            <a:r>
              <a:rPr lang="vi-VN" b="0"/>
              <a:t>Bất thường </a:t>
            </a:r>
            <a:r>
              <a:rPr lang="en-US" b="0"/>
              <a:t>khi </a:t>
            </a:r>
            <a:r>
              <a:rPr lang="vi-VN" b="0"/>
              <a:t>truy cập đồng thời</a:t>
            </a:r>
            <a:endParaRPr lang="en-US" b="0"/>
          </a:p>
          <a:p>
            <a:pPr marL="171450" indent="-171450">
              <a:buFont typeface="Arial" panose="020B0604020202020204" pitchFamily="34" charset="0"/>
              <a:buChar char="•"/>
            </a:pPr>
            <a:r>
              <a:rPr lang="en-US" b="0"/>
              <a:t>Vấn đề bảo mật</a:t>
            </a:r>
          </a:p>
          <a:p>
            <a:pPr marL="171450" indent="-171450">
              <a:buFont typeface="Arial" panose="020B0604020202020204" pitchFamily="34" charset="0"/>
              <a:buChar char="•"/>
            </a:pPr>
            <a:r>
              <a:rPr lang="en-US" b="0"/>
              <a:t>Vấn đề toàn vẹn</a:t>
            </a:r>
          </a:p>
        </p:txBody>
      </p:sp>
      <p:sp>
        <p:nvSpPr>
          <p:cNvPr id="4" name="Slide Number Placeholder 3"/>
          <p:cNvSpPr>
            <a:spLocks noGrp="1"/>
          </p:cNvSpPr>
          <p:nvPr>
            <p:ph type="sldNum" sz="quarter" idx="5"/>
          </p:nvPr>
        </p:nvSpPr>
        <p:spPr/>
        <p:txBody>
          <a:bodyPr/>
          <a:lstStyle/>
          <a:p>
            <a:fld id="{D976D214-27A4-4BD1-B27C-D9D1F2D40EE5}" type="slidenum">
              <a:rPr lang="en-US" smtClean="0"/>
              <a:t>7</a:t>
            </a:fld>
            <a:endParaRPr lang="en-US"/>
          </a:p>
        </p:txBody>
      </p:sp>
    </p:spTree>
    <p:extLst>
      <p:ext uri="{BB962C8B-B14F-4D97-AF65-F5344CB8AC3E}">
        <p14:creationId xmlns:p14="http://schemas.microsoft.com/office/powerpoint/2010/main" val="1414062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Hệ thống cơ sở dữ liệu</a:t>
            </a:r>
            <a:endParaRPr lang="en-US" b="1"/>
          </a:p>
          <a:p>
            <a:pPr marL="171450" indent="-171450">
              <a:buFont typeface="Arial" panose="020B0604020202020204" pitchFamily="34" charset="0"/>
              <a:buChar char="•"/>
            </a:pPr>
            <a:r>
              <a:rPr lang="vi-VN" b="0"/>
              <a:t>Các hệ thống cơ sở dữ liệu phát triển vào cuối những năm 1960 để giải quyết các vấn đề phổ biến trong các ứng dụng xử lý khối lượng lớn dữ liệu, cũng là dữ liệu chuyên sâu.</a:t>
            </a:r>
            <a:endParaRPr lang="en-US" b="0"/>
          </a:p>
          <a:p>
            <a:pPr marL="171450" indent="-171450">
              <a:buFont typeface="Arial" panose="020B0604020202020204" pitchFamily="34" charset="0"/>
              <a:buChar char="•"/>
            </a:pPr>
            <a:r>
              <a:rPr lang="vi-VN" b="0"/>
              <a:t>Cơ sở dữ liệu được sử dụng để lưu trữ dữ liệu một cách hiệu quả và có tổ chức. Cơ sở dữ liệu cho phép quản lý dữ liệu nhanh chóng và dễ dàng</a:t>
            </a:r>
            <a:endParaRPr lang="en-US" b="0"/>
          </a:p>
          <a:p>
            <a:pPr marL="171450" indent="-171450">
              <a:buFont typeface="Arial" panose="020B0604020202020204" pitchFamily="34" charset="0"/>
              <a:buChar char="•"/>
            </a:pPr>
            <a:r>
              <a:rPr lang="vi-VN" b="0"/>
              <a:t>Tại bất kỳ thời điểm nào, dữ liệu có thể được lấy từ cơ sở dữ liệu, được thêm vào và được tìm kiếm dựa trên một số tiêu chí trong các cơ sở dữ liệu này.</a:t>
            </a:r>
            <a:endParaRPr lang="en-US" b="0"/>
          </a:p>
          <a:p>
            <a:pPr marL="171450" indent="-171450">
              <a:buFont typeface="Arial" panose="020B0604020202020204" pitchFamily="34" charset="0"/>
              <a:buChar char="•"/>
            </a:pPr>
            <a:r>
              <a:rPr lang="vi-VN" b="0"/>
              <a:t>Lưu trữ dữ liệu có thể đạt được ngay cả khi sử dụng các t</a:t>
            </a:r>
            <a:r>
              <a:rPr lang="en-US" b="0"/>
              <a:t>ậ</a:t>
            </a:r>
            <a:r>
              <a:rPr lang="vi-VN" b="0"/>
              <a:t>p </a:t>
            </a:r>
            <a:r>
              <a:rPr lang="en-US" b="0"/>
              <a:t>tin </a:t>
            </a:r>
            <a:r>
              <a:rPr lang="vi-VN" b="0"/>
              <a:t>thủ công đơn giản.</a:t>
            </a:r>
            <a:endParaRPr lang="en-US" b="0"/>
          </a:p>
          <a:p>
            <a:pPr marL="171450" indent="-171450">
              <a:buFont typeface="Arial" panose="020B0604020202020204" pitchFamily="34" charset="0"/>
              <a:buChar char="•"/>
            </a:pPr>
            <a:r>
              <a:rPr lang="vi-VN" b="0"/>
              <a:t>Dữ liệu được lưu trữ trong hình thức này là không vĩnh viễn. </a:t>
            </a:r>
            <a:r>
              <a:rPr lang="en-US" b="0"/>
              <a:t>Các mẫu tin </a:t>
            </a:r>
            <a:r>
              <a:rPr lang="vi-VN" b="0"/>
              <a:t>trong các t</a:t>
            </a:r>
            <a:r>
              <a:rPr lang="en-US" b="0"/>
              <a:t>ậ</a:t>
            </a:r>
            <a:r>
              <a:rPr lang="vi-VN" b="0"/>
              <a:t>p </a:t>
            </a:r>
            <a:r>
              <a:rPr lang="en-US" b="0"/>
              <a:t>tin </a:t>
            </a:r>
            <a:r>
              <a:rPr lang="vi-VN" b="0"/>
              <a:t>thủ công như vậy chỉ có thể được duy trì trong một vài tháng hoặc vài năm.</a:t>
            </a:r>
            <a:endParaRPr lang="en-US" b="0"/>
          </a:p>
        </p:txBody>
      </p:sp>
      <p:sp>
        <p:nvSpPr>
          <p:cNvPr id="4" name="Slide Number Placeholder 3"/>
          <p:cNvSpPr>
            <a:spLocks noGrp="1"/>
          </p:cNvSpPr>
          <p:nvPr>
            <p:ph type="sldNum" sz="quarter" idx="5"/>
          </p:nvPr>
        </p:nvSpPr>
        <p:spPr/>
        <p:txBody>
          <a:bodyPr/>
          <a:lstStyle/>
          <a:p>
            <a:fld id="{D976D214-27A4-4BD1-B27C-D9D1F2D40EE5}" type="slidenum">
              <a:rPr lang="en-US" smtClean="0"/>
              <a:t>8</a:t>
            </a:fld>
            <a:endParaRPr lang="en-US"/>
          </a:p>
        </p:txBody>
      </p:sp>
    </p:spTree>
    <p:extLst>
      <p:ext uri="{BB962C8B-B14F-4D97-AF65-F5344CB8AC3E}">
        <p14:creationId xmlns:p14="http://schemas.microsoft.com/office/powerpoint/2010/main" val="4045648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Ưu điểm của hệ thống cơ sở dữ liệu</a:t>
            </a:r>
            <a:endParaRPr lang="en-US" b="1"/>
          </a:p>
          <a:p>
            <a:pPr marL="171450" indent="-171450">
              <a:buFont typeface="Arial" panose="020B0604020202020204" pitchFamily="34" charset="0"/>
              <a:buChar char="•"/>
            </a:pPr>
            <a:r>
              <a:rPr lang="en-US" b="0"/>
              <a:t>C</a:t>
            </a:r>
            <a:r>
              <a:rPr lang="vi-VN" b="0"/>
              <a:t>ó thể giảm dung lượng dư thừa trong dữ liệu được lưu trữ</a:t>
            </a:r>
            <a:endParaRPr lang="en-US" b="0"/>
          </a:p>
          <a:p>
            <a:pPr marL="171450" indent="-171450">
              <a:buFont typeface="Arial" panose="020B0604020202020204" pitchFamily="34" charset="0"/>
              <a:buChar char="•"/>
            </a:pPr>
            <a:r>
              <a:rPr lang="en-US" b="0"/>
              <a:t>Không có nhiều tính không nhất quán trong dữ liệu</a:t>
            </a:r>
          </a:p>
          <a:p>
            <a:pPr marL="171450" indent="-171450">
              <a:buFont typeface="Arial" panose="020B0604020202020204" pitchFamily="34" charset="0"/>
              <a:buChar char="•"/>
            </a:pPr>
            <a:r>
              <a:rPr lang="vi-VN" b="0"/>
              <a:t>Dữ liệu được lưu trữ có thể được chia sẻ</a:t>
            </a:r>
            <a:endParaRPr lang="en-US" b="0"/>
          </a:p>
          <a:p>
            <a:pPr marL="171450" indent="-171450">
              <a:buFont typeface="Arial" panose="020B0604020202020204" pitchFamily="34" charset="0"/>
              <a:buChar char="•"/>
            </a:pPr>
            <a:r>
              <a:rPr lang="en-US" b="0"/>
              <a:t>Các t</a:t>
            </a:r>
            <a:r>
              <a:rPr lang="vi-VN" b="0"/>
              <a:t>iêu chuẩn có thể được </a:t>
            </a:r>
            <a:r>
              <a:rPr lang="en-US" b="0"/>
              <a:t>áp </a:t>
            </a:r>
            <a:r>
              <a:rPr lang="vi-VN" b="0"/>
              <a:t>đặt và </a:t>
            </a:r>
            <a:r>
              <a:rPr lang="en-US" b="0"/>
              <a:t>tuân </a:t>
            </a:r>
            <a:r>
              <a:rPr lang="vi-VN" b="0"/>
              <a:t>theo</a:t>
            </a:r>
            <a:endParaRPr lang="en-US" b="0"/>
          </a:p>
          <a:p>
            <a:pPr marL="171450" indent="-171450">
              <a:buFont typeface="Arial" panose="020B0604020202020204" pitchFamily="34" charset="0"/>
              <a:buChar char="•"/>
            </a:pPr>
            <a:r>
              <a:rPr lang="vi-VN" b="0"/>
              <a:t>Tính toàn vẹn dữ liệu có thể được duy trì</a:t>
            </a:r>
            <a:endParaRPr lang="en-US" b="0"/>
          </a:p>
          <a:p>
            <a:pPr marL="171450" indent="-171450">
              <a:buFont typeface="Arial" panose="020B0604020202020204" pitchFamily="34" charset="0"/>
              <a:buChar char="•"/>
            </a:pPr>
            <a:r>
              <a:rPr lang="vi-VN" b="0"/>
              <a:t>Bảo mật dữ liệu có thể được thực hiện</a:t>
            </a:r>
            <a:endParaRPr lang="en-US" b="0"/>
          </a:p>
        </p:txBody>
      </p:sp>
      <p:sp>
        <p:nvSpPr>
          <p:cNvPr id="4" name="Slide Number Placeholder 3"/>
          <p:cNvSpPr>
            <a:spLocks noGrp="1"/>
          </p:cNvSpPr>
          <p:nvPr>
            <p:ph type="sldNum" sz="quarter" idx="5"/>
          </p:nvPr>
        </p:nvSpPr>
        <p:spPr/>
        <p:txBody>
          <a:bodyPr/>
          <a:lstStyle/>
          <a:p>
            <a:fld id="{D976D214-27A4-4BD1-B27C-D9D1F2D40EE5}" type="slidenum">
              <a:rPr lang="en-US" smtClean="0"/>
              <a:t>9</a:t>
            </a:fld>
            <a:endParaRPr lang="en-US"/>
          </a:p>
        </p:txBody>
      </p:sp>
    </p:spTree>
    <p:extLst>
      <p:ext uri="{BB962C8B-B14F-4D97-AF65-F5344CB8AC3E}">
        <p14:creationId xmlns:p14="http://schemas.microsoft.com/office/powerpoint/2010/main" val="40721378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Hệ thống quản lý cơ sở dữ liệu (DBMS) 1-3</a:t>
            </a:r>
            <a:endParaRPr lang="en-US" b="1"/>
          </a:p>
          <a:p>
            <a:pPr marL="171450" indent="-171450">
              <a:buFont typeface="Arial" panose="020B0604020202020204" pitchFamily="34" charset="0"/>
              <a:buChar char="•"/>
            </a:pPr>
            <a:r>
              <a:rPr lang="vi-VN" b="0"/>
              <a:t>DBMS là một tập hợp các </a:t>
            </a:r>
            <a:r>
              <a:rPr lang="en-US" b="0"/>
              <a:t>mẫu tin </a:t>
            </a:r>
            <a:r>
              <a:rPr lang="vi-VN" b="0"/>
              <a:t>liên quan và một tập hợp các chương trình truy cập và thao tác các </a:t>
            </a:r>
            <a:r>
              <a:rPr lang="en-US" b="0"/>
              <a:t>mẫu tin </a:t>
            </a:r>
            <a:r>
              <a:rPr lang="vi-VN" b="0"/>
              <a:t>này và cho phép người dùng nhập, lưu trữ và quản lý dữ liệu.</a:t>
            </a:r>
            <a:endParaRPr lang="en-US" b="0"/>
          </a:p>
          <a:p>
            <a:pPr marL="171450" indent="-171450">
              <a:buFont typeface="Arial" panose="020B0604020202020204" pitchFamily="34" charset="0"/>
              <a:buChar char="•"/>
            </a:pPr>
            <a:r>
              <a:rPr lang="vi-VN" b="0"/>
              <a:t>Trong một hệ thống cơ sở dữ liệu tập trung, cơ sở dữ liệu được lưu trữ ở vị trí trung tâm mà mọi người có thể có quyền truy cập từ máy của họ.</a:t>
            </a:r>
            <a:endParaRPr lang="en-US" b="0"/>
          </a:p>
          <a:p>
            <a:pPr marL="171450" indent="-171450">
              <a:buFont typeface="Arial" panose="020B0604020202020204" pitchFamily="34" charset="0"/>
              <a:buChar char="•"/>
            </a:pPr>
            <a:r>
              <a:rPr lang="vi-VN" b="0"/>
              <a:t>Cơ sở dữ liệu là một tập hợp </a:t>
            </a:r>
            <a:r>
              <a:rPr lang="en-US" b="0"/>
              <a:t>các </a:t>
            </a:r>
            <a:r>
              <a:rPr lang="vi-VN" b="0"/>
              <a:t>dữ liệu liên quan và DBMS là một tập hợp các chương trình được sử dụng để thêm hoặc sửa đổi dữ liệu này.</a:t>
            </a:r>
            <a:endParaRPr lang="en-US" b="0"/>
          </a:p>
          <a:p>
            <a:pPr marL="171450" indent="-171450">
              <a:buFont typeface="Arial" panose="020B0604020202020204" pitchFamily="34" charset="0"/>
              <a:buChar char="•"/>
            </a:pPr>
            <a:r>
              <a:rPr lang="vi-VN" b="0"/>
              <a:t>Ví dụ về các ứng dụng cơ sở dữ liệu bao gồm:</a:t>
            </a:r>
            <a:endParaRPr lang="en-US" b="0"/>
          </a:p>
          <a:p>
            <a:pPr marL="628650" lvl="1" indent="-171450">
              <a:buFont typeface="Arial" panose="020B0604020202020204" pitchFamily="34" charset="0"/>
              <a:buChar char="•"/>
            </a:pPr>
            <a:r>
              <a:rPr lang="vi-VN" b="0"/>
              <a:t>Hệ thống thư viện vi tính</a:t>
            </a:r>
            <a:endParaRPr lang="en-US" b="0"/>
          </a:p>
          <a:p>
            <a:pPr marL="628650" lvl="1" indent="-171450">
              <a:buFont typeface="Arial" panose="020B0604020202020204" pitchFamily="34" charset="0"/>
              <a:buChar char="•"/>
            </a:pPr>
            <a:r>
              <a:rPr lang="en-US" b="0"/>
              <a:t>Máy rút tiền tự động</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Hệ thống đặt chuyến bay</a:t>
            </a:r>
          </a:p>
          <a:p>
            <a:pPr marL="628650" lvl="1" indent="-171450">
              <a:buFont typeface="Arial" panose="020B0604020202020204" pitchFamily="34" charset="0"/>
              <a:buChar char="•"/>
            </a:pPr>
            <a:r>
              <a:rPr lang="en-US" b="0"/>
              <a:t>Hệ thống kiểm kê bộ phận vi tính</a:t>
            </a:r>
          </a:p>
        </p:txBody>
      </p:sp>
      <p:sp>
        <p:nvSpPr>
          <p:cNvPr id="4" name="Slide Number Placeholder 3"/>
          <p:cNvSpPr>
            <a:spLocks noGrp="1"/>
          </p:cNvSpPr>
          <p:nvPr>
            <p:ph type="sldNum" sz="quarter" idx="5"/>
          </p:nvPr>
        </p:nvSpPr>
        <p:spPr/>
        <p:txBody>
          <a:bodyPr/>
          <a:lstStyle/>
          <a:p>
            <a:fld id="{D976D214-27A4-4BD1-B27C-D9D1F2D40EE5}" type="slidenum">
              <a:rPr lang="en-US" smtClean="0"/>
              <a:t>10</a:t>
            </a:fld>
            <a:endParaRPr lang="en-US"/>
          </a:p>
        </p:txBody>
      </p:sp>
    </p:spTree>
    <p:extLst>
      <p:ext uri="{BB962C8B-B14F-4D97-AF65-F5344CB8AC3E}">
        <p14:creationId xmlns:p14="http://schemas.microsoft.com/office/powerpoint/2010/main" val="6077929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Hệ thống quản lý cơ sở dữ liệu (DBMS) </a:t>
            </a:r>
            <a:r>
              <a:rPr lang="en-US" b="1"/>
              <a:t>2</a:t>
            </a:r>
            <a:r>
              <a:rPr lang="vi-VN" b="1"/>
              <a:t>-3</a:t>
            </a:r>
            <a:endParaRPr lang="en-US" b="1"/>
          </a:p>
          <a:p>
            <a:pPr marL="171450" indent="-171450">
              <a:buFont typeface="Arial" panose="020B0604020202020204" pitchFamily="34" charset="0"/>
              <a:buChar char="•"/>
            </a:pPr>
            <a:r>
              <a:rPr lang="vi-VN" b="0"/>
              <a:t>DBMS là một tập hợp các </a:t>
            </a:r>
            <a:r>
              <a:rPr lang="en-US" b="0"/>
              <a:t>mẫu tin </a:t>
            </a:r>
            <a:r>
              <a:rPr lang="vi-VN" b="0"/>
              <a:t>liên quan và một tập hợp các chương trình truy cập và thao tác các </a:t>
            </a:r>
            <a:r>
              <a:rPr lang="en-US" b="0"/>
              <a:t>mẫu tin </a:t>
            </a:r>
            <a:r>
              <a:rPr lang="vi-VN" b="0"/>
              <a:t>này và cho phép người dùng nhập, lưu trữ và quản lý dữ liệu.</a:t>
            </a:r>
            <a:endParaRPr lang="en-US" b="0"/>
          </a:p>
          <a:p>
            <a:pPr marL="171450" indent="-171450">
              <a:buFont typeface="Arial" panose="020B0604020202020204" pitchFamily="34" charset="0"/>
              <a:buChar char="•"/>
            </a:pPr>
            <a:r>
              <a:rPr lang="vi-VN" b="0"/>
              <a:t>Trong một hệ thống cơ sở dữ liệu tập trung, cơ sở dữ liệu được lưu trữ ở vị trí trung tâm mà mọi người có thể có quyền truy cập từ máy của họ.</a:t>
            </a:r>
            <a:endParaRPr lang="en-US" b="0"/>
          </a:p>
          <a:p>
            <a:pPr marL="171450" indent="-171450">
              <a:buFont typeface="Arial" panose="020B0604020202020204" pitchFamily="34" charset="0"/>
              <a:buChar char="•"/>
            </a:pPr>
            <a:r>
              <a:rPr lang="vi-VN" b="0"/>
              <a:t>Cơ sở dữ liệu là một tập hợp </a:t>
            </a:r>
            <a:r>
              <a:rPr lang="en-US" b="0"/>
              <a:t>các </a:t>
            </a:r>
            <a:r>
              <a:rPr lang="vi-VN" b="0"/>
              <a:t>dữ liệu liên quan và DBMS là một tập hợp các chương trình được sử dụng để thêm hoặc sửa đổi dữ liệu này.</a:t>
            </a:r>
            <a:endParaRPr lang="en-US" b="0"/>
          </a:p>
          <a:p>
            <a:pPr marL="171450" indent="-171450">
              <a:buFont typeface="Arial" panose="020B0604020202020204" pitchFamily="34" charset="0"/>
              <a:buChar char="•"/>
            </a:pPr>
            <a:r>
              <a:rPr lang="en-US" b="0"/>
              <a:t>Ví dụ</a:t>
            </a:r>
          </a:p>
        </p:txBody>
      </p:sp>
      <p:sp>
        <p:nvSpPr>
          <p:cNvPr id="4" name="Slide Number Placeholder 3"/>
          <p:cNvSpPr>
            <a:spLocks noGrp="1"/>
          </p:cNvSpPr>
          <p:nvPr>
            <p:ph type="sldNum" sz="quarter" idx="5"/>
          </p:nvPr>
        </p:nvSpPr>
        <p:spPr/>
        <p:txBody>
          <a:bodyPr/>
          <a:lstStyle/>
          <a:p>
            <a:fld id="{D976D214-27A4-4BD1-B27C-D9D1F2D40EE5}" type="slidenum">
              <a:rPr lang="en-US" smtClean="0"/>
              <a:t>11</a:t>
            </a:fld>
            <a:endParaRPr lang="en-US"/>
          </a:p>
        </p:txBody>
      </p:sp>
    </p:spTree>
    <p:extLst>
      <p:ext uri="{BB962C8B-B14F-4D97-AF65-F5344CB8AC3E}">
        <p14:creationId xmlns:p14="http://schemas.microsoft.com/office/powerpoint/2010/main" val="3705318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Hệ thống quản lý cơ sở dữ liệu (DBMS) </a:t>
            </a:r>
            <a:r>
              <a:rPr lang="en-US" b="1"/>
              <a:t>2</a:t>
            </a:r>
            <a:r>
              <a:rPr lang="vi-VN" b="1"/>
              <a:t>-3</a:t>
            </a:r>
            <a:endParaRPr lang="en-US" b="1"/>
          </a:p>
          <a:p>
            <a:endParaRPr lang="en-US"/>
          </a:p>
        </p:txBody>
      </p:sp>
      <p:sp>
        <p:nvSpPr>
          <p:cNvPr id="4" name="Slide Number Placeholder 3"/>
          <p:cNvSpPr>
            <a:spLocks noGrp="1"/>
          </p:cNvSpPr>
          <p:nvPr>
            <p:ph type="sldNum" sz="quarter" idx="5"/>
          </p:nvPr>
        </p:nvSpPr>
        <p:spPr/>
        <p:txBody>
          <a:bodyPr/>
          <a:lstStyle/>
          <a:p>
            <a:fld id="{D976D214-27A4-4BD1-B27C-D9D1F2D40EE5}" type="slidenum">
              <a:rPr lang="en-US" smtClean="0"/>
              <a:t>12</a:t>
            </a:fld>
            <a:endParaRPr lang="en-US"/>
          </a:p>
        </p:txBody>
      </p:sp>
    </p:spTree>
    <p:extLst>
      <p:ext uri="{BB962C8B-B14F-4D97-AF65-F5344CB8AC3E}">
        <p14:creationId xmlns:p14="http://schemas.microsoft.com/office/powerpoint/2010/main" val="2574735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Lợi ích của DBMS 1-2</a:t>
            </a:r>
          </a:p>
          <a:p>
            <a:pPr marL="171450" indent="-171450">
              <a:buFont typeface="Arial" panose="020B0604020202020204" pitchFamily="34" charset="0"/>
              <a:buChar char="•"/>
            </a:pPr>
            <a:r>
              <a:rPr lang="en-US" b="0"/>
              <a:t>Một DBMS chịu trách nhiệm xử lý dữ liệu và chuyển đổi nó thành thông tin.</a:t>
            </a:r>
          </a:p>
          <a:p>
            <a:pPr marL="171450" indent="-171450">
              <a:buFont typeface="Arial" panose="020B0604020202020204" pitchFamily="34" charset="0"/>
              <a:buChar char="•"/>
            </a:pPr>
            <a:r>
              <a:rPr lang="vi-VN" b="0"/>
              <a:t>Cơ sở dữ liệu cho mục đích này phải được thao tác, bao gồm truy vấn cơ sở dữ liệu để truy xuất dữ liệu cụ thể, cập nhật cơ sở dữ liệu và cuối cùng, tạo báo cáo.</a:t>
            </a:r>
            <a:endParaRPr lang="en-US" b="0"/>
          </a:p>
          <a:p>
            <a:pPr marL="171450" indent="-171450">
              <a:buFont typeface="Arial" panose="020B0604020202020204" pitchFamily="34" charset="0"/>
              <a:buChar char="•"/>
            </a:pPr>
            <a:r>
              <a:rPr lang="vi-VN" b="0"/>
              <a:t>Những báo cáo này là nguồn thông tin, là dữ liệu được xử lý.</a:t>
            </a:r>
            <a:endParaRPr lang="en-US" b="0"/>
          </a:p>
          <a:p>
            <a:pPr marL="171450" indent="-171450">
              <a:buFont typeface="Arial" panose="020B0604020202020204" pitchFamily="34" charset="0"/>
              <a:buChar char="•"/>
            </a:pPr>
            <a:r>
              <a:rPr lang="en-US" b="0"/>
              <a:t>Một DBMS cũng chịu trách nhiệm bảo mật dữ liệu và tính toàn vẹn.</a:t>
            </a:r>
          </a:p>
        </p:txBody>
      </p:sp>
      <p:sp>
        <p:nvSpPr>
          <p:cNvPr id="4" name="Slide Number Placeholder 3"/>
          <p:cNvSpPr>
            <a:spLocks noGrp="1"/>
          </p:cNvSpPr>
          <p:nvPr>
            <p:ph type="sldNum" sz="quarter" idx="5"/>
          </p:nvPr>
        </p:nvSpPr>
        <p:spPr/>
        <p:txBody>
          <a:bodyPr/>
          <a:lstStyle/>
          <a:p>
            <a:fld id="{D976D214-27A4-4BD1-B27C-D9D1F2D40EE5}" type="slidenum">
              <a:rPr lang="en-US" smtClean="0"/>
              <a:t>13</a:t>
            </a:fld>
            <a:endParaRPr lang="en-US"/>
          </a:p>
        </p:txBody>
      </p:sp>
    </p:spTree>
    <p:extLst>
      <p:ext uri="{BB962C8B-B14F-4D97-AF65-F5344CB8AC3E}">
        <p14:creationId xmlns:p14="http://schemas.microsoft.com/office/powerpoint/2010/main" val="33654923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Lợi ích của DBMS 2-2</a:t>
            </a:r>
          </a:p>
          <a:p>
            <a:pPr marL="171450" indent="-171450">
              <a:buFont typeface="Arial" panose="020B0604020202020204" pitchFamily="34" charset="0"/>
              <a:buChar char="•"/>
            </a:pPr>
            <a:r>
              <a:rPr lang="vi-VN" b="0"/>
              <a:t>Lưu trữ dữ liệu</a:t>
            </a:r>
            <a:endParaRPr lang="en-US" b="0"/>
          </a:p>
          <a:p>
            <a:pPr marL="171450" indent="-171450">
              <a:buFont typeface="Arial" panose="020B0604020202020204" pitchFamily="34" charset="0"/>
              <a:buChar char="•"/>
            </a:pPr>
            <a:r>
              <a:rPr lang="en-US" b="0"/>
              <a:t>Định nghĩa dữ liệu</a:t>
            </a:r>
          </a:p>
          <a:p>
            <a:pPr marL="171450" indent="-171450">
              <a:buFont typeface="Arial" panose="020B0604020202020204" pitchFamily="34" charset="0"/>
              <a:buChar char="•"/>
            </a:pPr>
            <a:r>
              <a:rPr lang="en-US" b="0"/>
              <a:t>Thao tác dữ liệu</a:t>
            </a:r>
          </a:p>
          <a:p>
            <a:pPr marL="171450" indent="-171450">
              <a:buFont typeface="Arial" panose="020B0604020202020204" pitchFamily="34" charset="0"/>
              <a:buChar char="•"/>
            </a:pPr>
            <a:r>
              <a:rPr lang="en-US" b="0"/>
              <a:t>Bảo mật dữ liệu và tính toàn vẹn</a:t>
            </a:r>
          </a:p>
          <a:p>
            <a:pPr marL="171450" indent="-171450">
              <a:buFont typeface="Arial" panose="020B0604020202020204" pitchFamily="34" charset="0"/>
              <a:buChar char="•"/>
            </a:pPr>
            <a:r>
              <a:rPr lang="en-US" b="0"/>
              <a:t>Phục hồi dữ liệu và đồng thời</a:t>
            </a:r>
          </a:p>
          <a:p>
            <a:pPr marL="171450" indent="-171450">
              <a:buFont typeface="Arial" panose="020B0604020202020204" pitchFamily="34" charset="0"/>
              <a:buChar char="•"/>
            </a:pPr>
            <a:r>
              <a:rPr lang="vi-VN" b="0"/>
              <a:t>Tối ưu hóa hiệu suất</a:t>
            </a:r>
            <a:endParaRPr lang="en-US" b="0"/>
          </a:p>
          <a:p>
            <a:pPr marL="171450" indent="-171450">
              <a:buFont typeface="Arial" panose="020B0604020202020204" pitchFamily="34" charset="0"/>
              <a:buChar char="•"/>
            </a:pPr>
            <a:r>
              <a:rPr lang="vi-VN" b="0"/>
              <a:t>Kiểm soát truy cập nhiều người dùng</a:t>
            </a:r>
            <a:endParaRPr lang="en-US" b="0"/>
          </a:p>
          <a:p>
            <a:pPr marL="171450" indent="-171450">
              <a:buFont typeface="Arial" panose="020B0604020202020204" pitchFamily="34" charset="0"/>
              <a:buChar char="•"/>
            </a:pPr>
            <a:r>
              <a:rPr lang="vi-VN" b="0"/>
              <a:t>Ngôn ngữ truy cập cơ sở dữ liệu và giao diện lập trình ứng dụng (API)</a:t>
            </a:r>
            <a:endParaRPr lang="en-US" b="0"/>
          </a:p>
        </p:txBody>
      </p:sp>
      <p:sp>
        <p:nvSpPr>
          <p:cNvPr id="4" name="Slide Number Placeholder 3"/>
          <p:cNvSpPr>
            <a:spLocks noGrp="1"/>
          </p:cNvSpPr>
          <p:nvPr>
            <p:ph type="sldNum" sz="quarter" idx="5"/>
          </p:nvPr>
        </p:nvSpPr>
        <p:spPr/>
        <p:txBody>
          <a:bodyPr/>
          <a:lstStyle/>
          <a:p>
            <a:fld id="{D976D214-27A4-4BD1-B27C-D9D1F2D40EE5}" type="slidenum">
              <a:rPr lang="en-US" smtClean="0"/>
              <a:t>14</a:t>
            </a:fld>
            <a:endParaRPr lang="en-US"/>
          </a:p>
        </p:txBody>
      </p:sp>
    </p:spTree>
    <p:extLst>
      <p:ext uri="{BB962C8B-B14F-4D97-AF65-F5344CB8AC3E}">
        <p14:creationId xmlns:p14="http://schemas.microsoft.com/office/powerpoint/2010/main" val="11548558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Các m</a:t>
            </a:r>
            <a:r>
              <a:rPr lang="vi-VN" b="1"/>
              <a:t>ô hình cơ sở dữ liệu</a:t>
            </a:r>
            <a:endParaRPr lang="en-US" b="1"/>
          </a:p>
          <a:p>
            <a:pPr marL="171450" indent="-171450">
              <a:buFont typeface="Arial" panose="020B0604020202020204" pitchFamily="34" charset="0"/>
              <a:buChar char="•"/>
            </a:pPr>
            <a:r>
              <a:rPr lang="vi-VN" b="0"/>
              <a:t>Cơ sở dữ liệu có thể được phân biệt dựa trên các hàm và mô hình của dữ liệu.</a:t>
            </a:r>
            <a:endParaRPr lang="en-US" b="0"/>
          </a:p>
          <a:p>
            <a:pPr marL="171450" indent="-171450">
              <a:buFont typeface="Arial" panose="020B0604020202020204" pitchFamily="34" charset="0"/>
              <a:buChar char="•"/>
            </a:pPr>
            <a:r>
              <a:rPr lang="vi-VN" b="0"/>
              <a:t>Một mô hình dữ liệu mô tả một </a:t>
            </a:r>
            <a:r>
              <a:rPr lang="en-US" b="0"/>
              <a:t>bộ</a:t>
            </a:r>
            <a:r>
              <a:rPr lang="vi-VN" b="0"/>
              <a:t> chứa để lưu trữ dữ liệu và quá trình lưu trữ và truy xuất dữ liệu từ </a:t>
            </a:r>
            <a:r>
              <a:rPr lang="en-US" b="0"/>
              <a:t>bộ</a:t>
            </a:r>
            <a:r>
              <a:rPr lang="vi-VN" b="0"/>
              <a:t> chứa đó.</a:t>
            </a:r>
            <a:endParaRPr lang="en-US" b="0"/>
          </a:p>
          <a:p>
            <a:pPr marL="171450" indent="-171450">
              <a:buFont typeface="Arial" panose="020B0604020202020204" pitchFamily="34" charset="0"/>
              <a:buChar char="•"/>
            </a:pPr>
            <a:r>
              <a:rPr lang="vi-VN" b="0"/>
              <a:t>Phân tích và thiết kế mô hình dữ liệu là cơ sở của sự phát triển của cơ sở dữ liệu</a:t>
            </a:r>
            <a:endParaRPr lang="en-US" b="0"/>
          </a:p>
          <a:p>
            <a:pPr marL="171450" indent="-171450">
              <a:buFont typeface="Arial" panose="020B0604020202020204" pitchFamily="34" charset="0"/>
              <a:buChar char="•"/>
            </a:pPr>
            <a:r>
              <a:rPr lang="vi-VN" b="0"/>
              <a:t>Mỗi mô hình </a:t>
            </a:r>
            <a:r>
              <a:rPr lang="en-US" b="0"/>
              <a:t>đ</a:t>
            </a:r>
            <a:r>
              <a:rPr lang="vi-VN" b="0"/>
              <a:t>ư</a:t>
            </a:r>
            <a:r>
              <a:rPr lang="en-US" b="0"/>
              <a:t>ợc</a:t>
            </a:r>
            <a:r>
              <a:rPr lang="vi-VN" b="0"/>
              <a:t> phát triển từ </a:t>
            </a:r>
            <a:r>
              <a:rPr lang="en-US" b="0"/>
              <a:t>phiên bản</a:t>
            </a:r>
            <a:r>
              <a:rPr lang="vi-VN" b="0"/>
              <a:t> trước.</a:t>
            </a:r>
          </a:p>
          <a:p>
            <a:pPr marL="171450" indent="-171450">
              <a:buFont typeface="Arial" panose="020B0604020202020204" pitchFamily="34" charset="0"/>
              <a:buChar char="•"/>
            </a:pPr>
            <a:r>
              <a:rPr lang="vi-VN" b="0"/>
              <a:t>Các mô hình cơ sở dữ liệu thường được sử dụng là:</a:t>
            </a:r>
            <a:endParaRPr lang="en-US" b="0"/>
          </a:p>
          <a:p>
            <a:pPr marL="628650" lvl="1" indent="-171450">
              <a:buFont typeface="Arial" panose="020B0604020202020204" pitchFamily="34" charset="0"/>
              <a:buChar char="•"/>
            </a:pPr>
            <a:r>
              <a:rPr lang="en-US" b="0"/>
              <a:t>Mô hình dữ liệu tập tin phẳng</a:t>
            </a:r>
          </a:p>
          <a:p>
            <a:pPr marL="628650" lvl="1" indent="-171450">
              <a:buFont typeface="Arial" panose="020B0604020202020204" pitchFamily="34" charset="0"/>
              <a:buChar char="•"/>
            </a:pPr>
            <a:r>
              <a:rPr lang="en-US" b="0"/>
              <a:t>Mô hình dữ liệu phân cấp</a:t>
            </a:r>
          </a:p>
          <a:p>
            <a:pPr marL="628650" lvl="1" indent="-171450">
              <a:buFont typeface="Arial" panose="020B0604020202020204" pitchFamily="34" charset="0"/>
              <a:buChar char="•"/>
            </a:pPr>
            <a:r>
              <a:rPr lang="en-US" b="0"/>
              <a:t>Mô hình dữ liệu mạng</a:t>
            </a:r>
          </a:p>
          <a:p>
            <a:pPr marL="628650" lvl="1" indent="-171450">
              <a:buFont typeface="Arial" panose="020B0604020202020204" pitchFamily="34" charset="0"/>
              <a:buChar char="•"/>
            </a:pPr>
            <a:r>
              <a:rPr lang="en-US" b="0"/>
              <a:t>Mô hình dữ liệu quan hệ</a:t>
            </a:r>
          </a:p>
        </p:txBody>
      </p:sp>
      <p:sp>
        <p:nvSpPr>
          <p:cNvPr id="4" name="Slide Number Placeholder 3"/>
          <p:cNvSpPr>
            <a:spLocks noGrp="1"/>
          </p:cNvSpPr>
          <p:nvPr>
            <p:ph type="sldNum" sz="quarter" idx="5"/>
          </p:nvPr>
        </p:nvSpPr>
        <p:spPr/>
        <p:txBody>
          <a:bodyPr/>
          <a:lstStyle/>
          <a:p>
            <a:fld id="{D976D214-27A4-4BD1-B27C-D9D1F2D40EE5}" type="slidenum">
              <a:rPr lang="en-US" smtClean="0"/>
              <a:t>15</a:t>
            </a:fld>
            <a:endParaRPr lang="en-US"/>
          </a:p>
        </p:txBody>
      </p:sp>
    </p:spTree>
    <p:extLst>
      <p:ext uri="{BB962C8B-B14F-4D97-AF65-F5344CB8AC3E}">
        <p14:creationId xmlns:p14="http://schemas.microsoft.com/office/powerpoint/2010/main" val="23936122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Mô hình dữ liệu tập tin phẳng</a:t>
            </a:r>
          </a:p>
          <a:p>
            <a:pPr marL="171450" indent="-171450">
              <a:buFont typeface="Arial" panose="020B0604020202020204" pitchFamily="34" charset="0"/>
              <a:buChar char="•"/>
            </a:pPr>
            <a:r>
              <a:rPr lang="vi-VN"/>
              <a:t>Trong mô hình này, cơ sở dữ liệu chỉ bao gồm một bảng hoặc </a:t>
            </a:r>
            <a:r>
              <a:rPr lang="en-US"/>
              <a:t>tập tin</a:t>
            </a:r>
          </a:p>
          <a:p>
            <a:pPr marL="171450" indent="-171450">
              <a:buFont typeface="Arial" panose="020B0604020202020204" pitchFamily="34" charset="0"/>
              <a:buChar char="•"/>
            </a:pPr>
            <a:r>
              <a:rPr lang="vi-VN"/>
              <a:t>Được sử dụng cho các cơ sở dữ liệu đơn giản - ví dụ: lưu trữ số </a:t>
            </a:r>
            <a:r>
              <a:rPr lang="en-US"/>
              <a:t>đăng ký</a:t>
            </a:r>
            <a:r>
              <a:rPr lang="vi-VN"/>
              <a:t>, tên, đối tượng và </a:t>
            </a:r>
            <a:r>
              <a:rPr lang="en-US"/>
              <a:t>điểm</a:t>
            </a:r>
            <a:r>
              <a:rPr lang="vi-VN"/>
              <a:t>của một nhóm sinh viên</a:t>
            </a:r>
            <a:endParaRPr lang="en-US"/>
          </a:p>
          <a:p>
            <a:pPr marL="171450" indent="-171450">
              <a:buFont typeface="Arial" panose="020B0604020202020204" pitchFamily="34" charset="0"/>
              <a:buChar char="•"/>
            </a:pPr>
            <a:r>
              <a:rPr lang="vi-VN"/>
              <a:t>Không thể xử lý dữ liệu rất phức tạp. Nó có thể gây ra sự dư thừa khi dữ liệu được lặp lại nhiều lần</a:t>
            </a:r>
            <a:endParaRPr lang="en-US"/>
          </a:p>
        </p:txBody>
      </p:sp>
      <p:sp>
        <p:nvSpPr>
          <p:cNvPr id="4" name="Slide Number Placeholder 3"/>
          <p:cNvSpPr>
            <a:spLocks noGrp="1"/>
          </p:cNvSpPr>
          <p:nvPr>
            <p:ph type="sldNum" sz="quarter" idx="5"/>
          </p:nvPr>
        </p:nvSpPr>
        <p:spPr/>
        <p:txBody>
          <a:bodyPr/>
          <a:lstStyle/>
          <a:p>
            <a:fld id="{D976D214-27A4-4BD1-B27C-D9D1F2D40EE5}" type="slidenum">
              <a:rPr lang="en-US" smtClean="0"/>
              <a:t>16</a:t>
            </a:fld>
            <a:endParaRPr lang="en-US"/>
          </a:p>
        </p:txBody>
      </p:sp>
    </p:spTree>
    <p:extLst>
      <p:ext uri="{BB962C8B-B14F-4D97-AF65-F5344CB8AC3E}">
        <p14:creationId xmlns:p14="http://schemas.microsoft.com/office/powerpoint/2010/main" val="25677249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Mô hình dữ liệu phân cấp </a:t>
            </a:r>
            <a:r>
              <a:rPr lang="en-US" sz="1200" b="1" spc="-5">
                <a:latin typeface="Goudy Old Style"/>
                <a:cs typeface="Goudy Old Style"/>
              </a:rPr>
              <a:t>1-3</a:t>
            </a:r>
            <a:endParaRPr lang="en-US" b="1"/>
          </a:p>
          <a:p>
            <a:pPr marL="171450" indent="-171450">
              <a:buFont typeface="Arial" panose="020B0604020202020204" pitchFamily="34" charset="0"/>
              <a:buChar char="•"/>
            </a:pPr>
            <a:r>
              <a:rPr lang="en-US"/>
              <a:t>Trong mô hình này:</a:t>
            </a:r>
          </a:p>
          <a:p>
            <a:pPr marL="628650" lvl="1" indent="-171450">
              <a:buFont typeface="Arial" panose="020B0604020202020204" pitchFamily="34" charset="0"/>
              <a:buChar char="•"/>
            </a:pPr>
            <a:r>
              <a:rPr lang="vi-VN"/>
              <a:t>Các </a:t>
            </a:r>
            <a:r>
              <a:rPr lang="en-US"/>
              <a:t>mẫu tin </a:t>
            </a:r>
            <a:r>
              <a:rPr lang="vi-VN"/>
              <a:t>khác nhau là liên quan đến các cấu trúc phân cấp hoặc giống như cây.</a:t>
            </a:r>
            <a:endParaRPr lang="en-US"/>
          </a:p>
          <a:p>
            <a:pPr marL="628650" lvl="1" indent="-171450">
              <a:buFont typeface="Arial" panose="020B0604020202020204" pitchFamily="34" charset="0"/>
              <a:buChar char="•"/>
            </a:pPr>
            <a:r>
              <a:rPr lang="vi-VN"/>
              <a:t>Mối quan hệ được cho là về mặt của trẻ em và cha mẹ.</a:t>
            </a:r>
            <a:endParaRPr lang="en-US"/>
          </a:p>
          <a:p>
            <a:pPr marL="628650" lvl="1" indent="-171450">
              <a:buFont typeface="Arial" panose="020B0604020202020204" pitchFamily="34" charset="0"/>
              <a:buChar char="•"/>
            </a:pPr>
            <a:r>
              <a:rPr lang="vi-VN"/>
              <a:t>Một </a:t>
            </a:r>
            <a:r>
              <a:rPr lang="en-US"/>
              <a:t>mẫu tin </a:t>
            </a:r>
            <a:r>
              <a:rPr lang="vi-VN"/>
              <a:t>cha mẹ có thể có một số trẻ em, nhưng một đứa trẻ chỉ có thể có một cha mẹ.</a:t>
            </a:r>
            <a:endParaRPr lang="en-US"/>
          </a:p>
          <a:p>
            <a:pPr marL="628650" lvl="1" indent="-171450">
              <a:buFont typeface="Arial" panose="020B0604020202020204" pitchFamily="34" charset="0"/>
              <a:buChar char="•"/>
            </a:pPr>
            <a:r>
              <a:rPr lang="vi-VN"/>
              <a:t>Để tìm dữ liệu được lưu trữ trong mô hình này, người dùng cần biết cấu trúc của cây.</a:t>
            </a:r>
            <a:endParaRPr lang="en-US"/>
          </a:p>
          <a:p>
            <a:pPr marL="628650" lvl="1" indent="-171450">
              <a:buFont typeface="Arial" panose="020B0604020202020204" pitchFamily="34" charset="0"/>
              <a:buChar char="•"/>
            </a:pPr>
            <a:r>
              <a:rPr lang="vi-VN"/>
              <a:t>Windows Registry là một ví dụ về cơ sở dữ liệu phân cấp lưu trữ cài đặt cấu hình và tùy chọn trên các hệ điều hành Microsoft Windows.</a:t>
            </a:r>
            <a:endParaRPr lang="en-US"/>
          </a:p>
        </p:txBody>
      </p:sp>
      <p:sp>
        <p:nvSpPr>
          <p:cNvPr id="4" name="Slide Number Placeholder 3"/>
          <p:cNvSpPr>
            <a:spLocks noGrp="1"/>
          </p:cNvSpPr>
          <p:nvPr>
            <p:ph type="sldNum" sz="quarter" idx="5"/>
          </p:nvPr>
        </p:nvSpPr>
        <p:spPr/>
        <p:txBody>
          <a:bodyPr/>
          <a:lstStyle/>
          <a:p>
            <a:fld id="{D976D214-27A4-4BD1-B27C-D9D1F2D40EE5}" type="slidenum">
              <a:rPr lang="en-US" smtClean="0"/>
              <a:t>17</a:t>
            </a:fld>
            <a:endParaRPr lang="en-US"/>
          </a:p>
        </p:txBody>
      </p:sp>
    </p:spTree>
    <p:extLst>
      <p:ext uri="{BB962C8B-B14F-4D97-AF65-F5344CB8AC3E}">
        <p14:creationId xmlns:p14="http://schemas.microsoft.com/office/powerpoint/2010/main" val="42723300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Mô hình dữ liệu phân cấp </a:t>
            </a:r>
            <a:r>
              <a:rPr lang="en-US" sz="1200" b="1" spc="-5">
                <a:latin typeface="Goudy Old Style"/>
                <a:cs typeface="Goudy Old Style"/>
              </a:rPr>
              <a:t>2-3</a:t>
            </a:r>
            <a:endParaRPr lang="en-US" b="1"/>
          </a:p>
          <a:p>
            <a:pPr marL="171450" indent="-171450">
              <a:buFont typeface="Arial" panose="020B0604020202020204" pitchFamily="34" charset="0"/>
              <a:buChar char="•"/>
            </a:pPr>
            <a:r>
              <a:rPr lang="vi-VN"/>
              <a:t>Hình dưới đây minh họa một ví dụ về một đại diện phân cấp:</a:t>
            </a:r>
            <a:endParaRPr lang="en-US"/>
          </a:p>
          <a:p>
            <a:pPr marL="171450" indent="-171450">
              <a:buFont typeface="Arial" panose="020B0604020202020204" pitchFamily="34" charset="0"/>
              <a:buChar char="•"/>
            </a:pPr>
            <a:r>
              <a:rPr lang="vi-VN"/>
              <a:t>Trong mô hình phân cấp, bộ phận được coi là cha mẹ của phân khúc.</a:t>
            </a:r>
          </a:p>
          <a:p>
            <a:pPr marL="171450" indent="-171450">
              <a:buFont typeface="Arial" panose="020B0604020202020204" pitchFamily="34" charset="0"/>
              <a:buChar char="•"/>
            </a:pPr>
            <a:r>
              <a:rPr lang="vi-VN"/>
              <a:t>Các bảng, dự án và nhân viên, là trẻ em.</a:t>
            </a:r>
          </a:p>
          <a:p>
            <a:pPr marL="171450" indent="-171450">
              <a:buFont typeface="Arial" panose="020B0604020202020204" pitchFamily="34" charset="0"/>
              <a:buChar char="•"/>
            </a:pPr>
            <a:r>
              <a:rPr lang="vi-VN"/>
              <a:t>Một đường dẫn có dấu vết phân đoạn cha mẹ bắt đầu từ bên trái, xác định cây.</a:t>
            </a:r>
          </a:p>
          <a:p>
            <a:pPr marL="171450" indent="-171450">
              <a:buFont typeface="Arial" panose="020B0604020202020204" pitchFamily="34" charset="0"/>
              <a:buChar char="•"/>
            </a:pPr>
            <a:r>
              <a:rPr lang="vi-VN"/>
              <a:t>Trình tự sắp xếp thứ tự này theo dõi cấu trúc phân cấp được gọi là đường dẫn phân cấp.</a:t>
            </a:r>
            <a:endParaRPr lang="en-US"/>
          </a:p>
        </p:txBody>
      </p:sp>
      <p:sp>
        <p:nvSpPr>
          <p:cNvPr id="4" name="Slide Number Placeholder 3"/>
          <p:cNvSpPr>
            <a:spLocks noGrp="1"/>
          </p:cNvSpPr>
          <p:nvPr>
            <p:ph type="sldNum" sz="quarter" idx="5"/>
          </p:nvPr>
        </p:nvSpPr>
        <p:spPr/>
        <p:txBody>
          <a:bodyPr/>
          <a:lstStyle/>
          <a:p>
            <a:fld id="{D976D214-27A4-4BD1-B27C-D9D1F2D40EE5}" type="slidenum">
              <a:rPr lang="en-US" smtClean="0"/>
              <a:t>18</a:t>
            </a:fld>
            <a:endParaRPr lang="en-US"/>
          </a:p>
        </p:txBody>
      </p:sp>
    </p:spTree>
    <p:extLst>
      <p:ext uri="{BB962C8B-B14F-4D97-AF65-F5344CB8AC3E}">
        <p14:creationId xmlns:p14="http://schemas.microsoft.com/office/powerpoint/2010/main" val="941882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Mô hình dữ liệu phân cấp </a:t>
            </a:r>
            <a:r>
              <a:rPr lang="en-US" sz="1200" b="1" spc="-5">
                <a:latin typeface="Goudy Old Style"/>
                <a:cs typeface="Goudy Old Style"/>
              </a:rPr>
              <a:t>3-3</a:t>
            </a:r>
            <a:endParaRPr lang="en-US" b="1"/>
          </a:p>
          <a:p>
            <a:pPr marL="171450" indent="-171450">
              <a:buFont typeface="Arial" panose="020B0604020202020204" pitchFamily="34" charset="0"/>
              <a:buChar char="•"/>
            </a:pPr>
            <a:r>
              <a:rPr lang="vi-VN"/>
              <a:t>Ưu điểm của một mô hình phân cấp như sau:</a:t>
            </a:r>
            <a:endParaRPr lang="en-US"/>
          </a:p>
          <a:p>
            <a:pPr marL="628650" lvl="1" indent="-171450">
              <a:buFont typeface="Arial" panose="020B0604020202020204" pitchFamily="34" charset="0"/>
              <a:buChar char="•"/>
            </a:pPr>
            <a:r>
              <a:rPr lang="vi-VN"/>
              <a:t>Dữ liệu được giữ trong cơ sở dữ liệu chung để chia sẻ dữ liệu trở nên dễ dàng hơn và bảo mật được cung cấp và thực thi bởi DBMS.</a:t>
            </a:r>
            <a:endParaRPr lang="en-US"/>
          </a:p>
          <a:p>
            <a:pPr marL="628650" lvl="1" indent="-171450">
              <a:buFont typeface="Arial" panose="020B0604020202020204" pitchFamily="34" charset="0"/>
              <a:buChar char="•"/>
            </a:pPr>
            <a:r>
              <a:rPr lang="en-US"/>
              <a:t>D</a:t>
            </a:r>
            <a:r>
              <a:rPr lang="vi-VN"/>
              <a:t>ữ liệu </a:t>
            </a:r>
            <a:r>
              <a:rPr lang="en-US"/>
              <a:t>đ</a:t>
            </a:r>
            <a:r>
              <a:rPr lang="vi-VN"/>
              <a:t>ộc lập được cung cấp bởi DBMS, giúp giảm chi phí và chi phí trong việc duy trì chương trình.</a:t>
            </a:r>
            <a:endParaRPr lang="en-US"/>
          </a:p>
          <a:p>
            <a:pPr marL="628650" lvl="1" indent="-171450">
              <a:buFont typeface="Arial" panose="020B0604020202020204" pitchFamily="34" charset="0"/>
              <a:buChar char="•"/>
            </a:pPr>
            <a:r>
              <a:rPr lang="vi-VN"/>
              <a:t>Mô hình này rất hiệu quả khi cơ sở dữ liệu chứa một lượng lớn dữ liệu.</a:t>
            </a:r>
            <a:endParaRPr lang="en-US"/>
          </a:p>
          <a:p>
            <a:pPr marL="628650" lvl="1" indent="-171450">
              <a:buFont typeface="Arial" panose="020B0604020202020204" pitchFamily="34" charset="0"/>
              <a:buChar char="•"/>
            </a:pPr>
            <a:r>
              <a:rPr lang="en-US"/>
              <a:t>Ví dụ: hệ thống tài khoản khách hàng của ngân hàng phù hợp với mô hình phân cấp tốt vì tài khoản của mỗi khách hàng phải tuân theo một số giao dịch.</a:t>
            </a:r>
          </a:p>
        </p:txBody>
      </p:sp>
      <p:sp>
        <p:nvSpPr>
          <p:cNvPr id="4" name="Slide Number Placeholder 3"/>
          <p:cNvSpPr>
            <a:spLocks noGrp="1"/>
          </p:cNvSpPr>
          <p:nvPr>
            <p:ph type="sldNum" sz="quarter" idx="5"/>
          </p:nvPr>
        </p:nvSpPr>
        <p:spPr/>
        <p:txBody>
          <a:bodyPr/>
          <a:lstStyle/>
          <a:p>
            <a:fld id="{D976D214-27A4-4BD1-B27C-D9D1F2D40EE5}" type="slidenum">
              <a:rPr lang="en-US" smtClean="0"/>
              <a:t>19</a:t>
            </a:fld>
            <a:endParaRPr lang="en-US"/>
          </a:p>
        </p:txBody>
      </p:sp>
    </p:spTree>
    <p:extLst>
      <p:ext uri="{BB962C8B-B14F-4D97-AF65-F5344CB8AC3E}">
        <p14:creationId xmlns:p14="http://schemas.microsoft.com/office/powerpoint/2010/main" val="32101460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Mô hình dữ liệu mạng 1-4</a:t>
            </a:r>
          </a:p>
          <a:p>
            <a:pPr marL="171450" indent="-171450">
              <a:buFont typeface="Arial" panose="020B0604020202020204" pitchFamily="34" charset="0"/>
              <a:buChar char="•"/>
            </a:pPr>
            <a:r>
              <a:rPr lang="vi-VN"/>
              <a:t>Mô hình này tương tự như mô hình dữ liệu phân cấp. Nó thực sự là một tập hợp con của mô hình mạng</a:t>
            </a:r>
            <a:endParaRPr lang="en-US"/>
          </a:p>
          <a:p>
            <a:pPr marL="171450" indent="-171450">
              <a:buFont typeface="Arial" panose="020B0604020202020204" pitchFamily="34" charset="0"/>
              <a:buChar char="•"/>
            </a:pPr>
            <a:r>
              <a:rPr lang="vi-VN"/>
              <a:t>Trong mô hình dữ liệu mạng, dữ liệu được lưu trong các bộ, thay vì định dạng cây phân cấp. Điều này giải quyết vấn đề dự phòng dữ liệu.</a:t>
            </a:r>
            <a:endParaRPr lang="en-US"/>
          </a:p>
          <a:p>
            <a:pPr marL="171450" indent="-171450">
              <a:buFont typeface="Arial" panose="020B0604020202020204" pitchFamily="34" charset="0"/>
              <a:buChar char="•"/>
            </a:pPr>
            <a:r>
              <a:rPr lang="vi-VN"/>
              <a:t>Đối với mọi cơ sở dữ liệu, một định nghĩa về tên cơ sở dữ liệu, </a:t>
            </a:r>
            <a:r>
              <a:rPr lang="en-US"/>
              <a:t>kiểu</a:t>
            </a:r>
            <a:r>
              <a:rPr lang="vi-VN"/>
              <a:t> </a:t>
            </a:r>
            <a:r>
              <a:rPr lang="en-US"/>
              <a:t>mẫu tin </a:t>
            </a:r>
            <a:r>
              <a:rPr lang="vi-VN"/>
              <a:t>cho mỗi </a:t>
            </a:r>
            <a:r>
              <a:rPr lang="en-US"/>
              <a:t>mẫu tin </a:t>
            </a:r>
            <a:r>
              <a:rPr lang="vi-VN"/>
              <a:t>và</a:t>
            </a:r>
            <a:r>
              <a:rPr lang="en-US"/>
              <a:t> c</a:t>
            </a:r>
            <a:r>
              <a:rPr lang="vi-VN"/>
              <a:t>ác thành phần tạo nên các </a:t>
            </a:r>
            <a:r>
              <a:rPr lang="en-US"/>
              <a:t>mậu tin </a:t>
            </a:r>
            <a:r>
              <a:rPr lang="vi-VN"/>
              <a:t>được lưu trữ. Đây được gọi là lược đồ mạng của nó.</a:t>
            </a:r>
            <a:endParaRPr lang="en-US"/>
          </a:p>
          <a:p>
            <a:pPr marL="171450" indent="-171450">
              <a:buFont typeface="Arial" panose="020B0604020202020204" pitchFamily="34" charset="0"/>
              <a:buChar char="•"/>
            </a:pPr>
            <a:r>
              <a:rPr lang="vi-VN"/>
              <a:t>Nó cho phép các chương trình ứng dụng truy cập dữ liệu cần thiết từ cơ sở dữ liệu. Máy chủ </a:t>
            </a:r>
            <a:r>
              <a:rPr lang="en-US"/>
              <a:t>quản lý </a:t>
            </a:r>
            <a:r>
              <a:rPr lang="vi-VN"/>
              <a:t>cơ sở dữ liệu (RDM) của Raima Inc. là một ví dụ về DBMS mạng.</a:t>
            </a:r>
            <a:endParaRPr lang="en-US"/>
          </a:p>
        </p:txBody>
      </p:sp>
      <p:sp>
        <p:nvSpPr>
          <p:cNvPr id="4" name="Slide Number Placeholder 3"/>
          <p:cNvSpPr>
            <a:spLocks noGrp="1"/>
          </p:cNvSpPr>
          <p:nvPr>
            <p:ph type="sldNum" sz="quarter" idx="5"/>
          </p:nvPr>
        </p:nvSpPr>
        <p:spPr/>
        <p:txBody>
          <a:bodyPr/>
          <a:lstStyle/>
          <a:p>
            <a:fld id="{D976D214-27A4-4BD1-B27C-D9D1F2D40EE5}" type="slidenum">
              <a:rPr lang="en-US" smtClean="0"/>
              <a:t>20</a:t>
            </a:fld>
            <a:endParaRPr lang="en-US"/>
          </a:p>
        </p:txBody>
      </p:sp>
    </p:spTree>
    <p:extLst>
      <p:ext uri="{BB962C8B-B14F-4D97-AF65-F5344CB8AC3E}">
        <p14:creationId xmlns:p14="http://schemas.microsoft.com/office/powerpoint/2010/main" val="15028959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Mô hình dữ liệu mạng 2-4</a:t>
            </a:r>
          </a:p>
          <a:p>
            <a:pPr marL="171450" indent="-171450">
              <a:buFont typeface="Arial" panose="020B0604020202020204" pitchFamily="34" charset="0"/>
              <a:buChar char="•"/>
            </a:pPr>
            <a:r>
              <a:rPr lang="en-US"/>
              <a:t>Hình minh họa một loạt các mối quan hệ một-nhiều:</a:t>
            </a:r>
          </a:p>
        </p:txBody>
      </p:sp>
      <p:sp>
        <p:nvSpPr>
          <p:cNvPr id="4" name="Slide Number Placeholder 3"/>
          <p:cNvSpPr>
            <a:spLocks noGrp="1"/>
          </p:cNvSpPr>
          <p:nvPr>
            <p:ph type="sldNum" sz="quarter" idx="5"/>
          </p:nvPr>
        </p:nvSpPr>
        <p:spPr/>
        <p:txBody>
          <a:bodyPr/>
          <a:lstStyle/>
          <a:p>
            <a:fld id="{D976D214-27A4-4BD1-B27C-D9D1F2D40EE5}" type="slidenum">
              <a:rPr lang="en-US" smtClean="0"/>
              <a:t>21</a:t>
            </a:fld>
            <a:endParaRPr lang="en-US"/>
          </a:p>
        </p:txBody>
      </p:sp>
    </p:spTree>
    <p:extLst>
      <p:ext uri="{BB962C8B-B14F-4D97-AF65-F5344CB8AC3E}">
        <p14:creationId xmlns:p14="http://schemas.microsoft.com/office/powerpoint/2010/main" val="15210614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Mô hình dữ liệu mạng 3-4</a:t>
            </a:r>
          </a:p>
          <a:p>
            <a:pPr marL="171450" indent="-171450">
              <a:buFont typeface="Arial" panose="020B0604020202020204" pitchFamily="34" charset="0"/>
              <a:buChar char="•"/>
            </a:pPr>
            <a:r>
              <a:rPr lang="vi-VN"/>
              <a:t>Các thành phần của ngôn ngữ được sử dụng với các mô hình mạng là</a:t>
            </a:r>
            <a:r>
              <a:rPr lang="en-US"/>
              <a:t>:</a:t>
            </a:r>
          </a:p>
          <a:p>
            <a:pPr marL="628650" lvl="1" indent="-171450">
              <a:buFont typeface="Arial" panose="020B0604020202020204" pitchFamily="34" charset="0"/>
              <a:buChar char="•"/>
            </a:pPr>
            <a:r>
              <a:rPr lang="en-US" b="1"/>
              <a:t>Ngôn ngữ định nghĩa dữ liệu (DDL)</a:t>
            </a:r>
          </a:p>
          <a:p>
            <a:pPr marL="1085850" lvl="2" indent="-171450">
              <a:buFont typeface="Arial" panose="020B0604020202020204" pitchFamily="34" charset="0"/>
              <a:buChar char="•"/>
            </a:pPr>
            <a:r>
              <a:rPr lang="vi-VN"/>
              <a:t>Được sử dụng để tạo và xóa cơ sở dữ liệu và đối tượng cơ sở dữ liệu. Nó cho phép quản trị viên cơ sở dữ liệu xác định các thành phần lược đồ.</a:t>
            </a:r>
            <a:endParaRPr lang="en-US"/>
          </a:p>
          <a:p>
            <a:pPr marL="628650" lvl="1" indent="-171450">
              <a:buFont typeface="Arial" panose="020B0604020202020204" pitchFamily="34" charset="0"/>
              <a:buChar char="•"/>
            </a:pPr>
            <a:r>
              <a:rPr lang="vi-VN" b="1"/>
              <a:t>Sơ đồ phụ DDL</a:t>
            </a:r>
            <a:endParaRPr lang="en-US" b="1"/>
          </a:p>
          <a:p>
            <a:pPr marL="1085850" lvl="2" indent="-171450">
              <a:buFont typeface="Arial" panose="020B0604020202020204" pitchFamily="34" charset="0"/>
              <a:buChar char="•"/>
            </a:pPr>
            <a:r>
              <a:rPr lang="vi-VN" b="0"/>
              <a:t>Cho phép quản trị viên cơ sở dữ liệu xác định các thành phần cơ sở dữ liệu.</a:t>
            </a:r>
            <a:endParaRPr lang="en-US" b="0"/>
          </a:p>
          <a:p>
            <a:pPr marL="628650" lvl="1" indent="-171450">
              <a:buFont typeface="Arial" panose="020B0604020202020204" pitchFamily="34" charset="0"/>
              <a:buChar char="•"/>
            </a:pPr>
            <a:r>
              <a:rPr lang="en-US" b="1"/>
              <a:t>Ngôn ngữ thao tác dữ liệu (DML)</a:t>
            </a:r>
          </a:p>
          <a:p>
            <a:pPr marL="1085850" lvl="2" indent="-171450">
              <a:buFont typeface="Arial" panose="020B0604020202020204" pitchFamily="34" charset="0"/>
              <a:buChar char="•"/>
            </a:pPr>
            <a:r>
              <a:rPr lang="vi-VN" b="0"/>
              <a:t>Được sử dụng để chèn, truy xuất và sửa đổi thông tin cơ sở dữ liệu.</a:t>
            </a:r>
            <a:endParaRPr lang="en-US" b="0"/>
          </a:p>
          <a:p>
            <a:pPr marL="628650" lvl="1" indent="-171450">
              <a:buFont typeface="Arial" panose="020B0604020202020204" pitchFamily="34" charset="0"/>
              <a:buChar char="•"/>
            </a:pPr>
            <a:r>
              <a:rPr lang="en-US" b="1"/>
              <a:t>Ngôn ngữ điều khiển dữ liệu (DCL)</a:t>
            </a:r>
          </a:p>
          <a:p>
            <a:pPr marL="1085850" lvl="2" indent="-171450">
              <a:buFont typeface="Arial" panose="020B0604020202020204" pitchFamily="34" charset="0"/>
              <a:buChar char="•"/>
            </a:pPr>
            <a:r>
              <a:rPr lang="vi-VN" b="0"/>
              <a:t>Được sử dụng để quản lý quyền trên cơ sở dữ liệu và đối tượng cơ sở dữ liệu.</a:t>
            </a:r>
            <a:endParaRPr lang="en-US" b="0"/>
          </a:p>
        </p:txBody>
      </p:sp>
      <p:sp>
        <p:nvSpPr>
          <p:cNvPr id="4" name="Slide Number Placeholder 3"/>
          <p:cNvSpPr>
            <a:spLocks noGrp="1"/>
          </p:cNvSpPr>
          <p:nvPr>
            <p:ph type="sldNum" sz="quarter" idx="5"/>
          </p:nvPr>
        </p:nvSpPr>
        <p:spPr/>
        <p:txBody>
          <a:bodyPr/>
          <a:lstStyle/>
          <a:p>
            <a:fld id="{D976D214-27A4-4BD1-B27C-D9D1F2D40EE5}" type="slidenum">
              <a:rPr lang="en-US" smtClean="0"/>
              <a:t>22</a:t>
            </a:fld>
            <a:endParaRPr lang="en-US"/>
          </a:p>
        </p:txBody>
      </p:sp>
    </p:spTree>
    <p:extLst>
      <p:ext uri="{BB962C8B-B14F-4D97-AF65-F5344CB8AC3E}">
        <p14:creationId xmlns:p14="http://schemas.microsoft.com/office/powerpoint/2010/main" val="12508197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Mô hình dữ liệu mạng 4-4</a:t>
            </a:r>
          </a:p>
          <a:p>
            <a:pPr marL="171450" indent="-171450">
              <a:buFont typeface="Arial" panose="020B0604020202020204" pitchFamily="34" charset="0"/>
              <a:buChar char="•"/>
            </a:pPr>
            <a:r>
              <a:rPr lang="vi-VN"/>
              <a:t>Ưu điểm là:</a:t>
            </a:r>
            <a:endParaRPr lang="en-US"/>
          </a:p>
          <a:p>
            <a:pPr marL="628650" lvl="1" indent="-171450">
              <a:buFont typeface="Arial" panose="020B0604020202020204" pitchFamily="34" charset="0"/>
              <a:buChar char="•"/>
            </a:pPr>
            <a:r>
              <a:rPr lang="vi-VN"/>
              <a:t>Mối quan hệ dễ thực hiện hơn trong mô hình cơ sở dữ liệu mạng so với </a:t>
            </a:r>
            <a:r>
              <a:rPr lang="en-US"/>
              <a:t>mô hình </a:t>
            </a:r>
            <a:r>
              <a:rPr lang="vi-VN"/>
              <a:t>phân cấp</a:t>
            </a:r>
            <a:endParaRPr lang="en-US"/>
          </a:p>
          <a:p>
            <a:pPr marL="628650" lvl="1" indent="-171450">
              <a:buFont typeface="Arial" panose="020B0604020202020204" pitchFamily="34" charset="0"/>
              <a:buChar char="•"/>
            </a:pPr>
            <a:r>
              <a:rPr lang="vi-VN"/>
              <a:t>Mô hình này thực thi tính toàn vẹn của cơ sở dữ liệu.</a:t>
            </a:r>
            <a:endParaRPr lang="en-US"/>
          </a:p>
          <a:p>
            <a:pPr marL="628650" lvl="1" indent="-171450">
              <a:buFont typeface="Arial" panose="020B0604020202020204" pitchFamily="34" charset="0"/>
              <a:buChar char="•"/>
            </a:pPr>
            <a:r>
              <a:rPr lang="vi-VN"/>
              <a:t>Mô hình này đạt được đủ sự độc lập dữ liệu</a:t>
            </a:r>
            <a:endParaRPr lang="en-US"/>
          </a:p>
          <a:p>
            <a:pPr marL="171450" lvl="0" indent="-171450">
              <a:buFont typeface="Arial" panose="020B0604020202020204" pitchFamily="34" charset="0"/>
              <a:buChar char="•"/>
            </a:pPr>
            <a:r>
              <a:rPr lang="vi-VN"/>
              <a:t>Nhược điểm là:</a:t>
            </a:r>
            <a:endParaRPr lang="en-US"/>
          </a:p>
          <a:p>
            <a:pPr marL="628650" lvl="1" indent="-171450">
              <a:buFont typeface="Arial" panose="020B0604020202020204" pitchFamily="34" charset="0"/>
              <a:buChar char="•"/>
            </a:pPr>
            <a:r>
              <a:rPr lang="vi-VN"/>
              <a:t>Các cơ sở dữ liệu trong mô hình này rất khó thiết kế.</a:t>
            </a:r>
            <a:endParaRPr lang="en-US"/>
          </a:p>
          <a:p>
            <a:pPr marL="628650" lvl="1" indent="-171450">
              <a:buFont typeface="Arial" panose="020B0604020202020204" pitchFamily="34" charset="0"/>
              <a:buChar char="•"/>
            </a:pPr>
            <a:r>
              <a:rPr lang="vi-VN"/>
              <a:t>Lập trình viên phải quen thuộc với các cấu trúc bên trong để truy cập cơ sở dữ liệu.</a:t>
            </a:r>
            <a:endParaRPr lang="en-US"/>
          </a:p>
          <a:p>
            <a:pPr marL="628650" lvl="1" indent="-171450">
              <a:buFont typeface="Arial" panose="020B0604020202020204" pitchFamily="34" charset="0"/>
              <a:buChar char="•"/>
            </a:pPr>
            <a:r>
              <a:rPr lang="vi-VN"/>
              <a:t>Mô hình cung cấp một môi trường truy cập dữ liệu điều hướng.</a:t>
            </a:r>
            <a:endParaRPr lang="en-US"/>
          </a:p>
          <a:p>
            <a:pPr marL="171450" lvl="0" indent="-171450">
              <a:buFont typeface="Arial" panose="020B0604020202020204" pitchFamily="34" charset="0"/>
              <a:buChar char="•"/>
            </a:pPr>
            <a:r>
              <a:rPr lang="vi-VN"/>
              <a:t>Mô hình này rất khó để thực hiện và duy trì.</a:t>
            </a:r>
          </a:p>
          <a:p>
            <a:pPr marL="171450" lvl="0" indent="-171450">
              <a:buFont typeface="Arial" panose="020B0604020202020204" pitchFamily="34" charset="0"/>
              <a:buChar char="•"/>
            </a:pPr>
            <a:r>
              <a:rPr lang="vi-VN"/>
              <a:t>Lập trình viên máy tính, thay vì người dùng cuối, sử dụng mô hình này.</a:t>
            </a:r>
            <a:endParaRPr lang="en-US"/>
          </a:p>
        </p:txBody>
      </p:sp>
      <p:sp>
        <p:nvSpPr>
          <p:cNvPr id="4" name="Slide Number Placeholder 3"/>
          <p:cNvSpPr>
            <a:spLocks noGrp="1"/>
          </p:cNvSpPr>
          <p:nvPr>
            <p:ph type="sldNum" sz="quarter" idx="5"/>
          </p:nvPr>
        </p:nvSpPr>
        <p:spPr/>
        <p:txBody>
          <a:bodyPr/>
          <a:lstStyle/>
          <a:p>
            <a:fld id="{D976D214-27A4-4BD1-B27C-D9D1F2D40EE5}" type="slidenum">
              <a:rPr lang="en-US" smtClean="0"/>
              <a:t>23</a:t>
            </a:fld>
            <a:endParaRPr lang="en-US"/>
          </a:p>
        </p:txBody>
      </p:sp>
    </p:spTree>
    <p:extLst>
      <p:ext uri="{BB962C8B-B14F-4D97-AF65-F5344CB8AC3E}">
        <p14:creationId xmlns:p14="http://schemas.microsoft.com/office/powerpoint/2010/main" val="10725418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Mô hình dữ liệu quan hệ </a:t>
            </a:r>
            <a:r>
              <a:rPr lang="en-US" sz="1200" b="1" spc="10">
                <a:latin typeface="Goudy Old Style"/>
                <a:cs typeface="Goudy Old Style"/>
              </a:rPr>
              <a:t>1-5</a:t>
            </a:r>
            <a:endParaRPr lang="en-US" b="1"/>
          </a:p>
          <a:p>
            <a:pPr marL="171450" indent="-171450">
              <a:buFont typeface="Arial" panose="020B0604020202020204" pitchFamily="34" charset="0"/>
              <a:buChar char="•"/>
            </a:pPr>
            <a:r>
              <a:rPr lang="vi-VN"/>
              <a:t>Khi thông tin cần phát triển và các cơ sở dữ liệu và ứng dụng tinh vi hơn được yêu cầu, thiết kế cơ sở dữ liệu, quản lý và sử dụng trở nên quá cồng kềnh.</a:t>
            </a:r>
            <a:endParaRPr lang="en-US"/>
          </a:p>
          <a:p>
            <a:pPr marL="171450" indent="-171450">
              <a:buFont typeface="Arial" panose="020B0604020202020204" pitchFamily="34" charset="0"/>
              <a:buChar char="•"/>
            </a:pPr>
            <a:r>
              <a:rPr lang="vi-VN"/>
              <a:t>Điều này dẫn đến sự phát triển của những gì đã được gọi là cơ sở dữ liệu mô hình quan hệ.</a:t>
            </a:r>
            <a:endParaRPr lang="en-US"/>
          </a:p>
          <a:p>
            <a:pPr marL="171450" indent="-171450">
              <a:buFont typeface="Arial" panose="020B0604020202020204" pitchFamily="34" charset="0"/>
              <a:buChar char="•"/>
            </a:pPr>
            <a:r>
              <a:rPr lang="vi-VN"/>
              <a:t>Thuật ngữ 'mối quan hệ' có nguồn gốc từ lý thuyết tập hợp toán học. Trong mô hình quan hệ, không giống như các mô hình phân cấp và mạng, không có liên kết vật lý.</a:t>
            </a:r>
            <a:endParaRPr lang="en-US"/>
          </a:p>
          <a:p>
            <a:pPr marL="171450" indent="-171450">
              <a:buFont typeface="Arial" panose="020B0604020202020204" pitchFamily="34" charset="0"/>
              <a:buChar char="•"/>
            </a:pPr>
            <a:r>
              <a:rPr lang="vi-VN"/>
              <a:t>Tất cả dữ liệu được duy trì dưới dạng các bảng bao gồm các hàng và cột. Dữ liệu trong hai bảng có liên quan đến các cột chung và không phải liên kết vật lý.</a:t>
            </a:r>
            <a:endParaRPr lang="en-US"/>
          </a:p>
          <a:p>
            <a:pPr marL="171450" indent="-171450">
              <a:buFont typeface="Arial" panose="020B0604020202020204" pitchFamily="34" charset="0"/>
              <a:buChar char="•"/>
            </a:pPr>
            <a:r>
              <a:rPr lang="vi-VN"/>
              <a:t>Các </a:t>
            </a:r>
            <a:r>
              <a:rPr lang="en-US"/>
              <a:t>toán tử </a:t>
            </a:r>
            <a:r>
              <a:rPr lang="vi-VN"/>
              <a:t>được cung cấp để hoạt động trên các hàng trong các bảng. Mô hình này đại diện cho cơ sở dữ liệu như một tập hợp các mối quan hệ.</a:t>
            </a:r>
            <a:endParaRPr lang="en-US"/>
          </a:p>
        </p:txBody>
      </p:sp>
      <p:sp>
        <p:nvSpPr>
          <p:cNvPr id="4" name="Slide Number Placeholder 3"/>
          <p:cNvSpPr>
            <a:spLocks noGrp="1"/>
          </p:cNvSpPr>
          <p:nvPr>
            <p:ph type="sldNum" sz="quarter" idx="5"/>
          </p:nvPr>
        </p:nvSpPr>
        <p:spPr/>
        <p:txBody>
          <a:bodyPr/>
          <a:lstStyle/>
          <a:p>
            <a:fld id="{D976D214-27A4-4BD1-B27C-D9D1F2D40EE5}" type="slidenum">
              <a:rPr lang="en-US" smtClean="0"/>
              <a:t>24</a:t>
            </a:fld>
            <a:endParaRPr lang="en-US"/>
          </a:p>
        </p:txBody>
      </p:sp>
    </p:spTree>
    <p:extLst>
      <p:ext uri="{BB962C8B-B14F-4D97-AF65-F5344CB8AC3E}">
        <p14:creationId xmlns:p14="http://schemas.microsoft.com/office/powerpoint/2010/main" val="40041183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Mô hình dữ liệu quan hệ </a:t>
            </a:r>
            <a:r>
              <a:rPr lang="en-US" sz="1200" b="1" spc="10">
                <a:latin typeface="Goudy Old Style"/>
                <a:cs typeface="Goudy Old Style"/>
              </a:rPr>
              <a:t>2-5</a:t>
            </a:r>
            <a:endParaRPr lang="en-US" b="1"/>
          </a:p>
          <a:p>
            <a:pPr marL="171450" indent="-171450">
              <a:buFont typeface="Arial" panose="020B0604020202020204" pitchFamily="34" charset="0"/>
              <a:buChar char="•"/>
            </a:pPr>
            <a:r>
              <a:rPr lang="vi-VN"/>
              <a:t>Một hàng được gọi là một </a:t>
            </a:r>
            <a:r>
              <a:rPr lang="en-US"/>
              <a:t>bộ dữ liệu</a:t>
            </a:r>
            <a:r>
              <a:rPr lang="vi-VN"/>
              <a:t>, một cột, một thuộc tính và bảng được gọi là một mối quan hệ.</a:t>
            </a:r>
            <a:endParaRPr lang="en-US"/>
          </a:p>
          <a:p>
            <a:pPr marL="171450" indent="-171450">
              <a:buFont typeface="Arial" panose="020B0604020202020204" pitchFamily="34" charset="0"/>
              <a:buChar char="•"/>
            </a:pPr>
            <a:r>
              <a:rPr lang="vi-VN"/>
              <a:t>Danh sách các giá trị áp dụng cho một trường cụ thể được gọi là tên miền.</a:t>
            </a:r>
            <a:endParaRPr lang="en-US"/>
          </a:p>
          <a:p>
            <a:pPr marL="171450" indent="-171450">
              <a:buFont typeface="Arial" panose="020B0604020202020204" pitchFamily="34" charset="0"/>
              <a:buChar char="•"/>
            </a:pPr>
            <a:r>
              <a:rPr lang="en-US"/>
              <a:t>Một số thuộc tính có thể thuộc cùng một tên miền.</a:t>
            </a:r>
          </a:p>
          <a:p>
            <a:pPr marL="171450" indent="-171450">
              <a:buFont typeface="Arial" panose="020B0604020202020204" pitchFamily="34" charset="0"/>
              <a:buChar char="•"/>
            </a:pPr>
            <a:r>
              <a:rPr lang="vi-VN"/>
              <a:t>Số lượng thuộc tính của một mối quan hệ được gọi là mức độ của mối quan hệ.</a:t>
            </a:r>
            <a:endParaRPr lang="en-US"/>
          </a:p>
          <a:p>
            <a:pPr marL="171450" indent="-171450">
              <a:buFont typeface="Arial" panose="020B0604020202020204" pitchFamily="34" charset="0"/>
              <a:buChar char="•"/>
            </a:pPr>
            <a:r>
              <a:rPr lang="vi-VN"/>
              <a:t>Số lượng </a:t>
            </a:r>
            <a:r>
              <a:rPr lang="en-US"/>
              <a:t>bộ dữ liệu</a:t>
            </a:r>
            <a:r>
              <a:rPr lang="vi-VN"/>
              <a:t> xác định mô hình dữ liệu của mối quan hệ.</a:t>
            </a:r>
            <a:endParaRPr lang="en-US"/>
          </a:p>
        </p:txBody>
      </p:sp>
      <p:sp>
        <p:nvSpPr>
          <p:cNvPr id="4" name="Slide Number Placeholder 3"/>
          <p:cNvSpPr>
            <a:spLocks noGrp="1"/>
          </p:cNvSpPr>
          <p:nvPr>
            <p:ph type="sldNum" sz="quarter" idx="5"/>
          </p:nvPr>
        </p:nvSpPr>
        <p:spPr/>
        <p:txBody>
          <a:bodyPr/>
          <a:lstStyle/>
          <a:p>
            <a:fld id="{D976D214-27A4-4BD1-B27C-D9D1F2D40EE5}" type="slidenum">
              <a:rPr lang="en-US" smtClean="0"/>
              <a:t>25</a:t>
            </a:fld>
            <a:endParaRPr lang="en-US"/>
          </a:p>
        </p:txBody>
      </p:sp>
    </p:spTree>
    <p:extLst>
      <p:ext uri="{BB962C8B-B14F-4D97-AF65-F5344CB8AC3E}">
        <p14:creationId xmlns:p14="http://schemas.microsoft.com/office/powerpoint/2010/main" val="24993886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Mô hình dữ liệu quan hệ </a:t>
            </a:r>
            <a:r>
              <a:rPr lang="en-US" sz="1200" b="1" spc="10">
                <a:latin typeface="Goudy Old Style"/>
                <a:cs typeface="Goudy Old Style"/>
              </a:rPr>
              <a:t>3-5</a:t>
            </a:r>
            <a:endParaRPr lang="en-US" b="1"/>
          </a:p>
          <a:p>
            <a:pPr marL="171450" indent="-171450">
              <a:buFont typeface="Arial" panose="020B0604020202020204" pitchFamily="34" charset="0"/>
              <a:buChar char="•"/>
            </a:pPr>
            <a:r>
              <a:rPr lang="en-US"/>
              <a:t>Để hiểu mô hình quan hệ, hãy xem xét các bảng </a:t>
            </a:r>
            <a:r>
              <a:rPr lang="en-US" sz="1200" b="1" spc="-10">
                <a:latin typeface="Courier New"/>
                <a:cs typeface="Courier New"/>
              </a:rPr>
              <a:t>Students </a:t>
            </a:r>
            <a:r>
              <a:rPr lang="en-US" sz="1200" b="0" spc="-10">
                <a:latin typeface="Courier New"/>
                <a:cs typeface="Courier New"/>
              </a:rPr>
              <a:t>và bảng </a:t>
            </a:r>
            <a:r>
              <a:rPr lang="en-US" sz="1200" b="1" spc="-5">
                <a:latin typeface="Courier New"/>
                <a:cs typeface="Courier New"/>
              </a:rPr>
              <a:t>Marks</a:t>
            </a:r>
            <a:r>
              <a:rPr lang="en-US"/>
              <a:t>:</a:t>
            </a:r>
          </a:p>
          <a:p>
            <a:pPr marL="171450" indent="-171450">
              <a:buFont typeface="Arial" panose="020B0604020202020204" pitchFamily="34" charset="0"/>
              <a:buChar char="•"/>
            </a:pPr>
            <a:r>
              <a:rPr lang="vi-VN"/>
              <a:t>Bảng </a:t>
            </a:r>
            <a:r>
              <a:rPr lang="en-US" sz="1200" b="1" spc="-10">
                <a:latin typeface="Courier New"/>
                <a:cs typeface="Courier New"/>
              </a:rPr>
              <a:t>Students </a:t>
            </a:r>
            <a:r>
              <a:rPr lang="vi-VN"/>
              <a:t>hiển thị số </a:t>
            </a:r>
            <a:r>
              <a:rPr lang="en-US"/>
              <a:t>đăng ký</a:t>
            </a:r>
            <a:r>
              <a:rPr lang="vi-VN"/>
              <a:t> và tên sinh viên và</a:t>
            </a:r>
            <a:r>
              <a:rPr lang="en-US"/>
              <a:t> b</a:t>
            </a:r>
            <a:r>
              <a:rPr lang="vi-VN"/>
              <a:t>ảng </a:t>
            </a:r>
            <a:r>
              <a:rPr lang="vi-VN" b="1"/>
              <a:t>Marks</a:t>
            </a:r>
            <a:r>
              <a:rPr lang="vi-VN"/>
              <a:t> hiển thị số số </a:t>
            </a:r>
            <a:r>
              <a:rPr lang="en-US"/>
              <a:t>đăng ký</a:t>
            </a:r>
            <a:r>
              <a:rPr lang="vi-VN"/>
              <a:t> và </a:t>
            </a:r>
            <a:r>
              <a:rPr lang="en-US"/>
              <a:t>điểm </a:t>
            </a:r>
            <a:r>
              <a:rPr lang="vi-VN"/>
              <a:t>thu được bởi các sinh viên.</a:t>
            </a:r>
            <a:endParaRPr lang="en-US"/>
          </a:p>
          <a:p>
            <a:pPr marL="171450" indent="-171450">
              <a:buFont typeface="Arial" panose="020B0604020202020204" pitchFamily="34" charset="0"/>
              <a:buChar char="•"/>
            </a:pPr>
            <a:r>
              <a:rPr lang="vi-VN"/>
              <a:t>Để xác định vị trí của sinh viên </a:t>
            </a:r>
            <a:r>
              <a:rPr lang="en-US"/>
              <a:t>có điểm </a:t>
            </a:r>
            <a:r>
              <a:rPr lang="vi-VN"/>
              <a:t>trên 40:</a:t>
            </a:r>
          </a:p>
          <a:p>
            <a:pPr marL="628650" lvl="1" indent="-171450">
              <a:buFont typeface="Arial" panose="020B0604020202020204" pitchFamily="34" charset="0"/>
              <a:buChar char="•"/>
            </a:pPr>
            <a:r>
              <a:rPr lang="vi-VN"/>
              <a:t>Đầu tiên, xác định vị trí số </a:t>
            </a:r>
            <a:r>
              <a:rPr lang="en-US"/>
              <a:t>đăng ký</a:t>
            </a:r>
            <a:r>
              <a:rPr lang="vi-VN"/>
              <a:t> của những người </a:t>
            </a:r>
            <a:r>
              <a:rPr lang="en-US"/>
              <a:t>có điểm </a:t>
            </a:r>
            <a:r>
              <a:rPr lang="vi-VN"/>
              <a:t>trên 50 từ </a:t>
            </a:r>
            <a:r>
              <a:rPr lang="en-US"/>
              <a:t>bảng </a:t>
            </a:r>
            <a:r>
              <a:rPr lang="en-US" sz="1200" b="1" spc="-5">
                <a:latin typeface="Courier New"/>
                <a:cs typeface="Courier New"/>
              </a:rPr>
              <a:t>Marks</a:t>
            </a:r>
            <a:r>
              <a:rPr lang="vi-VN"/>
              <a:t>.</a:t>
            </a:r>
          </a:p>
          <a:p>
            <a:pPr marL="628650" lvl="1" indent="-171450">
              <a:buFont typeface="Arial" panose="020B0604020202020204" pitchFamily="34" charset="0"/>
              <a:buChar char="•"/>
            </a:pPr>
            <a:r>
              <a:rPr lang="vi-VN"/>
              <a:t>Thứ hai, tên của </a:t>
            </a:r>
            <a:r>
              <a:rPr lang="en-US"/>
              <a:t>sinh viên </a:t>
            </a:r>
            <a:r>
              <a:rPr lang="vi-VN"/>
              <a:t> phải được đặt trong bảng </a:t>
            </a:r>
            <a:r>
              <a:rPr lang="en-US" sz="1200" b="1" spc="-5">
                <a:latin typeface="Courier New"/>
                <a:cs typeface="Courier New"/>
              </a:rPr>
              <a:t>Students </a:t>
            </a:r>
            <a:r>
              <a:rPr lang="en-US"/>
              <a:t>khớp </a:t>
            </a:r>
            <a:r>
              <a:rPr lang="vi-VN"/>
              <a:t>với</a:t>
            </a:r>
            <a:r>
              <a:rPr lang="en-US"/>
              <a:t> </a:t>
            </a:r>
            <a:r>
              <a:rPr lang="vi-VN"/>
              <a:t>số </a:t>
            </a:r>
            <a:r>
              <a:rPr lang="en-US"/>
              <a:t>đăng ký</a:t>
            </a:r>
            <a:r>
              <a:rPr lang="vi-VN"/>
              <a:t>.</a:t>
            </a:r>
            <a:endParaRPr lang="en-US"/>
          </a:p>
        </p:txBody>
      </p:sp>
      <p:sp>
        <p:nvSpPr>
          <p:cNvPr id="4" name="Slide Number Placeholder 3"/>
          <p:cNvSpPr>
            <a:spLocks noGrp="1"/>
          </p:cNvSpPr>
          <p:nvPr>
            <p:ph type="sldNum" sz="quarter" idx="5"/>
          </p:nvPr>
        </p:nvSpPr>
        <p:spPr/>
        <p:txBody>
          <a:bodyPr/>
          <a:lstStyle/>
          <a:p>
            <a:fld id="{D976D214-27A4-4BD1-B27C-D9D1F2D40EE5}" type="slidenum">
              <a:rPr lang="en-US" smtClean="0"/>
              <a:t>26</a:t>
            </a:fld>
            <a:endParaRPr lang="en-US"/>
          </a:p>
        </p:txBody>
      </p:sp>
    </p:spTree>
    <p:extLst>
      <p:ext uri="{BB962C8B-B14F-4D97-AF65-F5344CB8AC3E}">
        <p14:creationId xmlns:p14="http://schemas.microsoft.com/office/powerpoint/2010/main" val="16622364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Mô hình dữ liệu quan hệ </a:t>
            </a:r>
            <a:r>
              <a:rPr lang="en-US" sz="1200" b="1" spc="10">
                <a:latin typeface="Goudy Old Style"/>
                <a:cs typeface="Goudy Old Style"/>
              </a:rPr>
              <a:t>4-5</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Kết quả được hiển thị như trong bảng sau:</a:t>
            </a:r>
            <a:endParaRPr lang="en-US" b="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Có thể có được thông tin này vì hai sự thật:</a:t>
            </a:r>
            <a:endParaRPr lang="en-US" b="0"/>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Đầu tiên, có một cột phổ biến cho cả bảng - </a:t>
            </a:r>
            <a:r>
              <a:rPr lang="en-US" sz="1200" b="1" spc="-5">
                <a:solidFill>
                  <a:srgbClr val="FFFFFF"/>
                </a:solidFill>
                <a:latin typeface="Courier New"/>
                <a:cs typeface="Courier New"/>
              </a:rPr>
              <a:t>Roll</a:t>
            </a:r>
            <a:r>
              <a:rPr lang="en-US" sz="1200" b="1" spc="-25">
                <a:solidFill>
                  <a:srgbClr val="FFFFFF"/>
                </a:solidFill>
                <a:latin typeface="Courier New"/>
                <a:cs typeface="Courier New"/>
              </a:rPr>
              <a:t> </a:t>
            </a:r>
            <a:r>
              <a:rPr lang="en-US" sz="1200" b="1" spc="-5">
                <a:solidFill>
                  <a:srgbClr val="FFFFFF"/>
                </a:solidFill>
                <a:latin typeface="Courier New"/>
                <a:cs typeface="Courier New"/>
              </a:rPr>
              <a:t>Number</a:t>
            </a:r>
            <a:r>
              <a:rPr lang="en-US" b="0"/>
              <a: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Thứ hai, dựa trên cột này, các </a:t>
            </a:r>
            <a:r>
              <a:rPr lang="en-US" b="0"/>
              <a:t>mẫu tin </a:t>
            </a:r>
            <a:r>
              <a:rPr lang="vi-VN" b="0"/>
              <a:t>từ </a:t>
            </a:r>
            <a:r>
              <a:rPr lang="en-US" b="0"/>
              <a:t>2</a:t>
            </a:r>
            <a:r>
              <a:rPr lang="vi-VN" b="0"/>
              <a:t> bảng khác nhau có thể là</a:t>
            </a:r>
            <a:r>
              <a:rPr lang="en-US" b="0"/>
              <a:t> </a:t>
            </a:r>
            <a:r>
              <a:rPr lang="vi-VN" b="0"/>
              <a:t>phù hợp và thông tin cần thiết có thể được lấy.</a:t>
            </a:r>
            <a:endParaRPr lang="en-US" b="0"/>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Trong một mô hình quan hệ, dữ liệu được lưu trữ trong các bảng.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Một bảng trong cơ sở dữ liệu có một tên duy nhất xác định nội dung của nó.</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0"/>
              <a:t>Mỗi bảng có thể được định nghĩa là một giao điểm của các hàng và cột.</a:t>
            </a:r>
            <a:endParaRPr lang="en-US" b="0"/>
          </a:p>
        </p:txBody>
      </p:sp>
      <p:sp>
        <p:nvSpPr>
          <p:cNvPr id="4" name="Slide Number Placeholder 3"/>
          <p:cNvSpPr>
            <a:spLocks noGrp="1"/>
          </p:cNvSpPr>
          <p:nvPr>
            <p:ph type="sldNum" sz="quarter" idx="5"/>
          </p:nvPr>
        </p:nvSpPr>
        <p:spPr/>
        <p:txBody>
          <a:bodyPr/>
          <a:lstStyle/>
          <a:p>
            <a:fld id="{D976D214-27A4-4BD1-B27C-D9D1F2D40EE5}" type="slidenum">
              <a:rPr lang="en-US" smtClean="0"/>
              <a:t>27</a:t>
            </a:fld>
            <a:endParaRPr lang="en-US"/>
          </a:p>
        </p:txBody>
      </p:sp>
    </p:spTree>
    <p:extLst>
      <p:ext uri="{BB962C8B-B14F-4D97-AF65-F5344CB8AC3E}">
        <p14:creationId xmlns:p14="http://schemas.microsoft.com/office/powerpoint/2010/main" val="9465378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Mô hình dữ liệu quan hệ </a:t>
            </a:r>
            <a:r>
              <a:rPr lang="en-US" sz="1200" b="1" spc="10">
                <a:latin typeface="Goudy Old Style"/>
                <a:cs typeface="Goudy Old Style"/>
              </a:rPr>
              <a:t>5-5</a:t>
            </a:r>
          </a:p>
          <a:p>
            <a:pPr marL="171450" indent="-171450">
              <a:buFont typeface="Arial" panose="020B0604020202020204" pitchFamily="34" charset="0"/>
              <a:buChar char="•"/>
            </a:pPr>
            <a:r>
              <a:rPr lang="vi-VN"/>
              <a:t>Ưu điểm của mô hình quan hệ</a:t>
            </a:r>
            <a:endParaRPr lang="en-US"/>
          </a:p>
          <a:p>
            <a:pPr marL="628650" lvl="1" indent="-171450">
              <a:buFont typeface="Arial" panose="020B0604020202020204" pitchFamily="34" charset="0"/>
              <a:buChar char="•"/>
            </a:pPr>
            <a:r>
              <a:rPr lang="vi-VN"/>
              <a:t>Cung cấp cho lập trình </a:t>
            </a:r>
            <a:r>
              <a:rPr lang="en-US"/>
              <a:t>viên </a:t>
            </a:r>
            <a:r>
              <a:rPr lang="vi-VN"/>
              <a:t>thời gian để tập trung vào chế độ xem logic của cơ sở dữ liệu hơn là</a:t>
            </a:r>
            <a:r>
              <a:rPr lang="en-US"/>
              <a:t> </a:t>
            </a:r>
            <a:r>
              <a:rPr lang="vi-VN"/>
              <a:t>bị làm phiền về tầm nhìn vật lý.</a:t>
            </a:r>
          </a:p>
          <a:p>
            <a:pPr marL="628650" lvl="1" indent="-171450">
              <a:buFont typeface="Arial" panose="020B0604020202020204" pitchFamily="34" charset="0"/>
              <a:buChar char="•"/>
            </a:pPr>
            <a:r>
              <a:rPr lang="vi-VN"/>
              <a:t>Cung cấp tính linh hoạt và do đó, dẫn đến mức độ phổ biến của cơ sở dữ liệu quan hệ.</a:t>
            </a:r>
          </a:p>
          <a:p>
            <a:pPr marL="628650" lvl="1" indent="-171450">
              <a:buFont typeface="Arial" panose="020B0604020202020204" pitchFamily="34" charset="0"/>
              <a:buChar char="•"/>
            </a:pPr>
            <a:r>
              <a:rPr lang="vi-VN"/>
              <a:t>Dễ dàng xử lý mô hình đến mức mà thậm chí những người không được đào tạo thấy dễ dàng để tạo các báo cáo và truy vấn, mà không cần suy nghĩ nhiều về nhu cầu thiết kế một cơ sở dữ liệu thích hợp.</a:t>
            </a:r>
            <a:endParaRPr lang="en-US"/>
          </a:p>
          <a:p>
            <a:pPr marL="171450" lvl="0" indent="-171450">
              <a:buFont typeface="Arial" panose="020B0604020202020204" pitchFamily="34" charset="0"/>
              <a:buChar char="•"/>
            </a:pPr>
            <a:r>
              <a:rPr lang="vi-VN"/>
              <a:t>Nhược điểm của mô hình quan hệ</a:t>
            </a:r>
            <a:endParaRPr lang="en-US"/>
          </a:p>
          <a:p>
            <a:pPr marL="628650" lvl="1" indent="-171450">
              <a:buFont typeface="Arial" panose="020B0604020202020204" pitchFamily="34" charset="0"/>
              <a:buChar char="•"/>
            </a:pPr>
            <a:r>
              <a:rPr lang="vi-VN"/>
              <a:t>Ẩn tất cả sự phức tạp của hệ thống và do đó, nó có xu hướng chậm hơn các hệ thống cơ sở dữ liệu khác.</a:t>
            </a:r>
            <a:endParaRPr lang="en-US"/>
          </a:p>
          <a:p>
            <a:pPr marL="628650" lvl="1"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D976D214-27A4-4BD1-B27C-D9D1F2D40EE5}" type="slidenum">
              <a:rPr lang="en-US" smtClean="0"/>
              <a:t>28</a:t>
            </a:fld>
            <a:endParaRPr lang="en-US"/>
          </a:p>
        </p:txBody>
      </p:sp>
    </p:spTree>
    <p:extLst>
      <p:ext uri="{BB962C8B-B14F-4D97-AF65-F5344CB8AC3E}">
        <p14:creationId xmlns:p14="http://schemas.microsoft.com/office/powerpoint/2010/main" val="42842859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Hệ thống quản lý cơ sở dữ liệu quan hệ (RDBMS) 1-3</a:t>
            </a:r>
            <a:endParaRPr lang="en-US" b="1"/>
          </a:p>
          <a:p>
            <a:pPr marL="171450" indent="-171450">
              <a:buFont typeface="Arial" panose="020B0604020202020204" pitchFamily="34" charset="0"/>
              <a:buChar char="•"/>
            </a:pPr>
            <a:r>
              <a:rPr lang="vi-VN" b="0"/>
              <a:t>Mô hình quan hệ là một nỗ lực để đơn giản hóa các cấu trúc cơ sở dữ liệu.</a:t>
            </a:r>
            <a:endParaRPr lang="en-US" b="0"/>
          </a:p>
          <a:p>
            <a:pPr marL="171450" indent="-171450">
              <a:buFont typeface="Arial" panose="020B0604020202020204" pitchFamily="34" charset="0"/>
              <a:buChar char="•"/>
            </a:pPr>
            <a:r>
              <a:rPr lang="vi-VN" b="0"/>
              <a:t>Đại diện cho tất cả dữ liệu trong cơ sở dữ liệu dưới dạng các bảng h</a:t>
            </a:r>
            <a:r>
              <a:rPr lang="en-US" b="0"/>
              <a:t>à</a:t>
            </a:r>
            <a:r>
              <a:rPr lang="vi-VN" b="0"/>
              <a:t>ng</a:t>
            </a:r>
            <a:r>
              <a:rPr lang="en-US" b="0"/>
              <a:t>-</a:t>
            </a:r>
            <a:r>
              <a:rPr lang="vi-VN" b="0"/>
              <a:t>cột đơn giản của các giá trị dữ liệu.</a:t>
            </a:r>
            <a:endParaRPr lang="en-US" b="0"/>
          </a:p>
          <a:p>
            <a:pPr marL="171450" indent="-171450">
              <a:buFont typeface="Arial" panose="020B0604020202020204" pitchFamily="34" charset="0"/>
              <a:buChar char="•"/>
            </a:pPr>
            <a:r>
              <a:rPr lang="vi-VN" b="0"/>
              <a:t>RDBMS là một chương trình phần mềm giúp tạo, duy trì và thao tác cơ sở dữ liệu quan hệ.</a:t>
            </a:r>
            <a:endParaRPr lang="en-US" b="0"/>
          </a:p>
          <a:p>
            <a:pPr marL="171450" indent="-171450">
              <a:buFont typeface="Arial" panose="020B0604020202020204" pitchFamily="34" charset="0"/>
              <a:buChar char="•"/>
            </a:pPr>
            <a:r>
              <a:rPr lang="vi-VN" b="0"/>
              <a:t>Cơ sở dữ liệu quan hệ là một cơ sở dữ liệu được chia thành các đơn vị logic gọi là bảng, trong đó </a:t>
            </a:r>
            <a:r>
              <a:rPr lang="en-US" b="0"/>
              <a:t>các </a:t>
            </a:r>
            <a:r>
              <a:rPr lang="vi-VN" b="0"/>
              <a:t>bảng</a:t>
            </a:r>
            <a:r>
              <a:rPr lang="en-US" b="0"/>
              <a:t> </a:t>
            </a:r>
            <a:r>
              <a:rPr lang="vi-VN" b="0"/>
              <a:t>có liên quan đến nhau trong cơ sở dữ liệu.</a:t>
            </a:r>
            <a:endParaRPr lang="en-US" b="0"/>
          </a:p>
          <a:p>
            <a:pPr marL="171450" indent="-171450">
              <a:buFont typeface="Arial" panose="020B0604020202020204" pitchFamily="34" charset="0"/>
              <a:buChar char="•"/>
            </a:pPr>
            <a:r>
              <a:rPr lang="vi-VN" b="0"/>
              <a:t>Bằng cách có các khóa chung hoặc các trường, trong số các bảng cơ sở dữ liệu quan hệ, dữ liệu từ nhiều</a:t>
            </a:r>
            <a:r>
              <a:rPr lang="en-US" b="0"/>
              <a:t> </a:t>
            </a:r>
            <a:r>
              <a:rPr lang="vi-VN" b="0"/>
              <a:t>bảng có thể được nối để tạo thành một kết quả lớn.</a:t>
            </a:r>
            <a:endParaRPr lang="en-US" b="0"/>
          </a:p>
        </p:txBody>
      </p:sp>
      <p:sp>
        <p:nvSpPr>
          <p:cNvPr id="4" name="Slide Number Placeholder 3"/>
          <p:cNvSpPr>
            <a:spLocks noGrp="1"/>
          </p:cNvSpPr>
          <p:nvPr>
            <p:ph type="sldNum" sz="quarter" idx="5"/>
          </p:nvPr>
        </p:nvSpPr>
        <p:spPr/>
        <p:txBody>
          <a:bodyPr/>
          <a:lstStyle/>
          <a:p>
            <a:fld id="{D976D214-27A4-4BD1-B27C-D9D1F2D40EE5}" type="slidenum">
              <a:rPr lang="en-US" smtClean="0"/>
              <a:t>29</a:t>
            </a:fld>
            <a:endParaRPr lang="en-US"/>
          </a:p>
        </p:txBody>
      </p:sp>
    </p:spTree>
    <p:extLst>
      <p:ext uri="{BB962C8B-B14F-4D97-AF65-F5344CB8AC3E}">
        <p14:creationId xmlns:p14="http://schemas.microsoft.com/office/powerpoint/2010/main" val="31804620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Hệ thống quản lý cơ sở dữ liệu quan hệ (RDBMS) </a:t>
            </a:r>
            <a:r>
              <a:rPr lang="en-US" b="1"/>
              <a:t>2</a:t>
            </a:r>
            <a:r>
              <a:rPr lang="vi-VN" b="1"/>
              <a:t>-3</a:t>
            </a:r>
            <a:endParaRPr lang="en-US" b="1"/>
          </a:p>
          <a:p>
            <a:pPr marL="171450" indent="-171450">
              <a:buFont typeface="Arial" panose="020B0604020202020204" pitchFamily="34" charset="0"/>
              <a:buChar char="•"/>
            </a:pPr>
            <a:r>
              <a:rPr lang="vi-VN"/>
              <a:t>Hình hiển thị </a:t>
            </a:r>
            <a:r>
              <a:rPr lang="en-US"/>
              <a:t>2 </a:t>
            </a:r>
            <a:r>
              <a:rPr lang="vi-VN"/>
              <a:t>bảng liên quan </a:t>
            </a:r>
            <a:r>
              <a:rPr lang="en-US"/>
              <a:t>với</a:t>
            </a:r>
            <a:r>
              <a:rPr lang="vi-VN"/>
              <a:t> nhau thông qua khóa chung (giá trị dữ liệu) trong cơ sở dữ liệu quan hệ:</a:t>
            </a:r>
            <a:endParaRPr lang="en-US"/>
          </a:p>
          <a:p>
            <a:pPr marL="171450" indent="-171450">
              <a:buFont typeface="Arial" panose="020B0604020202020204" pitchFamily="34" charset="0"/>
              <a:buChar char="•"/>
            </a:pPr>
            <a:r>
              <a:rPr lang="vi-VN"/>
              <a:t>Do đó, một cơ sở dữ liệu quan hệ là một cơ sở dữ liệu có cấu trúc trên mô hình quan hệ.</a:t>
            </a:r>
          </a:p>
          <a:p>
            <a:pPr marL="171450" indent="-171450">
              <a:buFont typeface="Arial" panose="020B0604020202020204" pitchFamily="34" charset="0"/>
              <a:buChar char="•"/>
            </a:pPr>
            <a:r>
              <a:rPr lang="vi-VN"/>
              <a:t>Đặc điểm cơ bản của một mô hình quan hệ là trong một mô hình quan hệ, dữ liệu được lưu trữ trong</a:t>
            </a:r>
            <a:r>
              <a:rPr lang="en-US"/>
              <a:t> </a:t>
            </a:r>
            <a:r>
              <a:rPr lang="vi-VN"/>
              <a:t>quan hệ.</a:t>
            </a:r>
            <a:endParaRPr lang="en-US"/>
          </a:p>
        </p:txBody>
      </p:sp>
      <p:sp>
        <p:nvSpPr>
          <p:cNvPr id="4" name="Slide Number Placeholder 3"/>
          <p:cNvSpPr>
            <a:spLocks noGrp="1"/>
          </p:cNvSpPr>
          <p:nvPr>
            <p:ph type="sldNum" sz="quarter" idx="5"/>
          </p:nvPr>
        </p:nvSpPr>
        <p:spPr/>
        <p:txBody>
          <a:bodyPr/>
          <a:lstStyle/>
          <a:p>
            <a:fld id="{D976D214-27A4-4BD1-B27C-D9D1F2D40EE5}" type="slidenum">
              <a:rPr lang="en-US" smtClean="0"/>
              <a:t>30</a:t>
            </a:fld>
            <a:endParaRPr lang="en-US"/>
          </a:p>
        </p:txBody>
      </p:sp>
    </p:spTree>
    <p:extLst>
      <p:ext uri="{BB962C8B-B14F-4D97-AF65-F5344CB8AC3E}">
        <p14:creationId xmlns:p14="http://schemas.microsoft.com/office/powerpoint/2010/main" val="1474234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a:t>Hệ thống quản lý cơ sở dữ liệu quan hệ (RDBMS) </a:t>
            </a:r>
            <a:r>
              <a:rPr lang="en-US" b="1"/>
              <a:t>3</a:t>
            </a:r>
            <a:r>
              <a:rPr lang="vi-VN" b="1"/>
              <a:t>-3</a:t>
            </a:r>
            <a:endParaRPr lang="en-US" b="1"/>
          </a:p>
          <a:p>
            <a:pPr marL="171450" indent="-171450">
              <a:buFont typeface="Arial" panose="020B0604020202020204" pitchFamily="34" charset="0"/>
              <a:buChar char="•"/>
            </a:pPr>
            <a:r>
              <a:rPr lang="vi-VN"/>
              <a:t>Các bảng </a:t>
            </a:r>
            <a:r>
              <a:rPr lang="vi-VN" b="1"/>
              <a:t>Capitals</a:t>
            </a:r>
            <a:r>
              <a:rPr lang="vi-VN"/>
              <a:t> và </a:t>
            </a:r>
            <a:r>
              <a:rPr lang="en-US" sz="1200" b="1" spc="-10">
                <a:latin typeface="Courier New"/>
                <a:cs typeface="Courier New"/>
              </a:rPr>
              <a:t>Currency </a:t>
            </a:r>
            <a:r>
              <a:rPr lang="vi-VN"/>
              <a:t>hiển thị danh sách các quốc gia và thủ đô của </a:t>
            </a:r>
            <a:r>
              <a:rPr lang="en-US"/>
              <a:t>nó</a:t>
            </a:r>
            <a:r>
              <a:rPr lang="vi-VN"/>
              <a:t> và các quốc gia và các loại tiền tệ địa phương được sử dụng tương ứng:</a:t>
            </a:r>
            <a:endParaRPr lang="en-US"/>
          </a:p>
          <a:p>
            <a:pPr marL="171450" indent="-171450">
              <a:buFont typeface="Arial" panose="020B0604020202020204" pitchFamily="34" charset="0"/>
              <a:buChar char="•"/>
            </a:pPr>
            <a:r>
              <a:rPr lang="vi-VN"/>
              <a:t>Cả </a:t>
            </a:r>
            <a:r>
              <a:rPr lang="en-US"/>
              <a:t>2</a:t>
            </a:r>
            <a:r>
              <a:rPr lang="vi-VN"/>
              <a:t> bảng đều có một cột chung, nghĩa là cột </a:t>
            </a:r>
            <a:r>
              <a:rPr lang="en-US" sz="1200" b="1" spc="-5">
                <a:latin typeface="Courier New"/>
                <a:cs typeface="Courier New"/>
              </a:rPr>
              <a:t>Country </a:t>
            </a:r>
            <a:r>
              <a:rPr lang="en-US" sz="1200" b="0" spc="-5">
                <a:latin typeface="Courier New"/>
                <a:cs typeface="Courier New"/>
              </a:rPr>
              <a:t>(</a:t>
            </a:r>
            <a:r>
              <a:rPr lang="en-US"/>
              <a:t>Q</a:t>
            </a:r>
            <a:r>
              <a:rPr lang="vi-VN"/>
              <a:t>uốc gia</a:t>
            </a:r>
            <a:r>
              <a:rPr lang="en-US"/>
              <a:t>)</a:t>
            </a:r>
            <a:endParaRPr lang="vi-VN"/>
          </a:p>
          <a:p>
            <a:pPr marL="171450" indent="-171450">
              <a:buFont typeface="Arial" panose="020B0604020202020204" pitchFamily="34" charset="0"/>
              <a:buChar char="•"/>
            </a:pPr>
            <a:r>
              <a:rPr lang="vi-VN"/>
              <a:t>Bây giờ, để hiển thị thông tin về loại tiền được sử dụng </a:t>
            </a:r>
            <a:r>
              <a:rPr lang="en-US"/>
              <a:t>ở</a:t>
            </a:r>
            <a:r>
              <a:rPr lang="vi-VN"/>
              <a:t> Rome, trước tiên hãy tìm tên của quốc gia mà Rome thuộc về bảng</a:t>
            </a:r>
            <a:r>
              <a:rPr lang="en-US"/>
              <a:t> </a:t>
            </a:r>
            <a:r>
              <a:rPr lang="vi-VN" b="1"/>
              <a:t>Capitals</a:t>
            </a:r>
            <a:endParaRPr lang="vi-VN"/>
          </a:p>
          <a:p>
            <a:pPr marL="171450" indent="-171450">
              <a:buFont typeface="Arial" panose="020B0604020202020204" pitchFamily="34" charset="0"/>
              <a:buChar char="•"/>
            </a:pPr>
            <a:r>
              <a:rPr lang="vi-VN"/>
              <a:t>Tiếp theo, quốc gia đó nên được tra cứu trong bảng </a:t>
            </a:r>
            <a:r>
              <a:rPr lang="en-US" sz="1200" b="1" spc="-5">
                <a:latin typeface="Courier New"/>
                <a:cs typeface="Courier New"/>
              </a:rPr>
              <a:t>Currency </a:t>
            </a:r>
            <a:r>
              <a:rPr lang="en-US" sz="1200" b="0" spc="-5">
                <a:latin typeface="Courier New"/>
                <a:cs typeface="Courier New"/>
              </a:rPr>
              <a:t>(T</a:t>
            </a:r>
            <a:r>
              <a:rPr lang="vi-VN"/>
              <a:t>iền </a:t>
            </a:r>
            <a:r>
              <a:rPr lang="en-US"/>
              <a:t>tệ) </a:t>
            </a:r>
            <a:r>
              <a:rPr lang="vi-VN"/>
              <a:t>để tìm hiểu loại tiền.</a:t>
            </a:r>
          </a:p>
          <a:p>
            <a:pPr marL="171450" indent="-171450">
              <a:buFont typeface="Arial" panose="020B0604020202020204" pitchFamily="34" charset="0"/>
              <a:buChar char="•"/>
            </a:pPr>
            <a:r>
              <a:rPr lang="vi-VN"/>
              <a:t>Có thể có được thông tin này vì có thể thiết lập một mối quan hệ giữa</a:t>
            </a:r>
            <a:r>
              <a:rPr lang="en-US"/>
              <a:t> 2</a:t>
            </a:r>
            <a:r>
              <a:rPr lang="vi-VN"/>
              <a:t> bảng thông qua một cột chung được gọi là </a:t>
            </a:r>
            <a:r>
              <a:rPr lang="en-US" sz="1200" b="1" spc="-10">
                <a:latin typeface="Courier New"/>
                <a:cs typeface="Courier New"/>
              </a:rPr>
              <a:t>Country </a:t>
            </a:r>
            <a:r>
              <a:rPr lang="en-US" sz="1200" b="0" spc="-10">
                <a:latin typeface="Courier New"/>
                <a:cs typeface="Courier New"/>
              </a:rPr>
              <a:t>(Q</a:t>
            </a:r>
            <a:r>
              <a:rPr lang="vi-VN"/>
              <a:t>uốc gia</a:t>
            </a:r>
            <a:r>
              <a:rPr lang="en-US"/>
              <a:t>)</a:t>
            </a:r>
          </a:p>
        </p:txBody>
      </p:sp>
      <p:sp>
        <p:nvSpPr>
          <p:cNvPr id="4" name="Slide Number Placeholder 3"/>
          <p:cNvSpPr>
            <a:spLocks noGrp="1"/>
          </p:cNvSpPr>
          <p:nvPr>
            <p:ph type="sldNum" sz="quarter" idx="5"/>
          </p:nvPr>
        </p:nvSpPr>
        <p:spPr/>
        <p:txBody>
          <a:bodyPr/>
          <a:lstStyle/>
          <a:p>
            <a:fld id="{D976D214-27A4-4BD1-B27C-D9D1F2D40EE5}" type="slidenum">
              <a:rPr lang="en-US" smtClean="0"/>
              <a:t>31</a:t>
            </a:fld>
            <a:endParaRPr lang="en-US"/>
          </a:p>
        </p:txBody>
      </p:sp>
    </p:spTree>
    <p:extLst>
      <p:ext uri="{BB962C8B-B14F-4D97-AF65-F5344CB8AC3E}">
        <p14:creationId xmlns:p14="http://schemas.microsoft.com/office/powerpoint/2010/main" val="15708633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i="0"/>
              <a:t>Điều khoản liên quan đến RDBMS 1-3</a:t>
            </a:r>
          </a:p>
          <a:p>
            <a:pPr marL="171450" indent="-171450">
              <a:buFont typeface="Arial" panose="020B0604020202020204" pitchFamily="34" charset="0"/>
              <a:buChar char="•"/>
            </a:pPr>
            <a:r>
              <a:rPr lang="vi-VN" b="0" i="0"/>
              <a:t>Các thuật ngữ chủ yếu được sử dụng trong RDBMS được mô tả như sau:</a:t>
            </a:r>
            <a:endParaRPr lang="en-US" b="0" i="0"/>
          </a:p>
          <a:p>
            <a:pPr marL="628650" lvl="1" indent="-171450">
              <a:buFont typeface="Arial" panose="020B0604020202020204" pitchFamily="34" charset="0"/>
              <a:buChar char="•"/>
            </a:pPr>
            <a:r>
              <a:rPr lang="vi-VN" b="0" i="0"/>
              <a:t>Dữ liệu được trình bày dưới dạng tập hợp các mối quan hệ.</a:t>
            </a:r>
            <a:endParaRPr lang="en-US" b="0" i="0"/>
          </a:p>
          <a:p>
            <a:pPr marL="628650" lvl="1" indent="-171450">
              <a:buFont typeface="Arial" panose="020B0604020202020204" pitchFamily="34" charset="0"/>
              <a:buChar char="•"/>
            </a:pPr>
            <a:r>
              <a:rPr lang="vi-VN" b="0" i="0"/>
              <a:t>Mỗi mối quan hệ được miêu tả như một bảng.</a:t>
            </a:r>
            <a:endParaRPr lang="en-US" b="0" i="0"/>
          </a:p>
          <a:p>
            <a:pPr marL="628650" lvl="1" indent="-171450">
              <a:buFont typeface="Arial" panose="020B0604020202020204" pitchFamily="34" charset="0"/>
              <a:buChar char="•"/>
            </a:pPr>
            <a:r>
              <a:rPr lang="en-US" b="0" i="0"/>
              <a:t>Các cột là các thuộc tính.</a:t>
            </a:r>
          </a:p>
          <a:p>
            <a:pPr marL="628650" lvl="1" indent="-171450">
              <a:buFont typeface="Arial" panose="020B0604020202020204" pitchFamily="34" charset="0"/>
              <a:buChar char="•"/>
            </a:pPr>
            <a:r>
              <a:rPr lang="en-US" b="0" i="0"/>
              <a:t>Các hàng ('tuples') đại diện cho các thực thể.</a:t>
            </a:r>
          </a:p>
          <a:p>
            <a:pPr marL="628650" lvl="1" indent="-171450">
              <a:buFont typeface="Arial" panose="020B0604020202020204" pitchFamily="34" charset="0"/>
              <a:buChar char="•"/>
            </a:pPr>
            <a:r>
              <a:rPr lang="vi-VN" b="0" i="0"/>
              <a:t>Mỗi bảng có một tập hợp các thuộc tính được thực hiện cùng nhau dưới dạng </a:t>
            </a:r>
            <a:r>
              <a:rPr lang="vi-VN" b="1" i="0"/>
              <a:t>‘</a:t>
            </a:r>
            <a:r>
              <a:rPr lang="en-US" b="1" i="0"/>
              <a:t>khóa</a:t>
            </a:r>
            <a:r>
              <a:rPr lang="vi-VN" b="1" i="0"/>
              <a:t>' </a:t>
            </a:r>
            <a:r>
              <a:rPr lang="vi-VN" b="0" i="0"/>
              <a:t>(về mặt kỹ thuật, một ‘</a:t>
            </a:r>
            <a:r>
              <a:rPr lang="en-US" b="0" i="0"/>
              <a:t>s</a:t>
            </a:r>
            <a:r>
              <a:rPr lang="vi-VN" b="0" i="0"/>
              <a:t>uperkey'), xác định duy nhất từng thực thể.</a:t>
            </a:r>
            <a:endParaRPr lang="en-US" b="0" i="0"/>
          </a:p>
        </p:txBody>
      </p:sp>
      <p:sp>
        <p:nvSpPr>
          <p:cNvPr id="4" name="Slide Number Placeholder 3"/>
          <p:cNvSpPr>
            <a:spLocks noGrp="1"/>
          </p:cNvSpPr>
          <p:nvPr>
            <p:ph type="sldNum" sz="quarter" idx="5"/>
          </p:nvPr>
        </p:nvSpPr>
        <p:spPr/>
        <p:txBody>
          <a:bodyPr/>
          <a:lstStyle/>
          <a:p>
            <a:fld id="{D976D214-27A4-4BD1-B27C-D9D1F2D40EE5}" type="slidenum">
              <a:rPr lang="en-US" smtClean="0"/>
              <a:t>32</a:t>
            </a:fld>
            <a:endParaRPr lang="en-US"/>
          </a:p>
        </p:txBody>
      </p:sp>
    </p:spTree>
    <p:extLst>
      <p:ext uri="{BB962C8B-B14F-4D97-AF65-F5344CB8AC3E}">
        <p14:creationId xmlns:p14="http://schemas.microsoft.com/office/powerpoint/2010/main" val="35991783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a:t>Điều khoản liên quan đến RDBMS 2-3</a:t>
            </a:r>
          </a:p>
          <a:p>
            <a:pPr marL="171450" indent="-171450">
              <a:buFont typeface="Arial" panose="020B0604020202020204" pitchFamily="34" charset="0"/>
              <a:buChar char="•"/>
            </a:pPr>
            <a:r>
              <a:rPr lang="vi-VN"/>
              <a:t>Hãy xem xét kịch bản của một công ty duy trì khách hàng và thông tin đặt hàng cho các sản phẩm đang được bán và chi tiết đặt hàng của khách hàng cho một tháng cụ thể</a:t>
            </a:r>
            <a:r>
              <a:rPr lang="en-US"/>
              <a:t> </a:t>
            </a:r>
            <a:r>
              <a:rPr lang="vi-VN"/>
              <a:t>tháng 8.</a:t>
            </a:r>
          </a:p>
          <a:p>
            <a:pPr marL="171450" indent="-171450">
              <a:buFont typeface="Arial" panose="020B0604020202020204" pitchFamily="34" charset="0"/>
              <a:buChar char="•"/>
            </a:pPr>
            <a:r>
              <a:rPr lang="vi-VN"/>
              <a:t>Các bảng sau được sử dụng để minh họa kịch bản này:</a:t>
            </a:r>
            <a:endParaRPr lang="en-US"/>
          </a:p>
        </p:txBody>
      </p:sp>
      <p:sp>
        <p:nvSpPr>
          <p:cNvPr id="4" name="Slide Number Placeholder 3"/>
          <p:cNvSpPr>
            <a:spLocks noGrp="1"/>
          </p:cNvSpPr>
          <p:nvPr>
            <p:ph type="sldNum" sz="quarter" idx="5"/>
          </p:nvPr>
        </p:nvSpPr>
        <p:spPr/>
        <p:txBody>
          <a:bodyPr/>
          <a:lstStyle/>
          <a:p>
            <a:fld id="{D976D214-27A4-4BD1-B27C-D9D1F2D40EE5}" type="slidenum">
              <a:rPr lang="en-US" smtClean="0"/>
              <a:t>33</a:t>
            </a:fld>
            <a:endParaRPr lang="en-US"/>
          </a:p>
        </p:txBody>
      </p:sp>
    </p:spTree>
    <p:extLst>
      <p:ext uri="{BB962C8B-B14F-4D97-AF65-F5344CB8AC3E}">
        <p14:creationId xmlns:p14="http://schemas.microsoft.com/office/powerpoint/2010/main" val="30696034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a:t>Điều khoản liên quan đến RDBMS 3-3</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a:t>Bảng sau liệt kê các thuật ngữ liên quan đến bảng:</a:t>
            </a:r>
          </a:p>
          <a:p>
            <a:pPr marL="628650" lvl="1" indent="-171450">
              <a:buFont typeface="Arial" panose="020B0604020202020204" pitchFamily="34" charset="0"/>
              <a:buChar char="•"/>
            </a:pPr>
            <a:r>
              <a:rPr lang="en-US" b="1"/>
              <a:t>Quan hệ</a:t>
            </a:r>
            <a:r>
              <a:rPr lang="en-US"/>
              <a:t>: Một bảng</a:t>
            </a:r>
          </a:p>
          <a:p>
            <a:pPr marL="628650" lvl="1" indent="-171450">
              <a:buFont typeface="Arial" panose="020B0604020202020204" pitchFamily="34" charset="0"/>
              <a:buChar char="•"/>
            </a:pPr>
            <a:r>
              <a:rPr lang="en-US" b="1"/>
              <a:t>Hàng</a:t>
            </a:r>
            <a:r>
              <a:rPr lang="en-US"/>
              <a:t>: Một hàng hoặc một mẫu tin trong một quan hệ</a:t>
            </a:r>
          </a:p>
          <a:p>
            <a:pPr marL="628650" lvl="1" indent="-171450">
              <a:buFont typeface="Arial" panose="020B0604020202020204" pitchFamily="34" charset="0"/>
              <a:buChar char="•"/>
            </a:pPr>
            <a:r>
              <a:rPr lang="en-US" b="1"/>
              <a:t>Thuộc tính</a:t>
            </a:r>
            <a:r>
              <a:rPr lang="en-US"/>
              <a:t>: Một tr</a:t>
            </a:r>
            <a:r>
              <a:rPr lang="vi-VN"/>
              <a:t>ư</a:t>
            </a:r>
            <a:r>
              <a:rPr lang="en-US"/>
              <a:t>ờng hoặc một cột trong một quan hệ</a:t>
            </a:r>
          </a:p>
          <a:p>
            <a:pPr marL="628650" lvl="1" indent="-171450">
              <a:buFont typeface="Arial" panose="020B0604020202020204" pitchFamily="34" charset="0"/>
              <a:buChar char="•"/>
            </a:pPr>
            <a:r>
              <a:rPr lang="en-US" b="1"/>
              <a:t>Số l</a:t>
            </a:r>
            <a:r>
              <a:rPr lang="vi-VN" b="1"/>
              <a:t>ư</a:t>
            </a:r>
            <a:r>
              <a:rPr lang="en-US" b="1"/>
              <a:t>ợng của một quan hệ</a:t>
            </a:r>
            <a:r>
              <a:rPr lang="en-US"/>
              <a:t>: Số hàng trong một quan hệ</a:t>
            </a:r>
          </a:p>
          <a:p>
            <a:pPr marL="628650" lvl="1" indent="-171450">
              <a:buFont typeface="Arial" panose="020B0604020202020204" pitchFamily="34" charset="0"/>
              <a:buChar char="•"/>
            </a:pPr>
            <a:r>
              <a:rPr lang="en-US" b="1"/>
              <a:t>Mức độ của một mối quan hệ</a:t>
            </a:r>
            <a:r>
              <a:rPr lang="en-US"/>
              <a:t>: Số thuộc tính trong một quan hệ</a:t>
            </a:r>
          </a:p>
          <a:p>
            <a:pPr marL="628650" lvl="1" indent="-171450">
              <a:buFont typeface="Arial" panose="020B0604020202020204" pitchFamily="34" charset="0"/>
              <a:buChar char="•"/>
            </a:pPr>
            <a:r>
              <a:rPr lang="en-US" b="1"/>
              <a:t>Miền của một thuộc tính</a:t>
            </a:r>
            <a:r>
              <a:rPr lang="en-US"/>
              <a:t>: </a:t>
            </a:r>
            <a:r>
              <a:rPr lang="vi-VN"/>
              <a:t>Tập hợp tất cả các giá trị có thể được lấy bởi thuộc tính</a:t>
            </a:r>
            <a:endParaRPr lang="en-US"/>
          </a:p>
          <a:p>
            <a:pPr marL="628650" lvl="1" indent="-171450">
              <a:buFont typeface="Arial" panose="020B0604020202020204" pitchFamily="34" charset="0"/>
              <a:buChar char="•"/>
            </a:pPr>
            <a:r>
              <a:rPr lang="en-US" b="1"/>
              <a:t>Khóa chính của một quan hệ</a:t>
            </a:r>
            <a:r>
              <a:rPr lang="en-US"/>
              <a:t>: Một thuộc tính hoặc sự kết hợp của các thuộc tính xác định duy nhất mỗi hàng trong một quan hệ</a:t>
            </a:r>
          </a:p>
          <a:p>
            <a:pPr marL="628650" lvl="1" indent="-171450">
              <a:buFont typeface="Arial" panose="020B0604020202020204" pitchFamily="34" charset="0"/>
              <a:buChar char="•"/>
            </a:pPr>
            <a:r>
              <a:rPr lang="en-US" b="1"/>
              <a:t>Khóa ngoại</a:t>
            </a:r>
            <a:r>
              <a:rPr lang="en-US"/>
              <a:t>: Một thuộc tính hoặc sự kết hợp của các thuộc tính trong một quan hệ R1 cho biết mối quan hệ của R1 với một quan hệ khác R2. </a:t>
            </a:r>
            <a:r>
              <a:rPr lang="vi-VN"/>
              <a:t>Các thuộc tính khóa </a:t>
            </a:r>
            <a:r>
              <a:rPr lang="en-US"/>
              <a:t>ngoại </a:t>
            </a:r>
            <a:r>
              <a:rPr lang="vi-VN"/>
              <a:t>trong R1 phải chứa các giá trị phù hợp với các giá trị trong R2</a:t>
            </a:r>
            <a:endParaRPr lang="en-US"/>
          </a:p>
        </p:txBody>
      </p:sp>
      <p:sp>
        <p:nvSpPr>
          <p:cNvPr id="4" name="Slide Number Placeholder 3"/>
          <p:cNvSpPr>
            <a:spLocks noGrp="1"/>
          </p:cNvSpPr>
          <p:nvPr>
            <p:ph type="sldNum" sz="quarter" idx="5"/>
          </p:nvPr>
        </p:nvSpPr>
        <p:spPr/>
        <p:txBody>
          <a:bodyPr/>
          <a:lstStyle/>
          <a:p>
            <a:fld id="{D976D214-27A4-4BD1-B27C-D9D1F2D40EE5}" type="slidenum">
              <a:rPr lang="en-US" smtClean="0"/>
              <a:t>34</a:t>
            </a:fld>
            <a:endParaRPr lang="en-US"/>
          </a:p>
        </p:txBody>
      </p:sp>
    </p:spTree>
    <p:extLst>
      <p:ext uri="{BB962C8B-B14F-4D97-AF65-F5344CB8AC3E}">
        <p14:creationId xmlns:p14="http://schemas.microsoft.com/office/powerpoint/2010/main" val="40327543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Người dùng RDBMS 1-2</a:t>
            </a:r>
            <a:endParaRPr lang="en-US" b="1"/>
          </a:p>
          <a:p>
            <a:pPr marL="171450" indent="-171450">
              <a:buFont typeface="Arial" panose="020B0604020202020204" pitchFamily="34" charset="0"/>
              <a:buChar char="•"/>
            </a:pPr>
            <a:r>
              <a:rPr lang="vi-VN" b="1"/>
              <a:t>Quản trị viên cơ sở dữ liệu (DBA)</a:t>
            </a:r>
            <a:endParaRPr lang="en-US" b="1"/>
          </a:p>
          <a:p>
            <a:pPr marL="628650" lvl="1" indent="-171450">
              <a:buFont typeface="Arial" panose="020B0604020202020204" pitchFamily="34" charset="0"/>
              <a:buChar char="•"/>
            </a:pPr>
            <a:r>
              <a:rPr lang="vi-VN" b="0"/>
              <a:t>Thu thập thông tin sẽ được lưu trữ trong cơ sở dữ liệu</a:t>
            </a:r>
          </a:p>
          <a:p>
            <a:pPr marL="628650" lvl="1" indent="-171450">
              <a:buFont typeface="Arial" panose="020B0604020202020204" pitchFamily="34" charset="0"/>
              <a:buChar char="•"/>
            </a:pPr>
            <a:r>
              <a:rPr lang="vi-VN" b="0"/>
              <a:t>Chịu trách nhiệm cho phép truy cập vào cơ sở dữ liệu</a:t>
            </a:r>
          </a:p>
          <a:p>
            <a:pPr marL="628650" lvl="1" indent="-171450">
              <a:buFont typeface="Arial" panose="020B0604020202020204" pitchFamily="34" charset="0"/>
              <a:buChar char="•"/>
            </a:pPr>
            <a:r>
              <a:rPr lang="vi-VN" b="0"/>
              <a:t>Phối hợp và giám sát việc sử dụng nó</a:t>
            </a:r>
          </a:p>
          <a:p>
            <a:pPr marL="628650" lvl="1" indent="-171450">
              <a:buFont typeface="Arial" panose="020B0604020202020204" pitchFamily="34" charset="0"/>
              <a:buChar char="•"/>
            </a:pPr>
            <a:r>
              <a:rPr lang="vi-VN" b="0"/>
              <a:t>Có được tài nguyên phần mềm và phần cứng khi cần thiết</a:t>
            </a:r>
          </a:p>
          <a:p>
            <a:pPr marL="628650" lvl="1" indent="-171450">
              <a:buFont typeface="Arial" panose="020B0604020202020204" pitchFamily="34" charset="0"/>
              <a:buChar char="•"/>
            </a:pPr>
            <a:r>
              <a:rPr lang="vi-VN" b="0"/>
              <a:t>Chịu trách nhiệm cho các vấn đề như vi phạm an ninh hoặc thời gian đáp ứng hệ thống kém</a:t>
            </a:r>
            <a:endParaRPr lang="en-US" b="0"/>
          </a:p>
          <a:p>
            <a:pPr marL="171450" indent="-171450">
              <a:buFont typeface="Arial" panose="020B0604020202020204" pitchFamily="34" charset="0"/>
              <a:buChar char="•"/>
            </a:pPr>
            <a:r>
              <a:rPr lang="vi-VN" b="1"/>
              <a:t>Nhà thiết kế cơ sở dữ liệu</a:t>
            </a:r>
            <a:endParaRPr lang="en-US" b="1"/>
          </a:p>
          <a:p>
            <a:pPr marL="628650" lvl="1" indent="-171450">
              <a:buFont typeface="Arial" panose="020B0604020202020204" pitchFamily="34" charset="0"/>
              <a:buChar char="•"/>
            </a:pPr>
            <a:r>
              <a:rPr lang="vi-VN" b="0"/>
              <a:t>Chịu trách nhiệm định </a:t>
            </a:r>
            <a:r>
              <a:rPr lang="en-US" b="0"/>
              <a:t>nghĩa </a:t>
            </a:r>
            <a:r>
              <a:rPr lang="vi-VN" b="0"/>
              <a:t>dữ liệu được lưu trữ trong cơ sở dữ liệu</a:t>
            </a:r>
          </a:p>
          <a:p>
            <a:pPr marL="628650" lvl="1" indent="-171450">
              <a:buFont typeface="Arial" panose="020B0604020202020204" pitchFamily="34" charset="0"/>
              <a:buChar char="•"/>
            </a:pPr>
            <a:r>
              <a:rPr lang="vi-VN" b="0"/>
              <a:t>Chọn cấu trúc phù hợp để đại diện và lưu trữ dữ liệu</a:t>
            </a:r>
          </a:p>
          <a:p>
            <a:pPr marL="628650" lvl="1" indent="-171450">
              <a:buFont typeface="Arial" panose="020B0604020202020204" pitchFamily="34" charset="0"/>
              <a:buChar char="•"/>
            </a:pPr>
            <a:r>
              <a:rPr lang="vi-VN" b="0"/>
              <a:t>Giao tiếp với tất cả người dùng cơ sở dữ liệu tiềm năng, để hiểu yêu cầu của họ</a:t>
            </a:r>
          </a:p>
          <a:p>
            <a:pPr marL="628650" lvl="1" indent="-171450">
              <a:buFont typeface="Arial" panose="020B0604020202020204" pitchFamily="34" charset="0"/>
              <a:buChar char="•"/>
            </a:pPr>
            <a:r>
              <a:rPr lang="vi-VN" b="0"/>
              <a:t>Để đưa ra một thiết kế đáp ứng các yêu cầu</a:t>
            </a:r>
            <a:endParaRPr lang="en-US" b="0" dirty="0"/>
          </a:p>
        </p:txBody>
      </p:sp>
      <p:sp>
        <p:nvSpPr>
          <p:cNvPr id="4" name="Slide Number Placeholder 3"/>
          <p:cNvSpPr>
            <a:spLocks noGrp="1"/>
          </p:cNvSpPr>
          <p:nvPr>
            <p:ph type="sldNum" sz="quarter" idx="5"/>
          </p:nvPr>
        </p:nvSpPr>
        <p:spPr/>
        <p:txBody>
          <a:bodyPr/>
          <a:lstStyle/>
          <a:p>
            <a:fld id="{D976D214-27A4-4BD1-B27C-D9D1F2D40EE5}" type="slidenum">
              <a:rPr lang="en-US" smtClean="0"/>
              <a:t>35</a:t>
            </a:fld>
            <a:endParaRPr lang="en-US"/>
          </a:p>
        </p:txBody>
      </p:sp>
    </p:spTree>
    <p:extLst>
      <p:ext uri="{BB962C8B-B14F-4D97-AF65-F5344CB8AC3E}">
        <p14:creationId xmlns:p14="http://schemas.microsoft.com/office/powerpoint/2010/main" val="7750071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Người dùng RDBMS 2-2</a:t>
            </a:r>
            <a:endParaRPr lang="en-US" b="1"/>
          </a:p>
          <a:p>
            <a:pPr marL="171450" indent="-171450">
              <a:buFont typeface="Arial" panose="020B0604020202020204" pitchFamily="34" charset="0"/>
              <a:buChar char="•"/>
            </a:pPr>
            <a:r>
              <a:rPr lang="en-US" b="1"/>
              <a:t>Các nhà phân tích hệ thống và lập trình viên ứng dụng</a:t>
            </a:r>
          </a:p>
          <a:p>
            <a:pPr marL="628650" lvl="1" indent="-171450">
              <a:buFont typeface="Arial" panose="020B0604020202020204" pitchFamily="34" charset="0"/>
              <a:buChar char="•"/>
            </a:pPr>
            <a:r>
              <a:rPr lang="vi-VN" b="0"/>
              <a:t>Xác định các yêu cầu của người dùng cuối</a:t>
            </a:r>
          </a:p>
          <a:p>
            <a:pPr marL="628650" lvl="1" indent="-171450">
              <a:buFont typeface="Arial" panose="020B0604020202020204" pitchFamily="34" charset="0"/>
              <a:buChar char="•"/>
            </a:pPr>
            <a:r>
              <a:rPr lang="vi-VN" b="0"/>
              <a:t>Phát triển thông số kỹ thuật cho các giao dịch được xác định trước đáp ứng các yêu cầu này</a:t>
            </a:r>
          </a:p>
          <a:p>
            <a:pPr marL="628650" lvl="1" indent="-171450">
              <a:buFont typeface="Arial" panose="020B0604020202020204" pitchFamily="34" charset="0"/>
              <a:buChar char="•"/>
            </a:pPr>
            <a:r>
              <a:rPr lang="vi-VN" b="0"/>
              <a:t>Thực hiện các thông số kỹ thuật này như các chương trình</a:t>
            </a:r>
          </a:p>
          <a:p>
            <a:pPr marL="628650" lvl="1" indent="-171450">
              <a:buFont typeface="Arial" panose="020B0604020202020204" pitchFamily="34" charset="0"/>
              <a:buChar char="•"/>
            </a:pPr>
            <a:r>
              <a:rPr lang="vi-VN" b="0"/>
              <a:t>Kiểm tra, gỡ lỗi, tài liệu và duy trì các giao dịch được xác định trước này</a:t>
            </a:r>
          </a:p>
          <a:p>
            <a:pPr marL="628650" lvl="1" indent="-171450">
              <a:buFont typeface="Arial" panose="020B0604020202020204" pitchFamily="34" charset="0"/>
              <a:buChar char="•"/>
            </a:pPr>
            <a:r>
              <a:rPr lang="vi-VN" b="0"/>
              <a:t>Thiết kế, phát triển và vận hành phần mềm DBMS và môi trường hệ thống</a:t>
            </a:r>
            <a:endParaRPr lang="en-US" b="0"/>
          </a:p>
          <a:p>
            <a:pPr marL="171450" lvl="0" indent="-171450">
              <a:buFont typeface="Arial" panose="020B0604020202020204" pitchFamily="34" charset="0"/>
              <a:buChar char="•"/>
            </a:pPr>
            <a:r>
              <a:rPr lang="vi-VN" b="1"/>
              <a:t>Nhà thiết kế và người thực hiện DBMS</a:t>
            </a:r>
            <a:endParaRPr lang="en-US" b="1"/>
          </a:p>
          <a:p>
            <a:pPr marL="628650" lvl="1" indent="-171450">
              <a:buFont typeface="Arial" panose="020B0604020202020204" pitchFamily="34" charset="0"/>
              <a:buChar char="•"/>
            </a:pPr>
            <a:r>
              <a:rPr lang="en-US" b="0"/>
              <a:t>Thiết kế và triển khai các mô-đun và giao diện DBMS làm gói phần mềm.</a:t>
            </a:r>
          </a:p>
          <a:p>
            <a:pPr marL="171450" lvl="0" indent="-171450">
              <a:buFont typeface="Arial" panose="020B0604020202020204" pitchFamily="34" charset="0"/>
              <a:buChar char="•"/>
            </a:pPr>
            <a:r>
              <a:rPr lang="vi-VN" b="1"/>
              <a:t>Người dùng cuối</a:t>
            </a:r>
            <a:endParaRPr lang="en-US" b="1"/>
          </a:p>
          <a:p>
            <a:pPr marL="628650" lvl="1" indent="-171450">
              <a:buFont typeface="Arial" panose="020B0604020202020204" pitchFamily="34" charset="0"/>
              <a:buChar char="•"/>
            </a:pPr>
            <a:r>
              <a:rPr lang="vi-VN" b="0"/>
              <a:t>Người dùng cuối gọi một ứng dụng để tương tác với hệ thống hoặc ghi truy vấn để dễ dàng truy xuất, sửa đổi hoặc xóa dữ liệu.</a:t>
            </a:r>
            <a:endParaRPr lang="en-US" b="0"/>
          </a:p>
        </p:txBody>
      </p:sp>
      <p:sp>
        <p:nvSpPr>
          <p:cNvPr id="4" name="Slide Number Placeholder 3"/>
          <p:cNvSpPr>
            <a:spLocks noGrp="1"/>
          </p:cNvSpPr>
          <p:nvPr>
            <p:ph type="sldNum" sz="quarter" idx="5"/>
          </p:nvPr>
        </p:nvSpPr>
        <p:spPr/>
        <p:txBody>
          <a:bodyPr/>
          <a:lstStyle/>
          <a:p>
            <a:fld id="{D976D214-27A4-4BD1-B27C-D9D1F2D40EE5}" type="slidenum">
              <a:rPr lang="en-US" smtClean="0"/>
              <a:t>36</a:t>
            </a:fld>
            <a:endParaRPr lang="en-US"/>
          </a:p>
        </p:txBody>
      </p:sp>
    </p:spTree>
    <p:extLst>
      <p:ext uri="{BB962C8B-B14F-4D97-AF65-F5344CB8AC3E}">
        <p14:creationId xmlns:p14="http://schemas.microsoft.com/office/powerpoint/2010/main" val="9354789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Thực thể</a:t>
            </a:r>
          </a:p>
          <a:p>
            <a:pPr marL="171450" indent="-171450">
              <a:buFont typeface="Arial" panose="020B0604020202020204" pitchFamily="34" charset="0"/>
              <a:buChar char="•"/>
            </a:pPr>
            <a:r>
              <a:rPr lang="vi-VN"/>
              <a:t>Một thực thể là một người, địa điểm, sự vật, đối tượng, sự kiện hoặc thậm chí là một khái niệm, có thể được xác định rõ ràng.</a:t>
            </a:r>
            <a:endParaRPr lang="en-US"/>
          </a:p>
          <a:p>
            <a:pPr marL="628650" lvl="1" indent="-171450">
              <a:buFont typeface="Arial" panose="020B0604020202020204" pitchFamily="34" charset="0"/>
              <a:buChar char="•"/>
            </a:pPr>
            <a:r>
              <a:rPr lang="vi-VN"/>
              <a:t>Ví dụ, các thực thể trong một trường đại học là sinh viên, giảng viên và các khóa học.</a:t>
            </a:r>
            <a:endParaRPr lang="en-US"/>
          </a:p>
          <a:p>
            <a:pPr marL="171450" indent="-171450">
              <a:buFont typeface="Arial" panose="020B0604020202020204" pitchFamily="34" charset="0"/>
              <a:buChar char="•"/>
            </a:pPr>
            <a:r>
              <a:rPr lang="vi-VN"/>
              <a:t>Mỗi thực thể có một số đặc điểm nhất định được gọi là thuộc tính.</a:t>
            </a:r>
            <a:endParaRPr lang="en-US"/>
          </a:p>
          <a:p>
            <a:pPr marL="628650" lvl="1" indent="-171450">
              <a:buFont typeface="Arial" panose="020B0604020202020204" pitchFamily="34" charset="0"/>
              <a:buChar char="•"/>
            </a:pPr>
            <a:r>
              <a:rPr lang="vi-VN"/>
              <a:t>Ví dụ, thực thể sinh viên có thể bao gồm các thuộc tính như </a:t>
            </a:r>
            <a:r>
              <a:rPr lang="en-US"/>
              <a:t>mã </a:t>
            </a:r>
            <a:r>
              <a:rPr lang="vi-VN"/>
              <a:t>số sinh viên, </a:t>
            </a:r>
            <a:r>
              <a:rPr lang="en-US"/>
              <a:t>họ </a:t>
            </a:r>
            <a:r>
              <a:rPr lang="vi-VN"/>
              <a:t>tên và lớp.</a:t>
            </a:r>
            <a:endParaRPr lang="en-US"/>
          </a:p>
          <a:p>
            <a:pPr marL="171450" lvl="0" indent="-171450">
              <a:buFont typeface="Arial" panose="020B0604020202020204" pitchFamily="34" charset="0"/>
              <a:buChar char="•"/>
            </a:pPr>
            <a:r>
              <a:rPr lang="vi-VN"/>
              <a:t>Một nhóm các thực thể liên quan trở thành một bộ thực thể. Mỗi bộ thực thể được đặt tên.</a:t>
            </a:r>
            <a:r>
              <a:rPr lang="en-US"/>
              <a:t> </a:t>
            </a:r>
            <a:r>
              <a:rPr lang="vi-VN"/>
              <a:t>Tên của bộ thực thể phản ánh nội dung.</a:t>
            </a:r>
            <a:endParaRPr lang="en-US"/>
          </a:p>
        </p:txBody>
      </p:sp>
      <p:sp>
        <p:nvSpPr>
          <p:cNvPr id="4" name="Slide Number Placeholder 3"/>
          <p:cNvSpPr>
            <a:spLocks noGrp="1"/>
          </p:cNvSpPr>
          <p:nvPr>
            <p:ph type="sldNum" sz="quarter" idx="5"/>
          </p:nvPr>
        </p:nvSpPr>
        <p:spPr/>
        <p:txBody>
          <a:bodyPr/>
          <a:lstStyle/>
          <a:p>
            <a:fld id="{D976D214-27A4-4BD1-B27C-D9D1F2D40EE5}" type="slidenum">
              <a:rPr lang="en-US" smtClean="0"/>
              <a:t>37</a:t>
            </a:fld>
            <a:endParaRPr lang="en-US"/>
          </a:p>
        </p:txBody>
      </p:sp>
    </p:spTree>
    <p:extLst>
      <p:ext uri="{BB962C8B-B14F-4D97-AF65-F5344CB8AC3E}">
        <p14:creationId xmlns:p14="http://schemas.microsoft.com/office/powerpoint/2010/main" val="24138297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Bảng và đặc điểm của bảng 1-2</a:t>
            </a:r>
          </a:p>
          <a:p>
            <a:pPr marL="171450" indent="-171450">
              <a:buFont typeface="Arial" panose="020B0604020202020204" pitchFamily="34" charset="0"/>
              <a:buChar char="•"/>
            </a:pPr>
            <a:r>
              <a:rPr lang="vi-VN" b="0"/>
              <a:t>Truy cập và thao tác dữ liệu được tạo điều kiện bằng cách tạo các mối quan hệ dữ liệu dựa trên một cấu trúc được gọi là một bảng.</a:t>
            </a:r>
            <a:endParaRPr lang="en-US" b="0"/>
          </a:p>
          <a:p>
            <a:pPr marL="171450" indent="-171450">
              <a:buFont typeface="Arial" panose="020B0604020202020204" pitchFamily="34" charset="0"/>
              <a:buChar char="•"/>
            </a:pPr>
            <a:r>
              <a:rPr lang="vi-VN" b="0"/>
              <a:t>Một bảng chứa một nhóm các thực thể liên quan là một tập hợp thực thể. Các thuật ngữ </a:t>
            </a:r>
            <a:r>
              <a:rPr lang="en-US" b="0"/>
              <a:t>bộ </a:t>
            </a:r>
            <a:r>
              <a:rPr lang="vi-VN" b="0"/>
              <a:t>thực thể và bảng thường được sử dụng thay thế cho nhau.</a:t>
            </a:r>
            <a:endParaRPr lang="en-US" b="0"/>
          </a:p>
          <a:p>
            <a:pPr marL="171450" indent="-171450">
              <a:buFont typeface="Arial" panose="020B0604020202020204" pitchFamily="34" charset="0"/>
              <a:buChar char="•"/>
            </a:pPr>
            <a:r>
              <a:rPr lang="vi-VN" b="0"/>
              <a:t>Một bảng cũng được gọi là một mối quan hệ. Các hàng được gọi là tuples. Các cột được gọi là thuộc tính.</a:t>
            </a:r>
            <a:endParaRPr lang="en-US" b="0"/>
          </a:p>
          <a:p>
            <a:pPr marL="171450" indent="-171450">
              <a:buFont typeface="Arial" panose="020B0604020202020204" pitchFamily="34" charset="0"/>
              <a:buChar char="•"/>
            </a:pPr>
            <a:r>
              <a:rPr lang="en-US" b="0"/>
              <a:t>Các đặc điểm nổi bật của hình của một bảng:</a:t>
            </a:r>
          </a:p>
        </p:txBody>
      </p:sp>
      <p:sp>
        <p:nvSpPr>
          <p:cNvPr id="4" name="Slide Number Placeholder 3"/>
          <p:cNvSpPr>
            <a:spLocks noGrp="1"/>
          </p:cNvSpPr>
          <p:nvPr>
            <p:ph type="sldNum" sz="quarter" idx="5"/>
          </p:nvPr>
        </p:nvSpPr>
        <p:spPr/>
        <p:txBody>
          <a:bodyPr/>
          <a:lstStyle/>
          <a:p>
            <a:fld id="{D976D214-27A4-4BD1-B27C-D9D1F2D40EE5}" type="slidenum">
              <a:rPr lang="en-US" smtClean="0"/>
              <a:t>38</a:t>
            </a:fld>
            <a:endParaRPr lang="en-US"/>
          </a:p>
        </p:txBody>
      </p:sp>
    </p:spTree>
    <p:extLst>
      <p:ext uri="{BB962C8B-B14F-4D97-AF65-F5344CB8AC3E}">
        <p14:creationId xmlns:p14="http://schemas.microsoft.com/office/powerpoint/2010/main" val="12380941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Bảng và đặc điểm của bảng 2-2</a:t>
            </a:r>
          </a:p>
          <a:p>
            <a:pPr marL="171450" indent="-171450">
              <a:buFont typeface="Arial" panose="020B0604020202020204" pitchFamily="34" charset="0"/>
              <a:buChar char="•"/>
            </a:pPr>
            <a:r>
              <a:rPr lang="en-US" b="1"/>
              <a:t>Các đặc điểm của một bảng</a:t>
            </a:r>
          </a:p>
          <a:p>
            <a:pPr marL="628650" lvl="1" indent="-171450">
              <a:buFont typeface="Arial" panose="020B0604020202020204" pitchFamily="34" charset="0"/>
              <a:buChar char="•"/>
            </a:pPr>
            <a:r>
              <a:rPr lang="vi-VN" b="0"/>
              <a:t>Một cấu trúc </a:t>
            </a:r>
            <a:r>
              <a:rPr lang="en-US" b="0"/>
              <a:t>2</a:t>
            </a:r>
            <a:r>
              <a:rPr lang="vi-VN" b="0"/>
              <a:t> chiều bao gồm các hàng và cột được coi là một bảng.</a:t>
            </a:r>
            <a:endParaRPr lang="en-US" b="0"/>
          </a:p>
          <a:p>
            <a:pPr marL="628650" lvl="1" indent="-171450">
              <a:buFont typeface="Arial" panose="020B0604020202020204" pitchFamily="34" charset="0"/>
              <a:buChar char="•"/>
            </a:pPr>
            <a:r>
              <a:rPr lang="en-US" b="0"/>
              <a:t>Mỗi hàng (tuple) đại diện cho một thực thể duy nhất trong bộ thực thể.</a:t>
            </a:r>
          </a:p>
          <a:p>
            <a:pPr marL="628650" lvl="1" indent="-171450">
              <a:buFont typeface="Arial" panose="020B0604020202020204" pitchFamily="34" charset="0"/>
              <a:buChar char="•"/>
            </a:pPr>
            <a:r>
              <a:rPr lang="en-US" b="0"/>
              <a:t>Mỗi cột có một tên riêng biệt.</a:t>
            </a:r>
          </a:p>
          <a:p>
            <a:pPr marL="628650" lvl="1" indent="-171450">
              <a:buFont typeface="Arial" panose="020B0604020202020204" pitchFamily="34" charset="0"/>
              <a:buChar char="•"/>
            </a:pPr>
            <a:r>
              <a:rPr lang="en-US" b="0"/>
              <a:t>Mỗi hàng/cột biểu thị một giá trị dữ liệu duy nhất.</a:t>
            </a:r>
          </a:p>
          <a:p>
            <a:pPr marL="628650" lvl="1" indent="-171450">
              <a:buFont typeface="Arial" panose="020B0604020202020204" pitchFamily="34" charset="0"/>
              <a:buChar char="•"/>
            </a:pPr>
            <a:r>
              <a:rPr lang="vi-VN" b="0"/>
              <a:t>Mỗi bảng phải có một khóa được gọi là khóa chính xác định duy nhất mỗi hàng.</a:t>
            </a:r>
            <a:endParaRPr lang="en-US" b="0"/>
          </a:p>
          <a:p>
            <a:pPr marL="628650" lvl="1" indent="-171450">
              <a:buFont typeface="Arial" panose="020B0604020202020204" pitchFamily="34" charset="0"/>
              <a:buChar char="•"/>
            </a:pPr>
            <a:r>
              <a:rPr lang="en-US" b="0"/>
              <a:t>Tất cả các giá trị trong một cột phải phù hợp với cùng một định dạng dữ liệu.</a:t>
            </a:r>
          </a:p>
          <a:p>
            <a:pPr marL="628650" lvl="1" indent="-171450">
              <a:buFont typeface="Arial" panose="020B0604020202020204" pitchFamily="34" charset="0"/>
              <a:buChar char="•"/>
            </a:pPr>
            <a:r>
              <a:rPr lang="vi-VN" b="0"/>
              <a:t>Mỗi cột có một phạm vi cụ thể của các giá trị được gọi là miền thuộc tính</a:t>
            </a:r>
            <a:endParaRPr lang="en-US" b="0"/>
          </a:p>
          <a:p>
            <a:pPr marL="628650" lvl="1" indent="-171450">
              <a:buFont typeface="Arial" panose="020B0604020202020204" pitchFamily="34" charset="0"/>
              <a:buChar char="•"/>
            </a:pPr>
            <a:r>
              <a:rPr lang="en-US" b="0"/>
              <a:t>Mỗi hàng mang thông tin mô tả một thực thể xảy ra.</a:t>
            </a:r>
          </a:p>
          <a:p>
            <a:pPr marL="628650" lvl="1" indent="-171450">
              <a:buFont typeface="Arial" panose="020B0604020202020204" pitchFamily="34" charset="0"/>
              <a:buChar char="•"/>
            </a:pPr>
            <a:r>
              <a:rPr lang="en-US" b="0"/>
              <a:t>Thứ tự của các hàng và cột là không quan trọng trong một DBMS.</a:t>
            </a:r>
          </a:p>
        </p:txBody>
      </p:sp>
      <p:sp>
        <p:nvSpPr>
          <p:cNvPr id="4" name="Slide Number Placeholder 3"/>
          <p:cNvSpPr>
            <a:spLocks noGrp="1"/>
          </p:cNvSpPr>
          <p:nvPr>
            <p:ph type="sldNum" sz="quarter" idx="5"/>
          </p:nvPr>
        </p:nvSpPr>
        <p:spPr/>
        <p:txBody>
          <a:bodyPr/>
          <a:lstStyle/>
          <a:p>
            <a:fld id="{D976D214-27A4-4BD1-B27C-D9D1F2D40EE5}" type="slidenum">
              <a:rPr lang="en-US" smtClean="0"/>
              <a:t>39</a:t>
            </a:fld>
            <a:endParaRPr lang="en-US"/>
          </a:p>
        </p:txBody>
      </p:sp>
    </p:spTree>
    <p:extLst>
      <p:ext uri="{BB962C8B-B14F-4D97-AF65-F5344CB8AC3E}">
        <p14:creationId xmlns:p14="http://schemas.microsoft.com/office/powerpoint/2010/main" val="16689560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Sự khác biệt giữa DBMS và RDBMS</a:t>
            </a:r>
          </a:p>
          <a:p>
            <a:pPr marL="171450" indent="-171450">
              <a:buFont typeface="Arial" panose="020B0604020202020204" pitchFamily="34" charset="0"/>
              <a:buChar char="•"/>
            </a:pPr>
            <a:r>
              <a:rPr lang="en-US" b="1"/>
              <a:t>DBMS</a:t>
            </a:r>
          </a:p>
          <a:p>
            <a:pPr marL="628650" lvl="1" indent="-171450">
              <a:buFont typeface="Arial" panose="020B0604020202020204" pitchFamily="34" charset="0"/>
              <a:buChar char="•"/>
            </a:pPr>
            <a:r>
              <a:rPr lang="en-US" b="0"/>
              <a:t>DBMS</a:t>
            </a:r>
            <a:r>
              <a:rPr lang="vi-VN" b="0"/>
              <a:t> không cần phải có dữ liệu trong cấu trúc dạng bảng cũng như nó cũng không thực thi các mối quan hệ </a:t>
            </a:r>
            <a:r>
              <a:rPr lang="en-US" b="0"/>
              <a:t>bảng </a:t>
            </a:r>
            <a:r>
              <a:rPr lang="vi-VN" b="0"/>
              <a:t>giữa các mục dữ liệu.</a:t>
            </a:r>
            <a:endParaRPr lang="en-US" b="0"/>
          </a:p>
          <a:p>
            <a:pPr marL="628650" lvl="1" indent="-171450">
              <a:buFont typeface="Arial" panose="020B0604020202020204" pitchFamily="34" charset="0"/>
              <a:buChar char="•"/>
            </a:pPr>
            <a:r>
              <a:rPr lang="vi-VN" b="0"/>
              <a:t>Một lượng nhỏ dữ liệu có thể được lưu trữ và lấy.</a:t>
            </a:r>
            <a:endParaRPr lang="en-US" b="0"/>
          </a:p>
          <a:p>
            <a:pPr marL="628650" lvl="1" indent="-171450">
              <a:buFont typeface="Arial" panose="020B0604020202020204" pitchFamily="34" charset="0"/>
              <a:buChar char="•"/>
            </a:pPr>
            <a:r>
              <a:rPr lang="vi-VN" b="0"/>
              <a:t>Một DBMS kém an toàn hơn so với RDBMS.</a:t>
            </a:r>
            <a:endParaRPr lang="en-US" b="0"/>
          </a:p>
          <a:p>
            <a:pPr marL="628650" lvl="1" indent="-171450">
              <a:buFont typeface="Arial" panose="020B0604020202020204" pitchFamily="34" charset="0"/>
              <a:buChar char="•"/>
            </a:pPr>
            <a:r>
              <a:rPr lang="vi-VN" b="0"/>
              <a:t>Nó là một hệ thống người dùng duy nhất.</a:t>
            </a:r>
            <a:endParaRPr lang="en-US" b="0"/>
          </a:p>
          <a:p>
            <a:pPr marL="628650" lvl="1" indent="-171450">
              <a:buFont typeface="Arial" panose="020B0604020202020204" pitchFamily="34" charset="0"/>
              <a:buChar char="•"/>
            </a:pPr>
            <a:r>
              <a:rPr lang="en-US" b="0"/>
              <a:t>Hầu hết các DBMS không hỗ trợ kiến ​​trúc máy khách / máy chủ.</a:t>
            </a:r>
          </a:p>
          <a:p>
            <a:pPr marL="628650" lvl="1" indent="-171450">
              <a:buFont typeface="Arial" panose="020B0604020202020204" pitchFamily="34" charset="0"/>
              <a:buChar char="•"/>
            </a:pPr>
            <a:r>
              <a:rPr lang="vi-VN" b="0"/>
              <a:t>Ở đây, các thực thể được coi trọng nhiều hơn và không có mối quan hệ được thiết lập trong số các thực thể này..</a:t>
            </a:r>
            <a:endParaRPr lang="en-US" b="0"/>
          </a:p>
          <a:p>
            <a:pPr marL="171450" indent="-171450">
              <a:buFont typeface="Arial" panose="020B0604020202020204" pitchFamily="34" charset="0"/>
              <a:buChar char="•"/>
            </a:pPr>
            <a:r>
              <a:rPr lang="en-US" b="1"/>
              <a:t>RDBMS</a:t>
            </a:r>
          </a:p>
          <a:p>
            <a:pPr marL="628650" lvl="1" indent="-171450">
              <a:buFont typeface="Arial" panose="020B0604020202020204" pitchFamily="34" charset="0"/>
              <a:buChar char="•"/>
            </a:pPr>
            <a:r>
              <a:rPr lang="vi-VN" b="0"/>
              <a:t>Cấu trúc bảng là một mối quan hệ phải và bảng được thực thi bởi hệ thống. Những mối quan hệ này cho phép người dùng áp dụng và quản lý các quy tắc kinh doanh với mã hóa tối thiểu.</a:t>
            </a:r>
            <a:endParaRPr lang="en-US" b="0"/>
          </a:p>
          <a:p>
            <a:pPr marL="628650" lvl="1" indent="-171450">
              <a:buFont typeface="Arial" panose="020B0604020202020204" pitchFamily="34" charset="0"/>
              <a:buChar char="•"/>
            </a:pPr>
            <a:r>
              <a:rPr lang="vi-VN" b="0"/>
              <a:t>RDBMS có thể lưu trữ và truy xuất số lượng lớn dữ liệu.</a:t>
            </a:r>
            <a:endParaRPr lang="en-US" b="0"/>
          </a:p>
          <a:p>
            <a:pPr marL="628650" lvl="1" indent="-171450">
              <a:buFont typeface="Arial" panose="020B0604020202020204" pitchFamily="34" charset="0"/>
              <a:buChar char="•"/>
            </a:pPr>
            <a:r>
              <a:rPr lang="en-US" b="0"/>
              <a:t>RDBMS an toàn hơn DBMS.</a:t>
            </a:r>
          </a:p>
          <a:p>
            <a:pPr marL="628650" lvl="1" indent="-171450">
              <a:buFont typeface="Arial" panose="020B0604020202020204" pitchFamily="34" charset="0"/>
              <a:buChar char="•"/>
            </a:pPr>
            <a:r>
              <a:rPr lang="vi-VN" b="0"/>
              <a:t>Nó là một hệ thống nhiều người dùng.</a:t>
            </a:r>
            <a:endParaRPr lang="en-US" b="0"/>
          </a:p>
          <a:p>
            <a:pPr marL="628650" lvl="1" indent="-171450">
              <a:buFont typeface="Arial" panose="020B0604020202020204" pitchFamily="34" charset="0"/>
              <a:buChar char="•"/>
            </a:pPr>
            <a:r>
              <a:rPr lang="en-US" b="0"/>
              <a:t>Nó hỗ trợ kiến ​​trúc máy khách / máy chủ.</a:t>
            </a:r>
          </a:p>
          <a:p>
            <a:pPr marL="628650" lvl="1" indent="-171450">
              <a:buFont typeface="Arial" panose="020B0604020202020204" pitchFamily="34" charset="0"/>
              <a:buChar char="•"/>
            </a:pPr>
            <a:r>
              <a:rPr lang="vi-VN" b="0"/>
              <a:t>Ở đây, một mối quan hệ được coi trọng nhiều hơn. Do đó, các bảng phụ thuộc và người dùng có thể thiết lập các ràng buộc toàn vẹn khác nhau trên các bảng này để dữ liệu cuối cùng được người dùng sử dụng chính xác.</a:t>
            </a:r>
            <a:endParaRPr lang="en-US" b="0"/>
          </a:p>
        </p:txBody>
      </p:sp>
      <p:sp>
        <p:nvSpPr>
          <p:cNvPr id="4" name="Slide Number Placeholder 3"/>
          <p:cNvSpPr>
            <a:spLocks noGrp="1"/>
          </p:cNvSpPr>
          <p:nvPr>
            <p:ph type="sldNum" sz="quarter" idx="5"/>
          </p:nvPr>
        </p:nvSpPr>
        <p:spPr/>
        <p:txBody>
          <a:bodyPr/>
          <a:lstStyle/>
          <a:p>
            <a:fld id="{D976D214-27A4-4BD1-B27C-D9D1F2D40EE5}" type="slidenum">
              <a:rPr lang="en-US" smtClean="0"/>
              <a:t>40</a:t>
            </a:fld>
            <a:endParaRPr lang="en-US"/>
          </a:p>
        </p:txBody>
      </p:sp>
    </p:spTree>
    <p:extLst>
      <p:ext uri="{BB962C8B-B14F-4D97-AF65-F5344CB8AC3E}">
        <p14:creationId xmlns:p14="http://schemas.microsoft.com/office/powerpoint/2010/main" val="33668449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a:t>Tóm lược</a:t>
            </a:r>
          </a:p>
          <a:p>
            <a:pPr marL="171450" indent="-171450">
              <a:buFont typeface="Arial" panose="020B0604020202020204" pitchFamily="34" charset="0"/>
              <a:buChar char="•"/>
            </a:pPr>
            <a:r>
              <a:rPr lang="vi-VN" b="0"/>
              <a:t>Cơ sở dữ liệu là một tập hợp các dữ liệu liên quan được lưu trữ dưới dạng bảng.</a:t>
            </a:r>
          </a:p>
          <a:p>
            <a:pPr marL="171450" indent="-171450">
              <a:buFont typeface="Arial" panose="020B0604020202020204" pitchFamily="34" charset="0"/>
              <a:buChar char="•"/>
            </a:pPr>
            <a:r>
              <a:rPr lang="vi-VN" b="0"/>
              <a:t>Một mô hình dữ liệu mô tả một thùng chứa để lưu trữ dữ liệu và quá trình lưu trữ và truy xuất dữ liệu từ </a:t>
            </a:r>
            <a:r>
              <a:rPr lang="en-US" b="0"/>
              <a:t>bộ</a:t>
            </a:r>
            <a:r>
              <a:rPr lang="vi-VN" b="0"/>
              <a:t> chứa đó.</a:t>
            </a:r>
          </a:p>
          <a:p>
            <a:pPr marL="171450" indent="-171450">
              <a:buFont typeface="Arial" panose="020B0604020202020204" pitchFamily="34" charset="0"/>
              <a:buChar char="•"/>
            </a:pPr>
            <a:r>
              <a:rPr lang="vi-VN" b="0"/>
              <a:t>DBMS là một tập hợp các chương trình cho phép người dùng lưu trữ, sửa đổi và trích xuất thông tin từ cơ sở dữ liệu.</a:t>
            </a:r>
          </a:p>
          <a:p>
            <a:pPr marL="171450" indent="-171450">
              <a:buFont typeface="Arial" panose="020B0604020202020204" pitchFamily="34" charset="0"/>
              <a:buChar char="•"/>
            </a:pPr>
            <a:r>
              <a:rPr lang="vi-VN" b="0"/>
              <a:t>Một hệ thống quản lý cơ sở dữ liệu quan hệ (RDBMS) là một bộ các chương trình phần mềm để tạo, duy trì, sửa đổi và thao </a:t>
            </a:r>
            <a:r>
              <a:rPr lang="en-US" b="0"/>
              <a:t>tác</a:t>
            </a:r>
            <a:r>
              <a:rPr lang="vi-VN" b="0"/>
              <a:t> </a:t>
            </a:r>
            <a:r>
              <a:rPr lang="en-US" b="0"/>
              <a:t>một </a:t>
            </a:r>
            <a:r>
              <a:rPr lang="vi-VN" b="0"/>
              <a:t>cơ sở dữ liệu quan hệ.</a:t>
            </a:r>
          </a:p>
          <a:p>
            <a:pPr marL="171450" indent="-171450">
              <a:buFont typeface="Arial" panose="020B0604020202020204" pitchFamily="34" charset="0"/>
              <a:buChar char="•"/>
            </a:pPr>
            <a:r>
              <a:rPr lang="vi-VN" b="0"/>
              <a:t>Một cơ sở dữ liệu quan hệ được chia thành các đơn vị logic gọi là bảng. Các đơn vị logic này </a:t>
            </a:r>
            <a:r>
              <a:rPr lang="en-US" b="0"/>
              <a:t>có</a:t>
            </a:r>
            <a:r>
              <a:rPr lang="vi-VN" b="0"/>
              <a:t> liên quan đến nhau trong cơ sở dữ liệu.</a:t>
            </a:r>
          </a:p>
          <a:p>
            <a:pPr marL="171450" indent="-171450">
              <a:buFont typeface="Arial" panose="020B0604020202020204" pitchFamily="34" charset="0"/>
              <a:buChar char="•"/>
            </a:pPr>
            <a:r>
              <a:rPr lang="vi-VN" b="0"/>
              <a:t>Các thành phần chính của RDBMS là các thực thể và bảng.</a:t>
            </a:r>
          </a:p>
          <a:p>
            <a:pPr marL="171450" indent="-171450">
              <a:buFont typeface="Arial" panose="020B0604020202020204" pitchFamily="34" charset="0"/>
              <a:buChar char="•"/>
            </a:pPr>
            <a:r>
              <a:rPr lang="vi-VN" b="0"/>
              <a:t>Trong một RDBMS, một mối quan hệ được coi trọng nhiều hơn, trong khi, trong trường hợp của DBMS, các thực thể được coi </a:t>
            </a:r>
            <a:r>
              <a:rPr lang="en-US" b="0"/>
              <a:t>quan trọng</a:t>
            </a:r>
            <a:r>
              <a:rPr lang="vi-VN" b="0"/>
              <a:t> và không có mối quan hệ nào được thiết lập trong số các thực thể này.</a:t>
            </a:r>
            <a:endParaRPr lang="en-US" b="0"/>
          </a:p>
        </p:txBody>
      </p:sp>
      <p:sp>
        <p:nvSpPr>
          <p:cNvPr id="4" name="Slide Number Placeholder 3"/>
          <p:cNvSpPr>
            <a:spLocks noGrp="1"/>
          </p:cNvSpPr>
          <p:nvPr>
            <p:ph type="sldNum" sz="quarter" idx="5"/>
          </p:nvPr>
        </p:nvSpPr>
        <p:spPr/>
        <p:txBody>
          <a:bodyPr/>
          <a:lstStyle/>
          <a:p>
            <a:fld id="{D976D214-27A4-4BD1-B27C-D9D1F2D40EE5}" type="slidenum">
              <a:rPr lang="en-US" smtClean="0"/>
              <a:t>41</a:t>
            </a:fld>
            <a:endParaRPr lang="en-US"/>
          </a:p>
        </p:txBody>
      </p:sp>
    </p:spTree>
    <p:extLst>
      <p:ext uri="{BB962C8B-B14F-4D97-AF65-F5344CB8AC3E}">
        <p14:creationId xmlns:p14="http://schemas.microsoft.com/office/powerpoint/2010/main" val="368468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Goudy Old Style"/>
                <a:cs typeface="Goudy Old Style"/>
              </a:defRPr>
            </a:lvl1p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Goudy Old Style"/>
                <a:cs typeface="Goudy Old Style"/>
              </a:defRPr>
            </a:lvl1p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a:t>
            </a:fld>
            <a:endParaRPr sz="12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Goudy Old Style"/>
                <a:cs typeface="Goudy Old Style"/>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1">
                <a:solidFill>
                  <a:schemeClr val="tx1"/>
                </a:solidFill>
                <a:latin typeface="Goudy Old Style"/>
                <a:cs typeface="Goudy Old Style"/>
              </a:defRPr>
            </a:lvl1p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10/12/2021</a:t>
            </a:fld>
            <a:endParaRPr lang="en-US"/>
          </a:p>
        </p:txBody>
      </p:sp>
      <p:sp>
        <p:nvSpPr>
          <p:cNvPr id="6" name="Holder 6"/>
          <p:cNvSpPr>
            <a:spLocks noGrp="1"/>
          </p:cNvSpPr>
          <p:nvPr>
            <p:ph type="sldNum" sz="quarter" idx="7"/>
          </p:nvPr>
        </p:nvSpPr>
        <p:spPr/>
        <p:txBody>
          <a:bodyPr lIns="0" tIns="0" rIns="0" bIns="0"/>
          <a:lstStyle>
            <a:lvl1pPr>
              <a:defRPr sz="1200" b="0" i="0">
                <a:solidFill>
                  <a:schemeClr val="tx1"/>
                </a:solidFill>
                <a:latin typeface="Goudy Old Style"/>
                <a:cs typeface="Goudy Old Style"/>
              </a:defRPr>
            </a:lvl1p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a:t>
            </a:fld>
            <a:endParaRPr sz="12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Goudy Old Style"/>
                <a:cs typeface="Goudy Old Style"/>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1">
                <a:solidFill>
                  <a:schemeClr val="tx1"/>
                </a:solidFill>
                <a:latin typeface="Goudy Old Style"/>
                <a:cs typeface="Goudy Old Style"/>
              </a:defRPr>
            </a:lvl1p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10/12/2021</a:t>
            </a:fld>
            <a:endParaRPr lang="en-US"/>
          </a:p>
        </p:txBody>
      </p:sp>
      <p:sp>
        <p:nvSpPr>
          <p:cNvPr id="7" name="Holder 7"/>
          <p:cNvSpPr>
            <a:spLocks noGrp="1"/>
          </p:cNvSpPr>
          <p:nvPr>
            <p:ph type="sldNum" sz="quarter" idx="7"/>
          </p:nvPr>
        </p:nvSpPr>
        <p:spPr/>
        <p:txBody>
          <a:bodyPr lIns="0" tIns="0" rIns="0" bIns="0"/>
          <a:lstStyle>
            <a:lvl1pPr>
              <a:defRPr sz="1200" b="0" i="0">
                <a:solidFill>
                  <a:schemeClr val="tx1"/>
                </a:solidFill>
                <a:latin typeface="Goudy Old Style"/>
                <a:cs typeface="Goudy Old Style"/>
              </a:defRPr>
            </a:lvl1p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a:t>
            </a:fld>
            <a:endParaRPr sz="12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Goudy Old Style"/>
                <a:cs typeface="Goudy Old Style"/>
              </a:defRPr>
            </a:lvl1pPr>
          </a:lstStyle>
          <a:p>
            <a:endParaRPr/>
          </a:p>
        </p:txBody>
      </p:sp>
      <p:sp>
        <p:nvSpPr>
          <p:cNvPr id="3" name="Holder 3"/>
          <p:cNvSpPr>
            <a:spLocks noGrp="1"/>
          </p:cNvSpPr>
          <p:nvPr>
            <p:ph type="ftr" sz="quarter" idx="5"/>
          </p:nvPr>
        </p:nvSpPr>
        <p:spPr/>
        <p:txBody>
          <a:bodyPr lIns="0" tIns="0" rIns="0" bIns="0"/>
          <a:lstStyle>
            <a:lvl1pPr>
              <a:defRPr sz="1200" b="0" i="1">
                <a:solidFill>
                  <a:schemeClr val="tx1"/>
                </a:solidFill>
                <a:latin typeface="Goudy Old Style"/>
                <a:cs typeface="Goudy Old Style"/>
              </a:defRPr>
            </a:lvl1p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10/12/2021</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Goudy Old Style"/>
                <a:cs typeface="Goudy Old Style"/>
              </a:defRPr>
            </a:lvl1p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a:t>
            </a:fld>
            <a:endParaRPr sz="12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1">
                <a:solidFill>
                  <a:schemeClr val="tx1"/>
                </a:solidFill>
                <a:latin typeface="Goudy Old Style"/>
                <a:cs typeface="Goudy Old Style"/>
              </a:defRPr>
            </a:lvl1p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10/12/2021</a:t>
            </a:fld>
            <a:endParaRPr lang="en-US"/>
          </a:p>
        </p:txBody>
      </p:sp>
      <p:sp>
        <p:nvSpPr>
          <p:cNvPr id="4" name="Holder 4"/>
          <p:cNvSpPr>
            <a:spLocks noGrp="1"/>
          </p:cNvSpPr>
          <p:nvPr>
            <p:ph type="sldNum" sz="quarter" idx="7"/>
          </p:nvPr>
        </p:nvSpPr>
        <p:spPr/>
        <p:txBody>
          <a:bodyPr lIns="0" tIns="0" rIns="0" bIns="0"/>
          <a:lstStyle>
            <a:lvl1pPr>
              <a:defRPr sz="1200" b="0" i="0">
                <a:solidFill>
                  <a:schemeClr val="tx1"/>
                </a:solidFill>
                <a:latin typeface="Goudy Old Style"/>
                <a:cs typeface="Goudy Old Style"/>
              </a:defRPr>
            </a:lvl1p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a:t>
            </a:fld>
            <a:endParaRPr sz="12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9144000" cy="6857999"/>
          </a:xfrm>
          <a:prstGeom prst="rect">
            <a:avLst/>
          </a:prstGeom>
        </p:spPr>
      </p:pic>
      <p:sp>
        <p:nvSpPr>
          <p:cNvPr id="17" name="bg object 17"/>
          <p:cNvSpPr/>
          <p:nvPr/>
        </p:nvSpPr>
        <p:spPr>
          <a:xfrm>
            <a:off x="0" y="0"/>
            <a:ext cx="9144000" cy="762000"/>
          </a:xfrm>
          <a:custGeom>
            <a:avLst/>
            <a:gdLst/>
            <a:ahLst/>
            <a:cxnLst/>
            <a:rect l="l" t="t" r="r" b="b"/>
            <a:pathLst>
              <a:path w="9144000" h="762000">
                <a:moveTo>
                  <a:pt x="9144000" y="0"/>
                </a:moveTo>
                <a:lnTo>
                  <a:pt x="0" y="0"/>
                </a:lnTo>
                <a:lnTo>
                  <a:pt x="0" y="762000"/>
                </a:lnTo>
                <a:lnTo>
                  <a:pt x="9144000" y="762000"/>
                </a:lnTo>
                <a:lnTo>
                  <a:pt x="9144000" y="0"/>
                </a:lnTo>
                <a:close/>
              </a:path>
            </a:pathLst>
          </a:custGeom>
          <a:solidFill>
            <a:srgbClr val="974706"/>
          </a:solidFill>
        </p:spPr>
        <p:txBody>
          <a:bodyPr wrap="square" lIns="0" tIns="0" rIns="0" bIns="0" rtlCol="0"/>
          <a:lstStyle/>
          <a:p>
            <a:endParaRPr/>
          </a:p>
        </p:txBody>
      </p:sp>
      <p:sp>
        <p:nvSpPr>
          <p:cNvPr id="2" name="Holder 2"/>
          <p:cNvSpPr>
            <a:spLocks noGrp="1"/>
          </p:cNvSpPr>
          <p:nvPr>
            <p:ph type="title"/>
          </p:nvPr>
        </p:nvSpPr>
        <p:spPr>
          <a:xfrm>
            <a:off x="3077464" y="2015743"/>
            <a:ext cx="4401820" cy="1123314"/>
          </a:xfrm>
          <a:prstGeom prst="rect">
            <a:avLst/>
          </a:prstGeom>
        </p:spPr>
        <p:txBody>
          <a:bodyPr wrap="square" lIns="0" tIns="0" rIns="0" bIns="0">
            <a:spAutoFit/>
          </a:bodyPr>
          <a:lstStyle>
            <a:lvl1pPr>
              <a:defRPr sz="3600" b="1" i="0">
                <a:solidFill>
                  <a:schemeClr val="bg1"/>
                </a:solidFill>
                <a:latin typeface="Goudy Old Style"/>
                <a:cs typeface="Goudy Old Style"/>
              </a:defRPr>
            </a:lvl1pPr>
          </a:lstStyle>
          <a:p>
            <a:endParaRPr/>
          </a:p>
        </p:txBody>
      </p:sp>
      <p:sp>
        <p:nvSpPr>
          <p:cNvPr id="3" name="Holder 3"/>
          <p:cNvSpPr>
            <a:spLocks noGrp="1"/>
          </p:cNvSpPr>
          <p:nvPr>
            <p:ph type="body" idx="1"/>
          </p:nvPr>
        </p:nvSpPr>
        <p:spPr>
          <a:xfrm>
            <a:off x="450850" y="1289050"/>
            <a:ext cx="8248650" cy="454533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78739" y="6640647"/>
            <a:ext cx="819150" cy="198120"/>
          </a:xfrm>
          <a:prstGeom prst="rect">
            <a:avLst/>
          </a:prstGeom>
        </p:spPr>
        <p:txBody>
          <a:bodyPr wrap="square" lIns="0" tIns="0" rIns="0" bIns="0">
            <a:spAutoFit/>
          </a:bodyPr>
          <a:lstStyle>
            <a:lvl1pPr>
              <a:defRPr sz="1200" b="0" i="1">
                <a:solidFill>
                  <a:schemeClr val="tx1"/>
                </a:solidFill>
                <a:latin typeface="Goudy Old Style"/>
                <a:cs typeface="Goudy Old Style"/>
              </a:defRPr>
            </a:lvl1p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10/12/2021</a:t>
            </a:fld>
            <a:endParaRPr lang="en-US"/>
          </a:p>
        </p:txBody>
      </p:sp>
      <p:sp>
        <p:nvSpPr>
          <p:cNvPr id="6" name="Holder 6"/>
          <p:cNvSpPr>
            <a:spLocks noGrp="1"/>
          </p:cNvSpPr>
          <p:nvPr>
            <p:ph type="sldNum" sz="quarter" idx="7"/>
          </p:nvPr>
        </p:nvSpPr>
        <p:spPr>
          <a:xfrm>
            <a:off x="7952993" y="6601785"/>
            <a:ext cx="864234" cy="203200"/>
          </a:xfrm>
          <a:prstGeom prst="rect">
            <a:avLst/>
          </a:prstGeom>
        </p:spPr>
        <p:txBody>
          <a:bodyPr wrap="square" lIns="0" tIns="0" rIns="0" bIns="0">
            <a:spAutoFit/>
          </a:bodyPr>
          <a:lstStyle>
            <a:lvl1pPr>
              <a:defRPr sz="1200" b="0" i="0">
                <a:solidFill>
                  <a:schemeClr val="tx1"/>
                </a:solidFill>
                <a:latin typeface="Goudy Old Style"/>
                <a:cs typeface="Goudy Old Style"/>
              </a:defRPr>
            </a:lvl1p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a:t>
            </a:fld>
            <a:endParaRPr sz="12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mailto:nadroj@otherdomain.com" TargetMode="External"/><Relationship Id="rId3" Type="http://schemas.openxmlformats.org/officeDocument/2006/relationships/image" Target="../media/image10.png"/><Relationship Id="rId7" Type="http://schemas.openxmlformats.org/officeDocument/2006/relationships/hyperlink" Target="mailto:selena@eff.org"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mailto:ericd@eff.org" TargetMode="Externa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15.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11.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11.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11.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9.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59.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1.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3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10" Type="http://schemas.openxmlformats.org/officeDocument/2006/relationships/image" Target="../media/image75.jpg"/><Relationship Id="rId4" Type="http://schemas.openxmlformats.org/officeDocument/2006/relationships/image" Target="../media/image69.png"/><Relationship Id="rId9" Type="http://schemas.openxmlformats.org/officeDocument/2006/relationships/image" Target="../media/image74.jpg"/></Relationships>
</file>

<file path=ppt/slides/_rels/slide36.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 Id="rId9" Type="http://schemas.openxmlformats.org/officeDocument/2006/relationships/image" Target="../media/image82.jpg"/></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15.png"/><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9144000" cy="6858000"/>
          </a:xfrm>
        </p:grpSpPr>
        <p:sp>
          <p:nvSpPr>
            <p:cNvPr id="3" name="object 3"/>
            <p:cNvSpPr/>
            <p:nvPr/>
          </p:nvSpPr>
          <p:spPr>
            <a:xfrm>
              <a:off x="17525" y="3810000"/>
              <a:ext cx="9126855" cy="3048000"/>
            </a:xfrm>
            <a:custGeom>
              <a:avLst/>
              <a:gdLst/>
              <a:ahLst/>
              <a:cxnLst/>
              <a:rect l="l" t="t" r="r" b="b"/>
              <a:pathLst>
                <a:path w="9126855" h="3048000">
                  <a:moveTo>
                    <a:pt x="9126474" y="0"/>
                  </a:moveTo>
                  <a:lnTo>
                    <a:pt x="0" y="0"/>
                  </a:lnTo>
                  <a:lnTo>
                    <a:pt x="0" y="3047999"/>
                  </a:lnTo>
                  <a:lnTo>
                    <a:pt x="9126474" y="3048000"/>
                  </a:lnTo>
                  <a:lnTo>
                    <a:pt x="9126474" y="0"/>
                  </a:lnTo>
                  <a:close/>
                </a:path>
              </a:pathLst>
            </a:custGeom>
            <a:solidFill>
              <a:srgbClr val="DFAA85">
                <a:alpha val="67057"/>
              </a:srgbClr>
            </a:solidFill>
          </p:spPr>
          <p:txBody>
            <a:bodyPr wrap="square" lIns="0" tIns="0" rIns="0" bIns="0" rtlCol="0"/>
            <a:lstStyle/>
            <a:p>
              <a:endParaRPr/>
            </a:p>
          </p:txBody>
        </p:sp>
        <p:pic>
          <p:nvPicPr>
            <p:cNvPr id="4" name="object 4"/>
            <p:cNvPicPr/>
            <p:nvPr/>
          </p:nvPicPr>
          <p:blipFill>
            <a:blip r:embed="rId3" cstate="print"/>
            <a:stretch>
              <a:fillRect/>
            </a:stretch>
          </p:blipFill>
          <p:spPr>
            <a:xfrm>
              <a:off x="1161288" y="0"/>
              <a:ext cx="7982711" cy="3928110"/>
            </a:xfrm>
            <a:prstGeom prst="rect">
              <a:avLst/>
            </a:prstGeom>
          </p:spPr>
        </p:pic>
        <p:pic>
          <p:nvPicPr>
            <p:cNvPr id="5" name="object 5"/>
            <p:cNvPicPr/>
            <p:nvPr/>
          </p:nvPicPr>
          <p:blipFill>
            <a:blip r:embed="rId4" cstate="print"/>
            <a:stretch>
              <a:fillRect/>
            </a:stretch>
          </p:blipFill>
          <p:spPr>
            <a:xfrm>
              <a:off x="0" y="0"/>
              <a:ext cx="2615946" cy="3932681"/>
            </a:xfrm>
            <a:prstGeom prst="rect">
              <a:avLst/>
            </a:prstGeom>
          </p:spPr>
        </p:pic>
        <p:pic>
          <p:nvPicPr>
            <p:cNvPr id="6" name="object 6"/>
            <p:cNvPicPr/>
            <p:nvPr/>
          </p:nvPicPr>
          <p:blipFill>
            <a:blip r:embed="rId5" cstate="print"/>
            <a:stretch>
              <a:fillRect/>
            </a:stretch>
          </p:blipFill>
          <p:spPr>
            <a:xfrm>
              <a:off x="1940814" y="5641847"/>
              <a:ext cx="5260086" cy="702563"/>
            </a:xfrm>
            <a:prstGeom prst="rect">
              <a:avLst/>
            </a:prstGeom>
          </p:spPr>
        </p:pic>
      </p:grpSp>
      <p:sp>
        <p:nvSpPr>
          <p:cNvPr id="7" name="object 7"/>
          <p:cNvSpPr txBox="1"/>
          <p:nvPr/>
        </p:nvSpPr>
        <p:spPr>
          <a:xfrm>
            <a:off x="1569974" y="4675885"/>
            <a:ext cx="5297170" cy="1099185"/>
          </a:xfrm>
          <a:prstGeom prst="rect">
            <a:avLst/>
          </a:prstGeom>
        </p:spPr>
        <p:txBody>
          <a:bodyPr vert="horz" wrap="square" lIns="0" tIns="12700" rIns="0" bIns="0" rtlCol="0">
            <a:spAutoFit/>
          </a:bodyPr>
          <a:lstStyle/>
          <a:p>
            <a:pPr marL="12700">
              <a:lnSpc>
                <a:spcPts val="3204"/>
              </a:lnSpc>
              <a:spcBef>
                <a:spcPts val="100"/>
              </a:spcBef>
            </a:pPr>
            <a:r>
              <a:rPr sz="2800" b="1" dirty="0">
                <a:latin typeface="Book Antiqua"/>
                <a:cs typeface="Book Antiqua"/>
              </a:rPr>
              <a:t>Session:</a:t>
            </a:r>
            <a:r>
              <a:rPr sz="2800" b="1" spc="-5" dirty="0">
                <a:latin typeface="Book Antiqua"/>
                <a:cs typeface="Book Antiqua"/>
              </a:rPr>
              <a:t> </a:t>
            </a:r>
            <a:r>
              <a:rPr sz="2800" b="1" dirty="0">
                <a:latin typeface="Book Antiqua"/>
                <a:cs typeface="Book Antiqua"/>
              </a:rPr>
              <a:t>1</a:t>
            </a:r>
            <a:endParaRPr sz="2800">
              <a:latin typeface="Book Antiqua"/>
              <a:cs typeface="Book Antiqua"/>
            </a:endParaRPr>
          </a:p>
          <a:p>
            <a:pPr marL="705485" algn="ctr">
              <a:lnSpc>
                <a:spcPts val="5245"/>
              </a:lnSpc>
            </a:pPr>
            <a:r>
              <a:rPr sz="4500" b="1" i="1" spc="-5" dirty="0">
                <a:latin typeface="Book Antiqua"/>
                <a:cs typeface="Book Antiqua"/>
              </a:rPr>
              <a:t>RDBMS</a:t>
            </a:r>
            <a:r>
              <a:rPr sz="4500" b="1" i="1" spc="-85" dirty="0">
                <a:latin typeface="Book Antiqua"/>
                <a:cs typeface="Book Antiqua"/>
              </a:rPr>
              <a:t> </a:t>
            </a:r>
            <a:r>
              <a:rPr sz="4500" b="1" i="1" spc="-5" dirty="0">
                <a:latin typeface="Book Antiqua"/>
                <a:cs typeface="Book Antiqua"/>
              </a:rPr>
              <a:t>Concepts</a:t>
            </a:r>
            <a:endParaRPr sz="4500">
              <a:latin typeface="Book Antiqua"/>
              <a:cs typeface="Book Antiqua"/>
            </a:endParaRPr>
          </a:p>
        </p:txBody>
      </p:sp>
      <p:sp>
        <p:nvSpPr>
          <p:cNvPr id="8" name="object 8"/>
          <p:cNvSpPr txBox="1"/>
          <p:nvPr/>
        </p:nvSpPr>
        <p:spPr>
          <a:xfrm>
            <a:off x="4298441" y="1467358"/>
            <a:ext cx="1962785" cy="574040"/>
          </a:xfrm>
          <a:prstGeom prst="rect">
            <a:avLst/>
          </a:prstGeom>
        </p:spPr>
        <p:txBody>
          <a:bodyPr vert="horz" wrap="square" lIns="0" tIns="12700" rIns="0" bIns="0" rtlCol="0">
            <a:spAutoFit/>
          </a:bodyPr>
          <a:lstStyle/>
          <a:p>
            <a:pPr marL="12700">
              <a:lnSpc>
                <a:spcPct val="100000"/>
              </a:lnSpc>
              <a:spcBef>
                <a:spcPts val="100"/>
              </a:spcBef>
            </a:pPr>
            <a:r>
              <a:rPr lang="en-US" sz="3600" b="1">
                <a:solidFill>
                  <a:srgbClr val="FFFFFF"/>
                </a:solidFill>
                <a:latin typeface="Goudy Old Style"/>
                <a:cs typeface="Goudy Old Style"/>
              </a:rPr>
              <a:t>Intelligent</a:t>
            </a:r>
            <a:endParaRPr lang="en-US" sz="3600">
              <a:latin typeface="Goudy Old Style"/>
              <a:cs typeface="Goudy Old Style"/>
            </a:endParaRPr>
          </a:p>
        </p:txBody>
      </p:sp>
      <p:sp>
        <p:nvSpPr>
          <p:cNvPr id="9" name="object 9"/>
          <p:cNvSpPr txBox="1">
            <a:spLocks noGrp="1"/>
          </p:cNvSpPr>
          <p:nvPr>
            <p:ph type="title"/>
          </p:nvPr>
        </p:nvSpPr>
        <p:spPr>
          <a:prstGeom prst="rect">
            <a:avLst/>
          </a:prstGeom>
        </p:spPr>
        <p:txBody>
          <a:bodyPr vert="horz" wrap="square" lIns="0" tIns="12700" rIns="0" bIns="0" rtlCol="0">
            <a:spAutoFit/>
          </a:bodyPr>
          <a:lstStyle/>
          <a:p>
            <a:pPr marL="1142365" marR="5080" indent="-1130300">
              <a:lnSpc>
                <a:spcPct val="100000"/>
              </a:lnSpc>
              <a:spcBef>
                <a:spcPts val="100"/>
              </a:spcBef>
            </a:pPr>
            <a:r>
              <a:rPr lang="en-US" spc="5"/>
              <a:t>Data </a:t>
            </a:r>
            <a:r>
              <a:rPr lang="en-US"/>
              <a:t>Management</a:t>
            </a:r>
            <a:r>
              <a:rPr lang="en-US" spc="-65"/>
              <a:t> </a:t>
            </a:r>
            <a:r>
              <a:rPr lang="en-US" spc="-5"/>
              <a:t>with  SQL</a:t>
            </a:r>
            <a:r>
              <a:rPr lang="en-US" spc="-15"/>
              <a:t> </a:t>
            </a:r>
            <a:r>
              <a:rPr lang="en-US" spc="5"/>
              <a:t>Server</a:t>
            </a:r>
            <a:endParaRPr lang="en-US" spc="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2095500" cy="635635"/>
          </a:xfrm>
          <a:prstGeom prst="rect">
            <a:avLst/>
          </a:prstGeom>
        </p:spPr>
        <p:txBody>
          <a:bodyPr vert="horz" wrap="square" lIns="0" tIns="12700" rIns="0" bIns="0" rtlCol="0">
            <a:spAutoFit/>
          </a:bodyPr>
          <a:lstStyle/>
          <a:p>
            <a:pPr marL="12700">
              <a:lnSpc>
                <a:spcPct val="100000"/>
              </a:lnSpc>
              <a:spcBef>
                <a:spcPts val="100"/>
              </a:spcBef>
            </a:pPr>
            <a:r>
              <a:rPr sz="4000" b="0" spc="-10" dirty="0">
                <a:latin typeface="Goudy Old Style"/>
                <a:cs typeface="Goudy Old Style"/>
              </a:rPr>
              <a:t>Objectives</a:t>
            </a:r>
            <a:endParaRPr sz="4000">
              <a:latin typeface="Goudy Old Style"/>
              <a:cs typeface="Goudy Old Style"/>
            </a:endParaRPr>
          </a:p>
        </p:txBody>
      </p:sp>
      <p:sp>
        <p:nvSpPr>
          <p:cNvPr id="5" name="object 5"/>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2</a:t>
            </a:fld>
            <a:endParaRPr sz="120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3" name="object 3"/>
          <p:cNvSpPr txBox="1"/>
          <p:nvPr/>
        </p:nvSpPr>
        <p:spPr>
          <a:xfrm>
            <a:off x="383540" y="990345"/>
            <a:ext cx="8433687" cy="3383875"/>
          </a:xfrm>
          <a:prstGeom prst="rect">
            <a:avLst/>
          </a:prstGeom>
        </p:spPr>
        <p:txBody>
          <a:bodyPr vert="horz" wrap="square" lIns="0" tIns="85725" rIns="0" bIns="0" rtlCol="0">
            <a:spAutoFit/>
          </a:bodyPr>
          <a:lstStyle/>
          <a:p>
            <a:pPr marL="353695" indent="-341630">
              <a:lnSpc>
                <a:spcPct val="100000"/>
              </a:lnSpc>
              <a:spcBef>
                <a:spcPts val="675"/>
              </a:spcBef>
              <a:buFont typeface="Calibri"/>
              <a:buChar char="●"/>
              <a:tabLst>
                <a:tab pos="353695" algn="l"/>
                <a:tab pos="354330" algn="l"/>
              </a:tabLst>
            </a:pPr>
            <a:r>
              <a:rPr sz="2400" spc="-5" dirty="0">
                <a:latin typeface="Goudy Old Style"/>
                <a:cs typeface="Goudy Old Style"/>
              </a:rPr>
              <a:t>Explain </a:t>
            </a:r>
            <a:r>
              <a:rPr sz="2400" dirty="0">
                <a:latin typeface="Goudy Old Style"/>
                <a:cs typeface="Goudy Old Style"/>
              </a:rPr>
              <a:t>the </a:t>
            </a:r>
            <a:r>
              <a:rPr sz="2400" spc="-5" dirty="0">
                <a:latin typeface="Goudy Old Style"/>
                <a:cs typeface="Goudy Old Style"/>
              </a:rPr>
              <a:t>concept of </a:t>
            </a:r>
            <a:r>
              <a:rPr sz="2400" spc="5" dirty="0">
                <a:latin typeface="Goudy Old Style"/>
                <a:cs typeface="Goudy Old Style"/>
              </a:rPr>
              <a:t>data </a:t>
            </a:r>
            <a:r>
              <a:rPr sz="2400" spc="-5" dirty="0">
                <a:latin typeface="Goudy Old Style"/>
                <a:cs typeface="Goudy Old Style"/>
              </a:rPr>
              <a:t>and </a:t>
            </a:r>
            <a:r>
              <a:rPr sz="2400" dirty="0">
                <a:latin typeface="Goudy Old Style"/>
                <a:cs typeface="Goudy Old Style"/>
              </a:rPr>
              <a:t>database</a:t>
            </a:r>
            <a:endParaRPr sz="2400">
              <a:latin typeface="Goudy Old Style"/>
              <a:cs typeface="Goudy Old Style"/>
            </a:endParaRPr>
          </a:p>
          <a:p>
            <a:pPr marL="353695" indent="-341630">
              <a:lnSpc>
                <a:spcPct val="100000"/>
              </a:lnSpc>
              <a:spcBef>
                <a:spcPts val="575"/>
              </a:spcBef>
              <a:buFont typeface="Calibri"/>
              <a:buChar char="●"/>
              <a:tabLst>
                <a:tab pos="353695" algn="l"/>
                <a:tab pos="354330" algn="l"/>
              </a:tabLst>
            </a:pPr>
            <a:r>
              <a:rPr sz="2400" spc="-5" dirty="0">
                <a:latin typeface="Goudy Old Style"/>
                <a:cs typeface="Goudy Old Style"/>
              </a:rPr>
              <a:t>Describe </a:t>
            </a:r>
            <a:r>
              <a:rPr sz="2400" dirty="0">
                <a:latin typeface="Goudy Old Style"/>
                <a:cs typeface="Goudy Old Style"/>
              </a:rPr>
              <a:t>the </a:t>
            </a:r>
            <a:r>
              <a:rPr sz="2400" spc="-10" dirty="0">
                <a:latin typeface="Goudy Old Style"/>
                <a:cs typeface="Goudy Old Style"/>
              </a:rPr>
              <a:t>approaches </a:t>
            </a:r>
            <a:r>
              <a:rPr sz="2400" spc="-5" dirty="0">
                <a:latin typeface="Goudy Old Style"/>
                <a:cs typeface="Goudy Old Style"/>
              </a:rPr>
              <a:t>to </a:t>
            </a:r>
            <a:r>
              <a:rPr sz="2400" spc="5" dirty="0">
                <a:latin typeface="Goudy Old Style"/>
                <a:cs typeface="Goudy Old Style"/>
              </a:rPr>
              <a:t>data</a:t>
            </a:r>
            <a:r>
              <a:rPr sz="2400" spc="30" dirty="0">
                <a:latin typeface="Goudy Old Style"/>
                <a:cs typeface="Goudy Old Style"/>
              </a:rPr>
              <a:t> </a:t>
            </a:r>
            <a:r>
              <a:rPr sz="2400" spc="-10" dirty="0">
                <a:latin typeface="Goudy Old Style"/>
                <a:cs typeface="Goudy Old Style"/>
              </a:rPr>
              <a:t>management</a:t>
            </a:r>
            <a:endParaRPr sz="2400">
              <a:latin typeface="Goudy Old Style"/>
              <a:cs typeface="Goudy Old Style"/>
            </a:endParaRPr>
          </a:p>
          <a:p>
            <a:pPr marL="353695" marR="418465" indent="-341630">
              <a:lnSpc>
                <a:spcPct val="70000"/>
              </a:lnSpc>
              <a:spcBef>
                <a:spcPts val="1440"/>
              </a:spcBef>
              <a:buFont typeface="Calibri"/>
              <a:buChar char="●"/>
              <a:tabLst>
                <a:tab pos="353695" algn="l"/>
                <a:tab pos="354330" algn="l"/>
              </a:tabLst>
            </a:pPr>
            <a:r>
              <a:rPr sz="2400" dirty="0">
                <a:latin typeface="Goudy Old Style"/>
                <a:cs typeface="Goudy Old Style"/>
              </a:rPr>
              <a:t>Define a </a:t>
            </a:r>
            <a:r>
              <a:rPr sz="2400" dirty="0">
                <a:solidFill>
                  <a:srgbClr val="FF0000"/>
                </a:solidFill>
                <a:latin typeface="Goudy Old Style"/>
                <a:cs typeface="Goudy Old Style"/>
              </a:rPr>
              <a:t>Database </a:t>
            </a:r>
            <a:r>
              <a:rPr sz="2400" spc="-5" dirty="0">
                <a:solidFill>
                  <a:srgbClr val="FF0000"/>
                </a:solidFill>
                <a:latin typeface="Goudy Old Style"/>
                <a:cs typeface="Goudy Old Style"/>
              </a:rPr>
              <a:t>Management </a:t>
            </a:r>
            <a:r>
              <a:rPr sz="2400" spc="-10" dirty="0">
                <a:solidFill>
                  <a:srgbClr val="FF0000"/>
                </a:solidFill>
                <a:latin typeface="Goudy Old Style"/>
                <a:cs typeface="Goudy Old Style"/>
              </a:rPr>
              <a:t>System </a:t>
            </a:r>
            <a:r>
              <a:rPr sz="2400" spc="-5" dirty="0">
                <a:solidFill>
                  <a:srgbClr val="FF0000"/>
                </a:solidFill>
                <a:latin typeface="Goudy Old Style"/>
                <a:cs typeface="Goudy Old Style"/>
              </a:rPr>
              <a:t>(DBMS) </a:t>
            </a:r>
            <a:r>
              <a:rPr sz="2400" spc="-5" dirty="0">
                <a:latin typeface="Goudy Old Style"/>
                <a:cs typeface="Goudy Old Style"/>
              </a:rPr>
              <a:t>and list </a:t>
            </a:r>
            <a:r>
              <a:rPr sz="2400" dirty="0">
                <a:latin typeface="Goudy Old Style"/>
                <a:cs typeface="Goudy Old Style"/>
              </a:rPr>
              <a:t>its  benefits</a:t>
            </a:r>
            <a:endParaRPr sz="2400">
              <a:latin typeface="Goudy Old Style"/>
              <a:cs typeface="Goudy Old Style"/>
            </a:endParaRPr>
          </a:p>
          <a:p>
            <a:pPr marL="353695" indent="-341630">
              <a:lnSpc>
                <a:spcPct val="100000"/>
              </a:lnSpc>
              <a:spcBef>
                <a:spcPts val="575"/>
              </a:spcBef>
              <a:buFont typeface="Calibri"/>
              <a:buChar char="●"/>
              <a:tabLst>
                <a:tab pos="353695" algn="l"/>
                <a:tab pos="354330" algn="l"/>
              </a:tabLst>
            </a:pPr>
            <a:r>
              <a:rPr sz="2400" spc="-5" dirty="0">
                <a:latin typeface="Goudy Old Style"/>
                <a:cs typeface="Goudy Old Style"/>
              </a:rPr>
              <a:t>Explain </a:t>
            </a:r>
            <a:r>
              <a:rPr sz="2400" dirty="0">
                <a:latin typeface="Goudy Old Style"/>
                <a:cs typeface="Goudy Old Style"/>
              </a:rPr>
              <a:t>the </a:t>
            </a:r>
            <a:r>
              <a:rPr sz="2400" spc="-10" dirty="0">
                <a:latin typeface="Goudy Old Style"/>
                <a:cs typeface="Goudy Old Style"/>
              </a:rPr>
              <a:t>different </a:t>
            </a:r>
            <a:r>
              <a:rPr sz="2400" dirty="0">
                <a:latin typeface="Goudy Old Style"/>
                <a:cs typeface="Goudy Old Style"/>
              </a:rPr>
              <a:t>database</a:t>
            </a:r>
            <a:r>
              <a:rPr sz="2400" spc="30" dirty="0">
                <a:latin typeface="Goudy Old Style"/>
                <a:cs typeface="Goudy Old Style"/>
              </a:rPr>
              <a:t> </a:t>
            </a:r>
            <a:r>
              <a:rPr sz="2400" dirty="0">
                <a:latin typeface="Goudy Old Style"/>
                <a:cs typeface="Goudy Old Style"/>
              </a:rPr>
              <a:t>models</a:t>
            </a:r>
            <a:endParaRPr sz="2400">
              <a:latin typeface="Goudy Old Style"/>
              <a:cs typeface="Goudy Old Style"/>
            </a:endParaRPr>
          </a:p>
          <a:p>
            <a:pPr marL="353695" indent="-341630">
              <a:lnSpc>
                <a:spcPct val="100000"/>
              </a:lnSpc>
              <a:spcBef>
                <a:spcPts val="580"/>
              </a:spcBef>
              <a:buFont typeface="Calibri"/>
              <a:buChar char="●"/>
              <a:tabLst>
                <a:tab pos="353695" algn="l"/>
                <a:tab pos="354330" algn="l"/>
              </a:tabLst>
            </a:pPr>
            <a:r>
              <a:rPr sz="2400" dirty="0">
                <a:latin typeface="Goudy Old Style"/>
                <a:cs typeface="Goudy Old Style"/>
              </a:rPr>
              <a:t>Define </a:t>
            </a:r>
            <a:r>
              <a:rPr sz="2400" spc="-5" dirty="0">
                <a:latin typeface="Goudy Old Style"/>
                <a:cs typeface="Goudy Old Style"/>
              </a:rPr>
              <a:t>and explain</a:t>
            </a:r>
            <a:r>
              <a:rPr sz="2400" spc="30" dirty="0">
                <a:latin typeface="Goudy Old Style"/>
                <a:cs typeface="Goudy Old Style"/>
              </a:rPr>
              <a:t> </a:t>
            </a:r>
            <a:r>
              <a:rPr sz="2400" dirty="0">
                <a:solidFill>
                  <a:srgbClr val="FF0000"/>
                </a:solidFill>
                <a:latin typeface="Goudy Old Style"/>
                <a:cs typeface="Goudy Old Style"/>
              </a:rPr>
              <a:t>RDBMS</a:t>
            </a:r>
            <a:endParaRPr sz="2400">
              <a:solidFill>
                <a:srgbClr val="FF0000"/>
              </a:solidFill>
              <a:latin typeface="Goudy Old Style"/>
              <a:cs typeface="Goudy Old Style"/>
            </a:endParaRPr>
          </a:p>
          <a:p>
            <a:pPr marL="353695" indent="-341630">
              <a:lnSpc>
                <a:spcPct val="100000"/>
              </a:lnSpc>
              <a:spcBef>
                <a:spcPts val="575"/>
              </a:spcBef>
              <a:buFont typeface="Calibri"/>
              <a:buChar char="●"/>
              <a:tabLst>
                <a:tab pos="353695" algn="l"/>
                <a:tab pos="354330" algn="l"/>
              </a:tabLst>
            </a:pPr>
            <a:r>
              <a:rPr sz="2400" spc="-5" dirty="0">
                <a:latin typeface="Goudy Old Style"/>
                <a:cs typeface="Goudy Old Style"/>
              </a:rPr>
              <a:t>Describe </a:t>
            </a:r>
            <a:r>
              <a:rPr sz="2400" b="1" spc="-5" dirty="0">
                <a:solidFill>
                  <a:srgbClr val="FF0000"/>
                </a:solidFill>
                <a:latin typeface="Goudy Old Style"/>
                <a:cs typeface="Goudy Old Style"/>
              </a:rPr>
              <a:t>entities</a:t>
            </a:r>
            <a:r>
              <a:rPr sz="2400" spc="-5" dirty="0">
                <a:latin typeface="Goudy Old Style"/>
                <a:cs typeface="Goudy Old Style"/>
              </a:rPr>
              <a:t> and </a:t>
            </a:r>
            <a:r>
              <a:rPr sz="2400" b="1" dirty="0">
                <a:solidFill>
                  <a:srgbClr val="FF0000"/>
                </a:solidFill>
                <a:latin typeface="Goudy Old Style"/>
                <a:cs typeface="Goudy Old Style"/>
              </a:rPr>
              <a:t>tables</a:t>
            </a:r>
            <a:r>
              <a:rPr sz="2400" dirty="0">
                <a:latin typeface="Goudy Old Style"/>
                <a:cs typeface="Goudy Old Style"/>
              </a:rPr>
              <a:t> </a:t>
            </a:r>
            <a:r>
              <a:rPr sz="2400" spc="-5" dirty="0">
                <a:latin typeface="Goudy Old Style"/>
                <a:cs typeface="Goudy Old Style"/>
              </a:rPr>
              <a:t>and </a:t>
            </a:r>
            <a:r>
              <a:rPr sz="2400" spc="-10" dirty="0">
                <a:latin typeface="Goudy Old Style"/>
                <a:cs typeface="Goudy Old Style"/>
              </a:rPr>
              <a:t>list </a:t>
            </a:r>
            <a:r>
              <a:rPr sz="2400" dirty="0">
                <a:latin typeface="Goudy Old Style"/>
                <a:cs typeface="Goudy Old Style"/>
              </a:rPr>
              <a:t>the </a:t>
            </a:r>
            <a:r>
              <a:rPr sz="2400" spc="-5" dirty="0">
                <a:latin typeface="Goudy Old Style"/>
                <a:cs typeface="Goudy Old Style"/>
              </a:rPr>
              <a:t>characteristics of</a:t>
            </a:r>
            <a:r>
              <a:rPr sz="2400" spc="100" dirty="0">
                <a:latin typeface="Goudy Old Style"/>
                <a:cs typeface="Goudy Old Style"/>
              </a:rPr>
              <a:t> </a:t>
            </a:r>
            <a:r>
              <a:rPr sz="2400" dirty="0">
                <a:latin typeface="Goudy Old Style"/>
                <a:cs typeface="Goudy Old Style"/>
              </a:rPr>
              <a:t>tables</a:t>
            </a:r>
            <a:endParaRPr sz="2400">
              <a:latin typeface="Goudy Old Style"/>
              <a:cs typeface="Goudy Old Style"/>
            </a:endParaRPr>
          </a:p>
          <a:p>
            <a:pPr marL="353695" indent="-341630">
              <a:lnSpc>
                <a:spcPct val="100000"/>
              </a:lnSpc>
              <a:spcBef>
                <a:spcPts val="575"/>
              </a:spcBef>
              <a:buFont typeface="Calibri"/>
              <a:buChar char="●"/>
              <a:tabLst>
                <a:tab pos="353695" algn="l"/>
                <a:tab pos="354330" algn="l"/>
              </a:tabLst>
            </a:pPr>
            <a:r>
              <a:rPr sz="2400" spc="-10" dirty="0">
                <a:latin typeface="Goudy Old Style"/>
                <a:cs typeface="Goudy Old Style"/>
              </a:rPr>
              <a:t>List </a:t>
            </a:r>
            <a:r>
              <a:rPr sz="2400" dirty="0">
                <a:latin typeface="Goudy Old Style"/>
                <a:cs typeface="Goudy Old Style"/>
              </a:rPr>
              <a:t>the </a:t>
            </a:r>
            <a:r>
              <a:rPr sz="2400" spc="-5" dirty="0">
                <a:latin typeface="Goudy Old Style"/>
                <a:cs typeface="Goudy Old Style"/>
              </a:rPr>
              <a:t>differences </a:t>
            </a:r>
            <a:r>
              <a:rPr sz="2400" spc="-15" dirty="0">
                <a:latin typeface="Goudy Old Style"/>
                <a:cs typeface="Goudy Old Style"/>
              </a:rPr>
              <a:t>between </a:t>
            </a:r>
            <a:r>
              <a:rPr sz="2400" dirty="0">
                <a:latin typeface="Goudy Old Style"/>
                <a:cs typeface="Goudy Old Style"/>
              </a:rPr>
              <a:t>a </a:t>
            </a:r>
            <a:r>
              <a:rPr sz="2400" spc="-5" dirty="0">
                <a:solidFill>
                  <a:srgbClr val="FF0000"/>
                </a:solidFill>
                <a:latin typeface="Goudy Old Style"/>
                <a:cs typeface="Goudy Old Style"/>
              </a:rPr>
              <a:t>DBMS</a:t>
            </a:r>
            <a:r>
              <a:rPr sz="2400" spc="-5" dirty="0">
                <a:latin typeface="Goudy Old Style"/>
                <a:cs typeface="Goudy Old Style"/>
              </a:rPr>
              <a:t> and an</a:t>
            </a:r>
            <a:r>
              <a:rPr sz="2400" spc="70" dirty="0">
                <a:latin typeface="Goudy Old Style"/>
                <a:cs typeface="Goudy Old Style"/>
              </a:rPr>
              <a:t> </a:t>
            </a:r>
            <a:r>
              <a:rPr sz="2400" dirty="0">
                <a:solidFill>
                  <a:srgbClr val="FF0000"/>
                </a:solidFill>
                <a:latin typeface="Goudy Old Style"/>
                <a:cs typeface="Goudy Old Style"/>
              </a:rPr>
              <a:t>RDBMS</a:t>
            </a:r>
            <a:endParaRPr sz="2400">
              <a:solidFill>
                <a:srgbClr val="FF0000"/>
              </a:solidFill>
              <a:latin typeface="Goudy Old Style"/>
              <a:cs typeface="Goudy Old Styl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2607945" cy="635635"/>
          </a:xfrm>
          <a:prstGeom prst="rect">
            <a:avLst/>
          </a:prstGeom>
        </p:spPr>
        <p:txBody>
          <a:bodyPr vert="horz" wrap="square" lIns="0" tIns="12700" rIns="0" bIns="0" rtlCol="0">
            <a:spAutoFit/>
          </a:bodyPr>
          <a:lstStyle/>
          <a:p>
            <a:pPr marL="12700">
              <a:lnSpc>
                <a:spcPct val="100000"/>
              </a:lnSpc>
              <a:spcBef>
                <a:spcPts val="100"/>
              </a:spcBef>
            </a:pPr>
            <a:r>
              <a:rPr sz="4000" b="0" spc="-10" dirty="0">
                <a:latin typeface="Goudy Old Style"/>
                <a:cs typeface="Goudy Old Style"/>
              </a:rPr>
              <a:t>Introduction</a:t>
            </a:r>
            <a:endParaRPr sz="4000">
              <a:latin typeface="Goudy Old Style"/>
              <a:cs typeface="Goudy Old Style"/>
            </a:endParaRPr>
          </a:p>
        </p:txBody>
      </p:sp>
      <p:sp>
        <p:nvSpPr>
          <p:cNvPr id="3" name="object 3"/>
          <p:cNvSpPr txBox="1"/>
          <p:nvPr/>
        </p:nvSpPr>
        <p:spPr>
          <a:xfrm>
            <a:off x="126745" y="824230"/>
            <a:ext cx="4201795" cy="5391150"/>
          </a:xfrm>
          <a:prstGeom prst="rect">
            <a:avLst/>
          </a:prstGeom>
        </p:spPr>
        <p:txBody>
          <a:bodyPr vert="horz" wrap="square" lIns="0" tIns="12065" rIns="0" bIns="0" rtlCol="0">
            <a:spAutoFit/>
          </a:bodyPr>
          <a:lstStyle/>
          <a:p>
            <a:pPr marL="353695" marR="76835" indent="-341630">
              <a:lnSpc>
                <a:spcPct val="100000"/>
              </a:lnSpc>
              <a:spcBef>
                <a:spcPts val="95"/>
              </a:spcBef>
              <a:buFont typeface="Wingdings"/>
              <a:buChar char=""/>
              <a:tabLst>
                <a:tab pos="353695" algn="l"/>
                <a:tab pos="354330" algn="l"/>
              </a:tabLst>
            </a:pPr>
            <a:r>
              <a:rPr sz="2000" spc="-5" dirty="0">
                <a:latin typeface="Goudy Old Style"/>
                <a:cs typeface="Goudy Old Style"/>
              </a:rPr>
              <a:t>Organizations often </a:t>
            </a:r>
            <a:r>
              <a:rPr sz="2000" dirty="0">
                <a:latin typeface="Goudy Old Style"/>
                <a:cs typeface="Goudy Old Style"/>
              </a:rPr>
              <a:t>maintain </a:t>
            </a:r>
            <a:r>
              <a:rPr sz="2000" spc="-5" dirty="0">
                <a:latin typeface="Goudy Old Style"/>
                <a:cs typeface="Goudy Old Style"/>
              </a:rPr>
              <a:t>large  </a:t>
            </a:r>
            <a:r>
              <a:rPr sz="2000" spc="-10" dirty="0">
                <a:latin typeface="Goudy Old Style"/>
                <a:cs typeface="Goudy Old Style"/>
              </a:rPr>
              <a:t>amounts </a:t>
            </a:r>
            <a:r>
              <a:rPr sz="2000" spc="-5" dirty="0">
                <a:latin typeface="Goudy Old Style"/>
                <a:cs typeface="Goudy Old Style"/>
              </a:rPr>
              <a:t>of </a:t>
            </a:r>
            <a:r>
              <a:rPr sz="2000" dirty="0">
                <a:latin typeface="Goudy Old Style"/>
                <a:cs typeface="Goudy Old Style"/>
              </a:rPr>
              <a:t>data, </a:t>
            </a:r>
            <a:r>
              <a:rPr sz="2000" spc="-5" dirty="0">
                <a:latin typeface="Goudy Old Style"/>
                <a:cs typeface="Goudy Old Style"/>
              </a:rPr>
              <a:t>generated as a </a:t>
            </a:r>
            <a:r>
              <a:rPr sz="2000" spc="-10" dirty="0">
                <a:latin typeface="Goudy Old Style"/>
                <a:cs typeface="Goudy Old Style"/>
              </a:rPr>
              <a:t>result  </a:t>
            </a:r>
            <a:r>
              <a:rPr sz="2000" spc="-5" dirty="0">
                <a:latin typeface="Goudy Old Style"/>
                <a:cs typeface="Goudy Old Style"/>
              </a:rPr>
              <a:t>of </a:t>
            </a:r>
            <a:r>
              <a:rPr sz="2000" spc="-10" dirty="0">
                <a:latin typeface="Goudy Old Style"/>
                <a:cs typeface="Goudy Old Style"/>
              </a:rPr>
              <a:t>day-to-day</a:t>
            </a:r>
            <a:r>
              <a:rPr sz="2000" spc="15" dirty="0">
                <a:latin typeface="Goudy Old Style"/>
                <a:cs typeface="Goudy Old Style"/>
              </a:rPr>
              <a:t> </a:t>
            </a:r>
            <a:r>
              <a:rPr sz="2000" spc="-10" dirty="0">
                <a:latin typeface="Goudy Old Style"/>
                <a:cs typeface="Goudy Old Style"/>
              </a:rPr>
              <a:t>operations.</a:t>
            </a:r>
            <a:endParaRPr sz="2000">
              <a:latin typeface="Goudy Old Style"/>
              <a:cs typeface="Goudy Old Style"/>
            </a:endParaRPr>
          </a:p>
          <a:p>
            <a:pPr>
              <a:lnSpc>
                <a:spcPct val="100000"/>
              </a:lnSpc>
              <a:buFont typeface="Wingdings"/>
              <a:buChar char=""/>
            </a:pPr>
            <a:endParaRPr sz="1800">
              <a:latin typeface="Goudy Old Style"/>
              <a:cs typeface="Goudy Old Style"/>
            </a:endParaRPr>
          </a:p>
          <a:p>
            <a:pPr marL="353695" indent="-341630">
              <a:lnSpc>
                <a:spcPct val="100000"/>
              </a:lnSpc>
              <a:spcBef>
                <a:spcPts val="5"/>
              </a:spcBef>
              <a:buFont typeface="Wingdings"/>
              <a:buChar char=""/>
              <a:tabLst>
                <a:tab pos="353695" algn="l"/>
                <a:tab pos="354330" algn="l"/>
              </a:tabLst>
            </a:pPr>
            <a:r>
              <a:rPr sz="2000" spc="-5" dirty="0">
                <a:latin typeface="Goudy Old Style"/>
                <a:cs typeface="Goudy Old Style"/>
              </a:rPr>
              <a:t>A</a:t>
            </a:r>
            <a:r>
              <a:rPr sz="2000" spc="-10" dirty="0">
                <a:latin typeface="Goudy Old Style"/>
                <a:cs typeface="Goudy Old Style"/>
              </a:rPr>
              <a:t> </a:t>
            </a:r>
            <a:r>
              <a:rPr sz="2000" spc="-5" dirty="0">
                <a:latin typeface="Goudy Old Style"/>
                <a:cs typeface="Goudy Old Style"/>
              </a:rPr>
              <a:t>database:</a:t>
            </a:r>
            <a:endParaRPr sz="2000">
              <a:latin typeface="Goudy Old Style"/>
              <a:cs typeface="Goudy Old Style"/>
            </a:endParaRPr>
          </a:p>
          <a:p>
            <a:pPr marL="639445" lvl="1" indent="-286385">
              <a:lnSpc>
                <a:spcPct val="100000"/>
              </a:lnSpc>
              <a:spcBef>
                <a:spcPts val="5"/>
              </a:spcBef>
              <a:buFont typeface="Arial"/>
              <a:buChar char="•"/>
              <a:tabLst>
                <a:tab pos="639445" algn="l"/>
                <a:tab pos="640080" algn="l"/>
              </a:tabLst>
            </a:pPr>
            <a:r>
              <a:rPr sz="1800" dirty="0">
                <a:latin typeface="Goudy Old Style"/>
                <a:cs typeface="Goudy Old Style"/>
              </a:rPr>
              <a:t>is </a:t>
            </a:r>
            <a:r>
              <a:rPr sz="1800" spc="-5" dirty="0">
                <a:latin typeface="Goudy Old Style"/>
                <a:cs typeface="Goudy Old Style"/>
              </a:rPr>
              <a:t>an organized </a:t>
            </a:r>
            <a:r>
              <a:rPr sz="1800" spc="-15" dirty="0">
                <a:latin typeface="Goudy Old Style"/>
                <a:cs typeface="Goudy Old Style"/>
              </a:rPr>
              <a:t>form </a:t>
            </a:r>
            <a:r>
              <a:rPr sz="1800" spc="-5" dirty="0">
                <a:latin typeface="Goudy Old Style"/>
                <a:cs typeface="Goudy Old Style"/>
              </a:rPr>
              <a:t>of </a:t>
            </a:r>
            <a:r>
              <a:rPr sz="1800" spc="-10" dirty="0">
                <a:latin typeface="Goudy Old Style"/>
                <a:cs typeface="Goudy Old Style"/>
              </a:rPr>
              <a:t>such </a:t>
            </a:r>
            <a:r>
              <a:rPr sz="1800" dirty="0">
                <a:latin typeface="Goudy Old Style"/>
                <a:cs typeface="Goudy Old Style"/>
              </a:rPr>
              <a:t>data.</a:t>
            </a:r>
            <a:endParaRPr sz="1800">
              <a:latin typeface="Goudy Old Style"/>
              <a:cs typeface="Goudy Old Style"/>
            </a:endParaRPr>
          </a:p>
          <a:p>
            <a:pPr lvl="1">
              <a:lnSpc>
                <a:spcPct val="100000"/>
              </a:lnSpc>
              <a:buFont typeface="Arial"/>
              <a:buChar char="•"/>
            </a:pPr>
            <a:endParaRPr sz="1800">
              <a:latin typeface="Goudy Old Style"/>
              <a:cs typeface="Goudy Old Style"/>
            </a:endParaRPr>
          </a:p>
          <a:p>
            <a:pPr marL="639445" marR="5080" lvl="1" indent="-285750">
              <a:lnSpc>
                <a:spcPct val="100000"/>
              </a:lnSpc>
              <a:buFont typeface="Arial"/>
              <a:buChar char="•"/>
              <a:tabLst>
                <a:tab pos="639445" algn="l"/>
                <a:tab pos="640080" algn="l"/>
              </a:tabLst>
            </a:pPr>
            <a:r>
              <a:rPr sz="1800" spc="-10" dirty="0">
                <a:latin typeface="Goudy Old Style"/>
                <a:cs typeface="Goudy Old Style"/>
              </a:rPr>
              <a:t>may </a:t>
            </a:r>
            <a:r>
              <a:rPr sz="1800" spc="-5" dirty="0">
                <a:latin typeface="Goudy Old Style"/>
                <a:cs typeface="Goudy Old Style"/>
              </a:rPr>
              <a:t>consist of one or </a:t>
            </a:r>
            <a:r>
              <a:rPr sz="1800" spc="-10" dirty="0">
                <a:latin typeface="Goudy Old Style"/>
                <a:cs typeface="Goudy Old Style"/>
              </a:rPr>
              <a:t>more related </a:t>
            </a:r>
            <a:r>
              <a:rPr sz="1800" dirty="0">
                <a:latin typeface="Goudy Old Style"/>
                <a:cs typeface="Goudy Old Style"/>
              </a:rPr>
              <a:t>data  </a:t>
            </a:r>
            <a:r>
              <a:rPr sz="1800" spc="-5" dirty="0">
                <a:latin typeface="Goudy Old Style"/>
                <a:cs typeface="Goudy Old Style"/>
              </a:rPr>
              <a:t>items </a:t>
            </a:r>
            <a:r>
              <a:rPr sz="1800" dirty="0">
                <a:latin typeface="Goudy Old Style"/>
                <a:cs typeface="Goudy Old Style"/>
              </a:rPr>
              <a:t>called</a:t>
            </a:r>
            <a:r>
              <a:rPr sz="1800" spc="-5" dirty="0">
                <a:latin typeface="Goudy Old Style"/>
                <a:cs typeface="Goudy Old Style"/>
              </a:rPr>
              <a:t> </a:t>
            </a:r>
            <a:r>
              <a:rPr sz="1800" spc="-15" dirty="0">
                <a:latin typeface="Goudy Old Style"/>
                <a:cs typeface="Goudy Old Style"/>
              </a:rPr>
              <a:t>records.</a:t>
            </a:r>
            <a:endParaRPr sz="1800">
              <a:latin typeface="Goudy Old Style"/>
              <a:cs typeface="Goudy Old Style"/>
            </a:endParaRPr>
          </a:p>
          <a:p>
            <a:pPr lvl="1">
              <a:lnSpc>
                <a:spcPct val="100000"/>
              </a:lnSpc>
              <a:buFont typeface="Arial"/>
              <a:buChar char="•"/>
            </a:pPr>
            <a:endParaRPr sz="1800">
              <a:latin typeface="Goudy Old Style"/>
              <a:cs typeface="Goudy Old Style"/>
            </a:endParaRPr>
          </a:p>
          <a:p>
            <a:pPr marL="639445" marR="215265" lvl="1" indent="-285750">
              <a:lnSpc>
                <a:spcPct val="100000"/>
              </a:lnSpc>
              <a:buFont typeface="Arial"/>
              <a:buChar char="•"/>
              <a:tabLst>
                <a:tab pos="639445" algn="l"/>
                <a:tab pos="640080" algn="l"/>
              </a:tabLst>
            </a:pPr>
            <a:r>
              <a:rPr sz="1800" dirty="0">
                <a:latin typeface="Goudy Old Style"/>
                <a:cs typeface="Goudy Old Style"/>
              </a:rPr>
              <a:t>is a </a:t>
            </a:r>
            <a:r>
              <a:rPr sz="1800" spc="5" dirty="0">
                <a:latin typeface="Goudy Old Style"/>
                <a:cs typeface="Goudy Old Style"/>
              </a:rPr>
              <a:t>data </a:t>
            </a:r>
            <a:r>
              <a:rPr sz="1800" spc="-5" dirty="0">
                <a:latin typeface="Goudy Old Style"/>
                <a:cs typeface="Goudy Old Style"/>
              </a:rPr>
              <a:t>collection </a:t>
            </a:r>
            <a:r>
              <a:rPr sz="1800" spc="-10" dirty="0">
                <a:latin typeface="Goudy Old Style"/>
                <a:cs typeface="Goudy Old Style"/>
              </a:rPr>
              <a:t>to which different  questions </a:t>
            </a:r>
            <a:r>
              <a:rPr sz="1800" dirty="0">
                <a:latin typeface="Goudy Old Style"/>
                <a:cs typeface="Goudy Old Style"/>
              </a:rPr>
              <a:t>can be</a:t>
            </a:r>
            <a:r>
              <a:rPr sz="1800" spc="-10" dirty="0">
                <a:latin typeface="Goudy Old Style"/>
                <a:cs typeface="Goudy Old Style"/>
              </a:rPr>
              <a:t> asked.</a:t>
            </a:r>
            <a:endParaRPr sz="1800">
              <a:latin typeface="Goudy Old Style"/>
              <a:cs typeface="Goudy Old Style"/>
            </a:endParaRPr>
          </a:p>
          <a:p>
            <a:pPr lvl="1">
              <a:lnSpc>
                <a:spcPct val="100000"/>
              </a:lnSpc>
              <a:spcBef>
                <a:spcPts val="50"/>
              </a:spcBef>
              <a:buFont typeface="Arial"/>
              <a:buChar char="•"/>
            </a:pPr>
            <a:endParaRPr sz="1750">
              <a:latin typeface="Goudy Old Style"/>
              <a:cs typeface="Goudy Old Style"/>
            </a:endParaRPr>
          </a:p>
          <a:p>
            <a:pPr marL="353695" indent="-341630">
              <a:lnSpc>
                <a:spcPct val="100000"/>
              </a:lnSpc>
              <a:buFont typeface="Wingdings"/>
              <a:buChar char=""/>
              <a:tabLst>
                <a:tab pos="353695" algn="l"/>
                <a:tab pos="354330" algn="l"/>
              </a:tabLst>
            </a:pPr>
            <a:r>
              <a:rPr sz="2000" spc="-15" dirty="0">
                <a:latin typeface="Goudy Old Style"/>
                <a:cs typeface="Goudy Old Style"/>
              </a:rPr>
              <a:t>For</a:t>
            </a:r>
            <a:r>
              <a:rPr sz="2000" spc="-10" dirty="0">
                <a:latin typeface="Goudy Old Style"/>
                <a:cs typeface="Goudy Old Style"/>
              </a:rPr>
              <a:t> example,</a:t>
            </a:r>
            <a:endParaRPr sz="2000">
              <a:latin typeface="Goudy Old Style"/>
              <a:cs typeface="Goudy Old Style"/>
            </a:endParaRPr>
          </a:p>
          <a:p>
            <a:pPr marL="639445" marR="240665" lvl="1" indent="-285750">
              <a:lnSpc>
                <a:spcPct val="100000"/>
              </a:lnSpc>
              <a:spcBef>
                <a:spcPts val="10"/>
              </a:spcBef>
              <a:buFont typeface="Arial"/>
              <a:buChar char="•"/>
              <a:tabLst>
                <a:tab pos="639445" algn="l"/>
                <a:tab pos="640080" algn="l"/>
              </a:tabLst>
            </a:pPr>
            <a:r>
              <a:rPr sz="1800" spc="-5" dirty="0">
                <a:latin typeface="Goudy Old Style"/>
                <a:cs typeface="Goudy Old Style"/>
              </a:rPr>
              <a:t>'What </a:t>
            </a:r>
            <a:r>
              <a:rPr sz="1800" spc="-15" dirty="0">
                <a:latin typeface="Goudy Old Style"/>
                <a:cs typeface="Goudy Old Style"/>
              </a:rPr>
              <a:t>are </a:t>
            </a:r>
            <a:r>
              <a:rPr sz="1800" spc="-5" dirty="0">
                <a:latin typeface="Goudy Old Style"/>
                <a:cs typeface="Goudy Old Style"/>
              </a:rPr>
              <a:t>phone numbers and  </a:t>
            </a:r>
            <a:r>
              <a:rPr sz="1800" spc="-10" dirty="0">
                <a:latin typeface="Goudy Old Style"/>
                <a:cs typeface="Goudy Old Style"/>
              </a:rPr>
              <a:t>addresses </a:t>
            </a:r>
            <a:r>
              <a:rPr sz="1800" spc="-5" dirty="0">
                <a:latin typeface="Goudy Old Style"/>
                <a:cs typeface="Goudy Old Style"/>
              </a:rPr>
              <a:t>of </a:t>
            </a:r>
            <a:r>
              <a:rPr sz="1800" spc="-10" dirty="0">
                <a:latin typeface="Goudy Old Style"/>
                <a:cs typeface="Goudy Old Style"/>
              </a:rPr>
              <a:t>five nearest </a:t>
            </a:r>
            <a:r>
              <a:rPr sz="1800" spc="-5" dirty="0">
                <a:latin typeface="Goudy Old Style"/>
                <a:cs typeface="Goudy Old Style"/>
              </a:rPr>
              <a:t>post </a:t>
            </a:r>
            <a:r>
              <a:rPr sz="1800" dirty="0">
                <a:latin typeface="Goudy Old Style"/>
                <a:cs typeface="Goudy Old Style"/>
              </a:rPr>
              <a:t>offices?'  </a:t>
            </a:r>
            <a:r>
              <a:rPr sz="1800" spc="-5" dirty="0">
                <a:latin typeface="Goudy Old Style"/>
                <a:cs typeface="Goudy Old Style"/>
              </a:rPr>
              <a:t>or</a:t>
            </a:r>
            <a:endParaRPr sz="1800">
              <a:latin typeface="Goudy Old Style"/>
              <a:cs typeface="Goudy Old Style"/>
            </a:endParaRPr>
          </a:p>
          <a:p>
            <a:pPr marL="639445" marR="263525" lvl="1" indent="-285750">
              <a:lnSpc>
                <a:spcPct val="100000"/>
              </a:lnSpc>
              <a:buFont typeface="Arial"/>
              <a:buChar char="•"/>
              <a:tabLst>
                <a:tab pos="639445" algn="l"/>
                <a:tab pos="640080" algn="l"/>
              </a:tabLst>
            </a:pPr>
            <a:r>
              <a:rPr sz="1800" spc="-5" dirty="0">
                <a:latin typeface="Goudy Old Style"/>
                <a:cs typeface="Goudy Old Style"/>
              </a:rPr>
              <a:t>'Do </a:t>
            </a:r>
            <a:r>
              <a:rPr sz="1800" spc="-15" dirty="0">
                <a:latin typeface="Goudy Old Style"/>
                <a:cs typeface="Goudy Old Style"/>
              </a:rPr>
              <a:t>we have </a:t>
            </a:r>
            <a:r>
              <a:rPr sz="1800" spc="-20" dirty="0">
                <a:latin typeface="Goudy Old Style"/>
                <a:cs typeface="Goudy Old Style"/>
              </a:rPr>
              <a:t>any </a:t>
            </a:r>
            <a:r>
              <a:rPr sz="1800" dirty="0">
                <a:latin typeface="Goudy Old Style"/>
                <a:cs typeface="Goudy Old Style"/>
              </a:rPr>
              <a:t>books in </a:t>
            </a:r>
            <a:r>
              <a:rPr sz="1800" spc="-5" dirty="0">
                <a:latin typeface="Goudy Old Style"/>
                <a:cs typeface="Goudy Old Style"/>
              </a:rPr>
              <a:t>our </a:t>
            </a:r>
            <a:r>
              <a:rPr sz="1800" spc="5" dirty="0">
                <a:latin typeface="Goudy Old Style"/>
                <a:cs typeface="Goudy Old Style"/>
              </a:rPr>
              <a:t>library  </a:t>
            </a:r>
            <a:r>
              <a:rPr sz="1800" dirty="0">
                <a:latin typeface="Goudy Old Style"/>
                <a:cs typeface="Goudy Old Style"/>
              </a:rPr>
              <a:t>that </a:t>
            </a:r>
            <a:r>
              <a:rPr sz="1800" spc="-5" dirty="0">
                <a:latin typeface="Goudy Old Style"/>
                <a:cs typeface="Goudy Old Style"/>
              </a:rPr>
              <a:t>deal </a:t>
            </a:r>
            <a:r>
              <a:rPr sz="1800" dirty="0">
                <a:latin typeface="Goudy Old Style"/>
                <a:cs typeface="Goudy Old Style"/>
              </a:rPr>
              <a:t>with health</a:t>
            </a:r>
            <a:r>
              <a:rPr sz="1800" spc="-40" dirty="0">
                <a:latin typeface="Goudy Old Style"/>
                <a:cs typeface="Goudy Old Style"/>
              </a:rPr>
              <a:t> </a:t>
            </a:r>
            <a:r>
              <a:rPr sz="1800" spc="-15" dirty="0">
                <a:latin typeface="Goudy Old Style"/>
                <a:cs typeface="Goudy Old Style"/>
              </a:rPr>
              <a:t>food?'</a:t>
            </a:r>
            <a:endParaRPr sz="1800">
              <a:latin typeface="Goudy Old Style"/>
              <a:cs typeface="Goudy Old Style"/>
            </a:endParaRPr>
          </a:p>
        </p:txBody>
      </p:sp>
      <p:pic>
        <p:nvPicPr>
          <p:cNvPr id="4" name="object 4"/>
          <p:cNvPicPr/>
          <p:nvPr/>
        </p:nvPicPr>
        <p:blipFill>
          <a:blip r:embed="rId3" cstate="print"/>
          <a:stretch>
            <a:fillRect/>
          </a:stretch>
        </p:blipFill>
        <p:spPr>
          <a:xfrm>
            <a:off x="4419600" y="767333"/>
            <a:ext cx="4724400" cy="5718810"/>
          </a:xfrm>
          <a:prstGeom prst="rect">
            <a:avLst/>
          </a:prstGeom>
        </p:spPr>
      </p:pic>
      <p:sp>
        <p:nvSpPr>
          <p:cNvPr id="6" name="object 6"/>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3</a:t>
            </a:fld>
            <a:endParaRPr sz="120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3828415" cy="635635"/>
          </a:xfrm>
          <a:prstGeom prst="rect">
            <a:avLst/>
          </a:prstGeom>
        </p:spPr>
        <p:txBody>
          <a:bodyPr vert="horz" wrap="square" lIns="0" tIns="12700" rIns="0" bIns="0" rtlCol="0">
            <a:spAutoFit/>
          </a:bodyPr>
          <a:lstStyle/>
          <a:p>
            <a:pPr marL="12700">
              <a:lnSpc>
                <a:spcPct val="100000"/>
              </a:lnSpc>
              <a:spcBef>
                <a:spcPts val="100"/>
              </a:spcBef>
            </a:pPr>
            <a:r>
              <a:rPr sz="4000" b="0" spc="10" dirty="0">
                <a:latin typeface="Goudy Old Style"/>
                <a:cs typeface="Goudy Old Style"/>
              </a:rPr>
              <a:t>Data </a:t>
            </a:r>
            <a:r>
              <a:rPr sz="4000" b="0" spc="-5" dirty="0">
                <a:latin typeface="Goudy Old Style"/>
                <a:cs typeface="Goudy Old Style"/>
              </a:rPr>
              <a:t>and</a:t>
            </a:r>
            <a:r>
              <a:rPr sz="4000" b="0" spc="-80" dirty="0">
                <a:latin typeface="Goudy Old Style"/>
                <a:cs typeface="Goudy Old Style"/>
              </a:rPr>
              <a:t> </a:t>
            </a:r>
            <a:r>
              <a:rPr sz="4000" b="0" dirty="0">
                <a:latin typeface="Goudy Old Style"/>
                <a:cs typeface="Goudy Old Style"/>
              </a:rPr>
              <a:t>Database</a:t>
            </a:r>
            <a:endParaRPr sz="4000">
              <a:latin typeface="Goudy Old Style"/>
              <a:cs typeface="Goudy Old Style"/>
            </a:endParaRPr>
          </a:p>
        </p:txBody>
      </p:sp>
      <p:pic>
        <p:nvPicPr>
          <p:cNvPr id="3" name="object 3"/>
          <p:cNvPicPr/>
          <p:nvPr/>
        </p:nvPicPr>
        <p:blipFill>
          <a:blip r:embed="rId3" cstate="print"/>
          <a:stretch>
            <a:fillRect/>
          </a:stretch>
        </p:blipFill>
        <p:spPr>
          <a:xfrm>
            <a:off x="233172" y="825233"/>
            <a:ext cx="8463534" cy="1194066"/>
          </a:xfrm>
          <a:prstGeom prst="rect">
            <a:avLst/>
          </a:prstGeom>
        </p:spPr>
      </p:pic>
      <p:grpSp>
        <p:nvGrpSpPr>
          <p:cNvPr id="4" name="object 4"/>
          <p:cNvGrpSpPr/>
          <p:nvPr/>
        </p:nvGrpSpPr>
        <p:grpSpPr>
          <a:xfrm>
            <a:off x="339090" y="2114537"/>
            <a:ext cx="8804910" cy="3157855"/>
            <a:chOff x="339090" y="2114537"/>
            <a:chExt cx="8804910" cy="3157855"/>
          </a:xfrm>
        </p:grpSpPr>
        <p:pic>
          <p:nvPicPr>
            <p:cNvPr id="5" name="object 5"/>
            <p:cNvPicPr/>
            <p:nvPr/>
          </p:nvPicPr>
          <p:blipFill>
            <a:blip r:embed="rId4" cstate="print"/>
            <a:stretch>
              <a:fillRect/>
            </a:stretch>
          </p:blipFill>
          <p:spPr>
            <a:xfrm>
              <a:off x="339090" y="2114537"/>
              <a:ext cx="6025134" cy="919746"/>
            </a:xfrm>
            <a:prstGeom prst="rect">
              <a:avLst/>
            </a:prstGeom>
          </p:spPr>
        </p:pic>
        <p:pic>
          <p:nvPicPr>
            <p:cNvPr id="6" name="object 6"/>
            <p:cNvPicPr/>
            <p:nvPr/>
          </p:nvPicPr>
          <p:blipFill>
            <a:blip r:embed="rId5" cstate="print"/>
            <a:stretch>
              <a:fillRect/>
            </a:stretch>
          </p:blipFill>
          <p:spPr>
            <a:xfrm>
              <a:off x="6348984" y="2666999"/>
              <a:ext cx="2795016" cy="2605278"/>
            </a:xfrm>
            <a:prstGeom prst="rect">
              <a:avLst/>
            </a:prstGeom>
          </p:spPr>
        </p:pic>
        <p:pic>
          <p:nvPicPr>
            <p:cNvPr id="7" name="object 7"/>
            <p:cNvPicPr/>
            <p:nvPr/>
          </p:nvPicPr>
          <p:blipFill>
            <a:blip r:embed="rId6" cstate="print"/>
            <a:stretch>
              <a:fillRect/>
            </a:stretch>
          </p:blipFill>
          <p:spPr>
            <a:xfrm>
              <a:off x="339090" y="3181349"/>
              <a:ext cx="5796534" cy="1376933"/>
            </a:xfrm>
            <a:prstGeom prst="rect">
              <a:avLst/>
            </a:prstGeom>
          </p:spPr>
        </p:pic>
      </p:grpSp>
      <p:sp>
        <p:nvSpPr>
          <p:cNvPr id="8" name="object 8"/>
          <p:cNvSpPr txBox="1"/>
          <p:nvPr/>
        </p:nvSpPr>
        <p:spPr>
          <a:xfrm>
            <a:off x="410463" y="1005332"/>
            <a:ext cx="7028815" cy="3333115"/>
          </a:xfrm>
          <a:prstGeom prst="rect">
            <a:avLst/>
          </a:prstGeom>
        </p:spPr>
        <p:txBody>
          <a:bodyPr vert="horz" wrap="square" lIns="0" tIns="53975" rIns="0" bIns="0" rtlCol="0">
            <a:spAutoFit/>
          </a:bodyPr>
          <a:lstStyle/>
          <a:p>
            <a:pPr marL="12700" marR="5080">
              <a:lnSpc>
                <a:spcPts val="2590"/>
              </a:lnSpc>
              <a:spcBef>
                <a:spcPts val="425"/>
              </a:spcBef>
            </a:pPr>
            <a:r>
              <a:rPr sz="2400" dirty="0">
                <a:solidFill>
                  <a:srgbClr val="FFFFFF"/>
                </a:solidFill>
                <a:latin typeface="Goudy Old Style"/>
                <a:cs typeface="Goudy Old Style"/>
              </a:rPr>
              <a:t>When </a:t>
            </a:r>
            <a:r>
              <a:rPr sz="2400" spc="5" dirty="0">
                <a:solidFill>
                  <a:srgbClr val="FFFFFF"/>
                </a:solidFill>
                <a:latin typeface="Goudy Old Style"/>
                <a:cs typeface="Goudy Old Style"/>
              </a:rPr>
              <a:t>data </a:t>
            </a:r>
            <a:r>
              <a:rPr sz="2400" spc="-5" dirty="0">
                <a:solidFill>
                  <a:srgbClr val="FFFFFF"/>
                </a:solidFill>
                <a:latin typeface="Goudy Old Style"/>
                <a:cs typeface="Goudy Old Style"/>
              </a:rPr>
              <a:t>is gathered and analyzed, </a:t>
            </a:r>
            <a:r>
              <a:rPr sz="2400" dirty="0">
                <a:solidFill>
                  <a:srgbClr val="FFFFFF"/>
                </a:solidFill>
                <a:latin typeface="Goudy Old Style"/>
                <a:cs typeface="Goudy Old Style"/>
              </a:rPr>
              <a:t>it </a:t>
            </a:r>
            <a:r>
              <a:rPr sz="2400" spc="-5" dirty="0">
                <a:solidFill>
                  <a:srgbClr val="FFFFFF"/>
                </a:solidFill>
                <a:latin typeface="Goudy Old Style"/>
                <a:cs typeface="Goudy Old Style"/>
              </a:rPr>
              <a:t>yields </a:t>
            </a:r>
            <a:r>
              <a:rPr sz="2400" spc="-10" dirty="0">
                <a:solidFill>
                  <a:srgbClr val="FFFFFF"/>
                </a:solidFill>
                <a:latin typeface="Goudy Old Style"/>
                <a:cs typeface="Goudy Old Style"/>
              </a:rPr>
              <a:t>information.  </a:t>
            </a:r>
            <a:r>
              <a:rPr sz="2400" spc="-5" dirty="0">
                <a:solidFill>
                  <a:srgbClr val="FFFFFF"/>
                </a:solidFill>
                <a:latin typeface="Goudy Old Style"/>
                <a:cs typeface="Goudy Old Style"/>
              </a:rPr>
              <a:t>Intelligent interpretation of </a:t>
            </a:r>
            <a:r>
              <a:rPr sz="2400" spc="5" dirty="0">
                <a:solidFill>
                  <a:srgbClr val="FFFFFF"/>
                </a:solidFill>
                <a:latin typeface="Goudy Old Style"/>
                <a:cs typeface="Goudy Old Style"/>
              </a:rPr>
              <a:t>data </a:t>
            </a:r>
            <a:r>
              <a:rPr sz="2400" spc="-5" dirty="0">
                <a:solidFill>
                  <a:srgbClr val="FFFFFF"/>
                </a:solidFill>
                <a:latin typeface="Goudy Old Style"/>
                <a:cs typeface="Goudy Old Style"/>
              </a:rPr>
              <a:t>yields</a:t>
            </a:r>
            <a:r>
              <a:rPr sz="2400" spc="75" dirty="0">
                <a:solidFill>
                  <a:srgbClr val="FFFFFF"/>
                </a:solidFill>
                <a:latin typeface="Goudy Old Style"/>
                <a:cs typeface="Goudy Old Style"/>
              </a:rPr>
              <a:t> </a:t>
            </a:r>
            <a:r>
              <a:rPr sz="2400" spc="-10" dirty="0">
                <a:solidFill>
                  <a:srgbClr val="FFFFFF"/>
                </a:solidFill>
                <a:latin typeface="Goudy Old Style"/>
                <a:cs typeface="Goudy Old Style"/>
              </a:rPr>
              <a:t>information.</a:t>
            </a:r>
            <a:endParaRPr sz="2400">
              <a:latin typeface="Goudy Old Style"/>
              <a:cs typeface="Goudy Old Style"/>
            </a:endParaRPr>
          </a:p>
          <a:p>
            <a:pPr>
              <a:lnSpc>
                <a:spcPct val="100000"/>
              </a:lnSpc>
            </a:pPr>
            <a:endParaRPr sz="2700">
              <a:latin typeface="Goudy Old Style"/>
              <a:cs typeface="Goudy Old Style"/>
            </a:endParaRPr>
          </a:p>
          <a:p>
            <a:pPr marL="95250" indent="5080">
              <a:lnSpc>
                <a:spcPct val="100000"/>
              </a:lnSpc>
              <a:spcBef>
                <a:spcPts val="1625"/>
              </a:spcBef>
            </a:pPr>
            <a:r>
              <a:rPr sz="2400" spc="-10" dirty="0">
                <a:solidFill>
                  <a:srgbClr val="FFFFFF"/>
                </a:solidFill>
                <a:latin typeface="Goudy Old Style"/>
                <a:cs typeface="Goudy Old Style"/>
              </a:rPr>
              <a:t>Information </a:t>
            </a:r>
            <a:r>
              <a:rPr sz="2400" dirty="0">
                <a:solidFill>
                  <a:srgbClr val="FFFFFF"/>
                </a:solidFill>
                <a:latin typeface="Goudy Old Style"/>
                <a:cs typeface="Goudy Old Style"/>
              </a:rPr>
              <a:t>helps </a:t>
            </a:r>
            <a:r>
              <a:rPr sz="2400" spc="-10" dirty="0">
                <a:solidFill>
                  <a:srgbClr val="FFFFFF"/>
                </a:solidFill>
                <a:latin typeface="Goudy Old Style"/>
                <a:cs typeface="Goudy Old Style"/>
              </a:rPr>
              <a:t>to </a:t>
            </a:r>
            <a:r>
              <a:rPr sz="2400" spc="-15" dirty="0">
                <a:solidFill>
                  <a:srgbClr val="FFFFFF"/>
                </a:solidFill>
                <a:latin typeface="Goudy Old Style"/>
                <a:cs typeface="Goudy Old Style"/>
              </a:rPr>
              <a:t>foresee </a:t>
            </a:r>
            <a:r>
              <a:rPr sz="2400" spc="-5" dirty="0">
                <a:solidFill>
                  <a:srgbClr val="FFFFFF"/>
                </a:solidFill>
                <a:latin typeface="Goudy Old Style"/>
                <a:cs typeface="Goudy Old Style"/>
              </a:rPr>
              <a:t>and </a:t>
            </a:r>
            <a:r>
              <a:rPr sz="2400" dirty="0">
                <a:solidFill>
                  <a:srgbClr val="FFFFFF"/>
                </a:solidFill>
                <a:latin typeface="Goudy Old Style"/>
                <a:cs typeface="Goudy Old Style"/>
              </a:rPr>
              <a:t>plan</a:t>
            </a:r>
            <a:r>
              <a:rPr sz="2400" spc="60" dirty="0">
                <a:solidFill>
                  <a:srgbClr val="FFFFFF"/>
                </a:solidFill>
                <a:latin typeface="Goudy Old Style"/>
                <a:cs typeface="Goudy Old Style"/>
              </a:rPr>
              <a:t> </a:t>
            </a:r>
            <a:r>
              <a:rPr sz="2400" spc="-10" dirty="0">
                <a:solidFill>
                  <a:srgbClr val="FFFFFF"/>
                </a:solidFill>
                <a:latin typeface="Goudy Old Style"/>
                <a:cs typeface="Goudy Old Style"/>
              </a:rPr>
              <a:t>events.</a:t>
            </a:r>
            <a:endParaRPr sz="2400">
              <a:latin typeface="Goudy Old Style"/>
              <a:cs typeface="Goudy Old Style"/>
            </a:endParaRPr>
          </a:p>
          <a:p>
            <a:pPr>
              <a:lnSpc>
                <a:spcPct val="100000"/>
              </a:lnSpc>
            </a:pPr>
            <a:endParaRPr sz="2700">
              <a:latin typeface="Goudy Old Style"/>
              <a:cs typeface="Goudy Old Style"/>
            </a:endParaRPr>
          </a:p>
          <a:p>
            <a:pPr marL="95250" marR="1596390" algn="just">
              <a:lnSpc>
                <a:spcPct val="90000"/>
              </a:lnSpc>
              <a:spcBef>
                <a:spcPts val="1775"/>
              </a:spcBef>
            </a:pPr>
            <a:r>
              <a:rPr sz="2400" dirty="0">
                <a:solidFill>
                  <a:srgbClr val="FFFFFF"/>
                </a:solidFill>
                <a:latin typeface="Goudy Old Style"/>
                <a:cs typeface="Goudy Old Style"/>
              </a:rPr>
              <a:t>A database is </a:t>
            </a:r>
            <a:r>
              <a:rPr sz="2400" spc="-5" dirty="0">
                <a:solidFill>
                  <a:srgbClr val="FFFFFF"/>
                </a:solidFill>
                <a:latin typeface="Goudy Old Style"/>
                <a:cs typeface="Goudy Old Style"/>
              </a:rPr>
              <a:t>an organized collection of </a:t>
            </a:r>
            <a:r>
              <a:rPr sz="2400" spc="5" dirty="0">
                <a:solidFill>
                  <a:srgbClr val="FFFFFF"/>
                </a:solidFill>
                <a:latin typeface="Goudy Old Style"/>
                <a:cs typeface="Goudy Old Style"/>
              </a:rPr>
              <a:t>data  </a:t>
            </a:r>
            <a:r>
              <a:rPr sz="2400" spc="-10" dirty="0">
                <a:solidFill>
                  <a:srgbClr val="FFFFFF"/>
                </a:solidFill>
                <a:latin typeface="Goudy Old Style"/>
                <a:cs typeface="Goudy Old Style"/>
              </a:rPr>
              <a:t>such </a:t>
            </a:r>
            <a:r>
              <a:rPr sz="2400" dirty="0">
                <a:solidFill>
                  <a:srgbClr val="FFFFFF"/>
                </a:solidFill>
                <a:latin typeface="Goudy Old Style"/>
                <a:cs typeface="Goudy Old Style"/>
              </a:rPr>
              <a:t>that its </a:t>
            </a:r>
            <a:r>
              <a:rPr sz="2400" spc="-5" dirty="0">
                <a:solidFill>
                  <a:srgbClr val="FFFFFF"/>
                </a:solidFill>
                <a:latin typeface="Goudy Old Style"/>
                <a:cs typeface="Goudy Old Style"/>
              </a:rPr>
              <a:t>contents </a:t>
            </a:r>
            <a:r>
              <a:rPr sz="2400" dirty="0">
                <a:solidFill>
                  <a:srgbClr val="FFFFFF"/>
                </a:solidFill>
                <a:latin typeface="Goudy Old Style"/>
                <a:cs typeface="Goudy Old Style"/>
              </a:rPr>
              <a:t>can be </a:t>
            </a:r>
            <a:r>
              <a:rPr sz="2400" spc="-5" dirty="0">
                <a:solidFill>
                  <a:srgbClr val="FFFFFF"/>
                </a:solidFill>
                <a:latin typeface="Goudy Old Style"/>
                <a:cs typeface="Goudy Old Style"/>
              </a:rPr>
              <a:t>easily accessed,  </a:t>
            </a:r>
            <a:r>
              <a:rPr sz="2400" dirty="0">
                <a:solidFill>
                  <a:srgbClr val="FFFFFF"/>
                </a:solidFill>
                <a:latin typeface="Goudy Old Style"/>
                <a:cs typeface="Goudy Old Style"/>
              </a:rPr>
              <a:t>managed, </a:t>
            </a:r>
            <a:r>
              <a:rPr sz="2400" spc="-5" dirty="0">
                <a:solidFill>
                  <a:srgbClr val="FFFFFF"/>
                </a:solidFill>
                <a:latin typeface="Goudy Old Style"/>
                <a:cs typeface="Goudy Old Style"/>
              </a:rPr>
              <a:t>and</a:t>
            </a:r>
            <a:r>
              <a:rPr sz="2400" spc="-10" dirty="0">
                <a:solidFill>
                  <a:srgbClr val="FFFFFF"/>
                </a:solidFill>
                <a:latin typeface="Goudy Old Style"/>
                <a:cs typeface="Goudy Old Style"/>
              </a:rPr>
              <a:t> </a:t>
            </a:r>
            <a:r>
              <a:rPr sz="2400" spc="-5" dirty="0">
                <a:solidFill>
                  <a:srgbClr val="FFFFFF"/>
                </a:solidFill>
                <a:latin typeface="Goudy Old Style"/>
                <a:cs typeface="Goudy Old Style"/>
              </a:rPr>
              <a:t>updated.</a:t>
            </a:r>
            <a:endParaRPr sz="2400">
              <a:latin typeface="Goudy Old Style"/>
              <a:cs typeface="Goudy Old Style"/>
            </a:endParaRPr>
          </a:p>
        </p:txBody>
      </p:sp>
      <p:sp>
        <p:nvSpPr>
          <p:cNvPr id="9" name="object 9"/>
          <p:cNvSpPr/>
          <p:nvPr/>
        </p:nvSpPr>
        <p:spPr>
          <a:xfrm>
            <a:off x="441198" y="5334000"/>
            <a:ext cx="4131310" cy="1216660"/>
          </a:xfrm>
          <a:custGeom>
            <a:avLst/>
            <a:gdLst/>
            <a:ahLst/>
            <a:cxnLst/>
            <a:rect l="l" t="t" r="r" b="b"/>
            <a:pathLst>
              <a:path w="4131310" h="1216659">
                <a:moveTo>
                  <a:pt x="3098038" y="0"/>
                </a:moveTo>
                <a:lnTo>
                  <a:pt x="3020980" y="333"/>
                </a:lnTo>
                <a:lnTo>
                  <a:pt x="2945460" y="1319"/>
                </a:lnTo>
                <a:lnTo>
                  <a:pt x="2871676" y="2933"/>
                </a:lnTo>
                <a:lnTo>
                  <a:pt x="2799827" y="5152"/>
                </a:lnTo>
                <a:lnTo>
                  <a:pt x="2730115" y="7952"/>
                </a:lnTo>
                <a:lnTo>
                  <a:pt x="2662738" y="11309"/>
                </a:lnTo>
                <a:lnTo>
                  <a:pt x="2597897" y="15201"/>
                </a:lnTo>
                <a:lnTo>
                  <a:pt x="2535791" y="19603"/>
                </a:lnTo>
                <a:lnTo>
                  <a:pt x="2476620" y="24493"/>
                </a:lnTo>
                <a:lnTo>
                  <a:pt x="2420584" y="29846"/>
                </a:lnTo>
                <a:lnTo>
                  <a:pt x="2367883" y="35639"/>
                </a:lnTo>
                <a:lnTo>
                  <a:pt x="2318716" y="41848"/>
                </a:lnTo>
                <a:lnTo>
                  <a:pt x="2273283" y="48450"/>
                </a:lnTo>
                <a:lnTo>
                  <a:pt x="2231785" y="55422"/>
                </a:lnTo>
                <a:lnTo>
                  <a:pt x="2161389" y="70379"/>
                </a:lnTo>
                <a:lnTo>
                  <a:pt x="2109128" y="86531"/>
                </a:lnTo>
                <a:lnTo>
                  <a:pt x="2068233" y="112587"/>
                </a:lnTo>
                <a:lnTo>
                  <a:pt x="2062568" y="130728"/>
                </a:lnTo>
                <a:lnTo>
                  <a:pt x="2054202" y="139610"/>
                </a:lnTo>
                <a:lnTo>
                  <a:pt x="1997908" y="164945"/>
                </a:lnTo>
                <a:lnTo>
                  <a:pt x="1936377" y="180505"/>
                </a:lnTo>
                <a:lnTo>
                  <a:pt x="1857509" y="194780"/>
                </a:lnTo>
                <a:lnTo>
                  <a:pt x="1812073" y="201376"/>
                </a:lnTo>
                <a:lnTo>
                  <a:pt x="1762902" y="207581"/>
                </a:lnTo>
                <a:lnTo>
                  <a:pt x="1710196" y="213370"/>
                </a:lnTo>
                <a:lnTo>
                  <a:pt x="1654155" y="218720"/>
                </a:lnTo>
                <a:lnTo>
                  <a:pt x="1594977" y="223607"/>
                </a:lnTo>
                <a:lnTo>
                  <a:pt x="1532864" y="228007"/>
                </a:lnTo>
                <a:lnTo>
                  <a:pt x="1468014" y="231897"/>
                </a:lnTo>
                <a:lnTo>
                  <a:pt x="1400627" y="235254"/>
                </a:lnTo>
                <a:lnTo>
                  <a:pt x="1330904" y="238053"/>
                </a:lnTo>
                <a:lnTo>
                  <a:pt x="1259044" y="240271"/>
                </a:lnTo>
                <a:lnTo>
                  <a:pt x="1185246" y="241885"/>
                </a:lnTo>
                <a:lnTo>
                  <a:pt x="1109710" y="242871"/>
                </a:lnTo>
                <a:lnTo>
                  <a:pt x="1032637" y="243204"/>
                </a:lnTo>
                <a:lnTo>
                  <a:pt x="955573" y="242871"/>
                </a:lnTo>
                <a:lnTo>
                  <a:pt x="880047" y="241885"/>
                </a:lnTo>
                <a:lnTo>
                  <a:pt x="806259" y="240271"/>
                </a:lnTo>
                <a:lnTo>
                  <a:pt x="734408" y="238053"/>
                </a:lnTo>
                <a:lnTo>
                  <a:pt x="664693" y="235254"/>
                </a:lnTo>
                <a:lnTo>
                  <a:pt x="597315" y="231897"/>
                </a:lnTo>
                <a:lnTo>
                  <a:pt x="532473" y="228007"/>
                </a:lnTo>
                <a:lnTo>
                  <a:pt x="470368" y="223607"/>
                </a:lnTo>
                <a:lnTo>
                  <a:pt x="411197" y="218720"/>
                </a:lnTo>
                <a:lnTo>
                  <a:pt x="355162" y="213370"/>
                </a:lnTo>
                <a:lnTo>
                  <a:pt x="302463" y="207581"/>
                </a:lnTo>
                <a:lnTo>
                  <a:pt x="253298" y="201376"/>
                </a:lnTo>
                <a:lnTo>
                  <a:pt x="207867" y="194780"/>
                </a:lnTo>
                <a:lnTo>
                  <a:pt x="166371" y="187815"/>
                </a:lnTo>
                <a:lnTo>
                  <a:pt x="95980" y="172874"/>
                </a:lnTo>
                <a:lnTo>
                  <a:pt x="43723" y="156743"/>
                </a:lnTo>
                <a:lnTo>
                  <a:pt x="2832" y="130728"/>
                </a:lnTo>
                <a:lnTo>
                  <a:pt x="0" y="121665"/>
                </a:lnTo>
                <a:lnTo>
                  <a:pt x="0" y="1094536"/>
                </a:lnTo>
                <a:lnTo>
                  <a:pt x="43723" y="1129662"/>
                </a:lnTo>
                <a:lnTo>
                  <a:pt x="95980" y="1145808"/>
                </a:lnTo>
                <a:lnTo>
                  <a:pt x="166371" y="1160759"/>
                </a:lnTo>
                <a:lnTo>
                  <a:pt x="207867" y="1167727"/>
                </a:lnTo>
                <a:lnTo>
                  <a:pt x="253298" y="1174326"/>
                </a:lnTo>
                <a:lnTo>
                  <a:pt x="302463" y="1180533"/>
                </a:lnTo>
                <a:lnTo>
                  <a:pt x="355162" y="1186323"/>
                </a:lnTo>
                <a:lnTo>
                  <a:pt x="411197" y="1191673"/>
                </a:lnTo>
                <a:lnTo>
                  <a:pt x="470368" y="1196560"/>
                </a:lnTo>
                <a:lnTo>
                  <a:pt x="532473" y="1200959"/>
                </a:lnTo>
                <a:lnTo>
                  <a:pt x="597315" y="1204849"/>
                </a:lnTo>
                <a:lnTo>
                  <a:pt x="664693" y="1208205"/>
                </a:lnTo>
                <a:lnTo>
                  <a:pt x="734408" y="1211003"/>
                </a:lnTo>
                <a:lnTo>
                  <a:pt x="806259" y="1213220"/>
                </a:lnTo>
                <a:lnTo>
                  <a:pt x="880047" y="1214833"/>
                </a:lnTo>
                <a:lnTo>
                  <a:pt x="955573" y="1215818"/>
                </a:lnTo>
                <a:lnTo>
                  <a:pt x="1032637" y="1216152"/>
                </a:lnTo>
                <a:lnTo>
                  <a:pt x="1109710" y="1215818"/>
                </a:lnTo>
                <a:lnTo>
                  <a:pt x="1185246" y="1214833"/>
                </a:lnTo>
                <a:lnTo>
                  <a:pt x="1259044" y="1213220"/>
                </a:lnTo>
                <a:lnTo>
                  <a:pt x="1330904" y="1211003"/>
                </a:lnTo>
                <a:lnTo>
                  <a:pt x="1400627" y="1208205"/>
                </a:lnTo>
                <a:lnTo>
                  <a:pt x="1468014" y="1204849"/>
                </a:lnTo>
                <a:lnTo>
                  <a:pt x="1532864" y="1200959"/>
                </a:lnTo>
                <a:lnTo>
                  <a:pt x="1594977" y="1196560"/>
                </a:lnTo>
                <a:lnTo>
                  <a:pt x="1654155" y="1191673"/>
                </a:lnTo>
                <a:lnTo>
                  <a:pt x="1710196" y="1186323"/>
                </a:lnTo>
                <a:lnTo>
                  <a:pt x="1762902" y="1180533"/>
                </a:lnTo>
                <a:lnTo>
                  <a:pt x="1812073" y="1174326"/>
                </a:lnTo>
                <a:lnTo>
                  <a:pt x="1857509" y="1167727"/>
                </a:lnTo>
                <a:lnTo>
                  <a:pt x="1899010" y="1160759"/>
                </a:lnTo>
                <a:lnTo>
                  <a:pt x="1969409" y="1145808"/>
                </a:lnTo>
                <a:lnTo>
                  <a:pt x="2021672" y="1129662"/>
                </a:lnTo>
                <a:lnTo>
                  <a:pt x="2062568" y="1103613"/>
                </a:lnTo>
                <a:lnTo>
                  <a:pt x="2068233" y="1085460"/>
                </a:lnTo>
                <a:lnTo>
                  <a:pt x="2076599" y="1076564"/>
                </a:lnTo>
                <a:lnTo>
                  <a:pt x="2132892" y="1051200"/>
                </a:lnTo>
                <a:lnTo>
                  <a:pt x="2194420" y="1035628"/>
                </a:lnTo>
                <a:lnTo>
                  <a:pt x="2273283" y="1021345"/>
                </a:lnTo>
                <a:lnTo>
                  <a:pt x="2318716" y="1014746"/>
                </a:lnTo>
                <a:lnTo>
                  <a:pt x="2367883" y="1008540"/>
                </a:lnTo>
                <a:lnTo>
                  <a:pt x="2420584" y="1002750"/>
                </a:lnTo>
                <a:lnTo>
                  <a:pt x="2476620" y="997400"/>
                </a:lnTo>
                <a:lnTo>
                  <a:pt x="2535791" y="992513"/>
                </a:lnTo>
                <a:lnTo>
                  <a:pt x="2597897" y="988113"/>
                </a:lnTo>
                <a:lnTo>
                  <a:pt x="2662738" y="984224"/>
                </a:lnTo>
                <a:lnTo>
                  <a:pt x="2730115" y="980868"/>
                </a:lnTo>
                <a:lnTo>
                  <a:pt x="2799827" y="978070"/>
                </a:lnTo>
                <a:lnTo>
                  <a:pt x="2871676" y="975853"/>
                </a:lnTo>
                <a:lnTo>
                  <a:pt x="2945460" y="974240"/>
                </a:lnTo>
                <a:lnTo>
                  <a:pt x="3020980" y="973255"/>
                </a:lnTo>
                <a:lnTo>
                  <a:pt x="3098038" y="972921"/>
                </a:lnTo>
                <a:lnTo>
                  <a:pt x="3175111" y="973255"/>
                </a:lnTo>
                <a:lnTo>
                  <a:pt x="3250647" y="974240"/>
                </a:lnTo>
                <a:lnTo>
                  <a:pt x="3324445" y="975853"/>
                </a:lnTo>
                <a:lnTo>
                  <a:pt x="3396305" y="978070"/>
                </a:lnTo>
                <a:lnTo>
                  <a:pt x="3466028" y="980868"/>
                </a:lnTo>
                <a:lnTo>
                  <a:pt x="3533415" y="984224"/>
                </a:lnTo>
                <a:lnTo>
                  <a:pt x="3598265" y="988113"/>
                </a:lnTo>
                <a:lnTo>
                  <a:pt x="3660378" y="992513"/>
                </a:lnTo>
                <a:lnTo>
                  <a:pt x="3719556" y="997400"/>
                </a:lnTo>
                <a:lnTo>
                  <a:pt x="3775597" y="1002750"/>
                </a:lnTo>
                <a:lnTo>
                  <a:pt x="3828303" y="1008540"/>
                </a:lnTo>
                <a:lnTo>
                  <a:pt x="3877474" y="1014746"/>
                </a:lnTo>
                <a:lnTo>
                  <a:pt x="3922910" y="1021345"/>
                </a:lnTo>
                <a:lnTo>
                  <a:pt x="3964411" y="1028314"/>
                </a:lnTo>
                <a:lnTo>
                  <a:pt x="4034810" y="1043265"/>
                </a:lnTo>
                <a:lnTo>
                  <a:pt x="4087073" y="1059411"/>
                </a:lnTo>
                <a:lnTo>
                  <a:pt x="4127969" y="1085460"/>
                </a:lnTo>
                <a:lnTo>
                  <a:pt x="4130802" y="1094536"/>
                </a:lnTo>
                <a:lnTo>
                  <a:pt x="4130802" y="121665"/>
                </a:lnTo>
                <a:lnTo>
                  <a:pt x="4087073" y="86531"/>
                </a:lnTo>
                <a:lnTo>
                  <a:pt x="4034810" y="70379"/>
                </a:lnTo>
                <a:lnTo>
                  <a:pt x="3964411" y="55422"/>
                </a:lnTo>
                <a:lnTo>
                  <a:pt x="3922910" y="48450"/>
                </a:lnTo>
                <a:lnTo>
                  <a:pt x="3877474" y="41848"/>
                </a:lnTo>
                <a:lnTo>
                  <a:pt x="3828303" y="35639"/>
                </a:lnTo>
                <a:lnTo>
                  <a:pt x="3775597" y="29846"/>
                </a:lnTo>
                <a:lnTo>
                  <a:pt x="3719556" y="24493"/>
                </a:lnTo>
                <a:lnTo>
                  <a:pt x="3660378" y="19603"/>
                </a:lnTo>
                <a:lnTo>
                  <a:pt x="3598265" y="15201"/>
                </a:lnTo>
                <a:lnTo>
                  <a:pt x="3533415" y="11309"/>
                </a:lnTo>
                <a:lnTo>
                  <a:pt x="3466028" y="7952"/>
                </a:lnTo>
                <a:lnTo>
                  <a:pt x="3396305" y="5152"/>
                </a:lnTo>
                <a:lnTo>
                  <a:pt x="3324445" y="2933"/>
                </a:lnTo>
                <a:lnTo>
                  <a:pt x="3250647" y="1319"/>
                </a:lnTo>
                <a:lnTo>
                  <a:pt x="3175111" y="333"/>
                </a:lnTo>
                <a:lnTo>
                  <a:pt x="3098038" y="0"/>
                </a:lnTo>
                <a:close/>
              </a:path>
            </a:pathLst>
          </a:custGeom>
          <a:solidFill>
            <a:srgbClr val="30859C"/>
          </a:solidFill>
        </p:spPr>
        <p:txBody>
          <a:bodyPr wrap="square" lIns="0" tIns="0" rIns="0" bIns="0" rtlCol="0"/>
          <a:lstStyle/>
          <a:p>
            <a:endParaRPr/>
          </a:p>
        </p:txBody>
      </p:sp>
      <p:sp>
        <p:nvSpPr>
          <p:cNvPr id="10" name="object 10"/>
          <p:cNvSpPr txBox="1"/>
          <p:nvPr/>
        </p:nvSpPr>
        <p:spPr>
          <a:xfrm>
            <a:off x="576072" y="5073396"/>
            <a:ext cx="3860165" cy="1193800"/>
          </a:xfrm>
          <a:prstGeom prst="rect">
            <a:avLst/>
          </a:prstGeom>
        </p:spPr>
        <p:txBody>
          <a:bodyPr vert="horz" wrap="square" lIns="0" tIns="12065" rIns="0" bIns="0" rtlCol="0">
            <a:spAutoFit/>
          </a:bodyPr>
          <a:lstStyle/>
          <a:p>
            <a:pPr marL="124460">
              <a:lnSpc>
                <a:spcPct val="100000"/>
              </a:lnSpc>
              <a:spcBef>
                <a:spcPts val="95"/>
              </a:spcBef>
            </a:pPr>
            <a:r>
              <a:rPr sz="1400" b="1" spc="-5" dirty="0">
                <a:latin typeface="Calisto MT"/>
                <a:cs typeface="Calisto MT"/>
              </a:rPr>
              <a:t>Example:</a:t>
            </a:r>
            <a:endParaRPr sz="1400">
              <a:latin typeface="Calisto MT"/>
              <a:cs typeface="Calisto MT"/>
            </a:endParaRPr>
          </a:p>
          <a:p>
            <a:pPr>
              <a:lnSpc>
                <a:spcPct val="100000"/>
              </a:lnSpc>
              <a:spcBef>
                <a:spcPts val="50"/>
              </a:spcBef>
            </a:pPr>
            <a:endParaRPr sz="1450">
              <a:latin typeface="Calisto MT"/>
              <a:cs typeface="Calisto MT"/>
            </a:endParaRPr>
          </a:p>
          <a:p>
            <a:pPr algn="ctr">
              <a:lnSpc>
                <a:spcPts val="2039"/>
              </a:lnSpc>
            </a:pPr>
            <a:r>
              <a:rPr sz="2000" spc="-5" dirty="0">
                <a:solidFill>
                  <a:srgbClr val="F1F1F1"/>
                </a:solidFill>
                <a:latin typeface="Goudy Old Style"/>
                <a:cs typeface="Goudy Old Style"/>
              </a:rPr>
              <a:t>A </a:t>
            </a:r>
            <a:r>
              <a:rPr sz="2000" b="1" spc="-5" dirty="0">
                <a:solidFill>
                  <a:srgbClr val="F1F1F1"/>
                </a:solidFill>
                <a:latin typeface="Goudy Old Style"/>
                <a:cs typeface="Goudy Old Style"/>
              </a:rPr>
              <a:t>phone book </a:t>
            </a:r>
            <a:r>
              <a:rPr sz="2000" spc="-5" dirty="0">
                <a:solidFill>
                  <a:srgbClr val="F1F1F1"/>
                </a:solidFill>
                <a:latin typeface="Goudy Old Style"/>
                <a:cs typeface="Goudy Old Style"/>
              </a:rPr>
              <a:t>is a database</a:t>
            </a:r>
            <a:r>
              <a:rPr sz="2000" spc="30" dirty="0">
                <a:solidFill>
                  <a:srgbClr val="F1F1F1"/>
                </a:solidFill>
                <a:latin typeface="Goudy Old Style"/>
                <a:cs typeface="Goudy Old Style"/>
              </a:rPr>
              <a:t> </a:t>
            </a:r>
            <a:r>
              <a:rPr sz="2000" spc="-5" dirty="0">
                <a:solidFill>
                  <a:srgbClr val="F1F1F1"/>
                </a:solidFill>
                <a:latin typeface="Goudy Old Style"/>
                <a:cs typeface="Goudy Old Style"/>
              </a:rPr>
              <a:t>consisting</a:t>
            </a:r>
            <a:endParaRPr sz="2000">
              <a:latin typeface="Goudy Old Style"/>
              <a:cs typeface="Goudy Old Style"/>
            </a:endParaRPr>
          </a:p>
          <a:p>
            <a:pPr algn="ctr">
              <a:lnSpc>
                <a:spcPts val="1680"/>
              </a:lnSpc>
            </a:pPr>
            <a:r>
              <a:rPr sz="2000" spc="-5" dirty="0">
                <a:solidFill>
                  <a:srgbClr val="F1F1F1"/>
                </a:solidFill>
                <a:latin typeface="Goudy Old Style"/>
                <a:cs typeface="Goudy Old Style"/>
              </a:rPr>
              <a:t>of names, </a:t>
            </a:r>
            <a:r>
              <a:rPr sz="2000" spc="-10" dirty="0">
                <a:solidFill>
                  <a:srgbClr val="F1F1F1"/>
                </a:solidFill>
                <a:latin typeface="Goudy Old Style"/>
                <a:cs typeface="Goudy Old Style"/>
              </a:rPr>
              <a:t>addresses, </a:t>
            </a:r>
            <a:r>
              <a:rPr sz="2000" spc="-5" dirty="0">
                <a:solidFill>
                  <a:srgbClr val="F1F1F1"/>
                </a:solidFill>
                <a:latin typeface="Goudy Old Style"/>
                <a:cs typeface="Goudy Old Style"/>
              </a:rPr>
              <a:t>and</a:t>
            </a:r>
            <a:r>
              <a:rPr sz="2000" spc="-20" dirty="0">
                <a:solidFill>
                  <a:srgbClr val="F1F1F1"/>
                </a:solidFill>
                <a:latin typeface="Goudy Old Style"/>
                <a:cs typeface="Goudy Old Style"/>
              </a:rPr>
              <a:t> </a:t>
            </a:r>
            <a:r>
              <a:rPr sz="2000" spc="-10" dirty="0">
                <a:solidFill>
                  <a:srgbClr val="F1F1F1"/>
                </a:solidFill>
                <a:latin typeface="Goudy Old Style"/>
                <a:cs typeface="Goudy Old Style"/>
              </a:rPr>
              <a:t>telephone</a:t>
            </a:r>
            <a:endParaRPr sz="2000">
              <a:latin typeface="Goudy Old Style"/>
              <a:cs typeface="Goudy Old Style"/>
            </a:endParaRPr>
          </a:p>
          <a:p>
            <a:pPr algn="ctr">
              <a:lnSpc>
                <a:spcPts val="2039"/>
              </a:lnSpc>
            </a:pPr>
            <a:r>
              <a:rPr sz="2000" spc="-5" dirty="0">
                <a:solidFill>
                  <a:srgbClr val="F1F1F1"/>
                </a:solidFill>
                <a:latin typeface="Goudy Old Style"/>
                <a:cs typeface="Goudy Old Style"/>
              </a:rPr>
              <a:t>numbers.</a:t>
            </a:r>
            <a:endParaRPr sz="2000">
              <a:latin typeface="Goudy Old Style"/>
              <a:cs typeface="Goudy Old Style"/>
            </a:endParaRPr>
          </a:p>
        </p:txBody>
      </p:sp>
      <p:sp>
        <p:nvSpPr>
          <p:cNvPr id="12" name="object 12"/>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4</a:t>
            </a:fld>
            <a:endParaRPr sz="1200"/>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3736340" cy="635635"/>
          </a:xfrm>
          <a:prstGeom prst="rect">
            <a:avLst/>
          </a:prstGeom>
        </p:spPr>
        <p:txBody>
          <a:bodyPr vert="horz" wrap="square" lIns="0" tIns="12700" rIns="0" bIns="0" rtlCol="0">
            <a:spAutoFit/>
          </a:bodyPr>
          <a:lstStyle/>
          <a:p>
            <a:pPr marL="12700">
              <a:lnSpc>
                <a:spcPct val="100000"/>
              </a:lnSpc>
              <a:spcBef>
                <a:spcPts val="100"/>
              </a:spcBef>
            </a:pPr>
            <a:r>
              <a:rPr sz="4000" b="0" spc="10" dirty="0">
                <a:latin typeface="Goudy Old Style"/>
                <a:cs typeface="Goudy Old Style"/>
              </a:rPr>
              <a:t>Data</a:t>
            </a:r>
            <a:r>
              <a:rPr sz="4000" b="0" spc="-80" dirty="0">
                <a:latin typeface="Goudy Old Style"/>
                <a:cs typeface="Goudy Old Style"/>
              </a:rPr>
              <a:t> </a:t>
            </a:r>
            <a:r>
              <a:rPr sz="4000" b="0" spc="-5" dirty="0">
                <a:latin typeface="Goudy Old Style"/>
                <a:cs typeface="Goudy Old Style"/>
              </a:rPr>
              <a:t>Management</a:t>
            </a:r>
            <a:endParaRPr sz="4000">
              <a:latin typeface="Goudy Old Style"/>
              <a:cs typeface="Goudy Old Style"/>
            </a:endParaRPr>
          </a:p>
        </p:txBody>
      </p:sp>
      <p:pic>
        <p:nvPicPr>
          <p:cNvPr id="3" name="object 3"/>
          <p:cNvPicPr/>
          <p:nvPr/>
        </p:nvPicPr>
        <p:blipFill>
          <a:blip r:embed="rId3" cstate="print"/>
          <a:stretch>
            <a:fillRect/>
          </a:stretch>
        </p:blipFill>
        <p:spPr>
          <a:xfrm>
            <a:off x="339090" y="1123937"/>
            <a:ext cx="8234933" cy="919746"/>
          </a:xfrm>
          <a:prstGeom prst="rect">
            <a:avLst/>
          </a:prstGeom>
        </p:spPr>
      </p:pic>
      <p:sp>
        <p:nvSpPr>
          <p:cNvPr id="4" name="object 4"/>
          <p:cNvSpPr txBox="1"/>
          <p:nvPr/>
        </p:nvSpPr>
        <p:spPr>
          <a:xfrm>
            <a:off x="514095" y="1385823"/>
            <a:ext cx="767842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Goudy Old Style"/>
                <a:cs typeface="Goudy Old Style"/>
              </a:rPr>
              <a:t>Data </a:t>
            </a:r>
            <a:r>
              <a:rPr sz="1800" spc="-5" dirty="0">
                <a:solidFill>
                  <a:srgbClr val="FFFFFF"/>
                </a:solidFill>
                <a:latin typeface="Goudy Old Style"/>
                <a:cs typeface="Goudy Old Style"/>
              </a:rPr>
              <a:t>management deals </a:t>
            </a:r>
            <a:r>
              <a:rPr sz="1800" dirty="0">
                <a:solidFill>
                  <a:srgbClr val="FFFFFF"/>
                </a:solidFill>
                <a:latin typeface="Goudy Old Style"/>
                <a:cs typeface="Goudy Old Style"/>
              </a:rPr>
              <a:t>with managing </a:t>
            </a:r>
            <a:r>
              <a:rPr sz="1800" spc="-5" dirty="0">
                <a:solidFill>
                  <a:srgbClr val="FFFFFF"/>
                </a:solidFill>
                <a:latin typeface="Goudy Old Style"/>
                <a:cs typeface="Goudy Old Style"/>
              </a:rPr>
              <a:t>large amount of information, </a:t>
            </a:r>
            <a:r>
              <a:rPr sz="1800" spc="-10" dirty="0">
                <a:solidFill>
                  <a:srgbClr val="FFFFFF"/>
                </a:solidFill>
                <a:latin typeface="Goudy Old Style"/>
                <a:cs typeface="Goudy Old Style"/>
              </a:rPr>
              <a:t>which</a:t>
            </a:r>
            <a:r>
              <a:rPr sz="1800" spc="-25" dirty="0">
                <a:solidFill>
                  <a:srgbClr val="FFFFFF"/>
                </a:solidFill>
                <a:latin typeface="Goudy Old Style"/>
                <a:cs typeface="Goudy Old Style"/>
              </a:rPr>
              <a:t> </a:t>
            </a:r>
            <a:r>
              <a:rPr sz="1800" spc="-15" dirty="0">
                <a:solidFill>
                  <a:srgbClr val="FFFFFF"/>
                </a:solidFill>
                <a:latin typeface="Goudy Old Style"/>
                <a:cs typeface="Goudy Old Style"/>
              </a:rPr>
              <a:t>involves:</a:t>
            </a:r>
            <a:endParaRPr sz="1800">
              <a:latin typeface="Goudy Old Style"/>
              <a:cs typeface="Goudy Old Style"/>
            </a:endParaRPr>
          </a:p>
        </p:txBody>
      </p:sp>
      <p:sp>
        <p:nvSpPr>
          <p:cNvPr id="5" name="object 5"/>
          <p:cNvSpPr txBox="1"/>
          <p:nvPr/>
        </p:nvSpPr>
        <p:spPr>
          <a:xfrm>
            <a:off x="459740" y="2153157"/>
            <a:ext cx="7041515" cy="939800"/>
          </a:xfrm>
          <a:prstGeom prst="rect">
            <a:avLst/>
          </a:prstGeom>
        </p:spPr>
        <p:txBody>
          <a:bodyPr vert="horz" wrap="square" lIns="0" tIns="12065" rIns="0" bIns="0" rtlCol="0">
            <a:spAutoFit/>
          </a:bodyPr>
          <a:lstStyle/>
          <a:p>
            <a:pPr marL="353695" indent="-341630">
              <a:lnSpc>
                <a:spcPct val="100000"/>
              </a:lnSpc>
              <a:spcBef>
                <a:spcPts val="95"/>
              </a:spcBef>
              <a:buFont typeface="Wingdings"/>
              <a:buChar char=""/>
              <a:tabLst>
                <a:tab pos="353695" algn="l"/>
                <a:tab pos="354330" algn="l"/>
              </a:tabLst>
            </a:pPr>
            <a:r>
              <a:rPr sz="2000" spc="-10" dirty="0">
                <a:latin typeface="Goudy Old Style"/>
                <a:cs typeface="Goudy Old Style"/>
              </a:rPr>
              <a:t>Storage </a:t>
            </a:r>
            <a:r>
              <a:rPr sz="2000" spc="-5" dirty="0">
                <a:latin typeface="Goudy Old Style"/>
                <a:cs typeface="Goudy Old Style"/>
              </a:rPr>
              <a:t>of</a:t>
            </a:r>
            <a:r>
              <a:rPr sz="2000" dirty="0">
                <a:latin typeface="Goudy Old Style"/>
                <a:cs typeface="Goudy Old Style"/>
              </a:rPr>
              <a:t> </a:t>
            </a:r>
            <a:r>
              <a:rPr sz="2000" spc="-10" dirty="0">
                <a:latin typeface="Goudy Old Style"/>
                <a:cs typeface="Goudy Old Style"/>
              </a:rPr>
              <a:t>information</a:t>
            </a:r>
            <a:endParaRPr sz="2000">
              <a:latin typeface="Goudy Old Style"/>
              <a:cs typeface="Goudy Old Style"/>
            </a:endParaRPr>
          </a:p>
          <a:p>
            <a:pPr marL="353695" indent="-341630">
              <a:lnSpc>
                <a:spcPct val="100000"/>
              </a:lnSpc>
              <a:buFont typeface="Wingdings"/>
              <a:buChar char=""/>
              <a:tabLst>
                <a:tab pos="353695" algn="l"/>
                <a:tab pos="354330" algn="l"/>
              </a:tabLst>
            </a:pPr>
            <a:r>
              <a:rPr sz="2000" spc="-10" dirty="0">
                <a:latin typeface="Goudy Old Style"/>
                <a:cs typeface="Goudy Old Style"/>
              </a:rPr>
              <a:t>Provision </a:t>
            </a:r>
            <a:r>
              <a:rPr sz="2000" spc="-5" dirty="0">
                <a:latin typeface="Goudy Old Style"/>
                <a:cs typeface="Goudy Old Style"/>
              </a:rPr>
              <a:t>of mechanisms </a:t>
            </a:r>
            <a:r>
              <a:rPr sz="2000" spc="-20" dirty="0">
                <a:latin typeface="Goudy Old Style"/>
                <a:cs typeface="Goudy Old Style"/>
              </a:rPr>
              <a:t>for </a:t>
            </a:r>
            <a:r>
              <a:rPr sz="2000" spc="-5" dirty="0">
                <a:latin typeface="Goudy Old Style"/>
                <a:cs typeface="Goudy Old Style"/>
              </a:rPr>
              <a:t>the </a:t>
            </a:r>
            <a:r>
              <a:rPr sz="2000" spc="-10" dirty="0">
                <a:latin typeface="Goudy Old Style"/>
                <a:cs typeface="Goudy Old Style"/>
              </a:rPr>
              <a:t>manipulation </a:t>
            </a:r>
            <a:r>
              <a:rPr sz="2000" spc="-5" dirty="0">
                <a:latin typeface="Goudy Old Style"/>
                <a:cs typeface="Goudy Old Style"/>
              </a:rPr>
              <a:t>of</a:t>
            </a:r>
            <a:r>
              <a:rPr sz="2000" spc="95" dirty="0">
                <a:latin typeface="Goudy Old Style"/>
                <a:cs typeface="Goudy Old Style"/>
              </a:rPr>
              <a:t> </a:t>
            </a:r>
            <a:r>
              <a:rPr sz="2000" spc="-10" dirty="0">
                <a:latin typeface="Goudy Old Style"/>
                <a:cs typeface="Goudy Old Style"/>
              </a:rPr>
              <a:t>information</a:t>
            </a:r>
            <a:endParaRPr sz="2000">
              <a:latin typeface="Goudy Old Style"/>
              <a:cs typeface="Goudy Old Style"/>
            </a:endParaRPr>
          </a:p>
          <a:p>
            <a:pPr marL="353695" indent="-341630">
              <a:lnSpc>
                <a:spcPct val="100000"/>
              </a:lnSpc>
              <a:buFont typeface="Wingdings"/>
              <a:buChar char=""/>
              <a:tabLst>
                <a:tab pos="353695" algn="l"/>
                <a:tab pos="354330" algn="l"/>
              </a:tabLst>
            </a:pPr>
            <a:r>
              <a:rPr sz="2000" spc="-10" dirty="0">
                <a:latin typeface="Goudy Old Style"/>
                <a:cs typeface="Goudy Old Style"/>
              </a:rPr>
              <a:t>Providing </a:t>
            </a:r>
            <a:r>
              <a:rPr sz="2000" spc="-15" dirty="0">
                <a:latin typeface="Goudy Old Style"/>
                <a:cs typeface="Goudy Old Style"/>
              </a:rPr>
              <a:t>safety </a:t>
            </a:r>
            <a:r>
              <a:rPr sz="2000" spc="-5" dirty="0">
                <a:latin typeface="Goudy Old Style"/>
                <a:cs typeface="Goudy Old Style"/>
              </a:rPr>
              <a:t>of </a:t>
            </a:r>
            <a:r>
              <a:rPr sz="2000" spc="-10" dirty="0">
                <a:latin typeface="Goudy Old Style"/>
                <a:cs typeface="Goudy Old Style"/>
              </a:rPr>
              <a:t>information </a:t>
            </a:r>
            <a:r>
              <a:rPr sz="2000" spc="-15" dirty="0">
                <a:latin typeface="Goudy Old Style"/>
                <a:cs typeface="Goudy Old Style"/>
              </a:rPr>
              <a:t>stored </a:t>
            </a:r>
            <a:r>
              <a:rPr sz="2000" spc="-5" dirty="0">
                <a:latin typeface="Goudy Old Style"/>
                <a:cs typeface="Goudy Old Style"/>
              </a:rPr>
              <a:t>under various</a:t>
            </a:r>
            <a:r>
              <a:rPr sz="2000" spc="90" dirty="0">
                <a:latin typeface="Goudy Old Style"/>
                <a:cs typeface="Goudy Old Style"/>
              </a:rPr>
              <a:t> </a:t>
            </a:r>
            <a:r>
              <a:rPr sz="2000" spc="-10" dirty="0">
                <a:latin typeface="Goudy Old Style"/>
                <a:cs typeface="Goudy Old Style"/>
              </a:rPr>
              <a:t>circumstances</a:t>
            </a:r>
            <a:endParaRPr sz="2000">
              <a:latin typeface="Goudy Old Style"/>
              <a:cs typeface="Goudy Old Style"/>
            </a:endParaRPr>
          </a:p>
        </p:txBody>
      </p:sp>
      <p:sp>
        <p:nvSpPr>
          <p:cNvPr id="6" name="object 6"/>
          <p:cNvSpPr/>
          <p:nvPr/>
        </p:nvSpPr>
        <p:spPr>
          <a:xfrm>
            <a:off x="2515361" y="4866513"/>
            <a:ext cx="2508250" cy="385445"/>
          </a:xfrm>
          <a:custGeom>
            <a:avLst/>
            <a:gdLst/>
            <a:ahLst/>
            <a:cxnLst/>
            <a:rect l="l" t="t" r="r" b="b"/>
            <a:pathLst>
              <a:path w="2508250" h="385445">
                <a:moveTo>
                  <a:pt x="2508123" y="0"/>
                </a:moveTo>
                <a:lnTo>
                  <a:pt x="179197" y="0"/>
                </a:lnTo>
                <a:lnTo>
                  <a:pt x="179197" y="385191"/>
                </a:lnTo>
                <a:lnTo>
                  <a:pt x="0" y="385191"/>
                </a:lnTo>
              </a:path>
            </a:pathLst>
          </a:custGeom>
          <a:ln w="25145">
            <a:solidFill>
              <a:srgbClr val="4AACC5"/>
            </a:solidFill>
          </a:ln>
        </p:spPr>
        <p:txBody>
          <a:bodyPr wrap="square" lIns="0" tIns="0" rIns="0" bIns="0" rtlCol="0"/>
          <a:lstStyle/>
          <a:p>
            <a:endParaRPr/>
          </a:p>
        </p:txBody>
      </p:sp>
      <p:sp>
        <p:nvSpPr>
          <p:cNvPr id="7" name="object 7"/>
          <p:cNvSpPr txBox="1"/>
          <p:nvPr/>
        </p:nvSpPr>
        <p:spPr>
          <a:xfrm>
            <a:off x="450723" y="5131689"/>
            <a:ext cx="2064385" cy="660400"/>
          </a:xfrm>
          <a:prstGeom prst="rect">
            <a:avLst/>
          </a:prstGeom>
          <a:solidFill>
            <a:srgbClr val="4AACC5"/>
          </a:solidFill>
          <a:ln w="25146">
            <a:solidFill>
              <a:srgbClr val="FFFFFF"/>
            </a:solidFill>
          </a:ln>
        </p:spPr>
        <p:txBody>
          <a:bodyPr vert="horz" wrap="square" lIns="0" tIns="149860" rIns="0" bIns="0" rtlCol="0">
            <a:spAutoFit/>
          </a:bodyPr>
          <a:lstStyle/>
          <a:p>
            <a:pPr marL="121285">
              <a:lnSpc>
                <a:spcPct val="100000"/>
              </a:lnSpc>
              <a:spcBef>
                <a:spcPts val="1180"/>
              </a:spcBef>
            </a:pPr>
            <a:r>
              <a:rPr sz="2000" b="1" spc="-5" dirty="0">
                <a:solidFill>
                  <a:srgbClr val="FFFFFF"/>
                </a:solidFill>
                <a:latin typeface="Goudy Old Style"/>
                <a:cs typeface="Goudy Old Style"/>
              </a:rPr>
              <a:t>File-based</a:t>
            </a:r>
            <a:r>
              <a:rPr sz="2000" b="1" spc="-35" dirty="0">
                <a:solidFill>
                  <a:srgbClr val="FFFFFF"/>
                </a:solidFill>
                <a:latin typeface="Goudy Old Style"/>
                <a:cs typeface="Goudy Old Style"/>
              </a:rPr>
              <a:t> </a:t>
            </a:r>
            <a:r>
              <a:rPr sz="2000" b="1" spc="-10" dirty="0">
                <a:solidFill>
                  <a:srgbClr val="FFFFFF"/>
                </a:solidFill>
                <a:latin typeface="Goudy Old Style"/>
                <a:cs typeface="Goudy Old Style"/>
              </a:rPr>
              <a:t>systems</a:t>
            </a:r>
            <a:endParaRPr sz="2000">
              <a:latin typeface="Goudy Old Style"/>
              <a:cs typeface="Goudy Old Style"/>
            </a:endParaRPr>
          </a:p>
        </p:txBody>
      </p:sp>
      <p:sp>
        <p:nvSpPr>
          <p:cNvPr id="8" name="object 8"/>
          <p:cNvSpPr txBox="1"/>
          <p:nvPr/>
        </p:nvSpPr>
        <p:spPr>
          <a:xfrm>
            <a:off x="6673215" y="5131689"/>
            <a:ext cx="2014220" cy="660400"/>
          </a:xfrm>
          <a:prstGeom prst="rect">
            <a:avLst/>
          </a:prstGeom>
          <a:solidFill>
            <a:srgbClr val="4AACC5"/>
          </a:solidFill>
          <a:ln w="25146">
            <a:solidFill>
              <a:srgbClr val="FFFFFF"/>
            </a:solidFill>
          </a:ln>
        </p:spPr>
        <p:txBody>
          <a:bodyPr vert="horz" wrap="square" lIns="0" tIns="149225" rIns="0" bIns="0" rtlCol="0">
            <a:spAutoFit/>
          </a:bodyPr>
          <a:lstStyle/>
          <a:p>
            <a:pPr marL="133350">
              <a:lnSpc>
                <a:spcPct val="100000"/>
              </a:lnSpc>
              <a:spcBef>
                <a:spcPts val="1175"/>
              </a:spcBef>
            </a:pPr>
            <a:r>
              <a:rPr sz="2000" b="1" spc="-5" dirty="0">
                <a:solidFill>
                  <a:srgbClr val="FFFFFF"/>
                </a:solidFill>
                <a:latin typeface="Goudy Old Style"/>
                <a:cs typeface="Goudy Old Style"/>
              </a:rPr>
              <a:t>Database</a:t>
            </a:r>
            <a:r>
              <a:rPr sz="2000" b="1" spc="-35" dirty="0">
                <a:solidFill>
                  <a:srgbClr val="FFFFFF"/>
                </a:solidFill>
                <a:latin typeface="Goudy Old Style"/>
                <a:cs typeface="Goudy Old Style"/>
              </a:rPr>
              <a:t> </a:t>
            </a:r>
            <a:r>
              <a:rPr sz="2000" b="1" spc="-10" dirty="0">
                <a:solidFill>
                  <a:srgbClr val="FFFFFF"/>
                </a:solidFill>
                <a:latin typeface="Goudy Old Style"/>
                <a:cs typeface="Goudy Old Style"/>
              </a:rPr>
              <a:t>systems</a:t>
            </a:r>
            <a:endParaRPr sz="2000">
              <a:latin typeface="Goudy Old Style"/>
              <a:cs typeface="Goudy Old Style"/>
            </a:endParaRPr>
          </a:p>
        </p:txBody>
      </p:sp>
      <p:sp>
        <p:nvSpPr>
          <p:cNvPr id="9" name="object 9"/>
          <p:cNvSpPr txBox="1"/>
          <p:nvPr/>
        </p:nvSpPr>
        <p:spPr>
          <a:xfrm>
            <a:off x="2819780" y="3485007"/>
            <a:ext cx="3581400" cy="1238250"/>
          </a:xfrm>
          <a:prstGeom prst="rect">
            <a:avLst/>
          </a:prstGeom>
          <a:solidFill>
            <a:srgbClr val="DAAF00"/>
          </a:solidFill>
          <a:ln w="25146">
            <a:solidFill>
              <a:srgbClr val="E7E7E7"/>
            </a:solidFill>
          </a:ln>
        </p:spPr>
        <p:txBody>
          <a:bodyPr vert="horz" wrap="square" lIns="0" tIns="219710" rIns="0" bIns="0" rtlCol="0">
            <a:spAutoFit/>
          </a:bodyPr>
          <a:lstStyle/>
          <a:p>
            <a:pPr marL="279400" marR="7620" indent="-267970">
              <a:lnSpc>
                <a:spcPts val="3040"/>
              </a:lnSpc>
              <a:spcBef>
                <a:spcPts val="1730"/>
              </a:spcBef>
            </a:pPr>
            <a:r>
              <a:rPr sz="2800" spc="-40" dirty="0">
                <a:solidFill>
                  <a:srgbClr val="FFFFFF"/>
                </a:solidFill>
                <a:latin typeface="Goudy Old Style"/>
                <a:cs typeface="Goudy Old Style"/>
              </a:rPr>
              <a:t>Two </a:t>
            </a:r>
            <a:r>
              <a:rPr sz="2800" spc="-10" dirty="0">
                <a:solidFill>
                  <a:srgbClr val="FFFFFF"/>
                </a:solidFill>
                <a:latin typeface="Goudy Old Style"/>
                <a:cs typeface="Goudy Old Style"/>
              </a:rPr>
              <a:t>different </a:t>
            </a:r>
            <a:r>
              <a:rPr sz="2800" spc="-15" dirty="0">
                <a:solidFill>
                  <a:srgbClr val="FFFFFF"/>
                </a:solidFill>
                <a:latin typeface="Goudy Old Style"/>
                <a:cs typeface="Goudy Old Style"/>
              </a:rPr>
              <a:t>approaches  </a:t>
            </a:r>
            <a:r>
              <a:rPr sz="2800" spc="-5" dirty="0">
                <a:solidFill>
                  <a:srgbClr val="FFFFFF"/>
                </a:solidFill>
                <a:latin typeface="Goudy Old Style"/>
                <a:cs typeface="Goudy Old Style"/>
              </a:rPr>
              <a:t>of </a:t>
            </a:r>
            <a:r>
              <a:rPr sz="2800" dirty="0">
                <a:solidFill>
                  <a:srgbClr val="FFFFFF"/>
                </a:solidFill>
                <a:latin typeface="Goudy Old Style"/>
                <a:cs typeface="Goudy Old Style"/>
              </a:rPr>
              <a:t>managing </a:t>
            </a:r>
            <a:r>
              <a:rPr sz="2800" spc="10" dirty="0">
                <a:solidFill>
                  <a:srgbClr val="FFFFFF"/>
                </a:solidFill>
                <a:latin typeface="Goudy Old Style"/>
                <a:cs typeface="Goudy Old Style"/>
              </a:rPr>
              <a:t>data</a:t>
            </a:r>
            <a:r>
              <a:rPr sz="2800" spc="-55" dirty="0">
                <a:solidFill>
                  <a:srgbClr val="FFFFFF"/>
                </a:solidFill>
                <a:latin typeface="Goudy Old Style"/>
                <a:cs typeface="Goudy Old Style"/>
              </a:rPr>
              <a:t> </a:t>
            </a:r>
            <a:r>
              <a:rPr sz="2800" spc="-15" dirty="0">
                <a:solidFill>
                  <a:srgbClr val="FFFFFF"/>
                </a:solidFill>
                <a:latin typeface="Goudy Old Style"/>
                <a:cs typeface="Goudy Old Style"/>
              </a:rPr>
              <a:t>are:</a:t>
            </a:r>
            <a:endParaRPr sz="2800">
              <a:latin typeface="Goudy Old Style"/>
              <a:cs typeface="Goudy Old Style"/>
            </a:endParaRPr>
          </a:p>
        </p:txBody>
      </p:sp>
      <p:sp>
        <p:nvSpPr>
          <p:cNvPr id="10" name="object 10"/>
          <p:cNvSpPr/>
          <p:nvPr/>
        </p:nvSpPr>
        <p:spPr>
          <a:xfrm>
            <a:off x="4165472" y="4866513"/>
            <a:ext cx="2508250" cy="385445"/>
          </a:xfrm>
          <a:custGeom>
            <a:avLst/>
            <a:gdLst/>
            <a:ahLst/>
            <a:cxnLst/>
            <a:rect l="l" t="t" r="r" b="b"/>
            <a:pathLst>
              <a:path w="2508250" h="385445">
                <a:moveTo>
                  <a:pt x="0" y="0"/>
                </a:moveTo>
                <a:lnTo>
                  <a:pt x="2328926" y="0"/>
                </a:lnTo>
                <a:lnTo>
                  <a:pt x="2328926" y="385191"/>
                </a:lnTo>
                <a:lnTo>
                  <a:pt x="2508123" y="385191"/>
                </a:lnTo>
              </a:path>
            </a:pathLst>
          </a:custGeom>
          <a:ln w="25145">
            <a:solidFill>
              <a:srgbClr val="4AACC5"/>
            </a:solidFill>
          </a:ln>
        </p:spPr>
        <p:txBody>
          <a:bodyPr wrap="square" lIns="0" tIns="0" rIns="0" bIns="0" rtlCol="0"/>
          <a:lstStyle/>
          <a:p>
            <a:endParaRPr/>
          </a:p>
        </p:txBody>
      </p:sp>
      <p:sp>
        <p:nvSpPr>
          <p:cNvPr id="12" name="object 12"/>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5</a:t>
            </a:fld>
            <a:endParaRPr sz="1200"/>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3667125" cy="635635"/>
          </a:xfrm>
          <a:prstGeom prst="rect">
            <a:avLst/>
          </a:prstGeom>
        </p:spPr>
        <p:txBody>
          <a:bodyPr vert="horz" wrap="square" lIns="0" tIns="12700" rIns="0" bIns="0" rtlCol="0">
            <a:spAutoFit/>
          </a:bodyPr>
          <a:lstStyle/>
          <a:p>
            <a:pPr marL="12700">
              <a:lnSpc>
                <a:spcPct val="100000"/>
              </a:lnSpc>
              <a:spcBef>
                <a:spcPts val="100"/>
              </a:spcBef>
            </a:pPr>
            <a:r>
              <a:rPr sz="4000" b="0" spc="-5" dirty="0">
                <a:latin typeface="Goudy Old Style"/>
                <a:cs typeface="Goudy Old Style"/>
              </a:rPr>
              <a:t>File-based</a:t>
            </a:r>
            <a:r>
              <a:rPr sz="4000" b="0" spc="-40" dirty="0">
                <a:latin typeface="Goudy Old Style"/>
                <a:cs typeface="Goudy Old Style"/>
              </a:rPr>
              <a:t> </a:t>
            </a:r>
            <a:r>
              <a:rPr sz="4000" b="0" spc="-10" dirty="0">
                <a:latin typeface="Goudy Old Style"/>
                <a:cs typeface="Goudy Old Style"/>
              </a:rPr>
              <a:t>Systems</a:t>
            </a:r>
            <a:endParaRPr sz="4000">
              <a:latin typeface="Goudy Old Style"/>
              <a:cs typeface="Goudy Old Style"/>
            </a:endParaRPr>
          </a:p>
        </p:txBody>
      </p:sp>
      <p:pic>
        <p:nvPicPr>
          <p:cNvPr id="3" name="object 3"/>
          <p:cNvPicPr/>
          <p:nvPr/>
        </p:nvPicPr>
        <p:blipFill>
          <a:blip r:embed="rId3" cstate="print"/>
          <a:stretch>
            <a:fillRect/>
          </a:stretch>
        </p:blipFill>
        <p:spPr>
          <a:xfrm>
            <a:off x="339090" y="1123937"/>
            <a:ext cx="8234933" cy="919746"/>
          </a:xfrm>
          <a:prstGeom prst="rect">
            <a:avLst/>
          </a:prstGeom>
        </p:spPr>
      </p:pic>
      <p:pic>
        <p:nvPicPr>
          <p:cNvPr id="4" name="object 4"/>
          <p:cNvPicPr/>
          <p:nvPr/>
        </p:nvPicPr>
        <p:blipFill>
          <a:blip r:embed="rId4" cstate="print"/>
          <a:stretch>
            <a:fillRect/>
          </a:stretch>
        </p:blipFill>
        <p:spPr>
          <a:xfrm>
            <a:off x="339090" y="2114537"/>
            <a:ext cx="8234933" cy="843546"/>
          </a:xfrm>
          <a:prstGeom prst="rect">
            <a:avLst/>
          </a:prstGeom>
        </p:spPr>
      </p:pic>
      <p:pic>
        <p:nvPicPr>
          <p:cNvPr id="5" name="object 5"/>
          <p:cNvPicPr/>
          <p:nvPr/>
        </p:nvPicPr>
        <p:blipFill>
          <a:blip r:embed="rId5" cstate="print"/>
          <a:stretch>
            <a:fillRect/>
          </a:stretch>
        </p:blipFill>
        <p:spPr>
          <a:xfrm>
            <a:off x="339090" y="3105150"/>
            <a:ext cx="8234933" cy="919733"/>
          </a:xfrm>
          <a:prstGeom prst="rect">
            <a:avLst/>
          </a:prstGeom>
        </p:spPr>
      </p:pic>
      <p:sp>
        <p:nvSpPr>
          <p:cNvPr id="6" name="object 6"/>
          <p:cNvSpPr txBox="1"/>
          <p:nvPr/>
        </p:nvSpPr>
        <p:spPr>
          <a:xfrm>
            <a:off x="514095" y="1262379"/>
            <a:ext cx="7414259" cy="2576195"/>
          </a:xfrm>
          <a:prstGeom prst="rect">
            <a:avLst/>
          </a:prstGeom>
        </p:spPr>
        <p:txBody>
          <a:bodyPr vert="horz" wrap="square" lIns="0" tIns="43815" rIns="0" bIns="0" rtlCol="0">
            <a:spAutoFit/>
          </a:bodyPr>
          <a:lstStyle/>
          <a:p>
            <a:pPr marL="12700" marR="5080">
              <a:lnSpc>
                <a:spcPts val="1939"/>
              </a:lnSpc>
              <a:spcBef>
                <a:spcPts val="345"/>
              </a:spcBef>
            </a:pPr>
            <a:r>
              <a:rPr sz="1800" spc="-5" dirty="0">
                <a:solidFill>
                  <a:srgbClr val="FFFFFF"/>
                </a:solidFill>
                <a:latin typeface="Goudy Old Style"/>
                <a:cs typeface="Goudy Old Style"/>
              </a:rPr>
              <a:t>In </a:t>
            </a:r>
            <a:r>
              <a:rPr sz="1800" dirty="0">
                <a:solidFill>
                  <a:srgbClr val="FFFFFF"/>
                </a:solidFill>
                <a:latin typeface="Goudy Old Style"/>
                <a:cs typeface="Goudy Old Style"/>
              </a:rPr>
              <a:t>a file-based </a:t>
            </a:r>
            <a:r>
              <a:rPr sz="1800" spc="-5" dirty="0">
                <a:solidFill>
                  <a:srgbClr val="FFFFFF"/>
                </a:solidFill>
                <a:latin typeface="Goudy Old Style"/>
                <a:cs typeface="Goudy Old Style"/>
              </a:rPr>
              <a:t>system, </a:t>
            </a:r>
            <a:r>
              <a:rPr sz="1800" spc="5" dirty="0">
                <a:solidFill>
                  <a:srgbClr val="FFFFFF"/>
                </a:solidFill>
                <a:latin typeface="Goudy Old Style"/>
                <a:cs typeface="Goudy Old Style"/>
              </a:rPr>
              <a:t>data </a:t>
            </a:r>
            <a:r>
              <a:rPr sz="1800" dirty="0">
                <a:solidFill>
                  <a:srgbClr val="FFFFFF"/>
                </a:solidFill>
                <a:latin typeface="Goudy Old Style"/>
                <a:cs typeface="Goudy Old Style"/>
              </a:rPr>
              <a:t>is </a:t>
            </a:r>
            <a:r>
              <a:rPr sz="1800" spc="-15" dirty="0">
                <a:solidFill>
                  <a:srgbClr val="FFFFFF"/>
                </a:solidFill>
                <a:latin typeface="Goudy Old Style"/>
                <a:cs typeface="Goudy Old Style"/>
              </a:rPr>
              <a:t>stored </a:t>
            </a:r>
            <a:r>
              <a:rPr sz="1800" dirty="0">
                <a:solidFill>
                  <a:srgbClr val="FFFFFF"/>
                </a:solidFill>
                <a:latin typeface="Goudy Old Style"/>
                <a:cs typeface="Goudy Old Style"/>
              </a:rPr>
              <a:t>in </a:t>
            </a:r>
            <a:r>
              <a:rPr sz="1800" spc="-10" dirty="0">
                <a:solidFill>
                  <a:srgbClr val="FFFFFF"/>
                </a:solidFill>
                <a:latin typeface="Goudy Old Style"/>
                <a:cs typeface="Goudy Old Style"/>
              </a:rPr>
              <a:t>discrete </a:t>
            </a:r>
            <a:r>
              <a:rPr sz="1800" dirty="0">
                <a:solidFill>
                  <a:srgbClr val="FFFFFF"/>
                </a:solidFill>
                <a:latin typeface="Goudy Old Style"/>
                <a:cs typeface="Goudy Old Style"/>
              </a:rPr>
              <a:t>files </a:t>
            </a:r>
            <a:r>
              <a:rPr sz="1800" spc="-5" dirty="0">
                <a:solidFill>
                  <a:srgbClr val="FFFFFF"/>
                </a:solidFill>
                <a:latin typeface="Goudy Old Style"/>
                <a:cs typeface="Goudy Old Style"/>
              </a:rPr>
              <a:t>and </a:t>
            </a:r>
            <a:r>
              <a:rPr sz="1800" dirty="0">
                <a:solidFill>
                  <a:srgbClr val="FFFFFF"/>
                </a:solidFill>
                <a:latin typeface="Goudy Old Style"/>
                <a:cs typeface="Goudy Old Style"/>
              </a:rPr>
              <a:t>a collection </a:t>
            </a:r>
            <a:r>
              <a:rPr sz="1800" spc="-5" dirty="0">
                <a:solidFill>
                  <a:srgbClr val="FFFFFF"/>
                </a:solidFill>
                <a:latin typeface="Goudy Old Style"/>
                <a:cs typeface="Goudy Old Style"/>
              </a:rPr>
              <a:t>of </a:t>
            </a:r>
            <a:r>
              <a:rPr sz="1800" spc="-10" dirty="0">
                <a:solidFill>
                  <a:srgbClr val="FFFFFF"/>
                </a:solidFill>
                <a:latin typeface="Goudy Old Style"/>
                <a:cs typeface="Goudy Old Style"/>
              </a:rPr>
              <a:t>such </a:t>
            </a:r>
            <a:r>
              <a:rPr sz="1800" dirty="0">
                <a:solidFill>
                  <a:srgbClr val="FFFFFF"/>
                </a:solidFill>
                <a:latin typeface="Goudy Old Style"/>
                <a:cs typeface="Goudy Old Style"/>
              </a:rPr>
              <a:t>files is  </a:t>
            </a:r>
            <a:r>
              <a:rPr sz="1800" spc="-10" dirty="0">
                <a:solidFill>
                  <a:srgbClr val="FFFFFF"/>
                </a:solidFill>
                <a:latin typeface="Goudy Old Style"/>
                <a:cs typeface="Goudy Old Style"/>
              </a:rPr>
              <a:t>stored </a:t>
            </a:r>
            <a:r>
              <a:rPr sz="1800" spc="-5" dirty="0">
                <a:solidFill>
                  <a:srgbClr val="FFFFFF"/>
                </a:solidFill>
                <a:latin typeface="Goudy Old Style"/>
                <a:cs typeface="Goudy Old Style"/>
              </a:rPr>
              <a:t>on </a:t>
            </a:r>
            <a:r>
              <a:rPr sz="1800" dirty="0">
                <a:solidFill>
                  <a:srgbClr val="FFFFFF"/>
                </a:solidFill>
                <a:latin typeface="Goudy Old Style"/>
                <a:cs typeface="Goudy Old Style"/>
              </a:rPr>
              <a:t>a</a:t>
            </a:r>
            <a:r>
              <a:rPr sz="1800" spc="5" dirty="0">
                <a:solidFill>
                  <a:srgbClr val="FFFFFF"/>
                </a:solidFill>
                <a:latin typeface="Goudy Old Style"/>
                <a:cs typeface="Goudy Old Style"/>
              </a:rPr>
              <a:t> </a:t>
            </a:r>
            <a:r>
              <a:rPr sz="1800" spc="-5" dirty="0">
                <a:solidFill>
                  <a:srgbClr val="FFFFFF"/>
                </a:solidFill>
                <a:latin typeface="Goudy Old Style"/>
                <a:cs typeface="Goudy Old Style"/>
              </a:rPr>
              <a:t>computer</a:t>
            </a:r>
            <a:endParaRPr sz="1800">
              <a:latin typeface="Goudy Old Style"/>
              <a:cs typeface="Goudy Old Style"/>
            </a:endParaRPr>
          </a:p>
          <a:p>
            <a:pPr>
              <a:lnSpc>
                <a:spcPct val="100000"/>
              </a:lnSpc>
            </a:pPr>
            <a:endParaRPr sz="2000">
              <a:latin typeface="Goudy Old Style"/>
              <a:cs typeface="Goudy Old Style"/>
            </a:endParaRPr>
          </a:p>
          <a:p>
            <a:pPr>
              <a:lnSpc>
                <a:spcPct val="100000"/>
              </a:lnSpc>
            </a:pPr>
            <a:endParaRPr sz="1600">
              <a:latin typeface="Goudy Old Style"/>
              <a:cs typeface="Goudy Old Style"/>
            </a:endParaRPr>
          </a:p>
          <a:p>
            <a:pPr marL="19050">
              <a:lnSpc>
                <a:spcPct val="100000"/>
              </a:lnSpc>
              <a:spcBef>
                <a:spcPts val="5"/>
              </a:spcBef>
            </a:pPr>
            <a:r>
              <a:rPr sz="1800" dirty="0">
                <a:solidFill>
                  <a:srgbClr val="FFFFFF"/>
                </a:solidFill>
                <a:latin typeface="Goudy Old Style"/>
                <a:cs typeface="Goudy Old Style"/>
              </a:rPr>
              <a:t>Files </a:t>
            </a:r>
            <a:r>
              <a:rPr sz="1800" spc="-5" dirty="0">
                <a:solidFill>
                  <a:srgbClr val="FFFFFF"/>
                </a:solidFill>
                <a:latin typeface="Goudy Old Style"/>
                <a:cs typeface="Goudy Old Style"/>
              </a:rPr>
              <a:t>of </a:t>
            </a:r>
            <a:r>
              <a:rPr sz="1800" spc="-15" dirty="0">
                <a:solidFill>
                  <a:srgbClr val="FFFFFF"/>
                </a:solidFill>
                <a:latin typeface="Goudy Old Style"/>
                <a:cs typeface="Goudy Old Style"/>
              </a:rPr>
              <a:t>archived </a:t>
            </a:r>
            <a:r>
              <a:rPr sz="1800" dirty="0">
                <a:solidFill>
                  <a:srgbClr val="FFFFFF"/>
                </a:solidFill>
                <a:latin typeface="Goudy Old Style"/>
                <a:cs typeface="Goudy Old Style"/>
              </a:rPr>
              <a:t>data </a:t>
            </a:r>
            <a:r>
              <a:rPr sz="1800" spc="-20" dirty="0">
                <a:solidFill>
                  <a:srgbClr val="FFFFFF"/>
                </a:solidFill>
                <a:latin typeface="Goudy Old Style"/>
                <a:cs typeface="Goudy Old Style"/>
              </a:rPr>
              <a:t>were </a:t>
            </a:r>
            <a:r>
              <a:rPr sz="1800" dirty="0">
                <a:solidFill>
                  <a:srgbClr val="FFFFFF"/>
                </a:solidFill>
                <a:latin typeface="Goudy Old Style"/>
                <a:cs typeface="Goudy Old Style"/>
              </a:rPr>
              <a:t>called</a:t>
            </a:r>
            <a:r>
              <a:rPr sz="1800" spc="15" dirty="0">
                <a:solidFill>
                  <a:srgbClr val="FFFFFF"/>
                </a:solidFill>
                <a:latin typeface="Goudy Old Style"/>
                <a:cs typeface="Goudy Old Style"/>
              </a:rPr>
              <a:t> </a:t>
            </a:r>
            <a:r>
              <a:rPr sz="1800" dirty="0">
                <a:solidFill>
                  <a:srgbClr val="FFFFFF"/>
                </a:solidFill>
                <a:latin typeface="Goudy Old Style"/>
                <a:cs typeface="Goudy Old Style"/>
              </a:rPr>
              <a:t>tables</a:t>
            </a:r>
            <a:endParaRPr sz="1800">
              <a:latin typeface="Goudy Old Style"/>
              <a:cs typeface="Goudy Old Style"/>
            </a:endParaRPr>
          </a:p>
          <a:p>
            <a:pPr>
              <a:lnSpc>
                <a:spcPct val="100000"/>
              </a:lnSpc>
            </a:pPr>
            <a:endParaRPr sz="2000">
              <a:latin typeface="Goudy Old Style"/>
              <a:cs typeface="Goudy Old Style"/>
            </a:endParaRPr>
          </a:p>
          <a:p>
            <a:pPr marL="17780" marR="1250315">
              <a:lnSpc>
                <a:spcPct val="125000"/>
              </a:lnSpc>
              <a:spcBef>
                <a:spcPts val="1670"/>
              </a:spcBef>
            </a:pPr>
            <a:r>
              <a:rPr sz="1800" spc="-15" dirty="0">
                <a:solidFill>
                  <a:srgbClr val="FFFFFF"/>
                </a:solidFill>
                <a:latin typeface="Goudy Old Style"/>
                <a:cs typeface="Goudy Old Style"/>
              </a:rPr>
              <a:t>Rows </a:t>
            </a:r>
            <a:r>
              <a:rPr sz="1800" dirty="0">
                <a:solidFill>
                  <a:srgbClr val="FFFFFF"/>
                </a:solidFill>
                <a:latin typeface="Goudy Old Style"/>
                <a:cs typeface="Goudy Old Style"/>
              </a:rPr>
              <a:t>in the table </a:t>
            </a:r>
            <a:r>
              <a:rPr sz="1800" spc="-15" dirty="0">
                <a:solidFill>
                  <a:srgbClr val="FFFFFF"/>
                </a:solidFill>
                <a:latin typeface="Goudy Old Style"/>
                <a:cs typeface="Goudy Old Style"/>
              </a:rPr>
              <a:t>were </a:t>
            </a:r>
            <a:r>
              <a:rPr sz="1800" dirty="0">
                <a:solidFill>
                  <a:srgbClr val="FFFFFF"/>
                </a:solidFill>
                <a:latin typeface="Goudy Old Style"/>
                <a:cs typeface="Goudy Old Style"/>
              </a:rPr>
              <a:t>called </a:t>
            </a:r>
            <a:r>
              <a:rPr sz="1800" b="1" spc="-10" dirty="0">
                <a:solidFill>
                  <a:srgbClr val="FF0000"/>
                </a:solidFill>
                <a:latin typeface="Goudy Old Style"/>
                <a:cs typeface="Goudy Old Style"/>
              </a:rPr>
              <a:t>records </a:t>
            </a:r>
            <a:r>
              <a:rPr sz="1800" spc="-5" dirty="0">
                <a:solidFill>
                  <a:srgbClr val="FFFFFF"/>
                </a:solidFill>
                <a:latin typeface="Goudy Old Style"/>
                <a:cs typeface="Goudy Old Style"/>
              </a:rPr>
              <a:t>and </a:t>
            </a:r>
            <a:r>
              <a:rPr sz="1800" dirty="0">
                <a:solidFill>
                  <a:srgbClr val="FFFFFF"/>
                </a:solidFill>
                <a:latin typeface="Goudy Old Style"/>
                <a:cs typeface="Goudy Old Style"/>
              </a:rPr>
              <a:t>columns </a:t>
            </a:r>
            <a:r>
              <a:rPr sz="1800" spc="-15" dirty="0">
                <a:solidFill>
                  <a:srgbClr val="FFFFFF"/>
                </a:solidFill>
                <a:latin typeface="Goudy Old Style"/>
                <a:cs typeface="Goudy Old Style"/>
              </a:rPr>
              <a:t>were </a:t>
            </a:r>
            <a:r>
              <a:rPr sz="1800" dirty="0">
                <a:solidFill>
                  <a:srgbClr val="FFFFFF"/>
                </a:solidFill>
                <a:latin typeface="Goudy Old Style"/>
                <a:cs typeface="Goudy Old Style"/>
              </a:rPr>
              <a:t>called </a:t>
            </a:r>
            <a:r>
              <a:rPr sz="1800" dirty="0">
                <a:solidFill>
                  <a:srgbClr val="FF0000"/>
                </a:solidFill>
                <a:latin typeface="Goudy Old Style"/>
                <a:cs typeface="Goudy Old Style"/>
              </a:rPr>
              <a:t>fields  </a:t>
            </a:r>
            <a:r>
              <a:rPr sz="1800" spc="-5" dirty="0">
                <a:latin typeface="Goudy Old Style"/>
                <a:cs typeface="Goudy Old Style"/>
              </a:rPr>
              <a:t>Example:</a:t>
            </a:r>
            <a:endParaRPr sz="1800">
              <a:latin typeface="Goudy Old Style"/>
              <a:cs typeface="Goudy Old Style"/>
            </a:endParaRPr>
          </a:p>
        </p:txBody>
      </p:sp>
      <p:sp>
        <p:nvSpPr>
          <p:cNvPr id="9" name="object 9"/>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6</a:t>
            </a:fld>
            <a:endParaRPr sz="1200"/>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graphicFrame>
        <p:nvGraphicFramePr>
          <p:cNvPr id="7" name="object 7"/>
          <p:cNvGraphicFramePr>
            <a:graphicFrameLocks noGrp="1"/>
          </p:cNvGraphicFramePr>
          <p:nvPr/>
        </p:nvGraphicFramePr>
        <p:xfrm>
          <a:off x="1136650" y="4260850"/>
          <a:ext cx="6857365" cy="1896795"/>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1354455">
                  <a:extLst>
                    <a:ext uri="{9D8B030D-6E8A-4147-A177-3AD203B41FA5}">
                      <a16:colId xmlns:a16="http://schemas.microsoft.com/office/drawing/2014/main" val="20001"/>
                    </a:ext>
                  </a:extLst>
                </a:gridCol>
                <a:gridCol w="2624455">
                  <a:extLst>
                    <a:ext uri="{9D8B030D-6E8A-4147-A177-3AD203B41FA5}">
                      <a16:colId xmlns:a16="http://schemas.microsoft.com/office/drawing/2014/main" val="20002"/>
                    </a:ext>
                  </a:extLst>
                </a:gridCol>
                <a:gridCol w="1354455">
                  <a:extLst>
                    <a:ext uri="{9D8B030D-6E8A-4147-A177-3AD203B41FA5}">
                      <a16:colId xmlns:a16="http://schemas.microsoft.com/office/drawing/2014/main" val="20003"/>
                    </a:ext>
                  </a:extLst>
                </a:gridCol>
              </a:tblGrid>
              <a:tr h="533400">
                <a:tc>
                  <a:txBody>
                    <a:bodyPr/>
                    <a:lstStyle/>
                    <a:p>
                      <a:pPr marL="301625">
                        <a:lnSpc>
                          <a:spcPct val="100000"/>
                        </a:lnSpc>
                        <a:spcBef>
                          <a:spcPts val="1115"/>
                        </a:spcBef>
                      </a:pPr>
                      <a:r>
                        <a:rPr sz="1600" b="1" spc="-5" dirty="0">
                          <a:solidFill>
                            <a:srgbClr val="FFFFFF"/>
                          </a:solidFill>
                          <a:latin typeface="Goudy Old Style"/>
                          <a:cs typeface="Goudy Old Style"/>
                        </a:rPr>
                        <a:t>First</a:t>
                      </a:r>
                      <a:r>
                        <a:rPr sz="1600" b="1" spc="-20" dirty="0">
                          <a:solidFill>
                            <a:srgbClr val="FFFFFF"/>
                          </a:solidFill>
                          <a:latin typeface="Goudy Old Style"/>
                          <a:cs typeface="Goudy Old Style"/>
                        </a:rPr>
                        <a:t> </a:t>
                      </a:r>
                      <a:r>
                        <a:rPr sz="1600" b="1" spc="-10" dirty="0">
                          <a:solidFill>
                            <a:srgbClr val="FFFFFF"/>
                          </a:solidFill>
                          <a:latin typeface="Goudy Old Style"/>
                          <a:cs typeface="Goudy Old Style"/>
                        </a:rPr>
                        <a:t>Name</a:t>
                      </a:r>
                      <a:endParaRPr sz="1600">
                        <a:latin typeface="Goudy Old Style"/>
                        <a:cs typeface="Goudy Old Style"/>
                      </a:endParaRPr>
                    </a:p>
                  </a:txBody>
                  <a:tcPr marL="0" marR="0" marT="1416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6375E"/>
                    </a:solidFill>
                  </a:tcPr>
                </a:tc>
                <a:tc>
                  <a:txBody>
                    <a:bodyPr/>
                    <a:lstStyle/>
                    <a:p>
                      <a:pPr marL="238760">
                        <a:lnSpc>
                          <a:spcPct val="100000"/>
                        </a:lnSpc>
                        <a:spcBef>
                          <a:spcPts val="1115"/>
                        </a:spcBef>
                      </a:pPr>
                      <a:r>
                        <a:rPr sz="1600" b="1" spc="-5" dirty="0">
                          <a:solidFill>
                            <a:srgbClr val="FFFFFF"/>
                          </a:solidFill>
                          <a:latin typeface="Goudy Old Style"/>
                          <a:cs typeface="Goudy Old Style"/>
                        </a:rPr>
                        <a:t>Last</a:t>
                      </a:r>
                      <a:r>
                        <a:rPr sz="1600" b="1" spc="-20" dirty="0">
                          <a:solidFill>
                            <a:srgbClr val="FFFFFF"/>
                          </a:solidFill>
                          <a:latin typeface="Goudy Old Style"/>
                          <a:cs typeface="Goudy Old Style"/>
                        </a:rPr>
                        <a:t> </a:t>
                      </a:r>
                      <a:r>
                        <a:rPr sz="1600" b="1" spc="-10" dirty="0">
                          <a:solidFill>
                            <a:srgbClr val="FFFFFF"/>
                          </a:solidFill>
                          <a:latin typeface="Goudy Old Style"/>
                          <a:cs typeface="Goudy Old Style"/>
                        </a:rPr>
                        <a:t>Name</a:t>
                      </a:r>
                      <a:endParaRPr sz="1600">
                        <a:latin typeface="Goudy Old Style"/>
                        <a:cs typeface="Goudy Old Style"/>
                      </a:endParaRPr>
                    </a:p>
                  </a:txBody>
                  <a:tcPr marL="0" marR="0" marT="1416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6375E"/>
                    </a:solidFill>
                  </a:tcPr>
                </a:tc>
                <a:tc>
                  <a:txBody>
                    <a:bodyPr/>
                    <a:lstStyle/>
                    <a:p>
                      <a:pPr algn="ctr">
                        <a:lnSpc>
                          <a:spcPct val="100000"/>
                        </a:lnSpc>
                        <a:spcBef>
                          <a:spcPts val="1115"/>
                        </a:spcBef>
                      </a:pPr>
                      <a:r>
                        <a:rPr sz="1600" b="1" spc="-10" dirty="0">
                          <a:solidFill>
                            <a:srgbClr val="FFFFFF"/>
                          </a:solidFill>
                          <a:latin typeface="Goudy Old Style"/>
                          <a:cs typeface="Goudy Old Style"/>
                        </a:rPr>
                        <a:t>Address</a:t>
                      </a:r>
                      <a:endParaRPr sz="1600">
                        <a:latin typeface="Goudy Old Style"/>
                        <a:cs typeface="Goudy Old Style"/>
                      </a:endParaRPr>
                    </a:p>
                  </a:txBody>
                  <a:tcPr marL="0" marR="0" marT="1416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6375E"/>
                    </a:solidFill>
                  </a:tcPr>
                </a:tc>
                <a:tc>
                  <a:txBody>
                    <a:bodyPr/>
                    <a:lstStyle/>
                    <a:p>
                      <a:pPr marL="407034">
                        <a:lnSpc>
                          <a:spcPct val="100000"/>
                        </a:lnSpc>
                        <a:spcBef>
                          <a:spcPts val="1115"/>
                        </a:spcBef>
                      </a:pPr>
                      <a:r>
                        <a:rPr sz="1600" b="1" spc="-5" dirty="0">
                          <a:solidFill>
                            <a:srgbClr val="FFFFFF"/>
                          </a:solidFill>
                          <a:latin typeface="Goudy Old Style"/>
                          <a:cs typeface="Goudy Old Style"/>
                        </a:rPr>
                        <a:t>Phone</a:t>
                      </a:r>
                      <a:endParaRPr sz="1600">
                        <a:latin typeface="Goudy Old Style"/>
                        <a:cs typeface="Goudy Old Style"/>
                      </a:endParaRPr>
                    </a:p>
                  </a:txBody>
                  <a:tcPr marL="0" marR="0" marT="14160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6375E"/>
                    </a:solidFill>
                  </a:tcPr>
                </a:tc>
                <a:extLst>
                  <a:ext uri="{0D108BD9-81ED-4DB2-BD59-A6C34878D82A}">
                    <a16:rowId xmlns:a16="http://schemas.microsoft.com/office/drawing/2014/main" val="10000"/>
                  </a:ext>
                </a:extLst>
              </a:tr>
              <a:tr h="406400">
                <a:tc>
                  <a:txBody>
                    <a:bodyPr/>
                    <a:lstStyle/>
                    <a:p>
                      <a:pPr marL="91440">
                        <a:lnSpc>
                          <a:spcPct val="100000"/>
                        </a:lnSpc>
                        <a:spcBef>
                          <a:spcPts val="680"/>
                        </a:spcBef>
                      </a:pPr>
                      <a:r>
                        <a:rPr sz="1400" spc="-10" dirty="0">
                          <a:latin typeface="Goudy Old Style"/>
                          <a:cs typeface="Goudy Old Style"/>
                        </a:rPr>
                        <a:t>Eric</a:t>
                      </a:r>
                      <a:endParaRPr sz="1400">
                        <a:latin typeface="Goudy Old Style"/>
                        <a:cs typeface="Goudy Old Style"/>
                      </a:endParaRPr>
                    </a:p>
                  </a:txBody>
                  <a:tcPr marL="0" marR="0" marT="863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7D2DF"/>
                    </a:solidFill>
                  </a:tcPr>
                </a:tc>
                <a:tc>
                  <a:txBody>
                    <a:bodyPr/>
                    <a:lstStyle/>
                    <a:p>
                      <a:pPr marL="91440">
                        <a:lnSpc>
                          <a:spcPct val="100000"/>
                        </a:lnSpc>
                        <a:spcBef>
                          <a:spcPts val="680"/>
                        </a:spcBef>
                      </a:pPr>
                      <a:r>
                        <a:rPr sz="1400" spc="-5" dirty="0">
                          <a:latin typeface="Goudy Old Style"/>
                          <a:cs typeface="Goudy Old Style"/>
                        </a:rPr>
                        <a:t>David</a:t>
                      </a:r>
                      <a:endParaRPr sz="1400">
                        <a:latin typeface="Goudy Old Style"/>
                        <a:cs typeface="Goudy Old Style"/>
                      </a:endParaRPr>
                    </a:p>
                  </a:txBody>
                  <a:tcPr marL="0" marR="0" marT="863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7D2DF"/>
                    </a:solidFill>
                  </a:tcPr>
                </a:tc>
                <a:tc>
                  <a:txBody>
                    <a:bodyPr/>
                    <a:lstStyle/>
                    <a:p>
                      <a:pPr marL="91440">
                        <a:lnSpc>
                          <a:spcPct val="100000"/>
                        </a:lnSpc>
                        <a:spcBef>
                          <a:spcPts val="680"/>
                        </a:spcBef>
                      </a:pPr>
                      <a:r>
                        <a:rPr sz="1400" spc="-5" dirty="0">
                          <a:latin typeface="Goudy Old Style"/>
                          <a:cs typeface="Goudy Old Style"/>
                          <a:hlinkClick r:id="rId6"/>
                        </a:rPr>
                        <a:t>ericd@eff.org</a:t>
                      </a:r>
                      <a:endParaRPr sz="1400">
                        <a:latin typeface="Goudy Old Style"/>
                        <a:cs typeface="Goudy Old Style"/>
                      </a:endParaRPr>
                    </a:p>
                  </a:txBody>
                  <a:tcPr marL="0" marR="0" marT="8636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7D2DF"/>
                    </a:solidFill>
                  </a:tcPr>
                </a:tc>
                <a:tc>
                  <a:txBody>
                    <a:bodyPr/>
                    <a:lstStyle/>
                    <a:p>
                      <a:pPr marL="92075">
                        <a:lnSpc>
                          <a:spcPct val="100000"/>
                        </a:lnSpc>
                        <a:spcBef>
                          <a:spcPts val="960"/>
                        </a:spcBef>
                      </a:pPr>
                      <a:r>
                        <a:rPr sz="1300" spc="-5" dirty="0">
                          <a:latin typeface="Goudy Old Style"/>
                          <a:cs typeface="Goudy Old Style"/>
                        </a:rPr>
                        <a:t>213-456-0987</a:t>
                      </a:r>
                      <a:endParaRPr sz="1300">
                        <a:latin typeface="Goudy Old Style"/>
                        <a:cs typeface="Goudy Old Style"/>
                      </a:endParaRPr>
                    </a:p>
                  </a:txBody>
                  <a:tcPr marL="0" marR="0" marT="1219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7D2DF"/>
                    </a:solidFill>
                  </a:tcPr>
                </a:tc>
                <a:extLst>
                  <a:ext uri="{0D108BD9-81ED-4DB2-BD59-A6C34878D82A}">
                    <a16:rowId xmlns:a16="http://schemas.microsoft.com/office/drawing/2014/main" val="10001"/>
                  </a:ext>
                </a:extLst>
              </a:tr>
              <a:tr h="406400">
                <a:tc>
                  <a:txBody>
                    <a:bodyPr/>
                    <a:lstStyle/>
                    <a:p>
                      <a:pPr marL="91440">
                        <a:lnSpc>
                          <a:spcPct val="100000"/>
                        </a:lnSpc>
                        <a:spcBef>
                          <a:spcPts val="680"/>
                        </a:spcBef>
                      </a:pPr>
                      <a:r>
                        <a:rPr sz="1400" spc="-5" dirty="0">
                          <a:latin typeface="Goudy Old Style"/>
                          <a:cs typeface="Goudy Old Style"/>
                        </a:rPr>
                        <a:t>Selena</a:t>
                      </a:r>
                      <a:endParaRPr sz="1400">
                        <a:latin typeface="Goudy Old Style"/>
                        <a:cs typeface="Goudy Old Style"/>
                      </a:endParaRPr>
                    </a:p>
                  </a:txBody>
                  <a:tcPr marL="0" marR="0" marT="863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EAEF"/>
                    </a:solidFill>
                  </a:tcPr>
                </a:tc>
                <a:tc>
                  <a:txBody>
                    <a:bodyPr/>
                    <a:lstStyle/>
                    <a:p>
                      <a:pPr marL="91440">
                        <a:lnSpc>
                          <a:spcPct val="100000"/>
                        </a:lnSpc>
                        <a:spcBef>
                          <a:spcPts val="680"/>
                        </a:spcBef>
                      </a:pPr>
                      <a:r>
                        <a:rPr sz="1400" spc="-5" dirty="0">
                          <a:latin typeface="Goudy Old Style"/>
                          <a:cs typeface="Goudy Old Style"/>
                        </a:rPr>
                        <a:t>Sol</a:t>
                      </a:r>
                      <a:endParaRPr sz="1400">
                        <a:latin typeface="Goudy Old Style"/>
                        <a:cs typeface="Goudy Old Style"/>
                      </a:endParaRPr>
                    </a:p>
                  </a:txBody>
                  <a:tcPr marL="0" marR="0" marT="8636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EAEF"/>
                    </a:solidFill>
                  </a:tcPr>
                </a:tc>
                <a:tc>
                  <a:txBody>
                    <a:bodyPr/>
                    <a:lstStyle/>
                    <a:p>
                      <a:pPr marL="91440">
                        <a:lnSpc>
                          <a:spcPct val="100000"/>
                        </a:lnSpc>
                        <a:spcBef>
                          <a:spcPts val="160"/>
                        </a:spcBef>
                      </a:pPr>
                      <a:r>
                        <a:rPr sz="1300" spc="10" dirty="0">
                          <a:latin typeface="Goudy Old Style"/>
                          <a:cs typeface="Goudy Old Style"/>
                          <a:hlinkClick r:id="rId7"/>
                        </a:rPr>
                        <a:t>selena@eff.org</a:t>
                      </a:r>
                      <a:endParaRPr sz="1300">
                        <a:latin typeface="Goudy Old Style"/>
                        <a:cs typeface="Goudy Old Style"/>
                      </a:endParaRPr>
                    </a:p>
                  </a:txBody>
                  <a:tcPr marL="0" marR="0" marT="203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EAEF"/>
                    </a:solidFill>
                  </a:tcPr>
                </a:tc>
                <a:tc>
                  <a:txBody>
                    <a:bodyPr/>
                    <a:lstStyle/>
                    <a:p>
                      <a:pPr marL="92075">
                        <a:lnSpc>
                          <a:spcPct val="100000"/>
                        </a:lnSpc>
                        <a:spcBef>
                          <a:spcPts val="960"/>
                        </a:spcBef>
                      </a:pPr>
                      <a:r>
                        <a:rPr sz="1300" spc="-10" dirty="0">
                          <a:latin typeface="Goudy Old Style"/>
                          <a:cs typeface="Goudy Old Style"/>
                        </a:rPr>
                        <a:t>987-765-4321</a:t>
                      </a:r>
                      <a:endParaRPr sz="1300">
                        <a:latin typeface="Goudy Old Style"/>
                        <a:cs typeface="Goudy Old Style"/>
                      </a:endParaRPr>
                    </a:p>
                  </a:txBody>
                  <a:tcPr marL="0" marR="0" marT="1219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EAEF"/>
                    </a:solidFill>
                  </a:tcPr>
                </a:tc>
                <a:extLst>
                  <a:ext uri="{0D108BD9-81ED-4DB2-BD59-A6C34878D82A}">
                    <a16:rowId xmlns:a16="http://schemas.microsoft.com/office/drawing/2014/main" val="10002"/>
                  </a:ext>
                </a:extLst>
              </a:tr>
              <a:tr h="550595">
                <a:tc>
                  <a:txBody>
                    <a:bodyPr/>
                    <a:lstStyle/>
                    <a:p>
                      <a:pPr marL="91440">
                        <a:lnSpc>
                          <a:spcPct val="100000"/>
                        </a:lnSpc>
                        <a:spcBef>
                          <a:spcPts val="1250"/>
                        </a:spcBef>
                      </a:pPr>
                      <a:r>
                        <a:rPr sz="1400" spc="-10" dirty="0">
                          <a:latin typeface="Goudy Old Style"/>
                          <a:cs typeface="Goudy Old Style"/>
                        </a:rPr>
                        <a:t>Jordan</a:t>
                      </a:r>
                      <a:endParaRPr sz="1400">
                        <a:latin typeface="Goudy Old Style"/>
                        <a:cs typeface="Goudy Old Style"/>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7D2DF"/>
                    </a:solidFill>
                  </a:tcPr>
                </a:tc>
                <a:tc>
                  <a:txBody>
                    <a:bodyPr/>
                    <a:lstStyle/>
                    <a:p>
                      <a:pPr marL="91440">
                        <a:lnSpc>
                          <a:spcPct val="100000"/>
                        </a:lnSpc>
                        <a:spcBef>
                          <a:spcPts val="1250"/>
                        </a:spcBef>
                      </a:pPr>
                      <a:r>
                        <a:rPr sz="1400" spc="-10" dirty="0">
                          <a:latin typeface="Goudy Old Style"/>
                          <a:cs typeface="Goudy Old Style"/>
                        </a:rPr>
                        <a:t>Lim</a:t>
                      </a:r>
                      <a:endParaRPr sz="1400">
                        <a:latin typeface="Goudy Old Style"/>
                        <a:cs typeface="Goudy Old Style"/>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7D2DF"/>
                    </a:solidFill>
                  </a:tcPr>
                </a:tc>
                <a:tc>
                  <a:txBody>
                    <a:bodyPr/>
                    <a:lstStyle/>
                    <a:p>
                      <a:pPr marL="91440">
                        <a:lnSpc>
                          <a:spcPct val="100000"/>
                        </a:lnSpc>
                        <a:spcBef>
                          <a:spcPts val="1250"/>
                        </a:spcBef>
                      </a:pPr>
                      <a:r>
                        <a:rPr sz="1400" spc="-10" dirty="0">
                          <a:latin typeface="Goudy Old Style"/>
                          <a:cs typeface="Goudy Old Style"/>
                          <a:hlinkClick r:id="rId8"/>
                        </a:rPr>
                        <a:t>nadroj@otherdomain.com</a:t>
                      </a:r>
                      <a:endParaRPr sz="1400">
                        <a:latin typeface="Goudy Old Style"/>
                        <a:cs typeface="Goudy Old Style"/>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7D2DF"/>
                    </a:solidFill>
                  </a:tcPr>
                </a:tc>
                <a:tc>
                  <a:txBody>
                    <a:bodyPr/>
                    <a:lstStyle/>
                    <a:p>
                      <a:pPr marL="92075">
                        <a:lnSpc>
                          <a:spcPct val="100000"/>
                        </a:lnSpc>
                        <a:spcBef>
                          <a:spcPts val="1250"/>
                        </a:spcBef>
                      </a:pPr>
                      <a:r>
                        <a:rPr sz="1400" spc="-10" dirty="0">
                          <a:latin typeface="Goudy Old Style"/>
                          <a:cs typeface="Goudy Old Style"/>
                        </a:rPr>
                        <a:t>222-3456-123</a:t>
                      </a:r>
                      <a:endParaRPr sz="1400">
                        <a:latin typeface="Goudy Old Style"/>
                        <a:cs typeface="Goudy Old Style"/>
                      </a:endParaRPr>
                    </a:p>
                  </a:txBody>
                  <a:tcPr marL="0" marR="0" marT="1587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7D2D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7166609" cy="635635"/>
          </a:xfrm>
          <a:prstGeom prst="rect">
            <a:avLst/>
          </a:prstGeom>
        </p:spPr>
        <p:txBody>
          <a:bodyPr vert="horz" wrap="square" lIns="0" tIns="12700" rIns="0" bIns="0" rtlCol="0">
            <a:spAutoFit/>
          </a:bodyPr>
          <a:lstStyle/>
          <a:p>
            <a:pPr marL="12700">
              <a:lnSpc>
                <a:spcPct val="100000"/>
              </a:lnSpc>
              <a:spcBef>
                <a:spcPts val="100"/>
              </a:spcBef>
            </a:pPr>
            <a:r>
              <a:rPr sz="4000" b="0" dirty="0">
                <a:latin typeface="Goudy Old Style"/>
                <a:cs typeface="Goudy Old Style"/>
              </a:rPr>
              <a:t>Disadvantages </a:t>
            </a:r>
            <a:r>
              <a:rPr sz="4000" b="0" spc="-5" dirty="0">
                <a:latin typeface="Goudy Old Style"/>
                <a:cs typeface="Goudy Old Style"/>
              </a:rPr>
              <a:t>of </a:t>
            </a:r>
            <a:r>
              <a:rPr sz="4000" b="0" dirty="0">
                <a:latin typeface="Goudy Old Style"/>
                <a:cs typeface="Goudy Old Style"/>
              </a:rPr>
              <a:t>File-based</a:t>
            </a:r>
            <a:r>
              <a:rPr sz="4000" b="0" spc="-90" dirty="0">
                <a:latin typeface="Goudy Old Style"/>
                <a:cs typeface="Goudy Old Style"/>
              </a:rPr>
              <a:t> </a:t>
            </a:r>
            <a:r>
              <a:rPr sz="4000" b="0" spc="-10" dirty="0">
                <a:latin typeface="Goudy Old Style"/>
                <a:cs typeface="Goudy Old Style"/>
              </a:rPr>
              <a:t>Systems</a:t>
            </a:r>
            <a:endParaRPr sz="4000">
              <a:latin typeface="Goudy Old Style"/>
              <a:cs typeface="Goudy Old Style"/>
            </a:endParaRPr>
          </a:p>
        </p:txBody>
      </p:sp>
      <p:grpSp>
        <p:nvGrpSpPr>
          <p:cNvPr id="3" name="object 3"/>
          <p:cNvGrpSpPr/>
          <p:nvPr/>
        </p:nvGrpSpPr>
        <p:grpSpPr>
          <a:xfrm>
            <a:off x="292608" y="1221486"/>
            <a:ext cx="6788150" cy="554355"/>
            <a:chOff x="292608" y="1221486"/>
            <a:chExt cx="6788150" cy="554355"/>
          </a:xfrm>
        </p:grpSpPr>
        <p:sp>
          <p:nvSpPr>
            <p:cNvPr id="4" name="object 4"/>
            <p:cNvSpPr/>
            <p:nvPr/>
          </p:nvSpPr>
          <p:spPr>
            <a:xfrm>
              <a:off x="305181" y="1234059"/>
              <a:ext cx="6762750" cy="528955"/>
            </a:xfrm>
            <a:custGeom>
              <a:avLst/>
              <a:gdLst/>
              <a:ahLst/>
              <a:cxnLst/>
              <a:rect l="l" t="t" r="r" b="b"/>
              <a:pathLst>
                <a:path w="6762750" h="528955">
                  <a:moveTo>
                    <a:pt x="6661784" y="0"/>
                  </a:moveTo>
                  <a:lnTo>
                    <a:pt x="100990" y="0"/>
                  </a:lnTo>
                  <a:lnTo>
                    <a:pt x="61679" y="6931"/>
                  </a:lnTo>
                  <a:lnTo>
                    <a:pt x="29578" y="25828"/>
                  </a:lnTo>
                  <a:lnTo>
                    <a:pt x="7935" y="53846"/>
                  </a:lnTo>
                  <a:lnTo>
                    <a:pt x="0" y="88137"/>
                  </a:lnTo>
                  <a:lnTo>
                    <a:pt x="0" y="440690"/>
                  </a:lnTo>
                  <a:lnTo>
                    <a:pt x="7935" y="474981"/>
                  </a:lnTo>
                  <a:lnTo>
                    <a:pt x="29578" y="502999"/>
                  </a:lnTo>
                  <a:lnTo>
                    <a:pt x="61679" y="521896"/>
                  </a:lnTo>
                  <a:lnTo>
                    <a:pt x="100990" y="528828"/>
                  </a:lnTo>
                  <a:lnTo>
                    <a:pt x="6661784" y="528828"/>
                  </a:lnTo>
                  <a:lnTo>
                    <a:pt x="6701081" y="521896"/>
                  </a:lnTo>
                  <a:lnTo>
                    <a:pt x="6733174" y="502999"/>
                  </a:lnTo>
                  <a:lnTo>
                    <a:pt x="6754814" y="474981"/>
                  </a:lnTo>
                  <a:lnTo>
                    <a:pt x="6762750" y="440690"/>
                  </a:lnTo>
                  <a:lnTo>
                    <a:pt x="6762750" y="88137"/>
                  </a:lnTo>
                  <a:lnTo>
                    <a:pt x="6754814" y="53846"/>
                  </a:lnTo>
                  <a:lnTo>
                    <a:pt x="6733174" y="25828"/>
                  </a:lnTo>
                  <a:lnTo>
                    <a:pt x="6701081" y="6931"/>
                  </a:lnTo>
                  <a:lnTo>
                    <a:pt x="6661784" y="0"/>
                  </a:lnTo>
                  <a:close/>
                </a:path>
              </a:pathLst>
            </a:custGeom>
            <a:solidFill>
              <a:srgbClr val="4AACC5"/>
            </a:solidFill>
          </p:spPr>
          <p:txBody>
            <a:bodyPr wrap="square" lIns="0" tIns="0" rIns="0" bIns="0" rtlCol="0"/>
            <a:lstStyle/>
            <a:p>
              <a:endParaRPr/>
            </a:p>
          </p:txBody>
        </p:sp>
        <p:sp>
          <p:nvSpPr>
            <p:cNvPr id="5" name="object 5"/>
            <p:cNvSpPr/>
            <p:nvPr/>
          </p:nvSpPr>
          <p:spPr>
            <a:xfrm>
              <a:off x="305181" y="1234059"/>
              <a:ext cx="6762750" cy="528955"/>
            </a:xfrm>
            <a:custGeom>
              <a:avLst/>
              <a:gdLst/>
              <a:ahLst/>
              <a:cxnLst/>
              <a:rect l="l" t="t" r="r" b="b"/>
              <a:pathLst>
                <a:path w="6762750" h="528955">
                  <a:moveTo>
                    <a:pt x="0" y="88137"/>
                  </a:moveTo>
                  <a:lnTo>
                    <a:pt x="7935" y="53846"/>
                  </a:lnTo>
                  <a:lnTo>
                    <a:pt x="29578" y="25828"/>
                  </a:lnTo>
                  <a:lnTo>
                    <a:pt x="61679" y="6931"/>
                  </a:lnTo>
                  <a:lnTo>
                    <a:pt x="100990" y="0"/>
                  </a:lnTo>
                  <a:lnTo>
                    <a:pt x="6661784" y="0"/>
                  </a:lnTo>
                  <a:lnTo>
                    <a:pt x="6701081" y="6931"/>
                  </a:lnTo>
                  <a:lnTo>
                    <a:pt x="6733174" y="25828"/>
                  </a:lnTo>
                  <a:lnTo>
                    <a:pt x="6754814" y="53846"/>
                  </a:lnTo>
                  <a:lnTo>
                    <a:pt x="6762750" y="88137"/>
                  </a:lnTo>
                  <a:lnTo>
                    <a:pt x="6762750" y="440690"/>
                  </a:lnTo>
                  <a:lnTo>
                    <a:pt x="6754814" y="474981"/>
                  </a:lnTo>
                  <a:lnTo>
                    <a:pt x="6733174" y="502999"/>
                  </a:lnTo>
                  <a:lnTo>
                    <a:pt x="6701081" y="521896"/>
                  </a:lnTo>
                  <a:lnTo>
                    <a:pt x="6661784" y="528828"/>
                  </a:lnTo>
                  <a:lnTo>
                    <a:pt x="100990" y="528828"/>
                  </a:lnTo>
                  <a:lnTo>
                    <a:pt x="61679" y="521896"/>
                  </a:lnTo>
                  <a:lnTo>
                    <a:pt x="29578" y="502999"/>
                  </a:lnTo>
                  <a:lnTo>
                    <a:pt x="7935" y="474981"/>
                  </a:lnTo>
                  <a:lnTo>
                    <a:pt x="0" y="440690"/>
                  </a:lnTo>
                  <a:lnTo>
                    <a:pt x="0" y="88137"/>
                  </a:lnTo>
                  <a:close/>
                </a:path>
              </a:pathLst>
            </a:custGeom>
            <a:ln w="25146">
              <a:solidFill>
                <a:srgbClr val="FFFFFF"/>
              </a:solidFill>
            </a:ln>
          </p:spPr>
          <p:txBody>
            <a:bodyPr wrap="square" lIns="0" tIns="0" rIns="0" bIns="0" rtlCol="0"/>
            <a:lstStyle/>
            <a:p>
              <a:endParaRPr/>
            </a:p>
          </p:txBody>
        </p:sp>
      </p:grpSp>
      <p:grpSp>
        <p:nvGrpSpPr>
          <p:cNvPr id="6" name="object 6"/>
          <p:cNvGrpSpPr/>
          <p:nvPr/>
        </p:nvGrpSpPr>
        <p:grpSpPr>
          <a:xfrm>
            <a:off x="1102613" y="1886711"/>
            <a:ext cx="6225540" cy="554355"/>
            <a:chOff x="1102613" y="1886711"/>
            <a:chExt cx="6225540" cy="554355"/>
          </a:xfrm>
        </p:grpSpPr>
        <p:sp>
          <p:nvSpPr>
            <p:cNvPr id="7" name="object 7"/>
            <p:cNvSpPr/>
            <p:nvPr/>
          </p:nvSpPr>
          <p:spPr>
            <a:xfrm>
              <a:off x="1115186" y="1899284"/>
              <a:ext cx="6200775" cy="528955"/>
            </a:xfrm>
            <a:custGeom>
              <a:avLst/>
              <a:gdLst/>
              <a:ahLst/>
              <a:cxnLst/>
              <a:rect l="l" t="t" r="r" b="b"/>
              <a:pathLst>
                <a:path w="6200775" h="528955">
                  <a:moveTo>
                    <a:pt x="6107811" y="0"/>
                  </a:moveTo>
                  <a:lnTo>
                    <a:pt x="92595" y="0"/>
                  </a:lnTo>
                  <a:lnTo>
                    <a:pt x="56551" y="6931"/>
                  </a:lnTo>
                  <a:lnTo>
                    <a:pt x="27119" y="25828"/>
                  </a:lnTo>
                  <a:lnTo>
                    <a:pt x="7276" y="53846"/>
                  </a:lnTo>
                  <a:lnTo>
                    <a:pt x="0" y="88137"/>
                  </a:lnTo>
                  <a:lnTo>
                    <a:pt x="0" y="440690"/>
                  </a:lnTo>
                  <a:lnTo>
                    <a:pt x="7276" y="474981"/>
                  </a:lnTo>
                  <a:lnTo>
                    <a:pt x="27119" y="502999"/>
                  </a:lnTo>
                  <a:lnTo>
                    <a:pt x="56551" y="521896"/>
                  </a:lnTo>
                  <a:lnTo>
                    <a:pt x="92595" y="528828"/>
                  </a:lnTo>
                  <a:lnTo>
                    <a:pt x="6107811" y="528828"/>
                  </a:lnTo>
                  <a:lnTo>
                    <a:pt x="6143869" y="521896"/>
                  </a:lnTo>
                  <a:lnTo>
                    <a:pt x="6173295" y="502999"/>
                  </a:lnTo>
                  <a:lnTo>
                    <a:pt x="6193125" y="474981"/>
                  </a:lnTo>
                  <a:lnTo>
                    <a:pt x="6200394" y="440690"/>
                  </a:lnTo>
                  <a:lnTo>
                    <a:pt x="6200394" y="88137"/>
                  </a:lnTo>
                  <a:lnTo>
                    <a:pt x="6193125" y="53846"/>
                  </a:lnTo>
                  <a:lnTo>
                    <a:pt x="6173295" y="25828"/>
                  </a:lnTo>
                  <a:lnTo>
                    <a:pt x="6143869" y="6931"/>
                  </a:lnTo>
                  <a:lnTo>
                    <a:pt x="6107811" y="0"/>
                  </a:lnTo>
                  <a:close/>
                </a:path>
              </a:pathLst>
            </a:custGeom>
            <a:solidFill>
              <a:srgbClr val="48D1A2"/>
            </a:solidFill>
          </p:spPr>
          <p:txBody>
            <a:bodyPr wrap="square" lIns="0" tIns="0" rIns="0" bIns="0" rtlCol="0"/>
            <a:lstStyle/>
            <a:p>
              <a:endParaRPr/>
            </a:p>
          </p:txBody>
        </p:sp>
        <p:sp>
          <p:nvSpPr>
            <p:cNvPr id="8" name="object 8"/>
            <p:cNvSpPr/>
            <p:nvPr/>
          </p:nvSpPr>
          <p:spPr>
            <a:xfrm>
              <a:off x="1115186" y="1899284"/>
              <a:ext cx="6200775" cy="528955"/>
            </a:xfrm>
            <a:custGeom>
              <a:avLst/>
              <a:gdLst/>
              <a:ahLst/>
              <a:cxnLst/>
              <a:rect l="l" t="t" r="r" b="b"/>
              <a:pathLst>
                <a:path w="6200775" h="528955">
                  <a:moveTo>
                    <a:pt x="0" y="88137"/>
                  </a:moveTo>
                  <a:lnTo>
                    <a:pt x="7276" y="53846"/>
                  </a:lnTo>
                  <a:lnTo>
                    <a:pt x="27119" y="25828"/>
                  </a:lnTo>
                  <a:lnTo>
                    <a:pt x="56551" y="6931"/>
                  </a:lnTo>
                  <a:lnTo>
                    <a:pt x="92595" y="0"/>
                  </a:lnTo>
                  <a:lnTo>
                    <a:pt x="6107811" y="0"/>
                  </a:lnTo>
                  <a:lnTo>
                    <a:pt x="6143869" y="6931"/>
                  </a:lnTo>
                  <a:lnTo>
                    <a:pt x="6173295" y="25828"/>
                  </a:lnTo>
                  <a:lnTo>
                    <a:pt x="6193125" y="53846"/>
                  </a:lnTo>
                  <a:lnTo>
                    <a:pt x="6200394" y="88137"/>
                  </a:lnTo>
                  <a:lnTo>
                    <a:pt x="6200394" y="440690"/>
                  </a:lnTo>
                  <a:lnTo>
                    <a:pt x="6193125" y="474981"/>
                  </a:lnTo>
                  <a:lnTo>
                    <a:pt x="6173295" y="502999"/>
                  </a:lnTo>
                  <a:lnTo>
                    <a:pt x="6143869" y="521896"/>
                  </a:lnTo>
                  <a:lnTo>
                    <a:pt x="6107811" y="528828"/>
                  </a:lnTo>
                  <a:lnTo>
                    <a:pt x="92595" y="528828"/>
                  </a:lnTo>
                  <a:lnTo>
                    <a:pt x="56551" y="521896"/>
                  </a:lnTo>
                  <a:lnTo>
                    <a:pt x="27119" y="502999"/>
                  </a:lnTo>
                  <a:lnTo>
                    <a:pt x="7276" y="474981"/>
                  </a:lnTo>
                  <a:lnTo>
                    <a:pt x="0" y="440690"/>
                  </a:lnTo>
                  <a:lnTo>
                    <a:pt x="0" y="88137"/>
                  </a:lnTo>
                  <a:close/>
                </a:path>
              </a:pathLst>
            </a:custGeom>
            <a:ln w="25146">
              <a:solidFill>
                <a:srgbClr val="FFFFFF"/>
              </a:solidFill>
            </a:ln>
          </p:spPr>
          <p:txBody>
            <a:bodyPr wrap="square" lIns="0" tIns="0" rIns="0" bIns="0" rtlCol="0"/>
            <a:lstStyle/>
            <a:p>
              <a:endParaRPr/>
            </a:p>
          </p:txBody>
        </p:sp>
      </p:grpSp>
      <p:grpSp>
        <p:nvGrpSpPr>
          <p:cNvPr id="9" name="object 9"/>
          <p:cNvGrpSpPr/>
          <p:nvPr/>
        </p:nvGrpSpPr>
        <p:grpSpPr>
          <a:xfrm>
            <a:off x="1378458" y="2537460"/>
            <a:ext cx="6788150" cy="554355"/>
            <a:chOff x="1378458" y="2537460"/>
            <a:chExt cx="6788150" cy="554355"/>
          </a:xfrm>
        </p:grpSpPr>
        <p:sp>
          <p:nvSpPr>
            <p:cNvPr id="10" name="object 10"/>
            <p:cNvSpPr/>
            <p:nvPr/>
          </p:nvSpPr>
          <p:spPr>
            <a:xfrm>
              <a:off x="1391031" y="2550033"/>
              <a:ext cx="6762750" cy="528955"/>
            </a:xfrm>
            <a:custGeom>
              <a:avLst/>
              <a:gdLst/>
              <a:ahLst/>
              <a:cxnLst/>
              <a:rect l="l" t="t" r="r" b="b"/>
              <a:pathLst>
                <a:path w="6762750" h="528955">
                  <a:moveTo>
                    <a:pt x="6661784" y="0"/>
                  </a:moveTo>
                  <a:lnTo>
                    <a:pt x="100965" y="0"/>
                  </a:lnTo>
                  <a:lnTo>
                    <a:pt x="61668" y="6931"/>
                  </a:lnTo>
                  <a:lnTo>
                    <a:pt x="29575" y="25828"/>
                  </a:lnTo>
                  <a:lnTo>
                    <a:pt x="7935" y="53846"/>
                  </a:lnTo>
                  <a:lnTo>
                    <a:pt x="0" y="88137"/>
                  </a:lnTo>
                  <a:lnTo>
                    <a:pt x="0" y="440690"/>
                  </a:lnTo>
                  <a:lnTo>
                    <a:pt x="7935" y="474981"/>
                  </a:lnTo>
                  <a:lnTo>
                    <a:pt x="29575" y="502999"/>
                  </a:lnTo>
                  <a:lnTo>
                    <a:pt x="61668" y="521896"/>
                  </a:lnTo>
                  <a:lnTo>
                    <a:pt x="100965" y="528828"/>
                  </a:lnTo>
                  <a:lnTo>
                    <a:pt x="6661784" y="528828"/>
                  </a:lnTo>
                  <a:lnTo>
                    <a:pt x="6701081" y="521896"/>
                  </a:lnTo>
                  <a:lnTo>
                    <a:pt x="6733174" y="502999"/>
                  </a:lnTo>
                  <a:lnTo>
                    <a:pt x="6754814" y="474981"/>
                  </a:lnTo>
                  <a:lnTo>
                    <a:pt x="6762750" y="440690"/>
                  </a:lnTo>
                  <a:lnTo>
                    <a:pt x="6762750" y="88137"/>
                  </a:lnTo>
                  <a:lnTo>
                    <a:pt x="6754814" y="53846"/>
                  </a:lnTo>
                  <a:lnTo>
                    <a:pt x="6733174" y="25828"/>
                  </a:lnTo>
                  <a:lnTo>
                    <a:pt x="6701081" y="6931"/>
                  </a:lnTo>
                  <a:lnTo>
                    <a:pt x="6661784" y="0"/>
                  </a:lnTo>
                  <a:close/>
                </a:path>
              </a:pathLst>
            </a:custGeom>
            <a:solidFill>
              <a:srgbClr val="46DC56"/>
            </a:solidFill>
          </p:spPr>
          <p:txBody>
            <a:bodyPr wrap="square" lIns="0" tIns="0" rIns="0" bIns="0" rtlCol="0"/>
            <a:lstStyle/>
            <a:p>
              <a:endParaRPr/>
            </a:p>
          </p:txBody>
        </p:sp>
        <p:sp>
          <p:nvSpPr>
            <p:cNvPr id="11" name="object 11"/>
            <p:cNvSpPr/>
            <p:nvPr/>
          </p:nvSpPr>
          <p:spPr>
            <a:xfrm>
              <a:off x="1391031" y="2550033"/>
              <a:ext cx="6762750" cy="528955"/>
            </a:xfrm>
            <a:custGeom>
              <a:avLst/>
              <a:gdLst/>
              <a:ahLst/>
              <a:cxnLst/>
              <a:rect l="l" t="t" r="r" b="b"/>
              <a:pathLst>
                <a:path w="6762750" h="528955">
                  <a:moveTo>
                    <a:pt x="0" y="88137"/>
                  </a:moveTo>
                  <a:lnTo>
                    <a:pt x="7935" y="53846"/>
                  </a:lnTo>
                  <a:lnTo>
                    <a:pt x="29575" y="25828"/>
                  </a:lnTo>
                  <a:lnTo>
                    <a:pt x="61668" y="6931"/>
                  </a:lnTo>
                  <a:lnTo>
                    <a:pt x="100965" y="0"/>
                  </a:lnTo>
                  <a:lnTo>
                    <a:pt x="6661784" y="0"/>
                  </a:lnTo>
                  <a:lnTo>
                    <a:pt x="6701081" y="6931"/>
                  </a:lnTo>
                  <a:lnTo>
                    <a:pt x="6733174" y="25828"/>
                  </a:lnTo>
                  <a:lnTo>
                    <a:pt x="6754814" y="53846"/>
                  </a:lnTo>
                  <a:lnTo>
                    <a:pt x="6762750" y="88137"/>
                  </a:lnTo>
                  <a:lnTo>
                    <a:pt x="6762750" y="440690"/>
                  </a:lnTo>
                  <a:lnTo>
                    <a:pt x="6754814" y="474981"/>
                  </a:lnTo>
                  <a:lnTo>
                    <a:pt x="6733174" y="502999"/>
                  </a:lnTo>
                  <a:lnTo>
                    <a:pt x="6701081" y="521896"/>
                  </a:lnTo>
                  <a:lnTo>
                    <a:pt x="6661784" y="528828"/>
                  </a:lnTo>
                  <a:lnTo>
                    <a:pt x="100965" y="528828"/>
                  </a:lnTo>
                  <a:lnTo>
                    <a:pt x="61668" y="521896"/>
                  </a:lnTo>
                  <a:lnTo>
                    <a:pt x="29575" y="502999"/>
                  </a:lnTo>
                  <a:lnTo>
                    <a:pt x="7935" y="474981"/>
                  </a:lnTo>
                  <a:lnTo>
                    <a:pt x="0" y="440690"/>
                  </a:lnTo>
                  <a:lnTo>
                    <a:pt x="0" y="88137"/>
                  </a:lnTo>
                  <a:close/>
                </a:path>
              </a:pathLst>
            </a:custGeom>
            <a:ln w="25146">
              <a:solidFill>
                <a:srgbClr val="FFFFFF"/>
              </a:solidFill>
            </a:ln>
          </p:spPr>
          <p:txBody>
            <a:bodyPr wrap="square" lIns="0" tIns="0" rIns="0" bIns="0" rtlCol="0"/>
            <a:lstStyle/>
            <a:p>
              <a:endParaRPr/>
            </a:p>
          </p:txBody>
        </p:sp>
      </p:grpSp>
      <p:grpSp>
        <p:nvGrpSpPr>
          <p:cNvPr id="12" name="object 12"/>
          <p:cNvGrpSpPr/>
          <p:nvPr/>
        </p:nvGrpSpPr>
        <p:grpSpPr>
          <a:xfrm>
            <a:off x="1664207" y="3169920"/>
            <a:ext cx="6788150" cy="554355"/>
            <a:chOff x="1664207" y="3169920"/>
            <a:chExt cx="6788150" cy="554355"/>
          </a:xfrm>
        </p:grpSpPr>
        <p:sp>
          <p:nvSpPr>
            <p:cNvPr id="13" name="object 13"/>
            <p:cNvSpPr/>
            <p:nvPr/>
          </p:nvSpPr>
          <p:spPr>
            <a:xfrm>
              <a:off x="1676780" y="3182493"/>
              <a:ext cx="6762750" cy="528955"/>
            </a:xfrm>
            <a:custGeom>
              <a:avLst/>
              <a:gdLst/>
              <a:ahLst/>
              <a:cxnLst/>
              <a:rect l="l" t="t" r="r" b="b"/>
              <a:pathLst>
                <a:path w="6762750" h="528954">
                  <a:moveTo>
                    <a:pt x="6661784" y="0"/>
                  </a:moveTo>
                  <a:lnTo>
                    <a:pt x="100965" y="0"/>
                  </a:lnTo>
                  <a:lnTo>
                    <a:pt x="61668" y="6931"/>
                  </a:lnTo>
                  <a:lnTo>
                    <a:pt x="29575" y="25828"/>
                  </a:lnTo>
                  <a:lnTo>
                    <a:pt x="7935" y="53846"/>
                  </a:lnTo>
                  <a:lnTo>
                    <a:pt x="0" y="88137"/>
                  </a:lnTo>
                  <a:lnTo>
                    <a:pt x="0" y="440690"/>
                  </a:lnTo>
                  <a:lnTo>
                    <a:pt x="7935" y="474981"/>
                  </a:lnTo>
                  <a:lnTo>
                    <a:pt x="29575" y="502999"/>
                  </a:lnTo>
                  <a:lnTo>
                    <a:pt x="61668" y="521896"/>
                  </a:lnTo>
                  <a:lnTo>
                    <a:pt x="100965" y="528828"/>
                  </a:lnTo>
                  <a:lnTo>
                    <a:pt x="6661784" y="528828"/>
                  </a:lnTo>
                  <a:lnTo>
                    <a:pt x="6701081" y="521896"/>
                  </a:lnTo>
                  <a:lnTo>
                    <a:pt x="6733174" y="502999"/>
                  </a:lnTo>
                  <a:lnTo>
                    <a:pt x="6754814" y="474981"/>
                  </a:lnTo>
                  <a:lnTo>
                    <a:pt x="6762750" y="440690"/>
                  </a:lnTo>
                  <a:lnTo>
                    <a:pt x="6762750" y="88137"/>
                  </a:lnTo>
                  <a:lnTo>
                    <a:pt x="6754814" y="53846"/>
                  </a:lnTo>
                  <a:lnTo>
                    <a:pt x="6733174" y="25828"/>
                  </a:lnTo>
                  <a:lnTo>
                    <a:pt x="6701081" y="6931"/>
                  </a:lnTo>
                  <a:lnTo>
                    <a:pt x="6661784" y="0"/>
                  </a:lnTo>
                  <a:close/>
                </a:path>
              </a:pathLst>
            </a:custGeom>
            <a:solidFill>
              <a:srgbClr val="8DE646"/>
            </a:solidFill>
          </p:spPr>
          <p:txBody>
            <a:bodyPr wrap="square" lIns="0" tIns="0" rIns="0" bIns="0" rtlCol="0"/>
            <a:lstStyle/>
            <a:p>
              <a:endParaRPr/>
            </a:p>
          </p:txBody>
        </p:sp>
        <p:sp>
          <p:nvSpPr>
            <p:cNvPr id="14" name="object 14"/>
            <p:cNvSpPr/>
            <p:nvPr/>
          </p:nvSpPr>
          <p:spPr>
            <a:xfrm>
              <a:off x="1676780" y="3182493"/>
              <a:ext cx="6762750" cy="528955"/>
            </a:xfrm>
            <a:custGeom>
              <a:avLst/>
              <a:gdLst/>
              <a:ahLst/>
              <a:cxnLst/>
              <a:rect l="l" t="t" r="r" b="b"/>
              <a:pathLst>
                <a:path w="6762750" h="528954">
                  <a:moveTo>
                    <a:pt x="0" y="88137"/>
                  </a:moveTo>
                  <a:lnTo>
                    <a:pt x="7935" y="53846"/>
                  </a:lnTo>
                  <a:lnTo>
                    <a:pt x="29575" y="25828"/>
                  </a:lnTo>
                  <a:lnTo>
                    <a:pt x="61668" y="6931"/>
                  </a:lnTo>
                  <a:lnTo>
                    <a:pt x="100965" y="0"/>
                  </a:lnTo>
                  <a:lnTo>
                    <a:pt x="6661784" y="0"/>
                  </a:lnTo>
                  <a:lnTo>
                    <a:pt x="6701081" y="6931"/>
                  </a:lnTo>
                  <a:lnTo>
                    <a:pt x="6733174" y="25828"/>
                  </a:lnTo>
                  <a:lnTo>
                    <a:pt x="6754814" y="53846"/>
                  </a:lnTo>
                  <a:lnTo>
                    <a:pt x="6762750" y="88137"/>
                  </a:lnTo>
                  <a:lnTo>
                    <a:pt x="6762750" y="440690"/>
                  </a:lnTo>
                  <a:lnTo>
                    <a:pt x="6754814" y="474981"/>
                  </a:lnTo>
                  <a:lnTo>
                    <a:pt x="6733174" y="502999"/>
                  </a:lnTo>
                  <a:lnTo>
                    <a:pt x="6701081" y="521896"/>
                  </a:lnTo>
                  <a:lnTo>
                    <a:pt x="6661784" y="528828"/>
                  </a:lnTo>
                  <a:lnTo>
                    <a:pt x="100965" y="528828"/>
                  </a:lnTo>
                  <a:lnTo>
                    <a:pt x="61668" y="521896"/>
                  </a:lnTo>
                  <a:lnTo>
                    <a:pt x="29575" y="502999"/>
                  </a:lnTo>
                  <a:lnTo>
                    <a:pt x="7935" y="474981"/>
                  </a:lnTo>
                  <a:lnTo>
                    <a:pt x="0" y="440690"/>
                  </a:lnTo>
                  <a:lnTo>
                    <a:pt x="0" y="88137"/>
                  </a:lnTo>
                  <a:close/>
                </a:path>
              </a:pathLst>
            </a:custGeom>
            <a:ln w="25146">
              <a:solidFill>
                <a:srgbClr val="FFFFFF"/>
              </a:solidFill>
            </a:ln>
          </p:spPr>
          <p:txBody>
            <a:bodyPr wrap="square" lIns="0" tIns="0" rIns="0" bIns="0" rtlCol="0"/>
            <a:lstStyle/>
            <a:p>
              <a:endParaRPr/>
            </a:p>
          </p:txBody>
        </p:sp>
      </p:grpSp>
      <p:grpSp>
        <p:nvGrpSpPr>
          <p:cNvPr id="15" name="object 15"/>
          <p:cNvGrpSpPr/>
          <p:nvPr/>
        </p:nvGrpSpPr>
        <p:grpSpPr>
          <a:xfrm>
            <a:off x="1911857" y="3898391"/>
            <a:ext cx="6788150" cy="554355"/>
            <a:chOff x="1911857" y="3898391"/>
            <a:chExt cx="6788150" cy="554355"/>
          </a:xfrm>
        </p:grpSpPr>
        <p:sp>
          <p:nvSpPr>
            <p:cNvPr id="16" name="object 16"/>
            <p:cNvSpPr/>
            <p:nvPr/>
          </p:nvSpPr>
          <p:spPr>
            <a:xfrm>
              <a:off x="1924430" y="3910964"/>
              <a:ext cx="6762750" cy="528955"/>
            </a:xfrm>
            <a:custGeom>
              <a:avLst/>
              <a:gdLst/>
              <a:ahLst/>
              <a:cxnLst/>
              <a:rect l="l" t="t" r="r" b="b"/>
              <a:pathLst>
                <a:path w="6762750" h="528954">
                  <a:moveTo>
                    <a:pt x="6661784" y="0"/>
                  </a:moveTo>
                  <a:lnTo>
                    <a:pt x="100965" y="0"/>
                  </a:lnTo>
                  <a:lnTo>
                    <a:pt x="61668" y="6931"/>
                  </a:lnTo>
                  <a:lnTo>
                    <a:pt x="29575" y="25828"/>
                  </a:lnTo>
                  <a:lnTo>
                    <a:pt x="7935" y="53846"/>
                  </a:lnTo>
                  <a:lnTo>
                    <a:pt x="0" y="88137"/>
                  </a:lnTo>
                  <a:lnTo>
                    <a:pt x="0" y="440690"/>
                  </a:lnTo>
                  <a:lnTo>
                    <a:pt x="7935" y="474981"/>
                  </a:lnTo>
                  <a:lnTo>
                    <a:pt x="29575" y="502999"/>
                  </a:lnTo>
                  <a:lnTo>
                    <a:pt x="61668" y="521896"/>
                  </a:lnTo>
                  <a:lnTo>
                    <a:pt x="100965" y="528828"/>
                  </a:lnTo>
                  <a:lnTo>
                    <a:pt x="6661784" y="528828"/>
                  </a:lnTo>
                  <a:lnTo>
                    <a:pt x="6701081" y="521896"/>
                  </a:lnTo>
                  <a:lnTo>
                    <a:pt x="6733174" y="502999"/>
                  </a:lnTo>
                  <a:lnTo>
                    <a:pt x="6754814" y="474981"/>
                  </a:lnTo>
                  <a:lnTo>
                    <a:pt x="6762750" y="440690"/>
                  </a:lnTo>
                  <a:lnTo>
                    <a:pt x="6762750" y="88137"/>
                  </a:lnTo>
                  <a:lnTo>
                    <a:pt x="6754814" y="53846"/>
                  </a:lnTo>
                  <a:lnTo>
                    <a:pt x="6733174" y="25828"/>
                  </a:lnTo>
                  <a:lnTo>
                    <a:pt x="6701081" y="6931"/>
                  </a:lnTo>
                  <a:lnTo>
                    <a:pt x="6661784" y="0"/>
                  </a:lnTo>
                  <a:close/>
                </a:path>
              </a:pathLst>
            </a:custGeom>
            <a:solidFill>
              <a:srgbClr val="EDEE46"/>
            </a:solidFill>
          </p:spPr>
          <p:txBody>
            <a:bodyPr wrap="square" lIns="0" tIns="0" rIns="0" bIns="0" rtlCol="0"/>
            <a:lstStyle/>
            <a:p>
              <a:endParaRPr/>
            </a:p>
          </p:txBody>
        </p:sp>
        <p:sp>
          <p:nvSpPr>
            <p:cNvPr id="17" name="object 17"/>
            <p:cNvSpPr/>
            <p:nvPr/>
          </p:nvSpPr>
          <p:spPr>
            <a:xfrm>
              <a:off x="1924430" y="3910964"/>
              <a:ext cx="6762750" cy="528955"/>
            </a:xfrm>
            <a:custGeom>
              <a:avLst/>
              <a:gdLst/>
              <a:ahLst/>
              <a:cxnLst/>
              <a:rect l="l" t="t" r="r" b="b"/>
              <a:pathLst>
                <a:path w="6762750" h="528954">
                  <a:moveTo>
                    <a:pt x="0" y="88137"/>
                  </a:moveTo>
                  <a:lnTo>
                    <a:pt x="7935" y="53846"/>
                  </a:lnTo>
                  <a:lnTo>
                    <a:pt x="29575" y="25828"/>
                  </a:lnTo>
                  <a:lnTo>
                    <a:pt x="61668" y="6931"/>
                  </a:lnTo>
                  <a:lnTo>
                    <a:pt x="100965" y="0"/>
                  </a:lnTo>
                  <a:lnTo>
                    <a:pt x="6661784" y="0"/>
                  </a:lnTo>
                  <a:lnTo>
                    <a:pt x="6701081" y="6931"/>
                  </a:lnTo>
                  <a:lnTo>
                    <a:pt x="6733174" y="25828"/>
                  </a:lnTo>
                  <a:lnTo>
                    <a:pt x="6754814" y="53846"/>
                  </a:lnTo>
                  <a:lnTo>
                    <a:pt x="6762750" y="88137"/>
                  </a:lnTo>
                  <a:lnTo>
                    <a:pt x="6762750" y="440690"/>
                  </a:lnTo>
                  <a:lnTo>
                    <a:pt x="6754814" y="474981"/>
                  </a:lnTo>
                  <a:lnTo>
                    <a:pt x="6733174" y="502999"/>
                  </a:lnTo>
                  <a:lnTo>
                    <a:pt x="6701081" y="521896"/>
                  </a:lnTo>
                  <a:lnTo>
                    <a:pt x="6661784" y="528828"/>
                  </a:lnTo>
                  <a:lnTo>
                    <a:pt x="100965" y="528828"/>
                  </a:lnTo>
                  <a:lnTo>
                    <a:pt x="61668" y="521896"/>
                  </a:lnTo>
                  <a:lnTo>
                    <a:pt x="29575" y="502999"/>
                  </a:lnTo>
                  <a:lnTo>
                    <a:pt x="7935" y="474981"/>
                  </a:lnTo>
                  <a:lnTo>
                    <a:pt x="0" y="440690"/>
                  </a:lnTo>
                  <a:lnTo>
                    <a:pt x="0" y="88137"/>
                  </a:lnTo>
                  <a:close/>
                </a:path>
              </a:pathLst>
            </a:custGeom>
            <a:ln w="25146">
              <a:solidFill>
                <a:srgbClr val="FFFFFF"/>
              </a:solidFill>
            </a:ln>
          </p:spPr>
          <p:txBody>
            <a:bodyPr wrap="square" lIns="0" tIns="0" rIns="0" bIns="0" rtlCol="0"/>
            <a:lstStyle/>
            <a:p>
              <a:endParaRPr/>
            </a:p>
          </p:txBody>
        </p:sp>
      </p:grpSp>
      <p:grpSp>
        <p:nvGrpSpPr>
          <p:cNvPr id="18" name="object 18"/>
          <p:cNvGrpSpPr/>
          <p:nvPr/>
        </p:nvGrpSpPr>
        <p:grpSpPr>
          <a:xfrm>
            <a:off x="2246376" y="4589526"/>
            <a:ext cx="6788150" cy="554355"/>
            <a:chOff x="2246376" y="4589526"/>
            <a:chExt cx="6788150" cy="554355"/>
          </a:xfrm>
        </p:grpSpPr>
        <p:sp>
          <p:nvSpPr>
            <p:cNvPr id="19" name="object 19"/>
            <p:cNvSpPr/>
            <p:nvPr/>
          </p:nvSpPr>
          <p:spPr>
            <a:xfrm>
              <a:off x="2258949" y="4602099"/>
              <a:ext cx="6762750" cy="528955"/>
            </a:xfrm>
            <a:custGeom>
              <a:avLst/>
              <a:gdLst/>
              <a:ahLst/>
              <a:cxnLst/>
              <a:rect l="l" t="t" r="r" b="b"/>
              <a:pathLst>
                <a:path w="6762750" h="528954">
                  <a:moveTo>
                    <a:pt x="6661784" y="0"/>
                  </a:moveTo>
                  <a:lnTo>
                    <a:pt x="100965" y="0"/>
                  </a:lnTo>
                  <a:lnTo>
                    <a:pt x="61668" y="6931"/>
                  </a:lnTo>
                  <a:lnTo>
                    <a:pt x="29575" y="25828"/>
                  </a:lnTo>
                  <a:lnTo>
                    <a:pt x="7935" y="53846"/>
                  </a:lnTo>
                  <a:lnTo>
                    <a:pt x="0" y="88137"/>
                  </a:lnTo>
                  <a:lnTo>
                    <a:pt x="0" y="440690"/>
                  </a:lnTo>
                  <a:lnTo>
                    <a:pt x="7935" y="474981"/>
                  </a:lnTo>
                  <a:lnTo>
                    <a:pt x="29575" y="502999"/>
                  </a:lnTo>
                  <a:lnTo>
                    <a:pt x="61668" y="521896"/>
                  </a:lnTo>
                  <a:lnTo>
                    <a:pt x="100965" y="528828"/>
                  </a:lnTo>
                  <a:lnTo>
                    <a:pt x="6661784" y="528828"/>
                  </a:lnTo>
                  <a:lnTo>
                    <a:pt x="6701081" y="521896"/>
                  </a:lnTo>
                  <a:lnTo>
                    <a:pt x="6733174" y="502999"/>
                  </a:lnTo>
                  <a:lnTo>
                    <a:pt x="6754814" y="474981"/>
                  </a:lnTo>
                  <a:lnTo>
                    <a:pt x="6762750" y="440690"/>
                  </a:lnTo>
                  <a:lnTo>
                    <a:pt x="6762750" y="88137"/>
                  </a:lnTo>
                  <a:lnTo>
                    <a:pt x="6754814" y="53846"/>
                  </a:lnTo>
                  <a:lnTo>
                    <a:pt x="6733174" y="25828"/>
                  </a:lnTo>
                  <a:lnTo>
                    <a:pt x="6701081" y="6931"/>
                  </a:lnTo>
                  <a:lnTo>
                    <a:pt x="6661784" y="0"/>
                  </a:lnTo>
                  <a:close/>
                </a:path>
              </a:pathLst>
            </a:custGeom>
            <a:solidFill>
              <a:srgbClr val="F79546"/>
            </a:solidFill>
          </p:spPr>
          <p:txBody>
            <a:bodyPr wrap="square" lIns="0" tIns="0" rIns="0" bIns="0" rtlCol="0"/>
            <a:lstStyle/>
            <a:p>
              <a:endParaRPr/>
            </a:p>
          </p:txBody>
        </p:sp>
        <p:sp>
          <p:nvSpPr>
            <p:cNvPr id="20" name="object 20"/>
            <p:cNvSpPr/>
            <p:nvPr/>
          </p:nvSpPr>
          <p:spPr>
            <a:xfrm>
              <a:off x="2258949" y="4602099"/>
              <a:ext cx="6762750" cy="528955"/>
            </a:xfrm>
            <a:custGeom>
              <a:avLst/>
              <a:gdLst/>
              <a:ahLst/>
              <a:cxnLst/>
              <a:rect l="l" t="t" r="r" b="b"/>
              <a:pathLst>
                <a:path w="6762750" h="528954">
                  <a:moveTo>
                    <a:pt x="0" y="88137"/>
                  </a:moveTo>
                  <a:lnTo>
                    <a:pt x="7935" y="53846"/>
                  </a:lnTo>
                  <a:lnTo>
                    <a:pt x="29575" y="25828"/>
                  </a:lnTo>
                  <a:lnTo>
                    <a:pt x="61668" y="6931"/>
                  </a:lnTo>
                  <a:lnTo>
                    <a:pt x="100965" y="0"/>
                  </a:lnTo>
                  <a:lnTo>
                    <a:pt x="6661784" y="0"/>
                  </a:lnTo>
                  <a:lnTo>
                    <a:pt x="6701081" y="6931"/>
                  </a:lnTo>
                  <a:lnTo>
                    <a:pt x="6733174" y="25828"/>
                  </a:lnTo>
                  <a:lnTo>
                    <a:pt x="6754814" y="53846"/>
                  </a:lnTo>
                  <a:lnTo>
                    <a:pt x="6762750" y="88137"/>
                  </a:lnTo>
                  <a:lnTo>
                    <a:pt x="6762750" y="440690"/>
                  </a:lnTo>
                  <a:lnTo>
                    <a:pt x="6754814" y="474981"/>
                  </a:lnTo>
                  <a:lnTo>
                    <a:pt x="6733174" y="502999"/>
                  </a:lnTo>
                  <a:lnTo>
                    <a:pt x="6701081" y="521896"/>
                  </a:lnTo>
                  <a:lnTo>
                    <a:pt x="6661784" y="528828"/>
                  </a:lnTo>
                  <a:lnTo>
                    <a:pt x="100965" y="528828"/>
                  </a:lnTo>
                  <a:lnTo>
                    <a:pt x="61668" y="521896"/>
                  </a:lnTo>
                  <a:lnTo>
                    <a:pt x="29575" y="502999"/>
                  </a:lnTo>
                  <a:lnTo>
                    <a:pt x="7935" y="474981"/>
                  </a:lnTo>
                  <a:lnTo>
                    <a:pt x="0" y="440690"/>
                  </a:lnTo>
                  <a:lnTo>
                    <a:pt x="0" y="88137"/>
                  </a:lnTo>
                  <a:close/>
                </a:path>
              </a:pathLst>
            </a:custGeom>
            <a:ln w="25146">
              <a:solidFill>
                <a:srgbClr val="FFFFFF"/>
              </a:solidFill>
            </a:ln>
          </p:spPr>
          <p:txBody>
            <a:bodyPr wrap="square" lIns="0" tIns="0" rIns="0" bIns="0" rtlCol="0"/>
            <a:lstStyle/>
            <a:p>
              <a:endParaRPr/>
            </a:p>
          </p:txBody>
        </p:sp>
      </p:grpSp>
      <p:sp>
        <p:nvSpPr>
          <p:cNvPr id="21" name="object 21"/>
          <p:cNvSpPr txBox="1"/>
          <p:nvPr/>
        </p:nvSpPr>
        <p:spPr>
          <a:xfrm>
            <a:off x="528319" y="1304797"/>
            <a:ext cx="4354830" cy="3698875"/>
          </a:xfrm>
          <a:prstGeom prst="rect">
            <a:avLst/>
          </a:prstGeom>
        </p:spPr>
        <p:txBody>
          <a:bodyPr vert="horz" wrap="square" lIns="0" tIns="12065" rIns="0" bIns="0" rtlCol="0">
            <a:spAutoFit/>
          </a:bodyPr>
          <a:lstStyle/>
          <a:p>
            <a:pPr marL="12700">
              <a:lnSpc>
                <a:spcPct val="100000"/>
              </a:lnSpc>
              <a:spcBef>
                <a:spcPts val="95"/>
              </a:spcBef>
            </a:pPr>
            <a:r>
              <a:rPr sz="2000" b="1" dirty="0">
                <a:solidFill>
                  <a:srgbClr val="49452A"/>
                </a:solidFill>
                <a:latin typeface="Goudy Old Style"/>
                <a:cs typeface="Goudy Old Style"/>
              </a:rPr>
              <a:t>Data </a:t>
            </a:r>
            <a:r>
              <a:rPr sz="2000" b="1" spc="-10" dirty="0">
                <a:solidFill>
                  <a:srgbClr val="49452A"/>
                </a:solidFill>
                <a:latin typeface="Goudy Old Style"/>
                <a:cs typeface="Goudy Old Style"/>
              </a:rPr>
              <a:t>redundancy </a:t>
            </a:r>
            <a:r>
              <a:rPr sz="2000" b="1" spc="-5" dirty="0">
                <a:solidFill>
                  <a:srgbClr val="49452A"/>
                </a:solidFill>
                <a:latin typeface="Goudy Old Style"/>
                <a:cs typeface="Goudy Old Style"/>
              </a:rPr>
              <a:t>and</a:t>
            </a:r>
            <a:r>
              <a:rPr sz="2000" b="1" spc="-20" dirty="0">
                <a:solidFill>
                  <a:srgbClr val="49452A"/>
                </a:solidFill>
                <a:latin typeface="Goudy Old Style"/>
                <a:cs typeface="Goudy Old Style"/>
              </a:rPr>
              <a:t> </a:t>
            </a:r>
            <a:r>
              <a:rPr sz="2000" b="1" spc="-5" dirty="0">
                <a:solidFill>
                  <a:srgbClr val="49452A"/>
                </a:solidFill>
                <a:latin typeface="Goudy Old Style"/>
                <a:cs typeface="Goudy Old Style"/>
              </a:rPr>
              <a:t>inconsistency</a:t>
            </a:r>
            <a:endParaRPr sz="2000">
              <a:latin typeface="Goudy Old Style"/>
              <a:cs typeface="Goudy Old Style"/>
            </a:endParaRPr>
          </a:p>
          <a:p>
            <a:pPr marL="1098550" marR="1243330" indent="-276225">
              <a:lnSpc>
                <a:spcPct val="213600"/>
              </a:lnSpc>
              <a:spcBef>
                <a:spcPts val="115"/>
              </a:spcBef>
            </a:pPr>
            <a:r>
              <a:rPr sz="2000" b="1" spc="-10" dirty="0">
                <a:solidFill>
                  <a:srgbClr val="49452A"/>
                </a:solidFill>
                <a:latin typeface="Goudy Old Style"/>
                <a:cs typeface="Goudy Old Style"/>
              </a:rPr>
              <a:t>Unanticipated</a:t>
            </a:r>
            <a:r>
              <a:rPr sz="2000" b="1" spc="-85" dirty="0">
                <a:solidFill>
                  <a:srgbClr val="49452A"/>
                </a:solidFill>
                <a:latin typeface="Goudy Old Style"/>
                <a:cs typeface="Goudy Old Style"/>
              </a:rPr>
              <a:t> </a:t>
            </a:r>
            <a:r>
              <a:rPr sz="2000" b="1" spc="-5" dirty="0">
                <a:solidFill>
                  <a:srgbClr val="49452A"/>
                </a:solidFill>
                <a:latin typeface="Goudy Old Style"/>
                <a:cs typeface="Goudy Old Style"/>
              </a:rPr>
              <a:t>queries  </a:t>
            </a:r>
            <a:r>
              <a:rPr sz="2000" b="1" dirty="0">
                <a:solidFill>
                  <a:srgbClr val="49452A"/>
                </a:solidFill>
                <a:latin typeface="Goudy Old Style"/>
                <a:cs typeface="Goudy Old Style"/>
              </a:rPr>
              <a:t>Data</a:t>
            </a:r>
            <a:r>
              <a:rPr sz="2000" b="1" spc="-25" dirty="0">
                <a:solidFill>
                  <a:srgbClr val="49452A"/>
                </a:solidFill>
                <a:latin typeface="Goudy Old Style"/>
                <a:cs typeface="Goudy Old Style"/>
              </a:rPr>
              <a:t> </a:t>
            </a:r>
            <a:r>
              <a:rPr sz="2000" b="1" spc="-10" dirty="0">
                <a:solidFill>
                  <a:srgbClr val="49452A"/>
                </a:solidFill>
                <a:latin typeface="Goudy Old Style"/>
                <a:cs typeface="Goudy Old Style"/>
              </a:rPr>
              <a:t>isolation</a:t>
            </a:r>
            <a:endParaRPr sz="2000">
              <a:latin typeface="Goudy Old Style"/>
              <a:cs typeface="Goudy Old Style"/>
            </a:endParaRPr>
          </a:p>
          <a:p>
            <a:pPr>
              <a:lnSpc>
                <a:spcPct val="100000"/>
              </a:lnSpc>
              <a:spcBef>
                <a:spcPts val="55"/>
              </a:spcBef>
            </a:pPr>
            <a:endParaRPr sz="2100">
              <a:latin typeface="Goudy Old Style"/>
              <a:cs typeface="Goudy Old Style"/>
            </a:endParaRPr>
          </a:p>
          <a:p>
            <a:pPr marL="1384300">
              <a:lnSpc>
                <a:spcPct val="100000"/>
              </a:lnSpc>
              <a:spcBef>
                <a:spcPts val="5"/>
              </a:spcBef>
            </a:pPr>
            <a:r>
              <a:rPr sz="2000" b="1" spc="-5" dirty="0">
                <a:solidFill>
                  <a:srgbClr val="49452A"/>
                </a:solidFill>
                <a:latin typeface="Goudy Old Style"/>
                <a:cs typeface="Goudy Old Style"/>
              </a:rPr>
              <a:t>Concurrent access</a:t>
            </a:r>
            <a:r>
              <a:rPr sz="2000" b="1" spc="-45" dirty="0">
                <a:solidFill>
                  <a:srgbClr val="49452A"/>
                </a:solidFill>
                <a:latin typeface="Goudy Old Style"/>
                <a:cs typeface="Goudy Old Style"/>
              </a:rPr>
              <a:t> </a:t>
            </a:r>
            <a:r>
              <a:rPr sz="2000" b="1" spc="-10" dirty="0">
                <a:solidFill>
                  <a:srgbClr val="49452A"/>
                </a:solidFill>
                <a:latin typeface="Goudy Old Style"/>
                <a:cs typeface="Goudy Old Style"/>
              </a:rPr>
              <a:t>anomalies</a:t>
            </a:r>
            <a:endParaRPr sz="2000">
              <a:latin typeface="Goudy Old Style"/>
              <a:cs typeface="Goudy Old Style"/>
            </a:endParaRPr>
          </a:p>
          <a:p>
            <a:pPr marL="1965960" marR="471805" indent="-334645">
              <a:lnSpc>
                <a:spcPct val="226799"/>
              </a:lnSpc>
              <a:spcBef>
                <a:spcPts val="290"/>
              </a:spcBef>
            </a:pPr>
            <a:r>
              <a:rPr sz="2000" b="1" spc="-10" dirty="0">
                <a:solidFill>
                  <a:srgbClr val="49452A"/>
                </a:solidFill>
                <a:latin typeface="Goudy Old Style"/>
                <a:cs typeface="Goudy Old Style"/>
              </a:rPr>
              <a:t>Security problems  Integrity</a:t>
            </a:r>
            <a:r>
              <a:rPr sz="2000" b="1" spc="-40" dirty="0">
                <a:solidFill>
                  <a:srgbClr val="49452A"/>
                </a:solidFill>
                <a:latin typeface="Goudy Old Style"/>
                <a:cs typeface="Goudy Old Style"/>
              </a:rPr>
              <a:t> </a:t>
            </a:r>
            <a:r>
              <a:rPr sz="2000" b="1" spc="-10" dirty="0">
                <a:solidFill>
                  <a:srgbClr val="49452A"/>
                </a:solidFill>
                <a:latin typeface="Goudy Old Style"/>
                <a:cs typeface="Goudy Old Style"/>
              </a:rPr>
              <a:t>problems</a:t>
            </a:r>
            <a:endParaRPr sz="2000">
              <a:latin typeface="Goudy Old Style"/>
              <a:cs typeface="Goudy Old Style"/>
            </a:endParaRPr>
          </a:p>
        </p:txBody>
      </p:sp>
      <p:sp>
        <p:nvSpPr>
          <p:cNvPr id="23" name="object 23"/>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7</a:t>
            </a:fld>
            <a:endParaRPr sz="1200"/>
          </a:p>
        </p:txBody>
      </p:sp>
      <p:sp>
        <p:nvSpPr>
          <p:cNvPr id="24" name="object 24"/>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3531870" cy="635635"/>
          </a:xfrm>
          <a:prstGeom prst="rect">
            <a:avLst/>
          </a:prstGeom>
        </p:spPr>
        <p:txBody>
          <a:bodyPr vert="horz" wrap="square" lIns="0" tIns="12700" rIns="0" bIns="0" rtlCol="0">
            <a:spAutoFit/>
          </a:bodyPr>
          <a:lstStyle/>
          <a:p>
            <a:pPr marL="12700">
              <a:lnSpc>
                <a:spcPct val="100000"/>
              </a:lnSpc>
              <a:spcBef>
                <a:spcPts val="100"/>
              </a:spcBef>
            </a:pPr>
            <a:r>
              <a:rPr sz="4000" b="0" dirty="0">
                <a:latin typeface="Goudy Old Style"/>
                <a:cs typeface="Goudy Old Style"/>
              </a:rPr>
              <a:t>Database</a:t>
            </a:r>
            <a:r>
              <a:rPr sz="4000" b="0" spc="-55" dirty="0">
                <a:latin typeface="Goudy Old Style"/>
                <a:cs typeface="Goudy Old Style"/>
              </a:rPr>
              <a:t> </a:t>
            </a:r>
            <a:r>
              <a:rPr sz="4000" b="0" spc="-10" dirty="0">
                <a:latin typeface="Goudy Old Style"/>
                <a:cs typeface="Goudy Old Style"/>
              </a:rPr>
              <a:t>Systems</a:t>
            </a:r>
            <a:endParaRPr sz="4000">
              <a:latin typeface="Goudy Old Style"/>
              <a:cs typeface="Goudy Old Style"/>
            </a:endParaRPr>
          </a:p>
        </p:txBody>
      </p:sp>
      <p:sp>
        <p:nvSpPr>
          <p:cNvPr id="3" name="object 3"/>
          <p:cNvSpPr txBox="1"/>
          <p:nvPr/>
        </p:nvSpPr>
        <p:spPr>
          <a:xfrm>
            <a:off x="4515457" y="2330684"/>
            <a:ext cx="936625" cy="259079"/>
          </a:xfrm>
          <a:prstGeom prst="rect">
            <a:avLst/>
          </a:prstGeom>
        </p:spPr>
        <p:txBody>
          <a:bodyPr vert="horz" wrap="square" lIns="0" tIns="0" rIns="0" bIns="0" rtlCol="0">
            <a:spAutoFit/>
          </a:bodyPr>
          <a:lstStyle/>
          <a:p>
            <a:pPr>
              <a:lnSpc>
                <a:spcPts val="1970"/>
              </a:lnSpc>
            </a:pPr>
            <a:r>
              <a:rPr sz="1800" dirty="0">
                <a:solidFill>
                  <a:srgbClr val="FFFFFF"/>
                </a:solidFill>
                <a:latin typeface="Goudy Old Style"/>
                <a:cs typeface="Goudy Old Style"/>
              </a:rPr>
              <a:t>nt </a:t>
            </a:r>
            <a:r>
              <a:rPr sz="1800" spc="-5" dirty="0">
                <a:solidFill>
                  <a:srgbClr val="FFFFFF"/>
                </a:solidFill>
                <a:latin typeface="Goudy Old Style"/>
                <a:cs typeface="Goudy Old Style"/>
              </a:rPr>
              <a:t>and</a:t>
            </a:r>
            <a:r>
              <a:rPr sz="1800" spc="-130" dirty="0">
                <a:solidFill>
                  <a:srgbClr val="FFFFFF"/>
                </a:solidFill>
                <a:latin typeface="Goudy Old Style"/>
                <a:cs typeface="Goudy Old Style"/>
              </a:rPr>
              <a:t> </a:t>
            </a:r>
            <a:r>
              <a:rPr sz="1800" spc="-5" dirty="0">
                <a:solidFill>
                  <a:srgbClr val="FFFFFF"/>
                </a:solidFill>
                <a:latin typeface="Goudy Old Style"/>
                <a:cs typeface="Goudy Old Style"/>
              </a:rPr>
              <a:t>org</a:t>
            </a:r>
            <a:endParaRPr sz="1800">
              <a:latin typeface="Goudy Old Style"/>
              <a:cs typeface="Goudy Old Style"/>
            </a:endParaRPr>
          </a:p>
        </p:txBody>
      </p:sp>
      <p:sp>
        <p:nvSpPr>
          <p:cNvPr id="4" name="object 4"/>
          <p:cNvSpPr txBox="1"/>
          <p:nvPr/>
        </p:nvSpPr>
        <p:spPr>
          <a:xfrm>
            <a:off x="533400" y="2330684"/>
            <a:ext cx="647700" cy="506095"/>
          </a:xfrm>
          <a:prstGeom prst="rect">
            <a:avLst/>
          </a:prstGeom>
        </p:spPr>
        <p:txBody>
          <a:bodyPr vert="horz" wrap="square" lIns="0" tIns="6985" rIns="0" bIns="0" rtlCol="0">
            <a:spAutoFit/>
          </a:bodyPr>
          <a:lstStyle/>
          <a:p>
            <a:pPr>
              <a:lnSpc>
                <a:spcPts val="1939"/>
              </a:lnSpc>
              <a:spcBef>
                <a:spcPts val="55"/>
              </a:spcBef>
            </a:pPr>
            <a:r>
              <a:rPr sz="1800" spc="-5" dirty="0">
                <a:solidFill>
                  <a:srgbClr val="FFFFFF"/>
                </a:solidFill>
                <a:latin typeface="Goudy Old Style"/>
                <a:cs typeface="Goudy Old Style"/>
              </a:rPr>
              <a:t>Da</a:t>
            </a:r>
            <a:r>
              <a:rPr sz="1800" spc="30" dirty="0">
                <a:solidFill>
                  <a:srgbClr val="FFFFFF"/>
                </a:solidFill>
                <a:latin typeface="Goudy Old Style"/>
                <a:cs typeface="Goudy Old Style"/>
              </a:rPr>
              <a:t>t</a:t>
            </a:r>
            <a:r>
              <a:rPr sz="1800" spc="-5" dirty="0">
                <a:solidFill>
                  <a:srgbClr val="FFFFFF"/>
                </a:solidFill>
                <a:latin typeface="Goudy Old Style"/>
                <a:cs typeface="Goudy Old Style"/>
              </a:rPr>
              <a:t>aba  </a:t>
            </a:r>
            <a:r>
              <a:rPr sz="1800" spc="-10" dirty="0">
                <a:solidFill>
                  <a:srgbClr val="FFFFFF"/>
                </a:solidFill>
                <a:latin typeface="Goudy Old Style"/>
                <a:cs typeface="Goudy Old Style"/>
              </a:rPr>
              <a:t>allows</a:t>
            </a:r>
            <a:endParaRPr sz="1800">
              <a:latin typeface="Goudy Old Style"/>
              <a:cs typeface="Goudy Old Style"/>
            </a:endParaRPr>
          </a:p>
        </p:txBody>
      </p:sp>
      <p:grpSp>
        <p:nvGrpSpPr>
          <p:cNvPr id="5" name="object 5"/>
          <p:cNvGrpSpPr/>
          <p:nvPr/>
        </p:nvGrpSpPr>
        <p:grpSpPr>
          <a:xfrm>
            <a:off x="477647" y="1498727"/>
            <a:ext cx="3917315" cy="1395730"/>
            <a:chOff x="477647" y="1498727"/>
            <a:chExt cx="3917315" cy="1395730"/>
          </a:xfrm>
        </p:grpSpPr>
        <p:sp>
          <p:nvSpPr>
            <p:cNvPr id="6" name="object 6"/>
            <p:cNvSpPr/>
            <p:nvPr/>
          </p:nvSpPr>
          <p:spPr>
            <a:xfrm>
              <a:off x="482727" y="1503807"/>
              <a:ext cx="3907154" cy="1385570"/>
            </a:xfrm>
            <a:custGeom>
              <a:avLst/>
              <a:gdLst/>
              <a:ahLst/>
              <a:cxnLst/>
              <a:rect l="l" t="t" r="r" b="b"/>
              <a:pathLst>
                <a:path w="3907154" h="1385570">
                  <a:moveTo>
                    <a:pt x="3906774" y="0"/>
                  </a:moveTo>
                  <a:lnTo>
                    <a:pt x="0" y="0"/>
                  </a:lnTo>
                  <a:lnTo>
                    <a:pt x="0" y="1385315"/>
                  </a:lnTo>
                  <a:lnTo>
                    <a:pt x="3906774" y="1385315"/>
                  </a:lnTo>
                  <a:lnTo>
                    <a:pt x="3906774" y="0"/>
                  </a:lnTo>
                  <a:close/>
                </a:path>
              </a:pathLst>
            </a:custGeom>
            <a:solidFill>
              <a:srgbClr val="FFFFFF">
                <a:alpha val="39999"/>
              </a:srgbClr>
            </a:solidFill>
          </p:spPr>
          <p:txBody>
            <a:bodyPr wrap="square" lIns="0" tIns="0" rIns="0" bIns="0" rtlCol="0"/>
            <a:lstStyle/>
            <a:p>
              <a:endParaRPr/>
            </a:p>
          </p:txBody>
        </p:sp>
        <p:sp>
          <p:nvSpPr>
            <p:cNvPr id="7" name="object 7"/>
            <p:cNvSpPr/>
            <p:nvPr/>
          </p:nvSpPr>
          <p:spPr>
            <a:xfrm>
              <a:off x="482727" y="1503807"/>
              <a:ext cx="3907154" cy="1385570"/>
            </a:xfrm>
            <a:custGeom>
              <a:avLst/>
              <a:gdLst/>
              <a:ahLst/>
              <a:cxnLst/>
              <a:rect l="l" t="t" r="r" b="b"/>
              <a:pathLst>
                <a:path w="3907154" h="1385570">
                  <a:moveTo>
                    <a:pt x="0" y="1385315"/>
                  </a:moveTo>
                  <a:lnTo>
                    <a:pt x="3906774" y="1385315"/>
                  </a:lnTo>
                  <a:lnTo>
                    <a:pt x="3906774" y="0"/>
                  </a:lnTo>
                  <a:lnTo>
                    <a:pt x="0" y="0"/>
                  </a:lnTo>
                  <a:lnTo>
                    <a:pt x="0" y="1385315"/>
                  </a:lnTo>
                  <a:close/>
                </a:path>
              </a:pathLst>
            </a:custGeom>
            <a:ln w="9905">
              <a:solidFill>
                <a:srgbClr val="497DBA"/>
              </a:solidFill>
            </a:ln>
          </p:spPr>
          <p:txBody>
            <a:bodyPr wrap="square" lIns="0" tIns="0" rIns="0" bIns="0" rtlCol="0"/>
            <a:lstStyle/>
            <a:p>
              <a:endParaRPr/>
            </a:p>
          </p:txBody>
        </p:sp>
      </p:grpSp>
      <p:sp>
        <p:nvSpPr>
          <p:cNvPr id="8" name="object 8"/>
          <p:cNvSpPr txBox="1"/>
          <p:nvPr/>
        </p:nvSpPr>
        <p:spPr>
          <a:xfrm>
            <a:off x="1233424" y="1488440"/>
            <a:ext cx="2914015" cy="546735"/>
          </a:xfrm>
          <a:prstGeom prst="rect">
            <a:avLst/>
          </a:prstGeom>
        </p:spPr>
        <p:txBody>
          <a:bodyPr vert="horz" wrap="square" lIns="0" tIns="43815" rIns="0" bIns="0" rtlCol="0">
            <a:spAutoFit/>
          </a:bodyPr>
          <a:lstStyle/>
          <a:p>
            <a:pPr marL="12700" marR="5080">
              <a:lnSpc>
                <a:spcPts val="1939"/>
              </a:lnSpc>
              <a:spcBef>
                <a:spcPts val="345"/>
              </a:spcBef>
            </a:pPr>
            <a:r>
              <a:rPr sz="1800" dirty="0">
                <a:latin typeface="Goudy Old Style"/>
                <a:cs typeface="Goudy Old Style"/>
              </a:rPr>
              <a:t>Database </a:t>
            </a:r>
            <a:r>
              <a:rPr sz="1800" spc="-5" dirty="0">
                <a:latin typeface="Goudy Old Style"/>
                <a:cs typeface="Goudy Old Style"/>
              </a:rPr>
              <a:t>Systems </a:t>
            </a:r>
            <a:r>
              <a:rPr sz="1800" spc="-15" dirty="0">
                <a:latin typeface="Goudy Old Style"/>
                <a:cs typeface="Goudy Old Style"/>
              </a:rPr>
              <a:t>evolved </a:t>
            </a:r>
            <a:r>
              <a:rPr sz="1800" dirty="0">
                <a:latin typeface="Goudy Old Style"/>
                <a:cs typeface="Goudy Old Style"/>
              </a:rPr>
              <a:t>in</a:t>
            </a:r>
            <a:r>
              <a:rPr sz="1800" spc="-90" dirty="0">
                <a:latin typeface="Goudy Old Style"/>
                <a:cs typeface="Goudy Old Style"/>
              </a:rPr>
              <a:t> </a:t>
            </a:r>
            <a:r>
              <a:rPr sz="1800" dirty="0">
                <a:latin typeface="Goudy Old Style"/>
                <a:cs typeface="Goudy Old Style"/>
              </a:rPr>
              <a:t>the  </a:t>
            </a:r>
            <a:r>
              <a:rPr sz="1800" spc="-5" dirty="0">
                <a:latin typeface="Goudy Old Style"/>
                <a:cs typeface="Goudy Old Style"/>
              </a:rPr>
              <a:t>late </a:t>
            </a:r>
            <a:r>
              <a:rPr sz="1800" spc="-20" dirty="0">
                <a:latin typeface="Goudy Old Style"/>
                <a:cs typeface="Goudy Old Style"/>
              </a:rPr>
              <a:t>1960s </a:t>
            </a:r>
            <a:r>
              <a:rPr sz="1800" spc="-5" dirty="0">
                <a:latin typeface="Goudy Old Style"/>
                <a:cs typeface="Goudy Old Style"/>
              </a:rPr>
              <a:t>to </a:t>
            </a:r>
            <a:r>
              <a:rPr sz="1800" spc="-10" dirty="0">
                <a:latin typeface="Goudy Old Style"/>
                <a:cs typeface="Goudy Old Style"/>
              </a:rPr>
              <a:t>address</a:t>
            </a:r>
            <a:r>
              <a:rPr sz="1800" spc="-15" dirty="0">
                <a:latin typeface="Goudy Old Style"/>
                <a:cs typeface="Goudy Old Style"/>
              </a:rPr>
              <a:t> </a:t>
            </a:r>
            <a:r>
              <a:rPr sz="1800" dirty="0">
                <a:latin typeface="Goudy Old Style"/>
                <a:cs typeface="Goudy Old Style"/>
              </a:rPr>
              <a:t>common</a:t>
            </a:r>
            <a:endParaRPr sz="1800">
              <a:latin typeface="Goudy Old Style"/>
              <a:cs typeface="Goudy Old Style"/>
            </a:endParaRPr>
          </a:p>
        </p:txBody>
      </p:sp>
      <p:sp>
        <p:nvSpPr>
          <p:cNvPr id="9" name="object 9"/>
          <p:cNvSpPr txBox="1"/>
          <p:nvPr/>
        </p:nvSpPr>
        <p:spPr>
          <a:xfrm>
            <a:off x="1233424" y="1981961"/>
            <a:ext cx="2783205" cy="300355"/>
          </a:xfrm>
          <a:prstGeom prst="rect">
            <a:avLst/>
          </a:prstGeom>
        </p:spPr>
        <p:txBody>
          <a:bodyPr vert="horz" wrap="square" lIns="0" tIns="12700" rIns="0" bIns="0" rtlCol="0">
            <a:spAutoFit/>
          </a:bodyPr>
          <a:lstStyle/>
          <a:p>
            <a:pPr marL="12700">
              <a:lnSpc>
                <a:spcPct val="100000"/>
              </a:lnSpc>
              <a:spcBef>
                <a:spcPts val="100"/>
              </a:spcBef>
            </a:pPr>
            <a:r>
              <a:rPr sz="1800" spc="-5" dirty="0">
                <a:latin typeface="Goudy Old Style"/>
                <a:cs typeface="Goudy Old Style"/>
              </a:rPr>
              <a:t>issues </a:t>
            </a:r>
            <a:r>
              <a:rPr sz="1800" dirty="0">
                <a:latin typeface="Goudy Old Style"/>
                <a:cs typeface="Goudy Old Style"/>
              </a:rPr>
              <a:t>in </a:t>
            </a:r>
            <a:r>
              <a:rPr sz="1800" spc="-5" dirty="0">
                <a:latin typeface="Goudy Old Style"/>
                <a:cs typeface="Goudy Old Style"/>
              </a:rPr>
              <a:t>applications</a:t>
            </a:r>
            <a:r>
              <a:rPr sz="1800" spc="-25" dirty="0">
                <a:latin typeface="Goudy Old Style"/>
                <a:cs typeface="Goudy Old Style"/>
              </a:rPr>
              <a:t> </a:t>
            </a:r>
            <a:r>
              <a:rPr sz="1800" spc="-5" dirty="0">
                <a:latin typeface="Goudy Old Style"/>
                <a:cs typeface="Goudy Old Style"/>
              </a:rPr>
              <a:t>handling</a:t>
            </a:r>
            <a:endParaRPr sz="1800">
              <a:latin typeface="Goudy Old Style"/>
              <a:cs typeface="Goudy Old Style"/>
            </a:endParaRPr>
          </a:p>
        </p:txBody>
      </p:sp>
      <p:sp>
        <p:nvSpPr>
          <p:cNvPr id="10" name="object 10"/>
          <p:cNvSpPr txBox="1"/>
          <p:nvPr/>
        </p:nvSpPr>
        <p:spPr>
          <a:xfrm>
            <a:off x="1206284" y="2249297"/>
            <a:ext cx="3410585" cy="299720"/>
          </a:xfrm>
          <a:prstGeom prst="rect">
            <a:avLst/>
          </a:prstGeom>
        </p:spPr>
        <p:txBody>
          <a:bodyPr vert="horz" wrap="square" lIns="0" tIns="12700" rIns="0" bIns="0" rtlCol="0">
            <a:spAutoFit/>
          </a:bodyPr>
          <a:lstStyle/>
          <a:p>
            <a:pPr marL="38100">
              <a:lnSpc>
                <a:spcPct val="100000"/>
              </a:lnSpc>
              <a:spcBef>
                <a:spcPts val="100"/>
              </a:spcBef>
            </a:pPr>
            <a:r>
              <a:rPr lang="en-US" sz="1800">
                <a:latin typeface="Goudy Old Style"/>
                <a:cs typeface="Goudy Old Style"/>
              </a:rPr>
              <a:t>large volumes of data, which are</a:t>
            </a:r>
            <a:endParaRPr sz="1800">
              <a:latin typeface="Goudy Old Style"/>
              <a:cs typeface="Goudy Old Style"/>
            </a:endParaRPr>
          </a:p>
        </p:txBody>
      </p:sp>
      <p:grpSp>
        <p:nvGrpSpPr>
          <p:cNvPr id="12" name="object 12"/>
          <p:cNvGrpSpPr/>
          <p:nvPr/>
        </p:nvGrpSpPr>
        <p:grpSpPr>
          <a:xfrm>
            <a:off x="278129" y="1284732"/>
            <a:ext cx="930910" cy="1530350"/>
            <a:chOff x="278129" y="1284732"/>
            <a:chExt cx="930910" cy="1530350"/>
          </a:xfrm>
        </p:grpSpPr>
        <p:pic>
          <p:nvPicPr>
            <p:cNvPr id="13" name="object 13"/>
            <p:cNvPicPr/>
            <p:nvPr/>
          </p:nvPicPr>
          <p:blipFill>
            <a:blip r:embed="rId3" cstate="print"/>
            <a:stretch>
              <a:fillRect/>
            </a:stretch>
          </p:blipFill>
          <p:spPr>
            <a:xfrm>
              <a:off x="278129" y="1284732"/>
              <a:ext cx="930363" cy="1530096"/>
            </a:xfrm>
            <a:prstGeom prst="rect">
              <a:avLst/>
            </a:prstGeom>
          </p:spPr>
        </p:pic>
        <p:sp>
          <p:nvSpPr>
            <p:cNvPr id="14" name="object 14"/>
            <p:cNvSpPr/>
            <p:nvPr/>
          </p:nvSpPr>
          <p:spPr>
            <a:xfrm>
              <a:off x="319277" y="1303020"/>
              <a:ext cx="855344" cy="1454785"/>
            </a:xfrm>
            <a:custGeom>
              <a:avLst/>
              <a:gdLst/>
              <a:ahLst/>
              <a:cxnLst/>
              <a:rect l="l" t="t" r="r" b="b"/>
              <a:pathLst>
                <a:path w="855344" h="1454785">
                  <a:moveTo>
                    <a:pt x="854963" y="0"/>
                  </a:moveTo>
                  <a:lnTo>
                    <a:pt x="0" y="0"/>
                  </a:lnTo>
                  <a:lnTo>
                    <a:pt x="0" y="1454658"/>
                  </a:lnTo>
                  <a:lnTo>
                    <a:pt x="854963" y="1454658"/>
                  </a:lnTo>
                  <a:lnTo>
                    <a:pt x="854963" y="0"/>
                  </a:lnTo>
                  <a:close/>
                </a:path>
              </a:pathLst>
            </a:custGeom>
            <a:solidFill>
              <a:srgbClr val="001F5F"/>
            </a:solidFill>
          </p:spPr>
          <p:txBody>
            <a:bodyPr wrap="square" lIns="0" tIns="0" rIns="0" bIns="0" rtlCol="0"/>
            <a:lstStyle/>
            <a:p>
              <a:endParaRPr/>
            </a:p>
          </p:txBody>
        </p:sp>
      </p:grpSp>
      <p:grpSp>
        <p:nvGrpSpPr>
          <p:cNvPr id="15" name="object 15"/>
          <p:cNvGrpSpPr/>
          <p:nvPr/>
        </p:nvGrpSpPr>
        <p:grpSpPr>
          <a:xfrm>
            <a:off x="4760848" y="1498727"/>
            <a:ext cx="3917315" cy="1395730"/>
            <a:chOff x="4760848" y="1498727"/>
            <a:chExt cx="3917315" cy="1395730"/>
          </a:xfrm>
        </p:grpSpPr>
        <p:sp>
          <p:nvSpPr>
            <p:cNvPr id="16" name="object 16"/>
            <p:cNvSpPr/>
            <p:nvPr/>
          </p:nvSpPr>
          <p:spPr>
            <a:xfrm>
              <a:off x="4765928" y="1503807"/>
              <a:ext cx="3907154" cy="1385570"/>
            </a:xfrm>
            <a:custGeom>
              <a:avLst/>
              <a:gdLst/>
              <a:ahLst/>
              <a:cxnLst/>
              <a:rect l="l" t="t" r="r" b="b"/>
              <a:pathLst>
                <a:path w="3907154" h="1385570">
                  <a:moveTo>
                    <a:pt x="3906774" y="0"/>
                  </a:moveTo>
                  <a:lnTo>
                    <a:pt x="0" y="0"/>
                  </a:lnTo>
                  <a:lnTo>
                    <a:pt x="0" y="1385315"/>
                  </a:lnTo>
                  <a:lnTo>
                    <a:pt x="3906774" y="1385315"/>
                  </a:lnTo>
                  <a:lnTo>
                    <a:pt x="3906774" y="0"/>
                  </a:lnTo>
                  <a:close/>
                </a:path>
              </a:pathLst>
            </a:custGeom>
            <a:solidFill>
              <a:srgbClr val="FFFFFF">
                <a:alpha val="39999"/>
              </a:srgbClr>
            </a:solidFill>
          </p:spPr>
          <p:txBody>
            <a:bodyPr wrap="square" lIns="0" tIns="0" rIns="0" bIns="0" rtlCol="0"/>
            <a:lstStyle/>
            <a:p>
              <a:endParaRPr/>
            </a:p>
          </p:txBody>
        </p:sp>
        <p:sp>
          <p:nvSpPr>
            <p:cNvPr id="17" name="object 17"/>
            <p:cNvSpPr/>
            <p:nvPr/>
          </p:nvSpPr>
          <p:spPr>
            <a:xfrm>
              <a:off x="4765928" y="1503807"/>
              <a:ext cx="3907154" cy="1385570"/>
            </a:xfrm>
            <a:custGeom>
              <a:avLst/>
              <a:gdLst/>
              <a:ahLst/>
              <a:cxnLst/>
              <a:rect l="l" t="t" r="r" b="b"/>
              <a:pathLst>
                <a:path w="3907154" h="1385570">
                  <a:moveTo>
                    <a:pt x="0" y="1385315"/>
                  </a:moveTo>
                  <a:lnTo>
                    <a:pt x="3906774" y="1385315"/>
                  </a:lnTo>
                  <a:lnTo>
                    <a:pt x="3906774" y="0"/>
                  </a:lnTo>
                  <a:lnTo>
                    <a:pt x="0" y="0"/>
                  </a:lnTo>
                  <a:lnTo>
                    <a:pt x="0" y="1385315"/>
                  </a:lnTo>
                  <a:close/>
                </a:path>
              </a:pathLst>
            </a:custGeom>
            <a:ln w="9905">
              <a:solidFill>
                <a:srgbClr val="497DBA"/>
              </a:solidFill>
            </a:ln>
          </p:spPr>
          <p:txBody>
            <a:bodyPr wrap="square" lIns="0" tIns="0" rIns="0" bIns="0" rtlCol="0"/>
            <a:lstStyle/>
            <a:p>
              <a:endParaRPr/>
            </a:p>
          </p:txBody>
        </p:sp>
      </p:grpSp>
      <p:sp>
        <p:nvSpPr>
          <p:cNvPr id="18" name="object 18"/>
          <p:cNvSpPr txBox="1"/>
          <p:nvPr/>
        </p:nvSpPr>
        <p:spPr>
          <a:xfrm>
            <a:off x="5516879" y="1488440"/>
            <a:ext cx="2886710" cy="546735"/>
          </a:xfrm>
          <a:prstGeom prst="rect">
            <a:avLst/>
          </a:prstGeom>
        </p:spPr>
        <p:txBody>
          <a:bodyPr vert="horz" wrap="square" lIns="0" tIns="43815" rIns="0" bIns="0" rtlCol="0">
            <a:spAutoFit/>
          </a:bodyPr>
          <a:lstStyle/>
          <a:p>
            <a:pPr marL="12700" marR="5080">
              <a:lnSpc>
                <a:spcPts val="1939"/>
              </a:lnSpc>
              <a:spcBef>
                <a:spcPts val="345"/>
              </a:spcBef>
            </a:pPr>
            <a:r>
              <a:rPr sz="1800" spc="-5" dirty="0">
                <a:latin typeface="Goudy Old Style"/>
                <a:cs typeface="Goudy Old Style"/>
              </a:rPr>
              <a:t>Databases </a:t>
            </a:r>
            <a:r>
              <a:rPr sz="1800" spc="-10" dirty="0">
                <a:latin typeface="Goudy Old Style"/>
                <a:cs typeface="Goudy Old Style"/>
              </a:rPr>
              <a:t>are </a:t>
            </a:r>
            <a:r>
              <a:rPr sz="1800" spc="-5" dirty="0">
                <a:latin typeface="Goudy Old Style"/>
                <a:cs typeface="Goudy Old Style"/>
              </a:rPr>
              <a:t>used to </a:t>
            </a:r>
            <a:r>
              <a:rPr sz="1800" spc="-15" dirty="0">
                <a:latin typeface="Goudy Old Style"/>
                <a:cs typeface="Goudy Old Style"/>
              </a:rPr>
              <a:t>store </a:t>
            </a:r>
            <a:r>
              <a:rPr sz="1800" dirty="0">
                <a:latin typeface="Goudy Old Style"/>
                <a:cs typeface="Goudy Old Style"/>
              </a:rPr>
              <a:t>data  in </a:t>
            </a:r>
            <a:r>
              <a:rPr sz="1800" spc="-5" dirty="0">
                <a:latin typeface="Goudy Old Style"/>
                <a:cs typeface="Goudy Old Style"/>
              </a:rPr>
              <a:t>an </a:t>
            </a:r>
            <a:r>
              <a:rPr sz="1800" dirty="0">
                <a:latin typeface="Goudy Old Style"/>
                <a:cs typeface="Goudy Old Style"/>
              </a:rPr>
              <a:t>efficient </a:t>
            </a:r>
            <a:r>
              <a:rPr sz="1800" spc="-5" dirty="0">
                <a:latin typeface="Goudy Old Style"/>
                <a:cs typeface="Goudy Old Style"/>
              </a:rPr>
              <a:t>and</a:t>
            </a:r>
            <a:r>
              <a:rPr sz="1800" spc="-60" dirty="0">
                <a:latin typeface="Goudy Old Style"/>
                <a:cs typeface="Goudy Old Style"/>
              </a:rPr>
              <a:t> </a:t>
            </a:r>
            <a:r>
              <a:rPr sz="1800" spc="-5" dirty="0">
                <a:latin typeface="Goudy Old Style"/>
                <a:cs typeface="Goudy Old Style"/>
              </a:rPr>
              <a:t>organized</a:t>
            </a:r>
            <a:endParaRPr sz="1800">
              <a:latin typeface="Goudy Old Style"/>
              <a:cs typeface="Goudy Old Style"/>
            </a:endParaRPr>
          </a:p>
        </p:txBody>
      </p:sp>
      <p:sp>
        <p:nvSpPr>
          <p:cNvPr id="19" name="object 19"/>
          <p:cNvSpPr txBox="1"/>
          <p:nvPr/>
        </p:nvSpPr>
        <p:spPr>
          <a:xfrm>
            <a:off x="5516879" y="1981961"/>
            <a:ext cx="2967990" cy="300355"/>
          </a:xfrm>
          <a:prstGeom prst="rect">
            <a:avLst/>
          </a:prstGeom>
        </p:spPr>
        <p:txBody>
          <a:bodyPr vert="horz" wrap="square" lIns="0" tIns="12700" rIns="0" bIns="0" rtlCol="0">
            <a:spAutoFit/>
          </a:bodyPr>
          <a:lstStyle/>
          <a:p>
            <a:pPr marL="12700">
              <a:lnSpc>
                <a:spcPct val="100000"/>
              </a:lnSpc>
              <a:spcBef>
                <a:spcPts val="100"/>
              </a:spcBef>
            </a:pPr>
            <a:r>
              <a:rPr sz="1800" spc="-10" dirty="0">
                <a:latin typeface="Goudy Old Style"/>
                <a:cs typeface="Goudy Old Style"/>
              </a:rPr>
              <a:t>manner. </a:t>
            </a:r>
            <a:r>
              <a:rPr sz="1800" dirty="0">
                <a:latin typeface="Goudy Old Style"/>
                <a:cs typeface="Goudy Old Style"/>
              </a:rPr>
              <a:t>A database </a:t>
            </a:r>
            <a:r>
              <a:rPr sz="1800" spc="-10" dirty="0">
                <a:latin typeface="Goudy Old Style"/>
                <a:cs typeface="Goudy Old Style"/>
              </a:rPr>
              <a:t>allows</a:t>
            </a:r>
            <a:r>
              <a:rPr sz="1800" spc="-75" dirty="0">
                <a:latin typeface="Goudy Old Style"/>
                <a:cs typeface="Goudy Old Style"/>
              </a:rPr>
              <a:t> </a:t>
            </a:r>
            <a:r>
              <a:rPr sz="1800" spc="-15" dirty="0">
                <a:latin typeface="Goudy Old Style"/>
                <a:cs typeface="Goudy Old Style"/>
              </a:rPr>
              <a:t>quick</a:t>
            </a:r>
            <a:endParaRPr sz="1800">
              <a:latin typeface="Goudy Old Style"/>
              <a:cs typeface="Goudy Old Style"/>
            </a:endParaRPr>
          </a:p>
        </p:txBody>
      </p:sp>
      <p:sp>
        <p:nvSpPr>
          <p:cNvPr id="20" name="object 20"/>
          <p:cNvSpPr txBox="1"/>
          <p:nvPr/>
        </p:nvSpPr>
        <p:spPr>
          <a:xfrm>
            <a:off x="5507606" y="2238530"/>
            <a:ext cx="2863215" cy="299720"/>
          </a:xfrm>
          <a:prstGeom prst="rect">
            <a:avLst/>
          </a:prstGeom>
        </p:spPr>
        <p:txBody>
          <a:bodyPr vert="horz" wrap="square" lIns="0" tIns="12700" rIns="0" bIns="0" rtlCol="0">
            <a:spAutoFit/>
          </a:bodyPr>
          <a:lstStyle/>
          <a:p>
            <a:pPr marL="38100">
              <a:lnSpc>
                <a:spcPct val="100000"/>
              </a:lnSpc>
              <a:spcBef>
                <a:spcPts val="100"/>
              </a:spcBef>
            </a:pPr>
            <a:r>
              <a:rPr lang="en-US" sz="1800">
                <a:latin typeface="Goudy Old Style"/>
                <a:cs typeface="Goudy Old Style"/>
              </a:rPr>
              <a:t>and easy management of data</a:t>
            </a:r>
            <a:endParaRPr sz="1800">
              <a:latin typeface="Goudy Old Style"/>
              <a:cs typeface="Goudy Old Style"/>
            </a:endParaRPr>
          </a:p>
        </p:txBody>
      </p:sp>
      <p:grpSp>
        <p:nvGrpSpPr>
          <p:cNvPr id="21" name="object 21"/>
          <p:cNvGrpSpPr/>
          <p:nvPr/>
        </p:nvGrpSpPr>
        <p:grpSpPr>
          <a:xfrm>
            <a:off x="4561332" y="1284732"/>
            <a:ext cx="930910" cy="1530350"/>
            <a:chOff x="4561332" y="1284732"/>
            <a:chExt cx="930910" cy="1530350"/>
          </a:xfrm>
        </p:grpSpPr>
        <p:pic>
          <p:nvPicPr>
            <p:cNvPr id="22" name="object 22"/>
            <p:cNvPicPr/>
            <p:nvPr/>
          </p:nvPicPr>
          <p:blipFill>
            <a:blip r:embed="rId3" cstate="print"/>
            <a:stretch>
              <a:fillRect/>
            </a:stretch>
          </p:blipFill>
          <p:spPr>
            <a:xfrm>
              <a:off x="4561332" y="1284732"/>
              <a:ext cx="930363" cy="1530096"/>
            </a:xfrm>
            <a:prstGeom prst="rect">
              <a:avLst/>
            </a:prstGeom>
          </p:spPr>
        </p:pic>
        <p:sp>
          <p:nvSpPr>
            <p:cNvPr id="23" name="object 23"/>
            <p:cNvSpPr/>
            <p:nvPr/>
          </p:nvSpPr>
          <p:spPr>
            <a:xfrm>
              <a:off x="4602480" y="1303020"/>
              <a:ext cx="855344" cy="1454785"/>
            </a:xfrm>
            <a:custGeom>
              <a:avLst/>
              <a:gdLst/>
              <a:ahLst/>
              <a:cxnLst/>
              <a:rect l="l" t="t" r="r" b="b"/>
              <a:pathLst>
                <a:path w="855345" h="1454785">
                  <a:moveTo>
                    <a:pt x="854963" y="0"/>
                  </a:moveTo>
                  <a:lnTo>
                    <a:pt x="0" y="0"/>
                  </a:lnTo>
                  <a:lnTo>
                    <a:pt x="0" y="1454658"/>
                  </a:lnTo>
                  <a:lnTo>
                    <a:pt x="854963" y="1454658"/>
                  </a:lnTo>
                  <a:lnTo>
                    <a:pt x="854963" y="0"/>
                  </a:lnTo>
                  <a:close/>
                </a:path>
              </a:pathLst>
            </a:custGeom>
            <a:solidFill>
              <a:srgbClr val="92D050"/>
            </a:solidFill>
          </p:spPr>
          <p:txBody>
            <a:bodyPr wrap="square" lIns="0" tIns="0" rIns="0" bIns="0" rtlCol="0"/>
            <a:lstStyle/>
            <a:p>
              <a:endParaRPr/>
            </a:p>
          </p:txBody>
        </p:sp>
      </p:grpSp>
      <p:grpSp>
        <p:nvGrpSpPr>
          <p:cNvPr id="24" name="object 24"/>
          <p:cNvGrpSpPr/>
          <p:nvPr/>
        </p:nvGrpSpPr>
        <p:grpSpPr>
          <a:xfrm>
            <a:off x="477647" y="3242945"/>
            <a:ext cx="3917315" cy="1395730"/>
            <a:chOff x="477647" y="3242945"/>
            <a:chExt cx="3917315" cy="1395730"/>
          </a:xfrm>
        </p:grpSpPr>
        <p:sp>
          <p:nvSpPr>
            <p:cNvPr id="25" name="object 25"/>
            <p:cNvSpPr/>
            <p:nvPr/>
          </p:nvSpPr>
          <p:spPr>
            <a:xfrm>
              <a:off x="482727" y="3248025"/>
              <a:ext cx="3907154" cy="1385570"/>
            </a:xfrm>
            <a:custGeom>
              <a:avLst/>
              <a:gdLst/>
              <a:ahLst/>
              <a:cxnLst/>
              <a:rect l="l" t="t" r="r" b="b"/>
              <a:pathLst>
                <a:path w="3907154" h="1385570">
                  <a:moveTo>
                    <a:pt x="3906774" y="0"/>
                  </a:moveTo>
                  <a:lnTo>
                    <a:pt x="0" y="0"/>
                  </a:lnTo>
                  <a:lnTo>
                    <a:pt x="0" y="1385316"/>
                  </a:lnTo>
                  <a:lnTo>
                    <a:pt x="3906774" y="1385316"/>
                  </a:lnTo>
                  <a:lnTo>
                    <a:pt x="3906774" y="0"/>
                  </a:lnTo>
                  <a:close/>
                </a:path>
              </a:pathLst>
            </a:custGeom>
            <a:solidFill>
              <a:srgbClr val="FFFFFF">
                <a:alpha val="39999"/>
              </a:srgbClr>
            </a:solidFill>
          </p:spPr>
          <p:txBody>
            <a:bodyPr wrap="square" lIns="0" tIns="0" rIns="0" bIns="0" rtlCol="0"/>
            <a:lstStyle/>
            <a:p>
              <a:endParaRPr/>
            </a:p>
          </p:txBody>
        </p:sp>
        <p:sp>
          <p:nvSpPr>
            <p:cNvPr id="26" name="object 26"/>
            <p:cNvSpPr/>
            <p:nvPr/>
          </p:nvSpPr>
          <p:spPr>
            <a:xfrm>
              <a:off x="482727" y="3248025"/>
              <a:ext cx="3907154" cy="1385570"/>
            </a:xfrm>
            <a:custGeom>
              <a:avLst/>
              <a:gdLst/>
              <a:ahLst/>
              <a:cxnLst/>
              <a:rect l="l" t="t" r="r" b="b"/>
              <a:pathLst>
                <a:path w="3907154" h="1385570">
                  <a:moveTo>
                    <a:pt x="0" y="1385316"/>
                  </a:moveTo>
                  <a:lnTo>
                    <a:pt x="3906774" y="1385316"/>
                  </a:lnTo>
                  <a:lnTo>
                    <a:pt x="3906774" y="0"/>
                  </a:lnTo>
                  <a:lnTo>
                    <a:pt x="0" y="0"/>
                  </a:lnTo>
                  <a:lnTo>
                    <a:pt x="0" y="1385316"/>
                  </a:lnTo>
                  <a:close/>
                </a:path>
              </a:pathLst>
            </a:custGeom>
            <a:ln w="9906">
              <a:solidFill>
                <a:srgbClr val="497DBA"/>
              </a:solidFill>
            </a:ln>
          </p:spPr>
          <p:txBody>
            <a:bodyPr wrap="square" lIns="0" tIns="0" rIns="0" bIns="0" rtlCol="0"/>
            <a:lstStyle/>
            <a:p>
              <a:endParaRPr/>
            </a:p>
          </p:txBody>
        </p:sp>
      </p:grpSp>
      <p:sp>
        <p:nvSpPr>
          <p:cNvPr id="27" name="object 27"/>
          <p:cNvSpPr txBox="1"/>
          <p:nvPr/>
        </p:nvSpPr>
        <p:spPr>
          <a:xfrm>
            <a:off x="1233424" y="3232911"/>
            <a:ext cx="2987040" cy="1042035"/>
          </a:xfrm>
          <a:prstGeom prst="rect">
            <a:avLst/>
          </a:prstGeom>
        </p:spPr>
        <p:txBody>
          <a:bodyPr vert="horz" wrap="square" lIns="0" tIns="39370" rIns="0" bIns="0" rtlCol="0">
            <a:spAutoFit/>
          </a:bodyPr>
          <a:lstStyle/>
          <a:p>
            <a:pPr marL="12700" marR="5080">
              <a:lnSpc>
                <a:spcPct val="90200"/>
              </a:lnSpc>
              <a:spcBef>
                <a:spcPts val="310"/>
              </a:spcBef>
            </a:pPr>
            <a:r>
              <a:rPr sz="1800" spc="-10" dirty="0">
                <a:latin typeface="Goudy Old Style"/>
                <a:cs typeface="Goudy Old Style"/>
              </a:rPr>
              <a:t>At </a:t>
            </a:r>
            <a:r>
              <a:rPr sz="1800" spc="-20" dirty="0">
                <a:latin typeface="Goudy Old Style"/>
                <a:cs typeface="Goudy Old Style"/>
              </a:rPr>
              <a:t>any </a:t>
            </a:r>
            <a:r>
              <a:rPr sz="1800" dirty="0">
                <a:latin typeface="Goudy Old Style"/>
                <a:cs typeface="Goudy Old Style"/>
              </a:rPr>
              <a:t>point </a:t>
            </a:r>
            <a:r>
              <a:rPr sz="1800" spc="-5" dirty="0">
                <a:latin typeface="Goudy Old Style"/>
                <a:cs typeface="Goudy Old Style"/>
              </a:rPr>
              <a:t>of </a:t>
            </a:r>
            <a:r>
              <a:rPr sz="1800" dirty="0">
                <a:latin typeface="Goudy Old Style"/>
                <a:cs typeface="Goudy Old Style"/>
              </a:rPr>
              <a:t>time, data can</a:t>
            </a:r>
            <a:r>
              <a:rPr sz="1800" spc="-95" dirty="0">
                <a:latin typeface="Goudy Old Style"/>
                <a:cs typeface="Goudy Old Style"/>
              </a:rPr>
              <a:t> </a:t>
            </a:r>
            <a:r>
              <a:rPr sz="1800" dirty="0">
                <a:latin typeface="Goudy Old Style"/>
                <a:cs typeface="Goudy Old Style"/>
              </a:rPr>
              <a:t>be  </a:t>
            </a:r>
            <a:r>
              <a:rPr sz="1800" spc="-10" dirty="0">
                <a:latin typeface="Goudy Old Style"/>
                <a:cs typeface="Goudy Old Style"/>
              </a:rPr>
              <a:t>retrieved from </a:t>
            </a:r>
            <a:r>
              <a:rPr sz="1800" dirty="0">
                <a:latin typeface="Goudy Old Style"/>
                <a:cs typeface="Goudy Old Style"/>
              </a:rPr>
              <a:t>the </a:t>
            </a:r>
            <a:r>
              <a:rPr sz="1800" spc="-5" dirty="0">
                <a:latin typeface="Goudy Old Style"/>
                <a:cs typeface="Goudy Old Style"/>
              </a:rPr>
              <a:t>database,  added, and </a:t>
            </a:r>
            <a:r>
              <a:rPr sz="1800" spc="-10" dirty="0">
                <a:latin typeface="Goudy Old Style"/>
                <a:cs typeface="Goudy Old Style"/>
              </a:rPr>
              <a:t>searched </a:t>
            </a:r>
            <a:r>
              <a:rPr sz="1800" dirty="0">
                <a:latin typeface="Goudy Old Style"/>
                <a:cs typeface="Goudy Old Style"/>
              </a:rPr>
              <a:t>based </a:t>
            </a:r>
            <a:r>
              <a:rPr sz="1800" spc="-5" dirty="0">
                <a:latin typeface="Goudy Old Style"/>
                <a:cs typeface="Goudy Old Style"/>
              </a:rPr>
              <a:t>on  </a:t>
            </a:r>
            <a:r>
              <a:rPr sz="1800" dirty="0">
                <a:latin typeface="Goudy Old Style"/>
                <a:cs typeface="Goudy Old Style"/>
              </a:rPr>
              <a:t>some </a:t>
            </a:r>
            <a:r>
              <a:rPr sz="1800" spc="-5" dirty="0">
                <a:latin typeface="Goudy Old Style"/>
                <a:cs typeface="Goudy Old Style"/>
              </a:rPr>
              <a:t>criteria </a:t>
            </a:r>
            <a:r>
              <a:rPr sz="1800" dirty="0">
                <a:latin typeface="Goudy Old Style"/>
                <a:cs typeface="Goudy Old Style"/>
              </a:rPr>
              <a:t>in these</a:t>
            </a:r>
            <a:r>
              <a:rPr sz="1800" spc="-70" dirty="0">
                <a:latin typeface="Goudy Old Style"/>
                <a:cs typeface="Goudy Old Style"/>
              </a:rPr>
              <a:t> </a:t>
            </a:r>
            <a:r>
              <a:rPr sz="1800" spc="-5" dirty="0">
                <a:latin typeface="Goudy Old Style"/>
                <a:cs typeface="Goudy Old Style"/>
              </a:rPr>
              <a:t>databases.</a:t>
            </a:r>
            <a:endParaRPr sz="1800">
              <a:latin typeface="Goudy Old Style"/>
              <a:cs typeface="Goudy Old Style"/>
            </a:endParaRPr>
          </a:p>
        </p:txBody>
      </p:sp>
      <p:grpSp>
        <p:nvGrpSpPr>
          <p:cNvPr id="28" name="object 28"/>
          <p:cNvGrpSpPr/>
          <p:nvPr/>
        </p:nvGrpSpPr>
        <p:grpSpPr>
          <a:xfrm>
            <a:off x="278129" y="3028950"/>
            <a:ext cx="930910" cy="1530350"/>
            <a:chOff x="278129" y="3028950"/>
            <a:chExt cx="930910" cy="1530350"/>
          </a:xfrm>
        </p:grpSpPr>
        <p:pic>
          <p:nvPicPr>
            <p:cNvPr id="29" name="object 29"/>
            <p:cNvPicPr/>
            <p:nvPr/>
          </p:nvPicPr>
          <p:blipFill>
            <a:blip r:embed="rId3" cstate="print"/>
            <a:stretch>
              <a:fillRect/>
            </a:stretch>
          </p:blipFill>
          <p:spPr>
            <a:xfrm>
              <a:off x="278129" y="3028950"/>
              <a:ext cx="930363" cy="1530095"/>
            </a:xfrm>
            <a:prstGeom prst="rect">
              <a:avLst/>
            </a:prstGeom>
          </p:spPr>
        </p:pic>
        <p:sp>
          <p:nvSpPr>
            <p:cNvPr id="30" name="object 30"/>
            <p:cNvSpPr/>
            <p:nvPr/>
          </p:nvSpPr>
          <p:spPr>
            <a:xfrm>
              <a:off x="319277" y="3047238"/>
              <a:ext cx="855344" cy="1454785"/>
            </a:xfrm>
            <a:custGeom>
              <a:avLst/>
              <a:gdLst/>
              <a:ahLst/>
              <a:cxnLst/>
              <a:rect l="l" t="t" r="r" b="b"/>
              <a:pathLst>
                <a:path w="855344" h="1454785">
                  <a:moveTo>
                    <a:pt x="854963" y="0"/>
                  </a:moveTo>
                  <a:lnTo>
                    <a:pt x="0" y="0"/>
                  </a:lnTo>
                  <a:lnTo>
                    <a:pt x="0" y="1454658"/>
                  </a:lnTo>
                  <a:lnTo>
                    <a:pt x="854963" y="1454658"/>
                  </a:lnTo>
                  <a:lnTo>
                    <a:pt x="854963" y="0"/>
                  </a:lnTo>
                  <a:close/>
                </a:path>
              </a:pathLst>
            </a:custGeom>
            <a:solidFill>
              <a:srgbClr val="94B3D6"/>
            </a:solidFill>
          </p:spPr>
          <p:txBody>
            <a:bodyPr wrap="square" lIns="0" tIns="0" rIns="0" bIns="0" rtlCol="0"/>
            <a:lstStyle/>
            <a:p>
              <a:endParaRPr/>
            </a:p>
          </p:txBody>
        </p:sp>
      </p:grpSp>
      <p:grpSp>
        <p:nvGrpSpPr>
          <p:cNvPr id="31" name="object 31"/>
          <p:cNvGrpSpPr/>
          <p:nvPr/>
        </p:nvGrpSpPr>
        <p:grpSpPr>
          <a:xfrm>
            <a:off x="4760848" y="3242945"/>
            <a:ext cx="3917315" cy="1395730"/>
            <a:chOff x="4760848" y="3242945"/>
            <a:chExt cx="3917315" cy="1395730"/>
          </a:xfrm>
        </p:grpSpPr>
        <p:sp>
          <p:nvSpPr>
            <p:cNvPr id="32" name="object 32"/>
            <p:cNvSpPr/>
            <p:nvPr/>
          </p:nvSpPr>
          <p:spPr>
            <a:xfrm>
              <a:off x="4765928" y="3248025"/>
              <a:ext cx="3907154" cy="1385570"/>
            </a:xfrm>
            <a:custGeom>
              <a:avLst/>
              <a:gdLst/>
              <a:ahLst/>
              <a:cxnLst/>
              <a:rect l="l" t="t" r="r" b="b"/>
              <a:pathLst>
                <a:path w="3907154" h="1385570">
                  <a:moveTo>
                    <a:pt x="3906774" y="0"/>
                  </a:moveTo>
                  <a:lnTo>
                    <a:pt x="0" y="0"/>
                  </a:lnTo>
                  <a:lnTo>
                    <a:pt x="0" y="1385316"/>
                  </a:lnTo>
                  <a:lnTo>
                    <a:pt x="3906774" y="1385316"/>
                  </a:lnTo>
                  <a:lnTo>
                    <a:pt x="3906774" y="0"/>
                  </a:lnTo>
                  <a:close/>
                </a:path>
              </a:pathLst>
            </a:custGeom>
            <a:solidFill>
              <a:srgbClr val="FFFFFF">
                <a:alpha val="39999"/>
              </a:srgbClr>
            </a:solidFill>
          </p:spPr>
          <p:txBody>
            <a:bodyPr wrap="square" lIns="0" tIns="0" rIns="0" bIns="0" rtlCol="0"/>
            <a:lstStyle/>
            <a:p>
              <a:endParaRPr/>
            </a:p>
          </p:txBody>
        </p:sp>
        <p:sp>
          <p:nvSpPr>
            <p:cNvPr id="33" name="object 33"/>
            <p:cNvSpPr/>
            <p:nvPr/>
          </p:nvSpPr>
          <p:spPr>
            <a:xfrm>
              <a:off x="4765928" y="3248025"/>
              <a:ext cx="3907154" cy="1385570"/>
            </a:xfrm>
            <a:custGeom>
              <a:avLst/>
              <a:gdLst/>
              <a:ahLst/>
              <a:cxnLst/>
              <a:rect l="l" t="t" r="r" b="b"/>
              <a:pathLst>
                <a:path w="3907154" h="1385570">
                  <a:moveTo>
                    <a:pt x="0" y="1385316"/>
                  </a:moveTo>
                  <a:lnTo>
                    <a:pt x="3906774" y="1385316"/>
                  </a:lnTo>
                  <a:lnTo>
                    <a:pt x="3906774" y="0"/>
                  </a:lnTo>
                  <a:lnTo>
                    <a:pt x="0" y="0"/>
                  </a:lnTo>
                  <a:lnTo>
                    <a:pt x="0" y="1385316"/>
                  </a:lnTo>
                  <a:close/>
                </a:path>
              </a:pathLst>
            </a:custGeom>
            <a:ln w="9906">
              <a:solidFill>
                <a:srgbClr val="497DBA"/>
              </a:solidFill>
            </a:ln>
          </p:spPr>
          <p:txBody>
            <a:bodyPr wrap="square" lIns="0" tIns="0" rIns="0" bIns="0" rtlCol="0"/>
            <a:lstStyle/>
            <a:p>
              <a:endParaRPr/>
            </a:p>
          </p:txBody>
        </p:sp>
      </p:grpSp>
      <p:sp>
        <p:nvSpPr>
          <p:cNvPr id="34" name="object 34"/>
          <p:cNvSpPr txBox="1"/>
          <p:nvPr/>
        </p:nvSpPr>
        <p:spPr>
          <a:xfrm>
            <a:off x="5516879" y="3232911"/>
            <a:ext cx="3072765" cy="548640"/>
          </a:xfrm>
          <a:prstGeom prst="rect">
            <a:avLst/>
          </a:prstGeom>
        </p:spPr>
        <p:txBody>
          <a:bodyPr vert="horz" wrap="square" lIns="0" tIns="41910" rIns="0" bIns="0" rtlCol="0">
            <a:spAutoFit/>
          </a:bodyPr>
          <a:lstStyle/>
          <a:p>
            <a:pPr marL="12700" marR="5080">
              <a:lnSpc>
                <a:spcPts val="1960"/>
              </a:lnSpc>
              <a:spcBef>
                <a:spcPts val="330"/>
              </a:spcBef>
            </a:pPr>
            <a:r>
              <a:rPr sz="1800" spc="5" dirty="0">
                <a:latin typeface="Goudy Old Style"/>
                <a:cs typeface="Goudy Old Style"/>
              </a:rPr>
              <a:t>Data </a:t>
            </a:r>
            <a:r>
              <a:rPr sz="1800" spc="-10" dirty="0">
                <a:latin typeface="Goudy Old Style"/>
                <a:cs typeface="Goudy Old Style"/>
              </a:rPr>
              <a:t>storage </a:t>
            </a:r>
            <a:r>
              <a:rPr sz="1800" dirty="0">
                <a:latin typeface="Goudy Old Style"/>
                <a:cs typeface="Goudy Old Style"/>
              </a:rPr>
              <a:t>can be </a:t>
            </a:r>
            <a:r>
              <a:rPr sz="1800" spc="-10" dirty="0">
                <a:latin typeface="Goudy Old Style"/>
                <a:cs typeface="Goudy Old Style"/>
              </a:rPr>
              <a:t>achieved</a:t>
            </a:r>
            <a:r>
              <a:rPr sz="1800" spc="-100" dirty="0">
                <a:latin typeface="Goudy Old Style"/>
                <a:cs typeface="Goudy Old Style"/>
              </a:rPr>
              <a:t> </a:t>
            </a:r>
            <a:r>
              <a:rPr sz="1800" spc="-15" dirty="0">
                <a:latin typeface="Goudy Old Style"/>
                <a:cs typeface="Goudy Old Style"/>
              </a:rPr>
              <a:t>even  </a:t>
            </a:r>
            <a:r>
              <a:rPr sz="1800" spc="-5" dirty="0">
                <a:latin typeface="Goudy Old Style"/>
                <a:cs typeface="Goudy Old Style"/>
              </a:rPr>
              <a:t>using </a:t>
            </a:r>
            <a:r>
              <a:rPr sz="1800" spc="-10" dirty="0">
                <a:latin typeface="Goudy Old Style"/>
                <a:cs typeface="Goudy Old Style"/>
              </a:rPr>
              <a:t>simple </a:t>
            </a:r>
            <a:r>
              <a:rPr sz="1800" dirty="0">
                <a:latin typeface="Goudy Old Style"/>
                <a:cs typeface="Goudy Old Style"/>
              </a:rPr>
              <a:t>manual files.</a:t>
            </a:r>
            <a:endParaRPr sz="1800">
              <a:latin typeface="Goudy Old Style"/>
              <a:cs typeface="Goudy Old Style"/>
            </a:endParaRPr>
          </a:p>
        </p:txBody>
      </p:sp>
      <p:grpSp>
        <p:nvGrpSpPr>
          <p:cNvPr id="35" name="object 35"/>
          <p:cNvGrpSpPr/>
          <p:nvPr/>
        </p:nvGrpSpPr>
        <p:grpSpPr>
          <a:xfrm>
            <a:off x="4561332" y="3028950"/>
            <a:ext cx="930910" cy="1530350"/>
            <a:chOff x="4561332" y="3028950"/>
            <a:chExt cx="930910" cy="1530350"/>
          </a:xfrm>
        </p:grpSpPr>
        <p:pic>
          <p:nvPicPr>
            <p:cNvPr id="36" name="object 36"/>
            <p:cNvPicPr/>
            <p:nvPr/>
          </p:nvPicPr>
          <p:blipFill>
            <a:blip r:embed="rId3" cstate="print"/>
            <a:stretch>
              <a:fillRect/>
            </a:stretch>
          </p:blipFill>
          <p:spPr>
            <a:xfrm>
              <a:off x="4561332" y="3028950"/>
              <a:ext cx="930363" cy="1530095"/>
            </a:xfrm>
            <a:prstGeom prst="rect">
              <a:avLst/>
            </a:prstGeom>
          </p:spPr>
        </p:pic>
        <p:sp>
          <p:nvSpPr>
            <p:cNvPr id="37" name="object 37"/>
            <p:cNvSpPr/>
            <p:nvPr/>
          </p:nvSpPr>
          <p:spPr>
            <a:xfrm>
              <a:off x="4602480" y="3047238"/>
              <a:ext cx="855344" cy="1454785"/>
            </a:xfrm>
            <a:custGeom>
              <a:avLst/>
              <a:gdLst/>
              <a:ahLst/>
              <a:cxnLst/>
              <a:rect l="l" t="t" r="r" b="b"/>
              <a:pathLst>
                <a:path w="855345" h="1454785">
                  <a:moveTo>
                    <a:pt x="854963" y="0"/>
                  </a:moveTo>
                  <a:lnTo>
                    <a:pt x="0" y="0"/>
                  </a:lnTo>
                  <a:lnTo>
                    <a:pt x="0" y="1454658"/>
                  </a:lnTo>
                  <a:lnTo>
                    <a:pt x="854963" y="1454658"/>
                  </a:lnTo>
                  <a:lnTo>
                    <a:pt x="854963" y="0"/>
                  </a:lnTo>
                  <a:close/>
                </a:path>
              </a:pathLst>
            </a:custGeom>
            <a:solidFill>
              <a:srgbClr val="30859C"/>
            </a:solidFill>
          </p:spPr>
          <p:txBody>
            <a:bodyPr wrap="square" lIns="0" tIns="0" rIns="0" bIns="0" rtlCol="0"/>
            <a:lstStyle/>
            <a:p>
              <a:endParaRPr/>
            </a:p>
          </p:txBody>
        </p:sp>
      </p:grpSp>
      <p:grpSp>
        <p:nvGrpSpPr>
          <p:cNvPr id="38" name="object 38"/>
          <p:cNvGrpSpPr/>
          <p:nvPr/>
        </p:nvGrpSpPr>
        <p:grpSpPr>
          <a:xfrm>
            <a:off x="2618867" y="4987163"/>
            <a:ext cx="3917315" cy="1395730"/>
            <a:chOff x="2618867" y="4987163"/>
            <a:chExt cx="3917315" cy="1395730"/>
          </a:xfrm>
        </p:grpSpPr>
        <p:sp>
          <p:nvSpPr>
            <p:cNvPr id="39" name="object 39"/>
            <p:cNvSpPr/>
            <p:nvPr/>
          </p:nvSpPr>
          <p:spPr>
            <a:xfrm>
              <a:off x="2623947" y="4992243"/>
              <a:ext cx="3907154" cy="1385570"/>
            </a:xfrm>
            <a:custGeom>
              <a:avLst/>
              <a:gdLst/>
              <a:ahLst/>
              <a:cxnLst/>
              <a:rect l="l" t="t" r="r" b="b"/>
              <a:pathLst>
                <a:path w="3907154" h="1385570">
                  <a:moveTo>
                    <a:pt x="3906774" y="0"/>
                  </a:moveTo>
                  <a:lnTo>
                    <a:pt x="0" y="0"/>
                  </a:lnTo>
                  <a:lnTo>
                    <a:pt x="0" y="1385315"/>
                  </a:lnTo>
                  <a:lnTo>
                    <a:pt x="3906774" y="1385315"/>
                  </a:lnTo>
                  <a:lnTo>
                    <a:pt x="3906774" y="0"/>
                  </a:lnTo>
                  <a:close/>
                </a:path>
              </a:pathLst>
            </a:custGeom>
            <a:solidFill>
              <a:srgbClr val="FFFFFF">
                <a:alpha val="39999"/>
              </a:srgbClr>
            </a:solidFill>
          </p:spPr>
          <p:txBody>
            <a:bodyPr wrap="square" lIns="0" tIns="0" rIns="0" bIns="0" rtlCol="0"/>
            <a:lstStyle/>
            <a:p>
              <a:endParaRPr/>
            </a:p>
          </p:txBody>
        </p:sp>
        <p:sp>
          <p:nvSpPr>
            <p:cNvPr id="40" name="object 40"/>
            <p:cNvSpPr/>
            <p:nvPr/>
          </p:nvSpPr>
          <p:spPr>
            <a:xfrm>
              <a:off x="2623947" y="4992243"/>
              <a:ext cx="3907154" cy="1385570"/>
            </a:xfrm>
            <a:custGeom>
              <a:avLst/>
              <a:gdLst/>
              <a:ahLst/>
              <a:cxnLst/>
              <a:rect l="l" t="t" r="r" b="b"/>
              <a:pathLst>
                <a:path w="3907154" h="1385570">
                  <a:moveTo>
                    <a:pt x="0" y="1385315"/>
                  </a:moveTo>
                  <a:lnTo>
                    <a:pt x="3906774" y="1385315"/>
                  </a:lnTo>
                  <a:lnTo>
                    <a:pt x="3906774" y="0"/>
                  </a:lnTo>
                  <a:lnTo>
                    <a:pt x="0" y="0"/>
                  </a:lnTo>
                  <a:lnTo>
                    <a:pt x="0" y="1385315"/>
                  </a:lnTo>
                  <a:close/>
                </a:path>
              </a:pathLst>
            </a:custGeom>
            <a:ln w="9905">
              <a:solidFill>
                <a:srgbClr val="497DBA"/>
              </a:solidFill>
            </a:ln>
          </p:spPr>
          <p:txBody>
            <a:bodyPr wrap="square" lIns="0" tIns="0" rIns="0" bIns="0" rtlCol="0"/>
            <a:lstStyle/>
            <a:p>
              <a:endParaRPr/>
            </a:p>
          </p:txBody>
        </p:sp>
      </p:grpSp>
      <p:sp>
        <p:nvSpPr>
          <p:cNvPr id="41" name="object 41"/>
          <p:cNvSpPr txBox="1"/>
          <p:nvPr/>
        </p:nvSpPr>
        <p:spPr>
          <a:xfrm>
            <a:off x="3375152" y="5014467"/>
            <a:ext cx="2881630" cy="1289050"/>
          </a:xfrm>
          <a:prstGeom prst="rect">
            <a:avLst/>
          </a:prstGeom>
        </p:spPr>
        <p:txBody>
          <a:bodyPr vert="horz" wrap="square" lIns="0" tIns="39370" rIns="0" bIns="0" rtlCol="0">
            <a:spAutoFit/>
          </a:bodyPr>
          <a:lstStyle/>
          <a:p>
            <a:pPr marL="12700" marR="5080">
              <a:lnSpc>
                <a:spcPct val="90200"/>
              </a:lnSpc>
              <a:spcBef>
                <a:spcPts val="310"/>
              </a:spcBef>
            </a:pPr>
            <a:r>
              <a:rPr sz="1800" spc="5" dirty="0">
                <a:latin typeface="Goudy Old Style"/>
                <a:cs typeface="Goudy Old Style"/>
              </a:rPr>
              <a:t>Data </a:t>
            </a:r>
            <a:r>
              <a:rPr sz="1800" spc="-15" dirty="0">
                <a:latin typeface="Goudy Old Style"/>
                <a:cs typeface="Goudy Old Style"/>
              </a:rPr>
              <a:t>stored </a:t>
            </a:r>
            <a:r>
              <a:rPr sz="1800" dirty="0">
                <a:latin typeface="Goudy Old Style"/>
                <a:cs typeface="Goudy Old Style"/>
              </a:rPr>
              <a:t>in this </a:t>
            </a:r>
            <a:r>
              <a:rPr sz="1800" spc="-15" dirty="0">
                <a:latin typeface="Goudy Old Style"/>
                <a:cs typeface="Goudy Old Style"/>
              </a:rPr>
              <a:t>form </a:t>
            </a:r>
            <a:r>
              <a:rPr sz="1800" dirty="0">
                <a:latin typeface="Goudy Old Style"/>
                <a:cs typeface="Goudy Old Style"/>
              </a:rPr>
              <a:t>is </a:t>
            </a:r>
            <a:r>
              <a:rPr sz="1800" spc="-10" dirty="0">
                <a:latin typeface="Goudy Old Style"/>
                <a:cs typeface="Goudy Old Style"/>
              </a:rPr>
              <a:t>not  </a:t>
            </a:r>
            <a:r>
              <a:rPr sz="1800" spc="-5" dirty="0">
                <a:latin typeface="Goudy Old Style"/>
                <a:cs typeface="Goudy Old Style"/>
              </a:rPr>
              <a:t>permanent. </a:t>
            </a:r>
            <a:r>
              <a:rPr sz="1800" spc="-15" dirty="0">
                <a:latin typeface="Goudy Old Style"/>
                <a:cs typeface="Goudy Old Style"/>
              </a:rPr>
              <a:t>Records </a:t>
            </a:r>
            <a:r>
              <a:rPr sz="1800" dirty="0">
                <a:latin typeface="Goudy Old Style"/>
                <a:cs typeface="Goudy Old Style"/>
              </a:rPr>
              <a:t>in </a:t>
            </a:r>
            <a:r>
              <a:rPr sz="1800" spc="-15" dirty="0">
                <a:latin typeface="Goudy Old Style"/>
                <a:cs typeface="Goudy Old Style"/>
              </a:rPr>
              <a:t>such  </a:t>
            </a:r>
            <a:r>
              <a:rPr sz="1800" dirty="0">
                <a:latin typeface="Goudy Old Style"/>
                <a:cs typeface="Goudy Old Style"/>
              </a:rPr>
              <a:t>manual files can </a:t>
            </a:r>
            <a:r>
              <a:rPr sz="1800" spc="-5" dirty="0">
                <a:latin typeface="Goudy Old Style"/>
                <a:cs typeface="Goudy Old Style"/>
              </a:rPr>
              <a:t>only </a:t>
            </a:r>
            <a:r>
              <a:rPr sz="1800" dirty="0">
                <a:latin typeface="Goudy Old Style"/>
                <a:cs typeface="Goudy Old Style"/>
              </a:rPr>
              <a:t>be  maintained </a:t>
            </a:r>
            <a:r>
              <a:rPr sz="1800" spc="-20" dirty="0">
                <a:latin typeface="Goudy Old Style"/>
                <a:cs typeface="Goudy Old Style"/>
              </a:rPr>
              <a:t>for </a:t>
            </a:r>
            <a:r>
              <a:rPr sz="1800" dirty="0">
                <a:latin typeface="Goudy Old Style"/>
                <a:cs typeface="Goudy Old Style"/>
              </a:rPr>
              <a:t>a </a:t>
            </a:r>
            <a:r>
              <a:rPr sz="1800" spc="-15" dirty="0">
                <a:latin typeface="Goudy Old Style"/>
                <a:cs typeface="Goudy Old Style"/>
              </a:rPr>
              <a:t>few </a:t>
            </a:r>
            <a:r>
              <a:rPr sz="1800" dirty="0">
                <a:latin typeface="Goudy Old Style"/>
                <a:cs typeface="Goudy Old Style"/>
              </a:rPr>
              <a:t>months</a:t>
            </a:r>
            <a:r>
              <a:rPr sz="1800" spc="-90" dirty="0">
                <a:latin typeface="Goudy Old Style"/>
                <a:cs typeface="Goudy Old Style"/>
              </a:rPr>
              <a:t> </a:t>
            </a:r>
            <a:r>
              <a:rPr sz="1800" spc="-5" dirty="0">
                <a:latin typeface="Goudy Old Style"/>
                <a:cs typeface="Goudy Old Style"/>
              </a:rPr>
              <a:t>or  </a:t>
            </a:r>
            <a:r>
              <a:rPr sz="1800" spc="-15" dirty="0">
                <a:latin typeface="Goudy Old Style"/>
                <a:cs typeface="Goudy Old Style"/>
              </a:rPr>
              <a:t>few</a:t>
            </a:r>
            <a:r>
              <a:rPr sz="1800" spc="-25" dirty="0">
                <a:latin typeface="Goudy Old Style"/>
                <a:cs typeface="Goudy Old Style"/>
              </a:rPr>
              <a:t> </a:t>
            </a:r>
            <a:r>
              <a:rPr sz="1800" spc="-5" dirty="0">
                <a:latin typeface="Goudy Old Style"/>
                <a:cs typeface="Goudy Old Style"/>
              </a:rPr>
              <a:t>years.</a:t>
            </a:r>
            <a:endParaRPr sz="1800">
              <a:latin typeface="Goudy Old Style"/>
              <a:cs typeface="Goudy Old Style"/>
            </a:endParaRPr>
          </a:p>
        </p:txBody>
      </p:sp>
      <p:grpSp>
        <p:nvGrpSpPr>
          <p:cNvPr id="42" name="object 42"/>
          <p:cNvGrpSpPr/>
          <p:nvPr/>
        </p:nvGrpSpPr>
        <p:grpSpPr>
          <a:xfrm>
            <a:off x="2420111" y="4773167"/>
            <a:ext cx="929640" cy="1530350"/>
            <a:chOff x="2420111" y="4773167"/>
            <a:chExt cx="929640" cy="1530350"/>
          </a:xfrm>
        </p:grpSpPr>
        <p:pic>
          <p:nvPicPr>
            <p:cNvPr id="43" name="object 43"/>
            <p:cNvPicPr/>
            <p:nvPr/>
          </p:nvPicPr>
          <p:blipFill>
            <a:blip r:embed="rId4" cstate="print"/>
            <a:stretch>
              <a:fillRect/>
            </a:stretch>
          </p:blipFill>
          <p:spPr>
            <a:xfrm>
              <a:off x="2420111" y="4773167"/>
              <a:ext cx="929614" cy="1530095"/>
            </a:xfrm>
            <a:prstGeom prst="rect">
              <a:avLst/>
            </a:prstGeom>
          </p:spPr>
        </p:pic>
        <p:sp>
          <p:nvSpPr>
            <p:cNvPr id="44" name="object 44"/>
            <p:cNvSpPr/>
            <p:nvPr/>
          </p:nvSpPr>
          <p:spPr>
            <a:xfrm>
              <a:off x="2461259" y="4791455"/>
              <a:ext cx="854710" cy="1454785"/>
            </a:xfrm>
            <a:custGeom>
              <a:avLst/>
              <a:gdLst/>
              <a:ahLst/>
              <a:cxnLst/>
              <a:rect l="l" t="t" r="r" b="b"/>
              <a:pathLst>
                <a:path w="854710" h="1454785">
                  <a:moveTo>
                    <a:pt x="854201" y="0"/>
                  </a:moveTo>
                  <a:lnTo>
                    <a:pt x="0" y="0"/>
                  </a:lnTo>
                  <a:lnTo>
                    <a:pt x="0" y="1454658"/>
                  </a:lnTo>
                  <a:lnTo>
                    <a:pt x="854201" y="1454658"/>
                  </a:lnTo>
                  <a:lnTo>
                    <a:pt x="854201" y="0"/>
                  </a:lnTo>
                  <a:close/>
                </a:path>
              </a:pathLst>
            </a:custGeom>
            <a:solidFill>
              <a:srgbClr val="8063A1"/>
            </a:solidFill>
          </p:spPr>
          <p:txBody>
            <a:bodyPr wrap="square" lIns="0" tIns="0" rIns="0" bIns="0" rtlCol="0"/>
            <a:lstStyle/>
            <a:p>
              <a:endParaRPr/>
            </a:p>
          </p:txBody>
        </p:sp>
      </p:grpSp>
      <p:sp>
        <p:nvSpPr>
          <p:cNvPr id="46" name="object 46"/>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8</a:t>
            </a:fld>
            <a:endParaRPr sz="1200"/>
          </a:p>
        </p:txBody>
      </p:sp>
      <p:sp>
        <p:nvSpPr>
          <p:cNvPr id="47" name="object 47"/>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48" name="object 10">
            <a:extLst>
              <a:ext uri="{FF2B5EF4-FFF2-40B4-BE49-F238E27FC236}">
                <a16:creationId xmlns:a16="http://schemas.microsoft.com/office/drawing/2014/main" id="{C7F3D964-A39B-4D2C-9D4C-71210B280976}"/>
              </a:ext>
            </a:extLst>
          </p:cNvPr>
          <p:cNvSpPr txBox="1"/>
          <p:nvPr/>
        </p:nvSpPr>
        <p:spPr>
          <a:xfrm>
            <a:off x="1206284" y="2523818"/>
            <a:ext cx="3410585" cy="299720"/>
          </a:xfrm>
          <a:prstGeom prst="rect">
            <a:avLst/>
          </a:prstGeom>
        </p:spPr>
        <p:txBody>
          <a:bodyPr vert="horz" wrap="square" lIns="0" tIns="12700" rIns="0" bIns="0" rtlCol="0">
            <a:spAutoFit/>
          </a:bodyPr>
          <a:lstStyle/>
          <a:p>
            <a:pPr marL="38100">
              <a:lnSpc>
                <a:spcPct val="100000"/>
              </a:lnSpc>
              <a:spcBef>
                <a:spcPts val="100"/>
              </a:spcBef>
            </a:pPr>
            <a:r>
              <a:rPr lang="en-US" sz="1800">
                <a:latin typeface="Goudy Old Style"/>
                <a:cs typeface="Goudy Old Style"/>
              </a:rPr>
              <a:t>also data intensive.</a:t>
            </a:r>
            <a:endParaRPr sz="1800">
              <a:latin typeface="Goudy Old Style"/>
              <a:cs typeface="Goudy Old Styl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6466840" cy="635635"/>
          </a:xfrm>
          <a:prstGeom prst="rect">
            <a:avLst/>
          </a:prstGeom>
        </p:spPr>
        <p:txBody>
          <a:bodyPr vert="horz" wrap="square" lIns="0" tIns="12700" rIns="0" bIns="0" rtlCol="0">
            <a:spAutoFit/>
          </a:bodyPr>
          <a:lstStyle/>
          <a:p>
            <a:pPr marL="12700">
              <a:lnSpc>
                <a:spcPct val="100000"/>
              </a:lnSpc>
              <a:spcBef>
                <a:spcPts val="100"/>
              </a:spcBef>
            </a:pPr>
            <a:r>
              <a:rPr sz="4000" b="0" spc="-5" dirty="0">
                <a:latin typeface="Goudy Old Style"/>
                <a:cs typeface="Goudy Old Style"/>
              </a:rPr>
              <a:t>Advantages of </a:t>
            </a:r>
            <a:r>
              <a:rPr sz="4000" b="0" dirty="0">
                <a:latin typeface="Goudy Old Style"/>
                <a:cs typeface="Goudy Old Style"/>
              </a:rPr>
              <a:t>Database</a:t>
            </a:r>
            <a:r>
              <a:rPr sz="4000" b="0" spc="-20" dirty="0">
                <a:latin typeface="Goudy Old Style"/>
                <a:cs typeface="Goudy Old Style"/>
              </a:rPr>
              <a:t> </a:t>
            </a:r>
            <a:r>
              <a:rPr sz="4000" b="0" spc="-10" dirty="0">
                <a:latin typeface="Goudy Old Style"/>
                <a:cs typeface="Goudy Old Style"/>
              </a:rPr>
              <a:t>Systems</a:t>
            </a:r>
            <a:endParaRPr sz="4000">
              <a:latin typeface="Goudy Old Style"/>
              <a:cs typeface="Goudy Old Style"/>
            </a:endParaRPr>
          </a:p>
        </p:txBody>
      </p:sp>
      <p:grpSp>
        <p:nvGrpSpPr>
          <p:cNvPr id="3" name="object 3"/>
          <p:cNvGrpSpPr/>
          <p:nvPr/>
        </p:nvGrpSpPr>
        <p:grpSpPr>
          <a:xfrm>
            <a:off x="445008" y="1435608"/>
            <a:ext cx="8026400" cy="685165"/>
            <a:chOff x="445008" y="1435608"/>
            <a:chExt cx="8026400" cy="685165"/>
          </a:xfrm>
        </p:grpSpPr>
        <p:sp>
          <p:nvSpPr>
            <p:cNvPr id="4" name="object 4"/>
            <p:cNvSpPr/>
            <p:nvPr/>
          </p:nvSpPr>
          <p:spPr>
            <a:xfrm>
              <a:off x="457581" y="1679829"/>
              <a:ext cx="8001000" cy="428625"/>
            </a:xfrm>
            <a:custGeom>
              <a:avLst/>
              <a:gdLst/>
              <a:ahLst/>
              <a:cxnLst/>
              <a:rect l="l" t="t" r="r" b="b"/>
              <a:pathLst>
                <a:path w="8001000" h="428625">
                  <a:moveTo>
                    <a:pt x="0" y="428244"/>
                  </a:moveTo>
                  <a:lnTo>
                    <a:pt x="8001000" y="428244"/>
                  </a:lnTo>
                  <a:lnTo>
                    <a:pt x="8001000" y="0"/>
                  </a:lnTo>
                  <a:lnTo>
                    <a:pt x="0" y="0"/>
                  </a:lnTo>
                  <a:lnTo>
                    <a:pt x="0" y="428244"/>
                  </a:lnTo>
                  <a:close/>
                </a:path>
              </a:pathLst>
            </a:custGeom>
            <a:ln w="25146">
              <a:solidFill>
                <a:srgbClr val="8063A1"/>
              </a:solidFill>
            </a:ln>
          </p:spPr>
          <p:txBody>
            <a:bodyPr wrap="square" lIns="0" tIns="0" rIns="0" bIns="0" rtlCol="0"/>
            <a:lstStyle/>
            <a:p>
              <a:endParaRPr/>
            </a:p>
          </p:txBody>
        </p:sp>
        <p:sp>
          <p:nvSpPr>
            <p:cNvPr id="5" name="object 5"/>
            <p:cNvSpPr/>
            <p:nvPr/>
          </p:nvSpPr>
          <p:spPr>
            <a:xfrm>
              <a:off x="838581" y="1448181"/>
              <a:ext cx="6896100" cy="502284"/>
            </a:xfrm>
            <a:custGeom>
              <a:avLst/>
              <a:gdLst/>
              <a:ahLst/>
              <a:cxnLst/>
              <a:rect l="l" t="t" r="r" b="b"/>
              <a:pathLst>
                <a:path w="6896100" h="502285">
                  <a:moveTo>
                    <a:pt x="6812407" y="0"/>
                  </a:moveTo>
                  <a:lnTo>
                    <a:pt x="83693" y="0"/>
                  </a:lnTo>
                  <a:lnTo>
                    <a:pt x="51118" y="6576"/>
                  </a:lnTo>
                  <a:lnTo>
                    <a:pt x="24515" y="24510"/>
                  </a:lnTo>
                  <a:lnTo>
                    <a:pt x="6578" y="51113"/>
                  </a:lnTo>
                  <a:lnTo>
                    <a:pt x="0" y="83692"/>
                  </a:lnTo>
                  <a:lnTo>
                    <a:pt x="0" y="418464"/>
                  </a:lnTo>
                  <a:lnTo>
                    <a:pt x="6578" y="451044"/>
                  </a:lnTo>
                  <a:lnTo>
                    <a:pt x="24515" y="477646"/>
                  </a:lnTo>
                  <a:lnTo>
                    <a:pt x="51118" y="495581"/>
                  </a:lnTo>
                  <a:lnTo>
                    <a:pt x="83693" y="502157"/>
                  </a:lnTo>
                  <a:lnTo>
                    <a:pt x="6812407" y="502157"/>
                  </a:lnTo>
                  <a:lnTo>
                    <a:pt x="6844986" y="495581"/>
                  </a:lnTo>
                  <a:lnTo>
                    <a:pt x="6871589" y="477646"/>
                  </a:lnTo>
                  <a:lnTo>
                    <a:pt x="6889523" y="451044"/>
                  </a:lnTo>
                  <a:lnTo>
                    <a:pt x="6896100" y="418464"/>
                  </a:lnTo>
                  <a:lnTo>
                    <a:pt x="6896100" y="83692"/>
                  </a:lnTo>
                  <a:lnTo>
                    <a:pt x="6889523" y="51113"/>
                  </a:lnTo>
                  <a:lnTo>
                    <a:pt x="6871588" y="24510"/>
                  </a:lnTo>
                  <a:lnTo>
                    <a:pt x="6844986" y="6576"/>
                  </a:lnTo>
                  <a:lnTo>
                    <a:pt x="6812407" y="0"/>
                  </a:lnTo>
                  <a:close/>
                </a:path>
              </a:pathLst>
            </a:custGeom>
            <a:solidFill>
              <a:srgbClr val="8063A1"/>
            </a:solidFill>
          </p:spPr>
          <p:txBody>
            <a:bodyPr wrap="square" lIns="0" tIns="0" rIns="0" bIns="0" rtlCol="0"/>
            <a:lstStyle/>
            <a:p>
              <a:endParaRPr/>
            </a:p>
          </p:txBody>
        </p:sp>
        <p:sp>
          <p:nvSpPr>
            <p:cNvPr id="6" name="object 6"/>
            <p:cNvSpPr/>
            <p:nvPr/>
          </p:nvSpPr>
          <p:spPr>
            <a:xfrm>
              <a:off x="838581" y="1448181"/>
              <a:ext cx="6896100" cy="502284"/>
            </a:xfrm>
            <a:custGeom>
              <a:avLst/>
              <a:gdLst/>
              <a:ahLst/>
              <a:cxnLst/>
              <a:rect l="l" t="t" r="r" b="b"/>
              <a:pathLst>
                <a:path w="6896100" h="502285">
                  <a:moveTo>
                    <a:pt x="0" y="83692"/>
                  </a:moveTo>
                  <a:lnTo>
                    <a:pt x="6578" y="51113"/>
                  </a:lnTo>
                  <a:lnTo>
                    <a:pt x="24515" y="24510"/>
                  </a:lnTo>
                  <a:lnTo>
                    <a:pt x="51118" y="6576"/>
                  </a:lnTo>
                  <a:lnTo>
                    <a:pt x="83693" y="0"/>
                  </a:lnTo>
                  <a:lnTo>
                    <a:pt x="6812407" y="0"/>
                  </a:lnTo>
                  <a:lnTo>
                    <a:pt x="6844986" y="6576"/>
                  </a:lnTo>
                  <a:lnTo>
                    <a:pt x="6871588" y="24510"/>
                  </a:lnTo>
                  <a:lnTo>
                    <a:pt x="6889523" y="51113"/>
                  </a:lnTo>
                  <a:lnTo>
                    <a:pt x="6896100" y="83692"/>
                  </a:lnTo>
                  <a:lnTo>
                    <a:pt x="6896100" y="418464"/>
                  </a:lnTo>
                  <a:lnTo>
                    <a:pt x="6889523" y="451044"/>
                  </a:lnTo>
                  <a:lnTo>
                    <a:pt x="6871589" y="477646"/>
                  </a:lnTo>
                  <a:lnTo>
                    <a:pt x="6844986" y="495581"/>
                  </a:lnTo>
                  <a:lnTo>
                    <a:pt x="6812407" y="502157"/>
                  </a:lnTo>
                  <a:lnTo>
                    <a:pt x="83693" y="502157"/>
                  </a:lnTo>
                  <a:lnTo>
                    <a:pt x="51118" y="495581"/>
                  </a:lnTo>
                  <a:lnTo>
                    <a:pt x="24515" y="477646"/>
                  </a:lnTo>
                  <a:lnTo>
                    <a:pt x="6578" y="451044"/>
                  </a:lnTo>
                  <a:lnTo>
                    <a:pt x="0" y="418464"/>
                  </a:lnTo>
                  <a:lnTo>
                    <a:pt x="0" y="83692"/>
                  </a:lnTo>
                  <a:close/>
                </a:path>
              </a:pathLst>
            </a:custGeom>
            <a:ln w="25146">
              <a:solidFill>
                <a:srgbClr val="FFFFFF"/>
              </a:solidFill>
            </a:ln>
          </p:spPr>
          <p:txBody>
            <a:bodyPr wrap="square" lIns="0" tIns="0" rIns="0" bIns="0" rtlCol="0"/>
            <a:lstStyle/>
            <a:p>
              <a:endParaRPr/>
            </a:p>
          </p:txBody>
        </p:sp>
      </p:grpSp>
      <p:grpSp>
        <p:nvGrpSpPr>
          <p:cNvPr id="7" name="object 7"/>
          <p:cNvGrpSpPr/>
          <p:nvPr/>
        </p:nvGrpSpPr>
        <p:grpSpPr>
          <a:xfrm>
            <a:off x="445008" y="2186939"/>
            <a:ext cx="8026400" cy="704850"/>
            <a:chOff x="445008" y="2186939"/>
            <a:chExt cx="8026400" cy="704850"/>
          </a:xfrm>
        </p:grpSpPr>
        <p:sp>
          <p:nvSpPr>
            <p:cNvPr id="8" name="object 8"/>
            <p:cNvSpPr/>
            <p:nvPr/>
          </p:nvSpPr>
          <p:spPr>
            <a:xfrm>
              <a:off x="457581" y="2450972"/>
              <a:ext cx="8001000" cy="428625"/>
            </a:xfrm>
            <a:custGeom>
              <a:avLst/>
              <a:gdLst/>
              <a:ahLst/>
              <a:cxnLst/>
              <a:rect l="l" t="t" r="r" b="b"/>
              <a:pathLst>
                <a:path w="8001000" h="428625">
                  <a:moveTo>
                    <a:pt x="0" y="428243"/>
                  </a:moveTo>
                  <a:lnTo>
                    <a:pt x="8001000" y="428243"/>
                  </a:lnTo>
                  <a:lnTo>
                    <a:pt x="8001000" y="0"/>
                  </a:lnTo>
                  <a:lnTo>
                    <a:pt x="0" y="0"/>
                  </a:lnTo>
                  <a:lnTo>
                    <a:pt x="0" y="428243"/>
                  </a:lnTo>
                  <a:close/>
                </a:path>
              </a:pathLst>
            </a:custGeom>
            <a:ln w="25146">
              <a:solidFill>
                <a:srgbClr val="6D5FA9"/>
              </a:solidFill>
            </a:ln>
          </p:spPr>
          <p:txBody>
            <a:bodyPr wrap="square" lIns="0" tIns="0" rIns="0" bIns="0" rtlCol="0"/>
            <a:lstStyle/>
            <a:p>
              <a:endParaRPr/>
            </a:p>
          </p:txBody>
        </p:sp>
        <p:sp>
          <p:nvSpPr>
            <p:cNvPr id="9" name="object 9"/>
            <p:cNvSpPr/>
            <p:nvPr/>
          </p:nvSpPr>
          <p:spPr>
            <a:xfrm>
              <a:off x="857631" y="2199512"/>
              <a:ext cx="5600700" cy="502284"/>
            </a:xfrm>
            <a:custGeom>
              <a:avLst/>
              <a:gdLst/>
              <a:ahLst/>
              <a:cxnLst/>
              <a:rect l="l" t="t" r="r" b="b"/>
              <a:pathLst>
                <a:path w="5600700" h="502285">
                  <a:moveTo>
                    <a:pt x="5517007" y="0"/>
                  </a:moveTo>
                  <a:lnTo>
                    <a:pt x="83693" y="0"/>
                  </a:lnTo>
                  <a:lnTo>
                    <a:pt x="51113" y="6576"/>
                  </a:lnTo>
                  <a:lnTo>
                    <a:pt x="24511" y="24510"/>
                  </a:lnTo>
                  <a:lnTo>
                    <a:pt x="6576" y="51113"/>
                  </a:lnTo>
                  <a:lnTo>
                    <a:pt x="0" y="83692"/>
                  </a:lnTo>
                  <a:lnTo>
                    <a:pt x="0" y="418464"/>
                  </a:lnTo>
                  <a:lnTo>
                    <a:pt x="6576" y="451044"/>
                  </a:lnTo>
                  <a:lnTo>
                    <a:pt x="24511" y="477646"/>
                  </a:lnTo>
                  <a:lnTo>
                    <a:pt x="51113" y="495581"/>
                  </a:lnTo>
                  <a:lnTo>
                    <a:pt x="83693" y="502157"/>
                  </a:lnTo>
                  <a:lnTo>
                    <a:pt x="5517007" y="502157"/>
                  </a:lnTo>
                  <a:lnTo>
                    <a:pt x="5549586" y="495581"/>
                  </a:lnTo>
                  <a:lnTo>
                    <a:pt x="5576189" y="477646"/>
                  </a:lnTo>
                  <a:lnTo>
                    <a:pt x="5594123" y="451044"/>
                  </a:lnTo>
                  <a:lnTo>
                    <a:pt x="5600700" y="418464"/>
                  </a:lnTo>
                  <a:lnTo>
                    <a:pt x="5600700" y="83692"/>
                  </a:lnTo>
                  <a:lnTo>
                    <a:pt x="5594123" y="51113"/>
                  </a:lnTo>
                  <a:lnTo>
                    <a:pt x="5576189" y="24510"/>
                  </a:lnTo>
                  <a:lnTo>
                    <a:pt x="5549586" y="6576"/>
                  </a:lnTo>
                  <a:lnTo>
                    <a:pt x="5517007" y="0"/>
                  </a:lnTo>
                  <a:close/>
                </a:path>
              </a:pathLst>
            </a:custGeom>
            <a:solidFill>
              <a:srgbClr val="6D5FA9"/>
            </a:solidFill>
          </p:spPr>
          <p:txBody>
            <a:bodyPr wrap="square" lIns="0" tIns="0" rIns="0" bIns="0" rtlCol="0"/>
            <a:lstStyle/>
            <a:p>
              <a:endParaRPr/>
            </a:p>
          </p:txBody>
        </p:sp>
        <p:sp>
          <p:nvSpPr>
            <p:cNvPr id="10" name="object 10"/>
            <p:cNvSpPr/>
            <p:nvPr/>
          </p:nvSpPr>
          <p:spPr>
            <a:xfrm>
              <a:off x="857631" y="2199512"/>
              <a:ext cx="5600700" cy="502284"/>
            </a:xfrm>
            <a:custGeom>
              <a:avLst/>
              <a:gdLst/>
              <a:ahLst/>
              <a:cxnLst/>
              <a:rect l="l" t="t" r="r" b="b"/>
              <a:pathLst>
                <a:path w="5600700" h="502285">
                  <a:moveTo>
                    <a:pt x="0" y="83692"/>
                  </a:moveTo>
                  <a:lnTo>
                    <a:pt x="6576" y="51113"/>
                  </a:lnTo>
                  <a:lnTo>
                    <a:pt x="24511" y="24510"/>
                  </a:lnTo>
                  <a:lnTo>
                    <a:pt x="51113" y="6576"/>
                  </a:lnTo>
                  <a:lnTo>
                    <a:pt x="83693" y="0"/>
                  </a:lnTo>
                  <a:lnTo>
                    <a:pt x="5517007" y="0"/>
                  </a:lnTo>
                  <a:lnTo>
                    <a:pt x="5549586" y="6576"/>
                  </a:lnTo>
                  <a:lnTo>
                    <a:pt x="5576189" y="24510"/>
                  </a:lnTo>
                  <a:lnTo>
                    <a:pt x="5594123" y="51113"/>
                  </a:lnTo>
                  <a:lnTo>
                    <a:pt x="5600700" y="83692"/>
                  </a:lnTo>
                  <a:lnTo>
                    <a:pt x="5600700" y="418464"/>
                  </a:lnTo>
                  <a:lnTo>
                    <a:pt x="5594123" y="451044"/>
                  </a:lnTo>
                  <a:lnTo>
                    <a:pt x="5576189" y="477646"/>
                  </a:lnTo>
                  <a:lnTo>
                    <a:pt x="5549586" y="495581"/>
                  </a:lnTo>
                  <a:lnTo>
                    <a:pt x="5517007" y="502157"/>
                  </a:lnTo>
                  <a:lnTo>
                    <a:pt x="83693" y="502157"/>
                  </a:lnTo>
                  <a:lnTo>
                    <a:pt x="51113" y="495581"/>
                  </a:lnTo>
                  <a:lnTo>
                    <a:pt x="24511" y="477646"/>
                  </a:lnTo>
                  <a:lnTo>
                    <a:pt x="6576" y="451044"/>
                  </a:lnTo>
                  <a:lnTo>
                    <a:pt x="0" y="418464"/>
                  </a:lnTo>
                  <a:lnTo>
                    <a:pt x="0" y="83692"/>
                  </a:lnTo>
                  <a:close/>
                </a:path>
              </a:pathLst>
            </a:custGeom>
            <a:ln w="25146">
              <a:solidFill>
                <a:srgbClr val="FFFFFF"/>
              </a:solidFill>
            </a:ln>
          </p:spPr>
          <p:txBody>
            <a:bodyPr wrap="square" lIns="0" tIns="0" rIns="0" bIns="0" rtlCol="0"/>
            <a:lstStyle/>
            <a:p>
              <a:endParaRPr/>
            </a:p>
          </p:txBody>
        </p:sp>
      </p:grpSp>
      <p:grpSp>
        <p:nvGrpSpPr>
          <p:cNvPr id="11" name="object 11"/>
          <p:cNvGrpSpPr/>
          <p:nvPr/>
        </p:nvGrpSpPr>
        <p:grpSpPr>
          <a:xfrm>
            <a:off x="445008" y="2958083"/>
            <a:ext cx="8026400" cy="704850"/>
            <a:chOff x="445008" y="2958083"/>
            <a:chExt cx="8026400" cy="704850"/>
          </a:xfrm>
        </p:grpSpPr>
        <p:sp>
          <p:nvSpPr>
            <p:cNvPr id="12" name="object 12"/>
            <p:cNvSpPr/>
            <p:nvPr/>
          </p:nvSpPr>
          <p:spPr>
            <a:xfrm>
              <a:off x="457581" y="3222116"/>
              <a:ext cx="8001000" cy="428625"/>
            </a:xfrm>
            <a:custGeom>
              <a:avLst/>
              <a:gdLst/>
              <a:ahLst/>
              <a:cxnLst/>
              <a:rect l="l" t="t" r="r" b="b"/>
              <a:pathLst>
                <a:path w="8001000" h="428625">
                  <a:moveTo>
                    <a:pt x="0" y="428243"/>
                  </a:moveTo>
                  <a:lnTo>
                    <a:pt x="8001000" y="428243"/>
                  </a:lnTo>
                  <a:lnTo>
                    <a:pt x="8001000" y="0"/>
                  </a:lnTo>
                  <a:lnTo>
                    <a:pt x="0" y="0"/>
                  </a:lnTo>
                  <a:lnTo>
                    <a:pt x="0" y="428243"/>
                  </a:lnTo>
                  <a:close/>
                </a:path>
              </a:pathLst>
            </a:custGeom>
            <a:ln w="25146">
              <a:solidFill>
                <a:srgbClr val="5A5EB0"/>
              </a:solidFill>
            </a:ln>
          </p:spPr>
          <p:txBody>
            <a:bodyPr wrap="square" lIns="0" tIns="0" rIns="0" bIns="0" rtlCol="0"/>
            <a:lstStyle/>
            <a:p>
              <a:endParaRPr/>
            </a:p>
          </p:txBody>
        </p:sp>
        <p:sp>
          <p:nvSpPr>
            <p:cNvPr id="13" name="object 13"/>
            <p:cNvSpPr/>
            <p:nvPr/>
          </p:nvSpPr>
          <p:spPr>
            <a:xfrm>
              <a:off x="857631" y="2970656"/>
              <a:ext cx="5600700" cy="502284"/>
            </a:xfrm>
            <a:custGeom>
              <a:avLst/>
              <a:gdLst/>
              <a:ahLst/>
              <a:cxnLst/>
              <a:rect l="l" t="t" r="r" b="b"/>
              <a:pathLst>
                <a:path w="5600700" h="502285">
                  <a:moveTo>
                    <a:pt x="5517007" y="0"/>
                  </a:moveTo>
                  <a:lnTo>
                    <a:pt x="83693" y="0"/>
                  </a:lnTo>
                  <a:lnTo>
                    <a:pt x="51113" y="6576"/>
                  </a:lnTo>
                  <a:lnTo>
                    <a:pt x="24511" y="24510"/>
                  </a:lnTo>
                  <a:lnTo>
                    <a:pt x="6576" y="51113"/>
                  </a:lnTo>
                  <a:lnTo>
                    <a:pt x="0" y="83692"/>
                  </a:lnTo>
                  <a:lnTo>
                    <a:pt x="0" y="418464"/>
                  </a:lnTo>
                  <a:lnTo>
                    <a:pt x="6576" y="451044"/>
                  </a:lnTo>
                  <a:lnTo>
                    <a:pt x="24511" y="477646"/>
                  </a:lnTo>
                  <a:lnTo>
                    <a:pt x="51113" y="495581"/>
                  </a:lnTo>
                  <a:lnTo>
                    <a:pt x="83693" y="502157"/>
                  </a:lnTo>
                  <a:lnTo>
                    <a:pt x="5517007" y="502157"/>
                  </a:lnTo>
                  <a:lnTo>
                    <a:pt x="5549586" y="495581"/>
                  </a:lnTo>
                  <a:lnTo>
                    <a:pt x="5576189" y="477646"/>
                  </a:lnTo>
                  <a:lnTo>
                    <a:pt x="5594123" y="451044"/>
                  </a:lnTo>
                  <a:lnTo>
                    <a:pt x="5600700" y="418464"/>
                  </a:lnTo>
                  <a:lnTo>
                    <a:pt x="5600700" y="83692"/>
                  </a:lnTo>
                  <a:lnTo>
                    <a:pt x="5594123" y="51113"/>
                  </a:lnTo>
                  <a:lnTo>
                    <a:pt x="5576189" y="24510"/>
                  </a:lnTo>
                  <a:lnTo>
                    <a:pt x="5549586" y="6576"/>
                  </a:lnTo>
                  <a:lnTo>
                    <a:pt x="5517007" y="0"/>
                  </a:lnTo>
                  <a:close/>
                </a:path>
              </a:pathLst>
            </a:custGeom>
            <a:solidFill>
              <a:srgbClr val="5A5EB0"/>
            </a:solidFill>
          </p:spPr>
          <p:txBody>
            <a:bodyPr wrap="square" lIns="0" tIns="0" rIns="0" bIns="0" rtlCol="0"/>
            <a:lstStyle/>
            <a:p>
              <a:endParaRPr/>
            </a:p>
          </p:txBody>
        </p:sp>
        <p:sp>
          <p:nvSpPr>
            <p:cNvPr id="14" name="object 14"/>
            <p:cNvSpPr/>
            <p:nvPr/>
          </p:nvSpPr>
          <p:spPr>
            <a:xfrm>
              <a:off x="857631" y="2970656"/>
              <a:ext cx="5600700" cy="502284"/>
            </a:xfrm>
            <a:custGeom>
              <a:avLst/>
              <a:gdLst/>
              <a:ahLst/>
              <a:cxnLst/>
              <a:rect l="l" t="t" r="r" b="b"/>
              <a:pathLst>
                <a:path w="5600700" h="502285">
                  <a:moveTo>
                    <a:pt x="0" y="83692"/>
                  </a:moveTo>
                  <a:lnTo>
                    <a:pt x="6576" y="51113"/>
                  </a:lnTo>
                  <a:lnTo>
                    <a:pt x="24511" y="24510"/>
                  </a:lnTo>
                  <a:lnTo>
                    <a:pt x="51113" y="6576"/>
                  </a:lnTo>
                  <a:lnTo>
                    <a:pt x="83693" y="0"/>
                  </a:lnTo>
                  <a:lnTo>
                    <a:pt x="5517007" y="0"/>
                  </a:lnTo>
                  <a:lnTo>
                    <a:pt x="5549586" y="6576"/>
                  </a:lnTo>
                  <a:lnTo>
                    <a:pt x="5576189" y="24510"/>
                  </a:lnTo>
                  <a:lnTo>
                    <a:pt x="5594123" y="51113"/>
                  </a:lnTo>
                  <a:lnTo>
                    <a:pt x="5600700" y="83692"/>
                  </a:lnTo>
                  <a:lnTo>
                    <a:pt x="5600700" y="418464"/>
                  </a:lnTo>
                  <a:lnTo>
                    <a:pt x="5594123" y="451044"/>
                  </a:lnTo>
                  <a:lnTo>
                    <a:pt x="5576189" y="477646"/>
                  </a:lnTo>
                  <a:lnTo>
                    <a:pt x="5549586" y="495581"/>
                  </a:lnTo>
                  <a:lnTo>
                    <a:pt x="5517007" y="502157"/>
                  </a:lnTo>
                  <a:lnTo>
                    <a:pt x="83693" y="502157"/>
                  </a:lnTo>
                  <a:lnTo>
                    <a:pt x="51113" y="495581"/>
                  </a:lnTo>
                  <a:lnTo>
                    <a:pt x="24511" y="477646"/>
                  </a:lnTo>
                  <a:lnTo>
                    <a:pt x="6576" y="451044"/>
                  </a:lnTo>
                  <a:lnTo>
                    <a:pt x="0" y="418464"/>
                  </a:lnTo>
                  <a:lnTo>
                    <a:pt x="0" y="83692"/>
                  </a:lnTo>
                  <a:close/>
                </a:path>
              </a:pathLst>
            </a:custGeom>
            <a:ln w="25146">
              <a:solidFill>
                <a:srgbClr val="FFFFFF"/>
              </a:solidFill>
            </a:ln>
          </p:spPr>
          <p:txBody>
            <a:bodyPr wrap="square" lIns="0" tIns="0" rIns="0" bIns="0" rtlCol="0"/>
            <a:lstStyle/>
            <a:p>
              <a:endParaRPr/>
            </a:p>
          </p:txBody>
        </p:sp>
      </p:grpSp>
      <p:grpSp>
        <p:nvGrpSpPr>
          <p:cNvPr id="15" name="object 15"/>
          <p:cNvGrpSpPr/>
          <p:nvPr/>
        </p:nvGrpSpPr>
        <p:grpSpPr>
          <a:xfrm>
            <a:off x="445008" y="3729228"/>
            <a:ext cx="8026400" cy="704850"/>
            <a:chOff x="445008" y="3729228"/>
            <a:chExt cx="8026400" cy="704850"/>
          </a:xfrm>
        </p:grpSpPr>
        <p:sp>
          <p:nvSpPr>
            <p:cNvPr id="16" name="object 16"/>
            <p:cNvSpPr/>
            <p:nvPr/>
          </p:nvSpPr>
          <p:spPr>
            <a:xfrm>
              <a:off x="457581" y="3993261"/>
              <a:ext cx="8001000" cy="428625"/>
            </a:xfrm>
            <a:custGeom>
              <a:avLst/>
              <a:gdLst/>
              <a:ahLst/>
              <a:cxnLst/>
              <a:rect l="l" t="t" r="r" b="b"/>
              <a:pathLst>
                <a:path w="8001000" h="428625">
                  <a:moveTo>
                    <a:pt x="0" y="428244"/>
                  </a:moveTo>
                  <a:lnTo>
                    <a:pt x="8001000" y="428244"/>
                  </a:lnTo>
                  <a:lnTo>
                    <a:pt x="8001000" y="0"/>
                  </a:lnTo>
                  <a:lnTo>
                    <a:pt x="0" y="0"/>
                  </a:lnTo>
                  <a:lnTo>
                    <a:pt x="0" y="428244"/>
                  </a:lnTo>
                  <a:close/>
                </a:path>
              </a:pathLst>
            </a:custGeom>
            <a:ln w="25146">
              <a:solidFill>
                <a:srgbClr val="5471B8"/>
              </a:solidFill>
            </a:ln>
          </p:spPr>
          <p:txBody>
            <a:bodyPr wrap="square" lIns="0" tIns="0" rIns="0" bIns="0" rtlCol="0"/>
            <a:lstStyle/>
            <a:p>
              <a:endParaRPr/>
            </a:p>
          </p:txBody>
        </p:sp>
        <p:sp>
          <p:nvSpPr>
            <p:cNvPr id="17" name="object 17"/>
            <p:cNvSpPr/>
            <p:nvPr/>
          </p:nvSpPr>
          <p:spPr>
            <a:xfrm>
              <a:off x="857631" y="3741801"/>
              <a:ext cx="5600700" cy="502284"/>
            </a:xfrm>
            <a:custGeom>
              <a:avLst/>
              <a:gdLst/>
              <a:ahLst/>
              <a:cxnLst/>
              <a:rect l="l" t="t" r="r" b="b"/>
              <a:pathLst>
                <a:path w="5600700" h="502285">
                  <a:moveTo>
                    <a:pt x="5517007" y="0"/>
                  </a:moveTo>
                  <a:lnTo>
                    <a:pt x="83693" y="0"/>
                  </a:lnTo>
                  <a:lnTo>
                    <a:pt x="51113" y="6576"/>
                  </a:lnTo>
                  <a:lnTo>
                    <a:pt x="24511" y="24511"/>
                  </a:lnTo>
                  <a:lnTo>
                    <a:pt x="6576" y="51113"/>
                  </a:lnTo>
                  <a:lnTo>
                    <a:pt x="0" y="83693"/>
                  </a:lnTo>
                  <a:lnTo>
                    <a:pt x="0" y="418465"/>
                  </a:lnTo>
                  <a:lnTo>
                    <a:pt x="6576" y="451044"/>
                  </a:lnTo>
                  <a:lnTo>
                    <a:pt x="24511" y="477647"/>
                  </a:lnTo>
                  <a:lnTo>
                    <a:pt x="51113" y="495581"/>
                  </a:lnTo>
                  <a:lnTo>
                    <a:pt x="83693" y="502158"/>
                  </a:lnTo>
                  <a:lnTo>
                    <a:pt x="5517007" y="502158"/>
                  </a:lnTo>
                  <a:lnTo>
                    <a:pt x="5549586" y="495581"/>
                  </a:lnTo>
                  <a:lnTo>
                    <a:pt x="5576189" y="477647"/>
                  </a:lnTo>
                  <a:lnTo>
                    <a:pt x="5594123" y="451044"/>
                  </a:lnTo>
                  <a:lnTo>
                    <a:pt x="5600700" y="418465"/>
                  </a:lnTo>
                  <a:lnTo>
                    <a:pt x="5600700" y="83693"/>
                  </a:lnTo>
                  <a:lnTo>
                    <a:pt x="5594123" y="51113"/>
                  </a:lnTo>
                  <a:lnTo>
                    <a:pt x="5576189" y="24511"/>
                  </a:lnTo>
                  <a:lnTo>
                    <a:pt x="5549586" y="6576"/>
                  </a:lnTo>
                  <a:lnTo>
                    <a:pt x="5517007" y="0"/>
                  </a:lnTo>
                  <a:close/>
                </a:path>
              </a:pathLst>
            </a:custGeom>
            <a:solidFill>
              <a:srgbClr val="5471B8"/>
            </a:solidFill>
          </p:spPr>
          <p:txBody>
            <a:bodyPr wrap="square" lIns="0" tIns="0" rIns="0" bIns="0" rtlCol="0"/>
            <a:lstStyle/>
            <a:p>
              <a:endParaRPr/>
            </a:p>
          </p:txBody>
        </p:sp>
        <p:sp>
          <p:nvSpPr>
            <p:cNvPr id="18" name="object 18"/>
            <p:cNvSpPr/>
            <p:nvPr/>
          </p:nvSpPr>
          <p:spPr>
            <a:xfrm>
              <a:off x="857631" y="3741801"/>
              <a:ext cx="5600700" cy="502284"/>
            </a:xfrm>
            <a:custGeom>
              <a:avLst/>
              <a:gdLst/>
              <a:ahLst/>
              <a:cxnLst/>
              <a:rect l="l" t="t" r="r" b="b"/>
              <a:pathLst>
                <a:path w="5600700" h="502285">
                  <a:moveTo>
                    <a:pt x="0" y="83693"/>
                  </a:moveTo>
                  <a:lnTo>
                    <a:pt x="6576" y="51113"/>
                  </a:lnTo>
                  <a:lnTo>
                    <a:pt x="24511" y="24511"/>
                  </a:lnTo>
                  <a:lnTo>
                    <a:pt x="51113" y="6576"/>
                  </a:lnTo>
                  <a:lnTo>
                    <a:pt x="83693" y="0"/>
                  </a:lnTo>
                  <a:lnTo>
                    <a:pt x="5517007" y="0"/>
                  </a:lnTo>
                  <a:lnTo>
                    <a:pt x="5549586" y="6576"/>
                  </a:lnTo>
                  <a:lnTo>
                    <a:pt x="5576189" y="24511"/>
                  </a:lnTo>
                  <a:lnTo>
                    <a:pt x="5594123" y="51113"/>
                  </a:lnTo>
                  <a:lnTo>
                    <a:pt x="5600700" y="83693"/>
                  </a:lnTo>
                  <a:lnTo>
                    <a:pt x="5600700" y="418465"/>
                  </a:lnTo>
                  <a:lnTo>
                    <a:pt x="5594123" y="451044"/>
                  </a:lnTo>
                  <a:lnTo>
                    <a:pt x="5576189" y="477647"/>
                  </a:lnTo>
                  <a:lnTo>
                    <a:pt x="5549586" y="495581"/>
                  </a:lnTo>
                  <a:lnTo>
                    <a:pt x="5517007" y="502158"/>
                  </a:lnTo>
                  <a:lnTo>
                    <a:pt x="83693" y="502158"/>
                  </a:lnTo>
                  <a:lnTo>
                    <a:pt x="51113" y="495581"/>
                  </a:lnTo>
                  <a:lnTo>
                    <a:pt x="24511" y="477647"/>
                  </a:lnTo>
                  <a:lnTo>
                    <a:pt x="6576" y="451044"/>
                  </a:lnTo>
                  <a:lnTo>
                    <a:pt x="0" y="418465"/>
                  </a:lnTo>
                  <a:lnTo>
                    <a:pt x="0" y="83693"/>
                  </a:lnTo>
                  <a:close/>
                </a:path>
              </a:pathLst>
            </a:custGeom>
            <a:ln w="25146">
              <a:solidFill>
                <a:srgbClr val="FFFFFF"/>
              </a:solidFill>
            </a:ln>
          </p:spPr>
          <p:txBody>
            <a:bodyPr wrap="square" lIns="0" tIns="0" rIns="0" bIns="0" rtlCol="0"/>
            <a:lstStyle/>
            <a:p>
              <a:endParaRPr/>
            </a:p>
          </p:txBody>
        </p:sp>
      </p:grpSp>
      <p:grpSp>
        <p:nvGrpSpPr>
          <p:cNvPr id="19" name="object 19"/>
          <p:cNvGrpSpPr/>
          <p:nvPr/>
        </p:nvGrpSpPr>
        <p:grpSpPr>
          <a:xfrm>
            <a:off x="445008" y="4500371"/>
            <a:ext cx="8026400" cy="704850"/>
            <a:chOff x="445008" y="4500371"/>
            <a:chExt cx="8026400" cy="704850"/>
          </a:xfrm>
        </p:grpSpPr>
        <p:sp>
          <p:nvSpPr>
            <p:cNvPr id="20" name="object 20"/>
            <p:cNvSpPr/>
            <p:nvPr/>
          </p:nvSpPr>
          <p:spPr>
            <a:xfrm>
              <a:off x="457581" y="4763642"/>
              <a:ext cx="8001000" cy="429259"/>
            </a:xfrm>
            <a:custGeom>
              <a:avLst/>
              <a:gdLst/>
              <a:ahLst/>
              <a:cxnLst/>
              <a:rect l="l" t="t" r="r" b="b"/>
              <a:pathLst>
                <a:path w="8001000" h="429260">
                  <a:moveTo>
                    <a:pt x="0" y="429005"/>
                  </a:moveTo>
                  <a:lnTo>
                    <a:pt x="8001000" y="429005"/>
                  </a:lnTo>
                  <a:lnTo>
                    <a:pt x="8001000" y="0"/>
                  </a:lnTo>
                  <a:lnTo>
                    <a:pt x="0" y="0"/>
                  </a:lnTo>
                  <a:lnTo>
                    <a:pt x="0" y="429005"/>
                  </a:lnTo>
                  <a:close/>
                </a:path>
              </a:pathLst>
            </a:custGeom>
            <a:ln w="25146">
              <a:solidFill>
                <a:srgbClr val="508BBE"/>
              </a:solidFill>
            </a:ln>
          </p:spPr>
          <p:txBody>
            <a:bodyPr wrap="square" lIns="0" tIns="0" rIns="0" bIns="0" rtlCol="0"/>
            <a:lstStyle/>
            <a:p>
              <a:endParaRPr/>
            </a:p>
          </p:txBody>
        </p:sp>
        <p:sp>
          <p:nvSpPr>
            <p:cNvPr id="21" name="object 21"/>
            <p:cNvSpPr/>
            <p:nvPr/>
          </p:nvSpPr>
          <p:spPr>
            <a:xfrm>
              <a:off x="857631" y="4512944"/>
              <a:ext cx="5600700" cy="502284"/>
            </a:xfrm>
            <a:custGeom>
              <a:avLst/>
              <a:gdLst/>
              <a:ahLst/>
              <a:cxnLst/>
              <a:rect l="l" t="t" r="r" b="b"/>
              <a:pathLst>
                <a:path w="5600700" h="502285">
                  <a:moveTo>
                    <a:pt x="5517007" y="0"/>
                  </a:moveTo>
                  <a:lnTo>
                    <a:pt x="83693" y="0"/>
                  </a:lnTo>
                  <a:lnTo>
                    <a:pt x="51113" y="6576"/>
                  </a:lnTo>
                  <a:lnTo>
                    <a:pt x="24511" y="24510"/>
                  </a:lnTo>
                  <a:lnTo>
                    <a:pt x="6576" y="51113"/>
                  </a:lnTo>
                  <a:lnTo>
                    <a:pt x="0" y="83692"/>
                  </a:lnTo>
                  <a:lnTo>
                    <a:pt x="0" y="418464"/>
                  </a:lnTo>
                  <a:lnTo>
                    <a:pt x="6576" y="451044"/>
                  </a:lnTo>
                  <a:lnTo>
                    <a:pt x="24511" y="477646"/>
                  </a:lnTo>
                  <a:lnTo>
                    <a:pt x="51113" y="495581"/>
                  </a:lnTo>
                  <a:lnTo>
                    <a:pt x="83693" y="502157"/>
                  </a:lnTo>
                  <a:lnTo>
                    <a:pt x="5517007" y="502157"/>
                  </a:lnTo>
                  <a:lnTo>
                    <a:pt x="5549586" y="495581"/>
                  </a:lnTo>
                  <a:lnTo>
                    <a:pt x="5576189" y="477646"/>
                  </a:lnTo>
                  <a:lnTo>
                    <a:pt x="5594123" y="451044"/>
                  </a:lnTo>
                  <a:lnTo>
                    <a:pt x="5600700" y="418464"/>
                  </a:lnTo>
                  <a:lnTo>
                    <a:pt x="5600700" y="83692"/>
                  </a:lnTo>
                  <a:lnTo>
                    <a:pt x="5594123" y="51113"/>
                  </a:lnTo>
                  <a:lnTo>
                    <a:pt x="5576189" y="24510"/>
                  </a:lnTo>
                  <a:lnTo>
                    <a:pt x="5549586" y="6576"/>
                  </a:lnTo>
                  <a:lnTo>
                    <a:pt x="5517007" y="0"/>
                  </a:lnTo>
                  <a:close/>
                </a:path>
              </a:pathLst>
            </a:custGeom>
            <a:solidFill>
              <a:srgbClr val="508BBE"/>
            </a:solidFill>
          </p:spPr>
          <p:txBody>
            <a:bodyPr wrap="square" lIns="0" tIns="0" rIns="0" bIns="0" rtlCol="0"/>
            <a:lstStyle/>
            <a:p>
              <a:endParaRPr/>
            </a:p>
          </p:txBody>
        </p:sp>
        <p:sp>
          <p:nvSpPr>
            <p:cNvPr id="22" name="object 22"/>
            <p:cNvSpPr/>
            <p:nvPr/>
          </p:nvSpPr>
          <p:spPr>
            <a:xfrm>
              <a:off x="857631" y="4512944"/>
              <a:ext cx="5600700" cy="502284"/>
            </a:xfrm>
            <a:custGeom>
              <a:avLst/>
              <a:gdLst/>
              <a:ahLst/>
              <a:cxnLst/>
              <a:rect l="l" t="t" r="r" b="b"/>
              <a:pathLst>
                <a:path w="5600700" h="502285">
                  <a:moveTo>
                    <a:pt x="0" y="83692"/>
                  </a:moveTo>
                  <a:lnTo>
                    <a:pt x="6576" y="51113"/>
                  </a:lnTo>
                  <a:lnTo>
                    <a:pt x="24511" y="24510"/>
                  </a:lnTo>
                  <a:lnTo>
                    <a:pt x="51113" y="6576"/>
                  </a:lnTo>
                  <a:lnTo>
                    <a:pt x="83693" y="0"/>
                  </a:lnTo>
                  <a:lnTo>
                    <a:pt x="5517007" y="0"/>
                  </a:lnTo>
                  <a:lnTo>
                    <a:pt x="5549586" y="6576"/>
                  </a:lnTo>
                  <a:lnTo>
                    <a:pt x="5576189" y="24510"/>
                  </a:lnTo>
                  <a:lnTo>
                    <a:pt x="5594123" y="51113"/>
                  </a:lnTo>
                  <a:lnTo>
                    <a:pt x="5600700" y="83692"/>
                  </a:lnTo>
                  <a:lnTo>
                    <a:pt x="5600700" y="418464"/>
                  </a:lnTo>
                  <a:lnTo>
                    <a:pt x="5594123" y="451044"/>
                  </a:lnTo>
                  <a:lnTo>
                    <a:pt x="5576189" y="477646"/>
                  </a:lnTo>
                  <a:lnTo>
                    <a:pt x="5549586" y="495581"/>
                  </a:lnTo>
                  <a:lnTo>
                    <a:pt x="5517007" y="502157"/>
                  </a:lnTo>
                  <a:lnTo>
                    <a:pt x="83693" y="502157"/>
                  </a:lnTo>
                  <a:lnTo>
                    <a:pt x="51113" y="495581"/>
                  </a:lnTo>
                  <a:lnTo>
                    <a:pt x="24511" y="477646"/>
                  </a:lnTo>
                  <a:lnTo>
                    <a:pt x="6576" y="451044"/>
                  </a:lnTo>
                  <a:lnTo>
                    <a:pt x="0" y="418464"/>
                  </a:lnTo>
                  <a:lnTo>
                    <a:pt x="0" y="83692"/>
                  </a:lnTo>
                  <a:close/>
                </a:path>
              </a:pathLst>
            </a:custGeom>
            <a:ln w="25146">
              <a:solidFill>
                <a:srgbClr val="FFFFFF"/>
              </a:solidFill>
            </a:ln>
          </p:spPr>
          <p:txBody>
            <a:bodyPr wrap="square" lIns="0" tIns="0" rIns="0" bIns="0" rtlCol="0"/>
            <a:lstStyle/>
            <a:p>
              <a:endParaRPr/>
            </a:p>
          </p:txBody>
        </p:sp>
      </p:grpSp>
      <p:grpSp>
        <p:nvGrpSpPr>
          <p:cNvPr id="23" name="object 23"/>
          <p:cNvGrpSpPr/>
          <p:nvPr/>
        </p:nvGrpSpPr>
        <p:grpSpPr>
          <a:xfrm>
            <a:off x="445008" y="5271515"/>
            <a:ext cx="8026400" cy="704850"/>
            <a:chOff x="445008" y="5271515"/>
            <a:chExt cx="8026400" cy="704850"/>
          </a:xfrm>
        </p:grpSpPr>
        <p:sp>
          <p:nvSpPr>
            <p:cNvPr id="24" name="object 24"/>
            <p:cNvSpPr/>
            <p:nvPr/>
          </p:nvSpPr>
          <p:spPr>
            <a:xfrm>
              <a:off x="457581" y="5534786"/>
              <a:ext cx="8001000" cy="429259"/>
            </a:xfrm>
            <a:custGeom>
              <a:avLst/>
              <a:gdLst/>
              <a:ahLst/>
              <a:cxnLst/>
              <a:rect l="l" t="t" r="r" b="b"/>
              <a:pathLst>
                <a:path w="8001000" h="429260">
                  <a:moveTo>
                    <a:pt x="0" y="429006"/>
                  </a:moveTo>
                  <a:lnTo>
                    <a:pt x="8001000" y="429006"/>
                  </a:lnTo>
                  <a:lnTo>
                    <a:pt x="8001000" y="0"/>
                  </a:lnTo>
                  <a:lnTo>
                    <a:pt x="0" y="0"/>
                  </a:lnTo>
                  <a:lnTo>
                    <a:pt x="0" y="429006"/>
                  </a:lnTo>
                  <a:close/>
                </a:path>
              </a:pathLst>
            </a:custGeom>
            <a:ln w="25146">
              <a:solidFill>
                <a:srgbClr val="4AACC5"/>
              </a:solidFill>
            </a:ln>
          </p:spPr>
          <p:txBody>
            <a:bodyPr wrap="square" lIns="0" tIns="0" rIns="0" bIns="0" rtlCol="0"/>
            <a:lstStyle/>
            <a:p>
              <a:endParaRPr/>
            </a:p>
          </p:txBody>
        </p:sp>
        <p:sp>
          <p:nvSpPr>
            <p:cNvPr id="25" name="object 25"/>
            <p:cNvSpPr/>
            <p:nvPr/>
          </p:nvSpPr>
          <p:spPr>
            <a:xfrm>
              <a:off x="857631" y="5284088"/>
              <a:ext cx="5600700" cy="502284"/>
            </a:xfrm>
            <a:custGeom>
              <a:avLst/>
              <a:gdLst/>
              <a:ahLst/>
              <a:cxnLst/>
              <a:rect l="l" t="t" r="r" b="b"/>
              <a:pathLst>
                <a:path w="5600700" h="502285">
                  <a:moveTo>
                    <a:pt x="5517007" y="0"/>
                  </a:moveTo>
                  <a:lnTo>
                    <a:pt x="83693" y="0"/>
                  </a:lnTo>
                  <a:lnTo>
                    <a:pt x="51113" y="6576"/>
                  </a:lnTo>
                  <a:lnTo>
                    <a:pt x="24511" y="24511"/>
                  </a:lnTo>
                  <a:lnTo>
                    <a:pt x="6576" y="51113"/>
                  </a:lnTo>
                  <a:lnTo>
                    <a:pt x="0" y="83693"/>
                  </a:lnTo>
                  <a:lnTo>
                    <a:pt x="0" y="418465"/>
                  </a:lnTo>
                  <a:lnTo>
                    <a:pt x="6576" y="451044"/>
                  </a:lnTo>
                  <a:lnTo>
                    <a:pt x="24511" y="477647"/>
                  </a:lnTo>
                  <a:lnTo>
                    <a:pt x="51113" y="495581"/>
                  </a:lnTo>
                  <a:lnTo>
                    <a:pt x="83693" y="502158"/>
                  </a:lnTo>
                  <a:lnTo>
                    <a:pt x="5517007" y="502158"/>
                  </a:lnTo>
                  <a:lnTo>
                    <a:pt x="5549586" y="495581"/>
                  </a:lnTo>
                  <a:lnTo>
                    <a:pt x="5576189" y="477647"/>
                  </a:lnTo>
                  <a:lnTo>
                    <a:pt x="5594123" y="451044"/>
                  </a:lnTo>
                  <a:lnTo>
                    <a:pt x="5600700" y="418465"/>
                  </a:lnTo>
                  <a:lnTo>
                    <a:pt x="5600700" y="83693"/>
                  </a:lnTo>
                  <a:lnTo>
                    <a:pt x="5594123" y="51113"/>
                  </a:lnTo>
                  <a:lnTo>
                    <a:pt x="5576189" y="24511"/>
                  </a:lnTo>
                  <a:lnTo>
                    <a:pt x="5549586" y="6576"/>
                  </a:lnTo>
                  <a:lnTo>
                    <a:pt x="5517007" y="0"/>
                  </a:lnTo>
                  <a:close/>
                </a:path>
              </a:pathLst>
            </a:custGeom>
            <a:solidFill>
              <a:srgbClr val="4AACC5"/>
            </a:solidFill>
          </p:spPr>
          <p:txBody>
            <a:bodyPr wrap="square" lIns="0" tIns="0" rIns="0" bIns="0" rtlCol="0"/>
            <a:lstStyle/>
            <a:p>
              <a:endParaRPr/>
            </a:p>
          </p:txBody>
        </p:sp>
        <p:sp>
          <p:nvSpPr>
            <p:cNvPr id="26" name="object 26"/>
            <p:cNvSpPr/>
            <p:nvPr/>
          </p:nvSpPr>
          <p:spPr>
            <a:xfrm>
              <a:off x="857631" y="5284088"/>
              <a:ext cx="5600700" cy="502284"/>
            </a:xfrm>
            <a:custGeom>
              <a:avLst/>
              <a:gdLst/>
              <a:ahLst/>
              <a:cxnLst/>
              <a:rect l="l" t="t" r="r" b="b"/>
              <a:pathLst>
                <a:path w="5600700" h="502285">
                  <a:moveTo>
                    <a:pt x="0" y="83693"/>
                  </a:moveTo>
                  <a:lnTo>
                    <a:pt x="6576" y="51113"/>
                  </a:lnTo>
                  <a:lnTo>
                    <a:pt x="24511" y="24511"/>
                  </a:lnTo>
                  <a:lnTo>
                    <a:pt x="51113" y="6576"/>
                  </a:lnTo>
                  <a:lnTo>
                    <a:pt x="83693" y="0"/>
                  </a:lnTo>
                  <a:lnTo>
                    <a:pt x="5517007" y="0"/>
                  </a:lnTo>
                  <a:lnTo>
                    <a:pt x="5549586" y="6576"/>
                  </a:lnTo>
                  <a:lnTo>
                    <a:pt x="5576189" y="24511"/>
                  </a:lnTo>
                  <a:lnTo>
                    <a:pt x="5594123" y="51113"/>
                  </a:lnTo>
                  <a:lnTo>
                    <a:pt x="5600700" y="83693"/>
                  </a:lnTo>
                  <a:lnTo>
                    <a:pt x="5600700" y="418465"/>
                  </a:lnTo>
                  <a:lnTo>
                    <a:pt x="5594123" y="451044"/>
                  </a:lnTo>
                  <a:lnTo>
                    <a:pt x="5576189" y="477647"/>
                  </a:lnTo>
                  <a:lnTo>
                    <a:pt x="5549586" y="495581"/>
                  </a:lnTo>
                  <a:lnTo>
                    <a:pt x="5517007" y="502158"/>
                  </a:lnTo>
                  <a:lnTo>
                    <a:pt x="83693" y="502158"/>
                  </a:lnTo>
                  <a:lnTo>
                    <a:pt x="51113" y="495581"/>
                  </a:lnTo>
                  <a:lnTo>
                    <a:pt x="24511" y="477647"/>
                  </a:lnTo>
                  <a:lnTo>
                    <a:pt x="6576" y="451044"/>
                  </a:lnTo>
                  <a:lnTo>
                    <a:pt x="0" y="418465"/>
                  </a:lnTo>
                  <a:lnTo>
                    <a:pt x="0" y="83693"/>
                  </a:lnTo>
                  <a:close/>
                </a:path>
              </a:pathLst>
            </a:custGeom>
            <a:ln w="25146">
              <a:solidFill>
                <a:srgbClr val="FFFFFF"/>
              </a:solidFill>
            </a:ln>
          </p:spPr>
          <p:txBody>
            <a:bodyPr wrap="square" lIns="0" tIns="0" rIns="0" bIns="0" rtlCol="0"/>
            <a:lstStyle/>
            <a:p>
              <a:endParaRPr/>
            </a:p>
          </p:txBody>
        </p:sp>
      </p:grpSp>
      <p:sp>
        <p:nvSpPr>
          <p:cNvPr id="27" name="object 27"/>
          <p:cNvSpPr txBox="1"/>
          <p:nvPr/>
        </p:nvSpPr>
        <p:spPr>
          <a:xfrm>
            <a:off x="1061718" y="1470992"/>
            <a:ext cx="6405881" cy="4257576"/>
          </a:xfrm>
          <a:prstGeom prst="rect">
            <a:avLst/>
          </a:prstGeom>
        </p:spPr>
        <p:txBody>
          <a:bodyPr vert="horz" wrap="square" lIns="0" tIns="12700" rIns="0" bIns="0" rtlCol="0">
            <a:spAutoFit/>
          </a:bodyPr>
          <a:lstStyle/>
          <a:p>
            <a:pPr marL="12700">
              <a:lnSpc>
                <a:spcPct val="100000"/>
              </a:lnSpc>
              <a:spcBef>
                <a:spcPts val="100"/>
              </a:spcBef>
            </a:pPr>
            <a:r>
              <a:rPr sz="2000" b="1" spc="-5" dirty="0">
                <a:solidFill>
                  <a:srgbClr val="FFFFFF"/>
                </a:solidFill>
                <a:latin typeface="Goudy Old Style"/>
                <a:cs typeface="Goudy Old Style"/>
              </a:rPr>
              <a:t>Amount of redundancy in the </a:t>
            </a:r>
            <a:r>
              <a:rPr sz="2000" b="1" spc="-10" dirty="0">
                <a:solidFill>
                  <a:srgbClr val="FFFFFF"/>
                </a:solidFill>
                <a:latin typeface="Goudy Old Style"/>
                <a:cs typeface="Goudy Old Style"/>
              </a:rPr>
              <a:t>stored </a:t>
            </a:r>
            <a:r>
              <a:rPr sz="2000" b="1" dirty="0">
                <a:solidFill>
                  <a:srgbClr val="FFFFFF"/>
                </a:solidFill>
                <a:latin typeface="Goudy Old Style"/>
                <a:cs typeface="Goudy Old Style"/>
              </a:rPr>
              <a:t>data can </a:t>
            </a:r>
            <a:r>
              <a:rPr sz="2000" b="1" spc="-5" dirty="0">
                <a:solidFill>
                  <a:srgbClr val="FFFFFF"/>
                </a:solidFill>
                <a:latin typeface="Goudy Old Style"/>
                <a:cs typeface="Goudy Old Style"/>
              </a:rPr>
              <a:t>be</a:t>
            </a:r>
            <a:r>
              <a:rPr sz="2000" b="1" spc="-25" dirty="0">
                <a:solidFill>
                  <a:srgbClr val="FFFFFF"/>
                </a:solidFill>
                <a:latin typeface="Goudy Old Style"/>
                <a:cs typeface="Goudy Old Style"/>
              </a:rPr>
              <a:t> </a:t>
            </a:r>
            <a:r>
              <a:rPr sz="2000" b="1" spc="-10" dirty="0">
                <a:solidFill>
                  <a:srgbClr val="FFFFFF"/>
                </a:solidFill>
                <a:latin typeface="Goudy Old Style"/>
                <a:cs typeface="Goudy Old Style"/>
              </a:rPr>
              <a:t>reduced</a:t>
            </a:r>
            <a:endParaRPr sz="2000">
              <a:latin typeface="Goudy Old Style"/>
              <a:cs typeface="Goudy Old Style"/>
            </a:endParaRPr>
          </a:p>
          <a:p>
            <a:pPr marL="31750" marR="1945639">
              <a:lnSpc>
                <a:spcPts val="6070"/>
              </a:lnSpc>
              <a:spcBef>
                <a:spcPts val="745"/>
              </a:spcBef>
            </a:pPr>
            <a:r>
              <a:rPr sz="2000" b="1" spc="-15" dirty="0">
                <a:solidFill>
                  <a:srgbClr val="FFFFFF"/>
                </a:solidFill>
                <a:latin typeface="Goudy Old Style"/>
                <a:cs typeface="Goudy Old Style"/>
              </a:rPr>
              <a:t>No </a:t>
            </a:r>
            <a:r>
              <a:rPr sz="2000" b="1" spc="-10" dirty="0">
                <a:solidFill>
                  <a:srgbClr val="FFFFFF"/>
                </a:solidFill>
                <a:latin typeface="Goudy Old Style"/>
                <a:cs typeface="Goudy Old Style"/>
              </a:rPr>
              <a:t>more </a:t>
            </a:r>
            <a:r>
              <a:rPr sz="2000" b="1" spc="-5" dirty="0">
                <a:solidFill>
                  <a:srgbClr val="FFFFFF"/>
                </a:solidFill>
                <a:latin typeface="Goudy Old Style"/>
                <a:cs typeface="Goudy Old Style"/>
              </a:rPr>
              <a:t>inconsistencies </a:t>
            </a:r>
            <a:r>
              <a:rPr sz="2000" b="1" spc="-5">
                <a:solidFill>
                  <a:srgbClr val="FFFFFF"/>
                </a:solidFill>
                <a:latin typeface="Goudy Old Style"/>
                <a:cs typeface="Goudy Old Style"/>
              </a:rPr>
              <a:t>in </a:t>
            </a:r>
            <a:r>
              <a:rPr sz="2000" b="1">
                <a:solidFill>
                  <a:srgbClr val="FFFFFF"/>
                </a:solidFill>
                <a:latin typeface="Goudy Old Style"/>
                <a:cs typeface="Goudy Old Style"/>
              </a:rPr>
              <a:t>data</a:t>
            </a:r>
            <a:endParaRPr lang="en-US" sz="2000" b="1">
              <a:solidFill>
                <a:srgbClr val="FFFFFF"/>
              </a:solidFill>
              <a:latin typeface="Goudy Old Style"/>
              <a:cs typeface="Goudy Old Style"/>
            </a:endParaRPr>
          </a:p>
          <a:p>
            <a:pPr marL="31750" marR="1945639">
              <a:lnSpc>
                <a:spcPts val="6070"/>
              </a:lnSpc>
              <a:spcBef>
                <a:spcPts val="745"/>
              </a:spcBef>
            </a:pPr>
            <a:r>
              <a:rPr sz="2000" b="1" spc="-10">
                <a:solidFill>
                  <a:srgbClr val="FFFFFF"/>
                </a:solidFill>
                <a:latin typeface="Goudy Old Style"/>
                <a:cs typeface="Goudy Old Style"/>
              </a:rPr>
              <a:t>Stored </a:t>
            </a:r>
            <a:r>
              <a:rPr lang="en-US" sz="2000" b="1">
                <a:solidFill>
                  <a:srgbClr val="FFFFFF"/>
                </a:solidFill>
                <a:latin typeface="Goudy Old Style"/>
                <a:cs typeface="Goudy Old Style"/>
              </a:rPr>
              <a:t>d</a:t>
            </a:r>
            <a:r>
              <a:rPr sz="2000" b="1">
                <a:solidFill>
                  <a:srgbClr val="FFFFFF"/>
                </a:solidFill>
                <a:latin typeface="Goudy Old Style"/>
                <a:cs typeface="Goudy Old Style"/>
              </a:rPr>
              <a:t>ata </a:t>
            </a:r>
            <a:r>
              <a:rPr sz="2000" b="1" dirty="0">
                <a:solidFill>
                  <a:srgbClr val="FFFFFF"/>
                </a:solidFill>
                <a:latin typeface="Goudy Old Style"/>
                <a:cs typeface="Goudy Old Style"/>
              </a:rPr>
              <a:t>can </a:t>
            </a:r>
            <a:r>
              <a:rPr sz="2000" b="1" spc="-5">
                <a:solidFill>
                  <a:srgbClr val="FFFFFF"/>
                </a:solidFill>
                <a:latin typeface="Goudy Old Style"/>
                <a:cs typeface="Goudy Old Style"/>
              </a:rPr>
              <a:t>be </a:t>
            </a:r>
            <a:r>
              <a:rPr sz="2000" b="1" spc="-10">
                <a:solidFill>
                  <a:srgbClr val="FFFFFF"/>
                </a:solidFill>
                <a:latin typeface="Goudy Old Style"/>
                <a:cs typeface="Goudy Old Style"/>
              </a:rPr>
              <a:t>shared</a:t>
            </a:r>
            <a:endParaRPr lang="en-US" sz="2000" b="1" spc="-10">
              <a:solidFill>
                <a:srgbClr val="FFFFFF"/>
              </a:solidFill>
              <a:latin typeface="Goudy Old Style"/>
              <a:cs typeface="Goudy Old Style"/>
            </a:endParaRPr>
          </a:p>
          <a:p>
            <a:pPr marL="31750" marR="1945639">
              <a:lnSpc>
                <a:spcPts val="6070"/>
              </a:lnSpc>
              <a:spcBef>
                <a:spcPts val="745"/>
              </a:spcBef>
            </a:pPr>
            <a:r>
              <a:rPr sz="2000" b="1" spc="-5">
                <a:solidFill>
                  <a:srgbClr val="FFFFFF"/>
                </a:solidFill>
                <a:latin typeface="Goudy Old Style"/>
                <a:cs typeface="Goudy Old Style"/>
              </a:rPr>
              <a:t>Standards </a:t>
            </a:r>
            <a:r>
              <a:rPr sz="2000" b="1" dirty="0">
                <a:solidFill>
                  <a:srgbClr val="FFFFFF"/>
                </a:solidFill>
                <a:latin typeface="Goudy Old Style"/>
                <a:cs typeface="Goudy Old Style"/>
              </a:rPr>
              <a:t>can </a:t>
            </a:r>
            <a:r>
              <a:rPr sz="2000" b="1" spc="-5" dirty="0">
                <a:solidFill>
                  <a:srgbClr val="FFFFFF"/>
                </a:solidFill>
                <a:latin typeface="Goudy Old Style"/>
                <a:cs typeface="Goudy Old Style"/>
              </a:rPr>
              <a:t>be </a:t>
            </a:r>
            <a:r>
              <a:rPr sz="2000" b="1" spc="-10">
                <a:solidFill>
                  <a:srgbClr val="FFFFFF"/>
                </a:solidFill>
                <a:latin typeface="Goudy Old Style"/>
                <a:cs typeface="Goudy Old Style"/>
              </a:rPr>
              <a:t>set </a:t>
            </a:r>
            <a:r>
              <a:rPr lang="en-US" sz="2000" b="1" spc="-5">
                <a:solidFill>
                  <a:srgbClr val="FFFFFF"/>
                </a:solidFill>
                <a:latin typeface="Goudy Old Style"/>
                <a:cs typeface="Goudy Old Style"/>
              </a:rPr>
              <a:t>a</a:t>
            </a:r>
            <a:r>
              <a:rPr sz="2000" b="1" spc="-5">
                <a:solidFill>
                  <a:srgbClr val="FFFFFF"/>
                </a:solidFill>
                <a:latin typeface="Goudy Old Style"/>
                <a:cs typeface="Goudy Old Style"/>
              </a:rPr>
              <a:t>nd </a:t>
            </a:r>
            <a:r>
              <a:rPr sz="2000" b="1" spc="-15">
                <a:solidFill>
                  <a:srgbClr val="FFFFFF"/>
                </a:solidFill>
                <a:latin typeface="Goudy Old Style"/>
                <a:cs typeface="Goudy Old Style"/>
              </a:rPr>
              <a:t>followed</a:t>
            </a:r>
            <a:br>
              <a:rPr lang="en-US" sz="2000" b="1" spc="-15">
                <a:solidFill>
                  <a:srgbClr val="FFFFFF"/>
                </a:solidFill>
                <a:latin typeface="Goudy Old Style"/>
                <a:cs typeface="Goudy Old Style"/>
              </a:rPr>
            </a:br>
            <a:r>
              <a:rPr sz="2000" b="1">
                <a:solidFill>
                  <a:srgbClr val="FFFFFF"/>
                </a:solidFill>
                <a:latin typeface="Goudy Old Style"/>
                <a:cs typeface="Goudy Old Style"/>
              </a:rPr>
              <a:t>Data </a:t>
            </a:r>
            <a:r>
              <a:rPr lang="en-US" sz="2000" b="1" spc="-5">
                <a:solidFill>
                  <a:srgbClr val="FFFFFF"/>
                </a:solidFill>
                <a:latin typeface="Goudy Old Style"/>
                <a:cs typeface="Goudy Old Style"/>
              </a:rPr>
              <a:t>I</a:t>
            </a:r>
            <a:r>
              <a:rPr sz="2000" b="1" spc="-5">
                <a:solidFill>
                  <a:srgbClr val="FFFFFF"/>
                </a:solidFill>
                <a:latin typeface="Goudy Old Style"/>
                <a:cs typeface="Goudy Old Style"/>
              </a:rPr>
              <a:t>ntegrity </a:t>
            </a:r>
            <a:r>
              <a:rPr sz="2000" b="1" dirty="0">
                <a:solidFill>
                  <a:srgbClr val="FFFFFF"/>
                </a:solidFill>
                <a:latin typeface="Goudy Old Style"/>
                <a:cs typeface="Goudy Old Style"/>
              </a:rPr>
              <a:t>can </a:t>
            </a:r>
            <a:r>
              <a:rPr sz="2000" b="1" spc="-5" dirty="0">
                <a:solidFill>
                  <a:srgbClr val="FFFFFF"/>
                </a:solidFill>
                <a:latin typeface="Goudy Old Style"/>
                <a:cs typeface="Goudy Old Style"/>
              </a:rPr>
              <a:t>be</a:t>
            </a:r>
            <a:r>
              <a:rPr sz="2000" b="1" spc="-40" dirty="0">
                <a:solidFill>
                  <a:srgbClr val="FFFFFF"/>
                </a:solidFill>
                <a:latin typeface="Goudy Old Style"/>
                <a:cs typeface="Goudy Old Style"/>
              </a:rPr>
              <a:t> </a:t>
            </a:r>
            <a:r>
              <a:rPr sz="2000" b="1" spc="-5" dirty="0">
                <a:solidFill>
                  <a:srgbClr val="FFFFFF"/>
                </a:solidFill>
                <a:latin typeface="Goudy Old Style"/>
                <a:cs typeface="Goudy Old Style"/>
              </a:rPr>
              <a:t>maintained</a:t>
            </a:r>
            <a:endParaRPr sz="2000">
              <a:latin typeface="Goudy Old Style"/>
              <a:cs typeface="Goudy Old Style"/>
            </a:endParaRPr>
          </a:p>
          <a:p>
            <a:pPr marL="31750">
              <a:lnSpc>
                <a:spcPct val="100000"/>
              </a:lnSpc>
              <a:spcBef>
                <a:spcPts val="1105"/>
              </a:spcBef>
            </a:pPr>
            <a:r>
              <a:rPr sz="2000" b="1" spc="-5">
                <a:solidFill>
                  <a:srgbClr val="FFFFFF"/>
                </a:solidFill>
                <a:latin typeface="Goudy Old Style"/>
                <a:cs typeface="Goudy Old Style"/>
              </a:rPr>
              <a:t>Security </a:t>
            </a:r>
            <a:r>
              <a:rPr sz="2000" b="1" spc="-5" dirty="0">
                <a:solidFill>
                  <a:srgbClr val="FFFFFF"/>
                </a:solidFill>
                <a:latin typeface="Goudy Old Style"/>
                <a:cs typeface="Goudy Old Style"/>
              </a:rPr>
              <a:t>of </a:t>
            </a:r>
            <a:r>
              <a:rPr sz="2000" b="1" dirty="0">
                <a:solidFill>
                  <a:srgbClr val="FFFFFF"/>
                </a:solidFill>
                <a:latin typeface="Goudy Old Style"/>
                <a:cs typeface="Goudy Old Style"/>
              </a:rPr>
              <a:t>data can </a:t>
            </a:r>
            <a:r>
              <a:rPr sz="2000" b="1" spc="-5" dirty="0">
                <a:solidFill>
                  <a:srgbClr val="FFFFFF"/>
                </a:solidFill>
                <a:latin typeface="Goudy Old Style"/>
                <a:cs typeface="Goudy Old Style"/>
              </a:rPr>
              <a:t>be</a:t>
            </a:r>
            <a:r>
              <a:rPr sz="2000" b="1" spc="-25" dirty="0">
                <a:solidFill>
                  <a:srgbClr val="FFFFFF"/>
                </a:solidFill>
                <a:latin typeface="Goudy Old Style"/>
                <a:cs typeface="Goudy Old Style"/>
              </a:rPr>
              <a:t> </a:t>
            </a:r>
            <a:r>
              <a:rPr sz="2000" b="1" spc="-5" dirty="0">
                <a:solidFill>
                  <a:srgbClr val="FFFFFF"/>
                </a:solidFill>
                <a:latin typeface="Goudy Old Style"/>
                <a:cs typeface="Goudy Old Style"/>
              </a:rPr>
              <a:t>implemented</a:t>
            </a:r>
            <a:endParaRPr sz="2000">
              <a:latin typeface="Goudy Old Style"/>
              <a:cs typeface="Goudy Old Style"/>
            </a:endParaRPr>
          </a:p>
        </p:txBody>
      </p:sp>
      <p:sp>
        <p:nvSpPr>
          <p:cNvPr id="29" name="object 29"/>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9</a:t>
            </a:fld>
            <a:endParaRPr sz="1200"/>
          </a:p>
        </p:txBody>
      </p:sp>
      <p:sp>
        <p:nvSpPr>
          <p:cNvPr id="30" name="object 30"/>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339090" y="4019537"/>
            <a:ext cx="8234933" cy="843546"/>
          </a:xfrm>
          <a:prstGeom prst="rect">
            <a:avLst/>
          </a:prstGeom>
        </p:spPr>
      </p:pic>
      <p:sp>
        <p:nvSpPr>
          <p:cNvPr id="3" name="object 3"/>
          <p:cNvSpPr txBox="1">
            <a:spLocks noGrp="1"/>
          </p:cNvSpPr>
          <p:nvPr>
            <p:ph type="title"/>
          </p:nvPr>
        </p:nvSpPr>
        <p:spPr>
          <a:xfrm>
            <a:off x="383540" y="121411"/>
            <a:ext cx="7762875" cy="574040"/>
          </a:xfrm>
          <a:prstGeom prst="rect">
            <a:avLst/>
          </a:prstGeom>
        </p:spPr>
        <p:txBody>
          <a:bodyPr vert="horz" wrap="square" lIns="0" tIns="12700" rIns="0" bIns="0" rtlCol="0">
            <a:spAutoFit/>
          </a:bodyPr>
          <a:lstStyle/>
          <a:p>
            <a:pPr marL="12700">
              <a:lnSpc>
                <a:spcPct val="100000"/>
              </a:lnSpc>
              <a:spcBef>
                <a:spcPts val="100"/>
              </a:spcBef>
            </a:pPr>
            <a:r>
              <a:rPr b="0" dirty="0">
                <a:latin typeface="Goudy Old Style"/>
                <a:cs typeface="Goudy Old Style"/>
              </a:rPr>
              <a:t>Database </a:t>
            </a:r>
            <a:r>
              <a:rPr b="0" spc="-5" dirty="0">
                <a:latin typeface="Goudy Old Style"/>
                <a:cs typeface="Goudy Old Style"/>
              </a:rPr>
              <a:t>Management </a:t>
            </a:r>
            <a:r>
              <a:rPr b="0" spc="-10" dirty="0">
                <a:latin typeface="Goudy Old Style"/>
                <a:cs typeface="Goudy Old Style"/>
              </a:rPr>
              <a:t>System </a:t>
            </a:r>
            <a:r>
              <a:rPr b="0" spc="-5" dirty="0">
                <a:latin typeface="Goudy Old Style"/>
                <a:cs typeface="Goudy Old Style"/>
              </a:rPr>
              <a:t>(DBMS)</a:t>
            </a:r>
            <a:r>
              <a:rPr b="0" spc="-45" dirty="0">
                <a:latin typeface="Goudy Old Style"/>
                <a:cs typeface="Goudy Old Style"/>
              </a:rPr>
              <a:t> </a:t>
            </a:r>
            <a:r>
              <a:rPr b="0" spc="15" dirty="0">
                <a:latin typeface="Goudy Old Style"/>
                <a:cs typeface="Goudy Old Style"/>
              </a:rPr>
              <a:t>1-3</a:t>
            </a:r>
          </a:p>
        </p:txBody>
      </p:sp>
      <p:pic>
        <p:nvPicPr>
          <p:cNvPr id="4" name="object 4"/>
          <p:cNvPicPr/>
          <p:nvPr/>
        </p:nvPicPr>
        <p:blipFill>
          <a:blip r:embed="rId4" cstate="print"/>
          <a:stretch>
            <a:fillRect/>
          </a:stretch>
        </p:blipFill>
        <p:spPr>
          <a:xfrm>
            <a:off x="339090" y="1123937"/>
            <a:ext cx="8234933" cy="919746"/>
          </a:xfrm>
          <a:prstGeom prst="rect">
            <a:avLst/>
          </a:prstGeom>
        </p:spPr>
      </p:pic>
      <p:pic>
        <p:nvPicPr>
          <p:cNvPr id="5" name="object 5"/>
          <p:cNvPicPr/>
          <p:nvPr/>
        </p:nvPicPr>
        <p:blipFill>
          <a:blip r:embed="rId3" cstate="print"/>
          <a:stretch>
            <a:fillRect/>
          </a:stretch>
        </p:blipFill>
        <p:spPr>
          <a:xfrm>
            <a:off x="339090" y="2114537"/>
            <a:ext cx="8234933" cy="843546"/>
          </a:xfrm>
          <a:prstGeom prst="rect">
            <a:avLst/>
          </a:prstGeom>
        </p:spPr>
      </p:pic>
      <p:pic>
        <p:nvPicPr>
          <p:cNvPr id="6" name="object 6"/>
          <p:cNvPicPr/>
          <p:nvPr/>
        </p:nvPicPr>
        <p:blipFill>
          <a:blip r:embed="rId5" cstate="print"/>
          <a:stretch>
            <a:fillRect/>
          </a:stretch>
        </p:blipFill>
        <p:spPr>
          <a:xfrm>
            <a:off x="339090" y="3028937"/>
            <a:ext cx="8234933" cy="919746"/>
          </a:xfrm>
          <a:prstGeom prst="rect">
            <a:avLst/>
          </a:prstGeom>
        </p:spPr>
      </p:pic>
      <p:sp>
        <p:nvSpPr>
          <p:cNvPr id="7" name="object 7"/>
          <p:cNvSpPr txBox="1"/>
          <p:nvPr/>
        </p:nvSpPr>
        <p:spPr>
          <a:xfrm>
            <a:off x="514095" y="1262379"/>
            <a:ext cx="7785734" cy="3284220"/>
          </a:xfrm>
          <a:prstGeom prst="rect">
            <a:avLst/>
          </a:prstGeom>
        </p:spPr>
        <p:txBody>
          <a:bodyPr vert="horz" wrap="square" lIns="0" tIns="43815" rIns="0" bIns="0" rtlCol="0">
            <a:spAutoFit/>
          </a:bodyPr>
          <a:lstStyle/>
          <a:p>
            <a:pPr marL="12700" marR="633730">
              <a:lnSpc>
                <a:spcPts val="1939"/>
              </a:lnSpc>
              <a:spcBef>
                <a:spcPts val="345"/>
              </a:spcBef>
            </a:pPr>
            <a:r>
              <a:rPr sz="1800" dirty="0">
                <a:solidFill>
                  <a:srgbClr val="FFFFFF"/>
                </a:solidFill>
                <a:latin typeface="Goudy Old Style"/>
                <a:cs typeface="Goudy Old Style"/>
              </a:rPr>
              <a:t>A DBMS is a collection </a:t>
            </a:r>
            <a:r>
              <a:rPr sz="1800" spc="-5" dirty="0">
                <a:solidFill>
                  <a:srgbClr val="FFFFFF"/>
                </a:solidFill>
                <a:latin typeface="Goudy Old Style"/>
                <a:cs typeface="Goudy Old Style"/>
              </a:rPr>
              <a:t>of </a:t>
            </a:r>
            <a:r>
              <a:rPr sz="1800" spc="-10" dirty="0">
                <a:solidFill>
                  <a:srgbClr val="FFFFFF"/>
                </a:solidFill>
                <a:latin typeface="Goudy Old Style"/>
                <a:cs typeface="Goudy Old Style"/>
              </a:rPr>
              <a:t>related </a:t>
            </a:r>
            <a:r>
              <a:rPr sz="1800" spc="-15" dirty="0">
                <a:solidFill>
                  <a:srgbClr val="FFFFFF"/>
                </a:solidFill>
                <a:latin typeface="Goudy Old Style"/>
                <a:cs typeface="Goudy Old Style"/>
              </a:rPr>
              <a:t>records </a:t>
            </a:r>
            <a:r>
              <a:rPr sz="1800" spc="-5" dirty="0">
                <a:solidFill>
                  <a:srgbClr val="FFFFFF"/>
                </a:solidFill>
                <a:latin typeface="Goudy Old Style"/>
                <a:cs typeface="Goudy Old Style"/>
              </a:rPr>
              <a:t>and </a:t>
            </a:r>
            <a:r>
              <a:rPr sz="1800" dirty="0">
                <a:solidFill>
                  <a:srgbClr val="FFFFFF"/>
                </a:solidFill>
                <a:latin typeface="Goudy Old Style"/>
                <a:cs typeface="Goudy Old Style"/>
              </a:rPr>
              <a:t>a </a:t>
            </a:r>
            <a:r>
              <a:rPr sz="1800" spc="-10" dirty="0">
                <a:solidFill>
                  <a:srgbClr val="FFFFFF"/>
                </a:solidFill>
                <a:latin typeface="Goudy Old Style"/>
                <a:cs typeface="Goudy Old Style"/>
              </a:rPr>
              <a:t>set </a:t>
            </a:r>
            <a:r>
              <a:rPr sz="1800" spc="-5" dirty="0">
                <a:solidFill>
                  <a:srgbClr val="FFFFFF"/>
                </a:solidFill>
                <a:latin typeface="Goudy Old Style"/>
                <a:cs typeface="Goudy Old Style"/>
              </a:rPr>
              <a:t>of </a:t>
            </a:r>
            <a:r>
              <a:rPr sz="1800" spc="-10" dirty="0">
                <a:solidFill>
                  <a:srgbClr val="FFFFFF"/>
                </a:solidFill>
                <a:latin typeface="Goudy Old Style"/>
                <a:cs typeface="Goudy Old Style"/>
              </a:rPr>
              <a:t>programs </a:t>
            </a:r>
            <a:r>
              <a:rPr sz="1800" dirty="0">
                <a:solidFill>
                  <a:srgbClr val="FFFFFF"/>
                </a:solidFill>
                <a:latin typeface="Goudy Old Style"/>
                <a:cs typeface="Goudy Old Style"/>
              </a:rPr>
              <a:t>that </a:t>
            </a:r>
            <a:r>
              <a:rPr sz="1800" spc="-5" dirty="0">
                <a:solidFill>
                  <a:srgbClr val="FFFFFF"/>
                </a:solidFill>
                <a:latin typeface="Goudy Old Style"/>
                <a:cs typeface="Goudy Old Style"/>
              </a:rPr>
              <a:t>access and  manipulate </a:t>
            </a:r>
            <a:r>
              <a:rPr sz="1800" dirty="0">
                <a:solidFill>
                  <a:srgbClr val="FFFFFF"/>
                </a:solidFill>
                <a:latin typeface="Goudy Old Style"/>
                <a:cs typeface="Goudy Old Style"/>
              </a:rPr>
              <a:t>these </a:t>
            </a:r>
            <a:r>
              <a:rPr sz="1800" spc="-15" dirty="0">
                <a:solidFill>
                  <a:srgbClr val="FFFFFF"/>
                </a:solidFill>
                <a:latin typeface="Goudy Old Style"/>
                <a:cs typeface="Goudy Old Style"/>
              </a:rPr>
              <a:t>records </a:t>
            </a:r>
            <a:r>
              <a:rPr sz="1800" spc="-5" dirty="0">
                <a:solidFill>
                  <a:srgbClr val="FFFFFF"/>
                </a:solidFill>
                <a:latin typeface="Goudy Old Style"/>
                <a:cs typeface="Goudy Old Style"/>
              </a:rPr>
              <a:t>and enables </a:t>
            </a:r>
            <a:r>
              <a:rPr sz="1800" dirty="0">
                <a:solidFill>
                  <a:srgbClr val="FFFFFF"/>
                </a:solidFill>
                <a:latin typeface="Goudy Old Style"/>
                <a:cs typeface="Goudy Old Style"/>
              </a:rPr>
              <a:t>the </a:t>
            </a:r>
            <a:r>
              <a:rPr sz="1800" spc="-5" dirty="0">
                <a:solidFill>
                  <a:srgbClr val="FFFFFF"/>
                </a:solidFill>
                <a:latin typeface="Goudy Old Style"/>
                <a:cs typeface="Goudy Old Style"/>
              </a:rPr>
              <a:t>user to </a:t>
            </a:r>
            <a:r>
              <a:rPr sz="1800" spc="-20" dirty="0">
                <a:solidFill>
                  <a:srgbClr val="FFFFFF"/>
                </a:solidFill>
                <a:latin typeface="Goudy Old Style"/>
                <a:cs typeface="Goudy Old Style"/>
              </a:rPr>
              <a:t>enter, </a:t>
            </a:r>
            <a:r>
              <a:rPr sz="1800" spc="-10" dirty="0">
                <a:solidFill>
                  <a:srgbClr val="FFFFFF"/>
                </a:solidFill>
                <a:latin typeface="Goudy Old Style"/>
                <a:cs typeface="Goudy Old Style"/>
              </a:rPr>
              <a:t>store, </a:t>
            </a:r>
            <a:r>
              <a:rPr sz="1800" spc="-5" dirty="0">
                <a:solidFill>
                  <a:srgbClr val="FFFFFF"/>
                </a:solidFill>
                <a:latin typeface="Goudy Old Style"/>
                <a:cs typeface="Goudy Old Style"/>
              </a:rPr>
              <a:t>and manage</a:t>
            </a:r>
            <a:r>
              <a:rPr sz="1800" spc="15" dirty="0">
                <a:solidFill>
                  <a:srgbClr val="FFFFFF"/>
                </a:solidFill>
                <a:latin typeface="Goudy Old Style"/>
                <a:cs typeface="Goudy Old Style"/>
              </a:rPr>
              <a:t> </a:t>
            </a:r>
            <a:r>
              <a:rPr sz="1800" dirty="0">
                <a:solidFill>
                  <a:srgbClr val="FFFFFF"/>
                </a:solidFill>
                <a:latin typeface="Goudy Old Style"/>
                <a:cs typeface="Goudy Old Style"/>
              </a:rPr>
              <a:t>data.</a:t>
            </a:r>
            <a:endParaRPr sz="1800">
              <a:latin typeface="Goudy Old Style"/>
              <a:cs typeface="Goudy Old Style"/>
            </a:endParaRPr>
          </a:p>
          <a:p>
            <a:pPr>
              <a:lnSpc>
                <a:spcPct val="100000"/>
              </a:lnSpc>
            </a:pPr>
            <a:endParaRPr sz="2000">
              <a:latin typeface="Goudy Old Style"/>
              <a:cs typeface="Goudy Old Style"/>
            </a:endParaRPr>
          </a:p>
          <a:p>
            <a:pPr marL="19050" marR="239395">
              <a:lnSpc>
                <a:spcPts val="1939"/>
              </a:lnSpc>
              <a:spcBef>
                <a:spcPts val="1245"/>
              </a:spcBef>
            </a:pPr>
            <a:r>
              <a:rPr sz="1800" spc="-5" dirty="0">
                <a:solidFill>
                  <a:srgbClr val="FFFFFF"/>
                </a:solidFill>
                <a:latin typeface="Goudy Old Style"/>
                <a:cs typeface="Goudy Old Style"/>
              </a:rPr>
              <a:t>In </a:t>
            </a:r>
            <a:r>
              <a:rPr sz="1800" dirty="0">
                <a:solidFill>
                  <a:srgbClr val="FFFFFF"/>
                </a:solidFill>
                <a:latin typeface="Goudy Old Style"/>
                <a:cs typeface="Goudy Old Style"/>
              </a:rPr>
              <a:t>a </a:t>
            </a:r>
            <a:r>
              <a:rPr sz="1800" spc="-5" dirty="0">
                <a:solidFill>
                  <a:srgbClr val="FFFFFF"/>
                </a:solidFill>
                <a:latin typeface="Goudy Old Style"/>
                <a:cs typeface="Goudy Old Style"/>
              </a:rPr>
              <a:t>centralized database system, </a:t>
            </a:r>
            <a:r>
              <a:rPr sz="1800" dirty="0">
                <a:solidFill>
                  <a:srgbClr val="FFFFFF"/>
                </a:solidFill>
                <a:latin typeface="Goudy Old Style"/>
                <a:cs typeface="Goudy Old Style"/>
              </a:rPr>
              <a:t>the </a:t>
            </a:r>
            <a:r>
              <a:rPr sz="1800" spc="-5" dirty="0">
                <a:solidFill>
                  <a:srgbClr val="FFFFFF"/>
                </a:solidFill>
                <a:latin typeface="Goudy Old Style"/>
                <a:cs typeface="Goudy Old Style"/>
              </a:rPr>
              <a:t>database </a:t>
            </a:r>
            <a:r>
              <a:rPr sz="1800" dirty="0">
                <a:solidFill>
                  <a:srgbClr val="FFFFFF"/>
                </a:solidFill>
                <a:latin typeface="Goudy Old Style"/>
                <a:cs typeface="Goudy Old Style"/>
              </a:rPr>
              <a:t>is </a:t>
            </a:r>
            <a:r>
              <a:rPr sz="1800" spc="-15" dirty="0">
                <a:solidFill>
                  <a:srgbClr val="FFFFFF"/>
                </a:solidFill>
                <a:latin typeface="Goudy Old Style"/>
                <a:cs typeface="Goudy Old Style"/>
              </a:rPr>
              <a:t>stored </a:t>
            </a:r>
            <a:r>
              <a:rPr sz="1800" dirty="0">
                <a:solidFill>
                  <a:srgbClr val="FFFFFF"/>
                </a:solidFill>
                <a:latin typeface="Goudy Old Style"/>
                <a:cs typeface="Goudy Old Style"/>
              </a:rPr>
              <a:t>in the central location </a:t>
            </a:r>
            <a:r>
              <a:rPr sz="1800" spc="-10" dirty="0">
                <a:solidFill>
                  <a:srgbClr val="FFFFFF"/>
                </a:solidFill>
                <a:latin typeface="Goudy Old Style"/>
                <a:cs typeface="Goudy Old Style"/>
              </a:rPr>
              <a:t>which  </a:t>
            </a:r>
            <a:r>
              <a:rPr sz="1800" dirty="0">
                <a:solidFill>
                  <a:srgbClr val="FFFFFF"/>
                </a:solidFill>
                <a:latin typeface="Goudy Old Style"/>
                <a:cs typeface="Goudy Old Style"/>
              </a:rPr>
              <a:t>everybody can </a:t>
            </a:r>
            <a:r>
              <a:rPr sz="1800" spc="-15" dirty="0">
                <a:solidFill>
                  <a:srgbClr val="FFFFFF"/>
                </a:solidFill>
                <a:latin typeface="Goudy Old Style"/>
                <a:cs typeface="Goudy Old Style"/>
              </a:rPr>
              <a:t>have </a:t>
            </a:r>
            <a:r>
              <a:rPr sz="1800" spc="-5" dirty="0">
                <a:solidFill>
                  <a:srgbClr val="FFFFFF"/>
                </a:solidFill>
                <a:latin typeface="Goudy Old Style"/>
                <a:cs typeface="Goudy Old Style"/>
              </a:rPr>
              <a:t>access </a:t>
            </a:r>
            <a:r>
              <a:rPr sz="1800" spc="-10" dirty="0">
                <a:solidFill>
                  <a:srgbClr val="FFFFFF"/>
                </a:solidFill>
                <a:latin typeface="Goudy Old Style"/>
                <a:cs typeface="Goudy Old Style"/>
              </a:rPr>
              <a:t>from </a:t>
            </a:r>
            <a:r>
              <a:rPr sz="1800" dirty="0">
                <a:solidFill>
                  <a:srgbClr val="FFFFFF"/>
                </a:solidFill>
                <a:latin typeface="Goudy Old Style"/>
                <a:cs typeface="Goudy Old Style"/>
              </a:rPr>
              <a:t>their</a:t>
            </a:r>
            <a:r>
              <a:rPr sz="1800" spc="-40" dirty="0">
                <a:solidFill>
                  <a:srgbClr val="FFFFFF"/>
                </a:solidFill>
                <a:latin typeface="Goudy Old Style"/>
                <a:cs typeface="Goudy Old Style"/>
              </a:rPr>
              <a:t> </a:t>
            </a:r>
            <a:r>
              <a:rPr sz="1800" spc="-5" dirty="0">
                <a:solidFill>
                  <a:srgbClr val="FFFFFF"/>
                </a:solidFill>
                <a:latin typeface="Goudy Old Style"/>
                <a:cs typeface="Goudy Old Style"/>
              </a:rPr>
              <a:t>machine.</a:t>
            </a:r>
            <a:endParaRPr sz="1800">
              <a:latin typeface="Goudy Old Style"/>
              <a:cs typeface="Goudy Old Style"/>
            </a:endParaRPr>
          </a:p>
          <a:p>
            <a:pPr>
              <a:lnSpc>
                <a:spcPct val="100000"/>
              </a:lnSpc>
              <a:spcBef>
                <a:spcPts val="55"/>
              </a:spcBef>
            </a:pPr>
            <a:endParaRPr sz="2950">
              <a:latin typeface="Goudy Old Style"/>
              <a:cs typeface="Goudy Old Style"/>
            </a:endParaRPr>
          </a:p>
          <a:p>
            <a:pPr marL="17780" marR="5080">
              <a:lnSpc>
                <a:spcPts val="1939"/>
              </a:lnSpc>
            </a:pPr>
            <a:r>
              <a:rPr sz="1800" dirty="0">
                <a:solidFill>
                  <a:srgbClr val="FFFFFF"/>
                </a:solidFill>
                <a:latin typeface="Goudy Old Style"/>
                <a:cs typeface="Goudy Old Style"/>
              </a:rPr>
              <a:t>A </a:t>
            </a:r>
            <a:r>
              <a:rPr sz="1800" spc="-5" dirty="0">
                <a:solidFill>
                  <a:srgbClr val="FFFFFF"/>
                </a:solidFill>
                <a:latin typeface="Goudy Old Style"/>
                <a:cs typeface="Goudy Old Style"/>
              </a:rPr>
              <a:t>database </a:t>
            </a:r>
            <a:r>
              <a:rPr sz="1800" dirty="0">
                <a:solidFill>
                  <a:srgbClr val="FFFFFF"/>
                </a:solidFill>
                <a:latin typeface="Goudy Old Style"/>
                <a:cs typeface="Goudy Old Style"/>
              </a:rPr>
              <a:t>is a collection </a:t>
            </a:r>
            <a:r>
              <a:rPr sz="1800" spc="-5" dirty="0">
                <a:solidFill>
                  <a:srgbClr val="FFFFFF"/>
                </a:solidFill>
                <a:latin typeface="Goudy Old Style"/>
                <a:cs typeface="Goudy Old Style"/>
              </a:rPr>
              <a:t>of </a:t>
            </a:r>
            <a:r>
              <a:rPr sz="1800" spc="-10" dirty="0">
                <a:solidFill>
                  <a:srgbClr val="FFFFFF"/>
                </a:solidFill>
                <a:latin typeface="Goudy Old Style"/>
                <a:cs typeface="Goudy Old Style"/>
              </a:rPr>
              <a:t>interrelated </a:t>
            </a:r>
            <a:r>
              <a:rPr sz="1800" dirty="0">
                <a:solidFill>
                  <a:srgbClr val="FFFFFF"/>
                </a:solidFill>
                <a:latin typeface="Goudy Old Style"/>
                <a:cs typeface="Goudy Old Style"/>
              </a:rPr>
              <a:t>data </a:t>
            </a:r>
            <a:r>
              <a:rPr sz="1800" spc="-5" dirty="0">
                <a:solidFill>
                  <a:srgbClr val="FFFFFF"/>
                </a:solidFill>
                <a:latin typeface="Goudy Old Style"/>
                <a:cs typeface="Goudy Old Style"/>
              </a:rPr>
              <a:t>and </a:t>
            </a:r>
            <a:r>
              <a:rPr sz="1800" dirty="0">
                <a:solidFill>
                  <a:srgbClr val="FFFFFF"/>
                </a:solidFill>
                <a:latin typeface="Goudy Old Style"/>
                <a:cs typeface="Goudy Old Style"/>
              </a:rPr>
              <a:t>a </a:t>
            </a:r>
            <a:r>
              <a:rPr sz="1800" spc="-5" dirty="0">
                <a:solidFill>
                  <a:srgbClr val="FFFFFF"/>
                </a:solidFill>
                <a:latin typeface="Goudy Old Style"/>
                <a:cs typeface="Goudy Old Style"/>
              </a:rPr>
              <a:t>DBMS </a:t>
            </a:r>
            <a:r>
              <a:rPr sz="1800" dirty="0">
                <a:solidFill>
                  <a:srgbClr val="FFFFFF"/>
                </a:solidFill>
                <a:latin typeface="Goudy Old Style"/>
                <a:cs typeface="Goudy Old Style"/>
              </a:rPr>
              <a:t>is a </a:t>
            </a:r>
            <a:r>
              <a:rPr sz="1800" spc="-10" dirty="0">
                <a:solidFill>
                  <a:srgbClr val="FFFFFF"/>
                </a:solidFill>
                <a:latin typeface="Goudy Old Style"/>
                <a:cs typeface="Goudy Old Style"/>
              </a:rPr>
              <a:t>set </a:t>
            </a:r>
            <a:r>
              <a:rPr sz="1800" spc="-5" dirty="0">
                <a:solidFill>
                  <a:srgbClr val="FFFFFF"/>
                </a:solidFill>
                <a:latin typeface="Goudy Old Style"/>
                <a:cs typeface="Goudy Old Style"/>
              </a:rPr>
              <a:t>of </a:t>
            </a:r>
            <a:r>
              <a:rPr sz="1800" spc="-10" dirty="0">
                <a:solidFill>
                  <a:srgbClr val="FFFFFF"/>
                </a:solidFill>
                <a:latin typeface="Goudy Old Style"/>
                <a:cs typeface="Goudy Old Style"/>
              </a:rPr>
              <a:t>programs </a:t>
            </a:r>
            <a:r>
              <a:rPr sz="1800" spc="-5" dirty="0">
                <a:solidFill>
                  <a:srgbClr val="FFFFFF"/>
                </a:solidFill>
                <a:latin typeface="Goudy Old Style"/>
                <a:cs typeface="Goudy Old Style"/>
              </a:rPr>
              <a:t>used </a:t>
            </a:r>
            <a:r>
              <a:rPr sz="1800" spc="-10" dirty="0">
                <a:solidFill>
                  <a:srgbClr val="FFFFFF"/>
                </a:solidFill>
                <a:latin typeface="Goudy Old Style"/>
                <a:cs typeface="Goudy Old Style"/>
              </a:rPr>
              <a:t>to  </a:t>
            </a:r>
            <a:r>
              <a:rPr sz="1800" spc="-5" dirty="0">
                <a:solidFill>
                  <a:srgbClr val="FFFFFF"/>
                </a:solidFill>
                <a:latin typeface="Goudy Old Style"/>
                <a:cs typeface="Goudy Old Style"/>
              </a:rPr>
              <a:t>add or </a:t>
            </a:r>
            <a:r>
              <a:rPr sz="1800" dirty="0">
                <a:solidFill>
                  <a:srgbClr val="FFFFFF"/>
                </a:solidFill>
                <a:latin typeface="Goudy Old Style"/>
                <a:cs typeface="Goudy Old Style"/>
              </a:rPr>
              <a:t>modify this</a:t>
            </a:r>
            <a:r>
              <a:rPr sz="1800" spc="-5" dirty="0">
                <a:solidFill>
                  <a:srgbClr val="FFFFFF"/>
                </a:solidFill>
                <a:latin typeface="Goudy Old Style"/>
                <a:cs typeface="Goudy Old Style"/>
              </a:rPr>
              <a:t> </a:t>
            </a:r>
            <a:r>
              <a:rPr sz="1800" dirty="0">
                <a:solidFill>
                  <a:srgbClr val="FFFFFF"/>
                </a:solidFill>
                <a:latin typeface="Goudy Old Style"/>
                <a:cs typeface="Goudy Old Style"/>
              </a:rPr>
              <a:t>data.</a:t>
            </a:r>
            <a:endParaRPr sz="1800">
              <a:latin typeface="Goudy Old Style"/>
              <a:cs typeface="Goudy Old Style"/>
            </a:endParaRPr>
          </a:p>
          <a:p>
            <a:pPr>
              <a:lnSpc>
                <a:spcPct val="100000"/>
              </a:lnSpc>
            </a:pPr>
            <a:endParaRPr sz="2000">
              <a:latin typeface="Goudy Old Style"/>
              <a:cs typeface="Goudy Old Style"/>
            </a:endParaRPr>
          </a:p>
          <a:p>
            <a:pPr>
              <a:lnSpc>
                <a:spcPct val="100000"/>
              </a:lnSpc>
              <a:spcBef>
                <a:spcPts val="45"/>
              </a:spcBef>
            </a:pPr>
            <a:endParaRPr sz="1600">
              <a:latin typeface="Goudy Old Style"/>
              <a:cs typeface="Goudy Old Style"/>
            </a:endParaRPr>
          </a:p>
          <a:p>
            <a:pPr marL="19050">
              <a:lnSpc>
                <a:spcPct val="100000"/>
              </a:lnSpc>
              <a:spcBef>
                <a:spcPts val="5"/>
              </a:spcBef>
            </a:pPr>
            <a:r>
              <a:rPr sz="1800" spc="-5" dirty="0">
                <a:solidFill>
                  <a:srgbClr val="FFFFFF"/>
                </a:solidFill>
                <a:latin typeface="Goudy Old Style"/>
                <a:cs typeface="Goudy Old Style"/>
              </a:rPr>
              <a:t>Examples of </a:t>
            </a:r>
            <a:r>
              <a:rPr sz="1800" dirty="0">
                <a:solidFill>
                  <a:srgbClr val="FFFFFF"/>
                </a:solidFill>
                <a:latin typeface="Goudy Old Style"/>
                <a:cs typeface="Goudy Old Style"/>
              </a:rPr>
              <a:t>database </a:t>
            </a:r>
            <a:r>
              <a:rPr sz="1800" spc="-5" dirty="0">
                <a:solidFill>
                  <a:srgbClr val="FFFFFF"/>
                </a:solidFill>
                <a:latin typeface="Goudy Old Style"/>
                <a:cs typeface="Goudy Old Style"/>
              </a:rPr>
              <a:t>applications</a:t>
            </a:r>
            <a:r>
              <a:rPr sz="1800" spc="-10" dirty="0">
                <a:solidFill>
                  <a:srgbClr val="FFFFFF"/>
                </a:solidFill>
                <a:latin typeface="Goudy Old Style"/>
                <a:cs typeface="Goudy Old Style"/>
              </a:rPr>
              <a:t> </a:t>
            </a:r>
            <a:r>
              <a:rPr sz="1800" dirty="0">
                <a:solidFill>
                  <a:srgbClr val="FFFFFF"/>
                </a:solidFill>
                <a:latin typeface="Goudy Old Style"/>
                <a:cs typeface="Goudy Old Style"/>
              </a:rPr>
              <a:t>include:</a:t>
            </a:r>
            <a:endParaRPr sz="1800">
              <a:latin typeface="Goudy Old Style"/>
              <a:cs typeface="Goudy Old Style"/>
            </a:endParaRPr>
          </a:p>
        </p:txBody>
      </p:sp>
      <p:grpSp>
        <p:nvGrpSpPr>
          <p:cNvPr id="8" name="object 8"/>
          <p:cNvGrpSpPr/>
          <p:nvPr/>
        </p:nvGrpSpPr>
        <p:grpSpPr>
          <a:xfrm>
            <a:off x="521080" y="5016880"/>
            <a:ext cx="2341880" cy="1244600"/>
            <a:chOff x="521080" y="5016880"/>
            <a:chExt cx="2341880" cy="1244600"/>
          </a:xfrm>
        </p:grpSpPr>
        <p:sp>
          <p:nvSpPr>
            <p:cNvPr id="9" name="object 9"/>
            <p:cNvSpPr/>
            <p:nvPr/>
          </p:nvSpPr>
          <p:spPr>
            <a:xfrm>
              <a:off x="533780" y="5029580"/>
              <a:ext cx="2316480" cy="1219200"/>
            </a:xfrm>
            <a:custGeom>
              <a:avLst/>
              <a:gdLst/>
              <a:ahLst/>
              <a:cxnLst/>
              <a:rect l="l" t="t" r="r" b="b"/>
              <a:pathLst>
                <a:path w="2316480" h="1219200">
                  <a:moveTo>
                    <a:pt x="0" y="0"/>
                  </a:moveTo>
                  <a:lnTo>
                    <a:pt x="0" y="1219200"/>
                  </a:lnTo>
                  <a:lnTo>
                    <a:pt x="2316480" y="1219200"/>
                  </a:lnTo>
                  <a:lnTo>
                    <a:pt x="0" y="0"/>
                  </a:lnTo>
                  <a:close/>
                </a:path>
              </a:pathLst>
            </a:custGeom>
            <a:solidFill>
              <a:srgbClr val="30859C"/>
            </a:solidFill>
          </p:spPr>
          <p:txBody>
            <a:bodyPr wrap="square" lIns="0" tIns="0" rIns="0" bIns="0" rtlCol="0"/>
            <a:lstStyle/>
            <a:p>
              <a:endParaRPr/>
            </a:p>
          </p:txBody>
        </p:sp>
        <p:sp>
          <p:nvSpPr>
            <p:cNvPr id="10" name="object 10"/>
            <p:cNvSpPr/>
            <p:nvPr/>
          </p:nvSpPr>
          <p:spPr>
            <a:xfrm>
              <a:off x="533780" y="5029580"/>
              <a:ext cx="2316480" cy="1219200"/>
            </a:xfrm>
            <a:custGeom>
              <a:avLst/>
              <a:gdLst/>
              <a:ahLst/>
              <a:cxnLst/>
              <a:rect l="l" t="t" r="r" b="b"/>
              <a:pathLst>
                <a:path w="2316480" h="1219200">
                  <a:moveTo>
                    <a:pt x="0" y="1219200"/>
                  </a:moveTo>
                  <a:lnTo>
                    <a:pt x="0" y="0"/>
                  </a:lnTo>
                  <a:lnTo>
                    <a:pt x="2316480" y="1219200"/>
                  </a:lnTo>
                  <a:lnTo>
                    <a:pt x="0" y="1219200"/>
                  </a:lnTo>
                  <a:close/>
                </a:path>
              </a:pathLst>
            </a:custGeom>
            <a:ln w="25146">
              <a:solidFill>
                <a:srgbClr val="385D89"/>
              </a:solidFill>
            </a:ln>
          </p:spPr>
          <p:txBody>
            <a:bodyPr wrap="square" lIns="0" tIns="0" rIns="0" bIns="0" rtlCol="0"/>
            <a:lstStyle/>
            <a:p>
              <a:endParaRPr/>
            </a:p>
          </p:txBody>
        </p:sp>
      </p:grpSp>
      <p:sp>
        <p:nvSpPr>
          <p:cNvPr id="11" name="object 11"/>
          <p:cNvSpPr txBox="1"/>
          <p:nvPr/>
        </p:nvSpPr>
        <p:spPr>
          <a:xfrm>
            <a:off x="763016" y="5712714"/>
            <a:ext cx="1083945" cy="387985"/>
          </a:xfrm>
          <a:prstGeom prst="rect">
            <a:avLst/>
          </a:prstGeom>
        </p:spPr>
        <p:txBody>
          <a:bodyPr vert="horz" wrap="square" lIns="0" tIns="76200" rIns="0" bIns="0" rtlCol="0">
            <a:spAutoFit/>
          </a:bodyPr>
          <a:lstStyle/>
          <a:p>
            <a:pPr marL="12700" marR="5080" indent="15875">
              <a:lnSpc>
                <a:spcPct val="70000"/>
              </a:lnSpc>
              <a:spcBef>
                <a:spcPts val="600"/>
              </a:spcBef>
            </a:pPr>
            <a:r>
              <a:rPr sz="1400" b="1" spc="-10" dirty="0">
                <a:solidFill>
                  <a:srgbClr val="FFFFFF"/>
                </a:solidFill>
                <a:latin typeface="Goudy Old Style"/>
                <a:cs typeface="Goudy Old Style"/>
              </a:rPr>
              <a:t>Computerized  </a:t>
            </a:r>
            <a:r>
              <a:rPr sz="1400" b="1" dirty="0">
                <a:solidFill>
                  <a:srgbClr val="FFFFFF"/>
                </a:solidFill>
                <a:latin typeface="Goudy Old Style"/>
                <a:cs typeface="Goudy Old Style"/>
              </a:rPr>
              <a:t>library</a:t>
            </a:r>
            <a:r>
              <a:rPr sz="1400" b="1" spc="-45" dirty="0">
                <a:solidFill>
                  <a:srgbClr val="FFFFFF"/>
                </a:solidFill>
                <a:latin typeface="Goudy Old Style"/>
                <a:cs typeface="Goudy Old Style"/>
              </a:rPr>
              <a:t> </a:t>
            </a:r>
            <a:r>
              <a:rPr sz="1400" b="1" spc="-10" dirty="0">
                <a:solidFill>
                  <a:srgbClr val="FFFFFF"/>
                </a:solidFill>
                <a:latin typeface="Goudy Old Style"/>
                <a:cs typeface="Goudy Old Style"/>
              </a:rPr>
              <a:t>systems</a:t>
            </a:r>
            <a:endParaRPr sz="1400">
              <a:latin typeface="Goudy Old Style"/>
              <a:cs typeface="Goudy Old Style"/>
            </a:endParaRPr>
          </a:p>
        </p:txBody>
      </p:sp>
      <p:grpSp>
        <p:nvGrpSpPr>
          <p:cNvPr id="12" name="object 12"/>
          <p:cNvGrpSpPr/>
          <p:nvPr/>
        </p:nvGrpSpPr>
        <p:grpSpPr>
          <a:xfrm>
            <a:off x="1588008" y="5017008"/>
            <a:ext cx="2463800" cy="1244600"/>
            <a:chOff x="1588008" y="5017008"/>
            <a:chExt cx="2463800" cy="1244600"/>
          </a:xfrm>
        </p:grpSpPr>
        <p:sp>
          <p:nvSpPr>
            <p:cNvPr id="13" name="object 13"/>
            <p:cNvSpPr/>
            <p:nvPr/>
          </p:nvSpPr>
          <p:spPr>
            <a:xfrm>
              <a:off x="1600581" y="5029581"/>
              <a:ext cx="2438400" cy="1219200"/>
            </a:xfrm>
            <a:custGeom>
              <a:avLst/>
              <a:gdLst/>
              <a:ahLst/>
              <a:cxnLst/>
              <a:rect l="l" t="t" r="r" b="b"/>
              <a:pathLst>
                <a:path w="2438400" h="1219200">
                  <a:moveTo>
                    <a:pt x="2438400" y="0"/>
                  </a:moveTo>
                  <a:lnTo>
                    <a:pt x="0" y="0"/>
                  </a:lnTo>
                  <a:lnTo>
                    <a:pt x="2438400" y="1219200"/>
                  </a:lnTo>
                  <a:lnTo>
                    <a:pt x="2438400" y="0"/>
                  </a:lnTo>
                  <a:close/>
                </a:path>
              </a:pathLst>
            </a:custGeom>
            <a:solidFill>
              <a:srgbClr val="943735"/>
            </a:solidFill>
          </p:spPr>
          <p:txBody>
            <a:bodyPr wrap="square" lIns="0" tIns="0" rIns="0" bIns="0" rtlCol="0"/>
            <a:lstStyle/>
            <a:p>
              <a:endParaRPr/>
            </a:p>
          </p:txBody>
        </p:sp>
        <p:sp>
          <p:nvSpPr>
            <p:cNvPr id="14" name="object 14"/>
            <p:cNvSpPr/>
            <p:nvPr/>
          </p:nvSpPr>
          <p:spPr>
            <a:xfrm>
              <a:off x="1600581" y="5029581"/>
              <a:ext cx="2438400" cy="1219200"/>
            </a:xfrm>
            <a:custGeom>
              <a:avLst/>
              <a:gdLst/>
              <a:ahLst/>
              <a:cxnLst/>
              <a:rect l="l" t="t" r="r" b="b"/>
              <a:pathLst>
                <a:path w="2438400" h="1219200">
                  <a:moveTo>
                    <a:pt x="2438400" y="0"/>
                  </a:moveTo>
                  <a:lnTo>
                    <a:pt x="2438400" y="1219200"/>
                  </a:lnTo>
                  <a:lnTo>
                    <a:pt x="0" y="0"/>
                  </a:lnTo>
                  <a:lnTo>
                    <a:pt x="2438400" y="0"/>
                  </a:lnTo>
                  <a:close/>
                </a:path>
              </a:pathLst>
            </a:custGeom>
            <a:ln w="25146">
              <a:solidFill>
                <a:srgbClr val="385D89"/>
              </a:solidFill>
            </a:ln>
          </p:spPr>
          <p:txBody>
            <a:bodyPr wrap="square" lIns="0" tIns="0" rIns="0" bIns="0" rtlCol="0"/>
            <a:lstStyle/>
            <a:p>
              <a:endParaRPr/>
            </a:p>
          </p:txBody>
        </p:sp>
      </p:grpSp>
      <p:grpSp>
        <p:nvGrpSpPr>
          <p:cNvPr id="15" name="object 15"/>
          <p:cNvGrpSpPr/>
          <p:nvPr/>
        </p:nvGrpSpPr>
        <p:grpSpPr>
          <a:xfrm>
            <a:off x="4559680" y="5016880"/>
            <a:ext cx="2341880" cy="1244600"/>
            <a:chOff x="4559680" y="5016880"/>
            <a:chExt cx="2341880" cy="1244600"/>
          </a:xfrm>
        </p:grpSpPr>
        <p:sp>
          <p:nvSpPr>
            <p:cNvPr id="16" name="object 16"/>
            <p:cNvSpPr/>
            <p:nvPr/>
          </p:nvSpPr>
          <p:spPr>
            <a:xfrm>
              <a:off x="4572380" y="5029580"/>
              <a:ext cx="2316480" cy="1219200"/>
            </a:xfrm>
            <a:custGeom>
              <a:avLst/>
              <a:gdLst/>
              <a:ahLst/>
              <a:cxnLst/>
              <a:rect l="l" t="t" r="r" b="b"/>
              <a:pathLst>
                <a:path w="2316479" h="1219200">
                  <a:moveTo>
                    <a:pt x="0" y="0"/>
                  </a:moveTo>
                  <a:lnTo>
                    <a:pt x="0" y="1219200"/>
                  </a:lnTo>
                  <a:lnTo>
                    <a:pt x="2316480" y="1219200"/>
                  </a:lnTo>
                  <a:lnTo>
                    <a:pt x="0" y="0"/>
                  </a:lnTo>
                  <a:close/>
                </a:path>
              </a:pathLst>
            </a:custGeom>
            <a:solidFill>
              <a:srgbClr val="49452A"/>
            </a:solidFill>
          </p:spPr>
          <p:txBody>
            <a:bodyPr wrap="square" lIns="0" tIns="0" rIns="0" bIns="0" rtlCol="0"/>
            <a:lstStyle/>
            <a:p>
              <a:endParaRPr/>
            </a:p>
          </p:txBody>
        </p:sp>
        <p:sp>
          <p:nvSpPr>
            <p:cNvPr id="17" name="object 17"/>
            <p:cNvSpPr/>
            <p:nvPr/>
          </p:nvSpPr>
          <p:spPr>
            <a:xfrm>
              <a:off x="4572380" y="5029580"/>
              <a:ext cx="2316480" cy="1219200"/>
            </a:xfrm>
            <a:custGeom>
              <a:avLst/>
              <a:gdLst/>
              <a:ahLst/>
              <a:cxnLst/>
              <a:rect l="l" t="t" r="r" b="b"/>
              <a:pathLst>
                <a:path w="2316479" h="1219200">
                  <a:moveTo>
                    <a:pt x="0" y="1219200"/>
                  </a:moveTo>
                  <a:lnTo>
                    <a:pt x="0" y="0"/>
                  </a:lnTo>
                  <a:lnTo>
                    <a:pt x="2316480" y="1219200"/>
                  </a:lnTo>
                  <a:lnTo>
                    <a:pt x="0" y="1219200"/>
                  </a:lnTo>
                  <a:close/>
                </a:path>
              </a:pathLst>
            </a:custGeom>
            <a:ln w="25146">
              <a:solidFill>
                <a:srgbClr val="385D89"/>
              </a:solidFill>
            </a:ln>
          </p:spPr>
          <p:txBody>
            <a:bodyPr wrap="square" lIns="0" tIns="0" rIns="0" bIns="0" rtlCol="0"/>
            <a:lstStyle/>
            <a:p>
              <a:endParaRPr/>
            </a:p>
          </p:txBody>
        </p:sp>
      </p:grpSp>
      <p:sp>
        <p:nvSpPr>
          <p:cNvPr id="18" name="object 18"/>
          <p:cNvSpPr txBox="1"/>
          <p:nvPr/>
        </p:nvSpPr>
        <p:spPr>
          <a:xfrm>
            <a:off x="4932934" y="5638038"/>
            <a:ext cx="824230" cy="537210"/>
          </a:xfrm>
          <a:prstGeom prst="rect">
            <a:avLst/>
          </a:prstGeom>
        </p:spPr>
        <p:txBody>
          <a:bodyPr vert="horz" wrap="square" lIns="0" tIns="12065" rIns="0" bIns="0" rtlCol="0">
            <a:spAutoFit/>
          </a:bodyPr>
          <a:lstStyle/>
          <a:p>
            <a:pPr algn="ctr">
              <a:lnSpc>
                <a:spcPts val="1430"/>
              </a:lnSpc>
              <a:spcBef>
                <a:spcPts val="95"/>
              </a:spcBef>
            </a:pPr>
            <a:r>
              <a:rPr sz="1400" b="1" spc="-10" dirty="0">
                <a:solidFill>
                  <a:srgbClr val="FFFFFF"/>
                </a:solidFill>
                <a:latin typeface="Goudy Old Style"/>
                <a:cs typeface="Goudy Old Style"/>
              </a:rPr>
              <a:t>Flight</a:t>
            </a:r>
            <a:endParaRPr sz="1400">
              <a:latin typeface="Goudy Old Style"/>
              <a:cs typeface="Goudy Old Style"/>
            </a:endParaRPr>
          </a:p>
          <a:p>
            <a:pPr marL="12700" marR="5080" algn="ctr">
              <a:lnSpc>
                <a:spcPct val="70000"/>
              </a:lnSpc>
              <a:spcBef>
                <a:spcPts val="254"/>
              </a:spcBef>
            </a:pPr>
            <a:r>
              <a:rPr sz="1400" b="1" spc="-20" dirty="0">
                <a:solidFill>
                  <a:srgbClr val="FFFFFF"/>
                </a:solidFill>
                <a:latin typeface="Goudy Old Style"/>
                <a:cs typeface="Goudy Old Style"/>
              </a:rPr>
              <a:t>r</a:t>
            </a:r>
            <a:r>
              <a:rPr sz="1400" b="1" spc="-10" dirty="0">
                <a:solidFill>
                  <a:srgbClr val="FFFFFF"/>
                </a:solidFill>
                <a:latin typeface="Goudy Old Style"/>
                <a:cs typeface="Goudy Old Style"/>
              </a:rPr>
              <a:t>ese</a:t>
            </a:r>
            <a:r>
              <a:rPr sz="1400" b="1" spc="35" dirty="0">
                <a:solidFill>
                  <a:srgbClr val="FFFFFF"/>
                </a:solidFill>
                <a:latin typeface="Goudy Old Style"/>
                <a:cs typeface="Goudy Old Style"/>
              </a:rPr>
              <a:t>r</a:t>
            </a:r>
            <a:r>
              <a:rPr sz="1400" b="1" spc="-5" dirty="0">
                <a:solidFill>
                  <a:srgbClr val="FFFFFF"/>
                </a:solidFill>
                <a:latin typeface="Goudy Old Style"/>
                <a:cs typeface="Goudy Old Style"/>
              </a:rPr>
              <a:t>vation  </a:t>
            </a:r>
            <a:r>
              <a:rPr sz="1400" b="1" spc="-10" dirty="0">
                <a:solidFill>
                  <a:srgbClr val="FFFFFF"/>
                </a:solidFill>
                <a:latin typeface="Goudy Old Style"/>
                <a:cs typeface="Goudy Old Style"/>
              </a:rPr>
              <a:t>systems</a:t>
            </a:r>
            <a:endParaRPr sz="1400">
              <a:latin typeface="Goudy Old Style"/>
              <a:cs typeface="Goudy Old Style"/>
            </a:endParaRPr>
          </a:p>
        </p:txBody>
      </p:sp>
      <p:grpSp>
        <p:nvGrpSpPr>
          <p:cNvPr id="19" name="object 19"/>
          <p:cNvGrpSpPr/>
          <p:nvPr/>
        </p:nvGrpSpPr>
        <p:grpSpPr>
          <a:xfrm>
            <a:off x="5626608" y="5017008"/>
            <a:ext cx="2463800" cy="1244600"/>
            <a:chOff x="5626608" y="5017008"/>
            <a:chExt cx="2463800" cy="1244600"/>
          </a:xfrm>
        </p:grpSpPr>
        <p:sp>
          <p:nvSpPr>
            <p:cNvPr id="20" name="object 20"/>
            <p:cNvSpPr/>
            <p:nvPr/>
          </p:nvSpPr>
          <p:spPr>
            <a:xfrm>
              <a:off x="5639181" y="5029581"/>
              <a:ext cx="2438400" cy="1219200"/>
            </a:xfrm>
            <a:custGeom>
              <a:avLst/>
              <a:gdLst/>
              <a:ahLst/>
              <a:cxnLst/>
              <a:rect l="l" t="t" r="r" b="b"/>
              <a:pathLst>
                <a:path w="2438400" h="1219200">
                  <a:moveTo>
                    <a:pt x="2438400" y="0"/>
                  </a:moveTo>
                  <a:lnTo>
                    <a:pt x="0" y="0"/>
                  </a:lnTo>
                  <a:lnTo>
                    <a:pt x="2438400" y="1219200"/>
                  </a:lnTo>
                  <a:lnTo>
                    <a:pt x="2438400" y="0"/>
                  </a:lnTo>
                  <a:close/>
                </a:path>
              </a:pathLst>
            </a:custGeom>
            <a:solidFill>
              <a:srgbClr val="974706"/>
            </a:solidFill>
          </p:spPr>
          <p:txBody>
            <a:bodyPr wrap="square" lIns="0" tIns="0" rIns="0" bIns="0" rtlCol="0"/>
            <a:lstStyle/>
            <a:p>
              <a:endParaRPr/>
            </a:p>
          </p:txBody>
        </p:sp>
        <p:sp>
          <p:nvSpPr>
            <p:cNvPr id="21" name="object 21"/>
            <p:cNvSpPr/>
            <p:nvPr/>
          </p:nvSpPr>
          <p:spPr>
            <a:xfrm>
              <a:off x="5639181" y="5029581"/>
              <a:ext cx="2438400" cy="1219200"/>
            </a:xfrm>
            <a:custGeom>
              <a:avLst/>
              <a:gdLst/>
              <a:ahLst/>
              <a:cxnLst/>
              <a:rect l="l" t="t" r="r" b="b"/>
              <a:pathLst>
                <a:path w="2438400" h="1219200">
                  <a:moveTo>
                    <a:pt x="2438400" y="0"/>
                  </a:moveTo>
                  <a:lnTo>
                    <a:pt x="2438400" y="1219200"/>
                  </a:lnTo>
                  <a:lnTo>
                    <a:pt x="0" y="0"/>
                  </a:lnTo>
                  <a:lnTo>
                    <a:pt x="2438400" y="0"/>
                  </a:lnTo>
                  <a:close/>
                </a:path>
              </a:pathLst>
            </a:custGeom>
            <a:ln w="25146">
              <a:solidFill>
                <a:srgbClr val="385D89"/>
              </a:solidFill>
            </a:ln>
          </p:spPr>
          <p:txBody>
            <a:bodyPr wrap="square" lIns="0" tIns="0" rIns="0" bIns="0" rtlCol="0"/>
            <a:lstStyle/>
            <a:p>
              <a:endParaRPr/>
            </a:p>
          </p:txBody>
        </p:sp>
      </p:grpSp>
      <p:sp>
        <p:nvSpPr>
          <p:cNvPr id="22" name="object 22"/>
          <p:cNvSpPr txBox="1"/>
          <p:nvPr/>
        </p:nvSpPr>
        <p:spPr>
          <a:xfrm>
            <a:off x="2669794" y="5073396"/>
            <a:ext cx="1252220" cy="387985"/>
          </a:xfrm>
          <a:prstGeom prst="rect">
            <a:avLst/>
          </a:prstGeom>
        </p:spPr>
        <p:txBody>
          <a:bodyPr vert="horz" wrap="square" lIns="0" tIns="76200" rIns="0" bIns="0" rtlCol="0">
            <a:spAutoFit/>
          </a:bodyPr>
          <a:lstStyle/>
          <a:p>
            <a:pPr marL="12700" marR="5080">
              <a:lnSpc>
                <a:spcPct val="70000"/>
              </a:lnSpc>
              <a:spcBef>
                <a:spcPts val="600"/>
              </a:spcBef>
            </a:pPr>
            <a:r>
              <a:rPr sz="1400" b="1" spc="-10" dirty="0">
                <a:solidFill>
                  <a:srgbClr val="F1F1F1"/>
                </a:solidFill>
                <a:latin typeface="Goudy Old Style"/>
                <a:cs typeface="Goudy Old Style"/>
              </a:rPr>
              <a:t>Automated</a:t>
            </a:r>
            <a:r>
              <a:rPr sz="1400" b="1" spc="-55" dirty="0">
                <a:solidFill>
                  <a:srgbClr val="F1F1F1"/>
                </a:solidFill>
                <a:latin typeface="Goudy Old Style"/>
                <a:cs typeface="Goudy Old Style"/>
              </a:rPr>
              <a:t> </a:t>
            </a:r>
            <a:r>
              <a:rPr sz="1400" b="1" spc="-5" dirty="0">
                <a:solidFill>
                  <a:srgbClr val="F1F1F1"/>
                </a:solidFill>
                <a:latin typeface="Goudy Old Style"/>
                <a:cs typeface="Goudy Old Style"/>
              </a:rPr>
              <a:t>teller  machines</a:t>
            </a:r>
            <a:endParaRPr sz="1400">
              <a:latin typeface="Goudy Old Style"/>
              <a:cs typeface="Goudy Old Style"/>
            </a:endParaRPr>
          </a:p>
        </p:txBody>
      </p:sp>
      <p:sp>
        <p:nvSpPr>
          <p:cNvPr id="25" name="object 25"/>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10</a:t>
            </a:fld>
            <a:endParaRPr sz="1200"/>
          </a:p>
        </p:txBody>
      </p:sp>
      <p:sp>
        <p:nvSpPr>
          <p:cNvPr id="26" name="object 26"/>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23" name="object 23"/>
          <p:cNvSpPr txBox="1"/>
          <p:nvPr/>
        </p:nvSpPr>
        <p:spPr>
          <a:xfrm>
            <a:off x="6784847" y="5052314"/>
            <a:ext cx="1115695" cy="537210"/>
          </a:xfrm>
          <a:prstGeom prst="rect">
            <a:avLst/>
          </a:prstGeom>
        </p:spPr>
        <p:txBody>
          <a:bodyPr vert="horz" wrap="square" lIns="0" tIns="12065" rIns="0" bIns="0" rtlCol="0">
            <a:spAutoFit/>
          </a:bodyPr>
          <a:lstStyle/>
          <a:p>
            <a:pPr marL="12700">
              <a:lnSpc>
                <a:spcPts val="1430"/>
              </a:lnSpc>
              <a:spcBef>
                <a:spcPts val="95"/>
              </a:spcBef>
            </a:pPr>
            <a:r>
              <a:rPr sz="1400" b="1" spc="-10" dirty="0">
                <a:solidFill>
                  <a:srgbClr val="F1F1F1"/>
                </a:solidFill>
                <a:latin typeface="Goudy Old Style"/>
                <a:cs typeface="Goudy Old Style"/>
              </a:rPr>
              <a:t>Computerized</a:t>
            </a:r>
            <a:endParaRPr sz="1400">
              <a:latin typeface="Goudy Old Style"/>
              <a:cs typeface="Goudy Old Style"/>
            </a:endParaRPr>
          </a:p>
          <a:p>
            <a:pPr marL="12700" marR="5080">
              <a:lnSpc>
                <a:spcPct val="70000"/>
              </a:lnSpc>
              <a:spcBef>
                <a:spcPts val="254"/>
              </a:spcBef>
            </a:pPr>
            <a:r>
              <a:rPr sz="1400" b="1" dirty="0">
                <a:solidFill>
                  <a:srgbClr val="F1F1F1"/>
                </a:solidFill>
                <a:latin typeface="Goudy Old Style"/>
                <a:cs typeface="Goudy Old Style"/>
              </a:rPr>
              <a:t>parts</a:t>
            </a:r>
            <a:r>
              <a:rPr sz="1400" b="1" spc="-70" dirty="0">
                <a:solidFill>
                  <a:srgbClr val="F1F1F1"/>
                </a:solidFill>
                <a:latin typeface="Goudy Old Style"/>
                <a:cs typeface="Goudy Old Style"/>
              </a:rPr>
              <a:t> </a:t>
            </a:r>
            <a:r>
              <a:rPr sz="1400" b="1" spc="-10" dirty="0">
                <a:solidFill>
                  <a:srgbClr val="F1F1F1"/>
                </a:solidFill>
                <a:latin typeface="Goudy Old Style"/>
                <a:cs typeface="Goudy Old Style"/>
              </a:rPr>
              <a:t>inventory  systems</a:t>
            </a:r>
            <a:endParaRPr sz="1400">
              <a:latin typeface="Goudy Old Style"/>
              <a:cs typeface="Goudy Old Styl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192773" y="1074369"/>
            <a:ext cx="2147570" cy="837565"/>
            <a:chOff x="6192773" y="1074369"/>
            <a:chExt cx="2147570" cy="837565"/>
          </a:xfrm>
        </p:grpSpPr>
        <p:pic>
          <p:nvPicPr>
            <p:cNvPr id="3" name="object 3"/>
            <p:cNvPicPr/>
            <p:nvPr/>
          </p:nvPicPr>
          <p:blipFill>
            <a:blip r:embed="rId3" cstate="print"/>
            <a:stretch>
              <a:fillRect/>
            </a:stretch>
          </p:blipFill>
          <p:spPr>
            <a:xfrm>
              <a:off x="6192773" y="1074369"/>
              <a:ext cx="2147316" cy="837488"/>
            </a:xfrm>
            <a:prstGeom prst="rect">
              <a:avLst/>
            </a:prstGeom>
          </p:spPr>
        </p:pic>
        <p:pic>
          <p:nvPicPr>
            <p:cNvPr id="4" name="object 4"/>
            <p:cNvPicPr/>
            <p:nvPr/>
          </p:nvPicPr>
          <p:blipFill>
            <a:blip r:embed="rId4" cstate="print"/>
            <a:stretch>
              <a:fillRect/>
            </a:stretch>
          </p:blipFill>
          <p:spPr>
            <a:xfrm>
              <a:off x="6233921" y="1076693"/>
              <a:ext cx="2071877" cy="778014"/>
            </a:xfrm>
            <a:prstGeom prst="rect">
              <a:avLst/>
            </a:prstGeom>
          </p:spPr>
        </p:pic>
      </p:grpSp>
      <p:sp>
        <p:nvSpPr>
          <p:cNvPr id="5" name="object 5"/>
          <p:cNvSpPr txBox="1">
            <a:spLocks noGrp="1"/>
          </p:cNvSpPr>
          <p:nvPr>
            <p:ph type="title"/>
          </p:nvPr>
        </p:nvSpPr>
        <p:spPr>
          <a:xfrm>
            <a:off x="383540" y="121411"/>
            <a:ext cx="7762875" cy="574040"/>
          </a:xfrm>
          <a:prstGeom prst="rect">
            <a:avLst/>
          </a:prstGeom>
        </p:spPr>
        <p:txBody>
          <a:bodyPr vert="horz" wrap="square" lIns="0" tIns="12700" rIns="0" bIns="0" rtlCol="0">
            <a:spAutoFit/>
          </a:bodyPr>
          <a:lstStyle/>
          <a:p>
            <a:pPr marL="12700">
              <a:lnSpc>
                <a:spcPct val="100000"/>
              </a:lnSpc>
              <a:spcBef>
                <a:spcPts val="100"/>
              </a:spcBef>
            </a:pPr>
            <a:r>
              <a:rPr b="0" dirty="0">
                <a:latin typeface="Goudy Old Style"/>
                <a:cs typeface="Goudy Old Style"/>
              </a:rPr>
              <a:t>Database </a:t>
            </a:r>
            <a:r>
              <a:rPr b="0" spc="-5" dirty="0">
                <a:latin typeface="Goudy Old Style"/>
                <a:cs typeface="Goudy Old Style"/>
              </a:rPr>
              <a:t>Management </a:t>
            </a:r>
            <a:r>
              <a:rPr b="0" spc="-10" dirty="0">
                <a:latin typeface="Goudy Old Style"/>
                <a:cs typeface="Goudy Old Style"/>
              </a:rPr>
              <a:t>System </a:t>
            </a:r>
            <a:r>
              <a:rPr b="0" spc="-5" dirty="0">
                <a:latin typeface="Goudy Old Style"/>
                <a:cs typeface="Goudy Old Style"/>
              </a:rPr>
              <a:t>(DBMS)</a:t>
            </a:r>
            <a:r>
              <a:rPr b="0" spc="-45" dirty="0">
                <a:latin typeface="Goudy Old Style"/>
                <a:cs typeface="Goudy Old Style"/>
              </a:rPr>
              <a:t> </a:t>
            </a:r>
            <a:r>
              <a:rPr b="0" spc="15" dirty="0">
                <a:latin typeface="Goudy Old Style"/>
                <a:cs typeface="Goudy Old Style"/>
              </a:rPr>
              <a:t>2-3</a:t>
            </a:r>
          </a:p>
        </p:txBody>
      </p:sp>
      <p:grpSp>
        <p:nvGrpSpPr>
          <p:cNvPr id="6" name="object 6"/>
          <p:cNvGrpSpPr/>
          <p:nvPr/>
        </p:nvGrpSpPr>
        <p:grpSpPr>
          <a:xfrm>
            <a:off x="339852" y="1124724"/>
            <a:ext cx="5409565" cy="913765"/>
            <a:chOff x="339852" y="1124724"/>
            <a:chExt cx="5409565" cy="913765"/>
          </a:xfrm>
        </p:grpSpPr>
        <p:pic>
          <p:nvPicPr>
            <p:cNvPr id="7" name="object 7"/>
            <p:cNvPicPr/>
            <p:nvPr/>
          </p:nvPicPr>
          <p:blipFill>
            <a:blip r:embed="rId5" cstate="print"/>
            <a:stretch>
              <a:fillRect/>
            </a:stretch>
          </p:blipFill>
          <p:spPr>
            <a:xfrm>
              <a:off x="339852" y="1124724"/>
              <a:ext cx="5409438" cy="913625"/>
            </a:xfrm>
            <a:prstGeom prst="rect">
              <a:avLst/>
            </a:prstGeom>
          </p:spPr>
        </p:pic>
        <p:pic>
          <p:nvPicPr>
            <p:cNvPr id="8" name="object 8"/>
            <p:cNvPicPr/>
            <p:nvPr/>
          </p:nvPicPr>
          <p:blipFill>
            <a:blip r:embed="rId6" cstate="print"/>
            <a:stretch>
              <a:fillRect/>
            </a:stretch>
          </p:blipFill>
          <p:spPr>
            <a:xfrm>
              <a:off x="381000" y="1142999"/>
              <a:ext cx="5334000" cy="838200"/>
            </a:xfrm>
            <a:prstGeom prst="rect">
              <a:avLst/>
            </a:prstGeom>
          </p:spPr>
        </p:pic>
      </p:grpSp>
      <p:sp>
        <p:nvSpPr>
          <p:cNvPr id="9" name="object 9"/>
          <p:cNvSpPr txBox="1"/>
          <p:nvPr/>
        </p:nvSpPr>
        <p:spPr>
          <a:xfrm>
            <a:off x="490219" y="1138935"/>
            <a:ext cx="4959350" cy="793750"/>
          </a:xfrm>
          <a:prstGeom prst="rect">
            <a:avLst/>
          </a:prstGeom>
        </p:spPr>
        <p:txBody>
          <a:bodyPr vert="horz" wrap="square" lIns="0" tIns="43815" rIns="0" bIns="0" rtlCol="0">
            <a:spAutoFit/>
          </a:bodyPr>
          <a:lstStyle/>
          <a:p>
            <a:pPr marL="12700" marR="5080">
              <a:lnSpc>
                <a:spcPts val="1939"/>
              </a:lnSpc>
              <a:spcBef>
                <a:spcPts val="345"/>
              </a:spcBef>
            </a:pPr>
            <a:r>
              <a:rPr sz="1800" dirty="0">
                <a:solidFill>
                  <a:srgbClr val="FFFFFF"/>
                </a:solidFill>
                <a:latin typeface="Goudy Old Style"/>
                <a:cs typeface="Goudy Old Style"/>
              </a:rPr>
              <a:t>A </a:t>
            </a:r>
            <a:r>
              <a:rPr sz="1800" spc="-5" dirty="0">
                <a:solidFill>
                  <a:srgbClr val="FFFFFF"/>
                </a:solidFill>
                <a:latin typeface="Goudy Old Style"/>
                <a:cs typeface="Goudy Old Style"/>
              </a:rPr>
              <a:t>DBMS </a:t>
            </a:r>
            <a:r>
              <a:rPr sz="1800" dirty="0">
                <a:solidFill>
                  <a:srgbClr val="FFFFFF"/>
                </a:solidFill>
                <a:latin typeface="Goudy Old Style"/>
                <a:cs typeface="Goudy Old Style"/>
              </a:rPr>
              <a:t>is a collection </a:t>
            </a:r>
            <a:r>
              <a:rPr sz="1800" spc="-5" dirty="0">
                <a:solidFill>
                  <a:srgbClr val="FFFFFF"/>
                </a:solidFill>
                <a:latin typeface="Goudy Old Style"/>
                <a:cs typeface="Goudy Old Style"/>
              </a:rPr>
              <a:t>of </a:t>
            </a:r>
            <a:r>
              <a:rPr sz="1800" spc="-10" dirty="0">
                <a:solidFill>
                  <a:srgbClr val="FFFFFF"/>
                </a:solidFill>
                <a:latin typeface="Goudy Old Style"/>
                <a:cs typeface="Goudy Old Style"/>
              </a:rPr>
              <a:t>related </a:t>
            </a:r>
            <a:r>
              <a:rPr sz="1800" spc="-15" dirty="0">
                <a:solidFill>
                  <a:srgbClr val="FFFFFF"/>
                </a:solidFill>
                <a:latin typeface="Goudy Old Style"/>
                <a:cs typeface="Goudy Old Style"/>
              </a:rPr>
              <a:t>records </a:t>
            </a:r>
            <a:r>
              <a:rPr sz="1800" spc="-5" dirty="0">
                <a:solidFill>
                  <a:srgbClr val="FFFFFF"/>
                </a:solidFill>
                <a:latin typeface="Goudy Old Style"/>
                <a:cs typeface="Goudy Old Style"/>
              </a:rPr>
              <a:t>and </a:t>
            </a:r>
            <a:r>
              <a:rPr sz="1800" dirty="0">
                <a:solidFill>
                  <a:srgbClr val="FFFFFF"/>
                </a:solidFill>
                <a:latin typeface="Goudy Old Style"/>
                <a:cs typeface="Goudy Old Style"/>
              </a:rPr>
              <a:t>a </a:t>
            </a:r>
            <a:r>
              <a:rPr sz="1800" spc="-10" dirty="0">
                <a:solidFill>
                  <a:srgbClr val="FFFFFF"/>
                </a:solidFill>
                <a:latin typeface="Goudy Old Style"/>
                <a:cs typeface="Goudy Old Style"/>
              </a:rPr>
              <a:t>set </a:t>
            </a:r>
            <a:r>
              <a:rPr sz="1800" spc="-5" dirty="0">
                <a:solidFill>
                  <a:srgbClr val="FFFFFF"/>
                </a:solidFill>
                <a:latin typeface="Goudy Old Style"/>
                <a:cs typeface="Goudy Old Style"/>
              </a:rPr>
              <a:t>of  </a:t>
            </a:r>
            <a:r>
              <a:rPr sz="1800" spc="-10" dirty="0">
                <a:solidFill>
                  <a:srgbClr val="FFFFFF"/>
                </a:solidFill>
                <a:latin typeface="Goudy Old Style"/>
                <a:cs typeface="Goudy Old Style"/>
              </a:rPr>
              <a:t>programs </a:t>
            </a:r>
            <a:r>
              <a:rPr sz="1800" dirty="0">
                <a:solidFill>
                  <a:srgbClr val="FFFFFF"/>
                </a:solidFill>
                <a:latin typeface="Goudy Old Style"/>
                <a:cs typeface="Goudy Old Style"/>
              </a:rPr>
              <a:t>that </a:t>
            </a:r>
            <a:r>
              <a:rPr sz="1800" spc="-5" dirty="0">
                <a:solidFill>
                  <a:srgbClr val="FFFFFF"/>
                </a:solidFill>
                <a:latin typeface="Goudy Old Style"/>
                <a:cs typeface="Goudy Old Style"/>
              </a:rPr>
              <a:t>access and manipulate these </a:t>
            </a:r>
            <a:r>
              <a:rPr sz="1800" spc="-15" dirty="0">
                <a:solidFill>
                  <a:srgbClr val="FFFFFF"/>
                </a:solidFill>
                <a:latin typeface="Goudy Old Style"/>
                <a:cs typeface="Goudy Old Style"/>
              </a:rPr>
              <a:t>records </a:t>
            </a:r>
            <a:r>
              <a:rPr sz="1800" spc="-5" dirty="0">
                <a:solidFill>
                  <a:srgbClr val="FFFFFF"/>
                </a:solidFill>
                <a:latin typeface="Goudy Old Style"/>
                <a:cs typeface="Goudy Old Style"/>
              </a:rPr>
              <a:t>and  enables the user to </a:t>
            </a:r>
            <a:r>
              <a:rPr sz="1800" spc="-20" dirty="0">
                <a:solidFill>
                  <a:srgbClr val="FFFFFF"/>
                </a:solidFill>
                <a:latin typeface="Goudy Old Style"/>
                <a:cs typeface="Goudy Old Style"/>
              </a:rPr>
              <a:t>enter, </a:t>
            </a:r>
            <a:r>
              <a:rPr sz="1800" spc="-15" dirty="0">
                <a:solidFill>
                  <a:srgbClr val="FFFFFF"/>
                </a:solidFill>
                <a:latin typeface="Goudy Old Style"/>
                <a:cs typeface="Goudy Old Style"/>
              </a:rPr>
              <a:t>store, </a:t>
            </a:r>
            <a:r>
              <a:rPr sz="1800" spc="-5" dirty="0">
                <a:solidFill>
                  <a:srgbClr val="FFFFFF"/>
                </a:solidFill>
                <a:latin typeface="Goudy Old Style"/>
                <a:cs typeface="Goudy Old Style"/>
              </a:rPr>
              <a:t>and </a:t>
            </a:r>
            <a:r>
              <a:rPr sz="1800" dirty="0">
                <a:solidFill>
                  <a:srgbClr val="FFFFFF"/>
                </a:solidFill>
                <a:latin typeface="Goudy Old Style"/>
                <a:cs typeface="Goudy Old Style"/>
              </a:rPr>
              <a:t>manage</a:t>
            </a:r>
            <a:r>
              <a:rPr sz="1800" spc="-20" dirty="0">
                <a:solidFill>
                  <a:srgbClr val="FFFFFF"/>
                </a:solidFill>
                <a:latin typeface="Goudy Old Style"/>
                <a:cs typeface="Goudy Old Style"/>
              </a:rPr>
              <a:t> </a:t>
            </a:r>
            <a:r>
              <a:rPr sz="1800" dirty="0">
                <a:solidFill>
                  <a:srgbClr val="FFFFFF"/>
                </a:solidFill>
                <a:latin typeface="Goudy Old Style"/>
                <a:cs typeface="Goudy Old Style"/>
              </a:rPr>
              <a:t>data.</a:t>
            </a:r>
            <a:endParaRPr sz="1800">
              <a:latin typeface="Goudy Old Style"/>
              <a:cs typeface="Goudy Old Style"/>
            </a:endParaRPr>
          </a:p>
        </p:txBody>
      </p:sp>
      <p:grpSp>
        <p:nvGrpSpPr>
          <p:cNvPr id="10" name="object 10"/>
          <p:cNvGrpSpPr/>
          <p:nvPr/>
        </p:nvGrpSpPr>
        <p:grpSpPr>
          <a:xfrm>
            <a:off x="263652" y="2755353"/>
            <a:ext cx="5017135" cy="3355975"/>
            <a:chOff x="263652" y="2755353"/>
            <a:chExt cx="5017135" cy="3355975"/>
          </a:xfrm>
        </p:grpSpPr>
        <p:pic>
          <p:nvPicPr>
            <p:cNvPr id="11" name="object 11"/>
            <p:cNvPicPr/>
            <p:nvPr/>
          </p:nvPicPr>
          <p:blipFill>
            <a:blip r:embed="rId7" cstate="print"/>
            <a:stretch>
              <a:fillRect/>
            </a:stretch>
          </p:blipFill>
          <p:spPr>
            <a:xfrm>
              <a:off x="263652" y="2755353"/>
              <a:ext cx="4830318" cy="1016546"/>
            </a:xfrm>
            <a:prstGeom prst="rect">
              <a:avLst/>
            </a:prstGeom>
          </p:spPr>
        </p:pic>
        <p:pic>
          <p:nvPicPr>
            <p:cNvPr id="12" name="object 12"/>
            <p:cNvPicPr/>
            <p:nvPr/>
          </p:nvPicPr>
          <p:blipFill>
            <a:blip r:embed="rId8" cstate="print"/>
            <a:stretch>
              <a:fillRect/>
            </a:stretch>
          </p:blipFill>
          <p:spPr>
            <a:xfrm>
              <a:off x="304800" y="2773680"/>
              <a:ext cx="4754880" cy="941070"/>
            </a:xfrm>
            <a:prstGeom prst="rect">
              <a:avLst/>
            </a:prstGeom>
          </p:spPr>
        </p:pic>
        <p:pic>
          <p:nvPicPr>
            <p:cNvPr id="13" name="object 13"/>
            <p:cNvPicPr/>
            <p:nvPr/>
          </p:nvPicPr>
          <p:blipFill>
            <a:blip r:embed="rId9" cstate="print"/>
            <a:stretch>
              <a:fillRect/>
            </a:stretch>
          </p:blipFill>
          <p:spPr>
            <a:xfrm>
              <a:off x="339852" y="4821199"/>
              <a:ext cx="4940808" cy="1290065"/>
            </a:xfrm>
            <a:prstGeom prst="rect">
              <a:avLst/>
            </a:prstGeom>
          </p:spPr>
        </p:pic>
        <p:sp>
          <p:nvSpPr>
            <p:cNvPr id="14" name="object 14"/>
            <p:cNvSpPr/>
            <p:nvPr/>
          </p:nvSpPr>
          <p:spPr>
            <a:xfrm>
              <a:off x="381000" y="4839461"/>
              <a:ext cx="4865370" cy="1214755"/>
            </a:xfrm>
            <a:custGeom>
              <a:avLst/>
              <a:gdLst/>
              <a:ahLst/>
              <a:cxnLst/>
              <a:rect l="l" t="t" r="r" b="b"/>
              <a:pathLst>
                <a:path w="4865370" h="1214754">
                  <a:moveTo>
                    <a:pt x="4865370" y="202438"/>
                  </a:moveTo>
                  <a:lnTo>
                    <a:pt x="4860010" y="156044"/>
                  </a:lnTo>
                  <a:lnTo>
                    <a:pt x="4844783" y="113436"/>
                  </a:lnTo>
                  <a:lnTo>
                    <a:pt x="4821174" y="76314"/>
                  </a:lnTo>
                  <a:lnTo>
                    <a:pt x="4821174" y="59436"/>
                  </a:lnTo>
                  <a:lnTo>
                    <a:pt x="4804473" y="59436"/>
                  </a:lnTo>
                  <a:lnTo>
                    <a:pt x="4789525" y="44488"/>
                  </a:lnTo>
                  <a:lnTo>
                    <a:pt x="4751933" y="20586"/>
                  </a:lnTo>
                  <a:lnTo>
                    <a:pt x="4709325" y="5359"/>
                  </a:lnTo>
                  <a:lnTo>
                    <a:pt x="4662932" y="0"/>
                  </a:lnTo>
                  <a:lnTo>
                    <a:pt x="202438" y="0"/>
                  </a:lnTo>
                  <a:lnTo>
                    <a:pt x="156019" y="5359"/>
                  </a:lnTo>
                  <a:lnTo>
                    <a:pt x="113411" y="20586"/>
                  </a:lnTo>
                  <a:lnTo>
                    <a:pt x="75819" y="44488"/>
                  </a:lnTo>
                  <a:lnTo>
                    <a:pt x="60871" y="59436"/>
                  </a:lnTo>
                  <a:lnTo>
                    <a:pt x="44196" y="59436"/>
                  </a:lnTo>
                  <a:lnTo>
                    <a:pt x="44196" y="76276"/>
                  </a:lnTo>
                  <a:lnTo>
                    <a:pt x="20574" y="113436"/>
                  </a:lnTo>
                  <a:lnTo>
                    <a:pt x="5346" y="156044"/>
                  </a:lnTo>
                  <a:lnTo>
                    <a:pt x="0" y="202438"/>
                  </a:lnTo>
                  <a:lnTo>
                    <a:pt x="0" y="1012190"/>
                  </a:lnTo>
                  <a:lnTo>
                    <a:pt x="5346" y="1058608"/>
                  </a:lnTo>
                  <a:lnTo>
                    <a:pt x="20574" y="1101217"/>
                  </a:lnTo>
                  <a:lnTo>
                    <a:pt x="44196" y="1138389"/>
                  </a:lnTo>
                  <a:lnTo>
                    <a:pt x="44196" y="1155192"/>
                  </a:lnTo>
                  <a:lnTo>
                    <a:pt x="60845" y="1155192"/>
                  </a:lnTo>
                  <a:lnTo>
                    <a:pt x="75819" y="1170165"/>
                  </a:lnTo>
                  <a:lnTo>
                    <a:pt x="113411" y="1194054"/>
                  </a:lnTo>
                  <a:lnTo>
                    <a:pt x="156019" y="1209281"/>
                  </a:lnTo>
                  <a:lnTo>
                    <a:pt x="202438" y="1214628"/>
                  </a:lnTo>
                  <a:lnTo>
                    <a:pt x="4662932" y="1214628"/>
                  </a:lnTo>
                  <a:lnTo>
                    <a:pt x="4709325" y="1209281"/>
                  </a:lnTo>
                  <a:lnTo>
                    <a:pt x="4751933" y="1194054"/>
                  </a:lnTo>
                  <a:lnTo>
                    <a:pt x="4789525" y="1170165"/>
                  </a:lnTo>
                  <a:lnTo>
                    <a:pt x="4804499" y="1155192"/>
                  </a:lnTo>
                  <a:lnTo>
                    <a:pt x="4821174" y="1155192"/>
                  </a:lnTo>
                  <a:lnTo>
                    <a:pt x="4821174" y="1138351"/>
                  </a:lnTo>
                  <a:lnTo>
                    <a:pt x="4844783" y="1101217"/>
                  </a:lnTo>
                  <a:lnTo>
                    <a:pt x="4860010" y="1058608"/>
                  </a:lnTo>
                  <a:lnTo>
                    <a:pt x="4865370" y="1012190"/>
                  </a:lnTo>
                  <a:lnTo>
                    <a:pt x="4865370" y="202438"/>
                  </a:lnTo>
                  <a:close/>
                </a:path>
              </a:pathLst>
            </a:custGeom>
            <a:solidFill>
              <a:srgbClr val="FF3399"/>
            </a:solidFill>
          </p:spPr>
          <p:txBody>
            <a:bodyPr wrap="square" lIns="0" tIns="0" rIns="0" bIns="0" rtlCol="0"/>
            <a:lstStyle/>
            <a:p>
              <a:endParaRPr/>
            </a:p>
          </p:txBody>
        </p:sp>
      </p:grpSp>
      <p:sp>
        <p:nvSpPr>
          <p:cNvPr id="15" name="object 15"/>
          <p:cNvSpPr txBox="1"/>
          <p:nvPr/>
        </p:nvSpPr>
        <p:spPr>
          <a:xfrm>
            <a:off x="488950" y="5023866"/>
            <a:ext cx="4615180" cy="793750"/>
          </a:xfrm>
          <a:prstGeom prst="rect">
            <a:avLst/>
          </a:prstGeom>
        </p:spPr>
        <p:txBody>
          <a:bodyPr vert="horz" wrap="square" lIns="0" tIns="43815" rIns="0" bIns="0" rtlCol="0">
            <a:spAutoFit/>
          </a:bodyPr>
          <a:lstStyle/>
          <a:p>
            <a:pPr marL="12700" marR="5080">
              <a:lnSpc>
                <a:spcPts val="1939"/>
              </a:lnSpc>
              <a:spcBef>
                <a:spcPts val="345"/>
              </a:spcBef>
            </a:pPr>
            <a:r>
              <a:rPr sz="1800" dirty="0">
                <a:solidFill>
                  <a:srgbClr val="FFFFFF"/>
                </a:solidFill>
                <a:latin typeface="Goudy Old Style"/>
                <a:cs typeface="Goudy Old Style"/>
              </a:rPr>
              <a:t>A </a:t>
            </a:r>
            <a:r>
              <a:rPr sz="1800" spc="-5" dirty="0">
                <a:solidFill>
                  <a:srgbClr val="FFFFFF"/>
                </a:solidFill>
                <a:latin typeface="Goudy Old Style"/>
                <a:cs typeface="Goudy Old Style"/>
              </a:rPr>
              <a:t>database </a:t>
            </a:r>
            <a:r>
              <a:rPr sz="1800" dirty="0">
                <a:solidFill>
                  <a:srgbClr val="FFFFFF"/>
                </a:solidFill>
                <a:latin typeface="Goudy Old Style"/>
                <a:cs typeface="Goudy Old Style"/>
              </a:rPr>
              <a:t>is a collection </a:t>
            </a:r>
            <a:r>
              <a:rPr sz="1800" spc="-5" dirty="0">
                <a:solidFill>
                  <a:srgbClr val="FFFFFF"/>
                </a:solidFill>
                <a:latin typeface="Goudy Old Style"/>
                <a:cs typeface="Goudy Old Style"/>
              </a:rPr>
              <a:t>of </a:t>
            </a:r>
            <a:r>
              <a:rPr sz="1800" spc="-10" dirty="0">
                <a:solidFill>
                  <a:srgbClr val="FFFFFF"/>
                </a:solidFill>
                <a:latin typeface="Goudy Old Style"/>
                <a:cs typeface="Goudy Old Style"/>
              </a:rPr>
              <a:t>interrelated </a:t>
            </a:r>
            <a:r>
              <a:rPr sz="1800" dirty="0">
                <a:solidFill>
                  <a:srgbClr val="FFFFFF"/>
                </a:solidFill>
                <a:latin typeface="Goudy Old Style"/>
                <a:cs typeface="Goudy Old Style"/>
              </a:rPr>
              <a:t>data </a:t>
            </a:r>
            <a:r>
              <a:rPr sz="1800" spc="-5" dirty="0">
                <a:solidFill>
                  <a:srgbClr val="FFFFFF"/>
                </a:solidFill>
                <a:latin typeface="Goudy Old Style"/>
                <a:cs typeface="Goudy Old Style"/>
              </a:rPr>
              <a:t>and </a:t>
            </a:r>
            <a:r>
              <a:rPr sz="1800" dirty="0">
                <a:solidFill>
                  <a:srgbClr val="FFFFFF"/>
                </a:solidFill>
                <a:latin typeface="Goudy Old Style"/>
                <a:cs typeface="Goudy Old Style"/>
              </a:rPr>
              <a:t>a  </a:t>
            </a:r>
            <a:r>
              <a:rPr sz="1800" spc="-5" dirty="0">
                <a:solidFill>
                  <a:srgbClr val="FFFFFF"/>
                </a:solidFill>
                <a:latin typeface="Goudy Old Style"/>
                <a:cs typeface="Goudy Old Style"/>
              </a:rPr>
              <a:t>DBMS </a:t>
            </a:r>
            <a:r>
              <a:rPr sz="1800" dirty="0">
                <a:solidFill>
                  <a:srgbClr val="FFFFFF"/>
                </a:solidFill>
                <a:latin typeface="Goudy Old Style"/>
                <a:cs typeface="Goudy Old Style"/>
              </a:rPr>
              <a:t>is a </a:t>
            </a:r>
            <a:r>
              <a:rPr sz="1800" spc="-10" dirty="0">
                <a:solidFill>
                  <a:srgbClr val="FFFFFF"/>
                </a:solidFill>
                <a:latin typeface="Goudy Old Style"/>
                <a:cs typeface="Goudy Old Style"/>
              </a:rPr>
              <a:t>set </a:t>
            </a:r>
            <a:r>
              <a:rPr sz="1800" spc="-5" dirty="0">
                <a:solidFill>
                  <a:srgbClr val="FFFFFF"/>
                </a:solidFill>
                <a:latin typeface="Goudy Old Style"/>
                <a:cs typeface="Goudy Old Style"/>
              </a:rPr>
              <a:t>of </a:t>
            </a:r>
            <a:r>
              <a:rPr sz="1800" spc="-10" dirty="0">
                <a:solidFill>
                  <a:srgbClr val="FFFFFF"/>
                </a:solidFill>
                <a:latin typeface="Goudy Old Style"/>
                <a:cs typeface="Goudy Old Style"/>
              </a:rPr>
              <a:t>programs </a:t>
            </a:r>
            <a:r>
              <a:rPr sz="1800" spc="-5" dirty="0">
                <a:solidFill>
                  <a:srgbClr val="FFFFFF"/>
                </a:solidFill>
                <a:latin typeface="Goudy Old Style"/>
                <a:cs typeface="Goudy Old Style"/>
              </a:rPr>
              <a:t>used </a:t>
            </a:r>
            <a:r>
              <a:rPr sz="1800" spc="-10" dirty="0">
                <a:solidFill>
                  <a:srgbClr val="FFFFFF"/>
                </a:solidFill>
                <a:latin typeface="Goudy Old Style"/>
                <a:cs typeface="Goudy Old Style"/>
              </a:rPr>
              <a:t>to </a:t>
            </a:r>
            <a:r>
              <a:rPr sz="1800" spc="-5" dirty="0">
                <a:solidFill>
                  <a:srgbClr val="FFFFFF"/>
                </a:solidFill>
                <a:latin typeface="Goudy Old Style"/>
                <a:cs typeface="Goudy Old Style"/>
              </a:rPr>
              <a:t>add or </a:t>
            </a:r>
            <a:r>
              <a:rPr sz="1800" dirty="0">
                <a:solidFill>
                  <a:srgbClr val="FFFFFF"/>
                </a:solidFill>
                <a:latin typeface="Goudy Old Style"/>
                <a:cs typeface="Goudy Old Style"/>
              </a:rPr>
              <a:t>modify  this</a:t>
            </a:r>
            <a:r>
              <a:rPr sz="1800" spc="-5" dirty="0">
                <a:solidFill>
                  <a:srgbClr val="FFFFFF"/>
                </a:solidFill>
                <a:latin typeface="Goudy Old Style"/>
                <a:cs typeface="Goudy Old Style"/>
              </a:rPr>
              <a:t> </a:t>
            </a:r>
            <a:r>
              <a:rPr sz="1800" dirty="0">
                <a:solidFill>
                  <a:srgbClr val="FFFFFF"/>
                </a:solidFill>
                <a:latin typeface="Goudy Old Style"/>
                <a:cs typeface="Goudy Old Style"/>
              </a:rPr>
              <a:t>data.</a:t>
            </a:r>
            <a:endParaRPr sz="1800">
              <a:latin typeface="Goudy Old Style"/>
              <a:cs typeface="Goudy Old Style"/>
            </a:endParaRPr>
          </a:p>
        </p:txBody>
      </p:sp>
      <p:sp>
        <p:nvSpPr>
          <p:cNvPr id="16" name="object 16"/>
          <p:cNvSpPr txBox="1"/>
          <p:nvPr/>
        </p:nvSpPr>
        <p:spPr>
          <a:xfrm>
            <a:off x="6867906" y="1280414"/>
            <a:ext cx="80454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Goudy Old Style"/>
                <a:cs typeface="Goudy Old Style"/>
              </a:rPr>
              <a:t>E</a:t>
            </a:r>
            <a:r>
              <a:rPr sz="1800" spc="15" dirty="0">
                <a:solidFill>
                  <a:srgbClr val="FFFFFF"/>
                </a:solidFill>
                <a:latin typeface="Goudy Old Style"/>
                <a:cs typeface="Goudy Old Style"/>
              </a:rPr>
              <a:t>x</a:t>
            </a:r>
            <a:r>
              <a:rPr sz="1800" spc="-5" dirty="0">
                <a:solidFill>
                  <a:srgbClr val="FFFFFF"/>
                </a:solidFill>
                <a:latin typeface="Goudy Old Style"/>
                <a:cs typeface="Goudy Old Style"/>
              </a:rPr>
              <a:t>a</a:t>
            </a:r>
            <a:r>
              <a:rPr sz="1800" spc="-30" dirty="0">
                <a:solidFill>
                  <a:srgbClr val="FFFFFF"/>
                </a:solidFill>
                <a:latin typeface="Goudy Old Style"/>
                <a:cs typeface="Goudy Old Style"/>
              </a:rPr>
              <a:t>m</a:t>
            </a:r>
            <a:r>
              <a:rPr sz="1800" dirty="0">
                <a:solidFill>
                  <a:srgbClr val="FFFFFF"/>
                </a:solidFill>
                <a:latin typeface="Goudy Old Style"/>
                <a:cs typeface="Goudy Old Style"/>
              </a:rPr>
              <a:t>ple</a:t>
            </a:r>
            <a:endParaRPr sz="1800">
              <a:latin typeface="Goudy Old Style"/>
              <a:cs typeface="Goudy Old Style"/>
            </a:endParaRPr>
          </a:p>
        </p:txBody>
      </p:sp>
      <p:sp>
        <p:nvSpPr>
          <p:cNvPr id="17" name="object 17"/>
          <p:cNvSpPr txBox="1"/>
          <p:nvPr/>
        </p:nvSpPr>
        <p:spPr>
          <a:xfrm>
            <a:off x="444500" y="2823971"/>
            <a:ext cx="4201795" cy="793750"/>
          </a:xfrm>
          <a:prstGeom prst="rect">
            <a:avLst/>
          </a:prstGeom>
        </p:spPr>
        <p:txBody>
          <a:bodyPr vert="horz" wrap="square" lIns="0" tIns="43815" rIns="0" bIns="0" rtlCol="0">
            <a:spAutoFit/>
          </a:bodyPr>
          <a:lstStyle/>
          <a:p>
            <a:pPr marL="12700" marR="5080">
              <a:lnSpc>
                <a:spcPts val="1939"/>
              </a:lnSpc>
              <a:spcBef>
                <a:spcPts val="345"/>
              </a:spcBef>
            </a:pPr>
            <a:r>
              <a:rPr sz="1800" spc="-5" dirty="0">
                <a:solidFill>
                  <a:srgbClr val="FFFFFF"/>
                </a:solidFill>
                <a:latin typeface="Goudy Old Style"/>
                <a:cs typeface="Goudy Old Style"/>
              </a:rPr>
              <a:t>In </a:t>
            </a:r>
            <a:r>
              <a:rPr sz="1800" dirty="0">
                <a:solidFill>
                  <a:srgbClr val="FFFFFF"/>
                </a:solidFill>
                <a:latin typeface="Goudy Old Style"/>
                <a:cs typeface="Goudy Old Style"/>
              </a:rPr>
              <a:t>a </a:t>
            </a:r>
            <a:r>
              <a:rPr sz="1800" spc="-5" dirty="0">
                <a:solidFill>
                  <a:srgbClr val="FFFFFF"/>
                </a:solidFill>
                <a:latin typeface="Goudy Old Style"/>
                <a:cs typeface="Goudy Old Style"/>
              </a:rPr>
              <a:t>centralized database system, </a:t>
            </a:r>
            <a:r>
              <a:rPr sz="1800" dirty="0">
                <a:solidFill>
                  <a:srgbClr val="FFFFFF"/>
                </a:solidFill>
                <a:latin typeface="Goudy Old Style"/>
                <a:cs typeface="Goudy Old Style"/>
              </a:rPr>
              <a:t>the </a:t>
            </a:r>
            <a:r>
              <a:rPr sz="1800" spc="-5" dirty="0">
                <a:solidFill>
                  <a:srgbClr val="FFFFFF"/>
                </a:solidFill>
                <a:latin typeface="Goudy Old Style"/>
                <a:cs typeface="Goudy Old Style"/>
              </a:rPr>
              <a:t>database  </a:t>
            </a:r>
            <a:r>
              <a:rPr sz="1800" dirty="0">
                <a:solidFill>
                  <a:srgbClr val="FFFFFF"/>
                </a:solidFill>
                <a:latin typeface="Goudy Old Style"/>
                <a:cs typeface="Goudy Old Style"/>
              </a:rPr>
              <a:t>is </a:t>
            </a:r>
            <a:r>
              <a:rPr sz="1800" spc="-15" dirty="0">
                <a:solidFill>
                  <a:srgbClr val="FFFFFF"/>
                </a:solidFill>
                <a:latin typeface="Goudy Old Style"/>
                <a:cs typeface="Goudy Old Style"/>
              </a:rPr>
              <a:t>stored </a:t>
            </a:r>
            <a:r>
              <a:rPr sz="1800" dirty="0">
                <a:solidFill>
                  <a:srgbClr val="FFFFFF"/>
                </a:solidFill>
                <a:latin typeface="Goudy Old Style"/>
                <a:cs typeface="Goudy Old Style"/>
              </a:rPr>
              <a:t>in the </a:t>
            </a:r>
            <a:r>
              <a:rPr sz="1800" spc="-5" dirty="0">
                <a:solidFill>
                  <a:srgbClr val="FFFFFF"/>
                </a:solidFill>
                <a:latin typeface="Goudy Old Style"/>
                <a:cs typeface="Goudy Old Style"/>
              </a:rPr>
              <a:t>central </a:t>
            </a:r>
            <a:r>
              <a:rPr sz="1800" dirty="0">
                <a:solidFill>
                  <a:srgbClr val="FFFFFF"/>
                </a:solidFill>
                <a:latin typeface="Goudy Old Style"/>
                <a:cs typeface="Goudy Old Style"/>
              </a:rPr>
              <a:t>location </a:t>
            </a:r>
            <a:r>
              <a:rPr sz="1800" spc="-10" dirty="0">
                <a:solidFill>
                  <a:srgbClr val="FFFFFF"/>
                </a:solidFill>
                <a:latin typeface="Goudy Old Style"/>
                <a:cs typeface="Goudy Old Style"/>
              </a:rPr>
              <a:t>which  </a:t>
            </a:r>
            <a:r>
              <a:rPr sz="1800" dirty="0">
                <a:solidFill>
                  <a:srgbClr val="FFFFFF"/>
                </a:solidFill>
                <a:latin typeface="Goudy Old Style"/>
                <a:cs typeface="Goudy Old Style"/>
              </a:rPr>
              <a:t>everybody can </a:t>
            </a:r>
            <a:r>
              <a:rPr sz="1800" spc="-15" dirty="0">
                <a:solidFill>
                  <a:srgbClr val="FFFFFF"/>
                </a:solidFill>
                <a:latin typeface="Goudy Old Style"/>
                <a:cs typeface="Goudy Old Style"/>
              </a:rPr>
              <a:t>have </a:t>
            </a:r>
            <a:r>
              <a:rPr sz="1800" spc="-5" dirty="0">
                <a:solidFill>
                  <a:srgbClr val="FFFFFF"/>
                </a:solidFill>
                <a:latin typeface="Goudy Old Style"/>
                <a:cs typeface="Goudy Old Style"/>
              </a:rPr>
              <a:t>access </a:t>
            </a:r>
            <a:r>
              <a:rPr sz="1800" spc="-10" dirty="0">
                <a:solidFill>
                  <a:srgbClr val="FFFFFF"/>
                </a:solidFill>
                <a:latin typeface="Goudy Old Style"/>
                <a:cs typeface="Goudy Old Style"/>
              </a:rPr>
              <a:t>from </a:t>
            </a:r>
            <a:r>
              <a:rPr sz="1800" dirty="0">
                <a:solidFill>
                  <a:srgbClr val="FFFFFF"/>
                </a:solidFill>
                <a:latin typeface="Goudy Old Style"/>
                <a:cs typeface="Goudy Old Style"/>
              </a:rPr>
              <a:t>their</a:t>
            </a:r>
            <a:r>
              <a:rPr sz="1800" spc="-114" dirty="0">
                <a:solidFill>
                  <a:srgbClr val="FFFFFF"/>
                </a:solidFill>
                <a:latin typeface="Goudy Old Style"/>
                <a:cs typeface="Goudy Old Style"/>
              </a:rPr>
              <a:t> </a:t>
            </a:r>
            <a:r>
              <a:rPr sz="1800" spc="-5" dirty="0">
                <a:solidFill>
                  <a:srgbClr val="FFFFFF"/>
                </a:solidFill>
                <a:latin typeface="Goudy Old Style"/>
                <a:cs typeface="Goudy Old Style"/>
              </a:rPr>
              <a:t>machine.</a:t>
            </a:r>
            <a:endParaRPr sz="1800">
              <a:latin typeface="Goudy Old Style"/>
              <a:cs typeface="Goudy Old Style"/>
            </a:endParaRPr>
          </a:p>
        </p:txBody>
      </p:sp>
      <p:pic>
        <p:nvPicPr>
          <p:cNvPr id="18" name="object 18"/>
          <p:cNvPicPr/>
          <p:nvPr/>
        </p:nvPicPr>
        <p:blipFill>
          <a:blip r:embed="rId10" cstate="print"/>
          <a:stretch>
            <a:fillRect/>
          </a:stretch>
        </p:blipFill>
        <p:spPr>
          <a:xfrm>
            <a:off x="5135879" y="2026157"/>
            <a:ext cx="4008120" cy="3639311"/>
          </a:xfrm>
          <a:prstGeom prst="rect">
            <a:avLst/>
          </a:prstGeom>
        </p:spPr>
      </p:pic>
      <p:sp>
        <p:nvSpPr>
          <p:cNvPr id="20" name="object 20"/>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11</a:t>
            </a:fld>
            <a:endParaRPr sz="1200"/>
          </a:p>
        </p:txBody>
      </p:sp>
      <p:sp>
        <p:nvSpPr>
          <p:cNvPr id="21" name="object 21"/>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21411"/>
            <a:ext cx="7762875" cy="574040"/>
          </a:xfrm>
          <a:prstGeom prst="rect">
            <a:avLst/>
          </a:prstGeom>
        </p:spPr>
        <p:txBody>
          <a:bodyPr vert="horz" wrap="square" lIns="0" tIns="12700" rIns="0" bIns="0" rtlCol="0">
            <a:spAutoFit/>
          </a:bodyPr>
          <a:lstStyle/>
          <a:p>
            <a:pPr marL="12700">
              <a:lnSpc>
                <a:spcPct val="100000"/>
              </a:lnSpc>
              <a:spcBef>
                <a:spcPts val="100"/>
              </a:spcBef>
            </a:pPr>
            <a:r>
              <a:rPr b="0" dirty="0">
                <a:latin typeface="Goudy Old Style"/>
                <a:cs typeface="Goudy Old Style"/>
              </a:rPr>
              <a:t>Database </a:t>
            </a:r>
            <a:r>
              <a:rPr b="0" spc="-5" dirty="0">
                <a:latin typeface="Goudy Old Style"/>
                <a:cs typeface="Goudy Old Style"/>
              </a:rPr>
              <a:t>Management </a:t>
            </a:r>
            <a:r>
              <a:rPr b="0" spc="-10" dirty="0">
                <a:latin typeface="Goudy Old Style"/>
                <a:cs typeface="Goudy Old Style"/>
              </a:rPr>
              <a:t>System </a:t>
            </a:r>
            <a:r>
              <a:rPr b="0" spc="-5" dirty="0">
                <a:latin typeface="Goudy Old Style"/>
                <a:cs typeface="Goudy Old Style"/>
              </a:rPr>
              <a:t>(DBMS)</a:t>
            </a:r>
            <a:r>
              <a:rPr b="0" spc="-45" dirty="0">
                <a:latin typeface="Goudy Old Style"/>
                <a:cs typeface="Goudy Old Style"/>
              </a:rPr>
              <a:t> </a:t>
            </a:r>
            <a:r>
              <a:rPr b="0" spc="15" dirty="0">
                <a:latin typeface="Goudy Old Style"/>
                <a:cs typeface="Goudy Old Style"/>
              </a:rPr>
              <a:t>3-3</a:t>
            </a:r>
          </a:p>
        </p:txBody>
      </p:sp>
      <p:pic>
        <p:nvPicPr>
          <p:cNvPr id="3" name="object 3"/>
          <p:cNvPicPr/>
          <p:nvPr/>
        </p:nvPicPr>
        <p:blipFill>
          <a:blip r:embed="rId3" cstate="print"/>
          <a:stretch>
            <a:fillRect/>
          </a:stretch>
        </p:blipFill>
        <p:spPr>
          <a:xfrm>
            <a:off x="2362200" y="859536"/>
            <a:ext cx="4800600" cy="5998462"/>
          </a:xfrm>
          <a:prstGeom prst="rect">
            <a:avLst/>
          </a:prstGeom>
        </p:spPr>
      </p:pic>
      <p:sp>
        <p:nvSpPr>
          <p:cNvPr id="5" name="object 5"/>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12</a:t>
            </a:fld>
            <a:endParaRPr sz="120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1765554" y="4434090"/>
            <a:ext cx="6427470" cy="1329690"/>
          </a:xfrm>
          <a:prstGeom prst="rect">
            <a:avLst/>
          </a:prstGeom>
        </p:spPr>
      </p:pic>
      <p:sp>
        <p:nvSpPr>
          <p:cNvPr id="3" name="object 3"/>
          <p:cNvSpPr txBox="1">
            <a:spLocks noGrp="1"/>
          </p:cNvSpPr>
          <p:nvPr>
            <p:ph type="title"/>
          </p:nvPr>
        </p:nvSpPr>
        <p:spPr>
          <a:xfrm>
            <a:off x="383540" y="87884"/>
            <a:ext cx="4416425" cy="635635"/>
          </a:xfrm>
          <a:prstGeom prst="rect">
            <a:avLst/>
          </a:prstGeom>
        </p:spPr>
        <p:txBody>
          <a:bodyPr vert="horz" wrap="square" lIns="0" tIns="12700" rIns="0" bIns="0" rtlCol="0">
            <a:spAutoFit/>
          </a:bodyPr>
          <a:lstStyle/>
          <a:p>
            <a:pPr marL="12700">
              <a:lnSpc>
                <a:spcPct val="100000"/>
              </a:lnSpc>
              <a:spcBef>
                <a:spcPts val="100"/>
              </a:spcBef>
            </a:pPr>
            <a:r>
              <a:rPr sz="4000" b="0" dirty="0">
                <a:latin typeface="Goudy Old Style"/>
                <a:cs typeface="Goudy Old Style"/>
              </a:rPr>
              <a:t>Benefits </a:t>
            </a:r>
            <a:r>
              <a:rPr sz="4000" b="0" spc="-5" dirty="0">
                <a:latin typeface="Goudy Old Style"/>
                <a:cs typeface="Goudy Old Style"/>
              </a:rPr>
              <a:t>of DBMS</a:t>
            </a:r>
            <a:r>
              <a:rPr sz="4000" b="0" spc="-70" dirty="0">
                <a:latin typeface="Goudy Old Style"/>
                <a:cs typeface="Goudy Old Style"/>
              </a:rPr>
              <a:t> </a:t>
            </a:r>
            <a:r>
              <a:rPr sz="4000" b="0" spc="-5" dirty="0">
                <a:latin typeface="Goudy Old Style"/>
                <a:cs typeface="Goudy Old Style"/>
              </a:rPr>
              <a:t>1-2</a:t>
            </a:r>
            <a:endParaRPr sz="4000">
              <a:latin typeface="Goudy Old Style"/>
              <a:cs typeface="Goudy Old Style"/>
            </a:endParaRPr>
          </a:p>
        </p:txBody>
      </p:sp>
      <p:grpSp>
        <p:nvGrpSpPr>
          <p:cNvPr id="4" name="object 4"/>
          <p:cNvGrpSpPr/>
          <p:nvPr/>
        </p:nvGrpSpPr>
        <p:grpSpPr>
          <a:xfrm>
            <a:off x="323088" y="1011923"/>
            <a:ext cx="8022590" cy="3355340"/>
            <a:chOff x="323088" y="1011923"/>
            <a:chExt cx="8022590" cy="3355340"/>
          </a:xfrm>
        </p:grpSpPr>
        <p:pic>
          <p:nvPicPr>
            <p:cNvPr id="5" name="object 5"/>
            <p:cNvPicPr/>
            <p:nvPr/>
          </p:nvPicPr>
          <p:blipFill>
            <a:blip r:embed="rId4" cstate="print"/>
            <a:stretch>
              <a:fillRect/>
            </a:stretch>
          </p:blipFill>
          <p:spPr>
            <a:xfrm>
              <a:off x="323088" y="1011923"/>
              <a:ext cx="7793735" cy="1107960"/>
            </a:xfrm>
            <a:prstGeom prst="rect">
              <a:avLst/>
            </a:prstGeom>
          </p:spPr>
        </p:pic>
        <p:pic>
          <p:nvPicPr>
            <p:cNvPr id="6" name="object 6"/>
            <p:cNvPicPr/>
            <p:nvPr/>
          </p:nvPicPr>
          <p:blipFill>
            <a:blip r:embed="rId5" cstate="print"/>
            <a:stretch>
              <a:fillRect/>
            </a:stretch>
          </p:blipFill>
          <p:spPr>
            <a:xfrm>
              <a:off x="531876" y="2095500"/>
              <a:ext cx="7519416" cy="1206246"/>
            </a:xfrm>
            <a:prstGeom prst="rect">
              <a:avLst/>
            </a:prstGeom>
          </p:spPr>
        </p:pic>
        <p:pic>
          <p:nvPicPr>
            <p:cNvPr id="7" name="object 7"/>
            <p:cNvPicPr/>
            <p:nvPr/>
          </p:nvPicPr>
          <p:blipFill>
            <a:blip r:embed="rId6" cstate="print"/>
            <a:stretch>
              <a:fillRect/>
            </a:stretch>
          </p:blipFill>
          <p:spPr>
            <a:xfrm>
              <a:off x="1024889" y="3320783"/>
              <a:ext cx="7320533" cy="1046238"/>
            </a:xfrm>
            <a:prstGeom prst="rect">
              <a:avLst/>
            </a:prstGeom>
          </p:spPr>
        </p:pic>
        <p:pic>
          <p:nvPicPr>
            <p:cNvPr id="8" name="object 8"/>
            <p:cNvPicPr/>
            <p:nvPr/>
          </p:nvPicPr>
          <p:blipFill>
            <a:blip r:embed="rId7" cstate="print"/>
            <a:stretch>
              <a:fillRect/>
            </a:stretch>
          </p:blipFill>
          <p:spPr>
            <a:xfrm>
              <a:off x="1226057" y="3368789"/>
              <a:ext cx="6748272" cy="856500"/>
            </a:xfrm>
            <a:prstGeom prst="rect">
              <a:avLst/>
            </a:prstGeom>
          </p:spPr>
        </p:pic>
      </p:grpSp>
      <p:sp>
        <p:nvSpPr>
          <p:cNvPr id="9" name="object 9"/>
          <p:cNvSpPr txBox="1"/>
          <p:nvPr/>
        </p:nvSpPr>
        <p:spPr>
          <a:xfrm>
            <a:off x="2183129" y="4910582"/>
            <a:ext cx="526351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Goudy Old Style"/>
                <a:cs typeface="Goudy Old Style"/>
              </a:rPr>
              <a:t>A </a:t>
            </a:r>
            <a:r>
              <a:rPr sz="1800" spc="-5" dirty="0">
                <a:solidFill>
                  <a:srgbClr val="FFFFFF"/>
                </a:solidFill>
                <a:latin typeface="Goudy Old Style"/>
                <a:cs typeface="Goudy Old Style"/>
              </a:rPr>
              <a:t>DBMS </a:t>
            </a:r>
            <a:r>
              <a:rPr sz="1800" dirty="0">
                <a:solidFill>
                  <a:srgbClr val="FFFFFF"/>
                </a:solidFill>
                <a:latin typeface="Goudy Old Style"/>
                <a:cs typeface="Goudy Old Style"/>
              </a:rPr>
              <a:t>is </a:t>
            </a:r>
            <a:r>
              <a:rPr sz="1800" spc="-5" dirty="0">
                <a:solidFill>
                  <a:srgbClr val="FFFFFF"/>
                </a:solidFill>
                <a:latin typeface="Goudy Old Style"/>
                <a:cs typeface="Goudy Old Style"/>
              </a:rPr>
              <a:t>also </a:t>
            </a:r>
            <a:r>
              <a:rPr sz="1800" spc="-10" dirty="0">
                <a:solidFill>
                  <a:srgbClr val="FFFFFF"/>
                </a:solidFill>
                <a:latin typeface="Goudy Old Style"/>
                <a:cs typeface="Goudy Old Style"/>
              </a:rPr>
              <a:t>responsible </a:t>
            </a:r>
            <a:r>
              <a:rPr sz="1800" spc="-20" dirty="0">
                <a:solidFill>
                  <a:srgbClr val="FFFFFF"/>
                </a:solidFill>
                <a:latin typeface="Goudy Old Style"/>
                <a:cs typeface="Goudy Old Style"/>
              </a:rPr>
              <a:t>for </a:t>
            </a:r>
            <a:r>
              <a:rPr sz="1800" spc="5" dirty="0">
                <a:solidFill>
                  <a:srgbClr val="FFFFFF"/>
                </a:solidFill>
                <a:latin typeface="Goudy Old Style"/>
                <a:cs typeface="Goudy Old Style"/>
              </a:rPr>
              <a:t>data </a:t>
            </a:r>
            <a:r>
              <a:rPr sz="1800" spc="-5" dirty="0">
                <a:solidFill>
                  <a:srgbClr val="FFFFFF"/>
                </a:solidFill>
                <a:latin typeface="Goudy Old Style"/>
                <a:cs typeface="Goudy Old Style"/>
              </a:rPr>
              <a:t>security and</a:t>
            </a:r>
            <a:r>
              <a:rPr sz="1800" spc="35" dirty="0">
                <a:solidFill>
                  <a:srgbClr val="FFFFFF"/>
                </a:solidFill>
                <a:latin typeface="Goudy Old Style"/>
                <a:cs typeface="Goudy Old Style"/>
              </a:rPr>
              <a:t> </a:t>
            </a:r>
            <a:r>
              <a:rPr sz="1800" spc="-15" dirty="0">
                <a:solidFill>
                  <a:srgbClr val="FFFFFF"/>
                </a:solidFill>
                <a:latin typeface="Goudy Old Style"/>
                <a:cs typeface="Goudy Old Style"/>
              </a:rPr>
              <a:t>integrity.</a:t>
            </a:r>
            <a:endParaRPr sz="1800">
              <a:latin typeface="Goudy Old Style"/>
              <a:cs typeface="Goudy Old Style"/>
            </a:endParaRPr>
          </a:p>
        </p:txBody>
      </p:sp>
      <p:sp>
        <p:nvSpPr>
          <p:cNvPr id="12" name="object 12"/>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13</a:t>
            </a:fld>
            <a:endParaRPr sz="1200"/>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10" name="object 10"/>
          <p:cNvSpPr txBox="1"/>
          <p:nvPr/>
        </p:nvSpPr>
        <p:spPr>
          <a:xfrm>
            <a:off x="494537" y="1367790"/>
            <a:ext cx="7076440" cy="2553970"/>
          </a:xfrm>
          <a:prstGeom prst="rect">
            <a:avLst/>
          </a:prstGeom>
        </p:spPr>
        <p:txBody>
          <a:bodyPr vert="horz" wrap="square" lIns="0" tIns="12700" rIns="0" bIns="0" rtlCol="0">
            <a:spAutoFit/>
          </a:bodyPr>
          <a:lstStyle/>
          <a:p>
            <a:pPr marR="5080" algn="r">
              <a:lnSpc>
                <a:spcPct val="100000"/>
              </a:lnSpc>
              <a:spcBef>
                <a:spcPts val="100"/>
              </a:spcBef>
            </a:pPr>
            <a:r>
              <a:rPr sz="1800" dirty="0">
                <a:solidFill>
                  <a:srgbClr val="FFFFFF"/>
                </a:solidFill>
                <a:latin typeface="Goudy Old Style"/>
                <a:cs typeface="Goudy Old Style"/>
              </a:rPr>
              <a:t>A </a:t>
            </a:r>
            <a:r>
              <a:rPr sz="1800" spc="-5" dirty="0">
                <a:solidFill>
                  <a:srgbClr val="FFFFFF"/>
                </a:solidFill>
                <a:latin typeface="Goudy Old Style"/>
                <a:cs typeface="Goudy Old Style"/>
              </a:rPr>
              <a:t>DBMS </a:t>
            </a:r>
            <a:r>
              <a:rPr sz="1800" dirty="0">
                <a:solidFill>
                  <a:srgbClr val="FFFFFF"/>
                </a:solidFill>
                <a:latin typeface="Goudy Old Style"/>
                <a:cs typeface="Goudy Old Style"/>
              </a:rPr>
              <a:t>is </a:t>
            </a:r>
            <a:r>
              <a:rPr sz="1800" spc="-10" dirty="0">
                <a:solidFill>
                  <a:srgbClr val="FFFFFF"/>
                </a:solidFill>
                <a:latin typeface="Goudy Old Style"/>
                <a:cs typeface="Goudy Old Style"/>
              </a:rPr>
              <a:t>responsible </a:t>
            </a:r>
            <a:r>
              <a:rPr sz="1800" spc="-20" dirty="0">
                <a:solidFill>
                  <a:srgbClr val="FFFFFF"/>
                </a:solidFill>
                <a:latin typeface="Goudy Old Style"/>
                <a:cs typeface="Goudy Old Style"/>
              </a:rPr>
              <a:t>for </a:t>
            </a:r>
            <a:r>
              <a:rPr sz="1800" spc="-10" dirty="0">
                <a:solidFill>
                  <a:srgbClr val="FFFFFF"/>
                </a:solidFill>
                <a:latin typeface="Goudy Old Style"/>
                <a:cs typeface="Goudy Old Style"/>
              </a:rPr>
              <a:t>processing </a:t>
            </a:r>
            <a:r>
              <a:rPr sz="1800" dirty="0">
                <a:solidFill>
                  <a:srgbClr val="FFFFFF"/>
                </a:solidFill>
                <a:latin typeface="Goudy Old Style"/>
                <a:cs typeface="Goudy Old Style"/>
              </a:rPr>
              <a:t>data </a:t>
            </a:r>
            <a:r>
              <a:rPr sz="1800" spc="-5" dirty="0">
                <a:solidFill>
                  <a:srgbClr val="FFFFFF"/>
                </a:solidFill>
                <a:latin typeface="Goudy Old Style"/>
                <a:cs typeface="Goudy Old Style"/>
              </a:rPr>
              <a:t>and converting </a:t>
            </a:r>
            <a:r>
              <a:rPr sz="1800" dirty="0">
                <a:solidFill>
                  <a:srgbClr val="FFFFFF"/>
                </a:solidFill>
                <a:latin typeface="Goudy Old Style"/>
                <a:cs typeface="Goudy Old Style"/>
              </a:rPr>
              <a:t>it </a:t>
            </a:r>
            <a:r>
              <a:rPr sz="1800" spc="-5" dirty="0">
                <a:solidFill>
                  <a:srgbClr val="FFFFFF"/>
                </a:solidFill>
                <a:latin typeface="Goudy Old Style"/>
                <a:cs typeface="Goudy Old Style"/>
              </a:rPr>
              <a:t>into</a:t>
            </a:r>
            <a:r>
              <a:rPr sz="1800" spc="50" dirty="0">
                <a:solidFill>
                  <a:srgbClr val="FFFFFF"/>
                </a:solidFill>
                <a:latin typeface="Goudy Old Style"/>
                <a:cs typeface="Goudy Old Style"/>
              </a:rPr>
              <a:t> </a:t>
            </a:r>
            <a:r>
              <a:rPr sz="1800" spc="-10" dirty="0">
                <a:solidFill>
                  <a:srgbClr val="FFFFFF"/>
                </a:solidFill>
                <a:latin typeface="Goudy Old Style"/>
                <a:cs typeface="Goudy Old Style"/>
              </a:rPr>
              <a:t>information.</a:t>
            </a:r>
            <a:endParaRPr sz="1800">
              <a:latin typeface="Goudy Old Style"/>
              <a:cs typeface="Goudy Old Style"/>
            </a:endParaRPr>
          </a:p>
          <a:p>
            <a:pPr>
              <a:lnSpc>
                <a:spcPct val="100000"/>
              </a:lnSpc>
            </a:pPr>
            <a:endParaRPr sz="2000">
              <a:latin typeface="Goudy Old Style"/>
              <a:cs typeface="Goudy Old Style"/>
            </a:endParaRPr>
          </a:p>
          <a:p>
            <a:pPr>
              <a:lnSpc>
                <a:spcPct val="100000"/>
              </a:lnSpc>
              <a:spcBef>
                <a:spcPts val="25"/>
              </a:spcBef>
            </a:pPr>
            <a:endParaRPr sz="2350">
              <a:latin typeface="Goudy Old Style"/>
              <a:cs typeface="Goudy Old Style"/>
            </a:endParaRPr>
          </a:p>
          <a:p>
            <a:pPr marL="267335" marR="584200">
              <a:lnSpc>
                <a:spcPts val="1939"/>
              </a:lnSpc>
            </a:pPr>
            <a:r>
              <a:rPr sz="1800" dirty="0">
                <a:solidFill>
                  <a:srgbClr val="FFFFFF"/>
                </a:solidFill>
                <a:latin typeface="Goudy Old Style"/>
                <a:cs typeface="Goudy Old Style"/>
              </a:rPr>
              <a:t>A </a:t>
            </a:r>
            <a:r>
              <a:rPr sz="1800" spc="-5" dirty="0">
                <a:solidFill>
                  <a:srgbClr val="FFFFFF"/>
                </a:solidFill>
                <a:latin typeface="Goudy Old Style"/>
                <a:cs typeface="Goudy Old Style"/>
              </a:rPr>
              <a:t>database </a:t>
            </a:r>
            <a:r>
              <a:rPr sz="1800" spc="-20" dirty="0">
                <a:solidFill>
                  <a:srgbClr val="FFFFFF"/>
                </a:solidFill>
                <a:latin typeface="Goudy Old Style"/>
                <a:cs typeface="Goudy Old Style"/>
              </a:rPr>
              <a:t>for </a:t>
            </a:r>
            <a:r>
              <a:rPr sz="1800" dirty="0">
                <a:solidFill>
                  <a:srgbClr val="FFFFFF"/>
                </a:solidFill>
                <a:latin typeface="Goudy Old Style"/>
                <a:cs typeface="Goudy Old Style"/>
              </a:rPr>
              <a:t>this </a:t>
            </a:r>
            <a:r>
              <a:rPr sz="1800" spc="5" dirty="0">
                <a:solidFill>
                  <a:srgbClr val="FFFFFF"/>
                </a:solidFill>
                <a:latin typeface="Goudy Old Style"/>
                <a:cs typeface="Goudy Old Style"/>
              </a:rPr>
              <a:t>purpose </a:t>
            </a:r>
            <a:r>
              <a:rPr sz="1800" dirty="0">
                <a:solidFill>
                  <a:srgbClr val="FFFFFF"/>
                </a:solidFill>
                <a:latin typeface="Goudy Old Style"/>
                <a:cs typeface="Goudy Old Style"/>
              </a:rPr>
              <a:t>has </a:t>
            </a:r>
            <a:r>
              <a:rPr sz="1800" spc="-5" dirty="0">
                <a:solidFill>
                  <a:srgbClr val="FFFFFF"/>
                </a:solidFill>
                <a:latin typeface="Goudy Old Style"/>
                <a:cs typeface="Goudy Old Style"/>
              </a:rPr>
              <a:t>to </a:t>
            </a:r>
            <a:r>
              <a:rPr sz="1800" dirty="0">
                <a:solidFill>
                  <a:srgbClr val="FFFFFF"/>
                </a:solidFill>
                <a:latin typeface="Goudy Old Style"/>
                <a:cs typeface="Goudy Old Style"/>
              </a:rPr>
              <a:t>be </a:t>
            </a:r>
            <a:r>
              <a:rPr sz="1800" spc="-5" dirty="0">
                <a:solidFill>
                  <a:srgbClr val="FFFFFF"/>
                </a:solidFill>
                <a:latin typeface="Goudy Old Style"/>
                <a:cs typeface="Goudy Old Style"/>
              </a:rPr>
              <a:t>manipulated, </a:t>
            </a:r>
            <a:r>
              <a:rPr sz="1800" spc="-10" dirty="0">
                <a:solidFill>
                  <a:srgbClr val="FFFFFF"/>
                </a:solidFill>
                <a:latin typeface="Goudy Old Style"/>
                <a:cs typeface="Goudy Old Style"/>
              </a:rPr>
              <a:t>which </a:t>
            </a:r>
            <a:r>
              <a:rPr sz="1800" dirty="0">
                <a:solidFill>
                  <a:srgbClr val="FFFFFF"/>
                </a:solidFill>
                <a:latin typeface="Goudy Old Style"/>
                <a:cs typeface="Goudy Old Style"/>
              </a:rPr>
              <a:t>includes  querying the </a:t>
            </a:r>
            <a:r>
              <a:rPr sz="1800" spc="-5" dirty="0">
                <a:solidFill>
                  <a:srgbClr val="FFFFFF"/>
                </a:solidFill>
                <a:latin typeface="Goudy Old Style"/>
                <a:cs typeface="Goudy Old Style"/>
              </a:rPr>
              <a:t>database to </a:t>
            </a:r>
            <a:r>
              <a:rPr sz="1800" spc="-10" dirty="0">
                <a:solidFill>
                  <a:srgbClr val="FFFFFF"/>
                </a:solidFill>
                <a:latin typeface="Goudy Old Style"/>
                <a:cs typeface="Goudy Old Style"/>
              </a:rPr>
              <a:t>retrieve </a:t>
            </a:r>
            <a:r>
              <a:rPr sz="1800" dirty="0">
                <a:solidFill>
                  <a:srgbClr val="FFFFFF"/>
                </a:solidFill>
                <a:latin typeface="Goudy Old Style"/>
                <a:cs typeface="Goudy Old Style"/>
              </a:rPr>
              <a:t>specific data, </a:t>
            </a:r>
            <a:r>
              <a:rPr sz="1800" spc="-5" dirty="0">
                <a:solidFill>
                  <a:srgbClr val="FFFFFF"/>
                </a:solidFill>
                <a:latin typeface="Goudy Old Style"/>
                <a:cs typeface="Goudy Old Style"/>
              </a:rPr>
              <a:t>updating </a:t>
            </a:r>
            <a:r>
              <a:rPr sz="1800" dirty="0">
                <a:solidFill>
                  <a:srgbClr val="FFFFFF"/>
                </a:solidFill>
                <a:latin typeface="Goudy Old Style"/>
                <a:cs typeface="Goudy Old Style"/>
              </a:rPr>
              <a:t>the </a:t>
            </a:r>
            <a:r>
              <a:rPr sz="1800" spc="-5" dirty="0">
                <a:solidFill>
                  <a:srgbClr val="FFFFFF"/>
                </a:solidFill>
                <a:latin typeface="Goudy Old Style"/>
                <a:cs typeface="Goudy Old Style"/>
              </a:rPr>
              <a:t>database,  and </a:t>
            </a:r>
            <a:r>
              <a:rPr sz="1800" spc="-10" dirty="0">
                <a:solidFill>
                  <a:srgbClr val="FFFFFF"/>
                </a:solidFill>
                <a:latin typeface="Goudy Old Style"/>
                <a:cs typeface="Goudy Old Style"/>
              </a:rPr>
              <a:t>finally, </a:t>
            </a:r>
            <a:r>
              <a:rPr sz="1800" dirty="0">
                <a:solidFill>
                  <a:srgbClr val="FFFFFF"/>
                </a:solidFill>
                <a:latin typeface="Goudy Old Style"/>
                <a:cs typeface="Goudy Old Style"/>
              </a:rPr>
              <a:t>generating</a:t>
            </a:r>
            <a:r>
              <a:rPr sz="1800" spc="-20" dirty="0">
                <a:solidFill>
                  <a:srgbClr val="FFFFFF"/>
                </a:solidFill>
                <a:latin typeface="Goudy Old Style"/>
                <a:cs typeface="Goudy Old Style"/>
              </a:rPr>
              <a:t> </a:t>
            </a:r>
            <a:r>
              <a:rPr sz="1800" spc="-5" dirty="0">
                <a:solidFill>
                  <a:srgbClr val="FFFFFF"/>
                </a:solidFill>
                <a:latin typeface="Goudy Old Style"/>
                <a:cs typeface="Goudy Old Style"/>
              </a:rPr>
              <a:t>reports.</a:t>
            </a:r>
            <a:endParaRPr sz="1800">
              <a:latin typeface="Goudy Old Style"/>
              <a:cs typeface="Goudy Old Style"/>
            </a:endParaRPr>
          </a:p>
          <a:p>
            <a:pPr>
              <a:lnSpc>
                <a:spcPct val="100000"/>
              </a:lnSpc>
            </a:pPr>
            <a:endParaRPr sz="2000">
              <a:latin typeface="Goudy Old Style"/>
              <a:cs typeface="Goudy Old Style"/>
            </a:endParaRPr>
          </a:p>
          <a:p>
            <a:pPr>
              <a:lnSpc>
                <a:spcPct val="100000"/>
              </a:lnSpc>
              <a:spcBef>
                <a:spcPts val="20"/>
              </a:spcBef>
            </a:pPr>
            <a:endParaRPr sz="1750">
              <a:latin typeface="Goudy Old Style"/>
              <a:cs typeface="Goudy Old Style"/>
            </a:endParaRPr>
          </a:p>
          <a:p>
            <a:pPr marR="26670" algn="r">
              <a:lnSpc>
                <a:spcPct val="100000"/>
              </a:lnSpc>
            </a:pPr>
            <a:r>
              <a:rPr sz="1800" spc="-5" dirty="0">
                <a:solidFill>
                  <a:srgbClr val="FFFFFF"/>
                </a:solidFill>
                <a:latin typeface="Goudy Old Style"/>
                <a:cs typeface="Goudy Old Style"/>
              </a:rPr>
              <a:t>These reports </a:t>
            </a:r>
            <a:r>
              <a:rPr sz="1800" spc="-10" dirty="0">
                <a:solidFill>
                  <a:srgbClr val="FFFFFF"/>
                </a:solidFill>
                <a:latin typeface="Goudy Old Style"/>
                <a:cs typeface="Goudy Old Style"/>
              </a:rPr>
              <a:t>are </a:t>
            </a:r>
            <a:r>
              <a:rPr sz="1800" spc="-5" dirty="0">
                <a:solidFill>
                  <a:srgbClr val="FFFFFF"/>
                </a:solidFill>
                <a:latin typeface="Goudy Old Style"/>
                <a:cs typeface="Goudy Old Style"/>
              </a:rPr>
              <a:t>the </a:t>
            </a:r>
            <a:r>
              <a:rPr sz="1800" spc="-10" dirty="0">
                <a:solidFill>
                  <a:srgbClr val="FFFFFF"/>
                </a:solidFill>
                <a:latin typeface="Goudy Old Style"/>
                <a:cs typeface="Goudy Old Style"/>
              </a:rPr>
              <a:t>source </a:t>
            </a:r>
            <a:r>
              <a:rPr sz="1800" spc="-5" dirty="0">
                <a:solidFill>
                  <a:srgbClr val="FFFFFF"/>
                </a:solidFill>
                <a:latin typeface="Goudy Old Style"/>
                <a:cs typeface="Goudy Old Style"/>
              </a:rPr>
              <a:t>of </a:t>
            </a:r>
            <a:r>
              <a:rPr sz="1800" spc="-10" dirty="0">
                <a:solidFill>
                  <a:srgbClr val="FFFFFF"/>
                </a:solidFill>
                <a:latin typeface="Goudy Old Style"/>
                <a:cs typeface="Goudy Old Style"/>
              </a:rPr>
              <a:t>information, which </a:t>
            </a:r>
            <a:r>
              <a:rPr sz="1800" spc="-5" dirty="0">
                <a:solidFill>
                  <a:srgbClr val="FFFFFF"/>
                </a:solidFill>
                <a:latin typeface="Goudy Old Style"/>
                <a:cs typeface="Goudy Old Style"/>
              </a:rPr>
              <a:t>is, </a:t>
            </a:r>
            <a:r>
              <a:rPr sz="1800" spc="-10" dirty="0">
                <a:solidFill>
                  <a:srgbClr val="FFFFFF"/>
                </a:solidFill>
                <a:latin typeface="Goudy Old Style"/>
                <a:cs typeface="Goudy Old Style"/>
              </a:rPr>
              <a:t>processed</a:t>
            </a:r>
            <a:r>
              <a:rPr sz="1800" spc="60" dirty="0">
                <a:solidFill>
                  <a:srgbClr val="FFFFFF"/>
                </a:solidFill>
                <a:latin typeface="Goudy Old Style"/>
                <a:cs typeface="Goudy Old Style"/>
              </a:rPr>
              <a:t> </a:t>
            </a:r>
            <a:r>
              <a:rPr sz="1800" dirty="0">
                <a:solidFill>
                  <a:srgbClr val="FFFFFF"/>
                </a:solidFill>
                <a:latin typeface="Goudy Old Style"/>
                <a:cs typeface="Goudy Old Style"/>
              </a:rPr>
              <a:t>data.</a:t>
            </a:r>
            <a:endParaRPr sz="1800">
              <a:latin typeface="Goudy Old Style"/>
              <a:cs typeface="Goudy Old Style"/>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4416425" cy="635635"/>
          </a:xfrm>
          <a:prstGeom prst="rect">
            <a:avLst/>
          </a:prstGeom>
        </p:spPr>
        <p:txBody>
          <a:bodyPr vert="horz" wrap="square" lIns="0" tIns="12700" rIns="0" bIns="0" rtlCol="0">
            <a:spAutoFit/>
          </a:bodyPr>
          <a:lstStyle/>
          <a:p>
            <a:pPr marL="12700">
              <a:lnSpc>
                <a:spcPct val="100000"/>
              </a:lnSpc>
              <a:spcBef>
                <a:spcPts val="100"/>
              </a:spcBef>
            </a:pPr>
            <a:r>
              <a:rPr sz="4000" b="0" dirty="0">
                <a:latin typeface="Goudy Old Style"/>
                <a:cs typeface="Goudy Old Style"/>
              </a:rPr>
              <a:t>Benefits </a:t>
            </a:r>
            <a:r>
              <a:rPr sz="4000" b="0" spc="-5" dirty="0">
                <a:latin typeface="Goudy Old Style"/>
                <a:cs typeface="Goudy Old Style"/>
              </a:rPr>
              <a:t>of DBMS</a:t>
            </a:r>
            <a:r>
              <a:rPr sz="4000" b="0" spc="-70" dirty="0">
                <a:latin typeface="Goudy Old Style"/>
                <a:cs typeface="Goudy Old Style"/>
              </a:rPr>
              <a:t> </a:t>
            </a:r>
            <a:r>
              <a:rPr sz="4000" b="0" spc="-5" dirty="0">
                <a:latin typeface="Goudy Old Style"/>
                <a:cs typeface="Goudy Old Style"/>
              </a:rPr>
              <a:t>2-2</a:t>
            </a:r>
            <a:endParaRPr sz="4000">
              <a:latin typeface="Goudy Old Style"/>
              <a:cs typeface="Goudy Old Style"/>
            </a:endParaRPr>
          </a:p>
        </p:txBody>
      </p:sp>
      <p:grpSp>
        <p:nvGrpSpPr>
          <p:cNvPr id="3" name="object 3"/>
          <p:cNvGrpSpPr/>
          <p:nvPr/>
        </p:nvGrpSpPr>
        <p:grpSpPr>
          <a:xfrm>
            <a:off x="845058" y="886967"/>
            <a:ext cx="7522845" cy="524510"/>
            <a:chOff x="845058" y="886967"/>
            <a:chExt cx="7522845" cy="524510"/>
          </a:xfrm>
        </p:grpSpPr>
        <p:sp>
          <p:nvSpPr>
            <p:cNvPr id="4" name="object 4"/>
            <p:cNvSpPr/>
            <p:nvPr/>
          </p:nvSpPr>
          <p:spPr>
            <a:xfrm>
              <a:off x="857631" y="899540"/>
              <a:ext cx="7497445" cy="499109"/>
            </a:xfrm>
            <a:custGeom>
              <a:avLst/>
              <a:gdLst/>
              <a:ahLst/>
              <a:cxnLst/>
              <a:rect l="l" t="t" r="r" b="b"/>
              <a:pathLst>
                <a:path w="7497445" h="499109">
                  <a:moveTo>
                    <a:pt x="7410577" y="0"/>
                  </a:moveTo>
                  <a:lnTo>
                    <a:pt x="86804" y="0"/>
                  </a:lnTo>
                  <a:lnTo>
                    <a:pt x="53015" y="6532"/>
                  </a:lnTo>
                  <a:lnTo>
                    <a:pt x="25423" y="24352"/>
                  </a:lnTo>
                  <a:lnTo>
                    <a:pt x="6821" y="50792"/>
                  </a:lnTo>
                  <a:lnTo>
                    <a:pt x="0" y="83185"/>
                  </a:lnTo>
                  <a:lnTo>
                    <a:pt x="0" y="415925"/>
                  </a:lnTo>
                  <a:lnTo>
                    <a:pt x="6821" y="448317"/>
                  </a:lnTo>
                  <a:lnTo>
                    <a:pt x="25423" y="474757"/>
                  </a:lnTo>
                  <a:lnTo>
                    <a:pt x="53015" y="492577"/>
                  </a:lnTo>
                  <a:lnTo>
                    <a:pt x="86804" y="499110"/>
                  </a:lnTo>
                  <a:lnTo>
                    <a:pt x="7410577" y="499110"/>
                  </a:lnTo>
                  <a:lnTo>
                    <a:pt x="7444329" y="492577"/>
                  </a:lnTo>
                  <a:lnTo>
                    <a:pt x="7471902" y="474757"/>
                  </a:lnTo>
                  <a:lnTo>
                    <a:pt x="7490497" y="448317"/>
                  </a:lnTo>
                  <a:lnTo>
                    <a:pt x="7497318" y="415925"/>
                  </a:lnTo>
                  <a:lnTo>
                    <a:pt x="7497318" y="83185"/>
                  </a:lnTo>
                  <a:lnTo>
                    <a:pt x="7490497" y="50792"/>
                  </a:lnTo>
                  <a:lnTo>
                    <a:pt x="7471902" y="24352"/>
                  </a:lnTo>
                  <a:lnTo>
                    <a:pt x="7444329" y="6532"/>
                  </a:lnTo>
                  <a:lnTo>
                    <a:pt x="7410577" y="0"/>
                  </a:lnTo>
                  <a:close/>
                </a:path>
              </a:pathLst>
            </a:custGeom>
            <a:solidFill>
              <a:srgbClr val="C0504D"/>
            </a:solidFill>
          </p:spPr>
          <p:txBody>
            <a:bodyPr wrap="square" lIns="0" tIns="0" rIns="0" bIns="0" rtlCol="0"/>
            <a:lstStyle/>
            <a:p>
              <a:endParaRPr/>
            </a:p>
          </p:txBody>
        </p:sp>
        <p:sp>
          <p:nvSpPr>
            <p:cNvPr id="5" name="object 5"/>
            <p:cNvSpPr/>
            <p:nvPr/>
          </p:nvSpPr>
          <p:spPr>
            <a:xfrm>
              <a:off x="857631" y="899540"/>
              <a:ext cx="7497445" cy="499109"/>
            </a:xfrm>
            <a:custGeom>
              <a:avLst/>
              <a:gdLst/>
              <a:ahLst/>
              <a:cxnLst/>
              <a:rect l="l" t="t" r="r" b="b"/>
              <a:pathLst>
                <a:path w="7497445" h="499109">
                  <a:moveTo>
                    <a:pt x="0" y="83185"/>
                  </a:moveTo>
                  <a:lnTo>
                    <a:pt x="6821" y="50792"/>
                  </a:lnTo>
                  <a:lnTo>
                    <a:pt x="25423" y="24352"/>
                  </a:lnTo>
                  <a:lnTo>
                    <a:pt x="53015" y="6532"/>
                  </a:lnTo>
                  <a:lnTo>
                    <a:pt x="86804" y="0"/>
                  </a:lnTo>
                  <a:lnTo>
                    <a:pt x="7410577" y="0"/>
                  </a:lnTo>
                  <a:lnTo>
                    <a:pt x="7444329" y="6532"/>
                  </a:lnTo>
                  <a:lnTo>
                    <a:pt x="7471902" y="24352"/>
                  </a:lnTo>
                  <a:lnTo>
                    <a:pt x="7490497" y="50792"/>
                  </a:lnTo>
                  <a:lnTo>
                    <a:pt x="7497318" y="83185"/>
                  </a:lnTo>
                  <a:lnTo>
                    <a:pt x="7497318" y="415925"/>
                  </a:lnTo>
                  <a:lnTo>
                    <a:pt x="7490497" y="448317"/>
                  </a:lnTo>
                  <a:lnTo>
                    <a:pt x="7471902" y="474757"/>
                  </a:lnTo>
                  <a:lnTo>
                    <a:pt x="7444329" y="492577"/>
                  </a:lnTo>
                  <a:lnTo>
                    <a:pt x="7410577" y="499110"/>
                  </a:lnTo>
                  <a:lnTo>
                    <a:pt x="86804" y="499110"/>
                  </a:lnTo>
                  <a:lnTo>
                    <a:pt x="53015" y="492577"/>
                  </a:lnTo>
                  <a:lnTo>
                    <a:pt x="25423" y="474757"/>
                  </a:lnTo>
                  <a:lnTo>
                    <a:pt x="6821" y="448317"/>
                  </a:lnTo>
                  <a:lnTo>
                    <a:pt x="0" y="415925"/>
                  </a:lnTo>
                  <a:lnTo>
                    <a:pt x="0" y="83185"/>
                  </a:lnTo>
                  <a:close/>
                </a:path>
              </a:pathLst>
            </a:custGeom>
            <a:ln w="25146">
              <a:solidFill>
                <a:srgbClr val="FFFFFF"/>
              </a:solidFill>
            </a:ln>
          </p:spPr>
          <p:txBody>
            <a:bodyPr wrap="square" lIns="0" tIns="0" rIns="0" bIns="0" rtlCol="0"/>
            <a:lstStyle/>
            <a:p>
              <a:endParaRPr/>
            </a:p>
          </p:txBody>
        </p:sp>
      </p:grpSp>
      <p:grpSp>
        <p:nvGrpSpPr>
          <p:cNvPr id="6" name="object 6"/>
          <p:cNvGrpSpPr/>
          <p:nvPr/>
        </p:nvGrpSpPr>
        <p:grpSpPr>
          <a:xfrm>
            <a:off x="845058" y="1483613"/>
            <a:ext cx="7626350" cy="525145"/>
            <a:chOff x="845058" y="1483613"/>
            <a:chExt cx="7626350" cy="525145"/>
          </a:xfrm>
        </p:grpSpPr>
        <p:sp>
          <p:nvSpPr>
            <p:cNvPr id="7" name="object 7"/>
            <p:cNvSpPr/>
            <p:nvPr/>
          </p:nvSpPr>
          <p:spPr>
            <a:xfrm>
              <a:off x="857631" y="1496186"/>
              <a:ext cx="7600950" cy="500380"/>
            </a:xfrm>
            <a:custGeom>
              <a:avLst/>
              <a:gdLst/>
              <a:ahLst/>
              <a:cxnLst/>
              <a:rect l="l" t="t" r="r" b="b"/>
              <a:pathLst>
                <a:path w="7600950" h="500380">
                  <a:moveTo>
                    <a:pt x="7514082" y="0"/>
                  </a:moveTo>
                  <a:lnTo>
                    <a:pt x="86804" y="0"/>
                  </a:lnTo>
                  <a:lnTo>
                    <a:pt x="53015" y="6552"/>
                  </a:lnTo>
                  <a:lnTo>
                    <a:pt x="25423" y="24415"/>
                  </a:lnTo>
                  <a:lnTo>
                    <a:pt x="6821" y="50899"/>
                  </a:lnTo>
                  <a:lnTo>
                    <a:pt x="0" y="83312"/>
                  </a:lnTo>
                  <a:lnTo>
                    <a:pt x="0" y="416559"/>
                  </a:lnTo>
                  <a:lnTo>
                    <a:pt x="6821" y="448972"/>
                  </a:lnTo>
                  <a:lnTo>
                    <a:pt x="25423" y="475456"/>
                  </a:lnTo>
                  <a:lnTo>
                    <a:pt x="53015" y="493319"/>
                  </a:lnTo>
                  <a:lnTo>
                    <a:pt x="86804" y="499872"/>
                  </a:lnTo>
                  <a:lnTo>
                    <a:pt x="7514082" y="499872"/>
                  </a:lnTo>
                  <a:lnTo>
                    <a:pt x="7547907" y="493319"/>
                  </a:lnTo>
                  <a:lnTo>
                    <a:pt x="7575518" y="475456"/>
                  </a:lnTo>
                  <a:lnTo>
                    <a:pt x="7594127" y="448972"/>
                  </a:lnTo>
                  <a:lnTo>
                    <a:pt x="7600950" y="416559"/>
                  </a:lnTo>
                  <a:lnTo>
                    <a:pt x="7600950" y="83312"/>
                  </a:lnTo>
                  <a:lnTo>
                    <a:pt x="7594127" y="50899"/>
                  </a:lnTo>
                  <a:lnTo>
                    <a:pt x="7575518" y="24415"/>
                  </a:lnTo>
                  <a:lnTo>
                    <a:pt x="7547907" y="6552"/>
                  </a:lnTo>
                  <a:lnTo>
                    <a:pt x="7514082" y="0"/>
                  </a:lnTo>
                  <a:close/>
                </a:path>
              </a:pathLst>
            </a:custGeom>
            <a:solidFill>
              <a:srgbClr val="9BBA58"/>
            </a:solidFill>
          </p:spPr>
          <p:txBody>
            <a:bodyPr wrap="square" lIns="0" tIns="0" rIns="0" bIns="0" rtlCol="0"/>
            <a:lstStyle/>
            <a:p>
              <a:endParaRPr/>
            </a:p>
          </p:txBody>
        </p:sp>
        <p:sp>
          <p:nvSpPr>
            <p:cNvPr id="8" name="object 8"/>
            <p:cNvSpPr/>
            <p:nvPr/>
          </p:nvSpPr>
          <p:spPr>
            <a:xfrm>
              <a:off x="857631" y="1496186"/>
              <a:ext cx="7600950" cy="500380"/>
            </a:xfrm>
            <a:custGeom>
              <a:avLst/>
              <a:gdLst/>
              <a:ahLst/>
              <a:cxnLst/>
              <a:rect l="l" t="t" r="r" b="b"/>
              <a:pathLst>
                <a:path w="7600950" h="500380">
                  <a:moveTo>
                    <a:pt x="0" y="83312"/>
                  </a:moveTo>
                  <a:lnTo>
                    <a:pt x="6821" y="50899"/>
                  </a:lnTo>
                  <a:lnTo>
                    <a:pt x="25423" y="24415"/>
                  </a:lnTo>
                  <a:lnTo>
                    <a:pt x="53015" y="6552"/>
                  </a:lnTo>
                  <a:lnTo>
                    <a:pt x="86804" y="0"/>
                  </a:lnTo>
                  <a:lnTo>
                    <a:pt x="7514082" y="0"/>
                  </a:lnTo>
                  <a:lnTo>
                    <a:pt x="7547907" y="6552"/>
                  </a:lnTo>
                  <a:lnTo>
                    <a:pt x="7575518" y="24415"/>
                  </a:lnTo>
                  <a:lnTo>
                    <a:pt x="7594127" y="50899"/>
                  </a:lnTo>
                  <a:lnTo>
                    <a:pt x="7600950" y="83312"/>
                  </a:lnTo>
                  <a:lnTo>
                    <a:pt x="7600950" y="416559"/>
                  </a:lnTo>
                  <a:lnTo>
                    <a:pt x="7594127" y="448972"/>
                  </a:lnTo>
                  <a:lnTo>
                    <a:pt x="7575518" y="475456"/>
                  </a:lnTo>
                  <a:lnTo>
                    <a:pt x="7547907" y="493319"/>
                  </a:lnTo>
                  <a:lnTo>
                    <a:pt x="7514082" y="499872"/>
                  </a:lnTo>
                  <a:lnTo>
                    <a:pt x="86804" y="499872"/>
                  </a:lnTo>
                  <a:lnTo>
                    <a:pt x="53015" y="493319"/>
                  </a:lnTo>
                  <a:lnTo>
                    <a:pt x="25423" y="475456"/>
                  </a:lnTo>
                  <a:lnTo>
                    <a:pt x="6821" y="448972"/>
                  </a:lnTo>
                  <a:lnTo>
                    <a:pt x="0" y="416559"/>
                  </a:lnTo>
                  <a:lnTo>
                    <a:pt x="0" y="83312"/>
                  </a:lnTo>
                  <a:close/>
                </a:path>
              </a:pathLst>
            </a:custGeom>
            <a:ln w="25146">
              <a:solidFill>
                <a:srgbClr val="FFFFFF"/>
              </a:solidFill>
            </a:ln>
          </p:spPr>
          <p:txBody>
            <a:bodyPr wrap="square" lIns="0" tIns="0" rIns="0" bIns="0" rtlCol="0"/>
            <a:lstStyle/>
            <a:p>
              <a:endParaRPr/>
            </a:p>
          </p:txBody>
        </p:sp>
      </p:grpSp>
      <p:grpSp>
        <p:nvGrpSpPr>
          <p:cNvPr id="9" name="object 9"/>
          <p:cNvGrpSpPr/>
          <p:nvPr/>
        </p:nvGrpSpPr>
        <p:grpSpPr>
          <a:xfrm>
            <a:off x="845058" y="2079498"/>
            <a:ext cx="7626350" cy="525145"/>
            <a:chOff x="845058" y="2079498"/>
            <a:chExt cx="7626350" cy="525145"/>
          </a:xfrm>
        </p:grpSpPr>
        <p:sp>
          <p:nvSpPr>
            <p:cNvPr id="10" name="object 10"/>
            <p:cNvSpPr/>
            <p:nvPr/>
          </p:nvSpPr>
          <p:spPr>
            <a:xfrm>
              <a:off x="857631" y="2092071"/>
              <a:ext cx="7600950" cy="500380"/>
            </a:xfrm>
            <a:custGeom>
              <a:avLst/>
              <a:gdLst/>
              <a:ahLst/>
              <a:cxnLst/>
              <a:rect l="l" t="t" r="r" b="b"/>
              <a:pathLst>
                <a:path w="7600950" h="500380">
                  <a:moveTo>
                    <a:pt x="7514082" y="0"/>
                  </a:moveTo>
                  <a:lnTo>
                    <a:pt x="86804" y="0"/>
                  </a:lnTo>
                  <a:lnTo>
                    <a:pt x="53015" y="6552"/>
                  </a:lnTo>
                  <a:lnTo>
                    <a:pt x="25423" y="24415"/>
                  </a:lnTo>
                  <a:lnTo>
                    <a:pt x="6821" y="50899"/>
                  </a:lnTo>
                  <a:lnTo>
                    <a:pt x="0" y="83312"/>
                  </a:lnTo>
                  <a:lnTo>
                    <a:pt x="0" y="416559"/>
                  </a:lnTo>
                  <a:lnTo>
                    <a:pt x="6821" y="448972"/>
                  </a:lnTo>
                  <a:lnTo>
                    <a:pt x="25423" y="475456"/>
                  </a:lnTo>
                  <a:lnTo>
                    <a:pt x="53015" y="493319"/>
                  </a:lnTo>
                  <a:lnTo>
                    <a:pt x="86804" y="499872"/>
                  </a:lnTo>
                  <a:lnTo>
                    <a:pt x="7514082" y="499872"/>
                  </a:lnTo>
                  <a:lnTo>
                    <a:pt x="7547907" y="493319"/>
                  </a:lnTo>
                  <a:lnTo>
                    <a:pt x="7575518" y="475456"/>
                  </a:lnTo>
                  <a:lnTo>
                    <a:pt x="7594127" y="448972"/>
                  </a:lnTo>
                  <a:lnTo>
                    <a:pt x="7600950" y="416559"/>
                  </a:lnTo>
                  <a:lnTo>
                    <a:pt x="7600950" y="83312"/>
                  </a:lnTo>
                  <a:lnTo>
                    <a:pt x="7594127" y="50899"/>
                  </a:lnTo>
                  <a:lnTo>
                    <a:pt x="7575518" y="24415"/>
                  </a:lnTo>
                  <a:lnTo>
                    <a:pt x="7547907" y="6552"/>
                  </a:lnTo>
                  <a:lnTo>
                    <a:pt x="7514082" y="0"/>
                  </a:lnTo>
                  <a:close/>
                </a:path>
              </a:pathLst>
            </a:custGeom>
            <a:solidFill>
              <a:srgbClr val="8063A1"/>
            </a:solidFill>
          </p:spPr>
          <p:txBody>
            <a:bodyPr wrap="square" lIns="0" tIns="0" rIns="0" bIns="0" rtlCol="0"/>
            <a:lstStyle/>
            <a:p>
              <a:endParaRPr/>
            </a:p>
          </p:txBody>
        </p:sp>
        <p:sp>
          <p:nvSpPr>
            <p:cNvPr id="11" name="object 11"/>
            <p:cNvSpPr/>
            <p:nvPr/>
          </p:nvSpPr>
          <p:spPr>
            <a:xfrm>
              <a:off x="857631" y="2092071"/>
              <a:ext cx="7600950" cy="500380"/>
            </a:xfrm>
            <a:custGeom>
              <a:avLst/>
              <a:gdLst/>
              <a:ahLst/>
              <a:cxnLst/>
              <a:rect l="l" t="t" r="r" b="b"/>
              <a:pathLst>
                <a:path w="7600950" h="500380">
                  <a:moveTo>
                    <a:pt x="0" y="83312"/>
                  </a:moveTo>
                  <a:lnTo>
                    <a:pt x="6821" y="50899"/>
                  </a:lnTo>
                  <a:lnTo>
                    <a:pt x="25423" y="24415"/>
                  </a:lnTo>
                  <a:lnTo>
                    <a:pt x="53015" y="6552"/>
                  </a:lnTo>
                  <a:lnTo>
                    <a:pt x="86804" y="0"/>
                  </a:lnTo>
                  <a:lnTo>
                    <a:pt x="7514082" y="0"/>
                  </a:lnTo>
                  <a:lnTo>
                    <a:pt x="7547907" y="6552"/>
                  </a:lnTo>
                  <a:lnTo>
                    <a:pt x="7575518" y="24415"/>
                  </a:lnTo>
                  <a:lnTo>
                    <a:pt x="7594127" y="50899"/>
                  </a:lnTo>
                  <a:lnTo>
                    <a:pt x="7600950" y="83312"/>
                  </a:lnTo>
                  <a:lnTo>
                    <a:pt x="7600950" y="416559"/>
                  </a:lnTo>
                  <a:lnTo>
                    <a:pt x="7594127" y="448972"/>
                  </a:lnTo>
                  <a:lnTo>
                    <a:pt x="7575518" y="475456"/>
                  </a:lnTo>
                  <a:lnTo>
                    <a:pt x="7547907" y="493319"/>
                  </a:lnTo>
                  <a:lnTo>
                    <a:pt x="7514082" y="499872"/>
                  </a:lnTo>
                  <a:lnTo>
                    <a:pt x="86804" y="499872"/>
                  </a:lnTo>
                  <a:lnTo>
                    <a:pt x="53015" y="493319"/>
                  </a:lnTo>
                  <a:lnTo>
                    <a:pt x="25423" y="475456"/>
                  </a:lnTo>
                  <a:lnTo>
                    <a:pt x="6821" y="448972"/>
                  </a:lnTo>
                  <a:lnTo>
                    <a:pt x="0" y="416559"/>
                  </a:lnTo>
                  <a:lnTo>
                    <a:pt x="0" y="83312"/>
                  </a:lnTo>
                  <a:close/>
                </a:path>
              </a:pathLst>
            </a:custGeom>
            <a:ln w="25146">
              <a:solidFill>
                <a:srgbClr val="FFFFFF"/>
              </a:solidFill>
            </a:ln>
          </p:spPr>
          <p:txBody>
            <a:bodyPr wrap="square" lIns="0" tIns="0" rIns="0" bIns="0" rtlCol="0"/>
            <a:lstStyle/>
            <a:p>
              <a:endParaRPr/>
            </a:p>
          </p:txBody>
        </p:sp>
      </p:grpSp>
      <p:grpSp>
        <p:nvGrpSpPr>
          <p:cNvPr id="12" name="object 12"/>
          <p:cNvGrpSpPr/>
          <p:nvPr/>
        </p:nvGrpSpPr>
        <p:grpSpPr>
          <a:xfrm>
            <a:off x="840486" y="2679954"/>
            <a:ext cx="7626350" cy="524510"/>
            <a:chOff x="840486" y="2679954"/>
            <a:chExt cx="7626350" cy="524510"/>
          </a:xfrm>
        </p:grpSpPr>
        <p:sp>
          <p:nvSpPr>
            <p:cNvPr id="13" name="object 13"/>
            <p:cNvSpPr/>
            <p:nvPr/>
          </p:nvSpPr>
          <p:spPr>
            <a:xfrm>
              <a:off x="853059" y="2692527"/>
              <a:ext cx="7600950" cy="499109"/>
            </a:xfrm>
            <a:custGeom>
              <a:avLst/>
              <a:gdLst/>
              <a:ahLst/>
              <a:cxnLst/>
              <a:rect l="l" t="t" r="r" b="b"/>
              <a:pathLst>
                <a:path w="7600950" h="499110">
                  <a:moveTo>
                    <a:pt x="7514082" y="0"/>
                  </a:moveTo>
                  <a:lnTo>
                    <a:pt x="86804" y="0"/>
                  </a:lnTo>
                  <a:lnTo>
                    <a:pt x="53015" y="6532"/>
                  </a:lnTo>
                  <a:lnTo>
                    <a:pt x="25423" y="24352"/>
                  </a:lnTo>
                  <a:lnTo>
                    <a:pt x="6821" y="50792"/>
                  </a:lnTo>
                  <a:lnTo>
                    <a:pt x="0" y="83185"/>
                  </a:lnTo>
                  <a:lnTo>
                    <a:pt x="0" y="415925"/>
                  </a:lnTo>
                  <a:lnTo>
                    <a:pt x="6821" y="448317"/>
                  </a:lnTo>
                  <a:lnTo>
                    <a:pt x="25423" y="474757"/>
                  </a:lnTo>
                  <a:lnTo>
                    <a:pt x="53015" y="492577"/>
                  </a:lnTo>
                  <a:lnTo>
                    <a:pt x="86804" y="499110"/>
                  </a:lnTo>
                  <a:lnTo>
                    <a:pt x="7514082" y="499110"/>
                  </a:lnTo>
                  <a:lnTo>
                    <a:pt x="7547907" y="492577"/>
                  </a:lnTo>
                  <a:lnTo>
                    <a:pt x="7575518" y="474757"/>
                  </a:lnTo>
                  <a:lnTo>
                    <a:pt x="7594127" y="448317"/>
                  </a:lnTo>
                  <a:lnTo>
                    <a:pt x="7600950" y="415925"/>
                  </a:lnTo>
                  <a:lnTo>
                    <a:pt x="7600950" y="83185"/>
                  </a:lnTo>
                  <a:lnTo>
                    <a:pt x="7594127" y="50792"/>
                  </a:lnTo>
                  <a:lnTo>
                    <a:pt x="7575518" y="24352"/>
                  </a:lnTo>
                  <a:lnTo>
                    <a:pt x="7547907" y="6532"/>
                  </a:lnTo>
                  <a:lnTo>
                    <a:pt x="7514082" y="0"/>
                  </a:lnTo>
                  <a:close/>
                </a:path>
              </a:pathLst>
            </a:custGeom>
            <a:solidFill>
              <a:srgbClr val="4AACC5"/>
            </a:solidFill>
          </p:spPr>
          <p:txBody>
            <a:bodyPr wrap="square" lIns="0" tIns="0" rIns="0" bIns="0" rtlCol="0"/>
            <a:lstStyle/>
            <a:p>
              <a:endParaRPr/>
            </a:p>
          </p:txBody>
        </p:sp>
        <p:sp>
          <p:nvSpPr>
            <p:cNvPr id="14" name="object 14"/>
            <p:cNvSpPr/>
            <p:nvPr/>
          </p:nvSpPr>
          <p:spPr>
            <a:xfrm>
              <a:off x="853059" y="2692527"/>
              <a:ext cx="7600950" cy="499109"/>
            </a:xfrm>
            <a:custGeom>
              <a:avLst/>
              <a:gdLst/>
              <a:ahLst/>
              <a:cxnLst/>
              <a:rect l="l" t="t" r="r" b="b"/>
              <a:pathLst>
                <a:path w="7600950" h="499110">
                  <a:moveTo>
                    <a:pt x="0" y="83185"/>
                  </a:moveTo>
                  <a:lnTo>
                    <a:pt x="6821" y="50792"/>
                  </a:lnTo>
                  <a:lnTo>
                    <a:pt x="25423" y="24352"/>
                  </a:lnTo>
                  <a:lnTo>
                    <a:pt x="53015" y="6532"/>
                  </a:lnTo>
                  <a:lnTo>
                    <a:pt x="86804" y="0"/>
                  </a:lnTo>
                  <a:lnTo>
                    <a:pt x="7514082" y="0"/>
                  </a:lnTo>
                  <a:lnTo>
                    <a:pt x="7547907" y="6532"/>
                  </a:lnTo>
                  <a:lnTo>
                    <a:pt x="7575518" y="24352"/>
                  </a:lnTo>
                  <a:lnTo>
                    <a:pt x="7594127" y="50792"/>
                  </a:lnTo>
                  <a:lnTo>
                    <a:pt x="7600950" y="83185"/>
                  </a:lnTo>
                  <a:lnTo>
                    <a:pt x="7600950" y="415925"/>
                  </a:lnTo>
                  <a:lnTo>
                    <a:pt x="7594127" y="448317"/>
                  </a:lnTo>
                  <a:lnTo>
                    <a:pt x="7575518" y="474757"/>
                  </a:lnTo>
                  <a:lnTo>
                    <a:pt x="7547907" y="492577"/>
                  </a:lnTo>
                  <a:lnTo>
                    <a:pt x="7514082" y="499110"/>
                  </a:lnTo>
                  <a:lnTo>
                    <a:pt x="86804" y="499110"/>
                  </a:lnTo>
                  <a:lnTo>
                    <a:pt x="53015" y="492577"/>
                  </a:lnTo>
                  <a:lnTo>
                    <a:pt x="25423" y="474757"/>
                  </a:lnTo>
                  <a:lnTo>
                    <a:pt x="6821" y="448317"/>
                  </a:lnTo>
                  <a:lnTo>
                    <a:pt x="0" y="415925"/>
                  </a:lnTo>
                  <a:lnTo>
                    <a:pt x="0" y="83185"/>
                  </a:lnTo>
                  <a:close/>
                </a:path>
              </a:pathLst>
            </a:custGeom>
            <a:ln w="25146">
              <a:solidFill>
                <a:srgbClr val="FFFFFF"/>
              </a:solidFill>
            </a:ln>
          </p:spPr>
          <p:txBody>
            <a:bodyPr wrap="square" lIns="0" tIns="0" rIns="0" bIns="0" rtlCol="0"/>
            <a:lstStyle/>
            <a:p>
              <a:endParaRPr/>
            </a:p>
          </p:txBody>
        </p:sp>
      </p:grpSp>
      <p:grpSp>
        <p:nvGrpSpPr>
          <p:cNvPr id="15" name="object 15"/>
          <p:cNvGrpSpPr/>
          <p:nvPr/>
        </p:nvGrpSpPr>
        <p:grpSpPr>
          <a:xfrm>
            <a:off x="860297" y="3310128"/>
            <a:ext cx="7626350" cy="524510"/>
            <a:chOff x="860297" y="3310128"/>
            <a:chExt cx="7626350" cy="524510"/>
          </a:xfrm>
        </p:grpSpPr>
        <p:sp>
          <p:nvSpPr>
            <p:cNvPr id="16" name="object 16"/>
            <p:cNvSpPr/>
            <p:nvPr/>
          </p:nvSpPr>
          <p:spPr>
            <a:xfrm>
              <a:off x="872870" y="3322701"/>
              <a:ext cx="7600950" cy="499109"/>
            </a:xfrm>
            <a:custGeom>
              <a:avLst/>
              <a:gdLst/>
              <a:ahLst/>
              <a:cxnLst/>
              <a:rect l="l" t="t" r="r" b="b"/>
              <a:pathLst>
                <a:path w="7600950" h="499110">
                  <a:moveTo>
                    <a:pt x="7514082" y="0"/>
                  </a:moveTo>
                  <a:lnTo>
                    <a:pt x="86804" y="0"/>
                  </a:lnTo>
                  <a:lnTo>
                    <a:pt x="53015" y="6532"/>
                  </a:lnTo>
                  <a:lnTo>
                    <a:pt x="25423" y="24352"/>
                  </a:lnTo>
                  <a:lnTo>
                    <a:pt x="6821" y="50792"/>
                  </a:lnTo>
                  <a:lnTo>
                    <a:pt x="0" y="83185"/>
                  </a:lnTo>
                  <a:lnTo>
                    <a:pt x="0" y="415925"/>
                  </a:lnTo>
                  <a:lnTo>
                    <a:pt x="6821" y="448317"/>
                  </a:lnTo>
                  <a:lnTo>
                    <a:pt x="25423" y="474757"/>
                  </a:lnTo>
                  <a:lnTo>
                    <a:pt x="53015" y="492577"/>
                  </a:lnTo>
                  <a:lnTo>
                    <a:pt x="86804" y="499110"/>
                  </a:lnTo>
                  <a:lnTo>
                    <a:pt x="7514082" y="499110"/>
                  </a:lnTo>
                  <a:lnTo>
                    <a:pt x="7547907" y="492577"/>
                  </a:lnTo>
                  <a:lnTo>
                    <a:pt x="7575518" y="474757"/>
                  </a:lnTo>
                  <a:lnTo>
                    <a:pt x="7594127" y="448317"/>
                  </a:lnTo>
                  <a:lnTo>
                    <a:pt x="7600950" y="415925"/>
                  </a:lnTo>
                  <a:lnTo>
                    <a:pt x="7600950" y="83185"/>
                  </a:lnTo>
                  <a:lnTo>
                    <a:pt x="7594127" y="50792"/>
                  </a:lnTo>
                  <a:lnTo>
                    <a:pt x="7575518" y="24352"/>
                  </a:lnTo>
                  <a:lnTo>
                    <a:pt x="7547907" y="6532"/>
                  </a:lnTo>
                  <a:lnTo>
                    <a:pt x="7514082" y="0"/>
                  </a:lnTo>
                  <a:close/>
                </a:path>
              </a:pathLst>
            </a:custGeom>
            <a:solidFill>
              <a:srgbClr val="F79546"/>
            </a:solidFill>
          </p:spPr>
          <p:txBody>
            <a:bodyPr wrap="square" lIns="0" tIns="0" rIns="0" bIns="0" rtlCol="0"/>
            <a:lstStyle/>
            <a:p>
              <a:endParaRPr/>
            </a:p>
          </p:txBody>
        </p:sp>
        <p:sp>
          <p:nvSpPr>
            <p:cNvPr id="17" name="object 17"/>
            <p:cNvSpPr/>
            <p:nvPr/>
          </p:nvSpPr>
          <p:spPr>
            <a:xfrm>
              <a:off x="872870" y="3322701"/>
              <a:ext cx="7600950" cy="499109"/>
            </a:xfrm>
            <a:custGeom>
              <a:avLst/>
              <a:gdLst/>
              <a:ahLst/>
              <a:cxnLst/>
              <a:rect l="l" t="t" r="r" b="b"/>
              <a:pathLst>
                <a:path w="7600950" h="499110">
                  <a:moveTo>
                    <a:pt x="0" y="83185"/>
                  </a:moveTo>
                  <a:lnTo>
                    <a:pt x="6821" y="50792"/>
                  </a:lnTo>
                  <a:lnTo>
                    <a:pt x="25423" y="24352"/>
                  </a:lnTo>
                  <a:lnTo>
                    <a:pt x="53015" y="6532"/>
                  </a:lnTo>
                  <a:lnTo>
                    <a:pt x="86804" y="0"/>
                  </a:lnTo>
                  <a:lnTo>
                    <a:pt x="7514082" y="0"/>
                  </a:lnTo>
                  <a:lnTo>
                    <a:pt x="7547907" y="6532"/>
                  </a:lnTo>
                  <a:lnTo>
                    <a:pt x="7575518" y="24352"/>
                  </a:lnTo>
                  <a:lnTo>
                    <a:pt x="7594127" y="50792"/>
                  </a:lnTo>
                  <a:lnTo>
                    <a:pt x="7600950" y="83185"/>
                  </a:lnTo>
                  <a:lnTo>
                    <a:pt x="7600950" y="415925"/>
                  </a:lnTo>
                  <a:lnTo>
                    <a:pt x="7594127" y="448317"/>
                  </a:lnTo>
                  <a:lnTo>
                    <a:pt x="7575518" y="474757"/>
                  </a:lnTo>
                  <a:lnTo>
                    <a:pt x="7547907" y="492577"/>
                  </a:lnTo>
                  <a:lnTo>
                    <a:pt x="7514082" y="499110"/>
                  </a:lnTo>
                  <a:lnTo>
                    <a:pt x="86804" y="499110"/>
                  </a:lnTo>
                  <a:lnTo>
                    <a:pt x="53015" y="492577"/>
                  </a:lnTo>
                  <a:lnTo>
                    <a:pt x="25423" y="474757"/>
                  </a:lnTo>
                  <a:lnTo>
                    <a:pt x="6821" y="448317"/>
                  </a:lnTo>
                  <a:lnTo>
                    <a:pt x="0" y="415925"/>
                  </a:lnTo>
                  <a:lnTo>
                    <a:pt x="0" y="83185"/>
                  </a:lnTo>
                  <a:close/>
                </a:path>
              </a:pathLst>
            </a:custGeom>
            <a:ln w="25146">
              <a:solidFill>
                <a:srgbClr val="FFFFFF"/>
              </a:solidFill>
            </a:ln>
          </p:spPr>
          <p:txBody>
            <a:bodyPr wrap="square" lIns="0" tIns="0" rIns="0" bIns="0" rtlCol="0"/>
            <a:lstStyle/>
            <a:p>
              <a:endParaRPr/>
            </a:p>
          </p:txBody>
        </p:sp>
      </p:grpSp>
      <p:grpSp>
        <p:nvGrpSpPr>
          <p:cNvPr id="18" name="object 18"/>
          <p:cNvGrpSpPr/>
          <p:nvPr/>
        </p:nvGrpSpPr>
        <p:grpSpPr>
          <a:xfrm>
            <a:off x="865632" y="3943350"/>
            <a:ext cx="7626350" cy="525145"/>
            <a:chOff x="865632" y="3943350"/>
            <a:chExt cx="7626350" cy="525145"/>
          </a:xfrm>
        </p:grpSpPr>
        <p:sp>
          <p:nvSpPr>
            <p:cNvPr id="19" name="object 19"/>
            <p:cNvSpPr/>
            <p:nvPr/>
          </p:nvSpPr>
          <p:spPr>
            <a:xfrm>
              <a:off x="878205" y="3955923"/>
              <a:ext cx="7600950" cy="500380"/>
            </a:xfrm>
            <a:custGeom>
              <a:avLst/>
              <a:gdLst/>
              <a:ahLst/>
              <a:cxnLst/>
              <a:rect l="l" t="t" r="r" b="b"/>
              <a:pathLst>
                <a:path w="7600950" h="500379">
                  <a:moveTo>
                    <a:pt x="7514082" y="0"/>
                  </a:moveTo>
                  <a:lnTo>
                    <a:pt x="86804" y="0"/>
                  </a:lnTo>
                  <a:lnTo>
                    <a:pt x="53015" y="6552"/>
                  </a:lnTo>
                  <a:lnTo>
                    <a:pt x="25423" y="24415"/>
                  </a:lnTo>
                  <a:lnTo>
                    <a:pt x="6821" y="50899"/>
                  </a:lnTo>
                  <a:lnTo>
                    <a:pt x="0" y="83312"/>
                  </a:lnTo>
                  <a:lnTo>
                    <a:pt x="0" y="416559"/>
                  </a:lnTo>
                  <a:lnTo>
                    <a:pt x="6821" y="448972"/>
                  </a:lnTo>
                  <a:lnTo>
                    <a:pt x="25423" y="475456"/>
                  </a:lnTo>
                  <a:lnTo>
                    <a:pt x="53015" y="493319"/>
                  </a:lnTo>
                  <a:lnTo>
                    <a:pt x="86804" y="499872"/>
                  </a:lnTo>
                  <a:lnTo>
                    <a:pt x="7514082" y="499872"/>
                  </a:lnTo>
                  <a:lnTo>
                    <a:pt x="7547907" y="493319"/>
                  </a:lnTo>
                  <a:lnTo>
                    <a:pt x="7575518" y="475456"/>
                  </a:lnTo>
                  <a:lnTo>
                    <a:pt x="7594127" y="448972"/>
                  </a:lnTo>
                  <a:lnTo>
                    <a:pt x="7600950" y="416559"/>
                  </a:lnTo>
                  <a:lnTo>
                    <a:pt x="7600950" y="83312"/>
                  </a:lnTo>
                  <a:lnTo>
                    <a:pt x="7594127" y="50899"/>
                  </a:lnTo>
                  <a:lnTo>
                    <a:pt x="7575518" y="24415"/>
                  </a:lnTo>
                  <a:lnTo>
                    <a:pt x="7547907" y="6552"/>
                  </a:lnTo>
                  <a:lnTo>
                    <a:pt x="7514082" y="0"/>
                  </a:lnTo>
                  <a:close/>
                </a:path>
              </a:pathLst>
            </a:custGeom>
            <a:solidFill>
              <a:srgbClr val="C0504D"/>
            </a:solidFill>
          </p:spPr>
          <p:txBody>
            <a:bodyPr wrap="square" lIns="0" tIns="0" rIns="0" bIns="0" rtlCol="0"/>
            <a:lstStyle/>
            <a:p>
              <a:endParaRPr/>
            </a:p>
          </p:txBody>
        </p:sp>
        <p:sp>
          <p:nvSpPr>
            <p:cNvPr id="20" name="object 20"/>
            <p:cNvSpPr/>
            <p:nvPr/>
          </p:nvSpPr>
          <p:spPr>
            <a:xfrm>
              <a:off x="878205" y="3955923"/>
              <a:ext cx="7600950" cy="500380"/>
            </a:xfrm>
            <a:custGeom>
              <a:avLst/>
              <a:gdLst/>
              <a:ahLst/>
              <a:cxnLst/>
              <a:rect l="l" t="t" r="r" b="b"/>
              <a:pathLst>
                <a:path w="7600950" h="500379">
                  <a:moveTo>
                    <a:pt x="0" y="83312"/>
                  </a:moveTo>
                  <a:lnTo>
                    <a:pt x="6821" y="50899"/>
                  </a:lnTo>
                  <a:lnTo>
                    <a:pt x="25423" y="24415"/>
                  </a:lnTo>
                  <a:lnTo>
                    <a:pt x="53015" y="6552"/>
                  </a:lnTo>
                  <a:lnTo>
                    <a:pt x="86804" y="0"/>
                  </a:lnTo>
                  <a:lnTo>
                    <a:pt x="7514082" y="0"/>
                  </a:lnTo>
                  <a:lnTo>
                    <a:pt x="7547907" y="6552"/>
                  </a:lnTo>
                  <a:lnTo>
                    <a:pt x="7575518" y="24415"/>
                  </a:lnTo>
                  <a:lnTo>
                    <a:pt x="7594127" y="50899"/>
                  </a:lnTo>
                  <a:lnTo>
                    <a:pt x="7600950" y="83312"/>
                  </a:lnTo>
                  <a:lnTo>
                    <a:pt x="7600950" y="416559"/>
                  </a:lnTo>
                  <a:lnTo>
                    <a:pt x="7594127" y="448972"/>
                  </a:lnTo>
                  <a:lnTo>
                    <a:pt x="7575518" y="475456"/>
                  </a:lnTo>
                  <a:lnTo>
                    <a:pt x="7547907" y="493319"/>
                  </a:lnTo>
                  <a:lnTo>
                    <a:pt x="7514082" y="499872"/>
                  </a:lnTo>
                  <a:lnTo>
                    <a:pt x="86804" y="499872"/>
                  </a:lnTo>
                  <a:lnTo>
                    <a:pt x="53015" y="493319"/>
                  </a:lnTo>
                  <a:lnTo>
                    <a:pt x="25423" y="475456"/>
                  </a:lnTo>
                  <a:lnTo>
                    <a:pt x="6821" y="448972"/>
                  </a:lnTo>
                  <a:lnTo>
                    <a:pt x="0" y="416559"/>
                  </a:lnTo>
                  <a:lnTo>
                    <a:pt x="0" y="83312"/>
                  </a:lnTo>
                  <a:close/>
                </a:path>
              </a:pathLst>
            </a:custGeom>
            <a:ln w="25146">
              <a:solidFill>
                <a:srgbClr val="FFFFFF"/>
              </a:solidFill>
            </a:ln>
          </p:spPr>
          <p:txBody>
            <a:bodyPr wrap="square" lIns="0" tIns="0" rIns="0" bIns="0" rtlCol="0"/>
            <a:lstStyle/>
            <a:p>
              <a:endParaRPr/>
            </a:p>
          </p:txBody>
        </p:sp>
      </p:grpSp>
      <p:grpSp>
        <p:nvGrpSpPr>
          <p:cNvPr id="21" name="object 21"/>
          <p:cNvGrpSpPr/>
          <p:nvPr/>
        </p:nvGrpSpPr>
        <p:grpSpPr>
          <a:xfrm>
            <a:off x="860297" y="4622291"/>
            <a:ext cx="7626350" cy="524510"/>
            <a:chOff x="860297" y="4622291"/>
            <a:chExt cx="7626350" cy="524510"/>
          </a:xfrm>
        </p:grpSpPr>
        <p:sp>
          <p:nvSpPr>
            <p:cNvPr id="22" name="object 22"/>
            <p:cNvSpPr/>
            <p:nvPr/>
          </p:nvSpPr>
          <p:spPr>
            <a:xfrm>
              <a:off x="872870" y="4634864"/>
              <a:ext cx="7600950" cy="499109"/>
            </a:xfrm>
            <a:custGeom>
              <a:avLst/>
              <a:gdLst/>
              <a:ahLst/>
              <a:cxnLst/>
              <a:rect l="l" t="t" r="r" b="b"/>
              <a:pathLst>
                <a:path w="7600950" h="499110">
                  <a:moveTo>
                    <a:pt x="7514082" y="0"/>
                  </a:moveTo>
                  <a:lnTo>
                    <a:pt x="86804" y="0"/>
                  </a:lnTo>
                  <a:lnTo>
                    <a:pt x="53015" y="6532"/>
                  </a:lnTo>
                  <a:lnTo>
                    <a:pt x="25423" y="24352"/>
                  </a:lnTo>
                  <a:lnTo>
                    <a:pt x="6821" y="50792"/>
                  </a:lnTo>
                  <a:lnTo>
                    <a:pt x="0" y="83185"/>
                  </a:lnTo>
                  <a:lnTo>
                    <a:pt x="0" y="415925"/>
                  </a:lnTo>
                  <a:lnTo>
                    <a:pt x="6821" y="448317"/>
                  </a:lnTo>
                  <a:lnTo>
                    <a:pt x="25423" y="474757"/>
                  </a:lnTo>
                  <a:lnTo>
                    <a:pt x="53015" y="492577"/>
                  </a:lnTo>
                  <a:lnTo>
                    <a:pt x="86804" y="499110"/>
                  </a:lnTo>
                  <a:lnTo>
                    <a:pt x="7514082" y="499110"/>
                  </a:lnTo>
                  <a:lnTo>
                    <a:pt x="7547907" y="492577"/>
                  </a:lnTo>
                  <a:lnTo>
                    <a:pt x="7575518" y="474757"/>
                  </a:lnTo>
                  <a:lnTo>
                    <a:pt x="7594127" y="448317"/>
                  </a:lnTo>
                  <a:lnTo>
                    <a:pt x="7600950" y="415925"/>
                  </a:lnTo>
                  <a:lnTo>
                    <a:pt x="7600950" y="83185"/>
                  </a:lnTo>
                  <a:lnTo>
                    <a:pt x="7594127" y="50792"/>
                  </a:lnTo>
                  <a:lnTo>
                    <a:pt x="7575518" y="24352"/>
                  </a:lnTo>
                  <a:lnTo>
                    <a:pt x="7547907" y="6532"/>
                  </a:lnTo>
                  <a:lnTo>
                    <a:pt x="7514082" y="0"/>
                  </a:lnTo>
                  <a:close/>
                </a:path>
              </a:pathLst>
            </a:custGeom>
            <a:solidFill>
              <a:srgbClr val="9BBA58"/>
            </a:solidFill>
          </p:spPr>
          <p:txBody>
            <a:bodyPr wrap="square" lIns="0" tIns="0" rIns="0" bIns="0" rtlCol="0"/>
            <a:lstStyle/>
            <a:p>
              <a:endParaRPr/>
            </a:p>
          </p:txBody>
        </p:sp>
        <p:sp>
          <p:nvSpPr>
            <p:cNvPr id="23" name="object 23"/>
            <p:cNvSpPr/>
            <p:nvPr/>
          </p:nvSpPr>
          <p:spPr>
            <a:xfrm>
              <a:off x="872870" y="4634864"/>
              <a:ext cx="7600950" cy="499109"/>
            </a:xfrm>
            <a:custGeom>
              <a:avLst/>
              <a:gdLst/>
              <a:ahLst/>
              <a:cxnLst/>
              <a:rect l="l" t="t" r="r" b="b"/>
              <a:pathLst>
                <a:path w="7600950" h="499110">
                  <a:moveTo>
                    <a:pt x="0" y="83185"/>
                  </a:moveTo>
                  <a:lnTo>
                    <a:pt x="6821" y="50792"/>
                  </a:lnTo>
                  <a:lnTo>
                    <a:pt x="25423" y="24352"/>
                  </a:lnTo>
                  <a:lnTo>
                    <a:pt x="53015" y="6532"/>
                  </a:lnTo>
                  <a:lnTo>
                    <a:pt x="86804" y="0"/>
                  </a:lnTo>
                  <a:lnTo>
                    <a:pt x="7514082" y="0"/>
                  </a:lnTo>
                  <a:lnTo>
                    <a:pt x="7547907" y="6532"/>
                  </a:lnTo>
                  <a:lnTo>
                    <a:pt x="7575518" y="24352"/>
                  </a:lnTo>
                  <a:lnTo>
                    <a:pt x="7594127" y="50792"/>
                  </a:lnTo>
                  <a:lnTo>
                    <a:pt x="7600950" y="83185"/>
                  </a:lnTo>
                  <a:lnTo>
                    <a:pt x="7600950" y="415925"/>
                  </a:lnTo>
                  <a:lnTo>
                    <a:pt x="7594127" y="448317"/>
                  </a:lnTo>
                  <a:lnTo>
                    <a:pt x="7575518" y="474757"/>
                  </a:lnTo>
                  <a:lnTo>
                    <a:pt x="7547907" y="492577"/>
                  </a:lnTo>
                  <a:lnTo>
                    <a:pt x="7514082" y="499110"/>
                  </a:lnTo>
                  <a:lnTo>
                    <a:pt x="86804" y="499110"/>
                  </a:lnTo>
                  <a:lnTo>
                    <a:pt x="53015" y="492577"/>
                  </a:lnTo>
                  <a:lnTo>
                    <a:pt x="25423" y="474757"/>
                  </a:lnTo>
                  <a:lnTo>
                    <a:pt x="6821" y="448317"/>
                  </a:lnTo>
                  <a:lnTo>
                    <a:pt x="0" y="415925"/>
                  </a:lnTo>
                  <a:lnTo>
                    <a:pt x="0" y="83185"/>
                  </a:lnTo>
                  <a:close/>
                </a:path>
              </a:pathLst>
            </a:custGeom>
            <a:ln w="25146">
              <a:solidFill>
                <a:srgbClr val="FFFFFF"/>
              </a:solidFill>
            </a:ln>
          </p:spPr>
          <p:txBody>
            <a:bodyPr wrap="square" lIns="0" tIns="0" rIns="0" bIns="0" rtlCol="0"/>
            <a:lstStyle/>
            <a:p>
              <a:endParaRPr/>
            </a:p>
          </p:txBody>
        </p:sp>
      </p:grpSp>
      <p:grpSp>
        <p:nvGrpSpPr>
          <p:cNvPr id="24" name="object 24"/>
          <p:cNvGrpSpPr/>
          <p:nvPr/>
        </p:nvGrpSpPr>
        <p:grpSpPr>
          <a:xfrm>
            <a:off x="840486" y="5347715"/>
            <a:ext cx="7626350" cy="765175"/>
            <a:chOff x="840486" y="5347715"/>
            <a:chExt cx="7626350" cy="765175"/>
          </a:xfrm>
        </p:grpSpPr>
        <p:sp>
          <p:nvSpPr>
            <p:cNvPr id="25" name="object 25"/>
            <p:cNvSpPr/>
            <p:nvPr/>
          </p:nvSpPr>
          <p:spPr>
            <a:xfrm>
              <a:off x="853059" y="5360288"/>
              <a:ext cx="7600950" cy="740410"/>
            </a:xfrm>
            <a:custGeom>
              <a:avLst/>
              <a:gdLst/>
              <a:ahLst/>
              <a:cxnLst/>
              <a:rect l="l" t="t" r="r" b="b"/>
              <a:pathLst>
                <a:path w="7600950" h="740410">
                  <a:moveTo>
                    <a:pt x="7528052" y="0"/>
                  </a:moveTo>
                  <a:lnTo>
                    <a:pt x="72936" y="0"/>
                  </a:lnTo>
                  <a:lnTo>
                    <a:pt x="44544" y="9695"/>
                  </a:lnTo>
                  <a:lnTo>
                    <a:pt x="21361" y="36131"/>
                  </a:lnTo>
                  <a:lnTo>
                    <a:pt x="5731" y="75330"/>
                  </a:lnTo>
                  <a:lnTo>
                    <a:pt x="0" y="123317"/>
                  </a:lnTo>
                  <a:lnTo>
                    <a:pt x="0" y="616585"/>
                  </a:lnTo>
                  <a:lnTo>
                    <a:pt x="5731" y="664587"/>
                  </a:lnTo>
                  <a:lnTo>
                    <a:pt x="21361" y="703784"/>
                  </a:lnTo>
                  <a:lnTo>
                    <a:pt x="44544" y="730211"/>
                  </a:lnTo>
                  <a:lnTo>
                    <a:pt x="72936" y="739902"/>
                  </a:lnTo>
                  <a:lnTo>
                    <a:pt x="7528052" y="739902"/>
                  </a:lnTo>
                  <a:lnTo>
                    <a:pt x="7556426" y="730211"/>
                  </a:lnTo>
                  <a:lnTo>
                    <a:pt x="7579598" y="703784"/>
                  </a:lnTo>
                  <a:lnTo>
                    <a:pt x="7595221" y="664587"/>
                  </a:lnTo>
                  <a:lnTo>
                    <a:pt x="7600950" y="616585"/>
                  </a:lnTo>
                  <a:lnTo>
                    <a:pt x="7600950" y="123317"/>
                  </a:lnTo>
                  <a:lnTo>
                    <a:pt x="7595221" y="75330"/>
                  </a:lnTo>
                  <a:lnTo>
                    <a:pt x="7579598" y="36131"/>
                  </a:lnTo>
                  <a:lnTo>
                    <a:pt x="7556426" y="9695"/>
                  </a:lnTo>
                  <a:lnTo>
                    <a:pt x="7528052" y="0"/>
                  </a:lnTo>
                  <a:close/>
                </a:path>
              </a:pathLst>
            </a:custGeom>
            <a:solidFill>
              <a:srgbClr val="8063A1"/>
            </a:solidFill>
          </p:spPr>
          <p:txBody>
            <a:bodyPr wrap="square" lIns="0" tIns="0" rIns="0" bIns="0" rtlCol="0"/>
            <a:lstStyle/>
            <a:p>
              <a:endParaRPr/>
            </a:p>
          </p:txBody>
        </p:sp>
        <p:sp>
          <p:nvSpPr>
            <p:cNvPr id="26" name="object 26"/>
            <p:cNvSpPr/>
            <p:nvPr/>
          </p:nvSpPr>
          <p:spPr>
            <a:xfrm>
              <a:off x="853059" y="5360288"/>
              <a:ext cx="7600950" cy="740410"/>
            </a:xfrm>
            <a:custGeom>
              <a:avLst/>
              <a:gdLst/>
              <a:ahLst/>
              <a:cxnLst/>
              <a:rect l="l" t="t" r="r" b="b"/>
              <a:pathLst>
                <a:path w="7600950" h="740410">
                  <a:moveTo>
                    <a:pt x="0" y="123317"/>
                  </a:moveTo>
                  <a:lnTo>
                    <a:pt x="5731" y="75330"/>
                  </a:lnTo>
                  <a:lnTo>
                    <a:pt x="21361" y="36131"/>
                  </a:lnTo>
                  <a:lnTo>
                    <a:pt x="44544" y="9695"/>
                  </a:lnTo>
                  <a:lnTo>
                    <a:pt x="72936" y="0"/>
                  </a:lnTo>
                  <a:lnTo>
                    <a:pt x="7528052" y="0"/>
                  </a:lnTo>
                  <a:lnTo>
                    <a:pt x="7556426" y="9695"/>
                  </a:lnTo>
                  <a:lnTo>
                    <a:pt x="7579598" y="36131"/>
                  </a:lnTo>
                  <a:lnTo>
                    <a:pt x="7595221" y="75330"/>
                  </a:lnTo>
                  <a:lnTo>
                    <a:pt x="7600950" y="123317"/>
                  </a:lnTo>
                  <a:lnTo>
                    <a:pt x="7600950" y="616585"/>
                  </a:lnTo>
                  <a:lnTo>
                    <a:pt x="7595221" y="664587"/>
                  </a:lnTo>
                  <a:lnTo>
                    <a:pt x="7579598" y="703784"/>
                  </a:lnTo>
                  <a:lnTo>
                    <a:pt x="7556426" y="730211"/>
                  </a:lnTo>
                  <a:lnTo>
                    <a:pt x="7528052" y="739902"/>
                  </a:lnTo>
                  <a:lnTo>
                    <a:pt x="72936" y="739902"/>
                  </a:lnTo>
                  <a:lnTo>
                    <a:pt x="44544" y="730211"/>
                  </a:lnTo>
                  <a:lnTo>
                    <a:pt x="21361" y="703784"/>
                  </a:lnTo>
                  <a:lnTo>
                    <a:pt x="5731" y="664587"/>
                  </a:lnTo>
                  <a:lnTo>
                    <a:pt x="0" y="616585"/>
                  </a:lnTo>
                  <a:lnTo>
                    <a:pt x="0" y="123317"/>
                  </a:lnTo>
                  <a:close/>
                </a:path>
              </a:pathLst>
            </a:custGeom>
            <a:ln w="25146">
              <a:solidFill>
                <a:srgbClr val="FFFFFF"/>
              </a:solidFill>
            </a:ln>
          </p:spPr>
          <p:txBody>
            <a:bodyPr wrap="square" lIns="0" tIns="0" rIns="0" bIns="0" rtlCol="0"/>
            <a:lstStyle/>
            <a:p>
              <a:endParaRPr/>
            </a:p>
          </p:txBody>
        </p:sp>
      </p:grpSp>
      <p:sp>
        <p:nvSpPr>
          <p:cNvPr id="27" name="object 27"/>
          <p:cNvSpPr txBox="1"/>
          <p:nvPr/>
        </p:nvSpPr>
        <p:spPr>
          <a:xfrm>
            <a:off x="1070355" y="918464"/>
            <a:ext cx="6863080" cy="5137150"/>
          </a:xfrm>
          <a:prstGeom prst="rect">
            <a:avLst/>
          </a:prstGeom>
        </p:spPr>
        <p:txBody>
          <a:bodyPr vert="horz" wrap="square" lIns="0" tIns="12700" rIns="0" bIns="0" rtlCol="0">
            <a:spAutoFit/>
          </a:bodyPr>
          <a:lstStyle/>
          <a:p>
            <a:pPr marL="17145">
              <a:lnSpc>
                <a:spcPct val="100000"/>
              </a:lnSpc>
              <a:spcBef>
                <a:spcPts val="100"/>
              </a:spcBef>
            </a:pPr>
            <a:r>
              <a:rPr sz="2400" spc="5" dirty="0">
                <a:latin typeface="Goudy Old Style"/>
                <a:cs typeface="Goudy Old Style"/>
              </a:rPr>
              <a:t>Data</a:t>
            </a:r>
            <a:r>
              <a:rPr sz="2400" spc="-10" dirty="0">
                <a:latin typeface="Goudy Old Style"/>
                <a:cs typeface="Goudy Old Style"/>
              </a:rPr>
              <a:t> storage</a:t>
            </a:r>
            <a:endParaRPr sz="2400">
              <a:latin typeface="Goudy Old Style"/>
              <a:cs typeface="Goudy Old Style"/>
            </a:endParaRPr>
          </a:p>
          <a:p>
            <a:pPr marL="17145" marR="4546600">
              <a:lnSpc>
                <a:spcPct val="162800"/>
              </a:lnSpc>
              <a:spcBef>
                <a:spcPts val="10"/>
              </a:spcBef>
            </a:pPr>
            <a:r>
              <a:rPr sz="2400" spc="5" dirty="0">
                <a:latin typeface="Goudy Old Style"/>
                <a:cs typeface="Goudy Old Style"/>
              </a:rPr>
              <a:t>Data </a:t>
            </a:r>
            <a:r>
              <a:rPr sz="2400" dirty="0">
                <a:latin typeface="Goudy Old Style"/>
                <a:cs typeface="Goudy Old Style"/>
              </a:rPr>
              <a:t>definition  </a:t>
            </a:r>
            <a:r>
              <a:rPr sz="2400" spc="5" dirty="0">
                <a:latin typeface="Goudy Old Style"/>
                <a:cs typeface="Goudy Old Style"/>
              </a:rPr>
              <a:t>Data</a:t>
            </a:r>
            <a:r>
              <a:rPr sz="2400" spc="-100" dirty="0">
                <a:latin typeface="Goudy Old Style"/>
                <a:cs typeface="Goudy Old Style"/>
              </a:rPr>
              <a:t> </a:t>
            </a:r>
            <a:r>
              <a:rPr sz="2400" dirty="0">
                <a:latin typeface="Goudy Old Style"/>
                <a:cs typeface="Goudy Old Style"/>
              </a:rPr>
              <a:t>manipulation</a:t>
            </a:r>
            <a:endParaRPr sz="2400">
              <a:latin typeface="Goudy Old Style"/>
              <a:cs typeface="Goudy Old Style"/>
            </a:endParaRPr>
          </a:p>
          <a:p>
            <a:pPr marL="32384" marR="3098800" indent="-20320">
              <a:lnSpc>
                <a:spcPts val="4960"/>
              </a:lnSpc>
              <a:spcBef>
                <a:spcPts val="280"/>
              </a:spcBef>
            </a:pPr>
            <a:r>
              <a:rPr sz="2400" spc="5" dirty="0">
                <a:latin typeface="Goudy Old Style"/>
                <a:cs typeface="Goudy Old Style"/>
              </a:rPr>
              <a:t>Data </a:t>
            </a:r>
            <a:r>
              <a:rPr sz="2400" spc="-5" dirty="0">
                <a:latin typeface="Goudy Old Style"/>
                <a:cs typeface="Goudy Old Style"/>
              </a:rPr>
              <a:t>security and integrity  </a:t>
            </a:r>
            <a:r>
              <a:rPr sz="2400" spc="5" dirty="0">
                <a:latin typeface="Goudy Old Style"/>
                <a:cs typeface="Goudy Old Style"/>
              </a:rPr>
              <a:t>Data </a:t>
            </a:r>
            <a:r>
              <a:rPr sz="2400" spc="-5" dirty="0">
                <a:latin typeface="Goudy Old Style"/>
                <a:cs typeface="Goudy Old Style"/>
              </a:rPr>
              <a:t>recovery and</a:t>
            </a:r>
            <a:r>
              <a:rPr sz="2400" spc="-25" dirty="0">
                <a:latin typeface="Goudy Old Style"/>
                <a:cs typeface="Goudy Old Style"/>
              </a:rPr>
              <a:t> </a:t>
            </a:r>
            <a:r>
              <a:rPr sz="2400" spc="-10" dirty="0">
                <a:latin typeface="Goudy Old Style"/>
                <a:cs typeface="Goudy Old Style"/>
              </a:rPr>
              <a:t>concurrency</a:t>
            </a:r>
            <a:endParaRPr sz="2400">
              <a:latin typeface="Goudy Old Style"/>
              <a:cs typeface="Goudy Old Style"/>
            </a:endParaRPr>
          </a:p>
          <a:p>
            <a:pPr marL="37465">
              <a:lnSpc>
                <a:spcPct val="100000"/>
              </a:lnSpc>
              <a:spcBef>
                <a:spcPts val="1600"/>
              </a:spcBef>
            </a:pPr>
            <a:r>
              <a:rPr sz="2400" spc="-15" dirty="0">
                <a:latin typeface="Goudy Old Style"/>
                <a:cs typeface="Goudy Old Style"/>
              </a:rPr>
              <a:t>Performance</a:t>
            </a:r>
            <a:r>
              <a:rPr sz="2400" spc="20" dirty="0">
                <a:latin typeface="Goudy Old Style"/>
                <a:cs typeface="Goudy Old Style"/>
              </a:rPr>
              <a:t> </a:t>
            </a:r>
            <a:r>
              <a:rPr sz="2400" spc="-5" dirty="0">
                <a:latin typeface="Goudy Old Style"/>
                <a:cs typeface="Goudy Old Style"/>
              </a:rPr>
              <a:t>optimization</a:t>
            </a:r>
            <a:endParaRPr sz="2400">
              <a:latin typeface="Goudy Old Style"/>
              <a:cs typeface="Goudy Old Style"/>
            </a:endParaRPr>
          </a:p>
          <a:p>
            <a:pPr>
              <a:lnSpc>
                <a:spcPct val="100000"/>
              </a:lnSpc>
            </a:pPr>
            <a:endParaRPr sz="2050">
              <a:latin typeface="Goudy Old Style"/>
              <a:cs typeface="Goudy Old Style"/>
            </a:endParaRPr>
          </a:p>
          <a:p>
            <a:pPr marL="32384">
              <a:lnSpc>
                <a:spcPct val="100000"/>
              </a:lnSpc>
            </a:pPr>
            <a:r>
              <a:rPr sz="2400" spc="-5" dirty="0">
                <a:latin typeface="Goudy Old Style"/>
                <a:cs typeface="Goudy Old Style"/>
              </a:rPr>
              <a:t>Multi-user access</a:t>
            </a:r>
            <a:r>
              <a:rPr sz="2400" spc="25" dirty="0">
                <a:latin typeface="Goudy Old Style"/>
                <a:cs typeface="Goudy Old Style"/>
              </a:rPr>
              <a:t> </a:t>
            </a:r>
            <a:r>
              <a:rPr sz="2400" spc="-10" dirty="0">
                <a:latin typeface="Goudy Old Style"/>
                <a:cs typeface="Goudy Old Style"/>
              </a:rPr>
              <a:t>control</a:t>
            </a:r>
            <a:endParaRPr sz="2400">
              <a:latin typeface="Goudy Old Style"/>
              <a:cs typeface="Goudy Old Style"/>
            </a:endParaRPr>
          </a:p>
          <a:p>
            <a:pPr>
              <a:lnSpc>
                <a:spcPct val="100000"/>
              </a:lnSpc>
              <a:spcBef>
                <a:spcPts val="55"/>
              </a:spcBef>
            </a:pPr>
            <a:endParaRPr sz="2300">
              <a:latin typeface="Goudy Old Style"/>
              <a:cs typeface="Goudy Old Style"/>
            </a:endParaRPr>
          </a:p>
          <a:p>
            <a:pPr marL="12700" marR="5080">
              <a:lnSpc>
                <a:spcPts val="2590"/>
              </a:lnSpc>
            </a:pPr>
            <a:r>
              <a:rPr sz="2400" dirty="0">
                <a:latin typeface="Goudy Old Style"/>
                <a:cs typeface="Goudy Old Style"/>
              </a:rPr>
              <a:t>Database </a:t>
            </a:r>
            <a:r>
              <a:rPr sz="2400" spc="-5" dirty="0">
                <a:latin typeface="Goudy Old Style"/>
                <a:cs typeface="Goudy Old Style"/>
              </a:rPr>
              <a:t>access languages and Application </a:t>
            </a:r>
            <a:r>
              <a:rPr sz="2400" spc="-10" dirty="0">
                <a:latin typeface="Goudy Old Style"/>
                <a:cs typeface="Goudy Old Style"/>
              </a:rPr>
              <a:t>Programming  </a:t>
            </a:r>
            <a:r>
              <a:rPr sz="2400" spc="-5" dirty="0">
                <a:latin typeface="Goudy Old Style"/>
                <a:cs typeface="Goudy Old Style"/>
              </a:rPr>
              <a:t>Interfaces</a:t>
            </a:r>
            <a:r>
              <a:rPr sz="2400" spc="15" dirty="0">
                <a:latin typeface="Goudy Old Style"/>
                <a:cs typeface="Goudy Old Style"/>
              </a:rPr>
              <a:t> </a:t>
            </a:r>
            <a:r>
              <a:rPr sz="2400" spc="-5" dirty="0">
                <a:latin typeface="Goudy Old Style"/>
                <a:cs typeface="Goudy Old Style"/>
              </a:rPr>
              <a:t>(APIs)</a:t>
            </a:r>
            <a:endParaRPr sz="2400">
              <a:latin typeface="Goudy Old Style"/>
              <a:cs typeface="Goudy Old Style"/>
            </a:endParaRPr>
          </a:p>
        </p:txBody>
      </p:sp>
      <p:sp>
        <p:nvSpPr>
          <p:cNvPr id="29" name="object 29"/>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14</a:t>
            </a:fld>
            <a:endParaRPr sz="1200"/>
          </a:p>
        </p:txBody>
      </p:sp>
      <p:sp>
        <p:nvSpPr>
          <p:cNvPr id="30" name="object 30"/>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3445510" cy="635635"/>
          </a:xfrm>
          <a:prstGeom prst="rect">
            <a:avLst/>
          </a:prstGeom>
        </p:spPr>
        <p:txBody>
          <a:bodyPr vert="horz" wrap="square" lIns="0" tIns="12700" rIns="0" bIns="0" rtlCol="0">
            <a:spAutoFit/>
          </a:bodyPr>
          <a:lstStyle/>
          <a:p>
            <a:pPr marL="12700">
              <a:lnSpc>
                <a:spcPct val="100000"/>
              </a:lnSpc>
              <a:spcBef>
                <a:spcPts val="100"/>
              </a:spcBef>
            </a:pPr>
            <a:r>
              <a:rPr sz="4000" b="0" dirty="0">
                <a:latin typeface="Goudy Old Style"/>
                <a:cs typeface="Goudy Old Style"/>
              </a:rPr>
              <a:t>Database</a:t>
            </a:r>
            <a:r>
              <a:rPr sz="4000" b="0" spc="-60" dirty="0">
                <a:latin typeface="Goudy Old Style"/>
                <a:cs typeface="Goudy Old Style"/>
              </a:rPr>
              <a:t> </a:t>
            </a:r>
            <a:r>
              <a:rPr sz="4000" b="0" spc="-5" dirty="0">
                <a:latin typeface="Goudy Old Style"/>
                <a:cs typeface="Goudy Old Style"/>
              </a:rPr>
              <a:t>Models</a:t>
            </a:r>
            <a:endParaRPr sz="4000">
              <a:latin typeface="Goudy Old Style"/>
              <a:cs typeface="Goudy Old Style"/>
            </a:endParaRPr>
          </a:p>
        </p:txBody>
      </p:sp>
      <p:pic>
        <p:nvPicPr>
          <p:cNvPr id="3" name="object 3"/>
          <p:cNvPicPr/>
          <p:nvPr/>
        </p:nvPicPr>
        <p:blipFill>
          <a:blip r:embed="rId3" cstate="print"/>
          <a:stretch>
            <a:fillRect/>
          </a:stretch>
        </p:blipFill>
        <p:spPr>
          <a:xfrm>
            <a:off x="339090" y="4019537"/>
            <a:ext cx="8234933" cy="843546"/>
          </a:xfrm>
          <a:prstGeom prst="rect">
            <a:avLst/>
          </a:prstGeom>
        </p:spPr>
      </p:pic>
      <p:pic>
        <p:nvPicPr>
          <p:cNvPr id="4" name="object 4"/>
          <p:cNvPicPr/>
          <p:nvPr/>
        </p:nvPicPr>
        <p:blipFill>
          <a:blip r:embed="rId4" cstate="print"/>
          <a:stretch>
            <a:fillRect/>
          </a:stretch>
        </p:blipFill>
        <p:spPr>
          <a:xfrm>
            <a:off x="339090" y="1123937"/>
            <a:ext cx="8234933" cy="919746"/>
          </a:xfrm>
          <a:prstGeom prst="rect">
            <a:avLst/>
          </a:prstGeom>
        </p:spPr>
      </p:pic>
      <p:pic>
        <p:nvPicPr>
          <p:cNvPr id="5" name="object 5"/>
          <p:cNvPicPr/>
          <p:nvPr/>
        </p:nvPicPr>
        <p:blipFill>
          <a:blip r:embed="rId3" cstate="print"/>
          <a:stretch>
            <a:fillRect/>
          </a:stretch>
        </p:blipFill>
        <p:spPr>
          <a:xfrm>
            <a:off x="339090" y="2114537"/>
            <a:ext cx="8234933" cy="843546"/>
          </a:xfrm>
          <a:prstGeom prst="rect">
            <a:avLst/>
          </a:prstGeom>
        </p:spPr>
      </p:pic>
      <p:pic>
        <p:nvPicPr>
          <p:cNvPr id="6" name="object 6"/>
          <p:cNvPicPr/>
          <p:nvPr/>
        </p:nvPicPr>
        <p:blipFill>
          <a:blip r:embed="rId5" cstate="print"/>
          <a:stretch>
            <a:fillRect/>
          </a:stretch>
        </p:blipFill>
        <p:spPr>
          <a:xfrm>
            <a:off x="339090" y="3028937"/>
            <a:ext cx="8234933" cy="919746"/>
          </a:xfrm>
          <a:prstGeom prst="rect">
            <a:avLst/>
          </a:prstGeom>
        </p:spPr>
      </p:pic>
      <p:sp>
        <p:nvSpPr>
          <p:cNvPr id="7" name="object 7"/>
          <p:cNvSpPr txBox="1"/>
          <p:nvPr/>
        </p:nvSpPr>
        <p:spPr>
          <a:xfrm>
            <a:off x="514095" y="1468755"/>
            <a:ext cx="7543800" cy="3331845"/>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Goudy Old Style"/>
                <a:cs typeface="Goudy Old Style"/>
              </a:rPr>
              <a:t>Databases can be </a:t>
            </a:r>
            <a:r>
              <a:rPr sz="1800" spc="-10" dirty="0">
                <a:solidFill>
                  <a:srgbClr val="FFFFFF"/>
                </a:solidFill>
                <a:latin typeface="Goudy Old Style"/>
                <a:cs typeface="Goudy Old Style"/>
              </a:rPr>
              <a:t>differentiated </a:t>
            </a:r>
            <a:r>
              <a:rPr sz="1800" dirty="0">
                <a:solidFill>
                  <a:srgbClr val="FFFFFF"/>
                </a:solidFill>
                <a:latin typeface="Goudy Old Style"/>
                <a:cs typeface="Goudy Old Style"/>
              </a:rPr>
              <a:t>based </a:t>
            </a:r>
            <a:r>
              <a:rPr sz="1800" spc="-5" dirty="0">
                <a:solidFill>
                  <a:srgbClr val="FFFFFF"/>
                </a:solidFill>
                <a:latin typeface="Goudy Old Style"/>
                <a:cs typeface="Goudy Old Style"/>
              </a:rPr>
              <a:t>on functions and </a:t>
            </a:r>
            <a:r>
              <a:rPr sz="1800" dirty="0">
                <a:solidFill>
                  <a:srgbClr val="FFFFFF"/>
                </a:solidFill>
                <a:latin typeface="Goudy Old Style"/>
                <a:cs typeface="Goudy Old Style"/>
              </a:rPr>
              <a:t>model </a:t>
            </a:r>
            <a:r>
              <a:rPr sz="1800" spc="-5" dirty="0">
                <a:solidFill>
                  <a:srgbClr val="FFFFFF"/>
                </a:solidFill>
                <a:latin typeface="Goudy Old Style"/>
                <a:cs typeface="Goudy Old Style"/>
              </a:rPr>
              <a:t>of </a:t>
            </a:r>
            <a:r>
              <a:rPr sz="1800" dirty="0">
                <a:solidFill>
                  <a:srgbClr val="FFFFFF"/>
                </a:solidFill>
                <a:latin typeface="Goudy Old Style"/>
                <a:cs typeface="Goudy Old Style"/>
              </a:rPr>
              <a:t>the</a:t>
            </a:r>
            <a:r>
              <a:rPr sz="1800" spc="-50" dirty="0">
                <a:solidFill>
                  <a:srgbClr val="FFFFFF"/>
                </a:solidFill>
                <a:latin typeface="Goudy Old Style"/>
                <a:cs typeface="Goudy Old Style"/>
              </a:rPr>
              <a:t> </a:t>
            </a:r>
            <a:r>
              <a:rPr sz="1800" dirty="0">
                <a:solidFill>
                  <a:srgbClr val="FFFFFF"/>
                </a:solidFill>
                <a:latin typeface="Goudy Old Style"/>
                <a:cs typeface="Goudy Old Style"/>
              </a:rPr>
              <a:t>data.</a:t>
            </a:r>
            <a:endParaRPr sz="1800">
              <a:latin typeface="Goudy Old Style"/>
              <a:cs typeface="Goudy Old Style"/>
            </a:endParaRPr>
          </a:p>
          <a:p>
            <a:pPr>
              <a:lnSpc>
                <a:spcPct val="100000"/>
              </a:lnSpc>
            </a:pPr>
            <a:endParaRPr sz="2000">
              <a:latin typeface="Goudy Old Style"/>
              <a:cs typeface="Goudy Old Style"/>
            </a:endParaRPr>
          </a:p>
          <a:p>
            <a:pPr>
              <a:lnSpc>
                <a:spcPct val="100000"/>
              </a:lnSpc>
              <a:spcBef>
                <a:spcPts val="15"/>
              </a:spcBef>
            </a:pPr>
            <a:endParaRPr sz="1850">
              <a:latin typeface="Goudy Old Style"/>
              <a:cs typeface="Goudy Old Style"/>
            </a:endParaRPr>
          </a:p>
          <a:p>
            <a:pPr marL="19050" marR="111125">
              <a:lnSpc>
                <a:spcPts val="1939"/>
              </a:lnSpc>
            </a:pPr>
            <a:r>
              <a:rPr sz="1800" dirty="0">
                <a:solidFill>
                  <a:srgbClr val="FFFFFF"/>
                </a:solidFill>
                <a:latin typeface="Goudy Old Style"/>
                <a:cs typeface="Goudy Old Style"/>
              </a:rPr>
              <a:t>A data </a:t>
            </a:r>
            <a:r>
              <a:rPr sz="1800" spc="-5" dirty="0">
                <a:solidFill>
                  <a:srgbClr val="FFFFFF"/>
                </a:solidFill>
                <a:latin typeface="Goudy Old Style"/>
                <a:cs typeface="Goudy Old Style"/>
              </a:rPr>
              <a:t>model describes </a:t>
            </a:r>
            <a:r>
              <a:rPr sz="1800" dirty="0">
                <a:solidFill>
                  <a:srgbClr val="FFFFFF"/>
                </a:solidFill>
                <a:latin typeface="Goudy Old Style"/>
                <a:cs typeface="Goudy Old Style"/>
              </a:rPr>
              <a:t>a container </a:t>
            </a:r>
            <a:r>
              <a:rPr sz="1800" spc="-20" dirty="0">
                <a:solidFill>
                  <a:srgbClr val="FFFFFF"/>
                </a:solidFill>
                <a:latin typeface="Goudy Old Style"/>
                <a:cs typeface="Goudy Old Style"/>
              </a:rPr>
              <a:t>for </a:t>
            </a:r>
            <a:r>
              <a:rPr sz="1800" spc="-10" dirty="0">
                <a:solidFill>
                  <a:srgbClr val="FFFFFF"/>
                </a:solidFill>
                <a:latin typeface="Goudy Old Style"/>
                <a:cs typeface="Goudy Old Style"/>
              </a:rPr>
              <a:t>storing </a:t>
            </a:r>
            <a:r>
              <a:rPr sz="1800" dirty="0">
                <a:solidFill>
                  <a:srgbClr val="FFFFFF"/>
                </a:solidFill>
                <a:latin typeface="Goudy Old Style"/>
                <a:cs typeface="Goudy Old Style"/>
              </a:rPr>
              <a:t>data, </a:t>
            </a:r>
            <a:r>
              <a:rPr sz="1800" spc="-5" dirty="0">
                <a:solidFill>
                  <a:srgbClr val="FFFFFF"/>
                </a:solidFill>
                <a:latin typeface="Goudy Old Style"/>
                <a:cs typeface="Goudy Old Style"/>
              </a:rPr>
              <a:t>and </a:t>
            </a:r>
            <a:r>
              <a:rPr sz="1800" dirty="0">
                <a:solidFill>
                  <a:srgbClr val="FFFFFF"/>
                </a:solidFill>
                <a:latin typeface="Goudy Old Style"/>
                <a:cs typeface="Goudy Old Style"/>
              </a:rPr>
              <a:t>the </a:t>
            </a:r>
            <a:r>
              <a:rPr sz="1800" spc="-10" dirty="0">
                <a:solidFill>
                  <a:srgbClr val="FFFFFF"/>
                </a:solidFill>
                <a:latin typeface="Goudy Old Style"/>
                <a:cs typeface="Goudy Old Style"/>
              </a:rPr>
              <a:t>process </a:t>
            </a:r>
            <a:r>
              <a:rPr sz="1800" spc="-5" dirty="0">
                <a:solidFill>
                  <a:srgbClr val="FFFFFF"/>
                </a:solidFill>
                <a:latin typeface="Goudy Old Style"/>
                <a:cs typeface="Goudy Old Style"/>
              </a:rPr>
              <a:t>of </a:t>
            </a:r>
            <a:r>
              <a:rPr sz="1800" spc="-10" dirty="0">
                <a:solidFill>
                  <a:srgbClr val="FFFFFF"/>
                </a:solidFill>
                <a:latin typeface="Goudy Old Style"/>
                <a:cs typeface="Goudy Old Style"/>
              </a:rPr>
              <a:t>storing </a:t>
            </a:r>
            <a:r>
              <a:rPr sz="1800" spc="-5" dirty="0">
                <a:solidFill>
                  <a:srgbClr val="FFFFFF"/>
                </a:solidFill>
                <a:latin typeface="Goudy Old Style"/>
                <a:cs typeface="Goudy Old Style"/>
              </a:rPr>
              <a:t>and  retrieving </a:t>
            </a:r>
            <a:r>
              <a:rPr sz="1800" dirty="0">
                <a:solidFill>
                  <a:srgbClr val="FFFFFF"/>
                </a:solidFill>
                <a:latin typeface="Goudy Old Style"/>
                <a:cs typeface="Goudy Old Style"/>
              </a:rPr>
              <a:t>data </a:t>
            </a:r>
            <a:r>
              <a:rPr sz="1800" spc="-10" dirty="0">
                <a:solidFill>
                  <a:srgbClr val="FFFFFF"/>
                </a:solidFill>
                <a:latin typeface="Goudy Old Style"/>
                <a:cs typeface="Goudy Old Style"/>
              </a:rPr>
              <a:t>from </a:t>
            </a:r>
            <a:r>
              <a:rPr sz="1800" dirty="0">
                <a:solidFill>
                  <a:srgbClr val="FFFFFF"/>
                </a:solidFill>
                <a:latin typeface="Goudy Old Style"/>
                <a:cs typeface="Goudy Old Style"/>
              </a:rPr>
              <a:t>that</a:t>
            </a:r>
            <a:r>
              <a:rPr sz="1800" spc="-35" dirty="0">
                <a:solidFill>
                  <a:srgbClr val="FFFFFF"/>
                </a:solidFill>
                <a:latin typeface="Goudy Old Style"/>
                <a:cs typeface="Goudy Old Style"/>
              </a:rPr>
              <a:t> </a:t>
            </a:r>
            <a:r>
              <a:rPr sz="1800" spc="-10" dirty="0">
                <a:solidFill>
                  <a:srgbClr val="FFFFFF"/>
                </a:solidFill>
                <a:latin typeface="Goudy Old Style"/>
                <a:cs typeface="Goudy Old Style"/>
              </a:rPr>
              <a:t>container.</a:t>
            </a:r>
            <a:endParaRPr sz="1800">
              <a:latin typeface="Goudy Old Style"/>
              <a:cs typeface="Goudy Old Style"/>
            </a:endParaRPr>
          </a:p>
          <a:p>
            <a:pPr marL="19050" marR="5080" indent="-1905">
              <a:lnSpc>
                <a:spcPct val="285800"/>
              </a:lnSpc>
              <a:spcBef>
                <a:spcPts val="310"/>
              </a:spcBef>
            </a:pPr>
            <a:r>
              <a:rPr sz="1800" spc="-5" dirty="0">
                <a:solidFill>
                  <a:srgbClr val="FFFFFF"/>
                </a:solidFill>
                <a:latin typeface="Goudy Old Style"/>
                <a:cs typeface="Goudy Old Style"/>
              </a:rPr>
              <a:t>Analysis and design of </a:t>
            </a:r>
            <a:r>
              <a:rPr sz="1800" spc="5" dirty="0">
                <a:solidFill>
                  <a:srgbClr val="FFFFFF"/>
                </a:solidFill>
                <a:latin typeface="Goudy Old Style"/>
                <a:cs typeface="Goudy Old Style"/>
              </a:rPr>
              <a:t>data </a:t>
            </a:r>
            <a:r>
              <a:rPr sz="1800" dirty="0">
                <a:solidFill>
                  <a:srgbClr val="FFFFFF"/>
                </a:solidFill>
                <a:latin typeface="Goudy Old Style"/>
                <a:cs typeface="Goudy Old Style"/>
              </a:rPr>
              <a:t>models has been the basis </a:t>
            </a:r>
            <a:r>
              <a:rPr sz="1800" spc="-5" dirty="0">
                <a:solidFill>
                  <a:srgbClr val="FFFFFF"/>
                </a:solidFill>
                <a:latin typeface="Goudy Old Style"/>
                <a:cs typeface="Goudy Old Style"/>
              </a:rPr>
              <a:t>of </a:t>
            </a:r>
            <a:r>
              <a:rPr sz="1800" dirty="0">
                <a:solidFill>
                  <a:srgbClr val="FFFFFF"/>
                </a:solidFill>
                <a:latin typeface="Goudy Old Style"/>
                <a:cs typeface="Goudy Old Style"/>
              </a:rPr>
              <a:t>the </a:t>
            </a:r>
            <a:r>
              <a:rPr sz="1800" spc="-10" dirty="0">
                <a:solidFill>
                  <a:srgbClr val="FFFFFF"/>
                </a:solidFill>
                <a:latin typeface="Goudy Old Style"/>
                <a:cs typeface="Goudy Old Style"/>
              </a:rPr>
              <a:t>evolution </a:t>
            </a:r>
            <a:r>
              <a:rPr sz="1800" spc="-5" dirty="0">
                <a:solidFill>
                  <a:srgbClr val="FFFFFF"/>
                </a:solidFill>
                <a:latin typeface="Goudy Old Style"/>
                <a:cs typeface="Goudy Old Style"/>
              </a:rPr>
              <a:t>of databases.  </a:t>
            </a:r>
            <a:r>
              <a:rPr sz="1800" spc="-10" dirty="0">
                <a:solidFill>
                  <a:srgbClr val="FFFFFF"/>
                </a:solidFill>
                <a:latin typeface="Goudy Old Style"/>
                <a:cs typeface="Goudy Old Style"/>
              </a:rPr>
              <a:t>Each </a:t>
            </a:r>
            <a:r>
              <a:rPr sz="1800" spc="-5" dirty="0">
                <a:solidFill>
                  <a:srgbClr val="FFFFFF"/>
                </a:solidFill>
                <a:latin typeface="Goudy Old Style"/>
                <a:cs typeface="Goudy Old Style"/>
              </a:rPr>
              <a:t>model </a:t>
            </a:r>
            <a:r>
              <a:rPr sz="1800" dirty="0">
                <a:solidFill>
                  <a:srgbClr val="FFFFFF"/>
                </a:solidFill>
                <a:latin typeface="Goudy Old Style"/>
                <a:cs typeface="Goudy Old Style"/>
              </a:rPr>
              <a:t>has </a:t>
            </a:r>
            <a:r>
              <a:rPr sz="1800" spc="-15" dirty="0">
                <a:solidFill>
                  <a:srgbClr val="FFFFFF"/>
                </a:solidFill>
                <a:latin typeface="Goudy Old Style"/>
                <a:cs typeface="Goudy Old Style"/>
              </a:rPr>
              <a:t>evolved </a:t>
            </a:r>
            <a:r>
              <a:rPr sz="1800" spc="-10" dirty="0">
                <a:solidFill>
                  <a:srgbClr val="FFFFFF"/>
                </a:solidFill>
                <a:latin typeface="Goudy Old Style"/>
                <a:cs typeface="Goudy Old Style"/>
              </a:rPr>
              <a:t>from </a:t>
            </a:r>
            <a:r>
              <a:rPr sz="1800" dirty="0">
                <a:solidFill>
                  <a:srgbClr val="FFFFFF"/>
                </a:solidFill>
                <a:latin typeface="Goudy Old Style"/>
                <a:cs typeface="Goudy Old Style"/>
              </a:rPr>
              <a:t>the </a:t>
            </a:r>
            <a:r>
              <a:rPr sz="1800" spc="-10" dirty="0">
                <a:solidFill>
                  <a:srgbClr val="FFFFFF"/>
                </a:solidFill>
                <a:latin typeface="Goudy Old Style"/>
                <a:cs typeface="Goudy Old Style"/>
              </a:rPr>
              <a:t>previous</a:t>
            </a:r>
            <a:r>
              <a:rPr sz="1800" spc="25" dirty="0">
                <a:solidFill>
                  <a:srgbClr val="FFFFFF"/>
                </a:solidFill>
                <a:latin typeface="Goudy Old Style"/>
                <a:cs typeface="Goudy Old Style"/>
              </a:rPr>
              <a:t> </a:t>
            </a:r>
            <a:r>
              <a:rPr sz="1800" spc="-5" dirty="0">
                <a:solidFill>
                  <a:srgbClr val="FFFFFF"/>
                </a:solidFill>
                <a:latin typeface="Goudy Old Style"/>
                <a:cs typeface="Goudy Old Style"/>
              </a:rPr>
              <a:t>one.</a:t>
            </a:r>
            <a:endParaRPr sz="1800">
              <a:latin typeface="Goudy Old Style"/>
              <a:cs typeface="Goudy Old Style"/>
            </a:endParaRPr>
          </a:p>
          <a:p>
            <a:pPr marL="19050">
              <a:lnSpc>
                <a:spcPct val="100000"/>
              </a:lnSpc>
              <a:spcBef>
                <a:spcPts val="540"/>
              </a:spcBef>
            </a:pPr>
            <a:r>
              <a:rPr sz="1800" dirty="0">
                <a:solidFill>
                  <a:srgbClr val="FFFFFF"/>
                </a:solidFill>
                <a:latin typeface="Goudy Old Style"/>
                <a:cs typeface="Goudy Old Style"/>
              </a:rPr>
              <a:t>Commonly </a:t>
            </a:r>
            <a:r>
              <a:rPr sz="1800" spc="-5" dirty="0">
                <a:solidFill>
                  <a:srgbClr val="FFFFFF"/>
                </a:solidFill>
                <a:latin typeface="Goudy Old Style"/>
                <a:cs typeface="Goudy Old Style"/>
              </a:rPr>
              <a:t>used </a:t>
            </a:r>
            <a:r>
              <a:rPr sz="1800" dirty="0">
                <a:solidFill>
                  <a:srgbClr val="FFFFFF"/>
                </a:solidFill>
                <a:latin typeface="Goudy Old Style"/>
                <a:cs typeface="Goudy Old Style"/>
              </a:rPr>
              <a:t>Database </a:t>
            </a:r>
            <a:r>
              <a:rPr sz="1800" spc="-5" dirty="0">
                <a:solidFill>
                  <a:srgbClr val="FFFFFF"/>
                </a:solidFill>
                <a:latin typeface="Goudy Old Style"/>
                <a:cs typeface="Goudy Old Style"/>
              </a:rPr>
              <a:t>Models</a:t>
            </a:r>
            <a:r>
              <a:rPr sz="1800" spc="-10" dirty="0">
                <a:solidFill>
                  <a:srgbClr val="FFFFFF"/>
                </a:solidFill>
                <a:latin typeface="Goudy Old Style"/>
                <a:cs typeface="Goudy Old Style"/>
              </a:rPr>
              <a:t> are:</a:t>
            </a:r>
            <a:endParaRPr sz="1800">
              <a:latin typeface="Goudy Old Style"/>
              <a:cs typeface="Goudy Old Style"/>
            </a:endParaRPr>
          </a:p>
        </p:txBody>
      </p:sp>
      <p:grpSp>
        <p:nvGrpSpPr>
          <p:cNvPr id="8" name="object 8"/>
          <p:cNvGrpSpPr/>
          <p:nvPr/>
        </p:nvGrpSpPr>
        <p:grpSpPr>
          <a:xfrm>
            <a:off x="673608" y="5017008"/>
            <a:ext cx="1625600" cy="1168400"/>
            <a:chOff x="673608" y="5017008"/>
            <a:chExt cx="1625600" cy="1168400"/>
          </a:xfrm>
        </p:grpSpPr>
        <p:sp>
          <p:nvSpPr>
            <p:cNvPr id="9" name="object 9"/>
            <p:cNvSpPr/>
            <p:nvPr/>
          </p:nvSpPr>
          <p:spPr>
            <a:xfrm>
              <a:off x="686181" y="5029581"/>
              <a:ext cx="1600200" cy="142875"/>
            </a:xfrm>
            <a:custGeom>
              <a:avLst/>
              <a:gdLst/>
              <a:ahLst/>
              <a:cxnLst/>
              <a:rect l="l" t="t" r="r" b="b"/>
              <a:pathLst>
                <a:path w="1600200" h="142875">
                  <a:moveTo>
                    <a:pt x="1600200" y="0"/>
                  </a:moveTo>
                  <a:lnTo>
                    <a:pt x="0" y="0"/>
                  </a:lnTo>
                  <a:lnTo>
                    <a:pt x="142875" y="142875"/>
                  </a:lnTo>
                  <a:lnTo>
                    <a:pt x="1457325" y="142875"/>
                  </a:lnTo>
                  <a:lnTo>
                    <a:pt x="1600200" y="0"/>
                  </a:lnTo>
                  <a:close/>
                </a:path>
              </a:pathLst>
            </a:custGeom>
            <a:solidFill>
              <a:srgbClr val="AA5E5D"/>
            </a:solidFill>
          </p:spPr>
          <p:txBody>
            <a:bodyPr wrap="square" lIns="0" tIns="0" rIns="0" bIns="0" rtlCol="0"/>
            <a:lstStyle/>
            <a:p>
              <a:endParaRPr/>
            </a:p>
          </p:txBody>
        </p:sp>
        <p:sp>
          <p:nvSpPr>
            <p:cNvPr id="10" name="object 10"/>
            <p:cNvSpPr/>
            <p:nvPr/>
          </p:nvSpPr>
          <p:spPr>
            <a:xfrm>
              <a:off x="686181" y="6029706"/>
              <a:ext cx="1600200" cy="142875"/>
            </a:xfrm>
            <a:custGeom>
              <a:avLst/>
              <a:gdLst/>
              <a:ahLst/>
              <a:cxnLst/>
              <a:rect l="l" t="t" r="r" b="b"/>
              <a:pathLst>
                <a:path w="1600200" h="142875">
                  <a:moveTo>
                    <a:pt x="1457325" y="0"/>
                  </a:moveTo>
                  <a:lnTo>
                    <a:pt x="142875" y="0"/>
                  </a:lnTo>
                  <a:lnTo>
                    <a:pt x="0" y="142875"/>
                  </a:lnTo>
                  <a:lnTo>
                    <a:pt x="1600200" y="142875"/>
                  </a:lnTo>
                  <a:lnTo>
                    <a:pt x="1457325" y="0"/>
                  </a:lnTo>
                  <a:close/>
                </a:path>
              </a:pathLst>
            </a:custGeom>
            <a:solidFill>
              <a:srgbClr val="782C2B"/>
            </a:solidFill>
          </p:spPr>
          <p:txBody>
            <a:bodyPr wrap="square" lIns="0" tIns="0" rIns="0" bIns="0" rtlCol="0"/>
            <a:lstStyle/>
            <a:p>
              <a:endParaRPr/>
            </a:p>
          </p:txBody>
        </p:sp>
        <p:sp>
          <p:nvSpPr>
            <p:cNvPr id="11" name="object 11"/>
            <p:cNvSpPr/>
            <p:nvPr/>
          </p:nvSpPr>
          <p:spPr>
            <a:xfrm>
              <a:off x="686181" y="5029581"/>
              <a:ext cx="142875" cy="1143000"/>
            </a:xfrm>
            <a:custGeom>
              <a:avLst/>
              <a:gdLst/>
              <a:ahLst/>
              <a:cxnLst/>
              <a:rect l="l" t="t" r="r" b="b"/>
              <a:pathLst>
                <a:path w="142875" h="1143000">
                  <a:moveTo>
                    <a:pt x="0" y="0"/>
                  </a:moveTo>
                  <a:lnTo>
                    <a:pt x="0" y="1143000"/>
                  </a:lnTo>
                  <a:lnTo>
                    <a:pt x="142875" y="1000125"/>
                  </a:lnTo>
                  <a:lnTo>
                    <a:pt x="142875" y="142875"/>
                  </a:lnTo>
                  <a:lnTo>
                    <a:pt x="0" y="0"/>
                  </a:lnTo>
                  <a:close/>
                </a:path>
              </a:pathLst>
            </a:custGeom>
            <a:solidFill>
              <a:srgbClr val="BE8685"/>
            </a:solidFill>
          </p:spPr>
          <p:txBody>
            <a:bodyPr wrap="square" lIns="0" tIns="0" rIns="0" bIns="0" rtlCol="0"/>
            <a:lstStyle/>
            <a:p>
              <a:endParaRPr/>
            </a:p>
          </p:txBody>
        </p:sp>
        <p:sp>
          <p:nvSpPr>
            <p:cNvPr id="12" name="object 12"/>
            <p:cNvSpPr/>
            <p:nvPr/>
          </p:nvSpPr>
          <p:spPr>
            <a:xfrm>
              <a:off x="2143505" y="5029581"/>
              <a:ext cx="142875" cy="1143000"/>
            </a:xfrm>
            <a:custGeom>
              <a:avLst/>
              <a:gdLst/>
              <a:ahLst/>
              <a:cxnLst/>
              <a:rect l="l" t="t" r="r" b="b"/>
              <a:pathLst>
                <a:path w="142875" h="1143000">
                  <a:moveTo>
                    <a:pt x="142875" y="0"/>
                  </a:moveTo>
                  <a:lnTo>
                    <a:pt x="0" y="142875"/>
                  </a:lnTo>
                  <a:lnTo>
                    <a:pt x="0" y="1000125"/>
                  </a:lnTo>
                  <a:lnTo>
                    <a:pt x="142875" y="1143000"/>
                  </a:lnTo>
                  <a:lnTo>
                    <a:pt x="142875" y="0"/>
                  </a:lnTo>
                  <a:close/>
                </a:path>
              </a:pathLst>
            </a:custGeom>
            <a:solidFill>
              <a:srgbClr val="58201F"/>
            </a:solidFill>
          </p:spPr>
          <p:txBody>
            <a:bodyPr wrap="square" lIns="0" tIns="0" rIns="0" bIns="0" rtlCol="0"/>
            <a:lstStyle/>
            <a:p>
              <a:endParaRPr/>
            </a:p>
          </p:txBody>
        </p:sp>
        <p:sp>
          <p:nvSpPr>
            <p:cNvPr id="13" name="object 13"/>
            <p:cNvSpPr/>
            <p:nvPr/>
          </p:nvSpPr>
          <p:spPr>
            <a:xfrm>
              <a:off x="686181" y="5029581"/>
              <a:ext cx="1600200" cy="1143000"/>
            </a:xfrm>
            <a:custGeom>
              <a:avLst/>
              <a:gdLst/>
              <a:ahLst/>
              <a:cxnLst/>
              <a:rect l="l" t="t" r="r" b="b"/>
              <a:pathLst>
                <a:path w="1600200" h="1143000">
                  <a:moveTo>
                    <a:pt x="0" y="0"/>
                  </a:moveTo>
                  <a:lnTo>
                    <a:pt x="1600200" y="0"/>
                  </a:lnTo>
                  <a:lnTo>
                    <a:pt x="1600200" y="1143000"/>
                  </a:lnTo>
                  <a:lnTo>
                    <a:pt x="0" y="1143000"/>
                  </a:lnTo>
                  <a:lnTo>
                    <a:pt x="0" y="0"/>
                  </a:lnTo>
                  <a:close/>
                </a:path>
                <a:path w="1600200" h="1143000">
                  <a:moveTo>
                    <a:pt x="0" y="0"/>
                  </a:moveTo>
                  <a:lnTo>
                    <a:pt x="142875" y="142875"/>
                  </a:lnTo>
                </a:path>
                <a:path w="1600200" h="1143000">
                  <a:moveTo>
                    <a:pt x="0" y="1143000"/>
                  </a:moveTo>
                  <a:lnTo>
                    <a:pt x="142875" y="1000125"/>
                  </a:lnTo>
                </a:path>
                <a:path w="1600200" h="1143000">
                  <a:moveTo>
                    <a:pt x="1600200" y="0"/>
                  </a:moveTo>
                  <a:lnTo>
                    <a:pt x="1457325" y="142875"/>
                  </a:lnTo>
                </a:path>
                <a:path w="1600200" h="1143000">
                  <a:moveTo>
                    <a:pt x="1600200" y="1143000"/>
                  </a:moveTo>
                  <a:lnTo>
                    <a:pt x="1457325" y="1000125"/>
                  </a:lnTo>
                </a:path>
              </a:pathLst>
            </a:custGeom>
            <a:ln w="25146">
              <a:solidFill>
                <a:srgbClr val="385D89"/>
              </a:solidFill>
            </a:ln>
          </p:spPr>
          <p:txBody>
            <a:bodyPr wrap="square" lIns="0" tIns="0" rIns="0" bIns="0" rtlCol="0"/>
            <a:lstStyle/>
            <a:p>
              <a:endParaRPr/>
            </a:p>
          </p:txBody>
        </p:sp>
      </p:grpSp>
      <p:sp>
        <p:nvSpPr>
          <p:cNvPr id="14" name="object 14"/>
          <p:cNvSpPr txBox="1"/>
          <p:nvPr/>
        </p:nvSpPr>
        <p:spPr>
          <a:xfrm>
            <a:off x="829055" y="5172455"/>
            <a:ext cx="1314450" cy="857250"/>
          </a:xfrm>
          <a:prstGeom prst="rect">
            <a:avLst/>
          </a:prstGeom>
          <a:solidFill>
            <a:srgbClr val="943735"/>
          </a:solidFill>
          <a:ln w="25146">
            <a:solidFill>
              <a:srgbClr val="385D89"/>
            </a:solidFill>
          </a:ln>
        </p:spPr>
        <p:txBody>
          <a:bodyPr vert="horz" wrap="square" lIns="0" tIns="5715" rIns="0" bIns="0" rtlCol="0">
            <a:spAutoFit/>
          </a:bodyPr>
          <a:lstStyle/>
          <a:p>
            <a:pPr>
              <a:lnSpc>
                <a:spcPct val="100000"/>
              </a:lnSpc>
              <a:spcBef>
                <a:spcPts val="45"/>
              </a:spcBef>
            </a:pPr>
            <a:endParaRPr sz="1850">
              <a:latin typeface="Times New Roman"/>
              <a:cs typeface="Times New Roman"/>
            </a:endParaRPr>
          </a:p>
          <a:p>
            <a:pPr marL="400050" marR="118745" indent="-276225">
              <a:lnSpc>
                <a:spcPct val="70000"/>
              </a:lnSpc>
            </a:pPr>
            <a:r>
              <a:rPr sz="1400" b="1" spc="-5" dirty="0">
                <a:solidFill>
                  <a:srgbClr val="FFFFFF"/>
                </a:solidFill>
                <a:latin typeface="Arial"/>
                <a:cs typeface="Arial"/>
              </a:rPr>
              <a:t>Flat-file</a:t>
            </a:r>
            <a:r>
              <a:rPr sz="1400" b="1" spc="-70" dirty="0">
                <a:solidFill>
                  <a:srgbClr val="FFFFFF"/>
                </a:solidFill>
                <a:latin typeface="Arial"/>
                <a:cs typeface="Arial"/>
              </a:rPr>
              <a:t> </a:t>
            </a:r>
            <a:r>
              <a:rPr sz="1400" b="1" spc="-5" dirty="0">
                <a:solidFill>
                  <a:srgbClr val="FFFFFF"/>
                </a:solidFill>
                <a:latin typeface="Arial"/>
                <a:cs typeface="Arial"/>
              </a:rPr>
              <a:t>Data  Model</a:t>
            </a:r>
            <a:endParaRPr sz="1400">
              <a:latin typeface="Arial"/>
              <a:cs typeface="Arial"/>
            </a:endParaRPr>
          </a:p>
        </p:txBody>
      </p:sp>
      <p:grpSp>
        <p:nvGrpSpPr>
          <p:cNvPr id="15" name="object 15"/>
          <p:cNvGrpSpPr/>
          <p:nvPr/>
        </p:nvGrpSpPr>
        <p:grpSpPr>
          <a:xfrm>
            <a:off x="2578607" y="5017008"/>
            <a:ext cx="1625600" cy="1168400"/>
            <a:chOff x="2578607" y="5017008"/>
            <a:chExt cx="1625600" cy="1168400"/>
          </a:xfrm>
        </p:grpSpPr>
        <p:sp>
          <p:nvSpPr>
            <p:cNvPr id="16" name="object 16"/>
            <p:cNvSpPr/>
            <p:nvPr/>
          </p:nvSpPr>
          <p:spPr>
            <a:xfrm>
              <a:off x="2591180" y="5029581"/>
              <a:ext cx="1600200" cy="142875"/>
            </a:xfrm>
            <a:custGeom>
              <a:avLst/>
              <a:gdLst/>
              <a:ahLst/>
              <a:cxnLst/>
              <a:rect l="l" t="t" r="r" b="b"/>
              <a:pathLst>
                <a:path w="1600200" h="142875">
                  <a:moveTo>
                    <a:pt x="1600200" y="0"/>
                  </a:moveTo>
                  <a:lnTo>
                    <a:pt x="0" y="0"/>
                  </a:lnTo>
                  <a:lnTo>
                    <a:pt x="142875" y="142875"/>
                  </a:lnTo>
                  <a:lnTo>
                    <a:pt x="1457325" y="142875"/>
                  </a:lnTo>
                  <a:lnTo>
                    <a:pt x="1600200" y="0"/>
                  </a:lnTo>
                  <a:close/>
                </a:path>
              </a:pathLst>
            </a:custGeom>
            <a:solidFill>
              <a:srgbClr val="589DAE"/>
            </a:solidFill>
          </p:spPr>
          <p:txBody>
            <a:bodyPr wrap="square" lIns="0" tIns="0" rIns="0" bIns="0" rtlCol="0"/>
            <a:lstStyle/>
            <a:p>
              <a:endParaRPr/>
            </a:p>
          </p:txBody>
        </p:sp>
        <p:sp>
          <p:nvSpPr>
            <p:cNvPr id="17" name="object 17"/>
            <p:cNvSpPr/>
            <p:nvPr/>
          </p:nvSpPr>
          <p:spPr>
            <a:xfrm>
              <a:off x="2591180" y="6029706"/>
              <a:ext cx="1600200" cy="142875"/>
            </a:xfrm>
            <a:custGeom>
              <a:avLst/>
              <a:gdLst/>
              <a:ahLst/>
              <a:cxnLst/>
              <a:rect l="l" t="t" r="r" b="b"/>
              <a:pathLst>
                <a:path w="1600200" h="142875">
                  <a:moveTo>
                    <a:pt x="1457325" y="0"/>
                  </a:moveTo>
                  <a:lnTo>
                    <a:pt x="142875" y="0"/>
                  </a:lnTo>
                  <a:lnTo>
                    <a:pt x="0" y="142875"/>
                  </a:lnTo>
                  <a:lnTo>
                    <a:pt x="1600200" y="142875"/>
                  </a:lnTo>
                  <a:lnTo>
                    <a:pt x="1457325" y="0"/>
                  </a:lnTo>
                  <a:close/>
                </a:path>
              </a:pathLst>
            </a:custGeom>
            <a:solidFill>
              <a:srgbClr val="276B7C"/>
            </a:solidFill>
          </p:spPr>
          <p:txBody>
            <a:bodyPr wrap="square" lIns="0" tIns="0" rIns="0" bIns="0" rtlCol="0"/>
            <a:lstStyle/>
            <a:p>
              <a:endParaRPr/>
            </a:p>
          </p:txBody>
        </p:sp>
        <p:sp>
          <p:nvSpPr>
            <p:cNvPr id="18" name="object 18"/>
            <p:cNvSpPr/>
            <p:nvPr/>
          </p:nvSpPr>
          <p:spPr>
            <a:xfrm>
              <a:off x="2591180" y="5029581"/>
              <a:ext cx="142875" cy="1143000"/>
            </a:xfrm>
            <a:custGeom>
              <a:avLst/>
              <a:gdLst/>
              <a:ahLst/>
              <a:cxnLst/>
              <a:rect l="l" t="t" r="r" b="b"/>
              <a:pathLst>
                <a:path w="142875" h="1143000">
                  <a:moveTo>
                    <a:pt x="0" y="0"/>
                  </a:moveTo>
                  <a:lnTo>
                    <a:pt x="0" y="1143000"/>
                  </a:lnTo>
                  <a:lnTo>
                    <a:pt x="142875" y="1000125"/>
                  </a:lnTo>
                  <a:lnTo>
                    <a:pt x="142875" y="142875"/>
                  </a:lnTo>
                  <a:lnTo>
                    <a:pt x="0" y="0"/>
                  </a:lnTo>
                  <a:close/>
                </a:path>
              </a:pathLst>
            </a:custGeom>
            <a:solidFill>
              <a:srgbClr val="83B6C4"/>
            </a:solidFill>
          </p:spPr>
          <p:txBody>
            <a:bodyPr wrap="square" lIns="0" tIns="0" rIns="0" bIns="0" rtlCol="0"/>
            <a:lstStyle/>
            <a:p>
              <a:endParaRPr/>
            </a:p>
          </p:txBody>
        </p:sp>
        <p:sp>
          <p:nvSpPr>
            <p:cNvPr id="19" name="object 19"/>
            <p:cNvSpPr/>
            <p:nvPr/>
          </p:nvSpPr>
          <p:spPr>
            <a:xfrm>
              <a:off x="4048505" y="5029581"/>
              <a:ext cx="142875" cy="1143000"/>
            </a:xfrm>
            <a:custGeom>
              <a:avLst/>
              <a:gdLst/>
              <a:ahLst/>
              <a:cxnLst/>
              <a:rect l="l" t="t" r="r" b="b"/>
              <a:pathLst>
                <a:path w="142875" h="1143000">
                  <a:moveTo>
                    <a:pt x="142875" y="0"/>
                  </a:moveTo>
                  <a:lnTo>
                    <a:pt x="0" y="142875"/>
                  </a:lnTo>
                  <a:lnTo>
                    <a:pt x="0" y="1000125"/>
                  </a:lnTo>
                  <a:lnTo>
                    <a:pt x="142875" y="1143000"/>
                  </a:lnTo>
                  <a:lnTo>
                    <a:pt x="142875" y="0"/>
                  </a:lnTo>
                  <a:close/>
                </a:path>
              </a:pathLst>
            </a:custGeom>
            <a:solidFill>
              <a:srgbClr val="1D505E"/>
            </a:solidFill>
          </p:spPr>
          <p:txBody>
            <a:bodyPr wrap="square" lIns="0" tIns="0" rIns="0" bIns="0" rtlCol="0"/>
            <a:lstStyle/>
            <a:p>
              <a:endParaRPr/>
            </a:p>
          </p:txBody>
        </p:sp>
        <p:sp>
          <p:nvSpPr>
            <p:cNvPr id="20" name="object 20"/>
            <p:cNvSpPr/>
            <p:nvPr/>
          </p:nvSpPr>
          <p:spPr>
            <a:xfrm>
              <a:off x="2591180" y="5029581"/>
              <a:ext cx="1600200" cy="1143000"/>
            </a:xfrm>
            <a:custGeom>
              <a:avLst/>
              <a:gdLst/>
              <a:ahLst/>
              <a:cxnLst/>
              <a:rect l="l" t="t" r="r" b="b"/>
              <a:pathLst>
                <a:path w="1600200" h="1143000">
                  <a:moveTo>
                    <a:pt x="0" y="0"/>
                  </a:moveTo>
                  <a:lnTo>
                    <a:pt x="1600200" y="0"/>
                  </a:lnTo>
                  <a:lnTo>
                    <a:pt x="1600200" y="1143000"/>
                  </a:lnTo>
                  <a:lnTo>
                    <a:pt x="0" y="1143000"/>
                  </a:lnTo>
                  <a:lnTo>
                    <a:pt x="0" y="0"/>
                  </a:lnTo>
                  <a:close/>
                </a:path>
                <a:path w="1600200" h="1143000">
                  <a:moveTo>
                    <a:pt x="0" y="0"/>
                  </a:moveTo>
                  <a:lnTo>
                    <a:pt x="142875" y="142875"/>
                  </a:lnTo>
                </a:path>
                <a:path w="1600200" h="1143000">
                  <a:moveTo>
                    <a:pt x="0" y="1143000"/>
                  </a:moveTo>
                  <a:lnTo>
                    <a:pt x="142875" y="1000125"/>
                  </a:lnTo>
                </a:path>
                <a:path w="1600200" h="1143000">
                  <a:moveTo>
                    <a:pt x="1600200" y="0"/>
                  </a:moveTo>
                  <a:lnTo>
                    <a:pt x="1457325" y="142875"/>
                  </a:lnTo>
                </a:path>
                <a:path w="1600200" h="1143000">
                  <a:moveTo>
                    <a:pt x="1600200" y="1143000"/>
                  </a:moveTo>
                  <a:lnTo>
                    <a:pt x="1457325" y="1000125"/>
                  </a:lnTo>
                </a:path>
              </a:pathLst>
            </a:custGeom>
            <a:ln w="25146">
              <a:solidFill>
                <a:srgbClr val="385D89"/>
              </a:solidFill>
            </a:ln>
          </p:spPr>
          <p:txBody>
            <a:bodyPr wrap="square" lIns="0" tIns="0" rIns="0" bIns="0" rtlCol="0"/>
            <a:lstStyle/>
            <a:p>
              <a:endParaRPr/>
            </a:p>
          </p:txBody>
        </p:sp>
      </p:grpSp>
      <p:sp>
        <p:nvSpPr>
          <p:cNvPr id="21" name="object 21"/>
          <p:cNvSpPr txBox="1"/>
          <p:nvPr/>
        </p:nvSpPr>
        <p:spPr>
          <a:xfrm>
            <a:off x="2734055" y="5172455"/>
            <a:ext cx="1314450" cy="857250"/>
          </a:xfrm>
          <a:prstGeom prst="rect">
            <a:avLst/>
          </a:prstGeom>
          <a:solidFill>
            <a:srgbClr val="30859C"/>
          </a:solidFill>
          <a:ln w="25146">
            <a:solidFill>
              <a:srgbClr val="385D89"/>
            </a:solidFill>
          </a:ln>
        </p:spPr>
        <p:txBody>
          <a:bodyPr vert="horz" wrap="square" lIns="0" tIns="5715" rIns="0" bIns="0" rtlCol="0">
            <a:spAutoFit/>
          </a:bodyPr>
          <a:lstStyle/>
          <a:p>
            <a:pPr>
              <a:lnSpc>
                <a:spcPct val="100000"/>
              </a:lnSpc>
              <a:spcBef>
                <a:spcPts val="45"/>
              </a:spcBef>
            </a:pPr>
            <a:endParaRPr sz="1850">
              <a:latin typeface="Times New Roman"/>
              <a:cs typeface="Times New Roman"/>
            </a:endParaRPr>
          </a:p>
          <a:p>
            <a:pPr marL="182880" marR="141605" indent="-36195">
              <a:lnSpc>
                <a:spcPct val="70000"/>
              </a:lnSpc>
            </a:pPr>
            <a:r>
              <a:rPr sz="1400" b="1" spc="-5" dirty="0">
                <a:solidFill>
                  <a:srgbClr val="FFFFFF"/>
                </a:solidFill>
                <a:latin typeface="Arial"/>
                <a:cs typeface="Arial"/>
              </a:rPr>
              <a:t>Hierarchical  Data</a:t>
            </a:r>
            <a:r>
              <a:rPr sz="1400" b="1" spc="-50" dirty="0">
                <a:solidFill>
                  <a:srgbClr val="FFFFFF"/>
                </a:solidFill>
                <a:latin typeface="Arial"/>
                <a:cs typeface="Arial"/>
              </a:rPr>
              <a:t> </a:t>
            </a:r>
            <a:r>
              <a:rPr sz="1400" b="1" spc="-5" dirty="0">
                <a:solidFill>
                  <a:srgbClr val="FFFFFF"/>
                </a:solidFill>
                <a:latin typeface="Arial"/>
                <a:cs typeface="Arial"/>
              </a:rPr>
              <a:t>Model</a:t>
            </a:r>
            <a:endParaRPr sz="1400">
              <a:latin typeface="Arial"/>
              <a:cs typeface="Arial"/>
            </a:endParaRPr>
          </a:p>
        </p:txBody>
      </p:sp>
      <p:grpSp>
        <p:nvGrpSpPr>
          <p:cNvPr id="22" name="object 22"/>
          <p:cNvGrpSpPr/>
          <p:nvPr/>
        </p:nvGrpSpPr>
        <p:grpSpPr>
          <a:xfrm>
            <a:off x="4712208" y="5017008"/>
            <a:ext cx="1625600" cy="1168400"/>
            <a:chOff x="4712208" y="5017008"/>
            <a:chExt cx="1625600" cy="1168400"/>
          </a:xfrm>
        </p:grpSpPr>
        <p:sp>
          <p:nvSpPr>
            <p:cNvPr id="23" name="object 23"/>
            <p:cNvSpPr/>
            <p:nvPr/>
          </p:nvSpPr>
          <p:spPr>
            <a:xfrm>
              <a:off x="4724781" y="5029581"/>
              <a:ext cx="1600200" cy="142875"/>
            </a:xfrm>
            <a:custGeom>
              <a:avLst/>
              <a:gdLst/>
              <a:ahLst/>
              <a:cxnLst/>
              <a:rect l="l" t="t" r="r" b="b"/>
              <a:pathLst>
                <a:path w="1600200" h="142875">
                  <a:moveTo>
                    <a:pt x="1600200" y="0"/>
                  </a:moveTo>
                  <a:lnTo>
                    <a:pt x="0" y="0"/>
                  </a:lnTo>
                  <a:lnTo>
                    <a:pt x="142875" y="142875"/>
                  </a:lnTo>
                  <a:lnTo>
                    <a:pt x="1457325" y="142875"/>
                  </a:lnTo>
                  <a:lnTo>
                    <a:pt x="1600200" y="0"/>
                  </a:lnTo>
                  <a:close/>
                </a:path>
              </a:pathLst>
            </a:custGeom>
            <a:solidFill>
              <a:srgbClr val="AC6C38"/>
            </a:solidFill>
          </p:spPr>
          <p:txBody>
            <a:bodyPr wrap="square" lIns="0" tIns="0" rIns="0" bIns="0" rtlCol="0"/>
            <a:lstStyle/>
            <a:p>
              <a:endParaRPr/>
            </a:p>
          </p:txBody>
        </p:sp>
        <p:sp>
          <p:nvSpPr>
            <p:cNvPr id="24" name="object 24"/>
            <p:cNvSpPr/>
            <p:nvPr/>
          </p:nvSpPr>
          <p:spPr>
            <a:xfrm>
              <a:off x="4724781" y="6029706"/>
              <a:ext cx="1600200" cy="142875"/>
            </a:xfrm>
            <a:custGeom>
              <a:avLst/>
              <a:gdLst/>
              <a:ahLst/>
              <a:cxnLst/>
              <a:rect l="l" t="t" r="r" b="b"/>
              <a:pathLst>
                <a:path w="1600200" h="142875">
                  <a:moveTo>
                    <a:pt x="1457325" y="0"/>
                  </a:moveTo>
                  <a:lnTo>
                    <a:pt x="142875" y="0"/>
                  </a:lnTo>
                  <a:lnTo>
                    <a:pt x="0" y="142875"/>
                  </a:lnTo>
                  <a:lnTo>
                    <a:pt x="1600200" y="142875"/>
                  </a:lnTo>
                  <a:lnTo>
                    <a:pt x="1457325" y="0"/>
                  </a:lnTo>
                  <a:close/>
                </a:path>
              </a:pathLst>
            </a:custGeom>
            <a:solidFill>
              <a:srgbClr val="793905"/>
            </a:solidFill>
          </p:spPr>
          <p:txBody>
            <a:bodyPr wrap="square" lIns="0" tIns="0" rIns="0" bIns="0" rtlCol="0"/>
            <a:lstStyle/>
            <a:p>
              <a:endParaRPr/>
            </a:p>
          </p:txBody>
        </p:sp>
        <p:sp>
          <p:nvSpPr>
            <p:cNvPr id="25" name="object 25"/>
            <p:cNvSpPr/>
            <p:nvPr/>
          </p:nvSpPr>
          <p:spPr>
            <a:xfrm>
              <a:off x="4724781" y="5029581"/>
              <a:ext cx="142875" cy="1143000"/>
            </a:xfrm>
            <a:custGeom>
              <a:avLst/>
              <a:gdLst/>
              <a:ahLst/>
              <a:cxnLst/>
              <a:rect l="l" t="t" r="r" b="b"/>
              <a:pathLst>
                <a:path w="142875" h="1143000">
                  <a:moveTo>
                    <a:pt x="0" y="0"/>
                  </a:moveTo>
                  <a:lnTo>
                    <a:pt x="0" y="1143000"/>
                  </a:lnTo>
                  <a:lnTo>
                    <a:pt x="142875" y="1000125"/>
                  </a:lnTo>
                  <a:lnTo>
                    <a:pt x="142875" y="142875"/>
                  </a:lnTo>
                  <a:lnTo>
                    <a:pt x="0" y="0"/>
                  </a:lnTo>
                  <a:close/>
                </a:path>
              </a:pathLst>
            </a:custGeom>
            <a:solidFill>
              <a:srgbClr val="C1916A"/>
            </a:solidFill>
          </p:spPr>
          <p:txBody>
            <a:bodyPr wrap="square" lIns="0" tIns="0" rIns="0" bIns="0" rtlCol="0"/>
            <a:lstStyle/>
            <a:p>
              <a:endParaRPr/>
            </a:p>
          </p:txBody>
        </p:sp>
        <p:sp>
          <p:nvSpPr>
            <p:cNvPr id="26" name="object 26"/>
            <p:cNvSpPr/>
            <p:nvPr/>
          </p:nvSpPr>
          <p:spPr>
            <a:xfrm>
              <a:off x="6182106" y="5029581"/>
              <a:ext cx="142875" cy="1143000"/>
            </a:xfrm>
            <a:custGeom>
              <a:avLst/>
              <a:gdLst/>
              <a:ahLst/>
              <a:cxnLst/>
              <a:rect l="l" t="t" r="r" b="b"/>
              <a:pathLst>
                <a:path w="142875" h="1143000">
                  <a:moveTo>
                    <a:pt x="142875" y="0"/>
                  </a:moveTo>
                  <a:lnTo>
                    <a:pt x="0" y="142875"/>
                  </a:lnTo>
                  <a:lnTo>
                    <a:pt x="0" y="1000125"/>
                  </a:lnTo>
                  <a:lnTo>
                    <a:pt x="142875" y="1143000"/>
                  </a:lnTo>
                  <a:lnTo>
                    <a:pt x="142875" y="0"/>
                  </a:lnTo>
                  <a:close/>
                </a:path>
              </a:pathLst>
            </a:custGeom>
            <a:solidFill>
              <a:srgbClr val="5B2B04"/>
            </a:solidFill>
          </p:spPr>
          <p:txBody>
            <a:bodyPr wrap="square" lIns="0" tIns="0" rIns="0" bIns="0" rtlCol="0"/>
            <a:lstStyle/>
            <a:p>
              <a:endParaRPr/>
            </a:p>
          </p:txBody>
        </p:sp>
        <p:sp>
          <p:nvSpPr>
            <p:cNvPr id="27" name="object 27"/>
            <p:cNvSpPr/>
            <p:nvPr/>
          </p:nvSpPr>
          <p:spPr>
            <a:xfrm>
              <a:off x="4724781" y="5029581"/>
              <a:ext cx="1600200" cy="1143000"/>
            </a:xfrm>
            <a:custGeom>
              <a:avLst/>
              <a:gdLst/>
              <a:ahLst/>
              <a:cxnLst/>
              <a:rect l="l" t="t" r="r" b="b"/>
              <a:pathLst>
                <a:path w="1600200" h="1143000">
                  <a:moveTo>
                    <a:pt x="0" y="0"/>
                  </a:moveTo>
                  <a:lnTo>
                    <a:pt x="1600200" y="0"/>
                  </a:lnTo>
                  <a:lnTo>
                    <a:pt x="1600200" y="1143000"/>
                  </a:lnTo>
                  <a:lnTo>
                    <a:pt x="0" y="1143000"/>
                  </a:lnTo>
                  <a:lnTo>
                    <a:pt x="0" y="0"/>
                  </a:lnTo>
                  <a:close/>
                </a:path>
                <a:path w="1600200" h="1143000">
                  <a:moveTo>
                    <a:pt x="0" y="0"/>
                  </a:moveTo>
                  <a:lnTo>
                    <a:pt x="142875" y="142875"/>
                  </a:lnTo>
                </a:path>
                <a:path w="1600200" h="1143000">
                  <a:moveTo>
                    <a:pt x="0" y="1143000"/>
                  </a:moveTo>
                  <a:lnTo>
                    <a:pt x="142875" y="1000125"/>
                  </a:lnTo>
                </a:path>
                <a:path w="1600200" h="1143000">
                  <a:moveTo>
                    <a:pt x="1600200" y="0"/>
                  </a:moveTo>
                  <a:lnTo>
                    <a:pt x="1457325" y="142875"/>
                  </a:lnTo>
                </a:path>
                <a:path w="1600200" h="1143000">
                  <a:moveTo>
                    <a:pt x="1600200" y="1143000"/>
                  </a:moveTo>
                  <a:lnTo>
                    <a:pt x="1457325" y="1000125"/>
                  </a:lnTo>
                </a:path>
              </a:pathLst>
            </a:custGeom>
            <a:ln w="25146">
              <a:solidFill>
                <a:srgbClr val="385D89"/>
              </a:solidFill>
            </a:ln>
          </p:spPr>
          <p:txBody>
            <a:bodyPr wrap="square" lIns="0" tIns="0" rIns="0" bIns="0" rtlCol="0"/>
            <a:lstStyle/>
            <a:p>
              <a:endParaRPr/>
            </a:p>
          </p:txBody>
        </p:sp>
      </p:grpSp>
      <p:sp>
        <p:nvSpPr>
          <p:cNvPr id="28" name="object 28"/>
          <p:cNvSpPr txBox="1"/>
          <p:nvPr/>
        </p:nvSpPr>
        <p:spPr>
          <a:xfrm>
            <a:off x="4867655" y="5172455"/>
            <a:ext cx="1314450" cy="857250"/>
          </a:xfrm>
          <a:prstGeom prst="rect">
            <a:avLst/>
          </a:prstGeom>
          <a:solidFill>
            <a:srgbClr val="974706"/>
          </a:solidFill>
          <a:ln w="25146">
            <a:solidFill>
              <a:srgbClr val="385D89"/>
            </a:solidFill>
          </a:ln>
        </p:spPr>
        <p:txBody>
          <a:bodyPr vert="horz" wrap="square" lIns="0" tIns="5715" rIns="0" bIns="0" rtlCol="0">
            <a:spAutoFit/>
          </a:bodyPr>
          <a:lstStyle/>
          <a:p>
            <a:pPr>
              <a:lnSpc>
                <a:spcPct val="100000"/>
              </a:lnSpc>
              <a:spcBef>
                <a:spcPts val="45"/>
              </a:spcBef>
            </a:pPr>
            <a:endParaRPr sz="1850">
              <a:latin typeface="Times New Roman"/>
              <a:cs typeface="Times New Roman"/>
            </a:endParaRPr>
          </a:p>
          <a:p>
            <a:pPr marL="183515" marR="177165" indent="122555">
              <a:lnSpc>
                <a:spcPct val="70000"/>
              </a:lnSpc>
            </a:pPr>
            <a:r>
              <a:rPr sz="1400" b="1" spc="-5" dirty="0">
                <a:solidFill>
                  <a:srgbClr val="FFFFFF"/>
                </a:solidFill>
                <a:latin typeface="Arial"/>
                <a:cs typeface="Arial"/>
              </a:rPr>
              <a:t>Network  Data</a:t>
            </a:r>
            <a:r>
              <a:rPr sz="1400" b="1" spc="-80" dirty="0">
                <a:solidFill>
                  <a:srgbClr val="FFFFFF"/>
                </a:solidFill>
                <a:latin typeface="Arial"/>
                <a:cs typeface="Arial"/>
              </a:rPr>
              <a:t> </a:t>
            </a:r>
            <a:r>
              <a:rPr sz="1400" b="1" spc="-5" dirty="0">
                <a:solidFill>
                  <a:srgbClr val="FFFFFF"/>
                </a:solidFill>
                <a:latin typeface="Arial"/>
                <a:cs typeface="Arial"/>
              </a:rPr>
              <a:t>Model</a:t>
            </a:r>
            <a:endParaRPr sz="1400">
              <a:latin typeface="Arial"/>
              <a:cs typeface="Arial"/>
            </a:endParaRPr>
          </a:p>
        </p:txBody>
      </p:sp>
      <p:grpSp>
        <p:nvGrpSpPr>
          <p:cNvPr id="29" name="object 29"/>
          <p:cNvGrpSpPr/>
          <p:nvPr/>
        </p:nvGrpSpPr>
        <p:grpSpPr>
          <a:xfrm>
            <a:off x="6617207" y="5017008"/>
            <a:ext cx="1625600" cy="1168400"/>
            <a:chOff x="6617207" y="5017008"/>
            <a:chExt cx="1625600" cy="1168400"/>
          </a:xfrm>
        </p:grpSpPr>
        <p:sp>
          <p:nvSpPr>
            <p:cNvPr id="30" name="object 30"/>
            <p:cNvSpPr/>
            <p:nvPr/>
          </p:nvSpPr>
          <p:spPr>
            <a:xfrm>
              <a:off x="6629780" y="5029581"/>
              <a:ext cx="1600200" cy="142875"/>
            </a:xfrm>
            <a:custGeom>
              <a:avLst/>
              <a:gdLst/>
              <a:ahLst/>
              <a:cxnLst/>
              <a:rect l="l" t="t" r="r" b="b"/>
              <a:pathLst>
                <a:path w="1600200" h="142875">
                  <a:moveTo>
                    <a:pt x="1600200" y="0"/>
                  </a:moveTo>
                  <a:lnTo>
                    <a:pt x="0" y="0"/>
                  </a:lnTo>
                  <a:lnTo>
                    <a:pt x="142875" y="142875"/>
                  </a:lnTo>
                  <a:lnTo>
                    <a:pt x="1457325" y="142875"/>
                  </a:lnTo>
                  <a:lnTo>
                    <a:pt x="1600200" y="0"/>
                  </a:lnTo>
                  <a:close/>
                </a:path>
              </a:pathLst>
            </a:custGeom>
            <a:solidFill>
              <a:srgbClr val="7E6C94"/>
            </a:solidFill>
          </p:spPr>
          <p:txBody>
            <a:bodyPr wrap="square" lIns="0" tIns="0" rIns="0" bIns="0" rtlCol="0"/>
            <a:lstStyle/>
            <a:p>
              <a:endParaRPr/>
            </a:p>
          </p:txBody>
        </p:sp>
        <p:sp>
          <p:nvSpPr>
            <p:cNvPr id="31" name="object 31"/>
            <p:cNvSpPr/>
            <p:nvPr/>
          </p:nvSpPr>
          <p:spPr>
            <a:xfrm>
              <a:off x="6629780" y="6029706"/>
              <a:ext cx="1600200" cy="142875"/>
            </a:xfrm>
            <a:custGeom>
              <a:avLst/>
              <a:gdLst/>
              <a:ahLst/>
              <a:cxnLst/>
              <a:rect l="l" t="t" r="r" b="b"/>
              <a:pathLst>
                <a:path w="1600200" h="142875">
                  <a:moveTo>
                    <a:pt x="1457325" y="0"/>
                  </a:moveTo>
                  <a:lnTo>
                    <a:pt x="142875" y="0"/>
                  </a:lnTo>
                  <a:lnTo>
                    <a:pt x="0" y="142875"/>
                  </a:lnTo>
                  <a:lnTo>
                    <a:pt x="1600200" y="142875"/>
                  </a:lnTo>
                  <a:lnTo>
                    <a:pt x="1457325" y="0"/>
                  </a:lnTo>
                  <a:close/>
                </a:path>
              </a:pathLst>
            </a:custGeom>
            <a:solidFill>
              <a:srgbClr val="4D3A62"/>
            </a:solidFill>
          </p:spPr>
          <p:txBody>
            <a:bodyPr wrap="square" lIns="0" tIns="0" rIns="0" bIns="0" rtlCol="0"/>
            <a:lstStyle/>
            <a:p>
              <a:endParaRPr/>
            </a:p>
          </p:txBody>
        </p:sp>
        <p:sp>
          <p:nvSpPr>
            <p:cNvPr id="32" name="object 32"/>
            <p:cNvSpPr/>
            <p:nvPr/>
          </p:nvSpPr>
          <p:spPr>
            <a:xfrm>
              <a:off x="6629780" y="5029581"/>
              <a:ext cx="142875" cy="1143000"/>
            </a:xfrm>
            <a:custGeom>
              <a:avLst/>
              <a:gdLst/>
              <a:ahLst/>
              <a:cxnLst/>
              <a:rect l="l" t="t" r="r" b="b"/>
              <a:pathLst>
                <a:path w="142875" h="1143000">
                  <a:moveTo>
                    <a:pt x="0" y="0"/>
                  </a:moveTo>
                  <a:lnTo>
                    <a:pt x="0" y="1143000"/>
                  </a:lnTo>
                  <a:lnTo>
                    <a:pt x="142875" y="1000125"/>
                  </a:lnTo>
                  <a:lnTo>
                    <a:pt x="142875" y="142875"/>
                  </a:lnTo>
                  <a:lnTo>
                    <a:pt x="0" y="0"/>
                  </a:lnTo>
                  <a:close/>
                </a:path>
              </a:pathLst>
            </a:custGeom>
            <a:solidFill>
              <a:srgbClr val="9F92AF"/>
            </a:solidFill>
          </p:spPr>
          <p:txBody>
            <a:bodyPr wrap="square" lIns="0" tIns="0" rIns="0" bIns="0" rtlCol="0"/>
            <a:lstStyle/>
            <a:p>
              <a:endParaRPr/>
            </a:p>
          </p:txBody>
        </p:sp>
        <p:sp>
          <p:nvSpPr>
            <p:cNvPr id="33" name="object 33"/>
            <p:cNvSpPr/>
            <p:nvPr/>
          </p:nvSpPr>
          <p:spPr>
            <a:xfrm>
              <a:off x="8087105" y="5029581"/>
              <a:ext cx="142875" cy="1143000"/>
            </a:xfrm>
            <a:custGeom>
              <a:avLst/>
              <a:gdLst/>
              <a:ahLst/>
              <a:cxnLst/>
              <a:rect l="l" t="t" r="r" b="b"/>
              <a:pathLst>
                <a:path w="142875" h="1143000">
                  <a:moveTo>
                    <a:pt x="142875" y="0"/>
                  </a:moveTo>
                  <a:lnTo>
                    <a:pt x="0" y="142875"/>
                  </a:lnTo>
                  <a:lnTo>
                    <a:pt x="0" y="1000125"/>
                  </a:lnTo>
                  <a:lnTo>
                    <a:pt x="142875" y="1143000"/>
                  </a:lnTo>
                  <a:lnTo>
                    <a:pt x="142875" y="0"/>
                  </a:lnTo>
                  <a:close/>
                </a:path>
              </a:pathLst>
            </a:custGeom>
            <a:solidFill>
              <a:srgbClr val="392C49"/>
            </a:solidFill>
          </p:spPr>
          <p:txBody>
            <a:bodyPr wrap="square" lIns="0" tIns="0" rIns="0" bIns="0" rtlCol="0"/>
            <a:lstStyle/>
            <a:p>
              <a:endParaRPr/>
            </a:p>
          </p:txBody>
        </p:sp>
        <p:sp>
          <p:nvSpPr>
            <p:cNvPr id="34" name="object 34"/>
            <p:cNvSpPr/>
            <p:nvPr/>
          </p:nvSpPr>
          <p:spPr>
            <a:xfrm>
              <a:off x="6629780" y="5029581"/>
              <a:ext cx="1600200" cy="1143000"/>
            </a:xfrm>
            <a:custGeom>
              <a:avLst/>
              <a:gdLst/>
              <a:ahLst/>
              <a:cxnLst/>
              <a:rect l="l" t="t" r="r" b="b"/>
              <a:pathLst>
                <a:path w="1600200" h="1143000">
                  <a:moveTo>
                    <a:pt x="0" y="0"/>
                  </a:moveTo>
                  <a:lnTo>
                    <a:pt x="1600200" y="0"/>
                  </a:lnTo>
                  <a:lnTo>
                    <a:pt x="1600200" y="1143000"/>
                  </a:lnTo>
                  <a:lnTo>
                    <a:pt x="0" y="1143000"/>
                  </a:lnTo>
                  <a:lnTo>
                    <a:pt x="0" y="0"/>
                  </a:lnTo>
                  <a:close/>
                </a:path>
                <a:path w="1600200" h="1143000">
                  <a:moveTo>
                    <a:pt x="0" y="0"/>
                  </a:moveTo>
                  <a:lnTo>
                    <a:pt x="142875" y="142875"/>
                  </a:lnTo>
                </a:path>
                <a:path w="1600200" h="1143000">
                  <a:moveTo>
                    <a:pt x="0" y="1143000"/>
                  </a:moveTo>
                  <a:lnTo>
                    <a:pt x="142875" y="1000125"/>
                  </a:lnTo>
                </a:path>
                <a:path w="1600200" h="1143000">
                  <a:moveTo>
                    <a:pt x="1600200" y="0"/>
                  </a:moveTo>
                  <a:lnTo>
                    <a:pt x="1457325" y="142875"/>
                  </a:lnTo>
                </a:path>
                <a:path w="1600200" h="1143000">
                  <a:moveTo>
                    <a:pt x="1600200" y="1143000"/>
                  </a:moveTo>
                  <a:lnTo>
                    <a:pt x="1457325" y="1000125"/>
                  </a:lnTo>
                </a:path>
              </a:pathLst>
            </a:custGeom>
            <a:ln w="25146">
              <a:solidFill>
                <a:srgbClr val="385D89"/>
              </a:solidFill>
            </a:ln>
          </p:spPr>
          <p:txBody>
            <a:bodyPr wrap="square" lIns="0" tIns="0" rIns="0" bIns="0" rtlCol="0"/>
            <a:lstStyle/>
            <a:p>
              <a:endParaRPr/>
            </a:p>
          </p:txBody>
        </p:sp>
      </p:grpSp>
      <p:sp>
        <p:nvSpPr>
          <p:cNvPr id="35" name="object 35"/>
          <p:cNvSpPr txBox="1"/>
          <p:nvPr/>
        </p:nvSpPr>
        <p:spPr>
          <a:xfrm>
            <a:off x="6772656" y="5172455"/>
            <a:ext cx="1314450" cy="857250"/>
          </a:xfrm>
          <a:prstGeom prst="rect">
            <a:avLst/>
          </a:prstGeom>
          <a:solidFill>
            <a:srgbClr val="5F497A"/>
          </a:solidFill>
          <a:ln w="25146">
            <a:solidFill>
              <a:srgbClr val="385D89"/>
            </a:solidFill>
          </a:ln>
        </p:spPr>
        <p:txBody>
          <a:bodyPr vert="horz" wrap="square" lIns="0" tIns="5715" rIns="0" bIns="0" rtlCol="0">
            <a:spAutoFit/>
          </a:bodyPr>
          <a:lstStyle/>
          <a:p>
            <a:pPr>
              <a:lnSpc>
                <a:spcPct val="100000"/>
              </a:lnSpc>
              <a:spcBef>
                <a:spcPts val="45"/>
              </a:spcBef>
            </a:pPr>
            <a:endParaRPr sz="1850">
              <a:latin typeface="Times New Roman"/>
              <a:cs typeface="Times New Roman"/>
            </a:endParaRPr>
          </a:p>
          <a:p>
            <a:pPr marL="183515" marR="177165" indent="49530">
              <a:lnSpc>
                <a:spcPct val="70000"/>
              </a:lnSpc>
            </a:pPr>
            <a:r>
              <a:rPr sz="1400" b="1" spc="-5" dirty="0">
                <a:solidFill>
                  <a:srgbClr val="FFFFFF"/>
                </a:solidFill>
                <a:latin typeface="Arial"/>
                <a:cs typeface="Arial"/>
              </a:rPr>
              <a:t>Relational  Data</a:t>
            </a:r>
            <a:r>
              <a:rPr sz="1400" b="1" spc="-80" dirty="0">
                <a:solidFill>
                  <a:srgbClr val="FFFFFF"/>
                </a:solidFill>
                <a:latin typeface="Arial"/>
                <a:cs typeface="Arial"/>
              </a:rPr>
              <a:t> </a:t>
            </a:r>
            <a:r>
              <a:rPr sz="1400" b="1" spc="-5" dirty="0">
                <a:solidFill>
                  <a:srgbClr val="FFFFFF"/>
                </a:solidFill>
                <a:latin typeface="Arial"/>
                <a:cs typeface="Arial"/>
              </a:rPr>
              <a:t>Model</a:t>
            </a:r>
            <a:endParaRPr sz="1400">
              <a:latin typeface="Arial"/>
              <a:cs typeface="Arial"/>
            </a:endParaRPr>
          </a:p>
        </p:txBody>
      </p:sp>
      <p:sp>
        <p:nvSpPr>
          <p:cNvPr id="37" name="object 37"/>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15</a:t>
            </a:fld>
            <a:endParaRPr sz="1200"/>
          </a:p>
        </p:txBody>
      </p:sp>
      <p:sp>
        <p:nvSpPr>
          <p:cNvPr id="38" name="object 38"/>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4033520" cy="635635"/>
          </a:xfrm>
          <a:prstGeom prst="rect">
            <a:avLst/>
          </a:prstGeom>
        </p:spPr>
        <p:txBody>
          <a:bodyPr vert="horz" wrap="square" lIns="0" tIns="12700" rIns="0" bIns="0" rtlCol="0">
            <a:spAutoFit/>
          </a:bodyPr>
          <a:lstStyle/>
          <a:p>
            <a:pPr marL="12700">
              <a:lnSpc>
                <a:spcPct val="100000"/>
              </a:lnSpc>
              <a:spcBef>
                <a:spcPts val="100"/>
              </a:spcBef>
            </a:pPr>
            <a:r>
              <a:rPr sz="4000" b="0" dirty="0">
                <a:latin typeface="Goudy Old Style"/>
                <a:cs typeface="Goudy Old Style"/>
              </a:rPr>
              <a:t>Flat-file </a:t>
            </a:r>
            <a:r>
              <a:rPr sz="4000" b="0" spc="10" dirty="0">
                <a:latin typeface="Goudy Old Style"/>
                <a:cs typeface="Goudy Old Style"/>
              </a:rPr>
              <a:t>Data</a:t>
            </a:r>
            <a:r>
              <a:rPr sz="4000" b="0" spc="-80" dirty="0">
                <a:latin typeface="Goudy Old Style"/>
                <a:cs typeface="Goudy Old Style"/>
              </a:rPr>
              <a:t> </a:t>
            </a:r>
            <a:r>
              <a:rPr sz="4000" b="0" spc="-5" dirty="0">
                <a:latin typeface="Goudy Old Style"/>
                <a:cs typeface="Goudy Old Style"/>
              </a:rPr>
              <a:t>Model</a:t>
            </a:r>
            <a:endParaRPr sz="4000">
              <a:latin typeface="Goudy Old Style"/>
              <a:cs typeface="Goudy Old Style"/>
            </a:endParaRPr>
          </a:p>
        </p:txBody>
      </p:sp>
      <p:pic>
        <p:nvPicPr>
          <p:cNvPr id="3" name="object 3"/>
          <p:cNvPicPr/>
          <p:nvPr/>
        </p:nvPicPr>
        <p:blipFill>
          <a:blip r:embed="rId3" cstate="print"/>
          <a:stretch>
            <a:fillRect/>
          </a:stretch>
        </p:blipFill>
        <p:spPr>
          <a:xfrm>
            <a:off x="339090" y="1123937"/>
            <a:ext cx="8234933" cy="919746"/>
          </a:xfrm>
          <a:prstGeom prst="rect">
            <a:avLst/>
          </a:prstGeom>
        </p:spPr>
      </p:pic>
      <p:pic>
        <p:nvPicPr>
          <p:cNvPr id="4" name="object 4"/>
          <p:cNvPicPr/>
          <p:nvPr/>
        </p:nvPicPr>
        <p:blipFill>
          <a:blip r:embed="rId4" cstate="print"/>
          <a:stretch>
            <a:fillRect/>
          </a:stretch>
        </p:blipFill>
        <p:spPr>
          <a:xfrm>
            <a:off x="339090" y="2114537"/>
            <a:ext cx="8234933" cy="843546"/>
          </a:xfrm>
          <a:prstGeom prst="rect">
            <a:avLst/>
          </a:prstGeom>
        </p:spPr>
      </p:pic>
      <p:pic>
        <p:nvPicPr>
          <p:cNvPr id="5" name="object 5"/>
          <p:cNvPicPr/>
          <p:nvPr/>
        </p:nvPicPr>
        <p:blipFill>
          <a:blip r:embed="rId5" cstate="print"/>
          <a:stretch>
            <a:fillRect/>
          </a:stretch>
        </p:blipFill>
        <p:spPr>
          <a:xfrm>
            <a:off x="339090" y="3028937"/>
            <a:ext cx="8234933" cy="919746"/>
          </a:xfrm>
          <a:prstGeom prst="rect">
            <a:avLst/>
          </a:prstGeom>
        </p:spPr>
      </p:pic>
      <p:sp>
        <p:nvSpPr>
          <p:cNvPr id="6" name="object 6"/>
          <p:cNvSpPr txBox="1"/>
          <p:nvPr/>
        </p:nvSpPr>
        <p:spPr>
          <a:xfrm>
            <a:off x="514095" y="1385823"/>
            <a:ext cx="7874634" cy="2328545"/>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FFFFF"/>
                </a:solidFill>
                <a:latin typeface="Goudy Old Style"/>
                <a:cs typeface="Goudy Old Style"/>
              </a:rPr>
              <a:t>In </a:t>
            </a:r>
            <a:r>
              <a:rPr sz="1800" dirty="0">
                <a:solidFill>
                  <a:srgbClr val="FFFFFF"/>
                </a:solidFill>
                <a:latin typeface="Goudy Old Style"/>
                <a:cs typeface="Goudy Old Style"/>
              </a:rPr>
              <a:t>this model, the </a:t>
            </a:r>
            <a:r>
              <a:rPr sz="1800" spc="-5" dirty="0">
                <a:solidFill>
                  <a:srgbClr val="FFFFFF"/>
                </a:solidFill>
                <a:latin typeface="Goudy Old Style"/>
                <a:cs typeface="Goudy Old Style"/>
              </a:rPr>
              <a:t>database consists of only one </a:t>
            </a:r>
            <a:r>
              <a:rPr sz="1800" dirty="0">
                <a:solidFill>
                  <a:srgbClr val="FFFFFF"/>
                </a:solidFill>
                <a:latin typeface="Goudy Old Style"/>
                <a:cs typeface="Goudy Old Style"/>
              </a:rPr>
              <a:t>table </a:t>
            </a:r>
            <a:r>
              <a:rPr sz="1800" spc="-5" dirty="0">
                <a:solidFill>
                  <a:srgbClr val="FFFFFF"/>
                </a:solidFill>
                <a:latin typeface="Goudy Old Style"/>
                <a:cs typeface="Goudy Old Style"/>
              </a:rPr>
              <a:t>or</a:t>
            </a:r>
            <a:r>
              <a:rPr sz="1800" spc="-15" dirty="0">
                <a:solidFill>
                  <a:srgbClr val="FFFFFF"/>
                </a:solidFill>
                <a:latin typeface="Goudy Old Style"/>
                <a:cs typeface="Goudy Old Style"/>
              </a:rPr>
              <a:t> </a:t>
            </a:r>
            <a:r>
              <a:rPr sz="1800" dirty="0">
                <a:solidFill>
                  <a:srgbClr val="FFFFFF"/>
                </a:solidFill>
                <a:latin typeface="Goudy Old Style"/>
                <a:cs typeface="Goudy Old Style"/>
              </a:rPr>
              <a:t>file</a:t>
            </a:r>
            <a:endParaRPr sz="1800">
              <a:latin typeface="Goudy Old Style"/>
              <a:cs typeface="Goudy Old Style"/>
            </a:endParaRPr>
          </a:p>
          <a:p>
            <a:pPr>
              <a:lnSpc>
                <a:spcPct val="100000"/>
              </a:lnSpc>
            </a:pPr>
            <a:endParaRPr sz="2000">
              <a:latin typeface="Goudy Old Style"/>
              <a:cs typeface="Goudy Old Style"/>
            </a:endParaRPr>
          </a:p>
          <a:p>
            <a:pPr>
              <a:lnSpc>
                <a:spcPct val="100000"/>
              </a:lnSpc>
              <a:spcBef>
                <a:spcPts val="30"/>
              </a:spcBef>
            </a:pPr>
            <a:endParaRPr sz="1800">
              <a:latin typeface="Goudy Old Style"/>
              <a:cs typeface="Goudy Old Style"/>
            </a:endParaRPr>
          </a:p>
          <a:p>
            <a:pPr marL="19050" marR="251460">
              <a:lnSpc>
                <a:spcPts val="1939"/>
              </a:lnSpc>
            </a:pPr>
            <a:r>
              <a:rPr sz="1800" spc="-5" dirty="0">
                <a:solidFill>
                  <a:srgbClr val="FFFFFF"/>
                </a:solidFill>
                <a:latin typeface="Goudy Old Style"/>
                <a:cs typeface="Goudy Old Style"/>
              </a:rPr>
              <a:t>Is used </a:t>
            </a:r>
            <a:r>
              <a:rPr sz="1800" spc="-20" dirty="0">
                <a:solidFill>
                  <a:srgbClr val="FFFFFF"/>
                </a:solidFill>
                <a:latin typeface="Goudy Old Style"/>
                <a:cs typeface="Goudy Old Style"/>
              </a:rPr>
              <a:t>for </a:t>
            </a:r>
            <a:r>
              <a:rPr sz="1800" spc="-5" dirty="0">
                <a:solidFill>
                  <a:srgbClr val="FFFFFF"/>
                </a:solidFill>
                <a:latin typeface="Goudy Old Style"/>
                <a:cs typeface="Goudy Old Style"/>
              </a:rPr>
              <a:t>simple databases </a:t>
            </a:r>
            <a:r>
              <a:rPr sz="1800" dirty="0">
                <a:solidFill>
                  <a:srgbClr val="FFFFFF"/>
                </a:solidFill>
                <a:latin typeface="Goudy Old Style"/>
                <a:cs typeface="Goudy Old Style"/>
              </a:rPr>
              <a:t>- </a:t>
            </a:r>
            <a:r>
              <a:rPr sz="1800" spc="-20" dirty="0">
                <a:solidFill>
                  <a:srgbClr val="FFFFFF"/>
                </a:solidFill>
                <a:latin typeface="Goudy Old Style"/>
                <a:cs typeface="Goudy Old Style"/>
              </a:rPr>
              <a:t>for </a:t>
            </a:r>
            <a:r>
              <a:rPr sz="1800" spc="-5" dirty="0">
                <a:solidFill>
                  <a:srgbClr val="FFFFFF"/>
                </a:solidFill>
                <a:latin typeface="Goudy Old Style"/>
                <a:cs typeface="Goudy Old Style"/>
              </a:rPr>
              <a:t>example, </a:t>
            </a:r>
            <a:r>
              <a:rPr sz="1800" spc="-10" dirty="0">
                <a:solidFill>
                  <a:srgbClr val="FFFFFF"/>
                </a:solidFill>
                <a:latin typeface="Goudy Old Style"/>
                <a:cs typeface="Goudy Old Style"/>
              </a:rPr>
              <a:t>to </a:t>
            </a:r>
            <a:r>
              <a:rPr sz="1800" spc="-15" dirty="0">
                <a:solidFill>
                  <a:srgbClr val="FFFFFF"/>
                </a:solidFill>
                <a:latin typeface="Goudy Old Style"/>
                <a:cs typeface="Goudy Old Style"/>
              </a:rPr>
              <a:t>store </a:t>
            </a:r>
            <a:r>
              <a:rPr sz="1800" dirty="0">
                <a:solidFill>
                  <a:srgbClr val="FFFFFF"/>
                </a:solidFill>
                <a:latin typeface="Goudy Old Style"/>
                <a:cs typeface="Goudy Old Style"/>
              </a:rPr>
              <a:t>the </a:t>
            </a:r>
            <a:r>
              <a:rPr sz="1800" spc="-10" dirty="0">
                <a:solidFill>
                  <a:srgbClr val="FFFFFF"/>
                </a:solidFill>
                <a:latin typeface="Goudy Old Style"/>
                <a:cs typeface="Goudy Old Style"/>
              </a:rPr>
              <a:t>roll </a:t>
            </a:r>
            <a:r>
              <a:rPr sz="1800" spc="-5" dirty="0">
                <a:solidFill>
                  <a:srgbClr val="FFFFFF"/>
                </a:solidFill>
                <a:latin typeface="Goudy Old Style"/>
                <a:cs typeface="Goudy Old Style"/>
              </a:rPr>
              <a:t>numbers, names, subjects,  and </a:t>
            </a:r>
            <a:r>
              <a:rPr sz="1800" spc="-10" dirty="0">
                <a:solidFill>
                  <a:srgbClr val="FFFFFF"/>
                </a:solidFill>
                <a:latin typeface="Goudy Old Style"/>
                <a:cs typeface="Goudy Old Style"/>
              </a:rPr>
              <a:t>marks </a:t>
            </a:r>
            <a:r>
              <a:rPr sz="1800" spc="-5" dirty="0">
                <a:solidFill>
                  <a:srgbClr val="FFFFFF"/>
                </a:solidFill>
                <a:latin typeface="Goudy Old Style"/>
                <a:cs typeface="Goudy Old Style"/>
              </a:rPr>
              <a:t>of </a:t>
            </a:r>
            <a:r>
              <a:rPr sz="1800" dirty="0">
                <a:solidFill>
                  <a:srgbClr val="FFFFFF"/>
                </a:solidFill>
                <a:latin typeface="Goudy Old Style"/>
                <a:cs typeface="Goudy Old Style"/>
              </a:rPr>
              <a:t>a </a:t>
            </a:r>
            <a:r>
              <a:rPr sz="1800" spc="-10" dirty="0">
                <a:solidFill>
                  <a:srgbClr val="FFFFFF"/>
                </a:solidFill>
                <a:latin typeface="Goudy Old Style"/>
                <a:cs typeface="Goudy Old Style"/>
              </a:rPr>
              <a:t>group </a:t>
            </a:r>
            <a:r>
              <a:rPr sz="1800" spc="-5" dirty="0">
                <a:solidFill>
                  <a:srgbClr val="FFFFFF"/>
                </a:solidFill>
                <a:latin typeface="Goudy Old Style"/>
                <a:cs typeface="Goudy Old Style"/>
              </a:rPr>
              <a:t>of</a:t>
            </a:r>
            <a:r>
              <a:rPr sz="1800" spc="5" dirty="0">
                <a:solidFill>
                  <a:srgbClr val="FFFFFF"/>
                </a:solidFill>
                <a:latin typeface="Goudy Old Style"/>
                <a:cs typeface="Goudy Old Style"/>
              </a:rPr>
              <a:t> </a:t>
            </a:r>
            <a:r>
              <a:rPr sz="1800" spc="-5" dirty="0">
                <a:solidFill>
                  <a:srgbClr val="FFFFFF"/>
                </a:solidFill>
                <a:latin typeface="Goudy Old Style"/>
                <a:cs typeface="Goudy Old Style"/>
              </a:rPr>
              <a:t>students</a:t>
            </a:r>
            <a:endParaRPr sz="1800">
              <a:latin typeface="Goudy Old Style"/>
              <a:cs typeface="Goudy Old Style"/>
            </a:endParaRPr>
          </a:p>
          <a:p>
            <a:pPr>
              <a:lnSpc>
                <a:spcPct val="100000"/>
              </a:lnSpc>
            </a:pPr>
            <a:endParaRPr sz="2000">
              <a:latin typeface="Goudy Old Style"/>
              <a:cs typeface="Goudy Old Style"/>
            </a:endParaRPr>
          </a:p>
          <a:p>
            <a:pPr marL="17780" marR="5080">
              <a:lnSpc>
                <a:spcPts val="1939"/>
              </a:lnSpc>
              <a:spcBef>
                <a:spcPts val="1245"/>
              </a:spcBef>
            </a:pPr>
            <a:r>
              <a:rPr sz="1800" spc="-5" dirty="0">
                <a:solidFill>
                  <a:srgbClr val="FFFFFF"/>
                </a:solidFill>
                <a:latin typeface="Goudy Old Style"/>
                <a:cs typeface="Goudy Old Style"/>
              </a:rPr>
              <a:t>Cannot handle </a:t>
            </a:r>
            <a:r>
              <a:rPr sz="1800" spc="5" dirty="0">
                <a:solidFill>
                  <a:srgbClr val="FFFFFF"/>
                </a:solidFill>
                <a:latin typeface="Goudy Old Style"/>
                <a:cs typeface="Goudy Old Style"/>
              </a:rPr>
              <a:t>very </a:t>
            </a:r>
            <a:r>
              <a:rPr sz="1800" spc="-10" dirty="0">
                <a:solidFill>
                  <a:srgbClr val="FFFFFF"/>
                </a:solidFill>
                <a:latin typeface="Goudy Old Style"/>
                <a:cs typeface="Goudy Old Style"/>
              </a:rPr>
              <a:t>complex </a:t>
            </a:r>
            <a:r>
              <a:rPr sz="1800" dirty="0">
                <a:solidFill>
                  <a:srgbClr val="FFFFFF"/>
                </a:solidFill>
                <a:latin typeface="Goudy Old Style"/>
                <a:cs typeface="Goudy Old Style"/>
              </a:rPr>
              <a:t>data. </a:t>
            </a:r>
            <a:r>
              <a:rPr sz="1800" spc="-5" dirty="0">
                <a:solidFill>
                  <a:srgbClr val="FFFFFF"/>
                </a:solidFill>
                <a:latin typeface="Goudy Old Style"/>
                <a:cs typeface="Goudy Old Style"/>
              </a:rPr>
              <a:t>It </a:t>
            </a:r>
            <a:r>
              <a:rPr sz="1800" dirty="0">
                <a:solidFill>
                  <a:srgbClr val="FFFFFF"/>
                </a:solidFill>
                <a:latin typeface="Goudy Old Style"/>
                <a:cs typeface="Goudy Old Style"/>
              </a:rPr>
              <a:t>can cause </a:t>
            </a:r>
            <a:r>
              <a:rPr sz="1800" spc="-10" dirty="0">
                <a:solidFill>
                  <a:srgbClr val="FFFFFF"/>
                </a:solidFill>
                <a:latin typeface="Goudy Old Style"/>
                <a:cs typeface="Goudy Old Style"/>
              </a:rPr>
              <a:t>redundancy </a:t>
            </a:r>
            <a:r>
              <a:rPr sz="1800" dirty="0">
                <a:solidFill>
                  <a:srgbClr val="FFFFFF"/>
                </a:solidFill>
                <a:latin typeface="Goudy Old Style"/>
                <a:cs typeface="Goudy Old Style"/>
              </a:rPr>
              <a:t>when data </a:t>
            </a:r>
            <a:r>
              <a:rPr sz="1800" spc="-5" dirty="0">
                <a:solidFill>
                  <a:srgbClr val="FFFFFF"/>
                </a:solidFill>
                <a:latin typeface="Goudy Old Style"/>
                <a:cs typeface="Goudy Old Style"/>
              </a:rPr>
              <a:t>is </a:t>
            </a:r>
            <a:r>
              <a:rPr sz="1800" spc="-10" dirty="0">
                <a:solidFill>
                  <a:srgbClr val="FFFFFF"/>
                </a:solidFill>
                <a:latin typeface="Goudy Old Style"/>
                <a:cs typeface="Goudy Old Style"/>
              </a:rPr>
              <a:t>repeated more  </a:t>
            </a:r>
            <a:r>
              <a:rPr sz="1800" dirty="0">
                <a:solidFill>
                  <a:srgbClr val="FFFFFF"/>
                </a:solidFill>
                <a:latin typeface="Goudy Old Style"/>
                <a:cs typeface="Goudy Old Style"/>
              </a:rPr>
              <a:t>than</a:t>
            </a:r>
            <a:r>
              <a:rPr sz="1800" spc="-15" dirty="0">
                <a:solidFill>
                  <a:srgbClr val="FFFFFF"/>
                </a:solidFill>
                <a:latin typeface="Goudy Old Style"/>
                <a:cs typeface="Goudy Old Style"/>
              </a:rPr>
              <a:t> </a:t>
            </a:r>
            <a:r>
              <a:rPr sz="1800" spc="-5" dirty="0">
                <a:solidFill>
                  <a:srgbClr val="FFFFFF"/>
                </a:solidFill>
                <a:latin typeface="Goudy Old Style"/>
                <a:cs typeface="Goudy Old Style"/>
              </a:rPr>
              <a:t>once</a:t>
            </a:r>
            <a:endParaRPr sz="1800">
              <a:latin typeface="Goudy Old Style"/>
              <a:cs typeface="Goudy Old Style"/>
            </a:endParaRPr>
          </a:p>
        </p:txBody>
      </p:sp>
      <p:sp>
        <p:nvSpPr>
          <p:cNvPr id="10" name="object 10"/>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16</a:t>
            </a:fld>
            <a:endParaRPr sz="1200"/>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7" name="object 7"/>
          <p:cNvSpPr txBox="1"/>
          <p:nvPr/>
        </p:nvSpPr>
        <p:spPr>
          <a:xfrm>
            <a:off x="1090422" y="4240529"/>
            <a:ext cx="5259705" cy="299720"/>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3695" algn="l"/>
                <a:tab pos="354330" algn="l"/>
              </a:tabLst>
            </a:pPr>
            <a:r>
              <a:rPr sz="1800" spc="-10" dirty="0">
                <a:latin typeface="Goudy Old Style"/>
                <a:cs typeface="Goudy Old Style"/>
              </a:rPr>
              <a:t>Following </a:t>
            </a:r>
            <a:r>
              <a:rPr sz="1800" dirty="0">
                <a:latin typeface="Goudy Old Style"/>
                <a:cs typeface="Goudy Old Style"/>
              </a:rPr>
              <a:t>table </a:t>
            </a:r>
            <a:r>
              <a:rPr sz="1800" spc="-5" dirty="0">
                <a:latin typeface="Goudy Old Style"/>
                <a:cs typeface="Goudy Old Style"/>
              </a:rPr>
              <a:t>depicts structure of </a:t>
            </a:r>
            <a:r>
              <a:rPr sz="1800" dirty="0">
                <a:latin typeface="Goudy Old Style"/>
                <a:cs typeface="Goudy Old Style"/>
              </a:rPr>
              <a:t>a </a:t>
            </a:r>
            <a:r>
              <a:rPr sz="1800" spc="25" dirty="0">
                <a:latin typeface="Goudy Old Style"/>
                <a:cs typeface="Goudy Old Style"/>
              </a:rPr>
              <a:t>flat </a:t>
            </a:r>
            <a:r>
              <a:rPr sz="1800" dirty="0">
                <a:latin typeface="Goudy Old Style"/>
                <a:cs typeface="Goudy Old Style"/>
              </a:rPr>
              <a:t>file</a:t>
            </a:r>
            <a:r>
              <a:rPr sz="1800" spc="-75" dirty="0">
                <a:latin typeface="Goudy Old Style"/>
                <a:cs typeface="Goudy Old Style"/>
              </a:rPr>
              <a:t> </a:t>
            </a:r>
            <a:r>
              <a:rPr sz="1800" spc="-5" dirty="0">
                <a:latin typeface="Goudy Old Style"/>
                <a:cs typeface="Goudy Old Style"/>
              </a:rPr>
              <a:t>database:</a:t>
            </a:r>
            <a:endParaRPr sz="1800">
              <a:latin typeface="Goudy Old Style"/>
              <a:cs typeface="Goudy Old Style"/>
            </a:endParaRPr>
          </a:p>
        </p:txBody>
      </p:sp>
      <p:graphicFrame>
        <p:nvGraphicFramePr>
          <p:cNvPr id="8" name="object 8"/>
          <p:cNvGraphicFramePr>
            <a:graphicFrameLocks noGrp="1"/>
          </p:cNvGraphicFramePr>
          <p:nvPr/>
        </p:nvGraphicFramePr>
        <p:xfrm>
          <a:off x="1136650" y="4623942"/>
          <a:ext cx="6859270" cy="1836952"/>
        </p:xfrm>
        <a:graphic>
          <a:graphicData uri="http://schemas.openxmlformats.org/drawingml/2006/table">
            <a:tbl>
              <a:tblPr firstRow="1" bandRow="1">
                <a:tableStyleId>{2D5ABB26-0587-4C30-8999-92F81FD0307C}</a:tableStyleId>
              </a:tblPr>
              <a:tblGrid>
                <a:gridCol w="1247140">
                  <a:extLst>
                    <a:ext uri="{9D8B030D-6E8A-4147-A177-3AD203B41FA5}">
                      <a16:colId xmlns:a16="http://schemas.microsoft.com/office/drawing/2014/main" val="20000"/>
                    </a:ext>
                  </a:extLst>
                </a:gridCol>
                <a:gridCol w="1247140">
                  <a:extLst>
                    <a:ext uri="{9D8B030D-6E8A-4147-A177-3AD203B41FA5}">
                      <a16:colId xmlns:a16="http://schemas.microsoft.com/office/drawing/2014/main" val="20001"/>
                    </a:ext>
                  </a:extLst>
                </a:gridCol>
                <a:gridCol w="1544955">
                  <a:extLst>
                    <a:ext uri="{9D8B030D-6E8A-4147-A177-3AD203B41FA5}">
                      <a16:colId xmlns:a16="http://schemas.microsoft.com/office/drawing/2014/main" val="20002"/>
                    </a:ext>
                  </a:extLst>
                </a:gridCol>
                <a:gridCol w="1711325">
                  <a:extLst>
                    <a:ext uri="{9D8B030D-6E8A-4147-A177-3AD203B41FA5}">
                      <a16:colId xmlns:a16="http://schemas.microsoft.com/office/drawing/2014/main" val="20003"/>
                    </a:ext>
                  </a:extLst>
                </a:gridCol>
                <a:gridCol w="1108710">
                  <a:extLst>
                    <a:ext uri="{9D8B030D-6E8A-4147-A177-3AD203B41FA5}">
                      <a16:colId xmlns:a16="http://schemas.microsoft.com/office/drawing/2014/main" val="20004"/>
                    </a:ext>
                  </a:extLst>
                </a:gridCol>
              </a:tblGrid>
              <a:tr h="533400">
                <a:tc>
                  <a:txBody>
                    <a:bodyPr/>
                    <a:lstStyle/>
                    <a:p>
                      <a:pPr marL="170180">
                        <a:lnSpc>
                          <a:spcPct val="100000"/>
                        </a:lnSpc>
                        <a:spcBef>
                          <a:spcPts val="865"/>
                        </a:spcBef>
                      </a:pPr>
                      <a:r>
                        <a:rPr sz="1200" b="1" spc="-5" dirty="0">
                          <a:solidFill>
                            <a:srgbClr val="FFFFFF"/>
                          </a:solidFill>
                          <a:latin typeface="Arial"/>
                          <a:cs typeface="Arial"/>
                        </a:rPr>
                        <a:t>Roll Number</a:t>
                      </a:r>
                      <a:endParaRPr sz="1200">
                        <a:latin typeface="Arial"/>
                        <a:cs typeface="Arial"/>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6375E"/>
                    </a:solidFill>
                  </a:tcPr>
                </a:tc>
                <a:tc>
                  <a:txBody>
                    <a:bodyPr/>
                    <a:lstStyle/>
                    <a:p>
                      <a:pPr marL="229235">
                        <a:lnSpc>
                          <a:spcPct val="100000"/>
                        </a:lnSpc>
                        <a:spcBef>
                          <a:spcPts val="865"/>
                        </a:spcBef>
                      </a:pPr>
                      <a:r>
                        <a:rPr sz="1200" b="1" dirty="0">
                          <a:solidFill>
                            <a:srgbClr val="FFFFFF"/>
                          </a:solidFill>
                          <a:latin typeface="Arial"/>
                          <a:cs typeface="Arial"/>
                        </a:rPr>
                        <a:t>First</a:t>
                      </a:r>
                      <a:r>
                        <a:rPr sz="1200" b="1" spc="-15" dirty="0">
                          <a:solidFill>
                            <a:srgbClr val="FFFFFF"/>
                          </a:solidFill>
                          <a:latin typeface="Arial"/>
                          <a:cs typeface="Arial"/>
                        </a:rPr>
                        <a:t> </a:t>
                      </a:r>
                      <a:r>
                        <a:rPr sz="1200" b="1" spc="-5" dirty="0">
                          <a:solidFill>
                            <a:srgbClr val="FFFFFF"/>
                          </a:solidFill>
                          <a:latin typeface="Arial"/>
                          <a:cs typeface="Arial"/>
                        </a:rPr>
                        <a:t>Name</a:t>
                      </a:r>
                      <a:endParaRPr sz="1200">
                        <a:latin typeface="Arial"/>
                        <a:cs typeface="Arial"/>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6375E"/>
                    </a:solidFill>
                  </a:tcPr>
                </a:tc>
                <a:tc>
                  <a:txBody>
                    <a:bodyPr/>
                    <a:lstStyle/>
                    <a:p>
                      <a:pPr marL="387350">
                        <a:lnSpc>
                          <a:spcPct val="100000"/>
                        </a:lnSpc>
                        <a:spcBef>
                          <a:spcPts val="865"/>
                        </a:spcBef>
                      </a:pPr>
                      <a:r>
                        <a:rPr sz="1200" b="1" spc="-5" dirty="0">
                          <a:solidFill>
                            <a:srgbClr val="FFFFFF"/>
                          </a:solidFill>
                          <a:latin typeface="Arial"/>
                          <a:cs typeface="Arial"/>
                        </a:rPr>
                        <a:t>Last</a:t>
                      </a:r>
                      <a:r>
                        <a:rPr sz="1200" b="1" spc="-10" dirty="0">
                          <a:solidFill>
                            <a:srgbClr val="FFFFFF"/>
                          </a:solidFill>
                          <a:latin typeface="Arial"/>
                          <a:cs typeface="Arial"/>
                        </a:rPr>
                        <a:t> </a:t>
                      </a:r>
                      <a:r>
                        <a:rPr sz="1200" b="1" spc="-5" dirty="0">
                          <a:solidFill>
                            <a:srgbClr val="FFFFFF"/>
                          </a:solidFill>
                          <a:latin typeface="Arial"/>
                          <a:cs typeface="Arial"/>
                        </a:rPr>
                        <a:t>Name</a:t>
                      </a:r>
                      <a:endParaRPr sz="1200">
                        <a:latin typeface="Arial"/>
                        <a:cs typeface="Arial"/>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6375E"/>
                    </a:solidFill>
                  </a:tcPr>
                </a:tc>
                <a:tc>
                  <a:txBody>
                    <a:bodyPr/>
                    <a:lstStyle/>
                    <a:p>
                      <a:pPr algn="ctr">
                        <a:lnSpc>
                          <a:spcPct val="100000"/>
                        </a:lnSpc>
                        <a:spcBef>
                          <a:spcPts val="865"/>
                        </a:spcBef>
                      </a:pPr>
                      <a:r>
                        <a:rPr sz="1200" b="1" spc="-5" dirty="0">
                          <a:solidFill>
                            <a:srgbClr val="FFFFFF"/>
                          </a:solidFill>
                          <a:latin typeface="Arial"/>
                          <a:cs typeface="Arial"/>
                        </a:rPr>
                        <a:t>Subject</a:t>
                      </a:r>
                      <a:endParaRPr sz="1200">
                        <a:latin typeface="Arial"/>
                        <a:cs typeface="Arial"/>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6375E"/>
                    </a:solidFill>
                  </a:tcPr>
                </a:tc>
                <a:tc>
                  <a:txBody>
                    <a:bodyPr/>
                    <a:lstStyle/>
                    <a:p>
                      <a:pPr marL="334010">
                        <a:lnSpc>
                          <a:spcPct val="100000"/>
                        </a:lnSpc>
                        <a:spcBef>
                          <a:spcPts val="865"/>
                        </a:spcBef>
                      </a:pPr>
                      <a:r>
                        <a:rPr sz="1200" b="1" spc="-5" dirty="0">
                          <a:solidFill>
                            <a:srgbClr val="FFFFFF"/>
                          </a:solidFill>
                          <a:latin typeface="Arial"/>
                          <a:cs typeface="Arial"/>
                        </a:rPr>
                        <a:t>Marks</a:t>
                      </a:r>
                      <a:endParaRPr sz="1200">
                        <a:latin typeface="Arial"/>
                        <a:cs typeface="Arial"/>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6375E"/>
                    </a:solidFill>
                  </a:tcPr>
                </a:tc>
                <a:extLst>
                  <a:ext uri="{0D108BD9-81ED-4DB2-BD59-A6C34878D82A}">
                    <a16:rowId xmlns:a16="http://schemas.microsoft.com/office/drawing/2014/main" val="10000"/>
                  </a:ext>
                </a:extLst>
              </a:tr>
              <a:tr h="376428">
                <a:tc>
                  <a:txBody>
                    <a:bodyPr/>
                    <a:lstStyle/>
                    <a:p>
                      <a:pPr marL="91440">
                        <a:lnSpc>
                          <a:spcPct val="100000"/>
                        </a:lnSpc>
                        <a:spcBef>
                          <a:spcPts val="795"/>
                        </a:spcBef>
                      </a:pPr>
                      <a:r>
                        <a:rPr sz="1100" spc="-5" dirty="0">
                          <a:latin typeface="Arial"/>
                          <a:cs typeface="Arial"/>
                        </a:rPr>
                        <a:t>45</a:t>
                      </a:r>
                      <a:endParaRPr sz="1100">
                        <a:latin typeface="Arial"/>
                        <a:cs typeface="Arial"/>
                      </a:endParaRPr>
                    </a:p>
                  </a:txBody>
                  <a:tcPr marL="0" marR="0" marT="1009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7D2DF"/>
                    </a:solidFill>
                  </a:tcPr>
                </a:tc>
                <a:tc>
                  <a:txBody>
                    <a:bodyPr/>
                    <a:lstStyle/>
                    <a:p>
                      <a:pPr marL="91440">
                        <a:lnSpc>
                          <a:spcPct val="100000"/>
                        </a:lnSpc>
                        <a:spcBef>
                          <a:spcPts val="795"/>
                        </a:spcBef>
                      </a:pPr>
                      <a:r>
                        <a:rPr sz="1100" spc="-5" dirty="0">
                          <a:latin typeface="Arial"/>
                          <a:cs typeface="Arial"/>
                        </a:rPr>
                        <a:t>Jones</a:t>
                      </a:r>
                      <a:endParaRPr sz="1100">
                        <a:latin typeface="Arial"/>
                        <a:cs typeface="Arial"/>
                      </a:endParaRPr>
                    </a:p>
                  </a:txBody>
                  <a:tcPr marL="0" marR="0" marT="1009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7D2DF"/>
                    </a:solidFill>
                  </a:tcPr>
                </a:tc>
                <a:tc>
                  <a:txBody>
                    <a:bodyPr/>
                    <a:lstStyle/>
                    <a:p>
                      <a:pPr marL="91440">
                        <a:lnSpc>
                          <a:spcPct val="100000"/>
                        </a:lnSpc>
                        <a:spcBef>
                          <a:spcPts val="795"/>
                        </a:spcBef>
                      </a:pPr>
                      <a:r>
                        <a:rPr sz="1100" spc="-5" dirty="0">
                          <a:latin typeface="Arial"/>
                          <a:cs typeface="Arial"/>
                        </a:rPr>
                        <a:t>Bill</a:t>
                      </a:r>
                      <a:endParaRPr sz="1100">
                        <a:latin typeface="Arial"/>
                        <a:cs typeface="Arial"/>
                      </a:endParaRPr>
                    </a:p>
                  </a:txBody>
                  <a:tcPr marL="0" marR="0" marT="1009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7D2DF"/>
                    </a:solidFill>
                  </a:tcPr>
                </a:tc>
                <a:tc>
                  <a:txBody>
                    <a:bodyPr/>
                    <a:lstStyle/>
                    <a:p>
                      <a:pPr marL="91440">
                        <a:lnSpc>
                          <a:spcPct val="100000"/>
                        </a:lnSpc>
                        <a:spcBef>
                          <a:spcPts val="795"/>
                        </a:spcBef>
                      </a:pPr>
                      <a:r>
                        <a:rPr sz="1100" spc="-5" dirty="0">
                          <a:latin typeface="Arial"/>
                          <a:cs typeface="Arial"/>
                        </a:rPr>
                        <a:t>Maths</a:t>
                      </a:r>
                      <a:endParaRPr sz="1100">
                        <a:latin typeface="Arial"/>
                        <a:cs typeface="Arial"/>
                      </a:endParaRPr>
                    </a:p>
                  </a:txBody>
                  <a:tcPr marL="0" marR="0" marT="1009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7D2DF"/>
                    </a:solidFill>
                  </a:tcPr>
                </a:tc>
                <a:tc>
                  <a:txBody>
                    <a:bodyPr/>
                    <a:lstStyle/>
                    <a:p>
                      <a:pPr marL="91440">
                        <a:lnSpc>
                          <a:spcPct val="100000"/>
                        </a:lnSpc>
                        <a:spcBef>
                          <a:spcPts val="990"/>
                        </a:spcBef>
                      </a:pPr>
                      <a:r>
                        <a:rPr sz="1050" spc="5" dirty="0">
                          <a:latin typeface="Arial"/>
                          <a:cs typeface="Arial"/>
                        </a:rPr>
                        <a:t>84</a:t>
                      </a:r>
                      <a:endParaRPr sz="1050">
                        <a:latin typeface="Arial"/>
                        <a:cs typeface="Arial"/>
                      </a:endParaRPr>
                    </a:p>
                  </a:txBody>
                  <a:tcPr marL="0" marR="0" marT="12573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7D2DF"/>
                    </a:solidFill>
                  </a:tcPr>
                </a:tc>
                <a:extLst>
                  <a:ext uri="{0D108BD9-81ED-4DB2-BD59-A6C34878D82A}">
                    <a16:rowId xmlns:a16="http://schemas.microsoft.com/office/drawing/2014/main" val="10001"/>
                  </a:ext>
                </a:extLst>
              </a:tr>
              <a:tr h="376529">
                <a:tc>
                  <a:txBody>
                    <a:bodyPr/>
                    <a:lstStyle/>
                    <a:p>
                      <a:pPr marL="91440">
                        <a:lnSpc>
                          <a:spcPct val="100000"/>
                        </a:lnSpc>
                        <a:spcBef>
                          <a:spcPts val="795"/>
                        </a:spcBef>
                      </a:pPr>
                      <a:r>
                        <a:rPr sz="1100" spc="-5" dirty="0">
                          <a:latin typeface="Arial"/>
                          <a:cs typeface="Arial"/>
                        </a:rPr>
                        <a:t>45</a:t>
                      </a:r>
                      <a:endParaRPr sz="1100">
                        <a:latin typeface="Arial"/>
                        <a:cs typeface="Arial"/>
                      </a:endParaRPr>
                    </a:p>
                  </a:txBody>
                  <a:tcPr marL="0" marR="0" marT="1009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EAEF"/>
                    </a:solidFill>
                  </a:tcPr>
                </a:tc>
                <a:tc>
                  <a:txBody>
                    <a:bodyPr/>
                    <a:lstStyle/>
                    <a:p>
                      <a:pPr marL="91440">
                        <a:lnSpc>
                          <a:spcPct val="100000"/>
                        </a:lnSpc>
                        <a:spcBef>
                          <a:spcPts val="795"/>
                        </a:spcBef>
                      </a:pPr>
                      <a:r>
                        <a:rPr sz="1100" spc="-5" dirty="0">
                          <a:latin typeface="Arial"/>
                          <a:cs typeface="Arial"/>
                        </a:rPr>
                        <a:t>Jones</a:t>
                      </a:r>
                      <a:endParaRPr sz="1100">
                        <a:latin typeface="Arial"/>
                        <a:cs typeface="Arial"/>
                      </a:endParaRPr>
                    </a:p>
                  </a:txBody>
                  <a:tcPr marL="0" marR="0" marT="1009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EAEF"/>
                    </a:solidFill>
                  </a:tcPr>
                </a:tc>
                <a:tc>
                  <a:txBody>
                    <a:bodyPr/>
                    <a:lstStyle/>
                    <a:p>
                      <a:pPr marL="91440">
                        <a:lnSpc>
                          <a:spcPct val="100000"/>
                        </a:lnSpc>
                        <a:spcBef>
                          <a:spcPts val="795"/>
                        </a:spcBef>
                      </a:pPr>
                      <a:r>
                        <a:rPr sz="1100" spc="-5" dirty="0">
                          <a:latin typeface="Arial"/>
                          <a:cs typeface="Arial"/>
                        </a:rPr>
                        <a:t>Bill</a:t>
                      </a:r>
                      <a:endParaRPr sz="1100">
                        <a:latin typeface="Arial"/>
                        <a:cs typeface="Arial"/>
                      </a:endParaRPr>
                    </a:p>
                  </a:txBody>
                  <a:tcPr marL="0" marR="0" marT="1009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EAEF"/>
                    </a:solidFill>
                  </a:tcPr>
                </a:tc>
                <a:tc>
                  <a:txBody>
                    <a:bodyPr/>
                    <a:lstStyle/>
                    <a:p>
                      <a:pPr marL="91440">
                        <a:lnSpc>
                          <a:spcPct val="100000"/>
                        </a:lnSpc>
                        <a:spcBef>
                          <a:spcPts val="990"/>
                        </a:spcBef>
                      </a:pPr>
                      <a:r>
                        <a:rPr sz="1050" spc="5" dirty="0">
                          <a:latin typeface="Arial"/>
                          <a:cs typeface="Arial"/>
                        </a:rPr>
                        <a:t>Science</a:t>
                      </a:r>
                      <a:endParaRPr sz="1050">
                        <a:latin typeface="Arial"/>
                        <a:cs typeface="Arial"/>
                      </a:endParaRPr>
                    </a:p>
                  </a:txBody>
                  <a:tcPr marL="0" marR="0" marT="1257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EAEF"/>
                    </a:solidFill>
                  </a:tcPr>
                </a:tc>
                <a:tc>
                  <a:txBody>
                    <a:bodyPr/>
                    <a:lstStyle/>
                    <a:p>
                      <a:pPr marL="91440">
                        <a:lnSpc>
                          <a:spcPct val="100000"/>
                        </a:lnSpc>
                        <a:spcBef>
                          <a:spcPts val="990"/>
                        </a:spcBef>
                      </a:pPr>
                      <a:r>
                        <a:rPr sz="1050" spc="5" dirty="0">
                          <a:latin typeface="Arial"/>
                          <a:cs typeface="Arial"/>
                        </a:rPr>
                        <a:t>75</a:t>
                      </a:r>
                      <a:endParaRPr sz="1050">
                        <a:latin typeface="Arial"/>
                        <a:cs typeface="Arial"/>
                      </a:endParaRPr>
                    </a:p>
                  </a:txBody>
                  <a:tcPr marL="0" marR="0" marT="1257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EAEF"/>
                    </a:solidFill>
                  </a:tcPr>
                </a:tc>
                <a:extLst>
                  <a:ext uri="{0D108BD9-81ED-4DB2-BD59-A6C34878D82A}">
                    <a16:rowId xmlns:a16="http://schemas.microsoft.com/office/drawing/2014/main" val="10002"/>
                  </a:ext>
                </a:extLst>
              </a:tr>
              <a:tr h="550595">
                <a:tc>
                  <a:txBody>
                    <a:bodyPr/>
                    <a:lstStyle/>
                    <a:p>
                      <a:pPr>
                        <a:lnSpc>
                          <a:spcPct val="100000"/>
                        </a:lnSpc>
                        <a:spcBef>
                          <a:spcPts val="40"/>
                        </a:spcBef>
                      </a:pPr>
                      <a:endParaRPr sz="1250">
                        <a:latin typeface="Times New Roman"/>
                        <a:cs typeface="Times New Roman"/>
                      </a:endParaRPr>
                    </a:p>
                    <a:p>
                      <a:pPr marL="91440">
                        <a:lnSpc>
                          <a:spcPct val="100000"/>
                        </a:lnSpc>
                      </a:pPr>
                      <a:r>
                        <a:rPr sz="1100" spc="-5" dirty="0">
                          <a:latin typeface="Arial"/>
                          <a:cs typeface="Arial"/>
                        </a:rPr>
                        <a:t>50</a:t>
                      </a:r>
                      <a:endParaRPr sz="1100">
                        <a:latin typeface="Arial"/>
                        <a:cs typeface="Arial"/>
                      </a:endParaRPr>
                    </a:p>
                  </a:txBody>
                  <a:tcPr marL="0" marR="0" marT="50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7D2DF"/>
                    </a:solidFill>
                  </a:tcPr>
                </a:tc>
                <a:tc>
                  <a:txBody>
                    <a:bodyPr/>
                    <a:lstStyle/>
                    <a:p>
                      <a:pPr>
                        <a:lnSpc>
                          <a:spcPct val="100000"/>
                        </a:lnSpc>
                        <a:spcBef>
                          <a:spcPts val="40"/>
                        </a:spcBef>
                      </a:pPr>
                      <a:endParaRPr sz="1250">
                        <a:latin typeface="Times New Roman"/>
                        <a:cs typeface="Times New Roman"/>
                      </a:endParaRPr>
                    </a:p>
                    <a:p>
                      <a:pPr marL="91440">
                        <a:lnSpc>
                          <a:spcPct val="100000"/>
                        </a:lnSpc>
                      </a:pPr>
                      <a:r>
                        <a:rPr sz="1100" spc="-5" dirty="0">
                          <a:latin typeface="Arial"/>
                          <a:cs typeface="Arial"/>
                        </a:rPr>
                        <a:t>Mary</a:t>
                      </a:r>
                      <a:endParaRPr sz="1100">
                        <a:latin typeface="Arial"/>
                        <a:cs typeface="Arial"/>
                      </a:endParaRPr>
                    </a:p>
                  </a:txBody>
                  <a:tcPr marL="0" marR="0" marT="50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7D2DF"/>
                    </a:solidFill>
                  </a:tcPr>
                </a:tc>
                <a:tc>
                  <a:txBody>
                    <a:bodyPr/>
                    <a:lstStyle/>
                    <a:p>
                      <a:pPr>
                        <a:lnSpc>
                          <a:spcPct val="100000"/>
                        </a:lnSpc>
                        <a:spcBef>
                          <a:spcPts val="40"/>
                        </a:spcBef>
                      </a:pPr>
                      <a:endParaRPr sz="1250">
                        <a:latin typeface="Times New Roman"/>
                        <a:cs typeface="Times New Roman"/>
                      </a:endParaRPr>
                    </a:p>
                    <a:p>
                      <a:pPr marL="91440">
                        <a:lnSpc>
                          <a:spcPct val="100000"/>
                        </a:lnSpc>
                      </a:pPr>
                      <a:r>
                        <a:rPr sz="1100" spc="-5" dirty="0">
                          <a:latin typeface="Arial"/>
                          <a:cs typeface="Arial"/>
                        </a:rPr>
                        <a:t>Mathew</a:t>
                      </a:r>
                      <a:endParaRPr sz="1100">
                        <a:latin typeface="Arial"/>
                        <a:cs typeface="Arial"/>
                      </a:endParaRPr>
                    </a:p>
                  </a:txBody>
                  <a:tcPr marL="0" marR="0" marT="50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7D2DF"/>
                    </a:solidFill>
                  </a:tcPr>
                </a:tc>
                <a:tc>
                  <a:txBody>
                    <a:bodyPr/>
                    <a:lstStyle/>
                    <a:p>
                      <a:pPr marL="91440">
                        <a:lnSpc>
                          <a:spcPct val="100000"/>
                        </a:lnSpc>
                        <a:spcBef>
                          <a:spcPts val="1040"/>
                        </a:spcBef>
                      </a:pPr>
                      <a:r>
                        <a:rPr sz="1050" spc="5" dirty="0">
                          <a:latin typeface="Arial"/>
                          <a:cs typeface="Arial"/>
                        </a:rPr>
                        <a:t>Science</a:t>
                      </a:r>
                      <a:endParaRPr sz="1050">
                        <a:latin typeface="Arial"/>
                        <a:cs typeface="Arial"/>
                      </a:endParaRPr>
                    </a:p>
                  </a:txBody>
                  <a:tcPr marL="0" marR="0" marT="1320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7D2DF"/>
                    </a:solidFill>
                  </a:tcPr>
                </a:tc>
                <a:tc>
                  <a:txBody>
                    <a:bodyPr/>
                    <a:lstStyle/>
                    <a:p>
                      <a:pPr>
                        <a:lnSpc>
                          <a:spcPct val="100000"/>
                        </a:lnSpc>
                        <a:spcBef>
                          <a:spcPts val="10"/>
                        </a:spcBef>
                      </a:pPr>
                      <a:endParaRPr sz="1450">
                        <a:latin typeface="Times New Roman"/>
                        <a:cs typeface="Times New Roman"/>
                      </a:endParaRPr>
                    </a:p>
                    <a:p>
                      <a:pPr marL="91440">
                        <a:lnSpc>
                          <a:spcPct val="100000"/>
                        </a:lnSpc>
                      </a:pPr>
                      <a:r>
                        <a:rPr sz="1050" spc="5" dirty="0">
                          <a:latin typeface="Arial"/>
                          <a:cs typeface="Arial"/>
                        </a:rPr>
                        <a:t>80</a:t>
                      </a:r>
                      <a:endParaRPr sz="1050">
                        <a:latin typeface="Arial"/>
                        <a:cs typeface="Arial"/>
                      </a:endParaRPr>
                    </a:p>
                  </a:txBody>
                  <a:tcPr marL="0" marR="0" marT="12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7D2D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5724525" cy="635635"/>
          </a:xfrm>
          <a:prstGeom prst="rect">
            <a:avLst/>
          </a:prstGeom>
        </p:spPr>
        <p:txBody>
          <a:bodyPr vert="horz" wrap="square" lIns="0" tIns="12700" rIns="0" bIns="0" rtlCol="0">
            <a:spAutoFit/>
          </a:bodyPr>
          <a:lstStyle/>
          <a:p>
            <a:pPr marL="12700">
              <a:lnSpc>
                <a:spcPct val="100000"/>
              </a:lnSpc>
              <a:spcBef>
                <a:spcPts val="100"/>
              </a:spcBef>
            </a:pPr>
            <a:r>
              <a:rPr sz="4000" b="0" spc="-10" dirty="0">
                <a:latin typeface="Goudy Old Style"/>
                <a:cs typeface="Goudy Old Style"/>
              </a:rPr>
              <a:t>Hierarchical </a:t>
            </a:r>
            <a:r>
              <a:rPr sz="4000" b="0" spc="10" dirty="0">
                <a:latin typeface="Goudy Old Style"/>
                <a:cs typeface="Goudy Old Style"/>
              </a:rPr>
              <a:t>Data </a:t>
            </a:r>
            <a:r>
              <a:rPr sz="4000" b="0" spc="-5" dirty="0">
                <a:latin typeface="Goudy Old Style"/>
                <a:cs typeface="Goudy Old Style"/>
              </a:rPr>
              <a:t>Model</a:t>
            </a:r>
            <a:r>
              <a:rPr sz="4000" b="0" spc="-110" dirty="0">
                <a:latin typeface="Goudy Old Style"/>
                <a:cs typeface="Goudy Old Style"/>
              </a:rPr>
              <a:t> </a:t>
            </a:r>
            <a:r>
              <a:rPr sz="4000" b="0" spc="-5" dirty="0">
                <a:latin typeface="Goudy Old Style"/>
                <a:cs typeface="Goudy Old Style"/>
              </a:rPr>
              <a:t>1-3</a:t>
            </a:r>
            <a:endParaRPr sz="4000">
              <a:latin typeface="Goudy Old Style"/>
              <a:cs typeface="Goudy Old Style"/>
            </a:endParaRPr>
          </a:p>
        </p:txBody>
      </p:sp>
      <p:pic>
        <p:nvPicPr>
          <p:cNvPr id="3" name="object 3"/>
          <p:cNvPicPr/>
          <p:nvPr/>
        </p:nvPicPr>
        <p:blipFill>
          <a:blip r:embed="rId3" cstate="print"/>
          <a:stretch>
            <a:fillRect/>
          </a:stretch>
        </p:blipFill>
        <p:spPr>
          <a:xfrm>
            <a:off x="339090" y="4019537"/>
            <a:ext cx="8234933" cy="843546"/>
          </a:xfrm>
          <a:prstGeom prst="rect">
            <a:avLst/>
          </a:prstGeom>
        </p:spPr>
      </p:pic>
      <p:grpSp>
        <p:nvGrpSpPr>
          <p:cNvPr id="4" name="object 4"/>
          <p:cNvGrpSpPr/>
          <p:nvPr/>
        </p:nvGrpSpPr>
        <p:grpSpPr>
          <a:xfrm>
            <a:off x="339090" y="1245857"/>
            <a:ext cx="8235315" cy="2703195"/>
            <a:chOff x="339090" y="1245857"/>
            <a:chExt cx="8235315" cy="2703195"/>
          </a:xfrm>
        </p:grpSpPr>
        <p:pic>
          <p:nvPicPr>
            <p:cNvPr id="5" name="object 5"/>
            <p:cNvPicPr/>
            <p:nvPr/>
          </p:nvPicPr>
          <p:blipFill>
            <a:blip r:embed="rId4" cstate="print"/>
            <a:stretch>
              <a:fillRect/>
            </a:stretch>
          </p:blipFill>
          <p:spPr>
            <a:xfrm>
              <a:off x="339090" y="1245857"/>
              <a:ext cx="8234933" cy="919746"/>
            </a:xfrm>
            <a:prstGeom prst="rect">
              <a:avLst/>
            </a:prstGeom>
          </p:spPr>
        </p:pic>
        <p:pic>
          <p:nvPicPr>
            <p:cNvPr id="6" name="object 6"/>
            <p:cNvPicPr/>
            <p:nvPr/>
          </p:nvPicPr>
          <p:blipFill>
            <a:blip r:embed="rId3" cstate="print"/>
            <a:stretch>
              <a:fillRect/>
            </a:stretch>
          </p:blipFill>
          <p:spPr>
            <a:xfrm>
              <a:off x="339090" y="2141969"/>
              <a:ext cx="8234933" cy="843546"/>
            </a:xfrm>
            <a:prstGeom prst="rect">
              <a:avLst/>
            </a:prstGeom>
          </p:spPr>
        </p:pic>
        <p:pic>
          <p:nvPicPr>
            <p:cNvPr id="7" name="object 7"/>
            <p:cNvPicPr/>
            <p:nvPr/>
          </p:nvPicPr>
          <p:blipFill>
            <a:blip r:embed="rId5" cstate="print"/>
            <a:stretch>
              <a:fillRect/>
            </a:stretch>
          </p:blipFill>
          <p:spPr>
            <a:xfrm>
              <a:off x="339090" y="3028937"/>
              <a:ext cx="8234933" cy="919746"/>
            </a:xfrm>
            <a:prstGeom prst="rect">
              <a:avLst/>
            </a:prstGeom>
          </p:spPr>
        </p:pic>
      </p:grpSp>
      <p:pic>
        <p:nvPicPr>
          <p:cNvPr id="8" name="object 8"/>
          <p:cNvPicPr/>
          <p:nvPr/>
        </p:nvPicPr>
        <p:blipFill>
          <a:blip r:embed="rId6" cstate="print"/>
          <a:stretch>
            <a:fillRect/>
          </a:stretch>
        </p:blipFill>
        <p:spPr>
          <a:xfrm>
            <a:off x="339090" y="4933950"/>
            <a:ext cx="8234933" cy="919734"/>
          </a:xfrm>
          <a:prstGeom prst="rect">
            <a:avLst/>
          </a:prstGeom>
        </p:spPr>
      </p:pic>
      <p:sp>
        <p:nvSpPr>
          <p:cNvPr id="9" name="object 9"/>
          <p:cNvSpPr txBox="1"/>
          <p:nvPr/>
        </p:nvSpPr>
        <p:spPr>
          <a:xfrm>
            <a:off x="514095" y="1507235"/>
            <a:ext cx="7424420" cy="411226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FFFFF"/>
                </a:solidFill>
                <a:latin typeface="Goudy Old Style"/>
                <a:cs typeface="Goudy Old Style"/>
              </a:rPr>
              <a:t>Different </a:t>
            </a:r>
            <a:r>
              <a:rPr sz="1800" spc="-15" dirty="0">
                <a:solidFill>
                  <a:srgbClr val="FFFFFF"/>
                </a:solidFill>
                <a:latin typeface="Goudy Old Style"/>
                <a:cs typeface="Goudy Old Style"/>
              </a:rPr>
              <a:t>records </a:t>
            </a:r>
            <a:r>
              <a:rPr sz="1800" spc="-10" dirty="0">
                <a:solidFill>
                  <a:srgbClr val="FFFFFF"/>
                </a:solidFill>
                <a:latin typeface="Goudy Old Style"/>
                <a:cs typeface="Goudy Old Style"/>
              </a:rPr>
              <a:t>are inter-related through hierarchical </a:t>
            </a:r>
            <a:r>
              <a:rPr sz="1800" spc="-5" dirty="0">
                <a:solidFill>
                  <a:srgbClr val="FFFFFF"/>
                </a:solidFill>
                <a:latin typeface="Goudy Old Style"/>
                <a:cs typeface="Goudy Old Style"/>
              </a:rPr>
              <a:t>or tree-like</a:t>
            </a:r>
            <a:r>
              <a:rPr sz="1800" spc="10" dirty="0">
                <a:solidFill>
                  <a:srgbClr val="FFFFFF"/>
                </a:solidFill>
                <a:latin typeface="Goudy Old Style"/>
                <a:cs typeface="Goudy Old Style"/>
              </a:rPr>
              <a:t> </a:t>
            </a:r>
            <a:r>
              <a:rPr sz="1800" spc="-5" dirty="0">
                <a:solidFill>
                  <a:srgbClr val="FFFFFF"/>
                </a:solidFill>
                <a:latin typeface="Goudy Old Style"/>
                <a:cs typeface="Goudy Old Style"/>
              </a:rPr>
              <a:t>structures.</a:t>
            </a:r>
            <a:endParaRPr sz="1800">
              <a:latin typeface="Goudy Old Style"/>
              <a:cs typeface="Goudy Old Style"/>
            </a:endParaRPr>
          </a:p>
          <a:p>
            <a:pPr>
              <a:lnSpc>
                <a:spcPct val="100000"/>
              </a:lnSpc>
            </a:pPr>
            <a:endParaRPr sz="2000">
              <a:latin typeface="Goudy Old Style"/>
              <a:cs typeface="Goudy Old Style"/>
            </a:endParaRPr>
          </a:p>
          <a:p>
            <a:pPr>
              <a:lnSpc>
                <a:spcPct val="100000"/>
              </a:lnSpc>
              <a:spcBef>
                <a:spcPts val="25"/>
              </a:spcBef>
            </a:pPr>
            <a:endParaRPr sz="1650">
              <a:latin typeface="Goudy Old Style"/>
              <a:cs typeface="Goudy Old Style"/>
            </a:endParaRPr>
          </a:p>
          <a:p>
            <a:pPr marL="19050">
              <a:lnSpc>
                <a:spcPct val="100000"/>
              </a:lnSpc>
            </a:pPr>
            <a:r>
              <a:rPr sz="1800" spc="-10" dirty="0">
                <a:solidFill>
                  <a:srgbClr val="FFFFFF"/>
                </a:solidFill>
                <a:latin typeface="Goudy Old Style"/>
                <a:cs typeface="Goudy Old Style"/>
              </a:rPr>
              <a:t>Relationships are </a:t>
            </a:r>
            <a:r>
              <a:rPr sz="1800" spc="-5" dirty="0">
                <a:solidFill>
                  <a:srgbClr val="FFFFFF"/>
                </a:solidFill>
                <a:latin typeface="Goudy Old Style"/>
                <a:cs typeface="Goudy Old Style"/>
              </a:rPr>
              <a:t>thought of </a:t>
            </a:r>
            <a:r>
              <a:rPr sz="1800" dirty="0">
                <a:solidFill>
                  <a:srgbClr val="FFFFFF"/>
                </a:solidFill>
                <a:latin typeface="Goudy Old Style"/>
                <a:cs typeface="Goudy Old Style"/>
              </a:rPr>
              <a:t>in </a:t>
            </a:r>
            <a:r>
              <a:rPr sz="1800" spc="-10" dirty="0">
                <a:solidFill>
                  <a:srgbClr val="FFFFFF"/>
                </a:solidFill>
                <a:latin typeface="Goudy Old Style"/>
                <a:cs typeface="Goudy Old Style"/>
              </a:rPr>
              <a:t>terms </a:t>
            </a:r>
            <a:r>
              <a:rPr sz="1800" spc="-5" dirty="0">
                <a:solidFill>
                  <a:srgbClr val="FFFFFF"/>
                </a:solidFill>
                <a:latin typeface="Goudy Old Style"/>
                <a:cs typeface="Goudy Old Style"/>
              </a:rPr>
              <a:t>of </a:t>
            </a:r>
            <a:r>
              <a:rPr sz="1800" spc="-10" dirty="0">
                <a:solidFill>
                  <a:srgbClr val="FFFFFF"/>
                </a:solidFill>
                <a:latin typeface="Goudy Old Style"/>
                <a:cs typeface="Goudy Old Style"/>
              </a:rPr>
              <a:t>children </a:t>
            </a:r>
            <a:r>
              <a:rPr sz="1800" spc="-5" dirty="0">
                <a:solidFill>
                  <a:srgbClr val="FFFFFF"/>
                </a:solidFill>
                <a:latin typeface="Goudy Old Style"/>
                <a:cs typeface="Goudy Old Style"/>
              </a:rPr>
              <a:t>and</a:t>
            </a:r>
            <a:r>
              <a:rPr sz="1800" spc="25" dirty="0">
                <a:solidFill>
                  <a:srgbClr val="FFFFFF"/>
                </a:solidFill>
                <a:latin typeface="Goudy Old Style"/>
                <a:cs typeface="Goudy Old Style"/>
              </a:rPr>
              <a:t> </a:t>
            </a:r>
            <a:r>
              <a:rPr sz="1800" spc="-10" dirty="0">
                <a:solidFill>
                  <a:srgbClr val="FFFFFF"/>
                </a:solidFill>
                <a:latin typeface="Goudy Old Style"/>
                <a:cs typeface="Goudy Old Style"/>
              </a:rPr>
              <a:t>parents.</a:t>
            </a:r>
            <a:endParaRPr sz="1800">
              <a:latin typeface="Goudy Old Style"/>
              <a:cs typeface="Goudy Old Style"/>
            </a:endParaRPr>
          </a:p>
          <a:p>
            <a:pPr>
              <a:lnSpc>
                <a:spcPct val="100000"/>
              </a:lnSpc>
            </a:pPr>
            <a:endParaRPr sz="2000">
              <a:latin typeface="Goudy Old Style"/>
              <a:cs typeface="Goudy Old Style"/>
            </a:endParaRPr>
          </a:p>
          <a:p>
            <a:pPr>
              <a:lnSpc>
                <a:spcPct val="100000"/>
              </a:lnSpc>
              <a:spcBef>
                <a:spcPts val="35"/>
              </a:spcBef>
            </a:pPr>
            <a:endParaRPr sz="2400">
              <a:latin typeface="Goudy Old Style"/>
              <a:cs typeface="Goudy Old Style"/>
            </a:endParaRPr>
          </a:p>
          <a:p>
            <a:pPr marL="17780">
              <a:lnSpc>
                <a:spcPct val="100000"/>
              </a:lnSpc>
            </a:pPr>
            <a:r>
              <a:rPr sz="1800" dirty="0">
                <a:solidFill>
                  <a:srgbClr val="FFFFFF"/>
                </a:solidFill>
                <a:latin typeface="Goudy Old Style"/>
                <a:cs typeface="Goudy Old Style"/>
              </a:rPr>
              <a:t>A </a:t>
            </a:r>
            <a:r>
              <a:rPr sz="1800" spc="-10" dirty="0">
                <a:solidFill>
                  <a:srgbClr val="FFFFFF"/>
                </a:solidFill>
                <a:latin typeface="Goudy Old Style"/>
                <a:cs typeface="Goudy Old Style"/>
              </a:rPr>
              <a:t>parent </a:t>
            </a:r>
            <a:r>
              <a:rPr sz="1800" spc="-15" dirty="0">
                <a:solidFill>
                  <a:srgbClr val="FFFFFF"/>
                </a:solidFill>
                <a:latin typeface="Goudy Old Style"/>
                <a:cs typeface="Goudy Old Style"/>
              </a:rPr>
              <a:t>record </a:t>
            </a:r>
            <a:r>
              <a:rPr sz="1800" dirty="0">
                <a:solidFill>
                  <a:srgbClr val="FFFFFF"/>
                </a:solidFill>
                <a:latin typeface="Goudy Old Style"/>
                <a:cs typeface="Goudy Old Style"/>
              </a:rPr>
              <a:t>can </a:t>
            </a:r>
            <a:r>
              <a:rPr sz="1800" spc="-15" dirty="0">
                <a:solidFill>
                  <a:srgbClr val="FFFFFF"/>
                </a:solidFill>
                <a:latin typeface="Goudy Old Style"/>
                <a:cs typeface="Goudy Old Style"/>
              </a:rPr>
              <a:t>have </a:t>
            </a:r>
            <a:r>
              <a:rPr sz="1800" spc="-10" dirty="0">
                <a:solidFill>
                  <a:srgbClr val="FFFFFF"/>
                </a:solidFill>
                <a:latin typeface="Goudy Old Style"/>
                <a:cs typeface="Goudy Old Style"/>
              </a:rPr>
              <a:t>several children, </a:t>
            </a:r>
            <a:r>
              <a:rPr sz="1800" dirty="0">
                <a:solidFill>
                  <a:srgbClr val="FFFFFF"/>
                </a:solidFill>
                <a:latin typeface="Goudy Old Style"/>
                <a:cs typeface="Goudy Old Style"/>
              </a:rPr>
              <a:t>but a </a:t>
            </a:r>
            <a:r>
              <a:rPr sz="1800" spc="-10" dirty="0">
                <a:solidFill>
                  <a:srgbClr val="FFFFFF"/>
                </a:solidFill>
                <a:latin typeface="Goudy Old Style"/>
                <a:cs typeface="Goudy Old Style"/>
              </a:rPr>
              <a:t>child </a:t>
            </a:r>
            <a:r>
              <a:rPr sz="1800" dirty="0">
                <a:solidFill>
                  <a:srgbClr val="FFFFFF"/>
                </a:solidFill>
                <a:latin typeface="Goudy Old Style"/>
                <a:cs typeface="Goudy Old Style"/>
              </a:rPr>
              <a:t>can </a:t>
            </a:r>
            <a:r>
              <a:rPr sz="1800" spc="-15" dirty="0">
                <a:solidFill>
                  <a:srgbClr val="FFFFFF"/>
                </a:solidFill>
                <a:latin typeface="Goudy Old Style"/>
                <a:cs typeface="Goudy Old Style"/>
              </a:rPr>
              <a:t>have </a:t>
            </a:r>
            <a:r>
              <a:rPr sz="1800" spc="-5" dirty="0">
                <a:solidFill>
                  <a:srgbClr val="FFFFFF"/>
                </a:solidFill>
                <a:latin typeface="Goudy Old Style"/>
                <a:cs typeface="Goudy Old Style"/>
              </a:rPr>
              <a:t>only one</a:t>
            </a:r>
            <a:r>
              <a:rPr sz="1800" spc="30" dirty="0">
                <a:solidFill>
                  <a:srgbClr val="FFFFFF"/>
                </a:solidFill>
                <a:latin typeface="Goudy Old Style"/>
                <a:cs typeface="Goudy Old Style"/>
              </a:rPr>
              <a:t> </a:t>
            </a:r>
            <a:r>
              <a:rPr sz="1800" spc="-10" dirty="0">
                <a:solidFill>
                  <a:srgbClr val="FFFFFF"/>
                </a:solidFill>
                <a:latin typeface="Goudy Old Style"/>
                <a:cs typeface="Goudy Old Style"/>
              </a:rPr>
              <a:t>parent.</a:t>
            </a:r>
            <a:endParaRPr sz="1800">
              <a:latin typeface="Goudy Old Style"/>
              <a:cs typeface="Goudy Old Style"/>
            </a:endParaRPr>
          </a:p>
          <a:p>
            <a:pPr>
              <a:lnSpc>
                <a:spcPct val="100000"/>
              </a:lnSpc>
            </a:pPr>
            <a:endParaRPr sz="2000">
              <a:latin typeface="Goudy Old Style"/>
              <a:cs typeface="Goudy Old Style"/>
            </a:endParaRPr>
          </a:p>
          <a:p>
            <a:pPr>
              <a:lnSpc>
                <a:spcPct val="100000"/>
              </a:lnSpc>
              <a:spcBef>
                <a:spcPts val="25"/>
              </a:spcBef>
            </a:pPr>
            <a:endParaRPr sz="2450">
              <a:latin typeface="Goudy Old Style"/>
              <a:cs typeface="Goudy Old Style"/>
            </a:endParaRPr>
          </a:p>
          <a:p>
            <a:pPr marL="19050">
              <a:lnSpc>
                <a:spcPct val="100000"/>
              </a:lnSpc>
            </a:pPr>
            <a:r>
              <a:rPr sz="1800" spc="-80" dirty="0">
                <a:solidFill>
                  <a:srgbClr val="FFFFFF"/>
                </a:solidFill>
                <a:latin typeface="Goudy Old Style"/>
                <a:cs typeface="Goudy Old Style"/>
              </a:rPr>
              <a:t>To </a:t>
            </a:r>
            <a:r>
              <a:rPr sz="1800" dirty="0">
                <a:solidFill>
                  <a:srgbClr val="FFFFFF"/>
                </a:solidFill>
                <a:latin typeface="Goudy Old Style"/>
                <a:cs typeface="Goudy Old Style"/>
              </a:rPr>
              <a:t>find data </a:t>
            </a:r>
            <a:r>
              <a:rPr sz="1800" spc="-15" dirty="0">
                <a:solidFill>
                  <a:srgbClr val="FFFFFF"/>
                </a:solidFill>
                <a:latin typeface="Goudy Old Style"/>
                <a:cs typeface="Goudy Old Style"/>
              </a:rPr>
              <a:t>stored </a:t>
            </a:r>
            <a:r>
              <a:rPr sz="1800" dirty="0">
                <a:solidFill>
                  <a:srgbClr val="FFFFFF"/>
                </a:solidFill>
                <a:latin typeface="Goudy Old Style"/>
                <a:cs typeface="Goudy Old Style"/>
              </a:rPr>
              <a:t>in this model, the </a:t>
            </a:r>
            <a:r>
              <a:rPr sz="1800" spc="-5" dirty="0">
                <a:solidFill>
                  <a:srgbClr val="FFFFFF"/>
                </a:solidFill>
                <a:latin typeface="Goudy Old Style"/>
                <a:cs typeface="Goudy Old Style"/>
              </a:rPr>
              <a:t>user needs to </a:t>
            </a:r>
            <a:r>
              <a:rPr sz="1800" spc="-15" dirty="0">
                <a:solidFill>
                  <a:srgbClr val="FFFFFF"/>
                </a:solidFill>
                <a:latin typeface="Goudy Old Style"/>
                <a:cs typeface="Goudy Old Style"/>
              </a:rPr>
              <a:t>know </a:t>
            </a:r>
            <a:r>
              <a:rPr sz="1800" dirty="0">
                <a:solidFill>
                  <a:srgbClr val="FFFFFF"/>
                </a:solidFill>
                <a:latin typeface="Goudy Old Style"/>
                <a:cs typeface="Goudy Old Style"/>
              </a:rPr>
              <a:t>the </a:t>
            </a:r>
            <a:r>
              <a:rPr sz="1800" spc="-5" dirty="0">
                <a:solidFill>
                  <a:srgbClr val="FFFFFF"/>
                </a:solidFill>
                <a:latin typeface="Goudy Old Style"/>
                <a:cs typeface="Goudy Old Style"/>
              </a:rPr>
              <a:t>structure of </a:t>
            </a:r>
            <a:r>
              <a:rPr sz="1800" dirty="0">
                <a:solidFill>
                  <a:srgbClr val="FFFFFF"/>
                </a:solidFill>
                <a:latin typeface="Goudy Old Style"/>
                <a:cs typeface="Goudy Old Style"/>
              </a:rPr>
              <a:t>the</a:t>
            </a:r>
            <a:r>
              <a:rPr sz="1800" spc="45" dirty="0">
                <a:solidFill>
                  <a:srgbClr val="FFFFFF"/>
                </a:solidFill>
                <a:latin typeface="Goudy Old Style"/>
                <a:cs typeface="Goudy Old Style"/>
              </a:rPr>
              <a:t> </a:t>
            </a:r>
            <a:r>
              <a:rPr sz="1800" spc="-10" dirty="0">
                <a:solidFill>
                  <a:srgbClr val="FFFFFF"/>
                </a:solidFill>
                <a:latin typeface="Goudy Old Style"/>
                <a:cs typeface="Goudy Old Style"/>
              </a:rPr>
              <a:t>tree.</a:t>
            </a:r>
            <a:endParaRPr sz="1800">
              <a:latin typeface="Goudy Old Style"/>
              <a:cs typeface="Goudy Old Style"/>
            </a:endParaRPr>
          </a:p>
          <a:p>
            <a:pPr>
              <a:lnSpc>
                <a:spcPct val="100000"/>
              </a:lnSpc>
            </a:pPr>
            <a:endParaRPr sz="2000">
              <a:latin typeface="Goudy Old Style"/>
              <a:cs typeface="Goudy Old Style"/>
            </a:endParaRPr>
          </a:p>
          <a:p>
            <a:pPr>
              <a:lnSpc>
                <a:spcPct val="100000"/>
              </a:lnSpc>
              <a:spcBef>
                <a:spcPts val="30"/>
              </a:spcBef>
            </a:pPr>
            <a:endParaRPr sz="1800">
              <a:latin typeface="Goudy Old Style"/>
              <a:cs typeface="Goudy Old Style"/>
            </a:endParaRPr>
          </a:p>
          <a:p>
            <a:pPr marL="12700" marR="208279">
              <a:lnSpc>
                <a:spcPts val="1939"/>
              </a:lnSpc>
            </a:pPr>
            <a:r>
              <a:rPr sz="1800" spc="-5" dirty="0">
                <a:solidFill>
                  <a:srgbClr val="FFFFFF"/>
                </a:solidFill>
                <a:latin typeface="Goudy Old Style"/>
                <a:cs typeface="Goudy Old Style"/>
              </a:rPr>
              <a:t>Windows </a:t>
            </a:r>
            <a:r>
              <a:rPr sz="1800" dirty="0">
                <a:solidFill>
                  <a:srgbClr val="FFFFFF"/>
                </a:solidFill>
                <a:latin typeface="Goudy Old Style"/>
                <a:cs typeface="Goudy Old Style"/>
              </a:rPr>
              <a:t>Registry is </a:t>
            </a:r>
            <a:r>
              <a:rPr sz="1800" spc="-5" dirty="0">
                <a:solidFill>
                  <a:srgbClr val="FFFFFF"/>
                </a:solidFill>
                <a:latin typeface="Goudy Old Style"/>
                <a:cs typeface="Goudy Old Style"/>
              </a:rPr>
              <a:t>an </a:t>
            </a:r>
            <a:r>
              <a:rPr sz="1800" spc="-10" dirty="0">
                <a:solidFill>
                  <a:srgbClr val="FFFFFF"/>
                </a:solidFill>
                <a:latin typeface="Goudy Old Style"/>
                <a:cs typeface="Goudy Old Style"/>
              </a:rPr>
              <a:t>example </a:t>
            </a:r>
            <a:r>
              <a:rPr sz="1800" dirty="0">
                <a:solidFill>
                  <a:srgbClr val="FFFFFF"/>
                </a:solidFill>
                <a:latin typeface="Goudy Old Style"/>
                <a:cs typeface="Goudy Old Style"/>
              </a:rPr>
              <a:t>of a </a:t>
            </a:r>
            <a:r>
              <a:rPr sz="1800" spc="-5" dirty="0">
                <a:solidFill>
                  <a:srgbClr val="FFFFFF"/>
                </a:solidFill>
                <a:latin typeface="Goudy Old Style"/>
                <a:cs typeface="Goudy Old Style"/>
              </a:rPr>
              <a:t>hierarchical database </a:t>
            </a:r>
            <a:r>
              <a:rPr sz="1800" spc="-10" dirty="0">
                <a:solidFill>
                  <a:srgbClr val="FFFFFF"/>
                </a:solidFill>
                <a:latin typeface="Goudy Old Style"/>
                <a:cs typeface="Goudy Old Style"/>
              </a:rPr>
              <a:t>storing </a:t>
            </a:r>
            <a:r>
              <a:rPr sz="1800" spc="-5" dirty="0">
                <a:solidFill>
                  <a:srgbClr val="FFFFFF"/>
                </a:solidFill>
                <a:latin typeface="Goudy Old Style"/>
                <a:cs typeface="Goudy Old Style"/>
              </a:rPr>
              <a:t>configuration  settings and options on Microsoft Windows operating</a:t>
            </a:r>
            <a:r>
              <a:rPr sz="1800" spc="5" dirty="0">
                <a:solidFill>
                  <a:srgbClr val="FFFFFF"/>
                </a:solidFill>
                <a:latin typeface="Goudy Old Style"/>
                <a:cs typeface="Goudy Old Style"/>
              </a:rPr>
              <a:t> </a:t>
            </a:r>
            <a:r>
              <a:rPr sz="1800" spc="-10" dirty="0">
                <a:solidFill>
                  <a:srgbClr val="FFFFFF"/>
                </a:solidFill>
                <a:latin typeface="Goudy Old Style"/>
                <a:cs typeface="Goudy Old Style"/>
              </a:rPr>
              <a:t>systems.</a:t>
            </a:r>
            <a:endParaRPr sz="1800">
              <a:latin typeface="Goudy Old Style"/>
              <a:cs typeface="Goudy Old Style"/>
            </a:endParaRPr>
          </a:p>
        </p:txBody>
      </p:sp>
      <p:sp>
        <p:nvSpPr>
          <p:cNvPr id="12" name="object 12"/>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17</a:t>
            </a:fld>
            <a:endParaRPr sz="1200"/>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10" name="object 10"/>
          <p:cNvSpPr txBox="1"/>
          <p:nvPr/>
        </p:nvSpPr>
        <p:spPr>
          <a:xfrm>
            <a:off x="520954" y="738377"/>
            <a:ext cx="2003425" cy="452755"/>
          </a:xfrm>
          <a:prstGeom prst="rect">
            <a:avLst/>
          </a:prstGeom>
        </p:spPr>
        <p:txBody>
          <a:bodyPr vert="horz" wrap="square" lIns="0" tIns="13335" rIns="0" bIns="0" rtlCol="0">
            <a:spAutoFit/>
          </a:bodyPr>
          <a:lstStyle/>
          <a:p>
            <a:pPr marL="12700">
              <a:lnSpc>
                <a:spcPct val="100000"/>
              </a:lnSpc>
              <a:spcBef>
                <a:spcPts val="105"/>
              </a:spcBef>
            </a:pPr>
            <a:r>
              <a:rPr sz="2800" spc="-5" dirty="0">
                <a:latin typeface="Goudy Old Style"/>
                <a:cs typeface="Goudy Old Style"/>
              </a:rPr>
              <a:t>In </a:t>
            </a:r>
            <a:r>
              <a:rPr sz="2800" dirty="0">
                <a:latin typeface="Goudy Old Style"/>
                <a:cs typeface="Goudy Old Style"/>
              </a:rPr>
              <a:t>this</a:t>
            </a:r>
            <a:r>
              <a:rPr sz="2800" spc="-65" dirty="0">
                <a:latin typeface="Goudy Old Style"/>
                <a:cs typeface="Goudy Old Style"/>
              </a:rPr>
              <a:t> </a:t>
            </a:r>
            <a:r>
              <a:rPr sz="2800" dirty="0">
                <a:latin typeface="Goudy Old Style"/>
                <a:cs typeface="Goudy Old Style"/>
              </a:rPr>
              <a:t>model:</a:t>
            </a:r>
            <a:endParaRPr sz="2800">
              <a:latin typeface="Goudy Old Style"/>
              <a:cs typeface="Goudy Old Style"/>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5724525" cy="635635"/>
          </a:xfrm>
          <a:prstGeom prst="rect">
            <a:avLst/>
          </a:prstGeom>
        </p:spPr>
        <p:txBody>
          <a:bodyPr vert="horz" wrap="square" lIns="0" tIns="12700" rIns="0" bIns="0" rtlCol="0">
            <a:spAutoFit/>
          </a:bodyPr>
          <a:lstStyle/>
          <a:p>
            <a:pPr marL="12700">
              <a:lnSpc>
                <a:spcPct val="100000"/>
              </a:lnSpc>
              <a:spcBef>
                <a:spcPts val="100"/>
              </a:spcBef>
            </a:pPr>
            <a:r>
              <a:rPr sz="4000" b="0" spc="-10" dirty="0">
                <a:latin typeface="Goudy Old Style"/>
                <a:cs typeface="Goudy Old Style"/>
              </a:rPr>
              <a:t>Hierarchical </a:t>
            </a:r>
            <a:r>
              <a:rPr sz="4000" b="0" spc="10" dirty="0">
                <a:latin typeface="Goudy Old Style"/>
                <a:cs typeface="Goudy Old Style"/>
              </a:rPr>
              <a:t>Data </a:t>
            </a:r>
            <a:r>
              <a:rPr sz="4000" b="0" spc="-5" dirty="0">
                <a:latin typeface="Goudy Old Style"/>
                <a:cs typeface="Goudy Old Style"/>
              </a:rPr>
              <a:t>Model</a:t>
            </a:r>
            <a:r>
              <a:rPr sz="4000" b="0" spc="-110" dirty="0">
                <a:latin typeface="Goudy Old Style"/>
                <a:cs typeface="Goudy Old Style"/>
              </a:rPr>
              <a:t> </a:t>
            </a:r>
            <a:r>
              <a:rPr sz="4000" b="0" spc="-5" dirty="0">
                <a:latin typeface="Goudy Old Style"/>
                <a:cs typeface="Goudy Old Style"/>
              </a:rPr>
              <a:t>2-3</a:t>
            </a:r>
            <a:endParaRPr sz="4000">
              <a:latin typeface="Goudy Old Style"/>
              <a:cs typeface="Goudy Old Style"/>
            </a:endParaRPr>
          </a:p>
        </p:txBody>
      </p:sp>
      <p:sp>
        <p:nvSpPr>
          <p:cNvPr id="3" name="object 3"/>
          <p:cNvSpPr txBox="1"/>
          <p:nvPr/>
        </p:nvSpPr>
        <p:spPr>
          <a:xfrm>
            <a:off x="459740" y="1022350"/>
            <a:ext cx="6732270" cy="299720"/>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3695" algn="l"/>
                <a:tab pos="354330" algn="l"/>
              </a:tabLst>
            </a:pPr>
            <a:r>
              <a:rPr sz="1800" spc="-10" dirty="0">
                <a:latin typeface="Goudy Old Style"/>
                <a:cs typeface="Goudy Old Style"/>
              </a:rPr>
              <a:t>Following </a:t>
            </a:r>
            <a:r>
              <a:rPr sz="1800" spc="-5" dirty="0">
                <a:latin typeface="Goudy Old Style"/>
                <a:cs typeface="Goudy Old Style"/>
              </a:rPr>
              <a:t>figure illustrates an example of </a:t>
            </a:r>
            <a:r>
              <a:rPr sz="1800" dirty="0">
                <a:latin typeface="Goudy Old Style"/>
                <a:cs typeface="Goudy Old Style"/>
              </a:rPr>
              <a:t>a </a:t>
            </a:r>
            <a:r>
              <a:rPr sz="1800" spc="-5" dirty="0">
                <a:latin typeface="Goudy Old Style"/>
                <a:cs typeface="Goudy Old Style"/>
              </a:rPr>
              <a:t>hierarchical</a:t>
            </a:r>
            <a:r>
              <a:rPr sz="1800" spc="35" dirty="0">
                <a:latin typeface="Goudy Old Style"/>
                <a:cs typeface="Goudy Old Style"/>
              </a:rPr>
              <a:t> </a:t>
            </a:r>
            <a:r>
              <a:rPr sz="1800" spc="-10" dirty="0">
                <a:latin typeface="Goudy Old Style"/>
                <a:cs typeface="Goudy Old Style"/>
              </a:rPr>
              <a:t>representation:</a:t>
            </a:r>
            <a:endParaRPr sz="1800">
              <a:latin typeface="Goudy Old Style"/>
              <a:cs typeface="Goudy Old Style"/>
            </a:endParaRPr>
          </a:p>
        </p:txBody>
      </p:sp>
      <p:pic>
        <p:nvPicPr>
          <p:cNvPr id="4" name="object 4"/>
          <p:cNvPicPr/>
          <p:nvPr/>
        </p:nvPicPr>
        <p:blipFill>
          <a:blip r:embed="rId3" cstate="print"/>
          <a:stretch>
            <a:fillRect/>
          </a:stretch>
        </p:blipFill>
        <p:spPr>
          <a:xfrm>
            <a:off x="2133600" y="1447800"/>
            <a:ext cx="4514088" cy="3276600"/>
          </a:xfrm>
          <a:prstGeom prst="rect">
            <a:avLst/>
          </a:prstGeom>
        </p:spPr>
      </p:pic>
      <p:sp>
        <p:nvSpPr>
          <p:cNvPr id="5" name="object 5"/>
          <p:cNvSpPr txBox="1"/>
          <p:nvPr/>
        </p:nvSpPr>
        <p:spPr>
          <a:xfrm>
            <a:off x="459740" y="4744973"/>
            <a:ext cx="8096884" cy="1397000"/>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3695" algn="l"/>
                <a:tab pos="354330" algn="l"/>
              </a:tabLst>
            </a:pPr>
            <a:r>
              <a:rPr sz="1800" dirty="0">
                <a:latin typeface="Goudy Old Style"/>
                <a:cs typeface="Goudy Old Style"/>
              </a:rPr>
              <a:t>Within the </a:t>
            </a:r>
            <a:r>
              <a:rPr sz="1800" spc="-5" dirty="0">
                <a:latin typeface="Goudy Old Style"/>
                <a:cs typeface="Goudy Old Style"/>
              </a:rPr>
              <a:t>hierarchical </a:t>
            </a:r>
            <a:r>
              <a:rPr sz="1800" dirty="0">
                <a:latin typeface="Goudy Old Style"/>
                <a:cs typeface="Goudy Old Style"/>
              </a:rPr>
              <a:t>model, </a:t>
            </a:r>
            <a:r>
              <a:rPr sz="1800" b="1" spc="-5" dirty="0">
                <a:latin typeface="Goudy Old Style"/>
                <a:cs typeface="Goudy Old Style"/>
              </a:rPr>
              <a:t>Department </a:t>
            </a:r>
            <a:r>
              <a:rPr sz="1800" dirty="0">
                <a:latin typeface="Goudy Old Style"/>
                <a:cs typeface="Goudy Old Style"/>
              </a:rPr>
              <a:t>is </a:t>
            </a:r>
            <a:r>
              <a:rPr sz="1800" spc="-10" dirty="0">
                <a:latin typeface="Goudy Old Style"/>
                <a:cs typeface="Goudy Old Style"/>
              </a:rPr>
              <a:t>perceived </a:t>
            </a:r>
            <a:r>
              <a:rPr sz="1800" spc="-5" dirty="0">
                <a:latin typeface="Goudy Old Style"/>
                <a:cs typeface="Goudy Old Style"/>
              </a:rPr>
              <a:t>as </a:t>
            </a:r>
            <a:r>
              <a:rPr sz="1800" dirty="0">
                <a:latin typeface="Goudy Old Style"/>
                <a:cs typeface="Goudy Old Style"/>
              </a:rPr>
              <a:t>the </a:t>
            </a:r>
            <a:r>
              <a:rPr sz="1800" spc="-10" dirty="0">
                <a:latin typeface="Goudy Old Style"/>
                <a:cs typeface="Goudy Old Style"/>
              </a:rPr>
              <a:t>parent </a:t>
            </a:r>
            <a:r>
              <a:rPr sz="1800" spc="-5" dirty="0">
                <a:latin typeface="Goudy Old Style"/>
                <a:cs typeface="Goudy Old Style"/>
              </a:rPr>
              <a:t>of </a:t>
            </a:r>
            <a:r>
              <a:rPr sz="1800" dirty="0">
                <a:latin typeface="Goudy Old Style"/>
                <a:cs typeface="Goudy Old Style"/>
              </a:rPr>
              <a:t>the</a:t>
            </a:r>
            <a:r>
              <a:rPr sz="1800" spc="-65" dirty="0">
                <a:latin typeface="Goudy Old Style"/>
                <a:cs typeface="Goudy Old Style"/>
              </a:rPr>
              <a:t> </a:t>
            </a:r>
            <a:r>
              <a:rPr sz="1800" spc="-5" dirty="0">
                <a:latin typeface="Goudy Old Style"/>
                <a:cs typeface="Goudy Old Style"/>
              </a:rPr>
              <a:t>segment.</a:t>
            </a:r>
            <a:endParaRPr sz="1800">
              <a:latin typeface="Goudy Old Style"/>
              <a:cs typeface="Goudy Old Style"/>
            </a:endParaRPr>
          </a:p>
          <a:p>
            <a:pPr marL="353695" indent="-341630">
              <a:lnSpc>
                <a:spcPct val="100000"/>
              </a:lnSpc>
              <a:buFont typeface="Wingdings"/>
              <a:buChar char=""/>
              <a:tabLst>
                <a:tab pos="353695" algn="l"/>
                <a:tab pos="354330" algn="l"/>
              </a:tabLst>
            </a:pPr>
            <a:r>
              <a:rPr sz="1800" spc="-5" dirty="0">
                <a:latin typeface="Goudy Old Style"/>
                <a:cs typeface="Goudy Old Style"/>
              </a:rPr>
              <a:t>The </a:t>
            </a:r>
            <a:r>
              <a:rPr sz="1800" dirty="0">
                <a:latin typeface="Goudy Old Style"/>
                <a:cs typeface="Goudy Old Style"/>
              </a:rPr>
              <a:t>tables, </a:t>
            </a:r>
            <a:r>
              <a:rPr sz="1800" b="1" spc="-5" dirty="0">
                <a:latin typeface="Goudy Old Style"/>
                <a:cs typeface="Goudy Old Style"/>
              </a:rPr>
              <a:t>Project </a:t>
            </a:r>
            <a:r>
              <a:rPr sz="1800" spc="-5" dirty="0">
                <a:latin typeface="Goudy Old Style"/>
                <a:cs typeface="Goudy Old Style"/>
              </a:rPr>
              <a:t>and </a:t>
            </a:r>
            <a:r>
              <a:rPr sz="1800" b="1" spc="-15" dirty="0">
                <a:latin typeface="Goudy Old Style"/>
                <a:cs typeface="Goudy Old Style"/>
              </a:rPr>
              <a:t>Employee</a:t>
            </a:r>
            <a:r>
              <a:rPr sz="1800" spc="-15" dirty="0">
                <a:latin typeface="Goudy Old Style"/>
                <a:cs typeface="Goudy Old Style"/>
              </a:rPr>
              <a:t>, are</a:t>
            </a:r>
            <a:r>
              <a:rPr sz="1800" spc="5" dirty="0">
                <a:latin typeface="Goudy Old Style"/>
                <a:cs typeface="Goudy Old Style"/>
              </a:rPr>
              <a:t> </a:t>
            </a:r>
            <a:r>
              <a:rPr sz="1800" spc="-10" dirty="0">
                <a:latin typeface="Goudy Old Style"/>
                <a:cs typeface="Goudy Old Style"/>
              </a:rPr>
              <a:t>children.</a:t>
            </a:r>
            <a:endParaRPr sz="1800">
              <a:latin typeface="Goudy Old Style"/>
              <a:cs typeface="Goudy Old Style"/>
            </a:endParaRPr>
          </a:p>
          <a:p>
            <a:pPr marL="353695" indent="-341630">
              <a:lnSpc>
                <a:spcPct val="100000"/>
              </a:lnSpc>
              <a:buFont typeface="Wingdings"/>
              <a:buChar char=""/>
              <a:tabLst>
                <a:tab pos="353695" algn="l"/>
                <a:tab pos="354330" algn="l"/>
              </a:tabLst>
            </a:pPr>
            <a:r>
              <a:rPr sz="1800" dirty="0">
                <a:latin typeface="Goudy Old Style"/>
                <a:cs typeface="Goudy Old Style"/>
              </a:rPr>
              <a:t>A path </a:t>
            </a:r>
            <a:r>
              <a:rPr sz="1800" spc="-5" dirty="0">
                <a:latin typeface="Goudy Old Style"/>
                <a:cs typeface="Goudy Old Style"/>
              </a:rPr>
              <a:t>that traces </a:t>
            </a:r>
            <a:r>
              <a:rPr sz="1800" dirty="0">
                <a:latin typeface="Goudy Old Style"/>
                <a:cs typeface="Goudy Old Style"/>
              </a:rPr>
              <a:t>the </a:t>
            </a:r>
            <a:r>
              <a:rPr sz="1800" spc="-10" dirty="0">
                <a:latin typeface="Goudy Old Style"/>
                <a:cs typeface="Goudy Old Style"/>
              </a:rPr>
              <a:t>parent </a:t>
            </a:r>
            <a:r>
              <a:rPr sz="1800" dirty="0">
                <a:latin typeface="Goudy Old Style"/>
                <a:cs typeface="Goudy Old Style"/>
              </a:rPr>
              <a:t>segments beginning </a:t>
            </a:r>
            <a:r>
              <a:rPr sz="1800" spc="-10" dirty="0">
                <a:latin typeface="Goudy Old Style"/>
                <a:cs typeface="Goudy Old Style"/>
              </a:rPr>
              <a:t>from </a:t>
            </a:r>
            <a:r>
              <a:rPr sz="1800" dirty="0">
                <a:latin typeface="Goudy Old Style"/>
                <a:cs typeface="Goudy Old Style"/>
              </a:rPr>
              <a:t>the </a:t>
            </a:r>
            <a:r>
              <a:rPr sz="1800" spc="5" dirty="0">
                <a:latin typeface="Goudy Old Style"/>
                <a:cs typeface="Goudy Old Style"/>
              </a:rPr>
              <a:t>left, </a:t>
            </a:r>
            <a:r>
              <a:rPr sz="1800" spc="-5" dirty="0">
                <a:latin typeface="Goudy Old Style"/>
                <a:cs typeface="Goudy Old Style"/>
              </a:rPr>
              <a:t>defines </a:t>
            </a:r>
            <a:r>
              <a:rPr sz="1800" dirty="0">
                <a:latin typeface="Goudy Old Style"/>
                <a:cs typeface="Goudy Old Style"/>
              </a:rPr>
              <a:t>the</a:t>
            </a:r>
            <a:r>
              <a:rPr sz="1800" spc="-125" dirty="0">
                <a:latin typeface="Goudy Old Style"/>
                <a:cs typeface="Goudy Old Style"/>
              </a:rPr>
              <a:t> </a:t>
            </a:r>
            <a:r>
              <a:rPr sz="1800" spc="-10" dirty="0">
                <a:latin typeface="Goudy Old Style"/>
                <a:cs typeface="Goudy Old Style"/>
              </a:rPr>
              <a:t>tree.</a:t>
            </a:r>
            <a:endParaRPr sz="1800">
              <a:latin typeface="Goudy Old Style"/>
              <a:cs typeface="Goudy Old Style"/>
            </a:endParaRPr>
          </a:p>
          <a:p>
            <a:pPr marL="353695" marR="315595" indent="-341630">
              <a:lnSpc>
                <a:spcPct val="100000"/>
              </a:lnSpc>
              <a:buFont typeface="Wingdings"/>
              <a:buChar char=""/>
              <a:tabLst>
                <a:tab pos="353695" algn="l"/>
                <a:tab pos="354330" algn="l"/>
              </a:tabLst>
            </a:pPr>
            <a:r>
              <a:rPr sz="1800" spc="-5" dirty="0">
                <a:latin typeface="Goudy Old Style"/>
                <a:cs typeface="Goudy Old Style"/>
              </a:rPr>
              <a:t>This </a:t>
            </a:r>
            <a:r>
              <a:rPr sz="1800" spc="-15" dirty="0">
                <a:latin typeface="Goudy Old Style"/>
                <a:cs typeface="Goudy Old Style"/>
              </a:rPr>
              <a:t>ordered </a:t>
            </a:r>
            <a:r>
              <a:rPr sz="1800" spc="-10" dirty="0">
                <a:latin typeface="Goudy Old Style"/>
                <a:cs typeface="Goudy Old Style"/>
              </a:rPr>
              <a:t>sequencing </a:t>
            </a:r>
            <a:r>
              <a:rPr sz="1800" spc="-5" dirty="0">
                <a:latin typeface="Goudy Old Style"/>
                <a:cs typeface="Goudy Old Style"/>
              </a:rPr>
              <a:t>of segments tracing </a:t>
            </a:r>
            <a:r>
              <a:rPr sz="1800" dirty="0">
                <a:latin typeface="Goudy Old Style"/>
                <a:cs typeface="Goudy Old Style"/>
              </a:rPr>
              <a:t>the </a:t>
            </a:r>
            <a:r>
              <a:rPr sz="1800" spc="-5" dirty="0">
                <a:latin typeface="Goudy Old Style"/>
                <a:cs typeface="Goudy Old Style"/>
              </a:rPr>
              <a:t>hierarchical structure </a:t>
            </a:r>
            <a:r>
              <a:rPr sz="1800" dirty="0">
                <a:latin typeface="Goudy Old Style"/>
                <a:cs typeface="Goudy Old Style"/>
              </a:rPr>
              <a:t>is called the  </a:t>
            </a:r>
            <a:r>
              <a:rPr sz="1800" spc="-5" dirty="0">
                <a:latin typeface="Goudy Old Style"/>
                <a:cs typeface="Goudy Old Style"/>
              </a:rPr>
              <a:t>hierarchical </a:t>
            </a:r>
            <a:r>
              <a:rPr sz="1800" dirty="0">
                <a:latin typeface="Goudy Old Style"/>
                <a:cs typeface="Goudy Old Style"/>
              </a:rPr>
              <a:t>path.</a:t>
            </a:r>
            <a:endParaRPr sz="1800">
              <a:latin typeface="Goudy Old Style"/>
              <a:cs typeface="Goudy Old Style"/>
            </a:endParaRPr>
          </a:p>
        </p:txBody>
      </p:sp>
      <p:sp>
        <p:nvSpPr>
          <p:cNvPr id="7" name="object 7"/>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18</a:t>
            </a:fld>
            <a:endParaRPr sz="1200"/>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5724525" cy="635635"/>
          </a:xfrm>
          <a:prstGeom prst="rect">
            <a:avLst/>
          </a:prstGeom>
        </p:spPr>
        <p:txBody>
          <a:bodyPr vert="horz" wrap="square" lIns="0" tIns="12700" rIns="0" bIns="0" rtlCol="0">
            <a:spAutoFit/>
          </a:bodyPr>
          <a:lstStyle/>
          <a:p>
            <a:pPr marL="12700">
              <a:lnSpc>
                <a:spcPct val="100000"/>
              </a:lnSpc>
              <a:spcBef>
                <a:spcPts val="100"/>
              </a:spcBef>
            </a:pPr>
            <a:r>
              <a:rPr sz="4000" b="0" spc="-10" dirty="0">
                <a:latin typeface="Goudy Old Style"/>
                <a:cs typeface="Goudy Old Style"/>
              </a:rPr>
              <a:t>Hierarchical </a:t>
            </a:r>
            <a:r>
              <a:rPr sz="4000" b="0" spc="10" dirty="0">
                <a:latin typeface="Goudy Old Style"/>
                <a:cs typeface="Goudy Old Style"/>
              </a:rPr>
              <a:t>Data </a:t>
            </a:r>
            <a:r>
              <a:rPr sz="4000" b="0" spc="-5" dirty="0">
                <a:latin typeface="Goudy Old Style"/>
                <a:cs typeface="Goudy Old Style"/>
              </a:rPr>
              <a:t>Model</a:t>
            </a:r>
            <a:r>
              <a:rPr sz="4000" b="0" spc="-110" dirty="0">
                <a:latin typeface="Goudy Old Style"/>
                <a:cs typeface="Goudy Old Style"/>
              </a:rPr>
              <a:t> </a:t>
            </a:r>
            <a:r>
              <a:rPr sz="4000" b="0" spc="-5" dirty="0">
                <a:latin typeface="Goudy Old Style"/>
                <a:cs typeface="Goudy Old Style"/>
              </a:rPr>
              <a:t>3-3</a:t>
            </a:r>
            <a:endParaRPr sz="4000">
              <a:latin typeface="Goudy Old Style"/>
              <a:cs typeface="Goudy Old Style"/>
            </a:endParaRPr>
          </a:p>
        </p:txBody>
      </p:sp>
      <p:sp>
        <p:nvSpPr>
          <p:cNvPr id="3" name="object 3"/>
          <p:cNvSpPr txBox="1"/>
          <p:nvPr/>
        </p:nvSpPr>
        <p:spPr>
          <a:xfrm>
            <a:off x="459740" y="1010411"/>
            <a:ext cx="4812030" cy="300355"/>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3695" algn="l"/>
                <a:tab pos="354330" algn="l"/>
              </a:tabLst>
            </a:pPr>
            <a:r>
              <a:rPr sz="1800" spc="-5" dirty="0">
                <a:latin typeface="Goudy Old Style"/>
                <a:cs typeface="Goudy Old Style"/>
              </a:rPr>
              <a:t>Advantages of </a:t>
            </a:r>
            <a:r>
              <a:rPr sz="1800" dirty="0">
                <a:latin typeface="Goudy Old Style"/>
                <a:cs typeface="Goudy Old Style"/>
              </a:rPr>
              <a:t>a </a:t>
            </a:r>
            <a:r>
              <a:rPr sz="1800" spc="-10" dirty="0">
                <a:latin typeface="Goudy Old Style"/>
                <a:cs typeface="Goudy Old Style"/>
              </a:rPr>
              <a:t>hierarchical </a:t>
            </a:r>
            <a:r>
              <a:rPr sz="1800" spc="-5" dirty="0">
                <a:latin typeface="Goudy Old Style"/>
                <a:cs typeface="Goudy Old Style"/>
              </a:rPr>
              <a:t>model </a:t>
            </a:r>
            <a:r>
              <a:rPr sz="1800" spc="-10" dirty="0">
                <a:latin typeface="Goudy Old Style"/>
                <a:cs typeface="Goudy Old Style"/>
              </a:rPr>
              <a:t>are </a:t>
            </a:r>
            <a:r>
              <a:rPr sz="1800" spc="-5" dirty="0">
                <a:latin typeface="Goudy Old Style"/>
                <a:cs typeface="Goudy Old Style"/>
              </a:rPr>
              <a:t>as</a:t>
            </a:r>
            <a:r>
              <a:rPr sz="1800" spc="10" dirty="0">
                <a:latin typeface="Goudy Old Style"/>
                <a:cs typeface="Goudy Old Style"/>
              </a:rPr>
              <a:t> </a:t>
            </a:r>
            <a:r>
              <a:rPr sz="1800" spc="-15" dirty="0">
                <a:latin typeface="Goudy Old Style"/>
                <a:cs typeface="Goudy Old Style"/>
              </a:rPr>
              <a:t>follows:</a:t>
            </a:r>
            <a:endParaRPr sz="1800">
              <a:latin typeface="Goudy Old Style"/>
              <a:cs typeface="Goudy Old Style"/>
            </a:endParaRPr>
          </a:p>
        </p:txBody>
      </p:sp>
      <p:grpSp>
        <p:nvGrpSpPr>
          <p:cNvPr id="4" name="object 4"/>
          <p:cNvGrpSpPr/>
          <p:nvPr/>
        </p:nvGrpSpPr>
        <p:grpSpPr>
          <a:xfrm>
            <a:off x="445008" y="1607819"/>
            <a:ext cx="8026400" cy="1073150"/>
            <a:chOff x="445008" y="1607819"/>
            <a:chExt cx="8026400" cy="1073150"/>
          </a:xfrm>
        </p:grpSpPr>
        <p:sp>
          <p:nvSpPr>
            <p:cNvPr id="5" name="object 5"/>
            <p:cNvSpPr/>
            <p:nvPr/>
          </p:nvSpPr>
          <p:spPr>
            <a:xfrm>
              <a:off x="457581" y="1987676"/>
              <a:ext cx="8001000" cy="680720"/>
            </a:xfrm>
            <a:custGeom>
              <a:avLst/>
              <a:gdLst/>
              <a:ahLst/>
              <a:cxnLst/>
              <a:rect l="l" t="t" r="r" b="b"/>
              <a:pathLst>
                <a:path w="8001000" h="680719">
                  <a:moveTo>
                    <a:pt x="0" y="680465"/>
                  </a:moveTo>
                  <a:lnTo>
                    <a:pt x="8001000" y="680465"/>
                  </a:lnTo>
                  <a:lnTo>
                    <a:pt x="8001000" y="0"/>
                  </a:lnTo>
                  <a:lnTo>
                    <a:pt x="0" y="0"/>
                  </a:lnTo>
                  <a:lnTo>
                    <a:pt x="0" y="680465"/>
                  </a:lnTo>
                  <a:close/>
                </a:path>
              </a:pathLst>
            </a:custGeom>
            <a:ln w="25146">
              <a:solidFill>
                <a:srgbClr val="C0504D"/>
              </a:solidFill>
            </a:ln>
          </p:spPr>
          <p:txBody>
            <a:bodyPr wrap="square" lIns="0" tIns="0" rIns="0" bIns="0" rtlCol="0"/>
            <a:lstStyle/>
            <a:p>
              <a:endParaRPr/>
            </a:p>
          </p:txBody>
        </p:sp>
        <p:sp>
          <p:nvSpPr>
            <p:cNvPr id="6" name="object 6"/>
            <p:cNvSpPr/>
            <p:nvPr/>
          </p:nvSpPr>
          <p:spPr>
            <a:xfrm>
              <a:off x="876681" y="1620392"/>
              <a:ext cx="7215505" cy="797560"/>
            </a:xfrm>
            <a:custGeom>
              <a:avLst/>
              <a:gdLst/>
              <a:ahLst/>
              <a:cxnLst/>
              <a:rect l="l" t="t" r="r" b="b"/>
              <a:pathLst>
                <a:path w="7215505" h="797560">
                  <a:moveTo>
                    <a:pt x="7082535" y="0"/>
                  </a:moveTo>
                  <a:lnTo>
                    <a:pt x="132842" y="0"/>
                  </a:lnTo>
                  <a:lnTo>
                    <a:pt x="90853" y="6768"/>
                  </a:lnTo>
                  <a:lnTo>
                    <a:pt x="54386" y="25619"/>
                  </a:lnTo>
                  <a:lnTo>
                    <a:pt x="25630" y="54370"/>
                  </a:lnTo>
                  <a:lnTo>
                    <a:pt x="6772" y="90838"/>
                  </a:lnTo>
                  <a:lnTo>
                    <a:pt x="0" y="132841"/>
                  </a:lnTo>
                  <a:lnTo>
                    <a:pt x="0" y="664209"/>
                  </a:lnTo>
                  <a:lnTo>
                    <a:pt x="6772" y="706213"/>
                  </a:lnTo>
                  <a:lnTo>
                    <a:pt x="25630" y="742681"/>
                  </a:lnTo>
                  <a:lnTo>
                    <a:pt x="54386" y="771432"/>
                  </a:lnTo>
                  <a:lnTo>
                    <a:pt x="90853" y="790283"/>
                  </a:lnTo>
                  <a:lnTo>
                    <a:pt x="132842" y="797051"/>
                  </a:lnTo>
                  <a:lnTo>
                    <a:pt x="7082535" y="797051"/>
                  </a:lnTo>
                  <a:lnTo>
                    <a:pt x="7124539" y="790283"/>
                  </a:lnTo>
                  <a:lnTo>
                    <a:pt x="7161007" y="771432"/>
                  </a:lnTo>
                  <a:lnTo>
                    <a:pt x="7189758" y="742681"/>
                  </a:lnTo>
                  <a:lnTo>
                    <a:pt x="7208609" y="706213"/>
                  </a:lnTo>
                  <a:lnTo>
                    <a:pt x="7215378" y="664209"/>
                  </a:lnTo>
                  <a:lnTo>
                    <a:pt x="7215378" y="132841"/>
                  </a:lnTo>
                  <a:lnTo>
                    <a:pt x="7208609" y="90838"/>
                  </a:lnTo>
                  <a:lnTo>
                    <a:pt x="7189758" y="54370"/>
                  </a:lnTo>
                  <a:lnTo>
                    <a:pt x="7161007" y="25619"/>
                  </a:lnTo>
                  <a:lnTo>
                    <a:pt x="7124539" y="6768"/>
                  </a:lnTo>
                  <a:lnTo>
                    <a:pt x="7082535" y="0"/>
                  </a:lnTo>
                  <a:close/>
                </a:path>
              </a:pathLst>
            </a:custGeom>
            <a:solidFill>
              <a:srgbClr val="C0504D"/>
            </a:solidFill>
          </p:spPr>
          <p:txBody>
            <a:bodyPr wrap="square" lIns="0" tIns="0" rIns="0" bIns="0" rtlCol="0"/>
            <a:lstStyle/>
            <a:p>
              <a:endParaRPr/>
            </a:p>
          </p:txBody>
        </p:sp>
        <p:sp>
          <p:nvSpPr>
            <p:cNvPr id="7" name="object 7"/>
            <p:cNvSpPr/>
            <p:nvPr/>
          </p:nvSpPr>
          <p:spPr>
            <a:xfrm>
              <a:off x="876681" y="1620392"/>
              <a:ext cx="7215505" cy="797560"/>
            </a:xfrm>
            <a:custGeom>
              <a:avLst/>
              <a:gdLst/>
              <a:ahLst/>
              <a:cxnLst/>
              <a:rect l="l" t="t" r="r" b="b"/>
              <a:pathLst>
                <a:path w="7215505" h="797560">
                  <a:moveTo>
                    <a:pt x="0" y="132841"/>
                  </a:moveTo>
                  <a:lnTo>
                    <a:pt x="6772" y="90838"/>
                  </a:lnTo>
                  <a:lnTo>
                    <a:pt x="25630" y="54370"/>
                  </a:lnTo>
                  <a:lnTo>
                    <a:pt x="54386" y="25619"/>
                  </a:lnTo>
                  <a:lnTo>
                    <a:pt x="90853" y="6768"/>
                  </a:lnTo>
                  <a:lnTo>
                    <a:pt x="132842" y="0"/>
                  </a:lnTo>
                  <a:lnTo>
                    <a:pt x="7082535" y="0"/>
                  </a:lnTo>
                  <a:lnTo>
                    <a:pt x="7124539" y="6768"/>
                  </a:lnTo>
                  <a:lnTo>
                    <a:pt x="7161007" y="25619"/>
                  </a:lnTo>
                  <a:lnTo>
                    <a:pt x="7189758" y="54370"/>
                  </a:lnTo>
                  <a:lnTo>
                    <a:pt x="7208609" y="90838"/>
                  </a:lnTo>
                  <a:lnTo>
                    <a:pt x="7215378" y="132841"/>
                  </a:lnTo>
                  <a:lnTo>
                    <a:pt x="7215378" y="664209"/>
                  </a:lnTo>
                  <a:lnTo>
                    <a:pt x="7208609" y="706213"/>
                  </a:lnTo>
                  <a:lnTo>
                    <a:pt x="7189758" y="742681"/>
                  </a:lnTo>
                  <a:lnTo>
                    <a:pt x="7161007" y="771432"/>
                  </a:lnTo>
                  <a:lnTo>
                    <a:pt x="7124539" y="790283"/>
                  </a:lnTo>
                  <a:lnTo>
                    <a:pt x="7082535" y="797051"/>
                  </a:lnTo>
                  <a:lnTo>
                    <a:pt x="132842" y="797051"/>
                  </a:lnTo>
                  <a:lnTo>
                    <a:pt x="90853" y="790283"/>
                  </a:lnTo>
                  <a:lnTo>
                    <a:pt x="54386" y="771432"/>
                  </a:lnTo>
                  <a:lnTo>
                    <a:pt x="25630" y="742681"/>
                  </a:lnTo>
                  <a:lnTo>
                    <a:pt x="6772" y="706213"/>
                  </a:lnTo>
                  <a:lnTo>
                    <a:pt x="0" y="664209"/>
                  </a:lnTo>
                  <a:lnTo>
                    <a:pt x="0" y="132841"/>
                  </a:lnTo>
                  <a:close/>
                </a:path>
              </a:pathLst>
            </a:custGeom>
            <a:ln w="25146">
              <a:solidFill>
                <a:srgbClr val="FFFFFF"/>
              </a:solidFill>
            </a:ln>
          </p:spPr>
          <p:txBody>
            <a:bodyPr wrap="square" lIns="0" tIns="0" rIns="0" bIns="0" rtlCol="0"/>
            <a:lstStyle/>
            <a:p>
              <a:endParaRPr/>
            </a:p>
          </p:txBody>
        </p:sp>
      </p:grpSp>
      <p:sp>
        <p:nvSpPr>
          <p:cNvPr id="8" name="object 8"/>
          <p:cNvSpPr txBox="1"/>
          <p:nvPr/>
        </p:nvSpPr>
        <p:spPr>
          <a:xfrm>
            <a:off x="1114297" y="1754124"/>
            <a:ext cx="6702425" cy="489584"/>
          </a:xfrm>
          <a:prstGeom prst="rect">
            <a:avLst/>
          </a:prstGeom>
        </p:spPr>
        <p:txBody>
          <a:bodyPr vert="horz" wrap="square" lIns="0" tIns="40005" rIns="0" bIns="0" rtlCol="0">
            <a:spAutoFit/>
          </a:bodyPr>
          <a:lstStyle/>
          <a:p>
            <a:pPr marL="12700" marR="5080">
              <a:lnSpc>
                <a:spcPts val="1730"/>
              </a:lnSpc>
              <a:spcBef>
                <a:spcPts val="315"/>
              </a:spcBef>
            </a:pPr>
            <a:r>
              <a:rPr sz="1600" b="1" dirty="0">
                <a:solidFill>
                  <a:srgbClr val="FFFFFF"/>
                </a:solidFill>
                <a:latin typeface="Goudy Old Style"/>
                <a:cs typeface="Goudy Old Style"/>
              </a:rPr>
              <a:t>Data </a:t>
            </a:r>
            <a:r>
              <a:rPr sz="1600" b="1" spc="-5" dirty="0">
                <a:solidFill>
                  <a:srgbClr val="FFFFFF"/>
                </a:solidFill>
                <a:latin typeface="Goudy Old Style"/>
                <a:cs typeface="Goudy Old Style"/>
              </a:rPr>
              <a:t>is </a:t>
            </a:r>
            <a:r>
              <a:rPr sz="1600" b="1" dirty="0">
                <a:solidFill>
                  <a:srgbClr val="FFFFFF"/>
                </a:solidFill>
                <a:latin typeface="Goudy Old Style"/>
                <a:cs typeface="Goudy Old Style"/>
              </a:rPr>
              <a:t>held </a:t>
            </a:r>
            <a:r>
              <a:rPr sz="1600" b="1" spc="-5" dirty="0">
                <a:solidFill>
                  <a:srgbClr val="FFFFFF"/>
                </a:solidFill>
                <a:latin typeface="Goudy Old Style"/>
                <a:cs typeface="Goudy Old Style"/>
              </a:rPr>
              <a:t>in </a:t>
            </a:r>
            <a:r>
              <a:rPr sz="1600" b="1" dirty="0">
                <a:solidFill>
                  <a:srgbClr val="FFFFFF"/>
                </a:solidFill>
                <a:latin typeface="Goudy Old Style"/>
                <a:cs typeface="Goudy Old Style"/>
              </a:rPr>
              <a:t>a </a:t>
            </a:r>
            <a:r>
              <a:rPr sz="1600" b="1" spc="-5" dirty="0">
                <a:solidFill>
                  <a:srgbClr val="FFFFFF"/>
                </a:solidFill>
                <a:latin typeface="Goudy Old Style"/>
                <a:cs typeface="Goudy Old Style"/>
              </a:rPr>
              <a:t>common database so </a:t>
            </a:r>
            <a:r>
              <a:rPr sz="1600" b="1" dirty="0">
                <a:solidFill>
                  <a:srgbClr val="FFFFFF"/>
                </a:solidFill>
                <a:latin typeface="Goudy Old Style"/>
                <a:cs typeface="Goudy Old Style"/>
              </a:rPr>
              <a:t>data </a:t>
            </a:r>
            <a:r>
              <a:rPr sz="1600" b="1" spc="-5" dirty="0">
                <a:solidFill>
                  <a:srgbClr val="FFFFFF"/>
                </a:solidFill>
                <a:latin typeface="Goudy Old Style"/>
                <a:cs typeface="Goudy Old Style"/>
              </a:rPr>
              <a:t>sharing becomes </a:t>
            </a:r>
            <a:r>
              <a:rPr sz="1600" b="1" spc="-15" dirty="0">
                <a:solidFill>
                  <a:srgbClr val="FFFFFF"/>
                </a:solidFill>
                <a:latin typeface="Goudy Old Style"/>
                <a:cs typeface="Goudy Old Style"/>
              </a:rPr>
              <a:t>easier, </a:t>
            </a:r>
            <a:r>
              <a:rPr sz="1600" b="1" spc="-5" dirty="0">
                <a:solidFill>
                  <a:srgbClr val="FFFFFF"/>
                </a:solidFill>
                <a:latin typeface="Goudy Old Style"/>
                <a:cs typeface="Goudy Old Style"/>
              </a:rPr>
              <a:t>and security is  </a:t>
            </a:r>
            <a:r>
              <a:rPr sz="1600" b="1" spc="-10" dirty="0">
                <a:solidFill>
                  <a:srgbClr val="FFFFFF"/>
                </a:solidFill>
                <a:latin typeface="Goudy Old Style"/>
                <a:cs typeface="Goudy Old Style"/>
              </a:rPr>
              <a:t>provided </a:t>
            </a:r>
            <a:r>
              <a:rPr sz="1600" b="1" spc="-5" dirty="0">
                <a:solidFill>
                  <a:srgbClr val="FFFFFF"/>
                </a:solidFill>
                <a:latin typeface="Goudy Old Style"/>
                <a:cs typeface="Goudy Old Style"/>
              </a:rPr>
              <a:t>and </a:t>
            </a:r>
            <a:r>
              <a:rPr sz="1600" b="1" spc="-10" dirty="0">
                <a:solidFill>
                  <a:srgbClr val="FFFFFF"/>
                </a:solidFill>
                <a:latin typeface="Goudy Old Style"/>
                <a:cs typeface="Goudy Old Style"/>
              </a:rPr>
              <a:t>enforced </a:t>
            </a:r>
            <a:r>
              <a:rPr sz="1600" b="1" spc="-5" dirty="0">
                <a:solidFill>
                  <a:srgbClr val="FFFFFF"/>
                </a:solidFill>
                <a:latin typeface="Goudy Old Style"/>
                <a:cs typeface="Goudy Old Style"/>
              </a:rPr>
              <a:t>by </a:t>
            </a:r>
            <a:r>
              <a:rPr sz="1600" b="1" dirty="0">
                <a:solidFill>
                  <a:srgbClr val="FFFFFF"/>
                </a:solidFill>
                <a:latin typeface="Goudy Old Style"/>
                <a:cs typeface="Goudy Old Style"/>
              </a:rPr>
              <a:t>a </a:t>
            </a:r>
            <a:r>
              <a:rPr sz="1600" b="1" spc="-5" dirty="0">
                <a:solidFill>
                  <a:srgbClr val="FFFFFF"/>
                </a:solidFill>
                <a:latin typeface="Goudy Old Style"/>
                <a:cs typeface="Goudy Old Style"/>
              </a:rPr>
              <a:t>DBMS.</a:t>
            </a:r>
            <a:endParaRPr sz="1600">
              <a:latin typeface="Goudy Old Style"/>
              <a:cs typeface="Goudy Old Style"/>
            </a:endParaRPr>
          </a:p>
        </p:txBody>
      </p:sp>
      <p:grpSp>
        <p:nvGrpSpPr>
          <p:cNvPr id="9" name="object 9"/>
          <p:cNvGrpSpPr/>
          <p:nvPr/>
        </p:nvGrpSpPr>
        <p:grpSpPr>
          <a:xfrm>
            <a:off x="445008" y="2801111"/>
            <a:ext cx="8026400" cy="1104265"/>
            <a:chOff x="445008" y="2801111"/>
            <a:chExt cx="8026400" cy="1104265"/>
          </a:xfrm>
        </p:grpSpPr>
        <p:sp>
          <p:nvSpPr>
            <p:cNvPr id="10" name="object 10"/>
            <p:cNvSpPr/>
            <p:nvPr/>
          </p:nvSpPr>
          <p:spPr>
            <a:xfrm>
              <a:off x="457581" y="3212210"/>
              <a:ext cx="8001000" cy="680720"/>
            </a:xfrm>
            <a:custGeom>
              <a:avLst/>
              <a:gdLst/>
              <a:ahLst/>
              <a:cxnLst/>
              <a:rect l="l" t="t" r="r" b="b"/>
              <a:pathLst>
                <a:path w="8001000" h="680720">
                  <a:moveTo>
                    <a:pt x="0" y="680465"/>
                  </a:moveTo>
                  <a:lnTo>
                    <a:pt x="8001000" y="680465"/>
                  </a:lnTo>
                  <a:lnTo>
                    <a:pt x="8001000" y="0"/>
                  </a:lnTo>
                  <a:lnTo>
                    <a:pt x="0" y="0"/>
                  </a:lnTo>
                  <a:lnTo>
                    <a:pt x="0" y="680465"/>
                  </a:lnTo>
                  <a:close/>
                </a:path>
              </a:pathLst>
            </a:custGeom>
            <a:ln w="25146">
              <a:solidFill>
                <a:srgbClr val="9BBA58"/>
              </a:solidFill>
            </a:ln>
          </p:spPr>
          <p:txBody>
            <a:bodyPr wrap="square" lIns="0" tIns="0" rIns="0" bIns="0" rtlCol="0"/>
            <a:lstStyle/>
            <a:p>
              <a:endParaRPr/>
            </a:p>
          </p:txBody>
        </p:sp>
        <p:sp>
          <p:nvSpPr>
            <p:cNvPr id="11" name="object 11"/>
            <p:cNvSpPr/>
            <p:nvPr/>
          </p:nvSpPr>
          <p:spPr>
            <a:xfrm>
              <a:off x="857631" y="2813684"/>
              <a:ext cx="7315200" cy="797560"/>
            </a:xfrm>
            <a:custGeom>
              <a:avLst/>
              <a:gdLst/>
              <a:ahLst/>
              <a:cxnLst/>
              <a:rect l="l" t="t" r="r" b="b"/>
              <a:pathLst>
                <a:path w="7315200" h="797560">
                  <a:moveTo>
                    <a:pt x="7182358" y="0"/>
                  </a:moveTo>
                  <a:lnTo>
                    <a:pt x="132842" y="0"/>
                  </a:lnTo>
                  <a:lnTo>
                    <a:pt x="90853" y="6768"/>
                  </a:lnTo>
                  <a:lnTo>
                    <a:pt x="54386" y="25619"/>
                  </a:lnTo>
                  <a:lnTo>
                    <a:pt x="25630" y="54370"/>
                  </a:lnTo>
                  <a:lnTo>
                    <a:pt x="6772" y="90838"/>
                  </a:lnTo>
                  <a:lnTo>
                    <a:pt x="0" y="132841"/>
                  </a:lnTo>
                  <a:lnTo>
                    <a:pt x="0" y="664209"/>
                  </a:lnTo>
                  <a:lnTo>
                    <a:pt x="6772" y="706213"/>
                  </a:lnTo>
                  <a:lnTo>
                    <a:pt x="25630" y="742681"/>
                  </a:lnTo>
                  <a:lnTo>
                    <a:pt x="54386" y="771432"/>
                  </a:lnTo>
                  <a:lnTo>
                    <a:pt x="90853" y="790283"/>
                  </a:lnTo>
                  <a:lnTo>
                    <a:pt x="132842" y="797051"/>
                  </a:lnTo>
                  <a:lnTo>
                    <a:pt x="7182358" y="797051"/>
                  </a:lnTo>
                  <a:lnTo>
                    <a:pt x="7224361" y="790283"/>
                  </a:lnTo>
                  <a:lnTo>
                    <a:pt x="7260829" y="771432"/>
                  </a:lnTo>
                  <a:lnTo>
                    <a:pt x="7289580" y="742681"/>
                  </a:lnTo>
                  <a:lnTo>
                    <a:pt x="7308431" y="706213"/>
                  </a:lnTo>
                  <a:lnTo>
                    <a:pt x="7315200" y="664209"/>
                  </a:lnTo>
                  <a:lnTo>
                    <a:pt x="7315200" y="132841"/>
                  </a:lnTo>
                  <a:lnTo>
                    <a:pt x="7308431" y="90838"/>
                  </a:lnTo>
                  <a:lnTo>
                    <a:pt x="7289580" y="54370"/>
                  </a:lnTo>
                  <a:lnTo>
                    <a:pt x="7260829" y="25619"/>
                  </a:lnTo>
                  <a:lnTo>
                    <a:pt x="7224361" y="6768"/>
                  </a:lnTo>
                  <a:lnTo>
                    <a:pt x="7182358" y="0"/>
                  </a:lnTo>
                  <a:close/>
                </a:path>
              </a:pathLst>
            </a:custGeom>
            <a:solidFill>
              <a:srgbClr val="9BBA58"/>
            </a:solidFill>
          </p:spPr>
          <p:txBody>
            <a:bodyPr wrap="square" lIns="0" tIns="0" rIns="0" bIns="0" rtlCol="0"/>
            <a:lstStyle/>
            <a:p>
              <a:endParaRPr/>
            </a:p>
          </p:txBody>
        </p:sp>
        <p:sp>
          <p:nvSpPr>
            <p:cNvPr id="12" name="object 12"/>
            <p:cNvSpPr/>
            <p:nvPr/>
          </p:nvSpPr>
          <p:spPr>
            <a:xfrm>
              <a:off x="857631" y="2813684"/>
              <a:ext cx="7315200" cy="797560"/>
            </a:xfrm>
            <a:custGeom>
              <a:avLst/>
              <a:gdLst/>
              <a:ahLst/>
              <a:cxnLst/>
              <a:rect l="l" t="t" r="r" b="b"/>
              <a:pathLst>
                <a:path w="7315200" h="797560">
                  <a:moveTo>
                    <a:pt x="0" y="132841"/>
                  </a:moveTo>
                  <a:lnTo>
                    <a:pt x="6772" y="90838"/>
                  </a:lnTo>
                  <a:lnTo>
                    <a:pt x="25630" y="54370"/>
                  </a:lnTo>
                  <a:lnTo>
                    <a:pt x="54386" y="25619"/>
                  </a:lnTo>
                  <a:lnTo>
                    <a:pt x="90853" y="6768"/>
                  </a:lnTo>
                  <a:lnTo>
                    <a:pt x="132842" y="0"/>
                  </a:lnTo>
                  <a:lnTo>
                    <a:pt x="7182358" y="0"/>
                  </a:lnTo>
                  <a:lnTo>
                    <a:pt x="7224361" y="6768"/>
                  </a:lnTo>
                  <a:lnTo>
                    <a:pt x="7260829" y="25619"/>
                  </a:lnTo>
                  <a:lnTo>
                    <a:pt x="7289580" y="54370"/>
                  </a:lnTo>
                  <a:lnTo>
                    <a:pt x="7308431" y="90838"/>
                  </a:lnTo>
                  <a:lnTo>
                    <a:pt x="7315200" y="132841"/>
                  </a:lnTo>
                  <a:lnTo>
                    <a:pt x="7315200" y="664209"/>
                  </a:lnTo>
                  <a:lnTo>
                    <a:pt x="7308431" y="706213"/>
                  </a:lnTo>
                  <a:lnTo>
                    <a:pt x="7289580" y="742681"/>
                  </a:lnTo>
                  <a:lnTo>
                    <a:pt x="7260829" y="771432"/>
                  </a:lnTo>
                  <a:lnTo>
                    <a:pt x="7224361" y="790283"/>
                  </a:lnTo>
                  <a:lnTo>
                    <a:pt x="7182358" y="797051"/>
                  </a:lnTo>
                  <a:lnTo>
                    <a:pt x="132842" y="797051"/>
                  </a:lnTo>
                  <a:lnTo>
                    <a:pt x="90853" y="790283"/>
                  </a:lnTo>
                  <a:lnTo>
                    <a:pt x="54386" y="771432"/>
                  </a:lnTo>
                  <a:lnTo>
                    <a:pt x="25630" y="742681"/>
                  </a:lnTo>
                  <a:lnTo>
                    <a:pt x="6772" y="706213"/>
                  </a:lnTo>
                  <a:lnTo>
                    <a:pt x="0" y="664209"/>
                  </a:lnTo>
                  <a:lnTo>
                    <a:pt x="0" y="132841"/>
                  </a:lnTo>
                  <a:close/>
                </a:path>
              </a:pathLst>
            </a:custGeom>
            <a:ln w="25145">
              <a:solidFill>
                <a:srgbClr val="FFFFFF"/>
              </a:solidFill>
            </a:ln>
          </p:spPr>
          <p:txBody>
            <a:bodyPr wrap="square" lIns="0" tIns="0" rIns="0" bIns="0" rtlCol="0"/>
            <a:lstStyle/>
            <a:p>
              <a:endParaRPr/>
            </a:p>
          </p:txBody>
        </p:sp>
      </p:grpSp>
      <p:sp>
        <p:nvSpPr>
          <p:cNvPr id="13" name="object 13"/>
          <p:cNvSpPr txBox="1"/>
          <p:nvPr/>
        </p:nvSpPr>
        <p:spPr>
          <a:xfrm>
            <a:off x="1095247" y="2947924"/>
            <a:ext cx="6692900" cy="489584"/>
          </a:xfrm>
          <a:prstGeom prst="rect">
            <a:avLst/>
          </a:prstGeom>
        </p:spPr>
        <p:txBody>
          <a:bodyPr vert="horz" wrap="square" lIns="0" tIns="40005" rIns="0" bIns="0" rtlCol="0">
            <a:spAutoFit/>
          </a:bodyPr>
          <a:lstStyle/>
          <a:p>
            <a:pPr marL="12700" marR="5080">
              <a:lnSpc>
                <a:spcPts val="1730"/>
              </a:lnSpc>
              <a:spcBef>
                <a:spcPts val="315"/>
              </a:spcBef>
            </a:pPr>
            <a:r>
              <a:rPr sz="1600" b="1" dirty="0">
                <a:latin typeface="Goudy Old Style"/>
                <a:cs typeface="Goudy Old Style"/>
              </a:rPr>
              <a:t>Data </a:t>
            </a:r>
            <a:r>
              <a:rPr sz="1600" b="1" spc="-5" dirty="0">
                <a:latin typeface="Goudy Old Style"/>
                <a:cs typeface="Goudy Old Style"/>
              </a:rPr>
              <a:t>independence is </a:t>
            </a:r>
            <a:r>
              <a:rPr sz="1600" b="1" spc="-10" dirty="0">
                <a:latin typeface="Goudy Old Style"/>
                <a:cs typeface="Goudy Old Style"/>
              </a:rPr>
              <a:t>provided </a:t>
            </a:r>
            <a:r>
              <a:rPr sz="1600" b="1" spc="-5" dirty="0">
                <a:latin typeface="Goudy Old Style"/>
                <a:cs typeface="Goudy Old Style"/>
              </a:rPr>
              <a:t>by </a:t>
            </a:r>
            <a:r>
              <a:rPr sz="1600" b="1" dirty="0">
                <a:latin typeface="Goudy Old Style"/>
                <a:cs typeface="Goudy Old Style"/>
              </a:rPr>
              <a:t>a </a:t>
            </a:r>
            <a:r>
              <a:rPr sz="1600" b="1" spc="-5" dirty="0">
                <a:latin typeface="Goudy Old Style"/>
                <a:cs typeface="Goudy Old Style"/>
              </a:rPr>
              <a:t>DBMS, </a:t>
            </a:r>
            <a:r>
              <a:rPr sz="1600" b="1" spc="-10" dirty="0">
                <a:latin typeface="Goudy Old Style"/>
                <a:cs typeface="Goudy Old Style"/>
              </a:rPr>
              <a:t>which </a:t>
            </a:r>
            <a:r>
              <a:rPr sz="1600" b="1" spc="-5" dirty="0">
                <a:latin typeface="Goudy Old Style"/>
                <a:cs typeface="Goudy Old Style"/>
              </a:rPr>
              <a:t>reduces the </a:t>
            </a:r>
            <a:r>
              <a:rPr sz="1600" b="1" dirty="0">
                <a:latin typeface="Goudy Old Style"/>
                <a:cs typeface="Goudy Old Style"/>
              </a:rPr>
              <a:t>effort </a:t>
            </a:r>
            <a:r>
              <a:rPr sz="1600" b="1" spc="-5" dirty="0">
                <a:latin typeface="Goudy Old Style"/>
                <a:cs typeface="Goudy Old Style"/>
              </a:rPr>
              <a:t>and costs </a:t>
            </a:r>
            <a:r>
              <a:rPr sz="1600" b="1" dirty="0">
                <a:latin typeface="Goudy Old Style"/>
                <a:cs typeface="Goudy Old Style"/>
              </a:rPr>
              <a:t>in  </a:t>
            </a:r>
            <a:r>
              <a:rPr sz="1600" b="1" spc="-5" dirty="0">
                <a:latin typeface="Goudy Old Style"/>
                <a:cs typeface="Goudy Old Style"/>
              </a:rPr>
              <a:t>maintaining the</a:t>
            </a:r>
            <a:r>
              <a:rPr sz="1600" b="1" spc="-20" dirty="0">
                <a:latin typeface="Goudy Old Style"/>
                <a:cs typeface="Goudy Old Style"/>
              </a:rPr>
              <a:t> </a:t>
            </a:r>
            <a:r>
              <a:rPr sz="1600" b="1" spc="-5" dirty="0">
                <a:latin typeface="Goudy Old Style"/>
                <a:cs typeface="Goudy Old Style"/>
              </a:rPr>
              <a:t>program.</a:t>
            </a:r>
            <a:endParaRPr sz="1600">
              <a:latin typeface="Goudy Old Style"/>
              <a:cs typeface="Goudy Old Style"/>
            </a:endParaRPr>
          </a:p>
        </p:txBody>
      </p:sp>
      <p:grpSp>
        <p:nvGrpSpPr>
          <p:cNvPr id="14" name="object 14"/>
          <p:cNvGrpSpPr/>
          <p:nvPr/>
        </p:nvGrpSpPr>
        <p:grpSpPr>
          <a:xfrm>
            <a:off x="445008" y="4025646"/>
            <a:ext cx="8026400" cy="1104265"/>
            <a:chOff x="445008" y="4025646"/>
            <a:chExt cx="8026400" cy="1104265"/>
          </a:xfrm>
        </p:grpSpPr>
        <p:sp>
          <p:nvSpPr>
            <p:cNvPr id="15" name="object 15"/>
            <p:cNvSpPr/>
            <p:nvPr/>
          </p:nvSpPr>
          <p:spPr>
            <a:xfrm>
              <a:off x="457581" y="4436745"/>
              <a:ext cx="8001000" cy="680720"/>
            </a:xfrm>
            <a:custGeom>
              <a:avLst/>
              <a:gdLst/>
              <a:ahLst/>
              <a:cxnLst/>
              <a:rect l="l" t="t" r="r" b="b"/>
              <a:pathLst>
                <a:path w="8001000" h="680720">
                  <a:moveTo>
                    <a:pt x="0" y="680465"/>
                  </a:moveTo>
                  <a:lnTo>
                    <a:pt x="8001000" y="680465"/>
                  </a:lnTo>
                  <a:lnTo>
                    <a:pt x="8001000" y="0"/>
                  </a:lnTo>
                  <a:lnTo>
                    <a:pt x="0" y="0"/>
                  </a:lnTo>
                  <a:lnTo>
                    <a:pt x="0" y="680465"/>
                  </a:lnTo>
                  <a:close/>
                </a:path>
              </a:pathLst>
            </a:custGeom>
            <a:ln w="25146">
              <a:solidFill>
                <a:srgbClr val="8063A1"/>
              </a:solidFill>
            </a:ln>
          </p:spPr>
          <p:txBody>
            <a:bodyPr wrap="square" lIns="0" tIns="0" rIns="0" bIns="0" rtlCol="0"/>
            <a:lstStyle/>
            <a:p>
              <a:endParaRPr/>
            </a:p>
          </p:txBody>
        </p:sp>
        <p:sp>
          <p:nvSpPr>
            <p:cNvPr id="16" name="object 16"/>
            <p:cNvSpPr/>
            <p:nvPr/>
          </p:nvSpPr>
          <p:spPr>
            <a:xfrm>
              <a:off x="857631" y="4038219"/>
              <a:ext cx="7315200" cy="797560"/>
            </a:xfrm>
            <a:custGeom>
              <a:avLst/>
              <a:gdLst/>
              <a:ahLst/>
              <a:cxnLst/>
              <a:rect l="l" t="t" r="r" b="b"/>
              <a:pathLst>
                <a:path w="7315200" h="797560">
                  <a:moveTo>
                    <a:pt x="7182358" y="0"/>
                  </a:moveTo>
                  <a:lnTo>
                    <a:pt x="132842" y="0"/>
                  </a:lnTo>
                  <a:lnTo>
                    <a:pt x="90853" y="6768"/>
                  </a:lnTo>
                  <a:lnTo>
                    <a:pt x="54386" y="25619"/>
                  </a:lnTo>
                  <a:lnTo>
                    <a:pt x="25630" y="54370"/>
                  </a:lnTo>
                  <a:lnTo>
                    <a:pt x="6772" y="90838"/>
                  </a:lnTo>
                  <a:lnTo>
                    <a:pt x="0" y="132841"/>
                  </a:lnTo>
                  <a:lnTo>
                    <a:pt x="0" y="664209"/>
                  </a:lnTo>
                  <a:lnTo>
                    <a:pt x="6772" y="706213"/>
                  </a:lnTo>
                  <a:lnTo>
                    <a:pt x="25630" y="742681"/>
                  </a:lnTo>
                  <a:lnTo>
                    <a:pt x="54386" y="771432"/>
                  </a:lnTo>
                  <a:lnTo>
                    <a:pt x="90853" y="790283"/>
                  </a:lnTo>
                  <a:lnTo>
                    <a:pt x="132842" y="797051"/>
                  </a:lnTo>
                  <a:lnTo>
                    <a:pt x="7182358" y="797051"/>
                  </a:lnTo>
                  <a:lnTo>
                    <a:pt x="7224361" y="790283"/>
                  </a:lnTo>
                  <a:lnTo>
                    <a:pt x="7260829" y="771432"/>
                  </a:lnTo>
                  <a:lnTo>
                    <a:pt x="7289580" y="742681"/>
                  </a:lnTo>
                  <a:lnTo>
                    <a:pt x="7308431" y="706213"/>
                  </a:lnTo>
                  <a:lnTo>
                    <a:pt x="7315200" y="664209"/>
                  </a:lnTo>
                  <a:lnTo>
                    <a:pt x="7315200" y="132841"/>
                  </a:lnTo>
                  <a:lnTo>
                    <a:pt x="7308431" y="90838"/>
                  </a:lnTo>
                  <a:lnTo>
                    <a:pt x="7289580" y="54370"/>
                  </a:lnTo>
                  <a:lnTo>
                    <a:pt x="7260829" y="25619"/>
                  </a:lnTo>
                  <a:lnTo>
                    <a:pt x="7224361" y="6768"/>
                  </a:lnTo>
                  <a:lnTo>
                    <a:pt x="7182358" y="0"/>
                  </a:lnTo>
                  <a:close/>
                </a:path>
              </a:pathLst>
            </a:custGeom>
            <a:solidFill>
              <a:srgbClr val="8063A1"/>
            </a:solidFill>
          </p:spPr>
          <p:txBody>
            <a:bodyPr wrap="square" lIns="0" tIns="0" rIns="0" bIns="0" rtlCol="0"/>
            <a:lstStyle/>
            <a:p>
              <a:endParaRPr/>
            </a:p>
          </p:txBody>
        </p:sp>
        <p:sp>
          <p:nvSpPr>
            <p:cNvPr id="17" name="object 17"/>
            <p:cNvSpPr/>
            <p:nvPr/>
          </p:nvSpPr>
          <p:spPr>
            <a:xfrm>
              <a:off x="857631" y="4038219"/>
              <a:ext cx="7315200" cy="797560"/>
            </a:xfrm>
            <a:custGeom>
              <a:avLst/>
              <a:gdLst/>
              <a:ahLst/>
              <a:cxnLst/>
              <a:rect l="l" t="t" r="r" b="b"/>
              <a:pathLst>
                <a:path w="7315200" h="797560">
                  <a:moveTo>
                    <a:pt x="0" y="132841"/>
                  </a:moveTo>
                  <a:lnTo>
                    <a:pt x="6772" y="90838"/>
                  </a:lnTo>
                  <a:lnTo>
                    <a:pt x="25630" y="54370"/>
                  </a:lnTo>
                  <a:lnTo>
                    <a:pt x="54386" y="25619"/>
                  </a:lnTo>
                  <a:lnTo>
                    <a:pt x="90853" y="6768"/>
                  </a:lnTo>
                  <a:lnTo>
                    <a:pt x="132842" y="0"/>
                  </a:lnTo>
                  <a:lnTo>
                    <a:pt x="7182358" y="0"/>
                  </a:lnTo>
                  <a:lnTo>
                    <a:pt x="7224361" y="6768"/>
                  </a:lnTo>
                  <a:lnTo>
                    <a:pt x="7260829" y="25619"/>
                  </a:lnTo>
                  <a:lnTo>
                    <a:pt x="7289580" y="54370"/>
                  </a:lnTo>
                  <a:lnTo>
                    <a:pt x="7308431" y="90838"/>
                  </a:lnTo>
                  <a:lnTo>
                    <a:pt x="7315200" y="132841"/>
                  </a:lnTo>
                  <a:lnTo>
                    <a:pt x="7315200" y="664209"/>
                  </a:lnTo>
                  <a:lnTo>
                    <a:pt x="7308431" y="706213"/>
                  </a:lnTo>
                  <a:lnTo>
                    <a:pt x="7289580" y="742681"/>
                  </a:lnTo>
                  <a:lnTo>
                    <a:pt x="7260829" y="771432"/>
                  </a:lnTo>
                  <a:lnTo>
                    <a:pt x="7224361" y="790283"/>
                  </a:lnTo>
                  <a:lnTo>
                    <a:pt x="7182358" y="797051"/>
                  </a:lnTo>
                  <a:lnTo>
                    <a:pt x="132842" y="797051"/>
                  </a:lnTo>
                  <a:lnTo>
                    <a:pt x="90853" y="790283"/>
                  </a:lnTo>
                  <a:lnTo>
                    <a:pt x="54386" y="771432"/>
                  </a:lnTo>
                  <a:lnTo>
                    <a:pt x="25630" y="742681"/>
                  </a:lnTo>
                  <a:lnTo>
                    <a:pt x="6772" y="706213"/>
                  </a:lnTo>
                  <a:lnTo>
                    <a:pt x="0" y="664209"/>
                  </a:lnTo>
                  <a:lnTo>
                    <a:pt x="0" y="132841"/>
                  </a:lnTo>
                  <a:close/>
                </a:path>
              </a:pathLst>
            </a:custGeom>
            <a:ln w="25145">
              <a:solidFill>
                <a:srgbClr val="FFFFFF"/>
              </a:solidFill>
            </a:ln>
          </p:spPr>
          <p:txBody>
            <a:bodyPr wrap="square" lIns="0" tIns="0" rIns="0" bIns="0" rtlCol="0"/>
            <a:lstStyle/>
            <a:p>
              <a:endParaRPr/>
            </a:p>
          </p:txBody>
        </p:sp>
      </p:grpSp>
      <p:sp>
        <p:nvSpPr>
          <p:cNvPr id="18" name="object 18"/>
          <p:cNvSpPr txBox="1"/>
          <p:nvPr/>
        </p:nvSpPr>
        <p:spPr>
          <a:xfrm>
            <a:off x="1095247" y="4282440"/>
            <a:ext cx="6295390" cy="269875"/>
          </a:xfrm>
          <a:prstGeom prst="rect">
            <a:avLst/>
          </a:prstGeom>
        </p:spPr>
        <p:txBody>
          <a:bodyPr vert="horz" wrap="square" lIns="0" tIns="12700" rIns="0" bIns="0" rtlCol="0">
            <a:spAutoFit/>
          </a:bodyPr>
          <a:lstStyle/>
          <a:p>
            <a:pPr marL="12700">
              <a:lnSpc>
                <a:spcPct val="100000"/>
              </a:lnSpc>
              <a:spcBef>
                <a:spcPts val="100"/>
              </a:spcBef>
            </a:pPr>
            <a:r>
              <a:rPr sz="1600" b="1" spc="-5" dirty="0">
                <a:solidFill>
                  <a:srgbClr val="FFFFFF"/>
                </a:solidFill>
                <a:latin typeface="Goudy Old Style"/>
                <a:cs typeface="Goudy Old Style"/>
              </a:rPr>
              <a:t>This model is </a:t>
            </a:r>
            <a:r>
              <a:rPr sz="1600" b="1" dirty="0">
                <a:solidFill>
                  <a:srgbClr val="FFFFFF"/>
                </a:solidFill>
                <a:latin typeface="Goudy Old Style"/>
                <a:cs typeface="Goudy Old Style"/>
              </a:rPr>
              <a:t>very efficient </a:t>
            </a:r>
            <a:r>
              <a:rPr sz="1600" b="1" spc="-5" dirty="0">
                <a:solidFill>
                  <a:srgbClr val="FFFFFF"/>
                </a:solidFill>
                <a:latin typeface="Goudy Old Style"/>
                <a:cs typeface="Goudy Old Style"/>
              </a:rPr>
              <a:t>when </a:t>
            </a:r>
            <a:r>
              <a:rPr sz="1600" b="1" dirty="0">
                <a:solidFill>
                  <a:srgbClr val="FFFFFF"/>
                </a:solidFill>
                <a:latin typeface="Goudy Old Style"/>
                <a:cs typeface="Goudy Old Style"/>
              </a:rPr>
              <a:t>a </a:t>
            </a:r>
            <a:r>
              <a:rPr sz="1600" b="1" spc="-5" dirty="0">
                <a:solidFill>
                  <a:srgbClr val="FFFFFF"/>
                </a:solidFill>
                <a:latin typeface="Goudy Old Style"/>
                <a:cs typeface="Goudy Old Style"/>
              </a:rPr>
              <a:t>database </a:t>
            </a:r>
            <a:r>
              <a:rPr sz="1600" b="1" dirty="0">
                <a:solidFill>
                  <a:srgbClr val="FFFFFF"/>
                </a:solidFill>
                <a:latin typeface="Goudy Old Style"/>
                <a:cs typeface="Goudy Old Style"/>
              </a:rPr>
              <a:t>contains a large </a:t>
            </a:r>
            <a:r>
              <a:rPr sz="1600" b="1" spc="-10" dirty="0">
                <a:solidFill>
                  <a:srgbClr val="FFFFFF"/>
                </a:solidFill>
                <a:latin typeface="Goudy Old Style"/>
                <a:cs typeface="Goudy Old Style"/>
              </a:rPr>
              <a:t>volume </a:t>
            </a:r>
            <a:r>
              <a:rPr sz="1600" b="1" spc="-5" dirty="0">
                <a:solidFill>
                  <a:srgbClr val="FFFFFF"/>
                </a:solidFill>
                <a:latin typeface="Goudy Old Style"/>
                <a:cs typeface="Goudy Old Style"/>
              </a:rPr>
              <a:t>of</a:t>
            </a:r>
            <a:r>
              <a:rPr sz="1600" b="1" spc="-15" dirty="0">
                <a:solidFill>
                  <a:srgbClr val="FFFFFF"/>
                </a:solidFill>
                <a:latin typeface="Goudy Old Style"/>
                <a:cs typeface="Goudy Old Style"/>
              </a:rPr>
              <a:t> </a:t>
            </a:r>
            <a:r>
              <a:rPr sz="1600" b="1" dirty="0">
                <a:solidFill>
                  <a:srgbClr val="FFFFFF"/>
                </a:solidFill>
                <a:latin typeface="Goudy Old Style"/>
                <a:cs typeface="Goudy Old Style"/>
              </a:rPr>
              <a:t>data.</a:t>
            </a:r>
            <a:endParaRPr sz="1600">
              <a:latin typeface="Goudy Old Style"/>
              <a:cs typeface="Goudy Old Style"/>
            </a:endParaRPr>
          </a:p>
        </p:txBody>
      </p:sp>
      <p:sp>
        <p:nvSpPr>
          <p:cNvPr id="21" name="object 21"/>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19</a:t>
            </a:fld>
            <a:endParaRPr sz="1200"/>
          </a:p>
        </p:txBody>
      </p:sp>
      <p:sp>
        <p:nvSpPr>
          <p:cNvPr id="22" name="object 22"/>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19" name="object 19"/>
          <p:cNvSpPr txBox="1"/>
          <p:nvPr/>
        </p:nvSpPr>
        <p:spPr>
          <a:xfrm>
            <a:off x="459740" y="5366258"/>
            <a:ext cx="7409815" cy="574040"/>
          </a:xfrm>
          <a:prstGeom prst="rect">
            <a:avLst/>
          </a:prstGeom>
        </p:spPr>
        <p:txBody>
          <a:bodyPr vert="horz" wrap="square" lIns="0" tIns="12700" rIns="0" bIns="0" rtlCol="0">
            <a:spAutoFit/>
          </a:bodyPr>
          <a:lstStyle/>
          <a:p>
            <a:pPr marL="353695" marR="5080" indent="-341630">
              <a:lnSpc>
                <a:spcPct val="100000"/>
              </a:lnSpc>
              <a:spcBef>
                <a:spcPts val="100"/>
              </a:spcBef>
              <a:buFont typeface="Wingdings"/>
              <a:buChar char=""/>
              <a:tabLst>
                <a:tab pos="353695" algn="l"/>
                <a:tab pos="354330" algn="l"/>
              </a:tabLst>
            </a:pPr>
            <a:r>
              <a:rPr sz="1800" spc="-15" dirty="0">
                <a:latin typeface="Goudy Old Style"/>
                <a:cs typeface="Goudy Old Style"/>
              </a:rPr>
              <a:t>For </a:t>
            </a:r>
            <a:r>
              <a:rPr sz="1800" spc="-5" dirty="0">
                <a:latin typeface="Goudy Old Style"/>
                <a:cs typeface="Goudy Old Style"/>
              </a:rPr>
              <a:t>example, </a:t>
            </a:r>
            <a:r>
              <a:rPr sz="1800" dirty="0">
                <a:latin typeface="Goudy Old Style"/>
                <a:cs typeface="Goudy Old Style"/>
              </a:rPr>
              <a:t>a bank's </a:t>
            </a:r>
            <a:r>
              <a:rPr sz="1800" spc="-5" dirty="0">
                <a:latin typeface="Goudy Old Style"/>
                <a:cs typeface="Goudy Old Style"/>
              </a:rPr>
              <a:t>customer account system </a:t>
            </a:r>
            <a:r>
              <a:rPr sz="1800" dirty="0">
                <a:latin typeface="Goudy Old Style"/>
                <a:cs typeface="Goudy Old Style"/>
              </a:rPr>
              <a:t>fits the </a:t>
            </a:r>
            <a:r>
              <a:rPr sz="1800" spc="-5" dirty="0">
                <a:latin typeface="Goudy Old Style"/>
                <a:cs typeface="Goudy Old Style"/>
              </a:rPr>
              <a:t>hierarchical </a:t>
            </a:r>
            <a:r>
              <a:rPr sz="1800" dirty="0">
                <a:latin typeface="Goudy Old Style"/>
                <a:cs typeface="Goudy Old Style"/>
              </a:rPr>
              <a:t>model </a:t>
            </a:r>
            <a:r>
              <a:rPr sz="1800" spc="-15" dirty="0">
                <a:latin typeface="Goudy Old Style"/>
                <a:cs typeface="Goudy Old Style"/>
              </a:rPr>
              <a:t>well  </a:t>
            </a:r>
            <a:r>
              <a:rPr sz="1800" dirty="0">
                <a:latin typeface="Goudy Old Style"/>
                <a:cs typeface="Goudy Old Style"/>
              </a:rPr>
              <a:t>because </a:t>
            </a:r>
            <a:r>
              <a:rPr sz="1800" spc="-10" dirty="0">
                <a:latin typeface="Goudy Old Style"/>
                <a:cs typeface="Goudy Old Style"/>
              </a:rPr>
              <a:t>each </a:t>
            </a:r>
            <a:r>
              <a:rPr sz="1800" spc="-5" dirty="0">
                <a:latin typeface="Goudy Old Style"/>
                <a:cs typeface="Goudy Old Style"/>
              </a:rPr>
              <a:t>customer's account </a:t>
            </a:r>
            <a:r>
              <a:rPr sz="1800" dirty="0">
                <a:latin typeface="Goudy Old Style"/>
                <a:cs typeface="Goudy Old Style"/>
              </a:rPr>
              <a:t>is subject </a:t>
            </a:r>
            <a:r>
              <a:rPr sz="1800" spc="-5" dirty="0">
                <a:latin typeface="Goudy Old Style"/>
                <a:cs typeface="Goudy Old Style"/>
              </a:rPr>
              <a:t>to </a:t>
            </a:r>
            <a:r>
              <a:rPr sz="1800" dirty="0">
                <a:latin typeface="Goudy Old Style"/>
                <a:cs typeface="Goudy Old Style"/>
              </a:rPr>
              <a:t>a </a:t>
            </a:r>
            <a:r>
              <a:rPr sz="1800" spc="-5" dirty="0">
                <a:latin typeface="Goudy Old Style"/>
                <a:cs typeface="Goudy Old Style"/>
              </a:rPr>
              <a:t>number of</a:t>
            </a:r>
            <a:r>
              <a:rPr sz="1800" spc="-110" dirty="0">
                <a:latin typeface="Goudy Old Style"/>
                <a:cs typeface="Goudy Old Style"/>
              </a:rPr>
              <a:t> </a:t>
            </a:r>
            <a:r>
              <a:rPr sz="1800" spc="-5" dirty="0">
                <a:latin typeface="Goudy Old Style"/>
                <a:cs typeface="Goudy Old Style"/>
              </a:rPr>
              <a:t>transactions.</a:t>
            </a:r>
            <a:endParaRPr sz="1800">
              <a:latin typeface="Goudy Old Style"/>
              <a:cs typeface="Goudy Old Style"/>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4993640" cy="635635"/>
          </a:xfrm>
          <a:prstGeom prst="rect">
            <a:avLst/>
          </a:prstGeom>
        </p:spPr>
        <p:txBody>
          <a:bodyPr vert="horz" wrap="square" lIns="0" tIns="12700" rIns="0" bIns="0" rtlCol="0">
            <a:spAutoFit/>
          </a:bodyPr>
          <a:lstStyle/>
          <a:p>
            <a:pPr marL="12700">
              <a:lnSpc>
                <a:spcPct val="100000"/>
              </a:lnSpc>
              <a:spcBef>
                <a:spcPts val="100"/>
              </a:spcBef>
            </a:pPr>
            <a:r>
              <a:rPr sz="4000" b="0" spc="-35" dirty="0">
                <a:latin typeface="Goudy Old Style"/>
                <a:cs typeface="Goudy Old Style"/>
              </a:rPr>
              <a:t>Network </a:t>
            </a:r>
            <a:r>
              <a:rPr sz="4000" b="0" spc="10" dirty="0">
                <a:latin typeface="Goudy Old Style"/>
                <a:cs typeface="Goudy Old Style"/>
              </a:rPr>
              <a:t>Data </a:t>
            </a:r>
            <a:r>
              <a:rPr sz="4000" b="0" spc="-5" dirty="0">
                <a:latin typeface="Goudy Old Style"/>
                <a:cs typeface="Goudy Old Style"/>
              </a:rPr>
              <a:t>Model</a:t>
            </a:r>
            <a:r>
              <a:rPr sz="4000" b="0" spc="-55" dirty="0">
                <a:latin typeface="Goudy Old Style"/>
                <a:cs typeface="Goudy Old Style"/>
              </a:rPr>
              <a:t> </a:t>
            </a:r>
            <a:r>
              <a:rPr sz="4000" b="0" spc="5" dirty="0">
                <a:latin typeface="Goudy Old Style"/>
                <a:cs typeface="Goudy Old Style"/>
              </a:rPr>
              <a:t>1-4</a:t>
            </a:r>
            <a:endParaRPr sz="4000">
              <a:latin typeface="Goudy Old Style"/>
              <a:cs typeface="Goudy Old Style"/>
            </a:endParaRPr>
          </a:p>
        </p:txBody>
      </p:sp>
      <p:pic>
        <p:nvPicPr>
          <p:cNvPr id="3" name="object 3"/>
          <p:cNvPicPr/>
          <p:nvPr/>
        </p:nvPicPr>
        <p:blipFill>
          <a:blip r:embed="rId3" cstate="print"/>
          <a:stretch>
            <a:fillRect/>
          </a:stretch>
        </p:blipFill>
        <p:spPr>
          <a:xfrm>
            <a:off x="339090" y="3092183"/>
            <a:ext cx="8234933" cy="995946"/>
          </a:xfrm>
          <a:prstGeom prst="rect">
            <a:avLst/>
          </a:prstGeom>
        </p:spPr>
      </p:pic>
      <p:grpSp>
        <p:nvGrpSpPr>
          <p:cNvPr id="4" name="object 4"/>
          <p:cNvGrpSpPr/>
          <p:nvPr/>
        </p:nvGrpSpPr>
        <p:grpSpPr>
          <a:xfrm>
            <a:off x="339090" y="1047737"/>
            <a:ext cx="8235315" cy="1682114"/>
            <a:chOff x="339090" y="1047737"/>
            <a:chExt cx="8235315" cy="1682114"/>
          </a:xfrm>
        </p:grpSpPr>
        <p:pic>
          <p:nvPicPr>
            <p:cNvPr id="5" name="object 5"/>
            <p:cNvPicPr/>
            <p:nvPr/>
          </p:nvPicPr>
          <p:blipFill>
            <a:blip r:embed="rId4" cstate="print"/>
            <a:stretch>
              <a:fillRect/>
            </a:stretch>
          </p:blipFill>
          <p:spPr>
            <a:xfrm>
              <a:off x="339090" y="1047737"/>
              <a:ext cx="8234933" cy="843546"/>
            </a:xfrm>
            <a:prstGeom prst="rect">
              <a:avLst/>
            </a:prstGeom>
          </p:spPr>
        </p:pic>
        <p:pic>
          <p:nvPicPr>
            <p:cNvPr id="6" name="object 6"/>
            <p:cNvPicPr/>
            <p:nvPr/>
          </p:nvPicPr>
          <p:blipFill>
            <a:blip r:embed="rId5" cstate="print"/>
            <a:stretch>
              <a:fillRect/>
            </a:stretch>
          </p:blipFill>
          <p:spPr>
            <a:xfrm>
              <a:off x="339090" y="1885937"/>
              <a:ext cx="8234933" cy="843546"/>
            </a:xfrm>
            <a:prstGeom prst="rect">
              <a:avLst/>
            </a:prstGeom>
          </p:spPr>
        </p:pic>
      </p:grpSp>
      <p:sp>
        <p:nvSpPr>
          <p:cNvPr id="7" name="object 7"/>
          <p:cNvSpPr txBox="1"/>
          <p:nvPr/>
        </p:nvSpPr>
        <p:spPr>
          <a:xfrm>
            <a:off x="514095" y="1148079"/>
            <a:ext cx="7333615" cy="1388110"/>
          </a:xfrm>
          <a:prstGeom prst="rect">
            <a:avLst/>
          </a:prstGeom>
        </p:spPr>
        <p:txBody>
          <a:bodyPr vert="horz" wrap="square" lIns="0" tIns="43815" rIns="0" bIns="0" rtlCol="0">
            <a:spAutoFit/>
          </a:bodyPr>
          <a:lstStyle/>
          <a:p>
            <a:pPr marL="12700" marR="5080">
              <a:lnSpc>
                <a:spcPts val="1939"/>
              </a:lnSpc>
              <a:spcBef>
                <a:spcPts val="345"/>
              </a:spcBef>
            </a:pPr>
            <a:r>
              <a:rPr sz="1800" dirty="0">
                <a:solidFill>
                  <a:srgbClr val="FFFFFF"/>
                </a:solidFill>
                <a:latin typeface="Goudy Old Style"/>
                <a:cs typeface="Goudy Old Style"/>
              </a:rPr>
              <a:t>This model is similar </a:t>
            </a:r>
            <a:r>
              <a:rPr sz="1800" spc="-5" dirty="0">
                <a:solidFill>
                  <a:srgbClr val="FFFFFF"/>
                </a:solidFill>
                <a:latin typeface="Goudy Old Style"/>
                <a:cs typeface="Goudy Old Style"/>
              </a:rPr>
              <a:t>to </a:t>
            </a:r>
            <a:r>
              <a:rPr sz="1800" dirty="0">
                <a:solidFill>
                  <a:srgbClr val="FFFFFF"/>
                </a:solidFill>
                <a:latin typeface="Goudy Old Style"/>
                <a:cs typeface="Goudy Old Style"/>
              </a:rPr>
              <a:t>the </a:t>
            </a:r>
            <a:r>
              <a:rPr sz="1800" spc="-10" dirty="0">
                <a:solidFill>
                  <a:srgbClr val="FFFFFF"/>
                </a:solidFill>
                <a:latin typeface="Goudy Old Style"/>
                <a:cs typeface="Goudy Old Style"/>
              </a:rPr>
              <a:t>Hierarchical </a:t>
            </a:r>
            <a:r>
              <a:rPr sz="1800" spc="5" dirty="0">
                <a:solidFill>
                  <a:srgbClr val="FFFFFF"/>
                </a:solidFill>
                <a:latin typeface="Goudy Old Style"/>
                <a:cs typeface="Goudy Old Style"/>
              </a:rPr>
              <a:t>Data </a:t>
            </a:r>
            <a:r>
              <a:rPr sz="1800" spc="-5" dirty="0">
                <a:solidFill>
                  <a:srgbClr val="FFFFFF"/>
                </a:solidFill>
                <a:latin typeface="Goudy Old Style"/>
                <a:cs typeface="Goudy Old Style"/>
              </a:rPr>
              <a:t>Model. It </a:t>
            </a:r>
            <a:r>
              <a:rPr sz="1800" dirty="0">
                <a:solidFill>
                  <a:srgbClr val="FFFFFF"/>
                </a:solidFill>
                <a:latin typeface="Goudy Old Style"/>
                <a:cs typeface="Goudy Old Style"/>
              </a:rPr>
              <a:t>is </a:t>
            </a:r>
            <a:r>
              <a:rPr sz="1800" spc="-5" dirty="0">
                <a:solidFill>
                  <a:srgbClr val="FFFFFF"/>
                </a:solidFill>
                <a:latin typeface="Goudy Old Style"/>
                <a:cs typeface="Goudy Old Style"/>
              </a:rPr>
              <a:t>actually </a:t>
            </a:r>
            <a:r>
              <a:rPr sz="1800" dirty="0">
                <a:solidFill>
                  <a:srgbClr val="FFFFFF"/>
                </a:solidFill>
                <a:latin typeface="Goudy Old Style"/>
                <a:cs typeface="Goudy Old Style"/>
              </a:rPr>
              <a:t>a </a:t>
            </a:r>
            <a:r>
              <a:rPr sz="1800" spc="-5" dirty="0">
                <a:solidFill>
                  <a:srgbClr val="FFFFFF"/>
                </a:solidFill>
                <a:latin typeface="Goudy Old Style"/>
                <a:cs typeface="Goudy Old Style"/>
              </a:rPr>
              <a:t>subset of </a:t>
            </a:r>
            <a:r>
              <a:rPr sz="1800" dirty="0">
                <a:solidFill>
                  <a:srgbClr val="FFFFFF"/>
                </a:solidFill>
                <a:latin typeface="Goudy Old Style"/>
                <a:cs typeface="Goudy Old Style"/>
              </a:rPr>
              <a:t>the  </a:t>
            </a:r>
            <a:r>
              <a:rPr sz="1800" spc="-15" dirty="0">
                <a:solidFill>
                  <a:srgbClr val="FFFFFF"/>
                </a:solidFill>
                <a:latin typeface="Goudy Old Style"/>
                <a:cs typeface="Goudy Old Style"/>
              </a:rPr>
              <a:t>network</a:t>
            </a:r>
            <a:r>
              <a:rPr sz="1800" spc="-25" dirty="0">
                <a:solidFill>
                  <a:srgbClr val="FFFFFF"/>
                </a:solidFill>
                <a:latin typeface="Goudy Old Style"/>
                <a:cs typeface="Goudy Old Style"/>
              </a:rPr>
              <a:t> </a:t>
            </a:r>
            <a:r>
              <a:rPr sz="1800" dirty="0">
                <a:solidFill>
                  <a:srgbClr val="FFFFFF"/>
                </a:solidFill>
                <a:latin typeface="Goudy Old Style"/>
                <a:cs typeface="Goudy Old Style"/>
              </a:rPr>
              <a:t>model.</a:t>
            </a:r>
            <a:endParaRPr sz="1800">
              <a:latin typeface="Goudy Old Style"/>
              <a:cs typeface="Goudy Old Style"/>
            </a:endParaRPr>
          </a:p>
          <a:p>
            <a:pPr>
              <a:lnSpc>
                <a:spcPct val="100000"/>
              </a:lnSpc>
              <a:spcBef>
                <a:spcPts val="40"/>
              </a:spcBef>
            </a:pPr>
            <a:endParaRPr sz="2250">
              <a:latin typeface="Goudy Old Style"/>
              <a:cs typeface="Goudy Old Style"/>
            </a:endParaRPr>
          </a:p>
          <a:p>
            <a:pPr marL="19050" marR="153670">
              <a:lnSpc>
                <a:spcPts val="1939"/>
              </a:lnSpc>
              <a:spcBef>
                <a:spcPts val="5"/>
              </a:spcBef>
            </a:pPr>
            <a:r>
              <a:rPr sz="1800" spc="-5" dirty="0">
                <a:solidFill>
                  <a:srgbClr val="FFFFFF"/>
                </a:solidFill>
                <a:latin typeface="Goudy Old Style"/>
                <a:cs typeface="Goudy Old Style"/>
              </a:rPr>
              <a:t>In </a:t>
            </a:r>
            <a:r>
              <a:rPr sz="1800" dirty="0">
                <a:solidFill>
                  <a:srgbClr val="FFFFFF"/>
                </a:solidFill>
                <a:latin typeface="Goudy Old Style"/>
                <a:cs typeface="Goudy Old Style"/>
              </a:rPr>
              <a:t>the </a:t>
            </a:r>
            <a:r>
              <a:rPr sz="1800" spc="-15" dirty="0">
                <a:solidFill>
                  <a:srgbClr val="FFFFFF"/>
                </a:solidFill>
                <a:latin typeface="Goudy Old Style"/>
                <a:cs typeface="Goudy Old Style"/>
              </a:rPr>
              <a:t>network </a:t>
            </a:r>
            <a:r>
              <a:rPr sz="1800" dirty="0">
                <a:solidFill>
                  <a:srgbClr val="FFFFFF"/>
                </a:solidFill>
                <a:latin typeface="Goudy Old Style"/>
                <a:cs typeface="Goudy Old Style"/>
              </a:rPr>
              <a:t>data </a:t>
            </a:r>
            <a:r>
              <a:rPr sz="1800" spc="-5" dirty="0">
                <a:solidFill>
                  <a:srgbClr val="FFFFFF"/>
                </a:solidFill>
                <a:latin typeface="Goudy Old Style"/>
                <a:cs typeface="Goudy Old Style"/>
              </a:rPr>
              <a:t>model, </a:t>
            </a:r>
            <a:r>
              <a:rPr sz="1800" spc="5" dirty="0">
                <a:solidFill>
                  <a:srgbClr val="FFFFFF"/>
                </a:solidFill>
                <a:latin typeface="Goudy Old Style"/>
                <a:cs typeface="Goudy Old Style"/>
              </a:rPr>
              <a:t>data </a:t>
            </a:r>
            <a:r>
              <a:rPr sz="1800" spc="-5" dirty="0">
                <a:solidFill>
                  <a:srgbClr val="FFFFFF"/>
                </a:solidFill>
                <a:latin typeface="Goudy Old Style"/>
                <a:cs typeface="Goudy Old Style"/>
              </a:rPr>
              <a:t>is </a:t>
            </a:r>
            <a:r>
              <a:rPr sz="1800" spc="-15" dirty="0">
                <a:solidFill>
                  <a:srgbClr val="FFFFFF"/>
                </a:solidFill>
                <a:latin typeface="Goudy Old Style"/>
                <a:cs typeface="Goudy Old Style"/>
              </a:rPr>
              <a:t>stored </a:t>
            </a:r>
            <a:r>
              <a:rPr sz="1800" dirty="0">
                <a:solidFill>
                  <a:srgbClr val="FFFFFF"/>
                </a:solidFill>
                <a:latin typeface="Goudy Old Style"/>
                <a:cs typeface="Goudy Old Style"/>
              </a:rPr>
              <a:t>in </a:t>
            </a:r>
            <a:r>
              <a:rPr sz="1800" spc="-5" dirty="0">
                <a:solidFill>
                  <a:srgbClr val="FFFFFF"/>
                </a:solidFill>
                <a:latin typeface="Goudy Old Style"/>
                <a:cs typeface="Goudy Old Style"/>
              </a:rPr>
              <a:t>sets, instead of </a:t>
            </a:r>
            <a:r>
              <a:rPr sz="1800" dirty="0">
                <a:solidFill>
                  <a:srgbClr val="FFFFFF"/>
                </a:solidFill>
                <a:latin typeface="Goudy Old Style"/>
                <a:cs typeface="Goudy Old Style"/>
              </a:rPr>
              <a:t>the </a:t>
            </a:r>
            <a:r>
              <a:rPr sz="1800" spc="-5" dirty="0">
                <a:solidFill>
                  <a:srgbClr val="FFFFFF"/>
                </a:solidFill>
                <a:latin typeface="Goudy Old Style"/>
                <a:cs typeface="Goudy Old Style"/>
              </a:rPr>
              <a:t>hierarchical </a:t>
            </a:r>
            <a:r>
              <a:rPr sz="1800" spc="-10" dirty="0">
                <a:solidFill>
                  <a:srgbClr val="FFFFFF"/>
                </a:solidFill>
                <a:latin typeface="Goudy Old Style"/>
                <a:cs typeface="Goudy Old Style"/>
              </a:rPr>
              <a:t>tree  format. </a:t>
            </a:r>
            <a:r>
              <a:rPr sz="1800" spc="-5" dirty="0">
                <a:solidFill>
                  <a:srgbClr val="FFFFFF"/>
                </a:solidFill>
                <a:latin typeface="Goudy Old Style"/>
                <a:cs typeface="Goudy Old Style"/>
              </a:rPr>
              <a:t>This </a:t>
            </a:r>
            <a:r>
              <a:rPr sz="1800" spc="-10" dirty="0">
                <a:solidFill>
                  <a:srgbClr val="FFFFFF"/>
                </a:solidFill>
                <a:latin typeface="Goudy Old Style"/>
                <a:cs typeface="Goudy Old Style"/>
              </a:rPr>
              <a:t>solves </a:t>
            </a:r>
            <a:r>
              <a:rPr sz="1800" dirty="0">
                <a:solidFill>
                  <a:srgbClr val="FFFFFF"/>
                </a:solidFill>
                <a:latin typeface="Goudy Old Style"/>
                <a:cs typeface="Goudy Old Style"/>
              </a:rPr>
              <a:t>the </a:t>
            </a:r>
            <a:r>
              <a:rPr sz="1800" spc="-10" dirty="0">
                <a:solidFill>
                  <a:srgbClr val="FFFFFF"/>
                </a:solidFill>
                <a:latin typeface="Goudy Old Style"/>
                <a:cs typeface="Goudy Old Style"/>
              </a:rPr>
              <a:t>problem </a:t>
            </a:r>
            <a:r>
              <a:rPr sz="1800" spc="-5" dirty="0">
                <a:solidFill>
                  <a:srgbClr val="FFFFFF"/>
                </a:solidFill>
                <a:latin typeface="Goudy Old Style"/>
                <a:cs typeface="Goudy Old Style"/>
              </a:rPr>
              <a:t>of </a:t>
            </a:r>
            <a:r>
              <a:rPr sz="1800" dirty="0">
                <a:solidFill>
                  <a:srgbClr val="FFFFFF"/>
                </a:solidFill>
                <a:latin typeface="Goudy Old Style"/>
                <a:cs typeface="Goudy Old Style"/>
              </a:rPr>
              <a:t>data</a:t>
            </a:r>
            <a:r>
              <a:rPr sz="1800" spc="35" dirty="0">
                <a:solidFill>
                  <a:srgbClr val="FFFFFF"/>
                </a:solidFill>
                <a:latin typeface="Goudy Old Style"/>
                <a:cs typeface="Goudy Old Style"/>
              </a:rPr>
              <a:t> </a:t>
            </a:r>
            <a:r>
              <a:rPr sz="1800" spc="-15" dirty="0">
                <a:solidFill>
                  <a:srgbClr val="FFFFFF"/>
                </a:solidFill>
                <a:latin typeface="Goudy Old Style"/>
                <a:cs typeface="Goudy Old Style"/>
              </a:rPr>
              <a:t>redundancy.</a:t>
            </a:r>
            <a:endParaRPr sz="1800">
              <a:latin typeface="Goudy Old Style"/>
              <a:cs typeface="Goudy Old Style"/>
            </a:endParaRPr>
          </a:p>
        </p:txBody>
      </p:sp>
      <p:grpSp>
        <p:nvGrpSpPr>
          <p:cNvPr id="8" name="object 8"/>
          <p:cNvGrpSpPr/>
          <p:nvPr/>
        </p:nvGrpSpPr>
        <p:grpSpPr>
          <a:xfrm>
            <a:off x="328422" y="4207002"/>
            <a:ext cx="8256270" cy="866140"/>
            <a:chOff x="328422" y="4207002"/>
            <a:chExt cx="8256270" cy="866140"/>
          </a:xfrm>
        </p:grpSpPr>
        <p:pic>
          <p:nvPicPr>
            <p:cNvPr id="9" name="object 9"/>
            <p:cNvPicPr/>
            <p:nvPr/>
          </p:nvPicPr>
          <p:blipFill>
            <a:blip r:embed="rId6" cstate="print"/>
            <a:stretch>
              <a:fillRect/>
            </a:stretch>
          </p:blipFill>
          <p:spPr>
            <a:xfrm>
              <a:off x="328422" y="4207002"/>
              <a:ext cx="8256270" cy="865632"/>
            </a:xfrm>
            <a:prstGeom prst="rect">
              <a:avLst/>
            </a:prstGeom>
          </p:spPr>
        </p:pic>
        <p:pic>
          <p:nvPicPr>
            <p:cNvPr id="10" name="object 10"/>
            <p:cNvPicPr/>
            <p:nvPr/>
          </p:nvPicPr>
          <p:blipFill>
            <a:blip r:embed="rId7" cstate="print"/>
            <a:stretch>
              <a:fillRect/>
            </a:stretch>
          </p:blipFill>
          <p:spPr>
            <a:xfrm>
              <a:off x="455676" y="4245851"/>
              <a:ext cx="8015478" cy="757440"/>
            </a:xfrm>
            <a:prstGeom prst="rect">
              <a:avLst/>
            </a:prstGeom>
          </p:spPr>
        </p:pic>
      </p:grpSp>
      <p:sp>
        <p:nvSpPr>
          <p:cNvPr id="11" name="object 11"/>
          <p:cNvSpPr txBox="1"/>
          <p:nvPr/>
        </p:nvSpPr>
        <p:spPr>
          <a:xfrm>
            <a:off x="520700" y="3265170"/>
            <a:ext cx="7880984" cy="1607820"/>
          </a:xfrm>
          <a:prstGeom prst="rect">
            <a:avLst/>
          </a:prstGeom>
        </p:spPr>
        <p:txBody>
          <a:bodyPr vert="horz" wrap="square" lIns="0" tIns="12700" rIns="0" bIns="0" rtlCol="0">
            <a:spAutoFit/>
          </a:bodyPr>
          <a:lstStyle/>
          <a:p>
            <a:pPr marL="12700">
              <a:lnSpc>
                <a:spcPts val="2050"/>
              </a:lnSpc>
              <a:spcBef>
                <a:spcPts val="100"/>
              </a:spcBef>
            </a:pPr>
            <a:r>
              <a:rPr sz="1800" spc="-15" dirty="0">
                <a:solidFill>
                  <a:srgbClr val="FFFFFF"/>
                </a:solidFill>
                <a:latin typeface="Goudy Old Style"/>
                <a:cs typeface="Goudy Old Style"/>
              </a:rPr>
              <a:t>For </a:t>
            </a:r>
            <a:r>
              <a:rPr sz="1800" dirty="0">
                <a:solidFill>
                  <a:srgbClr val="FFFFFF"/>
                </a:solidFill>
                <a:latin typeface="Goudy Old Style"/>
                <a:cs typeface="Goudy Old Style"/>
              </a:rPr>
              <a:t>every </a:t>
            </a:r>
            <a:r>
              <a:rPr sz="1800" spc="-5" dirty="0">
                <a:solidFill>
                  <a:srgbClr val="FFFFFF"/>
                </a:solidFill>
                <a:latin typeface="Goudy Old Style"/>
                <a:cs typeface="Goudy Old Style"/>
              </a:rPr>
              <a:t>database, </a:t>
            </a:r>
            <a:r>
              <a:rPr sz="1800" dirty="0">
                <a:solidFill>
                  <a:srgbClr val="FFFFFF"/>
                </a:solidFill>
                <a:latin typeface="Goudy Old Style"/>
                <a:cs typeface="Goudy Old Style"/>
              </a:rPr>
              <a:t>a </a:t>
            </a:r>
            <a:r>
              <a:rPr sz="1800" spc="-5" dirty="0">
                <a:solidFill>
                  <a:srgbClr val="FFFFFF"/>
                </a:solidFill>
                <a:latin typeface="Goudy Old Style"/>
                <a:cs typeface="Goudy Old Style"/>
              </a:rPr>
              <a:t>definition of </a:t>
            </a:r>
            <a:r>
              <a:rPr sz="1800" dirty="0">
                <a:solidFill>
                  <a:srgbClr val="FFFFFF"/>
                </a:solidFill>
                <a:latin typeface="Goudy Old Style"/>
                <a:cs typeface="Goudy Old Style"/>
              </a:rPr>
              <a:t>the </a:t>
            </a:r>
            <a:r>
              <a:rPr sz="1800" spc="-5" dirty="0">
                <a:solidFill>
                  <a:srgbClr val="FFFFFF"/>
                </a:solidFill>
                <a:latin typeface="Goudy Old Style"/>
                <a:cs typeface="Goudy Old Style"/>
              </a:rPr>
              <a:t>database name, </a:t>
            </a:r>
            <a:r>
              <a:rPr sz="1800" spc="-15" dirty="0">
                <a:solidFill>
                  <a:srgbClr val="FFFFFF"/>
                </a:solidFill>
                <a:latin typeface="Goudy Old Style"/>
                <a:cs typeface="Goudy Old Style"/>
              </a:rPr>
              <a:t>record </a:t>
            </a:r>
            <a:r>
              <a:rPr sz="1800" dirty="0">
                <a:solidFill>
                  <a:srgbClr val="FFFFFF"/>
                </a:solidFill>
                <a:latin typeface="Goudy Old Style"/>
                <a:cs typeface="Goudy Old Style"/>
              </a:rPr>
              <a:t>type </a:t>
            </a:r>
            <a:r>
              <a:rPr sz="1800" spc="-20" dirty="0">
                <a:solidFill>
                  <a:srgbClr val="FFFFFF"/>
                </a:solidFill>
                <a:latin typeface="Goudy Old Style"/>
                <a:cs typeface="Goudy Old Style"/>
              </a:rPr>
              <a:t>for </a:t>
            </a:r>
            <a:r>
              <a:rPr sz="1800" spc="-10" dirty="0">
                <a:solidFill>
                  <a:srgbClr val="FFFFFF"/>
                </a:solidFill>
                <a:latin typeface="Goudy Old Style"/>
                <a:cs typeface="Goudy Old Style"/>
              </a:rPr>
              <a:t>each </a:t>
            </a:r>
            <a:r>
              <a:rPr sz="1800" spc="-15" dirty="0">
                <a:solidFill>
                  <a:srgbClr val="FFFFFF"/>
                </a:solidFill>
                <a:latin typeface="Goudy Old Style"/>
                <a:cs typeface="Goudy Old Style"/>
              </a:rPr>
              <a:t>record,</a:t>
            </a:r>
            <a:r>
              <a:rPr sz="1800" spc="65" dirty="0">
                <a:solidFill>
                  <a:srgbClr val="FFFFFF"/>
                </a:solidFill>
                <a:latin typeface="Goudy Old Style"/>
                <a:cs typeface="Goudy Old Style"/>
              </a:rPr>
              <a:t> </a:t>
            </a:r>
            <a:r>
              <a:rPr sz="1800" spc="-5" dirty="0">
                <a:solidFill>
                  <a:srgbClr val="FFFFFF"/>
                </a:solidFill>
                <a:latin typeface="Goudy Old Style"/>
                <a:cs typeface="Goudy Old Style"/>
              </a:rPr>
              <a:t>and</a:t>
            </a:r>
            <a:endParaRPr sz="1800">
              <a:latin typeface="Goudy Old Style"/>
              <a:cs typeface="Goudy Old Style"/>
            </a:endParaRPr>
          </a:p>
          <a:p>
            <a:pPr marL="12700">
              <a:lnSpc>
                <a:spcPts val="2050"/>
              </a:lnSpc>
            </a:pPr>
            <a:r>
              <a:rPr sz="1800" dirty="0">
                <a:solidFill>
                  <a:srgbClr val="FFFFFF"/>
                </a:solidFill>
                <a:latin typeface="Goudy Old Style"/>
                <a:cs typeface="Goudy Old Style"/>
              </a:rPr>
              <a:t>the </a:t>
            </a:r>
            <a:r>
              <a:rPr sz="1800" spc="-5" dirty="0">
                <a:solidFill>
                  <a:srgbClr val="FFFFFF"/>
                </a:solidFill>
                <a:latin typeface="Goudy Old Style"/>
                <a:cs typeface="Goudy Old Style"/>
              </a:rPr>
              <a:t>components </a:t>
            </a:r>
            <a:r>
              <a:rPr sz="1800" dirty="0">
                <a:solidFill>
                  <a:srgbClr val="FFFFFF"/>
                </a:solidFill>
                <a:latin typeface="Goudy Old Style"/>
                <a:cs typeface="Goudy Old Style"/>
              </a:rPr>
              <a:t>that </a:t>
            </a:r>
            <a:r>
              <a:rPr sz="1800" spc="-10" dirty="0">
                <a:solidFill>
                  <a:srgbClr val="FFFFFF"/>
                </a:solidFill>
                <a:latin typeface="Goudy Old Style"/>
                <a:cs typeface="Goudy Old Style"/>
              </a:rPr>
              <a:t>make </a:t>
            </a:r>
            <a:r>
              <a:rPr sz="1800" spc="-5" dirty="0">
                <a:solidFill>
                  <a:srgbClr val="FFFFFF"/>
                </a:solidFill>
                <a:latin typeface="Goudy Old Style"/>
                <a:cs typeface="Goudy Old Style"/>
              </a:rPr>
              <a:t>up those </a:t>
            </a:r>
            <a:r>
              <a:rPr sz="1800" spc="-15" dirty="0">
                <a:solidFill>
                  <a:srgbClr val="FFFFFF"/>
                </a:solidFill>
                <a:latin typeface="Goudy Old Style"/>
                <a:cs typeface="Goudy Old Style"/>
              </a:rPr>
              <a:t>records </a:t>
            </a:r>
            <a:r>
              <a:rPr sz="1800" dirty="0">
                <a:solidFill>
                  <a:srgbClr val="FFFFFF"/>
                </a:solidFill>
                <a:latin typeface="Goudy Old Style"/>
                <a:cs typeface="Goudy Old Style"/>
              </a:rPr>
              <a:t>is </a:t>
            </a:r>
            <a:r>
              <a:rPr sz="1800" spc="-10" dirty="0">
                <a:solidFill>
                  <a:srgbClr val="FFFFFF"/>
                </a:solidFill>
                <a:latin typeface="Goudy Old Style"/>
                <a:cs typeface="Goudy Old Style"/>
              </a:rPr>
              <a:t>stored. </a:t>
            </a:r>
            <a:r>
              <a:rPr sz="1800" spc="-5" dirty="0">
                <a:solidFill>
                  <a:srgbClr val="FFFFFF"/>
                </a:solidFill>
                <a:latin typeface="Goudy Old Style"/>
                <a:cs typeface="Goudy Old Style"/>
              </a:rPr>
              <a:t>This </a:t>
            </a:r>
            <a:r>
              <a:rPr sz="1800" dirty="0">
                <a:solidFill>
                  <a:srgbClr val="FFFFFF"/>
                </a:solidFill>
                <a:latin typeface="Goudy Old Style"/>
                <a:cs typeface="Goudy Old Style"/>
              </a:rPr>
              <a:t>is called </a:t>
            </a:r>
            <a:r>
              <a:rPr sz="1800" spc="-5" dirty="0">
                <a:solidFill>
                  <a:srgbClr val="FFFFFF"/>
                </a:solidFill>
                <a:latin typeface="Goudy Old Style"/>
                <a:cs typeface="Goudy Old Style"/>
              </a:rPr>
              <a:t>its </a:t>
            </a:r>
            <a:r>
              <a:rPr sz="1800" spc="-15" dirty="0">
                <a:solidFill>
                  <a:srgbClr val="FFFFFF"/>
                </a:solidFill>
                <a:latin typeface="Goudy Old Style"/>
                <a:cs typeface="Goudy Old Style"/>
              </a:rPr>
              <a:t>network</a:t>
            </a:r>
            <a:r>
              <a:rPr sz="1800" spc="25" dirty="0">
                <a:solidFill>
                  <a:srgbClr val="FFFFFF"/>
                </a:solidFill>
                <a:latin typeface="Goudy Old Style"/>
                <a:cs typeface="Goudy Old Style"/>
              </a:rPr>
              <a:t> </a:t>
            </a:r>
            <a:r>
              <a:rPr sz="1800" spc="-5" dirty="0">
                <a:solidFill>
                  <a:srgbClr val="FFFFFF"/>
                </a:solidFill>
                <a:latin typeface="Goudy Old Style"/>
                <a:cs typeface="Goudy Old Style"/>
              </a:rPr>
              <a:t>schema.</a:t>
            </a:r>
            <a:endParaRPr sz="1800">
              <a:latin typeface="Goudy Old Style"/>
              <a:cs typeface="Goudy Old Style"/>
            </a:endParaRPr>
          </a:p>
          <a:p>
            <a:pPr>
              <a:lnSpc>
                <a:spcPct val="100000"/>
              </a:lnSpc>
            </a:pPr>
            <a:endParaRPr sz="2000">
              <a:latin typeface="Goudy Old Style"/>
              <a:cs typeface="Goudy Old Style"/>
            </a:endParaRPr>
          </a:p>
          <a:p>
            <a:pPr>
              <a:lnSpc>
                <a:spcPct val="100000"/>
              </a:lnSpc>
              <a:spcBef>
                <a:spcPts val="45"/>
              </a:spcBef>
            </a:pPr>
            <a:endParaRPr sz="1500">
              <a:latin typeface="Goudy Old Style"/>
              <a:cs typeface="Goudy Old Style"/>
            </a:endParaRPr>
          </a:p>
          <a:p>
            <a:pPr marL="12700">
              <a:lnSpc>
                <a:spcPts val="2050"/>
              </a:lnSpc>
              <a:spcBef>
                <a:spcPts val="5"/>
              </a:spcBef>
            </a:pPr>
            <a:r>
              <a:rPr sz="1800" spc="-5" dirty="0">
                <a:solidFill>
                  <a:srgbClr val="FFFFFF"/>
                </a:solidFill>
                <a:latin typeface="Goudy Old Style"/>
                <a:cs typeface="Goudy Old Style"/>
              </a:rPr>
              <a:t>It </a:t>
            </a:r>
            <a:r>
              <a:rPr sz="1800" spc="-10" dirty="0">
                <a:solidFill>
                  <a:srgbClr val="FFFFFF"/>
                </a:solidFill>
                <a:latin typeface="Goudy Old Style"/>
                <a:cs typeface="Goudy Old Style"/>
              </a:rPr>
              <a:t>allows </a:t>
            </a:r>
            <a:r>
              <a:rPr sz="1800" spc="-5" dirty="0">
                <a:solidFill>
                  <a:srgbClr val="FFFFFF"/>
                </a:solidFill>
                <a:latin typeface="Goudy Old Style"/>
                <a:cs typeface="Goudy Old Style"/>
              </a:rPr>
              <a:t>application </a:t>
            </a:r>
            <a:r>
              <a:rPr sz="1800" spc="-10" dirty="0">
                <a:solidFill>
                  <a:srgbClr val="FFFFFF"/>
                </a:solidFill>
                <a:latin typeface="Goudy Old Style"/>
                <a:cs typeface="Goudy Old Style"/>
              </a:rPr>
              <a:t>programs </a:t>
            </a:r>
            <a:r>
              <a:rPr sz="1800" spc="-5" dirty="0">
                <a:solidFill>
                  <a:srgbClr val="FFFFFF"/>
                </a:solidFill>
                <a:latin typeface="Goudy Old Style"/>
                <a:cs typeface="Goudy Old Style"/>
              </a:rPr>
              <a:t>to access </a:t>
            </a:r>
            <a:r>
              <a:rPr sz="1800" dirty="0">
                <a:solidFill>
                  <a:srgbClr val="FFFFFF"/>
                </a:solidFill>
                <a:latin typeface="Goudy Old Style"/>
                <a:cs typeface="Goudy Old Style"/>
              </a:rPr>
              <a:t>the </a:t>
            </a:r>
            <a:r>
              <a:rPr sz="1800" spc="-15" dirty="0">
                <a:solidFill>
                  <a:srgbClr val="FFFFFF"/>
                </a:solidFill>
                <a:latin typeface="Goudy Old Style"/>
                <a:cs typeface="Goudy Old Style"/>
              </a:rPr>
              <a:t>required </a:t>
            </a:r>
            <a:r>
              <a:rPr sz="1800" dirty="0">
                <a:solidFill>
                  <a:srgbClr val="FFFFFF"/>
                </a:solidFill>
                <a:latin typeface="Goudy Old Style"/>
                <a:cs typeface="Goudy Old Style"/>
              </a:rPr>
              <a:t>data </a:t>
            </a:r>
            <a:r>
              <a:rPr sz="1800" spc="-10" dirty="0">
                <a:solidFill>
                  <a:srgbClr val="FFFFFF"/>
                </a:solidFill>
                <a:latin typeface="Goudy Old Style"/>
                <a:cs typeface="Goudy Old Style"/>
              </a:rPr>
              <a:t>from </a:t>
            </a:r>
            <a:r>
              <a:rPr sz="1800" dirty="0">
                <a:solidFill>
                  <a:srgbClr val="FFFFFF"/>
                </a:solidFill>
                <a:latin typeface="Goudy Old Style"/>
                <a:cs typeface="Goudy Old Style"/>
              </a:rPr>
              <a:t>the </a:t>
            </a:r>
            <a:r>
              <a:rPr sz="1800" spc="-5" dirty="0">
                <a:solidFill>
                  <a:srgbClr val="FFFFFF"/>
                </a:solidFill>
                <a:latin typeface="Goudy Old Style"/>
                <a:cs typeface="Goudy Old Style"/>
              </a:rPr>
              <a:t>database.</a:t>
            </a:r>
            <a:r>
              <a:rPr sz="1800" spc="75" dirty="0">
                <a:solidFill>
                  <a:srgbClr val="FFFFFF"/>
                </a:solidFill>
                <a:latin typeface="Goudy Old Style"/>
                <a:cs typeface="Goudy Old Style"/>
              </a:rPr>
              <a:t> </a:t>
            </a:r>
            <a:r>
              <a:rPr sz="1800" dirty="0">
                <a:solidFill>
                  <a:srgbClr val="FFFFFF"/>
                </a:solidFill>
                <a:latin typeface="Goudy Old Style"/>
                <a:cs typeface="Goudy Old Style"/>
              </a:rPr>
              <a:t>Raima</a:t>
            </a:r>
            <a:endParaRPr sz="1800">
              <a:latin typeface="Goudy Old Style"/>
              <a:cs typeface="Goudy Old Style"/>
            </a:endParaRPr>
          </a:p>
          <a:p>
            <a:pPr marL="12700">
              <a:lnSpc>
                <a:spcPts val="2050"/>
              </a:lnSpc>
            </a:pPr>
            <a:r>
              <a:rPr sz="1800" dirty="0">
                <a:solidFill>
                  <a:srgbClr val="FFFFFF"/>
                </a:solidFill>
                <a:latin typeface="Goudy Old Style"/>
                <a:cs typeface="Goudy Old Style"/>
              </a:rPr>
              <a:t>Database </a:t>
            </a:r>
            <a:r>
              <a:rPr sz="1800" spc="-5" dirty="0">
                <a:solidFill>
                  <a:srgbClr val="FFFFFF"/>
                </a:solidFill>
                <a:latin typeface="Goudy Old Style"/>
                <a:cs typeface="Goudy Old Style"/>
              </a:rPr>
              <a:t>Manager (RDM) </a:t>
            </a:r>
            <a:r>
              <a:rPr sz="1800" dirty="0">
                <a:solidFill>
                  <a:srgbClr val="FFFFFF"/>
                </a:solidFill>
                <a:latin typeface="Goudy Old Style"/>
                <a:cs typeface="Goudy Old Style"/>
              </a:rPr>
              <a:t>Server </a:t>
            </a:r>
            <a:r>
              <a:rPr sz="1800" spc="-10" dirty="0">
                <a:solidFill>
                  <a:srgbClr val="FFFFFF"/>
                </a:solidFill>
                <a:latin typeface="Goudy Old Style"/>
                <a:cs typeface="Goudy Old Style"/>
              </a:rPr>
              <a:t>by </a:t>
            </a:r>
            <a:r>
              <a:rPr sz="1800" dirty="0">
                <a:solidFill>
                  <a:srgbClr val="FFFFFF"/>
                </a:solidFill>
                <a:latin typeface="Goudy Old Style"/>
                <a:cs typeface="Goudy Old Style"/>
              </a:rPr>
              <a:t>Raima </a:t>
            </a:r>
            <a:r>
              <a:rPr sz="1800" spc="-5" dirty="0">
                <a:solidFill>
                  <a:srgbClr val="FFFFFF"/>
                </a:solidFill>
                <a:latin typeface="Goudy Old Style"/>
                <a:cs typeface="Goudy Old Style"/>
              </a:rPr>
              <a:t>Inc. </a:t>
            </a:r>
            <a:r>
              <a:rPr sz="1800" dirty="0">
                <a:solidFill>
                  <a:srgbClr val="FFFFFF"/>
                </a:solidFill>
                <a:latin typeface="Goudy Old Style"/>
                <a:cs typeface="Goudy Old Style"/>
              </a:rPr>
              <a:t>is </a:t>
            </a:r>
            <a:r>
              <a:rPr sz="1800" spc="-5" dirty="0">
                <a:solidFill>
                  <a:srgbClr val="FFFFFF"/>
                </a:solidFill>
                <a:latin typeface="Goudy Old Style"/>
                <a:cs typeface="Goudy Old Style"/>
              </a:rPr>
              <a:t>an example of </a:t>
            </a:r>
            <a:r>
              <a:rPr sz="1800" dirty="0">
                <a:solidFill>
                  <a:srgbClr val="FFFFFF"/>
                </a:solidFill>
                <a:latin typeface="Goudy Old Style"/>
                <a:cs typeface="Goudy Old Style"/>
              </a:rPr>
              <a:t>a </a:t>
            </a:r>
            <a:r>
              <a:rPr sz="1800" spc="-20" dirty="0">
                <a:solidFill>
                  <a:srgbClr val="FFFFFF"/>
                </a:solidFill>
                <a:latin typeface="Goudy Old Style"/>
                <a:cs typeface="Goudy Old Style"/>
              </a:rPr>
              <a:t>Network</a:t>
            </a:r>
            <a:r>
              <a:rPr sz="1800" spc="-75" dirty="0">
                <a:solidFill>
                  <a:srgbClr val="FFFFFF"/>
                </a:solidFill>
                <a:latin typeface="Goudy Old Style"/>
                <a:cs typeface="Goudy Old Style"/>
              </a:rPr>
              <a:t> </a:t>
            </a:r>
            <a:r>
              <a:rPr sz="1800" spc="-5" dirty="0">
                <a:solidFill>
                  <a:srgbClr val="FFFFFF"/>
                </a:solidFill>
                <a:latin typeface="Goudy Old Style"/>
                <a:cs typeface="Goudy Old Style"/>
              </a:rPr>
              <a:t>DBMS.</a:t>
            </a:r>
            <a:endParaRPr sz="1800">
              <a:latin typeface="Goudy Old Style"/>
              <a:cs typeface="Goudy Old Style"/>
            </a:endParaRPr>
          </a:p>
        </p:txBody>
      </p:sp>
      <p:sp>
        <p:nvSpPr>
          <p:cNvPr id="13" name="object 13"/>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20</a:t>
            </a:fld>
            <a:endParaRPr sz="1200"/>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4993640" cy="635635"/>
          </a:xfrm>
          <a:prstGeom prst="rect">
            <a:avLst/>
          </a:prstGeom>
        </p:spPr>
        <p:txBody>
          <a:bodyPr vert="horz" wrap="square" lIns="0" tIns="12700" rIns="0" bIns="0" rtlCol="0">
            <a:spAutoFit/>
          </a:bodyPr>
          <a:lstStyle/>
          <a:p>
            <a:pPr marL="12700">
              <a:lnSpc>
                <a:spcPct val="100000"/>
              </a:lnSpc>
              <a:spcBef>
                <a:spcPts val="100"/>
              </a:spcBef>
            </a:pPr>
            <a:r>
              <a:rPr sz="4000" b="0" spc="-35" dirty="0">
                <a:latin typeface="Goudy Old Style"/>
                <a:cs typeface="Goudy Old Style"/>
              </a:rPr>
              <a:t>Network </a:t>
            </a:r>
            <a:r>
              <a:rPr sz="4000" b="0" spc="10" dirty="0">
                <a:latin typeface="Goudy Old Style"/>
                <a:cs typeface="Goudy Old Style"/>
              </a:rPr>
              <a:t>Data </a:t>
            </a:r>
            <a:r>
              <a:rPr sz="4000" b="0" spc="-5" dirty="0">
                <a:latin typeface="Goudy Old Style"/>
                <a:cs typeface="Goudy Old Style"/>
              </a:rPr>
              <a:t>Model</a:t>
            </a:r>
            <a:r>
              <a:rPr sz="4000" b="0" spc="-55" dirty="0">
                <a:latin typeface="Goudy Old Style"/>
                <a:cs typeface="Goudy Old Style"/>
              </a:rPr>
              <a:t> </a:t>
            </a:r>
            <a:r>
              <a:rPr sz="4000" b="0" spc="5" dirty="0">
                <a:latin typeface="Goudy Old Style"/>
                <a:cs typeface="Goudy Old Style"/>
              </a:rPr>
              <a:t>2-4</a:t>
            </a:r>
            <a:endParaRPr sz="4000">
              <a:latin typeface="Goudy Old Style"/>
              <a:cs typeface="Goudy Old Style"/>
            </a:endParaRPr>
          </a:p>
        </p:txBody>
      </p:sp>
      <p:sp>
        <p:nvSpPr>
          <p:cNvPr id="3" name="object 3"/>
          <p:cNvSpPr txBox="1"/>
          <p:nvPr/>
        </p:nvSpPr>
        <p:spPr>
          <a:xfrm>
            <a:off x="459740" y="1018286"/>
            <a:ext cx="6823709" cy="391795"/>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4330" algn="l"/>
              </a:tabLst>
            </a:pPr>
            <a:r>
              <a:rPr sz="2400" spc="-5" dirty="0">
                <a:latin typeface="Goudy Old Style"/>
                <a:cs typeface="Goudy Old Style"/>
              </a:rPr>
              <a:t>Figure illustrates </a:t>
            </a:r>
            <a:r>
              <a:rPr sz="2400" dirty="0">
                <a:latin typeface="Goudy Old Style"/>
                <a:cs typeface="Goudy Old Style"/>
              </a:rPr>
              <a:t>a series </a:t>
            </a:r>
            <a:r>
              <a:rPr sz="2400" spc="-5" dirty="0">
                <a:latin typeface="Goudy Old Style"/>
                <a:cs typeface="Goudy Old Style"/>
              </a:rPr>
              <a:t>of </a:t>
            </a:r>
            <a:r>
              <a:rPr sz="2400" spc="-10" dirty="0">
                <a:latin typeface="Goudy Old Style"/>
                <a:cs typeface="Goudy Old Style"/>
              </a:rPr>
              <a:t>one-to-many</a:t>
            </a:r>
            <a:r>
              <a:rPr sz="2400" spc="55" dirty="0">
                <a:latin typeface="Goudy Old Style"/>
                <a:cs typeface="Goudy Old Style"/>
              </a:rPr>
              <a:t> </a:t>
            </a:r>
            <a:r>
              <a:rPr sz="2400" spc="-10" dirty="0">
                <a:latin typeface="Goudy Old Style"/>
                <a:cs typeface="Goudy Old Style"/>
              </a:rPr>
              <a:t>relationships:</a:t>
            </a:r>
            <a:endParaRPr sz="2400">
              <a:latin typeface="Goudy Old Style"/>
              <a:cs typeface="Goudy Old Style"/>
            </a:endParaRPr>
          </a:p>
        </p:txBody>
      </p:sp>
      <p:pic>
        <p:nvPicPr>
          <p:cNvPr id="4" name="object 4"/>
          <p:cNvPicPr/>
          <p:nvPr/>
        </p:nvPicPr>
        <p:blipFill>
          <a:blip r:embed="rId3" cstate="print"/>
          <a:stretch>
            <a:fillRect/>
          </a:stretch>
        </p:blipFill>
        <p:spPr>
          <a:xfrm>
            <a:off x="1251966" y="1828800"/>
            <a:ext cx="6487668" cy="3668268"/>
          </a:xfrm>
          <a:prstGeom prst="rect">
            <a:avLst/>
          </a:prstGeom>
        </p:spPr>
      </p:pic>
      <p:sp>
        <p:nvSpPr>
          <p:cNvPr id="6" name="object 6"/>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21</a:t>
            </a:fld>
            <a:endParaRPr sz="120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4993640" cy="635635"/>
          </a:xfrm>
          <a:prstGeom prst="rect">
            <a:avLst/>
          </a:prstGeom>
        </p:spPr>
        <p:txBody>
          <a:bodyPr vert="horz" wrap="square" lIns="0" tIns="12700" rIns="0" bIns="0" rtlCol="0">
            <a:spAutoFit/>
          </a:bodyPr>
          <a:lstStyle/>
          <a:p>
            <a:pPr marL="12700">
              <a:lnSpc>
                <a:spcPct val="100000"/>
              </a:lnSpc>
              <a:spcBef>
                <a:spcPts val="100"/>
              </a:spcBef>
            </a:pPr>
            <a:r>
              <a:rPr sz="4000" b="0" spc="-35" dirty="0">
                <a:latin typeface="Goudy Old Style"/>
                <a:cs typeface="Goudy Old Style"/>
              </a:rPr>
              <a:t>Network </a:t>
            </a:r>
            <a:r>
              <a:rPr sz="4000" b="0" spc="10" dirty="0">
                <a:latin typeface="Goudy Old Style"/>
                <a:cs typeface="Goudy Old Style"/>
              </a:rPr>
              <a:t>Data </a:t>
            </a:r>
            <a:r>
              <a:rPr sz="4000" b="0" spc="-5" dirty="0">
                <a:latin typeface="Goudy Old Style"/>
                <a:cs typeface="Goudy Old Style"/>
              </a:rPr>
              <a:t>Model</a:t>
            </a:r>
            <a:r>
              <a:rPr sz="4000" b="0" spc="-55" dirty="0">
                <a:latin typeface="Goudy Old Style"/>
                <a:cs typeface="Goudy Old Style"/>
              </a:rPr>
              <a:t> </a:t>
            </a:r>
            <a:r>
              <a:rPr sz="4000" b="0" spc="5" dirty="0">
                <a:latin typeface="Goudy Old Style"/>
                <a:cs typeface="Goudy Old Style"/>
              </a:rPr>
              <a:t>3-4</a:t>
            </a:r>
            <a:endParaRPr sz="4000">
              <a:latin typeface="Goudy Old Style"/>
              <a:cs typeface="Goudy Old Style"/>
            </a:endParaRPr>
          </a:p>
        </p:txBody>
      </p:sp>
      <p:grpSp>
        <p:nvGrpSpPr>
          <p:cNvPr id="3" name="object 3"/>
          <p:cNvGrpSpPr/>
          <p:nvPr/>
        </p:nvGrpSpPr>
        <p:grpSpPr>
          <a:xfrm>
            <a:off x="360425" y="1517903"/>
            <a:ext cx="8162925" cy="4712970"/>
            <a:chOff x="360425" y="1517903"/>
            <a:chExt cx="8162925" cy="4712970"/>
          </a:xfrm>
        </p:grpSpPr>
        <p:pic>
          <p:nvPicPr>
            <p:cNvPr id="4" name="object 4"/>
            <p:cNvPicPr/>
            <p:nvPr/>
          </p:nvPicPr>
          <p:blipFill>
            <a:blip r:embed="rId3" cstate="print"/>
            <a:stretch>
              <a:fillRect/>
            </a:stretch>
          </p:blipFill>
          <p:spPr>
            <a:xfrm>
              <a:off x="360425" y="1780044"/>
              <a:ext cx="8162544" cy="1105649"/>
            </a:xfrm>
            <a:prstGeom prst="rect">
              <a:avLst/>
            </a:prstGeom>
          </p:spPr>
        </p:pic>
        <p:pic>
          <p:nvPicPr>
            <p:cNvPr id="5" name="object 5"/>
            <p:cNvPicPr/>
            <p:nvPr/>
          </p:nvPicPr>
          <p:blipFill>
            <a:blip r:embed="rId4" cstate="print"/>
            <a:stretch>
              <a:fillRect/>
            </a:stretch>
          </p:blipFill>
          <p:spPr>
            <a:xfrm>
              <a:off x="854963" y="2063495"/>
              <a:ext cx="7107174" cy="802386"/>
            </a:xfrm>
            <a:prstGeom prst="rect">
              <a:avLst/>
            </a:prstGeom>
          </p:spPr>
        </p:pic>
        <p:sp>
          <p:nvSpPr>
            <p:cNvPr id="6" name="object 6"/>
            <p:cNvSpPr/>
            <p:nvPr/>
          </p:nvSpPr>
          <p:spPr>
            <a:xfrm>
              <a:off x="406526" y="1803272"/>
              <a:ext cx="8077200" cy="1020444"/>
            </a:xfrm>
            <a:custGeom>
              <a:avLst/>
              <a:gdLst/>
              <a:ahLst/>
              <a:cxnLst/>
              <a:rect l="l" t="t" r="r" b="b"/>
              <a:pathLst>
                <a:path w="8077200" h="1020444">
                  <a:moveTo>
                    <a:pt x="0" y="1020317"/>
                  </a:moveTo>
                  <a:lnTo>
                    <a:pt x="8077200" y="1020317"/>
                  </a:lnTo>
                  <a:lnTo>
                    <a:pt x="8077200" y="0"/>
                  </a:lnTo>
                  <a:lnTo>
                    <a:pt x="0" y="0"/>
                  </a:lnTo>
                  <a:lnTo>
                    <a:pt x="0" y="1020317"/>
                  </a:lnTo>
                  <a:close/>
                </a:path>
              </a:pathLst>
            </a:custGeom>
            <a:ln w="9906">
              <a:solidFill>
                <a:srgbClr val="9BBA58"/>
              </a:solidFill>
            </a:ln>
          </p:spPr>
          <p:txBody>
            <a:bodyPr wrap="square" lIns="0" tIns="0" rIns="0" bIns="0" rtlCol="0"/>
            <a:lstStyle/>
            <a:p>
              <a:endParaRPr/>
            </a:p>
          </p:txBody>
        </p:sp>
        <p:pic>
          <p:nvPicPr>
            <p:cNvPr id="7" name="object 7"/>
            <p:cNvPicPr/>
            <p:nvPr/>
          </p:nvPicPr>
          <p:blipFill>
            <a:blip r:embed="rId5" cstate="print"/>
            <a:stretch>
              <a:fillRect/>
            </a:stretch>
          </p:blipFill>
          <p:spPr>
            <a:xfrm>
              <a:off x="768095" y="1517903"/>
              <a:ext cx="5735574" cy="637032"/>
            </a:xfrm>
            <a:prstGeom prst="rect">
              <a:avLst/>
            </a:prstGeom>
          </p:spPr>
        </p:pic>
        <p:pic>
          <p:nvPicPr>
            <p:cNvPr id="8" name="object 8"/>
            <p:cNvPicPr/>
            <p:nvPr/>
          </p:nvPicPr>
          <p:blipFill>
            <a:blip r:embed="rId6" cstate="print"/>
            <a:stretch>
              <a:fillRect/>
            </a:stretch>
          </p:blipFill>
          <p:spPr>
            <a:xfrm>
              <a:off x="360425" y="3163760"/>
              <a:ext cx="8162544" cy="835977"/>
            </a:xfrm>
            <a:prstGeom prst="rect">
              <a:avLst/>
            </a:prstGeom>
          </p:spPr>
        </p:pic>
        <p:pic>
          <p:nvPicPr>
            <p:cNvPr id="9" name="object 9"/>
            <p:cNvPicPr/>
            <p:nvPr/>
          </p:nvPicPr>
          <p:blipFill>
            <a:blip r:embed="rId7" cstate="print"/>
            <a:stretch>
              <a:fillRect/>
            </a:stretch>
          </p:blipFill>
          <p:spPr>
            <a:xfrm>
              <a:off x="854963" y="3447287"/>
              <a:ext cx="6591300" cy="555498"/>
            </a:xfrm>
            <a:prstGeom prst="rect">
              <a:avLst/>
            </a:prstGeom>
          </p:spPr>
        </p:pic>
        <p:sp>
          <p:nvSpPr>
            <p:cNvPr id="10" name="object 10"/>
            <p:cNvSpPr/>
            <p:nvPr/>
          </p:nvSpPr>
          <p:spPr>
            <a:xfrm>
              <a:off x="406526" y="3187064"/>
              <a:ext cx="8077200" cy="750570"/>
            </a:xfrm>
            <a:custGeom>
              <a:avLst/>
              <a:gdLst/>
              <a:ahLst/>
              <a:cxnLst/>
              <a:rect l="l" t="t" r="r" b="b"/>
              <a:pathLst>
                <a:path w="8077200" h="750570">
                  <a:moveTo>
                    <a:pt x="0" y="750570"/>
                  </a:moveTo>
                  <a:lnTo>
                    <a:pt x="8077200" y="750570"/>
                  </a:lnTo>
                  <a:lnTo>
                    <a:pt x="8077200" y="0"/>
                  </a:lnTo>
                  <a:lnTo>
                    <a:pt x="0" y="0"/>
                  </a:lnTo>
                  <a:lnTo>
                    <a:pt x="0" y="750570"/>
                  </a:lnTo>
                  <a:close/>
                </a:path>
              </a:pathLst>
            </a:custGeom>
            <a:ln w="9906">
              <a:solidFill>
                <a:srgbClr val="5CB37B"/>
              </a:solidFill>
            </a:ln>
          </p:spPr>
          <p:txBody>
            <a:bodyPr wrap="square" lIns="0" tIns="0" rIns="0" bIns="0" rtlCol="0"/>
            <a:lstStyle/>
            <a:p>
              <a:endParaRPr/>
            </a:p>
          </p:txBody>
        </p:sp>
        <p:pic>
          <p:nvPicPr>
            <p:cNvPr id="11" name="object 11"/>
            <p:cNvPicPr/>
            <p:nvPr/>
          </p:nvPicPr>
          <p:blipFill>
            <a:blip r:embed="rId8" cstate="print"/>
            <a:stretch>
              <a:fillRect/>
            </a:stretch>
          </p:blipFill>
          <p:spPr>
            <a:xfrm>
              <a:off x="768095" y="2901683"/>
              <a:ext cx="5735574" cy="637044"/>
            </a:xfrm>
            <a:prstGeom prst="rect">
              <a:avLst/>
            </a:prstGeom>
          </p:spPr>
        </p:pic>
        <p:pic>
          <p:nvPicPr>
            <p:cNvPr id="12" name="object 12"/>
            <p:cNvPicPr/>
            <p:nvPr/>
          </p:nvPicPr>
          <p:blipFill>
            <a:blip r:embed="rId6" cstate="print"/>
            <a:stretch>
              <a:fillRect/>
            </a:stretch>
          </p:blipFill>
          <p:spPr>
            <a:xfrm>
              <a:off x="360425" y="4277817"/>
              <a:ext cx="8162544" cy="836726"/>
            </a:xfrm>
            <a:prstGeom prst="rect">
              <a:avLst/>
            </a:prstGeom>
          </p:spPr>
        </p:pic>
        <p:pic>
          <p:nvPicPr>
            <p:cNvPr id="13" name="object 13"/>
            <p:cNvPicPr/>
            <p:nvPr/>
          </p:nvPicPr>
          <p:blipFill>
            <a:blip r:embed="rId9" cstate="print"/>
            <a:stretch>
              <a:fillRect/>
            </a:stretch>
          </p:blipFill>
          <p:spPr>
            <a:xfrm>
              <a:off x="854963" y="4561331"/>
              <a:ext cx="5746242" cy="555498"/>
            </a:xfrm>
            <a:prstGeom prst="rect">
              <a:avLst/>
            </a:prstGeom>
          </p:spPr>
        </p:pic>
        <p:sp>
          <p:nvSpPr>
            <p:cNvPr id="14" name="object 14"/>
            <p:cNvSpPr/>
            <p:nvPr/>
          </p:nvSpPr>
          <p:spPr>
            <a:xfrm>
              <a:off x="406526" y="4301108"/>
              <a:ext cx="8077200" cy="751840"/>
            </a:xfrm>
            <a:custGeom>
              <a:avLst/>
              <a:gdLst/>
              <a:ahLst/>
              <a:cxnLst/>
              <a:rect l="l" t="t" r="r" b="b"/>
              <a:pathLst>
                <a:path w="8077200" h="751839">
                  <a:moveTo>
                    <a:pt x="0" y="751332"/>
                  </a:moveTo>
                  <a:lnTo>
                    <a:pt x="8077200" y="751332"/>
                  </a:lnTo>
                  <a:lnTo>
                    <a:pt x="8077200" y="0"/>
                  </a:lnTo>
                  <a:lnTo>
                    <a:pt x="0" y="0"/>
                  </a:lnTo>
                  <a:lnTo>
                    <a:pt x="0" y="751332"/>
                  </a:lnTo>
                  <a:close/>
                </a:path>
              </a:pathLst>
            </a:custGeom>
            <a:ln w="9906">
              <a:solidFill>
                <a:srgbClr val="5F8BAB"/>
              </a:solidFill>
            </a:ln>
          </p:spPr>
          <p:txBody>
            <a:bodyPr wrap="square" lIns="0" tIns="0" rIns="0" bIns="0" rtlCol="0"/>
            <a:lstStyle/>
            <a:p>
              <a:endParaRPr/>
            </a:p>
          </p:txBody>
        </p:sp>
        <p:pic>
          <p:nvPicPr>
            <p:cNvPr id="15" name="object 15"/>
            <p:cNvPicPr/>
            <p:nvPr/>
          </p:nvPicPr>
          <p:blipFill>
            <a:blip r:embed="rId10" cstate="print"/>
            <a:stretch>
              <a:fillRect/>
            </a:stretch>
          </p:blipFill>
          <p:spPr>
            <a:xfrm>
              <a:off x="768095" y="4015727"/>
              <a:ext cx="5735574" cy="637044"/>
            </a:xfrm>
            <a:prstGeom prst="rect">
              <a:avLst/>
            </a:prstGeom>
          </p:spPr>
        </p:pic>
        <p:pic>
          <p:nvPicPr>
            <p:cNvPr id="16" name="object 16"/>
            <p:cNvPicPr/>
            <p:nvPr/>
          </p:nvPicPr>
          <p:blipFill>
            <a:blip r:embed="rId6" cstate="print"/>
            <a:stretch>
              <a:fillRect/>
            </a:stretch>
          </p:blipFill>
          <p:spPr>
            <a:xfrm>
              <a:off x="360425" y="5391912"/>
              <a:ext cx="8162544" cy="836726"/>
            </a:xfrm>
            <a:prstGeom prst="rect">
              <a:avLst/>
            </a:prstGeom>
          </p:spPr>
        </p:pic>
        <p:pic>
          <p:nvPicPr>
            <p:cNvPr id="17" name="object 17"/>
            <p:cNvPicPr/>
            <p:nvPr/>
          </p:nvPicPr>
          <p:blipFill>
            <a:blip r:embed="rId11" cstate="print"/>
            <a:stretch>
              <a:fillRect/>
            </a:stretch>
          </p:blipFill>
          <p:spPr>
            <a:xfrm>
              <a:off x="854963" y="5675375"/>
              <a:ext cx="6877811" cy="555498"/>
            </a:xfrm>
            <a:prstGeom prst="rect">
              <a:avLst/>
            </a:prstGeom>
          </p:spPr>
        </p:pic>
        <p:sp>
          <p:nvSpPr>
            <p:cNvPr id="18" name="object 18"/>
            <p:cNvSpPr/>
            <p:nvPr/>
          </p:nvSpPr>
          <p:spPr>
            <a:xfrm>
              <a:off x="406526" y="5415152"/>
              <a:ext cx="8077200" cy="751840"/>
            </a:xfrm>
            <a:custGeom>
              <a:avLst/>
              <a:gdLst/>
              <a:ahLst/>
              <a:cxnLst/>
              <a:rect l="l" t="t" r="r" b="b"/>
              <a:pathLst>
                <a:path w="8077200" h="751839">
                  <a:moveTo>
                    <a:pt x="0" y="751332"/>
                  </a:moveTo>
                  <a:lnTo>
                    <a:pt x="8077200" y="751332"/>
                  </a:lnTo>
                  <a:lnTo>
                    <a:pt x="8077200" y="0"/>
                  </a:lnTo>
                  <a:lnTo>
                    <a:pt x="0" y="0"/>
                  </a:lnTo>
                  <a:lnTo>
                    <a:pt x="0" y="751332"/>
                  </a:lnTo>
                  <a:close/>
                </a:path>
              </a:pathLst>
            </a:custGeom>
            <a:ln w="9906">
              <a:solidFill>
                <a:srgbClr val="8063A1"/>
              </a:solidFill>
            </a:ln>
          </p:spPr>
          <p:txBody>
            <a:bodyPr wrap="square" lIns="0" tIns="0" rIns="0" bIns="0" rtlCol="0"/>
            <a:lstStyle/>
            <a:p>
              <a:endParaRPr/>
            </a:p>
          </p:txBody>
        </p:sp>
        <p:pic>
          <p:nvPicPr>
            <p:cNvPr id="19" name="object 19"/>
            <p:cNvPicPr/>
            <p:nvPr/>
          </p:nvPicPr>
          <p:blipFill>
            <a:blip r:embed="rId12" cstate="print"/>
            <a:stretch>
              <a:fillRect/>
            </a:stretch>
          </p:blipFill>
          <p:spPr>
            <a:xfrm>
              <a:off x="768095" y="5129783"/>
              <a:ext cx="5735574" cy="637031"/>
            </a:xfrm>
            <a:prstGeom prst="rect">
              <a:avLst/>
            </a:prstGeom>
          </p:spPr>
        </p:pic>
      </p:grpSp>
      <p:sp>
        <p:nvSpPr>
          <p:cNvPr id="20" name="object 20"/>
          <p:cNvSpPr txBox="1"/>
          <p:nvPr/>
        </p:nvSpPr>
        <p:spPr>
          <a:xfrm>
            <a:off x="459740" y="1018286"/>
            <a:ext cx="7585075" cy="5023485"/>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4330" algn="l"/>
              </a:tabLst>
            </a:pPr>
            <a:r>
              <a:rPr sz="2400" spc="-5" dirty="0">
                <a:latin typeface="Goudy Old Style"/>
                <a:cs typeface="Goudy Old Style"/>
              </a:rPr>
              <a:t>Components of </a:t>
            </a:r>
            <a:r>
              <a:rPr sz="2400" dirty="0">
                <a:latin typeface="Goudy Old Style"/>
                <a:cs typeface="Goudy Old Style"/>
              </a:rPr>
              <a:t>the language </a:t>
            </a:r>
            <a:r>
              <a:rPr sz="2400" spc="-5" dirty="0">
                <a:latin typeface="Goudy Old Style"/>
                <a:cs typeface="Goudy Old Style"/>
              </a:rPr>
              <a:t>used with </a:t>
            </a:r>
            <a:r>
              <a:rPr sz="2400" spc="-15" dirty="0">
                <a:latin typeface="Goudy Old Style"/>
                <a:cs typeface="Goudy Old Style"/>
              </a:rPr>
              <a:t>network </a:t>
            </a:r>
            <a:r>
              <a:rPr sz="2400" dirty="0">
                <a:latin typeface="Goudy Old Style"/>
                <a:cs typeface="Goudy Old Style"/>
              </a:rPr>
              <a:t>models</a:t>
            </a:r>
            <a:r>
              <a:rPr sz="2400" spc="30" dirty="0">
                <a:latin typeface="Goudy Old Style"/>
                <a:cs typeface="Goudy Old Style"/>
              </a:rPr>
              <a:t> </a:t>
            </a:r>
            <a:r>
              <a:rPr sz="2400" spc="-10" dirty="0">
                <a:latin typeface="Goudy Old Style"/>
                <a:cs typeface="Goudy Old Style"/>
              </a:rPr>
              <a:t>are:</a:t>
            </a:r>
            <a:endParaRPr sz="2400">
              <a:latin typeface="Goudy Old Style"/>
              <a:cs typeface="Goudy Old Style"/>
            </a:endParaRPr>
          </a:p>
          <a:p>
            <a:pPr marL="589915">
              <a:lnSpc>
                <a:spcPct val="100000"/>
              </a:lnSpc>
              <a:spcBef>
                <a:spcPts val="1800"/>
              </a:spcBef>
            </a:pPr>
            <a:r>
              <a:rPr sz="2000" b="1" dirty="0">
                <a:solidFill>
                  <a:srgbClr val="FFFFFF"/>
                </a:solidFill>
                <a:latin typeface="Goudy Old Style"/>
                <a:cs typeface="Goudy Old Style"/>
              </a:rPr>
              <a:t>Data </a:t>
            </a:r>
            <a:r>
              <a:rPr sz="2000" b="1" spc="-5" dirty="0">
                <a:solidFill>
                  <a:srgbClr val="FFFFFF"/>
                </a:solidFill>
                <a:latin typeface="Goudy Old Style"/>
                <a:cs typeface="Goudy Old Style"/>
              </a:rPr>
              <a:t>Definition Language</a:t>
            </a:r>
            <a:r>
              <a:rPr sz="2000" b="1" spc="5" dirty="0">
                <a:solidFill>
                  <a:srgbClr val="FFFFFF"/>
                </a:solidFill>
                <a:latin typeface="Goudy Old Style"/>
                <a:cs typeface="Goudy Old Style"/>
              </a:rPr>
              <a:t> </a:t>
            </a:r>
            <a:r>
              <a:rPr sz="2000" b="1" spc="-10" dirty="0">
                <a:solidFill>
                  <a:srgbClr val="FFFFFF"/>
                </a:solidFill>
                <a:latin typeface="Goudy Old Style"/>
                <a:cs typeface="Goudy Old Style"/>
              </a:rPr>
              <a:t>(DDL)</a:t>
            </a:r>
            <a:endParaRPr sz="2000">
              <a:latin typeface="Goudy Old Style"/>
              <a:cs typeface="Goudy Old Style"/>
            </a:endParaRPr>
          </a:p>
          <a:p>
            <a:pPr marL="744855" marR="307340" lvl="1" indent="-171450">
              <a:lnSpc>
                <a:spcPts val="1939"/>
              </a:lnSpc>
              <a:spcBef>
                <a:spcPts val="1914"/>
              </a:spcBef>
              <a:buChar char="•"/>
              <a:tabLst>
                <a:tab pos="745490" algn="l"/>
              </a:tabLst>
            </a:pPr>
            <a:r>
              <a:rPr sz="1800" dirty="0">
                <a:latin typeface="Goudy Old Style"/>
                <a:cs typeface="Goudy Old Style"/>
              </a:rPr>
              <a:t>Used </a:t>
            </a:r>
            <a:r>
              <a:rPr sz="1800" spc="-5" dirty="0">
                <a:latin typeface="Goudy Old Style"/>
                <a:cs typeface="Goudy Old Style"/>
              </a:rPr>
              <a:t>to </a:t>
            </a:r>
            <a:r>
              <a:rPr sz="1800" spc="-10" dirty="0">
                <a:latin typeface="Goudy Old Style"/>
                <a:cs typeface="Goudy Old Style"/>
              </a:rPr>
              <a:t>create </a:t>
            </a:r>
            <a:r>
              <a:rPr sz="1800" spc="-5" dirty="0">
                <a:latin typeface="Goudy Old Style"/>
                <a:cs typeface="Goudy Old Style"/>
              </a:rPr>
              <a:t>and </a:t>
            </a:r>
            <a:r>
              <a:rPr sz="1800" spc="-20" dirty="0">
                <a:latin typeface="Goudy Old Style"/>
                <a:cs typeface="Goudy Old Style"/>
              </a:rPr>
              <a:t>remove </a:t>
            </a:r>
            <a:r>
              <a:rPr sz="1800" spc="-5" dirty="0">
                <a:latin typeface="Goudy Old Style"/>
                <a:cs typeface="Goudy Old Style"/>
              </a:rPr>
              <a:t>databases and database objects. It enables </a:t>
            </a:r>
            <a:r>
              <a:rPr sz="1800" dirty="0">
                <a:latin typeface="Goudy Old Style"/>
                <a:cs typeface="Goudy Old Style"/>
              </a:rPr>
              <a:t>the  </a:t>
            </a:r>
            <a:r>
              <a:rPr sz="1800" spc="-5" dirty="0">
                <a:latin typeface="Goudy Old Style"/>
                <a:cs typeface="Goudy Old Style"/>
              </a:rPr>
              <a:t>database administrator to define </a:t>
            </a:r>
            <a:r>
              <a:rPr sz="1800" dirty="0">
                <a:latin typeface="Goudy Old Style"/>
                <a:cs typeface="Goudy Old Style"/>
              </a:rPr>
              <a:t>the </a:t>
            </a:r>
            <a:r>
              <a:rPr sz="1800" spc="-10" dirty="0">
                <a:latin typeface="Goudy Old Style"/>
                <a:cs typeface="Goudy Old Style"/>
              </a:rPr>
              <a:t>schema</a:t>
            </a:r>
            <a:r>
              <a:rPr sz="1800" spc="10" dirty="0">
                <a:latin typeface="Goudy Old Style"/>
                <a:cs typeface="Goudy Old Style"/>
              </a:rPr>
              <a:t> </a:t>
            </a:r>
            <a:r>
              <a:rPr sz="1800" spc="-5" dirty="0">
                <a:latin typeface="Goudy Old Style"/>
                <a:cs typeface="Goudy Old Style"/>
              </a:rPr>
              <a:t>components.</a:t>
            </a:r>
            <a:endParaRPr sz="1800">
              <a:latin typeface="Goudy Old Style"/>
              <a:cs typeface="Goudy Old Style"/>
            </a:endParaRPr>
          </a:p>
          <a:p>
            <a:pPr lvl="1">
              <a:lnSpc>
                <a:spcPct val="100000"/>
              </a:lnSpc>
              <a:buFont typeface="Goudy Old Style"/>
              <a:buChar char="•"/>
            </a:pPr>
            <a:endParaRPr sz="2250">
              <a:latin typeface="Goudy Old Style"/>
              <a:cs typeface="Goudy Old Style"/>
            </a:endParaRPr>
          </a:p>
          <a:p>
            <a:pPr marL="589915">
              <a:lnSpc>
                <a:spcPct val="100000"/>
              </a:lnSpc>
              <a:spcBef>
                <a:spcPts val="5"/>
              </a:spcBef>
            </a:pPr>
            <a:r>
              <a:rPr sz="2000" b="1" spc="-10">
                <a:solidFill>
                  <a:srgbClr val="FFFFFF"/>
                </a:solidFill>
                <a:latin typeface="Goudy Old Style"/>
                <a:cs typeface="Goudy Old Style"/>
              </a:rPr>
              <a:t>Sub</a:t>
            </a:r>
            <a:r>
              <a:rPr lang="en-US" sz="2000" b="1" spc="-10">
                <a:solidFill>
                  <a:srgbClr val="FFFFFF"/>
                </a:solidFill>
                <a:latin typeface="Goudy Old Style"/>
                <a:cs typeface="Goudy Old Style"/>
              </a:rPr>
              <a:t> </a:t>
            </a:r>
            <a:r>
              <a:rPr sz="2000" b="1" spc="-10">
                <a:solidFill>
                  <a:srgbClr val="FFFFFF"/>
                </a:solidFill>
                <a:latin typeface="Goudy Old Style"/>
                <a:cs typeface="Goudy Old Style"/>
              </a:rPr>
              <a:t>schema</a:t>
            </a:r>
            <a:r>
              <a:rPr sz="2000" b="1" spc="-5">
                <a:solidFill>
                  <a:srgbClr val="FFFFFF"/>
                </a:solidFill>
                <a:latin typeface="Goudy Old Style"/>
                <a:cs typeface="Goudy Old Style"/>
              </a:rPr>
              <a:t> </a:t>
            </a:r>
            <a:r>
              <a:rPr sz="2000" b="1" spc="-5" dirty="0">
                <a:solidFill>
                  <a:srgbClr val="FFFFFF"/>
                </a:solidFill>
                <a:latin typeface="Goudy Old Style"/>
                <a:cs typeface="Goudy Old Style"/>
              </a:rPr>
              <a:t>DDL</a:t>
            </a:r>
            <a:endParaRPr sz="2000">
              <a:latin typeface="Goudy Old Style"/>
              <a:cs typeface="Goudy Old Style"/>
            </a:endParaRPr>
          </a:p>
          <a:p>
            <a:pPr marL="744855" lvl="1" indent="-172085">
              <a:lnSpc>
                <a:spcPct val="100000"/>
              </a:lnSpc>
              <a:spcBef>
                <a:spcPts val="1660"/>
              </a:spcBef>
              <a:buChar char="•"/>
              <a:tabLst>
                <a:tab pos="745490" algn="l"/>
              </a:tabLst>
            </a:pPr>
            <a:r>
              <a:rPr sz="1800" spc="-5" dirty="0">
                <a:latin typeface="Goudy Old Style"/>
                <a:cs typeface="Goudy Old Style"/>
              </a:rPr>
              <a:t>Enables </a:t>
            </a:r>
            <a:r>
              <a:rPr sz="1800" dirty="0">
                <a:latin typeface="Goudy Old Style"/>
                <a:cs typeface="Goudy Old Style"/>
              </a:rPr>
              <a:t>the </a:t>
            </a:r>
            <a:r>
              <a:rPr sz="1800" spc="-5" dirty="0">
                <a:latin typeface="Goudy Old Style"/>
                <a:cs typeface="Goudy Old Style"/>
              </a:rPr>
              <a:t>database administrator </a:t>
            </a:r>
            <a:r>
              <a:rPr sz="1800" spc="-10" dirty="0">
                <a:latin typeface="Goudy Old Style"/>
                <a:cs typeface="Goudy Old Style"/>
              </a:rPr>
              <a:t>to </a:t>
            </a:r>
            <a:r>
              <a:rPr sz="1800" spc="-5" dirty="0">
                <a:latin typeface="Goudy Old Style"/>
                <a:cs typeface="Goudy Old Style"/>
              </a:rPr>
              <a:t>define database</a:t>
            </a:r>
            <a:r>
              <a:rPr sz="1800" spc="10" dirty="0">
                <a:latin typeface="Goudy Old Style"/>
                <a:cs typeface="Goudy Old Style"/>
              </a:rPr>
              <a:t> </a:t>
            </a:r>
            <a:r>
              <a:rPr sz="1800" spc="-5" dirty="0">
                <a:latin typeface="Goudy Old Style"/>
                <a:cs typeface="Goudy Old Style"/>
              </a:rPr>
              <a:t>components.</a:t>
            </a:r>
            <a:endParaRPr sz="1800">
              <a:latin typeface="Goudy Old Style"/>
              <a:cs typeface="Goudy Old Style"/>
            </a:endParaRPr>
          </a:p>
          <a:p>
            <a:pPr lvl="1">
              <a:lnSpc>
                <a:spcPct val="100000"/>
              </a:lnSpc>
              <a:spcBef>
                <a:spcPts val="30"/>
              </a:spcBef>
              <a:buFont typeface="Goudy Old Style"/>
              <a:buChar char="•"/>
            </a:pPr>
            <a:endParaRPr sz="2100">
              <a:latin typeface="Goudy Old Style"/>
              <a:cs typeface="Goudy Old Style"/>
            </a:endParaRPr>
          </a:p>
          <a:p>
            <a:pPr marL="589915">
              <a:lnSpc>
                <a:spcPct val="100000"/>
              </a:lnSpc>
            </a:pPr>
            <a:r>
              <a:rPr sz="2000" b="1" dirty="0">
                <a:solidFill>
                  <a:srgbClr val="FFFFFF"/>
                </a:solidFill>
                <a:latin typeface="Goudy Old Style"/>
                <a:cs typeface="Goudy Old Style"/>
              </a:rPr>
              <a:t>Data </a:t>
            </a:r>
            <a:r>
              <a:rPr sz="2000" b="1" spc="-5" dirty="0">
                <a:solidFill>
                  <a:srgbClr val="FFFFFF"/>
                </a:solidFill>
                <a:latin typeface="Goudy Old Style"/>
                <a:cs typeface="Goudy Old Style"/>
              </a:rPr>
              <a:t>Manipulation Language</a:t>
            </a:r>
            <a:r>
              <a:rPr sz="2000" b="1" spc="15" dirty="0">
                <a:solidFill>
                  <a:srgbClr val="FFFFFF"/>
                </a:solidFill>
                <a:latin typeface="Goudy Old Style"/>
                <a:cs typeface="Goudy Old Style"/>
              </a:rPr>
              <a:t> </a:t>
            </a:r>
            <a:r>
              <a:rPr sz="2000" b="1" spc="-5" dirty="0">
                <a:solidFill>
                  <a:srgbClr val="FFFFFF"/>
                </a:solidFill>
                <a:latin typeface="Goudy Old Style"/>
                <a:cs typeface="Goudy Old Style"/>
              </a:rPr>
              <a:t>(DML)</a:t>
            </a:r>
            <a:endParaRPr sz="2000">
              <a:latin typeface="Goudy Old Style"/>
              <a:cs typeface="Goudy Old Style"/>
            </a:endParaRPr>
          </a:p>
          <a:p>
            <a:pPr marL="744855" lvl="1" indent="-172085">
              <a:lnSpc>
                <a:spcPct val="100000"/>
              </a:lnSpc>
              <a:spcBef>
                <a:spcPts val="1664"/>
              </a:spcBef>
              <a:buChar char="•"/>
              <a:tabLst>
                <a:tab pos="745490" algn="l"/>
              </a:tabLst>
            </a:pPr>
            <a:r>
              <a:rPr sz="1800" dirty="0">
                <a:latin typeface="Goudy Old Style"/>
                <a:cs typeface="Goudy Old Style"/>
              </a:rPr>
              <a:t>Used </a:t>
            </a:r>
            <a:r>
              <a:rPr sz="1800" spc="-5" dirty="0">
                <a:latin typeface="Goudy Old Style"/>
                <a:cs typeface="Goudy Old Style"/>
              </a:rPr>
              <a:t>to </a:t>
            </a:r>
            <a:r>
              <a:rPr sz="1800" dirty="0">
                <a:latin typeface="Goudy Old Style"/>
                <a:cs typeface="Goudy Old Style"/>
              </a:rPr>
              <a:t>insert, </a:t>
            </a:r>
            <a:r>
              <a:rPr sz="1800" spc="-10" dirty="0">
                <a:latin typeface="Goudy Old Style"/>
                <a:cs typeface="Goudy Old Style"/>
              </a:rPr>
              <a:t>retrieve, </a:t>
            </a:r>
            <a:r>
              <a:rPr sz="1800" spc="-5" dirty="0">
                <a:latin typeface="Goudy Old Style"/>
                <a:cs typeface="Goudy Old Style"/>
              </a:rPr>
              <a:t>and </a:t>
            </a:r>
            <a:r>
              <a:rPr sz="1800" dirty="0">
                <a:latin typeface="Goudy Old Style"/>
                <a:cs typeface="Goudy Old Style"/>
              </a:rPr>
              <a:t>modify </a:t>
            </a:r>
            <a:r>
              <a:rPr sz="1800" spc="-5" dirty="0">
                <a:latin typeface="Goudy Old Style"/>
                <a:cs typeface="Goudy Old Style"/>
              </a:rPr>
              <a:t>database </a:t>
            </a:r>
            <a:r>
              <a:rPr sz="1800" spc="-10" dirty="0">
                <a:latin typeface="Goudy Old Style"/>
                <a:cs typeface="Goudy Old Style"/>
              </a:rPr>
              <a:t>information.</a:t>
            </a:r>
            <a:endParaRPr sz="1800">
              <a:latin typeface="Goudy Old Style"/>
              <a:cs typeface="Goudy Old Style"/>
            </a:endParaRPr>
          </a:p>
          <a:p>
            <a:pPr lvl="1">
              <a:lnSpc>
                <a:spcPct val="100000"/>
              </a:lnSpc>
              <a:spcBef>
                <a:spcPts val="25"/>
              </a:spcBef>
              <a:buFont typeface="Goudy Old Style"/>
              <a:buChar char="•"/>
            </a:pPr>
            <a:endParaRPr sz="2100">
              <a:latin typeface="Goudy Old Style"/>
              <a:cs typeface="Goudy Old Style"/>
            </a:endParaRPr>
          </a:p>
          <a:p>
            <a:pPr marL="589915">
              <a:lnSpc>
                <a:spcPct val="100000"/>
              </a:lnSpc>
              <a:spcBef>
                <a:spcPts val="5"/>
              </a:spcBef>
            </a:pPr>
            <a:r>
              <a:rPr sz="2000" b="1" dirty="0">
                <a:solidFill>
                  <a:srgbClr val="FFFFFF"/>
                </a:solidFill>
                <a:latin typeface="Goudy Old Style"/>
                <a:cs typeface="Goudy Old Style"/>
              </a:rPr>
              <a:t>Data </a:t>
            </a:r>
            <a:r>
              <a:rPr sz="2000" b="1" spc="-10" dirty="0">
                <a:solidFill>
                  <a:srgbClr val="FFFFFF"/>
                </a:solidFill>
                <a:latin typeface="Goudy Old Style"/>
                <a:cs typeface="Goudy Old Style"/>
              </a:rPr>
              <a:t>Control </a:t>
            </a:r>
            <a:r>
              <a:rPr sz="2000" b="1" spc="-5" dirty="0">
                <a:solidFill>
                  <a:srgbClr val="FFFFFF"/>
                </a:solidFill>
                <a:latin typeface="Goudy Old Style"/>
                <a:cs typeface="Goudy Old Style"/>
              </a:rPr>
              <a:t>Language</a:t>
            </a:r>
            <a:r>
              <a:rPr sz="2000" b="1" spc="10" dirty="0">
                <a:solidFill>
                  <a:srgbClr val="FFFFFF"/>
                </a:solidFill>
                <a:latin typeface="Goudy Old Style"/>
                <a:cs typeface="Goudy Old Style"/>
              </a:rPr>
              <a:t> </a:t>
            </a:r>
            <a:r>
              <a:rPr sz="2000" b="1" spc="-10" dirty="0">
                <a:solidFill>
                  <a:srgbClr val="FFFFFF"/>
                </a:solidFill>
                <a:latin typeface="Goudy Old Style"/>
                <a:cs typeface="Goudy Old Style"/>
              </a:rPr>
              <a:t>(DCL)</a:t>
            </a:r>
            <a:endParaRPr sz="2000">
              <a:latin typeface="Goudy Old Style"/>
              <a:cs typeface="Goudy Old Style"/>
            </a:endParaRPr>
          </a:p>
          <a:p>
            <a:pPr marL="744855" lvl="1" indent="-172085">
              <a:lnSpc>
                <a:spcPct val="100000"/>
              </a:lnSpc>
              <a:spcBef>
                <a:spcPts val="1664"/>
              </a:spcBef>
              <a:buChar char="•"/>
              <a:tabLst>
                <a:tab pos="745490" algn="l"/>
              </a:tabLst>
            </a:pPr>
            <a:r>
              <a:rPr sz="1800" dirty="0">
                <a:latin typeface="Goudy Old Style"/>
                <a:cs typeface="Goudy Old Style"/>
              </a:rPr>
              <a:t>Used </a:t>
            </a:r>
            <a:r>
              <a:rPr sz="1800" spc="-5" dirty="0">
                <a:latin typeface="Goudy Old Style"/>
                <a:cs typeface="Goudy Old Style"/>
              </a:rPr>
              <a:t>to </a:t>
            </a:r>
            <a:r>
              <a:rPr sz="1800" spc="-10" dirty="0">
                <a:latin typeface="Goudy Old Style"/>
                <a:cs typeface="Goudy Old Style"/>
              </a:rPr>
              <a:t>administer </a:t>
            </a:r>
            <a:r>
              <a:rPr sz="1800" spc="-5" dirty="0">
                <a:latin typeface="Goudy Old Style"/>
                <a:cs typeface="Goudy Old Style"/>
              </a:rPr>
              <a:t>permissions on </a:t>
            </a:r>
            <a:r>
              <a:rPr sz="1800" dirty="0">
                <a:latin typeface="Goudy Old Style"/>
                <a:cs typeface="Goudy Old Style"/>
              </a:rPr>
              <a:t>the </a:t>
            </a:r>
            <a:r>
              <a:rPr sz="1800" spc="-5" dirty="0">
                <a:latin typeface="Goudy Old Style"/>
                <a:cs typeface="Goudy Old Style"/>
              </a:rPr>
              <a:t>databases and </a:t>
            </a:r>
            <a:r>
              <a:rPr sz="1800" dirty="0">
                <a:latin typeface="Goudy Old Style"/>
                <a:cs typeface="Goudy Old Style"/>
              </a:rPr>
              <a:t>database</a:t>
            </a:r>
            <a:r>
              <a:rPr sz="1800" spc="15" dirty="0">
                <a:latin typeface="Goudy Old Style"/>
                <a:cs typeface="Goudy Old Style"/>
              </a:rPr>
              <a:t> </a:t>
            </a:r>
            <a:r>
              <a:rPr sz="1800" spc="-5" dirty="0">
                <a:latin typeface="Goudy Old Style"/>
                <a:cs typeface="Goudy Old Style"/>
              </a:rPr>
              <a:t>objects.</a:t>
            </a:r>
            <a:endParaRPr sz="1800">
              <a:latin typeface="Goudy Old Style"/>
              <a:cs typeface="Goudy Old Style"/>
            </a:endParaRPr>
          </a:p>
        </p:txBody>
      </p:sp>
      <p:sp>
        <p:nvSpPr>
          <p:cNvPr id="22" name="object 22"/>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22</a:t>
            </a:fld>
            <a:endParaRPr sz="1200"/>
          </a:p>
        </p:txBody>
      </p:sp>
      <p:sp>
        <p:nvSpPr>
          <p:cNvPr id="23" name="object 23"/>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4993640" cy="635635"/>
          </a:xfrm>
          <a:prstGeom prst="rect">
            <a:avLst/>
          </a:prstGeom>
        </p:spPr>
        <p:txBody>
          <a:bodyPr vert="horz" wrap="square" lIns="0" tIns="12700" rIns="0" bIns="0" rtlCol="0">
            <a:spAutoFit/>
          </a:bodyPr>
          <a:lstStyle/>
          <a:p>
            <a:pPr marL="12700">
              <a:lnSpc>
                <a:spcPct val="100000"/>
              </a:lnSpc>
              <a:spcBef>
                <a:spcPts val="100"/>
              </a:spcBef>
            </a:pPr>
            <a:r>
              <a:rPr sz="4000" b="0" spc="-35" dirty="0">
                <a:latin typeface="Goudy Old Style"/>
                <a:cs typeface="Goudy Old Style"/>
              </a:rPr>
              <a:t>Network </a:t>
            </a:r>
            <a:r>
              <a:rPr sz="4000" b="0" spc="10" dirty="0">
                <a:latin typeface="Goudy Old Style"/>
                <a:cs typeface="Goudy Old Style"/>
              </a:rPr>
              <a:t>Data </a:t>
            </a:r>
            <a:r>
              <a:rPr sz="4000" b="0" spc="-5" dirty="0">
                <a:latin typeface="Goudy Old Style"/>
                <a:cs typeface="Goudy Old Style"/>
              </a:rPr>
              <a:t>Model</a:t>
            </a:r>
            <a:r>
              <a:rPr sz="4000" b="0" spc="-55" dirty="0">
                <a:latin typeface="Goudy Old Style"/>
                <a:cs typeface="Goudy Old Style"/>
              </a:rPr>
              <a:t> </a:t>
            </a:r>
            <a:r>
              <a:rPr sz="4000" b="0" spc="5" dirty="0">
                <a:latin typeface="Goudy Old Style"/>
                <a:cs typeface="Goudy Old Style"/>
              </a:rPr>
              <a:t>4-4</a:t>
            </a:r>
            <a:endParaRPr sz="4000">
              <a:latin typeface="Goudy Old Style"/>
              <a:cs typeface="Goudy Old Style"/>
            </a:endParaRPr>
          </a:p>
        </p:txBody>
      </p:sp>
      <p:sp>
        <p:nvSpPr>
          <p:cNvPr id="3" name="object 3"/>
          <p:cNvSpPr txBox="1"/>
          <p:nvPr/>
        </p:nvSpPr>
        <p:spPr>
          <a:xfrm>
            <a:off x="459740" y="1019047"/>
            <a:ext cx="2087245" cy="361315"/>
          </a:xfrm>
          <a:prstGeom prst="rect">
            <a:avLst/>
          </a:prstGeom>
        </p:spPr>
        <p:txBody>
          <a:bodyPr vert="horz" wrap="square" lIns="0" tIns="13335" rIns="0" bIns="0" rtlCol="0">
            <a:spAutoFit/>
          </a:bodyPr>
          <a:lstStyle/>
          <a:p>
            <a:pPr marL="353695" indent="-341630">
              <a:lnSpc>
                <a:spcPct val="100000"/>
              </a:lnSpc>
              <a:spcBef>
                <a:spcPts val="105"/>
              </a:spcBef>
              <a:buFont typeface="Wingdings"/>
              <a:buChar char=""/>
              <a:tabLst>
                <a:tab pos="354330" algn="l"/>
              </a:tabLst>
            </a:pPr>
            <a:r>
              <a:rPr sz="2200" spc="-5" dirty="0">
                <a:latin typeface="Goudy Old Style"/>
                <a:cs typeface="Goudy Old Style"/>
              </a:rPr>
              <a:t>Advantages</a:t>
            </a:r>
            <a:r>
              <a:rPr sz="2200" spc="-45" dirty="0">
                <a:latin typeface="Goudy Old Style"/>
                <a:cs typeface="Goudy Old Style"/>
              </a:rPr>
              <a:t> </a:t>
            </a:r>
            <a:r>
              <a:rPr sz="2200" spc="-15" dirty="0">
                <a:latin typeface="Goudy Old Style"/>
                <a:cs typeface="Goudy Old Style"/>
              </a:rPr>
              <a:t>are:</a:t>
            </a:r>
            <a:endParaRPr sz="2200">
              <a:latin typeface="Goudy Old Style"/>
              <a:cs typeface="Goudy Old Style"/>
            </a:endParaRPr>
          </a:p>
        </p:txBody>
      </p:sp>
      <p:sp>
        <p:nvSpPr>
          <p:cNvPr id="4" name="object 4"/>
          <p:cNvSpPr/>
          <p:nvPr/>
        </p:nvSpPr>
        <p:spPr>
          <a:xfrm>
            <a:off x="875919" y="1528191"/>
            <a:ext cx="7191375" cy="384175"/>
          </a:xfrm>
          <a:custGeom>
            <a:avLst/>
            <a:gdLst/>
            <a:ahLst/>
            <a:cxnLst/>
            <a:rect l="l" t="t" r="r" b="b"/>
            <a:pathLst>
              <a:path w="7191375" h="384175">
                <a:moveTo>
                  <a:pt x="7126985" y="0"/>
                </a:moveTo>
                <a:lnTo>
                  <a:pt x="64008" y="0"/>
                </a:lnTo>
                <a:lnTo>
                  <a:pt x="39090" y="5036"/>
                </a:lnTo>
                <a:lnTo>
                  <a:pt x="18745" y="18764"/>
                </a:lnTo>
                <a:lnTo>
                  <a:pt x="5029" y="39112"/>
                </a:lnTo>
                <a:lnTo>
                  <a:pt x="0" y="64008"/>
                </a:lnTo>
                <a:lnTo>
                  <a:pt x="0" y="320040"/>
                </a:lnTo>
                <a:lnTo>
                  <a:pt x="5029" y="344935"/>
                </a:lnTo>
                <a:lnTo>
                  <a:pt x="18745" y="365283"/>
                </a:lnTo>
                <a:lnTo>
                  <a:pt x="39090" y="379011"/>
                </a:lnTo>
                <a:lnTo>
                  <a:pt x="64008" y="384048"/>
                </a:lnTo>
                <a:lnTo>
                  <a:pt x="7126985" y="384048"/>
                </a:lnTo>
                <a:lnTo>
                  <a:pt x="7151881" y="379011"/>
                </a:lnTo>
                <a:lnTo>
                  <a:pt x="7172229" y="365283"/>
                </a:lnTo>
                <a:lnTo>
                  <a:pt x="7185957" y="344935"/>
                </a:lnTo>
                <a:lnTo>
                  <a:pt x="7190994" y="320040"/>
                </a:lnTo>
                <a:lnTo>
                  <a:pt x="7190994" y="64008"/>
                </a:lnTo>
                <a:lnTo>
                  <a:pt x="7185957" y="39112"/>
                </a:lnTo>
                <a:lnTo>
                  <a:pt x="7172229" y="18764"/>
                </a:lnTo>
                <a:lnTo>
                  <a:pt x="7151881" y="5036"/>
                </a:lnTo>
                <a:lnTo>
                  <a:pt x="7126985" y="0"/>
                </a:lnTo>
                <a:close/>
              </a:path>
            </a:pathLst>
          </a:custGeom>
          <a:solidFill>
            <a:srgbClr val="C0504D"/>
          </a:solidFill>
        </p:spPr>
        <p:txBody>
          <a:bodyPr wrap="square" lIns="0" tIns="0" rIns="0" bIns="0" rtlCol="0"/>
          <a:lstStyle/>
          <a:p>
            <a:endParaRPr/>
          </a:p>
        </p:txBody>
      </p:sp>
      <p:graphicFrame>
        <p:nvGraphicFramePr>
          <p:cNvPr id="5" name="object 5"/>
          <p:cNvGraphicFramePr>
            <a:graphicFrameLocks noGrp="1"/>
          </p:cNvGraphicFramePr>
          <p:nvPr>
            <p:extLst>
              <p:ext uri="{D42A27DB-BD31-4B8C-83A1-F6EECF244321}">
                <p14:modId xmlns:p14="http://schemas.microsoft.com/office/powerpoint/2010/main" val="170256751"/>
              </p:ext>
            </p:extLst>
          </p:nvPr>
        </p:nvGraphicFramePr>
        <p:xfrm>
          <a:off x="445008" y="1571722"/>
          <a:ext cx="8001635" cy="485678"/>
        </p:xfrm>
        <a:graphic>
          <a:graphicData uri="http://schemas.openxmlformats.org/drawingml/2006/table">
            <a:tbl>
              <a:tblPr firstRow="1" bandRow="1">
                <a:tableStyleId>{2D5ABB26-0587-4C30-8999-92F81FD0307C}</a:tableStyleId>
              </a:tblPr>
              <a:tblGrid>
                <a:gridCol w="418465">
                  <a:extLst>
                    <a:ext uri="{9D8B030D-6E8A-4147-A177-3AD203B41FA5}">
                      <a16:colId xmlns:a16="http://schemas.microsoft.com/office/drawing/2014/main" val="20000"/>
                    </a:ext>
                  </a:extLst>
                </a:gridCol>
                <a:gridCol w="7191375">
                  <a:extLst>
                    <a:ext uri="{9D8B030D-6E8A-4147-A177-3AD203B41FA5}">
                      <a16:colId xmlns:a16="http://schemas.microsoft.com/office/drawing/2014/main" val="20001"/>
                    </a:ext>
                  </a:extLst>
                </a:gridCol>
                <a:gridCol w="391795">
                  <a:extLst>
                    <a:ext uri="{9D8B030D-6E8A-4147-A177-3AD203B41FA5}">
                      <a16:colId xmlns:a16="http://schemas.microsoft.com/office/drawing/2014/main" val="20002"/>
                    </a:ext>
                  </a:extLst>
                </a:gridCol>
              </a:tblGrid>
              <a:tr h="158019">
                <a:tc>
                  <a:txBody>
                    <a:bodyPr/>
                    <a:lstStyle/>
                    <a:p>
                      <a:pPr>
                        <a:lnSpc>
                          <a:spcPct val="100000"/>
                        </a:lnSpc>
                      </a:pPr>
                      <a:endParaRPr sz="900">
                        <a:latin typeface="Times New Roman"/>
                        <a:cs typeface="Times New Roman"/>
                      </a:endParaRPr>
                    </a:p>
                  </a:txBody>
                  <a:tcPr marL="0" marR="0" marT="0" marB="0">
                    <a:lnR w="53975">
                      <a:solidFill>
                        <a:srgbClr val="FFFFFF"/>
                      </a:solidFill>
                      <a:prstDash val="solid"/>
                    </a:lnR>
                    <a:lnB w="28575">
                      <a:solidFill>
                        <a:srgbClr val="C0504D"/>
                      </a:solidFill>
                      <a:prstDash val="solid"/>
                    </a:lnB>
                  </a:tcPr>
                </a:tc>
                <a:tc>
                  <a:txBody>
                    <a:bodyPr/>
                    <a:lstStyle/>
                    <a:p>
                      <a:pPr marL="230504">
                        <a:lnSpc>
                          <a:spcPts val="1145"/>
                        </a:lnSpc>
                      </a:pPr>
                      <a:r>
                        <a:rPr sz="1400" b="1" spc="-5" dirty="0">
                          <a:solidFill>
                            <a:srgbClr val="FFFFFF"/>
                          </a:solidFill>
                          <a:latin typeface="Goudy Old Style"/>
                          <a:cs typeface="Goudy Old Style"/>
                        </a:rPr>
                        <a:t>Relationships </a:t>
                      </a:r>
                      <a:r>
                        <a:rPr sz="1400" b="1" spc="-10" dirty="0">
                          <a:solidFill>
                            <a:srgbClr val="FFFFFF"/>
                          </a:solidFill>
                          <a:latin typeface="Goudy Old Style"/>
                          <a:cs typeface="Goudy Old Style"/>
                        </a:rPr>
                        <a:t>are </a:t>
                      </a:r>
                      <a:r>
                        <a:rPr sz="1400" b="1" spc="-5" dirty="0">
                          <a:solidFill>
                            <a:srgbClr val="FFFFFF"/>
                          </a:solidFill>
                          <a:latin typeface="Goudy Old Style"/>
                          <a:cs typeface="Goudy Old Style"/>
                        </a:rPr>
                        <a:t>easier to </a:t>
                      </a:r>
                      <a:r>
                        <a:rPr sz="1400" b="1" spc="-10" dirty="0">
                          <a:solidFill>
                            <a:srgbClr val="FFFFFF"/>
                          </a:solidFill>
                          <a:latin typeface="Goudy Old Style"/>
                          <a:cs typeface="Goudy Old Style"/>
                        </a:rPr>
                        <a:t>implement </a:t>
                      </a:r>
                      <a:r>
                        <a:rPr sz="1400" b="1" spc="-5" dirty="0">
                          <a:solidFill>
                            <a:srgbClr val="FFFFFF"/>
                          </a:solidFill>
                          <a:latin typeface="Goudy Old Style"/>
                          <a:cs typeface="Goudy Old Style"/>
                        </a:rPr>
                        <a:t>in the </a:t>
                      </a:r>
                      <a:r>
                        <a:rPr sz="1400" b="1" spc="-15" dirty="0">
                          <a:solidFill>
                            <a:srgbClr val="FFFFFF"/>
                          </a:solidFill>
                          <a:latin typeface="Goudy Old Style"/>
                          <a:cs typeface="Goudy Old Style"/>
                        </a:rPr>
                        <a:t>network </a:t>
                      </a:r>
                      <a:r>
                        <a:rPr sz="1400" b="1" spc="-5" dirty="0">
                          <a:solidFill>
                            <a:srgbClr val="FFFFFF"/>
                          </a:solidFill>
                          <a:latin typeface="Goudy Old Style"/>
                          <a:cs typeface="Goudy Old Style"/>
                        </a:rPr>
                        <a:t>database model than in the</a:t>
                      </a:r>
                      <a:r>
                        <a:rPr sz="1400" b="1" spc="120" dirty="0">
                          <a:solidFill>
                            <a:srgbClr val="FFFFFF"/>
                          </a:solidFill>
                          <a:latin typeface="Goudy Old Style"/>
                          <a:cs typeface="Goudy Old Style"/>
                        </a:rPr>
                        <a:t> </a:t>
                      </a:r>
                      <a:r>
                        <a:rPr sz="1400" b="1" spc="-5" dirty="0">
                          <a:solidFill>
                            <a:srgbClr val="FFFFFF"/>
                          </a:solidFill>
                          <a:latin typeface="Goudy Old Style"/>
                          <a:cs typeface="Goudy Old Style"/>
                        </a:rPr>
                        <a:t>hierarchical</a:t>
                      </a:r>
                      <a:endParaRPr sz="1400">
                        <a:latin typeface="Goudy Old Style"/>
                        <a:cs typeface="Goudy Old Style"/>
                      </a:endParaRPr>
                    </a:p>
                  </a:txBody>
                  <a:tcPr marL="0" marR="0" marT="0" marB="0">
                    <a:lnL w="53975">
                      <a:solidFill>
                        <a:srgbClr val="FFFFFF"/>
                      </a:solidFill>
                      <a:prstDash val="solid"/>
                    </a:lnL>
                    <a:lnR w="53975">
                      <a:solidFill>
                        <a:srgbClr val="FFFFFF"/>
                      </a:solidFill>
                      <a:prstDash val="solid"/>
                    </a:lnR>
                    <a:lnB w="28575">
                      <a:solidFill>
                        <a:srgbClr val="C0504D"/>
                      </a:solidFill>
                      <a:prstDash val="solid"/>
                    </a:lnB>
                  </a:tcPr>
                </a:tc>
                <a:tc>
                  <a:txBody>
                    <a:bodyPr/>
                    <a:lstStyle/>
                    <a:p>
                      <a:pPr>
                        <a:lnSpc>
                          <a:spcPct val="100000"/>
                        </a:lnSpc>
                      </a:pPr>
                      <a:endParaRPr sz="900">
                        <a:latin typeface="Times New Roman"/>
                        <a:cs typeface="Times New Roman"/>
                      </a:endParaRPr>
                    </a:p>
                  </a:txBody>
                  <a:tcPr marL="0" marR="0" marT="0" marB="0">
                    <a:lnL w="53975">
                      <a:solidFill>
                        <a:srgbClr val="FFFFFF"/>
                      </a:solidFill>
                      <a:prstDash val="solid"/>
                    </a:lnL>
                    <a:lnB w="28575">
                      <a:solidFill>
                        <a:srgbClr val="C0504D"/>
                      </a:solidFill>
                      <a:prstDash val="solid"/>
                    </a:lnB>
                  </a:tcPr>
                </a:tc>
                <a:extLst>
                  <a:ext uri="{0D108BD9-81ED-4DB2-BD59-A6C34878D82A}">
                    <a16:rowId xmlns:a16="http://schemas.microsoft.com/office/drawing/2014/main" val="10000"/>
                  </a:ext>
                </a:extLst>
              </a:tr>
              <a:tr h="168151">
                <a:tc>
                  <a:txBody>
                    <a:bodyPr/>
                    <a:lstStyle/>
                    <a:p>
                      <a:pPr>
                        <a:lnSpc>
                          <a:spcPct val="100000"/>
                        </a:lnSpc>
                      </a:pPr>
                      <a:endParaRPr sz="900">
                        <a:latin typeface="Times New Roman"/>
                        <a:cs typeface="Times New Roman"/>
                      </a:endParaRPr>
                    </a:p>
                  </a:txBody>
                  <a:tcPr marL="0" marR="0" marT="0" marB="0">
                    <a:lnL w="28575">
                      <a:solidFill>
                        <a:srgbClr val="C0504D"/>
                      </a:solidFill>
                      <a:prstDash val="solid"/>
                    </a:lnL>
                    <a:lnR w="53975">
                      <a:solidFill>
                        <a:srgbClr val="FFFFFF"/>
                      </a:solidFill>
                      <a:prstDash val="solid"/>
                    </a:lnR>
                    <a:lnT w="28575">
                      <a:solidFill>
                        <a:srgbClr val="C0504D"/>
                      </a:solidFill>
                      <a:prstDash val="solid"/>
                    </a:lnT>
                  </a:tcPr>
                </a:tc>
                <a:tc>
                  <a:txBody>
                    <a:bodyPr/>
                    <a:lstStyle/>
                    <a:p>
                      <a:pPr marL="230504">
                        <a:lnSpc>
                          <a:spcPts val="1225"/>
                        </a:lnSpc>
                      </a:pPr>
                      <a:r>
                        <a:rPr sz="1400" b="1" spc="-10" dirty="0">
                          <a:solidFill>
                            <a:srgbClr val="FFFFFF"/>
                          </a:solidFill>
                          <a:latin typeface="Goudy Old Style"/>
                          <a:cs typeface="Goudy Old Style"/>
                        </a:rPr>
                        <a:t>model.</a:t>
                      </a:r>
                      <a:endParaRPr sz="1400">
                        <a:latin typeface="Goudy Old Style"/>
                        <a:cs typeface="Goudy Old Style"/>
                      </a:endParaRPr>
                    </a:p>
                  </a:txBody>
                  <a:tcPr marL="0" marR="0" marT="0" marB="0">
                    <a:lnL w="53975">
                      <a:solidFill>
                        <a:srgbClr val="FFFFFF"/>
                      </a:solidFill>
                      <a:prstDash val="solid"/>
                    </a:lnL>
                    <a:lnR w="53975">
                      <a:solidFill>
                        <a:srgbClr val="FFFFFF"/>
                      </a:solidFill>
                      <a:prstDash val="solid"/>
                    </a:lnR>
                    <a:lnT w="28575">
                      <a:solidFill>
                        <a:srgbClr val="C0504D"/>
                      </a:solidFill>
                      <a:prstDash val="solid"/>
                    </a:lnT>
                  </a:tcPr>
                </a:tc>
                <a:tc>
                  <a:txBody>
                    <a:bodyPr/>
                    <a:lstStyle/>
                    <a:p>
                      <a:pPr>
                        <a:lnSpc>
                          <a:spcPct val="100000"/>
                        </a:lnSpc>
                      </a:pPr>
                      <a:endParaRPr sz="900">
                        <a:latin typeface="Times New Roman"/>
                        <a:cs typeface="Times New Roman"/>
                      </a:endParaRPr>
                    </a:p>
                  </a:txBody>
                  <a:tcPr marL="0" marR="0" marT="0" marB="0">
                    <a:lnL w="53975">
                      <a:solidFill>
                        <a:srgbClr val="FFFFFF"/>
                      </a:solidFill>
                      <a:prstDash val="solid"/>
                    </a:lnL>
                    <a:lnR w="28575">
                      <a:solidFill>
                        <a:srgbClr val="C0504D"/>
                      </a:solidFill>
                      <a:prstDash val="solid"/>
                    </a:lnR>
                    <a:lnT w="28575">
                      <a:solidFill>
                        <a:srgbClr val="C0504D"/>
                      </a:solidFill>
                      <a:prstDash val="solid"/>
                    </a:lnT>
                  </a:tcPr>
                </a:tc>
                <a:extLst>
                  <a:ext uri="{0D108BD9-81ED-4DB2-BD59-A6C34878D82A}">
                    <a16:rowId xmlns:a16="http://schemas.microsoft.com/office/drawing/2014/main" val="10001"/>
                  </a:ext>
                </a:extLst>
              </a:tr>
              <a:tr h="159508">
                <a:tc gridSpan="3">
                  <a:txBody>
                    <a:bodyPr/>
                    <a:lstStyle/>
                    <a:p>
                      <a:pPr>
                        <a:lnSpc>
                          <a:spcPct val="100000"/>
                        </a:lnSpc>
                      </a:pPr>
                      <a:endParaRPr sz="900">
                        <a:latin typeface="Times New Roman"/>
                        <a:cs typeface="Times New Roman"/>
                      </a:endParaRPr>
                    </a:p>
                  </a:txBody>
                  <a:tcPr marL="0" marR="0" marT="0" marB="0">
                    <a:lnL w="28575">
                      <a:solidFill>
                        <a:srgbClr val="C0504D"/>
                      </a:solidFill>
                      <a:prstDash val="solid"/>
                    </a:lnL>
                    <a:lnR w="28575">
                      <a:solidFill>
                        <a:srgbClr val="C0504D"/>
                      </a:solidFill>
                      <a:prstDash val="solid"/>
                    </a:lnR>
                    <a:lnB w="28575">
                      <a:solidFill>
                        <a:srgbClr val="C0504D"/>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grpSp>
        <p:nvGrpSpPr>
          <p:cNvPr id="6" name="object 6"/>
          <p:cNvGrpSpPr/>
          <p:nvPr/>
        </p:nvGrpSpPr>
        <p:grpSpPr>
          <a:xfrm>
            <a:off x="445008" y="2090166"/>
            <a:ext cx="8026400" cy="544830"/>
            <a:chOff x="445008" y="2090166"/>
            <a:chExt cx="8026400" cy="544830"/>
          </a:xfrm>
        </p:grpSpPr>
        <p:sp>
          <p:nvSpPr>
            <p:cNvPr id="7" name="object 7"/>
            <p:cNvSpPr/>
            <p:nvPr/>
          </p:nvSpPr>
          <p:spPr>
            <a:xfrm>
              <a:off x="457581" y="2294763"/>
              <a:ext cx="8001000" cy="327660"/>
            </a:xfrm>
            <a:custGeom>
              <a:avLst/>
              <a:gdLst/>
              <a:ahLst/>
              <a:cxnLst/>
              <a:rect l="l" t="t" r="r" b="b"/>
              <a:pathLst>
                <a:path w="8001000" h="327660">
                  <a:moveTo>
                    <a:pt x="0" y="327660"/>
                  </a:moveTo>
                  <a:lnTo>
                    <a:pt x="8001000" y="327660"/>
                  </a:lnTo>
                  <a:lnTo>
                    <a:pt x="8001000" y="0"/>
                  </a:lnTo>
                  <a:lnTo>
                    <a:pt x="0" y="0"/>
                  </a:lnTo>
                  <a:lnTo>
                    <a:pt x="0" y="327660"/>
                  </a:lnTo>
                  <a:close/>
                </a:path>
              </a:pathLst>
            </a:custGeom>
            <a:ln w="25146">
              <a:solidFill>
                <a:srgbClr val="9BBA58"/>
              </a:solidFill>
            </a:ln>
          </p:spPr>
          <p:txBody>
            <a:bodyPr wrap="square" lIns="0" tIns="0" rIns="0" bIns="0" rtlCol="0"/>
            <a:lstStyle/>
            <a:p>
              <a:endParaRPr/>
            </a:p>
          </p:txBody>
        </p:sp>
        <p:sp>
          <p:nvSpPr>
            <p:cNvPr id="8" name="object 8"/>
            <p:cNvSpPr/>
            <p:nvPr/>
          </p:nvSpPr>
          <p:spPr>
            <a:xfrm>
              <a:off x="857631" y="2102739"/>
              <a:ext cx="5600700" cy="384175"/>
            </a:xfrm>
            <a:custGeom>
              <a:avLst/>
              <a:gdLst/>
              <a:ahLst/>
              <a:cxnLst/>
              <a:rect l="l" t="t" r="r" b="b"/>
              <a:pathLst>
                <a:path w="5600700" h="384175">
                  <a:moveTo>
                    <a:pt x="5536692" y="0"/>
                  </a:moveTo>
                  <a:lnTo>
                    <a:pt x="64008" y="0"/>
                  </a:lnTo>
                  <a:lnTo>
                    <a:pt x="39090" y="5036"/>
                  </a:lnTo>
                  <a:lnTo>
                    <a:pt x="18745" y="18764"/>
                  </a:lnTo>
                  <a:lnTo>
                    <a:pt x="5029" y="39112"/>
                  </a:lnTo>
                  <a:lnTo>
                    <a:pt x="0" y="64008"/>
                  </a:lnTo>
                  <a:lnTo>
                    <a:pt x="0" y="320040"/>
                  </a:lnTo>
                  <a:lnTo>
                    <a:pt x="5029" y="344935"/>
                  </a:lnTo>
                  <a:lnTo>
                    <a:pt x="18745" y="365283"/>
                  </a:lnTo>
                  <a:lnTo>
                    <a:pt x="39090" y="379011"/>
                  </a:lnTo>
                  <a:lnTo>
                    <a:pt x="64008" y="384048"/>
                  </a:lnTo>
                  <a:lnTo>
                    <a:pt x="5536692" y="384048"/>
                  </a:lnTo>
                  <a:lnTo>
                    <a:pt x="5561587" y="379011"/>
                  </a:lnTo>
                  <a:lnTo>
                    <a:pt x="5581935" y="365283"/>
                  </a:lnTo>
                  <a:lnTo>
                    <a:pt x="5595663" y="344935"/>
                  </a:lnTo>
                  <a:lnTo>
                    <a:pt x="5600700" y="320040"/>
                  </a:lnTo>
                  <a:lnTo>
                    <a:pt x="5600700" y="64008"/>
                  </a:lnTo>
                  <a:lnTo>
                    <a:pt x="5595663" y="39112"/>
                  </a:lnTo>
                  <a:lnTo>
                    <a:pt x="5581935" y="18764"/>
                  </a:lnTo>
                  <a:lnTo>
                    <a:pt x="5561587" y="5036"/>
                  </a:lnTo>
                  <a:lnTo>
                    <a:pt x="5536692" y="0"/>
                  </a:lnTo>
                  <a:close/>
                </a:path>
              </a:pathLst>
            </a:custGeom>
            <a:solidFill>
              <a:srgbClr val="9BBA58"/>
            </a:solidFill>
          </p:spPr>
          <p:txBody>
            <a:bodyPr wrap="square" lIns="0" tIns="0" rIns="0" bIns="0" rtlCol="0"/>
            <a:lstStyle/>
            <a:p>
              <a:endParaRPr/>
            </a:p>
          </p:txBody>
        </p:sp>
        <p:sp>
          <p:nvSpPr>
            <p:cNvPr id="9" name="object 9"/>
            <p:cNvSpPr/>
            <p:nvPr/>
          </p:nvSpPr>
          <p:spPr>
            <a:xfrm>
              <a:off x="857631" y="2102739"/>
              <a:ext cx="5600700" cy="384175"/>
            </a:xfrm>
            <a:custGeom>
              <a:avLst/>
              <a:gdLst/>
              <a:ahLst/>
              <a:cxnLst/>
              <a:rect l="l" t="t" r="r" b="b"/>
              <a:pathLst>
                <a:path w="5600700" h="384175">
                  <a:moveTo>
                    <a:pt x="0" y="64008"/>
                  </a:moveTo>
                  <a:lnTo>
                    <a:pt x="5029" y="39112"/>
                  </a:lnTo>
                  <a:lnTo>
                    <a:pt x="18745" y="18764"/>
                  </a:lnTo>
                  <a:lnTo>
                    <a:pt x="39090" y="5036"/>
                  </a:lnTo>
                  <a:lnTo>
                    <a:pt x="64008" y="0"/>
                  </a:lnTo>
                  <a:lnTo>
                    <a:pt x="5536692" y="0"/>
                  </a:lnTo>
                  <a:lnTo>
                    <a:pt x="5561587" y="5036"/>
                  </a:lnTo>
                  <a:lnTo>
                    <a:pt x="5581935" y="18764"/>
                  </a:lnTo>
                  <a:lnTo>
                    <a:pt x="5595663" y="39112"/>
                  </a:lnTo>
                  <a:lnTo>
                    <a:pt x="5600700" y="64008"/>
                  </a:lnTo>
                  <a:lnTo>
                    <a:pt x="5600700" y="320040"/>
                  </a:lnTo>
                  <a:lnTo>
                    <a:pt x="5595663" y="344935"/>
                  </a:lnTo>
                  <a:lnTo>
                    <a:pt x="5581935" y="365283"/>
                  </a:lnTo>
                  <a:lnTo>
                    <a:pt x="5561587" y="379011"/>
                  </a:lnTo>
                  <a:lnTo>
                    <a:pt x="5536692" y="384048"/>
                  </a:lnTo>
                  <a:lnTo>
                    <a:pt x="64008" y="384048"/>
                  </a:lnTo>
                  <a:lnTo>
                    <a:pt x="39090" y="379011"/>
                  </a:lnTo>
                  <a:lnTo>
                    <a:pt x="18745" y="365283"/>
                  </a:lnTo>
                  <a:lnTo>
                    <a:pt x="5029" y="344935"/>
                  </a:lnTo>
                  <a:lnTo>
                    <a:pt x="0" y="320040"/>
                  </a:lnTo>
                  <a:lnTo>
                    <a:pt x="0" y="64008"/>
                  </a:lnTo>
                  <a:close/>
                </a:path>
              </a:pathLst>
            </a:custGeom>
            <a:ln w="25146">
              <a:solidFill>
                <a:srgbClr val="FFFFFF"/>
              </a:solidFill>
            </a:ln>
          </p:spPr>
          <p:txBody>
            <a:bodyPr wrap="square" lIns="0" tIns="0" rIns="0" bIns="0" rtlCol="0"/>
            <a:lstStyle/>
            <a:p>
              <a:endParaRPr/>
            </a:p>
          </p:txBody>
        </p:sp>
      </p:grpSp>
      <p:grpSp>
        <p:nvGrpSpPr>
          <p:cNvPr id="10" name="object 10"/>
          <p:cNvGrpSpPr/>
          <p:nvPr/>
        </p:nvGrpSpPr>
        <p:grpSpPr>
          <a:xfrm>
            <a:off x="445008" y="2679954"/>
            <a:ext cx="8026400" cy="544830"/>
            <a:chOff x="445008" y="2679954"/>
            <a:chExt cx="8026400" cy="544830"/>
          </a:xfrm>
        </p:grpSpPr>
        <p:sp>
          <p:nvSpPr>
            <p:cNvPr id="11" name="object 11"/>
            <p:cNvSpPr/>
            <p:nvPr/>
          </p:nvSpPr>
          <p:spPr>
            <a:xfrm>
              <a:off x="457581" y="2884551"/>
              <a:ext cx="8001000" cy="327660"/>
            </a:xfrm>
            <a:custGeom>
              <a:avLst/>
              <a:gdLst/>
              <a:ahLst/>
              <a:cxnLst/>
              <a:rect l="l" t="t" r="r" b="b"/>
              <a:pathLst>
                <a:path w="8001000" h="327660">
                  <a:moveTo>
                    <a:pt x="0" y="327660"/>
                  </a:moveTo>
                  <a:lnTo>
                    <a:pt x="8001000" y="327660"/>
                  </a:lnTo>
                  <a:lnTo>
                    <a:pt x="8001000" y="0"/>
                  </a:lnTo>
                  <a:lnTo>
                    <a:pt x="0" y="0"/>
                  </a:lnTo>
                  <a:lnTo>
                    <a:pt x="0" y="327660"/>
                  </a:lnTo>
                  <a:close/>
                </a:path>
              </a:pathLst>
            </a:custGeom>
            <a:ln w="25146">
              <a:solidFill>
                <a:srgbClr val="8063A1"/>
              </a:solidFill>
            </a:ln>
          </p:spPr>
          <p:txBody>
            <a:bodyPr wrap="square" lIns="0" tIns="0" rIns="0" bIns="0" rtlCol="0"/>
            <a:lstStyle/>
            <a:p>
              <a:endParaRPr/>
            </a:p>
          </p:txBody>
        </p:sp>
        <p:sp>
          <p:nvSpPr>
            <p:cNvPr id="12" name="object 12"/>
            <p:cNvSpPr/>
            <p:nvPr/>
          </p:nvSpPr>
          <p:spPr>
            <a:xfrm>
              <a:off x="857631" y="2692527"/>
              <a:ext cx="5600700" cy="384175"/>
            </a:xfrm>
            <a:custGeom>
              <a:avLst/>
              <a:gdLst/>
              <a:ahLst/>
              <a:cxnLst/>
              <a:rect l="l" t="t" r="r" b="b"/>
              <a:pathLst>
                <a:path w="5600700" h="384175">
                  <a:moveTo>
                    <a:pt x="5536692" y="0"/>
                  </a:moveTo>
                  <a:lnTo>
                    <a:pt x="64008" y="0"/>
                  </a:lnTo>
                  <a:lnTo>
                    <a:pt x="39090" y="5036"/>
                  </a:lnTo>
                  <a:lnTo>
                    <a:pt x="18745" y="18764"/>
                  </a:lnTo>
                  <a:lnTo>
                    <a:pt x="5029" y="39112"/>
                  </a:lnTo>
                  <a:lnTo>
                    <a:pt x="0" y="64008"/>
                  </a:lnTo>
                  <a:lnTo>
                    <a:pt x="0" y="320040"/>
                  </a:lnTo>
                  <a:lnTo>
                    <a:pt x="5029" y="344935"/>
                  </a:lnTo>
                  <a:lnTo>
                    <a:pt x="18745" y="365283"/>
                  </a:lnTo>
                  <a:lnTo>
                    <a:pt x="39090" y="379011"/>
                  </a:lnTo>
                  <a:lnTo>
                    <a:pt x="64008" y="384048"/>
                  </a:lnTo>
                  <a:lnTo>
                    <a:pt x="5536692" y="384048"/>
                  </a:lnTo>
                  <a:lnTo>
                    <a:pt x="5561587" y="379011"/>
                  </a:lnTo>
                  <a:lnTo>
                    <a:pt x="5581935" y="365283"/>
                  </a:lnTo>
                  <a:lnTo>
                    <a:pt x="5595663" y="344935"/>
                  </a:lnTo>
                  <a:lnTo>
                    <a:pt x="5600700" y="320040"/>
                  </a:lnTo>
                  <a:lnTo>
                    <a:pt x="5600700" y="64008"/>
                  </a:lnTo>
                  <a:lnTo>
                    <a:pt x="5595663" y="39112"/>
                  </a:lnTo>
                  <a:lnTo>
                    <a:pt x="5581935" y="18764"/>
                  </a:lnTo>
                  <a:lnTo>
                    <a:pt x="5561587" y="5036"/>
                  </a:lnTo>
                  <a:lnTo>
                    <a:pt x="5536692" y="0"/>
                  </a:lnTo>
                  <a:close/>
                </a:path>
              </a:pathLst>
            </a:custGeom>
            <a:solidFill>
              <a:srgbClr val="8063A1"/>
            </a:solidFill>
          </p:spPr>
          <p:txBody>
            <a:bodyPr wrap="square" lIns="0" tIns="0" rIns="0" bIns="0" rtlCol="0"/>
            <a:lstStyle/>
            <a:p>
              <a:endParaRPr/>
            </a:p>
          </p:txBody>
        </p:sp>
        <p:sp>
          <p:nvSpPr>
            <p:cNvPr id="13" name="object 13"/>
            <p:cNvSpPr/>
            <p:nvPr/>
          </p:nvSpPr>
          <p:spPr>
            <a:xfrm>
              <a:off x="857631" y="2692527"/>
              <a:ext cx="5600700" cy="384175"/>
            </a:xfrm>
            <a:custGeom>
              <a:avLst/>
              <a:gdLst/>
              <a:ahLst/>
              <a:cxnLst/>
              <a:rect l="l" t="t" r="r" b="b"/>
              <a:pathLst>
                <a:path w="5600700" h="384175">
                  <a:moveTo>
                    <a:pt x="0" y="64008"/>
                  </a:moveTo>
                  <a:lnTo>
                    <a:pt x="5029" y="39112"/>
                  </a:lnTo>
                  <a:lnTo>
                    <a:pt x="18745" y="18764"/>
                  </a:lnTo>
                  <a:lnTo>
                    <a:pt x="39090" y="5036"/>
                  </a:lnTo>
                  <a:lnTo>
                    <a:pt x="64008" y="0"/>
                  </a:lnTo>
                  <a:lnTo>
                    <a:pt x="5536692" y="0"/>
                  </a:lnTo>
                  <a:lnTo>
                    <a:pt x="5561587" y="5036"/>
                  </a:lnTo>
                  <a:lnTo>
                    <a:pt x="5581935" y="18764"/>
                  </a:lnTo>
                  <a:lnTo>
                    <a:pt x="5595663" y="39112"/>
                  </a:lnTo>
                  <a:lnTo>
                    <a:pt x="5600700" y="64008"/>
                  </a:lnTo>
                  <a:lnTo>
                    <a:pt x="5600700" y="320040"/>
                  </a:lnTo>
                  <a:lnTo>
                    <a:pt x="5595663" y="344935"/>
                  </a:lnTo>
                  <a:lnTo>
                    <a:pt x="5581935" y="365283"/>
                  </a:lnTo>
                  <a:lnTo>
                    <a:pt x="5561587" y="379011"/>
                  </a:lnTo>
                  <a:lnTo>
                    <a:pt x="5536692" y="384048"/>
                  </a:lnTo>
                  <a:lnTo>
                    <a:pt x="64008" y="384048"/>
                  </a:lnTo>
                  <a:lnTo>
                    <a:pt x="39090" y="379011"/>
                  </a:lnTo>
                  <a:lnTo>
                    <a:pt x="18745" y="365283"/>
                  </a:lnTo>
                  <a:lnTo>
                    <a:pt x="5029" y="344935"/>
                  </a:lnTo>
                  <a:lnTo>
                    <a:pt x="0" y="320040"/>
                  </a:lnTo>
                  <a:lnTo>
                    <a:pt x="0" y="64008"/>
                  </a:lnTo>
                  <a:close/>
                </a:path>
              </a:pathLst>
            </a:custGeom>
            <a:ln w="25146">
              <a:solidFill>
                <a:srgbClr val="FFFFFF"/>
              </a:solidFill>
            </a:ln>
          </p:spPr>
          <p:txBody>
            <a:bodyPr wrap="square" lIns="0" tIns="0" rIns="0" bIns="0" rtlCol="0"/>
            <a:lstStyle/>
            <a:p>
              <a:endParaRPr/>
            </a:p>
          </p:txBody>
        </p:sp>
      </p:grpSp>
      <p:sp>
        <p:nvSpPr>
          <p:cNvPr id="14" name="object 14"/>
          <p:cNvSpPr txBox="1"/>
          <p:nvPr/>
        </p:nvSpPr>
        <p:spPr>
          <a:xfrm>
            <a:off x="1075182" y="2158492"/>
            <a:ext cx="3633470" cy="828040"/>
          </a:xfrm>
          <a:prstGeom prst="rect">
            <a:avLst/>
          </a:prstGeom>
        </p:spPr>
        <p:txBody>
          <a:bodyPr vert="horz" wrap="square" lIns="0" tIns="12065" rIns="0" bIns="0" rtlCol="0">
            <a:spAutoFit/>
          </a:bodyPr>
          <a:lstStyle/>
          <a:p>
            <a:pPr marL="12700">
              <a:lnSpc>
                <a:spcPct val="100000"/>
              </a:lnSpc>
              <a:spcBef>
                <a:spcPts val="95"/>
              </a:spcBef>
            </a:pPr>
            <a:r>
              <a:rPr sz="1400" b="1" spc="-5" dirty="0">
                <a:solidFill>
                  <a:srgbClr val="FFFFFF"/>
                </a:solidFill>
                <a:latin typeface="Goudy Old Style"/>
                <a:cs typeface="Goudy Old Style"/>
              </a:rPr>
              <a:t>This model </a:t>
            </a:r>
            <a:r>
              <a:rPr sz="1400" b="1" spc="-10" dirty="0">
                <a:solidFill>
                  <a:srgbClr val="FFFFFF"/>
                </a:solidFill>
                <a:latin typeface="Goudy Old Style"/>
                <a:cs typeface="Goudy Old Style"/>
              </a:rPr>
              <a:t>enforces </a:t>
            </a:r>
            <a:r>
              <a:rPr sz="1400" b="1" spc="-5" dirty="0">
                <a:solidFill>
                  <a:srgbClr val="FFFFFF"/>
                </a:solidFill>
                <a:latin typeface="Goudy Old Style"/>
                <a:cs typeface="Goudy Old Style"/>
              </a:rPr>
              <a:t>database</a:t>
            </a:r>
            <a:r>
              <a:rPr sz="1400" b="1" spc="20" dirty="0">
                <a:solidFill>
                  <a:srgbClr val="FFFFFF"/>
                </a:solidFill>
                <a:latin typeface="Goudy Old Style"/>
                <a:cs typeface="Goudy Old Style"/>
              </a:rPr>
              <a:t> </a:t>
            </a:r>
            <a:r>
              <a:rPr sz="1400" b="1" spc="-10" dirty="0">
                <a:solidFill>
                  <a:srgbClr val="FFFFFF"/>
                </a:solidFill>
                <a:latin typeface="Goudy Old Style"/>
                <a:cs typeface="Goudy Old Style"/>
              </a:rPr>
              <a:t>integrity.</a:t>
            </a:r>
            <a:endParaRPr sz="1400">
              <a:latin typeface="Goudy Old Style"/>
              <a:cs typeface="Goudy Old Style"/>
            </a:endParaRPr>
          </a:p>
          <a:p>
            <a:pPr>
              <a:lnSpc>
                <a:spcPct val="100000"/>
              </a:lnSpc>
            </a:pPr>
            <a:endParaRPr sz="1600">
              <a:latin typeface="Goudy Old Style"/>
              <a:cs typeface="Goudy Old Style"/>
            </a:endParaRPr>
          </a:p>
          <a:p>
            <a:pPr marL="12700">
              <a:lnSpc>
                <a:spcPct val="100000"/>
              </a:lnSpc>
              <a:spcBef>
                <a:spcPts val="1045"/>
              </a:spcBef>
            </a:pPr>
            <a:r>
              <a:rPr sz="1400" b="1" spc="-5" dirty="0">
                <a:solidFill>
                  <a:srgbClr val="FFFFFF"/>
                </a:solidFill>
                <a:latin typeface="Goudy Old Style"/>
                <a:cs typeface="Goudy Old Style"/>
              </a:rPr>
              <a:t>This model </a:t>
            </a:r>
            <a:r>
              <a:rPr sz="1400" b="1" spc="-15" dirty="0">
                <a:solidFill>
                  <a:srgbClr val="FFFFFF"/>
                </a:solidFill>
                <a:latin typeface="Goudy Old Style"/>
                <a:cs typeface="Goudy Old Style"/>
              </a:rPr>
              <a:t>achieves </a:t>
            </a:r>
            <a:r>
              <a:rPr sz="1400" b="1" spc="-5" dirty="0">
                <a:solidFill>
                  <a:srgbClr val="FFFFFF"/>
                </a:solidFill>
                <a:latin typeface="Goudy Old Style"/>
                <a:cs typeface="Goudy Old Style"/>
              </a:rPr>
              <a:t>sufficient </a:t>
            </a:r>
            <a:r>
              <a:rPr sz="1400" b="1" dirty="0">
                <a:solidFill>
                  <a:srgbClr val="FFFFFF"/>
                </a:solidFill>
                <a:latin typeface="Goudy Old Style"/>
                <a:cs typeface="Goudy Old Style"/>
              </a:rPr>
              <a:t>data</a:t>
            </a:r>
            <a:r>
              <a:rPr sz="1400" b="1" spc="30" dirty="0">
                <a:solidFill>
                  <a:srgbClr val="FFFFFF"/>
                </a:solidFill>
                <a:latin typeface="Goudy Old Style"/>
                <a:cs typeface="Goudy Old Style"/>
              </a:rPr>
              <a:t> </a:t>
            </a:r>
            <a:r>
              <a:rPr sz="1400" b="1" spc="-5" dirty="0">
                <a:solidFill>
                  <a:srgbClr val="FFFFFF"/>
                </a:solidFill>
                <a:latin typeface="Goudy Old Style"/>
                <a:cs typeface="Goudy Old Style"/>
              </a:rPr>
              <a:t>independence.</a:t>
            </a:r>
            <a:endParaRPr sz="1400">
              <a:latin typeface="Goudy Old Style"/>
              <a:cs typeface="Goudy Old Style"/>
            </a:endParaRPr>
          </a:p>
        </p:txBody>
      </p:sp>
      <p:sp>
        <p:nvSpPr>
          <p:cNvPr id="15" name="object 15"/>
          <p:cNvSpPr txBox="1"/>
          <p:nvPr/>
        </p:nvSpPr>
        <p:spPr>
          <a:xfrm>
            <a:off x="459740" y="3446272"/>
            <a:ext cx="2397125" cy="361315"/>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4330" algn="l"/>
              </a:tabLst>
            </a:pPr>
            <a:r>
              <a:rPr sz="2200" spc="-5" dirty="0">
                <a:latin typeface="Goudy Old Style"/>
                <a:cs typeface="Goudy Old Style"/>
              </a:rPr>
              <a:t>Disadvantages</a:t>
            </a:r>
            <a:r>
              <a:rPr sz="2200" spc="-25" dirty="0">
                <a:latin typeface="Goudy Old Style"/>
                <a:cs typeface="Goudy Old Style"/>
              </a:rPr>
              <a:t> </a:t>
            </a:r>
            <a:r>
              <a:rPr sz="2200" spc="-15" dirty="0">
                <a:latin typeface="Goudy Old Style"/>
                <a:cs typeface="Goudy Old Style"/>
              </a:rPr>
              <a:t>are:</a:t>
            </a:r>
            <a:endParaRPr sz="2200">
              <a:latin typeface="Goudy Old Style"/>
              <a:cs typeface="Goudy Old Style"/>
            </a:endParaRPr>
          </a:p>
        </p:txBody>
      </p:sp>
      <p:grpSp>
        <p:nvGrpSpPr>
          <p:cNvPr id="16" name="object 16"/>
          <p:cNvGrpSpPr/>
          <p:nvPr/>
        </p:nvGrpSpPr>
        <p:grpSpPr>
          <a:xfrm>
            <a:off x="445008" y="4030217"/>
            <a:ext cx="8026400" cy="529590"/>
            <a:chOff x="445008" y="4030217"/>
            <a:chExt cx="8026400" cy="529590"/>
          </a:xfrm>
        </p:grpSpPr>
        <p:sp>
          <p:nvSpPr>
            <p:cNvPr id="17" name="object 17"/>
            <p:cNvSpPr/>
            <p:nvPr/>
          </p:nvSpPr>
          <p:spPr>
            <a:xfrm>
              <a:off x="457581" y="4219574"/>
              <a:ext cx="8001000" cy="327660"/>
            </a:xfrm>
            <a:custGeom>
              <a:avLst/>
              <a:gdLst/>
              <a:ahLst/>
              <a:cxnLst/>
              <a:rect l="l" t="t" r="r" b="b"/>
              <a:pathLst>
                <a:path w="8001000" h="327660">
                  <a:moveTo>
                    <a:pt x="0" y="327660"/>
                  </a:moveTo>
                  <a:lnTo>
                    <a:pt x="8001000" y="327660"/>
                  </a:lnTo>
                  <a:lnTo>
                    <a:pt x="8001000" y="0"/>
                  </a:lnTo>
                  <a:lnTo>
                    <a:pt x="0" y="0"/>
                  </a:lnTo>
                  <a:lnTo>
                    <a:pt x="0" y="327660"/>
                  </a:lnTo>
                  <a:close/>
                </a:path>
              </a:pathLst>
            </a:custGeom>
            <a:ln w="25146">
              <a:solidFill>
                <a:srgbClr val="C0504D"/>
              </a:solidFill>
            </a:ln>
          </p:spPr>
          <p:txBody>
            <a:bodyPr wrap="square" lIns="0" tIns="0" rIns="0" bIns="0" rtlCol="0"/>
            <a:lstStyle/>
            <a:p>
              <a:endParaRPr/>
            </a:p>
          </p:txBody>
        </p:sp>
        <p:sp>
          <p:nvSpPr>
            <p:cNvPr id="18" name="object 18"/>
            <p:cNvSpPr/>
            <p:nvPr/>
          </p:nvSpPr>
          <p:spPr>
            <a:xfrm>
              <a:off x="875919" y="4042790"/>
              <a:ext cx="7191375" cy="384175"/>
            </a:xfrm>
            <a:custGeom>
              <a:avLst/>
              <a:gdLst/>
              <a:ahLst/>
              <a:cxnLst/>
              <a:rect l="l" t="t" r="r" b="b"/>
              <a:pathLst>
                <a:path w="7191375" h="384175">
                  <a:moveTo>
                    <a:pt x="7126985" y="0"/>
                  </a:moveTo>
                  <a:lnTo>
                    <a:pt x="64008" y="0"/>
                  </a:lnTo>
                  <a:lnTo>
                    <a:pt x="39090" y="5036"/>
                  </a:lnTo>
                  <a:lnTo>
                    <a:pt x="18745" y="18764"/>
                  </a:lnTo>
                  <a:lnTo>
                    <a:pt x="5029" y="39112"/>
                  </a:lnTo>
                  <a:lnTo>
                    <a:pt x="0" y="64007"/>
                  </a:lnTo>
                  <a:lnTo>
                    <a:pt x="0" y="320039"/>
                  </a:lnTo>
                  <a:lnTo>
                    <a:pt x="5029" y="344935"/>
                  </a:lnTo>
                  <a:lnTo>
                    <a:pt x="18745" y="365283"/>
                  </a:lnTo>
                  <a:lnTo>
                    <a:pt x="39090" y="379011"/>
                  </a:lnTo>
                  <a:lnTo>
                    <a:pt x="64008" y="384047"/>
                  </a:lnTo>
                  <a:lnTo>
                    <a:pt x="7126985" y="384047"/>
                  </a:lnTo>
                  <a:lnTo>
                    <a:pt x="7151881" y="379011"/>
                  </a:lnTo>
                  <a:lnTo>
                    <a:pt x="7172229" y="365283"/>
                  </a:lnTo>
                  <a:lnTo>
                    <a:pt x="7185957" y="344935"/>
                  </a:lnTo>
                  <a:lnTo>
                    <a:pt x="7190994" y="320039"/>
                  </a:lnTo>
                  <a:lnTo>
                    <a:pt x="7190994" y="64007"/>
                  </a:lnTo>
                  <a:lnTo>
                    <a:pt x="7185957" y="39112"/>
                  </a:lnTo>
                  <a:lnTo>
                    <a:pt x="7172229" y="18764"/>
                  </a:lnTo>
                  <a:lnTo>
                    <a:pt x="7151881" y="5036"/>
                  </a:lnTo>
                  <a:lnTo>
                    <a:pt x="7126985" y="0"/>
                  </a:lnTo>
                  <a:close/>
                </a:path>
              </a:pathLst>
            </a:custGeom>
            <a:solidFill>
              <a:srgbClr val="C0504D"/>
            </a:solidFill>
          </p:spPr>
          <p:txBody>
            <a:bodyPr wrap="square" lIns="0" tIns="0" rIns="0" bIns="0" rtlCol="0"/>
            <a:lstStyle/>
            <a:p>
              <a:endParaRPr/>
            </a:p>
          </p:txBody>
        </p:sp>
        <p:sp>
          <p:nvSpPr>
            <p:cNvPr id="19" name="object 19"/>
            <p:cNvSpPr/>
            <p:nvPr/>
          </p:nvSpPr>
          <p:spPr>
            <a:xfrm>
              <a:off x="875919" y="4042790"/>
              <a:ext cx="7191375" cy="384175"/>
            </a:xfrm>
            <a:custGeom>
              <a:avLst/>
              <a:gdLst/>
              <a:ahLst/>
              <a:cxnLst/>
              <a:rect l="l" t="t" r="r" b="b"/>
              <a:pathLst>
                <a:path w="7191375" h="384175">
                  <a:moveTo>
                    <a:pt x="0" y="64007"/>
                  </a:moveTo>
                  <a:lnTo>
                    <a:pt x="5029" y="39112"/>
                  </a:lnTo>
                  <a:lnTo>
                    <a:pt x="18745" y="18764"/>
                  </a:lnTo>
                  <a:lnTo>
                    <a:pt x="39090" y="5036"/>
                  </a:lnTo>
                  <a:lnTo>
                    <a:pt x="64008" y="0"/>
                  </a:lnTo>
                  <a:lnTo>
                    <a:pt x="7126985" y="0"/>
                  </a:lnTo>
                  <a:lnTo>
                    <a:pt x="7151881" y="5036"/>
                  </a:lnTo>
                  <a:lnTo>
                    <a:pt x="7172229" y="18764"/>
                  </a:lnTo>
                  <a:lnTo>
                    <a:pt x="7185957" y="39112"/>
                  </a:lnTo>
                  <a:lnTo>
                    <a:pt x="7190994" y="64007"/>
                  </a:lnTo>
                  <a:lnTo>
                    <a:pt x="7190994" y="320039"/>
                  </a:lnTo>
                  <a:lnTo>
                    <a:pt x="7185957" y="344935"/>
                  </a:lnTo>
                  <a:lnTo>
                    <a:pt x="7172229" y="365283"/>
                  </a:lnTo>
                  <a:lnTo>
                    <a:pt x="7151881" y="379011"/>
                  </a:lnTo>
                  <a:lnTo>
                    <a:pt x="7126985" y="384047"/>
                  </a:lnTo>
                  <a:lnTo>
                    <a:pt x="64008" y="384047"/>
                  </a:lnTo>
                  <a:lnTo>
                    <a:pt x="39090" y="379011"/>
                  </a:lnTo>
                  <a:lnTo>
                    <a:pt x="18745" y="365283"/>
                  </a:lnTo>
                  <a:lnTo>
                    <a:pt x="5029" y="344935"/>
                  </a:lnTo>
                  <a:lnTo>
                    <a:pt x="0" y="320039"/>
                  </a:lnTo>
                  <a:lnTo>
                    <a:pt x="0" y="64007"/>
                  </a:lnTo>
                  <a:close/>
                </a:path>
              </a:pathLst>
            </a:custGeom>
            <a:ln w="25146">
              <a:solidFill>
                <a:srgbClr val="FFFFFF"/>
              </a:solidFill>
            </a:ln>
          </p:spPr>
          <p:txBody>
            <a:bodyPr wrap="square" lIns="0" tIns="0" rIns="0" bIns="0" rtlCol="0"/>
            <a:lstStyle/>
            <a:p>
              <a:endParaRPr/>
            </a:p>
          </p:txBody>
        </p:sp>
      </p:grpSp>
      <p:grpSp>
        <p:nvGrpSpPr>
          <p:cNvPr id="20" name="object 20"/>
          <p:cNvGrpSpPr/>
          <p:nvPr/>
        </p:nvGrpSpPr>
        <p:grpSpPr>
          <a:xfrm>
            <a:off x="445008" y="4604765"/>
            <a:ext cx="8026400" cy="544830"/>
            <a:chOff x="445008" y="4604765"/>
            <a:chExt cx="8026400" cy="544830"/>
          </a:xfrm>
        </p:grpSpPr>
        <p:sp>
          <p:nvSpPr>
            <p:cNvPr id="21" name="object 21"/>
            <p:cNvSpPr/>
            <p:nvPr/>
          </p:nvSpPr>
          <p:spPr>
            <a:xfrm>
              <a:off x="457581" y="4809362"/>
              <a:ext cx="8001000" cy="327660"/>
            </a:xfrm>
            <a:custGeom>
              <a:avLst/>
              <a:gdLst/>
              <a:ahLst/>
              <a:cxnLst/>
              <a:rect l="l" t="t" r="r" b="b"/>
              <a:pathLst>
                <a:path w="8001000" h="327660">
                  <a:moveTo>
                    <a:pt x="0" y="327660"/>
                  </a:moveTo>
                  <a:lnTo>
                    <a:pt x="8001000" y="327660"/>
                  </a:lnTo>
                  <a:lnTo>
                    <a:pt x="8001000" y="0"/>
                  </a:lnTo>
                  <a:lnTo>
                    <a:pt x="0" y="0"/>
                  </a:lnTo>
                  <a:lnTo>
                    <a:pt x="0" y="327660"/>
                  </a:lnTo>
                  <a:close/>
                </a:path>
              </a:pathLst>
            </a:custGeom>
            <a:ln w="25146">
              <a:solidFill>
                <a:srgbClr val="9BBA58"/>
              </a:solidFill>
            </a:ln>
          </p:spPr>
          <p:txBody>
            <a:bodyPr wrap="square" lIns="0" tIns="0" rIns="0" bIns="0" rtlCol="0"/>
            <a:lstStyle/>
            <a:p>
              <a:endParaRPr/>
            </a:p>
          </p:txBody>
        </p:sp>
        <p:sp>
          <p:nvSpPr>
            <p:cNvPr id="22" name="object 22"/>
            <p:cNvSpPr/>
            <p:nvPr/>
          </p:nvSpPr>
          <p:spPr>
            <a:xfrm>
              <a:off x="856869" y="4617338"/>
              <a:ext cx="7156450" cy="384175"/>
            </a:xfrm>
            <a:custGeom>
              <a:avLst/>
              <a:gdLst/>
              <a:ahLst/>
              <a:cxnLst/>
              <a:rect l="l" t="t" r="r" b="b"/>
              <a:pathLst>
                <a:path w="7156450" h="384175">
                  <a:moveTo>
                    <a:pt x="7091933" y="0"/>
                  </a:moveTo>
                  <a:lnTo>
                    <a:pt x="64008" y="0"/>
                  </a:lnTo>
                  <a:lnTo>
                    <a:pt x="39090" y="5036"/>
                  </a:lnTo>
                  <a:lnTo>
                    <a:pt x="18745" y="18764"/>
                  </a:lnTo>
                  <a:lnTo>
                    <a:pt x="5029" y="39112"/>
                  </a:lnTo>
                  <a:lnTo>
                    <a:pt x="0" y="64007"/>
                  </a:lnTo>
                  <a:lnTo>
                    <a:pt x="0" y="320039"/>
                  </a:lnTo>
                  <a:lnTo>
                    <a:pt x="5029" y="344935"/>
                  </a:lnTo>
                  <a:lnTo>
                    <a:pt x="18745" y="365283"/>
                  </a:lnTo>
                  <a:lnTo>
                    <a:pt x="39090" y="379011"/>
                  </a:lnTo>
                  <a:lnTo>
                    <a:pt x="64008" y="384047"/>
                  </a:lnTo>
                  <a:lnTo>
                    <a:pt x="7091933" y="384047"/>
                  </a:lnTo>
                  <a:lnTo>
                    <a:pt x="7116829" y="379011"/>
                  </a:lnTo>
                  <a:lnTo>
                    <a:pt x="7137177" y="365283"/>
                  </a:lnTo>
                  <a:lnTo>
                    <a:pt x="7150905" y="344935"/>
                  </a:lnTo>
                  <a:lnTo>
                    <a:pt x="7155942" y="320039"/>
                  </a:lnTo>
                  <a:lnTo>
                    <a:pt x="7155942" y="64007"/>
                  </a:lnTo>
                  <a:lnTo>
                    <a:pt x="7150905" y="39112"/>
                  </a:lnTo>
                  <a:lnTo>
                    <a:pt x="7137177" y="18764"/>
                  </a:lnTo>
                  <a:lnTo>
                    <a:pt x="7116829" y="5036"/>
                  </a:lnTo>
                  <a:lnTo>
                    <a:pt x="7091933" y="0"/>
                  </a:lnTo>
                  <a:close/>
                </a:path>
              </a:pathLst>
            </a:custGeom>
            <a:solidFill>
              <a:srgbClr val="9BBA58"/>
            </a:solidFill>
          </p:spPr>
          <p:txBody>
            <a:bodyPr wrap="square" lIns="0" tIns="0" rIns="0" bIns="0" rtlCol="0"/>
            <a:lstStyle/>
            <a:p>
              <a:endParaRPr/>
            </a:p>
          </p:txBody>
        </p:sp>
        <p:sp>
          <p:nvSpPr>
            <p:cNvPr id="23" name="object 23"/>
            <p:cNvSpPr/>
            <p:nvPr/>
          </p:nvSpPr>
          <p:spPr>
            <a:xfrm>
              <a:off x="856869" y="4617338"/>
              <a:ext cx="7156450" cy="384175"/>
            </a:xfrm>
            <a:custGeom>
              <a:avLst/>
              <a:gdLst/>
              <a:ahLst/>
              <a:cxnLst/>
              <a:rect l="l" t="t" r="r" b="b"/>
              <a:pathLst>
                <a:path w="7156450" h="384175">
                  <a:moveTo>
                    <a:pt x="0" y="64007"/>
                  </a:moveTo>
                  <a:lnTo>
                    <a:pt x="5029" y="39112"/>
                  </a:lnTo>
                  <a:lnTo>
                    <a:pt x="18745" y="18764"/>
                  </a:lnTo>
                  <a:lnTo>
                    <a:pt x="39090" y="5036"/>
                  </a:lnTo>
                  <a:lnTo>
                    <a:pt x="64008" y="0"/>
                  </a:lnTo>
                  <a:lnTo>
                    <a:pt x="7091933" y="0"/>
                  </a:lnTo>
                  <a:lnTo>
                    <a:pt x="7116829" y="5036"/>
                  </a:lnTo>
                  <a:lnTo>
                    <a:pt x="7137177" y="18764"/>
                  </a:lnTo>
                  <a:lnTo>
                    <a:pt x="7150905" y="39112"/>
                  </a:lnTo>
                  <a:lnTo>
                    <a:pt x="7155942" y="64007"/>
                  </a:lnTo>
                  <a:lnTo>
                    <a:pt x="7155942" y="320039"/>
                  </a:lnTo>
                  <a:lnTo>
                    <a:pt x="7150905" y="344935"/>
                  </a:lnTo>
                  <a:lnTo>
                    <a:pt x="7137177" y="365283"/>
                  </a:lnTo>
                  <a:lnTo>
                    <a:pt x="7116829" y="379011"/>
                  </a:lnTo>
                  <a:lnTo>
                    <a:pt x="7091933" y="384047"/>
                  </a:lnTo>
                  <a:lnTo>
                    <a:pt x="64008" y="384047"/>
                  </a:lnTo>
                  <a:lnTo>
                    <a:pt x="39090" y="379011"/>
                  </a:lnTo>
                  <a:lnTo>
                    <a:pt x="18745" y="365283"/>
                  </a:lnTo>
                  <a:lnTo>
                    <a:pt x="5029" y="344935"/>
                  </a:lnTo>
                  <a:lnTo>
                    <a:pt x="0" y="320039"/>
                  </a:lnTo>
                  <a:lnTo>
                    <a:pt x="0" y="64007"/>
                  </a:lnTo>
                  <a:close/>
                </a:path>
              </a:pathLst>
            </a:custGeom>
            <a:ln w="25145">
              <a:solidFill>
                <a:srgbClr val="FFFFFF"/>
              </a:solidFill>
            </a:ln>
          </p:spPr>
          <p:txBody>
            <a:bodyPr wrap="square" lIns="0" tIns="0" rIns="0" bIns="0" rtlCol="0"/>
            <a:lstStyle/>
            <a:p>
              <a:endParaRPr/>
            </a:p>
          </p:txBody>
        </p:sp>
      </p:grpSp>
      <p:grpSp>
        <p:nvGrpSpPr>
          <p:cNvPr id="24" name="object 24"/>
          <p:cNvGrpSpPr/>
          <p:nvPr/>
        </p:nvGrpSpPr>
        <p:grpSpPr>
          <a:xfrm>
            <a:off x="445008" y="5194553"/>
            <a:ext cx="8026400" cy="544830"/>
            <a:chOff x="445008" y="5194553"/>
            <a:chExt cx="8026400" cy="544830"/>
          </a:xfrm>
        </p:grpSpPr>
        <p:sp>
          <p:nvSpPr>
            <p:cNvPr id="25" name="object 25"/>
            <p:cNvSpPr/>
            <p:nvPr/>
          </p:nvSpPr>
          <p:spPr>
            <a:xfrm>
              <a:off x="457581" y="5399150"/>
              <a:ext cx="8001000" cy="327660"/>
            </a:xfrm>
            <a:custGeom>
              <a:avLst/>
              <a:gdLst/>
              <a:ahLst/>
              <a:cxnLst/>
              <a:rect l="l" t="t" r="r" b="b"/>
              <a:pathLst>
                <a:path w="8001000" h="327660">
                  <a:moveTo>
                    <a:pt x="0" y="327660"/>
                  </a:moveTo>
                  <a:lnTo>
                    <a:pt x="8001000" y="327660"/>
                  </a:lnTo>
                  <a:lnTo>
                    <a:pt x="8001000" y="0"/>
                  </a:lnTo>
                  <a:lnTo>
                    <a:pt x="0" y="0"/>
                  </a:lnTo>
                  <a:lnTo>
                    <a:pt x="0" y="327660"/>
                  </a:lnTo>
                  <a:close/>
                </a:path>
              </a:pathLst>
            </a:custGeom>
            <a:ln w="25146">
              <a:solidFill>
                <a:srgbClr val="8063A1"/>
              </a:solidFill>
            </a:ln>
          </p:spPr>
          <p:txBody>
            <a:bodyPr wrap="square" lIns="0" tIns="0" rIns="0" bIns="0" rtlCol="0"/>
            <a:lstStyle/>
            <a:p>
              <a:endParaRPr/>
            </a:p>
          </p:txBody>
        </p:sp>
        <p:sp>
          <p:nvSpPr>
            <p:cNvPr id="26" name="object 26"/>
            <p:cNvSpPr/>
            <p:nvPr/>
          </p:nvSpPr>
          <p:spPr>
            <a:xfrm>
              <a:off x="857631" y="5207126"/>
              <a:ext cx="5600700" cy="384175"/>
            </a:xfrm>
            <a:custGeom>
              <a:avLst/>
              <a:gdLst/>
              <a:ahLst/>
              <a:cxnLst/>
              <a:rect l="l" t="t" r="r" b="b"/>
              <a:pathLst>
                <a:path w="5600700" h="384175">
                  <a:moveTo>
                    <a:pt x="5536692" y="0"/>
                  </a:moveTo>
                  <a:lnTo>
                    <a:pt x="64008" y="0"/>
                  </a:lnTo>
                  <a:lnTo>
                    <a:pt x="39090" y="5036"/>
                  </a:lnTo>
                  <a:lnTo>
                    <a:pt x="18745" y="18764"/>
                  </a:lnTo>
                  <a:lnTo>
                    <a:pt x="5029" y="39112"/>
                  </a:lnTo>
                  <a:lnTo>
                    <a:pt x="0" y="64008"/>
                  </a:lnTo>
                  <a:lnTo>
                    <a:pt x="0" y="320040"/>
                  </a:lnTo>
                  <a:lnTo>
                    <a:pt x="5029" y="344935"/>
                  </a:lnTo>
                  <a:lnTo>
                    <a:pt x="18745" y="365283"/>
                  </a:lnTo>
                  <a:lnTo>
                    <a:pt x="39090" y="379011"/>
                  </a:lnTo>
                  <a:lnTo>
                    <a:pt x="64008" y="384048"/>
                  </a:lnTo>
                  <a:lnTo>
                    <a:pt x="5536692" y="384048"/>
                  </a:lnTo>
                  <a:lnTo>
                    <a:pt x="5561587" y="379011"/>
                  </a:lnTo>
                  <a:lnTo>
                    <a:pt x="5581935" y="365283"/>
                  </a:lnTo>
                  <a:lnTo>
                    <a:pt x="5595663" y="344935"/>
                  </a:lnTo>
                  <a:lnTo>
                    <a:pt x="5600700" y="320040"/>
                  </a:lnTo>
                  <a:lnTo>
                    <a:pt x="5600700" y="64008"/>
                  </a:lnTo>
                  <a:lnTo>
                    <a:pt x="5595663" y="39112"/>
                  </a:lnTo>
                  <a:lnTo>
                    <a:pt x="5581935" y="18764"/>
                  </a:lnTo>
                  <a:lnTo>
                    <a:pt x="5561587" y="5036"/>
                  </a:lnTo>
                  <a:lnTo>
                    <a:pt x="5536692" y="0"/>
                  </a:lnTo>
                  <a:close/>
                </a:path>
              </a:pathLst>
            </a:custGeom>
            <a:solidFill>
              <a:srgbClr val="8063A1"/>
            </a:solidFill>
          </p:spPr>
          <p:txBody>
            <a:bodyPr wrap="square" lIns="0" tIns="0" rIns="0" bIns="0" rtlCol="0"/>
            <a:lstStyle/>
            <a:p>
              <a:endParaRPr/>
            </a:p>
          </p:txBody>
        </p:sp>
        <p:sp>
          <p:nvSpPr>
            <p:cNvPr id="27" name="object 27"/>
            <p:cNvSpPr/>
            <p:nvPr/>
          </p:nvSpPr>
          <p:spPr>
            <a:xfrm>
              <a:off x="857631" y="5207126"/>
              <a:ext cx="5600700" cy="384175"/>
            </a:xfrm>
            <a:custGeom>
              <a:avLst/>
              <a:gdLst/>
              <a:ahLst/>
              <a:cxnLst/>
              <a:rect l="l" t="t" r="r" b="b"/>
              <a:pathLst>
                <a:path w="5600700" h="384175">
                  <a:moveTo>
                    <a:pt x="0" y="64008"/>
                  </a:moveTo>
                  <a:lnTo>
                    <a:pt x="5029" y="39112"/>
                  </a:lnTo>
                  <a:lnTo>
                    <a:pt x="18745" y="18764"/>
                  </a:lnTo>
                  <a:lnTo>
                    <a:pt x="39090" y="5036"/>
                  </a:lnTo>
                  <a:lnTo>
                    <a:pt x="64008" y="0"/>
                  </a:lnTo>
                  <a:lnTo>
                    <a:pt x="5536692" y="0"/>
                  </a:lnTo>
                  <a:lnTo>
                    <a:pt x="5561587" y="5036"/>
                  </a:lnTo>
                  <a:lnTo>
                    <a:pt x="5581935" y="18764"/>
                  </a:lnTo>
                  <a:lnTo>
                    <a:pt x="5595663" y="39112"/>
                  </a:lnTo>
                  <a:lnTo>
                    <a:pt x="5600700" y="64008"/>
                  </a:lnTo>
                  <a:lnTo>
                    <a:pt x="5600700" y="320040"/>
                  </a:lnTo>
                  <a:lnTo>
                    <a:pt x="5595663" y="344935"/>
                  </a:lnTo>
                  <a:lnTo>
                    <a:pt x="5581935" y="365283"/>
                  </a:lnTo>
                  <a:lnTo>
                    <a:pt x="5561587" y="379011"/>
                  </a:lnTo>
                  <a:lnTo>
                    <a:pt x="5536692" y="384048"/>
                  </a:lnTo>
                  <a:lnTo>
                    <a:pt x="64008" y="384048"/>
                  </a:lnTo>
                  <a:lnTo>
                    <a:pt x="39090" y="379011"/>
                  </a:lnTo>
                  <a:lnTo>
                    <a:pt x="18745" y="365283"/>
                  </a:lnTo>
                  <a:lnTo>
                    <a:pt x="5029" y="344935"/>
                  </a:lnTo>
                  <a:lnTo>
                    <a:pt x="0" y="320040"/>
                  </a:lnTo>
                  <a:lnTo>
                    <a:pt x="0" y="64008"/>
                  </a:lnTo>
                  <a:close/>
                </a:path>
              </a:pathLst>
            </a:custGeom>
            <a:ln w="25146">
              <a:solidFill>
                <a:srgbClr val="FFFFFF"/>
              </a:solidFill>
            </a:ln>
          </p:spPr>
          <p:txBody>
            <a:bodyPr wrap="square" lIns="0" tIns="0" rIns="0" bIns="0" rtlCol="0"/>
            <a:lstStyle/>
            <a:p>
              <a:endParaRPr/>
            </a:p>
          </p:txBody>
        </p:sp>
      </p:grpSp>
      <p:sp>
        <p:nvSpPr>
          <p:cNvPr id="28" name="object 28"/>
          <p:cNvSpPr txBox="1"/>
          <p:nvPr/>
        </p:nvSpPr>
        <p:spPr>
          <a:xfrm>
            <a:off x="1074674" y="4098544"/>
            <a:ext cx="6195060" cy="1403350"/>
          </a:xfrm>
          <a:prstGeom prst="rect">
            <a:avLst/>
          </a:prstGeom>
        </p:spPr>
        <p:txBody>
          <a:bodyPr vert="horz" wrap="square" lIns="0" tIns="12065" rIns="0" bIns="0" rtlCol="0">
            <a:spAutoFit/>
          </a:bodyPr>
          <a:lstStyle/>
          <a:p>
            <a:pPr marL="31750">
              <a:lnSpc>
                <a:spcPct val="100000"/>
              </a:lnSpc>
              <a:spcBef>
                <a:spcPts val="95"/>
              </a:spcBef>
            </a:pPr>
            <a:r>
              <a:rPr sz="1400" b="1" spc="-5" dirty="0">
                <a:solidFill>
                  <a:srgbClr val="FFFFFF"/>
                </a:solidFill>
                <a:latin typeface="Goudy Old Style"/>
                <a:cs typeface="Goudy Old Style"/>
              </a:rPr>
              <a:t>The databases in this model </a:t>
            </a:r>
            <a:r>
              <a:rPr sz="1400" b="1" spc="-10" dirty="0">
                <a:solidFill>
                  <a:srgbClr val="FFFFFF"/>
                </a:solidFill>
                <a:latin typeface="Goudy Old Style"/>
                <a:cs typeface="Goudy Old Style"/>
              </a:rPr>
              <a:t>are </a:t>
            </a:r>
            <a:r>
              <a:rPr sz="1400" b="1" spc="-5" dirty="0">
                <a:solidFill>
                  <a:srgbClr val="FFFFFF"/>
                </a:solidFill>
                <a:latin typeface="Goudy Old Style"/>
                <a:cs typeface="Goudy Old Style"/>
              </a:rPr>
              <a:t>difficult to</a:t>
            </a:r>
            <a:r>
              <a:rPr sz="1400" b="1" spc="30" dirty="0">
                <a:solidFill>
                  <a:srgbClr val="FFFFFF"/>
                </a:solidFill>
                <a:latin typeface="Goudy Old Style"/>
                <a:cs typeface="Goudy Old Style"/>
              </a:rPr>
              <a:t> </a:t>
            </a:r>
            <a:r>
              <a:rPr sz="1400" b="1" spc="-10" dirty="0">
                <a:solidFill>
                  <a:srgbClr val="FFFFFF"/>
                </a:solidFill>
                <a:latin typeface="Goudy Old Style"/>
                <a:cs typeface="Goudy Old Style"/>
              </a:rPr>
              <a:t>design.</a:t>
            </a:r>
            <a:endParaRPr sz="1400">
              <a:latin typeface="Goudy Old Style"/>
              <a:cs typeface="Goudy Old Style"/>
            </a:endParaRPr>
          </a:p>
          <a:p>
            <a:pPr marL="12700" marR="5080" indent="-635">
              <a:lnSpc>
                <a:spcPts val="4640"/>
              </a:lnSpc>
              <a:spcBef>
                <a:spcPts val="335"/>
              </a:spcBef>
            </a:pPr>
            <a:r>
              <a:rPr sz="1400" b="1" spc="-5" dirty="0">
                <a:solidFill>
                  <a:srgbClr val="FFFFFF"/>
                </a:solidFill>
                <a:latin typeface="Goudy Old Style"/>
                <a:cs typeface="Goudy Old Style"/>
              </a:rPr>
              <a:t>The </a:t>
            </a:r>
            <a:r>
              <a:rPr sz="1400" b="1" spc="-10" dirty="0">
                <a:solidFill>
                  <a:srgbClr val="FFFFFF"/>
                </a:solidFill>
                <a:latin typeface="Goudy Old Style"/>
                <a:cs typeface="Goudy Old Style"/>
              </a:rPr>
              <a:t>programmer </a:t>
            </a:r>
            <a:r>
              <a:rPr sz="1400" b="1" spc="-5" dirty="0">
                <a:solidFill>
                  <a:srgbClr val="FFFFFF"/>
                </a:solidFill>
                <a:latin typeface="Goudy Old Style"/>
                <a:cs typeface="Goudy Old Style"/>
              </a:rPr>
              <a:t>has to be </a:t>
            </a:r>
            <a:r>
              <a:rPr sz="1400" b="1" spc="-10" dirty="0">
                <a:solidFill>
                  <a:srgbClr val="FFFFFF"/>
                </a:solidFill>
                <a:latin typeface="Goudy Old Style"/>
                <a:cs typeface="Goudy Old Style"/>
              </a:rPr>
              <a:t>familiar </a:t>
            </a:r>
            <a:r>
              <a:rPr sz="1400" b="1" spc="-5" dirty="0">
                <a:solidFill>
                  <a:srgbClr val="FFFFFF"/>
                </a:solidFill>
                <a:latin typeface="Goudy Old Style"/>
                <a:cs typeface="Goudy Old Style"/>
              </a:rPr>
              <a:t>with the </a:t>
            </a:r>
            <a:r>
              <a:rPr sz="1400" b="1" spc="-10" dirty="0">
                <a:solidFill>
                  <a:srgbClr val="FFFFFF"/>
                </a:solidFill>
                <a:latin typeface="Goudy Old Style"/>
                <a:cs typeface="Goudy Old Style"/>
              </a:rPr>
              <a:t>internal structures to </a:t>
            </a:r>
            <a:r>
              <a:rPr sz="1400" b="1" dirty="0">
                <a:solidFill>
                  <a:srgbClr val="FFFFFF"/>
                </a:solidFill>
                <a:latin typeface="Goudy Old Style"/>
                <a:cs typeface="Goudy Old Style"/>
              </a:rPr>
              <a:t>access </a:t>
            </a:r>
            <a:r>
              <a:rPr sz="1400" b="1" spc="-5" dirty="0">
                <a:solidFill>
                  <a:srgbClr val="FFFFFF"/>
                </a:solidFill>
                <a:latin typeface="Goudy Old Style"/>
                <a:cs typeface="Goudy Old Style"/>
              </a:rPr>
              <a:t>the database.  The model </a:t>
            </a:r>
            <a:r>
              <a:rPr sz="1400" b="1" spc="-10" dirty="0">
                <a:solidFill>
                  <a:srgbClr val="FFFFFF"/>
                </a:solidFill>
                <a:latin typeface="Goudy Old Style"/>
                <a:cs typeface="Goudy Old Style"/>
              </a:rPr>
              <a:t>provides </a:t>
            </a:r>
            <a:r>
              <a:rPr sz="1400" b="1" spc="-5" dirty="0">
                <a:solidFill>
                  <a:srgbClr val="FFFFFF"/>
                </a:solidFill>
                <a:latin typeface="Goudy Old Style"/>
                <a:cs typeface="Goudy Old Style"/>
              </a:rPr>
              <a:t>a navigational </a:t>
            </a:r>
            <a:r>
              <a:rPr sz="1400" b="1" dirty="0">
                <a:solidFill>
                  <a:srgbClr val="FFFFFF"/>
                </a:solidFill>
                <a:latin typeface="Goudy Old Style"/>
                <a:cs typeface="Goudy Old Style"/>
              </a:rPr>
              <a:t>data </a:t>
            </a:r>
            <a:r>
              <a:rPr sz="1400" b="1" spc="-5" dirty="0">
                <a:solidFill>
                  <a:srgbClr val="FFFFFF"/>
                </a:solidFill>
                <a:latin typeface="Goudy Old Style"/>
                <a:cs typeface="Goudy Old Style"/>
              </a:rPr>
              <a:t>access</a:t>
            </a:r>
            <a:r>
              <a:rPr sz="1400" b="1" spc="40" dirty="0">
                <a:solidFill>
                  <a:srgbClr val="FFFFFF"/>
                </a:solidFill>
                <a:latin typeface="Goudy Old Style"/>
                <a:cs typeface="Goudy Old Style"/>
              </a:rPr>
              <a:t> </a:t>
            </a:r>
            <a:r>
              <a:rPr sz="1400" b="1" spc="-10" dirty="0">
                <a:solidFill>
                  <a:srgbClr val="FFFFFF"/>
                </a:solidFill>
                <a:latin typeface="Goudy Old Style"/>
                <a:cs typeface="Goudy Old Style"/>
              </a:rPr>
              <a:t>environment.</a:t>
            </a:r>
            <a:endParaRPr sz="1400">
              <a:latin typeface="Goudy Old Style"/>
              <a:cs typeface="Goudy Old Style"/>
            </a:endParaRPr>
          </a:p>
        </p:txBody>
      </p:sp>
      <p:sp>
        <p:nvSpPr>
          <p:cNvPr id="31" name="object 31"/>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23</a:t>
            </a:fld>
            <a:endParaRPr sz="1200"/>
          </a:p>
        </p:txBody>
      </p:sp>
      <p:sp>
        <p:nvSpPr>
          <p:cNvPr id="32" name="object 32"/>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29" name="object 29"/>
          <p:cNvSpPr txBox="1"/>
          <p:nvPr/>
        </p:nvSpPr>
        <p:spPr>
          <a:xfrm>
            <a:off x="459740" y="5927597"/>
            <a:ext cx="6306185" cy="574040"/>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3695" algn="l"/>
                <a:tab pos="354330" algn="l"/>
              </a:tabLst>
            </a:pPr>
            <a:r>
              <a:rPr sz="1800" spc="-5" dirty="0">
                <a:latin typeface="Goudy Old Style"/>
                <a:cs typeface="Goudy Old Style"/>
              </a:rPr>
              <a:t>This </a:t>
            </a:r>
            <a:r>
              <a:rPr sz="1800" dirty="0">
                <a:latin typeface="Goudy Old Style"/>
                <a:cs typeface="Goudy Old Style"/>
              </a:rPr>
              <a:t>model is difficult </a:t>
            </a:r>
            <a:r>
              <a:rPr sz="1800" spc="-10" dirty="0">
                <a:latin typeface="Goudy Old Style"/>
                <a:cs typeface="Goudy Old Style"/>
              </a:rPr>
              <a:t>to </a:t>
            </a:r>
            <a:r>
              <a:rPr sz="1800" spc="-5" dirty="0">
                <a:latin typeface="Goudy Old Style"/>
                <a:cs typeface="Goudy Old Style"/>
              </a:rPr>
              <a:t>implement and</a:t>
            </a:r>
            <a:r>
              <a:rPr sz="1800" spc="-15" dirty="0">
                <a:latin typeface="Goudy Old Style"/>
                <a:cs typeface="Goudy Old Style"/>
              </a:rPr>
              <a:t> </a:t>
            </a:r>
            <a:r>
              <a:rPr sz="1800" dirty="0">
                <a:latin typeface="Goudy Old Style"/>
                <a:cs typeface="Goudy Old Style"/>
              </a:rPr>
              <a:t>maintain.</a:t>
            </a:r>
            <a:endParaRPr sz="1800">
              <a:latin typeface="Goudy Old Style"/>
              <a:cs typeface="Goudy Old Style"/>
            </a:endParaRPr>
          </a:p>
          <a:p>
            <a:pPr marL="353695" indent="-341630">
              <a:lnSpc>
                <a:spcPct val="100000"/>
              </a:lnSpc>
              <a:buFont typeface="Wingdings"/>
              <a:buChar char=""/>
              <a:tabLst>
                <a:tab pos="353695" algn="l"/>
                <a:tab pos="354330" algn="l"/>
              </a:tabLst>
            </a:pPr>
            <a:r>
              <a:rPr sz="1800" spc="-10" dirty="0">
                <a:latin typeface="Goudy Old Style"/>
                <a:cs typeface="Goudy Old Style"/>
              </a:rPr>
              <a:t>Computer </a:t>
            </a:r>
            <a:r>
              <a:rPr sz="1800" spc="-5" dirty="0">
                <a:latin typeface="Goudy Old Style"/>
                <a:cs typeface="Goudy Old Style"/>
              </a:rPr>
              <a:t>programmers, </a:t>
            </a:r>
            <a:r>
              <a:rPr sz="1800" dirty="0">
                <a:latin typeface="Goudy Old Style"/>
                <a:cs typeface="Goudy Old Style"/>
              </a:rPr>
              <a:t>rather than </a:t>
            </a:r>
            <a:r>
              <a:rPr sz="1800" spc="-5" dirty="0">
                <a:latin typeface="Goudy Old Style"/>
                <a:cs typeface="Goudy Old Style"/>
              </a:rPr>
              <a:t>end users, utilize </a:t>
            </a:r>
            <a:r>
              <a:rPr sz="1800" dirty="0">
                <a:latin typeface="Goudy Old Style"/>
                <a:cs typeface="Goudy Old Style"/>
              </a:rPr>
              <a:t>this</a:t>
            </a:r>
            <a:r>
              <a:rPr sz="1800" spc="-40" dirty="0">
                <a:latin typeface="Goudy Old Style"/>
                <a:cs typeface="Goudy Old Style"/>
              </a:rPr>
              <a:t> </a:t>
            </a:r>
            <a:r>
              <a:rPr sz="1800" dirty="0">
                <a:latin typeface="Goudy Old Style"/>
                <a:cs typeface="Goudy Old Style"/>
              </a:rPr>
              <a:t>model.</a:t>
            </a:r>
            <a:endParaRPr sz="1800">
              <a:latin typeface="Goudy Old Style"/>
              <a:cs typeface="Goudy Old Style"/>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5328285" cy="635635"/>
          </a:xfrm>
          <a:prstGeom prst="rect">
            <a:avLst/>
          </a:prstGeom>
        </p:spPr>
        <p:txBody>
          <a:bodyPr vert="horz" wrap="square" lIns="0" tIns="12700" rIns="0" bIns="0" rtlCol="0">
            <a:spAutoFit/>
          </a:bodyPr>
          <a:lstStyle/>
          <a:p>
            <a:pPr marL="12700">
              <a:lnSpc>
                <a:spcPct val="100000"/>
              </a:lnSpc>
              <a:spcBef>
                <a:spcPts val="100"/>
              </a:spcBef>
            </a:pPr>
            <a:r>
              <a:rPr sz="4000" b="0" spc="-10" dirty="0">
                <a:latin typeface="Goudy Old Style"/>
                <a:cs typeface="Goudy Old Style"/>
              </a:rPr>
              <a:t>Relational </a:t>
            </a:r>
            <a:r>
              <a:rPr sz="4000" b="0" spc="10" dirty="0">
                <a:latin typeface="Goudy Old Style"/>
                <a:cs typeface="Goudy Old Style"/>
              </a:rPr>
              <a:t>Data </a:t>
            </a:r>
            <a:r>
              <a:rPr sz="4000" b="0" spc="-5" dirty="0">
                <a:latin typeface="Goudy Old Style"/>
                <a:cs typeface="Goudy Old Style"/>
              </a:rPr>
              <a:t>Model</a:t>
            </a:r>
            <a:r>
              <a:rPr sz="4000" b="0" spc="-100" dirty="0">
                <a:latin typeface="Goudy Old Style"/>
                <a:cs typeface="Goudy Old Style"/>
              </a:rPr>
              <a:t> </a:t>
            </a:r>
            <a:r>
              <a:rPr sz="4000" b="0" spc="10" dirty="0">
                <a:latin typeface="Goudy Old Style"/>
                <a:cs typeface="Goudy Old Style"/>
              </a:rPr>
              <a:t>1-5</a:t>
            </a:r>
            <a:endParaRPr sz="4000">
              <a:latin typeface="Goudy Old Style"/>
              <a:cs typeface="Goudy Old Style"/>
            </a:endParaRPr>
          </a:p>
        </p:txBody>
      </p:sp>
      <p:pic>
        <p:nvPicPr>
          <p:cNvPr id="3" name="object 3"/>
          <p:cNvPicPr/>
          <p:nvPr/>
        </p:nvPicPr>
        <p:blipFill>
          <a:blip r:embed="rId3" cstate="print"/>
          <a:stretch>
            <a:fillRect/>
          </a:stretch>
        </p:blipFill>
        <p:spPr>
          <a:xfrm>
            <a:off x="339090" y="3714737"/>
            <a:ext cx="8234933" cy="919746"/>
          </a:xfrm>
          <a:prstGeom prst="rect">
            <a:avLst/>
          </a:prstGeom>
        </p:spPr>
      </p:pic>
      <p:grpSp>
        <p:nvGrpSpPr>
          <p:cNvPr id="4" name="object 4"/>
          <p:cNvGrpSpPr/>
          <p:nvPr/>
        </p:nvGrpSpPr>
        <p:grpSpPr>
          <a:xfrm>
            <a:off x="339090" y="1047737"/>
            <a:ext cx="8235315" cy="1682114"/>
            <a:chOff x="339090" y="1047737"/>
            <a:chExt cx="8235315" cy="1682114"/>
          </a:xfrm>
        </p:grpSpPr>
        <p:pic>
          <p:nvPicPr>
            <p:cNvPr id="5" name="object 5"/>
            <p:cNvPicPr/>
            <p:nvPr/>
          </p:nvPicPr>
          <p:blipFill>
            <a:blip r:embed="rId4" cstate="print"/>
            <a:stretch>
              <a:fillRect/>
            </a:stretch>
          </p:blipFill>
          <p:spPr>
            <a:xfrm>
              <a:off x="339090" y="1047737"/>
              <a:ext cx="8234933" cy="843546"/>
            </a:xfrm>
            <a:prstGeom prst="rect">
              <a:avLst/>
            </a:prstGeom>
          </p:spPr>
        </p:pic>
        <p:pic>
          <p:nvPicPr>
            <p:cNvPr id="6" name="object 6"/>
            <p:cNvPicPr/>
            <p:nvPr/>
          </p:nvPicPr>
          <p:blipFill>
            <a:blip r:embed="rId5" cstate="print"/>
            <a:stretch>
              <a:fillRect/>
            </a:stretch>
          </p:blipFill>
          <p:spPr>
            <a:xfrm>
              <a:off x="339090" y="1885937"/>
              <a:ext cx="8234933" cy="843546"/>
            </a:xfrm>
            <a:prstGeom prst="rect">
              <a:avLst/>
            </a:prstGeom>
          </p:spPr>
        </p:pic>
      </p:grpSp>
      <p:pic>
        <p:nvPicPr>
          <p:cNvPr id="7" name="object 7"/>
          <p:cNvPicPr/>
          <p:nvPr/>
        </p:nvPicPr>
        <p:blipFill>
          <a:blip r:embed="rId6" cstate="print"/>
          <a:stretch>
            <a:fillRect/>
          </a:stretch>
        </p:blipFill>
        <p:spPr>
          <a:xfrm>
            <a:off x="339090" y="2800337"/>
            <a:ext cx="8234933" cy="843546"/>
          </a:xfrm>
          <a:prstGeom prst="rect">
            <a:avLst/>
          </a:prstGeom>
        </p:spPr>
      </p:pic>
      <p:pic>
        <p:nvPicPr>
          <p:cNvPr id="8" name="object 8"/>
          <p:cNvPicPr/>
          <p:nvPr/>
        </p:nvPicPr>
        <p:blipFill>
          <a:blip r:embed="rId4" cstate="print"/>
          <a:stretch>
            <a:fillRect/>
          </a:stretch>
        </p:blipFill>
        <p:spPr>
          <a:xfrm>
            <a:off x="339090" y="4705337"/>
            <a:ext cx="8234933" cy="843546"/>
          </a:xfrm>
          <a:prstGeom prst="rect">
            <a:avLst/>
          </a:prstGeom>
        </p:spPr>
      </p:pic>
      <p:sp>
        <p:nvSpPr>
          <p:cNvPr id="9" name="object 9"/>
          <p:cNvSpPr txBox="1"/>
          <p:nvPr/>
        </p:nvSpPr>
        <p:spPr>
          <a:xfrm>
            <a:off x="514095" y="1148079"/>
            <a:ext cx="7847330" cy="4204970"/>
          </a:xfrm>
          <a:prstGeom prst="rect">
            <a:avLst/>
          </a:prstGeom>
        </p:spPr>
        <p:txBody>
          <a:bodyPr vert="horz" wrap="square" lIns="0" tIns="43815" rIns="0" bIns="0" rtlCol="0">
            <a:spAutoFit/>
          </a:bodyPr>
          <a:lstStyle/>
          <a:p>
            <a:pPr marL="12700" marR="5080">
              <a:lnSpc>
                <a:spcPts val="1939"/>
              </a:lnSpc>
              <a:spcBef>
                <a:spcPts val="345"/>
              </a:spcBef>
            </a:pPr>
            <a:r>
              <a:rPr sz="1800" spc="-5" dirty="0">
                <a:solidFill>
                  <a:srgbClr val="FFFFFF"/>
                </a:solidFill>
                <a:latin typeface="Goudy Old Style"/>
                <a:cs typeface="Goudy Old Style"/>
              </a:rPr>
              <a:t>As </a:t>
            </a:r>
            <a:r>
              <a:rPr sz="1800" dirty="0">
                <a:solidFill>
                  <a:srgbClr val="FFFFFF"/>
                </a:solidFill>
                <a:latin typeface="Goudy Old Style"/>
                <a:cs typeface="Goudy Old Style"/>
              </a:rPr>
              <a:t>the </a:t>
            </a:r>
            <a:r>
              <a:rPr sz="1800" spc="-10" dirty="0">
                <a:solidFill>
                  <a:srgbClr val="FFFFFF"/>
                </a:solidFill>
                <a:latin typeface="Goudy Old Style"/>
                <a:cs typeface="Goudy Old Style"/>
              </a:rPr>
              <a:t>information </a:t>
            </a:r>
            <a:r>
              <a:rPr sz="1800" spc="-5" dirty="0">
                <a:solidFill>
                  <a:srgbClr val="FFFFFF"/>
                </a:solidFill>
                <a:latin typeface="Goudy Old Style"/>
                <a:cs typeface="Goudy Old Style"/>
              </a:rPr>
              <a:t>needs </a:t>
            </a:r>
            <a:r>
              <a:rPr sz="1800" spc="-10" dirty="0">
                <a:solidFill>
                  <a:srgbClr val="FFFFFF"/>
                </a:solidFill>
                <a:latin typeface="Goudy Old Style"/>
                <a:cs typeface="Goudy Old Style"/>
              </a:rPr>
              <a:t>grew </a:t>
            </a:r>
            <a:r>
              <a:rPr sz="1800" spc="-5" dirty="0">
                <a:solidFill>
                  <a:srgbClr val="FFFFFF"/>
                </a:solidFill>
                <a:latin typeface="Goudy Old Style"/>
                <a:cs typeface="Goudy Old Style"/>
              </a:rPr>
              <a:t>and </a:t>
            </a:r>
            <a:r>
              <a:rPr sz="1800" spc="-10" dirty="0">
                <a:solidFill>
                  <a:srgbClr val="FFFFFF"/>
                </a:solidFill>
                <a:latin typeface="Goudy Old Style"/>
                <a:cs typeface="Goudy Old Style"/>
              </a:rPr>
              <a:t>more </a:t>
            </a:r>
            <a:r>
              <a:rPr sz="1800" spc="-5" dirty="0">
                <a:solidFill>
                  <a:srgbClr val="FFFFFF"/>
                </a:solidFill>
                <a:latin typeface="Goudy Old Style"/>
                <a:cs typeface="Goudy Old Style"/>
              </a:rPr>
              <a:t>sophisticated databases and applications </a:t>
            </a:r>
            <a:r>
              <a:rPr sz="1800" spc="-15" dirty="0">
                <a:solidFill>
                  <a:srgbClr val="FFFFFF"/>
                </a:solidFill>
                <a:latin typeface="Goudy Old Style"/>
                <a:cs typeface="Goudy Old Style"/>
              </a:rPr>
              <a:t>were  required, </a:t>
            </a:r>
            <a:r>
              <a:rPr sz="1800" spc="-5" dirty="0">
                <a:solidFill>
                  <a:srgbClr val="FFFFFF"/>
                </a:solidFill>
                <a:latin typeface="Goudy Old Style"/>
                <a:cs typeface="Goudy Old Style"/>
              </a:rPr>
              <a:t>database design, management, and </a:t>
            </a:r>
            <a:r>
              <a:rPr sz="1800" dirty="0">
                <a:solidFill>
                  <a:srgbClr val="FFFFFF"/>
                </a:solidFill>
                <a:latin typeface="Goudy Old Style"/>
                <a:cs typeface="Goudy Old Style"/>
              </a:rPr>
              <a:t>use </a:t>
            </a:r>
            <a:r>
              <a:rPr sz="1800" spc="-5" dirty="0">
                <a:solidFill>
                  <a:srgbClr val="FFFFFF"/>
                </a:solidFill>
                <a:latin typeface="Goudy Old Style"/>
                <a:cs typeface="Goudy Old Style"/>
              </a:rPr>
              <a:t>became too </a:t>
            </a:r>
            <a:r>
              <a:rPr sz="1800" dirty="0">
                <a:solidFill>
                  <a:srgbClr val="FFFFFF"/>
                </a:solidFill>
                <a:latin typeface="Goudy Old Style"/>
                <a:cs typeface="Goudy Old Style"/>
              </a:rPr>
              <a:t>cumbersome.</a:t>
            </a:r>
            <a:endParaRPr sz="1800">
              <a:latin typeface="Goudy Old Style"/>
              <a:cs typeface="Goudy Old Style"/>
            </a:endParaRPr>
          </a:p>
          <a:p>
            <a:pPr>
              <a:lnSpc>
                <a:spcPct val="100000"/>
              </a:lnSpc>
              <a:spcBef>
                <a:spcPts val="45"/>
              </a:spcBef>
            </a:pPr>
            <a:endParaRPr sz="2850">
              <a:latin typeface="Goudy Old Style"/>
              <a:cs typeface="Goudy Old Style"/>
            </a:endParaRPr>
          </a:p>
          <a:p>
            <a:pPr marL="19050">
              <a:lnSpc>
                <a:spcPct val="100000"/>
              </a:lnSpc>
            </a:pPr>
            <a:r>
              <a:rPr sz="1800" spc="-5" dirty="0">
                <a:solidFill>
                  <a:srgbClr val="FFFFFF"/>
                </a:solidFill>
                <a:latin typeface="Goudy Old Style"/>
                <a:cs typeface="Goudy Old Style"/>
              </a:rPr>
              <a:t>This </a:t>
            </a:r>
            <a:r>
              <a:rPr sz="1800" dirty="0">
                <a:solidFill>
                  <a:srgbClr val="FFFFFF"/>
                </a:solidFill>
                <a:latin typeface="Goudy Old Style"/>
                <a:cs typeface="Goudy Old Style"/>
              </a:rPr>
              <a:t>led </a:t>
            </a:r>
            <a:r>
              <a:rPr sz="1800" spc="-10" dirty="0">
                <a:solidFill>
                  <a:srgbClr val="FFFFFF"/>
                </a:solidFill>
                <a:latin typeface="Goudy Old Style"/>
                <a:cs typeface="Goudy Old Style"/>
              </a:rPr>
              <a:t>to </a:t>
            </a:r>
            <a:r>
              <a:rPr sz="1800" dirty="0">
                <a:solidFill>
                  <a:srgbClr val="FFFFFF"/>
                </a:solidFill>
                <a:latin typeface="Goudy Old Style"/>
                <a:cs typeface="Goudy Old Style"/>
              </a:rPr>
              <a:t>the </a:t>
            </a:r>
            <a:r>
              <a:rPr sz="1800" spc="-10" dirty="0">
                <a:solidFill>
                  <a:srgbClr val="FFFFFF"/>
                </a:solidFill>
                <a:latin typeface="Goudy Old Style"/>
                <a:cs typeface="Goudy Old Style"/>
              </a:rPr>
              <a:t>development </a:t>
            </a:r>
            <a:r>
              <a:rPr sz="1800" spc="-5" dirty="0">
                <a:solidFill>
                  <a:srgbClr val="FFFFFF"/>
                </a:solidFill>
                <a:latin typeface="Goudy Old Style"/>
                <a:cs typeface="Goudy Old Style"/>
              </a:rPr>
              <a:t>of what </a:t>
            </a:r>
            <a:r>
              <a:rPr sz="1800" dirty="0">
                <a:solidFill>
                  <a:srgbClr val="FFFFFF"/>
                </a:solidFill>
                <a:latin typeface="Goudy Old Style"/>
                <a:cs typeface="Goudy Old Style"/>
              </a:rPr>
              <a:t>came </a:t>
            </a:r>
            <a:r>
              <a:rPr sz="1800" spc="-5" dirty="0">
                <a:solidFill>
                  <a:srgbClr val="FFFFFF"/>
                </a:solidFill>
                <a:latin typeface="Goudy Old Style"/>
                <a:cs typeface="Goudy Old Style"/>
              </a:rPr>
              <a:t>to </a:t>
            </a:r>
            <a:r>
              <a:rPr sz="1800" dirty="0">
                <a:solidFill>
                  <a:srgbClr val="FFFFFF"/>
                </a:solidFill>
                <a:latin typeface="Goudy Old Style"/>
                <a:cs typeface="Goudy Old Style"/>
              </a:rPr>
              <a:t>be called the </a:t>
            </a:r>
            <a:r>
              <a:rPr sz="1800" spc="-10" dirty="0">
                <a:solidFill>
                  <a:srgbClr val="FFFFFF"/>
                </a:solidFill>
                <a:latin typeface="Goudy Old Style"/>
                <a:cs typeface="Goudy Old Style"/>
              </a:rPr>
              <a:t>Relational </a:t>
            </a:r>
            <a:r>
              <a:rPr sz="1800" spc="-5" dirty="0">
                <a:solidFill>
                  <a:srgbClr val="FFFFFF"/>
                </a:solidFill>
                <a:latin typeface="Goudy Old Style"/>
                <a:cs typeface="Goudy Old Style"/>
              </a:rPr>
              <a:t>Model</a:t>
            </a:r>
            <a:r>
              <a:rPr sz="1800" spc="-15" dirty="0">
                <a:solidFill>
                  <a:srgbClr val="FFFFFF"/>
                </a:solidFill>
                <a:latin typeface="Goudy Old Style"/>
                <a:cs typeface="Goudy Old Style"/>
              </a:rPr>
              <a:t> </a:t>
            </a:r>
            <a:r>
              <a:rPr sz="1800" spc="-5" dirty="0">
                <a:solidFill>
                  <a:srgbClr val="FFFFFF"/>
                </a:solidFill>
                <a:latin typeface="Goudy Old Style"/>
                <a:cs typeface="Goudy Old Style"/>
              </a:rPr>
              <a:t>database.</a:t>
            </a:r>
            <a:endParaRPr sz="1800">
              <a:latin typeface="Goudy Old Style"/>
              <a:cs typeface="Goudy Old Style"/>
            </a:endParaRPr>
          </a:p>
          <a:p>
            <a:pPr>
              <a:lnSpc>
                <a:spcPct val="100000"/>
              </a:lnSpc>
            </a:pPr>
            <a:endParaRPr sz="2000">
              <a:latin typeface="Goudy Old Style"/>
              <a:cs typeface="Goudy Old Style"/>
            </a:endParaRPr>
          </a:p>
          <a:p>
            <a:pPr>
              <a:lnSpc>
                <a:spcPct val="100000"/>
              </a:lnSpc>
              <a:spcBef>
                <a:spcPts val="35"/>
              </a:spcBef>
            </a:pPr>
            <a:endParaRPr sz="1550">
              <a:latin typeface="Goudy Old Style"/>
              <a:cs typeface="Goudy Old Style"/>
            </a:endParaRPr>
          </a:p>
          <a:p>
            <a:pPr marL="17780" marR="334645">
              <a:lnSpc>
                <a:spcPts val="1939"/>
              </a:lnSpc>
            </a:pPr>
            <a:r>
              <a:rPr sz="1800" spc="-5" dirty="0">
                <a:solidFill>
                  <a:srgbClr val="FFFFFF"/>
                </a:solidFill>
                <a:latin typeface="Goudy Old Style"/>
                <a:cs typeface="Goudy Old Style"/>
              </a:rPr>
              <a:t>The term </a:t>
            </a:r>
            <a:r>
              <a:rPr sz="1800" spc="-10" dirty="0">
                <a:solidFill>
                  <a:srgbClr val="FFFFFF"/>
                </a:solidFill>
                <a:latin typeface="Goudy Old Style"/>
                <a:cs typeface="Goudy Old Style"/>
              </a:rPr>
              <a:t>'Relation' </a:t>
            </a:r>
            <a:r>
              <a:rPr sz="1800" dirty="0">
                <a:solidFill>
                  <a:srgbClr val="FFFFFF"/>
                </a:solidFill>
                <a:latin typeface="Goudy Old Style"/>
                <a:cs typeface="Goudy Old Style"/>
              </a:rPr>
              <a:t>is </a:t>
            </a:r>
            <a:r>
              <a:rPr sz="1800" spc="-10" dirty="0">
                <a:solidFill>
                  <a:srgbClr val="FFFFFF"/>
                </a:solidFill>
                <a:latin typeface="Goudy Old Style"/>
                <a:cs typeface="Goudy Old Style"/>
              </a:rPr>
              <a:t>derived from </a:t>
            </a:r>
            <a:r>
              <a:rPr sz="1800" dirty="0">
                <a:solidFill>
                  <a:srgbClr val="FFFFFF"/>
                </a:solidFill>
                <a:latin typeface="Goudy Old Style"/>
                <a:cs typeface="Goudy Old Style"/>
              </a:rPr>
              <a:t>the </a:t>
            </a:r>
            <a:r>
              <a:rPr sz="1800" spc="-10" dirty="0">
                <a:solidFill>
                  <a:srgbClr val="FFFFFF"/>
                </a:solidFill>
                <a:latin typeface="Goudy Old Style"/>
                <a:cs typeface="Goudy Old Style"/>
              </a:rPr>
              <a:t>set </a:t>
            </a:r>
            <a:r>
              <a:rPr sz="1800" spc="5" dirty="0">
                <a:solidFill>
                  <a:srgbClr val="FFFFFF"/>
                </a:solidFill>
                <a:latin typeface="Goudy Old Style"/>
                <a:cs typeface="Goudy Old Style"/>
              </a:rPr>
              <a:t>theory </a:t>
            </a:r>
            <a:r>
              <a:rPr sz="1800" spc="-5" dirty="0">
                <a:solidFill>
                  <a:srgbClr val="FFFFFF"/>
                </a:solidFill>
                <a:latin typeface="Goudy Old Style"/>
                <a:cs typeface="Goudy Old Style"/>
              </a:rPr>
              <a:t>of mathematics. In </a:t>
            </a:r>
            <a:r>
              <a:rPr sz="1800" dirty="0">
                <a:solidFill>
                  <a:srgbClr val="FFFFFF"/>
                </a:solidFill>
                <a:latin typeface="Goudy Old Style"/>
                <a:cs typeface="Goudy Old Style"/>
              </a:rPr>
              <a:t>the </a:t>
            </a:r>
            <a:r>
              <a:rPr sz="1800" spc="-10" dirty="0">
                <a:solidFill>
                  <a:srgbClr val="FFFFFF"/>
                </a:solidFill>
                <a:latin typeface="Goudy Old Style"/>
                <a:cs typeface="Goudy Old Style"/>
              </a:rPr>
              <a:t>Relational  </a:t>
            </a:r>
            <a:r>
              <a:rPr sz="1800" spc="-5" dirty="0">
                <a:solidFill>
                  <a:srgbClr val="FFFFFF"/>
                </a:solidFill>
                <a:latin typeface="Goudy Old Style"/>
                <a:cs typeface="Goudy Old Style"/>
              </a:rPr>
              <a:t>Model, </a:t>
            </a:r>
            <a:r>
              <a:rPr sz="1800" spc="-10" dirty="0">
                <a:solidFill>
                  <a:srgbClr val="FFFFFF"/>
                </a:solidFill>
                <a:latin typeface="Goudy Old Style"/>
                <a:cs typeface="Goudy Old Style"/>
              </a:rPr>
              <a:t>unlike </a:t>
            </a:r>
            <a:r>
              <a:rPr sz="1800" dirty="0">
                <a:solidFill>
                  <a:srgbClr val="FFFFFF"/>
                </a:solidFill>
                <a:latin typeface="Goudy Old Style"/>
                <a:cs typeface="Goudy Old Style"/>
              </a:rPr>
              <a:t>the </a:t>
            </a:r>
            <a:r>
              <a:rPr sz="1800" spc="-10" dirty="0">
                <a:solidFill>
                  <a:srgbClr val="FFFFFF"/>
                </a:solidFill>
                <a:latin typeface="Goudy Old Style"/>
                <a:cs typeface="Goudy Old Style"/>
              </a:rPr>
              <a:t>Hierarchical </a:t>
            </a:r>
            <a:r>
              <a:rPr sz="1800" spc="-5" dirty="0">
                <a:solidFill>
                  <a:srgbClr val="FFFFFF"/>
                </a:solidFill>
                <a:latin typeface="Goudy Old Style"/>
                <a:cs typeface="Goudy Old Style"/>
              </a:rPr>
              <a:t>and </a:t>
            </a:r>
            <a:r>
              <a:rPr sz="1800" spc="-20" dirty="0">
                <a:solidFill>
                  <a:srgbClr val="FFFFFF"/>
                </a:solidFill>
                <a:latin typeface="Goudy Old Style"/>
                <a:cs typeface="Goudy Old Style"/>
              </a:rPr>
              <a:t>Network </a:t>
            </a:r>
            <a:r>
              <a:rPr sz="1800" dirty="0">
                <a:solidFill>
                  <a:srgbClr val="FFFFFF"/>
                </a:solidFill>
                <a:latin typeface="Goudy Old Style"/>
                <a:cs typeface="Goudy Old Style"/>
              </a:rPr>
              <a:t>models, </a:t>
            </a:r>
            <a:r>
              <a:rPr sz="1800" spc="-5" dirty="0">
                <a:solidFill>
                  <a:srgbClr val="FFFFFF"/>
                </a:solidFill>
                <a:latin typeface="Goudy Old Style"/>
                <a:cs typeface="Goudy Old Style"/>
              </a:rPr>
              <a:t>there </a:t>
            </a:r>
            <a:r>
              <a:rPr sz="1800" spc="-10" dirty="0">
                <a:solidFill>
                  <a:srgbClr val="FFFFFF"/>
                </a:solidFill>
                <a:latin typeface="Goudy Old Style"/>
                <a:cs typeface="Goudy Old Style"/>
              </a:rPr>
              <a:t>are </a:t>
            </a:r>
            <a:r>
              <a:rPr sz="1800" spc="-5" dirty="0">
                <a:solidFill>
                  <a:srgbClr val="FFFFFF"/>
                </a:solidFill>
                <a:latin typeface="Goudy Old Style"/>
                <a:cs typeface="Goudy Old Style"/>
              </a:rPr>
              <a:t>no </a:t>
            </a:r>
            <a:r>
              <a:rPr sz="1800" spc="-15" dirty="0">
                <a:solidFill>
                  <a:srgbClr val="FFFFFF"/>
                </a:solidFill>
                <a:latin typeface="Goudy Old Style"/>
                <a:cs typeface="Goudy Old Style"/>
              </a:rPr>
              <a:t>physical</a:t>
            </a:r>
            <a:r>
              <a:rPr sz="1800" spc="40" dirty="0">
                <a:solidFill>
                  <a:srgbClr val="FFFFFF"/>
                </a:solidFill>
                <a:latin typeface="Goudy Old Style"/>
                <a:cs typeface="Goudy Old Style"/>
              </a:rPr>
              <a:t> </a:t>
            </a:r>
            <a:r>
              <a:rPr sz="1800" dirty="0">
                <a:solidFill>
                  <a:srgbClr val="FFFFFF"/>
                </a:solidFill>
                <a:latin typeface="Goudy Old Style"/>
                <a:cs typeface="Goudy Old Style"/>
              </a:rPr>
              <a:t>links.</a:t>
            </a:r>
            <a:endParaRPr sz="1800">
              <a:latin typeface="Goudy Old Style"/>
              <a:cs typeface="Goudy Old Style"/>
            </a:endParaRPr>
          </a:p>
          <a:p>
            <a:pPr>
              <a:lnSpc>
                <a:spcPct val="100000"/>
              </a:lnSpc>
            </a:pPr>
            <a:endParaRPr sz="2000">
              <a:latin typeface="Goudy Old Style"/>
              <a:cs typeface="Goudy Old Style"/>
            </a:endParaRPr>
          </a:p>
          <a:p>
            <a:pPr marL="19050" marR="259715">
              <a:lnSpc>
                <a:spcPts val="1939"/>
              </a:lnSpc>
              <a:spcBef>
                <a:spcPts val="1550"/>
              </a:spcBef>
            </a:pPr>
            <a:r>
              <a:rPr sz="1800" spc="-5" dirty="0">
                <a:solidFill>
                  <a:srgbClr val="FFFFFF"/>
                </a:solidFill>
                <a:latin typeface="Goudy Old Style"/>
                <a:cs typeface="Goudy Old Style"/>
              </a:rPr>
              <a:t>All </a:t>
            </a:r>
            <a:r>
              <a:rPr sz="1800" dirty="0">
                <a:solidFill>
                  <a:srgbClr val="FFFFFF"/>
                </a:solidFill>
                <a:latin typeface="Goudy Old Style"/>
                <a:cs typeface="Goudy Old Style"/>
              </a:rPr>
              <a:t>data </a:t>
            </a:r>
            <a:r>
              <a:rPr sz="1800" spc="-5" dirty="0">
                <a:solidFill>
                  <a:srgbClr val="FFFFFF"/>
                </a:solidFill>
                <a:latin typeface="Goudy Old Style"/>
                <a:cs typeface="Goudy Old Style"/>
              </a:rPr>
              <a:t>is </a:t>
            </a:r>
            <a:r>
              <a:rPr sz="1800" dirty="0">
                <a:solidFill>
                  <a:srgbClr val="FFFFFF"/>
                </a:solidFill>
                <a:latin typeface="Goudy Old Style"/>
                <a:cs typeface="Goudy Old Style"/>
              </a:rPr>
              <a:t>maintained in the </a:t>
            </a:r>
            <a:r>
              <a:rPr sz="1800" spc="-15" dirty="0">
                <a:solidFill>
                  <a:srgbClr val="FFFFFF"/>
                </a:solidFill>
                <a:latin typeface="Goudy Old Style"/>
                <a:cs typeface="Goudy Old Style"/>
              </a:rPr>
              <a:t>form </a:t>
            </a:r>
            <a:r>
              <a:rPr sz="1800" spc="-5" dirty="0">
                <a:solidFill>
                  <a:srgbClr val="FFFFFF"/>
                </a:solidFill>
                <a:latin typeface="Goudy Old Style"/>
                <a:cs typeface="Goudy Old Style"/>
              </a:rPr>
              <a:t>of </a:t>
            </a:r>
            <a:r>
              <a:rPr sz="1800" dirty="0">
                <a:solidFill>
                  <a:srgbClr val="FFFFFF"/>
                </a:solidFill>
                <a:latin typeface="Goudy Old Style"/>
                <a:cs typeface="Goudy Old Style"/>
              </a:rPr>
              <a:t>tables </a:t>
            </a:r>
            <a:r>
              <a:rPr sz="1800" spc="-5" dirty="0">
                <a:solidFill>
                  <a:srgbClr val="FFFFFF"/>
                </a:solidFill>
                <a:latin typeface="Goudy Old Style"/>
                <a:cs typeface="Goudy Old Style"/>
              </a:rPr>
              <a:t>consisting of </a:t>
            </a:r>
            <a:r>
              <a:rPr sz="1800" spc="-15" dirty="0">
                <a:solidFill>
                  <a:srgbClr val="FFFFFF"/>
                </a:solidFill>
                <a:latin typeface="Goudy Old Style"/>
                <a:cs typeface="Goudy Old Style"/>
              </a:rPr>
              <a:t>rows </a:t>
            </a:r>
            <a:r>
              <a:rPr sz="1800" spc="-5" dirty="0">
                <a:solidFill>
                  <a:srgbClr val="FFFFFF"/>
                </a:solidFill>
                <a:latin typeface="Goudy Old Style"/>
                <a:cs typeface="Goudy Old Style"/>
              </a:rPr>
              <a:t>and </a:t>
            </a:r>
            <a:r>
              <a:rPr sz="1800" dirty="0">
                <a:solidFill>
                  <a:srgbClr val="FFFFFF"/>
                </a:solidFill>
                <a:latin typeface="Goudy Old Style"/>
                <a:cs typeface="Goudy Old Style"/>
              </a:rPr>
              <a:t>columns. </a:t>
            </a:r>
            <a:r>
              <a:rPr sz="1800" spc="5" dirty="0">
                <a:solidFill>
                  <a:srgbClr val="FFFFFF"/>
                </a:solidFill>
                <a:latin typeface="Goudy Old Style"/>
                <a:cs typeface="Goudy Old Style"/>
              </a:rPr>
              <a:t>Data </a:t>
            </a:r>
            <a:r>
              <a:rPr sz="1800" dirty="0">
                <a:solidFill>
                  <a:srgbClr val="FFFFFF"/>
                </a:solidFill>
                <a:latin typeface="Goudy Old Style"/>
                <a:cs typeface="Goudy Old Style"/>
              </a:rPr>
              <a:t>in  </a:t>
            </a:r>
            <a:r>
              <a:rPr sz="1800" spc="-10" dirty="0">
                <a:solidFill>
                  <a:srgbClr val="FFFFFF"/>
                </a:solidFill>
                <a:latin typeface="Goudy Old Style"/>
                <a:cs typeface="Goudy Old Style"/>
              </a:rPr>
              <a:t>two </a:t>
            </a:r>
            <a:r>
              <a:rPr sz="1800" dirty="0">
                <a:solidFill>
                  <a:srgbClr val="FFFFFF"/>
                </a:solidFill>
                <a:latin typeface="Goudy Old Style"/>
                <a:cs typeface="Goudy Old Style"/>
              </a:rPr>
              <a:t>tables is </a:t>
            </a:r>
            <a:r>
              <a:rPr sz="1800" spc="-10" dirty="0">
                <a:solidFill>
                  <a:srgbClr val="FFFFFF"/>
                </a:solidFill>
                <a:latin typeface="Goudy Old Style"/>
                <a:cs typeface="Goudy Old Style"/>
              </a:rPr>
              <a:t>related through </a:t>
            </a:r>
            <a:r>
              <a:rPr sz="1800" dirty="0">
                <a:solidFill>
                  <a:srgbClr val="FFFFFF"/>
                </a:solidFill>
                <a:latin typeface="Goudy Old Style"/>
                <a:cs typeface="Goudy Old Style"/>
              </a:rPr>
              <a:t>common columns </a:t>
            </a:r>
            <a:r>
              <a:rPr sz="1800" spc="-5" dirty="0">
                <a:solidFill>
                  <a:srgbClr val="FFFFFF"/>
                </a:solidFill>
                <a:latin typeface="Goudy Old Style"/>
                <a:cs typeface="Goudy Old Style"/>
              </a:rPr>
              <a:t>and </a:t>
            </a:r>
            <a:r>
              <a:rPr sz="1800" spc="-10" dirty="0">
                <a:solidFill>
                  <a:srgbClr val="FFFFFF"/>
                </a:solidFill>
                <a:latin typeface="Goudy Old Style"/>
                <a:cs typeface="Goudy Old Style"/>
              </a:rPr>
              <a:t>not </a:t>
            </a:r>
            <a:r>
              <a:rPr sz="1800" spc="-15" dirty="0">
                <a:solidFill>
                  <a:srgbClr val="FFFFFF"/>
                </a:solidFill>
                <a:latin typeface="Goudy Old Style"/>
                <a:cs typeface="Goudy Old Style"/>
              </a:rPr>
              <a:t>physical</a:t>
            </a:r>
            <a:r>
              <a:rPr sz="1800" spc="-5" dirty="0">
                <a:solidFill>
                  <a:srgbClr val="FFFFFF"/>
                </a:solidFill>
                <a:latin typeface="Goudy Old Style"/>
                <a:cs typeface="Goudy Old Style"/>
              </a:rPr>
              <a:t> </a:t>
            </a:r>
            <a:r>
              <a:rPr sz="1800" dirty="0">
                <a:solidFill>
                  <a:srgbClr val="FFFFFF"/>
                </a:solidFill>
                <a:latin typeface="Goudy Old Style"/>
                <a:cs typeface="Goudy Old Style"/>
              </a:rPr>
              <a:t>links.</a:t>
            </a:r>
            <a:endParaRPr sz="1800">
              <a:latin typeface="Goudy Old Style"/>
              <a:cs typeface="Goudy Old Style"/>
            </a:endParaRPr>
          </a:p>
          <a:p>
            <a:pPr>
              <a:lnSpc>
                <a:spcPct val="100000"/>
              </a:lnSpc>
              <a:spcBef>
                <a:spcPts val="50"/>
              </a:spcBef>
            </a:pPr>
            <a:endParaRPr sz="2700">
              <a:latin typeface="Goudy Old Style"/>
              <a:cs typeface="Goudy Old Style"/>
            </a:endParaRPr>
          </a:p>
          <a:p>
            <a:pPr marL="12700" marR="478155">
              <a:lnSpc>
                <a:spcPts val="1939"/>
              </a:lnSpc>
            </a:pPr>
            <a:r>
              <a:rPr sz="1800" dirty="0">
                <a:solidFill>
                  <a:srgbClr val="FFFFFF"/>
                </a:solidFill>
                <a:latin typeface="Goudy Old Style"/>
                <a:cs typeface="Goudy Old Style"/>
              </a:rPr>
              <a:t>Operators </a:t>
            </a:r>
            <a:r>
              <a:rPr sz="1800" spc="-10" dirty="0">
                <a:solidFill>
                  <a:srgbClr val="FFFFFF"/>
                </a:solidFill>
                <a:latin typeface="Goudy Old Style"/>
                <a:cs typeface="Goudy Old Style"/>
              </a:rPr>
              <a:t>are provided </a:t>
            </a:r>
            <a:r>
              <a:rPr sz="1800" spc="-20" dirty="0">
                <a:solidFill>
                  <a:srgbClr val="FFFFFF"/>
                </a:solidFill>
                <a:latin typeface="Goudy Old Style"/>
                <a:cs typeface="Goudy Old Style"/>
              </a:rPr>
              <a:t>for </a:t>
            </a:r>
            <a:r>
              <a:rPr sz="1800" spc="-5" dirty="0">
                <a:solidFill>
                  <a:srgbClr val="FFFFFF"/>
                </a:solidFill>
                <a:latin typeface="Goudy Old Style"/>
                <a:cs typeface="Goudy Old Style"/>
              </a:rPr>
              <a:t>operating on </a:t>
            </a:r>
            <a:r>
              <a:rPr sz="1800" spc="-15" dirty="0">
                <a:solidFill>
                  <a:srgbClr val="FFFFFF"/>
                </a:solidFill>
                <a:latin typeface="Goudy Old Style"/>
                <a:cs typeface="Goudy Old Style"/>
              </a:rPr>
              <a:t>rows </a:t>
            </a:r>
            <a:r>
              <a:rPr sz="1800" dirty="0">
                <a:solidFill>
                  <a:srgbClr val="FFFFFF"/>
                </a:solidFill>
                <a:latin typeface="Goudy Old Style"/>
                <a:cs typeface="Goudy Old Style"/>
              </a:rPr>
              <a:t>in tables. </a:t>
            </a:r>
            <a:r>
              <a:rPr sz="1800" spc="-5" dirty="0">
                <a:solidFill>
                  <a:srgbClr val="FFFFFF"/>
                </a:solidFill>
                <a:latin typeface="Goudy Old Style"/>
                <a:cs typeface="Goudy Old Style"/>
              </a:rPr>
              <a:t>This </a:t>
            </a:r>
            <a:r>
              <a:rPr sz="1800" dirty="0">
                <a:solidFill>
                  <a:srgbClr val="FFFFFF"/>
                </a:solidFill>
                <a:latin typeface="Goudy Old Style"/>
                <a:cs typeface="Goudy Old Style"/>
              </a:rPr>
              <a:t>model </a:t>
            </a:r>
            <a:r>
              <a:rPr sz="1800" spc="-10" dirty="0">
                <a:solidFill>
                  <a:srgbClr val="FFFFFF"/>
                </a:solidFill>
                <a:latin typeface="Goudy Old Style"/>
                <a:cs typeface="Goudy Old Style"/>
              </a:rPr>
              <a:t>represents </a:t>
            </a:r>
            <a:r>
              <a:rPr sz="1800" dirty="0">
                <a:solidFill>
                  <a:srgbClr val="FFFFFF"/>
                </a:solidFill>
                <a:latin typeface="Goudy Old Style"/>
                <a:cs typeface="Goudy Old Style"/>
              </a:rPr>
              <a:t>the  </a:t>
            </a:r>
            <a:r>
              <a:rPr sz="1800" spc="-5" dirty="0">
                <a:solidFill>
                  <a:srgbClr val="FFFFFF"/>
                </a:solidFill>
                <a:latin typeface="Goudy Old Style"/>
                <a:cs typeface="Goudy Old Style"/>
              </a:rPr>
              <a:t>database as </a:t>
            </a:r>
            <a:r>
              <a:rPr sz="1800" dirty="0">
                <a:solidFill>
                  <a:srgbClr val="FFFFFF"/>
                </a:solidFill>
                <a:latin typeface="Goudy Old Style"/>
                <a:cs typeface="Goudy Old Style"/>
              </a:rPr>
              <a:t>a </a:t>
            </a:r>
            <a:r>
              <a:rPr sz="1800" spc="-5" dirty="0">
                <a:solidFill>
                  <a:srgbClr val="FFFFFF"/>
                </a:solidFill>
                <a:latin typeface="Goudy Old Style"/>
                <a:cs typeface="Goudy Old Style"/>
              </a:rPr>
              <a:t>collection of</a:t>
            </a:r>
            <a:r>
              <a:rPr sz="1800" spc="-20" dirty="0">
                <a:solidFill>
                  <a:srgbClr val="FFFFFF"/>
                </a:solidFill>
                <a:latin typeface="Goudy Old Style"/>
                <a:cs typeface="Goudy Old Style"/>
              </a:rPr>
              <a:t> </a:t>
            </a:r>
            <a:r>
              <a:rPr sz="1800" spc="-10" dirty="0">
                <a:solidFill>
                  <a:srgbClr val="FFFFFF"/>
                </a:solidFill>
                <a:latin typeface="Goudy Old Style"/>
                <a:cs typeface="Goudy Old Style"/>
              </a:rPr>
              <a:t>relations.</a:t>
            </a:r>
            <a:endParaRPr sz="1800">
              <a:latin typeface="Goudy Old Style"/>
              <a:cs typeface="Goudy Old Style"/>
            </a:endParaRPr>
          </a:p>
        </p:txBody>
      </p:sp>
      <p:sp>
        <p:nvSpPr>
          <p:cNvPr id="11" name="object 11"/>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24</a:t>
            </a:fld>
            <a:endParaRPr sz="1200"/>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5328285" cy="635635"/>
          </a:xfrm>
          <a:prstGeom prst="rect">
            <a:avLst/>
          </a:prstGeom>
        </p:spPr>
        <p:txBody>
          <a:bodyPr vert="horz" wrap="square" lIns="0" tIns="12700" rIns="0" bIns="0" rtlCol="0">
            <a:spAutoFit/>
          </a:bodyPr>
          <a:lstStyle/>
          <a:p>
            <a:pPr marL="12700">
              <a:lnSpc>
                <a:spcPct val="100000"/>
              </a:lnSpc>
              <a:spcBef>
                <a:spcPts val="100"/>
              </a:spcBef>
            </a:pPr>
            <a:r>
              <a:rPr sz="4000" b="0" spc="-10" dirty="0">
                <a:latin typeface="Goudy Old Style"/>
                <a:cs typeface="Goudy Old Style"/>
              </a:rPr>
              <a:t>Relational </a:t>
            </a:r>
            <a:r>
              <a:rPr sz="4000" b="0" spc="10" dirty="0">
                <a:latin typeface="Goudy Old Style"/>
                <a:cs typeface="Goudy Old Style"/>
              </a:rPr>
              <a:t>Data </a:t>
            </a:r>
            <a:r>
              <a:rPr sz="4000" b="0" spc="-5" dirty="0">
                <a:latin typeface="Goudy Old Style"/>
                <a:cs typeface="Goudy Old Style"/>
              </a:rPr>
              <a:t>Model</a:t>
            </a:r>
            <a:r>
              <a:rPr sz="4000" b="0" spc="-100" dirty="0">
                <a:latin typeface="Goudy Old Style"/>
                <a:cs typeface="Goudy Old Style"/>
              </a:rPr>
              <a:t> </a:t>
            </a:r>
            <a:r>
              <a:rPr sz="4000" b="0" spc="10" dirty="0">
                <a:latin typeface="Goudy Old Style"/>
                <a:cs typeface="Goudy Old Style"/>
              </a:rPr>
              <a:t>2-5</a:t>
            </a:r>
            <a:endParaRPr sz="4000">
              <a:latin typeface="Goudy Old Style"/>
              <a:cs typeface="Goudy Old Style"/>
            </a:endParaRPr>
          </a:p>
        </p:txBody>
      </p:sp>
      <p:pic>
        <p:nvPicPr>
          <p:cNvPr id="3" name="object 3"/>
          <p:cNvPicPr/>
          <p:nvPr/>
        </p:nvPicPr>
        <p:blipFill>
          <a:blip r:embed="rId3" cstate="print"/>
          <a:stretch>
            <a:fillRect/>
          </a:stretch>
        </p:blipFill>
        <p:spPr>
          <a:xfrm>
            <a:off x="339090" y="3714737"/>
            <a:ext cx="8234933" cy="919746"/>
          </a:xfrm>
          <a:prstGeom prst="rect">
            <a:avLst/>
          </a:prstGeom>
        </p:spPr>
      </p:pic>
      <p:grpSp>
        <p:nvGrpSpPr>
          <p:cNvPr id="4" name="object 4"/>
          <p:cNvGrpSpPr/>
          <p:nvPr/>
        </p:nvGrpSpPr>
        <p:grpSpPr>
          <a:xfrm>
            <a:off x="339090" y="1047737"/>
            <a:ext cx="8235315" cy="1682114"/>
            <a:chOff x="339090" y="1047737"/>
            <a:chExt cx="8235315" cy="1682114"/>
          </a:xfrm>
        </p:grpSpPr>
        <p:pic>
          <p:nvPicPr>
            <p:cNvPr id="5" name="object 5"/>
            <p:cNvPicPr/>
            <p:nvPr/>
          </p:nvPicPr>
          <p:blipFill>
            <a:blip r:embed="rId4" cstate="print"/>
            <a:stretch>
              <a:fillRect/>
            </a:stretch>
          </p:blipFill>
          <p:spPr>
            <a:xfrm>
              <a:off x="339090" y="1047737"/>
              <a:ext cx="8234933" cy="843546"/>
            </a:xfrm>
            <a:prstGeom prst="rect">
              <a:avLst/>
            </a:prstGeom>
          </p:spPr>
        </p:pic>
        <p:pic>
          <p:nvPicPr>
            <p:cNvPr id="6" name="object 6"/>
            <p:cNvPicPr/>
            <p:nvPr/>
          </p:nvPicPr>
          <p:blipFill>
            <a:blip r:embed="rId5" cstate="print"/>
            <a:stretch>
              <a:fillRect/>
            </a:stretch>
          </p:blipFill>
          <p:spPr>
            <a:xfrm>
              <a:off x="339090" y="1885937"/>
              <a:ext cx="8234933" cy="843546"/>
            </a:xfrm>
            <a:prstGeom prst="rect">
              <a:avLst/>
            </a:prstGeom>
          </p:spPr>
        </p:pic>
      </p:grpSp>
      <p:pic>
        <p:nvPicPr>
          <p:cNvPr id="7" name="object 7"/>
          <p:cNvPicPr/>
          <p:nvPr/>
        </p:nvPicPr>
        <p:blipFill>
          <a:blip r:embed="rId6" cstate="print"/>
          <a:stretch>
            <a:fillRect/>
          </a:stretch>
        </p:blipFill>
        <p:spPr>
          <a:xfrm>
            <a:off x="339090" y="2800337"/>
            <a:ext cx="8234933" cy="843546"/>
          </a:xfrm>
          <a:prstGeom prst="rect">
            <a:avLst/>
          </a:prstGeom>
        </p:spPr>
      </p:pic>
      <p:sp>
        <p:nvSpPr>
          <p:cNvPr id="8" name="object 8"/>
          <p:cNvSpPr txBox="1"/>
          <p:nvPr/>
        </p:nvSpPr>
        <p:spPr>
          <a:xfrm>
            <a:off x="514095" y="1271523"/>
            <a:ext cx="7161530" cy="20523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FFFF"/>
                </a:solidFill>
                <a:latin typeface="Goudy Old Style"/>
                <a:cs typeface="Goudy Old Style"/>
              </a:rPr>
              <a:t>A </a:t>
            </a:r>
            <a:r>
              <a:rPr sz="1800" spc="-20" dirty="0">
                <a:solidFill>
                  <a:srgbClr val="FFFFFF"/>
                </a:solidFill>
                <a:latin typeface="Goudy Old Style"/>
                <a:cs typeface="Goudy Old Style"/>
              </a:rPr>
              <a:t>row </a:t>
            </a:r>
            <a:r>
              <a:rPr sz="1800" dirty="0">
                <a:solidFill>
                  <a:srgbClr val="FFFFFF"/>
                </a:solidFill>
                <a:latin typeface="Goudy Old Style"/>
                <a:cs typeface="Goudy Old Style"/>
              </a:rPr>
              <a:t>is called a tuple, a column, </a:t>
            </a:r>
            <a:r>
              <a:rPr sz="1800" spc="-5" dirty="0">
                <a:solidFill>
                  <a:srgbClr val="FFFFFF"/>
                </a:solidFill>
                <a:latin typeface="Goudy Old Style"/>
                <a:cs typeface="Goudy Old Style"/>
              </a:rPr>
              <a:t>an attribute, and </a:t>
            </a:r>
            <a:r>
              <a:rPr sz="1800" dirty="0">
                <a:solidFill>
                  <a:srgbClr val="FFFFFF"/>
                </a:solidFill>
                <a:latin typeface="Goudy Old Style"/>
                <a:cs typeface="Goudy Old Style"/>
              </a:rPr>
              <a:t>the table is called a</a:t>
            </a:r>
            <a:r>
              <a:rPr sz="1800" spc="-60" dirty="0">
                <a:solidFill>
                  <a:srgbClr val="FFFFFF"/>
                </a:solidFill>
                <a:latin typeface="Goudy Old Style"/>
                <a:cs typeface="Goudy Old Style"/>
              </a:rPr>
              <a:t> </a:t>
            </a:r>
            <a:r>
              <a:rPr sz="1800" spc="-10" dirty="0">
                <a:solidFill>
                  <a:srgbClr val="FFFFFF"/>
                </a:solidFill>
                <a:latin typeface="Goudy Old Style"/>
                <a:cs typeface="Goudy Old Style"/>
              </a:rPr>
              <a:t>relation.</a:t>
            </a:r>
            <a:endParaRPr sz="1800">
              <a:latin typeface="Goudy Old Style"/>
              <a:cs typeface="Goudy Old Style"/>
            </a:endParaRPr>
          </a:p>
          <a:p>
            <a:pPr marL="17780" marR="1285240" indent="1270">
              <a:lnSpc>
                <a:spcPts val="7180"/>
              </a:lnSpc>
              <a:spcBef>
                <a:spcPts val="315"/>
              </a:spcBef>
            </a:pPr>
            <a:r>
              <a:rPr sz="1800" spc="-5" dirty="0">
                <a:solidFill>
                  <a:srgbClr val="FFFFFF"/>
                </a:solidFill>
                <a:latin typeface="Goudy Old Style"/>
                <a:cs typeface="Goudy Old Style"/>
              </a:rPr>
              <a:t>The list of </a:t>
            </a:r>
            <a:r>
              <a:rPr sz="1800" dirty="0">
                <a:solidFill>
                  <a:srgbClr val="FFFFFF"/>
                </a:solidFill>
                <a:latin typeface="Goudy Old Style"/>
                <a:cs typeface="Goudy Old Style"/>
              </a:rPr>
              <a:t>values </a:t>
            </a:r>
            <a:r>
              <a:rPr sz="1800" spc="-5" dirty="0">
                <a:solidFill>
                  <a:srgbClr val="FFFFFF"/>
                </a:solidFill>
                <a:latin typeface="Goudy Old Style"/>
                <a:cs typeface="Goudy Old Style"/>
              </a:rPr>
              <a:t>applicable </a:t>
            </a:r>
            <a:r>
              <a:rPr sz="1800" spc="-10" dirty="0">
                <a:solidFill>
                  <a:srgbClr val="FFFFFF"/>
                </a:solidFill>
                <a:latin typeface="Goudy Old Style"/>
                <a:cs typeface="Goudy Old Style"/>
              </a:rPr>
              <a:t>to </a:t>
            </a:r>
            <a:r>
              <a:rPr sz="1800" dirty="0">
                <a:solidFill>
                  <a:srgbClr val="FFFFFF"/>
                </a:solidFill>
                <a:latin typeface="Goudy Old Style"/>
                <a:cs typeface="Goudy Old Style"/>
              </a:rPr>
              <a:t>a particular field is called </a:t>
            </a:r>
            <a:r>
              <a:rPr sz="1800" spc="-5" dirty="0">
                <a:solidFill>
                  <a:srgbClr val="FFFFFF"/>
                </a:solidFill>
                <a:latin typeface="Goudy Old Style"/>
                <a:cs typeface="Goudy Old Style"/>
              </a:rPr>
              <a:t>domain.  </a:t>
            </a:r>
            <a:r>
              <a:rPr sz="1800" spc="-10" dirty="0">
                <a:solidFill>
                  <a:srgbClr val="FFFFFF"/>
                </a:solidFill>
                <a:latin typeface="Goudy Old Style"/>
                <a:cs typeface="Goudy Old Style"/>
              </a:rPr>
              <a:t>Several </a:t>
            </a:r>
            <a:r>
              <a:rPr sz="1800" spc="-5" dirty="0">
                <a:solidFill>
                  <a:srgbClr val="FFFFFF"/>
                </a:solidFill>
                <a:latin typeface="Goudy Old Style"/>
                <a:cs typeface="Goudy Old Style"/>
              </a:rPr>
              <a:t>attributes </a:t>
            </a:r>
            <a:r>
              <a:rPr sz="1800" dirty="0">
                <a:solidFill>
                  <a:srgbClr val="FFFFFF"/>
                </a:solidFill>
                <a:latin typeface="Goudy Old Style"/>
                <a:cs typeface="Goudy Old Style"/>
              </a:rPr>
              <a:t>can belong </a:t>
            </a:r>
            <a:r>
              <a:rPr sz="1800" spc="-5" dirty="0">
                <a:solidFill>
                  <a:srgbClr val="FFFFFF"/>
                </a:solidFill>
                <a:latin typeface="Goudy Old Style"/>
                <a:cs typeface="Goudy Old Style"/>
              </a:rPr>
              <a:t>to </a:t>
            </a:r>
            <a:r>
              <a:rPr sz="1800" dirty="0">
                <a:solidFill>
                  <a:srgbClr val="FFFFFF"/>
                </a:solidFill>
                <a:latin typeface="Goudy Old Style"/>
                <a:cs typeface="Goudy Old Style"/>
              </a:rPr>
              <a:t>the same</a:t>
            </a:r>
            <a:r>
              <a:rPr sz="1800" spc="-65" dirty="0">
                <a:solidFill>
                  <a:srgbClr val="FFFFFF"/>
                </a:solidFill>
                <a:latin typeface="Goudy Old Style"/>
                <a:cs typeface="Goudy Old Style"/>
              </a:rPr>
              <a:t> </a:t>
            </a:r>
            <a:r>
              <a:rPr sz="1800" spc="-5" dirty="0">
                <a:solidFill>
                  <a:srgbClr val="FFFFFF"/>
                </a:solidFill>
                <a:latin typeface="Goudy Old Style"/>
                <a:cs typeface="Goudy Old Style"/>
              </a:rPr>
              <a:t>domain.</a:t>
            </a:r>
            <a:endParaRPr sz="1800">
              <a:latin typeface="Goudy Old Style"/>
              <a:cs typeface="Goudy Old Style"/>
            </a:endParaRPr>
          </a:p>
        </p:txBody>
      </p:sp>
      <p:pic>
        <p:nvPicPr>
          <p:cNvPr id="9" name="object 9"/>
          <p:cNvPicPr/>
          <p:nvPr/>
        </p:nvPicPr>
        <p:blipFill>
          <a:blip r:embed="rId4" cstate="print"/>
          <a:stretch>
            <a:fillRect/>
          </a:stretch>
        </p:blipFill>
        <p:spPr>
          <a:xfrm>
            <a:off x="339090" y="4705337"/>
            <a:ext cx="8234933" cy="843546"/>
          </a:xfrm>
          <a:prstGeom prst="rect">
            <a:avLst/>
          </a:prstGeom>
        </p:spPr>
      </p:pic>
      <p:sp>
        <p:nvSpPr>
          <p:cNvPr id="10" name="object 10"/>
          <p:cNvSpPr txBox="1"/>
          <p:nvPr/>
        </p:nvSpPr>
        <p:spPr>
          <a:xfrm>
            <a:off x="514095" y="4018279"/>
            <a:ext cx="6250940" cy="1210945"/>
          </a:xfrm>
          <a:prstGeom prst="rect">
            <a:avLst/>
          </a:prstGeom>
        </p:spPr>
        <p:txBody>
          <a:bodyPr vert="horz" wrap="square" lIns="0" tIns="12700" rIns="0" bIns="0" rtlCol="0">
            <a:spAutoFit/>
          </a:bodyPr>
          <a:lstStyle/>
          <a:p>
            <a:pPr marL="19050">
              <a:lnSpc>
                <a:spcPct val="100000"/>
              </a:lnSpc>
              <a:spcBef>
                <a:spcPts val="100"/>
              </a:spcBef>
            </a:pPr>
            <a:r>
              <a:rPr sz="1800" spc="-5" dirty="0">
                <a:solidFill>
                  <a:srgbClr val="FFFFFF"/>
                </a:solidFill>
                <a:latin typeface="Goudy Old Style"/>
                <a:cs typeface="Goudy Old Style"/>
              </a:rPr>
              <a:t>The number of attributes of </a:t>
            </a:r>
            <a:r>
              <a:rPr sz="1800" dirty="0">
                <a:solidFill>
                  <a:srgbClr val="FFFFFF"/>
                </a:solidFill>
                <a:latin typeface="Goudy Old Style"/>
                <a:cs typeface="Goudy Old Style"/>
              </a:rPr>
              <a:t>a </a:t>
            </a:r>
            <a:r>
              <a:rPr sz="1800" spc="-10" dirty="0">
                <a:solidFill>
                  <a:srgbClr val="FFFFFF"/>
                </a:solidFill>
                <a:latin typeface="Goudy Old Style"/>
                <a:cs typeface="Goudy Old Style"/>
              </a:rPr>
              <a:t>relation </a:t>
            </a:r>
            <a:r>
              <a:rPr sz="1800" dirty="0">
                <a:solidFill>
                  <a:srgbClr val="FFFFFF"/>
                </a:solidFill>
                <a:latin typeface="Goudy Old Style"/>
                <a:cs typeface="Goudy Old Style"/>
              </a:rPr>
              <a:t>is called </a:t>
            </a:r>
            <a:r>
              <a:rPr sz="1800" spc="-10" dirty="0">
                <a:solidFill>
                  <a:srgbClr val="FFFFFF"/>
                </a:solidFill>
                <a:latin typeface="Goudy Old Style"/>
                <a:cs typeface="Goudy Old Style"/>
              </a:rPr>
              <a:t>degree </a:t>
            </a:r>
            <a:r>
              <a:rPr sz="1800" spc="-5" dirty="0">
                <a:solidFill>
                  <a:srgbClr val="FFFFFF"/>
                </a:solidFill>
                <a:latin typeface="Goudy Old Style"/>
                <a:cs typeface="Goudy Old Style"/>
              </a:rPr>
              <a:t>of </a:t>
            </a:r>
            <a:r>
              <a:rPr sz="1800" dirty="0">
                <a:solidFill>
                  <a:srgbClr val="FFFFFF"/>
                </a:solidFill>
                <a:latin typeface="Goudy Old Style"/>
                <a:cs typeface="Goudy Old Style"/>
              </a:rPr>
              <a:t>the</a:t>
            </a:r>
            <a:r>
              <a:rPr sz="1800" spc="-45" dirty="0">
                <a:solidFill>
                  <a:srgbClr val="FFFFFF"/>
                </a:solidFill>
                <a:latin typeface="Goudy Old Style"/>
                <a:cs typeface="Goudy Old Style"/>
              </a:rPr>
              <a:t> </a:t>
            </a:r>
            <a:r>
              <a:rPr sz="1800" spc="-10" dirty="0">
                <a:solidFill>
                  <a:srgbClr val="FFFFFF"/>
                </a:solidFill>
                <a:latin typeface="Goudy Old Style"/>
                <a:cs typeface="Goudy Old Style"/>
              </a:rPr>
              <a:t>relation.</a:t>
            </a:r>
            <a:endParaRPr sz="1800">
              <a:latin typeface="Goudy Old Style"/>
              <a:cs typeface="Goudy Old Style"/>
            </a:endParaRPr>
          </a:p>
          <a:p>
            <a:pPr>
              <a:lnSpc>
                <a:spcPct val="100000"/>
              </a:lnSpc>
            </a:pPr>
            <a:endParaRPr sz="2000">
              <a:latin typeface="Goudy Old Style"/>
              <a:cs typeface="Goudy Old Style"/>
            </a:endParaRPr>
          </a:p>
          <a:p>
            <a:pPr>
              <a:lnSpc>
                <a:spcPct val="100000"/>
              </a:lnSpc>
              <a:spcBef>
                <a:spcPts val="30"/>
              </a:spcBef>
            </a:pPr>
            <a:endParaRPr sz="2150">
              <a:latin typeface="Goudy Old Style"/>
              <a:cs typeface="Goudy Old Style"/>
            </a:endParaRPr>
          </a:p>
          <a:p>
            <a:pPr marL="12700">
              <a:lnSpc>
                <a:spcPct val="100000"/>
              </a:lnSpc>
            </a:pPr>
            <a:r>
              <a:rPr sz="1800" dirty="0">
                <a:solidFill>
                  <a:srgbClr val="FFFFFF"/>
                </a:solidFill>
                <a:latin typeface="Goudy Old Style"/>
                <a:cs typeface="Goudy Old Style"/>
              </a:rPr>
              <a:t>The </a:t>
            </a:r>
            <a:r>
              <a:rPr sz="1800" spc="-5" dirty="0">
                <a:solidFill>
                  <a:srgbClr val="FFFFFF"/>
                </a:solidFill>
                <a:latin typeface="Goudy Old Style"/>
                <a:cs typeface="Goudy Old Style"/>
              </a:rPr>
              <a:t>number of </a:t>
            </a:r>
            <a:r>
              <a:rPr sz="1800" dirty="0">
                <a:solidFill>
                  <a:srgbClr val="FFFFFF"/>
                </a:solidFill>
                <a:latin typeface="Goudy Old Style"/>
                <a:cs typeface="Goudy Old Style"/>
              </a:rPr>
              <a:t>tuples </a:t>
            </a:r>
            <a:r>
              <a:rPr sz="1800" spc="-10" dirty="0">
                <a:solidFill>
                  <a:srgbClr val="FFFFFF"/>
                </a:solidFill>
                <a:latin typeface="Goudy Old Style"/>
                <a:cs typeface="Goudy Old Style"/>
              </a:rPr>
              <a:t>determines </a:t>
            </a:r>
            <a:r>
              <a:rPr sz="1800" dirty="0">
                <a:solidFill>
                  <a:srgbClr val="FFFFFF"/>
                </a:solidFill>
                <a:latin typeface="Goudy Old Style"/>
                <a:cs typeface="Goudy Old Style"/>
              </a:rPr>
              <a:t>the </a:t>
            </a:r>
            <a:r>
              <a:rPr sz="1800" spc="-10" dirty="0">
                <a:solidFill>
                  <a:srgbClr val="FFFFFF"/>
                </a:solidFill>
                <a:latin typeface="Goudy Old Style"/>
                <a:cs typeface="Goudy Old Style"/>
              </a:rPr>
              <a:t>cardinality </a:t>
            </a:r>
            <a:r>
              <a:rPr sz="1800" spc="-5" dirty="0">
                <a:solidFill>
                  <a:srgbClr val="FFFFFF"/>
                </a:solidFill>
                <a:latin typeface="Goudy Old Style"/>
                <a:cs typeface="Goudy Old Style"/>
              </a:rPr>
              <a:t>of </a:t>
            </a:r>
            <a:r>
              <a:rPr sz="1800" dirty="0">
                <a:solidFill>
                  <a:srgbClr val="FFFFFF"/>
                </a:solidFill>
                <a:latin typeface="Goudy Old Style"/>
                <a:cs typeface="Goudy Old Style"/>
              </a:rPr>
              <a:t>the</a:t>
            </a:r>
            <a:r>
              <a:rPr sz="1800" spc="-5" dirty="0">
                <a:solidFill>
                  <a:srgbClr val="FFFFFF"/>
                </a:solidFill>
                <a:latin typeface="Goudy Old Style"/>
                <a:cs typeface="Goudy Old Style"/>
              </a:rPr>
              <a:t> </a:t>
            </a:r>
            <a:r>
              <a:rPr sz="1800" spc="-10" dirty="0">
                <a:solidFill>
                  <a:srgbClr val="FFFFFF"/>
                </a:solidFill>
                <a:latin typeface="Goudy Old Style"/>
                <a:cs typeface="Goudy Old Style"/>
              </a:rPr>
              <a:t>relation.</a:t>
            </a:r>
            <a:endParaRPr sz="1800">
              <a:latin typeface="Goudy Old Style"/>
              <a:cs typeface="Goudy Old Style"/>
            </a:endParaRPr>
          </a:p>
        </p:txBody>
      </p:sp>
      <p:sp>
        <p:nvSpPr>
          <p:cNvPr id="12" name="object 12"/>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25</a:t>
            </a:fld>
            <a:endParaRPr sz="1200"/>
          </a:p>
        </p:txBody>
      </p:sp>
      <p:sp>
        <p:nvSpPr>
          <p:cNvPr id="13" name="object 13"/>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5328285" cy="635635"/>
          </a:xfrm>
          <a:prstGeom prst="rect">
            <a:avLst/>
          </a:prstGeom>
        </p:spPr>
        <p:txBody>
          <a:bodyPr vert="horz" wrap="square" lIns="0" tIns="12700" rIns="0" bIns="0" rtlCol="0">
            <a:spAutoFit/>
          </a:bodyPr>
          <a:lstStyle/>
          <a:p>
            <a:pPr marL="12700">
              <a:lnSpc>
                <a:spcPct val="100000"/>
              </a:lnSpc>
              <a:spcBef>
                <a:spcPts val="100"/>
              </a:spcBef>
            </a:pPr>
            <a:r>
              <a:rPr sz="4000" b="0" spc="-10" dirty="0">
                <a:latin typeface="Goudy Old Style"/>
                <a:cs typeface="Goudy Old Style"/>
              </a:rPr>
              <a:t>Relational </a:t>
            </a:r>
            <a:r>
              <a:rPr sz="4000" b="0" spc="10" dirty="0">
                <a:latin typeface="Goudy Old Style"/>
                <a:cs typeface="Goudy Old Style"/>
              </a:rPr>
              <a:t>Data </a:t>
            </a:r>
            <a:r>
              <a:rPr sz="4000" b="0" spc="-5" dirty="0">
                <a:latin typeface="Goudy Old Style"/>
                <a:cs typeface="Goudy Old Style"/>
              </a:rPr>
              <a:t>Model</a:t>
            </a:r>
            <a:r>
              <a:rPr sz="4000" b="0" spc="-100" dirty="0">
                <a:latin typeface="Goudy Old Style"/>
                <a:cs typeface="Goudy Old Style"/>
              </a:rPr>
              <a:t> </a:t>
            </a:r>
            <a:r>
              <a:rPr sz="4000" b="0" spc="10" dirty="0">
                <a:latin typeface="Goudy Old Style"/>
                <a:cs typeface="Goudy Old Style"/>
              </a:rPr>
              <a:t>3-5</a:t>
            </a:r>
            <a:endParaRPr sz="4000">
              <a:latin typeface="Goudy Old Style"/>
              <a:cs typeface="Goudy Old Style"/>
            </a:endParaRPr>
          </a:p>
        </p:txBody>
      </p:sp>
      <p:sp>
        <p:nvSpPr>
          <p:cNvPr id="3" name="object 3"/>
          <p:cNvSpPr txBox="1"/>
          <p:nvPr/>
        </p:nvSpPr>
        <p:spPr>
          <a:xfrm>
            <a:off x="459740" y="1011682"/>
            <a:ext cx="8108950" cy="299720"/>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3695" algn="l"/>
                <a:tab pos="354330" algn="l"/>
              </a:tabLst>
            </a:pPr>
            <a:r>
              <a:rPr sz="1800" spc="-5" dirty="0">
                <a:latin typeface="Goudy Old Style"/>
                <a:cs typeface="Goudy Old Style"/>
              </a:rPr>
              <a:t>In </a:t>
            </a:r>
            <a:r>
              <a:rPr sz="1800" spc="-10" dirty="0">
                <a:latin typeface="Goudy Old Style"/>
                <a:cs typeface="Goudy Old Style"/>
              </a:rPr>
              <a:t>order</a:t>
            </a:r>
            <a:r>
              <a:rPr sz="1800" spc="-5" dirty="0">
                <a:latin typeface="Goudy Old Style"/>
                <a:cs typeface="Goudy Old Style"/>
              </a:rPr>
              <a:t> </a:t>
            </a:r>
            <a:r>
              <a:rPr sz="1800" dirty="0">
                <a:latin typeface="Goudy Old Style"/>
                <a:cs typeface="Goudy Old Style"/>
              </a:rPr>
              <a:t>to </a:t>
            </a:r>
            <a:r>
              <a:rPr sz="1800" spc="-5" dirty="0">
                <a:latin typeface="Goudy Old Style"/>
                <a:cs typeface="Goudy Old Style"/>
              </a:rPr>
              <a:t>understand</a:t>
            </a:r>
            <a:r>
              <a:rPr sz="1800" spc="-15" dirty="0">
                <a:latin typeface="Goudy Old Style"/>
                <a:cs typeface="Goudy Old Style"/>
              </a:rPr>
              <a:t> </a:t>
            </a:r>
            <a:r>
              <a:rPr sz="1800" dirty="0">
                <a:latin typeface="Goudy Old Style"/>
                <a:cs typeface="Goudy Old Style"/>
              </a:rPr>
              <a:t>the</a:t>
            </a:r>
            <a:r>
              <a:rPr sz="1800" spc="-10" dirty="0">
                <a:latin typeface="Goudy Old Style"/>
                <a:cs typeface="Goudy Old Style"/>
              </a:rPr>
              <a:t> relational</a:t>
            </a:r>
            <a:r>
              <a:rPr sz="1800" spc="5" dirty="0">
                <a:latin typeface="Goudy Old Style"/>
                <a:cs typeface="Goudy Old Style"/>
              </a:rPr>
              <a:t> </a:t>
            </a:r>
            <a:r>
              <a:rPr sz="1800" dirty="0">
                <a:latin typeface="Goudy Old Style"/>
                <a:cs typeface="Goudy Old Style"/>
              </a:rPr>
              <a:t>model, consider</a:t>
            </a:r>
            <a:r>
              <a:rPr sz="1800" spc="10" dirty="0">
                <a:latin typeface="Goudy Old Style"/>
                <a:cs typeface="Goudy Old Style"/>
              </a:rPr>
              <a:t> </a:t>
            </a:r>
            <a:r>
              <a:rPr sz="1800" b="1" spc="-10" dirty="0">
                <a:latin typeface="Courier New"/>
                <a:cs typeface="Courier New"/>
              </a:rPr>
              <a:t>Students</a:t>
            </a:r>
            <a:r>
              <a:rPr sz="1800" b="1" spc="-650" dirty="0">
                <a:latin typeface="Courier New"/>
                <a:cs typeface="Courier New"/>
              </a:rPr>
              <a:t> </a:t>
            </a:r>
            <a:r>
              <a:rPr sz="1800" spc="-5" dirty="0">
                <a:latin typeface="Goudy Old Style"/>
                <a:cs typeface="Goudy Old Style"/>
              </a:rPr>
              <a:t>and </a:t>
            </a:r>
            <a:r>
              <a:rPr sz="1800" b="1" spc="-5" dirty="0">
                <a:latin typeface="Courier New"/>
                <a:cs typeface="Courier New"/>
              </a:rPr>
              <a:t>Marks</a:t>
            </a:r>
            <a:r>
              <a:rPr sz="1800" b="1" spc="-655" dirty="0">
                <a:latin typeface="Courier New"/>
                <a:cs typeface="Courier New"/>
              </a:rPr>
              <a:t> </a:t>
            </a:r>
            <a:r>
              <a:rPr sz="1800" dirty="0">
                <a:latin typeface="Goudy Old Style"/>
                <a:cs typeface="Goudy Old Style"/>
              </a:rPr>
              <a:t>tables:</a:t>
            </a:r>
            <a:endParaRPr sz="1800">
              <a:latin typeface="Goudy Old Style"/>
              <a:cs typeface="Goudy Old Style"/>
            </a:endParaRPr>
          </a:p>
        </p:txBody>
      </p:sp>
      <p:pic>
        <p:nvPicPr>
          <p:cNvPr id="4" name="object 4"/>
          <p:cNvPicPr/>
          <p:nvPr/>
        </p:nvPicPr>
        <p:blipFill>
          <a:blip r:embed="rId3" cstate="print"/>
          <a:stretch>
            <a:fillRect/>
          </a:stretch>
        </p:blipFill>
        <p:spPr>
          <a:xfrm>
            <a:off x="990600" y="1828800"/>
            <a:ext cx="3276600" cy="2267712"/>
          </a:xfrm>
          <a:prstGeom prst="rect">
            <a:avLst/>
          </a:prstGeom>
        </p:spPr>
      </p:pic>
      <p:pic>
        <p:nvPicPr>
          <p:cNvPr id="5" name="object 5"/>
          <p:cNvPicPr/>
          <p:nvPr/>
        </p:nvPicPr>
        <p:blipFill>
          <a:blip r:embed="rId4" cstate="print"/>
          <a:stretch>
            <a:fillRect/>
          </a:stretch>
        </p:blipFill>
        <p:spPr>
          <a:xfrm>
            <a:off x="4648200" y="1828800"/>
            <a:ext cx="3693413" cy="2286000"/>
          </a:xfrm>
          <a:prstGeom prst="rect">
            <a:avLst/>
          </a:prstGeom>
        </p:spPr>
      </p:pic>
      <p:sp>
        <p:nvSpPr>
          <p:cNvPr id="6" name="object 6"/>
          <p:cNvSpPr txBox="1"/>
          <p:nvPr/>
        </p:nvSpPr>
        <p:spPr>
          <a:xfrm>
            <a:off x="1755394" y="4158996"/>
            <a:ext cx="1092835"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Goudy Old Style"/>
                <a:cs typeface="Goudy Old Style"/>
              </a:rPr>
              <a:t>Students</a:t>
            </a:r>
            <a:r>
              <a:rPr sz="1400" b="1" spc="-30" dirty="0">
                <a:latin typeface="Goudy Old Style"/>
                <a:cs typeface="Goudy Old Style"/>
              </a:rPr>
              <a:t> </a:t>
            </a:r>
            <a:r>
              <a:rPr sz="1400" b="1" spc="-25" dirty="0">
                <a:latin typeface="Goudy Old Style"/>
                <a:cs typeface="Goudy Old Style"/>
              </a:rPr>
              <a:t>Table</a:t>
            </a:r>
            <a:endParaRPr sz="1400">
              <a:latin typeface="Goudy Old Style"/>
              <a:cs typeface="Goudy Old Style"/>
            </a:endParaRPr>
          </a:p>
        </p:txBody>
      </p:sp>
      <p:sp>
        <p:nvSpPr>
          <p:cNvPr id="10" name="object 10"/>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26</a:t>
            </a:fld>
            <a:endParaRPr sz="1200"/>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7" name="object 7"/>
          <p:cNvSpPr txBox="1"/>
          <p:nvPr/>
        </p:nvSpPr>
        <p:spPr>
          <a:xfrm>
            <a:off x="5870447" y="4137914"/>
            <a:ext cx="915669"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Goudy Old Style"/>
                <a:cs typeface="Goudy Old Style"/>
              </a:rPr>
              <a:t>Marks</a:t>
            </a:r>
            <a:r>
              <a:rPr sz="1400" b="1" spc="-50" dirty="0">
                <a:latin typeface="Goudy Old Style"/>
                <a:cs typeface="Goudy Old Style"/>
              </a:rPr>
              <a:t> </a:t>
            </a:r>
            <a:r>
              <a:rPr sz="1400" b="1" spc="-25" dirty="0">
                <a:latin typeface="Goudy Old Style"/>
                <a:cs typeface="Goudy Old Style"/>
              </a:rPr>
              <a:t>Table</a:t>
            </a:r>
            <a:endParaRPr sz="1400">
              <a:latin typeface="Goudy Old Style"/>
              <a:cs typeface="Goudy Old Style"/>
            </a:endParaRPr>
          </a:p>
        </p:txBody>
      </p:sp>
      <p:sp>
        <p:nvSpPr>
          <p:cNvPr id="8" name="object 8"/>
          <p:cNvSpPr txBox="1"/>
          <p:nvPr/>
        </p:nvSpPr>
        <p:spPr>
          <a:xfrm>
            <a:off x="459740" y="4430267"/>
            <a:ext cx="8101330" cy="2058670"/>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3695" algn="l"/>
                <a:tab pos="354330" algn="l"/>
              </a:tabLst>
            </a:pPr>
            <a:r>
              <a:rPr sz="1800" b="1" spc="-10" dirty="0">
                <a:latin typeface="Courier New"/>
                <a:cs typeface="Courier New"/>
              </a:rPr>
              <a:t>Students</a:t>
            </a:r>
            <a:r>
              <a:rPr sz="1800" b="1" spc="-655" dirty="0">
                <a:latin typeface="Courier New"/>
                <a:cs typeface="Courier New"/>
              </a:rPr>
              <a:t> </a:t>
            </a:r>
            <a:r>
              <a:rPr sz="1800" dirty="0">
                <a:latin typeface="Goudy Old Style"/>
                <a:cs typeface="Goudy Old Style"/>
              </a:rPr>
              <a:t>table</a:t>
            </a:r>
            <a:r>
              <a:rPr sz="1800" spc="-15" dirty="0">
                <a:latin typeface="Goudy Old Style"/>
                <a:cs typeface="Goudy Old Style"/>
              </a:rPr>
              <a:t> </a:t>
            </a:r>
            <a:r>
              <a:rPr sz="1800" spc="-10" dirty="0">
                <a:latin typeface="Goudy Old Style"/>
                <a:cs typeface="Goudy Old Style"/>
              </a:rPr>
              <a:t>displays</a:t>
            </a:r>
            <a:r>
              <a:rPr sz="1800" spc="15" dirty="0">
                <a:latin typeface="Goudy Old Style"/>
                <a:cs typeface="Goudy Old Style"/>
              </a:rPr>
              <a:t> </a:t>
            </a:r>
            <a:r>
              <a:rPr sz="1800" dirty="0">
                <a:latin typeface="Goudy Old Style"/>
                <a:cs typeface="Goudy Old Style"/>
              </a:rPr>
              <a:t>the</a:t>
            </a:r>
            <a:r>
              <a:rPr sz="1800" spc="-5" dirty="0">
                <a:latin typeface="Goudy Old Style"/>
                <a:cs typeface="Goudy Old Style"/>
              </a:rPr>
              <a:t> </a:t>
            </a:r>
            <a:r>
              <a:rPr sz="1800" b="1" spc="-5" dirty="0">
                <a:latin typeface="Courier New"/>
                <a:cs typeface="Courier New"/>
              </a:rPr>
              <a:t>Roll</a:t>
            </a:r>
            <a:r>
              <a:rPr sz="1800" b="1" spc="-20" dirty="0">
                <a:latin typeface="Courier New"/>
                <a:cs typeface="Courier New"/>
              </a:rPr>
              <a:t> </a:t>
            </a:r>
            <a:r>
              <a:rPr sz="1800" b="1" spc="-5" dirty="0">
                <a:latin typeface="Courier New"/>
                <a:cs typeface="Courier New"/>
              </a:rPr>
              <a:t>Number</a:t>
            </a:r>
            <a:r>
              <a:rPr sz="1800" b="1" spc="-655" dirty="0">
                <a:latin typeface="Courier New"/>
                <a:cs typeface="Courier New"/>
              </a:rPr>
              <a:t> </a:t>
            </a:r>
            <a:r>
              <a:rPr sz="1800" spc="-5" dirty="0">
                <a:latin typeface="Goudy Old Style"/>
                <a:cs typeface="Goudy Old Style"/>
              </a:rPr>
              <a:t>and </a:t>
            </a:r>
            <a:r>
              <a:rPr sz="1800" dirty="0">
                <a:latin typeface="Goudy Old Style"/>
                <a:cs typeface="Goudy Old Style"/>
              </a:rPr>
              <a:t>the</a:t>
            </a:r>
            <a:r>
              <a:rPr sz="1800" spc="-15" dirty="0">
                <a:latin typeface="Goudy Old Style"/>
                <a:cs typeface="Goudy Old Style"/>
              </a:rPr>
              <a:t> </a:t>
            </a:r>
            <a:r>
              <a:rPr sz="1800" b="1" spc="-10" dirty="0">
                <a:latin typeface="Courier New"/>
                <a:cs typeface="Courier New"/>
              </a:rPr>
              <a:t>Student</a:t>
            </a:r>
            <a:r>
              <a:rPr sz="1800" b="1" spc="-655" dirty="0">
                <a:latin typeface="Courier New"/>
                <a:cs typeface="Courier New"/>
              </a:rPr>
              <a:t> </a:t>
            </a:r>
            <a:r>
              <a:rPr sz="1800" b="1" spc="-5" dirty="0">
                <a:latin typeface="Courier New"/>
                <a:cs typeface="Courier New"/>
              </a:rPr>
              <a:t>Name</a:t>
            </a:r>
            <a:r>
              <a:rPr sz="1800" b="1" spc="-650" dirty="0">
                <a:latin typeface="Courier New"/>
                <a:cs typeface="Courier New"/>
              </a:rPr>
              <a:t> </a:t>
            </a:r>
            <a:r>
              <a:rPr sz="1800" spc="-5" dirty="0">
                <a:latin typeface="Goudy Old Style"/>
                <a:cs typeface="Goudy Old Style"/>
              </a:rPr>
              <a:t>and </a:t>
            </a:r>
            <a:r>
              <a:rPr sz="1800" dirty="0">
                <a:latin typeface="Goudy Old Style"/>
                <a:cs typeface="Goudy Old Style"/>
              </a:rPr>
              <a:t>the</a:t>
            </a:r>
            <a:endParaRPr sz="1800">
              <a:latin typeface="Goudy Old Style"/>
              <a:cs typeface="Goudy Old Style"/>
            </a:endParaRPr>
          </a:p>
          <a:p>
            <a:pPr marL="353695">
              <a:lnSpc>
                <a:spcPct val="100000"/>
              </a:lnSpc>
            </a:pPr>
            <a:r>
              <a:rPr sz="1800" b="1" spc="-5" dirty="0">
                <a:latin typeface="Courier New"/>
                <a:cs typeface="Courier New"/>
              </a:rPr>
              <a:t>Marks</a:t>
            </a:r>
            <a:r>
              <a:rPr sz="1800" b="1" spc="-655" dirty="0">
                <a:latin typeface="Courier New"/>
                <a:cs typeface="Courier New"/>
              </a:rPr>
              <a:t> </a:t>
            </a:r>
            <a:r>
              <a:rPr sz="1800" dirty="0">
                <a:latin typeface="Goudy Old Style"/>
                <a:cs typeface="Goudy Old Style"/>
              </a:rPr>
              <a:t>table</a:t>
            </a:r>
            <a:r>
              <a:rPr sz="1800" spc="-20" dirty="0">
                <a:latin typeface="Goudy Old Style"/>
                <a:cs typeface="Goudy Old Style"/>
              </a:rPr>
              <a:t> </a:t>
            </a:r>
            <a:r>
              <a:rPr sz="1800" spc="-10" dirty="0">
                <a:latin typeface="Goudy Old Style"/>
                <a:cs typeface="Goudy Old Style"/>
              </a:rPr>
              <a:t>displays</a:t>
            </a:r>
            <a:r>
              <a:rPr sz="1800" spc="25" dirty="0">
                <a:latin typeface="Goudy Old Style"/>
                <a:cs typeface="Goudy Old Style"/>
              </a:rPr>
              <a:t> </a:t>
            </a:r>
            <a:r>
              <a:rPr sz="1800" dirty="0">
                <a:latin typeface="Goudy Old Style"/>
                <a:cs typeface="Goudy Old Style"/>
              </a:rPr>
              <a:t>the</a:t>
            </a:r>
            <a:r>
              <a:rPr sz="1800" spc="-5" dirty="0">
                <a:latin typeface="Goudy Old Style"/>
                <a:cs typeface="Goudy Old Style"/>
              </a:rPr>
              <a:t> </a:t>
            </a:r>
            <a:r>
              <a:rPr sz="1800" b="1" spc="-5" dirty="0">
                <a:latin typeface="Courier New"/>
                <a:cs typeface="Courier New"/>
              </a:rPr>
              <a:t>Roll</a:t>
            </a:r>
            <a:r>
              <a:rPr sz="1800" b="1" spc="-645" dirty="0">
                <a:latin typeface="Courier New"/>
                <a:cs typeface="Courier New"/>
              </a:rPr>
              <a:t> </a:t>
            </a:r>
            <a:r>
              <a:rPr sz="1800" b="1" spc="-10" dirty="0">
                <a:latin typeface="Courier New"/>
                <a:cs typeface="Courier New"/>
              </a:rPr>
              <a:t>Number</a:t>
            </a:r>
            <a:r>
              <a:rPr sz="1800" b="1" spc="-650" dirty="0">
                <a:latin typeface="Courier New"/>
                <a:cs typeface="Courier New"/>
              </a:rPr>
              <a:t> </a:t>
            </a:r>
            <a:r>
              <a:rPr sz="1800" spc="-5" dirty="0">
                <a:latin typeface="Goudy Old Style"/>
                <a:cs typeface="Goudy Old Style"/>
              </a:rPr>
              <a:t>and </a:t>
            </a:r>
            <a:r>
              <a:rPr sz="1800" b="1" spc="-5" dirty="0">
                <a:latin typeface="Courier New"/>
                <a:cs typeface="Courier New"/>
              </a:rPr>
              <a:t>Marks</a:t>
            </a:r>
            <a:r>
              <a:rPr sz="1800" b="1" spc="-655" dirty="0">
                <a:latin typeface="Courier New"/>
                <a:cs typeface="Courier New"/>
              </a:rPr>
              <a:t> </a:t>
            </a:r>
            <a:r>
              <a:rPr sz="1800" spc="-5" dirty="0">
                <a:latin typeface="Goudy Old Style"/>
                <a:cs typeface="Goudy Old Style"/>
              </a:rPr>
              <a:t>obtained</a:t>
            </a:r>
            <a:r>
              <a:rPr sz="1800" spc="-15" dirty="0">
                <a:latin typeface="Goudy Old Style"/>
                <a:cs typeface="Goudy Old Style"/>
              </a:rPr>
              <a:t> </a:t>
            </a:r>
            <a:r>
              <a:rPr sz="1800" spc="-10" dirty="0">
                <a:latin typeface="Goudy Old Style"/>
                <a:cs typeface="Goudy Old Style"/>
              </a:rPr>
              <a:t>by</a:t>
            </a:r>
            <a:r>
              <a:rPr sz="1800" spc="-5" dirty="0">
                <a:latin typeface="Goudy Old Style"/>
                <a:cs typeface="Goudy Old Style"/>
              </a:rPr>
              <a:t> </a:t>
            </a:r>
            <a:r>
              <a:rPr sz="1800" dirty="0">
                <a:latin typeface="Goudy Old Style"/>
                <a:cs typeface="Goudy Old Style"/>
              </a:rPr>
              <a:t>the</a:t>
            </a:r>
            <a:r>
              <a:rPr sz="1800" spc="-10" dirty="0">
                <a:latin typeface="Goudy Old Style"/>
                <a:cs typeface="Goudy Old Style"/>
              </a:rPr>
              <a:t> </a:t>
            </a:r>
            <a:r>
              <a:rPr sz="1800" spc="-5" dirty="0">
                <a:latin typeface="Goudy Old Style"/>
                <a:cs typeface="Goudy Old Style"/>
              </a:rPr>
              <a:t>students.</a:t>
            </a:r>
            <a:endParaRPr sz="1800">
              <a:latin typeface="Goudy Old Style"/>
              <a:cs typeface="Goudy Old Style"/>
            </a:endParaRPr>
          </a:p>
          <a:p>
            <a:pPr marL="353695" indent="-341630">
              <a:lnSpc>
                <a:spcPct val="100000"/>
              </a:lnSpc>
              <a:spcBef>
                <a:spcPts val="555"/>
              </a:spcBef>
              <a:buFont typeface="Wingdings"/>
              <a:buChar char=""/>
              <a:tabLst>
                <a:tab pos="353695" algn="l"/>
                <a:tab pos="354330" algn="l"/>
              </a:tabLst>
            </a:pPr>
            <a:r>
              <a:rPr sz="1800" spc="-80" dirty="0">
                <a:latin typeface="Goudy Old Style"/>
                <a:cs typeface="Goudy Old Style"/>
              </a:rPr>
              <a:t>To </a:t>
            </a:r>
            <a:r>
              <a:rPr sz="1800" spc="-5" dirty="0">
                <a:latin typeface="Goudy Old Style"/>
                <a:cs typeface="Goudy Old Style"/>
              </a:rPr>
              <a:t>locate students </a:t>
            </a:r>
            <a:r>
              <a:rPr sz="1800" dirty="0">
                <a:latin typeface="Goudy Old Style"/>
                <a:cs typeface="Goudy Old Style"/>
              </a:rPr>
              <a:t>with </a:t>
            </a:r>
            <a:r>
              <a:rPr sz="1800" spc="-10" dirty="0">
                <a:latin typeface="Goudy Old Style"/>
                <a:cs typeface="Goudy Old Style"/>
              </a:rPr>
              <a:t>marks </a:t>
            </a:r>
            <a:r>
              <a:rPr sz="1800" spc="-15" dirty="0">
                <a:latin typeface="Goudy Old Style"/>
                <a:cs typeface="Goudy Old Style"/>
              </a:rPr>
              <a:t>above</a:t>
            </a:r>
            <a:r>
              <a:rPr sz="1800" spc="65" dirty="0">
                <a:latin typeface="Goudy Old Style"/>
                <a:cs typeface="Goudy Old Style"/>
              </a:rPr>
              <a:t> </a:t>
            </a:r>
            <a:r>
              <a:rPr sz="1800" dirty="0">
                <a:latin typeface="Goudy Old Style"/>
                <a:cs typeface="Goudy Old Style"/>
              </a:rPr>
              <a:t>40:</a:t>
            </a:r>
            <a:endParaRPr sz="1800">
              <a:latin typeface="Goudy Old Style"/>
              <a:cs typeface="Goudy Old Style"/>
            </a:endParaRPr>
          </a:p>
          <a:p>
            <a:pPr marL="734695" lvl="1" indent="-341630">
              <a:lnSpc>
                <a:spcPct val="100000"/>
              </a:lnSpc>
              <a:spcBef>
                <a:spcPts val="250"/>
              </a:spcBef>
              <a:buFont typeface="Arial"/>
              <a:buChar char="•"/>
              <a:tabLst>
                <a:tab pos="734695" algn="l"/>
                <a:tab pos="735330" algn="l"/>
              </a:tabLst>
            </a:pPr>
            <a:r>
              <a:rPr sz="1800" spc="-5" dirty="0">
                <a:latin typeface="Goudy Old Style"/>
                <a:cs typeface="Goudy Old Style"/>
              </a:rPr>
              <a:t>First, locate the </a:t>
            </a:r>
            <a:r>
              <a:rPr sz="1800" spc="-10" dirty="0">
                <a:latin typeface="Goudy Old Style"/>
                <a:cs typeface="Goudy Old Style"/>
              </a:rPr>
              <a:t>roll </a:t>
            </a:r>
            <a:r>
              <a:rPr sz="1800" spc="-5" dirty="0">
                <a:latin typeface="Goudy Old Style"/>
                <a:cs typeface="Goudy Old Style"/>
              </a:rPr>
              <a:t>numbers of those </a:t>
            </a:r>
            <a:r>
              <a:rPr sz="1800" dirty="0">
                <a:latin typeface="Goudy Old Style"/>
                <a:cs typeface="Goudy Old Style"/>
              </a:rPr>
              <a:t>who </a:t>
            </a:r>
            <a:r>
              <a:rPr sz="1800" spc="-15" dirty="0">
                <a:latin typeface="Goudy Old Style"/>
                <a:cs typeface="Goudy Old Style"/>
              </a:rPr>
              <a:t>have </a:t>
            </a:r>
            <a:r>
              <a:rPr sz="1800" spc="-10" dirty="0">
                <a:latin typeface="Goudy Old Style"/>
                <a:cs typeface="Goudy Old Style"/>
              </a:rPr>
              <a:t>scored </a:t>
            </a:r>
            <a:r>
              <a:rPr sz="1800" spc="-15" dirty="0">
                <a:latin typeface="Goudy Old Style"/>
                <a:cs typeface="Goudy Old Style"/>
              </a:rPr>
              <a:t>above </a:t>
            </a:r>
            <a:r>
              <a:rPr sz="1800" dirty="0">
                <a:latin typeface="Goudy Old Style"/>
                <a:cs typeface="Goudy Old Style"/>
              </a:rPr>
              <a:t>50 </a:t>
            </a:r>
            <a:r>
              <a:rPr sz="1800" spc="-10" dirty="0">
                <a:latin typeface="Goudy Old Style"/>
                <a:cs typeface="Goudy Old Style"/>
              </a:rPr>
              <a:t>from </a:t>
            </a:r>
            <a:r>
              <a:rPr sz="1800" dirty="0">
                <a:latin typeface="Goudy Old Style"/>
                <a:cs typeface="Goudy Old Style"/>
              </a:rPr>
              <a:t>the</a:t>
            </a:r>
            <a:r>
              <a:rPr sz="1800" spc="90" dirty="0">
                <a:latin typeface="Goudy Old Style"/>
                <a:cs typeface="Goudy Old Style"/>
              </a:rPr>
              <a:t> </a:t>
            </a:r>
            <a:r>
              <a:rPr sz="1800" b="1" spc="-5" dirty="0">
                <a:latin typeface="Courier New"/>
                <a:cs typeface="Courier New"/>
              </a:rPr>
              <a:t>Marks</a:t>
            </a:r>
            <a:endParaRPr sz="1800">
              <a:latin typeface="Courier New"/>
              <a:cs typeface="Courier New"/>
            </a:endParaRPr>
          </a:p>
          <a:p>
            <a:pPr marL="734695">
              <a:lnSpc>
                <a:spcPts val="2120"/>
              </a:lnSpc>
              <a:spcBef>
                <a:spcPts val="85"/>
              </a:spcBef>
            </a:pPr>
            <a:r>
              <a:rPr sz="1800" dirty="0">
                <a:latin typeface="Goudy Old Style"/>
                <a:cs typeface="Goudy Old Style"/>
              </a:rPr>
              <a:t>table.</a:t>
            </a:r>
            <a:endParaRPr sz="1800">
              <a:latin typeface="Goudy Old Style"/>
              <a:cs typeface="Goudy Old Style"/>
            </a:endParaRPr>
          </a:p>
          <a:p>
            <a:pPr marL="734695" lvl="1" indent="-341630">
              <a:lnSpc>
                <a:spcPts val="2120"/>
              </a:lnSpc>
              <a:buFont typeface="Arial"/>
              <a:buChar char="•"/>
              <a:tabLst>
                <a:tab pos="734695" algn="l"/>
                <a:tab pos="735330" algn="l"/>
              </a:tabLst>
            </a:pPr>
            <a:r>
              <a:rPr sz="1800" dirty="0">
                <a:latin typeface="Goudy Old Style"/>
                <a:cs typeface="Goudy Old Style"/>
              </a:rPr>
              <a:t>Second, their </a:t>
            </a:r>
            <a:r>
              <a:rPr sz="1800" spc="-5" dirty="0">
                <a:latin typeface="Goudy Old Style"/>
                <a:cs typeface="Goudy Old Style"/>
              </a:rPr>
              <a:t>names </a:t>
            </a:r>
            <a:r>
              <a:rPr sz="1800" spc="-15" dirty="0">
                <a:latin typeface="Goudy Old Style"/>
                <a:cs typeface="Goudy Old Style"/>
              </a:rPr>
              <a:t>have </a:t>
            </a:r>
            <a:r>
              <a:rPr sz="1800" spc="-5" dirty="0">
                <a:latin typeface="Goudy Old Style"/>
                <a:cs typeface="Goudy Old Style"/>
              </a:rPr>
              <a:t>to </a:t>
            </a:r>
            <a:r>
              <a:rPr sz="1800" dirty="0">
                <a:latin typeface="Goudy Old Style"/>
                <a:cs typeface="Goudy Old Style"/>
              </a:rPr>
              <a:t>be </a:t>
            </a:r>
            <a:r>
              <a:rPr sz="1800" spc="-5" dirty="0">
                <a:latin typeface="Goudy Old Style"/>
                <a:cs typeface="Goudy Old Style"/>
              </a:rPr>
              <a:t>located </a:t>
            </a:r>
            <a:r>
              <a:rPr sz="1800" dirty="0">
                <a:latin typeface="Goudy Old Style"/>
                <a:cs typeface="Goudy Old Style"/>
              </a:rPr>
              <a:t>in the </a:t>
            </a:r>
            <a:r>
              <a:rPr sz="1800" b="1" spc="-5" dirty="0">
                <a:latin typeface="Courier New"/>
                <a:cs typeface="Courier New"/>
              </a:rPr>
              <a:t>Students</a:t>
            </a:r>
            <a:r>
              <a:rPr sz="1800" b="1" spc="-795" dirty="0">
                <a:latin typeface="Courier New"/>
                <a:cs typeface="Courier New"/>
              </a:rPr>
              <a:t> </a:t>
            </a:r>
            <a:r>
              <a:rPr sz="1800" dirty="0">
                <a:latin typeface="Goudy Old Style"/>
                <a:cs typeface="Goudy Old Style"/>
              </a:rPr>
              <a:t>table </a:t>
            </a:r>
            <a:r>
              <a:rPr sz="1800" spc="-10" dirty="0">
                <a:latin typeface="Goudy Old Style"/>
                <a:cs typeface="Goudy Old Style"/>
              </a:rPr>
              <a:t>by </a:t>
            </a:r>
            <a:r>
              <a:rPr sz="1800" spc="-5" dirty="0">
                <a:latin typeface="Goudy Old Style"/>
                <a:cs typeface="Goudy Old Style"/>
              </a:rPr>
              <a:t>matching </a:t>
            </a:r>
            <a:r>
              <a:rPr sz="1800" dirty="0">
                <a:latin typeface="Goudy Old Style"/>
                <a:cs typeface="Goudy Old Style"/>
              </a:rPr>
              <a:t>the</a:t>
            </a:r>
            <a:endParaRPr sz="1800">
              <a:latin typeface="Goudy Old Style"/>
              <a:cs typeface="Goudy Old Style"/>
            </a:endParaRPr>
          </a:p>
          <a:p>
            <a:pPr marL="734695">
              <a:lnSpc>
                <a:spcPct val="100000"/>
              </a:lnSpc>
              <a:spcBef>
                <a:spcPts val="85"/>
              </a:spcBef>
            </a:pPr>
            <a:r>
              <a:rPr sz="1800" spc="-10" dirty="0">
                <a:latin typeface="Goudy Old Style"/>
                <a:cs typeface="Goudy Old Style"/>
              </a:rPr>
              <a:t>roll</a:t>
            </a:r>
            <a:r>
              <a:rPr sz="1800" spc="5" dirty="0">
                <a:latin typeface="Goudy Old Style"/>
                <a:cs typeface="Goudy Old Style"/>
              </a:rPr>
              <a:t> </a:t>
            </a:r>
            <a:r>
              <a:rPr sz="1800" spc="-15" dirty="0">
                <a:latin typeface="Goudy Old Style"/>
                <a:cs typeface="Goudy Old Style"/>
              </a:rPr>
              <a:t>number.</a:t>
            </a:r>
            <a:endParaRPr sz="1800">
              <a:latin typeface="Goudy Old Style"/>
              <a:cs typeface="Goudy Old Style"/>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5328285" cy="635635"/>
          </a:xfrm>
          <a:prstGeom prst="rect">
            <a:avLst/>
          </a:prstGeom>
        </p:spPr>
        <p:txBody>
          <a:bodyPr vert="horz" wrap="square" lIns="0" tIns="12700" rIns="0" bIns="0" rtlCol="0">
            <a:spAutoFit/>
          </a:bodyPr>
          <a:lstStyle/>
          <a:p>
            <a:pPr marL="12700">
              <a:lnSpc>
                <a:spcPct val="100000"/>
              </a:lnSpc>
              <a:spcBef>
                <a:spcPts val="100"/>
              </a:spcBef>
            </a:pPr>
            <a:r>
              <a:rPr sz="4000" b="0" spc="-10" dirty="0">
                <a:latin typeface="Goudy Old Style"/>
                <a:cs typeface="Goudy Old Style"/>
              </a:rPr>
              <a:t>Relational </a:t>
            </a:r>
            <a:r>
              <a:rPr sz="4000" b="0" spc="10" dirty="0">
                <a:latin typeface="Goudy Old Style"/>
                <a:cs typeface="Goudy Old Style"/>
              </a:rPr>
              <a:t>Data </a:t>
            </a:r>
            <a:r>
              <a:rPr sz="4000" b="0" spc="-5" dirty="0">
                <a:latin typeface="Goudy Old Style"/>
                <a:cs typeface="Goudy Old Style"/>
              </a:rPr>
              <a:t>Model</a:t>
            </a:r>
            <a:r>
              <a:rPr sz="4000" b="0" spc="-100" dirty="0">
                <a:latin typeface="Goudy Old Style"/>
                <a:cs typeface="Goudy Old Style"/>
              </a:rPr>
              <a:t> </a:t>
            </a:r>
            <a:r>
              <a:rPr sz="4000" b="0" spc="10" dirty="0">
                <a:latin typeface="Goudy Old Style"/>
                <a:cs typeface="Goudy Old Style"/>
              </a:rPr>
              <a:t>4-5</a:t>
            </a:r>
            <a:endParaRPr sz="4000">
              <a:latin typeface="Goudy Old Style"/>
              <a:cs typeface="Goudy Old Style"/>
            </a:endParaRPr>
          </a:p>
        </p:txBody>
      </p:sp>
      <p:pic>
        <p:nvPicPr>
          <p:cNvPr id="3" name="object 3"/>
          <p:cNvPicPr/>
          <p:nvPr/>
        </p:nvPicPr>
        <p:blipFill>
          <a:blip r:embed="rId3" cstate="print"/>
          <a:stretch>
            <a:fillRect/>
          </a:stretch>
        </p:blipFill>
        <p:spPr>
          <a:xfrm>
            <a:off x="1600200" y="1447800"/>
            <a:ext cx="5424678" cy="1447800"/>
          </a:xfrm>
          <a:prstGeom prst="rect">
            <a:avLst/>
          </a:prstGeom>
        </p:spPr>
      </p:pic>
      <p:sp>
        <p:nvSpPr>
          <p:cNvPr id="4" name="object 4"/>
          <p:cNvSpPr txBox="1"/>
          <p:nvPr/>
        </p:nvSpPr>
        <p:spPr>
          <a:xfrm>
            <a:off x="459740" y="1022350"/>
            <a:ext cx="5259070" cy="299720"/>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3695" algn="l"/>
                <a:tab pos="354330" algn="l"/>
              </a:tabLst>
            </a:pPr>
            <a:r>
              <a:rPr sz="1800" spc="-5" dirty="0">
                <a:latin typeface="Goudy Old Style"/>
                <a:cs typeface="Goudy Old Style"/>
              </a:rPr>
              <a:t>The </a:t>
            </a:r>
            <a:r>
              <a:rPr sz="1800" spc="-10" dirty="0">
                <a:latin typeface="Goudy Old Style"/>
                <a:cs typeface="Goudy Old Style"/>
              </a:rPr>
              <a:t>result </a:t>
            </a:r>
            <a:r>
              <a:rPr sz="1800" dirty="0">
                <a:latin typeface="Goudy Old Style"/>
                <a:cs typeface="Goudy Old Style"/>
              </a:rPr>
              <a:t>is </a:t>
            </a:r>
            <a:r>
              <a:rPr sz="1800" spc="-10" dirty="0">
                <a:latin typeface="Goudy Old Style"/>
                <a:cs typeface="Goudy Old Style"/>
              </a:rPr>
              <a:t>displayed </a:t>
            </a:r>
            <a:r>
              <a:rPr sz="1800" spc="-5" dirty="0">
                <a:latin typeface="Goudy Old Style"/>
                <a:cs typeface="Goudy Old Style"/>
              </a:rPr>
              <a:t>as </a:t>
            </a:r>
            <a:r>
              <a:rPr sz="1800" spc="-10" dirty="0">
                <a:latin typeface="Goudy Old Style"/>
                <a:cs typeface="Goudy Old Style"/>
              </a:rPr>
              <a:t>shown </a:t>
            </a:r>
            <a:r>
              <a:rPr sz="1800" dirty="0">
                <a:latin typeface="Goudy Old Style"/>
                <a:cs typeface="Goudy Old Style"/>
              </a:rPr>
              <a:t>in the </a:t>
            </a:r>
            <a:r>
              <a:rPr sz="1800" spc="-15" dirty="0">
                <a:latin typeface="Goudy Old Style"/>
                <a:cs typeface="Goudy Old Style"/>
              </a:rPr>
              <a:t>following</a:t>
            </a:r>
            <a:r>
              <a:rPr sz="1800" spc="50" dirty="0">
                <a:latin typeface="Goudy Old Style"/>
                <a:cs typeface="Goudy Old Style"/>
              </a:rPr>
              <a:t> </a:t>
            </a:r>
            <a:r>
              <a:rPr sz="1800" dirty="0">
                <a:latin typeface="Goudy Old Style"/>
                <a:cs typeface="Goudy Old Style"/>
              </a:rPr>
              <a:t>table:</a:t>
            </a:r>
            <a:endParaRPr sz="1800">
              <a:latin typeface="Goudy Old Style"/>
              <a:cs typeface="Goudy Old Style"/>
            </a:endParaRPr>
          </a:p>
        </p:txBody>
      </p:sp>
      <p:sp>
        <p:nvSpPr>
          <p:cNvPr id="5" name="object 5"/>
          <p:cNvSpPr txBox="1"/>
          <p:nvPr/>
        </p:nvSpPr>
        <p:spPr>
          <a:xfrm>
            <a:off x="459740" y="2992120"/>
            <a:ext cx="5627370" cy="299720"/>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3695" algn="l"/>
                <a:tab pos="354330" algn="l"/>
              </a:tabLst>
            </a:pPr>
            <a:r>
              <a:rPr sz="1800" spc="-5" dirty="0">
                <a:latin typeface="Goudy Old Style"/>
                <a:cs typeface="Goudy Old Style"/>
              </a:rPr>
              <a:t>It was possible to </a:t>
            </a:r>
            <a:r>
              <a:rPr sz="1800" spc="-10" dirty="0">
                <a:latin typeface="Goudy Old Style"/>
                <a:cs typeface="Goudy Old Style"/>
              </a:rPr>
              <a:t>get </a:t>
            </a:r>
            <a:r>
              <a:rPr sz="1800" dirty="0">
                <a:latin typeface="Goudy Old Style"/>
                <a:cs typeface="Goudy Old Style"/>
              </a:rPr>
              <a:t>this </a:t>
            </a:r>
            <a:r>
              <a:rPr sz="1800" spc="-10" dirty="0">
                <a:latin typeface="Goudy Old Style"/>
                <a:cs typeface="Goudy Old Style"/>
              </a:rPr>
              <a:t>information </a:t>
            </a:r>
            <a:r>
              <a:rPr sz="1800" dirty="0">
                <a:latin typeface="Goudy Old Style"/>
                <a:cs typeface="Goudy Old Style"/>
              </a:rPr>
              <a:t>because </a:t>
            </a:r>
            <a:r>
              <a:rPr sz="1800" spc="-5" dirty="0">
                <a:latin typeface="Goudy Old Style"/>
                <a:cs typeface="Goudy Old Style"/>
              </a:rPr>
              <a:t>of </a:t>
            </a:r>
            <a:r>
              <a:rPr sz="1800" spc="-10" dirty="0">
                <a:latin typeface="Goudy Old Style"/>
                <a:cs typeface="Goudy Old Style"/>
              </a:rPr>
              <a:t>two</a:t>
            </a:r>
            <a:r>
              <a:rPr sz="1800" spc="-40" dirty="0">
                <a:latin typeface="Goudy Old Style"/>
                <a:cs typeface="Goudy Old Style"/>
              </a:rPr>
              <a:t> </a:t>
            </a:r>
            <a:r>
              <a:rPr sz="1800" spc="-10" dirty="0">
                <a:latin typeface="Goudy Old Style"/>
                <a:cs typeface="Goudy Old Style"/>
              </a:rPr>
              <a:t>facts:</a:t>
            </a:r>
            <a:endParaRPr sz="1800">
              <a:latin typeface="Goudy Old Style"/>
              <a:cs typeface="Goudy Old Style"/>
            </a:endParaRPr>
          </a:p>
        </p:txBody>
      </p:sp>
      <p:grpSp>
        <p:nvGrpSpPr>
          <p:cNvPr id="6" name="object 6"/>
          <p:cNvGrpSpPr/>
          <p:nvPr/>
        </p:nvGrpSpPr>
        <p:grpSpPr>
          <a:xfrm>
            <a:off x="445008" y="3542538"/>
            <a:ext cx="8026400" cy="763270"/>
            <a:chOff x="445008" y="3542538"/>
            <a:chExt cx="8026400" cy="763270"/>
          </a:xfrm>
        </p:grpSpPr>
        <p:sp>
          <p:nvSpPr>
            <p:cNvPr id="7" name="object 7"/>
            <p:cNvSpPr/>
            <p:nvPr/>
          </p:nvSpPr>
          <p:spPr>
            <a:xfrm>
              <a:off x="457581" y="3813429"/>
              <a:ext cx="8001000" cy="479425"/>
            </a:xfrm>
            <a:custGeom>
              <a:avLst/>
              <a:gdLst/>
              <a:ahLst/>
              <a:cxnLst/>
              <a:rect l="l" t="t" r="r" b="b"/>
              <a:pathLst>
                <a:path w="8001000" h="479425">
                  <a:moveTo>
                    <a:pt x="0" y="479298"/>
                  </a:moveTo>
                  <a:lnTo>
                    <a:pt x="8001000" y="479298"/>
                  </a:lnTo>
                  <a:lnTo>
                    <a:pt x="8001000" y="0"/>
                  </a:lnTo>
                  <a:lnTo>
                    <a:pt x="0" y="0"/>
                  </a:lnTo>
                  <a:lnTo>
                    <a:pt x="0" y="479298"/>
                  </a:lnTo>
                  <a:close/>
                </a:path>
              </a:pathLst>
            </a:custGeom>
            <a:ln w="25146">
              <a:solidFill>
                <a:srgbClr val="8063A1"/>
              </a:solidFill>
            </a:ln>
          </p:spPr>
          <p:txBody>
            <a:bodyPr wrap="square" lIns="0" tIns="0" rIns="0" bIns="0" rtlCol="0"/>
            <a:lstStyle/>
            <a:p>
              <a:endParaRPr/>
            </a:p>
          </p:txBody>
        </p:sp>
        <p:sp>
          <p:nvSpPr>
            <p:cNvPr id="8" name="object 8"/>
            <p:cNvSpPr/>
            <p:nvPr/>
          </p:nvSpPr>
          <p:spPr>
            <a:xfrm>
              <a:off x="875919" y="3555111"/>
              <a:ext cx="7191375" cy="561340"/>
            </a:xfrm>
            <a:custGeom>
              <a:avLst/>
              <a:gdLst/>
              <a:ahLst/>
              <a:cxnLst/>
              <a:rect l="l" t="t" r="r" b="b"/>
              <a:pathLst>
                <a:path w="7191375" h="561339">
                  <a:moveTo>
                    <a:pt x="7097522" y="0"/>
                  </a:moveTo>
                  <a:lnTo>
                    <a:pt x="93472" y="0"/>
                  </a:lnTo>
                  <a:lnTo>
                    <a:pt x="57087" y="7354"/>
                  </a:lnTo>
                  <a:lnTo>
                    <a:pt x="27376" y="27400"/>
                  </a:lnTo>
                  <a:lnTo>
                    <a:pt x="7345" y="57114"/>
                  </a:lnTo>
                  <a:lnTo>
                    <a:pt x="0" y="93471"/>
                  </a:lnTo>
                  <a:lnTo>
                    <a:pt x="0" y="467359"/>
                  </a:lnTo>
                  <a:lnTo>
                    <a:pt x="7345" y="503717"/>
                  </a:lnTo>
                  <a:lnTo>
                    <a:pt x="27376" y="533431"/>
                  </a:lnTo>
                  <a:lnTo>
                    <a:pt x="57087" y="553477"/>
                  </a:lnTo>
                  <a:lnTo>
                    <a:pt x="93472" y="560831"/>
                  </a:lnTo>
                  <a:lnTo>
                    <a:pt x="7097522" y="560831"/>
                  </a:lnTo>
                  <a:lnTo>
                    <a:pt x="7133879" y="553477"/>
                  </a:lnTo>
                  <a:lnTo>
                    <a:pt x="7163593" y="533431"/>
                  </a:lnTo>
                  <a:lnTo>
                    <a:pt x="7183639" y="503717"/>
                  </a:lnTo>
                  <a:lnTo>
                    <a:pt x="7190994" y="467359"/>
                  </a:lnTo>
                  <a:lnTo>
                    <a:pt x="7190994" y="93471"/>
                  </a:lnTo>
                  <a:lnTo>
                    <a:pt x="7183639" y="57114"/>
                  </a:lnTo>
                  <a:lnTo>
                    <a:pt x="7163593" y="27400"/>
                  </a:lnTo>
                  <a:lnTo>
                    <a:pt x="7133879" y="7354"/>
                  </a:lnTo>
                  <a:lnTo>
                    <a:pt x="7097522" y="0"/>
                  </a:lnTo>
                  <a:close/>
                </a:path>
              </a:pathLst>
            </a:custGeom>
            <a:solidFill>
              <a:srgbClr val="8063A1"/>
            </a:solidFill>
          </p:spPr>
          <p:txBody>
            <a:bodyPr wrap="square" lIns="0" tIns="0" rIns="0" bIns="0" rtlCol="0"/>
            <a:lstStyle/>
            <a:p>
              <a:endParaRPr/>
            </a:p>
          </p:txBody>
        </p:sp>
        <p:sp>
          <p:nvSpPr>
            <p:cNvPr id="9" name="object 9"/>
            <p:cNvSpPr/>
            <p:nvPr/>
          </p:nvSpPr>
          <p:spPr>
            <a:xfrm>
              <a:off x="875919" y="3555111"/>
              <a:ext cx="7191375" cy="561340"/>
            </a:xfrm>
            <a:custGeom>
              <a:avLst/>
              <a:gdLst/>
              <a:ahLst/>
              <a:cxnLst/>
              <a:rect l="l" t="t" r="r" b="b"/>
              <a:pathLst>
                <a:path w="7191375" h="561339">
                  <a:moveTo>
                    <a:pt x="0" y="93471"/>
                  </a:moveTo>
                  <a:lnTo>
                    <a:pt x="7345" y="57114"/>
                  </a:lnTo>
                  <a:lnTo>
                    <a:pt x="27376" y="27400"/>
                  </a:lnTo>
                  <a:lnTo>
                    <a:pt x="57087" y="7354"/>
                  </a:lnTo>
                  <a:lnTo>
                    <a:pt x="93472" y="0"/>
                  </a:lnTo>
                  <a:lnTo>
                    <a:pt x="7097522" y="0"/>
                  </a:lnTo>
                  <a:lnTo>
                    <a:pt x="7133879" y="7354"/>
                  </a:lnTo>
                  <a:lnTo>
                    <a:pt x="7163593" y="27400"/>
                  </a:lnTo>
                  <a:lnTo>
                    <a:pt x="7183639" y="57114"/>
                  </a:lnTo>
                  <a:lnTo>
                    <a:pt x="7190994" y="93471"/>
                  </a:lnTo>
                  <a:lnTo>
                    <a:pt x="7190994" y="467359"/>
                  </a:lnTo>
                  <a:lnTo>
                    <a:pt x="7183639" y="503717"/>
                  </a:lnTo>
                  <a:lnTo>
                    <a:pt x="7163593" y="533431"/>
                  </a:lnTo>
                  <a:lnTo>
                    <a:pt x="7133879" y="553477"/>
                  </a:lnTo>
                  <a:lnTo>
                    <a:pt x="7097522" y="560831"/>
                  </a:lnTo>
                  <a:lnTo>
                    <a:pt x="93472" y="560831"/>
                  </a:lnTo>
                  <a:lnTo>
                    <a:pt x="57087" y="553477"/>
                  </a:lnTo>
                  <a:lnTo>
                    <a:pt x="27376" y="533431"/>
                  </a:lnTo>
                  <a:lnTo>
                    <a:pt x="7345" y="503717"/>
                  </a:lnTo>
                  <a:lnTo>
                    <a:pt x="0" y="467359"/>
                  </a:lnTo>
                  <a:lnTo>
                    <a:pt x="0" y="93471"/>
                  </a:lnTo>
                  <a:close/>
                </a:path>
              </a:pathLst>
            </a:custGeom>
            <a:ln w="25145">
              <a:solidFill>
                <a:srgbClr val="FFFFFF"/>
              </a:solidFill>
            </a:ln>
          </p:spPr>
          <p:txBody>
            <a:bodyPr wrap="square" lIns="0" tIns="0" rIns="0" bIns="0" rtlCol="0"/>
            <a:lstStyle/>
            <a:p>
              <a:endParaRPr/>
            </a:p>
          </p:txBody>
        </p:sp>
      </p:grpSp>
      <p:grpSp>
        <p:nvGrpSpPr>
          <p:cNvPr id="10" name="object 10"/>
          <p:cNvGrpSpPr/>
          <p:nvPr/>
        </p:nvGrpSpPr>
        <p:grpSpPr>
          <a:xfrm>
            <a:off x="445008" y="4382261"/>
            <a:ext cx="8026400" cy="784860"/>
            <a:chOff x="445008" y="4382261"/>
            <a:chExt cx="8026400" cy="784860"/>
          </a:xfrm>
        </p:grpSpPr>
        <p:sp>
          <p:nvSpPr>
            <p:cNvPr id="11" name="object 11"/>
            <p:cNvSpPr/>
            <p:nvPr/>
          </p:nvSpPr>
          <p:spPr>
            <a:xfrm>
              <a:off x="457581" y="4675250"/>
              <a:ext cx="8001000" cy="479425"/>
            </a:xfrm>
            <a:custGeom>
              <a:avLst/>
              <a:gdLst/>
              <a:ahLst/>
              <a:cxnLst/>
              <a:rect l="l" t="t" r="r" b="b"/>
              <a:pathLst>
                <a:path w="8001000" h="479425">
                  <a:moveTo>
                    <a:pt x="0" y="479298"/>
                  </a:moveTo>
                  <a:lnTo>
                    <a:pt x="8001000" y="479298"/>
                  </a:lnTo>
                  <a:lnTo>
                    <a:pt x="8001000" y="0"/>
                  </a:lnTo>
                  <a:lnTo>
                    <a:pt x="0" y="0"/>
                  </a:lnTo>
                  <a:lnTo>
                    <a:pt x="0" y="479298"/>
                  </a:lnTo>
                  <a:close/>
                </a:path>
              </a:pathLst>
            </a:custGeom>
            <a:ln w="25146">
              <a:solidFill>
                <a:srgbClr val="4AACC5"/>
              </a:solidFill>
            </a:ln>
          </p:spPr>
          <p:txBody>
            <a:bodyPr wrap="square" lIns="0" tIns="0" rIns="0" bIns="0" rtlCol="0"/>
            <a:lstStyle/>
            <a:p>
              <a:endParaRPr/>
            </a:p>
          </p:txBody>
        </p:sp>
        <p:sp>
          <p:nvSpPr>
            <p:cNvPr id="12" name="object 12"/>
            <p:cNvSpPr/>
            <p:nvPr/>
          </p:nvSpPr>
          <p:spPr>
            <a:xfrm>
              <a:off x="856869" y="4394834"/>
              <a:ext cx="7156450" cy="561340"/>
            </a:xfrm>
            <a:custGeom>
              <a:avLst/>
              <a:gdLst/>
              <a:ahLst/>
              <a:cxnLst/>
              <a:rect l="l" t="t" r="r" b="b"/>
              <a:pathLst>
                <a:path w="7156450" h="561339">
                  <a:moveTo>
                    <a:pt x="7062470" y="0"/>
                  </a:moveTo>
                  <a:lnTo>
                    <a:pt x="93472" y="0"/>
                  </a:lnTo>
                  <a:lnTo>
                    <a:pt x="57087" y="7354"/>
                  </a:lnTo>
                  <a:lnTo>
                    <a:pt x="27376" y="27400"/>
                  </a:lnTo>
                  <a:lnTo>
                    <a:pt x="7345" y="57114"/>
                  </a:lnTo>
                  <a:lnTo>
                    <a:pt x="0" y="93472"/>
                  </a:lnTo>
                  <a:lnTo>
                    <a:pt x="0" y="467360"/>
                  </a:lnTo>
                  <a:lnTo>
                    <a:pt x="7345" y="503717"/>
                  </a:lnTo>
                  <a:lnTo>
                    <a:pt x="27376" y="533431"/>
                  </a:lnTo>
                  <a:lnTo>
                    <a:pt x="57087" y="553477"/>
                  </a:lnTo>
                  <a:lnTo>
                    <a:pt x="93472" y="560832"/>
                  </a:lnTo>
                  <a:lnTo>
                    <a:pt x="7062470" y="560832"/>
                  </a:lnTo>
                  <a:lnTo>
                    <a:pt x="7098827" y="553477"/>
                  </a:lnTo>
                  <a:lnTo>
                    <a:pt x="7128541" y="533431"/>
                  </a:lnTo>
                  <a:lnTo>
                    <a:pt x="7148587" y="503717"/>
                  </a:lnTo>
                  <a:lnTo>
                    <a:pt x="7155942" y="467360"/>
                  </a:lnTo>
                  <a:lnTo>
                    <a:pt x="7155942" y="93472"/>
                  </a:lnTo>
                  <a:lnTo>
                    <a:pt x="7148587" y="57114"/>
                  </a:lnTo>
                  <a:lnTo>
                    <a:pt x="7128541" y="27400"/>
                  </a:lnTo>
                  <a:lnTo>
                    <a:pt x="7098827" y="7354"/>
                  </a:lnTo>
                  <a:lnTo>
                    <a:pt x="7062470" y="0"/>
                  </a:lnTo>
                  <a:close/>
                </a:path>
              </a:pathLst>
            </a:custGeom>
            <a:solidFill>
              <a:srgbClr val="4AACC5"/>
            </a:solidFill>
          </p:spPr>
          <p:txBody>
            <a:bodyPr wrap="square" lIns="0" tIns="0" rIns="0" bIns="0" rtlCol="0"/>
            <a:lstStyle/>
            <a:p>
              <a:endParaRPr/>
            </a:p>
          </p:txBody>
        </p:sp>
        <p:sp>
          <p:nvSpPr>
            <p:cNvPr id="13" name="object 13"/>
            <p:cNvSpPr/>
            <p:nvPr/>
          </p:nvSpPr>
          <p:spPr>
            <a:xfrm>
              <a:off x="856869" y="4394834"/>
              <a:ext cx="7156450" cy="561340"/>
            </a:xfrm>
            <a:custGeom>
              <a:avLst/>
              <a:gdLst/>
              <a:ahLst/>
              <a:cxnLst/>
              <a:rect l="l" t="t" r="r" b="b"/>
              <a:pathLst>
                <a:path w="7156450" h="561339">
                  <a:moveTo>
                    <a:pt x="0" y="93472"/>
                  </a:moveTo>
                  <a:lnTo>
                    <a:pt x="7345" y="57114"/>
                  </a:lnTo>
                  <a:lnTo>
                    <a:pt x="27376" y="27400"/>
                  </a:lnTo>
                  <a:lnTo>
                    <a:pt x="57087" y="7354"/>
                  </a:lnTo>
                  <a:lnTo>
                    <a:pt x="93472" y="0"/>
                  </a:lnTo>
                  <a:lnTo>
                    <a:pt x="7062470" y="0"/>
                  </a:lnTo>
                  <a:lnTo>
                    <a:pt x="7098827" y="7354"/>
                  </a:lnTo>
                  <a:lnTo>
                    <a:pt x="7128541" y="27400"/>
                  </a:lnTo>
                  <a:lnTo>
                    <a:pt x="7148587" y="57114"/>
                  </a:lnTo>
                  <a:lnTo>
                    <a:pt x="7155942" y="93472"/>
                  </a:lnTo>
                  <a:lnTo>
                    <a:pt x="7155942" y="467360"/>
                  </a:lnTo>
                  <a:lnTo>
                    <a:pt x="7148587" y="503717"/>
                  </a:lnTo>
                  <a:lnTo>
                    <a:pt x="7128541" y="533431"/>
                  </a:lnTo>
                  <a:lnTo>
                    <a:pt x="7098827" y="553477"/>
                  </a:lnTo>
                  <a:lnTo>
                    <a:pt x="7062470" y="560832"/>
                  </a:lnTo>
                  <a:lnTo>
                    <a:pt x="93472" y="560832"/>
                  </a:lnTo>
                  <a:lnTo>
                    <a:pt x="57087" y="553477"/>
                  </a:lnTo>
                  <a:lnTo>
                    <a:pt x="27376" y="533431"/>
                  </a:lnTo>
                  <a:lnTo>
                    <a:pt x="7345" y="503717"/>
                  </a:lnTo>
                  <a:lnTo>
                    <a:pt x="0" y="467360"/>
                  </a:lnTo>
                  <a:lnTo>
                    <a:pt x="0" y="93472"/>
                  </a:lnTo>
                  <a:close/>
                </a:path>
              </a:pathLst>
            </a:custGeom>
            <a:ln w="25146">
              <a:solidFill>
                <a:srgbClr val="FFFFFF"/>
              </a:solidFill>
            </a:ln>
          </p:spPr>
          <p:txBody>
            <a:bodyPr wrap="square" lIns="0" tIns="0" rIns="0" bIns="0" rtlCol="0"/>
            <a:lstStyle/>
            <a:p>
              <a:endParaRPr/>
            </a:p>
          </p:txBody>
        </p:sp>
      </p:grpSp>
      <p:sp>
        <p:nvSpPr>
          <p:cNvPr id="14" name="object 14"/>
          <p:cNvSpPr txBox="1"/>
          <p:nvPr/>
        </p:nvSpPr>
        <p:spPr>
          <a:xfrm>
            <a:off x="873114" y="3675126"/>
            <a:ext cx="7124065" cy="1225550"/>
          </a:xfrm>
          <a:prstGeom prst="rect">
            <a:avLst/>
          </a:prstGeom>
        </p:spPr>
        <p:txBody>
          <a:bodyPr vert="horz" wrap="square" lIns="0" tIns="12700" rIns="0" bIns="0" rtlCol="0">
            <a:spAutoFit/>
          </a:bodyPr>
          <a:lstStyle/>
          <a:p>
            <a:pPr marL="241935">
              <a:lnSpc>
                <a:spcPct val="100000"/>
              </a:lnSpc>
              <a:spcBef>
                <a:spcPts val="100"/>
              </a:spcBef>
            </a:pPr>
            <a:r>
              <a:rPr sz="1600" b="1" spc="-5" dirty="0">
                <a:solidFill>
                  <a:srgbClr val="FFFFFF"/>
                </a:solidFill>
                <a:latin typeface="Goudy Old Style"/>
                <a:cs typeface="Goudy Old Style"/>
              </a:rPr>
              <a:t>First, </a:t>
            </a:r>
            <a:r>
              <a:rPr sz="1600" b="1" spc="-10" dirty="0">
                <a:solidFill>
                  <a:srgbClr val="FFFFFF"/>
                </a:solidFill>
                <a:latin typeface="Goudy Old Style"/>
                <a:cs typeface="Goudy Old Style"/>
              </a:rPr>
              <a:t>there </a:t>
            </a:r>
            <a:r>
              <a:rPr sz="1600" b="1" spc="-5" dirty="0">
                <a:solidFill>
                  <a:srgbClr val="FFFFFF"/>
                </a:solidFill>
                <a:latin typeface="Goudy Old Style"/>
                <a:cs typeface="Goudy Old Style"/>
              </a:rPr>
              <a:t>is </a:t>
            </a:r>
            <a:r>
              <a:rPr sz="1600" b="1" dirty="0">
                <a:solidFill>
                  <a:srgbClr val="FFFFFF"/>
                </a:solidFill>
                <a:latin typeface="Goudy Old Style"/>
                <a:cs typeface="Goudy Old Style"/>
              </a:rPr>
              <a:t>a column common </a:t>
            </a:r>
            <a:r>
              <a:rPr sz="1600" b="1" spc="-10" dirty="0">
                <a:solidFill>
                  <a:srgbClr val="FFFFFF"/>
                </a:solidFill>
                <a:latin typeface="Goudy Old Style"/>
                <a:cs typeface="Goudy Old Style"/>
              </a:rPr>
              <a:t>to both </a:t>
            </a:r>
            <a:r>
              <a:rPr sz="1600" b="1" spc="-5" dirty="0">
                <a:solidFill>
                  <a:srgbClr val="FFFFFF"/>
                </a:solidFill>
                <a:latin typeface="Goudy Old Style"/>
                <a:cs typeface="Goudy Old Style"/>
              </a:rPr>
              <a:t>the </a:t>
            </a:r>
            <a:r>
              <a:rPr sz="1600" b="1" dirty="0">
                <a:solidFill>
                  <a:srgbClr val="FFFFFF"/>
                </a:solidFill>
                <a:latin typeface="Goudy Old Style"/>
                <a:cs typeface="Goudy Old Style"/>
              </a:rPr>
              <a:t>tables - </a:t>
            </a:r>
            <a:r>
              <a:rPr sz="1600" b="1" spc="-5" dirty="0">
                <a:solidFill>
                  <a:srgbClr val="FFFFFF"/>
                </a:solidFill>
                <a:latin typeface="Courier New"/>
                <a:cs typeface="Courier New"/>
              </a:rPr>
              <a:t>Roll</a:t>
            </a:r>
            <a:r>
              <a:rPr sz="1600" b="1" spc="-25" dirty="0">
                <a:solidFill>
                  <a:srgbClr val="FFFFFF"/>
                </a:solidFill>
                <a:latin typeface="Courier New"/>
                <a:cs typeface="Courier New"/>
              </a:rPr>
              <a:t> </a:t>
            </a:r>
            <a:r>
              <a:rPr sz="1600" b="1" spc="-5" dirty="0">
                <a:solidFill>
                  <a:srgbClr val="FFFFFF"/>
                </a:solidFill>
                <a:latin typeface="Courier New"/>
                <a:cs typeface="Courier New"/>
              </a:rPr>
              <a:t>Number</a:t>
            </a:r>
            <a:r>
              <a:rPr sz="1600" b="1" spc="-5" dirty="0">
                <a:solidFill>
                  <a:srgbClr val="FFFFFF"/>
                </a:solidFill>
                <a:latin typeface="Goudy Old Style"/>
                <a:cs typeface="Goudy Old Style"/>
              </a:rPr>
              <a:t>.</a:t>
            </a:r>
            <a:endParaRPr sz="1600">
              <a:latin typeface="Goudy Old Style"/>
              <a:cs typeface="Goudy Old Style"/>
            </a:endParaRPr>
          </a:p>
          <a:p>
            <a:pPr>
              <a:lnSpc>
                <a:spcPct val="100000"/>
              </a:lnSpc>
            </a:pPr>
            <a:endParaRPr sz="1900">
              <a:latin typeface="Goudy Old Style"/>
              <a:cs typeface="Goudy Old Style"/>
            </a:endParaRPr>
          </a:p>
          <a:p>
            <a:pPr marL="222885">
              <a:lnSpc>
                <a:spcPts val="1825"/>
              </a:lnSpc>
              <a:spcBef>
                <a:spcPts val="1595"/>
              </a:spcBef>
            </a:pPr>
            <a:r>
              <a:rPr sz="1600" b="1" spc="-5" dirty="0">
                <a:solidFill>
                  <a:srgbClr val="FFFFFF"/>
                </a:solidFill>
                <a:latin typeface="Goudy Old Style"/>
                <a:cs typeface="Goudy Old Style"/>
              </a:rPr>
              <a:t>Second, based on this column, the </a:t>
            </a:r>
            <a:r>
              <a:rPr sz="1600" b="1" spc="-10" dirty="0">
                <a:solidFill>
                  <a:srgbClr val="FFFFFF"/>
                </a:solidFill>
                <a:latin typeface="Goudy Old Style"/>
                <a:cs typeface="Goudy Old Style"/>
              </a:rPr>
              <a:t>records </a:t>
            </a:r>
            <a:r>
              <a:rPr sz="1600" b="1" spc="-5" dirty="0">
                <a:solidFill>
                  <a:srgbClr val="FFFFFF"/>
                </a:solidFill>
                <a:latin typeface="Goudy Old Style"/>
                <a:cs typeface="Goudy Old Style"/>
              </a:rPr>
              <a:t>from </a:t>
            </a:r>
            <a:r>
              <a:rPr sz="1600" b="1" spc="-10" dirty="0">
                <a:solidFill>
                  <a:srgbClr val="FFFFFF"/>
                </a:solidFill>
                <a:latin typeface="Goudy Old Style"/>
                <a:cs typeface="Goudy Old Style"/>
              </a:rPr>
              <a:t>two </a:t>
            </a:r>
            <a:r>
              <a:rPr sz="1600" b="1" spc="-5" dirty="0">
                <a:solidFill>
                  <a:srgbClr val="FFFFFF"/>
                </a:solidFill>
                <a:latin typeface="Goudy Old Style"/>
                <a:cs typeface="Goudy Old Style"/>
              </a:rPr>
              <a:t>different </a:t>
            </a:r>
            <a:r>
              <a:rPr sz="1600" b="1" dirty="0">
                <a:solidFill>
                  <a:srgbClr val="FFFFFF"/>
                </a:solidFill>
                <a:latin typeface="Goudy Old Style"/>
                <a:cs typeface="Goudy Old Style"/>
              </a:rPr>
              <a:t>tables </a:t>
            </a:r>
            <a:r>
              <a:rPr sz="1600" b="1" spc="-5" dirty="0">
                <a:solidFill>
                  <a:srgbClr val="FFFFFF"/>
                </a:solidFill>
                <a:latin typeface="Goudy Old Style"/>
                <a:cs typeface="Goudy Old Style"/>
              </a:rPr>
              <a:t>could</a:t>
            </a:r>
            <a:r>
              <a:rPr sz="1600" b="1" spc="-15" dirty="0">
                <a:solidFill>
                  <a:srgbClr val="FFFFFF"/>
                </a:solidFill>
                <a:latin typeface="Goudy Old Style"/>
                <a:cs typeface="Goudy Old Style"/>
              </a:rPr>
              <a:t> </a:t>
            </a:r>
            <a:r>
              <a:rPr sz="1600" b="1" spc="-5" dirty="0">
                <a:solidFill>
                  <a:srgbClr val="FFFFFF"/>
                </a:solidFill>
                <a:latin typeface="Goudy Old Style"/>
                <a:cs typeface="Goudy Old Style"/>
              </a:rPr>
              <a:t>be</a:t>
            </a:r>
            <a:endParaRPr sz="1600">
              <a:latin typeface="Goudy Old Style"/>
              <a:cs typeface="Goudy Old Style"/>
            </a:endParaRPr>
          </a:p>
          <a:p>
            <a:pPr marL="222885">
              <a:lnSpc>
                <a:spcPts val="1825"/>
              </a:lnSpc>
            </a:pPr>
            <a:r>
              <a:rPr sz="1600" b="1" spc="-5" dirty="0">
                <a:solidFill>
                  <a:srgbClr val="FFFFFF"/>
                </a:solidFill>
                <a:latin typeface="Goudy Old Style"/>
                <a:cs typeface="Goudy Old Style"/>
              </a:rPr>
              <a:t>matched and the </a:t>
            </a:r>
            <a:r>
              <a:rPr sz="1600" b="1" spc="-10" dirty="0">
                <a:solidFill>
                  <a:srgbClr val="FFFFFF"/>
                </a:solidFill>
                <a:latin typeface="Goudy Old Style"/>
                <a:cs typeface="Goudy Old Style"/>
              </a:rPr>
              <a:t>required information </a:t>
            </a:r>
            <a:r>
              <a:rPr sz="1600" b="1" spc="-5" dirty="0">
                <a:solidFill>
                  <a:srgbClr val="FFFFFF"/>
                </a:solidFill>
                <a:latin typeface="Goudy Old Style"/>
                <a:cs typeface="Goudy Old Style"/>
              </a:rPr>
              <a:t>could be</a:t>
            </a:r>
            <a:r>
              <a:rPr sz="1600" b="1" dirty="0">
                <a:solidFill>
                  <a:srgbClr val="FFFFFF"/>
                </a:solidFill>
                <a:latin typeface="Goudy Old Style"/>
                <a:cs typeface="Goudy Old Style"/>
              </a:rPr>
              <a:t> </a:t>
            </a:r>
            <a:r>
              <a:rPr sz="1600" b="1" spc="-5" dirty="0">
                <a:solidFill>
                  <a:srgbClr val="FFFFFF"/>
                </a:solidFill>
                <a:latin typeface="Goudy Old Style"/>
                <a:cs typeface="Goudy Old Style"/>
              </a:rPr>
              <a:t>obtained.</a:t>
            </a:r>
            <a:endParaRPr sz="1600">
              <a:latin typeface="Goudy Old Style"/>
              <a:cs typeface="Goudy Old Style"/>
            </a:endParaRPr>
          </a:p>
        </p:txBody>
      </p:sp>
      <p:sp>
        <p:nvSpPr>
          <p:cNvPr id="17" name="object 17"/>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27</a:t>
            </a:fld>
            <a:endParaRPr sz="1200"/>
          </a:p>
        </p:txBody>
      </p:sp>
      <p:sp>
        <p:nvSpPr>
          <p:cNvPr id="18" name="object 18"/>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15" name="object 15"/>
          <p:cNvSpPr txBox="1"/>
          <p:nvPr/>
        </p:nvSpPr>
        <p:spPr>
          <a:xfrm>
            <a:off x="459740" y="5290058"/>
            <a:ext cx="6439535" cy="848360"/>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3695" algn="l"/>
                <a:tab pos="354330" algn="l"/>
              </a:tabLst>
            </a:pPr>
            <a:r>
              <a:rPr sz="1800" spc="-5" dirty="0">
                <a:latin typeface="Goudy Old Style"/>
                <a:cs typeface="Goudy Old Style"/>
              </a:rPr>
              <a:t>In </a:t>
            </a:r>
            <a:r>
              <a:rPr sz="1800" dirty="0">
                <a:latin typeface="Goudy Old Style"/>
                <a:cs typeface="Goudy Old Style"/>
              </a:rPr>
              <a:t>a </a:t>
            </a:r>
            <a:r>
              <a:rPr sz="1800" spc="-10" dirty="0">
                <a:latin typeface="Goudy Old Style"/>
                <a:cs typeface="Goudy Old Style"/>
              </a:rPr>
              <a:t>relational </a:t>
            </a:r>
            <a:r>
              <a:rPr sz="1800" dirty="0">
                <a:latin typeface="Goudy Old Style"/>
                <a:cs typeface="Goudy Old Style"/>
              </a:rPr>
              <a:t>model, data is </a:t>
            </a:r>
            <a:r>
              <a:rPr sz="1800" spc="-15" dirty="0">
                <a:latin typeface="Goudy Old Style"/>
                <a:cs typeface="Goudy Old Style"/>
              </a:rPr>
              <a:t>stored </a:t>
            </a:r>
            <a:r>
              <a:rPr sz="1800" dirty="0">
                <a:latin typeface="Goudy Old Style"/>
                <a:cs typeface="Goudy Old Style"/>
              </a:rPr>
              <a:t>in</a:t>
            </a:r>
            <a:r>
              <a:rPr sz="1800" spc="5" dirty="0">
                <a:latin typeface="Goudy Old Style"/>
                <a:cs typeface="Goudy Old Style"/>
              </a:rPr>
              <a:t> </a:t>
            </a:r>
            <a:r>
              <a:rPr sz="1800" spc="-5" dirty="0">
                <a:latin typeface="Goudy Old Style"/>
                <a:cs typeface="Goudy Old Style"/>
              </a:rPr>
              <a:t>tables.</a:t>
            </a:r>
            <a:endParaRPr sz="1800">
              <a:latin typeface="Goudy Old Style"/>
              <a:cs typeface="Goudy Old Style"/>
            </a:endParaRPr>
          </a:p>
          <a:p>
            <a:pPr marL="353695" indent="-341630">
              <a:lnSpc>
                <a:spcPct val="100000"/>
              </a:lnSpc>
              <a:buFont typeface="Wingdings"/>
              <a:buChar char=""/>
              <a:tabLst>
                <a:tab pos="353695" algn="l"/>
                <a:tab pos="354330" algn="l"/>
              </a:tabLst>
            </a:pPr>
            <a:r>
              <a:rPr sz="1800" dirty="0">
                <a:latin typeface="Goudy Old Style"/>
                <a:cs typeface="Goudy Old Style"/>
              </a:rPr>
              <a:t>A table in a </a:t>
            </a:r>
            <a:r>
              <a:rPr sz="1800" spc="-5" dirty="0">
                <a:latin typeface="Goudy Old Style"/>
                <a:cs typeface="Goudy Old Style"/>
              </a:rPr>
              <a:t>database </a:t>
            </a:r>
            <a:r>
              <a:rPr sz="1800" dirty="0">
                <a:latin typeface="Goudy Old Style"/>
                <a:cs typeface="Goudy Old Style"/>
              </a:rPr>
              <a:t>has a </a:t>
            </a:r>
            <a:r>
              <a:rPr sz="1800" spc="-10" dirty="0">
                <a:latin typeface="Goudy Old Style"/>
                <a:cs typeface="Goudy Old Style"/>
              </a:rPr>
              <a:t>unique </a:t>
            </a:r>
            <a:r>
              <a:rPr sz="1800" spc="-5" dirty="0">
                <a:latin typeface="Goudy Old Style"/>
                <a:cs typeface="Goudy Old Style"/>
              </a:rPr>
              <a:t>name </a:t>
            </a:r>
            <a:r>
              <a:rPr sz="1800" dirty="0">
                <a:latin typeface="Goudy Old Style"/>
                <a:cs typeface="Goudy Old Style"/>
              </a:rPr>
              <a:t>that identifies its</a:t>
            </a:r>
            <a:r>
              <a:rPr sz="1800" spc="-95" dirty="0">
                <a:latin typeface="Goudy Old Style"/>
                <a:cs typeface="Goudy Old Style"/>
              </a:rPr>
              <a:t> </a:t>
            </a:r>
            <a:r>
              <a:rPr sz="1800" spc="-5" dirty="0">
                <a:latin typeface="Goudy Old Style"/>
                <a:cs typeface="Goudy Old Style"/>
              </a:rPr>
              <a:t>contents.</a:t>
            </a:r>
            <a:endParaRPr sz="1800">
              <a:latin typeface="Goudy Old Style"/>
              <a:cs typeface="Goudy Old Style"/>
            </a:endParaRPr>
          </a:p>
          <a:p>
            <a:pPr marL="353695" indent="-341630">
              <a:lnSpc>
                <a:spcPct val="100000"/>
              </a:lnSpc>
              <a:buFont typeface="Wingdings"/>
              <a:buChar char=""/>
              <a:tabLst>
                <a:tab pos="353695" algn="l"/>
                <a:tab pos="354330" algn="l"/>
              </a:tabLst>
            </a:pPr>
            <a:r>
              <a:rPr sz="1800" spc="-10" dirty="0">
                <a:latin typeface="Goudy Old Style"/>
                <a:cs typeface="Goudy Old Style"/>
              </a:rPr>
              <a:t>Each </a:t>
            </a:r>
            <a:r>
              <a:rPr sz="1800" dirty="0">
                <a:latin typeface="Goudy Old Style"/>
                <a:cs typeface="Goudy Old Style"/>
              </a:rPr>
              <a:t>table can be </a:t>
            </a:r>
            <a:r>
              <a:rPr sz="1800" spc="-5" dirty="0">
                <a:latin typeface="Goudy Old Style"/>
                <a:cs typeface="Goudy Old Style"/>
              </a:rPr>
              <a:t>defined as an intersection of </a:t>
            </a:r>
            <a:r>
              <a:rPr sz="1800" spc="-15" dirty="0">
                <a:latin typeface="Goudy Old Style"/>
                <a:cs typeface="Goudy Old Style"/>
              </a:rPr>
              <a:t>rows </a:t>
            </a:r>
            <a:r>
              <a:rPr sz="1800" spc="-5" dirty="0">
                <a:latin typeface="Goudy Old Style"/>
                <a:cs typeface="Goudy Old Style"/>
              </a:rPr>
              <a:t>and</a:t>
            </a:r>
            <a:r>
              <a:rPr sz="1800" spc="-15" dirty="0">
                <a:latin typeface="Goudy Old Style"/>
                <a:cs typeface="Goudy Old Style"/>
              </a:rPr>
              <a:t> </a:t>
            </a:r>
            <a:r>
              <a:rPr sz="1800" dirty="0">
                <a:latin typeface="Goudy Old Style"/>
                <a:cs typeface="Goudy Old Style"/>
              </a:rPr>
              <a:t>columns.</a:t>
            </a:r>
            <a:endParaRPr sz="1800">
              <a:latin typeface="Goudy Old Style"/>
              <a:cs typeface="Goudy Old Style"/>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5328285" cy="635635"/>
          </a:xfrm>
          <a:prstGeom prst="rect">
            <a:avLst/>
          </a:prstGeom>
        </p:spPr>
        <p:txBody>
          <a:bodyPr vert="horz" wrap="square" lIns="0" tIns="12700" rIns="0" bIns="0" rtlCol="0">
            <a:spAutoFit/>
          </a:bodyPr>
          <a:lstStyle/>
          <a:p>
            <a:pPr marL="12700">
              <a:lnSpc>
                <a:spcPct val="100000"/>
              </a:lnSpc>
              <a:spcBef>
                <a:spcPts val="100"/>
              </a:spcBef>
            </a:pPr>
            <a:r>
              <a:rPr sz="4000" b="0" spc="-10" dirty="0">
                <a:latin typeface="Goudy Old Style"/>
                <a:cs typeface="Goudy Old Style"/>
              </a:rPr>
              <a:t>Relational </a:t>
            </a:r>
            <a:r>
              <a:rPr sz="4000" b="0" spc="10" dirty="0">
                <a:latin typeface="Goudy Old Style"/>
                <a:cs typeface="Goudy Old Style"/>
              </a:rPr>
              <a:t>Data </a:t>
            </a:r>
            <a:r>
              <a:rPr sz="4000" b="0" spc="-5" dirty="0">
                <a:latin typeface="Goudy Old Style"/>
                <a:cs typeface="Goudy Old Style"/>
              </a:rPr>
              <a:t>Model</a:t>
            </a:r>
            <a:r>
              <a:rPr sz="4000" b="0" spc="-100" dirty="0">
                <a:latin typeface="Goudy Old Style"/>
                <a:cs typeface="Goudy Old Style"/>
              </a:rPr>
              <a:t> </a:t>
            </a:r>
            <a:r>
              <a:rPr sz="4000" b="0" spc="10" dirty="0">
                <a:latin typeface="Goudy Old Style"/>
                <a:cs typeface="Goudy Old Style"/>
              </a:rPr>
              <a:t>5-5</a:t>
            </a:r>
            <a:endParaRPr sz="4000">
              <a:latin typeface="Goudy Old Style"/>
              <a:cs typeface="Goudy Old Style"/>
            </a:endParaRPr>
          </a:p>
        </p:txBody>
      </p:sp>
      <p:grpSp>
        <p:nvGrpSpPr>
          <p:cNvPr id="3" name="object 3"/>
          <p:cNvGrpSpPr/>
          <p:nvPr/>
        </p:nvGrpSpPr>
        <p:grpSpPr>
          <a:xfrm>
            <a:off x="195834" y="1337297"/>
            <a:ext cx="8948420" cy="3255010"/>
            <a:chOff x="195834" y="1337297"/>
            <a:chExt cx="8948420" cy="3255010"/>
          </a:xfrm>
        </p:grpSpPr>
        <p:pic>
          <p:nvPicPr>
            <p:cNvPr id="4" name="object 4"/>
            <p:cNvPicPr/>
            <p:nvPr/>
          </p:nvPicPr>
          <p:blipFill>
            <a:blip r:embed="rId3" cstate="print"/>
            <a:stretch>
              <a:fillRect/>
            </a:stretch>
          </p:blipFill>
          <p:spPr>
            <a:xfrm>
              <a:off x="195834" y="1577340"/>
              <a:ext cx="8948166" cy="3014472"/>
            </a:xfrm>
            <a:prstGeom prst="rect">
              <a:avLst/>
            </a:prstGeom>
          </p:spPr>
        </p:pic>
        <p:pic>
          <p:nvPicPr>
            <p:cNvPr id="5" name="object 5"/>
            <p:cNvPicPr/>
            <p:nvPr/>
          </p:nvPicPr>
          <p:blipFill>
            <a:blip r:embed="rId4" cstate="print"/>
            <a:stretch>
              <a:fillRect/>
            </a:stretch>
          </p:blipFill>
          <p:spPr>
            <a:xfrm>
              <a:off x="843534" y="1798320"/>
              <a:ext cx="7759446" cy="2283713"/>
            </a:xfrm>
            <a:prstGeom prst="rect">
              <a:avLst/>
            </a:prstGeom>
          </p:spPr>
        </p:pic>
        <p:sp>
          <p:nvSpPr>
            <p:cNvPr id="6" name="object 6"/>
            <p:cNvSpPr/>
            <p:nvPr/>
          </p:nvSpPr>
          <p:spPr>
            <a:xfrm>
              <a:off x="241935" y="1600581"/>
              <a:ext cx="8877300" cy="2929255"/>
            </a:xfrm>
            <a:custGeom>
              <a:avLst/>
              <a:gdLst/>
              <a:ahLst/>
              <a:cxnLst/>
              <a:rect l="l" t="t" r="r" b="b"/>
              <a:pathLst>
                <a:path w="8877300" h="2929254">
                  <a:moveTo>
                    <a:pt x="0" y="2929128"/>
                  </a:moveTo>
                  <a:lnTo>
                    <a:pt x="8877300" y="2929128"/>
                  </a:lnTo>
                  <a:lnTo>
                    <a:pt x="8877300" y="0"/>
                  </a:lnTo>
                  <a:lnTo>
                    <a:pt x="0" y="0"/>
                  </a:lnTo>
                  <a:lnTo>
                    <a:pt x="0" y="2929128"/>
                  </a:lnTo>
                  <a:close/>
                </a:path>
              </a:pathLst>
            </a:custGeom>
            <a:ln w="9906">
              <a:solidFill>
                <a:srgbClr val="8063A1"/>
              </a:solidFill>
            </a:ln>
          </p:spPr>
          <p:txBody>
            <a:bodyPr wrap="square" lIns="0" tIns="0" rIns="0" bIns="0" rtlCol="0"/>
            <a:lstStyle/>
            <a:p>
              <a:endParaRPr/>
            </a:p>
          </p:txBody>
        </p:sp>
        <p:pic>
          <p:nvPicPr>
            <p:cNvPr id="7" name="object 7"/>
            <p:cNvPicPr/>
            <p:nvPr/>
          </p:nvPicPr>
          <p:blipFill>
            <a:blip r:embed="rId5" cstate="print"/>
            <a:stretch>
              <a:fillRect/>
            </a:stretch>
          </p:blipFill>
          <p:spPr>
            <a:xfrm>
              <a:off x="643128" y="1337297"/>
              <a:ext cx="6406134" cy="614946"/>
            </a:xfrm>
            <a:prstGeom prst="rect">
              <a:avLst/>
            </a:prstGeom>
          </p:spPr>
        </p:pic>
      </p:grpSp>
      <p:sp>
        <p:nvSpPr>
          <p:cNvPr id="8" name="object 8"/>
          <p:cNvSpPr txBox="1"/>
          <p:nvPr/>
        </p:nvSpPr>
        <p:spPr>
          <a:xfrm>
            <a:off x="929132" y="1245653"/>
            <a:ext cx="7489190" cy="2646680"/>
          </a:xfrm>
          <a:prstGeom prst="rect">
            <a:avLst/>
          </a:prstGeom>
        </p:spPr>
        <p:txBody>
          <a:bodyPr vert="horz" wrap="square" lIns="0" tIns="177165" rIns="0" bIns="0" rtlCol="0">
            <a:spAutoFit/>
          </a:bodyPr>
          <a:lstStyle/>
          <a:p>
            <a:pPr marL="12700">
              <a:lnSpc>
                <a:spcPct val="100000"/>
              </a:lnSpc>
              <a:spcBef>
                <a:spcPts val="1395"/>
              </a:spcBef>
            </a:pPr>
            <a:r>
              <a:rPr sz="2000" b="1" spc="-5" dirty="0">
                <a:solidFill>
                  <a:srgbClr val="FFFFFF"/>
                </a:solidFill>
                <a:latin typeface="Goudy Old Style"/>
                <a:cs typeface="Goudy Old Style"/>
              </a:rPr>
              <a:t>Advantages of the </a:t>
            </a:r>
            <a:r>
              <a:rPr sz="2000" b="1" spc="-10" dirty="0">
                <a:solidFill>
                  <a:srgbClr val="FFFFFF"/>
                </a:solidFill>
                <a:latin typeface="Goudy Old Style"/>
                <a:cs typeface="Goudy Old Style"/>
              </a:rPr>
              <a:t>relational</a:t>
            </a:r>
            <a:r>
              <a:rPr sz="2000" b="1" spc="15" dirty="0">
                <a:solidFill>
                  <a:srgbClr val="FFFFFF"/>
                </a:solidFill>
                <a:latin typeface="Goudy Old Style"/>
                <a:cs typeface="Goudy Old Style"/>
              </a:rPr>
              <a:t> </a:t>
            </a:r>
            <a:r>
              <a:rPr sz="2000" b="1" spc="-10" dirty="0">
                <a:solidFill>
                  <a:srgbClr val="FFFFFF"/>
                </a:solidFill>
                <a:latin typeface="Goudy Old Style"/>
                <a:cs typeface="Goudy Old Style"/>
              </a:rPr>
              <a:t>model</a:t>
            </a:r>
            <a:endParaRPr sz="2000">
              <a:latin typeface="Goudy Old Style"/>
              <a:cs typeface="Goudy Old Style"/>
            </a:endParaRPr>
          </a:p>
          <a:p>
            <a:pPr marL="92075">
              <a:lnSpc>
                <a:spcPts val="2055"/>
              </a:lnSpc>
              <a:spcBef>
                <a:spcPts val="1170"/>
              </a:spcBef>
            </a:pPr>
            <a:r>
              <a:rPr sz="1800" spc="-10" dirty="0">
                <a:latin typeface="Goudy Old Style"/>
                <a:cs typeface="Goudy Old Style"/>
              </a:rPr>
              <a:t>Gives </a:t>
            </a:r>
            <a:r>
              <a:rPr sz="1800" spc="-5" dirty="0">
                <a:latin typeface="Goudy Old Style"/>
                <a:cs typeface="Goudy Old Style"/>
              </a:rPr>
              <a:t>programmer </a:t>
            </a:r>
            <a:r>
              <a:rPr sz="1800" dirty="0">
                <a:latin typeface="Goudy Old Style"/>
                <a:cs typeface="Goudy Old Style"/>
              </a:rPr>
              <a:t>time </a:t>
            </a:r>
            <a:r>
              <a:rPr sz="1800" spc="-10" dirty="0">
                <a:latin typeface="Goudy Old Style"/>
                <a:cs typeface="Goudy Old Style"/>
              </a:rPr>
              <a:t>to </a:t>
            </a:r>
            <a:r>
              <a:rPr sz="1800" spc="-5" dirty="0">
                <a:latin typeface="Goudy Old Style"/>
                <a:cs typeface="Goudy Old Style"/>
              </a:rPr>
              <a:t>concentrate on </a:t>
            </a:r>
            <a:r>
              <a:rPr sz="1800" dirty="0">
                <a:latin typeface="Goudy Old Style"/>
                <a:cs typeface="Goudy Old Style"/>
              </a:rPr>
              <a:t>logical </a:t>
            </a:r>
            <a:r>
              <a:rPr sz="1800" spc="-5" dirty="0">
                <a:latin typeface="Goudy Old Style"/>
                <a:cs typeface="Goudy Old Style"/>
              </a:rPr>
              <a:t>view of the </a:t>
            </a:r>
            <a:r>
              <a:rPr sz="1800" dirty="0">
                <a:latin typeface="Goudy Old Style"/>
                <a:cs typeface="Goudy Old Style"/>
              </a:rPr>
              <a:t>database rather</a:t>
            </a:r>
            <a:r>
              <a:rPr sz="1800" spc="-15" dirty="0">
                <a:latin typeface="Goudy Old Style"/>
                <a:cs typeface="Goudy Old Style"/>
              </a:rPr>
              <a:t> </a:t>
            </a:r>
            <a:r>
              <a:rPr sz="1800" dirty="0">
                <a:latin typeface="Goudy Old Style"/>
                <a:cs typeface="Goudy Old Style"/>
              </a:rPr>
              <a:t>than</a:t>
            </a:r>
            <a:endParaRPr sz="1800">
              <a:latin typeface="Goudy Old Style"/>
              <a:cs typeface="Goudy Old Style"/>
            </a:endParaRPr>
          </a:p>
          <a:p>
            <a:pPr marL="92075">
              <a:lnSpc>
                <a:spcPts val="2055"/>
              </a:lnSpc>
            </a:pPr>
            <a:r>
              <a:rPr sz="1800" dirty="0">
                <a:latin typeface="Goudy Old Style"/>
                <a:cs typeface="Goudy Old Style"/>
              </a:rPr>
              <a:t>being </a:t>
            </a:r>
            <a:r>
              <a:rPr sz="1800" spc="-10" dirty="0">
                <a:latin typeface="Goudy Old Style"/>
                <a:cs typeface="Goudy Old Style"/>
              </a:rPr>
              <a:t>bothered </a:t>
            </a:r>
            <a:r>
              <a:rPr sz="1800" spc="-5" dirty="0">
                <a:latin typeface="Goudy Old Style"/>
                <a:cs typeface="Goudy Old Style"/>
              </a:rPr>
              <a:t>about </a:t>
            </a:r>
            <a:r>
              <a:rPr sz="1800" dirty="0">
                <a:latin typeface="Goudy Old Style"/>
                <a:cs typeface="Goudy Old Style"/>
              </a:rPr>
              <a:t>the </a:t>
            </a:r>
            <a:r>
              <a:rPr sz="1800" spc="-15" dirty="0">
                <a:latin typeface="Goudy Old Style"/>
                <a:cs typeface="Goudy Old Style"/>
              </a:rPr>
              <a:t>physical</a:t>
            </a:r>
            <a:r>
              <a:rPr sz="1800" spc="-5" dirty="0">
                <a:latin typeface="Goudy Old Style"/>
                <a:cs typeface="Goudy Old Style"/>
              </a:rPr>
              <a:t> </a:t>
            </a:r>
            <a:r>
              <a:rPr sz="1800" spc="-20" dirty="0">
                <a:latin typeface="Goudy Old Style"/>
                <a:cs typeface="Goudy Old Style"/>
              </a:rPr>
              <a:t>view.</a:t>
            </a:r>
            <a:endParaRPr sz="1800">
              <a:latin typeface="Goudy Old Style"/>
              <a:cs typeface="Goudy Old Style"/>
            </a:endParaRPr>
          </a:p>
          <a:p>
            <a:pPr marL="92075">
              <a:lnSpc>
                <a:spcPct val="100000"/>
              </a:lnSpc>
              <a:spcBef>
                <a:spcPts val="1730"/>
              </a:spcBef>
            </a:pPr>
            <a:r>
              <a:rPr sz="1800" spc="-10" dirty="0">
                <a:latin typeface="Goudy Old Style"/>
                <a:cs typeface="Goudy Old Style"/>
              </a:rPr>
              <a:t>Provides </a:t>
            </a:r>
            <a:r>
              <a:rPr sz="1800" dirty="0">
                <a:latin typeface="Goudy Old Style"/>
                <a:cs typeface="Goudy Old Style"/>
              </a:rPr>
              <a:t>querying flexibility </a:t>
            </a:r>
            <a:r>
              <a:rPr sz="1800" spc="-5" dirty="0">
                <a:latin typeface="Goudy Old Style"/>
                <a:cs typeface="Goudy Old Style"/>
              </a:rPr>
              <a:t>and </a:t>
            </a:r>
            <a:r>
              <a:rPr sz="1800" dirty="0">
                <a:latin typeface="Goudy Old Style"/>
                <a:cs typeface="Goudy Old Style"/>
              </a:rPr>
              <a:t>hence, leads </a:t>
            </a:r>
            <a:r>
              <a:rPr sz="1800" spc="-5" dirty="0">
                <a:latin typeface="Goudy Old Style"/>
                <a:cs typeface="Goudy Old Style"/>
              </a:rPr>
              <a:t>to </a:t>
            </a:r>
            <a:r>
              <a:rPr sz="1800" dirty="0">
                <a:latin typeface="Goudy Old Style"/>
                <a:cs typeface="Goudy Old Style"/>
              </a:rPr>
              <a:t>popularity </a:t>
            </a:r>
            <a:r>
              <a:rPr sz="1800" spc="-5" dirty="0">
                <a:latin typeface="Goudy Old Style"/>
                <a:cs typeface="Goudy Old Style"/>
              </a:rPr>
              <a:t>of </a:t>
            </a:r>
            <a:r>
              <a:rPr sz="1800" spc="-10" dirty="0">
                <a:latin typeface="Goudy Old Style"/>
                <a:cs typeface="Goudy Old Style"/>
              </a:rPr>
              <a:t>relational</a:t>
            </a:r>
            <a:r>
              <a:rPr sz="1800" spc="45" dirty="0">
                <a:latin typeface="Goudy Old Style"/>
                <a:cs typeface="Goudy Old Style"/>
              </a:rPr>
              <a:t> </a:t>
            </a:r>
            <a:r>
              <a:rPr sz="1800" spc="-5" dirty="0">
                <a:latin typeface="Goudy Old Style"/>
                <a:cs typeface="Goudy Old Style"/>
              </a:rPr>
              <a:t>databases.</a:t>
            </a:r>
            <a:endParaRPr sz="1800">
              <a:latin typeface="Goudy Old Style"/>
              <a:cs typeface="Goudy Old Style"/>
            </a:endParaRPr>
          </a:p>
          <a:p>
            <a:pPr>
              <a:lnSpc>
                <a:spcPct val="100000"/>
              </a:lnSpc>
              <a:spcBef>
                <a:spcPts val="55"/>
              </a:spcBef>
            </a:pPr>
            <a:endParaRPr sz="1600">
              <a:latin typeface="Goudy Old Style"/>
              <a:cs typeface="Goudy Old Style"/>
            </a:endParaRPr>
          </a:p>
          <a:p>
            <a:pPr marL="92075" marR="165735">
              <a:lnSpc>
                <a:spcPts val="1939"/>
              </a:lnSpc>
            </a:pPr>
            <a:r>
              <a:rPr sz="1800" spc="-5" dirty="0">
                <a:latin typeface="Goudy Old Style"/>
                <a:cs typeface="Goudy Old Style"/>
              </a:rPr>
              <a:t>Easy to handle </a:t>
            </a:r>
            <a:r>
              <a:rPr sz="1800" dirty="0">
                <a:latin typeface="Goudy Old Style"/>
                <a:cs typeface="Goudy Old Style"/>
              </a:rPr>
              <a:t>model </a:t>
            </a:r>
            <a:r>
              <a:rPr sz="1800" spc="-10" dirty="0">
                <a:latin typeface="Goudy Old Style"/>
                <a:cs typeface="Goudy Old Style"/>
              </a:rPr>
              <a:t>to </a:t>
            </a:r>
            <a:r>
              <a:rPr sz="1800" dirty="0">
                <a:latin typeface="Goudy Old Style"/>
                <a:cs typeface="Goudy Old Style"/>
              </a:rPr>
              <a:t>the </a:t>
            </a:r>
            <a:r>
              <a:rPr sz="1800" spc="-10" dirty="0">
                <a:latin typeface="Goudy Old Style"/>
                <a:cs typeface="Goudy Old Style"/>
              </a:rPr>
              <a:t>extent </a:t>
            </a:r>
            <a:r>
              <a:rPr sz="1800" dirty="0">
                <a:latin typeface="Goudy Old Style"/>
                <a:cs typeface="Goudy Old Style"/>
              </a:rPr>
              <a:t>that </a:t>
            </a:r>
            <a:r>
              <a:rPr sz="1800" spc="-10" dirty="0">
                <a:latin typeface="Goudy Old Style"/>
                <a:cs typeface="Goudy Old Style"/>
              </a:rPr>
              <a:t>even </a:t>
            </a:r>
            <a:r>
              <a:rPr sz="1800" spc="-5" dirty="0">
                <a:latin typeface="Goudy Old Style"/>
                <a:cs typeface="Goudy Old Style"/>
              </a:rPr>
              <a:t>untrained </a:t>
            </a:r>
            <a:r>
              <a:rPr sz="1800" dirty="0">
                <a:latin typeface="Goudy Old Style"/>
                <a:cs typeface="Goudy Old Style"/>
              </a:rPr>
              <a:t>people find it </a:t>
            </a:r>
            <a:r>
              <a:rPr sz="1800" spc="-5" dirty="0">
                <a:latin typeface="Goudy Old Style"/>
                <a:cs typeface="Goudy Old Style"/>
              </a:rPr>
              <a:t>easy </a:t>
            </a:r>
            <a:r>
              <a:rPr sz="1800" spc="-10" dirty="0">
                <a:latin typeface="Goudy Old Style"/>
                <a:cs typeface="Goudy Old Style"/>
              </a:rPr>
              <a:t>to  </a:t>
            </a:r>
            <a:r>
              <a:rPr sz="1800" spc="-5" dirty="0">
                <a:latin typeface="Goudy Old Style"/>
                <a:cs typeface="Goudy Old Style"/>
              </a:rPr>
              <a:t>generate handy reports and </a:t>
            </a:r>
            <a:r>
              <a:rPr sz="1800" spc="-10" dirty="0">
                <a:latin typeface="Goudy Old Style"/>
                <a:cs typeface="Goudy Old Style"/>
              </a:rPr>
              <a:t>queries, </a:t>
            </a:r>
            <a:r>
              <a:rPr sz="1800" dirty="0">
                <a:latin typeface="Goudy Old Style"/>
                <a:cs typeface="Goudy Old Style"/>
              </a:rPr>
              <a:t>without giving </a:t>
            </a:r>
            <a:r>
              <a:rPr sz="1800" spc="-10" dirty="0">
                <a:latin typeface="Goudy Old Style"/>
                <a:cs typeface="Goudy Old Style"/>
              </a:rPr>
              <a:t>much </a:t>
            </a:r>
            <a:r>
              <a:rPr sz="1800" spc="-5" dirty="0">
                <a:latin typeface="Goudy Old Style"/>
                <a:cs typeface="Goudy Old Style"/>
              </a:rPr>
              <a:t>thought to </a:t>
            </a:r>
            <a:r>
              <a:rPr sz="1800" dirty="0">
                <a:latin typeface="Goudy Old Style"/>
                <a:cs typeface="Goudy Old Style"/>
              </a:rPr>
              <a:t>the </a:t>
            </a:r>
            <a:r>
              <a:rPr sz="1800" spc="-5" dirty="0">
                <a:latin typeface="Goudy Old Style"/>
                <a:cs typeface="Goudy Old Style"/>
              </a:rPr>
              <a:t>need to  design </a:t>
            </a:r>
            <a:r>
              <a:rPr sz="1800" dirty="0">
                <a:latin typeface="Goudy Old Style"/>
                <a:cs typeface="Goudy Old Style"/>
              </a:rPr>
              <a:t>a </a:t>
            </a:r>
            <a:r>
              <a:rPr sz="1800" spc="-10" dirty="0">
                <a:latin typeface="Goudy Old Style"/>
                <a:cs typeface="Goudy Old Style"/>
              </a:rPr>
              <a:t>proper</a:t>
            </a:r>
            <a:r>
              <a:rPr sz="1800" spc="-15" dirty="0">
                <a:latin typeface="Goudy Old Style"/>
                <a:cs typeface="Goudy Old Style"/>
              </a:rPr>
              <a:t> </a:t>
            </a:r>
            <a:r>
              <a:rPr sz="1800" spc="-5" dirty="0">
                <a:latin typeface="Goudy Old Style"/>
                <a:cs typeface="Goudy Old Style"/>
              </a:rPr>
              <a:t>database.</a:t>
            </a:r>
            <a:endParaRPr sz="1800">
              <a:latin typeface="Goudy Old Style"/>
              <a:cs typeface="Goudy Old Style"/>
            </a:endParaRPr>
          </a:p>
        </p:txBody>
      </p:sp>
      <p:grpSp>
        <p:nvGrpSpPr>
          <p:cNvPr id="9" name="object 9"/>
          <p:cNvGrpSpPr/>
          <p:nvPr/>
        </p:nvGrpSpPr>
        <p:grpSpPr>
          <a:xfrm>
            <a:off x="195834" y="4568939"/>
            <a:ext cx="8948420" cy="1317625"/>
            <a:chOff x="195834" y="4568939"/>
            <a:chExt cx="8948420" cy="1317625"/>
          </a:xfrm>
        </p:grpSpPr>
        <p:pic>
          <p:nvPicPr>
            <p:cNvPr id="10" name="object 10"/>
            <p:cNvPicPr/>
            <p:nvPr/>
          </p:nvPicPr>
          <p:blipFill>
            <a:blip r:embed="rId6" cstate="print"/>
            <a:stretch>
              <a:fillRect/>
            </a:stretch>
          </p:blipFill>
          <p:spPr>
            <a:xfrm>
              <a:off x="195834" y="4808982"/>
              <a:ext cx="8948166" cy="1077468"/>
            </a:xfrm>
            <a:prstGeom prst="rect">
              <a:avLst/>
            </a:prstGeom>
          </p:spPr>
        </p:pic>
        <p:pic>
          <p:nvPicPr>
            <p:cNvPr id="11" name="object 11"/>
            <p:cNvPicPr/>
            <p:nvPr/>
          </p:nvPicPr>
          <p:blipFill>
            <a:blip r:embed="rId7" cstate="print"/>
            <a:stretch>
              <a:fillRect/>
            </a:stretch>
          </p:blipFill>
          <p:spPr>
            <a:xfrm>
              <a:off x="752093" y="5029962"/>
              <a:ext cx="7459980" cy="843534"/>
            </a:xfrm>
            <a:prstGeom prst="rect">
              <a:avLst/>
            </a:prstGeom>
          </p:spPr>
        </p:pic>
        <p:sp>
          <p:nvSpPr>
            <p:cNvPr id="12" name="object 12"/>
            <p:cNvSpPr/>
            <p:nvPr/>
          </p:nvSpPr>
          <p:spPr>
            <a:xfrm>
              <a:off x="241935" y="4832223"/>
              <a:ext cx="8877300" cy="992505"/>
            </a:xfrm>
            <a:custGeom>
              <a:avLst/>
              <a:gdLst/>
              <a:ahLst/>
              <a:cxnLst/>
              <a:rect l="l" t="t" r="r" b="b"/>
              <a:pathLst>
                <a:path w="8877300" h="992504">
                  <a:moveTo>
                    <a:pt x="0" y="992123"/>
                  </a:moveTo>
                  <a:lnTo>
                    <a:pt x="8877300" y="992123"/>
                  </a:lnTo>
                  <a:lnTo>
                    <a:pt x="8877300" y="0"/>
                  </a:lnTo>
                  <a:lnTo>
                    <a:pt x="0" y="0"/>
                  </a:lnTo>
                  <a:lnTo>
                    <a:pt x="0" y="992123"/>
                  </a:lnTo>
                  <a:close/>
                </a:path>
              </a:pathLst>
            </a:custGeom>
            <a:ln w="9906">
              <a:solidFill>
                <a:srgbClr val="4AACC5"/>
              </a:solidFill>
            </a:ln>
          </p:spPr>
          <p:txBody>
            <a:bodyPr wrap="square" lIns="0" tIns="0" rIns="0" bIns="0" rtlCol="0"/>
            <a:lstStyle/>
            <a:p>
              <a:endParaRPr/>
            </a:p>
          </p:txBody>
        </p:sp>
        <p:pic>
          <p:nvPicPr>
            <p:cNvPr id="13" name="object 13"/>
            <p:cNvPicPr/>
            <p:nvPr/>
          </p:nvPicPr>
          <p:blipFill>
            <a:blip r:embed="rId8" cstate="print"/>
            <a:stretch>
              <a:fillRect/>
            </a:stretch>
          </p:blipFill>
          <p:spPr>
            <a:xfrm>
              <a:off x="643128" y="4568939"/>
              <a:ext cx="6295644" cy="614946"/>
            </a:xfrm>
            <a:prstGeom prst="rect">
              <a:avLst/>
            </a:prstGeom>
          </p:spPr>
        </p:pic>
      </p:grpSp>
      <p:sp>
        <p:nvSpPr>
          <p:cNvPr id="14" name="object 14"/>
          <p:cNvSpPr txBox="1"/>
          <p:nvPr/>
        </p:nvSpPr>
        <p:spPr>
          <a:xfrm>
            <a:off x="917702" y="4477056"/>
            <a:ext cx="7136765" cy="1207135"/>
          </a:xfrm>
          <a:prstGeom prst="rect">
            <a:avLst/>
          </a:prstGeom>
        </p:spPr>
        <p:txBody>
          <a:bodyPr vert="horz" wrap="square" lIns="0" tIns="177800" rIns="0" bIns="0" rtlCol="0">
            <a:spAutoFit/>
          </a:bodyPr>
          <a:lstStyle/>
          <a:p>
            <a:pPr marL="23495">
              <a:lnSpc>
                <a:spcPct val="100000"/>
              </a:lnSpc>
              <a:spcBef>
                <a:spcPts val="1400"/>
              </a:spcBef>
            </a:pPr>
            <a:r>
              <a:rPr sz="2000" b="1" spc="-5" dirty="0">
                <a:solidFill>
                  <a:srgbClr val="FFFFFF"/>
                </a:solidFill>
                <a:latin typeface="Goudy Old Style"/>
                <a:cs typeface="Goudy Old Style"/>
              </a:rPr>
              <a:t>Disadvantages of the </a:t>
            </a:r>
            <a:r>
              <a:rPr sz="2000" b="1" spc="-10" dirty="0">
                <a:solidFill>
                  <a:srgbClr val="FFFFFF"/>
                </a:solidFill>
                <a:latin typeface="Goudy Old Style"/>
                <a:cs typeface="Goudy Old Style"/>
              </a:rPr>
              <a:t>relational</a:t>
            </a:r>
            <a:r>
              <a:rPr sz="2000" b="1" spc="30" dirty="0">
                <a:solidFill>
                  <a:srgbClr val="FFFFFF"/>
                </a:solidFill>
                <a:latin typeface="Goudy Old Style"/>
                <a:cs typeface="Goudy Old Style"/>
              </a:rPr>
              <a:t> </a:t>
            </a:r>
            <a:r>
              <a:rPr sz="2000" b="1" spc="-10" dirty="0">
                <a:solidFill>
                  <a:srgbClr val="FFFFFF"/>
                </a:solidFill>
                <a:latin typeface="Goudy Old Style"/>
                <a:cs typeface="Goudy Old Style"/>
              </a:rPr>
              <a:t>model</a:t>
            </a:r>
            <a:endParaRPr sz="2000">
              <a:latin typeface="Goudy Old Style"/>
              <a:cs typeface="Goudy Old Style"/>
            </a:endParaRPr>
          </a:p>
          <a:p>
            <a:pPr marL="12700" marR="5080">
              <a:lnSpc>
                <a:spcPct val="105000"/>
              </a:lnSpc>
              <a:spcBef>
                <a:spcPts val="1065"/>
              </a:spcBef>
            </a:pPr>
            <a:r>
              <a:rPr sz="1800" dirty="0">
                <a:latin typeface="Goudy Old Style"/>
                <a:cs typeface="Goudy Old Style"/>
              </a:rPr>
              <a:t>Hides </a:t>
            </a:r>
            <a:r>
              <a:rPr sz="1800" spc="-5" dirty="0">
                <a:latin typeface="Goudy Old Style"/>
                <a:cs typeface="Goudy Old Style"/>
              </a:rPr>
              <a:t>all </a:t>
            </a:r>
            <a:r>
              <a:rPr sz="1800" spc="-10" dirty="0">
                <a:latin typeface="Goudy Old Style"/>
                <a:cs typeface="Goudy Old Style"/>
              </a:rPr>
              <a:t>complexities </a:t>
            </a:r>
            <a:r>
              <a:rPr sz="1800" spc="-5" dirty="0">
                <a:latin typeface="Goudy Old Style"/>
                <a:cs typeface="Goudy Old Style"/>
              </a:rPr>
              <a:t>of </a:t>
            </a:r>
            <a:r>
              <a:rPr sz="1800" dirty="0">
                <a:latin typeface="Goudy Old Style"/>
                <a:cs typeface="Goudy Old Style"/>
              </a:rPr>
              <a:t>the </a:t>
            </a:r>
            <a:r>
              <a:rPr sz="1800" spc="-5" dirty="0">
                <a:latin typeface="Goudy Old Style"/>
                <a:cs typeface="Goudy Old Style"/>
              </a:rPr>
              <a:t>system and </a:t>
            </a:r>
            <a:r>
              <a:rPr sz="1800" dirty="0">
                <a:latin typeface="Goudy Old Style"/>
                <a:cs typeface="Goudy Old Style"/>
              </a:rPr>
              <a:t>hence, it </a:t>
            </a:r>
            <a:r>
              <a:rPr sz="1800" spc="-10" dirty="0">
                <a:latin typeface="Goudy Old Style"/>
                <a:cs typeface="Goudy Old Style"/>
              </a:rPr>
              <a:t>tends </a:t>
            </a:r>
            <a:r>
              <a:rPr sz="1800" spc="-5" dirty="0">
                <a:latin typeface="Goudy Old Style"/>
                <a:cs typeface="Goudy Old Style"/>
              </a:rPr>
              <a:t>to </a:t>
            </a:r>
            <a:r>
              <a:rPr sz="1800" dirty="0">
                <a:latin typeface="Goudy Old Style"/>
                <a:cs typeface="Goudy Old Style"/>
              </a:rPr>
              <a:t>be </a:t>
            </a:r>
            <a:r>
              <a:rPr sz="1800" spc="-15" dirty="0">
                <a:latin typeface="Goudy Old Style"/>
                <a:cs typeface="Goudy Old Style"/>
              </a:rPr>
              <a:t>slower </a:t>
            </a:r>
            <a:r>
              <a:rPr sz="1800" dirty="0">
                <a:latin typeface="Goudy Old Style"/>
                <a:cs typeface="Goudy Old Style"/>
              </a:rPr>
              <a:t>than </a:t>
            </a:r>
            <a:r>
              <a:rPr sz="1800" spc="-5" dirty="0">
                <a:latin typeface="Goudy Old Style"/>
                <a:cs typeface="Goudy Old Style"/>
              </a:rPr>
              <a:t>other  database</a:t>
            </a:r>
            <a:r>
              <a:rPr sz="1800" spc="-10" dirty="0">
                <a:latin typeface="Goudy Old Style"/>
                <a:cs typeface="Goudy Old Style"/>
              </a:rPr>
              <a:t> systems.</a:t>
            </a:r>
            <a:endParaRPr sz="1800">
              <a:latin typeface="Goudy Old Style"/>
              <a:cs typeface="Goudy Old Style"/>
            </a:endParaRPr>
          </a:p>
        </p:txBody>
      </p:sp>
      <p:sp>
        <p:nvSpPr>
          <p:cNvPr id="16" name="object 16"/>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28</a:t>
            </a:fld>
            <a:endParaRPr sz="1200"/>
          </a:p>
        </p:txBody>
      </p:sp>
      <p:sp>
        <p:nvSpPr>
          <p:cNvPr id="17" name="object 17"/>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88467"/>
            <a:ext cx="7806055" cy="452755"/>
          </a:xfrm>
          <a:prstGeom prst="rect">
            <a:avLst/>
          </a:prstGeom>
        </p:spPr>
        <p:txBody>
          <a:bodyPr vert="horz" wrap="square" lIns="0" tIns="12700" rIns="0" bIns="0" rtlCol="0">
            <a:spAutoFit/>
          </a:bodyPr>
          <a:lstStyle/>
          <a:p>
            <a:pPr marL="12700">
              <a:lnSpc>
                <a:spcPct val="100000"/>
              </a:lnSpc>
              <a:spcBef>
                <a:spcPts val="100"/>
              </a:spcBef>
            </a:pPr>
            <a:r>
              <a:rPr sz="2800" b="0" spc="-10" dirty="0">
                <a:latin typeface="Goudy Old Style"/>
                <a:cs typeface="Goudy Old Style"/>
              </a:rPr>
              <a:t>Relational </a:t>
            </a:r>
            <a:r>
              <a:rPr sz="2800" b="0" dirty="0">
                <a:latin typeface="Goudy Old Style"/>
                <a:cs typeface="Goudy Old Style"/>
              </a:rPr>
              <a:t>Database </a:t>
            </a:r>
            <a:r>
              <a:rPr sz="2800" b="0" spc="-5" dirty="0">
                <a:latin typeface="Goudy Old Style"/>
                <a:cs typeface="Goudy Old Style"/>
              </a:rPr>
              <a:t>Management System (RDBMS)</a:t>
            </a:r>
            <a:r>
              <a:rPr sz="2800" b="0" spc="-35" dirty="0">
                <a:latin typeface="Goudy Old Style"/>
                <a:cs typeface="Goudy Old Style"/>
              </a:rPr>
              <a:t> </a:t>
            </a:r>
            <a:r>
              <a:rPr sz="2800" b="0" spc="15" dirty="0">
                <a:latin typeface="Goudy Old Style"/>
                <a:cs typeface="Goudy Old Style"/>
              </a:rPr>
              <a:t>1-3</a:t>
            </a:r>
            <a:endParaRPr sz="2800">
              <a:latin typeface="Goudy Old Style"/>
              <a:cs typeface="Goudy Old Style"/>
            </a:endParaRPr>
          </a:p>
        </p:txBody>
      </p:sp>
      <p:pic>
        <p:nvPicPr>
          <p:cNvPr id="3" name="object 3"/>
          <p:cNvPicPr/>
          <p:nvPr/>
        </p:nvPicPr>
        <p:blipFill>
          <a:blip r:embed="rId3" cstate="print"/>
          <a:stretch>
            <a:fillRect/>
          </a:stretch>
        </p:blipFill>
        <p:spPr>
          <a:xfrm>
            <a:off x="339090" y="3790950"/>
            <a:ext cx="8234933" cy="919733"/>
          </a:xfrm>
          <a:prstGeom prst="rect">
            <a:avLst/>
          </a:prstGeom>
        </p:spPr>
      </p:pic>
      <p:pic>
        <p:nvPicPr>
          <p:cNvPr id="4" name="object 4"/>
          <p:cNvPicPr/>
          <p:nvPr/>
        </p:nvPicPr>
        <p:blipFill>
          <a:blip r:embed="rId4" cstate="print"/>
          <a:stretch>
            <a:fillRect/>
          </a:stretch>
        </p:blipFill>
        <p:spPr>
          <a:xfrm>
            <a:off x="339090" y="971537"/>
            <a:ext cx="8234933" cy="843546"/>
          </a:xfrm>
          <a:prstGeom prst="rect">
            <a:avLst/>
          </a:prstGeom>
        </p:spPr>
      </p:pic>
      <p:pic>
        <p:nvPicPr>
          <p:cNvPr id="5" name="object 5"/>
          <p:cNvPicPr/>
          <p:nvPr/>
        </p:nvPicPr>
        <p:blipFill>
          <a:blip r:embed="rId5" cstate="print"/>
          <a:stretch>
            <a:fillRect/>
          </a:stretch>
        </p:blipFill>
        <p:spPr>
          <a:xfrm>
            <a:off x="339090" y="1885937"/>
            <a:ext cx="8234933" cy="843546"/>
          </a:xfrm>
          <a:prstGeom prst="rect">
            <a:avLst/>
          </a:prstGeom>
        </p:spPr>
      </p:pic>
      <p:pic>
        <p:nvPicPr>
          <p:cNvPr id="6" name="object 6"/>
          <p:cNvPicPr/>
          <p:nvPr/>
        </p:nvPicPr>
        <p:blipFill>
          <a:blip r:embed="rId6" cstate="print"/>
          <a:stretch>
            <a:fillRect/>
          </a:stretch>
        </p:blipFill>
        <p:spPr>
          <a:xfrm>
            <a:off x="339090" y="2800337"/>
            <a:ext cx="8234933" cy="919746"/>
          </a:xfrm>
          <a:prstGeom prst="rect">
            <a:avLst/>
          </a:prstGeom>
        </p:spPr>
      </p:pic>
      <p:sp>
        <p:nvSpPr>
          <p:cNvPr id="7" name="object 7"/>
          <p:cNvSpPr txBox="1"/>
          <p:nvPr/>
        </p:nvSpPr>
        <p:spPr>
          <a:xfrm>
            <a:off x="514095" y="1195323"/>
            <a:ext cx="7752715" cy="3321685"/>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FFFFF"/>
                </a:solidFill>
                <a:latin typeface="Goudy Old Style"/>
                <a:cs typeface="Goudy Old Style"/>
              </a:rPr>
              <a:t>Relational </a:t>
            </a:r>
            <a:r>
              <a:rPr sz="1800" spc="-5" dirty="0">
                <a:solidFill>
                  <a:srgbClr val="FFFFFF"/>
                </a:solidFill>
                <a:latin typeface="Goudy Old Style"/>
                <a:cs typeface="Goudy Old Style"/>
              </a:rPr>
              <a:t>Model </a:t>
            </a:r>
            <a:r>
              <a:rPr sz="1800" dirty="0">
                <a:solidFill>
                  <a:srgbClr val="FFFFFF"/>
                </a:solidFill>
                <a:latin typeface="Goudy Old Style"/>
                <a:cs typeface="Goudy Old Style"/>
              </a:rPr>
              <a:t>is </a:t>
            </a:r>
            <a:r>
              <a:rPr sz="1800" spc="-5" dirty="0">
                <a:solidFill>
                  <a:srgbClr val="FFFFFF"/>
                </a:solidFill>
                <a:latin typeface="Goudy Old Style"/>
                <a:cs typeface="Goudy Old Style"/>
              </a:rPr>
              <a:t>an </a:t>
            </a:r>
            <a:r>
              <a:rPr sz="1800" spc="-10" dirty="0">
                <a:solidFill>
                  <a:srgbClr val="FFFFFF"/>
                </a:solidFill>
                <a:latin typeface="Goudy Old Style"/>
                <a:cs typeface="Goudy Old Style"/>
              </a:rPr>
              <a:t>attempt </a:t>
            </a:r>
            <a:r>
              <a:rPr sz="1800" spc="-5" dirty="0">
                <a:solidFill>
                  <a:srgbClr val="FFFFFF"/>
                </a:solidFill>
                <a:latin typeface="Goudy Old Style"/>
                <a:cs typeface="Goudy Old Style"/>
              </a:rPr>
              <a:t>to simplify </a:t>
            </a:r>
            <a:r>
              <a:rPr sz="1800" dirty="0">
                <a:solidFill>
                  <a:srgbClr val="FFFFFF"/>
                </a:solidFill>
                <a:latin typeface="Goudy Old Style"/>
                <a:cs typeface="Goudy Old Style"/>
              </a:rPr>
              <a:t>database</a:t>
            </a:r>
            <a:r>
              <a:rPr sz="1800" spc="-10" dirty="0">
                <a:solidFill>
                  <a:srgbClr val="FFFFFF"/>
                </a:solidFill>
                <a:latin typeface="Goudy Old Style"/>
                <a:cs typeface="Goudy Old Style"/>
              </a:rPr>
              <a:t> </a:t>
            </a:r>
            <a:r>
              <a:rPr sz="1800" spc="-5" dirty="0">
                <a:solidFill>
                  <a:srgbClr val="FFFFFF"/>
                </a:solidFill>
                <a:latin typeface="Goudy Old Style"/>
                <a:cs typeface="Goudy Old Style"/>
              </a:rPr>
              <a:t>structures.</a:t>
            </a:r>
            <a:endParaRPr sz="1800">
              <a:latin typeface="Goudy Old Style"/>
              <a:cs typeface="Goudy Old Style"/>
            </a:endParaRPr>
          </a:p>
          <a:p>
            <a:pPr>
              <a:lnSpc>
                <a:spcPct val="100000"/>
              </a:lnSpc>
            </a:pPr>
            <a:endParaRPr sz="2000">
              <a:latin typeface="Goudy Old Style"/>
              <a:cs typeface="Goudy Old Style"/>
            </a:endParaRPr>
          </a:p>
          <a:p>
            <a:pPr>
              <a:lnSpc>
                <a:spcPct val="100000"/>
              </a:lnSpc>
              <a:spcBef>
                <a:spcPts val="20"/>
              </a:spcBef>
            </a:pPr>
            <a:endParaRPr sz="2200">
              <a:latin typeface="Goudy Old Style"/>
              <a:cs typeface="Goudy Old Style"/>
            </a:endParaRPr>
          </a:p>
          <a:p>
            <a:pPr marL="19050">
              <a:lnSpc>
                <a:spcPct val="100000"/>
              </a:lnSpc>
            </a:pPr>
            <a:r>
              <a:rPr sz="1800" spc="-10" dirty="0">
                <a:solidFill>
                  <a:srgbClr val="FFFFFF"/>
                </a:solidFill>
                <a:latin typeface="Goudy Old Style"/>
                <a:cs typeface="Goudy Old Style"/>
              </a:rPr>
              <a:t>Represents </a:t>
            </a:r>
            <a:r>
              <a:rPr sz="1800" spc="-5" dirty="0">
                <a:solidFill>
                  <a:srgbClr val="FFFFFF"/>
                </a:solidFill>
                <a:latin typeface="Goudy Old Style"/>
                <a:cs typeface="Goudy Old Style"/>
              </a:rPr>
              <a:t>all </a:t>
            </a:r>
            <a:r>
              <a:rPr sz="1800" dirty="0">
                <a:solidFill>
                  <a:srgbClr val="FFFFFF"/>
                </a:solidFill>
                <a:latin typeface="Goudy Old Style"/>
                <a:cs typeface="Goudy Old Style"/>
              </a:rPr>
              <a:t>data </a:t>
            </a:r>
            <a:r>
              <a:rPr sz="1800" spc="-5" dirty="0">
                <a:solidFill>
                  <a:srgbClr val="FFFFFF"/>
                </a:solidFill>
                <a:latin typeface="Goudy Old Style"/>
                <a:cs typeface="Goudy Old Style"/>
              </a:rPr>
              <a:t>in </a:t>
            </a:r>
            <a:r>
              <a:rPr sz="1800" dirty="0">
                <a:solidFill>
                  <a:srgbClr val="FFFFFF"/>
                </a:solidFill>
                <a:latin typeface="Goudy Old Style"/>
                <a:cs typeface="Goudy Old Style"/>
              </a:rPr>
              <a:t>the </a:t>
            </a:r>
            <a:r>
              <a:rPr sz="1800" spc="-5" dirty="0">
                <a:solidFill>
                  <a:srgbClr val="FFFFFF"/>
                </a:solidFill>
                <a:latin typeface="Goudy Old Style"/>
                <a:cs typeface="Goudy Old Style"/>
              </a:rPr>
              <a:t>database as simple row-column </a:t>
            </a:r>
            <a:r>
              <a:rPr sz="1800" dirty="0">
                <a:solidFill>
                  <a:srgbClr val="FFFFFF"/>
                </a:solidFill>
                <a:latin typeface="Goudy Old Style"/>
                <a:cs typeface="Goudy Old Style"/>
              </a:rPr>
              <a:t>tables </a:t>
            </a:r>
            <a:r>
              <a:rPr sz="1800" spc="-5" dirty="0">
                <a:solidFill>
                  <a:srgbClr val="FFFFFF"/>
                </a:solidFill>
                <a:latin typeface="Goudy Old Style"/>
                <a:cs typeface="Goudy Old Style"/>
              </a:rPr>
              <a:t>of </a:t>
            </a:r>
            <a:r>
              <a:rPr sz="1800" spc="5" dirty="0">
                <a:solidFill>
                  <a:srgbClr val="FFFFFF"/>
                </a:solidFill>
                <a:latin typeface="Goudy Old Style"/>
                <a:cs typeface="Goudy Old Style"/>
              </a:rPr>
              <a:t>data</a:t>
            </a:r>
            <a:r>
              <a:rPr sz="1800" spc="-5" dirty="0">
                <a:solidFill>
                  <a:srgbClr val="FFFFFF"/>
                </a:solidFill>
                <a:latin typeface="Goudy Old Style"/>
                <a:cs typeface="Goudy Old Style"/>
              </a:rPr>
              <a:t> values.</a:t>
            </a:r>
            <a:endParaRPr sz="1800">
              <a:latin typeface="Goudy Old Style"/>
              <a:cs typeface="Goudy Old Style"/>
            </a:endParaRPr>
          </a:p>
          <a:p>
            <a:pPr>
              <a:lnSpc>
                <a:spcPct val="100000"/>
              </a:lnSpc>
            </a:pPr>
            <a:endParaRPr sz="2000">
              <a:latin typeface="Goudy Old Style"/>
              <a:cs typeface="Goudy Old Style"/>
            </a:endParaRPr>
          </a:p>
          <a:p>
            <a:pPr>
              <a:lnSpc>
                <a:spcPct val="100000"/>
              </a:lnSpc>
              <a:spcBef>
                <a:spcPts val="30"/>
              </a:spcBef>
            </a:pPr>
            <a:endParaRPr sz="1800">
              <a:latin typeface="Goudy Old Style"/>
              <a:cs typeface="Goudy Old Style"/>
            </a:endParaRPr>
          </a:p>
          <a:p>
            <a:pPr marL="17780" marR="278130">
              <a:lnSpc>
                <a:spcPts val="1939"/>
              </a:lnSpc>
              <a:spcBef>
                <a:spcPts val="5"/>
              </a:spcBef>
            </a:pPr>
            <a:r>
              <a:rPr sz="1800" spc="-5" dirty="0">
                <a:solidFill>
                  <a:srgbClr val="FFFFFF"/>
                </a:solidFill>
                <a:latin typeface="Goudy Old Style"/>
                <a:cs typeface="Goudy Old Style"/>
              </a:rPr>
              <a:t>An </a:t>
            </a:r>
            <a:r>
              <a:rPr sz="1800" dirty="0">
                <a:solidFill>
                  <a:srgbClr val="FFFFFF"/>
                </a:solidFill>
                <a:latin typeface="Goudy Old Style"/>
                <a:cs typeface="Goudy Old Style"/>
              </a:rPr>
              <a:t>RDBMS is a </a:t>
            </a:r>
            <a:r>
              <a:rPr sz="1800" spc="-5" dirty="0">
                <a:solidFill>
                  <a:srgbClr val="FFFFFF"/>
                </a:solidFill>
                <a:latin typeface="Goudy Old Style"/>
                <a:cs typeface="Goudy Old Style"/>
              </a:rPr>
              <a:t>software program </a:t>
            </a:r>
            <a:r>
              <a:rPr sz="1800" dirty="0">
                <a:solidFill>
                  <a:srgbClr val="FFFFFF"/>
                </a:solidFill>
                <a:latin typeface="Goudy Old Style"/>
                <a:cs typeface="Goudy Old Style"/>
              </a:rPr>
              <a:t>that helps </a:t>
            </a:r>
            <a:r>
              <a:rPr sz="1800" spc="-5" dirty="0">
                <a:solidFill>
                  <a:srgbClr val="FFFFFF"/>
                </a:solidFill>
                <a:latin typeface="Goudy Old Style"/>
                <a:cs typeface="Goudy Old Style"/>
              </a:rPr>
              <a:t>to </a:t>
            </a:r>
            <a:r>
              <a:rPr sz="1800" spc="-10" dirty="0">
                <a:solidFill>
                  <a:srgbClr val="FFFFFF"/>
                </a:solidFill>
                <a:latin typeface="Goudy Old Style"/>
                <a:cs typeface="Goudy Old Style"/>
              </a:rPr>
              <a:t>create, </a:t>
            </a:r>
            <a:r>
              <a:rPr sz="1800" dirty="0">
                <a:solidFill>
                  <a:srgbClr val="FFFFFF"/>
                </a:solidFill>
                <a:latin typeface="Goudy Old Style"/>
                <a:cs typeface="Goudy Old Style"/>
              </a:rPr>
              <a:t>maintain, </a:t>
            </a:r>
            <a:r>
              <a:rPr sz="1800" spc="-5" dirty="0">
                <a:solidFill>
                  <a:srgbClr val="FFFFFF"/>
                </a:solidFill>
                <a:latin typeface="Goudy Old Style"/>
                <a:cs typeface="Goudy Old Style"/>
              </a:rPr>
              <a:t>and manipulate </a:t>
            </a:r>
            <a:r>
              <a:rPr sz="1800" dirty="0">
                <a:solidFill>
                  <a:srgbClr val="FFFFFF"/>
                </a:solidFill>
                <a:latin typeface="Goudy Old Style"/>
                <a:cs typeface="Goudy Old Style"/>
              </a:rPr>
              <a:t>a  </a:t>
            </a:r>
            <a:r>
              <a:rPr sz="1800" spc="-10" dirty="0">
                <a:solidFill>
                  <a:srgbClr val="FFFFFF"/>
                </a:solidFill>
                <a:latin typeface="Goudy Old Style"/>
                <a:cs typeface="Goudy Old Style"/>
              </a:rPr>
              <a:t>relational</a:t>
            </a:r>
            <a:r>
              <a:rPr sz="1800" spc="-5" dirty="0">
                <a:solidFill>
                  <a:srgbClr val="FFFFFF"/>
                </a:solidFill>
                <a:latin typeface="Goudy Old Style"/>
                <a:cs typeface="Goudy Old Style"/>
              </a:rPr>
              <a:t> database.</a:t>
            </a:r>
            <a:endParaRPr sz="1800">
              <a:latin typeface="Goudy Old Style"/>
              <a:cs typeface="Goudy Old Style"/>
            </a:endParaRPr>
          </a:p>
          <a:p>
            <a:pPr>
              <a:lnSpc>
                <a:spcPct val="100000"/>
              </a:lnSpc>
            </a:pPr>
            <a:endParaRPr sz="2000">
              <a:latin typeface="Goudy Old Style"/>
              <a:cs typeface="Goudy Old Style"/>
            </a:endParaRPr>
          </a:p>
          <a:p>
            <a:pPr marL="19050">
              <a:lnSpc>
                <a:spcPts val="2050"/>
              </a:lnSpc>
              <a:spcBef>
                <a:spcPts val="1590"/>
              </a:spcBef>
            </a:pPr>
            <a:r>
              <a:rPr sz="1800" dirty="0">
                <a:solidFill>
                  <a:srgbClr val="FFFFFF"/>
                </a:solidFill>
                <a:latin typeface="Goudy Old Style"/>
                <a:cs typeface="Goudy Old Style"/>
              </a:rPr>
              <a:t>A </a:t>
            </a:r>
            <a:r>
              <a:rPr sz="1800" spc="-10" dirty="0">
                <a:solidFill>
                  <a:srgbClr val="FFFFFF"/>
                </a:solidFill>
                <a:latin typeface="Goudy Old Style"/>
                <a:cs typeface="Goudy Old Style"/>
              </a:rPr>
              <a:t>relational </a:t>
            </a:r>
            <a:r>
              <a:rPr sz="1800" spc="-5" dirty="0">
                <a:solidFill>
                  <a:srgbClr val="FFFFFF"/>
                </a:solidFill>
                <a:latin typeface="Goudy Old Style"/>
                <a:cs typeface="Goudy Old Style"/>
              </a:rPr>
              <a:t>database </a:t>
            </a:r>
            <a:r>
              <a:rPr sz="1800" dirty="0">
                <a:solidFill>
                  <a:srgbClr val="FFFFFF"/>
                </a:solidFill>
                <a:latin typeface="Goudy Old Style"/>
                <a:cs typeface="Goudy Old Style"/>
              </a:rPr>
              <a:t>is a </a:t>
            </a:r>
            <a:r>
              <a:rPr sz="1800" spc="-5" dirty="0">
                <a:solidFill>
                  <a:srgbClr val="FFFFFF"/>
                </a:solidFill>
                <a:latin typeface="Goudy Old Style"/>
                <a:cs typeface="Goudy Old Style"/>
              </a:rPr>
              <a:t>database divided into </a:t>
            </a:r>
            <a:r>
              <a:rPr sz="1800" dirty="0">
                <a:solidFill>
                  <a:srgbClr val="FFFFFF"/>
                </a:solidFill>
                <a:latin typeface="Goudy Old Style"/>
                <a:cs typeface="Goudy Old Style"/>
              </a:rPr>
              <a:t>logical </a:t>
            </a:r>
            <a:r>
              <a:rPr sz="1800" spc="-5" dirty="0">
                <a:solidFill>
                  <a:srgbClr val="FFFFFF"/>
                </a:solidFill>
                <a:latin typeface="Goudy Old Style"/>
                <a:cs typeface="Goudy Old Style"/>
              </a:rPr>
              <a:t>units </a:t>
            </a:r>
            <a:r>
              <a:rPr sz="1800" dirty="0">
                <a:solidFill>
                  <a:srgbClr val="FFFFFF"/>
                </a:solidFill>
                <a:latin typeface="Goudy Old Style"/>
                <a:cs typeface="Goudy Old Style"/>
              </a:rPr>
              <a:t>called tables, </a:t>
            </a:r>
            <a:r>
              <a:rPr sz="1800" spc="-5" dirty="0">
                <a:solidFill>
                  <a:srgbClr val="FFFFFF"/>
                </a:solidFill>
                <a:latin typeface="Goudy Old Style"/>
                <a:cs typeface="Goudy Old Style"/>
              </a:rPr>
              <a:t>where</a:t>
            </a:r>
            <a:r>
              <a:rPr sz="1800" spc="-25" dirty="0">
                <a:solidFill>
                  <a:srgbClr val="FFFFFF"/>
                </a:solidFill>
                <a:latin typeface="Goudy Old Style"/>
                <a:cs typeface="Goudy Old Style"/>
              </a:rPr>
              <a:t> </a:t>
            </a:r>
            <a:r>
              <a:rPr sz="1800" dirty="0">
                <a:solidFill>
                  <a:srgbClr val="FFFFFF"/>
                </a:solidFill>
                <a:latin typeface="Goudy Old Style"/>
                <a:cs typeface="Goudy Old Style"/>
              </a:rPr>
              <a:t>tables</a:t>
            </a:r>
            <a:endParaRPr sz="1800">
              <a:latin typeface="Goudy Old Style"/>
              <a:cs typeface="Goudy Old Style"/>
            </a:endParaRPr>
          </a:p>
          <a:p>
            <a:pPr marL="19050">
              <a:lnSpc>
                <a:spcPts val="2050"/>
              </a:lnSpc>
            </a:pPr>
            <a:r>
              <a:rPr sz="1800" spc="-15" dirty="0">
                <a:solidFill>
                  <a:srgbClr val="FFFFFF"/>
                </a:solidFill>
                <a:latin typeface="Goudy Old Style"/>
                <a:cs typeface="Goudy Old Style"/>
              </a:rPr>
              <a:t>are </a:t>
            </a:r>
            <a:r>
              <a:rPr sz="1800" spc="-10" dirty="0">
                <a:solidFill>
                  <a:srgbClr val="FFFFFF"/>
                </a:solidFill>
                <a:latin typeface="Goudy Old Style"/>
                <a:cs typeface="Goudy Old Style"/>
              </a:rPr>
              <a:t>related to </a:t>
            </a:r>
            <a:r>
              <a:rPr sz="1800" spc="-5" dirty="0">
                <a:solidFill>
                  <a:srgbClr val="FFFFFF"/>
                </a:solidFill>
                <a:latin typeface="Goudy Old Style"/>
                <a:cs typeface="Goudy Old Style"/>
              </a:rPr>
              <a:t>one another within </a:t>
            </a:r>
            <a:r>
              <a:rPr sz="1800" dirty="0">
                <a:solidFill>
                  <a:srgbClr val="FFFFFF"/>
                </a:solidFill>
                <a:latin typeface="Goudy Old Style"/>
                <a:cs typeface="Goudy Old Style"/>
              </a:rPr>
              <a:t>the</a:t>
            </a:r>
            <a:r>
              <a:rPr sz="1800" spc="-20" dirty="0">
                <a:solidFill>
                  <a:srgbClr val="FFFFFF"/>
                </a:solidFill>
                <a:latin typeface="Goudy Old Style"/>
                <a:cs typeface="Goudy Old Style"/>
              </a:rPr>
              <a:t> </a:t>
            </a:r>
            <a:r>
              <a:rPr sz="1800" spc="-5" dirty="0">
                <a:solidFill>
                  <a:srgbClr val="FFFFFF"/>
                </a:solidFill>
                <a:latin typeface="Goudy Old Style"/>
                <a:cs typeface="Goudy Old Style"/>
              </a:rPr>
              <a:t>database.</a:t>
            </a:r>
            <a:endParaRPr sz="1800">
              <a:latin typeface="Goudy Old Style"/>
              <a:cs typeface="Goudy Old Style"/>
            </a:endParaRPr>
          </a:p>
        </p:txBody>
      </p:sp>
      <p:pic>
        <p:nvPicPr>
          <p:cNvPr id="8" name="object 8"/>
          <p:cNvPicPr/>
          <p:nvPr/>
        </p:nvPicPr>
        <p:blipFill>
          <a:blip r:embed="rId7" cstate="print"/>
          <a:stretch>
            <a:fillRect/>
          </a:stretch>
        </p:blipFill>
        <p:spPr>
          <a:xfrm>
            <a:off x="358140" y="4864608"/>
            <a:ext cx="8154924" cy="758202"/>
          </a:xfrm>
          <a:prstGeom prst="rect">
            <a:avLst/>
          </a:prstGeom>
        </p:spPr>
      </p:pic>
      <p:sp>
        <p:nvSpPr>
          <p:cNvPr id="9" name="object 9"/>
          <p:cNvSpPr txBox="1"/>
          <p:nvPr/>
        </p:nvSpPr>
        <p:spPr>
          <a:xfrm>
            <a:off x="460755" y="4944872"/>
            <a:ext cx="7877809" cy="547370"/>
          </a:xfrm>
          <a:prstGeom prst="rect">
            <a:avLst/>
          </a:prstGeom>
        </p:spPr>
        <p:txBody>
          <a:bodyPr vert="horz" wrap="square" lIns="0" tIns="12700" rIns="0" bIns="0" rtlCol="0">
            <a:spAutoFit/>
          </a:bodyPr>
          <a:lstStyle/>
          <a:p>
            <a:pPr marL="12700">
              <a:lnSpc>
                <a:spcPts val="2055"/>
              </a:lnSpc>
              <a:spcBef>
                <a:spcPts val="100"/>
              </a:spcBef>
            </a:pPr>
            <a:r>
              <a:rPr sz="1800" dirty="0">
                <a:latin typeface="Goudy Old Style"/>
                <a:cs typeface="Goudy Old Style"/>
              </a:rPr>
              <a:t>By </a:t>
            </a:r>
            <a:r>
              <a:rPr sz="1800" spc="-5" dirty="0">
                <a:latin typeface="Goudy Old Style"/>
                <a:cs typeface="Goudy Old Style"/>
              </a:rPr>
              <a:t>having </a:t>
            </a:r>
            <a:r>
              <a:rPr sz="1800" dirty="0">
                <a:latin typeface="Goudy Old Style"/>
                <a:cs typeface="Goudy Old Style"/>
              </a:rPr>
              <a:t>common </a:t>
            </a:r>
            <a:r>
              <a:rPr sz="1800" spc="-10" dirty="0">
                <a:latin typeface="Goudy Old Style"/>
                <a:cs typeface="Goudy Old Style"/>
              </a:rPr>
              <a:t>keys, </a:t>
            </a:r>
            <a:r>
              <a:rPr sz="1800" spc="-5" dirty="0">
                <a:latin typeface="Goudy Old Style"/>
                <a:cs typeface="Goudy Old Style"/>
              </a:rPr>
              <a:t>or </a:t>
            </a:r>
            <a:r>
              <a:rPr sz="1800" dirty="0">
                <a:latin typeface="Goudy Old Style"/>
                <a:cs typeface="Goudy Old Style"/>
              </a:rPr>
              <a:t>fields, </a:t>
            </a:r>
            <a:r>
              <a:rPr sz="1800" spc="-5" dirty="0">
                <a:latin typeface="Goudy Old Style"/>
                <a:cs typeface="Goudy Old Style"/>
              </a:rPr>
              <a:t>among </a:t>
            </a:r>
            <a:r>
              <a:rPr sz="1800" spc="-10" dirty="0">
                <a:latin typeface="Goudy Old Style"/>
                <a:cs typeface="Goudy Old Style"/>
              </a:rPr>
              <a:t>relational </a:t>
            </a:r>
            <a:r>
              <a:rPr sz="1800" dirty="0">
                <a:latin typeface="Goudy Old Style"/>
                <a:cs typeface="Goudy Old Style"/>
              </a:rPr>
              <a:t>database tables, data </a:t>
            </a:r>
            <a:r>
              <a:rPr sz="1800" spc="-10" dirty="0">
                <a:latin typeface="Goudy Old Style"/>
                <a:cs typeface="Goudy Old Style"/>
              </a:rPr>
              <a:t>from</a:t>
            </a:r>
            <a:r>
              <a:rPr sz="1800" spc="-55" dirty="0">
                <a:latin typeface="Goudy Old Style"/>
                <a:cs typeface="Goudy Old Style"/>
              </a:rPr>
              <a:t> </a:t>
            </a:r>
            <a:r>
              <a:rPr sz="1800" dirty="0">
                <a:latin typeface="Goudy Old Style"/>
                <a:cs typeface="Goudy Old Style"/>
              </a:rPr>
              <a:t>multiple</a:t>
            </a:r>
            <a:endParaRPr sz="1800">
              <a:latin typeface="Goudy Old Style"/>
              <a:cs typeface="Goudy Old Style"/>
            </a:endParaRPr>
          </a:p>
          <a:p>
            <a:pPr marL="12700">
              <a:lnSpc>
                <a:spcPts val="2055"/>
              </a:lnSpc>
            </a:pPr>
            <a:r>
              <a:rPr sz="1800" dirty="0">
                <a:latin typeface="Goudy Old Style"/>
                <a:cs typeface="Goudy Old Style"/>
              </a:rPr>
              <a:t>tables can be joined </a:t>
            </a:r>
            <a:r>
              <a:rPr sz="1800" spc="-10" dirty="0">
                <a:latin typeface="Goudy Old Style"/>
                <a:cs typeface="Goudy Old Style"/>
              </a:rPr>
              <a:t>to </a:t>
            </a:r>
            <a:r>
              <a:rPr sz="1800" spc="-15" dirty="0">
                <a:latin typeface="Goudy Old Style"/>
                <a:cs typeface="Goudy Old Style"/>
              </a:rPr>
              <a:t>form </a:t>
            </a:r>
            <a:r>
              <a:rPr sz="1800" spc="-5" dirty="0">
                <a:latin typeface="Goudy Old Style"/>
                <a:cs typeface="Goudy Old Style"/>
              </a:rPr>
              <a:t>one large</a:t>
            </a:r>
            <a:r>
              <a:rPr sz="1800" spc="-20" dirty="0">
                <a:latin typeface="Goudy Old Style"/>
                <a:cs typeface="Goudy Old Style"/>
              </a:rPr>
              <a:t> </a:t>
            </a:r>
            <a:r>
              <a:rPr sz="1800" spc="-10" dirty="0">
                <a:latin typeface="Goudy Old Style"/>
                <a:cs typeface="Goudy Old Style"/>
              </a:rPr>
              <a:t>resultset.</a:t>
            </a:r>
            <a:endParaRPr sz="1800">
              <a:latin typeface="Goudy Old Style"/>
              <a:cs typeface="Goudy Old Style"/>
            </a:endParaRPr>
          </a:p>
        </p:txBody>
      </p:sp>
      <p:sp>
        <p:nvSpPr>
          <p:cNvPr id="11" name="object 11"/>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29</a:t>
            </a:fld>
            <a:endParaRPr sz="1200"/>
          </a:p>
        </p:txBody>
      </p:sp>
      <p:sp>
        <p:nvSpPr>
          <p:cNvPr id="12" name="object 12"/>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88467"/>
            <a:ext cx="7806055" cy="452755"/>
          </a:xfrm>
          <a:prstGeom prst="rect">
            <a:avLst/>
          </a:prstGeom>
        </p:spPr>
        <p:txBody>
          <a:bodyPr vert="horz" wrap="square" lIns="0" tIns="12700" rIns="0" bIns="0" rtlCol="0">
            <a:spAutoFit/>
          </a:bodyPr>
          <a:lstStyle/>
          <a:p>
            <a:pPr marL="12700">
              <a:lnSpc>
                <a:spcPct val="100000"/>
              </a:lnSpc>
              <a:spcBef>
                <a:spcPts val="100"/>
              </a:spcBef>
            </a:pPr>
            <a:r>
              <a:rPr sz="2800" b="0" spc="-10" dirty="0">
                <a:latin typeface="Goudy Old Style"/>
                <a:cs typeface="Goudy Old Style"/>
              </a:rPr>
              <a:t>Relational </a:t>
            </a:r>
            <a:r>
              <a:rPr sz="2800" b="0" dirty="0">
                <a:latin typeface="Goudy Old Style"/>
                <a:cs typeface="Goudy Old Style"/>
              </a:rPr>
              <a:t>Database </a:t>
            </a:r>
            <a:r>
              <a:rPr sz="2800" b="0" spc="-5" dirty="0">
                <a:latin typeface="Goudy Old Style"/>
                <a:cs typeface="Goudy Old Style"/>
              </a:rPr>
              <a:t>Management System (RDBMS)</a:t>
            </a:r>
            <a:r>
              <a:rPr sz="2800" b="0" spc="-35" dirty="0">
                <a:latin typeface="Goudy Old Style"/>
                <a:cs typeface="Goudy Old Style"/>
              </a:rPr>
              <a:t> </a:t>
            </a:r>
            <a:r>
              <a:rPr sz="2800" b="0" spc="15" dirty="0">
                <a:latin typeface="Goudy Old Style"/>
                <a:cs typeface="Goudy Old Style"/>
              </a:rPr>
              <a:t>2-3</a:t>
            </a:r>
            <a:endParaRPr sz="2800">
              <a:latin typeface="Goudy Old Style"/>
              <a:cs typeface="Goudy Old Style"/>
            </a:endParaRPr>
          </a:p>
        </p:txBody>
      </p:sp>
      <p:sp>
        <p:nvSpPr>
          <p:cNvPr id="3" name="object 3"/>
          <p:cNvSpPr txBox="1"/>
          <p:nvPr/>
        </p:nvSpPr>
        <p:spPr>
          <a:xfrm>
            <a:off x="459740" y="1022350"/>
            <a:ext cx="8174990" cy="574675"/>
          </a:xfrm>
          <a:prstGeom prst="rect">
            <a:avLst/>
          </a:prstGeom>
        </p:spPr>
        <p:txBody>
          <a:bodyPr vert="horz" wrap="square" lIns="0" tIns="12700" rIns="0" bIns="0" rtlCol="0">
            <a:spAutoFit/>
          </a:bodyPr>
          <a:lstStyle/>
          <a:p>
            <a:pPr marL="353695" marR="5080" indent="-341630">
              <a:lnSpc>
                <a:spcPct val="100000"/>
              </a:lnSpc>
              <a:spcBef>
                <a:spcPts val="100"/>
              </a:spcBef>
              <a:buFont typeface="Wingdings"/>
              <a:buChar char=""/>
              <a:tabLst>
                <a:tab pos="353695" algn="l"/>
                <a:tab pos="354330" algn="l"/>
              </a:tabLst>
            </a:pPr>
            <a:r>
              <a:rPr sz="1800" spc="-5" dirty="0">
                <a:latin typeface="Goudy Old Style"/>
                <a:cs typeface="Goudy Old Style"/>
              </a:rPr>
              <a:t>Figure </a:t>
            </a:r>
            <a:r>
              <a:rPr sz="1800" spc="-10" dirty="0">
                <a:latin typeface="Goudy Old Style"/>
                <a:cs typeface="Goudy Old Style"/>
              </a:rPr>
              <a:t>shows two </a:t>
            </a:r>
            <a:r>
              <a:rPr sz="1800" dirty="0">
                <a:latin typeface="Goudy Old Style"/>
                <a:cs typeface="Goudy Old Style"/>
              </a:rPr>
              <a:t>tables </a:t>
            </a:r>
            <a:r>
              <a:rPr sz="1800" spc="-10" dirty="0">
                <a:latin typeface="Goudy Old Style"/>
                <a:cs typeface="Goudy Old Style"/>
              </a:rPr>
              <a:t>related </a:t>
            </a:r>
            <a:r>
              <a:rPr sz="1800" spc="-5" dirty="0">
                <a:latin typeface="Goudy Old Style"/>
                <a:cs typeface="Goudy Old Style"/>
              </a:rPr>
              <a:t>to one another </a:t>
            </a:r>
            <a:r>
              <a:rPr sz="1800" spc="-10" dirty="0">
                <a:latin typeface="Goudy Old Style"/>
                <a:cs typeface="Goudy Old Style"/>
              </a:rPr>
              <a:t>through </a:t>
            </a:r>
            <a:r>
              <a:rPr sz="1800" dirty="0">
                <a:latin typeface="Goudy Old Style"/>
                <a:cs typeface="Goudy Old Style"/>
              </a:rPr>
              <a:t>a common </a:t>
            </a:r>
            <a:r>
              <a:rPr sz="1800" spc="-15" dirty="0">
                <a:latin typeface="Goudy Old Style"/>
                <a:cs typeface="Goudy Old Style"/>
              </a:rPr>
              <a:t>key </a:t>
            </a:r>
            <a:r>
              <a:rPr sz="1800" dirty="0">
                <a:latin typeface="Goudy Old Style"/>
                <a:cs typeface="Goudy Old Style"/>
              </a:rPr>
              <a:t>(data value) in a  </a:t>
            </a:r>
            <a:r>
              <a:rPr sz="1800" spc="-10" dirty="0">
                <a:latin typeface="Goudy Old Style"/>
                <a:cs typeface="Goudy Old Style"/>
              </a:rPr>
              <a:t>relational</a:t>
            </a:r>
            <a:r>
              <a:rPr sz="1800" spc="-5" dirty="0">
                <a:latin typeface="Goudy Old Style"/>
                <a:cs typeface="Goudy Old Style"/>
              </a:rPr>
              <a:t> database:</a:t>
            </a:r>
            <a:endParaRPr sz="1800">
              <a:latin typeface="Goudy Old Style"/>
              <a:cs typeface="Goudy Old Style"/>
            </a:endParaRPr>
          </a:p>
        </p:txBody>
      </p:sp>
      <p:pic>
        <p:nvPicPr>
          <p:cNvPr id="4" name="object 4"/>
          <p:cNvPicPr/>
          <p:nvPr/>
        </p:nvPicPr>
        <p:blipFill>
          <a:blip r:embed="rId3" cstate="print"/>
          <a:stretch>
            <a:fillRect/>
          </a:stretch>
        </p:blipFill>
        <p:spPr>
          <a:xfrm>
            <a:off x="2286000" y="1676400"/>
            <a:ext cx="4648200" cy="3336798"/>
          </a:xfrm>
          <a:prstGeom prst="rect">
            <a:avLst/>
          </a:prstGeom>
        </p:spPr>
      </p:pic>
      <p:sp>
        <p:nvSpPr>
          <p:cNvPr id="5" name="object 5"/>
          <p:cNvSpPr txBox="1"/>
          <p:nvPr/>
        </p:nvSpPr>
        <p:spPr>
          <a:xfrm>
            <a:off x="459740" y="5165344"/>
            <a:ext cx="8072755" cy="848994"/>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3695" algn="l"/>
                <a:tab pos="354330" algn="l"/>
              </a:tabLst>
            </a:pPr>
            <a:r>
              <a:rPr sz="1800" spc="-5" dirty="0">
                <a:latin typeface="Goudy Old Style"/>
                <a:cs typeface="Goudy Old Style"/>
              </a:rPr>
              <a:t>Thus, </a:t>
            </a:r>
            <a:r>
              <a:rPr sz="1800" dirty="0">
                <a:latin typeface="Goudy Old Style"/>
                <a:cs typeface="Goudy Old Style"/>
              </a:rPr>
              <a:t>a </a:t>
            </a:r>
            <a:r>
              <a:rPr sz="1800" spc="-10" dirty="0">
                <a:latin typeface="Goudy Old Style"/>
                <a:cs typeface="Goudy Old Style"/>
              </a:rPr>
              <a:t>relational </a:t>
            </a:r>
            <a:r>
              <a:rPr sz="1800" spc="-5" dirty="0">
                <a:latin typeface="Goudy Old Style"/>
                <a:cs typeface="Goudy Old Style"/>
              </a:rPr>
              <a:t>database </a:t>
            </a:r>
            <a:r>
              <a:rPr sz="1800" dirty="0">
                <a:latin typeface="Goudy Old Style"/>
                <a:cs typeface="Goudy Old Style"/>
              </a:rPr>
              <a:t>is a database </a:t>
            </a:r>
            <a:r>
              <a:rPr sz="1800" spc="-5" dirty="0">
                <a:latin typeface="Goudy Old Style"/>
                <a:cs typeface="Goudy Old Style"/>
              </a:rPr>
              <a:t>structured on </a:t>
            </a:r>
            <a:r>
              <a:rPr sz="1800" dirty="0">
                <a:latin typeface="Goudy Old Style"/>
                <a:cs typeface="Goudy Old Style"/>
              </a:rPr>
              <a:t>the </a:t>
            </a:r>
            <a:r>
              <a:rPr sz="1800" spc="-10" dirty="0">
                <a:latin typeface="Goudy Old Style"/>
                <a:cs typeface="Goudy Old Style"/>
              </a:rPr>
              <a:t>relational</a:t>
            </a:r>
            <a:r>
              <a:rPr sz="1800" spc="-30" dirty="0">
                <a:latin typeface="Goudy Old Style"/>
                <a:cs typeface="Goudy Old Style"/>
              </a:rPr>
              <a:t> </a:t>
            </a:r>
            <a:r>
              <a:rPr sz="1800" dirty="0">
                <a:latin typeface="Goudy Old Style"/>
                <a:cs typeface="Goudy Old Style"/>
              </a:rPr>
              <a:t>model.</a:t>
            </a:r>
            <a:endParaRPr sz="1800">
              <a:latin typeface="Goudy Old Style"/>
              <a:cs typeface="Goudy Old Style"/>
            </a:endParaRPr>
          </a:p>
          <a:p>
            <a:pPr marL="353695" indent="-341630">
              <a:lnSpc>
                <a:spcPct val="100000"/>
              </a:lnSpc>
              <a:buFont typeface="Wingdings"/>
              <a:buChar char=""/>
              <a:tabLst>
                <a:tab pos="353695" algn="l"/>
                <a:tab pos="354330" algn="l"/>
              </a:tabLst>
            </a:pPr>
            <a:r>
              <a:rPr sz="1800" spc="-5" dirty="0">
                <a:latin typeface="Goudy Old Style"/>
                <a:cs typeface="Goudy Old Style"/>
              </a:rPr>
              <a:t>Basic </a:t>
            </a:r>
            <a:r>
              <a:rPr sz="1800" spc="-10" dirty="0">
                <a:latin typeface="Goudy Old Style"/>
                <a:cs typeface="Goudy Old Style"/>
              </a:rPr>
              <a:t>characteristic </a:t>
            </a:r>
            <a:r>
              <a:rPr sz="1800" spc="-5" dirty="0">
                <a:latin typeface="Goudy Old Style"/>
                <a:cs typeface="Goudy Old Style"/>
              </a:rPr>
              <a:t>of </a:t>
            </a:r>
            <a:r>
              <a:rPr sz="1800" dirty="0">
                <a:latin typeface="Goudy Old Style"/>
                <a:cs typeface="Goudy Old Style"/>
              </a:rPr>
              <a:t>a </a:t>
            </a:r>
            <a:r>
              <a:rPr sz="1800" spc="-10" dirty="0">
                <a:latin typeface="Goudy Old Style"/>
                <a:cs typeface="Goudy Old Style"/>
              </a:rPr>
              <a:t>relational </a:t>
            </a:r>
            <a:r>
              <a:rPr sz="1800" spc="-5" dirty="0">
                <a:latin typeface="Goudy Old Style"/>
                <a:cs typeface="Goudy Old Style"/>
              </a:rPr>
              <a:t>model </a:t>
            </a:r>
            <a:r>
              <a:rPr sz="1800" dirty="0">
                <a:latin typeface="Goudy Old Style"/>
                <a:cs typeface="Goudy Old Style"/>
              </a:rPr>
              <a:t>is that in a </a:t>
            </a:r>
            <a:r>
              <a:rPr sz="1800" spc="-10" dirty="0">
                <a:latin typeface="Goudy Old Style"/>
                <a:cs typeface="Goudy Old Style"/>
              </a:rPr>
              <a:t>relational </a:t>
            </a:r>
            <a:r>
              <a:rPr sz="1800" spc="-5" dirty="0">
                <a:latin typeface="Goudy Old Style"/>
                <a:cs typeface="Goudy Old Style"/>
              </a:rPr>
              <a:t>model, </a:t>
            </a:r>
            <a:r>
              <a:rPr sz="1800" spc="5" dirty="0">
                <a:latin typeface="Goudy Old Style"/>
                <a:cs typeface="Goudy Old Style"/>
              </a:rPr>
              <a:t>data </a:t>
            </a:r>
            <a:r>
              <a:rPr sz="1800" dirty="0">
                <a:latin typeface="Goudy Old Style"/>
                <a:cs typeface="Goudy Old Style"/>
              </a:rPr>
              <a:t>is </a:t>
            </a:r>
            <a:r>
              <a:rPr sz="1800" spc="-15" dirty="0">
                <a:latin typeface="Goudy Old Style"/>
                <a:cs typeface="Goudy Old Style"/>
              </a:rPr>
              <a:t>stored</a:t>
            </a:r>
            <a:r>
              <a:rPr sz="1800" spc="105" dirty="0">
                <a:latin typeface="Goudy Old Style"/>
                <a:cs typeface="Goudy Old Style"/>
              </a:rPr>
              <a:t> </a:t>
            </a:r>
            <a:r>
              <a:rPr sz="1800" dirty="0">
                <a:latin typeface="Goudy Old Style"/>
                <a:cs typeface="Goudy Old Style"/>
              </a:rPr>
              <a:t>in</a:t>
            </a:r>
            <a:endParaRPr sz="1800">
              <a:latin typeface="Goudy Old Style"/>
              <a:cs typeface="Goudy Old Style"/>
            </a:endParaRPr>
          </a:p>
          <a:p>
            <a:pPr marL="353695">
              <a:lnSpc>
                <a:spcPct val="100000"/>
              </a:lnSpc>
            </a:pPr>
            <a:r>
              <a:rPr sz="1800" spc="-10" dirty="0">
                <a:latin typeface="Goudy Old Style"/>
                <a:cs typeface="Goudy Old Style"/>
              </a:rPr>
              <a:t>relations.</a:t>
            </a:r>
            <a:endParaRPr sz="1800">
              <a:latin typeface="Goudy Old Style"/>
              <a:cs typeface="Goudy Old Style"/>
            </a:endParaRPr>
          </a:p>
        </p:txBody>
      </p:sp>
      <p:sp>
        <p:nvSpPr>
          <p:cNvPr id="7" name="object 7"/>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30</a:t>
            </a:fld>
            <a:endParaRPr sz="1200"/>
          </a:p>
        </p:txBody>
      </p:sp>
      <p:sp>
        <p:nvSpPr>
          <p:cNvPr id="8" name="object 8"/>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88467"/>
            <a:ext cx="7806055" cy="452755"/>
          </a:xfrm>
          <a:prstGeom prst="rect">
            <a:avLst/>
          </a:prstGeom>
        </p:spPr>
        <p:txBody>
          <a:bodyPr vert="horz" wrap="square" lIns="0" tIns="12700" rIns="0" bIns="0" rtlCol="0">
            <a:spAutoFit/>
          </a:bodyPr>
          <a:lstStyle/>
          <a:p>
            <a:pPr marL="12700">
              <a:lnSpc>
                <a:spcPct val="100000"/>
              </a:lnSpc>
              <a:spcBef>
                <a:spcPts val="100"/>
              </a:spcBef>
            </a:pPr>
            <a:r>
              <a:rPr sz="2800" b="0" spc="-10" dirty="0">
                <a:latin typeface="Goudy Old Style"/>
                <a:cs typeface="Goudy Old Style"/>
              </a:rPr>
              <a:t>Relational </a:t>
            </a:r>
            <a:r>
              <a:rPr sz="2800" b="0" dirty="0">
                <a:latin typeface="Goudy Old Style"/>
                <a:cs typeface="Goudy Old Style"/>
              </a:rPr>
              <a:t>Database </a:t>
            </a:r>
            <a:r>
              <a:rPr sz="2800" b="0" spc="-5" dirty="0">
                <a:latin typeface="Goudy Old Style"/>
                <a:cs typeface="Goudy Old Style"/>
              </a:rPr>
              <a:t>Management System (RDBMS)</a:t>
            </a:r>
            <a:r>
              <a:rPr sz="2800" b="0" spc="-35" dirty="0">
                <a:latin typeface="Goudy Old Style"/>
                <a:cs typeface="Goudy Old Style"/>
              </a:rPr>
              <a:t> </a:t>
            </a:r>
            <a:r>
              <a:rPr sz="2800" b="0" spc="15" dirty="0">
                <a:latin typeface="Goudy Old Style"/>
                <a:cs typeface="Goudy Old Style"/>
              </a:rPr>
              <a:t>3-3</a:t>
            </a:r>
            <a:endParaRPr sz="2800">
              <a:latin typeface="Goudy Old Style"/>
              <a:cs typeface="Goudy Old Style"/>
            </a:endParaRPr>
          </a:p>
        </p:txBody>
      </p:sp>
      <p:sp>
        <p:nvSpPr>
          <p:cNvPr id="3" name="object 3"/>
          <p:cNvSpPr txBox="1"/>
          <p:nvPr/>
        </p:nvSpPr>
        <p:spPr>
          <a:xfrm>
            <a:off x="459740" y="1011682"/>
            <a:ext cx="8052434" cy="585470"/>
          </a:xfrm>
          <a:prstGeom prst="rect">
            <a:avLst/>
          </a:prstGeom>
        </p:spPr>
        <p:txBody>
          <a:bodyPr vert="horz" wrap="square" lIns="0" tIns="1270" rIns="0" bIns="0" rtlCol="0">
            <a:spAutoFit/>
          </a:bodyPr>
          <a:lstStyle/>
          <a:p>
            <a:pPr marL="353695" marR="5080" indent="-341630">
              <a:lnSpc>
                <a:spcPct val="104000"/>
              </a:lnSpc>
              <a:spcBef>
                <a:spcPts val="10"/>
              </a:spcBef>
              <a:buFont typeface="Wingdings"/>
              <a:buChar char=""/>
              <a:tabLst>
                <a:tab pos="353695" algn="l"/>
                <a:tab pos="354330" algn="l"/>
              </a:tabLst>
            </a:pPr>
            <a:r>
              <a:rPr sz="1800" b="1" spc="-10" dirty="0">
                <a:latin typeface="Courier New"/>
                <a:cs typeface="Courier New"/>
              </a:rPr>
              <a:t>Capitals</a:t>
            </a:r>
            <a:r>
              <a:rPr sz="1800" b="1" spc="-655" dirty="0">
                <a:latin typeface="Courier New"/>
                <a:cs typeface="Courier New"/>
              </a:rPr>
              <a:t> </a:t>
            </a:r>
            <a:r>
              <a:rPr sz="1800" spc="-5" dirty="0">
                <a:latin typeface="Goudy Old Style"/>
                <a:cs typeface="Goudy Old Style"/>
              </a:rPr>
              <a:t>and</a:t>
            </a:r>
            <a:r>
              <a:rPr sz="1800" dirty="0">
                <a:latin typeface="Goudy Old Style"/>
                <a:cs typeface="Goudy Old Style"/>
              </a:rPr>
              <a:t> </a:t>
            </a:r>
            <a:r>
              <a:rPr sz="1800" b="1" spc="-10" dirty="0">
                <a:latin typeface="Courier New"/>
                <a:cs typeface="Courier New"/>
              </a:rPr>
              <a:t>Currency</a:t>
            </a:r>
            <a:r>
              <a:rPr sz="1800" b="1" spc="-655" dirty="0">
                <a:latin typeface="Courier New"/>
                <a:cs typeface="Courier New"/>
              </a:rPr>
              <a:t> </a:t>
            </a:r>
            <a:r>
              <a:rPr sz="1800" dirty="0">
                <a:latin typeface="Goudy Old Style"/>
                <a:cs typeface="Goudy Old Style"/>
              </a:rPr>
              <a:t>tables</a:t>
            </a:r>
            <a:r>
              <a:rPr sz="1800" spc="-10" dirty="0">
                <a:latin typeface="Goudy Old Style"/>
                <a:cs typeface="Goudy Old Style"/>
              </a:rPr>
              <a:t> </a:t>
            </a:r>
            <a:r>
              <a:rPr sz="1800" spc="-15" dirty="0">
                <a:latin typeface="Goudy Old Style"/>
                <a:cs typeface="Goudy Old Style"/>
              </a:rPr>
              <a:t>show</a:t>
            </a:r>
            <a:r>
              <a:rPr sz="1800" spc="15" dirty="0">
                <a:latin typeface="Goudy Old Style"/>
                <a:cs typeface="Goudy Old Style"/>
              </a:rPr>
              <a:t> </a:t>
            </a:r>
            <a:r>
              <a:rPr sz="1800" dirty="0">
                <a:latin typeface="Goudy Old Style"/>
                <a:cs typeface="Goudy Old Style"/>
              </a:rPr>
              <a:t>a </a:t>
            </a:r>
            <a:r>
              <a:rPr sz="1800" spc="-5" dirty="0">
                <a:latin typeface="Goudy Old Style"/>
                <a:cs typeface="Goudy Old Style"/>
              </a:rPr>
              <a:t>list</a:t>
            </a:r>
            <a:r>
              <a:rPr sz="1800" spc="5" dirty="0">
                <a:latin typeface="Goudy Old Style"/>
                <a:cs typeface="Goudy Old Style"/>
              </a:rPr>
              <a:t> </a:t>
            </a:r>
            <a:r>
              <a:rPr sz="1800" spc="-5" dirty="0">
                <a:latin typeface="Goudy Old Style"/>
                <a:cs typeface="Goudy Old Style"/>
              </a:rPr>
              <a:t>of</a:t>
            </a:r>
            <a:r>
              <a:rPr sz="1800" dirty="0">
                <a:latin typeface="Goudy Old Style"/>
                <a:cs typeface="Goudy Old Style"/>
              </a:rPr>
              <a:t> countries</a:t>
            </a:r>
            <a:r>
              <a:rPr sz="1800" spc="-10" dirty="0">
                <a:latin typeface="Goudy Old Style"/>
                <a:cs typeface="Goudy Old Style"/>
              </a:rPr>
              <a:t> </a:t>
            </a:r>
            <a:r>
              <a:rPr sz="1800" spc="-5" dirty="0">
                <a:latin typeface="Goudy Old Style"/>
                <a:cs typeface="Goudy Old Style"/>
              </a:rPr>
              <a:t>and</a:t>
            </a:r>
            <a:r>
              <a:rPr sz="1800" dirty="0">
                <a:latin typeface="Goudy Old Style"/>
                <a:cs typeface="Goudy Old Style"/>
              </a:rPr>
              <a:t> their</a:t>
            </a:r>
            <a:r>
              <a:rPr sz="1800" spc="-15" dirty="0">
                <a:latin typeface="Goudy Old Style"/>
                <a:cs typeface="Goudy Old Style"/>
              </a:rPr>
              <a:t> </a:t>
            </a:r>
            <a:r>
              <a:rPr sz="1800" dirty="0">
                <a:latin typeface="Goudy Old Style"/>
                <a:cs typeface="Goudy Old Style"/>
              </a:rPr>
              <a:t>capitals </a:t>
            </a:r>
            <a:r>
              <a:rPr sz="1800" spc="-5" dirty="0">
                <a:latin typeface="Goudy Old Style"/>
                <a:cs typeface="Goudy Old Style"/>
              </a:rPr>
              <a:t>and the  </a:t>
            </a:r>
            <a:r>
              <a:rPr sz="1800" dirty="0">
                <a:latin typeface="Goudy Old Style"/>
                <a:cs typeface="Goudy Old Style"/>
              </a:rPr>
              <a:t>countries </a:t>
            </a:r>
            <a:r>
              <a:rPr sz="1800" spc="-5" dirty="0">
                <a:latin typeface="Goudy Old Style"/>
                <a:cs typeface="Goudy Old Style"/>
              </a:rPr>
              <a:t>and </a:t>
            </a:r>
            <a:r>
              <a:rPr sz="1800" dirty="0">
                <a:latin typeface="Goudy Old Style"/>
                <a:cs typeface="Goudy Old Style"/>
              </a:rPr>
              <a:t>the local </a:t>
            </a:r>
            <a:r>
              <a:rPr sz="1800" spc="-5" dirty="0">
                <a:latin typeface="Goudy Old Style"/>
                <a:cs typeface="Goudy Old Style"/>
              </a:rPr>
              <a:t>currencies used </a:t>
            </a:r>
            <a:r>
              <a:rPr sz="1800" spc="-10" dirty="0">
                <a:latin typeface="Goudy Old Style"/>
                <a:cs typeface="Goudy Old Style"/>
              </a:rPr>
              <a:t>by </a:t>
            </a:r>
            <a:r>
              <a:rPr sz="1800" dirty="0">
                <a:latin typeface="Goudy Old Style"/>
                <a:cs typeface="Goudy Old Style"/>
              </a:rPr>
              <a:t>them</a:t>
            </a:r>
            <a:r>
              <a:rPr sz="1800" spc="-55" dirty="0">
                <a:latin typeface="Goudy Old Style"/>
                <a:cs typeface="Goudy Old Style"/>
              </a:rPr>
              <a:t> </a:t>
            </a:r>
            <a:r>
              <a:rPr sz="1800" spc="-10" dirty="0">
                <a:latin typeface="Goudy Old Style"/>
                <a:cs typeface="Goudy Old Style"/>
              </a:rPr>
              <a:t>respectively:</a:t>
            </a:r>
            <a:endParaRPr sz="1800">
              <a:latin typeface="Goudy Old Style"/>
              <a:cs typeface="Goudy Old Style"/>
            </a:endParaRPr>
          </a:p>
        </p:txBody>
      </p:sp>
      <p:pic>
        <p:nvPicPr>
          <p:cNvPr id="4" name="object 4"/>
          <p:cNvPicPr/>
          <p:nvPr/>
        </p:nvPicPr>
        <p:blipFill>
          <a:blip r:embed="rId3" cstate="print"/>
          <a:stretch>
            <a:fillRect/>
          </a:stretch>
        </p:blipFill>
        <p:spPr>
          <a:xfrm>
            <a:off x="1524000" y="1752600"/>
            <a:ext cx="2209800" cy="1933194"/>
          </a:xfrm>
          <a:prstGeom prst="rect">
            <a:avLst/>
          </a:prstGeom>
        </p:spPr>
      </p:pic>
      <p:pic>
        <p:nvPicPr>
          <p:cNvPr id="5" name="object 5"/>
          <p:cNvPicPr/>
          <p:nvPr/>
        </p:nvPicPr>
        <p:blipFill>
          <a:blip r:embed="rId4" cstate="print"/>
          <a:stretch>
            <a:fillRect/>
          </a:stretch>
        </p:blipFill>
        <p:spPr>
          <a:xfrm>
            <a:off x="4267200" y="1752600"/>
            <a:ext cx="2353818" cy="1905000"/>
          </a:xfrm>
          <a:prstGeom prst="rect">
            <a:avLst/>
          </a:prstGeom>
        </p:spPr>
      </p:pic>
      <p:sp>
        <p:nvSpPr>
          <p:cNvPr id="6" name="object 6"/>
          <p:cNvSpPr txBox="1"/>
          <p:nvPr/>
        </p:nvSpPr>
        <p:spPr>
          <a:xfrm>
            <a:off x="1983994" y="3753611"/>
            <a:ext cx="1044575"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Goudy Old Style"/>
                <a:cs typeface="Goudy Old Style"/>
              </a:rPr>
              <a:t>Capitals</a:t>
            </a:r>
            <a:r>
              <a:rPr sz="1400" b="1" spc="-45" dirty="0">
                <a:latin typeface="Goudy Old Style"/>
                <a:cs typeface="Goudy Old Style"/>
              </a:rPr>
              <a:t> </a:t>
            </a:r>
            <a:r>
              <a:rPr sz="1400" b="1" spc="-25" dirty="0">
                <a:latin typeface="Goudy Old Style"/>
                <a:cs typeface="Goudy Old Style"/>
              </a:rPr>
              <a:t>Table</a:t>
            </a:r>
            <a:endParaRPr sz="1400">
              <a:latin typeface="Goudy Old Style"/>
              <a:cs typeface="Goudy Old Style"/>
            </a:endParaRPr>
          </a:p>
        </p:txBody>
      </p:sp>
      <p:sp>
        <p:nvSpPr>
          <p:cNvPr id="10" name="object 10"/>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31</a:t>
            </a:fld>
            <a:endParaRPr sz="1200"/>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7" name="object 7"/>
          <p:cNvSpPr txBox="1"/>
          <p:nvPr/>
        </p:nvSpPr>
        <p:spPr>
          <a:xfrm>
            <a:off x="4955794" y="3732529"/>
            <a:ext cx="1141730"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Goudy Old Style"/>
                <a:cs typeface="Goudy Old Style"/>
              </a:rPr>
              <a:t>Currency</a:t>
            </a:r>
            <a:r>
              <a:rPr sz="1400" b="1" spc="-35" dirty="0">
                <a:latin typeface="Goudy Old Style"/>
                <a:cs typeface="Goudy Old Style"/>
              </a:rPr>
              <a:t> </a:t>
            </a:r>
            <a:r>
              <a:rPr sz="1400" b="1" spc="-25" dirty="0">
                <a:latin typeface="Goudy Old Style"/>
                <a:cs typeface="Goudy Old Style"/>
              </a:rPr>
              <a:t>Table</a:t>
            </a:r>
            <a:endParaRPr sz="1400">
              <a:latin typeface="Goudy Old Style"/>
              <a:cs typeface="Goudy Old Style"/>
            </a:endParaRPr>
          </a:p>
        </p:txBody>
      </p:sp>
      <p:sp>
        <p:nvSpPr>
          <p:cNvPr id="8" name="object 8"/>
          <p:cNvSpPr txBox="1"/>
          <p:nvPr/>
        </p:nvSpPr>
        <p:spPr>
          <a:xfrm>
            <a:off x="459740" y="4164076"/>
            <a:ext cx="8319134" cy="1671955"/>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3695" algn="l"/>
                <a:tab pos="354330" algn="l"/>
              </a:tabLst>
            </a:pPr>
            <a:r>
              <a:rPr sz="1800" spc="-5" dirty="0">
                <a:latin typeface="Goudy Old Style"/>
                <a:cs typeface="Goudy Old Style"/>
              </a:rPr>
              <a:t>Both </a:t>
            </a:r>
            <a:r>
              <a:rPr sz="1800" dirty="0">
                <a:latin typeface="Goudy Old Style"/>
                <a:cs typeface="Goudy Old Style"/>
              </a:rPr>
              <a:t>tables </a:t>
            </a:r>
            <a:r>
              <a:rPr sz="1800" spc="-15" dirty="0">
                <a:latin typeface="Goudy Old Style"/>
                <a:cs typeface="Goudy Old Style"/>
              </a:rPr>
              <a:t>have </a:t>
            </a:r>
            <a:r>
              <a:rPr sz="1800" dirty="0">
                <a:latin typeface="Goudy Old Style"/>
                <a:cs typeface="Goudy Old Style"/>
              </a:rPr>
              <a:t>a common column, that is, the </a:t>
            </a:r>
            <a:r>
              <a:rPr sz="1800" b="1" spc="-5" dirty="0">
                <a:latin typeface="Courier New"/>
                <a:cs typeface="Courier New"/>
              </a:rPr>
              <a:t>Country</a:t>
            </a:r>
            <a:r>
              <a:rPr sz="1800" b="1" spc="-715" dirty="0">
                <a:latin typeface="Courier New"/>
                <a:cs typeface="Courier New"/>
              </a:rPr>
              <a:t> </a:t>
            </a:r>
            <a:r>
              <a:rPr sz="1800" dirty="0">
                <a:latin typeface="Goudy Old Style"/>
                <a:cs typeface="Goudy Old Style"/>
              </a:rPr>
              <a:t>column.</a:t>
            </a:r>
            <a:endParaRPr sz="1800">
              <a:latin typeface="Goudy Old Style"/>
              <a:cs typeface="Goudy Old Style"/>
            </a:endParaRPr>
          </a:p>
          <a:p>
            <a:pPr marL="353695" marR="5080" indent="-341630">
              <a:lnSpc>
                <a:spcPts val="2080"/>
              </a:lnSpc>
              <a:spcBef>
                <a:spcPts val="220"/>
              </a:spcBef>
              <a:buFont typeface="Wingdings"/>
              <a:buChar char=""/>
              <a:tabLst>
                <a:tab pos="353695" algn="l"/>
                <a:tab pos="354330" algn="l"/>
              </a:tabLst>
            </a:pPr>
            <a:r>
              <a:rPr sz="1800" spc="-40" dirty="0">
                <a:latin typeface="Goudy Old Style"/>
                <a:cs typeface="Goudy Old Style"/>
              </a:rPr>
              <a:t>Now, </a:t>
            </a:r>
            <a:r>
              <a:rPr sz="1800" spc="-5" dirty="0">
                <a:latin typeface="Goudy Old Style"/>
                <a:cs typeface="Goudy Old Style"/>
              </a:rPr>
              <a:t>to </a:t>
            </a:r>
            <a:r>
              <a:rPr sz="1800" spc="-10" dirty="0">
                <a:latin typeface="Goudy Old Style"/>
                <a:cs typeface="Goudy Old Style"/>
              </a:rPr>
              <a:t>display </a:t>
            </a:r>
            <a:r>
              <a:rPr sz="1800" dirty="0">
                <a:latin typeface="Goudy Old Style"/>
                <a:cs typeface="Goudy Old Style"/>
              </a:rPr>
              <a:t>the </a:t>
            </a:r>
            <a:r>
              <a:rPr sz="1800" spc="-10" dirty="0">
                <a:latin typeface="Goudy Old Style"/>
                <a:cs typeface="Goudy Old Style"/>
              </a:rPr>
              <a:t>information </a:t>
            </a:r>
            <a:r>
              <a:rPr sz="1800" spc="-5" dirty="0">
                <a:latin typeface="Goudy Old Style"/>
                <a:cs typeface="Goudy Old Style"/>
              </a:rPr>
              <a:t>about </a:t>
            </a:r>
            <a:r>
              <a:rPr sz="1800" dirty="0">
                <a:latin typeface="Goudy Old Style"/>
                <a:cs typeface="Goudy Old Style"/>
              </a:rPr>
              <a:t>the </a:t>
            </a:r>
            <a:r>
              <a:rPr sz="1800" spc="-5" dirty="0">
                <a:latin typeface="Goudy Old Style"/>
                <a:cs typeface="Goudy Old Style"/>
              </a:rPr>
              <a:t>currency used </a:t>
            </a:r>
            <a:r>
              <a:rPr sz="1800" dirty="0">
                <a:latin typeface="Goudy Old Style"/>
                <a:cs typeface="Goudy Old Style"/>
              </a:rPr>
              <a:t>in </a:t>
            </a:r>
            <a:r>
              <a:rPr sz="1800" spc="-10" dirty="0">
                <a:latin typeface="Goudy Old Style"/>
                <a:cs typeface="Goudy Old Style"/>
              </a:rPr>
              <a:t>Rome, </a:t>
            </a:r>
            <a:r>
              <a:rPr sz="1800" spc="-5" dirty="0">
                <a:latin typeface="Goudy Old Style"/>
                <a:cs typeface="Goudy Old Style"/>
              </a:rPr>
              <a:t>first </a:t>
            </a:r>
            <a:r>
              <a:rPr sz="1800" dirty="0">
                <a:latin typeface="Goudy Old Style"/>
                <a:cs typeface="Goudy Old Style"/>
              </a:rPr>
              <a:t>find the </a:t>
            </a:r>
            <a:r>
              <a:rPr sz="1800" spc="-5" dirty="0">
                <a:latin typeface="Goudy Old Style"/>
                <a:cs typeface="Goudy Old Style"/>
              </a:rPr>
              <a:t>name of  </a:t>
            </a:r>
            <a:r>
              <a:rPr sz="1800" dirty="0">
                <a:latin typeface="Goudy Old Style"/>
                <a:cs typeface="Goudy Old Style"/>
              </a:rPr>
              <a:t>the </a:t>
            </a:r>
            <a:r>
              <a:rPr sz="1800" spc="5" dirty="0">
                <a:latin typeface="Goudy Old Style"/>
                <a:cs typeface="Goudy Old Style"/>
              </a:rPr>
              <a:t>country </a:t>
            </a:r>
            <a:r>
              <a:rPr sz="1800" spc="-5" dirty="0">
                <a:latin typeface="Goudy Old Style"/>
                <a:cs typeface="Goudy Old Style"/>
              </a:rPr>
              <a:t>to </a:t>
            </a:r>
            <a:r>
              <a:rPr sz="1800" spc="-10" dirty="0">
                <a:latin typeface="Goudy Old Style"/>
                <a:cs typeface="Goudy Old Style"/>
              </a:rPr>
              <a:t>which </a:t>
            </a:r>
            <a:r>
              <a:rPr sz="1800" spc="-15" dirty="0">
                <a:latin typeface="Goudy Old Style"/>
                <a:cs typeface="Goudy Old Style"/>
              </a:rPr>
              <a:t>Rome </a:t>
            </a:r>
            <a:r>
              <a:rPr sz="1800" dirty="0">
                <a:latin typeface="Goudy Old Style"/>
                <a:cs typeface="Goudy Old Style"/>
              </a:rPr>
              <a:t>belongs </a:t>
            </a:r>
            <a:r>
              <a:rPr sz="1800" spc="-10" dirty="0">
                <a:latin typeface="Goudy Old Style"/>
                <a:cs typeface="Goudy Old Style"/>
              </a:rPr>
              <a:t>from </a:t>
            </a:r>
            <a:r>
              <a:rPr sz="1800" dirty="0">
                <a:latin typeface="Goudy Old Style"/>
                <a:cs typeface="Goudy Old Style"/>
              </a:rPr>
              <a:t>table</a:t>
            </a:r>
            <a:r>
              <a:rPr sz="1800" spc="-15" dirty="0">
                <a:latin typeface="Goudy Old Style"/>
                <a:cs typeface="Goudy Old Style"/>
              </a:rPr>
              <a:t> </a:t>
            </a:r>
            <a:r>
              <a:rPr sz="1800" b="1" spc="-10" dirty="0">
                <a:latin typeface="Courier New"/>
                <a:cs typeface="Courier New"/>
              </a:rPr>
              <a:t>Capitals</a:t>
            </a:r>
            <a:r>
              <a:rPr sz="1800" spc="-10" dirty="0">
                <a:latin typeface="Goudy Old Style"/>
                <a:cs typeface="Goudy Old Style"/>
              </a:rPr>
              <a:t>.</a:t>
            </a:r>
            <a:endParaRPr sz="1800">
              <a:latin typeface="Goudy Old Style"/>
              <a:cs typeface="Goudy Old Style"/>
            </a:endParaRPr>
          </a:p>
          <a:p>
            <a:pPr marL="353695" indent="-341630">
              <a:lnSpc>
                <a:spcPts val="2100"/>
              </a:lnSpc>
              <a:buFont typeface="Wingdings"/>
              <a:buChar char=""/>
              <a:tabLst>
                <a:tab pos="353695" algn="l"/>
                <a:tab pos="354330" algn="l"/>
              </a:tabLst>
            </a:pPr>
            <a:r>
              <a:rPr sz="1800" spc="-15" dirty="0">
                <a:latin typeface="Goudy Old Style"/>
                <a:cs typeface="Goudy Old Style"/>
              </a:rPr>
              <a:t>Next, </a:t>
            </a:r>
            <a:r>
              <a:rPr sz="1800" dirty="0">
                <a:latin typeface="Goudy Old Style"/>
                <a:cs typeface="Goudy Old Style"/>
              </a:rPr>
              <a:t>that </a:t>
            </a:r>
            <a:r>
              <a:rPr sz="1800" spc="5" dirty="0">
                <a:latin typeface="Goudy Old Style"/>
                <a:cs typeface="Goudy Old Style"/>
              </a:rPr>
              <a:t>country </a:t>
            </a:r>
            <a:r>
              <a:rPr sz="1800" spc="-5" dirty="0">
                <a:latin typeface="Goudy Old Style"/>
                <a:cs typeface="Goudy Old Style"/>
              </a:rPr>
              <a:t>should </a:t>
            </a:r>
            <a:r>
              <a:rPr sz="1800" dirty="0">
                <a:latin typeface="Goudy Old Style"/>
                <a:cs typeface="Goudy Old Style"/>
              </a:rPr>
              <a:t>be </a:t>
            </a:r>
            <a:r>
              <a:rPr sz="1800" spc="-5" dirty="0">
                <a:latin typeface="Goudy Old Style"/>
                <a:cs typeface="Goudy Old Style"/>
              </a:rPr>
              <a:t>looked up </a:t>
            </a:r>
            <a:r>
              <a:rPr sz="1800" dirty="0">
                <a:latin typeface="Goudy Old Style"/>
                <a:cs typeface="Goudy Old Style"/>
              </a:rPr>
              <a:t>in table </a:t>
            </a:r>
            <a:r>
              <a:rPr sz="1800" b="1" spc="-5" dirty="0">
                <a:latin typeface="Courier New"/>
                <a:cs typeface="Courier New"/>
              </a:rPr>
              <a:t>Currency</a:t>
            </a:r>
            <a:r>
              <a:rPr sz="1800" b="1" spc="-680" dirty="0">
                <a:latin typeface="Courier New"/>
                <a:cs typeface="Courier New"/>
              </a:rPr>
              <a:t> </a:t>
            </a:r>
            <a:r>
              <a:rPr sz="1800" spc="-5" dirty="0">
                <a:latin typeface="Goudy Old Style"/>
                <a:cs typeface="Goudy Old Style"/>
              </a:rPr>
              <a:t>to </a:t>
            </a:r>
            <a:r>
              <a:rPr sz="1800" dirty="0">
                <a:latin typeface="Goudy Old Style"/>
                <a:cs typeface="Goudy Old Style"/>
              </a:rPr>
              <a:t>find </a:t>
            </a:r>
            <a:r>
              <a:rPr sz="1800" spc="-5" dirty="0">
                <a:latin typeface="Goudy Old Style"/>
                <a:cs typeface="Goudy Old Style"/>
              </a:rPr>
              <a:t>out </a:t>
            </a:r>
            <a:r>
              <a:rPr sz="1800" dirty="0">
                <a:latin typeface="Goudy Old Style"/>
                <a:cs typeface="Goudy Old Style"/>
              </a:rPr>
              <a:t>the </a:t>
            </a:r>
            <a:r>
              <a:rPr sz="1800" spc="-15" dirty="0">
                <a:latin typeface="Goudy Old Style"/>
                <a:cs typeface="Goudy Old Style"/>
              </a:rPr>
              <a:t>currency.</a:t>
            </a:r>
            <a:endParaRPr sz="1800">
              <a:latin typeface="Goudy Old Style"/>
              <a:cs typeface="Goudy Old Style"/>
            </a:endParaRPr>
          </a:p>
          <a:p>
            <a:pPr marL="353695" indent="-341630">
              <a:lnSpc>
                <a:spcPts val="2120"/>
              </a:lnSpc>
              <a:spcBef>
                <a:spcPts val="85"/>
              </a:spcBef>
              <a:buFont typeface="Wingdings"/>
              <a:buChar char=""/>
              <a:tabLst>
                <a:tab pos="353695" algn="l"/>
                <a:tab pos="354330" algn="l"/>
              </a:tabLst>
            </a:pPr>
            <a:r>
              <a:rPr sz="1800" spc="-5" dirty="0">
                <a:latin typeface="Goudy Old Style"/>
                <a:cs typeface="Goudy Old Style"/>
              </a:rPr>
              <a:t>It </a:t>
            </a:r>
            <a:r>
              <a:rPr sz="1800" dirty="0">
                <a:latin typeface="Goudy Old Style"/>
                <a:cs typeface="Goudy Old Style"/>
              </a:rPr>
              <a:t>is possible </a:t>
            </a:r>
            <a:r>
              <a:rPr sz="1800" spc="-5" dirty="0">
                <a:latin typeface="Goudy Old Style"/>
                <a:cs typeface="Goudy Old Style"/>
              </a:rPr>
              <a:t>to </a:t>
            </a:r>
            <a:r>
              <a:rPr sz="1800" spc="-10" dirty="0">
                <a:latin typeface="Goudy Old Style"/>
                <a:cs typeface="Goudy Old Style"/>
              </a:rPr>
              <a:t>get </a:t>
            </a:r>
            <a:r>
              <a:rPr sz="1800" dirty="0">
                <a:latin typeface="Goudy Old Style"/>
                <a:cs typeface="Goudy Old Style"/>
              </a:rPr>
              <a:t>this </a:t>
            </a:r>
            <a:r>
              <a:rPr sz="1800" spc="-10" dirty="0">
                <a:latin typeface="Goudy Old Style"/>
                <a:cs typeface="Goudy Old Style"/>
              </a:rPr>
              <a:t>information </a:t>
            </a:r>
            <a:r>
              <a:rPr sz="1800" dirty="0">
                <a:latin typeface="Goudy Old Style"/>
                <a:cs typeface="Goudy Old Style"/>
              </a:rPr>
              <a:t>because it </a:t>
            </a:r>
            <a:r>
              <a:rPr sz="1800" spc="-5" dirty="0">
                <a:latin typeface="Goudy Old Style"/>
                <a:cs typeface="Goudy Old Style"/>
              </a:rPr>
              <a:t>is possible to establish </a:t>
            </a:r>
            <a:r>
              <a:rPr sz="1800" dirty="0">
                <a:latin typeface="Goudy Old Style"/>
                <a:cs typeface="Goudy Old Style"/>
              </a:rPr>
              <a:t>a </a:t>
            </a:r>
            <a:r>
              <a:rPr sz="1800" spc="-10" dirty="0">
                <a:latin typeface="Goudy Old Style"/>
                <a:cs typeface="Goudy Old Style"/>
              </a:rPr>
              <a:t>relation</a:t>
            </a:r>
            <a:r>
              <a:rPr sz="1800" spc="5" dirty="0">
                <a:latin typeface="Goudy Old Style"/>
                <a:cs typeface="Goudy Old Style"/>
              </a:rPr>
              <a:t> </a:t>
            </a:r>
            <a:r>
              <a:rPr sz="1800" spc="-10" dirty="0">
                <a:latin typeface="Goudy Old Style"/>
                <a:cs typeface="Goudy Old Style"/>
              </a:rPr>
              <a:t>between</a:t>
            </a:r>
            <a:endParaRPr sz="1800">
              <a:latin typeface="Goudy Old Style"/>
              <a:cs typeface="Goudy Old Style"/>
            </a:endParaRPr>
          </a:p>
          <a:p>
            <a:pPr marL="353695">
              <a:lnSpc>
                <a:spcPts val="2120"/>
              </a:lnSpc>
            </a:pPr>
            <a:r>
              <a:rPr sz="1800" dirty="0">
                <a:latin typeface="Goudy Old Style"/>
                <a:cs typeface="Goudy Old Style"/>
              </a:rPr>
              <a:t>the </a:t>
            </a:r>
            <a:r>
              <a:rPr sz="1800" spc="-10" dirty="0">
                <a:latin typeface="Goudy Old Style"/>
                <a:cs typeface="Goudy Old Style"/>
              </a:rPr>
              <a:t>two </a:t>
            </a:r>
            <a:r>
              <a:rPr sz="1800" dirty="0">
                <a:latin typeface="Goudy Old Style"/>
                <a:cs typeface="Goudy Old Style"/>
              </a:rPr>
              <a:t>tables </a:t>
            </a:r>
            <a:r>
              <a:rPr sz="1800" spc="-10" dirty="0">
                <a:latin typeface="Goudy Old Style"/>
                <a:cs typeface="Goudy Old Style"/>
              </a:rPr>
              <a:t>through </a:t>
            </a:r>
            <a:r>
              <a:rPr sz="1800" dirty="0">
                <a:latin typeface="Goudy Old Style"/>
                <a:cs typeface="Goudy Old Style"/>
              </a:rPr>
              <a:t>a common column </a:t>
            </a:r>
            <a:r>
              <a:rPr sz="1800" spc="-5" dirty="0">
                <a:latin typeface="Goudy Old Style"/>
                <a:cs typeface="Goudy Old Style"/>
              </a:rPr>
              <a:t>called</a:t>
            </a:r>
            <a:r>
              <a:rPr sz="1800" spc="-45" dirty="0">
                <a:latin typeface="Goudy Old Style"/>
                <a:cs typeface="Goudy Old Style"/>
              </a:rPr>
              <a:t> </a:t>
            </a:r>
            <a:r>
              <a:rPr sz="1800" b="1" spc="-10" dirty="0">
                <a:latin typeface="Courier New"/>
                <a:cs typeface="Courier New"/>
              </a:rPr>
              <a:t>Country</a:t>
            </a:r>
            <a:r>
              <a:rPr sz="1800" spc="-10" dirty="0">
                <a:latin typeface="Goudy Old Style"/>
                <a:cs typeface="Goudy Old Style"/>
              </a:rPr>
              <a:t>.</a:t>
            </a:r>
            <a:endParaRPr sz="1800">
              <a:latin typeface="Goudy Old Style"/>
              <a:cs typeface="Goudy Old Style"/>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5995035" cy="635635"/>
          </a:xfrm>
          <a:prstGeom prst="rect">
            <a:avLst/>
          </a:prstGeom>
        </p:spPr>
        <p:txBody>
          <a:bodyPr vert="horz" wrap="square" lIns="0" tIns="12700" rIns="0" bIns="0" rtlCol="0">
            <a:spAutoFit/>
          </a:bodyPr>
          <a:lstStyle/>
          <a:p>
            <a:pPr marL="12700">
              <a:lnSpc>
                <a:spcPct val="100000"/>
              </a:lnSpc>
              <a:spcBef>
                <a:spcPts val="100"/>
              </a:spcBef>
            </a:pPr>
            <a:r>
              <a:rPr sz="4000" b="0" spc="-70" dirty="0">
                <a:latin typeface="Goudy Old Style"/>
                <a:cs typeface="Goudy Old Style"/>
              </a:rPr>
              <a:t>Terms </a:t>
            </a:r>
            <a:r>
              <a:rPr sz="4000" b="0" spc="-15" dirty="0">
                <a:latin typeface="Goudy Old Style"/>
                <a:cs typeface="Goudy Old Style"/>
              </a:rPr>
              <a:t>Related </a:t>
            </a:r>
            <a:r>
              <a:rPr sz="4000" b="0" spc="-20" dirty="0">
                <a:latin typeface="Goudy Old Style"/>
                <a:cs typeface="Goudy Old Style"/>
              </a:rPr>
              <a:t>to </a:t>
            </a:r>
            <a:r>
              <a:rPr sz="4000" b="0" dirty="0">
                <a:latin typeface="Goudy Old Style"/>
                <a:cs typeface="Goudy Old Style"/>
              </a:rPr>
              <a:t>RDBMS</a:t>
            </a:r>
            <a:r>
              <a:rPr sz="4000" b="0" spc="35" dirty="0">
                <a:latin typeface="Goudy Old Style"/>
                <a:cs typeface="Goudy Old Style"/>
              </a:rPr>
              <a:t> </a:t>
            </a:r>
            <a:r>
              <a:rPr sz="4000" b="0" spc="5" dirty="0">
                <a:latin typeface="Goudy Old Style"/>
                <a:cs typeface="Goudy Old Style"/>
              </a:rPr>
              <a:t>1-3</a:t>
            </a:r>
            <a:endParaRPr sz="4000">
              <a:latin typeface="Goudy Old Style"/>
              <a:cs typeface="Goudy Old Style"/>
            </a:endParaRPr>
          </a:p>
        </p:txBody>
      </p:sp>
      <p:sp>
        <p:nvSpPr>
          <p:cNvPr id="10" name="object 10"/>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32</a:t>
            </a:fld>
            <a:endParaRPr sz="1200"/>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3" name="object 3"/>
          <p:cNvSpPr txBox="1"/>
          <p:nvPr/>
        </p:nvSpPr>
        <p:spPr>
          <a:xfrm>
            <a:off x="307340" y="1232153"/>
            <a:ext cx="7657465" cy="361315"/>
          </a:xfrm>
          <a:prstGeom prst="rect">
            <a:avLst/>
          </a:prstGeom>
        </p:spPr>
        <p:txBody>
          <a:bodyPr vert="horz" wrap="square" lIns="0" tIns="13335" rIns="0" bIns="0" rtlCol="0">
            <a:spAutoFit/>
          </a:bodyPr>
          <a:lstStyle/>
          <a:p>
            <a:pPr marL="353695" indent="-341630">
              <a:lnSpc>
                <a:spcPct val="100000"/>
              </a:lnSpc>
              <a:spcBef>
                <a:spcPts val="105"/>
              </a:spcBef>
              <a:buFont typeface="Wingdings"/>
              <a:buChar char=""/>
              <a:tabLst>
                <a:tab pos="354330" algn="l"/>
              </a:tabLst>
            </a:pPr>
            <a:r>
              <a:rPr sz="2200" spc="-40" dirty="0">
                <a:latin typeface="Goudy Old Style"/>
                <a:cs typeface="Goudy Old Style"/>
              </a:rPr>
              <a:t>Terms </a:t>
            </a:r>
            <a:r>
              <a:rPr sz="2200" dirty="0">
                <a:latin typeface="Goudy Old Style"/>
                <a:cs typeface="Goudy Old Style"/>
              </a:rPr>
              <a:t>that </a:t>
            </a:r>
            <a:r>
              <a:rPr sz="2200" spc="-15" dirty="0">
                <a:latin typeface="Goudy Old Style"/>
                <a:cs typeface="Goudy Old Style"/>
              </a:rPr>
              <a:t>are </a:t>
            </a:r>
            <a:r>
              <a:rPr sz="2200" spc="-5" dirty="0">
                <a:latin typeface="Goudy Old Style"/>
                <a:cs typeface="Goudy Old Style"/>
              </a:rPr>
              <a:t>mostly used </a:t>
            </a:r>
            <a:r>
              <a:rPr sz="2200" dirty="0">
                <a:latin typeface="Goudy Old Style"/>
                <a:cs typeface="Goudy Old Style"/>
              </a:rPr>
              <a:t>in </a:t>
            </a:r>
            <a:r>
              <a:rPr sz="2200" spc="-5" dirty="0">
                <a:latin typeface="Goudy Old Style"/>
                <a:cs typeface="Goudy Old Style"/>
              </a:rPr>
              <a:t>an RDBMS </a:t>
            </a:r>
            <a:r>
              <a:rPr sz="2200" spc="-15" dirty="0">
                <a:latin typeface="Goudy Old Style"/>
                <a:cs typeface="Goudy Old Style"/>
              </a:rPr>
              <a:t>are </a:t>
            </a:r>
            <a:r>
              <a:rPr sz="2200" spc="-5" dirty="0">
                <a:latin typeface="Goudy Old Style"/>
                <a:cs typeface="Goudy Old Style"/>
              </a:rPr>
              <a:t>described as</a:t>
            </a:r>
            <a:r>
              <a:rPr sz="2200" spc="85" dirty="0">
                <a:latin typeface="Goudy Old Style"/>
                <a:cs typeface="Goudy Old Style"/>
              </a:rPr>
              <a:t> </a:t>
            </a:r>
            <a:r>
              <a:rPr sz="2200" spc="-15" dirty="0">
                <a:latin typeface="Goudy Old Style"/>
                <a:cs typeface="Goudy Old Style"/>
              </a:rPr>
              <a:t>follows:</a:t>
            </a:r>
            <a:endParaRPr sz="2200">
              <a:latin typeface="Goudy Old Style"/>
              <a:cs typeface="Goudy Old Style"/>
            </a:endParaRPr>
          </a:p>
        </p:txBody>
      </p:sp>
      <p:sp>
        <p:nvSpPr>
          <p:cNvPr id="4" name="object 4"/>
          <p:cNvSpPr txBox="1"/>
          <p:nvPr/>
        </p:nvSpPr>
        <p:spPr>
          <a:xfrm>
            <a:off x="457580" y="2336673"/>
            <a:ext cx="2595880" cy="1557655"/>
          </a:xfrm>
          <a:prstGeom prst="rect">
            <a:avLst/>
          </a:prstGeom>
          <a:solidFill>
            <a:srgbClr val="9BBA58"/>
          </a:solidFill>
          <a:ln w="25146">
            <a:solidFill>
              <a:srgbClr val="FFFFFF"/>
            </a:solidFill>
          </a:ln>
        </p:spPr>
        <p:txBody>
          <a:bodyPr vert="horz" wrap="square" lIns="0" tIns="0" rIns="0" bIns="0" rtlCol="0">
            <a:spAutoFit/>
          </a:bodyPr>
          <a:lstStyle/>
          <a:p>
            <a:pPr>
              <a:lnSpc>
                <a:spcPct val="100000"/>
              </a:lnSpc>
            </a:pPr>
            <a:endParaRPr sz="2200">
              <a:latin typeface="Times New Roman"/>
              <a:cs typeface="Times New Roman"/>
            </a:endParaRPr>
          </a:p>
          <a:p>
            <a:pPr marL="151765" marR="144780" indent="42545">
              <a:lnSpc>
                <a:spcPts val="2160"/>
              </a:lnSpc>
              <a:spcBef>
                <a:spcPts val="1400"/>
              </a:spcBef>
            </a:pPr>
            <a:r>
              <a:rPr sz="2000" b="1" dirty="0">
                <a:solidFill>
                  <a:srgbClr val="FFFFFF"/>
                </a:solidFill>
                <a:latin typeface="Goudy Old Style"/>
                <a:cs typeface="Goudy Old Style"/>
              </a:rPr>
              <a:t>Data </a:t>
            </a:r>
            <a:r>
              <a:rPr sz="2000" b="1" spc="-5" dirty="0">
                <a:solidFill>
                  <a:srgbClr val="FFFFFF"/>
                </a:solidFill>
                <a:latin typeface="Goudy Old Style"/>
                <a:cs typeface="Goudy Old Style"/>
              </a:rPr>
              <a:t>is </a:t>
            </a:r>
            <a:r>
              <a:rPr sz="2000" b="1" spc="-10" dirty="0">
                <a:solidFill>
                  <a:srgbClr val="FFFFFF"/>
                </a:solidFill>
                <a:latin typeface="Goudy Old Style"/>
                <a:cs typeface="Goudy Old Style"/>
              </a:rPr>
              <a:t>presented </a:t>
            </a:r>
            <a:r>
              <a:rPr sz="2000" b="1" spc="-5" dirty="0">
                <a:solidFill>
                  <a:srgbClr val="FFFFFF"/>
                </a:solidFill>
                <a:latin typeface="Goudy Old Style"/>
                <a:cs typeface="Goudy Old Style"/>
              </a:rPr>
              <a:t>as a  collection of</a:t>
            </a:r>
            <a:r>
              <a:rPr sz="2000" b="1" spc="-25" dirty="0">
                <a:solidFill>
                  <a:srgbClr val="FFFFFF"/>
                </a:solidFill>
                <a:latin typeface="Goudy Old Style"/>
                <a:cs typeface="Goudy Old Style"/>
              </a:rPr>
              <a:t> </a:t>
            </a:r>
            <a:r>
              <a:rPr sz="2000" b="1" spc="-10" dirty="0">
                <a:solidFill>
                  <a:srgbClr val="FFFFFF"/>
                </a:solidFill>
                <a:latin typeface="Goudy Old Style"/>
                <a:cs typeface="Goudy Old Style"/>
              </a:rPr>
              <a:t>relations.</a:t>
            </a:r>
            <a:endParaRPr sz="2000">
              <a:latin typeface="Goudy Old Style"/>
              <a:cs typeface="Goudy Old Style"/>
            </a:endParaRPr>
          </a:p>
        </p:txBody>
      </p:sp>
      <p:sp>
        <p:nvSpPr>
          <p:cNvPr id="5" name="object 5"/>
          <p:cNvSpPr txBox="1"/>
          <p:nvPr/>
        </p:nvSpPr>
        <p:spPr>
          <a:xfrm>
            <a:off x="3312795" y="2336673"/>
            <a:ext cx="2595880" cy="1557655"/>
          </a:xfrm>
          <a:prstGeom prst="rect">
            <a:avLst/>
          </a:prstGeom>
          <a:solidFill>
            <a:srgbClr val="5CB564"/>
          </a:solidFill>
          <a:ln w="25146">
            <a:solidFill>
              <a:srgbClr val="FFFFFF"/>
            </a:solidFill>
          </a:ln>
        </p:spPr>
        <p:txBody>
          <a:bodyPr vert="horz" wrap="square" lIns="0" tIns="0" rIns="0" bIns="0" rtlCol="0">
            <a:spAutoFit/>
          </a:bodyPr>
          <a:lstStyle/>
          <a:p>
            <a:pPr>
              <a:lnSpc>
                <a:spcPct val="100000"/>
              </a:lnSpc>
            </a:pPr>
            <a:endParaRPr sz="2200">
              <a:latin typeface="Times New Roman"/>
              <a:cs typeface="Times New Roman"/>
            </a:endParaRPr>
          </a:p>
          <a:p>
            <a:pPr marL="329565" marR="323850" indent="175895">
              <a:lnSpc>
                <a:spcPts val="2160"/>
              </a:lnSpc>
              <a:spcBef>
                <a:spcPts val="1400"/>
              </a:spcBef>
            </a:pPr>
            <a:r>
              <a:rPr sz="2000" b="1" spc="-10" dirty="0">
                <a:solidFill>
                  <a:srgbClr val="FFFFFF"/>
                </a:solidFill>
                <a:latin typeface="Goudy Old Style"/>
                <a:cs typeface="Goudy Old Style"/>
              </a:rPr>
              <a:t>Each relation is  depicted </a:t>
            </a:r>
            <a:r>
              <a:rPr sz="2000" b="1" spc="-5" dirty="0">
                <a:solidFill>
                  <a:srgbClr val="FFFFFF"/>
                </a:solidFill>
                <a:latin typeface="Goudy Old Style"/>
                <a:cs typeface="Goudy Old Style"/>
              </a:rPr>
              <a:t>as a</a:t>
            </a:r>
            <a:r>
              <a:rPr sz="2000" b="1" spc="-25" dirty="0">
                <a:solidFill>
                  <a:srgbClr val="FFFFFF"/>
                </a:solidFill>
                <a:latin typeface="Goudy Old Style"/>
                <a:cs typeface="Goudy Old Style"/>
              </a:rPr>
              <a:t> </a:t>
            </a:r>
            <a:r>
              <a:rPr sz="2000" b="1" spc="-5" dirty="0">
                <a:solidFill>
                  <a:srgbClr val="FFFFFF"/>
                </a:solidFill>
                <a:latin typeface="Goudy Old Style"/>
                <a:cs typeface="Goudy Old Style"/>
              </a:rPr>
              <a:t>table.</a:t>
            </a:r>
            <a:endParaRPr sz="2000">
              <a:latin typeface="Goudy Old Style"/>
              <a:cs typeface="Goudy Old Style"/>
            </a:endParaRPr>
          </a:p>
        </p:txBody>
      </p:sp>
      <p:sp>
        <p:nvSpPr>
          <p:cNvPr id="6" name="object 6"/>
          <p:cNvSpPr txBox="1"/>
          <p:nvPr/>
        </p:nvSpPr>
        <p:spPr>
          <a:xfrm>
            <a:off x="6168009" y="2336673"/>
            <a:ext cx="2595880" cy="1557655"/>
          </a:xfrm>
          <a:prstGeom prst="rect">
            <a:avLst/>
          </a:prstGeom>
          <a:solidFill>
            <a:srgbClr val="5EAEA6"/>
          </a:solidFill>
          <a:ln w="25146">
            <a:solidFill>
              <a:srgbClr val="FFFFFF"/>
            </a:solidFill>
          </a:ln>
        </p:spPr>
        <p:txBody>
          <a:bodyPr vert="horz" wrap="square" lIns="0" tIns="0" rIns="0" bIns="0" rtlCol="0">
            <a:spAutoFit/>
          </a:bodyPr>
          <a:lstStyle/>
          <a:p>
            <a:pPr>
              <a:lnSpc>
                <a:spcPct val="100000"/>
              </a:lnSpc>
            </a:pPr>
            <a:endParaRPr sz="2200">
              <a:latin typeface="Times New Roman"/>
              <a:cs typeface="Times New Roman"/>
            </a:endParaRPr>
          </a:p>
          <a:p>
            <a:pPr>
              <a:lnSpc>
                <a:spcPct val="100000"/>
              </a:lnSpc>
              <a:spcBef>
                <a:spcPts val="20"/>
              </a:spcBef>
            </a:pPr>
            <a:endParaRPr sz="1900">
              <a:latin typeface="Times New Roman"/>
              <a:cs typeface="Times New Roman"/>
            </a:endParaRPr>
          </a:p>
          <a:p>
            <a:pPr marL="80010">
              <a:lnSpc>
                <a:spcPct val="100000"/>
              </a:lnSpc>
            </a:pPr>
            <a:r>
              <a:rPr sz="2000" b="1" spc="-10" dirty="0">
                <a:solidFill>
                  <a:srgbClr val="FFFFFF"/>
                </a:solidFill>
                <a:latin typeface="Goudy Old Style"/>
                <a:cs typeface="Goudy Old Style"/>
              </a:rPr>
              <a:t>Columns are</a:t>
            </a:r>
            <a:r>
              <a:rPr sz="2000" b="1" spc="5" dirty="0">
                <a:solidFill>
                  <a:srgbClr val="FFFFFF"/>
                </a:solidFill>
                <a:latin typeface="Goudy Old Style"/>
                <a:cs typeface="Goudy Old Style"/>
              </a:rPr>
              <a:t> </a:t>
            </a:r>
            <a:r>
              <a:rPr sz="2000" b="1" spc="-10" dirty="0">
                <a:solidFill>
                  <a:srgbClr val="FFFFFF"/>
                </a:solidFill>
                <a:latin typeface="Goudy Old Style"/>
                <a:cs typeface="Goudy Old Style"/>
              </a:rPr>
              <a:t>attributes.</a:t>
            </a:r>
            <a:endParaRPr sz="2000">
              <a:latin typeface="Goudy Old Style"/>
              <a:cs typeface="Goudy Old Style"/>
            </a:endParaRPr>
          </a:p>
        </p:txBody>
      </p:sp>
      <p:sp>
        <p:nvSpPr>
          <p:cNvPr id="7" name="object 7"/>
          <p:cNvSpPr txBox="1"/>
          <p:nvPr/>
        </p:nvSpPr>
        <p:spPr>
          <a:xfrm>
            <a:off x="1143380" y="4154042"/>
            <a:ext cx="2595880" cy="1557020"/>
          </a:xfrm>
          <a:prstGeom prst="rect">
            <a:avLst/>
          </a:prstGeom>
          <a:solidFill>
            <a:srgbClr val="6079A8"/>
          </a:solidFill>
          <a:ln w="25146">
            <a:solidFill>
              <a:srgbClr val="FFFFFF"/>
            </a:solidFill>
          </a:ln>
        </p:spPr>
        <p:txBody>
          <a:bodyPr vert="horz" wrap="square" lIns="0" tIns="0" rIns="0" bIns="0" rtlCol="0">
            <a:spAutoFit/>
          </a:bodyPr>
          <a:lstStyle/>
          <a:p>
            <a:pPr>
              <a:lnSpc>
                <a:spcPct val="100000"/>
              </a:lnSpc>
            </a:pPr>
            <a:endParaRPr sz="2200">
              <a:latin typeface="Times New Roman"/>
              <a:cs typeface="Times New Roman"/>
            </a:endParaRPr>
          </a:p>
          <a:p>
            <a:pPr marL="378460" marR="372110" indent="188595">
              <a:lnSpc>
                <a:spcPts val="2160"/>
              </a:lnSpc>
              <a:spcBef>
                <a:spcPts val="1395"/>
              </a:spcBef>
            </a:pPr>
            <a:r>
              <a:rPr sz="2000" b="1" spc="-10" dirty="0">
                <a:solidFill>
                  <a:srgbClr val="FFFFFF"/>
                </a:solidFill>
                <a:latin typeface="Goudy Old Style"/>
                <a:cs typeface="Goudy Old Style"/>
              </a:rPr>
              <a:t>Rows ('tuples')  represent</a:t>
            </a:r>
            <a:r>
              <a:rPr sz="2000" b="1" spc="-35" dirty="0">
                <a:solidFill>
                  <a:srgbClr val="FFFFFF"/>
                </a:solidFill>
                <a:latin typeface="Goudy Old Style"/>
                <a:cs typeface="Goudy Old Style"/>
              </a:rPr>
              <a:t> </a:t>
            </a:r>
            <a:r>
              <a:rPr sz="2000" b="1" spc="-10" dirty="0">
                <a:solidFill>
                  <a:srgbClr val="FFFFFF"/>
                </a:solidFill>
                <a:latin typeface="Goudy Old Style"/>
                <a:cs typeface="Goudy Old Style"/>
              </a:rPr>
              <a:t>entities.</a:t>
            </a:r>
            <a:endParaRPr sz="2000">
              <a:latin typeface="Goudy Old Style"/>
              <a:cs typeface="Goudy Old Style"/>
            </a:endParaRPr>
          </a:p>
        </p:txBody>
      </p:sp>
      <p:sp>
        <p:nvSpPr>
          <p:cNvPr id="8" name="object 8"/>
          <p:cNvSpPr txBox="1"/>
          <p:nvPr/>
        </p:nvSpPr>
        <p:spPr>
          <a:xfrm>
            <a:off x="3998595" y="4154042"/>
            <a:ext cx="4079240" cy="1557020"/>
          </a:xfrm>
          <a:prstGeom prst="rect">
            <a:avLst/>
          </a:prstGeom>
          <a:solidFill>
            <a:srgbClr val="8063A1"/>
          </a:solidFill>
          <a:ln w="25146">
            <a:solidFill>
              <a:srgbClr val="FFFFFF"/>
            </a:solidFill>
          </a:ln>
        </p:spPr>
        <p:txBody>
          <a:bodyPr vert="horz" wrap="square" lIns="0" tIns="219710" rIns="0" bIns="0" rtlCol="0">
            <a:spAutoFit/>
          </a:bodyPr>
          <a:lstStyle/>
          <a:p>
            <a:pPr marL="121285" marR="116839" algn="ctr">
              <a:lnSpc>
                <a:spcPct val="90000"/>
              </a:lnSpc>
              <a:spcBef>
                <a:spcPts val="1730"/>
              </a:spcBef>
            </a:pPr>
            <a:r>
              <a:rPr sz="2000" b="1" dirty="0">
                <a:solidFill>
                  <a:srgbClr val="FFFFFF"/>
                </a:solidFill>
                <a:latin typeface="Goudy Old Style"/>
                <a:cs typeface="Goudy Old Style"/>
              </a:rPr>
              <a:t>Every table </a:t>
            </a:r>
            <a:r>
              <a:rPr sz="2000" b="1" spc="-5" dirty="0">
                <a:solidFill>
                  <a:srgbClr val="FFFFFF"/>
                </a:solidFill>
                <a:latin typeface="Goudy Old Style"/>
                <a:cs typeface="Goudy Old Style"/>
              </a:rPr>
              <a:t>has a </a:t>
            </a:r>
            <a:r>
              <a:rPr sz="2000" b="1" spc="-15" dirty="0">
                <a:solidFill>
                  <a:srgbClr val="FFFFFF"/>
                </a:solidFill>
                <a:latin typeface="Goudy Old Style"/>
                <a:cs typeface="Goudy Old Style"/>
              </a:rPr>
              <a:t>set </a:t>
            </a:r>
            <a:r>
              <a:rPr sz="2000" b="1" dirty="0">
                <a:solidFill>
                  <a:srgbClr val="FFFFFF"/>
                </a:solidFill>
                <a:latin typeface="Goudy Old Style"/>
                <a:cs typeface="Goudy Old Style"/>
              </a:rPr>
              <a:t>of </a:t>
            </a:r>
            <a:r>
              <a:rPr sz="2000" b="1" spc="-10" dirty="0">
                <a:solidFill>
                  <a:srgbClr val="FFFFFF"/>
                </a:solidFill>
                <a:latin typeface="Goudy Old Style"/>
                <a:cs typeface="Goudy Old Style"/>
              </a:rPr>
              <a:t>attributes that  are </a:t>
            </a:r>
            <a:r>
              <a:rPr sz="2000" b="1" spc="-5" dirty="0">
                <a:solidFill>
                  <a:srgbClr val="FFFFFF"/>
                </a:solidFill>
                <a:latin typeface="Goudy Old Style"/>
                <a:cs typeface="Goudy Old Style"/>
              </a:rPr>
              <a:t>taken </a:t>
            </a:r>
            <a:r>
              <a:rPr sz="2000" b="1" spc="-10" dirty="0">
                <a:solidFill>
                  <a:srgbClr val="FFFFFF"/>
                </a:solidFill>
                <a:latin typeface="Goudy Old Style"/>
                <a:cs typeface="Goudy Old Style"/>
              </a:rPr>
              <a:t>together </a:t>
            </a:r>
            <a:r>
              <a:rPr sz="2000" b="1" spc="-5" dirty="0">
                <a:solidFill>
                  <a:srgbClr val="FFFFFF"/>
                </a:solidFill>
                <a:latin typeface="Goudy Old Style"/>
                <a:cs typeface="Goudy Old Style"/>
              </a:rPr>
              <a:t>as </a:t>
            </a:r>
            <a:r>
              <a:rPr sz="2000" b="1" dirty="0">
                <a:solidFill>
                  <a:srgbClr val="FFFFFF"/>
                </a:solidFill>
                <a:latin typeface="Goudy Old Style"/>
                <a:cs typeface="Goudy Old Style"/>
              </a:rPr>
              <a:t>a </a:t>
            </a:r>
            <a:r>
              <a:rPr sz="2000" b="1" spc="-10" dirty="0">
                <a:solidFill>
                  <a:srgbClr val="FFFFFF"/>
                </a:solidFill>
                <a:latin typeface="Goudy Old Style"/>
                <a:cs typeface="Goudy Old Style"/>
              </a:rPr>
              <a:t>'key'  (technically, </a:t>
            </a:r>
            <a:r>
              <a:rPr sz="2000" b="1" spc="-5" dirty="0">
                <a:solidFill>
                  <a:srgbClr val="FFFFFF"/>
                </a:solidFill>
                <a:latin typeface="Goudy Old Style"/>
                <a:cs typeface="Goudy Old Style"/>
              </a:rPr>
              <a:t>a </a:t>
            </a:r>
            <a:r>
              <a:rPr sz="2000" b="1" spc="-10" dirty="0">
                <a:solidFill>
                  <a:srgbClr val="FFFFFF"/>
                </a:solidFill>
                <a:latin typeface="Goudy Old Style"/>
                <a:cs typeface="Goudy Old Style"/>
              </a:rPr>
              <a:t>'superkey'), which  </a:t>
            </a:r>
            <a:r>
              <a:rPr sz="2000" b="1" spc="-5" dirty="0">
                <a:solidFill>
                  <a:srgbClr val="FFFFFF"/>
                </a:solidFill>
                <a:latin typeface="Goudy Old Style"/>
                <a:cs typeface="Goudy Old Style"/>
              </a:rPr>
              <a:t>uniquely identifies </a:t>
            </a:r>
            <a:r>
              <a:rPr sz="2000" b="1" spc="-15" dirty="0">
                <a:solidFill>
                  <a:srgbClr val="FFFFFF"/>
                </a:solidFill>
                <a:latin typeface="Goudy Old Style"/>
                <a:cs typeface="Goudy Old Style"/>
              </a:rPr>
              <a:t>each</a:t>
            </a:r>
            <a:r>
              <a:rPr sz="2000" b="1" spc="5" dirty="0">
                <a:solidFill>
                  <a:srgbClr val="FFFFFF"/>
                </a:solidFill>
                <a:latin typeface="Goudy Old Style"/>
                <a:cs typeface="Goudy Old Style"/>
              </a:rPr>
              <a:t> </a:t>
            </a:r>
            <a:r>
              <a:rPr sz="2000" b="1" spc="-15" dirty="0">
                <a:solidFill>
                  <a:srgbClr val="FFFFFF"/>
                </a:solidFill>
                <a:latin typeface="Goudy Old Style"/>
                <a:cs typeface="Goudy Old Style"/>
              </a:rPr>
              <a:t>entity.</a:t>
            </a:r>
            <a:endParaRPr sz="2000">
              <a:latin typeface="Goudy Old Style"/>
              <a:cs typeface="Goudy Old Style"/>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5995035" cy="635635"/>
          </a:xfrm>
          <a:prstGeom prst="rect">
            <a:avLst/>
          </a:prstGeom>
        </p:spPr>
        <p:txBody>
          <a:bodyPr vert="horz" wrap="square" lIns="0" tIns="12700" rIns="0" bIns="0" rtlCol="0">
            <a:spAutoFit/>
          </a:bodyPr>
          <a:lstStyle/>
          <a:p>
            <a:pPr marL="12700">
              <a:lnSpc>
                <a:spcPct val="100000"/>
              </a:lnSpc>
              <a:spcBef>
                <a:spcPts val="100"/>
              </a:spcBef>
            </a:pPr>
            <a:r>
              <a:rPr sz="4000" b="0" spc="-70" dirty="0">
                <a:latin typeface="Goudy Old Style"/>
                <a:cs typeface="Goudy Old Style"/>
              </a:rPr>
              <a:t>Terms </a:t>
            </a:r>
            <a:r>
              <a:rPr sz="4000" b="0" spc="-15" dirty="0">
                <a:latin typeface="Goudy Old Style"/>
                <a:cs typeface="Goudy Old Style"/>
              </a:rPr>
              <a:t>Related </a:t>
            </a:r>
            <a:r>
              <a:rPr sz="4000" b="0" spc="-20" dirty="0">
                <a:latin typeface="Goudy Old Style"/>
                <a:cs typeface="Goudy Old Style"/>
              </a:rPr>
              <a:t>to </a:t>
            </a:r>
            <a:r>
              <a:rPr sz="4000" b="0" dirty="0">
                <a:latin typeface="Goudy Old Style"/>
                <a:cs typeface="Goudy Old Style"/>
              </a:rPr>
              <a:t>RDBMS</a:t>
            </a:r>
            <a:r>
              <a:rPr sz="4000" b="0" spc="35" dirty="0">
                <a:latin typeface="Goudy Old Style"/>
                <a:cs typeface="Goudy Old Style"/>
              </a:rPr>
              <a:t> </a:t>
            </a:r>
            <a:r>
              <a:rPr sz="4000" b="0" spc="5" dirty="0">
                <a:latin typeface="Goudy Old Style"/>
                <a:cs typeface="Goudy Old Style"/>
              </a:rPr>
              <a:t>2-3</a:t>
            </a:r>
            <a:endParaRPr sz="4000">
              <a:latin typeface="Goudy Old Style"/>
              <a:cs typeface="Goudy Old Style"/>
            </a:endParaRPr>
          </a:p>
        </p:txBody>
      </p:sp>
      <p:sp>
        <p:nvSpPr>
          <p:cNvPr id="3" name="object 3"/>
          <p:cNvSpPr txBox="1"/>
          <p:nvPr/>
        </p:nvSpPr>
        <p:spPr>
          <a:xfrm>
            <a:off x="459740" y="1022350"/>
            <a:ext cx="8033384" cy="848994"/>
          </a:xfrm>
          <a:prstGeom prst="rect">
            <a:avLst/>
          </a:prstGeom>
        </p:spPr>
        <p:txBody>
          <a:bodyPr vert="horz" wrap="square" lIns="0" tIns="12700" rIns="0" bIns="0" rtlCol="0">
            <a:spAutoFit/>
          </a:bodyPr>
          <a:lstStyle/>
          <a:p>
            <a:pPr marL="353695" marR="5080" indent="-341630">
              <a:lnSpc>
                <a:spcPct val="100000"/>
              </a:lnSpc>
              <a:spcBef>
                <a:spcPts val="100"/>
              </a:spcBef>
              <a:buFont typeface="Wingdings"/>
              <a:buChar char=""/>
              <a:tabLst>
                <a:tab pos="353695" algn="l"/>
                <a:tab pos="354330" algn="l"/>
              </a:tabLst>
            </a:pPr>
            <a:r>
              <a:rPr sz="1800" spc="-5" dirty="0">
                <a:latin typeface="Goudy Old Style"/>
                <a:cs typeface="Goudy Old Style"/>
              </a:rPr>
              <a:t>Consider </a:t>
            </a:r>
            <a:r>
              <a:rPr sz="1800" dirty="0">
                <a:latin typeface="Goudy Old Style"/>
                <a:cs typeface="Goudy Old Style"/>
              </a:rPr>
              <a:t>the scenario </a:t>
            </a:r>
            <a:r>
              <a:rPr sz="1800" spc="-5" dirty="0">
                <a:latin typeface="Goudy Old Style"/>
                <a:cs typeface="Goudy Old Style"/>
              </a:rPr>
              <a:t>of </a:t>
            </a:r>
            <a:r>
              <a:rPr sz="1800" dirty="0">
                <a:latin typeface="Goudy Old Style"/>
                <a:cs typeface="Goudy Old Style"/>
              </a:rPr>
              <a:t>a </a:t>
            </a:r>
            <a:r>
              <a:rPr sz="1800" spc="-15" dirty="0">
                <a:latin typeface="Goudy Old Style"/>
                <a:cs typeface="Goudy Old Style"/>
              </a:rPr>
              <a:t>company </a:t>
            </a:r>
            <a:r>
              <a:rPr sz="1800" dirty="0">
                <a:latin typeface="Goudy Old Style"/>
                <a:cs typeface="Goudy Old Style"/>
              </a:rPr>
              <a:t>maintaining </a:t>
            </a:r>
            <a:r>
              <a:rPr sz="1800" spc="-5" dirty="0">
                <a:latin typeface="Goudy Old Style"/>
                <a:cs typeface="Goudy Old Style"/>
              </a:rPr>
              <a:t>customer and </a:t>
            </a:r>
            <a:r>
              <a:rPr sz="1800" spc="-10" dirty="0">
                <a:latin typeface="Goudy Old Style"/>
                <a:cs typeface="Goudy Old Style"/>
              </a:rPr>
              <a:t>order information </a:t>
            </a:r>
            <a:r>
              <a:rPr sz="1800" spc="-20" dirty="0">
                <a:latin typeface="Goudy Old Style"/>
                <a:cs typeface="Goudy Old Style"/>
              </a:rPr>
              <a:t>for  </a:t>
            </a:r>
            <a:r>
              <a:rPr sz="1800" spc="-10" dirty="0">
                <a:latin typeface="Goudy Old Style"/>
                <a:cs typeface="Goudy Old Style"/>
              </a:rPr>
              <a:t>products </a:t>
            </a:r>
            <a:r>
              <a:rPr sz="1800" dirty="0">
                <a:latin typeface="Goudy Old Style"/>
                <a:cs typeface="Goudy Old Style"/>
              </a:rPr>
              <a:t>being sold </a:t>
            </a:r>
            <a:r>
              <a:rPr sz="1800" spc="-5" dirty="0">
                <a:latin typeface="Goudy Old Style"/>
                <a:cs typeface="Goudy Old Style"/>
              </a:rPr>
              <a:t>and </a:t>
            </a:r>
            <a:r>
              <a:rPr sz="1800" spc="-10" dirty="0">
                <a:latin typeface="Goudy Old Style"/>
                <a:cs typeface="Goudy Old Style"/>
              </a:rPr>
              <a:t>customer-order </a:t>
            </a:r>
            <a:r>
              <a:rPr sz="1800" spc="-5" dirty="0">
                <a:latin typeface="Goudy Old Style"/>
                <a:cs typeface="Goudy Old Style"/>
              </a:rPr>
              <a:t>details </a:t>
            </a:r>
            <a:r>
              <a:rPr sz="1800" spc="-20" dirty="0">
                <a:latin typeface="Goudy Old Style"/>
                <a:cs typeface="Goudy Old Style"/>
              </a:rPr>
              <a:t>for </a:t>
            </a:r>
            <a:r>
              <a:rPr sz="1800" dirty="0">
                <a:latin typeface="Goudy Old Style"/>
                <a:cs typeface="Goudy Old Style"/>
              </a:rPr>
              <a:t>a specific month, </a:t>
            </a:r>
            <a:r>
              <a:rPr sz="1800" spc="-25" dirty="0">
                <a:latin typeface="Goudy Old Style"/>
                <a:cs typeface="Goudy Old Style"/>
              </a:rPr>
              <a:t>say,</a:t>
            </a:r>
            <a:r>
              <a:rPr sz="1800" spc="-5" dirty="0">
                <a:latin typeface="Goudy Old Style"/>
                <a:cs typeface="Goudy Old Style"/>
              </a:rPr>
              <a:t> </a:t>
            </a:r>
            <a:r>
              <a:rPr sz="1800" spc="-10" dirty="0">
                <a:latin typeface="Goudy Old Style"/>
                <a:cs typeface="Goudy Old Style"/>
              </a:rPr>
              <a:t>August.</a:t>
            </a:r>
            <a:endParaRPr sz="1800">
              <a:latin typeface="Goudy Old Style"/>
              <a:cs typeface="Goudy Old Style"/>
            </a:endParaRPr>
          </a:p>
          <a:p>
            <a:pPr marL="353695" indent="-341630">
              <a:lnSpc>
                <a:spcPct val="100000"/>
              </a:lnSpc>
              <a:buFont typeface="Wingdings"/>
              <a:buChar char=""/>
              <a:tabLst>
                <a:tab pos="353695" algn="l"/>
                <a:tab pos="354330" algn="l"/>
              </a:tabLst>
            </a:pPr>
            <a:r>
              <a:rPr sz="1800" spc="-10" dirty="0">
                <a:latin typeface="Goudy Old Style"/>
                <a:cs typeface="Goudy Old Style"/>
              </a:rPr>
              <a:t>Following </a:t>
            </a:r>
            <a:r>
              <a:rPr sz="1800" dirty="0">
                <a:latin typeface="Goudy Old Style"/>
                <a:cs typeface="Goudy Old Style"/>
              </a:rPr>
              <a:t>tables </a:t>
            </a:r>
            <a:r>
              <a:rPr sz="1800" spc="-10" dirty="0">
                <a:latin typeface="Goudy Old Style"/>
                <a:cs typeface="Goudy Old Style"/>
              </a:rPr>
              <a:t>are </a:t>
            </a:r>
            <a:r>
              <a:rPr sz="1800" spc="-5" dirty="0">
                <a:latin typeface="Goudy Old Style"/>
                <a:cs typeface="Goudy Old Style"/>
              </a:rPr>
              <a:t>used to illustrate </a:t>
            </a:r>
            <a:r>
              <a:rPr sz="1800" dirty="0">
                <a:latin typeface="Goudy Old Style"/>
                <a:cs typeface="Goudy Old Style"/>
              </a:rPr>
              <a:t>this</a:t>
            </a:r>
            <a:r>
              <a:rPr sz="1800" spc="10" dirty="0">
                <a:latin typeface="Goudy Old Style"/>
                <a:cs typeface="Goudy Old Style"/>
              </a:rPr>
              <a:t> </a:t>
            </a:r>
            <a:r>
              <a:rPr sz="1800" dirty="0">
                <a:latin typeface="Goudy Old Style"/>
                <a:cs typeface="Goudy Old Style"/>
              </a:rPr>
              <a:t>scenario:</a:t>
            </a:r>
            <a:endParaRPr sz="1800">
              <a:latin typeface="Goudy Old Style"/>
              <a:cs typeface="Goudy Old Style"/>
            </a:endParaRPr>
          </a:p>
        </p:txBody>
      </p:sp>
      <p:pic>
        <p:nvPicPr>
          <p:cNvPr id="4" name="object 4"/>
          <p:cNvPicPr/>
          <p:nvPr/>
        </p:nvPicPr>
        <p:blipFill>
          <a:blip r:embed="rId3" cstate="print"/>
          <a:stretch>
            <a:fillRect/>
          </a:stretch>
        </p:blipFill>
        <p:spPr>
          <a:xfrm>
            <a:off x="609600" y="2133600"/>
            <a:ext cx="4054602" cy="1524000"/>
          </a:xfrm>
          <a:prstGeom prst="rect">
            <a:avLst/>
          </a:prstGeom>
        </p:spPr>
      </p:pic>
      <p:pic>
        <p:nvPicPr>
          <p:cNvPr id="5" name="object 5"/>
          <p:cNvPicPr/>
          <p:nvPr/>
        </p:nvPicPr>
        <p:blipFill>
          <a:blip r:embed="rId4" cstate="print"/>
          <a:stretch>
            <a:fillRect/>
          </a:stretch>
        </p:blipFill>
        <p:spPr>
          <a:xfrm>
            <a:off x="5105400" y="2133600"/>
            <a:ext cx="3307079" cy="1538477"/>
          </a:xfrm>
          <a:prstGeom prst="rect">
            <a:avLst/>
          </a:prstGeom>
        </p:spPr>
      </p:pic>
      <p:pic>
        <p:nvPicPr>
          <p:cNvPr id="6" name="object 6"/>
          <p:cNvPicPr/>
          <p:nvPr/>
        </p:nvPicPr>
        <p:blipFill>
          <a:blip r:embed="rId5" cstate="print"/>
          <a:stretch>
            <a:fillRect/>
          </a:stretch>
        </p:blipFill>
        <p:spPr>
          <a:xfrm>
            <a:off x="1295400" y="4191000"/>
            <a:ext cx="2673857" cy="2026920"/>
          </a:xfrm>
          <a:prstGeom prst="rect">
            <a:avLst/>
          </a:prstGeom>
        </p:spPr>
      </p:pic>
      <p:pic>
        <p:nvPicPr>
          <p:cNvPr id="7" name="object 7"/>
          <p:cNvPicPr/>
          <p:nvPr/>
        </p:nvPicPr>
        <p:blipFill>
          <a:blip r:embed="rId6" cstate="print"/>
          <a:stretch>
            <a:fillRect/>
          </a:stretch>
        </p:blipFill>
        <p:spPr>
          <a:xfrm>
            <a:off x="4724400" y="4495800"/>
            <a:ext cx="2961894" cy="1524000"/>
          </a:xfrm>
          <a:prstGeom prst="rect">
            <a:avLst/>
          </a:prstGeom>
        </p:spPr>
      </p:pic>
      <p:sp>
        <p:nvSpPr>
          <p:cNvPr id="8" name="object 8"/>
          <p:cNvSpPr txBox="1"/>
          <p:nvPr/>
        </p:nvSpPr>
        <p:spPr>
          <a:xfrm>
            <a:off x="2060194" y="6292596"/>
            <a:ext cx="1056005"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Goudy Old Style"/>
                <a:cs typeface="Goudy Old Style"/>
              </a:rPr>
              <a:t>Order_Details</a:t>
            </a:r>
            <a:endParaRPr sz="1400">
              <a:latin typeface="Goudy Old Style"/>
              <a:cs typeface="Goudy Old Style"/>
            </a:endParaRPr>
          </a:p>
        </p:txBody>
      </p:sp>
      <p:sp>
        <p:nvSpPr>
          <p:cNvPr id="13" name="object 13"/>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33</a:t>
            </a:fld>
            <a:endParaRPr sz="1200"/>
          </a:p>
        </p:txBody>
      </p:sp>
      <p:sp>
        <p:nvSpPr>
          <p:cNvPr id="14" name="object 14"/>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9" name="object 9"/>
          <p:cNvSpPr txBox="1"/>
          <p:nvPr/>
        </p:nvSpPr>
        <p:spPr>
          <a:xfrm>
            <a:off x="5718047" y="6063996"/>
            <a:ext cx="1064260"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Goudy Old Style"/>
                <a:cs typeface="Goudy Old Style"/>
              </a:rPr>
              <a:t>Order_August</a:t>
            </a:r>
            <a:endParaRPr sz="1400">
              <a:latin typeface="Goudy Old Style"/>
              <a:cs typeface="Goudy Old Style"/>
            </a:endParaRPr>
          </a:p>
        </p:txBody>
      </p:sp>
      <p:sp>
        <p:nvSpPr>
          <p:cNvPr id="10" name="object 10"/>
          <p:cNvSpPr txBox="1"/>
          <p:nvPr/>
        </p:nvSpPr>
        <p:spPr>
          <a:xfrm>
            <a:off x="2136394" y="3677411"/>
            <a:ext cx="737235" cy="238760"/>
          </a:xfrm>
          <a:prstGeom prst="rect">
            <a:avLst/>
          </a:prstGeom>
        </p:spPr>
        <p:txBody>
          <a:bodyPr vert="horz" wrap="square" lIns="0" tIns="12065" rIns="0" bIns="0" rtlCol="0">
            <a:spAutoFit/>
          </a:bodyPr>
          <a:lstStyle/>
          <a:p>
            <a:pPr marL="12700">
              <a:lnSpc>
                <a:spcPct val="100000"/>
              </a:lnSpc>
              <a:spcBef>
                <a:spcPts val="95"/>
              </a:spcBef>
            </a:pPr>
            <a:r>
              <a:rPr sz="1400" b="1" spc="-10" dirty="0">
                <a:latin typeface="Goudy Old Style"/>
                <a:cs typeface="Goudy Old Style"/>
              </a:rPr>
              <a:t>Customer</a:t>
            </a:r>
            <a:endParaRPr sz="1400">
              <a:latin typeface="Goudy Old Style"/>
              <a:cs typeface="Goudy Old Style"/>
            </a:endParaRPr>
          </a:p>
        </p:txBody>
      </p:sp>
      <p:sp>
        <p:nvSpPr>
          <p:cNvPr id="11" name="object 11"/>
          <p:cNvSpPr txBox="1"/>
          <p:nvPr/>
        </p:nvSpPr>
        <p:spPr>
          <a:xfrm>
            <a:off x="6416547" y="3656329"/>
            <a:ext cx="425450" cy="238760"/>
          </a:xfrm>
          <a:prstGeom prst="rect">
            <a:avLst/>
          </a:prstGeom>
        </p:spPr>
        <p:txBody>
          <a:bodyPr vert="horz" wrap="square" lIns="0" tIns="12065" rIns="0" bIns="0" rtlCol="0">
            <a:spAutoFit/>
          </a:bodyPr>
          <a:lstStyle/>
          <a:p>
            <a:pPr marL="12700">
              <a:lnSpc>
                <a:spcPct val="100000"/>
              </a:lnSpc>
              <a:spcBef>
                <a:spcPts val="95"/>
              </a:spcBef>
            </a:pPr>
            <a:r>
              <a:rPr sz="1400" b="1" spc="-5" dirty="0">
                <a:latin typeface="Goudy Old Style"/>
                <a:cs typeface="Goudy Old Style"/>
              </a:rPr>
              <a:t>I</a:t>
            </a:r>
            <a:r>
              <a:rPr sz="1400" b="1" spc="-10" dirty="0">
                <a:latin typeface="Goudy Old Style"/>
                <a:cs typeface="Goudy Old Style"/>
              </a:rPr>
              <a:t>tems</a:t>
            </a:r>
            <a:endParaRPr sz="1400">
              <a:latin typeface="Goudy Old Style"/>
              <a:cs typeface="Goudy Old Style"/>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5995035" cy="635635"/>
          </a:xfrm>
          <a:prstGeom prst="rect">
            <a:avLst/>
          </a:prstGeom>
        </p:spPr>
        <p:txBody>
          <a:bodyPr vert="horz" wrap="square" lIns="0" tIns="12700" rIns="0" bIns="0" rtlCol="0">
            <a:spAutoFit/>
          </a:bodyPr>
          <a:lstStyle/>
          <a:p>
            <a:pPr marL="12700">
              <a:lnSpc>
                <a:spcPct val="100000"/>
              </a:lnSpc>
              <a:spcBef>
                <a:spcPts val="100"/>
              </a:spcBef>
            </a:pPr>
            <a:r>
              <a:rPr sz="4000" b="0" spc="-70" dirty="0">
                <a:latin typeface="Goudy Old Style"/>
                <a:cs typeface="Goudy Old Style"/>
              </a:rPr>
              <a:t>Terms </a:t>
            </a:r>
            <a:r>
              <a:rPr sz="4000" b="0" spc="-15" dirty="0">
                <a:latin typeface="Goudy Old Style"/>
                <a:cs typeface="Goudy Old Style"/>
              </a:rPr>
              <a:t>Related </a:t>
            </a:r>
            <a:r>
              <a:rPr sz="4000" b="0" spc="-20" dirty="0">
                <a:latin typeface="Goudy Old Style"/>
                <a:cs typeface="Goudy Old Style"/>
              </a:rPr>
              <a:t>to </a:t>
            </a:r>
            <a:r>
              <a:rPr sz="4000" b="0" dirty="0">
                <a:latin typeface="Goudy Old Style"/>
                <a:cs typeface="Goudy Old Style"/>
              </a:rPr>
              <a:t>RDBMS</a:t>
            </a:r>
            <a:r>
              <a:rPr sz="4000" b="0" spc="35" dirty="0">
                <a:latin typeface="Goudy Old Style"/>
                <a:cs typeface="Goudy Old Style"/>
              </a:rPr>
              <a:t> </a:t>
            </a:r>
            <a:r>
              <a:rPr sz="4000" b="0" spc="5" dirty="0">
                <a:latin typeface="Goudy Old Style"/>
                <a:cs typeface="Goudy Old Style"/>
              </a:rPr>
              <a:t>3-3</a:t>
            </a:r>
            <a:endParaRPr sz="4000">
              <a:latin typeface="Goudy Old Style"/>
              <a:cs typeface="Goudy Old Style"/>
            </a:endParaRPr>
          </a:p>
        </p:txBody>
      </p:sp>
      <p:sp>
        <p:nvSpPr>
          <p:cNvPr id="3" name="object 3"/>
          <p:cNvSpPr txBox="1"/>
          <p:nvPr/>
        </p:nvSpPr>
        <p:spPr>
          <a:xfrm>
            <a:off x="459740" y="946150"/>
            <a:ext cx="4234180" cy="299720"/>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3695" algn="l"/>
                <a:tab pos="354330" algn="l"/>
              </a:tabLst>
            </a:pPr>
            <a:r>
              <a:rPr sz="1800" spc="-10" dirty="0">
                <a:latin typeface="Goudy Old Style"/>
                <a:cs typeface="Goudy Old Style"/>
              </a:rPr>
              <a:t>Following </a:t>
            </a:r>
            <a:r>
              <a:rPr sz="1800" dirty="0">
                <a:latin typeface="Goudy Old Style"/>
                <a:cs typeface="Goudy Old Style"/>
              </a:rPr>
              <a:t>table </a:t>
            </a:r>
            <a:r>
              <a:rPr sz="1800" spc="-5" dirty="0">
                <a:latin typeface="Goudy Old Style"/>
                <a:cs typeface="Goudy Old Style"/>
              </a:rPr>
              <a:t>lists terms </a:t>
            </a:r>
            <a:r>
              <a:rPr sz="1800" spc="-10" dirty="0">
                <a:latin typeface="Goudy Old Style"/>
                <a:cs typeface="Goudy Old Style"/>
              </a:rPr>
              <a:t>related </a:t>
            </a:r>
            <a:r>
              <a:rPr sz="1800" spc="-5" dirty="0">
                <a:latin typeface="Goudy Old Style"/>
                <a:cs typeface="Goudy Old Style"/>
              </a:rPr>
              <a:t>to</a:t>
            </a:r>
            <a:r>
              <a:rPr sz="1800" spc="-10" dirty="0">
                <a:latin typeface="Goudy Old Style"/>
                <a:cs typeface="Goudy Old Style"/>
              </a:rPr>
              <a:t> </a:t>
            </a:r>
            <a:r>
              <a:rPr sz="1800" spc="-5" dirty="0">
                <a:latin typeface="Goudy Old Style"/>
                <a:cs typeface="Goudy Old Style"/>
              </a:rPr>
              <a:t>tables:</a:t>
            </a:r>
            <a:endParaRPr sz="1800">
              <a:latin typeface="Goudy Old Style"/>
              <a:cs typeface="Goudy Old Style"/>
            </a:endParaRPr>
          </a:p>
        </p:txBody>
      </p:sp>
      <p:pic>
        <p:nvPicPr>
          <p:cNvPr id="4" name="object 4"/>
          <p:cNvPicPr/>
          <p:nvPr/>
        </p:nvPicPr>
        <p:blipFill>
          <a:blip r:embed="rId3" cstate="print"/>
          <a:stretch>
            <a:fillRect/>
          </a:stretch>
        </p:blipFill>
        <p:spPr>
          <a:xfrm>
            <a:off x="609600" y="1295400"/>
            <a:ext cx="8305800" cy="5209794"/>
          </a:xfrm>
          <a:prstGeom prst="rect">
            <a:avLst/>
          </a:prstGeom>
        </p:spPr>
      </p:pic>
      <p:sp>
        <p:nvSpPr>
          <p:cNvPr id="6" name="object 6"/>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34</a:t>
            </a:fld>
            <a:endParaRPr sz="1200"/>
          </a:p>
        </p:txBody>
      </p:sp>
      <p:sp>
        <p:nvSpPr>
          <p:cNvPr id="7" name="object 7"/>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3723640" cy="635635"/>
          </a:xfrm>
          <a:prstGeom prst="rect">
            <a:avLst/>
          </a:prstGeom>
        </p:spPr>
        <p:txBody>
          <a:bodyPr vert="horz" wrap="square" lIns="0" tIns="12700" rIns="0" bIns="0" rtlCol="0">
            <a:spAutoFit/>
          </a:bodyPr>
          <a:lstStyle/>
          <a:p>
            <a:pPr marL="12700">
              <a:lnSpc>
                <a:spcPct val="100000"/>
              </a:lnSpc>
              <a:spcBef>
                <a:spcPts val="100"/>
              </a:spcBef>
            </a:pPr>
            <a:r>
              <a:rPr sz="4000" b="0" dirty="0">
                <a:latin typeface="Goudy Old Style"/>
                <a:cs typeface="Goudy Old Style"/>
              </a:rPr>
              <a:t>RDBMS Users</a:t>
            </a:r>
            <a:r>
              <a:rPr sz="4000" b="0" spc="-65" dirty="0">
                <a:latin typeface="Goudy Old Style"/>
                <a:cs typeface="Goudy Old Style"/>
              </a:rPr>
              <a:t> </a:t>
            </a:r>
            <a:r>
              <a:rPr sz="4000" b="0" spc="-5" dirty="0">
                <a:latin typeface="Goudy Old Style"/>
                <a:cs typeface="Goudy Old Style"/>
              </a:rPr>
              <a:t>1-2</a:t>
            </a:r>
            <a:endParaRPr sz="4000">
              <a:latin typeface="Goudy Old Style"/>
              <a:cs typeface="Goudy Old Style"/>
            </a:endParaRPr>
          </a:p>
        </p:txBody>
      </p:sp>
      <p:grpSp>
        <p:nvGrpSpPr>
          <p:cNvPr id="3" name="object 3"/>
          <p:cNvGrpSpPr/>
          <p:nvPr/>
        </p:nvGrpSpPr>
        <p:grpSpPr>
          <a:xfrm>
            <a:off x="106679" y="1509509"/>
            <a:ext cx="7019925" cy="4890135"/>
            <a:chOff x="106679" y="1509509"/>
            <a:chExt cx="7019925" cy="4890135"/>
          </a:xfrm>
        </p:grpSpPr>
        <p:pic>
          <p:nvPicPr>
            <p:cNvPr id="4" name="object 4"/>
            <p:cNvPicPr/>
            <p:nvPr/>
          </p:nvPicPr>
          <p:blipFill>
            <a:blip r:embed="rId3" cstate="print"/>
            <a:stretch>
              <a:fillRect/>
            </a:stretch>
          </p:blipFill>
          <p:spPr>
            <a:xfrm>
              <a:off x="106679" y="1749552"/>
              <a:ext cx="7019544" cy="2132838"/>
            </a:xfrm>
            <a:prstGeom prst="rect">
              <a:avLst/>
            </a:prstGeom>
          </p:spPr>
        </p:pic>
        <p:pic>
          <p:nvPicPr>
            <p:cNvPr id="5" name="object 5"/>
            <p:cNvPicPr/>
            <p:nvPr/>
          </p:nvPicPr>
          <p:blipFill>
            <a:blip r:embed="rId4" cstate="print"/>
            <a:stretch>
              <a:fillRect/>
            </a:stretch>
          </p:blipFill>
          <p:spPr>
            <a:xfrm>
              <a:off x="512063" y="1929384"/>
              <a:ext cx="5981700" cy="1954530"/>
            </a:xfrm>
            <a:prstGeom prst="rect">
              <a:avLst/>
            </a:prstGeom>
          </p:spPr>
        </p:pic>
        <p:sp>
          <p:nvSpPr>
            <p:cNvPr id="6" name="object 6"/>
            <p:cNvSpPr/>
            <p:nvPr/>
          </p:nvSpPr>
          <p:spPr>
            <a:xfrm>
              <a:off x="152780" y="1772793"/>
              <a:ext cx="6934200" cy="2047875"/>
            </a:xfrm>
            <a:custGeom>
              <a:avLst/>
              <a:gdLst/>
              <a:ahLst/>
              <a:cxnLst/>
              <a:rect l="l" t="t" r="r" b="b"/>
              <a:pathLst>
                <a:path w="6934200" h="2047875">
                  <a:moveTo>
                    <a:pt x="0" y="2047493"/>
                  </a:moveTo>
                  <a:lnTo>
                    <a:pt x="6934200" y="2047493"/>
                  </a:lnTo>
                  <a:lnTo>
                    <a:pt x="6934200" y="0"/>
                  </a:lnTo>
                  <a:lnTo>
                    <a:pt x="0" y="0"/>
                  </a:lnTo>
                  <a:lnTo>
                    <a:pt x="0" y="2047493"/>
                  </a:lnTo>
                  <a:close/>
                </a:path>
              </a:pathLst>
            </a:custGeom>
            <a:ln w="9906">
              <a:solidFill>
                <a:srgbClr val="9BBA58"/>
              </a:solidFill>
            </a:ln>
          </p:spPr>
          <p:txBody>
            <a:bodyPr wrap="square" lIns="0" tIns="0" rIns="0" bIns="0" rtlCol="0"/>
            <a:lstStyle/>
            <a:p>
              <a:endParaRPr/>
            </a:p>
          </p:txBody>
        </p:sp>
        <p:pic>
          <p:nvPicPr>
            <p:cNvPr id="7" name="object 7"/>
            <p:cNvPicPr/>
            <p:nvPr/>
          </p:nvPicPr>
          <p:blipFill>
            <a:blip r:embed="rId5" cstate="print"/>
            <a:stretch>
              <a:fillRect/>
            </a:stretch>
          </p:blipFill>
          <p:spPr>
            <a:xfrm>
              <a:off x="457200" y="1509509"/>
              <a:ext cx="4935474" cy="614946"/>
            </a:xfrm>
            <a:prstGeom prst="rect">
              <a:avLst/>
            </a:prstGeom>
          </p:spPr>
        </p:pic>
        <p:pic>
          <p:nvPicPr>
            <p:cNvPr id="8" name="object 8"/>
            <p:cNvPicPr/>
            <p:nvPr/>
          </p:nvPicPr>
          <p:blipFill>
            <a:blip r:embed="rId6" cstate="print"/>
            <a:stretch>
              <a:fillRect/>
            </a:stretch>
          </p:blipFill>
          <p:spPr>
            <a:xfrm>
              <a:off x="106679" y="4059174"/>
              <a:ext cx="7019544" cy="2337816"/>
            </a:xfrm>
            <a:prstGeom prst="rect">
              <a:avLst/>
            </a:prstGeom>
          </p:spPr>
        </p:pic>
        <p:pic>
          <p:nvPicPr>
            <p:cNvPr id="9" name="object 9"/>
            <p:cNvPicPr/>
            <p:nvPr/>
          </p:nvPicPr>
          <p:blipFill>
            <a:blip r:embed="rId7" cstate="print"/>
            <a:stretch>
              <a:fillRect/>
            </a:stretch>
          </p:blipFill>
          <p:spPr>
            <a:xfrm>
              <a:off x="512063" y="4239006"/>
              <a:ext cx="6078474" cy="2160270"/>
            </a:xfrm>
            <a:prstGeom prst="rect">
              <a:avLst/>
            </a:prstGeom>
          </p:spPr>
        </p:pic>
        <p:sp>
          <p:nvSpPr>
            <p:cNvPr id="10" name="object 10"/>
            <p:cNvSpPr/>
            <p:nvPr/>
          </p:nvSpPr>
          <p:spPr>
            <a:xfrm>
              <a:off x="152780" y="4082415"/>
              <a:ext cx="6934200" cy="2252980"/>
            </a:xfrm>
            <a:custGeom>
              <a:avLst/>
              <a:gdLst/>
              <a:ahLst/>
              <a:cxnLst/>
              <a:rect l="l" t="t" r="r" b="b"/>
              <a:pathLst>
                <a:path w="6934200" h="2252979">
                  <a:moveTo>
                    <a:pt x="0" y="2252472"/>
                  </a:moveTo>
                  <a:lnTo>
                    <a:pt x="6934200" y="2252472"/>
                  </a:lnTo>
                  <a:lnTo>
                    <a:pt x="6934200" y="0"/>
                  </a:lnTo>
                  <a:lnTo>
                    <a:pt x="0" y="0"/>
                  </a:lnTo>
                  <a:lnTo>
                    <a:pt x="0" y="2252472"/>
                  </a:lnTo>
                  <a:close/>
                </a:path>
              </a:pathLst>
            </a:custGeom>
            <a:ln w="9906">
              <a:solidFill>
                <a:srgbClr val="8063A1"/>
              </a:solidFill>
            </a:ln>
          </p:spPr>
          <p:txBody>
            <a:bodyPr wrap="square" lIns="0" tIns="0" rIns="0" bIns="0" rtlCol="0"/>
            <a:lstStyle/>
            <a:p>
              <a:endParaRPr/>
            </a:p>
          </p:txBody>
        </p:sp>
        <p:pic>
          <p:nvPicPr>
            <p:cNvPr id="11" name="object 11"/>
            <p:cNvPicPr/>
            <p:nvPr/>
          </p:nvPicPr>
          <p:blipFill>
            <a:blip r:embed="rId8" cstate="print"/>
            <a:stretch>
              <a:fillRect/>
            </a:stretch>
          </p:blipFill>
          <p:spPr>
            <a:xfrm>
              <a:off x="457200" y="3819131"/>
              <a:ext cx="4935474" cy="614946"/>
            </a:xfrm>
            <a:prstGeom prst="rect">
              <a:avLst/>
            </a:prstGeom>
          </p:spPr>
        </p:pic>
      </p:grpSp>
      <p:sp>
        <p:nvSpPr>
          <p:cNvPr id="12" name="object 12"/>
          <p:cNvSpPr txBox="1"/>
          <p:nvPr/>
        </p:nvSpPr>
        <p:spPr>
          <a:xfrm>
            <a:off x="459740" y="946150"/>
            <a:ext cx="8351520" cy="5263515"/>
          </a:xfrm>
          <a:prstGeom prst="rect">
            <a:avLst/>
          </a:prstGeom>
        </p:spPr>
        <p:txBody>
          <a:bodyPr vert="horz" wrap="square" lIns="0" tIns="12700" rIns="0" bIns="0" rtlCol="0">
            <a:spAutoFit/>
          </a:bodyPr>
          <a:lstStyle/>
          <a:p>
            <a:pPr marL="353695" indent="-341630">
              <a:lnSpc>
                <a:spcPct val="100000"/>
              </a:lnSpc>
              <a:spcBef>
                <a:spcPts val="100"/>
              </a:spcBef>
              <a:buFont typeface="Wingdings"/>
              <a:buChar char=""/>
              <a:tabLst>
                <a:tab pos="353695" algn="l"/>
                <a:tab pos="354330" algn="l"/>
              </a:tabLst>
            </a:pPr>
            <a:r>
              <a:rPr sz="1800" spc="-15" dirty="0">
                <a:latin typeface="Goudy Old Style"/>
                <a:cs typeface="Goudy Old Style"/>
              </a:rPr>
              <a:t>Many </a:t>
            </a:r>
            <a:r>
              <a:rPr sz="1800" dirty="0">
                <a:latin typeface="Goudy Old Style"/>
                <a:cs typeface="Goudy Old Style"/>
              </a:rPr>
              <a:t>persons </a:t>
            </a:r>
            <a:r>
              <a:rPr sz="1800" spc="-10" dirty="0">
                <a:latin typeface="Goudy Old Style"/>
                <a:cs typeface="Goudy Old Style"/>
              </a:rPr>
              <a:t>are </a:t>
            </a:r>
            <a:r>
              <a:rPr sz="1800" spc="-20" dirty="0">
                <a:latin typeface="Goudy Old Style"/>
                <a:cs typeface="Goudy Old Style"/>
              </a:rPr>
              <a:t>involved </a:t>
            </a:r>
            <a:r>
              <a:rPr sz="1800" dirty="0">
                <a:latin typeface="Goudy Old Style"/>
                <a:cs typeface="Goudy Old Style"/>
              </a:rPr>
              <a:t>in the </a:t>
            </a:r>
            <a:r>
              <a:rPr sz="1800" spc="-5" dirty="0">
                <a:latin typeface="Goudy Old Style"/>
                <a:cs typeface="Goudy Old Style"/>
              </a:rPr>
              <a:t>design, use, and maintenance of </a:t>
            </a:r>
            <a:r>
              <a:rPr sz="1800" dirty="0">
                <a:latin typeface="Goudy Old Style"/>
                <a:cs typeface="Goudy Old Style"/>
              </a:rPr>
              <a:t>a large </a:t>
            </a:r>
            <a:r>
              <a:rPr sz="1800" spc="-5" dirty="0">
                <a:latin typeface="Goudy Old Style"/>
                <a:cs typeface="Goudy Old Style"/>
              </a:rPr>
              <a:t>database </a:t>
            </a:r>
            <a:r>
              <a:rPr sz="1800" dirty="0">
                <a:latin typeface="Goudy Old Style"/>
                <a:cs typeface="Goudy Old Style"/>
              </a:rPr>
              <a:t>with</a:t>
            </a:r>
            <a:r>
              <a:rPr sz="1800" spc="-15" dirty="0">
                <a:latin typeface="Goudy Old Style"/>
                <a:cs typeface="Goudy Old Style"/>
              </a:rPr>
              <a:t> </a:t>
            </a:r>
            <a:r>
              <a:rPr sz="1800" dirty="0">
                <a:latin typeface="Goudy Old Style"/>
                <a:cs typeface="Goudy Old Style"/>
              </a:rPr>
              <a:t>a</a:t>
            </a:r>
            <a:endParaRPr sz="1800">
              <a:latin typeface="Goudy Old Style"/>
              <a:cs typeface="Goudy Old Style"/>
            </a:endParaRPr>
          </a:p>
          <a:p>
            <a:pPr marL="353695">
              <a:lnSpc>
                <a:spcPct val="100000"/>
              </a:lnSpc>
            </a:pPr>
            <a:r>
              <a:rPr sz="1800" spc="-15" dirty="0">
                <a:latin typeface="Goudy Old Style"/>
                <a:cs typeface="Goudy Old Style"/>
              </a:rPr>
              <a:t>few </a:t>
            </a:r>
            <a:r>
              <a:rPr sz="1800" spc="-10" dirty="0">
                <a:latin typeface="Goudy Old Style"/>
                <a:cs typeface="Goudy Old Style"/>
              </a:rPr>
              <a:t>hundred</a:t>
            </a:r>
            <a:r>
              <a:rPr sz="1800" spc="-15" dirty="0">
                <a:latin typeface="Goudy Old Style"/>
                <a:cs typeface="Goudy Old Style"/>
              </a:rPr>
              <a:t> </a:t>
            </a:r>
            <a:r>
              <a:rPr sz="1800" spc="-5" dirty="0">
                <a:latin typeface="Goudy Old Style"/>
                <a:cs typeface="Goudy Old Style"/>
              </a:rPr>
              <a:t>users.</a:t>
            </a:r>
            <a:endParaRPr sz="1800">
              <a:latin typeface="Goudy Old Style"/>
              <a:cs typeface="Goudy Old Style"/>
            </a:endParaRPr>
          </a:p>
          <a:p>
            <a:pPr marL="241300">
              <a:lnSpc>
                <a:spcPct val="100000"/>
              </a:lnSpc>
              <a:spcBef>
                <a:spcPts val="695"/>
              </a:spcBef>
            </a:pPr>
            <a:r>
              <a:rPr sz="2000" b="1" spc="-5" dirty="0">
                <a:solidFill>
                  <a:srgbClr val="FFFFFF"/>
                </a:solidFill>
                <a:latin typeface="Goudy Old Style"/>
                <a:cs typeface="Goudy Old Style"/>
              </a:rPr>
              <a:t>Database </a:t>
            </a:r>
            <a:r>
              <a:rPr sz="2000" b="1" spc="-10" dirty="0">
                <a:solidFill>
                  <a:srgbClr val="FFFFFF"/>
                </a:solidFill>
                <a:latin typeface="Goudy Old Style"/>
                <a:cs typeface="Goudy Old Style"/>
              </a:rPr>
              <a:t>Administrator</a:t>
            </a:r>
            <a:r>
              <a:rPr sz="2000" b="1" spc="20" dirty="0">
                <a:solidFill>
                  <a:srgbClr val="FFFFFF"/>
                </a:solidFill>
                <a:latin typeface="Goudy Old Style"/>
                <a:cs typeface="Goudy Old Style"/>
              </a:rPr>
              <a:t> </a:t>
            </a:r>
            <a:r>
              <a:rPr sz="2000" b="1" spc="-10" dirty="0">
                <a:solidFill>
                  <a:srgbClr val="FFFFFF"/>
                </a:solidFill>
                <a:latin typeface="Goudy Old Style"/>
                <a:cs typeface="Goudy Old Style"/>
              </a:rPr>
              <a:t>(DBA)</a:t>
            </a:r>
            <a:endParaRPr sz="2000">
              <a:latin typeface="Goudy Old Style"/>
              <a:cs typeface="Goudy Old Style"/>
            </a:endParaRPr>
          </a:p>
          <a:p>
            <a:pPr marL="401955" lvl="1" indent="-172085">
              <a:lnSpc>
                <a:spcPct val="100000"/>
              </a:lnSpc>
              <a:spcBef>
                <a:spcPts val="844"/>
              </a:spcBef>
              <a:buChar char="•"/>
              <a:tabLst>
                <a:tab pos="402590" algn="l"/>
              </a:tabLst>
            </a:pPr>
            <a:r>
              <a:rPr sz="1800" dirty="0">
                <a:latin typeface="Goudy Old Style"/>
                <a:cs typeface="Goudy Old Style"/>
              </a:rPr>
              <a:t>Collects </a:t>
            </a:r>
            <a:r>
              <a:rPr sz="1800" spc="-10" dirty="0">
                <a:latin typeface="Goudy Old Style"/>
                <a:cs typeface="Goudy Old Style"/>
              </a:rPr>
              <a:t>information </a:t>
            </a:r>
            <a:r>
              <a:rPr sz="1800" dirty="0">
                <a:latin typeface="Goudy Old Style"/>
                <a:cs typeface="Goudy Old Style"/>
              </a:rPr>
              <a:t>that </a:t>
            </a:r>
            <a:r>
              <a:rPr sz="1800" spc="-5" dirty="0">
                <a:latin typeface="Goudy Old Style"/>
                <a:cs typeface="Goudy Old Style"/>
              </a:rPr>
              <a:t>will </a:t>
            </a:r>
            <a:r>
              <a:rPr sz="1800" dirty="0">
                <a:latin typeface="Goudy Old Style"/>
                <a:cs typeface="Goudy Old Style"/>
              </a:rPr>
              <a:t>be </a:t>
            </a:r>
            <a:r>
              <a:rPr sz="1800" spc="-15" dirty="0">
                <a:latin typeface="Goudy Old Style"/>
                <a:cs typeface="Goudy Old Style"/>
              </a:rPr>
              <a:t>stored </a:t>
            </a:r>
            <a:r>
              <a:rPr sz="1800" dirty="0">
                <a:latin typeface="Goudy Old Style"/>
                <a:cs typeface="Goudy Old Style"/>
              </a:rPr>
              <a:t>in the</a:t>
            </a:r>
            <a:r>
              <a:rPr sz="1800" spc="20" dirty="0">
                <a:latin typeface="Goudy Old Style"/>
                <a:cs typeface="Goudy Old Style"/>
              </a:rPr>
              <a:t> </a:t>
            </a:r>
            <a:r>
              <a:rPr sz="1800" spc="-5" dirty="0">
                <a:latin typeface="Goudy Old Style"/>
                <a:cs typeface="Goudy Old Style"/>
              </a:rPr>
              <a:t>database</a:t>
            </a:r>
            <a:endParaRPr sz="1800">
              <a:latin typeface="Goudy Old Style"/>
              <a:cs typeface="Goudy Old Style"/>
            </a:endParaRPr>
          </a:p>
          <a:p>
            <a:pPr marL="401955" lvl="1" indent="-172085">
              <a:lnSpc>
                <a:spcPct val="100000"/>
              </a:lnSpc>
              <a:spcBef>
                <a:spcPts val="105"/>
              </a:spcBef>
              <a:buChar char="•"/>
              <a:tabLst>
                <a:tab pos="402590" algn="l"/>
              </a:tabLst>
            </a:pPr>
            <a:r>
              <a:rPr sz="1800" spc="-10" dirty="0">
                <a:latin typeface="Goudy Old Style"/>
                <a:cs typeface="Goudy Old Style"/>
              </a:rPr>
              <a:t>Responsible </a:t>
            </a:r>
            <a:r>
              <a:rPr sz="1800" spc="-20" dirty="0">
                <a:latin typeface="Goudy Old Style"/>
                <a:cs typeface="Goudy Old Style"/>
              </a:rPr>
              <a:t>for </a:t>
            </a:r>
            <a:r>
              <a:rPr sz="1800" spc="-5" dirty="0">
                <a:latin typeface="Goudy Old Style"/>
                <a:cs typeface="Goudy Old Style"/>
              </a:rPr>
              <a:t>authorizing access </a:t>
            </a:r>
            <a:r>
              <a:rPr sz="1800" spc="-10" dirty="0">
                <a:latin typeface="Goudy Old Style"/>
                <a:cs typeface="Goudy Old Style"/>
              </a:rPr>
              <a:t>to</a:t>
            </a:r>
            <a:r>
              <a:rPr sz="1800" spc="25" dirty="0">
                <a:latin typeface="Goudy Old Style"/>
                <a:cs typeface="Goudy Old Style"/>
              </a:rPr>
              <a:t> </a:t>
            </a:r>
            <a:r>
              <a:rPr sz="1800" spc="-5" dirty="0">
                <a:latin typeface="Goudy Old Style"/>
                <a:cs typeface="Goudy Old Style"/>
              </a:rPr>
              <a:t>database</a:t>
            </a:r>
            <a:endParaRPr sz="1800">
              <a:latin typeface="Goudy Old Style"/>
              <a:cs typeface="Goudy Old Style"/>
            </a:endParaRPr>
          </a:p>
          <a:p>
            <a:pPr marL="401955" lvl="1" indent="-172085">
              <a:lnSpc>
                <a:spcPct val="100000"/>
              </a:lnSpc>
              <a:spcBef>
                <a:spcPts val="110"/>
              </a:spcBef>
              <a:buChar char="•"/>
              <a:tabLst>
                <a:tab pos="402590" algn="l"/>
              </a:tabLst>
            </a:pPr>
            <a:r>
              <a:rPr sz="1800" spc="-10" dirty="0">
                <a:latin typeface="Goudy Old Style"/>
                <a:cs typeface="Goudy Old Style"/>
              </a:rPr>
              <a:t>Coordinating </a:t>
            </a:r>
            <a:r>
              <a:rPr sz="1800" spc="-5" dirty="0">
                <a:latin typeface="Goudy Old Style"/>
                <a:cs typeface="Goudy Old Style"/>
              </a:rPr>
              <a:t>and monitoring </a:t>
            </a:r>
            <a:r>
              <a:rPr sz="1800" dirty="0">
                <a:latin typeface="Goudy Old Style"/>
                <a:cs typeface="Goudy Old Style"/>
              </a:rPr>
              <a:t>its</a:t>
            </a:r>
            <a:r>
              <a:rPr sz="1800" spc="5" dirty="0">
                <a:latin typeface="Goudy Old Style"/>
                <a:cs typeface="Goudy Old Style"/>
              </a:rPr>
              <a:t> </a:t>
            </a:r>
            <a:r>
              <a:rPr sz="1800" spc="-5" dirty="0">
                <a:latin typeface="Goudy Old Style"/>
                <a:cs typeface="Goudy Old Style"/>
              </a:rPr>
              <a:t>use</a:t>
            </a:r>
            <a:endParaRPr sz="1800">
              <a:latin typeface="Goudy Old Style"/>
              <a:cs typeface="Goudy Old Style"/>
            </a:endParaRPr>
          </a:p>
          <a:p>
            <a:pPr marL="401955" lvl="1" indent="-172085">
              <a:lnSpc>
                <a:spcPct val="100000"/>
              </a:lnSpc>
              <a:spcBef>
                <a:spcPts val="110"/>
              </a:spcBef>
              <a:buChar char="•"/>
              <a:tabLst>
                <a:tab pos="402590" algn="l"/>
              </a:tabLst>
            </a:pPr>
            <a:r>
              <a:rPr sz="1800" spc="-10" dirty="0">
                <a:latin typeface="Goudy Old Style"/>
                <a:cs typeface="Goudy Old Style"/>
              </a:rPr>
              <a:t>Acquiring </a:t>
            </a:r>
            <a:r>
              <a:rPr sz="1800" spc="-5" dirty="0">
                <a:latin typeface="Goudy Old Style"/>
                <a:cs typeface="Goudy Old Style"/>
              </a:rPr>
              <a:t>software and </a:t>
            </a:r>
            <a:r>
              <a:rPr sz="1800" spc="-10" dirty="0">
                <a:latin typeface="Goudy Old Style"/>
                <a:cs typeface="Goudy Old Style"/>
              </a:rPr>
              <a:t>hardware resources </a:t>
            </a:r>
            <a:r>
              <a:rPr sz="1800" spc="-5" dirty="0">
                <a:latin typeface="Goudy Old Style"/>
                <a:cs typeface="Goudy Old Style"/>
              </a:rPr>
              <a:t>as</a:t>
            </a:r>
            <a:r>
              <a:rPr sz="1800" spc="35" dirty="0">
                <a:latin typeface="Goudy Old Style"/>
                <a:cs typeface="Goudy Old Style"/>
              </a:rPr>
              <a:t> </a:t>
            </a:r>
            <a:r>
              <a:rPr sz="1800" spc="-5" dirty="0">
                <a:latin typeface="Goudy Old Style"/>
                <a:cs typeface="Goudy Old Style"/>
              </a:rPr>
              <a:t>needed</a:t>
            </a:r>
            <a:endParaRPr sz="1800">
              <a:latin typeface="Goudy Old Style"/>
              <a:cs typeface="Goudy Old Style"/>
            </a:endParaRPr>
          </a:p>
          <a:p>
            <a:pPr marL="401955" marR="2538730" lvl="1" indent="-171450">
              <a:lnSpc>
                <a:spcPts val="1939"/>
              </a:lnSpc>
              <a:spcBef>
                <a:spcPts val="355"/>
              </a:spcBef>
              <a:buChar char="•"/>
              <a:tabLst>
                <a:tab pos="402590" algn="l"/>
              </a:tabLst>
            </a:pPr>
            <a:r>
              <a:rPr sz="1800" dirty="0">
                <a:latin typeface="Goudy Old Style"/>
                <a:cs typeface="Goudy Old Style"/>
              </a:rPr>
              <a:t>Accountable </a:t>
            </a:r>
            <a:r>
              <a:rPr sz="1800" spc="-20" dirty="0">
                <a:latin typeface="Goudy Old Style"/>
                <a:cs typeface="Goudy Old Style"/>
              </a:rPr>
              <a:t>for </a:t>
            </a:r>
            <a:r>
              <a:rPr sz="1800" spc="-10" dirty="0">
                <a:latin typeface="Goudy Old Style"/>
                <a:cs typeface="Goudy Old Style"/>
              </a:rPr>
              <a:t>problems such </a:t>
            </a:r>
            <a:r>
              <a:rPr sz="1800" spc="-5" dirty="0">
                <a:latin typeface="Goudy Old Style"/>
                <a:cs typeface="Goudy Old Style"/>
              </a:rPr>
              <a:t>as </a:t>
            </a:r>
            <a:r>
              <a:rPr sz="1800" spc="-15" dirty="0">
                <a:latin typeface="Goudy Old Style"/>
                <a:cs typeface="Goudy Old Style"/>
              </a:rPr>
              <a:t>breach </a:t>
            </a:r>
            <a:r>
              <a:rPr sz="1800" spc="-5" dirty="0">
                <a:latin typeface="Goudy Old Style"/>
                <a:cs typeface="Goudy Old Style"/>
              </a:rPr>
              <a:t>of </a:t>
            </a:r>
            <a:r>
              <a:rPr sz="1800" dirty="0">
                <a:latin typeface="Goudy Old Style"/>
                <a:cs typeface="Goudy Old Style"/>
              </a:rPr>
              <a:t>security </a:t>
            </a:r>
            <a:r>
              <a:rPr sz="1800" spc="-5" dirty="0">
                <a:latin typeface="Goudy Old Style"/>
                <a:cs typeface="Goudy Old Style"/>
              </a:rPr>
              <a:t>or </a:t>
            </a:r>
            <a:r>
              <a:rPr sz="1800" dirty="0">
                <a:latin typeface="Goudy Old Style"/>
                <a:cs typeface="Goudy Old Style"/>
              </a:rPr>
              <a:t>poor  </a:t>
            </a:r>
            <a:r>
              <a:rPr sz="1800" spc="-5" dirty="0">
                <a:latin typeface="Goudy Old Style"/>
                <a:cs typeface="Goudy Old Style"/>
              </a:rPr>
              <a:t>system </a:t>
            </a:r>
            <a:r>
              <a:rPr sz="1800" spc="-10" dirty="0">
                <a:latin typeface="Goudy Old Style"/>
                <a:cs typeface="Goudy Old Style"/>
              </a:rPr>
              <a:t>response</a:t>
            </a:r>
            <a:r>
              <a:rPr sz="1800" spc="-5" dirty="0">
                <a:latin typeface="Goudy Old Style"/>
                <a:cs typeface="Goudy Old Style"/>
              </a:rPr>
              <a:t> </a:t>
            </a:r>
            <a:r>
              <a:rPr sz="1800" dirty="0">
                <a:latin typeface="Goudy Old Style"/>
                <a:cs typeface="Goudy Old Style"/>
              </a:rPr>
              <a:t>time</a:t>
            </a:r>
            <a:endParaRPr sz="1800">
              <a:latin typeface="Goudy Old Style"/>
              <a:cs typeface="Goudy Old Style"/>
            </a:endParaRPr>
          </a:p>
          <a:p>
            <a:pPr marL="241300">
              <a:lnSpc>
                <a:spcPct val="100000"/>
              </a:lnSpc>
              <a:spcBef>
                <a:spcPts val="1739"/>
              </a:spcBef>
            </a:pPr>
            <a:r>
              <a:rPr sz="2000" b="1" spc="-5" dirty="0">
                <a:solidFill>
                  <a:srgbClr val="FFFFFF"/>
                </a:solidFill>
                <a:latin typeface="Goudy Old Style"/>
                <a:cs typeface="Goudy Old Style"/>
              </a:rPr>
              <a:t>Database</a:t>
            </a:r>
            <a:r>
              <a:rPr sz="2000" b="1" dirty="0">
                <a:solidFill>
                  <a:srgbClr val="FFFFFF"/>
                </a:solidFill>
                <a:latin typeface="Goudy Old Style"/>
                <a:cs typeface="Goudy Old Style"/>
              </a:rPr>
              <a:t> </a:t>
            </a:r>
            <a:r>
              <a:rPr sz="2000" b="1" spc="-10" dirty="0">
                <a:solidFill>
                  <a:srgbClr val="FFFFFF"/>
                </a:solidFill>
                <a:latin typeface="Goudy Old Style"/>
                <a:cs typeface="Goudy Old Style"/>
              </a:rPr>
              <a:t>Designer</a:t>
            </a:r>
            <a:endParaRPr sz="2000">
              <a:latin typeface="Goudy Old Style"/>
              <a:cs typeface="Goudy Old Style"/>
            </a:endParaRPr>
          </a:p>
          <a:p>
            <a:pPr marL="401955" marR="3024505" lvl="1" indent="-171450">
              <a:lnSpc>
                <a:spcPts val="1939"/>
              </a:lnSpc>
              <a:spcBef>
                <a:spcPts val="1095"/>
              </a:spcBef>
              <a:buChar char="•"/>
              <a:tabLst>
                <a:tab pos="402590" algn="l"/>
              </a:tabLst>
            </a:pPr>
            <a:r>
              <a:rPr sz="1800" spc="-10" dirty="0">
                <a:latin typeface="Goudy Old Style"/>
                <a:cs typeface="Goudy Old Style"/>
              </a:rPr>
              <a:t>Responsible </a:t>
            </a:r>
            <a:r>
              <a:rPr sz="1800" spc="-20" dirty="0">
                <a:latin typeface="Goudy Old Style"/>
                <a:cs typeface="Goudy Old Style"/>
              </a:rPr>
              <a:t>for </a:t>
            </a:r>
            <a:r>
              <a:rPr sz="1800" dirty="0">
                <a:latin typeface="Goudy Old Style"/>
                <a:cs typeface="Goudy Old Style"/>
              </a:rPr>
              <a:t>identifying the </a:t>
            </a:r>
            <a:r>
              <a:rPr sz="1800" spc="5" dirty="0">
                <a:latin typeface="Goudy Old Style"/>
                <a:cs typeface="Goudy Old Style"/>
              </a:rPr>
              <a:t>data </a:t>
            </a:r>
            <a:r>
              <a:rPr sz="1800" spc="-5" dirty="0">
                <a:latin typeface="Goudy Old Style"/>
                <a:cs typeface="Goudy Old Style"/>
              </a:rPr>
              <a:t>to </a:t>
            </a:r>
            <a:r>
              <a:rPr sz="1800" dirty="0">
                <a:latin typeface="Goudy Old Style"/>
                <a:cs typeface="Goudy Old Style"/>
              </a:rPr>
              <a:t>be </a:t>
            </a:r>
            <a:r>
              <a:rPr sz="1800" spc="-15" dirty="0">
                <a:latin typeface="Goudy Old Style"/>
                <a:cs typeface="Goudy Old Style"/>
              </a:rPr>
              <a:t>stored </a:t>
            </a:r>
            <a:r>
              <a:rPr sz="1800" dirty="0">
                <a:latin typeface="Goudy Old Style"/>
                <a:cs typeface="Goudy Old Style"/>
              </a:rPr>
              <a:t>in the  </a:t>
            </a:r>
            <a:r>
              <a:rPr sz="1800" spc="-5" dirty="0">
                <a:latin typeface="Goudy Old Style"/>
                <a:cs typeface="Goudy Old Style"/>
              </a:rPr>
              <a:t>database</a:t>
            </a:r>
            <a:endParaRPr sz="1800">
              <a:latin typeface="Goudy Old Style"/>
              <a:cs typeface="Goudy Old Style"/>
            </a:endParaRPr>
          </a:p>
          <a:p>
            <a:pPr marL="401955" marR="2639060" lvl="1" indent="-171450">
              <a:lnSpc>
                <a:spcPts val="1939"/>
              </a:lnSpc>
              <a:spcBef>
                <a:spcPts val="330"/>
              </a:spcBef>
              <a:buChar char="•"/>
              <a:tabLst>
                <a:tab pos="402590" algn="l"/>
              </a:tabLst>
            </a:pPr>
            <a:r>
              <a:rPr sz="1800" spc="-5" dirty="0">
                <a:latin typeface="Goudy Old Style"/>
                <a:cs typeface="Goudy Old Style"/>
              </a:rPr>
              <a:t>Choosing </a:t>
            </a:r>
            <a:r>
              <a:rPr sz="1800" spc="-10" dirty="0">
                <a:latin typeface="Goudy Old Style"/>
                <a:cs typeface="Goudy Old Style"/>
              </a:rPr>
              <a:t>appropriate </a:t>
            </a:r>
            <a:r>
              <a:rPr sz="1800" spc="-5" dirty="0">
                <a:latin typeface="Goudy Old Style"/>
                <a:cs typeface="Goudy Old Style"/>
              </a:rPr>
              <a:t>structures to </a:t>
            </a:r>
            <a:r>
              <a:rPr sz="1800" spc="-10" dirty="0">
                <a:latin typeface="Goudy Old Style"/>
                <a:cs typeface="Goudy Old Style"/>
              </a:rPr>
              <a:t>represent </a:t>
            </a:r>
            <a:r>
              <a:rPr sz="1800" spc="-5" dirty="0">
                <a:latin typeface="Goudy Old Style"/>
                <a:cs typeface="Goudy Old Style"/>
              </a:rPr>
              <a:t>and </a:t>
            </a:r>
            <a:r>
              <a:rPr sz="1800" spc="-15" dirty="0">
                <a:latin typeface="Goudy Old Style"/>
                <a:cs typeface="Goudy Old Style"/>
              </a:rPr>
              <a:t>store </a:t>
            </a:r>
            <a:r>
              <a:rPr sz="1800" dirty="0">
                <a:latin typeface="Goudy Old Style"/>
                <a:cs typeface="Goudy Old Style"/>
              </a:rPr>
              <a:t>this  data</a:t>
            </a:r>
            <a:endParaRPr sz="1800">
              <a:latin typeface="Goudy Old Style"/>
              <a:cs typeface="Goudy Old Style"/>
            </a:endParaRPr>
          </a:p>
          <a:p>
            <a:pPr marL="401955" marR="2442845" lvl="1" indent="-171450">
              <a:lnSpc>
                <a:spcPts val="1939"/>
              </a:lnSpc>
              <a:spcBef>
                <a:spcPts val="335"/>
              </a:spcBef>
              <a:buChar char="•"/>
              <a:tabLst>
                <a:tab pos="402590" algn="l"/>
              </a:tabLst>
            </a:pPr>
            <a:r>
              <a:rPr sz="1800" spc="-5" dirty="0">
                <a:latin typeface="Goudy Old Style"/>
                <a:cs typeface="Goudy Old Style"/>
              </a:rPr>
              <a:t>Communicate </a:t>
            </a:r>
            <a:r>
              <a:rPr sz="1800" dirty="0">
                <a:latin typeface="Goudy Old Style"/>
                <a:cs typeface="Goudy Old Style"/>
              </a:rPr>
              <a:t>with </a:t>
            </a:r>
            <a:r>
              <a:rPr sz="1800" spc="-5" dirty="0">
                <a:latin typeface="Goudy Old Style"/>
                <a:cs typeface="Goudy Old Style"/>
              </a:rPr>
              <a:t>all </a:t>
            </a:r>
            <a:r>
              <a:rPr sz="1800" spc="-10" dirty="0">
                <a:latin typeface="Goudy Old Style"/>
                <a:cs typeface="Goudy Old Style"/>
              </a:rPr>
              <a:t>prospective </a:t>
            </a:r>
            <a:r>
              <a:rPr sz="1800" spc="-5" dirty="0">
                <a:latin typeface="Goudy Old Style"/>
                <a:cs typeface="Goudy Old Style"/>
              </a:rPr>
              <a:t>database users, </a:t>
            </a:r>
            <a:r>
              <a:rPr sz="1800" dirty="0">
                <a:latin typeface="Goudy Old Style"/>
                <a:cs typeface="Goudy Old Style"/>
              </a:rPr>
              <a:t>in </a:t>
            </a:r>
            <a:r>
              <a:rPr sz="1800" spc="-10" dirty="0">
                <a:latin typeface="Goudy Old Style"/>
                <a:cs typeface="Goudy Old Style"/>
              </a:rPr>
              <a:t>order </a:t>
            </a:r>
            <a:r>
              <a:rPr sz="1800" dirty="0">
                <a:latin typeface="Goudy Old Style"/>
                <a:cs typeface="Goudy Old Style"/>
              </a:rPr>
              <a:t>to  </a:t>
            </a:r>
            <a:r>
              <a:rPr sz="1800" spc="-5" dirty="0">
                <a:latin typeface="Goudy Old Style"/>
                <a:cs typeface="Goudy Old Style"/>
              </a:rPr>
              <a:t>understand </a:t>
            </a:r>
            <a:r>
              <a:rPr sz="1800" dirty="0">
                <a:latin typeface="Goudy Old Style"/>
                <a:cs typeface="Goudy Old Style"/>
              </a:rPr>
              <a:t>their</a:t>
            </a:r>
            <a:r>
              <a:rPr sz="1800" spc="-5" dirty="0">
                <a:latin typeface="Goudy Old Style"/>
                <a:cs typeface="Goudy Old Style"/>
              </a:rPr>
              <a:t> </a:t>
            </a:r>
            <a:r>
              <a:rPr sz="1800" spc="-15" dirty="0">
                <a:latin typeface="Goudy Old Style"/>
                <a:cs typeface="Goudy Old Style"/>
              </a:rPr>
              <a:t>requirements</a:t>
            </a:r>
            <a:endParaRPr sz="1800">
              <a:latin typeface="Goudy Old Style"/>
              <a:cs typeface="Goudy Old Style"/>
            </a:endParaRPr>
          </a:p>
          <a:p>
            <a:pPr marL="401955" lvl="1" indent="-172085">
              <a:lnSpc>
                <a:spcPct val="100000"/>
              </a:lnSpc>
              <a:spcBef>
                <a:spcPts val="85"/>
              </a:spcBef>
              <a:buChar char="•"/>
              <a:tabLst>
                <a:tab pos="402590" algn="l"/>
              </a:tabLst>
            </a:pPr>
            <a:r>
              <a:rPr sz="1800" spc="-80" dirty="0">
                <a:latin typeface="Goudy Old Style"/>
                <a:cs typeface="Goudy Old Style"/>
              </a:rPr>
              <a:t>To </a:t>
            </a:r>
            <a:r>
              <a:rPr sz="1800" spc="-5" dirty="0">
                <a:latin typeface="Goudy Old Style"/>
                <a:cs typeface="Goudy Old Style"/>
              </a:rPr>
              <a:t>come up </a:t>
            </a:r>
            <a:r>
              <a:rPr sz="1800" dirty="0">
                <a:latin typeface="Goudy Old Style"/>
                <a:cs typeface="Goudy Old Style"/>
              </a:rPr>
              <a:t>with a </a:t>
            </a:r>
            <a:r>
              <a:rPr sz="1800" spc="-5" dirty="0">
                <a:latin typeface="Goudy Old Style"/>
                <a:cs typeface="Goudy Old Style"/>
              </a:rPr>
              <a:t>design </a:t>
            </a:r>
            <a:r>
              <a:rPr sz="1800" dirty="0">
                <a:latin typeface="Goudy Old Style"/>
                <a:cs typeface="Goudy Old Style"/>
              </a:rPr>
              <a:t>that </a:t>
            </a:r>
            <a:r>
              <a:rPr sz="1800" spc="-5" dirty="0">
                <a:latin typeface="Goudy Old Style"/>
                <a:cs typeface="Goudy Old Style"/>
              </a:rPr>
              <a:t>meets </a:t>
            </a:r>
            <a:r>
              <a:rPr sz="1800" dirty="0">
                <a:latin typeface="Goudy Old Style"/>
                <a:cs typeface="Goudy Old Style"/>
              </a:rPr>
              <a:t>the</a:t>
            </a:r>
            <a:r>
              <a:rPr sz="1800" spc="65" dirty="0">
                <a:latin typeface="Goudy Old Style"/>
                <a:cs typeface="Goudy Old Style"/>
              </a:rPr>
              <a:t> </a:t>
            </a:r>
            <a:r>
              <a:rPr sz="1800" spc="-15" dirty="0">
                <a:latin typeface="Goudy Old Style"/>
                <a:cs typeface="Goudy Old Style"/>
              </a:rPr>
              <a:t>requirements</a:t>
            </a:r>
            <a:endParaRPr sz="1800">
              <a:latin typeface="Goudy Old Style"/>
              <a:cs typeface="Goudy Old Style"/>
            </a:endParaRPr>
          </a:p>
        </p:txBody>
      </p:sp>
      <p:grpSp>
        <p:nvGrpSpPr>
          <p:cNvPr id="13" name="object 13"/>
          <p:cNvGrpSpPr/>
          <p:nvPr/>
        </p:nvGrpSpPr>
        <p:grpSpPr>
          <a:xfrm>
            <a:off x="7315200" y="1581150"/>
            <a:ext cx="1752600" cy="2087880"/>
            <a:chOff x="7315200" y="1581150"/>
            <a:chExt cx="1752600" cy="2087880"/>
          </a:xfrm>
        </p:grpSpPr>
        <p:pic>
          <p:nvPicPr>
            <p:cNvPr id="14" name="object 14"/>
            <p:cNvPicPr/>
            <p:nvPr/>
          </p:nvPicPr>
          <p:blipFill>
            <a:blip r:embed="rId9" cstate="print"/>
            <a:stretch>
              <a:fillRect/>
            </a:stretch>
          </p:blipFill>
          <p:spPr>
            <a:xfrm>
              <a:off x="7315200" y="1581150"/>
              <a:ext cx="1752600" cy="2087880"/>
            </a:xfrm>
            <a:prstGeom prst="rect">
              <a:avLst/>
            </a:prstGeom>
          </p:spPr>
        </p:pic>
        <p:sp>
          <p:nvSpPr>
            <p:cNvPr id="15" name="object 15"/>
            <p:cNvSpPr/>
            <p:nvPr/>
          </p:nvSpPr>
          <p:spPr>
            <a:xfrm>
              <a:off x="7772400" y="2914650"/>
              <a:ext cx="762000" cy="438150"/>
            </a:xfrm>
            <a:custGeom>
              <a:avLst/>
              <a:gdLst/>
              <a:ahLst/>
              <a:cxnLst/>
              <a:rect l="l" t="t" r="r" b="b"/>
              <a:pathLst>
                <a:path w="762000" h="438150">
                  <a:moveTo>
                    <a:pt x="762000" y="0"/>
                  </a:moveTo>
                  <a:lnTo>
                    <a:pt x="0" y="0"/>
                  </a:lnTo>
                  <a:lnTo>
                    <a:pt x="0" y="438150"/>
                  </a:lnTo>
                  <a:lnTo>
                    <a:pt x="762000" y="438150"/>
                  </a:lnTo>
                  <a:lnTo>
                    <a:pt x="762000" y="0"/>
                  </a:lnTo>
                  <a:close/>
                </a:path>
              </a:pathLst>
            </a:custGeom>
            <a:solidFill>
              <a:srgbClr val="E2DADB"/>
            </a:solidFill>
          </p:spPr>
          <p:txBody>
            <a:bodyPr wrap="square" lIns="0" tIns="0" rIns="0" bIns="0" rtlCol="0"/>
            <a:lstStyle/>
            <a:p>
              <a:endParaRPr/>
            </a:p>
          </p:txBody>
        </p:sp>
      </p:grpSp>
      <p:pic>
        <p:nvPicPr>
          <p:cNvPr id="16" name="object 16"/>
          <p:cNvPicPr/>
          <p:nvPr/>
        </p:nvPicPr>
        <p:blipFill>
          <a:blip r:embed="rId10" cstate="print"/>
          <a:stretch>
            <a:fillRect/>
          </a:stretch>
        </p:blipFill>
        <p:spPr>
          <a:xfrm>
            <a:off x="7168895" y="4348734"/>
            <a:ext cx="1975103" cy="1519427"/>
          </a:xfrm>
          <a:prstGeom prst="rect">
            <a:avLst/>
          </a:prstGeom>
        </p:spPr>
      </p:pic>
      <p:sp>
        <p:nvSpPr>
          <p:cNvPr id="18" name="object 18"/>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35</a:t>
            </a:fld>
            <a:endParaRPr sz="1200"/>
          </a:p>
        </p:txBody>
      </p:sp>
      <p:sp>
        <p:nvSpPr>
          <p:cNvPr id="19" name="object 19"/>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3723640" cy="635635"/>
          </a:xfrm>
          <a:prstGeom prst="rect">
            <a:avLst/>
          </a:prstGeom>
        </p:spPr>
        <p:txBody>
          <a:bodyPr vert="horz" wrap="square" lIns="0" tIns="12700" rIns="0" bIns="0" rtlCol="0">
            <a:spAutoFit/>
          </a:bodyPr>
          <a:lstStyle/>
          <a:p>
            <a:pPr marL="12700">
              <a:lnSpc>
                <a:spcPct val="100000"/>
              </a:lnSpc>
              <a:spcBef>
                <a:spcPts val="100"/>
              </a:spcBef>
            </a:pPr>
            <a:r>
              <a:rPr sz="4000" b="0" dirty="0">
                <a:latin typeface="Goudy Old Style"/>
                <a:cs typeface="Goudy Old Style"/>
              </a:rPr>
              <a:t>RDBMS Users</a:t>
            </a:r>
            <a:r>
              <a:rPr sz="4000" b="0" spc="-65" dirty="0">
                <a:latin typeface="Goudy Old Style"/>
                <a:cs typeface="Goudy Old Style"/>
              </a:rPr>
              <a:t> </a:t>
            </a:r>
            <a:r>
              <a:rPr sz="4000" b="0" spc="-5" dirty="0">
                <a:latin typeface="Goudy Old Style"/>
                <a:cs typeface="Goudy Old Style"/>
              </a:rPr>
              <a:t>2-2</a:t>
            </a:r>
            <a:endParaRPr sz="4000">
              <a:latin typeface="Goudy Old Style"/>
              <a:cs typeface="Goudy Old Style"/>
            </a:endParaRPr>
          </a:p>
        </p:txBody>
      </p:sp>
      <p:grpSp>
        <p:nvGrpSpPr>
          <p:cNvPr id="3" name="object 3"/>
          <p:cNvGrpSpPr/>
          <p:nvPr/>
        </p:nvGrpSpPr>
        <p:grpSpPr>
          <a:xfrm>
            <a:off x="329184" y="947915"/>
            <a:ext cx="7119620" cy="4219575"/>
            <a:chOff x="329184" y="947915"/>
            <a:chExt cx="7119620" cy="4219575"/>
          </a:xfrm>
        </p:grpSpPr>
        <p:pic>
          <p:nvPicPr>
            <p:cNvPr id="4" name="object 4"/>
            <p:cNvPicPr/>
            <p:nvPr/>
          </p:nvPicPr>
          <p:blipFill>
            <a:blip r:embed="rId3" cstate="print"/>
            <a:stretch>
              <a:fillRect/>
            </a:stretch>
          </p:blipFill>
          <p:spPr>
            <a:xfrm>
              <a:off x="481584" y="1367027"/>
              <a:ext cx="6966966" cy="2201418"/>
            </a:xfrm>
            <a:prstGeom prst="rect">
              <a:avLst/>
            </a:prstGeom>
          </p:spPr>
        </p:pic>
        <p:pic>
          <p:nvPicPr>
            <p:cNvPr id="5" name="object 5"/>
            <p:cNvPicPr/>
            <p:nvPr/>
          </p:nvPicPr>
          <p:blipFill>
            <a:blip r:embed="rId4" cstate="print"/>
            <a:stretch>
              <a:fillRect/>
            </a:stretch>
          </p:blipFill>
          <p:spPr>
            <a:xfrm>
              <a:off x="329184" y="947915"/>
              <a:ext cx="6035040" cy="614946"/>
            </a:xfrm>
            <a:prstGeom prst="rect">
              <a:avLst/>
            </a:prstGeom>
          </p:spPr>
        </p:pic>
        <p:pic>
          <p:nvPicPr>
            <p:cNvPr id="6" name="object 6"/>
            <p:cNvPicPr/>
            <p:nvPr/>
          </p:nvPicPr>
          <p:blipFill>
            <a:blip r:embed="rId5" cstate="print"/>
            <a:stretch>
              <a:fillRect/>
            </a:stretch>
          </p:blipFill>
          <p:spPr>
            <a:xfrm>
              <a:off x="481584" y="4364735"/>
              <a:ext cx="6166866" cy="802386"/>
            </a:xfrm>
            <a:prstGeom prst="rect">
              <a:avLst/>
            </a:prstGeom>
          </p:spPr>
        </p:pic>
        <p:pic>
          <p:nvPicPr>
            <p:cNvPr id="7" name="object 7"/>
            <p:cNvPicPr/>
            <p:nvPr/>
          </p:nvPicPr>
          <p:blipFill>
            <a:blip r:embed="rId6" cstate="print"/>
            <a:stretch>
              <a:fillRect/>
            </a:stretch>
          </p:blipFill>
          <p:spPr>
            <a:xfrm>
              <a:off x="329184" y="3945636"/>
              <a:ext cx="5202174" cy="614933"/>
            </a:xfrm>
            <a:prstGeom prst="rect">
              <a:avLst/>
            </a:prstGeom>
          </p:spPr>
        </p:pic>
      </p:grpSp>
      <p:grpSp>
        <p:nvGrpSpPr>
          <p:cNvPr id="8" name="object 8"/>
          <p:cNvGrpSpPr/>
          <p:nvPr/>
        </p:nvGrpSpPr>
        <p:grpSpPr>
          <a:xfrm>
            <a:off x="329184" y="5309615"/>
            <a:ext cx="8006715" cy="1222375"/>
            <a:chOff x="329184" y="5309615"/>
            <a:chExt cx="8006715" cy="1222375"/>
          </a:xfrm>
        </p:grpSpPr>
        <p:pic>
          <p:nvPicPr>
            <p:cNvPr id="9" name="object 9"/>
            <p:cNvPicPr/>
            <p:nvPr/>
          </p:nvPicPr>
          <p:blipFill>
            <a:blip r:embed="rId7" cstate="print"/>
            <a:stretch>
              <a:fillRect/>
            </a:stretch>
          </p:blipFill>
          <p:spPr>
            <a:xfrm>
              <a:off x="481584" y="5729477"/>
              <a:ext cx="7853933" cy="802386"/>
            </a:xfrm>
            <a:prstGeom prst="rect">
              <a:avLst/>
            </a:prstGeom>
          </p:spPr>
        </p:pic>
        <p:pic>
          <p:nvPicPr>
            <p:cNvPr id="10" name="object 10"/>
            <p:cNvPicPr/>
            <p:nvPr/>
          </p:nvPicPr>
          <p:blipFill>
            <a:blip r:embed="rId8" cstate="print"/>
            <a:stretch>
              <a:fillRect/>
            </a:stretch>
          </p:blipFill>
          <p:spPr>
            <a:xfrm>
              <a:off x="329184" y="5309615"/>
              <a:ext cx="5202174" cy="614946"/>
            </a:xfrm>
            <a:prstGeom prst="rect">
              <a:avLst/>
            </a:prstGeom>
          </p:spPr>
        </p:pic>
      </p:grpSp>
      <p:sp>
        <p:nvSpPr>
          <p:cNvPr id="11" name="object 11"/>
          <p:cNvSpPr txBox="1"/>
          <p:nvPr/>
        </p:nvSpPr>
        <p:spPr>
          <a:xfrm>
            <a:off x="596645" y="899080"/>
            <a:ext cx="7518400" cy="5438775"/>
          </a:xfrm>
          <a:prstGeom prst="rect">
            <a:avLst/>
          </a:prstGeom>
        </p:spPr>
        <p:txBody>
          <a:bodyPr vert="horz" wrap="square" lIns="0" tIns="130175" rIns="0" bIns="0" rtlCol="0">
            <a:spAutoFit/>
          </a:bodyPr>
          <a:lstStyle/>
          <a:p>
            <a:pPr marL="12700">
              <a:lnSpc>
                <a:spcPct val="100000"/>
              </a:lnSpc>
              <a:spcBef>
                <a:spcPts val="1025"/>
              </a:spcBef>
            </a:pPr>
            <a:r>
              <a:rPr sz="2000" b="1" spc="-10" dirty="0">
                <a:solidFill>
                  <a:srgbClr val="FFFFFF"/>
                </a:solidFill>
                <a:latin typeface="Goudy Old Style"/>
                <a:cs typeface="Goudy Old Style"/>
              </a:rPr>
              <a:t>System Analysts </a:t>
            </a:r>
            <a:r>
              <a:rPr sz="2000" b="1" spc="-5" dirty="0">
                <a:solidFill>
                  <a:srgbClr val="FFFFFF"/>
                </a:solidFill>
                <a:latin typeface="Goudy Old Style"/>
                <a:cs typeface="Goudy Old Style"/>
              </a:rPr>
              <a:t>and </a:t>
            </a:r>
            <a:r>
              <a:rPr sz="2000" b="1" spc="-10" dirty="0">
                <a:solidFill>
                  <a:srgbClr val="FFFFFF"/>
                </a:solidFill>
                <a:latin typeface="Goudy Old Style"/>
                <a:cs typeface="Goudy Old Style"/>
              </a:rPr>
              <a:t>Application</a:t>
            </a:r>
            <a:r>
              <a:rPr sz="2000" b="1" spc="10" dirty="0">
                <a:solidFill>
                  <a:srgbClr val="FFFFFF"/>
                </a:solidFill>
                <a:latin typeface="Goudy Old Style"/>
                <a:cs typeface="Goudy Old Style"/>
              </a:rPr>
              <a:t> </a:t>
            </a:r>
            <a:r>
              <a:rPr sz="2000" b="1" spc="-5" dirty="0">
                <a:solidFill>
                  <a:srgbClr val="FFFFFF"/>
                </a:solidFill>
                <a:latin typeface="Goudy Old Style"/>
                <a:cs typeface="Goudy Old Style"/>
              </a:rPr>
              <a:t>Programmers</a:t>
            </a:r>
            <a:endParaRPr sz="2000">
              <a:latin typeface="Goudy Old Style"/>
              <a:cs typeface="Goudy Old Style"/>
            </a:endParaRPr>
          </a:p>
          <a:p>
            <a:pPr marL="224154" indent="-172085">
              <a:lnSpc>
                <a:spcPct val="100000"/>
              </a:lnSpc>
              <a:spcBef>
                <a:spcPts val="840"/>
              </a:spcBef>
              <a:buChar char="•"/>
              <a:tabLst>
                <a:tab pos="224790" algn="l"/>
              </a:tabLst>
            </a:pPr>
            <a:r>
              <a:rPr sz="1800" spc="-10" dirty="0">
                <a:latin typeface="Goudy Old Style"/>
                <a:cs typeface="Goudy Old Style"/>
              </a:rPr>
              <a:t>Determine </a:t>
            </a:r>
            <a:r>
              <a:rPr sz="1800" dirty="0">
                <a:latin typeface="Goudy Old Style"/>
                <a:cs typeface="Goudy Old Style"/>
              </a:rPr>
              <a:t>the </a:t>
            </a:r>
            <a:r>
              <a:rPr sz="1800" spc="-15" dirty="0">
                <a:latin typeface="Goudy Old Style"/>
                <a:cs typeface="Goudy Old Style"/>
              </a:rPr>
              <a:t>requirements </a:t>
            </a:r>
            <a:r>
              <a:rPr sz="1800" spc="-5" dirty="0">
                <a:latin typeface="Goudy Old Style"/>
                <a:cs typeface="Goudy Old Style"/>
              </a:rPr>
              <a:t>of end</a:t>
            </a:r>
            <a:r>
              <a:rPr sz="1800" spc="-35" dirty="0">
                <a:latin typeface="Goudy Old Style"/>
                <a:cs typeface="Goudy Old Style"/>
              </a:rPr>
              <a:t> </a:t>
            </a:r>
            <a:r>
              <a:rPr sz="1800" spc="-5" dirty="0">
                <a:latin typeface="Goudy Old Style"/>
                <a:cs typeface="Goudy Old Style"/>
              </a:rPr>
              <a:t>users</a:t>
            </a:r>
            <a:endParaRPr sz="1800">
              <a:latin typeface="Goudy Old Style"/>
              <a:cs typeface="Goudy Old Style"/>
            </a:endParaRPr>
          </a:p>
          <a:p>
            <a:pPr marL="224154" indent="-172085">
              <a:lnSpc>
                <a:spcPts val="2050"/>
              </a:lnSpc>
              <a:spcBef>
                <a:spcPts val="110"/>
              </a:spcBef>
              <a:buChar char="•"/>
              <a:tabLst>
                <a:tab pos="224790" algn="l"/>
              </a:tabLst>
            </a:pPr>
            <a:r>
              <a:rPr sz="1800" spc="-10" dirty="0">
                <a:latin typeface="Goudy Old Style"/>
                <a:cs typeface="Goudy Old Style"/>
              </a:rPr>
              <a:t>Develop </a:t>
            </a:r>
            <a:r>
              <a:rPr sz="1800" dirty="0">
                <a:latin typeface="Goudy Old Style"/>
                <a:cs typeface="Goudy Old Style"/>
              </a:rPr>
              <a:t>specifications </a:t>
            </a:r>
            <a:r>
              <a:rPr sz="1800" spc="-20" dirty="0">
                <a:latin typeface="Goudy Old Style"/>
                <a:cs typeface="Goudy Old Style"/>
              </a:rPr>
              <a:t>for </a:t>
            </a:r>
            <a:r>
              <a:rPr sz="1800" spc="-10" dirty="0">
                <a:latin typeface="Goudy Old Style"/>
                <a:cs typeface="Goudy Old Style"/>
              </a:rPr>
              <a:t>pre-determined </a:t>
            </a:r>
            <a:r>
              <a:rPr sz="1800" spc="-5" dirty="0">
                <a:latin typeface="Goudy Old Style"/>
                <a:cs typeface="Goudy Old Style"/>
              </a:rPr>
              <a:t>transactions </a:t>
            </a:r>
            <a:r>
              <a:rPr sz="1800" dirty="0">
                <a:latin typeface="Goudy Old Style"/>
                <a:cs typeface="Goudy Old Style"/>
              </a:rPr>
              <a:t>that </a:t>
            </a:r>
            <a:r>
              <a:rPr sz="1800" spc="-5" dirty="0">
                <a:latin typeface="Goudy Old Style"/>
                <a:cs typeface="Goudy Old Style"/>
              </a:rPr>
              <a:t>meet</a:t>
            </a:r>
            <a:r>
              <a:rPr sz="1800" spc="-55" dirty="0">
                <a:latin typeface="Goudy Old Style"/>
                <a:cs typeface="Goudy Old Style"/>
              </a:rPr>
              <a:t> </a:t>
            </a:r>
            <a:r>
              <a:rPr sz="1800" dirty="0">
                <a:latin typeface="Goudy Old Style"/>
                <a:cs typeface="Goudy Old Style"/>
              </a:rPr>
              <a:t>these</a:t>
            </a:r>
            <a:endParaRPr sz="1800">
              <a:latin typeface="Goudy Old Style"/>
              <a:cs typeface="Goudy Old Style"/>
            </a:endParaRPr>
          </a:p>
          <a:p>
            <a:pPr marL="224154">
              <a:lnSpc>
                <a:spcPts val="2050"/>
              </a:lnSpc>
            </a:pPr>
            <a:r>
              <a:rPr sz="1800" spc="-15" dirty="0">
                <a:latin typeface="Goudy Old Style"/>
                <a:cs typeface="Goudy Old Style"/>
              </a:rPr>
              <a:t>requirements</a:t>
            </a:r>
            <a:endParaRPr sz="1800">
              <a:latin typeface="Goudy Old Style"/>
              <a:cs typeface="Goudy Old Style"/>
            </a:endParaRPr>
          </a:p>
          <a:p>
            <a:pPr marL="224154" indent="-172085">
              <a:lnSpc>
                <a:spcPct val="100000"/>
              </a:lnSpc>
              <a:spcBef>
                <a:spcPts val="110"/>
              </a:spcBef>
              <a:buChar char="•"/>
              <a:tabLst>
                <a:tab pos="224790" algn="l"/>
              </a:tabLst>
            </a:pPr>
            <a:r>
              <a:rPr sz="1800" spc="-5" dirty="0">
                <a:latin typeface="Goudy Old Style"/>
                <a:cs typeface="Goudy Old Style"/>
              </a:rPr>
              <a:t>Implement </a:t>
            </a:r>
            <a:r>
              <a:rPr sz="1800" dirty="0">
                <a:latin typeface="Goudy Old Style"/>
                <a:cs typeface="Goudy Old Style"/>
              </a:rPr>
              <a:t>these specifications </a:t>
            </a:r>
            <a:r>
              <a:rPr sz="1800" spc="-5" dirty="0">
                <a:latin typeface="Goudy Old Style"/>
                <a:cs typeface="Goudy Old Style"/>
              </a:rPr>
              <a:t>as</a:t>
            </a:r>
            <a:r>
              <a:rPr sz="1800" spc="-50" dirty="0">
                <a:latin typeface="Goudy Old Style"/>
                <a:cs typeface="Goudy Old Style"/>
              </a:rPr>
              <a:t> </a:t>
            </a:r>
            <a:r>
              <a:rPr sz="1800" spc="-10" dirty="0">
                <a:latin typeface="Goudy Old Style"/>
                <a:cs typeface="Goudy Old Style"/>
              </a:rPr>
              <a:t>programs</a:t>
            </a:r>
            <a:endParaRPr sz="1800">
              <a:latin typeface="Goudy Old Style"/>
              <a:cs typeface="Goudy Old Style"/>
            </a:endParaRPr>
          </a:p>
          <a:p>
            <a:pPr marL="224154" indent="-172085">
              <a:lnSpc>
                <a:spcPct val="100000"/>
              </a:lnSpc>
              <a:spcBef>
                <a:spcPts val="105"/>
              </a:spcBef>
              <a:buChar char="•"/>
              <a:tabLst>
                <a:tab pos="224790" algn="l"/>
              </a:tabLst>
            </a:pPr>
            <a:r>
              <a:rPr sz="1800" spc="-35" dirty="0">
                <a:latin typeface="Goudy Old Style"/>
                <a:cs typeface="Goudy Old Style"/>
              </a:rPr>
              <a:t>Test, </a:t>
            </a:r>
            <a:r>
              <a:rPr sz="1800" spc="-5" dirty="0">
                <a:latin typeface="Goudy Old Style"/>
                <a:cs typeface="Goudy Old Style"/>
              </a:rPr>
              <a:t>debug, document, and </a:t>
            </a:r>
            <a:r>
              <a:rPr sz="1800" dirty="0">
                <a:latin typeface="Goudy Old Style"/>
                <a:cs typeface="Goudy Old Style"/>
              </a:rPr>
              <a:t>maintain these </a:t>
            </a:r>
            <a:r>
              <a:rPr sz="1800" spc="-10" dirty="0">
                <a:latin typeface="Goudy Old Style"/>
                <a:cs typeface="Goudy Old Style"/>
              </a:rPr>
              <a:t>pre-determined</a:t>
            </a:r>
            <a:r>
              <a:rPr sz="1800" spc="-40" dirty="0">
                <a:latin typeface="Goudy Old Style"/>
                <a:cs typeface="Goudy Old Style"/>
              </a:rPr>
              <a:t> </a:t>
            </a:r>
            <a:r>
              <a:rPr sz="1800" spc="-5" dirty="0">
                <a:latin typeface="Goudy Old Style"/>
                <a:cs typeface="Goudy Old Style"/>
              </a:rPr>
              <a:t>transactions</a:t>
            </a:r>
            <a:endParaRPr sz="1800">
              <a:latin typeface="Goudy Old Style"/>
              <a:cs typeface="Goudy Old Style"/>
            </a:endParaRPr>
          </a:p>
          <a:p>
            <a:pPr marL="224154" marR="901700" indent="-171450">
              <a:lnSpc>
                <a:spcPts val="1939"/>
              </a:lnSpc>
              <a:spcBef>
                <a:spcPts val="355"/>
              </a:spcBef>
              <a:buChar char="•"/>
              <a:tabLst>
                <a:tab pos="224790" algn="l"/>
              </a:tabLst>
            </a:pPr>
            <a:r>
              <a:rPr sz="1800" spc="-5" dirty="0">
                <a:latin typeface="Goudy Old Style"/>
                <a:cs typeface="Goudy Old Style"/>
              </a:rPr>
              <a:t>Design, </a:t>
            </a:r>
            <a:r>
              <a:rPr sz="1800" spc="-10" dirty="0">
                <a:latin typeface="Goudy Old Style"/>
                <a:cs typeface="Goudy Old Style"/>
              </a:rPr>
              <a:t>development, </a:t>
            </a:r>
            <a:r>
              <a:rPr sz="1800" spc="-5" dirty="0">
                <a:latin typeface="Goudy Old Style"/>
                <a:cs typeface="Goudy Old Style"/>
              </a:rPr>
              <a:t>and operation of </a:t>
            </a:r>
            <a:r>
              <a:rPr sz="1800" dirty="0">
                <a:latin typeface="Goudy Old Style"/>
                <a:cs typeface="Goudy Old Style"/>
              </a:rPr>
              <a:t>the </a:t>
            </a:r>
            <a:r>
              <a:rPr sz="1800" spc="-5" dirty="0">
                <a:latin typeface="Goudy Old Style"/>
                <a:cs typeface="Goudy Old Style"/>
              </a:rPr>
              <a:t>DBMS software and </a:t>
            </a:r>
            <a:r>
              <a:rPr sz="1800" spc="-10" dirty="0">
                <a:latin typeface="Goudy Old Style"/>
                <a:cs typeface="Goudy Old Style"/>
              </a:rPr>
              <a:t>system  environment</a:t>
            </a:r>
            <a:endParaRPr sz="1800">
              <a:latin typeface="Goudy Old Style"/>
              <a:cs typeface="Goudy Old Style"/>
            </a:endParaRPr>
          </a:p>
          <a:p>
            <a:pPr>
              <a:lnSpc>
                <a:spcPct val="100000"/>
              </a:lnSpc>
              <a:buFont typeface="Goudy Old Style"/>
              <a:buChar char="•"/>
            </a:pPr>
            <a:endParaRPr sz="2000">
              <a:latin typeface="Goudy Old Style"/>
              <a:cs typeface="Goudy Old Style"/>
            </a:endParaRPr>
          </a:p>
          <a:p>
            <a:pPr>
              <a:lnSpc>
                <a:spcPct val="100000"/>
              </a:lnSpc>
              <a:buFont typeface="Goudy Old Style"/>
              <a:buChar char="•"/>
            </a:pPr>
            <a:endParaRPr sz="2350">
              <a:latin typeface="Goudy Old Style"/>
              <a:cs typeface="Goudy Old Style"/>
            </a:endParaRPr>
          </a:p>
          <a:p>
            <a:pPr marL="12700">
              <a:lnSpc>
                <a:spcPct val="100000"/>
              </a:lnSpc>
              <a:spcBef>
                <a:spcPts val="5"/>
              </a:spcBef>
            </a:pPr>
            <a:r>
              <a:rPr sz="2000" b="1" spc="-10" dirty="0">
                <a:solidFill>
                  <a:srgbClr val="FFFFFF"/>
                </a:solidFill>
                <a:latin typeface="Goudy Old Style"/>
                <a:cs typeface="Goudy Old Style"/>
              </a:rPr>
              <a:t>DBMS </a:t>
            </a:r>
            <a:r>
              <a:rPr sz="2000" b="1" spc="-5" dirty="0">
                <a:solidFill>
                  <a:srgbClr val="FFFFFF"/>
                </a:solidFill>
                <a:latin typeface="Goudy Old Style"/>
                <a:cs typeface="Goudy Old Style"/>
              </a:rPr>
              <a:t>Designers and</a:t>
            </a:r>
            <a:r>
              <a:rPr sz="2000" b="1" spc="-10" dirty="0">
                <a:solidFill>
                  <a:srgbClr val="FFFFFF"/>
                </a:solidFill>
                <a:latin typeface="Goudy Old Style"/>
                <a:cs typeface="Goudy Old Style"/>
              </a:rPr>
              <a:t> </a:t>
            </a:r>
            <a:r>
              <a:rPr sz="2000" b="1" spc="-5" dirty="0">
                <a:solidFill>
                  <a:srgbClr val="FFFFFF"/>
                </a:solidFill>
                <a:latin typeface="Goudy Old Style"/>
                <a:cs typeface="Goudy Old Style"/>
              </a:rPr>
              <a:t>Implementers</a:t>
            </a:r>
            <a:endParaRPr sz="2000">
              <a:latin typeface="Goudy Old Style"/>
              <a:cs typeface="Goudy Old Style"/>
            </a:endParaRPr>
          </a:p>
          <a:p>
            <a:pPr marL="224154" marR="1688464" indent="-171450">
              <a:lnSpc>
                <a:spcPts val="1939"/>
              </a:lnSpc>
              <a:spcBef>
                <a:spcPts val="1085"/>
              </a:spcBef>
              <a:buChar char="•"/>
              <a:tabLst>
                <a:tab pos="224790" algn="l"/>
              </a:tabLst>
            </a:pPr>
            <a:r>
              <a:rPr sz="1800" spc="-5" dirty="0">
                <a:latin typeface="Goudy Old Style"/>
                <a:cs typeface="Goudy Old Style"/>
              </a:rPr>
              <a:t>Design and implement </a:t>
            </a:r>
            <a:r>
              <a:rPr sz="1800" dirty="0">
                <a:latin typeface="Goudy Old Style"/>
                <a:cs typeface="Goudy Old Style"/>
              </a:rPr>
              <a:t>the </a:t>
            </a:r>
            <a:r>
              <a:rPr sz="1800" spc="-5" dirty="0">
                <a:latin typeface="Goudy Old Style"/>
                <a:cs typeface="Goudy Old Style"/>
              </a:rPr>
              <a:t>DBMS </a:t>
            </a:r>
            <a:r>
              <a:rPr sz="1800" dirty="0">
                <a:latin typeface="Goudy Old Style"/>
                <a:cs typeface="Goudy Old Style"/>
              </a:rPr>
              <a:t>modules </a:t>
            </a:r>
            <a:r>
              <a:rPr sz="1800" spc="-5" dirty="0">
                <a:latin typeface="Goudy Old Style"/>
                <a:cs typeface="Goudy Old Style"/>
              </a:rPr>
              <a:t>and interfaces as </a:t>
            </a:r>
            <a:r>
              <a:rPr sz="1800" dirty="0">
                <a:latin typeface="Goudy Old Style"/>
                <a:cs typeface="Goudy Old Style"/>
              </a:rPr>
              <a:t>a  </a:t>
            </a:r>
            <a:r>
              <a:rPr sz="1800" spc="-5" dirty="0">
                <a:latin typeface="Goudy Old Style"/>
                <a:cs typeface="Goudy Old Style"/>
              </a:rPr>
              <a:t>software</a:t>
            </a:r>
            <a:r>
              <a:rPr sz="1800" spc="-10" dirty="0">
                <a:latin typeface="Goudy Old Style"/>
                <a:cs typeface="Goudy Old Style"/>
              </a:rPr>
              <a:t> </a:t>
            </a:r>
            <a:r>
              <a:rPr sz="1800" spc="-5" dirty="0">
                <a:latin typeface="Goudy Old Style"/>
                <a:cs typeface="Goudy Old Style"/>
              </a:rPr>
              <a:t>package.</a:t>
            </a:r>
            <a:endParaRPr sz="1800">
              <a:latin typeface="Goudy Old Style"/>
              <a:cs typeface="Goudy Old Style"/>
            </a:endParaRPr>
          </a:p>
          <a:p>
            <a:pPr>
              <a:lnSpc>
                <a:spcPct val="100000"/>
              </a:lnSpc>
              <a:spcBef>
                <a:spcPts val="15"/>
              </a:spcBef>
              <a:buFont typeface="Goudy Old Style"/>
              <a:buChar char="•"/>
            </a:pPr>
            <a:endParaRPr sz="2800">
              <a:latin typeface="Goudy Old Style"/>
              <a:cs typeface="Goudy Old Style"/>
            </a:endParaRPr>
          </a:p>
          <a:p>
            <a:pPr marL="12700">
              <a:lnSpc>
                <a:spcPct val="100000"/>
              </a:lnSpc>
            </a:pPr>
            <a:r>
              <a:rPr sz="2000" b="1" spc="-5" dirty="0">
                <a:solidFill>
                  <a:srgbClr val="FFFFFF"/>
                </a:solidFill>
                <a:latin typeface="Goudy Old Style"/>
                <a:cs typeface="Goudy Old Style"/>
              </a:rPr>
              <a:t>End User</a:t>
            </a:r>
            <a:endParaRPr sz="2000">
              <a:latin typeface="Goudy Old Style"/>
              <a:cs typeface="Goudy Old Style"/>
            </a:endParaRPr>
          </a:p>
          <a:p>
            <a:pPr marL="224154" marR="5080" indent="-171450">
              <a:lnSpc>
                <a:spcPts val="1939"/>
              </a:lnSpc>
              <a:spcBef>
                <a:spcPts val="1090"/>
              </a:spcBef>
              <a:buChar char="•"/>
              <a:tabLst>
                <a:tab pos="224790" algn="l"/>
              </a:tabLst>
            </a:pPr>
            <a:r>
              <a:rPr sz="1800" spc="-5" dirty="0">
                <a:latin typeface="Goudy Old Style"/>
                <a:cs typeface="Goudy Old Style"/>
              </a:rPr>
              <a:t>The end user </a:t>
            </a:r>
            <a:r>
              <a:rPr sz="1800" spc="-15" dirty="0">
                <a:latin typeface="Goudy Old Style"/>
                <a:cs typeface="Goudy Old Style"/>
              </a:rPr>
              <a:t>invokes </a:t>
            </a:r>
            <a:r>
              <a:rPr sz="1800" spc="-5" dirty="0">
                <a:latin typeface="Goudy Old Style"/>
                <a:cs typeface="Goudy Old Style"/>
              </a:rPr>
              <a:t>an application to interact </a:t>
            </a:r>
            <a:r>
              <a:rPr sz="1800" dirty="0">
                <a:latin typeface="Goudy Old Style"/>
                <a:cs typeface="Goudy Old Style"/>
              </a:rPr>
              <a:t>with the </a:t>
            </a:r>
            <a:r>
              <a:rPr sz="1800" spc="-5" dirty="0">
                <a:latin typeface="Goudy Old Style"/>
                <a:cs typeface="Goudy Old Style"/>
              </a:rPr>
              <a:t>system, or writes </a:t>
            </a:r>
            <a:r>
              <a:rPr sz="1800" dirty="0">
                <a:latin typeface="Goudy Old Style"/>
                <a:cs typeface="Goudy Old Style"/>
              </a:rPr>
              <a:t>a query  </a:t>
            </a:r>
            <a:r>
              <a:rPr sz="1800" spc="-20" dirty="0">
                <a:latin typeface="Goudy Old Style"/>
                <a:cs typeface="Goudy Old Style"/>
              </a:rPr>
              <a:t>for </a:t>
            </a:r>
            <a:r>
              <a:rPr sz="1800" spc="-5" dirty="0">
                <a:latin typeface="Goudy Old Style"/>
                <a:cs typeface="Goudy Old Style"/>
              </a:rPr>
              <a:t>easy retrieval, </a:t>
            </a:r>
            <a:r>
              <a:rPr sz="1800" dirty="0">
                <a:latin typeface="Goudy Old Style"/>
                <a:cs typeface="Goudy Old Style"/>
              </a:rPr>
              <a:t>modification, </a:t>
            </a:r>
            <a:r>
              <a:rPr sz="1800" spc="-5" dirty="0">
                <a:latin typeface="Goudy Old Style"/>
                <a:cs typeface="Goudy Old Style"/>
              </a:rPr>
              <a:t>or deletion of</a:t>
            </a:r>
            <a:r>
              <a:rPr sz="1800" spc="10" dirty="0">
                <a:latin typeface="Goudy Old Style"/>
                <a:cs typeface="Goudy Old Style"/>
              </a:rPr>
              <a:t> </a:t>
            </a:r>
            <a:r>
              <a:rPr sz="1800" dirty="0">
                <a:latin typeface="Goudy Old Style"/>
                <a:cs typeface="Goudy Old Style"/>
              </a:rPr>
              <a:t>data.</a:t>
            </a:r>
            <a:endParaRPr sz="1800">
              <a:latin typeface="Goudy Old Style"/>
              <a:cs typeface="Goudy Old Style"/>
            </a:endParaRPr>
          </a:p>
        </p:txBody>
      </p:sp>
      <p:pic>
        <p:nvPicPr>
          <p:cNvPr id="12" name="object 12"/>
          <p:cNvPicPr/>
          <p:nvPr/>
        </p:nvPicPr>
        <p:blipFill>
          <a:blip r:embed="rId9" cstate="print"/>
          <a:stretch>
            <a:fillRect/>
          </a:stretch>
        </p:blipFill>
        <p:spPr>
          <a:xfrm>
            <a:off x="6547866" y="3438905"/>
            <a:ext cx="2590800" cy="1725930"/>
          </a:xfrm>
          <a:prstGeom prst="rect">
            <a:avLst/>
          </a:prstGeom>
        </p:spPr>
      </p:pic>
      <p:sp>
        <p:nvSpPr>
          <p:cNvPr id="14" name="object 14"/>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36</a:t>
            </a:fld>
            <a:endParaRPr sz="1200"/>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1240790" cy="635635"/>
          </a:xfrm>
          <a:prstGeom prst="rect">
            <a:avLst/>
          </a:prstGeom>
        </p:spPr>
        <p:txBody>
          <a:bodyPr vert="horz" wrap="square" lIns="0" tIns="12700" rIns="0" bIns="0" rtlCol="0">
            <a:spAutoFit/>
          </a:bodyPr>
          <a:lstStyle/>
          <a:p>
            <a:pPr marL="12700">
              <a:lnSpc>
                <a:spcPct val="100000"/>
              </a:lnSpc>
              <a:spcBef>
                <a:spcPts val="100"/>
              </a:spcBef>
            </a:pPr>
            <a:r>
              <a:rPr sz="4000" b="0" spc="-5" dirty="0">
                <a:latin typeface="Goudy Old Style"/>
                <a:cs typeface="Goudy Old Style"/>
              </a:rPr>
              <a:t>Entity</a:t>
            </a:r>
            <a:endParaRPr sz="4000">
              <a:latin typeface="Goudy Old Style"/>
              <a:cs typeface="Goudy Old Style"/>
            </a:endParaRPr>
          </a:p>
        </p:txBody>
      </p:sp>
      <p:pic>
        <p:nvPicPr>
          <p:cNvPr id="3" name="object 3"/>
          <p:cNvPicPr/>
          <p:nvPr/>
        </p:nvPicPr>
        <p:blipFill>
          <a:blip r:embed="rId3" cstate="print"/>
          <a:stretch>
            <a:fillRect/>
          </a:stretch>
        </p:blipFill>
        <p:spPr>
          <a:xfrm>
            <a:off x="339090" y="971537"/>
            <a:ext cx="8234933" cy="843546"/>
          </a:xfrm>
          <a:prstGeom prst="rect">
            <a:avLst/>
          </a:prstGeom>
        </p:spPr>
      </p:pic>
      <p:sp>
        <p:nvSpPr>
          <p:cNvPr id="4" name="object 4"/>
          <p:cNvSpPr txBox="1"/>
          <p:nvPr/>
        </p:nvSpPr>
        <p:spPr>
          <a:xfrm>
            <a:off x="514095" y="1071879"/>
            <a:ext cx="7262495" cy="546735"/>
          </a:xfrm>
          <a:prstGeom prst="rect">
            <a:avLst/>
          </a:prstGeom>
        </p:spPr>
        <p:txBody>
          <a:bodyPr vert="horz" wrap="square" lIns="0" tIns="43815" rIns="0" bIns="0" rtlCol="0">
            <a:spAutoFit/>
          </a:bodyPr>
          <a:lstStyle/>
          <a:p>
            <a:pPr marL="12700" marR="5080">
              <a:lnSpc>
                <a:spcPts val="1939"/>
              </a:lnSpc>
              <a:spcBef>
                <a:spcPts val="345"/>
              </a:spcBef>
            </a:pPr>
            <a:r>
              <a:rPr sz="1800" spc="-5" dirty="0">
                <a:solidFill>
                  <a:srgbClr val="FFFFFF"/>
                </a:solidFill>
                <a:latin typeface="Goudy Old Style"/>
                <a:cs typeface="Goudy Old Style"/>
              </a:rPr>
              <a:t>An entity </a:t>
            </a:r>
            <a:r>
              <a:rPr sz="1800" dirty="0">
                <a:solidFill>
                  <a:srgbClr val="FFFFFF"/>
                </a:solidFill>
                <a:latin typeface="Goudy Old Style"/>
                <a:cs typeface="Goudy Old Style"/>
              </a:rPr>
              <a:t>is a person, </a:t>
            </a:r>
            <a:r>
              <a:rPr sz="1800" spc="-5" dirty="0">
                <a:solidFill>
                  <a:srgbClr val="FFFFFF"/>
                </a:solidFill>
                <a:latin typeface="Goudy Old Style"/>
                <a:cs typeface="Goudy Old Style"/>
              </a:rPr>
              <a:t>place, </a:t>
            </a:r>
            <a:r>
              <a:rPr sz="1800" dirty="0">
                <a:solidFill>
                  <a:srgbClr val="FFFFFF"/>
                </a:solidFill>
                <a:latin typeface="Goudy Old Style"/>
                <a:cs typeface="Goudy Old Style"/>
              </a:rPr>
              <a:t>thing, </a:t>
            </a:r>
            <a:r>
              <a:rPr sz="1800" spc="-5" dirty="0">
                <a:solidFill>
                  <a:srgbClr val="FFFFFF"/>
                </a:solidFill>
                <a:latin typeface="Goudy Old Style"/>
                <a:cs typeface="Goudy Old Style"/>
              </a:rPr>
              <a:t>object, </a:t>
            </a:r>
            <a:r>
              <a:rPr sz="1800" spc="-10" dirty="0">
                <a:solidFill>
                  <a:srgbClr val="FFFFFF"/>
                </a:solidFill>
                <a:latin typeface="Goudy Old Style"/>
                <a:cs typeface="Goudy Old Style"/>
              </a:rPr>
              <a:t>event, </a:t>
            </a:r>
            <a:r>
              <a:rPr sz="1800" spc="-5" dirty="0">
                <a:solidFill>
                  <a:srgbClr val="FFFFFF"/>
                </a:solidFill>
                <a:latin typeface="Goudy Old Style"/>
                <a:cs typeface="Goudy Old Style"/>
              </a:rPr>
              <a:t>or </a:t>
            </a:r>
            <a:r>
              <a:rPr sz="1800" spc="-10" dirty="0">
                <a:solidFill>
                  <a:srgbClr val="FFFFFF"/>
                </a:solidFill>
                <a:latin typeface="Goudy Old Style"/>
                <a:cs typeface="Goudy Old Style"/>
              </a:rPr>
              <a:t>even </a:t>
            </a:r>
            <a:r>
              <a:rPr sz="1800" dirty="0">
                <a:solidFill>
                  <a:srgbClr val="FFFFFF"/>
                </a:solidFill>
                <a:latin typeface="Goudy Old Style"/>
                <a:cs typeface="Goudy Old Style"/>
              </a:rPr>
              <a:t>a </a:t>
            </a:r>
            <a:r>
              <a:rPr sz="1800" spc="-5" dirty="0">
                <a:solidFill>
                  <a:srgbClr val="FFFFFF"/>
                </a:solidFill>
                <a:latin typeface="Goudy Old Style"/>
                <a:cs typeface="Goudy Old Style"/>
              </a:rPr>
              <a:t>concept, </a:t>
            </a:r>
            <a:r>
              <a:rPr sz="1800" spc="-10" dirty="0">
                <a:solidFill>
                  <a:srgbClr val="FFFFFF"/>
                </a:solidFill>
                <a:latin typeface="Goudy Old Style"/>
                <a:cs typeface="Goudy Old Style"/>
              </a:rPr>
              <a:t>which </a:t>
            </a:r>
            <a:r>
              <a:rPr sz="1800" dirty="0">
                <a:solidFill>
                  <a:srgbClr val="FFFFFF"/>
                </a:solidFill>
                <a:latin typeface="Goudy Old Style"/>
                <a:cs typeface="Goudy Old Style"/>
              </a:rPr>
              <a:t>can be  </a:t>
            </a:r>
            <a:r>
              <a:rPr sz="1800" spc="-5" dirty="0">
                <a:solidFill>
                  <a:srgbClr val="FFFFFF"/>
                </a:solidFill>
                <a:latin typeface="Goudy Old Style"/>
                <a:cs typeface="Goudy Old Style"/>
              </a:rPr>
              <a:t>distinctly</a:t>
            </a:r>
            <a:r>
              <a:rPr sz="1800" spc="-20" dirty="0">
                <a:solidFill>
                  <a:srgbClr val="FFFFFF"/>
                </a:solidFill>
                <a:latin typeface="Goudy Old Style"/>
                <a:cs typeface="Goudy Old Style"/>
              </a:rPr>
              <a:t> </a:t>
            </a:r>
            <a:r>
              <a:rPr sz="1800" spc="-5" dirty="0">
                <a:solidFill>
                  <a:srgbClr val="FFFFFF"/>
                </a:solidFill>
                <a:latin typeface="Goudy Old Style"/>
                <a:cs typeface="Goudy Old Style"/>
              </a:rPr>
              <a:t>identified.</a:t>
            </a:r>
            <a:endParaRPr sz="1800">
              <a:latin typeface="Goudy Old Style"/>
              <a:cs typeface="Goudy Old Style"/>
            </a:endParaRPr>
          </a:p>
        </p:txBody>
      </p:sp>
      <p:pic>
        <p:nvPicPr>
          <p:cNvPr id="5" name="object 5"/>
          <p:cNvPicPr/>
          <p:nvPr/>
        </p:nvPicPr>
        <p:blipFill>
          <a:blip r:embed="rId4" cstate="print"/>
          <a:stretch>
            <a:fillRect/>
          </a:stretch>
        </p:blipFill>
        <p:spPr>
          <a:xfrm>
            <a:off x="339090" y="2289797"/>
            <a:ext cx="8234933" cy="919746"/>
          </a:xfrm>
          <a:prstGeom prst="rect">
            <a:avLst/>
          </a:prstGeom>
        </p:spPr>
      </p:pic>
      <p:sp>
        <p:nvSpPr>
          <p:cNvPr id="6" name="object 6"/>
          <p:cNvSpPr txBox="1"/>
          <p:nvPr/>
        </p:nvSpPr>
        <p:spPr>
          <a:xfrm>
            <a:off x="519176" y="2551938"/>
            <a:ext cx="5242560" cy="299720"/>
          </a:xfrm>
          <a:prstGeom prst="rect">
            <a:avLst/>
          </a:prstGeom>
        </p:spPr>
        <p:txBody>
          <a:bodyPr vert="horz" wrap="square" lIns="0" tIns="12700" rIns="0" bIns="0" rtlCol="0">
            <a:spAutoFit/>
          </a:bodyPr>
          <a:lstStyle/>
          <a:p>
            <a:pPr marL="12700">
              <a:lnSpc>
                <a:spcPct val="100000"/>
              </a:lnSpc>
              <a:spcBef>
                <a:spcPts val="100"/>
              </a:spcBef>
            </a:pPr>
            <a:r>
              <a:rPr sz="1800" spc="-10" dirty="0">
                <a:solidFill>
                  <a:srgbClr val="FFFFFF"/>
                </a:solidFill>
                <a:latin typeface="Goudy Old Style"/>
                <a:cs typeface="Goudy Old Style"/>
              </a:rPr>
              <a:t>Each </a:t>
            </a:r>
            <a:r>
              <a:rPr sz="1800" spc="-5" dirty="0">
                <a:solidFill>
                  <a:srgbClr val="FFFFFF"/>
                </a:solidFill>
                <a:latin typeface="Goudy Old Style"/>
                <a:cs typeface="Goudy Old Style"/>
              </a:rPr>
              <a:t>entity </a:t>
            </a:r>
            <a:r>
              <a:rPr sz="1800" dirty="0">
                <a:solidFill>
                  <a:srgbClr val="FFFFFF"/>
                </a:solidFill>
                <a:latin typeface="Goudy Old Style"/>
                <a:cs typeface="Goudy Old Style"/>
              </a:rPr>
              <a:t>has </a:t>
            </a:r>
            <a:r>
              <a:rPr sz="1800" spc="5" dirty="0">
                <a:solidFill>
                  <a:srgbClr val="FFFFFF"/>
                </a:solidFill>
                <a:latin typeface="Goudy Old Style"/>
                <a:cs typeface="Goudy Old Style"/>
              </a:rPr>
              <a:t>certain </a:t>
            </a:r>
            <a:r>
              <a:rPr sz="1800" spc="-5" dirty="0">
                <a:solidFill>
                  <a:srgbClr val="FFFFFF"/>
                </a:solidFill>
                <a:latin typeface="Goudy Old Style"/>
                <a:cs typeface="Goudy Old Style"/>
              </a:rPr>
              <a:t>characteristics </a:t>
            </a:r>
            <a:r>
              <a:rPr sz="1800" spc="-10" dirty="0">
                <a:solidFill>
                  <a:srgbClr val="FFFFFF"/>
                </a:solidFill>
                <a:latin typeface="Goudy Old Style"/>
                <a:cs typeface="Goudy Old Style"/>
              </a:rPr>
              <a:t>known </a:t>
            </a:r>
            <a:r>
              <a:rPr sz="1800" spc="-5" dirty="0">
                <a:solidFill>
                  <a:srgbClr val="FFFFFF"/>
                </a:solidFill>
                <a:latin typeface="Goudy Old Style"/>
                <a:cs typeface="Goudy Old Style"/>
              </a:rPr>
              <a:t>as</a:t>
            </a:r>
            <a:r>
              <a:rPr sz="1800" spc="-70" dirty="0">
                <a:solidFill>
                  <a:srgbClr val="FFFFFF"/>
                </a:solidFill>
                <a:latin typeface="Goudy Old Style"/>
                <a:cs typeface="Goudy Old Style"/>
              </a:rPr>
              <a:t> </a:t>
            </a:r>
            <a:r>
              <a:rPr sz="1800" spc="-5" dirty="0">
                <a:solidFill>
                  <a:srgbClr val="FFFFFF"/>
                </a:solidFill>
                <a:latin typeface="Goudy Old Style"/>
                <a:cs typeface="Goudy Old Style"/>
              </a:rPr>
              <a:t>attributes.</a:t>
            </a:r>
            <a:endParaRPr sz="1800">
              <a:latin typeface="Goudy Old Style"/>
              <a:cs typeface="Goudy Old Style"/>
            </a:endParaRPr>
          </a:p>
        </p:txBody>
      </p:sp>
      <p:pic>
        <p:nvPicPr>
          <p:cNvPr id="7" name="object 7"/>
          <p:cNvPicPr/>
          <p:nvPr/>
        </p:nvPicPr>
        <p:blipFill>
          <a:blip r:embed="rId5" cstate="print"/>
          <a:stretch>
            <a:fillRect/>
          </a:stretch>
        </p:blipFill>
        <p:spPr>
          <a:xfrm>
            <a:off x="345947" y="3883139"/>
            <a:ext cx="8234933" cy="843546"/>
          </a:xfrm>
          <a:prstGeom prst="rect">
            <a:avLst/>
          </a:prstGeom>
        </p:spPr>
      </p:pic>
      <p:sp>
        <p:nvSpPr>
          <p:cNvPr id="8" name="object 8"/>
          <p:cNvSpPr txBox="1"/>
          <p:nvPr/>
        </p:nvSpPr>
        <p:spPr>
          <a:xfrm>
            <a:off x="520700" y="3983228"/>
            <a:ext cx="7515225" cy="547370"/>
          </a:xfrm>
          <a:prstGeom prst="rect">
            <a:avLst/>
          </a:prstGeom>
        </p:spPr>
        <p:txBody>
          <a:bodyPr vert="horz" wrap="square" lIns="0" tIns="12700" rIns="0" bIns="0" rtlCol="0">
            <a:spAutoFit/>
          </a:bodyPr>
          <a:lstStyle/>
          <a:p>
            <a:pPr marL="12700">
              <a:lnSpc>
                <a:spcPts val="2055"/>
              </a:lnSpc>
              <a:spcBef>
                <a:spcPts val="100"/>
              </a:spcBef>
            </a:pPr>
            <a:r>
              <a:rPr sz="1800" dirty="0">
                <a:solidFill>
                  <a:srgbClr val="FFFFFF"/>
                </a:solidFill>
                <a:latin typeface="Goudy Old Style"/>
                <a:cs typeface="Goudy Old Style"/>
              </a:rPr>
              <a:t>A </a:t>
            </a:r>
            <a:r>
              <a:rPr sz="1800" spc="-10" dirty="0">
                <a:solidFill>
                  <a:srgbClr val="FFFFFF"/>
                </a:solidFill>
                <a:latin typeface="Goudy Old Style"/>
                <a:cs typeface="Goudy Old Style"/>
              </a:rPr>
              <a:t>grouping </a:t>
            </a:r>
            <a:r>
              <a:rPr sz="1800" spc="-5" dirty="0">
                <a:solidFill>
                  <a:srgbClr val="FFFFFF"/>
                </a:solidFill>
                <a:latin typeface="Goudy Old Style"/>
                <a:cs typeface="Goudy Old Style"/>
              </a:rPr>
              <a:t>of </a:t>
            </a:r>
            <a:r>
              <a:rPr sz="1800" spc="-10" dirty="0">
                <a:solidFill>
                  <a:srgbClr val="FFFFFF"/>
                </a:solidFill>
                <a:latin typeface="Goudy Old Style"/>
                <a:cs typeface="Goudy Old Style"/>
              </a:rPr>
              <a:t>related </a:t>
            </a:r>
            <a:r>
              <a:rPr sz="1800" spc="-5" dirty="0">
                <a:solidFill>
                  <a:srgbClr val="FFFFFF"/>
                </a:solidFill>
                <a:latin typeface="Goudy Old Style"/>
                <a:cs typeface="Goudy Old Style"/>
              </a:rPr>
              <a:t>entities becomes an entity set. </a:t>
            </a:r>
            <a:r>
              <a:rPr sz="1800" spc="-15" dirty="0">
                <a:solidFill>
                  <a:srgbClr val="FFFFFF"/>
                </a:solidFill>
                <a:latin typeface="Goudy Old Style"/>
                <a:cs typeface="Goudy Old Style"/>
              </a:rPr>
              <a:t>Each </a:t>
            </a:r>
            <a:r>
              <a:rPr sz="1800" spc="-5" dirty="0">
                <a:solidFill>
                  <a:srgbClr val="FFFFFF"/>
                </a:solidFill>
                <a:latin typeface="Goudy Old Style"/>
                <a:cs typeface="Goudy Old Style"/>
              </a:rPr>
              <a:t>entity </a:t>
            </a:r>
            <a:r>
              <a:rPr sz="1800" spc="-10" dirty="0">
                <a:solidFill>
                  <a:srgbClr val="FFFFFF"/>
                </a:solidFill>
                <a:latin typeface="Goudy Old Style"/>
                <a:cs typeface="Goudy Old Style"/>
              </a:rPr>
              <a:t>set </a:t>
            </a:r>
            <a:r>
              <a:rPr sz="1800" dirty="0">
                <a:solidFill>
                  <a:srgbClr val="FFFFFF"/>
                </a:solidFill>
                <a:latin typeface="Goudy Old Style"/>
                <a:cs typeface="Goudy Old Style"/>
              </a:rPr>
              <a:t>is </a:t>
            </a:r>
            <a:r>
              <a:rPr sz="1800" spc="-10" dirty="0">
                <a:solidFill>
                  <a:srgbClr val="FFFFFF"/>
                </a:solidFill>
                <a:latin typeface="Goudy Old Style"/>
                <a:cs typeface="Goudy Old Style"/>
              </a:rPr>
              <a:t>given </a:t>
            </a:r>
            <a:r>
              <a:rPr sz="1800" dirty="0">
                <a:solidFill>
                  <a:srgbClr val="FFFFFF"/>
                </a:solidFill>
                <a:latin typeface="Goudy Old Style"/>
                <a:cs typeface="Goudy Old Style"/>
              </a:rPr>
              <a:t>a</a:t>
            </a:r>
            <a:r>
              <a:rPr sz="1800" spc="-20" dirty="0">
                <a:solidFill>
                  <a:srgbClr val="FFFFFF"/>
                </a:solidFill>
                <a:latin typeface="Goudy Old Style"/>
                <a:cs typeface="Goudy Old Style"/>
              </a:rPr>
              <a:t> </a:t>
            </a:r>
            <a:r>
              <a:rPr sz="1800" spc="-5" dirty="0">
                <a:solidFill>
                  <a:srgbClr val="FFFFFF"/>
                </a:solidFill>
                <a:latin typeface="Goudy Old Style"/>
                <a:cs typeface="Goudy Old Style"/>
              </a:rPr>
              <a:t>name.</a:t>
            </a:r>
            <a:endParaRPr sz="1800">
              <a:latin typeface="Goudy Old Style"/>
              <a:cs typeface="Goudy Old Style"/>
            </a:endParaRPr>
          </a:p>
          <a:p>
            <a:pPr marL="12700">
              <a:lnSpc>
                <a:spcPts val="2055"/>
              </a:lnSpc>
            </a:pPr>
            <a:r>
              <a:rPr sz="1800" spc="-5" dirty="0">
                <a:solidFill>
                  <a:srgbClr val="FFFFFF"/>
                </a:solidFill>
                <a:latin typeface="Goudy Old Style"/>
                <a:cs typeface="Goudy Old Style"/>
              </a:rPr>
              <a:t>The name of </a:t>
            </a:r>
            <a:r>
              <a:rPr sz="1800" dirty="0">
                <a:solidFill>
                  <a:srgbClr val="FFFFFF"/>
                </a:solidFill>
                <a:latin typeface="Goudy Old Style"/>
                <a:cs typeface="Goudy Old Style"/>
              </a:rPr>
              <a:t>the </a:t>
            </a:r>
            <a:r>
              <a:rPr sz="1800" spc="-5" dirty="0">
                <a:solidFill>
                  <a:srgbClr val="FFFFFF"/>
                </a:solidFill>
                <a:latin typeface="Goudy Old Style"/>
                <a:cs typeface="Goudy Old Style"/>
              </a:rPr>
              <a:t>entity </a:t>
            </a:r>
            <a:r>
              <a:rPr sz="1800" spc="-10" dirty="0">
                <a:solidFill>
                  <a:srgbClr val="FFFFFF"/>
                </a:solidFill>
                <a:latin typeface="Goudy Old Style"/>
                <a:cs typeface="Goudy Old Style"/>
              </a:rPr>
              <a:t>set </a:t>
            </a:r>
            <a:r>
              <a:rPr sz="1800" spc="5" dirty="0">
                <a:solidFill>
                  <a:srgbClr val="FFFFFF"/>
                </a:solidFill>
                <a:latin typeface="Goudy Old Style"/>
                <a:cs typeface="Goudy Old Style"/>
              </a:rPr>
              <a:t>reflects </a:t>
            </a:r>
            <a:r>
              <a:rPr sz="1800" dirty="0">
                <a:solidFill>
                  <a:srgbClr val="FFFFFF"/>
                </a:solidFill>
                <a:latin typeface="Goudy Old Style"/>
                <a:cs typeface="Goudy Old Style"/>
              </a:rPr>
              <a:t>the</a:t>
            </a:r>
            <a:r>
              <a:rPr sz="1800" spc="-75" dirty="0">
                <a:solidFill>
                  <a:srgbClr val="FFFFFF"/>
                </a:solidFill>
                <a:latin typeface="Goudy Old Style"/>
                <a:cs typeface="Goudy Old Style"/>
              </a:rPr>
              <a:t> </a:t>
            </a:r>
            <a:r>
              <a:rPr sz="1800" spc="-5" dirty="0">
                <a:solidFill>
                  <a:srgbClr val="FFFFFF"/>
                </a:solidFill>
                <a:latin typeface="Goudy Old Style"/>
                <a:cs typeface="Goudy Old Style"/>
              </a:rPr>
              <a:t>contents.</a:t>
            </a:r>
            <a:endParaRPr sz="1800">
              <a:latin typeface="Goudy Old Style"/>
              <a:cs typeface="Goudy Old Style"/>
            </a:endParaRPr>
          </a:p>
        </p:txBody>
      </p:sp>
      <p:sp>
        <p:nvSpPr>
          <p:cNvPr id="10" name="object 10"/>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37</a:t>
            </a:fld>
            <a:endParaRPr sz="1200"/>
          </a:p>
        </p:txBody>
      </p:sp>
      <p:sp>
        <p:nvSpPr>
          <p:cNvPr id="11" name="object 11"/>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7049134" cy="635635"/>
          </a:xfrm>
          <a:prstGeom prst="rect">
            <a:avLst/>
          </a:prstGeom>
        </p:spPr>
        <p:txBody>
          <a:bodyPr vert="horz" wrap="square" lIns="0" tIns="12700" rIns="0" bIns="0" rtlCol="0">
            <a:spAutoFit/>
          </a:bodyPr>
          <a:lstStyle/>
          <a:p>
            <a:pPr marL="12700">
              <a:lnSpc>
                <a:spcPct val="100000"/>
              </a:lnSpc>
              <a:spcBef>
                <a:spcPts val="100"/>
              </a:spcBef>
            </a:pPr>
            <a:r>
              <a:rPr sz="4000" b="0" spc="-60" dirty="0">
                <a:latin typeface="Goudy Old Style"/>
                <a:cs typeface="Goudy Old Style"/>
              </a:rPr>
              <a:t>Tables </a:t>
            </a:r>
            <a:r>
              <a:rPr sz="4000" b="0" spc="-5" dirty="0">
                <a:latin typeface="Goudy Old Style"/>
                <a:cs typeface="Goudy Old Style"/>
              </a:rPr>
              <a:t>and their Characteristics</a:t>
            </a:r>
            <a:r>
              <a:rPr sz="4000" b="0" spc="5" dirty="0">
                <a:latin typeface="Goudy Old Style"/>
                <a:cs typeface="Goudy Old Style"/>
              </a:rPr>
              <a:t> </a:t>
            </a:r>
            <a:r>
              <a:rPr sz="4000" b="0" dirty="0">
                <a:latin typeface="Goudy Old Style"/>
                <a:cs typeface="Goudy Old Style"/>
              </a:rPr>
              <a:t>1-2</a:t>
            </a:r>
            <a:endParaRPr sz="4000">
              <a:latin typeface="Goudy Old Style"/>
              <a:cs typeface="Goudy Old Style"/>
            </a:endParaRPr>
          </a:p>
        </p:txBody>
      </p:sp>
      <p:pic>
        <p:nvPicPr>
          <p:cNvPr id="3" name="object 3"/>
          <p:cNvPicPr/>
          <p:nvPr/>
        </p:nvPicPr>
        <p:blipFill>
          <a:blip r:embed="rId3" cstate="print"/>
          <a:stretch>
            <a:fillRect/>
          </a:stretch>
        </p:blipFill>
        <p:spPr>
          <a:xfrm>
            <a:off x="339090" y="971537"/>
            <a:ext cx="8234933" cy="843546"/>
          </a:xfrm>
          <a:prstGeom prst="rect">
            <a:avLst/>
          </a:prstGeom>
        </p:spPr>
      </p:pic>
      <p:pic>
        <p:nvPicPr>
          <p:cNvPr id="4" name="object 4"/>
          <p:cNvPicPr/>
          <p:nvPr/>
        </p:nvPicPr>
        <p:blipFill>
          <a:blip r:embed="rId4" cstate="print"/>
          <a:stretch>
            <a:fillRect/>
          </a:stretch>
        </p:blipFill>
        <p:spPr>
          <a:xfrm>
            <a:off x="339090" y="1885937"/>
            <a:ext cx="8234933" cy="843546"/>
          </a:xfrm>
          <a:prstGeom prst="rect">
            <a:avLst/>
          </a:prstGeom>
        </p:spPr>
      </p:pic>
      <p:pic>
        <p:nvPicPr>
          <p:cNvPr id="5" name="object 5"/>
          <p:cNvPicPr/>
          <p:nvPr/>
        </p:nvPicPr>
        <p:blipFill>
          <a:blip r:embed="rId5" cstate="print"/>
          <a:stretch>
            <a:fillRect/>
          </a:stretch>
        </p:blipFill>
        <p:spPr>
          <a:xfrm>
            <a:off x="339090" y="2800337"/>
            <a:ext cx="8234933" cy="919746"/>
          </a:xfrm>
          <a:prstGeom prst="rect">
            <a:avLst/>
          </a:prstGeom>
        </p:spPr>
      </p:pic>
      <p:sp>
        <p:nvSpPr>
          <p:cNvPr id="6" name="object 6"/>
          <p:cNvSpPr txBox="1"/>
          <p:nvPr/>
        </p:nvSpPr>
        <p:spPr>
          <a:xfrm>
            <a:off x="459740" y="1071879"/>
            <a:ext cx="7934959" cy="2982595"/>
          </a:xfrm>
          <a:prstGeom prst="rect">
            <a:avLst/>
          </a:prstGeom>
        </p:spPr>
        <p:txBody>
          <a:bodyPr vert="horz" wrap="square" lIns="0" tIns="43815" rIns="0" bIns="0" rtlCol="0">
            <a:spAutoFit/>
          </a:bodyPr>
          <a:lstStyle/>
          <a:p>
            <a:pPr marL="66675" marR="283845">
              <a:lnSpc>
                <a:spcPts val="1939"/>
              </a:lnSpc>
              <a:spcBef>
                <a:spcPts val="345"/>
              </a:spcBef>
            </a:pPr>
            <a:r>
              <a:rPr sz="1800" spc="-5" dirty="0">
                <a:solidFill>
                  <a:srgbClr val="FFFFFF"/>
                </a:solidFill>
                <a:latin typeface="Goudy Old Style"/>
                <a:cs typeface="Goudy Old Style"/>
              </a:rPr>
              <a:t>Access and manipulation of </a:t>
            </a:r>
            <a:r>
              <a:rPr sz="1800" dirty="0">
                <a:solidFill>
                  <a:srgbClr val="FFFFFF"/>
                </a:solidFill>
                <a:latin typeface="Goudy Old Style"/>
                <a:cs typeface="Goudy Old Style"/>
              </a:rPr>
              <a:t>data </a:t>
            </a:r>
            <a:r>
              <a:rPr sz="1800" spc="-5" dirty="0">
                <a:solidFill>
                  <a:srgbClr val="FFFFFF"/>
                </a:solidFill>
                <a:latin typeface="Goudy Old Style"/>
                <a:cs typeface="Goudy Old Style"/>
              </a:rPr>
              <a:t>is facilitated </a:t>
            </a:r>
            <a:r>
              <a:rPr sz="1800" spc="-10" dirty="0">
                <a:solidFill>
                  <a:srgbClr val="FFFFFF"/>
                </a:solidFill>
                <a:latin typeface="Goudy Old Style"/>
                <a:cs typeface="Goudy Old Style"/>
              </a:rPr>
              <a:t>by creation </a:t>
            </a:r>
            <a:r>
              <a:rPr sz="1800" spc="-5" dirty="0">
                <a:solidFill>
                  <a:srgbClr val="FFFFFF"/>
                </a:solidFill>
                <a:latin typeface="Goudy Old Style"/>
                <a:cs typeface="Goudy Old Style"/>
              </a:rPr>
              <a:t>of </a:t>
            </a:r>
            <a:r>
              <a:rPr sz="1800" dirty="0">
                <a:solidFill>
                  <a:srgbClr val="FFFFFF"/>
                </a:solidFill>
                <a:latin typeface="Goudy Old Style"/>
                <a:cs typeface="Goudy Old Style"/>
              </a:rPr>
              <a:t>data </a:t>
            </a:r>
            <a:r>
              <a:rPr sz="1800" spc="-10" dirty="0">
                <a:solidFill>
                  <a:srgbClr val="FFFFFF"/>
                </a:solidFill>
                <a:latin typeface="Goudy Old Style"/>
                <a:cs typeface="Goudy Old Style"/>
              </a:rPr>
              <a:t>relationships </a:t>
            </a:r>
            <a:r>
              <a:rPr sz="1800" dirty="0">
                <a:solidFill>
                  <a:srgbClr val="FFFFFF"/>
                </a:solidFill>
                <a:latin typeface="Goudy Old Style"/>
                <a:cs typeface="Goudy Old Style"/>
              </a:rPr>
              <a:t>based  </a:t>
            </a:r>
            <a:r>
              <a:rPr sz="1800" spc="-5" dirty="0">
                <a:solidFill>
                  <a:srgbClr val="FFFFFF"/>
                </a:solidFill>
                <a:latin typeface="Goudy Old Style"/>
                <a:cs typeface="Goudy Old Style"/>
              </a:rPr>
              <a:t>on </a:t>
            </a:r>
            <a:r>
              <a:rPr sz="1800" dirty="0">
                <a:solidFill>
                  <a:srgbClr val="FFFFFF"/>
                </a:solidFill>
                <a:latin typeface="Goudy Old Style"/>
                <a:cs typeface="Goudy Old Style"/>
              </a:rPr>
              <a:t>a </a:t>
            </a:r>
            <a:r>
              <a:rPr sz="1800" spc="-5" dirty="0">
                <a:solidFill>
                  <a:srgbClr val="FFFFFF"/>
                </a:solidFill>
                <a:latin typeface="Goudy Old Style"/>
                <a:cs typeface="Goudy Old Style"/>
              </a:rPr>
              <a:t>construct </a:t>
            </a:r>
            <a:r>
              <a:rPr sz="1800" spc="-10" dirty="0">
                <a:solidFill>
                  <a:srgbClr val="FFFFFF"/>
                </a:solidFill>
                <a:latin typeface="Goudy Old Style"/>
                <a:cs typeface="Goudy Old Style"/>
              </a:rPr>
              <a:t>known </a:t>
            </a:r>
            <a:r>
              <a:rPr sz="1800" spc="-5" dirty="0">
                <a:solidFill>
                  <a:srgbClr val="FFFFFF"/>
                </a:solidFill>
                <a:latin typeface="Goudy Old Style"/>
                <a:cs typeface="Goudy Old Style"/>
              </a:rPr>
              <a:t>as </a:t>
            </a:r>
            <a:r>
              <a:rPr sz="1800" dirty="0">
                <a:solidFill>
                  <a:srgbClr val="FFFFFF"/>
                </a:solidFill>
                <a:latin typeface="Goudy Old Style"/>
                <a:cs typeface="Goudy Old Style"/>
              </a:rPr>
              <a:t>a</a:t>
            </a:r>
            <a:r>
              <a:rPr sz="1800" spc="-5" dirty="0">
                <a:solidFill>
                  <a:srgbClr val="FFFFFF"/>
                </a:solidFill>
                <a:latin typeface="Goudy Old Style"/>
                <a:cs typeface="Goudy Old Style"/>
              </a:rPr>
              <a:t> </a:t>
            </a:r>
            <a:r>
              <a:rPr sz="1800" dirty="0">
                <a:solidFill>
                  <a:srgbClr val="FFFFFF"/>
                </a:solidFill>
                <a:latin typeface="Goudy Old Style"/>
                <a:cs typeface="Goudy Old Style"/>
              </a:rPr>
              <a:t>table.</a:t>
            </a:r>
            <a:endParaRPr sz="1800">
              <a:latin typeface="Goudy Old Style"/>
              <a:cs typeface="Goudy Old Style"/>
            </a:endParaRPr>
          </a:p>
          <a:p>
            <a:pPr>
              <a:lnSpc>
                <a:spcPct val="100000"/>
              </a:lnSpc>
              <a:spcBef>
                <a:spcPts val="40"/>
              </a:spcBef>
            </a:pPr>
            <a:endParaRPr sz="2750">
              <a:latin typeface="Goudy Old Style"/>
              <a:cs typeface="Goudy Old Style"/>
            </a:endParaRPr>
          </a:p>
          <a:p>
            <a:pPr marL="73025" marR="5080">
              <a:lnSpc>
                <a:spcPts val="1939"/>
              </a:lnSpc>
              <a:spcBef>
                <a:spcPts val="5"/>
              </a:spcBef>
            </a:pPr>
            <a:r>
              <a:rPr sz="1800" dirty="0">
                <a:solidFill>
                  <a:srgbClr val="FFFFFF"/>
                </a:solidFill>
                <a:latin typeface="Goudy Old Style"/>
                <a:cs typeface="Goudy Old Style"/>
              </a:rPr>
              <a:t>A table contains a </a:t>
            </a:r>
            <a:r>
              <a:rPr sz="1800" spc="-10" dirty="0">
                <a:solidFill>
                  <a:srgbClr val="FFFFFF"/>
                </a:solidFill>
                <a:latin typeface="Goudy Old Style"/>
                <a:cs typeface="Goudy Old Style"/>
              </a:rPr>
              <a:t>group </a:t>
            </a:r>
            <a:r>
              <a:rPr sz="1800" spc="-5" dirty="0">
                <a:solidFill>
                  <a:srgbClr val="FFFFFF"/>
                </a:solidFill>
                <a:latin typeface="Goudy Old Style"/>
                <a:cs typeface="Goudy Old Style"/>
              </a:rPr>
              <a:t>of </a:t>
            </a:r>
            <a:r>
              <a:rPr sz="1800" spc="-10" dirty="0">
                <a:solidFill>
                  <a:srgbClr val="FFFFFF"/>
                </a:solidFill>
                <a:latin typeface="Goudy Old Style"/>
                <a:cs typeface="Goudy Old Style"/>
              </a:rPr>
              <a:t>related </a:t>
            </a:r>
            <a:r>
              <a:rPr sz="1800" spc="-5" dirty="0">
                <a:solidFill>
                  <a:srgbClr val="FFFFFF"/>
                </a:solidFill>
                <a:latin typeface="Goudy Old Style"/>
                <a:cs typeface="Goudy Old Style"/>
              </a:rPr>
              <a:t>entities </a:t>
            </a:r>
            <a:r>
              <a:rPr sz="1800" dirty="0">
                <a:solidFill>
                  <a:srgbClr val="FFFFFF"/>
                </a:solidFill>
                <a:latin typeface="Goudy Old Style"/>
                <a:cs typeface="Goudy Old Style"/>
              </a:rPr>
              <a:t>that is </a:t>
            </a:r>
            <a:r>
              <a:rPr sz="1800" spc="-5" dirty="0">
                <a:solidFill>
                  <a:srgbClr val="FFFFFF"/>
                </a:solidFill>
                <a:latin typeface="Goudy Old Style"/>
                <a:cs typeface="Goudy Old Style"/>
              </a:rPr>
              <a:t>an entity set. The terms entity </a:t>
            </a:r>
            <a:r>
              <a:rPr sz="1800" spc="-10" dirty="0">
                <a:solidFill>
                  <a:srgbClr val="FFFFFF"/>
                </a:solidFill>
                <a:latin typeface="Goudy Old Style"/>
                <a:cs typeface="Goudy Old Style"/>
              </a:rPr>
              <a:t>set </a:t>
            </a:r>
            <a:r>
              <a:rPr sz="1800" spc="-5" dirty="0">
                <a:solidFill>
                  <a:srgbClr val="FFFFFF"/>
                </a:solidFill>
                <a:latin typeface="Goudy Old Style"/>
                <a:cs typeface="Goudy Old Style"/>
              </a:rPr>
              <a:t>and  </a:t>
            </a:r>
            <a:r>
              <a:rPr sz="1800" dirty="0">
                <a:solidFill>
                  <a:srgbClr val="FFFFFF"/>
                </a:solidFill>
                <a:latin typeface="Goudy Old Style"/>
                <a:cs typeface="Goudy Old Style"/>
              </a:rPr>
              <a:t>table </a:t>
            </a:r>
            <a:r>
              <a:rPr sz="1800" spc="-10" dirty="0">
                <a:solidFill>
                  <a:srgbClr val="FFFFFF"/>
                </a:solidFill>
                <a:latin typeface="Goudy Old Style"/>
                <a:cs typeface="Goudy Old Style"/>
              </a:rPr>
              <a:t>are </a:t>
            </a:r>
            <a:r>
              <a:rPr sz="1800" dirty="0">
                <a:solidFill>
                  <a:srgbClr val="FFFFFF"/>
                </a:solidFill>
                <a:latin typeface="Goudy Old Style"/>
                <a:cs typeface="Goudy Old Style"/>
              </a:rPr>
              <a:t>often </a:t>
            </a:r>
            <a:r>
              <a:rPr sz="1800" spc="-5" dirty="0">
                <a:solidFill>
                  <a:srgbClr val="FFFFFF"/>
                </a:solidFill>
                <a:latin typeface="Goudy Old Style"/>
                <a:cs typeface="Goudy Old Style"/>
              </a:rPr>
              <a:t>used</a:t>
            </a:r>
            <a:r>
              <a:rPr sz="1800" spc="-25" dirty="0">
                <a:solidFill>
                  <a:srgbClr val="FFFFFF"/>
                </a:solidFill>
                <a:latin typeface="Goudy Old Style"/>
                <a:cs typeface="Goudy Old Style"/>
              </a:rPr>
              <a:t> </a:t>
            </a:r>
            <a:r>
              <a:rPr sz="1800" spc="-15" dirty="0">
                <a:solidFill>
                  <a:srgbClr val="FFFFFF"/>
                </a:solidFill>
                <a:latin typeface="Goudy Old Style"/>
                <a:cs typeface="Goudy Old Style"/>
              </a:rPr>
              <a:t>interchangeably.</a:t>
            </a:r>
            <a:endParaRPr sz="1800">
              <a:latin typeface="Goudy Old Style"/>
              <a:cs typeface="Goudy Old Style"/>
            </a:endParaRPr>
          </a:p>
          <a:p>
            <a:pPr>
              <a:lnSpc>
                <a:spcPct val="100000"/>
              </a:lnSpc>
              <a:spcBef>
                <a:spcPts val="55"/>
              </a:spcBef>
            </a:pPr>
            <a:endParaRPr sz="2950">
              <a:latin typeface="Goudy Old Style"/>
              <a:cs typeface="Goudy Old Style"/>
            </a:endParaRPr>
          </a:p>
          <a:p>
            <a:pPr marL="71755" marR="60960">
              <a:lnSpc>
                <a:spcPts val="1939"/>
              </a:lnSpc>
            </a:pPr>
            <a:r>
              <a:rPr sz="1800" dirty="0">
                <a:solidFill>
                  <a:srgbClr val="FFFFFF"/>
                </a:solidFill>
                <a:latin typeface="Goudy Old Style"/>
                <a:cs typeface="Goudy Old Style"/>
              </a:rPr>
              <a:t>A table is </a:t>
            </a:r>
            <a:r>
              <a:rPr sz="1800" spc="-5" dirty="0">
                <a:solidFill>
                  <a:srgbClr val="FFFFFF"/>
                </a:solidFill>
                <a:latin typeface="Goudy Old Style"/>
                <a:cs typeface="Goudy Old Style"/>
              </a:rPr>
              <a:t>also </a:t>
            </a:r>
            <a:r>
              <a:rPr sz="1800" dirty="0">
                <a:solidFill>
                  <a:srgbClr val="FFFFFF"/>
                </a:solidFill>
                <a:latin typeface="Goudy Old Style"/>
                <a:cs typeface="Goudy Old Style"/>
              </a:rPr>
              <a:t>called a </a:t>
            </a:r>
            <a:r>
              <a:rPr sz="1800" spc="-10" dirty="0">
                <a:solidFill>
                  <a:srgbClr val="FFFFFF"/>
                </a:solidFill>
                <a:latin typeface="Goudy Old Style"/>
                <a:cs typeface="Goudy Old Style"/>
              </a:rPr>
              <a:t>relation. </a:t>
            </a:r>
            <a:r>
              <a:rPr sz="1800" dirty="0">
                <a:solidFill>
                  <a:srgbClr val="FFFFFF"/>
                </a:solidFill>
                <a:latin typeface="Goudy Old Style"/>
                <a:cs typeface="Goudy Old Style"/>
              </a:rPr>
              <a:t>The </a:t>
            </a:r>
            <a:r>
              <a:rPr sz="1800" spc="-15" dirty="0">
                <a:solidFill>
                  <a:srgbClr val="FFFFFF"/>
                </a:solidFill>
                <a:latin typeface="Goudy Old Style"/>
                <a:cs typeface="Goudy Old Style"/>
              </a:rPr>
              <a:t>rows </a:t>
            </a:r>
            <a:r>
              <a:rPr sz="1800" spc="-10" dirty="0">
                <a:solidFill>
                  <a:srgbClr val="FFFFFF"/>
                </a:solidFill>
                <a:latin typeface="Goudy Old Style"/>
                <a:cs typeface="Goudy Old Style"/>
              </a:rPr>
              <a:t>are known </a:t>
            </a:r>
            <a:r>
              <a:rPr sz="1800" spc="-5" dirty="0">
                <a:solidFill>
                  <a:srgbClr val="FFFFFF"/>
                </a:solidFill>
                <a:latin typeface="Goudy Old Style"/>
                <a:cs typeface="Goudy Old Style"/>
              </a:rPr>
              <a:t>as tuples. </a:t>
            </a:r>
            <a:r>
              <a:rPr sz="1800" dirty="0">
                <a:solidFill>
                  <a:srgbClr val="FFFFFF"/>
                </a:solidFill>
                <a:latin typeface="Goudy Old Style"/>
                <a:cs typeface="Goudy Old Style"/>
              </a:rPr>
              <a:t>The </a:t>
            </a:r>
            <a:r>
              <a:rPr sz="1800" spc="-5" dirty="0">
                <a:solidFill>
                  <a:srgbClr val="FFFFFF"/>
                </a:solidFill>
                <a:latin typeface="Goudy Old Style"/>
                <a:cs typeface="Goudy Old Style"/>
              </a:rPr>
              <a:t>columns </a:t>
            </a:r>
            <a:r>
              <a:rPr sz="1800" spc="-10" dirty="0">
                <a:solidFill>
                  <a:srgbClr val="FFFFFF"/>
                </a:solidFill>
                <a:latin typeface="Goudy Old Style"/>
                <a:cs typeface="Goudy Old Style"/>
              </a:rPr>
              <a:t>are known  </a:t>
            </a:r>
            <a:r>
              <a:rPr sz="1800" spc="-5" dirty="0">
                <a:solidFill>
                  <a:srgbClr val="FFFFFF"/>
                </a:solidFill>
                <a:latin typeface="Goudy Old Style"/>
                <a:cs typeface="Goudy Old Style"/>
              </a:rPr>
              <a:t>as</a:t>
            </a:r>
            <a:r>
              <a:rPr sz="1800" spc="-10" dirty="0">
                <a:solidFill>
                  <a:srgbClr val="FFFFFF"/>
                </a:solidFill>
                <a:latin typeface="Goudy Old Style"/>
                <a:cs typeface="Goudy Old Style"/>
              </a:rPr>
              <a:t> </a:t>
            </a:r>
            <a:r>
              <a:rPr sz="1800" spc="-5" dirty="0">
                <a:solidFill>
                  <a:srgbClr val="FFFFFF"/>
                </a:solidFill>
                <a:latin typeface="Goudy Old Style"/>
                <a:cs typeface="Goudy Old Style"/>
              </a:rPr>
              <a:t>attributes.</a:t>
            </a:r>
            <a:endParaRPr sz="1800">
              <a:latin typeface="Goudy Old Style"/>
              <a:cs typeface="Goudy Old Style"/>
            </a:endParaRPr>
          </a:p>
          <a:p>
            <a:pPr>
              <a:lnSpc>
                <a:spcPct val="100000"/>
              </a:lnSpc>
              <a:spcBef>
                <a:spcPts val="10"/>
              </a:spcBef>
            </a:pPr>
            <a:endParaRPr sz="1900">
              <a:latin typeface="Goudy Old Style"/>
              <a:cs typeface="Goudy Old Style"/>
            </a:endParaRPr>
          </a:p>
          <a:p>
            <a:pPr marL="353695" indent="-341630">
              <a:lnSpc>
                <a:spcPct val="100000"/>
              </a:lnSpc>
              <a:buFont typeface="Wingdings"/>
              <a:buChar char=""/>
              <a:tabLst>
                <a:tab pos="353695" algn="l"/>
                <a:tab pos="354330" algn="l"/>
              </a:tabLst>
            </a:pPr>
            <a:r>
              <a:rPr sz="1800" spc="-10" dirty="0">
                <a:latin typeface="Goudy Old Style"/>
                <a:cs typeface="Goudy Old Style"/>
              </a:rPr>
              <a:t>Following </a:t>
            </a:r>
            <a:r>
              <a:rPr sz="1800" spc="-5" dirty="0">
                <a:latin typeface="Goudy Old Style"/>
                <a:cs typeface="Goudy Old Style"/>
              </a:rPr>
              <a:t>figure highlights characteristics of </a:t>
            </a:r>
            <a:r>
              <a:rPr sz="1800" dirty="0">
                <a:latin typeface="Goudy Old Style"/>
                <a:cs typeface="Goudy Old Style"/>
              </a:rPr>
              <a:t>a table:</a:t>
            </a:r>
            <a:endParaRPr sz="1800">
              <a:latin typeface="Goudy Old Style"/>
              <a:cs typeface="Goudy Old Style"/>
            </a:endParaRPr>
          </a:p>
        </p:txBody>
      </p:sp>
      <p:pic>
        <p:nvPicPr>
          <p:cNvPr id="7" name="object 7"/>
          <p:cNvPicPr/>
          <p:nvPr/>
        </p:nvPicPr>
        <p:blipFill>
          <a:blip r:embed="rId6" cstate="print"/>
          <a:stretch>
            <a:fillRect/>
          </a:stretch>
        </p:blipFill>
        <p:spPr>
          <a:xfrm>
            <a:off x="1524000" y="4114800"/>
            <a:ext cx="5486400" cy="2379726"/>
          </a:xfrm>
          <a:prstGeom prst="rect">
            <a:avLst/>
          </a:prstGeom>
        </p:spPr>
      </p:pic>
      <p:sp>
        <p:nvSpPr>
          <p:cNvPr id="9" name="object 9"/>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38</a:t>
            </a:fld>
            <a:endParaRPr sz="1200"/>
          </a:p>
        </p:txBody>
      </p:sp>
      <p:sp>
        <p:nvSpPr>
          <p:cNvPr id="10" name="object 10"/>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7049134" cy="635635"/>
          </a:xfrm>
          <a:prstGeom prst="rect">
            <a:avLst/>
          </a:prstGeom>
        </p:spPr>
        <p:txBody>
          <a:bodyPr vert="horz" wrap="square" lIns="0" tIns="12700" rIns="0" bIns="0" rtlCol="0">
            <a:spAutoFit/>
          </a:bodyPr>
          <a:lstStyle/>
          <a:p>
            <a:pPr marL="12700">
              <a:lnSpc>
                <a:spcPct val="100000"/>
              </a:lnSpc>
              <a:spcBef>
                <a:spcPts val="100"/>
              </a:spcBef>
            </a:pPr>
            <a:r>
              <a:rPr sz="4000" b="0" spc="-60" dirty="0">
                <a:latin typeface="Goudy Old Style"/>
                <a:cs typeface="Goudy Old Style"/>
              </a:rPr>
              <a:t>Tables </a:t>
            </a:r>
            <a:r>
              <a:rPr sz="4000" b="0" spc="-5" dirty="0">
                <a:latin typeface="Goudy Old Style"/>
                <a:cs typeface="Goudy Old Style"/>
              </a:rPr>
              <a:t>and their Characteristics</a:t>
            </a:r>
            <a:r>
              <a:rPr sz="4000" b="0" spc="5" dirty="0">
                <a:latin typeface="Goudy Old Style"/>
                <a:cs typeface="Goudy Old Style"/>
              </a:rPr>
              <a:t> </a:t>
            </a:r>
            <a:r>
              <a:rPr sz="4000" b="0" dirty="0">
                <a:latin typeface="Goudy Old Style"/>
                <a:cs typeface="Goudy Old Style"/>
              </a:rPr>
              <a:t>2-2</a:t>
            </a:r>
            <a:endParaRPr sz="4000">
              <a:latin typeface="Goudy Old Style"/>
              <a:cs typeface="Goudy Old Style"/>
            </a:endParaRPr>
          </a:p>
        </p:txBody>
      </p:sp>
      <p:sp>
        <p:nvSpPr>
          <p:cNvPr id="3" name="object 3"/>
          <p:cNvSpPr/>
          <p:nvPr/>
        </p:nvSpPr>
        <p:spPr>
          <a:xfrm>
            <a:off x="457580" y="1372742"/>
            <a:ext cx="8686800" cy="0"/>
          </a:xfrm>
          <a:custGeom>
            <a:avLst/>
            <a:gdLst/>
            <a:ahLst/>
            <a:cxnLst/>
            <a:rect l="l" t="t" r="r" b="b"/>
            <a:pathLst>
              <a:path w="8686800">
                <a:moveTo>
                  <a:pt x="0" y="0"/>
                </a:moveTo>
                <a:lnTo>
                  <a:pt x="8686800" y="0"/>
                </a:lnTo>
              </a:path>
            </a:pathLst>
          </a:custGeom>
          <a:ln w="25146">
            <a:solidFill>
              <a:srgbClr val="C0504D"/>
            </a:solidFill>
          </a:ln>
        </p:spPr>
        <p:txBody>
          <a:bodyPr wrap="square" lIns="0" tIns="0" rIns="0" bIns="0" rtlCol="0"/>
          <a:lstStyle/>
          <a:p>
            <a:endParaRPr/>
          </a:p>
        </p:txBody>
      </p:sp>
      <p:sp>
        <p:nvSpPr>
          <p:cNvPr id="4" name="object 4"/>
          <p:cNvSpPr/>
          <p:nvPr/>
        </p:nvSpPr>
        <p:spPr>
          <a:xfrm>
            <a:off x="457580" y="1964817"/>
            <a:ext cx="8686800" cy="0"/>
          </a:xfrm>
          <a:custGeom>
            <a:avLst/>
            <a:gdLst/>
            <a:ahLst/>
            <a:cxnLst/>
            <a:rect l="l" t="t" r="r" b="b"/>
            <a:pathLst>
              <a:path w="8686800">
                <a:moveTo>
                  <a:pt x="0" y="0"/>
                </a:moveTo>
                <a:lnTo>
                  <a:pt x="8686800" y="0"/>
                </a:lnTo>
              </a:path>
            </a:pathLst>
          </a:custGeom>
          <a:ln w="25146">
            <a:solidFill>
              <a:srgbClr val="9BBA58"/>
            </a:solidFill>
          </a:ln>
        </p:spPr>
        <p:txBody>
          <a:bodyPr wrap="square" lIns="0" tIns="0" rIns="0" bIns="0" rtlCol="0"/>
          <a:lstStyle/>
          <a:p>
            <a:endParaRPr/>
          </a:p>
        </p:txBody>
      </p:sp>
      <p:sp>
        <p:nvSpPr>
          <p:cNvPr id="5" name="object 5"/>
          <p:cNvSpPr/>
          <p:nvPr/>
        </p:nvSpPr>
        <p:spPr>
          <a:xfrm>
            <a:off x="457580" y="2557652"/>
            <a:ext cx="8686800" cy="0"/>
          </a:xfrm>
          <a:custGeom>
            <a:avLst/>
            <a:gdLst/>
            <a:ahLst/>
            <a:cxnLst/>
            <a:rect l="l" t="t" r="r" b="b"/>
            <a:pathLst>
              <a:path w="8686800">
                <a:moveTo>
                  <a:pt x="0" y="0"/>
                </a:moveTo>
                <a:lnTo>
                  <a:pt x="8686800" y="0"/>
                </a:lnTo>
              </a:path>
            </a:pathLst>
          </a:custGeom>
          <a:ln w="25146">
            <a:solidFill>
              <a:srgbClr val="8063A1"/>
            </a:solidFill>
          </a:ln>
        </p:spPr>
        <p:txBody>
          <a:bodyPr wrap="square" lIns="0" tIns="0" rIns="0" bIns="0" rtlCol="0"/>
          <a:lstStyle/>
          <a:p>
            <a:endParaRPr/>
          </a:p>
        </p:txBody>
      </p:sp>
      <p:sp>
        <p:nvSpPr>
          <p:cNvPr id="6" name="object 6"/>
          <p:cNvSpPr/>
          <p:nvPr/>
        </p:nvSpPr>
        <p:spPr>
          <a:xfrm>
            <a:off x="457580" y="3150489"/>
            <a:ext cx="8686800" cy="0"/>
          </a:xfrm>
          <a:custGeom>
            <a:avLst/>
            <a:gdLst/>
            <a:ahLst/>
            <a:cxnLst/>
            <a:rect l="l" t="t" r="r" b="b"/>
            <a:pathLst>
              <a:path w="8686800">
                <a:moveTo>
                  <a:pt x="0" y="0"/>
                </a:moveTo>
                <a:lnTo>
                  <a:pt x="8686800" y="0"/>
                </a:lnTo>
              </a:path>
            </a:pathLst>
          </a:custGeom>
          <a:ln w="25146">
            <a:solidFill>
              <a:srgbClr val="4AACC5"/>
            </a:solidFill>
          </a:ln>
        </p:spPr>
        <p:txBody>
          <a:bodyPr wrap="square" lIns="0" tIns="0" rIns="0" bIns="0" rtlCol="0"/>
          <a:lstStyle/>
          <a:p>
            <a:endParaRPr/>
          </a:p>
        </p:txBody>
      </p:sp>
      <p:sp>
        <p:nvSpPr>
          <p:cNvPr id="7" name="object 7"/>
          <p:cNvSpPr/>
          <p:nvPr/>
        </p:nvSpPr>
        <p:spPr>
          <a:xfrm>
            <a:off x="457580" y="3743325"/>
            <a:ext cx="8686800" cy="0"/>
          </a:xfrm>
          <a:custGeom>
            <a:avLst/>
            <a:gdLst/>
            <a:ahLst/>
            <a:cxnLst/>
            <a:rect l="l" t="t" r="r" b="b"/>
            <a:pathLst>
              <a:path w="8686800">
                <a:moveTo>
                  <a:pt x="0" y="0"/>
                </a:moveTo>
                <a:lnTo>
                  <a:pt x="8686800" y="0"/>
                </a:lnTo>
              </a:path>
            </a:pathLst>
          </a:custGeom>
          <a:ln w="25146">
            <a:solidFill>
              <a:srgbClr val="F79546"/>
            </a:solidFill>
          </a:ln>
        </p:spPr>
        <p:txBody>
          <a:bodyPr wrap="square" lIns="0" tIns="0" rIns="0" bIns="0" rtlCol="0"/>
          <a:lstStyle/>
          <a:p>
            <a:endParaRPr/>
          </a:p>
        </p:txBody>
      </p:sp>
      <p:sp>
        <p:nvSpPr>
          <p:cNvPr id="8" name="object 8"/>
          <p:cNvSpPr/>
          <p:nvPr/>
        </p:nvSpPr>
        <p:spPr>
          <a:xfrm>
            <a:off x="457580" y="4335398"/>
            <a:ext cx="8686800" cy="0"/>
          </a:xfrm>
          <a:custGeom>
            <a:avLst/>
            <a:gdLst/>
            <a:ahLst/>
            <a:cxnLst/>
            <a:rect l="l" t="t" r="r" b="b"/>
            <a:pathLst>
              <a:path w="8686800">
                <a:moveTo>
                  <a:pt x="0" y="0"/>
                </a:moveTo>
                <a:lnTo>
                  <a:pt x="8686800" y="0"/>
                </a:lnTo>
              </a:path>
            </a:pathLst>
          </a:custGeom>
          <a:ln w="25146">
            <a:solidFill>
              <a:srgbClr val="C0504D"/>
            </a:solidFill>
          </a:ln>
        </p:spPr>
        <p:txBody>
          <a:bodyPr wrap="square" lIns="0" tIns="0" rIns="0" bIns="0" rtlCol="0"/>
          <a:lstStyle/>
          <a:p>
            <a:endParaRPr/>
          </a:p>
        </p:txBody>
      </p:sp>
      <p:sp>
        <p:nvSpPr>
          <p:cNvPr id="9" name="object 9"/>
          <p:cNvSpPr/>
          <p:nvPr/>
        </p:nvSpPr>
        <p:spPr>
          <a:xfrm>
            <a:off x="457580" y="4928234"/>
            <a:ext cx="8686800" cy="0"/>
          </a:xfrm>
          <a:custGeom>
            <a:avLst/>
            <a:gdLst/>
            <a:ahLst/>
            <a:cxnLst/>
            <a:rect l="l" t="t" r="r" b="b"/>
            <a:pathLst>
              <a:path w="8686800">
                <a:moveTo>
                  <a:pt x="0" y="0"/>
                </a:moveTo>
                <a:lnTo>
                  <a:pt x="8686800" y="0"/>
                </a:lnTo>
              </a:path>
            </a:pathLst>
          </a:custGeom>
          <a:ln w="25146">
            <a:solidFill>
              <a:srgbClr val="9BBA58"/>
            </a:solidFill>
          </a:ln>
        </p:spPr>
        <p:txBody>
          <a:bodyPr wrap="square" lIns="0" tIns="0" rIns="0" bIns="0" rtlCol="0"/>
          <a:lstStyle/>
          <a:p>
            <a:endParaRPr/>
          </a:p>
        </p:txBody>
      </p:sp>
      <p:sp>
        <p:nvSpPr>
          <p:cNvPr id="10" name="object 10"/>
          <p:cNvSpPr/>
          <p:nvPr/>
        </p:nvSpPr>
        <p:spPr>
          <a:xfrm>
            <a:off x="457580" y="5521071"/>
            <a:ext cx="8686800" cy="0"/>
          </a:xfrm>
          <a:custGeom>
            <a:avLst/>
            <a:gdLst/>
            <a:ahLst/>
            <a:cxnLst/>
            <a:rect l="l" t="t" r="r" b="b"/>
            <a:pathLst>
              <a:path w="8686800">
                <a:moveTo>
                  <a:pt x="0" y="0"/>
                </a:moveTo>
                <a:lnTo>
                  <a:pt x="8686800" y="0"/>
                </a:lnTo>
              </a:path>
            </a:pathLst>
          </a:custGeom>
          <a:ln w="25146">
            <a:solidFill>
              <a:srgbClr val="8063A1"/>
            </a:solidFill>
          </a:ln>
        </p:spPr>
        <p:txBody>
          <a:bodyPr wrap="square" lIns="0" tIns="0" rIns="0" bIns="0" rtlCol="0"/>
          <a:lstStyle/>
          <a:p>
            <a:endParaRPr/>
          </a:p>
        </p:txBody>
      </p:sp>
      <p:sp>
        <p:nvSpPr>
          <p:cNvPr id="11" name="object 11"/>
          <p:cNvSpPr/>
          <p:nvPr/>
        </p:nvSpPr>
        <p:spPr>
          <a:xfrm>
            <a:off x="457580" y="6113145"/>
            <a:ext cx="8686800" cy="0"/>
          </a:xfrm>
          <a:custGeom>
            <a:avLst/>
            <a:gdLst/>
            <a:ahLst/>
            <a:cxnLst/>
            <a:rect l="l" t="t" r="r" b="b"/>
            <a:pathLst>
              <a:path w="8686800">
                <a:moveTo>
                  <a:pt x="0" y="0"/>
                </a:moveTo>
                <a:lnTo>
                  <a:pt x="8686800" y="0"/>
                </a:lnTo>
              </a:path>
            </a:pathLst>
          </a:custGeom>
          <a:ln w="25146">
            <a:solidFill>
              <a:srgbClr val="4AACC5"/>
            </a:solidFill>
          </a:ln>
        </p:spPr>
        <p:txBody>
          <a:bodyPr wrap="square" lIns="0" tIns="0" rIns="0" bIns="0" rtlCol="0"/>
          <a:lstStyle/>
          <a:p>
            <a:endParaRPr/>
          </a:p>
        </p:txBody>
      </p:sp>
      <p:sp>
        <p:nvSpPr>
          <p:cNvPr id="12" name="object 12"/>
          <p:cNvSpPr txBox="1"/>
          <p:nvPr/>
        </p:nvSpPr>
        <p:spPr>
          <a:xfrm>
            <a:off x="459740" y="817631"/>
            <a:ext cx="8385809" cy="5645150"/>
          </a:xfrm>
          <a:prstGeom prst="rect">
            <a:avLst/>
          </a:prstGeom>
        </p:spPr>
        <p:txBody>
          <a:bodyPr vert="horz" wrap="square" lIns="0" tIns="126364" rIns="0" bIns="0" rtlCol="0">
            <a:spAutoFit/>
          </a:bodyPr>
          <a:lstStyle/>
          <a:p>
            <a:pPr marL="353695" indent="-341630">
              <a:lnSpc>
                <a:spcPct val="100000"/>
              </a:lnSpc>
              <a:spcBef>
                <a:spcPts val="994"/>
              </a:spcBef>
              <a:buFont typeface="Wingdings"/>
              <a:buChar char=""/>
              <a:tabLst>
                <a:tab pos="354330" algn="l"/>
              </a:tabLst>
            </a:pPr>
            <a:r>
              <a:rPr sz="2400" b="1" spc="-5" dirty="0">
                <a:latin typeface="Goudy Old Style"/>
                <a:cs typeface="Goudy Old Style"/>
              </a:rPr>
              <a:t>Characteristics of </a:t>
            </a:r>
            <a:r>
              <a:rPr sz="2400" b="1" dirty="0">
                <a:latin typeface="Goudy Old Style"/>
                <a:cs typeface="Goudy Old Style"/>
              </a:rPr>
              <a:t>a</a:t>
            </a:r>
            <a:r>
              <a:rPr sz="2400" b="1" spc="-25" dirty="0">
                <a:latin typeface="Goudy Old Style"/>
                <a:cs typeface="Goudy Old Style"/>
              </a:rPr>
              <a:t> </a:t>
            </a:r>
            <a:r>
              <a:rPr sz="2400" b="1" dirty="0">
                <a:latin typeface="Goudy Old Style"/>
                <a:cs typeface="Goudy Old Style"/>
              </a:rPr>
              <a:t>table:</a:t>
            </a:r>
            <a:endParaRPr sz="2400">
              <a:latin typeface="Goudy Old Style"/>
              <a:cs typeface="Goudy Old Style"/>
            </a:endParaRPr>
          </a:p>
          <a:p>
            <a:pPr marL="73025">
              <a:lnSpc>
                <a:spcPct val="100000"/>
              </a:lnSpc>
              <a:spcBef>
                <a:spcPts val="740"/>
              </a:spcBef>
            </a:pPr>
            <a:r>
              <a:rPr sz="2000" spc="-5" dirty="0">
                <a:latin typeface="Goudy Old Style"/>
                <a:cs typeface="Goudy Old Style"/>
              </a:rPr>
              <a:t>A </a:t>
            </a:r>
            <a:r>
              <a:rPr sz="2000" spc="-10" dirty="0">
                <a:latin typeface="Goudy Old Style"/>
                <a:cs typeface="Goudy Old Style"/>
              </a:rPr>
              <a:t>two-dimensional </a:t>
            </a:r>
            <a:r>
              <a:rPr sz="2000" spc="-15" dirty="0">
                <a:latin typeface="Goudy Old Style"/>
                <a:cs typeface="Goudy Old Style"/>
              </a:rPr>
              <a:t>structure </a:t>
            </a:r>
            <a:r>
              <a:rPr sz="2000" spc="-10" dirty="0">
                <a:latin typeface="Goudy Old Style"/>
                <a:cs typeface="Goudy Old Style"/>
              </a:rPr>
              <a:t>composed </a:t>
            </a:r>
            <a:r>
              <a:rPr sz="2000" spc="-5" dirty="0">
                <a:latin typeface="Goudy Old Style"/>
                <a:cs typeface="Goudy Old Style"/>
              </a:rPr>
              <a:t>of </a:t>
            </a:r>
            <a:r>
              <a:rPr sz="2000" spc="-15" dirty="0">
                <a:latin typeface="Goudy Old Style"/>
                <a:cs typeface="Goudy Old Style"/>
              </a:rPr>
              <a:t>rows </a:t>
            </a:r>
            <a:r>
              <a:rPr sz="2000" spc="-5" dirty="0">
                <a:latin typeface="Goudy Old Style"/>
                <a:cs typeface="Goudy Old Style"/>
              </a:rPr>
              <a:t>and columns is </a:t>
            </a:r>
            <a:r>
              <a:rPr sz="2000" spc="-10" dirty="0">
                <a:latin typeface="Goudy Old Style"/>
                <a:cs typeface="Goudy Old Style"/>
              </a:rPr>
              <a:t>perceived </a:t>
            </a:r>
            <a:r>
              <a:rPr sz="2000" spc="-5" dirty="0">
                <a:latin typeface="Goudy Old Style"/>
                <a:cs typeface="Goudy Old Style"/>
              </a:rPr>
              <a:t>as a</a:t>
            </a:r>
            <a:r>
              <a:rPr sz="2000" spc="160" dirty="0">
                <a:latin typeface="Goudy Old Style"/>
                <a:cs typeface="Goudy Old Style"/>
              </a:rPr>
              <a:t> </a:t>
            </a:r>
            <a:r>
              <a:rPr sz="2000" spc="-5" dirty="0">
                <a:latin typeface="Goudy Old Style"/>
                <a:cs typeface="Goudy Old Style"/>
              </a:rPr>
              <a:t>table.</a:t>
            </a:r>
            <a:endParaRPr sz="2000">
              <a:latin typeface="Goudy Old Style"/>
              <a:cs typeface="Goudy Old Style"/>
            </a:endParaRPr>
          </a:p>
          <a:p>
            <a:pPr marL="73025" marR="2621915">
              <a:lnSpc>
                <a:spcPts val="4670"/>
              </a:lnSpc>
              <a:spcBef>
                <a:spcPts val="530"/>
              </a:spcBef>
            </a:pPr>
            <a:r>
              <a:rPr sz="2000" spc="-15" dirty="0">
                <a:latin typeface="Goudy Old Style"/>
                <a:cs typeface="Goudy Old Style"/>
              </a:rPr>
              <a:t>Each </a:t>
            </a:r>
            <a:r>
              <a:rPr sz="2000" spc="-5" dirty="0">
                <a:latin typeface="Goudy Old Style"/>
                <a:cs typeface="Goudy Old Style"/>
              </a:rPr>
              <a:t>tuple </a:t>
            </a:r>
            <a:r>
              <a:rPr sz="2000" spc="-10" dirty="0">
                <a:latin typeface="Goudy Old Style"/>
                <a:cs typeface="Goudy Old Style"/>
              </a:rPr>
              <a:t>represents </a:t>
            </a:r>
            <a:r>
              <a:rPr sz="2000" spc="-5" dirty="0">
                <a:latin typeface="Goudy Old Style"/>
                <a:cs typeface="Goudy Old Style"/>
              </a:rPr>
              <a:t>a </a:t>
            </a:r>
            <a:r>
              <a:rPr sz="2000" dirty="0">
                <a:latin typeface="Goudy Old Style"/>
                <a:cs typeface="Goudy Old Style"/>
              </a:rPr>
              <a:t>single </a:t>
            </a:r>
            <a:r>
              <a:rPr sz="2000" spc="-5" dirty="0">
                <a:latin typeface="Goudy Old Style"/>
                <a:cs typeface="Goudy Old Style"/>
              </a:rPr>
              <a:t>entity within the entity set.  </a:t>
            </a:r>
            <a:r>
              <a:rPr sz="2000" spc="-15" dirty="0">
                <a:latin typeface="Goudy Old Style"/>
                <a:cs typeface="Goudy Old Style"/>
              </a:rPr>
              <a:t>Each </a:t>
            </a:r>
            <a:r>
              <a:rPr sz="2000" spc="-5" dirty="0">
                <a:latin typeface="Goudy Old Style"/>
                <a:cs typeface="Goudy Old Style"/>
              </a:rPr>
              <a:t>column has a distinct</a:t>
            </a:r>
            <a:r>
              <a:rPr sz="2000" spc="45" dirty="0">
                <a:latin typeface="Goudy Old Style"/>
                <a:cs typeface="Goudy Old Style"/>
              </a:rPr>
              <a:t> </a:t>
            </a:r>
            <a:r>
              <a:rPr sz="2000" spc="-10" dirty="0">
                <a:latin typeface="Goudy Old Style"/>
                <a:cs typeface="Goudy Old Style"/>
              </a:rPr>
              <a:t>name.</a:t>
            </a:r>
            <a:endParaRPr sz="2000">
              <a:latin typeface="Goudy Old Style"/>
              <a:cs typeface="Goudy Old Style"/>
            </a:endParaRPr>
          </a:p>
          <a:p>
            <a:pPr marL="73025">
              <a:lnSpc>
                <a:spcPct val="100000"/>
              </a:lnSpc>
              <a:spcBef>
                <a:spcPts val="1730"/>
              </a:spcBef>
            </a:pPr>
            <a:r>
              <a:rPr sz="2000" spc="-15" dirty="0">
                <a:latin typeface="Goudy Old Style"/>
                <a:cs typeface="Goudy Old Style"/>
              </a:rPr>
              <a:t>Each </a:t>
            </a:r>
            <a:r>
              <a:rPr sz="2000" spc="-10" dirty="0">
                <a:latin typeface="Goudy Old Style"/>
                <a:cs typeface="Goudy Old Style"/>
              </a:rPr>
              <a:t>row/column </a:t>
            </a:r>
            <a:r>
              <a:rPr sz="2000" spc="-5" dirty="0">
                <a:latin typeface="Goudy Old Style"/>
                <a:cs typeface="Goudy Old Style"/>
              </a:rPr>
              <a:t>intersection </a:t>
            </a:r>
            <a:r>
              <a:rPr sz="2000" spc="-10" dirty="0">
                <a:latin typeface="Goudy Old Style"/>
                <a:cs typeface="Goudy Old Style"/>
              </a:rPr>
              <a:t>represents </a:t>
            </a:r>
            <a:r>
              <a:rPr sz="2000" spc="-5" dirty="0">
                <a:latin typeface="Goudy Old Style"/>
                <a:cs typeface="Goudy Old Style"/>
              </a:rPr>
              <a:t>a </a:t>
            </a:r>
            <a:r>
              <a:rPr sz="2000" dirty="0">
                <a:latin typeface="Goudy Old Style"/>
                <a:cs typeface="Goudy Old Style"/>
              </a:rPr>
              <a:t>single data</a:t>
            </a:r>
            <a:r>
              <a:rPr sz="2000" spc="35" dirty="0">
                <a:latin typeface="Goudy Old Style"/>
                <a:cs typeface="Goudy Old Style"/>
              </a:rPr>
              <a:t> </a:t>
            </a:r>
            <a:r>
              <a:rPr sz="2000" spc="-5" dirty="0">
                <a:latin typeface="Goudy Old Style"/>
                <a:cs typeface="Goudy Old Style"/>
              </a:rPr>
              <a:t>value.</a:t>
            </a:r>
            <a:endParaRPr sz="2000">
              <a:latin typeface="Goudy Old Style"/>
              <a:cs typeface="Goudy Old Style"/>
            </a:endParaRPr>
          </a:p>
          <a:p>
            <a:pPr marL="73025" marR="5080">
              <a:lnSpc>
                <a:spcPct val="194400"/>
              </a:lnSpc>
            </a:pPr>
            <a:r>
              <a:rPr sz="2000" spc="-15" dirty="0">
                <a:latin typeface="Goudy Old Style"/>
                <a:cs typeface="Goudy Old Style"/>
              </a:rPr>
              <a:t>Each </a:t>
            </a:r>
            <a:r>
              <a:rPr sz="2000" dirty="0">
                <a:latin typeface="Goudy Old Style"/>
                <a:cs typeface="Goudy Old Style"/>
              </a:rPr>
              <a:t>table </a:t>
            </a:r>
            <a:r>
              <a:rPr sz="2000" spc="-5" dirty="0">
                <a:latin typeface="Goudy Old Style"/>
                <a:cs typeface="Goudy Old Style"/>
              </a:rPr>
              <a:t>must </a:t>
            </a:r>
            <a:r>
              <a:rPr sz="2000" spc="-15" dirty="0">
                <a:latin typeface="Goudy Old Style"/>
                <a:cs typeface="Goudy Old Style"/>
              </a:rPr>
              <a:t>have </a:t>
            </a:r>
            <a:r>
              <a:rPr sz="2000" spc="-5" dirty="0">
                <a:latin typeface="Goudy Old Style"/>
                <a:cs typeface="Goudy Old Style"/>
              </a:rPr>
              <a:t>a </a:t>
            </a:r>
            <a:r>
              <a:rPr sz="2000" spc="-15" dirty="0">
                <a:latin typeface="Goudy Old Style"/>
                <a:cs typeface="Goudy Old Style"/>
              </a:rPr>
              <a:t>key </a:t>
            </a:r>
            <a:r>
              <a:rPr sz="2000" spc="-10" dirty="0">
                <a:latin typeface="Goudy Old Style"/>
                <a:cs typeface="Goudy Old Style"/>
              </a:rPr>
              <a:t>known </a:t>
            </a:r>
            <a:r>
              <a:rPr sz="2000" spc="-5" dirty="0">
                <a:latin typeface="Goudy Old Style"/>
                <a:cs typeface="Goudy Old Style"/>
              </a:rPr>
              <a:t>as </a:t>
            </a:r>
            <a:r>
              <a:rPr sz="2000" spc="5" dirty="0">
                <a:latin typeface="Goudy Old Style"/>
                <a:cs typeface="Goudy Old Style"/>
              </a:rPr>
              <a:t>primary </a:t>
            </a:r>
            <a:r>
              <a:rPr sz="2000" spc="-20" dirty="0">
                <a:latin typeface="Goudy Old Style"/>
                <a:cs typeface="Goudy Old Style"/>
              </a:rPr>
              <a:t>key </a:t>
            </a:r>
            <a:r>
              <a:rPr sz="2000" spc="-5" dirty="0">
                <a:latin typeface="Goudy Old Style"/>
                <a:cs typeface="Goudy Old Style"/>
              </a:rPr>
              <a:t>that </a:t>
            </a:r>
            <a:r>
              <a:rPr sz="2000" spc="-10" dirty="0">
                <a:latin typeface="Goudy Old Style"/>
                <a:cs typeface="Goudy Old Style"/>
              </a:rPr>
              <a:t>uniquely </a:t>
            </a:r>
            <a:r>
              <a:rPr sz="2000" spc="-5" dirty="0">
                <a:latin typeface="Goudy Old Style"/>
                <a:cs typeface="Goudy Old Style"/>
              </a:rPr>
              <a:t>identifies </a:t>
            </a:r>
            <a:r>
              <a:rPr sz="2000" spc="-15" dirty="0">
                <a:latin typeface="Goudy Old Style"/>
                <a:cs typeface="Goudy Old Style"/>
              </a:rPr>
              <a:t>each </a:t>
            </a:r>
            <a:r>
              <a:rPr sz="2000" spc="-40" dirty="0">
                <a:latin typeface="Goudy Old Style"/>
                <a:cs typeface="Goudy Old Style"/>
              </a:rPr>
              <a:t>row.  </a:t>
            </a:r>
            <a:r>
              <a:rPr sz="2000" spc="-5" dirty="0">
                <a:latin typeface="Goudy Old Style"/>
                <a:cs typeface="Goudy Old Style"/>
              </a:rPr>
              <a:t>All </a:t>
            </a:r>
            <a:r>
              <a:rPr sz="2000" dirty="0">
                <a:latin typeface="Goudy Old Style"/>
                <a:cs typeface="Goudy Old Style"/>
              </a:rPr>
              <a:t>values </a:t>
            </a:r>
            <a:r>
              <a:rPr sz="2000" spc="-5" dirty="0">
                <a:latin typeface="Goudy Old Style"/>
                <a:cs typeface="Goudy Old Style"/>
              </a:rPr>
              <a:t>in a column must </a:t>
            </a:r>
            <a:r>
              <a:rPr sz="2000" spc="-10" dirty="0">
                <a:latin typeface="Goudy Old Style"/>
                <a:cs typeface="Goudy Old Style"/>
              </a:rPr>
              <a:t>conform </a:t>
            </a:r>
            <a:r>
              <a:rPr sz="2000" spc="-15" dirty="0">
                <a:latin typeface="Goudy Old Style"/>
                <a:cs typeface="Goudy Old Style"/>
              </a:rPr>
              <a:t>to </a:t>
            </a:r>
            <a:r>
              <a:rPr sz="2000" spc="-5" dirty="0">
                <a:latin typeface="Goudy Old Style"/>
                <a:cs typeface="Goudy Old Style"/>
              </a:rPr>
              <a:t>the same </a:t>
            </a:r>
            <a:r>
              <a:rPr sz="2000" spc="5" dirty="0">
                <a:latin typeface="Goudy Old Style"/>
                <a:cs typeface="Goudy Old Style"/>
              </a:rPr>
              <a:t>data</a:t>
            </a:r>
            <a:r>
              <a:rPr sz="2000" spc="75" dirty="0">
                <a:latin typeface="Goudy Old Style"/>
                <a:cs typeface="Goudy Old Style"/>
              </a:rPr>
              <a:t> </a:t>
            </a:r>
            <a:r>
              <a:rPr sz="2000" spc="-15" dirty="0">
                <a:latin typeface="Goudy Old Style"/>
                <a:cs typeface="Goudy Old Style"/>
              </a:rPr>
              <a:t>format.</a:t>
            </a:r>
            <a:endParaRPr sz="2000">
              <a:latin typeface="Goudy Old Style"/>
              <a:cs typeface="Goudy Old Style"/>
            </a:endParaRPr>
          </a:p>
          <a:p>
            <a:pPr marL="73025" marR="857250">
              <a:lnSpc>
                <a:spcPct val="194400"/>
              </a:lnSpc>
              <a:spcBef>
                <a:spcPts val="5"/>
              </a:spcBef>
            </a:pPr>
            <a:r>
              <a:rPr sz="2000" spc="-15" dirty="0">
                <a:latin typeface="Goudy Old Style"/>
                <a:cs typeface="Goudy Old Style"/>
              </a:rPr>
              <a:t>Each </a:t>
            </a:r>
            <a:r>
              <a:rPr sz="2000" spc="-5" dirty="0">
                <a:latin typeface="Goudy Old Style"/>
                <a:cs typeface="Goudy Old Style"/>
              </a:rPr>
              <a:t>column has a </a:t>
            </a:r>
            <a:r>
              <a:rPr sz="2000" dirty="0">
                <a:latin typeface="Goudy Old Style"/>
                <a:cs typeface="Goudy Old Style"/>
              </a:rPr>
              <a:t>specific </a:t>
            </a:r>
            <a:r>
              <a:rPr sz="2000" spc="-5" dirty="0">
                <a:latin typeface="Goudy Old Style"/>
                <a:cs typeface="Goudy Old Style"/>
              </a:rPr>
              <a:t>range of </a:t>
            </a:r>
            <a:r>
              <a:rPr sz="2000" dirty="0">
                <a:latin typeface="Goudy Old Style"/>
                <a:cs typeface="Goudy Old Style"/>
              </a:rPr>
              <a:t>values </a:t>
            </a:r>
            <a:r>
              <a:rPr sz="2000" spc="-10" dirty="0">
                <a:latin typeface="Goudy Old Style"/>
                <a:cs typeface="Goudy Old Style"/>
              </a:rPr>
              <a:t>known </a:t>
            </a:r>
            <a:r>
              <a:rPr sz="2000" spc="-5" dirty="0">
                <a:latin typeface="Goudy Old Style"/>
                <a:cs typeface="Goudy Old Style"/>
              </a:rPr>
              <a:t>as the </a:t>
            </a:r>
            <a:r>
              <a:rPr sz="2000" spc="-10" dirty="0">
                <a:latin typeface="Goudy Old Style"/>
                <a:cs typeface="Goudy Old Style"/>
              </a:rPr>
              <a:t>attribute domain.  </a:t>
            </a:r>
            <a:r>
              <a:rPr sz="2000" spc="-15" dirty="0">
                <a:latin typeface="Goudy Old Style"/>
                <a:cs typeface="Goudy Old Style"/>
              </a:rPr>
              <a:t>Each </a:t>
            </a:r>
            <a:r>
              <a:rPr sz="2000" spc="-25" dirty="0">
                <a:latin typeface="Goudy Old Style"/>
                <a:cs typeface="Goudy Old Style"/>
              </a:rPr>
              <a:t>row </a:t>
            </a:r>
            <a:r>
              <a:rPr sz="2000" spc="-5" dirty="0">
                <a:latin typeface="Goudy Old Style"/>
                <a:cs typeface="Goudy Old Style"/>
              </a:rPr>
              <a:t>carries </a:t>
            </a:r>
            <a:r>
              <a:rPr sz="2000" spc="-10" dirty="0">
                <a:latin typeface="Goudy Old Style"/>
                <a:cs typeface="Goudy Old Style"/>
              </a:rPr>
              <a:t>information </a:t>
            </a:r>
            <a:r>
              <a:rPr sz="2000" spc="-5" dirty="0">
                <a:latin typeface="Goudy Old Style"/>
                <a:cs typeface="Goudy Old Style"/>
              </a:rPr>
              <a:t>describing one entity</a:t>
            </a:r>
            <a:r>
              <a:rPr sz="2000" spc="35" dirty="0">
                <a:latin typeface="Goudy Old Style"/>
                <a:cs typeface="Goudy Old Style"/>
              </a:rPr>
              <a:t> </a:t>
            </a:r>
            <a:r>
              <a:rPr sz="2000" spc="-10" dirty="0">
                <a:latin typeface="Goudy Old Style"/>
                <a:cs typeface="Goudy Old Style"/>
              </a:rPr>
              <a:t>occurrence.</a:t>
            </a:r>
            <a:endParaRPr sz="2000">
              <a:latin typeface="Goudy Old Style"/>
              <a:cs typeface="Goudy Old Style"/>
            </a:endParaRPr>
          </a:p>
          <a:p>
            <a:pPr>
              <a:lnSpc>
                <a:spcPct val="100000"/>
              </a:lnSpc>
              <a:spcBef>
                <a:spcPts val="45"/>
              </a:spcBef>
            </a:pPr>
            <a:endParaRPr sz="1850">
              <a:latin typeface="Goudy Old Style"/>
              <a:cs typeface="Goudy Old Style"/>
            </a:endParaRPr>
          </a:p>
          <a:p>
            <a:pPr marL="73025">
              <a:lnSpc>
                <a:spcPct val="100000"/>
              </a:lnSpc>
            </a:pPr>
            <a:r>
              <a:rPr sz="2000" spc="-5" dirty="0">
                <a:latin typeface="Goudy Old Style"/>
                <a:cs typeface="Goudy Old Style"/>
              </a:rPr>
              <a:t>The </a:t>
            </a:r>
            <a:r>
              <a:rPr sz="2000" spc="-15" dirty="0">
                <a:latin typeface="Goudy Old Style"/>
                <a:cs typeface="Goudy Old Style"/>
              </a:rPr>
              <a:t>order </a:t>
            </a:r>
            <a:r>
              <a:rPr sz="2000" spc="-5" dirty="0">
                <a:latin typeface="Goudy Old Style"/>
                <a:cs typeface="Goudy Old Style"/>
              </a:rPr>
              <a:t>of the </a:t>
            </a:r>
            <a:r>
              <a:rPr sz="2000" spc="-20" dirty="0">
                <a:latin typeface="Goudy Old Style"/>
                <a:cs typeface="Goudy Old Style"/>
              </a:rPr>
              <a:t>rows </a:t>
            </a:r>
            <a:r>
              <a:rPr sz="2000" spc="-5" dirty="0">
                <a:latin typeface="Goudy Old Style"/>
                <a:cs typeface="Goudy Old Style"/>
              </a:rPr>
              <a:t>and columns is immaterial in a</a:t>
            </a:r>
            <a:r>
              <a:rPr sz="2000" spc="60" dirty="0">
                <a:latin typeface="Goudy Old Style"/>
                <a:cs typeface="Goudy Old Style"/>
              </a:rPr>
              <a:t> </a:t>
            </a:r>
            <a:r>
              <a:rPr sz="2000" spc="-10" dirty="0">
                <a:latin typeface="Goudy Old Style"/>
                <a:cs typeface="Goudy Old Style"/>
              </a:rPr>
              <a:t>DBMS.</a:t>
            </a:r>
            <a:endParaRPr sz="2000">
              <a:latin typeface="Goudy Old Style"/>
              <a:cs typeface="Goudy Old Style"/>
            </a:endParaRPr>
          </a:p>
        </p:txBody>
      </p:sp>
      <p:sp>
        <p:nvSpPr>
          <p:cNvPr id="14" name="object 14"/>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39</a:t>
            </a:fld>
            <a:endParaRPr sz="1200"/>
          </a:p>
        </p:txBody>
      </p:sp>
      <p:sp>
        <p:nvSpPr>
          <p:cNvPr id="15" name="object 15"/>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154939"/>
            <a:ext cx="7395845" cy="513080"/>
          </a:xfrm>
          <a:prstGeom prst="rect">
            <a:avLst/>
          </a:prstGeom>
        </p:spPr>
        <p:txBody>
          <a:bodyPr vert="horz" wrap="square" lIns="0" tIns="12065" rIns="0" bIns="0" rtlCol="0">
            <a:spAutoFit/>
          </a:bodyPr>
          <a:lstStyle/>
          <a:p>
            <a:pPr marL="12700">
              <a:lnSpc>
                <a:spcPct val="100000"/>
              </a:lnSpc>
              <a:spcBef>
                <a:spcPts val="95"/>
              </a:spcBef>
            </a:pPr>
            <a:r>
              <a:rPr sz="3200" b="0" spc="-10" dirty="0">
                <a:latin typeface="Goudy Old Style"/>
                <a:cs typeface="Goudy Old Style"/>
              </a:rPr>
              <a:t>Differences </a:t>
            </a:r>
            <a:r>
              <a:rPr sz="3200" b="0" spc="-15" dirty="0">
                <a:latin typeface="Goudy Old Style"/>
                <a:cs typeface="Goudy Old Style"/>
              </a:rPr>
              <a:t>between </a:t>
            </a:r>
            <a:r>
              <a:rPr sz="3200" b="0" spc="-5" dirty="0">
                <a:latin typeface="Goudy Old Style"/>
                <a:cs typeface="Goudy Old Style"/>
              </a:rPr>
              <a:t>a </a:t>
            </a:r>
            <a:r>
              <a:rPr sz="3200" b="0" spc="-10" dirty="0">
                <a:latin typeface="Goudy Old Style"/>
                <a:cs typeface="Goudy Old Style"/>
              </a:rPr>
              <a:t>DBMS </a:t>
            </a:r>
            <a:r>
              <a:rPr sz="3200" b="0" spc="-5" dirty="0">
                <a:latin typeface="Goudy Old Style"/>
                <a:cs typeface="Goudy Old Style"/>
              </a:rPr>
              <a:t>and </a:t>
            </a:r>
            <a:r>
              <a:rPr sz="3200" b="0" dirty="0">
                <a:latin typeface="Goudy Old Style"/>
                <a:cs typeface="Goudy Old Style"/>
              </a:rPr>
              <a:t>an</a:t>
            </a:r>
            <a:r>
              <a:rPr sz="3200" b="0" spc="-20" dirty="0">
                <a:latin typeface="Goudy Old Style"/>
                <a:cs typeface="Goudy Old Style"/>
              </a:rPr>
              <a:t> </a:t>
            </a:r>
            <a:r>
              <a:rPr sz="3200" b="0" spc="-5" dirty="0">
                <a:latin typeface="Goudy Old Style"/>
                <a:cs typeface="Goudy Old Style"/>
              </a:rPr>
              <a:t>RDBMS</a:t>
            </a:r>
            <a:endParaRPr sz="3200">
              <a:latin typeface="Goudy Old Style"/>
              <a:cs typeface="Goudy Old Style"/>
            </a:endParaRPr>
          </a:p>
        </p:txBody>
      </p:sp>
      <p:sp>
        <p:nvSpPr>
          <p:cNvPr id="5" name="object 5"/>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40</a:t>
            </a:fld>
            <a:endParaRPr sz="120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graphicFrame>
        <p:nvGraphicFramePr>
          <p:cNvPr id="3" name="object 3"/>
          <p:cNvGraphicFramePr>
            <a:graphicFrameLocks noGrp="1"/>
          </p:cNvGraphicFramePr>
          <p:nvPr/>
        </p:nvGraphicFramePr>
        <p:xfrm>
          <a:off x="450850" y="1289050"/>
          <a:ext cx="8229600" cy="4532144"/>
        </p:xfrm>
        <a:graphic>
          <a:graphicData uri="http://schemas.openxmlformats.org/drawingml/2006/table">
            <a:tbl>
              <a:tblPr firstRow="1" bandRow="1">
                <a:tableStyleId>{2D5ABB26-0587-4C30-8999-92F81FD0307C}</a:tableStyleId>
              </a:tblPr>
              <a:tblGrid>
                <a:gridCol w="396240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533400">
                <a:tc>
                  <a:txBody>
                    <a:bodyPr/>
                    <a:lstStyle/>
                    <a:p>
                      <a:pPr algn="ctr">
                        <a:lnSpc>
                          <a:spcPct val="100000"/>
                        </a:lnSpc>
                        <a:spcBef>
                          <a:spcPts val="1155"/>
                        </a:spcBef>
                      </a:pPr>
                      <a:r>
                        <a:rPr sz="1600" b="1" dirty="0">
                          <a:solidFill>
                            <a:srgbClr val="FFFFFF"/>
                          </a:solidFill>
                          <a:latin typeface="Arial"/>
                          <a:cs typeface="Arial"/>
                        </a:rPr>
                        <a:t>DBMS</a:t>
                      </a:r>
                      <a:endParaRPr sz="1600">
                        <a:latin typeface="Arial"/>
                        <a:cs typeface="Arial"/>
                      </a:endParaRPr>
                    </a:p>
                  </a:txBody>
                  <a:tcPr marL="0" marR="0" marT="14668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6375E"/>
                    </a:solidFill>
                  </a:tcPr>
                </a:tc>
                <a:tc>
                  <a:txBody>
                    <a:bodyPr/>
                    <a:lstStyle/>
                    <a:p>
                      <a:pPr marL="635" algn="ctr">
                        <a:lnSpc>
                          <a:spcPct val="100000"/>
                        </a:lnSpc>
                        <a:spcBef>
                          <a:spcPts val="1155"/>
                        </a:spcBef>
                      </a:pPr>
                      <a:r>
                        <a:rPr sz="1600" b="1" dirty="0">
                          <a:solidFill>
                            <a:srgbClr val="FFFFFF"/>
                          </a:solidFill>
                          <a:latin typeface="Arial"/>
                          <a:cs typeface="Arial"/>
                        </a:rPr>
                        <a:t>RDBMS</a:t>
                      </a:r>
                      <a:endParaRPr sz="1600">
                        <a:latin typeface="Arial"/>
                        <a:cs typeface="Arial"/>
                      </a:endParaRPr>
                    </a:p>
                  </a:txBody>
                  <a:tcPr marL="0" marR="0" marT="14668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16375E"/>
                    </a:solidFill>
                  </a:tcPr>
                </a:tc>
                <a:extLst>
                  <a:ext uri="{0D108BD9-81ED-4DB2-BD59-A6C34878D82A}">
                    <a16:rowId xmlns:a16="http://schemas.microsoft.com/office/drawing/2014/main" val="10000"/>
                  </a:ext>
                </a:extLst>
              </a:tr>
              <a:tr h="853439">
                <a:tc>
                  <a:txBody>
                    <a:bodyPr/>
                    <a:lstStyle/>
                    <a:p>
                      <a:pPr marL="91440" marR="789940">
                        <a:lnSpc>
                          <a:spcPct val="100000"/>
                        </a:lnSpc>
                        <a:spcBef>
                          <a:spcPts val="805"/>
                        </a:spcBef>
                      </a:pPr>
                      <a:r>
                        <a:rPr sz="1400" spc="-5" dirty="0">
                          <a:latin typeface="Arial"/>
                          <a:cs typeface="Arial"/>
                        </a:rPr>
                        <a:t>It does not need to have data in tabular  structure nor does it enforce tabular  relationships between data</a:t>
                      </a:r>
                      <a:r>
                        <a:rPr sz="1400" spc="-50" dirty="0">
                          <a:latin typeface="Arial"/>
                          <a:cs typeface="Arial"/>
                        </a:rPr>
                        <a:t> </a:t>
                      </a:r>
                      <a:r>
                        <a:rPr sz="1400" spc="-5" dirty="0">
                          <a:latin typeface="Arial"/>
                          <a:cs typeface="Arial"/>
                        </a:rPr>
                        <a:t>items.</a:t>
                      </a:r>
                      <a:endParaRPr sz="1400">
                        <a:latin typeface="Arial"/>
                        <a:cs typeface="Arial"/>
                      </a:endParaRPr>
                    </a:p>
                  </a:txBody>
                  <a:tcPr marL="0" marR="0" marT="10223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7D2DF"/>
                    </a:solidFill>
                  </a:tcPr>
                </a:tc>
                <a:tc>
                  <a:txBody>
                    <a:bodyPr/>
                    <a:lstStyle/>
                    <a:p>
                      <a:pPr marL="91440" marR="167640">
                        <a:lnSpc>
                          <a:spcPts val="1680"/>
                        </a:lnSpc>
                      </a:pPr>
                      <a:r>
                        <a:rPr sz="1400" spc="-5" dirty="0">
                          <a:latin typeface="Arial"/>
                          <a:cs typeface="Arial"/>
                        </a:rPr>
                        <a:t>In an RDBMS, tabular structure is a must and </a:t>
                      </a:r>
                      <a:r>
                        <a:rPr sz="1400" dirty="0">
                          <a:latin typeface="Arial"/>
                          <a:cs typeface="Arial"/>
                        </a:rPr>
                        <a:t>table  </a:t>
                      </a:r>
                      <a:r>
                        <a:rPr sz="1400" spc="-5" dirty="0">
                          <a:latin typeface="Arial"/>
                          <a:cs typeface="Arial"/>
                        </a:rPr>
                        <a:t>relationships are enforced by the system. These  relationships enable the user to apply and manage  business rules with minimal</a:t>
                      </a:r>
                      <a:r>
                        <a:rPr sz="1400" spc="-35" dirty="0">
                          <a:latin typeface="Arial"/>
                          <a:cs typeface="Arial"/>
                        </a:rPr>
                        <a:t> </a:t>
                      </a:r>
                      <a:r>
                        <a:rPr sz="1400" spc="-5" dirty="0">
                          <a:latin typeface="Arial"/>
                          <a:cs typeface="Arial"/>
                        </a:rPr>
                        <a:t>coding.</a:t>
                      </a:r>
                      <a:endParaRPr sz="14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7D2DF"/>
                    </a:solidFill>
                  </a:tcPr>
                </a:tc>
                <a:extLst>
                  <a:ext uri="{0D108BD9-81ED-4DB2-BD59-A6C34878D82A}">
                    <a16:rowId xmlns:a16="http://schemas.microsoft.com/office/drawing/2014/main" val="10001"/>
                  </a:ext>
                </a:extLst>
              </a:tr>
              <a:tr h="426720">
                <a:tc>
                  <a:txBody>
                    <a:bodyPr/>
                    <a:lstStyle/>
                    <a:p>
                      <a:pPr marL="91440" marR="721995">
                        <a:lnSpc>
                          <a:spcPts val="1680"/>
                        </a:lnSpc>
                      </a:pPr>
                      <a:r>
                        <a:rPr sz="1400" spc="-5" dirty="0">
                          <a:latin typeface="Arial"/>
                          <a:cs typeface="Arial"/>
                        </a:rPr>
                        <a:t>Small amount of data can be stored</a:t>
                      </a:r>
                      <a:r>
                        <a:rPr sz="1400" spc="-50" dirty="0">
                          <a:latin typeface="Arial"/>
                          <a:cs typeface="Arial"/>
                        </a:rPr>
                        <a:t> </a:t>
                      </a:r>
                      <a:r>
                        <a:rPr sz="1400" spc="-5" dirty="0">
                          <a:latin typeface="Arial"/>
                          <a:cs typeface="Arial"/>
                        </a:rPr>
                        <a:t>and  retrieved.</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EAEF"/>
                    </a:solidFill>
                  </a:tcPr>
                </a:tc>
                <a:tc>
                  <a:txBody>
                    <a:bodyPr/>
                    <a:lstStyle/>
                    <a:p>
                      <a:pPr marL="91440" marR="217170">
                        <a:lnSpc>
                          <a:spcPts val="1680"/>
                        </a:lnSpc>
                      </a:pPr>
                      <a:r>
                        <a:rPr sz="1400" spc="-5" dirty="0">
                          <a:latin typeface="Arial"/>
                          <a:cs typeface="Arial"/>
                        </a:rPr>
                        <a:t>An RDBMS can store and retrieve large amount of  data.</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EAEF"/>
                    </a:solidFill>
                  </a:tcPr>
                </a:tc>
                <a:extLst>
                  <a:ext uri="{0D108BD9-81ED-4DB2-BD59-A6C34878D82A}">
                    <a16:rowId xmlns:a16="http://schemas.microsoft.com/office/drawing/2014/main" val="10002"/>
                  </a:ext>
                </a:extLst>
              </a:tr>
              <a:tr h="550544">
                <a:tc>
                  <a:txBody>
                    <a:bodyPr/>
                    <a:lstStyle/>
                    <a:p>
                      <a:pPr marL="91440">
                        <a:lnSpc>
                          <a:spcPct val="100000"/>
                        </a:lnSpc>
                        <a:spcBef>
                          <a:spcPts val="1290"/>
                        </a:spcBef>
                      </a:pPr>
                      <a:r>
                        <a:rPr sz="1400" spc="-5" dirty="0">
                          <a:latin typeface="Arial"/>
                          <a:cs typeface="Arial"/>
                        </a:rPr>
                        <a:t>A DBMS is less secure </a:t>
                      </a:r>
                      <a:r>
                        <a:rPr sz="1400" dirty="0">
                          <a:latin typeface="Arial"/>
                          <a:cs typeface="Arial"/>
                        </a:rPr>
                        <a:t>than </a:t>
                      </a:r>
                      <a:r>
                        <a:rPr sz="1400" spc="-5" dirty="0">
                          <a:latin typeface="Arial"/>
                          <a:cs typeface="Arial"/>
                        </a:rPr>
                        <a:t>an</a:t>
                      </a:r>
                      <a:r>
                        <a:rPr sz="1400" spc="-114" dirty="0">
                          <a:latin typeface="Arial"/>
                          <a:cs typeface="Arial"/>
                        </a:rPr>
                        <a:t> </a:t>
                      </a:r>
                      <a:r>
                        <a:rPr sz="1400" spc="-5" dirty="0">
                          <a:latin typeface="Arial"/>
                          <a:cs typeface="Arial"/>
                        </a:rPr>
                        <a:t>RDBMS.</a:t>
                      </a:r>
                      <a:endParaRPr sz="1400">
                        <a:latin typeface="Arial"/>
                        <a:cs typeface="Arial"/>
                      </a:endParaRPr>
                    </a:p>
                  </a:txBody>
                  <a:tcPr marL="0" marR="0" marT="163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7D2DF"/>
                    </a:solidFill>
                  </a:tcPr>
                </a:tc>
                <a:tc>
                  <a:txBody>
                    <a:bodyPr/>
                    <a:lstStyle/>
                    <a:p>
                      <a:pPr marL="91440">
                        <a:lnSpc>
                          <a:spcPct val="100000"/>
                        </a:lnSpc>
                        <a:spcBef>
                          <a:spcPts val="1290"/>
                        </a:spcBef>
                      </a:pPr>
                      <a:r>
                        <a:rPr sz="1400" spc="-5" dirty="0">
                          <a:latin typeface="Arial"/>
                          <a:cs typeface="Arial"/>
                        </a:rPr>
                        <a:t>An RDBMS is more secure </a:t>
                      </a:r>
                      <a:r>
                        <a:rPr sz="1400" dirty="0">
                          <a:latin typeface="Arial"/>
                          <a:cs typeface="Arial"/>
                        </a:rPr>
                        <a:t>than </a:t>
                      </a:r>
                      <a:r>
                        <a:rPr sz="1400" spc="-5" dirty="0">
                          <a:latin typeface="Arial"/>
                          <a:cs typeface="Arial"/>
                        </a:rPr>
                        <a:t>a</a:t>
                      </a:r>
                      <a:r>
                        <a:rPr sz="1400" spc="-40" dirty="0">
                          <a:latin typeface="Arial"/>
                          <a:cs typeface="Arial"/>
                        </a:rPr>
                        <a:t> </a:t>
                      </a:r>
                      <a:r>
                        <a:rPr sz="1400" spc="-5" dirty="0">
                          <a:latin typeface="Arial"/>
                          <a:cs typeface="Arial"/>
                        </a:rPr>
                        <a:t>DBMS.</a:t>
                      </a:r>
                      <a:endParaRPr sz="1400">
                        <a:latin typeface="Arial"/>
                        <a:cs typeface="Arial"/>
                      </a:endParaRPr>
                    </a:p>
                  </a:txBody>
                  <a:tcPr marL="0" marR="0" marT="163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7D2DF"/>
                    </a:solidFill>
                  </a:tcPr>
                </a:tc>
                <a:extLst>
                  <a:ext uri="{0D108BD9-81ED-4DB2-BD59-A6C34878D82A}">
                    <a16:rowId xmlns:a16="http://schemas.microsoft.com/office/drawing/2014/main" val="10003"/>
                  </a:ext>
                </a:extLst>
              </a:tr>
              <a:tr h="550671">
                <a:tc>
                  <a:txBody>
                    <a:bodyPr/>
                    <a:lstStyle/>
                    <a:p>
                      <a:pPr marL="91440">
                        <a:lnSpc>
                          <a:spcPct val="100000"/>
                        </a:lnSpc>
                        <a:spcBef>
                          <a:spcPts val="1290"/>
                        </a:spcBef>
                      </a:pPr>
                      <a:r>
                        <a:rPr sz="1400" spc="-5" dirty="0">
                          <a:latin typeface="Arial"/>
                          <a:cs typeface="Arial"/>
                        </a:rPr>
                        <a:t>It is a single user</a:t>
                      </a:r>
                      <a:r>
                        <a:rPr sz="1400" spc="-35" dirty="0">
                          <a:latin typeface="Arial"/>
                          <a:cs typeface="Arial"/>
                        </a:rPr>
                        <a:t> </a:t>
                      </a:r>
                      <a:r>
                        <a:rPr sz="1400" spc="-5" dirty="0">
                          <a:latin typeface="Arial"/>
                          <a:cs typeface="Arial"/>
                        </a:rPr>
                        <a:t>system.</a:t>
                      </a:r>
                      <a:endParaRPr sz="1400">
                        <a:latin typeface="Arial"/>
                        <a:cs typeface="Arial"/>
                      </a:endParaRPr>
                    </a:p>
                  </a:txBody>
                  <a:tcPr marL="0" marR="0" marT="163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EAEF"/>
                    </a:solidFill>
                  </a:tcPr>
                </a:tc>
                <a:tc>
                  <a:txBody>
                    <a:bodyPr/>
                    <a:lstStyle/>
                    <a:p>
                      <a:pPr marL="91440">
                        <a:lnSpc>
                          <a:spcPct val="100000"/>
                        </a:lnSpc>
                        <a:spcBef>
                          <a:spcPts val="1290"/>
                        </a:spcBef>
                      </a:pPr>
                      <a:r>
                        <a:rPr sz="1400" spc="-5" dirty="0">
                          <a:latin typeface="Arial"/>
                          <a:cs typeface="Arial"/>
                        </a:rPr>
                        <a:t>It is a multiuser</a:t>
                      </a:r>
                      <a:r>
                        <a:rPr sz="1400" spc="-35" dirty="0">
                          <a:latin typeface="Arial"/>
                          <a:cs typeface="Arial"/>
                        </a:rPr>
                        <a:t> </a:t>
                      </a:r>
                      <a:r>
                        <a:rPr sz="1400" spc="-5" dirty="0">
                          <a:latin typeface="Arial"/>
                          <a:cs typeface="Arial"/>
                        </a:rPr>
                        <a:t>system.</a:t>
                      </a:r>
                      <a:endParaRPr sz="1400">
                        <a:latin typeface="Arial"/>
                        <a:cs typeface="Arial"/>
                      </a:endParaRPr>
                    </a:p>
                  </a:txBody>
                  <a:tcPr marL="0" marR="0" marT="163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EAEF"/>
                    </a:solidFill>
                  </a:tcPr>
                </a:tc>
                <a:extLst>
                  <a:ext uri="{0D108BD9-81ED-4DB2-BD59-A6C34878D82A}">
                    <a16:rowId xmlns:a16="http://schemas.microsoft.com/office/drawing/2014/main" val="10004"/>
                  </a:ext>
                </a:extLst>
              </a:tr>
              <a:tr h="550545">
                <a:tc>
                  <a:txBody>
                    <a:bodyPr/>
                    <a:lstStyle/>
                    <a:p>
                      <a:pPr marL="91440" marR="638810">
                        <a:lnSpc>
                          <a:spcPct val="100000"/>
                        </a:lnSpc>
                        <a:spcBef>
                          <a:spcPts val="450"/>
                        </a:spcBef>
                      </a:pPr>
                      <a:r>
                        <a:rPr sz="1400" spc="-5" dirty="0">
                          <a:latin typeface="Arial"/>
                          <a:cs typeface="Arial"/>
                        </a:rPr>
                        <a:t>Most DBMSs do not support client/server  architecture.</a:t>
                      </a:r>
                      <a:endParaRPr sz="1400">
                        <a:latin typeface="Arial"/>
                        <a:cs typeface="Arial"/>
                      </a:endParaRPr>
                    </a:p>
                  </a:txBody>
                  <a:tcPr marL="0" marR="0" marT="5715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7D2DF"/>
                    </a:solidFill>
                  </a:tcPr>
                </a:tc>
                <a:tc>
                  <a:txBody>
                    <a:bodyPr/>
                    <a:lstStyle/>
                    <a:p>
                      <a:pPr marL="91440">
                        <a:lnSpc>
                          <a:spcPct val="100000"/>
                        </a:lnSpc>
                        <a:spcBef>
                          <a:spcPts val="1290"/>
                        </a:spcBef>
                      </a:pPr>
                      <a:r>
                        <a:rPr sz="1400" spc="-5" dirty="0">
                          <a:latin typeface="Arial"/>
                          <a:cs typeface="Arial"/>
                        </a:rPr>
                        <a:t>It supports client/server</a:t>
                      </a:r>
                      <a:r>
                        <a:rPr sz="1400" spc="-45" dirty="0">
                          <a:latin typeface="Arial"/>
                          <a:cs typeface="Arial"/>
                        </a:rPr>
                        <a:t> </a:t>
                      </a:r>
                      <a:r>
                        <a:rPr sz="1400" spc="-5" dirty="0">
                          <a:latin typeface="Arial"/>
                          <a:cs typeface="Arial"/>
                        </a:rPr>
                        <a:t>architecture.</a:t>
                      </a:r>
                      <a:endParaRPr sz="1400">
                        <a:latin typeface="Arial"/>
                        <a:cs typeface="Arial"/>
                      </a:endParaRPr>
                    </a:p>
                  </a:txBody>
                  <a:tcPr marL="0" marR="0" marT="16383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7D2DF"/>
                    </a:solidFill>
                  </a:tcPr>
                </a:tc>
                <a:extLst>
                  <a:ext uri="{0D108BD9-81ED-4DB2-BD59-A6C34878D82A}">
                    <a16:rowId xmlns:a16="http://schemas.microsoft.com/office/drawing/2014/main" val="10005"/>
                  </a:ext>
                </a:extLst>
              </a:tr>
              <a:tr h="1066825">
                <a:tc>
                  <a:txBody>
                    <a:bodyPr/>
                    <a:lstStyle/>
                    <a:p>
                      <a:pPr>
                        <a:lnSpc>
                          <a:spcPct val="100000"/>
                        </a:lnSpc>
                        <a:spcBef>
                          <a:spcPts val="35"/>
                        </a:spcBef>
                      </a:pPr>
                      <a:endParaRPr sz="1400">
                        <a:latin typeface="Times New Roman"/>
                        <a:cs typeface="Times New Roman"/>
                      </a:endParaRPr>
                    </a:p>
                    <a:p>
                      <a:pPr marL="91440" marR="318135">
                        <a:lnSpc>
                          <a:spcPct val="100000"/>
                        </a:lnSpc>
                      </a:pPr>
                      <a:r>
                        <a:rPr sz="1400" spc="-5" dirty="0">
                          <a:latin typeface="Arial"/>
                          <a:cs typeface="Arial"/>
                        </a:rPr>
                        <a:t>Here, entities are given more importance and  </a:t>
                      </a:r>
                      <a:r>
                        <a:rPr sz="1400" dirty="0">
                          <a:latin typeface="Arial"/>
                          <a:cs typeface="Arial"/>
                        </a:rPr>
                        <a:t>there </a:t>
                      </a:r>
                      <a:r>
                        <a:rPr sz="1400" spc="-5" dirty="0">
                          <a:latin typeface="Arial"/>
                          <a:cs typeface="Arial"/>
                        </a:rPr>
                        <a:t>is no relation established among </a:t>
                      </a:r>
                      <a:r>
                        <a:rPr sz="1400" dirty="0">
                          <a:latin typeface="Arial"/>
                          <a:cs typeface="Arial"/>
                        </a:rPr>
                        <a:t>these  </a:t>
                      </a:r>
                      <a:r>
                        <a:rPr sz="1400" spc="-5" dirty="0">
                          <a:latin typeface="Arial"/>
                          <a:cs typeface="Arial"/>
                        </a:rPr>
                        <a:t>entities.</a:t>
                      </a:r>
                      <a:endParaRPr sz="1400">
                        <a:latin typeface="Arial"/>
                        <a:cs typeface="Arial"/>
                      </a:endParaRPr>
                    </a:p>
                  </a:txBody>
                  <a:tcPr marL="0" marR="0" marT="44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EAEF"/>
                    </a:solidFill>
                  </a:tcPr>
                </a:tc>
                <a:tc>
                  <a:txBody>
                    <a:bodyPr/>
                    <a:lstStyle/>
                    <a:p>
                      <a:pPr marL="91440" marR="95250">
                        <a:lnSpc>
                          <a:spcPts val="1680"/>
                        </a:lnSpc>
                      </a:pPr>
                      <a:r>
                        <a:rPr sz="1400" spc="-5" dirty="0">
                          <a:latin typeface="Arial"/>
                          <a:cs typeface="Arial"/>
                        </a:rPr>
                        <a:t>Here, a relation is given more importance. Thus, the  tables in an RDBMS are dependent and the user  can establish various integrity constraints on </a:t>
                      </a:r>
                      <a:r>
                        <a:rPr sz="1400" dirty="0">
                          <a:latin typeface="Arial"/>
                          <a:cs typeface="Arial"/>
                        </a:rPr>
                        <a:t>these  </a:t>
                      </a:r>
                      <a:r>
                        <a:rPr sz="1400" spc="-5" dirty="0">
                          <a:latin typeface="Arial"/>
                          <a:cs typeface="Arial"/>
                        </a:rPr>
                        <a:t>tables so </a:t>
                      </a:r>
                      <a:r>
                        <a:rPr sz="1400" dirty="0">
                          <a:latin typeface="Arial"/>
                          <a:cs typeface="Arial"/>
                        </a:rPr>
                        <a:t>that </a:t>
                      </a:r>
                      <a:r>
                        <a:rPr sz="1400" spc="-5" dirty="0">
                          <a:latin typeface="Arial"/>
                          <a:cs typeface="Arial"/>
                        </a:rPr>
                        <a:t>the ultimate data used by the user  remains</a:t>
                      </a:r>
                      <a:r>
                        <a:rPr sz="1400" spc="-20" dirty="0">
                          <a:latin typeface="Arial"/>
                          <a:cs typeface="Arial"/>
                        </a:rPr>
                        <a:t> </a:t>
                      </a:r>
                      <a:r>
                        <a:rPr sz="1400" spc="-5" dirty="0">
                          <a:latin typeface="Arial"/>
                          <a:cs typeface="Arial"/>
                        </a:rPr>
                        <a:t>correct.</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EAE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3540" y="87884"/>
            <a:ext cx="1953260" cy="635635"/>
          </a:xfrm>
          <a:prstGeom prst="rect">
            <a:avLst/>
          </a:prstGeom>
        </p:spPr>
        <p:txBody>
          <a:bodyPr vert="horz" wrap="square" lIns="0" tIns="12700" rIns="0" bIns="0" rtlCol="0">
            <a:spAutoFit/>
          </a:bodyPr>
          <a:lstStyle/>
          <a:p>
            <a:pPr marL="12700">
              <a:lnSpc>
                <a:spcPct val="100000"/>
              </a:lnSpc>
              <a:spcBef>
                <a:spcPts val="100"/>
              </a:spcBef>
            </a:pPr>
            <a:r>
              <a:rPr sz="4000" b="0" dirty="0">
                <a:latin typeface="Goudy Old Style"/>
                <a:cs typeface="Goudy Old Style"/>
              </a:rPr>
              <a:t>Summ</a:t>
            </a:r>
            <a:r>
              <a:rPr sz="4000" b="0" spc="-20" dirty="0">
                <a:latin typeface="Goudy Old Style"/>
                <a:cs typeface="Goudy Old Style"/>
              </a:rPr>
              <a:t>a</a:t>
            </a:r>
            <a:r>
              <a:rPr sz="4000" b="0" spc="145" dirty="0">
                <a:latin typeface="Goudy Old Style"/>
                <a:cs typeface="Goudy Old Style"/>
              </a:rPr>
              <a:t>r</a:t>
            </a:r>
            <a:r>
              <a:rPr sz="4000" b="0" dirty="0">
                <a:latin typeface="Goudy Old Style"/>
                <a:cs typeface="Goudy Old Style"/>
              </a:rPr>
              <a:t>y</a:t>
            </a:r>
            <a:endParaRPr sz="4000">
              <a:latin typeface="Goudy Old Style"/>
              <a:cs typeface="Goudy Old Style"/>
            </a:endParaRPr>
          </a:p>
        </p:txBody>
      </p:sp>
      <p:sp>
        <p:nvSpPr>
          <p:cNvPr id="5" name="object 5"/>
          <p:cNvSpPr txBox="1">
            <a:spLocks noGrp="1"/>
          </p:cNvSpPr>
          <p:nvPr>
            <p:ph type="sldNum" sz="quarter" idx="7"/>
          </p:nvPr>
        </p:nvSpPr>
        <p:spPr>
          <a:prstGeom prst="rect">
            <a:avLst/>
          </a:prstGeom>
        </p:spPr>
        <p:txBody>
          <a:bodyPr vert="horz" wrap="square" lIns="0" tIns="1270" rIns="0" bIns="0" rtlCol="0">
            <a:spAutoFit/>
          </a:bodyPr>
          <a:lstStyle/>
          <a:p>
            <a:pPr marL="12700">
              <a:lnSpc>
                <a:spcPct val="100000"/>
              </a:lnSpc>
              <a:spcBef>
                <a:spcPts val="10"/>
              </a:spcBef>
            </a:pPr>
            <a:r>
              <a:rPr sz="1800" spc="-7" baseline="2314" dirty="0"/>
              <a:t>Session </a:t>
            </a:r>
            <a:r>
              <a:rPr sz="1800" baseline="2314" dirty="0"/>
              <a:t>1/</a:t>
            </a:r>
            <a:r>
              <a:rPr sz="1800" spc="-172" baseline="2314" dirty="0"/>
              <a:t> </a:t>
            </a:r>
            <a:fld id="{81D60167-4931-47E6-BA6A-407CBD079E47}" type="slidenum">
              <a:rPr sz="1200" dirty="0"/>
              <a:t>41</a:t>
            </a:fld>
            <a:endParaRPr sz="1200"/>
          </a:p>
        </p:txBody>
      </p:sp>
      <p:sp>
        <p:nvSpPr>
          <p:cNvPr id="6" name="object 6"/>
          <p:cNvSpPr txBox="1">
            <a:spLocks noGrp="1"/>
          </p:cNvSpPr>
          <p:nvPr>
            <p:ph type="ftr" sz="quarter" idx="5"/>
          </p:nvPr>
        </p:nvSpPr>
        <p:spPr>
          <a:prstGeom prst="rect">
            <a:avLst/>
          </a:prstGeom>
        </p:spPr>
        <p:txBody>
          <a:bodyPr vert="horz" wrap="square" lIns="0" tIns="0" rIns="0" bIns="0" rtlCol="0">
            <a:spAutoFit/>
          </a:bodyPr>
          <a:lstStyle/>
          <a:p>
            <a:pPr marL="12700">
              <a:lnSpc>
                <a:spcPts val="1415"/>
              </a:lnSpc>
            </a:pPr>
            <a:r>
              <a:rPr i="0" dirty="0">
                <a:latin typeface="Goudy Old Style"/>
                <a:cs typeface="Goudy Old Style"/>
              </a:rPr>
              <a:t>© </a:t>
            </a:r>
            <a:r>
              <a:rPr spc="-10" dirty="0"/>
              <a:t>Aptech</a:t>
            </a:r>
            <a:r>
              <a:rPr spc="-80" dirty="0"/>
              <a:t> </a:t>
            </a:r>
            <a:r>
              <a:rPr spc="-5" dirty="0"/>
              <a:t>Ltd.</a:t>
            </a:r>
          </a:p>
        </p:txBody>
      </p:sp>
      <p:sp>
        <p:nvSpPr>
          <p:cNvPr id="3" name="object 3"/>
          <p:cNvSpPr txBox="1"/>
          <p:nvPr/>
        </p:nvSpPr>
        <p:spPr>
          <a:xfrm>
            <a:off x="383540" y="1021283"/>
            <a:ext cx="8446135" cy="4079875"/>
          </a:xfrm>
          <a:prstGeom prst="rect">
            <a:avLst/>
          </a:prstGeom>
        </p:spPr>
        <p:txBody>
          <a:bodyPr vert="horz" wrap="square" lIns="0" tIns="73660" rIns="0" bIns="0" rtlCol="0">
            <a:spAutoFit/>
          </a:bodyPr>
          <a:lstStyle/>
          <a:p>
            <a:pPr marL="353695" indent="-341630">
              <a:lnSpc>
                <a:spcPct val="100000"/>
              </a:lnSpc>
              <a:spcBef>
                <a:spcPts val="580"/>
              </a:spcBef>
              <a:buFont typeface="Calibri"/>
              <a:buChar char="●"/>
              <a:tabLst>
                <a:tab pos="353695" algn="l"/>
                <a:tab pos="354330" algn="l"/>
              </a:tabLst>
            </a:pPr>
            <a:r>
              <a:rPr sz="2000" spc="-5" dirty="0">
                <a:latin typeface="Goudy Old Style"/>
                <a:cs typeface="Goudy Old Style"/>
              </a:rPr>
              <a:t>A database is a collection of </a:t>
            </a:r>
            <a:r>
              <a:rPr sz="2000" spc="-15" dirty="0">
                <a:latin typeface="Goudy Old Style"/>
                <a:cs typeface="Goudy Old Style"/>
              </a:rPr>
              <a:t>related </a:t>
            </a:r>
            <a:r>
              <a:rPr sz="2000" dirty="0">
                <a:latin typeface="Goudy Old Style"/>
                <a:cs typeface="Goudy Old Style"/>
              </a:rPr>
              <a:t>data </a:t>
            </a:r>
            <a:r>
              <a:rPr sz="2000" spc="-15" dirty="0">
                <a:latin typeface="Goudy Old Style"/>
                <a:cs typeface="Goudy Old Style"/>
              </a:rPr>
              <a:t>stored </a:t>
            </a:r>
            <a:r>
              <a:rPr sz="2000" spc="-5" dirty="0">
                <a:latin typeface="Goudy Old Style"/>
                <a:cs typeface="Goudy Old Style"/>
              </a:rPr>
              <a:t>in the </a:t>
            </a:r>
            <a:r>
              <a:rPr sz="2000" spc="-15" dirty="0">
                <a:latin typeface="Goudy Old Style"/>
                <a:cs typeface="Goudy Old Style"/>
              </a:rPr>
              <a:t>form </a:t>
            </a:r>
            <a:r>
              <a:rPr sz="2000" spc="-5" dirty="0">
                <a:latin typeface="Goudy Old Style"/>
                <a:cs typeface="Goudy Old Style"/>
              </a:rPr>
              <a:t>of a</a:t>
            </a:r>
            <a:r>
              <a:rPr sz="2000" spc="95" dirty="0">
                <a:latin typeface="Goudy Old Style"/>
                <a:cs typeface="Goudy Old Style"/>
              </a:rPr>
              <a:t> </a:t>
            </a:r>
            <a:r>
              <a:rPr sz="2000" dirty="0">
                <a:latin typeface="Goudy Old Style"/>
                <a:cs typeface="Goudy Old Style"/>
              </a:rPr>
              <a:t>table.</a:t>
            </a:r>
            <a:endParaRPr sz="2000">
              <a:latin typeface="Goudy Old Style"/>
              <a:cs typeface="Goudy Old Style"/>
            </a:endParaRPr>
          </a:p>
          <a:p>
            <a:pPr marL="353695" marR="360045" indent="-341630">
              <a:lnSpc>
                <a:spcPct val="70000"/>
              </a:lnSpc>
              <a:spcBef>
                <a:spcPts val="1200"/>
              </a:spcBef>
              <a:buFont typeface="Calibri"/>
              <a:buChar char="●"/>
              <a:tabLst>
                <a:tab pos="353695" algn="l"/>
                <a:tab pos="354330" algn="l"/>
              </a:tabLst>
            </a:pPr>
            <a:r>
              <a:rPr sz="2000" spc="-5" dirty="0">
                <a:latin typeface="Goudy Old Style"/>
                <a:cs typeface="Goudy Old Style"/>
              </a:rPr>
              <a:t>A </a:t>
            </a:r>
            <a:r>
              <a:rPr sz="2000" dirty="0">
                <a:latin typeface="Goudy Old Style"/>
                <a:cs typeface="Goudy Old Style"/>
              </a:rPr>
              <a:t>data </a:t>
            </a:r>
            <a:r>
              <a:rPr sz="2000" spc="-5" dirty="0">
                <a:latin typeface="Goudy Old Style"/>
                <a:cs typeface="Goudy Old Style"/>
              </a:rPr>
              <a:t>model describes a container </a:t>
            </a:r>
            <a:r>
              <a:rPr sz="2000" spc="-20" dirty="0">
                <a:latin typeface="Goudy Old Style"/>
                <a:cs typeface="Goudy Old Style"/>
              </a:rPr>
              <a:t>for </a:t>
            </a:r>
            <a:r>
              <a:rPr sz="2000" spc="-10" dirty="0">
                <a:latin typeface="Goudy Old Style"/>
                <a:cs typeface="Goudy Old Style"/>
              </a:rPr>
              <a:t>storing </a:t>
            </a:r>
            <a:r>
              <a:rPr sz="2000" dirty="0">
                <a:latin typeface="Goudy Old Style"/>
                <a:cs typeface="Goudy Old Style"/>
              </a:rPr>
              <a:t>data </a:t>
            </a:r>
            <a:r>
              <a:rPr sz="2000" spc="-5" dirty="0">
                <a:latin typeface="Goudy Old Style"/>
                <a:cs typeface="Goudy Old Style"/>
              </a:rPr>
              <a:t>and the </a:t>
            </a:r>
            <a:r>
              <a:rPr sz="2000" spc="-10" dirty="0">
                <a:latin typeface="Goudy Old Style"/>
                <a:cs typeface="Goudy Old Style"/>
              </a:rPr>
              <a:t>process </a:t>
            </a:r>
            <a:r>
              <a:rPr sz="2000" spc="-5" dirty="0">
                <a:latin typeface="Goudy Old Style"/>
                <a:cs typeface="Goudy Old Style"/>
              </a:rPr>
              <a:t>of </a:t>
            </a:r>
            <a:r>
              <a:rPr sz="2000" spc="-15" dirty="0">
                <a:latin typeface="Goudy Old Style"/>
                <a:cs typeface="Goudy Old Style"/>
              </a:rPr>
              <a:t>storing  </a:t>
            </a:r>
            <a:r>
              <a:rPr sz="2000" spc="-5" dirty="0">
                <a:latin typeface="Goudy Old Style"/>
                <a:cs typeface="Goudy Old Style"/>
              </a:rPr>
              <a:t>and </a:t>
            </a:r>
            <a:r>
              <a:rPr sz="2000" spc="-10" dirty="0">
                <a:latin typeface="Goudy Old Style"/>
                <a:cs typeface="Goudy Old Style"/>
              </a:rPr>
              <a:t>retrieving </a:t>
            </a:r>
            <a:r>
              <a:rPr sz="2000" dirty="0">
                <a:latin typeface="Goudy Old Style"/>
                <a:cs typeface="Goudy Old Style"/>
              </a:rPr>
              <a:t>data </a:t>
            </a:r>
            <a:r>
              <a:rPr sz="2000" spc="-15" dirty="0">
                <a:latin typeface="Goudy Old Style"/>
                <a:cs typeface="Goudy Old Style"/>
              </a:rPr>
              <a:t>from </a:t>
            </a:r>
            <a:r>
              <a:rPr sz="2000" spc="-5" dirty="0">
                <a:latin typeface="Goudy Old Style"/>
                <a:cs typeface="Goudy Old Style"/>
              </a:rPr>
              <a:t>that</a:t>
            </a:r>
            <a:r>
              <a:rPr sz="2000" spc="15" dirty="0">
                <a:latin typeface="Goudy Old Style"/>
                <a:cs typeface="Goudy Old Style"/>
              </a:rPr>
              <a:t> </a:t>
            </a:r>
            <a:r>
              <a:rPr sz="2000" spc="-10" dirty="0">
                <a:latin typeface="Goudy Old Style"/>
                <a:cs typeface="Goudy Old Style"/>
              </a:rPr>
              <a:t>container.</a:t>
            </a:r>
            <a:endParaRPr sz="2000">
              <a:latin typeface="Goudy Old Style"/>
              <a:cs typeface="Goudy Old Style"/>
            </a:endParaRPr>
          </a:p>
          <a:p>
            <a:pPr marL="353695" marR="223520" indent="-341630">
              <a:lnSpc>
                <a:spcPct val="70000"/>
              </a:lnSpc>
              <a:spcBef>
                <a:spcPts val="1200"/>
              </a:spcBef>
              <a:buFont typeface="Calibri"/>
              <a:buChar char="●"/>
              <a:tabLst>
                <a:tab pos="353695" algn="l"/>
                <a:tab pos="354330" algn="l"/>
              </a:tabLst>
            </a:pPr>
            <a:r>
              <a:rPr sz="2000" spc="-5" dirty="0">
                <a:latin typeface="Goudy Old Style"/>
                <a:cs typeface="Goudy Old Style"/>
              </a:rPr>
              <a:t>A </a:t>
            </a:r>
            <a:r>
              <a:rPr sz="2000" spc="-10" dirty="0">
                <a:latin typeface="Goudy Old Style"/>
                <a:cs typeface="Goudy Old Style"/>
              </a:rPr>
              <a:t>DBMS </a:t>
            </a:r>
            <a:r>
              <a:rPr sz="2000" spc="-5" dirty="0">
                <a:latin typeface="Goudy Old Style"/>
                <a:cs typeface="Goudy Old Style"/>
              </a:rPr>
              <a:t>is a collection of </a:t>
            </a:r>
            <a:r>
              <a:rPr sz="2000" spc="-10" dirty="0">
                <a:latin typeface="Goudy Old Style"/>
                <a:cs typeface="Goudy Old Style"/>
              </a:rPr>
              <a:t>programs </a:t>
            </a:r>
            <a:r>
              <a:rPr sz="2000" spc="-5" dirty="0">
                <a:latin typeface="Goudy Old Style"/>
                <a:cs typeface="Goudy Old Style"/>
              </a:rPr>
              <a:t>that </a:t>
            </a:r>
            <a:r>
              <a:rPr sz="2000" spc="-10" dirty="0">
                <a:latin typeface="Goudy Old Style"/>
                <a:cs typeface="Goudy Old Style"/>
              </a:rPr>
              <a:t>enables </a:t>
            </a:r>
            <a:r>
              <a:rPr sz="2000" spc="-5" dirty="0">
                <a:latin typeface="Goudy Old Style"/>
                <a:cs typeface="Goudy Old Style"/>
              </a:rPr>
              <a:t>the user </a:t>
            </a:r>
            <a:r>
              <a:rPr sz="2000" spc="-15" dirty="0">
                <a:latin typeface="Goudy Old Style"/>
                <a:cs typeface="Goudy Old Style"/>
              </a:rPr>
              <a:t>to store, </a:t>
            </a:r>
            <a:r>
              <a:rPr sz="2000" spc="-10" dirty="0">
                <a:latin typeface="Goudy Old Style"/>
                <a:cs typeface="Goudy Old Style"/>
              </a:rPr>
              <a:t>modify, and  extract information </a:t>
            </a:r>
            <a:r>
              <a:rPr sz="2000" spc="-15" dirty="0">
                <a:latin typeface="Goudy Old Style"/>
                <a:cs typeface="Goudy Old Style"/>
              </a:rPr>
              <a:t>from </a:t>
            </a:r>
            <a:r>
              <a:rPr sz="2000" spc="-5" dirty="0">
                <a:latin typeface="Goudy Old Style"/>
                <a:cs typeface="Goudy Old Style"/>
              </a:rPr>
              <a:t>a</a:t>
            </a:r>
            <a:r>
              <a:rPr sz="2000" spc="25" dirty="0">
                <a:latin typeface="Goudy Old Style"/>
                <a:cs typeface="Goudy Old Style"/>
              </a:rPr>
              <a:t> </a:t>
            </a:r>
            <a:r>
              <a:rPr sz="2000" spc="-5" dirty="0">
                <a:latin typeface="Goudy Old Style"/>
                <a:cs typeface="Goudy Old Style"/>
              </a:rPr>
              <a:t>database.</a:t>
            </a:r>
            <a:endParaRPr sz="2000">
              <a:latin typeface="Goudy Old Style"/>
              <a:cs typeface="Goudy Old Style"/>
            </a:endParaRPr>
          </a:p>
          <a:p>
            <a:pPr marL="353695" indent="-341630">
              <a:lnSpc>
                <a:spcPts val="2039"/>
              </a:lnSpc>
              <a:spcBef>
                <a:spcPts val="480"/>
              </a:spcBef>
              <a:buFont typeface="Calibri"/>
              <a:buChar char="●"/>
              <a:tabLst>
                <a:tab pos="353695" algn="l"/>
                <a:tab pos="354330" algn="l"/>
              </a:tabLst>
            </a:pPr>
            <a:r>
              <a:rPr sz="2000" spc="-5" dirty="0">
                <a:latin typeface="Goudy Old Style"/>
                <a:cs typeface="Goudy Old Style"/>
              </a:rPr>
              <a:t>A Relational Database Management </a:t>
            </a:r>
            <a:r>
              <a:rPr sz="2000" spc="-10" dirty="0">
                <a:latin typeface="Goudy Old Style"/>
                <a:cs typeface="Goudy Old Style"/>
              </a:rPr>
              <a:t>System (RDBMS) </a:t>
            </a:r>
            <a:r>
              <a:rPr sz="2000" spc="-5" dirty="0">
                <a:latin typeface="Goudy Old Style"/>
                <a:cs typeface="Goudy Old Style"/>
              </a:rPr>
              <a:t>is a suite of</a:t>
            </a:r>
            <a:r>
              <a:rPr sz="2000" spc="114" dirty="0">
                <a:latin typeface="Goudy Old Style"/>
                <a:cs typeface="Goudy Old Style"/>
              </a:rPr>
              <a:t> </a:t>
            </a:r>
            <a:r>
              <a:rPr sz="2000" spc="-5" dirty="0">
                <a:latin typeface="Goudy Old Style"/>
                <a:cs typeface="Goudy Old Style"/>
              </a:rPr>
              <a:t>software</a:t>
            </a:r>
            <a:endParaRPr sz="2000">
              <a:latin typeface="Goudy Old Style"/>
              <a:cs typeface="Goudy Old Style"/>
            </a:endParaRPr>
          </a:p>
          <a:p>
            <a:pPr marL="353695" marR="379730">
              <a:lnSpc>
                <a:spcPct val="70000"/>
              </a:lnSpc>
              <a:spcBef>
                <a:spcPts val="360"/>
              </a:spcBef>
            </a:pPr>
            <a:r>
              <a:rPr sz="2000" spc="-10" dirty="0">
                <a:latin typeface="Goudy Old Style"/>
                <a:cs typeface="Goudy Old Style"/>
              </a:rPr>
              <a:t>programs </a:t>
            </a:r>
            <a:r>
              <a:rPr sz="2000" spc="-20" dirty="0">
                <a:latin typeface="Goudy Old Style"/>
                <a:cs typeface="Goudy Old Style"/>
              </a:rPr>
              <a:t>for </a:t>
            </a:r>
            <a:r>
              <a:rPr sz="2000" spc="-10" dirty="0">
                <a:latin typeface="Goudy Old Style"/>
                <a:cs typeface="Goudy Old Style"/>
              </a:rPr>
              <a:t>creating, </a:t>
            </a:r>
            <a:r>
              <a:rPr sz="2000" spc="-5" dirty="0">
                <a:latin typeface="Goudy Old Style"/>
                <a:cs typeface="Goudy Old Style"/>
              </a:rPr>
              <a:t>maintaining, modifying, and manipulating a relational  database.</a:t>
            </a:r>
            <a:endParaRPr sz="2000">
              <a:latin typeface="Goudy Old Style"/>
              <a:cs typeface="Goudy Old Style"/>
            </a:endParaRPr>
          </a:p>
          <a:p>
            <a:pPr marL="353695" marR="529590" indent="-341630">
              <a:lnSpc>
                <a:spcPct val="70000"/>
              </a:lnSpc>
              <a:spcBef>
                <a:spcPts val="1200"/>
              </a:spcBef>
              <a:buFont typeface="Calibri"/>
              <a:buChar char="●"/>
              <a:tabLst>
                <a:tab pos="353695" algn="l"/>
                <a:tab pos="354330" algn="l"/>
              </a:tabLst>
            </a:pPr>
            <a:r>
              <a:rPr sz="2000" spc="-5" dirty="0">
                <a:latin typeface="Goudy Old Style"/>
                <a:cs typeface="Goudy Old Style"/>
              </a:rPr>
              <a:t>A relational database is divided </a:t>
            </a:r>
            <a:r>
              <a:rPr sz="2000" spc="-10" dirty="0">
                <a:latin typeface="Goudy Old Style"/>
                <a:cs typeface="Goudy Old Style"/>
              </a:rPr>
              <a:t>into </a:t>
            </a:r>
            <a:r>
              <a:rPr sz="2000" spc="-5" dirty="0">
                <a:latin typeface="Goudy Old Style"/>
                <a:cs typeface="Goudy Old Style"/>
              </a:rPr>
              <a:t>logical units called </a:t>
            </a:r>
            <a:r>
              <a:rPr sz="2000" dirty="0">
                <a:latin typeface="Goudy Old Style"/>
                <a:cs typeface="Goudy Old Style"/>
              </a:rPr>
              <a:t>tables. </a:t>
            </a:r>
            <a:r>
              <a:rPr sz="2000" spc="-5" dirty="0">
                <a:latin typeface="Goudy Old Style"/>
                <a:cs typeface="Goudy Old Style"/>
              </a:rPr>
              <a:t>These logical  units </a:t>
            </a:r>
            <a:r>
              <a:rPr sz="2000" spc="-15" dirty="0">
                <a:latin typeface="Goudy Old Style"/>
                <a:cs typeface="Goudy Old Style"/>
              </a:rPr>
              <a:t>are </a:t>
            </a:r>
            <a:r>
              <a:rPr sz="2000" spc="-10" dirty="0">
                <a:latin typeface="Goudy Old Style"/>
                <a:cs typeface="Goudy Old Style"/>
              </a:rPr>
              <a:t>interrelated </a:t>
            </a:r>
            <a:r>
              <a:rPr sz="2000" spc="-15" dirty="0">
                <a:latin typeface="Goudy Old Style"/>
                <a:cs typeface="Goudy Old Style"/>
              </a:rPr>
              <a:t>to each </a:t>
            </a:r>
            <a:r>
              <a:rPr sz="2000" spc="-10" dirty="0">
                <a:latin typeface="Goudy Old Style"/>
                <a:cs typeface="Goudy Old Style"/>
              </a:rPr>
              <a:t>other </a:t>
            </a:r>
            <a:r>
              <a:rPr sz="2000" spc="-5" dirty="0">
                <a:latin typeface="Goudy Old Style"/>
                <a:cs typeface="Goudy Old Style"/>
              </a:rPr>
              <a:t>within the</a:t>
            </a:r>
            <a:r>
              <a:rPr sz="2000" spc="60" dirty="0">
                <a:latin typeface="Goudy Old Style"/>
                <a:cs typeface="Goudy Old Style"/>
              </a:rPr>
              <a:t> </a:t>
            </a:r>
            <a:r>
              <a:rPr sz="2000" spc="-5" dirty="0">
                <a:latin typeface="Goudy Old Style"/>
                <a:cs typeface="Goudy Old Style"/>
              </a:rPr>
              <a:t>database.</a:t>
            </a:r>
            <a:endParaRPr sz="2000">
              <a:latin typeface="Goudy Old Style"/>
              <a:cs typeface="Goudy Old Style"/>
            </a:endParaRPr>
          </a:p>
          <a:p>
            <a:pPr marL="353695" indent="-341630">
              <a:lnSpc>
                <a:spcPct val="100000"/>
              </a:lnSpc>
              <a:spcBef>
                <a:spcPts val="480"/>
              </a:spcBef>
              <a:buFont typeface="Calibri"/>
              <a:buChar char="●"/>
              <a:tabLst>
                <a:tab pos="353695" algn="l"/>
                <a:tab pos="354330" algn="l"/>
              </a:tabLst>
            </a:pPr>
            <a:r>
              <a:rPr sz="2000" spc="-5" dirty="0">
                <a:latin typeface="Goudy Old Style"/>
                <a:cs typeface="Goudy Old Style"/>
              </a:rPr>
              <a:t>The main components of an RDBMS </a:t>
            </a:r>
            <a:r>
              <a:rPr sz="2000" spc="-15" dirty="0">
                <a:latin typeface="Goudy Old Style"/>
                <a:cs typeface="Goudy Old Style"/>
              </a:rPr>
              <a:t>are </a:t>
            </a:r>
            <a:r>
              <a:rPr sz="2000" spc="-10" dirty="0">
                <a:latin typeface="Goudy Old Style"/>
                <a:cs typeface="Goudy Old Style"/>
              </a:rPr>
              <a:t>entities </a:t>
            </a:r>
            <a:r>
              <a:rPr sz="2000" spc="-5" dirty="0">
                <a:latin typeface="Goudy Old Style"/>
                <a:cs typeface="Goudy Old Style"/>
              </a:rPr>
              <a:t>and</a:t>
            </a:r>
            <a:r>
              <a:rPr sz="2000" spc="65" dirty="0">
                <a:latin typeface="Goudy Old Style"/>
                <a:cs typeface="Goudy Old Style"/>
              </a:rPr>
              <a:t> </a:t>
            </a:r>
            <a:r>
              <a:rPr sz="2000" spc="-5" dirty="0">
                <a:latin typeface="Goudy Old Style"/>
                <a:cs typeface="Goudy Old Style"/>
              </a:rPr>
              <a:t>tables.</a:t>
            </a:r>
            <a:endParaRPr sz="2000">
              <a:latin typeface="Goudy Old Style"/>
              <a:cs typeface="Goudy Old Style"/>
            </a:endParaRPr>
          </a:p>
          <a:p>
            <a:pPr marL="353695" indent="-341630">
              <a:lnSpc>
                <a:spcPts val="2039"/>
              </a:lnSpc>
              <a:spcBef>
                <a:spcPts val="480"/>
              </a:spcBef>
              <a:buFont typeface="Calibri"/>
              <a:buChar char="●"/>
              <a:tabLst>
                <a:tab pos="353695" algn="l"/>
                <a:tab pos="354330" algn="l"/>
              </a:tabLst>
            </a:pPr>
            <a:r>
              <a:rPr sz="2000" spc="-5" dirty="0">
                <a:latin typeface="Goudy Old Style"/>
                <a:cs typeface="Goudy Old Style"/>
              </a:rPr>
              <a:t>In an RDBMS, a </a:t>
            </a:r>
            <a:r>
              <a:rPr sz="2000" spc="-10" dirty="0">
                <a:latin typeface="Goudy Old Style"/>
                <a:cs typeface="Goudy Old Style"/>
              </a:rPr>
              <a:t>relation </a:t>
            </a:r>
            <a:r>
              <a:rPr sz="2000" spc="-5" dirty="0">
                <a:latin typeface="Goudy Old Style"/>
                <a:cs typeface="Goudy Old Style"/>
              </a:rPr>
              <a:t>is </a:t>
            </a:r>
            <a:r>
              <a:rPr sz="2000" spc="-10" dirty="0">
                <a:latin typeface="Goudy Old Style"/>
                <a:cs typeface="Goudy Old Style"/>
              </a:rPr>
              <a:t>given more </a:t>
            </a:r>
            <a:r>
              <a:rPr sz="2000" spc="-5" dirty="0">
                <a:latin typeface="Goudy Old Style"/>
                <a:cs typeface="Goudy Old Style"/>
              </a:rPr>
              <a:t>importance, </a:t>
            </a:r>
            <a:r>
              <a:rPr sz="2000" spc="-10" dirty="0">
                <a:latin typeface="Goudy Old Style"/>
                <a:cs typeface="Goudy Old Style"/>
              </a:rPr>
              <a:t>whereas, </a:t>
            </a:r>
            <a:r>
              <a:rPr sz="2000" spc="-5" dirty="0">
                <a:latin typeface="Goudy Old Style"/>
                <a:cs typeface="Goudy Old Style"/>
              </a:rPr>
              <a:t>in case of a</a:t>
            </a:r>
            <a:r>
              <a:rPr sz="2000" spc="200" dirty="0">
                <a:latin typeface="Goudy Old Style"/>
                <a:cs typeface="Goudy Old Style"/>
              </a:rPr>
              <a:t> </a:t>
            </a:r>
            <a:r>
              <a:rPr sz="2000" spc="-5" dirty="0">
                <a:latin typeface="Goudy Old Style"/>
                <a:cs typeface="Goudy Old Style"/>
              </a:rPr>
              <a:t>DBMS,</a:t>
            </a:r>
            <a:endParaRPr sz="2000">
              <a:latin typeface="Goudy Old Style"/>
              <a:cs typeface="Goudy Old Style"/>
            </a:endParaRPr>
          </a:p>
          <a:p>
            <a:pPr marL="353695" marR="313055">
              <a:lnSpc>
                <a:spcPct val="70000"/>
              </a:lnSpc>
              <a:spcBef>
                <a:spcPts val="360"/>
              </a:spcBef>
            </a:pPr>
            <a:r>
              <a:rPr sz="2000" spc="-10" dirty="0">
                <a:latin typeface="Goudy Old Style"/>
                <a:cs typeface="Goudy Old Style"/>
              </a:rPr>
              <a:t>entities </a:t>
            </a:r>
            <a:r>
              <a:rPr sz="2000" spc="-15" dirty="0">
                <a:latin typeface="Goudy Old Style"/>
                <a:cs typeface="Goudy Old Style"/>
              </a:rPr>
              <a:t>are </a:t>
            </a:r>
            <a:r>
              <a:rPr sz="2000" spc="-10" dirty="0">
                <a:latin typeface="Goudy Old Style"/>
                <a:cs typeface="Goudy Old Style"/>
              </a:rPr>
              <a:t>given more </a:t>
            </a:r>
            <a:r>
              <a:rPr sz="2000" spc="-5" dirty="0">
                <a:latin typeface="Goudy Old Style"/>
                <a:cs typeface="Goudy Old Style"/>
              </a:rPr>
              <a:t>importance and </a:t>
            </a:r>
            <a:r>
              <a:rPr sz="2000" spc="-10" dirty="0">
                <a:latin typeface="Goudy Old Style"/>
                <a:cs typeface="Goudy Old Style"/>
              </a:rPr>
              <a:t>there </a:t>
            </a:r>
            <a:r>
              <a:rPr sz="2000" spc="-5" dirty="0">
                <a:latin typeface="Goudy Old Style"/>
                <a:cs typeface="Goudy Old Style"/>
              </a:rPr>
              <a:t>is no </a:t>
            </a:r>
            <a:r>
              <a:rPr sz="2000" spc="-10" dirty="0">
                <a:latin typeface="Goudy Old Style"/>
                <a:cs typeface="Goudy Old Style"/>
              </a:rPr>
              <a:t>relation </a:t>
            </a:r>
            <a:r>
              <a:rPr sz="2000" spc="-5" dirty="0">
                <a:latin typeface="Goudy Old Style"/>
                <a:cs typeface="Goudy Old Style"/>
              </a:rPr>
              <a:t>established </a:t>
            </a:r>
            <a:r>
              <a:rPr sz="2000" spc="-10" dirty="0">
                <a:latin typeface="Goudy Old Style"/>
                <a:cs typeface="Goudy Old Style"/>
              </a:rPr>
              <a:t>among  </a:t>
            </a:r>
            <a:r>
              <a:rPr sz="2000" spc="-5" dirty="0">
                <a:latin typeface="Goudy Old Style"/>
                <a:cs typeface="Goudy Old Style"/>
              </a:rPr>
              <a:t>these </a:t>
            </a:r>
            <a:r>
              <a:rPr sz="2000" spc="-10" dirty="0">
                <a:latin typeface="Goudy Old Style"/>
                <a:cs typeface="Goudy Old Style"/>
              </a:rPr>
              <a:t>entities.</a:t>
            </a:r>
            <a:endParaRPr sz="2000">
              <a:latin typeface="Goudy Old Style"/>
              <a:cs typeface="Goudy Old Style"/>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196</TotalTime>
  <Words>8507</Words>
  <Application>Microsoft Office PowerPoint</Application>
  <PresentationFormat>On-screen Show (4:3)</PresentationFormat>
  <Paragraphs>821</Paragraphs>
  <Slides>41</Slides>
  <Notes>41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Book Antiqua</vt:lpstr>
      <vt:lpstr>Calibri</vt:lpstr>
      <vt:lpstr>Calisto MT</vt:lpstr>
      <vt:lpstr>Courier New</vt:lpstr>
      <vt:lpstr>Goudy Old Style</vt:lpstr>
      <vt:lpstr>Times New Roman</vt:lpstr>
      <vt:lpstr>Wingdings</vt:lpstr>
      <vt:lpstr>Office Theme</vt:lpstr>
      <vt:lpstr>Data Management with  SQL Server</vt:lpstr>
      <vt:lpstr>Objectives</vt:lpstr>
      <vt:lpstr>Introduction</vt:lpstr>
      <vt:lpstr>Data and Database</vt:lpstr>
      <vt:lpstr>Data Management</vt:lpstr>
      <vt:lpstr>File-based Systems</vt:lpstr>
      <vt:lpstr>Disadvantages of File-based Systems</vt:lpstr>
      <vt:lpstr>Database Systems</vt:lpstr>
      <vt:lpstr>Advantages of Database Systems</vt:lpstr>
      <vt:lpstr>Database Management System (DBMS) 1-3</vt:lpstr>
      <vt:lpstr>Database Management System (DBMS) 2-3</vt:lpstr>
      <vt:lpstr>Database Management System (DBMS) 3-3</vt:lpstr>
      <vt:lpstr>Benefits of DBMS 1-2</vt:lpstr>
      <vt:lpstr>Benefits of DBMS 2-2</vt:lpstr>
      <vt:lpstr>Database Models</vt:lpstr>
      <vt:lpstr>Flat-file Data Model</vt:lpstr>
      <vt:lpstr>Hierarchical Data Model 1-3</vt:lpstr>
      <vt:lpstr>Hierarchical Data Model 2-3</vt:lpstr>
      <vt:lpstr>Hierarchical Data Model 3-3</vt:lpstr>
      <vt:lpstr>Network Data Model 1-4</vt:lpstr>
      <vt:lpstr>Network Data Model 2-4</vt:lpstr>
      <vt:lpstr>Network Data Model 3-4</vt:lpstr>
      <vt:lpstr>Network Data Model 4-4</vt:lpstr>
      <vt:lpstr>Relational Data Model 1-5</vt:lpstr>
      <vt:lpstr>Relational Data Model 2-5</vt:lpstr>
      <vt:lpstr>Relational Data Model 3-5</vt:lpstr>
      <vt:lpstr>Relational Data Model 4-5</vt:lpstr>
      <vt:lpstr>Relational Data Model 5-5</vt:lpstr>
      <vt:lpstr>Relational Database Management System (RDBMS) 1-3</vt:lpstr>
      <vt:lpstr>Relational Database Management System (RDBMS) 2-3</vt:lpstr>
      <vt:lpstr>Relational Database Management System (RDBMS) 3-3</vt:lpstr>
      <vt:lpstr>Terms Related to RDBMS 1-3</vt:lpstr>
      <vt:lpstr>Terms Related to RDBMS 2-3</vt:lpstr>
      <vt:lpstr>Terms Related to RDBMS 3-3</vt:lpstr>
      <vt:lpstr>RDBMS Users 1-2</vt:lpstr>
      <vt:lpstr>RDBMS Users 2-2</vt:lpstr>
      <vt:lpstr>Entity</vt:lpstr>
      <vt:lpstr>Tables and their Characteristics 1-2</vt:lpstr>
      <vt:lpstr>Tables and their Characteristics 2-2</vt:lpstr>
      <vt:lpstr>Differences between a DBMS and an RDBMS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1 XP</dc:title>
  <dc:creator>Aptech Limited</dc:creator>
  <cp:lastModifiedBy>Nguyen Phat Tai (FE FAI HCM)</cp:lastModifiedBy>
  <cp:revision>227</cp:revision>
  <dcterms:created xsi:type="dcterms:W3CDTF">2021-10-11T16:05:54Z</dcterms:created>
  <dcterms:modified xsi:type="dcterms:W3CDTF">2021-10-12T04:24:16Z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2021-05-25T00:00:00Z</vt:filetime>
  </property>
  <property fmtid="{D5CDD505-2E9C-101B-9397-08002B2CF9AE}" pid="3" name="Creator">
    <vt:lpwstr>Microsoft® PowerPoint® 2019</vt:lpwstr>
  </property>
  <property fmtid="{D5CDD505-2E9C-101B-9397-08002B2CF9AE}" pid="4" name="LastSaved">
    <vt:filetime>2021-10-11T00:00:00Z</vt:filetime>
  </property>
</Properties>
</file>