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750" autoAdjust="0"/>
  </p:normalViewPr>
  <p:slideViewPr>
    <p:cSldViewPr>
      <p:cViewPr varScale="1">
        <p:scale>
          <a:sx n="62" d="100"/>
          <a:sy n="62" d="100"/>
        </p:scale>
        <p:origin x="205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9ACC4BB-DFCF-4649-B35A-E353783CC179}" type="datetimeFigureOut">
              <a:rPr lang="en-US" smtClean="0"/>
              <a:t>11/1/2021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2C127AF-00EB-4D90-A5A6-061AC481D4F4}" type="slidenum">
              <a:rPr lang="en-US" smtClean="0"/>
              <a:t>‹#›</a:t>
            </a:fld>
            <a:endParaRPr lang="en-US"/>
          </a:p>
        </p:txBody>
      </p:sp>
    </p:spTree>
    <p:extLst>
      <p:ext uri="{BB962C8B-B14F-4D97-AF65-F5344CB8AC3E}">
        <p14:creationId xmlns:p14="http://schemas.microsoft.com/office/powerpoint/2010/main" val="1146305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Phiên 7: Azure SQL</a:t>
            </a:r>
          </a:p>
          <a:p>
            <a:endParaRPr lang="en-US"/>
          </a:p>
        </p:txBody>
      </p:sp>
      <p:sp>
        <p:nvSpPr>
          <p:cNvPr id="4" name="Slide Number Placeholder 3"/>
          <p:cNvSpPr>
            <a:spLocks noGrp="1"/>
          </p:cNvSpPr>
          <p:nvPr>
            <p:ph type="sldNum" sz="quarter" idx="5"/>
          </p:nvPr>
        </p:nvSpPr>
        <p:spPr/>
        <p:txBody>
          <a:bodyPr/>
          <a:lstStyle/>
          <a:p>
            <a:fld id="{52C127AF-00EB-4D90-A5A6-061AC481D4F4}" type="slidenum">
              <a:rPr lang="en-US" smtClean="0"/>
              <a:t>1</a:t>
            </a:fld>
            <a:endParaRPr lang="en-US"/>
          </a:p>
        </p:txBody>
      </p:sp>
    </p:spTree>
    <p:extLst>
      <p:ext uri="{BB962C8B-B14F-4D97-AF65-F5344CB8AC3E}">
        <p14:creationId xmlns:p14="http://schemas.microsoft.com/office/powerpoint/2010/main" val="3527779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Giải thích </a:t>
            </a:r>
            <a:r>
              <a:rPr lang="vi-VN" b="1"/>
              <a:t>Azure</a:t>
            </a:r>
            <a:r>
              <a:rPr lang="en-US" b="1"/>
              <a:t> </a:t>
            </a:r>
            <a:r>
              <a:rPr lang="vi-VN" b="1"/>
              <a:t>SQL</a:t>
            </a:r>
            <a:endParaRPr lang="vi-VN" b="0"/>
          </a:p>
          <a:p>
            <a:pPr marL="171450" indent="-171450">
              <a:buFont typeface="Arial" panose="020B0604020202020204" pitchFamily="34" charset="0"/>
              <a:buChar char="•"/>
            </a:pPr>
            <a:r>
              <a:rPr lang="vi-VN" b="0"/>
              <a:t>Liệt kê những lợi ích của </a:t>
            </a:r>
            <a:r>
              <a:rPr lang="vi-VN" b="1"/>
              <a:t>Azure</a:t>
            </a:r>
            <a:r>
              <a:rPr lang="en-US" b="1"/>
              <a:t> </a:t>
            </a:r>
            <a:r>
              <a:rPr lang="vi-VN" b="1"/>
              <a:t>SQL</a:t>
            </a:r>
          </a:p>
          <a:p>
            <a:pPr marL="171450" indent="-171450">
              <a:buFont typeface="Arial" panose="020B0604020202020204" pitchFamily="34" charset="0"/>
              <a:buChar char="•"/>
            </a:pPr>
            <a:r>
              <a:rPr lang="vi-VN" b="0"/>
              <a:t>Nêu sự khác biệt giữa </a:t>
            </a:r>
            <a:r>
              <a:rPr lang="vi-VN" b="1"/>
              <a:t>Azure SQL </a:t>
            </a:r>
            <a:r>
              <a:rPr lang="en-US" b="1"/>
              <a:t> </a:t>
            </a:r>
            <a:r>
              <a:rPr lang="vi-VN" b="0"/>
              <a:t>và </a:t>
            </a:r>
            <a:r>
              <a:rPr lang="vi-VN" b="1"/>
              <a:t>SQL Server </a:t>
            </a:r>
            <a:r>
              <a:rPr lang="vi-VN" b="0"/>
              <a:t>tại chỗ</a:t>
            </a:r>
          </a:p>
          <a:p>
            <a:pPr marL="171450" indent="-171450">
              <a:buFont typeface="Arial" panose="020B0604020202020204" pitchFamily="34" charset="0"/>
              <a:buChar char="•"/>
            </a:pPr>
            <a:r>
              <a:rPr lang="vi-VN" b="0"/>
              <a:t>Liệt kê các bước để kết nối </a:t>
            </a:r>
            <a:r>
              <a:rPr lang="vi-VN" b="1"/>
              <a:t>Azure SQL </a:t>
            </a:r>
            <a:r>
              <a:rPr lang="vi-VN" b="0"/>
              <a:t>với </a:t>
            </a:r>
            <a:r>
              <a:rPr lang="vi-VN" b="1"/>
              <a:t>SSMS</a:t>
            </a:r>
            <a:endParaRPr lang="en-US" b="1"/>
          </a:p>
        </p:txBody>
      </p:sp>
      <p:sp>
        <p:nvSpPr>
          <p:cNvPr id="4" name="Slide Number Placeholder 3"/>
          <p:cNvSpPr>
            <a:spLocks noGrp="1"/>
          </p:cNvSpPr>
          <p:nvPr>
            <p:ph type="sldNum" sz="quarter" idx="5"/>
          </p:nvPr>
        </p:nvSpPr>
        <p:spPr/>
        <p:txBody>
          <a:bodyPr/>
          <a:lstStyle/>
          <a:p>
            <a:fld id="{52C127AF-00EB-4D90-A5A6-061AC481D4F4}" type="slidenum">
              <a:rPr lang="en-US" smtClean="0"/>
              <a:t>2</a:t>
            </a:fld>
            <a:endParaRPr lang="en-US"/>
          </a:p>
        </p:txBody>
      </p:sp>
    </p:spTree>
    <p:extLst>
      <p:ext uri="{BB962C8B-B14F-4D97-AF65-F5344CB8AC3E}">
        <p14:creationId xmlns:p14="http://schemas.microsoft.com/office/powerpoint/2010/main" val="583674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b="0"/>
              <a:t>Điện toán đám mây là một xu hướng công nghệ, liên quan đến việc cung cấp phần mềm, nền tảng và cơ sở hạ tầng là dịch vụ thông qua Internet hoặc mạng.</a:t>
            </a:r>
          </a:p>
          <a:p>
            <a:pPr marL="171450" indent="-171450">
              <a:buFont typeface="Arial" panose="020B0604020202020204" pitchFamily="34" charset="0"/>
              <a:buChar char="•"/>
            </a:pPr>
            <a:r>
              <a:rPr lang="en-US" b="1"/>
              <a:t>Microsoft</a:t>
            </a:r>
            <a:r>
              <a:rPr lang="vi-VN" b="1"/>
              <a:t> Azure </a:t>
            </a:r>
            <a:r>
              <a:rPr lang="vi-VN" b="0"/>
              <a:t>là một cung cấp chính trong bộ sản phẩm và dịch vụ điện toán đám mây của Microsoft.</a:t>
            </a:r>
          </a:p>
          <a:p>
            <a:pPr marL="171450" indent="-171450">
              <a:buFont typeface="Arial" panose="020B0604020202020204" pitchFamily="34" charset="0"/>
              <a:buChar char="•"/>
            </a:pPr>
            <a:r>
              <a:rPr lang="vi-VN" b="0"/>
              <a:t>Các chức năng cơ sở dữ liệu của nền tảng đám mây của Microsoft được cung cấp bởi </a:t>
            </a:r>
            <a:r>
              <a:rPr lang="vi-VN" b="1"/>
              <a:t>Microsoft Azure SQL Database</a:t>
            </a:r>
            <a:r>
              <a:rPr lang="vi-VN" b="0"/>
              <a:t>, thường được gọi là </a:t>
            </a:r>
            <a:r>
              <a:rPr lang="vi-VN" b="1"/>
              <a:t>Azure</a:t>
            </a:r>
            <a:r>
              <a:rPr lang="en-US" b="1"/>
              <a:t> </a:t>
            </a:r>
            <a:r>
              <a:rPr lang="vi-VN" b="1"/>
              <a:t>SQL</a:t>
            </a:r>
            <a:endParaRPr lang="vi-VN" b="0"/>
          </a:p>
          <a:p>
            <a:pPr marL="171450" indent="-171450">
              <a:buFont typeface="Arial" panose="020B0604020202020204" pitchFamily="34" charset="0"/>
              <a:buChar char="•"/>
            </a:pPr>
            <a:r>
              <a:rPr lang="vi-VN" b="0"/>
              <a:t>Dữ liệu trên </a:t>
            </a:r>
            <a:r>
              <a:rPr lang="vi-VN" b="1"/>
              <a:t>Azure SQL </a:t>
            </a:r>
            <a:r>
              <a:rPr lang="vi-VN" b="0"/>
              <a:t>không có ràng buộc cụ thể về vị trí.</a:t>
            </a:r>
          </a:p>
          <a:p>
            <a:pPr marL="171450" indent="-171450">
              <a:buFont typeface="Arial" panose="020B0604020202020204" pitchFamily="34" charset="0"/>
              <a:buChar char="•"/>
            </a:pPr>
            <a:r>
              <a:rPr lang="vi-VN" b="0"/>
              <a:t>Điều này có nghĩa là dữ liệu được lưu trữ trong </a:t>
            </a:r>
            <a:r>
              <a:rPr lang="vi-VN" b="1"/>
              <a:t>Azure SQL</a:t>
            </a:r>
            <a:r>
              <a:rPr lang="en-US" b="1"/>
              <a:t> </a:t>
            </a:r>
            <a:r>
              <a:rPr lang="vi-VN" b="0"/>
              <a:t>có thể được xem và chỉnh sửa từ bất kỳ vị trí nào, vì toàn bộ dữ liệu được lưu trữ trên nền tảng lưu trữ đám mây.</a:t>
            </a:r>
            <a:endParaRPr lang="en-US" b="0"/>
          </a:p>
        </p:txBody>
      </p:sp>
      <p:sp>
        <p:nvSpPr>
          <p:cNvPr id="4" name="Slide Number Placeholder 3"/>
          <p:cNvSpPr>
            <a:spLocks noGrp="1"/>
          </p:cNvSpPr>
          <p:nvPr>
            <p:ph type="sldNum" sz="quarter" idx="5"/>
          </p:nvPr>
        </p:nvSpPr>
        <p:spPr/>
        <p:txBody>
          <a:bodyPr/>
          <a:lstStyle/>
          <a:p>
            <a:fld id="{52C127AF-00EB-4D90-A5A6-061AC481D4F4}" type="slidenum">
              <a:rPr lang="en-US" smtClean="0"/>
              <a:t>3</a:t>
            </a:fld>
            <a:endParaRPr lang="en-US"/>
          </a:p>
        </p:txBody>
      </p:sp>
    </p:spTree>
    <p:extLst>
      <p:ext uri="{BB962C8B-B14F-4D97-AF65-F5344CB8AC3E}">
        <p14:creationId xmlns:p14="http://schemas.microsoft.com/office/powerpoint/2010/main" val="4213456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Azure SQL 1-3</a:t>
            </a:r>
          </a:p>
          <a:p>
            <a:pPr marL="171450" indent="-171450">
              <a:buFont typeface="Arial" panose="020B0604020202020204" pitchFamily="34" charset="0"/>
              <a:buChar char="•"/>
            </a:pPr>
            <a:r>
              <a:rPr lang="en-US" b="0"/>
              <a:t>L</a:t>
            </a:r>
            <a:r>
              <a:rPr lang="vi-VN" b="0"/>
              <a:t>à một dịch vụ cơ sở dữ liệu quan hệ dựa trên đám mây tận dụng các công nghệ </a:t>
            </a:r>
            <a:r>
              <a:rPr lang="vi-VN" b="1"/>
              <a:t>SQL Server </a:t>
            </a:r>
            <a:r>
              <a:rPr lang="vi-VN" b="0"/>
              <a:t>hiện có.</a:t>
            </a:r>
            <a:endParaRPr lang="en-US" b="0"/>
          </a:p>
          <a:p>
            <a:pPr marL="171450" indent="-171450">
              <a:buFont typeface="Arial" panose="020B0604020202020204" pitchFamily="34" charset="0"/>
              <a:buChar char="•"/>
            </a:pPr>
            <a:r>
              <a:rPr lang="en-US" b="0"/>
              <a:t>Mở rộng chức năng của </a:t>
            </a:r>
            <a:r>
              <a:rPr lang="en-US" b="1"/>
              <a:t>Microsoft SQL Server </a:t>
            </a:r>
            <a:r>
              <a:rPr lang="en-US" b="0"/>
              <a:t>để phát triển các ứng dụng dựa trên Web, có thể mở rộng và phân phối.</a:t>
            </a:r>
          </a:p>
          <a:p>
            <a:pPr marL="171450" indent="-171450">
              <a:buFont typeface="Arial" panose="020B0604020202020204" pitchFamily="34" charset="0"/>
              <a:buChar char="•"/>
            </a:pPr>
            <a:r>
              <a:rPr lang="vi-VN" b="0"/>
              <a:t>Không chỉ là một sản phẩm duy nhất mà còn đề cập đến một gia đình các sản phẩm được quản lý, thông minh và bảo mật sử dụng công cụ cơ sở dữ liệu SQL Server trong đám mây Azure</a:t>
            </a:r>
            <a:endParaRPr lang="en-US" b="0"/>
          </a:p>
        </p:txBody>
      </p:sp>
      <p:sp>
        <p:nvSpPr>
          <p:cNvPr id="4" name="Slide Number Placeholder 3"/>
          <p:cNvSpPr>
            <a:spLocks noGrp="1"/>
          </p:cNvSpPr>
          <p:nvPr>
            <p:ph type="sldNum" sz="quarter" idx="5"/>
          </p:nvPr>
        </p:nvSpPr>
        <p:spPr/>
        <p:txBody>
          <a:bodyPr/>
          <a:lstStyle/>
          <a:p>
            <a:fld id="{52C127AF-00EB-4D90-A5A6-061AC481D4F4}" type="slidenum">
              <a:rPr lang="en-US" smtClean="0"/>
              <a:t>4</a:t>
            </a:fld>
            <a:endParaRPr lang="en-US"/>
          </a:p>
        </p:txBody>
      </p:sp>
    </p:spTree>
    <p:extLst>
      <p:ext uri="{BB962C8B-B14F-4D97-AF65-F5344CB8AC3E}">
        <p14:creationId xmlns:p14="http://schemas.microsoft.com/office/powerpoint/2010/main" val="2801806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Azure SQL 2-3</a:t>
            </a:r>
          </a:p>
          <a:p>
            <a:pPr marL="171450" indent="-171450">
              <a:buFont typeface="Arial" panose="020B0604020202020204" pitchFamily="34" charset="0"/>
              <a:buChar char="•"/>
            </a:pPr>
            <a:r>
              <a:rPr lang="vi-VN"/>
              <a:t>Trước đó được biết đến với các tên khác như </a:t>
            </a:r>
            <a:r>
              <a:rPr lang="vi-VN" b="1"/>
              <a:t>SQL Azure</a:t>
            </a:r>
            <a:r>
              <a:rPr lang="vi-VN"/>
              <a:t>, </a:t>
            </a:r>
            <a:r>
              <a:rPr lang="vi-VN" b="1"/>
              <a:t>SQL Server Data Services</a:t>
            </a:r>
            <a:r>
              <a:rPr lang="vi-VN"/>
              <a:t>, </a:t>
            </a:r>
            <a:r>
              <a:rPr lang="vi-VN" b="1"/>
              <a:t>SQL Services</a:t>
            </a:r>
            <a:r>
              <a:rPr lang="en-US" b="1"/>
              <a:t> </a:t>
            </a:r>
            <a:r>
              <a:rPr lang="vi-VN"/>
              <a:t>và </a:t>
            </a:r>
            <a:r>
              <a:rPr lang="vi-VN" b="1"/>
              <a:t>Windows Azure SQL Database</a:t>
            </a:r>
            <a:endParaRPr lang="en-US" b="1"/>
          </a:p>
          <a:p>
            <a:pPr marL="171450" indent="-171450">
              <a:buFont typeface="Arial" panose="020B0604020202020204" pitchFamily="34" charset="0"/>
              <a:buChar char="•"/>
            </a:pPr>
            <a:r>
              <a:rPr lang="vi-VN" b="0"/>
              <a:t>Có thể được sử dụng để lưu trữ và quản lý dữ liệu bằng cách sử dụng các truy vấn và các chức năng khác tương tự như </a:t>
            </a:r>
            <a:r>
              <a:rPr lang="vi-VN" b="1"/>
              <a:t>SQL Server 2019</a:t>
            </a:r>
            <a:endParaRPr lang="en-US" b="1"/>
          </a:p>
          <a:p>
            <a:pPr marL="171450" indent="-171450">
              <a:buFont typeface="Arial" panose="020B0604020202020204" pitchFamily="34" charset="0"/>
              <a:buChar char="•"/>
            </a:pPr>
            <a:r>
              <a:rPr lang="vi-VN" b="0"/>
              <a:t>Cho phép người dùng thực hiện các truy vấn quan hệ, thao tác tìm kiếm và đồng bộ hóa dữ liệu với người dùng di động và các văn phòng từ xa. </a:t>
            </a:r>
            <a:r>
              <a:rPr lang="vi-VN" b="1"/>
              <a:t>Azure SQL </a:t>
            </a:r>
            <a:r>
              <a:rPr lang="vi-VN" b="0"/>
              <a:t>có thể lưu trữ và truy xuất cả dữ liệu có cấu trúc và không cấu trúc</a:t>
            </a:r>
            <a:r>
              <a:rPr lang="en-US" b="0"/>
              <a:t>.</a:t>
            </a:r>
          </a:p>
        </p:txBody>
      </p:sp>
      <p:sp>
        <p:nvSpPr>
          <p:cNvPr id="4" name="Slide Number Placeholder 3"/>
          <p:cNvSpPr>
            <a:spLocks noGrp="1"/>
          </p:cNvSpPr>
          <p:nvPr>
            <p:ph type="sldNum" sz="quarter" idx="5"/>
          </p:nvPr>
        </p:nvSpPr>
        <p:spPr/>
        <p:txBody>
          <a:bodyPr/>
          <a:lstStyle/>
          <a:p>
            <a:fld id="{52C127AF-00EB-4D90-A5A6-061AC481D4F4}" type="slidenum">
              <a:rPr lang="en-US" smtClean="0"/>
              <a:t>5</a:t>
            </a:fld>
            <a:endParaRPr lang="en-US"/>
          </a:p>
        </p:txBody>
      </p:sp>
    </p:spTree>
    <p:extLst>
      <p:ext uri="{BB962C8B-B14F-4D97-AF65-F5344CB8AC3E}">
        <p14:creationId xmlns:p14="http://schemas.microsoft.com/office/powerpoint/2010/main" val="1404296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Azure SQL 3-3</a:t>
            </a:r>
          </a:p>
          <a:p>
            <a:pPr marL="171450" indent="-171450">
              <a:buFont typeface="Arial" panose="020B0604020202020204" pitchFamily="34" charset="0"/>
              <a:buChar char="•"/>
            </a:pPr>
            <a:r>
              <a:rPr lang="vi-VN"/>
              <a:t>Một trong những đối thủ cạnh tranh với </a:t>
            </a:r>
            <a:r>
              <a:rPr lang="vi-VN" b="1"/>
              <a:t>Azure SQL </a:t>
            </a:r>
            <a:r>
              <a:rPr lang="vi-VN"/>
              <a:t>là </a:t>
            </a:r>
            <a:r>
              <a:rPr lang="vi-VN" b="1"/>
              <a:t>Amazon Web Services (AWS) </a:t>
            </a:r>
            <a:r>
              <a:rPr lang="vi-VN"/>
              <a:t>và sản phẩm </a:t>
            </a:r>
            <a:r>
              <a:rPr lang="vi-VN" b="1"/>
              <a:t>Relational Database Services (RDS)</a:t>
            </a:r>
            <a:r>
              <a:rPr lang="en-US" b="1"/>
              <a:t> </a:t>
            </a:r>
            <a:r>
              <a:rPr lang="vi-VN"/>
              <a:t>của nó. </a:t>
            </a:r>
            <a:r>
              <a:rPr lang="vi-VN" b="1"/>
              <a:t>Azure SQL </a:t>
            </a:r>
            <a:r>
              <a:rPr lang="vi-VN"/>
              <a:t>thường được so sánh với </a:t>
            </a:r>
            <a:r>
              <a:rPr lang="vi-VN" b="1"/>
              <a:t>AWS RDS</a:t>
            </a:r>
            <a:endParaRPr lang="en-US" b="1"/>
          </a:p>
          <a:p>
            <a:pPr marL="171450" indent="-171450">
              <a:buFont typeface="Arial" panose="020B0604020202020204" pitchFamily="34" charset="0"/>
              <a:buChar char="•"/>
            </a:pPr>
            <a:r>
              <a:rPr lang="en-US" b="0"/>
              <a:t>Azure SQL là:</a:t>
            </a:r>
          </a:p>
          <a:p>
            <a:pPr marL="628650" lvl="1" indent="-171450">
              <a:buFont typeface="Arial" panose="020B0604020202020204" pitchFamily="34" charset="0"/>
              <a:buChar char="•"/>
            </a:pPr>
            <a:r>
              <a:rPr lang="vi-VN" b="0"/>
              <a:t>Nhanh hơn 3,6 lần</a:t>
            </a:r>
          </a:p>
          <a:p>
            <a:pPr marL="628650" lvl="1" indent="-171450">
              <a:buFont typeface="Arial" panose="020B0604020202020204" pitchFamily="34" charset="0"/>
              <a:buChar char="•"/>
            </a:pPr>
            <a:r>
              <a:rPr lang="vi-VN" b="0"/>
              <a:t>86% ít tốn kém hơn AWS</a:t>
            </a:r>
            <a:endParaRPr lang="en-US" b="0"/>
          </a:p>
          <a:p>
            <a:pPr marL="171450" lvl="0" indent="-171450">
              <a:buFont typeface="Arial" panose="020B0604020202020204" pitchFamily="34" charset="0"/>
              <a:buChar char="•"/>
            </a:pPr>
            <a:r>
              <a:rPr lang="vi-VN" b="0"/>
              <a:t>Cả </a:t>
            </a:r>
            <a:r>
              <a:rPr lang="en-US" b="0"/>
              <a:t>2</a:t>
            </a:r>
            <a:r>
              <a:rPr lang="vi-VN" b="0"/>
              <a:t> đám mây cũng như các ứng dụng tại chỗ có thể sử dụng cơ sở dữ liệu </a:t>
            </a:r>
            <a:r>
              <a:rPr lang="vi-VN" b="1"/>
              <a:t>Azure SQL</a:t>
            </a:r>
            <a:r>
              <a:rPr lang="vi-VN" b="0"/>
              <a:t>.</a:t>
            </a:r>
          </a:p>
          <a:p>
            <a:pPr marL="171450" lvl="0" indent="-171450">
              <a:buFont typeface="Arial" panose="020B0604020202020204" pitchFamily="34" charset="0"/>
              <a:buChar char="•"/>
            </a:pPr>
            <a:r>
              <a:rPr lang="vi-VN" b="0"/>
              <a:t>Các ứng dụng </a:t>
            </a:r>
            <a:r>
              <a:rPr lang="en-US" b="0"/>
              <a:t>l</a:t>
            </a:r>
            <a:r>
              <a:rPr lang="vi-VN" b="0"/>
              <a:t>ấy dữ liệu từ </a:t>
            </a:r>
            <a:r>
              <a:rPr lang="vi-VN" b="1"/>
              <a:t>Azure SQL </a:t>
            </a:r>
            <a:r>
              <a:rPr lang="vi-VN" b="0"/>
              <a:t>thông qua một giao thức được gọi là luồng dữ liệu dạng bảng (</a:t>
            </a:r>
            <a:r>
              <a:rPr lang="vi-VN" b="1"/>
              <a:t>TDS</a:t>
            </a:r>
            <a:r>
              <a:rPr lang="en-US" b="1"/>
              <a:t> - </a:t>
            </a:r>
            <a:r>
              <a:rPr lang="en-US" sz="1200" b="1">
                <a:latin typeface="Goudy Old Style"/>
                <a:cs typeface="Goudy Old Style"/>
              </a:rPr>
              <a:t>Tabular </a:t>
            </a:r>
            <a:r>
              <a:rPr lang="en-US" sz="1200" b="1" spc="-5">
                <a:latin typeface="Goudy Old Style"/>
                <a:cs typeface="Goudy Old Style"/>
              </a:rPr>
              <a:t>Data </a:t>
            </a:r>
            <a:r>
              <a:rPr lang="en-US" sz="1200" b="1">
                <a:latin typeface="Goudy Old Style"/>
                <a:cs typeface="Goudy Old Style"/>
              </a:rPr>
              <a:t>Stream</a:t>
            </a:r>
            <a:r>
              <a:rPr lang="vi-VN" b="0"/>
              <a:t>).</a:t>
            </a:r>
            <a:endParaRPr lang="en-US" b="0"/>
          </a:p>
        </p:txBody>
      </p:sp>
      <p:sp>
        <p:nvSpPr>
          <p:cNvPr id="4" name="Slide Number Placeholder 3"/>
          <p:cNvSpPr>
            <a:spLocks noGrp="1"/>
          </p:cNvSpPr>
          <p:nvPr>
            <p:ph type="sldNum" sz="quarter" idx="5"/>
          </p:nvPr>
        </p:nvSpPr>
        <p:spPr/>
        <p:txBody>
          <a:bodyPr/>
          <a:lstStyle/>
          <a:p>
            <a:fld id="{52C127AF-00EB-4D90-A5A6-061AC481D4F4}" type="slidenum">
              <a:rPr lang="en-US" smtClean="0"/>
              <a:t>6</a:t>
            </a:fld>
            <a:endParaRPr lang="en-US"/>
          </a:p>
        </p:txBody>
      </p:sp>
    </p:spTree>
    <p:extLst>
      <p:ext uri="{BB962C8B-B14F-4D97-AF65-F5344CB8AC3E}">
        <p14:creationId xmlns:p14="http://schemas.microsoft.com/office/powerpoint/2010/main" val="3373426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Dịch vụ và sản phẩm trong gia đình Azure SQL</a:t>
            </a:r>
          </a:p>
          <a:p>
            <a:pPr marL="171450" indent="-171450">
              <a:buFont typeface="Arial" panose="020B0604020202020204" pitchFamily="34" charset="0"/>
              <a:buChar char="•"/>
            </a:pPr>
            <a:r>
              <a:rPr lang="en-US" b="1"/>
              <a:t>SQL Server on  Azure Virtual Machines</a:t>
            </a:r>
          </a:p>
          <a:p>
            <a:pPr marL="628650" lvl="1" indent="-171450">
              <a:buFont typeface="Arial" panose="020B0604020202020204" pitchFamily="34" charset="0"/>
              <a:buChar char="•"/>
            </a:pPr>
            <a:r>
              <a:rPr lang="vi-VN" b="0"/>
              <a:t>Tạo điều kiện cho việc di chuyển các ứng dụng hiện có hoặc xây dựng các ứng dụng mới trên đám mây </a:t>
            </a:r>
            <a:r>
              <a:rPr lang="en-US" b="0"/>
              <a:t>cho </a:t>
            </a:r>
            <a:r>
              <a:rPr lang="vi-VN" b="0"/>
              <a:t>nhiệm vụ quan trọng</a:t>
            </a:r>
            <a:r>
              <a:rPr lang="en-US" b="0"/>
              <a:t> </a:t>
            </a:r>
            <a:r>
              <a:rPr lang="vi-VN" b="0"/>
              <a:t>khối lượng công việc SQL Server</a:t>
            </a:r>
            <a:r>
              <a:rPr lang="en-US" b="0"/>
              <a:t>.</a:t>
            </a:r>
          </a:p>
          <a:p>
            <a:pPr marL="171450" lvl="0" indent="-171450">
              <a:buFont typeface="Arial" panose="020B0604020202020204" pitchFamily="34" charset="0"/>
              <a:buChar char="•"/>
            </a:pPr>
            <a:r>
              <a:rPr lang="en-US" b="1"/>
              <a:t>Azure SQL Managed Instance</a:t>
            </a:r>
          </a:p>
          <a:p>
            <a:pPr marL="628650" lvl="1" indent="-171450">
              <a:buFont typeface="Arial" panose="020B0604020202020204" pitchFamily="34" charset="0"/>
              <a:buChar char="•"/>
            </a:pPr>
            <a:r>
              <a:rPr lang="vi-VN" b="0"/>
              <a:t>Là dịch vụ cơ sở dữ liệu đám mây thông minh, có thể mở rộng, kết hợp khả năng tương thích của công cụ SQL Server rộng nhất với lợi ích của nền tảng được quản lý đầy đủ như một dịch vụ</a:t>
            </a:r>
            <a:r>
              <a:rPr lang="en-US" b="0"/>
              <a:t>.</a:t>
            </a:r>
          </a:p>
          <a:p>
            <a:pPr marL="171450" indent="-171450">
              <a:buFont typeface="Arial" panose="020B0604020202020204" pitchFamily="34" charset="0"/>
              <a:buChar char="•"/>
            </a:pPr>
            <a:r>
              <a:rPr lang="en-US" b="1"/>
              <a:t>Azure SQL Database</a:t>
            </a:r>
          </a:p>
          <a:p>
            <a:pPr marL="628650" lvl="1" indent="-171450">
              <a:buFont typeface="Arial" panose="020B0604020202020204" pitchFamily="34" charset="0"/>
              <a:buChar char="•"/>
            </a:pPr>
            <a:r>
              <a:rPr lang="vi-VN" b="0"/>
              <a:t>Là dịch vụ cơ sở dữ liệu quan hệ thông minh, có thể mở rộng, được xây dựng cho đám mây. Nó luôn luôn cập nhật, với các tính năng được hỗ trợ và tự động AI tối ưu hóa hiệu suất</a:t>
            </a:r>
            <a:endParaRPr lang="en-US" b="0"/>
          </a:p>
          <a:p>
            <a:pPr marL="171450" indent="-171450">
              <a:buFont typeface="Arial" panose="020B0604020202020204" pitchFamily="34" charset="0"/>
              <a:buChar char="•"/>
            </a:pPr>
            <a:r>
              <a:rPr lang="en-US" b="1"/>
              <a:t>Azure SQL Edge</a:t>
            </a:r>
          </a:p>
          <a:p>
            <a:pPr marL="628650" lvl="1" indent="-171450">
              <a:buFont typeface="Arial" panose="020B0604020202020204" pitchFamily="34" charset="0"/>
              <a:buChar char="•"/>
            </a:pPr>
            <a:r>
              <a:rPr lang="vi-VN" b="0"/>
              <a:t>Là một công cụ cơ sở dữ liệu SQL nhỏ được tối ưu hóa </a:t>
            </a:r>
            <a:r>
              <a:rPr lang="en-US" b="0"/>
              <a:t>cùng </a:t>
            </a:r>
            <a:r>
              <a:rPr lang="vi-VN" b="0"/>
              <a:t>tích hợp trí tuệ nhân tạo (AI).</a:t>
            </a:r>
            <a:endParaRPr lang="en-US" b="0"/>
          </a:p>
        </p:txBody>
      </p:sp>
      <p:sp>
        <p:nvSpPr>
          <p:cNvPr id="4" name="Slide Number Placeholder 3"/>
          <p:cNvSpPr>
            <a:spLocks noGrp="1"/>
          </p:cNvSpPr>
          <p:nvPr>
            <p:ph type="sldNum" sz="quarter" idx="5"/>
          </p:nvPr>
        </p:nvSpPr>
        <p:spPr/>
        <p:txBody>
          <a:bodyPr/>
          <a:lstStyle/>
          <a:p>
            <a:fld id="{52C127AF-00EB-4D90-A5A6-061AC481D4F4}" type="slidenum">
              <a:rPr lang="en-US" smtClean="0"/>
              <a:t>7</a:t>
            </a:fld>
            <a:endParaRPr lang="en-US"/>
          </a:p>
        </p:txBody>
      </p:sp>
    </p:spTree>
    <p:extLst>
      <p:ext uri="{BB962C8B-B14F-4D97-AF65-F5344CB8AC3E}">
        <p14:creationId xmlns:p14="http://schemas.microsoft.com/office/powerpoint/2010/main" val="2562182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dịch vụ Azure SQL</a:t>
            </a:r>
          </a:p>
          <a:p>
            <a:pPr marL="171450" indent="-171450">
              <a:buFont typeface="Arial" panose="020B0604020202020204" pitchFamily="34" charset="0"/>
              <a:buChar char="•"/>
            </a:pPr>
            <a:r>
              <a:rPr lang="en-US" b="1"/>
              <a:t>SQL Server on Azure Virtual Machines</a:t>
            </a:r>
          </a:p>
          <a:p>
            <a:pPr marL="628650" lvl="1" indent="-171450">
              <a:buFont typeface="Arial" panose="020B0604020202020204" pitchFamily="34" charset="0"/>
              <a:buChar char="•"/>
            </a:pPr>
            <a:r>
              <a:rPr lang="vi-VN" b="0"/>
              <a:t>Thích hợp để thao tác khối lượng công việc yêu cầu khả năng tương thích 100% máy chủ SQL và quyền truy cập cấp hệ điều hành</a:t>
            </a:r>
            <a:endParaRPr lang="en-US" b="0"/>
          </a:p>
          <a:p>
            <a:pPr marL="171450" indent="-171450">
              <a:buFont typeface="Arial" panose="020B0604020202020204" pitchFamily="34" charset="0"/>
              <a:buChar char="•"/>
            </a:pPr>
            <a:r>
              <a:rPr lang="en-US" b="1"/>
              <a:t>Azure SQL Managed Instance</a:t>
            </a:r>
          </a:p>
          <a:p>
            <a:pPr marL="628650" lvl="1" indent="-171450">
              <a:buFont typeface="Arial" panose="020B0604020202020204" pitchFamily="34" charset="0"/>
              <a:buChar char="•"/>
            </a:pPr>
            <a:r>
              <a:rPr lang="en-US" b="0"/>
              <a:t>Thích hợp để hiện đại hóa các ứng dụng hiện có</a:t>
            </a:r>
          </a:p>
          <a:p>
            <a:pPr marL="171450" lvl="0" indent="-171450">
              <a:buFont typeface="Arial" panose="020B0604020202020204" pitchFamily="34" charset="0"/>
              <a:buChar char="•"/>
            </a:pPr>
            <a:r>
              <a:rPr lang="en-US" b="1"/>
              <a:t>Azure SQL Database</a:t>
            </a:r>
          </a:p>
          <a:p>
            <a:pPr marL="628650" lvl="1" indent="-171450">
              <a:buFont typeface="Arial" panose="020B0604020202020204" pitchFamily="34" charset="0"/>
              <a:buChar char="•"/>
            </a:pPr>
            <a:r>
              <a:rPr lang="en-US" b="0"/>
              <a:t>Thích hợp cho các ứng dụng đám mây hiện đại</a:t>
            </a:r>
          </a:p>
        </p:txBody>
      </p:sp>
      <p:sp>
        <p:nvSpPr>
          <p:cNvPr id="4" name="Slide Number Placeholder 3"/>
          <p:cNvSpPr>
            <a:spLocks noGrp="1"/>
          </p:cNvSpPr>
          <p:nvPr>
            <p:ph type="sldNum" sz="quarter" idx="5"/>
          </p:nvPr>
        </p:nvSpPr>
        <p:spPr/>
        <p:txBody>
          <a:bodyPr/>
          <a:lstStyle/>
          <a:p>
            <a:fld id="{52C127AF-00EB-4D90-A5A6-061AC481D4F4}" type="slidenum">
              <a:rPr lang="en-US" smtClean="0"/>
              <a:t>8</a:t>
            </a:fld>
            <a:endParaRPr lang="en-US"/>
          </a:p>
        </p:txBody>
      </p:sp>
    </p:spTree>
    <p:extLst>
      <p:ext uri="{BB962C8B-B14F-4D97-AF65-F5344CB8AC3E}">
        <p14:creationId xmlns:p14="http://schemas.microsoft.com/office/powerpoint/2010/main" val="2346632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Kiến trúc Azure SQL 1-2</a:t>
            </a:r>
          </a:p>
        </p:txBody>
      </p:sp>
      <p:sp>
        <p:nvSpPr>
          <p:cNvPr id="4" name="Slide Number Placeholder 3"/>
          <p:cNvSpPr>
            <a:spLocks noGrp="1"/>
          </p:cNvSpPr>
          <p:nvPr>
            <p:ph type="sldNum" sz="quarter" idx="5"/>
          </p:nvPr>
        </p:nvSpPr>
        <p:spPr/>
        <p:txBody>
          <a:bodyPr/>
          <a:lstStyle/>
          <a:p>
            <a:fld id="{52C127AF-00EB-4D90-A5A6-061AC481D4F4}" type="slidenum">
              <a:rPr lang="en-US" smtClean="0"/>
              <a:t>9</a:t>
            </a:fld>
            <a:endParaRPr lang="en-US"/>
          </a:p>
        </p:txBody>
      </p:sp>
    </p:spTree>
    <p:extLst>
      <p:ext uri="{BB962C8B-B14F-4D97-AF65-F5344CB8AC3E}">
        <p14:creationId xmlns:p14="http://schemas.microsoft.com/office/powerpoint/2010/main" val="6480676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Kiến trúc Azure SQL 1-2</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5">
                <a:solidFill>
                  <a:srgbClr val="FFFFFF"/>
                </a:solidFill>
                <a:latin typeface="Calisto MT"/>
                <a:cs typeface="Calisto MT"/>
              </a:rPr>
              <a:t>Client</a:t>
            </a:r>
            <a:r>
              <a:rPr lang="en-US" sz="1200" b="1" spc="-35">
                <a:solidFill>
                  <a:srgbClr val="FFFFFF"/>
                </a:solidFill>
                <a:latin typeface="Calisto MT"/>
                <a:cs typeface="Calisto MT"/>
              </a:rPr>
              <a:t> </a:t>
            </a:r>
            <a:r>
              <a:rPr lang="en-US" sz="1200" b="1" spc="-20">
                <a:solidFill>
                  <a:srgbClr val="FFFFFF"/>
                </a:solidFill>
                <a:latin typeface="Calisto MT"/>
                <a:cs typeface="Calisto MT"/>
              </a:rPr>
              <a:t>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spc="-20">
                <a:solidFill>
                  <a:srgbClr val="FFFFFF"/>
                </a:solidFill>
                <a:latin typeface="Calisto MT"/>
                <a:cs typeface="Calisto MT"/>
              </a:rPr>
              <a:t>Hoạt động như một giao diện cho các ứng dụng.</a:t>
            </a:r>
            <a:r>
              <a:rPr lang="en-US" sz="1200" b="0" spc="-20">
                <a:solidFill>
                  <a:srgbClr val="FFFFFF"/>
                </a:solidFill>
                <a:latin typeface="Calisto MT"/>
                <a:cs typeface="Calisto MT"/>
              </a:rPr>
              <a:t> </a:t>
            </a:r>
            <a:r>
              <a:rPr lang="vi-VN" sz="1200" b="0" spc="-20">
                <a:solidFill>
                  <a:srgbClr val="FFFFFF"/>
                </a:solidFill>
                <a:latin typeface="Calisto MT"/>
                <a:cs typeface="Calisto MT"/>
              </a:rPr>
              <a:t>Bao gồm các công cụ SQL Server, mở</a:t>
            </a:r>
            <a:r>
              <a:rPr lang="en-US" sz="1200" b="0" spc="-20">
                <a:solidFill>
                  <a:srgbClr val="FFFFFF"/>
                </a:solidFill>
                <a:latin typeface="Calisto MT"/>
                <a:cs typeface="Calisto MT"/>
              </a:rPr>
              <a:t> k</a:t>
            </a:r>
            <a:r>
              <a:rPr lang="vi-VN" sz="1200" b="0" spc="-20">
                <a:solidFill>
                  <a:srgbClr val="FFFFFF"/>
                </a:solidFill>
                <a:latin typeface="Calisto MT"/>
                <a:cs typeface="Calisto MT"/>
              </a:rPr>
              <a:t>ết nối cơ sở dữ liệu (ODBC),</a:t>
            </a:r>
            <a:r>
              <a:rPr lang="en-US" sz="1200" b="0" spc="-20">
                <a:solidFill>
                  <a:srgbClr val="FFFFFF"/>
                </a:solidFill>
                <a:latin typeface="Calisto MT"/>
                <a:cs typeface="Calisto MT"/>
              </a:rPr>
              <a:t> </a:t>
            </a:r>
            <a:r>
              <a:rPr lang="vi-VN" sz="1200" b="0" spc="-20">
                <a:solidFill>
                  <a:srgbClr val="FFFFFF"/>
                </a:solidFill>
                <a:latin typeface="Calisto MT"/>
                <a:cs typeface="Calisto MT"/>
              </a:rPr>
              <a:t>ADO.NET, và tiền xử lý siêu văn bản</a:t>
            </a:r>
            <a:r>
              <a:rPr lang="en-US" sz="1200" b="0" spc="-20">
                <a:solidFill>
                  <a:srgbClr val="FFFFFF"/>
                </a:solidFill>
                <a:latin typeface="Calisto MT"/>
                <a:cs typeface="Calisto MT"/>
              </a:rPr>
              <a:t> </a:t>
            </a:r>
            <a:r>
              <a:rPr lang="vi-VN" sz="1200" b="0" spc="-20">
                <a:solidFill>
                  <a:srgbClr val="FFFFFF"/>
                </a:solidFill>
                <a:latin typeface="Calisto MT"/>
                <a:cs typeface="Calisto MT"/>
              </a:rPr>
              <a:t>(PHP).</a:t>
            </a:r>
            <a:r>
              <a:rPr lang="en-US" sz="1200" b="0" spc="-20">
                <a:solidFill>
                  <a:srgbClr val="FFFFFF"/>
                </a:solidFill>
                <a:latin typeface="Calisto MT"/>
                <a:cs typeface="Calisto MT"/>
              </a:rPr>
              <a:t> </a:t>
            </a:r>
            <a:r>
              <a:rPr lang="vi-VN" sz="1200" b="0" spc="-20">
                <a:solidFill>
                  <a:srgbClr val="FFFFFF"/>
                </a:solidFill>
                <a:latin typeface="Calisto MT"/>
                <a:cs typeface="Calisto MT"/>
              </a:rPr>
              <a:t>TDS chuyển dữ liệu giữa cá</a:t>
            </a:r>
            <a:r>
              <a:rPr lang="en-US" sz="1200" b="0" spc="-20">
                <a:solidFill>
                  <a:srgbClr val="FFFFFF"/>
                </a:solidFill>
                <a:latin typeface="Calisto MT"/>
                <a:cs typeface="Calisto MT"/>
              </a:rPr>
              <a:t>c </a:t>
            </a:r>
            <a:r>
              <a:rPr lang="vi-VN" sz="1200" b="0" spc="-20">
                <a:solidFill>
                  <a:srgbClr val="FFFFFF"/>
                </a:solidFill>
                <a:latin typeface="Calisto MT"/>
                <a:cs typeface="Calisto MT"/>
              </a:rPr>
              <a:t>ứng dụng</a:t>
            </a:r>
            <a:r>
              <a:rPr lang="en-US" sz="1200" b="0" spc="-20">
                <a:solidFill>
                  <a:srgbClr val="FFFFFF"/>
                </a:solidFill>
                <a:latin typeface="Calisto MT"/>
                <a:cs typeface="Calisto MT"/>
              </a:rPr>
              <a:t> </a:t>
            </a:r>
            <a:r>
              <a:rPr lang="vi-VN" sz="1200" b="0" spc="-20">
                <a:solidFill>
                  <a:srgbClr val="FFFFFF"/>
                </a:solidFill>
                <a:latin typeface="Calisto MT"/>
                <a:cs typeface="Calisto MT"/>
              </a:rPr>
              <a:t>và cơ sở dữ liệu SQL và cũng</a:t>
            </a:r>
            <a:r>
              <a:rPr lang="en-US" sz="1200" b="0" spc="-20">
                <a:solidFill>
                  <a:srgbClr val="FFFFFF"/>
                </a:solidFill>
                <a:latin typeface="Calisto MT"/>
                <a:cs typeface="Calisto MT"/>
              </a:rPr>
              <a:t> </a:t>
            </a:r>
            <a:r>
              <a:rPr lang="vi-VN" sz="1200" b="0" spc="-20">
                <a:solidFill>
                  <a:srgbClr val="FFFFFF"/>
                </a:solidFill>
                <a:latin typeface="Calisto MT"/>
                <a:cs typeface="Calisto MT"/>
              </a:rPr>
              <a:t>giao tiếp với các ứng dụng</a:t>
            </a:r>
            <a:r>
              <a:rPr lang="en-US" sz="1200" b="0" spc="-20">
                <a:solidFill>
                  <a:srgbClr val="FFFFFF"/>
                </a:solidFill>
                <a:latin typeface="Calisto MT"/>
                <a:cs typeface="Calisto MT"/>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5">
                <a:solidFill>
                  <a:srgbClr val="FFFFFF"/>
                </a:solidFill>
                <a:latin typeface="Calisto MT"/>
                <a:cs typeface="Calisto MT"/>
              </a:rPr>
              <a:t>Service</a:t>
            </a:r>
            <a:r>
              <a:rPr lang="en-US" sz="1200" b="1" spc="-20">
                <a:solidFill>
                  <a:srgbClr val="FFFFFF"/>
                </a:solidFill>
                <a:latin typeface="Calisto MT"/>
                <a:cs typeface="Calisto MT"/>
              </a:rPr>
              <a:t> 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a:latin typeface="Calisto MT"/>
                <a:cs typeface="Calisto MT"/>
              </a:rPr>
              <a:t>Nằm giữa các lớp nền tảng và máy khách</a:t>
            </a:r>
            <a:r>
              <a:rPr lang="en-US" sz="1200">
                <a:latin typeface="Calisto MT"/>
                <a:cs typeface="Calisto MT"/>
              </a:rPr>
              <a:t> </a:t>
            </a:r>
            <a:r>
              <a:rPr lang="vi-VN" sz="1200">
                <a:latin typeface="Calisto MT"/>
                <a:cs typeface="Calisto MT"/>
              </a:rPr>
              <a:t>và đóng vai trò là một ô cửa giữa hai người. Nó</a:t>
            </a:r>
            <a:r>
              <a:rPr lang="en-US" sz="1200">
                <a:latin typeface="Calisto MT"/>
                <a:cs typeface="Calisto MT"/>
              </a:rPr>
              <a:t> </a:t>
            </a:r>
            <a:r>
              <a:rPr lang="vi-VN" sz="1200">
                <a:latin typeface="Calisto MT"/>
                <a:cs typeface="Calisto MT"/>
              </a:rPr>
              <a:t>yêu cầu </a:t>
            </a:r>
            <a:r>
              <a:rPr lang="en-US" sz="1200">
                <a:latin typeface="Calisto MT"/>
                <a:cs typeface="Calisto MT"/>
              </a:rPr>
              <a:t>x</a:t>
            </a:r>
            <a:r>
              <a:rPr lang="vi-VN" sz="1200">
                <a:latin typeface="Calisto MT"/>
                <a:cs typeface="Calisto MT"/>
              </a:rPr>
              <a:t>ác thực cơ sở dữ liệu Microsoft Azure SQL</a:t>
            </a:r>
            <a:r>
              <a:rPr lang="en-US" sz="1200">
                <a:latin typeface="Calisto MT"/>
                <a:cs typeface="Calisto MT"/>
              </a:rPr>
              <a:t> </a:t>
            </a:r>
            <a:r>
              <a:rPr lang="vi-VN" sz="1200">
                <a:latin typeface="Calisto MT"/>
                <a:cs typeface="Calisto MT"/>
              </a:rPr>
              <a:t>và xác thực người dùng. Ngoài ra, nó</a:t>
            </a:r>
            <a:r>
              <a:rPr lang="en-US" sz="1200">
                <a:latin typeface="Calisto MT"/>
                <a:cs typeface="Calisto MT"/>
              </a:rPr>
              <a:t> </a:t>
            </a:r>
            <a:r>
              <a:rPr lang="vi-VN" sz="1200">
                <a:latin typeface="Calisto MT"/>
                <a:cs typeface="Calisto MT"/>
              </a:rPr>
              <a:t>thiết lập một kết nối giữa </a:t>
            </a:r>
            <a:r>
              <a:rPr lang="en-US" sz="1200">
                <a:latin typeface="Calisto MT"/>
                <a:cs typeface="Calisto MT"/>
              </a:rPr>
              <a:t>Client </a:t>
            </a:r>
            <a:r>
              <a:rPr lang="vi-VN" sz="1200">
                <a:latin typeface="Calisto MT"/>
                <a:cs typeface="Calisto MT"/>
              </a:rPr>
              <a:t>và</a:t>
            </a:r>
            <a:r>
              <a:rPr lang="en-US" sz="1200">
                <a:latin typeface="Calisto MT"/>
                <a:cs typeface="Calisto MT"/>
              </a:rPr>
              <a:t> Server </a:t>
            </a:r>
            <a:r>
              <a:rPr lang="vi-VN" sz="1200">
                <a:latin typeface="Calisto MT"/>
                <a:cs typeface="Calisto MT"/>
              </a:rPr>
              <a:t>và </a:t>
            </a:r>
            <a:r>
              <a:rPr lang="en-US" sz="1200">
                <a:latin typeface="Calisto MT"/>
                <a:cs typeface="Calisto MT"/>
              </a:rPr>
              <a:t>định tuyến các gói tin sử dụng kết nối này.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a:solidFill>
                  <a:srgbClr val="FFFFFF"/>
                </a:solidFill>
                <a:latin typeface="Calisto MT"/>
                <a:cs typeface="Calisto MT"/>
              </a:rPr>
              <a:t>Platform</a:t>
            </a:r>
            <a:r>
              <a:rPr lang="en-US" sz="1200" b="1" spc="-35">
                <a:solidFill>
                  <a:srgbClr val="FFFFFF"/>
                </a:solidFill>
                <a:latin typeface="Calisto MT"/>
                <a:cs typeface="Calisto MT"/>
              </a:rPr>
              <a:t> </a:t>
            </a:r>
            <a:r>
              <a:rPr lang="en-US" sz="1200" b="1" spc="-20">
                <a:solidFill>
                  <a:srgbClr val="FFFFFF"/>
                </a:solidFill>
                <a:latin typeface="Calisto MT"/>
                <a:cs typeface="Calisto MT"/>
              </a:rPr>
              <a:t>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b="0">
                <a:latin typeface="Calisto MT"/>
                <a:cs typeface="Calisto MT"/>
              </a:rPr>
              <a:t>Bao gồm các hệ thống (nút dữ liệu) lưu trữ máy chủ </a:t>
            </a:r>
            <a:r>
              <a:rPr lang="vi-VN" sz="1200" b="1">
                <a:latin typeface="Calisto MT"/>
                <a:cs typeface="Calisto MT"/>
              </a:rPr>
              <a:t>Azure SQL </a:t>
            </a:r>
            <a:r>
              <a:rPr lang="vi-VN" sz="1200" b="0">
                <a:latin typeface="Calisto MT"/>
                <a:cs typeface="Calisto MT"/>
              </a:rPr>
              <a:t>thực tế trong Trung tâm dữ liệu. Mỗi cơ sở dữ liệu SQL được lưu trữ trong một trong các nút và được sao chép hai lần trên hai máy chủ vật lý khác nhau. Azure SQL đảm bảo rằng nhiều bản sao của các máy chủ được giữ trong đám mây Azure. Nó cũng đảm bảo rằng các bản sao được đồng bộ hóa khi dữ liệu trong chúng được thao tác</a:t>
            </a:r>
            <a:r>
              <a:rPr lang="en-US" sz="1200" b="0">
                <a:latin typeface="Calisto MT"/>
                <a:cs typeface="Calisto MT"/>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1" spc="-5">
                <a:solidFill>
                  <a:srgbClr val="FFFFFF"/>
                </a:solidFill>
                <a:latin typeface="Calisto MT"/>
                <a:cs typeface="Calisto MT"/>
              </a:rPr>
              <a:t>Infrastructure</a:t>
            </a:r>
            <a:r>
              <a:rPr lang="en-US" sz="1200" b="1" spc="25">
                <a:solidFill>
                  <a:srgbClr val="FFFFFF"/>
                </a:solidFill>
                <a:latin typeface="Calisto MT"/>
                <a:cs typeface="Calisto MT"/>
              </a:rPr>
              <a:t> </a:t>
            </a:r>
            <a:r>
              <a:rPr lang="en-US" sz="1200" b="1" spc="-20">
                <a:solidFill>
                  <a:srgbClr val="FFFFFF"/>
                </a:solidFill>
                <a:latin typeface="Calisto MT"/>
                <a:cs typeface="Calisto MT"/>
              </a:rPr>
              <a:t>Layer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200">
                <a:latin typeface="Calisto MT"/>
                <a:cs typeface="Calisto MT"/>
              </a:rPr>
              <a:t>Là lớp dưới cùng của kiến ​​trúc và chịu trách nhiệm quản trị hệ điều hành và phần cứng vật lý</a:t>
            </a:r>
            <a:endParaRPr lang="en-US" sz="1200">
              <a:latin typeface="Calisto MT"/>
              <a:cs typeface="Calisto MT"/>
            </a:endParaRPr>
          </a:p>
        </p:txBody>
      </p:sp>
      <p:sp>
        <p:nvSpPr>
          <p:cNvPr id="4" name="Slide Number Placeholder 3"/>
          <p:cNvSpPr>
            <a:spLocks noGrp="1"/>
          </p:cNvSpPr>
          <p:nvPr>
            <p:ph type="sldNum" sz="quarter" idx="5"/>
          </p:nvPr>
        </p:nvSpPr>
        <p:spPr/>
        <p:txBody>
          <a:bodyPr/>
          <a:lstStyle/>
          <a:p>
            <a:fld id="{52C127AF-00EB-4D90-A5A6-061AC481D4F4}" type="slidenum">
              <a:rPr lang="en-US" smtClean="0"/>
              <a:t>10</a:t>
            </a:fld>
            <a:endParaRPr lang="en-US"/>
          </a:p>
        </p:txBody>
      </p:sp>
    </p:spTree>
    <p:extLst>
      <p:ext uri="{BB962C8B-B14F-4D97-AF65-F5344CB8AC3E}">
        <p14:creationId xmlns:p14="http://schemas.microsoft.com/office/powerpoint/2010/main" val="371570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tính năng và lợi ích của Azure SQL</a:t>
            </a:r>
          </a:p>
          <a:p>
            <a:pPr marL="171450" indent="-171450">
              <a:buFont typeface="Arial" panose="020B0604020202020204" pitchFamily="34" charset="0"/>
              <a:buChar char="•"/>
            </a:pPr>
            <a:r>
              <a:rPr lang="vi-VN" b="0"/>
              <a:t>Chi phí thấp hơn</a:t>
            </a:r>
            <a:endParaRPr lang="en-US" b="0"/>
          </a:p>
          <a:p>
            <a:pPr marL="171450" indent="-171450">
              <a:buFont typeface="Arial" panose="020B0604020202020204" pitchFamily="34" charset="0"/>
              <a:buChar char="•"/>
            </a:pPr>
            <a:r>
              <a:rPr lang="en-US" b="0"/>
              <a:t>Khả năng mở rộng</a:t>
            </a:r>
          </a:p>
          <a:p>
            <a:pPr marL="171450" indent="-171450">
              <a:buFont typeface="Arial" panose="020B0604020202020204" pitchFamily="34" charset="0"/>
              <a:buChar char="•"/>
            </a:pPr>
            <a:r>
              <a:rPr lang="en-US" b="0"/>
              <a:t>Sử dụng </a:t>
            </a:r>
            <a:r>
              <a:rPr lang="vi-VN" b="1"/>
              <a:t>TDS</a:t>
            </a:r>
            <a:r>
              <a:rPr lang="en-US" b="1"/>
              <a:t> - </a:t>
            </a:r>
            <a:r>
              <a:rPr lang="en-US" sz="1200" b="1">
                <a:latin typeface="Goudy Old Style"/>
                <a:cs typeface="Goudy Old Style"/>
              </a:rPr>
              <a:t>Tabular </a:t>
            </a:r>
            <a:r>
              <a:rPr lang="en-US" sz="1200" b="1" spc="-5">
                <a:latin typeface="Goudy Old Style"/>
                <a:cs typeface="Goudy Old Style"/>
              </a:rPr>
              <a:t>Data </a:t>
            </a:r>
            <a:r>
              <a:rPr lang="en-US" sz="1200" b="1">
                <a:latin typeface="Goudy Old Style"/>
                <a:cs typeface="Goudy Old Style"/>
              </a:rPr>
              <a:t>Stream</a:t>
            </a:r>
          </a:p>
          <a:p>
            <a:pPr marL="171450" indent="-171450">
              <a:buFont typeface="Arial" panose="020B0604020202020204" pitchFamily="34" charset="0"/>
              <a:buChar char="•"/>
            </a:pPr>
            <a:r>
              <a:rPr lang="en-US" b="0"/>
              <a:t>Các biện pháp chuyển đổi dự phòng tự động</a:t>
            </a:r>
          </a:p>
          <a:p>
            <a:pPr marL="171450" indent="-171450">
              <a:buFont typeface="Arial" panose="020B0604020202020204" pitchFamily="34" charset="0"/>
              <a:buChar char="•"/>
            </a:pPr>
            <a:r>
              <a:rPr lang="en-US" b="0"/>
              <a:t>Linh hoạt trong việc sử dụng dịch vụ</a:t>
            </a:r>
          </a:p>
          <a:p>
            <a:pPr marL="171450" indent="-171450">
              <a:buFont typeface="Arial" panose="020B0604020202020204" pitchFamily="34" charset="0"/>
              <a:buChar char="•"/>
            </a:pPr>
            <a:r>
              <a:rPr lang="en-US" b="0"/>
              <a:t>Hỗ trợ Transact-SQL</a:t>
            </a:r>
          </a:p>
        </p:txBody>
      </p:sp>
      <p:sp>
        <p:nvSpPr>
          <p:cNvPr id="4" name="Slide Number Placeholder 3"/>
          <p:cNvSpPr>
            <a:spLocks noGrp="1"/>
          </p:cNvSpPr>
          <p:nvPr>
            <p:ph type="sldNum" sz="quarter" idx="5"/>
          </p:nvPr>
        </p:nvSpPr>
        <p:spPr/>
        <p:txBody>
          <a:bodyPr/>
          <a:lstStyle/>
          <a:p>
            <a:fld id="{52C127AF-00EB-4D90-A5A6-061AC481D4F4}" type="slidenum">
              <a:rPr lang="en-US" smtClean="0"/>
              <a:t>11</a:t>
            </a:fld>
            <a:endParaRPr lang="en-US"/>
          </a:p>
        </p:txBody>
      </p:sp>
    </p:spTree>
    <p:extLst>
      <p:ext uri="{BB962C8B-B14F-4D97-AF65-F5344CB8AC3E}">
        <p14:creationId xmlns:p14="http://schemas.microsoft.com/office/powerpoint/2010/main" val="4220376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Sự khác biệt giữa SQL Azure và SQL Server Server tại chỗ</a:t>
            </a:r>
          </a:p>
          <a:p>
            <a:pPr marL="171450" lvl="0" indent="-171450">
              <a:buFont typeface="Arial" panose="020B0604020202020204" pitchFamily="34" charset="0"/>
              <a:buChar char="•"/>
            </a:pPr>
            <a:r>
              <a:rPr lang="en-US" b="1"/>
              <a:t>Các công cụ: </a:t>
            </a:r>
          </a:p>
          <a:p>
            <a:pPr marL="628650" lvl="1" indent="-171450">
              <a:buFont typeface="Arial" panose="020B0604020202020204" pitchFamily="34" charset="0"/>
              <a:buChar char="•"/>
            </a:pPr>
            <a:r>
              <a:rPr lang="vi-VN" b="0"/>
              <a:t>SQL Server tại chỗ cung cấp một số công cụ để giám sát và quản lý.</a:t>
            </a:r>
            <a:r>
              <a:rPr lang="en-US" b="0"/>
              <a:t> </a:t>
            </a:r>
            <a:r>
              <a:rPr lang="vi-VN" b="0"/>
              <a:t>Tất cả các công cụ này có thể không được hỗ trợ bởi SQL Azure trong phiên bản này.</a:t>
            </a:r>
            <a:endParaRPr lang="en-US" b="0"/>
          </a:p>
          <a:p>
            <a:pPr marL="171450" lvl="0" indent="-171450">
              <a:buFont typeface="Arial" panose="020B0604020202020204" pitchFamily="34" charset="0"/>
              <a:buChar char="•"/>
            </a:pPr>
            <a:r>
              <a:rPr lang="vi-VN" b="1"/>
              <a:t>Sao lưu</a:t>
            </a:r>
            <a:r>
              <a:rPr lang="en-US" b="1"/>
              <a:t>:</a:t>
            </a:r>
          </a:p>
          <a:p>
            <a:pPr marL="628650" lvl="1" indent="-171450">
              <a:buFont typeface="Arial" panose="020B0604020202020204" pitchFamily="34" charset="0"/>
              <a:buChar char="•"/>
            </a:pPr>
            <a:r>
              <a:rPr lang="vi-VN" b="0"/>
              <a:t>Chức năng sao lưu và khôi phục phải được hỗ trợ trong SQL Server tại chỗ để khôi phục thảm họa.</a:t>
            </a:r>
            <a:r>
              <a:rPr lang="en-US" b="0"/>
              <a:t> </a:t>
            </a:r>
            <a:r>
              <a:rPr lang="vi-VN" b="0"/>
              <a:t>Đối với SQL Azure, vì tất cả các dữ liệu nằm trên nền tảng đám mây, sao lưu và khôi phục là không cần thiết.</a:t>
            </a:r>
            <a:endParaRPr lang="en-US" b="0"/>
          </a:p>
          <a:p>
            <a:pPr marL="171450" lvl="0" indent="-171450">
              <a:buFont typeface="Arial" panose="020B0604020202020204" pitchFamily="34" charset="0"/>
              <a:buChar char="•"/>
            </a:pPr>
            <a:r>
              <a:rPr lang="en-US" b="1"/>
              <a:t>Phát biểu USE:</a:t>
            </a:r>
          </a:p>
          <a:p>
            <a:pPr marL="628650" lvl="1" indent="-171450">
              <a:buFont typeface="Arial" panose="020B0604020202020204" pitchFamily="34" charset="0"/>
              <a:buChar char="•"/>
            </a:pPr>
            <a:r>
              <a:rPr lang="vi-VN" b="0"/>
              <a:t>Tuyên bố </a:t>
            </a:r>
            <a:r>
              <a:rPr lang="en-US" b="0"/>
              <a:t>USE </a:t>
            </a:r>
            <a:r>
              <a:rPr lang="vi-VN" b="0"/>
              <a:t>không được hỗ trợ bởi SQL Azure.</a:t>
            </a:r>
            <a:r>
              <a:rPr lang="en-US" b="0"/>
              <a:t> </a:t>
            </a:r>
            <a:r>
              <a:rPr lang="vi-VN" b="0"/>
              <a:t>Do đó, người dùng không thể chuyển đổi giữa các cơ sở dữ liệu trong SQL Azure so với SQL Server tại chỗ.</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Xác thực: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0"/>
              <a:t>SQL Azure chỉ hỗ trợ xác thực SQL Server và SQL Server tại chỗ hỗ trợ cả xác thực SQL Server và xác thực Windows.</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Hỗ trợ Transact-SQL</a:t>
            </a:r>
            <a:r>
              <a:rPr lang="en-US" b="0"/>
              <a:t>: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Không phải tất cả các hàm Transact-SQL được hỗ trợ bởi SQL Azure</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US" b="1"/>
              <a:t>Tài khoản và đăng nhập: </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Trong SQL Azure, tài khoản quản trị được tạo trong </a:t>
            </a:r>
            <a:r>
              <a:rPr lang="en-US" b="0"/>
              <a:t>c</a:t>
            </a:r>
            <a:r>
              <a:rPr lang="vi-VN" b="0"/>
              <a:t>ổng thông tin quản lý Azure.</a:t>
            </a:r>
            <a:r>
              <a:rPr lang="en-US" b="0"/>
              <a:t> </a:t>
            </a:r>
            <a:r>
              <a:rPr lang="vi-VN" b="0"/>
              <a:t>Không có thông tin đăng nhập người dùng cấp phép riêng biệt.</a:t>
            </a:r>
            <a:endParaRPr lang="en-US" b="0"/>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1"/>
              <a:t>Tường lửa</a:t>
            </a:r>
            <a:r>
              <a:rPr lang="en-US" b="1"/>
              <a:t>:</a:t>
            </a:r>
          </a:p>
          <a:p>
            <a:pPr marL="628650" marR="0" lvl="1"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vi-VN" b="0"/>
              <a:t>Cài đặt tường lửa cho các cổng được phép và địa chỉ IP có thể được quản lý trên các máy chủ vật lý cho máy chủ SQL tại chỗ.</a:t>
            </a:r>
            <a:r>
              <a:rPr lang="en-US" b="0"/>
              <a:t> </a:t>
            </a:r>
            <a:r>
              <a:rPr lang="vi-VN" b="0"/>
              <a:t>Là một cơ sở dữ liệu SQL Azure có mặt trên đám mây, xác thực thông qua đăng nhập là phương thức duy nhất để xác minh người dùng.</a:t>
            </a:r>
            <a:endParaRPr lang="en-US" b="0"/>
          </a:p>
        </p:txBody>
      </p:sp>
      <p:sp>
        <p:nvSpPr>
          <p:cNvPr id="4" name="Slide Number Placeholder 3"/>
          <p:cNvSpPr>
            <a:spLocks noGrp="1"/>
          </p:cNvSpPr>
          <p:nvPr>
            <p:ph type="sldNum" sz="quarter" idx="5"/>
          </p:nvPr>
        </p:nvSpPr>
        <p:spPr/>
        <p:txBody>
          <a:bodyPr/>
          <a:lstStyle/>
          <a:p>
            <a:fld id="{52C127AF-00EB-4D90-A5A6-061AC481D4F4}" type="slidenum">
              <a:rPr lang="en-US" smtClean="0"/>
              <a:t>12</a:t>
            </a:fld>
            <a:endParaRPr lang="en-US"/>
          </a:p>
        </p:txBody>
      </p:sp>
    </p:spTree>
    <p:extLst>
      <p:ext uri="{BB962C8B-B14F-4D97-AF65-F5344CB8AC3E}">
        <p14:creationId xmlns:p14="http://schemas.microsoft.com/office/powerpoint/2010/main" val="170228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Giá Azure SQL</a:t>
            </a:r>
          </a:p>
          <a:p>
            <a:endParaRPr lang="en-US"/>
          </a:p>
        </p:txBody>
      </p:sp>
      <p:sp>
        <p:nvSpPr>
          <p:cNvPr id="4" name="Slide Number Placeholder 3"/>
          <p:cNvSpPr>
            <a:spLocks noGrp="1"/>
          </p:cNvSpPr>
          <p:nvPr>
            <p:ph type="sldNum" sz="quarter" idx="5"/>
          </p:nvPr>
        </p:nvSpPr>
        <p:spPr/>
        <p:txBody>
          <a:bodyPr/>
          <a:lstStyle/>
          <a:p>
            <a:fld id="{52C127AF-00EB-4D90-A5A6-061AC481D4F4}" type="slidenum">
              <a:rPr lang="en-US" smtClean="0"/>
              <a:t>13</a:t>
            </a:fld>
            <a:endParaRPr lang="en-US"/>
          </a:p>
        </p:txBody>
      </p:sp>
    </p:spTree>
    <p:extLst>
      <p:ext uri="{BB962C8B-B14F-4D97-AF65-F5344CB8AC3E}">
        <p14:creationId xmlns:p14="http://schemas.microsoft.com/office/powerpoint/2010/main" val="33730522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Kết nối với SQL Azure với SSMS 1-4</a:t>
            </a:r>
          </a:p>
          <a:p>
            <a:pPr marL="171450" indent="-171450">
              <a:buFont typeface="Arial" panose="020B0604020202020204" pitchFamily="34" charset="0"/>
              <a:buChar char="•"/>
            </a:pPr>
            <a:r>
              <a:rPr lang="vi-VN" b="0"/>
              <a:t>Tạo cơ sở dữ liệu trên đám mây.</a:t>
            </a:r>
          </a:p>
          <a:p>
            <a:pPr marL="685800" lvl="1" indent="-228600">
              <a:buFont typeface="+mj-lt"/>
              <a:buAutoNum type="arabicPeriod"/>
            </a:pPr>
            <a:r>
              <a:rPr lang="en-US" b="0"/>
              <a:t>Nhập địa chỉ </a:t>
            </a:r>
            <a:r>
              <a:rPr lang="en-US" b="1"/>
              <a:t>https://portal.azure.com </a:t>
            </a:r>
            <a:r>
              <a:rPr lang="en-US" b="0"/>
              <a:t>vào thanh địa chỉ của trình duyệt và chọn </a:t>
            </a:r>
            <a:r>
              <a:rPr lang="en-US" b="1"/>
              <a:t>Sign up/Sign in</a:t>
            </a:r>
          </a:p>
          <a:p>
            <a:pPr marL="685800" lvl="1" indent="-228600">
              <a:buFont typeface="+mj-lt"/>
              <a:buAutoNum type="arabicPeriod"/>
            </a:pPr>
            <a:r>
              <a:rPr lang="en-US" b="0"/>
              <a:t>Click</a:t>
            </a:r>
            <a:r>
              <a:rPr lang="vi-VN" b="0"/>
              <a:t> vào </a:t>
            </a:r>
            <a:r>
              <a:rPr lang="en-US" b="1"/>
              <a:t>Start</a:t>
            </a:r>
            <a:r>
              <a:rPr lang="en-US" b="0"/>
              <a:t> </a:t>
            </a:r>
            <a:r>
              <a:rPr lang="vi-VN" b="0"/>
              <a:t>dưới </a:t>
            </a:r>
            <a:r>
              <a:rPr lang="en-US" b="1"/>
              <a:t>Start with an Azure free trial</a:t>
            </a:r>
            <a:r>
              <a:rPr lang="vi-VN" b="0"/>
              <a:t>. Điền thông tin cần thiết cho một tài khoản </a:t>
            </a:r>
            <a:r>
              <a:rPr lang="vi-VN" b="1"/>
              <a:t>Azure SQL </a:t>
            </a:r>
            <a:r>
              <a:rPr lang="vi-VN" b="0"/>
              <a:t>mới. Xác minh danh tính của bạn thông qua điện thoại và thẻ tín dụng</a:t>
            </a:r>
            <a:r>
              <a:rPr lang="en-US" b="0"/>
              <a:t>.</a:t>
            </a:r>
          </a:p>
          <a:p>
            <a:pPr marL="685800" lvl="1" indent="-228600">
              <a:buFont typeface="+mj-lt"/>
              <a:buAutoNum type="arabicPeriod"/>
            </a:pPr>
            <a:r>
              <a:rPr lang="en-US" b="0"/>
              <a:t>Click</a:t>
            </a:r>
            <a:r>
              <a:rPr lang="vi-VN" b="0"/>
              <a:t> vào </a:t>
            </a:r>
            <a:r>
              <a:rPr lang="vi-VN" b="1"/>
              <a:t>SQL </a:t>
            </a:r>
            <a:r>
              <a:rPr lang="en-US" b="1"/>
              <a:t>D</a:t>
            </a:r>
            <a:r>
              <a:rPr lang="vi-VN" b="1"/>
              <a:t>atabases </a:t>
            </a:r>
            <a:r>
              <a:rPr lang="en-US" b="1"/>
              <a:t> </a:t>
            </a:r>
            <a:r>
              <a:rPr lang="en-US" b="0"/>
              <a:t>d</a:t>
            </a:r>
            <a:r>
              <a:rPr lang="vi-VN" b="0"/>
              <a:t>ư</a:t>
            </a:r>
            <a:r>
              <a:rPr lang="en-US" b="0"/>
              <a:t>ới</a:t>
            </a:r>
            <a:r>
              <a:rPr lang="vi-VN" b="0"/>
              <a:t> </a:t>
            </a:r>
            <a:r>
              <a:rPr lang="vi-VN" b="1"/>
              <a:t>Azure services</a:t>
            </a:r>
            <a:r>
              <a:rPr lang="vi-VN" b="0"/>
              <a:t>. Trang </a:t>
            </a:r>
            <a:r>
              <a:rPr lang="vi-VN" b="1"/>
              <a:t>SQL </a:t>
            </a:r>
            <a:r>
              <a:rPr lang="en-US" b="1"/>
              <a:t>D</a:t>
            </a:r>
            <a:r>
              <a:rPr lang="vi-VN" b="1"/>
              <a:t>atabases </a:t>
            </a:r>
            <a:r>
              <a:rPr lang="vi-VN" b="0"/>
              <a:t>sẽ được hiển thị</a:t>
            </a:r>
            <a:r>
              <a:rPr lang="en-US" b="0"/>
              <a:t>.</a:t>
            </a:r>
          </a:p>
          <a:p>
            <a:pPr marL="685800" lvl="1" indent="-228600">
              <a:buFont typeface="+mj-lt"/>
              <a:buAutoNum type="arabicPeriod" startAt="4"/>
            </a:pPr>
            <a:r>
              <a:rPr lang="en-US"/>
              <a:t>Click</a:t>
            </a:r>
            <a:r>
              <a:rPr lang="vi-VN"/>
              <a:t> vào </a:t>
            </a:r>
            <a:r>
              <a:rPr lang="vi-VN" b="1"/>
              <a:t>Create SQL </a:t>
            </a:r>
            <a:r>
              <a:rPr lang="en-US" b="1"/>
              <a:t>D</a:t>
            </a:r>
            <a:r>
              <a:rPr lang="vi-VN" b="1"/>
              <a:t>atabase </a:t>
            </a:r>
            <a:r>
              <a:rPr lang="vi-VN"/>
              <a:t>ở cuối trang. Bạn sẽ được yêu cầu điền thông tin như tên cơ sở dữ liệu và tên máy chủ</a:t>
            </a:r>
            <a:r>
              <a:rPr lang="en-US"/>
              <a:t>.</a:t>
            </a:r>
          </a:p>
          <a:p>
            <a:pPr marL="685800" lvl="1" indent="-228600">
              <a:buFont typeface="+mj-lt"/>
              <a:buAutoNum type="arabicPeriod" startAt="4"/>
            </a:pPr>
            <a:r>
              <a:rPr lang="vi-VN"/>
              <a:t>Khi bạn hoàn tất việc tạo máy chủ mới và chỉ định tên máy chủ đó, </a:t>
            </a:r>
            <a:r>
              <a:rPr lang="en-US"/>
              <a:t>Click</a:t>
            </a:r>
            <a:r>
              <a:rPr lang="vi-VN"/>
              <a:t> vào</a:t>
            </a:r>
            <a:r>
              <a:rPr lang="en-US"/>
              <a:t> </a:t>
            </a:r>
            <a:r>
              <a:rPr lang="vi-VN" b="1"/>
              <a:t>Review+</a:t>
            </a:r>
            <a:r>
              <a:rPr lang="en-US" b="1"/>
              <a:t>C</a:t>
            </a:r>
            <a:r>
              <a:rPr lang="vi-VN" b="1"/>
              <a:t>reate</a:t>
            </a:r>
            <a:r>
              <a:rPr lang="en-US" b="1"/>
              <a:t> </a:t>
            </a:r>
            <a:r>
              <a:rPr lang="vi-VN"/>
              <a:t>trên trang </a:t>
            </a:r>
            <a:r>
              <a:rPr lang="vi-VN" b="1"/>
              <a:t>Create SQL Database</a:t>
            </a:r>
            <a:r>
              <a:rPr lang="vi-VN"/>
              <a:t>. Cơ sở dữ liệu sẽ được tạo thành công</a:t>
            </a:r>
            <a:r>
              <a:rPr lang="en-US"/>
              <a:t>.</a:t>
            </a:r>
          </a:p>
        </p:txBody>
      </p:sp>
      <p:sp>
        <p:nvSpPr>
          <p:cNvPr id="4" name="Slide Number Placeholder 3"/>
          <p:cNvSpPr>
            <a:spLocks noGrp="1"/>
          </p:cNvSpPr>
          <p:nvPr>
            <p:ph type="sldNum" sz="quarter" idx="5"/>
          </p:nvPr>
        </p:nvSpPr>
        <p:spPr/>
        <p:txBody>
          <a:bodyPr/>
          <a:lstStyle/>
          <a:p>
            <a:fld id="{52C127AF-00EB-4D90-A5A6-061AC481D4F4}" type="slidenum">
              <a:rPr lang="en-US" smtClean="0"/>
              <a:t>14</a:t>
            </a:fld>
            <a:endParaRPr lang="en-US"/>
          </a:p>
        </p:txBody>
      </p:sp>
    </p:spTree>
    <p:extLst>
      <p:ext uri="{BB962C8B-B14F-4D97-AF65-F5344CB8AC3E}">
        <p14:creationId xmlns:p14="http://schemas.microsoft.com/office/powerpoint/2010/main" val="40411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Kết nối với SQL Azure với SSMS 2-4</a:t>
            </a:r>
          </a:p>
          <a:p>
            <a:pPr marL="171450" indent="-171450">
              <a:buFont typeface="Arial" panose="020B0604020202020204" pitchFamily="34" charset="0"/>
              <a:buChar char="•"/>
            </a:pPr>
            <a:r>
              <a:rPr lang="vi-VN"/>
              <a:t>Quá trình kết nối SQL Azure với SSMS như sau:</a:t>
            </a:r>
            <a:endParaRPr lang="en-US"/>
          </a:p>
          <a:p>
            <a:pPr marL="685800" lvl="1" indent="-228600">
              <a:buFont typeface="+mj-lt"/>
              <a:buAutoNum type="arabicPeriod"/>
            </a:pPr>
            <a:r>
              <a:rPr lang="en-US"/>
              <a:t>Đăng nhập vào tài khoản </a:t>
            </a:r>
            <a:r>
              <a:rPr lang="en-US" b="1"/>
              <a:t>Microsoft Azure </a:t>
            </a:r>
            <a:r>
              <a:rPr lang="en-US"/>
              <a:t>trực tuyến của bạn.</a:t>
            </a:r>
          </a:p>
          <a:p>
            <a:pPr marL="685800" lvl="1" indent="-228600">
              <a:buFont typeface="+mj-lt"/>
              <a:buAutoNum type="arabicPeriod"/>
            </a:pPr>
            <a:r>
              <a:rPr lang="en-US"/>
              <a:t>Mở </a:t>
            </a:r>
            <a:r>
              <a:rPr lang="en-US" b="1"/>
              <a:t>Microsoft SQL Server Management Studio</a:t>
            </a:r>
          </a:p>
          <a:p>
            <a:pPr marL="685800" lvl="1" indent="-228600">
              <a:buFont typeface="+mj-lt"/>
              <a:buAutoNum type="arabicPeriod"/>
            </a:pPr>
            <a:r>
              <a:rPr lang="en-US" b="0"/>
              <a:t>Trong hộp thoại </a:t>
            </a:r>
            <a:r>
              <a:rPr lang="en-US" b="1"/>
              <a:t>Connect to Server</a:t>
            </a:r>
            <a:r>
              <a:rPr lang="en-US" b="0"/>
              <a:t>, chỉ định tên của máy chủ </a:t>
            </a:r>
            <a:r>
              <a:rPr lang="en-US" b="1"/>
              <a:t>Azure SQL</a:t>
            </a:r>
            <a:r>
              <a:rPr lang="en-US" b="0"/>
              <a:t>.</a:t>
            </a:r>
          </a:p>
          <a:p>
            <a:pPr marL="685800" lvl="1" indent="-228600">
              <a:buFont typeface="+mj-lt"/>
              <a:buAutoNum type="arabicPeriod"/>
            </a:pPr>
            <a:r>
              <a:rPr lang="en-US" b="0"/>
              <a:t>Trong hộp </a:t>
            </a:r>
            <a:r>
              <a:rPr lang="en-US" sz="1200" b="1" spc="-5">
                <a:solidFill>
                  <a:srgbClr val="FFFFFF"/>
                </a:solidFill>
                <a:latin typeface="Goudy Old Style"/>
                <a:cs typeface="Goudy Old Style"/>
              </a:rPr>
              <a:t>Authentication</a:t>
            </a:r>
            <a:r>
              <a:rPr lang="en-US" b="0"/>
              <a:t>, chọn </a:t>
            </a:r>
            <a:r>
              <a:rPr lang="en-US" sz="1200" b="1" spc="5">
                <a:solidFill>
                  <a:srgbClr val="FFFFFF"/>
                </a:solidFill>
                <a:latin typeface="Goudy Old Style"/>
                <a:cs typeface="Goudy Old Style"/>
              </a:rPr>
              <a:t>Server </a:t>
            </a:r>
            <a:r>
              <a:rPr lang="en-US" sz="1200" b="1" spc="-5">
                <a:solidFill>
                  <a:srgbClr val="FFFFFF"/>
                </a:solidFill>
                <a:latin typeface="Goudy Old Style"/>
                <a:cs typeface="Goudy Old Style"/>
              </a:rPr>
              <a:t>Authentication</a:t>
            </a:r>
            <a:endParaRPr lang="en-US" b="1"/>
          </a:p>
        </p:txBody>
      </p:sp>
      <p:sp>
        <p:nvSpPr>
          <p:cNvPr id="4" name="Slide Number Placeholder 3"/>
          <p:cNvSpPr>
            <a:spLocks noGrp="1"/>
          </p:cNvSpPr>
          <p:nvPr>
            <p:ph type="sldNum" sz="quarter" idx="5"/>
          </p:nvPr>
        </p:nvSpPr>
        <p:spPr/>
        <p:txBody>
          <a:bodyPr/>
          <a:lstStyle/>
          <a:p>
            <a:fld id="{52C127AF-00EB-4D90-A5A6-061AC481D4F4}" type="slidenum">
              <a:rPr lang="en-US" smtClean="0"/>
              <a:t>15</a:t>
            </a:fld>
            <a:endParaRPr lang="en-US"/>
          </a:p>
        </p:txBody>
      </p:sp>
    </p:spTree>
    <p:extLst>
      <p:ext uri="{BB962C8B-B14F-4D97-AF65-F5344CB8AC3E}">
        <p14:creationId xmlns:p14="http://schemas.microsoft.com/office/powerpoint/2010/main" val="3098697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Kết nối với SQL Azure với SSMS 3-4</a:t>
            </a:r>
          </a:p>
          <a:p>
            <a:pPr marL="685800" lvl="1" indent="-228600">
              <a:buFont typeface="+mj-lt"/>
              <a:buAutoNum type="arabicPeriod" startAt="5"/>
            </a:pPr>
            <a:r>
              <a:rPr lang="en-US"/>
              <a:t>Trong hộp </a:t>
            </a:r>
            <a:r>
              <a:rPr lang="en-US" sz="1200" b="1" spc="-5">
                <a:solidFill>
                  <a:srgbClr val="FFFFFF"/>
                </a:solidFill>
                <a:latin typeface="Goudy Old Style"/>
                <a:cs typeface="Goudy Old Style"/>
              </a:rPr>
              <a:t>Login</a:t>
            </a:r>
            <a:r>
              <a:rPr lang="en-US"/>
              <a:t>, nhập tên của tài khoản quản trị viên </a:t>
            </a:r>
            <a:r>
              <a:rPr lang="en-US" b="1"/>
              <a:t>Azure SQL </a:t>
            </a:r>
            <a:r>
              <a:rPr lang="en-US"/>
              <a:t>và mật khẩu.</a:t>
            </a:r>
          </a:p>
          <a:p>
            <a:pPr marL="685800" lvl="1" indent="-228600">
              <a:buFont typeface="+mj-lt"/>
              <a:buAutoNum type="arabicPeriod" startAt="5"/>
            </a:pPr>
            <a:r>
              <a:rPr lang="vi-VN"/>
              <a:t>Nhấp vào </a:t>
            </a:r>
            <a:r>
              <a:rPr lang="en-US" sz="1200" b="1" spc="-5">
                <a:solidFill>
                  <a:srgbClr val="FFFFFF"/>
                </a:solidFill>
                <a:latin typeface="Goudy Old Style"/>
                <a:cs typeface="Goudy Old Style"/>
              </a:rPr>
              <a:t>Connect</a:t>
            </a:r>
            <a:r>
              <a:rPr lang="vi-VN"/>
              <a:t>. Sau đó, bạn có thể được nhắc tạo quy tắc tường lửa mới</a:t>
            </a:r>
            <a:r>
              <a:rPr lang="en-US"/>
              <a:t>.</a:t>
            </a:r>
          </a:p>
          <a:p>
            <a:pPr marL="685800" lvl="1" indent="-228600">
              <a:buFont typeface="+mj-lt"/>
              <a:buAutoNum type="arabicPeriod" startAt="5"/>
            </a:pPr>
            <a:r>
              <a:rPr lang="vi-VN"/>
              <a:t>Đăng nhập vào Azure bằng cách </a:t>
            </a:r>
            <a:r>
              <a:rPr lang="en-US"/>
              <a:t>click</a:t>
            </a:r>
            <a:r>
              <a:rPr lang="vi-VN"/>
              <a:t> vào </a:t>
            </a:r>
            <a:r>
              <a:rPr lang="en-US" sz="1200" b="1" spc="-5">
                <a:solidFill>
                  <a:srgbClr val="FFFFFF"/>
                </a:solidFill>
                <a:latin typeface="Goudy Old Style"/>
                <a:cs typeface="Goudy Old Style"/>
              </a:rPr>
              <a:t>Sign In</a:t>
            </a:r>
            <a:r>
              <a:rPr lang="vi-VN"/>
              <a:t>. Địa chỉ IP </a:t>
            </a:r>
            <a:r>
              <a:rPr lang="en-US"/>
              <a:t>client </a:t>
            </a:r>
            <a:r>
              <a:rPr lang="vi-VN"/>
              <a:t>của bạn sẽ được tự động điền vào trong hộp tương ứng</a:t>
            </a:r>
            <a:r>
              <a:rPr lang="en-US"/>
              <a:t>.</a:t>
            </a:r>
          </a:p>
          <a:p>
            <a:pPr marL="685800" lvl="1" indent="-228600">
              <a:buFont typeface="+mj-lt"/>
              <a:buAutoNum type="arabicPeriod" startAt="5"/>
            </a:pPr>
            <a:r>
              <a:rPr lang="vi-VN"/>
              <a:t>Nhấp vào </a:t>
            </a:r>
            <a:r>
              <a:rPr lang="en-US" sz="1200" b="1" spc="-5">
                <a:solidFill>
                  <a:srgbClr val="FFFFFF"/>
                </a:solidFill>
                <a:latin typeface="Goudy Old Style"/>
                <a:cs typeface="Goudy Old Style"/>
              </a:rPr>
              <a:t>Connect</a:t>
            </a:r>
            <a:r>
              <a:rPr lang="vi-VN"/>
              <a:t>. Kết nối </a:t>
            </a:r>
            <a:r>
              <a:rPr lang="en-US"/>
              <a:t>đến</a:t>
            </a:r>
            <a:r>
              <a:rPr lang="vi-VN"/>
              <a:t> cơ sở dữ liệu được thiết lập thành công</a:t>
            </a:r>
            <a:r>
              <a:rPr lang="en-US"/>
              <a:t>.</a:t>
            </a:r>
          </a:p>
          <a:p>
            <a:pPr marL="685800" lvl="1" indent="-228600">
              <a:buFont typeface="+mj-lt"/>
              <a:buAutoNum type="arabicPeriod" startAt="5"/>
            </a:pPr>
            <a:r>
              <a:rPr lang="en-US"/>
              <a:t>Nhấp chuột phải vào nút </a:t>
            </a:r>
            <a:r>
              <a:rPr lang="en-US" sz="1200" b="1" spc="-20">
                <a:solidFill>
                  <a:srgbClr val="FFFFFF"/>
                </a:solidFill>
                <a:latin typeface="Goudy Old Style"/>
                <a:cs typeface="Goudy Old Style"/>
              </a:rPr>
              <a:t>Tables</a:t>
            </a:r>
            <a:r>
              <a:rPr lang="en-US"/>
              <a:t> và click vào </a:t>
            </a:r>
            <a:r>
              <a:rPr lang="en-US" b="1"/>
              <a:t>New</a:t>
            </a:r>
            <a:r>
              <a:rPr lang="en-US"/>
              <a:t> -&gt; </a:t>
            </a:r>
            <a:r>
              <a:rPr lang="en-US" b="1"/>
              <a:t>Table</a:t>
            </a:r>
            <a:r>
              <a:rPr lang="en-US"/>
              <a:t>.</a:t>
            </a:r>
          </a:p>
        </p:txBody>
      </p:sp>
      <p:sp>
        <p:nvSpPr>
          <p:cNvPr id="4" name="Slide Number Placeholder 3"/>
          <p:cNvSpPr>
            <a:spLocks noGrp="1"/>
          </p:cNvSpPr>
          <p:nvPr>
            <p:ph type="sldNum" sz="quarter" idx="5"/>
          </p:nvPr>
        </p:nvSpPr>
        <p:spPr/>
        <p:txBody>
          <a:bodyPr/>
          <a:lstStyle/>
          <a:p>
            <a:fld id="{52C127AF-00EB-4D90-A5A6-061AC481D4F4}" type="slidenum">
              <a:rPr lang="en-US" smtClean="0"/>
              <a:t>16</a:t>
            </a:fld>
            <a:endParaRPr lang="en-US"/>
          </a:p>
        </p:txBody>
      </p:sp>
    </p:spTree>
    <p:extLst>
      <p:ext uri="{BB962C8B-B14F-4D97-AF65-F5344CB8AC3E}">
        <p14:creationId xmlns:p14="http://schemas.microsoft.com/office/powerpoint/2010/main" val="1115271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Kết nối với SQL Azure với SSMS 4-4</a:t>
            </a:r>
          </a:p>
          <a:p>
            <a:pPr marL="685800" lvl="1" indent="-228600">
              <a:buFont typeface="+mj-lt"/>
              <a:buAutoNum type="arabicPeriod" startAt="10"/>
            </a:pPr>
            <a:r>
              <a:rPr lang="vi-VN"/>
              <a:t>Thêm cột và lưu bảng</a:t>
            </a:r>
            <a:r>
              <a:rPr lang="en-US"/>
              <a:t>.</a:t>
            </a:r>
          </a:p>
          <a:p>
            <a:pPr marL="685800" lvl="1" indent="-228600">
              <a:buFont typeface="+mj-lt"/>
              <a:buAutoNum type="arabicPeriod" startAt="10"/>
            </a:pPr>
            <a:r>
              <a:rPr lang="vi-VN"/>
              <a:t>Mở </a:t>
            </a:r>
            <a:r>
              <a:rPr lang="en-US" sz="1200" b="1" spc="-10">
                <a:solidFill>
                  <a:srgbClr val="FFFFFF"/>
                </a:solidFill>
                <a:latin typeface="Goudy Old Style"/>
                <a:cs typeface="Goudy Old Style"/>
              </a:rPr>
              <a:t>Azure </a:t>
            </a:r>
            <a:r>
              <a:rPr lang="en-US" sz="1200" b="1" spc="5">
                <a:solidFill>
                  <a:srgbClr val="FFFFFF"/>
                </a:solidFill>
                <a:latin typeface="Goudy Old Style"/>
                <a:cs typeface="Goudy Old Style"/>
              </a:rPr>
              <a:t>Portal </a:t>
            </a:r>
            <a:r>
              <a:rPr lang="vi-VN"/>
              <a:t>và trong bảng điều khiển </a:t>
            </a:r>
            <a:r>
              <a:rPr lang="en-US" sz="1200" b="1">
                <a:solidFill>
                  <a:srgbClr val="FFFFFF"/>
                </a:solidFill>
                <a:latin typeface="Goudy Old Style"/>
                <a:cs typeface="Goudy Old Style"/>
              </a:rPr>
              <a:t>SQL </a:t>
            </a:r>
            <a:r>
              <a:rPr lang="en-US" sz="1200" b="1" spc="-5">
                <a:solidFill>
                  <a:srgbClr val="FFFFFF"/>
                </a:solidFill>
                <a:latin typeface="Goudy Old Style"/>
                <a:cs typeface="Goudy Old Style"/>
              </a:rPr>
              <a:t>Database</a:t>
            </a:r>
            <a:r>
              <a:rPr lang="vi-VN"/>
              <a:t>, </a:t>
            </a:r>
            <a:r>
              <a:rPr lang="en-US"/>
              <a:t>click</a:t>
            </a:r>
            <a:r>
              <a:rPr lang="vi-VN"/>
              <a:t> vào </a:t>
            </a:r>
            <a:r>
              <a:rPr lang="en-US" sz="1200" b="1" spc="10">
                <a:solidFill>
                  <a:srgbClr val="FFFFFF"/>
                </a:solidFill>
                <a:latin typeface="Goudy Old Style"/>
                <a:cs typeface="Goudy Old Style"/>
              </a:rPr>
              <a:t>Query </a:t>
            </a:r>
            <a:r>
              <a:rPr lang="en-US" sz="1200" b="1" spc="-5">
                <a:solidFill>
                  <a:srgbClr val="FFFFFF"/>
                </a:solidFill>
                <a:latin typeface="Goudy Old Style"/>
                <a:cs typeface="Goudy Old Style"/>
              </a:rPr>
              <a:t>Editor  </a:t>
            </a:r>
            <a:r>
              <a:rPr lang="vi-VN"/>
              <a:t>trên khung bên trái</a:t>
            </a:r>
            <a:r>
              <a:rPr lang="en-US"/>
              <a:t>.</a:t>
            </a:r>
          </a:p>
          <a:p>
            <a:pPr marL="685800" lvl="1" indent="-228600">
              <a:buFont typeface="+mj-lt"/>
              <a:buAutoNum type="arabicPeriod" startAt="10"/>
            </a:pPr>
            <a:r>
              <a:rPr lang="vi-VN"/>
              <a:t>Bạn sẽ được yêu cầu xác thực</a:t>
            </a:r>
            <a:r>
              <a:rPr lang="en-US"/>
              <a:t> </a:t>
            </a:r>
            <a:r>
              <a:rPr lang="vi-VN"/>
              <a:t>người dùng.</a:t>
            </a:r>
            <a:r>
              <a:rPr lang="en-US"/>
              <a:t> </a:t>
            </a:r>
            <a:r>
              <a:rPr lang="vi-VN"/>
              <a:t>Chỉ định tên đăng nhập và mật khẩu</a:t>
            </a:r>
            <a:r>
              <a:rPr lang="en-US"/>
              <a:t>.</a:t>
            </a:r>
          </a:p>
          <a:p>
            <a:pPr marL="685800" lvl="1" indent="-228600">
              <a:buFont typeface="+mj-lt"/>
              <a:buAutoNum type="arabicPeriod" startAt="10"/>
            </a:pPr>
            <a:r>
              <a:rPr lang="vi-VN"/>
              <a:t>Trình </a:t>
            </a:r>
            <a:r>
              <a:rPr lang="en-US" sz="1200" b="1" spc="10">
                <a:solidFill>
                  <a:srgbClr val="FFFFFF"/>
                </a:solidFill>
                <a:latin typeface="Goudy Old Style"/>
                <a:cs typeface="Goudy Old Style"/>
              </a:rPr>
              <a:t>Query</a:t>
            </a:r>
            <a:r>
              <a:rPr lang="en-US" sz="1200" b="1" spc="-75">
                <a:solidFill>
                  <a:srgbClr val="FFFFFF"/>
                </a:solidFill>
                <a:latin typeface="Goudy Old Style"/>
                <a:cs typeface="Goudy Old Style"/>
              </a:rPr>
              <a:t> </a:t>
            </a:r>
            <a:r>
              <a:rPr lang="en-US" sz="1200" b="1" spc="-10">
                <a:solidFill>
                  <a:srgbClr val="FFFFFF"/>
                </a:solidFill>
                <a:latin typeface="Goudy Old Style"/>
                <a:cs typeface="Goudy Old Style"/>
              </a:rPr>
              <a:t>Editor </a:t>
            </a:r>
            <a:r>
              <a:rPr lang="vi-VN"/>
              <a:t>trên đám mây sẽ được hiển thị</a:t>
            </a:r>
            <a:r>
              <a:rPr lang="en-US"/>
              <a:t>.</a:t>
            </a:r>
          </a:p>
        </p:txBody>
      </p:sp>
      <p:sp>
        <p:nvSpPr>
          <p:cNvPr id="4" name="Slide Number Placeholder 3"/>
          <p:cNvSpPr>
            <a:spLocks noGrp="1"/>
          </p:cNvSpPr>
          <p:nvPr>
            <p:ph type="sldNum" sz="quarter" idx="5"/>
          </p:nvPr>
        </p:nvSpPr>
        <p:spPr/>
        <p:txBody>
          <a:bodyPr/>
          <a:lstStyle/>
          <a:p>
            <a:fld id="{52C127AF-00EB-4D90-A5A6-061AC481D4F4}" type="slidenum">
              <a:rPr lang="en-US" smtClean="0"/>
              <a:t>17</a:t>
            </a:fld>
            <a:endParaRPr lang="en-US"/>
          </a:p>
        </p:txBody>
      </p:sp>
    </p:spTree>
    <p:extLst>
      <p:ext uri="{BB962C8B-B14F-4D97-AF65-F5344CB8AC3E}">
        <p14:creationId xmlns:p14="http://schemas.microsoft.com/office/powerpoint/2010/main" val="359215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endParaRPr lang="en-US" b="1"/>
          </a:p>
          <a:p>
            <a:pPr marL="628650" lvl="1" indent="-171450">
              <a:buFont typeface="Arial" panose="020B0604020202020204" pitchFamily="34" charset="0"/>
              <a:buChar char="•"/>
            </a:pPr>
            <a:r>
              <a:rPr lang="vi-VN" b="1"/>
              <a:t>Microsoft SQL Azure </a:t>
            </a:r>
            <a:r>
              <a:rPr lang="vi-VN" b="0"/>
              <a:t>là một dịch vụ cơ sở dữ liệu quan hệ dựa trên đám mây tận dụng các công nghệ </a:t>
            </a:r>
            <a:r>
              <a:rPr lang="vi-VN" b="1"/>
              <a:t>SQL Server </a:t>
            </a:r>
            <a:r>
              <a:rPr lang="vi-VN" b="0"/>
              <a:t>hiện có.</a:t>
            </a:r>
          </a:p>
          <a:p>
            <a:pPr marL="628650" lvl="1" indent="-171450">
              <a:buFont typeface="Arial" panose="020B0604020202020204" pitchFamily="34" charset="0"/>
              <a:buChar char="•"/>
            </a:pPr>
            <a:r>
              <a:rPr lang="vi-VN" b="1"/>
              <a:t>SQL Azure </a:t>
            </a:r>
            <a:r>
              <a:rPr lang="vi-VN" b="0"/>
              <a:t>cho phép người dùng thực hiện các truy vấn quan hệ, thao tác tìm kiếm và đồng bộ hóa dữ liệu với người dùng di động và các văn phòng từ xa.</a:t>
            </a:r>
          </a:p>
          <a:p>
            <a:pPr marL="628650" lvl="1" indent="-171450">
              <a:buFont typeface="Arial" panose="020B0604020202020204" pitchFamily="34" charset="0"/>
              <a:buChar char="•"/>
            </a:pPr>
            <a:r>
              <a:rPr lang="vi-VN" b="1"/>
              <a:t>SQL Azure </a:t>
            </a:r>
            <a:r>
              <a:rPr lang="vi-VN" b="0"/>
              <a:t>có thể lưu trữ và truy xuất cả dữ liệu có cấu trúc và không cấu trúc.</a:t>
            </a:r>
          </a:p>
          <a:p>
            <a:pPr marL="628650" lvl="1" indent="-171450">
              <a:buFont typeface="Arial" panose="020B0604020202020204" pitchFamily="34" charset="0"/>
              <a:buChar char="•"/>
            </a:pPr>
            <a:r>
              <a:rPr lang="vi-VN" b="0"/>
              <a:t>Các ứng dụng Lấy dữ liệu từ </a:t>
            </a:r>
            <a:r>
              <a:rPr lang="vi-VN" b="1"/>
              <a:t>Azure SQL</a:t>
            </a:r>
            <a:r>
              <a:rPr lang="en-US" b="1"/>
              <a:t> </a:t>
            </a:r>
            <a:r>
              <a:rPr lang="vi-VN" b="0"/>
              <a:t>thông qua một giao thức được gọi là luồng dữ liệu dạng bảng (</a:t>
            </a:r>
            <a:r>
              <a:rPr lang="vi-VN" b="1"/>
              <a:t>TDS</a:t>
            </a:r>
            <a:r>
              <a:rPr lang="vi-VN" b="0"/>
              <a:t>).</a:t>
            </a:r>
            <a:endParaRPr lang="en-US" b="0"/>
          </a:p>
          <a:p>
            <a:pPr marL="628650" lvl="1" indent="-171450">
              <a:buFont typeface="Arial" panose="020B0604020202020204" pitchFamily="34" charset="0"/>
              <a:buChar char="•"/>
            </a:pPr>
            <a:r>
              <a:rPr lang="vi-VN" b="0"/>
              <a:t>SQL Server trên </a:t>
            </a:r>
            <a:r>
              <a:rPr lang="vi-VN" b="1"/>
              <a:t>Azure Virtual Machines</a:t>
            </a:r>
            <a:r>
              <a:rPr lang="vi-VN" b="0"/>
              <a:t>, </a:t>
            </a:r>
            <a:r>
              <a:rPr lang="en-US" b="1" spc="-5"/>
              <a:t>Azure SQL </a:t>
            </a:r>
            <a:r>
              <a:rPr lang="en-US" b="1" spc="-10"/>
              <a:t>Database</a:t>
            </a:r>
            <a:r>
              <a:rPr lang="vi-VN" b="0"/>
              <a:t>, </a:t>
            </a:r>
            <a:r>
              <a:rPr lang="en-US" b="1" spc="-5"/>
              <a:t>Azure SQL Managed </a:t>
            </a:r>
            <a:r>
              <a:rPr lang="en-US" b="1" spc="-10"/>
              <a:t>Instance </a:t>
            </a:r>
            <a:r>
              <a:rPr lang="vi-VN" b="0"/>
              <a:t>và </a:t>
            </a:r>
            <a:r>
              <a:rPr lang="en-US" b="1" spc="-5"/>
              <a:t>Azure SQL Edge </a:t>
            </a:r>
            <a:r>
              <a:rPr lang="vi-VN" b="0"/>
              <a:t>là các dịch vụ theo </a:t>
            </a:r>
            <a:r>
              <a:rPr lang="vi-VN" b="1"/>
              <a:t>Azure SQL</a:t>
            </a:r>
          </a:p>
          <a:p>
            <a:pPr marL="628650" lvl="1" indent="-171450">
              <a:buFont typeface="Arial" panose="020B0604020202020204" pitchFamily="34" charset="0"/>
              <a:buChar char="•"/>
            </a:pPr>
            <a:r>
              <a:rPr lang="vi-VN" b="0"/>
              <a:t>Người dùng có thể kết nối với </a:t>
            </a:r>
            <a:r>
              <a:rPr lang="vi-VN" b="1"/>
              <a:t>Azure SQL</a:t>
            </a:r>
            <a:r>
              <a:rPr lang="en-US" b="1"/>
              <a:t> </a:t>
            </a:r>
            <a:r>
              <a:rPr lang="vi-VN" b="0"/>
              <a:t>bằng </a:t>
            </a:r>
            <a:r>
              <a:rPr lang="vi-VN" b="1"/>
              <a:t>SSMS</a:t>
            </a:r>
            <a:r>
              <a:rPr lang="vi-VN" b="0"/>
              <a:t>.</a:t>
            </a:r>
          </a:p>
        </p:txBody>
      </p:sp>
      <p:sp>
        <p:nvSpPr>
          <p:cNvPr id="4" name="Slide Number Placeholder 3"/>
          <p:cNvSpPr>
            <a:spLocks noGrp="1"/>
          </p:cNvSpPr>
          <p:nvPr>
            <p:ph type="sldNum" sz="quarter" idx="5"/>
          </p:nvPr>
        </p:nvSpPr>
        <p:spPr/>
        <p:txBody>
          <a:bodyPr/>
          <a:lstStyle/>
          <a:p>
            <a:fld id="{52C127AF-00EB-4D90-A5A6-061AC481D4F4}" type="slidenum">
              <a:rPr lang="en-US" smtClean="0"/>
              <a:t>18</a:t>
            </a:fld>
            <a:endParaRPr lang="en-US"/>
          </a:p>
        </p:txBody>
      </p:sp>
    </p:spTree>
    <p:extLst>
      <p:ext uri="{BB962C8B-B14F-4D97-AF65-F5344CB8AC3E}">
        <p14:creationId xmlns:p14="http://schemas.microsoft.com/office/powerpoint/2010/main" val="3639804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Goudy Old Style"/>
                <a:cs typeface="Goudy Old Style"/>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64705"/>
          </a:solidFill>
        </p:spPr>
        <p:txBody>
          <a:bodyPr wrap="square" lIns="0" tIns="0" rIns="0" bIns="0" rtlCol="0"/>
          <a:lstStyle/>
          <a:p>
            <a:endParaRPr/>
          </a:p>
        </p:txBody>
      </p:sp>
      <p:sp>
        <p:nvSpPr>
          <p:cNvPr id="2" name="Holder 2"/>
          <p:cNvSpPr>
            <a:spLocks noGrp="1"/>
          </p:cNvSpPr>
          <p:nvPr>
            <p:ph type="title"/>
          </p:nvPr>
        </p:nvSpPr>
        <p:spPr>
          <a:xfrm>
            <a:off x="383540" y="15493"/>
            <a:ext cx="8376919" cy="635635"/>
          </a:xfrm>
          <a:prstGeom prst="rect">
            <a:avLst/>
          </a:prstGeom>
        </p:spPr>
        <p:txBody>
          <a:bodyPr wrap="square" lIns="0" tIns="0" rIns="0" bIns="0">
            <a:spAutoFit/>
          </a:bodyPr>
          <a:lstStyle>
            <a:lvl1pPr>
              <a:defRPr sz="40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383540" y="1162557"/>
            <a:ext cx="8193405" cy="3073400"/>
          </a:xfrm>
          <a:prstGeom prst="rect">
            <a:avLst/>
          </a:prstGeom>
        </p:spPr>
        <p:txBody>
          <a:bodyPr wrap="square" lIns="0" tIns="0" rIns="0" bIns="0">
            <a:spAutoFit/>
          </a:bodyPr>
          <a:lstStyle>
            <a:lvl1pPr>
              <a:defRPr sz="2000" b="0" i="0">
                <a:solidFill>
                  <a:schemeClr val="tx1"/>
                </a:solidFill>
                <a:latin typeface="Goudy Old Style"/>
                <a:cs typeface="Goudy Old Style"/>
              </a:defRPr>
            </a:lvl1pPr>
          </a:lstStyle>
          <a:p>
            <a:endParaRPr/>
          </a:p>
        </p:txBody>
      </p:sp>
      <p:sp>
        <p:nvSpPr>
          <p:cNvPr id="4" name="Holder 4"/>
          <p:cNvSpPr>
            <a:spLocks noGrp="1"/>
          </p:cNvSpPr>
          <p:nvPr>
            <p:ph type="ftr" sz="quarter" idx="5"/>
          </p:nvPr>
        </p:nvSpPr>
        <p:spPr>
          <a:xfrm>
            <a:off x="78739" y="6607809"/>
            <a:ext cx="892810" cy="245109"/>
          </a:xfrm>
          <a:prstGeom prst="rect">
            <a:avLst/>
          </a:prstGeom>
        </p:spPr>
        <p:txBody>
          <a:bodyPr wrap="square" lIns="0" tIns="0" rIns="0" bIns="0">
            <a:spAutoFit/>
          </a:bodyPr>
          <a:lstStyle>
            <a:lvl1pPr>
              <a:defRPr sz="1200" b="0" i="1">
                <a:solidFill>
                  <a:schemeClr val="tx1"/>
                </a:solidFill>
                <a:latin typeface="Palatino Linotype"/>
                <a:cs typeface="Palatino Linotype"/>
              </a:defRPr>
            </a:lvl1p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11/1/2021</a:t>
            </a:fld>
            <a:endParaRPr lang="en-US"/>
          </a:p>
        </p:txBody>
      </p:sp>
      <p:sp>
        <p:nvSpPr>
          <p:cNvPr id="6" name="Holder 6"/>
          <p:cNvSpPr>
            <a:spLocks noGrp="1"/>
          </p:cNvSpPr>
          <p:nvPr>
            <p:ph type="sldNum" sz="quarter" idx="7"/>
          </p:nvPr>
        </p:nvSpPr>
        <p:spPr>
          <a:xfrm>
            <a:off x="7910321" y="6563359"/>
            <a:ext cx="883284" cy="251459"/>
          </a:xfrm>
          <a:prstGeom prst="rect">
            <a:avLst/>
          </a:prstGeom>
        </p:spPr>
        <p:txBody>
          <a:bodyPr wrap="square" lIns="0" tIns="0" rIns="0" bIns="0">
            <a:spAutoFit/>
          </a:bodyPr>
          <a:lstStyle>
            <a:lvl1pPr>
              <a:defRPr sz="1200" b="0" i="0">
                <a:solidFill>
                  <a:schemeClr val="tx1"/>
                </a:solidFill>
                <a:latin typeface="Times New Roman"/>
                <a:cs typeface="Times New Roman"/>
              </a:defRPr>
            </a:lvl1p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a:t>
            </a:fld>
            <a:endParaRPr sz="1800" baseline="2314"/>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portal.azure.co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6665"/>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grpSp>
      <p:sp>
        <p:nvSpPr>
          <p:cNvPr id="6" name="object 6"/>
          <p:cNvSpPr txBox="1"/>
          <p:nvPr/>
        </p:nvSpPr>
        <p:spPr>
          <a:xfrm>
            <a:off x="1430274" y="4211828"/>
            <a:ext cx="1627505" cy="452755"/>
          </a:xfrm>
          <a:prstGeom prst="rect">
            <a:avLst/>
          </a:prstGeom>
        </p:spPr>
        <p:txBody>
          <a:bodyPr vert="horz" wrap="square" lIns="0" tIns="12700" rIns="0" bIns="0" rtlCol="0">
            <a:spAutoFit/>
          </a:bodyPr>
          <a:lstStyle/>
          <a:p>
            <a:pPr marL="12700">
              <a:lnSpc>
                <a:spcPct val="100000"/>
              </a:lnSpc>
              <a:spcBef>
                <a:spcPts val="100"/>
              </a:spcBef>
            </a:pPr>
            <a:r>
              <a:rPr sz="2800" b="1" dirty="0">
                <a:latin typeface="Book Antiqua"/>
                <a:cs typeface="Book Antiqua"/>
              </a:rPr>
              <a:t>Session:</a:t>
            </a:r>
            <a:r>
              <a:rPr sz="2800" b="1" spc="-80" dirty="0">
                <a:latin typeface="Book Antiqua"/>
                <a:cs typeface="Book Antiqua"/>
              </a:rPr>
              <a:t> </a:t>
            </a:r>
            <a:r>
              <a:rPr sz="2800" b="1" dirty="0">
                <a:latin typeface="Book Antiqua"/>
                <a:cs typeface="Book Antiqua"/>
              </a:rPr>
              <a:t>7</a:t>
            </a:r>
            <a:endParaRPr sz="2800">
              <a:latin typeface="Book Antiqua"/>
              <a:cs typeface="Book Antiqua"/>
            </a:endParaRPr>
          </a:p>
        </p:txBody>
      </p:sp>
      <p:sp>
        <p:nvSpPr>
          <p:cNvPr id="7" name="object 7"/>
          <p:cNvSpPr txBox="1"/>
          <p:nvPr/>
        </p:nvSpPr>
        <p:spPr>
          <a:xfrm>
            <a:off x="3187445" y="4749546"/>
            <a:ext cx="2802890" cy="711200"/>
          </a:xfrm>
          <a:prstGeom prst="rect">
            <a:avLst/>
          </a:prstGeom>
        </p:spPr>
        <p:txBody>
          <a:bodyPr vert="horz" wrap="square" lIns="0" tIns="12700" rIns="0" bIns="0" rtlCol="0">
            <a:spAutoFit/>
          </a:bodyPr>
          <a:lstStyle/>
          <a:p>
            <a:pPr marL="12700">
              <a:lnSpc>
                <a:spcPct val="100000"/>
              </a:lnSpc>
              <a:spcBef>
                <a:spcPts val="100"/>
              </a:spcBef>
            </a:pPr>
            <a:r>
              <a:rPr sz="4500" b="1" i="1" spc="-5" dirty="0">
                <a:latin typeface="Book Antiqua"/>
                <a:cs typeface="Book Antiqua"/>
              </a:rPr>
              <a:t>Azure</a:t>
            </a:r>
            <a:r>
              <a:rPr sz="4500" b="1" i="1" spc="-90" dirty="0">
                <a:latin typeface="Book Antiqua"/>
                <a:cs typeface="Book Antiqua"/>
              </a:rPr>
              <a:t> </a:t>
            </a:r>
            <a:r>
              <a:rPr sz="4500" b="1" i="1" spc="-5" dirty="0">
                <a:latin typeface="Book Antiqua"/>
                <a:cs typeface="Book Antiqua"/>
              </a:rPr>
              <a:t>SQL</a:t>
            </a:r>
            <a:endParaRPr sz="4500">
              <a:latin typeface="Book Antiqua"/>
              <a:cs typeface="Book Antiqua"/>
            </a:endParaRPr>
          </a:p>
        </p:txBody>
      </p:sp>
      <p:sp>
        <p:nvSpPr>
          <p:cNvPr id="8" name="object 8"/>
          <p:cNvSpPr txBox="1">
            <a:spLocks noGrp="1"/>
          </p:cNvSpPr>
          <p:nvPr>
            <p:ph type="title"/>
          </p:nvPr>
        </p:nvSpPr>
        <p:spPr>
          <a:xfrm>
            <a:off x="3504691" y="1228090"/>
            <a:ext cx="4346575" cy="1671320"/>
          </a:xfrm>
          <a:prstGeom prst="rect">
            <a:avLst/>
          </a:prstGeom>
        </p:spPr>
        <p:txBody>
          <a:bodyPr vert="horz" wrap="square" lIns="0" tIns="12700" rIns="0" bIns="0" rtlCol="0">
            <a:spAutoFit/>
          </a:bodyPr>
          <a:lstStyle/>
          <a:p>
            <a:pPr marL="12065" marR="5080" indent="-635" algn="ctr">
              <a:lnSpc>
                <a:spcPct val="100000"/>
              </a:lnSpc>
              <a:spcBef>
                <a:spcPts val="100"/>
              </a:spcBef>
            </a:pPr>
            <a:r>
              <a:rPr sz="3600" b="1" dirty="0">
                <a:latin typeface="Goudy Old Style"/>
                <a:cs typeface="Goudy Old Style"/>
              </a:rPr>
              <a:t>Intelligent </a:t>
            </a:r>
            <a:r>
              <a:rPr sz="3600" b="1" spc="-5" dirty="0">
                <a:latin typeface="Goudy Old Style"/>
                <a:cs typeface="Goudy Old Style"/>
              </a:rPr>
              <a:t>Data  </a:t>
            </a:r>
            <a:r>
              <a:rPr sz="3600" b="1" dirty="0">
                <a:latin typeface="Goudy Old Style"/>
                <a:cs typeface="Goudy Old Style"/>
              </a:rPr>
              <a:t>Management with</a:t>
            </a:r>
            <a:r>
              <a:rPr sz="3600" b="1" spc="-95" dirty="0">
                <a:latin typeface="Goudy Old Style"/>
                <a:cs typeface="Goudy Old Style"/>
              </a:rPr>
              <a:t> </a:t>
            </a:r>
            <a:r>
              <a:rPr sz="3600" b="1" dirty="0">
                <a:latin typeface="Goudy Old Style"/>
                <a:cs typeface="Goudy Old Style"/>
              </a:rPr>
              <a:t>SQL  </a:t>
            </a:r>
            <a:r>
              <a:rPr sz="3600" b="1" spc="-5" dirty="0">
                <a:latin typeface="Goudy Old Style"/>
                <a:cs typeface="Goudy Old Style"/>
              </a:rPr>
              <a:t>Server</a:t>
            </a:r>
            <a:endParaRPr sz="3600">
              <a:latin typeface="Goudy Old Style"/>
              <a:cs typeface="Goudy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367280" cy="635635"/>
          </a:xfrm>
          <a:prstGeom prst="rect">
            <a:avLst/>
          </a:prstGeom>
        </p:spPr>
        <p:txBody>
          <a:bodyPr vert="horz" wrap="square" lIns="0" tIns="12700" rIns="0" bIns="0" rtlCol="0">
            <a:spAutoFit/>
          </a:bodyPr>
          <a:lstStyle/>
          <a:p>
            <a:pPr marL="12700">
              <a:lnSpc>
                <a:spcPct val="100000"/>
              </a:lnSpc>
              <a:spcBef>
                <a:spcPts val="100"/>
              </a:spcBef>
            </a:pPr>
            <a:r>
              <a:rPr spc="130" dirty="0"/>
              <a:t>Objectives</a:t>
            </a:r>
          </a:p>
        </p:txBody>
      </p:sp>
      <p:sp>
        <p:nvSpPr>
          <p:cNvPr id="5" name="object 5"/>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2</a:t>
            </a:fld>
            <a:endParaRPr sz="1800" baseline="2314">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p:nvPr/>
        </p:nvSpPr>
        <p:spPr>
          <a:xfrm>
            <a:off x="383540" y="1159509"/>
            <a:ext cx="7950200" cy="1854200"/>
          </a:xfrm>
          <a:prstGeom prst="rect">
            <a:avLst/>
          </a:prstGeom>
        </p:spPr>
        <p:txBody>
          <a:bodyPr vert="horz" wrap="square" lIns="0" tIns="12700" rIns="0" bIns="0" rtlCol="0">
            <a:spAutoFit/>
          </a:bodyPr>
          <a:lstStyle/>
          <a:p>
            <a:pPr marL="353695" indent="-341630">
              <a:lnSpc>
                <a:spcPct val="100000"/>
              </a:lnSpc>
              <a:spcBef>
                <a:spcPts val="100"/>
              </a:spcBef>
              <a:buFont typeface="Calibri"/>
              <a:buChar char="●"/>
              <a:tabLst>
                <a:tab pos="353695" algn="l"/>
                <a:tab pos="354330" algn="l"/>
              </a:tabLst>
            </a:pPr>
            <a:r>
              <a:rPr sz="2400" spc="-5" dirty="0">
                <a:latin typeface="Goudy Old Style"/>
                <a:cs typeface="Goudy Old Style"/>
              </a:rPr>
              <a:t>Explain Azure</a:t>
            </a:r>
            <a:r>
              <a:rPr sz="2400" dirty="0">
                <a:latin typeface="Goudy Old Style"/>
                <a:cs typeface="Goudy Old Style"/>
              </a:rPr>
              <a:t> SQL</a:t>
            </a:r>
            <a:endParaRPr sz="2400">
              <a:latin typeface="Goudy Old Style"/>
              <a:cs typeface="Goudy Old Style"/>
            </a:endParaRPr>
          </a:p>
          <a:p>
            <a:pPr marL="353695" indent="-341630">
              <a:lnSpc>
                <a:spcPct val="100000"/>
              </a:lnSpc>
              <a:buFont typeface="Calibri"/>
              <a:buChar char="●"/>
              <a:tabLst>
                <a:tab pos="353695" algn="l"/>
                <a:tab pos="354330" algn="l"/>
              </a:tabLst>
            </a:pPr>
            <a:r>
              <a:rPr sz="2400" spc="-5" dirty="0">
                <a:latin typeface="Goudy Old Style"/>
                <a:cs typeface="Goudy Old Style"/>
              </a:rPr>
              <a:t>List </a:t>
            </a:r>
            <a:r>
              <a:rPr sz="2400" dirty="0">
                <a:latin typeface="Goudy Old Style"/>
                <a:cs typeface="Goudy Old Style"/>
              </a:rPr>
              <a:t>the </a:t>
            </a:r>
            <a:r>
              <a:rPr sz="2400" spc="-5" dirty="0">
                <a:latin typeface="Goudy Old Style"/>
                <a:cs typeface="Goudy Old Style"/>
              </a:rPr>
              <a:t>features and </a:t>
            </a:r>
            <a:r>
              <a:rPr sz="2400" dirty="0">
                <a:latin typeface="Goudy Old Style"/>
                <a:cs typeface="Goudy Old Style"/>
              </a:rPr>
              <a:t>benefits </a:t>
            </a:r>
            <a:r>
              <a:rPr sz="2400" spc="-5" dirty="0">
                <a:latin typeface="Goudy Old Style"/>
                <a:cs typeface="Goudy Old Style"/>
              </a:rPr>
              <a:t>of Azure</a:t>
            </a:r>
            <a:r>
              <a:rPr sz="2400" spc="50" dirty="0">
                <a:latin typeface="Goudy Old Style"/>
                <a:cs typeface="Goudy Old Style"/>
              </a:rPr>
              <a:t> </a:t>
            </a:r>
            <a:r>
              <a:rPr sz="2400" dirty="0">
                <a:latin typeface="Goudy Old Style"/>
                <a:cs typeface="Goudy Old Style"/>
              </a:rPr>
              <a:t>SQL</a:t>
            </a:r>
            <a:endParaRPr sz="2400">
              <a:latin typeface="Goudy Old Style"/>
              <a:cs typeface="Goudy Old Style"/>
            </a:endParaRPr>
          </a:p>
          <a:p>
            <a:pPr marL="353695" marR="5080" indent="-341630">
              <a:lnSpc>
                <a:spcPct val="100000"/>
              </a:lnSpc>
              <a:buFont typeface="Calibri"/>
              <a:buChar char="●"/>
              <a:tabLst>
                <a:tab pos="353695" algn="l"/>
                <a:tab pos="354330" algn="l"/>
              </a:tabLst>
            </a:pPr>
            <a:r>
              <a:rPr sz="2400" dirty="0">
                <a:latin typeface="Goudy Old Style"/>
                <a:cs typeface="Goudy Old Style"/>
              </a:rPr>
              <a:t>State the differences between </a:t>
            </a:r>
            <a:r>
              <a:rPr sz="2400" spc="-5" dirty="0">
                <a:latin typeface="Goudy Old Style"/>
                <a:cs typeface="Goudy Old Style"/>
              </a:rPr>
              <a:t>Azure </a:t>
            </a:r>
            <a:r>
              <a:rPr sz="2400" dirty="0">
                <a:latin typeface="Goudy Old Style"/>
                <a:cs typeface="Goudy Old Style"/>
              </a:rPr>
              <a:t>SQL </a:t>
            </a:r>
            <a:r>
              <a:rPr sz="2400" spc="-5" dirty="0">
                <a:latin typeface="Goudy Old Style"/>
                <a:cs typeface="Goudy Old Style"/>
              </a:rPr>
              <a:t>and </a:t>
            </a:r>
            <a:r>
              <a:rPr sz="2400" dirty="0">
                <a:latin typeface="Goudy Old Style"/>
                <a:cs typeface="Goudy Old Style"/>
              </a:rPr>
              <a:t>on-premises SQL  Server</a:t>
            </a:r>
            <a:endParaRPr sz="2400">
              <a:latin typeface="Goudy Old Style"/>
              <a:cs typeface="Goudy Old Style"/>
            </a:endParaRPr>
          </a:p>
          <a:p>
            <a:pPr marL="353695" indent="-341630">
              <a:lnSpc>
                <a:spcPct val="100000"/>
              </a:lnSpc>
              <a:buFont typeface="Calibri"/>
              <a:buChar char="●"/>
              <a:tabLst>
                <a:tab pos="353695" algn="l"/>
                <a:tab pos="354330" algn="l"/>
              </a:tabLst>
            </a:pPr>
            <a:r>
              <a:rPr sz="2400" spc="-5" dirty="0">
                <a:latin typeface="Goudy Old Style"/>
                <a:cs typeface="Goudy Old Style"/>
              </a:rPr>
              <a:t>Explain </a:t>
            </a:r>
            <a:r>
              <a:rPr sz="2400" dirty="0">
                <a:latin typeface="Goudy Old Style"/>
                <a:cs typeface="Goudy Old Style"/>
              </a:rPr>
              <a:t>steps to connect </a:t>
            </a:r>
            <a:r>
              <a:rPr sz="2400" spc="-5" dirty="0">
                <a:latin typeface="Goudy Old Style"/>
                <a:cs typeface="Goudy Old Style"/>
              </a:rPr>
              <a:t>Azure </a:t>
            </a:r>
            <a:r>
              <a:rPr sz="2400" dirty="0">
                <a:latin typeface="Goudy Old Style"/>
                <a:cs typeface="Goudy Old Style"/>
              </a:rPr>
              <a:t>SQL with</a:t>
            </a:r>
            <a:r>
              <a:rPr sz="2400" spc="15" dirty="0">
                <a:latin typeface="Goudy Old Style"/>
                <a:cs typeface="Goudy Old Style"/>
              </a:rPr>
              <a:t> </a:t>
            </a:r>
            <a:r>
              <a:rPr sz="2400" dirty="0">
                <a:latin typeface="Goudy Old Style"/>
                <a:cs typeface="Goudy Old Style"/>
              </a:rPr>
              <a:t>SSMS</a:t>
            </a:r>
            <a:endParaRPr sz="2400">
              <a:latin typeface="Goudy Old Style"/>
              <a:cs typeface="Goudy Old Sty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841625" cy="635635"/>
          </a:xfrm>
          <a:prstGeom prst="rect">
            <a:avLst/>
          </a:prstGeom>
        </p:spPr>
        <p:txBody>
          <a:bodyPr vert="horz" wrap="square" lIns="0" tIns="12700" rIns="0" bIns="0" rtlCol="0">
            <a:spAutoFit/>
          </a:bodyPr>
          <a:lstStyle/>
          <a:p>
            <a:pPr marL="12700">
              <a:lnSpc>
                <a:spcPct val="100000"/>
              </a:lnSpc>
              <a:spcBef>
                <a:spcPts val="100"/>
              </a:spcBef>
            </a:pPr>
            <a:r>
              <a:rPr spc="195" dirty="0"/>
              <a:t>Introduction</a:t>
            </a:r>
          </a:p>
        </p:txBody>
      </p:sp>
      <p:sp>
        <p:nvSpPr>
          <p:cNvPr id="3" name="object 3"/>
          <p:cNvSpPr txBox="1"/>
          <p:nvPr/>
        </p:nvSpPr>
        <p:spPr>
          <a:xfrm>
            <a:off x="321309" y="984250"/>
            <a:ext cx="6125210" cy="3073400"/>
          </a:xfrm>
          <a:prstGeom prst="rect">
            <a:avLst/>
          </a:prstGeom>
        </p:spPr>
        <p:txBody>
          <a:bodyPr vert="horz" wrap="square" lIns="0" tIns="12065" rIns="0" bIns="0" rtlCol="0">
            <a:spAutoFit/>
          </a:bodyPr>
          <a:lstStyle/>
          <a:p>
            <a:pPr marL="353695" marR="5080" indent="-341630">
              <a:lnSpc>
                <a:spcPct val="100000"/>
              </a:lnSpc>
              <a:spcBef>
                <a:spcPts val="95"/>
              </a:spcBef>
              <a:buFont typeface="Wingdings"/>
              <a:buChar char=""/>
              <a:tabLst>
                <a:tab pos="353695" algn="l"/>
                <a:tab pos="354330" algn="l"/>
              </a:tabLst>
            </a:pPr>
            <a:r>
              <a:rPr sz="2000" spc="-5" dirty="0">
                <a:latin typeface="Goudy Old Style"/>
                <a:cs typeface="Goudy Old Style"/>
              </a:rPr>
              <a:t>Cloud computing is a technology trend involving delivery  of software, platforms, and infrastructure as services  through </a:t>
            </a:r>
            <a:r>
              <a:rPr sz="2000" spc="-10" dirty="0">
                <a:latin typeface="Goudy Old Style"/>
                <a:cs typeface="Goudy Old Style"/>
              </a:rPr>
              <a:t>Internet </a:t>
            </a:r>
            <a:r>
              <a:rPr sz="2000" spc="-5" dirty="0">
                <a:latin typeface="Goudy Old Style"/>
                <a:cs typeface="Goudy Old Style"/>
              </a:rPr>
              <a:t>or</a:t>
            </a:r>
            <a:r>
              <a:rPr sz="2000" spc="10" dirty="0">
                <a:latin typeface="Goudy Old Style"/>
                <a:cs typeface="Goudy Old Style"/>
              </a:rPr>
              <a:t> </a:t>
            </a:r>
            <a:r>
              <a:rPr sz="2000" spc="-5" dirty="0">
                <a:latin typeface="Goudy Old Style"/>
                <a:cs typeface="Goudy Old Style"/>
              </a:rPr>
              <a:t>networks.</a:t>
            </a:r>
            <a:endParaRPr sz="2000">
              <a:latin typeface="Goudy Old Style"/>
              <a:cs typeface="Goudy Old Style"/>
            </a:endParaRPr>
          </a:p>
          <a:p>
            <a:pPr>
              <a:lnSpc>
                <a:spcPct val="100000"/>
              </a:lnSpc>
              <a:buFont typeface="Wingdings"/>
              <a:buChar char=""/>
            </a:pPr>
            <a:endParaRPr sz="2000">
              <a:latin typeface="Goudy Old Style"/>
              <a:cs typeface="Goudy Old Style"/>
            </a:endParaRPr>
          </a:p>
          <a:p>
            <a:pPr marL="353695" marR="299720" indent="-341630">
              <a:lnSpc>
                <a:spcPct val="100000"/>
              </a:lnSpc>
              <a:spcBef>
                <a:spcPts val="5"/>
              </a:spcBef>
              <a:buFont typeface="Wingdings"/>
              <a:buChar char=""/>
              <a:tabLst>
                <a:tab pos="353695" algn="l"/>
                <a:tab pos="354330" algn="l"/>
              </a:tabLst>
            </a:pPr>
            <a:r>
              <a:rPr sz="2000" spc="-10" dirty="0">
                <a:latin typeface="Goudy Old Style"/>
                <a:cs typeface="Goudy Old Style"/>
              </a:rPr>
              <a:t>Microsoft </a:t>
            </a:r>
            <a:r>
              <a:rPr sz="2000" spc="-5" dirty="0">
                <a:latin typeface="Goudy Old Style"/>
                <a:cs typeface="Goudy Old Style"/>
              </a:rPr>
              <a:t>Azure is a key offering in Microsoft's suite </a:t>
            </a:r>
            <a:r>
              <a:rPr sz="2000" spc="-10" dirty="0">
                <a:latin typeface="Goudy Old Style"/>
                <a:cs typeface="Goudy Old Style"/>
              </a:rPr>
              <a:t>of  </a:t>
            </a:r>
            <a:r>
              <a:rPr sz="2000" spc="-5" dirty="0">
                <a:latin typeface="Goudy Old Style"/>
                <a:cs typeface="Goudy Old Style"/>
              </a:rPr>
              <a:t>cloud computing </a:t>
            </a:r>
            <a:r>
              <a:rPr sz="2000" spc="-10" dirty="0">
                <a:latin typeface="Goudy Old Style"/>
                <a:cs typeface="Goudy Old Style"/>
              </a:rPr>
              <a:t>products </a:t>
            </a:r>
            <a:r>
              <a:rPr sz="2000" spc="-5" dirty="0">
                <a:latin typeface="Goudy Old Style"/>
                <a:cs typeface="Goudy Old Style"/>
              </a:rPr>
              <a:t>and</a:t>
            </a:r>
            <a:r>
              <a:rPr sz="2000" spc="20" dirty="0">
                <a:latin typeface="Goudy Old Style"/>
                <a:cs typeface="Goudy Old Style"/>
              </a:rPr>
              <a:t> </a:t>
            </a:r>
            <a:r>
              <a:rPr sz="2000" spc="-5" dirty="0">
                <a:latin typeface="Goudy Old Style"/>
                <a:cs typeface="Goudy Old Style"/>
              </a:rPr>
              <a:t>services.</a:t>
            </a:r>
            <a:endParaRPr sz="2000">
              <a:latin typeface="Goudy Old Style"/>
              <a:cs typeface="Goudy Old Style"/>
            </a:endParaRPr>
          </a:p>
          <a:p>
            <a:pPr>
              <a:lnSpc>
                <a:spcPct val="100000"/>
              </a:lnSpc>
              <a:spcBef>
                <a:spcPts val="55"/>
              </a:spcBef>
              <a:buFont typeface="Wingdings"/>
              <a:buChar char=""/>
            </a:pPr>
            <a:endParaRPr sz="1950">
              <a:latin typeface="Goudy Old Style"/>
              <a:cs typeface="Goudy Old Style"/>
            </a:endParaRPr>
          </a:p>
          <a:p>
            <a:pPr marL="353695" marR="467359" indent="-341630" algn="just">
              <a:lnSpc>
                <a:spcPct val="100000"/>
              </a:lnSpc>
              <a:spcBef>
                <a:spcPts val="5"/>
              </a:spcBef>
              <a:buFont typeface="Wingdings"/>
              <a:buChar char=""/>
              <a:tabLst>
                <a:tab pos="354330" algn="l"/>
              </a:tabLst>
            </a:pPr>
            <a:r>
              <a:rPr sz="2000" spc="-10" dirty="0">
                <a:latin typeface="Goudy Old Style"/>
                <a:cs typeface="Goudy Old Style"/>
              </a:rPr>
              <a:t>Database functions </a:t>
            </a:r>
            <a:r>
              <a:rPr sz="2000" spc="-5" dirty="0">
                <a:latin typeface="Goudy Old Style"/>
                <a:cs typeface="Goudy Old Style"/>
              </a:rPr>
              <a:t>of </a:t>
            </a:r>
            <a:r>
              <a:rPr sz="2000" spc="-10" dirty="0">
                <a:latin typeface="Goudy Old Style"/>
                <a:cs typeface="Goudy Old Style"/>
              </a:rPr>
              <a:t>Microsoft's </a:t>
            </a:r>
            <a:r>
              <a:rPr sz="2000" spc="-5" dirty="0">
                <a:latin typeface="Goudy Old Style"/>
                <a:cs typeface="Goudy Old Style"/>
              </a:rPr>
              <a:t>cloud platform </a:t>
            </a:r>
            <a:r>
              <a:rPr sz="2000" spc="-10" dirty="0">
                <a:latin typeface="Goudy Old Style"/>
                <a:cs typeface="Goudy Old Style"/>
              </a:rPr>
              <a:t>are  </a:t>
            </a:r>
            <a:r>
              <a:rPr sz="2000" spc="-5" dirty="0">
                <a:latin typeface="Goudy Old Style"/>
                <a:cs typeface="Goudy Old Style"/>
              </a:rPr>
              <a:t>provided </a:t>
            </a:r>
            <a:r>
              <a:rPr sz="2000" spc="-10" dirty="0">
                <a:latin typeface="Goudy Old Style"/>
                <a:cs typeface="Goudy Old Style"/>
              </a:rPr>
              <a:t>by </a:t>
            </a:r>
            <a:r>
              <a:rPr sz="2000" spc="-5" dirty="0">
                <a:latin typeface="Goudy Old Style"/>
                <a:cs typeface="Goudy Old Style"/>
              </a:rPr>
              <a:t>Microsoft Azure SQL </a:t>
            </a:r>
            <a:r>
              <a:rPr sz="2000" spc="-10" dirty="0">
                <a:latin typeface="Goudy Old Style"/>
                <a:cs typeface="Goudy Old Style"/>
              </a:rPr>
              <a:t>Database, </a:t>
            </a:r>
            <a:r>
              <a:rPr sz="2000" spc="-5" dirty="0">
                <a:latin typeface="Goudy Old Style"/>
                <a:cs typeface="Goudy Old Style"/>
              </a:rPr>
              <a:t>which is  commonly </a:t>
            </a:r>
            <a:r>
              <a:rPr sz="2000" spc="-10" dirty="0">
                <a:latin typeface="Goudy Old Style"/>
                <a:cs typeface="Goudy Old Style"/>
              </a:rPr>
              <a:t>known </a:t>
            </a:r>
            <a:r>
              <a:rPr sz="2000" spc="-5" dirty="0">
                <a:latin typeface="Goudy Old Style"/>
                <a:cs typeface="Goudy Old Style"/>
              </a:rPr>
              <a:t>as </a:t>
            </a:r>
            <a:r>
              <a:rPr sz="2000" b="1" spc="-5" dirty="0">
                <a:latin typeface="Goudy Old Style"/>
                <a:cs typeface="Goudy Old Style"/>
              </a:rPr>
              <a:t>Azure</a:t>
            </a:r>
            <a:r>
              <a:rPr sz="2000" b="1" spc="45" dirty="0">
                <a:latin typeface="Goudy Old Style"/>
                <a:cs typeface="Goudy Old Style"/>
              </a:rPr>
              <a:t> </a:t>
            </a:r>
            <a:r>
              <a:rPr sz="2000" b="1" spc="-5" dirty="0">
                <a:latin typeface="Goudy Old Style"/>
                <a:cs typeface="Goudy Old Style"/>
              </a:rPr>
              <a:t>SQL</a:t>
            </a:r>
            <a:r>
              <a:rPr sz="2000" spc="-5" dirty="0">
                <a:latin typeface="Goudy Old Style"/>
                <a:cs typeface="Goudy Old Style"/>
              </a:rPr>
              <a:t>.</a:t>
            </a:r>
            <a:endParaRPr sz="2000">
              <a:latin typeface="Goudy Old Style"/>
              <a:cs typeface="Goudy Old Style"/>
            </a:endParaRPr>
          </a:p>
        </p:txBody>
      </p:sp>
      <p:pic>
        <p:nvPicPr>
          <p:cNvPr id="4" name="object 4"/>
          <p:cNvPicPr/>
          <p:nvPr/>
        </p:nvPicPr>
        <p:blipFill>
          <a:blip r:embed="rId3" cstate="print"/>
          <a:stretch>
            <a:fillRect/>
          </a:stretch>
        </p:blipFill>
        <p:spPr>
          <a:xfrm>
            <a:off x="6474714" y="1117091"/>
            <a:ext cx="2669286" cy="1655826"/>
          </a:xfrm>
          <a:prstGeom prst="rect">
            <a:avLst/>
          </a:prstGeom>
        </p:spPr>
      </p:pic>
      <p:pic>
        <p:nvPicPr>
          <p:cNvPr id="5" name="object 5"/>
          <p:cNvPicPr/>
          <p:nvPr/>
        </p:nvPicPr>
        <p:blipFill>
          <a:blip r:embed="rId4" cstate="print"/>
          <a:stretch>
            <a:fillRect/>
          </a:stretch>
        </p:blipFill>
        <p:spPr>
          <a:xfrm>
            <a:off x="6474714" y="2825495"/>
            <a:ext cx="2353056" cy="1655064"/>
          </a:xfrm>
          <a:prstGeom prst="rect">
            <a:avLst/>
          </a:prstGeom>
        </p:spPr>
      </p:pic>
      <p:sp>
        <p:nvSpPr>
          <p:cNvPr id="6" name="object 6"/>
          <p:cNvSpPr/>
          <p:nvPr/>
        </p:nvSpPr>
        <p:spPr>
          <a:xfrm>
            <a:off x="397002" y="4714494"/>
            <a:ext cx="8068309" cy="1600200"/>
          </a:xfrm>
          <a:custGeom>
            <a:avLst/>
            <a:gdLst/>
            <a:ahLst/>
            <a:cxnLst/>
            <a:rect l="l" t="t" r="r" b="b"/>
            <a:pathLst>
              <a:path w="8068309" h="1600200">
                <a:moveTo>
                  <a:pt x="7801356" y="0"/>
                </a:moveTo>
                <a:lnTo>
                  <a:pt x="266700" y="0"/>
                </a:lnTo>
                <a:lnTo>
                  <a:pt x="218760" y="4296"/>
                </a:lnTo>
                <a:lnTo>
                  <a:pt x="173639" y="16682"/>
                </a:lnTo>
                <a:lnTo>
                  <a:pt x="132091" y="36406"/>
                </a:lnTo>
                <a:lnTo>
                  <a:pt x="94868" y="62716"/>
                </a:lnTo>
                <a:lnTo>
                  <a:pt x="62724" y="94858"/>
                </a:lnTo>
                <a:lnTo>
                  <a:pt x="36412" y="132079"/>
                </a:lnTo>
                <a:lnTo>
                  <a:pt x="16685" y="173629"/>
                </a:lnTo>
                <a:lnTo>
                  <a:pt x="4296" y="218753"/>
                </a:lnTo>
                <a:lnTo>
                  <a:pt x="0" y="266699"/>
                </a:lnTo>
                <a:lnTo>
                  <a:pt x="0" y="1333499"/>
                </a:lnTo>
                <a:lnTo>
                  <a:pt x="4296" y="1381439"/>
                </a:lnTo>
                <a:lnTo>
                  <a:pt x="16685" y="1426560"/>
                </a:lnTo>
                <a:lnTo>
                  <a:pt x="36412" y="1468108"/>
                </a:lnTo>
                <a:lnTo>
                  <a:pt x="62724" y="1505331"/>
                </a:lnTo>
                <a:lnTo>
                  <a:pt x="94868" y="1537475"/>
                </a:lnTo>
                <a:lnTo>
                  <a:pt x="132091" y="1563787"/>
                </a:lnTo>
                <a:lnTo>
                  <a:pt x="173639" y="1583514"/>
                </a:lnTo>
                <a:lnTo>
                  <a:pt x="218760" y="1595903"/>
                </a:lnTo>
                <a:lnTo>
                  <a:pt x="266700" y="1600199"/>
                </a:lnTo>
                <a:lnTo>
                  <a:pt x="7801356" y="1600199"/>
                </a:lnTo>
                <a:lnTo>
                  <a:pt x="7849302" y="1595903"/>
                </a:lnTo>
                <a:lnTo>
                  <a:pt x="7894426" y="1583514"/>
                </a:lnTo>
                <a:lnTo>
                  <a:pt x="7935975" y="1563787"/>
                </a:lnTo>
                <a:lnTo>
                  <a:pt x="7973197" y="1537475"/>
                </a:lnTo>
                <a:lnTo>
                  <a:pt x="8005339" y="1505331"/>
                </a:lnTo>
                <a:lnTo>
                  <a:pt x="8031649" y="1468108"/>
                </a:lnTo>
                <a:lnTo>
                  <a:pt x="8051373" y="1426560"/>
                </a:lnTo>
                <a:lnTo>
                  <a:pt x="8063759" y="1381439"/>
                </a:lnTo>
                <a:lnTo>
                  <a:pt x="8068056" y="1333499"/>
                </a:lnTo>
                <a:lnTo>
                  <a:pt x="8068056" y="266699"/>
                </a:lnTo>
                <a:lnTo>
                  <a:pt x="8063759" y="218753"/>
                </a:lnTo>
                <a:lnTo>
                  <a:pt x="8051373" y="173629"/>
                </a:lnTo>
                <a:lnTo>
                  <a:pt x="8031649" y="132079"/>
                </a:lnTo>
                <a:lnTo>
                  <a:pt x="8005339" y="94858"/>
                </a:lnTo>
                <a:lnTo>
                  <a:pt x="7973197" y="62716"/>
                </a:lnTo>
                <a:lnTo>
                  <a:pt x="7935975" y="36406"/>
                </a:lnTo>
                <a:lnTo>
                  <a:pt x="7894426" y="16682"/>
                </a:lnTo>
                <a:lnTo>
                  <a:pt x="7849302" y="4296"/>
                </a:lnTo>
                <a:lnTo>
                  <a:pt x="7801356" y="0"/>
                </a:lnTo>
                <a:close/>
              </a:path>
            </a:pathLst>
          </a:custGeom>
          <a:solidFill>
            <a:srgbClr val="C3D59B"/>
          </a:solidFill>
        </p:spPr>
        <p:txBody>
          <a:bodyPr wrap="square" lIns="0" tIns="0" rIns="0" bIns="0" rtlCol="0"/>
          <a:lstStyle/>
          <a:p>
            <a:endParaRPr/>
          </a:p>
        </p:txBody>
      </p:sp>
      <p:sp>
        <p:nvSpPr>
          <p:cNvPr id="7" name="object 7"/>
          <p:cNvSpPr txBox="1"/>
          <p:nvPr/>
        </p:nvSpPr>
        <p:spPr>
          <a:xfrm>
            <a:off x="553973" y="4813300"/>
            <a:ext cx="7694930" cy="112268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Data on Azure </a:t>
            </a:r>
            <a:r>
              <a:rPr sz="1800" dirty="0">
                <a:latin typeface="Goudy Old Style"/>
                <a:cs typeface="Goudy Old Style"/>
              </a:rPr>
              <a:t>SQL </a:t>
            </a:r>
            <a:r>
              <a:rPr sz="1800" spc="-5" dirty="0">
                <a:latin typeface="Goudy Old Style"/>
                <a:cs typeface="Goudy Old Style"/>
              </a:rPr>
              <a:t>does not </a:t>
            </a:r>
            <a:r>
              <a:rPr sz="1800" dirty="0">
                <a:latin typeface="Goudy Old Style"/>
                <a:cs typeface="Goudy Old Style"/>
              </a:rPr>
              <a:t>have the constraint </a:t>
            </a:r>
            <a:r>
              <a:rPr sz="1800" spc="-5" dirty="0">
                <a:latin typeface="Goudy Old Style"/>
                <a:cs typeface="Goudy Old Style"/>
              </a:rPr>
              <a:t>of </a:t>
            </a:r>
            <a:r>
              <a:rPr sz="1800" dirty="0">
                <a:latin typeface="Goudy Old Style"/>
                <a:cs typeface="Goudy Old Style"/>
              </a:rPr>
              <a:t>being</a:t>
            </a:r>
            <a:r>
              <a:rPr sz="1800" spc="-25" dirty="0">
                <a:latin typeface="Goudy Old Style"/>
                <a:cs typeface="Goudy Old Style"/>
              </a:rPr>
              <a:t> </a:t>
            </a:r>
            <a:r>
              <a:rPr sz="1800" spc="-5" dirty="0">
                <a:latin typeface="Goudy Old Style"/>
                <a:cs typeface="Goudy Old Style"/>
              </a:rPr>
              <a:t>location-specific.</a:t>
            </a:r>
            <a:endParaRPr sz="1800">
              <a:latin typeface="Goudy Old Style"/>
              <a:cs typeface="Goudy Old Style"/>
            </a:endParaRPr>
          </a:p>
          <a:p>
            <a:pPr>
              <a:lnSpc>
                <a:spcPct val="100000"/>
              </a:lnSpc>
              <a:spcBef>
                <a:spcPts val="55"/>
              </a:spcBef>
              <a:buFont typeface="Wingdings"/>
              <a:buChar char=""/>
            </a:pPr>
            <a:endParaRPr sz="1750">
              <a:latin typeface="Goudy Old Style"/>
              <a:cs typeface="Goudy Old Style"/>
            </a:endParaRPr>
          </a:p>
          <a:p>
            <a:pPr marL="353695" marR="5080" indent="-341630">
              <a:lnSpc>
                <a:spcPct val="100000"/>
              </a:lnSpc>
              <a:spcBef>
                <a:spcPts val="5"/>
              </a:spcBef>
              <a:buFont typeface="Wingdings"/>
              <a:buChar char=""/>
              <a:tabLst>
                <a:tab pos="353695" algn="l"/>
                <a:tab pos="354330" algn="l"/>
              </a:tabLst>
            </a:pPr>
            <a:r>
              <a:rPr sz="1800" dirty="0">
                <a:latin typeface="Goudy Old Style"/>
                <a:cs typeface="Goudy Old Style"/>
              </a:rPr>
              <a:t>This </a:t>
            </a:r>
            <a:r>
              <a:rPr sz="1800" spc="-5" dirty="0">
                <a:latin typeface="Goudy Old Style"/>
                <a:cs typeface="Goudy Old Style"/>
              </a:rPr>
              <a:t>means </a:t>
            </a:r>
            <a:r>
              <a:rPr sz="1800" dirty="0">
                <a:latin typeface="Goudy Old Style"/>
                <a:cs typeface="Goudy Old Style"/>
              </a:rPr>
              <a:t>that the </a:t>
            </a:r>
            <a:r>
              <a:rPr sz="1800" spc="-5" dirty="0">
                <a:latin typeface="Goudy Old Style"/>
                <a:cs typeface="Goudy Old Style"/>
              </a:rPr>
              <a:t>data </a:t>
            </a:r>
            <a:r>
              <a:rPr sz="1800" dirty="0">
                <a:latin typeface="Goudy Old Style"/>
                <a:cs typeface="Goudy Old Style"/>
              </a:rPr>
              <a:t>stored in SQL </a:t>
            </a:r>
            <a:r>
              <a:rPr sz="1800" spc="-5" dirty="0">
                <a:latin typeface="Goudy Old Style"/>
                <a:cs typeface="Goudy Old Style"/>
              </a:rPr>
              <a:t>Azure </a:t>
            </a:r>
            <a:r>
              <a:rPr sz="1800" dirty="0">
                <a:latin typeface="Goudy Old Style"/>
                <a:cs typeface="Goudy Old Style"/>
              </a:rPr>
              <a:t>can be viewed </a:t>
            </a:r>
            <a:r>
              <a:rPr sz="1800" spc="-5" dirty="0">
                <a:latin typeface="Goudy Old Style"/>
                <a:cs typeface="Goudy Old Style"/>
              </a:rPr>
              <a:t>and edited from any  </a:t>
            </a:r>
            <a:r>
              <a:rPr sz="1800" dirty="0">
                <a:latin typeface="Goudy Old Style"/>
                <a:cs typeface="Goudy Old Style"/>
              </a:rPr>
              <a:t>location, </a:t>
            </a:r>
            <a:r>
              <a:rPr sz="1800" spc="-5" dirty="0">
                <a:latin typeface="Goudy Old Style"/>
                <a:cs typeface="Goudy Old Style"/>
              </a:rPr>
              <a:t>as </a:t>
            </a:r>
            <a:r>
              <a:rPr sz="1800" dirty="0">
                <a:latin typeface="Goudy Old Style"/>
                <a:cs typeface="Goudy Old Style"/>
              </a:rPr>
              <a:t>the </a:t>
            </a:r>
            <a:r>
              <a:rPr sz="1800" spc="-5" dirty="0">
                <a:latin typeface="Goudy Old Style"/>
                <a:cs typeface="Goudy Old Style"/>
              </a:rPr>
              <a:t>entire data </a:t>
            </a:r>
            <a:r>
              <a:rPr sz="1800" dirty="0">
                <a:latin typeface="Goudy Old Style"/>
                <a:cs typeface="Goudy Old Style"/>
              </a:rPr>
              <a:t>is stored </a:t>
            </a:r>
            <a:r>
              <a:rPr sz="1800" spc="-5" dirty="0">
                <a:latin typeface="Goudy Old Style"/>
                <a:cs typeface="Goudy Old Style"/>
              </a:rPr>
              <a:t>on </a:t>
            </a:r>
            <a:r>
              <a:rPr sz="1800" dirty="0">
                <a:latin typeface="Goudy Old Style"/>
                <a:cs typeface="Goudy Old Style"/>
              </a:rPr>
              <a:t>cloud storage</a:t>
            </a:r>
            <a:r>
              <a:rPr sz="1800" spc="-35" dirty="0">
                <a:latin typeface="Goudy Old Style"/>
                <a:cs typeface="Goudy Old Style"/>
              </a:rPr>
              <a:t> </a:t>
            </a:r>
            <a:r>
              <a:rPr sz="1800" dirty="0">
                <a:latin typeface="Goudy Old Style"/>
                <a:cs typeface="Goudy Old Style"/>
              </a:rPr>
              <a:t>platform.</a:t>
            </a:r>
            <a:endParaRPr sz="1800">
              <a:latin typeface="Goudy Old Style"/>
              <a:cs typeface="Goudy Old Style"/>
            </a:endParaRPr>
          </a:p>
        </p:txBody>
      </p:sp>
      <p:sp>
        <p:nvSpPr>
          <p:cNvPr id="9" name="object 9"/>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3</a:t>
            </a:fld>
            <a:endParaRPr sz="1800" baseline="2314">
              <a:latin typeface="Times New Roman"/>
              <a:cs typeface="Times New Roman"/>
            </a:endParaRPr>
          </a:p>
        </p:txBody>
      </p:sp>
      <p:sp>
        <p:nvSpPr>
          <p:cNvPr id="11" name="object 1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52140" cy="635635"/>
          </a:xfrm>
          <a:prstGeom prst="rect">
            <a:avLst/>
          </a:prstGeom>
        </p:spPr>
        <p:txBody>
          <a:bodyPr vert="horz" wrap="square" lIns="0" tIns="12700" rIns="0" bIns="0" rtlCol="0">
            <a:spAutoFit/>
          </a:bodyPr>
          <a:lstStyle/>
          <a:p>
            <a:pPr marL="12700">
              <a:lnSpc>
                <a:spcPct val="100000"/>
              </a:lnSpc>
              <a:spcBef>
                <a:spcPts val="100"/>
              </a:spcBef>
            </a:pPr>
            <a:r>
              <a:rPr spc="130" dirty="0"/>
              <a:t>Azure </a:t>
            </a:r>
            <a:r>
              <a:rPr spc="195" dirty="0"/>
              <a:t>SQL</a:t>
            </a:r>
            <a:r>
              <a:rPr spc="-509" dirty="0"/>
              <a:t> </a:t>
            </a:r>
            <a:r>
              <a:rPr spc="-335" dirty="0"/>
              <a:t>1-3</a:t>
            </a:r>
          </a:p>
        </p:txBody>
      </p:sp>
      <p:grpSp>
        <p:nvGrpSpPr>
          <p:cNvPr id="3" name="object 3"/>
          <p:cNvGrpSpPr/>
          <p:nvPr/>
        </p:nvGrpSpPr>
        <p:grpSpPr>
          <a:xfrm>
            <a:off x="292481" y="1740280"/>
            <a:ext cx="5643880" cy="1091565"/>
            <a:chOff x="292481" y="1740280"/>
            <a:chExt cx="5643880" cy="1091565"/>
          </a:xfrm>
        </p:grpSpPr>
        <p:sp>
          <p:nvSpPr>
            <p:cNvPr id="4" name="object 4"/>
            <p:cNvSpPr/>
            <p:nvPr/>
          </p:nvSpPr>
          <p:spPr>
            <a:xfrm>
              <a:off x="305181" y="1752980"/>
              <a:ext cx="5618480" cy="1066165"/>
            </a:xfrm>
            <a:custGeom>
              <a:avLst/>
              <a:gdLst/>
              <a:ahLst/>
              <a:cxnLst/>
              <a:rect l="l" t="t" r="r" b="b"/>
              <a:pathLst>
                <a:path w="5618480" h="1066164">
                  <a:moveTo>
                    <a:pt x="5417439" y="0"/>
                  </a:moveTo>
                  <a:lnTo>
                    <a:pt x="200812" y="0"/>
                  </a:lnTo>
                  <a:lnTo>
                    <a:pt x="147427" y="6343"/>
                  </a:lnTo>
                  <a:lnTo>
                    <a:pt x="99456" y="24247"/>
                  </a:lnTo>
                  <a:lnTo>
                    <a:pt x="58815" y="52022"/>
                  </a:lnTo>
                  <a:lnTo>
                    <a:pt x="27416" y="87978"/>
                  </a:lnTo>
                  <a:lnTo>
                    <a:pt x="7172" y="130424"/>
                  </a:lnTo>
                  <a:lnTo>
                    <a:pt x="0" y="177673"/>
                  </a:lnTo>
                  <a:lnTo>
                    <a:pt x="0" y="888365"/>
                  </a:lnTo>
                  <a:lnTo>
                    <a:pt x="7172" y="935613"/>
                  </a:lnTo>
                  <a:lnTo>
                    <a:pt x="27416" y="978059"/>
                  </a:lnTo>
                  <a:lnTo>
                    <a:pt x="58815" y="1014015"/>
                  </a:lnTo>
                  <a:lnTo>
                    <a:pt x="99456" y="1041790"/>
                  </a:lnTo>
                  <a:lnTo>
                    <a:pt x="147427" y="1059694"/>
                  </a:lnTo>
                  <a:lnTo>
                    <a:pt x="200812" y="1066038"/>
                  </a:lnTo>
                  <a:lnTo>
                    <a:pt x="5417439" y="1066038"/>
                  </a:lnTo>
                  <a:lnTo>
                    <a:pt x="5470808" y="1059694"/>
                  </a:lnTo>
                  <a:lnTo>
                    <a:pt x="5518770" y="1041790"/>
                  </a:lnTo>
                  <a:lnTo>
                    <a:pt x="5559409" y="1014015"/>
                  </a:lnTo>
                  <a:lnTo>
                    <a:pt x="5590808" y="978059"/>
                  </a:lnTo>
                  <a:lnTo>
                    <a:pt x="5611052" y="935613"/>
                  </a:lnTo>
                  <a:lnTo>
                    <a:pt x="5618226" y="888365"/>
                  </a:lnTo>
                  <a:lnTo>
                    <a:pt x="5618226" y="177673"/>
                  </a:lnTo>
                  <a:lnTo>
                    <a:pt x="5611052" y="130424"/>
                  </a:lnTo>
                  <a:lnTo>
                    <a:pt x="5590808" y="87978"/>
                  </a:lnTo>
                  <a:lnTo>
                    <a:pt x="5559409" y="52022"/>
                  </a:lnTo>
                  <a:lnTo>
                    <a:pt x="5518770" y="24247"/>
                  </a:lnTo>
                  <a:lnTo>
                    <a:pt x="5470808" y="6343"/>
                  </a:lnTo>
                  <a:lnTo>
                    <a:pt x="5417439" y="0"/>
                  </a:lnTo>
                  <a:close/>
                </a:path>
              </a:pathLst>
            </a:custGeom>
            <a:solidFill>
              <a:srgbClr val="9BBA58"/>
            </a:solidFill>
          </p:spPr>
          <p:txBody>
            <a:bodyPr wrap="square" lIns="0" tIns="0" rIns="0" bIns="0" rtlCol="0"/>
            <a:lstStyle/>
            <a:p>
              <a:endParaRPr/>
            </a:p>
          </p:txBody>
        </p:sp>
        <p:sp>
          <p:nvSpPr>
            <p:cNvPr id="5" name="object 5"/>
            <p:cNvSpPr/>
            <p:nvPr/>
          </p:nvSpPr>
          <p:spPr>
            <a:xfrm>
              <a:off x="305181" y="1752980"/>
              <a:ext cx="5618480" cy="1066165"/>
            </a:xfrm>
            <a:custGeom>
              <a:avLst/>
              <a:gdLst/>
              <a:ahLst/>
              <a:cxnLst/>
              <a:rect l="l" t="t" r="r" b="b"/>
              <a:pathLst>
                <a:path w="5618480" h="1066164">
                  <a:moveTo>
                    <a:pt x="0" y="177673"/>
                  </a:moveTo>
                  <a:lnTo>
                    <a:pt x="7172" y="130424"/>
                  </a:lnTo>
                  <a:lnTo>
                    <a:pt x="27416" y="87978"/>
                  </a:lnTo>
                  <a:lnTo>
                    <a:pt x="58815" y="52022"/>
                  </a:lnTo>
                  <a:lnTo>
                    <a:pt x="99456" y="24247"/>
                  </a:lnTo>
                  <a:lnTo>
                    <a:pt x="147427" y="6343"/>
                  </a:lnTo>
                  <a:lnTo>
                    <a:pt x="200812" y="0"/>
                  </a:lnTo>
                  <a:lnTo>
                    <a:pt x="5417439" y="0"/>
                  </a:lnTo>
                  <a:lnTo>
                    <a:pt x="5470808" y="6343"/>
                  </a:lnTo>
                  <a:lnTo>
                    <a:pt x="5518770" y="24247"/>
                  </a:lnTo>
                  <a:lnTo>
                    <a:pt x="5559409" y="52022"/>
                  </a:lnTo>
                  <a:lnTo>
                    <a:pt x="5590808" y="87978"/>
                  </a:lnTo>
                  <a:lnTo>
                    <a:pt x="5611052" y="130424"/>
                  </a:lnTo>
                  <a:lnTo>
                    <a:pt x="5618226" y="177673"/>
                  </a:lnTo>
                  <a:lnTo>
                    <a:pt x="5618226" y="888365"/>
                  </a:lnTo>
                  <a:lnTo>
                    <a:pt x="5611052" y="935613"/>
                  </a:lnTo>
                  <a:lnTo>
                    <a:pt x="5590808" y="978059"/>
                  </a:lnTo>
                  <a:lnTo>
                    <a:pt x="5559409" y="1014015"/>
                  </a:lnTo>
                  <a:lnTo>
                    <a:pt x="5518770" y="1041790"/>
                  </a:lnTo>
                  <a:lnTo>
                    <a:pt x="5470808" y="1059694"/>
                  </a:lnTo>
                  <a:lnTo>
                    <a:pt x="5417439" y="1066038"/>
                  </a:lnTo>
                  <a:lnTo>
                    <a:pt x="200812" y="1066038"/>
                  </a:lnTo>
                  <a:lnTo>
                    <a:pt x="147427" y="1059694"/>
                  </a:lnTo>
                  <a:lnTo>
                    <a:pt x="99456" y="1041790"/>
                  </a:lnTo>
                  <a:lnTo>
                    <a:pt x="58815" y="1014015"/>
                  </a:lnTo>
                  <a:lnTo>
                    <a:pt x="27416" y="978059"/>
                  </a:lnTo>
                  <a:lnTo>
                    <a:pt x="7172" y="935613"/>
                  </a:lnTo>
                  <a:lnTo>
                    <a:pt x="0" y="888365"/>
                  </a:lnTo>
                  <a:lnTo>
                    <a:pt x="0" y="177673"/>
                  </a:lnTo>
                  <a:close/>
                </a:path>
              </a:pathLst>
            </a:custGeom>
            <a:ln w="25145">
              <a:solidFill>
                <a:srgbClr val="FFFFFF"/>
              </a:solidFill>
            </a:ln>
          </p:spPr>
          <p:txBody>
            <a:bodyPr wrap="square" lIns="0" tIns="0" rIns="0" bIns="0" rtlCol="0"/>
            <a:lstStyle/>
            <a:p>
              <a:endParaRPr/>
            </a:p>
          </p:txBody>
        </p:sp>
      </p:grpSp>
      <p:sp>
        <p:nvSpPr>
          <p:cNvPr id="6" name="object 6"/>
          <p:cNvSpPr txBox="1"/>
          <p:nvPr/>
        </p:nvSpPr>
        <p:spPr>
          <a:xfrm>
            <a:off x="498094" y="1954530"/>
            <a:ext cx="4411980" cy="605790"/>
          </a:xfrm>
          <a:prstGeom prst="rect">
            <a:avLst/>
          </a:prstGeom>
        </p:spPr>
        <p:txBody>
          <a:bodyPr vert="horz" wrap="square" lIns="0" tIns="45720" rIns="0" bIns="0" rtlCol="0">
            <a:spAutoFit/>
          </a:bodyPr>
          <a:lstStyle/>
          <a:p>
            <a:pPr marL="12700" marR="5080">
              <a:lnSpc>
                <a:spcPts val="2170"/>
              </a:lnSpc>
              <a:spcBef>
                <a:spcPts val="360"/>
              </a:spcBef>
            </a:pPr>
            <a:r>
              <a:rPr sz="2000" spc="-5" dirty="0">
                <a:solidFill>
                  <a:srgbClr val="FFFFFF"/>
                </a:solidFill>
                <a:latin typeface="Goudy Old Style"/>
                <a:cs typeface="Goudy Old Style"/>
              </a:rPr>
              <a:t>Cloud based relational database </a:t>
            </a:r>
            <a:r>
              <a:rPr sz="2000" spc="10" dirty="0">
                <a:solidFill>
                  <a:srgbClr val="FFFFFF"/>
                </a:solidFill>
                <a:latin typeface="Goudy Old Style"/>
                <a:cs typeface="Goudy Old Style"/>
              </a:rPr>
              <a:t>service </a:t>
            </a:r>
            <a:r>
              <a:rPr sz="2000" spc="-10" dirty="0">
                <a:solidFill>
                  <a:srgbClr val="FFFFFF"/>
                </a:solidFill>
                <a:latin typeface="Goudy Old Style"/>
                <a:cs typeface="Goudy Old Style"/>
              </a:rPr>
              <a:t>that  </a:t>
            </a:r>
            <a:r>
              <a:rPr sz="2000" spc="-5" dirty="0">
                <a:solidFill>
                  <a:srgbClr val="FFFFFF"/>
                </a:solidFill>
                <a:latin typeface="Goudy Old Style"/>
                <a:cs typeface="Goudy Old Style"/>
              </a:rPr>
              <a:t>leverages </a:t>
            </a:r>
            <a:r>
              <a:rPr sz="2000" spc="-10" dirty="0">
                <a:solidFill>
                  <a:srgbClr val="FFFFFF"/>
                </a:solidFill>
                <a:latin typeface="Goudy Old Style"/>
                <a:cs typeface="Goudy Old Style"/>
              </a:rPr>
              <a:t>existing </a:t>
            </a:r>
            <a:r>
              <a:rPr sz="2000" spc="-5" dirty="0">
                <a:solidFill>
                  <a:srgbClr val="FFFFFF"/>
                </a:solidFill>
                <a:latin typeface="Goudy Old Style"/>
                <a:cs typeface="Goudy Old Style"/>
              </a:rPr>
              <a:t>SQL </a:t>
            </a:r>
            <a:r>
              <a:rPr sz="2000" spc="5" dirty="0">
                <a:solidFill>
                  <a:srgbClr val="FFFFFF"/>
                </a:solidFill>
                <a:latin typeface="Goudy Old Style"/>
                <a:cs typeface="Goudy Old Style"/>
              </a:rPr>
              <a:t>Server</a:t>
            </a:r>
            <a:r>
              <a:rPr sz="2000" spc="-40" dirty="0">
                <a:solidFill>
                  <a:srgbClr val="FFFFFF"/>
                </a:solidFill>
                <a:latin typeface="Goudy Old Style"/>
                <a:cs typeface="Goudy Old Style"/>
              </a:rPr>
              <a:t> </a:t>
            </a:r>
            <a:r>
              <a:rPr sz="2000" spc="-5" dirty="0">
                <a:solidFill>
                  <a:srgbClr val="FFFFFF"/>
                </a:solidFill>
                <a:latin typeface="Goudy Old Style"/>
                <a:cs typeface="Goudy Old Style"/>
              </a:rPr>
              <a:t>technologies</a:t>
            </a:r>
            <a:endParaRPr sz="2000">
              <a:latin typeface="Goudy Old Style"/>
              <a:cs typeface="Goudy Old Style"/>
            </a:endParaRPr>
          </a:p>
        </p:txBody>
      </p:sp>
      <p:grpSp>
        <p:nvGrpSpPr>
          <p:cNvPr id="7" name="object 7"/>
          <p:cNvGrpSpPr/>
          <p:nvPr/>
        </p:nvGrpSpPr>
        <p:grpSpPr>
          <a:xfrm>
            <a:off x="292481" y="3378580"/>
            <a:ext cx="5643880" cy="1092200"/>
            <a:chOff x="292481" y="3378580"/>
            <a:chExt cx="5643880" cy="1092200"/>
          </a:xfrm>
        </p:grpSpPr>
        <p:sp>
          <p:nvSpPr>
            <p:cNvPr id="8" name="object 8"/>
            <p:cNvSpPr/>
            <p:nvPr/>
          </p:nvSpPr>
          <p:spPr>
            <a:xfrm>
              <a:off x="305181" y="3391280"/>
              <a:ext cx="5618480" cy="1066800"/>
            </a:xfrm>
            <a:custGeom>
              <a:avLst/>
              <a:gdLst/>
              <a:ahLst/>
              <a:cxnLst/>
              <a:rect l="l" t="t" r="r" b="b"/>
              <a:pathLst>
                <a:path w="5618480" h="1066800">
                  <a:moveTo>
                    <a:pt x="5417439" y="0"/>
                  </a:moveTo>
                  <a:lnTo>
                    <a:pt x="200812" y="0"/>
                  </a:lnTo>
                  <a:lnTo>
                    <a:pt x="147427" y="6352"/>
                  </a:lnTo>
                  <a:lnTo>
                    <a:pt x="99456" y="24280"/>
                  </a:lnTo>
                  <a:lnTo>
                    <a:pt x="58815" y="52085"/>
                  </a:lnTo>
                  <a:lnTo>
                    <a:pt x="27416" y="88072"/>
                  </a:lnTo>
                  <a:lnTo>
                    <a:pt x="7172" y="130542"/>
                  </a:lnTo>
                  <a:lnTo>
                    <a:pt x="0" y="177800"/>
                  </a:lnTo>
                  <a:lnTo>
                    <a:pt x="0" y="889000"/>
                  </a:lnTo>
                  <a:lnTo>
                    <a:pt x="7172" y="936257"/>
                  </a:lnTo>
                  <a:lnTo>
                    <a:pt x="27416" y="978727"/>
                  </a:lnTo>
                  <a:lnTo>
                    <a:pt x="58815" y="1014714"/>
                  </a:lnTo>
                  <a:lnTo>
                    <a:pt x="99456" y="1042519"/>
                  </a:lnTo>
                  <a:lnTo>
                    <a:pt x="147427" y="1060447"/>
                  </a:lnTo>
                  <a:lnTo>
                    <a:pt x="200812" y="1066800"/>
                  </a:lnTo>
                  <a:lnTo>
                    <a:pt x="5417439" y="1066800"/>
                  </a:lnTo>
                  <a:lnTo>
                    <a:pt x="5470808" y="1060447"/>
                  </a:lnTo>
                  <a:lnTo>
                    <a:pt x="5518770" y="1042519"/>
                  </a:lnTo>
                  <a:lnTo>
                    <a:pt x="5559409" y="1014714"/>
                  </a:lnTo>
                  <a:lnTo>
                    <a:pt x="5590808" y="978727"/>
                  </a:lnTo>
                  <a:lnTo>
                    <a:pt x="5611052" y="936257"/>
                  </a:lnTo>
                  <a:lnTo>
                    <a:pt x="5618226" y="889000"/>
                  </a:lnTo>
                  <a:lnTo>
                    <a:pt x="5618226" y="177800"/>
                  </a:lnTo>
                  <a:lnTo>
                    <a:pt x="5611052" y="130542"/>
                  </a:lnTo>
                  <a:lnTo>
                    <a:pt x="5590808" y="88072"/>
                  </a:lnTo>
                  <a:lnTo>
                    <a:pt x="5559409" y="52085"/>
                  </a:lnTo>
                  <a:lnTo>
                    <a:pt x="5518770" y="24280"/>
                  </a:lnTo>
                  <a:lnTo>
                    <a:pt x="5470808" y="6352"/>
                  </a:lnTo>
                  <a:lnTo>
                    <a:pt x="5417439" y="0"/>
                  </a:lnTo>
                  <a:close/>
                </a:path>
              </a:pathLst>
            </a:custGeom>
            <a:solidFill>
              <a:srgbClr val="5EAEA6"/>
            </a:solidFill>
          </p:spPr>
          <p:txBody>
            <a:bodyPr wrap="square" lIns="0" tIns="0" rIns="0" bIns="0" rtlCol="0"/>
            <a:lstStyle/>
            <a:p>
              <a:endParaRPr/>
            </a:p>
          </p:txBody>
        </p:sp>
        <p:sp>
          <p:nvSpPr>
            <p:cNvPr id="9" name="object 9"/>
            <p:cNvSpPr/>
            <p:nvPr/>
          </p:nvSpPr>
          <p:spPr>
            <a:xfrm>
              <a:off x="305181" y="3391280"/>
              <a:ext cx="5618480" cy="1066800"/>
            </a:xfrm>
            <a:custGeom>
              <a:avLst/>
              <a:gdLst/>
              <a:ahLst/>
              <a:cxnLst/>
              <a:rect l="l" t="t" r="r" b="b"/>
              <a:pathLst>
                <a:path w="5618480" h="1066800">
                  <a:moveTo>
                    <a:pt x="0" y="177800"/>
                  </a:moveTo>
                  <a:lnTo>
                    <a:pt x="7172" y="130542"/>
                  </a:lnTo>
                  <a:lnTo>
                    <a:pt x="27416" y="88072"/>
                  </a:lnTo>
                  <a:lnTo>
                    <a:pt x="58815" y="52085"/>
                  </a:lnTo>
                  <a:lnTo>
                    <a:pt x="99456" y="24280"/>
                  </a:lnTo>
                  <a:lnTo>
                    <a:pt x="147427" y="6352"/>
                  </a:lnTo>
                  <a:lnTo>
                    <a:pt x="200812" y="0"/>
                  </a:lnTo>
                  <a:lnTo>
                    <a:pt x="5417439" y="0"/>
                  </a:lnTo>
                  <a:lnTo>
                    <a:pt x="5470808" y="6352"/>
                  </a:lnTo>
                  <a:lnTo>
                    <a:pt x="5518770" y="24280"/>
                  </a:lnTo>
                  <a:lnTo>
                    <a:pt x="5559409" y="52085"/>
                  </a:lnTo>
                  <a:lnTo>
                    <a:pt x="5590808" y="88072"/>
                  </a:lnTo>
                  <a:lnTo>
                    <a:pt x="5611052" y="130542"/>
                  </a:lnTo>
                  <a:lnTo>
                    <a:pt x="5618226" y="177800"/>
                  </a:lnTo>
                  <a:lnTo>
                    <a:pt x="5618226" y="889000"/>
                  </a:lnTo>
                  <a:lnTo>
                    <a:pt x="5611052" y="936257"/>
                  </a:lnTo>
                  <a:lnTo>
                    <a:pt x="5590808" y="978727"/>
                  </a:lnTo>
                  <a:lnTo>
                    <a:pt x="5559409" y="1014714"/>
                  </a:lnTo>
                  <a:lnTo>
                    <a:pt x="5518770" y="1042519"/>
                  </a:lnTo>
                  <a:lnTo>
                    <a:pt x="5470808" y="1060447"/>
                  </a:lnTo>
                  <a:lnTo>
                    <a:pt x="5417439" y="1066800"/>
                  </a:lnTo>
                  <a:lnTo>
                    <a:pt x="200812" y="1066800"/>
                  </a:lnTo>
                  <a:lnTo>
                    <a:pt x="147427" y="1060447"/>
                  </a:lnTo>
                  <a:lnTo>
                    <a:pt x="99456" y="1042519"/>
                  </a:lnTo>
                  <a:lnTo>
                    <a:pt x="58815" y="1014714"/>
                  </a:lnTo>
                  <a:lnTo>
                    <a:pt x="27416" y="978727"/>
                  </a:lnTo>
                  <a:lnTo>
                    <a:pt x="7172" y="936257"/>
                  </a:lnTo>
                  <a:lnTo>
                    <a:pt x="0" y="889000"/>
                  </a:lnTo>
                  <a:lnTo>
                    <a:pt x="0" y="177800"/>
                  </a:lnTo>
                  <a:close/>
                </a:path>
              </a:pathLst>
            </a:custGeom>
            <a:ln w="25146">
              <a:solidFill>
                <a:srgbClr val="FFFFFF"/>
              </a:solidFill>
            </a:ln>
          </p:spPr>
          <p:txBody>
            <a:bodyPr wrap="square" lIns="0" tIns="0" rIns="0" bIns="0" rtlCol="0"/>
            <a:lstStyle/>
            <a:p>
              <a:endParaRPr/>
            </a:p>
          </p:txBody>
        </p:sp>
      </p:grpSp>
      <p:sp>
        <p:nvSpPr>
          <p:cNvPr id="10" name="object 10"/>
          <p:cNvSpPr txBox="1"/>
          <p:nvPr/>
        </p:nvSpPr>
        <p:spPr>
          <a:xfrm>
            <a:off x="498094" y="3456177"/>
            <a:ext cx="5019675" cy="878840"/>
          </a:xfrm>
          <a:prstGeom prst="rect">
            <a:avLst/>
          </a:prstGeom>
        </p:spPr>
        <p:txBody>
          <a:bodyPr vert="horz" wrap="square" lIns="0" tIns="46990" rIns="0" bIns="0" rtlCol="0">
            <a:spAutoFit/>
          </a:bodyPr>
          <a:lstStyle/>
          <a:p>
            <a:pPr marL="12700" marR="5080">
              <a:lnSpc>
                <a:spcPts val="2160"/>
              </a:lnSpc>
              <a:spcBef>
                <a:spcPts val="370"/>
              </a:spcBef>
            </a:pPr>
            <a:r>
              <a:rPr sz="2000" spc="-10" dirty="0">
                <a:solidFill>
                  <a:srgbClr val="FFFFFF"/>
                </a:solidFill>
                <a:latin typeface="Goudy Old Style"/>
                <a:cs typeface="Goudy Old Style"/>
              </a:rPr>
              <a:t>Extends functionality </a:t>
            </a:r>
            <a:r>
              <a:rPr sz="2000" spc="-5" dirty="0">
                <a:solidFill>
                  <a:srgbClr val="FFFFFF"/>
                </a:solidFill>
                <a:latin typeface="Goudy Old Style"/>
                <a:cs typeface="Goudy Old Style"/>
              </a:rPr>
              <a:t>of Microsoft SQL </a:t>
            </a:r>
            <a:r>
              <a:rPr sz="2000" spc="5" dirty="0">
                <a:solidFill>
                  <a:srgbClr val="FFFFFF"/>
                </a:solidFill>
                <a:latin typeface="Goudy Old Style"/>
                <a:cs typeface="Goudy Old Style"/>
              </a:rPr>
              <a:t>Server </a:t>
            </a:r>
            <a:r>
              <a:rPr sz="2000" spc="-20" dirty="0">
                <a:solidFill>
                  <a:srgbClr val="FFFFFF"/>
                </a:solidFill>
                <a:latin typeface="Goudy Old Style"/>
                <a:cs typeface="Goudy Old Style"/>
              </a:rPr>
              <a:t>for  </a:t>
            </a:r>
            <a:r>
              <a:rPr sz="2000" spc="-10" dirty="0">
                <a:solidFill>
                  <a:srgbClr val="FFFFFF"/>
                </a:solidFill>
                <a:latin typeface="Goudy Old Style"/>
                <a:cs typeface="Goudy Old Style"/>
              </a:rPr>
              <a:t>developing </a:t>
            </a:r>
            <a:r>
              <a:rPr sz="2000" spc="-5" dirty="0">
                <a:solidFill>
                  <a:srgbClr val="FFFFFF"/>
                </a:solidFill>
                <a:latin typeface="Goudy Old Style"/>
                <a:cs typeface="Goudy Old Style"/>
              </a:rPr>
              <a:t>applications that </a:t>
            </a:r>
            <a:r>
              <a:rPr sz="2000" spc="-15" dirty="0">
                <a:solidFill>
                  <a:srgbClr val="FFFFFF"/>
                </a:solidFill>
                <a:latin typeface="Goudy Old Style"/>
                <a:cs typeface="Goudy Old Style"/>
              </a:rPr>
              <a:t>are Web-based,  </a:t>
            </a:r>
            <a:r>
              <a:rPr sz="2000" spc="-5" dirty="0">
                <a:solidFill>
                  <a:srgbClr val="FFFFFF"/>
                </a:solidFill>
                <a:latin typeface="Goudy Old Style"/>
                <a:cs typeface="Goudy Old Style"/>
              </a:rPr>
              <a:t>scalable, and</a:t>
            </a:r>
            <a:r>
              <a:rPr sz="2000" spc="5" dirty="0">
                <a:solidFill>
                  <a:srgbClr val="FFFFFF"/>
                </a:solidFill>
                <a:latin typeface="Goudy Old Style"/>
                <a:cs typeface="Goudy Old Style"/>
              </a:rPr>
              <a:t> </a:t>
            </a:r>
            <a:r>
              <a:rPr sz="2000" spc="-10" dirty="0">
                <a:solidFill>
                  <a:srgbClr val="FFFFFF"/>
                </a:solidFill>
                <a:latin typeface="Goudy Old Style"/>
                <a:cs typeface="Goudy Old Style"/>
              </a:rPr>
              <a:t>distributed</a:t>
            </a:r>
            <a:endParaRPr sz="2000">
              <a:latin typeface="Goudy Old Style"/>
              <a:cs typeface="Goudy Old Style"/>
            </a:endParaRPr>
          </a:p>
        </p:txBody>
      </p:sp>
      <p:grpSp>
        <p:nvGrpSpPr>
          <p:cNvPr id="11" name="object 11"/>
          <p:cNvGrpSpPr/>
          <p:nvPr/>
        </p:nvGrpSpPr>
        <p:grpSpPr>
          <a:xfrm>
            <a:off x="292481" y="5017642"/>
            <a:ext cx="5643880" cy="1091565"/>
            <a:chOff x="292481" y="5017642"/>
            <a:chExt cx="5643880" cy="1091565"/>
          </a:xfrm>
        </p:grpSpPr>
        <p:sp>
          <p:nvSpPr>
            <p:cNvPr id="12" name="object 12"/>
            <p:cNvSpPr/>
            <p:nvPr/>
          </p:nvSpPr>
          <p:spPr>
            <a:xfrm>
              <a:off x="305181" y="5030342"/>
              <a:ext cx="5618480" cy="1066165"/>
            </a:xfrm>
            <a:custGeom>
              <a:avLst/>
              <a:gdLst/>
              <a:ahLst/>
              <a:cxnLst/>
              <a:rect l="l" t="t" r="r" b="b"/>
              <a:pathLst>
                <a:path w="5618480" h="1066164">
                  <a:moveTo>
                    <a:pt x="5417439" y="0"/>
                  </a:moveTo>
                  <a:lnTo>
                    <a:pt x="200812" y="0"/>
                  </a:lnTo>
                  <a:lnTo>
                    <a:pt x="147427" y="6343"/>
                  </a:lnTo>
                  <a:lnTo>
                    <a:pt x="99456" y="24247"/>
                  </a:lnTo>
                  <a:lnTo>
                    <a:pt x="58815" y="52022"/>
                  </a:lnTo>
                  <a:lnTo>
                    <a:pt x="27416" y="87978"/>
                  </a:lnTo>
                  <a:lnTo>
                    <a:pt x="7172" y="130424"/>
                  </a:lnTo>
                  <a:lnTo>
                    <a:pt x="0" y="177672"/>
                  </a:lnTo>
                  <a:lnTo>
                    <a:pt x="0" y="888364"/>
                  </a:lnTo>
                  <a:lnTo>
                    <a:pt x="7172" y="935595"/>
                  </a:lnTo>
                  <a:lnTo>
                    <a:pt x="27416" y="978037"/>
                  </a:lnTo>
                  <a:lnTo>
                    <a:pt x="58815" y="1013996"/>
                  </a:lnTo>
                  <a:lnTo>
                    <a:pt x="99456" y="1041779"/>
                  </a:lnTo>
                  <a:lnTo>
                    <a:pt x="147427" y="1059690"/>
                  </a:lnTo>
                  <a:lnTo>
                    <a:pt x="200812" y="1066037"/>
                  </a:lnTo>
                  <a:lnTo>
                    <a:pt x="5417439" y="1066037"/>
                  </a:lnTo>
                  <a:lnTo>
                    <a:pt x="5470808" y="1059690"/>
                  </a:lnTo>
                  <a:lnTo>
                    <a:pt x="5518770" y="1041779"/>
                  </a:lnTo>
                  <a:lnTo>
                    <a:pt x="5559409" y="1013996"/>
                  </a:lnTo>
                  <a:lnTo>
                    <a:pt x="5590808" y="978037"/>
                  </a:lnTo>
                  <a:lnTo>
                    <a:pt x="5611052" y="935595"/>
                  </a:lnTo>
                  <a:lnTo>
                    <a:pt x="5618226" y="888364"/>
                  </a:lnTo>
                  <a:lnTo>
                    <a:pt x="5618226" y="177672"/>
                  </a:lnTo>
                  <a:lnTo>
                    <a:pt x="5611052" y="130424"/>
                  </a:lnTo>
                  <a:lnTo>
                    <a:pt x="5590808" y="87978"/>
                  </a:lnTo>
                  <a:lnTo>
                    <a:pt x="5559409" y="52022"/>
                  </a:lnTo>
                  <a:lnTo>
                    <a:pt x="5518770" y="24247"/>
                  </a:lnTo>
                  <a:lnTo>
                    <a:pt x="5470808" y="6343"/>
                  </a:lnTo>
                  <a:lnTo>
                    <a:pt x="5417439" y="0"/>
                  </a:lnTo>
                  <a:close/>
                </a:path>
              </a:pathLst>
            </a:custGeom>
            <a:solidFill>
              <a:srgbClr val="8063A1"/>
            </a:solidFill>
          </p:spPr>
          <p:txBody>
            <a:bodyPr wrap="square" lIns="0" tIns="0" rIns="0" bIns="0" rtlCol="0"/>
            <a:lstStyle/>
            <a:p>
              <a:endParaRPr/>
            </a:p>
          </p:txBody>
        </p:sp>
        <p:sp>
          <p:nvSpPr>
            <p:cNvPr id="13" name="object 13"/>
            <p:cNvSpPr/>
            <p:nvPr/>
          </p:nvSpPr>
          <p:spPr>
            <a:xfrm>
              <a:off x="305181" y="5030342"/>
              <a:ext cx="5618480" cy="1066165"/>
            </a:xfrm>
            <a:custGeom>
              <a:avLst/>
              <a:gdLst/>
              <a:ahLst/>
              <a:cxnLst/>
              <a:rect l="l" t="t" r="r" b="b"/>
              <a:pathLst>
                <a:path w="5618480" h="1066164">
                  <a:moveTo>
                    <a:pt x="0" y="177672"/>
                  </a:moveTo>
                  <a:lnTo>
                    <a:pt x="7172" y="130424"/>
                  </a:lnTo>
                  <a:lnTo>
                    <a:pt x="27416" y="87978"/>
                  </a:lnTo>
                  <a:lnTo>
                    <a:pt x="58815" y="52022"/>
                  </a:lnTo>
                  <a:lnTo>
                    <a:pt x="99456" y="24247"/>
                  </a:lnTo>
                  <a:lnTo>
                    <a:pt x="147427" y="6343"/>
                  </a:lnTo>
                  <a:lnTo>
                    <a:pt x="200812" y="0"/>
                  </a:lnTo>
                  <a:lnTo>
                    <a:pt x="5417439" y="0"/>
                  </a:lnTo>
                  <a:lnTo>
                    <a:pt x="5470808" y="6343"/>
                  </a:lnTo>
                  <a:lnTo>
                    <a:pt x="5518770" y="24247"/>
                  </a:lnTo>
                  <a:lnTo>
                    <a:pt x="5559409" y="52022"/>
                  </a:lnTo>
                  <a:lnTo>
                    <a:pt x="5590808" y="87978"/>
                  </a:lnTo>
                  <a:lnTo>
                    <a:pt x="5611052" y="130424"/>
                  </a:lnTo>
                  <a:lnTo>
                    <a:pt x="5618226" y="177672"/>
                  </a:lnTo>
                  <a:lnTo>
                    <a:pt x="5618226" y="888364"/>
                  </a:lnTo>
                  <a:lnTo>
                    <a:pt x="5611052" y="935595"/>
                  </a:lnTo>
                  <a:lnTo>
                    <a:pt x="5590808" y="978037"/>
                  </a:lnTo>
                  <a:lnTo>
                    <a:pt x="5559409" y="1013996"/>
                  </a:lnTo>
                  <a:lnTo>
                    <a:pt x="5518770" y="1041779"/>
                  </a:lnTo>
                  <a:lnTo>
                    <a:pt x="5470808" y="1059690"/>
                  </a:lnTo>
                  <a:lnTo>
                    <a:pt x="5417439" y="1066037"/>
                  </a:lnTo>
                  <a:lnTo>
                    <a:pt x="200812" y="1066037"/>
                  </a:lnTo>
                  <a:lnTo>
                    <a:pt x="147427" y="1059690"/>
                  </a:lnTo>
                  <a:lnTo>
                    <a:pt x="99456" y="1041779"/>
                  </a:lnTo>
                  <a:lnTo>
                    <a:pt x="58815" y="1013996"/>
                  </a:lnTo>
                  <a:lnTo>
                    <a:pt x="27416" y="978037"/>
                  </a:lnTo>
                  <a:lnTo>
                    <a:pt x="7172" y="935595"/>
                  </a:lnTo>
                  <a:lnTo>
                    <a:pt x="0" y="888364"/>
                  </a:lnTo>
                  <a:lnTo>
                    <a:pt x="0" y="177672"/>
                  </a:lnTo>
                  <a:close/>
                </a:path>
              </a:pathLst>
            </a:custGeom>
            <a:ln w="25145">
              <a:solidFill>
                <a:srgbClr val="FFFFFF"/>
              </a:solidFill>
            </a:ln>
          </p:spPr>
          <p:txBody>
            <a:bodyPr wrap="square" lIns="0" tIns="0" rIns="0" bIns="0" rtlCol="0"/>
            <a:lstStyle/>
            <a:p>
              <a:endParaRPr/>
            </a:p>
          </p:txBody>
        </p:sp>
      </p:grpSp>
      <p:sp>
        <p:nvSpPr>
          <p:cNvPr id="14" name="object 14"/>
          <p:cNvSpPr txBox="1"/>
          <p:nvPr/>
        </p:nvSpPr>
        <p:spPr>
          <a:xfrm>
            <a:off x="498094" y="5094985"/>
            <a:ext cx="5124450" cy="878840"/>
          </a:xfrm>
          <a:prstGeom prst="rect">
            <a:avLst/>
          </a:prstGeom>
        </p:spPr>
        <p:txBody>
          <a:bodyPr vert="horz" wrap="square" lIns="0" tIns="46990" rIns="0" bIns="0" rtlCol="0">
            <a:spAutoFit/>
          </a:bodyPr>
          <a:lstStyle/>
          <a:p>
            <a:pPr marL="12700" marR="5080" algn="just">
              <a:lnSpc>
                <a:spcPts val="2160"/>
              </a:lnSpc>
              <a:spcBef>
                <a:spcPts val="370"/>
              </a:spcBef>
            </a:pPr>
            <a:r>
              <a:rPr sz="2000" spc="-5" dirty="0">
                <a:solidFill>
                  <a:srgbClr val="FFFFFF"/>
                </a:solidFill>
                <a:latin typeface="Goudy Old Style"/>
                <a:cs typeface="Goudy Old Style"/>
              </a:rPr>
              <a:t>Is </a:t>
            </a:r>
            <a:r>
              <a:rPr sz="2000" spc="-10" dirty="0">
                <a:solidFill>
                  <a:srgbClr val="FFFFFF"/>
                </a:solidFill>
                <a:latin typeface="Goudy Old Style"/>
                <a:cs typeface="Goudy Old Style"/>
              </a:rPr>
              <a:t>not just </a:t>
            </a:r>
            <a:r>
              <a:rPr sz="2000" spc="-5" dirty="0">
                <a:solidFill>
                  <a:srgbClr val="FFFFFF"/>
                </a:solidFill>
                <a:latin typeface="Goudy Old Style"/>
                <a:cs typeface="Goudy Old Style"/>
              </a:rPr>
              <a:t>a </a:t>
            </a:r>
            <a:r>
              <a:rPr sz="2000" dirty="0">
                <a:solidFill>
                  <a:srgbClr val="FFFFFF"/>
                </a:solidFill>
                <a:latin typeface="Goudy Old Style"/>
                <a:cs typeface="Goudy Old Style"/>
              </a:rPr>
              <a:t>single </a:t>
            </a:r>
            <a:r>
              <a:rPr sz="2000" spc="-10" dirty="0">
                <a:solidFill>
                  <a:srgbClr val="FFFFFF"/>
                </a:solidFill>
                <a:latin typeface="Goudy Old Style"/>
                <a:cs typeface="Goudy Old Style"/>
              </a:rPr>
              <a:t>product </a:t>
            </a:r>
            <a:r>
              <a:rPr sz="2000" spc="-5" dirty="0">
                <a:solidFill>
                  <a:srgbClr val="FFFFFF"/>
                </a:solidFill>
                <a:latin typeface="Goudy Old Style"/>
                <a:cs typeface="Goudy Old Style"/>
              </a:rPr>
              <a:t>but </a:t>
            </a:r>
            <a:r>
              <a:rPr sz="2000" spc="-15" dirty="0">
                <a:solidFill>
                  <a:srgbClr val="FFFFFF"/>
                </a:solidFill>
                <a:latin typeface="Goudy Old Style"/>
                <a:cs typeface="Goudy Old Style"/>
              </a:rPr>
              <a:t>refers to </a:t>
            </a:r>
            <a:r>
              <a:rPr sz="2000" spc="-5" dirty="0">
                <a:solidFill>
                  <a:srgbClr val="FFFFFF"/>
                </a:solidFill>
                <a:latin typeface="Goudy Old Style"/>
                <a:cs typeface="Goudy Old Style"/>
              </a:rPr>
              <a:t>a </a:t>
            </a:r>
            <a:r>
              <a:rPr sz="2000" spc="-10" dirty="0">
                <a:solidFill>
                  <a:srgbClr val="FFFFFF"/>
                </a:solidFill>
                <a:latin typeface="Goudy Old Style"/>
                <a:cs typeface="Goudy Old Style"/>
              </a:rPr>
              <a:t>family of  </a:t>
            </a:r>
            <a:r>
              <a:rPr sz="2000" spc="-5" dirty="0">
                <a:solidFill>
                  <a:srgbClr val="FFFFFF"/>
                </a:solidFill>
                <a:latin typeface="Goudy Old Style"/>
                <a:cs typeface="Goudy Old Style"/>
              </a:rPr>
              <a:t>managed, intelligent, and </a:t>
            </a:r>
            <a:r>
              <a:rPr sz="2000" spc="-10" dirty="0">
                <a:solidFill>
                  <a:srgbClr val="FFFFFF"/>
                </a:solidFill>
                <a:latin typeface="Goudy Old Style"/>
                <a:cs typeface="Goudy Old Style"/>
              </a:rPr>
              <a:t>secure products </a:t>
            </a:r>
            <a:r>
              <a:rPr sz="2000" spc="-5" dirty="0">
                <a:solidFill>
                  <a:srgbClr val="FFFFFF"/>
                </a:solidFill>
                <a:latin typeface="Goudy Old Style"/>
                <a:cs typeface="Goudy Old Style"/>
              </a:rPr>
              <a:t>that </a:t>
            </a:r>
            <a:r>
              <a:rPr sz="2000" spc="-10" dirty="0">
                <a:solidFill>
                  <a:srgbClr val="FFFFFF"/>
                </a:solidFill>
                <a:latin typeface="Goudy Old Style"/>
                <a:cs typeface="Goudy Old Style"/>
              </a:rPr>
              <a:t>use  </a:t>
            </a:r>
            <a:r>
              <a:rPr sz="2000" spc="-5" dirty="0">
                <a:solidFill>
                  <a:srgbClr val="FFFFFF"/>
                </a:solidFill>
                <a:latin typeface="Goudy Old Style"/>
                <a:cs typeface="Goudy Old Style"/>
              </a:rPr>
              <a:t>the SQL </a:t>
            </a:r>
            <a:r>
              <a:rPr sz="2000" spc="5" dirty="0">
                <a:solidFill>
                  <a:srgbClr val="FFFFFF"/>
                </a:solidFill>
                <a:latin typeface="Goudy Old Style"/>
                <a:cs typeface="Goudy Old Style"/>
              </a:rPr>
              <a:t>Server </a:t>
            </a:r>
            <a:r>
              <a:rPr sz="2000" spc="-5" dirty="0">
                <a:solidFill>
                  <a:srgbClr val="FFFFFF"/>
                </a:solidFill>
                <a:latin typeface="Goudy Old Style"/>
                <a:cs typeface="Goudy Old Style"/>
              </a:rPr>
              <a:t>database engine in the </a:t>
            </a:r>
            <a:r>
              <a:rPr sz="2000" spc="-10" dirty="0">
                <a:solidFill>
                  <a:srgbClr val="FFFFFF"/>
                </a:solidFill>
                <a:latin typeface="Goudy Old Style"/>
                <a:cs typeface="Goudy Old Style"/>
              </a:rPr>
              <a:t>Azure</a:t>
            </a:r>
            <a:r>
              <a:rPr sz="2000" spc="-30" dirty="0">
                <a:solidFill>
                  <a:srgbClr val="FFFFFF"/>
                </a:solidFill>
                <a:latin typeface="Goudy Old Style"/>
                <a:cs typeface="Goudy Old Style"/>
              </a:rPr>
              <a:t> </a:t>
            </a:r>
            <a:r>
              <a:rPr sz="2000" spc="-5" dirty="0">
                <a:solidFill>
                  <a:srgbClr val="FFFFFF"/>
                </a:solidFill>
                <a:latin typeface="Goudy Old Style"/>
                <a:cs typeface="Goudy Old Style"/>
              </a:rPr>
              <a:t>cloud</a:t>
            </a:r>
            <a:endParaRPr sz="2000">
              <a:latin typeface="Goudy Old Style"/>
              <a:cs typeface="Goudy Old Style"/>
            </a:endParaRPr>
          </a:p>
        </p:txBody>
      </p:sp>
      <p:pic>
        <p:nvPicPr>
          <p:cNvPr id="15" name="object 15"/>
          <p:cNvPicPr/>
          <p:nvPr/>
        </p:nvPicPr>
        <p:blipFill>
          <a:blip r:embed="rId3" cstate="print"/>
          <a:stretch>
            <a:fillRect/>
          </a:stretch>
        </p:blipFill>
        <p:spPr>
          <a:xfrm>
            <a:off x="5923026" y="2399538"/>
            <a:ext cx="3220974" cy="2664714"/>
          </a:xfrm>
          <a:prstGeom prst="rect">
            <a:avLst/>
          </a:prstGeom>
        </p:spPr>
      </p:pic>
      <p:sp>
        <p:nvSpPr>
          <p:cNvPr id="17" name="object 17"/>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4</a:t>
            </a:fld>
            <a:endParaRPr sz="1800" baseline="2314">
              <a:latin typeface="Times New Roman"/>
              <a:cs typeface="Times New Roman"/>
            </a:endParaRPr>
          </a:p>
        </p:txBody>
      </p:sp>
      <p:sp>
        <p:nvSpPr>
          <p:cNvPr id="19" name="object 1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67322" y="1308735"/>
            <a:ext cx="7954645" cy="4700905"/>
            <a:chOff x="367322" y="1308735"/>
            <a:chExt cx="7954645" cy="4700905"/>
          </a:xfrm>
        </p:grpSpPr>
        <p:sp>
          <p:nvSpPr>
            <p:cNvPr id="3" name="object 3"/>
            <p:cNvSpPr/>
            <p:nvPr/>
          </p:nvSpPr>
          <p:spPr>
            <a:xfrm>
              <a:off x="380022" y="1321435"/>
              <a:ext cx="983615" cy="4675505"/>
            </a:xfrm>
            <a:custGeom>
              <a:avLst/>
              <a:gdLst/>
              <a:ahLst/>
              <a:cxnLst/>
              <a:rect l="l" t="t" r="r" b="b"/>
              <a:pathLst>
                <a:path w="983615" h="4675505">
                  <a:moveTo>
                    <a:pt x="15290" y="0"/>
                  </a:moveTo>
                  <a:lnTo>
                    <a:pt x="49261" y="34463"/>
                  </a:lnTo>
                  <a:lnTo>
                    <a:pt x="82625" y="69297"/>
                  </a:lnTo>
                  <a:lnTo>
                    <a:pt x="115383" y="104495"/>
                  </a:lnTo>
                  <a:lnTo>
                    <a:pt x="147534" y="140050"/>
                  </a:lnTo>
                  <a:lnTo>
                    <a:pt x="179078" y="175954"/>
                  </a:lnTo>
                  <a:lnTo>
                    <a:pt x="210016" y="212203"/>
                  </a:lnTo>
                  <a:lnTo>
                    <a:pt x="240347" y="248788"/>
                  </a:lnTo>
                  <a:lnTo>
                    <a:pt x="270072" y="285704"/>
                  </a:lnTo>
                  <a:lnTo>
                    <a:pt x="299189" y="322943"/>
                  </a:lnTo>
                  <a:lnTo>
                    <a:pt x="327701" y="360498"/>
                  </a:lnTo>
                  <a:lnTo>
                    <a:pt x="355605" y="398364"/>
                  </a:lnTo>
                  <a:lnTo>
                    <a:pt x="382903" y="436534"/>
                  </a:lnTo>
                  <a:lnTo>
                    <a:pt x="409595" y="475000"/>
                  </a:lnTo>
                  <a:lnTo>
                    <a:pt x="435679" y="513757"/>
                  </a:lnTo>
                  <a:lnTo>
                    <a:pt x="461158" y="552797"/>
                  </a:lnTo>
                  <a:lnTo>
                    <a:pt x="486029" y="592114"/>
                  </a:lnTo>
                  <a:lnTo>
                    <a:pt x="510294" y="631701"/>
                  </a:lnTo>
                  <a:lnTo>
                    <a:pt x="533952" y="671552"/>
                  </a:lnTo>
                  <a:lnTo>
                    <a:pt x="557004" y="711660"/>
                  </a:lnTo>
                  <a:lnTo>
                    <a:pt x="579449" y="752017"/>
                  </a:lnTo>
                  <a:lnTo>
                    <a:pt x="601287" y="792618"/>
                  </a:lnTo>
                  <a:lnTo>
                    <a:pt x="622519" y="833456"/>
                  </a:lnTo>
                  <a:lnTo>
                    <a:pt x="643144" y="874525"/>
                  </a:lnTo>
                  <a:lnTo>
                    <a:pt x="663163" y="915816"/>
                  </a:lnTo>
                  <a:lnTo>
                    <a:pt x="682575" y="957325"/>
                  </a:lnTo>
                  <a:lnTo>
                    <a:pt x="701380" y="999043"/>
                  </a:lnTo>
                  <a:lnTo>
                    <a:pt x="719579" y="1040965"/>
                  </a:lnTo>
                  <a:lnTo>
                    <a:pt x="737171" y="1083084"/>
                  </a:lnTo>
                  <a:lnTo>
                    <a:pt x="754156" y="1125393"/>
                  </a:lnTo>
                  <a:lnTo>
                    <a:pt x="770535" y="1167885"/>
                  </a:lnTo>
                  <a:lnTo>
                    <a:pt x="786307" y="1210554"/>
                  </a:lnTo>
                  <a:lnTo>
                    <a:pt x="801473" y="1253393"/>
                  </a:lnTo>
                  <a:lnTo>
                    <a:pt x="816032" y="1296396"/>
                  </a:lnTo>
                  <a:lnTo>
                    <a:pt x="829984" y="1339556"/>
                  </a:lnTo>
                  <a:lnTo>
                    <a:pt x="843330" y="1382865"/>
                  </a:lnTo>
                  <a:lnTo>
                    <a:pt x="856069" y="1426318"/>
                  </a:lnTo>
                  <a:lnTo>
                    <a:pt x="868201" y="1469908"/>
                  </a:lnTo>
                  <a:lnTo>
                    <a:pt x="879727" y="1513628"/>
                  </a:lnTo>
                  <a:lnTo>
                    <a:pt x="890646" y="1557471"/>
                  </a:lnTo>
                  <a:lnTo>
                    <a:pt x="900959" y="1601431"/>
                  </a:lnTo>
                  <a:lnTo>
                    <a:pt x="910665" y="1645501"/>
                  </a:lnTo>
                  <a:lnTo>
                    <a:pt x="919764" y="1689674"/>
                  </a:lnTo>
                  <a:lnTo>
                    <a:pt x="928257" y="1733944"/>
                  </a:lnTo>
                  <a:lnTo>
                    <a:pt x="936143" y="1778304"/>
                  </a:lnTo>
                  <a:lnTo>
                    <a:pt x="943422" y="1822748"/>
                  </a:lnTo>
                  <a:lnTo>
                    <a:pt x="950095" y="1867268"/>
                  </a:lnTo>
                  <a:lnTo>
                    <a:pt x="956161" y="1911858"/>
                  </a:lnTo>
                  <a:lnTo>
                    <a:pt x="961621" y="1956512"/>
                  </a:lnTo>
                  <a:lnTo>
                    <a:pt x="966474" y="2001222"/>
                  </a:lnTo>
                  <a:lnTo>
                    <a:pt x="970720" y="2045983"/>
                  </a:lnTo>
                  <a:lnTo>
                    <a:pt x="974360" y="2090786"/>
                  </a:lnTo>
                  <a:lnTo>
                    <a:pt x="977393" y="2135627"/>
                  </a:lnTo>
                  <a:lnTo>
                    <a:pt x="979820" y="2180497"/>
                  </a:lnTo>
                  <a:lnTo>
                    <a:pt x="981639" y="2225391"/>
                  </a:lnTo>
                  <a:lnTo>
                    <a:pt x="982853" y="2270301"/>
                  </a:lnTo>
                  <a:lnTo>
                    <a:pt x="983459" y="2315222"/>
                  </a:lnTo>
                  <a:lnTo>
                    <a:pt x="983459" y="2360146"/>
                  </a:lnTo>
                  <a:lnTo>
                    <a:pt x="982853" y="2405066"/>
                  </a:lnTo>
                  <a:lnTo>
                    <a:pt x="981639" y="2449976"/>
                  </a:lnTo>
                  <a:lnTo>
                    <a:pt x="979820" y="2494870"/>
                  </a:lnTo>
                  <a:lnTo>
                    <a:pt x="977393" y="2539740"/>
                  </a:lnTo>
                  <a:lnTo>
                    <a:pt x="974360" y="2584581"/>
                  </a:lnTo>
                  <a:lnTo>
                    <a:pt x="970720" y="2629384"/>
                  </a:lnTo>
                  <a:lnTo>
                    <a:pt x="966474" y="2674145"/>
                  </a:lnTo>
                  <a:lnTo>
                    <a:pt x="961621" y="2718855"/>
                  </a:lnTo>
                  <a:lnTo>
                    <a:pt x="956161" y="2763508"/>
                  </a:lnTo>
                  <a:lnTo>
                    <a:pt x="950095" y="2808098"/>
                  </a:lnTo>
                  <a:lnTo>
                    <a:pt x="943422" y="2852618"/>
                  </a:lnTo>
                  <a:lnTo>
                    <a:pt x="936143" y="2897062"/>
                  </a:lnTo>
                  <a:lnTo>
                    <a:pt x="928257" y="2941422"/>
                  </a:lnTo>
                  <a:lnTo>
                    <a:pt x="919764" y="2985692"/>
                  </a:lnTo>
                  <a:lnTo>
                    <a:pt x="910665" y="3029865"/>
                  </a:lnTo>
                  <a:lnTo>
                    <a:pt x="900959" y="3073934"/>
                  </a:lnTo>
                  <a:lnTo>
                    <a:pt x="890646" y="3117894"/>
                  </a:lnTo>
                  <a:lnTo>
                    <a:pt x="879727" y="3161737"/>
                  </a:lnTo>
                  <a:lnTo>
                    <a:pt x="868201" y="3205456"/>
                  </a:lnTo>
                  <a:lnTo>
                    <a:pt x="856069" y="3249046"/>
                  </a:lnTo>
                  <a:lnTo>
                    <a:pt x="843330" y="3292498"/>
                  </a:lnTo>
                  <a:lnTo>
                    <a:pt x="829984" y="3335807"/>
                  </a:lnTo>
                  <a:lnTo>
                    <a:pt x="816032" y="3378966"/>
                  </a:lnTo>
                  <a:lnTo>
                    <a:pt x="801473" y="3421969"/>
                  </a:lnTo>
                  <a:lnTo>
                    <a:pt x="786307" y="3464807"/>
                  </a:lnTo>
                  <a:lnTo>
                    <a:pt x="770535" y="3507476"/>
                  </a:lnTo>
                  <a:lnTo>
                    <a:pt x="754156" y="3549968"/>
                  </a:lnTo>
                  <a:lnTo>
                    <a:pt x="737171" y="3592276"/>
                  </a:lnTo>
                  <a:lnTo>
                    <a:pt x="719579" y="3634395"/>
                  </a:lnTo>
                  <a:lnTo>
                    <a:pt x="701380" y="3676316"/>
                  </a:lnTo>
                  <a:lnTo>
                    <a:pt x="682575" y="3718034"/>
                  </a:lnTo>
                  <a:lnTo>
                    <a:pt x="663163" y="3759542"/>
                  </a:lnTo>
                  <a:lnTo>
                    <a:pt x="643144" y="3800833"/>
                  </a:lnTo>
                  <a:lnTo>
                    <a:pt x="622519" y="3841900"/>
                  </a:lnTo>
                  <a:lnTo>
                    <a:pt x="601287" y="3882738"/>
                  </a:lnTo>
                  <a:lnTo>
                    <a:pt x="579449" y="3923338"/>
                  </a:lnTo>
                  <a:lnTo>
                    <a:pt x="557004" y="3963695"/>
                  </a:lnTo>
                  <a:lnTo>
                    <a:pt x="533952" y="4003802"/>
                  </a:lnTo>
                  <a:lnTo>
                    <a:pt x="510294" y="4043652"/>
                  </a:lnTo>
                  <a:lnTo>
                    <a:pt x="486029" y="4083239"/>
                  </a:lnTo>
                  <a:lnTo>
                    <a:pt x="461158" y="4122555"/>
                  </a:lnTo>
                  <a:lnTo>
                    <a:pt x="435679" y="4161594"/>
                  </a:lnTo>
                  <a:lnTo>
                    <a:pt x="409595" y="4200350"/>
                  </a:lnTo>
                  <a:lnTo>
                    <a:pt x="382903" y="4238816"/>
                  </a:lnTo>
                  <a:lnTo>
                    <a:pt x="355605" y="4276984"/>
                  </a:lnTo>
                  <a:lnTo>
                    <a:pt x="327701" y="4314850"/>
                  </a:lnTo>
                  <a:lnTo>
                    <a:pt x="299189" y="4352405"/>
                  </a:lnTo>
                  <a:lnTo>
                    <a:pt x="270072" y="4389643"/>
                  </a:lnTo>
                  <a:lnTo>
                    <a:pt x="240347" y="4426557"/>
                  </a:lnTo>
                  <a:lnTo>
                    <a:pt x="210016" y="4463142"/>
                  </a:lnTo>
                  <a:lnTo>
                    <a:pt x="179078" y="4499389"/>
                  </a:lnTo>
                  <a:lnTo>
                    <a:pt x="147534" y="4535293"/>
                  </a:lnTo>
                  <a:lnTo>
                    <a:pt x="115383" y="4570847"/>
                  </a:lnTo>
                  <a:lnTo>
                    <a:pt x="82625" y="4606043"/>
                  </a:lnTo>
                  <a:lnTo>
                    <a:pt x="49261" y="4640877"/>
                  </a:lnTo>
                  <a:lnTo>
                    <a:pt x="15290" y="4675339"/>
                  </a:lnTo>
                  <a:lnTo>
                    <a:pt x="0" y="4660049"/>
                  </a:lnTo>
                  <a:lnTo>
                    <a:pt x="34050" y="4625503"/>
                  </a:lnTo>
                  <a:lnTo>
                    <a:pt x="67486" y="4590584"/>
                  </a:lnTo>
                  <a:lnTo>
                    <a:pt x="100310" y="4555297"/>
                  </a:lnTo>
                  <a:lnTo>
                    <a:pt x="132519" y="4519649"/>
                  </a:lnTo>
                  <a:lnTo>
                    <a:pt x="164116" y="4483648"/>
                  </a:lnTo>
                  <a:lnTo>
                    <a:pt x="195098" y="4447299"/>
                  </a:lnTo>
                  <a:lnTo>
                    <a:pt x="225467" y="4410610"/>
                  </a:lnTo>
                  <a:lnTo>
                    <a:pt x="255223" y="4373587"/>
                  </a:lnTo>
                  <a:lnTo>
                    <a:pt x="284365" y="4336238"/>
                  </a:lnTo>
                  <a:lnTo>
                    <a:pt x="312894" y="4298568"/>
                  </a:lnTo>
                  <a:lnTo>
                    <a:pt x="340809" y="4260586"/>
                  </a:lnTo>
                  <a:lnTo>
                    <a:pt x="368110" y="4222297"/>
                  </a:lnTo>
                  <a:lnTo>
                    <a:pt x="394798" y="4183709"/>
                  </a:lnTo>
                  <a:lnTo>
                    <a:pt x="420873" y="4144828"/>
                  </a:lnTo>
                  <a:lnTo>
                    <a:pt x="446334" y="4105662"/>
                  </a:lnTo>
                  <a:lnTo>
                    <a:pt x="471181" y="4066216"/>
                  </a:lnTo>
                  <a:lnTo>
                    <a:pt x="495415" y="4026498"/>
                  </a:lnTo>
                  <a:lnTo>
                    <a:pt x="519036" y="3986514"/>
                  </a:lnTo>
                  <a:lnTo>
                    <a:pt x="542043" y="3946272"/>
                  </a:lnTo>
                  <a:lnTo>
                    <a:pt x="564436" y="3905778"/>
                  </a:lnTo>
                  <a:lnTo>
                    <a:pt x="586216" y="3865039"/>
                  </a:lnTo>
                  <a:lnTo>
                    <a:pt x="607382" y="3824062"/>
                  </a:lnTo>
                  <a:lnTo>
                    <a:pt x="627935" y="3782853"/>
                  </a:lnTo>
                  <a:lnTo>
                    <a:pt x="647875" y="3741420"/>
                  </a:lnTo>
                  <a:lnTo>
                    <a:pt x="667200" y="3699769"/>
                  </a:lnTo>
                  <a:lnTo>
                    <a:pt x="685913" y="3657907"/>
                  </a:lnTo>
                  <a:lnTo>
                    <a:pt x="704012" y="3615841"/>
                  </a:lnTo>
                  <a:lnTo>
                    <a:pt x="721497" y="3573577"/>
                  </a:lnTo>
                  <a:lnTo>
                    <a:pt x="738369" y="3531123"/>
                  </a:lnTo>
                  <a:lnTo>
                    <a:pt x="754627" y="3488485"/>
                  </a:lnTo>
                  <a:lnTo>
                    <a:pt x="770272" y="3445670"/>
                  </a:lnTo>
                  <a:lnTo>
                    <a:pt x="785303" y="3402685"/>
                  </a:lnTo>
                  <a:lnTo>
                    <a:pt x="799720" y="3359537"/>
                  </a:lnTo>
                  <a:lnTo>
                    <a:pt x="813525" y="3316232"/>
                  </a:lnTo>
                  <a:lnTo>
                    <a:pt x="826715" y="3272777"/>
                  </a:lnTo>
                  <a:lnTo>
                    <a:pt x="839292" y="3229179"/>
                  </a:lnTo>
                  <a:lnTo>
                    <a:pt x="851256" y="3185446"/>
                  </a:lnTo>
                  <a:lnTo>
                    <a:pt x="862606" y="3141583"/>
                  </a:lnTo>
                  <a:lnTo>
                    <a:pt x="873343" y="3097597"/>
                  </a:lnTo>
                  <a:lnTo>
                    <a:pt x="883466" y="3053496"/>
                  </a:lnTo>
                  <a:lnTo>
                    <a:pt x="892975" y="3009285"/>
                  </a:lnTo>
                  <a:lnTo>
                    <a:pt x="901871" y="2964973"/>
                  </a:lnTo>
                  <a:lnTo>
                    <a:pt x="910154" y="2920566"/>
                  </a:lnTo>
                  <a:lnTo>
                    <a:pt x="917823" y="2876070"/>
                  </a:lnTo>
                  <a:lnTo>
                    <a:pt x="924878" y="2831492"/>
                  </a:lnTo>
                  <a:lnTo>
                    <a:pt x="931320" y="2786839"/>
                  </a:lnTo>
                  <a:lnTo>
                    <a:pt x="937148" y="2742119"/>
                  </a:lnTo>
                  <a:lnTo>
                    <a:pt x="942363" y="2697337"/>
                  </a:lnTo>
                  <a:lnTo>
                    <a:pt x="946965" y="2652500"/>
                  </a:lnTo>
                  <a:lnTo>
                    <a:pt x="950953" y="2607616"/>
                  </a:lnTo>
                  <a:lnTo>
                    <a:pt x="954327" y="2562692"/>
                  </a:lnTo>
                  <a:lnTo>
                    <a:pt x="957088" y="2517733"/>
                  </a:lnTo>
                  <a:lnTo>
                    <a:pt x="959235" y="2472747"/>
                  </a:lnTo>
                  <a:lnTo>
                    <a:pt x="960769" y="2427740"/>
                  </a:lnTo>
                  <a:lnTo>
                    <a:pt x="961689" y="2382720"/>
                  </a:lnTo>
                  <a:lnTo>
                    <a:pt x="961996" y="2337693"/>
                  </a:lnTo>
                  <a:lnTo>
                    <a:pt x="961689" y="2292666"/>
                  </a:lnTo>
                  <a:lnTo>
                    <a:pt x="960769" y="2247646"/>
                  </a:lnTo>
                  <a:lnTo>
                    <a:pt x="959235" y="2202640"/>
                  </a:lnTo>
                  <a:lnTo>
                    <a:pt x="957088" y="2157654"/>
                  </a:lnTo>
                  <a:lnTo>
                    <a:pt x="954327" y="2112695"/>
                  </a:lnTo>
                  <a:lnTo>
                    <a:pt x="950953" y="2067771"/>
                  </a:lnTo>
                  <a:lnTo>
                    <a:pt x="946965" y="2022887"/>
                  </a:lnTo>
                  <a:lnTo>
                    <a:pt x="942363" y="1978050"/>
                  </a:lnTo>
                  <a:lnTo>
                    <a:pt x="937148" y="1933269"/>
                  </a:lnTo>
                  <a:lnTo>
                    <a:pt x="931320" y="1888548"/>
                  </a:lnTo>
                  <a:lnTo>
                    <a:pt x="924878" y="1843896"/>
                  </a:lnTo>
                  <a:lnTo>
                    <a:pt x="917823" y="1799318"/>
                  </a:lnTo>
                  <a:lnTo>
                    <a:pt x="910154" y="1754823"/>
                  </a:lnTo>
                  <a:lnTo>
                    <a:pt x="901871" y="1710415"/>
                  </a:lnTo>
                  <a:lnTo>
                    <a:pt x="892975" y="1666103"/>
                  </a:lnTo>
                  <a:lnTo>
                    <a:pt x="883466" y="1621893"/>
                  </a:lnTo>
                  <a:lnTo>
                    <a:pt x="873343" y="1577792"/>
                  </a:lnTo>
                  <a:lnTo>
                    <a:pt x="862606" y="1533807"/>
                  </a:lnTo>
                  <a:lnTo>
                    <a:pt x="851256" y="1489944"/>
                  </a:lnTo>
                  <a:lnTo>
                    <a:pt x="839292" y="1446211"/>
                  </a:lnTo>
                  <a:lnTo>
                    <a:pt x="826715" y="1402614"/>
                  </a:lnTo>
                  <a:lnTo>
                    <a:pt x="813525" y="1359159"/>
                  </a:lnTo>
                  <a:lnTo>
                    <a:pt x="799720" y="1315855"/>
                  </a:lnTo>
                  <a:lnTo>
                    <a:pt x="785303" y="1272707"/>
                  </a:lnTo>
                  <a:lnTo>
                    <a:pt x="770272" y="1229722"/>
                  </a:lnTo>
                  <a:lnTo>
                    <a:pt x="754627" y="1186908"/>
                  </a:lnTo>
                  <a:lnTo>
                    <a:pt x="738369" y="1144270"/>
                  </a:lnTo>
                  <a:lnTo>
                    <a:pt x="721497" y="1101816"/>
                  </a:lnTo>
                  <a:lnTo>
                    <a:pt x="704012" y="1059553"/>
                  </a:lnTo>
                  <a:lnTo>
                    <a:pt x="685913" y="1017488"/>
                  </a:lnTo>
                  <a:lnTo>
                    <a:pt x="667200" y="975626"/>
                  </a:lnTo>
                  <a:lnTo>
                    <a:pt x="647875" y="933976"/>
                  </a:lnTo>
                  <a:lnTo>
                    <a:pt x="627935" y="892543"/>
                  </a:lnTo>
                  <a:lnTo>
                    <a:pt x="607382" y="851335"/>
                  </a:lnTo>
                  <a:lnTo>
                    <a:pt x="586216" y="810358"/>
                  </a:lnTo>
                  <a:lnTo>
                    <a:pt x="564436" y="769620"/>
                  </a:lnTo>
                  <a:lnTo>
                    <a:pt x="542043" y="729127"/>
                  </a:lnTo>
                  <a:lnTo>
                    <a:pt x="519036" y="688885"/>
                  </a:lnTo>
                  <a:lnTo>
                    <a:pt x="495415" y="648903"/>
                  </a:lnTo>
                  <a:lnTo>
                    <a:pt x="471181" y="609185"/>
                  </a:lnTo>
                  <a:lnTo>
                    <a:pt x="446334" y="569740"/>
                  </a:lnTo>
                  <a:lnTo>
                    <a:pt x="420873" y="530574"/>
                  </a:lnTo>
                  <a:lnTo>
                    <a:pt x="394798" y="491694"/>
                  </a:lnTo>
                  <a:lnTo>
                    <a:pt x="368110" y="453107"/>
                  </a:lnTo>
                  <a:lnTo>
                    <a:pt x="340809" y="414819"/>
                  </a:lnTo>
                  <a:lnTo>
                    <a:pt x="312894" y="376838"/>
                  </a:lnTo>
                  <a:lnTo>
                    <a:pt x="284365" y="339169"/>
                  </a:lnTo>
                  <a:lnTo>
                    <a:pt x="255223" y="301821"/>
                  </a:lnTo>
                  <a:lnTo>
                    <a:pt x="225467" y="264799"/>
                  </a:lnTo>
                  <a:lnTo>
                    <a:pt x="195098" y="228111"/>
                  </a:lnTo>
                  <a:lnTo>
                    <a:pt x="164116" y="191763"/>
                  </a:lnTo>
                  <a:lnTo>
                    <a:pt x="132519" y="155762"/>
                  </a:lnTo>
                  <a:lnTo>
                    <a:pt x="100310" y="120115"/>
                  </a:lnTo>
                  <a:lnTo>
                    <a:pt x="67486" y="84829"/>
                  </a:lnTo>
                  <a:lnTo>
                    <a:pt x="34050" y="49911"/>
                  </a:lnTo>
                  <a:lnTo>
                    <a:pt x="0" y="15367"/>
                  </a:lnTo>
                  <a:lnTo>
                    <a:pt x="15290" y="0"/>
                  </a:lnTo>
                  <a:close/>
                </a:path>
              </a:pathLst>
            </a:custGeom>
            <a:ln w="25145">
              <a:solidFill>
                <a:srgbClr val="F79546"/>
              </a:solidFill>
            </a:ln>
          </p:spPr>
          <p:txBody>
            <a:bodyPr wrap="square" lIns="0" tIns="0" rIns="0" bIns="0" rtlCol="0"/>
            <a:lstStyle/>
            <a:p>
              <a:endParaRPr/>
            </a:p>
          </p:txBody>
        </p:sp>
        <p:sp>
          <p:nvSpPr>
            <p:cNvPr id="4" name="object 4"/>
            <p:cNvSpPr/>
            <p:nvPr/>
          </p:nvSpPr>
          <p:spPr>
            <a:xfrm>
              <a:off x="859155" y="1580769"/>
              <a:ext cx="7450455" cy="756285"/>
            </a:xfrm>
            <a:custGeom>
              <a:avLst/>
              <a:gdLst/>
              <a:ahLst/>
              <a:cxnLst/>
              <a:rect l="l" t="t" r="r" b="b"/>
              <a:pathLst>
                <a:path w="7450455" h="756285">
                  <a:moveTo>
                    <a:pt x="7450074" y="0"/>
                  </a:moveTo>
                  <a:lnTo>
                    <a:pt x="0" y="0"/>
                  </a:lnTo>
                  <a:lnTo>
                    <a:pt x="0" y="755903"/>
                  </a:lnTo>
                  <a:lnTo>
                    <a:pt x="7450074" y="755903"/>
                  </a:lnTo>
                  <a:lnTo>
                    <a:pt x="7450074" y="0"/>
                  </a:lnTo>
                  <a:close/>
                </a:path>
              </a:pathLst>
            </a:custGeom>
            <a:solidFill>
              <a:srgbClr val="4AACC5"/>
            </a:solidFill>
          </p:spPr>
          <p:txBody>
            <a:bodyPr wrap="square" lIns="0" tIns="0" rIns="0" bIns="0" rtlCol="0"/>
            <a:lstStyle/>
            <a:p>
              <a:endParaRPr/>
            </a:p>
          </p:txBody>
        </p:sp>
        <p:sp>
          <p:nvSpPr>
            <p:cNvPr id="5" name="object 5"/>
            <p:cNvSpPr/>
            <p:nvPr/>
          </p:nvSpPr>
          <p:spPr>
            <a:xfrm>
              <a:off x="859155" y="1580769"/>
              <a:ext cx="7450455" cy="756285"/>
            </a:xfrm>
            <a:custGeom>
              <a:avLst/>
              <a:gdLst/>
              <a:ahLst/>
              <a:cxnLst/>
              <a:rect l="l" t="t" r="r" b="b"/>
              <a:pathLst>
                <a:path w="7450455" h="756285">
                  <a:moveTo>
                    <a:pt x="0" y="755903"/>
                  </a:moveTo>
                  <a:lnTo>
                    <a:pt x="7450074" y="755903"/>
                  </a:lnTo>
                  <a:lnTo>
                    <a:pt x="7450074" y="0"/>
                  </a:lnTo>
                  <a:lnTo>
                    <a:pt x="0" y="0"/>
                  </a:lnTo>
                  <a:lnTo>
                    <a:pt x="0" y="755903"/>
                  </a:lnTo>
                  <a:close/>
                </a:path>
              </a:pathLst>
            </a:custGeom>
            <a:ln w="25146">
              <a:solidFill>
                <a:srgbClr val="FFFFFF"/>
              </a:solidFill>
            </a:ln>
          </p:spPr>
          <p:txBody>
            <a:bodyPr wrap="square" lIns="0" tIns="0" rIns="0" bIns="0" rtlCol="0"/>
            <a:lstStyle/>
            <a:p>
              <a:endParaRPr/>
            </a:p>
          </p:txBody>
        </p:sp>
      </p:grpSp>
      <p:sp>
        <p:nvSpPr>
          <p:cNvPr id="6" name="object 6"/>
          <p:cNvSpPr txBox="1"/>
          <p:nvPr/>
        </p:nvSpPr>
        <p:spPr>
          <a:xfrm>
            <a:off x="1446022" y="1694433"/>
            <a:ext cx="6542405" cy="489584"/>
          </a:xfrm>
          <a:prstGeom prst="rect">
            <a:avLst/>
          </a:prstGeom>
        </p:spPr>
        <p:txBody>
          <a:bodyPr vert="horz" wrap="square" lIns="0" tIns="40005" rIns="0" bIns="0" rtlCol="0">
            <a:spAutoFit/>
          </a:bodyPr>
          <a:lstStyle/>
          <a:p>
            <a:pPr marL="12700" marR="5080">
              <a:lnSpc>
                <a:spcPts val="1730"/>
              </a:lnSpc>
              <a:spcBef>
                <a:spcPts val="315"/>
              </a:spcBef>
            </a:pPr>
            <a:r>
              <a:rPr sz="1600" spc="-40" dirty="0">
                <a:latin typeface="Goudy Old Style"/>
                <a:cs typeface="Goudy Old Style"/>
              </a:rPr>
              <a:t>Was </a:t>
            </a:r>
            <a:r>
              <a:rPr sz="1600" spc="-5" dirty="0">
                <a:latin typeface="Goudy Old Style"/>
                <a:cs typeface="Goudy Old Style"/>
              </a:rPr>
              <a:t>earlier known </a:t>
            </a:r>
            <a:r>
              <a:rPr sz="1600" spc="-10" dirty="0">
                <a:latin typeface="Goudy Old Style"/>
                <a:cs typeface="Goudy Old Style"/>
              </a:rPr>
              <a:t>by </a:t>
            </a:r>
            <a:r>
              <a:rPr sz="1600" spc="-5" dirty="0">
                <a:latin typeface="Goudy Old Style"/>
                <a:cs typeface="Goudy Old Style"/>
              </a:rPr>
              <a:t>other names such as </a:t>
            </a:r>
            <a:r>
              <a:rPr sz="1600" dirty="0">
                <a:latin typeface="Goudy Old Style"/>
                <a:cs typeface="Goudy Old Style"/>
              </a:rPr>
              <a:t>SQL </a:t>
            </a:r>
            <a:r>
              <a:rPr sz="1600" spc="-10" dirty="0">
                <a:latin typeface="Goudy Old Style"/>
                <a:cs typeface="Goudy Old Style"/>
              </a:rPr>
              <a:t>Azure, </a:t>
            </a:r>
            <a:r>
              <a:rPr sz="1600" dirty="0">
                <a:latin typeface="Goudy Old Style"/>
                <a:cs typeface="Goudy Old Style"/>
              </a:rPr>
              <a:t>SQL </a:t>
            </a:r>
            <a:r>
              <a:rPr sz="1600" spc="5" dirty="0">
                <a:latin typeface="Goudy Old Style"/>
                <a:cs typeface="Goudy Old Style"/>
              </a:rPr>
              <a:t>Server </a:t>
            </a:r>
            <a:r>
              <a:rPr sz="1600" dirty="0">
                <a:latin typeface="Goudy Old Style"/>
                <a:cs typeface="Goudy Old Style"/>
              </a:rPr>
              <a:t>Data </a:t>
            </a:r>
            <a:r>
              <a:rPr sz="1600" spc="5" dirty="0">
                <a:latin typeface="Goudy Old Style"/>
                <a:cs typeface="Goudy Old Style"/>
              </a:rPr>
              <a:t>Services,  </a:t>
            </a:r>
            <a:r>
              <a:rPr sz="1600" dirty="0">
                <a:latin typeface="Goudy Old Style"/>
                <a:cs typeface="Goudy Old Style"/>
              </a:rPr>
              <a:t>SQL </a:t>
            </a:r>
            <a:r>
              <a:rPr sz="1600" spc="5" dirty="0">
                <a:latin typeface="Goudy Old Style"/>
                <a:cs typeface="Goudy Old Style"/>
              </a:rPr>
              <a:t>Services, </a:t>
            </a:r>
            <a:r>
              <a:rPr sz="1600" spc="-5" dirty="0">
                <a:latin typeface="Goudy Old Style"/>
                <a:cs typeface="Goudy Old Style"/>
              </a:rPr>
              <a:t>and Windows </a:t>
            </a:r>
            <a:r>
              <a:rPr sz="1600" spc="-10" dirty="0">
                <a:latin typeface="Goudy Old Style"/>
                <a:cs typeface="Goudy Old Style"/>
              </a:rPr>
              <a:t>Azure </a:t>
            </a:r>
            <a:r>
              <a:rPr sz="1600" dirty="0">
                <a:latin typeface="Goudy Old Style"/>
                <a:cs typeface="Goudy Old Style"/>
              </a:rPr>
              <a:t>SQL</a:t>
            </a:r>
            <a:r>
              <a:rPr sz="1600" spc="-25" dirty="0">
                <a:latin typeface="Goudy Old Style"/>
                <a:cs typeface="Goudy Old Style"/>
              </a:rPr>
              <a:t> </a:t>
            </a:r>
            <a:r>
              <a:rPr sz="1600" spc="-5" dirty="0">
                <a:latin typeface="Goudy Old Style"/>
                <a:cs typeface="Goudy Old Style"/>
              </a:rPr>
              <a:t>Database.</a:t>
            </a:r>
            <a:endParaRPr sz="1600">
              <a:latin typeface="Goudy Old Style"/>
              <a:cs typeface="Goudy Old Style"/>
            </a:endParaRPr>
          </a:p>
        </p:txBody>
      </p:sp>
      <p:grpSp>
        <p:nvGrpSpPr>
          <p:cNvPr id="7" name="object 7"/>
          <p:cNvGrpSpPr/>
          <p:nvPr/>
        </p:nvGrpSpPr>
        <p:grpSpPr>
          <a:xfrm>
            <a:off x="374777" y="1473580"/>
            <a:ext cx="7947659" cy="4276725"/>
            <a:chOff x="374777" y="1473580"/>
            <a:chExt cx="7947659" cy="4276725"/>
          </a:xfrm>
        </p:grpSpPr>
        <p:sp>
          <p:nvSpPr>
            <p:cNvPr id="8" name="object 8"/>
            <p:cNvSpPr/>
            <p:nvPr/>
          </p:nvSpPr>
          <p:spPr>
            <a:xfrm>
              <a:off x="387477" y="1486280"/>
              <a:ext cx="944244" cy="944880"/>
            </a:xfrm>
            <a:custGeom>
              <a:avLst/>
              <a:gdLst/>
              <a:ahLst/>
              <a:cxnLst/>
              <a:rect l="l" t="t" r="r" b="b"/>
              <a:pathLst>
                <a:path w="944244" h="944880">
                  <a:moveTo>
                    <a:pt x="472059" y="0"/>
                  </a:moveTo>
                  <a:lnTo>
                    <a:pt x="423794" y="2438"/>
                  </a:lnTo>
                  <a:lnTo>
                    <a:pt x="376924" y="9595"/>
                  </a:lnTo>
                  <a:lnTo>
                    <a:pt x="331685" y="21234"/>
                  </a:lnTo>
                  <a:lnTo>
                    <a:pt x="288314" y="37117"/>
                  </a:lnTo>
                  <a:lnTo>
                    <a:pt x="247050" y="57008"/>
                  </a:lnTo>
                  <a:lnTo>
                    <a:pt x="208128" y="80668"/>
                  </a:lnTo>
                  <a:lnTo>
                    <a:pt x="171787" y="107861"/>
                  </a:lnTo>
                  <a:lnTo>
                    <a:pt x="138264" y="138350"/>
                  </a:lnTo>
                  <a:lnTo>
                    <a:pt x="107797" y="171897"/>
                  </a:lnTo>
                  <a:lnTo>
                    <a:pt x="80621" y="208266"/>
                  </a:lnTo>
                  <a:lnTo>
                    <a:pt x="56976" y="247218"/>
                  </a:lnTo>
                  <a:lnTo>
                    <a:pt x="37097" y="288518"/>
                  </a:lnTo>
                  <a:lnTo>
                    <a:pt x="21223" y="331927"/>
                  </a:lnTo>
                  <a:lnTo>
                    <a:pt x="9590" y="377208"/>
                  </a:lnTo>
                  <a:lnTo>
                    <a:pt x="2437" y="424125"/>
                  </a:lnTo>
                  <a:lnTo>
                    <a:pt x="0" y="472439"/>
                  </a:lnTo>
                  <a:lnTo>
                    <a:pt x="2437" y="520733"/>
                  </a:lnTo>
                  <a:lnTo>
                    <a:pt x="9590" y="567634"/>
                  </a:lnTo>
                  <a:lnTo>
                    <a:pt x="21223" y="612905"/>
                  </a:lnTo>
                  <a:lnTo>
                    <a:pt x="37097" y="656308"/>
                  </a:lnTo>
                  <a:lnTo>
                    <a:pt x="56976" y="697604"/>
                  </a:lnTo>
                  <a:lnTo>
                    <a:pt x="80621" y="736557"/>
                  </a:lnTo>
                  <a:lnTo>
                    <a:pt x="107797" y="772929"/>
                  </a:lnTo>
                  <a:lnTo>
                    <a:pt x="138264" y="806481"/>
                  </a:lnTo>
                  <a:lnTo>
                    <a:pt x="171787" y="836977"/>
                  </a:lnTo>
                  <a:lnTo>
                    <a:pt x="208128" y="864177"/>
                  </a:lnTo>
                  <a:lnTo>
                    <a:pt x="247050" y="887846"/>
                  </a:lnTo>
                  <a:lnTo>
                    <a:pt x="288314" y="907744"/>
                  </a:lnTo>
                  <a:lnTo>
                    <a:pt x="331685" y="923634"/>
                  </a:lnTo>
                  <a:lnTo>
                    <a:pt x="376924" y="935279"/>
                  </a:lnTo>
                  <a:lnTo>
                    <a:pt x="423794" y="942440"/>
                  </a:lnTo>
                  <a:lnTo>
                    <a:pt x="472059" y="944879"/>
                  </a:lnTo>
                  <a:lnTo>
                    <a:pt x="520323" y="942440"/>
                  </a:lnTo>
                  <a:lnTo>
                    <a:pt x="567193" y="935279"/>
                  </a:lnTo>
                  <a:lnTo>
                    <a:pt x="612432" y="923634"/>
                  </a:lnTo>
                  <a:lnTo>
                    <a:pt x="655803" y="907744"/>
                  </a:lnTo>
                  <a:lnTo>
                    <a:pt x="697067" y="887846"/>
                  </a:lnTo>
                  <a:lnTo>
                    <a:pt x="735989" y="864177"/>
                  </a:lnTo>
                  <a:lnTo>
                    <a:pt x="772330" y="836977"/>
                  </a:lnTo>
                  <a:lnTo>
                    <a:pt x="805853" y="806481"/>
                  </a:lnTo>
                  <a:lnTo>
                    <a:pt x="836320" y="772929"/>
                  </a:lnTo>
                  <a:lnTo>
                    <a:pt x="863496" y="736557"/>
                  </a:lnTo>
                  <a:lnTo>
                    <a:pt x="887141" y="697604"/>
                  </a:lnTo>
                  <a:lnTo>
                    <a:pt x="907020" y="656308"/>
                  </a:lnTo>
                  <a:lnTo>
                    <a:pt x="922894" y="612905"/>
                  </a:lnTo>
                  <a:lnTo>
                    <a:pt x="934527" y="567634"/>
                  </a:lnTo>
                  <a:lnTo>
                    <a:pt x="941680" y="520733"/>
                  </a:lnTo>
                  <a:lnTo>
                    <a:pt x="944118" y="472439"/>
                  </a:lnTo>
                  <a:lnTo>
                    <a:pt x="941680" y="424125"/>
                  </a:lnTo>
                  <a:lnTo>
                    <a:pt x="934527" y="377208"/>
                  </a:lnTo>
                  <a:lnTo>
                    <a:pt x="922894" y="331927"/>
                  </a:lnTo>
                  <a:lnTo>
                    <a:pt x="907020" y="288518"/>
                  </a:lnTo>
                  <a:lnTo>
                    <a:pt x="887141" y="247218"/>
                  </a:lnTo>
                  <a:lnTo>
                    <a:pt x="863496" y="208266"/>
                  </a:lnTo>
                  <a:lnTo>
                    <a:pt x="836320" y="171897"/>
                  </a:lnTo>
                  <a:lnTo>
                    <a:pt x="805853" y="138350"/>
                  </a:lnTo>
                  <a:lnTo>
                    <a:pt x="772330" y="107861"/>
                  </a:lnTo>
                  <a:lnTo>
                    <a:pt x="735989" y="80668"/>
                  </a:lnTo>
                  <a:lnTo>
                    <a:pt x="697067" y="57008"/>
                  </a:lnTo>
                  <a:lnTo>
                    <a:pt x="655803" y="37117"/>
                  </a:lnTo>
                  <a:lnTo>
                    <a:pt x="612432" y="21234"/>
                  </a:lnTo>
                  <a:lnTo>
                    <a:pt x="567193" y="9595"/>
                  </a:lnTo>
                  <a:lnTo>
                    <a:pt x="520323" y="2438"/>
                  </a:lnTo>
                  <a:lnTo>
                    <a:pt x="472059" y="0"/>
                  </a:lnTo>
                  <a:close/>
                </a:path>
              </a:pathLst>
            </a:custGeom>
            <a:solidFill>
              <a:srgbClr val="FFFFFF"/>
            </a:solidFill>
          </p:spPr>
          <p:txBody>
            <a:bodyPr wrap="square" lIns="0" tIns="0" rIns="0" bIns="0" rtlCol="0"/>
            <a:lstStyle/>
            <a:p>
              <a:endParaRPr/>
            </a:p>
          </p:txBody>
        </p:sp>
        <p:sp>
          <p:nvSpPr>
            <p:cNvPr id="9" name="object 9"/>
            <p:cNvSpPr/>
            <p:nvPr/>
          </p:nvSpPr>
          <p:spPr>
            <a:xfrm>
              <a:off x="387477" y="1486280"/>
              <a:ext cx="944244" cy="944880"/>
            </a:xfrm>
            <a:custGeom>
              <a:avLst/>
              <a:gdLst/>
              <a:ahLst/>
              <a:cxnLst/>
              <a:rect l="l" t="t" r="r" b="b"/>
              <a:pathLst>
                <a:path w="944244" h="944880">
                  <a:moveTo>
                    <a:pt x="0" y="472439"/>
                  </a:moveTo>
                  <a:lnTo>
                    <a:pt x="2437" y="424125"/>
                  </a:lnTo>
                  <a:lnTo>
                    <a:pt x="9590" y="377208"/>
                  </a:lnTo>
                  <a:lnTo>
                    <a:pt x="21223" y="331927"/>
                  </a:lnTo>
                  <a:lnTo>
                    <a:pt x="37097" y="288518"/>
                  </a:lnTo>
                  <a:lnTo>
                    <a:pt x="56976" y="247218"/>
                  </a:lnTo>
                  <a:lnTo>
                    <a:pt x="80621" y="208266"/>
                  </a:lnTo>
                  <a:lnTo>
                    <a:pt x="107797" y="171897"/>
                  </a:lnTo>
                  <a:lnTo>
                    <a:pt x="138264" y="138350"/>
                  </a:lnTo>
                  <a:lnTo>
                    <a:pt x="171787" y="107861"/>
                  </a:lnTo>
                  <a:lnTo>
                    <a:pt x="208128" y="80668"/>
                  </a:lnTo>
                  <a:lnTo>
                    <a:pt x="247050" y="57008"/>
                  </a:lnTo>
                  <a:lnTo>
                    <a:pt x="288314" y="37117"/>
                  </a:lnTo>
                  <a:lnTo>
                    <a:pt x="331685" y="21234"/>
                  </a:lnTo>
                  <a:lnTo>
                    <a:pt x="376924" y="9595"/>
                  </a:lnTo>
                  <a:lnTo>
                    <a:pt x="423794" y="2438"/>
                  </a:lnTo>
                  <a:lnTo>
                    <a:pt x="472059" y="0"/>
                  </a:lnTo>
                  <a:lnTo>
                    <a:pt x="520323" y="2438"/>
                  </a:lnTo>
                  <a:lnTo>
                    <a:pt x="567193" y="9595"/>
                  </a:lnTo>
                  <a:lnTo>
                    <a:pt x="612432" y="21234"/>
                  </a:lnTo>
                  <a:lnTo>
                    <a:pt x="655803" y="37117"/>
                  </a:lnTo>
                  <a:lnTo>
                    <a:pt x="697067" y="57008"/>
                  </a:lnTo>
                  <a:lnTo>
                    <a:pt x="735989" y="80668"/>
                  </a:lnTo>
                  <a:lnTo>
                    <a:pt x="772330" y="107861"/>
                  </a:lnTo>
                  <a:lnTo>
                    <a:pt x="805853" y="138350"/>
                  </a:lnTo>
                  <a:lnTo>
                    <a:pt x="836320" y="171897"/>
                  </a:lnTo>
                  <a:lnTo>
                    <a:pt x="863496" y="208266"/>
                  </a:lnTo>
                  <a:lnTo>
                    <a:pt x="887141" y="247218"/>
                  </a:lnTo>
                  <a:lnTo>
                    <a:pt x="907020" y="288518"/>
                  </a:lnTo>
                  <a:lnTo>
                    <a:pt x="922894" y="331927"/>
                  </a:lnTo>
                  <a:lnTo>
                    <a:pt x="934527" y="377208"/>
                  </a:lnTo>
                  <a:lnTo>
                    <a:pt x="941680" y="424125"/>
                  </a:lnTo>
                  <a:lnTo>
                    <a:pt x="944118" y="472439"/>
                  </a:lnTo>
                  <a:lnTo>
                    <a:pt x="941680" y="520733"/>
                  </a:lnTo>
                  <a:lnTo>
                    <a:pt x="934527" y="567634"/>
                  </a:lnTo>
                  <a:lnTo>
                    <a:pt x="922894" y="612905"/>
                  </a:lnTo>
                  <a:lnTo>
                    <a:pt x="907020" y="656308"/>
                  </a:lnTo>
                  <a:lnTo>
                    <a:pt x="887141" y="697604"/>
                  </a:lnTo>
                  <a:lnTo>
                    <a:pt x="863496" y="736557"/>
                  </a:lnTo>
                  <a:lnTo>
                    <a:pt x="836320" y="772929"/>
                  </a:lnTo>
                  <a:lnTo>
                    <a:pt x="805853" y="806481"/>
                  </a:lnTo>
                  <a:lnTo>
                    <a:pt x="772330" y="836977"/>
                  </a:lnTo>
                  <a:lnTo>
                    <a:pt x="735989" y="864177"/>
                  </a:lnTo>
                  <a:lnTo>
                    <a:pt x="697067" y="887846"/>
                  </a:lnTo>
                  <a:lnTo>
                    <a:pt x="655803" y="907744"/>
                  </a:lnTo>
                  <a:lnTo>
                    <a:pt x="612432" y="923634"/>
                  </a:lnTo>
                  <a:lnTo>
                    <a:pt x="567193" y="935279"/>
                  </a:lnTo>
                  <a:lnTo>
                    <a:pt x="520323" y="942440"/>
                  </a:lnTo>
                  <a:lnTo>
                    <a:pt x="472059" y="944879"/>
                  </a:lnTo>
                  <a:lnTo>
                    <a:pt x="423794" y="942440"/>
                  </a:lnTo>
                  <a:lnTo>
                    <a:pt x="376924" y="935279"/>
                  </a:lnTo>
                  <a:lnTo>
                    <a:pt x="331685" y="923634"/>
                  </a:lnTo>
                  <a:lnTo>
                    <a:pt x="288314" y="907744"/>
                  </a:lnTo>
                  <a:lnTo>
                    <a:pt x="247050" y="887846"/>
                  </a:lnTo>
                  <a:lnTo>
                    <a:pt x="208128" y="864177"/>
                  </a:lnTo>
                  <a:lnTo>
                    <a:pt x="171787" y="836977"/>
                  </a:lnTo>
                  <a:lnTo>
                    <a:pt x="138264" y="806481"/>
                  </a:lnTo>
                  <a:lnTo>
                    <a:pt x="107797" y="772929"/>
                  </a:lnTo>
                  <a:lnTo>
                    <a:pt x="80621" y="736557"/>
                  </a:lnTo>
                  <a:lnTo>
                    <a:pt x="56976" y="697604"/>
                  </a:lnTo>
                  <a:lnTo>
                    <a:pt x="37097" y="656308"/>
                  </a:lnTo>
                  <a:lnTo>
                    <a:pt x="21223" y="612905"/>
                  </a:lnTo>
                  <a:lnTo>
                    <a:pt x="9590" y="567634"/>
                  </a:lnTo>
                  <a:lnTo>
                    <a:pt x="2437" y="520733"/>
                  </a:lnTo>
                  <a:lnTo>
                    <a:pt x="0" y="472439"/>
                  </a:lnTo>
                  <a:close/>
                </a:path>
              </a:pathLst>
            </a:custGeom>
            <a:ln w="25146">
              <a:solidFill>
                <a:srgbClr val="4AACC5"/>
              </a:solidFill>
            </a:ln>
          </p:spPr>
          <p:txBody>
            <a:bodyPr wrap="square" lIns="0" tIns="0" rIns="0" bIns="0" rtlCol="0"/>
            <a:lstStyle/>
            <a:p>
              <a:endParaRPr/>
            </a:p>
          </p:txBody>
        </p:sp>
        <p:sp>
          <p:nvSpPr>
            <p:cNvPr id="10" name="object 10"/>
            <p:cNvSpPr/>
            <p:nvPr/>
          </p:nvSpPr>
          <p:spPr>
            <a:xfrm>
              <a:off x="1292732" y="2714625"/>
              <a:ext cx="7016750" cy="755650"/>
            </a:xfrm>
            <a:custGeom>
              <a:avLst/>
              <a:gdLst/>
              <a:ahLst/>
              <a:cxnLst/>
              <a:rect l="l" t="t" r="r" b="b"/>
              <a:pathLst>
                <a:path w="7016750" h="755650">
                  <a:moveTo>
                    <a:pt x="7016496" y="0"/>
                  </a:moveTo>
                  <a:lnTo>
                    <a:pt x="0" y="0"/>
                  </a:lnTo>
                  <a:lnTo>
                    <a:pt x="0" y="755141"/>
                  </a:lnTo>
                  <a:lnTo>
                    <a:pt x="7016496" y="755141"/>
                  </a:lnTo>
                  <a:lnTo>
                    <a:pt x="7016496" y="0"/>
                  </a:lnTo>
                  <a:close/>
                </a:path>
              </a:pathLst>
            </a:custGeom>
            <a:solidFill>
              <a:srgbClr val="46D771"/>
            </a:solidFill>
          </p:spPr>
          <p:txBody>
            <a:bodyPr wrap="square" lIns="0" tIns="0" rIns="0" bIns="0" rtlCol="0"/>
            <a:lstStyle/>
            <a:p>
              <a:endParaRPr/>
            </a:p>
          </p:txBody>
        </p:sp>
        <p:sp>
          <p:nvSpPr>
            <p:cNvPr id="11" name="object 11"/>
            <p:cNvSpPr/>
            <p:nvPr/>
          </p:nvSpPr>
          <p:spPr>
            <a:xfrm>
              <a:off x="1292732" y="2714625"/>
              <a:ext cx="7016750" cy="755650"/>
            </a:xfrm>
            <a:custGeom>
              <a:avLst/>
              <a:gdLst/>
              <a:ahLst/>
              <a:cxnLst/>
              <a:rect l="l" t="t" r="r" b="b"/>
              <a:pathLst>
                <a:path w="7016750" h="755650">
                  <a:moveTo>
                    <a:pt x="0" y="755141"/>
                  </a:moveTo>
                  <a:lnTo>
                    <a:pt x="7016496" y="755141"/>
                  </a:lnTo>
                  <a:lnTo>
                    <a:pt x="7016496" y="0"/>
                  </a:lnTo>
                  <a:lnTo>
                    <a:pt x="0" y="0"/>
                  </a:lnTo>
                  <a:lnTo>
                    <a:pt x="0" y="755141"/>
                  </a:lnTo>
                  <a:close/>
                </a:path>
              </a:pathLst>
            </a:custGeom>
            <a:ln w="25145">
              <a:solidFill>
                <a:srgbClr val="FFFFFF"/>
              </a:solidFill>
            </a:ln>
          </p:spPr>
          <p:txBody>
            <a:bodyPr wrap="square" lIns="0" tIns="0" rIns="0" bIns="0" rtlCol="0"/>
            <a:lstStyle/>
            <a:p>
              <a:endParaRPr/>
            </a:p>
          </p:txBody>
        </p:sp>
        <p:sp>
          <p:nvSpPr>
            <p:cNvPr id="12" name="object 12"/>
            <p:cNvSpPr/>
            <p:nvPr/>
          </p:nvSpPr>
          <p:spPr>
            <a:xfrm>
              <a:off x="820293" y="2620136"/>
              <a:ext cx="944880" cy="944244"/>
            </a:xfrm>
            <a:custGeom>
              <a:avLst/>
              <a:gdLst/>
              <a:ahLst/>
              <a:cxnLst/>
              <a:rect l="l" t="t" r="r" b="b"/>
              <a:pathLst>
                <a:path w="944880" h="944245">
                  <a:moveTo>
                    <a:pt x="472440" y="0"/>
                  </a:moveTo>
                  <a:lnTo>
                    <a:pt x="424135" y="2436"/>
                  </a:lnTo>
                  <a:lnTo>
                    <a:pt x="377226" y="9589"/>
                  </a:lnTo>
                  <a:lnTo>
                    <a:pt x="331950" y="21221"/>
                  </a:lnTo>
                  <a:lnTo>
                    <a:pt x="288544" y="37093"/>
                  </a:lnTo>
                  <a:lnTo>
                    <a:pt x="247247" y="56970"/>
                  </a:lnTo>
                  <a:lnTo>
                    <a:pt x="208294" y="80614"/>
                  </a:lnTo>
                  <a:lnTo>
                    <a:pt x="171924" y="107788"/>
                  </a:lnTo>
                  <a:lnTo>
                    <a:pt x="138374" y="138255"/>
                  </a:lnTo>
                  <a:lnTo>
                    <a:pt x="107882" y="171777"/>
                  </a:lnTo>
                  <a:lnTo>
                    <a:pt x="80685" y="208117"/>
                  </a:lnTo>
                  <a:lnTo>
                    <a:pt x="57020" y="247038"/>
                  </a:lnTo>
                  <a:lnTo>
                    <a:pt x="37126" y="288303"/>
                  </a:lnTo>
                  <a:lnTo>
                    <a:pt x="21239" y="331675"/>
                  </a:lnTo>
                  <a:lnTo>
                    <a:pt x="9598" y="376916"/>
                  </a:lnTo>
                  <a:lnTo>
                    <a:pt x="2439" y="423790"/>
                  </a:lnTo>
                  <a:lnTo>
                    <a:pt x="0" y="472059"/>
                  </a:lnTo>
                  <a:lnTo>
                    <a:pt x="2439" y="520327"/>
                  </a:lnTo>
                  <a:lnTo>
                    <a:pt x="9598" y="567201"/>
                  </a:lnTo>
                  <a:lnTo>
                    <a:pt x="21239" y="612442"/>
                  </a:lnTo>
                  <a:lnTo>
                    <a:pt x="37126" y="655814"/>
                  </a:lnTo>
                  <a:lnTo>
                    <a:pt x="57020" y="697079"/>
                  </a:lnTo>
                  <a:lnTo>
                    <a:pt x="80685" y="736000"/>
                  </a:lnTo>
                  <a:lnTo>
                    <a:pt x="107882" y="772340"/>
                  </a:lnTo>
                  <a:lnTo>
                    <a:pt x="138374" y="805862"/>
                  </a:lnTo>
                  <a:lnTo>
                    <a:pt x="171924" y="836329"/>
                  </a:lnTo>
                  <a:lnTo>
                    <a:pt x="208294" y="863503"/>
                  </a:lnTo>
                  <a:lnTo>
                    <a:pt x="247247" y="887147"/>
                  </a:lnTo>
                  <a:lnTo>
                    <a:pt x="288544" y="907024"/>
                  </a:lnTo>
                  <a:lnTo>
                    <a:pt x="331950" y="922896"/>
                  </a:lnTo>
                  <a:lnTo>
                    <a:pt x="377226" y="934528"/>
                  </a:lnTo>
                  <a:lnTo>
                    <a:pt x="424135" y="941681"/>
                  </a:lnTo>
                  <a:lnTo>
                    <a:pt x="472440" y="944118"/>
                  </a:lnTo>
                  <a:lnTo>
                    <a:pt x="520733" y="941681"/>
                  </a:lnTo>
                  <a:lnTo>
                    <a:pt x="567634" y="934528"/>
                  </a:lnTo>
                  <a:lnTo>
                    <a:pt x="612905" y="922896"/>
                  </a:lnTo>
                  <a:lnTo>
                    <a:pt x="656308" y="907024"/>
                  </a:lnTo>
                  <a:lnTo>
                    <a:pt x="697604" y="887147"/>
                  </a:lnTo>
                  <a:lnTo>
                    <a:pt x="736557" y="863503"/>
                  </a:lnTo>
                  <a:lnTo>
                    <a:pt x="772929" y="836329"/>
                  </a:lnTo>
                  <a:lnTo>
                    <a:pt x="806481" y="805862"/>
                  </a:lnTo>
                  <a:lnTo>
                    <a:pt x="836977" y="772340"/>
                  </a:lnTo>
                  <a:lnTo>
                    <a:pt x="864177" y="736000"/>
                  </a:lnTo>
                  <a:lnTo>
                    <a:pt x="887846" y="697079"/>
                  </a:lnTo>
                  <a:lnTo>
                    <a:pt x="907744" y="655814"/>
                  </a:lnTo>
                  <a:lnTo>
                    <a:pt x="923634" y="612442"/>
                  </a:lnTo>
                  <a:lnTo>
                    <a:pt x="935279" y="567201"/>
                  </a:lnTo>
                  <a:lnTo>
                    <a:pt x="942440" y="520327"/>
                  </a:lnTo>
                  <a:lnTo>
                    <a:pt x="944880" y="472059"/>
                  </a:lnTo>
                  <a:lnTo>
                    <a:pt x="942440" y="423790"/>
                  </a:lnTo>
                  <a:lnTo>
                    <a:pt x="935279" y="376916"/>
                  </a:lnTo>
                  <a:lnTo>
                    <a:pt x="923634" y="331675"/>
                  </a:lnTo>
                  <a:lnTo>
                    <a:pt x="907744" y="288303"/>
                  </a:lnTo>
                  <a:lnTo>
                    <a:pt x="887846" y="247038"/>
                  </a:lnTo>
                  <a:lnTo>
                    <a:pt x="864177" y="208117"/>
                  </a:lnTo>
                  <a:lnTo>
                    <a:pt x="836977" y="171777"/>
                  </a:lnTo>
                  <a:lnTo>
                    <a:pt x="806481" y="138255"/>
                  </a:lnTo>
                  <a:lnTo>
                    <a:pt x="772929" y="107788"/>
                  </a:lnTo>
                  <a:lnTo>
                    <a:pt x="736557" y="80614"/>
                  </a:lnTo>
                  <a:lnTo>
                    <a:pt x="697604" y="56970"/>
                  </a:lnTo>
                  <a:lnTo>
                    <a:pt x="656308" y="37093"/>
                  </a:lnTo>
                  <a:lnTo>
                    <a:pt x="612905" y="21221"/>
                  </a:lnTo>
                  <a:lnTo>
                    <a:pt x="567634" y="9589"/>
                  </a:lnTo>
                  <a:lnTo>
                    <a:pt x="520733" y="2436"/>
                  </a:lnTo>
                  <a:lnTo>
                    <a:pt x="472440" y="0"/>
                  </a:lnTo>
                  <a:close/>
                </a:path>
              </a:pathLst>
            </a:custGeom>
            <a:solidFill>
              <a:srgbClr val="FFFFFF"/>
            </a:solidFill>
          </p:spPr>
          <p:txBody>
            <a:bodyPr wrap="square" lIns="0" tIns="0" rIns="0" bIns="0" rtlCol="0"/>
            <a:lstStyle/>
            <a:p>
              <a:endParaRPr/>
            </a:p>
          </p:txBody>
        </p:sp>
        <p:sp>
          <p:nvSpPr>
            <p:cNvPr id="13" name="object 13"/>
            <p:cNvSpPr/>
            <p:nvPr/>
          </p:nvSpPr>
          <p:spPr>
            <a:xfrm>
              <a:off x="820293" y="2620136"/>
              <a:ext cx="944880" cy="944244"/>
            </a:xfrm>
            <a:custGeom>
              <a:avLst/>
              <a:gdLst/>
              <a:ahLst/>
              <a:cxnLst/>
              <a:rect l="l" t="t" r="r" b="b"/>
              <a:pathLst>
                <a:path w="944880" h="944245">
                  <a:moveTo>
                    <a:pt x="0" y="472059"/>
                  </a:moveTo>
                  <a:lnTo>
                    <a:pt x="2439" y="423790"/>
                  </a:lnTo>
                  <a:lnTo>
                    <a:pt x="9598" y="376916"/>
                  </a:lnTo>
                  <a:lnTo>
                    <a:pt x="21239" y="331675"/>
                  </a:lnTo>
                  <a:lnTo>
                    <a:pt x="37126" y="288303"/>
                  </a:lnTo>
                  <a:lnTo>
                    <a:pt x="57020" y="247038"/>
                  </a:lnTo>
                  <a:lnTo>
                    <a:pt x="80685" y="208117"/>
                  </a:lnTo>
                  <a:lnTo>
                    <a:pt x="107882" y="171777"/>
                  </a:lnTo>
                  <a:lnTo>
                    <a:pt x="138374" y="138255"/>
                  </a:lnTo>
                  <a:lnTo>
                    <a:pt x="171924" y="107788"/>
                  </a:lnTo>
                  <a:lnTo>
                    <a:pt x="208294" y="80614"/>
                  </a:lnTo>
                  <a:lnTo>
                    <a:pt x="247247" y="56970"/>
                  </a:lnTo>
                  <a:lnTo>
                    <a:pt x="288544" y="37093"/>
                  </a:lnTo>
                  <a:lnTo>
                    <a:pt x="331950" y="21221"/>
                  </a:lnTo>
                  <a:lnTo>
                    <a:pt x="377226" y="9589"/>
                  </a:lnTo>
                  <a:lnTo>
                    <a:pt x="424135" y="2436"/>
                  </a:lnTo>
                  <a:lnTo>
                    <a:pt x="472440" y="0"/>
                  </a:lnTo>
                  <a:lnTo>
                    <a:pt x="520733" y="2436"/>
                  </a:lnTo>
                  <a:lnTo>
                    <a:pt x="567634" y="9589"/>
                  </a:lnTo>
                  <a:lnTo>
                    <a:pt x="612905" y="21221"/>
                  </a:lnTo>
                  <a:lnTo>
                    <a:pt x="656308" y="37093"/>
                  </a:lnTo>
                  <a:lnTo>
                    <a:pt x="697604" y="56970"/>
                  </a:lnTo>
                  <a:lnTo>
                    <a:pt x="736557" y="80614"/>
                  </a:lnTo>
                  <a:lnTo>
                    <a:pt x="772929" y="107788"/>
                  </a:lnTo>
                  <a:lnTo>
                    <a:pt x="806481" y="138255"/>
                  </a:lnTo>
                  <a:lnTo>
                    <a:pt x="836977" y="171777"/>
                  </a:lnTo>
                  <a:lnTo>
                    <a:pt x="864177" y="208117"/>
                  </a:lnTo>
                  <a:lnTo>
                    <a:pt x="887846" y="247038"/>
                  </a:lnTo>
                  <a:lnTo>
                    <a:pt x="907744" y="288303"/>
                  </a:lnTo>
                  <a:lnTo>
                    <a:pt x="923634" y="331675"/>
                  </a:lnTo>
                  <a:lnTo>
                    <a:pt x="935279" y="376916"/>
                  </a:lnTo>
                  <a:lnTo>
                    <a:pt x="942440" y="423790"/>
                  </a:lnTo>
                  <a:lnTo>
                    <a:pt x="944880" y="472059"/>
                  </a:lnTo>
                  <a:lnTo>
                    <a:pt x="942440" y="520327"/>
                  </a:lnTo>
                  <a:lnTo>
                    <a:pt x="935279" y="567201"/>
                  </a:lnTo>
                  <a:lnTo>
                    <a:pt x="923634" y="612442"/>
                  </a:lnTo>
                  <a:lnTo>
                    <a:pt x="907744" y="655814"/>
                  </a:lnTo>
                  <a:lnTo>
                    <a:pt x="887846" y="697079"/>
                  </a:lnTo>
                  <a:lnTo>
                    <a:pt x="864177" y="736000"/>
                  </a:lnTo>
                  <a:lnTo>
                    <a:pt x="836977" y="772340"/>
                  </a:lnTo>
                  <a:lnTo>
                    <a:pt x="806481" y="805862"/>
                  </a:lnTo>
                  <a:lnTo>
                    <a:pt x="772929" y="836329"/>
                  </a:lnTo>
                  <a:lnTo>
                    <a:pt x="736557" y="863503"/>
                  </a:lnTo>
                  <a:lnTo>
                    <a:pt x="697604" y="887147"/>
                  </a:lnTo>
                  <a:lnTo>
                    <a:pt x="656308" y="907024"/>
                  </a:lnTo>
                  <a:lnTo>
                    <a:pt x="612905" y="922896"/>
                  </a:lnTo>
                  <a:lnTo>
                    <a:pt x="567634" y="934528"/>
                  </a:lnTo>
                  <a:lnTo>
                    <a:pt x="520733" y="941681"/>
                  </a:lnTo>
                  <a:lnTo>
                    <a:pt x="472440" y="944118"/>
                  </a:lnTo>
                  <a:lnTo>
                    <a:pt x="424135" y="941681"/>
                  </a:lnTo>
                  <a:lnTo>
                    <a:pt x="377226" y="934528"/>
                  </a:lnTo>
                  <a:lnTo>
                    <a:pt x="331950" y="922896"/>
                  </a:lnTo>
                  <a:lnTo>
                    <a:pt x="288544" y="907024"/>
                  </a:lnTo>
                  <a:lnTo>
                    <a:pt x="247247" y="887147"/>
                  </a:lnTo>
                  <a:lnTo>
                    <a:pt x="208294" y="863503"/>
                  </a:lnTo>
                  <a:lnTo>
                    <a:pt x="171924" y="836329"/>
                  </a:lnTo>
                  <a:lnTo>
                    <a:pt x="138374" y="805862"/>
                  </a:lnTo>
                  <a:lnTo>
                    <a:pt x="107882" y="772340"/>
                  </a:lnTo>
                  <a:lnTo>
                    <a:pt x="80685" y="736000"/>
                  </a:lnTo>
                  <a:lnTo>
                    <a:pt x="57020" y="697079"/>
                  </a:lnTo>
                  <a:lnTo>
                    <a:pt x="37126" y="655814"/>
                  </a:lnTo>
                  <a:lnTo>
                    <a:pt x="21239" y="612442"/>
                  </a:lnTo>
                  <a:lnTo>
                    <a:pt x="9598" y="567201"/>
                  </a:lnTo>
                  <a:lnTo>
                    <a:pt x="2439" y="520327"/>
                  </a:lnTo>
                  <a:lnTo>
                    <a:pt x="0" y="472059"/>
                  </a:lnTo>
                  <a:close/>
                </a:path>
              </a:pathLst>
            </a:custGeom>
            <a:ln w="25146">
              <a:solidFill>
                <a:srgbClr val="46D771"/>
              </a:solidFill>
            </a:ln>
          </p:spPr>
          <p:txBody>
            <a:bodyPr wrap="square" lIns="0" tIns="0" rIns="0" bIns="0" rtlCol="0"/>
            <a:lstStyle/>
            <a:p>
              <a:endParaRPr/>
            </a:p>
          </p:txBody>
        </p:sp>
        <p:sp>
          <p:nvSpPr>
            <p:cNvPr id="14" name="object 14"/>
            <p:cNvSpPr/>
            <p:nvPr/>
          </p:nvSpPr>
          <p:spPr>
            <a:xfrm>
              <a:off x="1292732" y="3848480"/>
              <a:ext cx="7016750" cy="755650"/>
            </a:xfrm>
            <a:custGeom>
              <a:avLst/>
              <a:gdLst/>
              <a:ahLst/>
              <a:cxnLst/>
              <a:rect l="l" t="t" r="r" b="b"/>
              <a:pathLst>
                <a:path w="7016750" h="755650">
                  <a:moveTo>
                    <a:pt x="7016496" y="0"/>
                  </a:moveTo>
                  <a:lnTo>
                    <a:pt x="0" y="0"/>
                  </a:lnTo>
                  <a:lnTo>
                    <a:pt x="0" y="755142"/>
                  </a:lnTo>
                  <a:lnTo>
                    <a:pt x="7016496" y="755142"/>
                  </a:lnTo>
                  <a:lnTo>
                    <a:pt x="7016496" y="0"/>
                  </a:lnTo>
                  <a:close/>
                </a:path>
              </a:pathLst>
            </a:custGeom>
            <a:solidFill>
              <a:srgbClr val="ACE946"/>
            </a:solidFill>
          </p:spPr>
          <p:txBody>
            <a:bodyPr wrap="square" lIns="0" tIns="0" rIns="0" bIns="0" rtlCol="0"/>
            <a:lstStyle/>
            <a:p>
              <a:endParaRPr/>
            </a:p>
          </p:txBody>
        </p:sp>
        <p:sp>
          <p:nvSpPr>
            <p:cNvPr id="15" name="object 15"/>
            <p:cNvSpPr/>
            <p:nvPr/>
          </p:nvSpPr>
          <p:spPr>
            <a:xfrm>
              <a:off x="1292732" y="3848480"/>
              <a:ext cx="7016750" cy="755650"/>
            </a:xfrm>
            <a:custGeom>
              <a:avLst/>
              <a:gdLst/>
              <a:ahLst/>
              <a:cxnLst/>
              <a:rect l="l" t="t" r="r" b="b"/>
              <a:pathLst>
                <a:path w="7016750" h="755650">
                  <a:moveTo>
                    <a:pt x="0" y="755142"/>
                  </a:moveTo>
                  <a:lnTo>
                    <a:pt x="7016496" y="755142"/>
                  </a:lnTo>
                  <a:lnTo>
                    <a:pt x="7016496" y="0"/>
                  </a:lnTo>
                  <a:lnTo>
                    <a:pt x="0" y="0"/>
                  </a:lnTo>
                  <a:lnTo>
                    <a:pt x="0" y="755142"/>
                  </a:lnTo>
                  <a:close/>
                </a:path>
              </a:pathLst>
            </a:custGeom>
            <a:ln w="25146">
              <a:solidFill>
                <a:srgbClr val="FFFFFF"/>
              </a:solidFill>
            </a:ln>
          </p:spPr>
          <p:txBody>
            <a:bodyPr wrap="square" lIns="0" tIns="0" rIns="0" bIns="0" rtlCol="0"/>
            <a:lstStyle/>
            <a:p>
              <a:endParaRPr/>
            </a:p>
          </p:txBody>
        </p:sp>
        <p:sp>
          <p:nvSpPr>
            <p:cNvPr id="16" name="object 16"/>
            <p:cNvSpPr/>
            <p:nvPr/>
          </p:nvSpPr>
          <p:spPr>
            <a:xfrm>
              <a:off x="820293" y="3753992"/>
              <a:ext cx="944880" cy="944244"/>
            </a:xfrm>
            <a:custGeom>
              <a:avLst/>
              <a:gdLst/>
              <a:ahLst/>
              <a:cxnLst/>
              <a:rect l="l" t="t" r="r" b="b"/>
              <a:pathLst>
                <a:path w="944880" h="944245">
                  <a:moveTo>
                    <a:pt x="472440" y="0"/>
                  </a:moveTo>
                  <a:lnTo>
                    <a:pt x="424135" y="2436"/>
                  </a:lnTo>
                  <a:lnTo>
                    <a:pt x="377226" y="9589"/>
                  </a:lnTo>
                  <a:lnTo>
                    <a:pt x="331950" y="21221"/>
                  </a:lnTo>
                  <a:lnTo>
                    <a:pt x="288544" y="37093"/>
                  </a:lnTo>
                  <a:lnTo>
                    <a:pt x="247247" y="56970"/>
                  </a:lnTo>
                  <a:lnTo>
                    <a:pt x="208294" y="80614"/>
                  </a:lnTo>
                  <a:lnTo>
                    <a:pt x="171924" y="107788"/>
                  </a:lnTo>
                  <a:lnTo>
                    <a:pt x="138374" y="138255"/>
                  </a:lnTo>
                  <a:lnTo>
                    <a:pt x="107882" y="171777"/>
                  </a:lnTo>
                  <a:lnTo>
                    <a:pt x="80685" y="208117"/>
                  </a:lnTo>
                  <a:lnTo>
                    <a:pt x="57020" y="247038"/>
                  </a:lnTo>
                  <a:lnTo>
                    <a:pt x="37126" y="288303"/>
                  </a:lnTo>
                  <a:lnTo>
                    <a:pt x="21239" y="331675"/>
                  </a:lnTo>
                  <a:lnTo>
                    <a:pt x="9598" y="376916"/>
                  </a:lnTo>
                  <a:lnTo>
                    <a:pt x="2439" y="423790"/>
                  </a:lnTo>
                  <a:lnTo>
                    <a:pt x="0" y="472059"/>
                  </a:lnTo>
                  <a:lnTo>
                    <a:pt x="2439" y="520327"/>
                  </a:lnTo>
                  <a:lnTo>
                    <a:pt x="9598" y="567201"/>
                  </a:lnTo>
                  <a:lnTo>
                    <a:pt x="21239" y="612442"/>
                  </a:lnTo>
                  <a:lnTo>
                    <a:pt x="37126" y="655814"/>
                  </a:lnTo>
                  <a:lnTo>
                    <a:pt x="57020" y="697079"/>
                  </a:lnTo>
                  <a:lnTo>
                    <a:pt x="80685" y="736000"/>
                  </a:lnTo>
                  <a:lnTo>
                    <a:pt x="107882" y="772340"/>
                  </a:lnTo>
                  <a:lnTo>
                    <a:pt x="138374" y="805862"/>
                  </a:lnTo>
                  <a:lnTo>
                    <a:pt x="171924" y="836329"/>
                  </a:lnTo>
                  <a:lnTo>
                    <a:pt x="208294" y="863503"/>
                  </a:lnTo>
                  <a:lnTo>
                    <a:pt x="247247" y="887147"/>
                  </a:lnTo>
                  <a:lnTo>
                    <a:pt x="288544" y="907024"/>
                  </a:lnTo>
                  <a:lnTo>
                    <a:pt x="331950" y="922896"/>
                  </a:lnTo>
                  <a:lnTo>
                    <a:pt x="377226" y="934528"/>
                  </a:lnTo>
                  <a:lnTo>
                    <a:pt x="424135" y="941681"/>
                  </a:lnTo>
                  <a:lnTo>
                    <a:pt x="472440" y="944118"/>
                  </a:lnTo>
                  <a:lnTo>
                    <a:pt x="520733" y="941681"/>
                  </a:lnTo>
                  <a:lnTo>
                    <a:pt x="567634" y="934528"/>
                  </a:lnTo>
                  <a:lnTo>
                    <a:pt x="612905" y="922896"/>
                  </a:lnTo>
                  <a:lnTo>
                    <a:pt x="656308" y="907024"/>
                  </a:lnTo>
                  <a:lnTo>
                    <a:pt x="697604" y="887147"/>
                  </a:lnTo>
                  <a:lnTo>
                    <a:pt x="736557" y="863503"/>
                  </a:lnTo>
                  <a:lnTo>
                    <a:pt x="772929" y="836329"/>
                  </a:lnTo>
                  <a:lnTo>
                    <a:pt x="806481" y="805862"/>
                  </a:lnTo>
                  <a:lnTo>
                    <a:pt x="836977" y="772340"/>
                  </a:lnTo>
                  <a:lnTo>
                    <a:pt x="864177" y="736000"/>
                  </a:lnTo>
                  <a:lnTo>
                    <a:pt x="887846" y="697079"/>
                  </a:lnTo>
                  <a:lnTo>
                    <a:pt x="907744" y="655814"/>
                  </a:lnTo>
                  <a:lnTo>
                    <a:pt x="923634" y="612442"/>
                  </a:lnTo>
                  <a:lnTo>
                    <a:pt x="935279" y="567201"/>
                  </a:lnTo>
                  <a:lnTo>
                    <a:pt x="942440" y="520327"/>
                  </a:lnTo>
                  <a:lnTo>
                    <a:pt x="944880" y="472059"/>
                  </a:lnTo>
                  <a:lnTo>
                    <a:pt x="942440" y="423790"/>
                  </a:lnTo>
                  <a:lnTo>
                    <a:pt x="935279" y="376916"/>
                  </a:lnTo>
                  <a:lnTo>
                    <a:pt x="923634" y="331675"/>
                  </a:lnTo>
                  <a:lnTo>
                    <a:pt x="907744" y="288303"/>
                  </a:lnTo>
                  <a:lnTo>
                    <a:pt x="887846" y="247038"/>
                  </a:lnTo>
                  <a:lnTo>
                    <a:pt x="864177" y="208117"/>
                  </a:lnTo>
                  <a:lnTo>
                    <a:pt x="836977" y="171777"/>
                  </a:lnTo>
                  <a:lnTo>
                    <a:pt x="806481" y="138255"/>
                  </a:lnTo>
                  <a:lnTo>
                    <a:pt x="772929" y="107788"/>
                  </a:lnTo>
                  <a:lnTo>
                    <a:pt x="736557" y="80614"/>
                  </a:lnTo>
                  <a:lnTo>
                    <a:pt x="697604" y="56970"/>
                  </a:lnTo>
                  <a:lnTo>
                    <a:pt x="656308" y="37093"/>
                  </a:lnTo>
                  <a:lnTo>
                    <a:pt x="612905" y="21221"/>
                  </a:lnTo>
                  <a:lnTo>
                    <a:pt x="567634" y="9589"/>
                  </a:lnTo>
                  <a:lnTo>
                    <a:pt x="520733" y="2436"/>
                  </a:lnTo>
                  <a:lnTo>
                    <a:pt x="472440" y="0"/>
                  </a:lnTo>
                  <a:close/>
                </a:path>
              </a:pathLst>
            </a:custGeom>
            <a:solidFill>
              <a:srgbClr val="FFFFFF"/>
            </a:solidFill>
          </p:spPr>
          <p:txBody>
            <a:bodyPr wrap="square" lIns="0" tIns="0" rIns="0" bIns="0" rtlCol="0"/>
            <a:lstStyle/>
            <a:p>
              <a:endParaRPr/>
            </a:p>
          </p:txBody>
        </p:sp>
        <p:sp>
          <p:nvSpPr>
            <p:cNvPr id="17" name="object 17"/>
            <p:cNvSpPr/>
            <p:nvPr/>
          </p:nvSpPr>
          <p:spPr>
            <a:xfrm>
              <a:off x="820293" y="3753992"/>
              <a:ext cx="944880" cy="944244"/>
            </a:xfrm>
            <a:custGeom>
              <a:avLst/>
              <a:gdLst/>
              <a:ahLst/>
              <a:cxnLst/>
              <a:rect l="l" t="t" r="r" b="b"/>
              <a:pathLst>
                <a:path w="944880" h="944245">
                  <a:moveTo>
                    <a:pt x="0" y="472059"/>
                  </a:moveTo>
                  <a:lnTo>
                    <a:pt x="2439" y="423790"/>
                  </a:lnTo>
                  <a:lnTo>
                    <a:pt x="9598" y="376916"/>
                  </a:lnTo>
                  <a:lnTo>
                    <a:pt x="21239" y="331675"/>
                  </a:lnTo>
                  <a:lnTo>
                    <a:pt x="37126" y="288303"/>
                  </a:lnTo>
                  <a:lnTo>
                    <a:pt x="57020" y="247038"/>
                  </a:lnTo>
                  <a:lnTo>
                    <a:pt x="80685" y="208117"/>
                  </a:lnTo>
                  <a:lnTo>
                    <a:pt x="107882" y="171777"/>
                  </a:lnTo>
                  <a:lnTo>
                    <a:pt x="138374" y="138255"/>
                  </a:lnTo>
                  <a:lnTo>
                    <a:pt x="171924" y="107788"/>
                  </a:lnTo>
                  <a:lnTo>
                    <a:pt x="208294" y="80614"/>
                  </a:lnTo>
                  <a:lnTo>
                    <a:pt x="247247" y="56970"/>
                  </a:lnTo>
                  <a:lnTo>
                    <a:pt x="288544" y="37093"/>
                  </a:lnTo>
                  <a:lnTo>
                    <a:pt x="331950" y="21221"/>
                  </a:lnTo>
                  <a:lnTo>
                    <a:pt x="377226" y="9589"/>
                  </a:lnTo>
                  <a:lnTo>
                    <a:pt x="424135" y="2436"/>
                  </a:lnTo>
                  <a:lnTo>
                    <a:pt x="472440" y="0"/>
                  </a:lnTo>
                  <a:lnTo>
                    <a:pt x="520733" y="2436"/>
                  </a:lnTo>
                  <a:lnTo>
                    <a:pt x="567634" y="9589"/>
                  </a:lnTo>
                  <a:lnTo>
                    <a:pt x="612905" y="21221"/>
                  </a:lnTo>
                  <a:lnTo>
                    <a:pt x="656308" y="37093"/>
                  </a:lnTo>
                  <a:lnTo>
                    <a:pt x="697604" y="56970"/>
                  </a:lnTo>
                  <a:lnTo>
                    <a:pt x="736557" y="80614"/>
                  </a:lnTo>
                  <a:lnTo>
                    <a:pt x="772929" y="107788"/>
                  </a:lnTo>
                  <a:lnTo>
                    <a:pt x="806481" y="138255"/>
                  </a:lnTo>
                  <a:lnTo>
                    <a:pt x="836977" y="171777"/>
                  </a:lnTo>
                  <a:lnTo>
                    <a:pt x="864177" y="208117"/>
                  </a:lnTo>
                  <a:lnTo>
                    <a:pt x="887846" y="247038"/>
                  </a:lnTo>
                  <a:lnTo>
                    <a:pt x="907744" y="288303"/>
                  </a:lnTo>
                  <a:lnTo>
                    <a:pt x="923634" y="331675"/>
                  </a:lnTo>
                  <a:lnTo>
                    <a:pt x="935279" y="376916"/>
                  </a:lnTo>
                  <a:lnTo>
                    <a:pt x="942440" y="423790"/>
                  </a:lnTo>
                  <a:lnTo>
                    <a:pt x="944880" y="472059"/>
                  </a:lnTo>
                  <a:lnTo>
                    <a:pt x="942440" y="520327"/>
                  </a:lnTo>
                  <a:lnTo>
                    <a:pt x="935279" y="567201"/>
                  </a:lnTo>
                  <a:lnTo>
                    <a:pt x="923634" y="612442"/>
                  </a:lnTo>
                  <a:lnTo>
                    <a:pt x="907744" y="655814"/>
                  </a:lnTo>
                  <a:lnTo>
                    <a:pt x="887846" y="697079"/>
                  </a:lnTo>
                  <a:lnTo>
                    <a:pt x="864177" y="736000"/>
                  </a:lnTo>
                  <a:lnTo>
                    <a:pt x="836977" y="772340"/>
                  </a:lnTo>
                  <a:lnTo>
                    <a:pt x="806481" y="805862"/>
                  </a:lnTo>
                  <a:lnTo>
                    <a:pt x="772929" y="836329"/>
                  </a:lnTo>
                  <a:lnTo>
                    <a:pt x="736557" y="863503"/>
                  </a:lnTo>
                  <a:lnTo>
                    <a:pt x="697604" y="887147"/>
                  </a:lnTo>
                  <a:lnTo>
                    <a:pt x="656308" y="907024"/>
                  </a:lnTo>
                  <a:lnTo>
                    <a:pt x="612905" y="922896"/>
                  </a:lnTo>
                  <a:lnTo>
                    <a:pt x="567634" y="934528"/>
                  </a:lnTo>
                  <a:lnTo>
                    <a:pt x="520733" y="941681"/>
                  </a:lnTo>
                  <a:lnTo>
                    <a:pt x="472440" y="944118"/>
                  </a:lnTo>
                  <a:lnTo>
                    <a:pt x="424135" y="941681"/>
                  </a:lnTo>
                  <a:lnTo>
                    <a:pt x="377226" y="934528"/>
                  </a:lnTo>
                  <a:lnTo>
                    <a:pt x="331950" y="922896"/>
                  </a:lnTo>
                  <a:lnTo>
                    <a:pt x="288544" y="907024"/>
                  </a:lnTo>
                  <a:lnTo>
                    <a:pt x="247247" y="887147"/>
                  </a:lnTo>
                  <a:lnTo>
                    <a:pt x="208294" y="863503"/>
                  </a:lnTo>
                  <a:lnTo>
                    <a:pt x="171924" y="836329"/>
                  </a:lnTo>
                  <a:lnTo>
                    <a:pt x="138374" y="805862"/>
                  </a:lnTo>
                  <a:lnTo>
                    <a:pt x="107882" y="772340"/>
                  </a:lnTo>
                  <a:lnTo>
                    <a:pt x="80685" y="736000"/>
                  </a:lnTo>
                  <a:lnTo>
                    <a:pt x="57020" y="697079"/>
                  </a:lnTo>
                  <a:lnTo>
                    <a:pt x="37126" y="655814"/>
                  </a:lnTo>
                  <a:lnTo>
                    <a:pt x="21239" y="612442"/>
                  </a:lnTo>
                  <a:lnTo>
                    <a:pt x="9598" y="567201"/>
                  </a:lnTo>
                  <a:lnTo>
                    <a:pt x="2439" y="520327"/>
                  </a:lnTo>
                  <a:lnTo>
                    <a:pt x="0" y="472059"/>
                  </a:lnTo>
                  <a:close/>
                </a:path>
              </a:pathLst>
            </a:custGeom>
            <a:ln w="25146">
              <a:solidFill>
                <a:srgbClr val="ACE946"/>
              </a:solidFill>
            </a:ln>
          </p:spPr>
          <p:txBody>
            <a:bodyPr wrap="square" lIns="0" tIns="0" rIns="0" bIns="0" rtlCol="0"/>
            <a:lstStyle/>
            <a:p>
              <a:endParaRPr/>
            </a:p>
          </p:txBody>
        </p:sp>
        <p:sp>
          <p:nvSpPr>
            <p:cNvPr id="18" name="object 18"/>
            <p:cNvSpPr/>
            <p:nvPr/>
          </p:nvSpPr>
          <p:spPr>
            <a:xfrm>
              <a:off x="859154" y="4981575"/>
              <a:ext cx="7450455" cy="756285"/>
            </a:xfrm>
            <a:custGeom>
              <a:avLst/>
              <a:gdLst/>
              <a:ahLst/>
              <a:cxnLst/>
              <a:rect l="l" t="t" r="r" b="b"/>
              <a:pathLst>
                <a:path w="7450455" h="756285">
                  <a:moveTo>
                    <a:pt x="7450074" y="0"/>
                  </a:moveTo>
                  <a:lnTo>
                    <a:pt x="0" y="0"/>
                  </a:lnTo>
                  <a:lnTo>
                    <a:pt x="0" y="755904"/>
                  </a:lnTo>
                  <a:lnTo>
                    <a:pt x="7450074" y="755904"/>
                  </a:lnTo>
                  <a:lnTo>
                    <a:pt x="7450074" y="0"/>
                  </a:lnTo>
                  <a:close/>
                </a:path>
              </a:pathLst>
            </a:custGeom>
            <a:solidFill>
              <a:srgbClr val="F79546"/>
            </a:solidFill>
          </p:spPr>
          <p:txBody>
            <a:bodyPr wrap="square" lIns="0" tIns="0" rIns="0" bIns="0" rtlCol="0"/>
            <a:lstStyle/>
            <a:p>
              <a:endParaRPr/>
            </a:p>
          </p:txBody>
        </p:sp>
        <p:sp>
          <p:nvSpPr>
            <p:cNvPr id="19" name="object 19"/>
            <p:cNvSpPr/>
            <p:nvPr/>
          </p:nvSpPr>
          <p:spPr>
            <a:xfrm>
              <a:off x="859154" y="4981575"/>
              <a:ext cx="7450455" cy="756285"/>
            </a:xfrm>
            <a:custGeom>
              <a:avLst/>
              <a:gdLst/>
              <a:ahLst/>
              <a:cxnLst/>
              <a:rect l="l" t="t" r="r" b="b"/>
              <a:pathLst>
                <a:path w="7450455" h="756285">
                  <a:moveTo>
                    <a:pt x="0" y="755904"/>
                  </a:moveTo>
                  <a:lnTo>
                    <a:pt x="7450074" y="755904"/>
                  </a:lnTo>
                  <a:lnTo>
                    <a:pt x="7450074" y="0"/>
                  </a:lnTo>
                  <a:lnTo>
                    <a:pt x="0" y="0"/>
                  </a:lnTo>
                  <a:lnTo>
                    <a:pt x="0" y="755904"/>
                  </a:lnTo>
                  <a:close/>
                </a:path>
              </a:pathLst>
            </a:custGeom>
            <a:ln w="25146">
              <a:solidFill>
                <a:srgbClr val="FFFFFF"/>
              </a:solidFill>
            </a:ln>
          </p:spPr>
          <p:txBody>
            <a:bodyPr wrap="square" lIns="0" tIns="0" rIns="0" bIns="0" rtlCol="0"/>
            <a:lstStyle/>
            <a:p>
              <a:endParaRPr/>
            </a:p>
          </p:txBody>
        </p:sp>
      </p:grpSp>
      <p:sp>
        <p:nvSpPr>
          <p:cNvPr id="20" name="object 20"/>
          <p:cNvSpPr txBox="1"/>
          <p:nvPr/>
        </p:nvSpPr>
        <p:spPr>
          <a:xfrm>
            <a:off x="1446022" y="2828036"/>
            <a:ext cx="6763384" cy="2756535"/>
          </a:xfrm>
          <a:prstGeom prst="rect">
            <a:avLst/>
          </a:prstGeom>
        </p:spPr>
        <p:txBody>
          <a:bodyPr vert="horz" wrap="square" lIns="0" tIns="40005" rIns="0" bIns="0" rtlCol="0">
            <a:spAutoFit/>
          </a:bodyPr>
          <a:lstStyle/>
          <a:p>
            <a:pPr marL="445770" marR="140970">
              <a:lnSpc>
                <a:spcPts val="1730"/>
              </a:lnSpc>
              <a:spcBef>
                <a:spcPts val="315"/>
              </a:spcBef>
            </a:pPr>
            <a:r>
              <a:rPr sz="1600" dirty="0">
                <a:latin typeface="Goudy Old Style"/>
                <a:cs typeface="Goudy Old Style"/>
              </a:rPr>
              <a:t>Can be </a:t>
            </a:r>
            <a:r>
              <a:rPr sz="1600" spc="-5" dirty="0">
                <a:latin typeface="Goudy Old Style"/>
                <a:cs typeface="Goudy Old Style"/>
              </a:rPr>
              <a:t>used </a:t>
            </a:r>
            <a:r>
              <a:rPr sz="1600" spc="-10" dirty="0">
                <a:latin typeface="Goudy Old Style"/>
                <a:cs typeface="Goudy Old Style"/>
              </a:rPr>
              <a:t>to store </a:t>
            </a:r>
            <a:r>
              <a:rPr sz="1600" spc="-5" dirty="0">
                <a:latin typeface="Goudy Old Style"/>
                <a:cs typeface="Goudy Old Style"/>
              </a:rPr>
              <a:t>and </a:t>
            </a:r>
            <a:r>
              <a:rPr sz="1600" dirty="0">
                <a:latin typeface="Goudy Old Style"/>
                <a:cs typeface="Goudy Old Style"/>
              </a:rPr>
              <a:t>manage data using </a:t>
            </a:r>
            <a:r>
              <a:rPr sz="1600" spc="-5" dirty="0">
                <a:latin typeface="Goudy Old Style"/>
                <a:cs typeface="Goudy Old Style"/>
              </a:rPr>
              <a:t>queries and other functions </a:t>
            </a:r>
            <a:r>
              <a:rPr sz="1600" dirty="0">
                <a:latin typeface="Goudy Old Style"/>
                <a:cs typeface="Goudy Old Style"/>
              </a:rPr>
              <a:t>that  </a:t>
            </a:r>
            <a:r>
              <a:rPr sz="1600" spc="-10" dirty="0">
                <a:latin typeface="Goudy Old Style"/>
                <a:cs typeface="Goudy Old Style"/>
              </a:rPr>
              <a:t>are </a:t>
            </a:r>
            <a:r>
              <a:rPr sz="1600" spc="-5" dirty="0">
                <a:latin typeface="Goudy Old Style"/>
                <a:cs typeface="Goudy Old Style"/>
              </a:rPr>
              <a:t>similar </a:t>
            </a:r>
            <a:r>
              <a:rPr sz="1600" spc="-10" dirty="0">
                <a:latin typeface="Goudy Old Style"/>
                <a:cs typeface="Goudy Old Style"/>
              </a:rPr>
              <a:t>to </a:t>
            </a:r>
            <a:r>
              <a:rPr sz="1600" dirty="0">
                <a:latin typeface="Goudy Old Style"/>
                <a:cs typeface="Goudy Old Style"/>
              </a:rPr>
              <a:t>SQL </a:t>
            </a:r>
            <a:r>
              <a:rPr sz="1600" spc="5" dirty="0">
                <a:latin typeface="Goudy Old Style"/>
                <a:cs typeface="Goudy Old Style"/>
              </a:rPr>
              <a:t>Server</a:t>
            </a:r>
            <a:r>
              <a:rPr sz="1600" spc="-20" dirty="0">
                <a:latin typeface="Goudy Old Style"/>
                <a:cs typeface="Goudy Old Style"/>
              </a:rPr>
              <a:t> </a:t>
            </a:r>
            <a:r>
              <a:rPr sz="1600" spc="-35" dirty="0">
                <a:latin typeface="Goudy Old Style"/>
                <a:cs typeface="Goudy Old Style"/>
              </a:rPr>
              <a:t>2019.</a:t>
            </a:r>
            <a:endParaRPr sz="1600">
              <a:latin typeface="Goudy Old Style"/>
              <a:cs typeface="Goudy Old Style"/>
            </a:endParaRPr>
          </a:p>
          <a:p>
            <a:pPr>
              <a:lnSpc>
                <a:spcPct val="100000"/>
              </a:lnSpc>
            </a:pPr>
            <a:endParaRPr sz="1800">
              <a:latin typeface="Goudy Old Style"/>
              <a:cs typeface="Goudy Old Style"/>
            </a:endParaRPr>
          </a:p>
          <a:p>
            <a:pPr>
              <a:lnSpc>
                <a:spcPct val="100000"/>
              </a:lnSpc>
              <a:spcBef>
                <a:spcPts val="40"/>
              </a:spcBef>
            </a:pPr>
            <a:endParaRPr sz="2000">
              <a:latin typeface="Goudy Old Style"/>
              <a:cs typeface="Goudy Old Style"/>
            </a:endParaRPr>
          </a:p>
          <a:p>
            <a:pPr marL="445770" marR="5080">
              <a:lnSpc>
                <a:spcPts val="1730"/>
              </a:lnSpc>
              <a:spcBef>
                <a:spcPts val="5"/>
              </a:spcBef>
            </a:pPr>
            <a:r>
              <a:rPr sz="1600" spc="-5" dirty="0">
                <a:latin typeface="Goudy Old Style"/>
                <a:cs typeface="Goudy Old Style"/>
              </a:rPr>
              <a:t>Enables </a:t>
            </a:r>
            <a:r>
              <a:rPr sz="1600" dirty="0">
                <a:latin typeface="Goudy Old Style"/>
                <a:cs typeface="Goudy Old Style"/>
              </a:rPr>
              <a:t>users </a:t>
            </a:r>
            <a:r>
              <a:rPr sz="1600" spc="-5" dirty="0">
                <a:latin typeface="Goudy Old Style"/>
                <a:cs typeface="Goudy Old Style"/>
              </a:rPr>
              <a:t>to perform relational </a:t>
            </a:r>
            <a:r>
              <a:rPr sz="1600" spc="-10" dirty="0">
                <a:latin typeface="Goudy Old Style"/>
                <a:cs typeface="Goudy Old Style"/>
              </a:rPr>
              <a:t>queries, search </a:t>
            </a:r>
            <a:r>
              <a:rPr sz="1600" spc="-5" dirty="0">
                <a:latin typeface="Goudy Old Style"/>
                <a:cs typeface="Goudy Old Style"/>
              </a:rPr>
              <a:t>operations, and </a:t>
            </a:r>
            <a:r>
              <a:rPr sz="1600" spc="-10" dirty="0">
                <a:latin typeface="Goudy Old Style"/>
                <a:cs typeface="Goudy Old Style"/>
              </a:rPr>
              <a:t>synchronize  </a:t>
            </a:r>
            <a:r>
              <a:rPr sz="1600" dirty="0">
                <a:latin typeface="Goudy Old Style"/>
                <a:cs typeface="Goudy Old Style"/>
              </a:rPr>
              <a:t>data </a:t>
            </a:r>
            <a:r>
              <a:rPr sz="1600" spc="-5" dirty="0">
                <a:latin typeface="Goudy Old Style"/>
                <a:cs typeface="Goudy Old Style"/>
              </a:rPr>
              <a:t>with </a:t>
            </a:r>
            <a:r>
              <a:rPr sz="1600" dirty="0">
                <a:latin typeface="Goudy Old Style"/>
                <a:cs typeface="Goudy Old Style"/>
              </a:rPr>
              <a:t>mobile </a:t>
            </a:r>
            <a:r>
              <a:rPr sz="1600" spc="-5" dirty="0">
                <a:latin typeface="Goudy Old Style"/>
                <a:cs typeface="Goudy Old Style"/>
              </a:rPr>
              <a:t>users and </a:t>
            </a:r>
            <a:r>
              <a:rPr sz="1600" spc="-10" dirty="0">
                <a:latin typeface="Goudy Old Style"/>
                <a:cs typeface="Goudy Old Style"/>
              </a:rPr>
              <a:t>remote </a:t>
            </a:r>
            <a:r>
              <a:rPr sz="1600" spc="-5" dirty="0">
                <a:latin typeface="Goudy Old Style"/>
                <a:cs typeface="Goudy Old Style"/>
              </a:rPr>
              <a:t>back </a:t>
            </a:r>
            <a:r>
              <a:rPr sz="1600" spc="5" dirty="0">
                <a:latin typeface="Goudy Old Style"/>
                <a:cs typeface="Goudy Old Style"/>
              </a:rPr>
              <a:t>offices. </a:t>
            </a:r>
            <a:r>
              <a:rPr sz="1600" spc="-10" dirty="0">
                <a:latin typeface="Goudy Old Style"/>
                <a:cs typeface="Goudy Old Style"/>
              </a:rPr>
              <a:t>Azure </a:t>
            </a:r>
            <a:r>
              <a:rPr sz="1600" dirty="0">
                <a:latin typeface="Goudy Old Style"/>
                <a:cs typeface="Goudy Old Style"/>
              </a:rPr>
              <a:t>SQL can </a:t>
            </a:r>
            <a:r>
              <a:rPr sz="1600" spc="-10" dirty="0">
                <a:latin typeface="Goudy Old Style"/>
                <a:cs typeface="Goudy Old Style"/>
              </a:rPr>
              <a:t>store </a:t>
            </a:r>
            <a:r>
              <a:rPr sz="1600" spc="-5" dirty="0">
                <a:latin typeface="Goudy Old Style"/>
                <a:cs typeface="Goudy Old Style"/>
              </a:rPr>
              <a:t>and  </a:t>
            </a:r>
            <a:r>
              <a:rPr sz="1600" spc="-10" dirty="0">
                <a:latin typeface="Goudy Old Style"/>
                <a:cs typeface="Goudy Old Style"/>
              </a:rPr>
              <a:t>retrieve </a:t>
            </a:r>
            <a:r>
              <a:rPr sz="1600" spc="-5" dirty="0">
                <a:latin typeface="Goudy Old Style"/>
                <a:cs typeface="Goudy Old Style"/>
              </a:rPr>
              <a:t>both structured and unstructured</a:t>
            </a:r>
            <a:r>
              <a:rPr sz="1600" spc="-50" dirty="0">
                <a:latin typeface="Goudy Old Style"/>
                <a:cs typeface="Goudy Old Style"/>
              </a:rPr>
              <a:t> </a:t>
            </a:r>
            <a:r>
              <a:rPr sz="1600" dirty="0">
                <a:latin typeface="Goudy Old Style"/>
                <a:cs typeface="Goudy Old Style"/>
              </a:rPr>
              <a:t>data.</a:t>
            </a:r>
            <a:endParaRPr sz="1600">
              <a:latin typeface="Goudy Old Style"/>
              <a:cs typeface="Goudy Old Style"/>
            </a:endParaRPr>
          </a:p>
          <a:p>
            <a:pPr>
              <a:lnSpc>
                <a:spcPct val="100000"/>
              </a:lnSpc>
            </a:pPr>
            <a:endParaRPr sz="1800">
              <a:latin typeface="Goudy Old Style"/>
              <a:cs typeface="Goudy Old Style"/>
            </a:endParaRPr>
          </a:p>
          <a:p>
            <a:pPr>
              <a:lnSpc>
                <a:spcPct val="100000"/>
              </a:lnSpc>
              <a:spcBef>
                <a:spcPts val="40"/>
              </a:spcBef>
            </a:pPr>
            <a:endParaRPr sz="2000">
              <a:latin typeface="Goudy Old Style"/>
              <a:cs typeface="Goudy Old Style"/>
            </a:endParaRPr>
          </a:p>
          <a:p>
            <a:pPr marL="12700" marR="346075">
              <a:lnSpc>
                <a:spcPts val="1730"/>
              </a:lnSpc>
            </a:pPr>
            <a:r>
              <a:rPr sz="1600" dirty="0">
                <a:latin typeface="Goudy Old Style"/>
                <a:cs typeface="Goudy Old Style"/>
              </a:rPr>
              <a:t>Can </a:t>
            </a:r>
            <a:r>
              <a:rPr sz="1600" spc="-5" dirty="0">
                <a:latin typeface="Goudy Old Style"/>
                <a:cs typeface="Goudy Old Style"/>
              </a:rPr>
              <a:t>also </a:t>
            </a:r>
            <a:r>
              <a:rPr sz="1600" dirty="0">
                <a:latin typeface="Goudy Old Style"/>
                <a:cs typeface="Goudy Old Style"/>
              </a:rPr>
              <a:t>be </a:t>
            </a:r>
            <a:r>
              <a:rPr sz="1600" spc="-5" dirty="0">
                <a:latin typeface="Goudy Old Style"/>
                <a:cs typeface="Goudy Old Style"/>
              </a:rPr>
              <a:t>used in collaboration </a:t>
            </a:r>
            <a:r>
              <a:rPr sz="1600" dirty="0">
                <a:latin typeface="Goudy Old Style"/>
                <a:cs typeface="Goudy Old Style"/>
              </a:rPr>
              <a:t>with </a:t>
            </a:r>
            <a:r>
              <a:rPr sz="1600" spc="-5" dirty="0">
                <a:latin typeface="Goudy Old Style"/>
                <a:cs typeface="Goudy Old Style"/>
              </a:rPr>
              <a:t>other </a:t>
            </a:r>
            <a:r>
              <a:rPr sz="1600" spc="-10" dirty="0">
                <a:latin typeface="Goudy Old Style"/>
                <a:cs typeface="Goudy Old Style"/>
              </a:rPr>
              <a:t>Azure </a:t>
            </a:r>
            <a:r>
              <a:rPr sz="1600" spc="-5" dirty="0">
                <a:latin typeface="Goudy Old Style"/>
                <a:cs typeface="Goudy Old Style"/>
              </a:rPr>
              <a:t>applications, through </a:t>
            </a:r>
            <a:r>
              <a:rPr sz="1600" dirty="0">
                <a:latin typeface="Goudy Old Style"/>
                <a:cs typeface="Goudy Old Style"/>
              </a:rPr>
              <a:t>Visual  Studio</a:t>
            </a:r>
            <a:r>
              <a:rPr sz="1600" spc="-20" dirty="0">
                <a:latin typeface="Goudy Old Style"/>
                <a:cs typeface="Goudy Old Style"/>
              </a:rPr>
              <a:t> </a:t>
            </a:r>
            <a:r>
              <a:rPr sz="1600" spc="-5" dirty="0">
                <a:latin typeface="Goudy Old Style"/>
                <a:cs typeface="Goudy Old Style"/>
              </a:rPr>
              <a:t>IDE.</a:t>
            </a:r>
            <a:endParaRPr sz="1600">
              <a:latin typeface="Goudy Old Style"/>
              <a:cs typeface="Goudy Old Style"/>
            </a:endParaRPr>
          </a:p>
        </p:txBody>
      </p:sp>
      <p:grpSp>
        <p:nvGrpSpPr>
          <p:cNvPr id="21" name="object 21"/>
          <p:cNvGrpSpPr/>
          <p:nvPr/>
        </p:nvGrpSpPr>
        <p:grpSpPr>
          <a:xfrm>
            <a:off x="374904" y="4874514"/>
            <a:ext cx="969644" cy="970280"/>
            <a:chOff x="374904" y="4874514"/>
            <a:chExt cx="969644" cy="970280"/>
          </a:xfrm>
        </p:grpSpPr>
        <p:sp>
          <p:nvSpPr>
            <p:cNvPr id="22" name="object 22"/>
            <p:cNvSpPr/>
            <p:nvPr/>
          </p:nvSpPr>
          <p:spPr>
            <a:xfrm>
              <a:off x="387477" y="4887087"/>
              <a:ext cx="944244" cy="944880"/>
            </a:xfrm>
            <a:custGeom>
              <a:avLst/>
              <a:gdLst/>
              <a:ahLst/>
              <a:cxnLst/>
              <a:rect l="l" t="t" r="r" b="b"/>
              <a:pathLst>
                <a:path w="944244" h="944879">
                  <a:moveTo>
                    <a:pt x="472059" y="0"/>
                  </a:moveTo>
                  <a:lnTo>
                    <a:pt x="423794" y="2438"/>
                  </a:lnTo>
                  <a:lnTo>
                    <a:pt x="376924" y="9595"/>
                  </a:lnTo>
                  <a:lnTo>
                    <a:pt x="331685" y="21234"/>
                  </a:lnTo>
                  <a:lnTo>
                    <a:pt x="288314" y="37117"/>
                  </a:lnTo>
                  <a:lnTo>
                    <a:pt x="247050" y="57008"/>
                  </a:lnTo>
                  <a:lnTo>
                    <a:pt x="208128" y="80668"/>
                  </a:lnTo>
                  <a:lnTo>
                    <a:pt x="171787" y="107861"/>
                  </a:lnTo>
                  <a:lnTo>
                    <a:pt x="138264" y="138350"/>
                  </a:lnTo>
                  <a:lnTo>
                    <a:pt x="107797" y="171897"/>
                  </a:lnTo>
                  <a:lnTo>
                    <a:pt x="80621" y="208266"/>
                  </a:lnTo>
                  <a:lnTo>
                    <a:pt x="56976" y="247218"/>
                  </a:lnTo>
                  <a:lnTo>
                    <a:pt x="37097" y="288518"/>
                  </a:lnTo>
                  <a:lnTo>
                    <a:pt x="21223" y="331927"/>
                  </a:lnTo>
                  <a:lnTo>
                    <a:pt x="9590" y="377208"/>
                  </a:lnTo>
                  <a:lnTo>
                    <a:pt x="2437" y="424125"/>
                  </a:lnTo>
                  <a:lnTo>
                    <a:pt x="0" y="472440"/>
                  </a:lnTo>
                  <a:lnTo>
                    <a:pt x="2437" y="520744"/>
                  </a:lnTo>
                  <a:lnTo>
                    <a:pt x="9590" y="567653"/>
                  </a:lnTo>
                  <a:lnTo>
                    <a:pt x="21223" y="612929"/>
                  </a:lnTo>
                  <a:lnTo>
                    <a:pt x="37097" y="656335"/>
                  </a:lnTo>
                  <a:lnTo>
                    <a:pt x="56976" y="697632"/>
                  </a:lnTo>
                  <a:lnTo>
                    <a:pt x="80621" y="736585"/>
                  </a:lnTo>
                  <a:lnTo>
                    <a:pt x="107797" y="772955"/>
                  </a:lnTo>
                  <a:lnTo>
                    <a:pt x="138264" y="806505"/>
                  </a:lnTo>
                  <a:lnTo>
                    <a:pt x="171787" y="836997"/>
                  </a:lnTo>
                  <a:lnTo>
                    <a:pt x="208128" y="864194"/>
                  </a:lnTo>
                  <a:lnTo>
                    <a:pt x="247050" y="887859"/>
                  </a:lnTo>
                  <a:lnTo>
                    <a:pt x="288314" y="907753"/>
                  </a:lnTo>
                  <a:lnTo>
                    <a:pt x="331685" y="923640"/>
                  </a:lnTo>
                  <a:lnTo>
                    <a:pt x="376924" y="935281"/>
                  </a:lnTo>
                  <a:lnTo>
                    <a:pt x="423794" y="942440"/>
                  </a:lnTo>
                  <a:lnTo>
                    <a:pt x="472059" y="944880"/>
                  </a:lnTo>
                  <a:lnTo>
                    <a:pt x="520323" y="942440"/>
                  </a:lnTo>
                  <a:lnTo>
                    <a:pt x="567193" y="935281"/>
                  </a:lnTo>
                  <a:lnTo>
                    <a:pt x="612432" y="923640"/>
                  </a:lnTo>
                  <a:lnTo>
                    <a:pt x="655803" y="907753"/>
                  </a:lnTo>
                  <a:lnTo>
                    <a:pt x="697067" y="887859"/>
                  </a:lnTo>
                  <a:lnTo>
                    <a:pt x="735989" y="864194"/>
                  </a:lnTo>
                  <a:lnTo>
                    <a:pt x="772330" y="836997"/>
                  </a:lnTo>
                  <a:lnTo>
                    <a:pt x="805853" y="806505"/>
                  </a:lnTo>
                  <a:lnTo>
                    <a:pt x="836320" y="772955"/>
                  </a:lnTo>
                  <a:lnTo>
                    <a:pt x="863496" y="736585"/>
                  </a:lnTo>
                  <a:lnTo>
                    <a:pt x="887141" y="697632"/>
                  </a:lnTo>
                  <a:lnTo>
                    <a:pt x="907020" y="656335"/>
                  </a:lnTo>
                  <a:lnTo>
                    <a:pt x="922894" y="612929"/>
                  </a:lnTo>
                  <a:lnTo>
                    <a:pt x="934527" y="567653"/>
                  </a:lnTo>
                  <a:lnTo>
                    <a:pt x="941680" y="520744"/>
                  </a:lnTo>
                  <a:lnTo>
                    <a:pt x="944118" y="472440"/>
                  </a:lnTo>
                  <a:lnTo>
                    <a:pt x="941680" y="424125"/>
                  </a:lnTo>
                  <a:lnTo>
                    <a:pt x="934527" y="377208"/>
                  </a:lnTo>
                  <a:lnTo>
                    <a:pt x="922894" y="331927"/>
                  </a:lnTo>
                  <a:lnTo>
                    <a:pt x="907020" y="288518"/>
                  </a:lnTo>
                  <a:lnTo>
                    <a:pt x="887141" y="247218"/>
                  </a:lnTo>
                  <a:lnTo>
                    <a:pt x="863496" y="208266"/>
                  </a:lnTo>
                  <a:lnTo>
                    <a:pt x="836320" y="171897"/>
                  </a:lnTo>
                  <a:lnTo>
                    <a:pt x="805853" y="138350"/>
                  </a:lnTo>
                  <a:lnTo>
                    <a:pt x="772330" y="107861"/>
                  </a:lnTo>
                  <a:lnTo>
                    <a:pt x="735989" y="80668"/>
                  </a:lnTo>
                  <a:lnTo>
                    <a:pt x="697067" y="57008"/>
                  </a:lnTo>
                  <a:lnTo>
                    <a:pt x="655803" y="37117"/>
                  </a:lnTo>
                  <a:lnTo>
                    <a:pt x="612432" y="21234"/>
                  </a:lnTo>
                  <a:lnTo>
                    <a:pt x="567193" y="9595"/>
                  </a:lnTo>
                  <a:lnTo>
                    <a:pt x="520323" y="2438"/>
                  </a:lnTo>
                  <a:lnTo>
                    <a:pt x="472059" y="0"/>
                  </a:lnTo>
                  <a:close/>
                </a:path>
              </a:pathLst>
            </a:custGeom>
            <a:solidFill>
              <a:srgbClr val="FFFFFF"/>
            </a:solidFill>
          </p:spPr>
          <p:txBody>
            <a:bodyPr wrap="square" lIns="0" tIns="0" rIns="0" bIns="0" rtlCol="0"/>
            <a:lstStyle/>
            <a:p>
              <a:endParaRPr/>
            </a:p>
          </p:txBody>
        </p:sp>
        <p:sp>
          <p:nvSpPr>
            <p:cNvPr id="23" name="object 23"/>
            <p:cNvSpPr/>
            <p:nvPr/>
          </p:nvSpPr>
          <p:spPr>
            <a:xfrm>
              <a:off x="387477" y="4887087"/>
              <a:ext cx="944244" cy="944880"/>
            </a:xfrm>
            <a:custGeom>
              <a:avLst/>
              <a:gdLst/>
              <a:ahLst/>
              <a:cxnLst/>
              <a:rect l="l" t="t" r="r" b="b"/>
              <a:pathLst>
                <a:path w="944244" h="944879">
                  <a:moveTo>
                    <a:pt x="0" y="472440"/>
                  </a:moveTo>
                  <a:lnTo>
                    <a:pt x="2437" y="424125"/>
                  </a:lnTo>
                  <a:lnTo>
                    <a:pt x="9590" y="377208"/>
                  </a:lnTo>
                  <a:lnTo>
                    <a:pt x="21223" y="331927"/>
                  </a:lnTo>
                  <a:lnTo>
                    <a:pt x="37097" y="288518"/>
                  </a:lnTo>
                  <a:lnTo>
                    <a:pt x="56976" y="247218"/>
                  </a:lnTo>
                  <a:lnTo>
                    <a:pt x="80621" y="208266"/>
                  </a:lnTo>
                  <a:lnTo>
                    <a:pt x="107797" y="171897"/>
                  </a:lnTo>
                  <a:lnTo>
                    <a:pt x="138264" y="138350"/>
                  </a:lnTo>
                  <a:lnTo>
                    <a:pt x="171787" y="107861"/>
                  </a:lnTo>
                  <a:lnTo>
                    <a:pt x="208128" y="80668"/>
                  </a:lnTo>
                  <a:lnTo>
                    <a:pt x="247050" y="57008"/>
                  </a:lnTo>
                  <a:lnTo>
                    <a:pt x="288314" y="37117"/>
                  </a:lnTo>
                  <a:lnTo>
                    <a:pt x="331685" y="21234"/>
                  </a:lnTo>
                  <a:lnTo>
                    <a:pt x="376924" y="9595"/>
                  </a:lnTo>
                  <a:lnTo>
                    <a:pt x="423794" y="2438"/>
                  </a:lnTo>
                  <a:lnTo>
                    <a:pt x="472059" y="0"/>
                  </a:lnTo>
                  <a:lnTo>
                    <a:pt x="520323" y="2438"/>
                  </a:lnTo>
                  <a:lnTo>
                    <a:pt x="567193" y="9595"/>
                  </a:lnTo>
                  <a:lnTo>
                    <a:pt x="612432" y="21234"/>
                  </a:lnTo>
                  <a:lnTo>
                    <a:pt x="655803" y="37117"/>
                  </a:lnTo>
                  <a:lnTo>
                    <a:pt x="697067" y="57008"/>
                  </a:lnTo>
                  <a:lnTo>
                    <a:pt x="735989" y="80668"/>
                  </a:lnTo>
                  <a:lnTo>
                    <a:pt x="772330" y="107861"/>
                  </a:lnTo>
                  <a:lnTo>
                    <a:pt x="805853" y="138350"/>
                  </a:lnTo>
                  <a:lnTo>
                    <a:pt x="836320" y="171897"/>
                  </a:lnTo>
                  <a:lnTo>
                    <a:pt x="863496" y="208266"/>
                  </a:lnTo>
                  <a:lnTo>
                    <a:pt x="887141" y="247218"/>
                  </a:lnTo>
                  <a:lnTo>
                    <a:pt x="907020" y="288518"/>
                  </a:lnTo>
                  <a:lnTo>
                    <a:pt x="922894" y="331927"/>
                  </a:lnTo>
                  <a:lnTo>
                    <a:pt x="934527" y="377208"/>
                  </a:lnTo>
                  <a:lnTo>
                    <a:pt x="941680" y="424125"/>
                  </a:lnTo>
                  <a:lnTo>
                    <a:pt x="944118" y="472440"/>
                  </a:lnTo>
                  <a:lnTo>
                    <a:pt x="941680" y="520744"/>
                  </a:lnTo>
                  <a:lnTo>
                    <a:pt x="934527" y="567653"/>
                  </a:lnTo>
                  <a:lnTo>
                    <a:pt x="922894" y="612929"/>
                  </a:lnTo>
                  <a:lnTo>
                    <a:pt x="907020" y="656335"/>
                  </a:lnTo>
                  <a:lnTo>
                    <a:pt x="887141" y="697632"/>
                  </a:lnTo>
                  <a:lnTo>
                    <a:pt x="863496" y="736585"/>
                  </a:lnTo>
                  <a:lnTo>
                    <a:pt x="836320" y="772955"/>
                  </a:lnTo>
                  <a:lnTo>
                    <a:pt x="805853" y="806505"/>
                  </a:lnTo>
                  <a:lnTo>
                    <a:pt x="772330" y="836997"/>
                  </a:lnTo>
                  <a:lnTo>
                    <a:pt x="735989" y="864194"/>
                  </a:lnTo>
                  <a:lnTo>
                    <a:pt x="697067" y="887859"/>
                  </a:lnTo>
                  <a:lnTo>
                    <a:pt x="655803" y="907753"/>
                  </a:lnTo>
                  <a:lnTo>
                    <a:pt x="612432" y="923640"/>
                  </a:lnTo>
                  <a:lnTo>
                    <a:pt x="567193" y="935281"/>
                  </a:lnTo>
                  <a:lnTo>
                    <a:pt x="520323" y="942440"/>
                  </a:lnTo>
                  <a:lnTo>
                    <a:pt x="472059" y="944880"/>
                  </a:lnTo>
                  <a:lnTo>
                    <a:pt x="423794" y="942440"/>
                  </a:lnTo>
                  <a:lnTo>
                    <a:pt x="376924" y="935281"/>
                  </a:lnTo>
                  <a:lnTo>
                    <a:pt x="331685" y="923640"/>
                  </a:lnTo>
                  <a:lnTo>
                    <a:pt x="288314" y="907753"/>
                  </a:lnTo>
                  <a:lnTo>
                    <a:pt x="247050" y="887859"/>
                  </a:lnTo>
                  <a:lnTo>
                    <a:pt x="208128" y="864194"/>
                  </a:lnTo>
                  <a:lnTo>
                    <a:pt x="171787" y="836997"/>
                  </a:lnTo>
                  <a:lnTo>
                    <a:pt x="138264" y="806505"/>
                  </a:lnTo>
                  <a:lnTo>
                    <a:pt x="107797" y="772955"/>
                  </a:lnTo>
                  <a:lnTo>
                    <a:pt x="80621" y="736585"/>
                  </a:lnTo>
                  <a:lnTo>
                    <a:pt x="56976" y="697632"/>
                  </a:lnTo>
                  <a:lnTo>
                    <a:pt x="37097" y="656335"/>
                  </a:lnTo>
                  <a:lnTo>
                    <a:pt x="21223" y="612929"/>
                  </a:lnTo>
                  <a:lnTo>
                    <a:pt x="9590" y="567653"/>
                  </a:lnTo>
                  <a:lnTo>
                    <a:pt x="2437" y="520744"/>
                  </a:lnTo>
                  <a:lnTo>
                    <a:pt x="0" y="472440"/>
                  </a:lnTo>
                  <a:close/>
                </a:path>
              </a:pathLst>
            </a:custGeom>
            <a:ln w="25146">
              <a:solidFill>
                <a:srgbClr val="F79546"/>
              </a:solidFill>
            </a:ln>
          </p:spPr>
          <p:txBody>
            <a:bodyPr wrap="square" lIns="0" tIns="0" rIns="0" bIns="0" rtlCol="0"/>
            <a:lstStyle/>
            <a:p>
              <a:endParaRPr/>
            </a:p>
          </p:txBody>
        </p:sp>
      </p:grpSp>
      <p:sp>
        <p:nvSpPr>
          <p:cNvPr id="24" name="object 24"/>
          <p:cNvSpPr txBox="1">
            <a:spLocks noGrp="1"/>
          </p:cNvSpPr>
          <p:nvPr>
            <p:ph type="title"/>
          </p:nvPr>
        </p:nvSpPr>
        <p:spPr>
          <a:xfrm>
            <a:off x="383540" y="15493"/>
            <a:ext cx="3216910" cy="635635"/>
          </a:xfrm>
          <a:prstGeom prst="rect">
            <a:avLst/>
          </a:prstGeom>
        </p:spPr>
        <p:txBody>
          <a:bodyPr vert="horz" wrap="square" lIns="0" tIns="12700" rIns="0" bIns="0" rtlCol="0">
            <a:spAutoFit/>
          </a:bodyPr>
          <a:lstStyle/>
          <a:p>
            <a:pPr marL="12700">
              <a:lnSpc>
                <a:spcPct val="100000"/>
              </a:lnSpc>
              <a:spcBef>
                <a:spcPts val="100"/>
              </a:spcBef>
            </a:pPr>
            <a:r>
              <a:rPr spc="130" dirty="0"/>
              <a:t>Azure </a:t>
            </a:r>
            <a:r>
              <a:rPr spc="195" dirty="0"/>
              <a:t>SQL</a:t>
            </a:r>
            <a:r>
              <a:rPr spc="-509" dirty="0"/>
              <a:t> </a:t>
            </a:r>
            <a:r>
              <a:rPr spc="-165" dirty="0"/>
              <a:t>2-3</a:t>
            </a:r>
          </a:p>
        </p:txBody>
      </p:sp>
      <p:sp>
        <p:nvSpPr>
          <p:cNvPr id="26" name="object 26"/>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5</a:t>
            </a:fld>
            <a:endParaRPr sz="1800" baseline="2314">
              <a:latin typeface="Times New Roman"/>
              <a:cs typeface="Times New Roman"/>
            </a:endParaRPr>
          </a:p>
        </p:txBody>
      </p:sp>
      <p:sp>
        <p:nvSpPr>
          <p:cNvPr id="28" name="object 2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3183890" cy="635635"/>
          </a:xfrm>
          <a:prstGeom prst="rect">
            <a:avLst/>
          </a:prstGeom>
        </p:spPr>
        <p:txBody>
          <a:bodyPr vert="horz" wrap="square" lIns="0" tIns="12700" rIns="0" bIns="0" rtlCol="0">
            <a:spAutoFit/>
          </a:bodyPr>
          <a:lstStyle/>
          <a:p>
            <a:pPr marL="12700">
              <a:lnSpc>
                <a:spcPct val="100000"/>
              </a:lnSpc>
              <a:spcBef>
                <a:spcPts val="100"/>
              </a:spcBef>
            </a:pPr>
            <a:r>
              <a:rPr spc="130" dirty="0"/>
              <a:t>Azure </a:t>
            </a:r>
            <a:r>
              <a:rPr spc="195" dirty="0"/>
              <a:t>SQL</a:t>
            </a:r>
            <a:r>
              <a:rPr spc="-515" dirty="0"/>
              <a:t> </a:t>
            </a:r>
            <a:r>
              <a:rPr spc="-250" dirty="0"/>
              <a:t>3-3</a:t>
            </a:r>
          </a:p>
        </p:txBody>
      </p:sp>
      <p:sp>
        <p:nvSpPr>
          <p:cNvPr id="3" name="object 3"/>
          <p:cNvSpPr txBox="1"/>
          <p:nvPr/>
        </p:nvSpPr>
        <p:spPr>
          <a:xfrm>
            <a:off x="309625" y="981964"/>
            <a:ext cx="7999095" cy="112268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Goudy Old Style"/>
                <a:cs typeface="Goudy Old Style"/>
              </a:rPr>
              <a:t>One </a:t>
            </a:r>
            <a:r>
              <a:rPr sz="1800" spc="-5" dirty="0">
                <a:latin typeface="Goudy Old Style"/>
                <a:cs typeface="Goudy Old Style"/>
              </a:rPr>
              <a:t>of </a:t>
            </a:r>
            <a:r>
              <a:rPr sz="1800" dirty="0">
                <a:latin typeface="Goudy Old Style"/>
                <a:cs typeface="Goudy Old Style"/>
              </a:rPr>
              <a:t>the </a:t>
            </a:r>
            <a:r>
              <a:rPr sz="1800" spc="-5" dirty="0">
                <a:latin typeface="Goudy Old Style"/>
                <a:cs typeface="Goudy Old Style"/>
              </a:rPr>
              <a:t>competitors </a:t>
            </a:r>
            <a:r>
              <a:rPr sz="1800" dirty="0">
                <a:latin typeface="Goudy Old Style"/>
                <a:cs typeface="Goudy Old Style"/>
              </a:rPr>
              <a:t>to </a:t>
            </a:r>
            <a:r>
              <a:rPr sz="1800" spc="-5" dirty="0">
                <a:latin typeface="Goudy Old Style"/>
                <a:cs typeface="Goudy Old Style"/>
              </a:rPr>
              <a:t>Azure </a:t>
            </a:r>
            <a:r>
              <a:rPr sz="1800" dirty="0">
                <a:latin typeface="Goudy Old Style"/>
                <a:cs typeface="Goudy Old Style"/>
              </a:rPr>
              <a:t>SQL </a:t>
            </a:r>
            <a:r>
              <a:rPr sz="1800" spc="-5" dirty="0">
                <a:latin typeface="Goudy Old Style"/>
                <a:cs typeface="Goudy Old Style"/>
              </a:rPr>
              <a:t>is Amazon </a:t>
            </a:r>
            <a:r>
              <a:rPr sz="1800" dirty="0">
                <a:latin typeface="Goudy Old Style"/>
                <a:cs typeface="Goudy Old Style"/>
              </a:rPr>
              <a:t>Web Services </a:t>
            </a:r>
            <a:r>
              <a:rPr sz="1800" spc="-5" dirty="0">
                <a:latin typeface="Goudy Old Style"/>
                <a:cs typeface="Goudy Old Style"/>
              </a:rPr>
              <a:t>(AWS) and </a:t>
            </a:r>
            <a:r>
              <a:rPr sz="1800" dirty="0">
                <a:latin typeface="Goudy Old Style"/>
                <a:cs typeface="Goudy Old Style"/>
              </a:rPr>
              <a:t>its Relational  </a:t>
            </a:r>
            <a:r>
              <a:rPr sz="1800" spc="-5" dirty="0">
                <a:latin typeface="Goudy Old Style"/>
                <a:cs typeface="Goudy Old Style"/>
              </a:rPr>
              <a:t>Database </a:t>
            </a:r>
            <a:r>
              <a:rPr sz="1800" dirty="0">
                <a:latin typeface="Goudy Old Style"/>
                <a:cs typeface="Goudy Old Style"/>
              </a:rPr>
              <a:t>Services </a:t>
            </a:r>
            <a:r>
              <a:rPr sz="1800" spc="-5" dirty="0">
                <a:latin typeface="Goudy Old Style"/>
                <a:cs typeface="Goudy Old Style"/>
              </a:rPr>
              <a:t>(RDS) </a:t>
            </a:r>
            <a:r>
              <a:rPr sz="1800" dirty="0">
                <a:latin typeface="Goudy Old Style"/>
                <a:cs typeface="Goudy Old Style"/>
              </a:rPr>
              <a:t>product. </a:t>
            </a:r>
            <a:r>
              <a:rPr sz="1800" spc="-5" dirty="0">
                <a:latin typeface="Goudy Old Style"/>
                <a:cs typeface="Goudy Old Style"/>
              </a:rPr>
              <a:t>Azure </a:t>
            </a:r>
            <a:r>
              <a:rPr sz="1800" dirty="0">
                <a:latin typeface="Goudy Old Style"/>
                <a:cs typeface="Goudy Old Style"/>
              </a:rPr>
              <a:t>SQL is </a:t>
            </a:r>
            <a:r>
              <a:rPr sz="1800" spc="-5" dirty="0">
                <a:latin typeface="Goudy Old Style"/>
                <a:cs typeface="Goudy Old Style"/>
              </a:rPr>
              <a:t>often </a:t>
            </a:r>
            <a:r>
              <a:rPr sz="1800" dirty="0">
                <a:latin typeface="Goudy Old Style"/>
                <a:cs typeface="Goudy Old Style"/>
              </a:rPr>
              <a:t>compared to </a:t>
            </a:r>
            <a:r>
              <a:rPr sz="1800" spc="-5" dirty="0">
                <a:latin typeface="Goudy Old Style"/>
                <a:cs typeface="Goudy Old Style"/>
              </a:rPr>
              <a:t>AWS</a:t>
            </a:r>
            <a:r>
              <a:rPr sz="1800" spc="-95" dirty="0">
                <a:latin typeface="Goudy Old Style"/>
                <a:cs typeface="Goudy Old Style"/>
              </a:rPr>
              <a:t> </a:t>
            </a:r>
            <a:r>
              <a:rPr sz="1800" dirty="0">
                <a:latin typeface="Goudy Old Style"/>
                <a:cs typeface="Goudy Old Style"/>
              </a:rPr>
              <a:t>RDS.</a:t>
            </a:r>
            <a:endParaRPr sz="1800">
              <a:latin typeface="Goudy Old Style"/>
              <a:cs typeface="Goudy Old Style"/>
            </a:endParaRPr>
          </a:p>
          <a:p>
            <a:pPr>
              <a:lnSpc>
                <a:spcPct val="100000"/>
              </a:lnSpc>
              <a:spcBef>
                <a:spcPts val="55"/>
              </a:spcBef>
            </a:pPr>
            <a:endParaRPr sz="1750">
              <a:latin typeface="Goudy Old Style"/>
              <a:cs typeface="Goudy Old Style"/>
            </a:endParaRPr>
          </a:p>
          <a:p>
            <a:pPr marL="12700">
              <a:lnSpc>
                <a:spcPct val="100000"/>
              </a:lnSpc>
              <a:spcBef>
                <a:spcPts val="5"/>
              </a:spcBef>
            </a:pPr>
            <a:r>
              <a:rPr sz="1800" spc="-5" dirty="0">
                <a:latin typeface="Goudy Old Style"/>
                <a:cs typeface="Goudy Old Style"/>
              </a:rPr>
              <a:t>Azure </a:t>
            </a:r>
            <a:r>
              <a:rPr sz="1800" dirty="0">
                <a:latin typeface="Goudy Old Style"/>
                <a:cs typeface="Goudy Old Style"/>
              </a:rPr>
              <a:t>SQL</a:t>
            </a:r>
            <a:r>
              <a:rPr sz="1800" spc="-15" dirty="0">
                <a:latin typeface="Goudy Old Style"/>
                <a:cs typeface="Goudy Old Style"/>
              </a:rPr>
              <a:t> </a:t>
            </a:r>
            <a:r>
              <a:rPr sz="1800" dirty="0">
                <a:latin typeface="Goudy Old Style"/>
                <a:cs typeface="Goudy Old Style"/>
              </a:rPr>
              <a:t>is:</a:t>
            </a:r>
            <a:endParaRPr sz="1800">
              <a:latin typeface="Goudy Old Style"/>
              <a:cs typeface="Goudy Old Style"/>
            </a:endParaRPr>
          </a:p>
        </p:txBody>
      </p:sp>
      <p:pic>
        <p:nvPicPr>
          <p:cNvPr id="4" name="object 4"/>
          <p:cNvPicPr/>
          <p:nvPr/>
        </p:nvPicPr>
        <p:blipFill>
          <a:blip r:embed="rId3" cstate="print"/>
          <a:stretch>
            <a:fillRect/>
          </a:stretch>
        </p:blipFill>
        <p:spPr>
          <a:xfrm>
            <a:off x="1700783" y="2319527"/>
            <a:ext cx="5742432" cy="2218944"/>
          </a:xfrm>
          <a:prstGeom prst="rect">
            <a:avLst/>
          </a:prstGeom>
        </p:spPr>
      </p:pic>
      <p:sp>
        <p:nvSpPr>
          <p:cNvPr id="5" name="object 5"/>
          <p:cNvSpPr txBox="1"/>
          <p:nvPr/>
        </p:nvSpPr>
        <p:spPr>
          <a:xfrm>
            <a:off x="309625" y="5021579"/>
            <a:ext cx="8089265" cy="848360"/>
          </a:xfrm>
          <a:prstGeom prst="rect">
            <a:avLst/>
          </a:prstGeom>
        </p:spPr>
        <p:txBody>
          <a:bodyPr vert="horz" wrap="square" lIns="0" tIns="12700" rIns="0" bIns="0" rtlCol="0">
            <a:spAutoFit/>
          </a:bodyPr>
          <a:lstStyle/>
          <a:p>
            <a:pPr marL="298450" indent="-285750">
              <a:lnSpc>
                <a:spcPct val="100000"/>
              </a:lnSpc>
              <a:spcBef>
                <a:spcPts val="100"/>
              </a:spcBef>
              <a:buFont typeface="Arial"/>
              <a:buChar char="•"/>
              <a:tabLst>
                <a:tab pos="297815" algn="l"/>
                <a:tab pos="298450" algn="l"/>
              </a:tabLst>
            </a:pPr>
            <a:r>
              <a:rPr sz="1800" dirty="0">
                <a:latin typeface="Goudy Old Style"/>
                <a:cs typeface="Goudy Old Style"/>
              </a:rPr>
              <a:t>Both cloud based </a:t>
            </a:r>
            <a:r>
              <a:rPr sz="1800" spc="-5" dirty="0">
                <a:latin typeface="Goudy Old Style"/>
                <a:cs typeface="Goudy Old Style"/>
              </a:rPr>
              <a:t>as </a:t>
            </a:r>
            <a:r>
              <a:rPr sz="1800" dirty="0">
                <a:latin typeface="Goudy Old Style"/>
                <a:cs typeface="Goudy Old Style"/>
              </a:rPr>
              <a:t>well </a:t>
            </a:r>
            <a:r>
              <a:rPr sz="1800" spc="-5" dirty="0">
                <a:latin typeface="Goudy Old Style"/>
                <a:cs typeface="Goudy Old Style"/>
              </a:rPr>
              <a:t>as on-premises applications can use </a:t>
            </a:r>
            <a:r>
              <a:rPr sz="1800" dirty="0">
                <a:latin typeface="Goudy Old Style"/>
                <a:cs typeface="Goudy Old Style"/>
              </a:rPr>
              <a:t>the </a:t>
            </a:r>
            <a:r>
              <a:rPr sz="1800" spc="-5" dirty="0">
                <a:latin typeface="Goudy Old Style"/>
                <a:cs typeface="Goudy Old Style"/>
              </a:rPr>
              <a:t>Azure </a:t>
            </a:r>
            <a:r>
              <a:rPr sz="1800" dirty="0">
                <a:latin typeface="Goudy Old Style"/>
                <a:cs typeface="Goudy Old Style"/>
              </a:rPr>
              <a:t>SQL</a:t>
            </a:r>
            <a:r>
              <a:rPr sz="1800" spc="65" dirty="0">
                <a:latin typeface="Goudy Old Style"/>
                <a:cs typeface="Goudy Old Style"/>
              </a:rPr>
              <a:t> </a:t>
            </a:r>
            <a:r>
              <a:rPr sz="1800" spc="-10" dirty="0">
                <a:latin typeface="Goudy Old Style"/>
                <a:cs typeface="Goudy Old Style"/>
              </a:rPr>
              <a:t>database.</a:t>
            </a:r>
            <a:endParaRPr sz="1800">
              <a:latin typeface="Goudy Old Style"/>
              <a:cs typeface="Goudy Old Style"/>
            </a:endParaRPr>
          </a:p>
          <a:p>
            <a:pPr marL="298450" marR="5080" indent="-285750">
              <a:lnSpc>
                <a:spcPct val="100000"/>
              </a:lnSpc>
              <a:buFont typeface="Arial"/>
              <a:buChar char="•"/>
              <a:tabLst>
                <a:tab pos="297815" algn="l"/>
                <a:tab pos="298450" algn="l"/>
              </a:tabLst>
            </a:pPr>
            <a:r>
              <a:rPr sz="1800" spc="-5" dirty="0">
                <a:latin typeface="Goudy Old Style"/>
                <a:cs typeface="Goudy Old Style"/>
              </a:rPr>
              <a:t>Applications </a:t>
            </a:r>
            <a:r>
              <a:rPr sz="1800" dirty="0">
                <a:latin typeface="Goudy Old Style"/>
                <a:cs typeface="Goudy Old Style"/>
              </a:rPr>
              <a:t>retrieve </a:t>
            </a:r>
            <a:r>
              <a:rPr sz="1800" spc="-5" dirty="0">
                <a:latin typeface="Goudy Old Style"/>
                <a:cs typeface="Goudy Old Style"/>
              </a:rPr>
              <a:t>data from Azure </a:t>
            </a:r>
            <a:r>
              <a:rPr sz="1800" dirty="0">
                <a:latin typeface="Goudy Old Style"/>
                <a:cs typeface="Goudy Old Style"/>
              </a:rPr>
              <a:t>SQL through a protocol </a:t>
            </a:r>
            <a:r>
              <a:rPr sz="1800" spc="-5" dirty="0">
                <a:latin typeface="Goudy Old Style"/>
                <a:cs typeface="Goudy Old Style"/>
              </a:rPr>
              <a:t>known as </a:t>
            </a:r>
            <a:r>
              <a:rPr sz="1800" dirty="0">
                <a:latin typeface="Goudy Old Style"/>
                <a:cs typeface="Goudy Old Style"/>
              </a:rPr>
              <a:t>Tabular </a:t>
            </a:r>
            <a:r>
              <a:rPr sz="1800" spc="-5" dirty="0">
                <a:latin typeface="Goudy Old Style"/>
                <a:cs typeface="Goudy Old Style"/>
              </a:rPr>
              <a:t>Data  </a:t>
            </a:r>
            <a:r>
              <a:rPr sz="1800" dirty="0">
                <a:latin typeface="Goudy Old Style"/>
                <a:cs typeface="Goudy Old Style"/>
              </a:rPr>
              <a:t>Stream</a:t>
            </a:r>
            <a:r>
              <a:rPr sz="1800" spc="-20" dirty="0">
                <a:latin typeface="Goudy Old Style"/>
                <a:cs typeface="Goudy Old Style"/>
              </a:rPr>
              <a:t> </a:t>
            </a:r>
            <a:r>
              <a:rPr sz="1800" spc="-5" dirty="0">
                <a:latin typeface="Goudy Old Style"/>
                <a:cs typeface="Goudy Old Style"/>
              </a:rPr>
              <a:t>(TDS).</a:t>
            </a:r>
            <a:endParaRPr sz="1800">
              <a:latin typeface="Goudy Old Style"/>
              <a:cs typeface="Goudy Old Style"/>
            </a:endParaRPr>
          </a:p>
        </p:txBody>
      </p:sp>
      <p:sp>
        <p:nvSpPr>
          <p:cNvPr id="7" name="object 7"/>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6</a:t>
            </a:fld>
            <a:endParaRPr sz="1800" baseline="2314">
              <a:latin typeface="Times New Roman"/>
              <a:cs typeface="Times New Roman"/>
            </a:endParaRPr>
          </a:p>
        </p:txBody>
      </p:sp>
      <p:sp>
        <p:nvSpPr>
          <p:cNvPr id="9" name="object 9"/>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7027"/>
            <a:ext cx="8281670" cy="513080"/>
          </a:xfrm>
          <a:prstGeom prst="rect">
            <a:avLst/>
          </a:prstGeom>
        </p:spPr>
        <p:txBody>
          <a:bodyPr vert="horz" wrap="square" lIns="0" tIns="12065" rIns="0" bIns="0" rtlCol="0">
            <a:spAutoFit/>
          </a:bodyPr>
          <a:lstStyle/>
          <a:p>
            <a:pPr marL="12700">
              <a:lnSpc>
                <a:spcPct val="100000"/>
              </a:lnSpc>
              <a:spcBef>
                <a:spcPts val="95"/>
              </a:spcBef>
            </a:pPr>
            <a:r>
              <a:rPr sz="3200" spc="65" dirty="0"/>
              <a:t>Services</a:t>
            </a:r>
            <a:r>
              <a:rPr sz="3200" spc="-114" dirty="0"/>
              <a:t> </a:t>
            </a:r>
            <a:r>
              <a:rPr sz="3200" spc="180" dirty="0"/>
              <a:t>and</a:t>
            </a:r>
            <a:r>
              <a:rPr sz="3200" spc="-105" dirty="0"/>
              <a:t> </a:t>
            </a:r>
            <a:r>
              <a:rPr sz="3200" spc="125" dirty="0"/>
              <a:t>Products</a:t>
            </a:r>
            <a:r>
              <a:rPr sz="3200" spc="-100" dirty="0"/>
              <a:t> </a:t>
            </a:r>
            <a:r>
              <a:rPr sz="3200" spc="150" dirty="0"/>
              <a:t>in</a:t>
            </a:r>
            <a:r>
              <a:rPr sz="3200" spc="-120" dirty="0"/>
              <a:t> </a:t>
            </a:r>
            <a:r>
              <a:rPr sz="3200" spc="180" dirty="0"/>
              <a:t>the</a:t>
            </a:r>
            <a:r>
              <a:rPr sz="3200" spc="-114" dirty="0"/>
              <a:t> </a:t>
            </a:r>
            <a:r>
              <a:rPr sz="3200" spc="100" dirty="0"/>
              <a:t>Azure</a:t>
            </a:r>
            <a:r>
              <a:rPr sz="3200" spc="-110" dirty="0"/>
              <a:t> </a:t>
            </a:r>
            <a:r>
              <a:rPr sz="3200" spc="155" dirty="0"/>
              <a:t>SQL</a:t>
            </a:r>
            <a:r>
              <a:rPr sz="3200" spc="-110" dirty="0"/>
              <a:t> </a:t>
            </a:r>
            <a:r>
              <a:rPr sz="3200" spc="35" dirty="0"/>
              <a:t>Family</a:t>
            </a:r>
            <a:endParaRPr sz="3200"/>
          </a:p>
        </p:txBody>
      </p:sp>
      <p:sp>
        <p:nvSpPr>
          <p:cNvPr id="3" name="object 3"/>
          <p:cNvSpPr txBox="1"/>
          <p:nvPr/>
        </p:nvSpPr>
        <p:spPr>
          <a:xfrm>
            <a:off x="305181" y="2360295"/>
            <a:ext cx="2098675" cy="2269490"/>
          </a:xfrm>
          <a:prstGeom prst="rect">
            <a:avLst/>
          </a:prstGeom>
          <a:solidFill>
            <a:srgbClr val="E8D0D0">
              <a:alpha val="90194"/>
            </a:srgbClr>
          </a:solidFill>
          <a:ln w="9905">
            <a:solidFill>
              <a:srgbClr val="001F5F"/>
            </a:solidFill>
          </a:ln>
        </p:spPr>
        <p:txBody>
          <a:bodyPr vert="horz" wrap="square" lIns="0" tIns="55244" rIns="0" bIns="0" rtlCol="0">
            <a:spAutoFit/>
          </a:bodyPr>
          <a:lstStyle/>
          <a:p>
            <a:pPr marL="63500" marR="156210">
              <a:lnSpc>
                <a:spcPct val="90100"/>
              </a:lnSpc>
              <a:spcBef>
                <a:spcPts val="434"/>
              </a:spcBef>
            </a:pPr>
            <a:r>
              <a:rPr sz="1600" spc="-10" dirty="0">
                <a:latin typeface="Calisto MT"/>
                <a:cs typeface="Calisto MT"/>
              </a:rPr>
              <a:t>Facilitates </a:t>
            </a:r>
            <a:r>
              <a:rPr sz="1600" dirty="0">
                <a:latin typeface="Calisto MT"/>
                <a:cs typeface="Calisto MT"/>
              </a:rPr>
              <a:t>migration  of </a:t>
            </a:r>
            <a:r>
              <a:rPr sz="1600" spc="-5" dirty="0">
                <a:latin typeface="Calisto MT"/>
                <a:cs typeface="Calisto MT"/>
              </a:rPr>
              <a:t>existing apps </a:t>
            </a:r>
            <a:r>
              <a:rPr sz="1600" dirty="0">
                <a:latin typeface="Calisto MT"/>
                <a:cs typeface="Calisto MT"/>
              </a:rPr>
              <a:t>or  </a:t>
            </a:r>
            <a:r>
              <a:rPr sz="1600" spc="-5" dirty="0">
                <a:latin typeface="Calisto MT"/>
                <a:cs typeface="Calisto MT"/>
              </a:rPr>
              <a:t>building </a:t>
            </a:r>
            <a:r>
              <a:rPr sz="1600" spc="-10" dirty="0">
                <a:latin typeface="Calisto MT"/>
                <a:cs typeface="Calisto MT"/>
              </a:rPr>
              <a:t>new </a:t>
            </a:r>
            <a:r>
              <a:rPr sz="1600" spc="-5" dirty="0">
                <a:latin typeface="Calisto MT"/>
                <a:cs typeface="Calisto MT"/>
              </a:rPr>
              <a:t>apps </a:t>
            </a:r>
            <a:r>
              <a:rPr sz="1600" dirty="0">
                <a:latin typeface="Calisto MT"/>
                <a:cs typeface="Calisto MT"/>
              </a:rPr>
              <a:t>on  the </a:t>
            </a:r>
            <a:r>
              <a:rPr sz="1600" spc="-5" dirty="0">
                <a:latin typeface="Calisto MT"/>
                <a:cs typeface="Calisto MT"/>
              </a:rPr>
              <a:t>cloud </a:t>
            </a:r>
            <a:r>
              <a:rPr sz="1600" dirty="0">
                <a:latin typeface="Calisto MT"/>
                <a:cs typeface="Calisto MT"/>
              </a:rPr>
              <a:t>for </a:t>
            </a:r>
            <a:r>
              <a:rPr sz="1600" spc="-5" dirty="0">
                <a:latin typeface="Calisto MT"/>
                <a:cs typeface="Calisto MT"/>
              </a:rPr>
              <a:t>mission-  </a:t>
            </a:r>
            <a:r>
              <a:rPr sz="1600" dirty="0">
                <a:latin typeface="Calisto MT"/>
                <a:cs typeface="Calisto MT"/>
              </a:rPr>
              <a:t>critical </a:t>
            </a:r>
            <a:r>
              <a:rPr sz="1600" spc="-5" dirty="0">
                <a:latin typeface="Calisto MT"/>
                <a:cs typeface="Calisto MT"/>
              </a:rPr>
              <a:t>SQL </a:t>
            </a:r>
            <a:r>
              <a:rPr sz="1600" dirty="0">
                <a:latin typeface="Calisto MT"/>
                <a:cs typeface="Calisto MT"/>
              </a:rPr>
              <a:t>Server  </a:t>
            </a:r>
            <a:r>
              <a:rPr sz="1600" spc="-10" dirty="0">
                <a:latin typeface="Calisto MT"/>
                <a:cs typeface="Calisto MT"/>
              </a:rPr>
              <a:t>workloads.</a:t>
            </a:r>
            <a:endParaRPr sz="1600">
              <a:latin typeface="Calisto MT"/>
              <a:cs typeface="Calisto MT"/>
            </a:endParaRPr>
          </a:p>
        </p:txBody>
      </p:sp>
      <p:sp>
        <p:nvSpPr>
          <p:cNvPr id="4" name="object 4"/>
          <p:cNvSpPr txBox="1"/>
          <p:nvPr/>
        </p:nvSpPr>
        <p:spPr>
          <a:xfrm>
            <a:off x="2542413" y="2360295"/>
            <a:ext cx="2098675" cy="2269490"/>
          </a:xfrm>
          <a:prstGeom prst="rect">
            <a:avLst/>
          </a:prstGeom>
          <a:solidFill>
            <a:srgbClr val="DEE7D1">
              <a:alpha val="90194"/>
            </a:srgbClr>
          </a:solidFill>
          <a:ln w="9905">
            <a:solidFill>
              <a:srgbClr val="001F5F"/>
            </a:solidFill>
          </a:ln>
        </p:spPr>
        <p:txBody>
          <a:bodyPr vert="horz" wrap="square" lIns="0" tIns="55244" rIns="0" bIns="0" rtlCol="0">
            <a:spAutoFit/>
          </a:bodyPr>
          <a:lstStyle/>
          <a:p>
            <a:pPr marL="63500" marR="94615">
              <a:lnSpc>
                <a:spcPct val="90100"/>
              </a:lnSpc>
              <a:spcBef>
                <a:spcPts val="434"/>
              </a:spcBef>
            </a:pPr>
            <a:r>
              <a:rPr sz="1600" spc="-5" dirty="0">
                <a:latin typeface="Calisto MT"/>
                <a:cs typeface="Calisto MT"/>
              </a:rPr>
              <a:t>Is </a:t>
            </a:r>
            <a:r>
              <a:rPr sz="1600" dirty="0">
                <a:latin typeface="Calisto MT"/>
                <a:cs typeface="Calisto MT"/>
              </a:rPr>
              <a:t>the </a:t>
            </a:r>
            <a:r>
              <a:rPr sz="1600" spc="-5" dirty="0">
                <a:latin typeface="Calisto MT"/>
                <a:cs typeface="Calisto MT"/>
              </a:rPr>
              <a:t>intelligent,  </a:t>
            </a:r>
            <a:r>
              <a:rPr sz="1600" spc="-10" dirty="0">
                <a:latin typeface="Calisto MT"/>
                <a:cs typeface="Calisto MT"/>
              </a:rPr>
              <a:t>scalable, </a:t>
            </a:r>
            <a:r>
              <a:rPr sz="1600" spc="-5" dirty="0">
                <a:latin typeface="Calisto MT"/>
                <a:cs typeface="Calisto MT"/>
              </a:rPr>
              <a:t>cloud  database </a:t>
            </a:r>
            <a:r>
              <a:rPr sz="1600" spc="5" dirty="0">
                <a:latin typeface="Calisto MT"/>
                <a:cs typeface="Calisto MT"/>
              </a:rPr>
              <a:t>service  </a:t>
            </a:r>
            <a:r>
              <a:rPr sz="1600" spc="-5" dirty="0">
                <a:latin typeface="Calisto MT"/>
                <a:cs typeface="Calisto MT"/>
              </a:rPr>
              <a:t>combining </a:t>
            </a:r>
            <a:r>
              <a:rPr sz="1600" dirty="0">
                <a:latin typeface="Calisto MT"/>
                <a:cs typeface="Calisto MT"/>
              </a:rPr>
              <a:t>the  broadest </a:t>
            </a:r>
            <a:r>
              <a:rPr sz="1600" spc="-5" dirty="0">
                <a:latin typeface="Calisto MT"/>
                <a:cs typeface="Calisto MT"/>
              </a:rPr>
              <a:t>SQL </a:t>
            </a:r>
            <a:r>
              <a:rPr sz="1600" dirty="0">
                <a:latin typeface="Calisto MT"/>
                <a:cs typeface="Calisto MT"/>
              </a:rPr>
              <a:t>Server  </a:t>
            </a:r>
            <a:r>
              <a:rPr sz="1600" spc="-5" dirty="0">
                <a:latin typeface="Calisto MT"/>
                <a:cs typeface="Calisto MT"/>
              </a:rPr>
              <a:t>engine compatibility  </a:t>
            </a:r>
            <a:r>
              <a:rPr sz="1600" dirty="0">
                <a:latin typeface="Calisto MT"/>
                <a:cs typeface="Calisto MT"/>
              </a:rPr>
              <a:t>with benefits of a </a:t>
            </a:r>
            <a:r>
              <a:rPr sz="1600" spc="-10" dirty="0">
                <a:latin typeface="Calisto MT"/>
                <a:cs typeface="Calisto MT"/>
              </a:rPr>
              <a:t>fully  managed </a:t>
            </a:r>
            <a:r>
              <a:rPr sz="1600" dirty="0">
                <a:latin typeface="Calisto MT"/>
                <a:cs typeface="Calisto MT"/>
              </a:rPr>
              <a:t>platform </a:t>
            </a:r>
            <a:r>
              <a:rPr sz="1600" spc="-5" dirty="0">
                <a:latin typeface="Calisto MT"/>
                <a:cs typeface="Calisto MT"/>
              </a:rPr>
              <a:t>as  </a:t>
            </a:r>
            <a:r>
              <a:rPr sz="1600" dirty="0">
                <a:latin typeface="Calisto MT"/>
                <a:cs typeface="Calisto MT"/>
              </a:rPr>
              <a:t>a</a:t>
            </a:r>
            <a:r>
              <a:rPr sz="1600" spc="-5" dirty="0">
                <a:latin typeface="Calisto MT"/>
                <a:cs typeface="Calisto MT"/>
              </a:rPr>
              <a:t> service.</a:t>
            </a:r>
            <a:endParaRPr sz="1600">
              <a:latin typeface="Calisto MT"/>
              <a:cs typeface="Calisto MT"/>
            </a:endParaRPr>
          </a:p>
        </p:txBody>
      </p:sp>
      <p:sp>
        <p:nvSpPr>
          <p:cNvPr id="5" name="object 5"/>
          <p:cNvSpPr txBox="1"/>
          <p:nvPr/>
        </p:nvSpPr>
        <p:spPr>
          <a:xfrm>
            <a:off x="4779645" y="2360295"/>
            <a:ext cx="2098040" cy="2269490"/>
          </a:xfrm>
          <a:prstGeom prst="rect">
            <a:avLst/>
          </a:prstGeom>
          <a:solidFill>
            <a:srgbClr val="D7D2DF">
              <a:alpha val="90194"/>
            </a:srgbClr>
          </a:solidFill>
          <a:ln w="9905">
            <a:solidFill>
              <a:srgbClr val="001F5F"/>
            </a:solidFill>
          </a:ln>
        </p:spPr>
        <p:txBody>
          <a:bodyPr vert="horz" wrap="square" lIns="0" tIns="55244" rIns="0" bIns="0" rtlCol="0">
            <a:spAutoFit/>
          </a:bodyPr>
          <a:lstStyle/>
          <a:p>
            <a:pPr marL="63500" marR="191770">
              <a:lnSpc>
                <a:spcPct val="90100"/>
              </a:lnSpc>
              <a:spcBef>
                <a:spcPts val="434"/>
              </a:spcBef>
            </a:pPr>
            <a:r>
              <a:rPr sz="1600" spc="-5" dirty="0">
                <a:latin typeface="Calisto MT"/>
                <a:cs typeface="Calisto MT"/>
              </a:rPr>
              <a:t>Is </a:t>
            </a:r>
            <a:r>
              <a:rPr sz="1600" dirty="0">
                <a:latin typeface="Calisto MT"/>
                <a:cs typeface="Calisto MT"/>
              </a:rPr>
              <a:t>the </a:t>
            </a:r>
            <a:r>
              <a:rPr sz="1600" spc="-5" dirty="0">
                <a:latin typeface="Calisto MT"/>
                <a:cs typeface="Calisto MT"/>
              </a:rPr>
              <a:t>intelligent,  </a:t>
            </a:r>
            <a:r>
              <a:rPr sz="1600" spc="-10" dirty="0">
                <a:latin typeface="Calisto MT"/>
                <a:cs typeface="Calisto MT"/>
              </a:rPr>
              <a:t>scalable, </a:t>
            </a:r>
            <a:r>
              <a:rPr sz="1600" dirty="0">
                <a:latin typeface="Calisto MT"/>
                <a:cs typeface="Calisto MT"/>
              </a:rPr>
              <a:t>relational  </a:t>
            </a:r>
            <a:r>
              <a:rPr sz="1600" spc="-5" dirty="0">
                <a:latin typeface="Calisto MT"/>
                <a:cs typeface="Calisto MT"/>
              </a:rPr>
              <a:t>database </a:t>
            </a:r>
            <a:r>
              <a:rPr sz="1600" spc="5" dirty="0">
                <a:latin typeface="Calisto MT"/>
                <a:cs typeface="Calisto MT"/>
              </a:rPr>
              <a:t>service </a:t>
            </a:r>
            <a:r>
              <a:rPr sz="1600" spc="-5" dirty="0">
                <a:latin typeface="Calisto MT"/>
                <a:cs typeface="Calisto MT"/>
              </a:rPr>
              <a:t>built  </a:t>
            </a:r>
            <a:r>
              <a:rPr sz="1600" dirty="0">
                <a:latin typeface="Calisto MT"/>
                <a:cs typeface="Calisto MT"/>
              </a:rPr>
              <a:t>for the </a:t>
            </a:r>
            <a:r>
              <a:rPr sz="1600" spc="-5" dirty="0">
                <a:latin typeface="Calisto MT"/>
                <a:cs typeface="Calisto MT"/>
              </a:rPr>
              <a:t>cloud. It </a:t>
            </a:r>
            <a:r>
              <a:rPr sz="1600" dirty="0">
                <a:latin typeface="Calisto MT"/>
                <a:cs typeface="Calisto MT"/>
              </a:rPr>
              <a:t>is  </a:t>
            </a:r>
            <a:r>
              <a:rPr sz="1600" spc="-25" dirty="0">
                <a:latin typeface="Calisto MT"/>
                <a:cs typeface="Calisto MT"/>
              </a:rPr>
              <a:t>always </a:t>
            </a:r>
            <a:r>
              <a:rPr sz="1600" dirty="0">
                <a:latin typeface="Calisto MT"/>
                <a:cs typeface="Calisto MT"/>
              </a:rPr>
              <a:t>up to </a:t>
            </a:r>
            <a:r>
              <a:rPr sz="1600" spc="-20" dirty="0">
                <a:latin typeface="Calisto MT"/>
                <a:cs typeface="Calisto MT"/>
              </a:rPr>
              <a:t>date,  </a:t>
            </a:r>
            <a:r>
              <a:rPr sz="1600" dirty="0">
                <a:latin typeface="Calisto MT"/>
                <a:cs typeface="Calisto MT"/>
              </a:rPr>
              <a:t>with </a:t>
            </a:r>
            <a:r>
              <a:rPr sz="1600" spc="-10" dirty="0">
                <a:latin typeface="Calisto MT"/>
                <a:cs typeface="Calisto MT"/>
              </a:rPr>
              <a:t>AI-powered</a:t>
            </a:r>
            <a:r>
              <a:rPr sz="1600" spc="-65" dirty="0">
                <a:latin typeface="Calisto MT"/>
                <a:cs typeface="Calisto MT"/>
              </a:rPr>
              <a:t> </a:t>
            </a:r>
            <a:r>
              <a:rPr sz="1600" spc="-5" dirty="0">
                <a:latin typeface="Calisto MT"/>
                <a:cs typeface="Calisto MT"/>
              </a:rPr>
              <a:t>and  automated </a:t>
            </a:r>
            <a:r>
              <a:rPr sz="1600" dirty="0">
                <a:latin typeface="Calisto MT"/>
                <a:cs typeface="Calisto MT"/>
              </a:rPr>
              <a:t>features  that optimize  </a:t>
            </a:r>
            <a:r>
              <a:rPr sz="1600" spc="-10" dirty="0">
                <a:latin typeface="Calisto MT"/>
                <a:cs typeface="Calisto MT"/>
              </a:rPr>
              <a:t>performance.</a:t>
            </a:r>
            <a:endParaRPr sz="1600">
              <a:latin typeface="Calisto MT"/>
              <a:cs typeface="Calisto MT"/>
            </a:endParaRPr>
          </a:p>
        </p:txBody>
      </p:sp>
      <p:sp>
        <p:nvSpPr>
          <p:cNvPr id="6" name="object 6"/>
          <p:cNvSpPr txBox="1"/>
          <p:nvPr/>
        </p:nvSpPr>
        <p:spPr>
          <a:xfrm>
            <a:off x="7016115" y="2360295"/>
            <a:ext cx="2098675" cy="2269490"/>
          </a:xfrm>
          <a:prstGeom prst="rect">
            <a:avLst/>
          </a:prstGeom>
          <a:solidFill>
            <a:srgbClr val="D0E2EA">
              <a:alpha val="90194"/>
            </a:srgbClr>
          </a:solidFill>
          <a:ln w="9905">
            <a:solidFill>
              <a:srgbClr val="001F5F"/>
            </a:solidFill>
          </a:ln>
        </p:spPr>
        <p:txBody>
          <a:bodyPr vert="horz" wrap="square" lIns="0" tIns="55244" rIns="0" bIns="0" rtlCol="0">
            <a:spAutoFit/>
          </a:bodyPr>
          <a:lstStyle/>
          <a:p>
            <a:pPr marL="64135" marR="220345">
              <a:lnSpc>
                <a:spcPct val="90100"/>
              </a:lnSpc>
              <a:spcBef>
                <a:spcPts val="434"/>
              </a:spcBef>
            </a:pPr>
            <a:r>
              <a:rPr sz="1600" spc="-5" dirty="0">
                <a:latin typeface="Calisto MT"/>
                <a:cs typeface="Calisto MT"/>
              </a:rPr>
              <a:t>Is </a:t>
            </a:r>
            <a:r>
              <a:rPr sz="1600" dirty="0">
                <a:latin typeface="Calisto MT"/>
                <a:cs typeface="Calisto MT"/>
              </a:rPr>
              <a:t>a small-footprint,  </a:t>
            </a:r>
            <a:r>
              <a:rPr sz="1600" spc="-5" dirty="0">
                <a:latin typeface="Calisto MT"/>
                <a:cs typeface="Calisto MT"/>
              </a:rPr>
              <a:t>edge-optimized SQL  database </a:t>
            </a:r>
            <a:r>
              <a:rPr sz="1600" dirty="0">
                <a:latin typeface="Calisto MT"/>
                <a:cs typeface="Calisto MT"/>
              </a:rPr>
              <a:t>engine</a:t>
            </a:r>
            <a:r>
              <a:rPr sz="1600" spc="-40" dirty="0">
                <a:latin typeface="Calisto MT"/>
                <a:cs typeface="Calisto MT"/>
              </a:rPr>
              <a:t> </a:t>
            </a:r>
            <a:r>
              <a:rPr sz="1600" dirty="0">
                <a:latin typeface="Calisto MT"/>
                <a:cs typeface="Calisto MT"/>
              </a:rPr>
              <a:t>with  </a:t>
            </a:r>
            <a:r>
              <a:rPr sz="1600" spc="-5" dirty="0">
                <a:latin typeface="Calisto MT"/>
                <a:cs typeface="Calisto MT"/>
              </a:rPr>
              <a:t>built-in </a:t>
            </a:r>
            <a:r>
              <a:rPr sz="1600" dirty="0">
                <a:latin typeface="Calisto MT"/>
                <a:cs typeface="Calisto MT"/>
              </a:rPr>
              <a:t>Artificial  </a:t>
            </a:r>
            <a:r>
              <a:rPr sz="1600" spc="-5" dirty="0">
                <a:latin typeface="Calisto MT"/>
                <a:cs typeface="Calisto MT"/>
              </a:rPr>
              <a:t>Intelligence</a:t>
            </a:r>
            <a:r>
              <a:rPr sz="1600" spc="20" dirty="0">
                <a:latin typeface="Calisto MT"/>
                <a:cs typeface="Calisto MT"/>
              </a:rPr>
              <a:t> </a:t>
            </a:r>
            <a:r>
              <a:rPr sz="1600" spc="-5" dirty="0">
                <a:latin typeface="Calisto MT"/>
                <a:cs typeface="Calisto MT"/>
              </a:rPr>
              <a:t>(AI).</a:t>
            </a:r>
            <a:endParaRPr sz="1600">
              <a:latin typeface="Calisto MT"/>
              <a:cs typeface="Calisto MT"/>
            </a:endParaRPr>
          </a:p>
        </p:txBody>
      </p:sp>
      <p:grpSp>
        <p:nvGrpSpPr>
          <p:cNvPr id="7" name="object 7"/>
          <p:cNvGrpSpPr/>
          <p:nvPr/>
        </p:nvGrpSpPr>
        <p:grpSpPr>
          <a:xfrm>
            <a:off x="288797" y="1140713"/>
            <a:ext cx="2184400" cy="1186180"/>
            <a:chOff x="288797" y="1140713"/>
            <a:chExt cx="2184400" cy="1186180"/>
          </a:xfrm>
        </p:grpSpPr>
        <p:pic>
          <p:nvPicPr>
            <p:cNvPr id="8" name="object 8"/>
            <p:cNvPicPr/>
            <p:nvPr/>
          </p:nvPicPr>
          <p:blipFill>
            <a:blip r:embed="rId3" cstate="print"/>
            <a:stretch>
              <a:fillRect/>
            </a:stretch>
          </p:blipFill>
          <p:spPr>
            <a:xfrm>
              <a:off x="288797" y="1140713"/>
              <a:ext cx="2183892" cy="1185672"/>
            </a:xfrm>
            <a:prstGeom prst="rect">
              <a:avLst/>
            </a:prstGeom>
          </p:spPr>
        </p:pic>
        <p:pic>
          <p:nvPicPr>
            <p:cNvPr id="9" name="object 9"/>
            <p:cNvPicPr/>
            <p:nvPr/>
          </p:nvPicPr>
          <p:blipFill>
            <a:blip r:embed="rId4" cstate="print"/>
            <a:stretch>
              <a:fillRect/>
            </a:stretch>
          </p:blipFill>
          <p:spPr>
            <a:xfrm>
              <a:off x="470915" y="1229105"/>
              <a:ext cx="1875282" cy="1049274"/>
            </a:xfrm>
            <a:prstGeom prst="rect">
              <a:avLst/>
            </a:prstGeom>
          </p:spPr>
        </p:pic>
        <p:pic>
          <p:nvPicPr>
            <p:cNvPr id="10" name="object 10"/>
            <p:cNvPicPr/>
            <p:nvPr/>
          </p:nvPicPr>
          <p:blipFill>
            <a:blip r:embed="rId5" cstate="print"/>
            <a:stretch>
              <a:fillRect/>
            </a:stretch>
          </p:blipFill>
          <p:spPr>
            <a:xfrm>
              <a:off x="334898" y="1163954"/>
              <a:ext cx="2098548" cy="1100327"/>
            </a:xfrm>
            <a:prstGeom prst="rect">
              <a:avLst/>
            </a:prstGeom>
          </p:spPr>
        </p:pic>
      </p:grpSp>
      <p:sp>
        <p:nvSpPr>
          <p:cNvPr id="11" name="object 11"/>
          <p:cNvSpPr txBox="1"/>
          <p:nvPr/>
        </p:nvSpPr>
        <p:spPr>
          <a:xfrm>
            <a:off x="334899" y="1163955"/>
            <a:ext cx="2098675" cy="1100455"/>
          </a:xfrm>
          <a:prstGeom prst="rect">
            <a:avLst/>
          </a:prstGeom>
          <a:ln w="9905">
            <a:solidFill>
              <a:srgbClr val="BD4A47"/>
            </a:solidFill>
          </a:ln>
        </p:spPr>
        <p:txBody>
          <a:bodyPr vert="horz" wrap="square" lIns="0" tIns="175260" rIns="0" bIns="0" rtlCol="0">
            <a:spAutoFit/>
          </a:bodyPr>
          <a:lstStyle/>
          <a:p>
            <a:pPr marL="314325" marR="308610" algn="ctr">
              <a:lnSpc>
                <a:spcPts val="1939"/>
              </a:lnSpc>
              <a:spcBef>
                <a:spcPts val="1380"/>
              </a:spcBef>
            </a:pPr>
            <a:r>
              <a:rPr sz="1800" b="1" dirty="0">
                <a:latin typeface="Calisto MT"/>
                <a:cs typeface="Calisto MT"/>
              </a:rPr>
              <a:t>SQL </a:t>
            </a:r>
            <a:r>
              <a:rPr sz="1800" b="1" spc="-10" dirty="0">
                <a:latin typeface="Calisto MT"/>
                <a:cs typeface="Calisto MT"/>
              </a:rPr>
              <a:t>Server</a:t>
            </a:r>
            <a:r>
              <a:rPr sz="1800" b="1" spc="-110" dirty="0">
                <a:latin typeface="Calisto MT"/>
                <a:cs typeface="Calisto MT"/>
              </a:rPr>
              <a:t> </a:t>
            </a:r>
            <a:r>
              <a:rPr sz="1800" b="1" dirty="0">
                <a:latin typeface="Calisto MT"/>
                <a:cs typeface="Calisto MT"/>
              </a:rPr>
              <a:t>on  Azure </a:t>
            </a:r>
            <a:r>
              <a:rPr sz="1800" b="1" spc="-10" dirty="0">
                <a:latin typeface="Calisto MT"/>
                <a:cs typeface="Calisto MT"/>
              </a:rPr>
              <a:t>Virtual  </a:t>
            </a:r>
            <a:r>
              <a:rPr sz="1800" b="1" dirty="0">
                <a:latin typeface="Calisto MT"/>
                <a:cs typeface="Calisto MT"/>
              </a:rPr>
              <a:t>Machines</a:t>
            </a:r>
            <a:endParaRPr sz="1800">
              <a:latin typeface="Calisto MT"/>
              <a:cs typeface="Calisto MT"/>
            </a:endParaRPr>
          </a:p>
        </p:txBody>
      </p:sp>
      <p:grpSp>
        <p:nvGrpSpPr>
          <p:cNvPr id="12" name="object 12"/>
          <p:cNvGrpSpPr/>
          <p:nvPr/>
        </p:nvGrpSpPr>
        <p:grpSpPr>
          <a:xfrm>
            <a:off x="2526029" y="1140713"/>
            <a:ext cx="2183130" cy="1186180"/>
            <a:chOff x="2526029" y="1140713"/>
            <a:chExt cx="2183130" cy="1186180"/>
          </a:xfrm>
        </p:grpSpPr>
        <p:pic>
          <p:nvPicPr>
            <p:cNvPr id="13" name="object 13"/>
            <p:cNvPicPr/>
            <p:nvPr/>
          </p:nvPicPr>
          <p:blipFill>
            <a:blip r:embed="rId3" cstate="print"/>
            <a:stretch>
              <a:fillRect/>
            </a:stretch>
          </p:blipFill>
          <p:spPr>
            <a:xfrm>
              <a:off x="2526029" y="1140713"/>
              <a:ext cx="2183130" cy="1185672"/>
            </a:xfrm>
            <a:prstGeom prst="rect">
              <a:avLst/>
            </a:prstGeom>
          </p:spPr>
        </p:pic>
        <p:pic>
          <p:nvPicPr>
            <p:cNvPr id="14" name="object 14"/>
            <p:cNvPicPr/>
            <p:nvPr/>
          </p:nvPicPr>
          <p:blipFill>
            <a:blip r:embed="rId6" cstate="print"/>
            <a:stretch>
              <a:fillRect/>
            </a:stretch>
          </p:blipFill>
          <p:spPr>
            <a:xfrm>
              <a:off x="2529839" y="1352550"/>
              <a:ext cx="2174748" cy="802386"/>
            </a:xfrm>
            <a:prstGeom prst="rect">
              <a:avLst/>
            </a:prstGeom>
          </p:spPr>
        </p:pic>
      </p:grpSp>
      <p:sp>
        <p:nvSpPr>
          <p:cNvPr id="15" name="object 15"/>
          <p:cNvSpPr txBox="1"/>
          <p:nvPr/>
        </p:nvSpPr>
        <p:spPr>
          <a:xfrm>
            <a:off x="2572130" y="1163955"/>
            <a:ext cx="2098040" cy="1100455"/>
          </a:xfrm>
          <a:prstGeom prst="rect">
            <a:avLst/>
          </a:prstGeom>
          <a:solidFill>
            <a:srgbClr val="C3D59B"/>
          </a:solidFill>
          <a:ln w="9905">
            <a:solidFill>
              <a:srgbClr val="97B853"/>
            </a:solidFill>
          </a:ln>
        </p:spPr>
        <p:txBody>
          <a:bodyPr vert="horz" wrap="square" lIns="0" tIns="6350" rIns="0" bIns="0" rtlCol="0">
            <a:spAutoFit/>
          </a:bodyPr>
          <a:lstStyle/>
          <a:p>
            <a:pPr>
              <a:lnSpc>
                <a:spcPct val="100000"/>
              </a:lnSpc>
              <a:spcBef>
                <a:spcPts val="50"/>
              </a:spcBef>
            </a:pPr>
            <a:endParaRPr sz="2000">
              <a:latin typeface="Times New Roman"/>
              <a:cs typeface="Times New Roman"/>
            </a:endParaRPr>
          </a:p>
          <a:p>
            <a:pPr marL="135890" marR="128905" indent="346710">
              <a:lnSpc>
                <a:spcPts val="1939"/>
              </a:lnSpc>
            </a:pPr>
            <a:r>
              <a:rPr sz="1800" b="1" dirty="0">
                <a:latin typeface="Calisto MT"/>
                <a:cs typeface="Calisto MT"/>
              </a:rPr>
              <a:t>Azure SQL  </a:t>
            </a:r>
            <a:r>
              <a:rPr sz="1800" b="1" spc="-5" dirty="0">
                <a:latin typeface="Calisto MT"/>
                <a:cs typeface="Calisto MT"/>
              </a:rPr>
              <a:t>Managed</a:t>
            </a:r>
            <a:r>
              <a:rPr sz="1800" b="1" spc="-90" dirty="0">
                <a:latin typeface="Calisto MT"/>
                <a:cs typeface="Calisto MT"/>
              </a:rPr>
              <a:t> </a:t>
            </a:r>
            <a:r>
              <a:rPr sz="1800" b="1" dirty="0">
                <a:latin typeface="Calisto MT"/>
                <a:cs typeface="Calisto MT"/>
              </a:rPr>
              <a:t>Instance</a:t>
            </a:r>
            <a:endParaRPr sz="1800">
              <a:latin typeface="Calisto MT"/>
              <a:cs typeface="Calisto MT"/>
            </a:endParaRPr>
          </a:p>
        </p:txBody>
      </p:sp>
      <p:grpSp>
        <p:nvGrpSpPr>
          <p:cNvPr id="16" name="object 16"/>
          <p:cNvGrpSpPr/>
          <p:nvPr/>
        </p:nvGrpSpPr>
        <p:grpSpPr>
          <a:xfrm>
            <a:off x="4762500" y="1140713"/>
            <a:ext cx="2184400" cy="1186180"/>
            <a:chOff x="4762500" y="1140713"/>
            <a:chExt cx="2184400" cy="1186180"/>
          </a:xfrm>
        </p:grpSpPr>
        <p:pic>
          <p:nvPicPr>
            <p:cNvPr id="17" name="object 17"/>
            <p:cNvPicPr/>
            <p:nvPr/>
          </p:nvPicPr>
          <p:blipFill>
            <a:blip r:embed="rId3" cstate="print"/>
            <a:stretch>
              <a:fillRect/>
            </a:stretch>
          </p:blipFill>
          <p:spPr>
            <a:xfrm>
              <a:off x="4762500" y="1140713"/>
              <a:ext cx="2183892" cy="1185672"/>
            </a:xfrm>
            <a:prstGeom prst="rect">
              <a:avLst/>
            </a:prstGeom>
          </p:spPr>
        </p:pic>
        <p:pic>
          <p:nvPicPr>
            <p:cNvPr id="18" name="object 18"/>
            <p:cNvPicPr/>
            <p:nvPr/>
          </p:nvPicPr>
          <p:blipFill>
            <a:blip r:embed="rId7" cstate="print"/>
            <a:stretch>
              <a:fillRect/>
            </a:stretch>
          </p:blipFill>
          <p:spPr>
            <a:xfrm>
              <a:off x="4808601" y="1163954"/>
              <a:ext cx="2098548" cy="1100327"/>
            </a:xfrm>
            <a:prstGeom prst="rect">
              <a:avLst/>
            </a:prstGeom>
          </p:spPr>
        </p:pic>
      </p:grpSp>
      <p:sp>
        <p:nvSpPr>
          <p:cNvPr id="19" name="object 19"/>
          <p:cNvSpPr txBox="1"/>
          <p:nvPr/>
        </p:nvSpPr>
        <p:spPr>
          <a:xfrm>
            <a:off x="4808601" y="1163955"/>
            <a:ext cx="2098675" cy="1100455"/>
          </a:xfrm>
          <a:prstGeom prst="rect">
            <a:avLst/>
          </a:prstGeom>
          <a:ln w="9905">
            <a:solidFill>
              <a:srgbClr val="7C5F9F"/>
            </a:solidFill>
          </a:ln>
        </p:spPr>
        <p:txBody>
          <a:bodyPr vert="horz" wrap="square" lIns="0" tIns="6350" rIns="0" bIns="0" rtlCol="0">
            <a:spAutoFit/>
          </a:bodyPr>
          <a:lstStyle/>
          <a:p>
            <a:pPr>
              <a:lnSpc>
                <a:spcPct val="100000"/>
              </a:lnSpc>
              <a:spcBef>
                <a:spcPts val="50"/>
              </a:spcBef>
            </a:pPr>
            <a:endParaRPr sz="2000">
              <a:latin typeface="Times New Roman"/>
              <a:cs typeface="Times New Roman"/>
            </a:endParaRPr>
          </a:p>
          <a:p>
            <a:pPr marL="584835" marR="474980" indent="-101600">
              <a:lnSpc>
                <a:spcPts val="1939"/>
              </a:lnSpc>
            </a:pPr>
            <a:r>
              <a:rPr sz="1800" b="1" dirty="0">
                <a:latin typeface="Calisto MT"/>
                <a:cs typeface="Calisto MT"/>
              </a:rPr>
              <a:t>Azure</a:t>
            </a:r>
            <a:r>
              <a:rPr sz="1800" b="1" spc="-105" dirty="0">
                <a:latin typeface="Calisto MT"/>
                <a:cs typeface="Calisto MT"/>
              </a:rPr>
              <a:t> </a:t>
            </a:r>
            <a:r>
              <a:rPr sz="1800" b="1" dirty="0">
                <a:latin typeface="Calisto MT"/>
                <a:cs typeface="Calisto MT"/>
              </a:rPr>
              <a:t>SQL  </a:t>
            </a:r>
            <a:r>
              <a:rPr sz="1800" b="1" spc="-5" dirty="0">
                <a:latin typeface="Calisto MT"/>
                <a:cs typeface="Calisto MT"/>
              </a:rPr>
              <a:t>Database</a:t>
            </a:r>
            <a:endParaRPr sz="1800">
              <a:latin typeface="Calisto MT"/>
              <a:cs typeface="Calisto MT"/>
            </a:endParaRPr>
          </a:p>
        </p:txBody>
      </p:sp>
      <p:grpSp>
        <p:nvGrpSpPr>
          <p:cNvPr id="20" name="object 20"/>
          <p:cNvGrpSpPr/>
          <p:nvPr/>
        </p:nvGrpSpPr>
        <p:grpSpPr>
          <a:xfrm>
            <a:off x="6999731" y="1140713"/>
            <a:ext cx="2150110" cy="1186180"/>
            <a:chOff x="6999731" y="1140713"/>
            <a:chExt cx="2150110" cy="1186180"/>
          </a:xfrm>
        </p:grpSpPr>
        <p:pic>
          <p:nvPicPr>
            <p:cNvPr id="21" name="object 21"/>
            <p:cNvPicPr/>
            <p:nvPr/>
          </p:nvPicPr>
          <p:blipFill>
            <a:blip r:embed="rId8" cstate="print"/>
            <a:stretch>
              <a:fillRect/>
            </a:stretch>
          </p:blipFill>
          <p:spPr>
            <a:xfrm>
              <a:off x="6999731" y="1140713"/>
              <a:ext cx="2144268" cy="1185672"/>
            </a:xfrm>
            <a:prstGeom prst="rect">
              <a:avLst/>
            </a:prstGeom>
          </p:spPr>
        </p:pic>
        <p:pic>
          <p:nvPicPr>
            <p:cNvPr id="22" name="object 22"/>
            <p:cNvPicPr/>
            <p:nvPr/>
          </p:nvPicPr>
          <p:blipFill>
            <a:blip r:embed="rId9" cstate="print"/>
            <a:stretch>
              <a:fillRect/>
            </a:stretch>
          </p:blipFill>
          <p:spPr>
            <a:xfrm>
              <a:off x="7045832" y="1163954"/>
              <a:ext cx="2098548" cy="1100327"/>
            </a:xfrm>
            <a:prstGeom prst="rect">
              <a:avLst/>
            </a:prstGeom>
          </p:spPr>
        </p:pic>
        <p:sp>
          <p:nvSpPr>
            <p:cNvPr id="23" name="object 23"/>
            <p:cNvSpPr/>
            <p:nvPr/>
          </p:nvSpPr>
          <p:spPr>
            <a:xfrm>
              <a:off x="7045832" y="1163954"/>
              <a:ext cx="2098675" cy="1100455"/>
            </a:xfrm>
            <a:custGeom>
              <a:avLst/>
              <a:gdLst/>
              <a:ahLst/>
              <a:cxnLst/>
              <a:rect l="l" t="t" r="r" b="b"/>
              <a:pathLst>
                <a:path w="2098675" h="1100455">
                  <a:moveTo>
                    <a:pt x="0" y="1100327"/>
                  </a:moveTo>
                  <a:lnTo>
                    <a:pt x="2098548" y="1100327"/>
                  </a:lnTo>
                  <a:lnTo>
                    <a:pt x="2098548" y="0"/>
                  </a:lnTo>
                  <a:lnTo>
                    <a:pt x="0" y="0"/>
                  </a:lnTo>
                  <a:lnTo>
                    <a:pt x="0" y="1100327"/>
                  </a:lnTo>
                  <a:close/>
                </a:path>
              </a:pathLst>
            </a:custGeom>
            <a:ln w="9905">
              <a:solidFill>
                <a:srgbClr val="46AAC5"/>
              </a:solidFill>
            </a:ln>
          </p:spPr>
          <p:txBody>
            <a:bodyPr wrap="square" lIns="0" tIns="0" rIns="0" bIns="0" rtlCol="0"/>
            <a:lstStyle/>
            <a:p>
              <a:endParaRPr/>
            </a:p>
          </p:txBody>
        </p:sp>
      </p:grpSp>
      <p:sp>
        <p:nvSpPr>
          <p:cNvPr id="24" name="object 24"/>
          <p:cNvSpPr txBox="1"/>
          <p:nvPr/>
        </p:nvSpPr>
        <p:spPr>
          <a:xfrm>
            <a:off x="7050785" y="1542034"/>
            <a:ext cx="2093595" cy="299720"/>
          </a:xfrm>
          <a:prstGeom prst="rect">
            <a:avLst/>
          </a:prstGeom>
        </p:spPr>
        <p:txBody>
          <a:bodyPr vert="horz" wrap="square" lIns="0" tIns="12700" rIns="0" bIns="0" rtlCol="0">
            <a:spAutoFit/>
          </a:bodyPr>
          <a:lstStyle/>
          <a:p>
            <a:pPr marL="201295">
              <a:lnSpc>
                <a:spcPct val="100000"/>
              </a:lnSpc>
              <a:spcBef>
                <a:spcPts val="100"/>
              </a:spcBef>
            </a:pPr>
            <a:r>
              <a:rPr sz="1800" b="1" dirty="0">
                <a:latin typeface="Calisto MT"/>
                <a:cs typeface="Calisto MT"/>
              </a:rPr>
              <a:t>Azure SQL</a:t>
            </a:r>
            <a:r>
              <a:rPr sz="1800" b="1" spc="-55" dirty="0">
                <a:latin typeface="Calisto MT"/>
                <a:cs typeface="Calisto MT"/>
              </a:rPr>
              <a:t> </a:t>
            </a:r>
            <a:r>
              <a:rPr sz="1800" b="1" spc="-10" dirty="0">
                <a:latin typeface="Calisto MT"/>
                <a:cs typeface="Calisto MT"/>
              </a:rPr>
              <a:t>Edge</a:t>
            </a:r>
            <a:endParaRPr sz="1800">
              <a:latin typeface="Calisto MT"/>
              <a:cs typeface="Calisto MT"/>
            </a:endParaRPr>
          </a:p>
        </p:txBody>
      </p:sp>
      <p:sp>
        <p:nvSpPr>
          <p:cNvPr id="26" name="object 26"/>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7</a:t>
            </a:fld>
            <a:endParaRPr sz="1800" baseline="2314">
              <a:latin typeface="Times New Roman"/>
              <a:cs typeface="Times New Roman"/>
            </a:endParaRPr>
          </a:p>
        </p:txBody>
      </p:sp>
      <p:sp>
        <p:nvSpPr>
          <p:cNvPr id="28" name="object 28"/>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97027"/>
            <a:ext cx="3531235" cy="513080"/>
          </a:xfrm>
          <a:prstGeom prst="rect">
            <a:avLst/>
          </a:prstGeom>
        </p:spPr>
        <p:txBody>
          <a:bodyPr vert="horz" wrap="square" lIns="0" tIns="12065" rIns="0" bIns="0" rtlCol="0">
            <a:spAutoFit/>
          </a:bodyPr>
          <a:lstStyle/>
          <a:p>
            <a:pPr marL="12700">
              <a:lnSpc>
                <a:spcPct val="100000"/>
              </a:lnSpc>
              <a:spcBef>
                <a:spcPts val="95"/>
              </a:spcBef>
            </a:pPr>
            <a:r>
              <a:rPr sz="3200" spc="100" dirty="0"/>
              <a:t>Azure </a:t>
            </a:r>
            <a:r>
              <a:rPr sz="3200" spc="155" dirty="0"/>
              <a:t>SQL</a:t>
            </a:r>
            <a:r>
              <a:rPr sz="3200" spc="-385" dirty="0"/>
              <a:t> </a:t>
            </a:r>
            <a:r>
              <a:rPr sz="3200" spc="65" dirty="0"/>
              <a:t>Services</a:t>
            </a:r>
            <a:endParaRPr sz="3200"/>
          </a:p>
        </p:txBody>
      </p:sp>
      <p:pic>
        <p:nvPicPr>
          <p:cNvPr id="3" name="object 3"/>
          <p:cNvPicPr/>
          <p:nvPr/>
        </p:nvPicPr>
        <p:blipFill>
          <a:blip r:embed="rId3" cstate="print"/>
          <a:stretch>
            <a:fillRect/>
          </a:stretch>
        </p:blipFill>
        <p:spPr>
          <a:xfrm>
            <a:off x="591312" y="1226058"/>
            <a:ext cx="7961376" cy="4405884"/>
          </a:xfrm>
          <a:prstGeom prst="rect">
            <a:avLst/>
          </a:prstGeom>
        </p:spPr>
      </p:pic>
      <p:sp>
        <p:nvSpPr>
          <p:cNvPr id="5" name="object 5"/>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8</a:t>
            </a:fld>
            <a:endParaRPr sz="1800" baseline="2314">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6101080" cy="635635"/>
          </a:xfrm>
          <a:prstGeom prst="rect">
            <a:avLst/>
          </a:prstGeom>
        </p:spPr>
        <p:txBody>
          <a:bodyPr vert="horz" wrap="square" lIns="0" tIns="12700" rIns="0" bIns="0" rtlCol="0">
            <a:spAutoFit/>
          </a:bodyPr>
          <a:lstStyle/>
          <a:p>
            <a:pPr marL="12700">
              <a:lnSpc>
                <a:spcPct val="100000"/>
              </a:lnSpc>
              <a:spcBef>
                <a:spcPts val="100"/>
              </a:spcBef>
            </a:pPr>
            <a:r>
              <a:rPr spc="130" dirty="0"/>
              <a:t>Azure</a:t>
            </a:r>
            <a:r>
              <a:rPr spc="-160" dirty="0"/>
              <a:t> </a:t>
            </a:r>
            <a:r>
              <a:rPr spc="195" dirty="0"/>
              <a:t>SQL</a:t>
            </a:r>
            <a:r>
              <a:rPr spc="-175" dirty="0"/>
              <a:t> </a:t>
            </a:r>
            <a:r>
              <a:rPr spc="175" dirty="0"/>
              <a:t>Architecture</a:t>
            </a:r>
            <a:r>
              <a:rPr spc="-175" dirty="0"/>
              <a:t> </a:t>
            </a:r>
            <a:r>
              <a:rPr spc="-250" dirty="0"/>
              <a:t>1-2</a:t>
            </a:r>
          </a:p>
        </p:txBody>
      </p:sp>
      <p:pic>
        <p:nvPicPr>
          <p:cNvPr id="3" name="object 3"/>
          <p:cNvPicPr/>
          <p:nvPr/>
        </p:nvPicPr>
        <p:blipFill>
          <a:blip r:embed="rId3" cstate="print"/>
          <a:stretch>
            <a:fillRect/>
          </a:stretch>
        </p:blipFill>
        <p:spPr>
          <a:xfrm>
            <a:off x="1075944" y="1420367"/>
            <a:ext cx="6992111" cy="4393692"/>
          </a:xfrm>
          <a:prstGeom prst="rect">
            <a:avLst/>
          </a:prstGeom>
        </p:spPr>
      </p:pic>
      <p:sp>
        <p:nvSpPr>
          <p:cNvPr id="5" name="object 5"/>
          <p:cNvSpPr txBox="1"/>
          <p:nvPr/>
        </p:nvSpPr>
        <p:spPr>
          <a:xfrm>
            <a:off x="7910321" y="6563359"/>
            <a:ext cx="831215" cy="251460"/>
          </a:xfrm>
          <a:prstGeom prst="rect">
            <a:avLst/>
          </a:prstGeom>
        </p:spPr>
        <p:txBody>
          <a:bodyPr vert="horz" wrap="square" lIns="0" tIns="12700" rIns="0" bIns="0" rtlCol="0">
            <a:spAutoFit/>
          </a:bodyPr>
          <a:lstStyle/>
          <a:p>
            <a:pPr marL="12700">
              <a:lnSpc>
                <a:spcPct val="100000"/>
              </a:lnSpc>
              <a:spcBef>
                <a:spcPts val="100"/>
              </a:spcBef>
            </a:pPr>
            <a:r>
              <a:rPr sz="1200" spc="35" dirty="0">
                <a:latin typeface="Times New Roman"/>
                <a:cs typeface="Times New Roman"/>
              </a:rPr>
              <a:t>Session </a:t>
            </a:r>
            <a:r>
              <a:rPr sz="1200" spc="80" dirty="0">
                <a:latin typeface="Times New Roman"/>
                <a:cs typeface="Times New Roman"/>
              </a:rPr>
              <a:t>7/</a:t>
            </a:r>
            <a:r>
              <a:rPr sz="1200" spc="-180" dirty="0">
                <a:latin typeface="Times New Roman"/>
                <a:cs typeface="Times New Roman"/>
              </a:rPr>
              <a:t> </a:t>
            </a:r>
            <a:fld id="{81D60167-4931-47E6-BA6A-407CBD079E47}" type="slidenum">
              <a:rPr sz="1800" baseline="2314" dirty="0">
                <a:latin typeface="Times New Roman"/>
                <a:cs typeface="Times New Roman"/>
              </a:rPr>
              <a:t>9</a:t>
            </a:fld>
            <a:endParaRPr sz="1800" baseline="2314">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739" y="6601714"/>
            <a:ext cx="892810" cy="208279"/>
          </a:xfrm>
          <a:prstGeom prst="rect">
            <a:avLst/>
          </a:prstGeom>
        </p:spPr>
        <p:txBody>
          <a:bodyPr vert="horz" wrap="square" lIns="0" tIns="12700" rIns="0" bIns="0" rtlCol="0">
            <a:spAutoFit/>
          </a:bodyPr>
          <a:lstStyle/>
          <a:p>
            <a:pPr marL="12700">
              <a:lnSpc>
                <a:spcPct val="100000"/>
              </a:lnSpc>
              <a:spcBef>
                <a:spcPts val="100"/>
              </a:spcBef>
            </a:pPr>
            <a:r>
              <a:rPr sz="1200" spc="70" dirty="0">
                <a:latin typeface="Arial"/>
                <a:cs typeface="Arial"/>
              </a:rPr>
              <a:t>©</a:t>
            </a:r>
            <a:r>
              <a:rPr sz="1200" spc="-180" dirty="0">
                <a:latin typeface="Arial"/>
                <a:cs typeface="Arial"/>
              </a:rPr>
              <a:t> </a:t>
            </a:r>
            <a:r>
              <a:rPr sz="1200" i="1" dirty="0">
                <a:latin typeface="Palatino Linotype"/>
                <a:cs typeface="Palatino Linotype"/>
              </a:rPr>
              <a:t>Aptech </a:t>
            </a:r>
            <a:r>
              <a:rPr sz="1200" i="1" spc="-15" dirty="0">
                <a:latin typeface="Palatino Linotype"/>
                <a:cs typeface="Palatino Linotype"/>
              </a:rPr>
              <a:t>Ltd.</a:t>
            </a:r>
            <a:endParaRPr sz="1200">
              <a:latin typeface="Palatino Linotype"/>
              <a:cs typeface="Palatino Linotype"/>
            </a:endParaRPr>
          </a:p>
        </p:txBody>
      </p:sp>
      <p:sp>
        <p:nvSpPr>
          <p:cNvPr id="3" name="object 3"/>
          <p:cNvSpPr txBox="1">
            <a:spLocks noGrp="1"/>
          </p:cNvSpPr>
          <p:nvPr>
            <p:ph type="title"/>
          </p:nvPr>
        </p:nvSpPr>
        <p:spPr>
          <a:xfrm>
            <a:off x="383540" y="15493"/>
            <a:ext cx="6165850" cy="635635"/>
          </a:xfrm>
          <a:prstGeom prst="rect">
            <a:avLst/>
          </a:prstGeom>
        </p:spPr>
        <p:txBody>
          <a:bodyPr vert="horz" wrap="square" lIns="0" tIns="12700" rIns="0" bIns="0" rtlCol="0">
            <a:spAutoFit/>
          </a:bodyPr>
          <a:lstStyle/>
          <a:p>
            <a:pPr marL="12700">
              <a:lnSpc>
                <a:spcPct val="100000"/>
              </a:lnSpc>
              <a:spcBef>
                <a:spcPts val="100"/>
              </a:spcBef>
            </a:pPr>
            <a:r>
              <a:rPr spc="130" dirty="0"/>
              <a:t>Azure</a:t>
            </a:r>
            <a:r>
              <a:rPr spc="-160" dirty="0"/>
              <a:t> </a:t>
            </a:r>
            <a:r>
              <a:rPr spc="195" dirty="0"/>
              <a:t>SQL</a:t>
            </a:r>
            <a:r>
              <a:rPr spc="-175" dirty="0"/>
              <a:t> </a:t>
            </a:r>
            <a:r>
              <a:rPr spc="175" dirty="0"/>
              <a:t>Architecture</a:t>
            </a:r>
            <a:r>
              <a:rPr spc="-170" dirty="0"/>
              <a:t> </a:t>
            </a:r>
            <a:r>
              <a:rPr spc="-80" dirty="0"/>
              <a:t>2-2</a:t>
            </a:r>
          </a:p>
        </p:txBody>
      </p:sp>
      <p:sp>
        <p:nvSpPr>
          <p:cNvPr id="4" name="object 4"/>
          <p:cNvSpPr txBox="1"/>
          <p:nvPr/>
        </p:nvSpPr>
        <p:spPr>
          <a:xfrm>
            <a:off x="7910321" y="6563614"/>
            <a:ext cx="1154430" cy="289823"/>
          </a:xfrm>
          <a:prstGeom prst="rect">
            <a:avLst/>
          </a:prstGeom>
        </p:spPr>
        <p:txBody>
          <a:bodyPr vert="horz" wrap="square" lIns="0" tIns="12700" rIns="0" bIns="0" rtlCol="0">
            <a:spAutoFit/>
          </a:bodyPr>
          <a:lstStyle/>
          <a:p>
            <a:pPr marL="12700">
              <a:lnSpc>
                <a:spcPct val="100000"/>
              </a:lnSpc>
              <a:spcBef>
                <a:spcPts val="100"/>
              </a:spcBef>
              <a:tabLst>
                <a:tab pos="1008380" algn="l"/>
              </a:tabLst>
            </a:pPr>
            <a:r>
              <a:rPr sz="1200" spc="15" dirty="0">
                <a:latin typeface="Times New Roman"/>
                <a:cs typeface="Times New Roman"/>
              </a:rPr>
              <a:t>Sessi</a:t>
            </a:r>
            <a:r>
              <a:rPr sz="1200" spc="80" dirty="0">
                <a:latin typeface="Times New Roman"/>
                <a:cs typeface="Times New Roman"/>
              </a:rPr>
              <a:t>on</a:t>
            </a:r>
            <a:r>
              <a:rPr sz="1200" spc="-45" dirty="0">
                <a:latin typeface="Times New Roman"/>
                <a:cs typeface="Times New Roman"/>
              </a:rPr>
              <a:t> </a:t>
            </a:r>
            <a:r>
              <a:rPr sz="1200" spc="80" dirty="0">
                <a:latin typeface="Times New Roman"/>
                <a:cs typeface="Times New Roman"/>
              </a:rPr>
              <a:t>7/</a:t>
            </a:r>
            <a:r>
              <a:rPr sz="1200" spc="-50" dirty="0">
                <a:latin typeface="Times New Roman"/>
                <a:cs typeface="Times New Roman"/>
              </a:rPr>
              <a:t> </a:t>
            </a:r>
            <a:r>
              <a:rPr sz="1800" spc="-120" baseline="2314" dirty="0">
                <a:latin typeface="Times New Roman"/>
                <a:cs typeface="Times New Roman"/>
              </a:rPr>
              <a:t>10</a:t>
            </a:r>
            <a:r>
              <a:rPr sz="1800" baseline="2314">
                <a:latin typeface="Times New Roman"/>
                <a:cs typeface="Times New Roman"/>
              </a:rPr>
              <a:t>	</a:t>
            </a:r>
            <a:endParaRPr sz="1200">
              <a:latin typeface="Times New Roman"/>
              <a:cs typeface="Times New Roman"/>
            </a:endParaRPr>
          </a:p>
        </p:txBody>
      </p:sp>
      <p:sp>
        <p:nvSpPr>
          <p:cNvPr id="5" name="object 5"/>
          <p:cNvSpPr/>
          <p:nvPr/>
        </p:nvSpPr>
        <p:spPr>
          <a:xfrm>
            <a:off x="4988052" y="1149858"/>
            <a:ext cx="2876550" cy="457200"/>
          </a:xfrm>
          <a:custGeom>
            <a:avLst/>
            <a:gdLst/>
            <a:ahLst/>
            <a:cxnLst/>
            <a:rect l="l" t="t" r="r" b="b"/>
            <a:pathLst>
              <a:path w="2876550" h="457200">
                <a:moveTo>
                  <a:pt x="2647950" y="0"/>
                </a:moveTo>
                <a:lnTo>
                  <a:pt x="228600" y="0"/>
                </a:lnTo>
                <a:lnTo>
                  <a:pt x="182533" y="4644"/>
                </a:lnTo>
                <a:lnTo>
                  <a:pt x="139624" y="17966"/>
                </a:lnTo>
                <a:lnTo>
                  <a:pt x="100793" y="39045"/>
                </a:lnTo>
                <a:lnTo>
                  <a:pt x="66960" y="66960"/>
                </a:lnTo>
                <a:lnTo>
                  <a:pt x="39045" y="100793"/>
                </a:lnTo>
                <a:lnTo>
                  <a:pt x="17966" y="139624"/>
                </a:lnTo>
                <a:lnTo>
                  <a:pt x="4644" y="182533"/>
                </a:lnTo>
                <a:lnTo>
                  <a:pt x="0" y="228600"/>
                </a:lnTo>
                <a:lnTo>
                  <a:pt x="4644" y="274666"/>
                </a:lnTo>
                <a:lnTo>
                  <a:pt x="17966" y="317575"/>
                </a:lnTo>
                <a:lnTo>
                  <a:pt x="39045" y="356406"/>
                </a:lnTo>
                <a:lnTo>
                  <a:pt x="66960" y="390239"/>
                </a:lnTo>
                <a:lnTo>
                  <a:pt x="100793" y="418154"/>
                </a:lnTo>
                <a:lnTo>
                  <a:pt x="139624" y="439233"/>
                </a:lnTo>
                <a:lnTo>
                  <a:pt x="182533" y="452555"/>
                </a:lnTo>
                <a:lnTo>
                  <a:pt x="228600" y="457200"/>
                </a:lnTo>
                <a:lnTo>
                  <a:pt x="2647950" y="457200"/>
                </a:lnTo>
                <a:lnTo>
                  <a:pt x="2694016" y="452555"/>
                </a:lnTo>
                <a:lnTo>
                  <a:pt x="2736925" y="439233"/>
                </a:lnTo>
                <a:lnTo>
                  <a:pt x="2775756" y="418154"/>
                </a:lnTo>
                <a:lnTo>
                  <a:pt x="2809589" y="390239"/>
                </a:lnTo>
                <a:lnTo>
                  <a:pt x="2837504" y="356406"/>
                </a:lnTo>
                <a:lnTo>
                  <a:pt x="2858583" y="317575"/>
                </a:lnTo>
                <a:lnTo>
                  <a:pt x="2871905" y="274666"/>
                </a:lnTo>
                <a:lnTo>
                  <a:pt x="2876550" y="228600"/>
                </a:lnTo>
                <a:lnTo>
                  <a:pt x="2871905" y="182533"/>
                </a:lnTo>
                <a:lnTo>
                  <a:pt x="2858583" y="139624"/>
                </a:lnTo>
                <a:lnTo>
                  <a:pt x="2837504" y="100793"/>
                </a:lnTo>
                <a:lnTo>
                  <a:pt x="2809589" y="66960"/>
                </a:lnTo>
                <a:lnTo>
                  <a:pt x="2775756" y="39045"/>
                </a:lnTo>
                <a:lnTo>
                  <a:pt x="2736925" y="17966"/>
                </a:lnTo>
                <a:lnTo>
                  <a:pt x="2694016" y="4644"/>
                </a:lnTo>
                <a:lnTo>
                  <a:pt x="2647950" y="0"/>
                </a:lnTo>
                <a:close/>
              </a:path>
            </a:pathLst>
          </a:custGeom>
          <a:solidFill>
            <a:srgbClr val="0580C3"/>
          </a:solidFill>
        </p:spPr>
        <p:txBody>
          <a:bodyPr wrap="square" lIns="0" tIns="0" rIns="0" bIns="0" rtlCol="0"/>
          <a:lstStyle/>
          <a:p>
            <a:endParaRPr/>
          </a:p>
        </p:txBody>
      </p:sp>
      <p:grpSp>
        <p:nvGrpSpPr>
          <p:cNvPr id="6" name="object 6"/>
          <p:cNvGrpSpPr/>
          <p:nvPr/>
        </p:nvGrpSpPr>
        <p:grpSpPr>
          <a:xfrm>
            <a:off x="1410461" y="1180338"/>
            <a:ext cx="2874645" cy="2767330"/>
            <a:chOff x="1410461" y="1180338"/>
            <a:chExt cx="2874645" cy="2767330"/>
          </a:xfrm>
        </p:grpSpPr>
        <p:sp>
          <p:nvSpPr>
            <p:cNvPr id="7" name="object 7"/>
            <p:cNvSpPr/>
            <p:nvPr/>
          </p:nvSpPr>
          <p:spPr>
            <a:xfrm>
              <a:off x="1440941" y="1180338"/>
              <a:ext cx="2844165" cy="389890"/>
            </a:xfrm>
            <a:custGeom>
              <a:avLst/>
              <a:gdLst/>
              <a:ahLst/>
              <a:cxnLst/>
              <a:rect l="l" t="t" r="r" b="b"/>
              <a:pathLst>
                <a:path w="2844165" h="389890">
                  <a:moveTo>
                    <a:pt x="2649093" y="0"/>
                  </a:moveTo>
                  <a:lnTo>
                    <a:pt x="194691" y="0"/>
                  </a:lnTo>
                  <a:lnTo>
                    <a:pt x="150036" y="5139"/>
                  </a:lnTo>
                  <a:lnTo>
                    <a:pt x="109051" y="19780"/>
                  </a:lnTo>
                  <a:lnTo>
                    <a:pt x="72903" y="42757"/>
                  </a:lnTo>
                  <a:lnTo>
                    <a:pt x="42757" y="72903"/>
                  </a:lnTo>
                  <a:lnTo>
                    <a:pt x="19780" y="109051"/>
                  </a:lnTo>
                  <a:lnTo>
                    <a:pt x="5139" y="150036"/>
                  </a:lnTo>
                  <a:lnTo>
                    <a:pt x="0" y="194690"/>
                  </a:lnTo>
                  <a:lnTo>
                    <a:pt x="5139" y="239345"/>
                  </a:lnTo>
                  <a:lnTo>
                    <a:pt x="19780" y="280330"/>
                  </a:lnTo>
                  <a:lnTo>
                    <a:pt x="42757" y="316478"/>
                  </a:lnTo>
                  <a:lnTo>
                    <a:pt x="72903" y="346624"/>
                  </a:lnTo>
                  <a:lnTo>
                    <a:pt x="109051" y="369601"/>
                  </a:lnTo>
                  <a:lnTo>
                    <a:pt x="150036" y="384242"/>
                  </a:lnTo>
                  <a:lnTo>
                    <a:pt x="194691" y="389381"/>
                  </a:lnTo>
                  <a:lnTo>
                    <a:pt x="2649093" y="389381"/>
                  </a:lnTo>
                  <a:lnTo>
                    <a:pt x="2693747" y="384242"/>
                  </a:lnTo>
                  <a:lnTo>
                    <a:pt x="2734732" y="369601"/>
                  </a:lnTo>
                  <a:lnTo>
                    <a:pt x="2770880" y="346624"/>
                  </a:lnTo>
                  <a:lnTo>
                    <a:pt x="2801026" y="316478"/>
                  </a:lnTo>
                  <a:lnTo>
                    <a:pt x="2824003" y="280330"/>
                  </a:lnTo>
                  <a:lnTo>
                    <a:pt x="2838644" y="239345"/>
                  </a:lnTo>
                  <a:lnTo>
                    <a:pt x="2843784" y="194690"/>
                  </a:lnTo>
                  <a:lnTo>
                    <a:pt x="2838644" y="150036"/>
                  </a:lnTo>
                  <a:lnTo>
                    <a:pt x="2824003" y="109051"/>
                  </a:lnTo>
                  <a:lnTo>
                    <a:pt x="2801026" y="72903"/>
                  </a:lnTo>
                  <a:lnTo>
                    <a:pt x="2770880" y="42757"/>
                  </a:lnTo>
                  <a:lnTo>
                    <a:pt x="2734732" y="19780"/>
                  </a:lnTo>
                  <a:lnTo>
                    <a:pt x="2693747" y="5139"/>
                  </a:lnTo>
                  <a:lnTo>
                    <a:pt x="2649093" y="0"/>
                  </a:lnTo>
                  <a:close/>
                </a:path>
              </a:pathLst>
            </a:custGeom>
            <a:solidFill>
              <a:srgbClr val="06A297"/>
            </a:solidFill>
          </p:spPr>
          <p:txBody>
            <a:bodyPr wrap="square" lIns="0" tIns="0" rIns="0" bIns="0" rtlCol="0"/>
            <a:lstStyle/>
            <a:p>
              <a:endParaRPr/>
            </a:p>
          </p:txBody>
        </p:sp>
        <p:pic>
          <p:nvPicPr>
            <p:cNvPr id="8" name="object 8"/>
            <p:cNvPicPr/>
            <p:nvPr/>
          </p:nvPicPr>
          <p:blipFill>
            <a:blip r:embed="rId3" cstate="print"/>
            <a:stretch>
              <a:fillRect/>
            </a:stretch>
          </p:blipFill>
          <p:spPr>
            <a:xfrm>
              <a:off x="1410461" y="1579626"/>
              <a:ext cx="2857500" cy="2367534"/>
            </a:xfrm>
            <a:prstGeom prst="rect">
              <a:avLst/>
            </a:prstGeom>
          </p:spPr>
        </p:pic>
      </p:grpSp>
      <p:sp>
        <p:nvSpPr>
          <p:cNvPr id="9" name="object 9"/>
          <p:cNvSpPr txBox="1"/>
          <p:nvPr/>
        </p:nvSpPr>
        <p:spPr>
          <a:xfrm>
            <a:off x="5822696" y="1253236"/>
            <a:ext cx="1207770" cy="238760"/>
          </a:xfrm>
          <a:prstGeom prst="rect">
            <a:avLst/>
          </a:prstGeom>
        </p:spPr>
        <p:txBody>
          <a:bodyPr vert="horz" wrap="square" lIns="0" tIns="12065" rIns="0" bIns="0" rtlCol="0">
            <a:spAutoFit/>
          </a:bodyPr>
          <a:lstStyle/>
          <a:p>
            <a:pPr marL="12700">
              <a:lnSpc>
                <a:spcPct val="100000"/>
              </a:lnSpc>
              <a:spcBef>
                <a:spcPts val="95"/>
              </a:spcBef>
            </a:pPr>
            <a:r>
              <a:rPr sz="1400" b="1" dirty="0">
                <a:solidFill>
                  <a:srgbClr val="FFFFFF"/>
                </a:solidFill>
                <a:latin typeface="Calisto MT"/>
                <a:cs typeface="Calisto MT"/>
              </a:rPr>
              <a:t>Platform</a:t>
            </a:r>
            <a:r>
              <a:rPr sz="1400" b="1" spc="-35" dirty="0">
                <a:solidFill>
                  <a:srgbClr val="FFFFFF"/>
                </a:solidFill>
                <a:latin typeface="Calisto MT"/>
                <a:cs typeface="Calisto MT"/>
              </a:rPr>
              <a:t> </a:t>
            </a:r>
            <a:r>
              <a:rPr sz="1400" b="1" spc="-20" dirty="0">
                <a:solidFill>
                  <a:srgbClr val="FFFFFF"/>
                </a:solidFill>
                <a:latin typeface="Calisto MT"/>
                <a:cs typeface="Calisto MT"/>
              </a:rPr>
              <a:t>Layer</a:t>
            </a:r>
            <a:endParaRPr sz="1400">
              <a:latin typeface="Calisto MT"/>
              <a:cs typeface="Calisto MT"/>
            </a:endParaRPr>
          </a:p>
        </p:txBody>
      </p:sp>
      <p:sp>
        <p:nvSpPr>
          <p:cNvPr id="10" name="object 10"/>
          <p:cNvSpPr txBox="1"/>
          <p:nvPr/>
        </p:nvSpPr>
        <p:spPr>
          <a:xfrm>
            <a:off x="5020055" y="1607058"/>
            <a:ext cx="2990850" cy="2595880"/>
          </a:xfrm>
          <a:prstGeom prst="rect">
            <a:avLst/>
          </a:prstGeom>
          <a:solidFill>
            <a:srgbClr val="C5D9F0"/>
          </a:solidFill>
        </p:spPr>
        <p:txBody>
          <a:bodyPr vert="horz" wrap="square" lIns="0" tIns="38735" rIns="0" bIns="0" rtlCol="0">
            <a:spAutoFit/>
          </a:bodyPr>
          <a:lstStyle/>
          <a:p>
            <a:pPr marL="91440" marR="84455" algn="just">
              <a:lnSpc>
                <a:spcPct val="100000"/>
              </a:lnSpc>
              <a:spcBef>
                <a:spcPts val="305"/>
              </a:spcBef>
            </a:pPr>
            <a:r>
              <a:rPr sz="1400" spc="-5" dirty="0">
                <a:latin typeface="Calisto MT"/>
                <a:cs typeface="Calisto MT"/>
              </a:rPr>
              <a:t>Includes systems (data nodes) that  </a:t>
            </a:r>
            <a:r>
              <a:rPr sz="1400" dirty="0">
                <a:latin typeface="Calisto MT"/>
                <a:cs typeface="Calisto MT"/>
              </a:rPr>
              <a:t>host </a:t>
            </a:r>
            <a:r>
              <a:rPr sz="1400" spc="-5" dirty="0">
                <a:latin typeface="Calisto MT"/>
                <a:cs typeface="Calisto MT"/>
              </a:rPr>
              <a:t>actual </a:t>
            </a:r>
            <a:r>
              <a:rPr sz="1400" dirty="0">
                <a:latin typeface="Calisto MT"/>
                <a:cs typeface="Calisto MT"/>
              </a:rPr>
              <a:t>Azure </a:t>
            </a:r>
            <a:r>
              <a:rPr sz="1400" spc="-5" dirty="0">
                <a:latin typeface="Calisto MT"/>
                <a:cs typeface="Calisto MT"/>
              </a:rPr>
              <a:t>SQL Server in the  data </a:t>
            </a:r>
            <a:r>
              <a:rPr sz="1400" spc="-20" dirty="0">
                <a:latin typeface="Calisto MT"/>
                <a:cs typeface="Calisto MT"/>
              </a:rPr>
              <a:t>center. </a:t>
            </a:r>
            <a:r>
              <a:rPr sz="1400" spc="-5" dirty="0">
                <a:latin typeface="Calisto MT"/>
                <a:cs typeface="Calisto MT"/>
              </a:rPr>
              <a:t>Each SQL Database </a:t>
            </a:r>
            <a:r>
              <a:rPr sz="1400" spc="-10" dirty="0">
                <a:latin typeface="Calisto MT"/>
                <a:cs typeface="Calisto MT"/>
              </a:rPr>
              <a:t>is  </a:t>
            </a:r>
            <a:r>
              <a:rPr sz="1400" dirty="0">
                <a:latin typeface="Calisto MT"/>
                <a:cs typeface="Calisto MT"/>
              </a:rPr>
              <a:t>stored </a:t>
            </a:r>
            <a:r>
              <a:rPr sz="1400" spc="-5" dirty="0">
                <a:latin typeface="Calisto MT"/>
                <a:cs typeface="Calisto MT"/>
              </a:rPr>
              <a:t>in </a:t>
            </a:r>
            <a:r>
              <a:rPr sz="1400" dirty="0">
                <a:latin typeface="Calisto MT"/>
                <a:cs typeface="Calisto MT"/>
              </a:rPr>
              <a:t>one of the nodes </a:t>
            </a:r>
            <a:r>
              <a:rPr sz="1400" spc="-5" dirty="0">
                <a:latin typeface="Calisto MT"/>
                <a:cs typeface="Calisto MT"/>
              </a:rPr>
              <a:t>and </a:t>
            </a:r>
            <a:r>
              <a:rPr sz="1400" spc="-10" dirty="0">
                <a:latin typeface="Calisto MT"/>
                <a:cs typeface="Calisto MT"/>
              </a:rPr>
              <a:t>is  </a:t>
            </a:r>
            <a:r>
              <a:rPr sz="1400" spc="-5" dirty="0">
                <a:latin typeface="Calisto MT"/>
                <a:cs typeface="Calisto MT"/>
              </a:rPr>
              <a:t>replicated twice across </a:t>
            </a:r>
            <a:r>
              <a:rPr sz="1400" spc="-10" dirty="0">
                <a:latin typeface="Calisto MT"/>
                <a:cs typeface="Calisto MT"/>
              </a:rPr>
              <a:t>two </a:t>
            </a:r>
            <a:r>
              <a:rPr sz="1400" spc="-5" dirty="0">
                <a:latin typeface="Calisto MT"/>
                <a:cs typeface="Calisto MT"/>
              </a:rPr>
              <a:t>different  </a:t>
            </a:r>
            <a:r>
              <a:rPr sz="1400" spc="-10" dirty="0">
                <a:latin typeface="Calisto MT"/>
                <a:cs typeface="Calisto MT"/>
              </a:rPr>
              <a:t>physical servers. </a:t>
            </a:r>
            <a:r>
              <a:rPr sz="1400" dirty="0">
                <a:latin typeface="Calisto MT"/>
                <a:cs typeface="Calisto MT"/>
              </a:rPr>
              <a:t>Azure </a:t>
            </a:r>
            <a:r>
              <a:rPr sz="1400" spc="-5" dirty="0">
                <a:latin typeface="Calisto MT"/>
                <a:cs typeface="Calisto MT"/>
              </a:rPr>
              <a:t>SQL ensures  that </a:t>
            </a:r>
            <a:r>
              <a:rPr sz="1400" spc="-10" dirty="0">
                <a:latin typeface="Calisto MT"/>
                <a:cs typeface="Calisto MT"/>
              </a:rPr>
              <a:t>multiple copies </a:t>
            </a:r>
            <a:r>
              <a:rPr sz="1400" spc="-5" dirty="0">
                <a:latin typeface="Calisto MT"/>
                <a:cs typeface="Calisto MT"/>
              </a:rPr>
              <a:t>of servers are  </a:t>
            </a:r>
            <a:r>
              <a:rPr sz="1400" dirty="0">
                <a:latin typeface="Calisto MT"/>
                <a:cs typeface="Calisto MT"/>
              </a:rPr>
              <a:t>kept </a:t>
            </a:r>
            <a:r>
              <a:rPr sz="1400" spc="-5" dirty="0">
                <a:latin typeface="Calisto MT"/>
                <a:cs typeface="Calisto MT"/>
              </a:rPr>
              <a:t>within the </a:t>
            </a:r>
            <a:r>
              <a:rPr sz="1400" dirty="0">
                <a:latin typeface="Calisto MT"/>
                <a:cs typeface="Calisto MT"/>
              </a:rPr>
              <a:t>Azure </a:t>
            </a:r>
            <a:r>
              <a:rPr sz="1400" spc="-5" dirty="0">
                <a:latin typeface="Calisto MT"/>
                <a:cs typeface="Calisto MT"/>
              </a:rPr>
              <a:t>Cloud. </a:t>
            </a:r>
            <a:r>
              <a:rPr sz="1400" dirty="0">
                <a:latin typeface="Calisto MT"/>
                <a:cs typeface="Calisto MT"/>
              </a:rPr>
              <a:t>It </a:t>
            </a:r>
            <a:r>
              <a:rPr sz="1400" spc="-10" dirty="0">
                <a:latin typeface="Calisto MT"/>
                <a:cs typeface="Calisto MT"/>
              </a:rPr>
              <a:t>also  </a:t>
            </a:r>
            <a:r>
              <a:rPr sz="1400" spc="-5" dirty="0">
                <a:latin typeface="Calisto MT"/>
                <a:cs typeface="Calisto MT"/>
              </a:rPr>
              <a:t>ensures that the copies are  synchronized when data in them </a:t>
            </a:r>
            <a:r>
              <a:rPr sz="1400" spc="-10" dirty="0">
                <a:latin typeface="Calisto MT"/>
                <a:cs typeface="Calisto MT"/>
              </a:rPr>
              <a:t>is  </a:t>
            </a:r>
            <a:r>
              <a:rPr sz="1400" spc="-5" dirty="0">
                <a:latin typeface="Calisto MT"/>
                <a:cs typeface="Calisto MT"/>
              </a:rPr>
              <a:t>manipulated.</a:t>
            </a:r>
            <a:endParaRPr sz="1400">
              <a:latin typeface="Calisto MT"/>
              <a:cs typeface="Calisto MT"/>
            </a:endParaRPr>
          </a:p>
        </p:txBody>
      </p:sp>
      <p:sp>
        <p:nvSpPr>
          <p:cNvPr id="11" name="object 11"/>
          <p:cNvSpPr txBox="1"/>
          <p:nvPr/>
        </p:nvSpPr>
        <p:spPr>
          <a:xfrm>
            <a:off x="1501902" y="1249933"/>
            <a:ext cx="2686685" cy="2515870"/>
          </a:xfrm>
          <a:prstGeom prst="rect">
            <a:avLst/>
          </a:prstGeom>
        </p:spPr>
        <p:txBody>
          <a:bodyPr vert="horz" wrap="square" lIns="0" tIns="12065" rIns="0" bIns="0" rtlCol="0">
            <a:spAutoFit/>
          </a:bodyPr>
          <a:lstStyle/>
          <a:p>
            <a:pPr marL="876300">
              <a:lnSpc>
                <a:spcPct val="100000"/>
              </a:lnSpc>
              <a:spcBef>
                <a:spcPts val="95"/>
              </a:spcBef>
            </a:pPr>
            <a:r>
              <a:rPr sz="1400" b="1" spc="-5" dirty="0">
                <a:solidFill>
                  <a:srgbClr val="FFFFFF"/>
                </a:solidFill>
                <a:latin typeface="Calisto MT"/>
                <a:cs typeface="Calisto MT"/>
              </a:rPr>
              <a:t>Client</a:t>
            </a:r>
            <a:r>
              <a:rPr sz="1400" b="1" spc="-35" dirty="0">
                <a:solidFill>
                  <a:srgbClr val="FFFFFF"/>
                </a:solidFill>
                <a:latin typeface="Calisto MT"/>
                <a:cs typeface="Calisto MT"/>
              </a:rPr>
              <a:t> </a:t>
            </a:r>
            <a:r>
              <a:rPr sz="1400" b="1" spc="-20" dirty="0">
                <a:solidFill>
                  <a:srgbClr val="FFFFFF"/>
                </a:solidFill>
                <a:latin typeface="Calisto MT"/>
                <a:cs typeface="Calisto MT"/>
              </a:rPr>
              <a:t>Layer</a:t>
            </a:r>
            <a:endParaRPr sz="1400">
              <a:latin typeface="Calisto MT"/>
              <a:cs typeface="Calisto MT"/>
            </a:endParaRPr>
          </a:p>
          <a:p>
            <a:pPr marR="5080" algn="just">
              <a:lnSpc>
                <a:spcPct val="100000"/>
              </a:lnSpc>
              <a:spcBef>
                <a:spcPts val="1125"/>
              </a:spcBef>
            </a:pPr>
            <a:r>
              <a:rPr sz="1400" spc="-5" dirty="0">
                <a:latin typeface="Calisto MT"/>
                <a:cs typeface="Calisto MT"/>
              </a:rPr>
              <a:t>Acts as an interface for  </a:t>
            </a:r>
            <a:r>
              <a:rPr sz="1400" spc="-10" dirty="0">
                <a:latin typeface="Calisto MT"/>
                <a:cs typeface="Calisto MT"/>
              </a:rPr>
              <a:t>applications. </a:t>
            </a:r>
            <a:r>
              <a:rPr sz="1400" spc="-5" dirty="0">
                <a:latin typeface="Calisto MT"/>
                <a:cs typeface="Calisto MT"/>
              </a:rPr>
              <a:t>Includes SQL Server  </a:t>
            </a:r>
            <a:r>
              <a:rPr sz="1400" spc="-10" dirty="0">
                <a:latin typeface="Calisto MT"/>
                <a:cs typeface="Calisto MT"/>
              </a:rPr>
              <a:t>tools, </a:t>
            </a:r>
            <a:r>
              <a:rPr sz="1400" spc="-5" dirty="0">
                <a:latin typeface="Calisto MT"/>
                <a:cs typeface="Calisto MT"/>
              </a:rPr>
              <a:t>Open Database Connectivity  (ODBC), </a:t>
            </a:r>
            <a:r>
              <a:rPr sz="1400" spc="-45" dirty="0">
                <a:latin typeface="Calisto MT"/>
                <a:cs typeface="Calisto MT"/>
              </a:rPr>
              <a:t>ADO.NET,</a:t>
            </a:r>
            <a:r>
              <a:rPr sz="1400" spc="190" dirty="0">
                <a:latin typeface="Calisto MT"/>
                <a:cs typeface="Calisto MT"/>
              </a:rPr>
              <a:t> </a:t>
            </a:r>
            <a:r>
              <a:rPr sz="1400" dirty="0">
                <a:latin typeface="Calisto MT"/>
                <a:cs typeface="Calisto MT"/>
              </a:rPr>
              <a:t>and</a:t>
            </a:r>
            <a:endParaRPr sz="1400">
              <a:latin typeface="Calisto MT"/>
              <a:cs typeface="Calisto MT"/>
            </a:endParaRPr>
          </a:p>
          <a:p>
            <a:pPr algn="just">
              <a:lnSpc>
                <a:spcPct val="100000"/>
              </a:lnSpc>
              <a:spcBef>
                <a:spcPts val="5"/>
              </a:spcBef>
            </a:pPr>
            <a:r>
              <a:rPr sz="1400" dirty="0">
                <a:latin typeface="Calisto MT"/>
                <a:cs typeface="Calisto MT"/>
              </a:rPr>
              <a:t>Hypertext </a:t>
            </a:r>
            <a:r>
              <a:rPr sz="1400" spc="-5" dirty="0">
                <a:latin typeface="Calisto MT"/>
                <a:cs typeface="Calisto MT"/>
              </a:rPr>
              <a:t>Preprocessor</a:t>
            </a:r>
            <a:r>
              <a:rPr sz="1400" spc="10" dirty="0">
                <a:latin typeface="Calisto MT"/>
                <a:cs typeface="Calisto MT"/>
              </a:rPr>
              <a:t> </a:t>
            </a:r>
            <a:r>
              <a:rPr sz="1400" spc="-5" dirty="0">
                <a:latin typeface="Calisto MT"/>
                <a:cs typeface="Calisto MT"/>
              </a:rPr>
              <a:t>(PHP).</a:t>
            </a:r>
            <a:endParaRPr sz="1400">
              <a:latin typeface="Calisto MT"/>
              <a:cs typeface="Calisto MT"/>
            </a:endParaRPr>
          </a:p>
          <a:p>
            <a:pPr>
              <a:lnSpc>
                <a:spcPct val="100000"/>
              </a:lnSpc>
            </a:pPr>
            <a:endParaRPr sz="1450">
              <a:latin typeface="Calisto MT"/>
              <a:cs typeface="Calisto MT"/>
            </a:endParaRPr>
          </a:p>
          <a:p>
            <a:pPr marR="5080" algn="just">
              <a:lnSpc>
                <a:spcPct val="100000"/>
              </a:lnSpc>
            </a:pPr>
            <a:r>
              <a:rPr sz="1400" spc="-5" dirty="0">
                <a:latin typeface="Calisto MT"/>
                <a:cs typeface="Calisto MT"/>
              </a:rPr>
              <a:t>TDS transfers data </a:t>
            </a:r>
            <a:r>
              <a:rPr sz="1400" spc="-10" dirty="0">
                <a:latin typeface="Calisto MT"/>
                <a:cs typeface="Calisto MT"/>
              </a:rPr>
              <a:t>between  </a:t>
            </a:r>
            <a:r>
              <a:rPr sz="1400" spc="-5" dirty="0">
                <a:latin typeface="Calisto MT"/>
                <a:cs typeface="Calisto MT"/>
              </a:rPr>
              <a:t>applications and SQL Databases  and also communicates with  </a:t>
            </a:r>
            <a:r>
              <a:rPr sz="1400" spc="-10" dirty="0">
                <a:latin typeface="Calisto MT"/>
                <a:cs typeface="Calisto MT"/>
              </a:rPr>
              <a:t>applications.</a:t>
            </a:r>
            <a:endParaRPr sz="1400">
              <a:latin typeface="Calisto MT"/>
              <a:cs typeface="Calisto MT"/>
            </a:endParaRPr>
          </a:p>
        </p:txBody>
      </p:sp>
      <p:sp>
        <p:nvSpPr>
          <p:cNvPr id="12" name="object 12"/>
          <p:cNvSpPr/>
          <p:nvPr/>
        </p:nvSpPr>
        <p:spPr>
          <a:xfrm>
            <a:off x="1595627" y="4274058"/>
            <a:ext cx="2799080" cy="434340"/>
          </a:xfrm>
          <a:custGeom>
            <a:avLst/>
            <a:gdLst/>
            <a:ahLst/>
            <a:cxnLst/>
            <a:rect l="l" t="t" r="r" b="b"/>
            <a:pathLst>
              <a:path w="2799079" h="434339">
                <a:moveTo>
                  <a:pt x="2581656" y="0"/>
                </a:moveTo>
                <a:lnTo>
                  <a:pt x="217170" y="0"/>
                </a:lnTo>
                <a:lnTo>
                  <a:pt x="167391" y="5738"/>
                </a:lnTo>
                <a:lnTo>
                  <a:pt x="121686" y="22082"/>
                </a:lnTo>
                <a:lnTo>
                  <a:pt x="81362" y="47726"/>
                </a:lnTo>
                <a:lnTo>
                  <a:pt x="47726" y="81362"/>
                </a:lnTo>
                <a:lnTo>
                  <a:pt x="22082" y="121686"/>
                </a:lnTo>
                <a:lnTo>
                  <a:pt x="5738" y="167391"/>
                </a:lnTo>
                <a:lnTo>
                  <a:pt x="0" y="217170"/>
                </a:lnTo>
                <a:lnTo>
                  <a:pt x="5738" y="266948"/>
                </a:lnTo>
                <a:lnTo>
                  <a:pt x="22082" y="312653"/>
                </a:lnTo>
                <a:lnTo>
                  <a:pt x="47726" y="352977"/>
                </a:lnTo>
                <a:lnTo>
                  <a:pt x="81362" y="386613"/>
                </a:lnTo>
                <a:lnTo>
                  <a:pt x="121686" y="412257"/>
                </a:lnTo>
                <a:lnTo>
                  <a:pt x="167391" y="428601"/>
                </a:lnTo>
                <a:lnTo>
                  <a:pt x="217170" y="434340"/>
                </a:lnTo>
                <a:lnTo>
                  <a:pt x="2581656" y="434340"/>
                </a:lnTo>
                <a:lnTo>
                  <a:pt x="2631434" y="428601"/>
                </a:lnTo>
                <a:lnTo>
                  <a:pt x="2677139" y="412257"/>
                </a:lnTo>
                <a:lnTo>
                  <a:pt x="2717463" y="386613"/>
                </a:lnTo>
                <a:lnTo>
                  <a:pt x="2751099" y="352977"/>
                </a:lnTo>
                <a:lnTo>
                  <a:pt x="2776743" y="312653"/>
                </a:lnTo>
                <a:lnTo>
                  <a:pt x="2793087" y="266948"/>
                </a:lnTo>
                <a:lnTo>
                  <a:pt x="2798826" y="217170"/>
                </a:lnTo>
                <a:lnTo>
                  <a:pt x="2793087" y="167391"/>
                </a:lnTo>
                <a:lnTo>
                  <a:pt x="2776743" y="121686"/>
                </a:lnTo>
                <a:lnTo>
                  <a:pt x="2751099" y="81362"/>
                </a:lnTo>
                <a:lnTo>
                  <a:pt x="2717463" y="47726"/>
                </a:lnTo>
                <a:lnTo>
                  <a:pt x="2677139" y="22082"/>
                </a:lnTo>
                <a:lnTo>
                  <a:pt x="2631434" y="5738"/>
                </a:lnTo>
                <a:lnTo>
                  <a:pt x="2581656" y="0"/>
                </a:lnTo>
                <a:close/>
              </a:path>
            </a:pathLst>
          </a:custGeom>
          <a:solidFill>
            <a:srgbClr val="90C220"/>
          </a:solidFill>
        </p:spPr>
        <p:txBody>
          <a:bodyPr wrap="square" lIns="0" tIns="0" rIns="0" bIns="0" rtlCol="0"/>
          <a:lstStyle/>
          <a:p>
            <a:endParaRPr/>
          </a:p>
        </p:txBody>
      </p:sp>
      <p:sp>
        <p:nvSpPr>
          <p:cNvPr id="13" name="object 13"/>
          <p:cNvSpPr txBox="1"/>
          <p:nvPr/>
        </p:nvSpPr>
        <p:spPr>
          <a:xfrm>
            <a:off x="2456179" y="4366005"/>
            <a:ext cx="1076960" cy="238760"/>
          </a:xfrm>
          <a:prstGeom prst="rect">
            <a:avLst/>
          </a:prstGeom>
        </p:spPr>
        <p:txBody>
          <a:bodyPr vert="horz" wrap="square" lIns="0" tIns="12065" rIns="0" bIns="0" rtlCol="0">
            <a:spAutoFit/>
          </a:bodyPr>
          <a:lstStyle/>
          <a:p>
            <a:pPr marL="12700">
              <a:lnSpc>
                <a:spcPct val="100000"/>
              </a:lnSpc>
              <a:spcBef>
                <a:spcPts val="95"/>
              </a:spcBef>
            </a:pPr>
            <a:r>
              <a:rPr sz="1400" b="1" spc="-5" dirty="0">
                <a:solidFill>
                  <a:srgbClr val="FFFFFF"/>
                </a:solidFill>
                <a:latin typeface="Calisto MT"/>
                <a:cs typeface="Calisto MT"/>
              </a:rPr>
              <a:t>Service</a:t>
            </a:r>
            <a:r>
              <a:rPr sz="1400" b="1" spc="-20" dirty="0">
                <a:solidFill>
                  <a:srgbClr val="FFFFFF"/>
                </a:solidFill>
                <a:latin typeface="Calisto MT"/>
                <a:cs typeface="Calisto MT"/>
              </a:rPr>
              <a:t> Layer</a:t>
            </a:r>
            <a:endParaRPr sz="1400">
              <a:latin typeface="Calisto MT"/>
              <a:cs typeface="Calisto MT"/>
            </a:endParaRPr>
          </a:p>
        </p:txBody>
      </p:sp>
      <p:sp>
        <p:nvSpPr>
          <p:cNvPr id="14" name="object 14"/>
          <p:cNvSpPr/>
          <p:nvPr/>
        </p:nvSpPr>
        <p:spPr>
          <a:xfrm>
            <a:off x="5069585" y="4350258"/>
            <a:ext cx="2867025" cy="388620"/>
          </a:xfrm>
          <a:custGeom>
            <a:avLst/>
            <a:gdLst/>
            <a:ahLst/>
            <a:cxnLst/>
            <a:rect l="l" t="t" r="r" b="b"/>
            <a:pathLst>
              <a:path w="2867025" h="388620">
                <a:moveTo>
                  <a:pt x="2672334" y="0"/>
                </a:moveTo>
                <a:lnTo>
                  <a:pt x="194310" y="0"/>
                </a:lnTo>
                <a:lnTo>
                  <a:pt x="149756" y="5131"/>
                </a:lnTo>
                <a:lnTo>
                  <a:pt x="108857" y="19749"/>
                </a:lnTo>
                <a:lnTo>
                  <a:pt x="72778" y="42687"/>
                </a:lnTo>
                <a:lnTo>
                  <a:pt x="42687" y="72778"/>
                </a:lnTo>
                <a:lnTo>
                  <a:pt x="19749" y="108857"/>
                </a:lnTo>
                <a:lnTo>
                  <a:pt x="5131" y="149756"/>
                </a:lnTo>
                <a:lnTo>
                  <a:pt x="0" y="194310"/>
                </a:lnTo>
                <a:lnTo>
                  <a:pt x="5131" y="238863"/>
                </a:lnTo>
                <a:lnTo>
                  <a:pt x="19749" y="279762"/>
                </a:lnTo>
                <a:lnTo>
                  <a:pt x="42687" y="315841"/>
                </a:lnTo>
                <a:lnTo>
                  <a:pt x="72778" y="345932"/>
                </a:lnTo>
                <a:lnTo>
                  <a:pt x="108857" y="368870"/>
                </a:lnTo>
                <a:lnTo>
                  <a:pt x="149756" y="383488"/>
                </a:lnTo>
                <a:lnTo>
                  <a:pt x="194310" y="388620"/>
                </a:lnTo>
                <a:lnTo>
                  <a:pt x="2672334" y="388620"/>
                </a:lnTo>
                <a:lnTo>
                  <a:pt x="2716887" y="383488"/>
                </a:lnTo>
                <a:lnTo>
                  <a:pt x="2757786" y="368870"/>
                </a:lnTo>
                <a:lnTo>
                  <a:pt x="2793865" y="345932"/>
                </a:lnTo>
                <a:lnTo>
                  <a:pt x="2823956" y="315841"/>
                </a:lnTo>
                <a:lnTo>
                  <a:pt x="2846894" y="279762"/>
                </a:lnTo>
                <a:lnTo>
                  <a:pt x="2861512" y="238863"/>
                </a:lnTo>
                <a:lnTo>
                  <a:pt x="2866644" y="194310"/>
                </a:lnTo>
                <a:lnTo>
                  <a:pt x="2861512" y="149756"/>
                </a:lnTo>
                <a:lnTo>
                  <a:pt x="2846894" y="108857"/>
                </a:lnTo>
                <a:lnTo>
                  <a:pt x="2823956" y="72778"/>
                </a:lnTo>
                <a:lnTo>
                  <a:pt x="2793865" y="42687"/>
                </a:lnTo>
                <a:lnTo>
                  <a:pt x="2757786" y="19749"/>
                </a:lnTo>
                <a:lnTo>
                  <a:pt x="2716887" y="5131"/>
                </a:lnTo>
                <a:lnTo>
                  <a:pt x="2672334" y="0"/>
                </a:lnTo>
                <a:close/>
              </a:path>
            </a:pathLst>
          </a:custGeom>
          <a:solidFill>
            <a:srgbClr val="FAA100"/>
          </a:solidFill>
        </p:spPr>
        <p:txBody>
          <a:bodyPr wrap="square" lIns="0" tIns="0" rIns="0" bIns="0" rtlCol="0"/>
          <a:lstStyle/>
          <a:p>
            <a:endParaRPr/>
          </a:p>
        </p:txBody>
      </p:sp>
      <p:sp>
        <p:nvSpPr>
          <p:cNvPr id="15" name="object 15"/>
          <p:cNvSpPr txBox="1"/>
          <p:nvPr/>
        </p:nvSpPr>
        <p:spPr>
          <a:xfrm>
            <a:off x="5705602" y="4419853"/>
            <a:ext cx="1595755" cy="238760"/>
          </a:xfrm>
          <a:prstGeom prst="rect">
            <a:avLst/>
          </a:prstGeom>
        </p:spPr>
        <p:txBody>
          <a:bodyPr vert="horz" wrap="square" lIns="0" tIns="12065" rIns="0" bIns="0" rtlCol="0">
            <a:spAutoFit/>
          </a:bodyPr>
          <a:lstStyle/>
          <a:p>
            <a:pPr marL="12700">
              <a:lnSpc>
                <a:spcPct val="100000"/>
              </a:lnSpc>
              <a:spcBef>
                <a:spcPts val="95"/>
              </a:spcBef>
            </a:pPr>
            <a:r>
              <a:rPr sz="1400" b="1" spc="-5" dirty="0">
                <a:solidFill>
                  <a:srgbClr val="FFFFFF"/>
                </a:solidFill>
                <a:latin typeface="Calisto MT"/>
                <a:cs typeface="Calisto MT"/>
              </a:rPr>
              <a:t>Infrastructure</a:t>
            </a:r>
            <a:r>
              <a:rPr sz="1400" b="1" spc="25" dirty="0">
                <a:solidFill>
                  <a:srgbClr val="FFFFFF"/>
                </a:solidFill>
                <a:latin typeface="Calisto MT"/>
                <a:cs typeface="Calisto MT"/>
              </a:rPr>
              <a:t> </a:t>
            </a:r>
            <a:r>
              <a:rPr sz="1400" b="1" spc="-20" dirty="0">
                <a:solidFill>
                  <a:srgbClr val="FFFFFF"/>
                </a:solidFill>
                <a:latin typeface="Calisto MT"/>
                <a:cs typeface="Calisto MT"/>
              </a:rPr>
              <a:t>Layer</a:t>
            </a:r>
            <a:endParaRPr sz="1400">
              <a:latin typeface="Calisto MT"/>
              <a:cs typeface="Calisto MT"/>
            </a:endParaRPr>
          </a:p>
        </p:txBody>
      </p:sp>
      <p:pic>
        <p:nvPicPr>
          <p:cNvPr id="16" name="object 16"/>
          <p:cNvPicPr/>
          <p:nvPr/>
        </p:nvPicPr>
        <p:blipFill>
          <a:blip r:embed="rId4" cstate="print"/>
          <a:stretch>
            <a:fillRect/>
          </a:stretch>
        </p:blipFill>
        <p:spPr>
          <a:xfrm>
            <a:off x="5145023" y="4738878"/>
            <a:ext cx="2719578" cy="1443990"/>
          </a:xfrm>
          <a:prstGeom prst="rect">
            <a:avLst/>
          </a:prstGeom>
        </p:spPr>
      </p:pic>
      <p:sp>
        <p:nvSpPr>
          <p:cNvPr id="17" name="object 17"/>
          <p:cNvSpPr txBox="1"/>
          <p:nvPr/>
        </p:nvSpPr>
        <p:spPr>
          <a:xfrm>
            <a:off x="5145023" y="4738878"/>
            <a:ext cx="2719705" cy="1443990"/>
          </a:xfrm>
          <a:prstGeom prst="rect">
            <a:avLst/>
          </a:prstGeom>
        </p:spPr>
        <p:txBody>
          <a:bodyPr vert="horz" wrap="square" lIns="0" tIns="39370" rIns="0" bIns="0" rtlCol="0">
            <a:spAutoFit/>
          </a:bodyPr>
          <a:lstStyle/>
          <a:p>
            <a:pPr marL="91440" marR="84455" algn="just">
              <a:lnSpc>
                <a:spcPct val="100000"/>
              </a:lnSpc>
              <a:spcBef>
                <a:spcPts val="310"/>
              </a:spcBef>
            </a:pPr>
            <a:r>
              <a:rPr sz="1400" spc="-5" dirty="0">
                <a:latin typeface="Calisto MT"/>
                <a:cs typeface="Calisto MT"/>
              </a:rPr>
              <a:t>Is the </a:t>
            </a:r>
            <a:r>
              <a:rPr sz="1400" dirty="0">
                <a:latin typeface="Calisto MT"/>
                <a:cs typeface="Calisto MT"/>
              </a:rPr>
              <a:t>bottom-most </a:t>
            </a:r>
            <a:r>
              <a:rPr sz="1400" spc="-20" dirty="0">
                <a:latin typeface="Calisto MT"/>
                <a:cs typeface="Calisto MT"/>
              </a:rPr>
              <a:t>layer </a:t>
            </a:r>
            <a:r>
              <a:rPr sz="1400" spc="-5" dirty="0">
                <a:latin typeface="Calisto MT"/>
                <a:cs typeface="Calisto MT"/>
              </a:rPr>
              <a:t>of the  architecture and is responsible for  administration </a:t>
            </a:r>
            <a:r>
              <a:rPr sz="1400" dirty="0">
                <a:latin typeface="Calisto MT"/>
                <a:cs typeface="Calisto MT"/>
              </a:rPr>
              <a:t>of </a:t>
            </a:r>
            <a:r>
              <a:rPr sz="1400" spc="-5" dirty="0">
                <a:latin typeface="Calisto MT"/>
                <a:cs typeface="Calisto MT"/>
              </a:rPr>
              <a:t>OS and  physical</a:t>
            </a:r>
            <a:r>
              <a:rPr sz="1400" spc="-15" dirty="0">
                <a:latin typeface="Calisto MT"/>
                <a:cs typeface="Calisto MT"/>
              </a:rPr>
              <a:t> </a:t>
            </a:r>
            <a:r>
              <a:rPr sz="1400" spc="-20" dirty="0">
                <a:latin typeface="Calisto MT"/>
                <a:cs typeface="Calisto MT"/>
              </a:rPr>
              <a:t>hardware.</a:t>
            </a:r>
            <a:endParaRPr sz="1400">
              <a:latin typeface="Calisto MT"/>
              <a:cs typeface="Calisto MT"/>
            </a:endParaRPr>
          </a:p>
        </p:txBody>
      </p:sp>
      <p:sp>
        <p:nvSpPr>
          <p:cNvPr id="18" name="object 18"/>
          <p:cNvSpPr/>
          <p:nvPr/>
        </p:nvSpPr>
        <p:spPr>
          <a:xfrm>
            <a:off x="1582674" y="4776978"/>
            <a:ext cx="2866390" cy="1873885"/>
          </a:xfrm>
          <a:custGeom>
            <a:avLst/>
            <a:gdLst/>
            <a:ahLst/>
            <a:cxnLst/>
            <a:rect l="l" t="t" r="r" b="b"/>
            <a:pathLst>
              <a:path w="2866390" h="1873884">
                <a:moveTo>
                  <a:pt x="2865881" y="0"/>
                </a:moveTo>
                <a:lnTo>
                  <a:pt x="0" y="0"/>
                </a:lnTo>
                <a:lnTo>
                  <a:pt x="0" y="1873758"/>
                </a:lnTo>
                <a:lnTo>
                  <a:pt x="2865881" y="1873758"/>
                </a:lnTo>
                <a:lnTo>
                  <a:pt x="2865881" y="0"/>
                </a:lnTo>
                <a:close/>
              </a:path>
            </a:pathLst>
          </a:custGeom>
          <a:solidFill>
            <a:srgbClr val="D6E3BC"/>
          </a:solidFill>
        </p:spPr>
        <p:txBody>
          <a:bodyPr wrap="square" lIns="0" tIns="0" rIns="0" bIns="0" rtlCol="0"/>
          <a:lstStyle/>
          <a:p>
            <a:endParaRPr/>
          </a:p>
        </p:txBody>
      </p:sp>
      <p:sp>
        <p:nvSpPr>
          <p:cNvPr id="19" name="object 19"/>
          <p:cNvSpPr txBox="1"/>
          <p:nvPr/>
        </p:nvSpPr>
        <p:spPr>
          <a:xfrm>
            <a:off x="1661414" y="4803394"/>
            <a:ext cx="270637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Calisto MT"/>
                <a:cs typeface="Calisto MT"/>
              </a:rPr>
              <a:t>Lies in </a:t>
            </a:r>
            <a:r>
              <a:rPr sz="1400" spc="-10" dirty="0">
                <a:latin typeface="Calisto MT"/>
                <a:cs typeface="Calisto MT"/>
              </a:rPr>
              <a:t>between </a:t>
            </a:r>
            <a:r>
              <a:rPr sz="1400" dirty="0">
                <a:latin typeface="Calisto MT"/>
                <a:cs typeface="Calisto MT"/>
              </a:rPr>
              <a:t>platform </a:t>
            </a:r>
            <a:r>
              <a:rPr sz="1400" spc="-5" dirty="0">
                <a:latin typeface="Calisto MT"/>
                <a:cs typeface="Calisto MT"/>
              </a:rPr>
              <a:t>and</a:t>
            </a:r>
            <a:r>
              <a:rPr sz="1400" spc="240" dirty="0">
                <a:latin typeface="Calisto MT"/>
                <a:cs typeface="Calisto MT"/>
              </a:rPr>
              <a:t> </a:t>
            </a:r>
            <a:r>
              <a:rPr sz="1400" spc="-5" dirty="0">
                <a:latin typeface="Calisto MT"/>
                <a:cs typeface="Calisto MT"/>
              </a:rPr>
              <a:t>client</a:t>
            </a:r>
            <a:endParaRPr sz="1400">
              <a:latin typeface="Calisto MT"/>
              <a:cs typeface="Calisto MT"/>
            </a:endParaRPr>
          </a:p>
        </p:txBody>
      </p:sp>
      <p:sp>
        <p:nvSpPr>
          <p:cNvPr id="20" name="object 20"/>
          <p:cNvSpPr txBox="1"/>
          <p:nvPr/>
        </p:nvSpPr>
        <p:spPr>
          <a:xfrm>
            <a:off x="1661414" y="5016753"/>
            <a:ext cx="1892935" cy="665480"/>
          </a:xfrm>
          <a:prstGeom prst="rect">
            <a:avLst/>
          </a:prstGeom>
        </p:spPr>
        <p:txBody>
          <a:bodyPr vert="horz" wrap="square" lIns="0" tIns="12065" rIns="0" bIns="0" rtlCol="0">
            <a:spAutoFit/>
          </a:bodyPr>
          <a:lstStyle/>
          <a:p>
            <a:pPr marL="12700" marR="5080" algn="just">
              <a:lnSpc>
                <a:spcPct val="100000"/>
              </a:lnSpc>
              <a:spcBef>
                <a:spcPts val="95"/>
              </a:spcBef>
            </a:pPr>
            <a:r>
              <a:rPr sz="1400" spc="-15" dirty="0">
                <a:latin typeface="Calisto MT"/>
                <a:cs typeface="Calisto MT"/>
              </a:rPr>
              <a:t>layers </a:t>
            </a:r>
            <a:r>
              <a:rPr sz="1400" dirty="0">
                <a:latin typeface="Calisto MT"/>
                <a:cs typeface="Calisto MT"/>
              </a:rPr>
              <a:t>and </a:t>
            </a:r>
            <a:r>
              <a:rPr sz="1400" spc="-5" dirty="0">
                <a:latin typeface="Calisto MT"/>
                <a:cs typeface="Calisto MT"/>
              </a:rPr>
              <a:t>acts as a  </a:t>
            </a:r>
            <a:r>
              <a:rPr sz="1400" spc="-10" dirty="0">
                <a:latin typeface="Calisto MT"/>
                <a:cs typeface="Calisto MT"/>
              </a:rPr>
              <a:t>between </a:t>
            </a:r>
            <a:r>
              <a:rPr sz="1400" spc="-5" dirty="0">
                <a:latin typeface="Calisto MT"/>
                <a:cs typeface="Calisto MT"/>
              </a:rPr>
              <a:t>the </a:t>
            </a:r>
            <a:r>
              <a:rPr sz="1400" spc="-25" dirty="0">
                <a:latin typeface="Calisto MT"/>
                <a:cs typeface="Calisto MT"/>
              </a:rPr>
              <a:t>two. </a:t>
            </a:r>
            <a:r>
              <a:rPr sz="1400" dirty="0">
                <a:latin typeface="Calisto MT"/>
                <a:cs typeface="Calisto MT"/>
              </a:rPr>
              <a:t>It  </a:t>
            </a:r>
            <a:r>
              <a:rPr sz="1400" spc="-5" dirty="0">
                <a:latin typeface="Calisto MT"/>
                <a:cs typeface="Calisto MT"/>
              </a:rPr>
              <a:t>Microsoft </a:t>
            </a:r>
            <a:r>
              <a:rPr sz="1400" dirty="0">
                <a:latin typeface="Calisto MT"/>
                <a:cs typeface="Calisto MT"/>
              </a:rPr>
              <a:t>Azure</a:t>
            </a:r>
            <a:r>
              <a:rPr sz="1400" spc="50" dirty="0">
                <a:latin typeface="Calisto MT"/>
                <a:cs typeface="Calisto MT"/>
              </a:rPr>
              <a:t> </a:t>
            </a:r>
            <a:r>
              <a:rPr sz="1400" spc="-5" dirty="0">
                <a:latin typeface="Calisto MT"/>
                <a:cs typeface="Calisto MT"/>
              </a:rPr>
              <a:t>SQL</a:t>
            </a:r>
            <a:endParaRPr sz="1400">
              <a:latin typeface="Calisto MT"/>
              <a:cs typeface="Calisto MT"/>
            </a:endParaRPr>
          </a:p>
        </p:txBody>
      </p:sp>
      <p:sp>
        <p:nvSpPr>
          <p:cNvPr id="21" name="object 21"/>
          <p:cNvSpPr txBox="1"/>
          <p:nvPr/>
        </p:nvSpPr>
        <p:spPr>
          <a:xfrm>
            <a:off x="3642614" y="5016753"/>
            <a:ext cx="726440" cy="665480"/>
          </a:xfrm>
          <a:prstGeom prst="rect">
            <a:avLst/>
          </a:prstGeom>
        </p:spPr>
        <p:txBody>
          <a:bodyPr vert="horz" wrap="square" lIns="0" tIns="12065" rIns="0" bIns="0" rtlCol="0">
            <a:spAutoFit/>
          </a:bodyPr>
          <a:lstStyle/>
          <a:p>
            <a:pPr marL="12700" marR="5080" indent="41910" algn="just">
              <a:lnSpc>
                <a:spcPct val="100000"/>
              </a:lnSpc>
              <a:spcBef>
                <a:spcPts val="95"/>
              </a:spcBef>
            </a:pPr>
            <a:r>
              <a:rPr sz="1400" spc="-5" dirty="0">
                <a:latin typeface="Calisto MT"/>
                <a:cs typeface="Calisto MT"/>
              </a:rPr>
              <a:t>d</a:t>
            </a:r>
            <a:r>
              <a:rPr sz="1400" dirty="0">
                <a:latin typeface="Calisto MT"/>
                <a:cs typeface="Calisto MT"/>
              </a:rPr>
              <a:t>o</a:t>
            </a:r>
            <a:r>
              <a:rPr sz="1400" spc="-5" dirty="0">
                <a:latin typeface="Calisto MT"/>
                <a:cs typeface="Calisto MT"/>
              </a:rPr>
              <a:t>or</a:t>
            </a:r>
            <a:r>
              <a:rPr sz="1400" spc="-35" dirty="0">
                <a:latin typeface="Calisto MT"/>
                <a:cs typeface="Calisto MT"/>
              </a:rPr>
              <a:t>w</a:t>
            </a:r>
            <a:r>
              <a:rPr sz="1400" spc="-50" dirty="0">
                <a:latin typeface="Calisto MT"/>
                <a:cs typeface="Calisto MT"/>
              </a:rPr>
              <a:t>a</a:t>
            </a:r>
            <a:r>
              <a:rPr sz="1400" spc="-5" dirty="0">
                <a:latin typeface="Calisto MT"/>
                <a:cs typeface="Calisto MT"/>
              </a:rPr>
              <a:t>y  </a:t>
            </a:r>
            <a:r>
              <a:rPr sz="1400" spc="-10" dirty="0">
                <a:latin typeface="Calisto MT"/>
                <a:cs typeface="Calisto MT"/>
              </a:rPr>
              <a:t>validates  </a:t>
            </a:r>
            <a:r>
              <a:rPr sz="1400" spc="-5" dirty="0">
                <a:latin typeface="Calisto MT"/>
                <a:cs typeface="Calisto MT"/>
              </a:rPr>
              <a:t>Database</a:t>
            </a:r>
            <a:endParaRPr sz="1400">
              <a:latin typeface="Calisto MT"/>
              <a:cs typeface="Calisto MT"/>
            </a:endParaRPr>
          </a:p>
        </p:txBody>
      </p:sp>
      <p:sp>
        <p:nvSpPr>
          <p:cNvPr id="22" name="object 22"/>
          <p:cNvSpPr txBox="1"/>
          <p:nvPr/>
        </p:nvSpPr>
        <p:spPr>
          <a:xfrm>
            <a:off x="1661414" y="5657088"/>
            <a:ext cx="270764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Calisto MT"/>
                <a:cs typeface="Calisto MT"/>
              </a:rPr>
              <a:t>requests and authenticates a</a:t>
            </a:r>
            <a:r>
              <a:rPr sz="1400" spc="90" dirty="0">
                <a:latin typeface="Calisto MT"/>
                <a:cs typeface="Calisto MT"/>
              </a:rPr>
              <a:t> </a:t>
            </a:r>
            <a:r>
              <a:rPr sz="1400" spc="-25" dirty="0">
                <a:latin typeface="Calisto MT"/>
                <a:cs typeface="Calisto MT"/>
              </a:rPr>
              <a:t>user.</a:t>
            </a:r>
            <a:endParaRPr sz="1400">
              <a:latin typeface="Calisto MT"/>
              <a:cs typeface="Calisto MT"/>
            </a:endParaRPr>
          </a:p>
        </p:txBody>
      </p:sp>
      <p:sp>
        <p:nvSpPr>
          <p:cNvPr id="23" name="object 23"/>
          <p:cNvSpPr txBox="1"/>
          <p:nvPr/>
        </p:nvSpPr>
        <p:spPr>
          <a:xfrm>
            <a:off x="2392933" y="5870447"/>
            <a:ext cx="1974214"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Calisto MT"/>
                <a:cs typeface="Calisto MT"/>
              </a:rPr>
              <a:t>establishes a</a:t>
            </a:r>
            <a:r>
              <a:rPr sz="1400" spc="60" dirty="0">
                <a:latin typeface="Calisto MT"/>
                <a:cs typeface="Calisto MT"/>
              </a:rPr>
              <a:t> </a:t>
            </a:r>
            <a:r>
              <a:rPr sz="1400" spc="-5" dirty="0">
                <a:latin typeface="Calisto MT"/>
                <a:cs typeface="Calisto MT"/>
              </a:rPr>
              <a:t>connection</a:t>
            </a:r>
            <a:endParaRPr sz="1400">
              <a:latin typeface="Calisto MT"/>
              <a:cs typeface="Calisto MT"/>
            </a:endParaRPr>
          </a:p>
        </p:txBody>
      </p:sp>
      <p:sp>
        <p:nvSpPr>
          <p:cNvPr id="24" name="object 24"/>
          <p:cNvSpPr txBox="1"/>
          <p:nvPr/>
        </p:nvSpPr>
        <p:spPr>
          <a:xfrm>
            <a:off x="1661414" y="5870447"/>
            <a:ext cx="643255" cy="665480"/>
          </a:xfrm>
          <a:prstGeom prst="rect">
            <a:avLst/>
          </a:prstGeom>
        </p:spPr>
        <p:txBody>
          <a:bodyPr vert="horz" wrap="square" lIns="0" tIns="12065" rIns="0" bIns="0" rtlCol="0">
            <a:spAutoFit/>
          </a:bodyPr>
          <a:lstStyle/>
          <a:p>
            <a:pPr marL="12700" marR="5080" algn="just">
              <a:lnSpc>
                <a:spcPct val="100000"/>
              </a:lnSpc>
              <a:spcBef>
                <a:spcPts val="95"/>
              </a:spcBef>
            </a:pPr>
            <a:r>
              <a:rPr sz="1400" spc="-15" dirty="0">
                <a:latin typeface="Calisto MT"/>
                <a:cs typeface="Calisto MT"/>
              </a:rPr>
              <a:t>Also, </a:t>
            </a:r>
            <a:r>
              <a:rPr sz="1400" spc="-10" dirty="0">
                <a:latin typeface="Calisto MT"/>
                <a:cs typeface="Calisto MT"/>
              </a:rPr>
              <a:t>it  </a:t>
            </a:r>
            <a:r>
              <a:rPr sz="1400" spc="-5" dirty="0">
                <a:latin typeface="Calisto MT"/>
                <a:cs typeface="Calisto MT"/>
              </a:rPr>
              <a:t>bet</a:t>
            </a:r>
            <a:r>
              <a:rPr sz="1400" spc="-35" dirty="0">
                <a:latin typeface="Calisto MT"/>
                <a:cs typeface="Calisto MT"/>
              </a:rPr>
              <a:t>w</a:t>
            </a:r>
            <a:r>
              <a:rPr sz="1400" spc="-5" dirty="0">
                <a:latin typeface="Calisto MT"/>
                <a:cs typeface="Calisto MT"/>
              </a:rPr>
              <a:t>een  </a:t>
            </a:r>
            <a:r>
              <a:rPr sz="1400" dirty="0">
                <a:latin typeface="Calisto MT"/>
                <a:cs typeface="Calisto MT"/>
              </a:rPr>
              <a:t>routes</a:t>
            </a:r>
            <a:endParaRPr sz="1400">
              <a:latin typeface="Calisto MT"/>
              <a:cs typeface="Calisto MT"/>
            </a:endParaRPr>
          </a:p>
        </p:txBody>
      </p:sp>
      <p:sp>
        <p:nvSpPr>
          <p:cNvPr id="25" name="object 25"/>
          <p:cNvSpPr txBox="1"/>
          <p:nvPr/>
        </p:nvSpPr>
        <p:spPr>
          <a:xfrm>
            <a:off x="2439416" y="6083808"/>
            <a:ext cx="877569" cy="452120"/>
          </a:xfrm>
          <a:prstGeom prst="rect">
            <a:avLst/>
          </a:prstGeom>
        </p:spPr>
        <p:txBody>
          <a:bodyPr vert="horz" wrap="square" lIns="0" tIns="12065" rIns="0" bIns="0" rtlCol="0">
            <a:spAutoFit/>
          </a:bodyPr>
          <a:lstStyle/>
          <a:p>
            <a:pPr marL="26034" marR="5080" indent="-13970">
              <a:lnSpc>
                <a:spcPct val="100000"/>
              </a:lnSpc>
              <a:spcBef>
                <a:spcPts val="95"/>
              </a:spcBef>
              <a:tabLst>
                <a:tab pos="582295" algn="l"/>
              </a:tabLst>
            </a:pPr>
            <a:r>
              <a:rPr sz="1400" spc="-10" dirty="0">
                <a:latin typeface="Calisto MT"/>
                <a:cs typeface="Calisto MT"/>
              </a:rPr>
              <a:t>cl</a:t>
            </a:r>
            <a:r>
              <a:rPr sz="1400" spc="-15" dirty="0">
                <a:latin typeface="Calisto MT"/>
                <a:cs typeface="Calisto MT"/>
              </a:rPr>
              <a:t>i</a:t>
            </a:r>
            <a:r>
              <a:rPr sz="1400" spc="-5" dirty="0">
                <a:latin typeface="Calisto MT"/>
                <a:cs typeface="Calisto MT"/>
              </a:rPr>
              <a:t>ent</a:t>
            </a:r>
            <a:r>
              <a:rPr sz="1400" dirty="0">
                <a:latin typeface="Calisto MT"/>
                <a:cs typeface="Calisto MT"/>
              </a:rPr>
              <a:t>	</a:t>
            </a:r>
            <a:r>
              <a:rPr sz="1400" spc="-10" dirty="0">
                <a:latin typeface="Calisto MT"/>
                <a:cs typeface="Calisto MT"/>
              </a:rPr>
              <a:t>a</a:t>
            </a:r>
            <a:r>
              <a:rPr sz="1400" dirty="0">
                <a:latin typeface="Calisto MT"/>
                <a:cs typeface="Calisto MT"/>
              </a:rPr>
              <a:t>n</a:t>
            </a:r>
            <a:r>
              <a:rPr sz="1400" spc="-5" dirty="0">
                <a:latin typeface="Calisto MT"/>
                <a:cs typeface="Calisto MT"/>
              </a:rPr>
              <a:t>d  packets</a:t>
            </a:r>
            <a:endParaRPr sz="1400">
              <a:latin typeface="Calisto MT"/>
              <a:cs typeface="Calisto MT"/>
            </a:endParaRPr>
          </a:p>
        </p:txBody>
      </p:sp>
      <p:sp>
        <p:nvSpPr>
          <p:cNvPr id="26" name="object 26"/>
          <p:cNvSpPr txBox="1"/>
          <p:nvPr/>
        </p:nvSpPr>
        <p:spPr>
          <a:xfrm>
            <a:off x="3338576" y="6083808"/>
            <a:ext cx="1029335" cy="452120"/>
          </a:xfrm>
          <a:prstGeom prst="rect">
            <a:avLst/>
          </a:prstGeom>
        </p:spPr>
        <p:txBody>
          <a:bodyPr vert="horz" wrap="square" lIns="0" tIns="12065" rIns="0" bIns="0" rtlCol="0">
            <a:spAutoFit/>
          </a:bodyPr>
          <a:lstStyle/>
          <a:p>
            <a:pPr marL="12700" marR="5080" indent="113030">
              <a:lnSpc>
                <a:spcPct val="100000"/>
              </a:lnSpc>
              <a:spcBef>
                <a:spcPts val="95"/>
              </a:spcBef>
              <a:tabLst>
                <a:tab pos="734060" algn="l"/>
              </a:tabLst>
            </a:pPr>
            <a:r>
              <a:rPr sz="1400" spc="-5" dirty="0">
                <a:latin typeface="Calisto MT"/>
                <a:cs typeface="Calisto MT"/>
              </a:rPr>
              <a:t>se</a:t>
            </a:r>
            <a:r>
              <a:rPr sz="1400" spc="35" dirty="0">
                <a:latin typeface="Calisto MT"/>
                <a:cs typeface="Calisto MT"/>
              </a:rPr>
              <a:t>r</a:t>
            </a:r>
            <a:r>
              <a:rPr sz="1400" spc="-45" dirty="0">
                <a:latin typeface="Calisto MT"/>
                <a:cs typeface="Calisto MT"/>
              </a:rPr>
              <a:t>v</a:t>
            </a:r>
            <a:r>
              <a:rPr sz="1400" dirty="0">
                <a:latin typeface="Calisto MT"/>
                <a:cs typeface="Calisto MT"/>
              </a:rPr>
              <a:t>e</a:t>
            </a:r>
            <a:r>
              <a:rPr sz="1400" spc="-5" dirty="0">
                <a:latin typeface="Calisto MT"/>
                <a:cs typeface="Calisto MT"/>
              </a:rPr>
              <a:t>r</a:t>
            </a:r>
            <a:r>
              <a:rPr sz="1400" dirty="0">
                <a:latin typeface="Calisto MT"/>
                <a:cs typeface="Calisto MT"/>
              </a:rPr>
              <a:t>	</a:t>
            </a:r>
            <a:r>
              <a:rPr sz="1400" spc="-10" dirty="0">
                <a:latin typeface="Calisto MT"/>
                <a:cs typeface="Calisto MT"/>
              </a:rPr>
              <a:t>a</a:t>
            </a:r>
            <a:r>
              <a:rPr sz="1400" dirty="0">
                <a:latin typeface="Calisto MT"/>
                <a:cs typeface="Calisto MT"/>
              </a:rPr>
              <a:t>n</a:t>
            </a:r>
            <a:r>
              <a:rPr sz="1400" spc="-5" dirty="0">
                <a:latin typeface="Calisto MT"/>
                <a:cs typeface="Calisto MT"/>
              </a:rPr>
              <a:t>d  usi</a:t>
            </a:r>
            <a:r>
              <a:rPr sz="1400" dirty="0">
                <a:latin typeface="Calisto MT"/>
                <a:cs typeface="Calisto MT"/>
              </a:rPr>
              <a:t>n</a:t>
            </a:r>
            <a:r>
              <a:rPr sz="1400" spc="-5" dirty="0">
                <a:latin typeface="Calisto MT"/>
                <a:cs typeface="Calisto MT"/>
              </a:rPr>
              <a:t>g</a:t>
            </a:r>
            <a:r>
              <a:rPr sz="1400" dirty="0">
                <a:latin typeface="Calisto MT"/>
                <a:cs typeface="Calisto MT"/>
              </a:rPr>
              <a:t>	</a:t>
            </a:r>
            <a:r>
              <a:rPr sz="1400" spc="-265" dirty="0">
                <a:latin typeface="Calisto MT"/>
                <a:cs typeface="Calisto MT"/>
              </a:rPr>
              <a:t> </a:t>
            </a:r>
            <a:r>
              <a:rPr sz="1400" spc="-5" dirty="0">
                <a:latin typeface="Calisto MT"/>
                <a:cs typeface="Calisto MT"/>
              </a:rPr>
              <a:t>this</a:t>
            </a:r>
            <a:endParaRPr sz="1400">
              <a:latin typeface="Calisto MT"/>
              <a:cs typeface="Calisto MT"/>
            </a:endParaRPr>
          </a:p>
        </p:txBody>
      </p:sp>
      <p:sp>
        <p:nvSpPr>
          <p:cNvPr id="27" name="object 27"/>
          <p:cNvSpPr txBox="1"/>
          <p:nvPr/>
        </p:nvSpPr>
        <p:spPr>
          <a:xfrm>
            <a:off x="1661414" y="6511290"/>
            <a:ext cx="905510" cy="238760"/>
          </a:xfrm>
          <a:prstGeom prst="rect">
            <a:avLst/>
          </a:prstGeom>
        </p:spPr>
        <p:txBody>
          <a:bodyPr vert="horz" wrap="square" lIns="0" tIns="12065" rIns="0" bIns="0" rtlCol="0">
            <a:spAutoFit/>
          </a:bodyPr>
          <a:lstStyle/>
          <a:p>
            <a:pPr marL="12700">
              <a:lnSpc>
                <a:spcPct val="100000"/>
              </a:lnSpc>
              <a:spcBef>
                <a:spcPts val="95"/>
              </a:spcBef>
            </a:pPr>
            <a:r>
              <a:rPr sz="1400" spc="-10" dirty="0">
                <a:latin typeface="Calisto MT"/>
                <a:cs typeface="Calisto MT"/>
              </a:rPr>
              <a:t>connect</a:t>
            </a:r>
            <a:r>
              <a:rPr sz="1400" spc="-15" dirty="0">
                <a:latin typeface="Calisto MT"/>
                <a:cs typeface="Calisto MT"/>
              </a:rPr>
              <a:t>i</a:t>
            </a:r>
            <a:r>
              <a:rPr sz="1400" spc="-5" dirty="0">
                <a:latin typeface="Calisto MT"/>
                <a:cs typeface="Calisto MT"/>
              </a:rPr>
              <a:t>on.</a:t>
            </a:r>
            <a:endParaRPr sz="1400">
              <a:latin typeface="Calisto MT"/>
              <a:cs typeface="Calisto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7832090" cy="635635"/>
          </a:xfrm>
          <a:prstGeom prst="rect">
            <a:avLst/>
          </a:prstGeom>
        </p:spPr>
        <p:txBody>
          <a:bodyPr vert="horz" wrap="square" lIns="0" tIns="12700" rIns="0" bIns="0" rtlCol="0">
            <a:spAutoFit/>
          </a:bodyPr>
          <a:lstStyle/>
          <a:p>
            <a:pPr marL="12700">
              <a:lnSpc>
                <a:spcPct val="100000"/>
              </a:lnSpc>
              <a:spcBef>
                <a:spcPts val="100"/>
              </a:spcBef>
            </a:pPr>
            <a:r>
              <a:rPr spc="120" dirty="0"/>
              <a:t>Features</a:t>
            </a:r>
            <a:r>
              <a:rPr spc="-165" dirty="0"/>
              <a:t> </a:t>
            </a:r>
            <a:r>
              <a:rPr spc="229" dirty="0"/>
              <a:t>and</a:t>
            </a:r>
            <a:r>
              <a:rPr spc="-150" dirty="0"/>
              <a:t> </a:t>
            </a:r>
            <a:r>
              <a:rPr spc="90" dirty="0"/>
              <a:t>Benefits</a:t>
            </a:r>
            <a:r>
              <a:rPr spc="-165" dirty="0"/>
              <a:t> </a:t>
            </a:r>
            <a:r>
              <a:rPr spc="114" dirty="0"/>
              <a:t>of</a:t>
            </a:r>
            <a:r>
              <a:rPr spc="-165" dirty="0"/>
              <a:t> </a:t>
            </a:r>
            <a:r>
              <a:rPr spc="130" dirty="0"/>
              <a:t>Azure</a:t>
            </a:r>
            <a:r>
              <a:rPr spc="-150" dirty="0"/>
              <a:t> </a:t>
            </a:r>
            <a:r>
              <a:rPr spc="195" dirty="0"/>
              <a:t>SQL</a:t>
            </a:r>
          </a:p>
        </p:txBody>
      </p:sp>
      <p:grpSp>
        <p:nvGrpSpPr>
          <p:cNvPr id="3" name="object 3"/>
          <p:cNvGrpSpPr/>
          <p:nvPr/>
        </p:nvGrpSpPr>
        <p:grpSpPr>
          <a:xfrm>
            <a:off x="343661" y="822147"/>
            <a:ext cx="8418195" cy="1684020"/>
            <a:chOff x="343661" y="822147"/>
            <a:chExt cx="8418195" cy="1684020"/>
          </a:xfrm>
        </p:grpSpPr>
        <p:sp>
          <p:nvSpPr>
            <p:cNvPr id="4" name="object 4"/>
            <p:cNvSpPr/>
            <p:nvPr/>
          </p:nvSpPr>
          <p:spPr>
            <a:xfrm>
              <a:off x="1807845" y="840867"/>
              <a:ext cx="6948805" cy="774700"/>
            </a:xfrm>
            <a:custGeom>
              <a:avLst/>
              <a:gdLst/>
              <a:ahLst/>
              <a:cxnLst/>
              <a:rect l="l" t="t" r="r" b="b"/>
              <a:pathLst>
                <a:path w="6948805" h="774700">
                  <a:moveTo>
                    <a:pt x="6802628" y="0"/>
                  </a:moveTo>
                  <a:lnTo>
                    <a:pt x="0" y="0"/>
                  </a:lnTo>
                  <a:lnTo>
                    <a:pt x="0" y="774192"/>
                  </a:lnTo>
                  <a:lnTo>
                    <a:pt x="6802628" y="774192"/>
                  </a:lnTo>
                  <a:lnTo>
                    <a:pt x="6848784" y="767612"/>
                  </a:lnTo>
                  <a:lnTo>
                    <a:pt x="6888876" y="749291"/>
                  </a:lnTo>
                  <a:lnTo>
                    <a:pt x="6920494" y="721357"/>
                  </a:lnTo>
                  <a:lnTo>
                    <a:pt x="6941230" y="685938"/>
                  </a:lnTo>
                  <a:lnTo>
                    <a:pt x="6948678" y="645160"/>
                  </a:lnTo>
                  <a:lnTo>
                    <a:pt x="6948678" y="129032"/>
                  </a:lnTo>
                  <a:lnTo>
                    <a:pt x="6941230" y="88253"/>
                  </a:lnTo>
                  <a:lnTo>
                    <a:pt x="6920494" y="52834"/>
                  </a:lnTo>
                  <a:lnTo>
                    <a:pt x="6888876" y="24900"/>
                  </a:lnTo>
                  <a:lnTo>
                    <a:pt x="6848784" y="6579"/>
                  </a:lnTo>
                  <a:lnTo>
                    <a:pt x="6802628" y="0"/>
                  </a:lnTo>
                  <a:close/>
                </a:path>
              </a:pathLst>
            </a:custGeom>
            <a:solidFill>
              <a:srgbClr val="E8D0D0">
                <a:alpha val="90194"/>
              </a:srgbClr>
            </a:solidFill>
          </p:spPr>
          <p:txBody>
            <a:bodyPr wrap="square" lIns="0" tIns="0" rIns="0" bIns="0" rtlCol="0"/>
            <a:lstStyle/>
            <a:p>
              <a:endParaRPr/>
            </a:p>
          </p:txBody>
        </p:sp>
        <p:sp>
          <p:nvSpPr>
            <p:cNvPr id="5" name="object 5"/>
            <p:cNvSpPr/>
            <p:nvPr/>
          </p:nvSpPr>
          <p:spPr>
            <a:xfrm>
              <a:off x="1807845" y="840867"/>
              <a:ext cx="6948805" cy="774700"/>
            </a:xfrm>
            <a:custGeom>
              <a:avLst/>
              <a:gdLst/>
              <a:ahLst/>
              <a:cxnLst/>
              <a:rect l="l" t="t" r="r" b="b"/>
              <a:pathLst>
                <a:path w="6948805" h="774700">
                  <a:moveTo>
                    <a:pt x="6948678" y="129032"/>
                  </a:moveTo>
                  <a:lnTo>
                    <a:pt x="6948678" y="645160"/>
                  </a:lnTo>
                  <a:lnTo>
                    <a:pt x="6941230" y="685938"/>
                  </a:lnTo>
                  <a:lnTo>
                    <a:pt x="6920494" y="721357"/>
                  </a:lnTo>
                  <a:lnTo>
                    <a:pt x="6888876" y="749291"/>
                  </a:lnTo>
                  <a:lnTo>
                    <a:pt x="6848784" y="767612"/>
                  </a:lnTo>
                  <a:lnTo>
                    <a:pt x="6802628" y="774192"/>
                  </a:lnTo>
                  <a:lnTo>
                    <a:pt x="0" y="774192"/>
                  </a:lnTo>
                  <a:lnTo>
                    <a:pt x="0" y="0"/>
                  </a:lnTo>
                  <a:lnTo>
                    <a:pt x="6802628" y="0"/>
                  </a:lnTo>
                  <a:lnTo>
                    <a:pt x="6848784" y="6579"/>
                  </a:lnTo>
                  <a:lnTo>
                    <a:pt x="6888876" y="24900"/>
                  </a:lnTo>
                  <a:lnTo>
                    <a:pt x="6920494" y="52834"/>
                  </a:lnTo>
                  <a:lnTo>
                    <a:pt x="6941230" y="88253"/>
                  </a:lnTo>
                  <a:lnTo>
                    <a:pt x="6948678" y="129032"/>
                  </a:lnTo>
                  <a:close/>
                </a:path>
              </a:pathLst>
            </a:custGeom>
            <a:ln w="9906">
              <a:solidFill>
                <a:srgbClr val="E3CACA"/>
              </a:solidFill>
            </a:ln>
          </p:spPr>
          <p:txBody>
            <a:bodyPr wrap="square" lIns="0" tIns="0" rIns="0" bIns="0" rtlCol="0"/>
            <a:lstStyle/>
            <a:p>
              <a:endParaRPr/>
            </a:p>
          </p:txBody>
        </p:sp>
        <p:pic>
          <p:nvPicPr>
            <p:cNvPr id="6" name="object 6"/>
            <p:cNvPicPr/>
            <p:nvPr/>
          </p:nvPicPr>
          <p:blipFill>
            <a:blip r:embed="rId3" cstate="print"/>
            <a:stretch>
              <a:fillRect/>
            </a:stretch>
          </p:blipFill>
          <p:spPr>
            <a:xfrm>
              <a:off x="343661" y="822147"/>
              <a:ext cx="1488947" cy="919784"/>
            </a:xfrm>
            <a:prstGeom prst="rect">
              <a:avLst/>
            </a:prstGeom>
          </p:spPr>
        </p:pic>
        <p:pic>
          <p:nvPicPr>
            <p:cNvPr id="7" name="object 7"/>
            <p:cNvPicPr/>
            <p:nvPr/>
          </p:nvPicPr>
          <p:blipFill>
            <a:blip r:embed="rId4" cstate="print"/>
            <a:stretch>
              <a:fillRect/>
            </a:stretch>
          </p:blipFill>
          <p:spPr>
            <a:xfrm>
              <a:off x="438149" y="1050061"/>
              <a:ext cx="1299972" cy="502132"/>
            </a:xfrm>
            <a:prstGeom prst="rect">
              <a:avLst/>
            </a:prstGeom>
          </p:spPr>
        </p:pic>
        <p:pic>
          <p:nvPicPr>
            <p:cNvPr id="8" name="object 8"/>
            <p:cNvPicPr/>
            <p:nvPr/>
          </p:nvPicPr>
          <p:blipFill>
            <a:blip r:embed="rId5" cstate="print"/>
            <a:stretch>
              <a:fillRect/>
            </a:stretch>
          </p:blipFill>
          <p:spPr>
            <a:xfrm>
              <a:off x="384809" y="840486"/>
              <a:ext cx="1413510" cy="844295"/>
            </a:xfrm>
            <a:prstGeom prst="rect">
              <a:avLst/>
            </a:prstGeom>
          </p:spPr>
        </p:pic>
        <p:pic>
          <p:nvPicPr>
            <p:cNvPr id="9" name="object 9"/>
            <p:cNvPicPr/>
            <p:nvPr/>
          </p:nvPicPr>
          <p:blipFill>
            <a:blip r:embed="rId6" cstate="print"/>
            <a:stretch>
              <a:fillRect/>
            </a:stretch>
          </p:blipFill>
          <p:spPr>
            <a:xfrm>
              <a:off x="1835658" y="1751901"/>
              <a:ext cx="1488186" cy="753681"/>
            </a:xfrm>
            <a:prstGeom prst="rect">
              <a:avLst/>
            </a:prstGeom>
          </p:spPr>
        </p:pic>
        <p:pic>
          <p:nvPicPr>
            <p:cNvPr id="10" name="object 10"/>
            <p:cNvPicPr/>
            <p:nvPr/>
          </p:nvPicPr>
          <p:blipFill>
            <a:blip r:embed="rId7" cstate="print"/>
            <a:stretch>
              <a:fillRect/>
            </a:stretch>
          </p:blipFill>
          <p:spPr>
            <a:xfrm>
              <a:off x="1977389" y="1896643"/>
              <a:ext cx="1256525" cy="502132"/>
            </a:xfrm>
            <a:prstGeom prst="rect">
              <a:avLst/>
            </a:prstGeom>
          </p:spPr>
        </p:pic>
        <p:sp>
          <p:nvSpPr>
            <p:cNvPr id="11" name="object 11"/>
            <p:cNvSpPr/>
            <p:nvPr/>
          </p:nvSpPr>
          <p:spPr>
            <a:xfrm>
              <a:off x="1876806" y="1770125"/>
              <a:ext cx="1412875" cy="678180"/>
            </a:xfrm>
            <a:custGeom>
              <a:avLst/>
              <a:gdLst/>
              <a:ahLst/>
              <a:cxnLst/>
              <a:rect l="l" t="t" r="r" b="b"/>
              <a:pathLst>
                <a:path w="1412875" h="678180">
                  <a:moveTo>
                    <a:pt x="1346835" y="0"/>
                  </a:moveTo>
                  <a:lnTo>
                    <a:pt x="65913" y="0"/>
                  </a:lnTo>
                  <a:lnTo>
                    <a:pt x="40290" y="8874"/>
                  </a:lnTo>
                  <a:lnTo>
                    <a:pt x="19335" y="33083"/>
                  </a:lnTo>
                  <a:lnTo>
                    <a:pt x="5191" y="69008"/>
                  </a:lnTo>
                  <a:lnTo>
                    <a:pt x="0" y="113029"/>
                  </a:lnTo>
                  <a:lnTo>
                    <a:pt x="0" y="565149"/>
                  </a:lnTo>
                  <a:lnTo>
                    <a:pt x="5191" y="609171"/>
                  </a:lnTo>
                  <a:lnTo>
                    <a:pt x="19335" y="645096"/>
                  </a:lnTo>
                  <a:lnTo>
                    <a:pt x="40290" y="669305"/>
                  </a:lnTo>
                  <a:lnTo>
                    <a:pt x="65913" y="678179"/>
                  </a:lnTo>
                  <a:lnTo>
                    <a:pt x="1346835" y="678179"/>
                  </a:lnTo>
                  <a:lnTo>
                    <a:pt x="1372457" y="669305"/>
                  </a:lnTo>
                  <a:lnTo>
                    <a:pt x="1393412" y="645096"/>
                  </a:lnTo>
                  <a:lnTo>
                    <a:pt x="1407556" y="609171"/>
                  </a:lnTo>
                  <a:lnTo>
                    <a:pt x="1412748" y="565149"/>
                  </a:lnTo>
                  <a:lnTo>
                    <a:pt x="1412748" y="113029"/>
                  </a:lnTo>
                  <a:lnTo>
                    <a:pt x="1407556" y="69008"/>
                  </a:lnTo>
                  <a:lnTo>
                    <a:pt x="1393412" y="33083"/>
                  </a:lnTo>
                  <a:lnTo>
                    <a:pt x="1372457" y="8874"/>
                  </a:lnTo>
                  <a:lnTo>
                    <a:pt x="1346835" y="0"/>
                  </a:lnTo>
                  <a:close/>
                </a:path>
              </a:pathLst>
            </a:custGeom>
            <a:solidFill>
              <a:srgbClr val="4F6128"/>
            </a:solidFill>
          </p:spPr>
          <p:txBody>
            <a:bodyPr wrap="square" lIns="0" tIns="0" rIns="0" bIns="0" rtlCol="0"/>
            <a:lstStyle/>
            <a:p>
              <a:endParaRPr/>
            </a:p>
          </p:txBody>
        </p:sp>
      </p:grpSp>
      <p:grpSp>
        <p:nvGrpSpPr>
          <p:cNvPr id="12" name="object 12"/>
          <p:cNvGrpSpPr/>
          <p:nvPr/>
        </p:nvGrpSpPr>
        <p:grpSpPr>
          <a:xfrm>
            <a:off x="3248405" y="2567127"/>
            <a:ext cx="1489075" cy="919480"/>
            <a:chOff x="3248405" y="2567127"/>
            <a:chExt cx="1489075" cy="919480"/>
          </a:xfrm>
        </p:grpSpPr>
        <p:pic>
          <p:nvPicPr>
            <p:cNvPr id="13" name="object 13"/>
            <p:cNvPicPr/>
            <p:nvPr/>
          </p:nvPicPr>
          <p:blipFill>
            <a:blip r:embed="rId3" cstate="print"/>
            <a:stretch>
              <a:fillRect/>
            </a:stretch>
          </p:blipFill>
          <p:spPr>
            <a:xfrm>
              <a:off x="3248405" y="2567127"/>
              <a:ext cx="1488947" cy="919022"/>
            </a:xfrm>
            <a:prstGeom prst="rect">
              <a:avLst/>
            </a:prstGeom>
          </p:spPr>
        </p:pic>
        <p:pic>
          <p:nvPicPr>
            <p:cNvPr id="14" name="object 14"/>
            <p:cNvPicPr/>
            <p:nvPr/>
          </p:nvPicPr>
          <p:blipFill>
            <a:blip r:embed="rId8" cstate="print"/>
            <a:stretch>
              <a:fillRect/>
            </a:stretch>
          </p:blipFill>
          <p:spPr>
            <a:xfrm>
              <a:off x="3438905" y="2684538"/>
              <a:ext cx="1159764" cy="721601"/>
            </a:xfrm>
            <a:prstGeom prst="rect">
              <a:avLst/>
            </a:prstGeom>
          </p:spPr>
        </p:pic>
        <p:sp>
          <p:nvSpPr>
            <p:cNvPr id="15" name="object 15"/>
            <p:cNvSpPr/>
            <p:nvPr/>
          </p:nvSpPr>
          <p:spPr>
            <a:xfrm>
              <a:off x="3289553" y="2585466"/>
              <a:ext cx="1413510" cy="843915"/>
            </a:xfrm>
            <a:custGeom>
              <a:avLst/>
              <a:gdLst/>
              <a:ahLst/>
              <a:cxnLst/>
              <a:rect l="l" t="t" r="r" b="b"/>
              <a:pathLst>
                <a:path w="1413510" h="843914">
                  <a:moveTo>
                    <a:pt x="1347470" y="0"/>
                  </a:moveTo>
                  <a:lnTo>
                    <a:pt x="66040" y="0"/>
                  </a:lnTo>
                  <a:lnTo>
                    <a:pt x="40344" y="11054"/>
                  </a:lnTo>
                  <a:lnTo>
                    <a:pt x="19351" y="41195"/>
                  </a:lnTo>
                  <a:lnTo>
                    <a:pt x="5193" y="85885"/>
                  </a:lnTo>
                  <a:lnTo>
                    <a:pt x="0" y="140588"/>
                  </a:lnTo>
                  <a:lnTo>
                    <a:pt x="0" y="702944"/>
                  </a:lnTo>
                  <a:lnTo>
                    <a:pt x="5193" y="757648"/>
                  </a:lnTo>
                  <a:lnTo>
                    <a:pt x="19351" y="802338"/>
                  </a:lnTo>
                  <a:lnTo>
                    <a:pt x="40344" y="832479"/>
                  </a:lnTo>
                  <a:lnTo>
                    <a:pt x="66040" y="843533"/>
                  </a:lnTo>
                  <a:lnTo>
                    <a:pt x="1347470" y="843533"/>
                  </a:lnTo>
                  <a:lnTo>
                    <a:pt x="1373165" y="832479"/>
                  </a:lnTo>
                  <a:lnTo>
                    <a:pt x="1394158" y="802338"/>
                  </a:lnTo>
                  <a:lnTo>
                    <a:pt x="1408316" y="757648"/>
                  </a:lnTo>
                  <a:lnTo>
                    <a:pt x="1413510" y="702944"/>
                  </a:lnTo>
                  <a:lnTo>
                    <a:pt x="1413510" y="140588"/>
                  </a:lnTo>
                  <a:lnTo>
                    <a:pt x="1408316" y="85885"/>
                  </a:lnTo>
                  <a:lnTo>
                    <a:pt x="1394158" y="41195"/>
                  </a:lnTo>
                  <a:lnTo>
                    <a:pt x="1373165" y="11054"/>
                  </a:lnTo>
                  <a:lnTo>
                    <a:pt x="1347470" y="0"/>
                  </a:lnTo>
                  <a:close/>
                </a:path>
              </a:pathLst>
            </a:custGeom>
            <a:solidFill>
              <a:srgbClr val="92D050"/>
            </a:solidFill>
          </p:spPr>
          <p:txBody>
            <a:bodyPr wrap="square" lIns="0" tIns="0" rIns="0" bIns="0" rtlCol="0"/>
            <a:lstStyle/>
            <a:p>
              <a:endParaRPr/>
            </a:p>
          </p:txBody>
        </p:sp>
      </p:grpSp>
      <p:grpSp>
        <p:nvGrpSpPr>
          <p:cNvPr id="16" name="object 16"/>
          <p:cNvGrpSpPr/>
          <p:nvPr/>
        </p:nvGrpSpPr>
        <p:grpSpPr>
          <a:xfrm>
            <a:off x="4530852" y="3547821"/>
            <a:ext cx="2369185" cy="1899920"/>
            <a:chOff x="4530852" y="3547821"/>
            <a:chExt cx="2369185" cy="1899920"/>
          </a:xfrm>
        </p:grpSpPr>
        <p:pic>
          <p:nvPicPr>
            <p:cNvPr id="17" name="object 17"/>
            <p:cNvPicPr/>
            <p:nvPr/>
          </p:nvPicPr>
          <p:blipFill>
            <a:blip r:embed="rId9" cstate="print"/>
            <a:stretch>
              <a:fillRect/>
            </a:stretch>
          </p:blipFill>
          <p:spPr>
            <a:xfrm>
              <a:off x="4530852" y="3547821"/>
              <a:ext cx="1497329" cy="919022"/>
            </a:xfrm>
            <a:prstGeom prst="rect">
              <a:avLst/>
            </a:prstGeom>
          </p:spPr>
        </p:pic>
        <p:pic>
          <p:nvPicPr>
            <p:cNvPr id="18" name="object 18"/>
            <p:cNvPicPr/>
            <p:nvPr/>
          </p:nvPicPr>
          <p:blipFill>
            <a:blip r:embed="rId10" cstate="print"/>
            <a:stretch>
              <a:fillRect/>
            </a:stretch>
          </p:blipFill>
          <p:spPr>
            <a:xfrm>
              <a:off x="4646676" y="3556266"/>
              <a:ext cx="1318260" cy="941057"/>
            </a:xfrm>
            <a:prstGeom prst="rect">
              <a:avLst/>
            </a:prstGeom>
          </p:spPr>
        </p:pic>
        <p:pic>
          <p:nvPicPr>
            <p:cNvPr id="19" name="object 19"/>
            <p:cNvPicPr/>
            <p:nvPr/>
          </p:nvPicPr>
          <p:blipFill>
            <a:blip r:embed="rId11" cstate="print"/>
            <a:stretch>
              <a:fillRect/>
            </a:stretch>
          </p:blipFill>
          <p:spPr>
            <a:xfrm>
              <a:off x="4572000" y="3566159"/>
              <a:ext cx="1421891" cy="843533"/>
            </a:xfrm>
            <a:prstGeom prst="rect">
              <a:avLst/>
            </a:prstGeom>
          </p:spPr>
        </p:pic>
        <p:pic>
          <p:nvPicPr>
            <p:cNvPr id="20" name="object 20"/>
            <p:cNvPicPr/>
            <p:nvPr/>
          </p:nvPicPr>
          <p:blipFill>
            <a:blip r:embed="rId12" cstate="print"/>
            <a:stretch>
              <a:fillRect/>
            </a:stretch>
          </p:blipFill>
          <p:spPr>
            <a:xfrm>
              <a:off x="5362194" y="4528515"/>
              <a:ext cx="1501140" cy="919022"/>
            </a:xfrm>
            <a:prstGeom prst="rect">
              <a:avLst/>
            </a:prstGeom>
          </p:spPr>
        </p:pic>
        <p:pic>
          <p:nvPicPr>
            <p:cNvPr id="21" name="object 21"/>
            <p:cNvPicPr/>
            <p:nvPr/>
          </p:nvPicPr>
          <p:blipFill>
            <a:blip r:embed="rId13" cstate="print"/>
            <a:stretch>
              <a:fillRect/>
            </a:stretch>
          </p:blipFill>
          <p:spPr>
            <a:xfrm>
              <a:off x="5372862" y="4646688"/>
              <a:ext cx="1527047" cy="721601"/>
            </a:xfrm>
            <a:prstGeom prst="rect">
              <a:avLst/>
            </a:prstGeom>
          </p:spPr>
        </p:pic>
        <p:sp>
          <p:nvSpPr>
            <p:cNvPr id="22" name="object 22"/>
            <p:cNvSpPr/>
            <p:nvPr/>
          </p:nvSpPr>
          <p:spPr>
            <a:xfrm>
              <a:off x="5403342" y="4546853"/>
              <a:ext cx="1426210" cy="843915"/>
            </a:xfrm>
            <a:custGeom>
              <a:avLst/>
              <a:gdLst/>
              <a:ahLst/>
              <a:cxnLst/>
              <a:rect l="l" t="t" r="r" b="b"/>
              <a:pathLst>
                <a:path w="1426209" h="843914">
                  <a:moveTo>
                    <a:pt x="1359154" y="0"/>
                  </a:moveTo>
                  <a:lnTo>
                    <a:pt x="66548" y="0"/>
                  </a:lnTo>
                  <a:lnTo>
                    <a:pt x="40665" y="11054"/>
                  </a:lnTo>
                  <a:lnTo>
                    <a:pt x="19510" y="41195"/>
                  </a:lnTo>
                  <a:lnTo>
                    <a:pt x="5236" y="85885"/>
                  </a:lnTo>
                  <a:lnTo>
                    <a:pt x="0" y="140589"/>
                  </a:lnTo>
                  <a:lnTo>
                    <a:pt x="0" y="702945"/>
                  </a:lnTo>
                  <a:lnTo>
                    <a:pt x="5236" y="757648"/>
                  </a:lnTo>
                  <a:lnTo>
                    <a:pt x="19510" y="802338"/>
                  </a:lnTo>
                  <a:lnTo>
                    <a:pt x="40665" y="832479"/>
                  </a:lnTo>
                  <a:lnTo>
                    <a:pt x="66548" y="843534"/>
                  </a:lnTo>
                  <a:lnTo>
                    <a:pt x="1359154" y="843534"/>
                  </a:lnTo>
                  <a:lnTo>
                    <a:pt x="1385036" y="832479"/>
                  </a:lnTo>
                  <a:lnTo>
                    <a:pt x="1406191" y="802338"/>
                  </a:lnTo>
                  <a:lnTo>
                    <a:pt x="1420465" y="757648"/>
                  </a:lnTo>
                  <a:lnTo>
                    <a:pt x="1425702" y="702945"/>
                  </a:lnTo>
                  <a:lnTo>
                    <a:pt x="1425702" y="140589"/>
                  </a:lnTo>
                  <a:lnTo>
                    <a:pt x="1420465" y="85885"/>
                  </a:lnTo>
                  <a:lnTo>
                    <a:pt x="1406191" y="41195"/>
                  </a:lnTo>
                  <a:lnTo>
                    <a:pt x="1385036" y="11054"/>
                  </a:lnTo>
                  <a:lnTo>
                    <a:pt x="1359154" y="0"/>
                  </a:lnTo>
                  <a:close/>
                </a:path>
              </a:pathLst>
            </a:custGeom>
            <a:solidFill>
              <a:srgbClr val="205868"/>
            </a:solidFill>
          </p:spPr>
          <p:txBody>
            <a:bodyPr wrap="square" lIns="0" tIns="0" rIns="0" bIns="0" rtlCol="0"/>
            <a:lstStyle/>
            <a:p>
              <a:endParaRPr/>
            </a:p>
          </p:txBody>
        </p:sp>
      </p:grpSp>
      <p:grpSp>
        <p:nvGrpSpPr>
          <p:cNvPr id="23" name="object 23"/>
          <p:cNvGrpSpPr/>
          <p:nvPr/>
        </p:nvGrpSpPr>
        <p:grpSpPr>
          <a:xfrm>
            <a:off x="6633209" y="5509259"/>
            <a:ext cx="1647189" cy="880744"/>
            <a:chOff x="6633209" y="5509259"/>
            <a:chExt cx="1647189" cy="880744"/>
          </a:xfrm>
        </p:grpSpPr>
        <p:pic>
          <p:nvPicPr>
            <p:cNvPr id="24" name="object 24"/>
            <p:cNvPicPr/>
            <p:nvPr/>
          </p:nvPicPr>
          <p:blipFill>
            <a:blip r:embed="rId14" cstate="print"/>
            <a:stretch>
              <a:fillRect/>
            </a:stretch>
          </p:blipFill>
          <p:spPr>
            <a:xfrm>
              <a:off x="6633209" y="5509259"/>
              <a:ext cx="1563624" cy="880148"/>
            </a:xfrm>
            <a:prstGeom prst="rect">
              <a:avLst/>
            </a:prstGeom>
          </p:spPr>
        </p:pic>
        <p:pic>
          <p:nvPicPr>
            <p:cNvPr id="25" name="object 25"/>
            <p:cNvPicPr/>
            <p:nvPr/>
          </p:nvPicPr>
          <p:blipFill>
            <a:blip r:embed="rId15" cstate="print"/>
            <a:stretch>
              <a:fillRect/>
            </a:stretch>
          </p:blipFill>
          <p:spPr>
            <a:xfrm>
              <a:off x="6653783" y="5607557"/>
              <a:ext cx="1626107" cy="721601"/>
            </a:xfrm>
            <a:prstGeom prst="rect">
              <a:avLst/>
            </a:prstGeom>
          </p:spPr>
        </p:pic>
        <p:sp>
          <p:nvSpPr>
            <p:cNvPr id="26" name="object 26"/>
            <p:cNvSpPr/>
            <p:nvPr/>
          </p:nvSpPr>
          <p:spPr>
            <a:xfrm>
              <a:off x="6674357" y="5527547"/>
              <a:ext cx="1488440" cy="805180"/>
            </a:xfrm>
            <a:custGeom>
              <a:avLst/>
              <a:gdLst/>
              <a:ahLst/>
              <a:cxnLst/>
              <a:rect l="l" t="t" r="r" b="b"/>
              <a:pathLst>
                <a:path w="1488440" h="805179">
                  <a:moveTo>
                    <a:pt x="1418717" y="0"/>
                  </a:moveTo>
                  <a:lnTo>
                    <a:pt x="69469" y="0"/>
                  </a:lnTo>
                  <a:lnTo>
                    <a:pt x="42433" y="10542"/>
                  </a:lnTo>
                  <a:lnTo>
                    <a:pt x="20351" y="39290"/>
                  </a:lnTo>
                  <a:lnTo>
                    <a:pt x="5461" y="81920"/>
                  </a:lnTo>
                  <a:lnTo>
                    <a:pt x="0" y="134111"/>
                  </a:lnTo>
                  <a:lnTo>
                    <a:pt x="0" y="670559"/>
                  </a:lnTo>
                  <a:lnTo>
                    <a:pt x="5461" y="722761"/>
                  </a:lnTo>
                  <a:lnTo>
                    <a:pt x="20351" y="765390"/>
                  </a:lnTo>
                  <a:lnTo>
                    <a:pt x="42433" y="794132"/>
                  </a:lnTo>
                  <a:lnTo>
                    <a:pt x="69469" y="804671"/>
                  </a:lnTo>
                  <a:lnTo>
                    <a:pt x="1418717" y="804671"/>
                  </a:lnTo>
                  <a:lnTo>
                    <a:pt x="1445752" y="794132"/>
                  </a:lnTo>
                  <a:lnTo>
                    <a:pt x="1467834" y="765390"/>
                  </a:lnTo>
                  <a:lnTo>
                    <a:pt x="1482725" y="722761"/>
                  </a:lnTo>
                  <a:lnTo>
                    <a:pt x="1488186" y="670559"/>
                  </a:lnTo>
                  <a:lnTo>
                    <a:pt x="1488186" y="134111"/>
                  </a:lnTo>
                  <a:lnTo>
                    <a:pt x="1482725" y="81920"/>
                  </a:lnTo>
                  <a:lnTo>
                    <a:pt x="1467834" y="39290"/>
                  </a:lnTo>
                  <a:lnTo>
                    <a:pt x="1445752" y="10542"/>
                  </a:lnTo>
                  <a:lnTo>
                    <a:pt x="1418717" y="0"/>
                  </a:lnTo>
                  <a:close/>
                </a:path>
              </a:pathLst>
            </a:custGeom>
            <a:solidFill>
              <a:srgbClr val="FF6600"/>
            </a:solidFill>
          </p:spPr>
          <p:txBody>
            <a:bodyPr wrap="square" lIns="0" tIns="0" rIns="0" bIns="0" rtlCol="0"/>
            <a:lstStyle/>
            <a:p>
              <a:endParaRPr/>
            </a:p>
          </p:txBody>
        </p:sp>
      </p:grpSp>
      <p:sp>
        <p:nvSpPr>
          <p:cNvPr id="27" name="object 27"/>
          <p:cNvSpPr txBox="1"/>
          <p:nvPr/>
        </p:nvSpPr>
        <p:spPr>
          <a:xfrm>
            <a:off x="588772" y="1108455"/>
            <a:ext cx="7497445" cy="5046980"/>
          </a:xfrm>
          <a:prstGeom prst="rect">
            <a:avLst/>
          </a:prstGeom>
        </p:spPr>
        <p:txBody>
          <a:bodyPr vert="horz" wrap="square" lIns="0" tIns="12700" rIns="0" bIns="0" rtlCol="0">
            <a:spAutoFit/>
          </a:bodyPr>
          <a:lstStyle/>
          <a:p>
            <a:pPr marL="12700">
              <a:lnSpc>
                <a:spcPct val="100000"/>
              </a:lnSpc>
              <a:spcBef>
                <a:spcPts val="100"/>
              </a:spcBef>
            </a:pPr>
            <a:r>
              <a:rPr sz="1600" b="1" spc="-25" dirty="0">
                <a:solidFill>
                  <a:srgbClr val="FFFFFF"/>
                </a:solidFill>
                <a:latin typeface="Calisto MT"/>
                <a:cs typeface="Calisto MT"/>
              </a:rPr>
              <a:t>Lower</a:t>
            </a:r>
            <a:r>
              <a:rPr sz="1600" b="1" spc="-15" dirty="0">
                <a:solidFill>
                  <a:srgbClr val="FFFFFF"/>
                </a:solidFill>
                <a:latin typeface="Calisto MT"/>
                <a:cs typeface="Calisto MT"/>
              </a:rPr>
              <a:t> </a:t>
            </a:r>
            <a:r>
              <a:rPr sz="1600" b="1" spc="-5" dirty="0">
                <a:solidFill>
                  <a:srgbClr val="FFFFFF"/>
                </a:solidFill>
                <a:latin typeface="Calisto MT"/>
                <a:cs typeface="Calisto MT"/>
              </a:rPr>
              <a:t>cost</a:t>
            </a:r>
            <a:endParaRPr sz="1600">
              <a:latin typeface="Calisto MT"/>
              <a:cs typeface="Calisto MT"/>
            </a:endParaRPr>
          </a:p>
          <a:p>
            <a:pPr>
              <a:lnSpc>
                <a:spcPct val="100000"/>
              </a:lnSpc>
            </a:pPr>
            <a:endParaRPr sz="1700">
              <a:latin typeface="Calisto MT"/>
              <a:cs typeface="Calisto MT"/>
            </a:endParaRPr>
          </a:p>
          <a:p>
            <a:pPr>
              <a:lnSpc>
                <a:spcPct val="100000"/>
              </a:lnSpc>
              <a:spcBef>
                <a:spcPts val="20"/>
              </a:spcBef>
            </a:pPr>
            <a:endParaRPr sz="2300">
              <a:latin typeface="Calisto MT"/>
              <a:cs typeface="Calisto MT"/>
            </a:endParaRPr>
          </a:p>
          <a:p>
            <a:pPr marL="1551940">
              <a:lnSpc>
                <a:spcPct val="100000"/>
              </a:lnSpc>
            </a:pPr>
            <a:r>
              <a:rPr sz="1600" b="1" dirty="0">
                <a:solidFill>
                  <a:srgbClr val="FFFFFF"/>
                </a:solidFill>
                <a:latin typeface="Calisto MT"/>
                <a:cs typeface="Calisto MT"/>
              </a:rPr>
              <a:t>Scalability</a:t>
            </a:r>
            <a:endParaRPr sz="1600">
              <a:latin typeface="Calisto MT"/>
              <a:cs typeface="Calisto MT"/>
            </a:endParaRPr>
          </a:p>
          <a:p>
            <a:pPr>
              <a:lnSpc>
                <a:spcPct val="100000"/>
              </a:lnSpc>
            </a:pPr>
            <a:endParaRPr sz="1700">
              <a:latin typeface="Calisto MT"/>
              <a:cs typeface="Calisto MT"/>
            </a:endParaRPr>
          </a:p>
          <a:p>
            <a:pPr>
              <a:lnSpc>
                <a:spcPct val="100000"/>
              </a:lnSpc>
              <a:spcBef>
                <a:spcPts val="15"/>
              </a:spcBef>
            </a:pPr>
            <a:endParaRPr sz="2100">
              <a:latin typeface="Calisto MT"/>
              <a:cs typeface="Calisto MT"/>
            </a:endParaRPr>
          </a:p>
          <a:p>
            <a:pPr marL="3013075" marR="3700779" algn="ctr">
              <a:lnSpc>
                <a:spcPts val="1730"/>
              </a:lnSpc>
            </a:pPr>
            <a:r>
              <a:rPr sz="1600" b="1" spc="-5" dirty="0">
                <a:solidFill>
                  <a:srgbClr val="FFFFFF"/>
                </a:solidFill>
                <a:latin typeface="Calisto MT"/>
                <a:cs typeface="Calisto MT"/>
              </a:rPr>
              <a:t>Usage</a:t>
            </a:r>
            <a:r>
              <a:rPr sz="1600" b="1" spc="-100" dirty="0">
                <a:solidFill>
                  <a:srgbClr val="FFFFFF"/>
                </a:solidFill>
                <a:latin typeface="Calisto MT"/>
                <a:cs typeface="Calisto MT"/>
              </a:rPr>
              <a:t> </a:t>
            </a:r>
            <a:r>
              <a:rPr sz="1600" b="1" dirty="0">
                <a:solidFill>
                  <a:srgbClr val="FFFFFF"/>
                </a:solidFill>
                <a:latin typeface="Calisto MT"/>
                <a:cs typeface="Calisto MT"/>
              </a:rPr>
              <a:t>of  TDS</a:t>
            </a:r>
            <a:endParaRPr sz="1600">
              <a:latin typeface="Calisto MT"/>
              <a:cs typeface="Calisto MT"/>
            </a:endParaRPr>
          </a:p>
          <a:p>
            <a:pPr>
              <a:lnSpc>
                <a:spcPct val="100000"/>
              </a:lnSpc>
            </a:pPr>
            <a:endParaRPr sz="1700">
              <a:latin typeface="Calisto MT"/>
              <a:cs typeface="Calisto MT"/>
            </a:endParaRPr>
          </a:p>
          <a:p>
            <a:pPr marL="4221480" marR="2320925" algn="ctr">
              <a:lnSpc>
                <a:spcPts val="1730"/>
              </a:lnSpc>
              <a:spcBef>
                <a:spcPts val="1395"/>
              </a:spcBef>
            </a:pPr>
            <a:r>
              <a:rPr sz="1600" b="1" spc="-30" dirty="0">
                <a:solidFill>
                  <a:srgbClr val="FFFFFF"/>
                </a:solidFill>
                <a:latin typeface="Calisto MT"/>
                <a:cs typeface="Calisto MT"/>
              </a:rPr>
              <a:t>A</a:t>
            </a:r>
            <a:r>
              <a:rPr sz="1600" b="1" dirty="0">
                <a:solidFill>
                  <a:srgbClr val="FFFFFF"/>
                </a:solidFill>
                <a:latin typeface="Calisto MT"/>
                <a:cs typeface="Calisto MT"/>
              </a:rPr>
              <a:t>utomatic  </a:t>
            </a:r>
            <a:r>
              <a:rPr sz="1600" b="1" spc="-15" dirty="0">
                <a:solidFill>
                  <a:srgbClr val="FFFFFF"/>
                </a:solidFill>
                <a:latin typeface="Calisto MT"/>
                <a:cs typeface="Calisto MT"/>
              </a:rPr>
              <a:t>failover  </a:t>
            </a:r>
            <a:r>
              <a:rPr sz="1600" b="1" dirty="0">
                <a:solidFill>
                  <a:srgbClr val="FFFFFF"/>
                </a:solidFill>
                <a:latin typeface="Calisto MT"/>
                <a:cs typeface="Calisto MT"/>
              </a:rPr>
              <a:t>measures</a:t>
            </a:r>
            <a:endParaRPr sz="1600">
              <a:latin typeface="Calisto MT"/>
              <a:cs typeface="Calisto MT"/>
            </a:endParaRPr>
          </a:p>
          <a:p>
            <a:pPr>
              <a:lnSpc>
                <a:spcPct val="100000"/>
              </a:lnSpc>
            </a:pPr>
            <a:endParaRPr sz="1700">
              <a:latin typeface="Calisto MT"/>
              <a:cs typeface="Calisto MT"/>
            </a:endParaRPr>
          </a:p>
          <a:p>
            <a:pPr marL="4946650" marR="1381760" indent="5080">
              <a:lnSpc>
                <a:spcPts val="1730"/>
              </a:lnSpc>
              <a:spcBef>
                <a:spcPts val="1390"/>
              </a:spcBef>
            </a:pPr>
            <a:r>
              <a:rPr sz="1600" b="1" spc="-5" dirty="0">
                <a:solidFill>
                  <a:srgbClr val="FFFFFF"/>
                </a:solidFill>
                <a:latin typeface="Calisto MT"/>
                <a:cs typeface="Calisto MT"/>
              </a:rPr>
              <a:t>Flexibility </a:t>
            </a:r>
            <a:r>
              <a:rPr sz="1600" b="1" dirty="0">
                <a:solidFill>
                  <a:srgbClr val="FFFFFF"/>
                </a:solidFill>
                <a:latin typeface="Calisto MT"/>
                <a:cs typeface="Calisto MT"/>
              </a:rPr>
              <a:t>in  service</a:t>
            </a:r>
            <a:r>
              <a:rPr sz="1600" b="1" spc="-85" dirty="0">
                <a:solidFill>
                  <a:srgbClr val="FFFFFF"/>
                </a:solidFill>
                <a:latin typeface="Calisto MT"/>
                <a:cs typeface="Calisto MT"/>
              </a:rPr>
              <a:t> </a:t>
            </a:r>
            <a:r>
              <a:rPr sz="1600" b="1" spc="-5" dirty="0">
                <a:solidFill>
                  <a:srgbClr val="FFFFFF"/>
                </a:solidFill>
                <a:latin typeface="Calisto MT"/>
                <a:cs typeface="Calisto MT"/>
              </a:rPr>
              <a:t>usage</a:t>
            </a:r>
            <a:endParaRPr sz="1600">
              <a:latin typeface="Calisto MT"/>
              <a:cs typeface="Calisto MT"/>
            </a:endParaRPr>
          </a:p>
          <a:p>
            <a:pPr>
              <a:lnSpc>
                <a:spcPct val="100000"/>
              </a:lnSpc>
            </a:pPr>
            <a:endParaRPr sz="1700">
              <a:latin typeface="Calisto MT"/>
              <a:cs typeface="Calisto MT"/>
            </a:endParaRPr>
          </a:p>
          <a:p>
            <a:pPr>
              <a:lnSpc>
                <a:spcPct val="100000"/>
              </a:lnSpc>
              <a:spcBef>
                <a:spcPts val="30"/>
              </a:spcBef>
            </a:pPr>
            <a:endParaRPr sz="1750">
              <a:latin typeface="Calisto MT"/>
              <a:cs typeface="Calisto MT"/>
            </a:endParaRPr>
          </a:p>
          <a:p>
            <a:pPr marL="6490335" marR="5080" indent="-262255">
              <a:lnSpc>
                <a:spcPts val="1730"/>
              </a:lnSpc>
            </a:pPr>
            <a:r>
              <a:rPr sz="1600" b="1" spc="-60" dirty="0">
                <a:solidFill>
                  <a:srgbClr val="FFFFFF"/>
                </a:solidFill>
                <a:latin typeface="Calisto MT"/>
                <a:cs typeface="Calisto MT"/>
              </a:rPr>
              <a:t>T</a:t>
            </a:r>
            <a:r>
              <a:rPr sz="1600" b="1" dirty="0">
                <a:solidFill>
                  <a:srgbClr val="FFFFFF"/>
                </a:solidFill>
                <a:latin typeface="Calisto MT"/>
                <a:cs typeface="Calisto MT"/>
              </a:rPr>
              <a:t>ransa</a:t>
            </a:r>
            <a:r>
              <a:rPr sz="1600" b="1" spc="5" dirty="0">
                <a:solidFill>
                  <a:srgbClr val="FFFFFF"/>
                </a:solidFill>
                <a:latin typeface="Calisto MT"/>
                <a:cs typeface="Calisto MT"/>
              </a:rPr>
              <a:t>c</a:t>
            </a:r>
            <a:r>
              <a:rPr sz="1600" b="1" dirty="0">
                <a:solidFill>
                  <a:srgbClr val="FFFFFF"/>
                </a:solidFill>
                <a:latin typeface="Calisto MT"/>
                <a:cs typeface="Calisto MT"/>
              </a:rPr>
              <a:t>t</a:t>
            </a:r>
            <a:r>
              <a:rPr sz="1600" b="1" spc="-5" dirty="0">
                <a:solidFill>
                  <a:srgbClr val="FFFFFF"/>
                </a:solidFill>
                <a:latin typeface="Calisto MT"/>
                <a:cs typeface="Calisto MT"/>
              </a:rPr>
              <a:t>-</a:t>
            </a:r>
            <a:r>
              <a:rPr sz="1600" b="1" dirty="0">
                <a:solidFill>
                  <a:srgbClr val="FFFFFF"/>
                </a:solidFill>
                <a:latin typeface="Calisto MT"/>
                <a:cs typeface="Calisto MT"/>
              </a:rPr>
              <a:t>SQL  support</a:t>
            </a:r>
            <a:endParaRPr sz="1600">
              <a:latin typeface="Calisto MT"/>
              <a:cs typeface="Calisto MT"/>
            </a:endParaRPr>
          </a:p>
        </p:txBody>
      </p:sp>
      <p:sp>
        <p:nvSpPr>
          <p:cNvPr id="29" name="object 29"/>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11</a:t>
            </a:fld>
            <a:endParaRPr sz="1800" baseline="2314"/>
          </a:p>
        </p:txBody>
      </p:sp>
      <p:sp>
        <p:nvSpPr>
          <p:cNvPr id="31" name="object 31"/>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39" y="152400"/>
            <a:ext cx="8530717" cy="382156"/>
          </a:xfrm>
          <a:prstGeom prst="rect">
            <a:avLst/>
          </a:prstGeom>
        </p:spPr>
        <p:txBody>
          <a:bodyPr vert="horz" wrap="square" lIns="0" tIns="12700" rIns="0" bIns="0" rtlCol="0">
            <a:spAutoFit/>
          </a:bodyPr>
          <a:lstStyle/>
          <a:p>
            <a:pPr marL="12700" marR="5080">
              <a:lnSpc>
                <a:spcPct val="100000"/>
              </a:lnSpc>
              <a:spcBef>
                <a:spcPts val="100"/>
              </a:spcBef>
            </a:pPr>
            <a:r>
              <a:rPr sz="2400" spc="85" dirty="0"/>
              <a:t>Difference</a:t>
            </a:r>
            <a:r>
              <a:rPr sz="2400" spc="-120" dirty="0"/>
              <a:t> </a:t>
            </a:r>
            <a:r>
              <a:rPr sz="2400" spc="114" dirty="0"/>
              <a:t>between</a:t>
            </a:r>
            <a:r>
              <a:rPr sz="2400" spc="-110" dirty="0"/>
              <a:t> </a:t>
            </a:r>
            <a:r>
              <a:rPr sz="2400" spc="90" dirty="0"/>
              <a:t>Azure</a:t>
            </a:r>
            <a:r>
              <a:rPr sz="2400" spc="-120" dirty="0"/>
              <a:t> </a:t>
            </a:r>
            <a:r>
              <a:rPr sz="2400" spc="140" dirty="0"/>
              <a:t>SQL</a:t>
            </a:r>
            <a:r>
              <a:rPr sz="2400" spc="-105" dirty="0"/>
              <a:t> </a:t>
            </a:r>
            <a:r>
              <a:rPr sz="2400" spc="160" dirty="0"/>
              <a:t>and</a:t>
            </a:r>
            <a:r>
              <a:rPr sz="2400" spc="-110" dirty="0"/>
              <a:t> </a:t>
            </a:r>
            <a:r>
              <a:rPr sz="2400" spc="95" dirty="0"/>
              <a:t>On-Premises  </a:t>
            </a:r>
            <a:r>
              <a:rPr sz="2400" spc="140" dirty="0"/>
              <a:t>SQL</a:t>
            </a:r>
            <a:r>
              <a:rPr sz="2400" spc="-110" dirty="0"/>
              <a:t> </a:t>
            </a:r>
            <a:r>
              <a:rPr sz="2400" spc="90" dirty="0"/>
              <a:t>Server</a:t>
            </a:r>
            <a:endParaRPr sz="2400"/>
          </a:p>
        </p:txBody>
      </p:sp>
      <p:grpSp>
        <p:nvGrpSpPr>
          <p:cNvPr id="3" name="object 3"/>
          <p:cNvGrpSpPr/>
          <p:nvPr/>
        </p:nvGrpSpPr>
        <p:grpSpPr>
          <a:xfrm>
            <a:off x="2005457" y="1049908"/>
            <a:ext cx="6874509" cy="621030"/>
            <a:chOff x="2005457" y="1049908"/>
            <a:chExt cx="6874509" cy="621030"/>
          </a:xfrm>
        </p:grpSpPr>
        <p:sp>
          <p:nvSpPr>
            <p:cNvPr id="4" name="object 4"/>
            <p:cNvSpPr/>
            <p:nvPr/>
          </p:nvSpPr>
          <p:spPr>
            <a:xfrm>
              <a:off x="2008632" y="1053083"/>
              <a:ext cx="6868159" cy="614680"/>
            </a:xfrm>
            <a:custGeom>
              <a:avLst/>
              <a:gdLst/>
              <a:ahLst/>
              <a:cxnLst/>
              <a:rect l="l" t="t" r="r" b="b"/>
              <a:pathLst>
                <a:path w="6868159" h="614680">
                  <a:moveTo>
                    <a:pt x="6801611" y="0"/>
                  </a:moveTo>
                  <a:lnTo>
                    <a:pt x="0" y="0"/>
                  </a:lnTo>
                  <a:lnTo>
                    <a:pt x="0" y="614172"/>
                  </a:lnTo>
                  <a:lnTo>
                    <a:pt x="6801611" y="614172"/>
                  </a:lnTo>
                  <a:lnTo>
                    <a:pt x="6827400" y="606125"/>
                  </a:lnTo>
                  <a:lnTo>
                    <a:pt x="6848475" y="584184"/>
                  </a:lnTo>
                  <a:lnTo>
                    <a:pt x="6862691" y="551646"/>
                  </a:lnTo>
                  <a:lnTo>
                    <a:pt x="6867906" y="511810"/>
                  </a:lnTo>
                  <a:lnTo>
                    <a:pt x="6867906" y="102362"/>
                  </a:lnTo>
                  <a:lnTo>
                    <a:pt x="6862691" y="62525"/>
                  </a:lnTo>
                  <a:lnTo>
                    <a:pt x="6848475" y="29987"/>
                  </a:lnTo>
                  <a:lnTo>
                    <a:pt x="6827400" y="8046"/>
                  </a:lnTo>
                  <a:lnTo>
                    <a:pt x="6801611" y="0"/>
                  </a:lnTo>
                  <a:close/>
                </a:path>
              </a:pathLst>
            </a:custGeom>
            <a:solidFill>
              <a:srgbClr val="FFFFFF">
                <a:alpha val="90194"/>
              </a:srgbClr>
            </a:solidFill>
          </p:spPr>
          <p:txBody>
            <a:bodyPr wrap="square" lIns="0" tIns="0" rIns="0" bIns="0" rtlCol="0"/>
            <a:lstStyle/>
            <a:p>
              <a:endParaRPr/>
            </a:p>
          </p:txBody>
        </p:sp>
        <p:sp>
          <p:nvSpPr>
            <p:cNvPr id="5" name="object 5"/>
            <p:cNvSpPr/>
            <p:nvPr/>
          </p:nvSpPr>
          <p:spPr>
            <a:xfrm>
              <a:off x="2008632" y="1053083"/>
              <a:ext cx="6868159" cy="614680"/>
            </a:xfrm>
            <a:custGeom>
              <a:avLst/>
              <a:gdLst/>
              <a:ahLst/>
              <a:cxnLst/>
              <a:rect l="l" t="t" r="r" b="b"/>
              <a:pathLst>
                <a:path w="6868159" h="614680">
                  <a:moveTo>
                    <a:pt x="6867906" y="102362"/>
                  </a:moveTo>
                  <a:lnTo>
                    <a:pt x="6867906" y="511810"/>
                  </a:lnTo>
                  <a:lnTo>
                    <a:pt x="6862691" y="551646"/>
                  </a:lnTo>
                  <a:lnTo>
                    <a:pt x="6848475" y="584184"/>
                  </a:lnTo>
                  <a:lnTo>
                    <a:pt x="6827400" y="606125"/>
                  </a:lnTo>
                  <a:lnTo>
                    <a:pt x="6801611" y="614172"/>
                  </a:lnTo>
                  <a:lnTo>
                    <a:pt x="0" y="614172"/>
                  </a:lnTo>
                  <a:lnTo>
                    <a:pt x="0" y="0"/>
                  </a:lnTo>
                  <a:lnTo>
                    <a:pt x="6801611" y="0"/>
                  </a:lnTo>
                  <a:lnTo>
                    <a:pt x="6827400" y="8046"/>
                  </a:lnTo>
                  <a:lnTo>
                    <a:pt x="6848475" y="29987"/>
                  </a:lnTo>
                  <a:lnTo>
                    <a:pt x="6862691" y="62525"/>
                  </a:lnTo>
                  <a:lnTo>
                    <a:pt x="6867906" y="102362"/>
                  </a:lnTo>
                  <a:close/>
                </a:path>
              </a:pathLst>
            </a:custGeom>
            <a:ln w="6096">
              <a:solidFill>
                <a:srgbClr val="159F85"/>
              </a:solidFill>
            </a:ln>
          </p:spPr>
          <p:txBody>
            <a:bodyPr wrap="square" lIns="0" tIns="0" rIns="0" bIns="0" rtlCol="0"/>
            <a:lstStyle/>
            <a:p>
              <a:endParaRPr/>
            </a:p>
          </p:txBody>
        </p:sp>
      </p:grpSp>
      <p:sp>
        <p:nvSpPr>
          <p:cNvPr id="6" name="object 6"/>
          <p:cNvSpPr txBox="1"/>
          <p:nvPr/>
        </p:nvSpPr>
        <p:spPr>
          <a:xfrm>
            <a:off x="2110485" y="1031747"/>
            <a:ext cx="6505575" cy="623570"/>
          </a:xfrm>
          <a:prstGeom prst="rect">
            <a:avLst/>
          </a:prstGeom>
        </p:spPr>
        <p:txBody>
          <a:bodyPr vert="horz" wrap="square" lIns="0" tIns="33020" rIns="0" bIns="0" rtlCol="0">
            <a:spAutoFit/>
          </a:bodyPr>
          <a:lstStyle/>
          <a:p>
            <a:pPr marL="12700" marR="5080">
              <a:lnSpc>
                <a:spcPct val="90200"/>
              </a:lnSpc>
              <a:spcBef>
                <a:spcPts val="260"/>
              </a:spcBef>
            </a:pPr>
            <a:r>
              <a:rPr sz="1400" spc="-5" dirty="0">
                <a:latin typeface="Calisto MT"/>
                <a:cs typeface="Calisto MT"/>
              </a:rPr>
              <a:t>On-premises SQL Server </a:t>
            </a:r>
            <a:r>
              <a:rPr sz="1400" spc="-10" dirty="0">
                <a:latin typeface="Calisto MT"/>
                <a:cs typeface="Calisto MT"/>
              </a:rPr>
              <a:t>provides </a:t>
            </a:r>
            <a:r>
              <a:rPr sz="1400" spc="-5" dirty="0">
                <a:latin typeface="Calisto MT"/>
                <a:cs typeface="Calisto MT"/>
              </a:rPr>
              <a:t>a </a:t>
            </a:r>
            <a:r>
              <a:rPr sz="1400" spc="-10" dirty="0">
                <a:latin typeface="Calisto MT"/>
                <a:cs typeface="Calisto MT"/>
              </a:rPr>
              <a:t>number </a:t>
            </a:r>
            <a:r>
              <a:rPr sz="1400" spc="-5" dirty="0">
                <a:latin typeface="Calisto MT"/>
                <a:cs typeface="Calisto MT"/>
              </a:rPr>
              <a:t>of tools for monitoring and management.  All these tools </a:t>
            </a:r>
            <a:r>
              <a:rPr sz="1400" spc="-20" dirty="0">
                <a:latin typeface="Calisto MT"/>
                <a:cs typeface="Calisto MT"/>
              </a:rPr>
              <a:t>may </a:t>
            </a:r>
            <a:r>
              <a:rPr sz="1400" spc="-5" dirty="0">
                <a:latin typeface="Calisto MT"/>
                <a:cs typeface="Calisto MT"/>
              </a:rPr>
              <a:t>not be </a:t>
            </a:r>
            <a:r>
              <a:rPr sz="1400" dirty="0">
                <a:latin typeface="Calisto MT"/>
                <a:cs typeface="Calisto MT"/>
              </a:rPr>
              <a:t>supported </a:t>
            </a:r>
            <a:r>
              <a:rPr sz="1400" spc="-5" dirty="0">
                <a:latin typeface="Calisto MT"/>
                <a:cs typeface="Calisto MT"/>
              </a:rPr>
              <a:t>by Azure SQL, as there are a limited set of tools  that are </a:t>
            </a:r>
            <a:r>
              <a:rPr sz="1400" spc="-20" dirty="0">
                <a:latin typeface="Calisto MT"/>
                <a:cs typeface="Calisto MT"/>
              </a:rPr>
              <a:t>available </a:t>
            </a:r>
            <a:r>
              <a:rPr sz="1400" spc="-5" dirty="0">
                <a:latin typeface="Calisto MT"/>
                <a:cs typeface="Calisto MT"/>
              </a:rPr>
              <a:t>in this</a:t>
            </a:r>
            <a:r>
              <a:rPr sz="1400" spc="60" dirty="0">
                <a:latin typeface="Calisto MT"/>
                <a:cs typeface="Calisto MT"/>
              </a:rPr>
              <a:t> </a:t>
            </a:r>
            <a:r>
              <a:rPr sz="1400" spc="-10" dirty="0">
                <a:latin typeface="Calisto MT"/>
                <a:cs typeface="Calisto MT"/>
              </a:rPr>
              <a:t>version.</a:t>
            </a:r>
            <a:endParaRPr sz="1400">
              <a:latin typeface="Calisto MT"/>
              <a:cs typeface="Calisto MT"/>
            </a:endParaRPr>
          </a:p>
        </p:txBody>
      </p:sp>
      <p:grpSp>
        <p:nvGrpSpPr>
          <p:cNvPr id="7" name="object 7"/>
          <p:cNvGrpSpPr/>
          <p:nvPr/>
        </p:nvGrpSpPr>
        <p:grpSpPr>
          <a:xfrm>
            <a:off x="577595" y="1040891"/>
            <a:ext cx="1438275" cy="638810"/>
            <a:chOff x="577595" y="1040891"/>
            <a:chExt cx="1438275" cy="638810"/>
          </a:xfrm>
        </p:grpSpPr>
        <p:pic>
          <p:nvPicPr>
            <p:cNvPr id="8" name="object 8"/>
            <p:cNvPicPr/>
            <p:nvPr/>
          </p:nvPicPr>
          <p:blipFill>
            <a:blip r:embed="rId3" cstate="print"/>
            <a:stretch>
              <a:fillRect/>
            </a:stretch>
          </p:blipFill>
          <p:spPr>
            <a:xfrm>
              <a:off x="580643" y="1043939"/>
              <a:ext cx="1431797" cy="632460"/>
            </a:xfrm>
            <a:prstGeom prst="rect">
              <a:avLst/>
            </a:prstGeom>
          </p:spPr>
        </p:pic>
        <p:sp>
          <p:nvSpPr>
            <p:cNvPr id="9" name="object 9"/>
            <p:cNvSpPr/>
            <p:nvPr/>
          </p:nvSpPr>
          <p:spPr>
            <a:xfrm>
              <a:off x="580643" y="1043939"/>
              <a:ext cx="1431925" cy="632460"/>
            </a:xfrm>
            <a:custGeom>
              <a:avLst/>
              <a:gdLst/>
              <a:ahLst/>
              <a:cxnLst/>
              <a:rect l="l" t="t" r="r" b="b"/>
              <a:pathLst>
                <a:path w="1431925" h="632460">
                  <a:moveTo>
                    <a:pt x="0" y="105410"/>
                  </a:moveTo>
                  <a:lnTo>
                    <a:pt x="8283" y="64400"/>
                  </a:lnTo>
                  <a:lnTo>
                    <a:pt x="30873" y="30892"/>
                  </a:lnTo>
                  <a:lnTo>
                    <a:pt x="64379" y="8290"/>
                  </a:lnTo>
                  <a:lnTo>
                    <a:pt x="105410" y="0"/>
                  </a:lnTo>
                  <a:lnTo>
                    <a:pt x="1326388" y="0"/>
                  </a:lnTo>
                  <a:lnTo>
                    <a:pt x="1367397" y="8290"/>
                  </a:lnTo>
                  <a:lnTo>
                    <a:pt x="1400905" y="30892"/>
                  </a:lnTo>
                  <a:lnTo>
                    <a:pt x="1423507" y="64400"/>
                  </a:lnTo>
                  <a:lnTo>
                    <a:pt x="1431798" y="105410"/>
                  </a:lnTo>
                  <a:lnTo>
                    <a:pt x="1431798" y="527050"/>
                  </a:lnTo>
                  <a:lnTo>
                    <a:pt x="1423507" y="568059"/>
                  </a:lnTo>
                  <a:lnTo>
                    <a:pt x="1400905" y="601567"/>
                  </a:lnTo>
                  <a:lnTo>
                    <a:pt x="1367397" y="624169"/>
                  </a:lnTo>
                  <a:lnTo>
                    <a:pt x="1326388" y="632460"/>
                  </a:lnTo>
                  <a:lnTo>
                    <a:pt x="105410" y="632460"/>
                  </a:lnTo>
                  <a:lnTo>
                    <a:pt x="64379" y="624169"/>
                  </a:lnTo>
                  <a:lnTo>
                    <a:pt x="30873" y="601567"/>
                  </a:lnTo>
                  <a:lnTo>
                    <a:pt x="8283" y="568059"/>
                  </a:lnTo>
                  <a:lnTo>
                    <a:pt x="0" y="527050"/>
                  </a:lnTo>
                  <a:lnTo>
                    <a:pt x="0" y="105410"/>
                  </a:lnTo>
                  <a:close/>
                </a:path>
              </a:pathLst>
            </a:custGeom>
            <a:ln w="6096">
              <a:solidFill>
                <a:srgbClr val="159F85"/>
              </a:solidFill>
            </a:ln>
          </p:spPr>
          <p:txBody>
            <a:bodyPr wrap="square" lIns="0" tIns="0" rIns="0" bIns="0" rtlCol="0"/>
            <a:lstStyle/>
            <a:p>
              <a:endParaRPr/>
            </a:p>
          </p:txBody>
        </p:sp>
      </p:grpSp>
      <p:sp>
        <p:nvSpPr>
          <p:cNvPr id="10" name="object 10"/>
          <p:cNvSpPr txBox="1"/>
          <p:nvPr/>
        </p:nvSpPr>
        <p:spPr>
          <a:xfrm>
            <a:off x="1069339" y="1224025"/>
            <a:ext cx="454659" cy="238760"/>
          </a:xfrm>
          <a:prstGeom prst="rect">
            <a:avLst/>
          </a:prstGeom>
        </p:spPr>
        <p:txBody>
          <a:bodyPr vert="horz" wrap="square" lIns="0" tIns="12065" rIns="0" bIns="0" rtlCol="0">
            <a:spAutoFit/>
          </a:bodyPr>
          <a:lstStyle/>
          <a:p>
            <a:pPr marL="12700">
              <a:lnSpc>
                <a:spcPct val="100000"/>
              </a:lnSpc>
              <a:spcBef>
                <a:spcPts val="95"/>
              </a:spcBef>
            </a:pPr>
            <a:r>
              <a:rPr sz="1400" b="1" spc="-114" dirty="0">
                <a:solidFill>
                  <a:srgbClr val="FFFFFF"/>
                </a:solidFill>
                <a:latin typeface="Calisto MT"/>
                <a:cs typeface="Calisto MT"/>
              </a:rPr>
              <a:t>T</a:t>
            </a:r>
            <a:r>
              <a:rPr sz="1400" b="1" spc="-5" dirty="0">
                <a:solidFill>
                  <a:srgbClr val="FFFFFF"/>
                </a:solidFill>
                <a:latin typeface="Calisto MT"/>
                <a:cs typeface="Calisto MT"/>
              </a:rPr>
              <a:t>ools</a:t>
            </a:r>
            <a:endParaRPr sz="1400">
              <a:latin typeface="Calisto MT"/>
              <a:cs typeface="Calisto MT"/>
            </a:endParaRPr>
          </a:p>
        </p:txBody>
      </p:sp>
      <p:grpSp>
        <p:nvGrpSpPr>
          <p:cNvPr id="11" name="object 11"/>
          <p:cNvGrpSpPr/>
          <p:nvPr/>
        </p:nvGrpSpPr>
        <p:grpSpPr>
          <a:xfrm>
            <a:off x="2009267" y="1853057"/>
            <a:ext cx="6908165" cy="554990"/>
            <a:chOff x="2009267" y="1853057"/>
            <a:chExt cx="6908165" cy="554990"/>
          </a:xfrm>
        </p:grpSpPr>
        <p:sp>
          <p:nvSpPr>
            <p:cNvPr id="12" name="object 12"/>
            <p:cNvSpPr/>
            <p:nvPr/>
          </p:nvSpPr>
          <p:spPr>
            <a:xfrm>
              <a:off x="2012442" y="1856232"/>
              <a:ext cx="6901815" cy="548640"/>
            </a:xfrm>
            <a:custGeom>
              <a:avLst/>
              <a:gdLst/>
              <a:ahLst/>
              <a:cxnLst/>
              <a:rect l="l" t="t" r="r" b="b"/>
              <a:pathLst>
                <a:path w="6901815" h="548639">
                  <a:moveTo>
                    <a:pt x="6834758" y="0"/>
                  </a:moveTo>
                  <a:lnTo>
                    <a:pt x="0" y="0"/>
                  </a:lnTo>
                  <a:lnTo>
                    <a:pt x="0" y="548639"/>
                  </a:lnTo>
                  <a:lnTo>
                    <a:pt x="6834758" y="548639"/>
                  </a:lnTo>
                  <a:lnTo>
                    <a:pt x="6860714" y="541460"/>
                  </a:lnTo>
                  <a:lnTo>
                    <a:pt x="6881907" y="521874"/>
                  </a:lnTo>
                  <a:lnTo>
                    <a:pt x="6896195" y="492811"/>
                  </a:lnTo>
                  <a:lnTo>
                    <a:pt x="6901433" y="457199"/>
                  </a:lnTo>
                  <a:lnTo>
                    <a:pt x="6901433" y="91439"/>
                  </a:lnTo>
                  <a:lnTo>
                    <a:pt x="6896195" y="55828"/>
                  </a:lnTo>
                  <a:lnTo>
                    <a:pt x="6881907" y="26765"/>
                  </a:lnTo>
                  <a:lnTo>
                    <a:pt x="6860714" y="7179"/>
                  </a:lnTo>
                  <a:lnTo>
                    <a:pt x="6834758" y="0"/>
                  </a:lnTo>
                  <a:close/>
                </a:path>
              </a:pathLst>
            </a:custGeom>
            <a:solidFill>
              <a:srgbClr val="FFFFFF">
                <a:alpha val="90194"/>
              </a:srgbClr>
            </a:solidFill>
          </p:spPr>
          <p:txBody>
            <a:bodyPr wrap="square" lIns="0" tIns="0" rIns="0" bIns="0" rtlCol="0"/>
            <a:lstStyle/>
            <a:p>
              <a:endParaRPr/>
            </a:p>
          </p:txBody>
        </p:sp>
        <p:sp>
          <p:nvSpPr>
            <p:cNvPr id="13" name="object 13"/>
            <p:cNvSpPr/>
            <p:nvPr/>
          </p:nvSpPr>
          <p:spPr>
            <a:xfrm>
              <a:off x="2012442" y="1856232"/>
              <a:ext cx="6901815" cy="548640"/>
            </a:xfrm>
            <a:custGeom>
              <a:avLst/>
              <a:gdLst/>
              <a:ahLst/>
              <a:cxnLst/>
              <a:rect l="l" t="t" r="r" b="b"/>
              <a:pathLst>
                <a:path w="6901815" h="548639">
                  <a:moveTo>
                    <a:pt x="6901433" y="91439"/>
                  </a:moveTo>
                  <a:lnTo>
                    <a:pt x="6901433" y="457199"/>
                  </a:lnTo>
                  <a:lnTo>
                    <a:pt x="6896195" y="492811"/>
                  </a:lnTo>
                  <a:lnTo>
                    <a:pt x="6881907" y="521874"/>
                  </a:lnTo>
                  <a:lnTo>
                    <a:pt x="6860714" y="541460"/>
                  </a:lnTo>
                  <a:lnTo>
                    <a:pt x="6834758" y="548639"/>
                  </a:lnTo>
                  <a:lnTo>
                    <a:pt x="0" y="548639"/>
                  </a:lnTo>
                  <a:lnTo>
                    <a:pt x="0" y="0"/>
                  </a:lnTo>
                  <a:lnTo>
                    <a:pt x="6834758" y="0"/>
                  </a:lnTo>
                  <a:lnTo>
                    <a:pt x="6860714" y="7179"/>
                  </a:lnTo>
                  <a:lnTo>
                    <a:pt x="6881907" y="26765"/>
                  </a:lnTo>
                  <a:lnTo>
                    <a:pt x="6896195" y="55828"/>
                  </a:lnTo>
                  <a:lnTo>
                    <a:pt x="6901433" y="91439"/>
                  </a:lnTo>
                  <a:close/>
                </a:path>
              </a:pathLst>
            </a:custGeom>
            <a:ln w="6096">
              <a:solidFill>
                <a:srgbClr val="9BBA58"/>
              </a:solidFill>
            </a:ln>
          </p:spPr>
          <p:txBody>
            <a:bodyPr wrap="square" lIns="0" tIns="0" rIns="0" bIns="0" rtlCol="0"/>
            <a:lstStyle/>
            <a:p>
              <a:endParaRPr/>
            </a:p>
          </p:txBody>
        </p:sp>
      </p:grpSp>
      <p:sp>
        <p:nvSpPr>
          <p:cNvPr id="14" name="object 14"/>
          <p:cNvSpPr txBox="1"/>
          <p:nvPr/>
        </p:nvSpPr>
        <p:spPr>
          <a:xfrm>
            <a:off x="2085085" y="1802130"/>
            <a:ext cx="6573520" cy="623570"/>
          </a:xfrm>
          <a:prstGeom prst="rect">
            <a:avLst/>
          </a:prstGeom>
        </p:spPr>
        <p:txBody>
          <a:bodyPr vert="horz" wrap="square" lIns="0" tIns="33020" rIns="0" bIns="0" rtlCol="0">
            <a:spAutoFit/>
          </a:bodyPr>
          <a:lstStyle/>
          <a:p>
            <a:pPr marL="12700" marR="5080" indent="45720" algn="just">
              <a:lnSpc>
                <a:spcPct val="90200"/>
              </a:lnSpc>
              <a:spcBef>
                <a:spcPts val="260"/>
              </a:spcBef>
            </a:pPr>
            <a:r>
              <a:rPr sz="1400" spc="-5" dirty="0">
                <a:latin typeface="Calisto MT"/>
                <a:cs typeface="Calisto MT"/>
              </a:rPr>
              <a:t>Backup and restore function </a:t>
            </a:r>
            <a:r>
              <a:rPr sz="1400" spc="-10" dirty="0">
                <a:latin typeface="Calisto MT"/>
                <a:cs typeface="Calisto MT"/>
              </a:rPr>
              <a:t>must </a:t>
            </a:r>
            <a:r>
              <a:rPr sz="1400" spc="-5" dirty="0">
                <a:latin typeface="Calisto MT"/>
                <a:cs typeface="Calisto MT"/>
              </a:rPr>
              <a:t>be </a:t>
            </a:r>
            <a:r>
              <a:rPr sz="1400" dirty="0">
                <a:latin typeface="Calisto MT"/>
                <a:cs typeface="Calisto MT"/>
              </a:rPr>
              <a:t>supported </a:t>
            </a:r>
            <a:r>
              <a:rPr sz="1400" spc="-5" dirty="0">
                <a:latin typeface="Calisto MT"/>
                <a:cs typeface="Calisto MT"/>
              </a:rPr>
              <a:t>in on-premises SQL Server for disaster  </a:t>
            </a:r>
            <a:r>
              <a:rPr sz="1400" spc="-25" dirty="0">
                <a:latin typeface="Calisto MT"/>
                <a:cs typeface="Calisto MT"/>
              </a:rPr>
              <a:t>recovery. For </a:t>
            </a:r>
            <a:r>
              <a:rPr sz="1400" spc="-5" dirty="0">
                <a:latin typeface="Calisto MT"/>
                <a:cs typeface="Calisto MT"/>
              </a:rPr>
              <a:t>Azure SQL, as all the data is on the cloud platform, backup and restore is  not</a:t>
            </a:r>
            <a:r>
              <a:rPr sz="1400" spc="10" dirty="0">
                <a:latin typeface="Calisto MT"/>
                <a:cs typeface="Calisto MT"/>
              </a:rPr>
              <a:t> </a:t>
            </a:r>
            <a:r>
              <a:rPr sz="1400" spc="-5" dirty="0">
                <a:latin typeface="Calisto MT"/>
                <a:cs typeface="Calisto MT"/>
              </a:rPr>
              <a:t>required.</a:t>
            </a:r>
            <a:endParaRPr sz="1400">
              <a:latin typeface="Calisto MT"/>
              <a:cs typeface="Calisto MT"/>
            </a:endParaRPr>
          </a:p>
        </p:txBody>
      </p:sp>
      <p:grpSp>
        <p:nvGrpSpPr>
          <p:cNvPr id="15" name="object 15"/>
          <p:cNvGrpSpPr/>
          <p:nvPr/>
        </p:nvGrpSpPr>
        <p:grpSpPr>
          <a:xfrm>
            <a:off x="611123" y="1736598"/>
            <a:ext cx="1438275" cy="712470"/>
            <a:chOff x="611123" y="1736598"/>
            <a:chExt cx="1438275" cy="712470"/>
          </a:xfrm>
        </p:grpSpPr>
        <p:pic>
          <p:nvPicPr>
            <p:cNvPr id="16" name="object 16"/>
            <p:cNvPicPr/>
            <p:nvPr/>
          </p:nvPicPr>
          <p:blipFill>
            <a:blip r:embed="rId4" cstate="print"/>
            <a:stretch>
              <a:fillRect/>
            </a:stretch>
          </p:blipFill>
          <p:spPr>
            <a:xfrm>
              <a:off x="614171" y="1739646"/>
              <a:ext cx="1431798" cy="706374"/>
            </a:xfrm>
            <a:prstGeom prst="rect">
              <a:avLst/>
            </a:prstGeom>
          </p:spPr>
        </p:pic>
        <p:sp>
          <p:nvSpPr>
            <p:cNvPr id="17" name="object 17"/>
            <p:cNvSpPr/>
            <p:nvPr/>
          </p:nvSpPr>
          <p:spPr>
            <a:xfrm>
              <a:off x="614171" y="1739646"/>
              <a:ext cx="1431925" cy="706755"/>
            </a:xfrm>
            <a:custGeom>
              <a:avLst/>
              <a:gdLst/>
              <a:ahLst/>
              <a:cxnLst/>
              <a:rect l="l" t="t" r="r" b="b"/>
              <a:pathLst>
                <a:path w="1431925" h="706755">
                  <a:moveTo>
                    <a:pt x="0" y="117728"/>
                  </a:moveTo>
                  <a:lnTo>
                    <a:pt x="9251" y="71901"/>
                  </a:lnTo>
                  <a:lnTo>
                    <a:pt x="34480" y="34480"/>
                  </a:lnTo>
                  <a:lnTo>
                    <a:pt x="71901" y="9251"/>
                  </a:lnTo>
                  <a:lnTo>
                    <a:pt x="117729" y="0"/>
                  </a:lnTo>
                  <a:lnTo>
                    <a:pt x="1314069" y="0"/>
                  </a:lnTo>
                  <a:lnTo>
                    <a:pt x="1359896" y="9251"/>
                  </a:lnTo>
                  <a:lnTo>
                    <a:pt x="1397317" y="34480"/>
                  </a:lnTo>
                  <a:lnTo>
                    <a:pt x="1422546" y="71901"/>
                  </a:lnTo>
                  <a:lnTo>
                    <a:pt x="1431798" y="117728"/>
                  </a:lnTo>
                  <a:lnTo>
                    <a:pt x="1431798" y="588644"/>
                  </a:lnTo>
                  <a:lnTo>
                    <a:pt x="1422546" y="634472"/>
                  </a:lnTo>
                  <a:lnTo>
                    <a:pt x="1397317" y="671893"/>
                  </a:lnTo>
                  <a:lnTo>
                    <a:pt x="1359896" y="697122"/>
                  </a:lnTo>
                  <a:lnTo>
                    <a:pt x="1314069" y="706373"/>
                  </a:lnTo>
                  <a:lnTo>
                    <a:pt x="117729" y="706373"/>
                  </a:lnTo>
                  <a:lnTo>
                    <a:pt x="71901" y="697122"/>
                  </a:lnTo>
                  <a:lnTo>
                    <a:pt x="34480" y="671893"/>
                  </a:lnTo>
                  <a:lnTo>
                    <a:pt x="9251" y="634472"/>
                  </a:lnTo>
                  <a:lnTo>
                    <a:pt x="0" y="588644"/>
                  </a:lnTo>
                  <a:lnTo>
                    <a:pt x="0" y="117728"/>
                  </a:lnTo>
                  <a:close/>
                </a:path>
              </a:pathLst>
            </a:custGeom>
            <a:ln w="6095">
              <a:solidFill>
                <a:srgbClr val="9BBA58"/>
              </a:solidFill>
            </a:ln>
          </p:spPr>
          <p:txBody>
            <a:bodyPr wrap="square" lIns="0" tIns="0" rIns="0" bIns="0" rtlCol="0"/>
            <a:lstStyle/>
            <a:p>
              <a:endParaRPr/>
            </a:p>
          </p:txBody>
        </p:sp>
      </p:grpSp>
      <p:sp>
        <p:nvSpPr>
          <p:cNvPr id="18" name="object 18"/>
          <p:cNvSpPr txBox="1"/>
          <p:nvPr/>
        </p:nvSpPr>
        <p:spPr>
          <a:xfrm>
            <a:off x="1030732" y="1957069"/>
            <a:ext cx="600075" cy="238760"/>
          </a:xfrm>
          <a:prstGeom prst="rect">
            <a:avLst/>
          </a:prstGeom>
        </p:spPr>
        <p:txBody>
          <a:bodyPr vert="horz" wrap="square" lIns="0" tIns="12065" rIns="0" bIns="0" rtlCol="0">
            <a:spAutoFit/>
          </a:bodyPr>
          <a:lstStyle/>
          <a:p>
            <a:pPr marL="12700">
              <a:lnSpc>
                <a:spcPct val="100000"/>
              </a:lnSpc>
              <a:spcBef>
                <a:spcPts val="95"/>
              </a:spcBef>
            </a:pPr>
            <a:r>
              <a:rPr sz="1400" b="1" spc="-10" dirty="0">
                <a:solidFill>
                  <a:srgbClr val="FFFFFF"/>
                </a:solidFill>
                <a:latin typeface="Calisto MT"/>
                <a:cs typeface="Calisto MT"/>
              </a:rPr>
              <a:t>Backup</a:t>
            </a:r>
            <a:endParaRPr sz="1400">
              <a:latin typeface="Calisto MT"/>
              <a:cs typeface="Calisto MT"/>
            </a:endParaRPr>
          </a:p>
        </p:txBody>
      </p:sp>
      <p:grpSp>
        <p:nvGrpSpPr>
          <p:cNvPr id="19" name="object 19"/>
          <p:cNvGrpSpPr/>
          <p:nvPr/>
        </p:nvGrpSpPr>
        <p:grpSpPr>
          <a:xfrm>
            <a:off x="2042795" y="2583814"/>
            <a:ext cx="6893559" cy="546735"/>
            <a:chOff x="2042795" y="2583814"/>
            <a:chExt cx="6893559" cy="546735"/>
          </a:xfrm>
        </p:grpSpPr>
        <p:sp>
          <p:nvSpPr>
            <p:cNvPr id="20" name="object 20"/>
            <p:cNvSpPr/>
            <p:nvPr/>
          </p:nvSpPr>
          <p:spPr>
            <a:xfrm>
              <a:off x="2045970" y="2586989"/>
              <a:ext cx="6887209" cy="540385"/>
            </a:xfrm>
            <a:custGeom>
              <a:avLst/>
              <a:gdLst/>
              <a:ahLst/>
              <a:cxnLst/>
              <a:rect l="l" t="t" r="r" b="b"/>
              <a:pathLst>
                <a:path w="6887209" h="540385">
                  <a:moveTo>
                    <a:pt x="6820408" y="0"/>
                  </a:moveTo>
                  <a:lnTo>
                    <a:pt x="0" y="0"/>
                  </a:lnTo>
                  <a:lnTo>
                    <a:pt x="0" y="540257"/>
                  </a:lnTo>
                  <a:lnTo>
                    <a:pt x="6820408" y="540257"/>
                  </a:lnTo>
                  <a:lnTo>
                    <a:pt x="6846290" y="533189"/>
                  </a:lnTo>
                  <a:lnTo>
                    <a:pt x="6867445" y="513905"/>
                  </a:lnTo>
                  <a:lnTo>
                    <a:pt x="6881719" y="485286"/>
                  </a:lnTo>
                  <a:lnTo>
                    <a:pt x="6886956" y="450214"/>
                  </a:lnTo>
                  <a:lnTo>
                    <a:pt x="6886956" y="90042"/>
                  </a:lnTo>
                  <a:lnTo>
                    <a:pt x="6881719" y="54971"/>
                  </a:lnTo>
                  <a:lnTo>
                    <a:pt x="6867445" y="26352"/>
                  </a:lnTo>
                  <a:lnTo>
                    <a:pt x="6846290" y="7068"/>
                  </a:lnTo>
                  <a:lnTo>
                    <a:pt x="6820408" y="0"/>
                  </a:lnTo>
                  <a:close/>
                </a:path>
              </a:pathLst>
            </a:custGeom>
            <a:solidFill>
              <a:srgbClr val="FFFFFF">
                <a:alpha val="90194"/>
              </a:srgbClr>
            </a:solidFill>
          </p:spPr>
          <p:txBody>
            <a:bodyPr wrap="square" lIns="0" tIns="0" rIns="0" bIns="0" rtlCol="0"/>
            <a:lstStyle/>
            <a:p>
              <a:endParaRPr/>
            </a:p>
          </p:txBody>
        </p:sp>
        <p:sp>
          <p:nvSpPr>
            <p:cNvPr id="21" name="object 21"/>
            <p:cNvSpPr/>
            <p:nvPr/>
          </p:nvSpPr>
          <p:spPr>
            <a:xfrm>
              <a:off x="2045970" y="2586989"/>
              <a:ext cx="6887209" cy="540385"/>
            </a:xfrm>
            <a:custGeom>
              <a:avLst/>
              <a:gdLst/>
              <a:ahLst/>
              <a:cxnLst/>
              <a:rect l="l" t="t" r="r" b="b"/>
              <a:pathLst>
                <a:path w="6887209" h="540385">
                  <a:moveTo>
                    <a:pt x="6886956" y="90042"/>
                  </a:moveTo>
                  <a:lnTo>
                    <a:pt x="6886956" y="450214"/>
                  </a:lnTo>
                  <a:lnTo>
                    <a:pt x="6881719" y="485286"/>
                  </a:lnTo>
                  <a:lnTo>
                    <a:pt x="6867445" y="513905"/>
                  </a:lnTo>
                  <a:lnTo>
                    <a:pt x="6846290" y="533189"/>
                  </a:lnTo>
                  <a:lnTo>
                    <a:pt x="6820408" y="540257"/>
                  </a:lnTo>
                  <a:lnTo>
                    <a:pt x="0" y="540257"/>
                  </a:lnTo>
                  <a:lnTo>
                    <a:pt x="0" y="0"/>
                  </a:lnTo>
                  <a:lnTo>
                    <a:pt x="6820408" y="0"/>
                  </a:lnTo>
                  <a:lnTo>
                    <a:pt x="6846290" y="7068"/>
                  </a:lnTo>
                  <a:lnTo>
                    <a:pt x="6867445" y="26352"/>
                  </a:lnTo>
                  <a:lnTo>
                    <a:pt x="6881719" y="54971"/>
                  </a:lnTo>
                  <a:lnTo>
                    <a:pt x="6886956" y="90042"/>
                  </a:lnTo>
                  <a:close/>
                </a:path>
              </a:pathLst>
            </a:custGeom>
            <a:ln w="6096">
              <a:solidFill>
                <a:srgbClr val="F39C12"/>
              </a:solidFill>
            </a:ln>
          </p:spPr>
          <p:txBody>
            <a:bodyPr wrap="square" lIns="0" tIns="0" rIns="0" bIns="0" rtlCol="0"/>
            <a:lstStyle/>
            <a:p>
              <a:endParaRPr/>
            </a:p>
          </p:txBody>
        </p:sp>
      </p:grpSp>
      <p:sp>
        <p:nvSpPr>
          <p:cNvPr id="22" name="object 22"/>
          <p:cNvSpPr txBox="1"/>
          <p:nvPr/>
        </p:nvSpPr>
        <p:spPr>
          <a:xfrm>
            <a:off x="2118867" y="2624327"/>
            <a:ext cx="6559550" cy="431800"/>
          </a:xfrm>
          <a:prstGeom prst="rect">
            <a:avLst/>
          </a:prstGeom>
        </p:spPr>
        <p:txBody>
          <a:bodyPr vert="horz" wrap="square" lIns="0" tIns="35560" rIns="0" bIns="0" rtlCol="0">
            <a:spAutoFit/>
          </a:bodyPr>
          <a:lstStyle/>
          <a:p>
            <a:pPr marL="12700" marR="5080">
              <a:lnSpc>
                <a:spcPts val="1520"/>
              </a:lnSpc>
              <a:spcBef>
                <a:spcPts val="280"/>
              </a:spcBef>
            </a:pPr>
            <a:r>
              <a:rPr sz="1400" spc="-5" dirty="0">
                <a:latin typeface="Calisto MT"/>
                <a:cs typeface="Calisto MT"/>
              </a:rPr>
              <a:t>USE statement is not </a:t>
            </a:r>
            <a:r>
              <a:rPr sz="1400" dirty="0">
                <a:latin typeface="Calisto MT"/>
                <a:cs typeface="Calisto MT"/>
              </a:rPr>
              <a:t>supported </a:t>
            </a:r>
            <a:r>
              <a:rPr sz="1400" spc="-5" dirty="0">
                <a:latin typeface="Calisto MT"/>
                <a:cs typeface="Calisto MT"/>
              </a:rPr>
              <a:t>by Azure SQL. </a:t>
            </a:r>
            <a:r>
              <a:rPr sz="1400" spc="-15" dirty="0">
                <a:latin typeface="Calisto MT"/>
                <a:cs typeface="Calisto MT"/>
              </a:rPr>
              <a:t>Hence, </a:t>
            </a:r>
            <a:r>
              <a:rPr sz="1400" spc="-5" dirty="0">
                <a:latin typeface="Calisto MT"/>
                <a:cs typeface="Calisto MT"/>
              </a:rPr>
              <a:t>the user </a:t>
            </a:r>
            <a:r>
              <a:rPr sz="1400" spc="-10" dirty="0">
                <a:latin typeface="Calisto MT"/>
                <a:cs typeface="Calisto MT"/>
              </a:rPr>
              <a:t>cannot switch between  </a:t>
            </a:r>
            <a:r>
              <a:rPr sz="1400" spc="-5" dirty="0">
                <a:latin typeface="Calisto MT"/>
                <a:cs typeface="Calisto MT"/>
              </a:rPr>
              <a:t>databases in Azure SQL as </a:t>
            </a:r>
            <a:r>
              <a:rPr sz="1400" spc="-10" dirty="0">
                <a:latin typeface="Calisto MT"/>
                <a:cs typeface="Calisto MT"/>
              </a:rPr>
              <a:t>compared </a:t>
            </a:r>
            <a:r>
              <a:rPr sz="1400" spc="-5" dirty="0">
                <a:latin typeface="Calisto MT"/>
                <a:cs typeface="Calisto MT"/>
              </a:rPr>
              <a:t>to </a:t>
            </a:r>
            <a:r>
              <a:rPr sz="1400" dirty="0">
                <a:latin typeface="Calisto MT"/>
                <a:cs typeface="Calisto MT"/>
              </a:rPr>
              <a:t>on-premises </a:t>
            </a:r>
            <a:r>
              <a:rPr sz="1400" spc="-5" dirty="0">
                <a:latin typeface="Calisto MT"/>
                <a:cs typeface="Calisto MT"/>
              </a:rPr>
              <a:t>SQL</a:t>
            </a:r>
            <a:r>
              <a:rPr sz="1400" spc="110" dirty="0">
                <a:latin typeface="Calisto MT"/>
                <a:cs typeface="Calisto MT"/>
              </a:rPr>
              <a:t> </a:t>
            </a:r>
            <a:r>
              <a:rPr sz="1400" spc="-20" dirty="0">
                <a:latin typeface="Calisto MT"/>
                <a:cs typeface="Calisto MT"/>
              </a:rPr>
              <a:t>Server.</a:t>
            </a:r>
            <a:endParaRPr sz="1400">
              <a:latin typeface="Calisto MT"/>
              <a:cs typeface="Calisto MT"/>
            </a:endParaRPr>
          </a:p>
        </p:txBody>
      </p:sp>
      <p:grpSp>
        <p:nvGrpSpPr>
          <p:cNvPr id="23" name="object 23"/>
          <p:cNvGrpSpPr/>
          <p:nvPr/>
        </p:nvGrpSpPr>
        <p:grpSpPr>
          <a:xfrm>
            <a:off x="603504" y="2549651"/>
            <a:ext cx="1447165" cy="641350"/>
            <a:chOff x="603504" y="2549651"/>
            <a:chExt cx="1447165" cy="641350"/>
          </a:xfrm>
        </p:grpSpPr>
        <p:pic>
          <p:nvPicPr>
            <p:cNvPr id="24" name="object 24"/>
            <p:cNvPicPr/>
            <p:nvPr/>
          </p:nvPicPr>
          <p:blipFill>
            <a:blip r:embed="rId5" cstate="print"/>
            <a:stretch>
              <a:fillRect/>
            </a:stretch>
          </p:blipFill>
          <p:spPr>
            <a:xfrm>
              <a:off x="606552" y="2552699"/>
              <a:ext cx="1440942" cy="634745"/>
            </a:xfrm>
            <a:prstGeom prst="rect">
              <a:avLst/>
            </a:prstGeom>
          </p:spPr>
        </p:pic>
        <p:sp>
          <p:nvSpPr>
            <p:cNvPr id="25" name="object 25"/>
            <p:cNvSpPr/>
            <p:nvPr/>
          </p:nvSpPr>
          <p:spPr>
            <a:xfrm>
              <a:off x="606552" y="2552699"/>
              <a:ext cx="1441450" cy="635000"/>
            </a:xfrm>
            <a:custGeom>
              <a:avLst/>
              <a:gdLst/>
              <a:ahLst/>
              <a:cxnLst/>
              <a:rect l="l" t="t" r="r" b="b"/>
              <a:pathLst>
                <a:path w="1441450" h="635000">
                  <a:moveTo>
                    <a:pt x="0" y="105790"/>
                  </a:moveTo>
                  <a:lnTo>
                    <a:pt x="8314" y="64615"/>
                  </a:lnTo>
                  <a:lnTo>
                    <a:pt x="30988" y="30987"/>
                  </a:lnTo>
                  <a:lnTo>
                    <a:pt x="64615" y="8314"/>
                  </a:lnTo>
                  <a:lnTo>
                    <a:pt x="105791" y="0"/>
                  </a:lnTo>
                  <a:lnTo>
                    <a:pt x="1335151" y="0"/>
                  </a:lnTo>
                  <a:lnTo>
                    <a:pt x="1376326" y="8314"/>
                  </a:lnTo>
                  <a:lnTo>
                    <a:pt x="1409954" y="30987"/>
                  </a:lnTo>
                  <a:lnTo>
                    <a:pt x="1432627" y="64615"/>
                  </a:lnTo>
                  <a:lnTo>
                    <a:pt x="1440942" y="105790"/>
                  </a:lnTo>
                  <a:lnTo>
                    <a:pt x="1440942" y="528954"/>
                  </a:lnTo>
                  <a:lnTo>
                    <a:pt x="1432627" y="570130"/>
                  </a:lnTo>
                  <a:lnTo>
                    <a:pt x="1409954" y="603757"/>
                  </a:lnTo>
                  <a:lnTo>
                    <a:pt x="1376326" y="626431"/>
                  </a:lnTo>
                  <a:lnTo>
                    <a:pt x="1335151" y="634745"/>
                  </a:lnTo>
                  <a:lnTo>
                    <a:pt x="105791" y="634745"/>
                  </a:lnTo>
                  <a:lnTo>
                    <a:pt x="64615" y="626431"/>
                  </a:lnTo>
                  <a:lnTo>
                    <a:pt x="30988" y="603757"/>
                  </a:lnTo>
                  <a:lnTo>
                    <a:pt x="8314" y="570130"/>
                  </a:lnTo>
                  <a:lnTo>
                    <a:pt x="0" y="528954"/>
                  </a:lnTo>
                  <a:lnTo>
                    <a:pt x="0" y="105790"/>
                  </a:lnTo>
                  <a:close/>
                </a:path>
              </a:pathLst>
            </a:custGeom>
            <a:ln w="6096">
              <a:solidFill>
                <a:srgbClr val="F39C12"/>
              </a:solidFill>
            </a:ln>
          </p:spPr>
          <p:txBody>
            <a:bodyPr wrap="square" lIns="0" tIns="0" rIns="0" bIns="0" rtlCol="0"/>
            <a:lstStyle/>
            <a:p>
              <a:endParaRPr/>
            </a:p>
          </p:txBody>
        </p:sp>
      </p:grpSp>
      <p:sp>
        <p:nvSpPr>
          <p:cNvPr id="26" name="object 26"/>
          <p:cNvSpPr txBox="1"/>
          <p:nvPr/>
        </p:nvSpPr>
        <p:spPr>
          <a:xfrm>
            <a:off x="733298" y="2704845"/>
            <a:ext cx="1188085" cy="238760"/>
          </a:xfrm>
          <a:prstGeom prst="rect">
            <a:avLst/>
          </a:prstGeom>
        </p:spPr>
        <p:txBody>
          <a:bodyPr vert="horz" wrap="square" lIns="0" tIns="12065" rIns="0" bIns="0" rtlCol="0">
            <a:spAutoFit/>
          </a:bodyPr>
          <a:lstStyle/>
          <a:p>
            <a:pPr marL="12700">
              <a:lnSpc>
                <a:spcPct val="100000"/>
              </a:lnSpc>
              <a:spcBef>
                <a:spcPts val="95"/>
              </a:spcBef>
            </a:pPr>
            <a:r>
              <a:rPr sz="1400" b="1" spc="-5" dirty="0">
                <a:solidFill>
                  <a:srgbClr val="FFFFFF"/>
                </a:solidFill>
                <a:latin typeface="Calisto MT"/>
                <a:cs typeface="Calisto MT"/>
              </a:rPr>
              <a:t>USE</a:t>
            </a:r>
            <a:r>
              <a:rPr sz="1400" b="1" spc="-50" dirty="0">
                <a:solidFill>
                  <a:srgbClr val="FFFFFF"/>
                </a:solidFill>
                <a:latin typeface="Calisto MT"/>
                <a:cs typeface="Calisto MT"/>
              </a:rPr>
              <a:t> </a:t>
            </a:r>
            <a:r>
              <a:rPr sz="1400" b="1" spc="-5" dirty="0">
                <a:solidFill>
                  <a:srgbClr val="FFFFFF"/>
                </a:solidFill>
                <a:latin typeface="Calisto MT"/>
                <a:cs typeface="Calisto MT"/>
              </a:rPr>
              <a:t>statement</a:t>
            </a:r>
            <a:endParaRPr sz="1400">
              <a:latin typeface="Calisto MT"/>
              <a:cs typeface="Calisto MT"/>
            </a:endParaRPr>
          </a:p>
        </p:txBody>
      </p:sp>
      <p:grpSp>
        <p:nvGrpSpPr>
          <p:cNvPr id="27" name="object 27"/>
          <p:cNvGrpSpPr/>
          <p:nvPr/>
        </p:nvGrpSpPr>
        <p:grpSpPr>
          <a:xfrm>
            <a:off x="2042795" y="3514978"/>
            <a:ext cx="6837045" cy="449580"/>
            <a:chOff x="2042795" y="3514978"/>
            <a:chExt cx="6837045" cy="449580"/>
          </a:xfrm>
        </p:grpSpPr>
        <p:sp>
          <p:nvSpPr>
            <p:cNvPr id="28" name="object 28"/>
            <p:cNvSpPr/>
            <p:nvPr/>
          </p:nvSpPr>
          <p:spPr>
            <a:xfrm>
              <a:off x="2045970" y="3518153"/>
              <a:ext cx="6830695" cy="443230"/>
            </a:xfrm>
            <a:custGeom>
              <a:avLst/>
              <a:gdLst/>
              <a:ahLst/>
              <a:cxnLst/>
              <a:rect l="l" t="t" r="r" b="b"/>
              <a:pathLst>
                <a:path w="6830695" h="443229">
                  <a:moveTo>
                    <a:pt x="6764528" y="0"/>
                  </a:moveTo>
                  <a:lnTo>
                    <a:pt x="0" y="0"/>
                  </a:lnTo>
                  <a:lnTo>
                    <a:pt x="0" y="442722"/>
                  </a:lnTo>
                  <a:lnTo>
                    <a:pt x="6764528" y="442722"/>
                  </a:lnTo>
                  <a:lnTo>
                    <a:pt x="6790223" y="436925"/>
                  </a:lnTo>
                  <a:lnTo>
                    <a:pt x="6811216" y="421116"/>
                  </a:lnTo>
                  <a:lnTo>
                    <a:pt x="6825374" y="397662"/>
                  </a:lnTo>
                  <a:lnTo>
                    <a:pt x="6830568" y="368935"/>
                  </a:lnTo>
                  <a:lnTo>
                    <a:pt x="6830568" y="73787"/>
                  </a:lnTo>
                  <a:lnTo>
                    <a:pt x="6825374" y="45059"/>
                  </a:lnTo>
                  <a:lnTo>
                    <a:pt x="6811216" y="21605"/>
                  </a:lnTo>
                  <a:lnTo>
                    <a:pt x="6790223" y="5796"/>
                  </a:lnTo>
                  <a:lnTo>
                    <a:pt x="6764528" y="0"/>
                  </a:lnTo>
                  <a:close/>
                </a:path>
              </a:pathLst>
            </a:custGeom>
            <a:solidFill>
              <a:srgbClr val="FFFFFF">
                <a:alpha val="90194"/>
              </a:srgbClr>
            </a:solidFill>
          </p:spPr>
          <p:txBody>
            <a:bodyPr wrap="square" lIns="0" tIns="0" rIns="0" bIns="0" rtlCol="0"/>
            <a:lstStyle/>
            <a:p>
              <a:endParaRPr/>
            </a:p>
          </p:txBody>
        </p:sp>
        <p:sp>
          <p:nvSpPr>
            <p:cNvPr id="29" name="object 29"/>
            <p:cNvSpPr/>
            <p:nvPr/>
          </p:nvSpPr>
          <p:spPr>
            <a:xfrm>
              <a:off x="2045970" y="3518153"/>
              <a:ext cx="6830695" cy="443230"/>
            </a:xfrm>
            <a:custGeom>
              <a:avLst/>
              <a:gdLst/>
              <a:ahLst/>
              <a:cxnLst/>
              <a:rect l="l" t="t" r="r" b="b"/>
              <a:pathLst>
                <a:path w="6830695" h="443229">
                  <a:moveTo>
                    <a:pt x="6830568" y="73787"/>
                  </a:moveTo>
                  <a:lnTo>
                    <a:pt x="6830568" y="368935"/>
                  </a:lnTo>
                  <a:lnTo>
                    <a:pt x="6825374" y="397662"/>
                  </a:lnTo>
                  <a:lnTo>
                    <a:pt x="6811216" y="421116"/>
                  </a:lnTo>
                  <a:lnTo>
                    <a:pt x="6790223" y="436925"/>
                  </a:lnTo>
                  <a:lnTo>
                    <a:pt x="6764528" y="442722"/>
                  </a:lnTo>
                  <a:lnTo>
                    <a:pt x="0" y="442722"/>
                  </a:lnTo>
                  <a:lnTo>
                    <a:pt x="0" y="0"/>
                  </a:lnTo>
                  <a:lnTo>
                    <a:pt x="6764528" y="0"/>
                  </a:lnTo>
                  <a:lnTo>
                    <a:pt x="6790223" y="5796"/>
                  </a:lnTo>
                  <a:lnTo>
                    <a:pt x="6811216" y="21605"/>
                  </a:lnTo>
                  <a:lnTo>
                    <a:pt x="6825374" y="45059"/>
                  </a:lnTo>
                  <a:lnTo>
                    <a:pt x="6830568" y="73787"/>
                  </a:lnTo>
                  <a:close/>
                </a:path>
              </a:pathLst>
            </a:custGeom>
            <a:ln w="6096">
              <a:solidFill>
                <a:srgbClr val="C0392B"/>
              </a:solidFill>
            </a:ln>
          </p:spPr>
          <p:txBody>
            <a:bodyPr wrap="square" lIns="0" tIns="0" rIns="0" bIns="0" rtlCol="0"/>
            <a:lstStyle/>
            <a:p>
              <a:endParaRPr/>
            </a:p>
          </p:txBody>
        </p:sp>
      </p:grpSp>
      <p:sp>
        <p:nvSpPr>
          <p:cNvPr id="30" name="object 30"/>
          <p:cNvSpPr txBox="1"/>
          <p:nvPr/>
        </p:nvSpPr>
        <p:spPr>
          <a:xfrm>
            <a:off x="2118867" y="3506977"/>
            <a:ext cx="6211570" cy="431800"/>
          </a:xfrm>
          <a:prstGeom prst="rect">
            <a:avLst/>
          </a:prstGeom>
        </p:spPr>
        <p:txBody>
          <a:bodyPr vert="horz" wrap="square" lIns="0" tIns="35560" rIns="0" bIns="0" rtlCol="0">
            <a:spAutoFit/>
          </a:bodyPr>
          <a:lstStyle/>
          <a:p>
            <a:pPr marL="12700" marR="5080">
              <a:lnSpc>
                <a:spcPts val="1520"/>
              </a:lnSpc>
              <a:spcBef>
                <a:spcPts val="280"/>
              </a:spcBef>
            </a:pPr>
            <a:r>
              <a:rPr sz="1400" spc="-5" dirty="0">
                <a:latin typeface="Calisto MT"/>
                <a:cs typeface="Calisto MT"/>
              </a:rPr>
              <a:t>Azure SQL </a:t>
            </a:r>
            <a:r>
              <a:rPr sz="1400" dirty="0">
                <a:latin typeface="Calisto MT"/>
                <a:cs typeface="Calisto MT"/>
              </a:rPr>
              <a:t>supports </a:t>
            </a:r>
            <a:r>
              <a:rPr sz="1400" spc="-10" dirty="0">
                <a:latin typeface="Calisto MT"/>
                <a:cs typeface="Calisto MT"/>
              </a:rPr>
              <a:t>only </a:t>
            </a:r>
            <a:r>
              <a:rPr sz="1400" spc="-5" dirty="0">
                <a:latin typeface="Calisto MT"/>
                <a:cs typeface="Calisto MT"/>
              </a:rPr>
              <a:t>SQL Server </a:t>
            </a:r>
            <a:r>
              <a:rPr sz="1400" spc="-10" dirty="0">
                <a:latin typeface="Calisto MT"/>
                <a:cs typeface="Calisto MT"/>
              </a:rPr>
              <a:t>authentication </a:t>
            </a:r>
            <a:r>
              <a:rPr sz="1400" spc="-5" dirty="0">
                <a:latin typeface="Calisto MT"/>
                <a:cs typeface="Calisto MT"/>
              </a:rPr>
              <a:t>and </a:t>
            </a:r>
            <a:r>
              <a:rPr sz="1400" dirty="0">
                <a:latin typeface="Calisto MT"/>
                <a:cs typeface="Calisto MT"/>
              </a:rPr>
              <a:t>on-premises </a:t>
            </a:r>
            <a:r>
              <a:rPr sz="1400" spc="-5" dirty="0">
                <a:latin typeface="Calisto MT"/>
                <a:cs typeface="Calisto MT"/>
              </a:rPr>
              <a:t>SQL Server  </a:t>
            </a:r>
            <a:r>
              <a:rPr sz="1400" dirty="0">
                <a:latin typeface="Calisto MT"/>
                <a:cs typeface="Calisto MT"/>
              </a:rPr>
              <a:t>supports </a:t>
            </a:r>
            <a:r>
              <a:rPr sz="1400" spc="-5" dirty="0">
                <a:latin typeface="Calisto MT"/>
                <a:cs typeface="Calisto MT"/>
              </a:rPr>
              <a:t>both SQL Server </a:t>
            </a:r>
            <a:r>
              <a:rPr sz="1400" spc="-10" dirty="0">
                <a:latin typeface="Calisto MT"/>
                <a:cs typeface="Calisto MT"/>
              </a:rPr>
              <a:t>authentication </a:t>
            </a:r>
            <a:r>
              <a:rPr sz="1400" spc="-5" dirty="0">
                <a:latin typeface="Calisto MT"/>
                <a:cs typeface="Calisto MT"/>
              </a:rPr>
              <a:t>and </a:t>
            </a:r>
            <a:r>
              <a:rPr sz="1400" spc="-15" dirty="0">
                <a:latin typeface="Calisto MT"/>
                <a:cs typeface="Calisto MT"/>
              </a:rPr>
              <a:t>Windows</a:t>
            </a:r>
            <a:r>
              <a:rPr sz="1400" spc="125" dirty="0">
                <a:latin typeface="Calisto MT"/>
                <a:cs typeface="Calisto MT"/>
              </a:rPr>
              <a:t> </a:t>
            </a:r>
            <a:r>
              <a:rPr sz="1400" spc="-5" dirty="0">
                <a:latin typeface="Calisto MT"/>
                <a:cs typeface="Calisto MT"/>
              </a:rPr>
              <a:t>Authentication.</a:t>
            </a:r>
            <a:endParaRPr sz="1400">
              <a:latin typeface="Calisto MT"/>
              <a:cs typeface="Calisto MT"/>
            </a:endParaRPr>
          </a:p>
        </p:txBody>
      </p:sp>
      <p:grpSp>
        <p:nvGrpSpPr>
          <p:cNvPr id="31" name="object 31"/>
          <p:cNvGrpSpPr/>
          <p:nvPr/>
        </p:nvGrpSpPr>
        <p:grpSpPr>
          <a:xfrm>
            <a:off x="2042795" y="4302886"/>
            <a:ext cx="6837045" cy="450215"/>
            <a:chOff x="2042795" y="4302886"/>
            <a:chExt cx="6837045" cy="450215"/>
          </a:xfrm>
        </p:grpSpPr>
        <p:sp>
          <p:nvSpPr>
            <p:cNvPr id="32" name="object 32"/>
            <p:cNvSpPr/>
            <p:nvPr/>
          </p:nvSpPr>
          <p:spPr>
            <a:xfrm>
              <a:off x="2045970" y="4306061"/>
              <a:ext cx="6830695" cy="443865"/>
            </a:xfrm>
            <a:custGeom>
              <a:avLst/>
              <a:gdLst/>
              <a:ahLst/>
              <a:cxnLst/>
              <a:rect l="l" t="t" r="r" b="b"/>
              <a:pathLst>
                <a:path w="6830695" h="443864">
                  <a:moveTo>
                    <a:pt x="6764528" y="0"/>
                  </a:moveTo>
                  <a:lnTo>
                    <a:pt x="0" y="0"/>
                  </a:lnTo>
                  <a:lnTo>
                    <a:pt x="0" y="443483"/>
                  </a:lnTo>
                  <a:lnTo>
                    <a:pt x="6764528" y="443483"/>
                  </a:lnTo>
                  <a:lnTo>
                    <a:pt x="6790223" y="437667"/>
                  </a:lnTo>
                  <a:lnTo>
                    <a:pt x="6811216" y="421814"/>
                  </a:lnTo>
                  <a:lnTo>
                    <a:pt x="6825374" y="398317"/>
                  </a:lnTo>
                  <a:lnTo>
                    <a:pt x="6830568" y="369569"/>
                  </a:lnTo>
                  <a:lnTo>
                    <a:pt x="6830568" y="73913"/>
                  </a:lnTo>
                  <a:lnTo>
                    <a:pt x="6825374" y="45166"/>
                  </a:lnTo>
                  <a:lnTo>
                    <a:pt x="6811216" y="21669"/>
                  </a:lnTo>
                  <a:lnTo>
                    <a:pt x="6790223" y="5816"/>
                  </a:lnTo>
                  <a:lnTo>
                    <a:pt x="6764528" y="0"/>
                  </a:lnTo>
                  <a:close/>
                </a:path>
              </a:pathLst>
            </a:custGeom>
            <a:solidFill>
              <a:srgbClr val="FFFFFF">
                <a:alpha val="90194"/>
              </a:srgbClr>
            </a:solidFill>
          </p:spPr>
          <p:txBody>
            <a:bodyPr wrap="square" lIns="0" tIns="0" rIns="0" bIns="0" rtlCol="0"/>
            <a:lstStyle/>
            <a:p>
              <a:endParaRPr/>
            </a:p>
          </p:txBody>
        </p:sp>
        <p:sp>
          <p:nvSpPr>
            <p:cNvPr id="33" name="object 33"/>
            <p:cNvSpPr/>
            <p:nvPr/>
          </p:nvSpPr>
          <p:spPr>
            <a:xfrm>
              <a:off x="2045970" y="4306061"/>
              <a:ext cx="6830695" cy="443865"/>
            </a:xfrm>
            <a:custGeom>
              <a:avLst/>
              <a:gdLst/>
              <a:ahLst/>
              <a:cxnLst/>
              <a:rect l="l" t="t" r="r" b="b"/>
              <a:pathLst>
                <a:path w="6830695" h="443864">
                  <a:moveTo>
                    <a:pt x="6830568" y="73913"/>
                  </a:moveTo>
                  <a:lnTo>
                    <a:pt x="6830568" y="369569"/>
                  </a:lnTo>
                  <a:lnTo>
                    <a:pt x="6825374" y="398317"/>
                  </a:lnTo>
                  <a:lnTo>
                    <a:pt x="6811216" y="421814"/>
                  </a:lnTo>
                  <a:lnTo>
                    <a:pt x="6790223" y="437667"/>
                  </a:lnTo>
                  <a:lnTo>
                    <a:pt x="6764528" y="443483"/>
                  </a:lnTo>
                  <a:lnTo>
                    <a:pt x="0" y="443483"/>
                  </a:lnTo>
                  <a:lnTo>
                    <a:pt x="0" y="0"/>
                  </a:lnTo>
                  <a:lnTo>
                    <a:pt x="6764528" y="0"/>
                  </a:lnTo>
                  <a:lnTo>
                    <a:pt x="6790223" y="5816"/>
                  </a:lnTo>
                  <a:lnTo>
                    <a:pt x="6811216" y="21669"/>
                  </a:lnTo>
                  <a:lnTo>
                    <a:pt x="6825374" y="45166"/>
                  </a:lnTo>
                  <a:lnTo>
                    <a:pt x="6830568" y="73913"/>
                  </a:lnTo>
                  <a:close/>
                </a:path>
              </a:pathLst>
            </a:custGeom>
            <a:ln w="6096">
              <a:solidFill>
                <a:srgbClr val="2C3E50"/>
              </a:solidFill>
            </a:ln>
          </p:spPr>
          <p:txBody>
            <a:bodyPr wrap="square" lIns="0" tIns="0" rIns="0" bIns="0" rtlCol="0"/>
            <a:lstStyle/>
            <a:p>
              <a:endParaRPr/>
            </a:p>
          </p:txBody>
        </p:sp>
      </p:grpSp>
      <p:sp>
        <p:nvSpPr>
          <p:cNvPr id="34" name="object 34"/>
          <p:cNvSpPr txBox="1"/>
          <p:nvPr/>
        </p:nvSpPr>
        <p:spPr>
          <a:xfrm>
            <a:off x="2088388" y="4391914"/>
            <a:ext cx="4656455"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Calisto MT"/>
                <a:cs typeface="Calisto MT"/>
              </a:rPr>
              <a:t>Not all </a:t>
            </a:r>
            <a:r>
              <a:rPr sz="1400" spc="-10" dirty="0">
                <a:latin typeface="Calisto MT"/>
                <a:cs typeface="Calisto MT"/>
              </a:rPr>
              <a:t>Transact-SQL </a:t>
            </a:r>
            <a:r>
              <a:rPr sz="1400" spc="-5" dirty="0">
                <a:latin typeface="Calisto MT"/>
                <a:cs typeface="Calisto MT"/>
              </a:rPr>
              <a:t>functions are </a:t>
            </a:r>
            <a:r>
              <a:rPr sz="1400" dirty="0">
                <a:latin typeface="Calisto MT"/>
                <a:cs typeface="Calisto MT"/>
              </a:rPr>
              <a:t>supported </a:t>
            </a:r>
            <a:r>
              <a:rPr sz="1400" spc="-5" dirty="0">
                <a:latin typeface="Calisto MT"/>
                <a:cs typeface="Calisto MT"/>
              </a:rPr>
              <a:t>by Azure</a:t>
            </a:r>
            <a:r>
              <a:rPr sz="1400" spc="145" dirty="0">
                <a:latin typeface="Calisto MT"/>
                <a:cs typeface="Calisto MT"/>
              </a:rPr>
              <a:t> </a:t>
            </a:r>
            <a:r>
              <a:rPr sz="1400" spc="-5" dirty="0">
                <a:latin typeface="Calisto MT"/>
                <a:cs typeface="Calisto MT"/>
              </a:rPr>
              <a:t>SQL.</a:t>
            </a:r>
            <a:endParaRPr sz="1400">
              <a:latin typeface="Calisto MT"/>
              <a:cs typeface="Calisto MT"/>
            </a:endParaRPr>
          </a:p>
        </p:txBody>
      </p:sp>
      <p:grpSp>
        <p:nvGrpSpPr>
          <p:cNvPr id="35" name="object 35"/>
          <p:cNvGrpSpPr/>
          <p:nvPr/>
        </p:nvGrpSpPr>
        <p:grpSpPr>
          <a:xfrm>
            <a:off x="2051939" y="5125084"/>
            <a:ext cx="6800850" cy="450215"/>
            <a:chOff x="2051939" y="5125084"/>
            <a:chExt cx="6800850" cy="450215"/>
          </a:xfrm>
        </p:grpSpPr>
        <p:sp>
          <p:nvSpPr>
            <p:cNvPr id="36" name="object 36"/>
            <p:cNvSpPr/>
            <p:nvPr/>
          </p:nvSpPr>
          <p:spPr>
            <a:xfrm>
              <a:off x="2055114" y="5128259"/>
              <a:ext cx="6794500" cy="443865"/>
            </a:xfrm>
            <a:custGeom>
              <a:avLst/>
              <a:gdLst/>
              <a:ahLst/>
              <a:cxnLst/>
              <a:rect l="l" t="t" r="r" b="b"/>
              <a:pathLst>
                <a:path w="6794500" h="443864">
                  <a:moveTo>
                    <a:pt x="6728333" y="0"/>
                  </a:moveTo>
                  <a:lnTo>
                    <a:pt x="0" y="0"/>
                  </a:lnTo>
                  <a:lnTo>
                    <a:pt x="0" y="443483"/>
                  </a:lnTo>
                  <a:lnTo>
                    <a:pt x="6728333" y="443483"/>
                  </a:lnTo>
                  <a:lnTo>
                    <a:pt x="6753915" y="437667"/>
                  </a:lnTo>
                  <a:lnTo>
                    <a:pt x="6774783" y="421814"/>
                  </a:lnTo>
                  <a:lnTo>
                    <a:pt x="6788840" y="398317"/>
                  </a:lnTo>
                  <a:lnTo>
                    <a:pt x="6793992" y="369569"/>
                  </a:lnTo>
                  <a:lnTo>
                    <a:pt x="6793992" y="73913"/>
                  </a:lnTo>
                  <a:lnTo>
                    <a:pt x="6788840" y="45166"/>
                  </a:lnTo>
                  <a:lnTo>
                    <a:pt x="6774783" y="21669"/>
                  </a:lnTo>
                  <a:lnTo>
                    <a:pt x="6753915" y="5816"/>
                  </a:lnTo>
                  <a:lnTo>
                    <a:pt x="6728333" y="0"/>
                  </a:lnTo>
                  <a:close/>
                </a:path>
              </a:pathLst>
            </a:custGeom>
            <a:solidFill>
              <a:srgbClr val="FFFFFF">
                <a:alpha val="90194"/>
              </a:srgbClr>
            </a:solidFill>
          </p:spPr>
          <p:txBody>
            <a:bodyPr wrap="square" lIns="0" tIns="0" rIns="0" bIns="0" rtlCol="0"/>
            <a:lstStyle/>
            <a:p>
              <a:endParaRPr/>
            </a:p>
          </p:txBody>
        </p:sp>
        <p:sp>
          <p:nvSpPr>
            <p:cNvPr id="37" name="object 37"/>
            <p:cNvSpPr/>
            <p:nvPr/>
          </p:nvSpPr>
          <p:spPr>
            <a:xfrm>
              <a:off x="2055114" y="5128259"/>
              <a:ext cx="6794500" cy="443865"/>
            </a:xfrm>
            <a:custGeom>
              <a:avLst/>
              <a:gdLst/>
              <a:ahLst/>
              <a:cxnLst/>
              <a:rect l="l" t="t" r="r" b="b"/>
              <a:pathLst>
                <a:path w="6794500" h="443864">
                  <a:moveTo>
                    <a:pt x="6793992" y="73913"/>
                  </a:moveTo>
                  <a:lnTo>
                    <a:pt x="6793992" y="369569"/>
                  </a:lnTo>
                  <a:lnTo>
                    <a:pt x="6788840" y="398317"/>
                  </a:lnTo>
                  <a:lnTo>
                    <a:pt x="6774783" y="421814"/>
                  </a:lnTo>
                  <a:lnTo>
                    <a:pt x="6753915" y="437667"/>
                  </a:lnTo>
                  <a:lnTo>
                    <a:pt x="6728333" y="443483"/>
                  </a:lnTo>
                  <a:lnTo>
                    <a:pt x="0" y="443483"/>
                  </a:lnTo>
                  <a:lnTo>
                    <a:pt x="0" y="0"/>
                  </a:lnTo>
                  <a:lnTo>
                    <a:pt x="6728333" y="0"/>
                  </a:lnTo>
                  <a:lnTo>
                    <a:pt x="6753915" y="5816"/>
                  </a:lnTo>
                  <a:lnTo>
                    <a:pt x="6774783" y="21669"/>
                  </a:lnTo>
                  <a:lnTo>
                    <a:pt x="6788840" y="45166"/>
                  </a:lnTo>
                  <a:lnTo>
                    <a:pt x="6793992" y="73913"/>
                  </a:lnTo>
                  <a:close/>
                </a:path>
              </a:pathLst>
            </a:custGeom>
            <a:ln w="6096">
              <a:solidFill>
                <a:srgbClr val="159F85"/>
              </a:solidFill>
            </a:ln>
          </p:spPr>
          <p:txBody>
            <a:bodyPr wrap="square" lIns="0" tIns="0" rIns="0" bIns="0" rtlCol="0"/>
            <a:lstStyle/>
            <a:p>
              <a:endParaRPr/>
            </a:p>
          </p:txBody>
        </p:sp>
      </p:grpSp>
      <p:sp>
        <p:nvSpPr>
          <p:cNvPr id="38" name="object 38"/>
          <p:cNvSpPr txBox="1"/>
          <p:nvPr/>
        </p:nvSpPr>
        <p:spPr>
          <a:xfrm>
            <a:off x="2128266" y="5117846"/>
            <a:ext cx="6384925" cy="452755"/>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Calisto MT"/>
                <a:cs typeface="Calisto MT"/>
              </a:rPr>
              <a:t>In Azure SQL, </a:t>
            </a:r>
            <a:r>
              <a:rPr sz="1400" spc="-15" dirty="0">
                <a:latin typeface="Calisto MT"/>
                <a:cs typeface="Calisto MT"/>
              </a:rPr>
              <a:t>administrative </a:t>
            </a:r>
            <a:r>
              <a:rPr sz="1400" spc="-5" dirty="0">
                <a:latin typeface="Calisto MT"/>
                <a:cs typeface="Calisto MT"/>
              </a:rPr>
              <a:t>accounts are created in the Azure </a:t>
            </a:r>
            <a:r>
              <a:rPr sz="1400" spc="-10" dirty="0">
                <a:latin typeface="Calisto MT"/>
                <a:cs typeface="Calisto MT"/>
              </a:rPr>
              <a:t>management </a:t>
            </a:r>
            <a:r>
              <a:rPr sz="1400" dirty="0">
                <a:latin typeface="Calisto MT"/>
                <a:cs typeface="Calisto MT"/>
              </a:rPr>
              <a:t>portal.  </a:t>
            </a:r>
            <a:r>
              <a:rPr sz="1400" spc="-15" dirty="0">
                <a:latin typeface="Calisto MT"/>
                <a:cs typeface="Calisto MT"/>
              </a:rPr>
              <a:t>Hence, </a:t>
            </a:r>
            <a:r>
              <a:rPr sz="1400" spc="-5" dirty="0">
                <a:latin typeface="Calisto MT"/>
                <a:cs typeface="Calisto MT"/>
              </a:rPr>
              <a:t>there are no separate </a:t>
            </a:r>
            <a:r>
              <a:rPr sz="1400" spc="-10" dirty="0">
                <a:latin typeface="Calisto MT"/>
                <a:cs typeface="Calisto MT"/>
              </a:rPr>
              <a:t>instance-level </a:t>
            </a:r>
            <a:r>
              <a:rPr sz="1400" spc="-5" dirty="0">
                <a:latin typeface="Calisto MT"/>
                <a:cs typeface="Calisto MT"/>
              </a:rPr>
              <a:t>user</a:t>
            </a:r>
            <a:r>
              <a:rPr sz="1400" spc="85" dirty="0">
                <a:latin typeface="Calisto MT"/>
                <a:cs typeface="Calisto MT"/>
              </a:rPr>
              <a:t> </a:t>
            </a:r>
            <a:r>
              <a:rPr sz="1400" spc="-10" dirty="0">
                <a:latin typeface="Calisto MT"/>
                <a:cs typeface="Calisto MT"/>
              </a:rPr>
              <a:t>logins.</a:t>
            </a:r>
            <a:endParaRPr sz="1400">
              <a:latin typeface="Calisto MT"/>
              <a:cs typeface="Calisto MT"/>
            </a:endParaRPr>
          </a:p>
        </p:txBody>
      </p:sp>
      <p:grpSp>
        <p:nvGrpSpPr>
          <p:cNvPr id="39" name="object 39"/>
          <p:cNvGrpSpPr/>
          <p:nvPr/>
        </p:nvGrpSpPr>
        <p:grpSpPr>
          <a:xfrm>
            <a:off x="2080132" y="5754496"/>
            <a:ext cx="6809740" cy="602615"/>
            <a:chOff x="2080132" y="5754496"/>
            <a:chExt cx="6809740" cy="602615"/>
          </a:xfrm>
        </p:grpSpPr>
        <p:sp>
          <p:nvSpPr>
            <p:cNvPr id="40" name="object 40"/>
            <p:cNvSpPr/>
            <p:nvPr/>
          </p:nvSpPr>
          <p:spPr>
            <a:xfrm>
              <a:off x="2083307" y="5757671"/>
              <a:ext cx="6803390" cy="596265"/>
            </a:xfrm>
            <a:custGeom>
              <a:avLst/>
              <a:gdLst/>
              <a:ahLst/>
              <a:cxnLst/>
              <a:rect l="l" t="t" r="r" b="b"/>
              <a:pathLst>
                <a:path w="6803390" h="596264">
                  <a:moveTo>
                    <a:pt x="6737350" y="0"/>
                  </a:moveTo>
                  <a:lnTo>
                    <a:pt x="0" y="0"/>
                  </a:lnTo>
                  <a:lnTo>
                    <a:pt x="0" y="595883"/>
                  </a:lnTo>
                  <a:lnTo>
                    <a:pt x="6737350" y="595883"/>
                  </a:lnTo>
                  <a:lnTo>
                    <a:pt x="6762952" y="588079"/>
                  </a:lnTo>
                  <a:lnTo>
                    <a:pt x="6783863" y="566796"/>
                  </a:lnTo>
                  <a:lnTo>
                    <a:pt x="6797964" y="535228"/>
                  </a:lnTo>
                  <a:lnTo>
                    <a:pt x="6803135" y="496569"/>
                  </a:lnTo>
                  <a:lnTo>
                    <a:pt x="6803135" y="99313"/>
                  </a:lnTo>
                  <a:lnTo>
                    <a:pt x="6797964" y="60655"/>
                  </a:lnTo>
                  <a:lnTo>
                    <a:pt x="6783863" y="29087"/>
                  </a:lnTo>
                  <a:lnTo>
                    <a:pt x="6762952" y="7804"/>
                  </a:lnTo>
                  <a:lnTo>
                    <a:pt x="6737350" y="0"/>
                  </a:lnTo>
                  <a:close/>
                </a:path>
              </a:pathLst>
            </a:custGeom>
            <a:solidFill>
              <a:srgbClr val="FFFFFF">
                <a:alpha val="90194"/>
              </a:srgbClr>
            </a:solidFill>
          </p:spPr>
          <p:txBody>
            <a:bodyPr wrap="square" lIns="0" tIns="0" rIns="0" bIns="0" rtlCol="0"/>
            <a:lstStyle/>
            <a:p>
              <a:endParaRPr/>
            </a:p>
          </p:txBody>
        </p:sp>
        <p:sp>
          <p:nvSpPr>
            <p:cNvPr id="41" name="object 41"/>
            <p:cNvSpPr/>
            <p:nvPr/>
          </p:nvSpPr>
          <p:spPr>
            <a:xfrm>
              <a:off x="2083307" y="5757671"/>
              <a:ext cx="6803390" cy="596265"/>
            </a:xfrm>
            <a:custGeom>
              <a:avLst/>
              <a:gdLst/>
              <a:ahLst/>
              <a:cxnLst/>
              <a:rect l="l" t="t" r="r" b="b"/>
              <a:pathLst>
                <a:path w="6803390" h="596264">
                  <a:moveTo>
                    <a:pt x="6803135" y="99313"/>
                  </a:moveTo>
                  <a:lnTo>
                    <a:pt x="6803135" y="496569"/>
                  </a:lnTo>
                  <a:lnTo>
                    <a:pt x="6797964" y="535228"/>
                  </a:lnTo>
                  <a:lnTo>
                    <a:pt x="6783863" y="566796"/>
                  </a:lnTo>
                  <a:lnTo>
                    <a:pt x="6762952" y="588079"/>
                  </a:lnTo>
                  <a:lnTo>
                    <a:pt x="6737350" y="595883"/>
                  </a:lnTo>
                  <a:lnTo>
                    <a:pt x="0" y="595883"/>
                  </a:lnTo>
                  <a:lnTo>
                    <a:pt x="0" y="0"/>
                  </a:lnTo>
                  <a:lnTo>
                    <a:pt x="6737350" y="0"/>
                  </a:lnTo>
                  <a:lnTo>
                    <a:pt x="6762952" y="7804"/>
                  </a:lnTo>
                  <a:lnTo>
                    <a:pt x="6783863" y="29087"/>
                  </a:lnTo>
                  <a:lnTo>
                    <a:pt x="6797964" y="60655"/>
                  </a:lnTo>
                  <a:lnTo>
                    <a:pt x="6803135" y="99313"/>
                  </a:lnTo>
                  <a:close/>
                </a:path>
              </a:pathLst>
            </a:custGeom>
            <a:ln w="6096">
              <a:solidFill>
                <a:srgbClr val="9BBA58"/>
              </a:solidFill>
            </a:ln>
          </p:spPr>
          <p:txBody>
            <a:bodyPr wrap="square" lIns="0" tIns="0" rIns="0" bIns="0" rtlCol="0"/>
            <a:lstStyle/>
            <a:p>
              <a:endParaRPr/>
            </a:p>
          </p:txBody>
        </p:sp>
      </p:grpSp>
      <p:sp>
        <p:nvSpPr>
          <p:cNvPr id="42" name="object 42"/>
          <p:cNvSpPr txBox="1"/>
          <p:nvPr/>
        </p:nvSpPr>
        <p:spPr>
          <a:xfrm>
            <a:off x="2125726" y="5727446"/>
            <a:ext cx="6656705" cy="623570"/>
          </a:xfrm>
          <a:prstGeom prst="rect">
            <a:avLst/>
          </a:prstGeom>
        </p:spPr>
        <p:txBody>
          <a:bodyPr vert="horz" wrap="square" lIns="0" tIns="33020" rIns="0" bIns="0" rtlCol="0">
            <a:spAutoFit/>
          </a:bodyPr>
          <a:lstStyle/>
          <a:p>
            <a:pPr marL="12700" marR="5080">
              <a:lnSpc>
                <a:spcPct val="90200"/>
              </a:lnSpc>
              <a:spcBef>
                <a:spcPts val="260"/>
              </a:spcBef>
            </a:pPr>
            <a:r>
              <a:rPr sz="1400" spc="-10" dirty="0">
                <a:latin typeface="Calisto MT"/>
                <a:cs typeface="Calisto MT"/>
              </a:rPr>
              <a:t>Firewalls </a:t>
            </a:r>
            <a:r>
              <a:rPr sz="1400" spc="-5" dirty="0">
                <a:latin typeface="Calisto MT"/>
                <a:cs typeface="Calisto MT"/>
              </a:rPr>
              <a:t>settings for </a:t>
            </a:r>
            <a:r>
              <a:rPr sz="1400" spc="-15" dirty="0">
                <a:latin typeface="Calisto MT"/>
                <a:cs typeface="Calisto MT"/>
              </a:rPr>
              <a:t>allowed </a:t>
            </a:r>
            <a:r>
              <a:rPr sz="1400" dirty="0">
                <a:latin typeface="Calisto MT"/>
                <a:cs typeface="Calisto MT"/>
              </a:rPr>
              <a:t>ports </a:t>
            </a:r>
            <a:r>
              <a:rPr sz="1400" spc="-5" dirty="0">
                <a:latin typeface="Calisto MT"/>
                <a:cs typeface="Calisto MT"/>
              </a:rPr>
              <a:t>and IP addresses can be </a:t>
            </a:r>
            <a:r>
              <a:rPr sz="1400" spc="-10" dirty="0">
                <a:latin typeface="Calisto MT"/>
                <a:cs typeface="Calisto MT"/>
              </a:rPr>
              <a:t>managed </a:t>
            </a:r>
            <a:r>
              <a:rPr sz="1400" spc="-5" dirty="0">
                <a:latin typeface="Calisto MT"/>
                <a:cs typeface="Calisto MT"/>
              </a:rPr>
              <a:t>on physical servers  for on-premises SQL </a:t>
            </a:r>
            <a:r>
              <a:rPr sz="1400" spc="-20" dirty="0">
                <a:latin typeface="Calisto MT"/>
                <a:cs typeface="Calisto MT"/>
              </a:rPr>
              <a:t>Server. </a:t>
            </a:r>
            <a:r>
              <a:rPr sz="1400" spc="-5" dirty="0">
                <a:latin typeface="Calisto MT"/>
                <a:cs typeface="Calisto MT"/>
              </a:rPr>
              <a:t>As an Azure SQL database is present on cloud,  </a:t>
            </a:r>
            <a:r>
              <a:rPr sz="1400" spc="-10" dirty="0">
                <a:latin typeface="Calisto MT"/>
                <a:cs typeface="Calisto MT"/>
              </a:rPr>
              <a:t>authentication </a:t>
            </a:r>
            <a:r>
              <a:rPr sz="1400" spc="-5" dirty="0">
                <a:latin typeface="Calisto MT"/>
                <a:cs typeface="Calisto MT"/>
              </a:rPr>
              <a:t>through logins is the </a:t>
            </a:r>
            <a:r>
              <a:rPr sz="1400" spc="-10" dirty="0">
                <a:latin typeface="Calisto MT"/>
                <a:cs typeface="Calisto MT"/>
              </a:rPr>
              <a:t>only </a:t>
            </a:r>
            <a:r>
              <a:rPr sz="1400" spc="-5" dirty="0">
                <a:latin typeface="Calisto MT"/>
                <a:cs typeface="Calisto MT"/>
              </a:rPr>
              <a:t>method to </a:t>
            </a:r>
            <a:r>
              <a:rPr sz="1400" spc="-10" dirty="0">
                <a:latin typeface="Calisto MT"/>
                <a:cs typeface="Calisto MT"/>
              </a:rPr>
              <a:t>verify </a:t>
            </a:r>
            <a:r>
              <a:rPr sz="1400" spc="-5" dirty="0">
                <a:latin typeface="Calisto MT"/>
                <a:cs typeface="Calisto MT"/>
              </a:rPr>
              <a:t>the</a:t>
            </a:r>
            <a:r>
              <a:rPr sz="1400" spc="200" dirty="0">
                <a:latin typeface="Calisto MT"/>
                <a:cs typeface="Calisto MT"/>
              </a:rPr>
              <a:t> </a:t>
            </a:r>
            <a:r>
              <a:rPr sz="1400" spc="-25" dirty="0">
                <a:latin typeface="Calisto MT"/>
                <a:cs typeface="Calisto MT"/>
              </a:rPr>
              <a:t>user.</a:t>
            </a:r>
            <a:endParaRPr sz="1400">
              <a:latin typeface="Calisto MT"/>
              <a:cs typeface="Calisto MT"/>
            </a:endParaRPr>
          </a:p>
        </p:txBody>
      </p:sp>
      <p:grpSp>
        <p:nvGrpSpPr>
          <p:cNvPr id="43" name="object 43"/>
          <p:cNvGrpSpPr/>
          <p:nvPr/>
        </p:nvGrpSpPr>
        <p:grpSpPr>
          <a:xfrm>
            <a:off x="592836" y="3452621"/>
            <a:ext cx="1437640" cy="685800"/>
            <a:chOff x="592836" y="3452621"/>
            <a:chExt cx="1437640" cy="685800"/>
          </a:xfrm>
        </p:grpSpPr>
        <p:pic>
          <p:nvPicPr>
            <p:cNvPr id="44" name="object 44"/>
            <p:cNvPicPr/>
            <p:nvPr/>
          </p:nvPicPr>
          <p:blipFill>
            <a:blip r:embed="rId6" cstate="print"/>
            <a:stretch>
              <a:fillRect/>
            </a:stretch>
          </p:blipFill>
          <p:spPr>
            <a:xfrm>
              <a:off x="595884" y="3455669"/>
              <a:ext cx="1431036" cy="679704"/>
            </a:xfrm>
            <a:prstGeom prst="rect">
              <a:avLst/>
            </a:prstGeom>
          </p:spPr>
        </p:pic>
        <p:sp>
          <p:nvSpPr>
            <p:cNvPr id="45" name="object 45"/>
            <p:cNvSpPr/>
            <p:nvPr/>
          </p:nvSpPr>
          <p:spPr>
            <a:xfrm>
              <a:off x="595884" y="3455669"/>
              <a:ext cx="1431290" cy="680085"/>
            </a:xfrm>
            <a:custGeom>
              <a:avLst/>
              <a:gdLst/>
              <a:ahLst/>
              <a:cxnLst/>
              <a:rect l="l" t="t" r="r" b="b"/>
              <a:pathLst>
                <a:path w="1431289" h="680085">
                  <a:moveTo>
                    <a:pt x="0" y="113284"/>
                  </a:moveTo>
                  <a:lnTo>
                    <a:pt x="8903" y="69169"/>
                  </a:lnTo>
                  <a:lnTo>
                    <a:pt x="33181" y="33162"/>
                  </a:lnTo>
                  <a:lnTo>
                    <a:pt x="69190" y="8895"/>
                  </a:lnTo>
                  <a:lnTo>
                    <a:pt x="113284" y="0"/>
                  </a:lnTo>
                  <a:lnTo>
                    <a:pt x="1317752" y="0"/>
                  </a:lnTo>
                  <a:lnTo>
                    <a:pt x="1361866" y="8895"/>
                  </a:lnTo>
                  <a:lnTo>
                    <a:pt x="1397873" y="33162"/>
                  </a:lnTo>
                  <a:lnTo>
                    <a:pt x="1422140" y="69169"/>
                  </a:lnTo>
                  <a:lnTo>
                    <a:pt x="1431036" y="113284"/>
                  </a:lnTo>
                  <a:lnTo>
                    <a:pt x="1431036" y="566420"/>
                  </a:lnTo>
                  <a:lnTo>
                    <a:pt x="1422140" y="610534"/>
                  </a:lnTo>
                  <a:lnTo>
                    <a:pt x="1397873" y="646541"/>
                  </a:lnTo>
                  <a:lnTo>
                    <a:pt x="1361866" y="670808"/>
                  </a:lnTo>
                  <a:lnTo>
                    <a:pt x="1317752" y="679704"/>
                  </a:lnTo>
                  <a:lnTo>
                    <a:pt x="113284" y="679704"/>
                  </a:lnTo>
                  <a:lnTo>
                    <a:pt x="69190" y="670808"/>
                  </a:lnTo>
                  <a:lnTo>
                    <a:pt x="33181" y="646541"/>
                  </a:lnTo>
                  <a:lnTo>
                    <a:pt x="8903" y="610534"/>
                  </a:lnTo>
                  <a:lnTo>
                    <a:pt x="0" y="566420"/>
                  </a:lnTo>
                  <a:lnTo>
                    <a:pt x="0" y="113284"/>
                  </a:lnTo>
                  <a:close/>
                </a:path>
              </a:pathLst>
            </a:custGeom>
            <a:ln w="6096">
              <a:solidFill>
                <a:srgbClr val="C0392B"/>
              </a:solidFill>
            </a:ln>
          </p:spPr>
          <p:txBody>
            <a:bodyPr wrap="square" lIns="0" tIns="0" rIns="0" bIns="0" rtlCol="0"/>
            <a:lstStyle/>
            <a:p>
              <a:endParaRPr/>
            </a:p>
          </p:txBody>
        </p:sp>
      </p:grpSp>
      <p:sp>
        <p:nvSpPr>
          <p:cNvPr id="46" name="object 46"/>
          <p:cNvSpPr txBox="1"/>
          <p:nvPr/>
        </p:nvSpPr>
        <p:spPr>
          <a:xfrm>
            <a:off x="732281" y="3659632"/>
            <a:ext cx="1203325" cy="238760"/>
          </a:xfrm>
          <a:prstGeom prst="rect">
            <a:avLst/>
          </a:prstGeom>
        </p:spPr>
        <p:txBody>
          <a:bodyPr vert="horz" wrap="square" lIns="0" tIns="12065" rIns="0" bIns="0" rtlCol="0">
            <a:spAutoFit/>
          </a:bodyPr>
          <a:lstStyle/>
          <a:p>
            <a:pPr marL="12700">
              <a:lnSpc>
                <a:spcPct val="100000"/>
              </a:lnSpc>
              <a:spcBef>
                <a:spcPts val="95"/>
              </a:spcBef>
            </a:pPr>
            <a:r>
              <a:rPr sz="1400" b="1" spc="-25" dirty="0">
                <a:solidFill>
                  <a:srgbClr val="FFFFFF"/>
                </a:solidFill>
                <a:latin typeface="Calisto MT"/>
                <a:cs typeface="Calisto MT"/>
              </a:rPr>
              <a:t>A</a:t>
            </a:r>
            <a:r>
              <a:rPr sz="1400" b="1" spc="-5" dirty="0">
                <a:solidFill>
                  <a:srgbClr val="FFFFFF"/>
                </a:solidFill>
                <a:latin typeface="Calisto MT"/>
                <a:cs typeface="Calisto MT"/>
              </a:rPr>
              <a:t>u</a:t>
            </a:r>
            <a:r>
              <a:rPr sz="1400" b="1" spc="-10" dirty="0">
                <a:solidFill>
                  <a:srgbClr val="FFFFFF"/>
                </a:solidFill>
                <a:latin typeface="Calisto MT"/>
                <a:cs typeface="Calisto MT"/>
              </a:rPr>
              <a:t>t</a:t>
            </a:r>
            <a:r>
              <a:rPr sz="1400" b="1" spc="-5" dirty="0">
                <a:solidFill>
                  <a:srgbClr val="FFFFFF"/>
                </a:solidFill>
                <a:latin typeface="Calisto MT"/>
                <a:cs typeface="Calisto MT"/>
              </a:rPr>
              <a:t>hen</a:t>
            </a:r>
            <a:r>
              <a:rPr sz="1400" b="1" spc="-10" dirty="0">
                <a:solidFill>
                  <a:srgbClr val="FFFFFF"/>
                </a:solidFill>
                <a:latin typeface="Calisto MT"/>
                <a:cs typeface="Calisto MT"/>
              </a:rPr>
              <a:t>t</a:t>
            </a:r>
            <a:r>
              <a:rPr sz="1400" b="1" spc="-15" dirty="0">
                <a:solidFill>
                  <a:srgbClr val="FFFFFF"/>
                </a:solidFill>
                <a:latin typeface="Calisto MT"/>
                <a:cs typeface="Calisto MT"/>
              </a:rPr>
              <a:t>i</a:t>
            </a:r>
            <a:r>
              <a:rPr sz="1400" b="1" spc="-10" dirty="0">
                <a:solidFill>
                  <a:srgbClr val="FFFFFF"/>
                </a:solidFill>
                <a:latin typeface="Calisto MT"/>
                <a:cs typeface="Calisto MT"/>
              </a:rPr>
              <a:t>c</a:t>
            </a:r>
            <a:r>
              <a:rPr sz="1400" b="1" dirty="0">
                <a:solidFill>
                  <a:srgbClr val="FFFFFF"/>
                </a:solidFill>
                <a:latin typeface="Calisto MT"/>
                <a:cs typeface="Calisto MT"/>
              </a:rPr>
              <a:t>a</a:t>
            </a:r>
            <a:r>
              <a:rPr sz="1400" b="1" spc="-5" dirty="0">
                <a:solidFill>
                  <a:srgbClr val="FFFFFF"/>
                </a:solidFill>
                <a:latin typeface="Calisto MT"/>
                <a:cs typeface="Calisto MT"/>
              </a:rPr>
              <a:t>t</a:t>
            </a:r>
            <a:r>
              <a:rPr sz="1400" b="1" spc="-15" dirty="0">
                <a:solidFill>
                  <a:srgbClr val="FFFFFF"/>
                </a:solidFill>
                <a:latin typeface="Calisto MT"/>
                <a:cs typeface="Calisto MT"/>
              </a:rPr>
              <a:t>i</a:t>
            </a:r>
            <a:r>
              <a:rPr sz="1400" b="1" spc="-5" dirty="0">
                <a:solidFill>
                  <a:srgbClr val="FFFFFF"/>
                </a:solidFill>
                <a:latin typeface="Calisto MT"/>
                <a:cs typeface="Calisto MT"/>
              </a:rPr>
              <a:t>on</a:t>
            </a:r>
            <a:endParaRPr sz="1400">
              <a:latin typeface="Calisto MT"/>
              <a:cs typeface="Calisto MT"/>
            </a:endParaRPr>
          </a:p>
        </p:txBody>
      </p:sp>
      <p:grpSp>
        <p:nvGrpSpPr>
          <p:cNvPr id="47" name="object 47"/>
          <p:cNvGrpSpPr/>
          <p:nvPr/>
        </p:nvGrpSpPr>
        <p:grpSpPr>
          <a:xfrm>
            <a:off x="564641" y="4255770"/>
            <a:ext cx="1438275" cy="676275"/>
            <a:chOff x="564641" y="4255770"/>
            <a:chExt cx="1438275" cy="676275"/>
          </a:xfrm>
        </p:grpSpPr>
        <p:pic>
          <p:nvPicPr>
            <p:cNvPr id="48" name="object 48"/>
            <p:cNvPicPr/>
            <p:nvPr/>
          </p:nvPicPr>
          <p:blipFill>
            <a:blip r:embed="rId7" cstate="print"/>
            <a:stretch>
              <a:fillRect/>
            </a:stretch>
          </p:blipFill>
          <p:spPr>
            <a:xfrm>
              <a:off x="567689" y="4258818"/>
              <a:ext cx="1431798" cy="669797"/>
            </a:xfrm>
            <a:prstGeom prst="rect">
              <a:avLst/>
            </a:prstGeom>
          </p:spPr>
        </p:pic>
        <p:sp>
          <p:nvSpPr>
            <p:cNvPr id="49" name="object 49"/>
            <p:cNvSpPr/>
            <p:nvPr/>
          </p:nvSpPr>
          <p:spPr>
            <a:xfrm>
              <a:off x="567689" y="4258818"/>
              <a:ext cx="1431925" cy="669925"/>
            </a:xfrm>
            <a:custGeom>
              <a:avLst/>
              <a:gdLst/>
              <a:ahLst/>
              <a:cxnLst/>
              <a:rect l="l" t="t" r="r" b="b"/>
              <a:pathLst>
                <a:path w="1431925" h="669925">
                  <a:moveTo>
                    <a:pt x="0" y="111632"/>
                  </a:moveTo>
                  <a:lnTo>
                    <a:pt x="8771" y="68204"/>
                  </a:lnTo>
                  <a:lnTo>
                    <a:pt x="32694" y="32718"/>
                  </a:lnTo>
                  <a:lnTo>
                    <a:pt x="68178" y="8780"/>
                  </a:lnTo>
                  <a:lnTo>
                    <a:pt x="111632" y="0"/>
                  </a:lnTo>
                  <a:lnTo>
                    <a:pt x="1320165" y="0"/>
                  </a:lnTo>
                  <a:lnTo>
                    <a:pt x="1363593" y="8780"/>
                  </a:lnTo>
                  <a:lnTo>
                    <a:pt x="1399079" y="32718"/>
                  </a:lnTo>
                  <a:lnTo>
                    <a:pt x="1423017" y="68204"/>
                  </a:lnTo>
                  <a:lnTo>
                    <a:pt x="1431798" y="111632"/>
                  </a:lnTo>
                  <a:lnTo>
                    <a:pt x="1431798" y="558164"/>
                  </a:lnTo>
                  <a:lnTo>
                    <a:pt x="1423017" y="601593"/>
                  </a:lnTo>
                  <a:lnTo>
                    <a:pt x="1399079" y="637079"/>
                  </a:lnTo>
                  <a:lnTo>
                    <a:pt x="1363593" y="661017"/>
                  </a:lnTo>
                  <a:lnTo>
                    <a:pt x="1320165" y="669797"/>
                  </a:lnTo>
                  <a:lnTo>
                    <a:pt x="111632" y="669797"/>
                  </a:lnTo>
                  <a:lnTo>
                    <a:pt x="68178" y="661017"/>
                  </a:lnTo>
                  <a:lnTo>
                    <a:pt x="32694" y="637079"/>
                  </a:lnTo>
                  <a:lnTo>
                    <a:pt x="8771" y="601593"/>
                  </a:lnTo>
                  <a:lnTo>
                    <a:pt x="0" y="558164"/>
                  </a:lnTo>
                  <a:lnTo>
                    <a:pt x="0" y="111632"/>
                  </a:lnTo>
                  <a:close/>
                </a:path>
              </a:pathLst>
            </a:custGeom>
            <a:ln w="6096">
              <a:solidFill>
                <a:srgbClr val="2C3E50"/>
              </a:solidFill>
            </a:ln>
          </p:spPr>
          <p:txBody>
            <a:bodyPr wrap="square" lIns="0" tIns="0" rIns="0" bIns="0" rtlCol="0"/>
            <a:lstStyle/>
            <a:p>
              <a:endParaRPr/>
            </a:p>
          </p:txBody>
        </p:sp>
      </p:grpSp>
      <p:sp>
        <p:nvSpPr>
          <p:cNvPr id="50" name="object 50"/>
          <p:cNvSpPr txBox="1"/>
          <p:nvPr/>
        </p:nvSpPr>
        <p:spPr>
          <a:xfrm>
            <a:off x="745998" y="4361433"/>
            <a:ext cx="1120140" cy="431800"/>
          </a:xfrm>
          <a:prstGeom prst="rect">
            <a:avLst/>
          </a:prstGeom>
        </p:spPr>
        <p:txBody>
          <a:bodyPr vert="horz" wrap="square" lIns="0" tIns="35560" rIns="0" bIns="0" rtlCol="0">
            <a:spAutoFit/>
          </a:bodyPr>
          <a:lstStyle/>
          <a:p>
            <a:pPr marL="240665" marR="5080" indent="-228600">
              <a:lnSpc>
                <a:spcPts val="1520"/>
              </a:lnSpc>
              <a:spcBef>
                <a:spcPts val="280"/>
              </a:spcBef>
            </a:pPr>
            <a:r>
              <a:rPr sz="1400" b="1" spc="-70" dirty="0">
                <a:solidFill>
                  <a:srgbClr val="FFFFFF"/>
                </a:solidFill>
                <a:latin typeface="Calisto MT"/>
                <a:cs typeface="Calisto MT"/>
              </a:rPr>
              <a:t>T</a:t>
            </a:r>
            <a:r>
              <a:rPr sz="1400" b="1" spc="-5" dirty="0">
                <a:solidFill>
                  <a:srgbClr val="FFFFFF"/>
                </a:solidFill>
                <a:latin typeface="Calisto MT"/>
                <a:cs typeface="Calisto MT"/>
              </a:rPr>
              <a:t>r</a:t>
            </a:r>
            <a:r>
              <a:rPr sz="1400" b="1" spc="-15" dirty="0">
                <a:solidFill>
                  <a:srgbClr val="FFFFFF"/>
                </a:solidFill>
                <a:latin typeface="Calisto MT"/>
                <a:cs typeface="Calisto MT"/>
              </a:rPr>
              <a:t>a</a:t>
            </a:r>
            <a:r>
              <a:rPr sz="1400" b="1" spc="-5" dirty="0">
                <a:solidFill>
                  <a:srgbClr val="FFFFFF"/>
                </a:solidFill>
                <a:latin typeface="Calisto MT"/>
                <a:cs typeface="Calisto MT"/>
              </a:rPr>
              <a:t>ns</a:t>
            </a:r>
            <a:r>
              <a:rPr sz="1400" b="1" spc="-15" dirty="0">
                <a:solidFill>
                  <a:srgbClr val="FFFFFF"/>
                </a:solidFill>
                <a:latin typeface="Calisto MT"/>
                <a:cs typeface="Calisto MT"/>
              </a:rPr>
              <a:t>a</a:t>
            </a:r>
            <a:r>
              <a:rPr sz="1400" b="1" spc="-10" dirty="0">
                <a:solidFill>
                  <a:srgbClr val="FFFFFF"/>
                </a:solidFill>
                <a:latin typeface="Calisto MT"/>
                <a:cs typeface="Calisto MT"/>
              </a:rPr>
              <a:t>c</a:t>
            </a:r>
            <a:r>
              <a:rPr sz="1400" b="1" spc="5" dirty="0">
                <a:solidFill>
                  <a:srgbClr val="FFFFFF"/>
                </a:solidFill>
                <a:latin typeface="Calisto MT"/>
                <a:cs typeface="Calisto MT"/>
              </a:rPr>
              <a:t>t</a:t>
            </a:r>
            <a:r>
              <a:rPr sz="1400" b="1" spc="-10" dirty="0">
                <a:solidFill>
                  <a:srgbClr val="FFFFFF"/>
                </a:solidFill>
                <a:latin typeface="Calisto MT"/>
                <a:cs typeface="Calisto MT"/>
              </a:rPr>
              <a:t>-</a:t>
            </a:r>
            <a:r>
              <a:rPr sz="1400" b="1" dirty="0">
                <a:solidFill>
                  <a:srgbClr val="FFFFFF"/>
                </a:solidFill>
                <a:latin typeface="Calisto MT"/>
                <a:cs typeface="Calisto MT"/>
              </a:rPr>
              <a:t>S</a:t>
            </a:r>
            <a:r>
              <a:rPr sz="1400" b="1" spc="-5" dirty="0">
                <a:solidFill>
                  <a:srgbClr val="FFFFFF"/>
                </a:solidFill>
                <a:latin typeface="Calisto MT"/>
                <a:cs typeface="Calisto MT"/>
              </a:rPr>
              <a:t>QL  </a:t>
            </a:r>
            <a:r>
              <a:rPr sz="1400" b="1" dirty="0">
                <a:solidFill>
                  <a:srgbClr val="FFFFFF"/>
                </a:solidFill>
                <a:latin typeface="Calisto MT"/>
                <a:cs typeface="Calisto MT"/>
              </a:rPr>
              <a:t>support</a:t>
            </a:r>
            <a:endParaRPr sz="1400">
              <a:latin typeface="Calisto MT"/>
              <a:cs typeface="Calisto MT"/>
            </a:endParaRPr>
          </a:p>
        </p:txBody>
      </p:sp>
      <p:grpSp>
        <p:nvGrpSpPr>
          <p:cNvPr id="51" name="object 51"/>
          <p:cNvGrpSpPr/>
          <p:nvPr/>
        </p:nvGrpSpPr>
        <p:grpSpPr>
          <a:xfrm>
            <a:off x="573786" y="5052059"/>
            <a:ext cx="1438275" cy="620395"/>
            <a:chOff x="573786" y="5052059"/>
            <a:chExt cx="1438275" cy="620395"/>
          </a:xfrm>
        </p:grpSpPr>
        <p:pic>
          <p:nvPicPr>
            <p:cNvPr id="52" name="object 52"/>
            <p:cNvPicPr/>
            <p:nvPr/>
          </p:nvPicPr>
          <p:blipFill>
            <a:blip r:embed="rId8" cstate="print"/>
            <a:stretch>
              <a:fillRect/>
            </a:stretch>
          </p:blipFill>
          <p:spPr>
            <a:xfrm>
              <a:off x="576834" y="5055107"/>
              <a:ext cx="1431798" cy="614172"/>
            </a:xfrm>
            <a:prstGeom prst="rect">
              <a:avLst/>
            </a:prstGeom>
          </p:spPr>
        </p:pic>
        <p:sp>
          <p:nvSpPr>
            <p:cNvPr id="53" name="object 53"/>
            <p:cNvSpPr/>
            <p:nvPr/>
          </p:nvSpPr>
          <p:spPr>
            <a:xfrm>
              <a:off x="576834" y="5055107"/>
              <a:ext cx="1431925" cy="614680"/>
            </a:xfrm>
            <a:custGeom>
              <a:avLst/>
              <a:gdLst/>
              <a:ahLst/>
              <a:cxnLst/>
              <a:rect l="l" t="t" r="r" b="b"/>
              <a:pathLst>
                <a:path w="1431925" h="614679">
                  <a:moveTo>
                    <a:pt x="0" y="102362"/>
                  </a:moveTo>
                  <a:lnTo>
                    <a:pt x="8044" y="62525"/>
                  </a:lnTo>
                  <a:lnTo>
                    <a:pt x="29983" y="29987"/>
                  </a:lnTo>
                  <a:lnTo>
                    <a:pt x="62520" y="8046"/>
                  </a:lnTo>
                  <a:lnTo>
                    <a:pt x="102362" y="0"/>
                  </a:lnTo>
                  <a:lnTo>
                    <a:pt x="1329436" y="0"/>
                  </a:lnTo>
                  <a:lnTo>
                    <a:pt x="1369272" y="8046"/>
                  </a:lnTo>
                  <a:lnTo>
                    <a:pt x="1401810" y="29987"/>
                  </a:lnTo>
                  <a:lnTo>
                    <a:pt x="1423751" y="62525"/>
                  </a:lnTo>
                  <a:lnTo>
                    <a:pt x="1431798" y="102362"/>
                  </a:lnTo>
                  <a:lnTo>
                    <a:pt x="1431798" y="511810"/>
                  </a:lnTo>
                  <a:lnTo>
                    <a:pt x="1423751" y="551651"/>
                  </a:lnTo>
                  <a:lnTo>
                    <a:pt x="1401810" y="584188"/>
                  </a:lnTo>
                  <a:lnTo>
                    <a:pt x="1369272" y="606127"/>
                  </a:lnTo>
                  <a:lnTo>
                    <a:pt x="1329436" y="614172"/>
                  </a:lnTo>
                  <a:lnTo>
                    <a:pt x="102362" y="614172"/>
                  </a:lnTo>
                  <a:lnTo>
                    <a:pt x="62520" y="606127"/>
                  </a:lnTo>
                  <a:lnTo>
                    <a:pt x="29983" y="584188"/>
                  </a:lnTo>
                  <a:lnTo>
                    <a:pt x="8044" y="551651"/>
                  </a:lnTo>
                  <a:lnTo>
                    <a:pt x="0" y="511810"/>
                  </a:lnTo>
                  <a:lnTo>
                    <a:pt x="0" y="102362"/>
                  </a:lnTo>
                  <a:close/>
                </a:path>
              </a:pathLst>
            </a:custGeom>
            <a:ln w="6096">
              <a:solidFill>
                <a:srgbClr val="159F85"/>
              </a:solidFill>
            </a:ln>
          </p:spPr>
          <p:txBody>
            <a:bodyPr wrap="square" lIns="0" tIns="0" rIns="0" bIns="0" rtlCol="0"/>
            <a:lstStyle/>
            <a:p>
              <a:endParaRPr/>
            </a:p>
          </p:txBody>
        </p:sp>
      </p:grpSp>
      <p:sp>
        <p:nvSpPr>
          <p:cNvPr id="54" name="object 54"/>
          <p:cNvSpPr txBox="1"/>
          <p:nvPr/>
        </p:nvSpPr>
        <p:spPr>
          <a:xfrm>
            <a:off x="751331" y="5130546"/>
            <a:ext cx="1083310" cy="431165"/>
          </a:xfrm>
          <a:prstGeom prst="rect">
            <a:avLst/>
          </a:prstGeom>
        </p:spPr>
        <p:txBody>
          <a:bodyPr vert="horz" wrap="square" lIns="0" tIns="36830" rIns="0" bIns="0" rtlCol="0">
            <a:spAutoFit/>
          </a:bodyPr>
          <a:lstStyle/>
          <a:p>
            <a:pPr marL="274955" marR="5080" indent="-262890">
              <a:lnSpc>
                <a:spcPts val="1510"/>
              </a:lnSpc>
              <a:spcBef>
                <a:spcPts val="290"/>
              </a:spcBef>
            </a:pPr>
            <a:r>
              <a:rPr sz="1400" b="1" spc="-5" dirty="0">
                <a:solidFill>
                  <a:srgbClr val="FFFFFF"/>
                </a:solidFill>
                <a:latin typeface="Calisto MT"/>
                <a:cs typeface="Calisto MT"/>
              </a:rPr>
              <a:t>Accounts</a:t>
            </a:r>
            <a:r>
              <a:rPr sz="1400" b="1" spc="-55" dirty="0">
                <a:solidFill>
                  <a:srgbClr val="FFFFFF"/>
                </a:solidFill>
                <a:latin typeface="Calisto MT"/>
                <a:cs typeface="Calisto MT"/>
              </a:rPr>
              <a:t> </a:t>
            </a:r>
            <a:r>
              <a:rPr sz="1400" b="1" spc="-5" dirty="0">
                <a:solidFill>
                  <a:srgbClr val="FFFFFF"/>
                </a:solidFill>
                <a:latin typeface="Calisto MT"/>
                <a:cs typeface="Calisto MT"/>
              </a:rPr>
              <a:t>and  Logins</a:t>
            </a:r>
            <a:endParaRPr sz="1400">
              <a:latin typeface="Calisto MT"/>
              <a:cs typeface="Calisto MT"/>
            </a:endParaRPr>
          </a:p>
        </p:txBody>
      </p:sp>
      <p:grpSp>
        <p:nvGrpSpPr>
          <p:cNvPr id="55" name="object 55"/>
          <p:cNvGrpSpPr/>
          <p:nvPr/>
        </p:nvGrpSpPr>
        <p:grpSpPr>
          <a:xfrm>
            <a:off x="573786" y="5811011"/>
            <a:ext cx="1494790" cy="570230"/>
            <a:chOff x="573786" y="5811011"/>
            <a:chExt cx="1494790" cy="570230"/>
          </a:xfrm>
        </p:grpSpPr>
        <p:pic>
          <p:nvPicPr>
            <p:cNvPr id="56" name="object 56"/>
            <p:cNvPicPr/>
            <p:nvPr/>
          </p:nvPicPr>
          <p:blipFill>
            <a:blip r:embed="rId9" cstate="print"/>
            <a:stretch>
              <a:fillRect/>
            </a:stretch>
          </p:blipFill>
          <p:spPr>
            <a:xfrm>
              <a:off x="576834" y="5814059"/>
              <a:ext cx="1488186" cy="563880"/>
            </a:xfrm>
            <a:prstGeom prst="rect">
              <a:avLst/>
            </a:prstGeom>
          </p:spPr>
        </p:pic>
        <p:sp>
          <p:nvSpPr>
            <p:cNvPr id="57" name="object 57"/>
            <p:cNvSpPr/>
            <p:nvPr/>
          </p:nvSpPr>
          <p:spPr>
            <a:xfrm>
              <a:off x="576834" y="5814059"/>
              <a:ext cx="1488440" cy="563880"/>
            </a:xfrm>
            <a:custGeom>
              <a:avLst/>
              <a:gdLst/>
              <a:ahLst/>
              <a:cxnLst/>
              <a:rect l="l" t="t" r="r" b="b"/>
              <a:pathLst>
                <a:path w="1488439" h="563879">
                  <a:moveTo>
                    <a:pt x="0" y="93979"/>
                  </a:moveTo>
                  <a:lnTo>
                    <a:pt x="7385" y="57398"/>
                  </a:lnTo>
                  <a:lnTo>
                    <a:pt x="27525" y="27525"/>
                  </a:lnTo>
                  <a:lnTo>
                    <a:pt x="57398" y="7385"/>
                  </a:lnTo>
                  <a:lnTo>
                    <a:pt x="93980" y="0"/>
                  </a:lnTo>
                  <a:lnTo>
                    <a:pt x="1394206" y="0"/>
                  </a:lnTo>
                  <a:lnTo>
                    <a:pt x="1430803" y="7385"/>
                  </a:lnTo>
                  <a:lnTo>
                    <a:pt x="1460674" y="27525"/>
                  </a:lnTo>
                  <a:lnTo>
                    <a:pt x="1480806" y="57398"/>
                  </a:lnTo>
                  <a:lnTo>
                    <a:pt x="1488186" y="93979"/>
                  </a:lnTo>
                  <a:lnTo>
                    <a:pt x="1488186" y="469899"/>
                  </a:lnTo>
                  <a:lnTo>
                    <a:pt x="1480806" y="506481"/>
                  </a:lnTo>
                  <a:lnTo>
                    <a:pt x="1460674" y="536354"/>
                  </a:lnTo>
                  <a:lnTo>
                    <a:pt x="1430803" y="556494"/>
                  </a:lnTo>
                  <a:lnTo>
                    <a:pt x="1394206" y="563879"/>
                  </a:lnTo>
                  <a:lnTo>
                    <a:pt x="93980" y="563879"/>
                  </a:lnTo>
                  <a:lnTo>
                    <a:pt x="57398" y="556494"/>
                  </a:lnTo>
                  <a:lnTo>
                    <a:pt x="27525" y="536354"/>
                  </a:lnTo>
                  <a:lnTo>
                    <a:pt x="7385" y="506481"/>
                  </a:lnTo>
                  <a:lnTo>
                    <a:pt x="0" y="469899"/>
                  </a:lnTo>
                  <a:lnTo>
                    <a:pt x="0" y="93979"/>
                  </a:lnTo>
                  <a:close/>
                </a:path>
              </a:pathLst>
            </a:custGeom>
            <a:ln w="6096">
              <a:solidFill>
                <a:srgbClr val="9BBA58"/>
              </a:solidFill>
            </a:ln>
          </p:spPr>
          <p:txBody>
            <a:bodyPr wrap="square" lIns="0" tIns="0" rIns="0" bIns="0" rtlCol="0"/>
            <a:lstStyle/>
            <a:p>
              <a:endParaRPr/>
            </a:p>
          </p:txBody>
        </p:sp>
      </p:grpSp>
      <p:sp>
        <p:nvSpPr>
          <p:cNvPr id="58" name="object 58"/>
          <p:cNvSpPr txBox="1"/>
          <p:nvPr/>
        </p:nvSpPr>
        <p:spPr>
          <a:xfrm>
            <a:off x="948182" y="5960364"/>
            <a:ext cx="745490" cy="238760"/>
          </a:xfrm>
          <a:prstGeom prst="rect">
            <a:avLst/>
          </a:prstGeom>
        </p:spPr>
        <p:txBody>
          <a:bodyPr vert="horz" wrap="square" lIns="0" tIns="12065" rIns="0" bIns="0" rtlCol="0">
            <a:spAutoFit/>
          </a:bodyPr>
          <a:lstStyle/>
          <a:p>
            <a:pPr marL="12700">
              <a:lnSpc>
                <a:spcPct val="100000"/>
              </a:lnSpc>
              <a:spcBef>
                <a:spcPts val="95"/>
              </a:spcBef>
            </a:pPr>
            <a:r>
              <a:rPr sz="1400" b="1" spc="-5" dirty="0">
                <a:solidFill>
                  <a:srgbClr val="FFFFFF"/>
                </a:solidFill>
                <a:latin typeface="Calisto MT"/>
                <a:cs typeface="Calisto MT"/>
              </a:rPr>
              <a:t>F</a:t>
            </a:r>
            <a:r>
              <a:rPr sz="1400" b="1" spc="-15" dirty="0">
                <a:solidFill>
                  <a:srgbClr val="FFFFFF"/>
                </a:solidFill>
                <a:latin typeface="Calisto MT"/>
                <a:cs typeface="Calisto MT"/>
              </a:rPr>
              <a:t>i</a:t>
            </a:r>
            <a:r>
              <a:rPr sz="1400" b="1" spc="-5" dirty="0">
                <a:solidFill>
                  <a:srgbClr val="FFFFFF"/>
                </a:solidFill>
                <a:latin typeface="Calisto MT"/>
                <a:cs typeface="Calisto MT"/>
              </a:rPr>
              <a:t>r</a:t>
            </a:r>
            <a:r>
              <a:rPr sz="1400" b="1" spc="-25" dirty="0">
                <a:solidFill>
                  <a:srgbClr val="FFFFFF"/>
                </a:solidFill>
                <a:latin typeface="Calisto MT"/>
                <a:cs typeface="Calisto MT"/>
              </a:rPr>
              <a:t>e</a:t>
            </a:r>
            <a:r>
              <a:rPr sz="1400" b="1" spc="-65" dirty="0">
                <a:solidFill>
                  <a:srgbClr val="FFFFFF"/>
                </a:solidFill>
                <a:latin typeface="Calisto MT"/>
                <a:cs typeface="Calisto MT"/>
              </a:rPr>
              <a:t>w</a:t>
            </a:r>
            <a:r>
              <a:rPr sz="1400" b="1" spc="-15" dirty="0">
                <a:solidFill>
                  <a:srgbClr val="FFFFFF"/>
                </a:solidFill>
                <a:latin typeface="Calisto MT"/>
                <a:cs typeface="Calisto MT"/>
              </a:rPr>
              <a:t>a</a:t>
            </a:r>
            <a:r>
              <a:rPr sz="1400" b="1" spc="-5" dirty="0">
                <a:solidFill>
                  <a:srgbClr val="FFFFFF"/>
                </a:solidFill>
                <a:latin typeface="Calisto MT"/>
                <a:cs typeface="Calisto MT"/>
              </a:rPr>
              <a:t>l</a:t>
            </a:r>
            <a:r>
              <a:rPr sz="1400" b="1" spc="-10" dirty="0">
                <a:solidFill>
                  <a:srgbClr val="FFFFFF"/>
                </a:solidFill>
                <a:latin typeface="Calisto MT"/>
                <a:cs typeface="Calisto MT"/>
              </a:rPr>
              <a:t>l</a:t>
            </a:r>
            <a:r>
              <a:rPr sz="1400" b="1" spc="-5" dirty="0">
                <a:solidFill>
                  <a:srgbClr val="FFFFFF"/>
                </a:solidFill>
                <a:latin typeface="Calisto MT"/>
                <a:cs typeface="Calisto MT"/>
              </a:rPr>
              <a:t>s</a:t>
            </a:r>
            <a:endParaRPr sz="1400">
              <a:latin typeface="Calisto MT"/>
              <a:cs typeface="Calisto MT"/>
            </a:endParaRPr>
          </a:p>
        </p:txBody>
      </p:sp>
      <p:sp>
        <p:nvSpPr>
          <p:cNvPr id="60" name="object 60"/>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12</a:t>
            </a:fld>
            <a:endParaRPr sz="1800" baseline="2314"/>
          </a:p>
        </p:txBody>
      </p:sp>
      <p:sp>
        <p:nvSpPr>
          <p:cNvPr id="62" name="object 62"/>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4144645" cy="635635"/>
          </a:xfrm>
          <a:prstGeom prst="rect">
            <a:avLst/>
          </a:prstGeom>
        </p:spPr>
        <p:txBody>
          <a:bodyPr vert="horz" wrap="square" lIns="0" tIns="12700" rIns="0" bIns="0" rtlCol="0">
            <a:spAutoFit/>
          </a:bodyPr>
          <a:lstStyle/>
          <a:p>
            <a:pPr marL="12700">
              <a:lnSpc>
                <a:spcPct val="100000"/>
              </a:lnSpc>
              <a:spcBef>
                <a:spcPts val="100"/>
              </a:spcBef>
            </a:pPr>
            <a:r>
              <a:rPr spc="130" dirty="0"/>
              <a:t>Azure </a:t>
            </a:r>
            <a:r>
              <a:rPr spc="195" dirty="0"/>
              <a:t>SQL</a:t>
            </a:r>
            <a:r>
              <a:rPr spc="-515" dirty="0"/>
              <a:t> </a:t>
            </a:r>
            <a:r>
              <a:rPr spc="85" dirty="0"/>
              <a:t>Pricing</a:t>
            </a:r>
          </a:p>
        </p:txBody>
      </p:sp>
      <p:grpSp>
        <p:nvGrpSpPr>
          <p:cNvPr id="3" name="object 3"/>
          <p:cNvGrpSpPr/>
          <p:nvPr/>
        </p:nvGrpSpPr>
        <p:grpSpPr>
          <a:xfrm>
            <a:off x="2105279" y="1368425"/>
            <a:ext cx="4794250" cy="2964180"/>
            <a:chOff x="2105279" y="1368425"/>
            <a:chExt cx="4794250" cy="2964180"/>
          </a:xfrm>
        </p:grpSpPr>
        <p:sp>
          <p:nvSpPr>
            <p:cNvPr id="4" name="object 4"/>
            <p:cNvSpPr/>
            <p:nvPr/>
          </p:nvSpPr>
          <p:spPr>
            <a:xfrm>
              <a:off x="5928741" y="3861435"/>
              <a:ext cx="958215" cy="455930"/>
            </a:xfrm>
            <a:custGeom>
              <a:avLst/>
              <a:gdLst/>
              <a:ahLst/>
              <a:cxnLst/>
              <a:rect l="l" t="t" r="r" b="b"/>
              <a:pathLst>
                <a:path w="958215" h="455929">
                  <a:moveTo>
                    <a:pt x="0" y="0"/>
                  </a:moveTo>
                  <a:lnTo>
                    <a:pt x="0" y="310642"/>
                  </a:lnTo>
                  <a:lnTo>
                    <a:pt x="957707" y="310642"/>
                  </a:lnTo>
                  <a:lnTo>
                    <a:pt x="957707" y="455803"/>
                  </a:lnTo>
                </a:path>
              </a:pathLst>
            </a:custGeom>
            <a:ln w="25146">
              <a:solidFill>
                <a:srgbClr val="4F81BC"/>
              </a:solidFill>
            </a:ln>
          </p:spPr>
          <p:txBody>
            <a:bodyPr wrap="square" lIns="0" tIns="0" rIns="0" bIns="0" rtlCol="0"/>
            <a:lstStyle/>
            <a:p>
              <a:endParaRPr/>
            </a:p>
          </p:txBody>
        </p:sp>
        <p:sp>
          <p:nvSpPr>
            <p:cNvPr id="5" name="object 5"/>
            <p:cNvSpPr/>
            <p:nvPr/>
          </p:nvSpPr>
          <p:spPr>
            <a:xfrm>
              <a:off x="4796408" y="3863720"/>
              <a:ext cx="958215" cy="455930"/>
            </a:xfrm>
            <a:custGeom>
              <a:avLst/>
              <a:gdLst/>
              <a:ahLst/>
              <a:cxnLst/>
              <a:rect l="l" t="t" r="r" b="b"/>
              <a:pathLst>
                <a:path w="958214" h="455929">
                  <a:moveTo>
                    <a:pt x="957707" y="0"/>
                  </a:moveTo>
                  <a:lnTo>
                    <a:pt x="957707" y="310641"/>
                  </a:lnTo>
                  <a:lnTo>
                    <a:pt x="0" y="310641"/>
                  </a:lnTo>
                  <a:lnTo>
                    <a:pt x="0" y="455802"/>
                  </a:lnTo>
                </a:path>
              </a:pathLst>
            </a:custGeom>
            <a:ln w="25146">
              <a:solidFill>
                <a:srgbClr val="4F81BC"/>
              </a:solidFill>
            </a:ln>
          </p:spPr>
          <p:txBody>
            <a:bodyPr wrap="square" lIns="0" tIns="0" rIns="0" bIns="0" rtlCol="0"/>
            <a:lstStyle/>
            <a:p>
              <a:endParaRPr/>
            </a:p>
          </p:txBody>
        </p:sp>
        <p:sp>
          <p:nvSpPr>
            <p:cNvPr id="6" name="object 6"/>
            <p:cNvSpPr/>
            <p:nvPr/>
          </p:nvSpPr>
          <p:spPr>
            <a:xfrm>
              <a:off x="4928235" y="2376297"/>
              <a:ext cx="958215" cy="455930"/>
            </a:xfrm>
            <a:custGeom>
              <a:avLst/>
              <a:gdLst/>
              <a:ahLst/>
              <a:cxnLst/>
              <a:rect l="l" t="t" r="r" b="b"/>
              <a:pathLst>
                <a:path w="958214" h="455930">
                  <a:moveTo>
                    <a:pt x="0" y="0"/>
                  </a:moveTo>
                  <a:lnTo>
                    <a:pt x="0" y="310642"/>
                  </a:lnTo>
                  <a:lnTo>
                    <a:pt x="957707" y="310642"/>
                  </a:lnTo>
                  <a:lnTo>
                    <a:pt x="957707" y="455803"/>
                  </a:lnTo>
                </a:path>
              </a:pathLst>
            </a:custGeom>
            <a:ln w="25146">
              <a:solidFill>
                <a:srgbClr val="F79546"/>
              </a:solidFill>
            </a:ln>
          </p:spPr>
          <p:txBody>
            <a:bodyPr wrap="square" lIns="0" tIns="0" rIns="0" bIns="0" rtlCol="0"/>
            <a:lstStyle/>
            <a:p>
              <a:endParaRPr/>
            </a:p>
          </p:txBody>
        </p:sp>
        <p:sp>
          <p:nvSpPr>
            <p:cNvPr id="7" name="object 7"/>
            <p:cNvSpPr/>
            <p:nvPr/>
          </p:nvSpPr>
          <p:spPr>
            <a:xfrm>
              <a:off x="2117979" y="2376297"/>
              <a:ext cx="958215" cy="455930"/>
            </a:xfrm>
            <a:custGeom>
              <a:avLst/>
              <a:gdLst/>
              <a:ahLst/>
              <a:cxnLst/>
              <a:rect l="l" t="t" r="r" b="b"/>
              <a:pathLst>
                <a:path w="958214" h="455930">
                  <a:moveTo>
                    <a:pt x="957707" y="0"/>
                  </a:moveTo>
                  <a:lnTo>
                    <a:pt x="957707" y="310642"/>
                  </a:lnTo>
                  <a:lnTo>
                    <a:pt x="0" y="310642"/>
                  </a:lnTo>
                  <a:lnTo>
                    <a:pt x="0" y="455803"/>
                  </a:lnTo>
                </a:path>
              </a:pathLst>
            </a:custGeom>
            <a:ln w="25146">
              <a:solidFill>
                <a:srgbClr val="F79546"/>
              </a:solidFill>
            </a:ln>
          </p:spPr>
          <p:txBody>
            <a:bodyPr wrap="square" lIns="0" tIns="0" rIns="0" bIns="0" rtlCol="0"/>
            <a:lstStyle/>
            <a:p>
              <a:endParaRPr/>
            </a:p>
          </p:txBody>
        </p:sp>
        <p:sp>
          <p:nvSpPr>
            <p:cNvPr id="8" name="object 8"/>
            <p:cNvSpPr/>
            <p:nvPr/>
          </p:nvSpPr>
          <p:spPr>
            <a:xfrm>
              <a:off x="2403729" y="1381125"/>
              <a:ext cx="2571750" cy="995680"/>
            </a:xfrm>
            <a:custGeom>
              <a:avLst/>
              <a:gdLst/>
              <a:ahLst/>
              <a:cxnLst/>
              <a:rect l="l" t="t" r="r" b="b"/>
              <a:pathLst>
                <a:path w="2571750" h="995680">
                  <a:moveTo>
                    <a:pt x="2472182" y="0"/>
                  </a:moveTo>
                  <a:lnTo>
                    <a:pt x="99568" y="0"/>
                  </a:lnTo>
                  <a:lnTo>
                    <a:pt x="60811" y="7824"/>
                  </a:lnTo>
                  <a:lnTo>
                    <a:pt x="29162" y="29162"/>
                  </a:lnTo>
                  <a:lnTo>
                    <a:pt x="7824" y="60811"/>
                  </a:lnTo>
                  <a:lnTo>
                    <a:pt x="0" y="99567"/>
                  </a:lnTo>
                  <a:lnTo>
                    <a:pt x="0" y="895603"/>
                  </a:lnTo>
                  <a:lnTo>
                    <a:pt x="7824" y="934360"/>
                  </a:lnTo>
                  <a:lnTo>
                    <a:pt x="29162" y="966009"/>
                  </a:lnTo>
                  <a:lnTo>
                    <a:pt x="60811" y="987347"/>
                  </a:lnTo>
                  <a:lnTo>
                    <a:pt x="99568" y="995171"/>
                  </a:lnTo>
                  <a:lnTo>
                    <a:pt x="2472182" y="995171"/>
                  </a:lnTo>
                  <a:lnTo>
                    <a:pt x="2510938" y="987347"/>
                  </a:lnTo>
                  <a:lnTo>
                    <a:pt x="2542587" y="966009"/>
                  </a:lnTo>
                  <a:lnTo>
                    <a:pt x="2563925" y="934360"/>
                  </a:lnTo>
                  <a:lnTo>
                    <a:pt x="2571750" y="895603"/>
                  </a:lnTo>
                  <a:lnTo>
                    <a:pt x="2571750" y="99567"/>
                  </a:lnTo>
                  <a:lnTo>
                    <a:pt x="2563925" y="60811"/>
                  </a:lnTo>
                  <a:lnTo>
                    <a:pt x="2542587" y="29162"/>
                  </a:lnTo>
                  <a:lnTo>
                    <a:pt x="2510938" y="7824"/>
                  </a:lnTo>
                  <a:lnTo>
                    <a:pt x="2472182" y="0"/>
                  </a:lnTo>
                  <a:close/>
                </a:path>
              </a:pathLst>
            </a:custGeom>
            <a:solidFill>
              <a:srgbClr val="8063A1"/>
            </a:solidFill>
          </p:spPr>
          <p:txBody>
            <a:bodyPr wrap="square" lIns="0" tIns="0" rIns="0" bIns="0" rtlCol="0"/>
            <a:lstStyle/>
            <a:p>
              <a:endParaRPr/>
            </a:p>
          </p:txBody>
        </p:sp>
        <p:sp>
          <p:nvSpPr>
            <p:cNvPr id="9" name="object 9"/>
            <p:cNvSpPr/>
            <p:nvPr/>
          </p:nvSpPr>
          <p:spPr>
            <a:xfrm>
              <a:off x="2403729" y="1381125"/>
              <a:ext cx="2571750" cy="995680"/>
            </a:xfrm>
            <a:custGeom>
              <a:avLst/>
              <a:gdLst/>
              <a:ahLst/>
              <a:cxnLst/>
              <a:rect l="l" t="t" r="r" b="b"/>
              <a:pathLst>
                <a:path w="2571750" h="995680">
                  <a:moveTo>
                    <a:pt x="0" y="99567"/>
                  </a:moveTo>
                  <a:lnTo>
                    <a:pt x="7824" y="60811"/>
                  </a:lnTo>
                  <a:lnTo>
                    <a:pt x="29162" y="29162"/>
                  </a:lnTo>
                  <a:lnTo>
                    <a:pt x="60811" y="7824"/>
                  </a:lnTo>
                  <a:lnTo>
                    <a:pt x="99568" y="0"/>
                  </a:lnTo>
                  <a:lnTo>
                    <a:pt x="2472182" y="0"/>
                  </a:lnTo>
                  <a:lnTo>
                    <a:pt x="2510938" y="7824"/>
                  </a:lnTo>
                  <a:lnTo>
                    <a:pt x="2542587" y="29162"/>
                  </a:lnTo>
                  <a:lnTo>
                    <a:pt x="2563925" y="60811"/>
                  </a:lnTo>
                  <a:lnTo>
                    <a:pt x="2571750" y="99567"/>
                  </a:lnTo>
                  <a:lnTo>
                    <a:pt x="2571750" y="895603"/>
                  </a:lnTo>
                  <a:lnTo>
                    <a:pt x="2563925" y="934360"/>
                  </a:lnTo>
                  <a:lnTo>
                    <a:pt x="2542587" y="966009"/>
                  </a:lnTo>
                  <a:lnTo>
                    <a:pt x="2510938" y="987347"/>
                  </a:lnTo>
                  <a:lnTo>
                    <a:pt x="2472182" y="995171"/>
                  </a:lnTo>
                  <a:lnTo>
                    <a:pt x="99568" y="995171"/>
                  </a:lnTo>
                  <a:lnTo>
                    <a:pt x="60811" y="987347"/>
                  </a:lnTo>
                  <a:lnTo>
                    <a:pt x="29162" y="966009"/>
                  </a:lnTo>
                  <a:lnTo>
                    <a:pt x="7824" y="934360"/>
                  </a:lnTo>
                  <a:lnTo>
                    <a:pt x="0" y="895603"/>
                  </a:lnTo>
                  <a:lnTo>
                    <a:pt x="0" y="99567"/>
                  </a:lnTo>
                  <a:close/>
                </a:path>
              </a:pathLst>
            </a:custGeom>
            <a:ln w="25145">
              <a:solidFill>
                <a:srgbClr val="FFFFFF"/>
              </a:solidFill>
            </a:ln>
          </p:spPr>
          <p:txBody>
            <a:bodyPr wrap="square" lIns="0" tIns="0" rIns="0" bIns="0" rtlCol="0"/>
            <a:lstStyle/>
            <a:p>
              <a:endParaRPr/>
            </a:p>
          </p:txBody>
        </p:sp>
        <p:sp>
          <p:nvSpPr>
            <p:cNvPr id="10" name="object 10"/>
            <p:cNvSpPr/>
            <p:nvPr/>
          </p:nvSpPr>
          <p:spPr>
            <a:xfrm>
              <a:off x="2689479" y="1546479"/>
              <a:ext cx="2571750" cy="995680"/>
            </a:xfrm>
            <a:custGeom>
              <a:avLst/>
              <a:gdLst/>
              <a:ahLst/>
              <a:cxnLst/>
              <a:rect l="l" t="t" r="r" b="b"/>
              <a:pathLst>
                <a:path w="2571750" h="995680">
                  <a:moveTo>
                    <a:pt x="2408428" y="0"/>
                  </a:moveTo>
                  <a:lnTo>
                    <a:pt x="163322" y="0"/>
                  </a:lnTo>
                  <a:lnTo>
                    <a:pt x="111711" y="5075"/>
                  </a:lnTo>
                  <a:lnTo>
                    <a:pt x="66879" y="19210"/>
                  </a:lnTo>
                  <a:lnTo>
                    <a:pt x="31520" y="40763"/>
                  </a:lnTo>
                  <a:lnTo>
                    <a:pt x="8329" y="68096"/>
                  </a:lnTo>
                  <a:lnTo>
                    <a:pt x="0" y="99567"/>
                  </a:lnTo>
                  <a:lnTo>
                    <a:pt x="0" y="895603"/>
                  </a:lnTo>
                  <a:lnTo>
                    <a:pt x="31520" y="954408"/>
                  </a:lnTo>
                  <a:lnTo>
                    <a:pt x="66879" y="975961"/>
                  </a:lnTo>
                  <a:lnTo>
                    <a:pt x="111711" y="990096"/>
                  </a:lnTo>
                  <a:lnTo>
                    <a:pt x="163322" y="995171"/>
                  </a:lnTo>
                  <a:lnTo>
                    <a:pt x="2408428" y="995171"/>
                  </a:lnTo>
                  <a:lnTo>
                    <a:pt x="2460038" y="990096"/>
                  </a:lnTo>
                  <a:lnTo>
                    <a:pt x="2504870" y="975961"/>
                  </a:lnTo>
                  <a:lnTo>
                    <a:pt x="2540229" y="954408"/>
                  </a:lnTo>
                  <a:lnTo>
                    <a:pt x="2571750" y="895603"/>
                  </a:lnTo>
                  <a:lnTo>
                    <a:pt x="2571750" y="99567"/>
                  </a:lnTo>
                  <a:lnTo>
                    <a:pt x="2540229" y="40763"/>
                  </a:lnTo>
                  <a:lnTo>
                    <a:pt x="2504870" y="19210"/>
                  </a:lnTo>
                  <a:lnTo>
                    <a:pt x="2460038" y="5075"/>
                  </a:lnTo>
                  <a:lnTo>
                    <a:pt x="2408428" y="0"/>
                  </a:lnTo>
                  <a:close/>
                </a:path>
              </a:pathLst>
            </a:custGeom>
            <a:solidFill>
              <a:srgbClr val="FFFFFF">
                <a:alpha val="90194"/>
              </a:srgbClr>
            </a:solidFill>
          </p:spPr>
          <p:txBody>
            <a:bodyPr wrap="square" lIns="0" tIns="0" rIns="0" bIns="0" rtlCol="0"/>
            <a:lstStyle/>
            <a:p>
              <a:endParaRPr/>
            </a:p>
          </p:txBody>
        </p:sp>
        <p:sp>
          <p:nvSpPr>
            <p:cNvPr id="11" name="object 11"/>
            <p:cNvSpPr/>
            <p:nvPr/>
          </p:nvSpPr>
          <p:spPr>
            <a:xfrm>
              <a:off x="2689479" y="1546479"/>
              <a:ext cx="2571750" cy="995680"/>
            </a:xfrm>
            <a:custGeom>
              <a:avLst/>
              <a:gdLst/>
              <a:ahLst/>
              <a:cxnLst/>
              <a:rect l="l" t="t" r="r" b="b"/>
              <a:pathLst>
                <a:path w="2571750" h="995680">
                  <a:moveTo>
                    <a:pt x="0" y="99567"/>
                  </a:moveTo>
                  <a:lnTo>
                    <a:pt x="31520" y="40763"/>
                  </a:lnTo>
                  <a:lnTo>
                    <a:pt x="66879" y="19210"/>
                  </a:lnTo>
                  <a:lnTo>
                    <a:pt x="111711" y="5075"/>
                  </a:lnTo>
                  <a:lnTo>
                    <a:pt x="163322" y="0"/>
                  </a:lnTo>
                  <a:lnTo>
                    <a:pt x="2408428" y="0"/>
                  </a:lnTo>
                  <a:lnTo>
                    <a:pt x="2460038" y="5075"/>
                  </a:lnTo>
                  <a:lnTo>
                    <a:pt x="2504870" y="19210"/>
                  </a:lnTo>
                  <a:lnTo>
                    <a:pt x="2540229" y="40763"/>
                  </a:lnTo>
                  <a:lnTo>
                    <a:pt x="2571750" y="99567"/>
                  </a:lnTo>
                  <a:lnTo>
                    <a:pt x="2571750" y="895603"/>
                  </a:lnTo>
                  <a:lnTo>
                    <a:pt x="2540229" y="954408"/>
                  </a:lnTo>
                  <a:lnTo>
                    <a:pt x="2504870" y="975961"/>
                  </a:lnTo>
                  <a:lnTo>
                    <a:pt x="2460038" y="990096"/>
                  </a:lnTo>
                  <a:lnTo>
                    <a:pt x="2408428" y="995171"/>
                  </a:lnTo>
                  <a:lnTo>
                    <a:pt x="163322" y="995171"/>
                  </a:lnTo>
                  <a:lnTo>
                    <a:pt x="111711" y="990096"/>
                  </a:lnTo>
                  <a:lnTo>
                    <a:pt x="66879" y="975961"/>
                  </a:lnTo>
                  <a:lnTo>
                    <a:pt x="31520" y="954408"/>
                  </a:lnTo>
                  <a:lnTo>
                    <a:pt x="0" y="895603"/>
                  </a:lnTo>
                  <a:lnTo>
                    <a:pt x="0" y="99567"/>
                  </a:lnTo>
                  <a:close/>
                </a:path>
              </a:pathLst>
            </a:custGeom>
            <a:ln w="25145">
              <a:solidFill>
                <a:srgbClr val="8063A1"/>
              </a:solidFill>
            </a:ln>
          </p:spPr>
          <p:txBody>
            <a:bodyPr wrap="square" lIns="0" tIns="0" rIns="0" bIns="0" rtlCol="0"/>
            <a:lstStyle/>
            <a:p>
              <a:endParaRPr/>
            </a:p>
          </p:txBody>
        </p:sp>
      </p:grpSp>
      <p:sp>
        <p:nvSpPr>
          <p:cNvPr id="12" name="object 12"/>
          <p:cNvSpPr txBox="1"/>
          <p:nvPr/>
        </p:nvSpPr>
        <p:spPr>
          <a:xfrm>
            <a:off x="3235705" y="1899920"/>
            <a:ext cx="1478915"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Arial"/>
                <a:cs typeface="Arial"/>
              </a:rPr>
              <a:t>Azure </a:t>
            </a:r>
            <a:r>
              <a:rPr sz="1500" dirty="0">
                <a:latin typeface="Arial"/>
                <a:cs typeface="Arial"/>
              </a:rPr>
              <a:t>SQL</a:t>
            </a:r>
            <a:r>
              <a:rPr sz="1500" spc="-110" dirty="0">
                <a:latin typeface="Arial"/>
                <a:cs typeface="Arial"/>
              </a:rPr>
              <a:t> </a:t>
            </a:r>
            <a:r>
              <a:rPr sz="1500" spc="-5" dirty="0">
                <a:latin typeface="Arial"/>
                <a:cs typeface="Arial"/>
              </a:rPr>
              <a:t>Plans</a:t>
            </a:r>
            <a:endParaRPr sz="1500">
              <a:latin typeface="Arial"/>
              <a:cs typeface="Arial"/>
            </a:endParaRPr>
          </a:p>
        </p:txBody>
      </p:sp>
      <p:grpSp>
        <p:nvGrpSpPr>
          <p:cNvPr id="13" name="object 13"/>
          <p:cNvGrpSpPr/>
          <p:nvPr/>
        </p:nvGrpSpPr>
        <p:grpSpPr>
          <a:xfrm>
            <a:off x="819022" y="2819273"/>
            <a:ext cx="1678939" cy="1186180"/>
            <a:chOff x="819022" y="2819273"/>
            <a:chExt cx="1678939" cy="1186180"/>
          </a:xfrm>
        </p:grpSpPr>
        <p:sp>
          <p:nvSpPr>
            <p:cNvPr id="14" name="object 14"/>
            <p:cNvSpPr/>
            <p:nvPr/>
          </p:nvSpPr>
          <p:spPr>
            <a:xfrm>
              <a:off x="831722" y="2831973"/>
              <a:ext cx="1367790" cy="995680"/>
            </a:xfrm>
            <a:custGeom>
              <a:avLst/>
              <a:gdLst/>
              <a:ahLst/>
              <a:cxnLst/>
              <a:rect l="l" t="t" r="r" b="b"/>
              <a:pathLst>
                <a:path w="1367789" h="995679">
                  <a:moveTo>
                    <a:pt x="1268222" y="0"/>
                  </a:moveTo>
                  <a:lnTo>
                    <a:pt x="99517" y="0"/>
                  </a:lnTo>
                  <a:lnTo>
                    <a:pt x="60779" y="7824"/>
                  </a:lnTo>
                  <a:lnTo>
                    <a:pt x="29146" y="29162"/>
                  </a:lnTo>
                  <a:lnTo>
                    <a:pt x="7820" y="60811"/>
                  </a:lnTo>
                  <a:lnTo>
                    <a:pt x="0" y="99567"/>
                  </a:lnTo>
                  <a:lnTo>
                    <a:pt x="0" y="895603"/>
                  </a:lnTo>
                  <a:lnTo>
                    <a:pt x="7820" y="934360"/>
                  </a:lnTo>
                  <a:lnTo>
                    <a:pt x="29146" y="966009"/>
                  </a:lnTo>
                  <a:lnTo>
                    <a:pt x="60779" y="987347"/>
                  </a:lnTo>
                  <a:lnTo>
                    <a:pt x="99517" y="995171"/>
                  </a:lnTo>
                  <a:lnTo>
                    <a:pt x="1268222" y="995171"/>
                  </a:lnTo>
                  <a:lnTo>
                    <a:pt x="1306978" y="987347"/>
                  </a:lnTo>
                  <a:lnTo>
                    <a:pt x="1338627" y="966009"/>
                  </a:lnTo>
                  <a:lnTo>
                    <a:pt x="1359965" y="934360"/>
                  </a:lnTo>
                  <a:lnTo>
                    <a:pt x="1367790" y="895603"/>
                  </a:lnTo>
                  <a:lnTo>
                    <a:pt x="1367790" y="99567"/>
                  </a:lnTo>
                  <a:lnTo>
                    <a:pt x="1359965" y="60811"/>
                  </a:lnTo>
                  <a:lnTo>
                    <a:pt x="1338627" y="29162"/>
                  </a:lnTo>
                  <a:lnTo>
                    <a:pt x="1306978" y="7824"/>
                  </a:lnTo>
                  <a:lnTo>
                    <a:pt x="1268222" y="0"/>
                  </a:lnTo>
                  <a:close/>
                </a:path>
              </a:pathLst>
            </a:custGeom>
            <a:solidFill>
              <a:srgbClr val="F79546"/>
            </a:solidFill>
          </p:spPr>
          <p:txBody>
            <a:bodyPr wrap="square" lIns="0" tIns="0" rIns="0" bIns="0" rtlCol="0"/>
            <a:lstStyle/>
            <a:p>
              <a:endParaRPr/>
            </a:p>
          </p:txBody>
        </p:sp>
        <p:sp>
          <p:nvSpPr>
            <p:cNvPr id="15" name="object 15"/>
            <p:cNvSpPr/>
            <p:nvPr/>
          </p:nvSpPr>
          <p:spPr>
            <a:xfrm>
              <a:off x="831722" y="2831973"/>
              <a:ext cx="1367790" cy="995680"/>
            </a:xfrm>
            <a:custGeom>
              <a:avLst/>
              <a:gdLst/>
              <a:ahLst/>
              <a:cxnLst/>
              <a:rect l="l" t="t" r="r" b="b"/>
              <a:pathLst>
                <a:path w="1367789" h="995679">
                  <a:moveTo>
                    <a:pt x="0" y="99567"/>
                  </a:moveTo>
                  <a:lnTo>
                    <a:pt x="7820" y="60811"/>
                  </a:lnTo>
                  <a:lnTo>
                    <a:pt x="29146" y="29162"/>
                  </a:lnTo>
                  <a:lnTo>
                    <a:pt x="60779" y="7824"/>
                  </a:lnTo>
                  <a:lnTo>
                    <a:pt x="99517" y="0"/>
                  </a:lnTo>
                  <a:lnTo>
                    <a:pt x="1268222" y="0"/>
                  </a:lnTo>
                  <a:lnTo>
                    <a:pt x="1306978" y="7824"/>
                  </a:lnTo>
                  <a:lnTo>
                    <a:pt x="1338627" y="29162"/>
                  </a:lnTo>
                  <a:lnTo>
                    <a:pt x="1359965" y="60811"/>
                  </a:lnTo>
                  <a:lnTo>
                    <a:pt x="1367790" y="99567"/>
                  </a:lnTo>
                  <a:lnTo>
                    <a:pt x="1367790" y="895603"/>
                  </a:lnTo>
                  <a:lnTo>
                    <a:pt x="1359965" y="934360"/>
                  </a:lnTo>
                  <a:lnTo>
                    <a:pt x="1338627" y="966009"/>
                  </a:lnTo>
                  <a:lnTo>
                    <a:pt x="1306978" y="987347"/>
                  </a:lnTo>
                  <a:lnTo>
                    <a:pt x="1268222" y="995171"/>
                  </a:lnTo>
                  <a:lnTo>
                    <a:pt x="99517" y="995171"/>
                  </a:lnTo>
                  <a:lnTo>
                    <a:pt x="60779" y="987347"/>
                  </a:lnTo>
                  <a:lnTo>
                    <a:pt x="29146" y="966009"/>
                  </a:lnTo>
                  <a:lnTo>
                    <a:pt x="7820" y="934360"/>
                  </a:lnTo>
                  <a:lnTo>
                    <a:pt x="0" y="895603"/>
                  </a:lnTo>
                  <a:lnTo>
                    <a:pt x="0" y="99567"/>
                  </a:lnTo>
                  <a:close/>
                </a:path>
              </a:pathLst>
            </a:custGeom>
            <a:ln w="25146">
              <a:solidFill>
                <a:srgbClr val="FFFFFF"/>
              </a:solidFill>
            </a:ln>
          </p:spPr>
          <p:txBody>
            <a:bodyPr wrap="square" lIns="0" tIns="0" rIns="0" bIns="0" rtlCol="0"/>
            <a:lstStyle/>
            <a:p>
              <a:endParaRPr/>
            </a:p>
          </p:txBody>
        </p:sp>
        <p:sp>
          <p:nvSpPr>
            <p:cNvPr id="16" name="object 16"/>
            <p:cNvSpPr/>
            <p:nvPr/>
          </p:nvSpPr>
          <p:spPr>
            <a:xfrm>
              <a:off x="1117472" y="2997327"/>
              <a:ext cx="1367790" cy="995680"/>
            </a:xfrm>
            <a:custGeom>
              <a:avLst/>
              <a:gdLst/>
              <a:ahLst/>
              <a:cxnLst/>
              <a:rect l="l" t="t" r="r" b="b"/>
              <a:pathLst>
                <a:path w="1367789" h="995679">
                  <a:moveTo>
                    <a:pt x="1280922" y="0"/>
                  </a:moveTo>
                  <a:lnTo>
                    <a:pt x="86855" y="0"/>
                  </a:lnTo>
                  <a:lnTo>
                    <a:pt x="53047" y="7824"/>
                  </a:lnTo>
                  <a:lnTo>
                    <a:pt x="25439" y="29162"/>
                  </a:lnTo>
                  <a:lnTo>
                    <a:pt x="6825" y="60811"/>
                  </a:lnTo>
                  <a:lnTo>
                    <a:pt x="0" y="99567"/>
                  </a:lnTo>
                  <a:lnTo>
                    <a:pt x="0" y="895603"/>
                  </a:lnTo>
                  <a:lnTo>
                    <a:pt x="6825" y="934360"/>
                  </a:lnTo>
                  <a:lnTo>
                    <a:pt x="25439" y="966009"/>
                  </a:lnTo>
                  <a:lnTo>
                    <a:pt x="53047" y="987347"/>
                  </a:lnTo>
                  <a:lnTo>
                    <a:pt x="86855" y="995171"/>
                  </a:lnTo>
                  <a:lnTo>
                    <a:pt x="1280922" y="995171"/>
                  </a:lnTo>
                  <a:lnTo>
                    <a:pt x="1314747" y="987347"/>
                  </a:lnTo>
                  <a:lnTo>
                    <a:pt x="1342358" y="966009"/>
                  </a:lnTo>
                  <a:lnTo>
                    <a:pt x="1360967" y="934360"/>
                  </a:lnTo>
                  <a:lnTo>
                    <a:pt x="1367790" y="895603"/>
                  </a:lnTo>
                  <a:lnTo>
                    <a:pt x="1367790" y="99567"/>
                  </a:lnTo>
                  <a:lnTo>
                    <a:pt x="1360967" y="60811"/>
                  </a:lnTo>
                  <a:lnTo>
                    <a:pt x="1342358" y="29162"/>
                  </a:lnTo>
                  <a:lnTo>
                    <a:pt x="1314747" y="7824"/>
                  </a:lnTo>
                  <a:lnTo>
                    <a:pt x="1280922" y="0"/>
                  </a:lnTo>
                  <a:close/>
                </a:path>
              </a:pathLst>
            </a:custGeom>
            <a:solidFill>
              <a:srgbClr val="FFFFFF">
                <a:alpha val="90194"/>
              </a:srgbClr>
            </a:solidFill>
          </p:spPr>
          <p:txBody>
            <a:bodyPr wrap="square" lIns="0" tIns="0" rIns="0" bIns="0" rtlCol="0"/>
            <a:lstStyle/>
            <a:p>
              <a:endParaRPr/>
            </a:p>
          </p:txBody>
        </p:sp>
        <p:sp>
          <p:nvSpPr>
            <p:cNvPr id="17" name="object 17"/>
            <p:cNvSpPr/>
            <p:nvPr/>
          </p:nvSpPr>
          <p:spPr>
            <a:xfrm>
              <a:off x="1117472" y="2997327"/>
              <a:ext cx="1367790" cy="995680"/>
            </a:xfrm>
            <a:custGeom>
              <a:avLst/>
              <a:gdLst/>
              <a:ahLst/>
              <a:cxnLst/>
              <a:rect l="l" t="t" r="r" b="b"/>
              <a:pathLst>
                <a:path w="1367789" h="995679">
                  <a:moveTo>
                    <a:pt x="0" y="99567"/>
                  </a:moveTo>
                  <a:lnTo>
                    <a:pt x="6825" y="60811"/>
                  </a:lnTo>
                  <a:lnTo>
                    <a:pt x="25439" y="29162"/>
                  </a:lnTo>
                  <a:lnTo>
                    <a:pt x="53047" y="7824"/>
                  </a:lnTo>
                  <a:lnTo>
                    <a:pt x="86855" y="0"/>
                  </a:lnTo>
                  <a:lnTo>
                    <a:pt x="1280922" y="0"/>
                  </a:lnTo>
                  <a:lnTo>
                    <a:pt x="1314747" y="7824"/>
                  </a:lnTo>
                  <a:lnTo>
                    <a:pt x="1342358" y="29162"/>
                  </a:lnTo>
                  <a:lnTo>
                    <a:pt x="1360967" y="60811"/>
                  </a:lnTo>
                  <a:lnTo>
                    <a:pt x="1367790" y="99567"/>
                  </a:lnTo>
                  <a:lnTo>
                    <a:pt x="1367790" y="895603"/>
                  </a:lnTo>
                  <a:lnTo>
                    <a:pt x="1360967" y="934360"/>
                  </a:lnTo>
                  <a:lnTo>
                    <a:pt x="1342358" y="966009"/>
                  </a:lnTo>
                  <a:lnTo>
                    <a:pt x="1314747" y="987347"/>
                  </a:lnTo>
                  <a:lnTo>
                    <a:pt x="1280922" y="995171"/>
                  </a:lnTo>
                  <a:lnTo>
                    <a:pt x="86855" y="995171"/>
                  </a:lnTo>
                  <a:lnTo>
                    <a:pt x="53047" y="987347"/>
                  </a:lnTo>
                  <a:lnTo>
                    <a:pt x="25439" y="966009"/>
                  </a:lnTo>
                  <a:lnTo>
                    <a:pt x="6825" y="934360"/>
                  </a:lnTo>
                  <a:lnTo>
                    <a:pt x="0" y="895603"/>
                  </a:lnTo>
                  <a:lnTo>
                    <a:pt x="0" y="99567"/>
                  </a:lnTo>
                  <a:close/>
                </a:path>
              </a:pathLst>
            </a:custGeom>
            <a:ln w="25146">
              <a:solidFill>
                <a:srgbClr val="F79546"/>
              </a:solidFill>
            </a:ln>
          </p:spPr>
          <p:txBody>
            <a:bodyPr wrap="square" lIns="0" tIns="0" rIns="0" bIns="0" rtlCol="0"/>
            <a:lstStyle/>
            <a:p>
              <a:endParaRPr/>
            </a:p>
          </p:txBody>
        </p:sp>
      </p:grpSp>
      <p:sp>
        <p:nvSpPr>
          <p:cNvPr id="18" name="object 18"/>
          <p:cNvSpPr txBox="1"/>
          <p:nvPr/>
        </p:nvSpPr>
        <p:spPr>
          <a:xfrm>
            <a:off x="1592072" y="3351021"/>
            <a:ext cx="417195"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Arial"/>
                <a:cs typeface="Arial"/>
              </a:rPr>
              <a:t>Free</a:t>
            </a:r>
            <a:endParaRPr sz="1500">
              <a:latin typeface="Arial"/>
              <a:cs typeface="Arial"/>
            </a:endParaRPr>
          </a:p>
        </p:txBody>
      </p:sp>
      <p:grpSp>
        <p:nvGrpSpPr>
          <p:cNvPr id="19" name="object 19"/>
          <p:cNvGrpSpPr/>
          <p:nvPr/>
        </p:nvGrpSpPr>
        <p:grpSpPr>
          <a:xfrm>
            <a:off x="4962778" y="2819273"/>
            <a:ext cx="1883410" cy="1186180"/>
            <a:chOff x="4962778" y="2819273"/>
            <a:chExt cx="1883410" cy="1186180"/>
          </a:xfrm>
        </p:grpSpPr>
        <p:sp>
          <p:nvSpPr>
            <p:cNvPr id="20" name="object 20"/>
            <p:cNvSpPr/>
            <p:nvPr/>
          </p:nvSpPr>
          <p:spPr>
            <a:xfrm>
              <a:off x="4975478" y="2831973"/>
              <a:ext cx="1572260" cy="995680"/>
            </a:xfrm>
            <a:custGeom>
              <a:avLst/>
              <a:gdLst/>
              <a:ahLst/>
              <a:cxnLst/>
              <a:rect l="l" t="t" r="r" b="b"/>
              <a:pathLst>
                <a:path w="1572259" h="995679">
                  <a:moveTo>
                    <a:pt x="1472438" y="0"/>
                  </a:moveTo>
                  <a:lnTo>
                    <a:pt x="99568" y="0"/>
                  </a:lnTo>
                  <a:lnTo>
                    <a:pt x="60811" y="7824"/>
                  </a:lnTo>
                  <a:lnTo>
                    <a:pt x="29162" y="29162"/>
                  </a:lnTo>
                  <a:lnTo>
                    <a:pt x="7824" y="60811"/>
                  </a:lnTo>
                  <a:lnTo>
                    <a:pt x="0" y="99567"/>
                  </a:lnTo>
                  <a:lnTo>
                    <a:pt x="0" y="895603"/>
                  </a:lnTo>
                  <a:lnTo>
                    <a:pt x="7824" y="934360"/>
                  </a:lnTo>
                  <a:lnTo>
                    <a:pt x="29162" y="966009"/>
                  </a:lnTo>
                  <a:lnTo>
                    <a:pt x="60811" y="987347"/>
                  </a:lnTo>
                  <a:lnTo>
                    <a:pt x="99568" y="995171"/>
                  </a:lnTo>
                  <a:lnTo>
                    <a:pt x="1472438" y="995171"/>
                  </a:lnTo>
                  <a:lnTo>
                    <a:pt x="1511194" y="987347"/>
                  </a:lnTo>
                  <a:lnTo>
                    <a:pt x="1542843" y="966009"/>
                  </a:lnTo>
                  <a:lnTo>
                    <a:pt x="1564181" y="934360"/>
                  </a:lnTo>
                  <a:lnTo>
                    <a:pt x="1572006" y="895603"/>
                  </a:lnTo>
                  <a:lnTo>
                    <a:pt x="1572006" y="99567"/>
                  </a:lnTo>
                  <a:lnTo>
                    <a:pt x="1564181" y="60811"/>
                  </a:lnTo>
                  <a:lnTo>
                    <a:pt x="1542843" y="29162"/>
                  </a:lnTo>
                  <a:lnTo>
                    <a:pt x="1511194" y="7824"/>
                  </a:lnTo>
                  <a:lnTo>
                    <a:pt x="1472438" y="0"/>
                  </a:lnTo>
                  <a:close/>
                </a:path>
              </a:pathLst>
            </a:custGeom>
            <a:solidFill>
              <a:srgbClr val="F79546"/>
            </a:solidFill>
          </p:spPr>
          <p:txBody>
            <a:bodyPr wrap="square" lIns="0" tIns="0" rIns="0" bIns="0" rtlCol="0"/>
            <a:lstStyle/>
            <a:p>
              <a:endParaRPr/>
            </a:p>
          </p:txBody>
        </p:sp>
        <p:sp>
          <p:nvSpPr>
            <p:cNvPr id="21" name="object 21"/>
            <p:cNvSpPr/>
            <p:nvPr/>
          </p:nvSpPr>
          <p:spPr>
            <a:xfrm>
              <a:off x="4975478" y="2831973"/>
              <a:ext cx="1572260" cy="995680"/>
            </a:xfrm>
            <a:custGeom>
              <a:avLst/>
              <a:gdLst/>
              <a:ahLst/>
              <a:cxnLst/>
              <a:rect l="l" t="t" r="r" b="b"/>
              <a:pathLst>
                <a:path w="1572259" h="995679">
                  <a:moveTo>
                    <a:pt x="0" y="99567"/>
                  </a:moveTo>
                  <a:lnTo>
                    <a:pt x="7824" y="60811"/>
                  </a:lnTo>
                  <a:lnTo>
                    <a:pt x="29162" y="29162"/>
                  </a:lnTo>
                  <a:lnTo>
                    <a:pt x="60811" y="7824"/>
                  </a:lnTo>
                  <a:lnTo>
                    <a:pt x="99568" y="0"/>
                  </a:lnTo>
                  <a:lnTo>
                    <a:pt x="1472438" y="0"/>
                  </a:lnTo>
                  <a:lnTo>
                    <a:pt x="1511194" y="7824"/>
                  </a:lnTo>
                  <a:lnTo>
                    <a:pt x="1542843" y="29162"/>
                  </a:lnTo>
                  <a:lnTo>
                    <a:pt x="1564181" y="60811"/>
                  </a:lnTo>
                  <a:lnTo>
                    <a:pt x="1572006" y="99567"/>
                  </a:lnTo>
                  <a:lnTo>
                    <a:pt x="1572006" y="895603"/>
                  </a:lnTo>
                  <a:lnTo>
                    <a:pt x="1564181" y="934360"/>
                  </a:lnTo>
                  <a:lnTo>
                    <a:pt x="1542843" y="966009"/>
                  </a:lnTo>
                  <a:lnTo>
                    <a:pt x="1511194" y="987347"/>
                  </a:lnTo>
                  <a:lnTo>
                    <a:pt x="1472438" y="995171"/>
                  </a:lnTo>
                  <a:lnTo>
                    <a:pt x="99568" y="995171"/>
                  </a:lnTo>
                  <a:lnTo>
                    <a:pt x="60811" y="987347"/>
                  </a:lnTo>
                  <a:lnTo>
                    <a:pt x="29162" y="966009"/>
                  </a:lnTo>
                  <a:lnTo>
                    <a:pt x="7824" y="934360"/>
                  </a:lnTo>
                  <a:lnTo>
                    <a:pt x="0" y="895603"/>
                  </a:lnTo>
                  <a:lnTo>
                    <a:pt x="0" y="99567"/>
                  </a:lnTo>
                  <a:close/>
                </a:path>
              </a:pathLst>
            </a:custGeom>
            <a:ln w="25146">
              <a:solidFill>
                <a:srgbClr val="FFFFFF"/>
              </a:solidFill>
            </a:ln>
          </p:spPr>
          <p:txBody>
            <a:bodyPr wrap="square" lIns="0" tIns="0" rIns="0" bIns="0" rtlCol="0"/>
            <a:lstStyle/>
            <a:p>
              <a:endParaRPr/>
            </a:p>
          </p:txBody>
        </p:sp>
        <p:sp>
          <p:nvSpPr>
            <p:cNvPr id="22" name="object 22"/>
            <p:cNvSpPr/>
            <p:nvPr/>
          </p:nvSpPr>
          <p:spPr>
            <a:xfrm>
              <a:off x="5261228" y="2997327"/>
              <a:ext cx="1572260" cy="995680"/>
            </a:xfrm>
            <a:custGeom>
              <a:avLst/>
              <a:gdLst/>
              <a:ahLst/>
              <a:cxnLst/>
              <a:rect l="l" t="t" r="r" b="b"/>
              <a:pathLst>
                <a:path w="1572259" h="995679">
                  <a:moveTo>
                    <a:pt x="1472184" y="0"/>
                  </a:moveTo>
                  <a:lnTo>
                    <a:pt x="99822" y="0"/>
                  </a:lnTo>
                  <a:lnTo>
                    <a:pt x="60971" y="7824"/>
                  </a:lnTo>
                  <a:lnTo>
                    <a:pt x="29241" y="29162"/>
                  </a:lnTo>
                  <a:lnTo>
                    <a:pt x="7846" y="60811"/>
                  </a:lnTo>
                  <a:lnTo>
                    <a:pt x="0" y="99567"/>
                  </a:lnTo>
                  <a:lnTo>
                    <a:pt x="0" y="895603"/>
                  </a:lnTo>
                  <a:lnTo>
                    <a:pt x="7846" y="934360"/>
                  </a:lnTo>
                  <a:lnTo>
                    <a:pt x="29241" y="966009"/>
                  </a:lnTo>
                  <a:lnTo>
                    <a:pt x="60971" y="987347"/>
                  </a:lnTo>
                  <a:lnTo>
                    <a:pt x="99822" y="995171"/>
                  </a:lnTo>
                  <a:lnTo>
                    <a:pt x="1472184" y="995171"/>
                  </a:lnTo>
                  <a:lnTo>
                    <a:pt x="1511034" y="987347"/>
                  </a:lnTo>
                  <a:lnTo>
                    <a:pt x="1542764" y="966009"/>
                  </a:lnTo>
                  <a:lnTo>
                    <a:pt x="1564159" y="934360"/>
                  </a:lnTo>
                  <a:lnTo>
                    <a:pt x="1572006" y="895603"/>
                  </a:lnTo>
                  <a:lnTo>
                    <a:pt x="1572006" y="99567"/>
                  </a:lnTo>
                  <a:lnTo>
                    <a:pt x="1564159" y="60811"/>
                  </a:lnTo>
                  <a:lnTo>
                    <a:pt x="1542764" y="29162"/>
                  </a:lnTo>
                  <a:lnTo>
                    <a:pt x="1511034" y="7824"/>
                  </a:lnTo>
                  <a:lnTo>
                    <a:pt x="1472184" y="0"/>
                  </a:lnTo>
                  <a:close/>
                </a:path>
              </a:pathLst>
            </a:custGeom>
            <a:solidFill>
              <a:srgbClr val="FFFFFF">
                <a:alpha val="90194"/>
              </a:srgbClr>
            </a:solidFill>
          </p:spPr>
          <p:txBody>
            <a:bodyPr wrap="square" lIns="0" tIns="0" rIns="0" bIns="0" rtlCol="0"/>
            <a:lstStyle/>
            <a:p>
              <a:endParaRPr/>
            </a:p>
          </p:txBody>
        </p:sp>
        <p:sp>
          <p:nvSpPr>
            <p:cNvPr id="23" name="object 23"/>
            <p:cNvSpPr/>
            <p:nvPr/>
          </p:nvSpPr>
          <p:spPr>
            <a:xfrm>
              <a:off x="5261228" y="2997327"/>
              <a:ext cx="1572260" cy="995680"/>
            </a:xfrm>
            <a:custGeom>
              <a:avLst/>
              <a:gdLst/>
              <a:ahLst/>
              <a:cxnLst/>
              <a:rect l="l" t="t" r="r" b="b"/>
              <a:pathLst>
                <a:path w="1572259" h="995679">
                  <a:moveTo>
                    <a:pt x="0" y="99567"/>
                  </a:moveTo>
                  <a:lnTo>
                    <a:pt x="7846" y="60811"/>
                  </a:lnTo>
                  <a:lnTo>
                    <a:pt x="29241" y="29162"/>
                  </a:lnTo>
                  <a:lnTo>
                    <a:pt x="60971" y="7824"/>
                  </a:lnTo>
                  <a:lnTo>
                    <a:pt x="99822" y="0"/>
                  </a:lnTo>
                  <a:lnTo>
                    <a:pt x="1472184" y="0"/>
                  </a:lnTo>
                  <a:lnTo>
                    <a:pt x="1511034" y="7824"/>
                  </a:lnTo>
                  <a:lnTo>
                    <a:pt x="1542764" y="29162"/>
                  </a:lnTo>
                  <a:lnTo>
                    <a:pt x="1564159" y="60811"/>
                  </a:lnTo>
                  <a:lnTo>
                    <a:pt x="1572006" y="99567"/>
                  </a:lnTo>
                  <a:lnTo>
                    <a:pt x="1572006" y="895603"/>
                  </a:lnTo>
                  <a:lnTo>
                    <a:pt x="1564159" y="934360"/>
                  </a:lnTo>
                  <a:lnTo>
                    <a:pt x="1542764" y="966009"/>
                  </a:lnTo>
                  <a:lnTo>
                    <a:pt x="1511034" y="987347"/>
                  </a:lnTo>
                  <a:lnTo>
                    <a:pt x="1472184" y="995171"/>
                  </a:lnTo>
                  <a:lnTo>
                    <a:pt x="99822" y="995171"/>
                  </a:lnTo>
                  <a:lnTo>
                    <a:pt x="60971" y="987347"/>
                  </a:lnTo>
                  <a:lnTo>
                    <a:pt x="29241" y="966009"/>
                  </a:lnTo>
                  <a:lnTo>
                    <a:pt x="7846" y="934360"/>
                  </a:lnTo>
                  <a:lnTo>
                    <a:pt x="0" y="895603"/>
                  </a:lnTo>
                  <a:lnTo>
                    <a:pt x="0" y="99567"/>
                  </a:lnTo>
                  <a:close/>
                </a:path>
              </a:pathLst>
            </a:custGeom>
            <a:ln w="25146">
              <a:solidFill>
                <a:srgbClr val="F79546"/>
              </a:solidFill>
            </a:ln>
          </p:spPr>
          <p:txBody>
            <a:bodyPr wrap="square" lIns="0" tIns="0" rIns="0" bIns="0" rtlCol="0"/>
            <a:lstStyle/>
            <a:p>
              <a:endParaRPr/>
            </a:p>
          </p:txBody>
        </p:sp>
      </p:grpSp>
      <p:sp>
        <p:nvSpPr>
          <p:cNvPr id="24" name="object 24"/>
          <p:cNvSpPr txBox="1"/>
          <p:nvPr/>
        </p:nvSpPr>
        <p:spPr>
          <a:xfrm>
            <a:off x="5843523" y="3351021"/>
            <a:ext cx="407034" cy="254000"/>
          </a:xfrm>
          <a:prstGeom prst="rect">
            <a:avLst/>
          </a:prstGeom>
        </p:spPr>
        <p:txBody>
          <a:bodyPr vert="horz" wrap="square" lIns="0" tIns="12700" rIns="0" bIns="0" rtlCol="0">
            <a:spAutoFit/>
          </a:bodyPr>
          <a:lstStyle/>
          <a:p>
            <a:pPr marL="12700">
              <a:lnSpc>
                <a:spcPct val="100000"/>
              </a:lnSpc>
              <a:spcBef>
                <a:spcPts val="100"/>
              </a:spcBef>
            </a:pPr>
            <a:r>
              <a:rPr sz="1500" spc="-5" dirty="0">
                <a:latin typeface="Arial"/>
                <a:cs typeface="Arial"/>
              </a:rPr>
              <a:t>Paid</a:t>
            </a:r>
            <a:endParaRPr sz="1500">
              <a:latin typeface="Arial"/>
              <a:cs typeface="Arial"/>
            </a:endParaRPr>
          </a:p>
        </p:txBody>
      </p:sp>
      <p:grpSp>
        <p:nvGrpSpPr>
          <p:cNvPr id="25" name="object 25"/>
          <p:cNvGrpSpPr/>
          <p:nvPr/>
        </p:nvGrpSpPr>
        <p:grpSpPr>
          <a:xfrm>
            <a:off x="3795395" y="4344796"/>
            <a:ext cx="2265045" cy="1186180"/>
            <a:chOff x="3795395" y="4344796"/>
            <a:chExt cx="2265045" cy="1186180"/>
          </a:xfrm>
        </p:grpSpPr>
        <p:sp>
          <p:nvSpPr>
            <p:cNvPr id="26" name="object 26"/>
            <p:cNvSpPr/>
            <p:nvPr/>
          </p:nvSpPr>
          <p:spPr>
            <a:xfrm>
              <a:off x="3808095" y="4357496"/>
              <a:ext cx="1953895" cy="995680"/>
            </a:xfrm>
            <a:custGeom>
              <a:avLst/>
              <a:gdLst/>
              <a:ahLst/>
              <a:cxnLst/>
              <a:rect l="l" t="t" r="r" b="b"/>
              <a:pathLst>
                <a:path w="1953895" h="995679">
                  <a:moveTo>
                    <a:pt x="1854200" y="0"/>
                  </a:moveTo>
                  <a:lnTo>
                    <a:pt x="99568" y="0"/>
                  </a:lnTo>
                  <a:lnTo>
                    <a:pt x="60811" y="7824"/>
                  </a:lnTo>
                  <a:lnTo>
                    <a:pt x="29162" y="29162"/>
                  </a:lnTo>
                  <a:lnTo>
                    <a:pt x="7824" y="60811"/>
                  </a:lnTo>
                  <a:lnTo>
                    <a:pt x="0" y="99567"/>
                  </a:lnTo>
                  <a:lnTo>
                    <a:pt x="0" y="895603"/>
                  </a:lnTo>
                  <a:lnTo>
                    <a:pt x="7824" y="934360"/>
                  </a:lnTo>
                  <a:lnTo>
                    <a:pt x="29162" y="966009"/>
                  </a:lnTo>
                  <a:lnTo>
                    <a:pt x="60811" y="987347"/>
                  </a:lnTo>
                  <a:lnTo>
                    <a:pt x="99568" y="995171"/>
                  </a:lnTo>
                  <a:lnTo>
                    <a:pt x="1854200" y="995171"/>
                  </a:lnTo>
                  <a:lnTo>
                    <a:pt x="1892956" y="987347"/>
                  </a:lnTo>
                  <a:lnTo>
                    <a:pt x="1924605" y="966009"/>
                  </a:lnTo>
                  <a:lnTo>
                    <a:pt x="1945943" y="934360"/>
                  </a:lnTo>
                  <a:lnTo>
                    <a:pt x="1953768" y="895603"/>
                  </a:lnTo>
                  <a:lnTo>
                    <a:pt x="1953768" y="99567"/>
                  </a:lnTo>
                  <a:lnTo>
                    <a:pt x="1945943" y="60811"/>
                  </a:lnTo>
                  <a:lnTo>
                    <a:pt x="1924605" y="29162"/>
                  </a:lnTo>
                  <a:lnTo>
                    <a:pt x="1892956" y="7824"/>
                  </a:lnTo>
                  <a:lnTo>
                    <a:pt x="1854200" y="0"/>
                  </a:lnTo>
                  <a:close/>
                </a:path>
              </a:pathLst>
            </a:custGeom>
            <a:solidFill>
              <a:srgbClr val="4F81BC"/>
            </a:solidFill>
          </p:spPr>
          <p:txBody>
            <a:bodyPr wrap="square" lIns="0" tIns="0" rIns="0" bIns="0" rtlCol="0"/>
            <a:lstStyle/>
            <a:p>
              <a:endParaRPr/>
            </a:p>
          </p:txBody>
        </p:sp>
        <p:sp>
          <p:nvSpPr>
            <p:cNvPr id="27" name="object 27"/>
            <p:cNvSpPr/>
            <p:nvPr/>
          </p:nvSpPr>
          <p:spPr>
            <a:xfrm>
              <a:off x="3808095" y="4357496"/>
              <a:ext cx="1953895" cy="995680"/>
            </a:xfrm>
            <a:custGeom>
              <a:avLst/>
              <a:gdLst/>
              <a:ahLst/>
              <a:cxnLst/>
              <a:rect l="l" t="t" r="r" b="b"/>
              <a:pathLst>
                <a:path w="1953895" h="995679">
                  <a:moveTo>
                    <a:pt x="0" y="99567"/>
                  </a:moveTo>
                  <a:lnTo>
                    <a:pt x="7824" y="60811"/>
                  </a:lnTo>
                  <a:lnTo>
                    <a:pt x="29162" y="29162"/>
                  </a:lnTo>
                  <a:lnTo>
                    <a:pt x="60811" y="7824"/>
                  </a:lnTo>
                  <a:lnTo>
                    <a:pt x="99568" y="0"/>
                  </a:lnTo>
                  <a:lnTo>
                    <a:pt x="1854200" y="0"/>
                  </a:lnTo>
                  <a:lnTo>
                    <a:pt x="1892956" y="7824"/>
                  </a:lnTo>
                  <a:lnTo>
                    <a:pt x="1924605" y="29162"/>
                  </a:lnTo>
                  <a:lnTo>
                    <a:pt x="1945943" y="60811"/>
                  </a:lnTo>
                  <a:lnTo>
                    <a:pt x="1953768" y="99567"/>
                  </a:lnTo>
                  <a:lnTo>
                    <a:pt x="1953768" y="895603"/>
                  </a:lnTo>
                  <a:lnTo>
                    <a:pt x="1945943" y="934360"/>
                  </a:lnTo>
                  <a:lnTo>
                    <a:pt x="1924605" y="966009"/>
                  </a:lnTo>
                  <a:lnTo>
                    <a:pt x="1892956" y="987347"/>
                  </a:lnTo>
                  <a:lnTo>
                    <a:pt x="1854200" y="995171"/>
                  </a:lnTo>
                  <a:lnTo>
                    <a:pt x="99568" y="995171"/>
                  </a:lnTo>
                  <a:lnTo>
                    <a:pt x="60811" y="987347"/>
                  </a:lnTo>
                  <a:lnTo>
                    <a:pt x="29162" y="966009"/>
                  </a:lnTo>
                  <a:lnTo>
                    <a:pt x="7824" y="934360"/>
                  </a:lnTo>
                  <a:lnTo>
                    <a:pt x="0" y="895603"/>
                  </a:lnTo>
                  <a:lnTo>
                    <a:pt x="0" y="99567"/>
                  </a:lnTo>
                  <a:close/>
                </a:path>
              </a:pathLst>
            </a:custGeom>
            <a:ln w="25146">
              <a:solidFill>
                <a:srgbClr val="FFFFFF"/>
              </a:solidFill>
            </a:ln>
          </p:spPr>
          <p:txBody>
            <a:bodyPr wrap="square" lIns="0" tIns="0" rIns="0" bIns="0" rtlCol="0"/>
            <a:lstStyle/>
            <a:p>
              <a:endParaRPr/>
            </a:p>
          </p:txBody>
        </p:sp>
        <p:sp>
          <p:nvSpPr>
            <p:cNvPr id="28" name="object 28"/>
            <p:cNvSpPr/>
            <p:nvPr/>
          </p:nvSpPr>
          <p:spPr>
            <a:xfrm>
              <a:off x="4093845" y="4522850"/>
              <a:ext cx="1953895" cy="995680"/>
            </a:xfrm>
            <a:custGeom>
              <a:avLst/>
              <a:gdLst/>
              <a:ahLst/>
              <a:cxnLst/>
              <a:rect l="l" t="t" r="r" b="b"/>
              <a:pathLst>
                <a:path w="1953895" h="995679">
                  <a:moveTo>
                    <a:pt x="1829689" y="0"/>
                  </a:moveTo>
                  <a:lnTo>
                    <a:pt x="124079" y="0"/>
                  </a:lnTo>
                  <a:lnTo>
                    <a:pt x="75759" y="7824"/>
                  </a:lnTo>
                  <a:lnTo>
                    <a:pt x="36322" y="29162"/>
                  </a:lnTo>
                  <a:lnTo>
                    <a:pt x="9743" y="60811"/>
                  </a:lnTo>
                  <a:lnTo>
                    <a:pt x="0" y="99568"/>
                  </a:lnTo>
                  <a:lnTo>
                    <a:pt x="0" y="895604"/>
                  </a:lnTo>
                  <a:lnTo>
                    <a:pt x="9743" y="934360"/>
                  </a:lnTo>
                  <a:lnTo>
                    <a:pt x="36321" y="966009"/>
                  </a:lnTo>
                  <a:lnTo>
                    <a:pt x="75759" y="987347"/>
                  </a:lnTo>
                  <a:lnTo>
                    <a:pt x="124079" y="995172"/>
                  </a:lnTo>
                  <a:lnTo>
                    <a:pt x="1829689" y="995172"/>
                  </a:lnTo>
                  <a:lnTo>
                    <a:pt x="1878008" y="987347"/>
                  </a:lnTo>
                  <a:lnTo>
                    <a:pt x="1917445" y="966009"/>
                  </a:lnTo>
                  <a:lnTo>
                    <a:pt x="1944024" y="934360"/>
                  </a:lnTo>
                  <a:lnTo>
                    <a:pt x="1953768" y="895604"/>
                  </a:lnTo>
                  <a:lnTo>
                    <a:pt x="1953768" y="99568"/>
                  </a:lnTo>
                  <a:lnTo>
                    <a:pt x="1944024" y="60811"/>
                  </a:lnTo>
                  <a:lnTo>
                    <a:pt x="1917445" y="29162"/>
                  </a:lnTo>
                  <a:lnTo>
                    <a:pt x="1878008" y="7824"/>
                  </a:lnTo>
                  <a:lnTo>
                    <a:pt x="1829689" y="0"/>
                  </a:lnTo>
                  <a:close/>
                </a:path>
              </a:pathLst>
            </a:custGeom>
            <a:solidFill>
              <a:srgbClr val="FFFFFF">
                <a:alpha val="90194"/>
              </a:srgbClr>
            </a:solidFill>
          </p:spPr>
          <p:txBody>
            <a:bodyPr wrap="square" lIns="0" tIns="0" rIns="0" bIns="0" rtlCol="0"/>
            <a:lstStyle/>
            <a:p>
              <a:endParaRPr/>
            </a:p>
          </p:txBody>
        </p:sp>
        <p:sp>
          <p:nvSpPr>
            <p:cNvPr id="29" name="object 29"/>
            <p:cNvSpPr/>
            <p:nvPr/>
          </p:nvSpPr>
          <p:spPr>
            <a:xfrm>
              <a:off x="4093845" y="4522850"/>
              <a:ext cx="1953895" cy="995680"/>
            </a:xfrm>
            <a:custGeom>
              <a:avLst/>
              <a:gdLst/>
              <a:ahLst/>
              <a:cxnLst/>
              <a:rect l="l" t="t" r="r" b="b"/>
              <a:pathLst>
                <a:path w="1953895" h="995679">
                  <a:moveTo>
                    <a:pt x="0" y="99568"/>
                  </a:moveTo>
                  <a:lnTo>
                    <a:pt x="9743" y="60811"/>
                  </a:lnTo>
                  <a:lnTo>
                    <a:pt x="36322" y="29162"/>
                  </a:lnTo>
                  <a:lnTo>
                    <a:pt x="75759" y="7824"/>
                  </a:lnTo>
                  <a:lnTo>
                    <a:pt x="124079" y="0"/>
                  </a:lnTo>
                  <a:lnTo>
                    <a:pt x="1829689" y="0"/>
                  </a:lnTo>
                  <a:lnTo>
                    <a:pt x="1878008" y="7824"/>
                  </a:lnTo>
                  <a:lnTo>
                    <a:pt x="1917445" y="29162"/>
                  </a:lnTo>
                  <a:lnTo>
                    <a:pt x="1944024" y="60811"/>
                  </a:lnTo>
                  <a:lnTo>
                    <a:pt x="1953768" y="99568"/>
                  </a:lnTo>
                  <a:lnTo>
                    <a:pt x="1953768" y="895604"/>
                  </a:lnTo>
                  <a:lnTo>
                    <a:pt x="1944024" y="934360"/>
                  </a:lnTo>
                  <a:lnTo>
                    <a:pt x="1917445" y="966009"/>
                  </a:lnTo>
                  <a:lnTo>
                    <a:pt x="1878008" y="987347"/>
                  </a:lnTo>
                  <a:lnTo>
                    <a:pt x="1829689" y="995172"/>
                  </a:lnTo>
                  <a:lnTo>
                    <a:pt x="124079" y="995172"/>
                  </a:lnTo>
                  <a:lnTo>
                    <a:pt x="75759" y="987347"/>
                  </a:lnTo>
                  <a:lnTo>
                    <a:pt x="36321" y="966009"/>
                  </a:lnTo>
                  <a:lnTo>
                    <a:pt x="9743" y="934360"/>
                  </a:lnTo>
                  <a:lnTo>
                    <a:pt x="0" y="895604"/>
                  </a:lnTo>
                  <a:lnTo>
                    <a:pt x="0" y="99568"/>
                  </a:lnTo>
                  <a:close/>
                </a:path>
              </a:pathLst>
            </a:custGeom>
            <a:ln w="25146">
              <a:solidFill>
                <a:srgbClr val="4F81BC"/>
              </a:solidFill>
            </a:ln>
          </p:spPr>
          <p:txBody>
            <a:bodyPr wrap="square" lIns="0" tIns="0" rIns="0" bIns="0" rtlCol="0"/>
            <a:lstStyle/>
            <a:p>
              <a:endParaRPr/>
            </a:p>
          </p:txBody>
        </p:sp>
      </p:grpSp>
      <p:sp>
        <p:nvSpPr>
          <p:cNvPr id="30" name="object 30"/>
          <p:cNvSpPr txBox="1"/>
          <p:nvPr/>
        </p:nvSpPr>
        <p:spPr>
          <a:xfrm>
            <a:off x="4201667" y="4671314"/>
            <a:ext cx="1737995" cy="665480"/>
          </a:xfrm>
          <a:prstGeom prst="rect">
            <a:avLst/>
          </a:prstGeom>
        </p:spPr>
        <p:txBody>
          <a:bodyPr vert="horz" wrap="square" lIns="0" tIns="38100" rIns="0" bIns="0" rtlCol="0">
            <a:spAutoFit/>
          </a:bodyPr>
          <a:lstStyle/>
          <a:p>
            <a:pPr marL="12700" marR="5080" algn="ctr">
              <a:lnSpc>
                <a:spcPts val="1620"/>
              </a:lnSpc>
              <a:spcBef>
                <a:spcPts val="300"/>
              </a:spcBef>
            </a:pPr>
            <a:r>
              <a:rPr sz="1500" spc="-5" dirty="0">
                <a:latin typeface="Arial"/>
                <a:cs typeface="Arial"/>
              </a:rPr>
              <a:t>Virtual core</a:t>
            </a:r>
            <a:r>
              <a:rPr sz="1500" spc="-35" dirty="0">
                <a:latin typeface="Arial"/>
                <a:cs typeface="Arial"/>
              </a:rPr>
              <a:t> </a:t>
            </a:r>
            <a:r>
              <a:rPr sz="1500" spc="-5" dirty="0">
                <a:latin typeface="Arial"/>
                <a:cs typeface="Arial"/>
              </a:rPr>
              <a:t>(vCore)-  based purchasing  model</a:t>
            </a:r>
            <a:endParaRPr sz="1500">
              <a:latin typeface="Arial"/>
              <a:cs typeface="Arial"/>
            </a:endParaRPr>
          </a:p>
        </p:txBody>
      </p:sp>
      <p:grpSp>
        <p:nvGrpSpPr>
          <p:cNvPr id="31" name="object 31"/>
          <p:cNvGrpSpPr/>
          <p:nvPr/>
        </p:nvGrpSpPr>
        <p:grpSpPr>
          <a:xfrm>
            <a:off x="6820661" y="4304538"/>
            <a:ext cx="2264410" cy="1186180"/>
            <a:chOff x="6820661" y="4304538"/>
            <a:chExt cx="2264410" cy="1186180"/>
          </a:xfrm>
        </p:grpSpPr>
        <p:sp>
          <p:nvSpPr>
            <p:cNvPr id="32" name="object 32"/>
            <p:cNvSpPr/>
            <p:nvPr/>
          </p:nvSpPr>
          <p:spPr>
            <a:xfrm>
              <a:off x="6833234" y="4317111"/>
              <a:ext cx="1953260" cy="995680"/>
            </a:xfrm>
            <a:custGeom>
              <a:avLst/>
              <a:gdLst/>
              <a:ahLst/>
              <a:cxnLst/>
              <a:rect l="l" t="t" r="r" b="b"/>
              <a:pathLst>
                <a:path w="1953259" h="995679">
                  <a:moveTo>
                    <a:pt x="1853438" y="0"/>
                  </a:moveTo>
                  <a:lnTo>
                    <a:pt x="99568" y="0"/>
                  </a:lnTo>
                  <a:lnTo>
                    <a:pt x="60811" y="7824"/>
                  </a:lnTo>
                  <a:lnTo>
                    <a:pt x="29162" y="29162"/>
                  </a:lnTo>
                  <a:lnTo>
                    <a:pt x="7824" y="60811"/>
                  </a:lnTo>
                  <a:lnTo>
                    <a:pt x="0" y="99568"/>
                  </a:lnTo>
                  <a:lnTo>
                    <a:pt x="0" y="895604"/>
                  </a:lnTo>
                  <a:lnTo>
                    <a:pt x="7824" y="934360"/>
                  </a:lnTo>
                  <a:lnTo>
                    <a:pt x="29162" y="966009"/>
                  </a:lnTo>
                  <a:lnTo>
                    <a:pt x="60811" y="987347"/>
                  </a:lnTo>
                  <a:lnTo>
                    <a:pt x="99568" y="995172"/>
                  </a:lnTo>
                  <a:lnTo>
                    <a:pt x="1853438" y="995172"/>
                  </a:lnTo>
                  <a:lnTo>
                    <a:pt x="1892194" y="987347"/>
                  </a:lnTo>
                  <a:lnTo>
                    <a:pt x="1923843" y="966009"/>
                  </a:lnTo>
                  <a:lnTo>
                    <a:pt x="1945181" y="934360"/>
                  </a:lnTo>
                  <a:lnTo>
                    <a:pt x="1953006" y="895604"/>
                  </a:lnTo>
                  <a:lnTo>
                    <a:pt x="1953006" y="99568"/>
                  </a:lnTo>
                  <a:lnTo>
                    <a:pt x="1945181" y="60811"/>
                  </a:lnTo>
                  <a:lnTo>
                    <a:pt x="1923843" y="29162"/>
                  </a:lnTo>
                  <a:lnTo>
                    <a:pt x="1892194" y="7824"/>
                  </a:lnTo>
                  <a:lnTo>
                    <a:pt x="1853438" y="0"/>
                  </a:lnTo>
                  <a:close/>
                </a:path>
              </a:pathLst>
            </a:custGeom>
            <a:solidFill>
              <a:srgbClr val="4F81BC"/>
            </a:solidFill>
          </p:spPr>
          <p:txBody>
            <a:bodyPr wrap="square" lIns="0" tIns="0" rIns="0" bIns="0" rtlCol="0"/>
            <a:lstStyle/>
            <a:p>
              <a:endParaRPr/>
            </a:p>
          </p:txBody>
        </p:sp>
        <p:sp>
          <p:nvSpPr>
            <p:cNvPr id="33" name="object 33"/>
            <p:cNvSpPr/>
            <p:nvPr/>
          </p:nvSpPr>
          <p:spPr>
            <a:xfrm>
              <a:off x="6833234" y="4317111"/>
              <a:ext cx="1953260" cy="995680"/>
            </a:xfrm>
            <a:custGeom>
              <a:avLst/>
              <a:gdLst/>
              <a:ahLst/>
              <a:cxnLst/>
              <a:rect l="l" t="t" r="r" b="b"/>
              <a:pathLst>
                <a:path w="1953259" h="995679">
                  <a:moveTo>
                    <a:pt x="0" y="99568"/>
                  </a:moveTo>
                  <a:lnTo>
                    <a:pt x="7824" y="60811"/>
                  </a:lnTo>
                  <a:lnTo>
                    <a:pt x="29162" y="29162"/>
                  </a:lnTo>
                  <a:lnTo>
                    <a:pt x="60811" y="7824"/>
                  </a:lnTo>
                  <a:lnTo>
                    <a:pt x="99568" y="0"/>
                  </a:lnTo>
                  <a:lnTo>
                    <a:pt x="1853438" y="0"/>
                  </a:lnTo>
                  <a:lnTo>
                    <a:pt x="1892194" y="7824"/>
                  </a:lnTo>
                  <a:lnTo>
                    <a:pt x="1923843" y="29162"/>
                  </a:lnTo>
                  <a:lnTo>
                    <a:pt x="1945181" y="60811"/>
                  </a:lnTo>
                  <a:lnTo>
                    <a:pt x="1953006" y="99568"/>
                  </a:lnTo>
                  <a:lnTo>
                    <a:pt x="1953006" y="895604"/>
                  </a:lnTo>
                  <a:lnTo>
                    <a:pt x="1945181" y="934360"/>
                  </a:lnTo>
                  <a:lnTo>
                    <a:pt x="1923843" y="966009"/>
                  </a:lnTo>
                  <a:lnTo>
                    <a:pt x="1892194" y="987347"/>
                  </a:lnTo>
                  <a:lnTo>
                    <a:pt x="1853438" y="995172"/>
                  </a:lnTo>
                  <a:lnTo>
                    <a:pt x="99568" y="995172"/>
                  </a:lnTo>
                  <a:lnTo>
                    <a:pt x="60811" y="987347"/>
                  </a:lnTo>
                  <a:lnTo>
                    <a:pt x="29162" y="966009"/>
                  </a:lnTo>
                  <a:lnTo>
                    <a:pt x="7824" y="934360"/>
                  </a:lnTo>
                  <a:lnTo>
                    <a:pt x="0" y="895604"/>
                  </a:lnTo>
                  <a:lnTo>
                    <a:pt x="0" y="99568"/>
                  </a:lnTo>
                  <a:close/>
                </a:path>
              </a:pathLst>
            </a:custGeom>
            <a:ln w="25146">
              <a:solidFill>
                <a:srgbClr val="FFFFFF"/>
              </a:solidFill>
            </a:ln>
          </p:spPr>
          <p:txBody>
            <a:bodyPr wrap="square" lIns="0" tIns="0" rIns="0" bIns="0" rtlCol="0"/>
            <a:lstStyle/>
            <a:p>
              <a:endParaRPr/>
            </a:p>
          </p:txBody>
        </p:sp>
        <p:sp>
          <p:nvSpPr>
            <p:cNvPr id="34" name="object 34"/>
            <p:cNvSpPr/>
            <p:nvPr/>
          </p:nvSpPr>
          <p:spPr>
            <a:xfrm>
              <a:off x="7118984" y="4482465"/>
              <a:ext cx="1953260" cy="995680"/>
            </a:xfrm>
            <a:custGeom>
              <a:avLst/>
              <a:gdLst/>
              <a:ahLst/>
              <a:cxnLst/>
              <a:rect l="l" t="t" r="r" b="b"/>
              <a:pathLst>
                <a:path w="1953259" h="995679">
                  <a:moveTo>
                    <a:pt x="1828927" y="0"/>
                  </a:moveTo>
                  <a:lnTo>
                    <a:pt x="124079" y="0"/>
                  </a:lnTo>
                  <a:lnTo>
                    <a:pt x="75759" y="7824"/>
                  </a:lnTo>
                  <a:lnTo>
                    <a:pt x="36322" y="29162"/>
                  </a:lnTo>
                  <a:lnTo>
                    <a:pt x="9743" y="60811"/>
                  </a:lnTo>
                  <a:lnTo>
                    <a:pt x="0" y="99568"/>
                  </a:lnTo>
                  <a:lnTo>
                    <a:pt x="0" y="895604"/>
                  </a:lnTo>
                  <a:lnTo>
                    <a:pt x="9743" y="934360"/>
                  </a:lnTo>
                  <a:lnTo>
                    <a:pt x="36321" y="966009"/>
                  </a:lnTo>
                  <a:lnTo>
                    <a:pt x="75759" y="987347"/>
                  </a:lnTo>
                  <a:lnTo>
                    <a:pt x="124079" y="995172"/>
                  </a:lnTo>
                  <a:lnTo>
                    <a:pt x="1828927" y="995172"/>
                  </a:lnTo>
                  <a:lnTo>
                    <a:pt x="1877246" y="987347"/>
                  </a:lnTo>
                  <a:lnTo>
                    <a:pt x="1916683" y="966009"/>
                  </a:lnTo>
                  <a:lnTo>
                    <a:pt x="1943262" y="934360"/>
                  </a:lnTo>
                  <a:lnTo>
                    <a:pt x="1953006" y="895604"/>
                  </a:lnTo>
                  <a:lnTo>
                    <a:pt x="1953006" y="99568"/>
                  </a:lnTo>
                  <a:lnTo>
                    <a:pt x="1943262" y="60811"/>
                  </a:lnTo>
                  <a:lnTo>
                    <a:pt x="1916683" y="29162"/>
                  </a:lnTo>
                  <a:lnTo>
                    <a:pt x="1877246" y="7824"/>
                  </a:lnTo>
                  <a:lnTo>
                    <a:pt x="1828927" y="0"/>
                  </a:lnTo>
                  <a:close/>
                </a:path>
              </a:pathLst>
            </a:custGeom>
            <a:solidFill>
              <a:srgbClr val="FFFFFF">
                <a:alpha val="90194"/>
              </a:srgbClr>
            </a:solidFill>
          </p:spPr>
          <p:txBody>
            <a:bodyPr wrap="square" lIns="0" tIns="0" rIns="0" bIns="0" rtlCol="0"/>
            <a:lstStyle/>
            <a:p>
              <a:endParaRPr/>
            </a:p>
          </p:txBody>
        </p:sp>
        <p:sp>
          <p:nvSpPr>
            <p:cNvPr id="35" name="object 35"/>
            <p:cNvSpPr/>
            <p:nvPr/>
          </p:nvSpPr>
          <p:spPr>
            <a:xfrm>
              <a:off x="7118984" y="4482465"/>
              <a:ext cx="1953260" cy="995680"/>
            </a:xfrm>
            <a:custGeom>
              <a:avLst/>
              <a:gdLst/>
              <a:ahLst/>
              <a:cxnLst/>
              <a:rect l="l" t="t" r="r" b="b"/>
              <a:pathLst>
                <a:path w="1953259" h="995679">
                  <a:moveTo>
                    <a:pt x="0" y="99568"/>
                  </a:moveTo>
                  <a:lnTo>
                    <a:pt x="9743" y="60811"/>
                  </a:lnTo>
                  <a:lnTo>
                    <a:pt x="36322" y="29162"/>
                  </a:lnTo>
                  <a:lnTo>
                    <a:pt x="75759" y="7824"/>
                  </a:lnTo>
                  <a:lnTo>
                    <a:pt x="124079" y="0"/>
                  </a:lnTo>
                  <a:lnTo>
                    <a:pt x="1828927" y="0"/>
                  </a:lnTo>
                  <a:lnTo>
                    <a:pt x="1877246" y="7824"/>
                  </a:lnTo>
                  <a:lnTo>
                    <a:pt x="1916683" y="29162"/>
                  </a:lnTo>
                  <a:lnTo>
                    <a:pt x="1943262" y="60811"/>
                  </a:lnTo>
                  <a:lnTo>
                    <a:pt x="1953006" y="99568"/>
                  </a:lnTo>
                  <a:lnTo>
                    <a:pt x="1953006" y="895604"/>
                  </a:lnTo>
                  <a:lnTo>
                    <a:pt x="1943262" y="934360"/>
                  </a:lnTo>
                  <a:lnTo>
                    <a:pt x="1916683" y="966009"/>
                  </a:lnTo>
                  <a:lnTo>
                    <a:pt x="1877246" y="987347"/>
                  </a:lnTo>
                  <a:lnTo>
                    <a:pt x="1828927" y="995172"/>
                  </a:lnTo>
                  <a:lnTo>
                    <a:pt x="124079" y="995172"/>
                  </a:lnTo>
                  <a:lnTo>
                    <a:pt x="75759" y="987347"/>
                  </a:lnTo>
                  <a:lnTo>
                    <a:pt x="36321" y="966009"/>
                  </a:lnTo>
                  <a:lnTo>
                    <a:pt x="9743" y="934360"/>
                  </a:lnTo>
                  <a:lnTo>
                    <a:pt x="0" y="895604"/>
                  </a:lnTo>
                  <a:lnTo>
                    <a:pt x="0" y="99568"/>
                  </a:lnTo>
                  <a:close/>
                </a:path>
              </a:pathLst>
            </a:custGeom>
            <a:ln w="25146">
              <a:solidFill>
                <a:srgbClr val="4F81BC"/>
              </a:solidFill>
            </a:ln>
          </p:spPr>
          <p:txBody>
            <a:bodyPr wrap="square" lIns="0" tIns="0" rIns="0" bIns="0" rtlCol="0"/>
            <a:lstStyle/>
            <a:p>
              <a:endParaRPr/>
            </a:p>
          </p:txBody>
        </p:sp>
      </p:grpSp>
      <p:sp>
        <p:nvSpPr>
          <p:cNvPr id="36" name="object 36"/>
          <p:cNvSpPr txBox="1"/>
          <p:nvPr/>
        </p:nvSpPr>
        <p:spPr>
          <a:xfrm>
            <a:off x="7329678" y="4733797"/>
            <a:ext cx="1531620" cy="459740"/>
          </a:xfrm>
          <a:prstGeom prst="rect">
            <a:avLst/>
          </a:prstGeom>
        </p:spPr>
        <p:txBody>
          <a:bodyPr vert="horz" wrap="square" lIns="0" tIns="38100" rIns="0" bIns="0" rtlCol="0">
            <a:spAutoFit/>
          </a:bodyPr>
          <a:lstStyle/>
          <a:p>
            <a:pPr marL="12700" marR="5080" indent="265430">
              <a:lnSpc>
                <a:spcPts val="1620"/>
              </a:lnSpc>
              <a:spcBef>
                <a:spcPts val="300"/>
              </a:spcBef>
            </a:pPr>
            <a:r>
              <a:rPr sz="1500" spc="-5" dirty="0">
                <a:latin typeface="Arial"/>
                <a:cs typeface="Arial"/>
              </a:rPr>
              <a:t>DTU-based  purchasing</a:t>
            </a:r>
            <a:r>
              <a:rPr sz="1500" spc="-10" dirty="0">
                <a:latin typeface="Arial"/>
                <a:cs typeface="Arial"/>
              </a:rPr>
              <a:t> </a:t>
            </a:r>
            <a:r>
              <a:rPr sz="1500" spc="-5" dirty="0">
                <a:latin typeface="Arial"/>
                <a:cs typeface="Arial"/>
              </a:rPr>
              <a:t>model</a:t>
            </a:r>
            <a:endParaRPr sz="1500">
              <a:latin typeface="Arial"/>
              <a:cs typeface="Arial"/>
            </a:endParaRPr>
          </a:p>
        </p:txBody>
      </p:sp>
      <p:sp>
        <p:nvSpPr>
          <p:cNvPr id="38" name="object 38"/>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13</a:t>
            </a:fld>
            <a:endParaRPr sz="1800" baseline="2314"/>
          </a:p>
        </p:txBody>
      </p:sp>
      <p:sp>
        <p:nvSpPr>
          <p:cNvPr id="39" name="object 39"/>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40" name="object 40"/>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549515" cy="574040"/>
          </a:xfrm>
          <a:prstGeom prst="rect">
            <a:avLst/>
          </a:prstGeom>
        </p:spPr>
        <p:txBody>
          <a:bodyPr vert="horz" wrap="square" lIns="0" tIns="12700" rIns="0" bIns="0" rtlCol="0">
            <a:spAutoFit/>
          </a:bodyPr>
          <a:lstStyle/>
          <a:p>
            <a:pPr marL="12700">
              <a:lnSpc>
                <a:spcPct val="100000"/>
              </a:lnSpc>
              <a:spcBef>
                <a:spcPts val="100"/>
              </a:spcBef>
            </a:pPr>
            <a:r>
              <a:rPr sz="3600" spc="235" dirty="0"/>
              <a:t>Connect</a:t>
            </a:r>
            <a:r>
              <a:rPr sz="3600" spc="-155" dirty="0"/>
              <a:t> </a:t>
            </a:r>
            <a:r>
              <a:rPr sz="3600" spc="200" dirty="0"/>
              <a:t>to</a:t>
            </a:r>
            <a:r>
              <a:rPr sz="3600" spc="-135" dirty="0"/>
              <a:t> </a:t>
            </a:r>
            <a:r>
              <a:rPr sz="3600" spc="175" dirty="0"/>
              <a:t>SQL</a:t>
            </a:r>
            <a:r>
              <a:rPr sz="3600" spc="-135" dirty="0"/>
              <a:t> </a:t>
            </a:r>
            <a:r>
              <a:rPr sz="3600" spc="114" dirty="0"/>
              <a:t>Azure</a:t>
            </a:r>
            <a:r>
              <a:rPr sz="3600" spc="-140" dirty="0"/>
              <a:t> </a:t>
            </a:r>
            <a:r>
              <a:rPr sz="3600" spc="160" dirty="0"/>
              <a:t>with</a:t>
            </a:r>
            <a:r>
              <a:rPr sz="3600" spc="-150" dirty="0"/>
              <a:t> </a:t>
            </a:r>
            <a:r>
              <a:rPr sz="3600" spc="130" dirty="0"/>
              <a:t>SSMS</a:t>
            </a:r>
            <a:r>
              <a:rPr sz="3600" spc="-120" dirty="0"/>
              <a:t> </a:t>
            </a:r>
            <a:r>
              <a:rPr sz="3600" spc="-180" dirty="0"/>
              <a:t>1-4</a:t>
            </a:r>
            <a:endParaRPr sz="3600"/>
          </a:p>
        </p:txBody>
      </p:sp>
      <p:sp>
        <p:nvSpPr>
          <p:cNvPr id="3" name="object 3"/>
          <p:cNvSpPr txBox="1"/>
          <p:nvPr/>
        </p:nvSpPr>
        <p:spPr>
          <a:xfrm>
            <a:off x="459740" y="1046479"/>
            <a:ext cx="4399280" cy="39116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4330" algn="l"/>
              </a:tabLst>
            </a:pPr>
            <a:r>
              <a:rPr sz="2400" dirty="0">
                <a:latin typeface="Goudy Old Style"/>
                <a:cs typeface="Goudy Old Style"/>
              </a:rPr>
              <a:t>Creating a </a:t>
            </a:r>
            <a:r>
              <a:rPr sz="2400" spc="-5" dirty="0">
                <a:latin typeface="Goudy Old Style"/>
                <a:cs typeface="Goudy Old Style"/>
              </a:rPr>
              <a:t>database on </a:t>
            </a:r>
            <a:r>
              <a:rPr sz="2400" dirty="0">
                <a:latin typeface="Goudy Old Style"/>
                <a:cs typeface="Goudy Old Style"/>
              </a:rPr>
              <a:t>the</a:t>
            </a:r>
            <a:r>
              <a:rPr sz="2400" spc="-55" dirty="0">
                <a:latin typeface="Goudy Old Style"/>
                <a:cs typeface="Goudy Old Style"/>
              </a:rPr>
              <a:t> </a:t>
            </a:r>
            <a:r>
              <a:rPr sz="2400" spc="-5" dirty="0">
                <a:latin typeface="Goudy Old Style"/>
                <a:cs typeface="Goudy Old Style"/>
              </a:rPr>
              <a:t>cloud:</a:t>
            </a:r>
            <a:endParaRPr sz="2400">
              <a:latin typeface="Goudy Old Style"/>
              <a:cs typeface="Goudy Old Style"/>
            </a:endParaRPr>
          </a:p>
        </p:txBody>
      </p:sp>
      <p:grpSp>
        <p:nvGrpSpPr>
          <p:cNvPr id="4" name="object 4"/>
          <p:cNvGrpSpPr/>
          <p:nvPr/>
        </p:nvGrpSpPr>
        <p:grpSpPr>
          <a:xfrm>
            <a:off x="588137" y="1752473"/>
            <a:ext cx="627380" cy="984885"/>
            <a:chOff x="588137" y="1752473"/>
            <a:chExt cx="627380" cy="984885"/>
          </a:xfrm>
        </p:grpSpPr>
        <p:sp>
          <p:nvSpPr>
            <p:cNvPr id="5" name="object 5"/>
            <p:cNvSpPr/>
            <p:nvPr/>
          </p:nvSpPr>
          <p:spPr>
            <a:xfrm>
              <a:off x="600837" y="1765173"/>
              <a:ext cx="601980" cy="959485"/>
            </a:xfrm>
            <a:custGeom>
              <a:avLst/>
              <a:gdLst/>
              <a:ahLst/>
              <a:cxnLst/>
              <a:rect l="l" t="t" r="r" b="b"/>
              <a:pathLst>
                <a:path w="601980" h="959485">
                  <a:moveTo>
                    <a:pt x="601980" y="0"/>
                  </a:moveTo>
                  <a:lnTo>
                    <a:pt x="300990" y="335788"/>
                  </a:lnTo>
                  <a:lnTo>
                    <a:pt x="0" y="0"/>
                  </a:lnTo>
                  <a:lnTo>
                    <a:pt x="0" y="623570"/>
                  </a:lnTo>
                  <a:lnTo>
                    <a:pt x="300990" y="959358"/>
                  </a:lnTo>
                  <a:lnTo>
                    <a:pt x="601980" y="623570"/>
                  </a:lnTo>
                  <a:lnTo>
                    <a:pt x="601980" y="0"/>
                  </a:lnTo>
                  <a:close/>
                </a:path>
              </a:pathLst>
            </a:custGeom>
            <a:solidFill>
              <a:srgbClr val="4AACC5"/>
            </a:solidFill>
          </p:spPr>
          <p:txBody>
            <a:bodyPr wrap="square" lIns="0" tIns="0" rIns="0" bIns="0" rtlCol="0"/>
            <a:lstStyle/>
            <a:p>
              <a:endParaRPr/>
            </a:p>
          </p:txBody>
        </p:sp>
        <p:sp>
          <p:nvSpPr>
            <p:cNvPr id="6" name="object 6"/>
            <p:cNvSpPr/>
            <p:nvPr/>
          </p:nvSpPr>
          <p:spPr>
            <a:xfrm>
              <a:off x="600837" y="1765173"/>
              <a:ext cx="601980" cy="959485"/>
            </a:xfrm>
            <a:custGeom>
              <a:avLst/>
              <a:gdLst/>
              <a:ahLst/>
              <a:cxnLst/>
              <a:rect l="l" t="t" r="r" b="b"/>
              <a:pathLst>
                <a:path w="601980" h="959485">
                  <a:moveTo>
                    <a:pt x="601980" y="0"/>
                  </a:moveTo>
                  <a:lnTo>
                    <a:pt x="601980" y="623570"/>
                  </a:lnTo>
                  <a:lnTo>
                    <a:pt x="300990" y="959358"/>
                  </a:lnTo>
                  <a:lnTo>
                    <a:pt x="0" y="623570"/>
                  </a:lnTo>
                  <a:lnTo>
                    <a:pt x="0" y="0"/>
                  </a:lnTo>
                  <a:lnTo>
                    <a:pt x="300990" y="335788"/>
                  </a:lnTo>
                  <a:lnTo>
                    <a:pt x="601980" y="0"/>
                  </a:lnTo>
                  <a:close/>
                </a:path>
              </a:pathLst>
            </a:custGeom>
            <a:ln w="25146">
              <a:solidFill>
                <a:srgbClr val="4AACC5"/>
              </a:solidFill>
            </a:ln>
          </p:spPr>
          <p:txBody>
            <a:bodyPr wrap="square" lIns="0" tIns="0" rIns="0" bIns="0" rtlCol="0"/>
            <a:lstStyle/>
            <a:p>
              <a:endParaRPr/>
            </a:p>
          </p:txBody>
        </p:sp>
      </p:grpSp>
      <p:sp>
        <p:nvSpPr>
          <p:cNvPr id="7" name="object 7"/>
          <p:cNvSpPr txBox="1"/>
          <p:nvPr/>
        </p:nvSpPr>
        <p:spPr>
          <a:xfrm>
            <a:off x="831596" y="2069084"/>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Goudy Old Style"/>
                <a:cs typeface="Goudy Old Style"/>
              </a:rPr>
              <a:t>1</a:t>
            </a:r>
            <a:endParaRPr sz="1800">
              <a:latin typeface="Goudy Old Style"/>
              <a:cs typeface="Goudy Old Style"/>
            </a:endParaRPr>
          </a:p>
        </p:txBody>
      </p:sp>
      <p:grpSp>
        <p:nvGrpSpPr>
          <p:cNvPr id="8" name="object 8"/>
          <p:cNvGrpSpPr/>
          <p:nvPr/>
        </p:nvGrpSpPr>
        <p:grpSpPr>
          <a:xfrm>
            <a:off x="1190116" y="1752473"/>
            <a:ext cx="7510145" cy="649605"/>
            <a:chOff x="1190116" y="1752473"/>
            <a:chExt cx="7510145" cy="649605"/>
          </a:xfrm>
        </p:grpSpPr>
        <p:sp>
          <p:nvSpPr>
            <p:cNvPr id="9" name="object 9"/>
            <p:cNvSpPr/>
            <p:nvPr/>
          </p:nvSpPr>
          <p:spPr>
            <a:xfrm>
              <a:off x="1202816" y="1765173"/>
              <a:ext cx="7484745" cy="624205"/>
            </a:xfrm>
            <a:custGeom>
              <a:avLst/>
              <a:gdLst/>
              <a:ahLst/>
              <a:cxnLst/>
              <a:rect l="l" t="t" r="r" b="b"/>
              <a:pathLst>
                <a:path w="7484745" h="624205">
                  <a:moveTo>
                    <a:pt x="7391146" y="0"/>
                  </a:moveTo>
                  <a:lnTo>
                    <a:pt x="0" y="0"/>
                  </a:lnTo>
                  <a:lnTo>
                    <a:pt x="0" y="624078"/>
                  </a:lnTo>
                  <a:lnTo>
                    <a:pt x="7391146" y="624078"/>
                  </a:lnTo>
                  <a:lnTo>
                    <a:pt x="7427410" y="615898"/>
                  </a:lnTo>
                  <a:lnTo>
                    <a:pt x="7457043" y="593597"/>
                  </a:lnTo>
                  <a:lnTo>
                    <a:pt x="7477031" y="560534"/>
                  </a:lnTo>
                  <a:lnTo>
                    <a:pt x="7484364" y="520064"/>
                  </a:lnTo>
                  <a:lnTo>
                    <a:pt x="7484364" y="104012"/>
                  </a:lnTo>
                  <a:lnTo>
                    <a:pt x="7477031" y="63543"/>
                  </a:lnTo>
                  <a:lnTo>
                    <a:pt x="7457043" y="30479"/>
                  </a:lnTo>
                  <a:lnTo>
                    <a:pt x="7427410" y="8179"/>
                  </a:lnTo>
                  <a:lnTo>
                    <a:pt x="7391146" y="0"/>
                  </a:lnTo>
                  <a:close/>
                </a:path>
              </a:pathLst>
            </a:custGeom>
            <a:solidFill>
              <a:srgbClr val="FFFFFF">
                <a:alpha val="90194"/>
              </a:srgbClr>
            </a:solidFill>
          </p:spPr>
          <p:txBody>
            <a:bodyPr wrap="square" lIns="0" tIns="0" rIns="0" bIns="0" rtlCol="0"/>
            <a:lstStyle/>
            <a:p>
              <a:endParaRPr/>
            </a:p>
          </p:txBody>
        </p:sp>
        <p:sp>
          <p:nvSpPr>
            <p:cNvPr id="10" name="object 10"/>
            <p:cNvSpPr/>
            <p:nvPr/>
          </p:nvSpPr>
          <p:spPr>
            <a:xfrm>
              <a:off x="1202816" y="1765173"/>
              <a:ext cx="7484745" cy="624205"/>
            </a:xfrm>
            <a:custGeom>
              <a:avLst/>
              <a:gdLst/>
              <a:ahLst/>
              <a:cxnLst/>
              <a:rect l="l" t="t" r="r" b="b"/>
              <a:pathLst>
                <a:path w="7484745" h="624205">
                  <a:moveTo>
                    <a:pt x="7484364" y="104012"/>
                  </a:moveTo>
                  <a:lnTo>
                    <a:pt x="7484364" y="520064"/>
                  </a:lnTo>
                  <a:lnTo>
                    <a:pt x="7477031" y="560534"/>
                  </a:lnTo>
                  <a:lnTo>
                    <a:pt x="7457043" y="593597"/>
                  </a:lnTo>
                  <a:lnTo>
                    <a:pt x="7427410" y="615898"/>
                  </a:lnTo>
                  <a:lnTo>
                    <a:pt x="7391146" y="624078"/>
                  </a:lnTo>
                  <a:lnTo>
                    <a:pt x="0" y="624078"/>
                  </a:lnTo>
                  <a:lnTo>
                    <a:pt x="0" y="0"/>
                  </a:lnTo>
                  <a:lnTo>
                    <a:pt x="7391146" y="0"/>
                  </a:lnTo>
                  <a:lnTo>
                    <a:pt x="7427410" y="8179"/>
                  </a:lnTo>
                  <a:lnTo>
                    <a:pt x="7457043" y="30479"/>
                  </a:lnTo>
                  <a:lnTo>
                    <a:pt x="7477031" y="63543"/>
                  </a:lnTo>
                  <a:lnTo>
                    <a:pt x="7484364" y="104012"/>
                  </a:lnTo>
                  <a:close/>
                </a:path>
              </a:pathLst>
            </a:custGeom>
            <a:ln w="25146">
              <a:solidFill>
                <a:srgbClr val="4AACC5"/>
              </a:solidFill>
            </a:ln>
          </p:spPr>
          <p:txBody>
            <a:bodyPr wrap="square" lIns="0" tIns="0" rIns="0" bIns="0" rtlCol="0"/>
            <a:lstStyle/>
            <a:p>
              <a:endParaRPr/>
            </a:p>
          </p:txBody>
        </p:sp>
      </p:grpSp>
      <p:sp>
        <p:nvSpPr>
          <p:cNvPr id="11" name="object 11"/>
          <p:cNvSpPr txBox="1"/>
          <p:nvPr/>
        </p:nvSpPr>
        <p:spPr>
          <a:xfrm>
            <a:off x="1303782" y="1808733"/>
            <a:ext cx="7043420" cy="489584"/>
          </a:xfrm>
          <a:prstGeom prst="rect">
            <a:avLst/>
          </a:prstGeom>
        </p:spPr>
        <p:txBody>
          <a:bodyPr vert="horz" wrap="square" lIns="0" tIns="13335" rIns="0" bIns="0" rtlCol="0">
            <a:spAutoFit/>
          </a:bodyPr>
          <a:lstStyle/>
          <a:p>
            <a:pPr marL="184150" indent="-171450">
              <a:lnSpc>
                <a:spcPts val="1825"/>
              </a:lnSpc>
              <a:spcBef>
                <a:spcPts val="105"/>
              </a:spcBef>
              <a:buFont typeface="Arial"/>
              <a:buChar char="•"/>
              <a:tabLst>
                <a:tab pos="184150" algn="l"/>
              </a:tabLst>
            </a:pPr>
            <a:r>
              <a:rPr sz="1600" spc="-15" dirty="0">
                <a:latin typeface="Goudy Old Style"/>
                <a:cs typeface="Goudy Old Style"/>
              </a:rPr>
              <a:t>Type </a:t>
            </a:r>
            <a:r>
              <a:rPr sz="1600" dirty="0">
                <a:latin typeface="Goudy Old Style"/>
                <a:cs typeface="Goudy Old Style"/>
              </a:rPr>
              <a:t>the </a:t>
            </a:r>
            <a:r>
              <a:rPr sz="1600" spc="-10" dirty="0">
                <a:latin typeface="Goudy Old Style"/>
                <a:cs typeface="Goudy Old Style"/>
              </a:rPr>
              <a:t>address</a:t>
            </a:r>
            <a:r>
              <a:rPr sz="1600" spc="-10" dirty="0">
                <a:solidFill>
                  <a:srgbClr val="0000FF"/>
                </a:solidFill>
                <a:latin typeface="Goudy Old Style"/>
                <a:cs typeface="Goudy Old Style"/>
                <a:hlinkClick r:id="rId3"/>
              </a:rPr>
              <a:t> </a:t>
            </a:r>
            <a:r>
              <a:rPr sz="1600" u="sng" dirty="0">
                <a:solidFill>
                  <a:srgbClr val="0000FF"/>
                </a:solidFill>
                <a:uFill>
                  <a:solidFill>
                    <a:srgbClr val="0000FF"/>
                  </a:solidFill>
                </a:uFill>
                <a:latin typeface="Goudy Old Style"/>
                <a:cs typeface="Goudy Old Style"/>
                <a:hlinkClick r:id="rId3"/>
              </a:rPr>
              <a:t>http://portal.azure.com</a:t>
            </a:r>
            <a:r>
              <a:rPr sz="1600" dirty="0">
                <a:solidFill>
                  <a:srgbClr val="0000FF"/>
                </a:solidFill>
                <a:latin typeface="Goudy Old Style"/>
                <a:cs typeface="Goudy Old Style"/>
                <a:hlinkClick r:id="rId3"/>
              </a:rPr>
              <a:t> </a:t>
            </a:r>
            <a:r>
              <a:rPr sz="1600" dirty="0">
                <a:latin typeface="Goudy Old Style"/>
                <a:cs typeface="Goudy Old Style"/>
              </a:rPr>
              <a:t>in the </a:t>
            </a:r>
            <a:r>
              <a:rPr sz="1600" spc="-10" dirty="0">
                <a:latin typeface="Goudy Old Style"/>
                <a:cs typeface="Goudy Old Style"/>
              </a:rPr>
              <a:t>Address </a:t>
            </a:r>
            <a:r>
              <a:rPr sz="1600" dirty="0">
                <a:latin typeface="Goudy Old Style"/>
                <a:cs typeface="Goudy Old Style"/>
              </a:rPr>
              <a:t>bar </a:t>
            </a:r>
            <a:r>
              <a:rPr sz="1600" spc="-5" dirty="0">
                <a:latin typeface="Goudy Old Style"/>
                <a:cs typeface="Goudy Old Style"/>
              </a:rPr>
              <a:t>of </a:t>
            </a:r>
            <a:r>
              <a:rPr sz="1600" spc="-10" dirty="0">
                <a:latin typeface="Goudy Old Style"/>
                <a:cs typeface="Goudy Old Style"/>
              </a:rPr>
              <a:t>your browser </a:t>
            </a:r>
            <a:r>
              <a:rPr sz="1600" spc="-5" dirty="0">
                <a:latin typeface="Goudy Old Style"/>
                <a:cs typeface="Goudy Old Style"/>
              </a:rPr>
              <a:t>and</a:t>
            </a:r>
            <a:r>
              <a:rPr sz="1600" spc="45" dirty="0">
                <a:latin typeface="Goudy Old Style"/>
                <a:cs typeface="Goudy Old Style"/>
              </a:rPr>
              <a:t> </a:t>
            </a:r>
            <a:r>
              <a:rPr sz="1600" dirty="0">
                <a:latin typeface="Goudy Old Style"/>
                <a:cs typeface="Goudy Old Style"/>
              </a:rPr>
              <a:t>sign</a:t>
            </a:r>
            <a:endParaRPr sz="1600">
              <a:latin typeface="Goudy Old Style"/>
              <a:cs typeface="Goudy Old Style"/>
            </a:endParaRPr>
          </a:p>
          <a:p>
            <a:pPr marL="184150">
              <a:lnSpc>
                <a:spcPts val="1825"/>
              </a:lnSpc>
            </a:pPr>
            <a:r>
              <a:rPr sz="1600" dirty="0">
                <a:latin typeface="Goudy Old Style"/>
                <a:cs typeface="Goudy Old Style"/>
              </a:rPr>
              <a:t>up/sign</a:t>
            </a:r>
            <a:r>
              <a:rPr sz="1600" spc="-20" dirty="0">
                <a:latin typeface="Goudy Old Style"/>
                <a:cs typeface="Goudy Old Style"/>
              </a:rPr>
              <a:t> </a:t>
            </a:r>
            <a:r>
              <a:rPr sz="1600" dirty="0">
                <a:latin typeface="Goudy Old Style"/>
                <a:cs typeface="Goudy Old Style"/>
              </a:rPr>
              <a:t>in.</a:t>
            </a:r>
            <a:endParaRPr sz="1600">
              <a:latin typeface="Goudy Old Style"/>
              <a:cs typeface="Goudy Old Style"/>
            </a:endParaRPr>
          </a:p>
        </p:txBody>
      </p:sp>
      <p:grpSp>
        <p:nvGrpSpPr>
          <p:cNvPr id="12" name="object 12"/>
          <p:cNvGrpSpPr/>
          <p:nvPr/>
        </p:nvGrpSpPr>
        <p:grpSpPr>
          <a:xfrm>
            <a:off x="588137" y="2551810"/>
            <a:ext cx="627380" cy="984885"/>
            <a:chOff x="588137" y="2551810"/>
            <a:chExt cx="627380" cy="984885"/>
          </a:xfrm>
        </p:grpSpPr>
        <p:sp>
          <p:nvSpPr>
            <p:cNvPr id="13" name="object 13"/>
            <p:cNvSpPr/>
            <p:nvPr/>
          </p:nvSpPr>
          <p:spPr>
            <a:xfrm>
              <a:off x="600837" y="2564510"/>
              <a:ext cx="601980" cy="959485"/>
            </a:xfrm>
            <a:custGeom>
              <a:avLst/>
              <a:gdLst/>
              <a:ahLst/>
              <a:cxnLst/>
              <a:rect l="l" t="t" r="r" b="b"/>
              <a:pathLst>
                <a:path w="601980" h="959485">
                  <a:moveTo>
                    <a:pt x="601980" y="0"/>
                  </a:moveTo>
                  <a:lnTo>
                    <a:pt x="300990" y="335788"/>
                  </a:lnTo>
                  <a:lnTo>
                    <a:pt x="0" y="0"/>
                  </a:lnTo>
                  <a:lnTo>
                    <a:pt x="0" y="623570"/>
                  </a:lnTo>
                  <a:lnTo>
                    <a:pt x="300990" y="959358"/>
                  </a:lnTo>
                  <a:lnTo>
                    <a:pt x="601980" y="623570"/>
                  </a:lnTo>
                  <a:lnTo>
                    <a:pt x="601980" y="0"/>
                  </a:lnTo>
                  <a:close/>
                </a:path>
              </a:pathLst>
            </a:custGeom>
            <a:solidFill>
              <a:srgbClr val="47D391"/>
            </a:solidFill>
          </p:spPr>
          <p:txBody>
            <a:bodyPr wrap="square" lIns="0" tIns="0" rIns="0" bIns="0" rtlCol="0"/>
            <a:lstStyle/>
            <a:p>
              <a:endParaRPr/>
            </a:p>
          </p:txBody>
        </p:sp>
        <p:sp>
          <p:nvSpPr>
            <p:cNvPr id="14" name="object 14"/>
            <p:cNvSpPr/>
            <p:nvPr/>
          </p:nvSpPr>
          <p:spPr>
            <a:xfrm>
              <a:off x="600837" y="2564510"/>
              <a:ext cx="601980" cy="959485"/>
            </a:xfrm>
            <a:custGeom>
              <a:avLst/>
              <a:gdLst/>
              <a:ahLst/>
              <a:cxnLst/>
              <a:rect l="l" t="t" r="r" b="b"/>
              <a:pathLst>
                <a:path w="601980" h="959485">
                  <a:moveTo>
                    <a:pt x="601980" y="0"/>
                  </a:moveTo>
                  <a:lnTo>
                    <a:pt x="601980" y="623570"/>
                  </a:lnTo>
                  <a:lnTo>
                    <a:pt x="300990" y="959358"/>
                  </a:lnTo>
                  <a:lnTo>
                    <a:pt x="0" y="623570"/>
                  </a:lnTo>
                  <a:lnTo>
                    <a:pt x="0" y="0"/>
                  </a:lnTo>
                  <a:lnTo>
                    <a:pt x="300990" y="335788"/>
                  </a:lnTo>
                  <a:lnTo>
                    <a:pt x="601980" y="0"/>
                  </a:lnTo>
                  <a:close/>
                </a:path>
              </a:pathLst>
            </a:custGeom>
            <a:ln w="25146">
              <a:solidFill>
                <a:srgbClr val="47D391"/>
              </a:solidFill>
            </a:ln>
          </p:spPr>
          <p:txBody>
            <a:bodyPr wrap="square" lIns="0" tIns="0" rIns="0" bIns="0" rtlCol="0"/>
            <a:lstStyle/>
            <a:p>
              <a:endParaRPr/>
            </a:p>
          </p:txBody>
        </p:sp>
      </p:grpSp>
      <p:sp>
        <p:nvSpPr>
          <p:cNvPr id="15" name="object 15"/>
          <p:cNvSpPr txBox="1"/>
          <p:nvPr/>
        </p:nvSpPr>
        <p:spPr>
          <a:xfrm>
            <a:off x="831596" y="2868167"/>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Goudy Old Style"/>
                <a:cs typeface="Goudy Old Style"/>
              </a:rPr>
              <a:t>2</a:t>
            </a:r>
            <a:endParaRPr sz="1800">
              <a:latin typeface="Goudy Old Style"/>
              <a:cs typeface="Goudy Old Style"/>
            </a:endParaRPr>
          </a:p>
        </p:txBody>
      </p:sp>
      <p:grpSp>
        <p:nvGrpSpPr>
          <p:cNvPr id="16" name="object 16"/>
          <p:cNvGrpSpPr/>
          <p:nvPr/>
        </p:nvGrpSpPr>
        <p:grpSpPr>
          <a:xfrm>
            <a:off x="1190116" y="2551810"/>
            <a:ext cx="7510145" cy="648970"/>
            <a:chOff x="1190116" y="2551810"/>
            <a:chExt cx="7510145" cy="648970"/>
          </a:xfrm>
        </p:grpSpPr>
        <p:sp>
          <p:nvSpPr>
            <p:cNvPr id="17" name="object 17"/>
            <p:cNvSpPr/>
            <p:nvPr/>
          </p:nvSpPr>
          <p:spPr>
            <a:xfrm>
              <a:off x="1202816" y="2564510"/>
              <a:ext cx="7484745" cy="623570"/>
            </a:xfrm>
            <a:custGeom>
              <a:avLst/>
              <a:gdLst/>
              <a:ahLst/>
              <a:cxnLst/>
              <a:rect l="l" t="t" r="r" b="b"/>
              <a:pathLst>
                <a:path w="7484745" h="623569">
                  <a:moveTo>
                    <a:pt x="7391146" y="0"/>
                  </a:moveTo>
                  <a:lnTo>
                    <a:pt x="0" y="0"/>
                  </a:lnTo>
                  <a:lnTo>
                    <a:pt x="0" y="623316"/>
                  </a:lnTo>
                  <a:lnTo>
                    <a:pt x="7391146" y="623316"/>
                  </a:lnTo>
                  <a:lnTo>
                    <a:pt x="7427410" y="615156"/>
                  </a:lnTo>
                  <a:lnTo>
                    <a:pt x="7457043" y="592899"/>
                  </a:lnTo>
                  <a:lnTo>
                    <a:pt x="7477031" y="559879"/>
                  </a:lnTo>
                  <a:lnTo>
                    <a:pt x="7484364" y="519430"/>
                  </a:lnTo>
                  <a:lnTo>
                    <a:pt x="7484364" y="103886"/>
                  </a:lnTo>
                  <a:lnTo>
                    <a:pt x="7477031" y="63436"/>
                  </a:lnTo>
                  <a:lnTo>
                    <a:pt x="7457043" y="30416"/>
                  </a:lnTo>
                  <a:lnTo>
                    <a:pt x="7427410" y="8159"/>
                  </a:lnTo>
                  <a:lnTo>
                    <a:pt x="7391146" y="0"/>
                  </a:lnTo>
                  <a:close/>
                </a:path>
              </a:pathLst>
            </a:custGeom>
            <a:solidFill>
              <a:srgbClr val="FFFFFF">
                <a:alpha val="90194"/>
              </a:srgbClr>
            </a:solidFill>
          </p:spPr>
          <p:txBody>
            <a:bodyPr wrap="square" lIns="0" tIns="0" rIns="0" bIns="0" rtlCol="0"/>
            <a:lstStyle/>
            <a:p>
              <a:endParaRPr/>
            </a:p>
          </p:txBody>
        </p:sp>
        <p:sp>
          <p:nvSpPr>
            <p:cNvPr id="18" name="object 18"/>
            <p:cNvSpPr/>
            <p:nvPr/>
          </p:nvSpPr>
          <p:spPr>
            <a:xfrm>
              <a:off x="1202816" y="2564510"/>
              <a:ext cx="7484745" cy="623570"/>
            </a:xfrm>
            <a:custGeom>
              <a:avLst/>
              <a:gdLst/>
              <a:ahLst/>
              <a:cxnLst/>
              <a:rect l="l" t="t" r="r" b="b"/>
              <a:pathLst>
                <a:path w="7484745" h="623569">
                  <a:moveTo>
                    <a:pt x="7484364" y="103886"/>
                  </a:moveTo>
                  <a:lnTo>
                    <a:pt x="7484364" y="519430"/>
                  </a:lnTo>
                  <a:lnTo>
                    <a:pt x="7477031" y="559879"/>
                  </a:lnTo>
                  <a:lnTo>
                    <a:pt x="7457043" y="592899"/>
                  </a:lnTo>
                  <a:lnTo>
                    <a:pt x="7427410" y="615156"/>
                  </a:lnTo>
                  <a:lnTo>
                    <a:pt x="7391146" y="623316"/>
                  </a:lnTo>
                  <a:lnTo>
                    <a:pt x="0" y="623316"/>
                  </a:lnTo>
                  <a:lnTo>
                    <a:pt x="0" y="0"/>
                  </a:lnTo>
                  <a:lnTo>
                    <a:pt x="7391146" y="0"/>
                  </a:lnTo>
                  <a:lnTo>
                    <a:pt x="7427410" y="8159"/>
                  </a:lnTo>
                  <a:lnTo>
                    <a:pt x="7457043" y="30416"/>
                  </a:lnTo>
                  <a:lnTo>
                    <a:pt x="7477031" y="63436"/>
                  </a:lnTo>
                  <a:lnTo>
                    <a:pt x="7484364" y="103886"/>
                  </a:lnTo>
                  <a:close/>
                </a:path>
              </a:pathLst>
            </a:custGeom>
            <a:ln w="25146">
              <a:solidFill>
                <a:srgbClr val="47D391"/>
              </a:solidFill>
            </a:ln>
          </p:spPr>
          <p:txBody>
            <a:bodyPr wrap="square" lIns="0" tIns="0" rIns="0" bIns="0" rtlCol="0"/>
            <a:lstStyle/>
            <a:p>
              <a:endParaRPr/>
            </a:p>
          </p:txBody>
        </p:sp>
      </p:grpSp>
      <p:sp>
        <p:nvSpPr>
          <p:cNvPr id="19" name="object 19"/>
          <p:cNvSpPr txBox="1"/>
          <p:nvPr/>
        </p:nvSpPr>
        <p:spPr>
          <a:xfrm>
            <a:off x="1303782" y="2608072"/>
            <a:ext cx="7073900" cy="489584"/>
          </a:xfrm>
          <a:prstGeom prst="rect">
            <a:avLst/>
          </a:prstGeom>
        </p:spPr>
        <p:txBody>
          <a:bodyPr vert="horz" wrap="square" lIns="0" tIns="40005" rIns="0" bIns="0" rtlCol="0">
            <a:spAutoFit/>
          </a:bodyPr>
          <a:lstStyle/>
          <a:p>
            <a:pPr marL="184150" marR="5080" indent="-171450">
              <a:lnSpc>
                <a:spcPts val="1730"/>
              </a:lnSpc>
              <a:spcBef>
                <a:spcPts val="315"/>
              </a:spcBef>
              <a:buFont typeface="Arial"/>
              <a:buChar char="•"/>
              <a:tabLst>
                <a:tab pos="184150" algn="l"/>
              </a:tabLst>
            </a:pPr>
            <a:r>
              <a:rPr sz="1600" spc="-5" dirty="0">
                <a:latin typeface="Goudy Old Style"/>
                <a:cs typeface="Goudy Old Style"/>
              </a:rPr>
              <a:t>Click </a:t>
            </a:r>
            <a:r>
              <a:rPr sz="1600" b="1" dirty="0">
                <a:latin typeface="Goudy Old Style"/>
                <a:cs typeface="Goudy Old Style"/>
              </a:rPr>
              <a:t>Start </a:t>
            </a:r>
            <a:r>
              <a:rPr sz="1600" spc="-5" dirty="0">
                <a:latin typeface="Goudy Old Style"/>
                <a:cs typeface="Goudy Old Style"/>
              </a:rPr>
              <a:t>under </a:t>
            </a:r>
            <a:r>
              <a:rPr sz="1600" b="1" dirty="0">
                <a:latin typeface="Goudy Old Style"/>
                <a:cs typeface="Goudy Old Style"/>
              </a:rPr>
              <a:t>Start </a:t>
            </a:r>
            <a:r>
              <a:rPr sz="1600" b="1" spc="-5" dirty="0">
                <a:latin typeface="Goudy Old Style"/>
                <a:cs typeface="Goudy Old Style"/>
              </a:rPr>
              <a:t>with an Azure free </a:t>
            </a:r>
            <a:r>
              <a:rPr sz="1600" b="1" dirty="0">
                <a:latin typeface="Goudy Old Style"/>
                <a:cs typeface="Goudy Old Style"/>
              </a:rPr>
              <a:t>trial</a:t>
            </a:r>
            <a:r>
              <a:rPr sz="1600" dirty="0">
                <a:latin typeface="Goudy Old Style"/>
                <a:cs typeface="Goudy Old Style"/>
              </a:rPr>
              <a:t>. Fill in the </a:t>
            </a:r>
            <a:r>
              <a:rPr sz="1600" spc="-15" dirty="0">
                <a:latin typeface="Goudy Old Style"/>
                <a:cs typeface="Goudy Old Style"/>
              </a:rPr>
              <a:t>required </a:t>
            </a:r>
            <a:r>
              <a:rPr sz="1600" spc="-5" dirty="0">
                <a:latin typeface="Goudy Old Style"/>
                <a:cs typeface="Goudy Old Style"/>
              </a:rPr>
              <a:t>information </a:t>
            </a:r>
            <a:r>
              <a:rPr sz="1600" spc="-15" dirty="0">
                <a:latin typeface="Goudy Old Style"/>
                <a:cs typeface="Goudy Old Style"/>
              </a:rPr>
              <a:t>for </a:t>
            </a:r>
            <a:r>
              <a:rPr sz="1600" dirty="0">
                <a:latin typeface="Goudy Old Style"/>
                <a:cs typeface="Goudy Old Style"/>
              </a:rPr>
              <a:t>a  </a:t>
            </a:r>
            <a:r>
              <a:rPr sz="1600" spc="-5" dirty="0">
                <a:latin typeface="Goudy Old Style"/>
                <a:cs typeface="Goudy Old Style"/>
              </a:rPr>
              <a:t>new </a:t>
            </a:r>
            <a:r>
              <a:rPr sz="1600" spc="-10" dirty="0">
                <a:latin typeface="Goudy Old Style"/>
                <a:cs typeface="Goudy Old Style"/>
              </a:rPr>
              <a:t>Azure </a:t>
            </a:r>
            <a:r>
              <a:rPr sz="1600" dirty="0">
                <a:latin typeface="Goudy Old Style"/>
                <a:cs typeface="Goudy Old Style"/>
              </a:rPr>
              <a:t>SQL </a:t>
            </a:r>
            <a:r>
              <a:rPr sz="1600" spc="-5" dirty="0">
                <a:latin typeface="Goudy Old Style"/>
                <a:cs typeface="Goudy Old Style"/>
              </a:rPr>
              <a:t>account. </a:t>
            </a:r>
            <a:r>
              <a:rPr sz="1600" spc="-25" dirty="0">
                <a:latin typeface="Goudy Old Style"/>
                <a:cs typeface="Goudy Old Style"/>
              </a:rPr>
              <a:t>Verify </a:t>
            </a:r>
            <a:r>
              <a:rPr sz="1600" spc="-10" dirty="0">
                <a:latin typeface="Goudy Old Style"/>
                <a:cs typeface="Goudy Old Style"/>
              </a:rPr>
              <a:t>your </a:t>
            </a:r>
            <a:r>
              <a:rPr sz="1600" dirty="0">
                <a:latin typeface="Goudy Old Style"/>
                <a:cs typeface="Goudy Old Style"/>
              </a:rPr>
              <a:t>identity </a:t>
            </a:r>
            <a:r>
              <a:rPr sz="1600" spc="-5" dirty="0">
                <a:latin typeface="Goudy Old Style"/>
                <a:cs typeface="Goudy Old Style"/>
              </a:rPr>
              <a:t>through </a:t>
            </a:r>
            <a:r>
              <a:rPr sz="1600" dirty="0">
                <a:latin typeface="Goudy Old Style"/>
                <a:cs typeface="Goudy Old Style"/>
              </a:rPr>
              <a:t>phone </a:t>
            </a:r>
            <a:r>
              <a:rPr sz="1600" spc="-5" dirty="0">
                <a:latin typeface="Goudy Old Style"/>
                <a:cs typeface="Goudy Old Style"/>
              </a:rPr>
              <a:t>and credit</a:t>
            </a:r>
            <a:r>
              <a:rPr sz="1600" spc="-25" dirty="0">
                <a:latin typeface="Goudy Old Style"/>
                <a:cs typeface="Goudy Old Style"/>
              </a:rPr>
              <a:t> </a:t>
            </a:r>
            <a:r>
              <a:rPr sz="1600" spc="-10" dirty="0">
                <a:latin typeface="Goudy Old Style"/>
                <a:cs typeface="Goudy Old Style"/>
              </a:rPr>
              <a:t>card.</a:t>
            </a:r>
            <a:endParaRPr sz="1600">
              <a:latin typeface="Goudy Old Style"/>
              <a:cs typeface="Goudy Old Style"/>
            </a:endParaRPr>
          </a:p>
        </p:txBody>
      </p:sp>
      <p:grpSp>
        <p:nvGrpSpPr>
          <p:cNvPr id="20" name="object 20"/>
          <p:cNvGrpSpPr/>
          <p:nvPr/>
        </p:nvGrpSpPr>
        <p:grpSpPr>
          <a:xfrm>
            <a:off x="588137" y="3350386"/>
            <a:ext cx="627380" cy="985519"/>
            <a:chOff x="588137" y="3350386"/>
            <a:chExt cx="627380" cy="985519"/>
          </a:xfrm>
        </p:grpSpPr>
        <p:sp>
          <p:nvSpPr>
            <p:cNvPr id="21" name="object 21"/>
            <p:cNvSpPr/>
            <p:nvPr/>
          </p:nvSpPr>
          <p:spPr>
            <a:xfrm>
              <a:off x="600837" y="3363086"/>
              <a:ext cx="601980" cy="960119"/>
            </a:xfrm>
            <a:custGeom>
              <a:avLst/>
              <a:gdLst/>
              <a:ahLst/>
              <a:cxnLst/>
              <a:rect l="l" t="t" r="r" b="b"/>
              <a:pathLst>
                <a:path w="601980" h="960120">
                  <a:moveTo>
                    <a:pt x="601980" y="0"/>
                  </a:moveTo>
                  <a:lnTo>
                    <a:pt x="300990" y="336042"/>
                  </a:lnTo>
                  <a:lnTo>
                    <a:pt x="0" y="0"/>
                  </a:lnTo>
                  <a:lnTo>
                    <a:pt x="0" y="624078"/>
                  </a:lnTo>
                  <a:lnTo>
                    <a:pt x="300990" y="960119"/>
                  </a:lnTo>
                  <a:lnTo>
                    <a:pt x="601980" y="624078"/>
                  </a:lnTo>
                  <a:lnTo>
                    <a:pt x="601980" y="0"/>
                  </a:lnTo>
                  <a:close/>
                </a:path>
              </a:pathLst>
            </a:custGeom>
            <a:solidFill>
              <a:srgbClr val="5FE046"/>
            </a:solidFill>
          </p:spPr>
          <p:txBody>
            <a:bodyPr wrap="square" lIns="0" tIns="0" rIns="0" bIns="0" rtlCol="0"/>
            <a:lstStyle/>
            <a:p>
              <a:endParaRPr/>
            </a:p>
          </p:txBody>
        </p:sp>
        <p:sp>
          <p:nvSpPr>
            <p:cNvPr id="22" name="object 22"/>
            <p:cNvSpPr/>
            <p:nvPr/>
          </p:nvSpPr>
          <p:spPr>
            <a:xfrm>
              <a:off x="600837" y="3363086"/>
              <a:ext cx="601980" cy="960119"/>
            </a:xfrm>
            <a:custGeom>
              <a:avLst/>
              <a:gdLst/>
              <a:ahLst/>
              <a:cxnLst/>
              <a:rect l="l" t="t" r="r" b="b"/>
              <a:pathLst>
                <a:path w="601980" h="960120">
                  <a:moveTo>
                    <a:pt x="601980" y="0"/>
                  </a:moveTo>
                  <a:lnTo>
                    <a:pt x="601980" y="624078"/>
                  </a:lnTo>
                  <a:lnTo>
                    <a:pt x="300990" y="960119"/>
                  </a:lnTo>
                  <a:lnTo>
                    <a:pt x="0" y="624078"/>
                  </a:lnTo>
                  <a:lnTo>
                    <a:pt x="0" y="0"/>
                  </a:lnTo>
                  <a:lnTo>
                    <a:pt x="300990" y="336042"/>
                  </a:lnTo>
                  <a:lnTo>
                    <a:pt x="601980" y="0"/>
                  </a:lnTo>
                  <a:close/>
                </a:path>
              </a:pathLst>
            </a:custGeom>
            <a:ln w="25145">
              <a:solidFill>
                <a:srgbClr val="5FE046"/>
              </a:solidFill>
            </a:ln>
          </p:spPr>
          <p:txBody>
            <a:bodyPr wrap="square" lIns="0" tIns="0" rIns="0" bIns="0" rtlCol="0"/>
            <a:lstStyle/>
            <a:p>
              <a:endParaRPr/>
            </a:p>
          </p:txBody>
        </p:sp>
      </p:grpSp>
      <p:sp>
        <p:nvSpPr>
          <p:cNvPr id="23" name="object 23"/>
          <p:cNvSpPr txBox="1"/>
          <p:nvPr/>
        </p:nvSpPr>
        <p:spPr>
          <a:xfrm>
            <a:off x="831596" y="3667252"/>
            <a:ext cx="13970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Goudy Old Style"/>
                <a:cs typeface="Goudy Old Style"/>
              </a:rPr>
              <a:t>3</a:t>
            </a:r>
            <a:endParaRPr sz="1800">
              <a:latin typeface="Goudy Old Style"/>
              <a:cs typeface="Goudy Old Style"/>
            </a:endParaRPr>
          </a:p>
        </p:txBody>
      </p:sp>
      <p:grpSp>
        <p:nvGrpSpPr>
          <p:cNvPr id="24" name="object 24"/>
          <p:cNvGrpSpPr/>
          <p:nvPr/>
        </p:nvGrpSpPr>
        <p:grpSpPr>
          <a:xfrm>
            <a:off x="1190116" y="3350386"/>
            <a:ext cx="7510145" cy="649605"/>
            <a:chOff x="1190116" y="3350386"/>
            <a:chExt cx="7510145" cy="649605"/>
          </a:xfrm>
        </p:grpSpPr>
        <p:sp>
          <p:nvSpPr>
            <p:cNvPr id="25" name="object 25"/>
            <p:cNvSpPr/>
            <p:nvPr/>
          </p:nvSpPr>
          <p:spPr>
            <a:xfrm>
              <a:off x="1202816" y="3363086"/>
              <a:ext cx="7484745" cy="624205"/>
            </a:xfrm>
            <a:custGeom>
              <a:avLst/>
              <a:gdLst/>
              <a:ahLst/>
              <a:cxnLst/>
              <a:rect l="l" t="t" r="r" b="b"/>
              <a:pathLst>
                <a:path w="7484745" h="624204">
                  <a:moveTo>
                    <a:pt x="7391146" y="0"/>
                  </a:moveTo>
                  <a:lnTo>
                    <a:pt x="0" y="0"/>
                  </a:lnTo>
                  <a:lnTo>
                    <a:pt x="0" y="624078"/>
                  </a:lnTo>
                  <a:lnTo>
                    <a:pt x="7391146" y="624078"/>
                  </a:lnTo>
                  <a:lnTo>
                    <a:pt x="7427410" y="615898"/>
                  </a:lnTo>
                  <a:lnTo>
                    <a:pt x="7457043" y="593597"/>
                  </a:lnTo>
                  <a:lnTo>
                    <a:pt x="7477031" y="560534"/>
                  </a:lnTo>
                  <a:lnTo>
                    <a:pt x="7484364" y="520064"/>
                  </a:lnTo>
                  <a:lnTo>
                    <a:pt x="7484364" y="104012"/>
                  </a:lnTo>
                  <a:lnTo>
                    <a:pt x="7477031" y="63543"/>
                  </a:lnTo>
                  <a:lnTo>
                    <a:pt x="7457043" y="30479"/>
                  </a:lnTo>
                  <a:lnTo>
                    <a:pt x="7427410" y="8179"/>
                  </a:lnTo>
                  <a:lnTo>
                    <a:pt x="7391146" y="0"/>
                  </a:lnTo>
                  <a:close/>
                </a:path>
              </a:pathLst>
            </a:custGeom>
            <a:solidFill>
              <a:srgbClr val="FFFFFF">
                <a:alpha val="90194"/>
              </a:srgbClr>
            </a:solidFill>
          </p:spPr>
          <p:txBody>
            <a:bodyPr wrap="square" lIns="0" tIns="0" rIns="0" bIns="0" rtlCol="0"/>
            <a:lstStyle/>
            <a:p>
              <a:endParaRPr/>
            </a:p>
          </p:txBody>
        </p:sp>
        <p:sp>
          <p:nvSpPr>
            <p:cNvPr id="26" name="object 26"/>
            <p:cNvSpPr/>
            <p:nvPr/>
          </p:nvSpPr>
          <p:spPr>
            <a:xfrm>
              <a:off x="1202816" y="3363086"/>
              <a:ext cx="7484745" cy="624205"/>
            </a:xfrm>
            <a:custGeom>
              <a:avLst/>
              <a:gdLst/>
              <a:ahLst/>
              <a:cxnLst/>
              <a:rect l="l" t="t" r="r" b="b"/>
              <a:pathLst>
                <a:path w="7484745" h="624204">
                  <a:moveTo>
                    <a:pt x="7484364" y="104012"/>
                  </a:moveTo>
                  <a:lnTo>
                    <a:pt x="7484364" y="520064"/>
                  </a:lnTo>
                  <a:lnTo>
                    <a:pt x="7477031" y="560534"/>
                  </a:lnTo>
                  <a:lnTo>
                    <a:pt x="7457043" y="593597"/>
                  </a:lnTo>
                  <a:lnTo>
                    <a:pt x="7427410" y="615898"/>
                  </a:lnTo>
                  <a:lnTo>
                    <a:pt x="7391146" y="624078"/>
                  </a:lnTo>
                  <a:lnTo>
                    <a:pt x="0" y="624078"/>
                  </a:lnTo>
                  <a:lnTo>
                    <a:pt x="0" y="0"/>
                  </a:lnTo>
                  <a:lnTo>
                    <a:pt x="7391146" y="0"/>
                  </a:lnTo>
                  <a:lnTo>
                    <a:pt x="7427410" y="8179"/>
                  </a:lnTo>
                  <a:lnTo>
                    <a:pt x="7457043" y="30479"/>
                  </a:lnTo>
                  <a:lnTo>
                    <a:pt x="7477031" y="63543"/>
                  </a:lnTo>
                  <a:lnTo>
                    <a:pt x="7484364" y="104012"/>
                  </a:lnTo>
                  <a:close/>
                </a:path>
              </a:pathLst>
            </a:custGeom>
            <a:ln w="25146">
              <a:solidFill>
                <a:srgbClr val="5FE046"/>
              </a:solidFill>
            </a:ln>
          </p:spPr>
          <p:txBody>
            <a:bodyPr wrap="square" lIns="0" tIns="0" rIns="0" bIns="0" rtlCol="0"/>
            <a:lstStyle/>
            <a:p>
              <a:endParaRPr/>
            </a:p>
          </p:txBody>
        </p:sp>
      </p:grpSp>
      <p:sp>
        <p:nvSpPr>
          <p:cNvPr id="27" name="object 27"/>
          <p:cNvSpPr txBox="1"/>
          <p:nvPr/>
        </p:nvSpPr>
        <p:spPr>
          <a:xfrm>
            <a:off x="1303782" y="3516884"/>
            <a:ext cx="7046595" cy="269875"/>
          </a:xfrm>
          <a:prstGeom prst="rect">
            <a:avLst/>
          </a:prstGeom>
        </p:spPr>
        <p:txBody>
          <a:bodyPr vert="horz" wrap="square" lIns="0" tIns="12700" rIns="0" bIns="0" rtlCol="0">
            <a:spAutoFit/>
          </a:bodyPr>
          <a:lstStyle/>
          <a:p>
            <a:pPr marL="184150" indent="-171450">
              <a:lnSpc>
                <a:spcPct val="100000"/>
              </a:lnSpc>
              <a:spcBef>
                <a:spcPts val="100"/>
              </a:spcBef>
              <a:buFont typeface="Arial"/>
              <a:buChar char="•"/>
              <a:tabLst>
                <a:tab pos="184150" algn="l"/>
              </a:tabLst>
            </a:pPr>
            <a:r>
              <a:rPr sz="1600" spc="-5" dirty="0">
                <a:latin typeface="Goudy Old Style"/>
                <a:cs typeface="Goudy Old Style"/>
              </a:rPr>
              <a:t>Click </a:t>
            </a:r>
            <a:r>
              <a:rPr sz="1600" b="1" spc="-5" dirty="0">
                <a:latin typeface="Goudy Old Style"/>
                <a:cs typeface="Goudy Old Style"/>
              </a:rPr>
              <a:t>SQL databases </a:t>
            </a:r>
            <a:r>
              <a:rPr sz="1600" spc="-5" dirty="0">
                <a:latin typeface="Goudy Old Style"/>
                <a:cs typeface="Goudy Old Style"/>
              </a:rPr>
              <a:t>under </a:t>
            </a:r>
            <a:r>
              <a:rPr sz="1600" spc="-10" dirty="0">
                <a:latin typeface="Goudy Old Style"/>
                <a:cs typeface="Goudy Old Style"/>
              </a:rPr>
              <a:t>Azure </a:t>
            </a:r>
            <a:r>
              <a:rPr sz="1600" spc="5" dirty="0">
                <a:latin typeface="Goudy Old Style"/>
                <a:cs typeface="Goudy Old Style"/>
              </a:rPr>
              <a:t>services. </a:t>
            </a:r>
            <a:r>
              <a:rPr sz="1600" dirty="0">
                <a:latin typeface="Goudy Old Style"/>
                <a:cs typeface="Goudy Old Style"/>
              </a:rPr>
              <a:t>The </a:t>
            </a:r>
            <a:r>
              <a:rPr sz="1600" b="1" spc="-5" dirty="0">
                <a:latin typeface="Goudy Old Style"/>
                <a:cs typeface="Goudy Old Style"/>
              </a:rPr>
              <a:t>SQL databases </a:t>
            </a:r>
            <a:r>
              <a:rPr sz="1600" dirty="0">
                <a:latin typeface="Goudy Old Style"/>
                <a:cs typeface="Goudy Old Style"/>
              </a:rPr>
              <a:t>page will be</a:t>
            </a:r>
            <a:r>
              <a:rPr sz="1600" spc="110" dirty="0">
                <a:latin typeface="Goudy Old Style"/>
                <a:cs typeface="Goudy Old Style"/>
              </a:rPr>
              <a:t> </a:t>
            </a:r>
            <a:r>
              <a:rPr sz="1600" spc="-10" dirty="0">
                <a:latin typeface="Goudy Old Style"/>
                <a:cs typeface="Goudy Old Style"/>
              </a:rPr>
              <a:t>displayed.</a:t>
            </a:r>
            <a:endParaRPr sz="1600">
              <a:latin typeface="Goudy Old Style"/>
              <a:cs typeface="Goudy Old Style"/>
            </a:endParaRPr>
          </a:p>
        </p:txBody>
      </p:sp>
      <p:grpSp>
        <p:nvGrpSpPr>
          <p:cNvPr id="28" name="object 28"/>
          <p:cNvGrpSpPr/>
          <p:nvPr/>
        </p:nvGrpSpPr>
        <p:grpSpPr>
          <a:xfrm>
            <a:off x="588137" y="4149725"/>
            <a:ext cx="627380" cy="984885"/>
            <a:chOff x="588137" y="4149725"/>
            <a:chExt cx="627380" cy="984885"/>
          </a:xfrm>
        </p:grpSpPr>
        <p:sp>
          <p:nvSpPr>
            <p:cNvPr id="29" name="object 29"/>
            <p:cNvSpPr/>
            <p:nvPr/>
          </p:nvSpPr>
          <p:spPr>
            <a:xfrm>
              <a:off x="600837" y="4162425"/>
              <a:ext cx="601980" cy="959485"/>
            </a:xfrm>
            <a:custGeom>
              <a:avLst/>
              <a:gdLst/>
              <a:ahLst/>
              <a:cxnLst/>
              <a:rect l="l" t="t" r="r" b="b"/>
              <a:pathLst>
                <a:path w="601980" h="959485">
                  <a:moveTo>
                    <a:pt x="601980" y="0"/>
                  </a:moveTo>
                  <a:lnTo>
                    <a:pt x="300990" y="335788"/>
                  </a:lnTo>
                  <a:lnTo>
                    <a:pt x="0" y="0"/>
                  </a:lnTo>
                  <a:lnTo>
                    <a:pt x="0" y="623570"/>
                  </a:lnTo>
                  <a:lnTo>
                    <a:pt x="300990" y="959358"/>
                  </a:lnTo>
                  <a:lnTo>
                    <a:pt x="601980" y="623570"/>
                  </a:lnTo>
                  <a:lnTo>
                    <a:pt x="601980" y="0"/>
                  </a:lnTo>
                  <a:close/>
                </a:path>
              </a:pathLst>
            </a:custGeom>
            <a:solidFill>
              <a:srgbClr val="FFC000"/>
            </a:solidFill>
          </p:spPr>
          <p:txBody>
            <a:bodyPr wrap="square" lIns="0" tIns="0" rIns="0" bIns="0" rtlCol="0"/>
            <a:lstStyle/>
            <a:p>
              <a:endParaRPr/>
            </a:p>
          </p:txBody>
        </p:sp>
        <p:sp>
          <p:nvSpPr>
            <p:cNvPr id="30" name="object 30"/>
            <p:cNvSpPr/>
            <p:nvPr/>
          </p:nvSpPr>
          <p:spPr>
            <a:xfrm>
              <a:off x="600837" y="4162425"/>
              <a:ext cx="601980" cy="959485"/>
            </a:xfrm>
            <a:custGeom>
              <a:avLst/>
              <a:gdLst/>
              <a:ahLst/>
              <a:cxnLst/>
              <a:rect l="l" t="t" r="r" b="b"/>
              <a:pathLst>
                <a:path w="601980" h="959485">
                  <a:moveTo>
                    <a:pt x="601980" y="0"/>
                  </a:moveTo>
                  <a:lnTo>
                    <a:pt x="601980" y="623570"/>
                  </a:lnTo>
                  <a:lnTo>
                    <a:pt x="300990" y="959358"/>
                  </a:lnTo>
                  <a:lnTo>
                    <a:pt x="0" y="623570"/>
                  </a:lnTo>
                  <a:lnTo>
                    <a:pt x="0" y="0"/>
                  </a:lnTo>
                  <a:lnTo>
                    <a:pt x="300990" y="335788"/>
                  </a:lnTo>
                  <a:lnTo>
                    <a:pt x="601980" y="0"/>
                  </a:lnTo>
                  <a:close/>
                </a:path>
              </a:pathLst>
            </a:custGeom>
            <a:ln w="25146">
              <a:solidFill>
                <a:srgbClr val="D4EB46"/>
              </a:solidFill>
            </a:ln>
          </p:spPr>
          <p:txBody>
            <a:bodyPr wrap="square" lIns="0" tIns="0" rIns="0" bIns="0" rtlCol="0"/>
            <a:lstStyle/>
            <a:p>
              <a:endParaRPr/>
            </a:p>
          </p:txBody>
        </p:sp>
      </p:grpSp>
      <p:sp>
        <p:nvSpPr>
          <p:cNvPr id="31" name="object 31"/>
          <p:cNvSpPr txBox="1"/>
          <p:nvPr/>
        </p:nvSpPr>
        <p:spPr>
          <a:xfrm>
            <a:off x="837691" y="4483861"/>
            <a:ext cx="127635" cy="26987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FFFFFF"/>
                </a:solidFill>
                <a:latin typeface="Goudy Old Style"/>
                <a:cs typeface="Goudy Old Style"/>
              </a:rPr>
              <a:t>4</a:t>
            </a:r>
            <a:endParaRPr sz="1600">
              <a:latin typeface="Goudy Old Style"/>
              <a:cs typeface="Goudy Old Style"/>
            </a:endParaRPr>
          </a:p>
        </p:txBody>
      </p:sp>
      <p:grpSp>
        <p:nvGrpSpPr>
          <p:cNvPr id="32" name="object 32"/>
          <p:cNvGrpSpPr/>
          <p:nvPr/>
        </p:nvGrpSpPr>
        <p:grpSpPr>
          <a:xfrm>
            <a:off x="1190116" y="4149725"/>
            <a:ext cx="7510145" cy="648970"/>
            <a:chOff x="1190116" y="4149725"/>
            <a:chExt cx="7510145" cy="648970"/>
          </a:xfrm>
        </p:grpSpPr>
        <p:sp>
          <p:nvSpPr>
            <p:cNvPr id="33" name="object 33"/>
            <p:cNvSpPr/>
            <p:nvPr/>
          </p:nvSpPr>
          <p:spPr>
            <a:xfrm>
              <a:off x="1202816" y="4162425"/>
              <a:ext cx="7484745" cy="623570"/>
            </a:xfrm>
            <a:custGeom>
              <a:avLst/>
              <a:gdLst/>
              <a:ahLst/>
              <a:cxnLst/>
              <a:rect l="l" t="t" r="r" b="b"/>
              <a:pathLst>
                <a:path w="7484745" h="623570">
                  <a:moveTo>
                    <a:pt x="7391146" y="0"/>
                  </a:moveTo>
                  <a:lnTo>
                    <a:pt x="0" y="0"/>
                  </a:lnTo>
                  <a:lnTo>
                    <a:pt x="0" y="623316"/>
                  </a:lnTo>
                  <a:lnTo>
                    <a:pt x="7391146" y="623316"/>
                  </a:lnTo>
                  <a:lnTo>
                    <a:pt x="7427410" y="615156"/>
                  </a:lnTo>
                  <a:lnTo>
                    <a:pt x="7457043" y="592899"/>
                  </a:lnTo>
                  <a:lnTo>
                    <a:pt x="7477031" y="559879"/>
                  </a:lnTo>
                  <a:lnTo>
                    <a:pt x="7484364" y="519430"/>
                  </a:lnTo>
                  <a:lnTo>
                    <a:pt x="7484364" y="103886"/>
                  </a:lnTo>
                  <a:lnTo>
                    <a:pt x="7477031" y="63436"/>
                  </a:lnTo>
                  <a:lnTo>
                    <a:pt x="7457043" y="30416"/>
                  </a:lnTo>
                  <a:lnTo>
                    <a:pt x="7427410" y="8159"/>
                  </a:lnTo>
                  <a:lnTo>
                    <a:pt x="7391146" y="0"/>
                  </a:lnTo>
                  <a:close/>
                </a:path>
              </a:pathLst>
            </a:custGeom>
            <a:solidFill>
              <a:srgbClr val="FFFFFF">
                <a:alpha val="90194"/>
              </a:srgbClr>
            </a:solidFill>
          </p:spPr>
          <p:txBody>
            <a:bodyPr wrap="square" lIns="0" tIns="0" rIns="0" bIns="0" rtlCol="0"/>
            <a:lstStyle/>
            <a:p>
              <a:endParaRPr/>
            </a:p>
          </p:txBody>
        </p:sp>
        <p:sp>
          <p:nvSpPr>
            <p:cNvPr id="34" name="object 34"/>
            <p:cNvSpPr/>
            <p:nvPr/>
          </p:nvSpPr>
          <p:spPr>
            <a:xfrm>
              <a:off x="1202816" y="4162425"/>
              <a:ext cx="7484745" cy="623570"/>
            </a:xfrm>
            <a:custGeom>
              <a:avLst/>
              <a:gdLst/>
              <a:ahLst/>
              <a:cxnLst/>
              <a:rect l="l" t="t" r="r" b="b"/>
              <a:pathLst>
                <a:path w="7484745" h="623570">
                  <a:moveTo>
                    <a:pt x="7484364" y="103886"/>
                  </a:moveTo>
                  <a:lnTo>
                    <a:pt x="7484364" y="519430"/>
                  </a:lnTo>
                  <a:lnTo>
                    <a:pt x="7477031" y="559879"/>
                  </a:lnTo>
                  <a:lnTo>
                    <a:pt x="7457043" y="592899"/>
                  </a:lnTo>
                  <a:lnTo>
                    <a:pt x="7427410" y="615156"/>
                  </a:lnTo>
                  <a:lnTo>
                    <a:pt x="7391146" y="623316"/>
                  </a:lnTo>
                  <a:lnTo>
                    <a:pt x="0" y="623316"/>
                  </a:lnTo>
                  <a:lnTo>
                    <a:pt x="0" y="0"/>
                  </a:lnTo>
                  <a:lnTo>
                    <a:pt x="7391146" y="0"/>
                  </a:lnTo>
                  <a:lnTo>
                    <a:pt x="7427410" y="8159"/>
                  </a:lnTo>
                  <a:lnTo>
                    <a:pt x="7457043" y="30416"/>
                  </a:lnTo>
                  <a:lnTo>
                    <a:pt x="7477031" y="63436"/>
                  </a:lnTo>
                  <a:lnTo>
                    <a:pt x="7484364" y="103886"/>
                  </a:lnTo>
                  <a:close/>
                </a:path>
              </a:pathLst>
            </a:custGeom>
            <a:ln w="25146">
              <a:solidFill>
                <a:srgbClr val="D4EB46"/>
              </a:solidFill>
            </a:ln>
          </p:spPr>
          <p:txBody>
            <a:bodyPr wrap="square" lIns="0" tIns="0" rIns="0" bIns="0" rtlCol="0"/>
            <a:lstStyle/>
            <a:p>
              <a:endParaRPr/>
            </a:p>
          </p:txBody>
        </p:sp>
      </p:grpSp>
      <p:sp>
        <p:nvSpPr>
          <p:cNvPr id="35" name="object 35"/>
          <p:cNvSpPr txBox="1"/>
          <p:nvPr/>
        </p:nvSpPr>
        <p:spPr>
          <a:xfrm>
            <a:off x="1303782" y="4206240"/>
            <a:ext cx="6694805" cy="489584"/>
          </a:xfrm>
          <a:prstGeom prst="rect">
            <a:avLst/>
          </a:prstGeom>
        </p:spPr>
        <p:txBody>
          <a:bodyPr vert="horz" wrap="square" lIns="0" tIns="40005" rIns="0" bIns="0" rtlCol="0">
            <a:spAutoFit/>
          </a:bodyPr>
          <a:lstStyle/>
          <a:p>
            <a:pPr marL="184150" marR="5080" indent="-171450">
              <a:lnSpc>
                <a:spcPts val="1730"/>
              </a:lnSpc>
              <a:spcBef>
                <a:spcPts val="315"/>
              </a:spcBef>
              <a:buFont typeface="Arial"/>
              <a:buChar char="•"/>
              <a:tabLst>
                <a:tab pos="184150" algn="l"/>
              </a:tabLst>
            </a:pPr>
            <a:r>
              <a:rPr sz="1600" spc="-5" dirty="0">
                <a:latin typeface="Goudy Old Style"/>
                <a:cs typeface="Goudy Old Style"/>
              </a:rPr>
              <a:t>Click </a:t>
            </a:r>
            <a:r>
              <a:rPr sz="1600" b="1" spc="-5" dirty="0">
                <a:latin typeface="Goudy Old Style"/>
                <a:cs typeface="Goudy Old Style"/>
              </a:rPr>
              <a:t>Create SQL </a:t>
            </a:r>
            <a:r>
              <a:rPr sz="1600" b="1" dirty="0">
                <a:latin typeface="Goudy Old Style"/>
                <a:cs typeface="Goudy Old Style"/>
              </a:rPr>
              <a:t>database </a:t>
            </a:r>
            <a:r>
              <a:rPr sz="1600" spc="-5" dirty="0">
                <a:latin typeface="Goudy Old Style"/>
                <a:cs typeface="Goudy Old Style"/>
              </a:rPr>
              <a:t>at </a:t>
            </a:r>
            <a:r>
              <a:rPr sz="1600" dirty="0">
                <a:latin typeface="Goudy Old Style"/>
                <a:cs typeface="Goudy Old Style"/>
              </a:rPr>
              <a:t>the </a:t>
            </a:r>
            <a:r>
              <a:rPr sz="1600" spc="-5" dirty="0">
                <a:latin typeface="Goudy Old Style"/>
                <a:cs typeface="Goudy Old Style"/>
              </a:rPr>
              <a:t>bottom of </a:t>
            </a:r>
            <a:r>
              <a:rPr sz="1600" dirty="0">
                <a:latin typeface="Goudy Old Style"/>
                <a:cs typeface="Goudy Old Style"/>
              </a:rPr>
              <a:t>the page. </a:t>
            </a:r>
            <a:r>
              <a:rPr sz="1600" spc="-50" dirty="0">
                <a:latin typeface="Goudy Old Style"/>
                <a:cs typeface="Goudy Old Style"/>
              </a:rPr>
              <a:t>You </a:t>
            </a:r>
            <a:r>
              <a:rPr sz="1600" spc="-5" dirty="0">
                <a:latin typeface="Goudy Old Style"/>
                <a:cs typeface="Goudy Old Style"/>
              </a:rPr>
              <a:t>will </a:t>
            </a:r>
            <a:r>
              <a:rPr sz="1600" dirty="0">
                <a:latin typeface="Goudy Old Style"/>
                <a:cs typeface="Goudy Old Style"/>
              </a:rPr>
              <a:t>be </a:t>
            </a:r>
            <a:r>
              <a:rPr sz="1600" spc="-10" dirty="0">
                <a:latin typeface="Goudy Old Style"/>
                <a:cs typeface="Goudy Old Style"/>
              </a:rPr>
              <a:t>asked </a:t>
            </a:r>
            <a:r>
              <a:rPr sz="1600" spc="-5" dirty="0">
                <a:latin typeface="Goudy Old Style"/>
                <a:cs typeface="Goudy Old Style"/>
              </a:rPr>
              <a:t>to </a:t>
            </a:r>
            <a:r>
              <a:rPr sz="1600" dirty="0">
                <a:latin typeface="Goudy Old Style"/>
                <a:cs typeface="Goudy Old Style"/>
              </a:rPr>
              <a:t>fill </a:t>
            </a:r>
            <a:r>
              <a:rPr sz="1600" spc="-5" dirty="0">
                <a:latin typeface="Goudy Old Style"/>
                <a:cs typeface="Goudy Old Style"/>
              </a:rPr>
              <a:t>up  information </a:t>
            </a:r>
            <a:r>
              <a:rPr sz="1600" spc="-10" dirty="0">
                <a:latin typeface="Goudy Old Style"/>
                <a:cs typeface="Goudy Old Style"/>
              </a:rPr>
              <a:t>such </a:t>
            </a:r>
            <a:r>
              <a:rPr sz="1600" spc="-5" dirty="0">
                <a:latin typeface="Goudy Old Style"/>
                <a:cs typeface="Goudy Old Style"/>
              </a:rPr>
              <a:t>as database name and </a:t>
            </a:r>
            <a:r>
              <a:rPr sz="1600" spc="5" dirty="0">
                <a:latin typeface="Goudy Old Style"/>
                <a:cs typeface="Goudy Old Style"/>
              </a:rPr>
              <a:t>server</a:t>
            </a:r>
            <a:r>
              <a:rPr sz="1600" spc="-55" dirty="0">
                <a:latin typeface="Goudy Old Style"/>
                <a:cs typeface="Goudy Old Style"/>
              </a:rPr>
              <a:t> </a:t>
            </a:r>
            <a:r>
              <a:rPr sz="1600" spc="-5" dirty="0">
                <a:latin typeface="Goudy Old Style"/>
                <a:cs typeface="Goudy Old Style"/>
              </a:rPr>
              <a:t>name.</a:t>
            </a:r>
            <a:endParaRPr sz="1600">
              <a:latin typeface="Goudy Old Style"/>
              <a:cs typeface="Goudy Old Style"/>
            </a:endParaRPr>
          </a:p>
        </p:txBody>
      </p:sp>
      <p:grpSp>
        <p:nvGrpSpPr>
          <p:cNvPr id="36" name="object 36"/>
          <p:cNvGrpSpPr/>
          <p:nvPr/>
        </p:nvGrpSpPr>
        <p:grpSpPr>
          <a:xfrm>
            <a:off x="588137" y="4948301"/>
            <a:ext cx="627380" cy="985519"/>
            <a:chOff x="588137" y="4948301"/>
            <a:chExt cx="627380" cy="985519"/>
          </a:xfrm>
        </p:grpSpPr>
        <p:sp>
          <p:nvSpPr>
            <p:cNvPr id="37" name="object 37"/>
            <p:cNvSpPr/>
            <p:nvPr/>
          </p:nvSpPr>
          <p:spPr>
            <a:xfrm>
              <a:off x="600837" y="4961001"/>
              <a:ext cx="601980" cy="960119"/>
            </a:xfrm>
            <a:custGeom>
              <a:avLst/>
              <a:gdLst/>
              <a:ahLst/>
              <a:cxnLst/>
              <a:rect l="l" t="t" r="r" b="b"/>
              <a:pathLst>
                <a:path w="601980" h="960120">
                  <a:moveTo>
                    <a:pt x="601980" y="0"/>
                  </a:moveTo>
                  <a:lnTo>
                    <a:pt x="300990" y="336042"/>
                  </a:lnTo>
                  <a:lnTo>
                    <a:pt x="0" y="0"/>
                  </a:lnTo>
                  <a:lnTo>
                    <a:pt x="0" y="624078"/>
                  </a:lnTo>
                  <a:lnTo>
                    <a:pt x="300990" y="960119"/>
                  </a:lnTo>
                  <a:lnTo>
                    <a:pt x="601980" y="624078"/>
                  </a:lnTo>
                  <a:lnTo>
                    <a:pt x="601980" y="0"/>
                  </a:lnTo>
                  <a:close/>
                </a:path>
              </a:pathLst>
            </a:custGeom>
            <a:solidFill>
              <a:srgbClr val="F79546"/>
            </a:solidFill>
          </p:spPr>
          <p:txBody>
            <a:bodyPr wrap="square" lIns="0" tIns="0" rIns="0" bIns="0" rtlCol="0"/>
            <a:lstStyle/>
            <a:p>
              <a:endParaRPr/>
            </a:p>
          </p:txBody>
        </p:sp>
        <p:sp>
          <p:nvSpPr>
            <p:cNvPr id="38" name="object 38"/>
            <p:cNvSpPr/>
            <p:nvPr/>
          </p:nvSpPr>
          <p:spPr>
            <a:xfrm>
              <a:off x="600837" y="4961001"/>
              <a:ext cx="601980" cy="960119"/>
            </a:xfrm>
            <a:custGeom>
              <a:avLst/>
              <a:gdLst/>
              <a:ahLst/>
              <a:cxnLst/>
              <a:rect l="l" t="t" r="r" b="b"/>
              <a:pathLst>
                <a:path w="601980" h="960120">
                  <a:moveTo>
                    <a:pt x="601980" y="0"/>
                  </a:moveTo>
                  <a:lnTo>
                    <a:pt x="601980" y="624078"/>
                  </a:lnTo>
                  <a:lnTo>
                    <a:pt x="300990" y="960119"/>
                  </a:lnTo>
                  <a:lnTo>
                    <a:pt x="0" y="624078"/>
                  </a:lnTo>
                  <a:lnTo>
                    <a:pt x="0" y="0"/>
                  </a:lnTo>
                  <a:lnTo>
                    <a:pt x="300990" y="336042"/>
                  </a:lnTo>
                  <a:lnTo>
                    <a:pt x="601980" y="0"/>
                  </a:lnTo>
                  <a:close/>
                </a:path>
              </a:pathLst>
            </a:custGeom>
            <a:ln w="25145">
              <a:solidFill>
                <a:srgbClr val="F79546"/>
              </a:solidFill>
            </a:ln>
          </p:spPr>
          <p:txBody>
            <a:bodyPr wrap="square" lIns="0" tIns="0" rIns="0" bIns="0" rtlCol="0"/>
            <a:lstStyle/>
            <a:p>
              <a:endParaRPr/>
            </a:p>
          </p:txBody>
        </p:sp>
      </p:grpSp>
      <p:sp>
        <p:nvSpPr>
          <p:cNvPr id="39" name="object 39"/>
          <p:cNvSpPr txBox="1"/>
          <p:nvPr/>
        </p:nvSpPr>
        <p:spPr>
          <a:xfrm>
            <a:off x="837691" y="5282946"/>
            <a:ext cx="127635" cy="269875"/>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FFFFFF"/>
                </a:solidFill>
                <a:latin typeface="Goudy Old Style"/>
                <a:cs typeface="Goudy Old Style"/>
              </a:rPr>
              <a:t>5</a:t>
            </a:r>
            <a:endParaRPr sz="1600">
              <a:latin typeface="Goudy Old Style"/>
              <a:cs typeface="Goudy Old Style"/>
            </a:endParaRPr>
          </a:p>
        </p:txBody>
      </p:sp>
      <p:grpSp>
        <p:nvGrpSpPr>
          <p:cNvPr id="40" name="object 40"/>
          <p:cNvGrpSpPr/>
          <p:nvPr/>
        </p:nvGrpSpPr>
        <p:grpSpPr>
          <a:xfrm>
            <a:off x="1190244" y="4948428"/>
            <a:ext cx="7509509" cy="649605"/>
            <a:chOff x="1190244" y="4948428"/>
            <a:chExt cx="7509509" cy="649605"/>
          </a:xfrm>
        </p:grpSpPr>
        <p:sp>
          <p:nvSpPr>
            <p:cNvPr id="41" name="object 41"/>
            <p:cNvSpPr/>
            <p:nvPr/>
          </p:nvSpPr>
          <p:spPr>
            <a:xfrm>
              <a:off x="1202817" y="4961001"/>
              <a:ext cx="7484745" cy="624205"/>
            </a:xfrm>
            <a:custGeom>
              <a:avLst/>
              <a:gdLst/>
              <a:ahLst/>
              <a:cxnLst/>
              <a:rect l="l" t="t" r="r" b="b"/>
              <a:pathLst>
                <a:path w="7484745" h="624204">
                  <a:moveTo>
                    <a:pt x="7391146" y="0"/>
                  </a:moveTo>
                  <a:lnTo>
                    <a:pt x="0" y="0"/>
                  </a:lnTo>
                  <a:lnTo>
                    <a:pt x="0" y="624078"/>
                  </a:lnTo>
                  <a:lnTo>
                    <a:pt x="7391146" y="624078"/>
                  </a:lnTo>
                  <a:lnTo>
                    <a:pt x="7427410" y="615898"/>
                  </a:lnTo>
                  <a:lnTo>
                    <a:pt x="7457043" y="593597"/>
                  </a:lnTo>
                  <a:lnTo>
                    <a:pt x="7477031" y="560534"/>
                  </a:lnTo>
                  <a:lnTo>
                    <a:pt x="7484364" y="520064"/>
                  </a:lnTo>
                  <a:lnTo>
                    <a:pt x="7484364" y="104012"/>
                  </a:lnTo>
                  <a:lnTo>
                    <a:pt x="7477031" y="63543"/>
                  </a:lnTo>
                  <a:lnTo>
                    <a:pt x="7457043" y="30479"/>
                  </a:lnTo>
                  <a:lnTo>
                    <a:pt x="7427410" y="8179"/>
                  </a:lnTo>
                  <a:lnTo>
                    <a:pt x="7391146" y="0"/>
                  </a:lnTo>
                  <a:close/>
                </a:path>
              </a:pathLst>
            </a:custGeom>
            <a:solidFill>
              <a:srgbClr val="FFFFFF">
                <a:alpha val="90194"/>
              </a:srgbClr>
            </a:solidFill>
          </p:spPr>
          <p:txBody>
            <a:bodyPr wrap="square" lIns="0" tIns="0" rIns="0" bIns="0" rtlCol="0"/>
            <a:lstStyle/>
            <a:p>
              <a:endParaRPr/>
            </a:p>
          </p:txBody>
        </p:sp>
        <p:sp>
          <p:nvSpPr>
            <p:cNvPr id="42" name="object 42"/>
            <p:cNvSpPr/>
            <p:nvPr/>
          </p:nvSpPr>
          <p:spPr>
            <a:xfrm>
              <a:off x="1202817" y="4961001"/>
              <a:ext cx="7484745" cy="624205"/>
            </a:xfrm>
            <a:custGeom>
              <a:avLst/>
              <a:gdLst/>
              <a:ahLst/>
              <a:cxnLst/>
              <a:rect l="l" t="t" r="r" b="b"/>
              <a:pathLst>
                <a:path w="7484745" h="624204">
                  <a:moveTo>
                    <a:pt x="7484364" y="104012"/>
                  </a:moveTo>
                  <a:lnTo>
                    <a:pt x="7484364" y="520064"/>
                  </a:lnTo>
                  <a:lnTo>
                    <a:pt x="7477031" y="560534"/>
                  </a:lnTo>
                  <a:lnTo>
                    <a:pt x="7457043" y="593597"/>
                  </a:lnTo>
                  <a:lnTo>
                    <a:pt x="7427410" y="615898"/>
                  </a:lnTo>
                  <a:lnTo>
                    <a:pt x="7391146" y="624078"/>
                  </a:lnTo>
                  <a:lnTo>
                    <a:pt x="0" y="624078"/>
                  </a:lnTo>
                  <a:lnTo>
                    <a:pt x="0" y="0"/>
                  </a:lnTo>
                  <a:lnTo>
                    <a:pt x="7391146" y="0"/>
                  </a:lnTo>
                  <a:lnTo>
                    <a:pt x="7427410" y="8179"/>
                  </a:lnTo>
                  <a:lnTo>
                    <a:pt x="7457043" y="30479"/>
                  </a:lnTo>
                  <a:lnTo>
                    <a:pt x="7477031" y="63543"/>
                  </a:lnTo>
                  <a:lnTo>
                    <a:pt x="7484364" y="104012"/>
                  </a:lnTo>
                  <a:close/>
                </a:path>
              </a:pathLst>
            </a:custGeom>
            <a:ln w="25146">
              <a:solidFill>
                <a:srgbClr val="F79546"/>
              </a:solidFill>
            </a:ln>
          </p:spPr>
          <p:txBody>
            <a:bodyPr wrap="square" lIns="0" tIns="0" rIns="0" bIns="0" rtlCol="0"/>
            <a:lstStyle/>
            <a:p>
              <a:endParaRPr/>
            </a:p>
          </p:txBody>
        </p:sp>
      </p:grpSp>
      <p:sp>
        <p:nvSpPr>
          <p:cNvPr id="43" name="object 43"/>
          <p:cNvSpPr txBox="1"/>
          <p:nvPr/>
        </p:nvSpPr>
        <p:spPr>
          <a:xfrm>
            <a:off x="1303782" y="5005323"/>
            <a:ext cx="7221855" cy="489584"/>
          </a:xfrm>
          <a:prstGeom prst="rect">
            <a:avLst/>
          </a:prstGeom>
        </p:spPr>
        <p:txBody>
          <a:bodyPr vert="horz" wrap="square" lIns="0" tIns="12700" rIns="0" bIns="0" rtlCol="0">
            <a:spAutoFit/>
          </a:bodyPr>
          <a:lstStyle/>
          <a:p>
            <a:pPr marL="184150" indent="-171450">
              <a:lnSpc>
                <a:spcPts val="1825"/>
              </a:lnSpc>
              <a:spcBef>
                <a:spcPts val="100"/>
              </a:spcBef>
              <a:buFont typeface="Arial"/>
              <a:buChar char="•"/>
              <a:tabLst>
                <a:tab pos="184150" algn="l"/>
              </a:tabLst>
            </a:pPr>
            <a:r>
              <a:rPr sz="1600" dirty="0">
                <a:latin typeface="Goudy Old Style"/>
                <a:cs typeface="Goudy Old Style"/>
              </a:rPr>
              <a:t>When </a:t>
            </a:r>
            <a:r>
              <a:rPr sz="1600" spc="-10" dirty="0">
                <a:latin typeface="Goudy Old Style"/>
                <a:cs typeface="Goudy Old Style"/>
              </a:rPr>
              <a:t>you </a:t>
            </a:r>
            <a:r>
              <a:rPr sz="1600" dirty="0">
                <a:latin typeface="Goudy Old Style"/>
                <a:cs typeface="Goudy Old Style"/>
              </a:rPr>
              <a:t>finish </a:t>
            </a:r>
            <a:r>
              <a:rPr sz="1600" spc="-5" dirty="0">
                <a:latin typeface="Goudy Old Style"/>
                <a:cs typeface="Goudy Old Style"/>
              </a:rPr>
              <a:t>creating </a:t>
            </a:r>
            <a:r>
              <a:rPr sz="1600" dirty="0">
                <a:latin typeface="Goudy Old Style"/>
                <a:cs typeface="Goudy Old Style"/>
              </a:rPr>
              <a:t>the </a:t>
            </a:r>
            <a:r>
              <a:rPr sz="1600" spc="-5" dirty="0">
                <a:latin typeface="Goudy Old Style"/>
                <a:cs typeface="Goudy Old Style"/>
              </a:rPr>
              <a:t>new </a:t>
            </a:r>
            <a:r>
              <a:rPr sz="1600" spc="5" dirty="0">
                <a:latin typeface="Goudy Old Style"/>
                <a:cs typeface="Goudy Old Style"/>
              </a:rPr>
              <a:t>server </a:t>
            </a:r>
            <a:r>
              <a:rPr sz="1600" spc="-5" dirty="0">
                <a:latin typeface="Goudy Old Style"/>
                <a:cs typeface="Goudy Old Style"/>
              </a:rPr>
              <a:t>and </a:t>
            </a:r>
            <a:r>
              <a:rPr sz="1600" dirty="0">
                <a:latin typeface="Goudy Old Style"/>
                <a:cs typeface="Goudy Old Style"/>
              </a:rPr>
              <a:t>specify that server </a:t>
            </a:r>
            <a:r>
              <a:rPr sz="1600" spc="-5" dirty="0">
                <a:latin typeface="Goudy Old Style"/>
                <a:cs typeface="Goudy Old Style"/>
              </a:rPr>
              <a:t>name,</a:t>
            </a:r>
            <a:r>
              <a:rPr sz="1600" spc="-75" dirty="0">
                <a:latin typeface="Goudy Old Style"/>
                <a:cs typeface="Goudy Old Style"/>
              </a:rPr>
              <a:t> </a:t>
            </a:r>
            <a:r>
              <a:rPr sz="1600" spc="-5" dirty="0">
                <a:latin typeface="Goudy Old Style"/>
                <a:cs typeface="Goudy Old Style"/>
              </a:rPr>
              <a:t>click</a:t>
            </a:r>
            <a:endParaRPr sz="1600">
              <a:latin typeface="Goudy Old Style"/>
              <a:cs typeface="Goudy Old Style"/>
            </a:endParaRPr>
          </a:p>
          <a:p>
            <a:pPr marL="184150">
              <a:lnSpc>
                <a:spcPts val="1825"/>
              </a:lnSpc>
            </a:pPr>
            <a:r>
              <a:rPr sz="1600" b="1" spc="-5" dirty="0">
                <a:latin typeface="Goudy Old Style"/>
                <a:cs typeface="Goudy Old Style"/>
              </a:rPr>
              <a:t>Review+create </a:t>
            </a:r>
            <a:r>
              <a:rPr sz="1600" spc="-5" dirty="0">
                <a:latin typeface="Goudy Old Style"/>
                <a:cs typeface="Goudy Old Style"/>
              </a:rPr>
              <a:t>on </a:t>
            </a:r>
            <a:r>
              <a:rPr sz="1600" b="1" spc="-5" dirty="0">
                <a:latin typeface="Goudy Old Style"/>
                <a:cs typeface="Goudy Old Style"/>
              </a:rPr>
              <a:t>Create SQL Database </a:t>
            </a:r>
            <a:r>
              <a:rPr sz="1600" dirty="0">
                <a:latin typeface="Goudy Old Style"/>
                <a:cs typeface="Goudy Old Style"/>
              </a:rPr>
              <a:t>page. The </a:t>
            </a:r>
            <a:r>
              <a:rPr sz="1600" spc="-5" dirty="0">
                <a:latin typeface="Goudy Old Style"/>
                <a:cs typeface="Goudy Old Style"/>
              </a:rPr>
              <a:t>database </a:t>
            </a:r>
            <a:r>
              <a:rPr sz="1600" dirty="0">
                <a:latin typeface="Goudy Old Style"/>
                <a:cs typeface="Goudy Old Style"/>
              </a:rPr>
              <a:t>will be </a:t>
            </a:r>
            <a:r>
              <a:rPr sz="1600" spc="-5" dirty="0">
                <a:latin typeface="Goudy Old Style"/>
                <a:cs typeface="Goudy Old Style"/>
              </a:rPr>
              <a:t>successfully</a:t>
            </a:r>
            <a:r>
              <a:rPr sz="1600" spc="60" dirty="0">
                <a:latin typeface="Goudy Old Style"/>
                <a:cs typeface="Goudy Old Style"/>
              </a:rPr>
              <a:t> </a:t>
            </a:r>
            <a:r>
              <a:rPr sz="1600" spc="-5" dirty="0">
                <a:latin typeface="Goudy Old Style"/>
                <a:cs typeface="Goudy Old Style"/>
              </a:rPr>
              <a:t>created.</a:t>
            </a:r>
            <a:endParaRPr sz="1600">
              <a:latin typeface="Goudy Old Style"/>
              <a:cs typeface="Goudy Old Style"/>
            </a:endParaRPr>
          </a:p>
        </p:txBody>
      </p:sp>
      <p:sp>
        <p:nvSpPr>
          <p:cNvPr id="45" name="object 45"/>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14</a:t>
            </a:fld>
            <a:endParaRPr sz="1800" baseline="2314"/>
          </a:p>
        </p:txBody>
      </p:sp>
      <p:sp>
        <p:nvSpPr>
          <p:cNvPr id="46" name="object 46"/>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47" name="object 4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608570" cy="574040"/>
          </a:xfrm>
          <a:prstGeom prst="rect">
            <a:avLst/>
          </a:prstGeom>
        </p:spPr>
        <p:txBody>
          <a:bodyPr vert="horz" wrap="square" lIns="0" tIns="12700" rIns="0" bIns="0" rtlCol="0">
            <a:spAutoFit/>
          </a:bodyPr>
          <a:lstStyle/>
          <a:p>
            <a:pPr marL="12700">
              <a:lnSpc>
                <a:spcPct val="100000"/>
              </a:lnSpc>
              <a:spcBef>
                <a:spcPts val="100"/>
              </a:spcBef>
            </a:pPr>
            <a:r>
              <a:rPr sz="3600" spc="235" dirty="0"/>
              <a:t>Connect</a:t>
            </a:r>
            <a:r>
              <a:rPr sz="3600" spc="-160" dirty="0"/>
              <a:t> </a:t>
            </a:r>
            <a:r>
              <a:rPr sz="3600" spc="200" dirty="0"/>
              <a:t>to</a:t>
            </a:r>
            <a:r>
              <a:rPr sz="3600" spc="-135" dirty="0"/>
              <a:t> </a:t>
            </a:r>
            <a:r>
              <a:rPr sz="3600" spc="114" dirty="0"/>
              <a:t>Azure</a:t>
            </a:r>
            <a:r>
              <a:rPr sz="3600" spc="-135" dirty="0"/>
              <a:t> </a:t>
            </a:r>
            <a:r>
              <a:rPr sz="3600" spc="175" dirty="0"/>
              <a:t>SQL</a:t>
            </a:r>
            <a:r>
              <a:rPr sz="3600" spc="-135" dirty="0"/>
              <a:t> </a:t>
            </a:r>
            <a:r>
              <a:rPr sz="3600" spc="160" dirty="0"/>
              <a:t>with</a:t>
            </a:r>
            <a:r>
              <a:rPr sz="3600" spc="-150" dirty="0"/>
              <a:t> </a:t>
            </a:r>
            <a:r>
              <a:rPr sz="3600" spc="130" dirty="0"/>
              <a:t>SSMS</a:t>
            </a:r>
            <a:r>
              <a:rPr sz="3600" spc="-120" dirty="0"/>
              <a:t> </a:t>
            </a:r>
            <a:r>
              <a:rPr sz="3600" spc="-25" dirty="0"/>
              <a:t>2-4</a:t>
            </a:r>
            <a:endParaRPr sz="3600"/>
          </a:p>
        </p:txBody>
      </p:sp>
      <p:sp>
        <p:nvSpPr>
          <p:cNvPr id="3" name="object 3"/>
          <p:cNvSpPr txBox="1"/>
          <p:nvPr/>
        </p:nvSpPr>
        <p:spPr>
          <a:xfrm>
            <a:off x="459740" y="1050290"/>
            <a:ext cx="600583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The </a:t>
            </a:r>
            <a:r>
              <a:rPr sz="1800" dirty="0">
                <a:latin typeface="Goudy Old Style"/>
                <a:cs typeface="Goudy Old Style"/>
              </a:rPr>
              <a:t>process </a:t>
            </a:r>
            <a:r>
              <a:rPr sz="1800" spc="-5" dirty="0">
                <a:latin typeface="Goudy Old Style"/>
                <a:cs typeface="Goudy Old Style"/>
              </a:rPr>
              <a:t>of connecting </a:t>
            </a:r>
            <a:r>
              <a:rPr sz="1800" dirty="0">
                <a:latin typeface="Goudy Old Style"/>
                <a:cs typeface="Goudy Old Style"/>
              </a:rPr>
              <a:t>SQL </a:t>
            </a:r>
            <a:r>
              <a:rPr sz="1800" spc="-5" dirty="0">
                <a:latin typeface="Goudy Old Style"/>
                <a:cs typeface="Goudy Old Style"/>
              </a:rPr>
              <a:t>Azure </a:t>
            </a:r>
            <a:r>
              <a:rPr sz="1800" dirty="0">
                <a:latin typeface="Goudy Old Style"/>
                <a:cs typeface="Goudy Old Style"/>
              </a:rPr>
              <a:t>with SSMS is </a:t>
            </a:r>
            <a:r>
              <a:rPr sz="1800" spc="-5" dirty="0">
                <a:latin typeface="Goudy Old Style"/>
                <a:cs typeface="Goudy Old Style"/>
              </a:rPr>
              <a:t>as</a:t>
            </a:r>
            <a:r>
              <a:rPr sz="1800" spc="-45" dirty="0">
                <a:latin typeface="Goudy Old Style"/>
                <a:cs typeface="Goudy Old Style"/>
              </a:rPr>
              <a:t> </a:t>
            </a:r>
            <a:r>
              <a:rPr sz="1800" spc="-5" dirty="0">
                <a:latin typeface="Goudy Old Style"/>
                <a:cs typeface="Goudy Old Style"/>
              </a:rPr>
              <a:t>follows:</a:t>
            </a:r>
            <a:endParaRPr sz="1800">
              <a:latin typeface="Goudy Old Style"/>
              <a:cs typeface="Goudy Old Style"/>
            </a:endParaRPr>
          </a:p>
        </p:txBody>
      </p:sp>
      <p:grpSp>
        <p:nvGrpSpPr>
          <p:cNvPr id="4" name="object 4"/>
          <p:cNvGrpSpPr/>
          <p:nvPr/>
        </p:nvGrpSpPr>
        <p:grpSpPr>
          <a:xfrm>
            <a:off x="101980" y="1595627"/>
            <a:ext cx="8121650" cy="4064635"/>
            <a:chOff x="101980" y="1595627"/>
            <a:chExt cx="8121650" cy="4064635"/>
          </a:xfrm>
        </p:grpSpPr>
        <p:sp>
          <p:nvSpPr>
            <p:cNvPr id="5" name="object 5"/>
            <p:cNvSpPr/>
            <p:nvPr/>
          </p:nvSpPr>
          <p:spPr>
            <a:xfrm>
              <a:off x="768096" y="1595627"/>
              <a:ext cx="7455534" cy="4064635"/>
            </a:xfrm>
            <a:custGeom>
              <a:avLst/>
              <a:gdLst/>
              <a:ahLst/>
              <a:cxnLst/>
              <a:rect l="l" t="t" r="r" b="b"/>
              <a:pathLst>
                <a:path w="7455534" h="4064635">
                  <a:moveTo>
                    <a:pt x="5423154" y="0"/>
                  </a:moveTo>
                  <a:lnTo>
                    <a:pt x="5423154" y="1016126"/>
                  </a:lnTo>
                  <a:lnTo>
                    <a:pt x="0" y="1016126"/>
                  </a:lnTo>
                  <a:lnTo>
                    <a:pt x="0" y="3048381"/>
                  </a:lnTo>
                  <a:lnTo>
                    <a:pt x="5423154" y="3048381"/>
                  </a:lnTo>
                  <a:lnTo>
                    <a:pt x="5423154" y="4064507"/>
                  </a:lnTo>
                  <a:lnTo>
                    <a:pt x="7455408" y="2032253"/>
                  </a:lnTo>
                  <a:lnTo>
                    <a:pt x="5423154" y="0"/>
                  </a:lnTo>
                  <a:close/>
                </a:path>
              </a:pathLst>
            </a:custGeom>
            <a:solidFill>
              <a:srgbClr val="244060"/>
            </a:solidFill>
          </p:spPr>
          <p:txBody>
            <a:bodyPr wrap="square" lIns="0" tIns="0" rIns="0" bIns="0" rtlCol="0"/>
            <a:lstStyle/>
            <a:p>
              <a:endParaRPr/>
            </a:p>
          </p:txBody>
        </p:sp>
        <p:sp>
          <p:nvSpPr>
            <p:cNvPr id="6" name="object 6"/>
            <p:cNvSpPr/>
            <p:nvPr/>
          </p:nvSpPr>
          <p:spPr>
            <a:xfrm>
              <a:off x="114680" y="2815208"/>
              <a:ext cx="1786889" cy="1582420"/>
            </a:xfrm>
            <a:custGeom>
              <a:avLst/>
              <a:gdLst/>
              <a:ahLst/>
              <a:cxnLst/>
              <a:rect l="l" t="t" r="r" b="b"/>
              <a:pathLst>
                <a:path w="1786889" h="1582420">
                  <a:moveTo>
                    <a:pt x="1530858" y="0"/>
                  </a:moveTo>
                  <a:lnTo>
                    <a:pt x="256032" y="0"/>
                  </a:lnTo>
                  <a:lnTo>
                    <a:pt x="210010" y="4245"/>
                  </a:lnTo>
                  <a:lnTo>
                    <a:pt x="166694" y="16488"/>
                  </a:lnTo>
                  <a:lnTo>
                    <a:pt x="126808" y="35983"/>
                  </a:lnTo>
                  <a:lnTo>
                    <a:pt x="91074" y="61988"/>
                  </a:lnTo>
                  <a:lnTo>
                    <a:pt x="60215" y="93760"/>
                  </a:lnTo>
                  <a:lnTo>
                    <a:pt x="34956" y="130555"/>
                  </a:lnTo>
                  <a:lnTo>
                    <a:pt x="16018" y="171631"/>
                  </a:lnTo>
                  <a:lnTo>
                    <a:pt x="4125" y="216244"/>
                  </a:lnTo>
                  <a:lnTo>
                    <a:pt x="0" y="263651"/>
                  </a:lnTo>
                  <a:lnTo>
                    <a:pt x="0" y="1318260"/>
                  </a:lnTo>
                  <a:lnTo>
                    <a:pt x="4125" y="1365667"/>
                  </a:lnTo>
                  <a:lnTo>
                    <a:pt x="16018" y="1410280"/>
                  </a:lnTo>
                  <a:lnTo>
                    <a:pt x="34956" y="1451355"/>
                  </a:lnTo>
                  <a:lnTo>
                    <a:pt x="60215" y="1488151"/>
                  </a:lnTo>
                  <a:lnTo>
                    <a:pt x="91074" y="1519923"/>
                  </a:lnTo>
                  <a:lnTo>
                    <a:pt x="126808" y="1545928"/>
                  </a:lnTo>
                  <a:lnTo>
                    <a:pt x="166694" y="1565423"/>
                  </a:lnTo>
                  <a:lnTo>
                    <a:pt x="210010" y="1577666"/>
                  </a:lnTo>
                  <a:lnTo>
                    <a:pt x="256032" y="1581911"/>
                  </a:lnTo>
                  <a:lnTo>
                    <a:pt x="1530858" y="1581911"/>
                  </a:lnTo>
                  <a:lnTo>
                    <a:pt x="1576866" y="1577666"/>
                  </a:lnTo>
                  <a:lnTo>
                    <a:pt x="1620175" y="1565423"/>
                  </a:lnTo>
                  <a:lnTo>
                    <a:pt x="1660059" y="1545928"/>
                  </a:lnTo>
                  <a:lnTo>
                    <a:pt x="1695794" y="1519923"/>
                  </a:lnTo>
                  <a:lnTo>
                    <a:pt x="1726657" y="1488151"/>
                  </a:lnTo>
                  <a:lnTo>
                    <a:pt x="1751922" y="1451355"/>
                  </a:lnTo>
                  <a:lnTo>
                    <a:pt x="1770866" y="1410280"/>
                  </a:lnTo>
                  <a:lnTo>
                    <a:pt x="1782763" y="1365667"/>
                  </a:lnTo>
                  <a:lnTo>
                    <a:pt x="1786889" y="1318260"/>
                  </a:lnTo>
                  <a:lnTo>
                    <a:pt x="1786889" y="263651"/>
                  </a:lnTo>
                  <a:lnTo>
                    <a:pt x="1782763" y="216244"/>
                  </a:lnTo>
                  <a:lnTo>
                    <a:pt x="1770866" y="171631"/>
                  </a:lnTo>
                  <a:lnTo>
                    <a:pt x="1751922" y="130555"/>
                  </a:lnTo>
                  <a:lnTo>
                    <a:pt x="1726657" y="93760"/>
                  </a:lnTo>
                  <a:lnTo>
                    <a:pt x="1695794" y="61988"/>
                  </a:lnTo>
                  <a:lnTo>
                    <a:pt x="1660059" y="35983"/>
                  </a:lnTo>
                  <a:lnTo>
                    <a:pt x="1620175" y="16488"/>
                  </a:lnTo>
                  <a:lnTo>
                    <a:pt x="1576866" y="4245"/>
                  </a:lnTo>
                  <a:lnTo>
                    <a:pt x="1530858" y="0"/>
                  </a:lnTo>
                  <a:close/>
                </a:path>
              </a:pathLst>
            </a:custGeom>
            <a:solidFill>
              <a:srgbClr val="C0504D"/>
            </a:solidFill>
          </p:spPr>
          <p:txBody>
            <a:bodyPr wrap="square" lIns="0" tIns="0" rIns="0" bIns="0" rtlCol="0"/>
            <a:lstStyle/>
            <a:p>
              <a:endParaRPr/>
            </a:p>
          </p:txBody>
        </p:sp>
        <p:sp>
          <p:nvSpPr>
            <p:cNvPr id="7" name="object 7"/>
            <p:cNvSpPr/>
            <p:nvPr/>
          </p:nvSpPr>
          <p:spPr>
            <a:xfrm>
              <a:off x="114680" y="2815208"/>
              <a:ext cx="1786889" cy="1582420"/>
            </a:xfrm>
            <a:custGeom>
              <a:avLst/>
              <a:gdLst/>
              <a:ahLst/>
              <a:cxnLst/>
              <a:rect l="l" t="t" r="r" b="b"/>
              <a:pathLst>
                <a:path w="1786889" h="1582420">
                  <a:moveTo>
                    <a:pt x="0" y="263651"/>
                  </a:moveTo>
                  <a:lnTo>
                    <a:pt x="4125" y="216244"/>
                  </a:lnTo>
                  <a:lnTo>
                    <a:pt x="16018" y="171631"/>
                  </a:lnTo>
                  <a:lnTo>
                    <a:pt x="34956" y="130555"/>
                  </a:lnTo>
                  <a:lnTo>
                    <a:pt x="60215" y="93760"/>
                  </a:lnTo>
                  <a:lnTo>
                    <a:pt x="91074" y="61988"/>
                  </a:lnTo>
                  <a:lnTo>
                    <a:pt x="126808" y="35983"/>
                  </a:lnTo>
                  <a:lnTo>
                    <a:pt x="166694" y="16488"/>
                  </a:lnTo>
                  <a:lnTo>
                    <a:pt x="210010" y="4245"/>
                  </a:lnTo>
                  <a:lnTo>
                    <a:pt x="256032" y="0"/>
                  </a:lnTo>
                  <a:lnTo>
                    <a:pt x="1530858" y="0"/>
                  </a:lnTo>
                  <a:lnTo>
                    <a:pt x="1576866" y="4245"/>
                  </a:lnTo>
                  <a:lnTo>
                    <a:pt x="1620175" y="16488"/>
                  </a:lnTo>
                  <a:lnTo>
                    <a:pt x="1660059" y="35983"/>
                  </a:lnTo>
                  <a:lnTo>
                    <a:pt x="1695794" y="61988"/>
                  </a:lnTo>
                  <a:lnTo>
                    <a:pt x="1726657" y="93760"/>
                  </a:lnTo>
                  <a:lnTo>
                    <a:pt x="1751922" y="130555"/>
                  </a:lnTo>
                  <a:lnTo>
                    <a:pt x="1770866" y="171631"/>
                  </a:lnTo>
                  <a:lnTo>
                    <a:pt x="1782763" y="216244"/>
                  </a:lnTo>
                  <a:lnTo>
                    <a:pt x="1786889" y="263651"/>
                  </a:lnTo>
                  <a:lnTo>
                    <a:pt x="1786889" y="1318260"/>
                  </a:lnTo>
                  <a:lnTo>
                    <a:pt x="1782763" y="1365667"/>
                  </a:lnTo>
                  <a:lnTo>
                    <a:pt x="1770866" y="1410280"/>
                  </a:lnTo>
                  <a:lnTo>
                    <a:pt x="1751922" y="1451355"/>
                  </a:lnTo>
                  <a:lnTo>
                    <a:pt x="1726657" y="1488151"/>
                  </a:lnTo>
                  <a:lnTo>
                    <a:pt x="1695794" y="1519923"/>
                  </a:lnTo>
                  <a:lnTo>
                    <a:pt x="1660059" y="1545928"/>
                  </a:lnTo>
                  <a:lnTo>
                    <a:pt x="1620175" y="1565423"/>
                  </a:lnTo>
                  <a:lnTo>
                    <a:pt x="1576866" y="1577666"/>
                  </a:lnTo>
                  <a:lnTo>
                    <a:pt x="1530858" y="1581911"/>
                  </a:lnTo>
                  <a:lnTo>
                    <a:pt x="256032" y="1581911"/>
                  </a:lnTo>
                  <a:lnTo>
                    <a:pt x="210010" y="1577666"/>
                  </a:lnTo>
                  <a:lnTo>
                    <a:pt x="166694" y="1565423"/>
                  </a:lnTo>
                  <a:lnTo>
                    <a:pt x="126808" y="1545928"/>
                  </a:lnTo>
                  <a:lnTo>
                    <a:pt x="91074" y="1519923"/>
                  </a:lnTo>
                  <a:lnTo>
                    <a:pt x="60215" y="1488151"/>
                  </a:lnTo>
                  <a:lnTo>
                    <a:pt x="34956" y="1451355"/>
                  </a:lnTo>
                  <a:lnTo>
                    <a:pt x="16018" y="1410280"/>
                  </a:lnTo>
                  <a:lnTo>
                    <a:pt x="4125" y="1365667"/>
                  </a:lnTo>
                  <a:lnTo>
                    <a:pt x="0" y="1318260"/>
                  </a:lnTo>
                  <a:lnTo>
                    <a:pt x="0" y="263651"/>
                  </a:lnTo>
                  <a:close/>
                </a:path>
              </a:pathLst>
            </a:custGeom>
            <a:ln w="25146">
              <a:solidFill>
                <a:srgbClr val="FFFFFF"/>
              </a:solidFill>
            </a:ln>
          </p:spPr>
          <p:txBody>
            <a:bodyPr wrap="square" lIns="0" tIns="0" rIns="0" bIns="0" rtlCol="0"/>
            <a:lstStyle/>
            <a:p>
              <a:endParaRPr/>
            </a:p>
          </p:txBody>
        </p:sp>
      </p:grpSp>
      <p:sp>
        <p:nvSpPr>
          <p:cNvPr id="8" name="object 8"/>
          <p:cNvSpPr txBox="1"/>
          <p:nvPr/>
        </p:nvSpPr>
        <p:spPr>
          <a:xfrm>
            <a:off x="418083" y="3008883"/>
            <a:ext cx="1337310" cy="1147445"/>
          </a:xfrm>
          <a:prstGeom prst="rect">
            <a:avLst/>
          </a:prstGeom>
        </p:spPr>
        <p:txBody>
          <a:bodyPr vert="horz" wrap="square" lIns="0" tIns="40005" rIns="0" bIns="0" rtlCol="0">
            <a:spAutoFit/>
          </a:bodyPr>
          <a:lstStyle/>
          <a:p>
            <a:pPr marL="179070" marR="5080" indent="-167005">
              <a:lnSpc>
                <a:spcPts val="1730"/>
              </a:lnSpc>
              <a:spcBef>
                <a:spcPts val="315"/>
              </a:spcBef>
            </a:pPr>
            <a:r>
              <a:rPr sz="1600" spc="20" dirty="0">
                <a:solidFill>
                  <a:srgbClr val="FFFFFF"/>
                </a:solidFill>
                <a:latin typeface="Goudy Old Style"/>
                <a:cs typeface="Goudy Old Style"/>
              </a:rPr>
              <a:t>1.Sign </a:t>
            </a:r>
            <a:r>
              <a:rPr sz="1600" spc="-5" dirty="0">
                <a:solidFill>
                  <a:srgbClr val="FFFFFF"/>
                </a:solidFill>
                <a:latin typeface="Goudy Old Style"/>
                <a:cs typeface="Goudy Old Style"/>
              </a:rPr>
              <a:t>in to  </a:t>
            </a:r>
            <a:r>
              <a:rPr sz="1600" spc="-10" dirty="0">
                <a:solidFill>
                  <a:srgbClr val="FFFFFF"/>
                </a:solidFill>
                <a:latin typeface="Goudy Old Style"/>
                <a:cs typeface="Goudy Old Style"/>
              </a:rPr>
              <a:t>your  </a:t>
            </a:r>
            <a:r>
              <a:rPr sz="1600" spc="-5" dirty="0">
                <a:solidFill>
                  <a:srgbClr val="FFFFFF"/>
                </a:solidFill>
                <a:latin typeface="Goudy Old Style"/>
                <a:cs typeface="Goudy Old Style"/>
              </a:rPr>
              <a:t>Microsoft  </a:t>
            </a:r>
            <a:r>
              <a:rPr sz="1600" spc="-10" dirty="0">
                <a:solidFill>
                  <a:srgbClr val="FFFFFF"/>
                </a:solidFill>
                <a:latin typeface="Goudy Old Style"/>
                <a:cs typeface="Goudy Old Style"/>
              </a:rPr>
              <a:t>Azure</a:t>
            </a:r>
            <a:r>
              <a:rPr sz="1600" spc="-80" dirty="0">
                <a:solidFill>
                  <a:srgbClr val="FFFFFF"/>
                </a:solidFill>
                <a:latin typeface="Goudy Old Style"/>
                <a:cs typeface="Goudy Old Style"/>
              </a:rPr>
              <a:t> </a:t>
            </a:r>
            <a:r>
              <a:rPr sz="1600" spc="-5" dirty="0">
                <a:solidFill>
                  <a:srgbClr val="FFFFFF"/>
                </a:solidFill>
                <a:latin typeface="Goudy Old Style"/>
                <a:cs typeface="Goudy Old Style"/>
              </a:rPr>
              <a:t>account  online.</a:t>
            </a:r>
            <a:endParaRPr sz="1600">
              <a:latin typeface="Goudy Old Style"/>
              <a:cs typeface="Goudy Old Style"/>
            </a:endParaRPr>
          </a:p>
        </p:txBody>
      </p:sp>
      <p:grpSp>
        <p:nvGrpSpPr>
          <p:cNvPr id="9" name="object 9"/>
          <p:cNvGrpSpPr/>
          <p:nvPr/>
        </p:nvGrpSpPr>
        <p:grpSpPr>
          <a:xfrm>
            <a:off x="2229485" y="2802508"/>
            <a:ext cx="1812289" cy="1607820"/>
            <a:chOff x="2229485" y="2802508"/>
            <a:chExt cx="1812289" cy="1607820"/>
          </a:xfrm>
        </p:grpSpPr>
        <p:sp>
          <p:nvSpPr>
            <p:cNvPr id="10" name="object 10"/>
            <p:cNvSpPr/>
            <p:nvPr/>
          </p:nvSpPr>
          <p:spPr>
            <a:xfrm>
              <a:off x="2242185" y="2815208"/>
              <a:ext cx="1786889" cy="1582420"/>
            </a:xfrm>
            <a:custGeom>
              <a:avLst/>
              <a:gdLst/>
              <a:ahLst/>
              <a:cxnLst/>
              <a:rect l="l" t="t" r="r" b="b"/>
              <a:pathLst>
                <a:path w="1786889" h="1582420">
                  <a:moveTo>
                    <a:pt x="1530858" y="0"/>
                  </a:moveTo>
                  <a:lnTo>
                    <a:pt x="256032" y="0"/>
                  </a:lnTo>
                  <a:lnTo>
                    <a:pt x="210023" y="4245"/>
                  </a:lnTo>
                  <a:lnTo>
                    <a:pt x="166714" y="16488"/>
                  </a:lnTo>
                  <a:lnTo>
                    <a:pt x="126830" y="35983"/>
                  </a:lnTo>
                  <a:lnTo>
                    <a:pt x="91095" y="61988"/>
                  </a:lnTo>
                  <a:lnTo>
                    <a:pt x="60232" y="93760"/>
                  </a:lnTo>
                  <a:lnTo>
                    <a:pt x="34967" y="130555"/>
                  </a:lnTo>
                  <a:lnTo>
                    <a:pt x="16023" y="171631"/>
                  </a:lnTo>
                  <a:lnTo>
                    <a:pt x="4126" y="216244"/>
                  </a:lnTo>
                  <a:lnTo>
                    <a:pt x="0" y="263651"/>
                  </a:lnTo>
                  <a:lnTo>
                    <a:pt x="0" y="1318260"/>
                  </a:lnTo>
                  <a:lnTo>
                    <a:pt x="4126" y="1365667"/>
                  </a:lnTo>
                  <a:lnTo>
                    <a:pt x="16023" y="1410280"/>
                  </a:lnTo>
                  <a:lnTo>
                    <a:pt x="34967" y="1451355"/>
                  </a:lnTo>
                  <a:lnTo>
                    <a:pt x="60232" y="1488151"/>
                  </a:lnTo>
                  <a:lnTo>
                    <a:pt x="91095" y="1519923"/>
                  </a:lnTo>
                  <a:lnTo>
                    <a:pt x="126830" y="1545928"/>
                  </a:lnTo>
                  <a:lnTo>
                    <a:pt x="166714" y="1565423"/>
                  </a:lnTo>
                  <a:lnTo>
                    <a:pt x="210023" y="1577666"/>
                  </a:lnTo>
                  <a:lnTo>
                    <a:pt x="256032" y="1581911"/>
                  </a:lnTo>
                  <a:lnTo>
                    <a:pt x="1530858" y="1581911"/>
                  </a:lnTo>
                  <a:lnTo>
                    <a:pt x="1576866" y="1577666"/>
                  </a:lnTo>
                  <a:lnTo>
                    <a:pt x="1620175" y="1565423"/>
                  </a:lnTo>
                  <a:lnTo>
                    <a:pt x="1660059" y="1545928"/>
                  </a:lnTo>
                  <a:lnTo>
                    <a:pt x="1695794" y="1519923"/>
                  </a:lnTo>
                  <a:lnTo>
                    <a:pt x="1726657" y="1488151"/>
                  </a:lnTo>
                  <a:lnTo>
                    <a:pt x="1751922" y="1451355"/>
                  </a:lnTo>
                  <a:lnTo>
                    <a:pt x="1770866" y="1410280"/>
                  </a:lnTo>
                  <a:lnTo>
                    <a:pt x="1782763" y="1365667"/>
                  </a:lnTo>
                  <a:lnTo>
                    <a:pt x="1786889" y="1318260"/>
                  </a:lnTo>
                  <a:lnTo>
                    <a:pt x="1786889" y="263651"/>
                  </a:lnTo>
                  <a:lnTo>
                    <a:pt x="1782763" y="216244"/>
                  </a:lnTo>
                  <a:lnTo>
                    <a:pt x="1770866" y="171631"/>
                  </a:lnTo>
                  <a:lnTo>
                    <a:pt x="1751922" y="130555"/>
                  </a:lnTo>
                  <a:lnTo>
                    <a:pt x="1726657" y="93760"/>
                  </a:lnTo>
                  <a:lnTo>
                    <a:pt x="1695794" y="61988"/>
                  </a:lnTo>
                  <a:lnTo>
                    <a:pt x="1660059" y="35983"/>
                  </a:lnTo>
                  <a:lnTo>
                    <a:pt x="1620175" y="16488"/>
                  </a:lnTo>
                  <a:lnTo>
                    <a:pt x="1576866" y="4245"/>
                  </a:lnTo>
                  <a:lnTo>
                    <a:pt x="1530858" y="0"/>
                  </a:lnTo>
                  <a:close/>
                </a:path>
              </a:pathLst>
            </a:custGeom>
            <a:solidFill>
              <a:srgbClr val="9BBA58"/>
            </a:solidFill>
          </p:spPr>
          <p:txBody>
            <a:bodyPr wrap="square" lIns="0" tIns="0" rIns="0" bIns="0" rtlCol="0"/>
            <a:lstStyle/>
            <a:p>
              <a:endParaRPr/>
            </a:p>
          </p:txBody>
        </p:sp>
        <p:sp>
          <p:nvSpPr>
            <p:cNvPr id="11" name="object 11"/>
            <p:cNvSpPr/>
            <p:nvPr/>
          </p:nvSpPr>
          <p:spPr>
            <a:xfrm>
              <a:off x="2242185" y="2815208"/>
              <a:ext cx="1786889" cy="1582420"/>
            </a:xfrm>
            <a:custGeom>
              <a:avLst/>
              <a:gdLst/>
              <a:ahLst/>
              <a:cxnLst/>
              <a:rect l="l" t="t" r="r" b="b"/>
              <a:pathLst>
                <a:path w="1786889" h="1582420">
                  <a:moveTo>
                    <a:pt x="0" y="263651"/>
                  </a:moveTo>
                  <a:lnTo>
                    <a:pt x="4126" y="216244"/>
                  </a:lnTo>
                  <a:lnTo>
                    <a:pt x="16023" y="171631"/>
                  </a:lnTo>
                  <a:lnTo>
                    <a:pt x="34967" y="130555"/>
                  </a:lnTo>
                  <a:lnTo>
                    <a:pt x="60232" y="93760"/>
                  </a:lnTo>
                  <a:lnTo>
                    <a:pt x="91095" y="61988"/>
                  </a:lnTo>
                  <a:lnTo>
                    <a:pt x="126830" y="35983"/>
                  </a:lnTo>
                  <a:lnTo>
                    <a:pt x="166714" y="16488"/>
                  </a:lnTo>
                  <a:lnTo>
                    <a:pt x="210023" y="4245"/>
                  </a:lnTo>
                  <a:lnTo>
                    <a:pt x="256032" y="0"/>
                  </a:lnTo>
                  <a:lnTo>
                    <a:pt x="1530858" y="0"/>
                  </a:lnTo>
                  <a:lnTo>
                    <a:pt x="1576866" y="4245"/>
                  </a:lnTo>
                  <a:lnTo>
                    <a:pt x="1620175" y="16488"/>
                  </a:lnTo>
                  <a:lnTo>
                    <a:pt x="1660059" y="35983"/>
                  </a:lnTo>
                  <a:lnTo>
                    <a:pt x="1695794" y="61988"/>
                  </a:lnTo>
                  <a:lnTo>
                    <a:pt x="1726657" y="93760"/>
                  </a:lnTo>
                  <a:lnTo>
                    <a:pt x="1751922" y="130555"/>
                  </a:lnTo>
                  <a:lnTo>
                    <a:pt x="1770866" y="171631"/>
                  </a:lnTo>
                  <a:lnTo>
                    <a:pt x="1782763" y="216244"/>
                  </a:lnTo>
                  <a:lnTo>
                    <a:pt x="1786889" y="263651"/>
                  </a:lnTo>
                  <a:lnTo>
                    <a:pt x="1786889" y="1318260"/>
                  </a:lnTo>
                  <a:lnTo>
                    <a:pt x="1782763" y="1365667"/>
                  </a:lnTo>
                  <a:lnTo>
                    <a:pt x="1770866" y="1410280"/>
                  </a:lnTo>
                  <a:lnTo>
                    <a:pt x="1751922" y="1451355"/>
                  </a:lnTo>
                  <a:lnTo>
                    <a:pt x="1726657" y="1488151"/>
                  </a:lnTo>
                  <a:lnTo>
                    <a:pt x="1695794" y="1519923"/>
                  </a:lnTo>
                  <a:lnTo>
                    <a:pt x="1660059" y="1545928"/>
                  </a:lnTo>
                  <a:lnTo>
                    <a:pt x="1620175" y="1565423"/>
                  </a:lnTo>
                  <a:lnTo>
                    <a:pt x="1576866" y="1577666"/>
                  </a:lnTo>
                  <a:lnTo>
                    <a:pt x="1530858" y="1581911"/>
                  </a:lnTo>
                  <a:lnTo>
                    <a:pt x="256032" y="1581911"/>
                  </a:lnTo>
                  <a:lnTo>
                    <a:pt x="210023" y="1577666"/>
                  </a:lnTo>
                  <a:lnTo>
                    <a:pt x="166714" y="1565423"/>
                  </a:lnTo>
                  <a:lnTo>
                    <a:pt x="126830" y="1545928"/>
                  </a:lnTo>
                  <a:lnTo>
                    <a:pt x="91095" y="1519923"/>
                  </a:lnTo>
                  <a:lnTo>
                    <a:pt x="60232" y="1488151"/>
                  </a:lnTo>
                  <a:lnTo>
                    <a:pt x="34967" y="1451355"/>
                  </a:lnTo>
                  <a:lnTo>
                    <a:pt x="16023" y="1410280"/>
                  </a:lnTo>
                  <a:lnTo>
                    <a:pt x="4126" y="1365667"/>
                  </a:lnTo>
                  <a:lnTo>
                    <a:pt x="0" y="1318260"/>
                  </a:lnTo>
                  <a:lnTo>
                    <a:pt x="0" y="263651"/>
                  </a:lnTo>
                  <a:close/>
                </a:path>
              </a:pathLst>
            </a:custGeom>
            <a:ln w="25146">
              <a:solidFill>
                <a:srgbClr val="FFFFFF"/>
              </a:solidFill>
            </a:ln>
          </p:spPr>
          <p:txBody>
            <a:bodyPr wrap="square" lIns="0" tIns="0" rIns="0" bIns="0" rtlCol="0"/>
            <a:lstStyle/>
            <a:p>
              <a:endParaRPr/>
            </a:p>
          </p:txBody>
        </p:sp>
      </p:grpSp>
      <p:sp>
        <p:nvSpPr>
          <p:cNvPr id="12" name="object 12"/>
          <p:cNvSpPr txBox="1"/>
          <p:nvPr/>
        </p:nvSpPr>
        <p:spPr>
          <a:xfrm>
            <a:off x="2545842" y="3008883"/>
            <a:ext cx="1240155" cy="1147445"/>
          </a:xfrm>
          <a:prstGeom prst="rect">
            <a:avLst/>
          </a:prstGeom>
        </p:spPr>
        <p:txBody>
          <a:bodyPr vert="horz" wrap="square" lIns="0" tIns="40005" rIns="0" bIns="0" rtlCol="0">
            <a:spAutoFit/>
          </a:bodyPr>
          <a:lstStyle/>
          <a:p>
            <a:pPr marL="179070" marR="5080" indent="-167005">
              <a:lnSpc>
                <a:spcPts val="1730"/>
              </a:lnSpc>
              <a:spcBef>
                <a:spcPts val="315"/>
              </a:spcBef>
            </a:pPr>
            <a:r>
              <a:rPr sz="1600" spc="20" dirty="0">
                <a:solidFill>
                  <a:srgbClr val="FFFFFF"/>
                </a:solidFill>
                <a:latin typeface="Goudy Old Style"/>
                <a:cs typeface="Goudy Old Style"/>
              </a:rPr>
              <a:t>2.Open  </a:t>
            </a:r>
            <a:r>
              <a:rPr sz="1600" spc="-5" dirty="0">
                <a:solidFill>
                  <a:srgbClr val="FFFFFF"/>
                </a:solidFill>
                <a:latin typeface="Goudy Old Style"/>
                <a:cs typeface="Goudy Old Style"/>
              </a:rPr>
              <a:t>Microsoft  </a:t>
            </a:r>
            <a:r>
              <a:rPr sz="1600" dirty="0">
                <a:solidFill>
                  <a:srgbClr val="FFFFFF"/>
                </a:solidFill>
                <a:latin typeface="Goudy Old Style"/>
                <a:cs typeface="Goudy Old Style"/>
              </a:rPr>
              <a:t>SQL </a:t>
            </a:r>
            <a:r>
              <a:rPr sz="1600" spc="5" dirty="0">
                <a:solidFill>
                  <a:srgbClr val="FFFFFF"/>
                </a:solidFill>
                <a:latin typeface="Goudy Old Style"/>
                <a:cs typeface="Goudy Old Style"/>
              </a:rPr>
              <a:t>Server  </a:t>
            </a:r>
            <a:r>
              <a:rPr sz="1600" spc="-5" dirty="0">
                <a:solidFill>
                  <a:srgbClr val="FFFFFF"/>
                </a:solidFill>
                <a:latin typeface="Goudy Old Style"/>
                <a:cs typeface="Goudy Old Style"/>
              </a:rPr>
              <a:t>Manageme</a:t>
            </a:r>
            <a:r>
              <a:rPr sz="1600" dirty="0">
                <a:solidFill>
                  <a:srgbClr val="FFFFFF"/>
                </a:solidFill>
                <a:latin typeface="Goudy Old Style"/>
                <a:cs typeface="Goudy Old Style"/>
              </a:rPr>
              <a:t>nt  Studio.</a:t>
            </a:r>
            <a:endParaRPr sz="1600">
              <a:latin typeface="Goudy Old Style"/>
              <a:cs typeface="Goudy Old Style"/>
            </a:endParaRPr>
          </a:p>
        </p:txBody>
      </p:sp>
      <p:grpSp>
        <p:nvGrpSpPr>
          <p:cNvPr id="13" name="object 13"/>
          <p:cNvGrpSpPr/>
          <p:nvPr/>
        </p:nvGrpSpPr>
        <p:grpSpPr>
          <a:xfrm>
            <a:off x="4209160" y="2802508"/>
            <a:ext cx="1812289" cy="1607820"/>
            <a:chOff x="4209160" y="2802508"/>
            <a:chExt cx="1812289" cy="1607820"/>
          </a:xfrm>
        </p:grpSpPr>
        <p:sp>
          <p:nvSpPr>
            <p:cNvPr id="14" name="object 14"/>
            <p:cNvSpPr/>
            <p:nvPr/>
          </p:nvSpPr>
          <p:spPr>
            <a:xfrm>
              <a:off x="4221860" y="2815208"/>
              <a:ext cx="1786889" cy="1582420"/>
            </a:xfrm>
            <a:custGeom>
              <a:avLst/>
              <a:gdLst/>
              <a:ahLst/>
              <a:cxnLst/>
              <a:rect l="l" t="t" r="r" b="b"/>
              <a:pathLst>
                <a:path w="1786889" h="1582420">
                  <a:moveTo>
                    <a:pt x="1530858" y="0"/>
                  </a:moveTo>
                  <a:lnTo>
                    <a:pt x="256032" y="0"/>
                  </a:lnTo>
                  <a:lnTo>
                    <a:pt x="210023" y="4245"/>
                  </a:lnTo>
                  <a:lnTo>
                    <a:pt x="166714" y="16488"/>
                  </a:lnTo>
                  <a:lnTo>
                    <a:pt x="126830" y="35983"/>
                  </a:lnTo>
                  <a:lnTo>
                    <a:pt x="91095" y="61988"/>
                  </a:lnTo>
                  <a:lnTo>
                    <a:pt x="60232" y="93760"/>
                  </a:lnTo>
                  <a:lnTo>
                    <a:pt x="34967" y="130555"/>
                  </a:lnTo>
                  <a:lnTo>
                    <a:pt x="16023" y="171631"/>
                  </a:lnTo>
                  <a:lnTo>
                    <a:pt x="4126" y="216244"/>
                  </a:lnTo>
                  <a:lnTo>
                    <a:pt x="0" y="263651"/>
                  </a:lnTo>
                  <a:lnTo>
                    <a:pt x="0" y="1318260"/>
                  </a:lnTo>
                  <a:lnTo>
                    <a:pt x="4126" y="1365667"/>
                  </a:lnTo>
                  <a:lnTo>
                    <a:pt x="16023" y="1410280"/>
                  </a:lnTo>
                  <a:lnTo>
                    <a:pt x="34967" y="1451355"/>
                  </a:lnTo>
                  <a:lnTo>
                    <a:pt x="60232" y="1488151"/>
                  </a:lnTo>
                  <a:lnTo>
                    <a:pt x="91095" y="1519923"/>
                  </a:lnTo>
                  <a:lnTo>
                    <a:pt x="126830" y="1545928"/>
                  </a:lnTo>
                  <a:lnTo>
                    <a:pt x="166714" y="1565423"/>
                  </a:lnTo>
                  <a:lnTo>
                    <a:pt x="210023" y="1577666"/>
                  </a:lnTo>
                  <a:lnTo>
                    <a:pt x="256032" y="1581911"/>
                  </a:lnTo>
                  <a:lnTo>
                    <a:pt x="1530858" y="1581911"/>
                  </a:lnTo>
                  <a:lnTo>
                    <a:pt x="1576866" y="1577666"/>
                  </a:lnTo>
                  <a:lnTo>
                    <a:pt x="1620175" y="1565423"/>
                  </a:lnTo>
                  <a:lnTo>
                    <a:pt x="1660059" y="1545928"/>
                  </a:lnTo>
                  <a:lnTo>
                    <a:pt x="1695794" y="1519923"/>
                  </a:lnTo>
                  <a:lnTo>
                    <a:pt x="1726657" y="1488151"/>
                  </a:lnTo>
                  <a:lnTo>
                    <a:pt x="1751922" y="1451355"/>
                  </a:lnTo>
                  <a:lnTo>
                    <a:pt x="1770866" y="1410280"/>
                  </a:lnTo>
                  <a:lnTo>
                    <a:pt x="1782763" y="1365667"/>
                  </a:lnTo>
                  <a:lnTo>
                    <a:pt x="1786889" y="1318260"/>
                  </a:lnTo>
                  <a:lnTo>
                    <a:pt x="1786889" y="263651"/>
                  </a:lnTo>
                  <a:lnTo>
                    <a:pt x="1782763" y="216244"/>
                  </a:lnTo>
                  <a:lnTo>
                    <a:pt x="1770866" y="171631"/>
                  </a:lnTo>
                  <a:lnTo>
                    <a:pt x="1751922" y="130555"/>
                  </a:lnTo>
                  <a:lnTo>
                    <a:pt x="1726657" y="93760"/>
                  </a:lnTo>
                  <a:lnTo>
                    <a:pt x="1695794" y="61988"/>
                  </a:lnTo>
                  <a:lnTo>
                    <a:pt x="1660059" y="35983"/>
                  </a:lnTo>
                  <a:lnTo>
                    <a:pt x="1620175" y="16488"/>
                  </a:lnTo>
                  <a:lnTo>
                    <a:pt x="1576866" y="4245"/>
                  </a:lnTo>
                  <a:lnTo>
                    <a:pt x="1530858" y="0"/>
                  </a:lnTo>
                  <a:close/>
                </a:path>
              </a:pathLst>
            </a:custGeom>
            <a:solidFill>
              <a:srgbClr val="8063A1"/>
            </a:solidFill>
          </p:spPr>
          <p:txBody>
            <a:bodyPr wrap="square" lIns="0" tIns="0" rIns="0" bIns="0" rtlCol="0"/>
            <a:lstStyle/>
            <a:p>
              <a:endParaRPr/>
            </a:p>
          </p:txBody>
        </p:sp>
        <p:sp>
          <p:nvSpPr>
            <p:cNvPr id="15" name="object 15"/>
            <p:cNvSpPr/>
            <p:nvPr/>
          </p:nvSpPr>
          <p:spPr>
            <a:xfrm>
              <a:off x="4221860" y="2815208"/>
              <a:ext cx="1786889" cy="1582420"/>
            </a:xfrm>
            <a:custGeom>
              <a:avLst/>
              <a:gdLst/>
              <a:ahLst/>
              <a:cxnLst/>
              <a:rect l="l" t="t" r="r" b="b"/>
              <a:pathLst>
                <a:path w="1786889" h="1582420">
                  <a:moveTo>
                    <a:pt x="0" y="263651"/>
                  </a:moveTo>
                  <a:lnTo>
                    <a:pt x="4126" y="216244"/>
                  </a:lnTo>
                  <a:lnTo>
                    <a:pt x="16023" y="171631"/>
                  </a:lnTo>
                  <a:lnTo>
                    <a:pt x="34967" y="130555"/>
                  </a:lnTo>
                  <a:lnTo>
                    <a:pt x="60232" y="93760"/>
                  </a:lnTo>
                  <a:lnTo>
                    <a:pt x="91095" y="61988"/>
                  </a:lnTo>
                  <a:lnTo>
                    <a:pt x="126830" y="35983"/>
                  </a:lnTo>
                  <a:lnTo>
                    <a:pt x="166714" y="16488"/>
                  </a:lnTo>
                  <a:lnTo>
                    <a:pt x="210023" y="4245"/>
                  </a:lnTo>
                  <a:lnTo>
                    <a:pt x="256032" y="0"/>
                  </a:lnTo>
                  <a:lnTo>
                    <a:pt x="1530858" y="0"/>
                  </a:lnTo>
                  <a:lnTo>
                    <a:pt x="1576866" y="4245"/>
                  </a:lnTo>
                  <a:lnTo>
                    <a:pt x="1620175" y="16488"/>
                  </a:lnTo>
                  <a:lnTo>
                    <a:pt x="1660059" y="35983"/>
                  </a:lnTo>
                  <a:lnTo>
                    <a:pt x="1695794" y="61988"/>
                  </a:lnTo>
                  <a:lnTo>
                    <a:pt x="1726657" y="93760"/>
                  </a:lnTo>
                  <a:lnTo>
                    <a:pt x="1751922" y="130555"/>
                  </a:lnTo>
                  <a:lnTo>
                    <a:pt x="1770866" y="171631"/>
                  </a:lnTo>
                  <a:lnTo>
                    <a:pt x="1782763" y="216244"/>
                  </a:lnTo>
                  <a:lnTo>
                    <a:pt x="1786889" y="263651"/>
                  </a:lnTo>
                  <a:lnTo>
                    <a:pt x="1786889" y="1318260"/>
                  </a:lnTo>
                  <a:lnTo>
                    <a:pt x="1782763" y="1365667"/>
                  </a:lnTo>
                  <a:lnTo>
                    <a:pt x="1770866" y="1410280"/>
                  </a:lnTo>
                  <a:lnTo>
                    <a:pt x="1751922" y="1451355"/>
                  </a:lnTo>
                  <a:lnTo>
                    <a:pt x="1726657" y="1488151"/>
                  </a:lnTo>
                  <a:lnTo>
                    <a:pt x="1695794" y="1519923"/>
                  </a:lnTo>
                  <a:lnTo>
                    <a:pt x="1660059" y="1545928"/>
                  </a:lnTo>
                  <a:lnTo>
                    <a:pt x="1620175" y="1565423"/>
                  </a:lnTo>
                  <a:lnTo>
                    <a:pt x="1576866" y="1577666"/>
                  </a:lnTo>
                  <a:lnTo>
                    <a:pt x="1530858" y="1581911"/>
                  </a:lnTo>
                  <a:lnTo>
                    <a:pt x="256032" y="1581911"/>
                  </a:lnTo>
                  <a:lnTo>
                    <a:pt x="210023" y="1577666"/>
                  </a:lnTo>
                  <a:lnTo>
                    <a:pt x="166714" y="1565423"/>
                  </a:lnTo>
                  <a:lnTo>
                    <a:pt x="126830" y="1545928"/>
                  </a:lnTo>
                  <a:lnTo>
                    <a:pt x="91095" y="1519923"/>
                  </a:lnTo>
                  <a:lnTo>
                    <a:pt x="60232" y="1488151"/>
                  </a:lnTo>
                  <a:lnTo>
                    <a:pt x="34967" y="1451355"/>
                  </a:lnTo>
                  <a:lnTo>
                    <a:pt x="16023" y="1410280"/>
                  </a:lnTo>
                  <a:lnTo>
                    <a:pt x="4126" y="1365667"/>
                  </a:lnTo>
                  <a:lnTo>
                    <a:pt x="0" y="1318260"/>
                  </a:lnTo>
                  <a:lnTo>
                    <a:pt x="0" y="263651"/>
                  </a:lnTo>
                  <a:close/>
                </a:path>
              </a:pathLst>
            </a:custGeom>
            <a:ln w="25146">
              <a:solidFill>
                <a:srgbClr val="FFFFFF"/>
              </a:solidFill>
            </a:ln>
          </p:spPr>
          <p:txBody>
            <a:bodyPr wrap="square" lIns="0" tIns="0" rIns="0" bIns="0" rtlCol="0"/>
            <a:lstStyle/>
            <a:p>
              <a:endParaRPr/>
            </a:p>
          </p:txBody>
        </p:sp>
      </p:grpSp>
      <p:sp>
        <p:nvSpPr>
          <p:cNvPr id="16" name="object 16"/>
          <p:cNvSpPr txBox="1"/>
          <p:nvPr/>
        </p:nvSpPr>
        <p:spPr>
          <a:xfrm>
            <a:off x="4349750" y="2899155"/>
            <a:ext cx="1515745" cy="1367155"/>
          </a:xfrm>
          <a:prstGeom prst="rect">
            <a:avLst/>
          </a:prstGeom>
        </p:spPr>
        <p:txBody>
          <a:bodyPr vert="horz" wrap="square" lIns="0" tIns="40005" rIns="0" bIns="0" rtlCol="0">
            <a:spAutoFit/>
          </a:bodyPr>
          <a:lstStyle/>
          <a:p>
            <a:pPr marL="355600" marR="5080" indent="-342900">
              <a:lnSpc>
                <a:spcPts val="1730"/>
              </a:lnSpc>
              <a:spcBef>
                <a:spcPts val="315"/>
              </a:spcBef>
              <a:tabLst>
                <a:tab pos="354965" algn="l"/>
              </a:tabLst>
            </a:pPr>
            <a:r>
              <a:rPr sz="1600" dirty="0">
                <a:solidFill>
                  <a:srgbClr val="FFFFFF"/>
                </a:solidFill>
                <a:latin typeface="Goudy Old Style"/>
                <a:cs typeface="Goudy Old Style"/>
              </a:rPr>
              <a:t>3.	</a:t>
            </a:r>
            <a:r>
              <a:rPr sz="1600" spc="-5" dirty="0">
                <a:solidFill>
                  <a:srgbClr val="FFFFFF"/>
                </a:solidFill>
                <a:latin typeface="Goudy Old Style"/>
                <a:cs typeface="Goudy Old Style"/>
              </a:rPr>
              <a:t>In </a:t>
            </a:r>
            <a:r>
              <a:rPr sz="1600" b="1" spc="-5" dirty="0">
                <a:solidFill>
                  <a:srgbClr val="FFFFFF"/>
                </a:solidFill>
                <a:latin typeface="Goudy Old Style"/>
                <a:cs typeface="Goudy Old Style"/>
              </a:rPr>
              <a:t>Connect</a:t>
            </a:r>
            <a:r>
              <a:rPr sz="1600" b="1" spc="-95" dirty="0">
                <a:solidFill>
                  <a:srgbClr val="FFFFFF"/>
                </a:solidFill>
                <a:latin typeface="Goudy Old Style"/>
                <a:cs typeface="Goudy Old Style"/>
              </a:rPr>
              <a:t> </a:t>
            </a:r>
            <a:r>
              <a:rPr sz="1600" b="1" spc="-10" dirty="0">
                <a:solidFill>
                  <a:srgbClr val="FFFFFF"/>
                </a:solidFill>
                <a:latin typeface="Goudy Old Style"/>
                <a:cs typeface="Goudy Old Style"/>
              </a:rPr>
              <a:t>to  </a:t>
            </a:r>
            <a:r>
              <a:rPr sz="1600" b="1" dirty="0">
                <a:solidFill>
                  <a:srgbClr val="FFFFFF"/>
                </a:solidFill>
                <a:latin typeface="Goudy Old Style"/>
                <a:cs typeface="Goudy Old Style"/>
              </a:rPr>
              <a:t>Server </a:t>
            </a:r>
            <a:r>
              <a:rPr sz="1600" spc="-5" dirty="0">
                <a:solidFill>
                  <a:srgbClr val="FFFFFF"/>
                </a:solidFill>
                <a:latin typeface="Goudy Old Style"/>
                <a:cs typeface="Goudy Old Style"/>
              </a:rPr>
              <a:t>dialog  </a:t>
            </a:r>
            <a:r>
              <a:rPr sz="1600" spc="-10" dirty="0">
                <a:solidFill>
                  <a:srgbClr val="FFFFFF"/>
                </a:solidFill>
                <a:latin typeface="Goudy Old Style"/>
                <a:cs typeface="Goudy Old Style"/>
              </a:rPr>
              <a:t>box, </a:t>
            </a:r>
            <a:r>
              <a:rPr sz="1600" dirty="0">
                <a:solidFill>
                  <a:srgbClr val="FFFFFF"/>
                </a:solidFill>
                <a:latin typeface="Goudy Old Style"/>
                <a:cs typeface="Goudy Old Style"/>
              </a:rPr>
              <a:t>specify  </a:t>
            </a:r>
            <a:r>
              <a:rPr sz="1600" spc="-5" dirty="0">
                <a:solidFill>
                  <a:srgbClr val="FFFFFF"/>
                </a:solidFill>
                <a:latin typeface="Goudy Old Style"/>
                <a:cs typeface="Goudy Old Style"/>
              </a:rPr>
              <a:t>name of </a:t>
            </a:r>
            <a:r>
              <a:rPr sz="1600" dirty="0">
                <a:solidFill>
                  <a:srgbClr val="FFFFFF"/>
                </a:solidFill>
                <a:latin typeface="Goudy Old Style"/>
                <a:cs typeface="Goudy Old Style"/>
              </a:rPr>
              <a:t>the  </a:t>
            </a:r>
            <a:r>
              <a:rPr sz="1600" spc="-10" dirty="0">
                <a:solidFill>
                  <a:srgbClr val="FFFFFF"/>
                </a:solidFill>
                <a:latin typeface="Goudy Old Style"/>
                <a:cs typeface="Goudy Old Style"/>
              </a:rPr>
              <a:t>Azure </a:t>
            </a:r>
            <a:r>
              <a:rPr sz="1600" dirty="0">
                <a:solidFill>
                  <a:srgbClr val="FFFFFF"/>
                </a:solidFill>
                <a:latin typeface="Goudy Old Style"/>
                <a:cs typeface="Goudy Old Style"/>
              </a:rPr>
              <a:t>SQL  </a:t>
            </a:r>
            <a:r>
              <a:rPr sz="1600" spc="-5" dirty="0">
                <a:solidFill>
                  <a:srgbClr val="FFFFFF"/>
                </a:solidFill>
                <a:latin typeface="Goudy Old Style"/>
                <a:cs typeface="Goudy Old Style"/>
              </a:rPr>
              <a:t>server.</a:t>
            </a:r>
            <a:endParaRPr sz="1600">
              <a:latin typeface="Goudy Old Style"/>
              <a:cs typeface="Goudy Old Style"/>
            </a:endParaRPr>
          </a:p>
        </p:txBody>
      </p:sp>
      <p:grpSp>
        <p:nvGrpSpPr>
          <p:cNvPr id="17" name="object 17"/>
          <p:cNvGrpSpPr/>
          <p:nvPr/>
        </p:nvGrpSpPr>
        <p:grpSpPr>
          <a:xfrm>
            <a:off x="6210300" y="2802635"/>
            <a:ext cx="2219325" cy="1607185"/>
            <a:chOff x="6210300" y="2802635"/>
            <a:chExt cx="2219325" cy="1607185"/>
          </a:xfrm>
        </p:grpSpPr>
        <p:sp>
          <p:nvSpPr>
            <p:cNvPr id="18" name="object 18"/>
            <p:cNvSpPr/>
            <p:nvPr/>
          </p:nvSpPr>
          <p:spPr>
            <a:xfrm>
              <a:off x="6222873" y="2815208"/>
              <a:ext cx="2193925" cy="1582420"/>
            </a:xfrm>
            <a:custGeom>
              <a:avLst/>
              <a:gdLst/>
              <a:ahLst/>
              <a:cxnLst/>
              <a:rect l="l" t="t" r="r" b="b"/>
              <a:pathLst>
                <a:path w="2193925" h="1582420">
                  <a:moveTo>
                    <a:pt x="1879473" y="0"/>
                  </a:moveTo>
                  <a:lnTo>
                    <a:pt x="314325" y="0"/>
                  </a:lnTo>
                  <a:lnTo>
                    <a:pt x="263336" y="3449"/>
                  </a:lnTo>
                  <a:lnTo>
                    <a:pt x="214969" y="13435"/>
                  </a:lnTo>
                  <a:lnTo>
                    <a:pt x="169869" y="29417"/>
                  </a:lnTo>
                  <a:lnTo>
                    <a:pt x="128683" y="50852"/>
                  </a:lnTo>
                  <a:lnTo>
                    <a:pt x="92059" y="77200"/>
                  </a:lnTo>
                  <a:lnTo>
                    <a:pt x="60643" y="107917"/>
                  </a:lnTo>
                  <a:lnTo>
                    <a:pt x="35082" y="142463"/>
                  </a:lnTo>
                  <a:lnTo>
                    <a:pt x="16023" y="180295"/>
                  </a:lnTo>
                  <a:lnTo>
                    <a:pt x="4113" y="220872"/>
                  </a:lnTo>
                  <a:lnTo>
                    <a:pt x="0" y="263651"/>
                  </a:lnTo>
                  <a:lnTo>
                    <a:pt x="0" y="1318260"/>
                  </a:lnTo>
                  <a:lnTo>
                    <a:pt x="4113" y="1361039"/>
                  </a:lnTo>
                  <a:lnTo>
                    <a:pt x="16023" y="1401616"/>
                  </a:lnTo>
                  <a:lnTo>
                    <a:pt x="35082" y="1439448"/>
                  </a:lnTo>
                  <a:lnTo>
                    <a:pt x="60643" y="1473994"/>
                  </a:lnTo>
                  <a:lnTo>
                    <a:pt x="92059" y="1504711"/>
                  </a:lnTo>
                  <a:lnTo>
                    <a:pt x="128683" y="1531059"/>
                  </a:lnTo>
                  <a:lnTo>
                    <a:pt x="169869" y="1552494"/>
                  </a:lnTo>
                  <a:lnTo>
                    <a:pt x="214969" y="1568476"/>
                  </a:lnTo>
                  <a:lnTo>
                    <a:pt x="263336" y="1578462"/>
                  </a:lnTo>
                  <a:lnTo>
                    <a:pt x="314325" y="1581911"/>
                  </a:lnTo>
                  <a:lnTo>
                    <a:pt x="1879473" y="1581911"/>
                  </a:lnTo>
                  <a:lnTo>
                    <a:pt x="1930461" y="1578462"/>
                  </a:lnTo>
                  <a:lnTo>
                    <a:pt x="1978828" y="1568476"/>
                  </a:lnTo>
                  <a:lnTo>
                    <a:pt x="2023928" y="1552494"/>
                  </a:lnTo>
                  <a:lnTo>
                    <a:pt x="2065114" y="1531059"/>
                  </a:lnTo>
                  <a:lnTo>
                    <a:pt x="2101738" y="1504711"/>
                  </a:lnTo>
                  <a:lnTo>
                    <a:pt x="2133154" y="1473994"/>
                  </a:lnTo>
                  <a:lnTo>
                    <a:pt x="2158715" y="1439448"/>
                  </a:lnTo>
                  <a:lnTo>
                    <a:pt x="2177774" y="1401616"/>
                  </a:lnTo>
                  <a:lnTo>
                    <a:pt x="2189684" y="1361039"/>
                  </a:lnTo>
                  <a:lnTo>
                    <a:pt x="2193798" y="1318260"/>
                  </a:lnTo>
                  <a:lnTo>
                    <a:pt x="2193798" y="263651"/>
                  </a:lnTo>
                  <a:lnTo>
                    <a:pt x="2189684" y="220872"/>
                  </a:lnTo>
                  <a:lnTo>
                    <a:pt x="2177774" y="180295"/>
                  </a:lnTo>
                  <a:lnTo>
                    <a:pt x="2158715" y="142463"/>
                  </a:lnTo>
                  <a:lnTo>
                    <a:pt x="2133154" y="107917"/>
                  </a:lnTo>
                  <a:lnTo>
                    <a:pt x="2101738" y="77200"/>
                  </a:lnTo>
                  <a:lnTo>
                    <a:pt x="2065114" y="50852"/>
                  </a:lnTo>
                  <a:lnTo>
                    <a:pt x="2023928" y="29417"/>
                  </a:lnTo>
                  <a:lnTo>
                    <a:pt x="1978828" y="13435"/>
                  </a:lnTo>
                  <a:lnTo>
                    <a:pt x="1930461" y="3449"/>
                  </a:lnTo>
                  <a:lnTo>
                    <a:pt x="1879473" y="0"/>
                  </a:lnTo>
                  <a:close/>
                </a:path>
              </a:pathLst>
            </a:custGeom>
            <a:solidFill>
              <a:srgbClr val="30859C"/>
            </a:solidFill>
          </p:spPr>
          <p:txBody>
            <a:bodyPr wrap="square" lIns="0" tIns="0" rIns="0" bIns="0" rtlCol="0"/>
            <a:lstStyle/>
            <a:p>
              <a:endParaRPr/>
            </a:p>
          </p:txBody>
        </p:sp>
        <p:sp>
          <p:nvSpPr>
            <p:cNvPr id="19" name="object 19"/>
            <p:cNvSpPr/>
            <p:nvPr/>
          </p:nvSpPr>
          <p:spPr>
            <a:xfrm>
              <a:off x="6222873" y="2815208"/>
              <a:ext cx="2193925" cy="1582420"/>
            </a:xfrm>
            <a:custGeom>
              <a:avLst/>
              <a:gdLst/>
              <a:ahLst/>
              <a:cxnLst/>
              <a:rect l="l" t="t" r="r" b="b"/>
              <a:pathLst>
                <a:path w="2193925" h="1582420">
                  <a:moveTo>
                    <a:pt x="0" y="263651"/>
                  </a:moveTo>
                  <a:lnTo>
                    <a:pt x="4113" y="220872"/>
                  </a:lnTo>
                  <a:lnTo>
                    <a:pt x="16023" y="180295"/>
                  </a:lnTo>
                  <a:lnTo>
                    <a:pt x="35082" y="142463"/>
                  </a:lnTo>
                  <a:lnTo>
                    <a:pt x="60643" y="107917"/>
                  </a:lnTo>
                  <a:lnTo>
                    <a:pt x="92059" y="77200"/>
                  </a:lnTo>
                  <a:lnTo>
                    <a:pt x="128683" y="50852"/>
                  </a:lnTo>
                  <a:lnTo>
                    <a:pt x="169869" y="29417"/>
                  </a:lnTo>
                  <a:lnTo>
                    <a:pt x="214969" y="13435"/>
                  </a:lnTo>
                  <a:lnTo>
                    <a:pt x="263336" y="3449"/>
                  </a:lnTo>
                  <a:lnTo>
                    <a:pt x="314325" y="0"/>
                  </a:lnTo>
                  <a:lnTo>
                    <a:pt x="1879473" y="0"/>
                  </a:lnTo>
                  <a:lnTo>
                    <a:pt x="1930461" y="3449"/>
                  </a:lnTo>
                  <a:lnTo>
                    <a:pt x="1978828" y="13435"/>
                  </a:lnTo>
                  <a:lnTo>
                    <a:pt x="2023928" y="29417"/>
                  </a:lnTo>
                  <a:lnTo>
                    <a:pt x="2065114" y="50852"/>
                  </a:lnTo>
                  <a:lnTo>
                    <a:pt x="2101738" y="77200"/>
                  </a:lnTo>
                  <a:lnTo>
                    <a:pt x="2133154" y="107917"/>
                  </a:lnTo>
                  <a:lnTo>
                    <a:pt x="2158715" y="142463"/>
                  </a:lnTo>
                  <a:lnTo>
                    <a:pt x="2177774" y="180295"/>
                  </a:lnTo>
                  <a:lnTo>
                    <a:pt x="2189684" y="220872"/>
                  </a:lnTo>
                  <a:lnTo>
                    <a:pt x="2193798" y="263651"/>
                  </a:lnTo>
                  <a:lnTo>
                    <a:pt x="2193798" y="1318260"/>
                  </a:lnTo>
                  <a:lnTo>
                    <a:pt x="2189684" y="1361039"/>
                  </a:lnTo>
                  <a:lnTo>
                    <a:pt x="2177774" y="1401616"/>
                  </a:lnTo>
                  <a:lnTo>
                    <a:pt x="2158715" y="1439448"/>
                  </a:lnTo>
                  <a:lnTo>
                    <a:pt x="2133154" y="1473994"/>
                  </a:lnTo>
                  <a:lnTo>
                    <a:pt x="2101738" y="1504711"/>
                  </a:lnTo>
                  <a:lnTo>
                    <a:pt x="2065114" y="1531059"/>
                  </a:lnTo>
                  <a:lnTo>
                    <a:pt x="2023928" y="1552494"/>
                  </a:lnTo>
                  <a:lnTo>
                    <a:pt x="1978828" y="1568476"/>
                  </a:lnTo>
                  <a:lnTo>
                    <a:pt x="1930461" y="1578462"/>
                  </a:lnTo>
                  <a:lnTo>
                    <a:pt x="1879473" y="1581911"/>
                  </a:lnTo>
                  <a:lnTo>
                    <a:pt x="314325" y="1581911"/>
                  </a:lnTo>
                  <a:lnTo>
                    <a:pt x="263336" y="1578462"/>
                  </a:lnTo>
                  <a:lnTo>
                    <a:pt x="214969" y="1568476"/>
                  </a:lnTo>
                  <a:lnTo>
                    <a:pt x="169869" y="1552494"/>
                  </a:lnTo>
                  <a:lnTo>
                    <a:pt x="128683" y="1531059"/>
                  </a:lnTo>
                  <a:lnTo>
                    <a:pt x="92059" y="1504711"/>
                  </a:lnTo>
                  <a:lnTo>
                    <a:pt x="60643" y="1473994"/>
                  </a:lnTo>
                  <a:lnTo>
                    <a:pt x="35082" y="1439448"/>
                  </a:lnTo>
                  <a:lnTo>
                    <a:pt x="16023" y="1401616"/>
                  </a:lnTo>
                  <a:lnTo>
                    <a:pt x="4113" y="1361039"/>
                  </a:lnTo>
                  <a:lnTo>
                    <a:pt x="0" y="1318260"/>
                  </a:lnTo>
                  <a:lnTo>
                    <a:pt x="0" y="263651"/>
                  </a:lnTo>
                  <a:close/>
                </a:path>
              </a:pathLst>
            </a:custGeom>
            <a:ln w="25146">
              <a:solidFill>
                <a:srgbClr val="FFFFFF"/>
              </a:solidFill>
            </a:ln>
          </p:spPr>
          <p:txBody>
            <a:bodyPr wrap="square" lIns="0" tIns="0" rIns="0" bIns="0" rtlCol="0"/>
            <a:lstStyle/>
            <a:p>
              <a:endParaRPr/>
            </a:p>
          </p:txBody>
        </p:sp>
      </p:grpSp>
      <p:sp>
        <p:nvSpPr>
          <p:cNvPr id="20" name="object 20"/>
          <p:cNvSpPr txBox="1"/>
          <p:nvPr/>
        </p:nvSpPr>
        <p:spPr>
          <a:xfrm>
            <a:off x="6350761" y="3118611"/>
            <a:ext cx="1854835" cy="928369"/>
          </a:xfrm>
          <a:prstGeom prst="rect">
            <a:avLst/>
          </a:prstGeom>
        </p:spPr>
        <p:txBody>
          <a:bodyPr vert="horz" wrap="square" lIns="0" tIns="40005" rIns="0" bIns="0" rtlCol="0">
            <a:spAutoFit/>
          </a:bodyPr>
          <a:lstStyle/>
          <a:p>
            <a:pPr marL="354965" marR="5080" indent="-342900">
              <a:lnSpc>
                <a:spcPts val="1730"/>
              </a:lnSpc>
              <a:spcBef>
                <a:spcPts val="315"/>
              </a:spcBef>
              <a:tabLst>
                <a:tab pos="354965" algn="l"/>
              </a:tabLst>
            </a:pPr>
            <a:r>
              <a:rPr sz="1600" dirty="0">
                <a:solidFill>
                  <a:srgbClr val="FFFFFF"/>
                </a:solidFill>
                <a:latin typeface="Goudy Old Style"/>
                <a:cs typeface="Goudy Old Style"/>
              </a:rPr>
              <a:t>4.	</a:t>
            </a:r>
            <a:r>
              <a:rPr sz="1600" spc="-5" dirty="0">
                <a:solidFill>
                  <a:srgbClr val="FFFFFF"/>
                </a:solidFill>
                <a:latin typeface="Goudy Old Style"/>
                <a:cs typeface="Goudy Old Style"/>
              </a:rPr>
              <a:t>In</a:t>
            </a:r>
            <a:r>
              <a:rPr sz="1600" spc="-65" dirty="0">
                <a:solidFill>
                  <a:srgbClr val="FFFFFF"/>
                </a:solidFill>
                <a:latin typeface="Goudy Old Style"/>
                <a:cs typeface="Goudy Old Style"/>
              </a:rPr>
              <a:t> </a:t>
            </a:r>
            <a:r>
              <a:rPr sz="1600" b="1" spc="-5" dirty="0">
                <a:solidFill>
                  <a:srgbClr val="FFFFFF"/>
                </a:solidFill>
                <a:latin typeface="Goudy Old Style"/>
                <a:cs typeface="Goudy Old Style"/>
              </a:rPr>
              <a:t>Authentication  </a:t>
            </a:r>
            <a:r>
              <a:rPr sz="1600" spc="-10" dirty="0">
                <a:solidFill>
                  <a:srgbClr val="FFFFFF"/>
                </a:solidFill>
                <a:latin typeface="Goudy Old Style"/>
                <a:cs typeface="Goudy Old Style"/>
              </a:rPr>
              <a:t>box, </a:t>
            </a:r>
            <a:r>
              <a:rPr sz="1600" dirty="0">
                <a:solidFill>
                  <a:srgbClr val="FFFFFF"/>
                </a:solidFill>
                <a:latin typeface="Goudy Old Style"/>
                <a:cs typeface="Goudy Old Style"/>
              </a:rPr>
              <a:t>select SQL  </a:t>
            </a:r>
            <a:r>
              <a:rPr sz="1600" spc="5" dirty="0">
                <a:solidFill>
                  <a:srgbClr val="FFFFFF"/>
                </a:solidFill>
                <a:latin typeface="Goudy Old Style"/>
                <a:cs typeface="Goudy Old Style"/>
              </a:rPr>
              <a:t>Server  </a:t>
            </a:r>
            <a:r>
              <a:rPr sz="1600" spc="-5" dirty="0">
                <a:solidFill>
                  <a:srgbClr val="FFFFFF"/>
                </a:solidFill>
                <a:latin typeface="Goudy Old Style"/>
                <a:cs typeface="Goudy Old Style"/>
              </a:rPr>
              <a:t>Authentication.</a:t>
            </a:r>
            <a:endParaRPr sz="1600">
              <a:latin typeface="Goudy Old Style"/>
              <a:cs typeface="Goudy Old Style"/>
            </a:endParaRPr>
          </a:p>
        </p:txBody>
      </p:sp>
      <p:sp>
        <p:nvSpPr>
          <p:cNvPr id="22" name="object 22"/>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15</a:t>
            </a:fld>
            <a:endParaRPr sz="1800" baseline="2314"/>
          </a:p>
        </p:txBody>
      </p:sp>
      <p:sp>
        <p:nvSpPr>
          <p:cNvPr id="23" name="object 23"/>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24" name="object 24"/>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578725" cy="574040"/>
          </a:xfrm>
          <a:prstGeom prst="rect">
            <a:avLst/>
          </a:prstGeom>
        </p:spPr>
        <p:txBody>
          <a:bodyPr vert="horz" wrap="square" lIns="0" tIns="12700" rIns="0" bIns="0" rtlCol="0">
            <a:spAutoFit/>
          </a:bodyPr>
          <a:lstStyle/>
          <a:p>
            <a:pPr marL="12700">
              <a:lnSpc>
                <a:spcPct val="100000"/>
              </a:lnSpc>
              <a:spcBef>
                <a:spcPts val="100"/>
              </a:spcBef>
            </a:pPr>
            <a:r>
              <a:rPr sz="3600" spc="235" dirty="0"/>
              <a:t>Connect</a:t>
            </a:r>
            <a:r>
              <a:rPr sz="3600" spc="-155" dirty="0"/>
              <a:t> </a:t>
            </a:r>
            <a:r>
              <a:rPr sz="3600" spc="200" dirty="0"/>
              <a:t>to</a:t>
            </a:r>
            <a:r>
              <a:rPr sz="3600" spc="-135" dirty="0"/>
              <a:t> </a:t>
            </a:r>
            <a:r>
              <a:rPr sz="3600" spc="114" dirty="0"/>
              <a:t>Azure</a:t>
            </a:r>
            <a:r>
              <a:rPr sz="3600" spc="-135" dirty="0"/>
              <a:t> </a:t>
            </a:r>
            <a:r>
              <a:rPr sz="3600" spc="175" dirty="0"/>
              <a:t>SQL</a:t>
            </a:r>
            <a:r>
              <a:rPr sz="3600" spc="-135" dirty="0"/>
              <a:t> </a:t>
            </a:r>
            <a:r>
              <a:rPr sz="3600" spc="160" dirty="0"/>
              <a:t>with</a:t>
            </a:r>
            <a:r>
              <a:rPr sz="3600" spc="-150" dirty="0"/>
              <a:t> </a:t>
            </a:r>
            <a:r>
              <a:rPr sz="3600" spc="130" dirty="0"/>
              <a:t>SSMS</a:t>
            </a:r>
            <a:r>
              <a:rPr sz="3600" spc="-120" dirty="0"/>
              <a:t> </a:t>
            </a:r>
            <a:r>
              <a:rPr sz="3600" spc="-105" dirty="0"/>
              <a:t>3-4</a:t>
            </a:r>
            <a:endParaRPr sz="3600"/>
          </a:p>
        </p:txBody>
      </p:sp>
      <p:grpSp>
        <p:nvGrpSpPr>
          <p:cNvPr id="3" name="object 3"/>
          <p:cNvGrpSpPr/>
          <p:nvPr/>
        </p:nvGrpSpPr>
        <p:grpSpPr>
          <a:xfrm>
            <a:off x="135509" y="1419605"/>
            <a:ext cx="9008745" cy="4064635"/>
            <a:chOff x="135509" y="1419605"/>
            <a:chExt cx="9008745" cy="4064635"/>
          </a:xfrm>
        </p:grpSpPr>
        <p:sp>
          <p:nvSpPr>
            <p:cNvPr id="4" name="object 4"/>
            <p:cNvSpPr/>
            <p:nvPr/>
          </p:nvSpPr>
          <p:spPr>
            <a:xfrm>
              <a:off x="267462" y="1419605"/>
              <a:ext cx="8876665" cy="4064635"/>
            </a:xfrm>
            <a:custGeom>
              <a:avLst/>
              <a:gdLst/>
              <a:ahLst/>
              <a:cxnLst/>
              <a:rect l="l" t="t" r="r" b="b"/>
              <a:pathLst>
                <a:path w="8876665" h="4064635">
                  <a:moveTo>
                    <a:pt x="6844283" y="0"/>
                  </a:moveTo>
                  <a:lnTo>
                    <a:pt x="6844283" y="1016126"/>
                  </a:lnTo>
                  <a:lnTo>
                    <a:pt x="0" y="1016126"/>
                  </a:lnTo>
                  <a:lnTo>
                    <a:pt x="0" y="3048381"/>
                  </a:lnTo>
                  <a:lnTo>
                    <a:pt x="6844283" y="3048381"/>
                  </a:lnTo>
                  <a:lnTo>
                    <a:pt x="6844283" y="4064507"/>
                  </a:lnTo>
                  <a:lnTo>
                    <a:pt x="8876538" y="2032253"/>
                  </a:lnTo>
                  <a:lnTo>
                    <a:pt x="6844283" y="0"/>
                  </a:lnTo>
                  <a:close/>
                </a:path>
              </a:pathLst>
            </a:custGeom>
            <a:solidFill>
              <a:srgbClr val="001F5F"/>
            </a:solidFill>
          </p:spPr>
          <p:txBody>
            <a:bodyPr wrap="square" lIns="0" tIns="0" rIns="0" bIns="0" rtlCol="0"/>
            <a:lstStyle/>
            <a:p>
              <a:endParaRPr/>
            </a:p>
          </p:txBody>
        </p:sp>
        <p:sp>
          <p:nvSpPr>
            <p:cNvPr id="5" name="object 5"/>
            <p:cNvSpPr/>
            <p:nvPr/>
          </p:nvSpPr>
          <p:spPr>
            <a:xfrm>
              <a:off x="148209" y="2616327"/>
              <a:ext cx="1642110" cy="1626235"/>
            </a:xfrm>
            <a:custGeom>
              <a:avLst/>
              <a:gdLst/>
              <a:ahLst/>
              <a:cxnLst/>
              <a:rect l="l" t="t" r="r" b="b"/>
              <a:pathLst>
                <a:path w="1642110" h="1626235">
                  <a:moveTo>
                    <a:pt x="1368425" y="0"/>
                  </a:moveTo>
                  <a:lnTo>
                    <a:pt x="273685" y="0"/>
                  </a:lnTo>
                  <a:lnTo>
                    <a:pt x="218530" y="3965"/>
                  </a:lnTo>
                  <a:lnTo>
                    <a:pt x="167158" y="15339"/>
                  </a:lnTo>
                  <a:lnTo>
                    <a:pt x="120669" y="33338"/>
                  </a:lnTo>
                  <a:lnTo>
                    <a:pt x="80163" y="57181"/>
                  </a:lnTo>
                  <a:lnTo>
                    <a:pt x="46743" y="86084"/>
                  </a:lnTo>
                  <a:lnTo>
                    <a:pt x="21508" y="119264"/>
                  </a:lnTo>
                  <a:lnTo>
                    <a:pt x="5560" y="155939"/>
                  </a:lnTo>
                  <a:lnTo>
                    <a:pt x="0" y="195325"/>
                  </a:lnTo>
                  <a:lnTo>
                    <a:pt x="0" y="1430782"/>
                  </a:lnTo>
                  <a:lnTo>
                    <a:pt x="5560" y="1470168"/>
                  </a:lnTo>
                  <a:lnTo>
                    <a:pt x="21508" y="1506843"/>
                  </a:lnTo>
                  <a:lnTo>
                    <a:pt x="46743" y="1540023"/>
                  </a:lnTo>
                  <a:lnTo>
                    <a:pt x="80163" y="1568926"/>
                  </a:lnTo>
                  <a:lnTo>
                    <a:pt x="120669" y="1592769"/>
                  </a:lnTo>
                  <a:lnTo>
                    <a:pt x="167158" y="1610768"/>
                  </a:lnTo>
                  <a:lnTo>
                    <a:pt x="218530" y="1622142"/>
                  </a:lnTo>
                  <a:lnTo>
                    <a:pt x="273685" y="1626108"/>
                  </a:lnTo>
                  <a:lnTo>
                    <a:pt x="1368425" y="1626108"/>
                  </a:lnTo>
                  <a:lnTo>
                    <a:pt x="1423575" y="1622142"/>
                  </a:lnTo>
                  <a:lnTo>
                    <a:pt x="1474946" y="1610768"/>
                  </a:lnTo>
                  <a:lnTo>
                    <a:pt x="1521435" y="1592769"/>
                  </a:lnTo>
                  <a:lnTo>
                    <a:pt x="1561941" y="1568926"/>
                  </a:lnTo>
                  <a:lnTo>
                    <a:pt x="1595363" y="1540023"/>
                  </a:lnTo>
                  <a:lnTo>
                    <a:pt x="1620599" y="1506843"/>
                  </a:lnTo>
                  <a:lnTo>
                    <a:pt x="1636548" y="1470168"/>
                  </a:lnTo>
                  <a:lnTo>
                    <a:pt x="1642110" y="1430782"/>
                  </a:lnTo>
                  <a:lnTo>
                    <a:pt x="1642110" y="195325"/>
                  </a:lnTo>
                  <a:lnTo>
                    <a:pt x="1636548" y="155939"/>
                  </a:lnTo>
                  <a:lnTo>
                    <a:pt x="1620599" y="119264"/>
                  </a:lnTo>
                  <a:lnTo>
                    <a:pt x="1595363" y="86084"/>
                  </a:lnTo>
                  <a:lnTo>
                    <a:pt x="1561941" y="57181"/>
                  </a:lnTo>
                  <a:lnTo>
                    <a:pt x="1521435" y="33338"/>
                  </a:lnTo>
                  <a:lnTo>
                    <a:pt x="1474946" y="15339"/>
                  </a:lnTo>
                  <a:lnTo>
                    <a:pt x="1423575" y="3965"/>
                  </a:lnTo>
                  <a:lnTo>
                    <a:pt x="1368425" y="0"/>
                  </a:lnTo>
                  <a:close/>
                </a:path>
              </a:pathLst>
            </a:custGeom>
            <a:solidFill>
              <a:srgbClr val="C0504D"/>
            </a:solidFill>
          </p:spPr>
          <p:txBody>
            <a:bodyPr wrap="square" lIns="0" tIns="0" rIns="0" bIns="0" rtlCol="0"/>
            <a:lstStyle/>
            <a:p>
              <a:endParaRPr/>
            </a:p>
          </p:txBody>
        </p:sp>
        <p:sp>
          <p:nvSpPr>
            <p:cNvPr id="6" name="object 6"/>
            <p:cNvSpPr/>
            <p:nvPr/>
          </p:nvSpPr>
          <p:spPr>
            <a:xfrm>
              <a:off x="148209" y="2616327"/>
              <a:ext cx="1642110" cy="1626235"/>
            </a:xfrm>
            <a:custGeom>
              <a:avLst/>
              <a:gdLst/>
              <a:ahLst/>
              <a:cxnLst/>
              <a:rect l="l" t="t" r="r" b="b"/>
              <a:pathLst>
                <a:path w="1642110" h="1626235">
                  <a:moveTo>
                    <a:pt x="0" y="195325"/>
                  </a:moveTo>
                  <a:lnTo>
                    <a:pt x="5560" y="155939"/>
                  </a:lnTo>
                  <a:lnTo>
                    <a:pt x="21508" y="119264"/>
                  </a:lnTo>
                  <a:lnTo>
                    <a:pt x="46743" y="86084"/>
                  </a:lnTo>
                  <a:lnTo>
                    <a:pt x="80163" y="57181"/>
                  </a:lnTo>
                  <a:lnTo>
                    <a:pt x="120669" y="33338"/>
                  </a:lnTo>
                  <a:lnTo>
                    <a:pt x="167158" y="15339"/>
                  </a:lnTo>
                  <a:lnTo>
                    <a:pt x="218530" y="3965"/>
                  </a:lnTo>
                  <a:lnTo>
                    <a:pt x="273685" y="0"/>
                  </a:lnTo>
                  <a:lnTo>
                    <a:pt x="1368425" y="0"/>
                  </a:lnTo>
                  <a:lnTo>
                    <a:pt x="1423575" y="3965"/>
                  </a:lnTo>
                  <a:lnTo>
                    <a:pt x="1474946" y="15339"/>
                  </a:lnTo>
                  <a:lnTo>
                    <a:pt x="1521435" y="33338"/>
                  </a:lnTo>
                  <a:lnTo>
                    <a:pt x="1561941" y="57181"/>
                  </a:lnTo>
                  <a:lnTo>
                    <a:pt x="1595363" y="86084"/>
                  </a:lnTo>
                  <a:lnTo>
                    <a:pt x="1620599" y="119264"/>
                  </a:lnTo>
                  <a:lnTo>
                    <a:pt x="1636548" y="155939"/>
                  </a:lnTo>
                  <a:lnTo>
                    <a:pt x="1642110" y="195325"/>
                  </a:lnTo>
                  <a:lnTo>
                    <a:pt x="1642110" y="1430782"/>
                  </a:lnTo>
                  <a:lnTo>
                    <a:pt x="1636548" y="1470168"/>
                  </a:lnTo>
                  <a:lnTo>
                    <a:pt x="1620599" y="1506843"/>
                  </a:lnTo>
                  <a:lnTo>
                    <a:pt x="1595363" y="1540023"/>
                  </a:lnTo>
                  <a:lnTo>
                    <a:pt x="1561941" y="1568926"/>
                  </a:lnTo>
                  <a:lnTo>
                    <a:pt x="1521435" y="1592769"/>
                  </a:lnTo>
                  <a:lnTo>
                    <a:pt x="1474946" y="1610768"/>
                  </a:lnTo>
                  <a:lnTo>
                    <a:pt x="1423575" y="1622142"/>
                  </a:lnTo>
                  <a:lnTo>
                    <a:pt x="1368425" y="1626108"/>
                  </a:lnTo>
                  <a:lnTo>
                    <a:pt x="273685" y="1626108"/>
                  </a:lnTo>
                  <a:lnTo>
                    <a:pt x="218530" y="1622142"/>
                  </a:lnTo>
                  <a:lnTo>
                    <a:pt x="167158" y="1610768"/>
                  </a:lnTo>
                  <a:lnTo>
                    <a:pt x="120669" y="1592769"/>
                  </a:lnTo>
                  <a:lnTo>
                    <a:pt x="80163" y="1568926"/>
                  </a:lnTo>
                  <a:lnTo>
                    <a:pt x="46743" y="1540023"/>
                  </a:lnTo>
                  <a:lnTo>
                    <a:pt x="21508" y="1506843"/>
                  </a:lnTo>
                  <a:lnTo>
                    <a:pt x="5560" y="1470168"/>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7" name="object 7"/>
          <p:cNvSpPr txBox="1"/>
          <p:nvPr/>
        </p:nvSpPr>
        <p:spPr>
          <a:xfrm>
            <a:off x="230377" y="2809239"/>
            <a:ext cx="1431290" cy="1198880"/>
          </a:xfrm>
          <a:prstGeom prst="rect">
            <a:avLst/>
          </a:prstGeom>
        </p:spPr>
        <p:txBody>
          <a:bodyPr vert="horz" wrap="square" lIns="0" tIns="36830" rIns="0" bIns="0" rtlCol="0">
            <a:spAutoFit/>
          </a:bodyPr>
          <a:lstStyle/>
          <a:p>
            <a:pPr marL="189230" marR="5080" indent="-177165">
              <a:lnSpc>
                <a:spcPts val="1510"/>
              </a:lnSpc>
              <a:spcBef>
                <a:spcPts val="290"/>
              </a:spcBef>
            </a:pPr>
            <a:r>
              <a:rPr sz="1400" spc="-5" dirty="0">
                <a:solidFill>
                  <a:srgbClr val="FFFFFF"/>
                </a:solidFill>
                <a:latin typeface="Goudy Old Style"/>
                <a:cs typeface="Goudy Old Style"/>
              </a:rPr>
              <a:t>5. In the </a:t>
            </a:r>
            <a:r>
              <a:rPr sz="1400" b="1" spc="-5" dirty="0">
                <a:solidFill>
                  <a:srgbClr val="FFFFFF"/>
                </a:solidFill>
                <a:latin typeface="Goudy Old Style"/>
                <a:cs typeface="Goudy Old Style"/>
              </a:rPr>
              <a:t>Login </a:t>
            </a:r>
            <a:r>
              <a:rPr sz="1400" spc="-10" dirty="0">
                <a:solidFill>
                  <a:srgbClr val="FFFFFF"/>
                </a:solidFill>
                <a:latin typeface="Goudy Old Style"/>
                <a:cs typeface="Goudy Old Style"/>
              </a:rPr>
              <a:t>box,  </a:t>
            </a:r>
            <a:r>
              <a:rPr sz="1400" spc="-5" dirty="0">
                <a:solidFill>
                  <a:srgbClr val="FFFFFF"/>
                </a:solidFill>
                <a:latin typeface="Goudy Old Style"/>
                <a:cs typeface="Goudy Old Style"/>
              </a:rPr>
              <a:t>type the name of  the </a:t>
            </a:r>
            <a:r>
              <a:rPr sz="1400" spc="-10" dirty="0">
                <a:solidFill>
                  <a:srgbClr val="FFFFFF"/>
                </a:solidFill>
                <a:latin typeface="Goudy Old Style"/>
                <a:cs typeface="Goudy Old Style"/>
              </a:rPr>
              <a:t>Azure </a:t>
            </a:r>
            <a:r>
              <a:rPr sz="1400" spc="-5" dirty="0">
                <a:solidFill>
                  <a:srgbClr val="FFFFFF"/>
                </a:solidFill>
                <a:latin typeface="Goudy Old Style"/>
                <a:cs typeface="Goudy Old Style"/>
              </a:rPr>
              <a:t>SQL  administrator  account and the  </a:t>
            </a:r>
            <a:r>
              <a:rPr sz="1400" spc="-10" dirty="0">
                <a:solidFill>
                  <a:srgbClr val="FFFFFF"/>
                </a:solidFill>
                <a:latin typeface="Goudy Old Style"/>
                <a:cs typeface="Goudy Old Style"/>
              </a:rPr>
              <a:t>password.</a:t>
            </a:r>
            <a:endParaRPr sz="1400">
              <a:latin typeface="Goudy Old Style"/>
              <a:cs typeface="Goudy Old Style"/>
            </a:endParaRPr>
          </a:p>
        </p:txBody>
      </p:sp>
      <p:grpSp>
        <p:nvGrpSpPr>
          <p:cNvPr id="8" name="object 8"/>
          <p:cNvGrpSpPr/>
          <p:nvPr/>
        </p:nvGrpSpPr>
        <p:grpSpPr>
          <a:xfrm>
            <a:off x="1859914" y="2603626"/>
            <a:ext cx="1667510" cy="1651635"/>
            <a:chOff x="1859914" y="2603626"/>
            <a:chExt cx="1667510" cy="1651635"/>
          </a:xfrm>
        </p:grpSpPr>
        <p:sp>
          <p:nvSpPr>
            <p:cNvPr id="9" name="object 9"/>
            <p:cNvSpPr/>
            <p:nvPr/>
          </p:nvSpPr>
          <p:spPr>
            <a:xfrm>
              <a:off x="1872614" y="2616326"/>
              <a:ext cx="1642110" cy="1626235"/>
            </a:xfrm>
            <a:custGeom>
              <a:avLst/>
              <a:gdLst/>
              <a:ahLst/>
              <a:cxnLst/>
              <a:rect l="l" t="t" r="r" b="b"/>
              <a:pathLst>
                <a:path w="1642110" h="1626235">
                  <a:moveTo>
                    <a:pt x="1368425" y="0"/>
                  </a:moveTo>
                  <a:lnTo>
                    <a:pt x="273685" y="0"/>
                  </a:lnTo>
                  <a:lnTo>
                    <a:pt x="218534" y="3965"/>
                  </a:lnTo>
                  <a:lnTo>
                    <a:pt x="167163" y="15339"/>
                  </a:lnTo>
                  <a:lnTo>
                    <a:pt x="120674" y="33338"/>
                  </a:lnTo>
                  <a:lnTo>
                    <a:pt x="80168" y="57181"/>
                  </a:lnTo>
                  <a:lnTo>
                    <a:pt x="46746" y="86084"/>
                  </a:lnTo>
                  <a:lnTo>
                    <a:pt x="21510" y="119264"/>
                  </a:lnTo>
                  <a:lnTo>
                    <a:pt x="5561" y="155939"/>
                  </a:lnTo>
                  <a:lnTo>
                    <a:pt x="0" y="195325"/>
                  </a:lnTo>
                  <a:lnTo>
                    <a:pt x="0" y="1430782"/>
                  </a:lnTo>
                  <a:lnTo>
                    <a:pt x="5561" y="1470168"/>
                  </a:lnTo>
                  <a:lnTo>
                    <a:pt x="21510" y="1506843"/>
                  </a:lnTo>
                  <a:lnTo>
                    <a:pt x="46746" y="1540023"/>
                  </a:lnTo>
                  <a:lnTo>
                    <a:pt x="80168" y="1568926"/>
                  </a:lnTo>
                  <a:lnTo>
                    <a:pt x="120674" y="1592769"/>
                  </a:lnTo>
                  <a:lnTo>
                    <a:pt x="167163" y="1610768"/>
                  </a:lnTo>
                  <a:lnTo>
                    <a:pt x="218534" y="1622142"/>
                  </a:lnTo>
                  <a:lnTo>
                    <a:pt x="273685" y="1626108"/>
                  </a:lnTo>
                  <a:lnTo>
                    <a:pt x="1368425" y="1626108"/>
                  </a:lnTo>
                  <a:lnTo>
                    <a:pt x="1423575" y="1622142"/>
                  </a:lnTo>
                  <a:lnTo>
                    <a:pt x="1474946" y="1610768"/>
                  </a:lnTo>
                  <a:lnTo>
                    <a:pt x="1521435" y="1592769"/>
                  </a:lnTo>
                  <a:lnTo>
                    <a:pt x="1561941" y="1568926"/>
                  </a:lnTo>
                  <a:lnTo>
                    <a:pt x="1595363" y="1540023"/>
                  </a:lnTo>
                  <a:lnTo>
                    <a:pt x="1620599" y="1506843"/>
                  </a:lnTo>
                  <a:lnTo>
                    <a:pt x="1636548" y="1470168"/>
                  </a:lnTo>
                  <a:lnTo>
                    <a:pt x="1642110" y="1430782"/>
                  </a:lnTo>
                  <a:lnTo>
                    <a:pt x="1642110" y="195325"/>
                  </a:lnTo>
                  <a:lnTo>
                    <a:pt x="1636548" y="155939"/>
                  </a:lnTo>
                  <a:lnTo>
                    <a:pt x="1620599" y="119264"/>
                  </a:lnTo>
                  <a:lnTo>
                    <a:pt x="1595363" y="86084"/>
                  </a:lnTo>
                  <a:lnTo>
                    <a:pt x="1561941" y="57181"/>
                  </a:lnTo>
                  <a:lnTo>
                    <a:pt x="1521435" y="33338"/>
                  </a:lnTo>
                  <a:lnTo>
                    <a:pt x="1474946" y="15339"/>
                  </a:lnTo>
                  <a:lnTo>
                    <a:pt x="1423575" y="3965"/>
                  </a:lnTo>
                  <a:lnTo>
                    <a:pt x="1368425" y="0"/>
                  </a:lnTo>
                  <a:close/>
                </a:path>
              </a:pathLst>
            </a:custGeom>
            <a:solidFill>
              <a:srgbClr val="9BBA58"/>
            </a:solidFill>
          </p:spPr>
          <p:txBody>
            <a:bodyPr wrap="square" lIns="0" tIns="0" rIns="0" bIns="0" rtlCol="0"/>
            <a:lstStyle/>
            <a:p>
              <a:endParaRPr/>
            </a:p>
          </p:txBody>
        </p:sp>
        <p:sp>
          <p:nvSpPr>
            <p:cNvPr id="10" name="object 10"/>
            <p:cNvSpPr/>
            <p:nvPr/>
          </p:nvSpPr>
          <p:spPr>
            <a:xfrm>
              <a:off x="1872614" y="2616326"/>
              <a:ext cx="1642110" cy="1626235"/>
            </a:xfrm>
            <a:custGeom>
              <a:avLst/>
              <a:gdLst/>
              <a:ahLst/>
              <a:cxnLst/>
              <a:rect l="l" t="t" r="r" b="b"/>
              <a:pathLst>
                <a:path w="1642110" h="1626235">
                  <a:moveTo>
                    <a:pt x="0" y="195325"/>
                  </a:moveTo>
                  <a:lnTo>
                    <a:pt x="5561" y="155939"/>
                  </a:lnTo>
                  <a:lnTo>
                    <a:pt x="21510" y="119264"/>
                  </a:lnTo>
                  <a:lnTo>
                    <a:pt x="46746" y="86084"/>
                  </a:lnTo>
                  <a:lnTo>
                    <a:pt x="80168" y="57181"/>
                  </a:lnTo>
                  <a:lnTo>
                    <a:pt x="120674" y="33338"/>
                  </a:lnTo>
                  <a:lnTo>
                    <a:pt x="167163" y="15339"/>
                  </a:lnTo>
                  <a:lnTo>
                    <a:pt x="218534" y="3965"/>
                  </a:lnTo>
                  <a:lnTo>
                    <a:pt x="273685" y="0"/>
                  </a:lnTo>
                  <a:lnTo>
                    <a:pt x="1368425" y="0"/>
                  </a:lnTo>
                  <a:lnTo>
                    <a:pt x="1423575" y="3965"/>
                  </a:lnTo>
                  <a:lnTo>
                    <a:pt x="1474946" y="15339"/>
                  </a:lnTo>
                  <a:lnTo>
                    <a:pt x="1521435" y="33338"/>
                  </a:lnTo>
                  <a:lnTo>
                    <a:pt x="1561941" y="57181"/>
                  </a:lnTo>
                  <a:lnTo>
                    <a:pt x="1595363" y="86084"/>
                  </a:lnTo>
                  <a:lnTo>
                    <a:pt x="1620599" y="119264"/>
                  </a:lnTo>
                  <a:lnTo>
                    <a:pt x="1636548" y="155939"/>
                  </a:lnTo>
                  <a:lnTo>
                    <a:pt x="1642110" y="195325"/>
                  </a:lnTo>
                  <a:lnTo>
                    <a:pt x="1642110" y="1430782"/>
                  </a:lnTo>
                  <a:lnTo>
                    <a:pt x="1636548" y="1470168"/>
                  </a:lnTo>
                  <a:lnTo>
                    <a:pt x="1620599" y="1506843"/>
                  </a:lnTo>
                  <a:lnTo>
                    <a:pt x="1595363" y="1540023"/>
                  </a:lnTo>
                  <a:lnTo>
                    <a:pt x="1561941" y="1568926"/>
                  </a:lnTo>
                  <a:lnTo>
                    <a:pt x="1521435" y="1592769"/>
                  </a:lnTo>
                  <a:lnTo>
                    <a:pt x="1474946" y="1610768"/>
                  </a:lnTo>
                  <a:lnTo>
                    <a:pt x="1423575" y="1622142"/>
                  </a:lnTo>
                  <a:lnTo>
                    <a:pt x="1368425" y="1626108"/>
                  </a:lnTo>
                  <a:lnTo>
                    <a:pt x="273685" y="1626108"/>
                  </a:lnTo>
                  <a:lnTo>
                    <a:pt x="218534" y="1622142"/>
                  </a:lnTo>
                  <a:lnTo>
                    <a:pt x="167163" y="1610768"/>
                  </a:lnTo>
                  <a:lnTo>
                    <a:pt x="120674" y="1592769"/>
                  </a:lnTo>
                  <a:lnTo>
                    <a:pt x="80168" y="1568926"/>
                  </a:lnTo>
                  <a:lnTo>
                    <a:pt x="46746" y="1540023"/>
                  </a:lnTo>
                  <a:lnTo>
                    <a:pt x="21510" y="1506843"/>
                  </a:lnTo>
                  <a:lnTo>
                    <a:pt x="5561" y="1470168"/>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1" name="object 11"/>
          <p:cNvSpPr txBox="1"/>
          <p:nvPr/>
        </p:nvSpPr>
        <p:spPr>
          <a:xfrm>
            <a:off x="1954783" y="2905251"/>
            <a:ext cx="1431925" cy="1007110"/>
          </a:xfrm>
          <a:prstGeom prst="rect">
            <a:avLst/>
          </a:prstGeom>
        </p:spPr>
        <p:txBody>
          <a:bodyPr vert="horz" wrap="square" lIns="0" tIns="36830" rIns="0" bIns="0" rtlCol="0">
            <a:spAutoFit/>
          </a:bodyPr>
          <a:lstStyle/>
          <a:p>
            <a:pPr marL="243204" marR="5080" indent="-231140">
              <a:lnSpc>
                <a:spcPts val="1510"/>
              </a:lnSpc>
              <a:spcBef>
                <a:spcPts val="290"/>
              </a:spcBef>
            </a:pPr>
            <a:r>
              <a:rPr sz="1400" spc="-5" dirty="0">
                <a:solidFill>
                  <a:srgbClr val="FFFFFF"/>
                </a:solidFill>
                <a:latin typeface="Goudy Old Style"/>
                <a:cs typeface="Goudy Old Style"/>
              </a:rPr>
              <a:t>6. </a:t>
            </a:r>
            <a:r>
              <a:rPr sz="1400" spc="-10" dirty="0">
                <a:solidFill>
                  <a:srgbClr val="FFFFFF"/>
                </a:solidFill>
                <a:latin typeface="Goudy Old Style"/>
                <a:cs typeface="Goudy Old Style"/>
              </a:rPr>
              <a:t>Click </a:t>
            </a:r>
            <a:r>
              <a:rPr sz="1400" b="1" spc="-5" dirty="0">
                <a:solidFill>
                  <a:srgbClr val="FFFFFF"/>
                </a:solidFill>
                <a:latin typeface="Goudy Old Style"/>
                <a:cs typeface="Goudy Old Style"/>
              </a:rPr>
              <a:t>Connect</a:t>
            </a:r>
            <a:r>
              <a:rPr sz="1400" spc="-5" dirty="0">
                <a:solidFill>
                  <a:srgbClr val="FFFFFF"/>
                </a:solidFill>
                <a:latin typeface="Goudy Old Style"/>
                <a:cs typeface="Goudy Old Style"/>
              </a:rPr>
              <a:t>.  </a:t>
            </a:r>
            <a:r>
              <a:rPr sz="1400" spc="-45" dirty="0">
                <a:solidFill>
                  <a:srgbClr val="FFFFFF"/>
                </a:solidFill>
                <a:latin typeface="Goudy Old Style"/>
                <a:cs typeface="Goudy Old Style"/>
              </a:rPr>
              <a:t>You </a:t>
            </a:r>
            <a:r>
              <a:rPr sz="1400" spc="-10" dirty="0">
                <a:solidFill>
                  <a:srgbClr val="FFFFFF"/>
                </a:solidFill>
                <a:latin typeface="Goudy Old Style"/>
                <a:cs typeface="Goudy Old Style"/>
              </a:rPr>
              <a:t>may </a:t>
            </a:r>
            <a:r>
              <a:rPr sz="1400" spc="-5" dirty="0">
                <a:solidFill>
                  <a:srgbClr val="FFFFFF"/>
                </a:solidFill>
                <a:latin typeface="Goudy Old Style"/>
                <a:cs typeface="Goudy Old Style"/>
              </a:rPr>
              <a:t>then be  </a:t>
            </a:r>
            <a:r>
              <a:rPr sz="1400" spc="-15" dirty="0">
                <a:solidFill>
                  <a:srgbClr val="FFFFFF"/>
                </a:solidFill>
                <a:latin typeface="Goudy Old Style"/>
                <a:cs typeface="Goudy Old Style"/>
              </a:rPr>
              <a:t>prompted </a:t>
            </a:r>
            <a:r>
              <a:rPr sz="1400" spc="-10" dirty="0">
                <a:solidFill>
                  <a:srgbClr val="FFFFFF"/>
                </a:solidFill>
                <a:latin typeface="Goudy Old Style"/>
                <a:cs typeface="Goudy Old Style"/>
              </a:rPr>
              <a:t>to  create </a:t>
            </a:r>
            <a:r>
              <a:rPr sz="1400" spc="-5" dirty="0">
                <a:solidFill>
                  <a:srgbClr val="FFFFFF"/>
                </a:solidFill>
                <a:latin typeface="Goudy Old Style"/>
                <a:cs typeface="Goudy Old Style"/>
              </a:rPr>
              <a:t>a new  </a:t>
            </a:r>
            <a:r>
              <a:rPr sz="1400" spc="-10" dirty="0">
                <a:solidFill>
                  <a:srgbClr val="FFFFFF"/>
                </a:solidFill>
                <a:latin typeface="Goudy Old Style"/>
                <a:cs typeface="Goudy Old Style"/>
              </a:rPr>
              <a:t>firewall </a:t>
            </a:r>
            <a:r>
              <a:rPr sz="1400" spc="-5" dirty="0">
                <a:solidFill>
                  <a:srgbClr val="FFFFFF"/>
                </a:solidFill>
                <a:latin typeface="Goudy Old Style"/>
                <a:cs typeface="Goudy Old Style"/>
              </a:rPr>
              <a:t>rule.</a:t>
            </a:r>
            <a:endParaRPr sz="1400">
              <a:latin typeface="Goudy Old Style"/>
              <a:cs typeface="Goudy Old Style"/>
            </a:endParaRPr>
          </a:p>
        </p:txBody>
      </p:sp>
      <p:grpSp>
        <p:nvGrpSpPr>
          <p:cNvPr id="12" name="object 12"/>
          <p:cNvGrpSpPr/>
          <p:nvPr/>
        </p:nvGrpSpPr>
        <p:grpSpPr>
          <a:xfrm>
            <a:off x="3583559" y="2603626"/>
            <a:ext cx="1913889" cy="1651635"/>
            <a:chOff x="3583559" y="2603626"/>
            <a:chExt cx="1913889" cy="1651635"/>
          </a:xfrm>
        </p:grpSpPr>
        <p:sp>
          <p:nvSpPr>
            <p:cNvPr id="13" name="object 13"/>
            <p:cNvSpPr/>
            <p:nvPr/>
          </p:nvSpPr>
          <p:spPr>
            <a:xfrm>
              <a:off x="3596259" y="2616326"/>
              <a:ext cx="1888489" cy="1626235"/>
            </a:xfrm>
            <a:custGeom>
              <a:avLst/>
              <a:gdLst/>
              <a:ahLst/>
              <a:cxnLst/>
              <a:rect l="l" t="t" r="r" b="b"/>
              <a:pathLst>
                <a:path w="1888489" h="1626235">
                  <a:moveTo>
                    <a:pt x="1573530" y="0"/>
                  </a:moveTo>
                  <a:lnTo>
                    <a:pt x="314706" y="0"/>
                  </a:lnTo>
                  <a:lnTo>
                    <a:pt x="258122" y="3144"/>
                  </a:lnTo>
                  <a:lnTo>
                    <a:pt x="204872" y="12211"/>
                  </a:lnTo>
                  <a:lnTo>
                    <a:pt x="155843" y="26651"/>
                  </a:lnTo>
                  <a:lnTo>
                    <a:pt x="111922" y="45913"/>
                  </a:lnTo>
                  <a:lnTo>
                    <a:pt x="73996" y="69449"/>
                  </a:lnTo>
                  <a:lnTo>
                    <a:pt x="42954" y="96708"/>
                  </a:lnTo>
                  <a:lnTo>
                    <a:pt x="19682" y="127140"/>
                  </a:lnTo>
                  <a:lnTo>
                    <a:pt x="0" y="195325"/>
                  </a:lnTo>
                  <a:lnTo>
                    <a:pt x="0" y="1430782"/>
                  </a:lnTo>
                  <a:lnTo>
                    <a:pt x="19682" y="1498967"/>
                  </a:lnTo>
                  <a:lnTo>
                    <a:pt x="42954" y="1529399"/>
                  </a:lnTo>
                  <a:lnTo>
                    <a:pt x="73996" y="1556658"/>
                  </a:lnTo>
                  <a:lnTo>
                    <a:pt x="111922" y="1580194"/>
                  </a:lnTo>
                  <a:lnTo>
                    <a:pt x="155843" y="1599456"/>
                  </a:lnTo>
                  <a:lnTo>
                    <a:pt x="204872" y="1613896"/>
                  </a:lnTo>
                  <a:lnTo>
                    <a:pt x="258122" y="1622963"/>
                  </a:lnTo>
                  <a:lnTo>
                    <a:pt x="314706" y="1626108"/>
                  </a:lnTo>
                  <a:lnTo>
                    <a:pt x="1573530" y="1626108"/>
                  </a:lnTo>
                  <a:lnTo>
                    <a:pt x="1630113" y="1622963"/>
                  </a:lnTo>
                  <a:lnTo>
                    <a:pt x="1683363" y="1613896"/>
                  </a:lnTo>
                  <a:lnTo>
                    <a:pt x="1732392" y="1599456"/>
                  </a:lnTo>
                  <a:lnTo>
                    <a:pt x="1776313" y="1580194"/>
                  </a:lnTo>
                  <a:lnTo>
                    <a:pt x="1814239" y="1556658"/>
                  </a:lnTo>
                  <a:lnTo>
                    <a:pt x="1845281" y="1529399"/>
                  </a:lnTo>
                  <a:lnTo>
                    <a:pt x="1868553" y="1498967"/>
                  </a:lnTo>
                  <a:lnTo>
                    <a:pt x="1888236" y="1430782"/>
                  </a:lnTo>
                  <a:lnTo>
                    <a:pt x="1888236" y="195325"/>
                  </a:lnTo>
                  <a:lnTo>
                    <a:pt x="1868553" y="127140"/>
                  </a:lnTo>
                  <a:lnTo>
                    <a:pt x="1845281" y="96708"/>
                  </a:lnTo>
                  <a:lnTo>
                    <a:pt x="1814239" y="69449"/>
                  </a:lnTo>
                  <a:lnTo>
                    <a:pt x="1776313" y="45913"/>
                  </a:lnTo>
                  <a:lnTo>
                    <a:pt x="1732392" y="26651"/>
                  </a:lnTo>
                  <a:lnTo>
                    <a:pt x="1683363" y="12211"/>
                  </a:lnTo>
                  <a:lnTo>
                    <a:pt x="1630113" y="3144"/>
                  </a:lnTo>
                  <a:lnTo>
                    <a:pt x="1573530" y="0"/>
                  </a:lnTo>
                  <a:close/>
                </a:path>
              </a:pathLst>
            </a:custGeom>
            <a:solidFill>
              <a:srgbClr val="8063A1"/>
            </a:solidFill>
          </p:spPr>
          <p:txBody>
            <a:bodyPr wrap="square" lIns="0" tIns="0" rIns="0" bIns="0" rtlCol="0"/>
            <a:lstStyle/>
            <a:p>
              <a:endParaRPr/>
            </a:p>
          </p:txBody>
        </p:sp>
        <p:sp>
          <p:nvSpPr>
            <p:cNvPr id="14" name="object 14"/>
            <p:cNvSpPr/>
            <p:nvPr/>
          </p:nvSpPr>
          <p:spPr>
            <a:xfrm>
              <a:off x="3596259" y="2616326"/>
              <a:ext cx="1888489" cy="1626235"/>
            </a:xfrm>
            <a:custGeom>
              <a:avLst/>
              <a:gdLst/>
              <a:ahLst/>
              <a:cxnLst/>
              <a:rect l="l" t="t" r="r" b="b"/>
              <a:pathLst>
                <a:path w="1888489" h="1626235">
                  <a:moveTo>
                    <a:pt x="0" y="195325"/>
                  </a:moveTo>
                  <a:lnTo>
                    <a:pt x="19682" y="127140"/>
                  </a:lnTo>
                  <a:lnTo>
                    <a:pt x="42954" y="96708"/>
                  </a:lnTo>
                  <a:lnTo>
                    <a:pt x="73996" y="69449"/>
                  </a:lnTo>
                  <a:lnTo>
                    <a:pt x="111922" y="45913"/>
                  </a:lnTo>
                  <a:lnTo>
                    <a:pt x="155843" y="26651"/>
                  </a:lnTo>
                  <a:lnTo>
                    <a:pt x="204872" y="12211"/>
                  </a:lnTo>
                  <a:lnTo>
                    <a:pt x="258122" y="3144"/>
                  </a:lnTo>
                  <a:lnTo>
                    <a:pt x="314706" y="0"/>
                  </a:lnTo>
                  <a:lnTo>
                    <a:pt x="1573530" y="0"/>
                  </a:lnTo>
                  <a:lnTo>
                    <a:pt x="1630113" y="3144"/>
                  </a:lnTo>
                  <a:lnTo>
                    <a:pt x="1683363" y="12211"/>
                  </a:lnTo>
                  <a:lnTo>
                    <a:pt x="1732392" y="26651"/>
                  </a:lnTo>
                  <a:lnTo>
                    <a:pt x="1776313" y="45913"/>
                  </a:lnTo>
                  <a:lnTo>
                    <a:pt x="1814239" y="69449"/>
                  </a:lnTo>
                  <a:lnTo>
                    <a:pt x="1845281" y="96708"/>
                  </a:lnTo>
                  <a:lnTo>
                    <a:pt x="1868553" y="127140"/>
                  </a:lnTo>
                  <a:lnTo>
                    <a:pt x="1888236" y="195325"/>
                  </a:lnTo>
                  <a:lnTo>
                    <a:pt x="1888236" y="1430782"/>
                  </a:lnTo>
                  <a:lnTo>
                    <a:pt x="1868553" y="1498967"/>
                  </a:lnTo>
                  <a:lnTo>
                    <a:pt x="1845281" y="1529399"/>
                  </a:lnTo>
                  <a:lnTo>
                    <a:pt x="1814239" y="1556658"/>
                  </a:lnTo>
                  <a:lnTo>
                    <a:pt x="1776313" y="1580194"/>
                  </a:lnTo>
                  <a:lnTo>
                    <a:pt x="1732392" y="1599456"/>
                  </a:lnTo>
                  <a:lnTo>
                    <a:pt x="1683363" y="1613896"/>
                  </a:lnTo>
                  <a:lnTo>
                    <a:pt x="1630113" y="1622963"/>
                  </a:lnTo>
                  <a:lnTo>
                    <a:pt x="1573530" y="1626108"/>
                  </a:lnTo>
                  <a:lnTo>
                    <a:pt x="314706" y="1626108"/>
                  </a:lnTo>
                  <a:lnTo>
                    <a:pt x="258122" y="1622963"/>
                  </a:lnTo>
                  <a:lnTo>
                    <a:pt x="204872" y="1613896"/>
                  </a:lnTo>
                  <a:lnTo>
                    <a:pt x="155843" y="1599456"/>
                  </a:lnTo>
                  <a:lnTo>
                    <a:pt x="111922" y="1580194"/>
                  </a:lnTo>
                  <a:lnTo>
                    <a:pt x="73996" y="1556658"/>
                  </a:lnTo>
                  <a:lnTo>
                    <a:pt x="42954" y="1529399"/>
                  </a:lnTo>
                  <a:lnTo>
                    <a:pt x="19682" y="1498967"/>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5" name="object 15"/>
          <p:cNvSpPr txBox="1"/>
          <p:nvPr/>
        </p:nvSpPr>
        <p:spPr>
          <a:xfrm>
            <a:off x="3679190" y="2713227"/>
            <a:ext cx="1661795" cy="1390650"/>
          </a:xfrm>
          <a:prstGeom prst="rect">
            <a:avLst/>
          </a:prstGeom>
        </p:spPr>
        <p:txBody>
          <a:bodyPr vert="horz" wrap="square" lIns="0" tIns="36830" rIns="0" bIns="0" rtlCol="0">
            <a:spAutoFit/>
          </a:bodyPr>
          <a:lstStyle/>
          <a:p>
            <a:pPr marL="300355" marR="5080" indent="-288290">
              <a:lnSpc>
                <a:spcPts val="1510"/>
              </a:lnSpc>
              <a:spcBef>
                <a:spcPts val="290"/>
              </a:spcBef>
              <a:tabLst>
                <a:tab pos="300355" algn="l"/>
              </a:tabLst>
            </a:pPr>
            <a:r>
              <a:rPr sz="1400" spc="-5" dirty="0">
                <a:solidFill>
                  <a:srgbClr val="FFFFFF"/>
                </a:solidFill>
                <a:latin typeface="Goudy Old Style"/>
                <a:cs typeface="Goudy Old Style"/>
              </a:rPr>
              <a:t>7.	Sign in </a:t>
            </a:r>
            <a:r>
              <a:rPr sz="1400" spc="-10" dirty="0">
                <a:solidFill>
                  <a:srgbClr val="FFFFFF"/>
                </a:solidFill>
                <a:latin typeface="Goudy Old Style"/>
                <a:cs typeface="Goudy Old Style"/>
              </a:rPr>
              <a:t>to Azure by  clicking </a:t>
            </a:r>
            <a:r>
              <a:rPr sz="1400" b="1" spc="-5" dirty="0">
                <a:solidFill>
                  <a:srgbClr val="FFFFFF"/>
                </a:solidFill>
                <a:latin typeface="Goudy Old Style"/>
                <a:cs typeface="Goudy Old Style"/>
              </a:rPr>
              <a:t>Sign In</a:t>
            </a:r>
            <a:r>
              <a:rPr sz="1400" spc="-5" dirty="0">
                <a:solidFill>
                  <a:srgbClr val="FFFFFF"/>
                </a:solidFill>
                <a:latin typeface="Goudy Old Style"/>
                <a:cs typeface="Goudy Old Style"/>
              </a:rPr>
              <a:t>.  </a:t>
            </a:r>
            <a:r>
              <a:rPr sz="1400" spc="-35" dirty="0">
                <a:solidFill>
                  <a:srgbClr val="FFFFFF"/>
                </a:solidFill>
                <a:latin typeface="Goudy Old Style"/>
                <a:cs typeface="Goudy Old Style"/>
              </a:rPr>
              <a:t>Your </a:t>
            </a:r>
            <a:r>
              <a:rPr sz="1400" spc="-5" dirty="0">
                <a:solidFill>
                  <a:srgbClr val="FFFFFF"/>
                </a:solidFill>
                <a:latin typeface="Goudy Old Style"/>
                <a:cs typeface="Goudy Old Style"/>
              </a:rPr>
              <a:t>client </a:t>
            </a:r>
            <a:r>
              <a:rPr sz="1400" spc="-10" dirty="0">
                <a:solidFill>
                  <a:srgbClr val="FFFFFF"/>
                </a:solidFill>
                <a:latin typeface="Goudy Old Style"/>
                <a:cs typeface="Goudy Old Style"/>
              </a:rPr>
              <a:t>IP  address </a:t>
            </a:r>
            <a:r>
              <a:rPr sz="1400" spc="-5" dirty="0">
                <a:solidFill>
                  <a:srgbClr val="FFFFFF"/>
                </a:solidFill>
                <a:latin typeface="Goudy Old Style"/>
                <a:cs typeface="Goudy Old Style"/>
              </a:rPr>
              <a:t>will be  automatically  populated in  corresponding</a:t>
            </a:r>
            <a:r>
              <a:rPr sz="1400" spc="-65" dirty="0">
                <a:solidFill>
                  <a:srgbClr val="FFFFFF"/>
                </a:solidFill>
                <a:latin typeface="Goudy Old Style"/>
                <a:cs typeface="Goudy Old Style"/>
              </a:rPr>
              <a:t> </a:t>
            </a:r>
            <a:r>
              <a:rPr sz="1400" spc="-10" dirty="0">
                <a:solidFill>
                  <a:srgbClr val="FFFFFF"/>
                </a:solidFill>
                <a:latin typeface="Goudy Old Style"/>
                <a:cs typeface="Goudy Old Style"/>
              </a:rPr>
              <a:t>box.</a:t>
            </a:r>
            <a:endParaRPr sz="1400">
              <a:latin typeface="Goudy Old Style"/>
              <a:cs typeface="Goudy Old Style"/>
            </a:endParaRPr>
          </a:p>
        </p:txBody>
      </p:sp>
      <p:grpSp>
        <p:nvGrpSpPr>
          <p:cNvPr id="16" name="object 16"/>
          <p:cNvGrpSpPr/>
          <p:nvPr/>
        </p:nvGrpSpPr>
        <p:grpSpPr>
          <a:xfrm>
            <a:off x="5554090" y="2603626"/>
            <a:ext cx="1667510" cy="1651635"/>
            <a:chOff x="5554090" y="2603626"/>
            <a:chExt cx="1667510" cy="1651635"/>
          </a:xfrm>
        </p:grpSpPr>
        <p:sp>
          <p:nvSpPr>
            <p:cNvPr id="17" name="object 17"/>
            <p:cNvSpPr/>
            <p:nvPr/>
          </p:nvSpPr>
          <p:spPr>
            <a:xfrm>
              <a:off x="5566790" y="2616326"/>
              <a:ext cx="1642110" cy="1626235"/>
            </a:xfrm>
            <a:custGeom>
              <a:avLst/>
              <a:gdLst/>
              <a:ahLst/>
              <a:cxnLst/>
              <a:rect l="l" t="t" r="r" b="b"/>
              <a:pathLst>
                <a:path w="1642109" h="1626235">
                  <a:moveTo>
                    <a:pt x="1368425" y="0"/>
                  </a:moveTo>
                  <a:lnTo>
                    <a:pt x="273685" y="0"/>
                  </a:lnTo>
                  <a:lnTo>
                    <a:pt x="218534" y="3965"/>
                  </a:lnTo>
                  <a:lnTo>
                    <a:pt x="167163" y="15339"/>
                  </a:lnTo>
                  <a:lnTo>
                    <a:pt x="120674" y="33338"/>
                  </a:lnTo>
                  <a:lnTo>
                    <a:pt x="80168" y="57181"/>
                  </a:lnTo>
                  <a:lnTo>
                    <a:pt x="46746" y="86084"/>
                  </a:lnTo>
                  <a:lnTo>
                    <a:pt x="21510" y="119264"/>
                  </a:lnTo>
                  <a:lnTo>
                    <a:pt x="5561" y="155939"/>
                  </a:lnTo>
                  <a:lnTo>
                    <a:pt x="0" y="195325"/>
                  </a:lnTo>
                  <a:lnTo>
                    <a:pt x="0" y="1430782"/>
                  </a:lnTo>
                  <a:lnTo>
                    <a:pt x="5561" y="1470168"/>
                  </a:lnTo>
                  <a:lnTo>
                    <a:pt x="21510" y="1506843"/>
                  </a:lnTo>
                  <a:lnTo>
                    <a:pt x="46746" y="1540023"/>
                  </a:lnTo>
                  <a:lnTo>
                    <a:pt x="80168" y="1568926"/>
                  </a:lnTo>
                  <a:lnTo>
                    <a:pt x="120674" y="1592769"/>
                  </a:lnTo>
                  <a:lnTo>
                    <a:pt x="167163" y="1610768"/>
                  </a:lnTo>
                  <a:lnTo>
                    <a:pt x="218534" y="1622142"/>
                  </a:lnTo>
                  <a:lnTo>
                    <a:pt x="273685" y="1626108"/>
                  </a:lnTo>
                  <a:lnTo>
                    <a:pt x="1368425" y="1626108"/>
                  </a:lnTo>
                  <a:lnTo>
                    <a:pt x="1423575" y="1622142"/>
                  </a:lnTo>
                  <a:lnTo>
                    <a:pt x="1474946" y="1610768"/>
                  </a:lnTo>
                  <a:lnTo>
                    <a:pt x="1521435" y="1592769"/>
                  </a:lnTo>
                  <a:lnTo>
                    <a:pt x="1561941" y="1568926"/>
                  </a:lnTo>
                  <a:lnTo>
                    <a:pt x="1595363" y="1540023"/>
                  </a:lnTo>
                  <a:lnTo>
                    <a:pt x="1620599" y="1506843"/>
                  </a:lnTo>
                  <a:lnTo>
                    <a:pt x="1636548" y="1470168"/>
                  </a:lnTo>
                  <a:lnTo>
                    <a:pt x="1642110" y="1430782"/>
                  </a:lnTo>
                  <a:lnTo>
                    <a:pt x="1642110" y="195325"/>
                  </a:lnTo>
                  <a:lnTo>
                    <a:pt x="1636548" y="155939"/>
                  </a:lnTo>
                  <a:lnTo>
                    <a:pt x="1620599" y="119264"/>
                  </a:lnTo>
                  <a:lnTo>
                    <a:pt x="1595363" y="86084"/>
                  </a:lnTo>
                  <a:lnTo>
                    <a:pt x="1561941" y="57181"/>
                  </a:lnTo>
                  <a:lnTo>
                    <a:pt x="1521435" y="33338"/>
                  </a:lnTo>
                  <a:lnTo>
                    <a:pt x="1474946" y="15339"/>
                  </a:lnTo>
                  <a:lnTo>
                    <a:pt x="1423575" y="3965"/>
                  </a:lnTo>
                  <a:lnTo>
                    <a:pt x="1368425" y="0"/>
                  </a:lnTo>
                  <a:close/>
                </a:path>
              </a:pathLst>
            </a:custGeom>
            <a:solidFill>
              <a:srgbClr val="4AACC5"/>
            </a:solidFill>
          </p:spPr>
          <p:txBody>
            <a:bodyPr wrap="square" lIns="0" tIns="0" rIns="0" bIns="0" rtlCol="0"/>
            <a:lstStyle/>
            <a:p>
              <a:endParaRPr/>
            </a:p>
          </p:txBody>
        </p:sp>
        <p:sp>
          <p:nvSpPr>
            <p:cNvPr id="18" name="object 18"/>
            <p:cNvSpPr/>
            <p:nvPr/>
          </p:nvSpPr>
          <p:spPr>
            <a:xfrm>
              <a:off x="5566790" y="2616326"/>
              <a:ext cx="1642110" cy="1626235"/>
            </a:xfrm>
            <a:custGeom>
              <a:avLst/>
              <a:gdLst/>
              <a:ahLst/>
              <a:cxnLst/>
              <a:rect l="l" t="t" r="r" b="b"/>
              <a:pathLst>
                <a:path w="1642109" h="1626235">
                  <a:moveTo>
                    <a:pt x="0" y="195325"/>
                  </a:moveTo>
                  <a:lnTo>
                    <a:pt x="5561" y="155939"/>
                  </a:lnTo>
                  <a:lnTo>
                    <a:pt x="21510" y="119264"/>
                  </a:lnTo>
                  <a:lnTo>
                    <a:pt x="46746" y="86084"/>
                  </a:lnTo>
                  <a:lnTo>
                    <a:pt x="80168" y="57181"/>
                  </a:lnTo>
                  <a:lnTo>
                    <a:pt x="120674" y="33338"/>
                  </a:lnTo>
                  <a:lnTo>
                    <a:pt x="167163" y="15339"/>
                  </a:lnTo>
                  <a:lnTo>
                    <a:pt x="218534" y="3965"/>
                  </a:lnTo>
                  <a:lnTo>
                    <a:pt x="273685" y="0"/>
                  </a:lnTo>
                  <a:lnTo>
                    <a:pt x="1368425" y="0"/>
                  </a:lnTo>
                  <a:lnTo>
                    <a:pt x="1423575" y="3965"/>
                  </a:lnTo>
                  <a:lnTo>
                    <a:pt x="1474946" y="15339"/>
                  </a:lnTo>
                  <a:lnTo>
                    <a:pt x="1521435" y="33338"/>
                  </a:lnTo>
                  <a:lnTo>
                    <a:pt x="1561941" y="57181"/>
                  </a:lnTo>
                  <a:lnTo>
                    <a:pt x="1595363" y="86084"/>
                  </a:lnTo>
                  <a:lnTo>
                    <a:pt x="1620599" y="119264"/>
                  </a:lnTo>
                  <a:lnTo>
                    <a:pt x="1636548" y="155939"/>
                  </a:lnTo>
                  <a:lnTo>
                    <a:pt x="1642110" y="195325"/>
                  </a:lnTo>
                  <a:lnTo>
                    <a:pt x="1642110" y="1430782"/>
                  </a:lnTo>
                  <a:lnTo>
                    <a:pt x="1636548" y="1470168"/>
                  </a:lnTo>
                  <a:lnTo>
                    <a:pt x="1620599" y="1506843"/>
                  </a:lnTo>
                  <a:lnTo>
                    <a:pt x="1595363" y="1540023"/>
                  </a:lnTo>
                  <a:lnTo>
                    <a:pt x="1561941" y="1568926"/>
                  </a:lnTo>
                  <a:lnTo>
                    <a:pt x="1521435" y="1592769"/>
                  </a:lnTo>
                  <a:lnTo>
                    <a:pt x="1474946" y="1610768"/>
                  </a:lnTo>
                  <a:lnTo>
                    <a:pt x="1423575" y="1622142"/>
                  </a:lnTo>
                  <a:lnTo>
                    <a:pt x="1368425" y="1626108"/>
                  </a:lnTo>
                  <a:lnTo>
                    <a:pt x="273685" y="1626108"/>
                  </a:lnTo>
                  <a:lnTo>
                    <a:pt x="218534" y="1622142"/>
                  </a:lnTo>
                  <a:lnTo>
                    <a:pt x="167163" y="1610768"/>
                  </a:lnTo>
                  <a:lnTo>
                    <a:pt x="120674" y="1592769"/>
                  </a:lnTo>
                  <a:lnTo>
                    <a:pt x="80168" y="1568926"/>
                  </a:lnTo>
                  <a:lnTo>
                    <a:pt x="46746" y="1540023"/>
                  </a:lnTo>
                  <a:lnTo>
                    <a:pt x="21510" y="1506843"/>
                  </a:lnTo>
                  <a:lnTo>
                    <a:pt x="5561" y="1470168"/>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9" name="object 19"/>
          <p:cNvSpPr txBox="1"/>
          <p:nvPr/>
        </p:nvSpPr>
        <p:spPr>
          <a:xfrm>
            <a:off x="5648959" y="2905251"/>
            <a:ext cx="1334135" cy="1007110"/>
          </a:xfrm>
          <a:prstGeom prst="rect">
            <a:avLst/>
          </a:prstGeom>
        </p:spPr>
        <p:txBody>
          <a:bodyPr vert="horz" wrap="square" lIns="0" tIns="36830" rIns="0" bIns="0" rtlCol="0">
            <a:spAutoFit/>
          </a:bodyPr>
          <a:lstStyle/>
          <a:p>
            <a:pPr marL="243204" marR="5080" indent="-231140">
              <a:lnSpc>
                <a:spcPts val="1510"/>
              </a:lnSpc>
              <a:spcBef>
                <a:spcPts val="290"/>
              </a:spcBef>
            </a:pPr>
            <a:r>
              <a:rPr sz="1400" spc="-5" dirty="0">
                <a:solidFill>
                  <a:srgbClr val="FFFFFF"/>
                </a:solidFill>
                <a:latin typeface="Goudy Old Style"/>
                <a:cs typeface="Goudy Old Style"/>
              </a:rPr>
              <a:t>8. </a:t>
            </a:r>
            <a:r>
              <a:rPr sz="1400" spc="-10" dirty="0">
                <a:solidFill>
                  <a:srgbClr val="FFFFFF"/>
                </a:solidFill>
                <a:latin typeface="Goudy Old Style"/>
                <a:cs typeface="Goudy Old Style"/>
              </a:rPr>
              <a:t>Click </a:t>
            </a:r>
            <a:r>
              <a:rPr sz="1400" b="1" spc="-5" dirty="0">
                <a:solidFill>
                  <a:srgbClr val="FFFFFF"/>
                </a:solidFill>
                <a:latin typeface="Goudy Old Style"/>
                <a:cs typeface="Goudy Old Style"/>
              </a:rPr>
              <a:t>Connect</a:t>
            </a:r>
            <a:r>
              <a:rPr sz="1400" spc="-5" dirty="0">
                <a:solidFill>
                  <a:srgbClr val="FFFFFF"/>
                </a:solidFill>
                <a:latin typeface="Goudy Old Style"/>
                <a:cs typeface="Goudy Old Style"/>
              </a:rPr>
              <a:t>.  Connection </a:t>
            </a:r>
            <a:r>
              <a:rPr sz="1400" spc="-10" dirty="0">
                <a:solidFill>
                  <a:srgbClr val="FFFFFF"/>
                </a:solidFill>
                <a:latin typeface="Goudy Old Style"/>
                <a:cs typeface="Goudy Old Style"/>
              </a:rPr>
              <a:t>to  </a:t>
            </a:r>
            <a:r>
              <a:rPr sz="1400" spc="-5" dirty="0">
                <a:solidFill>
                  <a:srgbClr val="FFFFFF"/>
                </a:solidFill>
                <a:latin typeface="Goudy Old Style"/>
                <a:cs typeface="Goudy Old Style"/>
              </a:rPr>
              <a:t>database is  successfully  established.</a:t>
            </a:r>
            <a:endParaRPr sz="1400">
              <a:latin typeface="Goudy Old Style"/>
              <a:cs typeface="Goudy Old Style"/>
            </a:endParaRPr>
          </a:p>
        </p:txBody>
      </p:sp>
      <p:grpSp>
        <p:nvGrpSpPr>
          <p:cNvPr id="20" name="object 20"/>
          <p:cNvGrpSpPr/>
          <p:nvPr/>
        </p:nvGrpSpPr>
        <p:grpSpPr>
          <a:xfrm>
            <a:off x="7341869" y="2626614"/>
            <a:ext cx="1667510" cy="1651635"/>
            <a:chOff x="7341869" y="2626614"/>
            <a:chExt cx="1667510" cy="1651635"/>
          </a:xfrm>
        </p:grpSpPr>
        <p:sp>
          <p:nvSpPr>
            <p:cNvPr id="21" name="object 21"/>
            <p:cNvSpPr/>
            <p:nvPr/>
          </p:nvSpPr>
          <p:spPr>
            <a:xfrm>
              <a:off x="7354442" y="2639187"/>
              <a:ext cx="1642110" cy="1626235"/>
            </a:xfrm>
            <a:custGeom>
              <a:avLst/>
              <a:gdLst/>
              <a:ahLst/>
              <a:cxnLst/>
              <a:rect l="l" t="t" r="r" b="b"/>
              <a:pathLst>
                <a:path w="1642109" h="1626235">
                  <a:moveTo>
                    <a:pt x="1368425" y="0"/>
                  </a:moveTo>
                  <a:lnTo>
                    <a:pt x="273685" y="0"/>
                  </a:lnTo>
                  <a:lnTo>
                    <a:pt x="218534" y="3965"/>
                  </a:lnTo>
                  <a:lnTo>
                    <a:pt x="167163" y="15339"/>
                  </a:lnTo>
                  <a:lnTo>
                    <a:pt x="120674" y="33338"/>
                  </a:lnTo>
                  <a:lnTo>
                    <a:pt x="80168" y="57181"/>
                  </a:lnTo>
                  <a:lnTo>
                    <a:pt x="46746" y="86084"/>
                  </a:lnTo>
                  <a:lnTo>
                    <a:pt x="21510" y="119264"/>
                  </a:lnTo>
                  <a:lnTo>
                    <a:pt x="5561" y="155939"/>
                  </a:lnTo>
                  <a:lnTo>
                    <a:pt x="0" y="195325"/>
                  </a:lnTo>
                  <a:lnTo>
                    <a:pt x="0" y="1430782"/>
                  </a:lnTo>
                  <a:lnTo>
                    <a:pt x="5561" y="1470168"/>
                  </a:lnTo>
                  <a:lnTo>
                    <a:pt x="21510" y="1506843"/>
                  </a:lnTo>
                  <a:lnTo>
                    <a:pt x="46746" y="1540023"/>
                  </a:lnTo>
                  <a:lnTo>
                    <a:pt x="80168" y="1568926"/>
                  </a:lnTo>
                  <a:lnTo>
                    <a:pt x="120674" y="1592769"/>
                  </a:lnTo>
                  <a:lnTo>
                    <a:pt x="167163" y="1610768"/>
                  </a:lnTo>
                  <a:lnTo>
                    <a:pt x="218534" y="1622142"/>
                  </a:lnTo>
                  <a:lnTo>
                    <a:pt x="273685" y="1626108"/>
                  </a:lnTo>
                  <a:lnTo>
                    <a:pt x="1368425" y="1626108"/>
                  </a:lnTo>
                  <a:lnTo>
                    <a:pt x="1423575" y="1622142"/>
                  </a:lnTo>
                  <a:lnTo>
                    <a:pt x="1474946" y="1610768"/>
                  </a:lnTo>
                  <a:lnTo>
                    <a:pt x="1521435" y="1592769"/>
                  </a:lnTo>
                  <a:lnTo>
                    <a:pt x="1561941" y="1568926"/>
                  </a:lnTo>
                  <a:lnTo>
                    <a:pt x="1595363" y="1540023"/>
                  </a:lnTo>
                  <a:lnTo>
                    <a:pt x="1620599" y="1506843"/>
                  </a:lnTo>
                  <a:lnTo>
                    <a:pt x="1636548" y="1470168"/>
                  </a:lnTo>
                  <a:lnTo>
                    <a:pt x="1642110" y="1430782"/>
                  </a:lnTo>
                  <a:lnTo>
                    <a:pt x="1642110" y="195325"/>
                  </a:lnTo>
                  <a:lnTo>
                    <a:pt x="1636548" y="155939"/>
                  </a:lnTo>
                  <a:lnTo>
                    <a:pt x="1620599" y="119264"/>
                  </a:lnTo>
                  <a:lnTo>
                    <a:pt x="1595363" y="86084"/>
                  </a:lnTo>
                  <a:lnTo>
                    <a:pt x="1561941" y="57181"/>
                  </a:lnTo>
                  <a:lnTo>
                    <a:pt x="1521435" y="33338"/>
                  </a:lnTo>
                  <a:lnTo>
                    <a:pt x="1474946" y="15339"/>
                  </a:lnTo>
                  <a:lnTo>
                    <a:pt x="1423575" y="3965"/>
                  </a:lnTo>
                  <a:lnTo>
                    <a:pt x="1368425" y="0"/>
                  </a:lnTo>
                  <a:close/>
                </a:path>
              </a:pathLst>
            </a:custGeom>
            <a:solidFill>
              <a:srgbClr val="F79546"/>
            </a:solidFill>
          </p:spPr>
          <p:txBody>
            <a:bodyPr wrap="square" lIns="0" tIns="0" rIns="0" bIns="0" rtlCol="0"/>
            <a:lstStyle/>
            <a:p>
              <a:endParaRPr/>
            </a:p>
          </p:txBody>
        </p:sp>
        <p:sp>
          <p:nvSpPr>
            <p:cNvPr id="22" name="object 22"/>
            <p:cNvSpPr/>
            <p:nvPr/>
          </p:nvSpPr>
          <p:spPr>
            <a:xfrm>
              <a:off x="7354442" y="2639187"/>
              <a:ext cx="1642110" cy="1626235"/>
            </a:xfrm>
            <a:custGeom>
              <a:avLst/>
              <a:gdLst/>
              <a:ahLst/>
              <a:cxnLst/>
              <a:rect l="l" t="t" r="r" b="b"/>
              <a:pathLst>
                <a:path w="1642109" h="1626235">
                  <a:moveTo>
                    <a:pt x="0" y="195325"/>
                  </a:moveTo>
                  <a:lnTo>
                    <a:pt x="5561" y="155939"/>
                  </a:lnTo>
                  <a:lnTo>
                    <a:pt x="21510" y="119264"/>
                  </a:lnTo>
                  <a:lnTo>
                    <a:pt x="46746" y="86084"/>
                  </a:lnTo>
                  <a:lnTo>
                    <a:pt x="80168" y="57181"/>
                  </a:lnTo>
                  <a:lnTo>
                    <a:pt x="120674" y="33338"/>
                  </a:lnTo>
                  <a:lnTo>
                    <a:pt x="167163" y="15339"/>
                  </a:lnTo>
                  <a:lnTo>
                    <a:pt x="218534" y="3965"/>
                  </a:lnTo>
                  <a:lnTo>
                    <a:pt x="273685" y="0"/>
                  </a:lnTo>
                  <a:lnTo>
                    <a:pt x="1368425" y="0"/>
                  </a:lnTo>
                  <a:lnTo>
                    <a:pt x="1423575" y="3965"/>
                  </a:lnTo>
                  <a:lnTo>
                    <a:pt x="1474946" y="15339"/>
                  </a:lnTo>
                  <a:lnTo>
                    <a:pt x="1521435" y="33338"/>
                  </a:lnTo>
                  <a:lnTo>
                    <a:pt x="1561941" y="57181"/>
                  </a:lnTo>
                  <a:lnTo>
                    <a:pt x="1595363" y="86084"/>
                  </a:lnTo>
                  <a:lnTo>
                    <a:pt x="1620599" y="119264"/>
                  </a:lnTo>
                  <a:lnTo>
                    <a:pt x="1636548" y="155939"/>
                  </a:lnTo>
                  <a:lnTo>
                    <a:pt x="1642110" y="195325"/>
                  </a:lnTo>
                  <a:lnTo>
                    <a:pt x="1642110" y="1430782"/>
                  </a:lnTo>
                  <a:lnTo>
                    <a:pt x="1636548" y="1470168"/>
                  </a:lnTo>
                  <a:lnTo>
                    <a:pt x="1620599" y="1506843"/>
                  </a:lnTo>
                  <a:lnTo>
                    <a:pt x="1595363" y="1540023"/>
                  </a:lnTo>
                  <a:lnTo>
                    <a:pt x="1561941" y="1568926"/>
                  </a:lnTo>
                  <a:lnTo>
                    <a:pt x="1521435" y="1592769"/>
                  </a:lnTo>
                  <a:lnTo>
                    <a:pt x="1474946" y="1610768"/>
                  </a:lnTo>
                  <a:lnTo>
                    <a:pt x="1423575" y="1622142"/>
                  </a:lnTo>
                  <a:lnTo>
                    <a:pt x="1368425" y="1626108"/>
                  </a:lnTo>
                  <a:lnTo>
                    <a:pt x="273685" y="1626108"/>
                  </a:lnTo>
                  <a:lnTo>
                    <a:pt x="218534" y="1622142"/>
                  </a:lnTo>
                  <a:lnTo>
                    <a:pt x="167163" y="1610768"/>
                  </a:lnTo>
                  <a:lnTo>
                    <a:pt x="120674" y="1592769"/>
                  </a:lnTo>
                  <a:lnTo>
                    <a:pt x="80168" y="1568926"/>
                  </a:lnTo>
                  <a:lnTo>
                    <a:pt x="46746" y="1540023"/>
                  </a:lnTo>
                  <a:lnTo>
                    <a:pt x="21510" y="1506843"/>
                  </a:lnTo>
                  <a:lnTo>
                    <a:pt x="5561" y="1470168"/>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23" name="object 23"/>
          <p:cNvSpPr txBox="1"/>
          <p:nvPr/>
        </p:nvSpPr>
        <p:spPr>
          <a:xfrm>
            <a:off x="7492745" y="3024124"/>
            <a:ext cx="1362075" cy="816610"/>
          </a:xfrm>
          <a:prstGeom prst="rect">
            <a:avLst/>
          </a:prstGeom>
        </p:spPr>
        <p:txBody>
          <a:bodyPr vert="horz" wrap="square" lIns="0" tIns="33020" rIns="0" bIns="0" rtlCol="0">
            <a:spAutoFit/>
          </a:bodyPr>
          <a:lstStyle/>
          <a:p>
            <a:pPr marL="187325" marR="5080" indent="-175260">
              <a:lnSpc>
                <a:spcPct val="90200"/>
              </a:lnSpc>
              <a:spcBef>
                <a:spcPts val="260"/>
              </a:spcBef>
            </a:pPr>
            <a:r>
              <a:rPr sz="1400" spc="-5" dirty="0">
                <a:solidFill>
                  <a:srgbClr val="FFFFFF"/>
                </a:solidFill>
                <a:latin typeface="Goudy Old Style"/>
                <a:cs typeface="Goudy Old Style"/>
              </a:rPr>
              <a:t>9. Right-click the  </a:t>
            </a:r>
            <a:r>
              <a:rPr sz="1400" b="1" spc="-20" dirty="0">
                <a:solidFill>
                  <a:srgbClr val="FFFFFF"/>
                </a:solidFill>
                <a:latin typeface="Goudy Old Style"/>
                <a:cs typeface="Goudy Old Style"/>
              </a:rPr>
              <a:t>Tables </a:t>
            </a:r>
            <a:r>
              <a:rPr sz="1400" spc="-5" dirty="0">
                <a:solidFill>
                  <a:srgbClr val="FFFFFF"/>
                </a:solidFill>
                <a:latin typeface="Goudy Old Style"/>
                <a:cs typeface="Goudy Old Style"/>
              </a:rPr>
              <a:t>node </a:t>
            </a:r>
            <a:r>
              <a:rPr sz="1400" spc="-10" dirty="0">
                <a:solidFill>
                  <a:srgbClr val="FFFFFF"/>
                </a:solidFill>
                <a:latin typeface="Goudy Old Style"/>
                <a:cs typeface="Goudy Old Style"/>
              </a:rPr>
              <a:t>and  click  </a:t>
            </a:r>
            <a:r>
              <a:rPr sz="1400" b="1" spc="-20" dirty="0">
                <a:solidFill>
                  <a:srgbClr val="FFFFFF"/>
                </a:solidFill>
                <a:latin typeface="Goudy Old Style"/>
                <a:cs typeface="Goudy Old Style"/>
              </a:rPr>
              <a:t>New</a:t>
            </a:r>
            <a:r>
              <a:rPr sz="1400" spc="-20" dirty="0">
                <a:solidFill>
                  <a:srgbClr val="FFFFFF"/>
                </a:solidFill>
                <a:latin typeface="Wingdings"/>
                <a:cs typeface="Wingdings"/>
              </a:rPr>
              <a:t></a:t>
            </a:r>
            <a:r>
              <a:rPr sz="1400" b="1" spc="-20" dirty="0">
                <a:solidFill>
                  <a:srgbClr val="FFFFFF"/>
                </a:solidFill>
                <a:latin typeface="Goudy Old Style"/>
                <a:cs typeface="Goudy Old Style"/>
              </a:rPr>
              <a:t>Table.</a:t>
            </a:r>
            <a:endParaRPr sz="1400">
              <a:latin typeface="Goudy Old Style"/>
              <a:cs typeface="Goudy Old Style"/>
            </a:endParaRPr>
          </a:p>
        </p:txBody>
      </p:sp>
      <p:sp>
        <p:nvSpPr>
          <p:cNvPr id="25" name="object 25"/>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16</a:t>
            </a:fld>
            <a:endParaRPr sz="1800" baseline="2314"/>
          </a:p>
        </p:txBody>
      </p:sp>
      <p:sp>
        <p:nvSpPr>
          <p:cNvPr id="26" name="object 26"/>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27" name="object 2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56641"/>
            <a:ext cx="7624445" cy="574040"/>
          </a:xfrm>
          <a:prstGeom prst="rect">
            <a:avLst/>
          </a:prstGeom>
        </p:spPr>
        <p:txBody>
          <a:bodyPr vert="horz" wrap="square" lIns="0" tIns="12700" rIns="0" bIns="0" rtlCol="0">
            <a:spAutoFit/>
          </a:bodyPr>
          <a:lstStyle/>
          <a:p>
            <a:pPr marL="12700">
              <a:lnSpc>
                <a:spcPct val="100000"/>
              </a:lnSpc>
              <a:spcBef>
                <a:spcPts val="100"/>
              </a:spcBef>
            </a:pPr>
            <a:r>
              <a:rPr sz="3600" spc="235" dirty="0"/>
              <a:t>Connect</a:t>
            </a:r>
            <a:r>
              <a:rPr sz="3600" spc="-155" dirty="0"/>
              <a:t> </a:t>
            </a:r>
            <a:r>
              <a:rPr sz="3600" spc="200" dirty="0"/>
              <a:t>to</a:t>
            </a:r>
            <a:r>
              <a:rPr sz="3600" spc="-135" dirty="0"/>
              <a:t> </a:t>
            </a:r>
            <a:r>
              <a:rPr sz="3600" spc="114" dirty="0"/>
              <a:t>Azure</a:t>
            </a:r>
            <a:r>
              <a:rPr sz="3600" spc="-135" dirty="0"/>
              <a:t> </a:t>
            </a:r>
            <a:r>
              <a:rPr sz="3600" spc="175" dirty="0"/>
              <a:t>SQL</a:t>
            </a:r>
            <a:r>
              <a:rPr sz="3600" spc="-135" dirty="0"/>
              <a:t> </a:t>
            </a:r>
            <a:r>
              <a:rPr sz="3600" spc="160" dirty="0"/>
              <a:t>with</a:t>
            </a:r>
            <a:r>
              <a:rPr sz="3600" spc="-150" dirty="0"/>
              <a:t> </a:t>
            </a:r>
            <a:r>
              <a:rPr sz="3600" spc="130" dirty="0"/>
              <a:t>SSMS</a:t>
            </a:r>
            <a:r>
              <a:rPr sz="3600" spc="-120" dirty="0"/>
              <a:t> </a:t>
            </a:r>
            <a:r>
              <a:rPr sz="3600" spc="15" dirty="0"/>
              <a:t>4-4</a:t>
            </a:r>
            <a:endParaRPr sz="3600"/>
          </a:p>
        </p:txBody>
      </p:sp>
      <p:grpSp>
        <p:nvGrpSpPr>
          <p:cNvPr id="3" name="object 3"/>
          <p:cNvGrpSpPr/>
          <p:nvPr/>
        </p:nvGrpSpPr>
        <p:grpSpPr>
          <a:xfrm>
            <a:off x="-12319" y="1396746"/>
            <a:ext cx="9156700" cy="4064635"/>
            <a:chOff x="-12319" y="1396746"/>
            <a:chExt cx="9156700" cy="4064635"/>
          </a:xfrm>
        </p:grpSpPr>
        <p:sp>
          <p:nvSpPr>
            <p:cNvPr id="4" name="object 4"/>
            <p:cNvSpPr/>
            <p:nvPr/>
          </p:nvSpPr>
          <p:spPr>
            <a:xfrm>
              <a:off x="737615" y="1396746"/>
              <a:ext cx="8406765" cy="4064635"/>
            </a:xfrm>
            <a:custGeom>
              <a:avLst/>
              <a:gdLst/>
              <a:ahLst/>
              <a:cxnLst/>
              <a:rect l="l" t="t" r="r" b="b"/>
              <a:pathLst>
                <a:path w="8406765" h="4064635">
                  <a:moveTo>
                    <a:pt x="6374130" y="0"/>
                  </a:moveTo>
                  <a:lnTo>
                    <a:pt x="6374130" y="1016126"/>
                  </a:lnTo>
                  <a:lnTo>
                    <a:pt x="0" y="1016126"/>
                  </a:lnTo>
                  <a:lnTo>
                    <a:pt x="0" y="3048381"/>
                  </a:lnTo>
                  <a:lnTo>
                    <a:pt x="6374130" y="3048381"/>
                  </a:lnTo>
                  <a:lnTo>
                    <a:pt x="6374130" y="4064507"/>
                  </a:lnTo>
                  <a:lnTo>
                    <a:pt x="8406384" y="2032253"/>
                  </a:lnTo>
                  <a:lnTo>
                    <a:pt x="6374130" y="0"/>
                  </a:lnTo>
                  <a:close/>
                </a:path>
              </a:pathLst>
            </a:custGeom>
            <a:solidFill>
              <a:srgbClr val="001F5F"/>
            </a:solidFill>
          </p:spPr>
          <p:txBody>
            <a:bodyPr wrap="square" lIns="0" tIns="0" rIns="0" bIns="0" rtlCol="0"/>
            <a:lstStyle/>
            <a:p>
              <a:endParaRPr/>
            </a:p>
          </p:txBody>
        </p:sp>
        <p:sp>
          <p:nvSpPr>
            <p:cNvPr id="5" name="object 5"/>
            <p:cNvSpPr/>
            <p:nvPr/>
          </p:nvSpPr>
          <p:spPr>
            <a:xfrm>
              <a:off x="380" y="2616327"/>
              <a:ext cx="1900555" cy="1626235"/>
            </a:xfrm>
            <a:custGeom>
              <a:avLst/>
              <a:gdLst/>
              <a:ahLst/>
              <a:cxnLst/>
              <a:rect l="l" t="t" r="r" b="b"/>
              <a:pathLst>
                <a:path w="1900555" h="1626235">
                  <a:moveTo>
                    <a:pt x="1583690" y="0"/>
                  </a:moveTo>
                  <a:lnTo>
                    <a:pt x="316750" y="0"/>
                  </a:lnTo>
                  <a:lnTo>
                    <a:pt x="259812" y="3144"/>
                  </a:lnTo>
                  <a:lnTo>
                    <a:pt x="206223" y="12211"/>
                  </a:lnTo>
                  <a:lnTo>
                    <a:pt x="156877" y="26651"/>
                  </a:lnTo>
                  <a:lnTo>
                    <a:pt x="112669" y="45913"/>
                  </a:lnTo>
                  <a:lnTo>
                    <a:pt x="74493" y="69449"/>
                  </a:lnTo>
                  <a:lnTo>
                    <a:pt x="43244" y="96708"/>
                  </a:lnTo>
                  <a:lnTo>
                    <a:pt x="19816" y="127140"/>
                  </a:lnTo>
                  <a:lnTo>
                    <a:pt x="0" y="195325"/>
                  </a:lnTo>
                  <a:lnTo>
                    <a:pt x="0" y="1430782"/>
                  </a:lnTo>
                  <a:lnTo>
                    <a:pt x="19816" y="1498967"/>
                  </a:lnTo>
                  <a:lnTo>
                    <a:pt x="43244" y="1529399"/>
                  </a:lnTo>
                  <a:lnTo>
                    <a:pt x="74493" y="1556658"/>
                  </a:lnTo>
                  <a:lnTo>
                    <a:pt x="112669" y="1580194"/>
                  </a:lnTo>
                  <a:lnTo>
                    <a:pt x="156877" y="1599456"/>
                  </a:lnTo>
                  <a:lnTo>
                    <a:pt x="206223" y="1613896"/>
                  </a:lnTo>
                  <a:lnTo>
                    <a:pt x="259812" y="1622963"/>
                  </a:lnTo>
                  <a:lnTo>
                    <a:pt x="316750" y="1626108"/>
                  </a:lnTo>
                  <a:lnTo>
                    <a:pt x="1583690" y="1626108"/>
                  </a:lnTo>
                  <a:lnTo>
                    <a:pt x="1640610" y="1622963"/>
                  </a:lnTo>
                  <a:lnTo>
                    <a:pt x="1694189" y="1613896"/>
                  </a:lnTo>
                  <a:lnTo>
                    <a:pt x="1743531" y="1599456"/>
                  </a:lnTo>
                  <a:lnTo>
                    <a:pt x="1787739" y="1580194"/>
                  </a:lnTo>
                  <a:lnTo>
                    <a:pt x="1825918" y="1556658"/>
                  </a:lnTo>
                  <a:lnTo>
                    <a:pt x="1857172" y="1529399"/>
                  </a:lnTo>
                  <a:lnTo>
                    <a:pt x="1880606" y="1498967"/>
                  </a:lnTo>
                  <a:lnTo>
                    <a:pt x="1900427" y="1430782"/>
                  </a:lnTo>
                  <a:lnTo>
                    <a:pt x="1900427" y="195325"/>
                  </a:lnTo>
                  <a:lnTo>
                    <a:pt x="1880606" y="127140"/>
                  </a:lnTo>
                  <a:lnTo>
                    <a:pt x="1857172" y="96708"/>
                  </a:lnTo>
                  <a:lnTo>
                    <a:pt x="1825918" y="69449"/>
                  </a:lnTo>
                  <a:lnTo>
                    <a:pt x="1787739" y="45913"/>
                  </a:lnTo>
                  <a:lnTo>
                    <a:pt x="1743531" y="26651"/>
                  </a:lnTo>
                  <a:lnTo>
                    <a:pt x="1694189" y="12211"/>
                  </a:lnTo>
                  <a:lnTo>
                    <a:pt x="1640610" y="3144"/>
                  </a:lnTo>
                  <a:lnTo>
                    <a:pt x="1583690" y="0"/>
                  </a:lnTo>
                  <a:close/>
                </a:path>
              </a:pathLst>
            </a:custGeom>
            <a:solidFill>
              <a:srgbClr val="C0504D"/>
            </a:solidFill>
          </p:spPr>
          <p:txBody>
            <a:bodyPr wrap="square" lIns="0" tIns="0" rIns="0" bIns="0" rtlCol="0"/>
            <a:lstStyle/>
            <a:p>
              <a:endParaRPr/>
            </a:p>
          </p:txBody>
        </p:sp>
        <p:sp>
          <p:nvSpPr>
            <p:cNvPr id="6" name="object 6"/>
            <p:cNvSpPr/>
            <p:nvPr/>
          </p:nvSpPr>
          <p:spPr>
            <a:xfrm>
              <a:off x="380" y="2616327"/>
              <a:ext cx="1900555" cy="1626235"/>
            </a:xfrm>
            <a:custGeom>
              <a:avLst/>
              <a:gdLst/>
              <a:ahLst/>
              <a:cxnLst/>
              <a:rect l="l" t="t" r="r" b="b"/>
              <a:pathLst>
                <a:path w="1900555" h="1626235">
                  <a:moveTo>
                    <a:pt x="0" y="195325"/>
                  </a:moveTo>
                  <a:lnTo>
                    <a:pt x="19816" y="127140"/>
                  </a:lnTo>
                  <a:lnTo>
                    <a:pt x="43244" y="96708"/>
                  </a:lnTo>
                  <a:lnTo>
                    <a:pt x="74493" y="69449"/>
                  </a:lnTo>
                  <a:lnTo>
                    <a:pt x="112669" y="45913"/>
                  </a:lnTo>
                  <a:lnTo>
                    <a:pt x="156877" y="26651"/>
                  </a:lnTo>
                  <a:lnTo>
                    <a:pt x="206223" y="12211"/>
                  </a:lnTo>
                  <a:lnTo>
                    <a:pt x="259812" y="3144"/>
                  </a:lnTo>
                  <a:lnTo>
                    <a:pt x="316750" y="0"/>
                  </a:lnTo>
                  <a:lnTo>
                    <a:pt x="1583690" y="0"/>
                  </a:lnTo>
                  <a:lnTo>
                    <a:pt x="1640610" y="3144"/>
                  </a:lnTo>
                  <a:lnTo>
                    <a:pt x="1694189" y="12211"/>
                  </a:lnTo>
                  <a:lnTo>
                    <a:pt x="1743531" y="26651"/>
                  </a:lnTo>
                  <a:lnTo>
                    <a:pt x="1787739" y="45913"/>
                  </a:lnTo>
                  <a:lnTo>
                    <a:pt x="1825918" y="69449"/>
                  </a:lnTo>
                  <a:lnTo>
                    <a:pt x="1857172" y="96708"/>
                  </a:lnTo>
                  <a:lnTo>
                    <a:pt x="1880606" y="127140"/>
                  </a:lnTo>
                  <a:lnTo>
                    <a:pt x="1900427" y="195325"/>
                  </a:lnTo>
                  <a:lnTo>
                    <a:pt x="1900427" y="1430782"/>
                  </a:lnTo>
                  <a:lnTo>
                    <a:pt x="1880606" y="1498967"/>
                  </a:lnTo>
                  <a:lnTo>
                    <a:pt x="1857172" y="1529399"/>
                  </a:lnTo>
                  <a:lnTo>
                    <a:pt x="1825918" y="1556658"/>
                  </a:lnTo>
                  <a:lnTo>
                    <a:pt x="1787739" y="1580194"/>
                  </a:lnTo>
                  <a:lnTo>
                    <a:pt x="1743531" y="1599456"/>
                  </a:lnTo>
                  <a:lnTo>
                    <a:pt x="1694189" y="1613896"/>
                  </a:lnTo>
                  <a:lnTo>
                    <a:pt x="1640610" y="1622963"/>
                  </a:lnTo>
                  <a:lnTo>
                    <a:pt x="1583690" y="1626108"/>
                  </a:lnTo>
                  <a:lnTo>
                    <a:pt x="316750" y="1626108"/>
                  </a:lnTo>
                  <a:lnTo>
                    <a:pt x="259812" y="1622963"/>
                  </a:lnTo>
                  <a:lnTo>
                    <a:pt x="206223" y="1613896"/>
                  </a:lnTo>
                  <a:lnTo>
                    <a:pt x="156877" y="1599456"/>
                  </a:lnTo>
                  <a:lnTo>
                    <a:pt x="112669" y="1580194"/>
                  </a:lnTo>
                  <a:lnTo>
                    <a:pt x="74493" y="1556658"/>
                  </a:lnTo>
                  <a:lnTo>
                    <a:pt x="43244" y="1529399"/>
                  </a:lnTo>
                  <a:lnTo>
                    <a:pt x="19816" y="1498967"/>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7" name="object 7"/>
          <p:cNvSpPr txBox="1"/>
          <p:nvPr/>
        </p:nvSpPr>
        <p:spPr>
          <a:xfrm>
            <a:off x="82550" y="3161283"/>
            <a:ext cx="1711960" cy="489584"/>
          </a:xfrm>
          <a:prstGeom prst="rect">
            <a:avLst/>
          </a:prstGeom>
        </p:spPr>
        <p:txBody>
          <a:bodyPr vert="horz" wrap="square" lIns="0" tIns="40005" rIns="0" bIns="0" rtlCol="0">
            <a:spAutoFit/>
          </a:bodyPr>
          <a:lstStyle/>
          <a:p>
            <a:pPr marL="60960" marR="5080" indent="-48895">
              <a:lnSpc>
                <a:spcPts val="1730"/>
              </a:lnSpc>
              <a:spcBef>
                <a:spcPts val="315"/>
              </a:spcBef>
            </a:pPr>
            <a:r>
              <a:rPr sz="1600" spc="-5" dirty="0">
                <a:solidFill>
                  <a:srgbClr val="FFFFFF"/>
                </a:solidFill>
                <a:latin typeface="Goudy Old Style"/>
                <a:cs typeface="Goudy Old Style"/>
              </a:rPr>
              <a:t>10.Add </a:t>
            </a:r>
            <a:r>
              <a:rPr sz="1600" dirty="0">
                <a:solidFill>
                  <a:srgbClr val="FFFFFF"/>
                </a:solidFill>
                <a:latin typeface="Goudy Old Style"/>
                <a:cs typeface="Goudy Old Style"/>
              </a:rPr>
              <a:t>columns</a:t>
            </a:r>
            <a:r>
              <a:rPr sz="1600" spc="-95" dirty="0">
                <a:solidFill>
                  <a:srgbClr val="FFFFFF"/>
                </a:solidFill>
                <a:latin typeface="Goudy Old Style"/>
                <a:cs typeface="Goudy Old Style"/>
              </a:rPr>
              <a:t> </a:t>
            </a:r>
            <a:r>
              <a:rPr sz="1600" spc="-5" dirty="0">
                <a:solidFill>
                  <a:srgbClr val="FFFFFF"/>
                </a:solidFill>
                <a:latin typeface="Goudy Old Style"/>
                <a:cs typeface="Goudy Old Style"/>
              </a:rPr>
              <a:t>and  </a:t>
            </a:r>
            <a:r>
              <a:rPr sz="1600" spc="-15" dirty="0">
                <a:solidFill>
                  <a:srgbClr val="FFFFFF"/>
                </a:solidFill>
                <a:latin typeface="Goudy Old Style"/>
                <a:cs typeface="Goudy Old Style"/>
              </a:rPr>
              <a:t>save </a:t>
            </a:r>
            <a:r>
              <a:rPr sz="1600" dirty="0">
                <a:solidFill>
                  <a:srgbClr val="FFFFFF"/>
                </a:solidFill>
                <a:latin typeface="Goudy Old Style"/>
                <a:cs typeface="Goudy Old Style"/>
              </a:rPr>
              <a:t>the</a:t>
            </a:r>
            <a:r>
              <a:rPr sz="1600" spc="-5" dirty="0">
                <a:solidFill>
                  <a:srgbClr val="FFFFFF"/>
                </a:solidFill>
                <a:latin typeface="Goudy Old Style"/>
                <a:cs typeface="Goudy Old Style"/>
              </a:rPr>
              <a:t> table.</a:t>
            </a:r>
            <a:endParaRPr sz="1600">
              <a:latin typeface="Goudy Old Style"/>
              <a:cs typeface="Goudy Old Style"/>
            </a:endParaRPr>
          </a:p>
        </p:txBody>
      </p:sp>
      <p:grpSp>
        <p:nvGrpSpPr>
          <p:cNvPr id="8" name="object 8"/>
          <p:cNvGrpSpPr/>
          <p:nvPr/>
        </p:nvGrpSpPr>
        <p:grpSpPr>
          <a:xfrm>
            <a:off x="1982597" y="2603626"/>
            <a:ext cx="1925955" cy="1651635"/>
            <a:chOff x="1982597" y="2603626"/>
            <a:chExt cx="1925955" cy="1651635"/>
          </a:xfrm>
        </p:grpSpPr>
        <p:sp>
          <p:nvSpPr>
            <p:cNvPr id="9" name="object 9"/>
            <p:cNvSpPr/>
            <p:nvPr/>
          </p:nvSpPr>
          <p:spPr>
            <a:xfrm>
              <a:off x="1995297" y="2616326"/>
              <a:ext cx="1900555" cy="1626235"/>
            </a:xfrm>
            <a:custGeom>
              <a:avLst/>
              <a:gdLst/>
              <a:ahLst/>
              <a:cxnLst/>
              <a:rect l="l" t="t" r="r" b="b"/>
              <a:pathLst>
                <a:path w="1900554" h="1626235">
                  <a:moveTo>
                    <a:pt x="1583690" y="0"/>
                  </a:moveTo>
                  <a:lnTo>
                    <a:pt x="316738" y="0"/>
                  </a:lnTo>
                  <a:lnTo>
                    <a:pt x="259817" y="3144"/>
                  </a:lnTo>
                  <a:lnTo>
                    <a:pt x="206238" y="12211"/>
                  </a:lnTo>
                  <a:lnTo>
                    <a:pt x="156896" y="26651"/>
                  </a:lnTo>
                  <a:lnTo>
                    <a:pt x="112688" y="45913"/>
                  </a:lnTo>
                  <a:lnTo>
                    <a:pt x="74509" y="69449"/>
                  </a:lnTo>
                  <a:lnTo>
                    <a:pt x="43255" y="96708"/>
                  </a:lnTo>
                  <a:lnTo>
                    <a:pt x="19821" y="127140"/>
                  </a:lnTo>
                  <a:lnTo>
                    <a:pt x="0" y="195325"/>
                  </a:lnTo>
                  <a:lnTo>
                    <a:pt x="0" y="1430782"/>
                  </a:lnTo>
                  <a:lnTo>
                    <a:pt x="19821" y="1498967"/>
                  </a:lnTo>
                  <a:lnTo>
                    <a:pt x="43255" y="1529399"/>
                  </a:lnTo>
                  <a:lnTo>
                    <a:pt x="74509" y="1556658"/>
                  </a:lnTo>
                  <a:lnTo>
                    <a:pt x="112688" y="1580194"/>
                  </a:lnTo>
                  <a:lnTo>
                    <a:pt x="156896" y="1599456"/>
                  </a:lnTo>
                  <a:lnTo>
                    <a:pt x="206238" y="1613896"/>
                  </a:lnTo>
                  <a:lnTo>
                    <a:pt x="259817" y="1622963"/>
                  </a:lnTo>
                  <a:lnTo>
                    <a:pt x="316738" y="1626108"/>
                  </a:lnTo>
                  <a:lnTo>
                    <a:pt x="1583690" y="1626108"/>
                  </a:lnTo>
                  <a:lnTo>
                    <a:pt x="1640610" y="1622963"/>
                  </a:lnTo>
                  <a:lnTo>
                    <a:pt x="1694189" y="1613896"/>
                  </a:lnTo>
                  <a:lnTo>
                    <a:pt x="1743531" y="1599456"/>
                  </a:lnTo>
                  <a:lnTo>
                    <a:pt x="1787739" y="1580194"/>
                  </a:lnTo>
                  <a:lnTo>
                    <a:pt x="1825918" y="1556658"/>
                  </a:lnTo>
                  <a:lnTo>
                    <a:pt x="1857172" y="1529399"/>
                  </a:lnTo>
                  <a:lnTo>
                    <a:pt x="1880606" y="1498967"/>
                  </a:lnTo>
                  <a:lnTo>
                    <a:pt x="1900427" y="1430782"/>
                  </a:lnTo>
                  <a:lnTo>
                    <a:pt x="1900427" y="195325"/>
                  </a:lnTo>
                  <a:lnTo>
                    <a:pt x="1880606" y="127140"/>
                  </a:lnTo>
                  <a:lnTo>
                    <a:pt x="1857172" y="96708"/>
                  </a:lnTo>
                  <a:lnTo>
                    <a:pt x="1825918" y="69449"/>
                  </a:lnTo>
                  <a:lnTo>
                    <a:pt x="1787739" y="45913"/>
                  </a:lnTo>
                  <a:lnTo>
                    <a:pt x="1743531" y="26651"/>
                  </a:lnTo>
                  <a:lnTo>
                    <a:pt x="1694189" y="12211"/>
                  </a:lnTo>
                  <a:lnTo>
                    <a:pt x="1640610" y="3144"/>
                  </a:lnTo>
                  <a:lnTo>
                    <a:pt x="1583690" y="0"/>
                  </a:lnTo>
                  <a:close/>
                </a:path>
              </a:pathLst>
            </a:custGeom>
            <a:solidFill>
              <a:srgbClr val="9BBA58"/>
            </a:solidFill>
          </p:spPr>
          <p:txBody>
            <a:bodyPr wrap="square" lIns="0" tIns="0" rIns="0" bIns="0" rtlCol="0"/>
            <a:lstStyle/>
            <a:p>
              <a:endParaRPr/>
            </a:p>
          </p:txBody>
        </p:sp>
        <p:sp>
          <p:nvSpPr>
            <p:cNvPr id="10" name="object 10"/>
            <p:cNvSpPr/>
            <p:nvPr/>
          </p:nvSpPr>
          <p:spPr>
            <a:xfrm>
              <a:off x="1995297" y="2616326"/>
              <a:ext cx="1900555" cy="1626235"/>
            </a:xfrm>
            <a:custGeom>
              <a:avLst/>
              <a:gdLst/>
              <a:ahLst/>
              <a:cxnLst/>
              <a:rect l="l" t="t" r="r" b="b"/>
              <a:pathLst>
                <a:path w="1900554" h="1626235">
                  <a:moveTo>
                    <a:pt x="0" y="195325"/>
                  </a:moveTo>
                  <a:lnTo>
                    <a:pt x="19821" y="127140"/>
                  </a:lnTo>
                  <a:lnTo>
                    <a:pt x="43255" y="96708"/>
                  </a:lnTo>
                  <a:lnTo>
                    <a:pt x="74509" y="69449"/>
                  </a:lnTo>
                  <a:lnTo>
                    <a:pt x="112688" y="45913"/>
                  </a:lnTo>
                  <a:lnTo>
                    <a:pt x="156896" y="26651"/>
                  </a:lnTo>
                  <a:lnTo>
                    <a:pt x="206238" y="12211"/>
                  </a:lnTo>
                  <a:lnTo>
                    <a:pt x="259817" y="3144"/>
                  </a:lnTo>
                  <a:lnTo>
                    <a:pt x="316738" y="0"/>
                  </a:lnTo>
                  <a:lnTo>
                    <a:pt x="1583690" y="0"/>
                  </a:lnTo>
                  <a:lnTo>
                    <a:pt x="1640610" y="3144"/>
                  </a:lnTo>
                  <a:lnTo>
                    <a:pt x="1694189" y="12211"/>
                  </a:lnTo>
                  <a:lnTo>
                    <a:pt x="1743531" y="26651"/>
                  </a:lnTo>
                  <a:lnTo>
                    <a:pt x="1787739" y="45913"/>
                  </a:lnTo>
                  <a:lnTo>
                    <a:pt x="1825918" y="69449"/>
                  </a:lnTo>
                  <a:lnTo>
                    <a:pt x="1857172" y="96708"/>
                  </a:lnTo>
                  <a:lnTo>
                    <a:pt x="1880606" y="127140"/>
                  </a:lnTo>
                  <a:lnTo>
                    <a:pt x="1900427" y="195325"/>
                  </a:lnTo>
                  <a:lnTo>
                    <a:pt x="1900427" y="1430782"/>
                  </a:lnTo>
                  <a:lnTo>
                    <a:pt x="1880606" y="1498967"/>
                  </a:lnTo>
                  <a:lnTo>
                    <a:pt x="1857172" y="1529399"/>
                  </a:lnTo>
                  <a:lnTo>
                    <a:pt x="1825918" y="1556658"/>
                  </a:lnTo>
                  <a:lnTo>
                    <a:pt x="1787739" y="1580194"/>
                  </a:lnTo>
                  <a:lnTo>
                    <a:pt x="1743531" y="1599456"/>
                  </a:lnTo>
                  <a:lnTo>
                    <a:pt x="1694189" y="1613896"/>
                  </a:lnTo>
                  <a:lnTo>
                    <a:pt x="1640610" y="1622963"/>
                  </a:lnTo>
                  <a:lnTo>
                    <a:pt x="1583690" y="1626108"/>
                  </a:lnTo>
                  <a:lnTo>
                    <a:pt x="316738" y="1626108"/>
                  </a:lnTo>
                  <a:lnTo>
                    <a:pt x="259817" y="1622963"/>
                  </a:lnTo>
                  <a:lnTo>
                    <a:pt x="206238" y="1613896"/>
                  </a:lnTo>
                  <a:lnTo>
                    <a:pt x="156896" y="1599456"/>
                  </a:lnTo>
                  <a:lnTo>
                    <a:pt x="112688" y="1580194"/>
                  </a:lnTo>
                  <a:lnTo>
                    <a:pt x="74509" y="1556658"/>
                  </a:lnTo>
                  <a:lnTo>
                    <a:pt x="43255" y="1529399"/>
                  </a:lnTo>
                  <a:lnTo>
                    <a:pt x="19821" y="1498967"/>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1" name="object 11"/>
          <p:cNvSpPr txBox="1"/>
          <p:nvPr/>
        </p:nvSpPr>
        <p:spPr>
          <a:xfrm>
            <a:off x="2185416" y="2722372"/>
            <a:ext cx="1616710" cy="1367155"/>
          </a:xfrm>
          <a:prstGeom prst="rect">
            <a:avLst/>
          </a:prstGeom>
        </p:spPr>
        <p:txBody>
          <a:bodyPr vert="horz" wrap="square" lIns="0" tIns="40005" rIns="0" bIns="0" rtlCol="0">
            <a:spAutoFit/>
          </a:bodyPr>
          <a:lstStyle/>
          <a:p>
            <a:pPr marL="241300" marR="5080" indent="-228600">
              <a:lnSpc>
                <a:spcPts val="1730"/>
              </a:lnSpc>
              <a:spcBef>
                <a:spcPts val="315"/>
              </a:spcBef>
            </a:pPr>
            <a:r>
              <a:rPr sz="1600" dirty="0">
                <a:solidFill>
                  <a:srgbClr val="FFFFFF"/>
                </a:solidFill>
                <a:latin typeface="Goudy Old Style"/>
                <a:cs typeface="Goudy Old Style"/>
              </a:rPr>
              <a:t>11. Open the</a:t>
            </a:r>
            <a:r>
              <a:rPr sz="1600" spc="-85" dirty="0">
                <a:solidFill>
                  <a:srgbClr val="FFFFFF"/>
                </a:solidFill>
                <a:latin typeface="Goudy Old Style"/>
                <a:cs typeface="Goudy Old Style"/>
              </a:rPr>
              <a:t> </a:t>
            </a:r>
            <a:r>
              <a:rPr sz="1600" spc="-10" dirty="0">
                <a:solidFill>
                  <a:srgbClr val="FFFFFF"/>
                </a:solidFill>
                <a:latin typeface="Goudy Old Style"/>
                <a:cs typeface="Goudy Old Style"/>
              </a:rPr>
              <a:t>Azure  </a:t>
            </a:r>
            <a:r>
              <a:rPr sz="1600" spc="5" dirty="0">
                <a:solidFill>
                  <a:srgbClr val="FFFFFF"/>
                </a:solidFill>
                <a:latin typeface="Goudy Old Style"/>
                <a:cs typeface="Goudy Old Style"/>
              </a:rPr>
              <a:t>portal </a:t>
            </a:r>
            <a:r>
              <a:rPr sz="1600" spc="-5" dirty="0">
                <a:solidFill>
                  <a:srgbClr val="FFFFFF"/>
                </a:solidFill>
                <a:latin typeface="Goudy Old Style"/>
                <a:cs typeface="Goudy Old Style"/>
              </a:rPr>
              <a:t>and </a:t>
            </a:r>
            <a:r>
              <a:rPr sz="1600" dirty="0">
                <a:solidFill>
                  <a:srgbClr val="FFFFFF"/>
                </a:solidFill>
                <a:latin typeface="Goudy Old Style"/>
                <a:cs typeface="Goudy Old Style"/>
              </a:rPr>
              <a:t>in</a:t>
            </a:r>
            <a:r>
              <a:rPr sz="1600" spc="-85" dirty="0">
                <a:solidFill>
                  <a:srgbClr val="FFFFFF"/>
                </a:solidFill>
                <a:latin typeface="Goudy Old Style"/>
                <a:cs typeface="Goudy Old Style"/>
              </a:rPr>
              <a:t> </a:t>
            </a:r>
            <a:r>
              <a:rPr sz="1600" dirty="0">
                <a:solidFill>
                  <a:srgbClr val="FFFFFF"/>
                </a:solidFill>
                <a:latin typeface="Goudy Old Style"/>
                <a:cs typeface="Goudy Old Style"/>
              </a:rPr>
              <a:t>the  SQL </a:t>
            </a:r>
            <a:r>
              <a:rPr sz="1600" spc="-5" dirty="0">
                <a:solidFill>
                  <a:srgbClr val="FFFFFF"/>
                </a:solidFill>
                <a:latin typeface="Goudy Old Style"/>
                <a:cs typeface="Goudy Old Style"/>
              </a:rPr>
              <a:t>Database  </a:t>
            </a:r>
            <a:r>
              <a:rPr sz="1600" spc="-10" dirty="0">
                <a:solidFill>
                  <a:srgbClr val="FFFFFF"/>
                </a:solidFill>
                <a:latin typeface="Goudy Old Style"/>
                <a:cs typeface="Goudy Old Style"/>
              </a:rPr>
              <a:t>dashboard, </a:t>
            </a:r>
            <a:r>
              <a:rPr sz="1600" spc="-5" dirty="0">
                <a:solidFill>
                  <a:srgbClr val="FFFFFF"/>
                </a:solidFill>
                <a:latin typeface="Goudy Old Style"/>
                <a:cs typeface="Goudy Old Style"/>
              </a:rPr>
              <a:t>click  </a:t>
            </a:r>
            <a:r>
              <a:rPr sz="1600" spc="10" dirty="0">
                <a:solidFill>
                  <a:srgbClr val="FFFFFF"/>
                </a:solidFill>
                <a:latin typeface="Goudy Old Style"/>
                <a:cs typeface="Goudy Old Style"/>
              </a:rPr>
              <a:t>Query </a:t>
            </a:r>
            <a:r>
              <a:rPr sz="1600" spc="-5" dirty="0">
                <a:solidFill>
                  <a:srgbClr val="FFFFFF"/>
                </a:solidFill>
                <a:latin typeface="Goudy Old Style"/>
                <a:cs typeface="Goudy Old Style"/>
              </a:rPr>
              <a:t>Editor on  </a:t>
            </a:r>
            <a:r>
              <a:rPr sz="1600" dirty="0">
                <a:solidFill>
                  <a:srgbClr val="FFFFFF"/>
                </a:solidFill>
                <a:latin typeface="Goudy Old Style"/>
                <a:cs typeface="Goudy Old Style"/>
              </a:rPr>
              <a:t>the </a:t>
            </a:r>
            <a:r>
              <a:rPr sz="1600" spc="5" dirty="0">
                <a:solidFill>
                  <a:srgbClr val="FFFFFF"/>
                </a:solidFill>
                <a:latin typeface="Goudy Old Style"/>
                <a:cs typeface="Goudy Old Style"/>
              </a:rPr>
              <a:t>left</a:t>
            </a:r>
            <a:r>
              <a:rPr sz="1600" spc="-15" dirty="0">
                <a:solidFill>
                  <a:srgbClr val="FFFFFF"/>
                </a:solidFill>
                <a:latin typeface="Goudy Old Style"/>
                <a:cs typeface="Goudy Old Style"/>
              </a:rPr>
              <a:t> </a:t>
            </a:r>
            <a:r>
              <a:rPr sz="1600" dirty="0">
                <a:solidFill>
                  <a:srgbClr val="FFFFFF"/>
                </a:solidFill>
                <a:latin typeface="Goudy Old Style"/>
                <a:cs typeface="Goudy Old Style"/>
              </a:rPr>
              <a:t>pane.</a:t>
            </a:r>
            <a:endParaRPr sz="1600">
              <a:latin typeface="Goudy Old Style"/>
              <a:cs typeface="Goudy Old Style"/>
            </a:endParaRPr>
          </a:p>
        </p:txBody>
      </p:sp>
      <p:grpSp>
        <p:nvGrpSpPr>
          <p:cNvPr id="12" name="object 12"/>
          <p:cNvGrpSpPr/>
          <p:nvPr/>
        </p:nvGrpSpPr>
        <p:grpSpPr>
          <a:xfrm>
            <a:off x="3978275" y="2603626"/>
            <a:ext cx="1925955" cy="1651635"/>
            <a:chOff x="3978275" y="2603626"/>
            <a:chExt cx="1925955" cy="1651635"/>
          </a:xfrm>
        </p:grpSpPr>
        <p:sp>
          <p:nvSpPr>
            <p:cNvPr id="13" name="object 13"/>
            <p:cNvSpPr/>
            <p:nvPr/>
          </p:nvSpPr>
          <p:spPr>
            <a:xfrm>
              <a:off x="3990975" y="2616326"/>
              <a:ext cx="1900555" cy="1626235"/>
            </a:xfrm>
            <a:custGeom>
              <a:avLst/>
              <a:gdLst/>
              <a:ahLst/>
              <a:cxnLst/>
              <a:rect l="l" t="t" r="r" b="b"/>
              <a:pathLst>
                <a:path w="1900554" h="1626235">
                  <a:moveTo>
                    <a:pt x="1583690" y="0"/>
                  </a:moveTo>
                  <a:lnTo>
                    <a:pt x="316738" y="0"/>
                  </a:lnTo>
                  <a:lnTo>
                    <a:pt x="259817" y="3144"/>
                  </a:lnTo>
                  <a:lnTo>
                    <a:pt x="206238" y="12211"/>
                  </a:lnTo>
                  <a:lnTo>
                    <a:pt x="156896" y="26651"/>
                  </a:lnTo>
                  <a:lnTo>
                    <a:pt x="112688" y="45913"/>
                  </a:lnTo>
                  <a:lnTo>
                    <a:pt x="74509" y="69449"/>
                  </a:lnTo>
                  <a:lnTo>
                    <a:pt x="43255" y="96708"/>
                  </a:lnTo>
                  <a:lnTo>
                    <a:pt x="19821" y="127140"/>
                  </a:lnTo>
                  <a:lnTo>
                    <a:pt x="0" y="195325"/>
                  </a:lnTo>
                  <a:lnTo>
                    <a:pt x="0" y="1430782"/>
                  </a:lnTo>
                  <a:lnTo>
                    <a:pt x="19821" y="1498967"/>
                  </a:lnTo>
                  <a:lnTo>
                    <a:pt x="43255" y="1529399"/>
                  </a:lnTo>
                  <a:lnTo>
                    <a:pt x="74509" y="1556658"/>
                  </a:lnTo>
                  <a:lnTo>
                    <a:pt x="112688" y="1580194"/>
                  </a:lnTo>
                  <a:lnTo>
                    <a:pt x="156896" y="1599456"/>
                  </a:lnTo>
                  <a:lnTo>
                    <a:pt x="206238" y="1613896"/>
                  </a:lnTo>
                  <a:lnTo>
                    <a:pt x="259817" y="1622963"/>
                  </a:lnTo>
                  <a:lnTo>
                    <a:pt x="316738" y="1626108"/>
                  </a:lnTo>
                  <a:lnTo>
                    <a:pt x="1583690" y="1626108"/>
                  </a:lnTo>
                  <a:lnTo>
                    <a:pt x="1640610" y="1622963"/>
                  </a:lnTo>
                  <a:lnTo>
                    <a:pt x="1694189" y="1613896"/>
                  </a:lnTo>
                  <a:lnTo>
                    <a:pt x="1743531" y="1599456"/>
                  </a:lnTo>
                  <a:lnTo>
                    <a:pt x="1787739" y="1580194"/>
                  </a:lnTo>
                  <a:lnTo>
                    <a:pt x="1825918" y="1556658"/>
                  </a:lnTo>
                  <a:lnTo>
                    <a:pt x="1857172" y="1529399"/>
                  </a:lnTo>
                  <a:lnTo>
                    <a:pt x="1880606" y="1498967"/>
                  </a:lnTo>
                  <a:lnTo>
                    <a:pt x="1900427" y="1430782"/>
                  </a:lnTo>
                  <a:lnTo>
                    <a:pt x="1900427" y="195325"/>
                  </a:lnTo>
                  <a:lnTo>
                    <a:pt x="1880606" y="127140"/>
                  </a:lnTo>
                  <a:lnTo>
                    <a:pt x="1857172" y="96708"/>
                  </a:lnTo>
                  <a:lnTo>
                    <a:pt x="1825918" y="69449"/>
                  </a:lnTo>
                  <a:lnTo>
                    <a:pt x="1787739" y="45913"/>
                  </a:lnTo>
                  <a:lnTo>
                    <a:pt x="1743531" y="26651"/>
                  </a:lnTo>
                  <a:lnTo>
                    <a:pt x="1694189" y="12211"/>
                  </a:lnTo>
                  <a:lnTo>
                    <a:pt x="1640610" y="3144"/>
                  </a:lnTo>
                  <a:lnTo>
                    <a:pt x="1583690" y="0"/>
                  </a:lnTo>
                  <a:close/>
                </a:path>
              </a:pathLst>
            </a:custGeom>
            <a:solidFill>
              <a:srgbClr val="8063A1"/>
            </a:solidFill>
          </p:spPr>
          <p:txBody>
            <a:bodyPr wrap="square" lIns="0" tIns="0" rIns="0" bIns="0" rtlCol="0"/>
            <a:lstStyle/>
            <a:p>
              <a:endParaRPr/>
            </a:p>
          </p:txBody>
        </p:sp>
        <p:sp>
          <p:nvSpPr>
            <p:cNvPr id="14" name="object 14"/>
            <p:cNvSpPr/>
            <p:nvPr/>
          </p:nvSpPr>
          <p:spPr>
            <a:xfrm>
              <a:off x="3990975" y="2616326"/>
              <a:ext cx="1900555" cy="1626235"/>
            </a:xfrm>
            <a:custGeom>
              <a:avLst/>
              <a:gdLst/>
              <a:ahLst/>
              <a:cxnLst/>
              <a:rect l="l" t="t" r="r" b="b"/>
              <a:pathLst>
                <a:path w="1900554" h="1626235">
                  <a:moveTo>
                    <a:pt x="0" y="195325"/>
                  </a:moveTo>
                  <a:lnTo>
                    <a:pt x="19821" y="127140"/>
                  </a:lnTo>
                  <a:lnTo>
                    <a:pt x="43255" y="96708"/>
                  </a:lnTo>
                  <a:lnTo>
                    <a:pt x="74509" y="69449"/>
                  </a:lnTo>
                  <a:lnTo>
                    <a:pt x="112688" y="45913"/>
                  </a:lnTo>
                  <a:lnTo>
                    <a:pt x="156896" y="26651"/>
                  </a:lnTo>
                  <a:lnTo>
                    <a:pt x="206238" y="12211"/>
                  </a:lnTo>
                  <a:lnTo>
                    <a:pt x="259817" y="3144"/>
                  </a:lnTo>
                  <a:lnTo>
                    <a:pt x="316738" y="0"/>
                  </a:lnTo>
                  <a:lnTo>
                    <a:pt x="1583690" y="0"/>
                  </a:lnTo>
                  <a:lnTo>
                    <a:pt x="1640610" y="3144"/>
                  </a:lnTo>
                  <a:lnTo>
                    <a:pt x="1694189" y="12211"/>
                  </a:lnTo>
                  <a:lnTo>
                    <a:pt x="1743531" y="26651"/>
                  </a:lnTo>
                  <a:lnTo>
                    <a:pt x="1787739" y="45913"/>
                  </a:lnTo>
                  <a:lnTo>
                    <a:pt x="1825918" y="69449"/>
                  </a:lnTo>
                  <a:lnTo>
                    <a:pt x="1857172" y="96708"/>
                  </a:lnTo>
                  <a:lnTo>
                    <a:pt x="1880606" y="127140"/>
                  </a:lnTo>
                  <a:lnTo>
                    <a:pt x="1900427" y="195325"/>
                  </a:lnTo>
                  <a:lnTo>
                    <a:pt x="1900427" y="1430782"/>
                  </a:lnTo>
                  <a:lnTo>
                    <a:pt x="1880606" y="1498967"/>
                  </a:lnTo>
                  <a:lnTo>
                    <a:pt x="1857172" y="1529399"/>
                  </a:lnTo>
                  <a:lnTo>
                    <a:pt x="1825918" y="1556658"/>
                  </a:lnTo>
                  <a:lnTo>
                    <a:pt x="1787739" y="1580194"/>
                  </a:lnTo>
                  <a:lnTo>
                    <a:pt x="1743531" y="1599456"/>
                  </a:lnTo>
                  <a:lnTo>
                    <a:pt x="1694189" y="1613896"/>
                  </a:lnTo>
                  <a:lnTo>
                    <a:pt x="1640610" y="1622963"/>
                  </a:lnTo>
                  <a:lnTo>
                    <a:pt x="1583690" y="1626108"/>
                  </a:lnTo>
                  <a:lnTo>
                    <a:pt x="316738" y="1626108"/>
                  </a:lnTo>
                  <a:lnTo>
                    <a:pt x="259817" y="1622963"/>
                  </a:lnTo>
                  <a:lnTo>
                    <a:pt x="206238" y="1613896"/>
                  </a:lnTo>
                  <a:lnTo>
                    <a:pt x="156896" y="1599456"/>
                  </a:lnTo>
                  <a:lnTo>
                    <a:pt x="112688" y="1580194"/>
                  </a:lnTo>
                  <a:lnTo>
                    <a:pt x="74509" y="1556658"/>
                  </a:lnTo>
                  <a:lnTo>
                    <a:pt x="43255" y="1529399"/>
                  </a:lnTo>
                  <a:lnTo>
                    <a:pt x="19821" y="1498967"/>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5" name="object 15"/>
          <p:cNvSpPr txBox="1"/>
          <p:nvPr/>
        </p:nvSpPr>
        <p:spPr>
          <a:xfrm>
            <a:off x="4111497" y="2612643"/>
            <a:ext cx="1658620" cy="1586865"/>
          </a:xfrm>
          <a:prstGeom prst="rect">
            <a:avLst/>
          </a:prstGeom>
        </p:spPr>
        <p:txBody>
          <a:bodyPr vert="horz" wrap="square" lIns="0" tIns="40005" rIns="0" bIns="0" rtlCol="0">
            <a:spAutoFit/>
          </a:bodyPr>
          <a:lstStyle/>
          <a:p>
            <a:pPr marL="340360" marR="5080" indent="-327660">
              <a:lnSpc>
                <a:spcPts val="1730"/>
              </a:lnSpc>
              <a:spcBef>
                <a:spcPts val="315"/>
              </a:spcBef>
            </a:pPr>
            <a:r>
              <a:rPr sz="1600" spc="-25" dirty="0">
                <a:solidFill>
                  <a:srgbClr val="FFFFFF"/>
                </a:solidFill>
                <a:latin typeface="Goudy Old Style"/>
                <a:cs typeface="Goudy Old Style"/>
              </a:rPr>
              <a:t>12.You </a:t>
            </a:r>
            <a:r>
              <a:rPr sz="1600" spc="-5" dirty="0">
                <a:solidFill>
                  <a:srgbClr val="FFFFFF"/>
                </a:solidFill>
                <a:latin typeface="Goudy Old Style"/>
                <a:cs typeface="Goudy Old Style"/>
              </a:rPr>
              <a:t>will </a:t>
            </a:r>
            <a:r>
              <a:rPr sz="1600" dirty="0">
                <a:solidFill>
                  <a:srgbClr val="FFFFFF"/>
                </a:solidFill>
                <a:latin typeface="Goudy Old Style"/>
                <a:cs typeface="Goudy Old Style"/>
              </a:rPr>
              <a:t>be </a:t>
            </a:r>
            <a:r>
              <a:rPr sz="1600" spc="-10" dirty="0">
                <a:solidFill>
                  <a:srgbClr val="FFFFFF"/>
                </a:solidFill>
                <a:latin typeface="Goudy Old Style"/>
                <a:cs typeface="Goudy Old Style"/>
              </a:rPr>
              <a:t>asked  </a:t>
            </a:r>
            <a:r>
              <a:rPr sz="1600" spc="-5" dirty="0">
                <a:solidFill>
                  <a:srgbClr val="FFFFFF"/>
                </a:solidFill>
                <a:latin typeface="Goudy Old Style"/>
                <a:cs typeface="Goudy Old Style"/>
              </a:rPr>
              <a:t>to</a:t>
            </a:r>
            <a:r>
              <a:rPr sz="1600" spc="-30" dirty="0">
                <a:solidFill>
                  <a:srgbClr val="FFFFFF"/>
                </a:solidFill>
                <a:latin typeface="Goudy Old Style"/>
                <a:cs typeface="Goudy Old Style"/>
              </a:rPr>
              <a:t> </a:t>
            </a:r>
            <a:r>
              <a:rPr sz="1600" dirty="0">
                <a:solidFill>
                  <a:srgbClr val="FFFFFF"/>
                </a:solidFill>
                <a:latin typeface="Goudy Old Style"/>
                <a:cs typeface="Goudy Old Style"/>
              </a:rPr>
              <a:t>authenticate</a:t>
            </a:r>
            <a:endParaRPr sz="1600">
              <a:latin typeface="Goudy Old Style"/>
              <a:cs typeface="Goudy Old Style"/>
            </a:endParaRPr>
          </a:p>
          <a:p>
            <a:pPr marL="228600" algn="ctr">
              <a:lnSpc>
                <a:spcPts val="1605"/>
              </a:lnSpc>
            </a:pPr>
            <a:r>
              <a:rPr sz="1600" spc="-10" dirty="0">
                <a:solidFill>
                  <a:srgbClr val="FFFFFF"/>
                </a:solidFill>
                <a:latin typeface="Goudy Old Style"/>
                <a:cs typeface="Goudy Old Style"/>
              </a:rPr>
              <a:t>your</a:t>
            </a:r>
            <a:r>
              <a:rPr sz="1600" spc="-25" dirty="0">
                <a:solidFill>
                  <a:srgbClr val="FFFFFF"/>
                </a:solidFill>
                <a:latin typeface="Goudy Old Style"/>
                <a:cs typeface="Goudy Old Style"/>
              </a:rPr>
              <a:t> </a:t>
            </a:r>
            <a:r>
              <a:rPr sz="1600" spc="-5" dirty="0">
                <a:solidFill>
                  <a:srgbClr val="FFFFFF"/>
                </a:solidFill>
                <a:latin typeface="Goudy Old Style"/>
                <a:cs typeface="Goudy Old Style"/>
              </a:rPr>
              <a:t>user</a:t>
            </a:r>
            <a:endParaRPr sz="1600">
              <a:latin typeface="Goudy Old Style"/>
              <a:cs typeface="Goudy Old Style"/>
            </a:endParaRPr>
          </a:p>
          <a:p>
            <a:pPr marL="227965" algn="ctr">
              <a:lnSpc>
                <a:spcPts val="1730"/>
              </a:lnSpc>
            </a:pPr>
            <a:r>
              <a:rPr sz="1600" spc="-5" dirty="0">
                <a:solidFill>
                  <a:srgbClr val="FFFFFF"/>
                </a:solidFill>
                <a:latin typeface="Goudy Old Style"/>
                <a:cs typeface="Goudy Old Style"/>
              </a:rPr>
              <a:t>credentials.</a:t>
            </a:r>
            <a:endParaRPr sz="1600">
              <a:latin typeface="Goudy Old Style"/>
              <a:cs typeface="Goudy Old Style"/>
            </a:endParaRPr>
          </a:p>
          <a:p>
            <a:pPr marL="277495" marR="41275" algn="ctr">
              <a:lnSpc>
                <a:spcPct val="90100"/>
              </a:lnSpc>
              <a:spcBef>
                <a:spcPts val="95"/>
              </a:spcBef>
            </a:pPr>
            <a:r>
              <a:rPr sz="1600" dirty="0">
                <a:solidFill>
                  <a:srgbClr val="FFFFFF"/>
                </a:solidFill>
                <a:latin typeface="Goudy Old Style"/>
                <a:cs typeface="Goudy Old Style"/>
              </a:rPr>
              <a:t>Specify the</a:t>
            </a:r>
            <a:r>
              <a:rPr sz="1600" spc="-85" dirty="0">
                <a:solidFill>
                  <a:srgbClr val="FFFFFF"/>
                </a:solidFill>
                <a:latin typeface="Goudy Old Style"/>
                <a:cs typeface="Goudy Old Style"/>
              </a:rPr>
              <a:t> </a:t>
            </a:r>
            <a:r>
              <a:rPr sz="1600" dirty="0">
                <a:solidFill>
                  <a:srgbClr val="FFFFFF"/>
                </a:solidFill>
                <a:latin typeface="Goudy Old Style"/>
                <a:cs typeface="Goudy Old Style"/>
              </a:rPr>
              <a:t>login  </a:t>
            </a:r>
            <a:r>
              <a:rPr sz="1600" spc="-5" dirty="0">
                <a:solidFill>
                  <a:srgbClr val="FFFFFF"/>
                </a:solidFill>
                <a:latin typeface="Goudy Old Style"/>
                <a:cs typeface="Goudy Old Style"/>
              </a:rPr>
              <a:t>name and  </a:t>
            </a:r>
            <a:r>
              <a:rPr sz="1600" spc="-10" dirty="0">
                <a:solidFill>
                  <a:srgbClr val="FFFFFF"/>
                </a:solidFill>
                <a:latin typeface="Goudy Old Style"/>
                <a:cs typeface="Goudy Old Style"/>
              </a:rPr>
              <a:t>password.</a:t>
            </a:r>
            <a:endParaRPr sz="1600">
              <a:latin typeface="Goudy Old Style"/>
              <a:cs typeface="Goudy Old Style"/>
            </a:endParaRPr>
          </a:p>
        </p:txBody>
      </p:sp>
      <p:grpSp>
        <p:nvGrpSpPr>
          <p:cNvPr id="16" name="object 16"/>
          <p:cNvGrpSpPr/>
          <p:nvPr/>
        </p:nvGrpSpPr>
        <p:grpSpPr>
          <a:xfrm>
            <a:off x="5973317" y="2603754"/>
            <a:ext cx="1925955" cy="1651635"/>
            <a:chOff x="5973317" y="2603754"/>
            <a:chExt cx="1925955" cy="1651635"/>
          </a:xfrm>
        </p:grpSpPr>
        <p:sp>
          <p:nvSpPr>
            <p:cNvPr id="17" name="object 17"/>
            <p:cNvSpPr/>
            <p:nvPr/>
          </p:nvSpPr>
          <p:spPr>
            <a:xfrm>
              <a:off x="5985890" y="2616327"/>
              <a:ext cx="1900555" cy="1626235"/>
            </a:xfrm>
            <a:custGeom>
              <a:avLst/>
              <a:gdLst/>
              <a:ahLst/>
              <a:cxnLst/>
              <a:rect l="l" t="t" r="r" b="b"/>
              <a:pathLst>
                <a:path w="1900554" h="1626235">
                  <a:moveTo>
                    <a:pt x="1583690" y="0"/>
                  </a:moveTo>
                  <a:lnTo>
                    <a:pt x="316738" y="0"/>
                  </a:lnTo>
                  <a:lnTo>
                    <a:pt x="259817" y="3144"/>
                  </a:lnTo>
                  <a:lnTo>
                    <a:pt x="206238" y="12211"/>
                  </a:lnTo>
                  <a:lnTo>
                    <a:pt x="156896" y="26651"/>
                  </a:lnTo>
                  <a:lnTo>
                    <a:pt x="112688" y="45913"/>
                  </a:lnTo>
                  <a:lnTo>
                    <a:pt x="74509" y="69449"/>
                  </a:lnTo>
                  <a:lnTo>
                    <a:pt x="43255" y="96708"/>
                  </a:lnTo>
                  <a:lnTo>
                    <a:pt x="19821" y="127140"/>
                  </a:lnTo>
                  <a:lnTo>
                    <a:pt x="0" y="195325"/>
                  </a:lnTo>
                  <a:lnTo>
                    <a:pt x="0" y="1430782"/>
                  </a:lnTo>
                  <a:lnTo>
                    <a:pt x="19821" y="1498967"/>
                  </a:lnTo>
                  <a:lnTo>
                    <a:pt x="43255" y="1529399"/>
                  </a:lnTo>
                  <a:lnTo>
                    <a:pt x="74509" y="1556658"/>
                  </a:lnTo>
                  <a:lnTo>
                    <a:pt x="112688" y="1580194"/>
                  </a:lnTo>
                  <a:lnTo>
                    <a:pt x="156896" y="1599456"/>
                  </a:lnTo>
                  <a:lnTo>
                    <a:pt x="206238" y="1613896"/>
                  </a:lnTo>
                  <a:lnTo>
                    <a:pt x="259817" y="1622963"/>
                  </a:lnTo>
                  <a:lnTo>
                    <a:pt x="316738" y="1626108"/>
                  </a:lnTo>
                  <a:lnTo>
                    <a:pt x="1583690" y="1626108"/>
                  </a:lnTo>
                  <a:lnTo>
                    <a:pt x="1640610" y="1622963"/>
                  </a:lnTo>
                  <a:lnTo>
                    <a:pt x="1694189" y="1613896"/>
                  </a:lnTo>
                  <a:lnTo>
                    <a:pt x="1743531" y="1599456"/>
                  </a:lnTo>
                  <a:lnTo>
                    <a:pt x="1787739" y="1580194"/>
                  </a:lnTo>
                  <a:lnTo>
                    <a:pt x="1825918" y="1556658"/>
                  </a:lnTo>
                  <a:lnTo>
                    <a:pt x="1857172" y="1529399"/>
                  </a:lnTo>
                  <a:lnTo>
                    <a:pt x="1880606" y="1498967"/>
                  </a:lnTo>
                  <a:lnTo>
                    <a:pt x="1900427" y="1430782"/>
                  </a:lnTo>
                  <a:lnTo>
                    <a:pt x="1900427" y="195325"/>
                  </a:lnTo>
                  <a:lnTo>
                    <a:pt x="1880606" y="127140"/>
                  </a:lnTo>
                  <a:lnTo>
                    <a:pt x="1857172" y="96708"/>
                  </a:lnTo>
                  <a:lnTo>
                    <a:pt x="1825918" y="69449"/>
                  </a:lnTo>
                  <a:lnTo>
                    <a:pt x="1787739" y="45913"/>
                  </a:lnTo>
                  <a:lnTo>
                    <a:pt x="1743531" y="26651"/>
                  </a:lnTo>
                  <a:lnTo>
                    <a:pt x="1694189" y="12211"/>
                  </a:lnTo>
                  <a:lnTo>
                    <a:pt x="1640610" y="3144"/>
                  </a:lnTo>
                  <a:lnTo>
                    <a:pt x="1583690" y="0"/>
                  </a:lnTo>
                  <a:close/>
                </a:path>
              </a:pathLst>
            </a:custGeom>
            <a:solidFill>
              <a:srgbClr val="4AACC5"/>
            </a:solidFill>
          </p:spPr>
          <p:txBody>
            <a:bodyPr wrap="square" lIns="0" tIns="0" rIns="0" bIns="0" rtlCol="0"/>
            <a:lstStyle/>
            <a:p>
              <a:endParaRPr/>
            </a:p>
          </p:txBody>
        </p:sp>
        <p:sp>
          <p:nvSpPr>
            <p:cNvPr id="18" name="object 18"/>
            <p:cNvSpPr/>
            <p:nvPr/>
          </p:nvSpPr>
          <p:spPr>
            <a:xfrm>
              <a:off x="5985890" y="2616327"/>
              <a:ext cx="1900555" cy="1626235"/>
            </a:xfrm>
            <a:custGeom>
              <a:avLst/>
              <a:gdLst/>
              <a:ahLst/>
              <a:cxnLst/>
              <a:rect l="l" t="t" r="r" b="b"/>
              <a:pathLst>
                <a:path w="1900554" h="1626235">
                  <a:moveTo>
                    <a:pt x="0" y="195325"/>
                  </a:moveTo>
                  <a:lnTo>
                    <a:pt x="19821" y="127140"/>
                  </a:lnTo>
                  <a:lnTo>
                    <a:pt x="43255" y="96708"/>
                  </a:lnTo>
                  <a:lnTo>
                    <a:pt x="74509" y="69449"/>
                  </a:lnTo>
                  <a:lnTo>
                    <a:pt x="112688" y="45913"/>
                  </a:lnTo>
                  <a:lnTo>
                    <a:pt x="156896" y="26651"/>
                  </a:lnTo>
                  <a:lnTo>
                    <a:pt x="206238" y="12211"/>
                  </a:lnTo>
                  <a:lnTo>
                    <a:pt x="259817" y="3144"/>
                  </a:lnTo>
                  <a:lnTo>
                    <a:pt x="316738" y="0"/>
                  </a:lnTo>
                  <a:lnTo>
                    <a:pt x="1583690" y="0"/>
                  </a:lnTo>
                  <a:lnTo>
                    <a:pt x="1640610" y="3144"/>
                  </a:lnTo>
                  <a:lnTo>
                    <a:pt x="1694189" y="12211"/>
                  </a:lnTo>
                  <a:lnTo>
                    <a:pt x="1743531" y="26651"/>
                  </a:lnTo>
                  <a:lnTo>
                    <a:pt x="1787739" y="45913"/>
                  </a:lnTo>
                  <a:lnTo>
                    <a:pt x="1825918" y="69449"/>
                  </a:lnTo>
                  <a:lnTo>
                    <a:pt x="1857172" y="96708"/>
                  </a:lnTo>
                  <a:lnTo>
                    <a:pt x="1880606" y="127140"/>
                  </a:lnTo>
                  <a:lnTo>
                    <a:pt x="1900427" y="195325"/>
                  </a:lnTo>
                  <a:lnTo>
                    <a:pt x="1900427" y="1430782"/>
                  </a:lnTo>
                  <a:lnTo>
                    <a:pt x="1880606" y="1498967"/>
                  </a:lnTo>
                  <a:lnTo>
                    <a:pt x="1857172" y="1529399"/>
                  </a:lnTo>
                  <a:lnTo>
                    <a:pt x="1825918" y="1556658"/>
                  </a:lnTo>
                  <a:lnTo>
                    <a:pt x="1787739" y="1580194"/>
                  </a:lnTo>
                  <a:lnTo>
                    <a:pt x="1743531" y="1599456"/>
                  </a:lnTo>
                  <a:lnTo>
                    <a:pt x="1694189" y="1613896"/>
                  </a:lnTo>
                  <a:lnTo>
                    <a:pt x="1640610" y="1622963"/>
                  </a:lnTo>
                  <a:lnTo>
                    <a:pt x="1583690" y="1626108"/>
                  </a:lnTo>
                  <a:lnTo>
                    <a:pt x="316738" y="1626108"/>
                  </a:lnTo>
                  <a:lnTo>
                    <a:pt x="259817" y="1622963"/>
                  </a:lnTo>
                  <a:lnTo>
                    <a:pt x="206238" y="1613896"/>
                  </a:lnTo>
                  <a:lnTo>
                    <a:pt x="156896" y="1599456"/>
                  </a:lnTo>
                  <a:lnTo>
                    <a:pt x="112688" y="1580194"/>
                  </a:lnTo>
                  <a:lnTo>
                    <a:pt x="74509" y="1556658"/>
                  </a:lnTo>
                  <a:lnTo>
                    <a:pt x="43255" y="1529399"/>
                  </a:lnTo>
                  <a:lnTo>
                    <a:pt x="19821" y="1498967"/>
                  </a:lnTo>
                  <a:lnTo>
                    <a:pt x="0" y="1430782"/>
                  </a:lnTo>
                  <a:lnTo>
                    <a:pt x="0" y="195325"/>
                  </a:lnTo>
                  <a:close/>
                </a:path>
              </a:pathLst>
            </a:custGeom>
            <a:ln w="25146">
              <a:solidFill>
                <a:srgbClr val="FFFFFF"/>
              </a:solidFill>
            </a:ln>
          </p:spPr>
          <p:txBody>
            <a:bodyPr wrap="square" lIns="0" tIns="0" rIns="0" bIns="0" rtlCol="0"/>
            <a:lstStyle/>
            <a:p>
              <a:endParaRPr/>
            </a:p>
          </p:txBody>
        </p:sp>
      </p:grpSp>
      <p:sp>
        <p:nvSpPr>
          <p:cNvPr id="19" name="object 19"/>
          <p:cNvSpPr txBox="1"/>
          <p:nvPr/>
        </p:nvSpPr>
        <p:spPr>
          <a:xfrm>
            <a:off x="6068821" y="3051555"/>
            <a:ext cx="1715770" cy="708660"/>
          </a:xfrm>
          <a:prstGeom prst="rect">
            <a:avLst/>
          </a:prstGeom>
        </p:spPr>
        <p:txBody>
          <a:bodyPr vert="horz" wrap="square" lIns="0" tIns="40005" rIns="0" bIns="0" rtlCol="0">
            <a:spAutoFit/>
          </a:bodyPr>
          <a:lstStyle/>
          <a:p>
            <a:pPr marL="241300" marR="5080" indent="-228600">
              <a:lnSpc>
                <a:spcPts val="1730"/>
              </a:lnSpc>
              <a:spcBef>
                <a:spcPts val="315"/>
              </a:spcBef>
            </a:pPr>
            <a:r>
              <a:rPr sz="1600" dirty="0">
                <a:solidFill>
                  <a:srgbClr val="FFFFFF"/>
                </a:solidFill>
                <a:latin typeface="Goudy Old Style"/>
                <a:cs typeface="Goudy Old Style"/>
              </a:rPr>
              <a:t>13.The </a:t>
            </a:r>
            <a:r>
              <a:rPr sz="1600" spc="10" dirty="0">
                <a:solidFill>
                  <a:srgbClr val="FFFFFF"/>
                </a:solidFill>
                <a:latin typeface="Goudy Old Style"/>
                <a:cs typeface="Goudy Old Style"/>
              </a:rPr>
              <a:t>Query</a:t>
            </a:r>
            <a:r>
              <a:rPr sz="1600" spc="-75" dirty="0">
                <a:solidFill>
                  <a:srgbClr val="FFFFFF"/>
                </a:solidFill>
                <a:latin typeface="Goudy Old Style"/>
                <a:cs typeface="Goudy Old Style"/>
              </a:rPr>
              <a:t> </a:t>
            </a:r>
            <a:r>
              <a:rPr sz="1600" spc="-10" dirty="0">
                <a:solidFill>
                  <a:srgbClr val="FFFFFF"/>
                </a:solidFill>
                <a:latin typeface="Goudy Old Style"/>
                <a:cs typeface="Goudy Old Style"/>
              </a:rPr>
              <a:t>Editor  </a:t>
            </a:r>
            <a:r>
              <a:rPr sz="1600" spc="-5" dirty="0">
                <a:solidFill>
                  <a:srgbClr val="FFFFFF"/>
                </a:solidFill>
                <a:latin typeface="Goudy Old Style"/>
                <a:cs typeface="Goudy Old Style"/>
              </a:rPr>
              <a:t>on </a:t>
            </a:r>
            <a:r>
              <a:rPr sz="1600" dirty="0">
                <a:solidFill>
                  <a:srgbClr val="FFFFFF"/>
                </a:solidFill>
                <a:latin typeface="Goudy Old Style"/>
                <a:cs typeface="Goudy Old Style"/>
              </a:rPr>
              <a:t>the </a:t>
            </a:r>
            <a:r>
              <a:rPr sz="1600" spc="-5" dirty="0">
                <a:solidFill>
                  <a:srgbClr val="FFFFFF"/>
                </a:solidFill>
                <a:latin typeface="Goudy Old Style"/>
                <a:cs typeface="Goudy Old Style"/>
              </a:rPr>
              <a:t>cloud </a:t>
            </a:r>
            <a:r>
              <a:rPr sz="1600" dirty="0">
                <a:solidFill>
                  <a:srgbClr val="FFFFFF"/>
                </a:solidFill>
                <a:latin typeface="Goudy Old Style"/>
                <a:cs typeface="Goudy Old Style"/>
              </a:rPr>
              <a:t>will  be</a:t>
            </a:r>
            <a:r>
              <a:rPr sz="1600" spc="-10" dirty="0">
                <a:solidFill>
                  <a:srgbClr val="FFFFFF"/>
                </a:solidFill>
                <a:latin typeface="Goudy Old Style"/>
                <a:cs typeface="Goudy Old Style"/>
              </a:rPr>
              <a:t> displayed.</a:t>
            </a:r>
            <a:endParaRPr sz="1600">
              <a:latin typeface="Goudy Old Style"/>
              <a:cs typeface="Goudy Old Style"/>
            </a:endParaRPr>
          </a:p>
        </p:txBody>
      </p:sp>
      <p:sp>
        <p:nvSpPr>
          <p:cNvPr id="21" name="object 21"/>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17</a:t>
            </a:fld>
            <a:endParaRPr sz="1800" baseline="2314"/>
          </a:p>
        </p:txBody>
      </p:sp>
      <p:sp>
        <p:nvSpPr>
          <p:cNvPr id="22" name="object 22"/>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23" name="object 23"/>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
            <a:ext cx="2139950" cy="635635"/>
          </a:xfrm>
          <a:prstGeom prst="rect">
            <a:avLst/>
          </a:prstGeom>
        </p:spPr>
        <p:txBody>
          <a:bodyPr vert="horz" wrap="square" lIns="0" tIns="12700" rIns="0" bIns="0" rtlCol="0">
            <a:spAutoFit/>
          </a:bodyPr>
          <a:lstStyle/>
          <a:p>
            <a:pPr marL="12700">
              <a:lnSpc>
                <a:spcPct val="100000"/>
              </a:lnSpc>
              <a:spcBef>
                <a:spcPts val="100"/>
              </a:spcBef>
            </a:pPr>
            <a:r>
              <a:rPr spc="155" dirty="0"/>
              <a:t>Summary</a:t>
            </a:r>
          </a:p>
        </p:txBody>
      </p:sp>
      <p:sp>
        <p:nvSpPr>
          <p:cNvPr id="5" name="object 5"/>
          <p:cNvSpPr txBox="1">
            <a:spLocks noGrp="1"/>
          </p:cNvSpPr>
          <p:nvPr>
            <p:ph type="sldNum" sz="quarter" idx="7"/>
          </p:nvPr>
        </p:nvSpPr>
        <p:spPr>
          <a:prstGeom prst="rect">
            <a:avLst/>
          </a:prstGeom>
        </p:spPr>
        <p:txBody>
          <a:bodyPr vert="horz" wrap="square" lIns="0" tIns="12700" rIns="0" bIns="0" rtlCol="0">
            <a:spAutoFit/>
          </a:bodyPr>
          <a:lstStyle/>
          <a:p>
            <a:pPr marL="12700">
              <a:lnSpc>
                <a:spcPct val="100000"/>
              </a:lnSpc>
              <a:spcBef>
                <a:spcPts val="100"/>
              </a:spcBef>
            </a:pPr>
            <a:r>
              <a:rPr spc="35" dirty="0"/>
              <a:t>Session </a:t>
            </a:r>
            <a:r>
              <a:rPr spc="80" dirty="0"/>
              <a:t>7/</a:t>
            </a:r>
            <a:r>
              <a:rPr spc="-180" dirty="0"/>
              <a:t> </a:t>
            </a:r>
            <a:fld id="{81D60167-4931-47E6-BA6A-407CBD079E47}" type="slidenum">
              <a:rPr sz="1800" spc="-142" baseline="2314" dirty="0"/>
              <a:t>18</a:t>
            </a:fld>
            <a:endParaRPr sz="1800" baseline="2314"/>
          </a:p>
        </p:txBody>
      </p:sp>
      <p:sp>
        <p:nvSpPr>
          <p:cNvPr id="6" name="object 6"/>
          <p:cNvSpPr txBox="1"/>
          <p:nvPr/>
        </p:nvSpPr>
        <p:spPr>
          <a:xfrm>
            <a:off x="8910319" y="6569709"/>
            <a:ext cx="154305" cy="245110"/>
          </a:xfrm>
          <a:prstGeom prst="rect">
            <a:avLst/>
          </a:prstGeom>
        </p:spPr>
        <p:txBody>
          <a:bodyPr vert="horz" wrap="square" lIns="0" tIns="6350" rIns="0" bIns="0" rtlCol="0">
            <a:spAutoFit/>
          </a:bodyPr>
          <a:lstStyle/>
          <a:p>
            <a:pPr marL="12700">
              <a:lnSpc>
                <a:spcPct val="100000"/>
              </a:lnSpc>
              <a:spcBef>
                <a:spcPts val="50"/>
              </a:spcBef>
            </a:pPr>
            <a:r>
              <a:rPr sz="1200" spc="-95" dirty="0">
                <a:solidFill>
                  <a:srgbClr val="FFFFFF"/>
                </a:solidFill>
                <a:latin typeface="Times New Roman"/>
                <a:cs typeface="Times New Roman"/>
              </a:rPr>
              <a:t>14</a:t>
            </a:r>
            <a:endParaRPr sz="1200">
              <a:latin typeface="Times New Roman"/>
              <a:cs typeface="Times New Roman"/>
            </a:endParaRPr>
          </a:p>
        </p:txBody>
      </p:sp>
      <p:sp>
        <p:nvSpPr>
          <p:cNvPr id="7" name="object 7"/>
          <p:cNvSpPr txBox="1">
            <a:spLocks noGrp="1"/>
          </p:cNvSpPr>
          <p:nvPr>
            <p:ph type="ftr" sz="quarter" idx="5"/>
          </p:nvPr>
        </p:nvSpPr>
        <p:spPr>
          <a:prstGeom prst="rect">
            <a:avLst/>
          </a:prstGeom>
        </p:spPr>
        <p:txBody>
          <a:bodyPr vert="horz" wrap="square" lIns="0" tIns="6350" rIns="0" bIns="0" rtlCol="0">
            <a:spAutoFit/>
          </a:bodyPr>
          <a:lstStyle/>
          <a:p>
            <a:pPr marL="12700">
              <a:lnSpc>
                <a:spcPct val="100000"/>
              </a:lnSpc>
              <a:spcBef>
                <a:spcPts val="50"/>
              </a:spcBef>
            </a:pPr>
            <a:r>
              <a:rPr i="0" spc="70" dirty="0">
                <a:latin typeface="Arial"/>
                <a:cs typeface="Arial"/>
              </a:rPr>
              <a:t>©</a:t>
            </a:r>
            <a:r>
              <a:rPr i="0" spc="-180" dirty="0">
                <a:latin typeface="Arial"/>
                <a:cs typeface="Arial"/>
              </a:rPr>
              <a:t> </a:t>
            </a:r>
            <a:r>
              <a:rPr dirty="0"/>
              <a:t>Aptech </a:t>
            </a:r>
            <a:r>
              <a:rPr spc="-15" dirty="0"/>
              <a:t>Ltd.</a:t>
            </a:r>
          </a:p>
        </p:txBody>
      </p:sp>
      <p:sp>
        <p:nvSpPr>
          <p:cNvPr id="3" name="object 3"/>
          <p:cNvSpPr txBox="1">
            <a:spLocks noGrp="1"/>
          </p:cNvSpPr>
          <p:nvPr>
            <p:ph type="body" idx="1"/>
          </p:nvPr>
        </p:nvSpPr>
        <p:spPr>
          <a:prstGeom prst="rect">
            <a:avLst/>
          </a:prstGeom>
        </p:spPr>
        <p:txBody>
          <a:bodyPr vert="horz" wrap="square" lIns="0" tIns="12065" rIns="0" bIns="0" rtlCol="0">
            <a:spAutoFit/>
          </a:bodyPr>
          <a:lstStyle/>
          <a:p>
            <a:pPr marL="355600" marR="5080" indent="-342900">
              <a:lnSpc>
                <a:spcPct val="100000"/>
              </a:lnSpc>
              <a:spcBef>
                <a:spcPts val="95"/>
              </a:spcBef>
              <a:buFont typeface="Arial"/>
              <a:buChar char="•"/>
              <a:tabLst>
                <a:tab pos="354965" algn="l"/>
                <a:tab pos="355600" algn="l"/>
              </a:tabLst>
            </a:pPr>
            <a:r>
              <a:rPr spc="-10" dirty="0"/>
              <a:t>Microsoft </a:t>
            </a:r>
            <a:r>
              <a:rPr spc="-5" dirty="0"/>
              <a:t>Azure SQL is a cloud </a:t>
            </a:r>
            <a:r>
              <a:rPr dirty="0"/>
              <a:t>based </a:t>
            </a:r>
            <a:r>
              <a:rPr spc="-5" dirty="0"/>
              <a:t>relational </a:t>
            </a:r>
            <a:r>
              <a:rPr spc="-10" dirty="0"/>
              <a:t>database </a:t>
            </a:r>
            <a:r>
              <a:rPr dirty="0"/>
              <a:t>service </a:t>
            </a:r>
            <a:r>
              <a:rPr spc="-5" dirty="0"/>
              <a:t>that leverages  </a:t>
            </a:r>
            <a:r>
              <a:rPr spc="-10" dirty="0"/>
              <a:t>existing </a:t>
            </a:r>
            <a:r>
              <a:rPr spc="-5" dirty="0"/>
              <a:t>SQL Server</a:t>
            </a:r>
            <a:r>
              <a:rPr spc="-10" dirty="0"/>
              <a:t> </a:t>
            </a:r>
            <a:r>
              <a:rPr spc="-5" dirty="0"/>
              <a:t>technologies.</a:t>
            </a:r>
          </a:p>
          <a:p>
            <a:pPr marL="355600" marR="43180" indent="-342900">
              <a:lnSpc>
                <a:spcPct val="100000"/>
              </a:lnSpc>
              <a:buFont typeface="Arial"/>
              <a:buChar char="•"/>
              <a:tabLst>
                <a:tab pos="354965" algn="l"/>
                <a:tab pos="355600" algn="l"/>
              </a:tabLst>
            </a:pPr>
            <a:r>
              <a:rPr spc="-5" dirty="0"/>
              <a:t>Azure SQL </a:t>
            </a:r>
            <a:r>
              <a:rPr spc="-10" dirty="0"/>
              <a:t>enables </a:t>
            </a:r>
            <a:r>
              <a:rPr spc="-5" dirty="0"/>
              <a:t>users to perform relational queries, search </a:t>
            </a:r>
            <a:r>
              <a:rPr spc="-10" dirty="0"/>
              <a:t>operations, and  </a:t>
            </a:r>
            <a:r>
              <a:rPr spc="-5" dirty="0"/>
              <a:t>synchronize data </a:t>
            </a:r>
            <a:r>
              <a:rPr dirty="0"/>
              <a:t>with </a:t>
            </a:r>
            <a:r>
              <a:rPr spc="-5" dirty="0"/>
              <a:t>mobile users and remote back</a:t>
            </a:r>
            <a:r>
              <a:rPr spc="15" dirty="0"/>
              <a:t> </a:t>
            </a:r>
            <a:r>
              <a:rPr spc="-5" dirty="0"/>
              <a:t>offices.</a:t>
            </a:r>
          </a:p>
          <a:p>
            <a:pPr marL="355600" indent="-342900">
              <a:lnSpc>
                <a:spcPct val="100000"/>
              </a:lnSpc>
              <a:buFont typeface="Arial"/>
              <a:buChar char="•"/>
              <a:tabLst>
                <a:tab pos="354965" algn="l"/>
                <a:tab pos="355600" algn="l"/>
              </a:tabLst>
            </a:pPr>
            <a:r>
              <a:rPr spc="-5" dirty="0"/>
              <a:t>Azure SQL can store and retrieve both structured and unstructured</a:t>
            </a:r>
            <a:r>
              <a:rPr spc="-10" dirty="0"/>
              <a:t> data.</a:t>
            </a:r>
          </a:p>
          <a:p>
            <a:pPr marL="355600" marR="583565" indent="-342900">
              <a:lnSpc>
                <a:spcPct val="100000"/>
              </a:lnSpc>
              <a:buFont typeface="Arial"/>
              <a:buChar char="•"/>
              <a:tabLst>
                <a:tab pos="354965" algn="l"/>
                <a:tab pos="355600" algn="l"/>
              </a:tabLst>
            </a:pPr>
            <a:r>
              <a:rPr spc="-5" dirty="0"/>
              <a:t>Applications retrieve data from Azure SQL </a:t>
            </a:r>
            <a:r>
              <a:rPr spc="-10" dirty="0"/>
              <a:t>through </a:t>
            </a:r>
            <a:r>
              <a:rPr spc="-5" dirty="0"/>
              <a:t>a protocol </a:t>
            </a:r>
            <a:r>
              <a:rPr spc="-10" dirty="0"/>
              <a:t>known as  </a:t>
            </a:r>
            <a:r>
              <a:rPr spc="-5" dirty="0"/>
              <a:t>Tabular Data Stream</a:t>
            </a:r>
            <a:r>
              <a:rPr dirty="0"/>
              <a:t> </a:t>
            </a:r>
            <a:r>
              <a:rPr spc="-10" dirty="0"/>
              <a:t>(TDS).</a:t>
            </a:r>
          </a:p>
          <a:p>
            <a:pPr marL="355600" marR="325755" indent="-342900">
              <a:lnSpc>
                <a:spcPct val="100000"/>
              </a:lnSpc>
              <a:buFont typeface="Arial"/>
              <a:buChar char="•"/>
              <a:tabLst>
                <a:tab pos="354965" algn="l"/>
                <a:tab pos="355600" algn="l"/>
              </a:tabLst>
            </a:pPr>
            <a:r>
              <a:rPr spc="-5" dirty="0"/>
              <a:t>SQL Server on Azure Virtual </a:t>
            </a:r>
            <a:r>
              <a:rPr spc="-10" dirty="0"/>
              <a:t>Machines, </a:t>
            </a:r>
            <a:r>
              <a:rPr spc="-5" dirty="0"/>
              <a:t>Azure SQL </a:t>
            </a:r>
            <a:r>
              <a:rPr spc="-10" dirty="0"/>
              <a:t>Database, </a:t>
            </a:r>
            <a:r>
              <a:rPr spc="-5" dirty="0"/>
              <a:t>Azure SQL  Managed </a:t>
            </a:r>
            <a:r>
              <a:rPr spc="-10" dirty="0"/>
              <a:t>Instance, </a:t>
            </a:r>
            <a:r>
              <a:rPr spc="-5" dirty="0"/>
              <a:t>and Azure SQL Edge are the services under Azure</a:t>
            </a:r>
            <a:r>
              <a:rPr spc="45" dirty="0"/>
              <a:t> </a:t>
            </a:r>
            <a:r>
              <a:rPr spc="-5" dirty="0"/>
              <a:t>SQL.</a:t>
            </a:r>
          </a:p>
          <a:p>
            <a:pPr marL="355600" indent="-342900">
              <a:lnSpc>
                <a:spcPct val="100000"/>
              </a:lnSpc>
              <a:spcBef>
                <a:spcPts val="5"/>
              </a:spcBef>
              <a:buFont typeface="Arial"/>
              <a:buChar char="•"/>
              <a:tabLst>
                <a:tab pos="354965" algn="l"/>
                <a:tab pos="355600" algn="l"/>
              </a:tabLst>
            </a:pPr>
            <a:r>
              <a:rPr spc="-5" dirty="0"/>
              <a:t>Users can connect to Azure SQL using</a:t>
            </a:r>
            <a:r>
              <a:rPr spc="15" dirty="0"/>
              <a:t> </a:t>
            </a:r>
            <a:r>
              <a:rPr spc="-5" dirty="0"/>
              <a:t>SSMS.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195</TotalTime>
  <Words>3482</Words>
  <Application>Microsoft Office PowerPoint</Application>
  <PresentationFormat>On-screen Show (4:3)</PresentationFormat>
  <Paragraphs>311</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Book Antiqua</vt:lpstr>
      <vt:lpstr>Calibri</vt:lpstr>
      <vt:lpstr>Calisto MT</vt:lpstr>
      <vt:lpstr>Goudy Old Style</vt:lpstr>
      <vt:lpstr>Palatino Linotype</vt:lpstr>
      <vt:lpstr>Times New Roman</vt:lpstr>
      <vt:lpstr>Wingdings</vt:lpstr>
      <vt:lpstr>Office Theme</vt:lpstr>
      <vt:lpstr>Intelligent Data  Management with SQL  Server</vt:lpstr>
      <vt:lpstr>Objectives</vt:lpstr>
      <vt:lpstr>Introduction</vt:lpstr>
      <vt:lpstr>Azure SQL 1-3</vt:lpstr>
      <vt:lpstr>Azure SQL 2-3</vt:lpstr>
      <vt:lpstr>Azure SQL 3-3</vt:lpstr>
      <vt:lpstr>Services and Products in the Azure SQL Family</vt:lpstr>
      <vt:lpstr>Azure SQL Services</vt:lpstr>
      <vt:lpstr>Azure SQL Architecture 1-2</vt:lpstr>
      <vt:lpstr>Azure SQL Architecture 2-2</vt:lpstr>
      <vt:lpstr>Features and Benefits of Azure SQL</vt:lpstr>
      <vt:lpstr>Difference between Azure SQL and On-Premises  SQL Server</vt:lpstr>
      <vt:lpstr>Azure SQL Pricing</vt:lpstr>
      <vt:lpstr>Connect to SQL Azure with SSMS 1-4</vt:lpstr>
      <vt:lpstr>Connect to Azure SQL with SSMS 2-4</vt:lpstr>
      <vt:lpstr>Connect to Azure SQL with SSMS 3-4</vt:lpstr>
      <vt:lpstr>Connect to Azure SQL with SSMS 4-4</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Aptech Limited</dc:creator>
  <cp:lastModifiedBy>Nguyen Phat Tai (FE FAI HCM)</cp:lastModifiedBy>
  <cp:revision>136</cp:revision>
  <dcterms:created xsi:type="dcterms:W3CDTF">2021-10-11T16:09:03Z</dcterms:created>
  <dcterms:modified xsi:type="dcterms:W3CDTF">2021-11-01T12:04:37Z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