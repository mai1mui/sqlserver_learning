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95" r:id="rId9"/>
    <p:sldId id="263" r:id="rId10"/>
    <p:sldId id="264" r:id="rId11"/>
    <p:sldId id="265" r:id="rId12"/>
    <p:sldId id="296" r:id="rId13"/>
    <p:sldId id="266" r:id="rId14"/>
    <p:sldId id="297" r:id="rId15"/>
    <p:sldId id="267" r:id="rId16"/>
    <p:sldId id="298" r:id="rId17"/>
    <p:sldId id="268" r:id="rId18"/>
    <p:sldId id="299" r:id="rId19"/>
    <p:sldId id="269" r:id="rId20"/>
    <p:sldId id="270" r:id="rId21"/>
    <p:sldId id="271" r:id="rId22"/>
    <p:sldId id="272" r:id="rId23"/>
    <p:sldId id="300"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250" autoAdjust="0"/>
  </p:normalViewPr>
  <p:slideViewPr>
    <p:cSldViewPr>
      <p:cViewPr varScale="1">
        <p:scale>
          <a:sx n="62" d="100"/>
          <a:sy n="62" d="100"/>
        </p:scale>
        <p:origin x="2050"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576CA30-68BE-434C-A235-1E6779EB7735}" type="datetimeFigureOut">
              <a:rPr lang="en-US" smtClean="0"/>
              <a:t>10/21/2021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2E80F57-2801-4EB6-B05D-E7FC9F9974FA}" type="slidenum">
              <a:rPr lang="en-US" smtClean="0"/>
              <a:t>‹#›</a:t>
            </a:fld>
            <a:endParaRPr lang="en-US"/>
          </a:p>
        </p:txBody>
      </p:sp>
    </p:spTree>
    <p:extLst>
      <p:ext uri="{BB962C8B-B14F-4D97-AF65-F5344CB8AC3E}">
        <p14:creationId xmlns:p14="http://schemas.microsoft.com/office/powerpoint/2010/main" val="946935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Phiên 10: Khung nhìn, Thủ tục l</a:t>
            </a:r>
            <a:r>
              <a:rPr lang="vi-VN" b="1"/>
              <a:t>ư</a:t>
            </a:r>
            <a:r>
              <a:rPr lang="en-US" b="1"/>
              <a:t>u trữ và Truy vấn siêu dữ liệu</a:t>
            </a:r>
          </a:p>
        </p:txBody>
      </p:sp>
      <p:sp>
        <p:nvSpPr>
          <p:cNvPr id="4" name="Slide Number Placeholder 3"/>
          <p:cNvSpPr>
            <a:spLocks noGrp="1"/>
          </p:cNvSpPr>
          <p:nvPr>
            <p:ph type="sldNum" sz="quarter" idx="5"/>
          </p:nvPr>
        </p:nvSpPr>
        <p:spPr/>
        <p:txBody>
          <a:bodyPr/>
          <a:lstStyle/>
          <a:p>
            <a:fld id="{C2E80F57-2801-4EB6-B05D-E7FC9F9974FA}" type="slidenum">
              <a:rPr lang="en-US" smtClean="0"/>
              <a:t>1</a:t>
            </a:fld>
            <a:endParaRPr lang="en-US"/>
          </a:p>
        </p:txBody>
      </p:sp>
    </p:spTree>
    <p:extLst>
      <p:ext uri="{BB962C8B-B14F-4D97-AF65-F5344CB8AC3E}">
        <p14:creationId xmlns:p14="http://schemas.microsoft.com/office/powerpoint/2010/main" val="772754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en-US"/>
              <a:t>Định nghĩa khung nhìn</a:t>
            </a:r>
            <a:endParaRPr lang="vi-VN"/>
          </a:p>
          <a:p>
            <a:pPr marL="171450" indent="-171450">
              <a:buFont typeface="Arial" panose="020B0604020202020204" pitchFamily="34" charset="0"/>
              <a:buChar char="•"/>
            </a:pPr>
            <a:r>
              <a:rPr lang="vi-VN"/>
              <a:t>Mô tả kỹ thuật để tạo, thay đổi và </a:t>
            </a:r>
            <a:r>
              <a:rPr lang="en-US"/>
              <a:t>xóa khung nhìn</a:t>
            </a:r>
            <a:endParaRPr lang="vi-VN"/>
          </a:p>
          <a:p>
            <a:pPr marL="171450" indent="-171450">
              <a:buFont typeface="Arial" panose="020B0604020202020204" pitchFamily="34" charset="0"/>
              <a:buChar char="•"/>
            </a:pPr>
            <a:r>
              <a:rPr lang="en-US"/>
              <a:t>Đ</a:t>
            </a:r>
            <a:r>
              <a:rPr lang="vi-VN"/>
              <a:t>ịnh </a:t>
            </a:r>
            <a:r>
              <a:rPr lang="en-US"/>
              <a:t>nghĩa </a:t>
            </a:r>
            <a:r>
              <a:rPr lang="vi-VN"/>
              <a:t>thủ tục lưu trữ và </a:t>
            </a:r>
            <a:r>
              <a:rPr lang="en-US"/>
              <a:t>và các loại của nó</a:t>
            </a:r>
            <a:endParaRPr lang="vi-VN"/>
          </a:p>
          <a:p>
            <a:pPr marL="171450" indent="-171450">
              <a:buFont typeface="Arial" panose="020B0604020202020204" pitchFamily="34" charset="0"/>
              <a:buChar char="•"/>
            </a:pPr>
            <a:r>
              <a:rPr lang="vi-VN"/>
              <a:t>Mô tả </a:t>
            </a:r>
            <a:r>
              <a:rPr lang="en-US"/>
              <a:t>cách </a:t>
            </a:r>
            <a:r>
              <a:rPr lang="vi-VN"/>
              <a:t>tạo, thay đổi và </a:t>
            </a:r>
            <a:r>
              <a:rPr lang="en-US"/>
              <a:t>chạy </a:t>
            </a:r>
            <a:r>
              <a:rPr lang="vi-VN"/>
              <a:t>thủ tục lưu trữ</a:t>
            </a:r>
          </a:p>
          <a:p>
            <a:pPr marL="171450" indent="-171450">
              <a:buFont typeface="Arial" panose="020B0604020202020204" pitchFamily="34" charset="0"/>
              <a:buChar char="•"/>
            </a:pPr>
            <a:r>
              <a:rPr lang="vi-VN"/>
              <a:t>Mô tả các thủ tục lưu trữ lồng nhau</a:t>
            </a:r>
          </a:p>
          <a:p>
            <a:pPr marL="171450" indent="-171450">
              <a:buFont typeface="Arial" panose="020B0604020202020204" pitchFamily="34" charset="0"/>
              <a:buChar char="•"/>
            </a:pPr>
            <a:r>
              <a:rPr lang="vi-VN"/>
              <a:t>Mô tả truy vấn </a:t>
            </a:r>
            <a:r>
              <a:rPr lang="en-US"/>
              <a:t>c</a:t>
            </a:r>
            <a:r>
              <a:rPr lang="vi-VN"/>
              <a:t>hế độ xem và </a:t>
            </a:r>
            <a:r>
              <a:rPr lang="en-US"/>
              <a:t>hàm </a:t>
            </a:r>
            <a:r>
              <a:rPr lang="vi-VN"/>
              <a:t>hệ thống SQL Server Metadata</a:t>
            </a:r>
            <a:endParaRPr lang="en-US"/>
          </a:p>
        </p:txBody>
      </p:sp>
      <p:sp>
        <p:nvSpPr>
          <p:cNvPr id="4" name="Slide Number Placeholder 3"/>
          <p:cNvSpPr>
            <a:spLocks noGrp="1"/>
          </p:cNvSpPr>
          <p:nvPr>
            <p:ph type="sldNum" sz="quarter" idx="5"/>
          </p:nvPr>
        </p:nvSpPr>
        <p:spPr/>
        <p:txBody>
          <a:bodyPr/>
          <a:lstStyle/>
          <a:p>
            <a:fld id="{C2E80F57-2801-4EB6-B05D-E7FC9F9974FA}" type="slidenum">
              <a:rPr lang="en-US" smtClean="0"/>
              <a:t>2</a:t>
            </a:fld>
            <a:endParaRPr lang="en-US"/>
          </a:p>
        </p:txBody>
      </p:sp>
    </p:spTree>
    <p:extLst>
      <p:ext uri="{BB962C8B-B14F-4D97-AF65-F5344CB8AC3E}">
        <p14:creationId xmlns:p14="http://schemas.microsoft.com/office/powerpoint/2010/main" val="3780589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Giới thiệu</a:t>
            </a:r>
          </a:p>
          <a:p>
            <a:pPr marL="171450" indent="-171450">
              <a:buFont typeface="Arial" panose="020B0604020202020204" pitchFamily="34" charset="0"/>
              <a:buChar char="•"/>
            </a:pPr>
            <a:r>
              <a:rPr lang="vi-VN" b="0"/>
              <a:t>Cơ sở dữ liệu SQL Server có </a:t>
            </a:r>
            <a:r>
              <a:rPr lang="en-US" b="0"/>
              <a:t>2</a:t>
            </a:r>
            <a:r>
              <a:rPr lang="vi-VN" b="0"/>
              <a:t> loại đối tượng chính:</a:t>
            </a:r>
            <a:endParaRPr lang="en-US" b="0"/>
          </a:p>
          <a:p>
            <a:pPr marL="628650" lvl="1" indent="-171450">
              <a:buFont typeface="Arial" panose="020B0604020202020204" pitchFamily="34" charset="0"/>
              <a:buChar char="•"/>
            </a:pPr>
            <a:r>
              <a:rPr lang="en-US" b="0"/>
              <a:t>Đối t</a:t>
            </a:r>
            <a:r>
              <a:rPr lang="vi-VN" b="0"/>
              <a:t>ư</a:t>
            </a:r>
            <a:r>
              <a:rPr lang="en-US" b="0"/>
              <a:t>ợng l</a:t>
            </a:r>
            <a:r>
              <a:rPr lang="vi-VN" b="0"/>
              <a:t>ưu trữ dữ liệu</a:t>
            </a:r>
            <a:endParaRPr lang="en-US" b="0"/>
          </a:p>
          <a:p>
            <a:pPr marL="628650" lvl="1" indent="-171450">
              <a:buFont typeface="Arial" panose="020B0604020202020204" pitchFamily="34" charset="0"/>
              <a:buChar char="•"/>
            </a:pPr>
            <a:r>
              <a:rPr lang="en-US" b="0"/>
              <a:t>Đối t</a:t>
            </a:r>
            <a:r>
              <a:rPr lang="vi-VN" b="0"/>
              <a:t>ư</a:t>
            </a:r>
            <a:r>
              <a:rPr lang="en-US" b="0"/>
              <a:t>ợng </a:t>
            </a:r>
            <a:r>
              <a:rPr lang="vi-VN" b="0"/>
              <a:t>truy cập, thao tác hoặc cung cấp quyền truy cập vào dữ liệu</a:t>
            </a:r>
            <a:endParaRPr lang="en-US" b="0"/>
          </a:p>
          <a:p>
            <a:pPr marL="171450" lvl="0" indent="-171450">
              <a:buFont typeface="Arial" panose="020B0604020202020204" pitchFamily="34" charset="0"/>
              <a:buChar char="•"/>
            </a:pPr>
            <a:r>
              <a:rPr lang="en-US" b="0"/>
              <a:t>Khung nhìn </a:t>
            </a:r>
            <a:r>
              <a:rPr lang="vi-VN" b="0"/>
              <a:t>và thủ tục lưu trữ thuộc về loại sau.</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3</a:t>
            </a:fld>
            <a:endParaRPr lang="en-US"/>
          </a:p>
        </p:txBody>
      </p:sp>
    </p:spTree>
    <p:extLst>
      <p:ext uri="{BB962C8B-B14F-4D97-AF65-F5344CB8AC3E}">
        <p14:creationId xmlns:p14="http://schemas.microsoft.com/office/powerpoint/2010/main" val="3857282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Khung nhìn</a:t>
            </a:r>
          </a:p>
          <a:p>
            <a:pPr marL="171450" indent="-171450">
              <a:buFont typeface="Arial" panose="020B0604020202020204" pitchFamily="34" charset="0"/>
              <a:buChar char="•"/>
            </a:pPr>
            <a:r>
              <a:rPr lang="vi-VN"/>
              <a:t>Một khung nhìn là một bảng ảo được tạo thành từ các cột được chọn từ một hoặc nhiều bảng.</a:t>
            </a:r>
            <a:endParaRPr lang="en-US"/>
          </a:p>
          <a:p>
            <a:pPr marL="171450" indent="-171450">
              <a:buFont typeface="Arial" panose="020B0604020202020204" pitchFamily="34" charset="0"/>
              <a:buChar char="•"/>
            </a:pPr>
            <a:r>
              <a:rPr lang="vi-VN"/>
              <a:t>Các bảng mà </a:t>
            </a:r>
            <a:r>
              <a:rPr lang="en-US"/>
              <a:t>khung</a:t>
            </a:r>
            <a:r>
              <a:rPr lang="vi-VN"/>
              <a:t> nhìn được đề cập đến được gọi là các bảng cơ sở.</a:t>
            </a:r>
            <a:endParaRPr lang="en-US"/>
          </a:p>
          <a:p>
            <a:pPr marL="171450" indent="-171450">
              <a:buFont typeface="Arial" panose="020B0604020202020204" pitchFamily="34" charset="0"/>
              <a:buChar char="•"/>
            </a:pPr>
            <a:r>
              <a:rPr lang="vi-VN"/>
              <a:t>Một khung nhìn cũng có thể bao gồm các cột từ các </a:t>
            </a:r>
            <a:r>
              <a:rPr lang="en-US"/>
              <a:t>khung nhìn </a:t>
            </a:r>
            <a:r>
              <a:rPr lang="vi-VN"/>
              <a:t>khác được tạo trong cùng hoặc một cơ sở dữ liệu khác</a:t>
            </a:r>
            <a:r>
              <a:rPr lang="en-US"/>
              <a:t>.</a:t>
            </a:r>
          </a:p>
          <a:p>
            <a:pPr marL="171450" indent="-171450">
              <a:buFont typeface="Arial" panose="020B0604020202020204" pitchFamily="34" charset="0"/>
              <a:buChar char="•"/>
            </a:pPr>
            <a:r>
              <a:rPr lang="en-US"/>
              <a:t>Một khung nhìn có thể có tối đa 1.024 cột.</a:t>
            </a:r>
          </a:p>
        </p:txBody>
      </p:sp>
      <p:sp>
        <p:nvSpPr>
          <p:cNvPr id="4" name="Slide Number Placeholder 3"/>
          <p:cNvSpPr>
            <a:spLocks noGrp="1"/>
          </p:cNvSpPr>
          <p:nvPr>
            <p:ph type="sldNum" sz="quarter" idx="5"/>
          </p:nvPr>
        </p:nvSpPr>
        <p:spPr/>
        <p:txBody>
          <a:bodyPr/>
          <a:lstStyle/>
          <a:p>
            <a:fld id="{C2E80F57-2801-4EB6-B05D-E7FC9F9974FA}" type="slidenum">
              <a:rPr lang="en-US" smtClean="0"/>
              <a:t>4</a:t>
            </a:fld>
            <a:endParaRPr lang="en-US"/>
          </a:p>
        </p:txBody>
      </p:sp>
    </p:spTree>
    <p:extLst>
      <p:ext uri="{BB962C8B-B14F-4D97-AF65-F5344CB8AC3E}">
        <p14:creationId xmlns:p14="http://schemas.microsoft.com/office/powerpoint/2010/main" val="2669807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Tạo khung nhìn</a:t>
            </a:r>
          </a:p>
          <a:p>
            <a:pPr marL="171450" indent="-171450">
              <a:buFont typeface="Arial" panose="020B0604020202020204" pitchFamily="34" charset="0"/>
              <a:buChar char="•"/>
            </a:pPr>
            <a:r>
              <a:rPr lang="en-US"/>
              <a:t>Một n</a:t>
            </a:r>
            <a:r>
              <a:rPr lang="vi-VN"/>
              <a:t>gười dùng có thể tạo </a:t>
            </a:r>
            <a:r>
              <a:rPr lang="en-US"/>
              <a:t>một khung nhìn</a:t>
            </a:r>
            <a:r>
              <a:rPr lang="vi-VN"/>
              <a:t> </a:t>
            </a:r>
            <a:r>
              <a:rPr lang="en-US"/>
              <a:t>sử dụng</a:t>
            </a:r>
            <a:r>
              <a:rPr lang="vi-VN"/>
              <a:t> các cột từ bảng hoặc </a:t>
            </a:r>
            <a:r>
              <a:rPr lang="en-US"/>
              <a:t>các khung nhìn khác </a:t>
            </a:r>
            <a:r>
              <a:rPr lang="vi-VN"/>
              <a:t>chỉ </a:t>
            </a:r>
            <a:r>
              <a:rPr lang="en-US"/>
              <a:t>khi</a:t>
            </a:r>
            <a:r>
              <a:rPr lang="vi-VN"/>
              <a:t> nếu người dùng có quyền truy cập các bảng và </a:t>
            </a:r>
            <a:r>
              <a:rPr lang="en-US"/>
              <a:t>khung nhìn </a:t>
            </a:r>
            <a:r>
              <a:rPr lang="vi-VN"/>
              <a:t>này</a:t>
            </a:r>
            <a:r>
              <a:rPr lang="en-US"/>
              <a:t>.</a:t>
            </a:r>
          </a:p>
          <a:p>
            <a:pPr marL="171450" indent="-171450">
              <a:buFont typeface="Arial" panose="020B0604020202020204" pitchFamily="34" charset="0"/>
              <a:buChar char="•"/>
            </a:pPr>
            <a:r>
              <a:rPr lang="en-US"/>
              <a:t>Một khung nhìn </a:t>
            </a:r>
            <a:r>
              <a:rPr lang="vi-VN"/>
              <a:t>được tạo bằng cách sử dụng câu lệnh </a:t>
            </a:r>
            <a:r>
              <a:rPr lang="vi-VN" b="1"/>
              <a:t>CREATE V</a:t>
            </a:r>
            <a:r>
              <a:rPr lang="en-US" b="1"/>
              <a:t>I</a:t>
            </a:r>
            <a:r>
              <a:rPr lang="vi-VN" b="1"/>
              <a:t>EW </a:t>
            </a:r>
            <a:r>
              <a:rPr lang="vi-VN"/>
              <a:t>và nó chỉ có thể được tạo trong cơ sở dữ liệu hiện tại</a:t>
            </a:r>
            <a:r>
              <a:rPr lang="en-US"/>
              <a:t>.</a:t>
            </a:r>
          </a:p>
          <a:p>
            <a:pPr marL="171450" indent="-171450">
              <a:buFont typeface="Arial" panose="020B0604020202020204" pitchFamily="34" charset="0"/>
              <a:buChar char="•"/>
            </a:pPr>
            <a:r>
              <a:rPr lang="vi-VN"/>
              <a:t>SQL Server xác minh sự tồn tại của các đối tượng được tham chiếu trong định nghĩa </a:t>
            </a:r>
            <a:r>
              <a:rPr lang="en-US"/>
              <a:t>khung nhìn.</a:t>
            </a:r>
          </a:p>
        </p:txBody>
      </p:sp>
      <p:sp>
        <p:nvSpPr>
          <p:cNvPr id="4" name="Slide Number Placeholder 3"/>
          <p:cNvSpPr>
            <a:spLocks noGrp="1"/>
          </p:cNvSpPr>
          <p:nvPr>
            <p:ph type="sldNum" sz="quarter" idx="5"/>
          </p:nvPr>
        </p:nvSpPr>
        <p:spPr/>
        <p:txBody>
          <a:bodyPr/>
          <a:lstStyle/>
          <a:p>
            <a:fld id="{C2E80F57-2801-4EB6-B05D-E7FC9F9974FA}" type="slidenum">
              <a:rPr lang="en-US" smtClean="0"/>
              <a:t>5</a:t>
            </a:fld>
            <a:endParaRPr lang="en-US"/>
          </a:p>
        </p:txBody>
      </p:sp>
    </p:spTree>
    <p:extLst>
      <p:ext uri="{BB962C8B-B14F-4D97-AF65-F5344CB8AC3E}">
        <p14:creationId xmlns:p14="http://schemas.microsoft.com/office/powerpoint/2010/main" val="4074679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Tạo khung nhìn bằng cách sử dụng từ khóa JOIN 1-2</a:t>
            </a:r>
          </a:p>
          <a:p>
            <a:pPr marL="171450" indent="-171450">
              <a:buFont typeface="Arial" panose="020B0604020202020204" pitchFamily="34" charset="0"/>
              <a:buChar char="•"/>
            </a:pPr>
            <a:r>
              <a:rPr lang="vi-VN" b="0"/>
              <a:t>Từ khóa </a:t>
            </a:r>
            <a:r>
              <a:rPr lang="en-US" sz="1200" spc="-10">
                <a:solidFill>
                  <a:srgbClr val="FFFFFF"/>
                </a:solidFill>
                <a:latin typeface="Arial"/>
                <a:cs typeface="Arial"/>
              </a:rPr>
              <a:t>JOIN </a:t>
            </a:r>
            <a:r>
              <a:rPr lang="vi-VN" b="0"/>
              <a:t>cũng có thể được sử dụng để tạo </a:t>
            </a:r>
            <a:r>
              <a:rPr lang="en-US" b="0"/>
              <a:t>khung nhìn</a:t>
            </a:r>
          </a:p>
          <a:p>
            <a:pPr marL="171450" indent="-171450">
              <a:buFont typeface="Arial" panose="020B0604020202020204" pitchFamily="34" charset="0"/>
              <a:buChar char="•"/>
            </a:pPr>
            <a:r>
              <a:rPr lang="vi-VN" b="0"/>
              <a:t>Câu lệnh </a:t>
            </a:r>
            <a:r>
              <a:rPr lang="vi-VN" b="1"/>
              <a:t>CREATE V</a:t>
            </a:r>
            <a:r>
              <a:rPr lang="en-US" b="1"/>
              <a:t>I</a:t>
            </a:r>
            <a:r>
              <a:rPr lang="vi-VN" b="1"/>
              <a:t>EW </a:t>
            </a:r>
            <a:r>
              <a:rPr lang="vi-VN" b="0"/>
              <a:t>được sử dụng cùng với từ khóa </a:t>
            </a:r>
            <a:r>
              <a:rPr lang="en-US" sz="1200" b="1" spc="-5">
                <a:solidFill>
                  <a:srgbClr val="FFFFFF"/>
                </a:solidFill>
                <a:latin typeface="Arial"/>
                <a:cs typeface="Arial"/>
              </a:rPr>
              <a:t>JOIN</a:t>
            </a:r>
            <a:r>
              <a:rPr lang="en-US" sz="1200" spc="-5">
                <a:solidFill>
                  <a:srgbClr val="FFFFFF"/>
                </a:solidFill>
                <a:latin typeface="Arial"/>
                <a:cs typeface="Arial"/>
              </a:rPr>
              <a:t> </a:t>
            </a:r>
            <a:r>
              <a:rPr lang="vi-VN" b="0"/>
              <a:t>để tạo </a:t>
            </a:r>
            <a:r>
              <a:rPr lang="en-US" b="0"/>
              <a:t>khung nhìn </a:t>
            </a:r>
            <a:r>
              <a:rPr lang="vi-VN" b="0"/>
              <a:t>bằng các cột từ nhiều bảng.</a:t>
            </a:r>
            <a:endParaRPr lang="en-US" b="0"/>
          </a:p>
          <a:p>
            <a:pPr marL="171450" indent="-171450">
              <a:buFont typeface="Arial" panose="020B0604020202020204" pitchFamily="34" charset="0"/>
              <a:buChar char="•"/>
            </a:pPr>
            <a:r>
              <a:rPr lang="en-US" b="0"/>
              <a:t>Cú pháp: </a:t>
            </a:r>
          </a:p>
          <a:p>
            <a:pPr marL="628650" lvl="1" indent="-171450">
              <a:buFont typeface="Arial" panose="020B0604020202020204" pitchFamily="34" charset="0"/>
              <a:buChar char="•"/>
            </a:pPr>
            <a:r>
              <a:rPr lang="vi-VN" b="1"/>
              <a:t>view_name</a:t>
            </a:r>
            <a:r>
              <a:rPr lang="vi-VN" b="0"/>
              <a:t>: Chỉ định tên của </a:t>
            </a:r>
            <a:r>
              <a:rPr lang="en-US" b="0"/>
              <a:t>khung nhìn</a:t>
            </a:r>
            <a:r>
              <a:rPr lang="vi-VN" b="0"/>
              <a:t>. </a:t>
            </a:r>
            <a:endParaRPr lang="en-US" b="0"/>
          </a:p>
          <a:p>
            <a:pPr marL="628650" lvl="1" indent="-171450">
              <a:buFont typeface="Arial" panose="020B0604020202020204" pitchFamily="34" charset="0"/>
              <a:buChar char="•"/>
            </a:pPr>
            <a:r>
              <a:rPr lang="en-US" b="1"/>
              <a:t>t</a:t>
            </a:r>
            <a:r>
              <a:rPr lang="vi-VN" b="1"/>
              <a:t>able_name1</a:t>
            </a:r>
            <a:r>
              <a:rPr lang="vi-VN" b="0"/>
              <a:t>: Chỉ định tên của bảng đầu tiên.</a:t>
            </a:r>
          </a:p>
          <a:p>
            <a:pPr marL="628650" lvl="1" indent="-171450">
              <a:buFont typeface="Arial" panose="020B0604020202020204" pitchFamily="34" charset="0"/>
              <a:buChar char="•"/>
            </a:pPr>
            <a:r>
              <a:rPr lang="en-US" b="1"/>
              <a:t>JOIN</a:t>
            </a:r>
            <a:r>
              <a:rPr lang="vi-VN" b="0"/>
              <a:t>: Chỉ định rằng </a:t>
            </a:r>
            <a:r>
              <a:rPr lang="en-US" b="0"/>
              <a:t>2</a:t>
            </a:r>
            <a:r>
              <a:rPr lang="vi-VN" b="0"/>
              <a:t> bảng được tham gia bằng cách sử dụng từ khóa </a:t>
            </a:r>
            <a:r>
              <a:rPr lang="en-US" b="0"/>
              <a:t>JOIN</a:t>
            </a:r>
            <a:r>
              <a:rPr lang="vi-VN" b="0"/>
              <a:t>. </a:t>
            </a:r>
            <a:endParaRPr lang="en-US" b="0"/>
          </a:p>
          <a:p>
            <a:pPr marL="628650" lvl="1" indent="-171450">
              <a:buFont typeface="Arial" panose="020B0604020202020204" pitchFamily="34" charset="0"/>
              <a:buChar char="•"/>
            </a:pPr>
            <a:r>
              <a:rPr lang="en-US" b="1"/>
              <a:t>t</a:t>
            </a:r>
            <a:r>
              <a:rPr lang="vi-VN" b="1"/>
              <a:t>able_name2</a:t>
            </a:r>
            <a:r>
              <a:rPr lang="vi-VN" b="0"/>
              <a:t>: Chỉ định tên của bảng thứ </a:t>
            </a:r>
            <a:r>
              <a:rPr lang="en-US" b="0"/>
              <a:t>2</a:t>
            </a:r>
            <a:r>
              <a:rPr lang="vi-VN" b="0"/>
              <a:t>.</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6</a:t>
            </a:fld>
            <a:endParaRPr lang="en-US"/>
          </a:p>
        </p:txBody>
      </p:sp>
    </p:spTree>
    <p:extLst>
      <p:ext uri="{BB962C8B-B14F-4D97-AF65-F5344CB8AC3E}">
        <p14:creationId xmlns:p14="http://schemas.microsoft.com/office/powerpoint/2010/main" val="4211617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Tạo khung nhìn bằng cách sử dụng từ khóa JOIN 2-3</a:t>
            </a:r>
          </a:p>
          <a:p>
            <a:endParaRPr lang="en-US"/>
          </a:p>
        </p:txBody>
      </p:sp>
      <p:sp>
        <p:nvSpPr>
          <p:cNvPr id="4" name="Slide Number Placeholder 3"/>
          <p:cNvSpPr>
            <a:spLocks noGrp="1"/>
          </p:cNvSpPr>
          <p:nvPr>
            <p:ph type="sldNum" sz="quarter" idx="5"/>
          </p:nvPr>
        </p:nvSpPr>
        <p:spPr/>
        <p:txBody>
          <a:bodyPr/>
          <a:lstStyle/>
          <a:p>
            <a:fld id="{C2E80F57-2801-4EB6-B05D-E7FC9F9974FA}" type="slidenum">
              <a:rPr lang="en-US" smtClean="0"/>
              <a:t>7</a:t>
            </a:fld>
            <a:endParaRPr lang="en-US"/>
          </a:p>
        </p:txBody>
      </p:sp>
    </p:spTree>
    <p:extLst>
      <p:ext uri="{BB962C8B-B14F-4D97-AF65-F5344CB8AC3E}">
        <p14:creationId xmlns:p14="http://schemas.microsoft.com/office/powerpoint/2010/main" val="1908957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Tạo khung nhìn bằng cách sử dụng từ khóa JOIN 3-3</a:t>
            </a:r>
          </a:p>
          <a:p>
            <a:pPr marL="171450" indent="-171450">
              <a:buFont typeface="Arial" panose="020B0604020202020204" pitchFamily="34" charset="0"/>
              <a:buChar char="•"/>
            </a:pPr>
            <a:r>
              <a:rPr lang="en-US"/>
              <a:t>Để thay thế tất cả các giá trị NULL, đầu ra bằng nullString, hàm </a:t>
            </a:r>
            <a:r>
              <a:rPr lang="en-US" b="1"/>
              <a:t>COALESCE()</a:t>
            </a:r>
          </a:p>
        </p:txBody>
      </p:sp>
      <p:sp>
        <p:nvSpPr>
          <p:cNvPr id="4" name="Slide Number Placeholder 3"/>
          <p:cNvSpPr>
            <a:spLocks noGrp="1"/>
          </p:cNvSpPr>
          <p:nvPr>
            <p:ph type="sldNum" sz="quarter" idx="5"/>
          </p:nvPr>
        </p:nvSpPr>
        <p:spPr/>
        <p:txBody>
          <a:bodyPr/>
          <a:lstStyle/>
          <a:p>
            <a:fld id="{C2E80F57-2801-4EB6-B05D-E7FC9F9974FA}" type="slidenum">
              <a:rPr lang="en-US" smtClean="0"/>
              <a:t>8</a:t>
            </a:fld>
            <a:endParaRPr lang="en-US"/>
          </a:p>
        </p:txBody>
      </p:sp>
    </p:spTree>
    <p:extLst>
      <p:ext uri="{BB962C8B-B14F-4D97-AF65-F5344CB8AC3E}">
        <p14:creationId xmlns:p14="http://schemas.microsoft.com/office/powerpoint/2010/main" val="2202144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Hướng dẫn và hạn chế về </a:t>
            </a:r>
            <a:r>
              <a:rPr lang="en-US" b="1"/>
              <a:t>khung nhìn</a:t>
            </a:r>
          </a:p>
          <a:p>
            <a:pPr marL="171450" indent="-171450">
              <a:buFont typeface="Arial" panose="020B0604020202020204" pitchFamily="34" charset="0"/>
              <a:buChar char="•"/>
            </a:pPr>
            <a:r>
              <a:rPr lang="vi-VN" b="0"/>
              <a:t>Một khung nhìn được tạo chỉ trong cơ sở dữ liệu hiện tại. Các bảng cơ sở và khung nhìn mà từ đó </a:t>
            </a:r>
            <a:r>
              <a:rPr lang="en-US" b="0"/>
              <a:t>khung nhìn </a:t>
            </a:r>
            <a:r>
              <a:rPr lang="vi-VN" b="0"/>
              <a:t>được tạo có thể từ các cơ sở dữ liệu hoặc máy chủ khác.</a:t>
            </a:r>
          </a:p>
          <a:p>
            <a:pPr marL="171450" indent="-171450">
              <a:buFont typeface="Arial" panose="020B0604020202020204" pitchFamily="34" charset="0"/>
              <a:buChar char="•"/>
            </a:pPr>
            <a:r>
              <a:rPr lang="en-US" b="0"/>
              <a:t>Tên</a:t>
            </a:r>
            <a:r>
              <a:rPr lang="vi-VN" b="0"/>
              <a:t> </a:t>
            </a:r>
            <a:r>
              <a:rPr lang="en-US" b="0"/>
              <a:t>khung nhìn</a:t>
            </a:r>
            <a:r>
              <a:rPr lang="vi-VN" b="0"/>
              <a:t> phải là duy nhất và không thể giống tên bảng trong lược đồ. </a:t>
            </a:r>
            <a:endParaRPr lang="en-US" b="0"/>
          </a:p>
          <a:p>
            <a:pPr marL="171450" indent="-171450">
              <a:buFont typeface="Arial" panose="020B0604020202020204" pitchFamily="34" charset="0"/>
              <a:buChar char="•"/>
            </a:pPr>
            <a:r>
              <a:rPr lang="vi-VN" b="0"/>
              <a:t>Một khung nhìn không thể được tạo trên các bảng tạm thời.</a:t>
            </a:r>
          </a:p>
          <a:p>
            <a:pPr marL="171450" indent="-171450">
              <a:buFont typeface="Arial" panose="020B0604020202020204" pitchFamily="34" charset="0"/>
              <a:buChar char="•"/>
            </a:pPr>
            <a:r>
              <a:rPr lang="vi-VN" b="0"/>
              <a:t>Một khung nhìn không thể có chỉ </a:t>
            </a:r>
            <a:r>
              <a:rPr lang="en-US" b="0"/>
              <a:t>chỉ mục full-text</a:t>
            </a:r>
            <a:r>
              <a:rPr lang="vi-VN" b="0"/>
              <a:t>.</a:t>
            </a:r>
          </a:p>
          <a:p>
            <a:pPr marL="171450" indent="-171450">
              <a:buFont typeface="Arial" panose="020B0604020202020204" pitchFamily="34" charset="0"/>
              <a:buChar char="•"/>
            </a:pPr>
            <a:r>
              <a:rPr lang="vi-VN" b="0"/>
              <a:t>Một khung nhìn không thể chứa định nghĩa </a:t>
            </a:r>
            <a:r>
              <a:rPr lang="en-US" b="1"/>
              <a:t>DEFAULT</a:t>
            </a:r>
            <a:r>
              <a:rPr lang="vi-VN" b="0"/>
              <a:t>.</a:t>
            </a:r>
          </a:p>
          <a:p>
            <a:pPr marL="171450" indent="-171450">
              <a:buFont typeface="Arial" panose="020B0604020202020204" pitchFamily="34" charset="0"/>
              <a:buChar char="•"/>
            </a:pPr>
            <a:r>
              <a:rPr lang="vi-VN" b="0"/>
              <a:t>Câu lệnh </a:t>
            </a:r>
            <a:r>
              <a:rPr lang="vi-VN" b="1"/>
              <a:t>CREATE V</a:t>
            </a:r>
            <a:r>
              <a:rPr lang="en-US" b="1"/>
              <a:t>I</a:t>
            </a:r>
            <a:r>
              <a:rPr lang="vi-VN" b="1"/>
              <a:t>EW </a:t>
            </a:r>
            <a:r>
              <a:rPr lang="vi-VN" b="0"/>
              <a:t>có thể bao gồm mệnh đề </a:t>
            </a:r>
            <a:r>
              <a:rPr lang="en-US" sz="1200" b="1">
                <a:solidFill>
                  <a:srgbClr val="FFFFFF"/>
                </a:solidFill>
                <a:latin typeface="Calisto MT"/>
                <a:cs typeface="Calisto MT"/>
              </a:rPr>
              <a:t>ORDER BY </a:t>
            </a:r>
            <a:r>
              <a:rPr lang="vi-VN" b="0"/>
              <a:t>chỉ khi sử dụng từ khóa </a:t>
            </a:r>
            <a:r>
              <a:rPr lang="en-US" sz="1200" b="1" spc="-10">
                <a:solidFill>
                  <a:srgbClr val="FFFFFF"/>
                </a:solidFill>
                <a:latin typeface="Calisto MT"/>
                <a:cs typeface="Calisto MT"/>
              </a:rPr>
              <a:t>TOP</a:t>
            </a:r>
            <a:r>
              <a:rPr lang="vi-VN" b="0"/>
              <a:t>. </a:t>
            </a:r>
            <a:endParaRPr lang="en-US" b="0"/>
          </a:p>
          <a:p>
            <a:pPr marL="171450" indent="-171450">
              <a:buFont typeface="Arial" panose="020B0604020202020204" pitchFamily="34" charset="0"/>
              <a:buChar char="•"/>
            </a:pPr>
            <a:r>
              <a:rPr lang="en-US" b="0"/>
              <a:t>Khung nhìn </a:t>
            </a:r>
            <a:r>
              <a:rPr lang="vi-VN" b="0"/>
              <a:t>không thể tham </a:t>
            </a:r>
            <a:r>
              <a:rPr lang="en-US" b="0"/>
              <a:t>chiếu</a:t>
            </a:r>
            <a:r>
              <a:rPr lang="vi-VN" b="0"/>
              <a:t> hơn 1.024 cột.</a:t>
            </a:r>
          </a:p>
          <a:p>
            <a:pPr marL="171450" indent="-171450">
              <a:buFont typeface="Arial" panose="020B0604020202020204" pitchFamily="34" charset="0"/>
              <a:buChar char="•"/>
            </a:pPr>
            <a:r>
              <a:rPr lang="vi-VN" b="0"/>
              <a:t>Câu lệnh </a:t>
            </a:r>
            <a:r>
              <a:rPr lang="vi-VN" b="1"/>
              <a:t>CREATE V</a:t>
            </a:r>
            <a:r>
              <a:rPr lang="en-US" b="1"/>
              <a:t>I</a:t>
            </a:r>
            <a:r>
              <a:rPr lang="vi-VN" b="1"/>
              <a:t>EW </a:t>
            </a:r>
            <a:r>
              <a:rPr lang="vi-VN" b="0"/>
              <a:t>không thể bao gồm từ khóa</a:t>
            </a:r>
            <a:r>
              <a:rPr lang="en-US" b="0"/>
              <a:t> </a:t>
            </a:r>
            <a:r>
              <a:rPr lang="en-US" sz="1200" b="1" spc="-10">
                <a:solidFill>
                  <a:srgbClr val="FFFFFF"/>
                </a:solidFill>
                <a:latin typeface="Calisto MT"/>
                <a:cs typeface="Calisto MT"/>
              </a:rPr>
              <a:t>INTO</a:t>
            </a:r>
            <a:r>
              <a:rPr lang="vi-VN" b="0"/>
              <a:t>.</a:t>
            </a:r>
          </a:p>
          <a:p>
            <a:pPr marL="171450" indent="-171450">
              <a:buFont typeface="Arial" panose="020B0604020202020204" pitchFamily="34" charset="0"/>
              <a:buChar char="•"/>
            </a:pPr>
            <a:r>
              <a:rPr lang="vi-VN" b="0"/>
              <a:t>Câu lệnh </a:t>
            </a:r>
            <a:r>
              <a:rPr lang="vi-VN" b="1"/>
              <a:t>CREATE VIEW </a:t>
            </a:r>
            <a:r>
              <a:rPr lang="vi-VN" b="0"/>
              <a:t>không thể được kết hợp với các câu lệnh Transact-SQL khác trong một lô</a:t>
            </a:r>
            <a:r>
              <a:rPr lang="en-US" b="0"/>
              <a:t> đ</a:t>
            </a:r>
            <a:r>
              <a:rPr lang="vi-VN" b="0"/>
              <a:t>ơ</a:t>
            </a:r>
            <a:r>
              <a:rPr lang="en-US" b="0"/>
              <a:t>n</a:t>
            </a:r>
            <a:r>
              <a:rPr lang="vi-VN" b="0"/>
              <a:t>.</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9</a:t>
            </a:fld>
            <a:endParaRPr lang="en-US"/>
          </a:p>
        </p:txBody>
      </p:sp>
    </p:spTree>
    <p:extLst>
      <p:ext uri="{BB962C8B-B14F-4D97-AF65-F5344CB8AC3E}">
        <p14:creationId xmlns:p14="http://schemas.microsoft.com/office/powerpoint/2010/main" val="1475442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Sửa đổi dữ liệu thông qua </a:t>
            </a:r>
            <a:r>
              <a:rPr lang="en-US" b="1"/>
              <a:t>khung nhìn</a:t>
            </a:r>
          </a:p>
          <a:p>
            <a:pPr marL="171450" indent="-171450">
              <a:buFont typeface="Arial" panose="020B0604020202020204" pitchFamily="34" charset="0"/>
              <a:buChar char="•"/>
            </a:pPr>
            <a:r>
              <a:rPr lang="en-US" b="0"/>
              <a:t>Khung nhìn </a:t>
            </a:r>
            <a:r>
              <a:rPr lang="vi-VN" b="0"/>
              <a:t>có thể được sử dụng để sửa đổi dữ liệu trong các bảng cơ sở dữ liệu.</a:t>
            </a:r>
          </a:p>
          <a:p>
            <a:pPr marL="171450" indent="-171450">
              <a:buFont typeface="Arial" panose="020B0604020202020204" pitchFamily="34" charset="0"/>
              <a:buChar char="•"/>
            </a:pPr>
            <a:r>
              <a:rPr lang="vi-VN" b="0"/>
              <a:t>Dữ liệu có thể được </a:t>
            </a:r>
            <a:r>
              <a:rPr lang="en-US" b="0"/>
              <a:t>thêm</a:t>
            </a:r>
            <a:r>
              <a:rPr lang="vi-VN" b="0"/>
              <a:t>, sửa đổi hoặc xóa thông qua </a:t>
            </a:r>
            <a:r>
              <a:rPr lang="en-US" b="0"/>
              <a:t>một khung nhìn </a:t>
            </a:r>
            <a:r>
              <a:rPr lang="vi-VN" b="0"/>
              <a:t>bằng các câu lệnh sau:</a:t>
            </a:r>
            <a:endParaRPr lang="en-US" b="0"/>
          </a:p>
          <a:p>
            <a:pPr marL="628650" lvl="1" indent="-171450">
              <a:buFont typeface="Arial" panose="020B0604020202020204" pitchFamily="34" charset="0"/>
              <a:buChar char="•"/>
            </a:pPr>
            <a:r>
              <a:rPr lang="en-US"/>
              <a:t>INSERT</a:t>
            </a:r>
          </a:p>
          <a:p>
            <a:pPr marL="628650" lvl="1" indent="-171450">
              <a:buFont typeface="Arial" panose="020B0604020202020204" pitchFamily="34" charset="0"/>
              <a:buChar char="•"/>
            </a:pPr>
            <a:r>
              <a:rPr lang="en-US"/>
              <a:t>UPDATE</a:t>
            </a:r>
          </a:p>
          <a:p>
            <a:pPr marL="628650" lvl="1" indent="-171450">
              <a:buFont typeface="Arial" panose="020B0604020202020204" pitchFamily="34" charset="0"/>
              <a:buChar char="•"/>
            </a:pPr>
            <a:r>
              <a:rPr lang="en-US"/>
              <a:t>DELETE</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10</a:t>
            </a:fld>
            <a:endParaRPr lang="en-US"/>
          </a:p>
        </p:txBody>
      </p:sp>
    </p:spTree>
    <p:extLst>
      <p:ext uri="{BB962C8B-B14F-4D97-AF65-F5344CB8AC3E}">
        <p14:creationId xmlns:p14="http://schemas.microsoft.com/office/powerpoint/2010/main" val="7673702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Thêm</a:t>
            </a:r>
            <a:r>
              <a:rPr lang="vi-VN" b="1"/>
              <a:t> </a:t>
            </a:r>
            <a:r>
              <a:rPr lang="en-US" b="1"/>
              <a:t>bằng</a:t>
            </a:r>
            <a:r>
              <a:rPr lang="vi-VN" b="1"/>
              <a:t> </a:t>
            </a:r>
            <a:r>
              <a:rPr lang="en-US" b="1"/>
              <a:t>Khung nhìn</a:t>
            </a:r>
          </a:p>
          <a:p>
            <a:pPr marL="171450" indent="-171450">
              <a:buFont typeface="Arial" panose="020B0604020202020204" pitchFamily="34" charset="0"/>
              <a:buChar char="•"/>
            </a:pPr>
            <a:r>
              <a:rPr lang="vi-VN" b="0"/>
              <a:t>Câu lệnh </a:t>
            </a:r>
            <a:r>
              <a:rPr lang="en-US" sz="1200" spc="25">
                <a:solidFill>
                  <a:srgbClr val="FFFFFF"/>
                </a:solidFill>
                <a:latin typeface="Arial"/>
                <a:cs typeface="Arial"/>
              </a:rPr>
              <a:t>INSERT</a:t>
            </a:r>
            <a:r>
              <a:rPr lang="vi-VN" b="0"/>
              <a:t> được sử dụng để thêm một hàng mới vào </a:t>
            </a:r>
            <a:r>
              <a:rPr lang="en-US" b="0"/>
              <a:t>một </a:t>
            </a:r>
            <a:r>
              <a:rPr lang="vi-VN" b="0"/>
              <a:t>bảng hoặc </a:t>
            </a:r>
            <a:r>
              <a:rPr lang="en-US" b="0"/>
              <a:t>khung nhìn</a:t>
            </a:r>
            <a:r>
              <a:rPr lang="vi-VN" b="0"/>
              <a:t>.</a:t>
            </a:r>
          </a:p>
          <a:p>
            <a:pPr marL="171450" indent="-171450">
              <a:buFont typeface="Arial" panose="020B0604020202020204" pitchFamily="34" charset="0"/>
              <a:buChar char="•"/>
            </a:pPr>
            <a:r>
              <a:rPr lang="vi-VN" b="0"/>
              <a:t>Trong quá trình thực thi câu lệnh, nếu giá trị cho một cột </a:t>
            </a:r>
            <a:r>
              <a:rPr lang="en-US" b="0"/>
              <a:t>k</a:t>
            </a:r>
            <a:r>
              <a:rPr lang="vi-VN" b="0"/>
              <a:t>hông được cung cấp, </a:t>
            </a:r>
            <a:r>
              <a:rPr lang="en-US" sz="1200" b="1" spc="25">
                <a:solidFill>
                  <a:srgbClr val="FFFFFF"/>
                </a:solidFill>
                <a:latin typeface="Arial"/>
                <a:cs typeface="Arial"/>
              </a:rPr>
              <a:t>SQL </a:t>
            </a:r>
            <a:r>
              <a:rPr lang="en-US" sz="1200" b="1" spc="-55">
                <a:solidFill>
                  <a:srgbClr val="FFFFFF"/>
                </a:solidFill>
                <a:latin typeface="Arial"/>
                <a:cs typeface="Arial"/>
              </a:rPr>
              <a:t>Server </a:t>
            </a:r>
            <a:r>
              <a:rPr lang="en-US" sz="1200" b="1" spc="-100">
                <a:solidFill>
                  <a:srgbClr val="FFFFFF"/>
                </a:solidFill>
                <a:latin typeface="Arial"/>
                <a:cs typeface="Arial"/>
              </a:rPr>
              <a:t>Database </a:t>
            </a:r>
            <a:r>
              <a:rPr lang="en-US" sz="1200" b="1" spc="-35">
                <a:solidFill>
                  <a:srgbClr val="FFFFFF"/>
                </a:solidFill>
                <a:latin typeface="Arial"/>
                <a:cs typeface="Arial"/>
              </a:rPr>
              <a:t>Engine </a:t>
            </a:r>
            <a:r>
              <a:rPr lang="vi-VN" b="0"/>
              <a:t>phải cung cấp một giá trị dựa trên định nghĩa của cột.</a:t>
            </a:r>
          </a:p>
          <a:p>
            <a:pPr marL="171450" indent="-171450">
              <a:buFont typeface="Arial" panose="020B0604020202020204" pitchFamily="34" charset="0"/>
              <a:buChar char="•"/>
            </a:pPr>
            <a:r>
              <a:rPr lang="vi-VN" b="0"/>
              <a:t>Giá trị cho cột được cung cấp tự động nếu cột:</a:t>
            </a:r>
            <a:endParaRPr lang="en-US" b="0"/>
          </a:p>
          <a:p>
            <a:pPr marL="628650" lvl="1" indent="-171450">
              <a:buFont typeface="Arial" panose="020B0604020202020204" pitchFamily="34" charset="0"/>
              <a:buChar char="•"/>
            </a:pPr>
            <a:r>
              <a:rPr lang="en-US"/>
              <a:t>Có một thuộc tính IDENTITY</a:t>
            </a:r>
          </a:p>
          <a:p>
            <a:pPr marL="628650" lvl="1" indent="-171450">
              <a:buFont typeface="Arial" panose="020B0604020202020204" pitchFamily="34" charset="0"/>
              <a:buChar char="•"/>
            </a:pPr>
            <a:r>
              <a:rPr lang="en-US" b="0"/>
              <a:t>Có một giá trị mặc định đ</a:t>
            </a:r>
            <a:r>
              <a:rPr lang="vi-VN" b="0"/>
              <a:t>ư</a:t>
            </a:r>
            <a:r>
              <a:rPr lang="en-US" b="0"/>
              <a:t>ợc xác định</a:t>
            </a:r>
          </a:p>
          <a:p>
            <a:pPr marL="628650" lvl="1" indent="-171450">
              <a:buFont typeface="Arial" panose="020B0604020202020204" pitchFamily="34" charset="0"/>
              <a:buChar char="•"/>
            </a:pPr>
            <a:r>
              <a:rPr lang="en-US" b="0"/>
              <a:t>Có một kiểu dữ liệu timestamp</a:t>
            </a:r>
          </a:p>
          <a:p>
            <a:pPr marL="628650" lvl="1" indent="-171450">
              <a:buFont typeface="Arial" panose="020B0604020202020204" pitchFamily="34" charset="0"/>
              <a:buChar char="•"/>
            </a:pPr>
            <a:r>
              <a:rPr lang="en-US" b="0"/>
              <a:t>Lấy giá trị null</a:t>
            </a:r>
          </a:p>
          <a:p>
            <a:pPr marL="628650" lvl="1" indent="-171450">
              <a:buFont typeface="Arial" panose="020B0604020202020204" pitchFamily="34" charset="0"/>
              <a:buChar char="•"/>
            </a:pPr>
            <a:r>
              <a:rPr lang="en-US" b="0"/>
              <a:t>Là một cột tính toán</a:t>
            </a:r>
          </a:p>
        </p:txBody>
      </p:sp>
      <p:sp>
        <p:nvSpPr>
          <p:cNvPr id="4" name="Slide Number Placeholder 3"/>
          <p:cNvSpPr>
            <a:spLocks noGrp="1"/>
          </p:cNvSpPr>
          <p:nvPr>
            <p:ph type="sldNum" sz="quarter" idx="5"/>
          </p:nvPr>
        </p:nvSpPr>
        <p:spPr/>
        <p:txBody>
          <a:bodyPr/>
          <a:lstStyle/>
          <a:p>
            <a:fld id="{C2E80F57-2801-4EB6-B05D-E7FC9F9974FA}" type="slidenum">
              <a:rPr lang="en-US" smtClean="0"/>
              <a:t>11</a:t>
            </a:fld>
            <a:endParaRPr lang="en-US"/>
          </a:p>
        </p:txBody>
      </p:sp>
    </p:spTree>
    <p:extLst>
      <p:ext uri="{BB962C8B-B14F-4D97-AF65-F5344CB8AC3E}">
        <p14:creationId xmlns:p14="http://schemas.microsoft.com/office/powerpoint/2010/main" val="39780164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Thêm</a:t>
            </a:r>
            <a:r>
              <a:rPr lang="vi-VN" b="1"/>
              <a:t> </a:t>
            </a:r>
            <a:r>
              <a:rPr lang="en-US" b="1"/>
              <a:t>bằng</a:t>
            </a:r>
            <a:r>
              <a:rPr lang="vi-VN" b="1"/>
              <a:t> </a:t>
            </a:r>
            <a:r>
              <a:rPr lang="en-US" b="1"/>
              <a:t>Khung nhìn</a:t>
            </a:r>
          </a:p>
        </p:txBody>
      </p:sp>
      <p:sp>
        <p:nvSpPr>
          <p:cNvPr id="4" name="Slide Number Placeholder 3"/>
          <p:cNvSpPr>
            <a:spLocks noGrp="1"/>
          </p:cNvSpPr>
          <p:nvPr>
            <p:ph type="sldNum" sz="quarter" idx="5"/>
          </p:nvPr>
        </p:nvSpPr>
        <p:spPr/>
        <p:txBody>
          <a:bodyPr/>
          <a:lstStyle/>
          <a:p>
            <a:fld id="{C2E80F57-2801-4EB6-B05D-E7FC9F9974FA}" type="slidenum">
              <a:rPr lang="en-US" smtClean="0"/>
              <a:t>12</a:t>
            </a:fld>
            <a:endParaRPr lang="en-US"/>
          </a:p>
        </p:txBody>
      </p:sp>
    </p:spTree>
    <p:extLst>
      <p:ext uri="{BB962C8B-B14F-4D97-AF65-F5344CB8AC3E}">
        <p14:creationId xmlns:p14="http://schemas.microsoft.com/office/powerpoint/2010/main" val="1909350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Cập nhật</a:t>
            </a:r>
            <a:r>
              <a:rPr lang="vi-VN" b="1"/>
              <a:t> </a:t>
            </a:r>
            <a:r>
              <a:rPr lang="en-US" b="1"/>
              <a:t>bằng</a:t>
            </a:r>
            <a:r>
              <a:rPr lang="vi-VN" b="1"/>
              <a:t> </a:t>
            </a:r>
            <a:r>
              <a:rPr lang="en-US" b="1"/>
              <a:t>Khung nhìn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Câu lệnh </a:t>
            </a:r>
            <a:r>
              <a:rPr lang="en-US" sz="1200" b="1" spc="90">
                <a:latin typeface="Arial"/>
                <a:cs typeface="Arial"/>
              </a:rPr>
              <a:t>UPDATE</a:t>
            </a:r>
            <a:r>
              <a:rPr lang="en-US" sz="1200" spc="90">
                <a:latin typeface="Arial"/>
                <a:cs typeface="Arial"/>
              </a:rPr>
              <a:t> </a:t>
            </a:r>
            <a:r>
              <a:rPr lang="vi-VN" b="0"/>
              <a:t>có thể được sử dụng để thay đổi dữ liệu trong một khung nhìn.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Cập nhật </a:t>
            </a:r>
            <a:r>
              <a:rPr lang="en-US" b="0"/>
              <a:t>một khung nhìn </a:t>
            </a:r>
            <a:r>
              <a:rPr lang="vi-VN" b="0"/>
              <a:t>cũng cập nhật bảng bên dưới.</a:t>
            </a:r>
            <a:endParaRPr lang="en-US"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Giá trị của một cột với một thuộc tính </a:t>
            </a:r>
            <a:r>
              <a:rPr lang="en-US" sz="1200" b="1" spc="-5">
                <a:solidFill>
                  <a:srgbClr val="FFFFFF"/>
                </a:solidFill>
                <a:latin typeface="Calibri"/>
                <a:cs typeface="Calibri"/>
              </a:rPr>
              <a:t>IDENTITY</a:t>
            </a:r>
            <a:r>
              <a:rPr lang="en-US" sz="1200" spc="-5">
                <a:solidFill>
                  <a:srgbClr val="FFFFFF"/>
                </a:solidFill>
                <a:latin typeface="Calibri"/>
                <a:cs typeface="Calibri"/>
              </a:rPr>
              <a:t> </a:t>
            </a:r>
            <a:r>
              <a:rPr lang="vi-VN" b="0"/>
              <a:t>không thể được cập nhật.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Các mẫu tin </a:t>
            </a:r>
            <a:r>
              <a:rPr lang="vi-VN" b="0"/>
              <a:t>không thể được cập nhật nếu bảng cơ sở chứa cột </a:t>
            </a:r>
            <a:r>
              <a:rPr lang="en-US" sz="1200" b="1" spc="-25">
                <a:solidFill>
                  <a:srgbClr val="FFFFFF"/>
                </a:solidFill>
                <a:latin typeface="Calibri"/>
                <a:cs typeface="Calibri"/>
              </a:rPr>
              <a:t>TIMESTAMP</a:t>
            </a:r>
            <a:r>
              <a:rPr lang="vi-VN" b="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Khi có </a:t>
            </a:r>
            <a:r>
              <a:rPr lang="en-US" sz="1200" spc="-5">
                <a:solidFill>
                  <a:srgbClr val="FFFFFF"/>
                </a:solidFill>
                <a:latin typeface="Calibri"/>
                <a:cs typeface="Calibri"/>
              </a:rPr>
              <a:t>một </a:t>
            </a:r>
            <a:r>
              <a:rPr lang="en-US" sz="1200" b="1" spc="-5">
                <a:solidFill>
                  <a:srgbClr val="FFFFFF"/>
                </a:solidFill>
                <a:latin typeface="Calibri"/>
                <a:cs typeface="Calibri"/>
              </a:rPr>
              <a:t>self-join</a:t>
            </a:r>
            <a:r>
              <a:rPr lang="en-US" sz="1200" spc="-5">
                <a:solidFill>
                  <a:srgbClr val="FFFFFF"/>
                </a:solidFill>
                <a:latin typeface="Calibri"/>
                <a:cs typeface="Calibri"/>
              </a:rPr>
              <a:t> </a:t>
            </a:r>
            <a:r>
              <a:rPr lang="vi-VN" b="0"/>
              <a:t>với cùng một khung nhìn hoặc bảng gốc, câu lệnh </a:t>
            </a:r>
            <a:r>
              <a:rPr lang="en-US" sz="1200" b="1" spc="-30">
                <a:solidFill>
                  <a:srgbClr val="FFFFFF"/>
                </a:solidFill>
                <a:latin typeface="Calibri"/>
                <a:cs typeface="Calibri"/>
              </a:rPr>
              <a:t>UPDATE</a:t>
            </a:r>
            <a:r>
              <a:rPr lang="en-US" sz="1200" spc="-30">
                <a:solidFill>
                  <a:srgbClr val="FFFFFF"/>
                </a:solidFill>
                <a:latin typeface="Calibri"/>
                <a:cs typeface="Calibri"/>
              </a:rPr>
              <a:t> </a:t>
            </a:r>
            <a:r>
              <a:rPr lang="vi-VN" b="0"/>
              <a:t>không hoạt động.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Trong khi cập nhật một hàng, nếu vi phạm ràng buộc hoặc quy tắc, câu lệnh bị chấm dứt, một lỗi được trả về và không có bản ghi nào được cập nhật.</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13</a:t>
            </a:fld>
            <a:endParaRPr lang="en-US"/>
          </a:p>
        </p:txBody>
      </p:sp>
    </p:spTree>
    <p:extLst>
      <p:ext uri="{BB962C8B-B14F-4D97-AF65-F5344CB8AC3E}">
        <p14:creationId xmlns:p14="http://schemas.microsoft.com/office/powerpoint/2010/main" val="2390193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Cập nhật</a:t>
            </a:r>
            <a:r>
              <a:rPr lang="vi-VN" b="1"/>
              <a:t> </a:t>
            </a:r>
            <a:r>
              <a:rPr lang="en-US" b="1"/>
              <a:t>bằng</a:t>
            </a:r>
            <a:r>
              <a:rPr lang="vi-VN" b="1"/>
              <a:t> </a:t>
            </a:r>
            <a:r>
              <a:rPr lang="en-US" b="1"/>
              <a:t>Khung nhìn</a:t>
            </a:r>
          </a:p>
        </p:txBody>
      </p:sp>
      <p:sp>
        <p:nvSpPr>
          <p:cNvPr id="4" name="Slide Number Placeholder 3"/>
          <p:cNvSpPr>
            <a:spLocks noGrp="1"/>
          </p:cNvSpPr>
          <p:nvPr>
            <p:ph type="sldNum" sz="quarter" idx="5"/>
          </p:nvPr>
        </p:nvSpPr>
        <p:spPr/>
        <p:txBody>
          <a:bodyPr/>
          <a:lstStyle/>
          <a:p>
            <a:fld id="{C2E80F57-2801-4EB6-B05D-E7FC9F9974FA}" type="slidenum">
              <a:rPr lang="en-US" smtClean="0"/>
              <a:t>14</a:t>
            </a:fld>
            <a:endParaRPr lang="en-US"/>
          </a:p>
        </p:txBody>
      </p:sp>
    </p:spTree>
    <p:extLst>
      <p:ext uri="{BB962C8B-B14F-4D97-AF65-F5344CB8AC3E}">
        <p14:creationId xmlns:p14="http://schemas.microsoft.com/office/powerpoint/2010/main" val="25717189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Xóa bằng</a:t>
            </a:r>
            <a:r>
              <a:rPr lang="vi-VN" b="1"/>
              <a:t> </a:t>
            </a:r>
            <a:r>
              <a:rPr lang="en-US" b="1"/>
              <a:t>Khung nhìn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SQL Server cho phép bạn xóa các hàng </a:t>
            </a:r>
            <a:r>
              <a:rPr lang="en-US" b="0"/>
              <a:t>từ một khung nhìn</a:t>
            </a:r>
            <a:r>
              <a:rPr lang="vi-VN" b="0"/>
              <a:t>. Các hàng có thể bị xóa </a:t>
            </a:r>
            <a:r>
              <a:rPr lang="en-US" b="0"/>
              <a:t>từ khung nhìn </a:t>
            </a:r>
            <a:r>
              <a:rPr lang="vi-VN" b="0"/>
              <a:t>bằng cách sử dụng câu lệnh </a:t>
            </a:r>
            <a:r>
              <a:rPr lang="en-US" sz="1200" b="1" spc="5">
                <a:solidFill>
                  <a:srgbClr val="FFFFFF"/>
                </a:solidFill>
                <a:latin typeface="Arial"/>
                <a:cs typeface="Arial"/>
              </a:rPr>
              <a:t>DELETE</a:t>
            </a:r>
            <a:endParaRPr lang="vi-VN" b="1"/>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Khi các hàng bị xóa </a:t>
            </a:r>
            <a:r>
              <a:rPr lang="en-US" b="0"/>
              <a:t>từ một khung</a:t>
            </a:r>
            <a:r>
              <a:rPr lang="vi-VN" b="0"/>
              <a:t> nhìn, các hàng tương ứng cũng</a:t>
            </a:r>
            <a:r>
              <a:rPr lang="en-US" b="0"/>
              <a:t> bị xóa từ bảng gốc.</a:t>
            </a:r>
            <a:endParaRPr lang="en-US"/>
          </a:p>
        </p:txBody>
      </p:sp>
      <p:sp>
        <p:nvSpPr>
          <p:cNvPr id="4" name="Slide Number Placeholder 3"/>
          <p:cNvSpPr>
            <a:spLocks noGrp="1"/>
          </p:cNvSpPr>
          <p:nvPr>
            <p:ph type="sldNum" sz="quarter" idx="5"/>
          </p:nvPr>
        </p:nvSpPr>
        <p:spPr/>
        <p:txBody>
          <a:bodyPr/>
          <a:lstStyle/>
          <a:p>
            <a:fld id="{C2E80F57-2801-4EB6-B05D-E7FC9F9974FA}" type="slidenum">
              <a:rPr lang="en-US" smtClean="0"/>
              <a:t>15</a:t>
            </a:fld>
            <a:endParaRPr lang="en-US"/>
          </a:p>
        </p:txBody>
      </p:sp>
    </p:spTree>
    <p:extLst>
      <p:ext uri="{BB962C8B-B14F-4D97-AF65-F5344CB8AC3E}">
        <p14:creationId xmlns:p14="http://schemas.microsoft.com/office/powerpoint/2010/main" val="4223924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Xóa bằng</a:t>
            </a:r>
            <a:r>
              <a:rPr lang="vi-VN" b="1"/>
              <a:t> </a:t>
            </a:r>
            <a:r>
              <a:rPr lang="en-US" b="1"/>
              <a:t>Khung nhìn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SQL Server cho phép bạn xóa các hàng </a:t>
            </a:r>
            <a:r>
              <a:rPr lang="en-US" b="0"/>
              <a:t>từ một khung nhìn</a:t>
            </a:r>
            <a:r>
              <a:rPr lang="vi-VN" b="0"/>
              <a:t>. Các hàng có thể bị xóa </a:t>
            </a:r>
            <a:r>
              <a:rPr lang="en-US" b="0"/>
              <a:t>từ khung nhìn </a:t>
            </a:r>
            <a:r>
              <a:rPr lang="vi-VN" b="0"/>
              <a:t>bằng cách sử dụng câu lệnh </a:t>
            </a:r>
            <a:r>
              <a:rPr lang="en-US" sz="1200" b="1" spc="5">
                <a:solidFill>
                  <a:srgbClr val="FFFFFF"/>
                </a:solidFill>
                <a:latin typeface="Arial"/>
                <a:cs typeface="Arial"/>
              </a:rPr>
              <a:t>DELETE</a:t>
            </a:r>
            <a:endParaRPr lang="vi-VN" b="1"/>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Khi các hàng bị xóa </a:t>
            </a:r>
            <a:r>
              <a:rPr lang="en-US" b="0"/>
              <a:t>từ một khung</a:t>
            </a:r>
            <a:r>
              <a:rPr lang="vi-VN" b="0"/>
              <a:t> nhìn, các hàng tương ứng cũng</a:t>
            </a:r>
            <a:r>
              <a:rPr lang="en-US" b="0"/>
              <a:t> bị xóa từ bảng gốc.</a:t>
            </a:r>
            <a:endParaRPr lang="en-US"/>
          </a:p>
        </p:txBody>
      </p:sp>
      <p:sp>
        <p:nvSpPr>
          <p:cNvPr id="4" name="Slide Number Placeholder 3"/>
          <p:cNvSpPr>
            <a:spLocks noGrp="1"/>
          </p:cNvSpPr>
          <p:nvPr>
            <p:ph type="sldNum" sz="quarter" idx="5"/>
          </p:nvPr>
        </p:nvSpPr>
        <p:spPr/>
        <p:txBody>
          <a:bodyPr/>
          <a:lstStyle/>
          <a:p>
            <a:fld id="{C2E80F57-2801-4EB6-B05D-E7FC9F9974FA}" type="slidenum">
              <a:rPr lang="en-US" smtClean="0"/>
              <a:t>16</a:t>
            </a:fld>
            <a:endParaRPr lang="en-US"/>
          </a:p>
        </p:txBody>
      </p:sp>
    </p:spTree>
    <p:extLst>
      <p:ext uri="{BB962C8B-B14F-4D97-AF65-F5344CB8AC3E}">
        <p14:creationId xmlns:p14="http://schemas.microsoft.com/office/powerpoint/2010/main" val="9389996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Thay đổi khung nhìn</a:t>
            </a:r>
          </a:p>
          <a:p>
            <a:pPr marL="171450" indent="-171450">
              <a:buFont typeface="Arial" panose="020B0604020202020204" pitchFamily="34" charset="0"/>
              <a:buChar char="•"/>
            </a:pPr>
            <a:r>
              <a:rPr lang="en-US"/>
              <a:t>Một khung nhìn </a:t>
            </a:r>
            <a:r>
              <a:rPr lang="vi-VN"/>
              <a:t>có thể được sửa đổi hoặc thay đổi bằng cách </a:t>
            </a:r>
            <a:r>
              <a:rPr lang="en-US"/>
              <a:t>xóa</a:t>
            </a:r>
            <a:r>
              <a:rPr lang="vi-VN"/>
              <a:t> và tạo lại hoặc thực hiện câu lệnh </a:t>
            </a:r>
            <a:r>
              <a:rPr lang="en-US" sz="1200" b="1" spc="100">
                <a:solidFill>
                  <a:srgbClr val="FFFFFF"/>
                </a:solidFill>
                <a:latin typeface="Arial"/>
                <a:cs typeface="Arial"/>
              </a:rPr>
              <a:t>ALTER</a:t>
            </a:r>
            <a:r>
              <a:rPr lang="en-US" sz="1200" b="1" spc="-150">
                <a:solidFill>
                  <a:srgbClr val="FFFFFF"/>
                </a:solidFill>
                <a:latin typeface="Arial"/>
                <a:cs typeface="Arial"/>
              </a:rPr>
              <a:t> </a:t>
            </a:r>
            <a:r>
              <a:rPr lang="en-US" sz="1200" b="1" spc="175">
                <a:solidFill>
                  <a:srgbClr val="FFFFFF"/>
                </a:solidFill>
                <a:latin typeface="Arial"/>
                <a:cs typeface="Arial"/>
              </a:rPr>
              <a:t>VIEW</a:t>
            </a:r>
          </a:p>
          <a:p>
            <a:pPr marL="171450" indent="-171450">
              <a:buFont typeface="Arial" panose="020B0604020202020204" pitchFamily="34" charset="0"/>
              <a:buChar char="•"/>
            </a:pPr>
            <a:r>
              <a:rPr lang="en-US" sz="1200" b="1" spc="100">
                <a:solidFill>
                  <a:srgbClr val="FFFFFF"/>
                </a:solidFill>
                <a:latin typeface="Arial"/>
                <a:cs typeface="Arial"/>
              </a:rPr>
              <a:t>ALTER</a:t>
            </a:r>
            <a:r>
              <a:rPr lang="en-US" sz="1200" b="1" spc="-120">
                <a:solidFill>
                  <a:srgbClr val="FFFFFF"/>
                </a:solidFill>
                <a:latin typeface="Arial"/>
                <a:cs typeface="Arial"/>
              </a:rPr>
              <a:t> </a:t>
            </a:r>
            <a:r>
              <a:rPr lang="en-US" sz="1200" b="1" spc="175">
                <a:solidFill>
                  <a:srgbClr val="FFFFFF"/>
                </a:solidFill>
                <a:latin typeface="Arial"/>
                <a:cs typeface="Arial"/>
              </a:rPr>
              <a:t>VIEW</a:t>
            </a:r>
            <a:r>
              <a:rPr lang="en-US" sz="1200" b="1" spc="-125">
                <a:solidFill>
                  <a:srgbClr val="FFFFFF"/>
                </a:solidFill>
                <a:latin typeface="Arial"/>
                <a:cs typeface="Arial"/>
              </a:rPr>
              <a:t> </a:t>
            </a:r>
            <a:r>
              <a:rPr lang="vi-VN" b="0"/>
              <a:t>có thể được áp dụng cho các khung nhìn được lập chỉ mục; Tuy nhiên, nó </a:t>
            </a:r>
            <a:r>
              <a:rPr lang="en-US" b="0"/>
              <a:t>xóa</a:t>
            </a:r>
            <a:r>
              <a:rPr lang="vi-VN" b="0"/>
              <a:t> vô điều kiện tất cả các chỉ mục trên khung nhìn.</a:t>
            </a:r>
            <a:endParaRPr lang="en-US" b="0"/>
          </a:p>
          <a:p>
            <a:pPr marL="171450" indent="-171450">
              <a:buFont typeface="Arial" panose="020B0604020202020204" pitchFamily="34" charset="0"/>
              <a:buChar char="•"/>
            </a:pPr>
            <a:r>
              <a:rPr lang="en-US" b="0"/>
              <a:t>Khung nhìn </a:t>
            </a:r>
            <a:r>
              <a:rPr lang="vi-VN" b="0"/>
              <a:t>thường bị thay đổi khi người dùng yêu cầu thông tin bổ sung hoặc thực hiện các thay đổi trong định nghĩa bảng bên dưới</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17</a:t>
            </a:fld>
            <a:endParaRPr lang="en-US"/>
          </a:p>
        </p:txBody>
      </p:sp>
    </p:spTree>
    <p:extLst>
      <p:ext uri="{BB962C8B-B14F-4D97-AF65-F5344CB8AC3E}">
        <p14:creationId xmlns:p14="http://schemas.microsoft.com/office/powerpoint/2010/main" val="17564047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Thay đổi khung nhìn</a:t>
            </a:r>
          </a:p>
        </p:txBody>
      </p:sp>
      <p:sp>
        <p:nvSpPr>
          <p:cNvPr id="4" name="Slide Number Placeholder 3"/>
          <p:cNvSpPr>
            <a:spLocks noGrp="1"/>
          </p:cNvSpPr>
          <p:nvPr>
            <p:ph type="sldNum" sz="quarter" idx="5"/>
          </p:nvPr>
        </p:nvSpPr>
        <p:spPr/>
        <p:txBody>
          <a:bodyPr/>
          <a:lstStyle/>
          <a:p>
            <a:fld id="{C2E80F57-2801-4EB6-B05D-E7FC9F9974FA}" type="slidenum">
              <a:rPr lang="en-US" smtClean="0"/>
              <a:t>18</a:t>
            </a:fld>
            <a:endParaRPr lang="en-US"/>
          </a:p>
        </p:txBody>
      </p:sp>
    </p:spTree>
    <p:extLst>
      <p:ext uri="{BB962C8B-B14F-4D97-AF65-F5344CB8AC3E}">
        <p14:creationId xmlns:p14="http://schemas.microsoft.com/office/powerpoint/2010/main" val="628552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Xóa khung nhìn</a:t>
            </a:r>
          </a:p>
          <a:p>
            <a:pPr marL="171450" indent="-171450">
              <a:buFont typeface="Arial" panose="020B0604020202020204" pitchFamily="34" charset="0"/>
              <a:buChar char="•"/>
            </a:pPr>
            <a:r>
              <a:rPr lang="vi-VN"/>
              <a:t>Một </a:t>
            </a:r>
            <a:r>
              <a:rPr lang="en-US"/>
              <a:t>khung nhìn </a:t>
            </a:r>
            <a:r>
              <a:rPr lang="vi-VN"/>
              <a:t>có thể được </a:t>
            </a:r>
            <a:r>
              <a:rPr lang="en-US"/>
              <a:t>xóa</a:t>
            </a:r>
            <a:r>
              <a:rPr lang="vi-VN"/>
              <a:t> bỏ khỏi cơ sở dữ liệu nếu nó là</a:t>
            </a:r>
            <a:r>
              <a:rPr lang="en-US"/>
              <a:t> </a:t>
            </a:r>
            <a:r>
              <a:rPr lang="vi-VN"/>
              <a:t>không còn cần thiết</a:t>
            </a:r>
            <a:r>
              <a:rPr lang="en-US"/>
              <a:t>.</a:t>
            </a:r>
            <a:r>
              <a:rPr lang="vi-VN"/>
              <a:t> Điều này được thực hiện bằng cách sử dụng câu lệnh </a:t>
            </a:r>
            <a:r>
              <a:rPr lang="en-US" sz="1200" b="1" spc="20">
                <a:solidFill>
                  <a:srgbClr val="FFFFFF"/>
                </a:solidFill>
                <a:latin typeface="Arial"/>
                <a:cs typeface="Arial"/>
              </a:rPr>
              <a:t>DROP  </a:t>
            </a:r>
            <a:r>
              <a:rPr lang="en-US" sz="1200" b="1" spc="175">
                <a:solidFill>
                  <a:srgbClr val="FFFFFF"/>
                </a:solidFill>
                <a:latin typeface="Arial"/>
                <a:cs typeface="Arial"/>
              </a:rPr>
              <a:t>VIEW</a:t>
            </a:r>
          </a:p>
          <a:p>
            <a:pPr marL="171450" indent="-171450">
              <a:buFont typeface="Arial" panose="020B0604020202020204" pitchFamily="34" charset="0"/>
              <a:buChar char="•"/>
            </a:pPr>
            <a:r>
              <a:rPr lang="en-US" b="0"/>
              <a:t>Định nghĩa của khung nhìn và thông tin khác liên quan đến khung nhìn bị xóa khỏi danh mục hệ thống.</a:t>
            </a:r>
          </a:p>
        </p:txBody>
      </p:sp>
      <p:sp>
        <p:nvSpPr>
          <p:cNvPr id="4" name="Slide Number Placeholder 3"/>
          <p:cNvSpPr>
            <a:spLocks noGrp="1"/>
          </p:cNvSpPr>
          <p:nvPr>
            <p:ph type="sldNum" sz="quarter" idx="5"/>
          </p:nvPr>
        </p:nvSpPr>
        <p:spPr/>
        <p:txBody>
          <a:bodyPr/>
          <a:lstStyle/>
          <a:p>
            <a:fld id="{C2E80F57-2801-4EB6-B05D-E7FC9F9974FA}" type="slidenum">
              <a:rPr lang="en-US" smtClean="0"/>
              <a:t>19</a:t>
            </a:fld>
            <a:endParaRPr lang="en-US"/>
          </a:p>
        </p:txBody>
      </p:sp>
    </p:spTree>
    <p:extLst>
      <p:ext uri="{BB962C8B-B14F-4D97-AF65-F5344CB8AC3E}">
        <p14:creationId xmlns:p14="http://schemas.microsoft.com/office/powerpoint/2010/main" val="1462698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Xem định nghĩa của một khung nhìn</a:t>
            </a:r>
          </a:p>
          <a:p>
            <a:pPr marL="171450" indent="-171450">
              <a:buFont typeface="Arial" panose="020B0604020202020204" pitchFamily="34" charset="0"/>
              <a:buChar char="•"/>
            </a:pPr>
            <a:r>
              <a:rPr lang="en-US"/>
              <a:t>Xem định nghĩa </a:t>
            </a:r>
            <a:r>
              <a:rPr lang="vi-VN"/>
              <a:t>của một </a:t>
            </a:r>
            <a:r>
              <a:rPr lang="en-US"/>
              <a:t>khung nhìn </a:t>
            </a:r>
            <a:r>
              <a:rPr lang="vi-VN"/>
              <a:t>giúp hiểu cách dữ liệu của nó được lấy từ các bảng nguồn</a:t>
            </a:r>
            <a:endParaRPr lang="en-US"/>
          </a:p>
        </p:txBody>
      </p:sp>
      <p:sp>
        <p:nvSpPr>
          <p:cNvPr id="4" name="Slide Number Placeholder 3"/>
          <p:cNvSpPr>
            <a:spLocks noGrp="1"/>
          </p:cNvSpPr>
          <p:nvPr>
            <p:ph type="sldNum" sz="quarter" idx="5"/>
          </p:nvPr>
        </p:nvSpPr>
        <p:spPr/>
        <p:txBody>
          <a:bodyPr/>
          <a:lstStyle/>
          <a:p>
            <a:fld id="{C2E80F57-2801-4EB6-B05D-E7FC9F9974FA}" type="slidenum">
              <a:rPr lang="en-US" smtClean="0"/>
              <a:t>20</a:t>
            </a:fld>
            <a:endParaRPr lang="en-US"/>
          </a:p>
        </p:txBody>
      </p:sp>
    </p:spTree>
    <p:extLst>
      <p:ext uri="{BB962C8B-B14F-4D97-AF65-F5344CB8AC3E}">
        <p14:creationId xmlns:p14="http://schemas.microsoft.com/office/powerpoint/2010/main" val="30442775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Tạo khung nhìn bằng các hàm tích hợp</a:t>
            </a:r>
          </a:p>
          <a:p>
            <a:pPr marL="171450" indent="-171450">
              <a:buFont typeface="Arial" panose="020B0604020202020204" pitchFamily="34" charset="0"/>
              <a:buChar char="•"/>
            </a:pPr>
            <a:r>
              <a:rPr lang="en-US" b="0"/>
              <a:t>Khung nhìn </a:t>
            </a:r>
            <a:r>
              <a:rPr lang="vi-VN" b="0"/>
              <a:t>có thể được tạo bằng cách sử dụng các </a:t>
            </a:r>
            <a:r>
              <a:rPr lang="en-US" b="0"/>
              <a:t>hàm </a:t>
            </a:r>
            <a:r>
              <a:rPr lang="vi-VN" b="0"/>
              <a:t>tích hợp của SQL</a:t>
            </a:r>
            <a:r>
              <a:rPr lang="en-US" b="0"/>
              <a:t> Server.</a:t>
            </a:r>
          </a:p>
          <a:p>
            <a:pPr marL="171450" indent="-171450">
              <a:buFont typeface="Arial" panose="020B0604020202020204" pitchFamily="34" charset="0"/>
              <a:buChar char="•"/>
            </a:pPr>
            <a:r>
              <a:rPr lang="vi-VN" b="0"/>
              <a:t>Khi các hàm được sử dụng, cột dẫn xuất phải</a:t>
            </a:r>
            <a:r>
              <a:rPr lang="en-US" b="0"/>
              <a:t> b</a:t>
            </a:r>
            <a:r>
              <a:rPr lang="vi-VN" b="0"/>
              <a:t>ao gồm tên cột trong câu lệnh </a:t>
            </a:r>
            <a:r>
              <a:rPr lang="vi-VN" b="1"/>
              <a:t>CREATE V</a:t>
            </a:r>
            <a:r>
              <a:rPr lang="en-US" b="1"/>
              <a:t>I</a:t>
            </a:r>
            <a:r>
              <a:rPr lang="vi-VN" b="1"/>
              <a:t>EW</a:t>
            </a:r>
            <a:endParaRPr lang="en-US" b="1"/>
          </a:p>
        </p:txBody>
      </p:sp>
      <p:sp>
        <p:nvSpPr>
          <p:cNvPr id="4" name="Slide Number Placeholder 3"/>
          <p:cNvSpPr>
            <a:spLocks noGrp="1"/>
          </p:cNvSpPr>
          <p:nvPr>
            <p:ph type="sldNum" sz="quarter" idx="5"/>
          </p:nvPr>
        </p:nvSpPr>
        <p:spPr/>
        <p:txBody>
          <a:bodyPr/>
          <a:lstStyle/>
          <a:p>
            <a:fld id="{C2E80F57-2801-4EB6-B05D-E7FC9F9974FA}" type="slidenum">
              <a:rPr lang="en-US" smtClean="0"/>
              <a:t>21</a:t>
            </a:fld>
            <a:endParaRPr lang="en-US"/>
          </a:p>
        </p:txBody>
      </p:sp>
    </p:spTree>
    <p:extLst>
      <p:ext uri="{BB962C8B-B14F-4D97-AF65-F5344CB8AC3E}">
        <p14:creationId xmlns:p14="http://schemas.microsoft.com/office/powerpoint/2010/main" val="7224739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Tùy chọn kiểm tra</a:t>
            </a:r>
          </a:p>
          <a:p>
            <a:pPr marL="171450" indent="-171450">
              <a:buFont typeface="Arial" panose="020B0604020202020204" pitchFamily="34" charset="0"/>
              <a:buChar char="•"/>
            </a:pPr>
            <a:r>
              <a:rPr lang="vi-VN" b="0"/>
              <a:t>Tùy chọn kiểm tra </a:t>
            </a:r>
            <a:r>
              <a:rPr lang="en-US" sz="1200" b="1">
                <a:solidFill>
                  <a:srgbClr val="00B050"/>
                </a:solidFill>
                <a:latin typeface="Courier New" panose="02070309020205020404" pitchFamily="49" charset="0"/>
                <a:cs typeface="Courier New" panose="02070309020205020404" pitchFamily="49" charset="0"/>
              </a:rPr>
              <a:t>WITH CHECK OPTION </a:t>
            </a:r>
            <a:r>
              <a:rPr lang="vi-VN" b="0"/>
              <a:t>là một tùy chọn được liên kết với câu lệnh </a:t>
            </a:r>
            <a:r>
              <a:rPr lang="vi-VN" b="1"/>
              <a:t>CREATE V</a:t>
            </a:r>
            <a:r>
              <a:rPr lang="en-US" b="1"/>
              <a:t>I</a:t>
            </a:r>
            <a:r>
              <a:rPr lang="vi-VN" b="1"/>
              <a:t>EW</a:t>
            </a:r>
          </a:p>
          <a:p>
            <a:pPr marL="171450" indent="-171450">
              <a:buFont typeface="Arial" panose="020B0604020202020204" pitchFamily="34" charset="0"/>
              <a:buChar char="•"/>
            </a:pPr>
            <a:r>
              <a:rPr lang="vi-VN" b="0"/>
              <a:t>Nó được sử dụng để đảm bảo rằng tất cả các bản cập nhật trong khung nhìn đáp ứng các điều kiện được đề cập trong định nghĩa </a:t>
            </a:r>
            <a:r>
              <a:rPr lang="en-US" b="0"/>
              <a:t>khung nhìn</a:t>
            </a:r>
            <a:endParaRPr lang="vi-VN" b="0"/>
          </a:p>
          <a:p>
            <a:pPr marL="171450" indent="-171450">
              <a:buFont typeface="Arial" panose="020B0604020202020204" pitchFamily="34" charset="0"/>
              <a:buChar char="•"/>
            </a:pPr>
            <a:r>
              <a:rPr lang="vi-VN" b="0"/>
              <a:t>Nếu các điều kiện không được thỏa mãn, công cụ cơ sở dữ liệu sẽ trả về lỗi</a:t>
            </a:r>
          </a:p>
        </p:txBody>
      </p:sp>
      <p:sp>
        <p:nvSpPr>
          <p:cNvPr id="4" name="Slide Number Placeholder 3"/>
          <p:cNvSpPr>
            <a:spLocks noGrp="1"/>
          </p:cNvSpPr>
          <p:nvPr>
            <p:ph type="sldNum" sz="quarter" idx="5"/>
          </p:nvPr>
        </p:nvSpPr>
        <p:spPr/>
        <p:txBody>
          <a:bodyPr/>
          <a:lstStyle/>
          <a:p>
            <a:fld id="{C2E80F57-2801-4EB6-B05D-E7FC9F9974FA}" type="slidenum">
              <a:rPr lang="en-US" smtClean="0"/>
              <a:t>22</a:t>
            </a:fld>
            <a:endParaRPr lang="en-US"/>
          </a:p>
        </p:txBody>
      </p:sp>
    </p:spTree>
    <p:extLst>
      <p:ext uri="{BB962C8B-B14F-4D97-AF65-F5344CB8AC3E}">
        <p14:creationId xmlns:p14="http://schemas.microsoft.com/office/powerpoint/2010/main" val="33314126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Tùy chọn kiểm tra</a:t>
            </a:r>
          </a:p>
          <a:p>
            <a:pPr marL="171450" indent="-171450">
              <a:buFont typeface="Arial" panose="020B0604020202020204" pitchFamily="34" charset="0"/>
              <a:buChar char="•"/>
            </a:pPr>
            <a:r>
              <a:rPr lang="vi-VN" b="0"/>
              <a:t>Tùy chọn kiểm tra </a:t>
            </a:r>
            <a:r>
              <a:rPr lang="en-US" sz="1200" b="1">
                <a:solidFill>
                  <a:srgbClr val="00B050"/>
                </a:solidFill>
                <a:latin typeface="Courier New" panose="02070309020205020404" pitchFamily="49" charset="0"/>
                <a:cs typeface="Courier New" panose="02070309020205020404" pitchFamily="49" charset="0"/>
              </a:rPr>
              <a:t>WITH CHECK OPTION </a:t>
            </a:r>
            <a:r>
              <a:rPr lang="vi-VN" b="0"/>
              <a:t>là một tùy chọn được liên kết với câu lệnh </a:t>
            </a:r>
            <a:r>
              <a:rPr lang="vi-VN" b="1"/>
              <a:t>CREATE V</a:t>
            </a:r>
            <a:r>
              <a:rPr lang="en-US" b="1"/>
              <a:t>I</a:t>
            </a:r>
            <a:r>
              <a:rPr lang="vi-VN" b="1"/>
              <a:t>EW</a:t>
            </a:r>
          </a:p>
          <a:p>
            <a:pPr marL="171450" indent="-171450">
              <a:buFont typeface="Arial" panose="020B0604020202020204" pitchFamily="34" charset="0"/>
              <a:buChar char="•"/>
            </a:pPr>
            <a:r>
              <a:rPr lang="vi-VN" b="0"/>
              <a:t>Nó được sử dụng để đảm bảo rằng tất cả các bản cập nhật trong khung nhìn đáp ứng các điều kiện được đề cập trong định nghĩa </a:t>
            </a:r>
            <a:r>
              <a:rPr lang="en-US" b="0"/>
              <a:t>khung nhìn</a:t>
            </a:r>
            <a:endParaRPr lang="vi-VN" b="0"/>
          </a:p>
          <a:p>
            <a:pPr marL="171450" indent="-171450">
              <a:buFont typeface="Arial" panose="020B0604020202020204" pitchFamily="34" charset="0"/>
              <a:buChar char="•"/>
            </a:pPr>
            <a:r>
              <a:rPr lang="vi-VN" b="0"/>
              <a:t>Nếu các điều kiện không được thỏa mãn, công cụ cơ sở dữ liệu sẽ trả về lỗi</a:t>
            </a:r>
          </a:p>
        </p:txBody>
      </p:sp>
      <p:sp>
        <p:nvSpPr>
          <p:cNvPr id="4" name="Slide Number Placeholder 3"/>
          <p:cNvSpPr>
            <a:spLocks noGrp="1"/>
          </p:cNvSpPr>
          <p:nvPr>
            <p:ph type="sldNum" sz="quarter" idx="5"/>
          </p:nvPr>
        </p:nvSpPr>
        <p:spPr/>
        <p:txBody>
          <a:bodyPr/>
          <a:lstStyle/>
          <a:p>
            <a:fld id="{C2E80F57-2801-4EB6-B05D-E7FC9F9974FA}" type="slidenum">
              <a:rPr lang="en-US" smtClean="0"/>
              <a:t>23</a:t>
            </a:fld>
            <a:endParaRPr lang="en-US"/>
          </a:p>
        </p:txBody>
      </p:sp>
    </p:spTree>
    <p:extLst>
      <p:ext uri="{BB962C8B-B14F-4D97-AF65-F5344CB8AC3E}">
        <p14:creationId xmlns:p14="http://schemas.microsoft.com/office/powerpoint/2010/main" val="18447321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a:t>Tùy chọn SCHEMABINDING</a:t>
            </a:r>
          </a:p>
          <a:p>
            <a:pPr marL="171450" indent="-171450">
              <a:buFont typeface="Arial" panose="020B0604020202020204" pitchFamily="34" charset="0"/>
              <a:buChar char="•"/>
            </a:pPr>
            <a:r>
              <a:rPr lang="vi-VN" b="0"/>
              <a:t>Một khung nhìn có thể bị ràng buộc với lược đồ của bảng cơ sở bằng cách sử dụng tùy chọn </a:t>
            </a:r>
            <a:r>
              <a:rPr lang="en-US" b="1"/>
              <a:t>SCHEMABINDING</a:t>
            </a:r>
            <a:r>
              <a:rPr lang="vi-VN" b="0"/>
              <a:t>.</a:t>
            </a:r>
          </a:p>
          <a:p>
            <a:pPr marL="171450" indent="-171450">
              <a:buFont typeface="Arial" panose="020B0604020202020204" pitchFamily="34" charset="0"/>
              <a:buChar char="•"/>
            </a:pPr>
            <a:r>
              <a:rPr lang="vi-VN" b="0"/>
              <a:t>Tùy chọn này có thể được sử dụng với các câu lệnh </a:t>
            </a:r>
            <a:r>
              <a:rPr lang="en-US" sz="1200" b="1" spc="75">
                <a:solidFill>
                  <a:srgbClr val="FFFFFF"/>
                </a:solidFill>
                <a:latin typeface="Arial"/>
                <a:cs typeface="Arial"/>
              </a:rPr>
              <a:t>CREATE</a:t>
            </a:r>
            <a:r>
              <a:rPr lang="en-US" sz="1200" b="1" spc="-75">
                <a:solidFill>
                  <a:srgbClr val="FFFFFF"/>
                </a:solidFill>
                <a:latin typeface="Arial"/>
                <a:cs typeface="Arial"/>
              </a:rPr>
              <a:t> </a:t>
            </a:r>
            <a:r>
              <a:rPr lang="en-US" sz="1200" b="1" spc="175">
                <a:solidFill>
                  <a:srgbClr val="FFFFFF"/>
                </a:solidFill>
                <a:latin typeface="Arial"/>
                <a:cs typeface="Arial"/>
              </a:rPr>
              <a:t>VIEW</a:t>
            </a:r>
            <a:r>
              <a:rPr lang="en-US" sz="1200" b="1" spc="-80">
                <a:solidFill>
                  <a:srgbClr val="FFFFFF"/>
                </a:solidFill>
                <a:latin typeface="Arial"/>
                <a:cs typeface="Arial"/>
              </a:rPr>
              <a:t> </a:t>
            </a:r>
            <a:r>
              <a:rPr lang="vi-VN" b="1"/>
              <a:t> </a:t>
            </a:r>
            <a:r>
              <a:rPr lang="vi-VN" b="0"/>
              <a:t>hoặc </a:t>
            </a:r>
            <a:r>
              <a:rPr lang="en-US" sz="1200" b="1" spc="100">
                <a:solidFill>
                  <a:srgbClr val="FFFFFF"/>
                </a:solidFill>
                <a:latin typeface="Arial"/>
                <a:cs typeface="Arial"/>
              </a:rPr>
              <a:t>ALTER  </a:t>
            </a:r>
            <a:r>
              <a:rPr lang="en-US" sz="1200" b="1" spc="175">
                <a:solidFill>
                  <a:srgbClr val="FFFFFF"/>
                </a:solidFill>
                <a:latin typeface="Arial"/>
                <a:cs typeface="Arial"/>
              </a:rPr>
              <a:t>VIEW</a:t>
            </a:r>
          </a:p>
          <a:p>
            <a:pPr marL="171450" indent="-171450">
              <a:buFont typeface="Arial" panose="020B0604020202020204" pitchFamily="34" charset="0"/>
              <a:buChar char="•"/>
            </a:pPr>
            <a:r>
              <a:rPr lang="vi-VN" b="0"/>
              <a:t>Khi tùy chọn </a:t>
            </a:r>
            <a:r>
              <a:rPr lang="en-US" b="1"/>
              <a:t>SCHEMABINDING</a:t>
            </a:r>
            <a:r>
              <a:rPr lang="vi-VN" b="0"/>
              <a:t> được chỉ định, các bảng </a:t>
            </a:r>
            <a:r>
              <a:rPr lang="en-US" b="0"/>
              <a:t>gốc </a:t>
            </a:r>
            <a:r>
              <a:rPr lang="vi-VN" b="0"/>
              <a:t>không thể được sửa đổi nếu điều đó sẽ ảnh hưởng đến định nghĩa </a:t>
            </a:r>
            <a:r>
              <a:rPr lang="en-US" b="0"/>
              <a:t>khung nhìn</a:t>
            </a:r>
          </a:p>
          <a:p>
            <a:pPr marL="171450" indent="-171450">
              <a:buFont typeface="Arial" panose="020B0604020202020204" pitchFamily="34" charset="0"/>
              <a:buChar char="•"/>
            </a:pPr>
            <a:r>
              <a:rPr lang="vi-VN" b="0"/>
              <a:t>Định nghĩa </a:t>
            </a:r>
            <a:r>
              <a:rPr lang="en-US" b="0"/>
              <a:t>khung nhìn</a:t>
            </a:r>
            <a:r>
              <a:rPr lang="vi-VN" b="0"/>
              <a:t> phải được sửa đổi hoặc xóa đầu tiên để loại bỏ các phụ thuộc trên bảng sẽ được sửa đổi</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24</a:t>
            </a:fld>
            <a:endParaRPr lang="en-US"/>
          </a:p>
        </p:txBody>
      </p:sp>
    </p:spTree>
    <p:extLst>
      <p:ext uri="{BB962C8B-B14F-4D97-AF65-F5344CB8AC3E}">
        <p14:creationId xmlns:p14="http://schemas.microsoft.com/office/powerpoint/2010/main" val="29741420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Sử dụng thủ tục sp_refreshview</a:t>
            </a:r>
          </a:p>
          <a:p>
            <a:pPr marL="171450" indent="-171450">
              <a:buFont typeface="Arial" panose="020B0604020202020204" pitchFamily="34" charset="0"/>
              <a:buChar char="•"/>
            </a:pPr>
            <a:r>
              <a:rPr lang="vi-VN"/>
              <a:t>Trong quá trình tạo ra một </a:t>
            </a:r>
            <a:r>
              <a:rPr lang="en-US"/>
              <a:t>khung nhìn</a:t>
            </a:r>
            <a:r>
              <a:rPr lang="vi-VN"/>
              <a:t>, </a:t>
            </a:r>
            <a:r>
              <a:rPr lang="en-US"/>
              <a:t>t</a:t>
            </a:r>
            <a:r>
              <a:rPr lang="vi-VN"/>
              <a:t>ùy chọn </a:t>
            </a:r>
            <a:r>
              <a:rPr lang="en-US" sz="1200" spc="75">
                <a:solidFill>
                  <a:srgbClr val="404040"/>
                </a:solidFill>
                <a:latin typeface="Arial"/>
                <a:cs typeface="Arial"/>
              </a:rPr>
              <a:t>SCHEMABINDING </a:t>
            </a:r>
            <a:r>
              <a:rPr lang="vi-VN"/>
              <a:t>được sử dụng để liên kết </a:t>
            </a:r>
            <a:r>
              <a:rPr lang="en-US"/>
              <a:t>khung nhìn </a:t>
            </a:r>
            <a:r>
              <a:rPr lang="vi-VN"/>
              <a:t>với lược đồ của các bảng được bao gồm trong khung nhìn.</a:t>
            </a:r>
            <a:endParaRPr lang="en-US"/>
          </a:p>
          <a:p>
            <a:pPr marL="171450" indent="-171450">
              <a:buFont typeface="Arial" panose="020B0604020202020204" pitchFamily="34" charset="0"/>
              <a:buChar char="•"/>
            </a:pPr>
            <a:r>
              <a:rPr lang="vi-VN"/>
              <a:t>Nếu các thay đổi được thực hiện đối với các đối tượng bên dưới (bảng hoặc </a:t>
            </a:r>
            <a:r>
              <a:rPr lang="en-US"/>
              <a:t>khung nhìn</a:t>
            </a:r>
            <a:r>
              <a:rPr lang="vi-VN"/>
              <a:t>) trên đó </a:t>
            </a:r>
            <a:r>
              <a:rPr lang="en-US"/>
              <a:t>khung nhìn </a:t>
            </a:r>
            <a:r>
              <a:rPr lang="vi-VN"/>
              <a:t>phụ thuộc, thì thủ tục được lưu trữ </a:t>
            </a:r>
            <a:r>
              <a:rPr lang="en-US" sz="1200" b="1" spc="-70">
                <a:solidFill>
                  <a:srgbClr val="404040"/>
                </a:solidFill>
                <a:latin typeface="Arial"/>
                <a:cs typeface="Arial"/>
              </a:rPr>
              <a:t>sp_refreshview  </a:t>
            </a:r>
            <a:r>
              <a:rPr lang="vi-VN"/>
              <a:t>sẽ được thực thi.</a:t>
            </a:r>
          </a:p>
          <a:p>
            <a:pPr marL="171450" indent="-171450">
              <a:buFont typeface="Arial" panose="020B0604020202020204" pitchFamily="34" charset="0"/>
              <a:buChar char="•"/>
            </a:pPr>
            <a:r>
              <a:rPr lang="vi-VN"/>
              <a:t>Thủ tục được lưu trữ </a:t>
            </a:r>
            <a:r>
              <a:rPr lang="en-US" sz="1200" spc="-70">
                <a:solidFill>
                  <a:srgbClr val="404040"/>
                </a:solidFill>
                <a:latin typeface="Arial"/>
                <a:cs typeface="Arial"/>
              </a:rPr>
              <a:t>sp_refreshview  </a:t>
            </a:r>
            <a:r>
              <a:rPr lang="en-US"/>
              <a:t>c</a:t>
            </a:r>
            <a:r>
              <a:rPr lang="vi-VN"/>
              <a:t>ập nhật siêu dữ liệu cho </a:t>
            </a:r>
            <a:r>
              <a:rPr lang="en-US"/>
              <a:t>khung nhìn</a:t>
            </a:r>
            <a:r>
              <a:rPr lang="vi-VN"/>
              <a:t>.</a:t>
            </a:r>
            <a:endParaRPr lang="en-US"/>
          </a:p>
        </p:txBody>
      </p:sp>
      <p:sp>
        <p:nvSpPr>
          <p:cNvPr id="4" name="Slide Number Placeholder 3"/>
          <p:cNvSpPr>
            <a:spLocks noGrp="1"/>
          </p:cNvSpPr>
          <p:nvPr>
            <p:ph type="sldNum" sz="quarter" idx="5"/>
          </p:nvPr>
        </p:nvSpPr>
        <p:spPr/>
        <p:txBody>
          <a:bodyPr/>
          <a:lstStyle/>
          <a:p>
            <a:fld id="{C2E80F57-2801-4EB6-B05D-E7FC9F9974FA}" type="slidenum">
              <a:rPr lang="en-US" smtClean="0"/>
              <a:t>25</a:t>
            </a:fld>
            <a:endParaRPr lang="en-US"/>
          </a:p>
        </p:txBody>
      </p:sp>
    </p:spTree>
    <p:extLst>
      <p:ext uri="{BB962C8B-B14F-4D97-AF65-F5344CB8AC3E}">
        <p14:creationId xmlns:p14="http://schemas.microsoft.com/office/powerpoint/2010/main" val="36554258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Thủ tục l</a:t>
            </a:r>
            <a:r>
              <a:rPr lang="vi-VN" b="1"/>
              <a:t>ư</a:t>
            </a:r>
            <a:r>
              <a:rPr lang="en-US" b="1"/>
              <a:t>u trữ 1-2</a:t>
            </a:r>
          </a:p>
          <a:p>
            <a:pPr marL="171450" indent="-171450">
              <a:buFont typeface="Arial" panose="020B0604020202020204" pitchFamily="34" charset="0"/>
              <a:buChar char="•"/>
            </a:pPr>
            <a:r>
              <a:rPr lang="vi-VN" b="0"/>
              <a:t>Một thủ tục được lưu trữ là một nhóm các câu lệnh Transact-SQL hoạt động như một khối mã duy nhất thực hiện một nhiệm vụ cụ thể.</a:t>
            </a:r>
          </a:p>
          <a:p>
            <a:pPr marL="171450" indent="-171450">
              <a:buFont typeface="Arial" panose="020B0604020202020204" pitchFamily="34" charset="0"/>
              <a:buChar char="•"/>
            </a:pPr>
            <a:r>
              <a:rPr lang="vi-VN" b="0"/>
              <a:t>Khối mã này được định </a:t>
            </a:r>
            <a:r>
              <a:rPr lang="en-US" b="0"/>
              <a:t>nghĩa </a:t>
            </a:r>
            <a:r>
              <a:rPr lang="vi-VN" b="0"/>
              <a:t>bởi một tên được gán và được lưu trữ trong cơ sở dữ liệu trong một biểu mẫu được biên dịch.</a:t>
            </a:r>
          </a:p>
          <a:p>
            <a:pPr marL="171450" indent="-171450">
              <a:buFont typeface="Arial" panose="020B0604020202020204" pitchFamily="34" charset="0"/>
              <a:buChar char="•"/>
            </a:pPr>
            <a:r>
              <a:rPr lang="vi-VN" b="0"/>
              <a:t>Một thủ tục được lưu trữ cũng có thể là một tài liệu tham khảo cho một </a:t>
            </a:r>
            <a:r>
              <a:rPr lang="en-US" b="0"/>
              <a:t>khung </a:t>
            </a:r>
            <a:r>
              <a:rPr lang="vi-VN" b="0"/>
              <a:t>.NET</a:t>
            </a:r>
            <a:r>
              <a:rPr lang="en-US" b="0"/>
              <a:t> </a:t>
            </a:r>
            <a:r>
              <a:rPr lang="vi-VN" b="0"/>
              <a:t>phương thức ngôn ngữ </a:t>
            </a:r>
            <a:r>
              <a:rPr lang="en-US" b="0"/>
              <a:t>thực thi </a:t>
            </a:r>
            <a:r>
              <a:rPr lang="vi-VN" b="0"/>
              <a:t>chung (CLR)</a:t>
            </a:r>
            <a:endParaRPr lang="en-US" b="0"/>
          </a:p>
          <a:p>
            <a:pPr marL="171450" indent="-171450">
              <a:buFont typeface="Arial" panose="020B0604020202020204" pitchFamily="34" charset="0"/>
              <a:buChar char="•"/>
            </a:pPr>
            <a:r>
              <a:rPr lang="vi-VN" b="0"/>
              <a:t>Các thủ tục được lưu trữ rất hữu ích khi các nhiệm vụ lặp đi lặp lại phải được thực hiện.</a:t>
            </a:r>
            <a:r>
              <a:rPr lang="en-US" b="0"/>
              <a:t> </a:t>
            </a:r>
            <a:r>
              <a:rPr lang="vi-VN" b="0"/>
              <a:t>Điều này giúp loại bỏ sự cần thiết phải nhập lặp lại nhiều câu lệnh Transact-SQL và sau đó biên dịch lại chúng.</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26</a:t>
            </a:fld>
            <a:endParaRPr lang="en-US"/>
          </a:p>
        </p:txBody>
      </p:sp>
    </p:spTree>
    <p:extLst>
      <p:ext uri="{BB962C8B-B14F-4D97-AF65-F5344CB8AC3E}">
        <p14:creationId xmlns:p14="http://schemas.microsoft.com/office/powerpoint/2010/main" val="1840136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Thủ tục l</a:t>
            </a:r>
            <a:r>
              <a:rPr lang="vi-VN" b="1"/>
              <a:t>ư</a:t>
            </a:r>
            <a:r>
              <a:rPr lang="en-US" b="1"/>
              <a:t>u trữ 2-2</a:t>
            </a:r>
          </a:p>
          <a:p>
            <a:pPr marL="171450" indent="-171450">
              <a:buFont typeface="Arial" panose="020B0604020202020204" pitchFamily="34" charset="0"/>
              <a:buChar char="•"/>
            </a:pPr>
            <a:r>
              <a:rPr lang="en-US"/>
              <a:t>Cải thiện bảo mật</a:t>
            </a:r>
          </a:p>
          <a:p>
            <a:pPr marL="171450" indent="-171450">
              <a:buFont typeface="Arial" panose="020B0604020202020204" pitchFamily="34" charset="0"/>
              <a:buChar char="•"/>
            </a:pPr>
            <a:r>
              <a:rPr lang="en-US"/>
              <a:t>Đ</a:t>
            </a:r>
            <a:r>
              <a:rPr lang="vi-VN"/>
              <a:t>ược biên dịch trước khi thực hiện đầu tiên</a:t>
            </a:r>
            <a:endParaRPr lang="en-US"/>
          </a:p>
          <a:p>
            <a:pPr marL="171450" indent="-171450">
              <a:buFont typeface="Arial" panose="020B0604020202020204" pitchFamily="34" charset="0"/>
              <a:buChar char="•"/>
            </a:pPr>
            <a:r>
              <a:rPr lang="vi-VN"/>
              <a:t>Giảm lưu lượng </a:t>
            </a:r>
            <a:r>
              <a:rPr lang="en-US"/>
              <a:t>M</a:t>
            </a:r>
            <a:r>
              <a:rPr lang="vi-VN"/>
              <a:t>áy khách/</a:t>
            </a:r>
            <a:r>
              <a:rPr lang="en-US"/>
              <a:t>M</a:t>
            </a:r>
            <a:r>
              <a:rPr lang="vi-VN"/>
              <a:t>áy chủ</a:t>
            </a:r>
            <a:endParaRPr lang="en-US"/>
          </a:p>
          <a:p>
            <a:pPr marL="171450" indent="-171450">
              <a:buFont typeface="Arial" panose="020B0604020202020204" pitchFamily="34" charset="0"/>
              <a:buChar char="•"/>
            </a:pPr>
            <a:r>
              <a:rPr lang="en-US"/>
              <a:t>Tái sử dụng mã</a:t>
            </a:r>
          </a:p>
        </p:txBody>
      </p:sp>
      <p:sp>
        <p:nvSpPr>
          <p:cNvPr id="4" name="Slide Number Placeholder 3"/>
          <p:cNvSpPr>
            <a:spLocks noGrp="1"/>
          </p:cNvSpPr>
          <p:nvPr>
            <p:ph type="sldNum" sz="quarter" idx="5"/>
          </p:nvPr>
        </p:nvSpPr>
        <p:spPr/>
        <p:txBody>
          <a:bodyPr/>
          <a:lstStyle/>
          <a:p>
            <a:fld id="{C2E80F57-2801-4EB6-B05D-E7FC9F9974FA}" type="slidenum">
              <a:rPr lang="en-US" smtClean="0"/>
              <a:t>27</a:t>
            </a:fld>
            <a:endParaRPr lang="en-US"/>
          </a:p>
        </p:txBody>
      </p:sp>
    </p:spTree>
    <p:extLst>
      <p:ext uri="{BB962C8B-B14F-4D97-AF65-F5344CB8AC3E}">
        <p14:creationId xmlns:p14="http://schemas.microsoft.com/office/powerpoint/2010/main" val="41983534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Các loại thủ tục được lưu trữ 1-3</a:t>
            </a:r>
            <a:endParaRPr lang="en-US" b="1"/>
          </a:p>
          <a:p>
            <a:pPr marL="171450" indent="-171450">
              <a:buFont typeface="Arial" panose="020B0604020202020204" pitchFamily="34" charset="0"/>
              <a:buChar char="•"/>
            </a:pPr>
            <a:r>
              <a:rPr lang="vi-VN" b="0"/>
              <a:t>SQL Server hỗ trợ các loại thủ tục được lưu trữ khác nhau như:</a:t>
            </a:r>
            <a:endParaRPr lang="en-US" b="0"/>
          </a:p>
          <a:p>
            <a:pPr marL="628650" lvl="1" indent="-171450">
              <a:buFont typeface="Arial" panose="020B0604020202020204" pitchFamily="34" charset="0"/>
              <a:buChar char="•"/>
            </a:pPr>
            <a:r>
              <a:rPr lang="vi-VN" b="0"/>
              <a:t>Thủ tục lưu trữ do người dùng </a:t>
            </a:r>
            <a:r>
              <a:rPr lang="en-US" b="0"/>
              <a:t>tự </a:t>
            </a:r>
            <a:r>
              <a:rPr lang="vi-VN" b="0"/>
              <a:t>định</a:t>
            </a:r>
            <a:r>
              <a:rPr lang="en-US" b="0"/>
              <a:t> nghĩa</a:t>
            </a:r>
            <a:endParaRPr lang="vi-VN" b="0"/>
          </a:p>
          <a:p>
            <a:pPr marL="628650" lvl="1" indent="-171450">
              <a:buFont typeface="Arial" panose="020B0604020202020204" pitchFamily="34" charset="0"/>
              <a:buChar char="•"/>
            </a:pPr>
            <a:r>
              <a:rPr lang="vi-VN" b="0"/>
              <a:t>Thủ tục lưu trữ mở rộng</a:t>
            </a:r>
            <a:endParaRPr lang="en-US"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1"/>
              <a:t>Thủ tục lưu trữ do người dùng </a:t>
            </a:r>
            <a:r>
              <a:rPr lang="en-US" b="1"/>
              <a:t>tự </a:t>
            </a:r>
            <a:r>
              <a:rPr lang="vi-VN" b="1"/>
              <a:t>định</a:t>
            </a:r>
            <a:r>
              <a:rPr lang="en-US" b="1"/>
              <a:t> nghĩa</a:t>
            </a:r>
            <a:endParaRPr lang="vi-VN" b="1"/>
          </a:p>
          <a:p>
            <a:pPr marL="628650" lvl="1" indent="-171450">
              <a:buFont typeface="Arial" panose="020B0604020202020204" pitchFamily="34" charset="0"/>
              <a:buChar char="•"/>
            </a:pPr>
            <a:r>
              <a:rPr lang="vi-VN" b="0"/>
              <a:t>Còn được gọi là thủ tục lưu trữ tùy chỉnh</a:t>
            </a:r>
          </a:p>
          <a:p>
            <a:pPr marL="628650" lvl="1" indent="-171450">
              <a:buFont typeface="Arial" panose="020B0604020202020204" pitchFamily="34" charset="0"/>
              <a:buChar char="•"/>
            </a:pPr>
            <a:r>
              <a:rPr lang="vi-VN" b="0"/>
              <a:t>Được sử dụng để tái sử dụng các </a:t>
            </a:r>
            <a:r>
              <a:rPr lang="en-US" b="0"/>
              <a:t>câu lệnh</a:t>
            </a:r>
            <a:r>
              <a:rPr lang="vi-VN" b="0"/>
              <a:t>Transact-SQL để thực hiện các nhiệm vụ lặp đi lặp lại</a:t>
            </a:r>
            <a:endParaRPr lang="en-US" b="0"/>
          </a:p>
          <a:p>
            <a:pPr marL="628650" lvl="1" indent="-171450">
              <a:buFont typeface="Arial" panose="020B0604020202020204" pitchFamily="34" charset="0"/>
              <a:buChar char="•"/>
            </a:pPr>
            <a:r>
              <a:rPr lang="en-US" b="0"/>
              <a:t>Có 2</a:t>
            </a:r>
            <a:r>
              <a:rPr lang="vi-VN" b="0"/>
              <a:t> loại thủ tục được lưu trữ do người dùng </a:t>
            </a:r>
            <a:r>
              <a:rPr lang="en-US" b="0"/>
              <a:t>tự </a:t>
            </a:r>
            <a:r>
              <a:rPr lang="vi-VN" b="0"/>
              <a:t>định</a:t>
            </a:r>
            <a:r>
              <a:rPr lang="en-US" b="0"/>
              <a:t> nghĩa</a:t>
            </a:r>
          </a:p>
          <a:p>
            <a:pPr marL="1085850" lvl="2" indent="-171450">
              <a:buFont typeface="Arial" panose="020B0604020202020204" pitchFamily="34" charset="0"/>
              <a:buChar char="•"/>
            </a:pPr>
            <a:r>
              <a:rPr lang="vi-VN" b="0"/>
              <a:t>Thủ tục lưu trữ Transact-SQL</a:t>
            </a:r>
            <a:endParaRPr lang="en-US" b="0"/>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Thủ tục lưu trữ </a:t>
            </a:r>
            <a:r>
              <a:rPr lang="en-US" sz="1200" spc="25">
                <a:solidFill>
                  <a:srgbClr val="FFFFFF"/>
                </a:solidFill>
                <a:latin typeface="Arial"/>
                <a:cs typeface="Arial"/>
              </a:rPr>
              <a:t>Common</a:t>
            </a:r>
            <a:r>
              <a:rPr lang="en-US" sz="1200" spc="-170">
                <a:solidFill>
                  <a:srgbClr val="FFFFFF"/>
                </a:solidFill>
                <a:latin typeface="Arial"/>
                <a:cs typeface="Arial"/>
              </a:rPr>
              <a:t> </a:t>
            </a:r>
            <a:r>
              <a:rPr lang="en-US" sz="1200" spc="-65">
                <a:solidFill>
                  <a:srgbClr val="FFFFFF"/>
                </a:solidFill>
                <a:latin typeface="Arial"/>
                <a:cs typeface="Arial"/>
              </a:rPr>
              <a:t>Language </a:t>
            </a:r>
            <a:r>
              <a:rPr lang="en-US" sz="1200" spc="15">
                <a:solidFill>
                  <a:srgbClr val="FFFFFF"/>
                </a:solidFill>
                <a:latin typeface="Arial"/>
                <a:cs typeface="Arial"/>
              </a:rPr>
              <a:t>Runtime </a:t>
            </a:r>
            <a:r>
              <a:rPr lang="en-US" sz="1200" spc="35">
                <a:solidFill>
                  <a:srgbClr val="FFFFFF"/>
                </a:solidFill>
                <a:latin typeface="Arial"/>
                <a:cs typeface="Arial"/>
              </a:rPr>
              <a:t>(CLR)</a:t>
            </a:r>
            <a:r>
              <a:rPr lang="en-US" sz="1200" spc="-280">
                <a:solidFill>
                  <a:srgbClr val="FFFFFF"/>
                </a:solidFill>
                <a:latin typeface="Arial"/>
                <a:cs typeface="Arial"/>
              </a:rPr>
              <a:t> </a:t>
            </a:r>
            <a:endParaRPr lang="en-US" sz="1200">
              <a:latin typeface="Arial"/>
              <a:cs typeface="Arial"/>
            </a:endParaRPr>
          </a:p>
        </p:txBody>
      </p:sp>
      <p:sp>
        <p:nvSpPr>
          <p:cNvPr id="4" name="Slide Number Placeholder 3"/>
          <p:cNvSpPr>
            <a:spLocks noGrp="1"/>
          </p:cNvSpPr>
          <p:nvPr>
            <p:ph type="sldNum" sz="quarter" idx="5"/>
          </p:nvPr>
        </p:nvSpPr>
        <p:spPr/>
        <p:txBody>
          <a:bodyPr/>
          <a:lstStyle/>
          <a:p>
            <a:fld id="{C2E80F57-2801-4EB6-B05D-E7FC9F9974FA}" type="slidenum">
              <a:rPr lang="en-US" smtClean="0"/>
              <a:t>28</a:t>
            </a:fld>
            <a:endParaRPr lang="en-US"/>
          </a:p>
        </p:txBody>
      </p:sp>
    </p:spTree>
    <p:extLst>
      <p:ext uri="{BB962C8B-B14F-4D97-AF65-F5344CB8AC3E}">
        <p14:creationId xmlns:p14="http://schemas.microsoft.com/office/powerpoint/2010/main" val="10784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Các loại thủ tục được lưu trữ </a:t>
            </a:r>
            <a:r>
              <a:rPr lang="en-US" b="1"/>
              <a:t>2</a:t>
            </a:r>
            <a:r>
              <a:rPr lang="vi-VN" b="1"/>
              <a:t>-3</a:t>
            </a:r>
            <a:endParaRPr lang="en-US" b="1"/>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1"/>
              <a:t>Thủ tục lưu trữ mở rộng</a:t>
            </a:r>
            <a:endParaRPr lang="en-US" b="1"/>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Giúp SQL Server tương tác với hệ điều hành</a:t>
            </a:r>
            <a:endParaRPr lang="en-US" b="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a:t>Không phải đối tượng cư trú của SQL Server</a:t>
            </a:r>
            <a:endParaRPr lang="en-US"/>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a:t>Chúng là các thủ tục được triển khai dưới dạng thư viện liên kết động (</a:t>
            </a:r>
            <a:r>
              <a:rPr lang="vi-VN" b="1"/>
              <a:t>DLL</a:t>
            </a:r>
            <a:r>
              <a:rPr lang="vi-VN"/>
              <a:t>) được thực hiện bên ngoài môi trường SQL Server</a:t>
            </a:r>
            <a:endParaRPr lang="en-US"/>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Sử dụng tiền tố '</a:t>
            </a:r>
            <a:r>
              <a:rPr lang="en-US" b="1"/>
              <a:t>xp</a:t>
            </a:r>
            <a:r>
              <a:rPr lang="en-US"/>
              <a:t>'</a:t>
            </a:r>
          </a:p>
        </p:txBody>
      </p:sp>
      <p:sp>
        <p:nvSpPr>
          <p:cNvPr id="4" name="Slide Number Placeholder 3"/>
          <p:cNvSpPr>
            <a:spLocks noGrp="1"/>
          </p:cNvSpPr>
          <p:nvPr>
            <p:ph type="sldNum" sz="quarter" idx="5"/>
          </p:nvPr>
        </p:nvSpPr>
        <p:spPr/>
        <p:txBody>
          <a:bodyPr/>
          <a:lstStyle/>
          <a:p>
            <a:fld id="{C2E80F57-2801-4EB6-B05D-E7FC9F9974FA}" type="slidenum">
              <a:rPr lang="en-US" smtClean="0"/>
              <a:t>29</a:t>
            </a:fld>
            <a:endParaRPr lang="en-US"/>
          </a:p>
        </p:txBody>
      </p:sp>
    </p:spTree>
    <p:extLst>
      <p:ext uri="{BB962C8B-B14F-4D97-AF65-F5344CB8AC3E}">
        <p14:creationId xmlns:p14="http://schemas.microsoft.com/office/powerpoint/2010/main" val="4203209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Các loại thủ tục được lưu trữ </a:t>
            </a:r>
            <a:r>
              <a:rPr lang="en-US" b="1"/>
              <a:t>3</a:t>
            </a:r>
            <a:r>
              <a:rPr lang="vi-VN" b="1"/>
              <a:t>-3</a:t>
            </a:r>
            <a:endParaRPr lang="en-US" b="1"/>
          </a:p>
          <a:p>
            <a:pPr marL="171450" indent="-171450">
              <a:buFont typeface="Arial" panose="020B0604020202020204" pitchFamily="34" charset="0"/>
              <a:buChar char="•"/>
            </a:pPr>
            <a:r>
              <a:rPr lang="en-US" b="1"/>
              <a:t>Thủ tục </a:t>
            </a:r>
            <a:r>
              <a:rPr lang="vi-VN" b="1"/>
              <a:t>lưu trữ hệ thống</a:t>
            </a:r>
            <a:endParaRPr lang="en-US" b="1"/>
          </a:p>
          <a:p>
            <a:pPr marL="628650" lvl="1" indent="-171450">
              <a:buFont typeface="Arial" panose="020B0604020202020204" pitchFamily="34" charset="0"/>
              <a:buChar char="•"/>
            </a:pPr>
            <a:r>
              <a:rPr lang="vi-VN" b="0"/>
              <a:t>Được sử dụng để tương tác với các bảng hệ thống và thực hiện các tác vụ quản trị như cập nhật bảng hệ thống</a:t>
            </a:r>
            <a:endParaRPr lang="en-US" b="0"/>
          </a:p>
          <a:p>
            <a:pPr marL="628650" lvl="1" indent="-171450">
              <a:buFont typeface="Arial" panose="020B0604020202020204" pitchFamily="34" charset="0"/>
              <a:buChar char="•"/>
            </a:pPr>
            <a:r>
              <a:rPr lang="vi-VN" b="0"/>
              <a:t>Các </a:t>
            </a:r>
            <a:r>
              <a:rPr lang="en-US" b="0"/>
              <a:t>thủ tục </a:t>
            </a:r>
            <a:r>
              <a:rPr lang="vi-VN" b="0"/>
              <a:t>này được đặt trong cơ sở dữ liệu tài nguyên</a:t>
            </a:r>
            <a:endParaRPr lang="en-US" b="0"/>
          </a:p>
          <a:p>
            <a:pPr marL="628650" lvl="1" indent="-171450">
              <a:buFont typeface="Arial" panose="020B0604020202020204" pitchFamily="34" charset="0"/>
              <a:buChar char="•"/>
            </a:pPr>
            <a:r>
              <a:rPr lang="vi-VN" b="0"/>
              <a:t>Các thủ tục lưu trữ hệ thống cho </a:t>
            </a:r>
            <a:r>
              <a:rPr lang="en-US" b="0"/>
              <a:t>GÁN</a:t>
            </a:r>
            <a:r>
              <a:rPr lang="vi-VN" b="0"/>
              <a:t>, </a:t>
            </a:r>
            <a:r>
              <a:rPr lang="en-US" b="0"/>
              <a:t>TỪ CHỐI </a:t>
            </a:r>
            <a:r>
              <a:rPr lang="vi-VN" b="0"/>
              <a:t>và </a:t>
            </a:r>
            <a:r>
              <a:rPr lang="en-US" b="0"/>
              <a:t>THU HỒI </a:t>
            </a:r>
            <a:r>
              <a:rPr lang="vi-VN" b="0"/>
              <a:t>quyền</a:t>
            </a:r>
            <a:endParaRPr lang="en-US" b="0"/>
          </a:p>
          <a:p>
            <a:pPr marL="171450" lvl="0" indent="-171450">
              <a:buFont typeface="Arial" panose="020B0604020202020204" pitchFamily="34" charset="0"/>
              <a:buChar char="•"/>
            </a:pPr>
            <a:r>
              <a:rPr lang="vi-VN" b="0"/>
              <a:t>Một thủ tục lưu trữ hệ thống</a:t>
            </a:r>
          </a:p>
          <a:p>
            <a:pPr marL="628650" lvl="1" indent="-171450">
              <a:buFont typeface="Arial" panose="020B0604020202020204" pitchFamily="34" charset="0"/>
              <a:buChar char="•"/>
            </a:pPr>
            <a:r>
              <a:rPr lang="vi-VN" b="0"/>
              <a:t>Là một tập hợp các câu lệnh Transact-SQL được biên dịch trước </a:t>
            </a:r>
            <a:r>
              <a:rPr lang="en-US" b="0"/>
              <a:t>và </a:t>
            </a:r>
            <a:r>
              <a:rPr lang="vi-VN" b="0"/>
              <a:t>được thực thi dưới dạng một đơn vị.</a:t>
            </a:r>
          </a:p>
          <a:p>
            <a:pPr marL="628650" lvl="1" indent="-171450">
              <a:buFont typeface="Arial" panose="020B0604020202020204" pitchFamily="34" charset="0"/>
              <a:buChar char="•"/>
            </a:pPr>
            <a:r>
              <a:rPr lang="vi-VN" b="0"/>
              <a:t>Được sử dụng trong cơ sở dữ liệu </a:t>
            </a:r>
            <a:r>
              <a:rPr lang="en-US" b="0"/>
              <a:t>quản trị </a:t>
            </a:r>
            <a:r>
              <a:rPr lang="vi-VN" b="0"/>
              <a:t>và các hoạt động thông tin.</a:t>
            </a:r>
          </a:p>
          <a:p>
            <a:pPr marL="628650" lvl="1" indent="-171450">
              <a:buFont typeface="Arial" panose="020B0604020202020204" pitchFamily="34" charset="0"/>
              <a:buChar char="•"/>
            </a:pPr>
            <a:r>
              <a:rPr lang="vi-VN" b="0"/>
              <a:t>Cung cấp dễ dàng truy cập vào thông tin siêu dữ liệu về các đối tượng cơ sở dữ liệu như bảng hệ thống, các bảng</a:t>
            </a:r>
            <a:r>
              <a:rPr lang="en-US" b="0"/>
              <a:t> do ng</a:t>
            </a:r>
            <a:r>
              <a:rPr lang="vi-VN" b="0"/>
              <a:t>ư</a:t>
            </a:r>
            <a:r>
              <a:rPr lang="en-US" b="0"/>
              <a:t>ời dùng tự định nghĩa</a:t>
            </a:r>
            <a:r>
              <a:rPr lang="vi-VN" b="0"/>
              <a:t>, </a:t>
            </a:r>
            <a:r>
              <a:rPr lang="en-US" b="0"/>
              <a:t>khung nhìn </a:t>
            </a:r>
            <a:r>
              <a:rPr lang="vi-VN" b="0"/>
              <a:t>và </a:t>
            </a:r>
            <a:r>
              <a:rPr lang="en-US" b="0"/>
              <a:t>các </a:t>
            </a:r>
            <a:r>
              <a:rPr lang="vi-VN" b="0"/>
              <a:t>chỉ mục</a:t>
            </a:r>
            <a:r>
              <a:rPr lang="en-US" b="0"/>
              <a:t>.</a:t>
            </a:r>
          </a:p>
        </p:txBody>
      </p:sp>
      <p:sp>
        <p:nvSpPr>
          <p:cNvPr id="4" name="Slide Number Placeholder 3"/>
          <p:cNvSpPr>
            <a:spLocks noGrp="1"/>
          </p:cNvSpPr>
          <p:nvPr>
            <p:ph type="sldNum" sz="quarter" idx="5"/>
          </p:nvPr>
        </p:nvSpPr>
        <p:spPr/>
        <p:txBody>
          <a:bodyPr/>
          <a:lstStyle/>
          <a:p>
            <a:fld id="{C2E80F57-2801-4EB6-B05D-E7FC9F9974FA}" type="slidenum">
              <a:rPr lang="en-US" smtClean="0"/>
              <a:t>30</a:t>
            </a:fld>
            <a:endParaRPr lang="en-US"/>
          </a:p>
        </p:txBody>
      </p:sp>
    </p:spTree>
    <p:extLst>
      <p:ext uri="{BB962C8B-B14F-4D97-AF65-F5344CB8AC3E}">
        <p14:creationId xmlns:p14="http://schemas.microsoft.com/office/powerpoint/2010/main" val="23937310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Phân loại thủ tục lưu trữ hệ thống</a:t>
            </a:r>
            <a:endParaRPr lang="en-US" b="1"/>
          </a:p>
          <a:p>
            <a:pPr marL="171450" indent="-171450">
              <a:buFont typeface="Arial" panose="020B0604020202020204" pitchFamily="34" charset="0"/>
              <a:buChar char="•"/>
            </a:pPr>
            <a:r>
              <a:rPr lang="en-US" b="1"/>
              <a:t>T</a:t>
            </a:r>
            <a:r>
              <a:rPr lang="vi-VN" b="1"/>
              <a:t>hủ tục lưu trữ</a:t>
            </a:r>
            <a:r>
              <a:rPr lang="en-US" b="1"/>
              <a:t> d</a:t>
            </a:r>
            <a:r>
              <a:rPr lang="vi-VN" b="1"/>
              <a:t>anh mục</a:t>
            </a:r>
            <a:r>
              <a:rPr lang="en-US" b="0"/>
              <a:t>: </a:t>
            </a:r>
            <a:r>
              <a:rPr lang="vi-VN" b="0"/>
              <a:t>Tất cả thông tin về các bảng trong cơ sở dữ liệu người dùng được lưu trữ trong một tập các bảng được gọi là Danh mục hệ thống. Thông tin từ danh mục hệ thống có thể được truy cập bằng các thủ tục danh mục. Ví dụ: thủ tục lưu trữ danh mục </a:t>
            </a:r>
            <a:r>
              <a:rPr lang="en-US" sz="1200" b="1" spc="-5">
                <a:latin typeface="Calibri"/>
                <a:cs typeface="Calibri"/>
              </a:rPr>
              <a:t>sp_tables </a:t>
            </a:r>
            <a:r>
              <a:rPr lang="vi-VN" b="0"/>
              <a:t>hiển thị danh sách tất cả các bảng trong cơ sở dữ liệu hiện tại.</a:t>
            </a:r>
            <a:endParaRPr lang="en-US"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1"/>
              <a:t>Thủ tục</a:t>
            </a:r>
            <a:r>
              <a:rPr lang="en-US" b="1"/>
              <a:t> </a:t>
            </a:r>
            <a:r>
              <a:rPr lang="vi-VN" b="1"/>
              <a:t>lưu trữ</a:t>
            </a:r>
            <a:r>
              <a:rPr lang="en-US" b="1"/>
              <a:t> b</a:t>
            </a:r>
            <a:r>
              <a:rPr lang="vi-VN" b="1"/>
              <a:t>ảo mật</a:t>
            </a:r>
            <a:r>
              <a:rPr lang="en-US" b="0"/>
              <a:t>: </a:t>
            </a:r>
            <a:r>
              <a:rPr lang="vi-VN" b="0"/>
              <a:t>Các thủ tục lưu trữ bảo mật được sử dụng để quản lý bảo mật của cơ sở dữ liệu. Ví dụ: thủ tục lưu trữ bảo mật </a:t>
            </a:r>
            <a:r>
              <a:rPr lang="en-US" sz="1200" b="1" spc="-5">
                <a:latin typeface="Calibri"/>
                <a:cs typeface="Calibri"/>
              </a:rPr>
              <a:t>sp_changedbowner </a:t>
            </a:r>
            <a:r>
              <a:rPr lang="vi-VN" b="0"/>
              <a:t>được sử dụng để thay đổi chủ sở hữu cơ sở dữ liệu hiện tại</a:t>
            </a:r>
            <a:r>
              <a:rPr lang="en-US" b="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1"/>
              <a:t>Thủ tục lưu trữ con trỏ</a:t>
            </a:r>
            <a:r>
              <a:rPr lang="en-US" b="0"/>
              <a:t>: </a:t>
            </a:r>
            <a:r>
              <a:rPr lang="vi-VN" b="0"/>
              <a:t>Các thủ tục con trỏ được sử dụng để thực hiện chức năng của một con trỏ. Ví dụ: thủ tục lưu trữ con trỏ </a:t>
            </a:r>
            <a:r>
              <a:rPr lang="en-US" sz="1200" b="1" spc="-5">
                <a:latin typeface="Calibri"/>
                <a:cs typeface="Calibri"/>
              </a:rPr>
              <a:t>sp_cursor_list </a:t>
            </a:r>
            <a:r>
              <a:rPr lang="vi-VN" b="0"/>
              <a:t>liệt kê tất cả các con trỏ được mở bởi kết nối và mô tả các thuộc tính của </a:t>
            </a:r>
            <a:r>
              <a:rPr lang="en-US" b="0"/>
              <a:t>chúng.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1"/>
              <a:t>Thủ tục lưu trữ truy vấn phân tán</a:t>
            </a:r>
            <a:r>
              <a:rPr lang="en-US" b="0"/>
              <a:t>: </a:t>
            </a:r>
            <a:r>
              <a:rPr lang="vi-VN" b="0"/>
              <a:t>Các thủ tục được lưu trữ phân phối được sử dụng trong quản lý các truy vấn phân tán. Ví dụ: thủ tục lưu trữ truy vấn được phân phối </a:t>
            </a:r>
            <a:r>
              <a:rPr lang="vi-VN" b="1"/>
              <a:t>sp_indexes </a:t>
            </a:r>
            <a:r>
              <a:rPr lang="vi-VN" b="0"/>
              <a:t>trả về thông tin chỉ mục cho bảng từ xa được chỉ định</a:t>
            </a:r>
            <a:r>
              <a:rPr lang="en-US" b="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C</a:t>
            </a:r>
            <a:r>
              <a:rPr lang="vi-VN" b="1"/>
              <a:t>ơ sở dữ liệu </a:t>
            </a:r>
            <a:r>
              <a:rPr lang="en-US" b="1"/>
              <a:t>Mail</a:t>
            </a:r>
            <a:r>
              <a:rPr lang="vi-VN" b="1"/>
              <a:t> và thủ tục lưu trữ SQL</a:t>
            </a:r>
            <a:r>
              <a:rPr lang="en-US" b="1"/>
              <a:t> Mail</a:t>
            </a:r>
            <a:r>
              <a:rPr lang="en-US" b="0"/>
              <a:t>: </a:t>
            </a:r>
            <a:r>
              <a:rPr lang="vi-VN" b="0"/>
              <a:t>Các thủ tục lưu trữ cơ sở dữ liệu </a:t>
            </a:r>
            <a:r>
              <a:rPr lang="en-US" b="0"/>
              <a:t>Mail</a:t>
            </a:r>
            <a:r>
              <a:rPr lang="vi-VN" b="0"/>
              <a:t> và SQL Mail được sử dụng để thực hiện các hoạt động e-mail từ trong SQL Server. Ví dụ: thủ tục lưu trữ thư cơ sở dữ liệu </a:t>
            </a:r>
            <a:r>
              <a:rPr lang="vi-VN" b="1"/>
              <a:t>sp_send_dbmail </a:t>
            </a:r>
            <a:r>
              <a:rPr lang="vi-VN" b="0"/>
              <a:t>sẽ gửi tin nhắn e-mail đến người nhận được chỉ định. Thông báo có thể bao gồm một kết quả truy vấn hoặc t</a:t>
            </a:r>
            <a:r>
              <a:rPr lang="en-US" b="0"/>
              <a:t>ậ</a:t>
            </a:r>
            <a:r>
              <a:rPr lang="vi-VN" b="0"/>
              <a:t>p </a:t>
            </a:r>
            <a:r>
              <a:rPr lang="en-US" b="0"/>
              <a:t>tin </a:t>
            </a:r>
            <a:r>
              <a:rPr lang="vi-VN" b="0"/>
              <a:t>đính kèm hoặc cả hai.</a:t>
            </a:r>
          </a:p>
        </p:txBody>
      </p:sp>
      <p:sp>
        <p:nvSpPr>
          <p:cNvPr id="4" name="Slide Number Placeholder 3"/>
          <p:cNvSpPr>
            <a:spLocks noGrp="1"/>
          </p:cNvSpPr>
          <p:nvPr>
            <p:ph type="sldNum" sz="quarter" idx="5"/>
          </p:nvPr>
        </p:nvSpPr>
        <p:spPr/>
        <p:txBody>
          <a:bodyPr/>
          <a:lstStyle/>
          <a:p>
            <a:fld id="{C2E80F57-2801-4EB6-B05D-E7FC9F9974FA}" type="slidenum">
              <a:rPr lang="en-US" smtClean="0"/>
              <a:t>31</a:t>
            </a:fld>
            <a:endParaRPr lang="en-US"/>
          </a:p>
        </p:txBody>
      </p:sp>
    </p:spTree>
    <p:extLst>
      <p:ext uri="{BB962C8B-B14F-4D97-AF65-F5344CB8AC3E}">
        <p14:creationId xmlns:p14="http://schemas.microsoft.com/office/powerpoint/2010/main" val="40444181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Thủ tục lưu trữ tạm thời</a:t>
            </a:r>
            <a:endParaRPr lang="en-US" b="1"/>
          </a:p>
          <a:p>
            <a:pPr marL="171450" indent="-171450">
              <a:buFont typeface="Arial" panose="020B0604020202020204" pitchFamily="34" charset="0"/>
              <a:buChar char="•"/>
            </a:pPr>
            <a:r>
              <a:rPr lang="vi-VN" b="1"/>
              <a:t>Thủ tục tạm thời </a:t>
            </a:r>
            <a:r>
              <a:rPr lang="en-US" b="1"/>
              <a:t>cục bộ:</a:t>
            </a:r>
          </a:p>
          <a:p>
            <a:pPr marL="628650" lvl="1" indent="-171450">
              <a:buFont typeface="Arial" panose="020B0604020202020204" pitchFamily="34" charset="0"/>
              <a:buChar char="•"/>
            </a:pPr>
            <a:r>
              <a:rPr lang="vi-VN" b="0"/>
              <a:t>Chỉ hiển thị cho người dùng đã tạo ra nó</a:t>
            </a:r>
            <a:endParaRPr lang="en-US" b="0"/>
          </a:p>
          <a:p>
            <a:pPr marL="628650" lvl="1" indent="-171450">
              <a:buFont typeface="Arial" panose="020B0604020202020204" pitchFamily="34" charset="0"/>
              <a:buChar char="•"/>
            </a:pPr>
            <a:r>
              <a:rPr lang="en-US" b="0"/>
              <a:t>Xóa bỏ vào cuối phiên hiện tại</a:t>
            </a:r>
          </a:p>
          <a:p>
            <a:pPr marL="628650" lvl="1" indent="-171450">
              <a:buFont typeface="Arial" panose="020B0604020202020204" pitchFamily="34" charset="0"/>
              <a:buChar char="•"/>
            </a:pPr>
            <a:r>
              <a:rPr lang="vi-VN" b="0"/>
              <a:t>Thủ tục tạm thời </a:t>
            </a:r>
            <a:r>
              <a:rPr lang="en-US" b="0"/>
              <a:t>cục bộ</a:t>
            </a:r>
          </a:p>
          <a:p>
            <a:pPr marL="628650" lvl="1" indent="-171450">
              <a:buFont typeface="Arial" panose="020B0604020202020204" pitchFamily="34" charset="0"/>
              <a:buChar char="•"/>
            </a:pPr>
            <a:r>
              <a:rPr lang="vi-VN" b="0"/>
              <a:t>Chỉ có thể được sử dụng bởi chủ sở hữu của nó</a:t>
            </a:r>
            <a:endParaRPr lang="en-US" b="0"/>
          </a:p>
          <a:p>
            <a:pPr marL="628650" lvl="1" indent="-171450">
              <a:buFont typeface="Arial" panose="020B0604020202020204" pitchFamily="34" charset="0"/>
              <a:buChar char="•"/>
            </a:pPr>
            <a:r>
              <a:rPr lang="vi-VN" b="0"/>
              <a:t>Sử dụng tiền tố # trước tên thủ tục</a:t>
            </a:r>
            <a:endParaRPr lang="en-US" b="0"/>
          </a:p>
          <a:p>
            <a:pPr marL="171450" lvl="0" indent="-171450">
              <a:buFont typeface="Arial" panose="020B0604020202020204" pitchFamily="34" charset="0"/>
              <a:buChar char="•"/>
            </a:pPr>
            <a:r>
              <a:rPr lang="vi-VN" b="1"/>
              <a:t>Thủ tục tạm thời </a:t>
            </a:r>
            <a:r>
              <a:rPr lang="en-US" b="1"/>
              <a:t>toàn cục</a:t>
            </a:r>
          </a:p>
          <a:p>
            <a:pPr marL="628650" lvl="1" indent="-171450">
              <a:buFont typeface="Arial" panose="020B0604020202020204" pitchFamily="34" charset="0"/>
              <a:buChar char="•"/>
            </a:pPr>
            <a:r>
              <a:rPr lang="vi-VN" b="0"/>
              <a:t>Hiển thị cho tất cả người dùng</a:t>
            </a:r>
            <a:endParaRPr lang="en-US" b="0"/>
          </a:p>
          <a:p>
            <a:pPr marL="628650" lvl="1" indent="-171450">
              <a:buFont typeface="Arial" panose="020B0604020202020204" pitchFamily="34" charset="0"/>
              <a:buChar char="•"/>
            </a:pPr>
            <a:r>
              <a:rPr lang="en-US" b="0"/>
              <a:t>Xóa bỏ vào cuối phiên cuối cùng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Thủ tục tạm thời </a:t>
            </a:r>
            <a:r>
              <a:rPr lang="en-US" b="0"/>
              <a:t>toàn cục</a:t>
            </a:r>
          </a:p>
          <a:p>
            <a:pPr marL="628650" lvl="1" indent="-171450">
              <a:buFont typeface="Arial" panose="020B0604020202020204" pitchFamily="34" charset="0"/>
              <a:buChar char="•"/>
            </a:pPr>
            <a:r>
              <a:rPr lang="vi-VN" b="0"/>
              <a:t>Có thể được sử dụng bởi bất kỳ người dùng nào</a:t>
            </a:r>
            <a:endParaRPr lang="en-US" b="0"/>
          </a:p>
          <a:p>
            <a:pPr marL="628650" lvl="1" indent="-171450">
              <a:buFont typeface="Arial" panose="020B0604020202020204" pitchFamily="34" charset="0"/>
              <a:buChar char="•"/>
            </a:pPr>
            <a:r>
              <a:rPr lang="vi-VN" b="0"/>
              <a:t>Sử dụng tiền tố ## trước tên thủ tục</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32</a:t>
            </a:fld>
            <a:endParaRPr lang="en-US"/>
          </a:p>
        </p:txBody>
      </p:sp>
    </p:spTree>
    <p:extLst>
      <p:ext uri="{BB962C8B-B14F-4D97-AF65-F5344CB8AC3E}">
        <p14:creationId xmlns:p14="http://schemas.microsoft.com/office/powerpoint/2010/main" val="1454910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Thủ tục lưu trữ từ xa</a:t>
            </a:r>
            <a:endParaRPr lang="en-US" b="1"/>
          </a:p>
          <a:p>
            <a:pPr marL="171450" indent="-171450">
              <a:buFont typeface="Arial" panose="020B0604020202020204" pitchFamily="34" charset="0"/>
              <a:buChar char="•"/>
            </a:pPr>
            <a:r>
              <a:rPr lang="vi-VN" b="0"/>
              <a:t>Các thủ tục được lưu trữ chạy trên các máy chủ SQL từ xa được gọi là các thủ tục lưu trữ từ xa.</a:t>
            </a:r>
            <a:endParaRPr lang="en-US" b="0"/>
          </a:p>
          <a:p>
            <a:pPr marL="171450" indent="-171450">
              <a:buFont typeface="Arial" panose="020B0604020202020204" pitchFamily="34" charset="0"/>
              <a:buChar char="•"/>
            </a:pPr>
            <a:r>
              <a:rPr lang="vi-VN" b="0"/>
              <a:t>Các </a:t>
            </a:r>
            <a:r>
              <a:rPr lang="en-US" b="0"/>
              <a:t>thủ tục </a:t>
            </a:r>
            <a:r>
              <a:rPr lang="vi-VN" b="0"/>
              <a:t>lưu trữ từ xa chỉ có thể được sử dụng khi máy chủ từ xa cho phép truy cập từ xa.</a:t>
            </a:r>
            <a:endParaRPr lang="en-US" b="0"/>
          </a:p>
          <a:p>
            <a:pPr marL="171450" indent="-171450">
              <a:buFont typeface="Arial" panose="020B0604020202020204" pitchFamily="34" charset="0"/>
              <a:buChar char="•"/>
            </a:pPr>
            <a:r>
              <a:rPr lang="vi-VN" b="0"/>
              <a:t>Khi một thủ tục lưu trữ từ xa được thực thi từ một </a:t>
            </a:r>
            <a:r>
              <a:rPr lang="en-US" b="0"/>
              <a:t>thể hiện cục bộ </a:t>
            </a:r>
            <a:r>
              <a:rPr lang="vi-VN" b="0"/>
              <a:t>của SQL Server đến máy khách, lỗi bị hủy bỏ có thể gặp phải.</a:t>
            </a:r>
            <a:endParaRPr lang="en-US" b="0"/>
          </a:p>
          <a:p>
            <a:pPr marL="171450" indent="-171450">
              <a:buFont typeface="Arial" panose="020B0604020202020204" pitchFamily="34" charset="0"/>
              <a:buChar char="•"/>
            </a:pPr>
            <a:r>
              <a:rPr lang="vi-VN" b="0"/>
              <a:t>Khi xảy ra lỗi như vậy, câu lệnh gây ra lỗi bị chấm dứt, nhưng </a:t>
            </a:r>
            <a:r>
              <a:rPr lang="en-US" b="0"/>
              <a:t>thủ tục </a:t>
            </a:r>
            <a:r>
              <a:rPr lang="vi-VN" b="0"/>
              <a:t>từ xa vẫn tiếp tục được thực thi.</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33</a:t>
            </a:fld>
            <a:endParaRPr lang="en-US"/>
          </a:p>
        </p:txBody>
      </p:sp>
    </p:spTree>
    <p:extLst>
      <p:ext uri="{BB962C8B-B14F-4D97-AF65-F5344CB8AC3E}">
        <p14:creationId xmlns:p14="http://schemas.microsoft.com/office/powerpoint/2010/main" val="24689845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Thủ tục lưu trữ mở rộng</a:t>
            </a:r>
            <a:endParaRPr lang="en-US" b="1"/>
          </a:p>
          <a:p>
            <a:pPr marL="171450" indent="-171450">
              <a:buFont typeface="Arial" panose="020B0604020202020204" pitchFamily="34" charset="0"/>
              <a:buChar char="•"/>
            </a:pPr>
            <a:r>
              <a:rPr lang="vi-VN"/>
              <a:t>Các thủ tục được lưu trữ mở rộng được sử dụng để thực hiện các nhiệm vụ không thể được thực hiện bằng cách sử dụng các câu lệnh Transact-SQL tiêu chuẩn.</a:t>
            </a:r>
          </a:p>
          <a:p>
            <a:pPr marL="171450" indent="-171450">
              <a:buFont typeface="Arial" panose="020B0604020202020204" pitchFamily="34" charset="0"/>
              <a:buChar char="•"/>
            </a:pPr>
            <a:r>
              <a:rPr lang="vi-VN"/>
              <a:t>Các thủ tục được lưu trữ mở rộng sử dụng tiền tố 'xp_'. Các quy trình được lưu trữ này được chứa trong lược đồ dbo của cơ sở dữ liệu chính</a:t>
            </a:r>
            <a:r>
              <a:rPr lang="en-US"/>
              <a:t>.</a:t>
            </a:r>
          </a:p>
        </p:txBody>
      </p:sp>
      <p:sp>
        <p:nvSpPr>
          <p:cNvPr id="4" name="Slide Number Placeholder 3"/>
          <p:cNvSpPr>
            <a:spLocks noGrp="1"/>
          </p:cNvSpPr>
          <p:nvPr>
            <p:ph type="sldNum" sz="quarter" idx="5"/>
          </p:nvPr>
        </p:nvSpPr>
        <p:spPr/>
        <p:txBody>
          <a:bodyPr/>
          <a:lstStyle/>
          <a:p>
            <a:fld id="{C2E80F57-2801-4EB6-B05D-E7FC9F9974FA}" type="slidenum">
              <a:rPr lang="en-US" smtClean="0"/>
              <a:t>34</a:t>
            </a:fld>
            <a:endParaRPr lang="en-US"/>
          </a:p>
        </p:txBody>
      </p:sp>
    </p:spTree>
    <p:extLst>
      <p:ext uri="{BB962C8B-B14F-4D97-AF65-F5344CB8AC3E}">
        <p14:creationId xmlns:p14="http://schemas.microsoft.com/office/powerpoint/2010/main" val="22202833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Thủ tục lưu trữ tùy chỉnh hoặc do người dùng </a:t>
            </a:r>
            <a:r>
              <a:rPr lang="en-US" b="1"/>
              <a:t>tự định nghĩa</a:t>
            </a:r>
          </a:p>
          <a:p>
            <a:pPr marL="171450" indent="-171450">
              <a:buFont typeface="Arial" panose="020B0604020202020204" pitchFamily="34" charset="0"/>
              <a:buChar char="•"/>
            </a:pPr>
            <a:r>
              <a:rPr lang="vi-VN" b="0"/>
              <a:t>Trong SQL Server, người dùng được phép tạo các thủ tục được lưu trữ tùy chỉnh để thực hiện các tác vụ khác nhau.</a:t>
            </a:r>
          </a:p>
          <a:p>
            <a:pPr marL="171450" indent="-171450">
              <a:buFont typeface="Arial" panose="020B0604020202020204" pitchFamily="34" charset="0"/>
              <a:buChar char="•"/>
            </a:pPr>
            <a:r>
              <a:rPr lang="vi-VN" b="0"/>
              <a:t>Các thủ tục được lưu trữ như vậy được gọi là các </a:t>
            </a:r>
            <a:r>
              <a:rPr lang="en-US" b="0"/>
              <a:t>thủ tục </a:t>
            </a:r>
            <a:r>
              <a:rPr lang="vi-VN" b="0"/>
              <a:t>lưu trữ do người dùng </a:t>
            </a:r>
            <a:r>
              <a:rPr lang="en-US" b="0"/>
              <a:t>tự định nghĩa </a:t>
            </a:r>
            <a:r>
              <a:rPr lang="vi-VN" b="0"/>
              <a:t>hoặc tùy chỉnh.</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35</a:t>
            </a:fld>
            <a:endParaRPr lang="en-US"/>
          </a:p>
        </p:txBody>
      </p:sp>
    </p:spTree>
    <p:extLst>
      <p:ext uri="{BB962C8B-B14F-4D97-AF65-F5344CB8AC3E}">
        <p14:creationId xmlns:p14="http://schemas.microsoft.com/office/powerpoint/2010/main" val="5495263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Sử dụng các tham số</a:t>
            </a:r>
          </a:p>
          <a:p>
            <a:pPr marL="171450" indent="-171450">
              <a:buFont typeface="Arial" panose="020B0604020202020204" pitchFamily="34" charset="0"/>
              <a:buChar char="•"/>
            </a:pPr>
            <a:r>
              <a:rPr lang="en-US" b="1"/>
              <a:t>Các tham số vào</a:t>
            </a:r>
            <a:r>
              <a:rPr lang="en-US" b="0"/>
              <a:t>:</a:t>
            </a:r>
          </a:p>
          <a:p>
            <a:pPr marL="628650" lvl="1" indent="-171450">
              <a:buFont typeface="Arial" panose="020B0604020202020204" pitchFamily="34" charset="0"/>
              <a:buChar char="•"/>
            </a:pPr>
            <a:r>
              <a:rPr lang="vi-VN" b="0"/>
              <a:t>Cho phép chương trình gọi vượt qua các giá trị cho một thủ tục được lưu trữ. Các giá trị này được chấp nhận vào các biến được xác định trong thủ tục được lưu trữ.</a:t>
            </a:r>
            <a:endParaRPr lang="en-US" b="0"/>
          </a:p>
          <a:p>
            <a:pPr marL="171450" lvl="0" indent="-171450">
              <a:buFont typeface="Arial" panose="020B0604020202020204" pitchFamily="34" charset="0"/>
              <a:buChar char="•"/>
            </a:pPr>
            <a:r>
              <a:rPr lang="en-US" b="1"/>
              <a:t>Các tham số ra</a:t>
            </a:r>
            <a:r>
              <a:rPr lang="en-US" b="0"/>
              <a:t>:</a:t>
            </a:r>
          </a:p>
          <a:p>
            <a:pPr marL="628650" lvl="1" indent="-171450">
              <a:buFont typeface="Arial" panose="020B0604020202020204" pitchFamily="34" charset="0"/>
              <a:buChar char="•"/>
            </a:pPr>
            <a:r>
              <a:rPr lang="vi-VN" b="0"/>
              <a:t>Cho phép một thủ tục lưu trữ </a:t>
            </a:r>
            <a:r>
              <a:rPr lang="en-US" b="0"/>
              <a:t>truyền </a:t>
            </a:r>
            <a:r>
              <a:rPr lang="vi-VN" b="0"/>
              <a:t>các giá trị trở lại chương trình gọi. Các giá trị này được chấp nhận vào các biến bởi chương trình gọi.</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36</a:t>
            </a:fld>
            <a:endParaRPr lang="en-US"/>
          </a:p>
        </p:txBody>
      </p:sp>
    </p:spTree>
    <p:extLst>
      <p:ext uri="{BB962C8B-B14F-4D97-AF65-F5344CB8AC3E}">
        <p14:creationId xmlns:p14="http://schemas.microsoft.com/office/powerpoint/2010/main" val="41206935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Sử dụng SSMS để tạo các thủ tục lưu trữ</a:t>
            </a:r>
            <a:endParaRPr lang="en-US" b="1"/>
          </a:p>
          <a:p>
            <a:r>
              <a:rPr lang="vi-VN" b="0"/>
              <a:t>Các bước để tạo </a:t>
            </a:r>
            <a:r>
              <a:rPr lang="en-US" b="0"/>
              <a:t>thủ tục </a:t>
            </a:r>
            <a:r>
              <a:rPr lang="vi-VN" b="0"/>
              <a:t>lưu trữ do người dùng </a:t>
            </a:r>
            <a:r>
              <a:rPr lang="en-US" b="0"/>
              <a:t>tự định nghĩa </a:t>
            </a:r>
            <a:r>
              <a:rPr lang="vi-VN" b="0"/>
              <a:t>bằng SSMS là:</a:t>
            </a:r>
          </a:p>
          <a:p>
            <a:pPr marL="228600" indent="-228600">
              <a:buFont typeface="+mj-lt"/>
              <a:buAutoNum type="arabicPeriod"/>
            </a:pPr>
            <a:r>
              <a:rPr lang="vi-VN" b="0"/>
              <a:t>Khởi chạy Object Explorer.</a:t>
            </a:r>
          </a:p>
          <a:p>
            <a:pPr marL="228600" indent="-228600">
              <a:buFont typeface="+mj-lt"/>
              <a:buAutoNum type="arabicPeriod"/>
            </a:pPr>
            <a:r>
              <a:rPr lang="vi-VN" b="0"/>
              <a:t>Trong Object Explorer, kết nối với một thể hiện của </a:t>
            </a:r>
            <a:r>
              <a:rPr lang="en-US" sz="1200" spc="-85">
                <a:latin typeface="Arial"/>
                <a:cs typeface="Arial"/>
              </a:rPr>
              <a:t>Database </a:t>
            </a:r>
            <a:r>
              <a:rPr lang="en-US" sz="1200" spc="-30">
                <a:latin typeface="Arial"/>
                <a:cs typeface="Arial"/>
              </a:rPr>
              <a:t>Engine </a:t>
            </a:r>
            <a:r>
              <a:rPr lang="vi-VN" b="0"/>
              <a:t>và sau khi kết nối thành công, hãy mở rộng thể hiện.</a:t>
            </a:r>
          </a:p>
          <a:p>
            <a:pPr marL="228600" indent="-228600">
              <a:buFont typeface="+mj-lt"/>
              <a:buAutoNum type="arabicPeriod"/>
            </a:pPr>
            <a:r>
              <a:rPr lang="vi-VN" b="0"/>
              <a:t>Mở rộng nút Database và sau đó, mở rộng cơ sở dữ liệu AdventureWorks2019.</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37</a:t>
            </a:fld>
            <a:endParaRPr lang="en-US"/>
          </a:p>
        </p:txBody>
      </p:sp>
    </p:spTree>
    <p:extLst>
      <p:ext uri="{BB962C8B-B14F-4D97-AF65-F5344CB8AC3E}">
        <p14:creationId xmlns:p14="http://schemas.microsoft.com/office/powerpoint/2010/main" val="10079890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Sửa đổi và </a:t>
            </a:r>
            <a:r>
              <a:rPr lang="en-US" b="1"/>
              <a:t>xóa</a:t>
            </a:r>
            <a:r>
              <a:rPr lang="vi-VN" b="1"/>
              <a:t> các thủ tục lưu trữ</a:t>
            </a:r>
            <a:endParaRPr lang="en-US" b="1"/>
          </a:p>
          <a:p>
            <a:pPr marL="171450" indent="-171450">
              <a:buFont typeface="Arial" panose="020B0604020202020204" pitchFamily="34" charset="0"/>
              <a:buChar char="•"/>
            </a:pPr>
            <a:r>
              <a:rPr lang="vi-VN"/>
              <a:t>Quyền được liên kết với thủ tục lưu trữ bị mất khi một thủ tục được lưu trữ được tạo lại. Tuy nhiên, khi một </a:t>
            </a:r>
            <a:r>
              <a:rPr lang="en-US"/>
              <a:t>thủ tục </a:t>
            </a:r>
            <a:r>
              <a:rPr lang="vi-VN"/>
              <a:t>lưu trữ bị thay đổi, các quyền được định </a:t>
            </a:r>
            <a:r>
              <a:rPr lang="en-US"/>
              <a:t>nghĩa </a:t>
            </a:r>
            <a:r>
              <a:rPr lang="vi-VN"/>
              <a:t>cho </a:t>
            </a:r>
            <a:r>
              <a:rPr lang="en-US"/>
              <a:t>thủ tục</a:t>
            </a:r>
            <a:r>
              <a:rPr lang="vi-VN"/>
              <a:t> lưu trữ vẫn còn giống nhau mặc dù định nghĩa thủ tục được thay đổi.</a:t>
            </a:r>
            <a:endParaRPr lang="en-US"/>
          </a:p>
          <a:p>
            <a:pPr marL="0" indent="0">
              <a:buFont typeface="Arial" panose="020B0604020202020204" pitchFamily="34" charset="0"/>
              <a:buNone/>
            </a:pPr>
            <a:r>
              <a:rPr lang="en-US" b="1"/>
              <a:t>Xóa</a:t>
            </a:r>
            <a:r>
              <a:rPr lang="vi-VN" b="1"/>
              <a:t> thủ tục lưu trữ</a:t>
            </a:r>
            <a:endParaRPr lang="en-US" b="1"/>
          </a:p>
          <a:p>
            <a:pPr marL="171450" indent="-171450">
              <a:buFont typeface="Arial" panose="020B0604020202020204" pitchFamily="34" charset="0"/>
              <a:buChar char="•"/>
            </a:pPr>
            <a:r>
              <a:rPr lang="vi-VN" b="0"/>
              <a:t>Các thủ tục lưu trữ có thể được </a:t>
            </a:r>
            <a:r>
              <a:rPr lang="en-US" b="0"/>
              <a:t>xóa</a:t>
            </a:r>
            <a:r>
              <a:rPr lang="vi-VN" b="0"/>
              <a:t> nếu chúng không còn cần thiết nữa. Nếu một thủ tục lưu trữ khác gọi một </a:t>
            </a:r>
            <a:r>
              <a:rPr lang="en-US" b="0"/>
              <a:t>thủ tục </a:t>
            </a:r>
            <a:r>
              <a:rPr lang="vi-VN" b="0"/>
              <a:t>đã xóa, một thông báo lỗi sẽ được hiển thị.</a:t>
            </a:r>
            <a:endParaRPr lang="en-US" b="0"/>
          </a:p>
          <a:p>
            <a:pPr marL="171450" indent="-171450">
              <a:buFont typeface="Arial" panose="020B0604020202020204" pitchFamily="34" charset="0"/>
              <a:buChar char="•"/>
            </a:pPr>
            <a:r>
              <a:rPr lang="vi-VN" b="0"/>
              <a:t>Nếu một </a:t>
            </a:r>
            <a:r>
              <a:rPr lang="en-US" b="0"/>
              <a:t>thủ tục </a:t>
            </a:r>
            <a:r>
              <a:rPr lang="vi-VN" b="0"/>
              <a:t>mới được tạo cùng tên cũng như các tham số giống như </a:t>
            </a:r>
            <a:r>
              <a:rPr lang="en-US" b="0"/>
              <a:t>thủ tục </a:t>
            </a:r>
            <a:r>
              <a:rPr lang="vi-VN" b="0"/>
              <a:t>bị </a:t>
            </a:r>
            <a:r>
              <a:rPr lang="en-US" b="0"/>
              <a:t>xóa</a:t>
            </a:r>
            <a:r>
              <a:rPr lang="vi-VN" b="0"/>
              <a:t>, tất cả các cuộc gọi đến </a:t>
            </a:r>
            <a:r>
              <a:rPr lang="en-US" b="0"/>
              <a:t>thủ tục </a:t>
            </a:r>
            <a:r>
              <a:rPr lang="vi-VN" b="0"/>
              <a:t>bị </a:t>
            </a:r>
            <a:r>
              <a:rPr lang="en-US" b="0"/>
              <a:t>xóa</a:t>
            </a:r>
            <a:r>
              <a:rPr lang="vi-VN" b="0"/>
              <a:t> sẽ được thực hiện thành công.</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38</a:t>
            </a:fld>
            <a:endParaRPr lang="en-US"/>
          </a:p>
        </p:txBody>
      </p:sp>
    </p:spTree>
    <p:extLst>
      <p:ext uri="{BB962C8B-B14F-4D97-AF65-F5344CB8AC3E}">
        <p14:creationId xmlns:p14="http://schemas.microsoft.com/office/powerpoint/2010/main" val="16379611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Thủ tục lưu trữ lồng nhau</a:t>
            </a:r>
            <a:endParaRPr lang="en-US" b="1"/>
          </a:p>
          <a:p>
            <a:pPr marL="171450" indent="-171450">
              <a:buFont typeface="Arial" panose="020B0604020202020204" pitchFamily="34" charset="0"/>
              <a:buChar char="•"/>
            </a:pPr>
            <a:r>
              <a:rPr lang="vi-VN" b="0"/>
              <a:t>SQL Server 2019 cho phép các thủ tục lưu trữ được gọi bên trong các thủ tục được lưu trữ khác.</a:t>
            </a:r>
            <a:endParaRPr lang="en-US" b="0"/>
          </a:p>
          <a:p>
            <a:pPr marL="171450" indent="-171450">
              <a:buFont typeface="Arial" panose="020B0604020202020204" pitchFamily="34" charset="0"/>
              <a:buChar char="•"/>
            </a:pPr>
            <a:r>
              <a:rPr lang="vi-VN" b="0"/>
              <a:t>Các thủ tục </a:t>
            </a:r>
            <a:r>
              <a:rPr lang="en-US" b="0"/>
              <a:t>l</a:t>
            </a:r>
            <a:r>
              <a:rPr lang="vi-VN" b="0"/>
              <a:t>ư</a:t>
            </a:r>
            <a:r>
              <a:rPr lang="en-US" b="0"/>
              <a:t>u trữ </a:t>
            </a:r>
            <a:r>
              <a:rPr lang="vi-VN" b="0"/>
              <a:t>được</a:t>
            </a:r>
            <a:r>
              <a:rPr lang="en-US" b="0"/>
              <a:t> </a:t>
            </a:r>
            <a:r>
              <a:rPr lang="vi-VN" b="0"/>
              <a:t>gọi có thể gọi các thủ tục khác.</a:t>
            </a:r>
            <a:endParaRPr lang="en-US" b="0"/>
          </a:p>
          <a:p>
            <a:pPr marL="171450" indent="-171450">
              <a:buFont typeface="Arial" panose="020B0604020202020204" pitchFamily="34" charset="0"/>
              <a:buChar char="•"/>
            </a:pPr>
            <a:r>
              <a:rPr lang="vi-VN" b="0"/>
              <a:t>Kiến trúc của việc gọi một </a:t>
            </a:r>
            <a:r>
              <a:rPr lang="en-US" b="0"/>
              <a:t>thủ tục </a:t>
            </a:r>
            <a:r>
              <a:rPr lang="vi-VN" b="0"/>
              <a:t>từ một thủ tục khác được gọi là kiến ​​trúc thủ tục lưu trữ lồng nhau.</a:t>
            </a:r>
            <a:endParaRPr lang="en-US" b="0"/>
          </a:p>
          <a:p>
            <a:pPr marL="171450" indent="-171450">
              <a:buFont typeface="Arial" panose="020B0604020202020204" pitchFamily="34" charset="0"/>
              <a:buChar char="•"/>
            </a:pPr>
            <a:r>
              <a:rPr lang="vi-VN" b="0"/>
              <a:t>Khi một thủ tục lưu trữ gọi một thủ tục được lưu trữ khác, mức độ lồng nhau được cho là tăng thêm một.</a:t>
            </a:r>
            <a:endParaRPr lang="en-US" b="0"/>
          </a:p>
          <a:p>
            <a:pPr marL="171450" indent="-171450">
              <a:buFont typeface="Arial" panose="020B0604020202020204" pitchFamily="34" charset="0"/>
              <a:buChar char="•"/>
            </a:pPr>
            <a:r>
              <a:rPr lang="vi-VN" b="0"/>
              <a:t>Tương tự, khi một thủ tục được gọi hoàn thành việc thực thi và </a:t>
            </a:r>
            <a:r>
              <a:rPr lang="en-US" b="0"/>
              <a:t>chuyển </a:t>
            </a:r>
            <a:r>
              <a:rPr lang="vi-VN" b="0"/>
              <a:t>kiểm soát lại </a:t>
            </a:r>
            <a:r>
              <a:rPr lang="en-US" b="0"/>
              <a:t>thủ tục </a:t>
            </a:r>
            <a:r>
              <a:rPr lang="vi-VN" b="0"/>
              <a:t>gọi, mức độ </a:t>
            </a:r>
            <a:r>
              <a:rPr lang="en-US" b="0"/>
              <a:t>lồng nhau </a:t>
            </a:r>
            <a:r>
              <a:rPr lang="vi-VN" b="0"/>
              <a:t>được cho là giảm một.</a:t>
            </a:r>
            <a:endParaRPr lang="en-US" b="0"/>
          </a:p>
          <a:p>
            <a:pPr marL="171450" indent="-171450">
              <a:buFont typeface="Arial" panose="020B0604020202020204" pitchFamily="34" charset="0"/>
              <a:buChar char="•"/>
            </a:pPr>
            <a:r>
              <a:rPr lang="vi-VN" b="0"/>
              <a:t>Mức tối đa của lồng nhau được hỗ trợ bởi SQL Server 2019 là 32.</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39</a:t>
            </a:fld>
            <a:endParaRPr lang="en-US"/>
          </a:p>
        </p:txBody>
      </p:sp>
    </p:spTree>
    <p:extLst>
      <p:ext uri="{BB962C8B-B14F-4D97-AF65-F5344CB8AC3E}">
        <p14:creationId xmlns:p14="http://schemas.microsoft.com/office/powerpoint/2010/main" val="33240283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Truy vấn hệ thống siêu dữ liệu 1-3</a:t>
            </a:r>
          </a:p>
          <a:p>
            <a:pPr marL="171450" indent="-171450">
              <a:buFont typeface="Arial" panose="020B0604020202020204" pitchFamily="34" charset="0"/>
              <a:buChar char="•"/>
            </a:pPr>
            <a:r>
              <a:rPr lang="vi-VN" b="0"/>
              <a:t>Các thuộc tính của một đối tượng như bảng hoặc </a:t>
            </a:r>
            <a:r>
              <a:rPr lang="en-US" b="0"/>
              <a:t>khung nhìn </a:t>
            </a:r>
            <a:r>
              <a:rPr lang="vi-VN" b="0"/>
              <a:t>được lưu trong các bảng hệ thống đặc biệt.</a:t>
            </a:r>
            <a:endParaRPr lang="en-US" b="0"/>
          </a:p>
          <a:p>
            <a:pPr marL="171450" indent="-171450">
              <a:buFont typeface="Arial" panose="020B0604020202020204" pitchFamily="34" charset="0"/>
              <a:buChar char="•"/>
            </a:pPr>
            <a:r>
              <a:rPr lang="vi-VN" b="0"/>
              <a:t>Những thuộc tính này được gọi là siêu dữ liệu. Tất cả các đối tượng SQL tạo ra siêu dữ liệu.</a:t>
            </a:r>
            <a:endParaRPr lang="en-US" b="0"/>
          </a:p>
          <a:p>
            <a:pPr marL="171450" indent="-171450">
              <a:buFont typeface="Arial" panose="020B0604020202020204" pitchFamily="34" charset="0"/>
              <a:buChar char="•"/>
            </a:pPr>
            <a:r>
              <a:rPr lang="vi-VN" b="0"/>
              <a:t>Siêu dữ liệu này có thể được xem bằng cách sử dụng </a:t>
            </a:r>
            <a:r>
              <a:rPr lang="en-US" b="0"/>
              <a:t>khung nhìn </a:t>
            </a:r>
            <a:r>
              <a:rPr lang="vi-VN" b="0"/>
              <a:t>hệ thống, là </a:t>
            </a:r>
            <a:r>
              <a:rPr lang="en-US" b="0"/>
              <a:t>khung nhìn </a:t>
            </a:r>
            <a:r>
              <a:rPr lang="vi-VN" b="0"/>
              <a:t>được định </a:t>
            </a:r>
            <a:r>
              <a:rPr lang="en-US" b="0"/>
              <a:t>nghĩa </a:t>
            </a:r>
            <a:r>
              <a:rPr lang="vi-VN" b="0"/>
              <a:t>trước của SQL Server.</a:t>
            </a:r>
            <a:endParaRPr lang="en-US" b="0"/>
          </a:p>
          <a:p>
            <a:pPr marL="0" indent="0">
              <a:buFont typeface="Arial" panose="020B0604020202020204" pitchFamily="34" charset="0"/>
              <a:buNone/>
            </a:pPr>
            <a:r>
              <a:rPr lang="en-US" b="1"/>
              <a:t>Khung nhình d</a:t>
            </a:r>
            <a:r>
              <a:rPr lang="vi-VN" b="1"/>
              <a:t>anh mục hệ thống</a:t>
            </a:r>
            <a:endParaRPr lang="en-US" b="1"/>
          </a:p>
          <a:p>
            <a:pPr marL="171450" indent="-171450">
              <a:buFont typeface="Arial" panose="020B0604020202020204" pitchFamily="34" charset="0"/>
              <a:buChar char="•"/>
            </a:pPr>
            <a:r>
              <a:rPr lang="vi-VN" b="0"/>
              <a:t>Chúng chứa thông tin về danh mục trong hệ thống SQL Server.</a:t>
            </a:r>
          </a:p>
          <a:p>
            <a:pPr marL="171450" indent="-171450">
              <a:buFont typeface="Arial" panose="020B0604020202020204" pitchFamily="34" charset="0"/>
              <a:buChar char="•"/>
            </a:pPr>
            <a:r>
              <a:rPr lang="vi-VN" b="0"/>
              <a:t>Một danh mục tương tự như một kho hàng của các đối tượng.</a:t>
            </a:r>
          </a:p>
          <a:p>
            <a:pPr marL="171450" indent="-171450">
              <a:buFont typeface="Arial" panose="020B0604020202020204" pitchFamily="34" charset="0"/>
              <a:buChar char="•"/>
            </a:pPr>
            <a:r>
              <a:rPr lang="vi-VN" b="0"/>
              <a:t>Những khung nhìn này chứa một loạt các siêu dữ liệu.</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40</a:t>
            </a:fld>
            <a:endParaRPr lang="en-US"/>
          </a:p>
        </p:txBody>
      </p:sp>
    </p:spTree>
    <p:extLst>
      <p:ext uri="{BB962C8B-B14F-4D97-AF65-F5344CB8AC3E}">
        <p14:creationId xmlns:p14="http://schemas.microsoft.com/office/powerpoint/2010/main" val="19525503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Truy vấn hệ thống siêu dữ liệu 2-3</a:t>
            </a:r>
          </a:p>
          <a:p>
            <a:pPr marL="171450" indent="-171450">
              <a:buFont typeface="Arial" panose="020B0604020202020204" pitchFamily="34" charset="0"/>
              <a:buChar char="•"/>
            </a:pPr>
            <a:r>
              <a:rPr lang="en-US" b="1"/>
              <a:t>Khung nhìn l</a:t>
            </a:r>
            <a:r>
              <a:rPr lang="vi-VN" b="1"/>
              <a:t>ược đồ thông tin</a:t>
            </a:r>
            <a:endParaRPr lang="en-US" b="1"/>
          </a:p>
          <a:p>
            <a:pPr marL="628650" lvl="1" indent="-171450">
              <a:buFont typeface="Arial" panose="020B0604020202020204" pitchFamily="34" charset="0"/>
              <a:buChar char="•"/>
            </a:pPr>
            <a:r>
              <a:rPr lang="vi-VN" b="0"/>
              <a:t>Người dùng có thể truy vấn các </a:t>
            </a:r>
            <a:r>
              <a:rPr lang="en-US" b="0"/>
              <a:t>khung nhìn </a:t>
            </a:r>
            <a:r>
              <a:rPr lang="vi-VN" b="0"/>
              <a:t>lược đồ thông tin để trả về siêu dữ liệu hệ thống.</a:t>
            </a:r>
          </a:p>
          <a:p>
            <a:pPr marL="628650" lvl="1" indent="-171450">
              <a:buFont typeface="Arial" panose="020B0604020202020204" pitchFamily="34" charset="0"/>
              <a:buChar char="•"/>
            </a:pPr>
            <a:r>
              <a:rPr lang="vi-VN" b="0"/>
              <a:t>Các khung nhìn này hữu ích cho các công cụ bên thứ ba có thể không dành riêng cho SQL Server.</a:t>
            </a:r>
          </a:p>
          <a:p>
            <a:pPr marL="628650" lvl="1" indent="-171450">
              <a:buFont typeface="Arial" panose="020B0604020202020204" pitchFamily="34" charset="0"/>
              <a:buChar char="•"/>
            </a:pPr>
            <a:r>
              <a:rPr lang="en-US" b="0"/>
              <a:t>Khung nhìn </a:t>
            </a:r>
            <a:r>
              <a:rPr lang="vi-VN" b="0"/>
              <a:t>lược đồ thông tin cung cấp một chế độ xem độc lập bảng nội bộ, bảng hệ thống của siêu dữ liệu SQL Server.</a:t>
            </a:r>
            <a:endParaRPr lang="en-US" b="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spc="-5">
                <a:solidFill>
                  <a:srgbClr val="FFFFFF"/>
                </a:solidFill>
                <a:latin typeface="Arial"/>
                <a:cs typeface="Arial"/>
              </a:rPr>
              <a:t>Information Schema</a:t>
            </a:r>
            <a:r>
              <a:rPr lang="en-US" sz="1200" b="1" spc="-35">
                <a:solidFill>
                  <a:srgbClr val="FFFFFF"/>
                </a:solidFill>
                <a:latin typeface="Arial"/>
                <a:cs typeface="Arial"/>
              </a:rPr>
              <a:t> </a:t>
            </a:r>
            <a:r>
              <a:rPr lang="en-US" sz="1200" b="1" spc="-5">
                <a:solidFill>
                  <a:srgbClr val="FFFFFF"/>
                </a:solidFill>
                <a:latin typeface="Arial"/>
                <a:cs typeface="Arial"/>
              </a:rPr>
              <a:t>Views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0">
                <a:latin typeface="Arial"/>
                <a:cs typeface="Arial"/>
              </a:rPr>
              <a:t>Chúng được lưu trữ trong lược đồ riêng của </a:t>
            </a:r>
            <a:r>
              <a:rPr lang="en-US" sz="1200" b="0">
                <a:latin typeface="Arial"/>
                <a:cs typeface="Arial"/>
              </a:rPr>
              <a:t>chúng I</a:t>
            </a:r>
            <a:r>
              <a:rPr lang="vi-VN" sz="1200" b="0">
                <a:latin typeface="Arial"/>
                <a:cs typeface="Arial"/>
              </a:rPr>
              <a:t>NFORMATION_SCHEMA</a:t>
            </a:r>
            <a:endParaRPr lang="en-US" sz="1200" b="0">
              <a:latin typeface="Arial"/>
              <a:cs typeface="Arial"/>
            </a:endParaRP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latin typeface="Arial"/>
                <a:cs typeface="Arial"/>
              </a:rPr>
              <a:t>Chúng</a:t>
            </a:r>
            <a:r>
              <a:rPr lang="vi-VN" sz="1200" b="0">
                <a:latin typeface="Arial"/>
                <a:cs typeface="Arial"/>
              </a:rPr>
              <a:t> sử dụng thuật ngữ tiêu chuẩn thay vì SQL Server</a:t>
            </a:r>
            <a:r>
              <a:rPr lang="en-US" sz="1200" b="0">
                <a:latin typeface="Arial"/>
                <a:cs typeface="Arial"/>
              </a:rPr>
              <a:t> </a:t>
            </a:r>
            <a:r>
              <a:rPr lang="vi-VN" sz="1200" b="0">
                <a:latin typeface="Arial"/>
                <a:cs typeface="Arial"/>
              </a:rPr>
              <a:t>điều kiện. Ví dụ: </a:t>
            </a:r>
            <a:r>
              <a:rPr lang="en-US" sz="1200" b="0">
                <a:latin typeface="Arial"/>
                <a:cs typeface="Arial"/>
              </a:rPr>
              <a:t>chúng</a:t>
            </a:r>
            <a:r>
              <a:rPr lang="vi-VN" sz="1200" b="0">
                <a:latin typeface="Arial"/>
                <a:cs typeface="Arial"/>
              </a:rPr>
              <a:t> sử dụng danh mục thay vì cơ sở dữ liệu và tên miền thay vì kiểu dữ liệu do người dùng </a:t>
            </a:r>
            <a:r>
              <a:rPr lang="en-US" sz="1200" b="0">
                <a:latin typeface="Arial"/>
                <a:cs typeface="Arial"/>
              </a:rPr>
              <a:t>tự định nghĩa</a:t>
            </a:r>
            <a:r>
              <a:rPr lang="vi-VN" sz="1200" b="0">
                <a:latin typeface="Arial"/>
                <a:cs typeface="Arial"/>
              </a:rPr>
              <a:t>.</a:t>
            </a:r>
            <a:endParaRPr lang="en-US" sz="1200" b="0">
              <a:latin typeface="Arial"/>
              <a:cs typeface="Arial"/>
            </a:endParaRP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latin typeface="Arial"/>
                <a:cs typeface="Arial"/>
              </a:rPr>
              <a:t>Chúng</a:t>
            </a:r>
            <a:r>
              <a:rPr lang="vi-VN" sz="1200" b="0">
                <a:latin typeface="Arial"/>
                <a:cs typeface="Arial"/>
              </a:rPr>
              <a:t> có thể không hiển thị tất cả siêu dữ liệu có sẵn cho </a:t>
            </a:r>
            <a:r>
              <a:rPr lang="en-US" sz="1200" b="0">
                <a:latin typeface="Arial"/>
                <a:cs typeface="Arial"/>
              </a:rPr>
              <a:t>khung nhìn </a:t>
            </a:r>
            <a:r>
              <a:rPr lang="vi-VN" sz="1200" b="0">
                <a:latin typeface="Arial"/>
                <a:cs typeface="Arial"/>
              </a:rPr>
              <a:t>danh mục riêng của SQL Server. Ví dụ: sys.columns bao gồm các thuộc tính cho thuộc tính nhận dạng và được tính toán</a:t>
            </a:r>
            <a:r>
              <a:rPr lang="en-US" sz="1200" b="0">
                <a:latin typeface="Arial"/>
                <a:cs typeface="Arial"/>
              </a:rPr>
              <a:t> </a:t>
            </a:r>
            <a:r>
              <a:rPr lang="vi-VN" sz="1200" b="0">
                <a:latin typeface="Arial"/>
                <a:cs typeface="Arial"/>
              </a:rPr>
              <a:t>thuộc tính cột, trong khi </a:t>
            </a:r>
            <a:r>
              <a:rPr lang="en-US" sz="1200" b="0">
                <a:latin typeface="Arial"/>
                <a:cs typeface="Arial"/>
              </a:rPr>
              <a:t>các cột </a:t>
            </a:r>
            <a:r>
              <a:rPr lang="en-US" sz="1200" spc="-5">
                <a:latin typeface="Arial"/>
                <a:cs typeface="Arial"/>
              </a:rPr>
              <a:t>INFORMATION_SCHEMA </a:t>
            </a:r>
            <a:r>
              <a:rPr lang="vi-VN" sz="1200" b="0">
                <a:latin typeface="Arial"/>
                <a:cs typeface="Arial"/>
              </a:rPr>
              <a:t>thì không.</a:t>
            </a:r>
            <a:endParaRPr lang="en-US" sz="1200" b="0">
              <a:latin typeface="Arial"/>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spc="-5">
                <a:solidFill>
                  <a:srgbClr val="FFFFFF"/>
                </a:solidFill>
                <a:latin typeface="Arial"/>
                <a:cs typeface="Arial"/>
              </a:rPr>
              <a:t>SQL Server System</a:t>
            </a:r>
            <a:r>
              <a:rPr lang="en-US" sz="1200" b="1" spc="-20">
                <a:solidFill>
                  <a:srgbClr val="FFFFFF"/>
                </a:solidFill>
                <a:latin typeface="Arial"/>
                <a:cs typeface="Arial"/>
              </a:rPr>
              <a:t> </a:t>
            </a:r>
            <a:r>
              <a:rPr lang="en-US" sz="1200" b="1" spc="-5">
                <a:solidFill>
                  <a:srgbClr val="FFFFFF"/>
                </a:solidFill>
                <a:latin typeface="Arial"/>
                <a:cs typeface="Arial"/>
              </a:rPr>
              <a:t>Views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0">
                <a:latin typeface="Arial"/>
                <a:cs typeface="Arial"/>
              </a:rPr>
              <a:t>Chúng xuất hiện trong lược đồ sys.</a:t>
            </a:r>
            <a:endParaRPr lang="en-US" sz="1200" b="0">
              <a:latin typeface="Arial"/>
              <a:cs typeface="Arial"/>
            </a:endParaRP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latin typeface="Arial"/>
                <a:cs typeface="Arial"/>
              </a:rPr>
              <a:t>Chúng tuân thủ thuật ngữ SQL Server.</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latin typeface="Arial"/>
                <a:cs typeface="Arial"/>
              </a:rPr>
              <a:t>Chúng</a:t>
            </a:r>
            <a:r>
              <a:rPr lang="vi-VN" sz="1200" b="0">
                <a:latin typeface="Arial"/>
                <a:cs typeface="Arial"/>
              </a:rPr>
              <a:t> có thể phơi bày tất cả các siêu dữ liệu có sẵn cho </a:t>
            </a:r>
            <a:r>
              <a:rPr lang="en-US" sz="1200" b="0">
                <a:latin typeface="Arial"/>
                <a:cs typeface="Arial"/>
              </a:rPr>
              <a:t>khung nhình </a:t>
            </a:r>
            <a:r>
              <a:rPr lang="vi-VN" sz="1200" b="0">
                <a:latin typeface="Arial"/>
                <a:cs typeface="Arial"/>
              </a:rPr>
              <a:t>danh mục của SQL Server.</a:t>
            </a:r>
            <a:endParaRPr lang="en-US" sz="1200" b="0">
              <a:latin typeface="Arial"/>
              <a:cs typeface="Arial"/>
            </a:endParaRPr>
          </a:p>
        </p:txBody>
      </p:sp>
      <p:sp>
        <p:nvSpPr>
          <p:cNvPr id="4" name="Slide Number Placeholder 3"/>
          <p:cNvSpPr>
            <a:spLocks noGrp="1"/>
          </p:cNvSpPr>
          <p:nvPr>
            <p:ph type="sldNum" sz="quarter" idx="5"/>
          </p:nvPr>
        </p:nvSpPr>
        <p:spPr/>
        <p:txBody>
          <a:bodyPr/>
          <a:lstStyle/>
          <a:p>
            <a:fld id="{C2E80F57-2801-4EB6-B05D-E7FC9F9974FA}" type="slidenum">
              <a:rPr lang="en-US" smtClean="0"/>
              <a:t>41</a:t>
            </a:fld>
            <a:endParaRPr lang="en-US"/>
          </a:p>
        </p:txBody>
      </p:sp>
    </p:spTree>
    <p:extLst>
      <p:ext uri="{BB962C8B-B14F-4D97-AF65-F5344CB8AC3E}">
        <p14:creationId xmlns:p14="http://schemas.microsoft.com/office/powerpoint/2010/main" val="15789747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Truy vấn hệ thống siêu dữ liệu 3-3</a:t>
            </a:r>
          </a:p>
          <a:p>
            <a:pPr marL="171450" indent="-171450">
              <a:buFont typeface="Arial" panose="020B0604020202020204" pitchFamily="34" charset="0"/>
              <a:buChar char="•"/>
            </a:pPr>
            <a:r>
              <a:rPr lang="en-US" b="1"/>
              <a:t>Các hàm siêu dữ liệu hệ thống</a:t>
            </a:r>
          </a:p>
          <a:p>
            <a:pPr marL="628650" lvl="1" indent="-171450">
              <a:buFont typeface="Arial" panose="020B0604020202020204" pitchFamily="34" charset="0"/>
              <a:buChar char="•"/>
            </a:pPr>
            <a:r>
              <a:rPr lang="vi-VN" b="0"/>
              <a:t>Các </a:t>
            </a:r>
            <a:r>
              <a:rPr lang="en-US" b="0"/>
              <a:t>hàm </a:t>
            </a:r>
            <a:r>
              <a:rPr lang="vi-VN" b="0"/>
              <a:t>tích hợp có thể trả về siêu dữ liệu cho truy vấn.</a:t>
            </a:r>
          </a:p>
          <a:p>
            <a:pPr marL="628650" lvl="1" indent="-171450">
              <a:buFont typeface="Arial" panose="020B0604020202020204" pitchFamily="34" charset="0"/>
              <a:buChar char="•"/>
            </a:pPr>
            <a:r>
              <a:rPr lang="vi-VN" b="0"/>
              <a:t>Chúng bao gồm các </a:t>
            </a:r>
            <a:r>
              <a:rPr lang="en-US" b="0"/>
              <a:t>hàm </a:t>
            </a:r>
            <a:r>
              <a:rPr lang="vi-VN" b="0"/>
              <a:t>vô hướng và các </a:t>
            </a:r>
            <a:r>
              <a:rPr lang="en-US" b="0"/>
              <a:t>hàm </a:t>
            </a:r>
            <a:r>
              <a:rPr lang="vi-VN" b="0"/>
              <a:t>có giá trị bảng.</a:t>
            </a:r>
          </a:p>
          <a:p>
            <a:pPr marL="628650" lvl="1" indent="-171450">
              <a:buFont typeface="Arial" panose="020B0604020202020204" pitchFamily="34" charset="0"/>
              <a:buChar char="•"/>
            </a:pPr>
            <a:r>
              <a:rPr lang="vi-VN" b="0"/>
              <a:t>Các hàm SQL Server Metadata có nhiều định dạng khác nhau</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42</a:t>
            </a:fld>
            <a:endParaRPr lang="en-US"/>
          </a:p>
        </p:txBody>
      </p:sp>
    </p:spTree>
    <p:extLst>
      <p:ext uri="{BB962C8B-B14F-4D97-AF65-F5344CB8AC3E}">
        <p14:creationId xmlns:p14="http://schemas.microsoft.com/office/powerpoint/2010/main" val="7508787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Truy vấn các đối tượng quản lý động</a:t>
            </a:r>
            <a:endParaRPr lang="en-US" b="1"/>
          </a:p>
          <a:p>
            <a:pPr marL="171450" indent="-171450">
              <a:buFont typeface="Arial" panose="020B0604020202020204" pitchFamily="34" charset="0"/>
              <a:buChar char="•"/>
            </a:pPr>
            <a:r>
              <a:rPr lang="en-US" b="0"/>
              <a:t>Khung nhìn </a:t>
            </a:r>
            <a:r>
              <a:rPr lang="vi-VN" b="0"/>
              <a:t>quản lý động (DMVS) và các </a:t>
            </a:r>
            <a:r>
              <a:rPr lang="en-US" b="0"/>
              <a:t>hàm </a:t>
            </a:r>
            <a:r>
              <a:rPr lang="vi-VN" b="0"/>
              <a:t>quản lý động (DMFS) là các đối tượng quản lý động trả lại máy chủ và thông tin trạng thái cơ sở dữ liệu</a:t>
            </a:r>
            <a:endParaRPr lang="en-US" b="0"/>
          </a:p>
          <a:p>
            <a:pPr marL="171450" indent="-171450">
              <a:buFont typeface="Arial" panose="020B0604020202020204" pitchFamily="34" charset="0"/>
              <a:buChar char="•"/>
            </a:pPr>
            <a:r>
              <a:rPr lang="vi-VN" b="0"/>
              <a:t>DMVs và DMFs được gọi chung là </a:t>
            </a:r>
            <a:r>
              <a:rPr lang="en-US" b="0"/>
              <a:t>các </a:t>
            </a:r>
            <a:r>
              <a:rPr lang="vi-VN" b="0"/>
              <a:t>đối tượng quản lý</a:t>
            </a:r>
            <a:r>
              <a:rPr lang="en-US" b="0"/>
              <a:t> </a:t>
            </a:r>
            <a:r>
              <a:rPr lang="vi-VN" b="0"/>
              <a:t>động.</a:t>
            </a:r>
            <a:endParaRPr lang="en-US" b="0"/>
          </a:p>
          <a:p>
            <a:pPr marL="171450" indent="-171450">
              <a:buFont typeface="Arial" panose="020B0604020202020204" pitchFamily="34" charset="0"/>
              <a:buChar char="•"/>
            </a:pPr>
            <a:r>
              <a:rPr lang="vi-VN" b="0"/>
              <a:t>Được sử dụng để kiểm tra trạng thái</a:t>
            </a:r>
            <a:r>
              <a:rPr lang="en-US" b="0"/>
              <a:t>,</a:t>
            </a:r>
            <a:r>
              <a:rPr lang="vi-VN" b="0"/>
              <a:t> khắc phục sự cố, và điều chỉnh hiệu suất.</a:t>
            </a:r>
            <a:endParaRPr lang="en-US" b="0"/>
          </a:p>
          <a:p>
            <a:pPr marL="171450" indent="-171450">
              <a:buFont typeface="Arial" panose="020B0604020202020204" pitchFamily="34" charset="0"/>
              <a:buChar char="•"/>
            </a:pPr>
            <a:r>
              <a:rPr lang="vi-VN" b="0"/>
              <a:t>Để truy vấn DMV</a:t>
            </a:r>
            <a:r>
              <a:rPr lang="en-US" b="0"/>
              <a:t>s</a:t>
            </a:r>
            <a:r>
              <a:rPr lang="vi-VN" b="0"/>
              <a:t>, cần phải </a:t>
            </a:r>
            <a:r>
              <a:rPr lang="en-US" b="0"/>
              <a:t>có</a:t>
            </a:r>
            <a:r>
              <a:rPr lang="vi-VN" b="0"/>
              <a:t> </a:t>
            </a:r>
            <a:r>
              <a:rPr lang="en-US" sz="1200" b="1" spc="145">
                <a:solidFill>
                  <a:srgbClr val="FFFFFF"/>
                </a:solidFill>
                <a:latin typeface="Arial"/>
                <a:cs typeface="Arial"/>
              </a:rPr>
              <a:t>VIEW </a:t>
            </a:r>
            <a:r>
              <a:rPr lang="en-US" sz="1200" b="1" spc="-25">
                <a:solidFill>
                  <a:srgbClr val="FFFFFF"/>
                </a:solidFill>
                <a:latin typeface="Arial"/>
                <a:cs typeface="Arial"/>
              </a:rPr>
              <a:t>SERVER  </a:t>
            </a:r>
            <a:r>
              <a:rPr lang="en-US" sz="1200" b="1" spc="70">
                <a:solidFill>
                  <a:srgbClr val="FFFFFF"/>
                </a:solidFill>
                <a:latin typeface="Arial"/>
                <a:cs typeface="Arial"/>
              </a:rPr>
              <a:t>STATE </a:t>
            </a:r>
            <a:r>
              <a:rPr lang="vi-VN" b="0"/>
              <a:t>hoặc</a:t>
            </a:r>
            <a:r>
              <a:rPr lang="en-US" b="0"/>
              <a:t> quyền</a:t>
            </a:r>
            <a:r>
              <a:rPr lang="vi-VN" b="0"/>
              <a:t> </a:t>
            </a:r>
            <a:r>
              <a:rPr lang="en-US" sz="1200" b="1" spc="145">
                <a:solidFill>
                  <a:srgbClr val="FFFFFF"/>
                </a:solidFill>
                <a:latin typeface="Arial"/>
                <a:cs typeface="Arial"/>
              </a:rPr>
              <a:t>VIEW</a:t>
            </a:r>
            <a:r>
              <a:rPr lang="en-US" sz="1200" b="1" spc="-390">
                <a:solidFill>
                  <a:srgbClr val="FFFFFF"/>
                </a:solidFill>
                <a:latin typeface="Arial"/>
                <a:cs typeface="Arial"/>
              </a:rPr>
              <a:t> </a:t>
            </a:r>
            <a:r>
              <a:rPr lang="en-US" sz="1200" b="1" spc="105">
                <a:solidFill>
                  <a:srgbClr val="FFFFFF"/>
                </a:solidFill>
                <a:latin typeface="Arial"/>
                <a:cs typeface="Arial"/>
              </a:rPr>
              <a:t>DATABASE </a:t>
            </a:r>
            <a:r>
              <a:rPr lang="en-US" sz="1200" b="1" spc="75">
                <a:solidFill>
                  <a:srgbClr val="FFFFFF"/>
                </a:solidFill>
                <a:latin typeface="Arial"/>
                <a:cs typeface="Arial"/>
              </a:rPr>
              <a:t>STATE</a:t>
            </a:r>
            <a:r>
              <a:rPr lang="vi-VN" b="0"/>
              <a:t>, tùy thuộc vào phạm vi của DMV.</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43</a:t>
            </a:fld>
            <a:endParaRPr lang="en-US"/>
          </a:p>
        </p:txBody>
      </p:sp>
    </p:spTree>
    <p:extLst>
      <p:ext uri="{BB962C8B-B14F-4D97-AF65-F5344CB8AC3E}">
        <p14:creationId xmlns:p14="http://schemas.microsoft.com/office/powerpoint/2010/main" val="37745350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Phân loại và truy vấn DMVs</a:t>
            </a:r>
          </a:p>
          <a:p>
            <a:pPr marL="171450" indent="-171450">
              <a:buFont typeface="Arial" panose="020B0604020202020204" pitchFamily="34" charset="0"/>
              <a:buChar char="•"/>
            </a:pPr>
            <a:r>
              <a:rPr lang="en-US" b="1"/>
              <a:t>db: </a:t>
            </a:r>
            <a:r>
              <a:rPr lang="en-US" b="0"/>
              <a:t>C</a:t>
            </a:r>
            <a:r>
              <a:rPr lang="vi-VN" b="0"/>
              <a:t>ơ</a:t>
            </a:r>
            <a:r>
              <a:rPr lang="en-US" b="0"/>
              <a:t> sỡ dữ liệu liên quan</a:t>
            </a:r>
          </a:p>
          <a:p>
            <a:pPr marL="171450" indent="-171450">
              <a:buFont typeface="Arial" panose="020B0604020202020204" pitchFamily="34" charset="0"/>
              <a:buChar char="•"/>
            </a:pPr>
            <a:r>
              <a:rPr lang="en-US" b="1"/>
              <a:t>io</a:t>
            </a:r>
            <a:r>
              <a:rPr lang="en-US" b="0"/>
              <a:t>: Trạng thái I/O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Os</a:t>
            </a:r>
            <a:r>
              <a:rPr lang="en-US" b="0"/>
              <a:t>: Thông tin hệ điều hành SQL Server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‘trans’</a:t>
            </a:r>
            <a:r>
              <a:rPr lang="en-US" b="0"/>
              <a:t>: Giao dịch liên quan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‘exec’</a:t>
            </a:r>
            <a:r>
              <a:rPr lang="en-US" b="0"/>
              <a:t>: Truy vấn liên quan đến thực hiện Metadata</a:t>
            </a:r>
          </a:p>
        </p:txBody>
      </p:sp>
      <p:sp>
        <p:nvSpPr>
          <p:cNvPr id="4" name="Slide Number Placeholder 3"/>
          <p:cNvSpPr>
            <a:spLocks noGrp="1"/>
          </p:cNvSpPr>
          <p:nvPr>
            <p:ph type="sldNum" sz="quarter" idx="5"/>
          </p:nvPr>
        </p:nvSpPr>
        <p:spPr/>
        <p:txBody>
          <a:bodyPr/>
          <a:lstStyle/>
          <a:p>
            <a:fld id="{C2E80F57-2801-4EB6-B05D-E7FC9F9974FA}" type="slidenum">
              <a:rPr lang="en-US" smtClean="0"/>
              <a:t>44</a:t>
            </a:fld>
            <a:endParaRPr lang="en-US"/>
          </a:p>
        </p:txBody>
      </p:sp>
    </p:spTree>
    <p:extLst>
      <p:ext uri="{BB962C8B-B14F-4D97-AF65-F5344CB8AC3E}">
        <p14:creationId xmlns:p14="http://schemas.microsoft.com/office/powerpoint/2010/main" val="10651088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endParaRPr lang="en-US" b="1"/>
          </a:p>
          <a:p>
            <a:pPr marL="171450" indent="-171450">
              <a:buFont typeface="Arial" panose="020B0604020202020204" pitchFamily="34" charset="0"/>
              <a:buChar char="•"/>
            </a:pPr>
            <a:r>
              <a:rPr lang="vi-VN" b="0"/>
              <a:t>Một khung nhìn là một bảng ảo được tạo thành từ các cột được chọn từ một hoặc nhiều bảng và được tạo bằng cách sử dụng lệnh </a:t>
            </a:r>
            <a:r>
              <a:rPr lang="en-US" sz="1200" b="1" spc="55">
                <a:latin typeface="Arial"/>
                <a:cs typeface="Arial"/>
              </a:rPr>
              <a:t>CREATE</a:t>
            </a:r>
            <a:r>
              <a:rPr lang="en-US" sz="1200" b="1" spc="-120">
                <a:latin typeface="Arial"/>
                <a:cs typeface="Arial"/>
              </a:rPr>
              <a:t> </a:t>
            </a:r>
            <a:r>
              <a:rPr lang="en-US" sz="1200" b="1" spc="130">
                <a:latin typeface="Arial"/>
                <a:cs typeface="Arial"/>
              </a:rPr>
              <a:t>VIEW</a:t>
            </a:r>
            <a:r>
              <a:rPr lang="en-US" sz="1200" b="1" spc="-120">
                <a:latin typeface="Arial"/>
                <a:cs typeface="Arial"/>
              </a:rPr>
              <a:t> </a:t>
            </a:r>
            <a:r>
              <a:rPr lang="vi-VN" b="0"/>
              <a:t>trong SQL Server.</a:t>
            </a:r>
          </a:p>
          <a:p>
            <a:pPr marL="171450" indent="-171450">
              <a:buFont typeface="Arial" panose="020B0604020202020204" pitchFamily="34" charset="0"/>
              <a:buChar char="•"/>
            </a:pPr>
            <a:r>
              <a:rPr lang="vi-VN" b="0"/>
              <a:t>Người dùng có thể thao tác dữ liệu trong </a:t>
            </a:r>
            <a:r>
              <a:rPr lang="en-US" b="0"/>
              <a:t>khung nhìn</a:t>
            </a:r>
            <a:r>
              <a:rPr lang="vi-VN" b="0"/>
              <a:t>, chẳng hạn như </a:t>
            </a:r>
            <a:r>
              <a:rPr lang="en-US" b="0"/>
              <a:t>thêm</a:t>
            </a:r>
            <a:r>
              <a:rPr lang="vi-VN" b="0"/>
              <a:t> vào </a:t>
            </a:r>
            <a:r>
              <a:rPr lang="en-US" b="0"/>
              <a:t>khung nhìn</a:t>
            </a:r>
            <a:r>
              <a:rPr lang="vi-VN" b="0"/>
              <a:t>, sửa đổi dữ liệu trong </a:t>
            </a:r>
            <a:r>
              <a:rPr lang="en-US" b="0"/>
              <a:t>khung nhìn </a:t>
            </a:r>
            <a:r>
              <a:rPr lang="vi-VN" b="0"/>
              <a:t>và xóa </a:t>
            </a:r>
            <a:r>
              <a:rPr lang="en-US" b="0"/>
              <a:t>khung nhìn</a:t>
            </a:r>
            <a:r>
              <a:rPr lang="vi-VN" b="0"/>
              <a:t>.</a:t>
            </a:r>
          </a:p>
          <a:p>
            <a:pPr marL="171450" indent="-171450">
              <a:buFont typeface="Arial" panose="020B0604020202020204" pitchFamily="34" charset="0"/>
              <a:buChar char="•"/>
            </a:pPr>
            <a:r>
              <a:rPr lang="vi-VN" b="0"/>
              <a:t>Một thủ tục lưu trữ là một nhóm các câu lệnh Transact-SQL hoạt động như một khối mã duy nhất thực hiện một nhiệm vụ cụ thể.</a:t>
            </a:r>
          </a:p>
          <a:p>
            <a:pPr marL="171450" indent="-171450">
              <a:buFont typeface="Arial" panose="020B0604020202020204" pitchFamily="34" charset="0"/>
              <a:buChar char="•"/>
            </a:pPr>
            <a:r>
              <a:rPr lang="vi-VN" b="0"/>
              <a:t>SQL Server hỗ trợ các loại </a:t>
            </a:r>
            <a:r>
              <a:rPr lang="en-US" b="0"/>
              <a:t>thủ tục </a:t>
            </a:r>
            <a:r>
              <a:rPr lang="vi-VN" b="0"/>
              <a:t>lưu trữ khác nhau, chẳng hạn như các thủ tục được lưu trữ do người dùng </a:t>
            </a:r>
            <a:r>
              <a:rPr lang="en-US" b="0"/>
              <a:t>tự</a:t>
            </a:r>
            <a:r>
              <a:rPr lang="vi-VN" b="0"/>
              <a:t> định</a:t>
            </a:r>
            <a:r>
              <a:rPr lang="en-US" b="0"/>
              <a:t> nghĩa</a:t>
            </a:r>
            <a:r>
              <a:rPr lang="vi-VN" b="0"/>
              <a:t>, các thủ tục lưu trữ mở rộng và các thủ tục lưu trữ hệ thống.</a:t>
            </a:r>
          </a:p>
          <a:p>
            <a:pPr marL="171450" indent="-171450">
              <a:buFont typeface="Arial" panose="020B0604020202020204" pitchFamily="34" charset="0"/>
              <a:buChar char="•"/>
            </a:pPr>
            <a:r>
              <a:rPr lang="vi-VN" b="0"/>
              <a:t>Các thủ tục lưu trữ hệ thống có thể được phân loại thành các loại khác nhau như thủ tục lưu trữ</a:t>
            </a:r>
            <a:r>
              <a:rPr lang="en-US" b="0"/>
              <a:t> danh mục</a:t>
            </a:r>
            <a:r>
              <a:rPr lang="vi-VN" b="0"/>
              <a:t>, thủ tục lưu trữ bảo mật và các thủ tục lưu trữ con trỏ.</a:t>
            </a:r>
          </a:p>
          <a:p>
            <a:pPr marL="171450" indent="-171450">
              <a:buFont typeface="Arial" panose="020B0604020202020204" pitchFamily="34" charset="0"/>
              <a:buChar char="•"/>
            </a:pPr>
            <a:r>
              <a:rPr lang="vi-VN" b="0"/>
              <a:t>Các tham số đầu vào và đầu ra có thể được sử dụng với các thủ tục được lưu trữ để truyền và nhận dữ liệu từ các thủ tục được lưu trữ.</a:t>
            </a:r>
          </a:p>
          <a:p>
            <a:pPr marL="171450" indent="-171450">
              <a:buFont typeface="Arial" panose="020B0604020202020204" pitchFamily="34" charset="0"/>
              <a:buChar char="•"/>
            </a:pPr>
            <a:r>
              <a:rPr lang="vi-VN" b="0"/>
              <a:t>Các thuộc tính của một đối tượng như bảng hoặc </a:t>
            </a:r>
            <a:r>
              <a:rPr lang="en-US" b="0"/>
              <a:t>khung nhìn </a:t>
            </a:r>
            <a:r>
              <a:rPr lang="vi-VN" b="0"/>
              <a:t>được lưu trữ trong các bảng hệ thống đặc biệt và được gọi là siêu dữ liệu.</a:t>
            </a:r>
          </a:p>
          <a:p>
            <a:pPr marL="171450" indent="-171450">
              <a:buFont typeface="Arial" panose="020B0604020202020204" pitchFamily="34" charset="0"/>
              <a:buChar char="•"/>
            </a:pPr>
            <a:r>
              <a:rPr lang="vi-VN" b="0"/>
              <a:t>DMVs và DMFs là các đối tượng quản lý động trả lại máy chủ và thông tin trạng thái cơ sở dữ liệu. DMVs và DMFs được gọi chung là các đối tượng quản lý động.</a:t>
            </a:r>
            <a:endParaRPr lang="en-US" b="0"/>
          </a:p>
        </p:txBody>
      </p:sp>
      <p:sp>
        <p:nvSpPr>
          <p:cNvPr id="4" name="Slide Number Placeholder 3"/>
          <p:cNvSpPr>
            <a:spLocks noGrp="1"/>
          </p:cNvSpPr>
          <p:nvPr>
            <p:ph type="sldNum" sz="quarter" idx="5"/>
          </p:nvPr>
        </p:nvSpPr>
        <p:spPr/>
        <p:txBody>
          <a:bodyPr/>
          <a:lstStyle/>
          <a:p>
            <a:fld id="{C2E80F57-2801-4EB6-B05D-E7FC9F9974FA}" type="slidenum">
              <a:rPr lang="en-US" smtClean="0"/>
              <a:t>45</a:t>
            </a:fld>
            <a:endParaRPr lang="en-US"/>
          </a:p>
        </p:txBody>
      </p:sp>
    </p:spTree>
    <p:extLst>
      <p:ext uri="{BB962C8B-B14F-4D97-AF65-F5344CB8AC3E}">
        <p14:creationId xmlns:p14="http://schemas.microsoft.com/office/powerpoint/2010/main" val="686970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a:t>
            </a:fld>
            <a:endParaRPr sz="12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3274314" y="1538224"/>
            <a:ext cx="4539615" cy="1694814"/>
          </a:xfrm>
          <a:prstGeom prst="rect">
            <a:avLst/>
          </a:prstGeom>
        </p:spPr>
        <p:txBody>
          <a:bodyPr wrap="square" lIns="0" tIns="0" rIns="0" bIns="0">
            <a:spAutoFit/>
          </a:bodyPr>
          <a:lstStyle>
            <a:lvl1pPr>
              <a:defRPr sz="3600" b="1" i="0">
                <a:solidFill>
                  <a:schemeClr val="bg1"/>
                </a:solidFill>
                <a:latin typeface="Arial"/>
                <a:cs typeface="Arial"/>
              </a:defRPr>
            </a:lvl1pPr>
          </a:lstStyle>
          <a:p>
            <a:endParaRPr/>
          </a:p>
        </p:txBody>
      </p:sp>
      <p:sp>
        <p:nvSpPr>
          <p:cNvPr id="3" name="Holder 3"/>
          <p:cNvSpPr>
            <a:spLocks noGrp="1"/>
          </p:cNvSpPr>
          <p:nvPr>
            <p:ph type="body" idx="1"/>
          </p:nvPr>
        </p:nvSpPr>
        <p:spPr>
          <a:xfrm>
            <a:off x="1582292" y="1314767"/>
            <a:ext cx="6087745" cy="213867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10/21/2021</a:t>
            </a:fld>
            <a:endParaRPr lang="en-US"/>
          </a:p>
        </p:txBody>
      </p:sp>
      <p:sp>
        <p:nvSpPr>
          <p:cNvPr id="6" name="Holder 6"/>
          <p:cNvSpPr>
            <a:spLocks noGrp="1"/>
          </p:cNvSpPr>
          <p:nvPr>
            <p:ph type="sldNum" sz="quarter" idx="7"/>
          </p:nvPr>
        </p:nvSpPr>
        <p:spPr>
          <a:xfrm>
            <a:off x="7853933" y="6569709"/>
            <a:ext cx="963295" cy="256540"/>
          </a:xfrm>
          <a:prstGeom prst="rect">
            <a:avLst/>
          </a:prstGeom>
        </p:spPr>
        <p:txBody>
          <a:bodyPr wrap="square" lIns="0" tIns="0" rIns="0" bIns="0">
            <a:spAutoFit/>
          </a:bodyPr>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9.xml"/><Relationship Id="rId16"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7.jp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290066" y="4147173"/>
            <a:ext cx="6597650" cy="1999614"/>
          </a:xfrm>
          <a:prstGeom prst="rect">
            <a:avLst/>
          </a:prstGeom>
        </p:spPr>
        <p:txBody>
          <a:bodyPr vert="horz" wrap="square" lIns="0" tIns="77470" rIns="0" bIns="0" rtlCol="0">
            <a:spAutoFit/>
          </a:bodyPr>
          <a:lstStyle/>
          <a:p>
            <a:pPr marL="339725">
              <a:lnSpc>
                <a:spcPct val="100000"/>
              </a:lnSpc>
              <a:spcBef>
                <a:spcPts val="610"/>
              </a:spcBef>
            </a:pPr>
            <a:r>
              <a:rPr sz="2800" b="1" dirty="0">
                <a:latin typeface="Book Antiqua"/>
                <a:cs typeface="Book Antiqua"/>
              </a:rPr>
              <a:t>Session:</a:t>
            </a:r>
            <a:r>
              <a:rPr sz="2800" b="1" spc="-5" dirty="0">
                <a:latin typeface="Book Antiqua"/>
                <a:cs typeface="Book Antiqua"/>
              </a:rPr>
              <a:t> </a:t>
            </a:r>
            <a:r>
              <a:rPr sz="2800" b="1" dirty="0">
                <a:latin typeface="Book Antiqua"/>
                <a:cs typeface="Book Antiqua"/>
              </a:rPr>
              <a:t>10</a:t>
            </a:r>
            <a:endParaRPr sz="2800">
              <a:latin typeface="Book Antiqua"/>
              <a:cs typeface="Book Antiqua"/>
            </a:endParaRPr>
          </a:p>
          <a:p>
            <a:pPr marL="234315" marR="5080" indent="-222250">
              <a:lnSpc>
                <a:spcPct val="101000"/>
              </a:lnSpc>
              <a:spcBef>
                <a:spcPts val="765"/>
              </a:spcBef>
              <a:tabLst>
                <a:tab pos="1852930" algn="l"/>
                <a:tab pos="3854450" algn="l"/>
              </a:tabLst>
            </a:pPr>
            <a:r>
              <a:rPr sz="4500" b="1" i="1" dirty="0">
                <a:latin typeface="Book Antiqua"/>
                <a:cs typeface="Book Antiqua"/>
              </a:rPr>
              <a:t>Views,	</a:t>
            </a:r>
            <a:r>
              <a:rPr sz="4500" b="1" i="1" spc="-5" dirty="0">
                <a:latin typeface="Book Antiqua"/>
                <a:cs typeface="Book Antiqua"/>
              </a:rPr>
              <a:t>Stored</a:t>
            </a:r>
            <a:r>
              <a:rPr sz="4500" b="1" i="1" spc="-100" dirty="0">
                <a:latin typeface="Book Antiqua"/>
                <a:cs typeface="Book Antiqua"/>
              </a:rPr>
              <a:t> </a:t>
            </a:r>
            <a:r>
              <a:rPr sz="4500" b="1" i="1" dirty="0">
                <a:latin typeface="Book Antiqua"/>
                <a:cs typeface="Book Antiqua"/>
              </a:rPr>
              <a:t>Procedures,  </a:t>
            </a:r>
            <a:r>
              <a:rPr sz="4500" b="1" i="1" spc="-5" dirty="0">
                <a:latin typeface="Book Antiqua"/>
                <a:cs typeface="Book Antiqua"/>
              </a:rPr>
              <a:t>and Querying	</a:t>
            </a:r>
            <a:r>
              <a:rPr sz="4500" b="1" i="1" dirty="0">
                <a:latin typeface="Book Antiqua"/>
                <a:cs typeface="Book Antiqua"/>
              </a:rPr>
              <a:t>Metadata</a:t>
            </a:r>
            <a:endParaRPr sz="4500">
              <a:latin typeface="Book Antiqua"/>
              <a:cs typeface="Book Antiqua"/>
            </a:endParaRPr>
          </a:p>
        </p:txBody>
      </p:sp>
      <p:sp>
        <p:nvSpPr>
          <p:cNvPr id="7" name="object 7"/>
          <p:cNvSpPr txBox="1">
            <a:spLocks noGrp="1"/>
          </p:cNvSpPr>
          <p:nvPr>
            <p:ph type="title"/>
          </p:nvPr>
        </p:nvSpPr>
        <p:spPr>
          <a:prstGeom prst="rect">
            <a:avLst/>
          </a:prstGeom>
        </p:spPr>
        <p:txBody>
          <a:bodyPr vert="horz" wrap="square" lIns="0" tIns="1270" rIns="0" bIns="0" rtlCol="0">
            <a:spAutoFit/>
          </a:bodyPr>
          <a:lstStyle/>
          <a:p>
            <a:pPr marL="12065" marR="5080" indent="1905" algn="ctr">
              <a:lnSpc>
                <a:spcPct val="102099"/>
              </a:lnSpc>
              <a:spcBef>
                <a:spcPts val="10"/>
              </a:spcBef>
            </a:pPr>
            <a:r>
              <a:rPr spc="-110" dirty="0"/>
              <a:t>Intelligent </a:t>
            </a:r>
            <a:r>
              <a:rPr spc="-125" dirty="0"/>
              <a:t>Data  </a:t>
            </a:r>
            <a:r>
              <a:rPr spc="-215" dirty="0"/>
              <a:t>Management </a:t>
            </a:r>
            <a:r>
              <a:rPr spc="-55" dirty="0"/>
              <a:t>with</a:t>
            </a:r>
            <a:r>
              <a:rPr spc="-440" dirty="0"/>
              <a:t> </a:t>
            </a:r>
            <a:r>
              <a:rPr spc="-55" dirty="0"/>
              <a:t>SQL  </a:t>
            </a:r>
            <a:r>
              <a:rPr spc="-215" dirty="0"/>
              <a:t>Server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z="4000" b="0" spc="-25" dirty="0">
                <a:latin typeface="Arial"/>
                <a:cs typeface="Arial"/>
              </a:rPr>
              <a:t>Objectives</a:t>
            </a:r>
            <a:endParaRPr sz="4000">
              <a:latin typeface="Arial"/>
              <a:cs typeface="Arial"/>
            </a:endParaRPr>
          </a:p>
        </p:txBody>
      </p:sp>
      <p:sp>
        <p:nvSpPr>
          <p:cNvPr id="5" name="object 5"/>
          <p:cNvSpPr txBox="1"/>
          <p:nvPr/>
        </p:nvSpPr>
        <p:spPr>
          <a:xfrm>
            <a:off x="7853933" y="6569709"/>
            <a:ext cx="887730"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67" baseline="4629" dirty="0">
                <a:latin typeface="Arial"/>
                <a:cs typeface="Arial"/>
              </a:rPr>
              <a:t>10/</a:t>
            </a:r>
            <a:r>
              <a:rPr sz="1800" spc="-240" baseline="4629" dirty="0">
                <a:latin typeface="Arial"/>
                <a:cs typeface="Arial"/>
              </a:rPr>
              <a:t> </a:t>
            </a:r>
            <a:fld id="{81D60167-4931-47E6-BA6A-407CBD079E47}" type="slidenum">
              <a:rPr sz="1200" spc="-65" dirty="0">
                <a:latin typeface="Arial"/>
                <a:cs typeface="Arial"/>
              </a:rPr>
              <a:t>2</a:t>
            </a:fld>
            <a:endParaRPr sz="1200">
              <a:latin typeface="Arial"/>
              <a:cs typeface="Arial"/>
            </a:endParaRPr>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1463040"/>
            <a:ext cx="8072120" cy="2952115"/>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20" dirty="0">
                <a:latin typeface="Arial"/>
                <a:cs typeface="Arial"/>
              </a:rPr>
              <a:t>Define</a:t>
            </a:r>
            <a:r>
              <a:rPr sz="2400" spc="-180" dirty="0">
                <a:latin typeface="Arial"/>
                <a:cs typeface="Arial"/>
              </a:rPr>
              <a:t> </a:t>
            </a:r>
            <a:r>
              <a:rPr sz="2400" spc="-45" dirty="0">
                <a:latin typeface="Arial"/>
                <a:cs typeface="Arial"/>
              </a:rPr>
              <a:t>views</a:t>
            </a:r>
            <a:endParaRPr sz="2400">
              <a:latin typeface="Arial"/>
              <a:cs typeface="Arial"/>
            </a:endParaRPr>
          </a:p>
          <a:p>
            <a:pPr marL="353695" indent="-341630">
              <a:lnSpc>
                <a:spcPct val="100000"/>
              </a:lnSpc>
              <a:buFont typeface="Calibri"/>
              <a:buChar char="●"/>
              <a:tabLst>
                <a:tab pos="353695" algn="l"/>
                <a:tab pos="354330" algn="l"/>
              </a:tabLst>
            </a:pPr>
            <a:r>
              <a:rPr sz="2400" spc="-55" dirty="0">
                <a:latin typeface="Arial"/>
                <a:cs typeface="Arial"/>
              </a:rPr>
              <a:t>Describe</a:t>
            </a:r>
            <a:r>
              <a:rPr sz="2400" spc="-165" dirty="0">
                <a:latin typeface="Arial"/>
                <a:cs typeface="Arial"/>
              </a:rPr>
              <a:t> </a:t>
            </a:r>
            <a:r>
              <a:rPr sz="2400" dirty="0">
                <a:latin typeface="Arial"/>
                <a:cs typeface="Arial"/>
              </a:rPr>
              <a:t>the</a:t>
            </a:r>
            <a:r>
              <a:rPr sz="2400" spc="-155" dirty="0">
                <a:latin typeface="Arial"/>
                <a:cs typeface="Arial"/>
              </a:rPr>
              <a:t> </a:t>
            </a:r>
            <a:r>
              <a:rPr sz="2400" spc="-5" dirty="0">
                <a:latin typeface="Arial"/>
                <a:cs typeface="Arial"/>
              </a:rPr>
              <a:t>technique</a:t>
            </a:r>
            <a:r>
              <a:rPr sz="2400" spc="-160" dirty="0">
                <a:latin typeface="Arial"/>
                <a:cs typeface="Arial"/>
              </a:rPr>
              <a:t> </a:t>
            </a:r>
            <a:r>
              <a:rPr sz="2400" spc="65" dirty="0">
                <a:latin typeface="Arial"/>
                <a:cs typeface="Arial"/>
              </a:rPr>
              <a:t>to</a:t>
            </a:r>
            <a:r>
              <a:rPr sz="2400" spc="-145" dirty="0">
                <a:latin typeface="Arial"/>
                <a:cs typeface="Arial"/>
              </a:rPr>
              <a:t> </a:t>
            </a:r>
            <a:r>
              <a:rPr sz="2400" spc="-85" dirty="0">
                <a:latin typeface="Arial"/>
                <a:cs typeface="Arial"/>
              </a:rPr>
              <a:t>create,</a:t>
            </a:r>
            <a:r>
              <a:rPr sz="2400" spc="-160" dirty="0">
                <a:latin typeface="Arial"/>
                <a:cs typeface="Arial"/>
              </a:rPr>
              <a:t> </a:t>
            </a:r>
            <a:r>
              <a:rPr sz="2400" spc="-25" dirty="0">
                <a:latin typeface="Arial"/>
                <a:cs typeface="Arial"/>
              </a:rPr>
              <a:t>alter,</a:t>
            </a:r>
            <a:r>
              <a:rPr sz="2400" spc="-145" dirty="0">
                <a:latin typeface="Arial"/>
                <a:cs typeface="Arial"/>
              </a:rPr>
              <a:t> </a:t>
            </a:r>
            <a:r>
              <a:rPr sz="2400" spc="-45" dirty="0">
                <a:latin typeface="Arial"/>
                <a:cs typeface="Arial"/>
              </a:rPr>
              <a:t>and</a:t>
            </a:r>
            <a:r>
              <a:rPr sz="2400" spc="-150" dirty="0">
                <a:latin typeface="Arial"/>
                <a:cs typeface="Arial"/>
              </a:rPr>
              <a:t> </a:t>
            </a:r>
            <a:r>
              <a:rPr sz="2400" spc="20" dirty="0">
                <a:latin typeface="Arial"/>
                <a:cs typeface="Arial"/>
              </a:rPr>
              <a:t>drop</a:t>
            </a:r>
            <a:r>
              <a:rPr sz="2400" spc="-160" dirty="0">
                <a:latin typeface="Arial"/>
                <a:cs typeface="Arial"/>
              </a:rPr>
              <a:t> </a:t>
            </a:r>
            <a:r>
              <a:rPr sz="2400" spc="-45" dirty="0">
                <a:latin typeface="Arial"/>
                <a:cs typeface="Arial"/>
              </a:rPr>
              <a:t>views</a:t>
            </a:r>
            <a:endParaRPr sz="2400">
              <a:latin typeface="Arial"/>
              <a:cs typeface="Arial"/>
            </a:endParaRPr>
          </a:p>
          <a:p>
            <a:pPr marL="353695" indent="-341630">
              <a:lnSpc>
                <a:spcPct val="100000"/>
              </a:lnSpc>
              <a:buFont typeface="Calibri"/>
              <a:buChar char="●"/>
              <a:tabLst>
                <a:tab pos="353695" algn="l"/>
                <a:tab pos="354330" algn="l"/>
              </a:tabLst>
            </a:pPr>
            <a:r>
              <a:rPr sz="2400" spc="20" dirty="0">
                <a:latin typeface="Arial"/>
                <a:cs typeface="Arial"/>
              </a:rPr>
              <a:t>Define</a:t>
            </a:r>
            <a:r>
              <a:rPr sz="2400" spc="-180" dirty="0">
                <a:latin typeface="Arial"/>
                <a:cs typeface="Arial"/>
              </a:rPr>
              <a:t> </a:t>
            </a:r>
            <a:r>
              <a:rPr sz="2400" spc="-40" dirty="0">
                <a:latin typeface="Arial"/>
                <a:cs typeface="Arial"/>
              </a:rPr>
              <a:t>stored</a:t>
            </a:r>
            <a:r>
              <a:rPr sz="2400" spc="-165" dirty="0">
                <a:latin typeface="Arial"/>
                <a:cs typeface="Arial"/>
              </a:rPr>
              <a:t> </a:t>
            </a:r>
            <a:r>
              <a:rPr sz="2400" spc="-60" dirty="0">
                <a:latin typeface="Arial"/>
                <a:cs typeface="Arial"/>
              </a:rPr>
              <a:t>procedures</a:t>
            </a:r>
            <a:r>
              <a:rPr sz="2400" spc="-170" dirty="0">
                <a:latin typeface="Arial"/>
                <a:cs typeface="Arial"/>
              </a:rPr>
              <a:t> </a:t>
            </a:r>
            <a:r>
              <a:rPr sz="2400" spc="-45" dirty="0">
                <a:latin typeface="Arial"/>
                <a:cs typeface="Arial"/>
              </a:rPr>
              <a:t>and</a:t>
            </a:r>
            <a:r>
              <a:rPr sz="2400" spc="-155" dirty="0">
                <a:latin typeface="Arial"/>
                <a:cs typeface="Arial"/>
              </a:rPr>
              <a:t> </a:t>
            </a:r>
            <a:r>
              <a:rPr sz="2400" spc="15" dirty="0">
                <a:latin typeface="Arial"/>
                <a:cs typeface="Arial"/>
              </a:rPr>
              <a:t>its</a:t>
            </a:r>
            <a:r>
              <a:rPr sz="2400" spc="-155" dirty="0">
                <a:latin typeface="Arial"/>
                <a:cs typeface="Arial"/>
              </a:rPr>
              <a:t> </a:t>
            </a:r>
            <a:r>
              <a:rPr sz="2400" spc="-70" dirty="0">
                <a:latin typeface="Arial"/>
                <a:cs typeface="Arial"/>
              </a:rPr>
              <a:t>types</a:t>
            </a:r>
            <a:endParaRPr sz="2400">
              <a:latin typeface="Arial"/>
              <a:cs typeface="Arial"/>
            </a:endParaRPr>
          </a:p>
          <a:p>
            <a:pPr marL="353695" marR="5080" indent="-341630">
              <a:lnSpc>
                <a:spcPct val="100000"/>
              </a:lnSpc>
              <a:buFont typeface="Calibri"/>
              <a:buChar char="●"/>
              <a:tabLst>
                <a:tab pos="353695" algn="l"/>
                <a:tab pos="354330" algn="l"/>
              </a:tabLst>
            </a:pPr>
            <a:r>
              <a:rPr sz="2400" spc="-55" dirty="0">
                <a:latin typeface="Arial"/>
                <a:cs typeface="Arial"/>
              </a:rPr>
              <a:t>Describe </a:t>
            </a:r>
            <a:r>
              <a:rPr sz="2400" dirty="0">
                <a:latin typeface="Arial"/>
                <a:cs typeface="Arial"/>
              </a:rPr>
              <a:t>the </a:t>
            </a:r>
            <a:r>
              <a:rPr sz="2400" spc="-35" dirty="0">
                <a:latin typeface="Arial"/>
                <a:cs typeface="Arial"/>
              </a:rPr>
              <a:t>procedure </a:t>
            </a:r>
            <a:r>
              <a:rPr sz="2400" spc="65" dirty="0">
                <a:latin typeface="Arial"/>
                <a:cs typeface="Arial"/>
              </a:rPr>
              <a:t>to </a:t>
            </a:r>
            <a:r>
              <a:rPr sz="2400" spc="-85" dirty="0">
                <a:latin typeface="Arial"/>
                <a:cs typeface="Arial"/>
              </a:rPr>
              <a:t>create, </a:t>
            </a:r>
            <a:r>
              <a:rPr sz="2400" spc="-25" dirty="0">
                <a:latin typeface="Arial"/>
                <a:cs typeface="Arial"/>
              </a:rPr>
              <a:t>alter, </a:t>
            </a:r>
            <a:r>
              <a:rPr sz="2400" spc="-45" dirty="0">
                <a:latin typeface="Arial"/>
                <a:cs typeface="Arial"/>
              </a:rPr>
              <a:t>and </a:t>
            </a:r>
            <a:r>
              <a:rPr sz="2400" spc="-65" dirty="0">
                <a:latin typeface="Arial"/>
                <a:cs typeface="Arial"/>
              </a:rPr>
              <a:t>execute </a:t>
            </a:r>
            <a:r>
              <a:rPr sz="2400" spc="-40" dirty="0">
                <a:latin typeface="Arial"/>
                <a:cs typeface="Arial"/>
              </a:rPr>
              <a:t>stored  </a:t>
            </a:r>
            <a:r>
              <a:rPr sz="2400" spc="-60" dirty="0">
                <a:latin typeface="Arial"/>
                <a:cs typeface="Arial"/>
              </a:rPr>
              <a:t>procedures</a:t>
            </a:r>
            <a:endParaRPr sz="2400">
              <a:latin typeface="Arial"/>
              <a:cs typeface="Arial"/>
            </a:endParaRPr>
          </a:p>
          <a:p>
            <a:pPr marL="353695" indent="-341630">
              <a:lnSpc>
                <a:spcPct val="100000"/>
              </a:lnSpc>
              <a:buFont typeface="Calibri"/>
              <a:buChar char="●"/>
              <a:tabLst>
                <a:tab pos="353695" algn="l"/>
                <a:tab pos="354330" algn="l"/>
              </a:tabLst>
            </a:pPr>
            <a:r>
              <a:rPr sz="2400" spc="-55" dirty="0">
                <a:latin typeface="Arial"/>
                <a:cs typeface="Arial"/>
              </a:rPr>
              <a:t>Describe </a:t>
            </a:r>
            <a:r>
              <a:rPr sz="2400" spc="-75" dirty="0">
                <a:latin typeface="Arial"/>
                <a:cs typeface="Arial"/>
              </a:rPr>
              <a:t>nested </a:t>
            </a:r>
            <a:r>
              <a:rPr sz="2400" spc="-40" dirty="0">
                <a:latin typeface="Arial"/>
                <a:cs typeface="Arial"/>
              </a:rPr>
              <a:t>stored</a:t>
            </a:r>
            <a:r>
              <a:rPr sz="2400" spc="-375" dirty="0">
                <a:latin typeface="Arial"/>
                <a:cs typeface="Arial"/>
              </a:rPr>
              <a:t> </a:t>
            </a:r>
            <a:r>
              <a:rPr sz="2400" spc="-60" dirty="0">
                <a:latin typeface="Arial"/>
                <a:cs typeface="Arial"/>
              </a:rPr>
              <a:t>procedures</a:t>
            </a:r>
            <a:endParaRPr sz="2400">
              <a:latin typeface="Arial"/>
              <a:cs typeface="Arial"/>
            </a:endParaRPr>
          </a:p>
          <a:p>
            <a:pPr marL="353695" marR="6350" indent="-341630">
              <a:lnSpc>
                <a:spcPct val="100000"/>
              </a:lnSpc>
              <a:buFont typeface="Calibri"/>
              <a:buChar char="●"/>
              <a:tabLst>
                <a:tab pos="353695" algn="l"/>
                <a:tab pos="354330" algn="l"/>
              </a:tabLst>
            </a:pPr>
            <a:r>
              <a:rPr sz="2400" spc="-55" dirty="0">
                <a:latin typeface="Arial"/>
                <a:cs typeface="Arial"/>
              </a:rPr>
              <a:t>Describe </a:t>
            </a:r>
            <a:r>
              <a:rPr sz="2400" spc="-5" dirty="0">
                <a:latin typeface="Arial"/>
                <a:cs typeface="Arial"/>
              </a:rPr>
              <a:t>querying </a:t>
            </a:r>
            <a:r>
              <a:rPr sz="2400" spc="25" dirty="0">
                <a:latin typeface="Arial"/>
                <a:cs typeface="Arial"/>
              </a:rPr>
              <a:t>SQL </a:t>
            </a:r>
            <a:r>
              <a:rPr sz="2400" spc="-65" dirty="0">
                <a:latin typeface="Arial"/>
                <a:cs typeface="Arial"/>
              </a:rPr>
              <a:t>Server </a:t>
            </a:r>
            <a:r>
              <a:rPr sz="2400" spc="-75" dirty="0">
                <a:latin typeface="Arial"/>
                <a:cs typeface="Arial"/>
              </a:rPr>
              <a:t>metadata </a:t>
            </a:r>
            <a:r>
              <a:rPr sz="2400" spc="-85" dirty="0">
                <a:latin typeface="Arial"/>
                <a:cs typeface="Arial"/>
              </a:rPr>
              <a:t>System </a:t>
            </a:r>
            <a:r>
              <a:rPr sz="2400" spc="-25" dirty="0">
                <a:latin typeface="Arial"/>
                <a:cs typeface="Arial"/>
              </a:rPr>
              <a:t>Catalog  </a:t>
            </a:r>
            <a:r>
              <a:rPr sz="2400" spc="-45" dirty="0">
                <a:latin typeface="Arial"/>
                <a:cs typeface="Arial"/>
              </a:rPr>
              <a:t>views and</a:t>
            </a:r>
            <a:r>
              <a:rPr sz="2400" spc="-280" dirty="0">
                <a:latin typeface="Arial"/>
                <a:cs typeface="Arial"/>
              </a:rPr>
              <a:t> </a:t>
            </a:r>
            <a:r>
              <a:rPr sz="2400" spc="30" dirty="0">
                <a:latin typeface="Arial"/>
                <a:cs typeface="Arial"/>
              </a:rPr>
              <a:t>functions</a:t>
            </a:r>
            <a:endParaRPr sz="24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841625" cy="635635"/>
          </a:xfrm>
          <a:prstGeom prst="rect">
            <a:avLst/>
          </a:prstGeom>
        </p:spPr>
        <p:txBody>
          <a:bodyPr vert="horz" wrap="square" lIns="0" tIns="12700" rIns="0" bIns="0" rtlCol="0">
            <a:spAutoFit/>
          </a:bodyPr>
          <a:lstStyle/>
          <a:p>
            <a:pPr marL="12700">
              <a:lnSpc>
                <a:spcPct val="100000"/>
              </a:lnSpc>
              <a:spcBef>
                <a:spcPts val="100"/>
              </a:spcBef>
            </a:pPr>
            <a:r>
              <a:rPr sz="4000" b="0" spc="105" dirty="0">
                <a:latin typeface="Arial"/>
                <a:cs typeface="Arial"/>
              </a:rPr>
              <a:t>Introduction</a:t>
            </a:r>
            <a:endParaRPr sz="4000">
              <a:latin typeface="Arial"/>
              <a:cs typeface="Arial"/>
            </a:endParaRPr>
          </a:p>
        </p:txBody>
      </p:sp>
      <p:sp>
        <p:nvSpPr>
          <p:cNvPr id="3" name="object 3"/>
          <p:cNvSpPr txBox="1"/>
          <p:nvPr/>
        </p:nvSpPr>
        <p:spPr>
          <a:xfrm>
            <a:off x="329438" y="935736"/>
            <a:ext cx="7497445" cy="361315"/>
          </a:xfrm>
          <a:prstGeom prst="rect">
            <a:avLst/>
          </a:prstGeom>
        </p:spPr>
        <p:txBody>
          <a:bodyPr vert="horz" wrap="square" lIns="0" tIns="12700" rIns="0" bIns="0" rtlCol="0">
            <a:spAutoFit/>
          </a:bodyPr>
          <a:lstStyle/>
          <a:p>
            <a:pPr marL="12700">
              <a:lnSpc>
                <a:spcPct val="100000"/>
              </a:lnSpc>
              <a:spcBef>
                <a:spcPts val="100"/>
              </a:spcBef>
            </a:pPr>
            <a:r>
              <a:rPr sz="2000" spc="-5" dirty="0">
                <a:latin typeface="Segoe UI Symbol"/>
                <a:cs typeface="Segoe UI Symbol"/>
              </a:rPr>
              <a:t>⮚</a:t>
            </a:r>
            <a:r>
              <a:rPr sz="2000" spc="420" dirty="0">
                <a:latin typeface="Segoe UI Symbol"/>
                <a:cs typeface="Segoe UI Symbol"/>
              </a:rPr>
              <a:t> </a:t>
            </a:r>
            <a:r>
              <a:rPr sz="2200" spc="195" dirty="0">
                <a:latin typeface="Arial"/>
                <a:cs typeface="Arial"/>
              </a:rPr>
              <a:t>An</a:t>
            </a:r>
            <a:r>
              <a:rPr sz="2200" spc="-145" dirty="0">
                <a:latin typeface="Arial"/>
                <a:cs typeface="Arial"/>
              </a:rPr>
              <a:t> </a:t>
            </a:r>
            <a:r>
              <a:rPr sz="2200" spc="25" dirty="0">
                <a:latin typeface="Arial"/>
                <a:cs typeface="Arial"/>
              </a:rPr>
              <a:t>SQL</a:t>
            </a:r>
            <a:r>
              <a:rPr sz="2200" spc="-150" dirty="0">
                <a:latin typeface="Arial"/>
                <a:cs typeface="Arial"/>
              </a:rPr>
              <a:t> </a:t>
            </a:r>
            <a:r>
              <a:rPr sz="2200" spc="-55" dirty="0">
                <a:latin typeface="Arial"/>
                <a:cs typeface="Arial"/>
              </a:rPr>
              <a:t>Server</a:t>
            </a:r>
            <a:r>
              <a:rPr sz="2200" spc="-150" dirty="0">
                <a:latin typeface="Arial"/>
                <a:cs typeface="Arial"/>
              </a:rPr>
              <a:t> </a:t>
            </a:r>
            <a:r>
              <a:rPr sz="2200" spc="-120" dirty="0">
                <a:latin typeface="Arial"/>
                <a:cs typeface="Arial"/>
              </a:rPr>
              <a:t>database</a:t>
            </a:r>
            <a:r>
              <a:rPr sz="2200" spc="-170" dirty="0">
                <a:latin typeface="Arial"/>
                <a:cs typeface="Arial"/>
              </a:rPr>
              <a:t> </a:t>
            </a:r>
            <a:r>
              <a:rPr sz="2200" spc="-125" dirty="0">
                <a:latin typeface="Arial"/>
                <a:cs typeface="Arial"/>
              </a:rPr>
              <a:t>has</a:t>
            </a:r>
            <a:r>
              <a:rPr sz="2200" spc="-165" dirty="0">
                <a:latin typeface="Arial"/>
                <a:cs typeface="Arial"/>
              </a:rPr>
              <a:t> </a:t>
            </a:r>
            <a:r>
              <a:rPr sz="2200" spc="60" dirty="0">
                <a:latin typeface="Arial"/>
                <a:cs typeface="Arial"/>
              </a:rPr>
              <a:t>two</a:t>
            </a:r>
            <a:r>
              <a:rPr sz="2200" spc="-155" dirty="0">
                <a:latin typeface="Arial"/>
                <a:cs typeface="Arial"/>
              </a:rPr>
              <a:t> </a:t>
            </a:r>
            <a:r>
              <a:rPr sz="2200" spc="-5" dirty="0">
                <a:latin typeface="Arial"/>
                <a:cs typeface="Arial"/>
              </a:rPr>
              <a:t>main</a:t>
            </a:r>
            <a:r>
              <a:rPr sz="2200" spc="-150" dirty="0">
                <a:latin typeface="Arial"/>
                <a:cs typeface="Arial"/>
              </a:rPr>
              <a:t> </a:t>
            </a:r>
            <a:r>
              <a:rPr sz="2200" spc="-75" dirty="0">
                <a:latin typeface="Arial"/>
                <a:cs typeface="Arial"/>
              </a:rPr>
              <a:t>categories</a:t>
            </a:r>
            <a:r>
              <a:rPr sz="2200" spc="-155" dirty="0">
                <a:latin typeface="Arial"/>
                <a:cs typeface="Arial"/>
              </a:rPr>
              <a:t> </a:t>
            </a:r>
            <a:r>
              <a:rPr sz="2200" spc="60" dirty="0">
                <a:latin typeface="Arial"/>
                <a:cs typeface="Arial"/>
              </a:rPr>
              <a:t>of</a:t>
            </a:r>
            <a:r>
              <a:rPr sz="2200" spc="-155" dirty="0">
                <a:latin typeface="Arial"/>
                <a:cs typeface="Arial"/>
              </a:rPr>
              <a:t> </a:t>
            </a:r>
            <a:r>
              <a:rPr sz="2200" spc="-45" dirty="0">
                <a:latin typeface="Arial"/>
                <a:cs typeface="Arial"/>
              </a:rPr>
              <a:t>objects:</a:t>
            </a:r>
            <a:endParaRPr sz="2200">
              <a:latin typeface="Arial"/>
              <a:cs typeface="Arial"/>
            </a:endParaRPr>
          </a:p>
        </p:txBody>
      </p:sp>
      <p:grpSp>
        <p:nvGrpSpPr>
          <p:cNvPr id="4" name="object 4"/>
          <p:cNvGrpSpPr/>
          <p:nvPr/>
        </p:nvGrpSpPr>
        <p:grpSpPr>
          <a:xfrm>
            <a:off x="1501902" y="1738883"/>
            <a:ext cx="6353175" cy="1353820"/>
            <a:chOff x="1501902" y="1738883"/>
            <a:chExt cx="6353175" cy="1353820"/>
          </a:xfrm>
        </p:grpSpPr>
        <p:sp>
          <p:nvSpPr>
            <p:cNvPr id="5" name="object 5"/>
            <p:cNvSpPr/>
            <p:nvPr/>
          </p:nvSpPr>
          <p:spPr>
            <a:xfrm>
              <a:off x="1514475" y="1751456"/>
              <a:ext cx="6327775" cy="632460"/>
            </a:xfrm>
            <a:custGeom>
              <a:avLst/>
              <a:gdLst/>
              <a:ahLst/>
              <a:cxnLst/>
              <a:rect l="l" t="t" r="r" b="b"/>
              <a:pathLst>
                <a:path w="6327775" h="632460">
                  <a:moveTo>
                    <a:pt x="6126861" y="0"/>
                  </a:moveTo>
                  <a:lnTo>
                    <a:pt x="200787" y="0"/>
                  </a:lnTo>
                  <a:lnTo>
                    <a:pt x="137330" y="3224"/>
                  </a:lnTo>
                  <a:lnTo>
                    <a:pt x="82213" y="12204"/>
                  </a:lnTo>
                  <a:lnTo>
                    <a:pt x="38746" y="25895"/>
                  </a:lnTo>
                  <a:lnTo>
                    <a:pt x="10238" y="43257"/>
                  </a:lnTo>
                  <a:lnTo>
                    <a:pt x="0" y="63246"/>
                  </a:lnTo>
                  <a:lnTo>
                    <a:pt x="0" y="569214"/>
                  </a:lnTo>
                  <a:lnTo>
                    <a:pt x="38746" y="606564"/>
                  </a:lnTo>
                  <a:lnTo>
                    <a:pt x="82213" y="620255"/>
                  </a:lnTo>
                  <a:lnTo>
                    <a:pt x="137330" y="629235"/>
                  </a:lnTo>
                  <a:lnTo>
                    <a:pt x="200787" y="632460"/>
                  </a:lnTo>
                  <a:lnTo>
                    <a:pt x="6126861" y="632460"/>
                  </a:lnTo>
                  <a:lnTo>
                    <a:pt x="6190317" y="629235"/>
                  </a:lnTo>
                  <a:lnTo>
                    <a:pt x="6245434" y="620255"/>
                  </a:lnTo>
                  <a:lnTo>
                    <a:pt x="6288901" y="606564"/>
                  </a:lnTo>
                  <a:lnTo>
                    <a:pt x="6327648" y="569214"/>
                  </a:lnTo>
                  <a:lnTo>
                    <a:pt x="6327648" y="63246"/>
                  </a:lnTo>
                  <a:lnTo>
                    <a:pt x="6288901" y="25895"/>
                  </a:lnTo>
                  <a:lnTo>
                    <a:pt x="6245434" y="12204"/>
                  </a:lnTo>
                  <a:lnTo>
                    <a:pt x="6190317" y="3224"/>
                  </a:lnTo>
                  <a:lnTo>
                    <a:pt x="6126861" y="0"/>
                  </a:lnTo>
                  <a:close/>
                </a:path>
              </a:pathLst>
            </a:custGeom>
            <a:solidFill>
              <a:srgbClr val="8063A1"/>
            </a:solidFill>
          </p:spPr>
          <p:txBody>
            <a:bodyPr wrap="square" lIns="0" tIns="0" rIns="0" bIns="0" rtlCol="0"/>
            <a:lstStyle/>
            <a:p>
              <a:endParaRPr/>
            </a:p>
          </p:txBody>
        </p:sp>
        <p:sp>
          <p:nvSpPr>
            <p:cNvPr id="6" name="object 6"/>
            <p:cNvSpPr/>
            <p:nvPr/>
          </p:nvSpPr>
          <p:spPr>
            <a:xfrm>
              <a:off x="1514475" y="1751456"/>
              <a:ext cx="6327775" cy="632460"/>
            </a:xfrm>
            <a:custGeom>
              <a:avLst/>
              <a:gdLst/>
              <a:ahLst/>
              <a:cxnLst/>
              <a:rect l="l" t="t" r="r" b="b"/>
              <a:pathLst>
                <a:path w="6327775" h="632460">
                  <a:moveTo>
                    <a:pt x="0" y="63246"/>
                  </a:moveTo>
                  <a:lnTo>
                    <a:pt x="38746" y="25895"/>
                  </a:lnTo>
                  <a:lnTo>
                    <a:pt x="82213" y="12204"/>
                  </a:lnTo>
                  <a:lnTo>
                    <a:pt x="137330" y="3224"/>
                  </a:lnTo>
                  <a:lnTo>
                    <a:pt x="200787" y="0"/>
                  </a:lnTo>
                  <a:lnTo>
                    <a:pt x="6126861" y="0"/>
                  </a:lnTo>
                  <a:lnTo>
                    <a:pt x="6190317" y="3224"/>
                  </a:lnTo>
                  <a:lnTo>
                    <a:pt x="6245434" y="12204"/>
                  </a:lnTo>
                  <a:lnTo>
                    <a:pt x="6288901" y="25895"/>
                  </a:lnTo>
                  <a:lnTo>
                    <a:pt x="6327648" y="63246"/>
                  </a:lnTo>
                  <a:lnTo>
                    <a:pt x="6327648" y="113842"/>
                  </a:lnTo>
                  <a:lnTo>
                    <a:pt x="6327648" y="164439"/>
                  </a:lnTo>
                  <a:lnTo>
                    <a:pt x="6327648" y="569214"/>
                  </a:lnTo>
                  <a:lnTo>
                    <a:pt x="6317409" y="589202"/>
                  </a:lnTo>
                  <a:lnTo>
                    <a:pt x="6288901" y="606564"/>
                  </a:lnTo>
                  <a:lnTo>
                    <a:pt x="6245434" y="620255"/>
                  </a:lnTo>
                  <a:lnTo>
                    <a:pt x="6190317" y="629235"/>
                  </a:lnTo>
                  <a:lnTo>
                    <a:pt x="6126861" y="632460"/>
                  </a:lnTo>
                  <a:lnTo>
                    <a:pt x="200787" y="632460"/>
                  </a:lnTo>
                  <a:lnTo>
                    <a:pt x="137330" y="629235"/>
                  </a:lnTo>
                  <a:lnTo>
                    <a:pt x="82213" y="620255"/>
                  </a:lnTo>
                  <a:lnTo>
                    <a:pt x="38746" y="606564"/>
                  </a:lnTo>
                  <a:lnTo>
                    <a:pt x="0" y="569214"/>
                  </a:lnTo>
                  <a:lnTo>
                    <a:pt x="0" y="63246"/>
                  </a:lnTo>
                  <a:close/>
                </a:path>
              </a:pathLst>
            </a:custGeom>
            <a:ln w="25146">
              <a:solidFill>
                <a:srgbClr val="FFFFFF"/>
              </a:solidFill>
            </a:ln>
          </p:spPr>
          <p:txBody>
            <a:bodyPr wrap="square" lIns="0" tIns="0" rIns="0" bIns="0" rtlCol="0"/>
            <a:lstStyle/>
            <a:p>
              <a:endParaRPr/>
            </a:p>
          </p:txBody>
        </p:sp>
        <p:sp>
          <p:nvSpPr>
            <p:cNvPr id="7" name="object 7"/>
            <p:cNvSpPr/>
            <p:nvPr/>
          </p:nvSpPr>
          <p:spPr>
            <a:xfrm>
              <a:off x="1623441" y="1823084"/>
              <a:ext cx="443230" cy="506095"/>
            </a:xfrm>
            <a:custGeom>
              <a:avLst/>
              <a:gdLst/>
              <a:ahLst/>
              <a:cxnLst/>
              <a:rect l="l" t="t" r="r" b="b"/>
              <a:pathLst>
                <a:path w="443230" h="506094">
                  <a:moveTo>
                    <a:pt x="398399" y="0"/>
                  </a:moveTo>
                  <a:lnTo>
                    <a:pt x="44323" y="0"/>
                  </a:lnTo>
                  <a:lnTo>
                    <a:pt x="27056" y="3478"/>
                  </a:lnTo>
                  <a:lnTo>
                    <a:pt x="12969" y="12969"/>
                  </a:lnTo>
                  <a:lnTo>
                    <a:pt x="3478" y="27056"/>
                  </a:lnTo>
                  <a:lnTo>
                    <a:pt x="0" y="44323"/>
                  </a:lnTo>
                  <a:lnTo>
                    <a:pt x="0" y="461645"/>
                  </a:lnTo>
                  <a:lnTo>
                    <a:pt x="3478" y="478911"/>
                  </a:lnTo>
                  <a:lnTo>
                    <a:pt x="12969" y="492998"/>
                  </a:lnTo>
                  <a:lnTo>
                    <a:pt x="27056" y="502489"/>
                  </a:lnTo>
                  <a:lnTo>
                    <a:pt x="44323" y="505968"/>
                  </a:lnTo>
                  <a:lnTo>
                    <a:pt x="398399" y="505968"/>
                  </a:lnTo>
                  <a:lnTo>
                    <a:pt x="415665" y="502489"/>
                  </a:lnTo>
                  <a:lnTo>
                    <a:pt x="429752" y="492998"/>
                  </a:lnTo>
                  <a:lnTo>
                    <a:pt x="439243" y="478911"/>
                  </a:lnTo>
                  <a:lnTo>
                    <a:pt x="442722" y="461645"/>
                  </a:lnTo>
                  <a:lnTo>
                    <a:pt x="442722" y="44323"/>
                  </a:lnTo>
                  <a:lnTo>
                    <a:pt x="439243" y="27056"/>
                  </a:lnTo>
                  <a:lnTo>
                    <a:pt x="429752" y="12969"/>
                  </a:lnTo>
                  <a:lnTo>
                    <a:pt x="415665" y="3478"/>
                  </a:lnTo>
                  <a:lnTo>
                    <a:pt x="398399" y="0"/>
                  </a:lnTo>
                  <a:close/>
                </a:path>
              </a:pathLst>
            </a:custGeom>
            <a:solidFill>
              <a:srgbClr val="CDC5D6"/>
            </a:solidFill>
          </p:spPr>
          <p:txBody>
            <a:bodyPr wrap="square" lIns="0" tIns="0" rIns="0" bIns="0" rtlCol="0"/>
            <a:lstStyle/>
            <a:p>
              <a:endParaRPr/>
            </a:p>
          </p:txBody>
        </p:sp>
        <p:sp>
          <p:nvSpPr>
            <p:cNvPr id="8" name="object 8"/>
            <p:cNvSpPr/>
            <p:nvPr/>
          </p:nvSpPr>
          <p:spPr>
            <a:xfrm>
              <a:off x="1623441" y="1823084"/>
              <a:ext cx="443230" cy="506095"/>
            </a:xfrm>
            <a:custGeom>
              <a:avLst/>
              <a:gdLst/>
              <a:ahLst/>
              <a:cxnLst/>
              <a:rect l="l" t="t" r="r" b="b"/>
              <a:pathLst>
                <a:path w="443230" h="506094">
                  <a:moveTo>
                    <a:pt x="0" y="44323"/>
                  </a:moveTo>
                  <a:lnTo>
                    <a:pt x="3478" y="27056"/>
                  </a:lnTo>
                  <a:lnTo>
                    <a:pt x="12969" y="12969"/>
                  </a:lnTo>
                  <a:lnTo>
                    <a:pt x="27056" y="3478"/>
                  </a:lnTo>
                  <a:lnTo>
                    <a:pt x="44323" y="0"/>
                  </a:lnTo>
                  <a:lnTo>
                    <a:pt x="398399" y="0"/>
                  </a:lnTo>
                  <a:lnTo>
                    <a:pt x="415665" y="3478"/>
                  </a:lnTo>
                  <a:lnTo>
                    <a:pt x="429752" y="12969"/>
                  </a:lnTo>
                  <a:lnTo>
                    <a:pt x="439243" y="27056"/>
                  </a:lnTo>
                  <a:lnTo>
                    <a:pt x="442722" y="44323"/>
                  </a:lnTo>
                  <a:lnTo>
                    <a:pt x="442722" y="461645"/>
                  </a:lnTo>
                  <a:lnTo>
                    <a:pt x="439243" y="478911"/>
                  </a:lnTo>
                  <a:lnTo>
                    <a:pt x="429752" y="492998"/>
                  </a:lnTo>
                  <a:lnTo>
                    <a:pt x="415665" y="502489"/>
                  </a:lnTo>
                  <a:lnTo>
                    <a:pt x="398399" y="505968"/>
                  </a:lnTo>
                  <a:lnTo>
                    <a:pt x="44323" y="505968"/>
                  </a:lnTo>
                  <a:lnTo>
                    <a:pt x="27056" y="502489"/>
                  </a:lnTo>
                  <a:lnTo>
                    <a:pt x="12969" y="492998"/>
                  </a:lnTo>
                  <a:lnTo>
                    <a:pt x="3478" y="478911"/>
                  </a:lnTo>
                  <a:lnTo>
                    <a:pt x="0" y="461645"/>
                  </a:lnTo>
                  <a:lnTo>
                    <a:pt x="0" y="44323"/>
                  </a:lnTo>
                  <a:close/>
                </a:path>
              </a:pathLst>
            </a:custGeom>
            <a:ln w="25145">
              <a:solidFill>
                <a:srgbClr val="FFFFFF"/>
              </a:solidFill>
            </a:ln>
          </p:spPr>
          <p:txBody>
            <a:bodyPr wrap="square" lIns="0" tIns="0" rIns="0" bIns="0" rtlCol="0"/>
            <a:lstStyle/>
            <a:p>
              <a:endParaRPr/>
            </a:p>
          </p:txBody>
        </p:sp>
        <p:sp>
          <p:nvSpPr>
            <p:cNvPr id="9" name="object 9"/>
            <p:cNvSpPr/>
            <p:nvPr/>
          </p:nvSpPr>
          <p:spPr>
            <a:xfrm>
              <a:off x="1514475" y="2447162"/>
              <a:ext cx="6327775" cy="632460"/>
            </a:xfrm>
            <a:custGeom>
              <a:avLst/>
              <a:gdLst/>
              <a:ahLst/>
              <a:cxnLst/>
              <a:rect l="l" t="t" r="r" b="b"/>
              <a:pathLst>
                <a:path w="6327775" h="632460">
                  <a:moveTo>
                    <a:pt x="6126861" y="0"/>
                  </a:moveTo>
                  <a:lnTo>
                    <a:pt x="200787" y="0"/>
                  </a:lnTo>
                  <a:lnTo>
                    <a:pt x="137330" y="3224"/>
                  </a:lnTo>
                  <a:lnTo>
                    <a:pt x="82213" y="12204"/>
                  </a:lnTo>
                  <a:lnTo>
                    <a:pt x="38746" y="25895"/>
                  </a:lnTo>
                  <a:lnTo>
                    <a:pt x="10238" y="43257"/>
                  </a:lnTo>
                  <a:lnTo>
                    <a:pt x="0" y="63246"/>
                  </a:lnTo>
                  <a:lnTo>
                    <a:pt x="0" y="569214"/>
                  </a:lnTo>
                  <a:lnTo>
                    <a:pt x="38746" y="606564"/>
                  </a:lnTo>
                  <a:lnTo>
                    <a:pt x="82213" y="620255"/>
                  </a:lnTo>
                  <a:lnTo>
                    <a:pt x="137330" y="629235"/>
                  </a:lnTo>
                  <a:lnTo>
                    <a:pt x="200787" y="632460"/>
                  </a:lnTo>
                  <a:lnTo>
                    <a:pt x="6126861" y="632460"/>
                  </a:lnTo>
                  <a:lnTo>
                    <a:pt x="6190317" y="629235"/>
                  </a:lnTo>
                  <a:lnTo>
                    <a:pt x="6245434" y="620255"/>
                  </a:lnTo>
                  <a:lnTo>
                    <a:pt x="6288901" y="606564"/>
                  </a:lnTo>
                  <a:lnTo>
                    <a:pt x="6327648" y="569214"/>
                  </a:lnTo>
                  <a:lnTo>
                    <a:pt x="6327648" y="63246"/>
                  </a:lnTo>
                  <a:lnTo>
                    <a:pt x="6288901" y="25895"/>
                  </a:lnTo>
                  <a:lnTo>
                    <a:pt x="6245434" y="12204"/>
                  </a:lnTo>
                  <a:lnTo>
                    <a:pt x="6190317" y="3224"/>
                  </a:lnTo>
                  <a:lnTo>
                    <a:pt x="6126861" y="0"/>
                  </a:lnTo>
                  <a:close/>
                </a:path>
              </a:pathLst>
            </a:custGeom>
            <a:solidFill>
              <a:srgbClr val="4AACC5"/>
            </a:solidFill>
          </p:spPr>
          <p:txBody>
            <a:bodyPr wrap="square" lIns="0" tIns="0" rIns="0" bIns="0" rtlCol="0"/>
            <a:lstStyle/>
            <a:p>
              <a:endParaRPr/>
            </a:p>
          </p:txBody>
        </p:sp>
        <p:sp>
          <p:nvSpPr>
            <p:cNvPr id="10" name="object 10"/>
            <p:cNvSpPr/>
            <p:nvPr/>
          </p:nvSpPr>
          <p:spPr>
            <a:xfrm>
              <a:off x="1514475" y="2447162"/>
              <a:ext cx="6327775" cy="632460"/>
            </a:xfrm>
            <a:custGeom>
              <a:avLst/>
              <a:gdLst/>
              <a:ahLst/>
              <a:cxnLst/>
              <a:rect l="l" t="t" r="r" b="b"/>
              <a:pathLst>
                <a:path w="6327775" h="632460">
                  <a:moveTo>
                    <a:pt x="0" y="63246"/>
                  </a:moveTo>
                  <a:lnTo>
                    <a:pt x="38746" y="25895"/>
                  </a:lnTo>
                  <a:lnTo>
                    <a:pt x="82213" y="12204"/>
                  </a:lnTo>
                  <a:lnTo>
                    <a:pt x="137330" y="3224"/>
                  </a:lnTo>
                  <a:lnTo>
                    <a:pt x="200787" y="0"/>
                  </a:lnTo>
                  <a:lnTo>
                    <a:pt x="6126861" y="0"/>
                  </a:lnTo>
                  <a:lnTo>
                    <a:pt x="6190317" y="3224"/>
                  </a:lnTo>
                  <a:lnTo>
                    <a:pt x="6245434" y="12204"/>
                  </a:lnTo>
                  <a:lnTo>
                    <a:pt x="6288901" y="25895"/>
                  </a:lnTo>
                  <a:lnTo>
                    <a:pt x="6327648" y="63246"/>
                  </a:lnTo>
                  <a:lnTo>
                    <a:pt x="6327648" y="113842"/>
                  </a:lnTo>
                  <a:lnTo>
                    <a:pt x="6327648" y="164439"/>
                  </a:lnTo>
                  <a:lnTo>
                    <a:pt x="6327648" y="569214"/>
                  </a:lnTo>
                  <a:lnTo>
                    <a:pt x="6317409" y="589202"/>
                  </a:lnTo>
                  <a:lnTo>
                    <a:pt x="6288901" y="606564"/>
                  </a:lnTo>
                  <a:lnTo>
                    <a:pt x="6245434" y="620255"/>
                  </a:lnTo>
                  <a:lnTo>
                    <a:pt x="6190317" y="629235"/>
                  </a:lnTo>
                  <a:lnTo>
                    <a:pt x="6126861" y="632460"/>
                  </a:lnTo>
                  <a:lnTo>
                    <a:pt x="200787" y="632460"/>
                  </a:lnTo>
                  <a:lnTo>
                    <a:pt x="137330" y="629235"/>
                  </a:lnTo>
                  <a:lnTo>
                    <a:pt x="82213" y="620255"/>
                  </a:lnTo>
                  <a:lnTo>
                    <a:pt x="38746" y="606564"/>
                  </a:lnTo>
                  <a:lnTo>
                    <a:pt x="0" y="569214"/>
                  </a:lnTo>
                  <a:lnTo>
                    <a:pt x="0" y="63246"/>
                  </a:lnTo>
                  <a:close/>
                </a:path>
              </a:pathLst>
            </a:custGeom>
            <a:ln w="25146">
              <a:solidFill>
                <a:srgbClr val="FFFFFF"/>
              </a:solidFill>
            </a:ln>
          </p:spPr>
          <p:txBody>
            <a:bodyPr wrap="square" lIns="0" tIns="0" rIns="0" bIns="0" rtlCol="0"/>
            <a:lstStyle/>
            <a:p>
              <a:endParaRPr/>
            </a:p>
          </p:txBody>
        </p:sp>
        <p:sp>
          <p:nvSpPr>
            <p:cNvPr id="11" name="object 11"/>
            <p:cNvSpPr/>
            <p:nvPr/>
          </p:nvSpPr>
          <p:spPr>
            <a:xfrm>
              <a:off x="1623441" y="2539364"/>
              <a:ext cx="443230" cy="506095"/>
            </a:xfrm>
            <a:custGeom>
              <a:avLst/>
              <a:gdLst/>
              <a:ahLst/>
              <a:cxnLst/>
              <a:rect l="l" t="t" r="r" b="b"/>
              <a:pathLst>
                <a:path w="443230" h="506094">
                  <a:moveTo>
                    <a:pt x="398399" y="0"/>
                  </a:moveTo>
                  <a:lnTo>
                    <a:pt x="44323" y="0"/>
                  </a:lnTo>
                  <a:lnTo>
                    <a:pt x="27056" y="3478"/>
                  </a:lnTo>
                  <a:lnTo>
                    <a:pt x="12969" y="12969"/>
                  </a:lnTo>
                  <a:lnTo>
                    <a:pt x="3478" y="27056"/>
                  </a:lnTo>
                  <a:lnTo>
                    <a:pt x="0" y="44323"/>
                  </a:lnTo>
                  <a:lnTo>
                    <a:pt x="0" y="461645"/>
                  </a:lnTo>
                  <a:lnTo>
                    <a:pt x="3478" y="478911"/>
                  </a:lnTo>
                  <a:lnTo>
                    <a:pt x="12969" y="492998"/>
                  </a:lnTo>
                  <a:lnTo>
                    <a:pt x="27056" y="502489"/>
                  </a:lnTo>
                  <a:lnTo>
                    <a:pt x="44323" y="505968"/>
                  </a:lnTo>
                  <a:lnTo>
                    <a:pt x="398399" y="505968"/>
                  </a:lnTo>
                  <a:lnTo>
                    <a:pt x="415665" y="502489"/>
                  </a:lnTo>
                  <a:lnTo>
                    <a:pt x="429752" y="492998"/>
                  </a:lnTo>
                  <a:lnTo>
                    <a:pt x="439243" y="478911"/>
                  </a:lnTo>
                  <a:lnTo>
                    <a:pt x="442722" y="461645"/>
                  </a:lnTo>
                  <a:lnTo>
                    <a:pt x="442722" y="44323"/>
                  </a:lnTo>
                  <a:lnTo>
                    <a:pt x="439243" y="27056"/>
                  </a:lnTo>
                  <a:lnTo>
                    <a:pt x="429752" y="12969"/>
                  </a:lnTo>
                  <a:lnTo>
                    <a:pt x="415665" y="3478"/>
                  </a:lnTo>
                  <a:lnTo>
                    <a:pt x="398399" y="0"/>
                  </a:lnTo>
                  <a:close/>
                </a:path>
              </a:pathLst>
            </a:custGeom>
            <a:solidFill>
              <a:srgbClr val="C1DBE4"/>
            </a:solidFill>
          </p:spPr>
          <p:txBody>
            <a:bodyPr wrap="square" lIns="0" tIns="0" rIns="0" bIns="0" rtlCol="0"/>
            <a:lstStyle/>
            <a:p>
              <a:endParaRPr/>
            </a:p>
          </p:txBody>
        </p:sp>
        <p:sp>
          <p:nvSpPr>
            <p:cNvPr id="12" name="object 12"/>
            <p:cNvSpPr/>
            <p:nvPr/>
          </p:nvSpPr>
          <p:spPr>
            <a:xfrm>
              <a:off x="1623441" y="2539364"/>
              <a:ext cx="443230" cy="506095"/>
            </a:xfrm>
            <a:custGeom>
              <a:avLst/>
              <a:gdLst/>
              <a:ahLst/>
              <a:cxnLst/>
              <a:rect l="l" t="t" r="r" b="b"/>
              <a:pathLst>
                <a:path w="443230" h="506094">
                  <a:moveTo>
                    <a:pt x="0" y="44323"/>
                  </a:moveTo>
                  <a:lnTo>
                    <a:pt x="3478" y="27056"/>
                  </a:lnTo>
                  <a:lnTo>
                    <a:pt x="12969" y="12969"/>
                  </a:lnTo>
                  <a:lnTo>
                    <a:pt x="27056" y="3478"/>
                  </a:lnTo>
                  <a:lnTo>
                    <a:pt x="44323" y="0"/>
                  </a:lnTo>
                  <a:lnTo>
                    <a:pt x="398399" y="0"/>
                  </a:lnTo>
                  <a:lnTo>
                    <a:pt x="415665" y="3478"/>
                  </a:lnTo>
                  <a:lnTo>
                    <a:pt x="429752" y="12969"/>
                  </a:lnTo>
                  <a:lnTo>
                    <a:pt x="439243" y="27056"/>
                  </a:lnTo>
                  <a:lnTo>
                    <a:pt x="442722" y="44323"/>
                  </a:lnTo>
                  <a:lnTo>
                    <a:pt x="442722" y="461645"/>
                  </a:lnTo>
                  <a:lnTo>
                    <a:pt x="439243" y="478911"/>
                  </a:lnTo>
                  <a:lnTo>
                    <a:pt x="429752" y="492998"/>
                  </a:lnTo>
                  <a:lnTo>
                    <a:pt x="415665" y="502489"/>
                  </a:lnTo>
                  <a:lnTo>
                    <a:pt x="398399" y="505968"/>
                  </a:lnTo>
                  <a:lnTo>
                    <a:pt x="44323" y="505968"/>
                  </a:lnTo>
                  <a:lnTo>
                    <a:pt x="27056" y="502489"/>
                  </a:lnTo>
                  <a:lnTo>
                    <a:pt x="12969" y="492998"/>
                  </a:lnTo>
                  <a:lnTo>
                    <a:pt x="3478" y="478911"/>
                  </a:lnTo>
                  <a:lnTo>
                    <a:pt x="0" y="461645"/>
                  </a:lnTo>
                  <a:lnTo>
                    <a:pt x="0" y="44323"/>
                  </a:lnTo>
                  <a:close/>
                </a:path>
              </a:pathLst>
            </a:custGeom>
            <a:ln w="25145">
              <a:solidFill>
                <a:srgbClr val="FFFFFF"/>
              </a:solidFill>
            </a:ln>
          </p:spPr>
          <p:txBody>
            <a:bodyPr wrap="square" lIns="0" tIns="0" rIns="0" bIns="0" rtlCol="0"/>
            <a:lstStyle/>
            <a:p>
              <a:endParaRPr/>
            </a:p>
          </p:txBody>
        </p:sp>
      </p:grpSp>
      <p:sp>
        <p:nvSpPr>
          <p:cNvPr id="13" name="object 13"/>
          <p:cNvSpPr txBox="1"/>
          <p:nvPr/>
        </p:nvSpPr>
        <p:spPr>
          <a:xfrm>
            <a:off x="426973" y="1873503"/>
            <a:ext cx="7292975" cy="1654175"/>
          </a:xfrm>
          <a:prstGeom prst="rect">
            <a:avLst/>
          </a:prstGeom>
        </p:spPr>
        <p:txBody>
          <a:bodyPr vert="horz" wrap="square" lIns="0" tIns="12700" rIns="0" bIns="0" rtlCol="0">
            <a:spAutoFit/>
          </a:bodyPr>
          <a:lstStyle/>
          <a:p>
            <a:pPr marL="1727200">
              <a:lnSpc>
                <a:spcPct val="100000"/>
              </a:lnSpc>
              <a:spcBef>
                <a:spcPts val="100"/>
              </a:spcBef>
            </a:pPr>
            <a:r>
              <a:rPr sz="1800" spc="-30" dirty="0">
                <a:solidFill>
                  <a:srgbClr val="FFFFFF"/>
                </a:solidFill>
                <a:latin typeface="Arial"/>
                <a:cs typeface="Arial"/>
              </a:rPr>
              <a:t>Those </a:t>
            </a:r>
            <a:r>
              <a:rPr sz="1800" spc="25" dirty="0">
                <a:solidFill>
                  <a:srgbClr val="FFFFFF"/>
                </a:solidFill>
                <a:latin typeface="Arial"/>
                <a:cs typeface="Arial"/>
              </a:rPr>
              <a:t>that </a:t>
            </a:r>
            <a:r>
              <a:rPr sz="1800" spc="-40" dirty="0">
                <a:solidFill>
                  <a:srgbClr val="FFFFFF"/>
                </a:solidFill>
                <a:latin typeface="Arial"/>
                <a:cs typeface="Arial"/>
              </a:rPr>
              <a:t>store</a:t>
            </a:r>
            <a:r>
              <a:rPr sz="1800" spc="-345" dirty="0">
                <a:solidFill>
                  <a:srgbClr val="FFFFFF"/>
                </a:solidFill>
                <a:latin typeface="Arial"/>
                <a:cs typeface="Arial"/>
              </a:rPr>
              <a:t> </a:t>
            </a:r>
            <a:r>
              <a:rPr sz="1800" spc="-55" dirty="0">
                <a:solidFill>
                  <a:srgbClr val="FFFFFF"/>
                </a:solidFill>
                <a:latin typeface="Arial"/>
                <a:cs typeface="Arial"/>
              </a:rPr>
              <a:t>data</a:t>
            </a:r>
            <a:endParaRPr sz="1800">
              <a:latin typeface="Arial"/>
              <a:cs typeface="Arial"/>
            </a:endParaRPr>
          </a:p>
          <a:p>
            <a:pPr>
              <a:lnSpc>
                <a:spcPct val="100000"/>
              </a:lnSpc>
              <a:spcBef>
                <a:spcPts val="35"/>
              </a:spcBef>
            </a:pPr>
            <a:endParaRPr sz="2850">
              <a:latin typeface="Arial"/>
              <a:cs typeface="Arial"/>
            </a:endParaRPr>
          </a:p>
          <a:p>
            <a:pPr marL="1727200">
              <a:lnSpc>
                <a:spcPct val="100000"/>
              </a:lnSpc>
            </a:pPr>
            <a:r>
              <a:rPr sz="1800" spc="-30" dirty="0">
                <a:solidFill>
                  <a:srgbClr val="FFFFFF"/>
                </a:solidFill>
                <a:latin typeface="Arial"/>
                <a:cs typeface="Arial"/>
              </a:rPr>
              <a:t>Those</a:t>
            </a:r>
            <a:r>
              <a:rPr sz="1800" spc="-105" dirty="0">
                <a:solidFill>
                  <a:srgbClr val="FFFFFF"/>
                </a:solidFill>
                <a:latin typeface="Arial"/>
                <a:cs typeface="Arial"/>
              </a:rPr>
              <a:t> </a:t>
            </a:r>
            <a:r>
              <a:rPr sz="1800" spc="25" dirty="0">
                <a:solidFill>
                  <a:srgbClr val="FFFFFF"/>
                </a:solidFill>
                <a:latin typeface="Arial"/>
                <a:cs typeface="Arial"/>
              </a:rPr>
              <a:t>that</a:t>
            </a:r>
            <a:r>
              <a:rPr sz="1800" spc="-120" dirty="0">
                <a:solidFill>
                  <a:srgbClr val="FFFFFF"/>
                </a:solidFill>
                <a:latin typeface="Arial"/>
                <a:cs typeface="Arial"/>
              </a:rPr>
              <a:t> </a:t>
            </a:r>
            <a:r>
              <a:rPr sz="1800" spc="-135" dirty="0">
                <a:solidFill>
                  <a:srgbClr val="FFFFFF"/>
                </a:solidFill>
                <a:latin typeface="Arial"/>
                <a:cs typeface="Arial"/>
              </a:rPr>
              <a:t>access,</a:t>
            </a:r>
            <a:r>
              <a:rPr sz="1800" spc="-120" dirty="0">
                <a:solidFill>
                  <a:srgbClr val="FFFFFF"/>
                </a:solidFill>
                <a:latin typeface="Arial"/>
                <a:cs typeface="Arial"/>
              </a:rPr>
              <a:t> </a:t>
            </a:r>
            <a:r>
              <a:rPr sz="1800" spc="-15" dirty="0">
                <a:solidFill>
                  <a:srgbClr val="FFFFFF"/>
                </a:solidFill>
                <a:latin typeface="Arial"/>
                <a:cs typeface="Arial"/>
              </a:rPr>
              <a:t>manipulate,</a:t>
            </a:r>
            <a:r>
              <a:rPr sz="1800" spc="-130" dirty="0">
                <a:solidFill>
                  <a:srgbClr val="FFFFFF"/>
                </a:solidFill>
                <a:latin typeface="Arial"/>
                <a:cs typeface="Arial"/>
              </a:rPr>
              <a:t> </a:t>
            </a:r>
            <a:r>
              <a:rPr sz="1800" spc="25" dirty="0">
                <a:solidFill>
                  <a:srgbClr val="FFFFFF"/>
                </a:solidFill>
                <a:latin typeface="Arial"/>
                <a:cs typeface="Arial"/>
              </a:rPr>
              <a:t>or</a:t>
            </a:r>
            <a:r>
              <a:rPr sz="1800" spc="-110" dirty="0">
                <a:solidFill>
                  <a:srgbClr val="FFFFFF"/>
                </a:solidFill>
                <a:latin typeface="Arial"/>
                <a:cs typeface="Arial"/>
              </a:rPr>
              <a:t> </a:t>
            </a:r>
            <a:r>
              <a:rPr sz="1800" spc="5" dirty="0">
                <a:solidFill>
                  <a:srgbClr val="FFFFFF"/>
                </a:solidFill>
                <a:latin typeface="Arial"/>
                <a:cs typeface="Arial"/>
              </a:rPr>
              <a:t>provide</a:t>
            </a:r>
            <a:r>
              <a:rPr sz="1800" spc="-130" dirty="0">
                <a:solidFill>
                  <a:srgbClr val="FFFFFF"/>
                </a:solidFill>
                <a:latin typeface="Arial"/>
                <a:cs typeface="Arial"/>
              </a:rPr>
              <a:t> </a:t>
            </a:r>
            <a:r>
              <a:rPr sz="1800" spc="-150" dirty="0">
                <a:solidFill>
                  <a:srgbClr val="FFFFFF"/>
                </a:solidFill>
                <a:latin typeface="Arial"/>
                <a:cs typeface="Arial"/>
              </a:rPr>
              <a:t>access</a:t>
            </a:r>
            <a:r>
              <a:rPr sz="1800" spc="-114" dirty="0">
                <a:solidFill>
                  <a:srgbClr val="FFFFFF"/>
                </a:solidFill>
                <a:latin typeface="Arial"/>
                <a:cs typeface="Arial"/>
              </a:rPr>
              <a:t> </a:t>
            </a:r>
            <a:r>
              <a:rPr sz="1800" spc="45" dirty="0">
                <a:solidFill>
                  <a:srgbClr val="FFFFFF"/>
                </a:solidFill>
                <a:latin typeface="Arial"/>
                <a:cs typeface="Arial"/>
              </a:rPr>
              <a:t>to</a:t>
            </a:r>
            <a:r>
              <a:rPr sz="1800" spc="-114" dirty="0">
                <a:solidFill>
                  <a:srgbClr val="FFFFFF"/>
                </a:solidFill>
                <a:latin typeface="Arial"/>
                <a:cs typeface="Arial"/>
              </a:rPr>
              <a:t> </a:t>
            </a:r>
            <a:r>
              <a:rPr sz="1800" spc="-55" dirty="0">
                <a:solidFill>
                  <a:srgbClr val="FFFFFF"/>
                </a:solidFill>
                <a:latin typeface="Arial"/>
                <a:cs typeface="Arial"/>
              </a:rPr>
              <a:t>data</a:t>
            </a:r>
            <a:endParaRPr sz="1800">
              <a:latin typeface="Arial"/>
              <a:cs typeface="Arial"/>
            </a:endParaRPr>
          </a:p>
          <a:p>
            <a:pPr>
              <a:lnSpc>
                <a:spcPct val="100000"/>
              </a:lnSpc>
              <a:spcBef>
                <a:spcPts val="15"/>
              </a:spcBef>
            </a:pPr>
            <a:endParaRPr sz="2200">
              <a:latin typeface="Arial"/>
              <a:cs typeface="Arial"/>
            </a:endParaRPr>
          </a:p>
          <a:p>
            <a:pPr marL="12700">
              <a:lnSpc>
                <a:spcPct val="100000"/>
              </a:lnSpc>
            </a:pPr>
            <a:r>
              <a:rPr sz="2000" spc="-5" dirty="0">
                <a:latin typeface="Segoe UI Symbol"/>
                <a:cs typeface="Segoe UI Symbol"/>
              </a:rPr>
              <a:t>⮚</a:t>
            </a:r>
            <a:r>
              <a:rPr sz="2000" spc="434" dirty="0">
                <a:latin typeface="Segoe UI Symbol"/>
                <a:cs typeface="Segoe UI Symbol"/>
              </a:rPr>
              <a:t> </a:t>
            </a:r>
            <a:r>
              <a:rPr sz="2200" spc="10" dirty="0">
                <a:latin typeface="Arial"/>
                <a:cs typeface="Arial"/>
              </a:rPr>
              <a:t>Views</a:t>
            </a:r>
            <a:r>
              <a:rPr sz="2200" spc="-140" dirty="0">
                <a:latin typeface="Arial"/>
                <a:cs typeface="Arial"/>
              </a:rPr>
              <a:t> </a:t>
            </a:r>
            <a:r>
              <a:rPr sz="2200" spc="-40" dirty="0">
                <a:latin typeface="Arial"/>
                <a:cs typeface="Arial"/>
              </a:rPr>
              <a:t>and</a:t>
            </a:r>
            <a:r>
              <a:rPr sz="2200" spc="-160" dirty="0">
                <a:latin typeface="Arial"/>
                <a:cs typeface="Arial"/>
              </a:rPr>
              <a:t> </a:t>
            </a:r>
            <a:r>
              <a:rPr sz="2200" spc="-35" dirty="0">
                <a:latin typeface="Arial"/>
                <a:cs typeface="Arial"/>
              </a:rPr>
              <a:t>stored</a:t>
            </a:r>
            <a:r>
              <a:rPr sz="2200" spc="-155" dirty="0">
                <a:latin typeface="Arial"/>
                <a:cs typeface="Arial"/>
              </a:rPr>
              <a:t> </a:t>
            </a:r>
            <a:r>
              <a:rPr sz="2200" spc="-55" dirty="0">
                <a:latin typeface="Arial"/>
                <a:cs typeface="Arial"/>
              </a:rPr>
              <a:t>procedures</a:t>
            </a:r>
            <a:r>
              <a:rPr sz="2200" spc="-155" dirty="0">
                <a:latin typeface="Arial"/>
                <a:cs typeface="Arial"/>
              </a:rPr>
              <a:t> </a:t>
            </a:r>
            <a:r>
              <a:rPr sz="2200" spc="-35" dirty="0">
                <a:latin typeface="Arial"/>
                <a:cs typeface="Arial"/>
              </a:rPr>
              <a:t>belong</a:t>
            </a:r>
            <a:r>
              <a:rPr sz="2200" spc="-150" dirty="0">
                <a:latin typeface="Arial"/>
                <a:cs typeface="Arial"/>
              </a:rPr>
              <a:t> </a:t>
            </a:r>
            <a:r>
              <a:rPr sz="2200" spc="60" dirty="0">
                <a:latin typeface="Arial"/>
                <a:cs typeface="Arial"/>
              </a:rPr>
              <a:t>to</a:t>
            </a:r>
            <a:r>
              <a:rPr sz="2200" spc="-155" dirty="0">
                <a:latin typeface="Arial"/>
                <a:cs typeface="Arial"/>
              </a:rPr>
              <a:t> </a:t>
            </a:r>
            <a:r>
              <a:rPr sz="2200" dirty="0">
                <a:latin typeface="Arial"/>
                <a:cs typeface="Arial"/>
              </a:rPr>
              <a:t>the</a:t>
            </a:r>
            <a:r>
              <a:rPr sz="2200" spc="-155" dirty="0">
                <a:latin typeface="Arial"/>
                <a:cs typeface="Arial"/>
              </a:rPr>
              <a:t> </a:t>
            </a:r>
            <a:r>
              <a:rPr sz="2200" spc="15" dirty="0">
                <a:latin typeface="Arial"/>
                <a:cs typeface="Arial"/>
              </a:rPr>
              <a:t>latter</a:t>
            </a:r>
            <a:r>
              <a:rPr sz="2200" spc="-150" dirty="0">
                <a:latin typeface="Arial"/>
                <a:cs typeface="Arial"/>
              </a:rPr>
              <a:t> </a:t>
            </a:r>
            <a:r>
              <a:rPr sz="2200" spc="-60" dirty="0">
                <a:latin typeface="Arial"/>
                <a:cs typeface="Arial"/>
              </a:rPr>
              <a:t>category.</a:t>
            </a:r>
            <a:endParaRPr sz="2200">
              <a:latin typeface="Arial"/>
              <a:cs typeface="Arial"/>
            </a:endParaRPr>
          </a:p>
        </p:txBody>
      </p:sp>
      <p:pic>
        <p:nvPicPr>
          <p:cNvPr id="14" name="object 14"/>
          <p:cNvPicPr/>
          <p:nvPr/>
        </p:nvPicPr>
        <p:blipFill>
          <a:blip r:embed="rId3" cstate="print"/>
          <a:stretch>
            <a:fillRect/>
          </a:stretch>
        </p:blipFill>
        <p:spPr>
          <a:xfrm>
            <a:off x="4997958" y="4077461"/>
            <a:ext cx="4008882" cy="1417320"/>
          </a:xfrm>
          <a:prstGeom prst="rect">
            <a:avLst/>
          </a:prstGeom>
        </p:spPr>
      </p:pic>
      <p:pic>
        <p:nvPicPr>
          <p:cNvPr id="15" name="object 15"/>
          <p:cNvPicPr/>
          <p:nvPr/>
        </p:nvPicPr>
        <p:blipFill>
          <a:blip r:embed="rId4" cstate="print"/>
          <a:stretch>
            <a:fillRect/>
          </a:stretch>
        </p:blipFill>
        <p:spPr>
          <a:xfrm>
            <a:off x="774954" y="4012691"/>
            <a:ext cx="3797046" cy="1985772"/>
          </a:xfrm>
          <a:prstGeom prst="rect">
            <a:avLst/>
          </a:prstGeom>
        </p:spPr>
      </p:pic>
      <p:sp>
        <p:nvSpPr>
          <p:cNvPr id="16" name="object 16"/>
          <p:cNvSpPr txBox="1"/>
          <p:nvPr/>
        </p:nvSpPr>
        <p:spPr>
          <a:xfrm>
            <a:off x="2340101" y="4864608"/>
            <a:ext cx="873760" cy="361950"/>
          </a:xfrm>
          <a:prstGeom prst="rect">
            <a:avLst/>
          </a:prstGeom>
          <a:solidFill>
            <a:srgbClr val="001F5F"/>
          </a:solidFill>
        </p:spPr>
        <p:txBody>
          <a:bodyPr vert="horz" wrap="square" lIns="0" tIns="0" rIns="0" bIns="0" rtlCol="0">
            <a:spAutoFit/>
          </a:bodyPr>
          <a:lstStyle/>
          <a:p>
            <a:pPr algn="ctr">
              <a:lnSpc>
                <a:spcPts val="1390"/>
              </a:lnSpc>
            </a:pPr>
            <a:r>
              <a:rPr sz="1400" spc="-5" dirty="0">
                <a:solidFill>
                  <a:srgbClr val="FFFFFF"/>
                </a:solidFill>
                <a:latin typeface="Arial"/>
                <a:cs typeface="Arial"/>
              </a:rPr>
              <a:t>Create</a:t>
            </a:r>
            <a:r>
              <a:rPr sz="1400" spc="-30" dirty="0">
                <a:solidFill>
                  <a:srgbClr val="FFFFFF"/>
                </a:solidFill>
                <a:latin typeface="Arial"/>
                <a:cs typeface="Arial"/>
              </a:rPr>
              <a:t> </a:t>
            </a:r>
            <a:r>
              <a:rPr sz="1400" spc="-5" dirty="0">
                <a:solidFill>
                  <a:srgbClr val="FFFFFF"/>
                </a:solidFill>
                <a:latin typeface="Arial"/>
                <a:cs typeface="Arial"/>
              </a:rPr>
              <a:t>a</a:t>
            </a:r>
            <a:endParaRPr sz="1400">
              <a:latin typeface="Arial"/>
              <a:cs typeface="Arial"/>
            </a:endParaRPr>
          </a:p>
          <a:p>
            <a:pPr algn="ctr">
              <a:lnSpc>
                <a:spcPts val="1460"/>
              </a:lnSpc>
            </a:pPr>
            <a:r>
              <a:rPr sz="1400" spc="-5" dirty="0">
                <a:solidFill>
                  <a:srgbClr val="FFFFFF"/>
                </a:solidFill>
                <a:latin typeface="Arial"/>
                <a:cs typeface="Arial"/>
              </a:rPr>
              <a:t>View</a:t>
            </a:r>
            <a:endParaRPr sz="1400">
              <a:latin typeface="Arial"/>
              <a:cs typeface="Arial"/>
            </a:endParaRPr>
          </a:p>
        </p:txBody>
      </p:sp>
      <p:sp>
        <p:nvSpPr>
          <p:cNvPr id="18" name="object 18"/>
          <p:cNvSpPr txBox="1"/>
          <p:nvPr/>
        </p:nvSpPr>
        <p:spPr>
          <a:xfrm>
            <a:off x="7853933" y="6569709"/>
            <a:ext cx="887730"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67" baseline="4629" dirty="0">
                <a:latin typeface="Arial"/>
                <a:cs typeface="Arial"/>
              </a:rPr>
              <a:t>10/</a:t>
            </a:r>
            <a:r>
              <a:rPr sz="1800" spc="-240" baseline="4629" dirty="0">
                <a:latin typeface="Arial"/>
                <a:cs typeface="Arial"/>
              </a:rPr>
              <a:t> </a:t>
            </a:r>
            <a:fld id="{81D60167-4931-47E6-BA6A-407CBD079E47}" type="slidenum">
              <a:rPr sz="1200" spc="-65" dirty="0">
                <a:latin typeface="Arial"/>
                <a:cs typeface="Arial"/>
              </a:rPr>
              <a:t>3</a:t>
            </a:fld>
            <a:endParaRPr sz="1200">
              <a:latin typeface="Arial"/>
              <a:cs typeface="Arial"/>
            </a:endParaRPr>
          </a:p>
        </p:txBody>
      </p:sp>
      <p:sp>
        <p:nvSpPr>
          <p:cNvPr id="19" name="object 1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4383"/>
            <a:ext cx="1397635" cy="635635"/>
          </a:xfrm>
          <a:prstGeom prst="rect">
            <a:avLst/>
          </a:prstGeom>
        </p:spPr>
        <p:txBody>
          <a:bodyPr vert="horz" wrap="square" lIns="0" tIns="12700" rIns="0" bIns="0" rtlCol="0">
            <a:spAutoFit/>
          </a:bodyPr>
          <a:lstStyle/>
          <a:p>
            <a:pPr marL="12700">
              <a:lnSpc>
                <a:spcPct val="100000"/>
              </a:lnSpc>
              <a:spcBef>
                <a:spcPts val="100"/>
              </a:spcBef>
            </a:pPr>
            <a:r>
              <a:rPr sz="4000" b="0" spc="25" dirty="0">
                <a:latin typeface="Arial"/>
                <a:cs typeface="Arial"/>
              </a:rPr>
              <a:t>Views</a:t>
            </a:r>
            <a:endParaRPr sz="4000">
              <a:latin typeface="Arial"/>
              <a:cs typeface="Arial"/>
            </a:endParaRPr>
          </a:p>
        </p:txBody>
      </p:sp>
      <p:grpSp>
        <p:nvGrpSpPr>
          <p:cNvPr id="3" name="object 3"/>
          <p:cNvGrpSpPr/>
          <p:nvPr/>
        </p:nvGrpSpPr>
        <p:grpSpPr>
          <a:xfrm>
            <a:off x="38100" y="1969135"/>
            <a:ext cx="8948420" cy="3649979"/>
            <a:chOff x="38100" y="1969135"/>
            <a:chExt cx="8948420" cy="3649979"/>
          </a:xfrm>
        </p:grpSpPr>
        <p:sp>
          <p:nvSpPr>
            <p:cNvPr id="4" name="object 4"/>
            <p:cNvSpPr/>
            <p:nvPr/>
          </p:nvSpPr>
          <p:spPr>
            <a:xfrm>
              <a:off x="122681" y="3589909"/>
              <a:ext cx="127000" cy="1642745"/>
            </a:xfrm>
            <a:custGeom>
              <a:avLst/>
              <a:gdLst/>
              <a:ahLst/>
              <a:cxnLst/>
              <a:rect l="l" t="t" r="r" b="b"/>
              <a:pathLst>
                <a:path w="127000" h="1642745">
                  <a:moveTo>
                    <a:pt x="50519" y="124376"/>
                  </a:moveTo>
                  <a:lnTo>
                    <a:pt x="40386" y="1642237"/>
                  </a:lnTo>
                  <a:lnTo>
                    <a:pt x="65532" y="1642491"/>
                  </a:lnTo>
                  <a:lnTo>
                    <a:pt x="75649" y="127000"/>
                  </a:lnTo>
                  <a:lnTo>
                    <a:pt x="63068" y="127000"/>
                  </a:lnTo>
                  <a:lnTo>
                    <a:pt x="50519" y="124376"/>
                  </a:lnTo>
                  <a:close/>
                </a:path>
                <a:path w="127000" h="1642745">
                  <a:moveTo>
                    <a:pt x="50927" y="63373"/>
                  </a:moveTo>
                  <a:lnTo>
                    <a:pt x="50519" y="124376"/>
                  </a:lnTo>
                  <a:lnTo>
                    <a:pt x="63068" y="127000"/>
                  </a:lnTo>
                  <a:lnTo>
                    <a:pt x="75666" y="124543"/>
                  </a:lnTo>
                  <a:lnTo>
                    <a:pt x="76073" y="63627"/>
                  </a:lnTo>
                  <a:lnTo>
                    <a:pt x="50927" y="63373"/>
                  </a:lnTo>
                  <a:close/>
                </a:path>
                <a:path w="127000" h="1642745">
                  <a:moveTo>
                    <a:pt x="75666" y="124543"/>
                  </a:moveTo>
                  <a:lnTo>
                    <a:pt x="63068" y="127000"/>
                  </a:lnTo>
                  <a:lnTo>
                    <a:pt x="75649" y="127000"/>
                  </a:lnTo>
                  <a:lnTo>
                    <a:pt x="75666" y="124543"/>
                  </a:lnTo>
                  <a:close/>
                </a:path>
                <a:path w="127000" h="1642745">
                  <a:moveTo>
                    <a:pt x="126900" y="63373"/>
                  </a:moveTo>
                  <a:lnTo>
                    <a:pt x="50927" y="63373"/>
                  </a:lnTo>
                  <a:lnTo>
                    <a:pt x="76073" y="63627"/>
                  </a:lnTo>
                  <a:lnTo>
                    <a:pt x="75666" y="124543"/>
                  </a:lnTo>
                  <a:lnTo>
                    <a:pt x="87821" y="122174"/>
                  </a:lnTo>
                  <a:lnTo>
                    <a:pt x="108097" y="108680"/>
                  </a:lnTo>
                  <a:lnTo>
                    <a:pt x="121841" y="88566"/>
                  </a:lnTo>
                  <a:lnTo>
                    <a:pt x="127000" y="63881"/>
                  </a:lnTo>
                  <a:lnTo>
                    <a:pt x="126900" y="63373"/>
                  </a:lnTo>
                  <a:close/>
                </a:path>
                <a:path w="127000" h="1642745">
                  <a:moveTo>
                    <a:pt x="63919" y="0"/>
                  </a:moveTo>
                  <a:lnTo>
                    <a:pt x="39170" y="4826"/>
                  </a:lnTo>
                  <a:lnTo>
                    <a:pt x="18896" y="18319"/>
                  </a:lnTo>
                  <a:lnTo>
                    <a:pt x="5152" y="38433"/>
                  </a:lnTo>
                  <a:lnTo>
                    <a:pt x="0" y="63119"/>
                  </a:lnTo>
                  <a:lnTo>
                    <a:pt x="4821" y="87852"/>
                  </a:lnTo>
                  <a:lnTo>
                    <a:pt x="18294" y="108108"/>
                  </a:lnTo>
                  <a:lnTo>
                    <a:pt x="38386" y="121840"/>
                  </a:lnTo>
                  <a:lnTo>
                    <a:pt x="50519" y="124376"/>
                  </a:lnTo>
                  <a:lnTo>
                    <a:pt x="50927" y="63373"/>
                  </a:lnTo>
                  <a:lnTo>
                    <a:pt x="126900" y="63373"/>
                  </a:lnTo>
                  <a:lnTo>
                    <a:pt x="122171" y="39147"/>
                  </a:lnTo>
                  <a:lnTo>
                    <a:pt x="108694" y="18891"/>
                  </a:lnTo>
                  <a:lnTo>
                    <a:pt x="88600" y="5159"/>
                  </a:lnTo>
                  <a:lnTo>
                    <a:pt x="63919" y="0"/>
                  </a:lnTo>
                  <a:close/>
                </a:path>
              </a:pathLst>
            </a:custGeom>
            <a:solidFill>
              <a:srgbClr val="4F81BC"/>
            </a:solidFill>
          </p:spPr>
          <p:txBody>
            <a:bodyPr wrap="square" lIns="0" tIns="0" rIns="0" bIns="0" rtlCol="0"/>
            <a:lstStyle/>
            <a:p>
              <a:endParaRPr/>
            </a:p>
          </p:txBody>
        </p:sp>
        <p:pic>
          <p:nvPicPr>
            <p:cNvPr id="5" name="object 5"/>
            <p:cNvPicPr/>
            <p:nvPr/>
          </p:nvPicPr>
          <p:blipFill>
            <a:blip r:embed="rId3" cstate="print"/>
            <a:stretch>
              <a:fillRect/>
            </a:stretch>
          </p:blipFill>
          <p:spPr>
            <a:xfrm>
              <a:off x="38100" y="5090160"/>
              <a:ext cx="2655570" cy="528840"/>
            </a:xfrm>
            <a:prstGeom prst="rect">
              <a:avLst/>
            </a:prstGeom>
          </p:spPr>
        </p:pic>
        <p:sp>
          <p:nvSpPr>
            <p:cNvPr id="6" name="object 6"/>
            <p:cNvSpPr/>
            <p:nvPr/>
          </p:nvSpPr>
          <p:spPr>
            <a:xfrm>
              <a:off x="2274570" y="3024505"/>
              <a:ext cx="127000" cy="1642745"/>
            </a:xfrm>
            <a:custGeom>
              <a:avLst/>
              <a:gdLst/>
              <a:ahLst/>
              <a:cxnLst/>
              <a:rect l="l" t="t" r="r" b="b"/>
              <a:pathLst>
                <a:path w="127000" h="1642745">
                  <a:moveTo>
                    <a:pt x="50519" y="124372"/>
                  </a:moveTo>
                  <a:lnTo>
                    <a:pt x="40385" y="1642237"/>
                  </a:lnTo>
                  <a:lnTo>
                    <a:pt x="65531" y="1642491"/>
                  </a:lnTo>
                  <a:lnTo>
                    <a:pt x="75649" y="127000"/>
                  </a:lnTo>
                  <a:lnTo>
                    <a:pt x="63118" y="127000"/>
                  </a:lnTo>
                  <a:lnTo>
                    <a:pt x="50519" y="124372"/>
                  </a:lnTo>
                  <a:close/>
                </a:path>
                <a:path w="127000" h="1642745">
                  <a:moveTo>
                    <a:pt x="50926" y="63373"/>
                  </a:moveTo>
                  <a:lnTo>
                    <a:pt x="50519" y="124372"/>
                  </a:lnTo>
                  <a:lnTo>
                    <a:pt x="63118" y="127000"/>
                  </a:lnTo>
                  <a:lnTo>
                    <a:pt x="75666" y="124551"/>
                  </a:lnTo>
                  <a:lnTo>
                    <a:pt x="76072" y="63627"/>
                  </a:lnTo>
                  <a:lnTo>
                    <a:pt x="50926" y="63373"/>
                  </a:lnTo>
                  <a:close/>
                </a:path>
                <a:path w="127000" h="1642745">
                  <a:moveTo>
                    <a:pt x="75666" y="124551"/>
                  </a:moveTo>
                  <a:lnTo>
                    <a:pt x="63118" y="127000"/>
                  </a:lnTo>
                  <a:lnTo>
                    <a:pt x="75649" y="127000"/>
                  </a:lnTo>
                  <a:lnTo>
                    <a:pt x="75666" y="124551"/>
                  </a:lnTo>
                  <a:close/>
                </a:path>
                <a:path w="127000" h="1642745">
                  <a:moveTo>
                    <a:pt x="126900" y="63373"/>
                  </a:moveTo>
                  <a:lnTo>
                    <a:pt x="50926" y="63373"/>
                  </a:lnTo>
                  <a:lnTo>
                    <a:pt x="76072" y="63627"/>
                  </a:lnTo>
                  <a:lnTo>
                    <a:pt x="75666" y="124551"/>
                  </a:lnTo>
                  <a:lnTo>
                    <a:pt x="87852" y="122174"/>
                  </a:lnTo>
                  <a:lnTo>
                    <a:pt x="108108" y="108680"/>
                  </a:lnTo>
                  <a:lnTo>
                    <a:pt x="121840" y="88566"/>
                  </a:lnTo>
                  <a:lnTo>
                    <a:pt x="126999" y="63881"/>
                  </a:lnTo>
                  <a:lnTo>
                    <a:pt x="126900" y="63373"/>
                  </a:lnTo>
                  <a:close/>
                </a:path>
                <a:path w="127000" h="1642745">
                  <a:moveTo>
                    <a:pt x="63880" y="0"/>
                  </a:moveTo>
                  <a:lnTo>
                    <a:pt x="39147" y="4825"/>
                  </a:lnTo>
                  <a:lnTo>
                    <a:pt x="18891" y="18319"/>
                  </a:lnTo>
                  <a:lnTo>
                    <a:pt x="5159" y="38433"/>
                  </a:lnTo>
                  <a:lnTo>
                    <a:pt x="0" y="63119"/>
                  </a:lnTo>
                  <a:lnTo>
                    <a:pt x="4808" y="87852"/>
                  </a:lnTo>
                  <a:lnTo>
                    <a:pt x="18272" y="108108"/>
                  </a:lnTo>
                  <a:lnTo>
                    <a:pt x="38379" y="121840"/>
                  </a:lnTo>
                  <a:lnTo>
                    <a:pt x="50519" y="124372"/>
                  </a:lnTo>
                  <a:lnTo>
                    <a:pt x="50926" y="63373"/>
                  </a:lnTo>
                  <a:lnTo>
                    <a:pt x="126900" y="63373"/>
                  </a:lnTo>
                  <a:lnTo>
                    <a:pt x="122173" y="39147"/>
                  </a:lnTo>
                  <a:lnTo>
                    <a:pt x="108680" y="18891"/>
                  </a:lnTo>
                  <a:lnTo>
                    <a:pt x="88566" y="5159"/>
                  </a:lnTo>
                  <a:lnTo>
                    <a:pt x="63880" y="0"/>
                  </a:lnTo>
                  <a:close/>
                </a:path>
              </a:pathLst>
            </a:custGeom>
            <a:solidFill>
              <a:srgbClr val="C0504D"/>
            </a:solidFill>
          </p:spPr>
          <p:txBody>
            <a:bodyPr wrap="square" lIns="0" tIns="0" rIns="0" bIns="0" rtlCol="0"/>
            <a:lstStyle/>
            <a:p>
              <a:endParaRPr/>
            </a:p>
          </p:txBody>
        </p:sp>
        <p:pic>
          <p:nvPicPr>
            <p:cNvPr id="7" name="object 7"/>
            <p:cNvPicPr/>
            <p:nvPr/>
          </p:nvPicPr>
          <p:blipFill>
            <a:blip r:embed="rId4" cstate="print"/>
            <a:stretch>
              <a:fillRect/>
            </a:stretch>
          </p:blipFill>
          <p:spPr>
            <a:xfrm>
              <a:off x="2189988" y="4521695"/>
              <a:ext cx="2655569" cy="528840"/>
            </a:xfrm>
            <a:prstGeom prst="rect">
              <a:avLst/>
            </a:prstGeom>
          </p:spPr>
        </p:pic>
        <p:sp>
          <p:nvSpPr>
            <p:cNvPr id="8" name="object 8"/>
            <p:cNvSpPr/>
            <p:nvPr/>
          </p:nvSpPr>
          <p:spPr>
            <a:xfrm>
              <a:off x="4426458" y="2459101"/>
              <a:ext cx="127000" cy="1642745"/>
            </a:xfrm>
            <a:custGeom>
              <a:avLst/>
              <a:gdLst/>
              <a:ahLst/>
              <a:cxnLst/>
              <a:rect l="l" t="t" r="r" b="b"/>
              <a:pathLst>
                <a:path w="127000" h="1642745">
                  <a:moveTo>
                    <a:pt x="50519" y="124372"/>
                  </a:moveTo>
                  <a:lnTo>
                    <a:pt x="40386" y="1642237"/>
                  </a:lnTo>
                  <a:lnTo>
                    <a:pt x="65532" y="1642491"/>
                  </a:lnTo>
                  <a:lnTo>
                    <a:pt x="75649" y="127000"/>
                  </a:lnTo>
                  <a:lnTo>
                    <a:pt x="63119" y="127000"/>
                  </a:lnTo>
                  <a:lnTo>
                    <a:pt x="50519" y="124372"/>
                  </a:lnTo>
                  <a:close/>
                </a:path>
                <a:path w="127000" h="1642745">
                  <a:moveTo>
                    <a:pt x="50927" y="63373"/>
                  </a:moveTo>
                  <a:lnTo>
                    <a:pt x="50519" y="124372"/>
                  </a:lnTo>
                  <a:lnTo>
                    <a:pt x="63119" y="127000"/>
                  </a:lnTo>
                  <a:lnTo>
                    <a:pt x="75666" y="124551"/>
                  </a:lnTo>
                  <a:lnTo>
                    <a:pt x="76073" y="63627"/>
                  </a:lnTo>
                  <a:lnTo>
                    <a:pt x="50927" y="63373"/>
                  </a:lnTo>
                  <a:close/>
                </a:path>
                <a:path w="127000" h="1642745">
                  <a:moveTo>
                    <a:pt x="75666" y="124551"/>
                  </a:moveTo>
                  <a:lnTo>
                    <a:pt x="63119" y="127000"/>
                  </a:lnTo>
                  <a:lnTo>
                    <a:pt x="75649" y="127000"/>
                  </a:lnTo>
                  <a:lnTo>
                    <a:pt x="75666" y="124551"/>
                  </a:lnTo>
                  <a:close/>
                </a:path>
                <a:path w="127000" h="1642745">
                  <a:moveTo>
                    <a:pt x="126900" y="63373"/>
                  </a:moveTo>
                  <a:lnTo>
                    <a:pt x="50927" y="63373"/>
                  </a:lnTo>
                  <a:lnTo>
                    <a:pt x="76073" y="63627"/>
                  </a:lnTo>
                  <a:lnTo>
                    <a:pt x="75666" y="124551"/>
                  </a:lnTo>
                  <a:lnTo>
                    <a:pt x="87852" y="122174"/>
                  </a:lnTo>
                  <a:lnTo>
                    <a:pt x="108108" y="108680"/>
                  </a:lnTo>
                  <a:lnTo>
                    <a:pt x="121840" y="88566"/>
                  </a:lnTo>
                  <a:lnTo>
                    <a:pt x="127000" y="63881"/>
                  </a:lnTo>
                  <a:lnTo>
                    <a:pt x="126900" y="63373"/>
                  </a:lnTo>
                  <a:close/>
                </a:path>
                <a:path w="127000" h="1642745">
                  <a:moveTo>
                    <a:pt x="63881" y="0"/>
                  </a:moveTo>
                  <a:lnTo>
                    <a:pt x="39147" y="4825"/>
                  </a:lnTo>
                  <a:lnTo>
                    <a:pt x="18891" y="18319"/>
                  </a:lnTo>
                  <a:lnTo>
                    <a:pt x="5159" y="38433"/>
                  </a:lnTo>
                  <a:lnTo>
                    <a:pt x="0" y="63119"/>
                  </a:lnTo>
                  <a:lnTo>
                    <a:pt x="4808" y="87852"/>
                  </a:lnTo>
                  <a:lnTo>
                    <a:pt x="18272" y="108108"/>
                  </a:lnTo>
                  <a:lnTo>
                    <a:pt x="38379" y="121840"/>
                  </a:lnTo>
                  <a:lnTo>
                    <a:pt x="50519" y="124372"/>
                  </a:lnTo>
                  <a:lnTo>
                    <a:pt x="50927" y="63373"/>
                  </a:lnTo>
                  <a:lnTo>
                    <a:pt x="126900" y="63373"/>
                  </a:lnTo>
                  <a:lnTo>
                    <a:pt x="122174" y="39147"/>
                  </a:lnTo>
                  <a:lnTo>
                    <a:pt x="108680" y="18891"/>
                  </a:lnTo>
                  <a:lnTo>
                    <a:pt x="88566" y="5159"/>
                  </a:lnTo>
                  <a:lnTo>
                    <a:pt x="63881" y="0"/>
                  </a:lnTo>
                  <a:close/>
                </a:path>
              </a:pathLst>
            </a:custGeom>
            <a:solidFill>
              <a:srgbClr val="9BBA58"/>
            </a:solidFill>
          </p:spPr>
          <p:txBody>
            <a:bodyPr wrap="square" lIns="0" tIns="0" rIns="0" bIns="0" rtlCol="0"/>
            <a:lstStyle/>
            <a:p>
              <a:endParaRPr/>
            </a:p>
          </p:txBody>
        </p:sp>
        <p:pic>
          <p:nvPicPr>
            <p:cNvPr id="9" name="object 9"/>
            <p:cNvPicPr/>
            <p:nvPr/>
          </p:nvPicPr>
          <p:blipFill>
            <a:blip r:embed="rId5" cstate="print"/>
            <a:stretch>
              <a:fillRect/>
            </a:stretch>
          </p:blipFill>
          <p:spPr>
            <a:xfrm>
              <a:off x="4341876" y="3953243"/>
              <a:ext cx="2655570" cy="528840"/>
            </a:xfrm>
            <a:prstGeom prst="rect">
              <a:avLst/>
            </a:prstGeom>
          </p:spPr>
        </p:pic>
        <p:sp>
          <p:nvSpPr>
            <p:cNvPr id="10" name="object 10"/>
            <p:cNvSpPr/>
            <p:nvPr/>
          </p:nvSpPr>
          <p:spPr>
            <a:xfrm>
              <a:off x="6432803" y="1969135"/>
              <a:ext cx="127000" cy="1642745"/>
            </a:xfrm>
            <a:custGeom>
              <a:avLst/>
              <a:gdLst/>
              <a:ahLst/>
              <a:cxnLst/>
              <a:rect l="l" t="t" r="r" b="b"/>
              <a:pathLst>
                <a:path w="127000" h="1642745">
                  <a:moveTo>
                    <a:pt x="50519" y="124372"/>
                  </a:moveTo>
                  <a:lnTo>
                    <a:pt x="40386" y="1642237"/>
                  </a:lnTo>
                  <a:lnTo>
                    <a:pt x="65532" y="1642491"/>
                  </a:lnTo>
                  <a:lnTo>
                    <a:pt x="75649" y="127000"/>
                  </a:lnTo>
                  <a:lnTo>
                    <a:pt x="63119" y="127000"/>
                  </a:lnTo>
                  <a:lnTo>
                    <a:pt x="50519" y="124372"/>
                  </a:lnTo>
                  <a:close/>
                </a:path>
                <a:path w="127000" h="1642745">
                  <a:moveTo>
                    <a:pt x="50927" y="63373"/>
                  </a:moveTo>
                  <a:lnTo>
                    <a:pt x="50519" y="124372"/>
                  </a:lnTo>
                  <a:lnTo>
                    <a:pt x="63119" y="127000"/>
                  </a:lnTo>
                  <a:lnTo>
                    <a:pt x="75666" y="124551"/>
                  </a:lnTo>
                  <a:lnTo>
                    <a:pt x="76073" y="63627"/>
                  </a:lnTo>
                  <a:lnTo>
                    <a:pt x="50927" y="63373"/>
                  </a:lnTo>
                  <a:close/>
                </a:path>
                <a:path w="127000" h="1642745">
                  <a:moveTo>
                    <a:pt x="75666" y="124551"/>
                  </a:moveTo>
                  <a:lnTo>
                    <a:pt x="63119" y="127000"/>
                  </a:lnTo>
                  <a:lnTo>
                    <a:pt x="75649" y="127000"/>
                  </a:lnTo>
                  <a:lnTo>
                    <a:pt x="75666" y="124551"/>
                  </a:lnTo>
                  <a:close/>
                </a:path>
                <a:path w="127000" h="1642745">
                  <a:moveTo>
                    <a:pt x="126900" y="63373"/>
                  </a:moveTo>
                  <a:lnTo>
                    <a:pt x="50927" y="63373"/>
                  </a:lnTo>
                  <a:lnTo>
                    <a:pt x="76073" y="63627"/>
                  </a:lnTo>
                  <a:lnTo>
                    <a:pt x="75666" y="124551"/>
                  </a:lnTo>
                  <a:lnTo>
                    <a:pt x="87852" y="122174"/>
                  </a:lnTo>
                  <a:lnTo>
                    <a:pt x="108108" y="108680"/>
                  </a:lnTo>
                  <a:lnTo>
                    <a:pt x="121840" y="88566"/>
                  </a:lnTo>
                  <a:lnTo>
                    <a:pt x="127000" y="63881"/>
                  </a:lnTo>
                  <a:lnTo>
                    <a:pt x="126900" y="63373"/>
                  </a:lnTo>
                  <a:close/>
                </a:path>
                <a:path w="127000" h="1642745">
                  <a:moveTo>
                    <a:pt x="63881" y="0"/>
                  </a:moveTo>
                  <a:lnTo>
                    <a:pt x="39147" y="4826"/>
                  </a:lnTo>
                  <a:lnTo>
                    <a:pt x="18891" y="18319"/>
                  </a:lnTo>
                  <a:lnTo>
                    <a:pt x="5159" y="38433"/>
                  </a:lnTo>
                  <a:lnTo>
                    <a:pt x="0" y="63119"/>
                  </a:lnTo>
                  <a:lnTo>
                    <a:pt x="4808" y="87852"/>
                  </a:lnTo>
                  <a:lnTo>
                    <a:pt x="18272" y="108108"/>
                  </a:lnTo>
                  <a:lnTo>
                    <a:pt x="38379" y="121840"/>
                  </a:lnTo>
                  <a:lnTo>
                    <a:pt x="50519" y="124372"/>
                  </a:lnTo>
                  <a:lnTo>
                    <a:pt x="50927" y="63373"/>
                  </a:lnTo>
                  <a:lnTo>
                    <a:pt x="126900" y="63373"/>
                  </a:lnTo>
                  <a:lnTo>
                    <a:pt x="122174" y="39147"/>
                  </a:lnTo>
                  <a:lnTo>
                    <a:pt x="108680" y="18891"/>
                  </a:lnTo>
                  <a:lnTo>
                    <a:pt x="88566" y="5159"/>
                  </a:lnTo>
                  <a:lnTo>
                    <a:pt x="63881" y="0"/>
                  </a:lnTo>
                  <a:close/>
                </a:path>
              </a:pathLst>
            </a:custGeom>
            <a:solidFill>
              <a:srgbClr val="8063A1"/>
            </a:solidFill>
          </p:spPr>
          <p:txBody>
            <a:bodyPr wrap="square" lIns="0" tIns="0" rIns="0" bIns="0" rtlCol="0"/>
            <a:lstStyle/>
            <a:p>
              <a:endParaRPr/>
            </a:p>
          </p:txBody>
        </p:sp>
        <p:pic>
          <p:nvPicPr>
            <p:cNvPr id="11" name="object 11"/>
            <p:cNvPicPr/>
            <p:nvPr/>
          </p:nvPicPr>
          <p:blipFill>
            <a:blip r:embed="rId6" cstate="print"/>
            <a:stretch>
              <a:fillRect/>
            </a:stretch>
          </p:blipFill>
          <p:spPr>
            <a:xfrm>
              <a:off x="6330696" y="3405365"/>
              <a:ext cx="2655570" cy="528840"/>
            </a:xfrm>
            <a:prstGeom prst="rect">
              <a:avLst/>
            </a:prstGeom>
          </p:spPr>
        </p:pic>
      </p:grpSp>
      <p:sp>
        <p:nvSpPr>
          <p:cNvPr id="12" name="object 12"/>
          <p:cNvSpPr txBox="1"/>
          <p:nvPr/>
        </p:nvSpPr>
        <p:spPr>
          <a:xfrm>
            <a:off x="313181" y="3875785"/>
            <a:ext cx="1670050" cy="1305560"/>
          </a:xfrm>
          <a:prstGeom prst="rect">
            <a:avLst/>
          </a:prstGeom>
        </p:spPr>
        <p:txBody>
          <a:bodyPr vert="horz" wrap="square" lIns="0" tIns="12065" rIns="0" bIns="0" rtlCol="0">
            <a:spAutoFit/>
          </a:bodyPr>
          <a:lstStyle/>
          <a:p>
            <a:pPr marL="12700" marR="5080">
              <a:lnSpc>
                <a:spcPct val="100000"/>
              </a:lnSpc>
              <a:spcBef>
                <a:spcPts val="95"/>
              </a:spcBef>
            </a:pPr>
            <a:r>
              <a:rPr sz="1400" spc="-5" dirty="0">
                <a:solidFill>
                  <a:srgbClr val="404040"/>
                </a:solidFill>
                <a:latin typeface="Arial"/>
                <a:cs typeface="Arial"/>
              </a:rPr>
              <a:t>A view is a virtual  </a:t>
            </a:r>
            <a:r>
              <a:rPr sz="1400" dirty="0">
                <a:solidFill>
                  <a:srgbClr val="404040"/>
                </a:solidFill>
                <a:latin typeface="Arial"/>
                <a:cs typeface="Arial"/>
              </a:rPr>
              <a:t>table that </a:t>
            </a:r>
            <a:r>
              <a:rPr sz="1400" spc="-5" dirty="0">
                <a:solidFill>
                  <a:srgbClr val="404040"/>
                </a:solidFill>
                <a:latin typeface="Arial"/>
                <a:cs typeface="Arial"/>
              </a:rPr>
              <a:t>is made</a:t>
            </a:r>
            <a:r>
              <a:rPr sz="1400" spc="-120" dirty="0">
                <a:solidFill>
                  <a:srgbClr val="404040"/>
                </a:solidFill>
                <a:latin typeface="Arial"/>
                <a:cs typeface="Arial"/>
              </a:rPr>
              <a:t> </a:t>
            </a:r>
            <a:r>
              <a:rPr sz="1400" spc="-5" dirty="0">
                <a:solidFill>
                  <a:srgbClr val="404040"/>
                </a:solidFill>
                <a:latin typeface="Arial"/>
                <a:cs typeface="Arial"/>
              </a:rPr>
              <a:t>up  of selected columns  </a:t>
            </a:r>
            <a:r>
              <a:rPr sz="1400" dirty="0">
                <a:solidFill>
                  <a:srgbClr val="404040"/>
                </a:solidFill>
                <a:latin typeface="Arial"/>
                <a:cs typeface="Arial"/>
              </a:rPr>
              <a:t>from </a:t>
            </a:r>
            <a:r>
              <a:rPr sz="1400" spc="-5" dirty="0">
                <a:solidFill>
                  <a:srgbClr val="404040"/>
                </a:solidFill>
                <a:latin typeface="Arial"/>
                <a:cs typeface="Arial"/>
              </a:rPr>
              <a:t>one or more  tables.</a:t>
            </a:r>
            <a:endParaRPr sz="1400">
              <a:latin typeface="Arial"/>
              <a:cs typeface="Arial"/>
            </a:endParaRPr>
          </a:p>
          <a:p>
            <a:pPr marL="12700">
              <a:lnSpc>
                <a:spcPct val="100000"/>
              </a:lnSpc>
            </a:pPr>
            <a:r>
              <a:rPr sz="1400" dirty="0">
                <a:solidFill>
                  <a:srgbClr val="404040"/>
                </a:solidFill>
                <a:latin typeface="Arial"/>
                <a:cs typeface="Arial"/>
              </a:rPr>
              <a:t>.</a:t>
            </a:r>
            <a:endParaRPr sz="1400">
              <a:latin typeface="Arial"/>
              <a:cs typeface="Arial"/>
            </a:endParaRPr>
          </a:p>
        </p:txBody>
      </p:sp>
      <p:sp>
        <p:nvSpPr>
          <p:cNvPr id="17" name="object 17"/>
          <p:cNvSpPr txBox="1"/>
          <p:nvPr/>
        </p:nvSpPr>
        <p:spPr>
          <a:xfrm>
            <a:off x="7853933" y="6569709"/>
            <a:ext cx="887730"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67" baseline="4629" dirty="0">
                <a:latin typeface="Arial"/>
                <a:cs typeface="Arial"/>
              </a:rPr>
              <a:t>10/</a:t>
            </a:r>
            <a:r>
              <a:rPr sz="1800" spc="-240" baseline="4629" dirty="0">
                <a:latin typeface="Arial"/>
                <a:cs typeface="Arial"/>
              </a:rPr>
              <a:t> </a:t>
            </a:r>
            <a:fld id="{81D60167-4931-47E6-BA6A-407CBD079E47}" type="slidenum">
              <a:rPr sz="1200" spc="-65" dirty="0">
                <a:latin typeface="Arial"/>
                <a:cs typeface="Arial"/>
              </a:rPr>
              <a:t>4</a:t>
            </a:fld>
            <a:endParaRPr sz="1200">
              <a:latin typeface="Arial"/>
              <a:cs typeface="Arial"/>
            </a:endParaRPr>
          </a:p>
        </p:txBody>
      </p:sp>
      <p:sp>
        <p:nvSpPr>
          <p:cNvPr id="18" name="object 1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3" name="object 13"/>
          <p:cNvSpPr txBox="1"/>
          <p:nvPr/>
        </p:nvSpPr>
        <p:spPr>
          <a:xfrm>
            <a:off x="2397251" y="3339591"/>
            <a:ext cx="1591310" cy="878840"/>
          </a:xfrm>
          <a:prstGeom prst="rect">
            <a:avLst/>
          </a:prstGeom>
        </p:spPr>
        <p:txBody>
          <a:bodyPr vert="horz" wrap="square" lIns="0" tIns="12065" rIns="0" bIns="0" rtlCol="0">
            <a:spAutoFit/>
          </a:bodyPr>
          <a:lstStyle/>
          <a:p>
            <a:pPr marL="12700" marR="5080">
              <a:lnSpc>
                <a:spcPct val="100000"/>
              </a:lnSpc>
              <a:spcBef>
                <a:spcPts val="95"/>
              </a:spcBef>
            </a:pPr>
            <a:r>
              <a:rPr sz="1400" spc="-5" dirty="0">
                <a:solidFill>
                  <a:srgbClr val="404040"/>
                </a:solidFill>
                <a:latin typeface="Arial"/>
                <a:cs typeface="Arial"/>
              </a:rPr>
              <a:t>The tables </a:t>
            </a:r>
            <a:r>
              <a:rPr sz="1400" dirty="0">
                <a:solidFill>
                  <a:srgbClr val="404040"/>
                </a:solidFill>
                <a:latin typeface="Arial"/>
                <a:cs typeface="Arial"/>
              </a:rPr>
              <a:t>from  </a:t>
            </a:r>
            <a:r>
              <a:rPr sz="1400" spc="-5" dirty="0">
                <a:solidFill>
                  <a:srgbClr val="404040"/>
                </a:solidFill>
                <a:latin typeface="Arial"/>
                <a:cs typeface="Arial"/>
              </a:rPr>
              <a:t>which the view is  created are</a:t>
            </a:r>
            <a:r>
              <a:rPr sz="1400" spc="-75" dirty="0">
                <a:solidFill>
                  <a:srgbClr val="404040"/>
                </a:solidFill>
                <a:latin typeface="Arial"/>
                <a:cs typeface="Arial"/>
              </a:rPr>
              <a:t> </a:t>
            </a:r>
            <a:r>
              <a:rPr sz="1400" spc="-5" dirty="0">
                <a:solidFill>
                  <a:srgbClr val="404040"/>
                </a:solidFill>
                <a:latin typeface="Arial"/>
                <a:cs typeface="Arial"/>
              </a:rPr>
              <a:t>referred  </a:t>
            </a:r>
            <a:r>
              <a:rPr sz="1400" dirty="0">
                <a:solidFill>
                  <a:srgbClr val="404040"/>
                </a:solidFill>
                <a:latin typeface="Arial"/>
                <a:cs typeface="Arial"/>
              </a:rPr>
              <a:t>to </a:t>
            </a:r>
            <a:r>
              <a:rPr sz="1400" spc="-5" dirty="0">
                <a:solidFill>
                  <a:srgbClr val="404040"/>
                </a:solidFill>
                <a:latin typeface="Arial"/>
                <a:cs typeface="Arial"/>
              </a:rPr>
              <a:t>as base</a:t>
            </a:r>
            <a:r>
              <a:rPr sz="1400" spc="-40" dirty="0">
                <a:solidFill>
                  <a:srgbClr val="404040"/>
                </a:solidFill>
                <a:latin typeface="Arial"/>
                <a:cs typeface="Arial"/>
              </a:rPr>
              <a:t> </a:t>
            </a:r>
            <a:r>
              <a:rPr sz="1400" spc="-5" dirty="0">
                <a:solidFill>
                  <a:srgbClr val="404040"/>
                </a:solidFill>
                <a:latin typeface="Arial"/>
                <a:cs typeface="Arial"/>
              </a:rPr>
              <a:t>tables.</a:t>
            </a:r>
            <a:endParaRPr sz="1400">
              <a:latin typeface="Arial"/>
              <a:cs typeface="Arial"/>
            </a:endParaRPr>
          </a:p>
        </p:txBody>
      </p:sp>
      <p:sp>
        <p:nvSpPr>
          <p:cNvPr id="14" name="object 14"/>
          <p:cNvSpPr txBox="1"/>
          <p:nvPr/>
        </p:nvSpPr>
        <p:spPr>
          <a:xfrm>
            <a:off x="4605782" y="2550667"/>
            <a:ext cx="1581785" cy="1306195"/>
          </a:xfrm>
          <a:prstGeom prst="rect">
            <a:avLst/>
          </a:prstGeom>
        </p:spPr>
        <p:txBody>
          <a:bodyPr vert="horz" wrap="square" lIns="0" tIns="12700" rIns="0" bIns="0" rtlCol="0">
            <a:spAutoFit/>
          </a:bodyPr>
          <a:lstStyle/>
          <a:p>
            <a:pPr marL="12700" marR="5080">
              <a:lnSpc>
                <a:spcPct val="100000"/>
              </a:lnSpc>
              <a:spcBef>
                <a:spcPts val="100"/>
              </a:spcBef>
            </a:pPr>
            <a:r>
              <a:rPr sz="1400" dirty="0">
                <a:solidFill>
                  <a:srgbClr val="404040"/>
                </a:solidFill>
                <a:latin typeface="Arial"/>
                <a:cs typeface="Arial"/>
              </a:rPr>
              <a:t>A </a:t>
            </a:r>
            <a:r>
              <a:rPr sz="1400" spc="-5" dirty="0">
                <a:solidFill>
                  <a:srgbClr val="404040"/>
                </a:solidFill>
                <a:latin typeface="Arial"/>
                <a:cs typeface="Arial"/>
              </a:rPr>
              <a:t>view can also  include columns  </a:t>
            </a:r>
            <a:r>
              <a:rPr sz="1400" dirty="0">
                <a:solidFill>
                  <a:srgbClr val="404040"/>
                </a:solidFill>
                <a:latin typeface="Arial"/>
                <a:cs typeface="Arial"/>
              </a:rPr>
              <a:t>from other </a:t>
            </a:r>
            <a:r>
              <a:rPr sz="1400" spc="-5" dirty="0">
                <a:solidFill>
                  <a:srgbClr val="404040"/>
                </a:solidFill>
                <a:latin typeface="Arial"/>
                <a:cs typeface="Arial"/>
              </a:rPr>
              <a:t>views  created in the</a:t>
            </a:r>
            <a:r>
              <a:rPr sz="1400" spc="-75" dirty="0">
                <a:solidFill>
                  <a:srgbClr val="404040"/>
                </a:solidFill>
                <a:latin typeface="Arial"/>
                <a:cs typeface="Arial"/>
              </a:rPr>
              <a:t> </a:t>
            </a:r>
            <a:r>
              <a:rPr sz="1400" spc="-5" dirty="0">
                <a:solidFill>
                  <a:srgbClr val="404040"/>
                </a:solidFill>
                <a:latin typeface="Arial"/>
                <a:cs typeface="Arial"/>
              </a:rPr>
              <a:t>same  or a different  database.</a:t>
            </a:r>
            <a:endParaRPr sz="1400">
              <a:latin typeface="Arial"/>
              <a:cs typeface="Arial"/>
            </a:endParaRPr>
          </a:p>
        </p:txBody>
      </p:sp>
      <p:sp>
        <p:nvSpPr>
          <p:cNvPr id="15" name="object 15"/>
          <p:cNvSpPr txBox="1"/>
          <p:nvPr/>
        </p:nvSpPr>
        <p:spPr>
          <a:xfrm>
            <a:off x="6601206" y="2514600"/>
            <a:ext cx="1484630" cy="665480"/>
          </a:xfrm>
          <a:prstGeom prst="rect">
            <a:avLst/>
          </a:prstGeom>
        </p:spPr>
        <p:txBody>
          <a:bodyPr vert="horz" wrap="square" lIns="0" tIns="12065" rIns="0" bIns="0" rtlCol="0">
            <a:spAutoFit/>
          </a:bodyPr>
          <a:lstStyle/>
          <a:p>
            <a:pPr marL="12700" marR="5080" algn="just">
              <a:lnSpc>
                <a:spcPct val="100000"/>
              </a:lnSpc>
              <a:spcBef>
                <a:spcPts val="95"/>
              </a:spcBef>
            </a:pPr>
            <a:r>
              <a:rPr sz="1400" spc="-5" dirty="0">
                <a:solidFill>
                  <a:srgbClr val="404040"/>
                </a:solidFill>
                <a:latin typeface="Arial"/>
                <a:cs typeface="Arial"/>
              </a:rPr>
              <a:t>A view can have a  maximum of</a:t>
            </a:r>
            <a:r>
              <a:rPr sz="1400" spc="-65" dirty="0">
                <a:solidFill>
                  <a:srgbClr val="404040"/>
                </a:solidFill>
                <a:latin typeface="Arial"/>
                <a:cs typeface="Arial"/>
              </a:rPr>
              <a:t> </a:t>
            </a:r>
            <a:r>
              <a:rPr sz="1400" spc="-5" dirty="0">
                <a:solidFill>
                  <a:srgbClr val="404040"/>
                </a:solidFill>
                <a:latin typeface="Arial"/>
                <a:cs typeface="Arial"/>
              </a:rPr>
              <a:t>1,024  columns.</a:t>
            </a:r>
            <a:endParaRPr sz="14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586" y="0"/>
            <a:ext cx="3441065" cy="635635"/>
          </a:xfrm>
          <a:prstGeom prst="rect">
            <a:avLst/>
          </a:prstGeom>
        </p:spPr>
        <p:txBody>
          <a:bodyPr vert="horz" wrap="square" lIns="0" tIns="12700" rIns="0" bIns="0" rtlCol="0">
            <a:spAutoFit/>
          </a:bodyPr>
          <a:lstStyle/>
          <a:p>
            <a:pPr marL="12700">
              <a:lnSpc>
                <a:spcPct val="100000"/>
              </a:lnSpc>
              <a:spcBef>
                <a:spcPts val="100"/>
              </a:spcBef>
            </a:pPr>
            <a:r>
              <a:rPr sz="4000" b="0" spc="15" dirty="0">
                <a:latin typeface="Arial"/>
                <a:cs typeface="Arial"/>
              </a:rPr>
              <a:t>Creating</a:t>
            </a:r>
            <a:r>
              <a:rPr sz="4000" b="0" spc="-345" dirty="0">
                <a:latin typeface="Arial"/>
                <a:cs typeface="Arial"/>
              </a:rPr>
              <a:t> </a:t>
            </a:r>
            <a:r>
              <a:rPr sz="4000" b="0" spc="25" dirty="0">
                <a:latin typeface="Arial"/>
                <a:cs typeface="Arial"/>
              </a:rPr>
              <a:t>Views</a:t>
            </a:r>
            <a:endParaRPr sz="4000">
              <a:latin typeface="Arial"/>
              <a:cs typeface="Arial"/>
            </a:endParaRPr>
          </a:p>
        </p:txBody>
      </p:sp>
      <p:pic>
        <p:nvPicPr>
          <p:cNvPr id="3" name="object 3"/>
          <p:cNvPicPr/>
          <p:nvPr/>
        </p:nvPicPr>
        <p:blipFill>
          <a:blip r:embed="rId3" cstate="print"/>
          <a:stretch>
            <a:fillRect/>
          </a:stretch>
        </p:blipFill>
        <p:spPr>
          <a:xfrm>
            <a:off x="4875059" y="3940640"/>
            <a:ext cx="4179316" cy="1983715"/>
          </a:xfrm>
          <a:prstGeom prst="rect">
            <a:avLst/>
          </a:prstGeom>
        </p:spPr>
      </p:pic>
      <p:grpSp>
        <p:nvGrpSpPr>
          <p:cNvPr id="4" name="object 4"/>
          <p:cNvGrpSpPr/>
          <p:nvPr/>
        </p:nvGrpSpPr>
        <p:grpSpPr>
          <a:xfrm>
            <a:off x="279527" y="838200"/>
            <a:ext cx="8221980" cy="635635"/>
            <a:chOff x="279527" y="1062863"/>
            <a:chExt cx="8221980" cy="861694"/>
          </a:xfrm>
        </p:grpSpPr>
        <p:sp>
          <p:nvSpPr>
            <p:cNvPr id="5" name="object 5"/>
            <p:cNvSpPr/>
            <p:nvPr/>
          </p:nvSpPr>
          <p:spPr>
            <a:xfrm>
              <a:off x="292227" y="1075563"/>
              <a:ext cx="8196580" cy="836294"/>
            </a:xfrm>
            <a:custGeom>
              <a:avLst/>
              <a:gdLst/>
              <a:ahLst/>
              <a:cxnLst/>
              <a:rect l="l" t="t" r="r" b="b"/>
              <a:pathLst>
                <a:path w="8196580" h="836294">
                  <a:moveTo>
                    <a:pt x="7975092" y="0"/>
                  </a:moveTo>
                  <a:lnTo>
                    <a:pt x="220967" y="0"/>
                  </a:lnTo>
                  <a:lnTo>
                    <a:pt x="162226" y="4975"/>
                  </a:lnTo>
                  <a:lnTo>
                    <a:pt x="109442" y="19017"/>
                  </a:lnTo>
                  <a:lnTo>
                    <a:pt x="64720" y="40798"/>
                  </a:lnTo>
                  <a:lnTo>
                    <a:pt x="30169" y="68993"/>
                  </a:lnTo>
                  <a:lnTo>
                    <a:pt x="7893" y="102276"/>
                  </a:lnTo>
                  <a:lnTo>
                    <a:pt x="0" y="139319"/>
                  </a:lnTo>
                  <a:lnTo>
                    <a:pt x="0" y="696595"/>
                  </a:lnTo>
                  <a:lnTo>
                    <a:pt x="30169" y="766920"/>
                  </a:lnTo>
                  <a:lnTo>
                    <a:pt x="64720" y="795115"/>
                  </a:lnTo>
                  <a:lnTo>
                    <a:pt x="109442" y="816896"/>
                  </a:lnTo>
                  <a:lnTo>
                    <a:pt x="162226" y="830938"/>
                  </a:lnTo>
                  <a:lnTo>
                    <a:pt x="220967" y="835914"/>
                  </a:lnTo>
                  <a:lnTo>
                    <a:pt x="7975092" y="835914"/>
                  </a:lnTo>
                  <a:lnTo>
                    <a:pt x="8033838" y="830938"/>
                  </a:lnTo>
                  <a:lnTo>
                    <a:pt x="8086626" y="816896"/>
                  </a:lnTo>
                  <a:lnTo>
                    <a:pt x="8131349" y="795115"/>
                  </a:lnTo>
                  <a:lnTo>
                    <a:pt x="8165902" y="766920"/>
                  </a:lnTo>
                  <a:lnTo>
                    <a:pt x="8188178" y="733637"/>
                  </a:lnTo>
                  <a:lnTo>
                    <a:pt x="8196072" y="696595"/>
                  </a:lnTo>
                  <a:lnTo>
                    <a:pt x="8196072" y="139319"/>
                  </a:lnTo>
                  <a:lnTo>
                    <a:pt x="8165902" y="68993"/>
                  </a:lnTo>
                  <a:lnTo>
                    <a:pt x="8131349" y="40798"/>
                  </a:lnTo>
                  <a:lnTo>
                    <a:pt x="8086626" y="19017"/>
                  </a:lnTo>
                  <a:lnTo>
                    <a:pt x="8033838" y="4975"/>
                  </a:lnTo>
                  <a:lnTo>
                    <a:pt x="7975092" y="0"/>
                  </a:lnTo>
                  <a:close/>
                </a:path>
              </a:pathLst>
            </a:custGeom>
            <a:solidFill>
              <a:srgbClr val="D99593"/>
            </a:solidFill>
          </p:spPr>
          <p:txBody>
            <a:bodyPr wrap="square" lIns="0" tIns="0" rIns="0" bIns="0" rtlCol="0"/>
            <a:lstStyle/>
            <a:p>
              <a:endParaRPr/>
            </a:p>
          </p:txBody>
        </p:sp>
        <p:sp>
          <p:nvSpPr>
            <p:cNvPr id="6" name="object 6"/>
            <p:cNvSpPr/>
            <p:nvPr/>
          </p:nvSpPr>
          <p:spPr>
            <a:xfrm>
              <a:off x="292227" y="1075563"/>
              <a:ext cx="8196580" cy="836294"/>
            </a:xfrm>
            <a:custGeom>
              <a:avLst/>
              <a:gdLst/>
              <a:ahLst/>
              <a:cxnLst/>
              <a:rect l="l" t="t" r="r" b="b"/>
              <a:pathLst>
                <a:path w="8196580" h="836294">
                  <a:moveTo>
                    <a:pt x="0" y="139319"/>
                  </a:moveTo>
                  <a:lnTo>
                    <a:pt x="30169" y="68993"/>
                  </a:lnTo>
                  <a:lnTo>
                    <a:pt x="64720" y="40798"/>
                  </a:lnTo>
                  <a:lnTo>
                    <a:pt x="109442" y="19017"/>
                  </a:lnTo>
                  <a:lnTo>
                    <a:pt x="162226" y="4975"/>
                  </a:lnTo>
                  <a:lnTo>
                    <a:pt x="220967" y="0"/>
                  </a:lnTo>
                  <a:lnTo>
                    <a:pt x="7975092" y="0"/>
                  </a:lnTo>
                  <a:lnTo>
                    <a:pt x="8033838" y="4975"/>
                  </a:lnTo>
                  <a:lnTo>
                    <a:pt x="8086626" y="19017"/>
                  </a:lnTo>
                  <a:lnTo>
                    <a:pt x="8131349" y="40798"/>
                  </a:lnTo>
                  <a:lnTo>
                    <a:pt x="8165902" y="68993"/>
                  </a:lnTo>
                  <a:lnTo>
                    <a:pt x="8188178" y="102276"/>
                  </a:lnTo>
                  <a:lnTo>
                    <a:pt x="8196072" y="139319"/>
                  </a:lnTo>
                  <a:lnTo>
                    <a:pt x="8196072" y="696595"/>
                  </a:lnTo>
                  <a:lnTo>
                    <a:pt x="8165902" y="766920"/>
                  </a:lnTo>
                  <a:lnTo>
                    <a:pt x="8131349" y="795115"/>
                  </a:lnTo>
                  <a:lnTo>
                    <a:pt x="8086626" y="816896"/>
                  </a:lnTo>
                  <a:lnTo>
                    <a:pt x="8033838" y="830938"/>
                  </a:lnTo>
                  <a:lnTo>
                    <a:pt x="7975092" y="835914"/>
                  </a:lnTo>
                  <a:lnTo>
                    <a:pt x="220967" y="835914"/>
                  </a:lnTo>
                  <a:lnTo>
                    <a:pt x="162226" y="830938"/>
                  </a:lnTo>
                  <a:lnTo>
                    <a:pt x="109442" y="816896"/>
                  </a:lnTo>
                  <a:lnTo>
                    <a:pt x="64720" y="795115"/>
                  </a:lnTo>
                  <a:lnTo>
                    <a:pt x="30169" y="766920"/>
                  </a:lnTo>
                  <a:lnTo>
                    <a:pt x="7893" y="733637"/>
                  </a:lnTo>
                  <a:lnTo>
                    <a:pt x="0" y="696595"/>
                  </a:lnTo>
                  <a:lnTo>
                    <a:pt x="0" y="139319"/>
                  </a:lnTo>
                  <a:close/>
                </a:path>
              </a:pathLst>
            </a:custGeom>
            <a:ln w="25145">
              <a:solidFill>
                <a:srgbClr val="FFFFFF"/>
              </a:solidFill>
            </a:ln>
          </p:spPr>
          <p:txBody>
            <a:bodyPr wrap="square" lIns="0" tIns="0" rIns="0" bIns="0" rtlCol="0"/>
            <a:lstStyle/>
            <a:p>
              <a:endParaRPr/>
            </a:p>
          </p:txBody>
        </p:sp>
      </p:grpSp>
      <p:sp>
        <p:nvSpPr>
          <p:cNvPr id="7" name="object 7"/>
          <p:cNvSpPr txBox="1"/>
          <p:nvPr/>
        </p:nvSpPr>
        <p:spPr>
          <a:xfrm>
            <a:off x="537718" y="914400"/>
            <a:ext cx="7543165" cy="440055"/>
          </a:xfrm>
          <a:prstGeom prst="rect">
            <a:avLst/>
          </a:prstGeom>
        </p:spPr>
        <p:txBody>
          <a:bodyPr vert="horz" wrap="square" lIns="0" tIns="29844" rIns="0" bIns="0" rtlCol="0">
            <a:spAutoFit/>
          </a:bodyPr>
          <a:lstStyle/>
          <a:p>
            <a:pPr marL="12700" marR="5080">
              <a:lnSpc>
                <a:spcPts val="1580"/>
              </a:lnSpc>
              <a:spcBef>
                <a:spcPts val="234"/>
              </a:spcBef>
            </a:pPr>
            <a:r>
              <a:rPr sz="1400" spc="200" dirty="0">
                <a:latin typeface="Arial"/>
                <a:cs typeface="Arial"/>
              </a:rPr>
              <a:t>A</a:t>
            </a:r>
            <a:r>
              <a:rPr sz="1400" spc="-85" dirty="0">
                <a:latin typeface="Arial"/>
                <a:cs typeface="Arial"/>
              </a:rPr>
              <a:t> </a:t>
            </a:r>
            <a:r>
              <a:rPr sz="1400" spc="-50" dirty="0">
                <a:latin typeface="Arial"/>
                <a:cs typeface="Arial"/>
              </a:rPr>
              <a:t>user</a:t>
            </a:r>
            <a:r>
              <a:rPr sz="1400" spc="-80" dirty="0">
                <a:latin typeface="Arial"/>
                <a:cs typeface="Arial"/>
              </a:rPr>
              <a:t> </a:t>
            </a:r>
            <a:r>
              <a:rPr sz="1400" spc="-55" dirty="0">
                <a:latin typeface="Arial"/>
                <a:cs typeface="Arial"/>
              </a:rPr>
              <a:t>can</a:t>
            </a:r>
            <a:r>
              <a:rPr sz="1400" spc="-75" dirty="0">
                <a:latin typeface="Arial"/>
                <a:cs typeface="Arial"/>
              </a:rPr>
              <a:t> </a:t>
            </a:r>
            <a:r>
              <a:rPr sz="1400" spc="-55" dirty="0">
                <a:latin typeface="Arial"/>
                <a:cs typeface="Arial"/>
              </a:rPr>
              <a:t>create</a:t>
            </a:r>
            <a:r>
              <a:rPr sz="1400" spc="-80" dirty="0">
                <a:latin typeface="Arial"/>
                <a:cs typeface="Arial"/>
              </a:rPr>
              <a:t> </a:t>
            </a:r>
            <a:r>
              <a:rPr sz="1400" spc="-135" dirty="0">
                <a:latin typeface="Arial"/>
                <a:cs typeface="Arial"/>
              </a:rPr>
              <a:t>a</a:t>
            </a:r>
            <a:r>
              <a:rPr sz="1400" spc="-85" dirty="0">
                <a:latin typeface="Arial"/>
                <a:cs typeface="Arial"/>
              </a:rPr>
              <a:t> </a:t>
            </a:r>
            <a:r>
              <a:rPr sz="1400" spc="5" dirty="0">
                <a:latin typeface="Arial"/>
                <a:cs typeface="Arial"/>
              </a:rPr>
              <a:t>view</a:t>
            </a:r>
            <a:r>
              <a:rPr sz="1400" spc="-75" dirty="0">
                <a:latin typeface="Arial"/>
                <a:cs typeface="Arial"/>
              </a:rPr>
              <a:t> </a:t>
            </a:r>
            <a:r>
              <a:rPr sz="1400" spc="-20" dirty="0">
                <a:latin typeface="Arial"/>
                <a:cs typeface="Arial"/>
              </a:rPr>
              <a:t>using</a:t>
            </a:r>
            <a:r>
              <a:rPr sz="1400" spc="-65" dirty="0">
                <a:latin typeface="Arial"/>
                <a:cs typeface="Arial"/>
              </a:rPr>
              <a:t> </a:t>
            </a:r>
            <a:r>
              <a:rPr sz="1400" spc="-15" dirty="0">
                <a:latin typeface="Arial"/>
                <a:cs typeface="Arial"/>
              </a:rPr>
              <a:t>columns</a:t>
            </a:r>
            <a:r>
              <a:rPr sz="1400" spc="-70" dirty="0">
                <a:latin typeface="Arial"/>
                <a:cs typeface="Arial"/>
              </a:rPr>
              <a:t> </a:t>
            </a:r>
            <a:r>
              <a:rPr sz="1400" spc="30" dirty="0">
                <a:latin typeface="Arial"/>
                <a:cs typeface="Arial"/>
              </a:rPr>
              <a:t>from</a:t>
            </a:r>
            <a:r>
              <a:rPr sz="1400" spc="-75" dirty="0">
                <a:latin typeface="Arial"/>
                <a:cs typeface="Arial"/>
              </a:rPr>
              <a:t> </a:t>
            </a:r>
            <a:r>
              <a:rPr sz="1400" spc="-45" dirty="0">
                <a:latin typeface="Arial"/>
                <a:cs typeface="Arial"/>
              </a:rPr>
              <a:t>tables</a:t>
            </a:r>
            <a:r>
              <a:rPr sz="1400" spc="-90" dirty="0">
                <a:latin typeface="Arial"/>
                <a:cs typeface="Arial"/>
              </a:rPr>
              <a:t> </a:t>
            </a:r>
            <a:r>
              <a:rPr sz="1400" spc="20" dirty="0">
                <a:latin typeface="Arial"/>
                <a:cs typeface="Arial"/>
              </a:rPr>
              <a:t>or</a:t>
            </a:r>
            <a:r>
              <a:rPr sz="1400" spc="-90" dirty="0">
                <a:latin typeface="Arial"/>
                <a:cs typeface="Arial"/>
              </a:rPr>
              <a:t> </a:t>
            </a:r>
            <a:r>
              <a:rPr sz="1400" spc="5" dirty="0">
                <a:latin typeface="Arial"/>
                <a:cs typeface="Arial"/>
              </a:rPr>
              <a:t>other</a:t>
            </a:r>
            <a:r>
              <a:rPr sz="1400" spc="-90" dirty="0">
                <a:latin typeface="Arial"/>
                <a:cs typeface="Arial"/>
              </a:rPr>
              <a:t> </a:t>
            </a:r>
            <a:r>
              <a:rPr sz="1400" spc="-30" dirty="0">
                <a:latin typeface="Arial"/>
                <a:cs typeface="Arial"/>
              </a:rPr>
              <a:t>views</a:t>
            </a:r>
            <a:r>
              <a:rPr sz="1400" spc="-80" dirty="0">
                <a:latin typeface="Arial"/>
                <a:cs typeface="Arial"/>
              </a:rPr>
              <a:t> </a:t>
            </a:r>
            <a:r>
              <a:rPr sz="1400" spc="25" dirty="0">
                <a:latin typeface="Arial"/>
                <a:cs typeface="Arial"/>
              </a:rPr>
              <a:t>only</a:t>
            </a:r>
            <a:r>
              <a:rPr sz="1400" spc="-90" dirty="0">
                <a:latin typeface="Arial"/>
                <a:cs typeface="Arial"/>
              </a:rPr>
              <a:t> </a:t>
            </a:r>
            <a:r>
              <a:rPr sz="1400" spc="85" dirty="0">
                <a:latin typeface="Arial"/>
                <a:cs typeface="Arial"/>
              </a:rPr>
              <a:t>if</a:t>
            </a:r>
            <a:r>
              <a:rPr sz="1400" spc="-70" dirty="0">
                <a:latin typeface="Arial"/>
                <a:cs typeface="Arial"/>
              </a:rPr>
              <a:t> </a:t>
            </a:r>
            <a:r>
              <a:rPr sz="1400" dirty="0">
                <a:latin typeface="Arial"/>
                <a:cs typeface="Arial"/>
              </a:rPr>
              <a:t>the</a:t>
            </a:r>
            <a:r>
              <a:rPr sz="1400" spc="-85" dirty="0">
                <a:latin typeface="Arial"/>
                <a:cs typeface="Arial"/>
              </a:rPr>
              <a:t> </a:t>
            </a:r>
            <a:r>
              <a:rPr sz="1400" spc="-55" dirty="0">
                <a:latin typeface="Arial"/>
                <a:cs typeface="Arial"/>
              </a:rPr>
              <a:t>user</a:t>
            </a:r>
            <a:r>
              <a:rPr sz="1400" spc="-85" dirty="0">
                <a:latin typeface="Arial"/>
                <a:cs typeface="Arial"/>
              </a:rPr>
              <a:t> has</a:t>
            </a:r>
            <a:r>
              <a:rPr sz="1400" spc="-75" dirty="0">
                <a:latin typeface="Arial"/>
                <a:cs typeface="Arial"/>
              </a:rPr>
              <a:t> </a:t>
            </a:r>
            <a:r>
              <a:rPr sz="1400" spc="-20" dirty="0">
                <a:latin typeface="Arial"/>
                <a:cs typeface="Arial"/>
              </a:rPr>
              <a:t>permission</a:t>
            </a:r>
            <a:r>
              <a:rPr sz="1400" spc="-85" dirty="0">
                <a:latin typeface="Arial"/>
                <a:cs typeface="Arial"/>
              </a:rPr>
              <a:t> </a:t>
            </a:r>
            <a:r>
              <a:rPr sz="1400" spc="35" dirty="0">
                <a:latin typeface="Arial"/>
                <a:cs typeface="Arial"/>
              </a:rPr>
              <a:t>to  </a:t>
            </a:r>
            <a:r>
              <a:rPr sz="1400" spc="-120" dirty="0">
                <a:latin typeface="Arial"/>
                <a:cs typeface="Arial"/>
              </a:rPr>
              <a:t>access </a:t>
            </a:r>
            <a:r>
              <a:rPr sz="1400" spc="-55" dirty="0">
                <a:latin typeface="Arial"/>
                <a:cs typeface="Arial"/>
              </a:rPr>
              <a:t>these </a:t>
            </a:r>
            <a:r>
              <a:rPr sz="1400" spc="-45" dirty="0">
                <a:latin typeface="Arial"/>
                <a:cs typeface="Arial"/>
              </a:rPr>
              <a:t>tables </a:t>
            </a:r>
            <a:r>
              <a:rPr sz="1400" spc="-30" dirty="0">
                <a:latin typeface="Arial"/>
                <a:cs typeface="Arial"/>
              </a:rPr>
              <a:t>and</a:t>
            </a:r>
            <a:r>
              <a:rPr sz="1400" spc="-140" dirty="0">
                <a:latin typeface="Arial"/>
                <a:cs typeface="Arial"/>
              </a:rPr>
              <a:t> </a:t>
            </a:r>
            <a:r>
              <a:rPr sz="1400" spc="-30" dirty="0">
                <a:latin typeface="Arial"/>
                <a:cs typeface="Arial"/>
              </a:rPr>
              <a:t>views.</a:t>
            </a:r>
            <a:endParaRPr sz="1400">
              <a:latin typeface="Arial"/>
              <a:cs typeface="Arial"/>
            </a:endParaRPr>
          </a:p>
        </p:txBody>
      </p:sp>
      <p:grpSp>
        <p:nvGrpSpPr>
          <p:cNvPr id="8" name="object 8"/>
          <p:cNvGrpSpPr/>
          <p:nvPr/>
        </p:nvGrpSpPr>
        <p:grpSpPr>
          <a:xfrm>
            <a:off x="292227" y="1600200"/>
            <a:ext cx="8196580" cy="554406"/>
            <a:chOff x="292227" y="1715370"/>
            <a:chExt cx="8196580" cy="836294"/>
          </a:xfrm>
        </p:grpSpPr>
        <p:sp>
          <p:nvSpPr>
            <p:cNvPr id="9" name="object 9"/>
            <p:cNvSpPr/>
            <p:nvPr/>
          </p:nvSpPr>
          <p:spPr>
            <a:xfrm>
              <a:off x="292227" y="1715370"/>
              <a:ext cx="8196580" cy="836294"/>
            </a:xfrm>
            <a:custGeom>
              <a:avLst/>
              <a:gdLst/>
              <a:ahLst/>
              <a:cxnLst/>
              <a:rect l="l" t="t" r="r" b="b"/>
              <a:pathLst>
                <a:path w="8196580" h="836294">
                  <a:moveTo>
                    <a:pt x="7975092" y="0"/>
                  </a:moveTo>
                  <a:lnTo>
                    <a:pt x="220967" y="0"/>
                  </a:lnTo>
                  <a:lnTo>
                    <a:pt x="162226" y="4975"/>
                  </a:lnTo>
                  <a:lnTo>
                    <a:pt x="109442" y="19017"/>
                  </a:lnTo>
                  <a:lnTo>
                    <a:pt x="64720" y="40798"/>
                  </a:lnTo>
                  <a:lnTo>
                    <a:pt x="30169" y="68993"/>
                  </a:lnTo>
                  <a:lnTo>
                    <a:pt x="7893" y="102276"/>
                  </a:lnTo>
                  <a:lnTo>
                    <a:pt x="0" y="139319"/>
                  </a:lnTo>
                  <a:lnTo>
                    <a:pt x="0" y="696595"/>
                  </a:lnTo>
                  <a:lnTo>
                    <a:pt x="30169" y="766920"/>
                  </a:lnTo>
                  <a:lnTo>
                    <a:pt x="64720" y="795115"/>
                  </a:lnTo>
                  <a:lnTo>
                    <a:pt x="109442" y="816896"/>
                  </a:lnTo>
                  <a:lnTo>
                    <a:pt x="162226" y="830938"/>
                  </a:lnTo>
                  <a:lnTo>
                    <a:pt x="220967" y="835914"/>
                  </a:lnTo>
                  <a:lnTo>
                    <a:pt x="7975092" y="835914"/>
                  </a:lnTo>
                  <a:lnTo>
                    <a:pt x="8033838" y="830938"/>
                  </a:lnTo>
                  <a:lnTo>
                    <a:pt x="8086626" y="816896"/>
                  </a:lnTo>
                  <a:lnTo>
                    <a:pt x="8131349" y="795115"/>
                  </a:lnTo>
                  <a:lnTo>
                    <a:pt x="8165902" y="766920"/>
                  </a:lnTo>
                  <a:lnTo>
                    <a:pt x="8188178" y="733637"/>
                  </a:lnTo>
                  <a:lnTo>
                    <a:pt x="8196072" y="696595"/>
                  </a:lnTo>
                  <a:lnTo>
                    <a:pt x="8196072" y="139319"/>
                  </a:lnTo>
                  <a:lnTo>
                    <a:pt x="8165902" y="68993"/>
                  </a:lnTo>
                  <a:lnTo>
                    <a:pt x="8131349" y="40798"/>
                  </a:lnTo>
                  <a:lnTo>
                    <a:pt x="8086626" y="19017"/>
                  </a:lnTo>
                  <a:lnTo>
                    <a:pt x="8033838" y="4975"/>
                  </a:lnTo>
                  <a:lnTo>
                    <a:pt x="7975092" y="0"/>
                  </a:lnTo>
                  <a:close/>
                </a:path>
              </a:pathLst>
            </a:custGeom>
            <a:solidFill>
              <a:srgbClr val="BC9B52"/>
            </a:solidFill>
          </p:spPr>
          <p:txBody>
            <a:bodyPr wrap="square" lIns="0" tIns="0" rIns="0" bIns="0" rtlCol="0"/>
            <a:lstStyle/>
            <a:p>
              <a:endParaRPr/>
            </a:p>
          </p:txBody>
        </p:sp>
        <p:sp>
          <p:nvSpPr>
            <p:cNvPr id="10" name="object 10"/>
            <p:cNvSpPr/>
            <p:nvPr/>
          </p:nvSpPr>
          <p:spPr>
            <a:xfrm>
              <a:off x="292227" y="1715370"/>
              <a:ext cx="8196580" cy="836294"/>
            </a:xfrm>
            <a:custGeom>
              <a:avLst/>
              <a:gdLst/>
              <a:ahLst/>
              <a:cxnLst/>
              <a:rect l="l" t="t" r="r" b="b"/>
              <a:pathLst>
                <a:path w="8196580" h="836294">
                  <a:moveTo>
                    <a:pt x="0" y="139319"/>
                  </a:moveTo>
                  <a:lnTo>
                    <a:pt x="30169" y="68993"/>
                  </a:lnTo>
                  <a:lnTo>
                    <a:pt x="64720" y="40798"/>
                  </a:lnTo>
                  <a:lnTo>
                    <a:pt x="109442" y="19017"/>
                  </a:lnTo>
                  <a:lnTo>
                    <a:pt x="162226" y="4975"/>
                  </a:lnTo>
                  <a:lnTo>
                    <a:pt x="220967" y="0"/>
                  </a:lnTo>
                  <a:lnTo>
                    <a:pt x="7975092" y="0"/>
                  </a:lnTo>
                  <a:lnTo>
                    <a:pt x="8033838" y="4975"/>
                  </a:lnTo>
                  <a:lnTo>
                    <a:pt x="8086626" y="19017"/>
                  </a:lnTo>
                  <a:lnTo>
                    <a:pt x="8131349" y="40798"/>
                  </a:lnTo>
                  <a:lnTo>
                    <a:pt x="8165902" y="68993"/>
                  </a:lnTo>
                  <a:lnTo>
                    <a:pt x="8188178" y="102276"/>
                  </a:lnTo>
                  <a:lnTo>
                    <a:pt x="8196072" y="139319"/>
                  </a:lnTo>
                  <a:lnTo>
                    <a:pt x="8196072" y="696595"/>
                  </a:lnTo>
                  <a:lnTo>
                    <a:pt x="8165902" y="766920"/>
                  </a:lnTo>
                  <a:lnTo>
                    <a:pt x="8131349" y="795115"/>
                  </a:lnTo>
                  <a:lnTo>
                    <a:pt x="8086626" y="816896"/>
                  </a:lnTo>
                  <a:lnTo>
                    <a:pt x="8033838" y="830938"/>
                  </a:lnTo>
                  <a:lnTo>
                    <a:pt x="7975092" y="835914"/>
                  </a:lnTo>
                  <a:lnTo>
                    <a:pt x="220967" y="835914"/>
                  </a:lnTo>
                  <a:lnTo>
                    <a:pt x="162226" y="830938"/>
                  </a:lnTo>
                  <a:lnTo>
                    <a:pt x="109442" y="816896"/>
                  </a:lnTo>
                  <a:lnTo>
                    <a:pt x="64720" y="795115"/>
                  </a:lnTo>
                  <a:lnTo>
                    <a:pt x="30169" y="766920"/>
                  </a:lnTo>
                  <a:lnTo>
                    <a:pt x="7893" y="733637"/>
                  </a:lnTo>
                  <a:lnTo>
                    <a:pt x="0" y="696595"/>
                  </a:lnTo>
                  <a:lnTo>
                    <a:pt x="0" y="139319"/>
                  </a:lnTo>
                  <a:close/>
                </a:path>
              </a:pathLst>
            </a:custGeom>
            <a:ln w="25145">
              <a:solidFill>
                <a:srgbClr val="FFFFFF"/>
              </a:solidFill>
            </a:ln>
          </p:spPr>
          <p:txBody>
            <a:bodyPr wrap="square" lIns="0" tIns="0" rIns="0" bIns="0" rtlCol="0"/>
            <a:lstStyle/>
            <a:p>
              <a:endParaRPr/>
            </a:p>
          </p:txBody>
        </p:sp>
      </p:grpSp>
      <p:sp>
        <p:nvSpPr>
          <p:cNvPr id="11" name="object 11"/>
          <p:cNvSpPr txBox="1"/>
          <p:nvPr/>
        </p:nvSpPr>
        <p:spPr>
          <a:xfrm>
            <a:off x="537718" y="1752600"/>
            <a:ext cx="7691120" cy="238760"/>
          </a:xfrm>
          <a:prstGeom prst="rect">
            <a:avLst/>
          </a:prstGeom>
        </p:spPr>
        <p:txBody>
          <a:bodyPr vert="horz" wrap="square" lIns="0" tIns="12065" rIns="0" bIns="0" rtlCol="0">
            <a:spAutoFit/>
          </a:bodyPr>
          <a:lstStyle/>
          <a:p>
            <a:pPr marL="12700">
              <a:lnSpc>
                <a:spcPct val="100000"/>
              </a:lnSpc>
              <a:spcBef>
                <a:spcPts val="95"/>
              </a:spcBef>
            </a:pPr>
            <a:r>
              <a:rPr sz="1400" spc="200" dirty="0">
                <a:latin typeface="Arial"/>
                <a:cs typeface="Arial"/>
              </a:rPr>
              <a:t>A</a:t>
            </a:r>
            <a:r>
              <a:rPr sz="1400" spc="-85" dirty="0">
                <a:latin typeface="Arial"/>
                <a:cs typeface="Arial"/>
              </a:rPr>
              <a:t> </a:t>
            </a:r>
            <a:r>
              <a:rPr sz="1400" spc="5" dirty="0">
                <a:latin typeface="Arial"/>
                <a:cs typeface="Arial"/>
              </a:rPr>
              <a:t>view</a:t>
            </a:r>
            <a:r>
              <a:rPr sz="1400" spc="-75" dirty="0">
                <a:latin typeface="Arial"/>
                <a:cs typeface="Arial"/>
              </a:rPr>
              <a:t> </a:t>
            </a:r>
            <a:r>
              <a:rPr sz="1400" spc="-35" dirty="0">
                <a:latin typeface="Arial"/>
                <a:cs typeface="Arial"/>
              </a:rPr>
              <a:t>is</a:t>
            </a:r>
            <a:r>
              <a:rPr sz="1400" spc="-85" dirty="0">
                <a:latin typeface="Arial"/>
                <a:cs typeface="Arial"/>
              </a:rPr>
              <a:t> </a:t>
            </a:r>
            <a:r>
              <a:rPr sz="1400" spc="-45" dirty="0">
                <a:latin typeface="Arial"/>
                <a:cs typeface="Arial"/>
              </a:rPr>
              <a:t>created</a:t>
            </a:r>
            <a:r>
              <a:rPr sz="1400" spc="-85" dirty="0">
                <a:latin typeface="Arial"/>
                <a:cs typeface="Arial"/>
              </a:rPr>
              <a:t> </a:t>
            </a:r>
            <a:r>
              <a:rPr sz="1400" spc="-20" dirty="0">
                <a:latin typeface="Arial"/>
                <a:cs typeface="Arial"/>
              </a:rPr>
              <a:t>using</a:t>
            </a:r>
            <a:r>
              <a:rPr sz="1400" spc="-75" dirty="0">
                <a:latin typeface="Arial"/>
                <a:cs typeface="Arial"/>
              </a:rPr>
              <a:t> </a:t>
            </a:r>
            <a:r>
              <a:rPr sz="1400" spc="40" dirty="0">
                <a:latin typeface="Arial"/>
                <a:cs typeface="Arial"/>
              </a:rPr>
              <a:t>CREATE</a:t>
            </a:r>
            <a:r>
              <a:rPr sz="1400" spc="-70" dirty="0">
                <a:latin typeface="Arial"/>
                <a:cs typeface="Arial"/>
              </a:rPr>
              <a:t> </a:t>
            </a:r>
            <a:r>
              <a:rPr sz="1400" spc="100" dirty="0">
                <a:latin typeface="Arial"/>
                <a:cs typeface="Arial"/>
              </a:rPr>
              <a:t>VIEW</a:t>
            </a:r>
            <a:r>
              <a:rPr sz="1400" spc="-90" dirty="0">
                <a:latin typeface="Arial"/>
                <a:cs typeface="Arial"/>
              </a:rPr>
              <a:t> </a:t>
            </a:r>
            <a:r>
              <a:rPr sz="1400" spc="-30" dirty="0">
                <a:latin typeface="Arial"/>
                <a:cs typeface="Arial"/>
              </a:rPr>
              <a:t>statement</a:t>
            </a:r>
            <a:r>
              <a:rPr sz="1400" spc="-95" dirty="0">
                <a:latin typeface="Arial"/>
                <a:cs typeface="Arial"/>
              </a:rPr>
              <a:t> </a:t>
            </a:r>
            <a:r>
              <a:rPr sz="1400" spc="-30" dirty="0">
                <a:latin typeface="Arial"/>
                <a:cs typeface="Arial"/>
              </a:rPr>
              <a:t>and</a:t>
            </a:r>
            <a:r>
              <a:rPr sz="1400" spc="-85" dirty="0">
                <a:latin typeface="Arial"/>
                <a:cs typeface="Arial"/>
              </a:rPr>
              <a:t> </a:t>
            </a:r>
            <a:r>
              <a:rPr sz="1400" spc="85" dirty="0">
                <a:latin typeface="Arial"/>
                <a:cs typeface="Arial"/>
              </a:rPr>
              <a:t>it</a:t>
            </a:r>
            <a:r>
              <a:rPr sz="1400" spc="-85" dirty="0">
                <a:latin typeface="Arial"/>
                <a:cs typeface="Arial"/>
              </a:rPr>
              <a:t> </a:t>
            </a:r>
            <a:r>
              <a:rPr sz="1400" spc="-55" dirty="0">
                <a:latin typeface="Arial"/>
                <a:cs typeface="Arial"/>
              </a:rPr>
              <a:t>can</a:t>
            </a:r>
            <a:r>
              <a:rPr sz="1400" spc="-70" dirty="0">
                <a:latin typeface="Arial"/>
                <a:cs typeface="Arial"/>
              </a:rPr>
              <a:t> </a:t>
            </a:r>
            <a:r>
              <a:rPr sz="1400" spc="-75" dirty="0">
                <a:latin typeface="Arial"/>
                <a:cs typeface="Arial"/>
              </a:rPr>
              <a:t>be</a:t>
            </a:r>
            <a:r>
              <a:rPr sz="1400" spc="-85" dirty="0">
                <a:latin typeface="Arial"/>
                <a:cs typeface="Arial"/>
              </a:rPr>
              <a:t> </a:t>
            </a:r>
            <a:r>
              <a:rPr sz="1400" spc="-45" dirty="0">
                <a:latin typeface="Arial"/>
                <a:cs typeface="Arial"/>
              </a:rPr>
              <a:t>created</a:t>
            </a:r>
            <a:r>
              <a:rPr sz="1400" spc="-85" dirty="0">
                <a:latin typeface="Arial"/>
                <a:cs typeface="Arial"/>
              </a:rPr>
              <a:t> </a:t>
            </a:r>
            <a:r>
              <a:rPr sz="1400" spc="25" dirty="0">
                <a:latin typeface="Arial"/>
                <a:cs typeface="Arial"/>
              </a:rPr>
              <a:t>only</a:t>
            </a:r>
            <a:r>
              <a:rPr sz="1400" spc="-90" dirty="0">
                <a:latin typeface="Arial"/>
                <a:cs typeface="Arial"/>
              </a:rPr>
              <a:t> </a:t>
            </a:r>
            <a:r>
              <a:rPr sz="1400" spc="65" dirty="0">
                <a:latin typeface="Arial"/>
                <a:cs typeface="Arial"/>
              </a:rPr>
              <a:t>in</a:t>
            </a:r>
            <a:r>
              <a:rPr sz="1400" spc="-80" dirty="0">
                <a:latin typeface="Arial"/>
                <a:cs typeface="Arial"/>
              </a:rPr>
              <a:t> </a:t>
            </a:r>
            <a:r>
              <a:rPr sz="1400" dirty="0">
                <a:latin typeface="Arial"/>
                <a:cs typeface="Arial"/>
              </a:rPr>
              <a:t>the</a:t>
            </a:r>
            <a:r>
              <a:rPr sz="1400" spc="-85" dirty="0">
                <a:latin typeface="Arial"/>
                <a:cs typeface="Arial"/>
              </a:rPr>
              <a:t> </a:t>
            </a:r>
            <a:r>
              <a:rPr sz="1400" spc="5" dirty="0">
                <a:latin typeface="Arial"/>
                <a:cs typeface="Arial"/>
              </a:rPr>
              <a:t>current</a:t>
            </a:r>
            <a:r>
              <a:rPr sz="1400" spc="-75" dirty="0">
                <a:latin typeface="Arial"/>
                <a:cs typeface="Arial"/>
              </a:rPr>
              <a:t> database.</a:t>
            </a:r>
            <a:endParaRPr sz="1400">
              <a:latin typeface="Arial"/>
              <a:cs typeface="Arial"/>
            </a:endParaRPr>
          </a:p>
        </p:txBody>
      </p:sp>
      <p:grpSp>
        <p:nvGrpSpPr>
          <p:cNvPr id="12" name="object 12"/>
          <p:cNvGrpSpPr/>
          <p:nvPr/>
        </p:nvGrpSpPr>
        <p:grpSpPr>
          <a:xfrm>
            <a:off x="279654" y="2209800"/>
            <a:ext cx="8221345" cy="564006"/>
            <a:chOff x="279654" y="2833877"/>
            <a:chExt cx="8221345" cy="861060"/>
          </a:xfrm>
        </p:grpSpPr>
        <p:sp>
          <p:nvSpPr>
            <p:cNvPr id="13" name="object 13"/>
            <p:cNvSpPr/>
            <p:nvPr/>
          </p:nvSpPr>
          <p:spPr>
            <a:xfrm>
              <a:off x="292227" y="2846450"/>
              <a:ext cx="8196580" cy="836294"/>
            </a:xfrm>
            <a:custGeom>
              <a:avLst/>
              <a:gdLst/>
              <a:ahLst/>
              <a:cxnLst/>
              <a:rect l="l" t="t" r="r" b="b"/>
              <a:pathLst>
                <a:path w="8196580" h="836295">
                  <a:moveTo>
                    <a:pt x="7975092" y="0"/>
                  </a:moveTo>
                  <a:lnTo>
                    <a:pt x="220967" y="0"/>
                  </a:lnTo>
                  <a:lnTo>
                    <a:pt x="162226" y="4975"/>
                  </a:lnTo>
                  <a:lnTo>
                    <a:pt x="109442" y="19017"/>
                  </a:lnTo>
                  <a:lnTo>
                    <a:pt x="64720" y="40798"/>
                  </a:lnTo>
                  <a:lnTo>
                    <a:pt x="30169" y="68993"/>
                  </a:lnTo>
                  <a:lnTo>
                    <a:pt x="7893" y="102276"/>
                  </a:lnTo>
                  <a:lnTo>
                    <a:pt x="0" y="139319"/>
                  </a:lnTo>
                  <a:lnTo>
                    <a:pt x="0" y="696595"/>
                  </a:lnTo>
                  <a:lnTo>
                    <a:pt x="30169" y="766920"/>
                  </a:lnTo>
                  <a:lnTo>
                    <a:pt x="64720" y="795115"/>
                  </a:lnTo>
                  <a:lnTo>
                    <a:pt x="109442" y="816896"/>
                  </a:lnTo>
                  <a:lnTo>
                    <a:pt x="162226" y="830938"/>
                  </a:lnTo>
                  <a:lnTo>
                    <a:pt x="220967" y="835914"/>
                  </a:lnTo>
                  <a:lnTo>
                    <a:pt x="7975092" y="835914"/>
                  </a:lnTo>
                  <a:lnTo>
                    <a:pt x="8033838" y="830938"/>
                  </a:lnTo>
                  <a:lnTo>
                    <a:pt x="8086626" y="816896"/>
                  </a:lnTo>
                  <a:lnTo>
                    <a:pt x="8131349" y="795115"/>
                  </a:lnTo>
                  <a:lnTo>
                    <a:pt x="8165902" y="766920"/>
                  </a:lnTo>
                  <a:lnTo>
                    <a:pt x="8188178" y="733637"/>
                  </a:lnTo>
                  <a:lnTo>
                    <a:pt x="8196072" y="696595"/>
                  </a:lnTo>
                  <a:lnTo>
                    <a:pt x="8196072" y="139319"/>
                  </a:lnTo>
                  <a:lnTo>
                    <a:pt x="8165902" y="68993"/>
                  </a:lnTo>
                  <a:lnTo>
                    <a:pt x="8131349" y="40798"/>
                  </a:lnTo>
                  <a:lnTo>
                    <a:pt x="8086626" y="19017"/>
                  </a:lnTo>
                  <a:lnTo>
                    <a:pt x="8033838" y="4975"/>
                  </a:lnTo>
                  <a:lnTo>
                    <a:pt x="7975092" y="0"/>
                  </a:lnTo>
                  <a:close/>
                </a:path>
              </a:pathLst>
            </a:custGeom>
            <a:solidFill>
              <a:srgbClr val="9BBA58"/>
            </a:solidFill>
          </p:spPr>
          <p:txBody>
            <a:bodyPr wrap="square" lIns="0" tIns="0" rIns="0" bIns="0" rtlCol="0"/>
            <a:lstStyle/>
            <a:p>
              <a:endParaRPr/>
            </a:p>
          </p:txBody>
        </p:sp>
        <p:sp>
          <p:nvSpPr>
            <p:cNvPr id="14" name="object 14"/>
            <p:cNvSpPr/>
            <p:nvPr/>
          </p:nvSpPr>
          <p:spPr>
            <a:xfrm>
              <a:off x="292227" y="2846450"/>
              <a:ext cx="8196580" cy="836294"/>
            </a:xfrm>
            <a:custGeom>
              <a:avLst/>
              <a:gdLst/>
              <a:ahLst/>
              <a:cxnLst/>
              <a:rect l="l" t="t" r="r" b="b"/>
              <a:pathLst>
                <a:path w="8196580" h="836295">
                  <a:moveTo>
                    <a:pt x="0" y="139319"/>
                  </a:moveTo>
                  <a:lnTo>
                    <a:pt x="30169" y="68993"/>
                  </a:lnTo>
                  <a:lnTo>
                    <a:pt x="64720" y="40798"/>
                  </a:lnTo>
                  <a:lnTo>
                    <a:pt x="109442" y="19017"/>
                  </a:lnTo>
                  <a:lnTo>
                    <a:pt x="162226" y="4975"/>
                  </a:lnTo>
                  <a:lnTo>
                    <a:pt x="220967" y="0"/>
                  </a:lnTo>
                  <a:lnTo>
                    <a:pt x="7975092" y="0"/>
                  </a:lnTo>
                  <a:lnTo>
                    <a:pt x="8033838" y="4975"/>
                  </a:lnTo>
                  <a:lnTo>
                    <a:pt x="8086626" y="19017"/>
                  </a:lnTo>
                  <a:lnTo>
                    <a:pt x="8131349" y="40798"/>
                  </a:lnTo>
                  <a:lnTo>
                    <a:pt x="8165902" y="68993"/>
                  </a:lnTo>
                  <a:lnTo>
                    <a:pt x="8188178" y="102276"/>
                  </a:lnTo>
                  <a:lnTo>
                    <a:pt x="8196072" y="139319"/>
                  </a:lnTo>
                  <a:lnTo>
                    <a:pt x="8196072" y="696595"/>
                  </a:lnTo>
                  <a:lnTo>
                    <a:pt x="8165902" y="766920"/>
                  </a:lnTo>
                  <a:lnTo>
                    <a:pt x="8131349" y="795115"/>
                  </a:lnTo>
                  <a:lnTo>
                    <a:pt x="8086626" y="816896"/>
                  </a:lnTo>
                  <a:lnTo>
                    <a:pt x="8033838" y="830938"/>
                  </a:lnTo>
                  <a:lnTo>
                    <a:pt x="7975092" y="835914"/>
                  </a:lnTo>
                  <a:lnTo>
                    <a:pt x="220967" y="835914"/>
                  </a:lnTo>
                  <a:lnTo>
                    <a:pt x="162226" y="830938"/>
                  </a:lnTo>
                  <a:lnTo>
                    <a:pt x="109442" y="816896"/>
                  </a:lnTo>
                  <a:lnTo>
                    <a:pt x="64720" y="795115"/>
                  </a:lnTo>
                  <a:lnTo>
                    <a:pt x="30169" y="766920"/>
                  </a:lnTo>
                  <a:lnTo>
                    <a:pt x="7893" y="733637"/>
                  </a:lnTo>
                  <a:lnTo>
                    <a:pt x="0" y="696595"/>
                  </a:lnTo>
                  <a:lnTo>
                    <a:pt x="0" y="139319"/>
                  </a:lnTo>
                  <a:close/>
                </a:path>
              </a:pathLst>
            </a:custGeom>
            <a:ln w="25145">
              <a:solidFill>
                <a:srgbClr val="FFFFFF"/>
              </a:solidFill>
            </a:ln>
          </p:spPr>
          <p:txBody>
            <a:bodyPr wrap="square" lIns="0" tIns="0" rIns="0" bIns="0" rtlCol="0"/>
            <a:lstStyle/>
            <a:p>
              <a:endParaRPr/>
            </a:p>
          </p:txBody>
        </p:sp>
      </p:grpSp>
      <p:sp>
        <p:nvSpPr>
          <p:cNvPr id="15" name="object 15"/>
          <p:cNvSpPr txBox="1"/>
          <p:nvPr/>
        </p:nvSpPr>
        <p:spPr>
          <a:xfrm>
            <a:off x="537718" y="2362200"/>
            <a:ext cx="6515734" cy="238760"/>
          </a:xfrm>
          <a:prstGeom prst="rect">
            <a:avLst/>
          </a:prstGeom>
        </p:spPr>
        <p:txBody>
          <a:bodyPr vert="horz" wrap="square" lIns="0" tIns="12065" rIns="0" bIns="0" rtlCol="0">
            <a:spAutoFit/>
          </a:bodyPr>
          <a:lstStyle/>
          <a:p>
            <a:pPr marL="12700">
              <a:lnSpc>
                <a:spcPct val="100000"/>
              </a:lnSpc>
              <a:spcBef>
                <a:spcPts val="95"/>
              </a:spcBef>
            </a:pPr>
            <a:r>
              <a:rPr sz="1400" spc="15" dirty="0">
                <a:latin typeface="Arial"/>
                <a:cs typeface="Arial"/>
              </a:rPr>
              <a:t>SQL</a:t>
            </a:r>
            <a:r>
              <a:rPr sz="1400" spc="-75" dirty="0">
                <a:latin typeface="Arial"/>
                <a:cs typeface="Arial"/>
              </a:rPr>
              <a:t> </a:t>
            </a:r>
            <a:r>
              <a:rPr sz="1400" spc="-35" dirty="0">
                <a:latin typeface="Arial"/>
                <a:cs typeface="Arial"/>
              </a:rPr>
              <a:t>Server</a:t>
            </a:r>
            <a:r>
              <a:rPr sz="1400" spc="-85" dirty="0">
                <a:latin typeface="Arial"/>
                <a:cs typeface="Arial"/>
              </a:rPr>
              <a:t> </a:t>
            </a:r>
            <a:r>
              <a:rPr sz="1400" spc="-10" dirty="0">
                <a:latin typeface="Arial"/>
                <a:cs typeface="Arial"/>
              </a:rPr>
              <a:t>verifies</a:t>
            </a:r>
            <a:r>
              <a:rPr sz="1400" spc="-70" dirty="0">
                <a:latin typeface="Arial"/>
                <a:cs typeface="Arial"/>
              </a:rPr>
              <a:t> </a:t>
            </a:r>
            <a:r>
              <a:rPr sz="1400" dirty="0">
                <a:latin typeface="Arial"/>
                <a:cs typeface="Arial"/>
              </a:rPr>
              <a:t>the</a:t>
            </a:r>
            <a:r>
              <a:rPr sz="1400" spc="-80" dirty="0">
                <a:latin typeface="Arial"/>
                <a:cs typeface="Arial"/>
              </a:rPr>
              <a:t> </a:t>
            </a:r>
            <a:r>
              <a:rPr sz="1400" spc="-35" dirty="0">
                <a:latin typeface="Arial"/>
                <a:cs typeface="Arial"/>
              </a:rPr>
              <a:t>existence</a:t>
            </a:r>
            <a:r>
              <a:rPr sz="1400" spc="-100" dirty="0">
                <a:latin typeface="Arial"/>
                <a:cs typeface="Arial"/>
              </a:rPr>
              <a:t> </a:t>
            </a:r>
            <a:r>
              <a:rPr sz="1400" spc="35" dirty="0">
                <a:latin typeface="Arial"/>
                <a:cs typeface="Arial"/>
              </a:rPr>
              <a:t>of</a:t>
            </a:r>
            <a:r>
              <a:rPr sz="1400" spc="-85" dirty="0">
                <a:latin typeface="Arial"/>
                <a:cs typeface="Arial"/>
              </a:rPr>
              <a:t> </a:t>
            </a:r>
            <a:r>
              <a:rPr sz="1400" spc="-35" dirty="0">
                <a:latin typeface="Arial"/>
                <a:cs typeface="Arial"/>
              </a:rPr>
              <a:t>objects</a:t>
            </a:r>
            <a:r>
              <a:rPr sz="1400" spc="-90" dirty="0">
                <a:latin typeface="Arial"/>
                <a:cs typeface="Arial"/>
              </a:rPr>
              <a:t> </a:t>
            </a:r>
            <a:r>
              <a:rPr sz="1400" spc="20" dirty="0">
                <a:latin typeface="Arial"/>
                <a:cs typeface="Arial"/>
              </a:rPr>
              <a:t>that</a:t>
            </a:r>
            <a:r>
              <a:rPr sz="1400" spc="-75" dirty="0">
                <a:latin typeface="Arial"/>
                <a:cs typeface="Arial"/>
              </a:rPr>
              <a:t> </a:t>
            </a:r>
            <a:r>
              <a:rPr sz="1400" spc="-70" dirty="0">
                <a:latin typeface="Arial"/>
                <a:cs typeface="Arial"/>
              </a:rPr>
              <a:t>are</a:t>
            </a:r>
            <a:r>
              <a:rPr sz="1400" spc="-80" dirty="0">
                <a:latin typeface="Arial"/>
                <a:cs typeface="Arial"/>
              </a:rPr>
              <a:t> </a:t>
            </a:r>
            <a:r>
              <a:rPr sz="1400" spc="-35" dirty="0">
                <a:latin typeface="Arial"/>
                <a:cs typeface="Arial"/>
              </a:rPr>
              <a:t>referenced</a:t>
            </a:r>
            <a:r>
              <a:rPr sz="1400" spc="-85" dirty="0">
                <a:latin typeface="Arial"/>
                <a:cs typeface="Arial"/>
              </a:rPr>
              <a:t> </a:t>
            </a:r>
            <a:r>
              <a:rPr sz="1400" spc="60" dirty="0">
                <a:latin typeface="Arial"/>
                <a:cs typeface="Arial"/>
              </a:rPr>
              <a:t>in</a:t>
            </a:r>
            <a:r>
              <a:rPr sz="1400" spc="-80" dirty="0">
                <a:latin typeface="Arial"/>
                <a:cs typeface="Arial"/>
              </a:rPr>
              <a:t> </a:t>
            </a:r>
            <a:r>
              <a:rPr sz="1400" dirty="0">
                <a:latin typeface="Arial"/>
                <a:cs typeface="Arial"/>
              </a:rPr>
              <a:t>the</a:t>
            </a:r>
            <a:r>
              <a:rPr sz="1400" spc="-80" dirty="0">
                <a:latin typeface="Arial"/>
                <a:cs typeface="Arial"/>
              </a:rPr>
              <a:t> </a:t>
            </a:r>
            <a:r>
              <a:rPr sz="1400" spc="5" dirty="0">
                <a:latin typeface="Arial"/>
                <a:cs typeface="Arial"/>
              </a:rPr>
              <a:t>view</a:t>
            </a:r>
            <a:r>
              <a:rPr sz="1400" spc="-85" dirty="0">
                <a:latin typeface="Arial"/>
                <a:cs typeface="Arial"/>
              </a:rPr>
              <a:t> </a:t>
            </a:r>
            <a:r>
              <a:rPr sz="1400" spc="30" dirty="0">
                <a:latin typeface="Arial"/>
                <a:cs typeface="Arial"/>
              </a:rPr>
              <a:t>definition.</a:t>
            </a:r>
            <a:endParaRPr sz="1400">
              <a:latin typeface="Arial"/>
              <a:cs typeface="Arial"/>
            </a:endParaRPr>
          </a:p>
        </p:txBody>
      </p:sp>
      <p:sp>
        <p:nvSpPr>
          <p:cNvPr id="17" name="object 17"/>
          <p:cNvSpPr txBox="1"/>
          <p:nvPr/>
        </p:nvSpPr>
        <p:spPr>
          <a:xfrm>
            <a:off x="6270424" y="6146387"/>
            <a:ext cx="1605280" cy="281305"/>
          </a:xfrm>
          <a:prstGeom prst="rect">
            <a:avLst/>
          </a:prstGeom>
        </p:spPr>
        <p:txBody>
          <a:bodyPr vert="horz" wrap="square" lIns="0" tIns="5080" rIns="0" bIns="0" rtlCol="0">
            <a:spAutoFit/>
          </a:bodyPr>
          <a:lstStyle/>
          <a:p>
            <a:pPr marL="12700">
              <a:lnSpc>
                <a:spcPct val="100000"/>
              </a:lnSpc>
              <a:spcBef>
                <a:spcPts val="40"/>
              </a:spcBef>
            </a:pPr>
            <a:r>
              <a:rPr sz="1400" b="1" spc="-110" dirty="0">
                <a:latin typeface="Arial"/>
                <a:cs typeface="Arial"/>
              </a:rPr>
              <a:t>Records </a:t>
            </a:r>
            <a:r>
              <a:rPr sz="1400" b="1" spc="-50" dirty="0">
                <a:latin typeface="Arial"/>
                <a:cs typeface="Arial"/>
              </a:rPr>
              <a:t>from </a:t>
            </a:r>
            <a:r>
              <a:rPr sz="1400" b="1" spc="-135" dirty="0">
                <a:latin typeface="Arial"/>
                <a:cs typeface="Arial"/>
              </a:rPr>
              <a:t>a</a:t>
            </a:r>
            <a:r>
              <a:rPr sz="1400" b="1" spc="-265" dirty="0">
                <a:latin typeface="Arial"/>
                <a:cs typeface="Arial"/>
              </a:rPr>
              <a:t> </a:t>
            </a:r>
            <a:r>
              <a:rPr sz="1400" b="1" dirty="0">
                <a:latin typeface="Arial"/>
                <a:cs typeface="Arial"/>
              </a:rPr>
              <a:t>View</a:t>
            </a:r>
            <a:endParaRPr sz="1400">
              <a:latin typeface="Arial"/>
              <a:cs typeface="Arial"/>
            </a:endParaRPr>
          </a:p>
        </p:txBody>
      </p:sp>
      <p:sp>
        <p:nvSpPr>
          <p:cNvPr id="18" name="object 18"/>
          <p:cNvSpPr txBox="1"/>
          <p:nvPr/>
        </p:nvSpPr>
        <p:spPr>
          <a:xfrm>
            <a:off x="7853933" y="6569709"/>
            <a:ext cx="862965"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67" baseline="4629" dirty="0">
                <a:latin typeface="Arial"/>
                <a:cs typeface="Arial"/>
              </a:rPr>
              <a:t>10/</a:t>
            </a:r>
            <a:r>
              <a:rPr sz="1800" spc="-240" baseline="4629" dirty="0">
                <a:latin typeface="Arial"/>
                <a:cs typeface="Arial"/>
              </a:rPr>
              <a:t> </a:t>
            </a:r>
            <a:fld id="{81D60167-4931-47E6-BA6A-407CBD079E47}" type="slidenum">
              <a:rPr sz="1200" spc="-260" dirty="0">
                <a:latin typeface="Arial"/>
                <a:cs typeface="Arial"/>
              </a:rPr>
              <a:t>5</a:t>
            </a:fld>
            <a:endParaRPr sz="1200">
              <a:latin typeface="Arial"/>
              <a:cs typeface="Arial"/>
            </a:endParaRPr>
          </a:p>
        </p:txBody>
      </p:sp>
      <p:sp>
        <p:nvSpPr>
          <p:cNvPr id="19" name="object 1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20" name="Rounded Rectangle 14">
            <a:extLst>
              <a:ext uri="{FF2B5EF4-FFF2-40B4-BE49-F238E27FC236}">
                <a16:creationId xmlns:a16="http://schemas.microsoft.com/office/drawing/2014/main" id="{45FCFA8C-7E17-42D3-98FD-23055F38C221}"/>
              </a:ext>
            </a:extLst>
          </p:cNvPr>
          <p:cNvSpPr/>
          <p:nvPr/>
        </p:nvSpPr>
        <p:spPr>
          <a:xfrm>
            <a:off x="304800" y="2832486"/>
            <a:ext cx="1066800" cy="381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1800" b="1" dirty="0"/>
              <a:t>Syntax:</a:t>
            </a:r>
          </a:p>
        </p:txBody>
      </p:sp>
      <p:sp>
        <p:nvSpPr>
          <p:cNvPr id="21" name="TextBox 20">
            <a:extLst>
              <a:ext uri="{FF2B5EF4-FFF2-40B4-BE49-F238E27FC236}">
                <a16:creationId xmlns:a16="http://schemas.microsoft.com/office/drawing/2014/main" id="{975FE406-C372-4E68-A9A9-99B7FBE9EA27}"/>
              </a:ext>
            </a:extLst>
          </p:cNvPr>
          <p:cNvSpPr txBox="1"/>
          <p:nvPr/>
        </p:nvSpPr>
        <p:spPr>
          <a:xfrm>
            <a:off x="1905000" y="2819400"/>
            <a:ext cx="4267200" cy="82296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nchor="ctr">
            <a:spAutoFit/>
          </a:bodyPr>
          <a:lstStyle/>
          <a:p>
            <a:pPr>
              <a:lnSpc>
                <a:spcPct val="100000"/>
              </a:lnSpc>
              <a:spcBef>
                <a:spcPts val="0"/>
              </a:spcBef>
            </a:pPr>
            <a:r>
              <a:rPr lang="en-US" sz="1800" b="1" dirty="0">
                <a:solidFill>
                  <a:srgbClr val="FF0000"/>
                </a:solidFill>
                <a:latin typeface="Courier New" panose="02070309020205020404" pitchFamily="49" charset="0"/>
                <a:cs typeface="Courier New" panose="02070309020205020404" pitchFamily="49" charset="0"/>
              </a:rPr>
              <a:t>CREATE VIEW</a:t>
            </a:r>
            <a:r>
              <a:rPr lang="en-US" sz="1800" b="1" dirty="0">
                <a:latin typeface="Courier New" panose="02070309020205020404" pitchFamily="49" charset="0"/>
                <a:cs typeface="Courier New" panose="02070309020205020404" pitchFamily="49" charset="0"/>
              </a:rPr>
              <a:t> &lt;</a:t>
            </a:r>
            <a:r>
              <a:rPr lang="en-US" sz="1800" b="1" dirty="0" err="1">
                <a:latin typeface="Courier New" panose="02070309020205020404" pitchFamily="49" charset="0"/>
                <a:cs typeface="Courier New" panose="02070309020205020404" pitchFamily="49" charset="0"/>
              </a:rPr>
              <a:t>view_name</a:t>
            </a:r>
            <a:r>
              <a:rPr lang="en-US" sz="1800" b="1" dirty="0">
                <a:latin typeface="Courier New" panose="02070309020205020404" pitchFamily="49" charset="0"/>
                <a:cs typeface="Courier New" panose="02070309020205020404" pitchFamily="49" charset="0"/>
              </a:rPr>
              <a:t>&gt;</a:t>
            </a:r>
          </a:p>
          <a:p>
            <a:pPr>
              <a:lnSpc>
                <a:spcPct val="100000"/>
              </a:lnSpc>
              <a:spcBef>
                <a:spcPts val="0"/>
              </a:spcBef>
            </a:pPr>
            <a:r>
              <a:rPr lang="en-US" sz="1800" b="1" dirty="0">
                <a:solidFill>
                  <a:srgbClr val="FF0000"/>
                </a:solidFill>
                <a:latin typeface="Courier New" panose="02070309020205020404" pitchFamily="49" charset="0"/>
                <a:cs typeface="Courier New" panose="02070309020205020404" pitchFamily="49" charset="0"/>
              </a:rPr>
              <a:t>  AS</a:t>
            </a:r>
            <a:r>
              <a:rPr lang="en-US" sz="1800" b="1" dirty="0">
                <a:latin typeface="Courier New" panose="02070309020205020404" pitchFamily="49" charset="0"/>
                <a:cs typeface="Courier New" panose="02070309020205020404" pitchFamily="49" charset="0"/>
              </a:rPr>
              <a:t> &lt;</a:t>
            </a:r>
            <a:r>
              <a:rPr lang="en-US" sz="1800" b="1" dirty="0" err="1">
                <a:latin typeface="Courier New" panose="02070309020205020404" pitchFamily="49" charset="0"/>
                <a:cs typeface="Courier New" panose="02070309020205020404" pitchFamily="49" charset="0"/>
              </a:rPr>
              <a:t>select_statement</a:t>
            </a:r>
            <a:r>
              <a:rPr lang="en-US" sz="1800" b="1" dirty="0">
                <a:latin typeface="Courier New" panose="02070309020205020404" pitchFamily="49" charset="0"/>
                <a:cs typeface="Courier New" panose="02070309020205020404" pitchFamily="49" charset="0"/>
              </a:rPr>
              <a:t>&gt;</a:t>
            </a:r>
          </a:p>
        </p:txBody>
      </p:sp>
      <p:sp>
        <p:nvSpPr>
          <p:cNvPr id="22" name="TextBox 21">
            <a:extLst>
              <a:ext uri="{FF2B5EF4-FFF2-40B4-BE49-F238E27FC236}">
                <a16:creationId xmlns:a16="http://schemas.microsoft.com/office/drawing/2014/main" id="{5BEBA8AD-6877-47BF-AB46-6133560911B5}"/>
              </a:ext>
            </a:extLst>
          </p:cNvPr>
          <p:cNvSpPr txBox="1"/>
          <p:nvPr/>
        </p:nvSpPr>
        <p:spPr>
          <a:xfrm>
            <a:off x="545084" y="3962400"/>
            <a:ext cx="4179316" cy="2585323"/>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800" b="1" dirty="0">
                <a:solidFill>
                  <a:srgbClr val="FF0000"/>
                </a:solidFill>
                <a:latin typeface="Courier New" panose="02070309020205020404" pitchFamily="49" charset="0"/>
                <a:cs typeface="Courier New" panose="02070309020205020404" pitchFamily="49" charset="0"/>
              </a:rPr>
              <a:t>CREATE VIEW </a:t>
            </a:r>
            <a:r>
              <a:rPr lang="en-US" sz="1800" b="1" dirty="0" err="1">
                <a:latin typeface="Courier New" panose="02070309020205020404" pitchFamily="49" charset="0"/>
                <a:cs typeface="Courier New" panose="02070309020205020404" pitchFamily="49" charset="0"/>
              </a:rPr>
              <a:t>vwProductInfo</a:t>
            </a:r>
            <a:r>
              <a:rPr lang="en-US" sz="1800" b="1" dirty="0">
                <a:latin typeface="Courier New" panose="02070309020205020404" pitchFamily="49" charset="0"/>
                <a:cs typeface="Courier New" panose="02070309020205020404" pitchFamily="49" charset="0"/>
              </a:rPr>
              <a:t> </a:t>
            </a:r>
            <a:r>
              <a:rPr lang="en-US" sz="1800" b="1" dirty="0">
                <a:solidFill>
                  <a:srgbClr val="FF0000"/>
                </a:solidFill>
                <a:latin typeface="Courier New" panose="02070309020205020404" pitchFamily="49" charset="0"/>
                <a:cs typeface="Courier New" panose="02070309020205020404" pitchFamily="49" charset="0"/>
              </a:rPr>
              <a:t>AS</a:t>
            </a:r>
          </a:p>
          <a:p>
            <a:pPr marL="173038"/>
            <a:r>
              <a:rPr lang="en-US" sz="1800" b="1" dirty="0">
                <a:latin typeface="Courier New" panose="02070309020205020404" pitchFamily="49" charset="0"/>
                <a:cs typeface="Courier New" panose="02070309020205020404" pitchFamily="49" charset="0"/>
              </a:rPr>
              <a:t>SELECT </a:t>
            </a:r>
            <a:r>
              <a:rPr lang="en-US" sz="1800" b="1" dirty="0" err="1">
                <a:latin typeface="Courier New" panose="02070309020205020404" pitchFamily="49" charset="0"/>
                <a:cs typeface="Courier New" panose="02070309020205020404" pitchFamily="49" charset="0"/>
              </a:rPr>
              <a:t>ProductID</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ProductName</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SafetyStockLevel</a:t>
            </a:r>
            <a:endParaRPr lang="en-US" sz="1800" b="1" dirty="0">
              <a:latin typeface="Courier New" panose="02070309020205020404" pitchFamily="49" charset="0"/>
              <a:cs typeface="Courier New" panose="02070309020205020404" pitchFamily="49" charset="0"/>
            </a:endParaRPr>
          </a:p>
          <a:p>
            <a:pPr marL="173038"/>
            <a:r>
              <a:rPr lang="en-US" sz="1800" b="1" dirty="0">
                <a:latin typeface="Courier New" panose="02070309020205020404" pitchFamily="49" charset="0"/>
                <a:cs typeface="Courier New" panose="02070309020205020404" pitchFamily="49" charset="0"/>
              </a:rPr>
              <a:t>FROM </a:t>
            </a:r>
            <a:r>
              <a:rPr lang="en-US" sz="1800" b="1" dirty="0" err="1">
                <a:latin typeface="Courier New" panose="02070309020205020404" pitchFamily="49" charset="0"/>
                <a:cs typeface="Courier New" panose="02070309020205020404" pitchFamily="49" charset="0"/>
              </a:rPr>
              <a:t>Production.Product</a:t>
            </a:r>
            <a:r>
              <a:rPr lang="en-US" sz="1800" b="1" dirty="0">
                <a:latin typeface="Courier New" panose="02070309020205020404" pitchFamily="49" charset="0"/>
                <a:cs typeface="Courier New" panose="02070309020205020404" pitchFamily="49" charset="0"/>
              </a:rPr>
              <a:t>;</a:t>
            </a:r>
          </a:p>
          <a:p>
            <a:r>
              <a:rPr lang="en-US" sz="1800" b="1" dirty="0">
                <a:latin typeface="Courier New" panose="02070309020205020404" pitchFamily="49" charset="0"/>
                <a:cs typeface="Courier New" panose="02070309020205020404" pitchFamily="49" charset="0"/>
              </a:rPr>
              <a:t>GO</a:t>
            </a:r>
          </a:p>
          <a:p>
            <a:endParaRPr lang="en-US" sz="1800" b="1" dirty="0">
              <a:latin typeface="Courier New" panose="02070309020205020404" pitchFamily="49" charset="0"/>
              <a:cs typeface="Courier New" panose="02070309020205020404" pitchFamily="49" charset="0"/>
            </a:endParaRPr>
          </a:p>
          <a:p>
            <a:r>
              <a:rPr lang="en-US" sz="1800" b="1" dirty="0">
                <a:latin typeface="Courier New" panose="02070309020205020404" pitchFamily="49" charset="0"/>
                <a:cs typeface="Courier New" panose="02070309020205020404" pitchFamily="49" charset="0"/>
              </a:rPr>
              <a:t>SELECT * FROM </a:t>
            </a:r>
            <a:r>
              <a:rPr lang="en-US" sz="1800" b="1" dirty="0" err="1">
                <a:latin typeface="Courier New" panose="02070309020205020404" pitchFamily="49" charset="0"/>
                <a:cs typeface="Courier New" panose="02070309020205020404" pitchFamily="49" charset="0"/>
              </a:rPr>
              <a:t>vwProductInfo</a:t>
            </a:r>
            <a:endParaRPr lang="en-US" sz="1800" b="1" dirty="0">
              <a:latin typeface="Courier New" panose="02070309020205020404" pitchFamily="49" charset="0"/>
              <a:cs typeface="Courier New" panose="02070309020205020404" pitchFamily="49" charset="0"/>
            </a:endParaRPr>
          </a:p>
          <a:p>
            <a:r>
              <a:rPr lang="en-US" sz="1800" b="1" dirty="0">
                <a:latin typeface="Courier New" panose="02070309020205020404" pitchFamily="49" charset="0"/>
                <a:cs typeface="Courier New" panose="02070309020205020404" pitchFamily="49" charset="0"/>
              </a:rPr>
              <a:t>GO</a:t>
            </a:r>
          </a:p>
        </p:txBody>
      </p:sp>
      <p:sp>
        <p:nvSpPr>
          <p:cNvPr id="23" name="TextBox 22">
            <a:extLst>
              <a:ext uri="{FF2B5EF4-FFF2-40B4-BE49-F238E27FC236}">
                <a16:creationId xmlns:a16="http://schemas.microsoft.com/office/drawing/2014/main" id="{1E41F8EE-D348-483D-A006-7C9DA06EDADD}"/>
              </a:ext>
            </a:extLst>
          </p:cNvPr>
          <p:cNvSpPr txBox="1"/>
          <p:nvPr/>
        </p:nvSpPr>
        <p:spPr>
          <a:xfrm>
            <a:off x="78739" y="3581400"/>
            <a:ext cx="18669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For example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2777" y="24129"/>
            <a:ext cx="8018780" cy="574040"/>
          </a:xfrm>
          <a:prstGeom prst="rect">
            <a:avLst/>
          </a:prstGeom>
        </p:spPr>
        <p:txBody>
          <a:bodyPr vert="horz" wrap="square" lIns="0" tIns="12700" rIns="0" bIns="0" rtlCol="0">
            <a:spAutoFit/>
          </a:bodyPr>
          <a:lstStyle/>
          <a:p>
            <a:pPr marL="12700">
              <a:lnSpc>
                <a:spcPct val="100000"/>
              </a:lnSpc>
              <a:spcBef>
                <a:spcPts val="100"/>
              </a:spcBef>
            </a:pPr>
            <a:r>
              <a:rPr b="0" spc="15" dirty="0">
                <a:latin typeface="Arial"/>
                <a:cs typeface="Arial"/>
              </a:rPr>
              <a:t>Creating</a:t>
            </a:r>
            <a:r>
              <a:rPr b="0" spc="-260" dirty="0">
                <a:latin typeface="Arial"/>
                <a:cs typeface="Arial"/>
              </a:rPr>
              <a:t> </a:t>
            </a:r>
            <a:r>
              <a:rPr b="0" spc="20" dirty="0">
                <a:latin typeface="Arial"/>
                <a:cs typeface="Arial"/>
              </a:rPr>
              <a:t>Views</a:t>
            </a:r>
            <a:r>
              <a:rPr b="0" spc="-260" dirty="0">
                <a:latin typeface="Arial"/>
                <a:cs typeface="Arial"/>
              </a:rPr>
              <a:t> </a:t>
            </a:r>
            <a:r>
              <a:rPr b="0" spc="10" dirty="0">
                <a:latin typeface="Arial"/>
                <a:cs typeface="Arial"/>
              </a:rPr>
              <a:t>Using</a:t>
            </a:r>
            <a:r>
              <a:rPr b="0" spc="-245" dirty="0">
                <a:latin typeface="Arial"/>
                <a:cs typeface="Arial"/>
              </a:rPr>
              <a:t> </a:t>
            </a:r>
            <a:r>
              <a:rPr b="0" spc="-10" dirty="0">
                <a:latin typeface="Arial"/>
                <a:cs typeface="Arial"/>
              </a:rPr>
              <a:t>JOIN</a:t>
            </a:r>
            <a:r>
              <a:rPr b="0" spc="-245" dirty="0">
                <a:latin typeface="Arial"/>
                <a:cs typeface="Arial"/>
              </a:rPr>
              <a:t> </a:t>
            </a:r>
            <a:r>
              <a:rPr b="0" spc="15">
                <a:latin typeface="Arial"/>
                <a:cs typeface="Arial"/>
              </a:rPr>
              <a:t>Keyword</a:t>
            </a:r>
            <a:r>
              <a:rPr b="0" spc="-245">
                <a:latin typeface="Arial"/>
                <a:cs typeface="Arial"/>
              </a:rPr>
              <a:t> </a:t>
            </a:r>
            <a:r>
              <a:rPr b="0" spc="-360">
                <a:latin typeface="Arial"/>
                <a:cs typeface="Arial"/>
              </a:rPr>
              <a:t>1-</a:t>
            </a:r>
            <a:r>
              <a:rPr lang="en-US" b="0" spc="-360">
                <a:latin typeface="Arial"/>
                <a:cs typeface="Arial"/>
              </a:rPr>
              <a:t>3</a:t>
            </a:r>
            <a:endParaRPr b="0" spc="-360" dirty="0">
              <a:latin typeface="Arial"/>
              <a:cs typeface="Arial"/>
            </a:endParaRPr>
          </a:p>
        </p:txBody>
      </p:sp>
      <p:sp>
        <p:nvSpPr>
          <p:cNvPr id="3" name="object 3"/>
          <p:cNvSpPr/>
          <p:nvPr/>
        </p:nvSpPr>
        <p:spPr>
          <a:xfrm>
            <a:off x="256032" y="920495"/>
            <a:ext cx="8540750" cy="1466215"/>
          </a:xfrm>
          <a:custGeom>
            <a:avLst/>
            <a:gdLst/>
            <a:ahLst/>
            <a:cxnLst/>
            <a:rect l="l" t="t" r="r" b="b"/>
            <a:pathLst>
              <a:path w="8540750" h="1466214">
                <a:moveTo>
                  <a:pt x="8540496" y="244348"/>
                </a:moveTo>
                <a:lnTo>
                  <a:pt x="8535530" y="195097"/>
                </a:lnTo>
                <a:lnTo>
                  <a:pt x="8521294" y="149225"/>
                </a:lnTo>
                <a:lnTo>
                  <a:pt x="8498776" y="107708"/>
                </a:lnTo>
                <a:lnTo>
                  <a:pt x="8468944" y="71551"/>
                </a:lnTo>
                <a:lnTo>
                  <a:pt x="8432787" y="41719"/>
                </a:lnTo>
                <a:lnTo>
                  <a:pt x="8391271" y="19202"/>
                </a:lnTo>
                <a:lnTo>
                  <a:pt x="8345398" y="4965"/>
                </a:lnTo>
                <a:lnTo>
                  <a:pt x="8296148" y="0"/>
                </a:lnTo>
                <a:lnTo>
                  <a:pt x="244348" y="0"/>
                </a:lnTo>
                <a:lnTo>
                  <a:pt x="195097" y="4965"/>
                </a:lnTo>
                <a:lnTo>
                  <a:pt x="149225" y="19202"/>
                </a:lnTo>
                <a:lnTo>
                  <a:pt x="107721" y="41719"/>
                </a:lnTo>
                <a:lnTo>
                  <a:pt x="71564" y="71551"/>
                </a:lnTo>
                <a:lnTo>
                  <a:pt x="41719" y="107708"/>
                </a:lnTo>
                <a:lnTo>
                  <a:pt x="19189" y="149225"/>
                </a:lnTo>
                <a:lnTo>
                  <a:pt x="4953" y="195097"/>
                </a:lnTo>
                <a:lnTo>
                  <a:pt x="0" y="244348"/>
                </a:lnTo>
                <a:lnTo>
                  <a:pt x="0" y="1221740"/>
                </a:lnTo>
                <a:lnTo>
                  <a:pt x="4953" y="1271003"/>
                </a:lnTo>
                <a:lnTo>
                  <a:pt x="19189" y="1316875"/>
                </a:lnTo>
                <a:lnTo>
                  <a:pt x="41719" y="1358392"/>
                </a:lnTo>
                <a:lnTo>
                  <a:pt x="71564" y="1394548"/>
                </a:lnTo>
                <a:lnTo>
                  <a:pt x="107721" y="1424381"/>
                </a:lnTo>
                <a:lnTo>
                  <a:pt x="149225" y="1446898"/>
                </a:lnTo>
                <a:lnTo>
                  <a:pt x="195097" y="1461135"/>
                </a:lnTo>
                <a:lnTo>
                  <a:pt x="244348" y="1466088"/>
                </a:lnTo>
                <a:lnTo>
                  <a:pt x="8296148" y="1466088"/>
                </a:lnTo>
                <a:lnTo>
                  <a:pt x="8345398" y="1461135"/>
                </a:lnTo>
                <a:lnTo>
                  <a:pt x="8391271" y="1446898"/>
                </a:lnTo>
                <a:lnTo>
                  <a:pt x="8432787" y="1424381"/>
                </a:lnTo>
                <a:lnTo>
                  <a:pt x="8468944" y="1394548"/>
                </a:lnTo>
                <a:lnTo>
                  <a:pt x="8498776" y="1358392"/>
                </a:lnTo>
                <a:lnTo>
                  <a:pt x="8521294" y="1316875"/>
                </a:lnTo>
                <a:lnTo>
                  <a:pt x="8535530" y="1271003"/>
                </a:lnTo>
                <a:lnTo>
                  <a:pt x="8540496" y="1221740"/>
                </a:lnTo>
                <a:lnTo>
                  <a:pt x="8540496" y="244348"/>
                </a:lnTo>
                <a:close/>
              </a:path>
            </a:pathLst>
          </a:custGeom>
          <a:solidFill>
            <a:srgbClr val="F79546"/>
          </a:solidFill>
        </p:spPr>
        <p:txBody>
          <a:bodyPr wrap="square" lIns="0" tIns="0" rIns="0" bIns="0" rtlCol="0"/>
          <a:lstStyle/>
          <a:p>
            <a:endParaRPr/>
          </a:p>
        </p:txBody>
      </p:sp>
      <p:sp>
        <p:nvSpPr>
          <p:cNvPr id="4" name="object 4"/>
          <p:cNvSpPr txBox="1"/>
          <p:nvPr/>
        </p:nvSpPr>
        <p:spPr>
          <a:xfrm>
            <a:off x="392684" y="894841"/>
            <a:ext cx="8267065" cy="1379220"/>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FFFFFF"/>
                </a:solidFill>
                <a:latin typeface="Arial"/>
                <a:cs typeface="Arial"/>
              </a:rPr>
              <a:t>The</a:t>
            </a:r>
            <a:r>
              <a:rPr sz="2400" spc="-155" dirty="0">
                <a:solidFill>
                  <a:srgbClr val="FFFFFF"/>
                </a:solidFill>
                <a:latin typeface="Arial"/>
                <a:cs typeface="Arial"/>
              </a:rPr>
              <a:t> </a:t>
            </a:r>
            <a:r>
              <a:rPr sz="2400" spc="-10" dirty="0">
                <a:solidFill>
                  <a:srgbClr val="FFFFFF"/>
                </a:solidFill>
                <a:latin typeface="Arial"/>
                <a:cs typeface="Arial"/>
              </a:rPr>
              <a:t>JOIN</a:t>
            </a:r>
            <a:r>
              <a:rPr sz="2400" spc="-155" dirty="0">
                <a:solidFill>
                  <a:srgbClr val="FFFFFF"/>
                </a:solidFill>
                <a:latin typeface="Arial"/>
                <a:cs typeface="Arial"/>
              </a:rPr>
              <a:t> </a:t>
            </a:r>
            <a:r>
              <a:rPr sz="2400" spc="5" dirty="0">
                <a:solidFill>
                  <a:srgbClr val="FFFFFF"/>
                </a:solidFill>
                <a:latin typeface="Arial"/>
                <a:cs typeface="Arial"/>
              </a:rPr>
              <a:t>keyword</a:t>
            </a:r>
            <a:r>
              <a:rPr sz="2400" spc="-150" dirty="0">
                <a:solidFill>
                  <a:srgbClr val="FFFFFF"/>
                </a:solidFill>
                <a:latin typeface="Arial"/>
                <a:cs typeface="Arial"/>
              </a:rPr>
              <a:t> </a:t>
            </a:r>
            <a:r>
              <a:rPr sz="2400" spc="-90" dirty="0">
                <a:solidFill>
                  <a:srgbClr val="FFFFFF"/>
                </a:solidFill>
                <a:latin typeface="Arial"/>
                <a:cs typeface="Arial"/>
              </a:rPr>
              <a:t>can</a:t>
            </a:r>
            <a:r>
              <a:rPr sz="2400" spc="-155" dirty="0">
                <a:solidFill>
                  <a:srgbClr val="FFFFFF"/>
                </a:solidFill>
                <a:latin typeface="Arial"/>
                <a:cs typeface="Arial"/>
              </a:rPr>
              <a:t> </a:t>
            </a:r>
            <a:r>
              <a:rPr sz="2400" spc="-95" dirty="0">
                <a:solidFill>
                  <a:srgbClr val="FFFFFF"/>
                </a:solidFill>
                <a:latin typeface="Arial"/>
                <a:cs typeface="Arial"/>
              </a:rPr>
              <a:t>also</a:t>
            </a:r>
            <a:r>
              <a:rPr sz="2400" spc="-155" dirty="0">
                <a:solidFill>
                  <a:srgbClr val="FFFFFF"/>
                </a:solidFill>
                <a:latin typeface="Arial"/>
                <a:cs typeface="Arial"/>
              </a:rPr>
              <a:t> </a:t>
            </a:r>
            <a:r>
              <a:rPr sz="2400" spc="-120" dirty="0">
                <a:solidFill>
                  <a:srgbClr val="FFFFFF"/>
                </a:solidFill>
                <a:latin typeface="Arial"/>
                <a:cs typeface="Arial"/>
              </a:rPr>
              <a:t>be</a:t>
            </a:r>
            <a:r>
              <a:rPr sz="2400" spc="-160" dirty="0">
                <a:solidFill>
                  <a:srgbClr val="FFFFFF"/>
                </a:solidFill>
                <a:latin typeface="Arial"/>
                <a:cs typeface="Arial"/>
              </a:rPr>
              <a:t> </a:t>
            </a:r>
            <a:r>
              <a:rPr sz="2400" spc="-105" dirty="0">
                <a:solidFill>
                  <a:srgbClr val="FFFFFF"/>
                </a:solidFill>
                <a:latin typeface="Arial"/>
                <a:cs typeface="Arial"/>
              </a:rPr>
              <a:t>used</a:t>
            </a:r>
            <a:r>
              <a:rPr sz="2400" spc="-170" dirty="0">
                <a:solidFill>
                  <a:srgbClr val="FFFFFF"/>
                </a:solidFill>
                <a:latin typeface="Arial"/>
                <a:cs typeface="Arial"/>
              </a:rPr>
              <a:t> </a:t>
            </a:r>
            <a:r>
              <a:rPr sz="2400" spc="65" dirty="0">
                <a:solidFill>
                  <a:srgbClr val="FFFFFF"/>
                </a:solidFill>
                <a:latin typeface="Arial"/>
                <a:cs typeface="Arial"/>
              </a:rPr>
              <a:t>to</a:t>
            </a:r>
            <a:r>
              <a:rPr sz="2400" spc="-150" dirty="0">
                <a:solidFill>
                  <a:srgbClr val="FFFFFF"/>
                </a:solidFill>
                <a:latin typeface="Arial"/>
                <a:cs typeface="Arial"/>
              </a:rPr>
              <a:t> </a:t>
            </a:r>
            <a:r>
              <a:rPr sz="2400" spc="-90" dirty="0">
                <a:solidFill>
                  <a:srgbClr val="FFFFFF"/>
                </a:solidFill>
                <a:latin typeface="Arial"/>
                <a:cs typeface="Arial"/>
              </a:rPr>
              <a:t>create</a:t>
            </a:r>
            <a:r>
              <a:rPr sz="2400" spc="-150" dirty="0">
                <a:solidFill>
                  <a:srgbClr val="FFFFFF"/>
                </a:solidFill>
                <a:latin typeface="Arial"/>
                <a:cs typeface="Arial"/>
              </a:rPr>
              <a:t> </a:t>
            </a:r>
            <a:r>
              <a:rPr sz="2400" spc="-50" dirty="0">
                <a:solidFill>
                  <a:srgbClr val="FFFFFF"/>
                </a:solidFill>
                <a:latin typeface="Arial"/>
                <a:cs typeface="Arial"/>
              </a:rPr>
              <a:t>views.</a:t>
            </a:r>
            <a:endParaRPr sz="2400">
              <a:latin typeface="Arial"/>
              <a:cs typeface="Arial"/>
            </a:endParaRPr>
          </a:p>
          <a:p>
            <a:pPr marL="12700" marR="5080">
              <a:lnSpc>
                <a:spcPts val="2590"/>
              </a:lnSpc>
              <a:spcBef>
                <a:spcPts val="2630"/>
              </a:spcBef>
              <a:tabLst>
                <a:tab pos="725805" algn="l"/>
                <a:tab pos="2199005" algn="l"/>
                <a:tab pos="3244850" algn="l"/>
                <a:tab pos="4712335" algn="l"/>
                <a:tab pos="5097145" algn="l"/>
                <a:tab pos="5883910" algn="l"/>
                <a:tab pos="6783705" algn="l"/>
                <a:tab pos="7562215" algn="l"/>
              </a:tabLst>
            </a:pPr>
            <a:r>
              <a:rPr sz="2400" spc="25" dirty="0">
                <a:solidFill>
                  <a:srgbClr val="FFFFFF"/>
                </a:solidFill>
                <a:latin typeface="Arial"/>
                <a:cs typeface="Arial"/>
              </a:rPr>
              <a:t>The	</a:t>
            </a:r>
            <a:r>
              <a:rPr sz="2400" spc="75" dirty="0">
                <a:solidFill>
                  <a:srgbClr val="FFFFFF"/>
                </a:solidFill>
                <a:latin typeface="Arial"/>
                <a:cs typeface="Arial"/>
              </a:rPr>
              <a:t>CREATE	</a:t>
            </a:r>
            <a:r>
              <a:rPr sz="2400" spc="175" dirty="0">
                <a:solidFill>
                  <a:srgbClr val="FFFFFF"/>
                </a:solidFill>
                <a:latin typeface="Arial"/>
                <a:cs typeface="Arial"/>
              </a:rPr>
              <a:t>VIEW	</a:t>
            </a:r>
            <a:r>
              <a:rPr sz="2400" spc="-60" dirty="0">
                <a:solidFill>
                  <a:srgbClr val="FFFFFF"/>
                </a:solidFill>
                <a:latin typeface="Arial"/>
                <a:cs typeface="Arial"/>
              </a:rPr>
              <a:t>state</a:t>
            </a:r>
            <a:r>
              <a:rPr sz="2400" spc="-110" dirty="0">
                <a:solidFill>
                  <a:srgbClr val="FFFFFF"/>
                </a:solidFill>
                <a:latin typeface="Arial"/>
                <a:cs typeface="Arial"/>
              </a:rPr>
              <a:t>m</a:t>
            </a:r>
            <a:r>
              <a:rPr sz="2400" spc="5" dirty="0">
                <a:solidFill>
                  <a:srgbClr val="FFFFFF"/>
                </a:solidFill>
                <a:latin typeface="Arial"/>
                <a:cs typeface="Arial"/>
              </a:rPr>
              <a:t>ent</a:t>
            </a:r>
            <a:r>
              <a:rPr sz="2400" dirty="0">
                <a:solidFill>
                  <a:srgbClr val="FFFFFF"/>
                </a:solidFill>
                <a:latin typeface="Arial"/>
                <a:cs typeface="Arial"/>
              </a:rPr>
              <a:t>	</a:t>
            </a:r>
            <a:r>
              <a:rPr sz="2400" spc="-30" dirty="0">
                <a:solidFill>
                  <a:srgbClr val="FFFFFF"/>
                </a:solidFill>
                <a:latin typeface="Arial"/>
                <a:cs typeface="Arial"/>
              </a:rPr>
              <a:t>i</a:t>
            </a:r>
            <a:r>
              <a:rPr sz="2400" spc="-75" dirty="0">
                <a:solidFill>
                  <a:srgbClr val="FFFFFF"/>
                </a:solidFill>
                <a:latin typeface="Arial"/>
                <a:cs typeface="Arial"/>
              </a:rPr>
              <a:t>s</a:t>
            </a:r>
            <a:r>
              <a:rPr sz="2400" dirty="0">
                <a:solidFill>
                  <a:srgbClr val="FFFFFF"/>
                </a:solidFill>
                <a:latin typeface="Arial"/>
                <a:cs typeface="Arial"/>
              </a:rPr>
              <a:t>	</a:t>
            </a:r>
            <a:r>
              <a:rPr sz="2400" spc="-105" dirty="0">
                <a:solidFill>
                  <a:srgbClr val="FFFFFF"/>
                </a:solidFill>
                <a:latin typeface="Arial"/>
                <a:cs typeface="Arial"/>
              </a:rPr>
              <a:t>used</a:t>
            </a:r>
            <a:r>
              <a:rPr sz="2400" dirty="0">
                <a:solidFill>
                  <a:srgbClr val="FFFFFF"/>
                </a:solidFill>
                <a:latin typeface="Arial"/>
                <a:cs typeface="Arial"/>
              </a:rPr>
              <a:t>	</a:t>
            </a:r>
            <a:r>
              <a:rPr sz="2400" spc="-40" dirty="0">
                <a:solidFill>
                  <a:srgbClr val="FFFFFF"/>
                </a:solidFill>
                <a:latin typeface="Arial"/>
                <a:cs typeface="Arial"/>
              </a:rPr>
              <a:t>along</a:t>
            </a:r>
            <a:r>
              <a:rPr sz="2400" dirty="0">
                <a:solidFill>
                  <a:srgbClr val="FFFFFF"/>
                </a:solidFill>
                <a:latin typeface="Arial"/>
                <a:cs typeface="Arial"/>
              </a:rPr>
              <a:t>	</a:t>
            </a:r>
            <a:r>
              <a:rPr sz="2400" spc="140" dirty="0">
                <a:solidFill>
                  <a:srgbClr val="FFFFFF"/>
                </a:solidFill>
                <a:latin typeface="Arial"/>
                <a:cs typeface="Arial"/>
              </a:rPr>
              <a:t>wi</a:t>
            </a:r>
            <a:r>
              <a:rPr sz="2400" spc="90" dirty="0">
                <a:solidFill>
                  <a:srgbClr val="FFFFFF"/>
                </a:solidFill>
                <a:latin typeface="Arial"/>
                <a:cs typeface="Arial"/>
              </a:rPr>
              <a:t>t</a:t>
            </a:r>
            <a:r>
              <a:rPr sz="2400" spc="70" dirty="0">
                <a:solidFill>
                  <a:srgbClr val="FFFFFF"/>
                </a:solidFill>
                <a:latin typeface="Arial"/>
                <a:cs typeface="Arial"/>
              </a:rPr>
              <a:t>h</a:t>
            </a:r>
            <a:r>
              <a:rPr sz="2400" dirty="0">
                <a:solidFill>
                  <a:srgbClr val="FFFFFF"/>
                </a:solidFill>
                <a:latin typeface="Arial"/>
                <a:cs typeface="Arial"/>
              </a:rPr>
              <a:t>	</a:t>
            </a:r>
            <a:r>
              <a:rPr sz="2400" spc="-5" dirty="0">
                <a:solidFill>
                  <a:srgbClr val="FFFFFF"/>
                </a:solidFill>
                <a:latin typeface="Arial"/>
                <a:cs typeface="Arial"/>
              </a:rPr>
              <a:t>JOIN  </a:t>
            </a:r>
            <a:r>
              <a:rPr sz="2400" spc="5" dirty="0">
                <a:solidFill>
                  <a:srgbClr val="FFFFFF"/>
                </a:solidFill>
                <a:latin typeface="Arial"/>
                <a:cs typeface="Arial"/>
              </a:rPr>
              <a:t>keyword</a:t>
            </a:r>
            <a:r>
              <a:rPr sz="2400" spc="-155" dirty="0">
                <a:solidFill>
                  <a:srgbClr val="FFFFFF"/>
                </a:solidFill>
                <a:latin typeface="Arial"/>
                <a:cs typeface="Arial"/>
              </a:rPr>
              <a:t> </a:t>
            </a:r>
            <a:r>
              <a:rPr sz="2400" spc="65" dirty="0">
                <a:solidFill>
                  <a:srgbClr val="FFFFFF"/>
                </a:solidFill>
                <a:latin typeface="Arial"/>
                <a:cs typeface="Arial"/>
              </a:rPr>
              <a:t>to</a:t>
            </a:r>
            <a:r>
              <a:rPr sz="2400" spc="-145" dirty="0">
                <a:solidFill>
                  <a:srgbClr val="FFFFFF"/>
                </a:solidFill>
                <a:latin typeface="Arial"/>
                <a:cs typeface="Arial"/>
              </a:rPr>
              <a:t> </a:t>
            </a:r>
            <a:r>
              <a:rPr sz="2400" spc="-90" dirty="0">
                <a:solidFill>
                  <a:srgbClr val="FFFFFF"/>
                </a:solidFill>
                <a:latin typeface="Arial"/>
                <a:cs typeface="Arial"/>
              </a:rPr>
              <a:t>create</a:t>
            </a:r>
            <a:r>
              <a:rPr sz="2400" spc="-150" dirty="0">
                <a:solidFill>
                  <a:srgbClr val="FFFFFF"/>
                </a:solidFill>
                <a:latin typeface="Arial"/>
                <a:cs typeface="Arial"/>
              </a:rPr>
              <a:t> </a:t>
            </a:r>
            <a:r>
              <a:rPr sz="2400" spc="-229" dirty="0">
                <a:solidFill>
                  <a:srgbClr val="FFFFFF"/>
                </a:solidFill>
                <a:latin typeface="Arial"/>
                <a:cs typeface="Arial"/>
              </a:rPr>
              <a:t>a</a:t>
            </a:r>
            <a:r>
              <a:rPr sz="2400" spc="-150" dirty="0">
                <a:solidFill>
                  <a:srgbClr val="FFFFFF"/>
                </a:solidFill>
                <a:latin typeface="Arial"/>
                <a:cs typeface="Arial"/>
              </a:rPr>
              <a:t> </a:t>
            </a:r>
            <a:r>
              <a:rPr sz="2400" spc="10" dirty="0">
                <a:solidFill>
                  <a:srgbClr val="FFFFFF"/>
                </a:solidFill>
                <a:latin typeface="Arial"/>
                <a:cs typeface="Arial"/>
              </a:rPr>
              <a:t>view</a:t>
            </a:r>
            <a:r>
              <a:rPr sz="2400" spc="-150" dirty="0">
                <a:solidFill>
                  <a:srgbClr val="FFFFFF"/>
                </a:solidFill>
                <a:latin typeface="Arial"/>
                <a:cs typeface="Arial"/>
              </a:rPr>
              <a:t> </a:t>
            </a:r>
            <a:r>
              <a:rPr sz="2400" spc="-30" dirty="0">
                <a:solidFill>
                  <a:srgbClr val="FFFFFF"/>
                </a:solidFill>
                <a:latin typeface="Arial"/>
                <a:cs typeface="Arial"/>
              </a:rPr>
              <a:t>using</a:t>
            </a:r>
            <a:r>
              <a:rPr sz="2400" spc="-145" dirty="0">
                <a:solidFill>
                  <a:srgbClr val="FFFFFF"/>
                </a:solidFill>
                <a:latin typeface="Arial"/>
                <a:cs typeface="Arial"/>
              </a:rPr>
              <a:t> </a:t>
            </a:r>
            <a:r>
              <a:rPr sz="2400" spc="-25" dirty="0">
                <a:solidFill>
                  <a:srgbClr val="FFFFFF"/>
                </a:solidFill>
                <a:latin typeface="Arial"/>
                <a:cs typeface="Arial"/>
              </a:rPr>
              <a:t>columns</a:t>
            </a:r>
            <a:r>
              <a:rPr sz="2400" spc="-155" dirty="0">
                <a:solidFill>
                  <a:srgbClr val="FFFFFF"/>
                </a:solidFill>
                <a:latin typeface="Arial"/>
                <a:cs typeface="Arial"/>
              </a:rPr>
              <a:t> </a:t>
            </a:r>
            <a:r>
              <a:rPr sz="2400" spc="55" dirty="0">
                <a:solidFill>
                  <a:srgbClr val="FFFFFF"/>
                </a:solidFill>
                <a:latin typeface="Arial"/>
                <a:cs typeface="Arial"/>
              </a:rPr>
              <a:t>from</a:t>
            </a:r>
            <a:r>
              <a:rPr sz="2400" spc="-150" dirty="0">
                <a:solidFill>
                  <a:srgbClr val="FFFFFF"/>
                </a:solidFill>
                <a:latin typeface="Arial"/>
                <a:cs typeface="Arial"/>
              </a:rPr>
              <a:t> </a:t>
            </a:r>
            <a:r>
              <a:rPr sz="2400" spc="45" dirty="0">
                <a:solidFill>
                  <a:srgbClr val="FFFFFF"/>
                </a:solidFill>
                <a:latin typeface="Arial"/>
                <a:cs typeface="Arial"/>
              </a:rPr>
              <a:t>multiple</a:t>
            </a:r>
            <a:r>
              <a:rPr sz="2400" spc="-130" dirty="0">
                <a:solidFill>
                  <a:srgbClr val="FFFFFF"/>
                </a:solidFill>
                <a:latin typeface="Arial"/>
                <a:cs typeface="Arial"/>
              </a:rPr>
              <a:t> </a:t>
            </a:r>
            <a:r>
              <a:rPr sz="2400" spc="-75" dirty="0">
                <a:solidFill>
                  <a:srgbClr val="FFFFFF"/>
                </a:solidFill>
                <a:latin typeface="Arial"/>
                <a:cs typeface="Arial"/>
              </a:rPr>
              <a:t>tables.</a:t>
            </a:r>
            <a:endParaRPr sz="2400">
              <a:latin typeface="Arial"/>
              <a:cs typeface="Arial"/>
            </a:endParaRPr>
          </a:p>
        </p:txBody>
      </p:sp>
      <p:sp>
        <p:nvSpPr>
          <p:cNvPr id="5" name="object 5"/>
          <p:cNvSpPr txBox="1"/>
          <p:nvPr/>
        </p:nvSpPr>
        <p:spPr>
          <a:xfrm>
            <a:off x="661416" y="2530093"/>
            <a:ext cx="687070" cy="269875"/>
          </a:xfrm>
          <a:prstGeom prst="rect">
            <a:avLst/>
          </a:prstGeom>
        </p:spPr>
        <p:txBody>
          <a:bodyPr vert="horz" wrap="square" lIns="0" tIns="12700" rIns="0" bIns="0" rtlCol="0">
            <a:spAutoFit/>
          </a:bodyPr>
          <a:lstStyle/>
          <a:p>
            <a:pPr marL="12700">
              <a:lnSpc>
                <a:spcPct val="100000"/>
              </a:lnSpc>
              <a:spcBef>
                <a:spcPts val="100"/>
              </a:spcBef>
            </a:pPr>
            <a:r>
              <a:rPr sz="1600" b="1" spc="-130" dirty="0">
                <a:latin typeface="Arial"/>
                <a:cs typeface="Arial"/>
              </a:rPr>
              <a:t>S</a:t>
            </a:r>
            <a:r>
              <a:rPr sz="1600" b="1" spc="-110" dirty="0">
                <a:latin typeface="Arial"/>
                <a:cs typeface="Arial"/>
              </a:rPr>
              <a:t>y</a:t>
            </a:r>
            <a:r>
              <a:rPr sz="1600" b="1" spc="-50" dirty="0">
                <a:latin typeface="Arial"/>
                <a:cs typeface="Arial"/>
              </a:rPr>
              <a:t>n</a:t>
            </a:r>
            <a:r>
              <a:rPr sz="1600" b="1" spc="5" dirty="0">
                <a:latin typeface="Arial"/>
                <a:cs typeface="Arial"/>
              </a:rPr>
              <a:t>t</a:t>
            </a:r>
            <a:r>
              <a:rPr sz="1600" b="1" spc="-170" dirty="0">
                <a:latin typeface="Arial"/>
                <a:cs typeface="Arial"/>
              </a:rPr>
              <a:t>a</a:t>
            </a:r>
            <a:r>
              <a:rPr sz="1600" b="1" spc="-30" dirty="0">
                <a:latin typeface="Arial"/>
                <a:cs typeface="Arial"/>
              </a:rPr>
              <a:t>x</a:t>
            </a:r>
            <a:r>
              <a:rPr sz="1600" b="1" spc="-120" dirty="0">
                <a:latin typeface="Arial"/>
                <a:cs typeface="Arial"/>
              </a:rPr>
              <a:t>:</a:t>
            </a:r>
            <a:endParaRPr sz="1600">
              <a:latin typeface="Arial"/>
              <a:cs typeface="Arial"/>
            </a:endParaRPr>
          </a:p>
        </p:txBody>
      </p:sp>
      <p:pic>
        <p:nvPicPr>
          <p:cNvPr id="6" name="object 6"/>
          <p:cNvPicPr/>
          <p:nvPr/>
        </p:nvPicPr>
        <p:blipFill>
          <a:blip r:embed="rId3" cstate="print"/>
          <a:stretch>
            <a:fillRect/>
          </a:stretch>
        </p:blipFill>
        <p:spPr>
          <a:xfrm>
            <a:off x="1029461" y="3232404"/>
            <a:ext cx="7354824" cy="1144524"/>
          </a:xfrm>
          <a:prstGeom prst="rect">
            <a:avLst/>
          </a:prstGeom>
        </p:spPr>
      </p:pic>
      <p:sp>
        <p:nvSpPr>
          <p:cNvPr id="7" name="object 7"/>
          <p:cNvSpPr txBox="1"/>
          <p:nvPr/>
        </p:nvSpPr>
        <p:spPr>
          <a:xfrm>
            <a:off x="747013" y="4515104"/>
            <a:ext cx="6503034" cy="1397635"/>
          </a:xfrm>
          <a:prstGeom prst="rect">
            <a:avLst/>
          </a:prstGeom>
        </p:spPr>
        <p:txBody>
          <a:bodyPr vert="horz" wrap="square" lIns="0" tIns="12700" rIns="0" bIns="0" rtlCol="0">
            <a:spAutoFit/>
          </a:bodyPr>
          <a:lstStyle/>
          <a:p>
            <a:pPr marL="12700">
              <a:lnSpc>
                <a:spcPct val="100000"/>
              </a:lnSpc>
              <a:spcBef>
                <a:spcPts val="100"/>
              </a:spcBef>
            </a:pPr>
            <a:r>
              <a:rPr sz="1800" spc="-35" dirty="0">
                <a:latin typeface="Arial"/>
                <a:cs typeface="Arial"/>
              </a:rPr>
              <a:t>where,</a:t>
            </a:r>
            <a:endParaRPr sz="1800">
              <a:latin typeface="Arial"/>
              <a:cs typeface="Arial"/>
            </a:endParaRPr>
          </a:p>
          <a:p>
            <a:pPr marL="409575" marR="1762760">
              <a:lnSpc>
                <a:spcPct val="100000"/>
              </a:lnSpc>
            </a:pPr>
            <a:r>
              <a:rPr sz="1800" spc="-90" dirty="0">
                <a:latin typeface="Arial"/>
                <a:cs typeface="Arial"/>
              </a:rPr>
              <a:t>view_name: </a:t>
            </a:r>
            <a:r>
              <a:rPr sz="1800" spc="-50" dirty="0">
                <a:latin typeface="Arial"/>
                <a:cs typeface="Arial"/>
              </a:rPr>
              <a:t>specifies </a:t>
            </a:r>
            <a:r>
              <a:rPr sz="1800" dirty="0">
                <a:latin typeface="Arial"/>
                <a:cs typeface="Arial"/>
              </a:rPr>
              <a:t>the </a:t>
            </a:r>
            <a:r>
              <a:rPr sz="1800" spc="-75" dirty="0">
                <a:latin typeface="Arial"/>
                <a:cs typeface="Arial"/>
              </a:rPr>
              <a:t>name </a:t>
            </a:r>
            <a:r>
              <a:rPr sz="1800" spc="45" dirty="0">
                <a:latin typeface="Arial"/>
                <a:cs typeface="Arial"/>
              </a:rPr>
              <a:t>of </a:t>
            </a:r>
            <a:r>
              <a:rPr sz="1800" dirty="0">
                <a:latin typeface="Arial"/>
                <a:cs typeface="Arial"/>
              </a:rPr>
              <a:t>the </a:t>
            </a:r>
            <a:r>
              <a:rPr sz="1800" spc="-5" dirty="0">
                <a:latin typeface="Arial"/>
                <a:cs typeface="Arial"/>
              </a:rPr>
              <a:t>view.  </a:t>
            </a:r>
            <a:r>
              <a:rPr sz="1800" spc="-125" dirty="0">
                <a:latin typeface="Arial"/>
                <a:cs typeface="Arial"/>
              </a:rPr>
              <a:t>table_name1:</a:t>
            </a:r>
            <a:r>
              <a:rPr sz="1800" spc="-130" dirty="0">
                <a:latin typeface="Arial"/>
                <a:cs typeface="Arial"/>
              </a:rPr>
              <a:t> </a:t>
            </a:r>
            <a:r>
              <a:rPr sz="1800" spc="-55" dirty="0">
                <a:latin typeface="Arial"/>
                <a:cs typeface="Arial"/>
              </a:rPr>
              <a:t>specifies</a:t>
            </a:r>
            <a:r>
              <a:rPr sz="1800" spc="-95" dirty="0">
                <a:latin typeface="Arial"/>
                <a:cs typeface="Arial"/>
              </a:rPr>
              <a:t> </a:t>
            </a:r>
            <a:r>
              <a:rPr sz="1800" dirty="0">
                <a:latin typeface="Arial"/>
                <a:cs typeface="Arial"/>
              </a:rPr>
              <a:t>the</a:t>
            </a:r>
            <a:r>
              <a:rPr sz="1800" spc="-110" dirty="0">
                <a:latin typeface="Arial"/>
                <a:cs typeface="Arial"/>
              </a:rPr>
              <a:t> </a:t>
            </a:r>
            <a:r>
              <a:rPr sz="1800" spc="-75" dirty="0">
                <a:latin typeface="Arial"/>
                <a:cs typeface="Arial"/>
              </a:rPr>
              <a:t>name</a:t>
            </a:r>
            <a:r>
              <a:rPr sz="1800" spc="-114" dirty="0">
                <a:latin typeface="Arial"/>
                <a:cs typeface="Arial"/>
              </a:rPr>
              <a:t> </a:t>
            </a:r>
            <a:r>
              <a:rPr sz="1800" spc="45" dirty="0">
                <a:latin typeface="Arial"/>
                <a:cs typeface="Arial"/>
              </a:rPr>
              <a:t>of</a:t>
            </a:r>
            <a:r>
              <a:rPr sz="1800" spc="-105" dirty="0">
                <a:latin typeface="Arial"/>
                <a:cs typeface="Arial"/>
              </a:rPr>
              <a:t> </a:t>
            </a:r>
            <a:r>
              <a:rPr sz="1800" spc="45" dirty="0">
                <a:latin typeface="Arial"/>
                <a:cs typeface="Arial"/>
              </a:rPr>
              <a:t>first</a:t>
            </a:r>
            <a:r>
              <a:rPr sz="1800" spc="-105" dirty="0">
                <a:latin typeface="Arial"/>
                <a:cs typeface="Arial"/>
              </a:rPr>
              <a:t> </a:t>
            </a:r>
            <a:r>
              <a:rPr sz="1800" spc="-30" dirty="0">
                <a:latin typeface="Arial"/>
                <a:cs typeface="Arial"/>
              </a:rPr>
              <a:t>table.</a:t>
            </a:r>
            <a:endParaRPr sz="1800">
              <a:latin typeface="Arial"/>
              <a:cs typeface="Arial"/>
            </a:endParaRPr>
          </a:p>
          <a:p>
            <a:pPr marL="409575" marR="5080">
              <a:lnSpc>
                <a:spcPct val="100000"/>
              </a:lnSpc>
            </a:pPr>
            <a:r>
              <a:rPr sz="1800" spc="-15" dirty="0">
                <a:latin typeface="Arial"/>
                <a:cs typeface="Arial"/>
              </a:rPr>
              <a:t>JOIN:</a:t>
            </a:r>
            <a:r>
              <a:rPr sz="1800" spc="-114" dirty="0">
                <a:latin typeface="Arial"/>
                <a:cs typeface="Arial"/>
              </a:rPr>
              <a:t> </a:t>
            </a:r>
            <a:r>
              <a:rPr sz="1800" spc="-50" dirty="0">
                <a:latin typeface="Arial"/>
                <a:cs typeface="Arial"/>
              </a:rPr>
              <a:t>specifies</a:t>
            </a:r>
            <a:r>
              <a:rPr sz="1800" spc="-100" dirty="0">
                <a:latin typeface="Arial"/>
                <a:cs typeface="Arial"/>
              </a:rPr>
              <a:t> </a:t>
            </a:r>
            <a:r>
              <a:rPr sz="1800" spc="25" dirty="0">
                <a:latin typeface="Arial"/>
                <a:cs typeface="Arial"/>
              </a:rPr>
              <a:t>that</a:t>
            </a:r>
            <a:r>
              <a:rPr sz="1800" spc="-110" dirty="0">
                <a:latin typeface="Arial"/>
                <a:cs typeface="Arial"/>
              </a:rPr>
              <a:t> </a:t>
            </a:r>
            <a:r>
              <a:rPr sz="1800" spc="45" dirty="0">
                <a:latin typeface="Arial"/>
                <a:cs typeface="Arial"/>
              </a:rPr>
              <a:t>two</a:t>
            </a:r>
            <a:r>
              <a:rPr sz="1800" spc="-110" dirty="0">
                <a:latin typeface="Arial"/>
                <a:cs typeface="Arial"/>
              </a:rPr>
              <a:t> </a:t>
            </a:r>
            <a:r>
              <a:rPr sz="1800" spc="-55" dirty="0">
                <a:latin typeface="Arial"/>
                <a:cs typeface="Arial"/>
              </a:rPr>
              <a:t>tables</a:t>
            </a:r>
            <a:r>
              <a:rPr sz="1800" spc="-120" dirty="0">
                <a:latin typeface="Arial"/>
                <a:cs typeface="Arial"/>
              </a:rPr>
              <a:t> </a:t>
            </a:r>
            <a:r>
              <a:rPr sz="1800" spc="-90" dirty="0">
                <a:latin typeface="Arial"/>
                <a:cs typeface="Arial"/>
              </a:rPr>
              <a:t>are</a:t>
            </a:r>
            <a:r>
              <a:rPr sz="1800" spc="-114" dirty="0">
                <a:latin typeface="Arial"/>
                <a:cs typeface="Arial"/>
              </a:rPr>
              <a:t> </a:t>
            </a:r>
            <a:r>
              <a:rPr sz="1800" spc="15" dirty="0">
                <a:latin typeface="Arial"/>
                <a:cs typeface="Arial"/>
              </a:rPr>
              <a:t>joined</a:t>
            </a:r>
            <a:r>
              <a:rPr sz="1800" spc="-110" dirty="0">
                <a:latin typeface="Arial"/>
                <a:cs typeface="Arial"/>
              </a:rPr>
              <a:t> </a:t>
            </a:r>
            <a:r>
              <a:rPr sz="1800" spc="-25" dirty="0">
                <a:latin typeface="Arial"/>
                <a:cs typeface="Arial"/>
              </a:rPr>
              <a:t>using</a:t>
            </a:r>
            <a:r>
              <a:rPr sz="1800" spc="-110" dirty="0">
                <a:latin typeface="Arial"/>
                <a:cs typeface="Arial"/>
              </a:rPr>
              <a:t> </a:t>
            </a:r>
            <a:r>
              <a:rPr sz="1800" spc="-5" dirty="0">
                <a:latin typeface="Arial"/>
                <a:cs typeface="Arial"/>
              </a:rPr>
              <a:t>JOIN</a:t>
            </a:r>
            <a:r>
              <a:rPr sz="1800" spc="-105" dirty="0">
                <a:latin typeface="Arial"/>
                <a:cs typeface="Arial"/>
              </a:rPr>
              <a:t> </a:t>
            </a:r>
            <a:r>
              <a:rPr sz="1800" spc="-5" dirty="0">
                <a:latin typeface="Arial"/>
                <a:cs typeface="Arial"/>
              </a:rPr>
              <a:t>keyword.  </a:t>
            </a:r>
            <a:r>
              <a:rPr sz="1800" spc="-105" dirty="0">
                <a:latin typeface="Arial"/>
                <a:cs typeface="Arial"/>
              </a:rPr>
              <a:t>table_name2:</a:t>
            </a:r>
            <a:r>
              <a:rPr sz="1800" spc="-125" dirty="0">
                <a:latin typeface="Arial"/>
                <a:cs typeface="Arial"/>
              </a:rPr>
              <a:t> </a:t>
            </a:r>
            <a:r>
              <a:rPr sz="1800" spc="-55" dirty="0">
                <a:latin typeface="Arial"/>
                <a:cs typeface="Arial"/>
              </a:rPr>
              <a:t>specifies</a:t>
            </a:r>
            <a:r>
              <a:rPr sz="1800" spc="-114" dirty="0">
                <a:latin typeface="Arial"/>
                <a:cs typeface="Arial"/>
              </a:rPr>
              <a:t> </a:t>
            </a:r>
            <a:r>
              <a:rPr sz="1800" dirty="0">
                <a:latin typeface="Arial"/>
                <a:cs typeface="Arial"/>
              </a:rPr>
              <a:t>the</a:t>
            </a:r>
            <a:r>
              <a:rPr sz="1800" spc="-110" dirty="0">
                <a:latin typeface="Arial"/>
                <a:cs typeface="Arial"/>
              </a:rPr>
              <a:t> </a:t>
            </a:r>
            <a:r>
              <a:rPr sz="1800" spc="-75" dirty="0">
                <a:latin typeface="Arial"/>
                <a:cs typeface="Arial"/>
              </a:rPr>
              <a:t>name</a:t>
            </a:r>
            <a:r>
              <a:rPr sz="1800" spc="-130" dirty="0">
                <a:latin typeface="Arial"/>
                <a:cs typeface="Arial"/>
              </a:rPr>
              <a:t> </a:t>
            </a:r>
            <a:r>
              <a:rPr sz="1800" spc="45" dirty="0">
                <a:latin typeface="Arial"/>
                <a:cs typeface="Arial"/>
              </a:rPr>
              <a:t>of</a:t>
            </a:r>
            <a:r>
              <a:rPr sz="1800" spc="-100" dirty="0">
                <a:latin typeface="Arial"/>
                <a:cs typeface="Arial"/>
              </a:rPr>
              <a:t> </a:t>
            </a:r>
            <a:r>
              <a:rPr sz="1800" dirty="0">
                <a:latin typeface="Arial"/>
                <a:cs typeface="Arial"/>
              </a:rPr>
              <a:t>the</a:t>
            </a:r>
            <a:r>
              <a:rPr sz="1800" spc="-114" dirty="0">
                <a:latin typeface="Arial"/>
                <a:cs typeface="Arial"/>
              </a:rPr>
              <a:t> </a:t>
            </a:r>
            <a:r>
              <a:rPr sz="1800" spc="-65" dirty="0">
                <a:latin typeface="Arial"/>
                <a:cs typeface="Arial"/>
              </a:rPr>
              <a:t>second</a:t>
            </a:r>
            <a:r>
              <a:rPr sz="1800" spc="-114" dirty="0">
                <a:latin typeface="Arial"/>
                <a:cs typeface="Arial"/>
              </a:rPr>
              <a:t> </a:t>
            </a:r>
            <a:r>
              <a:rPr sz="1800" spc="-30" dirty="0">
                <a:latin typeface="Arial"/>
                <a:cs typeface="Arial"/>
              </a:rPr>
              <a:t>table.</a:t>
            </a:r>
            <a:endParaRPr sz="1800">
              <a:latin typeface="Arial"/>
              <a:cs typeface="Arial"/>
            </a:endParaRPr>
          </a:p>
        </p:txBody>
      </p:sp>
      <p:sp>
        <p:nvSpPr>
          <p:cNvPr id="9" name="object 9"/>
          <p:cNvSpPr txBox="1"/>
          <p:nvPr/>
        </p:nvSpPr>
        <p:spPr>
          <a:xfrm>
            <a:off x="7853933" y="6569709"/>
            <a:ext cx="942975"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67" baseline="4629" dirty="0">
                <a:latin typeface="Arial"/>
                <a:cs typeface="Arial"/>
              </a:rPr>
              <a:t>10/</a:t>
            </a:r>
            <a:r>
              <a:rPr sz="1800" spc="-232" baseline="4629" dirty="0">
                <a:latin typeface="Arial"/>
                <a:cs typeface="Arial"/>
              </a:rPr>
              <a:t> </a:t>
            </a:r>
            <a:fld id="{81D60167-4931-47E6-BA6A-407CBD079E47}" type="slidenum">
              <a:rPr sz="1200" spc="-150" dirty="0">
                <a:latin typeface="Arial"/>
                <a:cs typeface="Arial"/>
              </a:rPr>
              <a:t>6</a:t>
            </a:fld>
            <a:endParaRPr sz="1200">
              <a:latin typeface="Arial"/>
              <a:cs typeface="Arial"/>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881" y="35813"/>
            <a:ext cx="8077200" cy="574675"/>
          </a:xfrm>
          <a:prstGeom prst="rect">
            <a:avLst/>
          </a:prstGeom>
        </p:spPr>
        <p:txBody>
          <a:bodyPr vert="horz" wrap="square" lIns="0" tIns="12700" rIns="0" bIns="0" rtlCol="0">
            <a:spAutoFit/>
          </a:bodyPr>
          <a:lstStyle/>
          <a:p>
            <a:pPr marL="12700">
              <a:lnSpc>
                <a:spcPct val="100000"/>
              </a:lnSpc>
              <a:spcBef>
                <a:spcPts val="100"/>
              </a:spcBef>
            </a:pPr>
            <a:r>
              <a:rPr b="0" spc="15" dirty="0">
                <a:latin typeface="Arial"/>
                <a:cs typeface="Arial"/>
              </a:rPr>
              <a:t>Creating</a:t>
            </a:r>
            <a:r>
              <a:rPr b="0" spc="-265" dirty="0">
                <a:latin typeface="Arial"/>
                <a:cs typeface="Arial"/>
              </a:rPr>
              <a:t> </a:t>
            </a:r>
            <a:r>
              <a:rPr b="0" spc="20" dirty="0">
                <a:latin typeface="Arial"/>
                <a:cs typeface="Arial"/>
              </a:rPr>
              <a:t>Views</a:t>
            </a:r>
            <a:r>
              <a:rPr b="0" spc="-265" dirty="0">
                <a:latin typeface="Arial"/>
                <a:cs typeface="Arial"/>
              </a:rPr>
              <a:t> </a:t>
            </a:r>
            <a:r>
              <a:rPr b="0" spc="10" dirty="0">
                <a:latin typeface="Arial"/>
                <a:cs typeface="Arial"/>
              </a:rPr>
              <a:t>Using</a:t>
            </a:r>
            <a:r>
              <a:rPr b="0" spc="-245" dirty="0">
                <a:latin typeface="Arial"/>
                <a:cs typeface="Arial"/>
              </a:rPr>
              <a:t> </a:t>
            </a:r>
            <a:r>
              <a:rPr b="0" spc="-10" dirty="0">
                <a:latin typeface="Arial"/>
                <a:cs typeface="Arial"/>
              </a:rPr>
              <a:t>JOIN</a:t>
            </a:r>
            <a:r>
              <a:rPr b="0" spc="-245" dirty="0">
                <a:latin typeface="Arial"/>
                <a:cs typeface="Arial"/>
              </a:rPr>
              <a:t> </a:t>
            </a:r>
            <a:r>
              <a:rPr b="0" spc="15">
                <a:latin typeface="Arial"/>
                <a:cs typeface="Arial"/>
              </a:rPr>
              <a:t>Keyword</a:t>
            </a:r>
            <a:r>
              <a:rPr b="0" spc="-245">
                <a:latin typeface="Arial"/>
                <a:cs typeface="Arial"/>
              </a:rPr>
              <a:t> </a:t>
            </a:r>
            <a:r>
              <a:rPr b="0" spc="-204">
                <a:latin typeface="Arial"/>
                <a:cs typeface="Arial"/>
              </a:rPr>
              <a:t>2-</a:t>
            </a:r>
            <a:r>
              <a:rPr lang="en-US" b="0" spc="-204">
                <a:latin typeface="Arial"/>
                <a:cs typeface="Arial"/>
              </a:rPr>
              <a:t>3</a:t>
            </a:r>
            <a:endParaRPr b="0" spc="-204" dirty="0">
              <a:latin typeface="Arial"/>
              <a:cs typeface="Arial"/>
            </a:endParaRPr>
          </a:p>
        </p:txBody>
      </p:sp>
      <p:pic>
        <p:nvPicPr>
          <p:cNvPr id="3" name="object 3"/>
          <p:cNvPicPr/>
          <p:nvPr/>
        </p:nvPicPr>
        <p:blipFill>
          <a:blip r:embed="rId3" cstate="print"/>
          <a:stretch>
            <a:fillRect/>
          </a:stretch>
        </p:blipFill>
        <p:spPr>
          <a:xfrm>
            <a:off x="2257806" y="3962400"/>
            <a:ext cx="4600194" cy="2542794"/>
          </a:xfrm>
          <a:prstGeom prst="rect">
            <a:avLst/>
          </a:prstGeom>
        </p:spPr>
      </p:pic>
      <p:sp>
        <p:nvSpPr>
          <p:cNvPr id="4" name="object 4"/>
          <p:cNvSpPr txBox="1"/>
          <p:nvPr/>
        </p:nvSpPr>
        <p:spPr>
          <a:xfrm>
            <a:off x="3551555" y="6569709"/>
            <a:ext cx="2040889" cy="238760"/>
          </a:xfrm>
          <a:prstGeom prst="rect">
            <a:avLst/>
          </a:prstGeom>
        </p:spPr>
        <p:txBody>
          <a:bodyPr vert="horz" wrap="square" lIns="0" tIns="12065" rIns="0" bIns="0" rtlCol="0">
            <a:spAutoFit/>
          </a:bodyPr>
          <a:lstStyle/>
          <a:p>
            <a:pPr marL="12700">
              <a:lnSpc>
                <a:spcPct val="100000"/>
              </a:lnSpc>
              <a:spcBef>
                <a:spcPts val="95"/>
              </a:spcBef>
            </a:pPr>
            <a:r>
              <a:rPr sz="1400" b="1" spc="-55" dirty="0">
                <a:latin typeface="Arial"/>
                <a:cs typeface="Arial"/>
              </a:rPr>
              <a:t>Creating </a:t>
            </a:r>
            <a:r>
              <a:rPr sz="1400" b="1" spc="-50" dirty="0">
                <a:latin typeface="Arial"/>
                <a:cs typeface="Arial"/>
              </a:rPr>
              <a:t>Views </a:t>
            </a:r>
            <a:r>
              <a:rPr sz="1400" b="1" spc="-25" dirty="0">
                <a:latin typeface="Arial"/>
                <a:cs typeface="Arial"/>
              </a:rPr>
              <a:t>with</a:t>
            </a:r>
            <a:r>
              <a:rPr sz="1400" b="1" spc="-260" dirty="0">
                <a:latin typeface="Arial"/>
                <a:cs typeface="Arial"/>
              </a:rPr>
              <a:t> </a:t>
            </a:r>
            <a:r>
              <a:rPr sz="1400" b="1" spc="-135" dirty="0">
                <a:latin typeface="Arial"/>
                <a:cs typeface="Arial"/>
              </a:rPr>
              <a:t>a </a:t>
            </a:r>
            <a:r>
              <a:rPr sz="1400" b="1" spc="-125" dirty="0">
                <a:latin typeface="Arial"/>
                <a:cs typeface="Arial"/>
              </a:rPr>
              <a:t>Join</a:t>
            </a:r>
            <a:endParaRPr sz="1400">
              <a:latin typeface="Arial"/>
              <a:cs typeface="Arial"/>
            </a:endParaRPr>
          </a:p>
        </p:txBody>
      </p:sp>
      <p:sp>
        <p:nvSpPr>
          <p:cNvPr id="8" name="object 8"/>
          <p:cNvSpPr txBox="1"/>
          <p:nvPr/>
        </p:nvSpPr>
        <p:spPr>
          <a:xfrm>
            <a:off x="7853933" y="6569709"/>
            <a:ext cx="942975"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67" baseline="4629" dirty="0">
                <a:latin typeface="Arial"/>
                <a:cs typeface="Arial"/>
              </a:rPr>
              <a:t>10/</a:t>
            </a:r>
            <a:r>
              <a:rPr sz="1800" spc="-232" baseline="4629" dirty="0">
                <a:latin typeface="Arial"/>
                <a:cs typeface="Arial"/>
              </a:rPr>
              <a:t> </a:t>
            </a:r>
            <a:fld id="{81D60167-4931-47E6-BA6A-407CBD079E47}" type="slidenum">
              <a:rPr sz="1200" spc="-150" dirty="0">
                <a:latin typeface="Arial"/>
                <a:cs typeface="Arial"/>
              </a:rPr>
              <a:t>7</a:t>
            </a:fld>
            <a:endParaRPr sz="1200">
              <a:latin typeface="Arial"/>
              <a:cs typeface="Arial"/>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pic>
        <p:nvPicPr>
          <p:cNvPr id="10" name="Picture 9">
            <a:extLst>
              <a:ext uri="{FF2B5EF4-FFF2-40B4-BE49-F238E27FC236}">
                <a16:creationId xmlns:a16="http://schemas.microsoft.com/office/drawing/2014/main" id="{A41851D9-D7AC-4C1A-90E9-72C92A9A1178}"/>
              </a:ext>
            </a:extLst>
          </p:cNvPr>
          <p:cNvPicPr>
            <a:picLocks noChangeAspect="1"/>
          </p:cNvPicPr>
          <p:nvPr/>
        </p:nvPicPr>
        <p:blipFill>
          <a:blip r:embed="rId4"/>
          <a:stretch>
            <a:fillRect/>
          </a:stretch>
        </p:blipFill>
        <p:spPr>
          <a:xfrm>
            <a:off x="1908492" y="892215"/>
            <a:ext cx="5178108" cy="2589054"/>
          </a:xfrm>
          <a:prstGeom prst="rect">
            <a:avLst/>
          </a:prstGeom>
        </p:spPr>
      </p:pic>
      <p:pic>
        <p:nvPicPr>
          <p:cNvPr id="16" name="Picture 15">
            <a:extLst>
              <a:ext uri="{FF2B5EF4-FFF2-40B4-BE49-F238E27FC236}">
                <a16:creationId xmlns:a16="http://schemas.microsoft.com/office/drawing/2014/main" id="{1966A1FB-B352-42C9-AB66-BA84F9A9F4E6}"/>
              </a:ext>
            </a:extLst>
          </p:cNvPr>
          <p:cNvPicPr>
            <a:picLocks noChangeAspect="1"/>
          </p:cNvPicPr>
          <p:nvPr/>
        </p:nvPicPr>
        <p:blipFill>
          <a:blip r:embed="rId5"/>
          <a:stretch>
            <a:fillRect/>
          </a:stretch>
        </p:blipFill>
        <p:spPr>
          <a:xfrm>
            <a:off x="1951300" y="3482424"/>
            <a:ext cx="5105400" cy="3790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881" y="35813"/>
            <a:ext cx="8077200" cy="574675"/>
          </a:xfrm>
          <a:prstGeom prst="rect">
            <a:avLst/>
          </a:prstGeom>
        </p:spPr>
        <p:txBody>
          <a:bodyPr vert="horz" wrap="square" lIns="0" tIns="12700" rIns="0" bIns="0" rtlCol="0">
            <a:spAutoFit/>
          </a:bodyPr>
          <a:lstStyle/>
          <a:p>
            <a:pPr marL="12700">
              <a:lnSpc>
                <a:spcPct val="100000"/>
              </a:lnSpc>
              <a:spcBef>
                <a:spcPts val="100"/>
              </a:spcBef>
            </a:pPr>
            <a:r>
              <a:rPr b="0" spc="15" dirty="0">
                <a:latin typeface="Arial"/>
                <a:cs typeface="Arial"/>
              </a:rPr>
              <a:t>Creating</a:t>
            </a:r>
            <a:r>
              <a:rPr b="0" spc="-265" dirty="0">
                <a:latin typeface="Arial"/>
                <a:cs typeface="Arial"/>
              </a:rPr>
              <a:t> </a:t>
            </a:r>
            <a:r>
              <a:rPr b="0" spc="20" dirty="0">
                <a:latin typeface="Arial"/>
                <a:cs typeface="Arial"/>
              </a:rPr>
              <a:t>Views</a:t>
            </a:r>
            <a:r>
              <a:rPr b="0" spc="-265" dirty="0">
                <a:latin typeface="Arial"/>
                <a:cs typeface="Arial"/>
              </a:rPr>
              <a:t> </a:t>
            </a:r>
            <a:r>
              <a:rPr b="0" spc="10" dirty="0">
                <a:latin typeface="Arial"/>
                <a:cs typeface="Arial"/>
              </a:rPr>
              <a:t>Using</a:t>
            </a:r>
            <a:r>
              <a:rPr b="0" spc="-245" dirty="0">
                <a:latin typeface="Arial"/>
                <a:cs typeface="Arial"/>
              </a:rPr>
              <a:t> </a:t>
            </a:r>
            <a:r>
              <a:rPr b="0" spc="-10" dirty="0">
                <a:latin typeface="Arial"/>
                <a:cs typeface="Arial"/>
              </a:rPr>
              <a:t>JOIN</a:t>
            </a:r>
            <a:r>
              <a:rPr b="0" spc="-245" dirty="0">
                <a:latin typeface="Arial"/>
                <a:cs typeface="Arial"/>
              </a:rPr>
              <a:t> </a:t>
            </a:r>
            <a:r>
              <a:rPr b="0" spc="15">
                <a:latin typeface="Arial"/>
                <a:cs typeface="Arial"/>
              </a:rPr>
              <a:t>Keyword</a:t>
            </a:r>
            <a:r>
              <a:rPr b="0" spc="-245">
                <a:latin typeface="Arial"/>
                <a:cs typeface="Arial"/>
              </a:rPr>
              <a:t> </a:t>
            </a:r>
            <a:r>
              <a:rPr lang="en-US" b="0" spc="-204"/>
              <a:t>3</a:t>
            </a:r>
            <a:r>
              <a:rPr b="0" spc="-204">
                <a:latin typeface="Arial"/>
                <a:cs typeface="Arial"/>
              </a:rPr>
              <a:t>-</a:t>
            </a:r>
            <a:r>
              <a:rPr lang="en-US" b="0" spc="-204">
                <a:latin typeface="Arial"/>
                <a:cs typeface="Arial"/>
              </a:rPr>
              <a:t>3</a:t>
            </a:r>
            <a:endParaRPr b="0" spc="-204" dirty="0">
              <a:latin typeface="Arial"/>
              <a:cs typeface="Arial"/>
            </a:endParaRPr>
          </a:p>
        </p:txBody>
      </p:sp>
      <p:pic>
        <p:nvPicPr>
          <p:cNvPr id="5" name="object 5"/>
          <p:cNvPicPr/>
          <p:nvPr/>
        </p:nvPicPr>
        <p:blipFill>
          <a:blip r:embed="rId3" cstate="print"/>
          <a:stretch>
            <a:fillRect/>
          </a:stretch>
        </p:blipFill>
        <p:spPr>
          <a:xfrm>
            <a:off x="2271903" y="3935041"/>
            <a:ext cx="4600194" cy="2599944"/>
          </a:xfrm>
          <a:prstGeom prst="rect">
            <a:avLst/>
          </a:prstGeom>
        </p:spPr>
      </p:pic>
      <p:sp>
        <p:nvSpPr>
          <p:cNvPr id="6" name="object 6"/>
          <p:cNvSpPr txBox="1"/>
          <p:nvPr/>
        </p:nvSpPr>
        <p:spPr>
          <a:xfrm>
            <a:off x="3077845" y="6578599"/>
            <a:ext cx="2988310"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Using </a:t>
            </a:r>
            <a:r>
              <a:rPr sz="1400" b="1" spc="5" dirty="0">
                <a:latin typeface="Arial"/>
                <a:cs typeface="Arial"/>
              </a:rPr>
              <a:t>COALESCE</a:t>
            </a:r>
            <a:r>
              <a:rPr sz="1400" b="1" spc="-295" dirty="0">
                <a:latin typeface="Arial"/>
                <a:cs typeface="Arial"/>
              </a:rPr>
              <a:t> </a:t>
            </a:r>
            <a:r>
              <a:rPr sz="1400" b="1" spc="-65" dirty="0">
                <a:latin typeface="Arial"/>
                <a:cs typeface="Arial"/>
              </a:rPr>
              <a:t>Function </a:t>
            </a:r>
            <a:r>
              <a:rPr sz="1400" b="1" spc="-15" dirty="0">
                <a:latin typeface="Arial"/>
                <a:cs typeface="Arial"/>
              </a:rPr>
              <a:t>in </a:t>
            </a:r>
            <a:r>
              <a:rPr sz="1400" b="1" spc="-135" dirty="0">
                <a:latin typeface="Arial"/>
                <a:cs typeface="Arial"/>
              </a:rPr>
              <a:t>a </a:t>
            </a:r>
            <a:r>
              <a:rPr sz="1400" b="1" dirty="0">
                <a:latin typeface="Arial"/>
                <a:cs typeface="Arial"/>
              </a:rPr>
              <a:t>View</a:t>
            </a:r>
            <a:endParaRPr sz="1400">
              <a:latin typeface="Arial"/>
              <a:cs typeface="Arial"/>
            </a:endParaRPr>
          </a:p>
        </p:txBody>
      </p:sp>
      <p:sp>
        <p:nvSpPr>
          <p:cNvPr id="8" name="object 8"/>
          <p:cNvSpPr txBox="1"/>
          <p:nvPr/>
        </p:nvSpPr>
        <p:spPr>
          <a:xfrm>
            <a:off x="7853933" y="6569709"/>
            <a:ext cx="942975"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67" baseline="4629" dirty="0">
                <a:latin typeface="Arial"/>
                <a:cs typeface="Arial"/>
              </a:rPr>
              <a:t>10/</a:t>
            </a:r>
            <a:r>
              <a:rPr sz="1800" spc="-232" baseline="4629" dirty="0">
                <a:latin typeface="Arial"/>
                <a:cs typeface="Arial"/>
              </a:rPr>
              <a:t> </a:t>
            </a:r>
            <a:fld id="{81D60167-4931-47E6-BA6A-407CBD079E47}" type="slidenum">
              <a:rPr sz="1200" spc="-150" dirty="0">
                <a:latin typeface="Arial"/>
                <a:cs typeface="Arial"/>
              </a:rPr>
              <a:t>8</a:t>
            </a:fld>
            <a:endParaRPr sz="1200">
              <a:latin typeface="Arial"/>
              <a:cs typeface="Arial"/>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pic>
        <p:nvPicPr>
          <p:cNvPr id="10" name="Picture 9">
            <a:extLst>
              <a:ext uri="{FF2B5EF4-FFF2-40B4-BE49-F238E27FC236}">
                <a16:creationId xmlns:a16="http://schemas.microsoft.com/office/drawing/2014/main" id="{45C64639-5E3C-4D02-835B-50FFBF1DF5A7}"/>
              </a:ext>
            </a:extLst>
          </p:cNvPr>
          <p:cNvPicPr>
            <a:picLocks noChangeAspect="1"/>
          </p:cNvPicPr>
          <p:nvPr/>
        </p:nvPicPr>
        <p:blipFill>
          <a:blip r:embed="rId4"/>
          <a:stretch>
            <a:fillRect/>
          </a:stretch>
        </p:blipFill>
        <p:spPr>
          <a:xfrm>
            <a:off x="2271903" y="1376009"/>
            <a:ext cx="4633546" cy="2205391"/>
          </a:xfrm>
          <a:prstGeom prst="rect">
            <a:avLst/>
          </a:prstGeom>
        </p:spPr>
      </p:pic>
      <p:sp>
        <p:nvSpPr>
          <p:cNvPr id="12" name="TextBox 11">
            <a:extLst>
              <a:ext uri="{FF2B5EF4-FFF2-40B4-BE49-F238E27FC236}">
                <a16:creationId xmlns:a16="http://schemas.microsoft.com/office/drawing/2014/main" id="{343168DD-3AD9-4179-8145-051D5C87122B}"/>
              </a:ext>
            </a:extLst>
          </p:cNvPr>
          <p:cNvSpPr txBox="1"/>
          <p:nvPr/>
        </p:nvSpPr>
        <p:spPr>
          <a:xfrm>
            <a:off x="76200" y="821828"/>
            <a:ext cx="8971344" cy="384721"/>
          </a:xfrm>
          <a:prstGeom prst="rect">
            <a:avLst/>
          </a:prstGeom>
          <a:noFill/>
        </p:spPr>
        <p:txBody>
          <a:bodyPr wrap="square">
            <a:spAutoFit/>
          </a:bodyPr>
          <a:lstStyle/>
          <a:p>
            <a:pPr marL="285750" indent="-285750">
              <a:buFont typeface="Wingdings" panose="05000000000000000000" pitchFamily="2" charset="2"/>
              <a:buChar char="Ø"/>
            </a:pPr>
            <a:r>
              <a:rPr lang="en-US" sz="1900"/>
              <a:t>To replace all the NULL valuesin the output with a nullstring, the COALESCE() function</a:t>
            </a:r>
          </a:p>
        </p:txBody>
      </p:sp>
    </p:spTree>
    <p:extLst>
      <p:ext uri="{BB962C8B-B14F-4D97-AF65-F5344CB8AC3E}">
        <p14:creationId xmlns:p14="http://schemas.microsoft.com/office/powerpoint/2010/main" val="1602352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6090" y="21081"/>
            <a:ext cx="8262620"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Arial"/>
                <a:cs typeface="Arial"/>
              </a:rPr>
              <a:t>Guidelines</a:t>
            </a:r>
            <a:r>
              <a:rPr sz="4000" b="0" spc="-275" dirty="0">
                <a:latin typeface="Arial"/>
                <a:cs typeface="Arial"/>
              </a:rPr>
              <a:t> </a:t>
            </a:r>
            <a:r>
              <a:rPr sz="4000" b="0" spc="-70" dirty="0">
                <a:latin typeface="Arial"/>
                <a:cs typeface="Arial"/>
              </a:rPr>
              <a:t>and</a:t>
            </a:r>
            <a:r>
              <a:rPr sz="4000" b="0" spc="-260" dirty="0">
                <a:latin typeface="Arial"/>
                <a:cs typeface="Arial"/>
              </a:rPr>
              <a:t> </a:t>
            </a:r>
            <a:r>
              <a:rPr sz="4000" b="0" spc="-15" dirty="0">
                <a:latin typeface="Arial"/>
                <a:cs typeface="Arial"/>
              </a:rPr>
              <a:t>Restrictions</a:t>
            </a:r>
            <a:r>
              <a:rPr sz="4000" b="0" spc="-260" dirty="0">
                <a:latin typeface="Arial"/>
                <a:cs typeface="Arial"/>
              </a:rPr>
              <a:t> </a:t>
            </a:r>
            <a:r>
              <a:rPr sz="4000" b="0" spc="50" dirty="0">
                <a:latin typeface="Arial"/>
                <a:cs typeface="Arial"/>
              </a:rPr>
              <a:t>on</a:t>
            </a:r>
            <a:r>
              <a:rPr sz="4000" b="0" spc="-270" dirty="0">
                <a:latin typeface="Arial"/>
                <a:cs typeface="Arial"/>
              </a:rPr>
              <a:t> </a:t>
            </a:r>
            <a:r>
              <a:rPr sz="4000" b="0" spc="25" dirty="0">
                <a:latin typeface="Arial"/>
                <a:cs typeface="Arial"/>
              </a:rPr>
              <a:t>Views</a:t>
            </a:r>
            <a:endParaRPr sz="4000">
              <a:latin typeface="Arial"/>
              <a:cs typeface="Arial"/>
            </a:endParaRPr>
          </a:p>
        </p:txBody>
      </p:sp>
      <p:grpSp>
        <p:nvGrpSpPr>
          <p:cNvPr id="3" name="object 3"/>
          <p:cNvGrpSpPr/>
          <p:nvPr/>
        </p:nvGrpSpPr>
        <p:grpSpPr>
          <a:xfrm>
            <a:off x="496062" y="852677"/>
            <a:ext cx="8413750" cy="760730"/>
            <a:chOff x="496062" y="852677"/>
            <a:chExt cx="8413750" cy="760730"/>
          </a:xfrm>
        </p:grpSpPr>
        <p:pic>
          <p:nvPicPr>
            <p:cNvPr id="4" name="object 4"/>
            <p:cNvPicPr/>
            <p:nvPr/>
          </p:nvPicPr>
          <p:blipFill>
            <a:blip r:embed="rId3" cstate="print"/>
            <a:stretch>
              <a:fillRect/>
            </a:stretch>
          </p:blipFill>
          <p:spPr>
            <a:xfrm>
              <a:off x="496062" y="874775"/>
              <a:ext cx="8411718" cy="738377"/>
            </a:xfrm>
            <a:prstGeom prst="rect">
              <a:avLst/>
            </a:prstGeom>
          </p:spPr>
        </p:pic>
        <p:pic>
          <p:nvPicPr>
            <p:cNvPr id="5" name="object 5"/>
            <p:cNvPicPr/>
            <p:nvPr/>
          </p:nvPicPr>
          <p:blipFill>
            <a:blip r:embed="rId4" cstate="print"/>
            <a:stretch>
              <a:fillRect/>
            </a:stretch>
          </p:blipFill>
          <p:spPr>
            <a:xfrm>
              <a:off x="544830" y="938783"/>
              <a:ext cx="8217408" cy="646176"/>
            </a:xfrm>
            <a:prstGeom prst="rect">
              <a:avLst/>
            </a:prstGeom>
          </p:spPr>
        </p:pic>
        <p:pic>
          <p:nvPicPr>
            <p:cNvPr id="6" name="object 6"/>
            <p:cNvPicPr/>
            <p:nvPr/>
          </p:nvPicPr>
          <p:blipFill>
            <a:blip r:embed="rId5" cstate="print"/>
            <a:stretch>
              <a:fillRect/>
            </a:stretch>
          </p:blipFill>
          <p:spPr>
            <a:xfrm>
              <a:off x="496824" y="852677"/>
              <a:ext cx="8412480" cy="739139"/>
            </a:xfrm>
            <a:prstGeom prst="rect">
              <a:avLst/>
            </a:prstGeom>
          </p:spPr>
        </p:pic>
      </p:grpSp>
      <p:grpSp>
        <p:nvGrpSpPr>
          <p:cNvPr id="7" name="object 7"/>
          <p:cNvGrpSpPr/>
          <p:nvPr/>
        </p:nvGrpSpPr>
        <p:grpSpPr>
          <a:xfrm>
            <a:off x="477012" y="1721357"/>
            <a:ext cx="8414385" cy="502920"/>
            <a:chOff x="477012" y="1721357"/>
            <a:chExt cx="8414385" cy="502920"/>
          </a:xfrm>
        </p:grpSpPr>
        <p:pic>
          <p:nvPicPr>
            <p:cNvPr id="8" name="object 8"/>
            <p:cNvPicPr/>
            <p:nvPr/>
          </p:nvPicPr>
          <p:blipFill>
            <a:blip r:embed="rId6" cstate="print"/>
            <a:stretch>
              <a:fillRect/>
            </a:stretch>
          </p:blipFill>
          <p:spPr>
            <a:xfrm>
              <a:off x="477012" y="1743443"/>
              <a:ext cx="8412480" cy="480834"/>
            </a:xfrm>
            <a:prstGeom prst="rect">
              <a:avLst/>
            </a:prstGeom>
          </p:spPr>
        </p:pic>
        <p:pic>
          <p:nvPicPr>
            <p:cNvPr id="9" name="object 9"/>
            <p:cNvPicPr/>
            <p:nvPr/>
          </p:nvPicPr>
          <p:blipFill>
            <a:blip r:embed="rId7" cstate="print"/>
            <a:stretch>
              <a:fillRect/>
            </a:stretch>
          </p:blipFill>
          <p:spPr>
            <a:xfrm>
              <a:off x="526542" y="1789163"/>
              <a:ext cx="7021068" cy="425970"/>
            </a:xfrm>
            <a:prstGeom prst="rect">
              <a:avLst/>
            </a:prstGeom>
          </p:spPr>
        </p:pic>
        <p:pic>
          <p:nvPicPr>
            <p:cNvPr id="10" name="object 10"/>
            <p:cNvPicPr/>
            <p:nvPr/>
          </p:nvPicPr>
          <p:blipFill>
            <a:blip r:embed="rId8" cstate="print"/>
            <a:stretch>
              <a:fillRect/>
            </a:stretch>
          </p:blipFill>
          <p:spPr>
            <a:xfrm>
              <a:off x="477774" y="1721357"/>
              <a:ext cx="8413242" cy="481584"/>
            </a:xfrm>
            <a:prstGeom prst="rect">
              <a:avLst/>
            </a:prstGeom>
          </p:spPr>
        </p:pic>
      </p:grpSp>
      <p:grpSp>
        <p:nvGrpSpPr>
          <p:cNvPr id="11" name="object 11"/>
          <p:cNvGrpSpPr/>
          <p:nvPr/>
        </p:nvGrpSpPr>
        <p:grpSpPr>
          <a:xfrm>
            <a:off x="496062" y="2319527"/>
            <a:ext cx="8413750" cy="502920"/>
            <a:chOff x="496062" y="2319527"/>
            <a:chExt cx="8413750" cy="502920"/>
          </a:xfrm>
        </p:grpSpPr>
        <p:pic>
          <p:nvPicPr>
            <p:cNvPr id="12" name="object 12"/>
            <p:cNvPicPr/>
            <p:nvPr/>
          </p:nvPicPr>
          <p:blipFill>
            <a:blip r:embed="rId9" cstate="print"/>
            <a:stretch>
              <a:fillRect/>
            </a:stretch>
          </p:blipFill>
          <p:spPr>
            <a:xfrm>
              <a:off x="496062" y="2341613"/>
              <a:ext cx="8411718" cy="480834"/>
            </a:xfrm>
            <a:prstGeom prst="rect">
              <a:avLst/>
            </a:prstGeom>
          </p:spPr>
        </p:pic>
        <p:pic>
          <p:nvPicPr>
            <p:cNvPr id="13" name="object 13"/>
            <p:cNvPicPr/>
            <p:nvPr/>
          </p:nvPicPr>
          <p:blipFill>
            <a:blip r:embed="rId10" cstate="print"/>
            <a:stretch>
              <a:fillRect/>
            </a:stretch>
          </p:blipFill>
          <p:spPr>
            <a:xfrm>
              <a:off x="544830" y="2387333"/>
              <a:ext cx="4236720" cy="425970"/>
            </a:xfrm>
            <a:prstGeom prst="rect">
              <a:avLst/>
            </a:prstGeom>
          </p:spPr>
        </p:pic>
        <p:pic>
          <p:nvPicPr>
            <p:cNvPr id="14" name="object 14"/>
            <p:cNvPicPr/>
            <p:nvPr/>
          </p:nvPicPr>
          <p:blipFill>
            <a:blip r:embed="rId11" cstate="print"/>
            <a:stretch>
              <a:fillRect/>
            </a:stretch>
          </p:blipFill>
          <p:spPr>
            <a:xfrm>
              <a:off x="496824" y="2319527"/>
              <a:ext cx="8412480" cy="481584"/>
            </a:xfrm>
            <a:prstGeom prst="rect">
              <a:avLst/>
            </a:prstGeom>
          </p:spPr>
        </p:pic>
      </p:grpSp>
      <p:pic>
        <p:nvPicPr>
          <p:cNvPr id="15" name="object 15"/>
          <p:cNvPicPr/>
          <p:nvPr/>
        </p:nvPicPr>
        <p:blipFill>
          <a:blip r:embed="rId12" cstate="print"/>
          <a:stretch>
            <a:fillRect/>
          </a:stretch>
        </p:blipFill>
        <p:spPr>
          <a:xfrm>
            <a:off x="436626" y="2929889"/>
            <a:ext cx="8495538" cy="385572"/>
          </a:xfrm>
          <a:prstGeom prst="rect">
            <a:avLst/>
          </a:prstGeom>
        </p:spPr>
      </p:pic>
      <p:pic>
        <p:nvPicPr>
          <p:cNvPr id="16" name="object 16"/>
          <p:cNvPicPr/>
          <p:nvPr/>
        </p:nvPicPr>
        <p:blipFill>
          <a:blip r:embed="rId13" cstate="print"/>
          <a:stretch>
            <a:fillRect/>
          </a:stretch>
        </p:blipFill>
        <p:spPr>
          <a:xfrm>
            <a:off x="436626" y="3522726"/>
            <a:ext cx="8495538" cy="385572"/>
          </a:xfrm>
          <a:prstGeom prst="rect">
            <a:avLst/>
          </a:prstGeom>
        </p:spPr>
      </p:pic>
      <p:pic>
        <p:nvPicPr>
          <p:cNvPr id="17" name="object 17"/>
          <p:cNvPicPr/>
          <p:nvPr/>
        </p:nvPicPr>
        <p:blipFill>
          <a:blip r:embed="rId14" cstate="print"/>
          <a:stretch>
            <a:fillRect/>
          </a:stretch>
        </p:blipFill>
        <p:spPr>
          <a:xfrm>
            <a:off x="436626" y="4115561"/>
            <a:ext cx="8495538" cy="475488"/>
          </a:xfrm>
          <a:prstGeom prst="rect">
            <a:avLst/>
          </a:prstGeom>
        </p:spPr>
      </p:pic>
      <p:pic>
        <p:nvPicPr>
          <p:cNvPr id="18" name="object 18"/>
          <p:cNvPicPr/>
          <p:nvPr/>
        </p:nvPicPr>
        <p:blipFill>
          <a:blip r:embed="rId15" cstate="print"/>
          <a:stretch>
            <a:fillRect/>
          </a:stretch>
        </p:blipFill>
        <p:spPr>
          <a:xfrm>
            <a:off x="436626" y="4708397"/>
            <a:ext cx="8495538" cy="385572"/>
          </a:xfrm>
          <a:prstGeom prst="rect">
            <a:avLst/>
          </a:prstGeom>
        </p:spPr>
      </p:pic>
      <p:pic>
        <p:nvPicPr>
          <p:cNvPr id="19" name="object 19"/>
          <p:cNvPicPr/>
          <p:nvPr/>
        </p:nvPicPr>
        <p:blipFill>
          <a:blip r:embed="rId16" cstate="print"/>
          <a:stretch>
            <a:fillRect/>
          </a:stretch>
        </p:blipFill>
        <p:spPr>
          <a:xfrm>
            <a:off x="436626" y="5301234"/>
            <a:ext cx="8495538" cy="385572"/>
          </a:xfrm>
          <a:prstGeom prst="rect">
            <a:avLst/>
          </a:prstGeom>
        </p:spPr>
      </p:pic>
      <p:pic>
        <p:nvPicPr>
          <p:cNvPr id="20" name="object 20"/>
          <p:cNvPicPr/>
          <p:nvPr/>
        </p:nvPicPr>
        <p:blipFill>
          <a:blip r:embed="rId17" cstate="print"/>
          <a:stretch>
            <a:fillRect/>
          </a:stretch>
        </p:blipFill>
        <p:spPr>
          <a:xfrm>
            <a:off x="436626" y="5775959"/>
            <a:ext cx="8495538" cy="503681"/>
          </a:xfrm>
          <a:prstGeom prst="rect">
            <a:avLst/>
          </a:prstGeom>
        </p:spPr>
      </p:pic>
      <p:sp>
        <p:nvSpPr>
          <p:cNvPr id="21" name="object 21"/>
          <p:cNvSpPr txBox="1"/>
          <p:nvPr/>
        </p:nvSpPr>
        <p:spPr>
          <a:xfrm>
            <a:off x="595376" y="957325"/>
            <a:ext cx="8095615" cy="5320665"/>
          </a:xfrm>
          <a:prstGeom prst="rect">
            <a:avLst/>
          </a:prstGeom>
        </p:spPr>
        <p:txBody>
          <a:bodyPr vert="horz" wrap="square" lIns="0" tIns="40005" rIns="0" bIns="0" rtlCol="0">
            <a:spAutoFit/>
          </a:bodyPr>
          <a:lstStyle/>
          <a:p>
            <a:pPr marL="71755" marR="90805">
              <a:lnSpc>
                <a:spcPts val="1730"/>
              </a:lnSpc>
              <a:spcBef>
                <a:spcPts val="315"/>
              </a:spcBef>
            </a:pPr>
            <a:r>
              <a:rPr sz="1600" dirty="0">
                <a:solidFill>
                  <a:srgbClr val="FFFFFF"/>
                </a:solidFill>
                <a:latin typeface="Calisto MT"/>
                <a:cs typeface="Calisto MT"/>
              </a:rPr>
              <a:t>A </a:t>
            </a:r>
            <a:r>
              <a:rPr sz="1600" spc="-10" dirty="0">
                <a:solidFill>
                  <a:srgbClr val="FFFFFF"/>
                </a:solidFill>
                <a:latin typeface="Calisto MT"/>
                <a:cs typeface="Calisto MT"/>
              </a:rPr>
              <a:t>view </a:t>
            </a:r>
            <a:r>
              <a:rPr sz="1600" dirty="0">
                <a:solidFill>
                  <a:srgbClr val="FFFFFF"/>
                </a:solidFill>
                <a:latin typeface="Calisto MT"/>
                <a:cs typeface="Calisto MT"/>
              </a:rPr>
              <a:t>is created </a:t>
            </a:r>
            <a:r>
              <a:rPr sz="1600" spc="-10" dirty="0">
                <a:solidFill>
                  <a:srgbClr val="FFFFFF"/>
                </a:solidFill>
                <a:latin typeface="Calisto MT"/>
                <a:cs typeface="Calisto MT"/>
              </a:rPr>
              <a:t>only </a:t>
            </a:r>
            <a:r>
              <a:rPr sz="1600" dirty="0">
                <a:solidFill>
                  <a:srgbClr val="FFFFFF"/>
                </a:solidFill>
                <a:latin typeface="Calisto MT"/>
                <a:cs typeface="Calisto MT"/>
              </a:rPr>
              <a:t>in current </a:t>
            </a:r>
            <a:r>
              <a:rPr sz="1600" spc="-15" dirty="0">
                <a:solidFill>
                  <a:srgbClr val="FFFFFF"/>
                </a:solidFill>
                <a:latin typeface="Calisto MT"/>
                <a:cs typeface="Calisto MT"/>
              </a:rPr>
              <a:t>database. </a:t>
            </a:r>
            <a:r>
              <a:rPr sz="1600" dirty="0">
                <a:solidFill>
                  <a:srgbClr val="FFFFFF"/>
                </a:solidFill>
                <a:latin typeface="Calisto MT"/>
                <a:cs typeface="Calisto MT"/>
              </a:rPr>
              <a:t>The base tables </a:t>
            </a:r>
            <a:r>
              <a:rPr sz="1600" spc="-5" dirty="0">
                <a:solidFill>
                  <a:srgbClr val="FFFFFF"/>
                </a:solidFill>
                <a:latin typeface="Calisto MT"/>
                <a:cs typeface="Calisto MT"/>
              </a:rPr>
              <a:t>and views </a:t>
            </a:r>
            <a:r>
              <a:rPr sz="1600" dirty="0">
                <a:solidFill>
                  <a:srgbClr val="FFFFFF"/>
                </a:solidFill>
                <a:latin typeface="Calisto MT"/>
                <a:cs typeface="Calisto MT"/>
              </a:rPr>
              <a:t>from which the </a:t>
            </a:r>
            <a:r>
              <a:rPr sz="1600" spc="-10" dirty="0">
                <a:solidFill>
                  <a:srgbClr val="FFFFFF"/>
                </a:solidFill>
                <a:latin typeface="Calisto MT"/>
                <a:cs typeface="Calisto MT"/>
              </a:rPr>
              <a:t>view </a:t>
            </a:r>
            <a:r>
              <a:rPr sz="1600" dirty="0">
                <a:solidFill>
                  <a:srgbClr val="FFFFFF"/>
                </a:solidFill>
                <a:latin typeface="Calisto MT"/>
                <a:cs typeface="Calisto MT"/>
              </a:rPr>
              <a:t>is  created </a:t>
            </a:r>
            <a:r>
              <a:rPr sz="1600" spc="-5" dirty="0">
                <a:solidFill>
                  <a:srgbClr val="FFFFFF"/>
                </a:solidFill>
                <a:latin typeface="Calisto MT"/>
                <a:cs typeface="Calisto MT"/>
              </a:rPr>
              <a:t>can </a:t>
            </a:r>
            <a:r>
              <a:rPr sz="1600" dirty="0">
                <a:solidFill>
                  <a:srgbClr val="FFFFFF"/>
                </a:solidFill>
                <a:latin typeface="Calisto MT"/>
                <a:cs typeface="Calisto MT"/>
              </a:rPr>
              <a:t>be from other </a:t>
            </a:r>
            <a:r>
              <a:rPr sz="1600" spc="-5" dirty="0">
                <a:solidFill>
                  <a:srgbClr val="FFFFFF"/>
                </a:solidFill>
                <a:latin typeface="Calisto MT"/>
                <a:cs typeface="Calisto MT"/>
              </a:rPr>
              <a:t>databases </a:t>
            </a:r>
            <a:r>
              <a:rPr sz="1600" dirty="0">
                <a:solidFill>
                  <a:srgbClr val="FFFFFF"/>
                </a:solidFill>
                <a:latin typeface="Calisto MT"/>
                <a:cs typeface="Calisto MT"/>
              </a:rPr>
              <a:t>or</a:t>
            </a:r>
            <a:r>
              <a:rPr sz="1600" spc="-20" dirty="0">
                <a:solidFill>
                  <a:srgbClr val="FFFFFF"/>
                </a:solidFill>
                <a:latin typeface="Calisto MT"/>
                <a:cs typeface="Calisto MT"/>
              </a:rPr>
              <a:t> </a:t>
            </a:r>
            <a:r>
              <a:rPr sz="1600" spc="-5" dirty="0">
                <a:solidFill>
                  <a:srgbClr val="FFFFFF"/>
                </a:solidFill>
                <a:latin typeface="Calisto MT"/>
                <a:cs typeface="Calisto MT"/>
              </a:rPr>
              <a:t>servers.</a:t>
            </a:r>
            <a:endParaRPr sz="1600">
              <a:latin typeface="Calisto MT"/>
              <a:cs typeface="Calisto MT"/>
            </a:endParaRPr>
          </a:p>
          <a:p>
            <a:pPr marL="71755" marR="1255395" indent="-18415">
              <a:lnSpc>
                <a:spcPct val="245400"/>
              </a:lnSpc>
              <a:spcBef>
                <a:spcPts val="229"/>
              </a:spcBef>
            </a:pPr>
            <a:r>
              <a:rPr sz="1600" spc="-20" dirty="0">
                <a:solidFill>
                  <a:srgbClr val="FFFFFF"/>
                </a:solidFill>
                <a:latin typeface="Calisto MT"/>
                <a:cs typeface="Calisto MT"/>
              </a:rPr>
              <a:t>View </a:t>
            </a:r>
            <a:r>
              <a:rPr sz="1600" dirty="0">
                <a:solidFill>
                  <a:srgbClr val="FFFFFF"/>
                </a:solidFill>
                <a:latin typeface="Calisto MT"/>
                <a:cs typeface="Calisto MT"/>
              </a:rPr>
              <a:t>names </a:t>
            </a:r>
            <a:r>
              <a:rPr sz="1600" spc="-10" dirty="0">
                <a:solidFill>
                  <a:srgbClr val="FFFFFF"/>
                </a:solidFill>
                <a:latin typeface="Calisto MT"/>
                <a:cs typeface="Calisto MT"/>
              </a:rPr>
              <a:t>must </a:t>
            </a:r>
            <a:r>
              <a:rPr sz="1600" dirty="0">
                <a:solidFill>
                  <a:srgbClr val="FFFFFF"/>
                </a:solidFill>
                <a:latin typeface="Calisto MT"/>
                <a:cs typeface="Calisto MT"/>
              </a:rPr>
              <a:t>be unique </a:t>
            </a:r>
            <a:r>
              <a:rPr sz="1600" spc="-5" dirty="0">
                <a:solidFill>
                  <a:srgbClr val="FFFFFF"/>
                </a:solidFill>
                <a:latin typeface="Calisto MT"/>
                <a:cs typeface="Calisto MT"/>
              </a:rPr>
              <a:t>and cannot </a:t>
            </a:r>
            <a:r>
              <a:rPr sz="1600" dirty="0">
                <a:solidFill>
                  <a:srgbClr val="FFFFFF"/>
                </a:solidFill>
                <a:latin typeface="Calisto MT"/>
                <a:cs typeface="Calisto MT"/>
              </a:rPr>
              <a:t>be same as table names in the schema.  A </a:t>
            </a:r>
            <a:r>
              <a:rPr sz="1600" spc="-10" dirty="0">
                <a:solidFill>
                  <a:srgbClr val="FFFFFF"/>
                </a:solidFill>
                <a:latin typeface="Calisto MT"/>
                <a:cs typeface="Calisto MT"/>
              </a:rPr>
              <a:t>view </a:t>
            </a:r>
            <a:r>
              <a:rPr sz="1600" dirty="0">
                <a:solidFill>
                  <a:srgbClr val="FFFFFF"/>
                </a:solidFill>
                <a:latin typeface="Calisto MT"/>
                <a:cs typeface="Calisto MT"/>
              </a:rPr>
              <a:t>cannot be created on </a:t>
            </a:r>
            <a:r>
              <a:rPr sz="1600" spc="5" dirty="0">
                <a:solidFill>
                  <a:srgbClr val="FFFFFF"/>
                </a:solidFill>
                <a:latin typeface="Calisto MT"/>
                <a:cs typeface="Calisto MT"/>
              </a:rPr>
              <a:t>temporary</a:t>
            </a:r>
            <a:r>
              <a:rPr sz="1600" spc="-10" dirty="0">
                <a:solidFill>
                  <a:srgbClr val="FFFFFF"/>
                </a:solidFill>
                <a:latin typeface="Calisto MT"/>
                <a:cs typeface="Calisto MT"/>
              </a:rPr>
              <a:t> tables.</a:t>
            </a:r>
            <a:endParaRPr sz="1600">
              <a:latin typeface="Calisto MT"/>
              <a:cs typeface="Calisto MT"/>
            </a:endParaRPr>
          </a:p>
          <a:p>
            <a:pPr>
              <a:lnSpc>
                <a:spcPct val="100000"/>
              </a:lnSpc>
              <a:spcBef>
                <a:spcPts val="10"/>
              </a:spcBef>
            </a:pPr>
            <a:endParaRPr sz="2250">
              <a:latin typeface="Calisto MT"/>
              <a:cs typeface="Calisto MT"/>
            </a:endParaRPr>
          </a:p>
          <a:p>
            <a:pPr marL="12700">
              <a:lnSpc>
                <a:spcPct val="100000"/>
              </a:lnSpc>
            </a:pPr>
            <a:r>
              <a:rPr sz="1600" dirty="0">
                <a:solidFill>
                  <a:srgbClr val="FFFFFF"/>
                </a:solidFill>
                <a:latin typeface="Calisto MT"/>
                <a:cs typeface="Calisto MT"/>
              </a:rPr>
              <a:t>A </a:t>
            </a:r>
            <a:r>
              <a:rPr sz="1600" spc="-10" dirty="0">
                <a:solidFill>
                  <a:srgbClr val="FFFFFF"/>
                </a:solidFill>
                <a:latin typeface="Calisto MT"/>
                <a:cs typeface="Calisto MT"/>
              </a:rPr>
              <a:t>view </a:t>
            </a:r>
            <a:r>
              <a:rPr sz="1600" spc="-5" dirty="0">
                <a:solidFill>
                  <a:srgbClr val="FFFFFF"/>
                </a:solidFill>
                <a:latin typeface="Calisto MT"/>
                <a:cs typeface="Calisto MT"/>
              </a:rPr>
              <a:t>cannot </a:t>
            </a:r>
            <a:r>
              <a:rPr sz="1600" spc="-30" dirty="0">
                <a:solidFill>
                  <a:srgbClr val="FFFFFF"/>
                </a:solidFill>
                <a:latin typeface="Calisto MT"/>
                <a:cs typeface="Calisto MT"/>
              </a:rPr>
              <a:t>have </a:t>
            </a:r>
            <a:r>
              <a:rPr sz="1600" dirty="0">
                <a:solidFill>
                  <a:srgbClr val="FFFFFF"/>
                </a:solidFill>
                <a:latin typeface="Calisto MT"/>
                <a:cs typeface="Calisto MT"/>
              </a:rPr>
              <a:t>a </a:t>
            </a:r>
            <a:r>
              <a:rPr sz="1600" spc="-5" dirty="0">
                <a:solidFill>
                  <a:srgbClr val="FFFFFF"/>
                </a:solidFill>
                <a:latin typeface="Calisto MT"/>
                <a:cs typeface="Calisto MT"/>
              </a:rPr>
              <a:t>full-text</a:t>
            </a:r>
            <a:r>
              <a:rPr sz="1600" spc="90" dirty="0">
                <a:solidFill>
                  <a:srgbClr val="FFFFFF"/>
                </a:solidFill>
                <a:latin typeface="Calisto MT"/>
                <a:cs typeface="Calisto MT"/>
              </a:rPr>
              <a:t> </a:t>
            </a:r>
            <a:r>
              <a:rPr sz="1600" spc="-5" dirty="0">
                <a:solidFill>
                  <a:srgbClr val="FFFFFF"/>
                </a:solidFill>
                <a:latin typeface="Calisto MT"/>
                <a:cs typeface="Calisto MT"/>
              </a:rPr>
              <a:t>index.</a:t>
            </a:r>
            <a:endParaRPr sz="1600">
              <a:latin typeface="Calisto MT"/>
              <a:cs typeface="Calisto MT"/>
            </a:endParaRPr>
          </a:p>
          <a:p>
            <a:pPr>
              <a:lnSpc>
                <a:spcPct val="100000"/>
              </a:lnSpc>
              <a:spcBef>
                <a:spcPts val="35"/>
              </a:spcBef>
            </a:pPr>
            <a:endParaRPr sz="2350">
              <a:latin typeface="Calisto MT"/>
              <a:cs typeface="Calisto MT"/>
            </a:endParaRPr>
          </a:p>
          <a:p>
            <a:pPr marL="12700">
              <a:lnSpc>
                <a:spcPct val="100000"/>
              </a:lnSpc>
            </a:pPr>
            <a:r>
              <a:rPr sz="1600" dirty="0">
                <a:solidFill>
                  <a:srgbClr val="FFFFFF"/>
                </a:solidFill>
                <a:latin typeface="Calisto MT"/>
                <a:cs typeface="Calisto MT"/>
              </a:rPr>
              <a:t>A </a:t>
            </a:r>
            <a:r>
              <a:rPr sz="1600" spc="-10" dirty="0">
                <a:solidFill>
                  <a:srgbClr val="FFFFFF"/>
                </a:solidFill>
                <a:latin typeface="Calisto MT"/>
                <a:cs typeface="Calisto MT"/>
              </a:rPr>
              <a:t>view </a:t>
            </a:r>
            <a:r>
              <a:rPr sz="1600" spc="-5" dirty="0">
                <a:solidFill>
                  <a:srgbClr val="FFFFFF"/>
                </a:solidFill>
                <a:latin typeface="Calisto MT"/>
                <a:cs typeface="Calisto MT"/>
              </a:rPr>
              <a:t>cannot contain </a:t>
            </a:r>
            <a:r>
              <a:rPr sz="1600" spc="-45" dirty="0">
                <a:solidFill>
                  <a:srgbClr val="FFFFFF"/>
                </a:solidFill>
                <a:latin typeface="Calisto MT"/>
                <a:cs typeface="Calisto MT"/>
              </a:rPr>
              <a:t>DEFAULT</a:t>
            </a:r>
            <a:r>
              <a:rPr sz="1600" spc="25" dirty="0">
                <a:solidFill>
                  <a:srgbClr val="FFFFFF"/>
                </a:solidFill>
                <a:latin typeface="Calisto MT"/>
                <a:cs typeface="Calisto MT"/>
              </a:rPr>
              <a:t> </a:t>
            </a:r>
            <a:r>
              <a:rPr sz="1600" dirty="0">
                <a:solidFill>
                  <a:srgbClr val="FFFFFF"/>
                </a:solidFill>
                <a:latin typeface="Calisto MT"/>
                <a:cs typeface="Calisto MT"/>
              </a:rPr>
              <a:t>definition.</a:t>
            </a:r>
            <a:endParaRPr sz="1600">
              <a:latin typeface="Calisto MT"/>
              <a:cs typeface="Calisto MT"/>
            </a:endParaRPr>
          </a:p>
          <a:p>
            <a:pPr marL="12700" marR="5080">
              <a:lnSpc>
                <a:spcPct val="224600"/>
              </a:lnSpc>
              <a:spcBef>
                <a:spcPts val="710"/>
              </a:spcBef>
            </a:pPr>
            <a:r>
              <a:rPr sz="1600" dirty="0">
                <a:solidFill>
                  <a:srgbClr val="FFFFFF"/>
                </a:solidFill>
                <a:latin typeface="Calisto MT"/>
                <a:cs typeface="Calisto MT"/>
              </a:rPr>
              <a:t>The </a:t>
            </a:r>
            <a:r>
              <a:rPr sz="1600" spc="-25" dirty="0">
                <a:solidFill>
                  <a:srgbClr val="FFFFFF"/>
                </a:solidFill>
                <a:latin typeface="Calisto MT"/>
                <a:cs typeface="Calisto MT"/>
              </a:rPr>
              <a:t>CREATE </a:t>
            </a:r>
            <a:r>
              <a:rPr sz="1600" spc="-5" dirty="0">
                <a:solidFill>
                  <a:srgbClr val="FFFFFF"/>
                </a:solidFill>
                <a:latin typeface="Calisto MT"/>
                <a:cs typeface="Calisto MT"/>
              </a:rPr>
              <a:t>VIEW </a:t>
            </a:r>
            <a:r>
              <a:rPr sz="1600" dirty="0">
                <a:solidFill>
                  <a:srgbClr val="FFFFFF"/>
                </a:solidFill>
                <a:latin typeface="Calisto MT"/>
                <a:cs typeface="Calisto MT"/>
              </a:rPr>
              <a:t>statement </a:t>
            </a:r>
            <a:r>
              <a:rPr sz="1600" spc="-5" dirty="0">
                <a:solidFill>
                  <a:srgbClr val="FFFFFF"/>
                </a:solidFill>
                <a:latin typeface="Calisto MT"/>
                <a:cs typeface="Calisto MT"/>
              </a:rPr>
              <a:t>can </a:t>
            </a:r>
            <a:r>
              <a:rPr sz="1600" dirty="0">
                <a:solidFill>
                  <a:srgbClr val="FFFFFF"/>
                </a:solidFill>
                <a:latin typeface="Calisto MT"/>
                <a:cs typeface="Calisto MT"/>
              </a:rPr>
              <a:t>include ORDER BY </a:t>
            </a:r>
            <a:r>
              <a:rPr sz="1600" spc="-5" dirty="0">
                <a:solidFill>
                  <a:srgbClr val="FFFFFF"/>
                </a:solidFill>
                <a:latin typeface="Calisto MT"/>
                <a:cs typeface="Calisto MT"/>
              </a:rPr>
              <a:t>clause </a:t>
            </a:r>
            <a:r>
              <a:rPr sz="1600" spc="-10" dirty="0">
                <a:solidFill>
                  <a:srgbClr val="FFFFFF"/>
                </a:solidFill>
                <a:latin typeface="Calisto MT"/>
                <a:cs typeface="Calisto MT"/>
              </a:rPr>
              <a:t>only </a:t>
            </a:r>
            <a:r>
              <a:rPr sz="1600" dirty="0">
                <a:solidFill>
                  <a:srgbClr val="FFFFFF"/>
                </a:solidFill>
                <a:latin typeface="Calisto MT"/>
                <a:cs typeface="Calisto MT"/>
              </a:rPr>
              <a:t>if </a:t>
            </a:r>
            <a:r>
              <a:rPr sz="1600" spc="-10" dirty="0">
                <a:solidFill>
                  <a:srgbClr val="FFFFFF"/>
                </a:solidFill>
                <a:latin typeface="Calisto MT"/>
                <a:cs typeface="Calisto MT"/>
              </a:rPr>
              <a:t>TOP </a:t>
            </a:r>
            <a:r>
              <a:rPr sz="1600" spc="-5" dirty="0">
                <a:solidFill>
                  <a:srgbClr val="FFFFFF"/>
                </a:solidFill>
                <a:latin typeface="Calisto MT"/>
                <a:cs typeface="Calisto MT"/>
              </a:rPr>
              <a:t>keyword </a:t>
            </a:r>
            <a:r>
              <a:rPr sz="1600" dirty="0">
                <a:solidFill>
                  <a:srgbClr val="FFFFFF"/>
                </a:solidFill>
                <a:latin typeface="Calisto MT"/>
                <a:cs typeface="Calisto MT"/>
              </a:rPr>
              <a:t>is used.  </a:t>
            </a:r>
            <a:r>
              <a:rPr sz="1600" spc="-15" dirty="0">
                <a:solidFill>
                  <a:srgbClr val="FFFFFF"/>
                </a:solidFill>
                <a:latin typeface="Calisto MT"/>
                <a:cs typeface="Calisto MT"/>
              </a:rPr>
              <a:t>Views </a:t>
            </a:r>
            <a:r>
              <a:rPr sz="1600" spc="-5" dirty="0">
                <a:solidFill>
                  <a:srgbClr val="FFFFFF"/>
                </a:solidFill>
                <a:latin typeface="Calisto MT"/>
                <a:cs typeface="Calisto MT"/>
              </a:rPr>
              <a:t>cannot </a:t>
            </a:r>
            <a:r>
              <a:rPr sz="1600" dirty="0">
                <a:solidFill>
                  <a:srgbClr val="FFFFFF"/>
                </a:solidFill>
                <a:latin typeface="Calisto MT"/>
                <a:cs typeface="Calisto MT"/>
              </a:rPr>
              <a:t>reference </a:t>
            </a:r>
            <a:r>
              <a:rPr sz="1600" spc="-5" dirty="0">
                <a:solidFill>
                  <a:srgbClr val="FFFFFF"/>
                </a:solidFill>
                <a:latin typeface="Calisto MT"/>
                <a:cs typeface="Calisto MT"/>
              </a:rPr>
              <a:t>more </a:t>
            </a:r>
            <a:r>
              <a:rPr sz="1600" dirty="0">
                <a:solidFill>
                  <a:srgbClr val="FFFFFF"/>
                </a:solidFill>
                <a:latin typeface="Calisto MT"/>
                <a:cs typeface="Calisto MT"/>
              </a:rPr>
              <a:t>than 1,024</a:t>
            </a:r>
            <a:r>
              <a:rPr sz="1600" spc="25" dirty="0">
                <a:solidFill>
                  <a:srgbClr val="FFFFFF"/>
                </a:solidFill>
                <a:latin typeface="Calisto MT"/>
                <a:cs typeface="Calisto MT"/>
              </a:rPr>
              <a:t> </a:t>
            </a:r>
            <a:r>
              <a:rPr sz="1600" spc="-10" dirty="0">
                <a:solidFill>
                  <a:srgbClr val="FFFFFF"/>
                </a:solidFill>
                <a:latin typeface="Calisto MT"/>
                <a:cs typeface="Calisto MT"/>
              </a:rPr>
              <a:t>columns.</a:t>
            </a:r>
            <a:endParaRPr sz="1600">
              <a:latin typeface="Calisto MT"/>
              <a:cs typeface="Calisto MT"/>
            </a:endParaRPr>
          </a:p>
          <a:p>
            <a:pPr>
              <a:lnSpc>
                <a:spcPct val="100000"/>
              </a:lnSpc>
              <a:spcBef>
                <a:spcPts val="35"/>
              </a:spcBef>
            </a:pPr>
            <a:endParaRPr sz="2350">
              <a:latin typeface="Calisto MT"/>
              <a:cs typeface="Calisto MT"/>
            </a:endParaRPr>
          </a:p>
          <a:p>
            <a:pPr marL="12700">
              <a:lnSpc>
                <a:spcPct val="100000"/>
              </a:lnSpc>
            </a:pPr>
            <a:r>
              <a:rPr sz="1600" dirty="0">
                <a:solidFill>
                  <a:srgbClr val="FFFFFF"/>
                </a:solidFill>
                <a:latin typeface="Calisto MT"/>
                <a:cs typeface="Calisto MT"/>
              </a:rPr>
              <a:t>The </a:t>
            </a:r>
            <a:r>
              <a:rPr sz="1600" spc="-25" dirty="0">
                <a:solidFill>
                  <a:srgbClr val="FFFFFF"/>
                </a:solidFill>
                <a:latin typeface="Calisto MT"/>
                <a:cs typeface="Calisto MT"/>
              </a:rPr>
              <a:t>CREATE </a:t>
            </a:r>
            <a:r>
              <a:rPr sz="1600" spc="-5" dirty="0">
                <a:solidFill>
                  <a:srgbClr val="FFFFFF"/>
                </a:solidFill>
                <a:latin typeface="Calisto MT"/>
                <a:cs typeface="Calisto MT"/>
              </a:rPr>
              <a:t>VIEW </a:t>
            </a:r>
            <a:r>
              <a:rPr sz="1600" dirty="0">
                <a:solidFill>
                  <a:srgbClr val="FFFFFF"/>
                </a:solidFill>
                <a:latin typeface="Calisto MT"/>
                <a:cs typeface="Calisto MT"/>
              </a:rPr>
              <a:t>statement </a:t>
            </a:r>
            <a:r>
              <a:rPr sz="1600" spc="-5" dirty="0">
                <a:solidFill>
                  <a:srgbClr val="FFFFFF"/>
                </a:solidFill>
                <a:latin typeface="Calisto MT"/>
                <a:cs typeface="Calisto MT"/>
              </a:rPr>
              <a:t>cannot </a:t>
            </a:r>
            <a:r>
              <a:rPr sz="1600" dirty="0">
                <a:solidFill>
                  <a:srgbClr val="FFFFFF"/>
                </a:solidFill>
                <a:latin typeface="Calisto MT"/>
                <a:cs typeface="Calisto MT"/>
              </a:rPr>
              <a:t>include </a:t>
            </a:r>
            <a:r>
              <a:rPr sz="1600" spc="-10" dirty="0">
                <a:solidFill>
                  <a:srgbClr val="FFFFFF"/>
                </a:solidFill>
                <a:latin typeface="Calisto MT"/>
                <a:cs typeface="Calisto MT"/>
              </a:rPr>
              <a:t>INTO</a:t>
            </a:r>
            <a:r>
              <a:rPr sz="1600" spc="30" dirty="0">
                <a:solidFill>
                  <a:srgbClr val="FFFFFF"/>
                </a:solidFill>
                <a:latin typeface="Calisto MT"/>
                <a:cs typeface="Calisto MT"/>
              </a:rPr>
              <a:t> </a:t>
            </a:r>
            <a:r>
              <a:rPr sz="1600" spc="-5" dirty="0">
                <a:solidFill>
                  <a:srgbClr val="FFFFFF"/>
                </a:solidFill>
                <a:latin typeface="Calisto MT"/>
                <a:cs typeface="Calisto MT"/>
              </a:rPr>
              <a:t>keyword.</a:t>
            </a:r>
            <a:endParaRPr sz="1600">
              <a:latin typeface="Calisto MT"/>
              <a:cs typeface="Calisto MT"/>
            </a:endParaRPr>
          </a:p>
          <a:p>
            <a:pPr marL="12700" marR="15875">
              <a:lnSpc>
                <a:spcPct val="100000"/>
              </a:lnSpc>
              <a:spcBef>
                <a:spcPts val="1315"/>
              </a:spcBef>
            </a:pPr>
            <a:r>
              <a:rPr sz="1600" dirty="0">
                <a:solidFill>
                  <a:srgbClr val="FFFFFF"/>
                </a:solidFill>
                <a:latin typeface="Calisto MT"/>
                <a:cs typeface="Calisto MT"/>
              </a:rPr>
              <a:t>The </a:t>
            </a:r>
            <a:r>
              <a:rPr sz="1600" spc="-25" dirty="0">
                <a:solidFill>
                  <a:srgbClr val="FFFFFF"/>
                </a:solidFill>
                <a:latin typeface="Calisto MT"/>
                <a:cs typeface="Calisto MT"/>
              </a:rPr>
              <a:t>CREATE </a:t>
            </a:r>
            <a:r>
              <a:rPr sz="1600" spc="-5" dirty="0">
                <a:solidFill>
                  <a:srgbClr val="FFFFFF"/>
                </a:solidFill>
                <a:latin typeface="Calisto MT"/>
                <a:cs typeface="Calisto MT"/>
              </a:rPr>
              <a:t>VIEW </a:t>
            </a:r>
            <a:r>
              <a:rPr sz="1600" dirty="0">
                <a:solidFill>
                  <a:srgbClr val="FFFFFF"/>
                </a:solidFill>
                <a:latin typeface="Calisto MT"/>
                <a:cs typeface="Calisto MT"/>
              </a:rPr>
              <a:t>statement </a:t>
            </a:r>
            <a:r>
              <a:rPr sz="1600" spc="-5" dirty="0">
                <a:solidFill>
                  <a:srgbClr val="FFFFFF"/>
                </a:solidFill>
                <a:latin typeface="Calisto MT"/>
                <a:cs typeface="Calisto MT"/>
              </a:rPr>
              <a:t>cannot </a:t>
            </a:r>
            <a:r>
              <a:rPr sz="1600" dirty="0">
                <a:solidFill>
                  <a:srgbClr val="FFFFFF"/>
                </a:solidFill>
                <a:latin typeface="Calisto MT"/>
                <a:cs typeface="Calisto MT"/>
              </a:rPr>
              <a:t>be </a:t>
            </a:r>
            <a:r>
              <a:rPr sz="1600" spc="-5" dirty="0">
                <a:solidFill>
                  <a:srgbClr val="FFFFFF"/>
                </a:solidFill>
                <a:latin typeface="Calisto MT"/>
                <a:cs typeface="Calisto MT"/>
              </a:rPr>
              <a:t>combined </a:t>
            </a:r>
            <a:r>
              <a:rPr sz="1600" dirty="0">
                <a:solidFill>
                  <a:srgbClr val="FFFFFF"/>
                </a:solidFill>
                <a:latin typeface="Calisto MT"/>
                <a:cs typeface="Calisto MT"/>
              </a:rPr>
              <a:t>with other </a:t>
            </a:r>
            <a:r>
              <a:rPr sz="1600" spc="-5" dirty="0">
                <a:solidFill>
                  <a:srgbClr val="FFFFFF"/>
                </a:solidFill>
                <a:latin typeface="Calisto MT"/>
                <a:cs typeface="Calisto MT"/>
              </a:rPr>
              <a:t>Transact-SQL </a:t>
            </a:r>
            <a:r>
              <a:rPr sz="1600" dirty="0">
                <a:solidFill>
                  <a:srgbClr val="FFFFFF"/>
                </a:solidFill>
                <a:latin typeface="Calisto MT"/>
                <a:cs typeface="Calisto MT"/>
              </a:rPr>
              <a:t>statements in a  single</a:t>
            </a:r>
            <a:r>
              <a:rPr sz="1600" spc="5" dirty="0">
                <a:solidFill>
                  <a:srgbClr val="FFFFFF"/>
                </a:solidFill>
                <a:latin typeface="Calisto MT"/>
                <a:cs typeface="Calisto MT"/>
              </a:rPr>
              <a:t> </a:t>
            </a:r>
            <a:r>
              <a:rPr sz="1600" dirty="0">
                <a:solidFill>
                  <a:srgbClr val="FFFFFF"/>
                </a:solidFill>
                <a:latin typeface="Calisto MT"/>
                <a:cs typeface="Calisto MT"/>
              </a:rPr>
              <a:t>batch.</a:t>
            </a:r>
            <a:endParaRPr sz="1600">
              <a:latin typeface="Calisto MT"/>
              <a:cs typeface="Calisto MT"/>
            </a:endParaRPr>
          </a:p>
        </p:txBody>
      </p:sp>
      <p:sp>
        <p:nvSpPr>
          <p:cNvPr id="23" name="object 23"/>
          <p:cNvSpPr txBox="1"/>
          <p:nvPr/>
        </p:nvSpPr>
        <p:spPr>
          <a:xfrm>
            <a:off x="7853933" y="6569709"/>
            <a:ext cx="942975"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67" baseline="4629" dirty="0">
                <a:latin typeface="Arial"/>
                <a:cs typeface="Arial"/>
              </a:rPr>
              <a:t>10/</a:t>
            </a:r>
            <a:r>
              <a:rPr sz="1800" spc="-232" baseline="4629" dirty="0">
                <a:latin typeface="Arial"/>
                <a:cs typeface="Arial"/>
              </a:rPr>
              <a:t> </a:t>
            </a:r>
            <a:fld id="{81D60167-4931-47E6-BA6A-407CBD079E47}" type="slidenum">
              <a:rPr sz="1200" spc="-150" dirty="0">
                <a:latin typeface="Arial"/>
                <a:cs typeface="Arial"/>
              </a:rPr>
              <a:t>9</a:t>
            </a:fld>
            <a:endParaRPr sz="1200">
              <a:latin typeface="Arial"/>
              <a:cs typeface="Arial"/>
            </a:endParaRPr>
          </a:p>
        </p:txBody>
      </p:sp>
      <p:sp>
        <p:nvSpPr>
          <p:cNvPr id="24" name="object 2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7366"/>
            <a:ext cx="6839584" cy="635635"/>
          </a:xfrm>
          <a:prstGeom prst="rect">
            <a:avLst/>
          </a:prstGeom>
        </p:spPr>
        <p:txBody>
          <a:bodyPr vert="horz" wrap="square" lIns="0" tIns="12700" rIns="0" bIns="0" rtlCol="0">
            <a:spAutoFit/>
          </a:bodyPr>
          <a:lstStyle/>
          <a:p>
            <a:pPr marL="12700">
              <a:lnSpc>
                <a:spcPct val="100000"/>
              </a:lnSpc>
              <a:spcBef>
                <a:spcPts val="100"/>
              </a:spcBef>
            </a:pPr>
            <a:r>
              <a:rPr sz="4000" b="0" spc="105" dirty="0">
                <a:latin typeface="Arial"/>
                <a:cs typeface="Arial"/>
              </a:rPr>
              <a:t>Modifying</a:t>
            </a:r>
            <a:r>
              <a:rPr sz="4000" b="0" spc="-844" dirty="0">
                <a:latin typeface="Arial"/>
                <a:cs typeface="Arial"/>
              </a:rPr>
              <a:t> </a:t>
            </a:r>
            <a:r>
              <a:rPr sz="4000" b="0" spc="-60" dirty="0">
                <a:latin typeface="Arial"/>
                <a:cs typeface="Arial"/>
              </a:rPr>
              <a:t>Data </a:t>
            </a:r>
            <a:r>
              <a:rPr sz="4000" b="0" spc="60" dirty="0">
                <a:latin typeface="Arial"/>
                <a:cs typeface="Arial"/>
              </a:rPr>
              <a:t>through </a:t>
            </a:r>
            <a:r>
              <a:rPr sz="4000" b="0" spc="25" dirty="0">
                <a:latin typeface="Arial"/>
                <a:cs typeface="Arial"/>
              </a:rPr>
              <a:t>Views</a:t>
            </a:r>
            <a:endParaRPr sz="4000">
              <a:latin typeface="Arial"/>
              <a:cs typeface="Arial"/>
            </a:endParaRPr>
          </a:p>
        </p:txBody>
      </p:sp>
      <p:grpSp>
        <p:nvGrpSpPr>
          <p:cNvPr id="3" name="object 3"/>
          <p:cNvGrpSpPr/>
          <p:nvPr/>
        </p:nvGrpSpPr>
        <p:grpSpPr>
          <a:xfrm>
            <a:off x="528827" y="1395983"/>
            <a:ext cx="8268970" cy="1405890"/>
            <a:chOff x="528827" y="1395983"/>
            <a:chExt cx="8268970" cy="1405890"/>
          </a:xfrm>
        </p:grpSpPr>
        <p:pic>
          <p:nvPicPr>
            <p:cNvPr id="4" name="object 4"/>
            <p:cNvPicPr/>
            <p:nvPr/>
          </p:nvPicPr>
          <p:blipFill>
            <a:blip r:embed="rId3" cstate="print"/>
            <a:stretch>
              <a:fillRect/>
            </a:stretch>
          </p:blipFill>
          <p:spPr>
            <a:xfrm>
              <a:off x="528827" y="1395983"/>
              <a:ext cx="8268461" cy="1405889"/>
            </a:xfrm>
            <a:prstGeom prst="rect">
              <a:avLst/>
            </a:prstGeom>
          </p:spPr>
        </p:pic>
        <p:sp>
          <p:nvSpPr>
            <p:cNvPr id="5" name="object 5"/>
            <p:cNvSpPr/>
            <p:nvPr/>
          </p:nvSpPr>
          <p:spPr>
            <a:xfrm>
              <a:off x="569976" y="1414271"/>
              <a:ext cx="8193405" cy="1330960"/>
            </a:xfrm>
            <a:custGeom>
              <a:avLst/>
              <a:gdLst/>
              <a:ahLst/>
              <a:cxnLst/>
              <a:rect l="l" t="t" r="r" b="b"/>
              <a:pathLst>
                <a:path w="8193405" h="1330960">
                  <a:moveTo>
                    <a:pt x="8193024" y="221742"/>
                  </a:moveTo>
                  <a:lnTo>
                    <a:pt x="8188515" y="177076"/>
                  </a:lnTo>
                  <a:lnTo>
                    <a:pt x="8175587" y="135445"/>
                  </a:lnTo>
                  <a:lnTo>
                    <a:pt x="8155140" y="97790"/>
                  </a:lnTo>
                  <a:lnTo>
                    <a:pt x="8128063" y="64960"/>
                  </a:lnTo>
                  <a:lnTo>
                    <a:pt x="8095234" y="37884"/>
                  </a:lnTo>
                  <a:lnTo>
                    <a:pt x="8057578" y="17437"/>
                  </a:lnTo>
                  <a:lnTo>
                    <a:pt x="8015948" y="4508"/>
                  </a:lnTo>
                  <a:lnTo>
                    <a:pt x="7971282" y="0"/>
                  </a:lnTo>
                  <a:lnTo>
                    <a:pt x="221742" y="0"/>
                  </a:lnTo>
                  <a:lnTo>
                    <a:pt x="177050" y="4508"/>
                  </a:lnTo>
                  <a:lnTo>
                    <a:pt x="135420" y="17437"/>
                  </a:lnTo>
                  <a:lnTo>
                    <a:pt x="97751" y="37884"/>
                  </a:lnTo>
                  <a:lnTo>
                    <a:pt x="64935" y="64960"/>
                  </a:lnTo>
                  <a:lnTo>
                    <a:pt x="37858" y="97790"/>
                  </a:lnTo>
                  <a:lnTo>
                    <a:pt x="17424" y="135445"/>
                  </a:lnTo>
                  <a:lnTo>
                    <a:pt x="4495" y="177076"/>
                  </a:lnTo>
                  <a:lnTo>
                    <a:pt x="0" y="221742"/>
                  </a:lnTo>
                  <a:lnTo>
                    <a:pt x="0" y="1108710"/>
                  </a:lnTo>
                  <a:lnTo>
                    <a:pt x="4495" y="1153388"/>
                  </a:lnTo>
                  <a:lnTo>
                    <a:pt x="17424" y="1195006"/>
                  </a:lnTo>
                  <a:lnTo>
                    <a:pt x="37858" y="1232674"/>
                  </a:lnTo>
                  <a:lnTo>
                    <a:pt x="64935" y="1265491"/>
                  </a:lnTo>
                  <a:lnTo>
                    <a:pt x="97751" y="1292580"/>
                  </a:lnTo>
                  <a:lnTo>
                    <a:pt x="135420" y="1313027"/>
                  </a:lnTo>
                  <a:lnTo>
                    <a:pt x="177050" y="1325956"/>
                  </a:lnTo>
                  <a:lnTo>
                    <a:pt x="221742" y="1330452"/>
                  </a:lnTo>
                  <a:lnTo>
                    <a:pt x="7971282" y="1330452"/>
                  </a:lnTo>
                  <a:lnTo>
                    <a:pt x="8015948" y="1325956"/>
                  </a:lnTo>
                  <a:lnTo>
                    <a:pt x="8057578" y="1313027"/>
                  </a:lnTo>
                  <a:lnTo>
                    <a:pt x="8090040" y="1295400"/>
                  </a:lnTo>
                  <a:lnTo>
                    <a:pt x="8193024" y="1295400"/>
                  </a:lnTo>
                  <a:lnTo>
                    <a:pt x="8193024" y="1108710"/>
                  </a:lnTo>
                  <a:lnTo>
                    <a:pt x="8193024" y="454152"/>
                  </a:lnTo>
                  <a:lnTo>
                    <a:pt x="8193024" y="221742"/>
                  </a:lnTo>
                  <a:close/>
                </a:path>
              </a:pathLst>
            </a:custGeom>
            <a:solidFill>
              <a:srgbClr val="1F487C"/>
            </a:solidFill>
          </p:spPr>
          <p:txBody>
            <a:bodyPr wrap="square" lIns="0" tIns="0" rIns="0" bIns="0" rtlCol="0"/>
            <a:lstStyle/>
            <a:p>
              <a:endParaRPr/>
            </a:p>
          </p:txBody>
        </p:sp>
      </p:grpSp>
      <p:sp>
        <p:nvSpPr>
          <p:cNvPr id="6" name="object 6"/>
          <p:cNvSpPr txBox="1"/>
          <p:nvPr/>
        </p:nvSpPr>
        <p:spPr>
          <a:xfrm>
            <a:off x="773937" y="1379219"/>
            <a:ext cx="7924165" cy="1379220"/>
          </a:xfrm>
          <a:prstGeom prst="rect">
            <a:avLst/>
          </a:prstGeom>
        </p:spPr>
        <p:txBody>
          <a:bodyPr vert="horz" wrap="square" lIns="0" tIns="12700" rIns="0" bIns="0" rtlCol="0">
            <a:spAutoFit/>
          </a:bodyPr>
          <a:lstStyle/>
          <a:p>
            <a:pPr marL="12700">
              <a:lnSpc>
                <a:spcPct val="100000"/>
              </a:lnSpc>
              <a:spcBef>
                <a:spcPts val="100"/>
              </a:spcBef>
            </a:pPr>
            <a:r>
              <a:rPr sz="2400" spc="15" dirty="0">
                <a:solidFill>
                  <a:srgbClr val="FFFFFF"/>
                </a:solidFill>
                <a:latin typeface="Arial"/>
                <a:cs typeface="Arial"/>
              </a:rPr>
              <a:t>Views</a:t>
            </a:r>
            <a:r>
              <a:rPr sz="2400" spc="-160" dirty="0">
                <a:solidFill>
                  <a:srgbClr val="FFFFFF"/>
                </a:solidFill>
                <a:latin typeface="Arial"/>
                <a:cs typeface="Arial"/>
              </a:rPr>
              <a:t> </a:t>
            </a:r>
            <a:r>
              <a:rPr sz="2400" spc="-90" dirty="0">
                <a:solidFill>
                  <a:srgbClr val="FFFFFF"/>
                </a:solidFill>
                <a:latin typeface="Arial"/>
                <a:cs typeface="Arial"/>
              </a:rPr>
              <a:t>can</a:t>
            </a:r>
            <a:r>
              <a:rPr sz="2400" spc="-160" dirty="0">
                <a:solidFill>
                  <a:srgbClr val="FFFFFF"/>
                </a:solidFill>
                <a:latin typeface="Arial"/>
                <a:cs typeface="Arial"/>
              </a:rPr>
              <a:t> </a:t>
            </a:r>
            <a:r>
              <a:rPr sz="2400" spc="-120" dirty="0">
                <a:solidFill>
                  <a:srgbClr val="FFFFFF"/>
                </a:solidFill>
                <a:latin typeface="Arial"/>
                <a:cs typeface="Arial"/>
              </a:rPr>
              <a:t>be</a:t>
            </a:r>
            <a:r>
              <a:rPr sz="2400" spc="-165" dirty="0">
                <a:solidFill>
                  <a:srgbClr val="FFFFFF"/>
                </a:solidFill>
                <a:latin typeface="Arial"/>
                <a:cs typeface="Arial"/>
              </a:rPr>
              <a:t> </a:t>
            </a:r>
            <a:r>
              <a:rPr sz="2400" spc="-105" dirty="0">
                <a:solidFill>
                  <a:srgbClr val="FFFFFF"/>
                </a:solidFill>
                <a:latin typeface="Arial"/>
                <a:cs typeface="Arial"/>
              </a:rPr>
              <a:t>used</a:t>
            </a:r>
            <a:r>
              <a:rPr sz="2400" spc="-165" dirty="0">
                <a:solidFill>
                  <a:srgbClr val="FFFFFF"/>
                </a:solidFill>
                <a:latin typeface="Arial"/>
                <a:cs typeface="Arial"/>
              </a:rPr>
              <a:t> </a:t>
            </a:r>
            <a:r>
              <a:rPr sz="2400" spc="65" dirty="0">
                <a:solidFill>
                  <a:srgbClr val="FFFFFF"/>
                </a:solidFill>
                <a:latin typeface="Arial"/>
                <a:cs typeface="Arial"/>
              </a:rPr>
              <a:t>to</a:t>
            </a:r>
            <a:r>
              <a:rPr sz="2400" spc="-150" dirty="0">
                <a:solidFill>
                  <a:srgbClr val="FFFFFF"/>
                </a:solidFill>
                <a:latin typeface="Arial"/>
                <a:cs typeface="Arial"/>
              </a:rPr>
              <a:t> </a:t>
            </a:r>
            <a:r>
              <a:rPr sz="2400" spc="45" dirty="0">
                <a:solidFill>
                  <a:srgbClr val="FFFFFF"/>
                </a:solidFill>
                <a:latin typeface="Arial"/>
                <a:cs typeface="Arial"/>
              </a:rPr>
              <a:t>modify</a:t>
            </a:r>
            <a:r>
              <a:rPr sz="2400" spc="-160" dirty="0">
                <a:solidFill>
                  <a:srgbClr val="FFFFFF"/>
                </a:solidFill>
                <a:latin typeface="Arial"/>
                <a:cs typeface="Arial"/>
              </a:rPr>
              <a:t> </a:t>
            </a:r>
            <a:r>
              <a:rPr sz="2400" spc="-70" dirty="0">
                <a:solidFill>
                  <a:srgbClr val="FFFFFF"/>
                </a:solidFill>
                <a:latin typeface="Arial"/>
                <a:cs typeface="Arial"/>
              </a:rPr>
              <a:t>data</a:t>
            </a:r>
            <a:r>
              <a:rPr sz="2400" spc="-150" dirty="0">
                <a:solidFill>
                  <a:srgbClr val="FFFFFF"/>
                </a:solidFill>
                <a:latin typeface="Arial"/>
                <a:cs typeface="Arial"/>
              </a:rPr>
              <a:t> </a:t>
            </a:r>
            <a:r>
              <a:rPr sz="2400" spc="114" dirty="0">
                <a:solidFill>
                  <a:srgbClr val="FFFFFF"/>
                </a:solidFill>
                <a:latin typeface="Arial"/>
                <a:cs typeface="Arial"/>
              </a:rPr>
              <a:t>in</a:t>
            </a:r>
            <a:r>
              <a:rPr sz="2400" spc="-165" dirty="0">
                <a:solidFill>
                  <a:srgbClr val="FFFFFF"/>
                </a:solidFill>
                <a:latin typeface="Arial"/>
                <a:cs typeface="Arial"/>
              </a:rPr>
              <a:t> </a:t>
            </a:r>
            <a:r>
              <a:rPr sz="2400" spc="-130" dirty="0">
                <a:solidFill>
                  <a:srgbClr val="FFFFFF"/>
                </a:solidFill>
                <a:latin typeface="Arial"/>
                <a:cs typeface="Arial"/>
              </a:rPr>
              <a:t>database</a:t>
            </a:r>
            <a:r>
              <a:rPr sz="2400" spc="-150" dirty="0">
                <a:solidFill>
                  <a:srgbClr val="FFFFFF"/>
                </a:solidFill>
                <a:latin typeface="Arial"/>
                <a:cs typeface="Arial"/>
              </a:rPr>
              <a:t> </a:t>
            </a:r>
            <a:r>
              <a:rPr sz="2400" spc="-75" dirty="0">
                <a:solidFill>
                  <a:srgbClr val="FFFFFF"/>
                </a:solidFill>
                <a:latin typeface="Arial"/>
                <a:cs typeface="Arial"/>
              </a:rPr>
              <a:t>tables.</a:t>
            </a:r>
            <a:endParaRPr sz="2400">
              <a:latin typeface="Arial"/>
              <a:cs typeface="Arial"/>
            </a:endParaRPr>
          </a:p>
          <a:p>
            <a:pPr marL="12700" marR="5080">
              <a:lnSpc>
                <a:spcPts val="2590"/>
              </a:lnSpc>
              <a:spcBef>
                <a:spcPts val="2635"/>
              </a:spcBef>
            </a:pPr>
            <a:r>
              <a:rPr sz="2400" spc="-35" dirty="0">
                <a:solidFill>
                  <a:srgbClr val="FFFFFF"/>
                </a:solidFill>
                <a:latin typeface="Arial"/>
                <a:cs typeface="Arial"/>
              </a:rPr>
              <a:t>Data </a:t>
            </a:r>
            <a:r>
              <a:rPr sz="2400" spc="-90" dirty="0">
                <a:solidFill>
                  <a:srgbClr val="FFFFFF"/>
                </a:solidFill>
                <a:latin typeface="Arial"/>
                <a:cs typeface="Arial"/>
              </a:rPr>
              <a:t>can </a:t>
            </a:r>
            <a:r>
              <a:rPr sz="2400" spc="-120" dirty="0">
                <a:solidFill>
                  <a:srgbClr val="FFFFFF"/>
                </a:solidFill>
                <a:latin typeface="Arial"/>
                <a:cs typeface="Arial"/>
              </a:rPr>
              <a:t>be </a:t>
            </a:r>
            <a:r>
              <a:rPr sz="2400" spc="-30" dirty="0">
                <a:solidFill>
                  <a:srgbClr val="FFFFFF"/>
                </a:solidFill>
                <a:latin typeface="Arial"/>
                <a:cs typeface="Arial"/>
              </a:rPr>
              <a:t>inserted, </a:t>
            </a:r>
            <a:r>
              <a:rPr sz="2400" spc="20" dirty="0">
                <a:solidFill>
                  <a:srgbClr val="FFFFFF"/>
                </a:solidFill>
                <a:latin typeface="Arial"/>
                <a:cs typeface="Arial"/>
              </a:rPr>
              <a:t>modified, </a:t>
            </a:r>
            <a:r>
              <a:rPr sz="2400" spc="35" dirty="0">
                <a:solidFill>
                  <a:srgbClr val="FFFFFF"/>
                </a:solidFill>
                <a:latin typeface="Arial"/>
                <a:cs typeface="Arial"/>
              </a:rPr>
              <a:t>or </a:t>
            </a:r>
            <a:r>
              <a:rPr sz="2400" spc="-50" dirty="0">
                <a:solidFill>
                  <a:srgbClr val="FFFFFF"/>
                </a:solidFill>
                <a:latin typeface="Arial"/>
                <a:cs typeface="Arial"/>
              </a:rPr>
              <a:t>deleted </a:t>
            </a:r>
            <a:r>
              <a:rPr sz="2400" spc="35" dirty="0">
                <a:solidFill>
                  <a:srgbClr val="FFFFFF"/>
                </a:solidFill>
                <a:latin typeface="Arial"/>
                <a:cs typeface="Arial"/>
              </a:rPr>
              <a:t>through </a:t>
            </a:r>
            <a:r>
              <a:rPr sz="2400" spc="-229" dirty="0">
                <a:solidFill>
                  <a:srgbClr val="FFFFFF"/>
                </a:solidFill>
                <a:latin typeface="Arial"/>
                <a:cs typeface="Arial"/>
              </a:rPr>
              <a:t>a </a:t>
            </a:r>
            <a:r>
              <a:rPr sz="2400" spc="10" dirty="0">
                <a:solidFill>
                  <a:srgbClr val="FFFFFF"/>
                </a:solidFill>
                <a:latin typeface="Arial"/>
                <a:cs typeface="Arial"/>
              </a:rPr>
              <a:t>view  </a:t>
            </a:r>
            <a:r>
              <a:rPr sz="2400" spc="-30" dirty="0">
                <a:solidFill>
                  <a:srgbClr val="FFFFFF"/>
                </a:solidFill>
                <a:latin typeface="Arial"/>
                <a:cs typeface="Arial"/>
              </a:rPr>
              <a:t>using </a:t>
            </a:r>
            <a:r>
              <a:rPr sz="2400" spc="55" dirty="0">
                <a:solidFill>
                  <a:srgbClr val="FFFFFF"/>
                </a:solidFill>
                <a:latin typeface="Arial"/>
                <a:cs typeface="Arial"/>
              </a:rPr>
              <a:t>following</a:t>
            </a:r>
            <a:r>
              <a:rPr sz="2400" spc="-270" dirty="0">
                <a:solidFill>
                  <a:srgbClr val="FFFFFF"/>
                </a:solidFill>
                <a:latin typeface="Arial"/>
                <a:cs typeface="Arial"/>
              </a:rPr>
              <a:t> </a:t>
            </a:r>
            <a:r>
              <a:rPr sz="2400" spc="-65" dirty="0">
                <a:solidFill>
                  <a:srgbClr val="FFFFFF"/>
                </a:solidFill>
                <a:latin typeface="Arial"/>
                <a:cs typeface="Arial"/>
              </a:rPr>
              <a:t>statements:</a:t>
            </a:r>
            <a:endParaRPr sz="2400">
              <a:latin typeface="Arial"/>
              <a:cs typeface="Arial"/>
            </a:endParaRPr>
          </a:p>
        </p:txBody>
      </p:sp>
      <p:sp>
        <p:nvSpPr>
          <p:cNvPr id="8" name="object 8"/>
          <p:cNvSpPr/>
          <p:nvPr/>
        </p:nvSpPr>
        <p:spPr>
          <a:xfrm>
            <a:off x="823722" y="3128010"/>
            <a:ext cx="1843405" cy="520065"/>
          </a:xfrm>
          <a:custGeom>
            <a:avLst/>
            <a:gdLst/>
            <a:ahLst/>
            <a:cxnLst/>
            <a:rect l="l" t="t" r="r" b="b"/>
            <a:pathLst>
              <a:path w="1843405" h="520064">
                <a:moveTo>
                  <a:pt x="1583436" y="0"/>
                </a:moveTo>
                <a:lnTo>
                  <a:pt x="259842" y="0"/>
                </a:lnTo>
                <a:lnTo>
                  <a:pt x="213134" y="4186"/>
                </a:lnTo>
                <a:lnTo>
                  <a:pt x="169173" y="16255"/>
                </a:lnTo>
                <a:lnTo>
                  <a:pt x="128693" y="35475"/>
                </a:lnTo>
                <a:lnTo>
                  <a:pt x="92427" y="61110"/>
                </a:lnTo>
                <a:lnTo>
                  <a:pt x="61110" y="92427"/>
                </a:lnTo>
                <a:lnTo>
                  <a:pt x="35475" y="128693"/>
                </a:lnTo>
                <a:lnTo>
                  <a:pt x="16255" y="169173"/>
                </a:lnTo>
                <a:lnTo>
                  <a:pt x="4186" y="213134"/>
                </a:lnTo>
                <a:lnTo>
                  <a:pt x="0" y="259841"/>
                </a:lnTo>
                <a:lnTo>
                  <a:pt x="4186" y="306549"/>
                </a:lnTo>
                <a:lnTo>
                  <a:pt x="16256" y="350510"/>
                </a:lnTo>
                <a:lnTo>
                  <a:pt x="35475" y="390990"/>
                </a:lnTo>
                <a:lnTo>
                  <a:pt x="61110" y="427256"/>
                </a:lnTo>
                <a:lnTo>
                  <a:pt x="92427" y="458573"/>
                </a:lnTo>
                <a:lnTo>
                  <a:pt x="128693" y="484208"/>
                </a:lnTo>
                <a:lnTo>
                  <a:pt x="169173" y="503427"/>
                </a:lnTo>
                <a:lnTo>
                  <a:pt x="213134" y="515497"/>
                </a:lnTo>
                <a:lnTo>
                  <a:pt x="259842" y="519683"/>
                </a:lnTo>
                <a:lnTo>
                  <a:pt x="1583436" y="519683"/>
                </a:lnTo>
                <a:lnTo>
                  <a:pt x="1630143" y="515497"/>
                </a:lnTo>
                <a:lnTo>
                  <a:pt x="1674104" y="503427"/>
                </a:lnTo>
                <a:lnTo>
                  <a:pt x="1714584" y="484208"/>
                </a:lnTo>
                <a:lnTo>
                  <a:pt x="1750850" y="458573"/>
                </a:lnTo>
                <a:lnTo>
                  <a:pt x="1782167" y="427256"/>
                </a:lnTo>
                <a:lnTo>
                  <a:pt x="1807802" y="390990"/>
                </a:lnTo>
                <a:lnTo>
                  <a:pt x="1827021" y="350510"/>
                </a:lnTo>
                <a:lnTo>
                  <a:pt x="1839091" y="306549"/>
                </a:lnTo>
                <a:lnTo>
                  <a:pt x="1843277" y="259841"/>
                </a:lnTo>
                <a:lnTo>
                  <a:pt x="1839091" y="213134"/>
                </a:lnTo>
                <a:lnTo>
                  <a:pt x="1827021" y="169173"/>
                </a:lnTo>
                <a:lnTo>
                  <a:pt x="1807802" y="128693"/>
                </a:lnTo>
                <a:lnTo>
                  <a:pt x="1782167" y="92427"/>
                </a:lnTo>
                <a:lnTo>
                  <a:pt x="1750850" y="61110"/>
                </a:lnTo>
                <a:lnTo>
                  <a:pt x="1714584" y="35475"/>
                </a:lnTo>
                <a:lnTo>
                  <a:pt x="1674104" y="16255"/>
                </a:lnTo>
                <a:lnTo>
                  <a:pt x="1630143" y="4186"/>
                </a:lnTo>
                <a:lnTo>
                  <a:pt x="1583436" y="0"/>
                </a:lnTo>
                <a:close/>
              </a:path>
            </a:pathLst>
          </a:custGeom>
          <a:solidFill>
            <a:srgbClr val="0580C3"/>
          </a:solidFill>
        </p:spPr>
        <p:txBody>
          <a:bodyPr wrap="square" lIns="0" tIns="0" rIns="0" bIns="0" rtlCol="0"/>
          <a:lstStyle/>
          <a:p>
            <a:endParaRPr/>
          </a:p>
        </p:txBody>
      </p:sp>
      <p:sp>
        <p:nvSpPr>
          <p:cNvPr id="9" name="object 9"/>
          <p:cNvSpPr txBox="1"/>
          <p:nvPr/>
        </p:nvSpPr>
        <p:spPr>
          <a:xfrm>
            <a:off x="1161796" y="3231895"/>
            <a:ext cx="864235" cy="300355"/>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Arial"/>
                <a:cs typeface="Arial"/>
              </a:rPr>
              <a:t>INS</a:t>
            </a:r>
            <a:r>
              <a:rPr sz="1800" b="1" spc="-10" dirty="0">
                <a:solidFill>
                  <a:srgbClr val="FFFFFF"/>
                </a:solidFill>
                <a:latin typeface="Arial"/>
                <a:cs typeface="Arial"/>
              </a:rPr>
              <a:t>E</a:t>
            </a:r>
            <a:r>
              <a:rPr sz="1800" b="1" dirty="0">
                <a:solidFill>
                  <a:srgbClr val="FFFFFF"/>
                </a:solidFill>
                <a:latin typeface="Arial"/>
                <a:cs typeface="Arial"/>
              </a:rPr>
              <a:t>RT</a:t>
            </a:r>
            <a:endParaRPr sz="1800">
              <a:latin typeface="Arial"/>
              <a:cs typeface="Arial"/>
            </a:endParaRPr>
          </a:p>
        </p:txBody>
      </p:sp>
      <p:sp>
        <p:nvSpPr>
          <p:cNvPr id="10" name="object 10"/>
          <p:cNvSpPr/>
          <p:nvPr/>
        </p:nvSpPr>
        <p:spPr>
          <a:xfrm>
            <a:off x="831341" y="3765041"/>
            <a:ext cx="1835785" cy="519430"/>
          </a:xfrm>
          <a:custGeom>
            <a:avLst/>
            <a:gdLst/>
            <a:ahLst/>
            <a:cxnLst/>
            <a:rect l="l" t="t" r="r" b="b"/>
            <a:pathLst>
              <a:path w="1835785" h="519429">
                <a:moveTo>
                  <a:pt x="1576197" y="0"/>
                </a:moveTo>
                <a:lnTo>
                  <a:pt x="259461" y="0"/>
                </a:lnTo>
                <a:lnTo>
                  <a:pt x="212823" y="4181"/>
                </a:lnTo>
                <a:lnTo>
                  <a:pt x="168927" y="16237"/>
                </a:lnTo>
                <a:lnTo>
                  <a:pt x="128507" y="35433"/>
                </a:lnTo>
                <a:lnTo>
                  <a:pt x="92294" y="61035"/>
                </a:lnTo>
                <a:lnTo>
                  <a:pt x="61022" y="92310"/>
                </a:lnTo>
                <a:lnTo>
                  <a:pt x="35424" y="128524"/>
                </a:lnTo>
                <a:lnTo>
                  <a:pt x="16232" y="168942"/>
                </a:lnTo>
                <a:lnTo>
                  <a:pt x="4180" y="212833"/>
                </a:lnTo>
                <a:lnTo>
                  <a:pt x="0" y="259461"/>
                </a:lnTo>
                <a:lnTo>
                  <a:pt x="4180" y="306088"/>
                </a:lnTo>
                <a:lnTo>
                  <a:pt x="16232" y="349979"/>
                </a:lnTo>
                <a:lnTo>
                  <a:pt x="35424" y="390398"/>
                </a:lnTo>
                <a:lnTo>
                  <a:pt x="61022" y="426611"/>
                </a:lnTo>
                <a:lnTo>
                  <a:pt x="92294" y="457886"/>
                </a:lnTo>
                <a:lnTo>
                  <a:pt x="128507" y="483489"/>
                </a:lnTo>
                <a:lnTo>
                  <a:pt x="168927" y="502684"/>
                </a:lnTo>
                <a:lnTo>
                  <a:pt x="212823" y="514740"/>
                </a:lnTo>
                <a:lnTo>
                  <a:pt x="259461" y="518922"/>
                </a:lnTo>
                <a:lnTo>
                  <a:pt x="1576197" y="518922"/>
                </a:lnTo>
                <a:lnTo>
                  <a:pt x="1622824" y="514740"/>
                </a:lnTo>
                <a:lnTo>
                  <a:pt x="1666715" y="502684"/>
                </a:lnTo>
                <a:lnTo>
                  <a:pt x="1707134" y="483489"/>
                </a:lnTo>
                <a:lnTo>
                  <a:pt x="1743347" y="457886"/>
                </a:lnTo>
                <a:lnTo>
                  <a:pt x="1774622" y="426611"/>
                </a:lnTo>
                <a:lnTo>
                  <a:pt x="1800225" y="390398"/>
                </a:lnTo>
                <a:lnTo>
                  <a:pt x="1819420" y="349979"/>
                </a:lnTo>
                <a:lnTo>
                  <a:pt x="1831476" y="306088"/>
                </a:lnTo>
                <a:lnTo>
                  <a:pt x="1835658" y="259461"/>
                </a:lnTo>
                <a:lnTo>
                  <a:pt x="1831476" y="212833"/>
                </a:lnTo>
                <a:lnTo>
                  <a:pt x="1819420" y="168942"/>
                </a:lnTo>
                <a:lnTo>
                  <a:pt x="1800224" y="128524"/>
                </a:lnTo>
                <a:lnTo>
                  <a:pt x="1774622" y="92310"/>
                </a:lnTo>
                <a:lnTo>
                  <a:pt x="1743347" y="61035"/>
                </a:lnTo>
                <a:lnTo>
                  <a:pt x="1707133" y="35433"/>
                </a:lnTo>
                <a:lnTo>
                  <a:pt x="1666715" y="16237"/>
                </a:lnTo>
                <a:lnTo>
                  <a:pt x="1622824" y="4181"/>
                </a:lnTo>
                <a:lnTo>
                  <a:pt x="1576197" y="0"/>
                </a:lnTo>
                <a:close/>
              </a:path>
            </a:pathLst>
          </a:custGeom>
          <a:solidFill>
            <a:srgbClr val="06A297"/>
          </a:solidFill>
        </p:spPr>
        <p:txBody>
          <a:bodyPr wrap="square" lIns="0" tIns="0" rIns="0" bIns="0" rtlCol="0"/>
          <a:lstStyle/>
          <a:p>
            <a:endParaRPr/>
          </a:p>
        </p:txBody>
      </p:sp>
      <p:sp>
        <p:nvSpPr>
          <p:cNvPr id="11" name="object 11"/>
          <p:cNvSpPr/>
          <p:nvPr/>
        </p:nvSpPr>
        <p:spPr>
          <a:xfrm>
            <a:off x="831341" y="4419600"/>
            <a:ext cx="1835785" cy="519430"/>
          </a:xfrm>
          <a:custGeom>
            <a:avLst/>
            <a:gdLst/>
            <a:ahLst/>
            <a:cxnLst/>
            <a:rect l="l" t="t" r="r" b="b"/>
            <a:pathLst>
              <a:path w="1835785" h="519429">
                <a:moveTo>
                  <a:pt x="1576197" y="0"/>
                </a:moveTo>
                <a:lnTo>
                  <a:pt x="259461" y="0"/>
                </a:lnTo>
                <a:lnTo>
                  <a:pt x="212823" y="4181"/>
                </a:lnTo>
                <a:lnTo>
                  <a:pt x="168927" y="16237"/>
                </a:lnTo>
                <a:lnTo>
                  <a:pt x="128507" y="35433"/>
                </a:lnTo>
                <a:lnTo>
                  <a:pt x="92294" y="61035"/>
                </a:lnTo>
                <a:lnTo>
                  <a:pt x="61022" y="92310"/>
                </a:lnTo>
                <a:lnTo>
                  <a:pt x="35424" y="128524"/>
                </a:lnTo>
                <a:lnTo>
                  <a:pt x="16232" y="168942"/>
                </a:lnTo>
                <a:lnTo>
                  <a:pt x="4180" y="212833"/>
                </a:lnTo>
                <a:lnTo>
                  <a:pt x="0" y="259461"/>
                </a:lnTo>
                <a:lnTo>
                  <a:pt x="4180" y="306088"/>
                </a:lnTo>
                <a:lnTo>
                  <a:pt x="16232" y="349979"/>
                </a:lnTo>
                <a:lnTo>
                  <a:pt x="35424" y="390398"/>
                </a:lnTo>
                <a:lnTo>
                  <a:pt x="61022" y="426611"/>
                </a:lnTo>
                <a:lnTo>
                  <a:pt x="92294" y="457886"/>
                </a:lnTo>
                <a:lnTo>
                  <a:pt x="128507" y="483489"/>
                </a:lnTo>
                <a:lnTo>
                  <a:pt x="168927" y="502684"/>
                </a:lnTo>
                <a:lnTo>
                  <a:pt x="212823" y="514740"/>
                </a:lnTo>
                <a:lnTo>
                  <a:pt x="259461" y="518922"/>
                </a:lnTo>
                <a:lnTo>
                  <a:pt x="1576197" y="518922"/>
                </a:lnTo>
                <a:lnTo>
                  <a:pt x="1622824" y="514740"/>
                </a:lnTo>
                <a:lnTo>
                  <a:pt x="1666715" y="502684"/>
                </a:lnTo>
                <a:lnTo>
                  <a:pt x="1707134" y="483489"/>
                </a:lnTo>
                <a:lnTo>
                  <a:pt x="1743347" y="457886"/>
                </a:lnTo>
                <a:lnTo>
                  <a:pt x="1774622" y="426611"/>
                </a:lnTo>
                <a:lnTo>
                  <a:pt x="1800225" y="390398"/>
                </a:lnTo>
                <a:lnTo>
                  <a:pt x="1819420" y="349979"/>
                </a:lnTo>
                <a:lnTo>
                  <a:pt x="1831476" y="306088"/>
                </a:lnTo>
                <a:lnTo>
                  <a:pt x="1835658" y="259461"/>
                </a:lnTo>
                <a:lnTo>
                  <a:pt x="1831476" y="212833"/>
                </a:lnTo>
                <a:lnTo>
                  <a:pt x="1819420" y="168942"/>
                </a:lnTo>
                <a:lnTo>
                  <a:pt x="1800224" y="128524"/>
                </a:lnTo>
                <a:lnTo>
                  <a:pt x="1774622" y="92310"/>
                </a:lnTo>
                <a:lnTo>
                  <a:pt x="1743347" y="61035"/>
                </a:lnTo>
                <a:lnTo>
                  <a:pt x="1707133" y="35433"/>
                </a:lnTo>
                <a:lnTo>
                  <a:pt x="1666715" y="16237"/>
                </a:lnTo>
                <a:lnTo>
                  <a:pt x="1622824" y="4181"/>
                </a:lnTo>
                <a:lnTo>
                  <a:pt x="1576197" y="0"/>
                </a:lnTo>
                <a:close/>
              </a:path>
            </a:pathLst>
          </a:custGeom>
          <a:solidFill>
            <a:srgbClr val="FAA100"/>
          </a:solidFill>
        </p:spPr>
        <p:txBody>
          <a:bodyPr wrap="square" lIns="0" tIns="0" rIns="0" bIns="0" rtlCol="0"/>
          <a:lstStyle/>
          <a:p>
            <a:endParaRPr/>
          </a:p>
        </p:txBody>
      </p:sp>
      <p:sp>
        <p:nvSpPr>
          <p:cNvPr id="12" name="object 12"/>
          <p:cNvSpPr txBox="1"/>
          <p:nvPr/>
        </p:nvSpPr>
        <p:spPr>
          <a:xfrm>
            <a:off x="1168908" y="3868928"/>
            <a:ext cx="949325" cy="95440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Arial"/>
                <a:cs typeface="Arial"/>
              </a:rPr>
              <a:t>UPD</a:t>
            </a:r>
            <a:r>
              <a:rPr sz="1800" b="1" spc="-135" dirty="0">
                <a:solidFill>
                  <a:srgbClr val="FFFFFF"/>
                </a:solidFill>
                <a:latin typeface="Arial"/>
                <a:cs typeface="Arial"/>
              </a:rPr>
              <a:t>A</a:t>
            </a:r>
            <a:r>
              <a:rPr sz="1800" b="1" dirty="0">
                <a:solidFill>
                  <a:srgbClr val="FFFFFF"/>
                </a:solidFill>
                <a:latin typeface="Arial"/>
                <a:cs typeface="Arial"/>
              </a:rPr>
              <a:t>TE</a:t>
            </a:r>
            <a:endParaRPr sz="1800">
              <a:latin typeface="Arial"/>
              <a:cs typeface="Arial"/>
            </a:endParaRPr>
          </a:p>
          <a:p>
            <a:pPr>
              <a:lnSpc>
                <a:spcPct val="100000"/>
              </a:lnSpc>
            </a:pPr>
            <a:endParaRPr sz="2600">
              <a:latin typeface="Arial"/>
              <a:cs typeface="Arial"/>
            </a:endParaRPr>
          </a:p>
          <a:p>
            <a:pPr marL="12700">
              <a:lnSpc>
                <a:spcPct val="100000"/>
              </a:lnSpc>
              <a:spcBef>
                <a:spcPts val="5"/>
              </a:spcBef>
            </a:pPr>
            <a:r>
              <a:rPr sz="1800" b="1" dirty="0">
                <a:solidFill>
                  <a:srgbClr val="FFFFFF"/>
                </a:solidFill>
                <a:latin typeface="Arial"/>
                <a:cs typeface="Arial"/>
              </a:rPr>
              <a:t>DELETE</a:t>
            </a:r>
            <a:endParaRPr sz="1800">
              <a:latin typeface="Arial"/>
              <a:cs typeface="Arial"/>
            </a:endParaRPr>
          </a:p>
        </p:txBody>
      </p:sp>
      <p:sp>
        <p:nvSpPr>
          <p:cNvPr id="14" name="object 14"/>
          <p:cNvSpPr txBox="1"/>
          <p:nvPr/>
        </p:nvSpPr>
        <p:spPr>
          <a:xfrm>
            <a:off x="7853933" y="6569709"/>
            <a:ext cx="942975"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67" baseline="4629" dirty="0">
                <a:latin typeface="Arial"/>
                <a:cs typeface="Arial"/>
              </a:rPr>
              <a:t>10/</a:t>
            </a:r>
            <a:r>
              <a:rPr sz="1800" spc="-232" baseline="4629" dirty="0">
                <a:latin typeface="Arial"/>
                <a:cs typeface="Arial"/>
              </a:rPr>
              <a:t> </a:t>
            </a:r>
            <a:fld id="{81D60167-4931-47E6-BA6A-407CBD079E47}" type="slidenum">
              <a:rPr sz="1200" spc="-150" dirty="0">
                <a:latin typeface="Arial"/>
                <a:cs typeface="Arial"/>
              </a:rPr>
              <a:t>10</a:t>
            </a:fld>
            <a:endParaRPr sz="1200">
              <a:latin typeface="Arial"/>
              <a:cs typeface="Arial"/>
            </a:endParaRPr>
          </a:p>
        </p:txBody>
      </p:sp>
      <p:sp>
        <p:nvSpPr>
          <p:cNvPr id="15" name="object 15"/>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029" y="0"/>
            <a:ext cx="4512310" cy="635635"/>
          </a:xfrm>
          <a:prstGeom prst="rect">
            <a:avLst/>
          </a:prstGeom>
        </p:spPr>
        <p:txBody>
          <a:bodyPr vert="horz" wrap="square" lIns="0" tIns="12700" rIns="0" bIns="0" rtlCol="0">
            <a:spAutoFit/>
          </a:bodyPr>
          <a:lstStyle/>
          <a:p>
            <a:pPr marL="12700">
              <a:lnSpc>
                <a:spcPct val="100000"/>
              </a:lnSpc>
              <a:spcBef>
                <a:spcPts val="100"/>
              </a:spcBef>
            </a:pPr>
            <a:r>
              <a:rPr sz="4000" b="0" spc="50" dirty="0">
                <a:latin typeface="Arial"/>
                <a:cs typeface="Arial"/>
              </a:rPr>
              <a:t>INSERT </a:t>
            </a:r>
            <a:r>
              <a:rPr sz="4000" b="0" spc="180" dirty="0">
                <a:latin typeface="Arial"/>
                <a:cs typeface="Arial"/>
              </a:rPr>
              <a:t>with</a:t>
            </a:r>
            <a:r>
              <a:rPr sz="4000" b="0" spc="-645" dirty="0">
                <a:latin typeface="Arial"/>
                <a:cs typeface="Arial"/>
              </a:rPr>
              <a:t> </a:t>
            </a:r>
            <a:r>
              <a:rPr sz="4000" b="0" spc="25" dirty="0">
                <a:latin typeface="Arial"/>
                <a:cs typeface="Arial"/>
              </a:rPr>
              <a:t>Views</a:t>
            </a:r>
            <a:endParaRPr sz="4000">
              <a:latin typeface="Arial"/>
              <a:cs typeface="Arial"/>
            </a:endParaRPr>
          </a:p>
        </p:txBody>
      </p:sp>
      <p:sp>
        <p:nvSpPr>
          <p:cNvPr id="3" name="object 3"/>
          <p:cNvSpPr/>
          <p:nvPr/>
        </p:nvSpPr>
        <p:spPr>
          <a:xfrm>
            <a:off x="475487" y="1009650"/>
            <a:ext cx="8446770" cy="2726690"/>
          </a:xfrm>
          <a:custGeom>
            <a:avLst/>
            <a:gdLst/>
            <a:ahLst/>
            <a:cxnLst/>
            <a:rect l="l" t="t" r="r" b="b"/>
            <a:pathLst>
              <a:path w="8446770" h="2726690">
                <a:moveTo>
                  <a:pt x="8446769" y="0"/>
                </a:moveTo>
                <a:lnTo>
                  <a:pt x="0" y="0"/>
                </a:lnTo>
                <a:lnTo>
                  <a:pt x="0" y="2726436"/>
                </a:lnTo>
                <a:lnTo>
                  <a:pt x="8446769" y="2726436"/>
                </a:lnTo>
                <a:lnTo>
                  <a:pt x="8446769" y="0"/>
                </a:lnTo>
                <a:close/>
              </a:path>
            </a:pathLst>
          </a:custGeom>
          <a:solidFill>
            <a:srgbClr val="205868"/>
          </a:solidFill>
        </p:spPr>
        <p:txBody>
          <a:bodyPr wrap="square" lIns="0" tIns="0" rIns="0" bIns="0" rtlCol="0"/>
          <a:lstStyle/>
          <a:p>
            <a:endParaRPr/>
          </a:p>
        </p:txBody>
      </p:sp>
      <p:sp>
        <p:nvSpPr>
          <p:cNvPr id="4" name="object 4"/>
          <p:cNvSpPr txBox="1"/>
          <p:nvPr/>
        </p:nvSpPr>
        <p:spPr>
          <a:xfrm>
            <a:off x="538733" y="1223263"/>
            <a:ext cx="8321675" cy="2197396"/>
          </a:xfrm>
          <a:prstGeom prst="rect">
            <a:avLst/>
          </a:prstGeom>
        </p:spPr>
        <p:txBody>
          <a:bodyPr vert="horz" wrap="square" lIns="0" tIns="50165" rIns="0" bIns="0" rtlCol="0">
            <a:spAutoFit/>
          </a:bodyPr>
          <a:lstStyle/>
          <a:p>
            <a:pPr marL="355600" marR="5080" indent="-342900">
              <a:lnSpc>
                <a:spcPts val="2380"/>
              </a:lnSpc>
              <a:spcBef>
                <a:spcPts val="395"/>
              </a:spcBef>
              <a:buFont typeface="Wingdings"/>
              <a:buChar char=""/>
              <a:tabLst>
                <a:tab pos="355600" algn="l"/>
              </a:tabLst>
            </a:pPr>
            <a:r>
              <a:rPr sz="2200" spc="25" dirty="0">
                <a:solidFill>
                  <a:srgbClr val="FFFFFF"/>
                </a:solidFill>
                <a:latin typeface="Arial"/>
                <a:cs typeface="Arial"/>
              </a:rPr>
              <a:t>The INSERT </a:t>
            </a:r>
            <a:r>
              <a:rPr sz="2200" spc="-45" dirty="0">
                <a:solidFill>
                  <a:srgbClr val="FFFFFF"/>
                </a:solidFill>
                <a:latin typeface="Arial"/>
                <a:cs typeface="Arial"/>
              </a:rPr>
              <a:t>statement </a:t>
            </a:r>
            <a:r>
              <a:rPr sz="2200" spc="-55" dirty="0">
                <a:solidFill>
                  <a:srgbClr val="FFFFFF"/>
                </a:solidFill>
                <a:latin typeface="Arial"/>
                <a:cs typeface="Arial"/>
              </a:rPr>
              <a:t>is </a:t>
            </a:r>
            <a:r>
              <a:rPr sz="2200" spc="-100" dirty="0">
                <a:solidFill>
                  <a:srgbClr val="FFFFFF"/>
                </a:solidFill>
                <a:latin typeface="Arial"/>
                <a:cs typeface="Arial"/>
              </a:rPr>
              <a:t>used </a:t>
            </a:r>
            <a:r>
              <a:rPr sz="2200" spc="55" dirty="0">
                <a:solidFill>
                  <a:srgbClr val="FFFFFF"/>
                </a:solidFill>
                <a:latin typeface="Arial"/>
                <a:cs typeface="Arial"/>
              </a:rPr>
              <a:t>to </a:t>
            </a:r>
            <a:r>
              <a:rPr sz="2200" spc="-60" dirty="0">
                <a:solidFill>
                  <a:srgbClr val="FFFFFF"/>
                </a:solidFill>
                <a:latin typeface="Arial"/>
                <a:cs typeface="Arial"/>
              </a:rPr>
              <a:t>add </a:t>
            </a:r>
            <a:r>
              <a:rPr sz="2200" spc="-210" dirty="0">
                <a:solidFill>
                  <a:srgbClr val="FFFFFF"/>
                </a:solidFill>
                <a:latin typeface="Arial"/>
                <a:cs typeface="Arial"/>
              </a:rPr>
              <a:t>a </a:t>
            </a:r>
            <a:r>
              <a:rPr sz="2200" spc="-25" dirty="0">
                <a:solidFill>
                  <a:srgbClr val="FFFFFF"/>
                </a:solidFill>
                <a:latin typeface="Arial"/>
                <a:cs typeface="Arial"/>
              </a:rPr>
              <a:t>new </a:t>
            </a:r>
            <a:r>
              <a:rPr sz="2200" spc="40" dirty="0">
                <a:solidFill>
                  <a:srgbClr val="FFFFFF"/>
                </a:solidFill>
                <a:latin typeface="Arial"/>
                <a:cs typeface="Arial"/>
              </a:rPr>
              <a:t>row </a:t>
            </a:r>
            <a:r>
              <a:rPr sz="2200" spc="55" dirty="0">
                <a:solidFill>
                  <a:srgbClr val="FFFFFF"/>
                </a:solidFill>
                <a:latin typeface="Arial"/>
                <a:cs typeface="Arial"/>
              </a:rPr>
              <a:t>to </a:t>
            </a:r>
            <a:r>
              <a:rPr sz="2200" spc="-210">
                <a:solidFill>
                  <a:srgbClr val="FFFFFF"/>
                </a:solidFill>
                <a:latin typeface="Arial"/>
                <a:cs typeface="Arial"/>
              </a:rPr>
              <a:t>a </a:t>
            </a:r>
            <a:r>
              <a:rPr lang="en-US" sz="2200" spc="-210">
                <a:solidFill>
                  <a:srgbClr val="FFFFFF"/>
                </a:solidFill>
                <a:latin typeface="Arial"/>
                <a:cs typeface="Arial"/>
              </a:rPr>
              <a:t> </a:t>
            </a:r>
            <a:r>
              <a:rPr sz="2200" spc="-35">
                <a:solidFill>
                  <a:srgbClr val="FFFFFF"/>
                </a:solidFill>
                <a:latin typeface="Arial"/>
                <a:cs typeface="Arial"/>
              </a:rPr>
              <a:t>table </a:t>
            </a:r>
            <a:r>
              <a:rPr sz="2200" spc="30" dirty="0">
                <a:solidFill>
                  <a:srgbClr val="FFFFFF"/>
                </a:solidFill>
                <a:latin typeface="Arial"/>
                <a:cs typeface="Arial"/>
              </a:rPr>
              <a:t>or </a:t>
            </a:r>
            <a:r>
              <a:rPr sz="2200" spc="-210" dirty="0">
                <a:solidFill>
                  <a:srgbClr val="FFFFFF"/>
                </a:solidFill>
                <a:latin typeface="Arial"/>
                <a:cs typeface="Arial"/>
              </a:rPr>
              <a:t>a  </a:t>
            </a:r>
            <a:r>
              <a:rPr sz="2200" spc="-5" dirty="0">
                <a:solidFill>
                  <a:srgbClr val="FFFFFF"/>
                </a:solidFill>
                <a:latin typeface="Arial"/>
                <a:cs typeface="Arial"/>
              </a:rPr>
              <a:t>view.</a:t>
            </a:r>
            <a:endParaRPr sz="2200">
              <a:latin typeface="Arial"/>
              <a:cs typeface="Arial"/>
            </a:endParaRPr>
          </a:p>
          <a:p>
            <a:pPr marL="355600" indent="-342900">
              <a:lnSpc>
                <a:spcPts val="2205"/>
              </a:lnSpc>
              <a:buFont typeface="Wingdings"/>
              <a:buChar char=""/>
              <a:tabLst>
                <a:tab pos="355600" algn="l"/>
              </a:tabLst>
            </a:pPr>
            <a:r>
              <a:rPr sz="2200" spc="55" dirty="0">
                <a:solidFill>
                  <a:srgbClr val="FFFFFF"/>
                </a:solidFill>
                <a:latin typeface="Arial"/>
                <a:cs typeface="Arial"/>
              </a:rPr>
              <a:t>During</a:t>
            </a:r>
            <a:r>
              <a:rPr sz="2200" spc="-80" dirty="0">
                <a:solidFill>
                  <a:srgbClr val="FFFFFF"/>
                </a:solidFill>
                <a:latin typeface="Arial"/>
                <a:cs typeface="Arial"/>
              </a:rPr>
              <a:t> </a:t>
            </a:r>
            <a:r>
              <a:rPr sz="2200" dirty="0">
                <a:solidFill>
                  <a:srgbClr val="FFFFFF"/>
                </a:solidFill>
                <a:latin typeface="Arial"/>
                <a:cs typeface="Arial"/>
              </a:rPr>
              <a:t>the</a:t>
            </a:r>
            <a:r>
              <a:rPr sz="2200" spc="-85" dirty="0">
                <a:solidFill>
                  <a:srgbClr val="FFFFFF"/>
                </a:solidFill>
                <a:latin typeface="Arial"/>
                <a:cs typeface="Arial"/>
              </a:rPr>
              <a:t> </a:t>
            </a:r>
            <a:r>
              <a:rPr sz="2200" spc="-5" dirty="0">
                <a:solidFill>
                  <a:srgbClr val="FFFFFF"/>
                </a:solidFill>
                <a:latin typeface="Arial"/>
                <a:cs typeface="Arial"/>
              </a:rPr>
              <a:t>execution</a:t>
            </a:r>
            <a:r>
              <a:rPr sz="2200" spc="-75" dirty="0">
                <a:solidFill>
                  <a:srgbClr val="FFFFFF"/>
                </a:solidFill>
                <a:latin typeface="Arial"/>
                <a:cs typeface="Arial"/>
              </a:rPr>
              <a:t> </a:t>
            </a:r>
            <a:r>
              <a:rPr sz="2200" spc="60" dirty="0">
                <a:solidFill>
                  <a:srgbClr val="FFFFFF"/>
                </a:solidFill>
                <a:latin typeface="Arial"/>
                <a:cs typeface="Arial"/>
              </a:rPr>
              <a:t>of</a:t>
            </a:r>
            <a:r>
              <a:rPr sz="2200" spc="-70" dirty="0">
                <a:solidFill>
                  <a:srgbClr val="FFFFFF"/>
                </a:solidFill>
                <a:latin typeface="Arial"/>
                <a:cs typeface="Arial"/>
              </a:rPr>
              <a:t> </a:t>
            </a:r>
            <a:r>
              <a:rPr sz="2200" dirty="0">
                <a:solidFill>
                  <a:srgbClr val="FFFFFF"/>
                </a:solidFill>
                <a:latin typeface="Arial"/>
                <a:cs typeface="Arial"/>
              </a:rPr>
              <a:t>the</a:t>
            </a:r>
            <a:r>
              <a:rPr sz="2200" spc="-75" dirty="0">
                <a:solidFill>
                  <a:srgbClr val="FFFFFF"/>
                </a:solidFill>
                <a:latin typeface="Arial"/>
                <a:cs typeface="Arial"/>
              </a:rPr>
              <a:t> </a:t>
            </a:r>
            <a:r>
              <a:rPr sz="2200" spc="-45" dirty="0">
                <a:solidFill>
                  <a:srgbClr val="FFFFFF"/>
                </a:solidFill>
                <a:latin typeface="Arial"/>
                <a:cs typeface="Arial"/>
              </a:rPr>
              <a:t>statement,</a:t>
            </a:r>
            <a:r>
              <a:rPr sz="2200" spc="-65" dirty="0">
                <a:solidFill>
                  <a:srgbClr val="FFFFFF"/>
                </a:solidFill>
                <a:latin typeface="Arial"/>
                <a:cs typeface="Arial"/>
              </a:rPr>
              <a:t> </a:t>
            </a:r>
            <a:r>
              <a:rPr sz="2200" spc="140" dirty="0">
                <a:solidFill>
                  <a:srgbClr val="FFFFFF"/>
                </a:solidFill>
                <a:latin typeface="Arial"/>
                <a:cs typeface="Arial"/>
              </a:rPr>
              <a:t>if</a:t>
            </a:r>
            <a:r>
              <a:rPr sz="2200" spc="-75" dirty="0">
                <a:solidFill>
                  <a:srgbClr val="FFFFFF"/>
                </a:solidFill>
                <a:latin typeface="Arial"/>
                <a:cs typeface="Arial"/>
              </a:rPr>
              <a:t> </a:t>
            </a:r>
            <a:r>
              <a:rPr sz="2200" dirty="0">
                <a:solidFill>
                  <a:srgbClr val="FFFFFF"/>
                </a:solidFill>
                <a:latin typeface="Arial"/>
                <a:cs typeface="Arial"/>
              </a:rPr>
              <a:t>the</a:t>
            </a:r>
            <a:r>
              <a:rPr sz="2200" spc="-80" dirty="0">
                <a:solidFill>
                  <a:srgbClr val="FFFFFF"/>
                </a:solidFill>
                <a:latin typeface="Arial"/>
                <a:cs typeface="Arial"/>
              </a:rPr>
              <a:t> </a:t>
            </a:r>
            <a:r>
              <a:rPr sz="2200" spc="-40" dirty="0">
                <a:solidFill>
                  <a:srgbClr val="FFFFFF"/>
                </a:solidFill>
                <a:latin typeface="Arial"/>
                <a:cs typeface="Arial"/>
              </a:rPr>
              <a:t>value</a:t>
            </a:r>
            <a:r>
              <a:rPr sz="2200" spc="-75" dirty="0">
                <a:solidFill>
                  <a:srgbClr val="FFFFFF"/>
                </a:solidFill>
                <a:latin typeface="Arial"/>
                <a:cs typeface="Arial"/>
              </a:rPr>
              <a:t> </a:t>
            </a:r>
            <a:r>
              <a:rPr sz="2200" spc="70" dirty="0">
                <a:solidFill>
                  <a:srgbClr val="FFFFFF"/>
                </a:solidFill>
                <a:latin typeface="Arial"/>
                <a:cs typeface="Arial"/>
              </a:rPr>
              <a:t>for</a:t>
            </a:r>
            <a:r>
              <a:rPr sz="2200" spc="-70" dirty="0">
                <a:solidFill>
                  <a:srgbClr val="FFFFFF"/>
                </a:solidFill>
                <a:latin typeface="Arial"/>
                <a:cs typeface="Arial"/>
              </a:rPr>
              <a:t> </a:t>
            </a:r>
            <a:r>
              <a:rPr sz="2200" spc="-210" dirty="0">
                <a:solidFill>
                  <a:srgbClr val="FFFFFF"/>
                </a:solidFill>
                <a:latin typeface="Arial"/>
                <a:cs typeface="Arial"/>
              </a:rPr>
              <a:t>a</a:t>
            </a:r>
            <a:r>
              <a:rPr sz="2200" spc="-75" dirty="0">
                <a:solidFill>
                  <a:srgbClr val="FFFFFF"/>
                </a:solidFill>
                <a:latin typeface="Arial"/>
                <a:cs typeface="Arial"/>
              </a:rPr>
              <a:t> </a:t>
            </a:r>
            <a:r>
              <a:rPr sz="2200" spc="15" dirty="0">
                <a:solidFill>
                  <a:srgbClr val="FFFFFF"/>
                </a:solidFill>
                <a:latin typeface="Arial"/>
                <a:cs typeface="Arial"/>
              </a:rPr>
              <a:t>column</a:t>
            </a:r>
            <a:r>
              <a:rPr sz="2200" spc="-70" dirty="0">
                <a:solidFill>
                  <a:srgbClr val="FFFFFF"/>
                </a:solidFill>
                <a:latin typeface="Arial"/>
                <a:cs typeface="Arial"/>
              </a:rPr>
              <a:t> </a:t>
            </a:r>
            <a:r>
              <a:rPr sz="2200" spc="-60" dirty="0">
                <a:solidFill>
                  <a:srgbClr val="FFFFFF"/>
                </a:solidFill>
                <a:latin typeface="Arial"/>
                <a:cs typeface="Arial"/>
              </a:rPr>
              <a:t>is</a:t>
            </a:r>
            <a:endParaRPr sz="2200">
              <a:latin typeface="Arial"/>
              <a:cs typeface="Arial"/>
            </a:endParaRPr>
          </a:p>
          <a:p>
            <a:pPr marL="355600" marR="5080">
              <a:lnSpc>
                <a:spcPts val="2380"/>
              </a:lnSpc>
              <a:spcBef>
                <a:spcPts val="165"/>
              </a:spcBef>
            </a:pPr>
            <a:r>
              <a:rPr sz="2200" spc="65" dirty="0">
                <a:solidFill>
                  <a:srgbClr val="FFFFFF"/>
                </a:solidFill>
                <a:latin typeface="Arial"/>
                <a:cs typeface="Arial"/>
              </a:rPr>
              <a:t>not </a:t>
            </a:r>
            <a:r>
              <a:rPr sz="2200" dirty="0">
                <a:solidFill>
                  <a:srgbClr val="FFFFFF"/>
                </a:solidFill>
                <a:latin typeface="Arial"/>
                <a:cs typeface="Arial"/>
              </a:rPr>
              <a:t>provided, the </a:t>
            </a:r>
            <a:r>
              <a:rPr sz="2200" spc="25" dirty="0">
                <a:solidFill>
                  <a:srgbClr val="FFFFFF"/>
                </a:solidFill>
                <a:latin typeface="Arial"/>
                <a:cs typeface="Arial"/>
              </a:rPr>
              <a:t>SQL </a:t>
            </a:r>
            <a:r>
              <a:rPr sz="2200" spc="-55" dirty="0">
                <a:solidFill>
                  <a:srgbClr val="FFFFFF"/>
                </a:solidFill>
                <a:latin typeface="Arial"/>
                <a:cs typeface="Arial"/>
              </a:rPr>
              <a:t>Server </a:t>
            </a:r>
            <a:r>
              <a:rPr sz="2200" spc="-100" dirty="0">
                <a:solidFill>
                  <a:srgbClr val="FFFFFF"/>
                </a:solidFill>
                <a:latin typeface="Arial"/>
                <a:cs typeface="Arial"/>
              </a:rPr>
              <a:t>Database </a:t>
            </a:r>
            <a:r>
              <a:rPr sz="2200" spc="-35" dirty="0">
                <a:solidFill>
                  <a:srgbClr val="FFFFFF"/>
                </a:solidFill>
                <a:latin typeface="Arial"/>
                <a:cs typeface="Arial"/>
              </a:rPr>
              <a:t>Engine </a:t>
            </a:r>
            <a:r>
              <a:rPr sz="2200" spc="-20" dirty="0">
                <a:solidFill>
                  <a:srgbClr val="FFFFFF"/>
                </a:solidFill>
                <a:latin typeface="Arial"/>
                <a:cs typeface="Arial"/>
              </a:rPr>
              <a:t>must </a:t>
            </a:r>
            <a:r>
              <a:rPr sz="2200" spc="5" dirty="0">
                <a:solidFill>
                  <a:srgbClr val="FFFFFF"/>
                </a:solidFill>
                <a:latin typeface="Arial"/>
                <a:cs typeface="Arial"/>
              </a:rPr>
              <a:t>provide </a:t>
            </a:r>
            <a:r>
              <a:rPr sz="2200" spc="-210" dirty="0">
                <a:solidFill>
                  <a:srgbClr val="FFFFFF"/>
                </a:solidFill>
                <a:latin typeface="Arial"/>
                <a:cs typeface="Arial"/>
              </a:rPr>
              <a:t>a  </a:t>
            </a:r>
            <a:r>
              <a:rPr sz="2200" spc="-40" dirty="0">
                <a:solidFill>
                  <a:srgbClr val="FFFFFF"/>
                </a:solidFill>
                <a:latin typeface="Arial"/>
                <a:cs typeface="Arial"/>
              </a:rPr>
              <a:t>value</a:t>
            </a:r>
            <a:r>
              <a:rPr sz="2200" spc="-165" dirty="0">
                <a:solidFill>
                  <a:srgbClr val="FFFFFF"/>
                </a:solidFill>
                <a:latin typeface="Arial"/>
                <a:cs typeface="Arial"/>
              </a:rPr>
              <a:t> </a:t>
            </a:r>
            <a:r>
              <a:rPr sz="2200" spc="-130" dirty="0">
                <a:solidFill>
                  <a:srgbClr val="FFFFFF"/>
                </a:solidFill>
                <a:latin typeface="Arial"/>
                <a:cs typeface="Arial"/>
              </a:rPr>
              <a:t>based</a:t>
            </a:r>
            <a:r>
              <a:rPr sz="2200" spc="-165" dirty="0">
                <a:solidFill>
                  <a:srgbClr val="FFFFFF"/>
                </a:solidFill>
                <a:latin typeface="Arial"/>
                <a:cs typeface="Arial"/>
              </a:rPr>
              <a:t> </a:t>
            </a:r>
            <a:r>
              <a:rPr sz="2200" spc="25" dirty="0">
                <a:solidFill>
                  <a:srgbClr val="FFFFFF"/>
                </a:solidFill>
                <a:latin typeface="Arial"/>
                <a:cs typeface="Arial"/>
              </a:rPr>
              <a:t>on</a:t>
            </a:r>
            <a:r>
              <a:rPr sz="2200" spc="-165" dirty="0">
                <a:solidFill>
                  <a:srgbClr val="FFFFFF"/>
                </a:solidFill>
                <a:latin typeface="Arial"/>
                <a:cs typeface="Arial"/>
              </a:rPr>
              <a:t> </a:t>
            </a:r>
            <a:r>
              <a:rPr sz="2200" dirty="0">
                <a:solidFill>
                  <a:srgbClr val="FFFFFF"/>
                </a:solidFill>
                <a:latin typeface="Arial"/>
                <a:cs typeface="Arial"/>
              </a:rPr>
              <a:t>the</a:t>
            </a:r>
            <a:r>
              <a:rPr sz="2200" spc="-155" dirty="0">
                <a:solidFill>
                  <a:srgbClr val="FFFFFF"/>
                </a:solidFill>
                <a:latin typeface="Arial"/>
                <a:cs typeface="Arial"/>
              </a:rPr>
              <a:t> </a:t>
            </a:r>
            <a:r>
              <a:rPr sz="2200" spc="65" dirty="0">
                <a:solidFill>
                  <a:srgbClr val="FFFFFF"/>
                </a:solidFill>
                <a:latin typeface="Arial"/>
                <a:cs typeface="Arial"/>
              </a:rPr>
              <a:t>definition</a:t>
            </a:r>
            <a:r>
              <a:rPr sz="2200" spc="-170" dirty="0">
                <a:solidFill>
                  <a:srgbClr val="FFFFFF"/>
                </a:solidFill>
                <a:latin typeface="Arial"/>
                <a:cs typeface="Arial"/>
              </a:rPr>
              <a:t> </a:t>
            </a:r>
            <a:r>
              <a:rPr sz="2200" spc="60" dirty="0">
                <a:solidFill>
                  <a:srgbClr val="FFFFFF"/>
                </a:solidFill>
                <a:latin typeface="Arial"/>
                <a:cs typeface="Arial"/>
              </a:rPr>
              <a:t>of</a:t>
            </a:r>
            <a:r>
              <a:rPr sz="2200" spc="-155" dirty="0">
                <a:solidFill>
                  <a:srgbClr val="FFFFFF"/>
                </a:solidFill>
                <a:latin typeface="Arial"/>
                <a:cs typeface="Arial"/>
              </a:rPr>
              <a:t> </a:t>
            </a:r>
            <a:r>
              <a:rPr sz="2200" dirty="0">
                <a:solidFill>
                  <a:srgbClr val="FFFFFF"/>
                </a:solidFill>
                <a:latin typeface="Arial"/>
                <a:cs typeface="Arial"/>
              </a:rPr>
              <a:t>the</a:t>
            </a:r>
            <a:r>
              <a:rPr sz="2200" spc="-155" dirty="0">
                <a:solidFill>
                  <a:srgbClr val="FFFFFF"/>
                </a:solidFill>
                <a:latin typeface="Arial"/>
                <a:cs typeface="Arial"/>
              </a:rPr>
              <a:t> </a:t>
            </a:r>
            <a:r>
              <a:rPr sz="2200" spc="5" dirty="0">
                <a:solidFill>
                  <a:srgbClr val="FFFFFF"/>
                </a:solidFill>
                <a:latin typeface="Arial"/>
                <a:cs typeface="Arial"/>
              </a:rPr>
              <a:t>column.</a:t>
            </a:r>
            <a:endParaRPr sz="2200">
              <a:latin typeface="Arial"/>
              <a:cs typeface="Arial"/>
            </a:endParaRPr>
          </a:p>
          <a:p>
            <a:pPr marL="355600" indent="-342900">
              <a:lnSpc>
                <a:spcPct val="100000"/>
              </a:lnSpc>
              <a:spcBef>
                <a:spcPts val="2075"/>
              </a:spcBef>
              <a:buFont typeface="Wingdings"/>
              <a:buChar char=""/>
              <a:tabLst>
                <a:tab pos="355600" algn="l"/>
              </a:tabLst>
            </a:pPr>
            <a:r>
              <a:rPr sz="2200" spc="25" dirty="0">
                <a:solidFill>
                  <a:srgbClr val="FFFFFF"/>
                </a:solidFill>
                <a:latin typeface="Arial"/>
                <a:cs typeface="Arial"/>
              </a:rPr>
              <a:t>The</a:t>
            </a:r>
            <a:r>
              <a:rPr sz="2200" spc="-155" dirty="0">
                <a:solidFill>
                  <a:srgbClr val="FFFFFF"/>
                </a:solidFill>
                <a:latin typeface="Arial"/>
                <a:cs typeface="Arial"/>
              </a:rPr>
              <a:t> </a:t>
            </a:r>
            <a:r>
              <a:rPr sz="2200" spc="-40" dirty="0">
                <a:solidFill>
                  <a:srgbClr val="FFFFFF"/>
                </a:solidFill>
                <a:latin typeface="Arial"/>
                <a:cs typeface="Arial"/>
              </a:rPr>
              <a:t>value</a:t>
            </a:r>
            <a:r>
              <a:rPr sz="2200" spc="-155" dirty="0">
                <a:solidFill>
                  <a:srgbClr val="FFFFFF"/>
                </a:solidFill>
                <a:latin typeface="Arial"/>
                <a:cs typeface="Arial"/>
              </a:rPr>
              <a:t> </a:t>
            </a:r>
            <a:r>
              <a:rPr sz="2200" spc="70" dirty="0">
                <a:solidFill>
                  <a:srgbClr val="FFFFFF"/>
                </a:solidFill>
                <a:latin typeface="Arial"/>
                <a:cs typeface="Arial"/>
              </a:rPr>
              <a:t>for</a:t>
            </a:r>
            <a:r>
              <a:rPr sz="2200" spc="-160" dirty="0">
                <a:solidFill>
                  <a:srgbClr val="FFFFFF"/>
                </a:solidFill>
                <a:latin typeface="Arial"/>
                <a:cs typeface="Arial"/>
              </a:rPr>
              <a:t> </a:t>
            </a:r>
            <a:r>
              <a:rPr sz="2200" dirty="0">
                <a:solidFill>
                  <a:srgbClr val="FFFFFF"/>
                </a:solidFill>
                <a:latin typeface="Arial"/>
                <a:cs typeface="Arial"/>
              </a:rPr>
              <a:t>the</a:t>
            </a:r>
            <a:r>
              <a:rPr sz="2200" spc="-150" dirty="0">
                <a:solidFill>
                  <a:srgbClr val="FFFFFF"/>
                </a:solidFill>
                <a:latin typeface="Arial"/>
                <a:cs typeface="Arial"/>
              </a:rPr>
              <a:t> </a:t>
            </a:r>
            <a:r>
              <a:rPr sz="2200" spc="15" dirty="0">
                <a:solidFill>
                  <a:srgbClr val="FFFFFF"/>
                </a:solidFill>
                <a:latin typeface="Arial"/>
                <a:cs typeface="Arial"/>
              </a:rPr>
              <a:t>column</a:t>
            </a:r>
            <a:r>
              <a:rPr sz="2200" spc="-155" dirty="0">
                <a:solidFill>
                  <a:srgbClr val="FFFFFF"/>
                </a:solidFill>
                <a:latin typeface="Arial"/>
                <a:cs typeface="Arial"/>
              </a:rPr>
              <a:t> </a:t>
            </a:r>
            <a:r>
              <a:rPr sz="2200" spc="-55" dirty="0">
                <a:solidFill>
                  <a:srgbClr val="FFFFFF"/>
                </a:solidFill>
                <a:latin typeface="Arial"/>
                <a:cs typeface="Arial"/>
              </a:rPr>
              <a:t>is</a:t>
            </a:r>
            <a:r>
              <a:rPr sz="2200" spc="-150" dirty="0">
                <a:solidFill>
                  <a:srgbClr val="FFFFFF"/>
                </a:solidFill>
                <a:latin typeface="Arial"/>
                <a:cs typeface="Arial"/>
              </a:rPr>
              <a:t> </a:t>
            </a:r>
            <a:r>
              <a:rPr sz="2200" spc="10" dirty="0">
                <a:solidFill>
                  <a:srgbClr val="FFFFFF"/>
                </a:solidFill>
                <a:latin typeface="Arial"/>
                <a:cs typeface="Arial"/>
              </a:rPr>
              <a:t>provided</a:t>
            </a:r>
            <a:r>
              <a:rPr sz="2200" spc="-170" dirty="0">
                <a:solidFill>
                  <a:srgbClr val="FFFFFF"/>
                </a:solidFill>
                <a:latin typeface="Arial"/>
                <a:cs typeface="Arial"/>
              </a:rPr>
              <a:t> </a:t>
            </a:r>
            <a:r>
              <a:rPr sz="2200" spc="-5" dirty="0">
                <a:solidFill>
                  <a:srgbClr val="FFFFFF"/>
                </a:solidFill>
                <a:latin typeface="Arial"/>
                <a:cs typeface="Arial"/>
              </a:rPr>
              <a:t>automatically</a:t>
            </a:r>
            <a:r>
              <a:rPr sz="2200" spc="-165" dirty="0">
                <a:solidFill>
                  <a:srgbClr val="FFFFFF"/>
                </a:solidFill>
                <a:latin typeface="Arial"/>
                <a:cs typeface="Arial"/>
              </a:rPr>
              <a:t> </a:t>
            </a:r>
            <a:r>
              <a:rPr sz="2200" spc="140" dirty="0">
                <a:solidFill>
                  <a:srgbClr val="FFFFFF"/>
                </a:solidFill>
                <a:latin typeface="Arial"/>
                <a:cs typeface="Arial"/>
              </a:rPr>
              <a:t>if</a:t>
            </a:r>
            <a:r>
              <a:rPr sz="2200" spc="-150" dirty="0">
                <a:solidFill>
                  <a:srgbClr val="FFFFFF"/>
                </a:solidFill>
                <a:latin typeface="Arial"/>
                <a:cs typeface="Arial"/>
              </a:rPr>
              <a:t> </a:t>
            </a:r>
            <a:r>
              <a:rPr sz="2200" dirty="0">
                <a:solidFill>
                  <a:srgbClr val="FFFFFF"/>
                </a:solidFill>
                <a:latin typeface="Arial"/>
                <a:cs typeface="Arial"/>
              </a:rPr>
              <a:t>the</a:t>
            </a:r>
            <a:r>
              <a:rPr sz="2200" spc="-150" dirty="0">
                <a:solidFill>
                  <a:srgbClr val="FFFFFF"/>
                </a:solidFill>
                <a:latin typeface="Arial"/>
                <a:cs typeface="Arial"/>
              </a:rPr>
              <a:t> </a:t>
            </a:r>
            <a:r>
              <a:rPr sz="2200" spc="10" dirty="0">
                <a:solidFill>
                  <a:srgbClr val="FFFFFF"/>
                </a:solidFill>
                <a:latin typeface="Arial"/>
                <a:cs typeface="Arial"/>
              </a:rPr>
              <a:t>column:</a:t>
            </a:r>
            <a:endParaRPr sz="2200">
              <a:latin typeface="Arial"/>
              <a:cs typeface="Arial"/>
            </a:endParaRPr>
          </a:p>
        </p:txBody>
      </p:sp>
      <p:pic>
        <p:nvPicPr>
          <p:cNvPr id="5" name="object 5"/>
          <p:cNvPicPr/>
          <p:nvPr/>
        </p:nvPicPr>
        <p:blipFill>
          <a:blip r:embed="rId3" cstate="print"/>
          <a:stretch>
            <a:fillRect/>
          </a:stretch>
        </p:blipFill>
        <p:spPr>
          <a:xfrm>
            <a:off x="766572" y="3870197"/>
            <a:ext cx="7610856" cy="1647443"/>
          </a:xfrm>
          <a:prstGeom prst="rect">
            <a:avLst/>
          </a:prstGeom>
        </p:spPr>
      </p:pic>
      <p:sp>
        <p:nvSpPr>
          <p:cNvPr id="7" name="object 7"/>
          <p:cNvSpPr txBox="1"/>
          <p:nvPr/>
        </p:nvSpPr>
        <p:spPr>
          <a:xfrm>
            <a:off x="7853933" y="6569709"/>
            <a:ext cx="942975"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67" baseline="4629" dirty="0">
                <a:latin typeface="Arial"/>
                <a:cs typeface="Arial"/>
              </a:rPr>
              <a:t>10/</a:t>
            </a:r>
            <a:r>
              <a:rPr sz="1800" spc="-232" baseline="4629" dirty="0">
                <a:latin typeface="Arial"/>
                <a:cs typeface="Arial"/>
              </a:rPr>
              <a:t> </a:t>
            </a:r>
            <a:fld id="{81D60167-4931-47E6-BA6A-407CBD079E47}" type="slidenum">
              <a:rPr sz="1200" spc="-150" dirty="0">
                <a:latin typeface="Arial"/>
                <a:cs typeface="Arial"/>
              </a:rPr>
              <a:t>11</a:t>
            </a:fld>
            <a:endParaRPr sz="1200">
              <a:latin typeface="Arial"/>
              <a:cs typeface="Arial"/>
            </a:endParaRPr>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029" y="0"/>
            <a:ext cx="4512310" cy="635635"/>
          </a:xfrm>
          <a:prstGeom prst="rect">
            <a:avLst/>
          </a:prstGeom>
        </p:spPr>
        <p:txBody>
          <a:bodyPr vert="horz" wrap="square" lIns="0" tIns="12700" rIns="0" bIns="0" rtlCol="0">
            <a:spAutoFit/>
          </a:bodyPr>
          <a:lstStyle/>
          <a:p>
            <a:pPr marL="12700">
              <a:lnSpc>
                <a:spcPct val="100000"/>
              </a:lnSpc>
              <a:spcBef>
                <a:spcPts val="100"/>
              </a:spcBef>
            </a:pPr>
            <a:r>
              <a:rPr sz="4000" b="0" spc="50" dirty="0">
                <a:latin typeface="Arial"/>
                <a:cs typeface="Arial"/>
              </a:rPr>
              <a:t>INSERT </a:t>
            </a:r>
            <a:r>
              <a:rPr sz="4000" b="0" spc="180" dirty="0">
                <a:latin typeface="Arial"/>
                <a:cs typeface="Arial"/>
              </a:rPr>
              <a:t>with</a:t>
            </a:r>
            <a:r>
              <a:rPr sz="4000" b="0" spc="-645" dirty="0">
                <a:latin typeface="Arial"/>
                <a:cs typeface="Arial"/>
              </a:rPr>
              <a:t> </a:t>
            </a:r>
            <a:r>
              <a:rPr sz="4000" b="0" spc="25" dirty="0">
                <a:latin typeface="Arial"/>
                <a:cs typeface="Arial"/>
              </a:rPr>
              <a:t>Views</a:t>
            </a:r>
            <a:endParaRPr sz="4000">
              <a:latin typeface="Arial"/>
              <a:cs typeface="Arial"/>
            </a:endParaRPr>
          </a:p>
        </p:txBody>
      </p:sp>
      <p:sp>
        <p:nvSpPr>
          <p:cNvPr id="7" name="object 7"/>
          <p:cNvSpPr txBox="1"/>
          <p:nvPr/>
        </p:nvSpPr>
        <p:spPr>
          <a:xfrm>
            <a:off x="7853933" y="6569709"/>
            <a:ext cx="942975"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67" baseline="4629" dirty="0">
                <a:latin typeface="Arial"/>
                <a:cs typeface="Arial"/>
              </a:rPr>
              <a:t>10/</a:t>
            </a:r>
            <a:r>
              <a:rPr sz="1800" spc="-232" baseline="4629" dirty="0">
                <a:latin typeface="Arial"/>
                <a:cs typeface="Arial"/>
              </a:rPr>
              <a:t> </a:t>
            </a:r>
            <a:fld id="{81D60167-4931-47E6-BA6A-407CBD079E47}" type="slidenum">
              <a:rPr sz="1200" spc="-150" dirty="0">
                <a:latin typeface="Arial"/>
                <a:cs typeface="Arial"/>
              </a:rPr>
              <a:t>12</a:t>
            </a:fld>
            <a:endParaRPr sz="1200">
              <a:latin typeface="Arial"/>
              <a:cs typeface="Arial"/>
            </a:endParaRPr>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9" name="TextBox 8">
            <a:extLst>
              <a:ext uri="{FF2B5EF4-FFF2-40B4-BE49-F238E27FC236}">
                <a16:creationId xmlns:a16="http://schemas.microsoft.com/office/drawing/2014/main" id="{2AC90EA0-14E5-485A-9A8D-B1E47CC62AF0}"/>
              </a:ext>
            </a:extLst>
          </p:cNvPr>
          <p:cNvSpPr txBox="1"/>
          <p:nvPr/>
        </p:nvSpPr>
        <p:spPr>
          <a:xfrm>
            <a:off x="911541" y="1044000"/>
            <a:ext cx="7413879" cy="550920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600">
                <a:solidFill>
                  <a:srgbClr val="0000FF"/>
                </a:solidFill>
                <a:latin typeface="Consolas" panose="020B0609020204030204" pitchFamily="49" charset="0"/>
              </a:rPr>
              <a:t>USE</a:t>
            </a:r>
            <a:r>
              <a:rPr lang="en-US" sz="1600">
                <a:solidFill>
                  <a:srgbClr val="000000"/>
                </a:solidFill>
                <a:latin typeface="Consolas" panose="020B0609020204030204" pitchFamily="49" charset="0"/>
              </a:rPr>
              <a:t> StrongHold</a:t>
            </a:r>
          </a:p>
          <a:p>
            <a:r>
              <a:rPr lang="en-US" sz="1600">
                <a:solidFill>
                  <a:srgbClr val="0000FF"/>
                </a:solidFill>
                <a:latin typeface="Consolas" panose="020B0609020204030204" pitchFamily="49" charset="0"/>
              </a:rPr>
              <a:t>CREATE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TABLE</a:t>
            </a:r>
            <a:r>
              <a:rPr lang="en-US" sz="1600">
                <a:solidFill>
                  <a:srgbClr val="000000"/>
                </a:solidFill>
                <a:latin typeface="Consolas" panose="020B0609020204030204" pitchFamily="49" charset="0"/>
              </a:rPr>
              <a:t> Employee_Personal_Details</a:t>
            </a:r>
            <a:r>
              <a:rPr lang="en-US" sz="1600">
                <a:solidFill>
                  <a:srgbClr val="0000FF"/>
                </a:solidFill>
                <a:latin typeface="Consolas" panose="020B0609020204030204" pitchFamily="49" charset="0"/>
              </a:rPr>
              <a:t> </a:t>
            </a:r>
            <a:r>
              <a:rPr lang="en-US" sz="1600">
                <a:solidFill>
                  <a:srgbClr val="808080"/>
                </a:solidFill>
                <a:latin typeface="Consolas" panose="020B0609020204030204" pitchFamily="49" charset="0"/>
              </a:rPr>
              <a: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EmpID </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a:t>
            </a:r>
            <a:r>
              <a:rPr lang="en-US" sz="1600">
                <a:solidFill>
                  <a:srgbClr val="808080"/>
                </a:solidFill>
                <a:latin typeface="Consolas" panose="020B0609020204030204" pitchFamily="49" charset="0"/>
              </a:rPr>
              <a:t>NOT</a:t>
            </a:r>
            <a:r>
              <a:rPr lang="en-US" sz="1600">
                <a:solidFill>
                  <a:srgbClr val="000000"/>
                </a:solidFill>
                <a:latin typeface="Consolas" panose="020B0609020204030204" pitchFamily="49" charset="0"/>
              </a:rPr>
              <a:t> </a:t>
            </a:r>
            <a:r>
              <a:rPr lang="en-US" sz="1600">
                <a:solidFill>
                  <a:srgbClr val="808080"/>
                </a:solidFill>
                <a:latin typeface="Consolas" panose="020B0609020204030204" pitchFamily="49" charset="0"/>
              </a:rPr>
              <a:t>NULL,</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FirstName </a:t>
            </a:r>
            <a:r>
              <a:rPr lang="en-US" sz="1600">
                <a:solidFill>
                  <a:srgbClr val="0000FF"/>
                </a:solidFill>
                <a:latin typeface="Consolas" panose="020B0609020204030204" pitchFamily="49" charset="0"/>
              </a:rPr>
              <a:t>varchar</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30</a:t>
            </a:r>
            <a:r>
              <a:rPr lang="en-US" sz="1600">
                <a:solidFill>
                  <a:srgbClr val="808080"/>
                </a:solidFill>
                <a:latin typeface="Consolas" panose="020B0609020204030204" pitchFamily="49" charset="0"/>
              </a:rPr>
              <a:t>)NOT</a:t>
            </a:r>
            <a:r>
              <a:rPr lang="en-US" sz="1600">
                <a:solidFill>
                  <a:srgbClr val="000000"/>
                </a:solidFill>
                <a:latin typeface="Consolas" panose="020B0609020204030204" pitchFamily="49" charset="0"/>
              </a:rPr>
              <a:t> </a:t>
            </a:r>
            <a:r>
              <a:rPr lang="en-US" sz="1600">
                <a:solidFill>
                  <a:srgbClr val="808080"/>
                </a:solidFill>
                <a:latin typeface="Consolas" panose="020B0609020204030204" pitchFamily="49" charset="0"/>
              </a:rPr>
              <a:t>NULL,</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LastName </a:t>
            </a:r>
            <a:r>
              <a:rPr lang="en-US" sz="1600">
                <a:solidFill>
                  <a:srgbClr val="0000FF"/>
                </a:solidFill>
                <a:latin typeface="Consolas" panose="020B0609020204030204" pitchFamily="49" charset="0"/>
              </a:rPr>
              <a:t>varchar</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30</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 </a:t>
            </a:r>
            <a:r>
              <a:rPr lang="en-US" sz="1600">
                <a:solidFill>
                  <a:srgbClr val="808080"/>
                </a:solidFill>
                <a:latin typeface="Consolas" panose="020B0609020204030204" pitchFamily="49" charset="0"/>
              </a:rPr>
              <a:t>NOT</a:t>
            </a:r>
            <a:r>
              <a:rPr lang="en-US" sz="1600">
                <a:solidFill>
                  <a:srgbClr val="000000"/>
                </a:solidFill>
                <a:latin typeface="Consolas" panose="020B0609020204030204" pitchFamily="49" charset="0"/>
              </a:rPr>
              <a:t> </a:t>
            </a:r>
            <a:r>
              <a:rPr lang="en-US" sz="1600">
                <a:solidFill>
                  <a:srgbClr val="808080"/>
                </a:solidFill>
                <a:latin typeface="Consolas" panose="020B0609020204030204" pitchFamily="49" charset="0"/>
              </a:rPr>
              <a:t>NULL,</a:t>
            </a:r>
            <a:r>
              <a:rPr lang="en-US" sz="1600">
                <a:solidFill>
                  <a:srgbClr val="000000"/>
                </a:solidFill>
                <a:latin typeface="Consolas" panose="020B0609020204030204" pitchFamily="49" charset="0"/>
              </a:rPr>
              <a:t> </a:t>
            </a:r>
          </a:p>
          <a:p>
            <a:r>
              <a:rPr lang="en-US" sz="1600">
                <a:solidFill>
                  <a:srgbClr val="0000FF"/>
                </a:solidFill>
                <a:latin typeface="Consolas" panose="020B0609020204030204" pitchFamily="49" charset="0"/>
              </a:rPr>
              <a:t>Address</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varchar</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30</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 </a:t>
            </a:r>
            <a:r>
              <a:rPr lang="en-US" sz="1600">
                <a:solidFill>
                  <a:srgbClr val="808080"/>
                </a:solidFill>
                <a:latin typeface="Consolas" panose="020B0609020204030204" pitchFamily="49" charset="0"/>
              </a:rPr>
              <a:t>NULL</a:t>
            </a:r>
            <a:endParaRPr lang="en-US" sz="1600">
              <a:solidFill>
                <a:srgbClr val="000000"/>
              </a:solidFill>
              <a:latin typeface="Consolas" panose="020B0609020204030204" pitchFamily="49" charset="0"/>
            </a:endParaRPr>
          </a:p>
          <a:p>
            <a:r>
              <a:rPr lang="en-US" sz="1600">
                <a:solidFill>
                  <a:srgbClr val="808080"/>
                </a:solidFill>
                <a:latin typeface="Consolas" panose="020B0609020204030204" pitchFamily="49" charset="0"/>
              </a:rPr>
              <a:t>)</a:t>
            </a: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CREATE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TABLE</a:t>
            </a:r>
            <a:r>
              <a:rPr lang="en-US" sz="1600">
                <a:solidFill>
                  <a:srgbClr val="000000"/>
                </a:solidFill>
                <a:latin typeface="Consolas" panose="020B0609020204030204" pitchFamily="49" charset="0"/>
              </a:rPr>
              <a:t> Employee_Salary_Details</a:t>
            </a:r>
            <a:r>
              <a:rPr lang="en-US" sz="1600">
                <a:solidFill>
                  <a:srgbClr val="0000FF"/>
                </a:solidFill>
                <a:latin typeface="Consolas" panose="020B0609020204030204" pitchFamily="49" charset="0"/>
              </a:rPr>
              <a:t> </a:t>
            </a:r>
            <a:r>
              <a:rPr lang="en-US" sz="1600">
                <a:solidFill>
                  <a:srgbClr val="808080"/>
                </a:solidFill>
                <a:latin typeface="Consolas" panose="020B0609020204030204" pitchFamily="49" charset="0"/>
              </a:rPr>
              <a: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EmpID </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a:t>
            </a:r>
            <a:r>
              <a:rPr lang="en-US" sz="1600">
                <a:solidFill>
                  <a:srgbClr val="808080"/>
                </a:solidFill>
                <a:latin typeface="Consolas" panose="020B0609020204030204" pitchFamily="49" charset="0"/>
              </a:rPr>
              <a:t>NOT</a:t>
            </a:r>
            <a:r>
              <a:rPr lang="en-US" sz="1600">
                <a:solidFill>
                  <a:srgbClr val="000000"/>
                </a:solidFill>
                <a:latin typeface="Consolas" panose="020B0609020204030204" pitchFamily="49" charset="0"/>
              </a:rPr>
              <a:t> </a:t>
            </a:r>
            <a:r>
              <a:rPr lang="en-US" sz="1600">
                <a:solidFill>
                  <a:srgbClr val="808080"/>
                </a:solidFill>
                <a:latin typeface="Consolas" panose="020B0609020204030204" pitchFamily="49" charset="0"/>
              </a:rPr>
              <a:t>NULL,</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Designation </a:t>
            </a:r>
            <a:r>
              <a:rPr lang="en-US" sz="1600">
                <a:solidFill>
                  <a:srgbClr val="0000FF"/>
                </a:solidFill>
                <a:latin typeface="Consolas" panose="020B0609020204030204" pitchFamily="49" charset="0"/>
              </a:rPr>
              <a:t>varchar</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30</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Salary </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a:t>
            </a:r>
            <a:r>
              <a:rPr lang="en-US" sz="1600">
                <a:solidFill>
                  <a:srgbClr val="808080"/>
                </a:solidFill>
                <a:latin typeface="Consolas" panose="020B0609020204030204" pitchFamily="49" charset="0"/>
              </a:rPr>
              <a:t>NOT</a:t>
            </a:r>
            <a:r>
              <a:rPr lang="en-US" sz="1600">
                <a:solidFill>
                  <a:srgbClr val="000000"/>
                </a:solidFill>
                <a:latin typeface="Consolas" panose="020B0609020204030204" pitchFamily="49" charset="0"/>
              </a:rPr>
              <a:t> </a:t>
            </a:r>
            <a:r>
              <a:rPr lang="en-US" sz="1600">
                <a:solidFill>
                  <a:srgbClr val="808080"/>
                </a:solidFill>
                <a:latin typeface="Consolas" panose="020B0609020204030204" pitchFamily="49" charset="0"/>
              </a:rPr>
              <a:t>NULL</a:t>
            </a:r>
            <a:endParaRPr lang="en-US" sz="1600">
              <a:solidFill>
                <a:srgbClr val="000000"/>
              </a:solidFill>
              <a:latin typeface="Consolas" panose="020B0609020204030204" pitchFamily="49" charset="0"/>
            </a:endParaRPr>
          </a:p>
          <a:p>
            <a:r>
              <a:rPr lang="en-US" sz="1600">
                <a:solidFill>
                  <a:srgbClr val="808080"/>
                </a:solidFill>
                <a:latin typeface="Consolas" panose="020B0609020204030204" pitchFamily="49" charset="0"/>
              </a:rPr>
              <a:t>)</a:t>
            </a: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CREATE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VIEW</a:t>
            </a:r>
            <a:r>
              <a:rPr lang="en-US" sz="1600">
                <a:solidFill>
                  <a:srgbClr val="000000"/>
                </a:solidFill>
                <a:latin typeface="Consolas" panose="020B0609020204030204" pitchFamily="49" charset="0"/>
              </a:rPr>
              <a:t> vwEmployee_Personal_Details </a:t>
            </a:r>
          </a:p>
          <a:p>
            <a:r>
              <a:rPr lang="en-US" sz="1600">
                <a:solidFill>
                  <a:srgbClr val="0000FF"/>
                </a:solidFill>
                <a:latin typeface="Consolas" panose="020B0609020204030204" pitchFamily="49" charset="0"/>
              </a:rPr>
              <a:t>AS</a:t>
            </a: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SELECT</a:t>
            </a:r>
            <a:r>
              <a:rPr lang="en-US" sz="1600">
                <a:solidFill>
                  <a:srgbClr val="000000"/>
                </a:solidFill>
                <a:latin typeface="Consolas" panose="020B0609020204030204" pitchFamily="49" charset="0"/>
              </a:rPr>
              <a:t> e1</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EmpID</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FirstName</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LastName</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 Designation</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Salary </a:t>
            </a:r>
          </a:p>
          <a:p>
            <a:r>
              <a:rPr lang="en-US" sz="1600">
                <a:solidFill>
                  <a:srgbClr val="0000FF"/>
                </a:solidFill>
                <a:latin typeface="Consolas" panose="020B0609020204030204" pitchFamily="49" charset="0"/>
              </a:rPr>
              <a:t>FROM</a:t>
            </a:r>
            <a:r>
              <a:rPr lang="en-US" sz="1600">
                <a:solidFill>
                  <a:srgbClr val="000000"/>
                </a:solidFill>
                <a:latin typeface="Consolas" panose="020B0609020204030204" pitchFamily="49" charset="0"/>
              </a:rPr>
              <a:t> Employee_Personal_Details e1</a:t>
            </a:r>
          </a:p>
          <a:p>
            <a:r>
              <a:rPr lang="en-US" sz="1600">
                <a:solidFill>
                  <a:srgbClr val="808080"/>
                </a:solidFill>
                <a:latin typeface="Consolas" panose="020B0609020204030204" pitchFamily="49" charset="0"/>
              </a:rPr>
              <a:t>JOIN</a:t>
            </a:r>
            <a:r>
              <a:rPr lang="en-US" sz="1600">
                <a:solidFill>
                  <a:srgbClr val="000000"/>
                </a:solidFill>
                <a:latin typeface="Consolas" panose="020B0609020204030204" pitchFamily="49" charset="0"/>
              </a:rPr>
              <a:t> Employee_Salary_Details e2</a:t>
            </a:r>
          </a:p>
          <a:p>
            <a:r>
              <a:rPr lang="en-US" sz="1600">
                <a:solidFill>
                  <a:srgbClr val="0000FF"/>
                </a:solidFill>
                <a:latin typeface="Consolas" panose="020B0609020204030204" pitchFamily="49" charset="0"/>
              </a:rPr>
              <a:t>ON</a:t>
            </a:r>
            <a:r>
              <a:rPr lang="en-US" sz="1600">
                <a:solidFill>
                  <a:srgbClr val="000000"/>
                </a:solidFill>
                <a:latin typeface="Consolas" panose="020B0609020204030204" pitchFamily="49" charset="0"/>
              </a:rPr>
              <a:t> e1</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EmpID </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 e2</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EmpID</a:t>
            </a:r>
          </a:p>
          <a:p>
            <a:r>
              <a:rPr lang="en-US" sz="1600">
                <a:solidFill>
                  <a:srgbClr val="0000FF"/>
                </a:solidFill>
                <a:latin typeface="Consolas" panose="020B0609020204030204" pitchFamily="49" charset="0"/>
              </a:rPr>
              <a:t>CREATE</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VIEW</a:t>
            </a:r>
            <a:r>
              <a:rPr lang="en-US" sz="1600">
                <a:solidFill>
                  <a:srgbClr val="000000"/>
                </a:solidFill>
                <a:latin typeface="Consolas" panose="020B0609020204030204" pitchFamily="49" charset="0"/>
              </a:rPr>
              <a:t> vwEmpDetails </a:t>
            </a:r>
            <a:r>
              <a:rPr lang="en-US" sz="1600">
                <a:solidFill>
                  <a:srgbClr val="0000FF"/>
                </a:solidFill>
                <a:latin typeface="Consolas" panose="020B0609020204030204" pitchFamily="49" charset="0"/>
              </a:rPr>
              <a:t>AS</a:t>
            </a: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SELECT</a:t>
            </a:r>
            <a:r>
              <a:rPr lang="en-US" sz="1600">
                <a:solidFill>
                  <a:srgbClr val="000000"/>
                </a:solidFill>
                <a:latin typeface="Consolas" panose="020B0609020204030204" pitchFamily="49" charset="0"/>
              </a:rPr>
              <a:t> </a:t>
            </a:r>
            <a:r>
              <a:rPr lang="en-US" sz="1600">
                <a:solidFill>
                  <a:srgbClr val="808080"/>
                </a:solidFill>
                <a:latin typeface="Consolas" panose="020B0609020204030204" pitchFamily="49" charset="0"/>
              </a:rPr>
              <a:t>*</a:t>
            </a: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FROM</a:t>
            </a:r>
            <a:r>
              <a:rPr lang="en-US" sz="1600">
                <a:solidFill>
                  <a:srgbClr val="000000"/>
                </a:solidFill>
                <a:latin typeface="Consolas" panose="020B0609020204030204" pitchFamily="49" charset="0"/>
              </a:rPr>
              <a:t> Employee_Personal_Details</a:t>
            </a:r>
          </a:p>
          <a:p>
            <a:r>
              <a:rPr lang="en-US" sz="1600">
                <a:solidFill>
                  <a:srgbClr val="0000FF"/>
                </a:solidFill>
                <a:latin typeface="Consolas" panose="020B0609020204030204" pitchFamily="49" charset="0"/>
              </a:rPr>
              <a:t>INSERT</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INTO</a:t>
            </a:r>
            <a:r>
              <a:rPr lang="en-US" sz="1600">
                <a:solidFill>
                  <a:srgbClr val="000000"/>
                </a:solidFill>
                <a:latin typeface="Consolas" panose="020B0609020204030204" pitchFamily="49" charset="0"/>
              </a:rPr>
              <a:t> vwEmpDetails </a:t>
            </a:r>
            <a:r>
              <a:rPr lang="en-US" sz="1600">
                <a:solidFill>
                  <a:srgbClr val="0000FF"/>
                </a:solidFill>
                <a:latin typeface="Consolas" panose="020B0609020204030204" pitchFamily="49" charset="0"/>
              </a:rPr>
              <a:t>VALUES </a:t>
            </a:r>
            <a:r>
              <a:rPr lang="en-US" sz="1600">
                <a:solidFill>
                  <a:srgbClr val="808080"/>
                </a:solidFill>
                <a:latin typeface="Consolas" panose="020B0609020204030204" pitchFamily="49" charset="0"/>
              </a:rPr>
              <a:t>(</a:t>
            </a:r>
            <a:r>
              <a:rPr lang="en-US" sz="1600">
                <a:solidFill>
                  <a:srgbClr val="000000"/>
                </a:solidFill>
                <a:latin typeface="Consolas" panose="020B0609020204030204" pitchFamily="49" charset="0"/>
              </a:rPr>
              <a:t>1</a:t>
            </a:r>
            <a:r>
              <a:rPr lang="en-US" sz="1600">
                <a:solidFill>
                  <a:srgbClr val="808080"/>
                </a:solidFill>
                <a:latin typeface="Consolas" panose="020B0609020204030204" pitchFamily="49" charset="0"/>
              </a:rPr>
              <a:t>,</a:t>
            </a:r>
            <a:r>
              <a:rPr lang="en-US" sz="1600">
                <a:solidFill>
                  <a:srgbClr val="FF0000"/>
                </a:solidFill>
                <a:latin typeface="Consolas" panose="020B0609020204030204" pitchFamily="49" charset="0"/>
              </a:rPr>
              <a:t>'Jack'</a:t>
            </a:r>
            <a:r>
              <a:rPr lang="en-US" sz="1600">
                <a:solidFill>
                  <a:srgbClr val="808080"/>
                </a:solidFill>
                <a:latin typeface="Consolas" panose="020B0609020204030204" pitchFamily="49" charset="0"/>
              </a:rPr>
              <a:t>,</a:t>
            </a:r>
            <a:r>
              <a:rPr lang="en-US" sz="1600">
                <a:solidFill>
                  <a:srgbClr val="FF0000"/>
                </a:solidFill>
                <a:latin typeface="Consolas" panose="020B0609020204030204" pitchFamily="49" charset="0"/>
              </a:rPr>
              <a:t>'NYC'</a:t>
            </a:r>
            <a:r>
              <a:rPr lang="en-US" sz="1600">
                <a:solidFill>
                  <a:srgbClr val="808080"/>
                </a:solidFill>
                <a:latin typeface="Consolas" panose="020B0609020204030204" pitchFamily="49" charset="0"/>
              </a:rPr>
              <a:t>,</a:t>
            </a:r>
            <a:r>
              <a:rPr lang="en-US" sz="1600">
                <a:solidFill>
                  <a:srgbClr val="FF0000"/>
                </a:solidFill>
                <a:latin typeface="Consolas" panose="020B0609020204030204" pitchFamily="49" charset="0"/>
              </a:rPr>
              <a:t>'123 Florida'</a:t>
            </a:r>
            <a:r>
              <a:rPr lang="en-US" sz="1600">
                <a:solidFill>
                  <a:srgbClr val="808080"/>
                </a:solidFill>
                <a:latin typeface="Consolas" panose="020B0609020204030204" pitchFamily="49" charset="0"/>
              </a:rPr>
              <a:t>)</a:t>
            </a:r>
            <a:endParaRPr lang="en-US" sz="1600"/>
          </a:p>
        </p:txBody>
      </p:sp>
      <p:sp>
        <p:nvSpPr>
          <p:cNvPr id="6" name="TextBox 5">
            <a:extLst>
              <a:ext uri="{FF2B5EF4-FFF2-40B4-BE49-F238E27FC236}">
                <a16:creationId xmlns:a16="http://schemas.microsoft.com/office/drawing/2014/main" id="{9F4AC936-1189-4D89-82BE-836E546B3D06}"/>
              </a:ext>
            </a:extLst>
          </p:cNvPr>
          <p:cNvSpPr txBox="1"/>
          <p:nvPr/>
        </p:nvSpPr>
        <p:spPr>
          <a:xfrm>
            <a:off x="8381" y="685800"/>
            <a:ext cx="4577442" cy="400110"/>
          </a:xfrm>
          <a:prstGeom prst="rect">
            <a:avLst/>
          </a:prstGeom>
          <a:noFill/>
        </p:spPr>
        <p:txBody>
          <a:bodyPr wrap="square">
            <a:spAutoFit/>
          </a:bodyPr>
          <a:lstStyle/>
          <a:p>
            <a:pPr marL="285750" indent="-285750">
              <a:buFont typeface="Arial" panose="020B0604020202020204" pitchFamily="34" charset="0"/>
              <a:buChar char="•"/>
            </a:pPr>
            <a:r>
              <a:rPr lang="en-US" sz="2000">
                <a:latin typeface="Calibri" panose="020F0502020204030204" pitchFamily="34" charset="0"/>
                <a:cs typeface="Calibri" panose="020F0502020204030204" pitchFamily="34" charset="0"/>
              </a:rPr>
              <a:t>Example</a:t>
            </a:r>
            <a:endParaRPr lang="en-US" sz="2000"/>
          </a:p>
        </p:txBody>
      </p:sp>
    </p:spTree>
    <p:extLst>
      <p:ext uri="{BB962C8B-B14F-4D97-AF65-F5344CB8AC3E}">
        <p14:creationId xmlns:p14="http://schemas.microsoft.com/office/powerpoint/2010/main" val="2587856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029" y="0"/>
            <a:ext cx="4786630" cy="635635"/>
          </a:xfrm>
          <a:prstGeom prst="rect">
            <a:avLst/>
          </a:prstGeom>
        </p:spPr>
        <p:txBody>
          <a:bodyPr vert="horz" wrap="square" lIns="0" tIns="12700" rIns="0" bIns="0" rtlCol="0">
            <a:spAutoFit/>
          </a:bodyPr>
          <a:lstStyle/>
          <a:p>
            <a:pPr marL="12700">
              <a:lnSpc>
                <a:spcPct val="100000"/>
              </a:lnSpc>
              <a:spcBef>
                <a:spcPts val="100"/>
              </a:spcBef>
            </a:pPr>
            <a:r>
              <a:rPr sz="4000" b="0" spc="155" dirty="0">
                <a:latin typeface="Arial"/>
                <a:cs typeface="Arial"/>
              </a:rPr>
              <a:t>UPDATE </a:t>
            </a:r>
            <a:r>
              <a:rPr sz="4000" b="0" spc="180" dirty="0">
                <a:latin typeface="Arial"/>
                <a:cs typeface="Arial"/>
              </a:rPr>
              <a:t>with</a:t>
            </a:r>
            <a:r>
              <a:rPr sz="4000" b="0" spc="-775" dirty="0">
                <a:latin typeface="Arial"/>
                <a:cs typeface="Arial"/>
              </a:rPr>
              <a:t> </a:t>
            </a:r>
            <a:r>
              <a:rPr sz="4000" b="0" spc="25" dirty="0">
                <a:latin typeface="Arial"/>
                <a:cs typeface="Arial"/>
              </a:rPr>
              <a:t>Views</a:t>
            </a:r>
            <a:endParaRPr sz="4000">
              <a:latin typeface="Arial"/>
              <a:cs typeface="Arial"/>
            </a:endParaRPr>
          </a:p>
        </p:txBody>
      </p:sp>
      <p:sp>
        <p:nvSpPr>
          <p:cNvPr id="3" name="object 3"/>
          <p:cNvSpPr/>
          <p:nvPr/>
        </p:nvSpPr>
        <p:spPr>
          <a:xfrm>
            <a:off x="342138" y="914400"/>
            <a:ext cx="8460105" cy="1304290"/>
          </a:xfrm>
          <a:custGeom>
            <a:avLst/>
            <a:gdLst/>
            <a:ahLst/>
            <a:cxnLst/>
            <a:rect l="l" t="t" r="r" b="b"/>
            <a:pathLst>
              <a:path w="8460105" h="1304289">
                <a:moveTo>
                  <a:pt x="0" y="217297"/>
                </a:moveTo>
                <a:lnTo>
                  <a:pt x="5739" y="167471"/>
                </a:lnTo>
                <a:lnTo>
                  <a:pt x="22087" y="121733"/>
                </a:lnTo>
                <a:lnTo>
                  <a:pt x="47740" y="81386"/>
                </a:lnTo>
                <a:lnTo>
                  <a:pt x="81391" y="47736"/>
                </a:lnTo>
                <a:lnTo>
                  <a:pt x="121738" y="22085"/>
                </a:lnTo>
                <a:lnTo>
                  <a:pt x="167475" y="5738"/>
                </a:lnTo>
                <a:lnTo>
                  <a:pt x="217297" y="0"/>
                </a:lnTo>
                <a:lnTo>
                  <a:pt x="8242427" y="0"/>
                </a:lnTo>
                <a:lnTo>
                  <a:pt x="8292252" y="5738"/>
                </a:lnTo>
                <a:lnTo>
                  <a:pt x="8337990" y="22085"/>
                </a:lnTo>
                <a:lnTo>
                  <a:pt x="8378337" y="47736"/>
                </a:lnTo>
                <a:lnTo>
                  <a:pt x="8411987" y="81386"/>
                </a:lnTo>
                <a:lnTo>
                  <a:pt x="8437638" y="121733"/>
                </a:lnTo>
                <a:lnTo>
                  <a:pt x="8453985" y="167471"/>
                </a:lnTo>
                <a:lnTo>
                  <a:pt x="8459724" y="217297"/>
                </a:lnTo>
                <a:lnTo>
                  <a:pt x="8459724" y="1086485"/>
                </a:lnTo>
                <a:lnTo>
                  <a:pt x="8453985" y="1136310"/>
                </a:lnTo>
                <a:lnTo>
                  <a:pt x="8437638" y="1182048"/>
                </a:lnTo>
                <a:lnTo>
                  <a:pt x="8411987" y="1222395"/>
                </a:lnTo>
                <a:lnTo>
                  <a:pt x="8378337" y="1256045"/>
                </a:lnTo>
                <a:lnTo>
                  <a:pt x="8337990" y="1281696"/>
                </a:lnTo>
                <a:lnTo>
                  <a:pt x="8292252" y="1298043"/>
                </a:lnTo>
                <a:lnTo>
                  <a:pt x="8242427" y="1303782"/>
                </a:lnTo>
                <a:lnTo>
                  <a:pt x="217297" y="1303782"/>
                </a:lnTo>
                <a:lnTo>
                  <a:pt x="167475" y="1298043"/>
                </a:lnTo>
                <a:lnTo>
                  <a:pt x="121738" y="1281696"/>
                </a:lnTo>
                <a:lnTo>
                  <a:pt x="81391" y="1256045"/>
                </a:lnTo>
                <a:lnTo>
                  <a:pt x="47740" y="1222395"/>
                </a:lnTo>
                <a:lnTo>
                  <a:pt x="22087" y="1182048"/>
                </a:lnTo>
                <a:lnTo>
                  <a:pt x="5739" y="1136310"/>
                </a:lnTo>
                <a:lnTo>
                  <a:pt x="0" y="1086485"/>
                </a:lnTo>
                <a:lnTo>
                  <a:pt x="0" y="217297"/>
                </a:lnTo>
                <a:close/>
              </a:path>
            </a:pathLst>
          </a:custGeom>
          <a:ln w="38100">
            <a:solidFill>
              <a:srgbClr val="943735"/>
            </a:solidFill>
          </a:ln>
        </p:spPr>
        <p:txBody>
          <a:bodyPr wrap="square" lIns="0" tIns="0" rIns="0" bIns="0" rtlCol="0"/>
          <a:lstStyle/>
          <a:p>
            <a:endParaRPr/>
          </a:p>
        </p:txBody>
      </p:sp>
      <p:sp>
        <p:nvSpPr>
          <p:cNvPr id="4" name="object 4"/>
          <p:cNvSpPr txBox="1"/>
          <p:nvPr/>
        </p:nvSpPr>
        <p:spPr>
          <a:xfrm>
            <a:off x="484377" y="944879"/>
            <a:ext cx="7506334" cy="1137285"/>
          </a:xfrm>
          <a:prstGeom prst="rect">
            <a:avLst/>
          </a:prstGeom>
        </p:spPr>
        <p:txBody>
          <a:bodyPr vert="horz" wrap="square" lIns="0" tIns="12700" rIns="0" bIns="0" rtlCol="0">
            <a:spAutoFit/>
          </a:bodyPr>
          <a:lstStyle/>
          <a:p>
            <a:pPr marL="12700">
              <a:lnSpc>
                <a:spcPct val="100000"/>
              </a:lnSpc>
              <a:spcBef>
                <a:spcPts val="100"/>
              </a:spcBef>
            </a:pPr>
            <a:r>
              <a:rPr sz="2400" spc="90" dirty="0">
                <a:latin typeface="Arial"/>
                <a:cs typeface="Arial"/>
              </a:rPr>
              <a:t>UPDATE</a:t>
            </a:r>
            <a:r>
              <a:rPr sz="2400" spc="-165" dirty="0">
                <a:latin typeface="Arial"/>
                <a:cs typeface="Arial"/>
              </a:rPr>
              <a:t> </a:t>
            </a:r>
            <a:r>
              <a:rPr sz="2400" spc="-45" dirty="0">
                <a:latin typeface="Arial"/>
                <a:cs typeface="Arial"/>
              </a:rPr>
              <a:t>statement</a:t>
            </a:r>
            <a:r>
              <a:rPr sz="2400" spc="-160" dirty="0">
                <a:latin typeface="Arial"/>
                <a:cs typeface="Arial"/>
              </a:rPr>
              <a:t> </a:t>
            </a:r>
            <a:r>
              <a:rPr sz="2400" spc="-90" dirty="0">
                <a:latin typeface="Arial"/>
                <a:cs typeface="Arial"/>
              </a:rPr>
              <a:t>can</a:t>
            </a:r>
            <a:r>
              <a:rPr sz="2400" spc="-150" dirty="0">
                <a:latin typeface="Arial"/>
                <a:cs typeface="Arial"/>
              </a:rPr>
              <a:t> </a:t>
            </a:r>
            <a:r>
              <a:rPr sz="2400" spc="-120" dirty="0">
                <a:latin typeface="Arial"/>
                <a:cs typeface="Arial"/>
              </a:rPr>
              <a:t>be</a:t>
            </a:r>
            <a:r>
              <a:rPr sz="2400" spc="-170" dirty="0">
                <a:latin typeface="Arial"/>
                <a:cs typeface="Arial"/>
              </a:rPr>
              <a:t> </a:t>
            </a:r>
            <a:r>
              <a:rPr sz="2400" spc="-105" dirty="0">
                <a:latin typeface="Arial"/>
                <a:cs typeface="Arial"/>
              </a:rPr>
              <a:t>used</a:t>
            </a:r>
            <a:r>
              <a:rPr sz="2400" spc="-165" dirty="0">
                <a:latin typeface="Arial"/>
                <a:cs typeface="Arial"/>
              </a:rPr>
              <a:t> </a:t>
            </a:r>
            <a:r>
              <a:rPr sz="2400" spc="65" dirty="0">
                <a:latin typeface="Arial"/>
                <a:cs typeface="Arial"/>
              </a:rPr>
              <a:t>to</a:t>
            </a:r>
            <a:r>
              <a:rPr sz="2400" spc="-160" dirty="0">
                <a:latin typeface="Arial"/>
                <a:cs typeface="Arial"/>
              </a:rPr>
              <a:t> </a:t>
            </a:r>
            <a:r>
              <a:rPr sz="2400" spc="-95" dirty="0">
                <a:latin typeface="Arial"/>
                <a:cs typeface="Arial"/>
              </a:rPr>
              <a:t>change</a:t>
            </a:r>
            <a:r>
              <a:rPr sz="2400" spc="-155" dirty="0">
                <a:latin typeface="Arial"/>
                <a:cs typeface="Arial"/>
              </a:rPr>
              <a:t> </a:t>
            </a:r>
            <a:r>
              <a:rPr sz="2400" spc="-75" dirty="0">
                <a:latin typeface="Arial"/>
                <a:cs typeface="Arial"/>
              </a:rPr>
              <a:t>data</a:t>
            </a:r>
            <a:r>
              <a:rPr sz="2400" spc="-145" dirty="0">
                <a:latin typeface="Arial"/>
                <a:cs typeface="Arial"/>
              </a:rPr>
              <a:t> </a:t>
            </a:r>
            <a:r>
              <a:rPr sz="2400" spc="114" dirty="0">
                <a:latin typeface="Arial"/>
                <a:cs typeface="Arial"/>
              </a:rPr>
              <a:t>in</a:t>
            </a:r>
            <a:r>
              <a:rPr sz="2400" spc="-155" dirty="0">
                <a:latin typeface="Arial"/>
                <a:cs typeface="Arial"/>
              </a:rPr>
              <a:t> </a:t>
            </a:r>
            <a:r>
              <a:rPr sz="2400" spc="-229" dirty="0">
                <a:latin typeface="Arial"/>
                <a:cs typeface="Arial"/>
              </a:rPr>
              <a:t>a</a:t>
            </a:r>
            <a:r>
              <a:rPr sz="2400" spc="-155" dirty="0">
                <a:latin typeface="Arial"/>
                <a:cs typeface="Arial"/>
              </a:rPr>
              <a:t> </a:t>
            </a:r>
            <a:r>
              <a:rPr sz="2400" spc="-5" dirty="0">
                <a:latin typeface="Arial"/>
                <a:cs typeface="Arial"/>
              </a:rPr>
              <a:t>view.</a:t>
            </a:r>
            <a:endParaRPr sz="2400">
              <a:latin typeface="Arial"/>
              <a:cs typeface="Arial"/>
            </a:endParaRPr>
          </a:p>
          <a:p>
            <a:pPr marL="12700">
              <a:lnSpc>
                <a:spcPct val="100000"/>
              </a:lnSpc>
              <a:spcBef>
                <a:spcPts val="2995"/>
              </a:spcBef>
            </a:pPr>
            <a:r>
              <a:rPr sz="2400" spc="25" dirty="0">
                <a:latin typeface="Arial"/>
                <a:cs typeface="Arial"/>
              </a:rPr>
              <a:t>Updating</a:t>
            </a:r>
            <a:r>
              <a:rPr sz="2400" spc="-155" dirty="0">
                <a:latin typeface="Arial"/>
                <a:cs typeface="Arial"/>
              </a:rPr>
              <a:t> </a:t>
            </a:r>
            <a:r>
              <a:rPr sz="2400" spc="-229" dirty="0">
                <a:latin typeface="Arial"/>
                <a:cs typeface="Arial"/>
              </a:rPr>
              <a:t>a</a:t>
            </a:r>
            <a:r>
              <a:rPr sz="2400" spc="-150" dirty="0">
                <a:latin typeface="Arial"/>
                <a:cs typeface="Arial"/>
              </a:rPr>
              <a:t> </a:t>
            </a:r>
            <a:r>
              <a:rPr sz="2400" spc="10" dirty="0">
                <a:latin typeface="Arial"/>
                <a:cs typeface="Arial"/>
              </a:rPr>
              <a:t>view</a:t>
            </a:r>
            <a:r>
              <a:rPr sz="2400" spc="-155" dirty="0">
                <a:latin typeface="Arial"/>
                <a:cs typeface="Arial"/>
              </a:rPr>
              <a:t> </a:t>
            </a:r>
            <a:r>
              <a:rPr sz="2400" spc="-95" dirty="0">
                <a:latin typeface="Arial"/>
                <a:cs typeface="Arial"/>
              </a:rPr>
              <a:t>also</a:t>
            </a:r>
            <a:r>
              <a:rPr sz="2400" spc="-155" dirty="0">
                <a:latin typeface="Arial"/>
                <a:cs typeface="Arial"/>
              </a:rPr>
              <a:t> </a:t>
            </a:r>
            <a:r>
              <a:rPr sz="2400" spc="-70" dirty="0">
                <a:latin typeface="Arial"/>
                <a:cs typeface="Arial"/>
              </a:rPr>
              <a:t>updates</a:t>
            </a:r>
            <a:r>
              <a:rPr sz="2400" spc="-150" dirty="0">
                <a:latin typeface="Arial"/>
                <a:cs typeface="Arial"/>
              </a:rPr>
              <a:t> </a:t>
            </a:r>
            <a:r>
              <a:rPr sz="2400" spc="20" dirty="0">
                <a:latin typeface="Arial"/>
                <a:cs typeface="Arial"/>
              </a:rPr>
              <a:t>underlying</a:t>
            </a:r>
            <a:r>
              <a:rPr sz="2400" spc="-145" dirty="0">
                <a:latin typeface="Arial"/>
                <a:cs typeface="Arial"/>
              </a:rPr>
              <a:t> </a:t>
            </a:r>
            <a:r>
              <a:rPr sz="2400" spc="-40" dirty="0">
                <a:latin typeface="Arial"/>
                <a:cs typeface="Arial"/>
              </a:rPr>
              <a:t>table.</a:t>
            </a:r>
            <a:endParaRPr sz="2400">
              <a:latin typeface="Arial"/>
              <a:cs typeface="Arial"/>
            </a:endParaRPr>
          </a:p>
        </p:txBody>
      </p:sp>
      <p:sp>
        <p:nvSpPr>
          <p:cNvPr id="5" name="object 5"/>
          <p:cNvSpPr/>
          <p:nvPr/>
        </p:nvSpPr>
        <p:spPr>
          <a:xfrm>
            <a:off x="432816" y="2494026"/>
            <a:ext cx="8254365" cy="735330"/>
          </a:xfrm>
          <a:custGeom>
            <a:avLst/>
            <a:gdLst/>
            <a:ahLst/>
            <a:cxnLst/>
            <a:rect l="l" t="t" r="r" b="b"/>
            <a:pathLst>
              <a:path w="8254365" h="735330">
                <a:moveTo>
                  <a:pt x="7886319" y="0"/>
                </a:moveTo>
                <a:lnTo>
                  <a:pt x="367665" y="0"/>
                </a:lnTo>
                <a:lnTo>
                  <a:pt x="321544" y="2864"/>
                </a:lnTo>
                <a:lnTo>
                  <a:pt x="277134" y="11227"/>
                </a:lnTo>
                <a:lnTo>
                  <a:pt x="234778" y="24745"/>
                </a:lnTo>
                <a:lnTo>
                  <a:pt x="194821" y="43074"/>
                </a:lnTo>
                <a:lnTo>
                  <a:pt x="157608" y="65868"/>
                </a:lnTo>
                <a:lnTo>
                  <a:pt x="123482" y="92784"/>
                </a:lnTo>
                <a:lnTo>
                  <a:pt x="92788" y="123477"/>
                </a:lnTo>
                <a:lnTo>
                  <a:pt x="65872" y="157602"/>
                </a:lnTo>
                <a:lnTo>
                  <a:pt x="43076" y="194816"/>
                </a:lnTo>
                <a:lnTo>
                  <a:pt x="24747" y="234773"/>
                </a:lnTo>
                <a:lnTo>
                  <a:pt x="11228" y="277130"/>
                </a:lnTo>
                <a:lnTo>
                  <a:pt x="2864" y="321542"/>
                </a:lnTo>
                <a:lnTo>
                  <a:pt x="0" y="367664"/>
                </a:lnTo>
                <a:lnTo>
                  <a:pt x="2864" y="413787"/>
                </a:lnTo>
                <a:lnTo>
                  <a:pt x="11228" y="458199"/>
                </a:lnTo>
                <a:lnTo>
                  <a:pt x="24747" y="500556"/>
                </a:lnTo>
                <a:lnTo>
                  <a:pt x="43076" y="540513"/>
                </a:lnTo>
                <a:lnTo>
                  <a:pt x="65872" y="577727"/>
                </a:lnTo>
                <a:lnTo>
                  <a:pt x="92788" y="611852"/>
                </a:lnTo>
                <a:lnTo>
                  <a:pt x="123482" y="642545"/>
                </a:lnTo>
                <a:lnTo>
                  <a:pt x="157608" y="669461"/>
                </a:lnTo>
                <a:lnTo>
                  <a:pt x="194821" y="692255"/>
                </a:lnTo>
                <a:lnTo>
                  <a:pt x="234778" y="710584"/>
                </a:lnTo>
                <a:lnTo>
                  <a:pt x="277134" y="724102"/>
                </a:lnTo>
                <a:lnTo>
                  <a:pt x="321544" y="732465"/>
                </a:lnTo>
                <a:lnTo>
                  <a:pt x="367665" y="735329"/>
                </a:lnTo>
                <a:lnTo>
                  <a:pt x="7886319" y="735329"/>
                </a:lnTo>
                <a:lnTo>
                  <a:pt x="7932441" y="732465"/>
                </a:lnTo>
                <a:lnTo>
                  <a:pt x="7976853" y="724102"/>
                </a:lnTo>
                <a:lnTo>
                  <a:pt x="8019210" y="710584"/>
                </a:lnTo>
                <a:lnTo>
                  <a:pt x="8059167" y="692255"/>
                </a:lnTo>
                <a:lnTo>
                  <a:pt x="8096381" y="669461"/>
                </a:lnTo>
                <a:lnTo>
                  <a:pt x="8130506" y="642545"/>
                </a:lnTo>
                <a:lnTo>
                  <a:pt x="8161199" y="611852"/>
                </a:lnTo>
                <a:lnTo>
                  <a:pt x="8188115" y="577727"/>
                </a:lnTo>
                <a:lnTo>
                  <a:pt x="8210909" y="540513"/>
                </a:lnTo>
                <a:lnTo>
                  <a:pt x="8229238" y="500556"/>
                </a:lnTo>
                <a:lnTo>
                  <a:pt x="8242756" y="458199"/>
                </a:lnTo>
                <a:lnTo>
                  <a:pt x="8251119" y="413787"/>
                </a:lnTo>
                <a:lnTo>
                  <a:pt x="8253983" y="367664"/>
                </a:lnTo>
                <a:lnTo>
                  <a:pt x="8251119" y="321542"/>
                </a:lnTo>
                <a:lnTo>
                  <a:pt x="8242756" y="277130"/>
                </a:lnTo>
                <a:lnTo>
                  <a:pt x="8229238" y="234773"/>
                </a:lnTo>
                <a:lnTo>
                  <a:pt x="8210909" y="194816"/>
                </a:lnTo>
                <a:lnTo>
                  <a:pt x="8188115" y="157602"/>
                </a:lnTo>
                <a:lnTo>
                  <a:pt x="8161199" y="123477"/>
                </a:lnTo>
                <a:lnTo>
                  <a:pt x="8130506" y="92784"/>
                </a:lnTo>
                <a:lnTo>
                  <a:pt x="8096381" y="65868"/>
                </a:lnTo>
                <a:lnTo>
                  <a:pt x="8059167" y="43074"/>
                </a:lnTo>
                <a:lnTo>
                  <a:pt x="8019210" y="24745"/>
                </a:lnTo>
                <a:lnTo>
                  <a:pt x="7976853" y="11227"/>
                </a:lnTo>
                <a:lnTo>
                  <a:pt x="7932441" y="2864"/>
                </a:lnTo>
                <a:lnTo>
                  <a:pt x="7886319" y="0"/>
                </a:lnTo>
                <a:close/>
              </a:path>
            </a:pathLst>
          </a:custGeom>
          <a:solidFill>
            <a:srgbClr val="0580C3"/>
          </a:solidFill>
        </p:spPr>
        <p:txBody>
          <a:bodyPr wrap="square" lIns="0" tIns="0" rIns="0" bIns="0" rtlCol="0"/>
          <a:lstStyle/>
          <a:p>
            <a:endParaRPr/>
          </a:p>
        </p:txBody>
      </p:sp>
      <p:sp>
        <p:nvSpPr>
          <p:cNvPr id="6" name="object 6"/>
          <p:cNvSpPr/>
          <p:nvPr/>
        </p:nvSpPr>
        <p:spPr>
          <a:xfrm>
            <a:off x="389381" y="3437382"/>
            <a:ext cx="8282305" cy="624840"/>
          </a:xfrm>
          <a:custGeom>
            <a:avLst/>
            <a:gdLst/>
            <a:ahLst/>
            <a:cxnLst/>
            <a:rect l="l" t="t" r="r" b="b"/>
            <a:pathLst>
              <a:path w="8282305" h="624839">
                <a:moveTo>
                  <a:pt x="7969758" y="0"/>
                </a:moveTo>
                <a:lnTo>
                  <a:pt x="312420" y="0"/>
                </a:lnTo>
                <a:lnTo>
                  <a:pt x="266253" y="3386"/>
                </a:lnTo>
                <a:lnTo>
                  <a:pt x="222189" y="13223"/>
                </a:lnTo>
                <a:lnTo>
                  <a:pt x="180712" y="29029"/>
                </a:lnTo>
                <a:lnTo>
                  <a:pt x="142305" y="50320"/>
                </a:lnTo>
                <a:lnTo>
                  <a:pt x="107450" y="76615"/>
                </a:lnTo>
                <a:lnTo>
                  <a:pt x="76632" y="107429"/>
                </a:lnTo>
                <a:lnTo>
                  <a:pt x="50333" y="142282"/>
                </a:lnTo>
                <a:lnTo>
                  <a:pt x="29037" y="180690"/>
                </a:lnTo>
                <a:lnTo>
                  <a:pt x="13227" y="222171"/>
                </a:lnTo>
                <a:lnTo>
                  <a:pt x="3387" y="266241"/>
                </a:lnTo>
                <a:lnTo>
                  <a:pt x="0" y="312420"/>
                </a:lnTo>
                <a:lnTo>
                  <a:pt x="3387" y="358598"/>
                </a:lnTo>
                <a:lnTo>
                  <a:pt x="13227" y="402668"/>
                </a:lnTo>
                <a:lnTo>
                  <a:pt x="29037" y="444149"/>
                </a:lnTo>
                <a:lnTo>
                  <a:pt x="50333" y="482557"/>
                </a:lnTo>
                <a:lnTo>
                  <a:pt x="76632" y="517410"/>
                </a:lnTo>
                <a:lnTo>
                  <a:pt x="107450" y="548224"/>
                </a:lnTo>
                <a:lnTo>
                  <a:pt x="142305" y="574519"/>
                </a:lnTo>
                <a:lnTo>
                  <a:pt x="180712" y="595810"/>
                </a:lnTo>
                <a:lnTo>
                  <a:pt x="222189" y="611616"/>
                </a:lnTo>
                <a:lnTo>
                  <a:pt x="266253" y="621453"/>
                </a:lnTo>
                <a:lnTo>
                  <a:pt x="312420" y="624840"/>
                </a:lnTo>
                <a:lnTo>
                  <a:pt x="7969758" y="624840"/>
                </a:lnTo>
                <a:lnTo>
                  <a:pt x="8015936" y="621453"/>
                </a:lnTo>
                <a:lnTo>
                  <a:pt x="8060006" y="611616"/>
                </a:lnTo>
                <a:lnTo>
                  <a:pt x="8101487" y="595810"/>
                </a:lnTo>
                <a:lnTo>
                  <a:pt x="8139895" y="574519"/>
                </a:lnTo>
                <a:lnTo>
                  <a:pt x="8174748" y="548224"/>
                </a:lnTo>
                <a:lnTo>
                  <a:pt x="8205562" y="517410"/>
                </a:lnTo>
                <a:lnTo>
                  <a:pt x="8231857" y="482557"/>
                </a:lnTo>
                <a:lnTo>
                  <a:pt x="8253148" y="444149"/>
                </a:lnTo>
                <a:lnTo>
                  <a:pt x="8268954" y="402668"/>
                </a:lnTo>
                <a:lnTo>
                  <a:pt x="8278791" y="358598"/>
                </a:lnTo>
                <a:lnTo>
                  <a:pt x="8282178" y="312420"/>
                </a:lnTo>
                <a:lnTo>
                  <a:pt x="8278791" y="266241"/>
                </a:lnTo>
                <a:lnTo>
                  <a:pt x="8268954" y="222171"/>
                </a:lnTo>
                <a:lnTo>
                  <a:pt x="8253148" y="180690"/>
                </a:lnTo>
                <a:lnTo>
                  <a:pt x="8231857" y="142282"/>
                </a:lnTo>
                <a:lnTo>
                  <a:pt x="8205562" y="107429"/>
                </a:lnTo>
                <a:lnTo>
                  <a:pt x="8174748" y="76615"/>
                </a:lnTo>
                <a:lnTo>
                  <a:pt x="8139895" y="50320"/>
                </a:lnTo>
                <a:lnTo>
                  <a:pt x="8101487" y="29029"/>
                </a:lnTo>
                <a:lnTo>
                  <a:pt x="8060006" y="13223"/>
                </a:lnTo>
                <a:lnTo>
                  <a:pt x="8015936" y="3386"/>
                </a:lnTo>
                <a:lnTo>
                  <a:pt x="7969758" y="0"/>
                </a:lnTo>
                <a:close/>
              </a:path>
            </a:pathLst>
          </a:custGeom>
          <a:solidFill>
            <a:srgbClr val="06A297"/>
          </a:solidFill>
        </p:spPr>
        <p:txBody>
          <a:bodyPr wrap="square" lIns="0" tIns="0" rIns="0" bIns="0" rtlCol="0"/>
          <a:lstStyle/>
          <a:p>
            <a:endParaRPr/>
          </a:p>
        </p:txBody>
      </p:sp>
      <p:sp>
        <p:nvSpPr>
          <p:cNvPr id="7" name="object 7"/>
          <p:cNvSpPr/>
          <p:nvPr/>
        </p:nvSpPr>
        <p:spPr>
          <a:xfrm>
            <a:off x="404622" y="5099303"/>
            <a:ext cx="8252459" cy="945515"/>
          </a:xfrm>
          <a:custGeom>
            <a:avLst/>
            <a:gdLst/>
            <a:ahLst/>
            <a:cxnLst/>
            <a:rect l="l" t="t" r="r" b="b"/>
            <a:pathLst>
              <a:path w="8252459" h="945514">
                <a:moveTo>
                  <a:pt x="7780020" y="0"/>
                </a:moveTo>
                <a:lnTo>
                  <a:pt x="472440" y="0"/>
                </a:lnTo>
                <a:lnTo>
                  <a:pt x="424135" y="2439"/>
                </a:lnTo>
                <a:lnTo>
                  <a:pt x="377226" y="9600"/>
                </a:lnTo>
                <a:lnTo>
                  <a:pt x="331950" y="21245"/>
                </a:lnTo>
                <a:lnTo>
                  <a:pt x="288544" y="37135"/>
                </a:lnTo>
                <a:lnTo>
                  <a:pt x="247247" y="57033"/>
                </a:lnTo>
                <a:lnTo>
                  <a:pt x="208294" y="80702"/>
                </a:lnTo>
                <a:lnTo>
                  <a:pt x="171924" y="107902"/>
                </a:lnTo>
                <a:lnTo>
                  <a:pt x="138374" y="138398"/>
                </a:lnTo>
                <a:lnTo>
                  <a:pt x="107882" y="171950"/>
                </a:lnTo>
                <a:lnTo>
                  <a:pt x="80685" y="208322"/>
                </a:lnTo>
                <a:lnTo>
                  <a:pt x="57020" y="247275"/>
                </a:lnTo>
                <a:lnTo>
                  <a:pt x="37126" y="288571"/>
                </a:lnTo>
                <a:lnTo>
                  <a:pt x="21239" y="331974"/>
                </a:lnTo>
                <a:lnTo>
                  <a:pt x="9598" y="377245"/>
                </a:lnTo>
                <a:lnTo>
                  <a:pt x="2439" y="424146"/>
                </a:lnTo>
                <a:lnTo>
                  <a:pt x="0" y="472440"/>
                </a:lnTo>
                <a:lnTo>
                  <a:pt x="2439" y="520746"/>
                </a:lnTo>
                <a:lnTo>
                  <a:pt x="9599" y="567657"/>
                </a:lnTo>
                <a:lnTo>
                  <a:pt x="21242" y="612935"/>
                </a:lnTo>
                <a:lnTo>
                  <a:pt x="37130" y="656342"/>
                </a:lnTo>
                <a:lnTo>
                  <a:pt x="57026" y="697641"/>
                </a:lnTo>
                <a:lnTo>
                  <a:pt x="80692" y="736595"/>
                </a:lnTo>
                <a:lnTo>
                  <a:pt x="107891" y="772966"/>
                </a:lnTo>
                <a:lnTo>
                  <a:pt x="138386" y="806516"/>
                </a:lnTo>
                <a:lnTo>
                  <a:pt x="171939" y="837009"/>
                </a:lnTo>
                <a:lnTo>
                  <a:pt x="208314" y="864206"/>
                </a:lnTo>
                <a:lnTo>
                  <a:pt x="247272" y="887871"/>
                </a:lnTo>
                <a:lnTo>
                  <a:pt x="288579" y="907765"/>
                </a:lnTo>
                <a:lnTo>
                  <a:pt x="331999" y="923652"/>
                </a:lnTo>
                <a:lnTo>
                  <a:pt x="377309" y="935294"/>
                </a:lnTo>
                <a:lnTo>
                  <a:pt x="424135" y="942440"/>
                </a:lnTo>
                <a:lnTo>
                  <a:pt x="472440" y="944880"/>
                </a:lnTo>
                <a:lnTo>
                  <a:pt x="7780020" y="944892"/>
                </a:lnTo>
                <a:lnTo>
                  <a:pt x="7828396" y="942440"/>
                </a:lnTo>
                <a:lnTo>
                  <a:pt x="7875264" y="935281"/>
                </a:lnTo>
                <a:lnTo>
                  <a:pt x="7920520" y="923640"/>
                </a:lnTo>
                <a:lnTo>
                  <a:pt x="7963914" y="907753"/>
                </a:lnTo>
                <a:lnTo>
                  <a:pt x="8005205" y="887859"/>
                </a:lnTo>
                <a:lnTo>
                  <a:pt x="8044153" y="864194"/>
                </a:lnTo>
                <a:lnTo>
                  <a:pt x="8080522" y="836997"/>
                </a:lnTo>
                <a:lnTo>
                  <a:pt x="8114071" y="806505"/>
                </a:lnTo>
                <a:lnTo>
                  <a:pt x="8144564" y="772955"/>
                </a:lnTo>
                <a:lnTo>
                  <a:pt x="8171763" y="736585"/>
                </a:lnTo>
                <a:lnTo>
                  <a:pt x="8195430" y="697632"/>
                </a:lnTo>
                <a:lnTo>
                  <a:pt x="8215327" y="656335"/>
                </a:lnTo>
                <a:lnTo>
                  <a:pt x="8231216" y="612929"/>
                </a:lnTo>
                <a:lnTo>
                  <a:pt x="8242859" y="567653"/>
                </a:lnTo>
                <a:lnTo>
                  <a:pt x="8250020" y="520744"/>
                </a:lnTo>
                <a:lnTo>
                  <a:pt x="8252459" y="472440"/>
                </a:lnTo>
                <a:lnTo>
                  <a:pt x="8250021" y="424146"/>
                </a:lnTo>
                <a:lnTo>
                  <a:pt x="8242864" y="377245"/>
                </a:lnTo>
                <a:lnTo>
                  <a:pt x="8231225" y="331974"/>
                </a:lnTo>
                <a:lnTo>
                  <a:pt x="8215342" y="288571"/>
                </a:lnTo>
                <a:lnTo>
                  <a:pt x="8195451" y="247275"/>
                </a:lnTo>
                <a:lnTo>
                  <a:pt x="8171791" y="208322"/>
                </a:lnTo>
                <a:lnTo>
                  <a:pt x="8144598" y="171950"/>
                </a:lnTo>
                <a:lnTo>
                  <a:pt x="8114109" y="138398"/>
                </a:lnTo>
                <a:lnTo>
                  <a:pt x="8080562" y="107902"/>
                </a:lnTo>
                <a:lnTo>
                  <a:pt x="8044193" y="80702"/>
                </a:lnTo>
                <a:lnTo>
                  <a:pt x="8005241" y="57033"/>
                </a:lnTo>
                <a:lnTo>
                  <a:pt x="7963941" y="37135"/>
                </a:lnTo>
                <a:lnTo>
                  <a:pt x="7920532" y="21245"/>
                </a:lnTo>
                <a:lnTo>
                  <a:pt x="7875251" y="9600"/>
                </a:lnTo>
                <a:lnTo>
                  <a:pt x="7828334" y="2439"/>
                </a:lnTo>
                <a:lnTo>
                  <a:pt x="7780020" y="0"/>
                </a:lnTo>
                <a:close/>
              </a:path>
            </a:pathLst>
          </a:custGeom>
          <a:solidFill>
            <a:srgbClr val="90C220"/>
          </a:solidFill>
        </p:spPr>
        <p:txBody>
          <a:bodyPr wrap="square" lIns="0" tIns="0" rIns="0" bIns="0" rtlCol="0"/>
          <a:lstStyle/>
          <a:p>
            <a:endParaRPr/>
          </a:p>
        </p:txBody>
      </p:sp>
      <p:sp>
        <p:nvSpPr>
          <p:cNvPr id="8" name="object 8"/>
          <p:cNvSpPr/>
          <p:nvPr/>
        </p:nvSpPr>
        <p:spPr>
          <a:xfrm>
            <a:off x="446531" y="4261103"/>
            <a:ext cx="8251190" cy="629920"/>
          </a:xfrm>
          <a:custGeom>
            <a:avLst/>
            <a:gdLst/>
            <a:ahLst/>
            <a:cxnLst/>
            <a:rect l="l" t="t" r="r" b="b"/>
            <a:pathLst>
              <a:path w="8251190" h="629920">
                <a:moveTo>
                  <a:pt x="7936230" y="0"/>
                </a:moveTo>
                <a:lnTo>
                  <a:pt x="314706" y="0"/>
                </a:lnTo>
                <a:lnTo>
                  <a:pt x="268199" y="3410"/>
                </a:lnTo>
                <a:lnTo>
                  <a:pt x="223812" y="13319"/>
                </a:lnTo>
                <a:lnTo>
                  <a:pt x="182031" y="29240"/>
                </a:lnTo>
                <a:lnTo>
                  <a:pt x="143343" y="50687"/>
                </a:lnTo>
                <a:lnTo>
                  <a:pt x="108233" y="77173"/>
                </a:lnTo>
                <a:lnTo>
                  <a:pt x="77190" y="108213"/>
                </a:lnTo>
                <a:lnTo>
                  <a:pt x="50699" y="143320"/>
                </a:lnTo>
                <a:lnTo>
                  <a:pt x="29248" y="182009"/>
                </a:lnTo>
                <a:lnTo>
                  <a:pt x="13323" y="223794"/>
                </a:lnTo>
                <a:lnTo>
                  <a:pt x="3412" y="268188"/>
                </a:lnTo>
                <a:lnTo>
                  <a:pt x="0" y="314706"/>
                </a:lnTo>
                <a:lnTo>
                  <a:pt x="3412" y="361223"/>
                </a:lnTo>
                <a:lnTo>
                  <a:pt x="13323" y="405617"/>
                </a:lnTo>
                <a:lnTo>
                  <a:pt x="29248" y="447402"/>
                </a:lnTo>
                <a:lnTo>
                  <a:pt x="50699" y="486091"/>
                </a:lnTo>
                <a:lnTo>
                  <a:pt x="77190" y="521198"/>
                </a:lnTo>
                <a:lnTo>
                  <a:pt x="108233" y="552238"/>
                </a:lnTo>
                <a:lnTo>
                  <a:pt x="143343" y="578724"/>
                </a:lnTo>
                <a:lnTo>
                  <a:pt x="182031" y="600171"/>
                </a:lnTo>
                <a:lnTo>
                  <a:pt x="223812" y="616092"/>
                </a:lnTo>
                <a:lnTo>
                  <a:pt x="268199" y="626001"/>
                </a:lnTo>
                <a:lnTo>
                  <a:pt x="314706" y="629412"/>
                </a:lnTo>
                <a:lnTo>
                  <a:pt x="7936230" y="629412"/>
                </a:lnTo>
                <a:lnTo>
                  <a:pt x="7982747" y="626001"/>
                </a:lnTo>
                <a:lnTo>
                  <a:pt x="8027141" y="616092"/>
                </a:lnTo>
                <a:lnTo>
                  <a:pt x="8068926" y="600171"/>
                </a:lnTo>
                <a:lnTo>
                  <a:pt x="8107615" y="578724"/>
                </a:lnTo>
                <a:lnTo>
                  <a:pt x="8142722" y="552238"/>
                </a:lnTo>
                <a:lnTo>
                  <a:pt x="8173762" y="521198"/>
                </a:lnTo>
                <a:lnTo>
                  <a:pt x="8200248" y="486091"/>
                </a:lnTo>
                <a:lnTo>
                  <a:pt x="8221695" y="447402"/>
                </a:lnTo>
                <a:lnTo>
                  <a:pt x="8237616" y="405617"/>
                </a:lnTo>
                <a:lnTo>
                  <a:pt x="8247525" y="361223"/>
                </a:lnTo>
                <a:lnTo>
                  <a:pt x="8250935" y="314706"/>
                </a:lnTo>
                <a:lnTo>
                  <a:pt x="8247525" y="268188"/>
                </a:lnTo>
                <a:lnTo>
                  <a:pt x="8237616" y="223794"/>
                </a:lnTo>
                <a:lnTo>
                  <a:pt x="8221695" y="182009"/>
                </a:lnTo>
                <a:lnTo>
                  <a:pt x="8200248" y="143320"/>
                </a:lnTo>
                <a:lnTo>
                  <a:pt x="8173762" y="108213"/>
                </a:lnTo>
                <a:lnTo>
                  <a:pt x="8142722" y="77173"/>
                </a:lnTo>
                <a:lnTo>
                  <a:pt x="8107615" y="50687"/>
                </a:lnTo>
                <a:lnTo>
                  <a:pt x="8068926" y="29240"/>
                </a:lnTo>
                <a:lnTo>
                  <a:pt x="8027141" y="13319"/>
                </a:lnTo>
                <a:lnTo>
                  <a:pt x="7982747" y="3410"/>
                </a:lnTo>
                <a:lnTo>
                  <a:pt x="7936230" y="0"/>
                </a:lnTo>
                <a:close/>
              </a:path>
            </a:pathLst>
          </a:custGeom>
          <a:solidFill>
            <a:srgbClr val="057971"/>
          </a:solidFill>
        </p:spPr>
        <p:txBody>
          <a:bodyPr wrap="square" lIns="0" tIns="0" rIns="0" bIns="0" rtlCol="0"/>
          <a:lstStyle/>
          <a:p>
            <a:endParaRPr/>
          </a:p>
        </p:txBody>
      </p:sp>
      <p:sp>
        <p:nvSpPr>
          <p:cNvPr id="9" name="object 9"/>
          <p:cNvSpPr txBox="1"/>
          <p:nvPr/>
        </p:nvSpPr>
        <p:spPr>
          <a:xfrm>
            <a:off x="742695" y="2699003"/>
            <a:ext cx="7675880" cy="3147695"/>
          </a:xfrm>
          <a:prstGeom prst="rect">
            <a:avLst/>
          </a:prstGeom>
        </p:spPr>
        <p:txBody>
          <a:bodyPr vert="horz" wrap="square" lIns="0" tIns="12700" rIns="0" bIns="0" rtlCol="0">
            <a:spAutoFit/>
          </a:bodyPr>
          <a:lstStyle/>
          <a:p>
            <a:pPr marL="72390">
              <a:lnSpc>
                <a:spcPct val="100000"/>
              </a:lnSpc>
              <a:spcBef>
                <a:spcPts val="100"/>
              </a:spcBef>
            </a:pPr>
            <a:r>
              <a:rPr sz="1800" spc="-5" dirty="0">
                <a:solidFill>
                  <a:srgbClr val="FFFFFF"/>
                </a:solidFill>
                <a:latin typeface="Calibri"/>
                <a:cs typeface="Calibri"/>
              </a:rPr>
              <a:t>The value of </a:t>
            </a:r>
            <a:r>
              <a:rPr sz="1800" dirty="0">
                <a:solidFill>
                  <a:srgbClr val="FFFFFF"/>
                </a:solidFill>
                <a:latin typeface="Calibri"/>
                <a:cs typeface="Calibri"/>
              </a:rPr>
              <a:t>a </a:t>
            </a:r>
            <a:r>
              <a:rPr sz="1800" spc="-10" dirty="0">
                <a:solidFill>
                  <a:srgbClr val="FFFFFF"/>
                </a:solidFill>
                <a:latin typeface="Calibri"/>
                <a:cs typeface="Calibri"/>
              </a:rPr>
              <a:t>column </a:t>
            </a:r>
            <a:r>
              <a:rPr sz="1800" spc="-5" dirty="0">
                <a:solidFill>
                  <a:srgbClr val="FFFFFF"/>
                </a:solidFill>
                <a:latin typeface="Calibri"/>
                <a:cs typeface="Calibri"/>
              </a:rPr>
              <a:t>with </a:t>
            </a:r>
            <a:r>
              <a:rPr sz="1800" dirty="0">
                <a:solidFill>
                  <a:srgbClr val="FFFFFF"/>
                </a:solidFill>
                <a:latin typeface="Calibri"/>
                <a:cs typeface="Calibri"/>
              </a:rPr>
              <a:t>an </a:t>
            </a:r>
            <a:r>
              <a:rPr sz="1800" spc="-5" dirty="0">
                <a:solidFill>
                  <a:srgbClr val="FFFFFF"/>
                </a:solidFill>
                <a:latin typeface="Calibri"/>
                <a:cs typeface="Calibri"/>
              </a:rPr>
              <a:t>IDENTITY </a:t>
            </a:r>
            <a:r>
              <a:rPr sz="1800" spc="-10" dirty="0">
                <a:solidFill>
                  <a:srgbClr val="FFFFFF"/>
                </a:solidFill>
                <a:latin typeface="Calibri"/>
                <a:cs typeface="Calibri"/>
              </a:rPr>
              <a:t>property </a:t>
            </a:r>
            <a:r>
              <a:rPr sz="1800" spc="-5" dirty="0">
                <a:solidFill>
                  <a:srgbClr val="FFFFFF"/>
                </a:solidFill>
                <a:latin typeface="Calibri"/>
                <a:cs typeface="Calibri"/>
              </a:rPr>
              <a:t>cannot be</a:t>
            </a:r>
            <a:r>
              <a:rPr sz="1800" spc="95" dirty="0">
                <a:solidFill>
                  <a:srgbClr val="FFFFFF"/>
                </a:solidFill>
                <a:latin typeface="Calibri"/>
                <a:cs typeface="Calibri"/>
              </a:rPr>
              <a:t> </a:t>
            </a:r>
            <a:r>
              <a:rPr sz="1800" spc="-10" dirty="0">
                <a:solidFill>
                  <a:srgbClr val="FFFFFF"/>
                </a:solidFill>
                <a:latin typeface="Calibri"/>
                <a:cs typeface="Calibri"/>
              </a:rPr>
              <a:t>updated.</a:t>
            </a:r>
            <a:endParaRPr sz="1800">
              <a:latin typeface="Calibri"/>
              <a:cs typeface="Calibri"/>
            </a:endParaRPr>
          </a:p>
          <a:p>
            <a:pPr>
              <a:lnSpc>
                <a:spcPct val="100000"/>
              </a:lnSpc>
            </a:pPr>
            <a:endParaRPr sz="1800">
              <a:latin typeface="Calibri"/>
              <a:cs typeface="Calibri"/>
            </a:endParaRPr>
          </a:p>
          <a:p>
            <a:pPr>
              <a:lnSpc>
                <a:spcPct val="100000"/>
              </a:lnSpc>
              <a:spcBef>
                <a:spcPts val="10"/>
              </a:spcBef>
            </a:pPr>
            <a:endParaRPr sz="2150">
              <a:latin typeface="Calibri"/>
              <a:cs typeface="Calibri"/>
            </a:endParaRPr>
          </a:p>
          <a:p>
            <a:pPr marL="12700">
              <a:lnSpc>
                <a:spcPct val="100000"/>
              </a:lnSpc>
            </a:pPr>
            <a:r>
              <a:rPr sz="1800" spc="-15" dirty="0">
                <a:solidFill>
                  <a:srgbClr val="FFFFFF"/>
                </a:solidFill>
                <a:latin typeface="Calibri"/>
                <a:cs typeface="Calibri"/>
              </a:rPr>
              <a:t>Records </a:t>
            </a:r>
            <a:r>
              <a:rPr sz="1800" spc="-5" dirty="0">
                <a:solidFill>
                  <a:srgbClr val="FFFFFF"/>
                </a:solidFill>
                <a:latin typeface="Calibri"/>
                <a:cs typeface="Calibri"/>
              </a:rPr>
              <a:t>cannot be </a:t>
            </a:r>
            <a:r>
              <a:rPr sz="1800" spc="-10" dirty="0">
                <a:solidFill>
                  <a:srgbClr val="FFFFFF"/>
                </a:solidFill>
                <a:latin typeface="Calibri"/>
                <a:cs typeface="Calibri"/>
              </a:rPr>
              <a:t>updated </a:t>
            </a:r>
            <a:r>
              <a:rPr sz="1800" dirty="0">
                <a:solidFill>
                  <a:srgbClr val="FFFFFF"/>
                </a:solidFill>
                <a:latin typeface="Calibri"/>
                <a:cs typeface="Calibri"/>
              </a:rPr>
              <a:t>if the </a:t>
            </a:r>
            <a:r>
              <a:rPr sz="1800" spc="-5" dirty="0">
                <a:solidFill>
                  <a:srgbClr val="FFFFFF"/>
                </a:solidFill>
                <a:latin typeface="Calibri"/>
                <a:cs typeface="Calibri"/>
              </a:rPr>
              <a:t>base </a:t>
            </a:r>
            <a:r>
              <a:rPr sz="1800" spc="-10" dirty="0">
                <a:solidFill>
                  <a:srgbClr val="FFFFFF"/>
                </a:solidFill>
                <a:latin typeface="Calibri"/>
                <a:cs typeface="Calibri"/>
              </a:rPr>
              <a:t>table contains </a:t>
            </a:r>
            <a:r>
              <a:rPr sz="1800" dirty="0">
                <a:solidFill>
                  <a:srgbClr val="FFFFFF"/>
                </a:solidFill>
                <a:latin typeface="Calibri"/>
                <a:cs typeface="Calibri"/>
              </a:rPr>
              <a:t>a </a:t>
            </a:r>
            <a:r>
              <a:rPr sz="1800" spc="-25" dirty="0">
                <a:solidFill>
                  <a:srgbClr val="FFFFFF"/>
                </a:solidFill>
                <a:latin typeface="Calibri"/>
                <a:cs typeface="Calibri"/>
              </a:rPr>
              <a:t>TIMESTAMP</a:t>
            </a:r>
            <a:r>
              <a:rPr sz="1800" spc="135" dirty="0">
                <a:solidFill>
                  <a:srgbClr val="FFFFFF"/>
                </a:solidFill>
                <a:latin typeface="Calibri"/>
                <a:cs typeface="Calibri"/>
              </a:rPr>
              <a:t> </a:t>
            </a:r>
            <a:r>
              <a:rPr sz="1800" spc="-10" dirty="0">
                <a:solidFill>
                  <a:srgbClr val="FFFFFF"/>
                </a:solidFill>
                <a:latin typeface="Calibri"/>
                <a:cs typeface="Calibri"/>
              </a:rPr>
              <a:t>column.</a:t>
            </a:r>
            <a:endParaRPr sz="1800">
              <a:latin typeface="Calibri"/>
              <a:cs typeface="Calibri"/>
            </a:endParaRPr>
          </a:p>
          <a:p>
            <a:pPr>
              <a:lnSpc>
                <a:spcPct val="100000"/>
              </a:lnSpc>
              <a:spcBef>
                <a:spcPts val="5"/>
              </a:spcBef>
            </a:pPr>
            <a:endParaRPr sz="2650">
              <a:latin typeface="Calibri"/>
              <a:cs typeface="Calibri"/>
            </a:endParaRPr>
          </a:p>
          <a:p>
            <a:pPr marL="69850" marR="5080">
              <a:lnSpc>
                <a:spcPct val="100600"/>
              </a:lnSpc>
            </a:pPr>
            <a:r>
              <a:rPr sz="1800" dirty="0">
                <a:solidFill>
                  <a:srgbClr val="FFFFFF"/>
                </a:solidFill>
                <a:latin typeface="Calibri"/>
                <a:cs typeface="Calibri"/>
              </a:rPr>
              <a:t>When </a:t>
            </a:r>
            <a:r>
              <a:rPr sz="1800" spc="-10" dirty="0">
                <a:solidFill>
                  <a:srgbClr val="FFFFFF"/>
                </a:solidFill>
                <a:latin typeface="Calibri"/>
                <a:cs typeface="Calibri"/>
              </a:rPr>
              <a:t>there </a:t>
            </a:r>
            <a:r>
              <a:rPr sz="1800" dirty="0">
                <a:solidFill>
                  <a:srgbClr val="FFFFFF"/>
                </a:solidFill>
                <a:latin typeface="Calibri"/>
                <a:cs typeface="Calibri"/>
              </a:rPr>
              <a:t>is a </a:t>
            </a:r>
            <a:r>
              <a:rPr sz="1800" spc="-5" dirty="0">
                <a:solidFill>
                  <a:srgbClr val="FFFFFF"/>
                </a:solidFill>
                <a:latin typeface="Calibri"/>
                <a:cs typeface="Calibri"/>
              </a:rPr>
              <a:t>self-join with </a:t>
            </a:r>
            <a:r>
              <a:rPr sz="1800" dirty="0">
                <a:solidFill>
                  <a:srgbClr val="FFFFFF"/>
                </a:solidFill>
                <a:latin typeface="Calibri"/>
                <a:cs typeface="Calibri"/>
              </a:rPr>
              <a:t>the </a:t>
            </a:r>
            <a:r>
              <a:rPr sz="1800" spc="-5" dirty="0">
                <a:solidFill>
                  <a:srgbClr val="FFFFFF"/>
                </a:solidFill>
                <a:latin typeface="Calibri"/>
                <a:cs typeface="Calibri"/>
              </a:rPr>
              <a:t>same view or </a:t>
            </a:r>
            <a:r>
              <a:rPr sz="1800" dirty="0">
                <a:solidFill>
                  <a:srgbClr val="FFFFFF"/>
                </a:solidFill>
                <a:latin typeface="Calibri"/>
                <a:cs typeface="Calibri"/>
              </a:rPr>
              <a:t>base </a:t>
            </a:r>
            <a:r>
              <a:rPr sz="1800" spc="-5" dirty="0">
                <a:solidFill>
                  <a:srgbClr val="FFFFFF"/>
                </a:solidFill>
                <a:latin typeface="Calibri"/>
                <a:cs typeface="Calibri"/>
              </a:rPr>
              <a:t>table, </a:t>
            </a:r>
            <a:r>
              <a:rPr sz="1800" dirty="0">
                <a:solidFill>
                  <a:srgbClr val="FFFFFF"/>
                </a:solidFill>
                <a:latin typeface="Calibri"/>
                <a:cs typeface="Calibri"/>
              </a:rPr>
              <a:t>the </a:t>
            </a:r>
            <a:r>
              <a:rPr sz="1800" spc="-30" dirty="0">
                <a:solidFill>
                  <a:srgbClr val="FFFFFF"/>
                </a:solidFill>
                <a:latin typeface="Calibri"/>
                <a:cs typeface="Calibri"/>
              </a:rPr>
              <a:t>UPDATE </a:t>
            </a:r>
            <a:r>
              <a:rPr sz="1800" spc="-15" dirty="0">
                <a:solidFill>
                  <a:srgbClr val="FFFFFF"/>
                </a:solidFill>
                <a:latin typeface="Calibri"/>
                <a:cs typeface="Calibri"/>
              </a:rPr>
              <a:t>statement  </a:t>
            </a:r>
            <a:r>
              <a:rPr sz="1800" spc="-5" dirty="0">
                <a:solidFill>
                  <a:srgbClr val="FFFFFF"/>
                </a:solidFill>
                <a:latin typeface="Calibri"/>
                <a:cs typeface="Calibri"/>
              </a:rPr>
              <a:t>does not</a:t>
            </a:r>
            <a:r>
              <a:rPr sz="1800" spc="10" dirty="0">
                <a:solidFill>
                  <a:srgbClr val="FFFFFF"/>
                </a:solidFill>
                <a:latin typeface="Calibri"/>
                <a:cs typeface="Calibri"/>
              </a:rPr>
              <a:t> </a:t>
            </a:r>
            <a:r>
              <a:rPr sz="1800" spc="-10" dirty="0">
                <a:solidFill>
                  <a:srgbClr val="FFFFFF"/>
                </a:solidFill>
                <a:latin typeface="Calibri"/>
                <a:cs typeface="Calibri"/>
              </a:rPr>
              <a:t>work.</a:t>
            </a:r>
            <a:endParaRPr sz="1800">
              <a:latin typeface="Calibri"/>
              <a:cs typeface="Calibri"/>
            </a:endParaRPr>
          </a:p>
          <a:p>
            <a:pPr>
              <a:lnSpc>
                <a:spcPct val="100000"/>
              </a:lnSpc>
            </a:pPr>
            <a:endParaRPr sz="1800">
              <a:latin typeface="Calibri"/>
              <a:cs typeface="Calibri"/>
            </a:endParaRPr>
          </a:p>
          <a:p>
            <a:pPr marL="74295" marR="964565">
              <a:lnSpc>
                <a:spcPct val="100600"/>
              </a:lnSpc>
              <a:spcBef>
                <a:spcPts val="1300"/>
              </a:spcBef>
            </a:pPr>
            <a:r>
              <a:rPr sz="1800" dirty="0">
                <a:solidFill>
                  <a:srgbClr val="FFFFFF"/>
                </a:solidFill>
                <a:latin typeface="Calibri"/>
                <a:cs typeface="Calibri"/>
              </a:rPr>
              <a:t>While </a:t>
            </a:r>
            <a:r>
              <a:rPr sz="1800" spc="-5" dirty="0">
                <a:solidFill>
                  <a:srgbClr val="FFFFFF"/>
                </a:solidFill>
                <a:latin typeface="Calibri"/>
                <a:cs typeface="Calibri"/>
              </a:rPr>
              <a:t>updating </a:t>
            </a:r>
            <a:r>
              <a:rPr sz="1800" dirty="0">
                <a:solidFill>
                  <a:srgbClr val="FFFFFF"/>
                </a:solidFill>
                <a:latin typeface="Calibri"/>
                <a:cs typeface="Calibri"/>
              </a:rPr>
              <a:t>a </a:t>
            </a:r>
            <a:r>
              <a:rPr sz="1800" spc="-50" dirty="0">
                <a:solidFill>
                  <a:srgbClr val="FFFFFF"/>
                </a:solidFill>
                <a:latin typeface="Calibri"/>
                <a:cs typeface="Calibri"/>
              </a:rPr>
              <a:t>row, </a:t>
            </a:r>
            <a:r>
              <a:rPr sz="1800" dirty="0">
                <a:solidFill>
                  <a:srgbClr val="FFFFFF"/>
                </a:solidFill>
                <a:latin typeface="Calibri"/>
                <a:cs typeface="Calibri"/>
              </a:rPr>
              <a:t>if a </a:t>
            </a:r>
            <a:r>
              <a:rPr sz="1800" spc="-10" dirty="0">
                <a:solidFill>
                  <a:srgbClr val="FFFFFF"/>
                </a:solidFill>
                <a:latin typeface="Calibri"/>
                <a:cs typeface="Calibri"/>
              </a:rPr>
              <a:t>constraint </a:t>
            </a:r>
            <a:r>
              <a:rPr sz="1800" spc="-5" dirty="0">
                <a:solidFill>
                  <a:srgbClr val="FFFFFF"/>
                </a:solidFill>
                <a:latin typeface="Calibri"/>
                <a:cs typeface="Calibri"/>
              </a:rPr>
              <a:t>or </a:t>
            </a:r>
            <a:r>
              <a:rPr sz="1800" dirty="0">
                <a:solidFill>
                  <a:srgbClr val="FFFFFF"/>
                </a:solidFill>
                <a:latin typeface="Calibri"/>
                <a:cs typeface="Calibri"/>
              </a:rPr>
              <a:t>rule is </a:t>
            </a:r>
            <a:r>
              <a:rPr sz="1800" spc="-5" dirty="0">
                <a:solidFill>
                  <a:srgbClr val="FFFFFF"/>
                </a:solidFill>
                <a:latin typeface="Calibri"/>
                <a:cs typeface="Calibri"/>
              </a:rPr>
              <a:t>violated, </a:t>
            </a:r>
            <a:r>
              <a:rPr sz="1800" dirty="0">
                <a:solidFill>
                  <a:srgbClr val="FFFFFF"/>
                </a:solidFill>
                <a:latin typeface="Calibri"/>
                <a:cs typeface="Calibri"/>
              </a:rPr>
              <a:t>the </a:t>
            </a:r>
            <a:r>
              <a:rPr sz="1800" spc="-15" dirty="0">
                <a:solidFill>
                  <a:srgbClr val="FFFFFF"/>
                </a:solidFill>
                <a:latin typeface="Calibri"/>
                <a:cs typeface="Calibri"/>
              </a:rPr>
              <a:t>statement </a:t>
            </a:r>
            <a:r>
              <a:rPr sz="1800" dirty="0">
                <a:solidFill>
                  <a:srgbClr val="FFFFFF"/>
                </a:solidFill>
                <a:latin typeface="Calibri"/>
                <a:cs typeface="Calibri"/>
              </a:rPr>
              <a:t>is  </a:t>
            </a:r>
            <a:r>
              <a:rPr sz="1800" spc="-10" dirty="0">
                <a:solidFill>
                  <a:srgbClr val="FFFFFF"/>
                </a:solidFill>
                <a:latin typeface="Calibri"/>
                <a:cs typeface="Calibri"/>
              </a:rPr>
              <a:t>terminated, </a:t>
            </a:r>
            <a:r>
              <a:rPr sz="1800" dirty="0">
                <a:solidFill>
                  <a:srgbClr val="FFFFFF"/>
                </a:solidFill>
                <a:latin typeface="Calibri"/>
                <a:cs typeface="Calibri"/>
              </a:rPr>
              <a:t>an </a:t>
            </a:r>
            <a:r>
              <a:rPr sz="1800" spc="-10" dirty="0">
                <a:solidFill>
                  <a:srgbClr val="FFFFFF"/>
                </a:solidFill>
                <a:latin typeface="Calibri"/>
                <a:cs typeface="Calibri"/>
              </a:rPr>
              <a:t>error </a:t>
            </a:r>
            <a:r>
              <a:rPr sz="1800" dirty="0">
                <a:solidFill>
                  <a:srgbClr val="FFFFFF"/>
                </a:solidFill>
                <a:latin typeface="Calibri"/>
                <a:cs typeface="Calibri"/>
              </a:rPr>
              <a:t>is </a:t>
            </a:r>
            <a:r>
              <a:rPr sz="1800" spc="-5" dirty="0">
                <a:solidFill>
                  <a:srgbClr val="FFFFFF"/>
                </a:solidFill>
                <a:latin typeface="Calibri"/>
                <a:cs typeface="Calibri"/>
              </a:rPr>
              <a:t>returned, </a:t>
            </a:r>
            <a:r>
              <a:rPr sz="1800" dirty="0">
                <a:solidFill>
                  <a:srgbClr val="FFFFFF"/>
                </a:solidFill>
                <a:latin typeface="Calibri"/>
                <a:cs typeface="Calibri"/>
              </a:rPr>
              <a:t>and </a:t>
            </a:r>
            <a:r>
              <a:rPr sz="1800" spc="-5" dirty="0">
                <a:solidFill>
                  <a:srgbClr val="FFFFFF"/>
                </a:solidFill>
                <a:latin typeface="Calibri"/>
                <a:cs typeface="Calibri"/>
              </a:rPr>
              <a:t>no </a:t>
            </a:r>
            <a:r>
              <a:rPr sz="1800" spc="-15" dirty="0">
                <a:solidFill>
                  <a:srgbClr val="FFFFFF"/>
                </a:solidFill>
                <a:latin typeface="Calibri"/>
                <a:cs typeface="Calibri"/>
              </a:rPr>
              <a:t>records </a:t>
            </a:r>
            <a:r>
              <a:rPr sz="1800" spc="-10" dirty="0">
                <a:solidFill>
                  <a:srgbClr val="FFFFFF"/>
                </a:solidFill>
                <a:latin typeface="Calibri"/>
                <a:cs typeface="Calibri"/>
              </a:rPr>
              <a:t>are</a:t>
            </a:r>
            <a:r>
              <a:rPr sz="1800" spc="100" dirty="0">
                <a:solidFill>
                  <a:srgbClr val="FFFFFF"/>
                </a:solidFill>
                <a:latin typeface="Calibri"/>
                <a:cs typeface="Calibri"/>
              </a:rPr>
              <a:t> </a:t>
            </a:r>
            <a:r>
              <a:rPr sz="1800" spc="-10" dirty="0">
                <a:solidFill>
                  <a:srgbClr val="FFFFFF"/>
                </a:solidFill>
                <a:latin typeface="Calibri"/>
                <a:cs typeface="Calibri"/>
              </a:rPr>
              <a:t>updated.</a:t>
            </a:r>
            <a:endParaRPr sz="1800">
              <a:latin typeface="Calibri"/>
              <a:cs typeface="Calibri"/>
            </a:endParaRPr>
          </a:p>
        </p:txBody>
      </p:sp>
      <p:sp>
        <p:nvSpPr>
          <p:cNvPr id="11" name="object 11"/>
          <p:cNvSpPr txBox="1"/>
          <p:nvPr/>
        </p:nvSpPr>
        <p:spPr>
          <a:xfrm>
            <a:off x="7853933" y="6569709"/>
            <a:ext cx="942975"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67" baseline="4629" dirty="0">
                <a:latin typeface="Arial"/>
                <a:cs typeface="Arial"/>
              </a:rPr>
              <a:t>10/</a:t>
            </a:r>
            <a:r>
              <a:rPr sz="1800" spc="-232" baseline="4629" dirty="0">
                <a:latin typeface="Arial"/>
                <a:cs typeface="Arial"/>
              </a:rPr>
              <a:t> </a:t>
            </a:r>
            <a:fld id="{81D60167-4931-47E6-BA6A-407CBD079E47}" type="slidenum">
              <a:rPr sz="1200" spc="-150" dirty="0">
                <a:latin typeface="Arial"/>
                <a:cs typeface="Arial"/>
              </a:rPr>
              <a:t>13</a:t>
            </a:fld>
            <a:endParaRPr sz="1200">
              <a:latin typeface="Arial"/>
              <a:cs typeface="Arial"/>
            </a:endParaRPr>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029" y="0"/>
            <a:ext cx="4786630" cy="635635"/>
          </a:xfrm>
          <a:prstGeom prst="rect">
            <a:avLst/>
          </a:prstGeom>
        </p:spPr>
        <p:txBody>
          <a:bodyPr vert="horz" wrap="square" lIns="0" tIns="12700" rIns="0" bIns="0" rtlCol="0">
            <a:spAutoFit/>
          </a:bodyPr>
          <a:lstStyle/>
          <a:p>
            <a:pPr marL="12700">
              <a:lnSpc>
                <a:spcPct val="100000"/>
              </a:lnSpc>
              <a:spcBef>
                <a:spcPts val="100"/>
              </a:spcBef>
            </a:pPr>
            <a:r>
              <a:rPr sz="4000" b="0" spc="155" dirty="0">
                <a:latin typeface="Arial"/>
                <a:cs typeface="Arial"/>
              </a:rPr>
              <a:t>UPDATE </a:t>
            </a:r>
            <a:r>
              <a:rPr sz="4000" b="0" spc="180" dirty="0">
                <a:latin typeface="Arial"/>
                <a:cs typeface="Arial"/>
              </a:rPr>
              <a:t>with</a:t>
            </a:r>
            <a:r>
              <a:rPr sz="4000" b="0" spc="-775" dirty="0">
                <a:latin typeface="Arial"/>
                <a:cs typeface="Arial"/>
              </a:rPr>
              <a:t> </a:t>
            </a:r>
            <a:r>
              <a:rPr sz="4000" b="0" spc="25" dirty="0">
                <a:latin typeface="Arial"/>
                <a:cs typeface="Arial"/>
              </a:rPr>
              <a:t>Views</a:t>
            </a:r>
            <a:endParaRPr sz="4000">
              <a:latin typeface="Arial"/>
              <a:cs typeface="Arial"/>
            </a:endParaRPr>
          </a:p>
        </p:txBody>
      </p:sp>
      <p:sp>
        <p:nvSpPr>
          <p:cNvPr id="11" name="object 11"/>
          <p:cNvSpPr txBox="1"/>
          <p:nvPr/>
        </p:nvSpPr>
        <p:spPr>
          <a:xfrm>
            <a:off x="7853933" y="6569709"/>
            <a:ext cx="942975"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67" baseline="4629" dirty="0">
                <a:latin typeface="Arial"/>
                <a:cs typeface="Arial"/>
              </a:rPr>
              <a:t>10/</a:t>
            </a:r>
            <a:r>
              <a:rPr sz="1800" spc="-232" baseline="4629" dirty="0">
                <a:latin typeface="Arial"/>
                <a:cs typeface="Arial"/>
              </a:rPr>
              <a:t> </a:t>
            </a:r>
            <a:fld id="{81D60167-4931-47E6-BA6A-407CBD079E47}" type="slidenum">
              <a:rPr sz="1200" spc="-150" dirty="0">
                <a:latin typeface="Arial"/>
                <a:cs typeface="Arial"/>
              </a:rPr>
              <a:t>14</a:t>
            </a:fld>
            <a:endParaRPr sz="1200">
              <a:latin typeface="Arial"/>
              <a:cs typeface="Arial"/>
            </a:endParaRPr>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3" name="TextBox 12">
            <a:extLst>
              <a:ext uri="{FF2B5EF4-FFF2-40B4-BE49-F238E27FC236}">
                <a16:creationId xmlns:a16="http://schemas.microsoft.com/office/drawing/2014/main" id="{B658F856-3C5D-4476-91AE-BC930DB8CC58}"/>
              </a:ext>
            </a:extLst>
          </p:cNvPr>
          <p:cNvSpPr txBox="1"/>
          <p:nvPr/>
        </p:nvSpPr>
        <p:spPr>
          <a:xfrm>
            <a:off x="2209800" y="1274088"/>
            <a:ext cx="5105400" cy="535531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800">
                <a:solidFill>
                  <a:srgbClr val="0000FF"/>
                </a:solidFill>
                <a:latin typeface="Consolas" panose="020B0609020204030204" pitchFamily="49" charset="0"/>
              </a:rPr>
              <a:t>USE</a:t>
            </a:r>
            <a:r>
              <a:rPr lang="en-US" sz="1800">
                <a:solidFill>
                  <a:srgbClr val="000000"/>
                </a:solidFill>
                <a:latin typeface="Consolas" panose="020B0609020204030204" pitchFamily="49" charset="0"/>
              </a:rPr>
              <a:t> StrongHold</a:t>
            </a:r>
          </a:p>
          <a:p>
            <a:r>
              <a:rPr lang="en-US" sz="1800">
                <a:solidFill>
                  <a:srgbClr val="0000FF"/>
                </a:solidFill>
                <a:latin typeface="Consolas" panose="020B0609020204030204" pitchFamily="49" charset="0"/>
              </a:rPr>
              <a:t>CREATE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TABLE</a:t>
            </a:r>
            <a:r>
              <a:rPr lang="en-US" sz="1800">
                <a:solidFill>
                  <a:srgbClr val="000000"/>
                </a:solidFill>
                <a:latin typeface="Consolas" panose="020B0609020204030204" pitchFamily="49" charset="0"/>
              </a:rPr>
              <a:t> Product_Details</a:t>
            </a:r>
            <a:r>
              <a:rPr lang="en-US" sz="1800">
                <a:solidFill>
                  <a:srgbClr val="0000FF"/>
                </a:solidFill>
                <a:latin typeface="Consolas" panose="020B0609020204030204" pitchFamily="49" charset="0"/>
              </a:rPr>
              <a:t> </a:t>
            </a:r>
            <a:r>
              <a:rPr lang="en-US" sz="1800">
                <a:solidFill>
                  <a:srgbClr val="808080"/>
                </a:solidFill>
                <a:latin typeface="Consolas" panose="020B0609020204030204" pitchFamily="49" charset="0"/>
              </a:rPr>
              <a: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ProductID </a:t>
            </a:r>
            <a:r>
              <a:rPr lang="en-US" sz="1800">
                <a:solidFill>
                  <a:srgbClr val="0000FF"/>
                </a:solidFill>
                <a:latin typeface="Consolas" panose="020B0609020204030204" pitchFamily="49" charset="0"/>
              </a:rPr>
              <a:t>int</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ProductName </a:t>
            </a:r>
            <a:r>
              <a:rPr lang="en-US" sz="1800">
                <a:solidFill>
                  <a:srgbClr val="0000FF"/>
                </a:solidFill>
                <a:latin typeface="Consolas" panose="020B0609020204030204" pitchFamily="49" charset="0"/>
              </a:rPr>
              <a:t>varchar</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30</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Rate </a:t>
            </a:r>
            <a:r>
              <a:rPr lang="en-US" sz="1800">
                <a:solidFill>
                  <a:srgbClr val="0000FF"/>
                </a:solidFill>
                <a:latin typeface="Consolas" panose="020B0609020204030204" pitchFamily="49" charset="0"/>
              </a:rPr>
              <a:t>money</a:t>
            </a:r>
            <a:endParaRPr lang="en-US" sz="1800">
              <a:solidFill>
                <a:srgbClr val="000000"/>
              </a:solidFill>
              <a:latin typeface="Consolas" panose="020B0609020204030204" pitchFamily="49" charset="0"/>
            </a:endParaRPr>
          </a:p>
          <a:p>
            <a:r>
              <a:rPr lang="en-US" sz="1800">
                <a:solidFill>
                  <a:srgbClr val="808080"/>
                </a:solidFill>
                <a:latin typeface="Consolas" panose="020B0609020204030204" pitchFamily="49" charset="0"/>
              </a:rPr>
              <a:t>)</a:t>
            </a:r>
            <a:endParaRPr lang="en-US" sz="1800">
              <a:solidFill>
                <a:srgbClr val="000000"/>
              </a:solidFill>
              <a:latin typeface="Consolas" panose="020B0609020204030204" pitchFamily="49" charset="0"/>
            </a:endParaRPr>
          </a:p>
          <a:p>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INSERT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INTO</a:t>
            </a:r>
            <a:r>
              <a:rPr lang="en-US" sz="1800">
                <a:solidFill>
                  <a:srgbClr val="000000"/>
                </a:solidFill>
                <a:latin typeface="Consolas" panose="020B0609020204030204" pitchFamily="49" charset="0"/>
              </a:rPr>
              <a:t> Product_Details</a:t>
            </a:r>
          </a:p>
          <a:p>
            <a:r>
              <a:rPr lang="en-US" sz="1800">
                <a:solidFill>
                  <a:srgbClr val="0000FF"/>
                </a:solidFill>
                <a:latin typeface="Consolas" panose="020B0609020204030204" pitchFamily="49" charset="0"/>
              </a:rPr>
              <a:t>VALUES </a:t>
            </a:r>
            <a:r>
              <a:rPr lang="en-US" sz="1800">
                <a:solidFill>
                  <a:srgbClr val="808080"/>
                </a:solidFill>
                <a:latin typeface="Consolas" panose="020B0609020204030204" pitchFamily="49" charset="0"/>
              </a:rPr>
              <a:t>(</a:t>
            </a:r>
            <a:r>
              <a:rPr lang="en-US" sz="1800">
                <a:solidFill>
                  <a:srgbClr val="FF0000"/>
                </a:solidFill>
                <a:latin typeface="Consolas" panose="020B0609020204030204" pitchFamily="49" charset="0"/>
              </a:rPr>
              <a:t>'1'</a:t>
            </a:r>
            <a:r>
              <a:rPr lang="en-US" sz="1800">
                <a:solidFill>
                  <a:srgbClr val="808080"/>
                </a:solidFill>
                <a:latin typeface="Consolas" panose="020B0609020204030204" pitchFamily="49" charset="0"/>
              </a:rPr>
              <a:t>,</a:t>
            </a:r>
            <a:r>
              <a:rPr lang="en-US" sz="1800">
                <a:solidFill>
                  <a:srgbClr val="FF0000"/>
                </a:solidFill>
                <a:latin typeface="Consolas" panose="020B0609020204030204" pitchFamily="49" charset="0"/>
              </a:rPr>
              <a:t>'DVD Writer'</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2250</a:t>
            </a:r>
            <a:r>
              <a:rPr lang="en-US" sz="1800">
                <a:solidFill>
                  <a:srgbClr val="808080"/>
                </a:solidFill>
                <a:latin typeface="Consolas" panose="020B0609020204030204" pitchFamily="49" charset="0"/>
              </a:rPr>
              <a:t>),</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       </a:t>
            </a:r>
            <a:r>
              <a:rPr lang="en-US" sz="1800">
                <a:solidFill>
                  <a:srgbClr val="808080"/>
                </a:solidFill>
                <a:latin typeface="Consolas" panose="020B0609020204030204" pitchFamily="49" charset="0"/>
              </a:rPr>
              <a:t>(</a:t>
            </a:r>
            <a:r>
              <a:rPr lang="en-US" sz="1800">
                <a:solidFill>
                  <a:srgbClr val="FF0000"/>
                </a:solidFill>
                <a:latin typeface="Consolas" panose="020B0609020204030204" pitchFamily="49" charset="0"/>
              </a:rPr>
              <a:t>'2'</a:t>
            </a:r>
            <a:r>
              <a:rPr lang="en-US" sz="1800">
                <a:solidFill>
                  <a:srgbClr val="808080"/>
                </a:solidFill>
                <a:latin typeface="Consolas" panose="020B0609020204030204" pitchFamily="49" charset="0"/>
              </a:rPr>
              <a:t>,</a:t>
            </a:r>
            <a:r>
              <a:rPr lang="en-US" sz="1800">
                <a:solidFill>
                  <a:srgbClr val="FF0000"/>
                </a:solidFill>
                <a:latin typeface="Consolas" panose="020B0609020204030204" pitchFamily="49" charset="0"/>
              </a:rPr>
              <a:t>'External Hard Drive'</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4250</a:t>
            </a:r>
            <a:r>
              <a:rPr lang="en-US" sz="1800">
                <a:solidFill>
                  <a:srgbClr val="808080"/>
                </a:solidFill>
                <a:latin typeface="Consolas" panose="020B0609020204030204" pitchFamily="49" charset="0"/>
              </a:rPr>
              <a:t>)</a:t>
            </a:r>
            <a:endParaRPr lang="en-US" sz="1800">
              <a:solidFill>
                <a:srgbClr val="000000"/>
              </a:solidFill>
              <a:latin typeface="Consolas" panose="020B0609020204030204" pitchFamily="49" charset="0"/>
            </a:endParaRPr>
          </a:p>
          <a:p>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CREATE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VIEW</a:t>
            </a:r>
            <a:r>
              <a:rPr lang="en-US" sz="1800">
                <a:solidFill>
                  <a:srgbClr val="000000"/>
                </a:solidFill>
                <a:latin typeface="Consolas" panose="020B0609020204030204" pitchFamily="49" charset="0"/>
              </a:rPr>
              <a:t> vwProduct_Details </a:t>
            </a:r>
          </a:p>
          <a:p>
            <a:r>
              <a:rPr lang="en-US" sz="1800">
                <a:solidFill>
                  <a:srgbClr val="0000FF"/>
                </a:solidFill>
                <a:latin typeface="Consolas" panose="020B0609020204030204" pitchFamily="49" charset="0"/>
              </a:rPr>
              <a:t>AS</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SELECT</a:t>
            </a:r>
            <a:r>
              <a:rPr lang="en-US" sz="1800">
                <a:solidFill>
                  <a:srgbClr val="000000"/>
                </a:solidFill>
                <a:latin typeface="Consolas" panose="020B0609020204030204" pitchFamily="49" charset="0"/>
              </a:rPr>
              <a:t> ProductName</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Rate </a:t>
            </a:r>
          </a:p>
          <a:p>
            <a:r>
              <a:rPr lang="en-US" sz="1800">
                <a:solidFill>
                  <a:srgbClr val="0000FF"/>
                </a:solidFill>
                <a:latin typeface="Consolas" panose="020B0609020204030204" pitchFamily="49" charset="0"/>
              </a:rPr>
              <a:t>FROM</a:t>
            </a:r>
            <a:r>
              <a:rPr lang="en-US" sz="1800">
                <a:solidFill>
                  <a:srgbClr val="000000"/>
                </a:solidFill>
                <a:latin typeface="Consolas" panose="020B0609020204030204" pitchFamily="49" charset="0"/>
              </a:rPr>
              <a:t> Product_Details</a:t>
            </a:r>
          </a:p>
          <a:p>
            <a:endParaRPr lang="en-US" sz="1800">
              <a:solidFill>
                <a:srgbClr val="000000"/>
              </a:solidFill>
              <a:latin typeface="Consolas" panose="020B0609020204030204" pitchFamily="49" charset="0"/>
            </a:endParaRPr>
          </a:p>
          <a:p>
            <a:r>
              <a:rPr lang="en-US" sz="1800">
                <a:solidFill>
                  <a:srgbClr val="FF00FF"/>
                </a:solidFill>
                <a:latin typeface="Consolas" panose="020B0609020204030204" pitchFamily="49" charset="0"/>
              </a:rPr>
              <a:t>UPDATE</a:t>
            </a:r>
            <a:r>
              <a:rPr lang="en-US" sz="1800">
                <a:solidFill>
                  <a:srgbClr val="000000"/>
                </a:solidFill>
                <a:latin typeface="Consolas" panose="020B0609020204030204" pitchFamily="49" charset="0"/>
              </a:rPr>
              <a:t> vwProduct_Details </a:t>
            </a:r>
          </a:p>
          <a:p>
            <a:r>
              <a:rPr lang="en-US" sz="1800">
                <a:solidFill>
                  <a:srgbClr val="0000FF"/>
                </a:solidFill>
                <a:latin typeface="Consolas" panose="020B0609020204030204" pitchFamily="49" charset="0"/>
              </a:rPr>
              <a:t>SET</a:t>
            </a:r>
            <a:r>
              <a:rPr lang="en-US" sz="1800">
                <a:solidFill>
                  <a:srgbClr val="000000"/>
                </a:solidFill>
                <a:latin typeface="Consolas" panose="020B0609020204030204" pitchFamily="49" charset="0"/>
              </a:rPr>
              <a:t> Rate</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3000</a:t>
            </a:r>
          </a:p>
          <a:p>
            <a:r>
              <a:rPr lang="en-US" sz="1800">
                <a:solidFill>
                  <a:srgbClr val="0000FF"/>
                </a:solidFill>
                <a:latin typeface="Consolas" panose="020B0609020204030204" pitchFamily="49" charset="0"/>
              </a:rPr>
              <a:t>WHERE</a:t>
            </a:r>
            <a:r>
              <a:rPr lang="en-US" sz="1800">
                <a:solidFill>
                  <a:srgbClr val="000000"/>
                </a:solidFill>
                <a:latin typeface="Consolas" panose="020B0609020204030204" pitchFamily="49" charset="0"/>
              </a:rPr>
              <a:t> ProductName</a:t>
            </a:r>
            <a:r>
              <a:rPr lang="en-US" sz="1800">
                <a:solidFill>
                  <a:srgbClr val="808080"/>
                </a:solidFill>
                <a:latin typeface="Consolas" panose="020B0609020204030204" pitchFamily="49" charset="0"/>
              </a:rPr>
              <a:t>=</a:t>
            </a:r>
            <a:r>
              <a:rPr lang="en-US" sz="1800">
                <a:solidFill>
                  <a:srgbClr val="FF0000"/>
                </a:solidFill>
                <a:latin typeface="Consolas" panose="020B0609020204030204" pitchFamily="49" charset="0"/>
              </a:rPr>
              <a:t>'DVD Writer'</a:t>
            </a:r>
            <a:endParaRPr lang="en-US"/>
          </a:p>
        </p:txBody>
      </p:sp>
      <p:sp>
        <p:nvSpPr>
          <p:cNvPr id="6" name="TextBox 5">
            <a:extLst>
              <a:ext uri="{FF2B5EF4-FFF2-40B4-BE49-F238E27FC236}">
                <a16:creationId xmlns:a16="http://schemas.microsoft.com/office/drawing/2014/main" id="{B5B4B942-7306-47F3-B439-011B99FA9F0B}"/>
              </a:ext>
            </a:extLst>
          </p:cNvPr>
          <p:cNvSpPr txBox="1"/>
          <p:nvPr/>
        </p:nvSpPr>
        <p:spPr>
          <a:xfrm>
            <a:off x="228600" y="762000"/>
            <a:ext cx="4577442" cy="400110"/>
          </a:xfrm>
          <a:prstGeom prst="rect">
            <a:avLst/>
          </a:prstGeom>
          <a:noFill/>
        </p:spPr>
        <p:txBody>
          <a:bodyPr wrap="square">
            <a:spAutoFit/>
          </a:bodyPr>
          <a:lstStyle/>
          <a:p>
            <a:pPr marL="285750" indent="-285750">
              <a:buFont typeface="Arial" panose="020B0604020202020204" pitchFamily="34" charset="0"/>
              <a:buChar char="•"/>
            </a:pPr>
            <a:r>
              <a:rPr lang="en-US" sz="2000">
                <a:latin typeface="Calibri" panose="020F0502020204030204" pitchFamily="34" charset="0"/>
                <a:cs typeface="Calibri" panose="020F0502020204030204" pitchFamily="34" charset="0"/>
              </a:rPr>
              <a:t>Example</a:t>
            </a:r>
            <a:endParaRPr lang="en-US" sz="2000"/>
          </a:p>
        </p:txBody>
      </p:sp>
    </p:spTree>
    <p:extLst>
      <p:ext uri="{BB962C8B-B14F-4D97-AF65-F5344CB8AC3E}">
        <p14:creationId xmlns:p14="http://schemas.microsoft.com/office/powerpoint/2010/main" val="1619604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6601714"/>
            <a:ext cx="892810" cy="208279"/>
          </a:xfrm>
          <a:prstGeom prst="rect">
            <a:avLst/>
          </a:prstGeom>
        </p:spPr>
        <p:txBody>
          <a:bodyPr vert="horz" wrap="square" lIns="0" tIns="12700" rIns="0" bIns="0" rtlCol="0">
            <a:spAutoFit/>
          </a:bodyPr>
          <a:lstStyle/>
          <a:p>
            <a:pPr marL="12700">
              <a:lnSpc>
                <a:spcPct val="100000"/>
              </a:lnSpc>
              <a:spcBef>
                <a:spcPts val="100"/>
              </a:spcBef>
            </a:pPr>
            <a:r>
              <a:rPr sz="1200" spc="70" dirty="0">
                <a:latin typeface="Arial"/>
                <a:cs typeface="Arial"/>
              </a:rPr>
              <a:t>©</a:t>
            </a:r>
            <a:r>
              <a:rPr sz="1200" spc="-180" dirty="0">
                <a:latin typeface="Arial"/>
                <a:cs typeface="Arial"/>
              </a:rPr>
              <a:t> </a:t>
            </a:r>
            <a:r>
              <a:rPr sz="1200" i="1" dirty="0">
                <a:latin typeface="Palatino Linotype"/>
                <a:cs typeface="Palatino Linotype"/>
              </a:rPr>
              <a:t>Aptech </a:t>
            </a:r>
            <a:r>
              <a:rPr sz="1200" i="1" spc="-15" dirty="0">
                <a:latin typeface="Palatino Linotype"/>
                <a:cs typeface="Palatino Linotype"/>
              </a:rPr>
              <a:t>Ltd.</a:t>
            </a:r>
            <a:endParaRPr sz="1200">
              <a:latin typeface="Palatino Linotype"/>
              <a:cs typeface="Palatino Linotype"/>
            </a:endParaRPr>
          </a:p>
        </p:txBody>
      </p:sp>
      <p:sp>
        <p:nvSpPr>
          <p:cNvPr id="3" name="object 3"/>
          <p:cNvSpPr txBox="1">
            <a:spLocks noGrp="1"/>
          </p:cNvSpPr>
          <p:nvPr>
            <p:ph type="title"/>
          </p:nvPr>
        </p:nvSpPr>
        <p:spPr>
          <a:xfrm>
            <a:off x="398525" y="26416"/>
            <a:ext cx="4592955"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Arial"/>
                <a:cs typeface="Arial"/>
              </a:rPr>
              <a:t>DELETE </a:t>
            </a:r>
            <a:r>
              <a:rPr sz="4000" b="0" spc="180" dirty="0">
                <a:latin typeface="Arial"/>
                <a:cs typeface="Arial"/>
              </a:rPr>
              <a:t>with</a:t>
            </a:r>
            <a:r>
              <a:rPr sz="4000" b="0" spc="-625" dirty="0">
                <a:latin typeface="Arial"/>
                <a:cs typeface="Arial"/>
              </a:rPr>
              <a:t> </a:t>
            </a:r>
            <a:r>
              <a:rPr sz="4000" b="0" spc="25" dirty="0">
                <a:latin typeface="Arial"/>
                <a:cs typeface="Arial"/>
              </a:rPr>
              <a:t>Views</a:t>
            </a:r>
            <a:endParaRPr sz="4000">
              <a:latin typeface="Arial"/>
              <a:cs typeface="Arial"/>
            </a:endParaRPr>
          </a:p>
        </p:txBody>
      </p:sp>
      <p:sp>
        <p:nvSpPr>
          <p:cNvPr id="4" name="object 4"/>
          <p:cNvSpPr txBox="1"/>
          <p:nvPr/>
        </p:nvSpPr>
        <p:spPr>
          <a:xfrm>
            <a:off x="7853933" y="6575552"/>
            <a:ext cx="908685" cy="208279"/>
          </a:xfrm>
          <a:prstGeom prst="rect">
            <a:avLst/>
          </a:prstGeom>
        </p:spPr>
        <p:txBody>
          <a:bodyPr vert="horz" wrap="square" lIns="0" tIns="12700" rIns="0" bIns="0" rtlCol="0">
            <a:spAutoFit/>
          </a:bodyPr>
          <a:lstStyle/>
          <a:p>
            <a:pPr marL="12700">
              <a:lnSpc>
                <a:spcPct val="100000"/>
              </a:lnSpc>
              <a:spcBef>
                <a:spcPts val="100"/>
              </a:spcBef>
            </a:pPr>
            <a:r>
              <a:rPr sz="1800" spc="-75" baseline="4629" dirty="0">
                <a:latin typeface="Arial"/>
                <a:cs typeface="Arial"/>
              </a:rPr>
              <a:t>Session </a:t>
            </a:r>
            <a:r>
              <a:rPr sz="1800" spc="-67" baseline="4629" dirty="0">
                <a:latin typeface="Arial"/>
                <a:cs typeface="Arial"/>
              </a:rPr>
              <a:t>10/</a:t>
            </a:r>
            <a:r>
              <a:rPr sz="1800" spc="-262" baseline="4629" dirty="0">
                <a:latin typeface="Arial"/>
                <a:cs typeface="Arial"/>
              </a:rPr>
              <a:t> </a:t>
            </a:r>
            <a:r>
              <a:rPr sz="1200" spc="-185" dirty="0">
                <a:latin typeface="Arial"/>
                <a:cs typeface="Arial"/>
              </a:rPr>
              <a:t>12</a:t>
            </a:r>
            <a:endParaRPr sz="1200">
              <a:latin typeface="Arial"/>
              <a:cs typeface="Arial"/>
            </a:endParaRPr>
          </a:p>
        </p:txBody>
      </p:sp>
      <p:sp>
        <p:nvSpPr>
          <p:cNvPr id="5" name="object 5"/>
          <p:cNvSpPr txBox="1"/>
          <p:nvPr/>
        </p:nvSpPr>
        <p:spPr>
          <a:xfrm>
            <a:off x="239268" y="950975"/>
            <a:ext cx="8543290" cy="1346200"/>
          </a:xfrm>
          <a:prstGeom prst="rect">
            <a:avLst/>
          </a:prstGeom>
          <a:solidFill>
            <a:srgbClr val="4F81BC"/>
          </a:solidFill>
        </p:spPr>
        <p:txBody>
          <a:bodyPr vert="horz" wrap="square" lIns="0" tIns="26034" rIns="0" bIns="0" rtlCol="0">
            <a:spAutoFit/>
          </a:bodyPr>
          <a:lstStyle/>
          <a:p>
            <a:pPr marL="419100" marR="68580" indent="-342900">
              <a:lnSpc>
                <a:spcPts val="2380"/>
              </a:lnSpc>
              <a:spcBef>
                <a:spcPts val="204"/>
              </a:spcBef>
              <a:buFont typeface="Wingdings"/>
              <a:buChar char=""/>
              <a:tabLst>
                <a:tab pos="419734" algn="l"/>
              </a:tabLst>
            </a:pPr>
            <a:r>
              <a:rPr sz="2200" spc="25" dirty="0">
                <a:solidFill>
                  <a:srgbClr val="FFFFFF"/>
                </a:solidFill>
                <a:latin typeface="Arial"/>
                <a:cs typeface="Arial"/>
              </a:rPr>
              <a:t>SQL </a:t>
            </a:r>
            <a:r>
              <a:rPr sz="2200" spc="-55" dirty="0">
                <a:solidFill>
                  <a:srgbClr val="FFFFFF"/>
                </a:solidFill>
                <a:latin typeface="Arial"/>
                <a:cs typeface="Arial"/>
              </a:rPr>
              <a:t>Server </a:t>
            </a:r>
            <a:r>
              <a:rPr sz="2200" spc="-100" dirty="0">
                <a:solidFill>
                  <a:srgbClr val="FFFFFF"/>
                </a:solidFill>
                <a:latin typeface="Arial"/>
                <a:cs typeface="Arial"/>
              </a:rPr>
              <a:t>enables </a:t>
            </a:r>
            <a:r>
              <a:rPr sz="2200" dirty="0">
                <a:solidFill>
                  <a:srgbClr val="FFFFFF"/>
                </a:solidFill>
                <a:latin typeface="Arial"/>
                <a:cs typeface="Arial"/>
              </a:rPr>
              <a:t>you </a:t>
            </a:r>
            <a:r>
              <a:rPr sz="2200" spc="55" dirty="0">
                <a:solidFill>
                  <a:srgbClr val="FFFFFF"/>
                </a:solidFill>
                <a:latin typeface="Arial"/>
                <a:cs typeface="Arial"/>
              </a:rPr>
              <a:t>to </a:t>
            </a:r>
            <a:r>
              <a:rPr sz="2200" spc="-55" dirty="0">
                <a:solidFill>
                  <a:srgbClr val="FFFFFF"/>
                </a:solidFill>
                <a:latin typeface="Arial"/>
                <a:cs typeface="Arial"/>
              </a:rPr>
              <a:t>delete </a:t>
            </a:r>
            <a:r>
              <a:rPr sz="2200" spc="-30" dirty="0">
                <a:solidFill>
                  <a:srgbClr val="FFFFFF"/>
                </a:solidFill>
                <a:latin typeface="Arial"/>
                <a:cs typeface="Arial"/>
              </a:rPr>
              <a:t>rows </a:t>
            </a:r>
            <a:r>
              <a:rPr sz="2200" spc="50" dirty="0">
                <a:solidFill>
                  <a:srgbClr val="FFFFFF"/>
                </a:solidFill>
                <a:latin typeface="Arial"/>
                <a:cs typeface="Arial"/>
              </a:rPr>
              <a:t>from </a:t>
            </a:r>
            <a:r>
              <a:rPr sz="2200" spc="-210" dirty="0">
                <a:solidFill>
                  <a:srgbClr val="FFFFFF"/>
                </a:solidFill>
                <a:latin typeface="Arial"/>
                <a:cs typeface="Arial"/>
              </a:rPr>
              <a:t>a </a:t>
            </a:r>
            <a:r>
              <a:rPr sz="2200" spc="-5" dirty="0">
                <a:solidFill>
                  <a:srgbClr val="FFFFFF"/>
                </a:solidFill>
                <a:latin typeface="Arial"/>
                <a:cs typeface="Arial"/>
              </a:rPr>
              <a:t>view. </a:t>
            </a:r>
            <a:r>
              <a:rPr sz="2200" spc="-55" dirty="0">
                <a:solidFill>
                  <a:srgbClr val="FFFFFF"/>
                </a:solidFill>
                <a:latin typeface="Arial"/>
                <a:cs typeface="Arial"/>
              </a:rPr>
              <a:t>Rows </a:t>
            </a:r>
            <a:r>
              <a:rPr sz="2200" spc="-80" dirty="0">
                <a:solidFill>
                  <a:srgbClr val="FFFFFF"/>
                </a:solidFill>
                <a:latin typeface="Arial"/>
                <a:cs typeface="Arial"/>
              </a:rPr>
              <a:t>can </a:t>
            </a:r>
            <a:r>
              <a:rPr sz="2200" spc="-114" dirty="0">
                <a:solidFill>
                  <a:srgbClr val="FFFFFF"/>
                </a:solidFill>
                <a:latin typeface="Arial"/>
                <a:cs typeface="Arial"/>
              </a:rPr>
              <a:t>be  </a:t>
            </a:r>
            <a:r>
              <a:rPr sz="2200" spc="-45" dirty="0">
                <a:solidFill>
                  <a:srgbClr val="FFFFFF"/>
                </a:solidFill>
                <a:latin typeface="Arial"/>
                <a:cs typeface="Arial"/>
              </a:rPr>
              <a:t>deleted</a:t>
            </a:r>
            <a:r>
              <a:rPr sz="2200" spc="-170" dirty="0">
                <a:solidFill>
                  <a:srgbClr val="FFFFFF"/>
                </a:solidFill>
                <a:latin typeface="Arial"/>
                <a:cs typeface="Arial"/>
              </a:rPr>
              <a:t> </a:t>
            </a:r>
            <a:r>
              <a:rPr sz="2200" spc="50" dirty="0">
                <a:solidFill>
                  <a:srgbClr val="FFFFFF"/>
                </a:solidFill>
                <a:latin typeface="Arial"/>
                <a:cs typeface="Arial"/>
              </a:rPr>
              <a:t>from</a:t>
            </a:r>
            <a:r>
              <a:rPr sz="2200" spc="-155" dirty="0">
                <a:solidFill>
                  <a:srgbClr val="FFFFFF"/>
                </a:solidFill>
                <a:latin typeface="Arial"/>
                <a:cs typeface="Arial"/>
              </a:rPr>
              <a:t> </a:t>
            </a:r>
            <a:r>
              <a:rPr sz="2200" dirty="0">
                <a:solidFill>
                  <a:srgbClr val="FFFFFF"/>
                </a:solidFill>
                <a:latin typeface="Arial"/>
                <a:cs typeface="Arial"/>
              </a:rPr>
              <a:t>the</a:t>
            </a:r>
            <a:r>
              <a:rPr sz="2200" spc="-155" dirty="0">
                <a:solidFill>
                  <a:srgbClr val="FFFFFF"/>
                </a:solidFill>
                <a:latin typeface="Arial"/>
                <a:cs typeface="Arial"/>
              </a:rPr>
              <a:t> </a:t>
            </a:r>
            <a:r>
              <a:rPr sz="2200" spc="10" dirty="0">
                <a:solidFill>
                  <a:srgbClr val="FFFFFF"/>
                </a:solidFill>
                <a:latin typeface="Arial"/>
                <a:cs typeface="Arial"/>
              </a:rPr>
              <a:t>view</a:t>
            </a:r>
            <a:r>
              <a:rPr sz="2200" spc="-150" dirty="0">
                <a:solidFill>
                  <a:srgbClr val="FFFFFF"/>
                </a:solidFill>
                <a:latin typeface="Arial"/>
                <a:cs typeface="Arial"/>
              </a:rPr>
              <a:t> </a:t>
            </a:r>
            <a:r>
              <a:rPr sz="2200" spc="-25" dirty="0">
                <a:solidFill>
                  <a:srgbClr val="FFFFFF"/>
                </a:solidFill>
                <a:latin typeface="Arial"/>
                <a:cs typeface="Arial"/>
              </a:rPr>
              <a:t>using</a:t>
            </a:r>
            <a:r>
              <a:rPr sz="2200" spc="-155" dirty="0">
                <a:solidFill>
                  <a:srgbClr val="FFFFFF"/>
                </a:solidFill>
                <a:latin typeface="Arial"/>
                <a:cs typeface="Arial"/>
              </a:rPr>
              <a:t> </a:t>
            </a:r>
            <a:r>
              <a:rPr sz="2200" dirty="0">
                <a:solidFill>
                  <a:srgbClr val="FFFFFF"/>
                </a:solidFill>
                <a:latin typeface="Arial"/>
                <a:cs typeface="Arial"/>
              </a:rPr>
              <a:t>the</a:t>
            </a:r>
            <a:r>
              <a:rPr sz="2200" spc="-165" dirty="0">
                <a:solidFill>
                  <a:srgbClr val="FFFFFF"/>
                </a:solidFill>
                <a:latin typeface="Arial"/>
                <a:cs typeface="Arial"/>
              </a:rPr>
              <a:t> </a:t>
            </a:r>
            <a:r>
              <a:rPr sz="2200" spc="5" dirty="0">
                <a:solidFill>
                  <a:srgbClr val="FFFFFF"/>
                </a:solidFill>
                <a:latin typeface="Arial"/>
                <a:cs typeface="Arial"/>
              </a:rPr>
              <a:t>DELETE</a:t>
            </a:r>
            <a:r>
              <a:rPr sz="2200" spc="-180" dirty="0">
                <a:solidFill>
                  <a:srgbClr val="FFFFFF"/>
                </a:solidFill>
                <a:latin typeface="Arial"/>
                <a:cs typeface="Arial"/>
              </a:rPr>
              <a:t> </a:t>
            </a:r>
            <a:r>
              <a:rPr sz="2200" spc="-45" dirty="0">
                <a:solidFill>
                  <a:srgbClr val="FFFFFF"/>
                </a:solidFill>
                <a:latin typeface="Arial"/>
                <a:cs typeface="Arial"/>
              </a:rPr>
              <a:t>statement.</a:t>
            </a:r>
            <a:endParaRPr sz="2200">
              <a:latin typeface="Arial"/>
              <a:cs typeface="Arial"/>
            </a:endParaRPr>
          </a:p>
          <a:p>
            <a:pPr marL="419100" indent="-343535">
              <a:lnSpc>
                <a:spcPts val="2205"/>
              </a:lnSpc>
              <a:buFont typeface="Wingdings"/>
              <a:buChar char=""/>
              <a:tabLst>
                <a:tab pos="419734" algn="l"/>
              </a:tabLst>
            </a:pPr>
            <a:r>
              <a:rPr sz="2200" spc="75" dirty="0">
                <a:solidFill>
                  <a:srgbClr val="FFFFFF"/>
                </a:solidFill>
                <a:latin typeface="Arial"/>
                <a:cs typeface="Arial"/>
              </a:rPr>
              <a:t>When </a:t>
            </a:r>
            <a:r>
              <a:rPr sz="2200" spc="-30" dirty="0">
                <a:solidFill>
                  <a:srgbClr val="FFFFFF"/>
                </a:solidFill>
                <a:latin typeface="Arial"/>
                <a:cs typeface="Arial"/>
              </a:rPr>
              <a:t>rows </a:t>
            </a:r>
            <a:r>
              <a:rPr sz="2200" spc="-105" dirty="0">
                <a:solidFill>
                  <a:srgbClr val="FFFFFF"/>
                </a:solidFill>
                <a:latin typeface="Arial"/>
                <a:cs typeface="Arial"/>
              </a:rPr>
              <a:t>are </a:t>
            </a:r>
            <a:r>
              <a:rPr sz="2200" spc="-45" dirty="0">
                <a:solidFill>
                  <a:srgbClr val="FFFFFF"/>
                </a:solidFill>
                <a:latin typeface="Arial"/>
                <a:cs typeface="Arial"/>
              </a:rPr>
              <a:t>deleted </a:t>
            </a:r>
            <a:r>
              <a:rPr sz="2200" spc="50" dirty="0">
                <a:solidFill>
                  <a:srgbClr val="FFFFFF"/>
                </a:solidFill>
                <a:latin typeface="Arial"/>
                <a:cs typeface="Arial"/>
              </a:rPr>
              <a:t>from </a:t>
            </a:r>
            <a:r>
              <a:rPr sz="2200" spc="-210" dirty="0">
                <a:solidFill>
                  <a:srgbClr val="FFFFFF"/>
                </a:solidFill>
                <a:latin typeface="Arial"/>
                <a:cs typeface="Arial"/>
              </a:rPr>
              <a:t>a </a:t>
            </a:r>
            <a:r>
              <a:rPr sz="2200" spc="-5" dirty="0">
                <a:solidFill>
                  <a:srgbClr val="FFFFFF"/>
                </a:solidFill>
                <a:latin typeface="Arial"/>
                <a:cs typeface="Arial"/>
              </a:rPr>
              <a:t>view, </a:t>
            </a:r>
            <a:r>
              <a:rPr sz="2200" spc="-20" dirty="0">
                <a:solidFill>
                  <a:srgbClr val="FFFFFF"/>
                </a:solidFill>
                <a:latin typeface="Arial"/>
                <a:cs typeface="Arial"/>
              </a:rPr>
              <a:t>corresponding </a:t>
            </a:r>
            <a:r>
              <a:rPr sz="2200" spc="-30" dirty="0">
                <a:solidFill>
                  <a:srgbClr val="FFFFFF"/>
                </a:solidFill>
                <a:latin typeface="Arial"/>
                <a:cs typeface="Arial"/>
              </a:rPr>
              <a:t>rows </a:t>
            </a:r>
            <a:r>
              <a:rPr sz="2200" spc="-105" dirty="0">
                <a:solidFill>
                  <a:srgbClr val="FFFFFF"/>
                </a:solidFill>
                <a:latin typeface="Arial"/>
                <a:cs typeface="Arial"/>
              </a:rPr>
              <a:t>are</a:t>
            </a:r>
            <a:r>
              <a:rPr sz="2200" spc="330" dirty="0">
                <a:solidFill>
                  <a:srgbClr val="FFFFFF"/>
                </a:solidFill>
                <a:latin typeface="Arial"/>
                <a:cs typeface="Arial"/>
              </a:rPr>
              <a:t> </a:t>
            </a:r>
            <a:r>
              <a:rPr sz="2200" spc="-90" dirty="0">
                <a:solidFill>
                  <a:srgbClr val="FFFFFF"/>
                </a:solidFill>
                <a:latin typeface="Arial"/>
                <a:cs typeface="Arial"/>
              </a:rPr>
              <a:t>also</a:t>
            </a:r>
            <a:endParaRPr sz="2200">
              <a:latin typeface="Arial"/>
              <a:cs typeface="Arial"/>
            </a:endParaRPr>
          </a:p>
          <a:p>
            <a:pPr marL="419100">
              <a:lnSpc>
                <a:spcPts val="2510"/>
              </a:lnSpc>
            </a:pPr>
            <a:r>
              <a:rPr sz="2200" spc="-45" dirty="0">
                <a:solidFill>
                  <a:srgbClr val="FFFFFF"/>
                </a:solidFill>
                <a:latin typeface="Arial"/>
                <a:cs typeface="Arial"/>
              </a:rPr>
              <a:t>deleted </a:t>
            </a:r>
            <a:r>
              <a:rPr sz="2200" spc="50" dirty="0">
                <a:solidFill>
                  <a:srgbClr val="FFFFFF"/>
                </a:solidFill>
                <a:latin typeface="Arial"/>
                <a:cs typeface="Arial"/>
              </a:rPr>
              <a:t>from</a:t>
            </a:r>
            <a:r>
              <a:rPr sz="2200" spc="-455" dirty="0">
                <a:solidFill>
                  <a:srgbClr val="FFFFFF"/>
                </a:solidFill>
                <a:latin typeface="Arial"/>
                <a:cs typeface="Arial"/>
              </a:rPr>
              <a:t> </a:t>
            </a:r>
            <a:r>
              <a:rPr sz="2200" spc="5" dirty="0">
                <a:solidFill>
                  <a:srgbClr val="FFFFFF"/>
                </a:solidFill>
                <a:latin typeface="Arial"/>
                <a:cs typeface="Arial"/>
              </a:rPr>
              <a:t>the </a:t>
            </a:r>
            <a:r>
              <a:rPr sz="2200" spc="-165" dirty="0">
                <a:solidFill>
                  <a:srgbClr val="FFFFFF"/>
                </a:solidFill>
                <a:latin typeface="Arial"/>
                <a:cs typeface="Arial"/>
              </a:rPr>
              <a:t>base </a:t>
            </a:r>
            <a:r>
              <a:rPr sz="2200" spc="-40" dirty="0">
                <a:solidFill>
                  <a:srgbClr val="FFFFFF"/>
                </a:solidFill>
                <a:latin typeface="Arial"/>
                <a:cs typeface="Arial"/>
              </a:rPr>
              <a:t>table.</a:t>
            </a:r>
            <a:endParaRPr sz="2200">
              <a:latin typeface="Arial"/>
              <a:cs typeface="Arial"/>
            </a:endParaRPr>
          </a:p>
        </p:txBody>
      </p:sp>
      <p:pic>
        <p:nvPicPr>
          <p:cNvPr id="6" name="object 6"/>
          <p:cNvPicPr/>
          <p:nvPr/>
        </p:nvPicPr>
        <p:blipFill>
          <a:blip r:embed="rId3" cstate="print"/>
          <a:stretch>
            <a:fillRect/>
          </a:stretch>
        </p:blipFill>
        <p:spPr>
          <a:xfrm>
            <a:off x="829817" y="2402585"/>
            <a:ext cx="7484364" cy="3998214"/>
          </a:xfrm>
          <a:prstGeom prst="rect">
            <a:avLst/>
          </a:prstGeom>
        </p:spPr>
      </p:pic>
      <p:sp>
        <p:nvSpPr>
          <p:cNvPr id="7" name="object 7"/>
          <p:cNvSpPr txBox="1"/>
          <p:nvPr/>
        </p:nvSpPr>
        <p:spPr>
          <a:xfrm>
            <a:off x="3737102" y="6388353"/>
            <a:ext cx="1588135" cy="238760"/>
          </a:xfrm>
          <a:prstGeom prst="rect">
            <a:avLst/>
          </a:prstGeom>
        </p:spPr>
        <p:txBody>
          <a:bodyPr vert="horz" wrap="square" lIns="0" tIns="12065" rIns="0" bIns="0" rtlCol="0">
            <a:spAutoFit/>
          </a:bodyPr>
          <a:lstStyle/>
          <a:p>
            <a:pPr marL="12700">
              <a:lnSpc>
                <a:spcPct val="100000"/>
              </a:lnSpc>
              <a:spcBef>
                <a:spcPts val="95"/>
              </a:spcBef>
            </a:pPr>
            <a:r>
              <a:rPr sz="1400" b="1" spc="-55" dirty="0">
                <a:latin typeface="Arial"/>
                <a:cs typeface="Arial"/>
              </a:rPr>
              <a:t>Deleting </a:t>
            </a:r>
            <a:r>
              <a:rPr sz="1400" b="1" spc="-50" dirty="0">
                <a:latin typeface="Arial"/>
                <a:cs typeface="Arial"/>
              </a:rPr>
              <a:t>from</a:t>
            </a:r>
            <a:r>
              <a:rPr sz="1400" b="1" spc="-245" dirty="0">
                <a:latin typeface="Arial"/>
                <a:cs typeface="Arial"/>
              </a:rPr>
              <a:t> </a:t>
            </a:r>
            <a:r>
              <a:rPr sz="1400" b="1" spc="-50" dirty="0">
                <a:latin typeface="Arial"/>
                <a:cs typeface="Arial"/>
              </a:rPr>
              <a:t>Views</a:t>
            </a:r>
            <a:endParaRPr sz="140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6601714"/>
            <a:ext cx="892810" cy="208279"/>
          </a:xfrm>
          <a:prstGeom prst="rect">
            <a:avLst/>
          </a:prstGeom>
        </p:spPr>
        <p:txBody>
          <a:bodyPr vert="horz" wrap="square" lIns="0" tIns="12700" rIns="0" bIns="0" rtlCol="0">
            <a:spAutoFit/>
          </a:bodyPr>
          <a:lstStyle/>
          <a:p>
            <a:pPr marL="12700">
              <a:lnSpc>
                <a:spcPct val="100000"/>
              </a:lnSpc>
              <a:spcBef>
                <a:spcPts val="100"/>
              </a:spcBef>
            </a:pPr>
            <a:r>
              <a:rPr sz="1200" spc="70" dirty="0">
                <a:latin typeface="Arial"/>
                <a:cs typeface="Arial"/>
              </a:rPr>
              <a:t>©</a:t>
            </a:r>
            <a:r>
              <a:rPr sz="1200" spc="-180" dirty="0">
                <a:latin typeface="Arial"/>
                <a:cs typeface="Arial"/>
              </a:rPr>
              <a:t> </a:t>
            </a:r>
            <a:r>
              <a:rPr sz="1200" i="1" dirty="0">
                <a:latin typeface="Palatino Linotype"/>
                <a:cs typeface="Palatino Linotype"/>
              </a:rPr>
              <a:t>Aptech </a:t>
            </a:r>
            <a:r>
              <a:rPr sz="1200" i="1" spc="-15" dirty="0">
                <a:latin typeface="Palatino Linotype"/>
                <a:cs typeface="Palatino Linotype"/>
              </a:rPr>
              <a:t>Ltd.</a:t>
            </a:r>
            <a:endParaRPr sz="1200">
              <a:latin typeface="Palatino Linotype"/>
              <a:cs typeface="Palatino Linotype"/>
            </a:endParaRPr>
          </a:p>
        </p:txBody>
      </p:sp>
      <p:sp>
        <p:nvSpPr>
          <p:cNvPr id="3" name="object 3"/>
          <p:cNvSpPr txBox="1">
            <a:spLocks noGrp="1"/>
          </p:cNvSpPr>
          <p:nvPr>
            <p:ph type="title"/>
          </p:nvPr>
        </p:nvSpPr>
        <p:spPr>
          <a:xfrm>
            <a:off x="398525" y="26416"/>
            <a:ext cx="4592955"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Arial"/>
                <a:cs typeface="Arial"/>
              </a:rPr>
              <a:t>DELETE </a:t>
            </a:r>
            <a:r>
              <a:rPr sz="4000" b="0" spc="180" dirty="0">
                <a:latin typeface="Arial"/>
                <a:cs typeface="Arial"/>
              </a:rPr>
              <a:t>with</a:t>
            </a:r>
            <a:r>
              <a:rPr sz="4000" b="0" spc="-625" dirty="0">
                <a:latin typeface="Arial"/>
                <a:cs typeface="Arial"/>
              </a:rPr>
              <a:t> </a:t>
            </a:r>
            <a:r>
              <a:rPr sz="4000" b="0" spc="25" dirty="0">
                <a:latin typeface="Arial"/>
                <a:cs typeface="Arial"/>
              </a:rPr>
              <a:t>Views</a:t>
            </a:r>
            <a:endParaRPr sz="4000">
              <a:latin typeface="Arial"/>
              <a:cs typeface="Arial"/>
            </a:endParaRPr>
          </a:p>
        </p:txBody>
      </p:sp>
      <p:sp>
        <p:nvSpPr>
          <p:cNvPr id="4" name="object 4"/>
          <p:cNvSpPr txBox="1"/>
          <p:nvPr/>
        </p:nvSpPr>
        <p:spPr>
          <a:xfrm>
            <a:off x="7853933" y="6575552"/>
            <a:ext cx="908685" cy="208279"/>
          </a:xfrm>
          <a:prstGeom prst="rect">
            <a:avLst/>
          </a:prstGeom>
        </p:spPr>
        <p:txBody>
          <a:bodyPr vert="horz" wrap="square" lIns="0" tIns="12700" rIns="0" bIns="0" rtlCol="0">
            <a:spAutoFit/>
          </a:bodyPr>
          <a:lstStyle/>
          <a:p>
            <a:pPr marL="12700">
              <a:lnSpc>
                <a:spcPct val="100000"/>
              </a:lnSpc>
              <a:spcBef>
                <a:spcPts val="100"/>
              </a:spcBef>
            </a:pPr>
            <a:r>
              <a:rPr sz="1800" spc="-75" baseline="4629" dirty="0">
                <a:latin typeface="Arial"/>
                <a:cs typeface="Arial"/>
              </a:rPr>
              <a:t>Session </a:t>
            </a:r>
            <a:r>
              <a:rPr sz="1800" spc="-67" baseline="4629" dirty="0">
                <a:latin typeface="Arial"/>
                <a:cs typeface="Arial"/>
              </a:rPr>
              <a:t>10/</a:t>
            </a:r>
            <a:r>
              <a:rPr sz="1800" spc="-262" baseline="4629" dirty="0">
                <a:latin typeface="Arial"/>
                <a:cs typeface="Arial"/>
              </a:rPr>
              <a:t> </a:t>
            </a:r>
            <a:r>
              <a:rPr sz="1200" spc="-185" dirty="0">
                <a:latin typeface="Arial"/>
                <a:cs typeface="Arial"/>
              </a:rPr>
              <a:t>12</a:t>
            </a:r>
            <a:endParaRPr sz="1200">
              <a:latin typeface="Arial"/>
              <a:cs typeface="Arial"/>
            </a:endParaRPr>
          </a:p>
        </p:txBody>
      </p:sp>
      <p:sp>
        <p:nvSpPr>
          <p:cNvPr id="7" name="object 7"/>
          <p:cNvSpPr txBox="1"/>
          <p:nvPr/>
        </p:nvSpPr>
        <p:spPr>
          <a:xfrm>
            <a:off x="3737102" y="6388353"/>
            <a:ext cx="1588135" cy="238760"/>
          </a:xfrm>
          <a:prstGeom prst="rect">
            <a:avLst/>
          </a:prstGeom>
        </p:spPr>
        <p:txBody>
          <a:bodyPr vert="horz" wrap="square" lIns="0" tIns="12065" rIns="0" bIns="0" rtlCol="0">
            <a:spAutoFit/>
          </a:bodyPr>
          <a:lstStyle/>
          <a:p>
            <a:pPr marL="12700">
              <a:lnSpc>
                <a:spcPct val="100000"/>
              </a:lnSpc>
              <a:spcBef>
                <a:spcPts val="95"/>
              </a:spcBef>
            </a:pPr>
            <a:r>
              <a:rPr sz="1400" b="1" spc="-55" dirty="0">
                <a:latin typeface="Arial"/>
                <a:cs typeface="Arial"/>
              </a:rPr>
              <a:t>Deleting </a:t>
            </a:r>
            <a:r>
              <a:rPr sz="1400" b="1" spc="-50" dirty="0">
                <a:latin typeface="Arial"/>
                <a:cs typeface="Arial"/>
              </a:rPr>
              <a:t>from</a:t>
            </a:r>
            <a:r>
              <a:rPr sz="1400" b="1" spc="-245" dirty="0">
                <a:latin typeface="Arial"/>
                <a:cs typeface="Arial"/>
              </a:rPr>
              <a:t> </a:t>
            </a:r>
            <a:r>
              <a:rPr sz="1400" b="1" spc="-50" dirty="0">
                <a:latin typeface="Arial"/>
                <a:cs typeface="Arial"/>
              </a:rPr>
              <a:t>Views</a:t>
            </a:r>
            <a:endParaRPr sz="1400">
              <a:latin typeface="Arial"/>
              <a:cs typeface="Arial"/>
            </a:endParaRPr>
          </a:p>
        </p:txBody>
      </p:sp>
      <p:sp>
        <p:nvSpPr>
          <p:cNvPr id="9" name="TextBox 8">
            <a:extLst>
              <a:ext uri="{FF2B5EF4-FFF2-40B4-BE49-F238E27FC236}">
                <a16:creationId xmlns:a16="http://schemas.microsoft.com/office/drawing/2014/main" id="{53366D0C-B4AB-4F3C-944F-350DDDE57B59}"/>
              </a:ext>
            </a:extLst>
          </p:cNvPr>
          <p:cNvSpPr txBox="1"/>
          <p:nvPr/>
        </p:nvSpPr>
        <p:spPr>
          <a:xfrm>
            <a:off x="2438400" y="1924883"/>
            <a:ext cx="4577442" cy="424731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800">
                <a:solidFill>
                  <a:srgbClr val="0000FF"/>
                </a:solidFill>
                <a:latin typeface="Consolas" panose="020B0609020204030204" pitchFamily="49" charset="0"/>
              </a:rPr>
              <a:t>USE</a:t>
            </a:r>
            <a:r>
              <a:rPr lang="en-US" sz="1800">
                <a:solidFill>
                  <a:srgbClr val="000000"/>
                </a:solidFill>
                <a:latin typeface="Consolas" panose="020B0609020204030204" pitchFamily="49" charset="0"/>
              </a:rPr>
              <a:t> StrongHold</a:t>
            </a:r>
          </a:p>
          <a:p>
            <a:r>
              <a:rPr lang="en-US" sz="1800">
                <a:solidFill>
                  <a:srgbClr val="0000FF"/>
                </a:solidFill>
                <a:latin typeface="Consolas" panose="020B0609020204030204" pitchFamily="49" charset="0"/>
              </a:rPr>
              <a:t>GO</a:t>
            </a:r>
            <a:endParaRPr lang="en-US" sz="1800">
              <a:solidFill>
                <a:srgbClr val="000000"/>
              </a:solidFill>
              <a:latin typeface="Consolas" panose="020B0609020204030204" pitchFamily="49" charset="0"/>
            </a:endParaRPr>
          </a:p>
          <a:p>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CREATE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VIEW</a:t>
            </a:r>
            <a:r>
              <a:rPr lang="en-US" sz="1800">
                <a:solidFill>
                  <a:srgbClr val="000000"/>
                </a:solidFill>
                <a:latin typeface="Consolas" panose="020B0609020204030204" pitchFamily="49" charset="0"/>
              </a:rPr>
              <a:t> vwProductDetails</a:t>
            </a:r>
          </a:p>
          <a:p>
            <a:r>
              <a:rPr lang="en-US" sz="1800">
                <a:solidFill>
                  <a:srgbClr val="0000FF"/>
                </a:solidFill>
                <a:latin typeface="Consolas" panose="020B0609020204030204" pitchFamily="49" charset="0"/>
              </a:rPr>
              <a:t>AS</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SELECT</a:t>
            </a:r>
            <a:r>
              <a:rPr lang="en-US" sz="1800">
                <a:solidFill>
                  <a:srgbClr val="000000"/>
                </a:solidFill>
                <a:latin typeface="Consolas" panose="020B0609020204030204" pitchFamily="49" charset="0"/>
              </a:rPr>
              <a:t> ProductID</a:t>
            </a:r>
          </a:p>
          <a:p>
            <a:r>
              <a:rPr lang="en-US" sz="1800">
                <a:solidFill>
                  <a:srgbClr val="0000FF"/>
                </a:solidFill>
                <a:latin typeface="Consolas" panose="020B0609020204030204" pitchFamily="49" charset="0"/>
              </a:rPr>
              <a:t>FROM</a:t>
            </a:r>
            <a:r>
              <a:rPr lang="en-US" sz="1800">
                <a:solidFill>
                  <a:srgbClr val="000000"/>
                </a:solidFill>
                <a:latin typeface="Consolas" panose="020B0609020204030204" pitchFamily="49" charset="0"/>
              </a:rPr>
              <a:t> Product_Details</a:t>
            </a:r>
          </a:p>
          <a:p>
            <a:r>
              <a:rPr lang="en-US" sz="1800">
                <a:solidFill>
                  <a:srgbClr val="0000FF"/>
                </a:solidFill>
                <a:latin typeface="Consolas" panose="020B0609020204030204" pitchFamily="49" charset="0"/>
              </a:rPr>
              <a:t>WHERE</a:t>
            </a:r>
            <a:r>
              <a:rPr lang="en-US" sz="1800">
                <a:solidFill>
                  <a:srgbClr val="000000"/>
                </a:solidFill>
                <a:latin typeface="Consolas" panose="020B0609020204030204" pitchFamily="49" charset="0"/>
              </a:rPr>
              <a:t> ProductID</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1</a:t>
            </a:r>
          </a:p>
          <a:p>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GO</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DELETE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FROM</a:t>
            </a:r>
            <a:r>
              <a:rPr lang="en-US" sz="1800">
                <a:solidFill>
                  <a:srgbClr val="000000"/>
                </a:solidFill>
                <a:latin typeface="Consolas" panose="020B0609020204030204" pitchFamily="49" charset="0"/>
              </a:rPr>
              <a:t> vwProductDetails</a:t>
            </a:r>
          </a:p>
          <a:p>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GO</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SELECT</a:t>
            </a:r>
            <a:r>
              <a:rPr lang="en-US" sz="1800">
                <a:solidFill>
                  <a:srgbClr val="000000"/>
                </a:solidFill>
                <a:latin typeface="Consolas" panose="020B0609020204030204" pitchFamily="49" charset="0"/>
              </a:rPr>
              <a:t> </a:t>
            </a:r>
            <a:r>
              <a:rPr lang="en-US" sz="1800">
                <a:solidFill>
                  <a:srgbClr val="808080"/>
                </a:solidFill>
                <a:latin typeface="Consolas" panose="020B0609020204030204" pitchFamily="49" charset="0"/>
              </a:rPr>
              <a:t>*</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FROM</a:t>
            </a:r>
            <a:r>
              <a:rPr lang="en-US" sz="1800">
                <a:solidFill>
                  <a:srgbClr val="000000"/>
                </a:solidFill>
                <a:latin typeface="Consolas" panose="020B0609020204030204" pitchFamily="49" charset="0"/>
              </a:rPr>
              <a:t> Product_Details</a:t>
            </a:r>
            <a:endParaRPr lang="en-US"/>
          </a:p>
        </p:txBody>
      </p:sp>
      <p:sp>
        <p:nvSpPr>
          <p:cNvPr id="10" name="TextBox 9">
            <a:extLst>
              <a:ext uri="{FF2B5EF4-FFF2-40B4-BE49-F238E27FC236}">
                <a16:creationId xmlns:a16="http://schemas.microsoft.com/office/drawing/2014/main" id="{B5514643-111F-4B0B-9373-42B503F25ACC}"/>
              </a:ext>
            </a:extLst>
          </p:cNvPr>
          <p:cNvSpPr txBox="1"/>
          <p:nvPr/>
        </p:nvSpPr>
        <p:spPr>
          <a:xfrm>
            <a:off x="228600" y="914400"/>
            <a:ext cx="4577442" cy="400110"/>
          </a:xfrm>
          <a:prstGeom prst="rect">
            <a:avLst/>
          </a:prstGeom>
          <a:noFill/>
        </p:spPr>
        <p:txBody>
          <a:bodyPr wrap="square">
            <a:spAutoFit/>
          </a:bodyPr>
          <a:lstStyle/>
          <a:p>
            <a:pPr marL="285750" indent="-285750">
              <a:buFont typeface="Arial" panose="020B0604020202020204" pitchFamily="34" charset="0"/>
              <a:buChar char="•"/>
            </a:pPr>
            <a:r>
              <a:rPr lang="en-US" sz="2000">
                <a:latin typeface="Calibri" panose="020F0502020204030204" pitchFamily="34" charset="0"/>
                <a:cs typeface="Calibri" panose="020F0502020204030204" pitchFamily="34" charset="0"/>
              </a:rPr>
              <a:t>Example</a:t>
            </a:r>
            <a:endParaRPr lang="en-US" sz="2000"/>
          </a:p>
        </p:txBody>
      </p:sp>
    </p:spTree>
    <p:extLst>
      <p:ext uri="{BB962C8B-B14F-4D97-AF65-F5344CB8AC3E}">
        <p14:creationId xmlns:p14="http://schemas.microsoft.com/office/powerpoint/2010/main" val="3794809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0"/>
            <a:ext cx="3351529" cy="635635"/>
          </a:xfrm>
          <a:prstGeom prst="rect">
            <a:avLst/>
          </a:prstGeom>
        </p:spPr>
        <p:txBody>
          <a:bodyPr vert="horz" wrap="square" lIns="0" tIns="12700" rIns="0" bIns="0" rtlCol="0">
            <a:spAutoFit/>
          </a:bodyPr>
          <a:lstStyle/>
          <a:p>
            <a:pPr marL="12700">
              <a:lnSpc>
                <a:spcPct val="100000"/>
              </a:lnSpc>
              <a:spcBef>
                <a:spcPts val="100"/>
              </a:spcBef>
            </a:pPr>
            <a:r>
              <a:rPr sz="4000" b="0" spc="120" dirty="0">
                <a:latin typeface="Arial"/>
                <a:cs typeface="Arial"/>
              </a:rPr>
              <a:t>Altering</a:t>
            </a:r>
            <a:r>
              <a:rPr sz="4000" b="0" spc="-335" dirty="0">
                <a:latin typeface="Arial"/>
                <a:cs typeface="Arial"/>
              </a:rPr>
              <a:t> </a:t>
            </a:r>
            <a:r>
              <a:rPr sz="4000" b="0" spc="25" dirty="0">
                <a:latin typeface="Arial"/>
                <a:cs typeface="Arial"/>
              </a:rPr>
              <a:t>Views</a:t>
            </a:r>
            <a:endParaRPr sz="4000">
              <a:latin typeface="Arial"/>
              <a:cs typeface="Arial"/>
            </a:endParaRPr>
          </a:p>
        </p:txBody>
      </p:sp>
      <p:sp>
        <p:nvSpPr>
          <p:cNvPr id="3" name="object 3"/>
          <p:cNvSpPr/>
          <p:nvPr/>
        </p:nvSpPr>
        <p:spPr>
          <a:xfrm>
            <a:off x="265938" y="1040891"/>
            <a:ext cx="8382000" cy="1133475"/>
          </a:xfrm>
          <a:custGeom>
            <a:avLst/>
            <a:gdLst/>
            <a:ahLst/>
            <a:cxnLst/>
            <a:rect l="l" t="t" r="r" b="b"/>
            <a:pathLst>
              <a:path w="8382000" h="1133475">
                <a:moveTo>
                  <a:pt x="8382000" y="188849"/>
                </a:moveTo>
                <a:lnTo>
                  <a:pt x="8375243" y="138658"/>
                </a:lnTo>
                <a:lnTo>
                  <a:pt x="8356206" y="93548"/>
                </a:lnTo>
                <a:lnTo>
                  <a:pt x="8326666" y="55333"/>
                </a:lnTo>
                <a:lnTo>
                  <a:pt x="8288452" y="25793"/>
                </a:lnTo>
                <a:lnTo>
                  <a:pt x="8243341" y="6756"/>
                </a:lnTo>
                <a:lnTo>
                  <a:pt x="8193151" y="0"/>
                </a:lnTo>
                <a:lnTo>
                  <a:pt x="188849" y="0"/>
                </a:lnTo>
                <a:lnTo>
                  <a:pt x="138645" y="6756"/>
                </a:lnTo>
                <a:lnTo>
                  <a:pt x="93535" y="25793"/>
                </a:lnTo>
                <a:lnTo>
                  <a:pt x="87464" y="30480"/>
                </a:lnTo>
                <a:lnTo>
                  <a:pt x="1524" y="30480"/>
                </a:lnTo>
                <a:lnTo>
                  <a:pt x="1524" y="177507"/>
                </a:lnTo>
                <a:lnTo>
                  <a:pt x="0" y="188849"/>
                </a:lnTo>
                <a:lnTo>
                  <a:pt x="0" y="944245"/>
                </a:lnTo>
                <a:lnTo>
                  <a:pt x="1524" y="955598"/>
                </a:lnTo>
                <a:lnTo>
                  <a:pt x="1524" y="1053084"/>
                </a:lnTo>
                <a:lnTo>
                  <a:pt x="36220" y="1053084"/>
                </a:lnTo>
                <a:lnTo>
                  <a:pt x="55308" y="1077772"/>
                </a:lnTo>
                <a:lnTo>
                  <a:pt x="93535" y="1107313"/>
                </a:lnTo>
                <a:lnTo>
                  <a:pt x="138645" y="1126350"/>
                </a:lnTo>
                <a:lnTo>
                  <a:pt x="188849" y="1133094"/>
                </a:lnTo>
                <a:lnTo>
                  <a:pt x="8193151" y="1133094"/>
                </a:lnTo>
                <a:lnTo>
                  <a:pt x="8243341" y="1126350"/>
                </a:lnTo>
                <a:lnTo>
                  <a:pt x="8288452" y="1107313"/>
                </a:lnTo>
                <a:lnTo>
                  <a:pt x="8326666" y="1077772"/>
                </a:lnTo>
                <a:lnTo>
                  <a:pt x="8356206" y="1039558"/>
                </a:lnTo>
                <a:lnTo>
                  <a:pt x="8375243" y="994448"/>
                </a:lnTo>
                <a:lnTo>
                  <a:pt x="8382000" y="944245"/>
                </a:lnTo>
                <a:lnTo>
                  <a:pt x="8382000" y="188849"/>
                </a:lnTo>
                <a:close/>
              </a:path>
            </a:pathLst>
          </a:custGeom>
          <a:solidFill>
            <a:srgbClr val="4F6128"/>
          </a:solidFill>
        </p:spPr>
        <p:txBody>
          <a:bodyPr wrap="square" lIns="0" tIns="0" rIns="0" bIns="0" rtlCol="0"/>
          <a:lstStyle/>
          <a:p>
            <a:endParaRPr/>
          </a:p>
        </p:txBody>
      </p:sp>
      <p:sp>
        <p:nvSpPr>
          <p:cNvPr id="4" name="object 4"/>
          <p:cNvSpPr txBox="1"/>
          <p:nvPr/>
        </p:nvSpPr>
        <p:spPr>
          <a:xfrm>
            <a:off x="330961" y="1153159"/>
            <a:ext cx="8110855" cy="720725"/>
          </a:xfrm>
          <a:prstGeom prst="rect">
            <a:avLst/>
          </a:prstGeom>
        </p:spPr>
        <p:txBody>
          <a:bodyPr vert="horz" wrap="square" lIns="0" tIns="53975" rIns="0" bIns="0" rtlCol="0">
            <a:spAutoFit/>
          </a:bodyPr>
          <a:lstStyle/>
          <a:p>
            <a:pPr marL="355600" marR="5080" indent="-342900">
              <a:lnSpc>
                <a:spcPts val="2590"/>
              </a:lnSpc>
              <a:spcBef>
                <a:spcPts val="425"/>
              </a:spcBef>
              <a:buFont typeface="Wingdings"/>
              <a:buChar char=""/>
              <a:tabLst>
                <a:tab pos="355600" algn="l"/>
                <a:tab pos="795020" algn="l"/>
                <a:tab pos="1602740" algn="l"/>
                <a:tab pos="2253615" algn="l"/>
                <a:tab pos="2754630" algn="l"/>
                <a:tab pos="4129404" algn="l"/>
                <a:tab pos="4603115" algn="l"/>
                <a:tab pos="5695315" algn="l"/>
                <a:tab pos="6205855" algn="l"/>
                <a:tab pos="7607934" algn="l"/>
              </a:tabLst>
            </a:pPr>
            <a:r>
              <a:rPr sz="2400" spc="345" dirty="0">
                <a:solidFill>
                  <a:srgbClr val="FFFFFF"/>
                </a:solidFill>
                <a:latin typeface="Arial"/>
                <a:cs typeface="Arial"/>
              </a:rPr>
              <a:t>A	</a:t>
            </a:r>
            <a:r>
              <a:rPr sz="2400" spc="10" dirty="0">
                <a:solidFill>
                  <a:srgbClr val="FFFFFF"/>
                </a:solidFill>
                <a:latin typeface="Arial"/>
                <a:cs typeface="Arial"/>
              </a:rPr>
              <a:t>view	</a:t>
            </a:r>
            <a:r>
              <a:rPr sz="2400" spc="-120" dirty="0">
                <a:solidFill>
                  <a:srgbClr val="FFFFFF"/>
                </a:solidFill>
                <a:latin typeface="Arial"/>
                <a:cs typeface="Arial"/>
              </a:rPr>
              <a:t>c</a:t>
            </a:r>
            <a:r>
              <a:rPr sz="2400" spc="-75" dirty="0">
                <a:solidFill>
                  <a:srgbClr val="FFFFFF"/>
                </a:solidFill>
                <a:latin typeface="Arial"/>
                <a:cs typeface="Arial"/>
              </a:rPr>
              <a:t>an	</a:t>
            </a:r>
            <a:r>
              <a:rPr sz="2400" spc="-114" dirty="0">
                <a:solidFill>
                  <a:srgbClr val="FFFFFF"/>
                </a:solidFill>
                <a:latin typeface="Arial"/>
                <a:cs typeface="Arial"/>
              </a:rPr>
              <a:t>b</a:t>
            </a:r>
            <a:r>
              <a:rPr sz="2400" spc="-120" dirty="0">
                <a:solidFill>
                  <a:srgbClr val="FFFFFF"/>
                </a:solidFill>
                <a:latin typeface="Arial"/>
                <a:cs typeface="Arial"/>
              </a:rPr>
              <a:t>e</a:t>
            </a:r>
            <a:r>
              <a:rPr sz="2400" dirty="0">
                <a:solidFill>
                  <a:srgbClr val="FFFFFF"/>
                </a:solidFill>
                <a:latin typeface="Arial"/>
                <a:cs typeface="Arial"/>
              </a:rPr>
              <a:t>	</a:t>
            </a:r>
            <a:r>
              <a:rPr sz="2400" spc="70" dirty="0">
                <a:solidFill>
                  <a:srgbClr val="FFFFFF"/>
                </a:solidFill>
                <a:latin typeface="Arial"/>
                <a:cs typeface="Arial"/>
              </a:rPr>
              <a:t>modifi</a:t>
            </a:r>
            <a:r>
              <a:rPr sz="2400" spc="-229" dirty="0">
                <a:solidFill>
                  <a:srgbClr val="FFFFFF"/>
                </a:solidFill>
                <a:latin typeface="Arial"/>
                <a:cs typeface="Arial"/>
              </a:rPr>
              <a:t>e</a:t>
            </a:r>
            <a:r>
              <a:rPr sz="2400" spc="20" dirty="0">
                <a:solidFill>
                  <a:srgbClr val="FFFFFF"/>
                </a:solidFill>
                <a:latin typeface="Arial"/>
                <a:cs typeface="Arial"/>
              </a:rPr>
              <a:t>d</a:t>
            </a:r>
            <a:r>
              <a:rPr sz="2400" dirty="0">
                <a:solidFill>
                  <a:srgbClr val="FFFFFF"/>
                </a:solidFill>
                <a:latin typeface="Arial"/>
                <a:cs typeface="Arial"/>
              </a:rPr>
              <a:t>	</a:t>
            </a:r>
            <a:r>
              <a:rPr sz="2400" spc="35" dirty="0">
                <a:solidFill>
                  <a:srgbClr val="FFFFFF"/>
                </a:solidFill>
                <a:latin typeface="Arial"/>
                <a:cs typeface="Arial"/>
              </a:rPr>
              <a:t>or</a:t>
            </a:r>
            <a:r>
              <a:rPr sz="2400" dirty="0">
                <a:solidFill>
                  <a:srgbClr val="FFFFFF"/>
                </a:solidFill>
                <a:latin typeface="Arial"/>
                <a:cs typeface="Arial"/>
              </a:rPr>
              <a:t>	</a:t>
            </a:r>
            <a:r>
              <a:rPr sz="2400" spc="20" dirty="0">
                <a:solidFill>
                  <a:srgbClr val="FFFFFF"/>
                </a:solidFill>
                <a:latin typeface="Arial"/>
                <a:cs typeface="Arial"/>
              </a:rPr>
              <a:t>alt</a:t>
            </a:r>
            <a:r>
              <a:rPr sz="2400" spc="-80" dirty="0">
                <a:solidFill>
                  <a:srgbClr val="FFFFFF"/>
                </a:solidFill>
                <a:latin typeface="Arial"/>
                <a:cs typeface="Arial"/>
              </a:rPr>
              <a:t>ered</a:t>
            </a:r>
            <a:r>
              <a:rPr sz="2400" dirty="0">
                <a:solidFill>
                  <a:srgbClr val="FFFFFF"/>
                </a:solidFill>
                <a:latin typeface="Arial"/>
                <a:cs typeface="Arial"/>
              </a:rPr>
              <a:t>	</a:t>
            </a:r>
            <a:r>
              <a:rPr sz="2400" spc="-15" dirty="0">
                <a:solidFill>
                  <a:srgbClr val="FFFFFF"/>
                </a:solidFill>
                <a:latin typeface="Arial"/>
                <a:cs typeface="Arial"/>
              </a:rPr>
              <a:t>by</a:t>
            </a:r>
            <a:r>
              <a:rPr sz="2400" dirty="0">
                <a:solidFill>
                  <a:srgbClr val="FFFFFF"/>
                </a:solidFill>
                <a:latin typeface="Arial"/>
                <a:cs typeface="Arial"/>
              </a:rPr>
              <a:t>	</a:t>
            </a:r>
            <a:r>
              <a:rPr sz="2400" spc="45" dirty="0">
                <a:solidFill>
                  <a:srgbClr val="FFFFFF"/>
                </a:solidFill>
                <a:latin typeface="Arial"/>
                <a:cs typeface="Arial"/>
              </a:rPr>
              <a:t>droppin</a:t>
            </a:r>
            <a:r>
              <a:rPr sz="2400" spc="-165" dirty="0">
                <a:solidFill>
                  <a:srgbClr val="FFFFFF"/>
                </a:solidFill>
                <a:latin typeface="Arial"/>
                <a:cs typeface="Arial"/>
              </a:rPr>
              <a:t>g</a:t>
            </a:r>
            <a:r>
              <a:rPr sz="2400" dirty="0">
                <a:solidFill>
                  <a:srgbClr val="FFFFFF"/>
                </a:solidFill>
                <a:latin typeface="Arial"/>
                <a:cs typeface="Arial"/>
              </a:rPr>
              <a:t>	</a:t>
            </a:r>
            <a:r>
              <a:rPr sz="2400" spc="-45" dirty="0">
                <a:solidFill>
                  <a:srgbClr val="FFFFFF"/>
                </a:solidFill>
                <a:latin typeface="Arial"/>
                <a:cs typeface="Arial"/>
              </a:rPr>
              <a:t>and  </a:t>
            </a:r>
            <a:r>
              <a:rPr sz="2400" spc="-40" dirty="0">
                <a:solidFill>
                  <a:srgbClr val="FFFFFF"/>
                </a:solidFill>
                <a:latin typeface="Arial"/>
                <a:cs typeface="Arial"/>
              </a:rPr>
              <a:t>recreating</a:t>
            </a:r>
            <a:r>
              <a:rPr sz="2400" spc="-155" dirty="0">
                <a:solidFill>
                  <a:srgbClr val="FFFFFF"/>
                </a:solidFill>
                <a:latin typeface="Arial"/>
                <a:cs typeface="Arial"/>
              </a:rPr>
              <a:t> </a:t>
            </a:r>
            <a:r>
              <a:rPr sz="2400" spc="150" dirty="0">
                <a:solidFill>
                  <a:srgbClr val="FFFFFF"/>
                </a:solidFill>
                <a:latin typeface="Arial"/>
                <a:cs typeface="Arial"/>
              </a:rPr>
              <a:t>it</a:t>
            </a:r>
            <a:r>
              <a:rPr sz="2400" spc="-140" dirty="0">
                <a:solidFill>
                  <a:srgbClr val="FFFFFF"/>
                </a:solidFill>
                <a:latin typeface="Arial"/>
                <a:cs typeface="Arial"/>
              </a:rPr>
              <a:t> </a:t>
            </a:r>
            <a:r>
              <a:rPr sz="2400" spc="35" dirty="0">
                <a:solidFill>
                  <a:srgbClr val="FFFFFF"/>
                </a:solidFill>
                <a:latin typeface="Arial"/>
                <a:cs typeface="Arial"/>
              </a:rPr>
              <a:t>or</a:t>
            </a:r>
            <a:r>
              <a:rPr sz="2400" spc="-155" dirty="0">
                <a:solidFill>
                  <a:srgbClr val="FFFFFF"/>
                </a:solidFill>
                <a:latin typeface="Arial"/>
                <a:cs typeface="Arial"/>
              </a:rPr>
              <a:t> </a:t>
            </a:r>
            <a:r>
              <a:rPr sz="2400" spc="-20" dirty="0">
                <a:solidFill>
                  <a:srgbClr val="FFFFFF"/>
                </a:solidFill>
                <a:latin typeface="Arial"/>
                <a:cs typeface="Arial"/>
              </a:rPr>
              <a:t>executing</a:t>
            </a:r>
            <a:r>
              <a:rPr sz="2400" spc="-145" dirty="0">
                <a:solidFill>
                  <a:srgbClr val="FFFFFF"/>
                </a:solidFill>
                <a:latin typeface="Arial"/>
                <a:cs typeface="Arial"/>
              </a:rPr>
              <a:t> </a:t>
            </a:r>
            <a:r>
              <a:rPr sz="2400" dirty="0">
                <a:solidFill>
                  <a:srgbClr val="FFFFFF"/>
                </a:solidFill>
                <a:latin typeface="Arial"/>
                <a:cs typeface="Arial"/>
              </a:rPr>
              <a:t>the</a:t>
            </a:r>
            <a:r>
              <a:rPr sz="2400" spc="-155" dirty="0">
                <a:solidFill>
                  <a:srgbClr val="FFFFFF"/>
                </a:solidFill>
                <a:latin typeface="Arial"/>
                <a:cs typeface="Arial"/>
              </a:rPr>
              <a:t> </a:t>
            </a:r>
            <a:r>
              <a:rPr sz="2400" spc="100" dirty="0">
                <a:solidFill>
                  <a:srgbClr val="FFFFFF"/>
                </a:solidFill>
                <a:latin typeface="Arial"/>
                <a:cs typeface="Arial"/>
              </a:rPr>
              <a:t>ALTER</a:t>
            </a:r>
            <a:r>
              <a:rPr sz="2400" spc="-150" dirty="0">
                <a:solidFill>
                  <a:srgbClr val="FFFFFF"/>
                </a:solidFill>
                <a:latin typeface="Arial"/>
                <a:cs typeface="Arial"/>
              </a:rPr>
              <a:t> </a:t>
            </a:r>
            <a:r>
              <a:rPr sz="2400" spc="175" dirty="0">
                <a:solidFill>
                  <a:srgbClr val="FFFFFF"/>
                </a:solidFill>
                <a:latin typeface="Arial"/>
                <a:cs typeface="Arial"/>
              </a:rPr>
              <a:t>VIEW</a:t>
            </a:r>
            <a:r>
              <a:rPr sz="2400" spc="-150" dirty="0">
                <a:solidFill>
                  <a:srgbClr val="FFFFFF"/>
                </a:solidFill>
                <a:latin typeface="Arial"/>
                <a:cs typeface="Arial"/>
              </a:rPr>
              <a:t> </a:t>
            </a:r>
            <a:r>
              <a:rPr sz="2400" spc="-50" dirty="0">
                <a:solidFill>
                  <a:srgbClr val="FFFFFF"/>
                </a:solidFill>
                <a:latin typeface="Arial"/>
                <a:cs typeface="Arial"/>
              </a:rPr>
              <a:t>statement.</a:t>
            </a:r>
            <a:endParaRPr sz="2400">
              <a:latin typeface="Arial"/>
              <a:cs typeface="Arial"/>
            </a:endParaRPr>
          </a:p>
        </p:txBody>
      </p:sp>
      <p:sp>
        <p:nvSpPr>
          <p:cNvPr id="5" name="object 5"/>
          <p:cNvSpPr/>
          <p:nvPr/>
        </p:nvSpPr>
        <p:spPr>
          <a:xfrm>
            <a:off x="265938" y="2697479"/>
            <a:ext cx="8460105" cy="1133475"/>
          </a:xfrm>
          <a:custGeom>
            <a:avLst/>
            <a:gdLst/>
            <a:ahLst/>
            <a:cxnLst/>
            <a:rect l="l" t="t" r="r" b="b"/>
            <a:pathLst>
              <a:path w="8460105" h="1133475">
                <a:moveTo>
                  <a:pt x="8270875" y="0"/>
                </a:moveTo>
                <a:lnTo>
                  <a:pt x="188849" y="0"/>
                </a:lnTo>
                <a:lnTo>
                  <a:pt x="138647" y="6748"/>
                </a:lnTo>
                <a:lnTo>
                  <a:pt x="93535" y="25790"/>
                </a:lnTo>
                <a:lnTo>
                  <a:pt x="55314" y="55324"/>
                </a:lnTo>
                <a:lnTo>
                  <a:pt x="25784" y="93547"/>
                </a:lnTo>
                <a:lnTo>
                  <a:pt x="6746" y="138656"/>
                </a:lnTo>
                <a:lnTo>
                  <a:pt x="0" y="188849"/>
                </a:lnTo>
                <a:lnTo>
                  <a:pt x="0" y="944244"/>
                </a:lnTo>
                <a:lnTo>
                  <a:pt x="6746" y="994437"/>
                </a:lnTo>
                <a:lnTo>
                  <a:pt x="25784" y="1039546"/>
                </a:lnTo>
                <a:lnTo>
                  <a:pt x="55314" y="1077769"/>
                </a:lnTo>
                <a:lnTo>
                  <a:pt x="93535" y="1107303"/>
                </a:lnTo>
                <a:lnTo>
                  <a:pt x="138647" y="1126345"/>
                </a:lnTo>
                <a:lnTo>
                  <a:pt x="188849" y="1133094"/>
                </a:lnTo>
                <a:lnTo>
                  <a:pt x="8270875" y="1133094"/>
                </a:lnTo>
                <a:lnTo>
                  <a:pt x="8321067" y="1126345"/>
                </a:lnTo>
                <a:lnTo>
                  <a:pt x="8366176" y="1107303"/>
                </a:lnTo>
                <a:lnTo>
                  <a:pt x="8404399" y="1077769"/>
                </a:lnTo>
                <a:lnTo>
                  <a:pt x="8433933" y="1039546"/>
                </a:lnTo>
                <a:lnTo>
                  <a:pt x="8452975" y="994437"/>
                </a:lnTo>
                <a:lnTo>
                  <a:pt x="8459724" y="944244"/>
                </a:lnTo>
                <a:lnTo>
                  <a:pt x="8459724" y="188849"/>
                </a:lnTo>
                <a:lnTo>
                  <a:pt x="8452975" y="138656"/>
                </a:lnTo>
                <a:lnTo>
                  <a:pt x="8433933" y="93547"/>
                </a:lnTo>
                <a:lnTo>
                  <a:pt x="8404399" y="55324"/>
                </a:lnTo>
                <a:lnTo>
                  <a:pt x="8366176" y="25790"/>
                </a:lnTo>
                <a:lnTo>
                  <a:pt x="8321067" y="6748"/>
                </a:lnTo>
                <a:lnTo>
                  <a:pt x="8270875" y="0"/>
                </a:lnTo>
                <a:close/>
              </a:path>
            </a:pathLst>
          </a:custGeom>
          <a:solidFill>
            <a:srgbClr val="C0504D"/>
          </a:solidFill>
        </p:spPr>
        <p:txBody>
          <a:bodyPr wrap="square" lIns="0" tIns="0" rIns="0" bIns="0" rtlCol="0"/>
          <a:lstStyle/>
          <a:p>
            <a:endParaRPr/>
          </a:p>
        </p:txBody>
      </p:sp>
      <p:sp>
        <p:nvSpPr>
          <p:cNvPr id="6" name="object 6"/>
          <p:cNvSpPr/>
          <p:nvPr/>
        </p:nvSpPr>
        <p:spPr>
          <a:xfrm>
            <a:off x="343662" y="4251197"/>
            <a:ext cx="8382000" cy="1412240"/>
          </a:xfrm>
          <a:custGeom>
            <a:avLst/>
            <a:gdLst/>
            <a:ahLst/>
            <a:cxnLst/>
            <a:rect l="l" t="t" r="r" b="b"/>
            <a:pathLst>
              <a:path w="8382000" h="1412239">
                <a:moveTo>
                  <a:pt x="8382000" y="235331"/>
                </a:moveTo>
                <a:lnTo>
                  <a:pt x="8377212" y="187921"/>
                </a:lnTo>
                <a:lnTo>
                  <a:pt x="8363496" y="143751"/>
                </a:lnTo>
                <a:lnTo>
                  <a:pt x="8341792" y="103784"/>
                </a:lnTo>
                <a:lnTo>
                  <a:pt x="8313052" y="68948"/>
                </a:lnTo>
                <a:lnTo>
                  <a:pt x="8278215" y="40208"/>
                </a:lnTo>
                <a:lnTo>
                  <a:pt x="8238249" y="18503"/>
                </a:lnTo>
                <a:lnTo>
                  <a:pt x="8194078" y="4787"/>
                </a:lnTo>
                <a:lnTo>
                  <a:pt x="8146669" y="0"/>
                </a:lnTo>
                <a:lnTo>
                  <a:pt x="235331" y="0"/>
                </a:lnTo>
                <a:lnTo>
                  <a:pt x="187896" y="4787"/>
                </a:lnTo>
                <a:lnTo>
                  <a:pt x="143725" y="18503"/>
                </a:lnTo>
                <a:lnTo>
                  <a:pt x="109029" y="37338"/>
                </a:lnTo>
                <a:lnTo>
                  <a:pt x="2286" y="37338"/>
                </a:lnTo>
                <a:lnTo>
                  <a:pt x="2286" y="212636"/>
                </a:lnTo>
                <a:lnTo>
                  <a:pt x="0" y="235331"/>
                </a:lnTo>
                <a:lnTo>
                  <a:pt x="0" y="1176655"/>
                </a:lnTo>
                <a:lnTo>
                  <a:pt x="2286" y="1199362"/>
                </a:lnTo>
                <a:lnTo>
                  <a:pt x="2286" y="1311402"/>
                </a:lnTo>
                <a:lnTo>
                  <a:pt x="42811" y="1311402"/>
                </a:lnTo>
                <a:lnTo>
                  <a:pt x="68922" y="1343050"/>
                </a:lnTo>
                <a:lnTo>
                  <a:pt x="103746" y="1371790"/>
                </a:lnTo>
                <a:lnTo>
                  <a:pt x="143725" y="1393494"/>
                </a:lnTo>
                <a:lnTo>
                  <a:pt x="187896" y="1407210"/>
                </a:lnTo>
                <a:lnTo>
                  <a:pt x="235331" y="1411986"/>
                </a:lnTo>
                <a:lnTo>
                  <a:pt x="8146669" y="1411986"/>
                </a:lnTo>
                <a:lnTo>
                  <a:pt x="8194078" y="1407210"/>
                </a:lnTo>
                <a:lnTo>
                  <a:pt x="8238249" y="1393494"/>
                </a:lnTo>
                <a:lnTo>
                  <a:pt x="8278215" y="1371790"/>
                </a:lnTo>
                <a:lnTo>
                  <a:pt x="8313052" y="1343050"/>
                </a:lnTo>
                <a:lnTo>
                  <a:pt x="8341792" y="1308214"/>
                </a:lnTo>
                <a:lnTo>
                  <a:pt x="8363496" y="1268247"/>
                </a:lnTo>
                <a:lnTo>
                  <a:pt x="8377212" y="1224076"/>
                </a:lnTo>
                <a:lnTo>
                  <a:pt x="8382000" y="1176655"/>
                </a:lnTo>
                <a:lnTo>
                  <a:pt x="8382000" y="235331"/>
                </a:lnTo>
                <a:close/>
              </a:path>
            </a:pathLst>
          </a:custGeom>
          <a:solidFill>
            <a:srgbClr val="4F6128"/>
          </a:solidFill>
        </p:spPr>
        <p:txBody>
          <a:bodyPr wrap="square" lIns="0" tIns="0" rIns="0" bIns="0" rtlCol="0"/>
          <a:lstStyle/>
          <a:p>
            <a:endParaRPr/>
          </a:p>
        </p:txBody>
      </p:sp>
      <p:sp>
        <p:nvSpPr>
          <p:cNvPr id="7" name="object 7"/>
          <p:cNvSpPr txBox="1"/>
          <p:nvPr/>
        </p:nvSpPr>
        <p:spPr>
          <a:xfrm>
            <a:off x="399795" y="2825750"/>
            <a:ext cx="8192770" cy="2555875"/>
          </a:xfrm>
          <a:prstGeom prst="rect">
            <a:avLst/>
          </a:prstGeom>
        </p:spPr>
        <p:txBody>
          <a:bodyPr vert="horz" wrap="square" lIns="0" tIns="13335" rIns="0" bIns="0" rtlCol="0">
            <a:spAutoFit/>
          </a:bodyPr>
          <a:lstStyle/>
          <a:p>
            <a:pPr marL="355600" marR="5080" indent="-342900" algn="just">
              <a:lnSpc>
                <a:spcPts val="2990"/>
              </a:lnSpc>
              <a:spcBef>
                <a:spcPts val="105"/>
              </a:spcBef>
              <a:buFont typeface="Wingdings"/>
              <a:buChar char=""/>
              <a:tabLst>
                <a:tab pos="355600" algn="l"/>
              </a:tabLst>
            </a:pPr>
            <a:r>
              <a:rPr sz="2400" spc="100" dirty="0">
                <a:solidFill>
                  <a:srgbClr val="FFFFFF"/>
                </a:solidFill>
                <a:latin typeface="Arial"/>
                <a:cs typeface="Arial"/>
              </a:rPr>
              <a:t>ALTER</a:t>
            </a:r>
            <a:r>
              <a:rPr sz="2400" spc="-120" dirty="0">
                <a:solidFill>
                  <a:srgbClr val="FFFFFF"/>
                </a:solidFill>
                <a:latin typeface="Arial"/>
                <a:cs typeface="Arial"/>
              </a:rPr>
              <a:t> </a:t>
            </a:r>
            <a:r>
              <a:rPr sz="2400" spc="175" dirty="0">
                <a:solidFill>
                  <a:srgbClr val="FFFFFF"/>
                </a:solidFill>
                <a:latin typeface="Arial"/>
                <a:cs typeface="Arial"/>
              </a:rPr>
              <a:t>VIEW</a:t>
            </a:r>
            <a:r>
              <a:rPr sz="2400" spc="-125" dirty="0">
                <a:solidFill>
                  <a:srgbClr val="FFFFFF"/>
                </a:solidFill>
                <a:latin typeface="Arial"/>
                <a:cs typeface="Arial"/>
              </a:rPr>
              <a:t> </a:t>
            </a:r>
            <a:r>
              <a:rPr sz="2400" spc="-85" dirty="0">
                <a:solidFill>
                  <a:srgbClr val="FFFFFF"/>
                </a:solidFill>
                <a:latin typeface="Arial"/>
                <a:cs typeface="Arial"/>
              </a:rPr>
              <a:t>can</a:t>
            </a:r>
            <a:r>
              <a:rPr sz="2400" spc="-130" dirty="0">
                <a:solidFill>
                  <a:srgbClr val="FFFFFF"/>
                </a:solidFill>
                <a:latin typeface="Arial"/>
                <a:cs typeface="Arial"/>
              </a:rPr>
              <a:t> </a:t>
            </a:r>
            <a:r>
              <a:rPr sz="2400" spc="-120" dirty="0">
                <a:solidFill>
                  <a:srgbClr val="FFFFFF"/>
                </a:solidFill>
                <a:latin typeface="Arial"/>
                <a:cs typeface="Arial"/>
              </a:rPr>
              <a:t>be</a:t>
            </a:r>
            <a:r>
              <a:rPr sz="2400" spc="-125" dirty="0">
                <a:solidFill>
                  <a:srgbClr val="FFFFFF"/>
                </a:solidFill>
                <a:latin typeface="Arial"/>
                <a:cs typeface="Arial"/>
              </a:rPr>
              <a:t> </a:t>
            </a:r>
            <a:r>
              <a:rPr sz="2400" spc="-20" dirty="0">
                <a:solidFill>
                  <a:srgbClr val="FFFFFF"/>
                </a:solidFill>
                <a:latin typeface="Arial"/>
                <a:cs typeface="Arial"/>
              </a:rPr>
              <a:t>applied</a:t>
            </a:r>
            <a:r>
              <a:rPr sz="2400" spc="-120" dirty="0">
                <a:solidFill>
                  <a:srgbClr val="FFFFFF"/>
                </a:solidFill>
                <a:latin typeface="Arial"/>
                <a:cs typeface="Arial"/>
              </a:rPr>
              <a:t> </a:t>
            </a:r>
            <a:r>
              <a:rPr sz="2400" spc="65" dirty="0">
                <a:solidFill>
                  <a:srgbClr val="FFFFFF"/>
                </a:solidFill>
                <a:latin typeface="Arial"/>
                <a:cs typeface="Arial"/>
              </a:rPr>
              <a:t>to</a:t>
            </a:r>
            <a:r>
              <a:rPr sz="2400" spc="-120" dirty="0">
                <a:solidFill>
                  <a:srgbClr val="FFFFFF"/>
                </a:solidFill>
                <a:latin typeface="Arial"/>
                <a:cs typeface="Arial"/>
              </a:rPr>
              <a:t> </a:t>
            </a:r>
            <a:r>
              <a:rPr sz="2400" spc="-10" dirty="0">
                <a:solidFill>
                  <a:srgbClr val="FFFFFF"/>
                </a:solidFill>
                <a:latin typeface="Arial"/>
                <a:cs typeface="Arial"/>
              </a:rPr>
              <a:t>indexed</a:t>
            </a:r>
            <a:r>
              <a:rPr sz="2400" spc="-130" dirty="0">
                <a:solidFill>
                  <a:srgbClr val="FFFFFF"/>
                </a:solidFill>
                <a:latin typeface="Arial"/>
                <a:cs typeface="Arial"/>
              </a:rPr>
              <a:t> </a:t>
            </a:r>
            <a:r>
              <a:rPr sz="2400" spc="-45" dirty="0">
                <a:solidFill>
                  <a:srgbClr val="FFFFFF"/>
                </a:solidFill>
                <a:latin typeface="Arial"/>
                <a:cs typeface="Arial"/>
              </a:rPr>
              <a:t>views;</a:t>
            </a:r>
            <a:r>
              <a:rPr sz="2400" spc="-125" dirty="0">
                <a:solidFill>
                  <a:srgbClr val="FFFFFF"/>
                </a:solidFill>
                <a:latin typeface="Arial"/>
                <a:cs typeface="Arial"/>
              </a:rPr>
              <a:t> </a:t>
            </a:r>
            <a:r>
              <a:rPr sz="2400" spc="-30" dirty="0">
                <a:solidFill>
                  <a:srgbClr val="FFFFFF"/>
                </a:solidFill>
                <a:latin typeface="Arial"/>
                <a:cs typeface="Arial"/>
              </a:rPr>
              <a:t>however,</a:t>
            </a:r>
            <a:r>
              <a:rPr sz="2400" spc="-125" dirty="0">
                <a:solidFill>
                  <a:srgbClr val="FFFFFF"/>
                </a:solidFill>
                <a:latin typeface="Arial"/>
                <a:cs typeface="Arial"/>
              </a:rPr>
              <a:t> </a:t>
            </a:r>
            <a:r>
              <a:rPr sz="2400" spc="150" dirty="0">
                <a:solidFill>
                  <a:srgbClr val="FFFFFF"/>
                </a:solidFill>
                <a:latin typeface="Arial"/>
                <a:cs typeface="Arial"/>
              </a:rPr>
              <a:t>it  </a:t>
            </a:r>
            <a:r>
              <a:rPr sz="2400" spc="40" dirty="0">
                <a:solidFill>
                  <a:srgbClr val="FFFFFF"/>
                </a:solidFill>
                <a:latin typeface="Arial"/>
                <a:cs typeface="Arial"/>
              </a:rPr>
              <a:t>unconditionally</a:t>
            </a:r>
            <a:r>
              <a:rPr sz="2400" spc="-135" dirty="0">
                <a:solidFill>
                  <a:srgbClr val="FFFFFF"/>
                </a:solidFill>
                <a:latin typeface="Arial"/>
                <a:cs typeface="Arial"/>
              </a:rPr>
              <a:t> </a:t>
            </a:r>
            <a:r>
              <a:rPr sz="2400" spc="-35" dirty="0">
                <a:solidFill>
                  <a:srgbClr val="FFFFFF"/>
                </a:solidFill>
                <a:latin typeface="Arial"/>
                <a:cs typeface="Arial"/>
              </a:rPr>
              <a:t>drops</a:t>
            </a:r>
            <a:r>
              <a:rPr sz="2400" spc="-170" dirty="0">
                <a:solidFill>
                  <a:srgbClr val="FFFFFF"/>
                </a:solidFill>
                <a:latin typeface="Arial"/>
                <a:cs typeface="Arial"/>
              </a:rPr>
              <a:t> </a:t>
            </a:r>
            <a:r>
              <a:rPr sz="2400" spc="10" dirty="0">
                <a:solidFill>
                  <a:srgbClr val="FFFFFF"/>
                </a:solidFill>
                <a:latin typeface="Arial"/>
                <a:cs typeface="Arial"/>
              </a:rPr>
              <a:t>all</a:t>
            </a:r>
            <a:r>
              <a:rPr sz="2400" spc="-140" dirty="0">
                <a:solidFill>
                  <a:srgbClr val="FFFFFF"/>
                </a:solidFill>
                <a:latin typeface="Arial"/>
                <a:cs typeface="Arial"/>
              </a:rPr>
              <a:t> </a:t>
            </a:r>
            <a:r>
              <a:rPr sz="2400" spc="-50" dirty="0">
                <a:solidFill>
                  <a:srgbClr val="FFFFFF"/>
                </a:solidFill>
                <a:latin typeface="Arial"/>
                <a:cs typeface="Arial"/>
              </a:rPr>
              <a:t>indexes</a:t>
            </a:r>
            <a:r>
              <a:rPr sz="2400" spc="-185" dirty="0">
                <a:solidFill>
                  <a:srgbClr val="FFFFFF"/>
                </a:solidFill>
                <a:latin typeface="Arial"/>
                <a:cs typeface="Arial"/>
              </a:rPr>
              <a:t> </a:t>
            </a:r>
            <a:r>
              <a:rPr sz="2400" spc="30" dirty="0">
                <a:solidFill>
                  <a:srgbClr val="FFFFFF"/>
                </a:solidFill>
                <a:latin typeface="Arial"/>
                <a:cs typeface="Arial"/>
              </a:rPr>
              <a:t>on</a:t>
            </a:r>
            <a:r>
              <a:rPr sz="2400" spc="-160" dirty="0">
                <a:solidFill>
                  <a:srgbClr val="FFFFFF"/>
                </a:solidFill>
                <a:latin typeface="Arial"/>
                <a:cs typeface="Arial"/>
              </a:rPr>
              <a:t> </a:t>
            </a:r>
            <a:r>
              <a:rPr sz="2400" dirty="0">
                <a:solidFill>
                  <a:srgbClr val="FFFFFF"/>
                </a:solidFill>
                <a:latin typeface="Arial"/>
                <a:cs typeface="Arial"/>
              </a:rPr>
              <a:t>the</a:t>
            </a:r>
            <a:r>
              <a:rPr sz="2400" spc="-150" dirty="0">
                <a:solidFill>
                  <a:srgbClr val="FFFFFF"/>
                </a:solidFill>
                <a:latin typeface="Arial"/>
                <a:cs typeface="Arial"/>
              </a:rPr>
              <a:t> </a:t>
            </a:r>
            <a:r>
              <a:rPr sz="2400" spc="-5" dirty="0">
                <a:solidFill>
                  <a:srgbClr val="FFFFFF"/>
                </a:solidFill>
                <a:latin typeface="Arial"/>
                <a:cs typeface="Arial"/>
              </a:rPr>
              <a:t>view.</a:t>
            </a:r>
            <a:endParaRPr sz="2400">
              <a:latin typeface="Arial"/>
              <a:cs typeface="Arial"/>
            </a:endParaRPr>
          </a:p>
          <a:p>
            <a:pPr>
              <a:lnSpc>
                <a:spcPct val="100000"/>
              </a:lnSpc>
              <a:buClr>
                <a:srgbClr val="FFFFFF"/>
              </a:buClr>
              <a:buFont typeface="Wingdings"/>
              <a:buChar char=""/>
            </a:pPr>
            <a:endParaRPr sz="3400">
              <a:latin typeface="Arial"/>
              <a:cs typeface="Arial"/>
            </a:endParaRPr>
          </a:p>
          <a:p>
            <a:pPr marL="364490" marR="77470" indent="-342900" algn="just">
              <a:lnSpc>
                <a:spcPts val="2590"/>
              </a:lnSpc>
              <a:spcBef>
                <a:spcPts val="2290"/>
              </a:spcBef>
              <a:buFont typeface="Wingdings"/>
              <a:buChar char=""/>
              <a:tabLst>
                <a:tab pos="365125" algn="l"/>
              </a:tabLst>
            </a:pPr>
            <a:r>
              <a:rPr sz="2400" spc="10" dirty="0">
                <a:solidFill>
                  <a:srgbClr val="FFFFFF"/>
                </a:solidFill>
                <a:latin typeface="Arial"/>
                <a:cs typeface="Arial"/>
              </a:rPr>
              <a:t>Views </a:t>
            </a:r>
            <a:r>
              <a:rPr sz="2400" spc="-114" dirty="0">
                <a:solidFill>
                  <a:srgbClr val="FFFFFF"/>
                </a:solidFill>
                <a:latin typeface="Arial"/>
                <a:cs typeface="Arial"/>
              </a:rPr>
              <a:t>are </a:t>
            </a:r>
            <a:r>
              <a:rPr sz="2400" spc="30" dirty="0">
                <a:solidFill>
                  <a:srgbClr val="FFFFFF"/>
                </a:solidFill>
                <a:latin typeface="Arial"/>
                <a:cs typeface="Arial"/>
              </a:rPr>
              <a:t>often </a:t>
            </a:r>
            <a:r>
              <a:rPr sz="2400" spc="-40" dirty="0">
                <a:solidFill>
                  <a:srgbClr val="FFFFFF"/>
                </a:solidFill>
                <a:latin typeface="Arial"/>
                <a:cs typeface="Arial"/>
              </a:rPr>
              <a:t>altered </a:t>
            </a:r>
            <a:r>
              <a:rPr sz="2400" dirty="0">
                <a:solidFill>
                  <a:srgbClr val="FFFFFF"/>
                </a:solidFill>
                <a:latin typeface="Arial"/>
                <a:cs typeface="Arial"/>
              </a:rPr>
              <a:t>when </a:t>
            </a:r>
            <a:r>
              <a:rPr sz="2400" spc="-229" dirty="0">
                <a:solidFill>
                  <a:srgbClr val="FFFFFF"/>
                </a:solidFill>
                <a:latin typeface="Arial"/>
                <a:cs typeface="Arial"/>
              </a:rPr>
              <a:t>a </a:t>
            </a:r>
            <a:r>
              <a:rPr sz="2400" spc="-85" dirty="0">
                <a:solidFill>
                  <a:srgbClr val="FFFFFF"/>
                </a:solidFill>
                <a:latin typeface="Arial"/>
                <a:cs typeface="Arial"/>
              </a:rPr>
              <a:t>user requests </a:t>
            </a:r>
            <a:r>
              <a:rPr sz="2400" spc="80" dirty="0">
                <a:solidFill>
                  <a:srgbClr val="FFFFFF"/>
                </a:solidFill>
                <a:latin typeface="Arial"/>
                <a:cs typeface="Arial"/>
              </a:rPr>
              <a:t>for</a:t>
            </a:r>
            <a:r>
              <a:rPr sz="2400" spc="-434" dirty="0">
                <a:solidFill>
                  <a:srgbClr val="FFFFFF"/>
                </a:solidFill>
                <a:latin typeface="Arial"/>
                <a:cs typeface="Arial"/>
              </a:rPr>
              <a:t> </a:t>
            </a:r>
            <a:r>
              <a:rPr sz="2400" spc="20" dirty="0">
                <a:solidFill>
                  <a:srgbClr val="FFFFFF"/>
                </a:solidFill>
                <a:latin typeface="Arial"/>
                <a:cs typeface="Arial"/>
              </a:rPr>
              <a:t>additional  </a:t>
            </a:r>
            <a:r>
              <a:rPr sz="2400" spc="50" dirty="0">
                <a:solidFill>
                  <a:srgbClr val="FFFFFF"/>
                </a:solidFill>
                <a:latin typeface="Arial"/>
                <a:cs typeface="Arial"/>
              </a:rPr>
              <a:t>information </a:t>
            </a:r>
            <a:r>
              <a:rPr sz="2400" spc="35" dirty="0">
                <a:solidFill>
                  <a:srgbClr val="FFFFFF"/>
                </a:solidFill>
                <a:latin typeface="Arial"/>
                <a:cs typeface="Arial"/>
              </a:rPr>
              <a:t>or </a:t>
            </a:r>
            <a:r>
              <a:rPr sz="2400" spc="-125" dirty="0">
                <a:solidFill>
                  <a:srgbClr val="FFFFFF"/>
                </a:solidFill>
                <a:latin typeface="Arial"/>
                <a:cs typeface="Arial"/>
              </a:rPr>
              <a:t>makes </a:t>
            </a:r>
            <a:r>
              <a:rPr sz="2400" spc="-120" dirty="0">
                <a:solidFill>
                  <a:srgbClr val="FFFFFF"/>
                </a:solidFill>
                <a:latin typeface="Arial"/>
                <a:cs typeface="Arial"/>
              </a:rPr>
              <a:t>changes </a:t>
            </a:r>
            <a:r>
              <a:rPr sz="2400" spc="114" dirty="0">
                <a:solidFill>
                  <a:srgbClr val="FFFFFF"/>
                </a:solidFill>
                <a:latin typeface="Arial"/>
                <a:cs typeface="Arial"/>
              </a:rPr>
              <a:t>in </a:t>
            </a:r>
            <a:r>
              <a:rPr sz="2400" dirty="0">
                <a:solidFill>
                  <a:srgbClr val="FFFFFF"/>
                </a:solidFill>
                <a:latin typeface="Arial"/>
                <a:cs typeface="Arial"/>
              </a:rPr>
              <a:t>the </a:t>
            </a:r>
            <a:r>
              <a:rPr sz="2400" spc="20" dirty="0">
                <a:solidFill>
                  <a:srgbClr val="FFFFFF"/>
                </a:solidFill>
                <a:latin typeface="Arial"/>
                <a:cs typeface="Arial"/>
              </a:rPr>
              <a:t>underlying </a:t>
            </a:r>
            <a:r>
              <a:rPr sz="2400" spc="-40" dirty="0">
                <a:solidFill>
                  <a:srgbClr val="FFFFFF"/>
                </a:solidFill>
                <a:latin typeface="Arial"/>
                <a:cs typeface="Arial"/>
              </a:rPr>
              <a:t>table  </a:t>
            </a:r>
            <a:r>
              <a:rPr sz="2400" spc="55" dirty="0">
                <a:solidFill>
                  <a:srgbClr val="FFFFFF"/>
                </a:solidFill>
                <a:latin typeface="Arial"/>
                <a:cs typeface="Arial"/>
              </a:rPr>
              <a:t>definition.</a:t>
            </a:r>
            <a:endParaRPr sz="24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17</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0"/>
            <a:ext cx="3351529" cy="635635"/>
          </a:xfrm>
          <a:prstGeom prst="rect">
            <a:avLst/>
          </a:prstGeom>
        </p:spPr>
        <p:txBody>
          <a:bodyPr vert="horz" wrap="square" lIns="0" tIns="12700" rIns="0" bIns="0" rtlCol="0">
            <a:spAutoFit/>
          </a:bodyPr>
          <a:lstStyle/>
          <a:p>
            <a:pPr marL="12700">
              <a:lnSpc>
                <a:spcPct val="100000"/>
              </a:lnSpc>
              <a:spcBef>
                <a:spcPts val="100"/>
              </a:spcBef>
            </a:pPr>
            <a:r>
              <a:rPr sz="4000" b="0" spc="120" dirty="0">
                <a:latin typeface="Arial"/>
                <a:cs typeface="Arial"/>
              </a:rPr>
              <a:t>Altering</a:t>
            </a:r>
            <a:r>
              <a:rPr sz="4000" b="0" spc="-335" dirty="0">
                <a:latin typeface="Arial"/>
                <a:cs typeface="Arial"/>
              </a:rPr>
              <a:t> </a:t>
            </a:r>
            <a:r>
              <a:rPr sz="4000" b="0" spc="25" dirty="0">
                <a:latin typeface="Arial"/>
                <a:cs typeface="Arial"/>
              </a:rPr>
              <a:t>Views</a:t>
            </a:r>
            <a:endParaRPr sz="40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18</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1" name="TextBox 10">
            <a:extLst>
              <a:ext uri="{FF2B5EF4-FFF2-40B4-BE49-F238E27FC236}">
                <a16:creationId xmlns:a16="http://schemas.microsoft.com/office/drawing/2014/main" id="{6387AA85-DA0A-41B1-A01F-3A1B7A3B107A}"/>
              </a:ext>
            </a:extLst>
          </p:cNvPr>
          <p:cNvSpPr txBox="1"/>
          <p:nvPr/>
        </p:nvSpPr>
        <p:spPr>
          <a:xfrm>
            <a:off x="2283279" y="3611457"/>
            <a:ext cx="4577442" cy="286232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800">
                <a:solidFill>
                  <a:srgbClr val="0000FF"/>
                </a:solidFill>
                <a:latin typeface="Consolas" panose="020B0609020204030204" pitchFamily="49" charset="0"/>
              </a:rPr>
              <a:t>ALTER</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VIEW</a:t>
            </a:r>
            <a:r>
              <a:rPr lang="en-US" sz="1800">
                <a:solidFill>
                  <a:srgbClr val="000000"/>
                </a:solidFill>
                <a:latin typeface="Consolas" panose="020B0609020204030204" pitchFamily="49" charset="0"/>
              </a:rPr>
              <a:t> vwProduct_Details </a:t>
            </a:r>
          </a:p>
          <a:p>
            <a:r>
              <a:rPr lang="en-US" sz="1800">
                <a:solidFill>
                  <a:srgbClr val="0000FF"/>
                </a:solidFill>
                <a:latin typeface="Consolas" panose="020B0609020204030204" pitchFamily="49" charset="0"/>
              </a:rPr>
              <a:t>AS</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SELECT</a:t>
            </a:r>
            <a:r>
              <a:rPr lang="en-US" sz="1800">
                <a:solidFill>
                  <a:srgbClr val="000000"/>
                </a:solidFill>
                <a:latin typeface="Consolas" panose="020B0609020204030204" pitchFamily="49" charset="0"/>
              </a:rPr>
              <a:t> ProductID</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ProductName</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Rate </a:t>
            </a:r>
          </a:p>
          <a:p>
            <a:r>
              <a:rPr lang="en-US" sz="1800">
                <a:solidFill>
                  <a:srgbClr val="0000FF"/>
                </a:solidFill>
                <a:latin typeface="Consolas" panose="020B0609020204030204" pitchFamily="49" charset="0"/>
              </a:rPr>
              <a:t>FROM</a:t>
            </a:r>
            <a:r>
              <a:rPr lang="en-US" sz="1800">
                <a:solidFill>
                  <a:srgbClr val="000000"/>
                </a:solidFill>
                <a:latin typeface="Consolas" panose="020B0609020204030204" pitchFamily="49" charset="0"/>
              </a:rPr>
              <a:t> Product_Details</a:t>
            </a:r>
          </a:p>
          <a:p>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GO</a:t>
            </a:r>
            <a:endParaRPr lang="en-US" sz="1800">
              <a:solidFill>
                <a:srgbClr val="000000"/>
              </a:solidFill>
              <a:latin typeface="Consolas" panose="020B0609020204030204" pitchFamily="49" charset="0"/>
            </a:endParaRPr>
          </a:p>
          <a:p>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SELECT</a:t>
            </a:r>
            <a:r>
              <a:rPr lang="en-US" sz="1800">
                <a:solidFill>
                  <a:srgbClr val="000000"/>
                </a:solidFill>
                <a:latin typeface="Consolas" panose="020B0609020204030204" pitchFamily="49" charset="0"/>
              </a:rPr>
              <a:t> </a:t>
            </a:r>
            <a:r>
              <a:rPr lang="en-US" sz="1800">
                <a:solidFill>
                  <a:srgbClr val="808080"/>
                </a:solidFill>
                <a:latin typeface="Consolas" panose="020B0609020204030204" pitchFamily="49" charset="0"/>
              </a:rPr>
              <a:t>*</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FROM</a:t>
            </a:r>
            <a:r>
              <a:rPr lang="en-US" sz="1800">
                <a:solidFill>
                  <a:srgbClr val="000000"/>
                </a:solidFill>
                <a:latin typeface="Consolas" panose="020B0609020204030204" pitchFamily="49" charset="0"/>
              </a:rPr>
              <a:t> vwProduct_Details</a:t>
            </a:r>
          </a:p>
          <a:p>
            <a:r>
              <a:rPr lang="en-US" sz="1800">
                <a:solidFill>
                  <a:srgbClr val="0000FF"/>
                </a:solidFill>
                <a:latin typeface="Consolas" panose="020B0609020204030204" pitchFamily="49" charset="0"/>
              </a:rPr>
              <a:t>GO</a:t>
            </a:r>
            <a:endParaRPr lang="en-US"/>
          </a:p>
        </p:txBody>
      </p:sp>
      <p:sp>
        <p:nvSpPr>
          <p:cNvPr id="13" name="TextBox 12">
            <a:extLst>
              <a:ext uri="{FF2B5EF4-FFF2-40B4-BE49-F238E27FC236}">
                <a16:creationId xmlns:a16="http://schemas.microsoft.com/office/drawing/2014/main" id="{63028157-5110-4C7E-983A-8608F8B46298}"/>
              </a:ext>
            </a:extLst>
          </p:cNvPr>
          <p:cNvSpPr txBox="1"/>
          <p:nvPr/>
        </p:nvSpPr>
        <p:spPr>
          <a:xfrm>
            <a:off x="228600" y="3015213"/>
            <a:ext cx="4577442" cy="400110"/>
          </a:xfrm>
          <a:prstGeom prst="rect">
            <a:avLst/>
          </a:prstGeom>
          <a:noFill/>
        </p:spPr>
        <p:txBody>
          <a:bodyPr wrap="square">
            <a:spAutoFit/>
          </a:bodyPr>
          <a:lstStyle/>
          <a:p>
            <a:pPr marL="285750" indent="-285750">
              <a:buFont typeface="Arial" panose="020B0604020202020204" pitchFamily="34" charset="0"/>
              <a:buChar char="•"/>
            </a:pPr>
            <a:r>
              <a:rPr lang="en-US" sz="2000">
                <a:latin typeface="Calibri" panose="020F0502020204030204" pitchFamily="34" charset="0"/>
                <a:cs typeface="Calibri" panose="020F0502020204030204" pitchFamily="34" charset="0"/>
              </a:rPr>
              <a:t>Example</a:t>
            </a:r>
            <a:endParaRPr lang="en-US" sz="2000"/>
          </a:p>
        </p:txBody>
      </p:sp>
      <p:sp>
        <p:nvSpPr>
          <p:cNvPr id="14" name="TextBox 13">
            <a:extLst>
              <a:ext uri="{FF2B5EF4-FFF2-40B4-BE49-F238E27FC236}">
                <a16:creationId xmlns:a16="http://schemas.microsoft.com/office/drawing/2014/main" id="{43BAC448-4A00-4B50-8D9E-E51410A44AC6}"/>
              </a:ext>
            </a:extLst>
          </p:cNvPr>
          <p:cNvSpPr txBox="1"/>
          <p:nvPr/>
        </p:nvSpPr>
        <p:spPr>
          <a:xfrm>
            <a:off x="2135504" y="1840675"/>
            <a:ext cx="4732362" cy="700192"/>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000" b="1" dirty="0">
                <a:solidFill>
                  <a:srgbClr val="FF0000"/>
                </a:solidFill>
                <a:latin typeface="Courier New" panose="02070309020205020404" pitchFamily="49" charset="0"/>
                <a:cs typeface="Courier New" panose="02070309020205020404" pitchFamily="49" charset="0"/>
              </a:rPr>
              <a:t> ALTER VIEW </a:t>
            </a:r>
            <a:r>
              <a:rPr lang="en-US" sz="2000" b="1" dirty="0">
                <a:latin typeface="Courier New" panose="02070309020205020404" pitchFamily="49" charset="0"/>
                <a:cs typeface="Courier New" panose="02070309020205020404" pitchFamily="49" charset="0"/>
              </a:rPr>
              <a:t>&lt;</a:t>
            </a:r>
            <a:r>
              <a:rPr lang="en-US" sz="2000" b="1" dirty="0" err="1">
                <a:latin typeface="Courier New" panose="02070309020205020404" pitchFamily="49" charset="0"/>
                <a:cs typeface="Courier New" panose="02070309020205020404" pitchFamily="49" charset="0"/>
              </a:rPr>
              <a:t>view_name</a:t>
            </a:r>
            <a:r>
              <a:rPr lang="en-US" sz="2000" b="1" dirty="0">
                <a:latin typeface="Courier New" panose="02070309020205020404" pitchFamily="49" charset="0"/>
                <a:cs typeface="Courier New" panose="02070309020205020404" pitchFamily="49" charset="0"/>
              </a:rPr>
              <a:t>&gt;</a:t>
            </a:r>
          </a:p>
          <a:p>
            <a:r>
              <a:rPr lang="en-US" sz="2000" b="1" dirty="0">
                <a:solidFill>
                  <a:srgbClr val="FF0000"/>
                </a:solidFill>
                <a:latin typeface="Courier New" panose="02070309020205020404" pitchFamily="49" charset="0"/>
                <a:cs typeface="Courier New" panose="02070309020205020404" pitchFamily="49" charset="0"/>
              </a:rPr>
              <a:t>  AS</a:t>
            </a:r>
            <a:r>
              <a:rPr lang="en-US" sz="2000" b="1" dirty="0">
                <a:latin typeface="Courier New" panose="02070309020205020404" pitchFamily="49" charset="0"/>
                <a:cs typeface="Courier New" panose="02070309020205020404" pitchFamily="49" charset="0"/>
              </a:rPr>
              <a:t> &lt;</a:t>
            </a:r>
            <a:r>
              <a:rPr lang="en-US" sz="2000" b="1" dirty="0" err="1">
                <a:latin typeface="Courier New" panose="02070309020205020404" pitchFamily="49" charset="0"/>
                <a:cs typeface="Courier New" panose="02070309020205020404" pitchFamily="49" charset="0"/>
              </a:rPr>
              <a:t>select_statement</a:t>
            </a:r>
            <a:r>
              <a:rPr lang="en-US" sz="2000" b="1" dirty="0">
                <a:latin typeface="Courier New" panose="02070309020205020404" pitchFamily="49" charset="0"/>
                <a:cs typeface="Courier New" panose="02070309020205020404" pitchFamily="49" charset="0"/>
              </a:rPr>
              <a:t>&gt;</a:t>
            </a:r>
          </a:p>
        </p:txBody>
      </p:sp>
      <p:sp>
        <p:nvSpPr>
          <p:cNvPr id="16" name="TextBox 15">
            <a:extLst>
              <a:ext uri="{FF2B5EF4-FFF2-40B4-BE49-F238E27FC236}">
                <a16:creationId xmlns:a16="http://schemas.microsoft.com/office/drawing/2014/main" id="{26C9F56B-3B47-4CE6-9C07-CEC9BA48C11F}"/>
              </a:ext>
            </a:extLst>
          </p:cNvPr>
          <p:cNvSpPr txBox="1"/>
          <p:nvPr/>
        </p:nvSpPr>
        <p:spPr>
          <a:xfrm>
            <a:off x="228600" y="977826"/>
            <a:ext cx="4577442" cy="400110"/>
          </a:xfrm>
          <a:prstGeom prst="rect">
            <a:avLst/>
          </a:prstGeom>
          <a:noFill/>
        </p:spPr>
        <p:txBody>
          <a:bodyPr wrap="square">
            <a:spAutoFit/>
          </a:bodyPr>
          <a:lstStyle/>
          <a:p>
            <a:pPr marL="342900" indent="-342900">
              <a:lnSpc>
                <a:spcPct val="100000"/>
              </a:lnSpc>
              <a:spcBef>
                <a:spcPts val="1200"/>
              </a:spcBef>
              <a:buFont typeface="Arial" panose="020B0604020202020204" pitchFamily="34" charset="0"/>
              <a:buChar char="•"/>
            </a:pPr>
            <a:r>
              <a:rPr lang="en-US" sz="2000">
                <a:latin typeface="Calibri" panose="020F0502020204030204" pitchFamily="34" charset="0"/>
                <a:cs typeface="Calibri" panose="020F0502020204030204" pitchFamily="34" charset="0"/>
              </a:rPr>
              <a:t>Syntax:</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1214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5780" y="1069847"/>
            <a:ext cx="6614159" cy="1200150"/>
          </a:xfrm>
          <a:prstGeom prst="rect">
            <a:avLst/>
          </a:prstGeom>
          <a:solidFill>
            <a:srgbClr val="403052"/>
          </a:solidFill>
        </p:spPr>
        <p:txBody>
          <a:bodyPr vert="horz" wrap="square" lIns="0" tIns="0" rIns="0" bIns="0" rtlCol="0">
            <a:spAutoFit/>
          </a:bodyPr>
          <a:lstStyle/>
          <a:p>
            <a:pPr marL="90805">
              <a:lnSpc>
                <a:spcPts val="2770"/>
              </a:lnSpc>
            </a:pPr>
            <a:r>
              <a:rPr sz="2400" spc="345" dirty="0">
                <a:solidFill>
                  <a:srgbClr val="FFFFFF"/>
                </a:solidFill>
                <a:latin typeface="Arial"/>
                <a:cs typeface="Arial"/>
              </a:rPr>
              <a:t>A </a:t>
            </a:r>
            <a:r>
              <a:rPr sz="2400" spc="10" dirty="0">
                <a:solidFill>
                  <a:srgbClr val="FFFFFF"/>
                </a:solidFill>
                <a:latin typeface="Arial"/>
                <a:cs typeface="Arial"/>
              </a:rPr>
              <a:t>view </a:t>
            </a:r>
            <a:r>
              <a:rPr sz="2400" spc="-90" dirty="0">
                <a:solidFill>
                  <a:srgbClr val="FFFFFF"/>
                </a:solidFill>
                <a:latin typeface="Arial"/>
                <a:cs typeface="Arial"/>
              </a:rPr>
              <a:t>can </a:t>
            </a:r>
            <a:r>
              <a:rPr sz="2400" spc="-120" dirty="0">
                <a:solidFill>
                  <a:srgbClr val="FFFFFF"/>
                </a:solidFill>
                <a:latin typeface="Arial"/>
                <a:cs typeface="Arial"/>
              </a:rPr>
              <a:t>be </a:t>
            </a:r>
            <a:r>
              <a:rPr sz="2400" spc="-45" dirty="0">
                <a:solidFill>
                  <a:srgbClr val="FFFFFF"/>
                </a:solidFill>
                <a:latin typeface="Arial"/>
                <a:cs typeface="Arial"/>
              </a:rPr>
              <a:t>removed </a:t>
            </a:r>
            <a:r>
              <a:rPr sz="2400" spc="55" dirty="0">
                <a:solidFill>
                  <a:srgbClr val="FFFFFF"/>
                </a:solidFill>
                <a:latin typeface="Arial"/>
                <a:cs typeface="Arial"/>
              </a:rPr>
              <a:t>from </a:t>
            </a:r>
            <a:r>
              <a:rPr sz="2400" dirty="0">
                <a:solidFill>
                  <a:srgbClr val="FFFFFF"/>
                </a:solidFill>
                <a:latin typeface="Arial"/>
                <a:cs typeface="Arial"/>
              </a:rPr>
              <a:t>the </a:t>
            </a:r>
            <a:r>
              <a:rPr sz="2400" spc="-125" dirty="0">
                <a:solidFill>
                  <a:srgbClr val="FFFFFF"/>
                </a:solidFill>
                <a:latin typeface="Arial"/>
                <a:cs typeface="Arial"/>
              </a:rPr>
              <a:t>database </a:t>
            </a:r>
            <a:r>
              <a:rPr sz="2400" spc="155" dirty="0">
                <a:solidFill>
                  <a:srgbClr val="FFFFFF"/>
                </a:solidFill>
                <a:latin typeface="Arial"/>
                <a:cs typeface="Arial"/>
              </a:rPr>
              <a:t>if </a:t>
            </a:r>
            <a:r>
              <a:rPr sz="2400" spc="150" dirty="0">
                <a:solidFill>
                  <a:srgbClr val="FFFFFF"/>
                </a:solidFill>
                <a:latin typeface="Arial"/>
                <a:cs typeface="Arial"/>
              </a:rPr>
              <a:t>it</a:t>
            </a:r>
            <a:r>
              <a:rPr sz="2400" spc="-60" dirty="0">
                <a:solidFill>
                  <a:srgbClr val="FFFFFF"/>
                </a:solidFill>
                <a:latin typeface="Arial"/>
                <a:cs typeface="Arial"/>
              </a:rPr>
              <a:t> </a:t>
            </a:r>
            <a:r>
              <a:rPr sz="2400" spc="-55" dirty="0">
                <a:solidFill>
                  <a:srgbClr val="FFFFFF"/>
                </a:solidFill>
                <a:latin typeface="Arial"/>
                <a:cs typeface="Arial"/>
              </a:rPr>
              <a:t>is</a:t>
            </a:r>
            <a:endParaRPr sz="2400">
              <a:latin typeface="Arial"/>
              <a:cs typeface="Arial"/>
            </a:endParaRPr>
          </a:p>
          <a:p>
            <a:pPr marL="90805" marR="83185">
              <a:lnSpc>
                <a:spcPct val="100000"/>
              </a:lnSpc>
            </a:pPr>
            <a:r>
              <a:rPr sz="2400" spc="25" dirty="0">
                <a:solidFill>
                  <a:srgbClr val="FFFFFF"/>
                </a:solidFill>
                <a:latin typeface="Arial"/>
                <a:cs typeface="Arial"/>
              </a:rPr>
              <a:t>no</a:t>
            </a:r>
            <a:r>
              <a:rPr sz="2400" spc="-114" dirty="0">
                <a:solidFill>
                  <a:srgbClr val="FFFFFF"/>
                </a:solidFill>
                <a:latin typeface="Arial"/>
                <a:cs typeface="Arial"/>
              </a:rPr>
              <a:t> </a:t>
            </a:r>
            <a:r>
              <a:rPr sz="2400" spc="-15" dirty="0">
                <a:solidFill>
                  <a:srgbClr val="FFFFFF"/>
                </a:solidFill>
                <a:latin typeface="Arial"/>
                <a:cs typeface="Arial"/>
              </a:rPr>
              <a:t>longer</a:t>
            </a:r>
            <a:r>
              <a:rPr sz="2400" spc="-120" dirty="0">
                <a:solidFill>
                  <a:srgbClr val="FFFFFF"/>
                </a:solidFill>
                <a:latin typeface="Arial"/>
                <a:cs typeface="Arial"/>
              </a:rPr>
              <a:t> </a:t>
            </a:r>
            <a:r>
              <a:rPr sz="2400" spc="-15" dirty="0">
                <a:solidFill>
                  <a:srgbClr val="FFFFFF"/>
                </a:solidFill>
                <a:latin typeface="Arial"/>
                <a:cs typeface="Arial"/>
              </a:rPr>
              <a:t>required.</a:t>
            </a:r>
            <a:r>
              <a:rPr sz="2400" spc="-114" dirty="0">
                <a:solidFill>
                  <a:srgbClr val="FFFFFF"/>
                </a:solidFill>
                <a:latin typeface="Arial"/>
                <a:cs typeface="Arial"/>
              </a:rPr>
              <a:t> </a:t>
            </a:r>
            <a:r>
              <a:rPr sz="2400" spc="45" dirty="0">
                <a:solidFill>
                  <a:srgbClr val="FFFFFF"/>
                </a:solidFill>
                <a:latin typeface="Arial"/>
                <a:cs typeface="Arial"/>
              </a:rPr>
              <a:t>This</a:t>
            </a:r>
            <a:r>
              <a:rPr sz="2400" spc="-110" dirty="0">
                <a:solidFill>
                  <a:srgbClr val="FFFFFF"/>
                </a:solidFill>
                <a:latin typeface="Arial"/>
                <a:cs typeface="Arial"/>
              </a:rPr>
              <a:t> </a:t>
            </a:r>
            <a:r>
              <a:rPr sz="2400" spc="-55" dirty="0">
                <a:solidFill>
                  <a:srgbClr val="FFFFFF"/>
                </a:solidFill>
                <a:latin typeface="Arial"/>
                <a:cs typeface="Arial"/>
              </a:rPr>
              <a:t>is</a:t>
            </a:r>
            <a:r>
              <a:rPr sz="2400" spc="-120" dirty="0">
                <a:solidFill>
                  <a:srgbClr val="FFFFFF"/>
                </a:solidFill>
                <a:latin typeface="Arial"/>
                <a:cs typeface="Arial"/>
              </a:rPr>
              <a:t> </a:t>
            </a:r>
            <a:r>
              <a:rPr sz="2400" spc="-40" dirty="0">
                <a:solidFill>
                  <a:srgbClr val="FFFFFF"/>
                </a:solidFill>
                <a:latin typeface="Arial"/>
                <a:cs typeface="Arial"/>
              </a:rPr>
              <a:t>done</a:t>
            </a:r>
            <a:r>
              <a:rPr sz="2400" spc="-125" dirty="0">
                <a:solidFill>
                  <a:srgbClr val="FFFFFF"/>
                </a:solidFill>
                <a:latin typeface="Arial"/>
                <a:cs typeface="Arial"/>
              </a:rPr>
              <a:t> </a:t>
            </a:r>
            <a:r>
              <a:rPr sz="2400" spc="-30" dirty="0">
                <a:solidFill>
                  <a:srgbClr val="FFFFFF"/>
                </a:solidFill>
                <a:latin typeface="Arial"/>
                <a:cs typeface="Arial"/>
              </a:rPr>
              <a:t>using</a:t>
            </a:r>
            <a:r>
              <a:rPr sz="2400" spc="-110" dirty="0">
                <a:solidFill>
                  <a:srgbClr val="FFFFFF"/>
                </a:solidFill>
                <a:latin typeface="Arial"/>
                <a:cs typeface="Arial"/>
              </a:rPr>
              <a:t> </a:t>
            </a:r>
            <a:r>
              <a:rPr sz="2400" dirty="0">
                <a:solidFill>
                  <a:srgbClr val="FFFFFF"/>
                </a:solidFill>
                <a:latin typeface="Arial"/>
                <a:cs typeface="Arial"/>
              </a:rPr>
              <a:t>the</a:t>
            </a:r>
            <a:r>
              <a:rPr sz="2400" spc="-114" dirty="0">
                <a:solidFill>
                  <a:srgbClr val="FFFFFF"/>
                </a:solidFill>
                <a:latin typeface="Arial"/>
                <a:cs typeface="Arial"/>
              </a:rPr>
              <a:t> </a:t>
            </a:r>
            <a:r>
              <a:rPr sz="2400" spc="20" dirty="0">
                <a:solidFill>
                  <a:srgbClr val="FFFFFF"/>
                </a:solidFill>
                <a:latin typeface="Arial"/>
                <a:cs typeface="Arial"/>
              </a:rPr>
              <a:t>DROP  </a:t>
            </a:r>
            <a:r>
              <a:rPr sz="2400" spc="175" dirty="0">
                <a:solidFill>
                  <a:srgbClr val="FFFFFF"/>
                </a:solidFill>
                <a:latin typeface="Arial"/>
                <a:cs typeface="Arial"/>
              </a:rPr>
              <a:t>VIEW</a:t>
            </a:r>
            <a:r>
              <a:rPr sz="2400" spc="-160" dirty="0">
                <a:solidFill>
                  <a:srgbClr val="FFFFFF"/>
                </a:solidFill>
                <a:latin typeface="Arial"/>
                <a:cs typeface="Arial"/>
              </a:rPr>
              <a:t> </a:t>
            </a:r>
            <a:r>
              <a:rPr sz="2400" spc="-50" dirty="0">
                <a:solidFill>
                  <a:srgbClr val="FFFFFF"/>
                </a:solidFill>
                <a:latin typeface="Arial"/>
                <a:cs typeface="Arial"/>
              </a:rPr>
              <a:t>statement.</a:t>
            </a:r>
            <a:endParaRPr sz="2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19</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a:spLocks noGrp="1"/>
          </p:cNvSpPr>
          <p:nvPr>
            <p:ph type="title"/>
          </p:nvPr>
        </p:nvSpPr>
        <p:spPr>
          <a:xfrm>
            <a:off x="383540" y="15493"/>
            <a:ext cx="3631565" cy="635635"/>
          </a:xfrm>
          <a:prstGeom prst="rect">
            <a:avLst/>
          </a:prstGeom>
        </p:spPr>
        <p:txBody>
          <a:bodyPr vert="horz" wrap="square" lIns="0" tIns="12700" rIns="0" bIns="0" rtlCol="0">
            <a:spAutoFit/>
          </a:bodyPr>
          <a:lstStyle/>
          <a:p>
            <a:pPr marL="12700">
              <a:lnSpc>
                <a:spcPct val="100000"/>
              </a:lnSpc>
              <a:spcBef>
                <a:spcPts val="100"/>
              </a:spcBef>
            </a:pPr>
            <a:r>
              <a:rPr sz="4000" b="0" spc="65" dirty="0">
                <a:latin typeface="Arial"/>
                <a:cs typeface="Arial"/>
              </a:rPr>
              <a:t>Dropping</a:t>
            </a:r>
            <a:r>
              <a:rPr sz="4000" b="0" spc="-335" dirty="0">
                <a:latin typeface="Arial"/>
                <a:cs typeface="Arial"/>
              </a:rPr>
              <a:t> </a:t>
            </a:r>
            <a:r>
              <a:rPr sz="4000" b="0" spc="20" dirty="0">
                <a:latin typeface="Arial"/>
                <a:cs typeface="Arial"/>
              </a:rPr>
              <a:t>Views</a:t>
            </a:r>
            <a:endParaRPr sz="4000">
              <a:latin typeface="Arial"/>
              <a:cs typeface="Arial"/>
            </a:endParaRPr>
          </a:p>
        </p:txBody>
      </p:sp>
      <p:sp>
        <p:nvSpPr>
          <p:cNvPr id="4" name="object 4"/>
          <p:cNvSpPr txBox="1"/>
          <p:nvPr/>
        </p:nvSpPr>
        <p:spPr>
          <a:xfrm>
            <a:off x="1828800" y="2828544"/>
            <a:ext cx="6645909" cy="1201420"/>
          </a:xfrm>
          <a:prstGeom prst="rect">
            <a:avLst/>
          </a:prstGeom>
          <a:solidFill>
            <a:srgbClr val="FF6600"/>
          </a:solidFill>
        </p:spPr>
        <p:txBody>
          <a:bodyPr vert="horz" wrap="square" lIns="0" tIns="0" rIns="0" bIns="0" rtlCol="0">
            <a:spAutoFit/>
          </a:bodyPr>
          <a:lstStyle/>
          <a:p>
            <a:pPr marL="90805">
              <a:lnSpc>
                <a:spcPts val="2770"/>
              </a:lnSpc>
            </a:pPr>
            <a:r>
              <a:rPr sz="2400" spc="25" dirty="0">
                <a:solidFill>
                  <a:srgbClr val="FFFFFF"/>
                </a:solidFill>
                <a:latin typeface="Arial"/>
                <a:cs typeface="Arial"/>
              </a:rPr>
              <a:t>The</a:t>
            </a:r>
            <a:r>
              <a:rPr sz="2400" spc="-90" dirty="0">
                <a:solidFill>
                  <a:srgbClr val="FFFFFF"/>
                </a:solidFill>
                <a:latin typeface="Arial"/>
                <a:cs typeface="Arial"/>
              </a:rPr>
              <a:t> </a:t>
            </a:r>
            <a:r>
              <a:rPr sz="2400" spc="70" dirty="0">
                <a:solidFill>
                  <a:srgbClr val="FFFFFF"/>
                </a:solidFill>
                <a:latin typeface="Arial"/>
                <a:cs typeface="Arial"/>
              </a:rPr>
              <a:t>definition</a:t>
            </a:r>
            <a:r>
              <a:rPr sz="2400" spc="-80" dirty="0">
                <a:solidFill>
                  <a:srgbClr val="FFFFFF"/>
                </a:solidFill>
                <a:latin typeface="Arial"/>
                <a:cs typeface="Arial"/>
              </a:rPr>
              <a:t> </a:t>
            </a:r>
            <a:r>
              <a:rPr sz="2400" spc="70" dirty="0">
                <a:solidFill>
                  <a:srgbClr val="FFFFFF"/>
                </a:solidFill>
                <a:latin typeface="Arial"/>
                <a:cs typeface="Arial"/>
              </a:rPr>
              <a:t>of</a:t>
            </a:r>
            <a:r>
              <a:rPr sz="2400" spc="-85" dirty="0">
                <a:solidFill>
                  <a:srgbClr val="FFFFFF"/>
                </a:solidFill>
                <a:latin typeface="Arial"/>
                <a:cs typeface="Arial"/>
              </a:rPr>
              <a:t> </a:t>
            </a:r>
            <a:r>
              <a:rPr sz="2400" dirty="0">
                <a:solidFill>
                  <a:srgbClr val="FFFFFF"/>
                </a:solidFill>
                <a:latin typeface="Arial"/>
                <a:cs typeface="Arial"/>
              </a:rPr>
              <a:t>the</a:t>
            </a:r>
            <a:r>
              <a:rPr sz="2400" spc="-85" dirty="0">
                <a:solidFill>
                  <a:srgbClr val="FFFFFF"/>
                </a:solidFill>
                <a:latin typeface="Arial"/>
                <a:cs typeface="Arial"/>
              </a:rPr>
              <a:t> </a:t>
            </a:r>
            <a:r>
              <a:rPr sz="2400" spc="10" dirty="0">
                <a:solidFill>
                  <a:srgbClr val="FFFFFF"/>
                </a:solidFill>
                <a:latin typeface="Arial"/>
                <a:cs typeface="Arial"/>
              </a:rPr>
              <a:t>view</a:t>
            </a:r>
            <a:r>
              <a:rPr sz="2400" spc="-90" dirty="0">
                <a:solidFill>
                  <a:srgbClr val="FFFFFF"/>
                </a:solidFill>
                <a:latin typeface="Arial"/>
                <a:cs typeface="Arial"/>
              </a:rPr>
              <a:t> </a:t>
            </a:r>
            <a:r>
              <a:rPr sz="2400" spc="-45" dirty="0">
                <a:solidFill>
                  <a:srgbClr val="FFFFFF"/>
                </a:solidFill>
                <a:latin typeface="Arial"/>
                <a:cs typeface="Arial"/>
              </a:rPr>
              <a:t>and</a:t>
            </a:r>
            <a:r>
              <a:rPr sz="2400" spc="-85" dirty="0">
                <a:solidFill>
                  <a:srgbClr val="FFFFFF"/>
                </a:solidFill>
                <a:latin typeface="Arial"/>
                <a:cs typeface="Arial"/>
              </a:rPr>
              <a:t> </a:t>
            </a:r>
            <a:r>
              <a:rPr sz="2400" spc="15" dirty="0">
                <a:solidFill>
                  <a:srgbClr val="FFFFFF"/>
                </a:solidFill>
                <a:latin typeface="Arial"/>
                <a:cs typeface="Arial"/>
              </a:rPr>
              <a:t>other</a:t>
            </a:r>
            <a:r>
              <a:rPr sz="2400" spc="-80" dirty="0">
                <a:solidFill>
                  <a:srgbClr val="FFFFFF"/>
                </a:solidFill>
                <a:latin typeface="Arial"/>
                <a:cs typeface="Arial"/>
              </a:rPr>
              <a:t> </a:t>
            </a:r>
            <a:r>
              <a:rPr sz="2400" spc="50" dirty="0">
                <a:solidFill>
                  <a:srgbClr val="FFFFFF"/>
                </a:solidFill>
                <a:latin typeface="Arial"/>
                <a:cs typeface="Arial"/>
              </a:rPr>
              <a:t>information</a:t>
            </a:r>
            <a:endParaRPr sz="2400">
              <a:latin typeface="Arial"/>
              <a:cs typeface="Arial"/>
            </a:endParaRPr>
          </a:p>
          <a:p>
            <a:pPr marL="90805" marR="83185">
              <a:lnSpc>
                <a:spcPct val="100000"/>
              </a:lnSpc>
              <a:tabLst>
                <a:tab pos="1602105" algn="l"/>
                <a:tab pos="2382520" algn="l"/>
                <a:tab pos="2988310" algn="l"/>
                <a:tab pos="3784600" algn="l"/>
                <a:tab pos="4171315" algn="l"/>
                <a:tab pos="5309870" algn="l"/>
                <a:tab pos="6128385" algn="l"/>
              </a:tabLst>
            </a:pPr>
            <a:r>
              <a:rPr sz="2400" spc="-254" dirty="0">
                <a:solidFill>
                  <a:srgbClr val="FFFFFF"/>
                </a:solidFill>
                <a:latin typeface="Arial"/>
                <a:cs typeface="Arial"/>
              </a:rPr>
              <a:t>as</a:t>
            </a:r>
            <a:r>
              <a:rPr sz="2400" spc="-250" dirty="0">
                <a:solidFill>
                  <a:srgbClr val="FFFFFF"/>
                </a:solidFill>
                <a:latin typeface="Arial"/>
                <a:cs typeface="Arial"/>
              </a:rPr>
              <a:t>s</a:t>
            </a:r>
            <a:r>
              <a:rPr sz="2400" dirty="0">
                <a:solidFill>
                  <a:srgbClr val="FFFFFF"/>
                </a:solidFill>
                <a:latin typeface="Arial"/>
                <a:cs typeface="Arial"/>
              </a:rPr>
              <a:t>oci</a:t>
            </a:r>
            <a:r>
              <a:rPr sz="2400" spc="-70" dirty="0">
                <a:solidFill>
                  <a:srgbClr val="FFFFFF"/>
                </a:solidFill>
                <a:latin typeface="Arial"/>
                <a:cs typeface="Arial"/>
              </a:rPr>
              <a:t>ated</a:t>
            </a:r>
            <a:r>
              <a:rPr sz="2400" dirty="0">
                <a:solidFill>
                  <a:srgbClr val="FFFFFF"/>
                </a:solidFill>
                <a:latin typeface="Arial"/>
                <a:cs typeface="Arial"/>
              </a:rPr>
              <a:t>	</a:t>
            </a:r>
            <a:r>
              <a:rPr sz="2400" spc="140" dirty="0">
                <a:solidFill>
                  <a:srgbClr val="FFFFFF"/>
                </a:solidFill>
                <a:latin typeface="Arial"/>
                <a:cs typeface="Arial"/>
              </a:rPr>
              <a:t>wi</a:t>
            </a:r>
            <a:r>
              <a:rPr sz="2400" spc="85" dirty="0">
                <a:solidFill>
                  <a:srgbClr val="FFFFFF"/>
                </a:solidFill>
                <a:latin typeface="Arial"/>
                <a:cs typeface="Arial"/>
              </a:rPr>
              <a:t>t</a:t>
            </a:r>
            <a:r>
              <a:rPr sz="2400" spc="75" dirty="0">
                <a:solidFill>
                  <a:srgbClr val="FFFFFF"/>
                </a:solidFill>
                <a:latin typeface="Arial"/>
                <a:cs typeface="Arial"/>
              </a:rPr>
              <a:t>h</a:t>
            </a:r>
            <a:r>
              <a:rPr sz="2400" dirty="0">
                <a:solidFill>
                  <a:srgbClr val="FFFFFF"/>
                </a:solidFill>
                <a:latin typeface="Arial"/>
                <a:cs typeface="Arial"/>
              </a:rPr>
              <a:t>	the	</a:t>
            </a:r>
            <a:r>
              <a:rPr sz="2400" spc="10" dirty="0">
                <a:solidFill>
                  <a:srgbClr val="FFFFFF"/>
                </a:solidFill>
                <a:latin typeface="Arial"/>
                <a:cs typeface="Arial"/>
              </a:rPr>
              <a:t>view</a:t>
            </a:r>
            <a:r>
              <a:rPr sz="2400" dirty="0">
                <a:solidFill>
                  <a:srgbClr val="FFFFFF"/>
                </a:solidFill>
                <a:latin typeface="Arial"/>
                <a:cs typeface="Arial"/>
              </a:rPr>
              <a:t>	</a:t>
            </a:r>
            <a:r>
              <a:rPr sz="2400" spc="-55" dirty="0">
                <a:solidFill>
                  <a:srgbClr val="FFFFFF"/>
                </a:solidFill>
                <a:latin typeface="Arial"/>
                <a:cs typeface="Arial"/>
              </a:rPr>
              <a:t>is</a:t>
            </a:r>
            <a:r>
              <a:rPr sz="2400" dirty="0">
                <a:solidFill>
                  <a:srgbClr val="FFFFFF"/>
                </a:solidFill>
                <a:latin typeface="Arial"/>
                <a:cs typeface="Arial"/>
              </a:rPr>
              <a:t>	</a:t>
            </a:r>
            <a:r>
              <a:rPr sz="2400" spc="-65" dirty="0">
                <a:solidFill>
                  <a:srgbClr val="FFFFFF"/>
                </a:solidFill>
                <a:latin typeface="Arial"/>
                <a:cs typeface="Arial"/>
              </a:rPr>
              <a:t>del</a:t>
            </a:r>
            <a:r>
              <a:rPr sz="2400" spc="-95" dirty="0">
                <a:solidFill>
                  <a:srgbClr val="FFFFFF"/>
                </a:solidFill>
                <a:latin typeface="Arial"/>
                <a:cs typeface="Arial"/>
              </a:rPr>
              <a:t>e</a:t>
            </a:r>
            <a:r>
              <a:rPr sz="2400" spc="-15" dirty="0">
                <a:solidFill>
                  <a:srgbClr val="FFFFFF"/>
                </a:solidFill>
                <a:latin typeface="Arial"/>
                <a:cs typeface="Arial"/>
              </a:rPr>
              <a:t>ted</a:t>
            </a:r>
            <a:r>
              <a:rPr sz="2400" dirty="0">
                <a:solidFill>
                  <a:srgbClr val="FFFFFF"/>
                </a:solidFill>
                <a:latin typeface="Arial"/>
                <a:cs typeface="Arial"/>
              </a:rPr>
              <a:t>	</a:t>
            </a:r>
            <a:r>
              <a:rPr sz="2400" spc="114" dirty="0">
                <a:solidFill>
                  <a:srgbClr val="FFFFFF"/>
                </a:solidFill>
                <a:latin typeface="Arial"/>
                <a:cs typeface="Arial"/>
              </a:rPr>
              <a:t>f</a:t>
            </a:r>
            <a:r>
              <a:rPr sz="2400" spc="130" dirty="0">
                <a:solidFill>
                  <a:srgbClr val="FFFFFF"/>
                </a:solidFill>
                <a:latin typeface="Arial"/>
                <a:cs typeface="Arial"/>
              </a:rPr>
              <a:t>r</a:t>
            </a:r>
            <a:r>
              <a:rPr sz="2400" spc="-20" dirty="0">
                <a:solidFill>
                  <a:srgbClr val="FFFFFF"/>
                </a:solidFill>
                <a:latin typeface="Arial"/>
                <a:cs typeface="Arial"/>
              </a:rPr>
              <a:t>om</a:t>
            </a:r>
            <a:r>
              <a:rPr sz="2400" dirty="0">
                <a:solidFill>
                  <a:srgbClr val="FFFFFF"/>
                </a:solidFill>
                <a:latin typeface="Arial"/>
                <a:cs typeface="Arial"/>
              </a:rPr>
              <a:t>	the  </a:t>
            </a:r>
            <a:r>
              <a:rPr sz="2400" spc="-100" dirty="0">
                <a:solidFill>
                  <a:srgbClr val="FFFFFF"/>
                </a:solidFill>
                <a:latin typeface="Arial"/>
                <a:cs typeface="Arial"/>
              </a:rPr>
              <a:t>system</a:t>
            </a:r>
            <a:r>
              <a:rPr sz="2400" spc="-165" dirty="0">
                <a:solidFill>
                  <a:srgbClr val="FFFFFF"/>
                </a:solidFill>
                <a:latin typeface="Arial"/>
                <a:cs typeface="Arial"/>
              </a:rPr>
              <a:t> </a:t>
            </a:r>
            <a:r>
              <a:rPr sz="2400" spc="-70" dirty="0">
                <a:solidFill>
                  <a:srgbClr val="FFFFFF"/>
                </a:solidFill>
                <a:latin typeface="Arial"/>
                <a:cs typeface="Arial"/>
              </a:rPr>
              <a:t>catalog.</a:t>
            </a:r>
            <a:endParaRPr sz="2400">
              <a:latin typeface="Arial"/>
              <a:cs typeface="Arial"/>
            </a:endParaRPr>
          </a:p>
        </p:txBody>
      </p:sp>
      <p:sp>
        <p:nvSpPr>
          <p:cNvPr id="8" name="TextBox 7">
            <a:extLst>
              <a:ext uri="{FF2B5EF4-FFF2-40B4-BE49-F238E27FC236}">
                <a16:creationId xmlns:a16="http://schemas.microsoft.com/office/drawing/2014/main" id="{C7921436-0945-4682-977F-50F3D6AFFEB4}"/>
              </a:ext>
            </a:extLst>
          </p:cNvPr>
          <p:cNvSpPr txBox="1"/>
          <p:nvPr/>
        </p:nvSpPr>
        <p:spPr>
          <a:xfrm>
            <a:off x="2476500" y="4566740"/>
            <a:ext cx="4191000" cy="806375"/>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US" dirty="0"/>
          </a:p>
          <a:p>
            <a:r>
              <a:rPr lang="en-US" sz="2000" b="1" dirty="0">
                <a:solidFill>
                  <a:srgbClr val="FF0000"/>
                </a:solidFill>
                <a:latin typeface="Courier New" panose="02070309020205020404" pitchFamily="49" charset="0"/>
                <a:cs typeface="Courier New" panose="02070309020205020404" pitchFamily="49" charset="0"/>
              </a:rPr>
              <a:t>DROP VIEW </a:t>
            </a:r>
            <a:r>
              <a:rPr lang="en-US" sz="2000" b="1" dirty="0">
                <a:latin typeface="Courier New" panose="02070309020205020404" pitchFamily="49" charset="0"/>
                <a:cs typeface="Courier New" panose="02070309020205020404" pitchFamily="49" charset="0"/>
              </a:rPr>
              <a:t>&lt;</a:t>
            </a:r>
            <a:r>
              <a:rPr lang="en-US" sz="2000" b="1" dirty="0" err="1">
                <a:latin typeface="Courier New" panose="02070309020205020404" pitchFamily="49" charset="0"/>
                <a:cs typeface="Courier New" panose="02070309020205020404" pitchFamily="49" charset="0"/>
              </a:rPr>
              <a:t>view_name</a:t>
            </a:r>
            <a:r>
              <a:rPr lang="en-US" sz="2000" b="1" dirty="0">
                <a:latin typeface="Courier New" panose="02070309020205020404" pitchFamily="49" charset="0"/>
                <a:cs typeface="Courier New" panose="02070309020205020404" pitchFamily="49" charset="0"/>
              </a:rPr>
              <a:t>&gt;</a:t>
            </a:r>
          </a:p>
          <a:p>
            <a:endParaRPr lang="en-US" sz="1050" dirty="0"/>
          </a:p>
        </p:txBody>
      </p:sp>
      <p:sp>
        <p:nvSpPr>
          <p:cNvPr id="10" name="TextBox 9">
            <a:extLst>
              <a:ext uri="{FF2B5EF4-FFF2-40B4-BE49-F238E27FC236}">
                <a16:creationId xmlns:a16="http://schemas.microsoft.com/office/drawing/2014/main" id="{70240193-7CF4-4F04-B355-1559D282DE8B}"/>
              </a:ext>
            </a:extLst>
          </p:cNvPr>
          <p:cNvSpPr txBox="1"/>
          <p:nvPr/>
        </p:nvSpPr>
        <p:spPr>
          <a:xfrm>
            <a:off x="187779" y="4135457"/>
            <a:ext cx="4577442" cy="369332"/>
          </a:xfrm>
          <a:prstGeom prst="rect">
            <a:avLst/>
          </a:prstGeom>
          <a:noFill/>
        </p:spPr>
        <p:txBody>
          <a:bodyPr wrap="square">
            <a:spAutoFit/>
          </a:bodyPr>
          <a:lstStyle/>
          <a:p>
            <a:pPr marL="341313" indent="-341313">
              <a:lnSpc>
                <a:spcPct val="100000"/>
              </a:lnSpc>
              <a:spcBef>
                <a:spcPts val="600"/>
              </a:spcBef>
              <a:buFont typeface="Wingdings" pitchFamily="2" charset="2"/>
              <a:buChar char="Ø"/>
            </a:pPr>
            <a:r>
              <a:rPr lang="en-US" sz="1800">
                <a:latin typeface="Calibri" pitchFamily="34" charset="0"/>
                <a:cs typeface="Calibri" pitchFamily="34" charset="0"/>
              </a:rPr>
              <a:t>The syntax :</a:t>
            </a:r>
            <a:endParaRPr lang="en-US" sz="1800" dirty="0">
              <a:latin typeface="Calibri" pitchFamily="34" charset="0"/>
              <a:cs typeface="Calibri" pitchFamily="34" charset="0"/>
            </a:endParaRPr>
          </a:p>
        </p:txBody>
      </p:sp>
      <p:sp>
        <p:nvSpPr>
          <p:cNvPr id="12" name="TextBox 11">
            <a:extLst>
              <a:ext uri="{FF2B5EF4-FFF2-40B4-BE49-F238E27FC236}">
                <a16:creationId xmlns:a16="http://schemas.microsoft.com/office/drawing/2014/main" id="{ABCD1E48-A3CF-46EC-966B-437BECA3B220}"/>
              </a:ext>
            </a:extLst>
          </p:cNvPr>
          <p:cNvSpPr txBox="1"/>
          <p:nvPr/>
        </p:nvSpPr>
        <p:spPr>
          <a:xfrm>
            <a:off x="223158" y="5435066"/>
            <a:ext cx="4577442" cy="369332"/>
          </a:xfrm>
          <a:prstGeom prst="rect">
            <a:avLst/>
          </a:prstGeom>
          <a:noFill/>
        </p:spPr>
        <p:txBody>
          <a:bodyPr wrap="square">
            <a:spAutoFit/>
          </a:bodyPr>
          <a:lstStyle/>
          <a:p>
            <a:pPr marL="341313" indent="-341313">
              <a:lnSpc>
                <a:spcPct val="100000"/>
              </a:lnSpc>
              <a:spcBef>
                <a:spcPts val="600"/>
              </a:spcBef>
              <a:buFont typeface="Wingdings" pitchFamily="2" charset="2"/>
              <a:buChar char="Ø"/>
            </a:pPr>
            <a:r>
              <a:rPr lang="en-US" sz="1800">
                <a:latin typeface="Calibri" pitchFamily="34" charset="0"/>
                <a:cs typeface="Calibri" pitchFamily="34" charset="0"/>
              </a:rPr>
              <a:t>Example </a:t>
            </a:r>
            <a:endParaRPr lang="en-US" sz="1800" dirty="0">
              <a:latin typeface="Calibri" pitchFamily="34" charset="0"/>
              <a:cs typeface="Calibri" pitchFamily="34" charset="0"/>
            </a:endParaRPr>
          </a:p>
        </p:txBody>
      </p:sp>
      <p:sp>
        <p:nvSpPr>
          <p:cNvPr id="13" name="TextBox 12">
            <a:extLst>
              <a:ext uri="{FF2B5EF4-FFF2-40B4-BE49-F238E27FC236}">
                <a16:creationId xmlns:a16="http://schemas.microsoft.com/office/drawing/2014/main" id="{5C0A4596-D939-4E73-8021-9278A1FBD463}"/>
              </a:ext>
            </a:extLst>
          </p:cNvPr>
          <p:cNvSpPr txBox="1"/>
          <p:nvPr/>
        </p:nvSpPr>
        <p:spPr>
          <a:xfrm>
            <a:off x="2514600" y="5783759"/>
            <a:ext cx="4191000" cy="807913"/>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US" dirty="0"/>
          </a:p>
          <a:p>
            <a:r>
              <a:rPr lang="en-US" sz="1800" b="1" dirty="0">
                <a:solidFill>
                  <a:srgbClr val="FF0000"/>
                </a:solidFill>
                <a:latin typeface="Courier New" panose="02070309020205020404" pitchFamily="49" charset="0"/>
                <a:cs typeface="Courier New" panose="02070309020205020404" pitchFamily="49" charset="0"/>
              </a:rPr>
              <a:t>DROP </a:t>
            </a:r>
            <a:r>
              <a:rPr lang="en-US" sz="1800" b="1">
                <a:solidFill>
                  <a:srgbClr val="FF0000"/>
                </a:solidFill>
                <a:latin typeface="Courier New" panose="02070309020205020404" pitchFamily="49" charset="0"/>
                <a:cs typeface="Courier New" panose="02070309020205020404" pitchFamily="49" charset="0"/>
              </a:rPr>
              <a:t>VIEW </a:t>
            </a:r>
            <a:r>
              <a:rPr lang="en-US" sz="1800">
                <a:solidFill>
                  <a:srgbClr val="000000"/>
                </a:solidFill>
                <a:latin typeface="Consolas" panose="020B0609020204030204" pitchFamily="49" charset="0"/>
              </a:rPr>
              <a:t>vwProduct_Details</a:t>
            </a:r>
            <a:endParaRPr lang="en-US" sz="1800" b="1" dirty="0">
              <a:latin typeface="Courier New" panose="02070309020205020404" pitchFamily="49" charset="0"/>
              <a:cs typeface="Courier New" panose="02070309020205020404" pitchFamily="49" charset="0"/>
            </a:endParaRPr>
          </a:p>
          <a:p>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506595" cy="635635"/>
          </a:xfrm>
          <a:prstGeom prst="rect">
            <a:avLst/>
          </a:prstGeom>
        </p:spPr>
        <p:txBody>
          <a:bodyPr vert="horz" wrap="square" lIns="0" tIns="12700" rIns="0" bIns="0" rtlCol="0">
            <a:spAutoFit/>
          </a:bodyPr>
          <a:lstStyle/>
          <a:p>
            <a:pPr marL="12700">
              <a:lnSpc>
                <a:spcPct val="100000"/>
              </a:lnSpc>
              <a:spcBef>
                <a:spcPts val="100"/>
              </a:spcBef>
            </a:pPr>
            <a:r>
              <a:rPr sz="4000" b="0" spc="140" dirty="0">
                <a:latin typeface="Arial"/>
                <a:cs typeface="Arial"/>
              </a:rPr>
              <a:t>Definition </a:t>
            </a:r>
            <a:r>
              <a:rPr sz="4000" b="0" spc="114" dirty="0">
                <a:latin typeface="Arial"/>
                <a:cs typeface="Arial"/>
              </a:rPr>
              <a:t>of</a:t>
            </a:r>
            <a:r>
              <a:rPr sz="4000" b="0" spc="-615" dirty="0">
                <a:latin typeface="Arial"/>
                <a:cs typeface="Arial"/>
              </a:rPr>
              <a:t> </a:t>
            </a:r>
            <a:r>
              <a:rPr sz="4000" b="0" spc="-380" dirty="0">
                <a:latin typeface="Arial"/>
                <a:cs typeface="Arial"/>
              </a:rPr>
              <a:t>a </a:t>
            </a:r>
            <a:r>
              <a:rPr sz="4000" b="0" spc="135" dirty="0">
                <a:latin typeface="Arial"/>
                <a:cs typeface="Arial"/>
              </a:rPr>
              <a:t>View</a:t>
            </a:r>
            <a:endParaRPr sz="4000">
              <a:latin typeface="Arial"/>
              <a:cs typeface="Arial"/>
            </a:endParaRPr>
          </a:p>
        </p:txBody>
      </p:sp>
      <p:grpSp>
        <p:nvGrpSpPr>
          <p:cNvPr id="3" name="object 3"/>
          <p:cNvGrpSpPr/>
          <p:nvPr/>
        </p:nvGrpSpPr>
        <p:grpSpPr>
          <a:xfrm>
            <a:off x="71627" y="835177"/>
            <a:ext cx="8792845" cy="1095375"/>
            <a:chOff x="71627" y="835177"/>
            <a:chExt cx="8792845" cy="1095375"/>
          </a:xfrm>
        </p:grpSpPr>
        <p:pic>
          <p:nvPicPr>
            <p:cNvPr id="4" name="object 4"/>
            <p:cNvPicPr/>
            <p:nvPr/>
          </p:nvPicPr>
          <p:blipFill>
            <a:blip r:embed="rId3" cstate="print"/>
            <a:stretch>
              <a:fillRect/>
            </a:stretch>
          </p:blipFill>
          <p:spPr>
            <a:xfrm>
              <a:off x="71627" y="835177"/>
              <a:ext cx="8792718" cy="1094968"/>
            </a:xfrm>
            <a:prstGeom prst="rect">
              <a:avLst/>
            </a:prstGeom>
          </p:spPr>
        </p:pic>
        <p:sp>
          <p:nvSpPr>
            <p:cNvPr id="5" name="object 5"/>
            <p:cNvSpPr/>
            <p:nvPr/>
          </p:nvSpPr>
          <p:spPr>
            <a:xfrm>
              <a:off x="112776" y="853439"/>
              <a:ext cx="8717280" cy="1019810"/>
            </a:xfrm>
            <a:custGeom>
              <a:avLst/>
              <a:gdLst/>
              <a:ahLst/>
              <a:cxnLst/>
              <a:rect l="l" t="t" r="r" b="b"/>
              <a:pathLst>
                <a:path w="8717280" h="1019810">
                  <a:moveTo>
                    <a:pt x="8717280" y="169926"/>
                  </a:moveTo>
                  <a:lnTo>
                    <a:pt x="8711209" y="124752"/>
                  </a:lnTo>
                  <a:lnTo>
                    <a:pt x="8694077" y="84162"/>
                  </a:lnTo>
                  <a:lnTo>
                    <a:pt x="8667509" y="49771"/>
                  </a:lnTo>
                  <a:lnTo>
                    <a:pt x="8633117" y="23202"/>
                  </a:lnTo>
                  <a:lnTo>
                    <a:pt x="8592528" y="6070"/>
                  </a:lnTo>
                  <a:lnTo>
                    <a:pt x="8547354" y="0"/>
                  </a:lnTo>
                  <a:lnTo>
                    <a:pt x="169926" y="0"/>
                  </a:lnTo>
                  <a:lnTo>
                    <a:pt x="124752" y="6070"/>
                  </a:lnTo>
                  <a:lnTo>
                    <a:pt x="84162" y="23202"/>
                  </a:lnTo>
                  <a:lnTo>
                    <a:pt x="49771" y="49771"/>
                  </a:lnTo>
                  <a:lnTo>
                    <a:pt x="23190" y="84162"/>
                  </a:lnTo>
                  <a:lnTo>
                    <a:pt x="6057" y="124752"/>
                  </a:lnTo>
                  <a:lnTo>
                    <a:pt x="0" y="169926"/>
                  </a:lnTo>
                  <a:lnTo>
                    <a:pt x="0" y="849630"/>
                  </a:lnTo>
                  <a:lnTo>
                    <a:pt x="6057" y="894816"/>
                  </a:lnTo>
                  <a:lnTo>
                    <a:pt x="23190" y="935405"/>
                  </a:lnTo>
                  <a:lnTo>
                    <a:pt x="49771" y="969797"/>
                  </a:lnTo>
                  <a:lnTo>
                    <a:pt x="84162" y="996365"/>
                  </a:lnTo>
                  <a:lnTo>
                    <a:pt x="124752" y="1013498"/>
                  </a:lnTo>
                  <a:lnTo>
                    <a:pt x="169926" y="1019556"/>
                  </a:lnTo>
                  <a:lnTo>
                    <a:pt x="8547354" y="1019556"/>
                  </a:lnTo>
                  <a:lnTo>
                    <a:pt x="8592528" y="1013498"/>
                  </a:lnTo>
                  <a:lnTo>
                    <a:pt x="8633117" y="996365"/>
                  </a:lnTo>
                  <a:lnTo>
                    <a:pt x="8667509" y="969797"/>
                  </a:lnTo>
                  <a:lnTo>
                    <a:pt x="8694077" y="935405"/>
                  </a:lnTo>
                  <a:lnTo>
                    <a:pt x="8711209" y="894816"/>
                  </a:lnTo>
                  <a:lnTo>
                    <a:pt x="8717280" y="849630"/>
                  </a:lnTo>
                  <a:lnTo>
                    <a:pt x="8717280" y="169926"/>
                  </a:lnTo>
                  <a:close/>
                </a:path>
              </a:pathLst>
            </a:custGeom>
            <a:solidFill>
              <a:srgbClr val="000000"/>
            </a:solidFill>
          </p:spPr>
          <p:txBody>
            <a:bodyPr wrap="square" lIns="0" tIns="0" rIns="0" bIns="0" rtlCol="0"/>
            <a:lstStyle/>
            <a:p>
              <a:endParaRPr/>
            </a:p>
          </p:txBody>
        </p:sp>
      </p:grpSp>
      <p:sp>
        <p:nvSpPr>
          <p:cNvPr id="6" name="object 6"/>
          <p:cNvSpPr txBox="1"/>
          <p:nvPr/>
        </p:nvSpPr>
        <p:spPr>
          <a:xfrm>
            <a:off x="392938" y="966978"/>
            <a:ext cx="8215630" cy="756920"/>
          </a:xfrm>
          <a:prstGeom prst="rect">
            <a:avLst/>
          </a:prstGeom>
        </p:spPr>
        <p:txBody>
          <a:bodyPr vert="horz" wrap="square" lIns="0" tIns="12700" rIns="0" bIns="0" rtlCol="0">
            <a:spAutoFit/>
          </a:bodyPr>
          <a:lstStyle/>
          <a:p>
            <a:pPr marL="354965" marR="5080" indent="-342900">
              <a:lnSpc>
                <a:spcPct val="100000"/>
              </a:lnSpc>
              <a:spcBef>
                <a:spcPts val="100"/>
              </a:spcBef>
              <a:buFont typeface="Wingdings"/>
              <a:buChar char=""/>
              <a:tabLst>
                <a:tab pos="355600" algn="l"/>
              </a:tabLst>
            </a:pPr>
            <a:r>
              <a:rPr sz="2400" spc="25" dirty="0">
                <a:solidFill>
                  <a:srgbClr val="FFFFFF"/>
                </a:solidFill>
                <a:latin typeface="Arial"/>
                <a:cs typeface="Arial"/>
              </a:rPr>
              <a:t>The </a:t>
            </a:r>
            <a:r>
              <a:rPr sz="2400" spc="70" dirty="0">
                <a:solidFill>
                  <a:srgbClr val="FFFFFF"/>
                </a:solidFill>
                <a:latin typeface="Arial"/>
                <a:cs typeface="Arial"/>
              </a:rPr>
              <a:t>definition </a:t>
            </a:r>
            <a:r>
              <a:rPr sz="2400" spc="65" dirty="0">
                <a:solidFill>
                  <a:srgbClr val="FFFFFF"/>
                </a:solidFill>
                <a:latin typeface="Arial"/>
                <a:cs typeface="Arial"/>
              </a:rPr>
              <a:t>of </a:t>
            </a:r>
            <a:r>
              <a:rPr sz="2400" spc="-229" dirty="0">
                <a:solidFill>
                  <a:srgbClr val="FFFFFF"/>
                </a:solidFill>
                <a:latin typeface="Arial"/>
                <a:cs typeface="Arial"/>
              </a:rPr>
              <a:t>a </a:t>
            </a:r>
            <a:r>
              <a:rPr sz="2400" spc="10" dirty="0">
                <a:solidFill>
                  <a:srgbClr val="FFFFFF"/>
                </a:solidFill>
                <a:latin typeface="Arial"/>
                <a:cs typeface="Arial"/>
              </a:rPr>
              <a:t>view </a:t>
            </a:r>
            <a:r>
              <a:rPr sz="2400" spc="-55" dirty="0">
                <a:solidFill>
                  <a:srgbClr val="FFFFFF"/>
                </a:solidFill>
                <a:latin typeface="Arial"/>
                <a:cs typeface="Arial"/>
              </a:rPr>
              <a:t>helps </a:t>
            </a:r>
            <a:r>
              <a:rPr sz="2400" spc="65" dirty="0">
                <a:solidFill>
                  <a:srgbClr val="FFFFFF"/>
                </a:solidFill>
                <a:latin typeface="Arial"/>
                <a:cs typeface="Arial"/>
              </a:rPr>
              <a:t>to</a:t>
            </a:r>
            <a:r>
              <a:rPr sz="2400" spc="-475" dirty="0">
                <a:solidFill>
                  <a:srgbClr val="FFFFFF"/>
                </a:solidFill>
                <a:latin typeface="Arial"/>
                <a:cs typeface="Arial"/>
              </a:rPr>
              <a:t> </a:t>
            </a:r>
            <a:r>
              <a:rPr sz="2400" spc="-20" dirty="0">
                <a:solidFill>
                  <a:srgbClr val="FFFFFF"/>
                </a:solidFill>
                <a:latin typeface="Arial"/>
                <a:cs typeface="Arial"/>
              </a:rPr>
              <a:t>understand </a:t>
            </a:r>
            <a:r>
              <a:rPr sz="2400" spc="35" dirty="0">
                <a:solidFill>
                  <a:srgbClr val="FFFFFF"/>
                </a:solidFill>
                <a:latin typeface="Arial"/>
                <a:cs typeface="Arial"/>
              </a:rPr>
              <a:t>how </a:t>
            </a:r>
            <a:r>
              <a:rPr sz="2400" spc="15" dirty="0">
                <a:solidFill>
                  <a:srgbClr val="FFFFFF"/>
                </a:solidFill>
                <a:latin typeface="Arial"/>
                <a:cs typeface="Arial"/>
              </a:rPr>
              <a:t>its </a:t>
            </a:r>
            <a:r>
              <a:rPr sz="2400" spc="-75" dirty="0">
                <a:solidFill>
                  <a:srgbClr val="FFFFFF"/>
                </a:solidFill>
                <a:latin typeface="Arial"/>
                <a:cs typeface="Arial"/>
              </a:rPr>
              <a:t>data </a:t>
            </a:r>
            <a:r>
              <a:rPr sz="2400" spc="-55" dirty="0">
                <a:solidFill>
                  <a:srgbClr val="FFFFFF"/>
                </a:solidFill>
                <a:latin typeface="Arial"/>
                <a:cs typeface="Arial"/>
              </a:rPr>
              <a:t>is  </a:t>
            </a:r>
            <a:r>
              <a:rPr sz="2400" spc="-15" dirty="0">
                <a:solidFill>
                  <a:srgbClr val="FFFFFF"/>
                </a:solidFill>
                <a:latin typeface="Arial"/>
                <a:cs typeface="Arial"/>
              </a:rPr>
              <a:t>derived</a:t>
            </a:r>
            <a:r>
              <a:rPr sz="2400" spc="-185" dirty="0">
                <a:solidFill>
                  <a:srgbClr val="FFFFFF"/>
                </a:solidFill>
                <a:latin typeface="Arial"/>
                <a:cs typeface="Arial"/>
              </a:rPr>
              <a:t> </a:t>
            </a:r>
            <a:r>
              <a:rPr sz="2400" spc="55" dirty="0">
                <a:solidFill>
                  <a:srgbClr val="FFFFFF"/>
                </a:solidFill>
                <a:latin typeface="Arial"/>
                <a:cs typeface="Arial"/>
              </a:rPr>
              <a:t>from</a:t>
            </a:r>
            <a:r>
              <a:rPr sz="2400" spc="-155" dirty="0">
                <a:solidFill>
                  <a:srgbClr val="FFFFFF"/>
                </a:solidFill>
                <a:latin typeface="Arial"/>
                <a:cs typeface="Arial"/>
              </a:rPr>
              <a:t> </a:t>
            </a:r>
            <a:r>
              <a:rPr sz="2400" dirty="0">
                <a:solidFill>
                  <a:srgbClr val="FFFFFF"/>
                </a:solidFill>
                <a:latin typeface="Arial"/>
                <a:cs typeface="Arial"/>
              </a:rPr>
              <a:t>the</a:t>
            </a:r>
            <a:r>
              <a:rPr sz="2400" spc="-150" dirty="0">
                <a:solidFill>
                  <a:srgbClr val="FFFFFF"/>
                </a:solidFill>
                <a:latin typeface="Arial"/>
                <a:cs typeface="Arial"/>
              </a:rPr>
              <a:t> </a:t>
            </a:r>
            <a:r>
              <a:rPr sz="2400" spc="-80" dirty="0">
                <a:solidFill>
                  <a:srgbClr val="FFFFFF"/>
                </a:solidFill>
                <a:latin typeface="Arial"/>
                <a:cs typeface="Arial"/>
              </a:rPr>
              <a:t>source</a:t>
            </a:r>
            <a:r>
              <a:rPr sz="2400" spc="-165" dirty="0">
                <a:solidFill>
                  <a:srgbClr val="FFFFFF"/>
                </a:solidFill>
                <a:latin typeface="Arial"/>
                <a:cs typeface="Arial"/>
              </a:rPr>
              <a:t> </a:t>
            </a:r>
            <a:r>
              <a:rPr sz="2400" spc="-75" dirty="0">
                <a:solidFill>
                  <a:srgbClr val="FFFFFF"/>
                </a:solidFill>
                <a:latin typeface="Arial"/>
                <a:cs typeface="Arial"/>
              </a:rPr>
              <a:t>tables.</a:t>
            </a:r>
            <a:endParaRPr sz="2400">
              <a:latin typeface="Arial"/>
              <a:cs typeface="Arial"/>
            </a:endParaRPr>
          </a:p>
        </p:txBody>
      </p:sp>
      <p:sp>
        <p:nvSpPr>
          <p:cNvPr id="7" name="object 7"/>
          <p:cNvSpPr txBox="1"/>
          <p:nvPr/>
        </p:nvSpPr>
        <p:spPr>
          <a:xfrm>
            <a:off x="569976" y="1981200"/>
            <a:ext cx="687070" cy="269875"/>
          </a:xfrm>
          <a:prstGeom prst="rect">
            <a:avLst/>
          </a:prstGeom>
        </p:spPr>
        <p:txBody>
          <a:bodyPr vert="horz" wrap="square" lIns="0" tIns="12700" rIns="0" bIns="0" rtlCol="0">
            <a:spAutoFit/>
          </a:bodyPr>
          <a:lstStyle/>
          <a:p>
            <a:pPr marL="12700">
              <a:lnSpc>
                <a:spcPct val="100000"/>
              </a:lnSpc>
              <a:spcBef>
                <a:spcPts val="100"/>
              </a:spcBef>
            </a:pPr>
            <a:r>
              <a:rPr sz="1600" b="1" spc="-130" dirty="0">
                <a:latin typeface="Arial"/>
                <a:cs typeface="Arial"/>
              </a:rPr>
              <a:t>S</a:t>
            </a:r>
            <a:r>
              <a:rPr sz="1600" b="1" spc="-110" dirty="0">
                <a:latin typeface="Arial"/>
                <a:cs typeface="Arial"/>
              </a:rPr>
              <a:t>y</a:t>
            </a:r>
            <a:r>
              <a:rPr sz="1600" b="1" spc="-50" dirty="0">
                <a:latin typeface="Arial"/>
                <a:cs typeface="Arial"/>
              </a:rPr>
              <a:t>n</a:t>
            </a:r>
            <a:r>
              <a:rPr sz="1600" b="1" spc="5" dirty="0">
                <a:latin typeface="Arial"/>
                <a:cs typeface="Arial"/>
              </a:rPr>
              <a:t>t</a:t>
            </a:r>
            <a:r>
              <a:rPr sz="1600" b="1" spc="-170" dirty="0">
                <a:latin typeface="Arial"/>
                <a:cs typeface="Arial"/>
              </a:rPr>
              <a:t>a</a:t>
            </a:r>
            <a:r>
              <a:rPr sz="1600" b="1" spc="-30" dirty="0">
                <a:latin typeface="Arial"/>
                <a:cs typeface="Arial"/>
              </a:rPr>
              <a:t>x</a:t>
            </a:r>
            <a:r>
              <a:rPr sz="1600" b="1" spc="-120" dirty="0">
                <a:latin typeface="Arial"/>
                <a:cs typeface="Arial"/>
              </a:rPr>
              <a:t>:</a:t>
            </a:r>
            <a:endParaRPr sz="1600">
              <a:latin typeface="Arial"/>
              <a:cs typeface="Arial"/>
            </a:endParaRPr>
          </a:p>
        </p:txBody>
      </p:sp>
      <p:pic>
        <p:nvPicPr>
          <p:cNvPr id="8" name="object 8"/>
          <p:cNvPicPr/>
          <p:nvPr/>
        </p:nvPicPr>
        <p:blipFill>
          <a:blip r:embed="rId4" cstate="print"/>
          <a:stretch>
            <a:fillRect/>
          </a:stretch>
        </p:blipFill>
        <p:spPr>
          <a:xfrm>
            <a:off x="938022" y="2286000"/>
            <a:ext cx="7267956" cy="497586"/>
          </a:xfrm>
          <a:prstGeom prst="rect">
            <a:avLst/>
          </a:prstGeom>
        </p:spPr>
      </p:pic>
      <p:pic>
        <p:nvPicPr>
          <p:cNvPr id="9" name="object 9"/>
          <p:cNvPicPr/>
          <p:nvPr/>
        </p:nvPicPr>
        <p:blipFill>
          <a:blip r:embed="rId5" cstate="print"/>
          <a:stretch>
            <a:fillRect/>
          </a:stretch>
        </p:blipFill>
        <p:spPr>
          <a:xfrm>
            <a:off x="1758695" y="4038600"/>
            <a:ext cx="5711189" cy="2136648"/>
          </a:xfrm>
          <a:prstGeom prst="rect">
            <a:avLst/>
          </a:prstGeom>
        </p:spPr>
      </p:pic>
      <p:sp>
        <p:nvSpPr>
          <p:cNvPr id="10" name="object 10"/>
          <p:cNvSpPr txBox="1"/>
          <p:nvPr/>
        </p:nvSpPr>
        <p:spPr>
          <a:xfrm>
            <a:off x="2910839" y="6324600"/>
            <a:ext cx="3443604"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Using </a:t>
            </a:r>
            <a:r>
              <a:rPr sz="1400" b="1" spc="-114" dirty="0">
                <a:latin typeface="Arial"/>
                <a:cs typeface="Arial"/>
              </a:rPr>
              <a:t>sp_helptext </a:t>
            </a:r>
            <a:r>
              <a:rPr sz="1400" b="1" spc="-40" dirty="0">
                <a:latin typeface="Arial"/>
                <a:cs typeface="Arial"/>
              </a:rPr>
              <a:t>to </a:t>
            </a:r>
            <a:r>
              <a:rPr sz="1400" b="1" spc="-90" dirty="0">
                <a:latin typeface="Arial"/>
                <a:cs typeface="Arial"/>
              </a:rPr>
              <a:t>display </a:t>
            </a:r>
            <a:r>
              <a:rPr sz="1400" b="1" dirty="0">
                <a:latin typeface="Arial"/>
                <a:cs typeface="Arial"/>
              </a:rPr>
              <a:t>View</a:t>
            </a:r>
            <a:r>
              <a:rPr sz="1400" b="1" spc="-310" dirty="0">
                <a:latin typeface="Arial"/>
                <a:cs typeface="Arial"/>
              </a:rPr>
              <a:t> </a:t>
            </a:r>
            <a:r>
              <a:rPr sz="1400" b="1" spc="-45" dirty="0">
                <a:latin typeface="Arial"/>
                <a:cs typeface="Arial"/>
              </a:rPr>
              <a:t>Definitions</a:t>
            </a:r>
            <a:endParaRPr sz="140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20</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4" name="TextBox 13">
            <a:extLst>
              <a:ext uri="{FF2B5EF4-FFF2-40B4-BE49-F238E27FC236}">
                <a16:creationId xmlns:a16="http://schemas.microsoft.com/office/drawing/2014/main" id="{A8C4848A-84D1-4836-B6B3-DF8F4A7D8DC2}"/>
              </a:ext>
            </a:extLst>
          </p:cNvPr>
          <p:cNvSpPr txBox="1"/>
          <p:nvPr/>
        </p:nvSpPr>
        <p:spPr>
          <a:xfrm>
            <a:off x="533400" y="3252727"/>
            <a:ext cx="8610600" cy="338554"/>
          </a:xfrm>
          <a:prstGeom prst="rect">
            <a:avLst/>
          </a:prstGeom>
          <a:noFill/>
        </p:spPr>
        <p:txBody>
          <a:bodyPr wrap="square" rtlCol="0">
            <a:spAutoFit/>
          </a:bodyPr>
          <a:lstStyle/>
          <a:p>
            <a:pPr>
              <a:lnSpc>
                <a:spcPct val="100000"/>
              </a:lnSpc>
              <a:spcBef>
                <a:spcPts val="0"/>
              </a:spcBef>
            </a:pPr>
            <a:r>
              <a:rPr lang="en-US" sz="1600" b="1">
                <a:latin typeface="Arial" panose="020B0604020202020204" pitchFamily="34" charset="0"/>
                <a:cs typeface="Arial" panose="020B0604020202020204" pitchFamily="34" charset="0"/>
              </a:rPr>
              <a:t>Example:</a:t>
            </a:r>
            <a:endParaRPr lang="en-US" sz="1600" b="1"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C28FF28-E486-4758-B373-1D3E97ECEEC3}"/>
              </a:ext>
            </a:extLst>
          </p:cNvPr>
          <p:cNvSpPr txBox="1"/>
          <p:nvPr/>
        </p:nvSpPr>
        <p:spPr>
          <a:xfrm>
            <a:off x="2438400" y="2971800"/>
            <a:ext cx="4869656" cy="769441"/>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US" dirty="0"/>
          </a:p>
          <a:p>
            <a:r>
              <a:rPr lang="en-US" sz="1800" b="1" dirty="0">
                <a:solidFill>
                  <a:srgbClr val="FF0000"/>
                </a:solidFill>
                <a:latin typeface="Courier New" panose="02070309020205020404" pitchFamily="49" charset="0"/>
                <a:cs typeface="Courier New" panose="02070309020205020404" pitchFamily="49" charset="0"/>
              </a:rPr>
              <a:t>EXEC </a:t>
            </a:r>
            <a:r>
              <a:rPr lang="en-US" sz="1800" b="1" dirty="0" err="1">
                <a:solidFill>
                  <a:srgbClr val="FF0000"/>
                </a:solidFill>
                <a:latin typeface="Courier New" panose="02070309020205020404" pitchFamily="49" charset="0"/>
                <a:cs typeface="Courier New" panose="02070309020205020404" pitchFamily="49" charset="0"/>
              </a:rPr>
              <a:t>sp_helptext</a:t>
            </a:r>
            <a:r>
              <a:rPr lang="en-US" sz="1800" b="1" dirty="0">
                <a:solidFill>
                  <a:srgbClr val="FF0000"/>
                </a:solidFill>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vwProductPrice</a:t>
            </a:r>
            <a:endParaRPr lang="en-US" sz="1800" b="1" dirty="0">
              <a:latin typeface="Courier New" panose="02070309020205020404" pitchFamily="49" charset="0"/>
              <a:cs typeface="Courier New" panose="02070309020205020404" pitchFamily="49" charset="0"/>
            </a:endParaRPr>
          </a:p>
          <a:p>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938" y="78485"/>
            <a:ext cx="8192770" cy="574040"/>
          </a:xfrm>
          <a:prstGeom prst="rect">
            <a:avLst/>
          </a:prstGeom>
        </p:spPr>
        <p:txBody>
          <a:bodyPr vert="horz" wrap="square" lIns="0" tIns="12700" rIns="0" bIns="0" rtlCol="0">
            <a:spAutoFit/>
          </a:bodyPr>
          <a:lstStyle/>
          <a:p>
            <a:pPr marL="12700">
              <a:lnSpc>
                <a:spcPct val="100000"/>
              </a:lnSpc>
              <a:spcBef>
                <a:spcPts val="100"/>
              </a:spcBef>
            </a:pPr>
            <a:r>
              <a:rPr b="0" spc="15" dirty="0">
                <a:latin typeface="Arial"/>
                <a:cs typeface="Arial"/>
              </a:rPr>
              <a:t>Creating</a:t>
            </a:r>
            <a:r>
              <a:rPr b="0" spc="-250" dirty="0">
                <a:latin typeface="Arial"/>
                <a:cs typeface="Arial"/>
              </a:rPr>
              <a:t> </a:t>
            </a:r>
            <a:r>
              <a:rPr b="0" spc="-345" dirty="0">
                <a:latin typeface="Arial"/>
                <a:cs typeface="Arial"/>
              </a:rPr>
              <a:t>a</a:t>
            </a:r>
            <a:r>
              <a:rPr b="0" spc="-245" dirty="0">
                <a:latin typeface="Arial"/>
                <a:cs typeface="Arial"/>
              </a:rPr>
              <a:t> </a:t>
            </a:r>
            <a:r>
              <a:rPr b="0" spc="120" dirty="0">
                <a:latin typeface="Arial"/>
                <a:cs typeface="Arial"/>
              </a:rPr>
              <a:t>View</a:t>
            </a:r>
            <a:r>
              <a:rPr b="0" spc="-260" dirty="0">
                <a:latin typeface="Arial"/>
                <a:cs typeface="Arial"/>
              </a:rPr>
              <a:t> </a:t>
            </a:r>
            <a:r>
              <a:rPr b="0" spc="10" dirty="0">
                <a:latin typeface="Arial"/>
                <a:cs typeface="Arial"/>
              </a:rPr>
              <a:t>Using</a:t>
            </a:r>
            <a:r>
              <a:rPr b="0" spc="-245" dirty="0">
                <a:latin typeface="Arial"/>
                <a:cs typeface="Arial"/>
              </a:rPr>
              <a:t> </a:t>
            </a:r>
            <a:r>
              <a:rPr b="0" spc="120" dirty="0">
                <a:latin typeface="Arial"/>
                <a:cs typeface="Arial"/>
              </a:rPr>
              <a:t>Built-in</a:t>
            </a:r>
            <a:r>
              <a:rPr b="0" spc="-254" dirty="0">
                <a:latin typeface="Arial"/>
                <a:cs typeface="Arial"/>
              </a:rPr>
              <a:t> </a:t>
            </a:r>
            <a:r>
              <a:rPr b="0" spc="-5" dirty="0">
                <a:latin typeface="Arial"/>
                <a:cs typeface="Arial"/>
              </a:rPr>
              <a:t>Functions</a:t>
            </a:r>
          </a:p>
        </p:txBody>
      </p:sp>
      <p:sp>
        <p:nvSpPr>
          <p:cNvPr id="3" name="object 3"/>
          <p:cNvSpPr txBox="1"/>
          <p:nvPr/>
        </p:nvSpPr>
        <p:spPr>
          <a:xfrm>
            <a:off x="313943" y="1027938"/>
            <a:ext cx="7816850" cy="830580"/>
          </a:xfrm>
          <a:prstGeom prst="rect">
            <a:avLst/>
          </a:prstGeom>
          <a:solidFill>
            <a:srgbClr val="FFFFFF"/>
          </a:solidFill>
          <a:ln w="38100">
            <a:solidFill>
              <a:srgbClr val="00AFEF"/>
            </a:solidFill>
          </a:ln>
        </p:spPr>
        <p:txBody>
          <a:bodyPr vert="horz" wrap="square" lIns="0" tIns="0" rIns="0" bIns="0" rtlCol="0">
            <a:spAutoFit/>
          </a:bodyPr>
          <a:lstStyle/>
          <a:p>
            <a:pPr marL="91440">
              <a:lnSpc>
                <a:spcPts val="2765"/>
              </a:lnSpc>
              <a:tabLst>
                <a:tab pos="1068705" algn="l"/>
                <a:tab pos="1682114" algn="l"/>
                <a:tab pos="2145665" algn="l"/>
                <a:tab pos="3254375" algn="l"/>
                <a:tab pos="4120515" algn="l"/>
                <a:tab pos="5267325" algn="l"/>
                <a:tab pos="6679565" algn="l"/>
                <a:tab pos="7105015" algn="l"/>
              </a:tabLst>
            </a:pPr>
            <a:r>
              <a:rPr sz="2400" spc="10" dirty="0">
                <a:latin typeface="Arial"/>
                <a:cs typeface="Arial"/>
              </a:rPr>
              <a:t>Views	</a:t>
            </a:r>
            <a:r>
              <a:rPr sz="2400" spc="-90" dirty="0">
                <a:latin typeface="Arial"/>
                <a:cs typeface="Arial"/>
              </a:rPr>
              <a:t>can	</a:t>
            </a:r>
            <a:r>
              <a:rPr sz="2400" spc="-120" dirty="0">
                <a:latin typeface="Arial"/>
                <a:cs typeface="Arial"/>
              </a:rPr>
              <a:t>be	</a:t>
            </a:r>
            <a:r>
              <a:rPr sz="2400" spc="-75" dirty="0">
                <a:latin typeface="Arial"/>
                <a:cs typeface="Arial"/>
              </a:rPr>
              <a:t>created	</a:t>
            </a:r>
            <a:r>
              <a:rPr sz="2400" spc="-30" dirty="0">
                <a:latin typeface="Arial"/>
                <a:cs typeface="Arial"/>
              </a:rPr>
              <a:t>using	</a:t>
            </a:r>
            <a:r>
              <a:rPr sz="2400" spc="90" dirty="0">
                <a:latin typeface="Arial"/>
                <a:cs typeface="Arial"/>
              </a:rPr>
              <a:t>built-in	</a:t>
            </a:r>
            <a:r>
              <a:rPr sz="2400" spc="30" dirty="0">
                <a:latin typeface="Arial"/>
                <a:cs typeface="Arial"/>
              </a:rPr>
              <a:t>functions	</a:t>
            </a:r>
            <a:r>
              <a:rPr sz="2400" spc="65" dirty="0">
                <a:latin typeface="Arial"/>
                <a:cs typeface="Arial"/>
              </a:rPr>
              <a:t>of	</a:t>
            </a:r>
            <a:r>
              <a:rPr sz="2400" spc="25" dirty="0">
                <a:latin typeface="Arial"/>
                <a:cs typeface="Arial"/>
              </a:rPr>
              <a:t>SQL</a:t>
            </a:r>
            <a:endParaRPr sz="2400">
              <a:latin typeface="Arial"/>
              <a:cs typeface="Arial"/>
            </a:endParaRPr>
          </a:p>
          <a:p>
            <a:pPr marL="91440">
              <a:lnSpc>
                <a:spcPct val="100000"/>
              </a:lnSpc>
            </a:pPr>
            <a:r>
              <a:rPr sz="2400" spc="-60" dirty="0">
                <a:latin typeface="Arial"/>
                <a:cs typeface="Arial"/>
              </a:rPr>
              <a:t>Server.</a:t>
            </a:r>
            <a:endParaRPr sz="2400">
              <a:latin typeface="Arial"/>
              <a:cs typeface="Arial"/>
            </a:endParaRPr>
          </a:p>
        </p:txBody>
      </p:sp>
      <p:pic>
        <p:nvPicPr>
          <p:cNvPr id="4" name="object 4"/>
          <p:cNvPicPr/>
          <p:nvPr/>
        </p:nvPicPr>
        <p:blipFill>
          <a:blip r:embed="rId3" cstate="print"/>
          <a:stretch>
            <a:fillRect/>
          </a:stretch>
        </p:blipFill>
        <p:spPr>
          <a:xfrm>
            <a:off x="5079493" y="4252222"/>
            <a:ext cx="3988307" cy="951737"/>
          </a:xfrm>
          <a:prstGeom prst="rect">
            <a:avLst/>
          </a:prstGeom>
        </p:spPr>
      </p:pic>
      <p:sp>
        <p:nvSpPr>
          <p:cNvPr id="5" name="object 5"/>
          <p:cNvSpPr txBox="1"/>
          <p:nvPr/>
        </p:nvSpPr>
        <p:spPr>
          <a:xfrm>
            <a:off x="5794555" y="5426705"/>
            <a:ext cx="2780030"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Using </a:t>
            </a:r>
            <a:r>
              <a:rPr sz="1400" b="1" spc="-30" dirty="0">
                <a:latin typeface="Arial"/>
                <a:cs typeface="Arial"/>
              </a:rPr>
              <a:t>Built-in </a:t>
            </a:r>
            <a:r>
              <a:rPr sz="1400" b="1" spc="-85" dirty="0">
                <a:latin typeface="Arial"/>
                <a:cs typeface="Arial"/>
              </a:rPr>
              <a:t>Functions </a:t>
            </a:r>
            <a:r>
              <a:rPr sz="1400" b="1" spc="-25" dirty="0">
                <a:latin typeface="Arial"/>
                <a:cs typeface="Arial"/>
              </a:rPr>
              <a:t>with</a:t>
            </a:r>
            <a:r>
              <a:rPr sz="1400" b="1" spc="-310" dirty="0">
                <a:latin typeface="Arial"/>
                <a:cs typeface="Arial"/>
              </a:rPr>
              <a:t> </a:t>
            </a:r>
            <a:r>
              <a:rPr sz="1400" b="1" spc="-50" dirty="0">
                <a:latin typeface="Arial"/>
                <a:cs typeface="Arial"/>
              </a:rPr>
              <a:t>Views</a:t>
            </a:r>
            <a:endParaRPr sz="14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21</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6" name="object 6"/>
          <p:cNvSpPr txBox="1"/>
          <p:nvPr/>
        </p:nvSpPr>
        <p:spPr>
          <a:xfrm>
            <a:off x="1041653" y="2042160"/>
            <a:ext cx="7816850" cy="1201420"/>
          </a:xfrm>
          <a:prstGeom prst="rect">
            <a:avLst/>
          </a:prstGeom>
          <a:solidFill>
            <a:srgbClr val="FFFFFF"/>
          </a:solidFill>
          <a:ln w="38100">
            <a:solidFill>
              <a:srgbClr val="00AFEF"/>
            </a:solidFill>
          </a:ln>
        </p:spPr>
        <p:txBody>
          <a:bodyPr vert="horz" wrap="square" lIns="0" tIns="0" rIns="0" bIns="0" rtlCol="0">
            <a:spAutoFit/>
          </a:bodyPr>
          <a:lstStyle/>
          <a:p>
            <a:pPr marL="91440">
              <a:lnSpc>
                <a:spcPts val="2770"/>
              </a:lnSpc>
              <a:tabLst>
                <a:tab pos="1129030" algn="l"/>
                <a:tab pos="2585720" algn="l"/>
                <a:tab pos="3181350" algn="l"/>
                <a:tab pos="4065270" algn="l"/>
                <a:tab pos="4690110" algn="l"/>
                <a:tab pos="5875020" algn="l"/>
                <a:tab pos="7073265" algn="l"/>
              </a:tabLst>
            </a:pPr>
            <a:r>
              <a:rPr sz="2400" spc="85" dirty="0">
                <a:latin typeface="Arial"/>
                <a:cs typeface="Arial"/>
              </a:rPr>
              <a:t>When	</a:t>
            </a:r>
            <a:r>
              <a:rPr sz="2400" spc="30" dirty="0">
                <a:latin typeface="Arial"/>
                <a:cs typeface="Arial"/>
              </a:rPr>
              <a:t>functions	</a:t>
            </a:r>
            <a:r>
              <a:rPr sz="2400" spc="-114" dirty="0">
                <a:latin typeface="Arial"/>
                <a:cs typeface="Arial"/>
              </a:rPr>
              <a:t>are	</a:t>
            </a:r>
            <a:r>
              <a:rPr sz="2400" spc="-95" dirty="0">
                <a:latin typeface="Arial"/>
                <a:cs typeface="Arial"/>
              </a:rPr>
              <a:t>used,	</a:t>
            </a:r>
            <a:r>
              <a:rPr sz="2400" dirty="0">
                <a:latin typeface="Arial"/>
                <a:cs typeface="Arial"/>
              </a:rPr>
              <a:t>the	</a:t>
            </a:r>
            <a:r>
              <a:rPr sz="2400" spc="-20" dirty="0">
                <a:latin typeface="Arial"/>
                <a:cs typeface="Arial"/>
              </a:rPr>
              <a:t>derived	</a:t>
            </a:r>
            <a:r>
              <a:rPr sz="2400" spc="20" dirty="0">
                <a:latin typeface="Arial"/>
                <a:cs typeface="Arial"/>
              </a:rPr>
              <a:t>column	</a:t>
            </a:r>
            <a:r>
              <a:rPr sz="2400" spc="-20" dirty="0">
                <a:latin typeface="Arial"/>
                <a:cs typeface="Arial"/>
              </a:rPr>
              <a:t>must</a:t>
            </a:r>
            <a:endParaRPr sz="2400">
              <a:latin typeface="Arial"/>
              <a:cs typeface="Arial"/>
            </a:endParaRPr>
          </a:p>
          <a:p>
            <a:pPr marL="91440" marR="83820">
              <a:lnSpc>
                <a:spcPct val="100000"/>
              </a:lnSpc>
              <a:tabLst>
                <a:tab pos="1308100" algn="l"/>
                <a:tab pos="1970405" algn="l"/>
                <a:tab pos="3206750" algn="l"/>
                <a:tab pos="4157345" algn="l"/>
                <a:tab pos="4661535" algn="l"/>
                <a:tab pos="5323205" algn="l"/>
                <a:tab pos="6855459" algn="l"/>
              </a:tabLst>
            </a:pPr>
            <a:r>
              <a:rPr sz="2400" spc="55" dirty="0">
                <a:latin typeface="Arial"/>
                <a:cs typeface="Arial"/>
              </a:rPr>
              <a:t>incl</a:t>
            </a:r>
            <a:r>
              <a:rPr sz="2400" spc="85" dirty="0">
                <a:latin typeface="Arial"/>
                <a:cs typeface="Arial"/>
              </a:rPr>
              <a:t>u</a:t>
            </a:r>
            <a:r>
              <a:rPr sz="2400" spc="-100" dirty="0">
                <a:latin typeface="Arial"/>
                <a:cs typeface="Arial"/>
              </a:rPr>
              <a:t>de</a:t>
            </a:r>
            <a:r>
              <a:rPr sz="2400" dirty="0">
                <a:latin typeface="Arial"/>
                <a:cs typeface="Arial"/>
              </a:rPr>
              <a:t>	the	col</a:t>
            </a:r>
            <a:r>
              <a:rPr sz="2400" spc="40" dirty="0">
                <a:latin typeface="Arial"/>
                <a:cs typeface="Arial"/>
              </a:rPr>
              <a:t>umn</a:t>
            </a:r>
            <a:r>
              <a:rPr sz="2400" dirty="0">
                <a:latin typeface="Arial"/>
                <a:cs typeface="Arial"/>
              </a:rPr>
              <a:t>	</a:t>
            </a:r>
            <a:r>
              <a:rPr sz="2400" spc="-45" dirty="0">
                <a:latin typeface="Arial"/>
                <a:cs typeface="Arial"/>
              </a:rPr>
              <a:t>na</a:t>
            </a:r>
            <a:r>
              <a:rPr sz="2400" spc="-80" dirty="0">
                <a:latin typeface="Arial"/>
                <a:cs typeface="Arial"/>
              </a:rPr>
              <a:t>m</a:t>
            </a:r>
            <a:r>
              <a:rPr sz="2400" spc="-220" dirty="0">
                <a:latin typeface="Arial"/>
                <a:cs typeface="Arial"/>
              </a:rPr>
              <a:t>e</a:t>
            </a:r>
            <a:r>
              <a:rPr sz="2400" dirty="0">
                <a:latin typeface="Arial"/>
                <a:cs typeface="Arial"/>
              </a:rPr>
              <a:t>	</a:t>
            </a:r>
            <a:r>
              <a:rPr sz="2400" spc="114" dirty="0">
                <a:latin typeface="Arial"/>
                <a:cs typeface="Arial"/>
              </a:rPr>
              <a:t>in</a:t>
            </a:r>
            <a:r>
              <a:rPr sz="2400" dirty="0">
                <a:latin typeface="Arial"/>
                <a:cs typeface="Arial"/>
              </a:rPr>
              <a:t>	the	</a:t>
            </a:r>
            <a:r>
              <a:rPr sz="2400" spc="95" dirty="0">
                <a:latin typeface="Arial"/>
                <a:cs typeface="Arial"/>
              </a:rPr>
              <a:t>C</a:t>
            </a:r>
            <a:r>
              <a:rPr sz="2400" spc="85" dirty="0">
                <a:latin typeface="Arial"/>
                <a:cs typeface="Arial"/>
              </a:rPr>
              <a:t>R</a:t>
            </a:r>
            <a:r>
              <a:rPr sz="2400" spc="65" dirty="0">
                <a:latin typeface="Arial"/>
                <a:cs typeface="Arial"/>
              </a:rPr>
              <a:t>EATE</a:t>
            </a:r>
            <a:r>
              <a:rPr sz="2400" dirty="0">
                <a:latin typeface="Arial"/>
                <a:cs typeface="Arial"/>
              </a:rPr>
              <a:t>	</a:t>
            </a:r>
            <a:r>
              <a:rPr sz="2400" spc="140" dirty="0">
                <a:latin typeface="Arial"/>
                <a:cs typeface="Arial"/>
              </a:rPr>
              <a:t>VIEW  </a:t>
            </a:r>
            <a:r>
              <a:rPr sz="2400" spc="-50" dirty="0">
                <a:latin typeface="Arial"/>
                <a:cs typeface="Arial"/>
              </a:rPr>
              <a:t>statement.</a:t>
            </a:r>
            <a:endParaRPr sz="2400">
              <a:latin typeface="Arial"/>
              <a:cs typeface="Arial"/>
            </a:endParaRPr>
          </a:p>
        </p:txBody>
      </p:sp>
      <p:sp>
        <p:nvSpPr>
          <p:cNvPr id="11" name="TextBox 10">
            <a:extLst>
              <a:ext uri="{FF2B5EF4-FFF2-40B4-BE49-F238E27FC236}">
                <a16:creationId xmlns:a16="http://schemas.microsoft.com/office/drawing/2014/main" id="{6F5BE714-F796-46A9-9557-413C25FE0C50}"/>
              </a:ext>
            </a:extLst>
          </p:cNvPr>
          <p:cNvSpPr txBox="1"/>
          <p:nvPr/>
        </p:nvSpPr>
        <p:spPr>
          <a:xfrm>
            <a:off x="392938" y="3568322"/>
            <a:ext cx="4595148" cy="286232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800">
                <a:solidFill>
                  <a:srgbClr val="0000FF"/>
                </a:solidFill>
                <a:latin typeface="Consolas" panose="020B0609020204030204" pitchFamily="49" charset="0"/>
              </a:rPr>
              <a:t>CREATE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VIEW</a:t>
            </a:r>
            <a:r>
              <a:rPr lang="en-US" sz="1800">
                <a:solidFill>
                  <a:srgbClr val="000000"/>
                </a:solidFill>
                <a:latin typeface="Consolas" panose="020B0609020204030204" pitchFamily="49" charset="0"/>
              </a:rPr>
              <a:t> vwProduct_Details </a:t>
            </a:r>
            <a:r>
              <a:rPr lang="en-US" sz="1800">
                <a:solidFill>
                  <a:srgbClr val="0000FF"/>
                </a:solidFill>
                <a:latin typeface="Consolas" panose="020B0609020204030204" pitchFamily="49" charset="0"/>
              </a:rPr>
              <a:t>AS</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SELECT</a:t>
            </a:r>
            <a:r>
              <a:rPr lang="en-US" sz="1800">
                <a:solidFill>
                  <a:srgbClr val="000000"/>
                </a:solidFill>
                <a:latin typeface="Consolas" panose="020B0609020204030204" pitchFamily="49" charset="0"/>
              </a:rPr>
              <a:t> ProductName</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r>
              <a:rPr lang="en-US" sz="1800">
                <a:solidFill>
                  <a:srgbClr val="FF00FF"/>
                </a:solidFill>
                <a:latin typeface="Consolas" panose="020B0609020204030204" pitchFamily="49" charset="0"/>
              </a:rPr>
              <a:t>AVG</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Rate</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AS</a:t>
            </a:r>
            <a:r>
              <a:rPr lang="en-US" sz="1800">
                <a:solidFill>
                  <a:srgbClr val="000000"/>
                </a:solidFill>
                <a:latin typeface="Consolas" panose="020B0609020204030204" pitchFamily="49" charset="0"/>
              </a:rPr>
              <a:t> AverageRate</a:t>
            </a:r>
          </a:p>
          <a:p>
            <a:r>
              <a:rPr lang="en-US" sz="1800">
                <a:solidFill>
                  <a:srgbClr val="0000FF"/>
                </a:solidFill>
                <a:latin typeface="Consolas" panose="020B0609020204030204" pitchFamily="49" charset="0"/>
              </a:rPr>
              <a:t>FROM</a:t>
            </a:r>
            <a:r>
              <a:rPr lang="en-US" sz="1800">
                <a:solidFill>
                  <a:srgbClr val="000000"/>
                </a:solidFill>
                <a:latin typeface="Consolas" panose="020B0609020204030204" pitchFamily="49" charset="0"/>
              </a:rPr>
              <a:t> Product_Details </a:t>
            </a:r>
          </a:p>
          <a:p>
            <a:r>
              <a:rPr lang="en-US" sz="1800">
                <a:solidFill>
                  <a:srgbClr val="0000FF"/>
                </a:solidFill>
                <a:latin typeface="Consolas" panose="020B0609020204030204" pitchFamily="49" charset="0"/>
              </a:rPr>
              <a:t>GROUP</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BY</a:t>
            </a:r>
            <a:r>
              <a:rPr lang="en-US" sz="1800">
                <a:solidFill>
                  <a:srgbClr val="000000"/>
                </a:solidFill>
                <a:latin typeface="Consolas" panose="020B0609020204030204" pitchFamily="49" charset="0"/>
              </a:rPr>
              <a:t> ProductName</a:t>
            </a:r>
          </a:p>
          <a:p>
            <a:r>
              <a:rPr lang="en-US" sz="1800">
                <a:solidFill>
                  <a:srgbClr val="0000FF"/>
                </a:solidFill>
                <a:latin typeface="Consolas" panose="020B0609020204030204" pitchFamily="49" charset="0"/>
              </a:rPr>
              <a:t>GO</a:t>
            </a:r>
            <a:endParaRPr lang="en-US" sz="1800">
              <a:solidFill>
                <a:srgbClr val="000000"/>
              </a:solidFill>
              <a:latin typeface="Consolas" panose="020B0609020204030204" pitchFamily="49" charset="0"/>
            </a:endParaRPr>
          </a:p>
          <a:p>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SELECT</a:t>
            </a:r>
            <a:r>
              <a:rPr lang="en-US" sz="1800">
                <a:solidFill>
                  <a:srgbClr val="000000"/>
                </a:solidFill>
                <a:latin typeface="Consolas" panose="020B0609020204030204" pitchFamily="49" charset="0"/>
              </a:rPr>
              <a:t> </a:t>
            </a:r>
            <a:r>
              <a:rPr lang="en-US" sz="1800">
                <a:solidFill>
                  <a:srgbClr val="808080"/>
                </a:solidFill>
                <a:latin typeface="Consolas" panose="020B0609020204030204" pitchFamily="49" charset="0"/>
              </a:rPr>
              <a:t>*</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FROM</a:t>
            </a:r>
            <a:r>
              <a:rPr lang="en-US" sz="1800">
                <a:solidFill>
                  <a:srgbClr val="000000"/>
                </a:solidFill>
                <a:latin typeface="Consolas" panose="020B0609020204030204" pitchFamily="49" charset="0"/>
              </a:rPr>
              <a:t> vwProduct_Details</a:t>
            </a:r>
          </a:p>
          <a:p>
            <a:r>
              <a:rPr lang="en-US" sz="1800">
                <a:solidFill>
                  <a:srgbClr val="0000FF"/>
                </a:solidFill>
                <a:latin typeface="Consolas" panose="020B0609020204030204" pitchFamily="49" charset="0"/>
              </a:rPr>
              <a:t>GO</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9624"/>
            <a:ext cx="4112895" cy="635635"/>
          </a:xfrm>
          <a:prstGeom prst="rect">
            <a:avLst/>
          </a:prstGeom>
        </p:spPr>
        <p:txBody>
          <a:bodyPr vert="horz" wrap="square" lIns="0" tIns="12700" rIns="0" bIns="0" rtlCol="0">
            <a:spAutoFit/>
          </a:bodyPr>
          <a:lstStyle/>
          <a:p>
            <a:pPr marL="12700">
              <a:lnSpc>
                <a:spcPct val="100000"/>
              </a:lnSpc>
              <a:spcBef>
                <a:spcPts val="100"/>
              </a:spcBef>
            </a:pPr>
            <a:r>
              <a:rPr sz="4000" b="0" spc="185" dirty="0">
                <a:latin typeface="Arial"/>
                <a:cs typeface="Arial"/>
              </a:rPr>
              <a:t>CHECK</a:t>
            </a:r>
            <a:r>
              <a:rPr sz="4000" b="0" spc="-335" dirty="0">
                <a:latin typeface="Arial"/>
                <a:cs typeface="Arial"/>
              </a:rPr>
              <a:t> </a:t>
            </a:r>
            <a:r>
              <a:rPr sz="4000" b="0" spc="175" dirty="0">
                <a:latin typeface="Arial"/>
                <a:cs typeface="Arial"/>
              </a:rPr>
              <a:t>OPTION</a:t>
            </a:r>
            <a:endParaRPr sz="4000">
              <a:latin typeface="Arial"/>
              <a:cs typeface="Arial"/>
            </a:endParaRPr>
          </a:p>
        </p:txBody>
      </p:sp>
      <p:sp>
        <p:nvSpPr>
          <p:cNvPr id="3" name="object 3"/>
          <p:cNvSpPr/>
          <p:nvPr/>
        </p:nvSpPr>
        <p:spPr>
          <a:xfrm>
            <a:off x="432054" y="838201"/>
            <a:ext cx="8382000" cy="1981200"/>
          </a:xfrm>
          <a:custGeom>
            <a:avLst/>
            <a:gdLst/>
            <a:ahLst/>
            <a:cxnLst/>
            <a:rect l="l" t="t" r="r" b="b"/>
            <a:pathLst>
              <a:path w="8382000" h="3115945">
                <a:moveTo>
                  <a:pt x="8382000" y="519303"/>
                </a:moveTo>
                <a:lnTo>
                  <a:pt x="8379866" y="472046"/>
                </a:lnTo>
                <a:lnTo>
                  <a:pt x="8373631" y="425970"/>
                </a:lnTo>
                <a:lnTo>
                  <a:pt x="8363445" y="381266"/>
                </a:lnTo>
                <a:lnTo>
                  <a:pt x="8349501" y="338124"/>
                </a:lnTo>
                <a:lnTo>
                  <a:pt x="8331987" y="296710"/>
                </a:lnTo>
                <a:lnTo>
                  <a:pt x="8311083" y="257225"/>
                </a:lnTo>
                <a:lnTo>
                  <a:pt x="8286978" y="219837"/>
                </a:lnTo>
                <a:lnTo>
                  <a:pt x="8259851" y="184746"/>
                </a:lnTo>
                <a:lnTo>
                  <a:pt x="8229879" y="152120"/>
                </a:lnTo>
                <a:lnTo>
                  <a:pt x="8197253" y="122148"/>
                </a:lnTo>
                <a:lnTo>
                  <a:pt x="8162163" y="95021"/>
                </a:lnTo>
                <a:lnTo>
                  <a:pt x="8124774" y="70916"/>
                </a:lnTo>
                <a:lnTo>
                  <a:pt x="8085290" y="50012"/>
                </a:lnTo>
                <a:lnTo>
                  <a:pt x="8043875" y="32499"/>
                </a:lnTo>
                <a:lnTo>
                  <a:pt x="8000733" y="18554"/>
                </a:lnTo>
                <a:lnTo>
                  <a:pt x="7956029" y="8369"/>
                </a:lnTo>
                <a:lnTo>
                  <a:pt x="7909954" y="2133"/>
                </a:lnTo>
                <a:lnTo>
                  <a:pt x="7862697" y="0"/>
                </a:lnTo>
                <a:lnTo>
                  <a:pt x="519315" y="0"/>
                </a:lnTo>
                <a:lnTo>
                  <a:pt x="472046" y="2133"/>
                </a:lnTo>
                <a:lnTo>
                  <a:pt x="425958" y="8369"/>
                </a:lnTo>
                <a:lnTo>
                  <a:pt x="381254" y="18554"/>
                </a:lnTo>
                <a:lnTo>
                  <a:pt x="338099" y="32499"/>
                </a:lnTo>
                <a:lnTo>
                  <a:pt x="296684" y="50012"/>
                </a:lnTo>
                <a:lnTo>
                  <a:pt x="257200" y="70916"/>
                </a:lnTo>
                <a:lnTo>
                  <a:pt x="219811" y="95021"/>
                </a:lnTo>
                <a:lnTo>
                  <a:pt x="184721" y="122148"/>
                </a:lnTo>
                <a:lnTo>
                  <a:pt x="152095" y="152120"/>
                </a:lnTo>
                <a:lnTo>
                  <a:pt x="122123" y="184746"/>
                </a:lnTo>
                <a:lnTo>
                  <a:pt x="94996" y="219837"/>
                </a:lnTo>
                <a:lnTo>
                  <a:pt x="70891" y="257225"/>
                </a:lnTo>
                <a:lnTo>
                  <a:pt x="49999" y="296710"/>
                </a:lnTo>
                <a:lnTo>
                  <a:pt x="32486" y="338124"/>
                </a:lnTo>
                <a:lnTo>
                  <a:pt x="18542" y="381266"/>
                </a:lnTo>
                <a:lnTo>
                  <a:pt x="8356" y="425970"/>
                </a:lnTo>
                <a:lnTo>
                  <a:pt x="2120" y="472046"/>
                </a:lnTo>
                <a:lnTo>
                  <a:pt x="0" y="519303"/>
                </a:lnTo>
                <a:lnTo>
                  <a:pt x="0" y="2596515"/>
                </a:lnTo>
                <a:lnTo>
                  <a:pt x="2120" y="2643784"/>
                </a:lnTo>
                <a:lnTo>
                  <a:pt x="8356" y="2689860"/>
                </a:lnTo>
                <a:lnTo>
                  <a:pt x="18542" y="2734564"/>
                </a:lnTo>
                <a:lnTo>
                  <a:pt x="32486" y="2777706"/>
                </a:lnTo>
                <a:lnTo>
                  <a:pt x="49999" y="2819120"/>
                </a:lnTo>
                <a:lnTo>
                  <a:pt x="70891" y="2858605"/>
                </a:lnTo>
                <a:lnTo>
                  <a:pt x="94996" y="2895993"/>
                </a:lnTo>
                <a:lnTo>
                  <a:pt x="122123" y="2931083"/>
                </a:lnTo>
                <a:lnTo>
                  <a:pt x="152095" y="2963710"/>
                </a:lnTo>
                <a:lnTo>
                  <a:pt x="184721" y="2993682"/>
                </a:lnTo>
                <a:lnTo>
                  <a:pt x="219811" y="3020809"/>
                </a:lnTo>
                <a:lnTo>
                  <a:pt x="257200" y="3044914"/>
                </a:lnTo>
                <a:lnTo>
                  <a:pt x="296684" y="3065818"/>
                </a:lnTo>
                <a:lnTo>
                  <a:pt x="338099" y="3083331"/>
                </a:lnTo>
                <a:lnTo>
                  <a:pt x="381254" y="3097276"/>
                </a:lnTo>
                <a:lnTo>
                  <a:pt x="425958" y="3107461"/>
                </a:lnTo>
                <a:lnTo>
                  <a:pt x="472046" y="3113697"/>
                </a:lnTo>
                <a:lnTo>
                  <a:pt x="519315" y="3115818"/>
                </a:lnTo>
                <a:lnTo>
                  <a:pt x="7862697" y="3115818"/>
                </a:lnTo>
                <a:lnTo>
                  <a:pt x="7909954" y="3113697"/>
                </a:lnTo>
                <a:lnTo>
                  <a:pt x="7956029" y="3107461"/>
                </a:lnTo>
                <a:lnTo>
                  <a:pt x="8000733" y="3097276"/>
                </a:lnTo>
                <a:lnTo>
                  <a:pt x="8043875" y="3083331"/>
                </a:lnTo>
                <a:lnTo>
                  <a:pt x="8085290" y="3065818"/>
                </a:lnTo>
                <a:lnTo>
                  <a:pt x="8124774" y="3044914"/>
                </a:lnTo>
                <a:lnTo>
                  <a:pt x="8162163" y="3020809"/>
                </a:lnTo>
                <a:lnTo>
                  <a:pt x="8197253" y="2993682"/>
                </a:lnTo>
                <a:lnTo>
                  <a:pt x="8229879" y="2963710"/>
                </a:lnTo>
                <a:lnTo>
                  <a:pt x="8259851" y="2931083"/>
                </a:lnTo>
                <a:lnTo>
                  <a:pt x="8286978" y="2895993"/>
                </a:lnTo>
                <a:lnTo>
                  <a:pt x="8311083" y="2858605"/>
                </a:lnTo>
                <a:lnTo>
                  <a:pt x="8331987" y="2819120"/>
                </a:lnTo>
                <a:lnTo>
                  <a:pt x="8349501" y="2777706"/>
                </a:lnTo>
                <a:lnTo>
                  <a:pt x="8363445" y="2734564"/>
                </a:lnTo>
                <a:lnTo>
                  <a:pt x="8373631" y="2689860"/>
                </a:lnTo>
                <a:lnTo>
                  <a:pt x="8379866" y="2643784"/>
                </a:lnTo>
                <a:lnTo>
                  <a:pt x="8382000" y="2596515"/>
                </a:lnTo>
                <a:lnTo>
                  <a:pt x="8382000" y="2356866"/>
                </a:lnTo>
                <a:lnTo>
                  <a:pt x="8382000" y="758952"/>
                </a:lnTo>
                <a:lnTo>
                  <a:pt x="8382000" y="519303"/>
                </a:lnTo>
                <a:close/>
              </a:path>
            </a:pathLst>
          </a:custGeom>
          <a:solidFill>
            <a:srgbClr val="9BBA58"/>
          </a:solidFill>
        </p:spPr>
        <p:txBody>
          <a:bodyPr wrap="square" lIns="0" tIns="0" rIns="0" bIns="0" rtlCol="0"/>
          <a:lstStyle/>
          <a:p>
            <a:endParaRPr/>
          </a:p>
        </p:txBody>
      </p:sp>
      <p:sp>
        <p:nvSpPr>
          <p:cNvPr id="4" name="object 4"/>
          <p:cNvSpPr txBox="1"/>
          <p:nvPr/>
        </p:nvSpPr>
        <p:spPr>
          <a:xfrm>
            <a:off x="639063" y="914400"/>
            <a:ext cx="8112125" cy="1793440"/>
          </a:xfrm>
          <a:prstGeom prst="rect">
            <a:avLst/>
          </a:prstGeom>
        </p:spPr>
        <p:txBody>
          <a:bodyPr vert="horz" wrap="square" lIns="0" tIns="53975" rIns="0" bIns="0" rtlCol="0">
            <a:spAutoFit/>
          </a:bodyPr>
          <a:lstStyle/>
          <a:p>
            <a:pPr marL="12700" marR="5080">
              <a:lnSpc>
                <a:spcPts val="2590"/>
              </a:lnSpc>
              <a:spcBef>
                <a:spcPts val="425"/>
              </a:spcBef>
              <a:tabLst>
                <a:tab pos="723265" algn="l"/>
                <a:tab pos="2037080" algn="l"/>
                <a:tab pos="3462020" algn="l"/>
                <a:tab pos="3844925" algn="l"/>
                <a:tab pos="4340860" algn="l"/>
                <a:tab pos="5391785" algn="l"/>
                <a:tab pos="6897370" algn="l"/>
                <a:tab pos="7673340" algn="l"/>
              </a:tabLst>
            </a:pPr>
            <a:r>
              <a:rPr spc="25" dirty="0">
                <a:solidFill>
                  <a:srgbClr val="FFFFFF"/>
                </a:solidFill>
                <a:latin typeface="Arial"/>
                <a:cs typeface="Arial"/>
              </a:rPr>
              <a:t>The	</a:t>
            </a:r>
            <a:r>
              <a:rPr spc="110" dirty="0">
                <a:solidFill>
                  <a:srgbClr val="FFFFFF"/>
                </a:solidFill>
                <a:latin typeface="Arial"/>
                <a:cs typeface="Arial"/>
              </a:rPr>
              <a:t>CHECK	</a:t>
            </a:r>
            <a:r>
              <a:rPr spc="105" dirty="0">
                <a:solidFill>
                  <a:srgbClr val="FFFFFF"/>
                </a:solidFill>
                <a:latin typeface="Arial"/>
                <a:cs typeface="Arial"/>
              </a:rPr>
              <a:t>OPTION	</a:t>
            </a:r>
            <a:r>
              <a:rPr spc="-30" dirty="0">
                <a:solidFill>
                  <a:srgbClr val="FFFFFF"/>
                </a:solidFill>
                <a:latin typeface="Arial"/>
                <a:cs typeface="Arial"/>
              </a:rPr>
              <a:t>i</a:t>
            </a:r>
            <a:r>
              <a:rPr spc="-75" dirty="0">
                <a:solidFill>
                  <a:srgbClr val="FFFFFF"/>
                </a:solidFill>
                <a:latin typeface="Arial"/>
                <a:cs typeface="Arial"/>
              </a:rPr>
              <a:t>s</a:t>
            </a:r>
            <a:r>
              <a:rPr dirty="0">
                <a:solidFill>
                  <a:srgbClr val="FFFFFF"/>
                </a:solidFill>
                <a:latin typeface="Arial"/>
                <a:cs typeface="Arial"/>
              </a:rPr>
              <a:t>	</a:t>
            </a:r>
            <a:r>
              <a:rPr spc="-80" dirty="0">
                <a:solidFill>
                  <a:srgbClr val="FFFFFF"/>
                </a:solidFill>
                <a:latin typeface="Arial"/>
                <a:cs typeface="Arial"/>
              </a:rPr>
              <a:t>a</a:t>
            </a:r>
            <a:r>
              <a:rPr spc="-75" dirty="0">
                <a:solidFill>
                  <a:srgbClr val="FFFFFF"/>
                </a:solidFill>
                <a:latin typeface="Arial"/>
                <a:cs typeface="Arial"/>
              </a:rPr>
              <a:t>n</a:t>
            </a:r>
            <a:r>
              <a:rPr dirty="0">
                <a:solidFill>
                  <a:srgbClr val="FFFFFF"/>
                </a:solidFill>
                <a:latin typeface="Arial"/>
                <a:cs typeface="Arial"/>
              </a:rPr>
              <a:t>	</a:t>
            </a:r>
            <a:r>
              <a:rPr spc="-15" dirty="0">
                <a:solidFill>
                  <a:srgbClr val="FFFFFF"/>
                </a:solidFill>
                <a:latin typeface="Arial"/>
                <a:cs typeface="Arial"/>
              </a:rPr>
              <a:t>op</a:t>
            </a:r>
            <a:r>
              <a:rPr spc="165" dirty="0">
                <a:solidFill>
                  <a:srgbClr val="FFFFFF"/>
                </a:solidFill>
                <a:latin typeface="Arial"/>
                <a:cs typeface="Arial"/>
              </a:rPr>
              <a:t>t</a:t>
            </a:r>
            <a:r>
              <a:rPr spc="135" dirty="0">
                <a:solidFill>
                  <a:srgbClr val="FFFFFF"/>
                </a:solidFill>
                <a:latin typeface="Arial"/>
                <a:cs typeface="Arial"/>
              </a:rPr>
              <a:t>i</a:t>
            </a:r>
            <a:r>
              <a:rPr spc="30" dirty="0">
                <a:solidFill>
                  <a:srgbClr val="FFFFFF"/>
                </a:solidFill>
                <a:latin typeface="Arial"/>
                <a:cs typeface="Arial"/>
              </a:rPr>
              <a:t>on</a:t>
            </a:r>
            <a:r>
              <a:rPr dirty="0">
                <a:solidFill>
                  <a:srgbClr val="FFFFFF"/>
                </a:solidFill>
                <a:latin typeface="Arial"/>
                <a:cs typeface="Arial"/>
              </a:rPr>
              <a:t>	</a:t>
            </a:r>
            <a:r>
              <a:rPr spc="-135" dirty="0">
                <a:solidFill>
                  <a:srgbClr val="FFFFFF"/>
                </a:solidFill>
                <a:latin typeface="Arial"/>
                <a:cs typeface="Arial"/>
              </a:rPr>
              <a:t>associ</a:t>
            </a:r>
            <a:r>
              <a:rPr spc="-155" dirty="0">
                <a:solidFill>
                  <a:srgbClr val="FFFFFF"/>
                </a:solidFill>
                <a:latin typeface="Arial"/>
                <a:cs typeface="Arial"/>
              </a:rPr>
              <a:t>a</a:t>
            </a:r>
            <a:r>
              <a:rPr spc="-15" dirty="0">
                <a:solidFill>
                  <a:srgbClr val="FFFFFF"/>
                </a:solidFill>
                <a:latin typeface="Arial"/>
                <a:cs typeface="Arial"/>
              </a:rPr>
              <a:t>ted</a:t>
            </a:r>
            <a:r>
              <a:rPr dirty="0">
                <a:solidFill>
                  <a:srgbClr val="FFFFFF"/>
                </a:solidFill>
                <a:latin typeface="Arial"/>
                <a:cs typeface="Arial"/>
              </a:rPr>
              <a:t>	</a:t>
            </a:r>
            <a:r>
              <a:rPr spc="140" dirty="0">
                <a:solidFill>
                  <a:srgbClr val="FFFFFF"/>
                </a:solidFill>
                <a:latin typeface="Arial"/>
                <a:cs typeface="Arial"/>
              </a:rPr>
              <a:t>wi</a:t>
            </a:r>
            <a:r>
              <a:rPr spc="90" dirty="0">
                <a:solidFill>
                  <a:srgbClr val="FFFFFF"/>
                </a:solidFill>
                <a:latin typeface="Arial"/>
                <a:cs typeface="Arial"/>
              </a:rPr>
              <a:t>t</a:t>
            </a:r>
            <a:r>
              <a:rPr spc="70" dirty="0">
                <a:solidFill>
                  <a:srgbClr val="FFFFFF"/>
                </a:solidFill>
                <a:latin typeface="Arial"/>
                <a:cs typeface="Arial"/>
              </a:rPr>
              <a:t>h</a:t>
            </a:r>
            <a:r>
              <a:rPr dirty="0">
                <a:solidFill>
                  <a:srgbClr val="FFFFFF"/>
                </a:solidFill>
                <a:latin typeface="Arial"/>
                <a:cs typeface="Arial"/>
              </a:rPr>
              <a:t>	the  </a:t>
            </a:r>
            <a:r>
              <a:rPr spc="75" dirty="0">
                <a:solidFill>
                  <a:srgbClr val="FFFFFF"/>
                </a:solidFill>
                <a:latin typeface="Arial"/>
                <a:cs typeface="Arial"/>
              </a:rPr>
              <a:t>CREATE </a:t>
            </a:r>
            <a:r>
              <a:rPr spc="175" dirty="0">
                <a:solidFill>
                  <a:srgbClr val="FFFFFF"/>
                </a:solidFill>
                <a:latin typeface="Arial"/>
                <a:cs typeface="Arial"/>
              </a:rPr>
              <a:t>VIEW</a:t>
            </a:r>
            <a:r>
              <a:rPr spc="-390" dirty="0">
                <a:solidFill>
                  <a:srgbClr val="FFFFFF"/>
                </a:solidFill>
                <a:latin typeface="Arial"/>
                <a:cs typeface="Arial"/>
              </a:rPr>
              <a:t> </a:t>
            </a:r>
            <a:r>
              <a:rPr spc="-50">
                <a:solidFill>
                  <a:srgbClr val="FFFFFF"/>
                </a:solidFill>
                <a:latin typeface="Arial"/>
                <a:cs typeface="Arial"/>
              </a:rPr>
              <a:t>statement.</a:t>
            </a:r>
            <a:endParaRPr lang="en-US" spc="-50">
              <a:solidFill>
                <a:srgbClr val="FFFFFF"/>
              </a:solidFill>
              <a:latin typeface="Arial"/>
              <a:cs typeface="Arial"/>
            </a:endParaRPr>
          </a:p>
          <a:p>
            <a:pPr marL="12700" marR="5080">
              <a:lnSpc>
                <a:spcPts val="2590"/>
              </a:lnSpc>
              <a:spcBef>
                <a:spcPts val="425"/>
              </a:spcBef>
              <a:tabLst>
                <a:tab pos="723265" algn="l"/>
                <a:tab pos="2037080" algn="l"/>
                <a:tab pos="3462020" algn="l"/>
                <a:tab pos="3844925" algn="l"/>
                <a:tab pos="4340860" algn="l"/>
                <a:tab pos="5391785" algn="l"/>
                <a:tab pos="6897370" algn="l"/>
                <a:tab pos="7673340" algn="l"/>
              </a:tabLst>
            </a:pPr>
            <a:r>
              <a:rPr spc="130">
                <a:solidFill>
                  <a:srgbClr val="FFFFFF"/>
                </a:solidFill>
                <a:latin typeface="Arial"/>
                <a:cs typeface="Arial"/>
              </a:rPr>
              <a:t>It </a:t>
            </a:r>
            <a:r>
              <a:rPr spc="-55" dirty="0">
                <a:solidFill>
                  <a:srgbClr val="FFFFFF"/>
                </a:solidFill>
                <a:latin typeface="Arial"/>
                <a:cs typeface="Arial"/>
              </a:rPr>
              <a:t>is </a:t>
            </a:r>
            <a:r>
              <a:rPr spc="-105" dirty="0">
                <a:solidFill>
                  <a:srgbClr val="FFFFFF"/>
                </a:solidFill>
                <a:latin typeface="Arial"/>
                <a:cs typeface="Arial"/>
              </a:rPr>
              <a:t>used </a:t>
            </a:r>
            <a:r>
              <a:rPr spc="65" dirty="0">
                <a:solidFill>
                  <a:srgbClr val="FFFFFF"/>
                </a:solidFill>
                <a:latin typeface="Arial"/>
                <a:cs typeface="Arial"/>
              </a:rPr>
              <a:t>to </a:t>
            </a:r>
            <a:r>
              <a:rPr spc="-80" dirty="0">
                <a:solidFill>
                  <a:srgbClr val="FFFFFF"/>
                </a:solidFill>
                <a:latin typeface="Arial"/>
                <a:cs typeface="Arial"/>
              </a:rPr>
              <a:t>ensure </a:t>
            </a:r>
            <a:r>
              <a:rPr spc="40" dirty="0">
                <a:solidFill>
                  <a:srgbClr val="FFFFFF"/>
                </a:solidFill>
                <a:latin typeface="Arial"/>
                <a:cs typeface="Arial"/>
              </a:rPr>
              <a:t>that </a:t>
            </a:r>
            <a:r>
              <a:rPr spc="15" dirty="0">
                <a:solidFill>
                  <a:srgbClr val="FFFFFF"/>
                </a:solidFill>
                <a:latin typeface="Arial"/>
                <a:cs typeface="Arial"/>
              </a:rPr>
              <a:t>all </a:t>
            </a:r>
            <a:r>
              <a:rPr dirty="0">
                <a:solidFill>
                  <a:srgbClr val="FFFFFF"/>
                </a:solidFill>
                <a:latin typeface="Arial"/>
                <a:cs typeface="Arial"/>
              </a:rPr>
              <a:t>the </a:t>
            </a:r>
            <a:r>
              <a:rPr spc="-70" dirty="0">
                <a:solidFill>
                  <a:srgbClr val="FFFFFF"/>
                </a:solidFill>
                <a:latin typeface="Arial"/>
                <a:cs typeface="Arial"/>
              </a:rPr>
              <a:t>updates </a:t>
            </a:r>
            <a:r>
              <a:rPr spc="114" dirty="0">
                <a:solidFill>
                  <a:srgbClr val="FFFFFF"/>
                </a:solidFill>
                <a:latin typeface="Arial"/>
                <a:cs typeface="Arial"/>
              </a:rPr>
              <a:t>in </a:t>
            </a:r>
            <a:r>
              <a:rPr dirty="0">
                <a:solidFill>
                  <a:srgbClr val="FFFFFF"/>
                </a:solidFill>
                <a:latin typeface="Arial"/>
                <a:cs typeface="Arial"/>
              </a:rPr>
              <a:t>the </a:t>
            </a:r>
            <a:r>
              <a:rPr spc="10" dirty="0">
                <a:solidFill>
                  <a:srgbClr val="FFFFFF"/>
                </a:solidFill>
                <a:latin typeface="Arial"/>
                <a:cs typeface="Arial"/>
              </a:rPr>
              <a:t>view </a:t>
            </a:r>
            <a:r>
              <a:rPr spc="-45" dirty="0">
                <a:solidFill>
                  <a:srgbClr val="FFFFFF"/>
                </a:solidFill>
                <a:latin typeface="Arial"/>
                <a:cs typeface="Arial"/>
              </a:rPr>
              <a:t>satisfy</a:t>
            </a:r>
            <a:r>
              <a:rPr spc="-320" dirty="0">
                <a:solidFill>
                  <a:srgbClr val="FFFFFF"/>
                </a:solidFill>
                <a:latin typeface="Arial"/>
                <a:cs typeface="Arial"/>
              </a:rPr>
              <a:t> </a:t>
            </a:r>
            <a:r>
              <a:rPr dirty="0">
                <a:solidFill>
                  <a:srgbClr val="FFFFFF"/>
                </a:solidFill>
                <a:latin typeface="Arial"/>
                <a:cs typeface="Arial"/>
              </a:rPr>
              <a:t>the  </a:t>
            </a:r>
            <a:r>
              <a:rPr spc="20" dirty="0">
                <a:solidFill>
                  <a:srgbClr val="FFFFFF"/>
                </a:solidFill>
                <a:latin typeface="Arial"/>
                <a:cs typeface="Arial"/>
              </a:rPr>
              <a:t>conditions</a:t>
            </a:r>
            <a:r>
              <a:rPr spc="-170" dirty="0">
                <a:solidFill>
                  <a:srgbClr val="FFFFFF"/>
                </a:solidFill>
                <a:latin typeface="Arial"/>
                <a:cs typeface="Arial"/>
              </a:rPr>
              <a:t> </a:t>
            </a:r>
            <a:r>
              <a:rPr dirty="0">
                <a:solidFill>
                  <a:srgbClr val="FFFFFF"/>
                </a:solidFill>
                <a:latin typeface="Arial"/>
                <a:cs typeface="Arial"/>
              </a:rPr>
              <a:t>mentioned</a:t>
            </a:r>
            <a:r>
              <a:rPr spc="-180" dirty="0">
                <a:solidFill>
                  <a:srgbClr val="FFFFFF"/>
                </a:solidFill>
                <a:latin typeface="Arial"/>
                <a:cs typeface="Arial"/>
              </a:rPr>
              <a:t> </a:t>
            </a:r>
            <a:r>
              <a:rPr spc="114" dirty="0">
                <a:solidFill>
                  <a:srgbClr val="FFFFFF"/>
                </a:solidFill>
                <a:latin typeface="Arial"/>
                <a:cs typeface="Arial"/>
              </a:rPr>
              <a:t>in</a:t>
            </a:r>
            <a:r>
              <a:rPr spc="-155" dirty="0">
                <a:solidFill>
                  <a:srgbClr val="FFFFFF"/>
                </a:solidFill>
                <a:latin typeface="Arial"/>
                <a:cs typeface="Arial"/>
              </a:rPr>
              <a:t> </a:t>
            </a:r>
            <a:r>
              <a:rPr dirty="0">
                <a:solidFill>
                  <a:srgbClr val="FFFFFF"/>
                </a:solidFill>
                <a:latin typeface="Arial"/>
                <a:cs typeface="Arial"/>
              </a:rPr>
              <a:t>the</a:t>
            </a:r>
            <a:r>
              <a:rPr spc="-165" dirty="0">
                <a:solidFill>
                  <a:srgbClr val="FFFFFF"/>
                </a:solidFill>
                <a:latin typeface="Arial"/>
                <a:cs typeface="Arial"/>
              </a:rPr>
              <a:t> </a:t>
            </a:r>
            <a:r>
              <a:rPr spc="10" dirty="0">
                <a:solidFill>
                  <a:srgbClr val="FFFFFF"/>
                </a:solidFill>
                <a:latin typeface="Arial"/>
                <a:cs typeface="Arial"/>
              </a:rPr>
              <a:t>view</a:t>
            </a:r>
            <a:r>
              <a:rPr spc="-155" dirty="0">
                <a:solidFill>
                  <a:srgbClr val="FFFFFF"/>
                </a:solidFill>
                <a:latin typeface="Arial"/>
                <a:cs typeface="Arial"/>
              </a:rPr>
              <a:t> </a:t>
            </a:r>
            <a:r>
              <a:rPr spc="55">
                <a:solidFill>
                  <a:srgbClr val="FFFFFF"/>
                </a:solidFill>
                <a:latin typeface="Arial"/>
                <a:cs typeface="Arial"/>
              </a:rPr>
              <a:t>definition.</a:t>
            </a:r>
            <a:endParaRPr lang="en-US" spc="55">
              <a:solidFill>
                <a:srgbClr val="FFFFFF"/>
              </a:solidFill>
              <a:latin typeface="Arial"/>
              <a:cs typeface="Arial"/>
            </a:endParaRPr>
          </a:p>
          <a:p>
            <a:pPr marL="12700" marR="5080">
              <a:lnSpc>
                <a:spcPts val="2590"/>
              </a:lnSpc>
              <a:spcBef>
                <a:spcPts val="425"/>
              </a:spcBef>
              <a:tabLst>
                <a:tab pos="723265" algn="l"/>
                <a:tab pos="2037080" algn="l"/>
                <a:tab pos="3462020" algn="l"/>
                <a:tab pos="3844925" algn="l"/>
                <a:tab pos="4340860" algn="l"/>
                <a:tab pos="5391785" algn="l"/>
                <a:tab pos="6897370" algn="l"/>
                <a:tab pos="7673340" algn="l"/>
              </a:tabLst>
            </a:pPr>
            <a:r>
              <a:rPr spc="135">
                <a:solidFill>
                  <a:srgbClr val="FFFFFF"/>
                </a:solidFill>
                <a:latin typeface="Arial"/>
                <a:cs typeface="Arial"/>
              </a:rPr>
              <a:t>If</a:t>
            </a:r>
            <a:r>
              <a:rPr spc="-465">
                <a:solidFill>
                  <a:srgbClr val="FFFFFF"/>
                </a:solidFill>
                <a:latin typeface="Arial"/>
                <a:cs typeface="Arial"/>
              </a:rPr>
              <a:t> </a:t>
            </a:r>
            <a:r>
              <a:rPr dirty="0">
                <a:solidFill>
                  <a:srgbClr val="FFFFFF"/>
                </a:solidFill>
                <a:latin typeface="Arial"/>
                <a:cs typeface="Arial"/>
              </a:rPr>
              <a:t>the </a:t>
            </a:r>
            <a:r>
              <a:rPr spc="20" dirty="0">
                <a:solidFill>
                  <a:srgbClr val="FFFFFF"/>
                </a:solidFill>
                <a:latin typeface="Arial"/>
                <a:cs typeface="Arial"/>
              </a:rPr>
              <a:t>conditions </a:t>
            </a:r>
            <a:r>
              <a:rPr spc="-114" dirty="0">
                <a:solidFill>
                  <a:srgbClr val="FFFFFF"/>
                </a:solidFill>
                <a:latin typeface="Arial"/>
                <a:cs typeface="Arial"/>
              </a:rPr>
              <a:t>are </a:t>
            </a:r>
            <a:r>
              <a:rPr spc="70" dirty="0">
                <a:solidFill>
                  <a:srgbClr val="FFFFFF"/>
                </a:solidFill>
                <a:latin typeface="Arial"/>
                <a:cs typeface="Arial"/>
              </a:rPr>
              <a:t>not </a:t>
            </a:r>
            <a:r>
              <a:rPr spc="-45" dirty="0">
                <a:solidFill>
                  <a:srgbClr val="FFFFFF"/>
                </a:solidFill>
                <a:latin typeface="Arial"/>
                <a:cs typeface="Arial"/>
              </a:rPr>
              <a:t>satisfied, </a:t>
            </a:r>
            <a:r>
              <a:rPr dirty="0">
                <a:solidFill>
                  <a:srgbClr val="FFFFFF"/>
                </a:solidFill>
                <a:latin typeface="Arial"/>
                <a:cs typeface="Arial"/>
              </a:rPr>
              <a:t>the </a:t>
            </a:r>
            <a:r>
              <a:rPr spc="-125" dirty="0">
                <a:solidFill>
                  <a:srgbClr val="FFFFFF"/>
                </a:solidFill>
                <a:latin typeface="Arial"/>
                <a:cs typeface="Arial"/>
              </a:rPr>
              <a:t>database </a:t>
            </a:r>
            <a:r>
              <a:rPr spc="-50" dirty="0">
                <a:solidFill>
                  <a:srgbClr val="FFFFFF"/>
                </a:solidFill>
                <a:latin typeface="Arial"/>
                <a:cs typeface="Arial"/>
              </a:rPr>
              <a:t>engine </a:t>
            </a:r>
            <a:r>
              <a:rPr dirty="0">
                <a:solidFill>
                  <a:srgbClr val="FFFFFF"/>
                </a:solidFill>
                <a:latin typeface="Arial"/>
                <a:cs typeface="Arial"/>
              </a:rPr>
              <a:t>returns  </a:t>
            </a:r>
            <a:r>
              <a:rPr spc="-75" dirty="0">
                <a:solidFill>
                  <a:srgbClr val="FFFFFF"/>
                </a:solidFill>
                <a:latin typeface="Arial"/>
                <a:cs typeface="Arial"/>
              </a:rPr>
              <a:t>an</a:t>
            </a:r>
            <a:r>
              <a:rPr spc="-160" dirty="0">
                <a:solidFill>
                  <a:srgbClr val="FFFFFF"/>
                </a:solidFill>
                <a:latin typeface="Arial"/>
                <a:cs typeface="Arial"/>
              </a:rPr>
              <a:t> </a:t>
            </a:r>
            <a:r>
              <a:rPr spc="-5" dirty="0">
                <a:solidFill>
                  <a:srgbClr val="FFFFFF"/>
                </a:solidFill>
                <a:latin typeface="Arial"/>
                <a:cs typeface="Arial"/>
              </a:rPr>
              <a:t>error.</a:t>
            </a:r>
            <a:endParaRPr>
              <a:latin typeface="Arial"/>
              <a:cs typeface="Arial"/>
            </a:endParaRPr>
          </a:p>
        </p:txBody>
      </p:sp>
      <p:sp>
        <p:nvSpPr>
          <p:cNvPr id="5" name="object 5"/>
          <p:cNvSpPr txBox="1"/>
          <p:nvPr/>
        </p:nvSpPr>
        <p:spPr>
          <a:xfrm>
            <a:off x="628672" y="2895600"/>
            <a:ext cx="608330" cy="238760"/>
          </a:xfrm>
          <a:prstGeom prst="rect">
            <a:avLst/>
          </a:prstGeom>
        </p:spPr>
        <p:txBody>
          <a:bodyPr vert="horz" wrap="square" lIns="0" tIns="12065" rIns="0" bIns="0" rtlCol="0">
            <a:spAutoFit/>
          </a:bodyPr>
          <a:lstStyle/>
          <a:p>
            <a:pPr marL="12700">
              <a:lnSpc>
                <a:spcPct val="100000"/>
              </a:lnSpc>
              <a:spcBef>
                <a:spcPts val="95"/>
              </a:spcBef>
            </a:pPr>
            <a:r>
              <a:rPr sz="1400" b="1" spc="-120" dirty="0">
                <a:latin typeface="Arial"/>
                <a:cs typeface="Arial"/>
              </a:rPr>
              <a:t>S</a:t>
            </a:r>
            <a:r>
              <a:rPr sz="1400" b="1" spc="-95" dirty="0">
                <a:latin typeface="Arial"/>
                <a:cs typeface="Arial"/>
              </a:rPr>
              <a:t>y</a:t>
            </a:r>
            <a:r>
              <a:rPr sz="1400" b="1" spc="-40" dirty="0">
                <a:latin typeface="Arial"/>
                <a:cs typeface="Arial"/>
              </a:rPr>
              <a:t>n</a:t>
            </a:r>
            <a:r>
              <a:rPr sz="1400" b="1" spc="-50" dirty="0">
                <a:latin typeface="Arial"/>
                <a:cs typeface="Arial"/>
              </a:rPr>
              <a:t>t</a:t>
            </a:r>
            <a:r>
              <a:rPr sz="1400" b="1" spc="-90" dirty="0">
                <a:latin typeface="Arial"/>
                <a:cs typeface="Arial"/>
              </a:rPr>
              <a:t>a</a:t>
            </a:r>
            <a:r>
              <a:rPr sz="1400" b="1" spc="-30" dirty="0">
                <a:latin typeface="Arial"/>
                <a:cs typeface="Arial"/>
              </a:rPr>
              <a:t>x</a:t>
            </a:r>
            <a:r>
              <a:rPr sz="1400" spc="-5" dirty="0">
                <a:latin typeface="Arial"/>
                <a:cs typeface="Arial"/>
              </a:rPr>
              <a:t>:</a:t>
            </a:r>
            <a:endParaRPr sz="1400">
              <a:latin typeface="Arial"/>
              <a:cs typeface="Arial"/>
            </a:endParaRPr>
          </a:p>
        </p:txBody>
      </p:sp>
      <p:pic>
        <p:nvPicPr>
          <p:cNvPr id="6" name="object 6"/>
          <p:cNvPicPr/>
          <p:nvPr/>
        </p:nvPicPr>
        <p:blipFill>
          <a:blip r:embed="rId3" cstate="print"/>
          <a:stretch>
            <a:fillRect/>
          </a:stretch>
        </p:blipFill>
        <p:spPr>
          <a:xfrm>
            <a:off x="1919137" y="2940718"/>
            <a:ext cx="5730009" cy="565613"/>
          </a:xfrm>
          <a:prstGeom prst="rect">
            <a:avLst/>
          </a:prstGeom>
        </p:spPr>
      </p:pic>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22</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0" name="TextBox 9">
            <a:extLst>
              <a:ext uri="{FF2B5EF4-FFF2-40B4-BE49-F238E27FC236}">
                <a16:creationId xmlns:a16="http://schemas.microsoft.com/office/drawing/2014/main" id="{0F84FBA0-055E-4874-9626-AA11F37FFDB8}"/>
              </a:ext>
            </a:extLst>
          </p:cNvPr>
          <p:cNvSpPr txBox="1"/>
          <p:nvPr/>
        </p:nvSpPr>
        <p:spPr>
          <a:xfrm>
            <a:off x="1600200" y="3657600"/>
            <a:ext cx="6048946" cy="1477328"/>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a:lnSpc>
                <a:spcPct val="100000"/>
              </a:lnSpc>
              <a:spcBef>
                <a:spcPts val="0"/>
              </a:spcBef>
            </a:pPr>
            <a:r>
              <a:rPr lang="en-US" sz="1800" b="1" dirty="0">
                <a:solidFill>
                  <a:srgbClr val="FF0000"/>
                </a:solidFill>
                <a:latin typeface="Courier New" panose="02070309020205020404" pitchFamily="49" charset="0"/>
                <a:cs typeface="Courier New" panose="02070309020205020404" pitchFamily="49" charset="0"/>
              </a:rPr>
              <a:t>CREATE VIEW</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vwProductInfo</a:t>
            </a:r>
            <a:r>
              <a:rPr lang="en-US" sz="1800" b="1" dirty="0">
                <a:latin typeface="Courier New" panose="02070309020205020404" pitchFamily="49" charset="0"/>
                <a:cs typeface="Courier New" panose="02070309020205020404" pitchFamily="49" charset="0"/>
              </a:rPr>
              <a:t> </a:t>
            </a:r>
            <a:r>
              <a:rPr lang="en-US" sz="1800" b="1" dirty="0">
                <a:solidFill>
                  <a:srgbClr val="FF0000"/>
                </a:solidFill>
                <a:latin typeface="Courier New" panose="02070309020205020404" pitchFamily="49" charset="0"/>
                <a:cs typeface="Courier New" panose="02070309020205020404" pitchFamily="49" charset="0"/>
              </a:rPr>
              <a:t>AS</a:t>
            </a:r>
          </a:p>
          <a:p>
            <a:pPr indent="228600">
              <a:lnSpc>
                <a:spcPct val="100000"/>
              </a:lnSpc>
              <a:spcBef>
                <a:spcPts val="0"/>
              </a:spcBef>
            </a:pPr>
            <a:r>
              <a:rPr lang="en-US" sz="1800" b="1" dirty="0">
                <a:latin typeface="Courier New" panose="02070309020205020404" pitchFamily="49" charset="0"/>
                <a:cs typeface="Courier New" panose="02070309020205020404" pitchFamily="49" charset="0"/>
              </a:rPr>
              <a:t>SELECT * FROM </a:t>
            </a:r>
            <a:r>
              <a:rPr lang="en-US" sz="1800" b="1" dirty="0" err="1">
                <a:latin typeface="Courier New" panose="02070309020205020404" pitchFamily="49" charset="0"/>
                <a:cs typeface="Courier New" panose="02070309020205020404" pitchFamily="49" charset="0"/>
              </a:rPr>
              <a:t>Production.Product</a:t>
            </a:r>
            <a:endParaRPr lang="en-US" sz="1800" b="1" dirty="0">
              <a:latin typeface="Courier New" panose="02070309020205020404" pitchFamily="49" charset="0"/>
              <a:cs typeface="Courier New" panose="02070309020205020404" pitchFamily="49" charset="0"/>
            </a:endParaRPr>
          </a:p>
          <a:p>
            <a:pPr indent="228600">
              <a:lnSpc>
                <a:spcPct val="100000"/>
              </a:lnSpc>
              <a:spcBef>
                <a:spcPts val="0"/>
              </a:spcBef>
            </a:pPr>
            <a:r>
              <a:rPr lang="en-US" sz="1800" b="1" dirty="0">
                <a:latin typeface="Courier New" panose="02070309020205020404" pitchFamily="49" charset="0"/>
                <a:cs typeface="Courier New" panose="02070309020205020404" pitchFamily="49" charset="0"/>
              </a:rPr>
              <a:t>WHERE </a:t>
            </a:r>
            <a:r>
              <a:rPr lang="en-US" sz="1800" b="1" dirty="0" err="1">
                <a:latin typeface="Courier New" panose="02070309020205020404" pitchFamily="49" charset="0"/>
                <a:cs typeface="Courier New" panose="02070309020205020404" pitchFamily="49" charset="0"/>
              </a:rPr>
              <a:t>SafetyStockLevel</a:t>
            </a:r>
            <a:r>
              <a:rPr lang="en-US" sz="1800" b="1" dirty="0">
                <a:latin typeface="Courier New" panose="02070309020205020404" pitchFamily="49" charset="0"/>
                <a:cs typeface="Courier New" panose="02070309020205020404" pitchFamily="49" charset="0"/>
              </a:rPr>
              <a:t> &lt;=</a:t>
            </a:r>
            <a:r>
              <a:rPr lang="en-US" sz="1800" b="1" dirty="0">
                <a:solidFill>
                  <a:srgbClr val="FF0000"/>
                </a:solidFill>
                <a:latin typeface="Courier New" panose="02070309020205020404" pitchFamily="49" charset="0"/>
                <a:cs typeface="Courier New" panose="02070309020205020404" pitchFamily="49" charset="0"/>
              </a:rPr>
              <a:t>1000</a:t>
            </a:r>
          </a:p>
          <a:p>
            <a:pPr indent="228600">
              <a:lnSpc>
                <a:spcPct val="100000"/>
              </a:lnSpc>
              <a:spcBef>
                <a:spcPts val="0"/>
              </a:spcBef>
            </a:pPr>
            <a:r>
              <a:rPr lang="en-US" sz="1800" b="1" dirty="0">
                <a:solidFill>
                  <a:srgbClr val="00B050"/>
                </a:solidFill>
                <a:latin typeface="Courier New" panose="02070309020205020404" pitchFamily="49" charset="0"/>
                <a:cs typeface="Courier New" panose="02070309020205020404" pitchFamily="49" charset="0"/>
              </a:rPr>
              <a:t>WITH CHECK OPTION</a:t>
            </a:r>
            <a:r>
              <a:rPr lang="en-US" sz="1800" b="1" dirty="0">
                <a:latin typeface="Courier New" panose="02070309020205020404" pitchFamily="49" charset="0"/>
                <a:cs typeface="Courier New" panose="02070309020205020404" pitchFamily="49" charset="0"/>
              </a:rPr>
              <a:t>;</a:t>
            </a:r>
          </a:p>
          <a:p>
            <a:pPr>
              <a:lnSpc>
                <a:spcPct val="100000"/>
              </a:lnSpc>
              <a:spcBef>
                <a:spcPts val="0"/>
              </a:spcBef>
            </a:pPr>
            <a:r>
              <a:rPr lang="en-US" sz="1800" b="1" dirty="0">
                <a:latin typeface="Courier New" panose="02070309020205020404" pitchFamily="49" charset="0"/>
                <a:cs typeface="Courier New" panose="02070309020205020404" pitchFamily="49" charset="0"/>
              </a:rPr>
              <a:t>GO </a:t>
            </a:r>
            <a:endParaRPr lang="en-US" sz="1200" b="1" dirty="0">
              <a:latin typeface="Courier New" panose="02070309020205020404" pitchFamily="49" charset="0"/>
              <a:cs typeface="Courier New" panose="02070309020205020404" pitchFamily="49" charset="0"/>
            </a:endParaRPr>
          </a:p>
        </p:txBody>
      </p:sp>
      <p:sp>
        <p:nvSpPr>
          <p:cNvPr id="11" name="TextBox 10">
            <a:extLst>
              <a:ext uri="{FF2B5EF4-FFF2-40B4-BE49-F238E27FC236}">
                <a16:creationId xmlns:a16="http://schemas.microsoft.com/office/drawing/2014/main" id="{1FFA638C-5E09-4233-9907-D16EB7673DFE}"/>
              </a:ext>
            </a:extLst>
          </p:cNvPr>
          <p:cNvSpPr txBox="1"/>
          <p:nvPr/>
        </p:nvSpPr>
        <p:spPr>
          <a:xfrm>
            <a:off x="487471" y="5329698"/>
            <a:ext cx="7772400" cy="1147302"/>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US" sz="1800" b="1" dirty="0">
              <a:latin typeface="Courier New" panose="02070309020205020404" pitchFamily="49" charset="0"/>
              <a:cs typeface="Courier New" panose="02070309020205020404" pitchFamily="49" charset="0"/>
            </a:endParaRPr>
          </a:p>
          <a:p>
            <a:r>
              <a:rPr lang="en-US" sz="1800" b="1" dirty="0">
                <a:solidFill>
                  <a:srgbClr val="F61828"/>
                </a:solidFill>
                <a:latin typeface="Courier New" panose="02070309020205020404" pitchFamily="49" charset="0"/>
                <a:cs typeface="Courier New" panose="02070309020205020404" pitchFamily="49" charset="0"/>
              </a:rPr>
              <a:t>UPDATE</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vwProductInfo</a:t>
            </a:r>
            <a:r>
              <a:rPr lang="en-US" sz="1800" b="1" dirty="0">
                <a:latin typeface="Courier New" panose="02070309020205020404" pitchFamily="49" charset="0"/>
                <a:cs typeface="Courier New" panose="02070309020205020404" pitchFamily="49" charset="0"/>
              </a:rPr>
              <a:t> </a:t>
            </a:r>
            <a:r>
              <a:rPr lang="en-US" sz="1800" b="1" dirty="0">
                <a:solidFill>
                  <a:srgbClr val="F61828"/>
                </a:solidFill>
                <a:latin typeface="Courier New" panose="02070309020205020404" pitchFamily="49" charset="0"/>
                <a:cs typeface="Courier New" panose="02070309020205020404" pitchFamily="49" charset="0"/>
              </a:rPr>
              <a:t>SET</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SafetyStockLevel</a:t>
            </a:r>
            <a:r>
              <a:rPr lang="en-US" sz="1800" b="1" dirty="0">
                <a:latin typeface="Courier New" panose="02070309020205020404" pitchFamily="49" charset="0"/>
                <a:cs typeface="Courier New" panose="02070309020205020404" pitchFamily="49" charset="0"/>
              </a:rPr>
              <a:t> = </a:t>
            </a:r>
            <a:r>
              <a:rPr lang="en-US" sz="1800" b="1" dirty="0">
                <a:solidFill>
                  <a:srgbClr val="F61828"/>
                </a:solidFill>
                <a:latin typeface="Courier New" panose="02070309020205020404" pitchFamily="49" charset="0"/>
                <a:cs typeface="Courier New" panose="02070309020205020404" pitchFamily="49" charset="0"/>
              </a:rPr>
              <a:t>2500</a:t>
            </a:r>
          </a:p>
          <a:p>
            <a:r>
              <a:rPr lang="en-US" sz="1800" b="1" dirty="0">
                <a:latin typeface="Courier New" panose="02070309020205020404" pitchFamily="49" charset="0"/>
                <a:cs typeface="Courier New" panose="02070309020205020404" pitchFamily="49" charset="0"/>
              </a:rPr>
              <a:t>  WHERE </a:t>
            </a:r>
            <a:r>
              <a:rPr lang="en-US" sz="1800" b="1" dirty="0" err="1">
                <a:latin typeface="Courier New" panose="02070309020205020404" pitchFamily="49" charset="0"/>
                <a:cs typeface="Courier New" panose="02070309020205020404" pitchFamily="49" charset="0"/>
              </a:rPr>
              <a:t>ProductID</a:t>
            </a:r>
            <a:r>
              <a:rPr lang="en-US" sz="1800" b="1" dirty="0">
                <a:latin typeface="Courier New" panose="02070309020205020404" pitchFamily="49" charset="0"/>
                <a:cs typeface="Courier New" panose="02070309020205020404" pitchFamily="49" charset="0"/>
              </a:rPr>
              <a:t>=321</a:t>
            </a:r>
          </a:p>
          <a:p>
            <a:endParaRPr lang="en-US" sz="1050" dirty="0"/>
          </a:p>
        </p:txBody>
      </p:sp>
      <p:sp>
        <p:nvSpPr>
          <p:cNvPr id="12" name="Oval Callout 19">
            <a:extLst>
              <a:ext uri="{FF2B5EF4-FFF2-40B4-BE49-F238E27FC236}">
                <a16:creationId xmlns:a16="http://schemas.microsoft.com/office/drawing/2014/main" id="{398E49DC-FE43-4E22-A1F9-A1E4AC998CAF}"/>
              </a:ext>
            </a:extLst>
          </p:cNvPr>
          <p:cNvSpPr/>
          <p:nvPr/>
        </p:nvSpPr>
        <p:spPr>
          <a:xfrm>
            <a:off x="7340600" y="5650473"/>
            <a:ext cx="1346200" cy="750327"/>
          </a:xfrm>
          <a:prstGeom prst="wedgeEllipseCallout">
            <a:avLst>
              <a:gd name="adj1" fmla="val -75253"/>
              <a:gd name="adj2" fmla="val -19723"/>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ERROR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9624"/>
            <a:ext cx="4112895" cy="635635"/>
          </a:xfrm>
          <a:prstGeom prst="rect">
            <a:avLst/>
          </a:prstGeom>
        </p:spPr>
        <p:txBody>
          <a:bodyPr vert="horz" wrap="square" lIns="0" tIns="12700" rIns="0" bIns="0" rtlCol="0">
            <a:spAutoFit/>
          </a:bodyPr>
          <a:lstStyle/>
          <a:p>
            <a:pPr marL="12700">
              <a:lnSpc>
                <a:spcPct val="100000"/>
              </a:lnSpc>
              <a:spcBef>
                <a:spcPts val="100"/>
              </a:spcBef>
            </a:pPr>
            <a:r>
              <a:rPr sz="4000" b="0" spc="185" dirty="0">
                <a:latin typeface="Arial"/>
                <a:cs typeface="Arial"/>
              </a:rPr>
              <a:t>CHECK</a:t>
            </a:r>
            <a:r>
              <a:rPr sz="4000" b="0" spc="-335" dirty="0">
                <a:latin typeface="Arial"/>
                <a:cs typeface="Arial"/>
              </a:rPr>
              <a:t> </a:t>
            </a:r>
            <a:r>
              <a:rPr sz="4000" b="0" spc="175" dirty="0">
                <a:latin typeface="Arial"/>
                <a:cs typeface="Arial"/>
              </a:rPr>
              <a:t>OPTION</a:t>
            </a:r>
            <a:endParaRPr sz="40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23</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3" name="TextBox 12">
            <a:extLst>
              <a:ext uri="{FF2B5EF4-FFF2-40B4-BE49-F238E27FC236}">
                <a16:creationId xmlns:a16="http://schemas.microsoft.com/office/drawing/2014/main" id="{F8699828-662B-467F-9AC4-FCEE643E51DF}"/>
              </a:ext>
            </a:extLst>
          </p:cNvPr>
          <p:cNvSpPr txBox="1"/>
          <p:nvPr/>
        </p:nvSpPr>
        <p:spPr>
          <a:xfrm>
            <a:off x="82283" y="762000"/>
            <a:ext cx="4577442" cy="400110"/>
          </a:xfrm>
          <a:prstGeom prst="rect">
            <a:avLst/>
          </a:prstGeom>
          <a:noFill/>
        </p:spPr>
        <p:txBody>
          <a:bodyPr wrap="square">
            <a:spAutoFit/>
          </a:bodyPr>
          <a:lstStyle/>
          <a:p>
            <a:pPr marL="285750" indent="-285750">
              <a:buFont typeface="Arial" panose="020B0604020202020204" pitchFamily="34" charset="0"/>
              <a:buChar char="•"/>
            </a:pPr>
            <a:r>
              <a:rPr lang="en-US" sz="2000">
                <a:latin typeface="Calibri" panose="020F0502020204030204" pitchFamily="34" charset="0"/>
                <a:cs typeface="Calibri" panose="020F0502020204030204" pitchFamily="34" charset="0"/>
              </a:rPr>
              <a:t>Example</a:t>
            </a:r>
            <a:endParaRPr lang="en-US" sz="2000"/>
          </a:p>
        </p:txBody>
      </p:sp>
      <p:sp>
        <p:nvSpPr>
          <p:cNvPr id="14" name="TextBox 13">
            <a:extLst>
              <a:ext uri="{FF2B5EF4-FFF2-40B4-BE49-F238E27FC236}">
                <a16:creationId xmlns:a16="http://schemas.microsoft.com/office/drawing/2014/main" id="{63BAEC3D-20D8-4F5A-BA1E-0DE804FA39B1}"/>
              </a:ext>
            </a:extLst>
          </p:cNvPr>
          <p:cNvSpPr txBox="1"/>
          <p:nvPr/>
        </p:nvSpPr>
        <p:spPr>
          <a:xfrm>
            <a:off x="2286000" y="1151678"/>
            <a:ext cx="4572000" cy="258532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800">
                <a:solidFill>
                  <a:srgbClr val="0000FF"/>
                </a:solidFill>
                <a:latin typeface="Consolas" panose="020B0609020204030204" pitchFamily="49" charset="0"/>
              </a:rPr>
              <a:t>CREATE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VIEW</a:t>
            </a:r>
            <a:r>
              <a:rPr lang="en-US" sz="1800">
                <a:solidFill>
                  <a:srgbClr val="000000"/>
                </a:solidFill>
                <a:latin typeface="Consolas" panose="020B0609020204030204" pitchFamily="49" charset="0"/>
              </a:rPr>
              <a:t> vwProductInfo </a:t>
            </a:r>
            <a:r>
              <a:rPr lang="en-US" sz="1800">
                <a:solidFill>
                  <a:srgbClr val="0000FF"/>
                </a:solidFill>
                <a:latin typeface="Consolas" panose="020B0609020204030204" pitchFamily="49" charset="0"/>
              </a:rPr>
              <a:t>AS</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SELECT</a:t>
            </a:r>
            <a:r>
              <a:rPr lang="en-US" sz="1800">
                <a:solidFill>
                  <a:srgbClr val="000000"/>
                </a:solidFill>
                <a:latin typeface="Consolas" panose="020B0609020204030204" pitchFamily="49" charset="0"/>
              </a:rPr>
              <a:t> </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FROM</a:t>
            </a:r>
            <a:r>
              <a:rPr lang="en-US" sz="1800">
                <a:solidFill>
                  <a:srgbClr val="000000"/>
                </a:solidFill>
                <a:latin typeface="Consolas" panose="020B0609020204030204" pitchFamily="49" charset="0"/>
              </a:rPr>
              <a:t> Product_Details</a:t>
            </a:r>
          </a:p>
          <a:p>
            <a:r>
              <a:rPr lang="en-US" sz="1800">
                <a:solidFill>
                  <a:srgbClr val="0000FF"/>
                </a:solidFill>
                <a:latin typeface="Consolas" panose="020B0609020204030204" pitchFamily="49" charset="0"/>
              </a:rPr>
              <a:t>WHERE</a:t>
            </a:r>
            <a:r>
              <a:rPr lang="en-US" sz="1800">
                <a:solidFill>
                  <a:srgbClr val="000000"/>
                </a:solidFill>
                <a:latin typeface="Consolas" panose="020B0609020204030204" pitchFamily="49" charset="0"/>
              </a:rPr>
              <a:t> Rate </a:t>
            </a:r>
            <a:r>
              <a:rPr lang="en-US" sz="1800">
                <a:solidFill>
                  <a:srgbClr val="808080"/>
                </a:solidFill>
                <a:latin typeface="Consolas" panose="020B0609020204030204" pitchFamily="49" charset="0"/>
              </a:rPr>
              <a:t>&lt;=</a:t>
            </a:r>
            <a:r>
              <a:rPr lang="en-US" sz="1800">
                <a:solidFill>
                  <a:srgbClr val="000000"/>
                </a:solidFill>
                <a:latin typeface="Consolas" panose="020B0609020204030204" pitchFamily="49" charset="0"/>
              </a:rPr>
              <a:t> 4000</a:t>
            </a:r>
          </a:p>
          <a:p>
            <a:r>
              <a:rPr lang="en-US" sz="1800">
                <a:solidFill>
                  <a:srgbClr val="0000FF"/>
                </a:solidFill>
                <a:latin typeface="Consolas" panose="020B0609020204030204" pitchFamily="49" charset="0"/>
              </a:rPr>
              <a:t>WITH</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CHECK</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OPTION</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GO</a:t>
            </a:r>
            <a:endParaRPr lang="en-US" sz="1800">
              <a:solidFill>
                <a:srgbClr val="000000"/>
              </a:solidFill>
              <a:latin typeface="Consolas" panose="020B0609020204030204" pitchFamily="49" charset="0"/>
            </a:endParaRPr>
          </a:p>
          <a:p>
            <a:endParaRPr lang="en-US" sz="1800">
              <a:solidFill>
                <a:srgbClr val="000000"/>
              </a:solidFill>
              <a:latin typeface="Consolas" panose="020B0609020204030204" pitchFamily="49" charset="0"/>
            </a:endParaRPr>
          </a:p>
          <a:p>
            <a:r>
              <a:rPr lang="en-US" sz="1800">
                <a:solidFill>
                  <a:srgbClr val="FF00FF"/>
                </a:solidFill>
                <a:latin typeface="Consolas" panose="020B0609020204030204" pitchFamily="49" charset="0"/>
              </a:rPr>
              <a:t>UPDATE</a:t>
            </a:r>
            <a:r>
              <a:rPr lang="en-US" sz="1800">
                <a:solidFill>
                  <a:srgbClr val="000000"/>
                </a:solidFill>
                <a:latin typeface="Consolas" panose="020B0609020204030204" pitchFamily="49" charset="0"/>
              </a:rPr>
              <a:t> vwProductInfo </a:t>
            </a:r>
            <a:r>
              <a:rPr lang="en-US" sz="1800">
                <a:solidFill>
                  <a:srgbClr val="0000FF"/>
                </a:solidFill>
                <a:latin typeface="Consolas" panose="020B0609020204030204" pitchFamily="49" charset="0"/>
              </a:rPr>
              <a:t>SET</a:t>
            </a:r>
            <a:r>
              <a:rPr lang="en-US" sz="1800">
                <a:solidFill>
                  <a:srgbClr val="000000"/>
                </a:solidFill>
                <a:latin typeface="Consolas" panose="020B0609020204030204" pitchFamily="49" charset="0"/>
              </a:rPr>
              <a:t> Rate </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10000</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WHERE</a:t>
            </a:r>
            <a:r>
              <a:rPr lang="en-US" sz="1800">
                <a:solidFill>
                  <a:srgbClr val="000000"/>
                </a:solidFill>
                <a:latin typeface="Consolas" panose="020B0609020204030204" pitchFamily="49" charset="0"/>
              </a:rPr>
              <a:t> ProductID</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3</a:t>
            </a:r>
            <a:endParaRPr lang="en-US"/>
          </a:p>
        </p:txBody>
      </p:sp>
    </p:spTree>
    <p:extLst>
      <p:ext uri="{BB962C8B-B14F-4D97-AF65-F5344CB8AC3E}">
        <p14:creationId xmlns:p14="http://schemas.microsoft.com/office/powerpoint/2010/main" val="37156341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9624"/>
            <a:ext cx="6327140" cy="635635"/>
          </a:xfrm>
          <a:prstGeom prst="rect">
            <a:avLst/>
          </a:prstGeom>
        </p:spPr>
        <p:txBody>
          <a:bodyPr vert="horz" wrap="square" lIns="0" tIns="12700" rIns="0" bIns="0" rtlCol="0">
            <a:spAutoFit/>
          </a:bodyPr>
          <a:lstStyle/>
          <a:p>
            <a:pPr marL="12700">
              <a:lnSpc>
                <a:spcPct val="100000"/>
              </a:lnSpc>
              <a:spcBef>
                <a:spcPts val="100"/>
              </a:spcBef>
            </a:pPr>
            <a:r>
              <a:rPr sz="4000" b="0" spc="175" dirty="0">
                <a:latin typeface="Arial"/>
                <a:cs typeface="Arial"/>
              </a:rPr>
              <a:t>SCHEMABINDING</a:t>
            </a:r>
            <a:r>
              <a:rPr sz="4000" b="0" spc="-335" dirty="0">
                <a:latin typeface="Arial"/>
                <a:cs typeface="Arial"/>
              </a:rPr>
              <a:t> </a:t>
            </a:r>
            <a:r>
              <a:rPr sz="4000" b="0" spc="150" dirty="0">
                <a:latin typeface="Arial"/>
                <a:cs typeface="Arial"/>
              </a:rPr>
              <a:t>Option</a:t>
            </a:r>
            <a:endParaRPr sz="4000">
              <a:latin typeface="Arial"/>
              <a:cs typeface="Arial"/>
            </a:endParaRPr>
          </a:p>
        </p:txBody>
      </p:sp>
      <p:sp>
        <p:nvSpPr>
          <p:cNvPr id="3" name="object 3"/>
          <p:cNvSpPr/>
          <p:nvPr/>
        </p:nvSpPr>
        <p:spPr>
          <a:xfrm>
            <a:off x="397764" y="762000"/>
            <a:ext cx="8255000" cy="1694814"/>
          </a:xfrm>
          <a:custGeom>
            <a:avLst/>
            <a:gdLst/>
            <a:ahLst/>
            <a:cxnLst/>
            <a:rect l="l" t="t" r="r" b="b"/>
            <a:pathLst>
              <a:path w="8255000" h="1694814">
                <a:moveTo>
                  <a:pt x="8254746" y="282448"/>
                </a:moveTo>
                <a:lnTo>
                  <a:pt x="8251037" y="236651"/>
                </a:lnTo>
                <a:lnTo>
                  <a:pt x="8240331" y="193192"/>
                </a:lnTo>
                <a:lnTo>
                  <a:pt x="8223212" y="152666"/>
                </a:lnTo>
                <a:lnTo>
                  <a:pt x="8200237" y="115658"/>
                </a:lnTo>
                <a:lnTo>
                  <a:pt x="8172005" y="82740"/>
                </a:lnTo>
                <a:lnTo>
                  <a:pt x="8139087" y="54508"/>
                </a:lnTo>
                <a:lnTo>
                  <a:pt x="8102079" y="31534"/>
                </a:lnTo>
                <a:lnTo>
                  <a:pt x="8061553" y="14414"/>
                </a:lnTo>
                <a:lnTo>
                  <a:pt x="8018094" y="3708"/>
                </a:lnTo>
                <a:lnTo>
                  <a:pt x="7972298" y="0"/>
                </a:lnTo>
                <a:lnTo>
                  <a:pt x="282448" y="0"/>
                </a:lnTo>
                <a:lnTo>
                  <a:pt x="236626" y="3708"/>
                </a:lnTo>
                <a:lnTo>
                  <a:pt x="193167" y="14414"/>
                </a:lnTo>
                <a:lnTo>
                  <a:pt x="152641" y="31534"/>
                </a:lnTo>
                <a:lnTo>
                  <a:pt x="115633" y="54508"/>
                </a:lnTo>
                <a:lnTo>
                  <a:pt x="82715" y="82740"/>
                </a:lnTo>
                <a:lnTo>
                  <a:pt x="54483" y="115658"/>
                </a:lnTo>
                <a:lnTo>
                  <a:pt x="31521" y="152666"/>
                </a:lnTo>
                <a:lnTo>
                  <a:pt x="14389" y="193192"/>
                </a:lnTo>
                <a:lnTo>
                  <a:pt x="3695" y="236651"/>
                </a:lnTo>
                <a:lnTo>
                  <a:pt x="0" y="282448"/>
                </a:lnTo>
                <a:lnTo>
                  <a:pt x="0" y="1412240"/>
                </a:lnTo>
                <a:lnTo>
                  <a:pt x="3695" y="1458048"/>
                </a:lnTo>
                <a:lnTo>
                  <a:pt x="14389" y="1501508"/>
                </a:lnTo>
                <a:lnTo>
                  <a:pt x="31521" y="1542034"/>
                </a:lnTo>
                <a:lnTo>
                  <a:pt x="54483" y="1579041"/>
                </a:lnTo>
                <a:lnTo>
                  <a:pt x="82715" y="1611947"/>
                </a:lnTo>
                <a:lnTo>
                  <a:pt x="115633" y="1640192"/>
                </a:lnTo>
                <a:lnTo>
                  <a:pt x="152641" y="1663166"/>
                </a:lnTo>
                <a:lnTo>
                  <a:pt x="193167" y="1680286"/>
                </a:lnTo>
                <a:lnTo>
                  <a:pt x="236626" y="1690992"/>
                </a:lnTo>
                <a:lnTo>
                  <a:pt x="282448" y="1694688"/>
                </a:lnTo>
                <a:lnTo>
                  <a:pt x="7972298" y="1694688"/>
                </a:lnTo>
                <a:lnTo>
                  <a:pt x="8018094" y="1690992"/>
                </a:lnTo>
                <a:lnTo>
                  <a:pt x="8061553" y="1680286"/>
                </a:lnTo>
                <a:lnTo>
                  <a:pt x="8102079" y="1663166"/>
                </a:lnTo>
                <a:lnTo>
                  <a:pt x="8139087" y="1640192"/>
                </a:lnTo>
                <a:lnTo>
                  <a:pt x="8171993" y="1611947"/>
                </a:lnTo>
                <a:lnTo>
                  <a:pt x="8200237" y="1579041"/>
                </a:lnTo>
                <a:lnTo>
                  <a:pt x="8223212" y="1542034"/>
                </a:lnTo>
                <a:lnTo>
                  <a:pt x="8240331" y="1501508"/>
                </a:lnTo>
                <a:lnTo>
                  <a:pt x="8251037" y="1458048"/>
                </a:lnTo>
                <a:lnTo>
                  <a:pt x="8254746" y="1412240"/>
                </a:lnTo>
                <a:lnTo>
                  <a:pt x="8254746" y="282448"/>
                </a:lnTo>
                <a:close/>
              </a:path>
            </a:pathLst>
          </a:custGeom>
          <a:solidFill>
            <a:srgbClr val="4F81BC"/>
          </a:solidFill>
        </p:spPr>
        <p:txBody>
          <a:bodyPr wrap="square" lIns="0" tIns="0" rIns="0" bIns="0" rtlCol="0"/>
          <a:lstStyle/>
          <a:p>
            <a:endParaRPr/>
          </a:p>
        </p:txBody>
      </p:sp>
      <p:sp>
        <p:nvSpPr>
          <p:cNvPr id="4" name="object 4"/>
          <p:cNvSpPr txBox="1"/>
          <p:nvPr/>
        </p:nvSpPr>
        <p:spPr>
          <a:xfrm>
            <a:off x="540004" y="982471"/>
            <a:ext cx="7986395" cy="1379220"/>
          </a:xfrm>
          <a:prstGeom prst="rect">
            <a:avLst/>
          </a:prstGeom>
        </p:spPr>
        <p:txBody>
          <a:bodyPr vert="horz" wrap="square" lIns="0" tIns="53975" rIns="0" bIns="0" rtlCol="0">
            <a:spAutoFit/>
          </a:bodyPr>
          <a:lstStyle/>
          <a:p>
            <a:pPr marL="354965" marR="6350" indent="-342900">
              <a:lnSpc>
                <a:spcPts val="2590"/>
              </a:lnSpc>
              <a:spcBef>
                <a:spcPts val="425"/>
              </a:spcBef>
              <a:buFont typeface="Wingdings"/>
              <a:buChar char=""/>
              <a:tabLst>
                <a:tab pos="355600" algn="l"/>
              </a:tabLst>
            </a:pPr>
            <a:r>
              <a:rPr sz="2400" spc="345" dirty="0">
                <a:solidFill>
                  <a:srgbClr val="FFFFFF"/>
                </a:solidFill>
                <a:latin typeface="Arial"/>
                <a:cs typeface="Arial"/>
              </a:rPr>
              <a:t>A</a:t>
            </a:r>
            <a:r>
              <a:rPr sz="2400" spc="-114" dirty="0">
                <a:solidFill>
                  <a:srgbClr val="FFFFFF"/>
                </a:solidFill>
                <a:latin typeface="Arial"/>
                <a:cs typeface="Arial"/>
              </a:rPr>
              <a:t> </a:t>
            </a:r>
            <a:r>
              <a:rPr sz="2400" spc="5" dirty="0">
                <a:solidFill>
                  <a:srgbClr val="FFFFFF"/>
                </a:solidFill>
                <a:latin typeface="Arial"/>
                <a:cs typeface="Arial"/>
              </a:rPr>
              <a:t>view</a:t>
            </a:r>
            <a:r>
              <a:rPr sz="2400" spc="-114" dirty="0">
                <a:solidFill>
                  <a:srgbClr val="FFFFFF"/>
                </a:solidFill>
                <a:latin typeface="Arial"/>
                <a:cs typeface="Arial"/>
              </a:rPr>
              <a:t> </a:t>
            </a:r>
            <a:r>
              <a:rPr sz="2400" spc="-90" dirty="0">
                <a:solidFill>
                  <a:srgbClr val="FFFFFF"/>
                </a:solidFill>
                <a:latin typeface="Arial"/>
                <a:cs typeface="Arial"/>
              </a:rPr>
              <a:t>can</a:t>
            </a:r>
            <a:r>
              <a:rPr sz="2400" spc="-110" dirty="0">
                <a:solidFill>
                  <a:srgbClr val="FFFFFF"/>
                </a:solidFill>
                <a:latin typeface="Arial"/>
                <a:cs typeface="Arial"/>
              </a:rPr>
              <a:t> </a:t>
            </a:r>
            <a:r>
              <a:rPr sz="2400" spc="-120" dirty="0">
                <a:solidFill>
                  <a:srgbClr val="FFFFFF"/>
                </a:solidFill>
                <a:latin typeface="Arial"/>
                <a:cs typeface="Arial"/>
              </a:rPr>
              <a:t>be </a:t>
            </a:r>
            <a:r>
              <a:rPr sz="2400" spc="15" dirty="0">
                <a:solidFill>
                  <a:srgbClr val="FFFFFF"/>
                </a:solidFill>
                <a:latin typeface="Arial"/>
                <a:cs typeface="Arial"/>
              </a:rPr>
              <a:t>bound</a:t>
            </a:r>
            <a:r>
              <a:rPr sz="2400" spc="-114" dirty="0">
                <a:solidFill>
                  <a:srgbClr val="FFFFFF"/>
                </a:solidFill>
                <a:latin typeface="Arial"/>
                <a:cs typeface="Arial"/>
              </a:rPr>
              <a:t> </a:t>
            </a:r>
            <a:r>
              <a:rPr sz="2400" spc="65" dirty="0">
                <a:solidFill>
                  <a:srgbClr val="FFFFFF"/>
                </a:solidFill>
                <a:latin typeface="Arial"/>
                <a:cs typeface="Arial"/>
              </a:rPr>
              <a:t>to</a:t>
            </a:r>
            <a:r>
              <a:rPr sz="2400" spc="-110" dirty="0">
                <a:solidFill>
                  <a:srgbClr val="FFFFFF"/>
                </a:solidFill>
                <a:latin typeface="Arial"/>
                <a:cs typeface="Arial"/>
              </a:rPr>
              <a:t> </a:t>
            </a:r>
            <a:r>
              <a:rPr sz="2400" dirty="0">
                <a:solidFill>
                  <a:srgbClr val="FFFFFF"/>
                </a:solidFill>
                <a:latin typeface="Arial"/>
                <a:cs typeface="Arial"/>
              </a:rPr>
              <a:t>the</a:t>
            </a:r>
            <a:r>
              <a:rPr sz="2400" spc="-110" dirty="0">
                <a:solidFill>
                  <a:srgbClr val="FFFFFF"/>
                </a:solidFill>
                <a:latin typeface="Arial"/>
                <a:cs typeface="Arial"/>
              </a:rPr>
              <a:t> </a:t>
            </a:r>
            <a:r>
              <a:rPr sz="2400" spc="-130" dirty="0">
                <a:solidFill>
                  <a:srgbClr val="FFFFFF"/>
                </a:solidFill>
                <a:latin typeface="Arial"/>
                <a:cs typeface="Arial"/>
              </a:rPr>
              <a:t>schema</a:t>
            </a:r>
            <a:r>
              <a:rPr sz="2400" spc="-120" dirty="0">
                <a:solidFill>
                  <a:srgbClr val="FFFFFF"/>
                </a:solidFill>
                <a:latin typeface="Arial"/>
                <a:cs typeface="Arial"/>
              </a:rPr>
              <a:t> </a:t>
            </a:r>
            <a:r>
              <a:rPr sz="2400" spc="65" dirty="0">
                <a:solidFill>
                  <a:srgbClr val="FFFFFF"/>
                </a:solidFill>
                <a:latin typeface="Arial"/>
                <a:cs typeface="Arial"/>
              </a:rPr>
              <a:t>of</a:t>
            </a:r>
            <a:r>
              <a:rPr sz="2400" spc="-110" dirty="0">
                <a:solidFill>
                  <a:srgbClr val="FFFFFF"/>
                </a:solidFill>
                <a:latin typeface="Arial"/>
                <a:cs typeface="Arial"/>
              </a:rPr>
              <a:t> </a:t>
            </a:r>
            <a:r>
              <a:rPr sz="2400" dirty="0">
                <a:solidFill>
                  <a:srgbClr val="FFFFFF"/>
                </a:solidFill>
                <a:latin typeface="Arial"/>
                <a:cs typeface="Arial"/>
              </a:rPr>
              <a:t>the</a:t>
            </a:r>
            <a:r>
              <a:rPr sz="2400" spc="-114" dirty="0">
                <a:solidFill>
                  <a:srgbClr val="FFFFFF"/>
                </a:solidFill>
                <a:latin typeface="Arial"/>
                <a:cs typeface="Arial"/>
              </a:rPr>
              <a:t> </a:t>
            </a:r>
            <a:r>
              <a:rPr sz="2400" spc="-185" dirty="0">
                <a:solidFill>
                  <a:srgbClr val="FFFFFF"/>
                </a:solidFill>
                <a:latin typeface="Arial"/>
                <a:cs typeface="Arial"/>
              </a:rPr>
              <a:t>base</a:t>
            </a:r>
            <a:r>
              <a:rPr sz="2400" spc="-114" dirty="0">
                <a:solidFill>
                  <a:srgbClr val="FFFFFF"/>
                </a:solidFill>
                <a:latin typeface="Arial"/>
                <a:cs typeface="Arial"/>
              </a:rPr>
              <a:t> </a:t>
            </a:r>
            <a:r>
              <a:rPr sz="2400" spc="-35" dirty="0">
                <a:solidFill>
                  <a:srgbClr val="FFFFFF"/>
                </a:solidFill>
                <a:latin typeface="Arial"/>
                <a:cs typeface="Arial"/>
              </a:rPr>
              <a:t>table</a:t>
            </a:r>
            <a:r>
              <a:rPr sz="2400" spc="-114" dirty="0">
                <a:solidFill>
                  <a:srgbClr val="FFFFFF"/>
                </a:solidFill>
                <a:latin typeface="Arial"/>
                <a:cs typeface="Arial"/>
              </a:rPr>
              <a:t> </a:t>
            </a:r>
            <a:r>
              <a:rPr sz="2400" spc="-30" dirty="0">
                <a:solidFill>
                  <a:srgbClr val="FFFFFF"/>
                </a:solidFill>
                <a:latin typeface="Arial"/>
                <a:cs typeface="Arial"/>
              </a:rPr>
              <a:t>using  </a:t>
            </a:r>
            <a:r>
              <a:rPr sz="2400" dirty="0">
                <a:solidFill>
                  <a:srgbClr val="FFFFFF"/>
                </a:solidFill>
                <a:latin typeface="Arial"/>
                <a:cs typeface="Arial"/>
              </a:rPr>
              <a:t>the </a:t>
            </a:r>
            <a:r>
              <a:rPr sz="2400" spc="105" dirty="0">
                <a:solidFill>
                  <a:srgbClr val="FFFFFF"/>
                </a:solidFill>
                <a:latin typeface="Arial"/>
                <a:cs typeface="Arial"/>
              </a:rPr>
              <a:t>SCHEMABINDING</a:t>
            </a:r>
            <a:r>
              <a:rPr sz="2400" spc="-330" dirty="0">
                <a:solidFill>
                  <a:srgbClr val="FFFFFF"/>
                </a:solidFill>
                <a:latin typeface="Arial"/>
                <a:cs typeface="Arial"/>
              </a:rPr>
              <a:t> </a:t>
            </a:r>
            <a:r>
              <a:rPr sz="2400" spc="35" dirty="0">
                <a:solidFill>
                  <a:srgbClr val="FFFFFF"/>
                </a:solidFill>
                <a:latin typeface="Arial"/>
                <a:cs typeface="Arial"/>
              </a:rPr>
              <a:t>option.</a:t>
            </a:r>
            <a:endParaRPr sz="2400">
              <a:latin typeface="Arial"/>
              <a:cs typeface="Arial"/>
            </a:endParaRPr>
          </a:p>
          <a:p>
            <a:pPr marL="354965" marR="5080" indent="-342900">
              <a:lnSpc>
                <a:spcPts val="2590"/>
              </a:lnSpc>
              <a:spcBef>
                <a:spcPts val="5"/>
              </a:spcBef>
              <a:buFont typeface="Wingdings"/>
              <a:buChar char=""/>
              <a:tabLst>
                <a:tab pos="355600" algn="l"/>
              </a:tabLst>
            </a:pPr>
            <a:r>
              <a:rPr sz="2400" spc="45" dirty="0">
                <a:solidFill>
                  <a:srgbClr val="FFFFFF"/>
                </a:solidFill>
                <a:latin typeface="Arial"/>
                <a:cs typeface="Arial"/>
              </a:rPr>
              <a:t>This</a:t>
            </a:r>
            <a:r>
              <a:rPr sz="2400" spc="-80" dirty="0">
                <a:solidFill>
                  <a:srgbClr val="FFFFFF"/>
                </a:solidFill>
                <a:latin typeface="Arial"/>
                <a:cs typeface="Arial"/>
              </a:rPr>
              <a:t> </a:t>
            </a:r>
            <a:r>
              <a:rPr sz="2400" spc="55" dirty="0">
                <a:solidFill>
                  <a:srgbClr val="FFFFFF"/>
                </a:solidFill>
                <a:latin typeface="Arial"/>
                <a:cs typeface="Arial"/>
              </a:rPr>
              <a:t>option</a:t>
            </a:r>
            <a:r>
              <a:rPr sz="2400" spc="-80" dirty="0">
                <a:solidFill>
                  <a:srgbClr val="FFFFFF"/>
                </a:solidFill>
                <a:latin typeface="Arial"/>
                <a:cs typeface="Arial"/>
              </a:rPr>
              <a:t> </a:t>
            </a:r>
            <a:r>
              <a:rPr sz="2400" spc="-90" dirty="0">
                <a:solidFill>
                  <a:srgbClr val="FFFFFF"/>
                </a:solidFill>
                <a:latin typeface="Arial"/>
                <a:cs typeface="Arial"/>
              </a:rPr>
              <a:t>can</a:t>
            </a:r>
            <a:r>
              <a:rPr sz="2400" spc="-80" dirty="0">
                <a:solidFill>
                  <a:srgbClr val="FFFFFF"/>
                </a:solidFill>
                <a:latin typeface="Arial"/>
                <a:cs typeface="Arial"/>
              </a:rPr>
              <a:t> </a:t>
            </a:r>
            <a:r>
              <a:rPr sz="2400" spc="-120" dirty="0">
                <a:solidFill>
                  <a:srgbClr val="FFFFFF"/>
                </a:solidFill>
                <a:latin typeface="Arial"/>
                <a:cs typeface="Arial"/>
              </a:rPr>
              <a:t>be</a:t>
            </a:r>
            <a:r>
              <a:rPr sz="2400" spc="-85" dirty="0">
                <a:solidFill>
                  <a:srgbClr val="FFFFFF"/>
                </a:solidFill>
                <a:latin typeface="Arial"/>
                <a:cs typeface="Arial"/>
              </a:rPr>
              <a:t> </a:t>
            </a:r>
            <a:r>
              <a:rPr sz="2400" spc="-105" dirty="0">
                <a:solidFill>
                  <a:srgbClr val="FFFFFF"/>
                </a:solidFill>
                <a:latin typeface="Arial"/>
                <a:cs typeface="Arial"/>
              </a:rPr>
              <a:t>used</a:t>
            </a:r>
            <a:r>
              <a:rPr sz="2400" spc="-80" dirty="0">
                <a:solidFill>
                  <a:srgbClr val="FFFFFF"/>
                </a:solidFill>
                <a:latin typeface="Arial"/>
                <a:cs typeface="Arial"/>
              </a:rPr>
              <a:t> </a:t>
            </a:r>
            <a:r>
              <a:rPr sz="2400" spc="105" dirty="0">
                <a:solidFill>
                  <a:srgbClr val="FFFFFF"/>
                </a:solidFill>
                <a:latin typeface="Arial"/>
                <a:cs typeface="Arial"/>
              </a:rPr>
              <a:t>with</a:t>
            </a:r>
            <a:r>
              <a:rPr sz="2400" spc="-75" dirty="0">
                <a:solidFill>
                  <a:srgbClr val="FFFFFF"/>
                </a:solidFill>
                <a:latin typeface="Arial"/>
                <a:cs typeface="Arial"/>
              </a:rPr>
              <a:t> </a:t>
            </a:r>
            <a:r>
              <a:rPr sz="2400" spc="75" dirty="0">
                <a:solidFill>
                  <a:srgbClr val="FFFFFF"/>
                </a:solidFill>
                <a:latin typeface="Arial"/>
                <a:cs typeface="Arial"/>
              </a:rPr>
              <a:t>CREATE</a:t>
            </a:r>
            <a:r>
              <a:rPr sz="2400" spc="-75" dirty="0">
                <a:solidFill>
                  <a:srgbClr val="FFFFFF"/>
                </a:solidFill>
                <a:latin typeface="Arial"/>
                <a:cs typeface="Arial"/>
              </a:rPr>
              <a:t> </a:t>
            </a:r>
            <a:r>
              <a:rPr sz="2400" spc="175" dirty="0">
                <a:solidFill>
                  <a:srgbClr val="FFFFFF"/>
                </a:solidFill>
                <a:latin typeface="Arial"/>
                <a:cs typeface="Arial"/>
              </a:rPr>
              <a:t>VIEW</a:t>
            </a:r>
            <a:r>
              <a:rPr sz="2400" spc="-80" dirty="0">
                <a:solidFill>
                  <a:srgbClr val="FFFFFF"/>
                </a:solidFill>
                <a:latin typeface="Arial"/>
                <a:cs typeface="Arial"/>
              </a:rPr>
              <a:t> </a:t>
            </a:r>
            <a:r>
              <a:rPr sz="2400" spc="35" dirty="0">
                <a:solidFill>
                  <a:srgbClr val="FFFFFF"/>
                </a:solidFill>
                <a:latin typeface="Arial"/>
                <a:cs typeface="Arial"/>
              </a:rPr>
              <a:t>or</a:t>
            </a:r>
            <a:r>
              <a:rPr sz="2400" spc="-80" dirty="0">
                <a:solidFill>
                  <a:srgbClr val="FFFFFF"/>
                </a:solidFill>
                <a:latin typeface="Arial"/>
                <a:cs typeface="Arial"/>
              </a:rPr>
              <a:t> </a:t>
            </a:r>
            <a:r>
              <a:rPr sz="2400" spc="100" dirty="0">
                <a:solidFill>
                  <a:srgbClr val="FFFFFF"/>
                </a:solidFill>
                <a:latin typeface="Arial"/>
                <a:cs typeface="Arial"/>
              </a:rPr>
              <a:t>ALTER  </a:t>
            </a:r>
            <a:r>
              <a:rPr sz="2400" spc="175" dirty="0">
                <a:solidFill>
                  <a:srgbClr val="FFFFFF"/>
                </a:solidFill>
                <a:latin typeface="Arial"/>
                <a:cs typeface="Arial"/>
              </a:rPr>
              <a:t>VIEW</a:t>
            </a:r>
            <a:r>
              <a:rPr sz="2400" spc="-160" dirty="0">
                <a:solidFill>
                  <a:srgbClr val="FFFFFF"/>
                </a:solidFill>
                <a:latin typeface="Arial"/>
                <a:cs typeface="Arial"/>
              </a:rPr>
              <a:t> </a:t>
            </a:r>
            <a:r>
              <a:rPr sz="2400" spc="-65" dirty="0">
                <a:solidFill>
                  <a:srgbClr val="FFFFFF"/>
                </a:solidFill>
                <a:latin typeface="Arial"/>
                <a:cs typeface="Arial"/>
              </a:rPr>
              <a:t>statements.</a:t>
            </a:r>
            <a:endParaRPr sz="24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24</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0" name="object 5">
            <a:extLst>
              <a:ext uri="{FF2B5EF4-FFF2-40B4-BE49-F238E27FC236}">
                <a16:creationId xmlns:a16="http://schemas.microsoft.com/office/drawing/2014/main" id="{FA95F7A3-9473-4E59-81FB-B032B24B41AC}"/>
              </a:ext>
            </a:extLst>
          </p:cNvPr>
          <p:cNvSpPr/>
          <p:nvPr/>
        </p:nvSpPr>
        <p:spPr>
          <a:xfrm>
            <a:off x="386878" y="2514601"/>
            <a:ext cx="8254365" cy="914400"/>
          </a:xfrm>
          <a:custGeom>
            <a:avLst/>
            <a:gdLst/>
            <a:ahLst/>
            <a:cxnLst/>
            <a:rect l="l" t="t" r="r" b="b"/>
            <a:pathLst>
              <a:path w="8254365" h="1392554">
                <a:moveTo>
                  <a:pt x="8253984" y="232029"/>
                </a:moveTo>
                <a:lnTo>
                  <a:pt x="8249259" y="185280"/>
                </a:lnTo>
                <a:lnTo>
                  <a:pt x="8235747" y="141719"/>
                </a:lnTo>
                <a:lnTo>
                  <a:pt x="8214347" y="102311"/>
                </a:lnTo>
                <a:lnTo>
                  <a:pt x="8186013" y="67970"/>
                </a:lnTo>
                <a:lnTo>
                  <a:pt x="8151673" y="39636"/>
                </a:lnTo>
                <a:lnTo>
                  <a:pt x="8112265" y="18237"/>
                </a:lnTo>
                <a:lnTo>
                  <a:pt x="8068704" y="4724"/>
                </a:lnTo>
                <a:lnTo>
                  <a:pt x="8021955" y="0"/>
                </a:lnTo>
                <a:lnTo>
                  <a:pt x="232029" y="0"/>
                </a:lnTo>
                <a:lnTo>
                  <a:pt x="185267" y="4724"/>
                </a:lnTo>
                <a:lnTo>
                  <a:pt x="141706" y="18237"/>
                </a:lnTo>
                <a:lnTo>
                  <a:pt x="102298" y="39636"/>
                </a:lnTo>
                <a:lnTo>
                  <a:pt x="67957" y="67970"/>
                </a:lnTo>
                <a:lnTo>
                  <a:pt x="39624" y="102311"/>
                </a:lnTo>
                <a:lnTo>
                  <a:pt x="18224" y="141719"/>
                </a:lnTo>
                <a:lnTo>
                  <a:pt x="4711" y="185280"/>
                </a:lnTo>
                <a:lnTo>
                  <a:pt x="0" y="232029"/>
                </a:lnTo>
                <a:lnTo>
                  <a:pt x="0" y="1160145"/>
                </a:lnTo>
                <a:lnTo>
                  <a:pt x="4711" y="1206906"/>
                </a:lnTo>
                <a:lnTo>
                  <a:pt x="18224" y="1250467"/>
                </a:lnTo>
                <a:lnTo>
                  <a:pt x="39624" y="1289875"/>
                </a:lnTo>
                <a:lnTo>
                  <a:pt x="67957" y="1324216"/>
                </a:lnTo>
                <a:lnTo>
                  <a:pt x="102298" y="1352550"/>
                </a:lnTo>
                <a:lnTo>
                  <a:pt x="141706" y="1373949"/>
                </a:lnTo>
                <a:lnTo>
                  <a:pt x="185267" y="1387462"/>
                </a:lnTo>
                <a:lnTo>
                  <a:pt x="232029" y="1392174"/>
                </a:lnTo>
                <a:lnTo>
                  <a:pt x="8021955" y="1392174"/>
                </a:lnTo>
                <a:lnTo>
                  <a:pt x="8068704" y="1387462"/>
                </a:lnTo>
                <a:lnTo>
                  <a:pt x="8112265" y="1373949"/>
                </a:lnTo>
                <a:lnTo>
                  <a:pt x="8151673" y="1352550"/>
                </a:lnTo>
                <a:lnTo>
                  <a:pt x="8186013" y="1324216"/>
                </a:lnTo>
                <a:lnTo>
                  <a:pt x="8214347" y="1289875"/>
                </a:lnTo>
                <a:lnTo>
                  <a:pt x="8235747" y="1250467"/>
                </a:lnTo>
                <a:lnTo>
                  <a:pt x="8249259" y="1206906"/>
                </a:lnTo>
                <a:lnTo>
                  <a:pt x="8253984" y="1160145"/>
                </a:lnTo>
                <a:lnTo>
                  <a:pt x="8253984" y="232029"/>
                </a:lnTo>
                <a:close/>
              </a:path>
            </a:pathLst>
          </a:custGeom>
          <a:solidFill>
            <a:srgbClr val="4AACC5"/>
          </a:solidFill>
        </p:spPr>
        <p:txBody>
          <a:bodyPr wrap="square" lIns="0" tIns="0" rIns="0" bIns="0" rtlCol="0"/>
          <a:lstStyle/>
          <a:p>
            <a:endParaRPr/>
          </a:p>
        </p:txBody>
      </p:sp>
      <p:sp>
        <p:nvSpPr>
          <p:cNvPr id="11" name="object 6">
            <a:extLst>
              <a:ext uri="{FF2B5EF4-FFF2-40B4-BE49-F238E27FC236}">
                <a16:creationId xmlns:a16="http://schemas.microsoft.com/office/drawing/2014/main" id="{D8269C33-F4F1-41C4-A515-93F2CAE4BE8F}"/>
              </a:ext>
            </a:extLst>
          </p:cNvPr>
          <p:cNvSpPr txBox="1"/>
          <p:nvPr/>
        </p:nvSpPr>
        <p:spPr>
          <a:xfrm>
            <a:off x="609600" y="2590800"/>
            <a:ext cx="7987030" cy="721351"/>
          </a:xfrm>
          <a:prstGeom prst="rect">
            <a:avLst/>
          </a:prstGeom>
        </p:spPr>
        <p:txBody>
          <a:bodyPr vert="horz" wrap="square" lIns="0" tIns="53975" rIns="0" bIns="0" rtlCol="0">
            <a:spAutoFit/>
          </a:bodyPr>
          <a:lstStyle/>
          <a:p>
            <a:pPr marL="355600" marR="5080" indent="-342900">
              <a:lnSpc>
                <a:spcPts val="2590"/>
              </a:lnSpc>
              <a:spcBef>
                <a:spcPts val="425"/>
              </a:spcBef>
              <a:buFont typeface="Wingdings"/>
              <a:buChar char=""/>
              <a:tabLst>
                <a:tab pos="355600" algn="l"/>
              </a:tabLst>
            </a:pPr>
            <a:r>
              <a:rPr lang="en-US" sz="2400">
                <a:solidFill>
                  <a:schemeClr val="bg1"/>
                </a:solidFill>
                <a:latin typeface="Calibri" pitchFamily="34" charset="0"/>
                <a:cs typeface="Calibri" pitchFamily="34" charset="0"/>
              </a:rPr>
              <a:t>When </a:t>
            </a:r>
            <a:r>
              <a:rPr lang="en-US" sz="2400" b="1">
                <a:solidFill>
                  <a:schemeClr val="bg1"/>
                </a:solidFill>
                <a:cs typeface="Courier New" pitchFamily="49" charset="0"/>
              </a:rPr>
              <a:t>SCHEMABINDING</a:t>
            </a:r>
            <a:r>
              <a:rPr lang="en-US" sz="2400">
                <a:solidFill>
                  <a:schemeClr val="bg1"/>
                </a:solidFill>
                <a:latin typeface="Calibri" pitchFamily="34" charset="0"/>
                <a:cs typeface="Calibri" pitchFamily="34" charset="0"/>
              </a:rPr>
              <a:t> option is specified, the base tables cannot be modified if that would affect the view definition</a:t>
            </a:r>
            <a:r>
              <a:rPr sz="2400" spc="20">
                <a:solidFill>
                  <a:schemeClr val="bg1"/>
                </a:solidFill>
                <a:latin typeface="Arial"/>
                <a:cs typeface="Arial"/>
              </a:rPr>
              <a:t>.</a:t>
            </a:r>
            <a:endParaRPr sz="2400">
              <a:solidFill>
                <a:schemeClr val="bg1"/>
              </a:solidFill>
              <a:latin typeface="Arial"/>
              <a:cs typeface="Arial"/>
            </a:endParaRPr>
          </a:p>
        </p:txBody>
      </p:sp>
      <p:sp>
        <p:nvSpPr>
          <p:cNvPr id="13" name="TextBox 12">
            <a:extLst>
              <a:ext uri="{FF2B5EF4-FFF2-40B4-BE49-F238E27FC236}">
                <a16:creationId xmlns:a16="http://schemas.microsoft.com/office/drawing/2014/main" id="{C8D2B21D-9105-4478-9A25-4F15C751A48E}"/>
              </a:ext>
            </a:extLst>
          </p:cNvPr>
          <p:cNvSpPr txBox="1"/>
          <p:nvPr/>
        </p:nvSpPr>
        <p:spPr>
          <a:xfrm>
            <a:off x="2209800" y="5029200"/>
            <a:ext cx="4572000" cy="1754326"/>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800">
                <a:solidFill>
                  <a:srgbClr val="0000FF"/>
                </a:solidFill>
                <a:latin typeface="Consolas" panose="020B0609020204030204" pitchFamily="49" charset="0"/>
              </a:rPr>
              <a:t>CREATE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VIEW</a:t>
            </a:r>
            <a:r>
              <a:rPr lang="en-US" sz="1800">
                <a:solidFill>
                  <a:srgbClr val="000000"/>
                </a:solidFill>
                <a:latin typeface="Consolas" panose="020B0609020204030204" pitchFamily="49" charset="0"/>
              </a:rPr>
              <a:t> vwNewProductInfo</a:t>
            </a:r>
          </a:p>
          <a:p>
            <a:r>
              <a:rPr lang="en-US" sz="1800">
                <a:solidFill>
                  <a:srgbClr val="0000FF"/>
                </a:solidFill>
                <a:latin typeface="Consolas" panose="020B0609020204030204" pitchFamily="49" charset="0"/>
              </a:rPr>
              <a:t>WITH</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SCHEMABINDING</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AS</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SELECT</a:t>
            </a:r>
            <a:r>
              <a:rPr lang="en-US" sz="1800">
                <a:solidFill>
                  <a:srgbClr val="000000"/>
                </a:solidFill>
                <a:latin typeface="Consolas" panose="020B0609020204030204" pitchFamily="49" charset="0"/>
              </a:rPr>
              <a:t> ProductID</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ProductName</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 Rate</a:t>
            </a:r>
          </a:p>
          <a:p>
            <a:r>
              <a:rPr lang="en-US" sz="1800">
                <a:solidFill>
                  <a:srgbClr val="0000FF"/>
                </a:solidFill>
                <a:latin typeface="Consolas" panose="020B0609020204030204" pitchFamily="49" charset="0"/>
              </a:rPr>
              <a:t>FROM</a:t>
            </a:r>
            <a:r>
              <a:rPr lang="en-US" sz="1800">
                <a:solidFill>
                  <a:srgbClr val="000000"/>
                </a:solidFill>
                <a:latin typeface="Consolas" panose="020B0609020204030204" pitchFamily="49" charset="0"/>
              </a:rPr>
              <a:t> dbo</a:t>
            </a:r>
            <a:r>
              <a:rPr lang="en-US" sz="1800">
                <a:solidFill>
                  <a:srgbClr val="808080"/>
                </a:solidFill>
                <a:latin typeface="Consolas" panose="020B0609020204030204" pitchFamily="49" charset="0"/>
              </a:rPr>
              <a:t>.</a:t>
            </a:r>
            <a:r>
              <a:rPr lang="en-US" sz="1800">
                <a:solidFill>
                  <a:srgbClr val="000000"/>
                </a:solidFill>
                <a:latin typeface="Consolas" panose="020B0609020204030204" pitchFamily="49" charset="0"/>
              </a:rPr>
              <a:t>Product_Details</a:t>
            </a:r>
          </a:p>
          <a:p>
            <a:r>
              <a:rPr lang="en-US" sz="1800">
                <a:solidFill>
                  <a:srgbClr val="0000FF"/>
                </a:solidFill>
                <a:latin typeface="Consolas" panose="020B0609020204030204" pitchFamily="49" charset="0"/>
              </a:rPr>
              <a:t>GO</a:t>
            </a:r>
            <a:endParaRPr lang="en-US"/>
          </a:p>
        </p:txBody>
      </p:sp>
      <p:sp>
        <p:nvSpPr>
          <p:cNvPr id="14" name="object 5">
            <a:extLst>
              <a:ext uri="{FF2B5EF4-FFF2-40B4-BE49-F238E27FC236}">
                <a16:creationId xmlns:a16="http://schemas.microsoft.com/office/drawing/2014/main" id="{42BB42B0-6A61-4B77-ABBF-55E74B600B8C}"/>
              </a:ext>
            </a:extLst>
          </p:cNvPr>
          <p:cNvSpPr/>
          <p:nvPr/>
        </p:nvSpPr>
        <p:spPr>
          <a:xfrm>
            <a:off x="432435" y="3733800"/>
            <a:ext cx="8254365" cy="914400"/>
          </a:xfrm>
          <a:custGeom>
            <a:avLst/>
            <a:gdLst/>
            <a:ahLst/>
            <a:cxnLst/>
            <a:rect l="l" t="t" r="r" b="b"/>
            <a:pathLst>
              <a:path w="8254365" h="1392554">
                <a:moveTo>
                  <a:pt x="8253984" y="232029"/>
                </a:moveTo>
                <a:lnTo>
                  <a:pt x="8249259" y="185280"/>
                </a:lnTo>
                <a:lnTo>
                  <a:pt x="8235747" y="141719"/>
                </a:lnTo>
                <a:lnTo>
                  <a:pt x="8214347" y="102311"/>
                </a:lnTo>
                <a:lnTo>
                  <a:pt x="8186013" y="67970"/>
                </a:lnTo>
                <a:lnTo>
                  <a:pt x="8151673" y="39636"/>
                </a:lnTo>
                <a:lnTo>
                  <a:pt x="8112265" y="18237"/>
                </a:lnTo>
                <a:lnTo>
                  <a:pt x="8068704" y="4724"/>
                </a:lnTo>
                <a:lnTo>
                  <a:pt x="8021955" y="0"/>
                </a:lnTo>
                <a:lnTo>
                  <a:pt x="232029" y="0"/>
                </a:lnTo>
                <a:lnTo>
                  <a:pt x="185267" y="4724"/>
                </a:lnTo>
                <a:lnTo>
                  <a:pt x="141706" y="18237"/>
                </a:lnTo>
                <a:lnTo>
                  <a:pt x="102298" y="39636"/>
                </a:lnTo>
                <a:lnTo>
                  <a:pt x="67957" y="67970"/>
                </a:lnTo>
                <a:lnTo>
                  <a:pt x="39624" y="102311"/>
                </a:lnTo>
                <a:lnTo>
                  <a:pt x="18224" y="141719"/>
                </a:lnTo>
                <a:lnTo>
                  <a:pt x="4711" y="185280"/>
                </a:lnTo>
                <a:lnTo>
                  <a:pt x="0" y="232029"/>
                </a:lnTo>
                <a:lnTo>
                  <a:pt x="0" y="1160145"/>
                </a:lnTo>
                <a:lnTo>
                  <a:pt x="4711" y="1206906"/>
                </a:lnTo>
                <a:lnTo>
                  <a:pt x="18224" y="1250467"/>
                </a:lnTo>
                <a:lnTo>
                  <a:pt x="39624" y="1289875"/>
                </a:lnTo>
                <a:lnTo>
                  <a:pt x="67957" y="1324216"/>
                </a:lnTo>
                <a:lnTo>
                  <a:pt x="102298" y="1352550"/>
                </a:lnTo>
                <a:lnTo>
                  <a:pt x="141706" y="1373949"/>
                </a:lnTo>
                <a:lnTo>
                  <a:pt x="185267" y="1387462"/>
                </a:lnTo>
                <a:lnTo>
                  <a:pt x="232029" y="1392174"/>
                </a:lnTo>
                <a:lnTo>
                  <a:pt x="8021955" y="1392174"/>
                </a:lnTo>
                <a:lnTo>
                  <a:pt x="8068704" y="1387462"/>
                </a:lnTo>
                <a:lnTo>
                  <a:pt x="8112265" y="1373949"/>
                </a:lnTo>
                <a:lnTo>
                  <a:pt x="8151673" y="1352550"/>
                </a:lnTo>
                <a:lnTo>
                  <a:pt x="8186013" y="1324216"/>
                </a:lnTo>
                <a:lnTo>
                  <a:pt x="8214347" y="1289875"/>
                </a:lnTo>
                <a:lnTo>
                  <a:pt x="8235747" y="1250467"/>
                </a:lnTo>
                <a:lnTo>
                  <a:pt x="8249259" y="1206906"/>
                </a:lnTo>
                <a:lnTo>
                  <a:pt x="8253984" y="1160145"/>
                </a:lnTo>
                <a:lnTo>
                  <a:pt x="8253984" y="232029"/>
                </a:lnTo>
                <a:close/>
              </a:path>
            </a:pathLst>
          </a:custGeom>
          <a:solidFill>
            <a:srgbClr val="4AACC5"/>
          </a:solidFill>
        </p:spPr>
        <p:txBody>
          <a:bodyPr wrap="square" lIns="0" tIns="0" rIns="0" bIns="0" rtlCol="0"/>
          <a:lstStyle/>
          <a:p>
            <a:endParaRPr/>
          </a:p>
        </p:txBody>
      </p:sp>
      <p:sp>
        <p:nvSpPr>
          <p:cNvPr id="16" name="object 6">
            <a:extLst>
              <a:ext uri="{FF2B5EF4-FFF2-40B4-BE49-F238E27FC236}">
                <a16:creationId xmlns:a16="http://schemas.microsoft.com/office/drawing/2014/main" id="{C2CD374A-AC86-488A-BE22-51260A4FD1F9}"/>
              </a:ext>
            </a:extLst>
          </p:cNvPr>
          <p:cNvSpPr txBox="1"/>
          <p:nvPr/>
        </p:nvSpPr>
        <p:spPr>
          <a:xfrm>
            <a:off x="609600" y="3810000"/>
            <a:ext cx="7987030" cy="720725"/>
          </a:xfrm>
          <a:prstGeom prst="rect">
            <a:avLst/>
          </a:prstGeom>
        </p:spPr>
        <p:txBody>
          <a:bodyPr vert="horz" wrap="square" lIns="0" tIns="53975" rIns="0" bIns="0" rtlCol="0">
            <a:spAutoFit/>
          </a:bodyPr>
          <a:lstStyle/>
          <a:p>
            <a:pPr marL="355600" marR="5080" indent="-342900">
              <a:lnSpc>
                <a:spcPts val="2590"/>
              </a:lnSpc>
              <a:spcBef>
                <a:spcPts val="425"/>
              </a:spcBef>
              <a:buFont typeface="Wingdings"/>
              <a:buChar char=""/>
              <a:tabLst>
                <a:tab pos="355600" algn="l"/>
              </a:tabLst>
            </a:pPr>
            <a:r>
              <a:rPr sz="2400" spc="25" dirty="0">
                <a:solidFill>
                  <a:srgbClr val="FFFFFF"/>
                </a:solidFill>
                <a:latin typeface="Arial"/>
                <a:cs typeface="Arial"/>
              </a:rPr>
              <a:t>The </a:t>
            </a:r>
            <a:r>
              <a:rPr sz="2400" spc="10" dirty="0">
                <a:solidFill>
                  <a:srgbClr val="FFFFFF"/>
                </a:solidFill>
                <a:latin typeface="Arial"/>
                <a:cs typeface="Arial"/>
              </a:rPr>
              <a:t>view </a:t>
            </a:r>
            <a:r>
              <a:rPr sz="2400" spc="70" dirty="0">
                <a:solidFill>
                  <a:srgbClr val="FFFFFF"/>
                </a:solidFill>
                <a:latin typeface="Arial"/>
                <a:cs typeface="Arial"/>
              </a:rPr>
              <a:t>definition </a:t>
            </a:r>
            <a:r>
              <a:rPr sz="2400" spc="-20" dirty="0">
                <a:solidFill>
                  <a:srgbClr val="FFFFFF"/>
                </a:solidFill>
                <a:latin typeface="Arial"/>
                <a:cs typeface="Arial"/>
              </a:rPr>
              <a:t>must </a:t>
            </a:r>
            <a:r>
              <a:rPr sz="2400" spc="-120" dirty="0">
                <a:solidFill>
                  <a:srgbClr val="FFFFFF"/>
                </a:solidFill>
                <a:latin typeface="Arial"/>
                <a:cs typeface="Arial"/>
              </a:rPr>
              <a:t>be </a:t>
            </a:r>
            <a:r>
              <a:rPr sz="2400" spc="60" dirty="0">
                <a:solidFill>
                  <a:srgbClr val="FFFFFF"/>
                </a:solidFill>
                <a:latin typeface="Arial"/>
                <a:cs typeface="Arial"/>
              </a:rPr>
              <a:t>first </a:t>
            </a:r>
            <a:r>
              <a:rPr sz="2400" spc="25" dirty="0">
                <a:solidFill>
                  <a:srgbClr val="FFFFFF"/>
                </a:solidFill>
                <a:latin typeface="Arial"/>
                <a:cs typeface="Arial"/>
              </a:rPr>
              <a:t>modified </a:t>
            </a:r>
            <a:r>
              <a:rPr sz="2400" spc="35" dirty="0">
                <a:solidFill>
                  <a:srgbClr val="FFFFFF"/>
                </a:solidFill>
                <a:latin typeface="Arial"/>
                <a:cs typeface="Arial"/>
              </a:rPr>
              <a:t>or </a:t>
            </a:r>
            <a:r>
              <a:rPr sz="2400" spc="-50" dirty="0">
                <a:solidFill>
                  <a:srgbClr val="FFFFFF"/>
                </a:solidFill>
                <a:latin typeface="Arial"/>
                <a:cs typeface="Arial"/>
              </a:rPr>
              <a:t>deleted </a:t>
            </a:r>
            <a:r>
              <a:rPr sz="2400" spc="65" dirty="0">
                <a:solidFill>
                  <a:srgbClr val="FFFFFF"/>
                </a:solidFill>
                <a:latin typeface="Arial"/>
                <a:cs typeface="Arial"/>
              </a:rPr>
              <a:t>to  </a:t>
            </a:r>
            <a:r>
              <a:rPr sz="2400" spc="-55" dirty="0">
                <a:solidFill>
                  <a:srgbClr val="FFFFFF"/>
                </a:solidFill>
                <a:latin typeface="Arial"/>
                <a:cs typeface="Arial"/>
              </a:rPr>
              <a:t>remove</a:t>
            </a:r>
            <a:r>
              <a:rPr sz="2400" spc="-170" dirty="0">
                <a:solidFill>
                  <a:srgbClr val="FFFFFF"/>
                </a:solidFill>
                <a:latin typeface="Arial"/>
                <a:cs typeface="Arial"/>
              </a:rPr>
              <a:t> </a:t>
            </a:r>
            <a:r>
              <a:rPr sz="2400" spc="-80" dirty="0">
                <a:solidFill>
                  <a:srgbClr val="FFFFFF"/>
                </a:solidFill>
                <a:latin typeface="Arial"/>
                <a:cs typeface="Arial"/>
              </a:rPr>
              <a:t>dependencies</a:t>
            </a:r>
            <a:r>
              <a:rPr sz="2400" spc="-165" dirty="0">
                <a:solidFill>
                  <a:srgbClr val="FFFFFF"/>
                </a:solidFill>
                <a:latin typeface="Arial"/>
                <a:cs typeface="Arial"/>
              </a:rPr>
              <a:t> </a:t>
            </a:r>
            <a:r>
              <a:rPr sz="2400" spc="30" dirty="0">
                <a:solidFill>
                  <a:srgbClr val="FFFFFF"/>
                </a:solidFill>
                <a:latin typeface="Arial"/>
                <a:cs typeface="Arial"/>
              </a:rPr>
              <a:t>on</a:t>
            </a:r>
            <a:r>
              <a:rPr sz="2400" spc="-180" dirty="0">
                <a:solidFill>
                  <a:srgbClr val="FFFFFF"/>
                </a:solidFill>
                <a:latin typeface="Arial"/>
                <a:cs typeface="Arial"/>
              </a:rPr>
              <a:t> </a:t>
            </a:r>
            <a:r>
              <a:rPr sz="2400" dirty="0">
                <a:solidFill>
                  <a:srgbClr val="FFFFFF"/>
                </a:solidFill>
                <a:latin typeface="Arial"/>
                <a:cs typeface="Arial"/>
              </a:rPr>
              <a:t>the</a:t>
            </a:r>
            <a:r>
              <a:rPr sz="2400" spc="-150" dirty="0">
                <a:solidFill>
                  <a:srgbClr val="FFFFFF"/>
                </a:solidFill>
                <a:latin typeface="Arial"/>
                <a:cs typeface="Arial"/>
              </a:rPr>
              <a:t> </a:t>
            </a:r>
            <a:r>
              <a:rPr sz="2400" spc="-40" dirty="0">
                <a:solidFill>
                  <a:srgbClr val="FFFFFF"/>
                </a:solidFill>
                <a:latin typeface="Arial"/>
                <a:cs typeface="Arial"/>
              </a:rPr>
              <a:t>table</a:t>
            </a:r>
            <a:r>
              <a:rPr sz="2400" spc="-145" dirty="0">
                <a:solidFill>
                  <a:srgbClr val="FFFFFF"/>
                </a:solidFill>
                <a:latin typeface="Arial"/>
                <a:cs typeface="Arial"/>
              </a:rPr>
              <a:t> </a:t>
            </a:r>
            <a:r>
              <a:rPr sz="2400" spc="35" dirty="0">
                <a:solidFill>
                  <a:srgbClr val="FFFFFF"/>
                </a:solidFill>
                <a:latin typeface="Arial"/>
                <a:cs typeface="Arial"/>
              </a:rPr>
              <a:t>that</a:t>
            </a:r>
            <a:r>
              <a:rPr sz="2400" spc="-135" dirty="0">
                <a:solidFill>
                  <a:srgbClr val="FFFFFF"/>
                </a:solidFill>
                <a:latin typeface="Arial"/>
                <a:cs typeface="Arial"/>
              </a:rPr>
              <a:t> </a:t>
            </a:r>
            <a:r>
              <a:rPr sz="2400" spc="-55" dirty="0">
                <a:solidFill>
                  <a:srgbClr val="FFFFFF"/>
                </a:solidFill>
                <a:latin typeface="Arial"/>
                <a:cs typeface="Arial"/>
              </a:rPr>
              <a:t>is</a:t>
            </a:r>
            <a:r>
              <a:rPr sz="2400" spc="-160" dirty="0">
                <a:solidFill>
                  <a:srgbClr val="FFFFFF"/>
                </a:solidFill>
                <a:latin typeface="Arial"/>
                <a:cs typeface="Arial"/>
              </a:rPr>
              <a:t> </a:t>
            </a:r>
            <a:r>
              <a:rPr sz="2400" spc="65" dirty="0">
                <a:solidFill>
                  <a:srgbClr val="FFFFFF"/>
                </a:solidFill>
                <a:latin typeface="Arial"/>
                <a:cs typeface="Arial"/>
              </a:rPr>
              <a:t>to</a:t>
            </a:r>
            <a:r>
              <a:rPr sz="2400" spc="-145" dirty="0">
                <a:solidFill>
                  <a:srgbClr val="FFFFFF"/>
                </a:solidFill>
                <a:latin typeface="Arial"/>
                <a:cs typeface="Arial"/>
              </a:rPr>
              <a:t> </a:t>
            </a:r>
            <a:r>
              <a:rPr sz="2400" spc="-120" dirty="0">
                <a:solidFill>
                  <a:srgbClr val="FFFFFF"/>
                </a:solidFill>
                <a:latin typeface="Arial"/>
                <a:cs typeface="Arial"/>
              </a:rPr>
              <a:t>be</a:t>
            </a:r>
            <a:r>
              <a:rPr sz="2400" spc="-160" dirty="0">
                <a:solidFill>
                  <a:srgbClr val="FFFFFF"/>
                </a:solidFill>
                <a:latin typeface="Arial"/>
                <a:cs typeface="Arial"/>
              </a:rPr>
              <a:t> </a:t>
            </a:r>
            <a:r>
              <a:rPr sz="2400" spc="20" dirty="0">
                <a:solidFill>
                  <a:srgbClr val="FFFFFF"/>
                </a:solidFill>
                <a:latin typeface="Arial"/>
                <a:cs typeface="Arial"/>
              </a:rPr>
              <a:t>modified.</a:t>
            </a:r>
            <a:endParaRPr sz="240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048" y="0"/>
            <a:ext cx="4585335"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Arial"/>
                <a:cs typeface="Arial"/>
              </a:rPr>
              <a:t>Using</a:t>
            </a:r>
            <a:r>
              <a:rPr sz="4000" b="0" spc="-310" dirty="0">
                <a:latin typeface="Arial"/>
                <a:cs typeface="Arial"/>
              </a:rPr>
              <a:t> </a:t>
            </a:r>
            <a:r>
              <a:rPr sz="4000" b="0" spc="-155" dirty="0">
                <a:latin typeface="Arial"/>
                <a:cs typeface="Arial"/>
              </a:rPr>
              <a:t>sp_refreshview</a:t>
            </a:r>
            <a:endParaRPr sz="4000">
              <a:latin typeface="Arial"/>
              <a:cs typeface="Arial"/>
            </a:endParaRPr>
          </a:p>
        </p:txBody>
      </p:sp>
      <p:grpSp>
        <p:nvGrpSpPr>
          <p:cNvPr id="3" name="object 3"/>
          <p:cNvGrpSpPr/>
          <p:nvPr/>
        </p:nvGrpSpPr>
        <p:grpSpPr>
          <a:xfrm>
            <a:off x="3438905" y="1620011"/>
            <a:ext cx="2166620" cy="4224020"/>
            <a:chOff x="3438905" y="1620011"/>
            <a:chExt cx="2166620" cy="4224020"/>
          </a:xfrm>
        </p:grpSpPr>
        <p:pic>
          <p:nvPicPr>
            <p:cNvPr id="4" name="object 4"/>
            <p:cNvPicPr/>
            <p:nvPr/>
          </p:nvPicPr>
          <p:blipFill>
            <a:blip r:embed="rId3" cstate="print"/>
            <a:stretch>
              <a:fillRect/>
            </a:stretch>
          </p:blipFill>
          <p:spPr>
            <a:xfrm>
              <a:off x="3448811" y="2424683"/>
              <a:ext cx="2093976" cy="1226058"/>
            </a:xfrm>
            <a:prstGeom prst="rect">
              <a:avLst/>
            </a:prstGeom>
          </p:spPr>
        </p:pic>
        <p:pic>
          <p:nvPicPr>
            <p:cNvPr id="5" name="object 5"/>
            <p:cNvPicPr/>
            <p:nvPr/>
          </p:nvPicPr>
          <p:blipFill>
            <a:blip r:embed="rId4" cstate="print"/>
            <a:stretch>
              <a:fillRect/>
            </a:stretch>
          </p:blipFill>
          <p:spPr>
            <a:xfrm>
              <a:off x="3438905" y="1620011"/>
              <a:ext cx="2166366" cy="1267206"/>
            </a:xfrm>
            <a:prstGeom prst="rect">
              <a:avLst/>
            </a:prstGeom>
          </p:spPr>
        </p:pic>
        <p:pic>
          <p:nvPicPr>
            <p:cNvPr id="6" name="object 6"/>
            <p:cNvPicPr/>
            <p:nvPr/>
          </p:nvPicPr>
          <p:blipFill>
            <a:blip r:embed="rId5" cstate="print"/>
            <a:stretch>
              <a:fillRect/>
            </a:stretch>
          </p:blipFill>
          <p:spPr>
            <a:xfrm>
              <a:off x="3448811" y="3156203"/>
              <a:ext cx="2093976" cy="1225296"/>
            </a:xfrm>
            <a:prstGeom prst="rect">
              <a:avLst/>
            </a:prstGeom>
          </p:spPr>
        </p:pic>
        <p:pic>
          <p:nvPicPr>
            <p:cNvPr id="7" name="object 7"/>
            <p:cNvPicPr/>
            <p:nvPr/>
          </p:nvPicPr>
          <p:blipFill>
            <a:blip r:embed="rId6" cstate="print"/>
            <a:stretch>
              <a:fillRect/>
            </a:stretch>
          </p:blipFill>
          <p:spPr>
            <a:xfrm>
              <a:off x="3448811" y="3886961"/>
              <a:ext cx="2093976" cy="1226058"/>
            </a:xfrm>
            <a:prstGeom prst="rect">
              <a:avLst/>
            </a:prstGeom>
          </p:spPr>
        </p:pic>
        <p:pic>
          <p:nvPicPr>
            <p:cNvPr id="8" name="object 8"/>
            <p:cNvPicPr/>
            <p:nvPr/>
          </p:nvPicPr>
          <p:blipFill>
            <a:blip r:embed="rId7" cstate="print"/>
            <a:stretch>
              <a:fillRect/>
            </a:stretch>
          </p:blipFill>
          <p:spPr>
            <a:xfrm>
              <a:off x="3448811" y="4617719"/>
              <a:ext cx="2093976" cy="1226058"/>
            </a:xfrm>
            <a:prstGeom prst="rect">
              <a:avLst/>
            </a:prstGeom>
          </p:spPr>
        </p:pic>
      </p:grpSp>
      <p:sp>
        <p:nvSpPr>
          <p:cNvPr id="9" name="object 9"/>
          <p:cNvSpPr txBox="1"/>
          <p:nvPr/>
        </p:nvSpPr>
        <p:spPr>
          <a:xfrm>
            <a:off x="380" y="2428875"/>
            <a:ext cx="3098800" cy="1754505"/>
          </a:xfrm>
          <a:prstGeom prst="rect">
            <a:avLst/>
          </a:prstGeom>
          <a:solidFill>
            <a:srgbClr val="FFFFFF"/>
          </a:solidFill>
          <a:ln w="12953">
            <a:solidFill>
              <a:srgbClr val="205868"/>
            </a:solidFill>
          </a:ln>
        </p:spPr>
        <p:txBody>
          <a:bodyPr vert="horz" wrap="square" lIns="0" tIns="8890" rIns="0" bIns="0" rtlCol="0">
            <a:spAutoFit/>
          </a:bodyPr>
          <a:lstStyle/>
          <a:p>
            <a:pPr marL="90805" marR="93345">
              <a:lnSpc>
                <a:spcPts val="2160"/>
              </a:lnSpc>
              <a:spcBef>
                <a:spcPts val="70"/>
              </a:spcBef>
            </a:pPr>
            <a:r>
              <a:rPr sz="1800" spc="45" dirty="0">
                <a:solidFill>
                  <a:srgbClr val="404040"/>
                </a:solidFill>
                <a:latin typeface="Arial"/>
                <a:cs typeface="Arial"/>
              </a:rPr>
              <a:t>During</a:t>
            </a:r>
            <a:r>
              <a:rPr sz="1800" spc="-135" dirty="0">
                <a:solidFill>
                  <a:srgbClr val="404040"/>
                </a:solidFill>
                <a:latin typeface="Arial"/>
                <a:cs typeface="Arial"/>
              </a:rPr>
              <a:t> </a:t>
            </a:r>
            <a:r>
              <a:rPr sz="1800" dirty="0">
                <a:solidFill>
                  <a:srgbClr val="404040"/>
                </a:solidFill>
                <a:latin typeface="Arial"/>
                <a:cs typeface="Arial"/>
              </a:rPr>
              <a:t>the</a:t>
            </a:r>
            <a:r>
              <a:rPr sz="1800" spc="-125" dirty="0">
                <a:solidFill>
                  <a:srgbClr val="404040"/>
                </a:solidFill>
                <a:latin typeface="Arial"/>
                <a:cs typeface="Arial"/>
              </a:rPr>
              <a:t> </a:t>
            </a:r>
            <a:r>
              <a:rPr sz="1800" spc="-10" dirty="0">
                <a:solidFill>
                  <a:srgbClr val="404040"/>
                </a:solidFill>
                <a:latin typeface="Arial"/>
                <a:cs typeface="Arial"/>
              </a:rPr>
              <a:t>creation</a:t>
            </a:r>
            <a:r>
              <a:rPr sz="1800" spc="-130" dirty="0">
                <a:solidFill>
                  <a:srgbClr val="404040"/>
                </a:solidFill>
                <a:latin typeface="Arial"/>
                <a:cs typeface="Arial"/>
              </a:rPr>
              <a:t> </a:t>
            </a:r>
            <a:r>
              <a:rPr sz="1800" spc="50" dirty="0">
                <a:solidFill>
                  <a:srgbClr val="404040"/>
                </a:solidFill>
                <a:latin typeface="Arial"/>
                <a:cs typeface="Arial"/>
              </a:rPr>
              <a:t>of</a:t>
            </a:r>
            <a:r>
              <a:rPr sz="1800" spc="-125" dirty="0">
                <a:solidFill>
                  <a:srgbClr val="404040"/>
                </a:solidFill>
                <a:latin typeface="Arial"/>
                <a:cs typeface="Arial"/>
              </a:rPr>
              <a:t> </a:t>
            </a:r>
            <a:r>
              <a:rPr sz="1800" spc="-175" dirty="0">
                <a:solidFill>
                  <a:srgbClr val="404040"/>
                </a:solidFill>
                <a:latin typeface="Arial"/>
                <a:cs typeface="Arial"/>
              </a:rPr>
              <a:t>a</a:t>
            </a:r>
            <a:r>
              <a:rPr sz="1800" spc="-125" dirty="0">
                <a:solidFill>
                  <a:srgbClr val="404040"/>
                </a:solidFill>
                <a:latin typeface="Arial"/>
                <a:cs typeface="Arial"/>
              </a:rPr>
              <a:t> </a:t>
            </a:r>
            <a:r>
              <a:rPr sz="1800" spc="-5" dirty="0">
                <a:solidFill>
                  <a:srgbClr val="404040"/>
                </a:solidFill>
                <a:latin typeface="Arial"/>
                <a:cs typeface="Arial"/>
              </a:rPr>
              <a:t>view,  </a:t>
            </a:r>
            <a:r>
              <a:rPr sz="1800" dirty="0">
                <a:solidFill>
                  <a:srgbClr val="404040"/>
                </a:solidFill>
                <a:latin typeface="Arial"/>
                <a:cs typeface="Arial"/>
              </a:rPr>
              <a:t>the</a:t>
            </a:r>
            <a:r>
              <a:rPr sz="1800" spc="-125" dirty="0">
                <a:solidFill>
                  <a:srgbClr val="404040"/>
                </a:solidFill>
                <a:latin typeface="Arial"/>
                <a:cs typeface="Arial"/>
              </a:rPr>
              <a:t> </a:t>
            </a:r>
            <a:r>
              <a:rPr sz="1800" spc="75" dirty="0">
                <a:solidFill>
                  <a:srgbClr val="404040"/>
                </a:solidFill>
                <a:latin typeface="Arial"/>
                <a:cs typeface="Arial"/>
              </a:rPr>
              <a:t>SCHEMABINDING</a:t>
            </a:r>
            <a:endParaRPr sz="1800">
              <a:latin typeface="Arial"/>
              <a:cs typeface="Arial"/>
            </a:endParaRPr>
          </a:p>
          <a:p>
            <a:pPr marL="90805" marR="111760">
              <a:lnSpc>
                <a:spcPts val="2160"/>
              </a:lnSpc>
            </a:pPr>
            <a:r>
              <a:rPr sz="1800" spc="40" dirty="0">
                <a:solidFill>
                  <a:srgbClr val="404040"/>
                </a:solidFill>
                <a:latin typeface="Arial"/>
                <a:cs typeface="Arial"/>
              </a:rPr>
              <a:t>option </a:t>
            </a:r>
            <a:r>
              <a:rPr sz="1800" spc="-45" dirty="0">
                <a:solidFill>
                  <a:srgbClr val="404040"/>
                </a:solidFill>
                <a:latin typeface="Arial"/>
                <a:cs typeface="Arial"/>
              </a:rPr>
              <a:t>is </a:t>
            </a:r>
            <a:r>
              <a:rPr sz="1800" spc="-80" dirty="0">
                <a:solidFill>
                  <a:srgbClr val="404040"/>
                </a:solidFill>
                <a:latin typeface="Arial"/>
                <a:cs typeface="Arial"/>
              </a:rPr>
              <a:t>used </a:t>
            </a:r>
            <a:r>
              <a:rPr sz="1800" spc="45" dirty="0">
                <a:solidFill>
                  <a:srgbClr val="404040"/>
                </a:solidFill>
                <a:latin typeface="Arial"/>
                <a:cs typeface="Arial"/>
              </a:rPr>
              <a:t>to </a:t>
            </a:r>
            <a:r>
              <a:rPr sz="1800" spc="40" dirty="0">
                <a:solidFill>
                  <a:srgbClr val="404040"/>
                </a:solidFill>
                <a:latin typeface="Arial"/>
                <a:cs typeface="Arial"/>
              </a:rPr>
              <a:t>bind </a:t>
            </a:r>
            <a:r>
              <a:rPr sz="1800" dirty="0">
                <a:solidFill>
                  <a:srgbClr val="404040"/>
                </a:solidFill>
                <a:latin typeface="Arial"/>
                <a:cs typeface="Arial"/>
              </a:rPr>
              <a:t>the  </a:t>
            </a:r>
            <a:r>
              <a:rPr sz="1800" spc="5" dirty="0">
                <a:solidFill>
                  <a:srgbClr val="404040"/>
                </a:solidFill>
                <a:latin typeface="Arial"/>
                <a:cs typeface="Arial"/>
              </a:rPr>
              <a:t>view </a:t>
            </a:r>
            <a:r>
              <a:rPr sz="1800" spc="50" dirty="0">
                <a:solidFill>
                  <a:srgbClr val="404040"/>
                </a:solidFill>
                <a:latin typeface="Arial"/>
                <a:cs typeface="Arial"/>
              </a:rPr>
              <a:t>to </a:t>
            </a:r>
            <a:r>
              <a:rPr sz="1800" dirty="0">
                <a:solidFill>
                  <a:srgbClr val="404040"/>
                </a:solidFill>
                <a:latin typeface="Arial"/>
                <a:cs typeface="Arial"/>
              </a:rPr>
              <a:t>the </a:t>
            </a:r>
            <a:r>
              <a:rPr sz="1800" spc="-95" dirty="0">
                <a:solidFill>
                  <a:srgbClr val="404040"/>
                </a:solidFill>
                <a:latin typeface="Arial"/>
                <a:cs typeface="Arial"/>
              </a:rPr>
              <a:t>schema </a:t>
            </a:r>
            <a:r>
              <a:rPr sz="1800" spc="50" dirty="0">
                <a:solidFill>
                  <a:srgbClr val="404040"/>
                </a:solidFill>
                <a:latin typeface="Arial"/>
                <a:cs typeface="Arial"/>
              </a:rPr>
              <a:t>of </a:t>
            </a:r>
            <a:r>
              <a:rPr sz="1800" dirty="0">
                <a:solidFill>
                  <a:srgbClr val="404040"/>
                </a:solidFill>
                <a:latin typeface="Arial"/>
                <a:cs typeface="Arial"/>
              </a:rPr>
              <a:t>the  </a:t>
            </a:r>
            <a:r>
              <a:rPr sz="1800" spc="-55" dirty="0">
                <a:solidFill>
                  <a:srgbClr val="404040"/>
                </a:solidFill>
                <a:latin typeface="Arial"/>
                <a:cs typeface="Arial"/>
              </a:rPr>
              <a:t>tables</a:t>
            </a:r>
            <a:r>
              <a:rPr sz="1800" spc="-130" dirty="0">
                <a:solidFill>
                  <a:srgbClr val="404040"/>
                </a:solidFill>
                <a:latin typeface="Arial"/>
                <a:cs typeface="Arial"/>
              </a:rPr>
              <a:t> </a:t>
            </a:r>
            <a:r>
              <a:rPr sz="1800" spc="25" dirty="0">
                <a:solidFill>
                  <a:srgbClr val="404040"/>
                </a:solidFill>
                <a:latin typeface="Arial"/>
                <a:cs typeface="Arial"/>
              </a:rPr>
              <a:t>that</a:t>
            </a:r>
            <a:r>
              <a:rPr sz="1800" spc="-130" dirty="0">
                <a:solidFill>
                  <a:srgbClr val="404040"/>
                </a:solidFill>
                <a:latin typeface="Arial"/>
                <a:cs typeface="Arial"/>
              </a:rPr>
              <a:t> </a:t>
            </a:r>
            <a:r>
              <a:rPr sz="1800" spc="-90" dirty="0">
                <a:solidFill>
                  <a:srgbClr val="404040"/>
                </a:solidFill>
                <a:latin typeface="Arial"/>
                <a:cs typeface="Arial"/>
              </a:rPr>
              <a:t>are</a:t>
            </a:r>
            <a:r>
              <a:rPr sz="1800" spc="-125" dirty="0">
                <a:solidFill>
                  <a:srgbClr val="404040"/>
                </a:solidFill>
                <a:latin typeface="Arial"/>
                <a:cs typeface="Arial"/>
              </a:rPr>
              <a:t> </a:t>
            </a:r>
            <a:r>
              <a:rPr sz="1800" spc="10" dirty="0">
                <a:solidFill>
                  <a:srgbClr val="404040"/>
                </a:solidFill>
                <a:latin typeface="Arial"/>
                <a:cs typeface="Arial"/>
              </a:rPr>
              <a:t>included</a:t>
            </a:r>
            <a:r>
              <a:rPr sz="1800" spc="-130" dirty="0">
                <a:solidFill>
                  <a:srgbClr val="404040"/>
                </a:solidFill>
                <a:latin typeface="Arial"/>
                <a:cs typeface="Arial"/>
              </a:rPr>
              <a:t> </a:t>
            </a:r>
            <a:r>
              <a:rPr sz="1800" spc="85" dirty="0">
                <a:solidFill>
                  <a:srgbClr val="404040"/>
                </a:solidFill>
                <a:latin typeface="Arial"/>
                <a:cs typeface="Arial"/>
              </a:rPr>
              <a:t>in</a:t>
            </a:r>
            <a:r>
              <a:rPr sz="1800" spc="-130" dirty="0">
                <a:solidFill>
                  <a:srgbClr val="404040"/>
                </a:solidFill>
                <a:latin typeface="Arial"/>
                <a:cs typeface="Arial"/>
              </a:rPr>
              <a:t> </a:t>
            </a:r>
            <a:r>
              <a:rPr sz="1800" dirty="0">
                <a:solidFill>
                  <a:srgbClr val="404040"/>
                </a:solidFill>
                <a:latin typeface="Arial"/>
                <a:cs typeface="Arial"/>
              </a:rPr>
              <a:t>the  </a:t>
            </a:r>
            <a:r>
              <a:rPr sz="1800" spc="-5" dirty="0">
                <a:solidFill>
                  <a:srgbClr val="404040"/>
                </a:solidFill>
                <a:latin typeface="Arial"/>
                <a:cs typeface="Arial"/>
              </a:rPr>
              <a:t>view.</a:t>
            </a:r>
            <a:endParaRPr sz="1800">
              <a:latin typeface="Arial"/>
              <a:cs typeface="Arial"/>
            </a:endParaRPr>
          </a:p>
        </p:txBody>
      </p:sp>
      <p:grpSp>
        <p:nvGrpSpPr>
          <p:cNvPr id="10" name="object 10"/>
          <p:cNvGrpSpPr/>
          <p:nvPr/>
        </p:nvGrpSpPr>
        <p:grpSpPr>
          <a:xfrm>
            <a:off x="5706617" y="2250185"/>
            <a:ext cx="3442970" cy="2872740"/>
            <a:chOff x="5706617" y="2250185"/>
            <a:chExt cx="3442970" cy="2872740"/>
          </a:xfrm>
        </p:grpSpPr>
        <p:sp>
          <p:nvSpPr>
            <p:cNvPr id="11" name="object 11"/>
            <p:cNvSpPr/>
            <p:nvPr/>
          </p:nvSpPr>
          <p:spPr>
            <a:xfrm>
              <a:off x="5711570" y="2255138"/>
              <a:ext cx="3432810" cy="2863215"/>
            </a:xfrm>
            <a:custGeom>
              <a:avLst/>
              <a:gdLst/>
              <a:ahLst/>
              <a:cxnLst/>
              <a:rect l="l" t="t" r="r" b="b"/>
              <a:pathLst>
                <a:path w="3432809" h="2863215">
                  <a:moveTo>
                    <a:pt x="3432809" y="0"/>
                  </a:moveTo>
                  <a:lnTo>
                    <a:pt x="0" y="0"/>
                  </a:lnTo>
                  <a:lnTo>
                    <a:pt x="0" y="2862833"/>
                  </a:lnTo>
                  <a:lnTo>
                    <a:pt x="3432809" y="2862833"/>
                  </a:lnTo>
                  <a:lnTo>
                    <a:pt x="3432809" y="0"/>
                  </a:lnTo>
                  <a:close/>
                </a:path>
              </a:pathLst>
            </a:custGeom>
            <a:solidFill>
              <a:srgbClr val="FFFFFF"/>
            </a:solidFill>
          </p:spPr>
          <p:txBody>
            <a:bodyPr wrap="square" lIns="0" tIns="0" rIns="0" bIns="0" rtlCol="0"/>
            <a:lstStyle/>
            <a:p>
              <a:endParaRPr/>
            </a:p>
          </p:txBody>
        </p:sp>
        <p:sp>
          <p:nvSpPr>
            <p:cNvPr id="12" name="object 12"/>
            <p:cNvSpPr/>
            <p:nvPr/>
          </p:nvSpPr>
          <p:spPr>
            <a:xfrm>
              <a:off x="5711570" y="2255138"/>
              <a:ext cx="3432810" cy="2863215"/>
            </a:xfrm>
            <a:custGeom>
              <a:avLst/>
              <a:gdLst/>
              <a:ahLst/>
              <a:cxnLst/>
              <a:rect l="l" t="t" r="r" b="b"/>
              <a:pathLst>
                <a:path w="3432809" h="2863215">
                  <a:moveTo>
                    <a:pt x="0" y="2862833"/>
                  </a:moveTo>
                  <a:lnTo>
                    <a:pt x="3432809" y="2862833"/>
                  </a:lnTo>
                  <a:lnTo>
                    <a:pt x="3432809" y="0"/>
                  </a:lnTo>
                  <a:lnTo>
                    <a:pt x="0" y="0"/>
                  </a:lnTo>
                  <a:lnTo>
                    <a:pt x="0" y="2862833"/>
                  </a:lnTo>
                  <a:close/>
                </a:path>
              </a:pathLst>
            </a:custGeom>
            <a:ln w="9906">
              <a:solidFill>
                <a:srgbClr val="205868"/>
              </a:solidFill>
            </a:ln>
          </p:spPr>
          <p:txBody>
            <a:bodyPr wrap="square" lIns="0" tIns="0" rIns="0" bIns="0" rtlCol="0"/>
            <a:lstStyle/>
            <a:p>
              <a:endParaRPr/>
            </a:p>
          </p:txBody>
        </p:sp>
      </p:grpSp>
      <p:sp>
        <p:nvSpPr>
          <p:cNvPr id="13" name="object 13"/>
          <p:cNvSpPr txBox="1"/>
          <p:nvPr/>
        </p:nvSpPr>
        <p:spPr>
          <a:xfrm>
            <a:off x="5716523" y="2242565"/>
            <a:ext cx="3428365" cy="2769235"/>
          </a:xfrm>
          <a:prstGeom prst="rect">
            <a:avLst/>
          </a:prstGeom>
        </p:spPr>
        <p:txBody>
          <a:bodyPr vert="horz" wrap="square" lIns="0" tIns="12700" rIns="0" bIns="0" rtlCol="0">
            <a:spAutoFit/>
          </a:bodyPr>
          <a:lstStyle/>
          <a:p>
            <a:pPr marL="86360" marR="564515" indent="49530">
              <a:lnSpc>
                <a:spcPct val="100000"/>
              </a:lnSpc>
              <a:spcBef>
                <a:spcPts val="100"/>
              </a:spcBef>
            </a:pPr>
            <a:r>
              <a:rPr sz="1800" spc="105" dirty="0">
                <a:solidFill>
                  <a:srgbClr val="404040"/>
                </a:solidFill>
                <a:latin typeface="Arial"/>
                <a:cs typeface="Arial"/>
              </a:rPr>
              <a:t>If </a:t>
            </a:r>
            <a:r>
              <a:rPr sz="1800" spc="-90" dirty="0">
                <a:solidFill>
                  <a:srgbClr val="404040"/>
                </a:solidFill>
                <a:latin typeface="Arial"/>
                <a:cs typeface="Arial"/>
              </a:rPr>
              <a:t>changes are </a:t>
            </a:r>
            <a:r>
              <a:rPr sz="1800" spc="-85" dirty="0">
                <a:solidFill>
                  <a:srgbClr val="404040"/>
                </a:solidFill>
                <a:latin typeface="Arial"/>
                <a:cs typeface="Arial"/>
              </a:rPr>
              <a:t>made </a:t>
            </a:r>
            <a:r>
              <a:rPr sz="1800" spc="45" dirty="0">
                <a:solidFill>
                  <a:srgbClr val="404040"/>
                </a:solidFill>
                <a:latin typeface="Arial"/>
                <a:cs typeface="Arial"/>
              </a:rPr>
              <a:t>to </a:t>
            </a:r>
            <a:r>
              <a:rPr sz="1800" dirty="0">
                <a:solidFill>
                  <a:srgbClr val="404040"/>
                </a:solidFill>
                <a:latin typeface="Arial"/>
                <a:cs typeface="Arial"/>
              </a:rPr>
              <a:t>the  </a:t>
            </a:r>
            <a:r>
              <a:rPr sz="1800" spc="15" dirty="0">
                <a:solidFill>
                  <a:srgbClr val="404040"/>
                </a:solidFill>
                <a:latin typeface="Arial"/>
                <a:cs typeface="Arial"/>
              </a:rPr>
              <a:t>underlying </a:t>
            </a:r>
            <a:r>
              <a:rPr sz="1800" spc="-40" dirty="0">
                <a:solidFill>
                  <a:srgbClr val="404040"/>
                </a:solidFill>
                <a:latin typeface="Arial"/>
                <a:cs typeface="Arial"/>
              </a:rPr>
              <a:t>objects </a:t>
            </a:r>
            <a:r>
              <a:rPr sz="1800" spc="-50" dirty="0">
                <a:solidFill>
                  <a:srgbClr val="404040"/>
                </a:solidFill>
                <a:latin typeface="Arial"/>
                <a:cs typeface="Arial"/>
              </a:rPr>
              <a:t>(tables</a:t>
            </a:r>
            <a:r>
              <a:rPr sz="1800" spc="-365" dirty="0">
                <a:solidFill>
                  <a:srgbClr val="404040"/>
                </a:solidFill>
                <a:latin typeface="Arial"/>
                <a:cs typeface="Arial"/>
              </a:rPr>
              <a:t> </a:t>
            </a:r>
            <a:r>
              <a:rPr sz="1800" spc="25" dirty="0">
                <a:solidFill>
                  <a:srgbClr val="404040"/>
                </a:solidFill>
                <a:latin typeface="Arial"/>
                <a:cs typeface="Arial"/>
              </a:rPr>
              <a:t>or  </a:t>
            </a:r>
            <a:r>
              <a:rPr sz="1800" spc="-30" dirty="0">
                <a:solidFill>
                  <a:srgbClr val="404040"/>
                </a:solidFill>
                <a:latin typeface="Arial"/>
                <a:cs typeface="Arial"/>
              </a:rPr>
              <a:t>views) </a:t>
            </a:r>
            <a:r>
              <a:rPr sz="1800" spc="20" dirty="0">
                <a:solidFill>
                  <a:srgbClr val="404040"/>
                </a:solidFill>
                <a:latin typeface="Arial"/>
                <a:cs typeface="Arial"/>
              </a:rPr>
              <a:t>on </a:t>
            </a:r>
            <a:r>
              <a:rPr sz="1800" spc="35" dirty="0">
                <a:solidFill>
                  <a:srgbClr val="404040"/>
                </a:solidFill>
                <a:latin typeface="Arial"/>
                <a:cs typeface="Arial"/>
              </a:rPr>
              <a:t>which </a:t>
            </a:r>
            <a:r>
              <a:rPr sz="1800" dirty="0">
                <a:solidFill>
                  <a:srgbClr val="404040"/>
                </a:solidFill>
                <a:latin typeface="Arial"/>
                <a:cs typeface="Arial"/>
              </a:rPr>
              <a:t>the </a:t>
            </a:r>
            <a:r>
              <a:rPr sz="1800" spc="5" dirty="0">
                <a:solidFill>
                  <a:srgbClr val="404040"/>
                </a:solidFill>
                <a:latin typeface="Arial"/>
                <a:cs typeface="Arial"/>
              </a:rPr>
              <a:t>view  </a:t>
            </a:r>
            <a:r>
              <a:rPr sz="1800" spc="-60" dirty="0">
                <a:solidFill>
                  <a:srgbClr val="404040"/>
                </a:solidFill>
                <a:latin typeface="Arial"/>
                <a:cs typeface="Arial"/>
              </a:rPr>
              <a:t>depends, </a:t>
            </a:r>
            <a:r>
              <a:rPr sz="1800" dirty="0">
                <a:solidFill>
                  <a:srgbClr val="404040"/>
                </a:solidFill>
                <a:latin typeface="Arial"/>
                <a:cs typeface="Arial"/>
              </a:rPr>
              <a:t>the </a:t>
            </a:r>
            <a:r>
              <a:rPr sz="1800" spc="-70" dirty="0">
                <a:solidFill>
                  <a:srgbClr val="404040"/>
                </a:solidFill>
                <a:latin typeface="Arial"/>
                <a:cs typeface="Arial"/>
              </a:rPr>
              <a:t>sp_refreshview  </a:t>
            </a:r>
            <a:r>
              <a:rPr sz="1800" spc="-30" dirty="0">
                <a:solidFill>
                  <a:srgbClr val="404040"/>
                </a:solidFill>
                <a:latin typeface="Arial"/>
                <a:cs typeface="Arial"/>
              </a:rPr>
              <a:t>stored </a:t>
            </a:r>
            <a:r>
              <a:rPr sz="1800" spc="-25" dirty="0">
                <a:solidFill>
                  <a:srgbClr val="404040"/>
                </a:solidFill>
                <a:latin typeface="Arial"/>
                <a:cs typeface="Arial"/>
              </a:rPr>
              <a:t>procedure </a:t>
            </a:r>
            <a:r>
              <a:rPr sz="1800" dirty="0">
                <a:solidFill>
                  <a:srgbClr val="404040"/>
                </a:solidFill>
                <a:latin typeface="Arial"/>
                <a:cs typeface="Arial"/>
              </a:rPr>
              <a:t>should </a:t>
            </a:r>
            <a:r>
              <a:rPr sz="1800" spc="-90" dirty="0">
                <a:solidFill>
                  <a:srgbClr val="404040"/>
                </a:solidFill>
                <a:latin typeface="Arial"/>
                <a:cs typeface="Arial"/>
              </a:rPr>
              <a:t>be  </a:t>
            </a:r>
            <a:r>
              <a:rPr sz="1800" spc="-45" dirty="0">
                <a:solidFill>
                  <a:srgbClr val="404040"/>
                </a:solidFill>
                <a:latin typeface="Arial"/>
                <a:cs typeface="Arial"/>
              </a:rPr>
              <a:t>executed.</a:t>
            </a:r>
            <a:endParaRPr sz="1800">
              <a:latin typeface="Arial"/>
              <a:cs typeface="Arial"/>
            </a:endParaRPr>
          </a:p>
          <a:p>
            <a:pPr marL="86360" marR="203200">
              <a:lnSpc>
                <a:spcPct val="100000"/>
              </a:lnSpc>
              <a:spcBef>
                <a:spcPts val="2160"/>
              </a:spcBef>
            </a:pPr>
            <a:r>
              <a:rPr sz="1800" spc="15" dirty="0">
                <a:solidFill>
                  <a:srgbClr val="404040"/>
                </a:solidFill>
                <a:latin typeface="Arial"/>
                <a:cs typeface="Arial"/>
              </a:rPr>
              <a:t>The </a:t>
            </a:r>
            <a:r>
              <a:rPr sz="1800" spc="-70" dirty="0">
                <a:solidFill>
                  <a:srgbClr val="404040"/>
                </a:solidFill>
                <a:latin typeface="Arial"/>
                <a:cs typeface="Arial"/>
              </a:rPr>
              <a:t>sp_refreshview </a:t>
            </a:r>
            <a:r>
              <a:rPr sz="1800" spc="-30" dirty="0">
                <a:solidFill>
                  <a:srgbClr val="404040"/>
                </a:solidFill>
                <a:latin typeface="Arial"/>
                <a:cs typeface="Arial"/>
              </a:rPr>
              <a:t>stored  procedure </a:t>
            </a:r>
            <a:r>
              <a:rPr sz="1800" spc="-55" dirty="0">
                <a:solidFill>
                  <a:srgbClr val="404040"/>
                </a:solidFill>
                <a:latin typeface="Arial"/>
                <a:cs typeface="Arial"/>
              </a:rPr>
              <a:t>updates </a:t>
            </a:r>
            <a:r>
              <a:rPr sz="1800" dirty="0">
                <a:solidFill>
                  <a:srgbClr val="404040"/>
                </a:solidFill>
                <a:latin typeface="Arial"/>
                <a:cs typeface="Arial"/>
              </a:rPr>
              <a:t>the</a:t>
            </a:r>
            <a:r>
              <a:rPr sz="1800" spc="-315" dirty="0">
                <a:solidFill>
                  <a:srgbClr val="404040"/>
                </a:solidFill>
                <a:latin typeface="Arial"/>
                <a:cs typeface="Arial"/>
              </a:rPr>
              <a:t> </a:t>
            </a:r>
            <a:r>
              <a:rPr sz="1800" spc="-55" dirty="0">
                <a:solidFill>
                  <a:srgbClr val="404040"/>
                </a:solidFill>
                <a:latin typeface="Arial"/>
                <a:cs typeface="Arial"/>
              </a:rPr>
              <a:t>metadata  </a:t>
            </a:r>
            <a:r>
              <a:rPr sz="1800" spc="60" dirty="0">
                <a:solidFill>
                  <a:srgbClr val="404040"/>
                </a:solidFill>
                <a:latin typeface="Arial"/>
                <a:cs typeface="Arial"/>
              </a:rPr>
              <a:t>for </a:t>
            </a:r>
            <a:r>
              <a:rPr sz="1800" dirty="0">
                <a:solidFill>
                  <a:srgbClr val="404040"/>
                </a:solidFill>
                <a:latin typeface="Arial"/>
                <a:cs typeface="Arial"/>
              </a:rPr>
              <a:t>the</a:t>
            </a:r>
            <a:r>
              <a:rPr sz="1800" spc="-295" dirty="0">
                <a:solidFill>
                  <a:srgbClr val="404040"/>
                </a:solidFill>
                <a:latin typeface="Arial"/>
                <a:cs typeface="Arial"/>
              </a:rPr>
              <a:t> </a:t>
            </a:r>
            <a:r>
              <a:rPr sz="1800" spc="-5" dirty="0">
                <a:solidFill>
                  <a:srgbClr val="404040"/>
                </a:solidFill>
                <a:latin typeface="Arial"/>
                <a:cs typeface="Arial"/>
              </a:rPr>
              <a:t>view.</a:t>
            </a:r>
            <a:endParaRPr sz="1800">
              <a:latin typeface="Arial"/>
              <a:cs typeface="Arial"/>
            </a:endParaRPr>
          </a:p>
        </p:txBody>
      </p:sp>
      <p:sp>
        <p:nvSpPr>
          <p:cNvPr id="15" name="object 1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25</a:t>
            </a:fld>
            <a:endParaRPr sz="1200"/>
          </a:p>
        </p:txBody>
      </p:sp>
      <p:sp>
        <p:nvSpPr>
          <p:cNvPr id="16" name="object 1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987" y="0"/>
            <a:ext cx="4721225" cy="635635"/>
          </a:xfrm>
          <a:prstGeom prst="rect">
            <a:avLst/>
          </a:prstGeom>
        </p:spPr>
        <p:txBody>
          <a:bodyPr vert="horz" wrap="square" lIns="0" tIns="12700" rIns="0" bIns="0" rtlCol="0">
            <a:spAutoFit/>
          </a:bodyPr>
          <a:lstStyle/>
          <a:p>
            <a:pPr marL="12700">
              <a:lnSpc>
                <a:spcPct val="100000"/>
              </a:lnSpc>
              <a:spcBef>
                <a:spcPts val="100"/>
              </a:spcBef>
            </a:pPr>
            <a:r>
              <a:rPr sz="4000" b="0" spc="-40" dirty="0">
                <a:latin typeface="Arial"/>
                <a:cs typeface="Arial"/>
              </a:rPr>
              <a:t>Stored </a:t>
            </a:r>
            <a:r>
              <a:rPr sz="4000" b="0" spc="-135" dirty="0">
                <a:latin typeface="Arial"/>
                <a:cs typeface="Arial"/>
              </a:rPr>
              <a:t>Procedures</a:t>
            </a:r>
            <a:r>
              <a:rPr sz="4000" b="0" spc="-540" dirty="0">
                <a:latin typeface="Arial"/>
                <a:cs typeface="Arial"/>
              </a:rPr>
              <a:t> </a:t>
            </a:r>
            <a:r>
              <a:rPr sz="4000" b="0" spc="-400" dirty="0">
                <a:latin typeface="Arial"/>
                <a:cs typeface="Arial"/>
              </a:rPr>
              <a:t>1-2</a:t>
            </a:r>
            <a:endParaRPr sz="4000">
              <a:latin typeface="Arial"/>
              <a:cs typeface="Arial"/>
            </a:endParaRPr>
          </a:p>
        </p:txBody>
      </p:sp>
      <p:sp>
        <p:nvSpPr>
          <p:cNvPr id="3" name="object 3"/>
          <p:cNvSpPr/>
          <p:nvPr/>
        </p:nvSpPr>
        <p:spPr>
          <a:xfrm>
            <a:off x="397764" y="893825"/>
            <a:ext cx="8255000" cy="2988945"/>
          </a:xfrm>
          <a:custGeom>
            <a:avLst/>
            <a:gdLst/>
            <a:ahLst/>
            <a:cxnLst/>
            <a:rect l="l" t="t" r="r" b="b"/>
            <a:pathLst>
              <a:path w="8255000" h="2988945">
                <a:moveTo>
                  <a:pt x="8254746" y="498094"/>
                </a:moveTo>
                <a:lnTo>
                  <a:pt x="8252460" y="450126"/>
                </a:lnTo>
                <a:lnTo>
                  <a:pt x="8245754" y="403453"/>
                </a:lnTo>
                <a:lnTo>
                  <a:pt x="8234845" y="358267"/>
                </a:lnTo>
                <a:lnTo>
                  <a:pt x="8219922" y="314794"/>
                </a:lnTo>
                <a:lnTo>
                  <a:pt x="8201215" y="273240"/>
                </a:lnTo>
                <a:lnTo>
                  <a:pt x="8178914" y="233807"/>
                </a:lnTo>
                <a:lnTo>
                  <a:pt x="8153235" y="196710"/>
                </a:lnTo>
                <a:lnTo>
                  <a:pt x="8124393" y="162153"/>
                </a:lnTo>
                <a:lnTo>
                  <a:pt x="8092592" y="130352"/>
                </a:lnTo>
                <a:lnTo>
                  <a:pt x="8058036" y="101511"/>
                </a:lnTo>
                <a:lnTo>
                  <a:pt x="8020939" y="75831"/>
                </a:lnTo>
                <a:lnTo>
                  <a:pt x="7981505" y="53530"/>
                </a:lnTo>
                <a:lnTo>
                  <a:pt x="7939951" y="34823"/>
                </a:lnTo>
                <a:lnTo>
                  <a:pt x="7896479" y="19900"/>
                </a:lnTo>
                <a:lnTo>
                  <a:pt x="7851292" y="8991"/>
                </a:lnTo>
                <a:lnTo>
                  <a:pt x="7804620" y="2286"/>
                </a:lnTo>
                <a:lnTo>
                  <a:pt x="7756652" y="0"/>
                </a:lnTo>
                <a:lnTo>
                  <a:pt x="498106" y="0"/>
                </a:lnTo>
                <a:lnTo>
                  <a:pt x="450126" y="2286"/>
                </a:lnTo>
                <a:lnTo>
                  <a:pt x="403453" y="8991"/>
                </a:lnTo>
                <a:lnTo>
                  <a:pt x="358267" y="19900"/>
                </a:lnTo>
                <a:lnTo>
                  <a:pt x="314794" y="34823"/>
                </a:lnTo>
                <a:lnTo>
                  <a:pt x="273240" y="53530"/>
                </a:lnTo>
                <a:lnTo>
                  <a:pt x="233807" y="75831"/>
                </a:lnTo>
                <a:lnTo>
                  <a:pt x="196697" y="101511"/>
                </a:lnTo>
                <a:lnTo>
                  <a:pt x="162140" y="130352"/>
                </a:lnTo>
                <a:lnTo>
                  <a:pt x="130340" y="162153"/>
                </a:lnTo>
                <a:lnTo>
                  <a:pt x="101498" y="196710"/>
                </a:lnTo>
                <a:lnTo>
                  <a:pt x="75819" y="233807"/>
                </a:lnTo>
                <a:lnTo>
                  <a:pt x="53517" y="273240"/>
                </a:lnTo>
                <a:lnTo>
                  <a:pt x="34810" y="314794"/>
                </a:lnTo>
                <a:lnTo>
                  <a:pt x="19888" y="358267"/>
                </a:lnTo>
                <a:lnTo>
                  <a:pt x="8978" y="403453"/>
                </a:lnTo>
                <a:lnTo>
                  <a:pt x="2273" y="450126"/>
                </a:lnTo>
                <a:lnTo>
                  <a:pt x="0" y="498094"/>
                </a:lnTo>
                <a:lnTo>
                  <a:pt x="0" y="2490470"/>
                </a:lnTo>
                <a:lnTo>
                  <a:pt x="2273" y="2538450"/>
                </a:lnTo>
                <a:lnTo>
                  <a:pt x="8978" y="2585123"/>
                </a:lnTo>
                <a:lnTo>
                  <a:pt x="19888" y="2630309"/>
                </a:lnTo>
                <a:lnTo>
                  <a:pt x="34810" y="2673781"/>
                </a:lnTo>
                <a:lnTo>
                  <a:pt x="53517" y="2715336"/>
                </a:lnTo>
                <a:lnTo>
                  <a:pt x="75819" y="2754769"/>
                </a:lnTo>
                <a:lnTo>
                  <a:pt x="101498" y="2791866"/>
                </a:lnTo>
                <a:lnTo>
                  <a:pt x="130340" y="2826423"/>
                </a:lnTo>
                <a:lnTo>
                  <a:pt x="162140" y="2858224"/>
                </a:lnTo>
                <a:lnTo>
                  <a:pt x="196697" y="2887065"/>
                </a:lnTo>
                <a:lnTo>
                  <a:pt x="233807" y="2912745"/>
                </a:lnTo>
                <a:lnTo>
                  <a:pt x="273240" y="2935046"/>
                </a:lnTo>
                <a:lnTo>
                  <a:pt x="314794" y="2953753"/>
                </a:lnTo>
                <a:lnTo>
                  <a:pt x="358267" y="2968675"/>
                </a:lnTo>
                <a:lnTo>
                  <a:pt x="403453" y="2979585"/>
                </a:lnTo>
                <a:lnTo>
                  <a:pt x="450126" y="2986290"/>
                </a:lnTo>
                <a:lnTo>
                  <a:pt x="498106" y="2988564"/>
                </a:lnTo>
                <a:lnTo>
                  <a:pt x="7756652" y="2988564"/>
                </a:lnTo>
                <a:lnTo>
                  <a:pt x="7804620" y="2986290"/>
                </a:lnTo>
                <a:lnTo>
                  <a:pt x="7851292" y="2979585"/>
                </a:lnTo>
                <a:lnTo>
                  <a:pt x="7896479" y="2968675"/>
                </a:lnTo>
                <a:lnTo>
                  <a:pt x="7939951" y="2953753"/>
                </a:lnTo>
                <a:lnTo>
                  <a:pt x="7981505" y="2935046"/>
                </a:lnTo>
                <a:lnTo>
                  <a:pt x="8020939" y="2912745"/>
                </a:lnTo>
                <a:lnTo>
                  <a:pt x="8058036" y="2887065"/>
                </a:lnTo>
                <a:lnTo>
                  <a:pt x="8092592" y="2858224"/>
                </a:lnTo>
                <a:lnTo>
                  <a:pt x="8124393" y="2826423"/>
                </a:lnTo>
                <a:lnTo>
                  <a:pt x="8153235" y="2791866"/>
                </a:lnTo>
                <a:lnTo>
                  <a:pt x="8178914" y="2754769"/>
                </a:lnTo>
                <a:lnTo>
                  <a:pt x="8201215" y="2715336"/>
                </a:lnTo>
                <a:lnTo>
                  <a:pt x="8219922" y="2673781"/>
                </a:lnTo>
                <a:lnTo>
                  <a:pt x="8234845" y="2630309"/>
                </a:lnTo>
                <a:lnTo>
                  <a:pt x="8245754" y="2585123"/>
                </a:lnTo>
                <a:lnTo>
                  <a:pt x="8252460" y="2538450"/>
                </a:lnTo>
                <a:lnTo>
                  <a:pt x="8254746" y="2490470"/>
                </a:lnTo>
                <a:lnTo>
                  <a:pt x="8254746" y="498094"/>
                </a:lnTo>
                <a:close/>
              </a:path>
            </a:pathLst>
          </a:custGeom>
          <a:solidFill>
            <a:srgbClr val="4F81BC"/>
          </a:solidFill>
        </p:spPr>
        <p:txBody>
          <a:bodyPr wrap="square" lIns="0" tIns="0" rIns="0" bIns="0" rtlCol="0"/>
          <a:lstStyle/>
          <a:p>
            <a:endParaRPr/>
          </a:p>
        </p:txBody>
      </p:sp>
      <p:sp>
        <p:nvSpPr>
          <p:cNvPr id="4" name="object 4"/>
          <p:cNvSpPr txBox="1"/>
          <p:nvPr/>
        </p:nvSpPr>
        <p:spPr>
          <a:xfrm>
            <a:off x="540004" y="1135380"/>
            <a:ext cx="7988300" cy="2367280"/>
          </a:xfrm>
          <a:prstGeom prst="rect">
            <a:avLst/>
          </a:prstGeom>
        </p:spPr>
        <p:txBody>
          <a:bodyPr vert="horz" wrap="square" lIns="0" tIns="54610" rIns="0" bIns="0" rtlCol="0">
            <a:spAutoFit/>
          </a:bodyPr>
          <a:lstStyle/>
          <a:p>
            <a:pPr marL="354965" marR="5080" indent="-342900" algn="just">
              <a:lnSpc>
                <a:spcPts val="2590"/>
              </a:lnSpc>
              <a:spcBef>
                <a:spcPts val="430"/>
              </a:spcBef>
              <a:buFont typeface="Wingdings"/>
              <a:buChar char=""/>
              <a:tabLst>
                <a:tab pos="355600" algn="l"/>
              </a:tabLst>
            </a:pPr>
            <a:r>
              <a:rPr sz="2400" spc="345" dirty="0">
                <a:solidFill>
                  <a:srgbClr val="FFFFFF"/>
                </a:solidFill>
                <a:latin typeface="Arial"/>
                <a:cs typeface="Arial"/>
              </a:rPr>
              <a:t>A</a:t>
            </a:r>
            <a:r>
              <a:rPr sz="2400" spc="-145" dirty="0">
                <a:solidFill>
                  <a:srgbClr val="FFFFFF"/>
                </a:solidFill>
                <a:latin typeface="Arial"/>
                <a:cs typeface="Arial"/>
              </a:rPr>
              <a:t> </a:t>
            </a:r>
            <a:r>
              <a:rPr sz="2400" spc="-40" dirty="0">
                <a:solidFill>
                  <a:srgbClr val="FFFFFF"/>
                </a:solidFill>
                <a:latin typeface="Arial"/>
                <a:cs typeface="Arial"/>
              </a:rPr>
              <a:t>stored</a:t>
            </a:r>
            <a:r>
              <a:rPr sz="2400" spc="-145" dirty="0">
                <a:solidFill>
                  <a:srgbClr val="FFFFFF"/>
                </a:solidFill>
                <a:latin typeface="Arial"/>
                <a:cs typeface="Arial"/>
              </a:rPr>
              <a:t> </a:t>
            </a:r>
            <a:r>
              <a:rPr sz="2400" spc="-35" dirty="0">
                <a:solidFill>
                  <a:srgbClr val="FFFFFF"/>
                </a:solidFill>
                <a:latin typeface="Arial"/>
                <a:cs typeface="Arial"/>
              </a:rPr>
              <a:t>procedure</a:t>
            </a:r>
            <a:r>
              <a:rPr sz="2400" spc="-145" dirty="0">
                <a:solidFill>
                  <a:srgbClr val="FFFFFF"/>
                </a:solidFill>
                <a:latin typeface="Arial"/>
                <a:cs typeface="Arial"/>
              </a:rPr>
              <a:t> </a:t>
            </a:r>
            <a:r>
              <a:rPr sz="2400" spc="-55" dirty="0">
                <a:solidFill>
                  <a:srgbClr val="FFFFFF"/>
                </a:solidFill>
                <a:latin typeface="Arial"/>
                <a:cs typeface="Arial"/>
              </a:rPr>
              <a:t>is</a:t>
            </a:r>
            <a:r>
              <a:rPr sz="2400" spc="-145" dirty="0">
                <a:solidFill>
                  <a:srgbClr val="FFFFFF"/>
                </a:solidFill>
                <a:latin typeface="Arial"/>
                <a:cs typeface="Arial"/>
              </a:rPr>
              <a:t> </a:t>
            </a:r>
            <a:r>
              <a:rPr sz="2400" spc="-229" dirty="0">
                <a:solidFill>
                  <a:srgbClr val="FFFFFF"/>
                </a:solidFill>
                <a:latin typeface="Arial"/>
                <a:cs typeface="Arial"/>
              </a:rPr>
              <a:t>a</a:t>
            </a:r>
            <a:r>
              <a:rPr sz="2400" spc="-140" dirty="0">
                <a:solidFill>
                  <a:srgbClr val="FFFFFF"/>
                </a:solidFill>
                <a:latin typeface="Arial"/>
                <a:cs typeface="Arial"/>
              </a:rPr>
              <a:t> </a:t>
            </a:r>
            <a:r>
              <a:rPr sz="2400" spc="-10" dirty="0">
                <a:solidFill>
                  <a:srgbClr val="FFFFFF"/>
                </a:solidFill>
                <a:latin typeface="Arial"/>
                <a:cs typeface="Arial"/>
              </a:rPr>
              <a:t>group</a:t>
            </a:r>
            <a:r>
              <a:rPr sz="2400" spc="-135" dirty="0">
                <a:solidFill>
                  <a:srgbClr val="FFFFFF"/>
                </a:solidFill>
                <a:latin typeface="Arial"/>
                <a:cs typeface="Arial"/>
              </a:rPr>
              <a:t> </a:t>
            </a:r>
            <a:r>
              <a:rPr sz="2400" spc="70" dirty="0">
                <a:solidFill>
                  <a:srgbClr val="FFFFFF"/>
                </a:solidFill>
                <a:latin typeface="Arial"/>
                <a:cs typeface="Arial"/>
              </a:rPr>
              <a:t>of</a:t>
            </a:r>
            <a:r>
              <a:rPr sz="2400" spc="-145" dirty="0">
                <a:solidFill>
                  <a:srgbClr val="FFFFFF"/>
                </a:solidFill>
                <a:latin typeface="Arial"/>
                <a:cs typeface="Arial"/>
              </a:rPr>
              <a:t> </a:t>
            </a:r>
            <a:r>
              <a:rPr sz="2400" spc="-15" dirty="0">
                <a:solidFill>
                  <a:srgbClr val="FFFFFF"/>
                </a:solidFill>
                <a:latin typeface="Arial"/>
                <a:cs typeface="Arial"/>
              </a:rPr>
              <a:t>Transact-SQL</a:t>
            </a:r>
            <a:r>
              <a:rPr sz="2400" spc="-150" dirty="0">
                <a:solidFill>
                  <a:srgbClr val="FFFFFF"/>
                </a:solidFill>
                <a:latin typeface="Arial"/>
                <a:cs typeface="Arial"/>
              </a:rPr>
              <a:t> </a:t>
            </a:r>
            <a:r>
              <a:rPr sz="2400" spc="-65" dirty="0">
                <a:solidFill>
                  <a:srgbClr val="FFFFFF"/>
                </a:solidFill>
                <a:latin typeface="Arial"/>
                <a:cs typeface="Arial"/>
              </a:rPr>
              <a:t>statements  </a:t>
            </a:r>
            <a:r>
              <a:rPr sz="2400" spc="35" dirty="0">
                <a:solidFill>
                  <a:srgbClr val="FFFFFF"/>
                </a:solidFill>
                <a:latin typeface="Arial"/>
                <a:cs typeface="Arial"/>
              </a:rPr>
              <a:t>that </a:t>
            </a:r>
            <a:r>
              <a:rPr sz="2400" spc="-65" dirty="0">
                <a:solidFill>
                  <a:srgbClr val="FFFFFF"/>
                </a:solidFill>
                <a:latin typeface="Arial"/>
                <a:cs typeface="Arial"/>
              </a:rPr>
              <a:t>act </a:t>
            </a:r>
            <a:r>
              <a:rPr sz="2400" spc="-250" dirty="0">
                <a:solidFill>
                  <a:srgbClr val="FFFFFF"/>
                </a:solidFill>
                <a:latin typeface="Arial"/>
                <a:cs typeface="Arial"/>
              </a:rPr>
              <a:t>as </a:t>
            </a:r>
            <a:r>
              <a:rPr sz="2400" spc="-229" dirty="0">
                <a:solidFill>
                  <a:srgbClr val="FFFFFF"/>
                </a:solidFill>
                <a:latin typeface="Arial"/>
                <a:cs typeface="Arial"/>
              </a:rPr>
              <a:t>a </a:t>
            </a:r>
            <a:r>
              <a:rPr sz="2400" spc="-45" dirty="0">
                <a:solidFill>
                  <a:srgbClr val="FFFFFF"/>
                </a:solidFill>
                <a:latin typeface="Arial"/>
                <a:cs typeface="Arial"/>
              </a:rPr>
              <a:t>single </a:t>
            </a:r>
            <a:r>
              <a:rPr sz="2400" spc="15" dirty="0">
                <a:solidFill>
                  <a:srgbClr val="FFFFFF"/>
                </a:solidFill>
                <a:latin typeface="Arial"/>
                <a:cs typeface="Arial"/>
              </a:rPr>
              <a:t>block </a:t>
            </a:r>
            <a:r>
              <a:rPr sz="2400" spc="65" dirty="0">
                <a:solidFill>
                  <a:srgbClr val="FFFFFF"/>
                </a:solidFill>
                <a:latin typeface="Arial"/>
                <a:cs typeface="Arial"/>
              </a:rPr>
              <a:t>of </a:t>
            </a:r>
            <a:r>
              <a:rPr sz="2400" spc="-85" dirty="0">
                <a:solidFill>
                  <a:srgbClr val="FFFFFF"/>
                </a:solidFill>
                <a:latin typeface="Arial"/>
                <a:cs typeface="Arial"/>
              </a:rPr>
              <a:t>code </a:t>
            </a:r>
            <a:r>
              <a:rPr sz="2400" spc="35" dirty="0">
                <a:solidFill>
                  <a:srgbClr val="FFFFFF"/>
                </a:solidFill>
                <a:latin typeface="Arial"/>
                <a:cs typeface="Arial"/>
              </a:rPr>
              <a:t>that </a:t>
            </a:r>
            <a:r>
              <a:rPr sz="2400" spc="-20" dirty="0">
                <a:solidFill>
                  <a:srgbClr val="FFFFFF"/>
                </a:solidFill>
                <a:latin typeface="Arial"/>
                <a:cs typeface="Arial"/>
              </a:rPr>
              <a:t>performs </a:t>
            </a:r>
            <a:r>
              <a:rPr sz="2400" spc="-229" dirty="0">
                <a:solidFill>
                  <a:srgbClr val="FFFFFF"/>
                </a:solidFill>
                <a:latin typeface="Arial"/>
                <a:cs typeface="Arial"/>
              </a:rPr>
              <a:t>a </a:t>
            </a:r>
            <a:r>
              <a:rPr sz="2400" spc="-35" dirty="0">
                <a:solidFill>
                  <a:srgbClr val="FFFFFF"/>
                </a:solidFill>
                <a:latin typeface="Arial"/>
                <a:cs typeface="Arial"/>
              </a:rPr>
              <a:t>specific  </a:t>
            </a:r>
            <a:r>
              <a:rPr sz="2400" spc="-60" dirty="0">
                <a:solidFill>
                  <a:srgbClr val="FFFFFF"/>
                </a:solidFill>
                <a:latin typeface="Arial"/>
                <a:cs typeface="Arial"/>
              </a:rPr>
              <a:t>task.</a:t>
            </a:r>
            <a:endParaRPr sz="2400">
              <a:latin typeface="Arial"/>
              <a:cs typeface="Arial"/>
            </a:endParaRPr>
          </a:p>
          <a:p>
            <a:pPr marL="354965" marR="6350" indent="-342900" algn="just">
              <a:lnSpc>
                <a:spcPts val="2590"/>
              </a:lnSpc>
              <a:spcBef>
                <a:spcPts val="5"/>
              </a:spcBef>
              <a:buFont typeface="Wingdings"/>
              <a:buChar char=""/>
              <a:tabLst>
                <a:tab pos="355600" algn="l"/>
              </a:tabLst>
            </a:pPr>
            <a:r>
              <a:rPr sz="2400" spc="45" dirty="0">
                <a:solidFill>
                  <a:srgbClr val="FFFFFF"/>
                </a:solidFill>
                <a:latin typeface="Arial"/>
                <a:cs typeface="Arial"/>
              </a:rPr>
              <a:t>This</a:t>
            </a:r>
            <a:r>
              <a:rPr sz="2400" spc="-120" dirty="0">
                <a:solidFill>
                  <a:srgbClr val="FFFFFF"/>
                </a:solidFill>
                <a:latin typeface="Arial"/>
                <a:cs typeface="Arial"/>
              </a:rPr>
              <a:t> </a:t>
            </a:r>
            <a:r>
              <a:rPr sz="2400" spc="15" dirty="0">
                <a:solidFill>
                  <a:srgbClr val="FFFFFF"/>
                </a:solidFill>
                <a:latin typeface="Arial"/>
                <a:cs typeface="Arial"/>
              </a:rPr>
              <a:t>block</a:t>
            </a:r>
            <a:r>
              <a:rPr sz="2400" spc="-114" dirty="0">
                <a:solidFill>
                  <a:srgbClr val="FFFFFF"/>
                </a:solidFill>
                <a:latin typeface="Arial"/>
                <a:cs typeface="Arial"/>
              </a:rPr>
              <a:t> </a:t>
            </a:r>
            <a:r>
              <a:rPr sz="2400" spc="65" dirty="0">
                <a:solidFill>
                  <a:srgbClr val="FFFFFF"/>
                </a:solidFill>
                <a:latin typeface="Arial"/>
                <a:cs typeface="Arial"/>
              </a:rPr>
              <a:t>of</a:t>
            </a:r>
            <a:r>
              <a:rPr sz="2400" spc="-130" dirty="0">
                <a:solidFill>
                  <a:srgbClr val="FFFFFF"/>
                </a:solidFill>
                <a:latin typeface="Arial"/>
                <a:cs typeface="Arial"/>
              </a:rPr>
              <a:t> </a:t>
            </a:r>
            <a:r>
              <a:rPr sz="2400" spc="-85" dirty="0">
                <a:solidFill>
                  <a:srgbClr val="FFFFFF"/>
                </a:solidFill>
                <a:latin typeface="Arial"/>
                <a:cs typeface="Arial"/>
              </a:rPr>
              <a:t>code</a:t>
            </a:r>
            <a:r>
              <a:rPr sz="2400" spc="-135" dirty="0">
                <a:solidFill>
                  <a:srgbClr val="FFFFFF"/>
                </a:solidFill>
                <a:latin typeface="Arial"/>
                <a:cs typeface="Arial"/>
              </a:rPr>
              <a:t> </a:t>
            </a:r>
            <a:r>
              <a:rPr sz="2400" spc="-55" dirty="0">
                <a:solidFill>
                  <a:srgbClr val="FFFFFF"/>
                </a:solidFill>
                <a:latin typeface="Arial"/>
                <a:cs typeface="Arial"/>
              </a:rPr>
              <a:t>is</a:t>
            </a:r>
            <a:r>
              <a:rPr sz="2400" spc="-130" dirty="0">
                <a:solidFill>
                  <a:srgbClr val="FFFFFF"/>
                </a:solidFill>
                <a:latin typeface="Arial"/>
                <a:cs typeface="Arial"/>
              </a:rPr>
              <a:t> </a:t>
            </a:r>
            <a:r>
              <a:rPr sz="2400" spc="45" dirty="0">
                <a:solidFill>
                  <a:srgbClr val="FFFFFF"/>
                </a:solidFill>
                <a:latin typeface="Arial"/>
                <a:cs typeface="Arial"/>
              </a:rPr>
              <a:t>identified</a:t>
            </a:r>
            <a:r>
              <a:rPr sz="2400" spc="-130" dirty="0">
                <a:solidFill>
                  <a:srgbClr val="FFFFFF"/>
                </a:solidFill>
                <a:latin typeface="Arial"/>
                <a:cs typeface="Arial"/>
              </a:rPr>
              <a:t> </a:t>
            </a:r>
            <a:r>
              <a:rPr sz="2400" spc="-20" dirty="0">
                <a:solidFill>
                  <a:srgbClr val="FFFFFF"/>
                </a:solidFill>
                <a:latin typeface="Arial"/>
                <a:cs typeface="Arial"/>
              </a:rPr>
              <a:t>by</a:t>
            </a:r>
            <a:r>
              <a:rPr sz="2400" spc="-120" dirty="0">
                <a:solidFill>
                  <a:srgbClr val="FFFFFF"/>
                </a:solidFill>
                <a:latin typeface="Arial"/>
                <a:cs typeface="Arial"/>
              </a:rPr>
              <a:t> </a:t>
            </a:r>
            <a:r>
              <a:rPr sz="2400" spc="-75" dirty="0">
                <a:solidFill>
                  <a:srgbClr val="FFFFFF"/>
                </a:solidFill>
                <a:latin typeface="Arial"/>
                <a:cs typeface="Arial"/>
              </a:rPr>
              <a:t>an</a:t>
            </a:r>
            <a:r>
              <a:rPr sz="2400" spc="-125" dirty="0">
                <a:solidFill>
                  <a:srgbClr val="FFFFFF"/>
                </a:solidFill>
                <a:latin typeface="Arial"/>
                <a:cs typeface="Arial"/>
              </a:rPr>
              <a:t> </a:t>
            </a:r>
            <a:r>
              <a:rPr sz="2400" spc="-114" dirty="0">
                <a:solidFill>
                  <a:srgbClr val="FFFFFF"/>
                </a:solidFill>
                <a:latin typeface="Arial"/>
                <a:cs typeface="Arial"/>
              </a:rPr>
              <a:t>assigned</a:t>
            </a:r>
            <a:r>
              <a:rPr sz="2400" spc="-125" dirty="0">
                <a:solidFill>
                  <a:srgbClr val="FFFFFF"/>
                </a:solidFill>
                <a:latin typeface="Arial"/>
                <a:cs typeface="Arial"/>
              </a:rPr>
              <a:t> </a:t>
            </a:r>
            <a:r>
              <a:rPr sz="2400" spc="-95" dirty="0">
                <a:solidFill>
                  <a:srgbClr val="FFFFFF"/>
                </a:solidFill>
                <a:latin typeface="Arial"/>
                <a:cs typeface="Arial"/>
              </a:rPr>
              <a:t>name</a:t>
            </a:r>
            <a:r>
              <a:rPr sz="2400" spc="-120" dirty="0">
                <a:solidFill>
                  <a:srgbClr val="FFFFFF"/>
                </a:solidFill>
                <a:latin typeface="Arial"/>
                <a:cs typeface="Arial"/>
              </a:rPr>
              <a:t> </a:t>
            </a:r>
            <a:r>
              <a:rPr sz="2400" spc="-45" dirty="0">
                <a:solidFill>
                  <a:srgbClr val="FFFFFF"/>
                </a:solidFill>
                <a:latin typeface="Arial"/>
                <a:cs typeface="Arial"/>
              </a:rPr>
              <a:t>and</a:t>
            </a:r>
            <a:r>
              <a:rPr sz="2400" spc="-135" dirty="0">
                <a:solidFill>
                  <a:srgbClr val="FFFFFF"/>
                </a:solidFill>
                <a:latin typeface="Arial"/>
                <a:cs typeface="Arial"/>
              </a:rPr>
              <a:t> </a:t>
            </a:r>
            <a:r>
              <a:rPr sz="2400" spc="-55" dirty="0">
                <a:solidFill>
                  <a:srgbClr val="FFFFFF"/>
                </a:solidFill>
                <a:latin typeface="Arial"/>
                <a:cs typeface="Arial"/>
              </a:rPr>
              <a:t>is  </a:t>
            </a:r>
            <a:r>
              <a:rPr sz="2400" spc="-40" dirty="0">
                <a:solidFill>
                  <a:srgbClr val="FFFFFF"/>
                </a:solidFill>
                <a:latin typeface="Arial"/>
                <a:cs typeface="Arial"/>
              </a:rPr>
              <a:t>stored</a:t>
            </a:r>
            <a:r>
              <a:rPr sz="2400" spc="-170" dirty="0">
                <a:solidFill>
                  <a:srgbClr val="FFFFFF"/>
                </a:solidFill>
                <a:latin typeface="Arial"/>
                <a:cs typeface="Arial"/>
              </a:rPr>
              <a:t> </a:t>
            </a:r>
            <a:r>
              <a:rPr sz="2400" spc="114" dirty="0">
                <a:solidFill>
                  <a:srgbClr val="FFFFFF"/>
                </a:solidFill>
                <a:latin typeface="Arial"/>
                <a:cs typeface="Arial"/>
              </a:rPr>
              <a:t>in</a:t>
            </a:r>
            <a:r>
              <a:rPr sz="2400" spc="-155" dirty="0">
                <a:solidFill>
                  <a:srgbClr val="FFFFFF"/>
                </a:solidFill>
                <a:latin typeface="Arial"/>
                <a:cs typeface="Arial"/>
              </a:rPr>
              <a:t> </a:t>
            </a:r>
            <a:r>
              <a:rPr sz="2400" dirty="0">
                <a:solidFill>
                  <a:srgbClr val="FFFFFF"/>
                </a:solidFill>
                <a:latin typeface="Arial"/>
                <a:cs typeface="Arial"/>
              </a:rPr>
              <a:t>the</a:t>
            </a:r>
            <a:r>
              <a:rPr sz="2400" spc="-155" dirty="0">
                <a:solidFill>
                  <a:srgbClr val="FFFFFF"/>
                </a:solidFill>
                <a:latin typeface="Arial"/>
                <a:cs typeface="Arial"/>
              </a:rPr>
              <a:t> </a:t>
            </a:r>
            <a:r>
              <a:rPr sz="2400" spc="-130" dirty="0">
                <a:solidFill>
                  <a:srgbClr val="FFFFFF"/>
                </a:solidFill>
                <a:latin typeface="Arial"/>
                <a:cs typeface="Arial"/>
              </a:rPr>
              <a:t>database</a:t>
            </a:r>
            <a:r>
              <a:rPr sz="2400" spc="-155" dirty="0">
                <a:solidFill>
                  <a:srgbClr val="FFFFFF"/>
                </a:solidFill>
                <a:latin typeface="Arial"/>
                <a:cs typeface="Arial"/>
              </a:rPr>
              <a:t> </a:t>
            </a:r>
            <a:r>
              <a:rPr sz="2400" spc="114" dirty="0">
                <a:solidFill>
                  <a:srgbClr val="FFFFFF"/>
                </a:solidFill>
                <a:latin typeface="Arial"/>
                <a:cs typeface="Arial"/>
              </a:rPr>
              <a:t>in</a:t>
            </a:r>
            <a:r>
              <a:rPr sz="2400" spc="-155" dirty="0">
                <a:solidFill>
                  <a:srgbClr val="FFFFFF"/>
                </a:solidFill>
                <a:latin typeface="Arial"/>
                <a:cs typeface="Arial"/>
              </a:rPr>
              <a:t> </a:t>
            </a:r>
            <a:r>
              <a:rPr sz="2400" spc="-229" dirty="0">
                <a:solidFill>
                  <a:srgbClr val="FFFFFF"/>
                </a:solidFill>
                <a:latin typeface="Arial"/>
                <a:cs typeface="Arial"/>
              </a:rPr>
              <a:t>a</a:t>
            </a:r>
            <a:r>
              <a:rPr sz="2400" spc="-155" dirty="0">
                <a:solidFill>
                  <a:srgbClr val="FFFFFF"/>
                </a:solidFill>
                <a:latin typeface="Arial"/>
                <a:cs typeface="Arial"/>
              </a:rPr>
              <a:t> </a:t>
            </a:r>
            <a:r>
              <a:rPr sz="2400" spc="-10" dirty="0">
                <a:solidFill>
                  <a:srgbClr val="FFFFFF"/>
                </a:solidFill>
                <a:latin typeface="Arial"/>
                <a:cs typeface="Arial"/>
              </a:rPr>
              <a:t>compiled</a:t>
            </a:r>
            <a:r>
              <a:rPr sz="2400" spc="-155" dirty="0">
                <a:solidFill>
                  <a:srgbClr val="FFFFFF"/>
                </a:solidFill>
                <a:latin typeface="Arial"/>
                <a:cs typeface="Arial"/>
              </a:rPr>
              <a:t> </a:t>
            </a:r>
            <a:r>
              <a:rPr sz="2400" spc="30" dirty="0">
                <a:solidFill>
                  <a:srgbClr val="FFFFFF"/>
                </a:solidFill>
                <a:latin typeface="Arial"/>
                <a:cs typeface="Arial"/>
              </a:rPr>
              <a:t>form.</a:t>
            </a:r>
            <a:endParaRPr sz="2400">
              <a:latin typeface="Arial"/>
              <a:cs typeface="Arial"/>
            </a:endParaRPr>
          </a:p>
          <a:p>
            <a:pPr marL="354965" marR="6350" indent="-342900" algn="just">
              <a:lnSpc>
                <a:spcPts val="2590"/>
              </a:lnSpc>
              <a:spcBef>
                <a:spcPts val="5"/>
              </a:spcBef>
              <a:buFont typeface="Wingdings"/>
              <a:buChar char=""/>
              <a:tabLst>
                <a:tab pos="355600" algn="l"/>
              </a:tabLst>
            </a:pPr>
            <a:r>
              <a:rPr sz="2400" spc="345" dirty="0">
                <a:solidFill>
                  <a:srgbClr val="FFFFFF"/>
                </a:solidFill>
                <a:latin typeface="Arial"/>
                <a:cs typeface="Arial"/>
              </a:rPr>
              <a:t>A </a:t>
            </a:r>
            <a:r>
              <a:rPr sz="2400" spc="-40" dirty="0">
                <a:solidFill>
                  <a:srgbClr val="FFFFFF"/>
                </a:solidFill>
                <a:latin typeface="Arial"/>
                <a:cs typeface="Arial"/>
              </a:rPr>
              <a:t>stored procedure </a:t>
            </a:r>
            <a:r>
              <a:rPr sz="2400" spc="-85" dirty="0">
                <a:solidFill>
                  <a:srgbClr val="FFFFFF"/>
                </a:solidFill>
                <a:latin typeface="Arial"/>
                <a:cs typeface="Arial"/>
              </a:rPr>
              <a:t>may </a:t>
            </a:r>
            <a:r>
              <a:rPr sz="2400" spc="-95" dirty="0">
                <a:solidFill>
                  <a:srgbClr val="FFFFFF"/>
                </a:solidFill>
                <a:latin typeface="Arial"/>
                <a:cs typeface="Arial"/>
              </a:rPr>
              <a:t>also </a:t>
            </a:r>
            <a:r>
              <a:rPr sz="2400" spc="-120" dirty="0">
                <a:solidFill>
                  <a:srgbClr val="FFFFFF"/>
                </a:solidFill>
                <a:latin typeface="Arial"/>
                <a:cs typeface="Arial"/>
              </a:rPr>
              <a:t>be </a:t>
            </a:r>
            <a:r>
              <a:rPr sz="2400" spc="-229" dirty="0">
                <a:solidFill>
                  <a:srgbClr val="FFFFFF"/>
                </a:solidFill>
                <a:latin typeface="Arial"/>
                <a:cs typeface="Arial"/>
              </a:rPr>
              <a:t>a </a:t>
            </a:r>
            <a:r>
              <a:rPr sz="2400" spc="-65" dirty="0">
                <a:solidFill>
                  <a:srgbClr val="FFFFFF"/>
                </a:solidFill>
                <a:latin typeface="Arial"/>
                <a:cs typeface="Arial"/>
              </a:rPr>
              <a:t>reference </a:t>
            </a:r>
            <a:r>
              <a:rPr sz="2400" spc="65" dirty="0">
                <a:solidFill>
                  <a:srgbClr val="FFFFFF"/>
                </a:solidFill>
                <a:latin typeface="Arial"/>
                <a:cs typeface="Arial"/>
              </a:rPr>
              <a:t>to </a:t>
            </a:r>
            <a:r>
              <a:rPr sz="2400" spc="-229" dirty="0">
                <a:solidFill>
                  <a:srgbClr val="FFFFFF"/>
                </a:solidFill>
                <a:latin typeface="Arial"/>
                <a:cs typeface="Arial"/>
              </a:rPr>
              <a:t>a </a:t>
            </a:r>
            <a:r>
              <a:rPr sz="2400" spc="45" dirty="0">
                <a:solidFill>
                  <a:srgbClr val="FFFFFF"/>
                </a:solidFill>
                <a:latin typeface="Arial"/>
                <a:cs typeface="Arial"/>
              </a:rPr>
              <a:t>.NET  </a:t>
            </a:r>
            <a:r>
              <a:rPr sz="2400" spc="-30" dirty="0">
                <a:solidFill>
                  <a:srgbClr val="FFFFFF"/>
                </a:solidFill>
                <a:latin typeface="Arial"/>
                <a:cs typeface="Arial"/>
              </a:rPr>
              <a:t>Framework</a:t>
            </a:r>
            <a:r>
              <a:rPr sz="2400" spc="-150" dirty="0">
                <a:solidFill>
                  <a:srgbClr val="FFFFFF"/>
                </a:solidFill>
                <a:latin typeface="Arial"/>
                <a:cs typeface="Arial"/>
              </a:rPr>
              <a:t> </a:t>
            </a:r>
            <a:r>
              <a:rPr sz="2400" spc="35" dirty="0">
                <a:solidFill>
                  <a:srgbClr val="FFFFFF"/>
                </a:solidFill>
                <a:latin typeface="Arial"/>
                <a:cs typeface="Arial"/>
              </a:rPr>
              <a:t>Common</a:t>
            </a:r>
            <a:r>
              <a:rPr sz="2400" spc="-160" dirty="0">
                <a:solidFill>
                  <a:srgbClr val="FFFFFF"/>
                </a:solidFill>
                <a:latin typeface="Arial"/>
                <a:cs typeface="Arial"/>
              </a:rPr>
              <a:t> </a:t>
            </a:r>
            <a:r>
              <a:rPr sz="2400" spc="-100" dirty="0">
                <a:solidFill>
                  <a:srgbClr val="FFFFFF"/>
                </a:solidFill>
                <a:latin typeface="Arial"/>
                <a:cs typeface="Arial"/>
              </a:rPr>
              <a:t>Language</a:t>
            </a:r>
            <a:r>
              <a:rPr sz="2400" spc="-135" dirty="0">
                <a:solidFill>
                  <a:srgbClr val="FFFFFF"/>
                </a:solidFill>
                <a:latin typeface="Arial"/>
                <a:cs typeface="Arial"/>
              </a:rPr>
              <a:t> </a:t>
            </a:r>
            <a:r>
              <a:rPr sz="2400" spc="25" dirty="0">
                <a:solidFill>
                  <a:srgbClr val="FFFFFF"/>
                </a:solidFill>
                <a:latin typeface="Arial"/>
                <a:cs typeface="Arial"/>
              </a:rPr>
              <a:t>Runtime</a:t>
            </a:r>
            <a:r>
              <a:rPr sz="2400" spc="-145" dirty="0">
                <a:solidFill>
                  <a:srgbClr val="FFFFFF"/>
                </a:solidFill>
                <a:latin typeface="Arial"/>
                <a:cs typeface="Arial"/>
              </a:rPr>
              <a:t> </a:t>
            </a:r>
            <a:r>
              <a:rPr sz="2400" spc="50" dirty="0">
                <a:solidFill>
                  <a:srgbClr val="FFFFFF"/>
                </a:solidFill>
                <a:latin typeface="Arial"/>
                <a:cs typeface="Arial"/>
              </a:rPr>
              <a:t>(CLR)</a:t>
            </a:r>
            <a:r>
              <a:rPr sz="2400" spc="-140" dirty="0">
                <a:solidFill>
                  <a:srgbClr val="FFFFFF"/>
                </a:solidFill>
                <a:latin typeface="Arial"/>
                <a:cs typeface="Arial"/>
              </a:rPr>
              <a:t> </a:t>
            </a:r>
            <a:r>
              <a:rPr sz="2400" spc="-10" dirty="0">
                <a:solidFill>
                  <a:srgbClr val="FFFFFF"/>
                </a:solidFill>
                <a:latin typeface="Arial"/>
                <a:cs typeface="Arial"/>
              </a:rPr>
              <a:t>method.</a:t>
            </a:r>
            <a:endParaRPr sz="2400">
              <a:latin typeface="Arial"/>
              <a:cs typeface="Arial"/>
            </a:endParaRPr>
          </a:p>
        </p:txBody>
      </p:sp>
      <p:sp>
        <p:nvSpPr>
          <p:cNvPr id="5" name="object 5"/>
          <p:cNvSpPr/>
          <p:nvPr/>
        </p:nvSpPr>
        <p:spPr>
          <a:xfrm>
            <a:off x="397764" y="4379976"/>
            <a:ext cx="8255000" cy="1584325"/>
          </a:xfrm>
          <a:custGeom>
            <a:avLst/>
            <a:gdLst/>
            <a:ahLst/>
            <a:cxnLst/>
            <a:rect l="l" t="t" r="r" b="b"/>
            <a:pathLst>
              <a:path w="8255000" h="1584325">
                <a:moveTo>
                  <a:pt x="8254746" y="264033"/>
                </a:moveTo>
                <a:lnTo>
                  <a:pt x="8250479" y="216585"/>
                </a:lnTo>
                <a:lnTo>
                  <a:pt x="8238223" y="171919"/>
                </a:lnTo>
                <a:lnTo>
                  <a:pt x="8218691" y="130784"/>
                </a:lnTo>
                <a:lnTo>
                  <a:pt x="8192630" y="93941"/>
                </a:lnTo>
                <a:lnTo>
                  <a:pt x="8160804" y="62115"/>
                </a:lnTo>
                <a:lnTo>
                  <a:pt x="8123961" y="36055"/>
                </a:lnTo>
                <a:lnTo>
                  <a:pt x="8082826" y="16522"/>
                </a:lnTo>
                <a:lnTo>
                  <a:pt x="8038160" y="4267"/>
                </a:lnTo>
                <a:lnTo>
                  <a:pt x="7990713" y="0"/>
                </a:lnTo>
                <a:lnTo>
                  <a:pt x="264033" y="0"/>
                </a:lnTo>
                <a:lnTo>
                  <a:pt x="216560" y="4267"/>
                </a:lnTo>
                <a:lnTo>
                  <a:pt x="171894" y="16522"/>
                </a:lnTo>
                <a:lnTo>
                  <a:pt x="130759" y="36055"/>
                </a:lnTo>
                <a:lnTo>
                  <a:pt x="93916" y="62115"/>
                </a:lnTo>
                <a:lnTo>
                  <a:pt x="62090" y="93941"/>
                </a:lnTo>
                <a:lnTo>
                  <a:pt x="36042" y="130784"/>
                </a:lnTo>
                <a:lnTo>
                  <a:pt x="16510" y="171919"/>
                </a:lnTo>
                <a:lnTo>
                  <a:pt x="4241" y="216585"/>
                </a:lnTo>
                <a:lnTo>
                  <a:pt x="0" y="264033"/>
                </a:lnTo>
                <a:lnTo>
                  <a:pt x="0" y="1320165"/>
                </a:lnTo>
                <a:lnTo>
                  <a:pt x="4241" y="1367637"/>
                </a:lnTo>
                <a:lnTo>
                  <a:pt x="16510" y="1412303"/>
                </a:lnTo>
                <a:lnTo>
                  <a:pt x="36042" y="1453438"/>
                </a:lnTo>
                <a:lnTo>
                  <a:pt x="62090" y="1490281"/>
                </a:lnTo>
                <a:lnTo>
                  <a:pt x="93916" y="1522107"/>
                </a:lnTo>
                <a:lnTo>
                  <a:pt x="130759" y="1548155"/>
                </a:lnTo>
                <a:lnTo>
                  <a:pt x="171894" y="1567688"/>
                </a:lnTo>
                <a:lnTo>
                  <a:pt x="216560" y="1579956"/>
                </a:lnTo>
                <a:lnTo>
                  <a:pt x="264033" y="1584198"/>
                </a:lnTo>
                <a:lnTo>
                  <a:pt x="7990713" y="1584198"/>
                </a:lnTo>
                <a:lnTo>
                  <a:pt x="8038160" y="1579956"/>
                </a:lnTo>
                <a:lnTo>
                  <a:pt x="8082826" y="1567688"/>
                </a:lnTo>
                <a:lnTo>
                  <a:pt x="8123961" y="1548155"/>
                </a:lnTo>
                <a:lnTo>
                  <a:pt x="8160804" y="1522107"/>
                </a:lnTo>
                <a:lnTo>
                  <a:pt x="8192630" y="1490281"/>
                </a:lnTo>
                <a:lnTo>
                  <a:pt x="8218691" y="1453438"/>
                </a:lnTo>
                <a:lnTo>
                  <a:pt x="8238223" y="1412303"/>
                </a:lnTo>
                <a:lnTo>
                  <a:pt x="8250479" y="1367637"/>
                </a:lnTo>
                <a:lnTo>
                  <a:pt x="8254746" y="1320165"/>
                </a:lnTo>
                <a:lnTo>
                  <a:pt x="8254746" y="264033"/>
                </a:lnTo>
                <a:close/>
              </a:path>
            </a:pathLst>
          </a:custGeom>
          <a:solidFill>
            <a:srgbClr val="4AACC5"/>
          </a:solidFill>
        </p:spPr>
        <p:txBody>
          <a:bodyPr wrap="square" lIns="0" tIns="0" rIns="0" bIns="0" rtlCol="0"/>
          <a:lstStyle/>
          <a:p>
            <a:endParaRPr/>
          </a:p>
        </p:txBody>
      </p:sp>
      <p:sp>
        <p:nvSpPr>
          <p:cNvPr id="6" name="object 6"/>
          <p:cNvSpPr txBox="1"/>
          <p:nvPr/>
        </p:nvSpPr>
        <p:spPr>
          <a:xfrm>
            <a:off x="540004" y="4475479"/>
            <a:ext cx="7987030" cy="1266825"/>
          </a:xfrm>
          <a:prstGeom prst="rect">
            <a:avLst/>
          </a:prstGeom>
        </p:spPr>
        <p:txBody>
          <a:bodyPr vert="horz" wrap="square" lIns="0" tIns="46355" rIns="0" bIns="0" rtlCol="0">
            <a:spAutoFit/>
          </a:bodyPr>
          <a:lstStyle/>
          <a:p>
            <a:pPr marL="354965" marR="5080" indent="-342900" algn="just">
              <a:lnSpc>
                <a:spcPct val="90000"/>
              </a:lnSpc>
              <a:spcBef>
                <a:spcPts val="365"/>
              </a:spcBef>
              <a:buFont typeface="Wingdings"/>
              <a:buChar char=""/>
              <a:tabLst>
                <a:tab pos="355600" algn="l"/>
              </a:tabLst>
            </a:pPr>
            <a:r>
              <a:rPr sz="2200" spc="-25" dirty="0">
                <a:solidFill>
                  <a:srgbClr val="FFFFFF"/>
                </a:solidFill>
                <a:latin typeface="Arial"/>
                <a:cs typeface="Arial"/>
              </a:rPr>
              <a:t>Stored </a:t>
            </a:r>
            <a:r>
              <a:rPr sz="2200" spc="-55" dirty="0">
                <a:solidFill>
                  <a:srgbClr val="FFFFFF"/>
                </a:solidFill>
                <a:latin typeface="Arial"/>
                <a:cs typeface="Arial"/>
              </a:rPr>
              <a:t>procedures </a:t>
            </a:r>
            <a:r>
              <a:rPr sz="2200" spc="-105" dirty="0">
                <a:solidFill>
                  <a:srgbClr val="FFFFFF"/>
                </a:solidFill>
                <a:latin typeface="Arial"/>
                <a:cs typeface="Arial"/>
              </a:rPr>
              <a:t>are </a:t>
            </a:r>
            <a:r>
              <a:rPr sz="2200" spc="-15" dirty="0">
                <a:solidFill>
                  <a:srgbClr val="FFFFFF"/>
                </a:solidFill>
                <a:latin typeface="Arial"/>
                <a:cs typeface="Arial"/>
              </a:rPr>
              <a:t>useful </a:t>
            </a:r>
            <a:r>
              <a:rPr sz="2200" dirty="0">
                <a:solidFill>
                  <a:srgbClr val="FFFFFF"/>
                </a:solidFill>
                <a:latin typeface="Arial"/>
                <a:cs typeface="Arial"/>
              </a:rPr>
              <a:t>when </a:t>
            </a:r>
            <a:r>
              <a:rPr sz="2200" spc="10" dirty="0">
                <a:solidFill>
                  <a:srgbClr val="FFFFFF"/>
                </a:solidFill>
                <a:latin typeface="Arial"/>
                <a:cs typeface="Arial"/>
              </a:rPr>
              <a:t>repetitive </a:t>
            </a:r>
            <a:r>
              <a:rPr sz="2200" spc="-90" dirty="0">
                <a:solidFill>
                  <a:srgbClr val="FFFFFF"/>
                </a:solidFill>
                <a:latin typeface="Arial"/>
                <a:cs typeface="Arial"/>
              </a:rPr>
              <a:t>tasks </a:t>
            </a:r>
            <a:r>
              <a:rPr sz="2200" spc="-75" dirty="0">
                <a:solidFill>
                  <a:srgbClr val="FFFFFF"/>
                </a:solidFill>
                <a:latin typeface="Arial"/>
                <a:cs typeface="Arial"/>
              </a:rPr>
              <a:t>have </a:t>
            </a:r>
            <a:r>
              <a:rPr sz="2200" spc="55" dirty="0">
                <a:solidFill>
                  <a:srgbClr val="FFFFFF"/>
                </a:solidFill>
                <a:latin typeface="Arial"/>
                <a:cs typeface="Arial"/>
              </a:rPr>
              <a:t>to </a:t>
            </a:r>
            <a:r>
              <a:rPr sz="2200" spc="-114" dirty="0">
                <a:solidFill>
                  <a:srgbClr val="FFFFFF"/>
                </a:solidFill>
                <a:latin typeface="Arial"/>
                <a:cs typeface="Arial"/>
              </a:rPr>
              <a:t>be  </a:t>
            </a:r>
            <a:r>
              <a:rPr sz="2200" spc="-15" dirty="0">
                <a:solidFill>
                  <a:srgbClr val="FFFFFF"/>
                </a:solidFill>
                <a:latin typeface="Arial"/>
                <a:cs typeface="Arial"/>
              </a:rPr>
              <a:t>performed. </a:t>
            </a:r>
            <a:r>
              <a:rPr sz="2200" spc="40" dirty="0">
                <a:solidFill>
                  <a:srgbClr val="FFFFFF"/>
                </a:solidFill>
                <a:latin typeface="Arial"/>
                <a:cs typeface="Arial"/>
              </a:rPr>
              <a:t>This </a:t>
            </a:r>
            <a:r>
              <a:rPr sz="2200" spc="-25" dirty="0">
                <a:solidFill>
                  <a:srgbClr val="FFFFFF"/>
                </a:solidFill>
                <a:latin typeface="Arial"/>
                <a:cs typeface="Arial"/>
              </a:rPr>
              <a:t>eliminates </a:t>
            </a:r>
            <a:r>
              <a:rPr sz="2200" dirty="0">
                <a:solidFill>
                  <a:srgbClr val="FFFFFF"/>
                </a:solidFill>
                <a:latin typeface="Arial"/>
                <a:cs typeface="Arial"/>
              </a:rPr>
              <a:t>the </a:t>
            </a:r>
            <a:r>
              <a:rPr sz="2200" spc="-80" dirty="0">
                <a:solidFill>
                  <a:srgbClr val="FFFFFF"/>
                </a:solidFill>
                <a:latin typeface="Arial"/>
                <a:cs typeface="Arial"/>
              </a:rPr>
              <a:t>need </a:t>
            </a:r>
            <a:r>
              <a:rPr sz="2200" spc="75" dirty="0">
                <a:solidFill>
                  <a:srgbClr val="FFFFFF"/>
                </a:solidFill>
                <a:latin typeface="Arial"/>
                <a:cs typeface="Arial"/>
              </a:rPr>
              <a:t>for </a:t>
            </a:r>
            <a:r>
              <a:rPr sz="2200" spc="15" dirty="0">
                <a:solidFill>
                  <a:srgbClr val="FFFFFF"/>
                </a:solidFill>
                <a:latin typeface="Arial"/>
                <a:cs typeface="Arial"/>
              </a:rPr>
              <a:t>repetitively </a:t>
            </a:r>
            <a:r>
              <a:rPr sz="2200" spc="30" dirty="0">
                <a:solidFill>
                  <a:srgbClr val="FFFFFF"/>
                </a:solidFill>
                <a:latin typeface="Arial"/>
                <a:cs typeface="Arial"/>
              </a:rPr>
              <a:t>typing </a:t>
            </a:r>
            <a:r>
              <a:rPr sz="2200" spc="50" dirty="0">
                <a:solidFill>
                  <a:srgbClr val="FFFFFF"/>
                </a:solidFill>
                <a:latin typeface="Arial"/>
                <a:cs typeface="Arial"/>
              </a:rPr>
              <a:t>out  </a:t>
            </a:r>
            <a:r>
              <a:rPr sz="2200" spc="40" dirty="0">
                <a:solidFill>
                  <a:srgbClr val="FFFFFF"/>
                </a:solidFill>
                <a:latin typeface="Arial"/>
                <a:cs typeface="Arial"/>
              </a:rPr>
              <a:t>multiple </a:t>
            </a:r>
            <a:r>
              <a:rPr sz="2200" spc="-15" dirty="0">
                <a:solidFill>
                  <a:srgbClr val="FFFFFF"/>
                </a:solidFill>
                <a:latin typeface="Arial"/>
                <a:cs typeface="Arial"/>
              </a:rPr>
              <a:t>Transact-SQL  </a:t>
            </a:r>
            <a:r>
              <a:rPr sz="2200" spc="-65" dirty="0">
                <a:solidFill>
                  <a:srgbClr val="FFFFFF"/>
                </a:solidFill>
                <a:latin typeface="Arial"/>
                <a:cs typeface="Arial"/>
              </a:rPr>
              <a:t>statements </a:t>
            </a:r>
            <a:r>
              <a:rPr sz="2200" spc="-40" dirty="0">
                <a:solidFill>
                  <a:srgbClr val="FFFFFF"/>
                </a:solidFill>
                <a:latin typeface="Arial"/>
                <a:cs typeface="Arial"/>
              </a:rPr>
              <a:t>and</a:t>
            </a:r>
            <a:r>
              <a:rPr sz="2200" spc="530" dirty="0">
                <a:solidFill>
                  <a:srgbClr val="FFFFFF"/>
                </a:solidFill>
                <a:latin typeface="Arial"/>
                <a:cs typeface="Arial"/>
              </a:rPr>
              <a:t> </a:t>
            </a:r>
            <a:r>
              <a:rPr sz="2200" spc="20" dirty="0">
                <a:solidFill>
                  <a:srgbClr val="FFFFFF"/>
                </a:solidFill>
                <a:latin typeface="Arial"/>
                <a:cs typeface="Arial"/>
              </a:rPr>
              <a:t>then </a:t>
            </a:r>
            <a:r>
              <a:rPr sz="2200" spc="15" dirty="0">
                <a:solidFill>
                  <a:srgbClr val="FFFFFF"/>
                </a:solidFill>
                <a:latin typeface="Arial"/>
                <a:cs typeface="Arial"/>
              </a:rPr>
              <a:t>repetitively  </a:t>
            </a:r>
            <a:r>
              <a:rPr sz="2200" spc="20" dirty="0">
                <a:solidFill>
                  <a:srgbClr val="FFFFFF"/>
                </a:solidFill>
                <a:latin typeface="Arial"/>
                <a:cs typeface="Arial"/>
              </a:rPr>
              <a:t>compiling</a:t>
            </a:r>
            <a:r>
              <a:rPr sz="2200" spc="-160" dirty="0">
                <a:solidFill>
                  <a:srgbClr val="FFFFFF"/>
                </a:solidFill>
                <a:latin typeface="Arial"/>
                <a:cs typeface="Arial"/>
              </a:rPr>
              <a:t> </a:t>
            </a:r>
            <a:r>
              <a:rPr sz="2200" spc="-15" dirty="0">
                <a:solidFill>
                  <a:srgbClr val="FFFFFF"/>
                </a:solidFill>
                <a:latin typeface="Arial"/>
                <a:cs typeface="Arial"/>
              </a:rPr>
              <a:t>them</a:t>
            </a:r>
            <a:r>
              <a:rPr sz="2000" spc="-15" dirty="0">
                <a:solidFill>
                  <a:srgbClr val="FFFFFF"/>
                </a:solidFill>
                <a:latin typeface="Arial"/>
                <a:cs typeface="Arial"/>
              </a:rPr>
              <a:t>.</a:t>
            </a:r>
            <a:endParaRPr sz="20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26</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294" y="0"/>
            <a:ext cx="4785995" cy="635635"/>
          </a:xfrm>
          <a:prstGeom prst="rect">
            <a:avLst/>
          </a:prstGeom>
        </p:spPr>
        <p:txBody>
          <a:bodyPr vert="horz" wrap="square" lIns="0" tIns="12700" rIns="0" bIns="0" rtlCol="0">
            <a:spAutoFit/>
          </a:bodyPr>
          <a:lstStyle/>
          <a:p>
            <a:pPr marL="12700">
              <a:lnSpc>
                <a:spcPct val="100000"/>
              </a:lnSpc>
              <a:spcBef>
                <a:spcPts val="100"/>
              </a:spcBef>
            </a:pPr>
            <a:r>
              <a:rPr sz="4000" b="0" spc="-40" dirty="0">
                <a:latin typeface="Arial"/>
                <a:cs typeface="Arial"/>
              </a:rPr>
              <a:t>Stored </a:t>
            </a:r>
            <a:r>
              <a:rPr sz="4000" b="0" spc="-135" dirty="0">
                <a:latin typeface="Arial"/>
                <a:cs typeface="Arial"/>
              </a:rPr>
              <a:t>Procedures</a:t>
            </a:r>
            <a:r>
              <a:rPr sz="4000" b="0" spc="-565" dirty="0">
                <a:latin typeface="Arial"/>
                <a:cs typeface="Arial"/>
              </a:rPr>
              <a:t> </a:t>
            </a:r>
            <a:r>
              <a:rPr sz="4000" b="0" spc="-225" dirty="0">
                <a:latin typeface="Arial"/>
                <a:cs typeface="Arial"/>
              </a:rPr>
              <a:t>2-2</a:t>
            </a:r>
            <a:endParaRPr sz="4000">
              <a:latin typeface="Arial"/>
              <a:cs typeface="Arial"/>
            </a:endParaRPr>
          </a:p>
        </p:txBody>
      </p:sp>
      <p:grpSp>
        <p:nvGrpSpPr>
          <p:cNvPr id="3" name="object 3"/>
          <p:cNvGrpSpPr/>
          <p:nvPr/>
        </p:nvGrpSpPr>
        <p:grpSpPr>
          <a:xfrm>
            <a:off x="648334" y="1129919"/>
            <a:ext cx="1186815" cy="1402715"/>
            <a:chOff x="648334" y="1129919"/>
            <a:chExt cx="1186815" cy="1402715"/>
          </a:xfrm>
        </p:grpSpPr>
        <p:pic>
          <p:nvPicPr>
            <p:cNvPr id="4" name="object 4"/>
            <p:cNvPicPr/>
            <p:nvPr/>
          </p:nvPicPr>
          <p:blipFill>
            <a:blip r:embed="rId3" cstate="print"/>
            <a:stretch>
              <a:fillRect/>
            </a:stretch>
          </p:blipFill>
          <p:spPr>
            <a:xfrm>
              <a:off x="651509" y="1133094"/>
              <a:ext cx="1180338" cy="1395984"/>
            </a:xfrm>
            <a:prstGeom prst="rect">
              <a:avLst/>
            </a:prstGeom>
          </p:spPr>
        </p:pic>
        <p:sp>
          <p:nvSpPr>
            <p:cNvPr id="5" name="object 5"/>
            <p:cNvSpPr/>
            <p:nvPr/>
          </p:nvSpPr>
          <p:spPr>
            <a:xfrm>
              <a:off x="651509" y="1133094"/>
              <a:ext cx="1180465" cy="1396365"/>
            </a:xfrm>
            <a:custGeom>
              <a:avLst/>
              <a:gdLst/>
              <a:ahLst/>
              <a:cxnLst/>
              <a:rect l="l" t="t" r="r" b="b"/>
              <a:pathLst>
                <a:path w="1180464" h="1396364">
                  <a:moveTo>
                    <a:pt x="1180338" y="0"/>
                  </a:moveTo>
                  <a:lnTo>
                    <a:pt x="1180338" y="907415"/>
                  </a:lnTo>
                  <a:lnTo>
                    <a:pt x="590169" y="1395984"/>
                  </a:lnTo>
                  <a:lnTo>
                    <a:pt x="0" y="907415"/>
                  </a:lnTo>
                  <a:lnTo>
                    <a:pt x="0" y="0"/>
                  </a:lnTo>
                  <a:lnTo>
                    <a:pt x="590169" y="488569"/>
                  </a:lnTo>
                  <a:lnTo>
                    <a:pt x="1180338" y="0"/>
                  </a:lnTo>
                  <a:close/>
                </a:path>
              </a:pathLst>
            </a:custGeom>
            <a:ln w="6096">
              <a:solidFill>
                <a:srgbClr val="9BBA58"/>
              </a:solidFill>
            </a:ln>
          </p:spPr>
          <p:txBody>
            <a:bodyPr wrap="square" lIns="0" tIns="0" rIns="0" bIns="0" rtlCol="0"/>
            <a:lstStyle/>
            <a:p>
              <a:endParaRPr/>
            </a:p>
          </p:txBody>
        </p:sp>
      </p:grpSp>
      <p:sp>
        <p:nvSpPr>
          <p:cNvPr id="6" name="object 6"/>
          <p:cNvSpPr txBox="1"/>
          <p:nvPr/>
        </p:nvSpPr>
        <p:spPr>
          <a:xfrm>
            <a:off x="858266" y="1599183"/>
            <a:ext cx="767715" cy="452120"/>
          </a:xfrm>
          <a:prstGeom prst="rect">
            <a:avLst/>
          </a:prstGeom>
        </p:spPr>
        <p:txBody>
          <a:bodyPr vert="horz" wrap="square" lIns="0" tIns="12065" rIns="0" bIns="0" rtlCol="0">
            <a:spAutoFit/>
          </a:bodyPr>
          <a:lstStyle/>
          <a:p>
            <a:pPr marL="67310" marR="5080" indent="-55244">
              <a:lnSpc>
                <a:spcPct val="100000"/>
              </a:lnSpc>
              <a:spcBef>
                <a:spcPts val="95"/>
              </a:spcBef>
            </a:pPr>
            <a:r>
              <a:rPr sz="1400" b="1" spc="-15" dirty="0">
                <a:latin typeface="Calisto MT"/>
                <a:cs typeface="Calisto MT"/>
              </a:rPr>
              <a:t>I</a:t>
            </a:r>
            <a:r>
              <a:rPr sz="1400" b="1" spc="-5" dirty="0">
                <a:latin typeface="Calisto MT"/>
                <a:cs typeface="Calisto MT"/>
              </a:rPr>
              <a:t>mpr</a:t>
            </a:r>
            <a:r>
              <a:rPr sz="1400" b="1" spc="-35" dirty="0">
                <a:latin typeface="Calisto MT"/>
                <a:cs typeface="Calisto MT"/>
              </a:rPr>
              <a:t>o</a:t>
            </a:r>
            <a:r>
              <a:rPr sz="1400" b="1" spc="-55" dirty="0">
                <a:latin typeface="Calisto MT"/>
                <a:cs typeface="Calisto MT"/>
              </a:rPr>
              <a:t>v</a:t>
            </a:r>
            <a:r>
              <a:rPr sz="1400" b="1" spc="-10" dirty="0">
                <a:latin typeface="Calisto MT"/>
                <a:cs typeface="Calisto MT"/>
              </a:rPr>
              <a:t>ed  </a:t>
            </a:r>
            <a:r>
              <a:rPr sz="1400" b="1" spc="-5" dirty="0">
                <a:latin typeface="Calisto MT"/>
                <a:cs typeface="Calisto MT"/>
              </a:rPr>
              <a:t>Security</a:t>
            </a:r>
            <a:endParaRPr sz="1400">
              <a:latin typeface="Calisto MT"/>
              <a:cs typeface="Calisto MT"/>
            </a:endParaRPr>
          </a:p>
        </p:txBody>
      </p:sp>
      <p:grpSp>
        <p:nvGrpSpPr>
          <p:cNvPr id="7" name="object 7"/>
          <p:cNvGrpSpPr/>
          <p:nvPr/>
        </p:nvGrpSpPr>
        <p:grpSpPr>
          <a:xfrm>
            <a:off x="1828673" y="1348613"/>
            <a:ext cx="7122159" cy="771525"/>
            <a:chOff x="1828673" y="1348613"/>
            <a:chExt cx="7122159" cy="771525"/>
          </a:xfrm>
        </p:grpSpPr>
        <p:sp>
          <p:nvSpPr>
            <p:cNvPr id="8" name="object 8"/>
            <p:cNvSpPr/>
            <p:nvPr/>
          </p:nvSpPr>
          <p:spPr>
            <a:xfrm>
              <a:off x="1831848" y="1351788"/>
              <a:ext cx="7115809" cy="765175"/>
            </a:xfrm>
            <a:custGeom>
              <a:avLst/>
              <a:gdLst/>
              <a:ahLst/>
              <a:cxnLst/>
              <a:rect l="l" t="t" r="r" b="b"/>
              <a:pathLst>
                <a:path w="7115809" h="765175">
                  <a:moveTo>
                    <a:pt x="6991350" y="0"/>
                  </a:moveTo>
                  <a:lnTo>
                    <a:pt x="0" y="0"/>
                  </a:lnTo>
                  <a:lnTo>
                    <a:pt x="0" y="765048"/>
                  </a:lnTo>
                  <a:lnTo>
                    <a:pt x="6991350" y="765048"/>
                  </a:lnTo>
                  <a:lnTo>
                    <a:pt x="7039689" y="755018"/>
                  </a:lnTo>
                  <a:lnTo>
                    <a:pt x="7079170" y="727678"/>
                  </a:lnTo>
                  <a:lnTo>
                    <a:pt x="7105792" y="687145"/>
                  </a:lnTo>
                  <a:lnTo>
                    <a:pt x="7115556" y="637540"/>
                  </a:lnTo>
                  <a:lnTo>
                    <a:pt x="7115556" y="127508"/>
                  </a:lnTo>
                  <a:lnTo>
                    <a:pt x="7105792" y="77902"/>
                  </a:lnTo>
                  <a:lnTo>
                    <a:pt x="7079170" y="37369"/>
                  </a:lnTo>
                  <a:lnTo>
                    <a:pt x="7039689" y="10029"/>
                  </a:lnTo>
                  <a:lnTo>
                    <a:pt x="6991350" y="0"/>
                  </a:lnTo>
                  <a:close/>
                </a:path>
              </a:pathLst>
            </a:custGeom>
            <a:solidFill>
              <a:srgbClr val="FFFFFF">
                <a:alpha val="90194"/>
              </a:srgbClr>
            </a:solidFill>
          </p:spPr>
          <p:txBody>
            <a:bodyPr wrap="square" lIns="0" tIns="0" rIns="0" bIns="0" rtlCol="0"/>
            <a:lstStyle/>
            <a:p>
              <a:endParaRPr/>
            </a:p>
          </p:txBody>
        </p:sp>
        <p:sp>
          <p:nvSpPr>
            <p:cNvPr id="9" name="object 9"/>
            <p:cNvSpPr/>
            <p:nvPr/>
          </p:nvSpPr>
          <p:spPr>
            <a:xfrm>
              <a:off x="1831848" y="1351788"/>
              <a:ext cx="7115809" cy="765175"/>
            </a:xfrm>
            <a:custGeom>
              <a:avLst/>
              <a:gdLst/>
              <a:ahLst/>
              <a:cxnLst/>
              <a:rect l="l" t="t" r="r" b="b"/>
              <a:pathLst>
                <a:path w="7115809" h="765175">
                  <a:moveTo>
                    <a:pt x="7115556" y="127508"/>
                  </a:moveTo>
                  <a:lnTo>
                    <a:pt x="7115556" y="637540"/>
                  </a:lnTo>
                  <a:lnTo>
                    <a:pt x="7105792" y="687145"/>
                  </a:lnTo>
                  <a:lnTo>
                    <a:pt x="7079170" y="727678"/>
                  </a:lnTo>
                  <a:lnTo>
                    <a:pt x="7039689" y="755018"/>
                  </a:lnTo>
                  <a:lnTo>
                    <a:pt x="6991350" y="765048"/>
                  </a:lnTo>
                  <a:lnTo>
                    <a:pt x="0" y="765048"/>
                  </a:lnTo>
                  <a:lnTo>
                    <a:pt x="0" y="0"/>
                  </a:lnTo>
                  <a:lnTo>
                    <a:pt x="6991350" y="0"/>
                  </a:lnTo>
                  <a:lnTo>
                    <a:pt x="7039689" y="10029"/>
                  </a:lnTo>
                  <a:lnTo>
                    <a:pt x="7079170" y="37369"/>
                  </a:lnTo>
                  <a:lnTo>
                    <a:pt x="7105792" y="77902"/>
                  </a:lnTo>
                  <a:lnTo>
                    <a:pt x="7115556" y="127508"/>
                  </a:lnTo>
                  <a:close/>
                </a:path>
              </a:pathLst>
            </a:custGeom>
            <a:ln w="6096">
              <a:solidFill>
                <a:srgbClr val="9BBA58"/>
              </a:solidFill>
            </a:ln>
          </p:spPr>
          <p:txBody>
            <a:bodyPr wrap="square" lIns="0" tIns="0" rIns="0" bIns="0" rtlCol="0"/>
            <a:lstStyle/>
            <a:p>
              <a:endParaRPr/>
            </a:p>
          </p:txBody>
        </p:sp>
      </p:grpSp>
      <p:sp>
        <p:nvSpPr>
          <p:cNvPr id="10" name="object 10"/>
          <p:cNvSpPr txBox="1"/>
          <p:nvPr/>
        </p:nvSpPr>
        <p:spPr>
          <a:xfrm>
            <a:off x="1905000" y="1395221"/>
            <a:ext cx="6861175" cy="666115"/>
          </a:xfrm>
          <a:prstGeom prst="rect">
            <a:avLst/>
          </a:prstGeom>
        </p:spPr>
        <p:txBody>
          <a:bodyPr vert="horz" wrap="square" lIns="0" tIns="12065" rIns="0" bIns="0" rtlCol="0">
            <a:spAutoFit/>
          </a:bodyPr>
          <a:lstStyle/>
          <a:p>
            <a:pPr marL="12700" marR="5080">
              <a:lnSpc>
                <a:spcPct val="100000"/>
              </a:lnSpc>
              <a:spcBef>
                <a:spcPts val="95"/>
              </a:spcBef>
            </a:pPr>
            <a:r>
              <a:rPr sz="1400" spc="-5" dirty="0">
                <a:latin typeface="Calisto MT"/>
                <a:cs typeface="Calisto MT"/>
              </a:rPr>
              <a:t>The database administrator can </a:t>
            </a:r>
            <a:r>
              <a:rPr sz="1400" spc="-15" dirty="0">
                <a:latin typeface="Calisto MT"/>
                <a:cs typeface="Calisto MT"/>
              </a:rPr>
              <a:t>improve </a:t>
            </a:r>
            <a:r>
              <a:rPr sz="1400" spc="-5" dirty="0">
                <a:latin typeface="Calisto MT"/>
                <a:cs typeface="Calisto MT"/>
              </a:rPr>
              <a:t>security by </a:t>
            </a:r>
            <a:r>
              <a:rPr sz="1400" spc="-10" dirty="0">
                <a:latin typeface="Calisto MT"/>
                <a:cs typeface="Calisto MT"/>
              </a:rPr>
              <a:t>associating </a:t>
            </a:r>
            <a:r>
              <a:rPr sz="1400" spc="-5" dirty="0">
                <a:latin typeface="Calisto MT"/>
                <a:cs typeface="Calisto MT"/>
              </a:rPr>
              <a:t>database </a:t>
            </a:r>
            <a:r>
              <a:rPr sz="1400" spc="-10" dirty="0">
                <a:latin typeface="Calisto MT"/>
                <a:cs typeface="Calisto MT"/>
              </a:rPr>
              <a:t>privileges </a:t>
            </a:r>
            <a:r>
              <a:rPr sz="1400" spc="-5" dirty="0">
                <a:latin typeface="Calisto MT"/>
                <a:cs typeface="Calisto MT"/>
              </a:rPr>
              <a:t>with  stored </a:t>
            </a:r>
            <a:r>
              <a:rPr sz="1400" spc="-10" dirty="0">
                <a:latin typeface="Calisto MT"/>
                <a:cs typeface="Calisto MT"/>
              </a:rPr>
              <a:t>procedures. </a:t>
            </a:r>
            <a:r>
              <a:rPr sz="1400" spc="-5" dirty="0">
                <a:latin typeface="Calisto MT"/>
                <a:cs typeface="Calisto MT"/>
              </a:rPr>
              <a:t>Users can be </a:t>
            </a:r>
            <a:r>
              <a:rPr sz="1400" spc="-20" dirty="0">
                <a:latin typeface="Calisto MT"/>
                <a:cs typeface="Calisto MT"/>
              </a:rPr>
              <a:t>given </a:t>
            </a:r>
            <a:r>
              <a:rPr sz="1400" spc="-5" dirty="0">
                <a:latin typeface="Calisto MT"/>
                <a:cs typeface="Calisto MT"/>
              </a:rPr>
              <a:t>permission to </a:t>
            </a:r>
            <a:r>
              <a:rPr sz="1400" spc="-10" dirty="0">
                <a:latin typeface="Calisto MT"/>
                <a:cs typeface="Calisto MT"/>
              </a:rPr>
              <a:t>execute </a:t>
            </a:r>
            <a:r>
              <a:rPr sz="1400" spc="-5" dirty="0">
                <a:latin typeface="Calisto MT"/>
                <a:cs typeface="Calisto MT"/>
              </a:rPr>
              <a:t>a stored procedure </a:t>
            </a:r>
            <a:r>
              <a:rPr sz="1400" spc="-20" dirty="0">
                <a:latin typeface="Calisto MT"/>
                <a:cs typeface="Calisto MT"/>
              </a:rPr>
              <a:t>even </a:t>
            </a:r>
            <a:r>
              <a:rPr sz="1400" spc="-5" dirty="0">
                <a:latin typeface="Calisto MT"/>
                <a:cs typeface="Calisto MT"/>
              </a:rPr>
              <a:t>if user  does not </a:t>
            </a:r>
            <a:r>
              <a:rPr sz="1400" spc="-30" dirty="0">
                <a:latin typeface="Calisto MT"/>
                <a:cs typeface="Calisto MT"/>
              </a:rPr>
              <a:t>have </a:t>
            </a:r>
            <a:r>
              <a:rPr sz="1400" spc="-5" dirty="0">
                <a:latin typeface="Calisto MT"/>
                <a:cs typeface="Calisto MT"/>
              </a:rPr>
              <a:t>permission to access tables or</a:t>
            </a:r>
            <a:r>
              <a:rPr sz="1400" spc="114" dirty="0">
                <a:latin typeface="Calisto MT"/>
                <a:cs typeface="Calisto MT"/>
              </a:rPr>
              <a:t> </a:t>
            </a:r>
            <a:r>
              <a:rPr sz="1400" spc="-15" dirty="0">
                <a:latin typeface="Calisto MT"/>
                <a:cs typeface="Calisto MT"/>
              </a:rPr>
              <a:t>views.</a:t>
            </a:r>
            <a:endParaRPr sz="1400">
              <a:latin typeface="Calisto MT"/>
              <a:cs typeface="Calisto MT"/>
            </a:endParaRPr>
          </a:p>
        </p:txBody>
      </p:sp>
      <p:grpSp>
        <p:nvGrpSpPr>
          <p:cNvPr id="11" name="object 11"/>
          <p:cNvGrpSpPr/>
          <p:nvPr/>
        </p:nvGrpSpPr>
        <p:grpSpPr>
          <a:xfrm>
            <a:off x="678815" y="2410079"/>
            <a:ext cx="1181735" cy="1402715"/>
            <a:chOff x="678815" y="2410079"/>
            <a:chExt cx="1181735" cy="1402715"/>
          </a:xfrm>
        </p:grpSpPr>
        <p:pic>
          <p:nvPicPr>
            <p:cNvPr id="12" name="object 12"/>
            <p:cNvPicPr/>
            <p:nvPr/>
          </p:nvPicPr>
          <p:blipFill>
            <a:blip r:embed="rId4" cstate="print"/>
            <a:stretch>
              <a:fillRect/>
            </a:stretch>
          </p:blipFill>
          <p:spPr>
            <a:xfrm>
              <a:off x="681990" y="2413254"/>
              <a:ext cx="1175004" cy="1395984"/>
            </a:xfrm>
            <a:prstGeom prst="rect">
              <a:avLst/>
            </a:prstGeom>
          </p:spPr>
        </p:pic>
        <p:sp>
          <p:nvSpPr>
            <p:cNvPr id="13" name="object 13"/>
            <p:cNvSpPr/>
            <p:nvPr/>
          </p:nvSpPr>
          <p:spPr>
            <a:xfrm>
              <a:off x="681990" y="2413254"/>
              <a:ext cx="1175385" cy="1396365"/>
            </a:xfrm>
            <a:custGeom>
              <a:avLst/>
              <a:gdLst/>
              <a:ahLst/>
              <a:cxnLst/>
              <a:rect l="l" t="t" r="r" b="b"/>
              <a:pathLst>
                <a:path w="1175385" h="1396364">
                  <a:moveTo>
                    <a:pt x="1175004" y="0"/>
                  </a:moveTo>
                  <a:lnTo>
                    <a:pt x="1175004" y="907415"/>
                  </a:lnTo>
                  <a:lnTo>
                    <a:pt x="587502" y="1395984"/>
                  </a:lnTo>
                  <a:lnTo>
                    <a:pt x="0" y="907415"/>
                  </a:lnTo>
                  <a:lnTo>
                    <a:pt x="0" y="0"/>
                  </a:lnTo>
                  <a:lnTo>
                    <a:pt x="587502" y="488569"/>
                  </a:lnTo>
                  <a:lnTo>
                    <a:pt x="1175004" y="0"/>
                  </a:lnTo>
                  <a:close/>
                </a:path>
              </a:pathLst>
            </a:custGeom>
            <a:ln w="6095">
              <a:solidFill>
                <a:srgbClr val="C1CD42"/>
              </a:solidFill>
            </a:ln>
          </p:spPr>
          <p:txBody>
            <a:bodyPr wrap="square" lIns="0" tIns="0" rIns="0" bIns="0" rtlCol="0"/>
            <a:lstStyle/>
            <a:p>
              <a:endParaRPr/>
            </a:p>
          </p:txBody>
        </p:sp>
      </p:grpSp>
      <p:sp>
        <p:nvSpPr>
          <p:cNvPr id="14" name="object 14"/>
          <p:cNvSpPr txBox="1"/>
          <p:nvPr/>
        </p:nvSpPr>
        <p:spPr>
          <a:xfrm>
            <a:off x="770381" y="2879344"/>
            <a:ext cx="998219" cy="452120"/>
          </a:xfrm>
          <a:prstGeom prst="rect">
            <a:avLst/>
          </a:prstGeom>
        </p:spPr>
        <p:txBody>
          <a:bodyPr vert="horz" wrap="square" lIns="0" tIns="12065" rIns="0" bIns="0" rtlCol="0">
            <a:spAutoFit/>
          </a:bodyPr>
          <a:lstStyle/>
          <a:p>
            <a:pPr marL="106680" marR="5080" indent="-94615">
              <a:lnSpc>
                <a:spcPct val="100000"/>
              </a:lnSpc>
              <a:spcBef>
                <a:spcPts val="95"/>
              </a:spcBef>
            </a:pPr>
            <a:r>
              <a:rPr sz="1400" b="1" spc="-5" dirty="0">
                <a:latin typeface="Calisto MT"/>
                <a:cs typeface="Calisto MT"/>
              </a:rPr>
              <a:t>Precomp</a:t>
            </a:r>
            <a:r>
              <a:rPr sz="1400" b="1" spc="-20" dirty="0">
                <a:latin typeface="Calisto MT"/>
                <a:cs typeface="Calisto MT"/>
              </a:rPr>
              <a:t>i</a:t>
            </a:r>
            <a:r>
              <a:rPr sz="1400" b="1" spc="-5" dirty="0">
                <a:latin typeface="Calisto MT"/>
                <a:cs typeface="Calisto MT"/>
              </a:rPr>
              <a:t>l</a:t>
            </a:r>
            <a:r>
              <a:rPr sz="1400" b="1" dirty="0">
                <a:latin typeface="Calisto MT"/>
                <a:cs typeface="Calisto MT"/>
              </a:rPr>
              <a:t>e</a:t>
            </a:r>
            <a:r>
              <a:rPr sz="1400" b="1" spc="-5" dirty="0">
                <a:latin typeface="Calisto MT"/>
                <a:cs typeface="Calisto MT"/>
              </a:rPr>
              <a:t>d  </a:t>
            </a:r>
            <a:r>
              <a:rPr sz="1400" b="1" spc="-10" dirty="0">
                <a:latin typeface="Calisto MT"/>
                <a:cs typeface="Calisto MT"/>
              </a:rPr>
              <a:t>Execution</a:t>
            </a:r>
            <a:endParaRPr sz="1400">
              <a:latin typeface="Calisto MT"/>
              <a:cs typeface="Calisto MT"/>
            </a:endParaRPr>
          </a:p>
        </p:txBody>
      </p:sp>
      <p:grpSp>
        <p:nvGrpSpPr>
          <p:cNvPr id="15" name="object 15"/>
          <p:cNvGrpSpPr/>
          <p:nvPr/>
        </p:nvGrpSpPr>
        <p:grpSpPr>
          <a:xfrm>
            <a:off x="1853819" y="2628773"/>
            <a:ext cx="7090409" cy="771525"/>
            <a:chOff x="1853819" y="2628773"/>
            <a:chExt cx="7090409" cy="771525"/>
          </a:xfrm>
        </p:grpSpPr>
        <p:sp>
          <p:nvSpPr>
            <p:cNvPr id="16" name="object 16"/>
            <p:cNvSpPr/>
            <p:nvPr/>
          </p:nvSpPr>
          <p:spPr>
            <a:xfrm>
              <a:off x="1856994" y="2631948"/>
              <a:ext cx="7084059" cy="765175"/>
            </a:xfrm>
            <a:custGeom>
              <a:avLst/>
              <a:gdLst/>
              <a:ahLst/>
              <a:cxnLst/>
              <a:rect l="l" t="t" r="r" b="b"/>
              <a:pathLst>
                <a:path w="7084059" h="765175">
                  <a:moveTo>
                    <a:pt x="6959854" y="0"/>
                  </a:moveTo>
                  <a:lnTo>
                    <a:pt x="0" y="0"/>
                  </a:lnTo>
                  <a:lnTo>
                    <a:pt x="0" y="765048"/>
                  </a:lnTo>
                  <a:lnTo>
                    <a:pt x="6959854" y="765048"/>
                  </a:lnTo>
                  <a:lnTo>
                    <a:pt x="7008006" y="755018"/>
                  </a:lnTo>
                  <a:lnTo>
                    <a:pt x="7047325" y="727678"/>
                  </a:lnTo>
                  <a:lnTo>
                    <a:pt x="7073832" y="687145"/>
                  </a:lnTo>
                  <a:lnTo>
                    <a:pt x="7083552" y="637540"/>
                  </a:lnTo>
                  <a:lnTo>
                    <a:pt x="7083552" y="127508"/>
                  </a:lnTo>
                  <a:lnTo>
                    <a:pt x="7073832" y="77902"/>
                  </a:lnTo>
                  <a:lnTo>
                    <a:pt x="7047325" y="37369"/>
                  </a:lnTo>
                  <a:lnTo>
                    <a:pt x="7008006" y="10029"/>
                  </a:lnTo>
                  <a:lnTo>
                    <a:pt x="6959854" y="0"/>
                  </a:lnTo>
                  <a:close/>
                </a:path>
              </a:pathLst>
            </a:custGeom>
            <a:solidFill>
              <a:srgbClr val="FFFFFF">
                <a:alpha val="90194"/>
              </a:srgbClr>
            </a:solidFill>
          </p:spPr>
          <p:txBody>
            <a:bodyPr wrap="square" lIns="0" tIns="0" rIns="0" bIns="0" rtlCol="0"/>
            <a:lstStyle/>
            <a:p>
              <a:endParaRPr/>
            </a:p>
          </p:txBody>
        </p:sp>
        <p:sp>
          <p:nvSpPr>
            <p:cNvPr id="17" name="object 17"/>
            <p:cNvSpPr/>
            <p:nvPr/>
          </p:nvSpPr>
          <p:spPr>
            <a:xfrm>
              <a:off x="1856994" y="2631948"/>
              <a:ext cx="7084059" cy="765175"/>
            </a:xfrm>
            <a:custGeom>
              <a:avLst/>
              <a:gdLst/>
              <a:ahLst/>
              <a:cxnLst/>
              <a:rect l="l" t="t" r="r" b="b"/>
              <a:pathLst>
                <a:path w="7084059" h="765175">
                  <a:moveTo>
                    <a:pt x="7083552" y="127508"/>
                  </a:moveTo>
                  <a:lnTo>
                    <a:pt x="7083552" y="637540"/>
                  </a:lnTo>
                  <a:lnTo>
                    <a:pt x="7073832" y="687145"/>
                  </a:lnTo>
                  <a:lnTo>
                    <a:pt x="7047325" y="727678"/>
                  </a:lnTo>
                  <a:lnTo>
                    <a:pt x="7008006" y="755018"/>
                  </a:lnTo>
                  <a:lnTo>
                    <a:pt x="6959854" y="765048"/>
                  </a:lnTo>
                  <a:lnTo>
                    <a:pt x="0" y="765048"/>
                  </a:lnTo>
                  <a:lnTo>
                    <a:pt x="0" y="0"/>
                  </a:lnTo>
                  <a:lnTo>
                    <a:pt x="6959854" y="0"/>
                  </a:lnTo>
                  <a:lnTo>
                    <a:pt x="7008006" y="10029"/>
                  </a:lnTo>
                  <a:lnTo>
                    <a:pt x="7047325" y="37369"/>
                  </a:lnTo>
                  <a:lnTo>
                    <a:pt x="7073832" y="77902"/>
                  </a:lnTo>
                  <a:lnTo>
                    <a:pt x="7083552" y="127508"/>
                  </a:lnTo>
                  <a:close/>
                </a:path>
              </a:pathLst>
            </a:custGeom>
            <a:ln w="6096">
              <a:solidFill>
                <a:srgbClr val="C1CD42"/>
              </a:solidFill>
            </a:ln>
          </p:spPr>
          <p:txBody>
            <a:bodyPr wrap="square" lIns="0" tIns="0" rIns="0" bIns="0" rtlCol="0"/>
            <a:lstStyle/>
            <a:p>
              <a:endParaRPr/>
            </a:p>
          </p:txBody>
        </p:sp>
      </p:grpSp>
      <p:sp>
        <p:nvSpPr>
          <p:cNvPr id="18" name="object 18"/>
          <p:cNvSpPr txBox="1"/>
          <p:nvPr/>
        </p:nvSpPr>
        <p:spPr>
          <a:xfrm>
            <a:off x="1930145" y="2675382"/>
            <a:ext cx="6830059" cy="666115"/>
          </a:xfrm>
          <a:prstGeom prst="rect">
            <a:avLst/>
          </a:prstGeom>
        </p:spPr>
        <p:txBody>
          <a:bodyPr vert="horz" wrap="square" lIns="0" tIns="12065" rIns="0" bIns="0" rtlCol="0">
            <a:spAutoFit/>
          </a:bodyPr>
          <a:lstStyle/>
          <a:p>
            <a:pPr marL="12700" marR="5080">
              <a:lnSpc>
                <a:spcPct val="100000"/>
              </a:lnSpc>
              <a:spcBef>
                <a:spcPts val="95"/>
              </a:spcBef>
            </a:pPr>
            <a:r>
              <a:rPr sz="1400" spc="-5" dirty="0">
                <a:latin typeface="Calisto MT"/>
                <a:cs typeface="Calisto MT"/>
              </a:rPr>
              <a:t>Stored procedures are </a:t>
            </a:r>
            <a:r>
              <a:rPr sz="1400" spc="-10" dirty="0">
                <a:latin typeface="Calisto MT"/>
                <a:cs typeface="Calisto MT"/>
              </a:rPr>
              <a:t>compiled </a:t>
            </a:r>
            <a:r>
              <a:rPr sz="1400" spc="-5" dirty="0">
                <a:latin typeface="Calisto MT"/>
                <a:cs typeface="Calisto MT"/>
              </a:rPr>
              <a:t>during the first </a:t>
            </a:r>
            <a:r>
              <a:rPr sz="1400" spc="-10" dirty="0">
                <a:latin typeface="Calisto MT"/>
                <a:cs typeface="Calisto MT"/>
              </a:rPr>
              <a:t>execution. </a:t>
            </a:r>
            <a:r>
              <a:rPr sz="1400" spc="-20" dirty="0">
                <a:latin typeface="Calisto MT"/>
                <a:cs typeface="Calisto MT"/>
              </a:rPr>
              <a:t>For </a:t>
            </a:r>
            <a:r>
              <a:rPr sz="1400" spc="-10" dirty="0">
                <a:latin typeface="Calisto MT"/>
                <a:cs typeface="Calisto MT"/>
              </a:rPr>
              <a:t>every </a:t>
            </a:r>
            <a:r>
              <a:rPr sz="1400" spc="-5" dirty="0">
                <a:latin typeface="Calisto MT"/>
                <a:cs typeface="Calisto MT"/>
              </a:rPr>
              <a:t>subsequent </a:t>
            </a:r>
            <a:r>
              <a:rPr sz="1400" spc="-10" dirty="0">
                <a:latin typeface="Calisto MT"/>
                <a:cs typeface="Calisto MT"/>
              </a:rPr>
              <a:t>execution,  </a:t>
            </a:r>
            <a:r>
              <a:rPr sz="1400" spc="-5" dirty="0">
                <a:latin typeface="Calisto MT"/>
                <a:cs typeface="Calisto MT"/>
              </a:rPr>
              <a:t>SQL Server reuses this precompiled </a:t>
            </a:r>
            <a:r>
              <a:rPr sz="1400" spc="-10" dirty="0">
                <a:latin typeface="Calisto MT"/>
                <a:cs typeface="Calisto MT"/>
              </a:rPr>
              <a:t>version. </a:t>
            </a:r>
            <a:r>
              <a:rPr sz="1400" spc="-5" dirty="0">
                <a:latin typeface="Calisto MT"/>
                <a:cs typeface="Calisto MT"/>
              </a:rPr>
              <a:t>This reduces the time and resources required  for</a:t>
            </a:r>
            <a:r>
              <a:rPr sz="1400" spc="10" dirty="0">
                <a:latin typeface="Calisto MT"/>
                <a:cs typeface="Calisto MT"/>
              </a:rPr>
              <a:t> </a:t>
            </a:r>
            <a:r>
              <a:rPr sz="1400" spc="-10" dirty="0">
                <a:latin typeface="Calisto MT"/>
                <a:cs typeface="Calisto MT"/>
              </a:rPr>
              <a:t>compilation.</a:t>
            </a:r>
            <a:endParaRPr sz="1400">
              <a:latin typeface="Calisto MT"/>
              <a:cs typeface="Calisto MT"/>
            </a:endParaRPr>
          </a:p>
        </p:txBody>
      </p:sp>
      <p:grpSp>
        <p:nvGrpSpPr>
          <p:cNvPr id="19" name="object 19"/>
          <p:cNvGrpSpPr/>
          <p:nvPr/>
        </p:nvGrpSpPr>
        <p:grpSpPr>
          <a:xfrm>
            <a:off x="678815" y="3439540"/>
            <a:ext cx="1181735" cy="1402080"/>
            <a:chOff x="678815" y="3439540"/>
            <a:chExt cx="1181735" cy="1402080"/>
          </a:xfrm>
        </p:grpSpPr>
        <p:pic>
          <p:nvPicPr>
            <p:cNvPr id="20" name="object 20"/>
            <p:cNvPicPr/>
            <p:nvPr/>
          </p:nvPicPr>
          <p:blipFill>
            <a:blip r:embed="rId5" cstate="print"/>
            <a:stretch>
              <a:fillRect/>
            </a:stretch>
          </p:blipFill>
          <p:spPr>
            <a:xfrm>
              <a:off x="681990" y="3442715"/>
              <a:ext cx="1175004" cy="1395222"/>
            </a:xfrm>
            <a:prstGeom prst="rect">
              <a:avLst/>
            </a:prstGeom>
          </p:spPr>
        </p:pic>
        <p:sp>
          <p:nvSpPr>
            <p:cNvPr id="21" name="object 21"/>
            <p:cNvSpPr/>
            <p:nvPr/>
          </p:nvSpPr>
          <p:spPr>
            <a:xfrm>
              <a:off x="681990" y="3442715"/>
              <a:ext cx="1175385" cy="1395730"/>
            </a:xfrm>
            <a:custGeom>
              <a:avLst/>
              <a:gdLst/>
              <a:ahLst/>
              <a:cxnLst/>
              <a:rect l="l" t="t" r="r" b="b"/>
              <a:pathLst>
                <a:path w="1175385" h="1395729">
                  <a:moveTo>
                    <a:pt x="1175004" y="0"/>
                  </a:moveTo>
                  <a:lnTo>
                    <a:pt x="1175004" y="906907"/>
                  </a:lnTo>
                  <a:lnTo>
                    <a:pt x="587502" y="1395222"/>
                  </a:lnTo>
                  <a:lnTo>
                    <a:pt x="0" y="906907"/>
                  </a:lnTo>
                  <a:lnTo>
                    <a:pt x="0" y="0"/>
                  </a:lnTo>
                  <a:lnTo>
                    <a:pt x="587502" y="488315"/>
                  </a:lnTo>
                  <a:lnTo>
                    <a:pt x="1175004" y="0"/>
                  </a:lnTo>
                  <a:close/>
                </a:path>
              </a:pathLst>
            </a:custGeom>
            <a:ln w="6096">
              <a:solidFill>
                <a:srgbClr val="DFC52A"/>
              </a:solidFill>
            </a:ln>
          </p:spPr>
          <p:txBody>
            <a:bodyPr wrap="square" lIns="0" tIns="0" rIns="0" bIns="0" rtlCol="0"/>
            <a:lstStyle/>
            <a:p>
              <a:endParaRPr/>
            </a:p>
          </p:txBody>
        </p:sp>
      </p:grpSp>
      <p:sp>
        <p:nvSpPr>
          <p:cNvPr id="22" name="object 22"/>
          <p:cNvSpPr txBox="1"/>
          <p:nvPr/>
        </p:nvSpPr>
        <p:spPr>
          <a:xfrm>
            <a:off x="716280" y="3801364"/>
            <a:ext cx="1105535" cy="666115"/>
          </a:xfrm>
          <a:prstGeom prst="rect">
            <a:avLst/>
          </a:prstGeom>
        </p:spPr>
        <p:txBody>
          <a:bodyPr vert="horz" wrap="square" lIns="0" tIns="12700" rIns="0" bIns="0" rtlCol="0">
            <a:spAutoFit/>
          </a:bodyPr>
          <a:lstStyle/>
          <a:p>
            <a:pPr marL="12700" marR="5080" indent="1905" algn="ctr">
              <a:lnSpc>
                <a:spcPct val="100000"/>
              </a:lnSpc>
              <a:spcBef>
                <a:spcPts val="100"/>
              </a:spcBef>
            </a:pPr>
            <a:r>
              <a:rPr sz="1400" b="1" spc="-5" dirty="0">
                <a:latin typeface="Calisto MT"/>
                <a:cs typeface="Calisto MT"/>
              </a:rPr>
              <a:t>Reduced  Cl</a:t>
            </a:r>
            <a:r>
              <a:rPr sz="1400" b="1" spc="-20" dirty="0">
                <a:latin typeface="Calisto MT"/>
                <a:cs typeface="Calisto MT"/>
              </a:rPr>
              <a:t>i</a:t>
            </a:r>
            <a:r>
              <a:rPr sz="1400" b="1" spc="-10" dirty="0">
                <a:latin typeface="Calisto MT"/>
                <a:cs typeface="Calisto MT"/>
              </a:rPr>
              <a:t>e</a:t>
            </a:r>
            <a:r>
              <a:rPr sz="1400" b="1" spc="-5" dirty="0">
                <a:latin typeface="Calisto MT"/>
                <a:cs typeface="Calisto MT"/>
              </a:rPr>
              <a:t>n</a:t>
            </a:r>
            <a:r>
              <a:rPr sz="1400" b="1" spc="-10" dirty="0">
                <a:latin typeface="Calisto MT"/>
                <a:cs typeface="Calisto MT"/>
              </a:rPr>
              <a:t>t/</a:t>
            </a:r>
            <a:r>
              <a:rPr sz="1400" b="1" dirty="0">
                <a:latin typeface="Calisto MT"/>
                <a:cs typeface="Calisto MT"/>
              </a:rPr>
              <a:t>S</a:t>
            </a:r>
            <a:r>
              <a:rPr sz="1400" b="1" spc="-5" dirty="0">
                <a:latin typeface="Calisto MT"/>
                <a:cs typeface="Calisto MT"/>
              </a:rPr>
              <a:t>e</a:t>
            </a:r>
            <a:r>
              <a:rPr sz="1400" b="1" spc="10" dirty="0">
                <a:latin typeface="Calisto MT"/>
                <a:cs typeface="Calisto MT"/>
              </a:rPr>
              <a:t>r</a:t>
            </a:r>
            <a:r>
              <a:rPr sz="1400" b="1" spc="-55" dirty="0">
                <a:latin typeface="Calisto MT"/>
                <a:cs typeface="Calisto MT"/>
              </a:rPr>
              <a:t>v</a:t>
            </a:r>
            <a:r>
              <a:rPr sz="1400" b="1" spc="-10" dirty="0">
                <a:latin typeface="Calisto MT"/>
                <a:cs typeface="Calisto MT"/>
              </a:rPr>
              <a:t>er  </a:t>
            </a:r>
            <a:r>
              <a:rPr sz="1400" b="1" spc="-15" dirty="0">
                <a:latin typeface="Calisto MT"/>
                <a:cs typeface="Calisto MT"/>
              </a:rPr>
              <a:t>Traffic</a:t>
            </a:r>
            <a:endParaRPr sz="1400">
              <a:latin typeface="Calisto MT"/>
              <a:cs typeface="Calisto MT"/>
            </a:endParaRPr>
          </a:p>
        </p:txBody>
      </p:sp>
      <p:grpSp>
        <p:nvGrpSpPr>
          <p:cNvPr id="23" name="object 23"/>
          <p:cNvGrpSpPr/>
          <p:nvPr/>
        </p:nvGrpSpPr>
        <p:grpSpPr>
          <a:xfrm>
            <a:off x="1853819" y="3519551"/>
            <a:ext cx="7090409" cy="991235"/>
            <a:chOff x="1853819" y="3519551"/>
            <a:chExt cx="7090409" cy="991235"/>
          </a:xfrm>
        </p:grpSpPr>
        <p:sp>
          <p:nvSpPr>
            <p:cNvPr id="24" name="object 24"/>
            <p:cNvSpPr/>
            <p:nvPr/>
          </p:nvSpPr>
          <p:spPr>
            <a:xfrm>
              <a:off x="1856994" y="3522726"/>
              <a:ext cx="7084059" cy="984885"/>
            </a:xfrm>
            <a:custGeom>
              <a:avLst/>
              <a:gdLst/>
              <a:ahLst/>
              <a:cxnLst/>
              <a:rect l="l" t="t" r="r" b="b"/>
              <a:pathLst>
                <a:path w="7084059" h="984885">
                  <a:moveTo>
                    <a:pt x="6959854" y="0"/>
                  </a:moveTo>
                  <a:lnTo>
                    <a:pt x="0" y="0"/>
                  </a:lnTo>
                  <a:lnTo>
                    <a:pt x="0" y="984504"/>
                  </a:lnTo>
                  <a:lnTo>
                    <a:pt x="6959854" y="984504"/>
                  </a:lnTo>
                  <a:lnTo>
                    <a:pt x="6998955" y="976144"/>
                  </a:lnTo>
                  <a:lnTo>
                    <a:pt x="7032912" y="952861"/>
                  </a:lnTo>
                  <a:lnTo>
                    <a:pt x="7059688" y="917350"/>
                  </a:lnTo>
                  <a:lnTo>
                    <a:pt x="7077246" y="872305"/>
                  </a:lnTo>
                  <a:lnTo>
                    <a:pt x="7083552" y="820420"/>
                  </a:lnTo>
                  <a:lnTo>
                    <a:pt x="7083552" y="164084"/>
                  </a:lnTo>
                  <a:lnTo>
                    <a:pt x="7077246" y="112198"/>
                  </a:lnTo>
                  <a:lnTo>
                    <a:pt x="7059688" y="67153"/>
                  </a:lnTo>
                  <a:lnTo>
                    <a:pt x="7032912" y="31642"/>
                  </a:lnTo>
                  <a:lnTo>
                    <a:pt x="6998955" y="8359"/>
                  </a:lnTo>
                  <a:lnTo>
                    <a:pt x="6959854" y="0"/>
                  </a:lnTo>
                  <a:close/>
                </a:path>
              </a:pathLst>
            </a:custGeom>
            <a:solidFill>
              <a:srgbClr val="FFFFFF">
                <a:alpha val="90194"/>
              </a:srgbClr>
            </a:solidFill>
          </p:spPr>
          <p:txBody>
            <a:bodyPr wrap="square" lIns="0" tIns="0" rIns="0" bIns="0" rtlCol="0"/>
            <a:lstStyle/>
            <a:p>
              <a:endParaRPr/>
            </a:p>
          </p:txBody>
        </p:sp>
        <p:sp>
          <p:nvSpPr>
            <p:cNvPr id="25" name="object 25"/>
            <p:cNvSpPr/>
            <p:nvPr/>
          </p:nvSpPr>
          <p:spPr>
            <a:xfrm>
              <a:off x="1856994" y="3522726"/>
              <a:ext cx="7084059" cy="984885"/>
            </a:xfrm>
            <a:custGeom>
              <a:avLst/>
              <a:gdLst/>
              <a:ahLst/>
              <a:cxnLst/>
              <a:rect l="l" t="t" r="r" b="b"/>
              <a:pathLst>
                <a:path w="7084059" h="984885">
                  <a:moveTo>
                    <a:pt x="7083552" y="164084"/>
                  </a:moveTo>
                  <a:lnTo>
                    <a:pt x="7083552" y="820420"/>
                  </a:lnTo>
                  <a:lnTo>
                    <a:pt x="7077246" y="872305"/>
                  </a:lnTo>
                  <a:lnTo>
                    <a:pt x="7059688" y="917350"/>
                  </a:lnTo>
                  <a:lnTo>
                    <a:pt x="7032912" y="952861"/>
                  </a:lnTo>
                  <a:lnTo>
                    <a:pt x="6998955" y="976144"/>
                  </a:lnTo>
                  <a:lnTo>
                    <a:pt x="6959854" y="984504"/>
                  </a:lnTo>
                  <a:lnTo>
                    <a:pt x="0" y="984504"/>
                  </a:lnTo>
                  <a:lnTo>
                    <a:pt x="0" y="0"/>
                  </a:lnTo>
                  <a:lnTo>
                    <a:pt x="6959854" y="0"/>
                  </a:lnTo>
                  <a:lnTo>
                    <a:pt x="6998955" y="8359"/>
                  </a:lnTo>
                  <a:lnTo>
                    <a:pt x="7032912" y="31642"/>
                  </a:lnTo>
                  <a:lnTo>
                    <a:pt x="7059688" y="67153"/>
                  </a:lnTo>
                  <a:lnTo>
                    <a:pt x="7077246" y="112198"/>
                  </a:lnTo>
                  <a:lnTo>
                    <a:pt x="7083552" y="164084"/>
                  </a:lnTo>
                  <a:close/>
                </a:path>
              </a:pathLst>
            </a:custGeom>
            <a:ln w="6096">
              <a:solidFill>
                <a:srgbClr val="DFC52A"/>
              </a:solidFill>
            </a:ln>
          </p:spPr>
          <p:txBody>
            <a:bodyPr wrap="square" lIns="0" tIns="0" rIns="0" bIns="0" rtlCol="0"/>
            <a:lstStyle/>
            <a:p>
              <a:endParaRPr/>
            </a:p>
          </p:txBody>
        </p:sp>
      </p:grpSp>
      <p:sp>
        <p:nvSpPr>
          <p:cNvPr id="26" name="object 26"/>
          <p:cNvSpPr txBox="1"/>
          <p:nvPr/>
        </p:nvSpPr>
        <p:spPr>
          <a:xfrm>
            <a:off x="1930145" y="3568953"/>
            <a:ext cx="6767195" cy="879475"/>
          </a:xfrm>
          <a:prstGeom prst="rect">
            <a:avLst/>
          </a:prstGeom>
        </p:spPr>
        <p:txBody>
          <a:bodyPr vert="horz" wrap="square" lIns="0" tIns="12065" rIns="0" bIns="0" rtlCol="0">
            <a:spAutoFit/>
          </a:bodyPr>
          <a:lstStyle/>
          <a:p>
            <a:pPr marL="12700" marR="5080">
              <a:lnSpc>
                <a:spcPct val="100000"/>
              </a:lnSpc>
              <a:spcBef>
                <a:spcPts val="95"/>
              </a:spcBef>
            </a:pPr>
            <a:r>
              <a:rPr sz="1400" spc="-5" dirty="0">
                <a:latin typeface="Calisto MT"/>
                <a:cs typeface="Calisto MT"/>
              </a:rPr>
              <a:t>Stored procedures help in reducing </a:t>
            </a:r>
            <a:r>
              <a:rPr sz="1400" spc="-10" dirty="0">
                <a:latin typeface="Calisto MT"/>
                <a:cs typeface="Calisto MT"/>
              </a:rPr>
              <a:t>network traffic. </a:t>
            </a:r>
            <a:r>
              <a:rPr sz="1400" spc="-5" dirty="0">
                <a:latin typeface="Calisto MT"/>
                <a:cs typeface="Calisto MT"/>
              </a:rPr>
              <a:t>When </a:t>
            </a:r>
            <a:r>
              <a:rPr sz="1400" spc="-10" dirty="0">
                <a:latin typeface="Calisto MT"/>
                <a:cs typeface="Calisto MT"/>
              </a:rPr>
              <a:t>Transact-SQL </a:t>
            </a:r>
            <a:r>
              <a:rPr sz="1400" spc="-5" dirty="0">
                <a:latin typeface="Calisto MT"/>
                <a:cs typeface="Calisto MT"/>
              </a:rPr>
              <a:t>statements </a:t>
            </a:r>
            <a:r>
              <a:rPr sz="1400" spc="-10" dirty="0">
                <a:latin typeface="Calisto MT"/>
                <a:cs typeface="Calisto MT"/>
              </a:rPr>
              <a:t>are  executed </a:t>
            </a:r>
            <a:r>
              <a:rPr sz="1400" spc="-20" dirty="0">
                <a:latin typeface="Calisto MT"/>
                <a:cs typeface="Calisto MT"/>
              </a:rPr>
              <a:t>individually, </a:t>
            </a:r>
            <a:r>
              <a:rPr sz="1400" spc="-5" dirty="0">
                <a:latin typeface="Calisto MT"/>
                <a:cs typeface="Calisto MT"/>
              </a:rPr>
              <a:t>there is </a:t>
            </a:r>
            <a:r>
              <a:rPr sz="1400" spc="-10" dirty="0">
                <a:latin typeface="Calisto MT"/>
                <a:cs typeface="Calisto MT"/>
              </a:rPr>
              <a:t>network </a:t>
            </a:r>
            <a:r>
              <a:rPr sz="1400" spc="-5" dirty="0">
                <a:latin typeface="Calisto MT"/>
                <a:cs typeface="Calisto MT"/>
              </a:rPr>
              <a:t>usage separately for </a:t>
            </a:r>
            <a:r>
              <a:rPr sz="1400" spc="-10" dirty="0">
                <a:latin typeface="Calisto MT"/>
                <a:cs typeface="Calisto MT"/>
              </a:rPr>
              <a:t>execution </a:t>
            </a:r>
            <a:r>
              <a:rPr sz="1400" spc="-5" dirty="0">
                <a:latin typeface="Calisto MT"/>
                <a:cs typeface="Calisto MT"/>
              </a:rPr>
              <a:t>of each statement.  When a stored procedure is </a:t>
            </a:r>
            <a:r>
              <a:rPr sz="1400" spc="-10" dirty="0">
                <a:latin typeface="Calisto MT"/>
                <a:cs typeface="Calisto MT"/>
              </a:rPr>
              <a:t>executed, Transact-SQL </a:t>
            </a:r>
            <a:r>
              <a:rPr sz="1400" spc="-5" dirty="0">
                <a:latin typeface="Calisto MT"/>
                <a:cs typeface="Calisto MT"/>
              </a:rPr>
              <a:t>statements are </a:t>
            </a:r>
            <a:r>
              <a:rPr sz="1400" spc="-10" dirty="0">
                <a:latin typeface="Calisto MT"/>
                <a:cs typeface="Calisto MT"/>
              </a:rPr>
              <a:t>executed </a:t>
            </a:r>
            <a:r>
              <a:rPr sz="1400" spc="-5" dirty="0">
                <a:latin typeface="Calisto MT"/>
                <a:cs typeface="Calisto MT"/>
              </a:rPr>
              <a:t>together as a  single unit. This reduces </a:t>
            </a:r>
            <a:r>
              <a:rPr sz="1400" spc="-10" dirty="0">
                <a:latin typeface="Calisto MT"/>
                <a:cs typeface="Calisto MT"/>
              </a:rPr>
              <a:t>network</a:t>
            </a:r>
            <a:r>
              <a:rPr sz="1400" spc="45" dirty="0">
                <a:latin typeface="Calisto MT"/>
                <a:cs typeface="Calisto MT"/>
              </a:rPr>
              <a:t> </a:t>
            </a:r>
            <a:r>
              <a:rPr sz="1400" spc="-10" dirty="0">
                <a:latin typeface="Calisto MT"/>
                <a:cs typeface="Calisto MT"/>
              </a:rPr>
              <a:t>traffic.</a:t>
            </a:r>
            <a:endParaRPr sz="1400">
              <a:latin typeface="Calisto MT"/>
              <a:cs typeface="Calisto MT"/>
            </a:endParaRPr>
          </a:p>
        </p:txBody>
      </p:sp>
      <p:grpSp>
        <p:nvGrpSpPr>
          <p:cNvPr id="27" name="object 27"/>
          <p:cNvGrpSpPr/>
          <p:nvPr/>
        </p:nvGrpSpPr>
        <p:grpSpPr>
          <a:xfrm>
            <a:off x="678815" y="4468240"/>
            <a:ext cx="1181735" cy="1402715"/>
            <a:chOff x="678815" y="4468240"/>
            <a:chExt cx="1181735" cy="1402715"/>
          </a:xfrm>
        </p:grpSpPr>
        <p:pic>
          <p:nvPicPr>
            <p:cNvPr id="28" name="object 28"/>
            <p:cNvPicPr/>
            <p:nvPr/>
          </p:nvPicPr>
          <p:blipFill>
            <a:blip r:embed="rId6" cstate="print"/>
            <a:stretch>
              <a:fillRect/>
            </a:stretch>
          </p:blipFill>
          <p:spPr>
            <a:xfrm>
              <a:off x="681990" y="4471415"/>
              <a:ext cx="1175004" cy="1395984"/>
            </a:xfrm>
            <a:prstGeom prst="rect">
              <a:avLst/>
            </a:prstGeom>
          </p:spPr>
        </p:pic>
        <p:sp>
          <p:nvSpPr>
            <p:cNvPr id="29" name="object 29"/>
            <p:cNvSpPr/>
            <p:nvPr/>
          </p:nvSpPr>
          <p:spPr>
            <a:xfrm>
              <a:off x="681990" y="4471415"/>
              <a:ext cx="1175385" cy="1396365"/>
            </a:xfrm>
            <a:custGeom>
              <a:avLst/>
              <a:gdLst/>
              <a:ahLst/>
              <a:cxnLst/>
              <a:rect l="l" t="t" r="r" b="b"/>
              <a:pathLst>
                <a:path w="1175385" h="1396364">
                  <a:moveTo>
                    <a:pt x="1175004" y="0"/>
                  </a:moveTo>
                  <a:lnTo>
                    <a:pt x="1175004" y="907414"/>
                  </a:lnTo>
                  <a:lnTo>
                    <a:pt x="587502" y="1395983"/>
                  </a:lnTo>
                  <a:lnTo>
                    <a:pt x="0" y="907414"/>
                  </a:lnTo>
                  <a:lnTo>
                    <a:pt x="0" y="0"/>
                  </a:lnTo>
                  <a:lnTo>
                    <a:pt x="587502" y="488568"/>
                  </a:lnTo>
                  <a:lnTo>
                    <a:pt x="1175004" y="0"/>
                  </a:lnTo>
                  <a:close/>
                </a:path>
              </a:pathLst>
            </a:custGeom>
            <a:ln w="6095">
              <a:solidFill>
                <a:srgbClr val="F39C12"/>
              </a:solidFill>
            </a:ln>
          </p:spPr>
          <p:txBody>
            <a:bodyPr wrap="square" lIns="0" tIns="0" rIns="0" bIns="0" rtlCol="0"/>
            <a:lstStyle/>
            <a:p>
              <a:endParaRPr/>
            </a:p>
          </p:txBody>
        </p:sp>
      </p:grpSp>
      <p:sp>
        <p:nvSpPr>
          <p:cNvPr id="30" name="object 30"/>
          <p:cNvSpPr txBox="1"/>
          <p:nvPr/>
        </p:nvSpPr>
        <p:spPr>
          <a:xfrm>
            <a:off x="713994" y="5044185"/>
            <a:ext cx="111125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Calisto MT"/>
                <a:cs typeface="Calisto MT"/>
              </a:rPr>
              <a:t>Reuse </a:t>
            </a:r>
            <a:r>
              <a:rPr sz="1400" b="1" spc="-5" dirty="0">
                <a:latin typeface="Calisto MT"/>
                <a:cs typeface="Calisto MT"/>
              </a:rPr>
              <a:t>of</a:t>
            </a:r>
            <a:r>
              <a:rPr sz="1400" b="1" spc="65" dirty="0">
                <a:latin typeface="Calisto MT"/>
                <a:cs typeface="Calisto MT"/>
              </a:rPr>
              <a:t> </a:t>
            </a:r>
            <a:r>
              <a:rPr sz="1400" b="1" spc="-10" dirty="0">
                <a:latin typeface="Calisto MT"/>
                <a:cs typeface="Calisto MT"/>
              </a:rPr>
              <a:t>code</a:t>
            </a:r>
            <a:endParaRPr sz="1400">
              <a:latin typeface="Calisto MT"/>
              <a:cs typeface="Calisto MT"/>
            </a:endParaRPr>
          </a:p>
        </p:txBody>
      </p:sp>
      <p:grpSp>
        <p:nvGrpSpPr>
          <p:cNvPr id="31" name="object 31"/>
          <p:cNvGrpSpPr/>
          <p:nvPr/>
        </p:nvGrpSpPr>
        <p:grpSpPr>
          <a:xfrm>
            <a:off x="1853945" y="4687061"/>
            <a:ext cx="7089775" cy="771525"/>
            <a:chOff x="1853945" y="4687061"/>
            <a:chExt cx="7089775" cy="771525"/>
          </a:xfrm>
        </p:grpSpPr>
        <p:sp>
          <p:nvSpPr>
            <p:cNvPr id="32" name="object 32"/>
            <p:cNvSpPr/>
            <p:nvPr/>
          </p:nvSpPr>
          <p:spPr>
            <a:xfrm>
              <a:off x="1856993" y="4690109"/>
              <a:ext cx="7084059" cy="765175"/>
            </a:xfrm>
            <a:custGeom>
              <a:avLst/>
              <a:gdLst/>
              <a:ahLst/>
              <a:cxnLst/>
              <a:rect l="l" t="t" r="r" b="b"/>
              <a:pathLst>
                <a:path w="7084059" h="765175">
                  <a:moveTo>
                    <a:pt x="6959854" y="0"/>
                  </a:moveTo>
                  <a:lnTo>
                    <a:pt x="0" y="0"/>
                  </a:lnTo>
                  <a:lnTo>
                    <a:pt x="0" y="765047"/>
                  </a:lnTo>
                  <a:lnTo>
                    <a:pt x="6959854" y="765047"/>
                  </a:lnTo>
                  <a:lnTo>
                    <a:pt x="7008006" y="755018"/>
                  </a:lnTo>
                  <a:lnTo>
                    <a:pt x="7047325" y="727678"/>
                  </a:lnTo>
                  <a:lnTo>
                    <a:pt x="7073832" y="687145"/>
                  </a:lnTo>
                  <a:lnTo>
                    <a:pt x="7083552" y="637539"/>
                  </a:lnTo>
                  <a:lnTo>
                    <a:pt x="7083552" y="127507"/>
                  </a:lnTo>
                  <a:lnTo>
                    <a:pt x="7073832" y="77902"/>
                  </a:lnTo>
                  <a:lnTo>
                    <a:pt x="7047325" y="37369"/>
                  </a:lnTo>
                  <a:lnTo>
                    <a:pt x="7008006" y="10029"/>
                  </a:lnTo>
                  <a:lnTo>
                    <a:pt x="6959854" y="0"/>
                  </a:lnTo>
                  <a:close/>
                </a:path>
              </a:pathLst>
            </a:custGeom>
            <a:solidFill>
              <a:srgbClr val="FFFFFF">
                <a:alpha val="90194"/>
              </a:srgbClr>
            </a:solidFill>
          </p:spPr>
          <p:txBody>
            <a:bodyPr wrap="square" lIns="0" tIns="0" rIns="0" bIns="0" rtlCol="0"/>
            <a:lstStyle/>
            <a:p>
              <a:endParaRPr/>
            </a:p>
          </p:txBody>
        </p:sp>
        <p:sp>
          <p:nvSpPr>
            <p:cNvPr id="33" name="object 33"/>
            <p:cNvSpPr/>
            <p:nvPr/>
          </p:nvSpPr>
          <p:spPr>
            <a:xfrm>
              <a:off x="1856993" y="4690109"/>
              <a:ext cx="7084059" cy="765175"/>
            </a:xfrm>
            <a:custGeom>
              <a:avLst/>
              <a:gdLst/>
              <a:ahLst/>
              <a:cxnLst/>
              <a:rect l="l" t="t" r="r" b="b"/>
              <a:pathLst>
                <a:path w="7084059" h="765175">
                  <a:moveTo>
                    <a:pt x="7083552" y="127507"/>
                  </a:moveTo>
                  <a:lnTo>
                    <a:pt x="7083552" y="637539"/>
                  </a:lnTo>
                  <a:lnTo>
                    <a:pt x="7073832" y="687145"/>
                  </a:lnTo>
                  <a:lnTo>
                    <a:pt x="7047325" y="727678"/>
                  </a:lnTo>
                  <a:lnTo>
                    <a:pt x="7008006" y="755018"/>
                  </a:lnTo>
                  <a:lnTo>
                    <a:pt x="6959854" y="765047"/>
                  </a:lnTo>
                  <a:lnTo>
                    <a:pt x="0" y="765047"/>
                  </a:lnTo>
                  <a:lnTo>
                    <a:pt x="0" y="0"/>
                  </a:lnTo>
                  <a:lnTo>
                    <a:pt x="6959854" y="0"/>
                  </a:lnTo>
                  <a:lnTo>
                    <a:pt x="7008006" y="10029"/>
                  </a:lnTo>
                  <a:lnTo>
                    <a:pt x="7047325" y="37369"/>
                  </a:lnTo>
                  <a:lnTo>
                    <a:pt x="7073832" y="77902"/>
                  </a:lnTo>
                  <a:lnTo>
                    <a:pt x="7083552" y="127507"/>
                  </a:lnTo>
                  <a:close/>
                </a:path>
              </a:pathLst>
            </a:custGeom>
            <a:ln w="6096">
              <a:solidFill>
                <a:srgbClr val="F39C12"/>
              </a:solidFill>
            </a:ln>
          </p:spPr>
          <p:txBody>
            <a:bodyPr wrap="square" lIns="0" tIns="0" rIns="0" bIns="0" rtlCol="0"/>
            <a:lstStyle/>
            <a:p>
              <a:endParaRPr/>
            </a:p>
          </p:txBody>
        </p:sp>
      </p:grpSp>
      <p:sp>
        <p:nvSpPr>
          <p:cNvPr id="34" name="object 34"/>
          <p:cNvSpPr txBox="1"/>
          <p:nvPr/>
        </p:nvSpPr>
        <p:spPr>
          <a:xfrm>
            <a:off x="1930145" y="4840223"/>
            <a:ext cx="6780530" cy="452755"/>
          </a:xfrm>
          <a:prstGeom prst="rect">
            <a:avLst/>
          </a:prstGeom>
        </p:spPr>
        <p:txBody>
          <a:bodyPr vert="horz" wrap="square" lIns="0" tIns="12065" rIns="0" bIns="0" rtlCol="0">
            <a:spAutoFit/>
          </a:bodyPr>
          <a:lstStyle/>
          <a:p>
            <a:pPr marL="12700" marR="5080">
              <a:lnSpc>
                <a:spcPct val="100000"/>
              </a:lnSpc>
              <a:spcBef>
                <a:spcPts val="95"/>
              </a:spcBef>
            </a:pPr>
            <a:r>
              <a:rPr sz="1400" spc="-5" dirty="0">
                <a:latin typeface="Calisto MT"/>
                <a:cs typeface="Calisto MT"/>
              </a:rPr>
              <a:t>Stored procedures can be used multiple </a:t>
            </a:r>
            <a:r>
              <a:rPr sz="1400" spc="-10" dirty="0">
                <a:latin typeface="Calisto MT"/>
                <a:cs typeface="Calisto MT"/>
              </a:rPr>
              <a:t>times. </a:t>
            </a:r>
            <a:r>
              <a:rPr sz="1400" spc="-5" dirty="0">
                <a:latin typeface="Calisto MT"/>
                <a:cs typeface="Calisto MT"/>
              </a:rPr>
              <a:t>This eliminates need to </a:t>
            </a:r>
            <a:r>
              <a:rPr sz="1400" spc="-10" dirty="0">
                <a:latin typeface="Calisto MT"/>
                <a:cs typeface="Calisto MT"/>
              </a:rPr>
              <a:t>repetitively </a:t>
            </a:r>
            <a:r>
              <a:rPr sz="1400" spc="-5" dirty="0">
                <a:latin typeface="Calisto MT"/>
                <a:cs typeface="Calisto MT"/>
              </a:rPr>
              <a:t>type out  hundreds of </a:t>
            </a:r>
            <a:r>
              <a:rPr sz="1400" spc="-10" dirty="0">
                <a:latin typeface="Calisto MT"/>
                <a:cs typeface="Calisto MT"/>
              </a:rPr>
              <a:t>Transact-SQL </a:t>
            </a:r>
            <a:r>
              <a:rPr sz="1400" spc="-5" dirty="0">
                <a:latin typeface="Calisto MT"/>
                <a:cs typeface="Calisto MT"/>
              </a:rPr>
              <a:t>statements </a:t>
            </a:r>
            <a:r>
              <a:rPr sz="1400" spc="-10" dirty="0">
                <a:latin typeface="Calisto MT"/>
                <a:cs typeface="Calisto MT"/>
              </a:rPr>
              <a:t>every </a:t>
            </a:r>
            <a:r>
              <a:rPr sz="1400" spc="-5" dirty="0">
                <a:latin typeface="Calisto MT"/>
                <a:cs typeface="Calisto MT"/>
              </a:rPr>
              <a:t>time a similar task is to be</a:t>
            </a:r>
            <a:r>
              <a:rPr sz="1400" spc="30" dirty="0">
                <a:latin typeface="Calisto MT"/>
                <a:cs typeface="Calisto MT"/>
              </a:rPr>
              <a:t> </a:t>
            </a:r>
            <a:r>
              <a:rPr sz="1400" spc="-5" dirty="0">
                <a:latin typeface="Calisto MT"/>
                <a:cs typeface="Calisto MT"/>
              </a:rPr>
              <a:t>performed.</a:t>
            </a:r>
            <a:endParaRPr sz="1400">
              <a:latin typeface="Calisto MT"/>
              <a:cs typeface="Calisto MT"/>
            </a:endParaRPr>
          </a:p>
        </p:txBody>
      </p:sp>
      <p:sp>
        <p:nvSpPr>
          <p:cNvPr id="36" name="object 3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27</a:t>
            </a:fld>
            <a:endParaRPr sz="1200"/>
          </a:p>
        </p:txBody>
      </p:sp>
      <p:sp>
        <p:nvSpPr>
          <p:cNvPr id="37" name="object 3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294" y="0"/>
            <a:ext cx="6686550" cy="635635"/>
          </a:xfrm>
          <a:prstGeom prst="rect">
            <a:avLst/>
          </a:prstGeom>
        </p:spPr>
        <p:txBody>
          <a:bodyPr vert="horz" wrap="square" lIns="0" tIns="12700" rIns="0" bIns="0" rtlCol="0">
            <a:spAutoFit/>
          </a:bodyPr>
          <a:lstStyle/>
          <a:p>
            <a:pPr marL="12700">
              <a:lnSpc>
                <a:spcPct val="100000"/>
              </a:lnSpc>
              <a:spcBef>
                <a:spcPts val="100"/>
              </a:spcBef>
            </a:pPr>
            <a:r>
              <a:rPr sz="4000" b="0" spc="-90" dirty="0">
                <a:latin typeface="Arial"/>
                <a:cs typeface="Arial"/>
              </a:rPr>
              <a:t>Types </a:t>
            </a:r>
            <a:r>
              <a:rPr sz="4000" b="0" spc="114" dirty="0">
                <a:latin typeface="Arial"/>
                <a:cs typeface="Arial"/>
              </a:rPr>
              <a:t>of</a:t>
            </a:r>
            <a:r>
              <a:rPr sz="4000" b="0" spc="-840" dirty="0">
                <a:latin typeface="Arial"/>
                <a:cs typeface="Arial"/>
              </a:rPr>
              <a:t> </a:t>
            </a:r>
            <a:r>
              <a:rPr sz="4000" b="0" spc="-40" dirty="0">
                <a:latin typeface="Arial"/>
                <a:cs typeface="Arial"/>
              </a:rPr>
              <a:t>Stored </a:t>
            </a:r>
            <a:r>
              <a:rPr sz="4000" b="0" spc="-135" dirty="0">
                <a:latin typeface="Arial"/>
                <a:cs typeface="Arial"/>
              </a:rPr>
              <a:t>Procedures </a:t>
            </a:r>
            <a:r>
              <a:rPr sz="4000" b="0" spc="-484" dirty="0">
                <a:latin typeface="Arial"/>
                <a:cs typeface="Arial"/>
              </a:rPr>
              <a:t>1-3</a:t>
            </a:r>
            <a:endParaRPr sz="4000">
              <a:latin typeface="Arial"/>
              <a:cs typeface="Arial"/>
            </a:endParaRPr>
          </a:p>
        </p:txBody>
      </p:sp>
      <p:sp>
        <p:nvSpPr>
          <p:cNvPr id="3" name="object 3"/>
          <p:cNvSpPr/>
          <p:nvPr/>
        </p:nvSpPr>
        <p:spPr>
          <a:xfrm>
            <a:off x="1045464" y="3019043"/>
            <a:ext cx="7641590" cy="985519"/>
          </a:xfrm>
          <a:custGeom>
            <a:avLst/>
            <a:gdLst/>
            <a:ahLst/>
            <a:cxnLst/>
            <a:rect l="l" t="t" r="r" b="b"/>
            <a:pathLst>
              <a:path w="7641590" h="985520">
                <a:moveTo>
                  <a:pt x="7641336" y="164211"/>
                </a:moveTo>
                <a:lnTo>
                  <a:pt x="7635468" y="120573"/>
                </a:lnTo>
                <a:lnTo>
                  <a:pt x="7618908" y="81343"/>
                </a:lnTo>
                <a:lnTo>
                  <a:pt x="7593228" y="48107"/>
                </a:lnTo>
                <a:lnTo>
                  <a:pt x="7559992" y="22428"/>
                </a:lnTo>
                <a:lnTo>
                  <a:pt x="7520762" y="5867"/>
                </a:lnTo>
                <a:lnTo>
                  <a:pt x="7477125" y="0"/>
                </a:lnTo>
                <a:lnTo>
                  <a:pt x="164211" y="0"/>
                </a:lnTo>
                <a:lnTo>
                  <a:pt x="120548" y="5867"/>
                </a:lnTo>
                <a:lnTo>
                  <a:pt x="81330" y="22428"/>
                </a:lnTo>
                <a:lnTo>
                  <a:pt x="48094" y="48107"/>
                </a:lnTo>
                <a:lnTo>
                  <a:pt x="22415" y="81343"/>
                </a:lnTo>
                <a:lnTo>
                  <a:pt x="5854" y="120573"/>
                </a:lnTo>
                <a:lnTo>
                  <a:pt x="0" y="164211"/>
                </a:lnTo>
                <a:lnTo>
                  <a:pt x="0" y="821055"/>
                </a:lnTo>
                <a:lnTo>
                  <a:pt x="5854" y="864704"/>
                </a:lnTo>
                <a:lnTo>
                  <a:pt x="22415" y="903935"/>
                </a:lnTo>
                <a:lnTo>
                  <a:pt x="48094" y="937171"/>
                </a:lnTo>
                <a:lnTo>
                  <a:pt x="81330" y="962850"/>
                </a:lnTo>
                <a:lnTo>
                  <a:pt x="120548" y="979411"/>
                </a:lnTo>
                <a:lnTo>
                  <a:pt x="164211" y="985266"/>
                </a:lnTo>
                <a:lnTo>
                  <a:pt x="7477125" y="985266"/>
                </a:lnTo>
                <a:lnTo>
                  <a:pt x="7520762" y="979411"/>
                </a:lnTo>
                <a:lnTo>
                  <a:pt x="7559992" y="962850"/>
                </a:lnTo>
                <a:lnTo>
                  <a:pt x="7593228" y="937171"/>
                </a:lnTo>
                <a:lnTo>
                  <a:pt x="7618908" y="903935"/>
                </a:lnTo>
                <a:lnTo>
                  <a:pt x="7635468" y="864704"/>
                </a:lnTo>
                <a:lnTo>
                  <a:pt x="7641336" y="821055"/>
                </a:lnTo>
                <a:lnTo>
                  <a:pt x="7641336" y="164211"/>
                </a:lnTo>
                <a:close/>
              </a:path>
            </a:pathLst>
          </a:custGeom>
          <a:solidFill>
            <a:srgbClr val="4AACC5"/>
          </a:solidFill>
        </p:spPr>
        <p:txBody>
          <a:bodyPr wrap="square" lIns="0" tIns="0" rIns="0" bIns="0" rtlCol="0"/>
          <a:lstStyle/>
          <a:p>
            <a:endParaRPr/>
          </a:p>
        </p:txBody>
      </p:sp>
      <p:sp>
        <p:nvSpPr>
          <p:cNvPr id="4" name="object 4"/>
          <p:cNvSpPr txBox="1"/>
          <p:nvPr/>
        </p:nvSpPr>
        <p:spPr>
          <a:xfrm>
            <a:off x="199136" y="740155"/>
            <a:ext cx="8542655" cy="3129915"/>
          </a:xfrm>
          <a:prstGeom prst="rect">
            <a:avLst/>
          </a:prstGeom>
        </p:spPr>
        <p:txBody>
          <a:bodyPr vert="horz" wrap="square" lIns="0" tIns="12700" rIns="0" bIns="0" rtlCol="0">
            <a:spAutoFit/>
          </a:bodyPr>
          <a:lstStyle/>
          <a:p>
            <a:pPr marL="558800" marR="5080" indent="-342900">
              <a:lnSpc>
                <a:spcPct val="100000"/>
              </a:lnSpc>
              <a:spcBef>
                <a:spcPts val="100"/>
              </a:spcBef>
              <a:buFont typeface="Wingdings"/>
              <a:buChar char=""/>
              <a:tabLst>
                <a:tab pos="559435" algn="l"/>
              </a:tabLst>
            </a:pPr>
            <a:r>
              <a:rPr sz="2400" spc="25" dirty="0">
                <a:latin typeface="Arial"/>
                <a:cs typeface="Arial"/>
              </a:rPr>
              <a:t>SQL</a:t>
            </a:r>
            <a:r>
              <a:rPr sz="2400" spc="-125" dirty="0">
                <a:latin typeface="Arial"/>
                <a:cs typeface="Arial"/>
              </a:rPr>
              <a:t> </a:t>
            </a:r>
            <a:r>
              <a:rPr sz="2400" spc="-65" dirty="0">
                <a:latin typeface="Arial"/>
                <a:cs typeface="Arial"/>
              </a:rPr>
              <a:t>Server</a:t>
            </a:r>
            <a:r>
              <a:rPr sz="2400" spc="-125" dirty="0">
                <a:latin typeface="Arial"/>
                <a:cs typeface="Arial"/>
              </a:rPr>
              <a:t> </a:t>
            </a:r>
            <a:r>
              <a:rPr sz="2400" spc="-30" dirty="0">
                <a:latin typeface="Arial"/>
                <a:cs typeface="Arial"/>
              </a:rPr>
              <a:t>supports</a:t>
            </a:r>
            <a:r>
              <a:rPr sz="2400" spc="-114" dirty="0">
                <a:latin typeface="Arial"/>
                <a:cs typeface="Arial"/>
              </a:rPr>
              <a:t> </a:t>
            </a:r>
            <a:r>
              <a:rPr sz="2400" spc="-25" dirty="0">
                <a:latin typeface="Arial"/>
                <a:cs typeface="Arial"/>
              </a:rPr>
              <a:t>various</a:t>
            </a:r>
            <a:r>
              <a:rPr sz="2400" spc="-110" dirty="0">
                <a:latin typeface="Arial"/>
                <a:cs typeface="Arial"/>
              </a:rPr>
              <a:t> </a:t>
            </a:r>
            <a:r>
              <a:rPr sz="2400" spc="-65" dirty="0">
                <a:latin typeface="Arial"/>
                <a:cs typeface="Arial"/>
              </a:rPr>
              <a:t>types</a:t>
            </a:r>
            <a:r>
              <a:rPr sz="2400" spc="-125" dirty="0">
                <a:latin typeface="Arial"/>
                <a:cs typeface="Arial"/>
              </a:rPr>
              <a:t> </a:t>
            </a:r>
            <a:r>
              <a:rPr sz="2400" spc="65" dirty="0">
                <a:latin typeface="Arial"/>
                <a:cs typeface="Arial"/>
              </a:rPr>
              <a:t>of</a:t>
            </a:r>
            <a:r>
              <a:rPr sz="2400" spc="-125" dirty="0">
                <a:latin typeface="Arial"/>
                <a:cs typeface="Arial"/>
              </a:rPr>
              <a:t> </a:t>
            </a:r>
            <a:r>
              <a:rPr sz="2400" spc="-40" dirty="0">
                <a:latin typeface="Arial"/>
                <a:cs typeface="Arial"/>
              </a:rPr>
              <a:t>stored</a:t>
            </a:r>
            <a:r>
              <a:rPr sz="2400" spc="-120" dirty="0">
                <a:latin typeface="Arial"/>
                <a:cs typeface="Arial"/>
              </a:rPr>
              <a:t> </a:t>
            </a:r>
            <a:r>
              <a:rPr sz="2400" spc="-60" dirty="0">
                <a:latin typeface="Arial"/>
                <a:cs typeface="Arial"/>
              </a:rPr>
              <a:t>procedures</a:t>
            </a:r>
            <a:r>
              <a:rPr sz="2400" spc="-130" dirty="0">
                <a:latin typeface="Arial"/>
                <a:cs typeface="Arial"/>
              </a:rPr>
              <a:t> </a:t>
            </a:r>
            <a:r>
              <a:rPr sz="2400" spc="-65" dirty="0">
                <a:latin typeface="Arial"/>
                <a:cs typeface="Arial"/>
              </a:rPr>
              <a:t>such  </a:t>
            </a:r>
            <a:r>
              <a:rPr sz="2400" spc="-180" dirty="0">
                <a:latin typeface="Arial"/>
                <a:cs typeface="Arial"/>
              </a:rPr>
              <a:t>as:</a:t>
            </a:r>
            <a:endParaRPr sz="2400">
              <a:latin typeface="Arial"/>
              <a:cs typeface="Arial"/>
            </a:endParaRPr>
          </a:p>
          <a:p>
            <a:pPr marL="1130935" lvl="1" indent="-344170">
              <a:lnSpc>
                <a:spcPct val="100000"/>
              </a:lnSpc>
              <a:spcBef>
                <a:spcPts val="110"/>
              </a:spcBef>
              <a:buFont typeface="Arial"/>
              <a:buChar char="•"/>
              <a:tabLst>
                <a:tab pos="1130935" algn="l"/>
                <a:tab pos="1131570" algn="l"/>
              </a:tabLst>
            </a:pPr>
            <a:r>
              <a:rPr sz="1800" b="1" spc="-65" dirty="0">
                <a:latin typeface="Arial"/>
                <a:cs typeface="Arial"/>
              </a:rPr>
              <a:t>User-Defined </a:t>
            </a:r>
            <a:r>
              <a:rPr sz="1800" b="1" spc="-95" dirty="0">
                <a:latin typeface="Arial"/>
                <a:cs typeface="Arial"/>
              </a:rPr>
              <a:t>Stored</a:t>
            </a:r>
            <a:r>
              <a:rPr sz="1800" b="1" spc="-265" dirty="0">
                <a:latin typeface="Arial"/>
                <a:cs typeface="Arial"/>
              </a:rPr>
              <a:t> </a:t>
            </a:r>
            <a:r>
              <a:rPr sz="1800" b="1" spc="-145" dirty="0">
                <a:latin typeface="Arial"/>
                <a:cs typeface="Arial"/>
              </a:rPr>
              <a:t>Procedures</a:t>
            </a:r>
            <a:endParaRPr sz="1800">
              <a:latin typeface="Arial"/>
              <a:cs typeface="Arial"/>
            </a:endParaRPr>
          </a:p>
          <a:p>
            <a:pPr marL="1130935" lvl="1" indent="-344170">
              <a:lnSpc>
                <a:spcPct val="100000"/>
              </a:lnSpc>
              <a:buFont typeface="Arial"/>
              <a:buChar char="•"/>
              <a:tabLst>
                <a:tab pos="1130935" algn="l"/>
                <a:tab pos="1131570" algn="l"/>
              </a:tabLst>
            </a:pPr>
            <a:r>
              <a:rPr sz="1800" b="1" spc="-90" dirty="0">
                <a:latin typeface="Arial"/>
                <a:cs typeface="Arial"/>
              </a:rPr>
              <a:t>Extended </a:t>
            </a:r>
            <a:r>
              <a:rPr sz="1800" b="1" spc="-95" dirty="0">
                <a:latin typeface="Arial"/>
                <a:cs typeface="Arial"/>
              </a:rPr>
              <a:t>Stored</a:t>
            </a:r>
            <a:r>
              <a:rPr sz="1800" b="1" spc="-235" dirty="0">
                <a:latin typeface="Arial"/>
                <a:cs typeface="Arial"/>
              </a:rPr>
              <a:t> </a:t>
            </a:r>
            <a:r>
              <a:rPr sz="1800" b="1" spc="-145" dirty="0">
                <a:latin typeface="Arial"/>
                <a:cs typeface="Arial"/>
              </a:rPr>
              <a:t>Procedures</a:t>
            </a:r>
            <a:endParaRPr sz="1800">
              <a:latin typeface="Arial"/>
              <a:cs typeface="Arial"/>
            </a:endParaRPr>
          </a:p>
          <a:p>
            <a:pPr lvl="1">
              <a:lnSpc>
                <a:spcPct val="100000"/>
              </a:lnSpc>
              <a:spcBef>
                <a:spcPts val="40"/>
              </a:spcBef>
              <a:buFont typeface="Arial"/>
              <a:buChar char="•"/>
            </a:pPr>
            <a:endParaRPr sz="2300">
              <a:latin typeface="Arial"/>
              <a:cs typeface="Arial"/>
            </a:endParaRPr>
          </a:p>
          <a:p>
            <a:pPr marL="12700">
              <a:lnSpc>
                <a:spcPct val="100000"/>
              </a:lnSpc>
            </a:pPr>
            <a:r>
              <a:rPr sz="2400" b="1" spc="-85" dirty="0">
                <a:latin typeface="Arial"/>
                <a:cs typeface="Arial"/>
              </a:rPr>
              <a:t>User-Defined </a:t>
            </a:r>
            <a:r>
              <a:rPr sz="2400" b="1" spc="-125" dirty="0">
                <a:latin typeface="Arial"/>
                <a:cs typeface="Arial"/>
              </a:rPr>
              <a:t>Stored</a:t>
            </a:r>
            <a:r>
              <a:rPr sz="2400" b="1" spc="-320" dirty="0">
                <a:latin typeface="Arial"/>
                <a:cs typeface="Arial"/>
              </a:rPr>
              <a:t> </a:t>
            </a:r>
            <a:r>
              <a:rPr sz="2400" b="1" spc="-195" dirty="0">
                <a:latin typeface="Arial"/>
                <a:cs typeface="Arial"/>
              </a:rPr>
              <a:t>Procedures</a:t>
            </a:r>
            <a:endParaRPr sz="2400">
              <a:latin typeface="Arial"/>
              <a:cs typeface="Arial"/>
            </a:endParaRPr>
          </a:p>
          <a:p>
            <a:pPr marL="1337945" lvl="2" indent="-343535">
              <a:lnSpc>
                <a:spcPts val="2310"/>
              </a:lnSpc>
              <a:spcBef>
                <a:spcPts val="2365"/>
              </a:spcBef>
              <a:buFont typeface="Wingdings"/>
              <a:buChar char=""/>
              <a:tabLst>
                <a:tab pos="1337945" algn="l"/>
                <a:tab pos="1338580" algn="l"/>
              </a:tabLst>
            </a:pPr>
            <a:r>
              <a:rPr sz="2000" spc="40" dirty="0">
                <a:solidFill>
                  <a:srgbClr val="FFFFFF"/>
                </a:solidFill>
                <a:latin typeface="Arial"/>
                <a:cs typeface="Arial"/>
              </a:rPr>
              <a:t>Also </a:t>
            </a:r>
            <a:r>
              <a:rPr sz="2000" spc="50" dirty="0">
                <a:solidFill>
                  <a:srgbClr val="FFFFFF"/>
                </a:solidFill>
                <a:latin typeface="Arial"/>
                <a:cs typeface="Arial"/>
              </a:rPr>
              <a:t>known</a:t>
            </a:r>
            <a:r>
              <a:rPr sz="2000" spc="-370" dirty="0">
                <a:solidFill>
                  <a:srgbClr val="FFFFFF"/>
                </a:solidFill>
                <a:latin typeface="Arial"/>
                <a:cs typeface="Arial"/>
              </a:rPr>
              <a:t> </a:t>
            </a:r>
            <a:r>
              <a:rPr sz="2000" spc="-204" dirty="0">
                <a:solidFill>
                  <a:srgbClr val="FFFFFF"/>
                </a:solidFill>
                <a:latin typeface="Arial"/>
                <a:cs typeface="Arial"/>
              </a:rPr>
              <a:t>as </a:t>
            </a:r>
            <a:r>
              <a:rPr sz="2000" spc="-30" dirty="0">
                <a:solidFill>
                  <a:srgbClr val="FFFFFF"/>
                </a:solidFill>
                <a:latin typeface="Arial"/>
                <a:cs typeface="Arial"/>
              </a:rPr>
              <a:t>custom </a:t>
            </a:r>
            <a:r>
              <a:rPr sz="2000" spc="-35" dirty="0">
                <a:solidFill>
                  <a:srgbClr val="FFFFFF"/>
                </a:solidFill>
                <a:latin typeface="Arial"/>
                <a:cs typeface="Arial"/>
              </a:rPr>
              <a:t>stored </a:t>
            </a:r>
            <a:r>
              <a:rPr sz="2000" spc="-50" dirty="0">
                <a:solidFill>
                  <a:srgbClr val="FFFFFF"/>
                </a:solidFill>
                <a:latin typeface="Arial"/>
                <a:cs typeface="Arial"/>
              </a:rPr>
              <a:t>procedures</a:t>
            </a:r>
            <a:endParaRPr sz="2000">
              <a:latin typeface="Arial"/>
              <a:cs typeface="Arial"/>
            </a:endParaRPr>
          </a:p>
          <a:p>
            <a:pPr marL="1337945" marR="180340" lvl="2" indent="-342900">
              <a:lnSpc>
                <a:spcPts val="1939"/>
              </a:lnSpc>
              <a:spcBef>
                <a:spcPts val="155"/>
              </a:spcBef>
              <a:buFont typeface="Wingdings"/>
              <a:buChar char=""/>
              <a:tabLst>
                <a:tab pos="1337945" algn="l"/>
                <a:tab pos="1338580" algn="l"/>
              </a:tabLst>
            </a:pPr>
            <a:r>
              <a:rPr sz="1800" spc="-45" dirty="0">
                <a:solidFill>
                  <a:srgbClr val="FFFFFF"/>
                </a:solidFill>
                <a:latin typeface="Arial"/>
                <a:cs typeface="Arial"/>
              </a:rPr>
              <a:t>Used </a:t>
            </a:r>
            <a:r>
              <a:rPr sz="1800" spc="60" dirty="0">
                <a:solidFill>
                  <a:srgbClr val="FFFFFF"/>
                </a:solidFill>
                <a:latin typeface="Arial"/>
                <a:cs typeface="Arial"/>
              </a:rPr>
              <a:t>for </a:t>
            </a:r>
            <a:r>
              <a:rPr sz="1800" spc="-30" dirty="0">
                <a:solidFill>
                  <a:srgbClr val="FFFFFF"/>
                </a:solidFill>
                <a:latin typeface="Arial"/>
                <a:cs typeface="Arial"/>
              </a:rPr>
              <a:t>reusing </a:t>
            </a:r>
            <a:r>
              <a:rPr sz="1800" spc="-15" dirty="0">
                <a:solidFill>
                  <a:srgbClr val="FFFFFF"/>
                </a:solidFill>
                <a:latin typeface="Arial"/>
                <a:cs typeface="Arial"/>
              </a:rPr>
              <a:t>Transact-SQL </a:t>
            </a:r>
            <a:r>
              <a:rPr sz="1800" spc="-50" dirty="0">
                <a:solidFill>
                  <a:srgbClr val="FFFFFF"/>
                </a:solidFill>
                <a:latin typeface="Arial"/>
                <a:cs typeface="Arial"/>
              </a:rPr>
              <a:t>statements </a:t>
            </a:r>
            <a:r>
              <a:rPr sz="1800" spc="60" dirty="0">
                <a:solidFill>
                  <a:srgbClr val="FFFFFF"/>
                </a:solidFill>
                <a:latin typeface="Arial"/>
                <a:cs typeface="Arial"/>
              </a:rPr>
              <a:t>for </a:t>
            </a:r>
            <a:r>
              <a:rPr sz="1800" spc="10" dirty="0">
                <a:solidFill>
                  <a:srgbClr val="FFFFFF"/>
                </a:solidFill>
                <a:latin typeface="Arial"/>
                <a:cs typeface="Arial"/>
              </a:rPr>
              <a:t>performing </a:t>
            </a:r>
            <a:r>
              <a:rPr sz="1800" spc="5" dirty="0">
                <a:solidFill>
                  <a:srgbClr val="FFFFFF"/>
                </a:solidFill>
                <a:latin typeface="Arial"/>
                <a:cs typeface="Arial"/>
              </a:rPr>
              <a:t>repetitive  </a:t>
            </a:r>
            <a:r>
              <a:rPr sz="1800" spc="-75" dirty="0">
                <a:solidFill>
                  <a:srgbClr val="FFFFFF"/>
                </a:solidFill>
                <a:latin typeface="Arial"/>
                <a:cs typeface="Arial"/>
              </a:rPr>
              <a:t>tasks</a:t>
            </a:r>
            <a:endParaRPr sz="1800">
              <a:latin typeface="Arial"/>
              <a:cs typeface="Arial"/>
            </a:endParaRPr>
          </a:p>
        </p:txBody>
      </p:sp>
      <p:sp>
        <p:nvSpPr>
          <p:cNvPr id="5" name="object 5"/>
          <p:cNvSpPr/>
          <p:nvPr/>
        </p:nvSpPr>
        <p:spPr>
          <a:xfrm>
            <a:off x="2132076" y="4716017"/>
            <a:ext cx="5443855" cy="646430"/>
          </a:xfrm>
          <a:custGeom>
            <a:avLst/>
            <a:gdLst/>
            <a:ahLst/>
            <a:cxnLst/>
            <a:rect l="l" t="t" r="r" b="b"/>
            <a:pathLst>
              <a:path w="5443855" h="646429">
                <a:moveTo>
                  <a:pt x="5443728" y="107696"/>
                </a:moveTo>
                <a:lnTo>
                  <a:pt x="5435257" y="65798"/>
                </a:lnTo>
                <a:lnTo>
                  <a:pt x="5412168" y="31559"/>
                </a:lnTo>
                <a:lnTo>
                  <a:pt x="5377929" y="8470"/>
                </a:lnTo>
                <a:lnTo>
                  <a:pt x="5336032" y="0"/>
                </a:lnTo>
                <a:lnTo>
                  <a:pt x="107696" y="0"/>
                </a:lnTo>
                <a:lnTo>
                  <a:pt x="65786" y="8470"/>
                </a:lnTo>
                <a:lnTo>
                  <a:pt x="31559" y="31559"/>
                </a:lnTo>
                <a:lnTo>
                  <a:pt x="8458" y="65798"/>
                </a:lnTo>
                <a:lnTo>
                  <a:pt x="0" y="107696"/>
                </a:lnTo>
                <a:lnTo>
                  <a:pt x="0" y="538480"/>
                </a:lnTo>
                <a:lnTo>
                  <a:pt x="8458" y="580390"/>
                </a:lnTo>
                <a:lnTo>
                  <a:pt x="31559" y="614616"/>
                </a:lnTo>
                <a:lnTo>
                  <a:pt x="65786" y="637717"/>
                </a:lnTo>
                <a:lnTo>
                  <a:pt x="107696" y="646176"/>
                </a:lnTo>
                <a:lnTo>
                  <a:pt x="5336032" y="646176"/>
                </a:lnTo>
                <a:lnTo>
                  <a:pt x="5377929" y="637717"/>
                </a:lnTo>
                <a:lnTo>
                  <a:pt x="5412168" y="614616"/>
                </a:lnTo>
                <a:lnTo>
                  <a:pt x="5435257" y="580390"/>
                </a:lnTo>
                <a:lnTo>
                  <a:pt x="5443728" y="538480"/>
                </a:lnTo>
                <a:lnTo>
                  <a:pt x="5443728" y="107696"/>
                </a:lnTo>
                <a:close/>
              </a:path>
            </a:pathLst>
          </a:custGeom>
          <a:solidFill>
            <a:srgbClr val="4F6128"/>
          </a:solidFill>
        </p:spPr>
        <p:txBody>
          <a:bodyPr wrap="square" lIns="0" tIns="0" rIns="0" bIns="0" rtlCol="0"/>
          <a:lstStyle/>
          <a:p>
            <a:endParaRPr/>
          </a:p>
        </p:txBody>
      </p:sp>
      <p:sp>
        <p:nvSpPr>
          <p:cNvPr id="6" name="object 6"/>
          <p:cNvSpPr txBox="1"/>
          <p:nvPr/>
        </p:nvSpPr>
        <p:spPr>
          <a:xfrm>
            <a:off x="2296922" y="4837176"/>
            <a:ext cx="4396740" cy="299720"/>
          </a:xfrm>
          <a:prstGeom prst="rect">
            <a:avLst/>
          </a:prstGeom>
        </p:spPr>
        <p:txBody>
          <a:bodyPr vert="horz" wrap="square" lIns="0" tIns="12700" rIns="0" bIns="0" rtlCol="0">
            <a:spAutoFit/>
          </a:bodyPr>
          <a:lstStyle/>
          <a:p>
            <a:pPr marL="12700">
              <a:lnSpc>
                <a:spcPct val="100000"/>
              </a:lnSpc>
              <a:spcBef>
                <a:spcPts val="100"/>
              </a:spcBef>
            </a:pPr>
            <a:r>
              <a:rPr sz="1800" spc="65" dirty="0">
                <a:solidFill>
                  <a:srgbClr val="FFFFFF"/>
                </a:solidFill>
                <a:latin typeface="Arial"/>
                <a:cs typeface="Arial"/>
              </a:rPr>
              <a:t>Two</a:t>
            </a:r>
            <a:r>
              <a:rPr sz="1800" spc="-120" dirty="0">
                <a:solidFill>
                  <a:srgbClr val="FFFFFF"/>
                </a:solidFill>
                <a:latin typeface="Arial"/>
                <a:cs typeface="Arial"/>
              </a:rPr>
              <a:t> </a:t>
            </a:r>
            <a:r>
              <a:rPr sz="1800" spc="-50" dirty="0">
                <a:solidFill>
                  <a:srgbClr val="FFFFFF"/>
                </a:solidFill>
                <a:latin typeface="Arial"/>
                <a:cs typeface="Arial"/>
              </a:rPr>
              <a:t>types</a:t>
            </a:r>
            <a:r>
              <a:rPr sz="1800" spc="-114" dirty="0">
                <a:solidFill>
                  <a:srgbClr val="FFFFFF"/>
                </a:solidFill>
                <a:latin typeface="Arial"/>
                <a:cs typeface="Arial"/>
              </a:rPr>
              <a:t> </a:t>
            </a:r>
            <a:r>
              <a:rPr sz="1800" spc="50" dirty="0">
                <a:solidFill>
                  <a:srgbClr val="FFFFFF"/>
                </a:solidFill>
                <a:latin typeface="Arial"/>
                <a:cs typeface="Arial"/>
              </a:rPr>
              <a:t>of</a:t>
            </a:r>
            <a:r>
              <a:rPr sz="1800" spc="-114" dirty="0">
                <a:solidFill>
                  <a:srgbClr val="FFFFFF"/>
                </a:solidFill>
                <a:latin typeface="Arial"/>
                <a:cs typeface="Arial"/>
              </a:rPr>
              <a:t> </a:t>
            </a:r>
            <a:r>
              <a:rPr sz="1800" spc="-20" dirty="0">
                <a:solidFill>
                  <a:srgbClr val="FFFFFF"/>
                </a:solidFill>
                <a:latin typeface="Arial"/>
                <a:cs typeface="Arial"/>
              </a:rPr>
              <a:t>user-defined</a:t>
            </a:r>
            <a:r>
              <a:rPr sz="1800" spc="-135" dirty="0">
                <a:solidFill>
                  <a:srgbClr val="FFFFFF"/>
                </a:solidFill>
                <a:latin typeface="Arial"/>
                <a:cs typeface="Arial"/>
              </a:rPr>
              <a:t> </a:t>
            </a:r>
            <a:r>
              <a:rPr sz="1800" spc="-30" dirty="0">
                <a:solidFill>
                  <a:srgbClr val="FFFFFF"/>
                </a:solidFill>
                <a:latin typeface="Arial"/>
                <a:cs typeface="Arial"/>
              </a:rPr>
              <a:t>stored</a:t>
            </a:r>
            <a:r>
              <a:rPr sz="1800" spc="-125" dirty="0">
                <a:solidFill>
                  <a:srgbClr val="FFFFFF"/>
                </a:solidFill>
                <a:latin typeface="Arial"/>
                <a:cs typeface="Arial"/>
              </a:rPr>
              <a:t> </a:t>
            </a:r>
            <a:r>
              <a:rPr sz="1800" spc="-45" dirty="0">
                <a:solidFill>
                  <a:srgbClr val="FFFFFF"/>
                </a:solidFill>
                <a:latin typeface="Arial"/>
                <a:cs typeface="Arial"/>
              </a:rPr>
              <a:t>procedures</a:t>
            </a:r>
            <a:endParaRPr sz="1800">
              <a:latin typeface="Arial"/>
              <a:cs typeface="Arial"/>
            </a:endParaRPr>
          </a:p>
        </p:txBody>
      </p:sp>
      <p:sp>
        <p:nvSpPr>
          <p:cNvPr id="7" name="object 7"/>
          <p:cNvSpPr/>
          <p:nvPr/>
        </p:nvSpPr>
        <p:spPr>
          <a:xfrm>
            <a:off x="1197864" y="5887211"/>
            <a:ext cx="2451100" cy="548640"/>
          </a:xfrm>
          <a:custGeom>
            <a:avLst/>
            <a:gdLst/>
            <a:ahLst/>
            <a:cxnLst/>
            <a:rect l="l" t="t" r="r" b="b"/>
            <a:pathLst>
              <a:path w="2451100" h="548639">
                <a:moveTo>
                  <a:pt x="2450592" y="91440"/>
                </a:moveTo>
                <a:lnTo>
                  <a:pt x="2443403" y="55854"/>
                </a:lnTo>
                <a:lnTo>
                  <a:pt x="2423820" y="26784"/>
                </a:lnTo>
                <a:lnTo>
                  <a:pt x="2394762" y="7188"/>
                </a:lnTo>
                <a:lnTo>
                  <a:pt x="2359152" y="0"/>
                </a:lnTo>
                <a:lnTo>
                  <a:pt x="91440" y="0"/>
                </a:lnTo>
                <a:lnTo>
                  <a:pt x="55841" y="7188"/>
                </a:lnTo>
                <a:lnTo>
                  <a:pt x="26784" y="26784"/>
                </a:lnTo>
                <a:lnTo>
                  <a:pt x="7175" y="55854"/>
                </a:lnTo>
                <a:lnTo>
                  <a:pt x="0" y="91440"/>
                </a:lnTo>
                <a:lnTo>
                  <a:pt x="0" y="457200"/>
                </a:lnTo>
                <a:lnTo>
                  <a:pt x="7175" y="492798"/>
                </a:lnTo>
                <a:lnTo>
                  <a:pt x="26784" y="521868"/>
                </a:lnTo>
                <a:lnTo>
                  <a:pt x="55841" y="541464"/>
                </a:lnTo>
                <a:lnTo>
                  <a:pt x="91440" y="548640"/>
                </a:lnTo>
                <a:lnTo>
                  <a:pt x="2359152" y="548640"/>
                </a:lnTo>
                <a:lnTo>
                  <a:pt x="2394762" y="541464"/>
                </a:lnTo>
                <a:lnTo>
                  <a:pt x="2423820" y="521855"/>
                </a:lnTo>
                <a:lnTo>
                  <a:pt x="2443403" y="492798"/>
                </a:lnTo>
                <a:lnTo>
                  <a:pt x="2450592" y="457200"/>
                </a:lnTo>
                <a:lnTo>
                  <a:pt x="2450592" y="422148"/>
                </a:lnTo>
                <a:lnTo>
                  <a:pt x="2450592" y="140970"/>
                </a:lnTo>
                <a:lnTo>
                  <a:pt x="2450592" y="91440"/>
                </a:lnTo>
                <a:close/>
              </a:path>
            </a:pathLst>
          </a:custGeom>
          <a:solidFill>
            <a:srgbClr val="C0504D"/>
          </a:solidFill>
        </p:spPr>
        <p:txBody>
          <a:bodyPr wrap="square" lIns="0" tIns="0" rIns="0" bIns="0" rtlCol="0"/>
          <a:lstStyle/>
          <a:p>
            <a:endParaRPr/>
          </a:p>
        </p:txBody>
      </p:sp>
      <p:sp>
        <p:nvSpPr>
          <p:cNvPr id="8" name="object 8"/>
          <p:cNvSpPr txBox="1"/>
          <p:nvPr/>
        </p:nvSpPr>
        <p:spPr>
          <a:xfrm>
            <a:off x="1303019" y="5878829"/>
            <a:ext cx="1908810" cy="489584"/>
          </a:xfrm>
          <a:prstGeom prst="rect">
            <a:avLst/>
          </a:prstGeom>
        </p:spPr>
        <p:txBody>
          <a:bodyPr vert="horz" wrap="square" lIns="0" tIns="40005" rIns="0" bIns="0" rtlCol="0">
            <a:spAutoFit/>
          </a:bodyPr>
          <a:lstStyle/>
          <a:p>
            <a:pPr marL="12700" marR="5080" indent="42545">
              <a:lnSpc>
                <a:spcPts val="1730"/>
              </a:lnSpc>
              <a:spcBef>
                <a:spcPts val="315"/>
              </a:spcBef>
            </a:pPr>
            <a:r>
              <a:rPr sz="1600" spc="-10" dirty="0">
                <a:solidFill>
                  <a:srgbClr val="FFFFFF"/>
                </a:solidFill>
                <a:latin typeface="Arial"/>
                <a:cs typeface="Arial"/>
              </a:rPr>
              <a:t>Transact-SQL</a:t>
            </a:r>
            <a:r>
              <a:rPr sz="1600" spc="-195" dirty="0">
                <a:solidFill>
                  <a:srgbClr val="FFFFFF"/>
                </a:solidFill>
                <a:latin typeface="Arial"/>
                <a:cs typeface="Arial"/>
              </a:rPr>
              <a:t> </a:t>
            </a:r>
            <a:r>
              <a:rPr sz="1600" spc="-25" dirty="0">
                <a:solidFill>
                  <a:srgbClr val="FFFFFF"/>
                </a:solidFill>
                <a:latin typeface="Arial"/>
                <a:cs typeface="Arial"/>
              </a:rPr>
              <a:t>stored  </a:t>
            </a:r>
            <a:r>
              <a:rPr sz="1600" spc="-40" dirty="0">
                <a:solidFill>
                  <a:srgbClr val="FFFFFF"/>
                </a:solidFill>
                <a:latin typeface="Arial"/>
                <a:cs typeface="Arial"/>
              </a:rPr>
              <a:t>procedures</a:t>
            </a:r>
            <a:endParaRPr sz="1600">
              <a:latin typeface="Arial"/>
              <a:cs typeface="Arial"/>
            </a:endParaRPr>
          </a:p>
        </p:txBody>
      </p:sp>
      <p:sp>
        <p:nvSpPr>
          <p:cNvPr id="9" name="object 9"/>
          <p:cNvSpPr/>
          <p:nvPr/>
        </p:nvSpPr>
        <p:spPr>
          <a:xfrm>
            <a:off x="5676900" y="5905500"/>
            <a:ext cx="2737485" cy="646430"/>
          </a:xfrm>
          <a:custGeom>
            <a:avLst/>
            <a:gdLst/>
            <a:ahLst/>
            <a:cxnLst/>
            <a:rect l="l" t="t" r="r" b="b"/>
            <a:pathLst>
              <a:path w="2737484" h="646429">
                <a:moveTo>
                  <a:pt x="2737104" y="107696"/>
                </a:moveTo>
                <a:lnTo>
                  <a:pt x="2728633" y="65786"/>
                </a:lnTo>
                <a:lnTo>
                  <a:pt x="2705544" y="31546"/>
                </a:lnTo>
                <a:lnTo>
                  <a:pt x="2671305" y="8470"/>
                </a:lnTo>
                <a:lnTo>
                  <a:pt x="2629408" y="0"/>
                </a:lnTo>
                <a:lnTo>
                  <a:pt x="107696" y="0"/>
                </a:lnTo>
                <a:lnTo>
                  <a:pt x="65786" y="8470"/>
                </a:lnTo>
                <a:lnTo>
                  <a:pt x="31559" y="31546"/>
                </a:lnTo>
                <a:lnTo>
                  <a:pt x="8458" y="65786"/>
                </a:lnTo>
                <a:lnTo>
                  <a:pt x="0" y="107696"/>
                </a:lnTo>
                <a:lnTo>
                  <a:pt x="0" y="538480"/>
                </a:lnTo>
                <a:lnTo>
                  <a:pt x="8458" y="580402"/>
                </a:lnTo>
                <a:lnTo>
                  <a:pt x="31559" y="614641"/>
                </a:lnTo>
                <a:lnTo>
                  <a:pt x="65786" y="637717"/>
                </a:lnTo>
                <a:lnTo>
                  <a:pt x="107696" y="646176"/>
                </a:lnTo>
                <a:lnTo>
                  <a:pt x="2629408" y="646176"/>
                </a:lnTo>
                <a:lnTo>
                  <a:pt x="2671305" y="637717"/>
                </a:lnTo>
                <a:lnTo>
                  <a:pt x="2705544" y="614641"/>
                </a:lnTo>
                <a:lnTo>
                  <a:pt x="2728633" y="580402"/>
                </a:lnTo>
                <a:lnTo>
                  <a:pt x="2737104" y="538480"/>
                </a:lnTo>
                <a:lnTo>
                  <a:pt x="2737104" y="107696"/>
                </a:lnTo>
                <a:close/>
              </a:path>
            </a:pathLst>
          </a:custGeom>
          <a:solidFill>
            <a:srgbClr val="C0504D"/>
          </a:solidFill>
        </p:spPr>
        <p:txBody>
          <a:bodyPr wrap="square" lIns="0" tIns="0" rIns="0" bIns="0" rtlCol="0"/>
          <a:lstStyle/>
          <a:p>
            <a:endParaRPr/>
          </a:p>
        </p:txBody>
      </p:sp>
      <p:sp>
        <p:nvSpPr>
          <p:cNvPr id="10" name="object 10"/>
          <p:cNvSpPr txBox="1"/>
          <p:nvPr/>
        </p:nvSpPr>
        <p:spPr>
          <a:xfrm>
            <a:off x="5766815" y="5828538"/>
            <a:ext cx="1753235" cy="269875"/>
          </a:xfrm>
          <a:prstGeom prst="rect">
            <a:avLst/>
          </a:prstGeom>
        </p:spPr>
        <p:txBody>
          <a:bodyPr vert="horz" wrap="square" lIns="0" tIns="12700" rIns="0" bIns="0" rtlCol="0">
            <a:spAutoFit/>
          </a:bodyPr>
          <a:lstStyle/>
          <a:p>
            <a:pPr marL="12700">
              <a:lnSpc>
                <a:spcPct val="100000"/>
              </a:lnSpc>
              <a:spcBef>
                <a:spcPts val="100"/>
              </a:spcBef>
            </a:pPr>
            <a:r>
              <a:rPr sz="1600" spc="25" dirty="0">
                <a:solidFill>
                  <a:srgbClr val="FFFFFF"/>
                </a:solidFill>
                <a:latin typeface="Arial"/>
                <a:cs typeface="Arial"/>
              </a:rPr>
              <a:t>Common</a:t>
            </a:r>
            <a:r>
              <a:rPr sz="1600" spc="-170" dirty="0">
                <a:solidFill>
                  <a:srgbClr val="FFFFFF"/>
                </a:solidFill>
                <a:latin typeface="Arial"/>
                <a:cs typeface="Arial"/>
              </a:rPr>
              <a:t> </a:t>
            </a:r>
            <a:r>
              <a:rPr sz="1600" spc="-65" dirty="0">
                <a:solidFill>
                  <a:srgbClr val="FFFFFF"/>
                </a:solidFill>
                <a:latin typeface="Arial"/>
                <a:cs typeface="Arial"/>
              </a:rPr>
              <a:t>Language</a:t>
            </a:r>
            <a:endParaRPr sz="1600">
              <a:latin typeface="Arial"/>
              <a:cs typeface="Arial"/>
            </a:endParaRPr>
          </a:p>
        </p:txBody>
      </p:sp>
      <p:sp>
        <p:nvSpPr>
          <p:cNvPr id="11" name="object 11"/>
          <p:cNvSpPr txBox="1"/>
          <p:nvPr/>
        </p:nvSpPr>
        <p:spPr>
          <a:xfrm>
            <a:off x="5766815" y="6047994"/>
            <a:ext cx="1998345" cy="489584"/>
          </a:xfrm>
          <a:prstGeom prst="rect">
            <a:avLst/>
          </a:prstGeom>
        </p:spPr>
        <p:txBody>
          <a:bodyPr vert="horz" wrap="square" lIns="0" tIns="40005" rIns="0" bIns="0" rtlCol="0">
            <a:spAutoFit/>
          </a:bodyPr>
          <a:lstStyle/>
          <a:p>
            <a:pPr marL="12700" marR="5080">
              <a:lnSpc>
                <a:spcPts val="1730"/>
              </a:lnSpc>
              <a:spcBef>
                <a:spcPts val="315"/>
              </a:spcBef>
            </a:pPr>
            <a:r>
              <a:rPr sz="1600" spc="15" dirty="0">
                <a:solidFill>
                  <a:srgbClr val="FFFFFF"/>
                </a:solidFill>
                <a:latin typeface="Arial"/>
                <a:cs typeface="Arial"/>
              </a:rPr>
              <a:t>Runtime </a:t>
            </a:r>
            <a:r>
              <a:rPr sz="1600" spc="35" dirty="0">
                <a:solidFill>
                  <a:srgbClr val="FFFFFF"/>
                </a:solidFill>
                <a:latin typeface="Arial"/>
                <a:cs typeface="Arial"/>
              </a:rPr>
              <a:t>(CLR)</a:t>
            </a:r>
            <a:r>
              <a:rPr sz="1600" spc="-280" dirty="0">
                <a:solidFill>
                  <a:srgbClr val="FFFFFF"/>
                </a:solidFill>
                <a:latin typeface="Arial"/>
                <a:cs typeface="Arial"/>
              </a:rPr>
              <a:t> </a:t>
            </a:r>
            <a:r>
              <a:rPr sz="1600" spc="-25" dirty="0">
                <a:solidFill>
                  <a:srgbClr val="FFFFFF"/>
                </a:solidFill>
                <a:latin typeface="Arial"/>
                <a:cs typeface="Arial"/>
              </a:rPr>
              <a:t>stored  </a:t>
            </a:r>
            <a:r>
              <a:rPr sz="1600" spc="-40" dirty="0">
                <a:solidFill>
                  <a:srgbClr val="FFFFFF"/>
                </a:solidFill>
                <a:latin typeface="Arial"/>
                <a:cs typeface="Arial"/>
              </a:rPr>
              <a:t>procedures.</a:t>
            </a:r>
            <a:endParaRPr sz="1600">
              <a:latin typeface="Arial"/>
              <a:cs typeface="Arial"/>
            </a:endParaRPr>
          </a:p>
        </p:txBody>
      </p:sp>
      <p:pic>
        <p:nvPicPr>
          <p:cNvPr id="12" name="object 12"/>
          <p:cNvPicPr/>
          <p:nvPr/>
        </p:nvPicPr>
        <p:blipFill>
          <a:blip r:embed="rId3" cstate="print"/>
          <a:stretch>
            <a:fillRect/>
          </a:stretch>
        </p:blipFill>
        <p:spPr>
          <a:xfrm>
            <a:off x="2408173" y="5680087"/>
            <a:ext cx="81025" cy="207479"/>
          </a:xfrm>
          <a:prstGeom prst="rect">
            <a:avLst/>
          </a:prstGeom>
        </p:spPr>
      </p:pic>
      <p:grpSp>
        <p:nvGrpSpPr>
          <p:cNvPr id="13" name="object 13"/>
          <p:cNvGrpSpPr/>
          <p:nvPr/>
        </p:nvGrpSpPr>
        <p:grpSpPr>
          <a:xfrm>
            <a:off x="2482976" y="5362575"/>
            <a:ext cx="4845685" cy="449580"/>
            <a:chOff x="2482976" y="5362575"/>
            <a:chExt cx="4845685" cy="449580"/>
          </a:xfrm>
        </p:grpSpPr>
        <p:sp>
          <p:nvSpPr>
            <p:cNvPr id="14" name="object 14"/>
            <p:cNvSpPr/>
            <p:nvPr/>
          </p:nvSpPr>
          <p:spPr>
            <a:xfrm>
              <a:off x="4854320" y="5362575"/>
              <a:ext cx="0" cy="232410"/>
            </a:xfrm>
            <a:custGeom>
              <a:avLst/>
              <a:gdLst/>
              <a:ahLst/>
              <a:cxnLst/>
              <a:rect l="l" t="t" r="r" b="b"/>
              <a:pathLst>
                <a:path h="232410">
                  <a:moveTo>
                    <a:pt x="0" y="0"/>
                  </a:moveTo>
                  <a:lnTo>
                    <a:pt x="0" y="231851"/>
                  </a:lnTo>
                </a:path>
              </a:pathLst>
            </a:custGeom>
            <a:ln w="9906">
              <a:solidFill>
                <a:srgbClr val="000000"/>
              </a:solidFill>
            </a:ln>
          </p:spPr>
          <p:txBody>
            <a:bodyPr wrap="square" lIns="0" tIns="0" rIns="0" bIns="0" rtlCol="0"/>
            <a:lstStyle/>
            <a:p>
              <a:endParaRPr/>
            </a:p>
          </p:txBody>
        </p:sp>
        <p:sp>
          <p:nvSpPr>
            <p:cNvPr id="15" name="object 15"/>
            <p:cNvSpPr/>
            <p:nvPr/>
          </p:nvSpPr>
          <p:spPr>
            <a:xfrm>
              <a:off x="2482976" y="5604890"/>
              <a:ext cx="4808220" cy="0"/>
            </a:xfrm>
            <a:custGeom>
              <a:avLst/>
              <a:gdLst/>
              <a:ahLst/>
              <a:cxnLst/>
              <a:rect l="l" t="t" r="r" b="b"/>
              <a:pathLst>
                <a:path w="4808220">
                  <a:moveTo>
                    <a:pt x="0" y="0"/>
                  </a:moveTo>
                  <a:lnTo>
                    <a:pt x="4807712" y="0"/>
                  </a:lnTo>
                </a:path>
              </a:pathLst>
            </a:custGeom>
            <a:ln w="9906">
              <a:solidFill>
                <a:srgbClr val="000000"/>
              </a:solidFill>
            </a:ln>
          </p:spPr>
          <p:txBody>
            <a:bodyPr wrap="square" lIns="0" tIns="0" rIns="0" bIns="0" rtlCol="0"/>
            <a:lstStyle/>
            <a:p>
              <a:endParaRPr/>
            </a:p>
          </p:txBody>
        </p:sp>
        <p:pic>
          <p:nvPicPr>
            <p:cNvPr id="16" name="object 16"/>
            <p:cNvPicPr/>
            <p:nvPr/>
          </p:nvPicPr>
          <p:blipFill>
            <a:blip r:embed="rId4" cstate="print"/>
            <a:stretch>
              <a:fillRect/>
            </a:stretch>
          </p:blipFill>
          <p:spPr>
            <a:xfrm>
              <a:off x="7252335" y="5620131"/>
              <a:ext cx="76200" cy="191643"/>
            </a:xfrm>
            <a:prstGeom prst="rect">
              <a:avLst/>
            </a:prstGeom>
          </p:spPr>
        </p:pic>
      </p:grpSp>
      <p:sp>
        <p:nvSpPr>
          <p:cNvPr id="18" name="object 1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28</a:t>
            </a:fld>
            <a:endParaRPr sz="1200"/>
          </a:p>
        </p:txBody>
      </p:sp>
      <p:sp>
        <p:nvSpPr>
          <p:cNvPr id="19" name="object 1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202" y="47243"/>
            <a:ext cx="6750684" cy="635635"/>
          </a:xfrm>
          <a:prstGeom prst="rect">
            <a:avLst/>
          </a:prstGeom>
        </p:spPr>
        <p:txBody>
          <a:bodyPr vert="horz" wrap="square" lIns="0" tIns="12700" rIns="0" bIns="0" rtlCol="0">
            <a:spAutoFit/>
          </a:bodyPr>
          <a:lstStyle/>
          <a:p>
            <a:pPr marL="12700">
              <a:lnSpc>
                <a:spcPct val="100000"/>
              </a:lnSpc>
              <a:spcBef>
                <a:spcPts val="100"/>
              </a:spcBef>
            </a:pPr>
            <a:r>
              <a:rPr sz="4000" b="0" spc="-90" dirty="0">
                <a:latin typeface="Arial"/>
                <a:cs typeface="Arial"/>
              </a:rPr>
              <a:t>Types </a:t>
            </a:r>
            <a:r>
              <a:rPr sz="4000" b="0" spc="114" dirty="0">
                <a:latin typeface="Arial"/>
                <a:cs typeface="Arial"/>
              </a:rPr>
              <a:t>of</a:t>
            </a:r>
            <a:r>
              <a:rPr sz="4000" b="0" spc="-840" dirty="0">
                <a:latin typeface="Arial"/>
                <a:cs typeface="Arial"/>
              </a:rPr>
              <a:t> </a:t>
            </a:r>
            <a:r>
              <a:rPr sz="4000" b="0" spc="-40" dirty="0">
                <a:latin typeface="Arial"/>
                <a:cs typeface="Arial"/>
              </a:rPr>
              <a:t>Stored </a:t>
            </a:r>
            <a:r>
              <a:rPr sz="4000" b="0" spc="-135" dirty="0">
                <a:latin typeface="Arial"/>
                <a:cs typeface="Arial"/>
              </a:rPr>
              <a:t>Procedures </a:t>
            </a:r>
            <a:r>
              <a:rPr sz="4000" b="0" spc="-315" dirty="0">
                <a:latin typeface="Arial"/>
                <a:cs typeface="Arial"/>
              </a:rPr>
              <a:t>2-3</a:t>
            </a:r>
            <a:endParaRPr sz="4000">
              <a:latin typeface="Arial"/>
              <a:cs typeface="Arial"/>
            </a:endParaRPr>
          </a:p>
        </p:txBody>
      </p:sp>
      <p:sp>
        <p:nvSpPr>
          <p:cNvPr id="3" name="object 3"/>
          <p:cNvSpPr/>
          <p:nvPr/>
        </p:nvSpPr>
        <p:spPr>
          <a:xfrm>
            <a:off x="534924" y="1506473"/>
            <a:ext cx="6710680" cy="722630"/>
          </a:xfrm>
          <a:custGeom>
            <a:avLst/>
            <a:gdLst/>
            <a:ahLst/>
            <a:cxnLst/>
            <a:rect l="l" t="t" r="r" b="b"/>
            <a:pathLst>
              <a:path w="6710680" h="722630">
                <a:moveTo>
                  <a:pt x="6710172" y="120396"/>
                </a:moveTo>
                <a:lnTo>
                  <a:pt x="6700710" y="73520"/>
                </a:lnTo>
                <a:lnTo>
                  <a:pt x="6674929" y="35242"/>
                </a:lnTo>
                <a:lnTo>
                  <a:pt x="6636652" y="9461"/>
                </a:lnTo>
                <a:lnTo>
                  <a:pt x="6589776" y="0"/>
                </a:lnTo>
                <a:lnTo>
                  <a:pt x="120396" y="0"/>
                </a:lnTo>
                <a:lnTo>
                  <a:pt x="73520" y="9461"/>
                </a:lnTo>
                <a:lnTo>
                  <a:pt x="35255" y="35242"/>
                </a:lnTo>
                <a:lnTo>
                  <a:pt x="9448" y="73520"/>
                </a:lnTo>
                <a:lnTo>
                  <a:pt x="0" y="120396"/>
                </a:lnTo>
                <a:lnTo>
                  <a:pt x="0" y="601980"/>
                </a:lnTo>
                <a:lnTo>
                  <a:pt x="9448" y="648868"/>
                </a:lnTo>
                <a:lnTo>
                  <a:pt x="35255" y="687133"/>
                </a:lnTo>
                <a:lnTo>
                  <a:pt x="73520" y="712927"/>
                </a:lnTo>
                <a:lnTo>
                  <a:pt x="120396" y="722376"/>
                </a:lnTo>
                <a:lnTo>
                  <a:pt x="6589776" y="722376"/>
                </a:lnTo>
                <a:lnTo>
                  <a:pt x="6636652" y="712927"/>
                </a:lnTo>
                <a:lnTo>
                  <a:pt x="6674929" y="687133"/>
                </a:lnTo>
                <a:lnTo>
                  <a:pt x="6700710" y="648868"/>
                </a:lnTo>
                <a:lnTo>
                  <a:pt x="6710172" y="601980"/>
                </a:lnTo>
                <a:lnTo>
                  <a:pt x="6710172" y="546354"/>
                </a:lnTo>
                <a:lnTo>
                  <a:pt x="6710172" y="176022"/>
                </a:lnTo>
                <a:lnTo>
                  <a:pt x="6710172" y="120396"/>
                </a:lnTo>
                <a:close/>
              </a:path>
            </a:pathLst>
          </a:custGeom>
          <a:solidFill>
            <a:srgbClr val="F79546"/>
          </a:solidFill>
        </p:spPr>
        <p:txBody>
          <a:bodyPr wrap="square" lIns="0" tIns="0" rIns="0" bIns="0" rtlCol="0"/>
          <a:lstStyle/>
          <a:p>
            <a:endParaRPr/>
          </a:p>
        </p:txBody>
      </p:sp>
      <p:sp>
        <p:nvSpPr>
          <p:cNvPr id="4" name="object 4"/>
          <p:cNvSpPr/>
          <p:nvPr/>
        </p:nvSpPr>
        <p:spPr>
          <a:xfrm>
            <a:off x="954024" y="2404871"/>
            <a:ext cx="6710680" cy="658495"/>
          </a:xfrm>
          <a:custGeom>
            <a:avLst/>
            <a:gdLst/>
            <a:ahLst/>
            <a:cxnLst/>
            <a:rect l="l" t="t" r="r" b="b"/>
            <a:pathLst>
              <a:path w="6710680" h="658494">
                <a:moveTo>
                  <a:pt x="6710172" y="109728"/>
                </a:moveTo>
                <a:lnTo>
                  <a:pt x="6701536" y="67030"/>
                </a:lnTo>
                <a:lnTo>
                  <a:pt x="6678015" y="32156"/>
                </a:lnTo>
                <a:lnTo>
                  <a:pt x="6643141" y="8636"/>
                </a:lnTo>
                <a:lnTo>
                  <a:pt x="6600444" y="0"/>
                </a:lnTo>
                <a:lnTo>
                  <a:pt x="109728" y="0"/>
                </a:lnTo>
                <a:lnTo>
                  <a:pt x="67005" y="8636"/>
                </a:lnTo>
                <a:lnTo>
                  <a:pt x="32131" y="32156"/>
                </a:lnTo>
                <a:lnTo>
                  <a:pt x="8610" y="67030"/>
                </a:lnTo>
                <a:lnTo>
                  <a:pt x="0" y="109728"/>
                </a:lnTo>
                <a:lnTo>
                  <a:pt x="0" y="548640"/>
                </a:lnTo>
                <a:lnTo>
                  <a:pt x="8610" y="591350"/>
                </a:lnTo>
                <a:lnTo>
                  <a:pt x="32131" y="626224"/>
                </a:lnTo>
                <a:lnTo>
                  <a:pt x="67005" y="649744"/>
                </a:lnTo>
                <a:lnTo>
                  <a:pt x="109728" y="658368"/>
                </a:lnTo>
                <a:lnTo>
                  <a:pt x="6600444" y="658368"/>
                </a:lnTo>
                <a:lnTo>
                  <a:pt x="6643141" y="649744"/>
                </a:lnTo>
                <a:lnTo>
                  <a:pt x="6678015" y="626224"/>
                </a:lnTo>
                <a:lnTo>
                  <a:pt x="6701536" y="591350"/>
                </a:lnTo>
                <a:lnTo>
                  <a:pt x="6710172" y="548640"/>
                </a:lnTo>
                <a:lnTo>
                  <a:pt x="6710172" y="498348"/>
                </a:lnTo>
                <a:lnTo>
                  <a:pt x="6710172" y="160032"/>
                </a:lnTo>
                <a:lnTo>
                  <a:pt x="6710172" y="109728"/>
                </a:lnTo>
                <a:close/>
              </a:path>
            </a:pathLst>
          </a:custGeom>
          <a:solidFill>
            <a:srgbClr val="F79546"/>
          </a:solidFill>
        </p:spPr>
        <p:txBody>
          <a:bodyPr wrap="square" lIns="0" tIns="0" rIns="0" bIns="0" rtlCol="0"/>
          <a:lstStyle/>
          <a:p>
            <a:endParaRPr/>
          </a:p>
        </p:txBody>
      </p:sp>
      <p:sp>
        <p:nvSpPr>
          <p:cNvPr id="5" name="object 5"/>
          <p:cNvSpPr txBox="1"/>
          <p:nvPr/>
        </p:nvSpPr>
        <p:spPr>
          <a:xfrm>
            <a:off x="346202" y="908558"/>
            <a:ext cx="6836409" cy="1943100"/>
          </a:xfrm>
          <a:prstGeom prst="rect">
            <a:avLst/>
          </a:prstGeom>
        </p:spPr>
        <p:txBody>
          <a:bodyPr vert="horz" wrap="square" lIns="0" tIns="12700" rIns="0" bIns="0" rtlCol="0">
            <a:spAutoFit/>
          </a:bodyPr>
          <a:lstStyle/>
          <a:p>
            <a:pPr marL="12700">
              <a:lnSpc>
                <a:spcPct val="100000"/>
              </a:lnSpc>
              <a:spcBef>
                <a:spcPts val="100"/>
              </a:spcBef>
            </a:pPr>
            <a:r>
              <a:rPr sz="2400" b="1" spc="-125" dirty="0">
                <a:latin typeface="Arial"/>
                <a:cs typeface="Arial"/>
              </a:rPr>
              <a:t>Extended Stored</a:t>
            </a:r>
            <a:r>
              <a:rPr sz="2400" b="1" spc="-275" dirty="0">
                <a:latin typeface="Arial"/>
                <a:cs typeface="Arial"/>
              </a:rPr>
              <a:t> </a:t>
            </a:r>
            <a:r>
              <a:rPr sz="2400" b="1" spc="-195" dirty="0">
                <a:latin typeface="Arial"/>
                <a:cs typeface="Arial"/>
              </a:rPr>
              <a:t>Procedures</a:t>
            </a:r>
            <a:endParaRPr sz="2400">
              <a:latin typeface="Arial"/>
              <a:cs typeface="Arial"/>
            </a:endParaRPr>
          </a:p>
          <a:p>
            <a:pPr marL="721995" marR="5080" indent="-342900">
              <a:lnSpc>
                <a:spcPts val="2380"/>
              </a:lnSpc>
              <a:spcBef>
                <a:spcPts val="1860"/>
              </a:spcBef>
              <a:buFont typeface="Wingdings"/>
              <a:buChar char=""/>
              <a:tabLst>
                <a:tab pos="722630" algn="l"/>
              </a:tabLst>
            </a:pPr>
            <a:r>
              <a:rPr sz="2200" spc="-35" dirty="0">
                <a:solidFill>
                  <a:srgbClr val="FFFFFF"/>
                </a:solidFill>
                <a:latin typeface="Arial"/>
                <a:cs typeface="Arial"/>
              </a:rPr>
              <a:t>Helps</a:t>
            </a:r>
            <a:r>
              <a:rPr sz="2200" spc="-140" dirty="0">
                <a:solidFill>
                  <a:srgbClr val="FFFFFF"/>
                </a:solidFill>
                <a:latin typeface="Arial"/>
                <a:cs typeface="Arial"/>
              </a:rPr>
              <a:t> </a:t>
            </a:r>
            <a:r>
              <a:rPr sz="2200" spc="25" dirty="0">
                <a:solidFill>
                  <a:srgbClr val="FFFFFF"/>
                </a:solidFill>
                <a:latin typeface="Arial"/>
                <a:cs typeface="Arial"/>
              </a:rPr>
              <a:t>SQL</a:t>
            </a:r>
            <a:r>
              <a:rPr sz="2200" spc="-140" dirty="0">
                <a:solidFill>
                  <a:srgbClr val="FFFFFF"/>
                </a:solidFill>
                <a:latin typeface="Arial"/>
                <a:cs typeface="Arial"/>
              </a:rPr>
              <a:t> </a:t>
            </a:r>
            <a:r>
              <a:rPr sz="2200" spc="-55" dirty="0">
                <a:solidFill>
                  <a:srgbClr val="FFFFFF"/>
                </a:solidFill>
                <a:latin typeface="Arial"/>
                <a:cs typeface="Arial"/>
              </a:rPr>
              <a:t>Server</a:t>
            </a:r>
            <a:r>
              <a:rPr sz="2200" spc="-130" dirty="0">
                <a:solidFill>
                  <a:srgbClr val="FFFFFF"/>
                </a:solidFill>
                <a:latin typeface="Arial"/>
                <a:cs typeface="Arial"/>
              </a:rPr>
              <a:t> </a:t>
            </a:r>
            <a:r>
              <a:rPr sz="2200" spc="100" dirty="0">
                <a:solidFill>
                  <a:srgbClr val="FFFFFF"/>
                </a:solidFill>
                <a:latin typeface="Arial"/>
                <a:cs typeface="Arial"/>
              </a:rPr>
              <a:t>in</a:t>
            </a:r>
            <a:r>
              <a:rPr sz="2200" spc="-140" dirty="0">
                <a:solidFill>
                  <a:srgbClr val="FFFFFF"/>
                </a:solidFill>
                <a:latin typeface="Arial"/>
                <a:cs typeface="Arial"/>
              </a:rPr>
              <a:t> </a:t>
            </a:r>
            <a:r>
              <a:rPr sz="2200" spc="10" dirty="0">
                <a:solidFill>
                  <a:srgbClr val="FFFFFF"/>
                </a:solidFill>
                <a:latin typeface="Arial"/>
                <a:cs typeface="Arial"/>
              </a:rPr>
              <a:t>interacting</a:t>
            </a:r>
            <a:r>
              <a:rPr sz="2200" spc="-140" dirty="0">
                <a:solidFill>
                  <a:srgbClr val="FFFFFF"/>
                </a:solidFill>
                <a:latin typeface="Arial"/>
                <a:cs typeface="Arial"/>
              </a:rPr>
              <a:t> </a:t>
            </a:r>
            <a:r>
              <a:rPr sz="2200" spc="100" dirty="0">
                <a:solidFill>
                  <a:srgbClr val="FFFFFF"/>
                </a:solidFill>
                <a:latin typeface="Arial"/>
                <a:cs typeface="Arial"/>
              </a:rPr>
              <a:t>with</a:t>
            </a:r>
            <a:r>
              <a:rPr sz="2200" spc="-145" dirty="0">
                <a:solidFill>
                  <a:srgbClr val="FFFFFF"/>
                </a:solidFill>
                <a:latin typeface="Arial"/>
                <a:cs typeface="Arial"/>
              </a:rPr>
              <a:t> </a:t>
            </a:r>
            <a:r>
              <a:rPr sz="2200" dirty="0">
                <a:solidFill>
                  <a:srgbClr val="FFFFFF"/>
                </a:solidFill>
                <a:latin typeface="Arial"/>
                <a:cs typeface="Arial"/>
              </a:rPr>
              <a:t>the</a:t>
            </a:r>
            <a:r>
              <a:rPr sz="2200" spc="-145" dirty="0">
                <a:solidFill>
                  <a:srgbClr val="FFFFFF"/>
                </a:solidFill>
                <a:latin typeface="Arial"/>
                <a:cs typeface="Arial"/>
              </a:rPr>
              <a:t> </a:t>
            </a:r>
            <a:r>
              <a:rPr sz="2200" spc="-20" dirty="0">
                <a:solidFill>
                  <a:srgbClr val="FFFFFF"/>
                </a:solidFill>
                <a:latin typeface="Arial"/>
                <a:cs typeface="Arial"/>
              </a:rPr>
              <a:t>operating  </a:t>
            </a:r>
            <a:r>
              <a:rPr sz="2200" spc="-90" dirty="0">
                <a:solidFill>
                  <a:srgbClr val="FFFFFF"/>
                </a:solidFill>
                <a:latin typeface="Arial"/>
                <a:cs typeface="Arial"/>
              </a:rPr>
              <a:t>system</a:t>
            </a:r>
            <a:endParaRPr sz="2200">
              <a:latin typeface="Arial"/>
              <a:cs typeface="Arial"/>
            </a:endParaRPr>
          </a:p>
          <a:p>
            <a:pPr>
              <a:lnSpc>
                <a:spcPct val="100000"/>
              </a:lnSpc>
              <a:spcBef>
                <a:spcPts val="20"/>
              </a:spcBef>
              <a:buClr>
                <a:srgbClr val="FFFFFF"/>
              </a:buClr>
              <a:buFont typeface="Wingdings"/>
              <a:buChar char=""/>
            </a:pPr>
            <a:endParaRPr sz="2550">
              <a:latin typeface="Arial"/>
              <a:cs typeface="Arial"/>
            </a:endParaRPr>
          </a:p>
          <a:p>
            <a:pPr marL="1141730" lvl="1" indent="-343535">
              <a:lnSpc>
                <a:spcPct val="100000"/>
              </a:lnSpc>
              <a:buFont typeface="Wingdings"/>
              <a:buChar char=""/>
              <a:tabLst>
                <a:tab pos="1142365" algn="l"/>
              </a:tabLst>
            </a:pPr>
            <a:r>
              <a:rPr sz="2200" spc="95" dirty="0">
                <a:solidFill>
                  <a:srgbClr val="FFFFFF"/>
                </a:solidFill>
                <a:latin typeface="Arial"/>
                <a:cs typeface="Arial"/>
              </a:rPr>
              <a:t>Not</a:t>
            </a:r>
            <a:r>
              <a:rPr sz="2200" spc="-170" dirty="0">
                <a:solidFill>
                  <a:srgbClr val="FFFFFF"/>
                </a:solidFill>
                <a:latin typeface="Arial"/>
                <a:cs typeface="Arial"/>
              </a:rPr>
              <a:t> </a:t>
            </a:r>
            <a:r>
              <a:rPr sz="2200" spc="-20" dirty="0">
                <a:solidFill>
                  <a:srgbClr val="FFFFFF"/>
                </a:solidFill>
                <a:latin typeface="Arial"/>
                <a:cs typeface="Arial"/>
              </a:rPr>
              <a:t>resident</a:t>
            </a:r>
            <a:r>
              <a:rPr sz="2200" spc="-170" dirty="0">
                <a:solidFill>
                  <a:srgbClr val="FFFFFF"/>
                </a:solidFill>
                <a:latin typeface="Arial"/>
                <a:cs typeface="Arial"/>
              </a:rPr>
              <a:t> </a:t>
            </a:r>
            <a:r>
              <a:rPr sz="2200" spc="-45" dirty="0">
                <a:solidFill>
                  <a:srgbClr val="FFFFFF"/>
                </a:solidFill>
                <a:latin typeface="Arial"/>
                <a:cs typeface="Arial"/>
              </a:rPr>
              <a:t>objects</a:t>
            </a:r>
            <a:r>
              <a:rPr sz="2200" spc="-170" dirty="0">
                <a:solidFill>
                  <a:srgbClr val="FFFFFF"/>
                </a:solidFill>
                <a:latin typeface="Arial"/>
                <a:cs typeface="Arial"/>
              </a:rPr>
              <a:t> </a:t>
            </a:r>
            <a:r>
              <a:rPr sz="2200" spc="60" dirty="0">
                <a:solidFill>
                  <a:srgbClr val="FFFFFF"/>
                </a:solidFill>
                <a:latin typeface="Arial"/>
                <a:cs typeface="Arial"/>
              </a:rPr>
              <a:t>of</a:t>
            </a:r>
            <a:r>
              <a:rPr sz="2200" spc="-160" dirty="0">
                <a:solidFill>
                  <a:srgbClr val="FFFFFF"/>
                </a:solidFill>
                <a:latin typeface="Arial"/>
                <a:cs typeface="Arial"/>
              </a:rPr>
              <a:t> </a:t>
            </a:r>
            <a:r>
              <a:rPr sz="2200" spc="25" dirty="0">
                <a:solidFill>
                  <a:srgbClr val="FFFFFF"/>
                </a:solidFill>
                <a:latin typeface="Arial"/>
                <a:cs typeface="Arial"/>
              </a:rPr>
              <a:t>SQL</a:t>
            </a:r>
            <a:r>
              <a:rPr sz="2200" spc="-150" dirty="0">
                <a:solidFill>
                  <a:srgbClr val="FFFFFF"/>
                </a:solidFill>
                <a:latin typeface="Arial"/>
                <a:cs typeface="Arial"/>
              </a:rPr>
              <a:t> </a:t>
            </a:r>
            <a:r>
              <a:rPr sz="2200" spc="-55" dirty="0">
                <a:solidFill>
                  <a:srgbClr val="FFFFFF"/>
                </a:solidFill>
                <a:latin typeface="Arial"/>
                <a:cs typeface="Arial"/>
              </a:rPr>
              <a:t>Server</a:t>
            </a:r>
            <a:endParaRPr sz="2200">
              <a:latin typeface="Arial"/>
              <a:cs typeface="Arial"/>
            </a:endParaRPr>
          </a:p>
        </p:txBody>
      </p:sp>
      <p:sp>
        <p:nvSpPr>
          <p:cNvPr id="6" name="object 6"/>
          <p:cNvSpPr/>
          <p:nvPr/>
        </p:nvSpPr>
        <p:spPr>
          <a:xfrm>
            <a:off x="1472184" y="3278885"/>
            <a:ext cx="7053580" cy="1131570"/>
          </a:xfrm>
          <a:custGeom>
            <a:avLst/>
            <a:gdLst/>
            <a:ahLst/>
            <a:cxnLst/>
            <a:rect l="l" t="t" r="r" b="b"/>
            <a:pathLst>
              <a:path w="7053580" h="1131570">
                <a:moveTo>
                  <a:pt x="7053072" y="188595"/>
                </a:moveTo>
                <a:lnTo>
                  <a:pt x="7046328" y="138468"/>
                </a:lnTo>
                <a:lnTo>
                  <a:pt x="7027316" y="93421"/>
                </a:lnTo>
                <a:lnTo>
                  <a:pt x="6997827" y="55245"/>
                </a:lnTo>
                <a:lnTo>
                  <a:pt x="6959651" y="25755"/>
                </a:lnTo>
                <a:lnTo>
                  <a:pt x="6914604" y="6743"/>
                </a:lnTo>
                <a:lnTo>
                  <a:pt x="6864477" y="0"/>
                </a:lnTo>
                <a:lnTo>
                  <a:pt x="188595" y="0"/>
                </a:lnTo>
                <a:lnTo>
                  <a:pt x="138455" y="6743"/>
                </a:lnTo>
                <a:lnTo>
                  <a:pt x="93408" y="25755"/>
                </a:lnTo>
                <a:lnTo>
                  <a:pt x="55245" y="55245"/>
                </a:lnTo>
                <a:lnTo>
                  <a:pt x="25742" y="93421"/>
                </a:lnTo>
                <a:lnTo>
                  <a:pt x="6731" y="138468"/>
                </a:lnTo>
                <a:lnTo>
                  <a:pt x="0" y="188595"/>
                </a:lnTo>
                <a:lnTo>
                  <a:pt x="0" y="942975"/>
                </a:lnTo>
                <a:lnTo>
                  <a:pt x="6731" y="993114"/>
                </a:lnTo>
                <a:lnTo>
                  <a:pt x="25742" y="1038161"/>
                </a:lnTo>
                <a:lnTo>
                  <a:pt x="55245" y="1076325"/>
                </a:lnTo>
                <a:lnTo>
                  <a:pt x="93408" y="1105827"/>
                </a:lnTo>
                <a:lnTo>
                  <a:pt x="138455" y="1124839"/>
                </a:lnTo>
                <a:lnTo>
                  <a:pt x="188595" y="1131570"/>
                </a:lnTo>
                <a:lnTo>
                  <a:pt x="6864477" y="1131570"/>
                </a:lnTo>
                <a:lnTo>
                  <a:pt x="6914604" y="1124839"/>
                </a:lnTo>
                <a:lnTo>
                  <a:pt x="6959651" y="1105827"/>
                </a:lnTo>
                <a:lnTo>
                  <a:pt x="6997827" y="1076325"/>
                </a:lnTo>
                <a:lnTo>
                  <a:pt x="7027316" y="1038161"/>
                </a:lnTo>
                <a:lnTo>
                  <a:pt x="7046328" y="993114"/>
                </a:lnTo>
                <a:lnTo>
                  <a:pt x="7053072" y="942975"/>
                </a:lnTo>
                <a:lnTo>
                  <a:pt x="7053072" y="855726"/>
                </a:lnTo>
                <a:lnTo>
                  <a:pt x="7053072" y="275844"/>
                </a:lnTo>
                <a:lnTo>
                  <a:pt x="7053072" y="188595"/>
                </a:lnTo>
                <a:close/>
              </a:path>
            </a:pathLst>
          </a:custGeom>
          <a:solidFill>
            <a:srgbClr val="F79546"/>
          </a:solidFill>
        </p:spPr>
        <p:txBody>
          <a:bodyPr wrap="square" lIns="0" tIns="0" rIns="0" bIns="0" rtlCol="0"/>
          <a:lstStyle/>
          <a:p>
            <a:endParaRPr/>
          </a:p>
        </p:txBody>
      </p:sp>
      <p:sp>
        <p:nvSpPr>
          <p:cNvPr id="7" name="object 7"/>
          <p:cNvSpPr/>
          <p:nvPr/>
        </p:nvSpPr>
        <p:spPr>
          <a:xfrm>
            <a:off x="1948434" y="4570476"/>
            <a:ext cx="6932295" cy="725170"/>
          </a:xfrm>
          <a:custGeom>
            <a:avLst/>
            <a:gdLst/>
            <a:ahLst/>
            <a:cxnLst/>
            <a:rect l="l" t="t" r="r" b="b"/>
            <a:pathLst>
              <a:path w="6932295" h="725170">
                <a:moveTo>
                  <a:pt x="6931914" y="120777"/>
                </a:moveTo>
                <a:lnTo>
                  <a:pt x="6922414" y="73787"/>
                </a:lnTo>
                <a:lnTo>
                  <a:pt x="6896519" y="35394"/>
                </a:lnTo>
                <a:lnTo>
                  <a:pt x="6858127" y="9499"/>
                </a:lnTo>
                <a:lnTo>
                  <a:pt x="6811137" y="0"/>
                </a:lnTo>
                <a:lnTo>
                  <a:pt x="120777" y="0"/>
                </a:lnTo>
                <a:lnTo>
                  <a:pt x="73774" y="9499"/>
                </a:lnTo>
                <a:lnTo>
                  <a:pt x="35382" y="35394"/>
                </a:lnTo>
                <a:lnTo>
                  <a:pt x="9486" y="73787"/>
                </a:lnTo>
                <a:lnTo>
                  <a:pt x="0" y="120777"/>
                </a:lnTo>
                <a:lnTo>
                  <a:pt x="0" y="603885"/>
                </a:lnTo>
                <a:lnTo>
                  <a:pt x="9486" y="650887"/>
                </a:lnTo>
                <a:lnTo>
                  <a:pt x="35382" y="689279"/>
                </a:lnTo>
                <a:lnTo>
                  <a:pt x="73774" y="715175"/>
                </a:lnTo>
                <a:lnTo>
                  <a:pt x="120777" y="724662"/>
                </a:lnTo>
                <a:lnTo>
                  <a:pt x="6811137" y="724662"/>
                </a:lnTo>
                <a:lnTo>
                  <a:pt x="6858127" y="715175"/>
                </a:lnTo>
                <a:lnTo>
                  <a:pt x="6896519" y="689279"/>
                </a:lnTo>
                <a:lnTo>
                  <a:pt x="6922414" y="650887"/>
                </a:lnTo>
                <a:lnTo>
                  <a:pt x="6931914" y="603885"/>
                </a:lnTo>
                <a:lnTo>
                  <a:pt x="6931914" y="547878"/>
                </a:lnTo>
                <a:lnTo>
                  <a:pt x="6931914" y="176784"/>
                </a:lnTo>
                <a:lnTo>
                  <a:pt x="6931914" y="120777"/>
                </a:lnTo>
                <a:close/>
              </a:path>
            </a:pathLst>
          </a:custGeom>
          <a:solidFill>
            <a:srgbClr val="F79546"/>
          </a:solidFill>
        </p:spPr>
        <p:txBody>
          <a:bodyPr wrap="square" lIns="0" tIns="0" rIns="0" bIns="0" rtlCol="0"/>
          <a:lstStyle/>
          <a:p>
            <a:endParaRPr/>
          </a:p>
        </p:txBody>
      </p:sp>
      <p:sp>
        <p:nvSpPr>
          <p:cNvPr id="8" name="object 8"/>
          <p:cNvSpPr txBox="1"/>
          <p:nvPr/>
        </p:nvSpPr>
        <p:spPr>
          <a:xfrm>
            <a:off x="1656588" y="3298698"/>
            <a:ext cx="6805930" cy="1751964"/>
          </a:xfrm>
          <a:prstGeom prst="rect">
            <a:avLst/>
          </a:prstGeom>
        </p:spPr>
        <p:txBody>
          <a:bodyPr vert="horz" wrap="square" lIns="0" tIns="46355" rIns="0" bIns="0" rtlCol="0">
            <a:spAutoFit/>
          </a:bodyPr>
          <a:lstStyle/>
          <a:p>
            <a:pPr marL="355600" marR="5080" indent="-342900" algn="just">
              <a:lnSpc>
                <a:spcPct val="90000"/>
              </a:lnSpc>
              <a:spcBef>
                <a:spcPts val="365"/>
              </a:spcBef>
              <a:buFont typeface="Wingdings"/>
              <a:buChar char=""/>
              <a:tabLst>
                <a:tab pos="355600" algn="l"/>
              </a:tabLst>
            </a:pPr>
            <a:r>
              <a:rPr sz="2200" spc="15" dirty="0">
                <a:solidFill>
                  <a:srgbClr val="FFFFFF"/>
                </a:solidFill>
                <a:latin typeface="Arial"/>
                <a:cs typeface="Arial"/>
              </a:rPr>
              <a:t>They </a:t>
            </a:r>
            <a:r>
              <a:rPr sz="2200" spc="-105" dirty="0">
                <a:solidFill>
                  <a:srgbClr val="FFFFFF"/>
                </a:solidFill>
                <a:latin typeface="Arial"/>
                <a:cs typeface="Arial"/>
              </a:rPr>
              <a:t>are </a:t>
            </a:r>
            <a:r>
              <a:rPr sz="2200" spc="-55" dirty="0">
                <a:solidFill>
                  <a:srgbClr val="FFFFFF"/>
                </a:solidFill>
                <a:latin typeface="Arial"/>
                <a:cs typeface="Arial"/>
              </a:rPr>
              <a:t>procedures </a:t>
            </a:r>
            <a:r>
              <a:rPr sz="2200" spc="30" dirty="0">
                <a:solidFill>
                  <a:srgbClr val="FFFFFF"/>
                </a:solidFill>
                <a:latin typeface="Arial"/>
                <a:cs typeface="Arial"/>
              </a:rPr>
              <a:t>that </a:t>
            </a:r>
            <a:r>
              <a:rPr sz="2200" spc="-110" dirty="0">
                <a:solidFill>
                  <a:srgbClr val="FFFFFF"/>
                </a:solidFill>
                <a:latin typeface="Arial"/>
                <a:cs typeface="Arial"/>
              </a:rPr>
              <a:t>are </a:t>
            </a:r>
            <a:r>
              <a:rPr sz="2200" spc="-15" dirty="0">
                <a:solidFill>
                  <a:srgbClr val="FFFFFF"/>
                </a:solidFill>
                <a:latin typeface="Arial"/>
                <a:cs typeface="Arial"/>
              </a:rPr>
              <a:t>implemented  </a:t>
            </a:r>
            <a:r>
              <a:rPr sz="2200" spc="-229" dirty="0">
                <a:solidFill>
                  <a:srgbClr val="FFFFFF"/>
                </a:solidFill>
                <a:latin typeface="Arial"/>
                <a:cs typeface="Arial"/>
              </a:rPr>
              <a:t>as  </a:t>
            </a:r>
            <a:r>
              <a:rPr sz="2200" spc="35" dirty="0">
                <a:solidFill>
                  <a:srgbClr val="FFFFFF"/>
                </a:solidFill>
                <a:latin typeface="Arial"/>
                <a:cs typeface="Arial"/>
              </a:rPr>
              <a:t>Dynamic-Link </a:t>
            </a:r>
            <a:r>
              <a:rPr sz="2200" spc="-15" dirty="0">
                <a:solidFill>
                  <a:srgbClr val="FFFFFF"/>
                </a:solidFill>
                <a:latin typeface="Arial"/>
                <a:cs typeface="Arial"/>
              </a:rPr>
              <a:t>Libraries </a:t>
            </a:r>
            <a:r>
              <a:rPr sz="2200" spc="60" dirty="0">
                <a:solidFill>
                  <a:srgbClr val="FFFFFF"/>
                </a:solidFill>
                <a:latin typeface="Arial"/>
                <a:cs typeface="Arial"/>
              </a:rPr>
              <a:t>(DLL) </a:t>
            </a:r>
            <a:r>
              <a:rPr sz="2200" spc="-55" dirty="0">
                <a:solidFill>
                  <a:srgbClr val="FFFFFF"/>
                </a:solidFill>
                <a:latin typeface="Arial"/>
                <a:cs typeface="Arial"/>
              </a:rPr>
              <a:t>executed </a:t>
            </a:r>
            <a:r>
              <a:rPr sz="2200" spc="-20" dirty="0">
                <a:solidFill>
                  <a:srgbClr val="FFFFFF"/>
                </a:solidFill>
                <a:latin typeface="Arial"/>
                <a:cs typeface="Arial"/>
              </a:rPr>
              <a:t>outside </a:t>
            </a:r>
            <a:r>
              <a:rPr sz="2200" dirty="0">
                <a:solidFill>
                  <a:srgbClr val="FFFFFF"/>
                </a:solidFill>
                <a:latin typeface="Arial"/>
                <a:cs typeface="Arial"/>
              </a:rPr>
              <a:t>the  </a:t>
            </a:r>
            <a:r>
              <a:rPr sz="2200" spc="25" dirty="0">
                <a:solidFill>
                  <a:srgbClr val="FFFFFF"/>
                </a:solidFill>
                <a:latin typeface="Arial"/>
                <a:cs typeface="Arial"/>
              </a:rPr>
              <a:t>SQL </a:t>
            </a:r>
            <a:r>
              <a:rPr sz="2200" spc="-55" dirty="0">
                <a:solidFill>
                  <a:srgbClr val="FFFFFF"/>
                </a:solidFill>
                <a:latin typeface="Arial"/>
                <a:cs typeface="Arial"/>
              </a:rPr>
              <a:t>Server</a:t>
            </a:r>
            <a:r>
              <a:rPr sz="2200" spc="-335" dirty="0">
                <a:solidFill>
                  <a:srgbClr val="FFFFFF"/>
                </a:solidFill>
                <a:latin typeface="Arial"/>
                <a:cs typeface="Arial"/>
              </a:rPr>
              <a:t> </a:t>
            </a:r>
            <a:r>
              <a:rPr sz="2200" spc="20" dirty="0">
                <a:solidFill>
                  <a:srgbClr val="FFFFFF"/>
                </a:solidFill>
                <a:latin typeface="Arial"/>
                <a:cs typeface="Arial"/>
              </a:rPr>
              <a:t>environment</a:t>
            </a:r>
            <a:endParaRPr sz="2200">
              <a:latin typeface="Arial"/>
              <a:cs typeface="Arial"/>
            </a:endParaRPr>
          </a:p>
          <a:p>
            <a:pPr>
              <a:lnSpc>
                <a:spcPct val="100000"/>
              </a:lnSpc>
              <a:spcBef>
                <a:spcPts val="45"/>
              </a:spcBef>
              <a:buClr>
                <a:srgbClr val="FFFFFF"/>
              </a:buClr>
              <a:buFont typeface="Wingdings"/>
              <a:buChar char=""/>
            </a:pPr>
            <a:endParaRPr sz="3050">
              <a:latin typeface="Arial"/>
              <a:cs typeface="Arial"/>
            </a:endParaRPr>
          </a:p>
          <a:p>
            <a:pPr marL="829310" lvl="1" indent="-343535">
              <a:lnSpc>
                <a:spcPct val="100000"/>
              </a:lnSpc>
              <a:buFont typeface="Wingdings"/>
              <a:buChar char=""/>
              <a:tabLst>
                <a:tab pos="829944" algn="l"/>
              </a:tabLst>
            </a:pPr>
            <a:r>
              <a:rPr sz="2200" spc="-80" dirty="0">
                <a:solidFill>
                  <a:srgbClr val="FFFFFF"/>
                </a:solidFill>
                <a:latin typeface="Arial"/>
                <a:cs typeface="Arial"/>
              </a:rPr>
              <a:t>Use </a:t>
            </a:r>
            <a:r>
              <a:rPr sz="2200" dirty="0">
                <a:solidFill>
                  <a:srgbClr val="FFFFFF"/>
                </a:solidFill>
                <a:latin typeface="Arial"/>
                <a:cs typeface="Arial"/>
              </a:rPr>
              <a:t>the </a:t>
            </a:r>
            <a:r>
              <a:rPr sz="2200" spc="105" dirty="0">
                <a:solidFill>
                  <a:srgbClr val="FFFFFF"/>
                </a:solidFill>
                <a:latin typeface="Arial"/>
                <a:cs typeface="Arial"/>
              </a:rPr>
              <a:t>'xp'</a:t>
            </a:r>
            <a:r>
              <a:rPr sz="2200" spc="-480" dirty="0">
                <a:solidFill>
                  <a:srgbClr val="FFFFFF"/>
                </a:solidFill>
                <a:latin typeface="Arial"/>
                <a:cs typeface="Arial"/>
              </a:rPr>
              <a:t> </a:t>
            </a:r>
            <a:r>
              <a:rPr sz="2200" spc="45" dirty="0">
                <a:solidFill>
                  <a:srgbClr val="FFFFFF"/>
                </a:solidFill>
                <a:latin typeface="Arial"/>
                <a:cs typeface="Arial"/>
              </a:rPr>
              <a:t>prefix</a:t>
            </a:r>
            <a:endParaRPr sz="2200">
              <a:latin typeface="Arial"/>
              <a:cs typeface="Arial"/>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29</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4141" y="36575"/>
            <a:ext cx="6718300" cy="635635"/>
          </a:xfrm>
          <a:prstGeom prst="rect">
            <a:avLst/>
          </a:prstGeom>
        </p:spPr>
        <p:txBody>
          <a:bodyPr vert="horz" wrap="square" lIns="0" tIns="12700" rIns="0" bIns="0" rtlCol="0">
            <a:spAutoFit/>
          </a:bodyPr>
          <a:lstStyle/>
          <a:p>
            <a:pPr marL="12700">
              <a:lnSpc>
                <a:spcPct val="100000"/>
              </a:lnSpc>
              <a:spcBef>
                <a:spcPts val="100"/>
              </a:spcBef>
            </a:pPr>
            <a:r>
              <a:rPr sz="4000" b="0" spc="-90" dirty="0">
                <a:latin typeface="Arial"/>
                <a:cs typeface="Arial"/>
              </a:rPr>
              <a:t>Types </a:t>
            </a:r>
            <a:r>
              <a:rPr sz="4000" b="0" spc="114" dirty="0">
                <a:latin typeface="Arial"/>
                <a:cs typeface="Arial"/>
              </a:rPr>
              <a:t>of</a:t>
            </a:r>
            <a:r>
              <a:rPr sz="4000" b="0" spc="-840" dirty="0">
                <a:latin typeface="Arial"/>
                <a:cs typeface="Arial"/>
              </a:rPr>
              <a:t> </a:t>
            </a:r>
            <a:r>
              <a:rPr sz="4000" b="0" spc="-40" dirty="0">
                <a:latin typeface="Arial"/>
                <a:cs typeface="Arial"/>
              </a:rPr>
              <a:t>Stored </a:t>
            </a:r>
            <a:r>
              <a:rPr sz="4000" b="0" spc="-135" dirty="0">
                <a:latin typeface="Arial"/>
                <a:cs typeface="Arial"/>
              </a:rPr>
              <a:t>Procedures </a:t>
            </a:r>
            <a:r>
              <a:rPr sz="4000" b="0" spc="-400" dirty="0">
                <a:latin typeface="Arial"/>
                <a:cs typeface="Arial"/>
              </a:rPr>
              <a:t>3-3</a:t>
            </a:r>
            <a:endParaRPr sz="4000">
              <a:latin typeface="Arial"/>
              <a:cs typeface="Arial"/>
            </a:endParaRPr>
          </a:p>
        </p:txBody>
      </p:sp>
      <p:sp>
        <p:nvSpPr>
          <p:cNvPr id="3" name="object 3"/>
          <p:cNvSpPr/>
          <p:nvPr/>
        </p:nvSpPr>
        <p:spPr>
          <a:xfrm>
            <a:off x="371094" y="1397507"/>
            <a:ext cx="7562850" cy="683895"/>
          </a:xfrm>
          <a:custGeom>
            <a:avLst/>
            <a:gdLst/>
            <a:ahLst/>
            <a:cxnLst/>
            <a:rect l="l" t="t" r="r" b="b"/>
            <a:pathLst>
              <a:path w="7562850" h="683894">
                <a:moveTo>
                  <a:pt x="7562850" y="113919"/>
                </a:moveTo>
                <a:lnTo>
                  <a:pt x="7553884" y="69608"/>
                </a:lnTo>
                <a:lnTo>
                  <a:pt x="7529462" y="33388"/>
                </a:lnTo>
                <a:lnTo>
                  <a:pt x="7493241" y="8966"/>
                </a:lnTo>
                <a:lnTo>
                  <a:pt x="7448931" y="0"/>
                </a:lnTo>
                <a:lnTo>
                  <a:pt x="113919" y="0"/>
                </a:lnTo>
                <a:lnTo>
                  <a:pt x="69570" y="8966"/>
                </a:lnTo>
                <a:lnTo>
                  <a:pt x="33362" y="33388"/>
                </a:lnTo>
                <a:lnTo>
                  <a:pt x="8940" y="69608"/>
                </a:lnTo>
                <a:lnTo>
                  <a:pt x="0" y="113919"/>
                </a:lnTo>
                <a:lnTo>
                  <a:pt x="0" y="569595"/>
                </a:lnTo>
                <a:lnTo>
                  <a:pt x="8940" y="613918"/>
                </a:lnTo>
                <a:lnTo>
                  <a:pt x="33362" y="650138"/>
                </a:lnTo>
                <a:lnTo>
                  <a:pt x="69570" y="674560"/>
                </a:lnTo>
                <a:lnTo>
                  <a:pt x="113919" y="683514"/>
                </a:lnTo>
                <a:lnTo>
                  <a:pt x="7448931" y="683514"/>
                </a:lnTo>
                <a:lnTo>
                  <a:pt x="7493241" y="674560"/>
                </a:lnTo>
                <a:lnTo>
                  <a:pt x="7529462" y="650138"/>
                </a:lnTo>
                <a:lnTo>
                  <a:pt x="7553884" y="613918"/>
                </a:lnTo>
                <a:lnTo>
                  <a:pt x="7562850" y="569595"/>
                </a:lnTo>
                <a:lnTo>
                  <a:pt x="7562850" y="113919"/>
                </a:lnTo>
                <a:close/>
              </a:path>
            </a:pathLst>
          </a:custGeom>
          <a:solidFill>
            <a:srgbClr val="4F6128"/>
          </a:solidFill>
        </p:spPr>
        <p:txBody>
          <a:bodyPr wrap="square" lIns="0" tIns="0" rIns="0" bIns="0" rtlCol="0"/>
          <a:lstStyle/>
          <a:p>
            <a:endParaRPr/>
          </a:p>
        </p:txBody>
      </p:sp>
      <p:sp>
        <p:nvSpPr>
          <p:cNvPr id="4" name="object 4"/>
          <p:cNvSpPr/>
          <p:nvPr/>
        </p:nvSpPr>
        <p:spPr>
          <a:xfrm>
            <a:off x="661416" y="2270759"/>
            <a:ext cx="7562850" cy="498475"/>
          </a:xfrm>
          <a:custGeom>
            <a:avLst/>
            <a:gdLst/>
            <a:ahLst/>
            <a:cxnLst/>
            <a:rect l="l" t="t" r="r" b="b"/>
            <a:pathLst>
              <a:path w="7562850" h="498475">
                <a:moveTo>
                  <a:pt x="7562850" y="83058"/>
                </a:moveTo>
                <a:lnTo>
                  <a:pt x="7556309" y="50749"/>
                </a:lnTo>
                <a:lnTo>
                  <a:pt x="7538504" y="24345"/>
                </a:lnTo>
                <a:lnTo>
                  <a:pt x="7512101" y="6540"/>
                </a:lnTo>
                <a:lnTo>
                  <a:pt x="7479792" y="0"/>
                </a:lnTo>
                <a:lnTo>
                  <a:pt x="83058" y="0"/>
                </a:lnTo>
                <a:lnTo>
                  <a:pt x="50723" y="6540"/>
                </a:lnTo>
                <a:lnTo>
                  <a:pt x="24320" y="24345"/>
                </a:lnTo>
                <a:lnTo>
                  <a:pt x="6515" y="50749"/>
                </a:lnTo>
                <a:lnTo>
                  <a:pt x="0" y="83058"/>
                </a:lnTo>
                <a:lnTo>
                  <a:pt x="0" y="415290"/>
                </a:lnTo>
                <a:lnTo>
                  <a:pt x="6515" y="447611"/>
                </a:lnTo>
                <a:lnTo>
                  <a:pt x="24320" y="474014"/>
                </a:lnTo>
                <a:lnTo>
                  <a:pt x="50723" y="491820"/>
                </a:lnTo>
                <a:lnTo>
                  <a:pt x="83058" y="498348"/>
                </a:lnTo>
                <a:lnTo>
                  <a:pt x="7479792" y="498348"/>
                </a:lnTo>
                <a:lnTo>
                  <a:pt x="7512101" y="491820"/>
                </a:lnTo>
                <a:lnTo>
                  <a:pt x="7538504" y="474014"/>
                </a:lnTo>
                <a:lnTo>
                  <a:pt x="7556309" y="447611"/>
                </a:lnTo>
                <a:lnTo>
                  <a:pt x="7562850" y="415290"/>
                </a:lnTo>
                <a:lnTo>
                  <a:pt x="7562850" y="83058"/>
                </a:lnTo>
                <a:close/>
              </a:path>
            </a:pathLst>
          </a:custGeom>
          <a:solidFill>
            <a:srgbClr val="4F6128"/>
          </a:solidFill>
        </p:spPr>
        <p:txBody>
          <a:bodyPr wrap="square" lIns="0" tIns="0" rIns="0" bIns="0" rtlCol="0"/>
          <a:lstStyle/>
          <a:p>
            <a:endParaRPr/>
          </a:p>
        </p:txBody>
      </p:sp>
      <p:sp>
        <p:nvSpPr>
          <p:cNvPr id="5" name="object 5"/>
          <p:cNvSpPr/>
          <p:nvPr/>
        </p:nvSpPr>
        <p:spPr>
          <a:xfrm>
            <a:off x="1123950" y="2995421"/>
            <a:ext cx="7562850" cy="778510"/>
          </a:xfrm>
          <a:custGeom>
            <a:avLst/>
            <a:gdLst/>
            <a:ahLst/>
            <a:cxnLst/>
            <a:rect l="l" t="t" r="r" b="b"/>
            <a:pathLst>
              <a:path w="7562850" h="778510">
                <a:moveTo>
                  <a:pt x="7562850" y="129667"/>
                </a:moveTo>
                <a:lnTo>
                  <a:pt x="7552652" y="79197"/>
                </a:lnTo>
                <a:lnTo>
                  <a:pt x="7524877" y="37973"/>
                </a:lnTo>
                <a:lnTo>
                  <a:pt x="7483653" y="10198"/>
                </a:lnTo>
                <a:lnTo>
                  <a:pt x="7433183" y="0"/>
                </a:lnTo>
                <a:lnTo>
                  <a:pt x="129667" y="0"/>
                </a:lnTo>
                <a:lnTo>
                  <a:pt x="79184" y="10198"/>
                </a:lnTo>
                <a:lnTo>
                  <a:pt x="37973" y="37973"/>
                </a:lnTo>
                <a:lnTo>
                  <a:pt x="10185" y="79197"/>
                </a:lnTo>
                <a:lnTo>
                  <a:pt x="0" y="129667"/>
                </a:lnTo>
                <a:lnTo>
                  <a:pt x="0" y="648335"/>
                </a:lnTo>
                <a:lnTo>
                  <a:pt x="10185" y="698817"/>
                </a:lnTo>
                <a:lnTo>
                  <a:pt x="37973" y="740029"/>
                </a:lnTo>
                <a:lnTo>
                  <a:pt x="79184" y="767816"/>
                </a:lnTo>
                <a:lnTo>
                  <a:pt x="129667" y="778002"/>
                </a:lnTo>
                <a:lnTo>
                  <a:pt x="7433183" y="778002"/>
                </a:lnTo>
                <a:lnTo>
                  <a:pt x="7483653" y="767816"/>
                </a:lnTo>
                <a:lnTo>
                  <a:pt x="7524864" y="740029"/>
                </a:lnTo>
                <a:lnTo>
                  <a:pt x="7552652" y="698817"/>
                </a:lnTo>
                <a:lnTo>
                  <a:pt x="7562850" y="648335"/>
                </a:lnTo>
                <a:lnTo>
                  <a:pt x="7562850" y="588264"/>
                </a:lnTo>
                <a:lnTo>
                  <a:pt x="7562850" y="188976"/>
                </a:lnTo>
                <a:lnTo>
                  <a:pt x="7562850" y="129667"/>
                </a:lnTo>
                <a:close/>
              </a:path>
            </a:pathLst>
          </a:custGeom>
          <a:solidFill>
            <a:srgbClr val="4F6128"/>
          </a:solidFill>
        </p:spPr>
        <p:txBody>
          <a:bodyPr wrap="square" lIns="0" tIns="0" rIns="0" bIns="0" rtlCol="0"/>
          <a:lstStyle/>
          <a:p>
            <a:endParaRPr/>
          </a:p>
        </p:txBody>
      </p:sp>
      <p:sp>
        <p:nvSpPr>
          <p:cNvPr id="6" name="object 6"/>
          <p:cNvSpPr/>
          <p:nvPr/>
        </p:nvSpPr>
        <p:spPr>
          <a:xfrm>
            <a:off x="347472" y="4117847"/>
            <a:ext cx="8562975" cy="1804670"/>
          </a:xfrm>
          <a:custGeom>
            <a:avLst/>
            <a:gdLst/>
            <a:ahLst/>
            <a:cxnLst/>
            <a:rect l="l" t="t" r="r" b="b"/>
            <a:pathLst>
              <a:path w="8562975" h="1804670">
                <a:moveTo>
                  <a:pt x="8562594" y="300736"/>
                </a:moveTo>
                <a:lnTo>
                  <a:pt x="8558657" y="251955"/>
                </a:lnTo>
                <a:lnTo>
                  <a:pt x="8547252" y="205676"/>
                </a:lnTo>
                <a:lnTo>
                  <a:pt x="8529028" y="162521"/>
                </a:lnTo>
                <a:lnTo>
                  <a:pt x="8504568" y="123126"/>
                </a:lnTo>
                <a:lnTo>
                  <a:pt x="8474519" y="88074"/>
                </a:lnTo>
                <a:lnTo>
                  <a:pt x="8439467" y="58026"/>
                </a:lnTo>
                <a:lnTo>
                  <a:pt x="8400072" y="33566"/>
                </a:lnTo>
                <a:lnTo>
                  <a:pt x="8356917" y="15341"/>
                </a:lnTo>
                <a:lnTo>
                  <a:pt x="8310639" y="3937"/>
                </a:lnTo>
                <a:lnTo>
                  <a:pt x="8261858" y="0"/>
                </a:lnTo>
                <a:lnTo>
                  <a:pt x="300736" y="0"/>
                </a:lnTo>
                <a:lnTo>
                  <a:pt x="251955" y="3937"/>
                </a:lnTo>
                <a:lnTo>
                  <a:pt x="205676" y="15341"/>
                </a:lnTo>
                <a:lnTo>
                  <a:pt x="162521" y="33566"/>
                </a:lnTo>
                <a:lnTo>
                  <a:pt x="123113" y="58026"/>
                </a:lnTo>
                <a:lnTo>
                  <a:pt x="88074" y="88074"/>
                </a:lnTo>
                <a:lnTo>
                  <a:pt x="58013" y="123126"/>
                </a:lnTo>
                <a:lnTo>
                  <a:pt x="33566" y="162521"/>
                </a:lnTo>
                <a:lnTo>
                  <a:pt x="15328" y="205676"/>
                </a:lnTo>
                <a:lnTo>
                  <a:pt x="3924" y="251955"/>
                </a:lnTo>
                <a:lnTo>
                  <a:pt x="0" y="300736"/>
                </a:lnTo>
                <a:lnTo>
                  <a:pt x="0" y="1503680"/>
                </a:lnTo>
                <a:lnTo>
                  <a:pt x="3924" y="1552460"/>
                </a:lnTo>
                <a:lnTo>
                  <a:pt x="15328" y="1598739"/>
                </a:lnTo>
                <a:lnTo>
                  <a:pt x="33566" y="1641894"/>
                </a:lnTo>
                <a:lnTo>
                  <a:pt x="58013" y="1681302"/>
                </a:lnTo>
                <a:lnTo>
                  <a:pt x="88074" y="1716341"/>
                </a:lnTo>
                <a:lnTo>
                  <a:pt x="123113" y="1746402"/>
                </a:lnTo>
                <a:lnTo>
                  <a:pt x="162521" y="1770849"/>
                </a:lnTo>
                <a:lnTo>
                  <a:pt x="205676" y="1789087"/>
                </a:lnTo>
                <a:lnTo>
                  <a:pt x="251955" y="1800491"/>
                </a:lnTo>
                <a:lnTo>
                  <a:pt x="300736" y="1804416"/>
                </a:lnTo>
                <a:lnTo>
                  <a:pt x="8261858" y="1804416"/>
                </a:lnTo>
                <a:lnTo>
                  <a:pt x="8310639" y="1800491"/>
                </a:lnTo>
                <a:lnTo>
                  <a:pt x="8356917" y="1789087"/>
                </a:lnTo>
                <a:lnTo>
                  <a:pt x="8400072" y="1770849"/>
                </a:lnTo>
                <a:lnTo>
                  <a:pt x="8439467" y="1746402"/>
                </a:lnTo>
                <a:lnTo>
                  <a:pt x="8474519" y="1716341"/>
                </a:lnTo>
                <a:lnTo>
                  <a:pt x="8504568" y="1681302"/>
                </a:lnTo>
                <a:lnTo>
                  <a:pt x="8529028" y="1641894"/>
                </a:lnTo>
                <a:lnTo>
                  <a:pt x="8547252" y="1598739"/>
                </a:lnTo>
                <a:lnTo>
                  <a:pt x="8558657" y="1552460"/>
                </a:lnTo>
                <a:lnTo>
                  <a:pt x="8562594" y="1503680"/>
                </a:lnTo>
                <a:lnTo>
                  <a:pt x="8562594" y="1364742"/>
                </a:lnTo>
                <a:lnTo>
                  <a:pt x="8562594" y="439674"/>
                </a:lnTo>
                <a:lnTo>
                  <a:pt x="8562594" y="300736"/>
                </a:lnTo>
                <a:close/>
              </a:path>
            </a:pathLst>
          </a:custGeom>
          <a:solidFill>
            <a:srgbClr val="000000"/>
          </a:solidFill>
        </p:spPr>
        <p:txBody>
          <a:bodyPr wrap="square" lIns="0" tIns="0" rIns="0" bIns="0" rtlCol="0"/>
          <a:lstStyle/>
          <a:p>
            <a:endParaRPr/>
          </a:p>
        </p:txBody>
      </p:sp>
      <p:sp>
        <p:nvSpPr>
          <p:cNvPr id="7" name="object 7"/>
          <p:cNvSpPr txBox="1"/>
          <p:nvPr/>
        </p:nvSpPr>
        <p:spPr>
          <a:xfrm>
            <a:off x="346202" y="730376"/>
            <a:ext cx="8515350" cy="5050155"/>
          </a:xfrm>
          <a:prstGeom prst="rect">
            <a:avLst/>
          </a:prstGeom>
        </p:spPr>
        <p:txBody>
          <a:bodyPr vert="horz" wrap="square" lIns="0" tIns="190500" rIns="0" bIns="0" rtlCol="0">
            <a:spAutoFit/>
          </a:bodyPr>
          <a:lstStyle/>
          <a:p>
            <a:pPr marL="12700">
              <a:lnSpc>
                <a:spcPct val="100000"/>
              </a:lnSpc>
              <a:spcBef>
                <a:spcPts val="1500"/>
              </a:spcBef>
            </a:pPr>
            <a:r>
              <a:rPr sz="2400" b="1" spc="-190" dirty="0">
                <a:latin typeface="Arial"/>
                <a:cs typeface="Arial"/>
              </a:rPr>
              <a:t>System </a:t>
            </a:r>
            <a:r>
              <a:rPr sz="2400" b="1" spc="-125" dirty="0">
                <a:latin typeface="Arial"/>
                <a:cs typeface="Arial"/>
              </a:rPr>
              <a:t>Stored</a:t>
            </a:r>
            <a:r>
              <a:rPr sz="2400" b="1" spc="-225" dirty="0">
                <a:latin typeface="Arial"/>
                <a:cs typeface="Arial"/>
              </a:rPr>
              <a:t> </a:t>
            </a:r>
            <a:r>
              <a:rPr sz="2400" b="1" spc="-195" dirty="0">
                <a:latin typeface="Arial"/>
                <a:cs typeface="Arial"/>
              </a:rPr>
              <a:t>Procedures</a:t>
            </a:r>
            <a:endParaRPr sz="2400">
              <a:latin typeface="Arial"/>
              <a:cs typeface="Arial"/>
            </a:endParaRPr>
          </a:p>
          <a:p>
            <a:pPr marL="588645" marR="1485900" indent="-342900">
              <a:lnSpc>
                <a:spcPct val="100000"/>
              </a:lnSpc>
              <a:spcBef>
                <a:spcPts val="1170"/>
              </a:spcBef>
              <a:buFont typeface="Wingdings"/>
              <a:buChar char=""/>
              <a:tabLst>
                <a:tab pos="588645" algn="l"/>
                <a:tab pos="589280" algn="l"/>
              </a:tabLst>
            </a:pPr>
            <a:r>
              <a:rPr sz="2000" spc="-50" dirty="0">
                <a:solidFill>
                  <a:srgbClr val="FFFFFF"/>
                </a:solidFill>
                <a:latin typeface="Arial"/>
                <a:cs typeface="Arial"/>
              </a:rPr>
              <a:t>Used </a:t>
            </a:r>
            <a:r>
              <a:rPr sz="2000" spc="65" dirty="0">
                <a:solidFill>
                  <a:srgbClr val="FFFFFF"/>
                </a:solidFill>
                <a:latin typeface="Arial"/>
                <a:cs typeface="Arial"/>
              </a:rPr>
              <a:t>for </a:t>
            </a:r>
            <a:r>
              <a:rPr sz="2000" spc="10" dirty="0">
                <a:solidFill>
                  <a:srgbClr val="FFFFFF"/>
                </a:solidFill>
                <a:latin typeface="Arial"/>
                <a:cs typeface="Arial"/>
              </a:rPr>
              <a:t>interacting </a:t>
            </a:r>
            <a:r>
              <a:rPr sz="2000" spc="90" dirty="0">
                <a:solidFill>
                  <a:srgbClr val="FFFFFF"/>
                </a:solidFill>
                <a:latin typeface="Arial"/>
                <a:cs typeface="Arial"/>
              </a:rPr>
              <a:t>with </a:t>
            </a:r>
            <a:r>
              <a:rPr sz="2000" spc="-85" dirty="0">
                <a:solidFill>
                  <a:srgbClr val="FFFFFF"/>
                </a:solidFill>
                <a:latin typeface="Arial"/>
                <a:cs typeface="Arial"/>
              </a:rPr>
              <a:t>system </a:t>
            </a:r>
            <a:r>
              <a:rPr sz="2000" spc="-60" dirty="0">
                <a:solidFill>
                  <a:srgbClr val="FFFFFF"/>
                </a:solidFill>
                <a:latin typeface="Arial"/>
                <a:cs typeface="Arial"/>
              </a:rPr>
              <a:t>tables </a:t>
            </a:r>
            <a:r>
              <a:rPr sz="2000" spc="-40" dirty="0">
                <a:solidFill>
                  <a:srgbClr val="FFFFFF"/>
                </a:solidFill>
                <a:latin typeface="Arial"/>
                <a:cs typeface="Arial"/>
              </a:rPr>
              <a:t>and </a:t>
            </a:r>
            <a:r>
              <a:rPr sz="2000" spc="15" dirty="0">
                <a:solidFill>
                  <a:srgbClr val="FFFFFF"/>
                </a:solidFill>
                <a:latin typeface="Arial"/>
                <a:cs typeface="Arial"/>
              </a:rPr>
              <a:t>performing  </a:t>
            </a:r>
            <a:r>
              <a:rPr sz="2000" dirty="0">
                <a:solidFill>
                  <a:srgbClr val="FFFFFF"/>
                </a:solidFill>
                <a:latin typeface="Arial"/>
                <a:cs typeface="Arial"/>
              </a:rPr>
              <a:t>administrative </a:t>
            </a:r>
            <a:r>
              <a:rPr sz="2000" spc="-85" dirty="0">
                <a:solidFill>
                  <a:srgbClr val="FFFFFF"/>
                </a:solidFill>
                <a:latin typeface="Arial"/>
                <a:cs typeface="Arial"/>
              </a:rPr>
              <a:t>tasks </a:t>
            </a:r>
            <a:r>
              <a:rPr sz="2000" spc="-55" dirty="0">
                <a:solidFill>
                  <a:srgbClr val="FFFFFF"/>
                </a:solidFill>
                <a:latin typeface="Arial"/>
                <a:cs typeface="Arial"/>
              </a:rPr>
              <a:t>such </a:t>
            </a:r>
            <a:r>
              <a:rPr sz="2000" spc="-204" dirty="0">
                <a:solidFill>
                  <a:srgbClr val="FFFFFF"/>
                </a:solidFill>
                <a:latin typeface="Arial"/>
                <a:cs typeface="Arial"/>
              </a:rPr>
              <a:t>as </a:t>
            </a:r>
            <a:r>
              <a:rPr sz="2000" spc="5" dirty="0">
                <a:solidFill>
                  <a:srgbClr val="FFFFFF"/>
                </a:solidFill>
                <a:latin typeface="Arial"/>
                <a:cs typeface="Arial"/>
              </a:rPr>
              <a:t>updating </a:t>
            </a:r>
            <a:r>
              <a:rPr sz="2000" spc="-85" dirty="0">
                <a:solidFill>
                  <a:srgbClr val="FFFFFF"/>
                </a:solidFill>
                <a:latin typeface="Arial"/>
                <a:cs typeface="Arial"/>
              </a:rPr>
              <a:t>system</a:t>
            </a:r>
            <a:r>
              <a:rPr sz="2000" spc="-405" dirty="0">
                <a:solidFill>
                  <a:srgbClr val="FFFFFF"/>
                </a:solidFill>
                <a:latin typeface="Arial"/>
                <a:cs typeface="Arial"/>
              </a:rPr>
              <a:t> </a:t>
            </a:r>
            <a:r>
              <a:rPr sz="2000" spc="-65" dirty="0">
                <a:solidFill>
                  <a:srgbClr val="FFFFFF"/>
                </a:solidFill>
                <a:latin typeface="Arial"/>
                <a:cs typeface="Arial"/>
              </a:rPr>
              <a:t>tables</a:t>
            </a:r>
            <a:endParaRPr sz="2000">
              <a:latin typeface="Arial"/>
              <a:cs typeface="Arial"/>
            </a:endParaRPr>
          </a:p>
          <a:p>
            <a:pPr marL="881380" lvl="1" indent="-343535">
              <a:lnSpc>
                <a:spcPct val="100000"/>
              </a:lnSpc>
              <a:spcBef>
                <a:spcPts val="2150"/>
              </a:spcBef>
              <a:buFont typeface="Wingdings"/>
              <a:buChar char=""/>
              <a:tabLst>
                <a:tab pos="880744" algn="l"/>
                <a:tab pos="881380" algn="l"/>
              </a:tabLst>
            </a:pPr>
            <a:r>
              <a:rPr sz="2000" spc="-70" dirty="0">
                <a:solidFill>
                  <a:srgbClr val="FFFFFF"/>
                </a:solidFill>
                <a:latin typeface="Arial"/>
                <a:cs typeface="Arial"/>
              </a:rPr>
              <a:t>These</a:t>
            </a:r>
            <a:r>
              <a:rPr sz="2000" spc="-125" dirty="0">
                <a:solidFill>
                  <a:srgbClr val="FFFFFF"/>
                </a:solidFill>
                <a:latin typeface="Arial"/>
                <a:cs typeface="Arial"/>
              </a:rPr>
              <a:t> </a:t>
            </a:r>
            <a:r>
              <a:rPr sz="2000" spc="-50" dirty="0">
                <a:solidFill>
                  <a:srgbClr val="FFFFFF"/>
                </a:solidFill>
                <a:latin typeface="Arial"/>
                <a:cs typeface="Arial"/>
              </a:rPr>
              <a:t>procedures</a:t>
            </a:r>
            <a:r>
              <a:rPr sz="2000" spc="-114" dirty="0">
                <a:solidFill>
                  <a:srgbClr val="FFFFFF"/>
                </a:solidFill>
                <a:latin typeface="Arial"/>
                <a:cs typeface="Arial"/>
              </a:rPr>
              <a:t> </a:t>
            </a:r>
            <a:r>
              <a:rPr sz="2000" spc="-100" dirty="0">
                <a:solidFill>
                  <a:srgbClr val="FFFFFF"/>
                </a:solidFill>
                <a:latin typeface="Arial"/>
                <a:cs typeface="Arial"/>
              </a:rPr>
              <a:t>are</a:t>
            </a:r>
            <a:r>
              <a:rPr sz="2000" spc="-120" dirty="0">
                <a:solidFill>
                  <a:srgbClr val="FFFFFF"/>
                </a:solidFill>
                <a:latin typeface="Arial"/>
                <a:cs typeface="Arial"/>
              </a:rPr>
              <a:t> </a:t>
            </a:r>
            <a:r>
              <a:rPr sz="2000" spc="-35" dirty="0">
                <a:solidFill>
                  <a:srgbClr val="FFFFFF"/>
                </a:solidFill>
                <a:latin typeface="Arial"/>
                <a:cs typeface="Arial"/>
              </a:rPr>
              <a:t>located</a:t>
            </a:r>
            <a:r>
              <a:rPr sz="2000" spc="-120" dirty="0">
                <a:solidFill>
                  <a:srgbClr val="FFFFFF"/>
                </a:solidFill>
                <a:latin typeface="Arial"/>
                <a:cs typeface="Arial"/>
              </a:rPr>
              <a:t> </a:t>
            </a:r>
            <a:r>
              <a:rPr sz="2000" spc="95" dirty="0">
                <a:solidFill>
                  <a:srgbClr val="FFFFFF"/>
                </a:solidFill>
                <a:latin typeface="Arial"/>
                <a:cs typeface="Arial"/>
              </a:rPr>
              <a:t>in</a:t>
            </a:r>
            <a:r>
              <a:rPr sz="2000" spc="-135" dirty="0">
                <a:solidFill>
                  <a:srgbClr val="FFFFFF"/>
                </a:solidFill>
                <a:latin typeface="Arial"/>
                <a:cs typeface="Arial"/>
              </a:rPr>
              <a:t> </a:t>
            </a:r>
            <a:r>
              <a:rPr sz="2000" dirty="0">
                <a:solidFill>
                  <a:srgbClr val="FFFFFF"/>
                </a:solidFill>
                <a:latin typeface="Arial"/>
                <a:cs typeface="Arial"/>
              </a:rPr>
              <a:t>the</a:t>
            </a:r>
            <a:r>
              <a:rPr sz="2000" spc="-114" dirty="0">
                <a:solidFill>
                  <a:srgbClr val="FFFFFF"/>
                </a:solidFill>
                <a:latin typeface="Arial"/>
                <a:cs typeface="Arial"/>
              </a:rPr>
              <a:t> </a:t>
            </a:r>
            <a:r>
              <a:rPr sz="2000" spc="-75" dirty="0">
                <a:solidFill>
                  <a:srgbClr val="FFFFFF"/>
                </a:solidFill>
                <a:latin typeface="Arial"/>
                <a:cs typeface="Arial"/>
              </a:rPr>
              <a:t>Resource</a:t>
            </a:r>
            <a:r>
              <a:rPr sz="2000" spc="-110" dirty="0">
                <a:solidFill>
                  <a:srgbClr val="FFFFFF"/>
                </a:solidFill>
                <a:latin typeface="Arial"/>
                <a:cs typeface="Arial"/>
              </a:rPr>
              <a:t> </a:t>
            </a:r>
            <a:r>
              <a:rPr sz="2000" spc="-105" dirty="0">
                <a:solidFill>
                  <a:srgbClr val="FFFFFF"/>
                </a:solidFill>
                <a:latin typeface="Arial"/>
                <a:cs typeface="Arial"/>
              </a:rPr>
              <a:t>database</a:t>
            </a:r>
            <a:endParaRPr sz="2000">
              <a:latin typeface="Arial"/>
              <a:cs typeface="Arial"/>
            </a:endParaRPr>
          </a:p>
          <a:p>
            <a:pPr lvl="1">
              <a:lnSpc>
                <a:spcPct val="100000"/>
              </a:lnSpc>
              <a:buClr>
                <a:srgbClr val="FFFFFF"/>
              </a:buClr>
              <a:buFont typeface="Wingdings"/>
              <a:buChar char=""/>
            </a:pPr>
            <a:endParaRPr sz="3000">
              <a:latin typeface="Arial"/>
              <a:cs typeface="Arial"/>
            </a:endParaRPr>
          </a:p>
          <a:p>
            <a:pPr marL="1341120" marR="400685" lvl="2" indent="-342900">
              <a:lnSpc>
                <a:spcPct val="100000"/>
              </a:lnSpc>
              <a:buFont typeface="Wingdings"/>
              <a:buChar char=""/>
              <a:tabLst>
                <a:tab pos="1341120" algn="l"/>
                <a:tab pos="1341755" algn="l"/>
                <a:tab pos="2339975" algn="l"/>
                <a:tab pos="3228975" algn="l"/>
                <a:tab pos="4646930" algn="l"/>
                <a:tab pos="5442585" algn="l"/>
                <a:tab pos="6688455" algn="l"/>
                <a:tab pos="7695565" algn="l"/>
              </a:tabLst>
            </a:pPr>
            <a:r>
              <a:rPr sz="2000" spc="-85" dirty="0">
                <a:solidFill>
                  <a:srgbClr val="FFFFFF"/>
                </a:solidFill>
                <a:latin typeface="Arial"/>
                <a:cs typeface="Arial"/>
              </a:rPr>
              <a:t>Syste</a:t>
            </a:r>
            <a:r>
              <a:rPr sz="2000" spc="-15" dirty="0">
                <a:solidFill>
                  <a:srgbClr val="FFFFFF"/>
                </a:solidFill>
                <a:latin typeface="Arial"/>
                <a:cs typeface="Arial"/>
              </a:rPr>
              <a:t>m</a:t>
            </a:r>
            <a:r>
              <a:rPr sz="2000" dirty="0">
                <a:solidFill>
                  <a:srgbClr val="FFFFFF"/>
                </a:solidFill>
                <a:latin typeface="Arial"/>
                <a:cs typeface="Arial"/>
              </a:rPr>
              <a:t>	</a:t>
            </a:r>
            <a:r>
              <a:rPr sz="2000" spc="-60" dirty="0">
                <a:solidFill>
                  <a:srgbClr val="FFFFFF"/>
                </a:solidFill>
                <a:latin typeface="Arial"/>
                <a:cs typeface="Arial"/>
              </a:rPr>
              <a:t>s</a:t>
            </a:r>
            <a:r>
              <a:rPr sz="2000" spc="-30" dirty="0">
                <a:solidFill>
                  <a:srgbClr val="FFFFFF"/>
                </a:solidFill>
                <a:latin typeface="Arial"/>
                <a:cs typeface="Arial"/>
              </a:rPr>
              <a:t>tored</a:t>
            </a:r>
            <a:r>
              <a:rPr sz="2000" dirty="0">
                <a:solidFill>
                  <a:srgbClr val="FFFFFF"/>
                </a:solidFill>
                <a:latin typeface="Arial"/>
                <a:cs typeface="Arial"/>
              </a:rPr>
              <a:t>	p</a:t>
            </a:r>
            <a:r>
              <a:rPr sz="2000" spc="-15" dirty="0">
                <a:solidFill>
                  <a:srgbClr val="FFFFFF"/>
                </a:solidFill>
                <a:latin typeface="Arial"/>
                <a:cs typeface="Arial"/>
              </a:rPr>
              <a:t>ro</a:t>
            </a:r>
            <a:r>
              <a:rPr sz="2000" spc="-10" dirty="0">
                <a:solidFill>
                  <a:srgbClr val="FFFFFF"/>
                </a:solidFill>
                <a:latin typeface="Arial"/>
                <a:cs typeface="Arial"/>
              </a:rPr>
              <a:t>c</a:t>
            </a:r>
            <a:r>
              <a:rPr sz="2000" spc="-75" dirty="0">
                <a:solidFill>
                  <a:srgbClr val="FFFFFF"/>
                </a:solidFill>
                <a:latin typeface="Arial"/>
                <a:cs typeface="Arial"/>
              </a:rPr>
              <a:t>edures</a:t>
            </a:r>
            <a:r>
              <a:rPr sz="2000" dirty="0">
                <a:solidFill>
                  <a:srgbClr val="FFFFFF"/>
                </a:solidFill>
                <a:latin typeface="Arial"/>
                <a:cs typeface="Arial"/>
              </a:rPr>
              <a:t>	</a:t>
            </a:r>
            <a:r>
              <a:rPr sz="2000" spc="-60" dirty="0">
                <a:solidFill>
                  <a:srgbClr val="FFFFFF"/>
                </a:solidFill>
                <a:latin typeface="Arial"/>
                <a:cs typeface="Arial"/>
              </a:rPr>
              <a:t>a</a:t>
            </a:r>
            <a:r>
              <a:rPr sz="2000" spc="-20" dirty="0">
                <a:solidFill>
                  <a:srgbClr val="FFFFFF"/>
                </a:solidFill>
                <a:latin typeface="Arial"/>
                <a:cs typeface="Arial"/>
              </a:rPr>
              <a:t>l</a:t>
            </a:r>
            <a:r>
              <a:rPr sz="2000" spc="110" dirty="0">
                <a:solidFill>
                  <a:srgbClr val="FFFFFF"/>
                </a:solidFill>
                <a:latin typeface="Arial"/>
                <a:cs typeface="Arial"/>
              </a:rPr>
              <a:t>l</a:t>
            </a:r>
            <a:r>
              <a:rPr sz="2000" spc="15" dirty="0">
                <a:solidFill>
                  <a:srgbClr val="FFFFFF"/>
                </a:solidFill>
                <a:latin typeface="Arial"/>
                <a:cs typeface="Arial"/>
              </a:rPr>
              <a:t>ow</a:t>
            </a:r>
            <a:r>
              <a:rPr sz="2000" dirty="0">
                <a:solidFill>
                  <a:srgbClr val="FFFFFF"/>
                </a:solidFill>
                <a:latin typeface="Arial"/>
                <a:cs typeface="Arial"/>
              </a:rPr>
              <a:t>	</a:t>
            </a:r>
            <a:r>
              <a:rPr sz="2000" spc="35" dirty="0">
                <a:solidFill>
                  <a:srgbClr val="FFFFFF"/>
                </a:solidFill>
                <a:latin typeface="Arial"/>
                <a:cs typeface="Arial"/>
              </a:rPr>
              <a:t>GR</a:t>
            </a:r>
            <a:r>
              <a:rPr sz="2000" spc="210" dirty="0">
                <a:solidFill>
                  <a:srgbClr val="FFFFFF"/>
                </a:solidFill>
                <a:latin typeface="Arial"/>
                <a:cs typeface="Arial"/>
              </a:rPr>
              <a:t>A</a:t>
            </a:r>
            <a:r>
              <a:rPr sz="2000" spc="229" dirty="0">
                <a:solidFill>
                  <a:srgbClr val="FFFFFF"/>
                </a:solidFill>
                <a:latin typeface="Arial"/>
                <a:cs typeface="Arial"/>
              </a:rPr>
              <a:t>N</a:t>
            </a:r>
            <a:r>
              <a:rPr sz="2000" spc="60" dirty="0">
                <a:solidFill>
                  <a:srgbClr val="FFFFFF"/>
                </a:solidFill>
                <a:latin typeface="Arial"/>
                <a:cs typeface="Arial"/>
              </a:rPr>
              <a:t>T,</a:t>
            </a:r>
            <a:r>
              <a:rPr sz="2000" dirty="0">
                <a:solidFill>
                  <a:srgbClr val="FFFFFF"/>
                </a:solidFill>
                <a:latin typeface="Arial"/>
                <a:cs typeface="Arial"/>
              </a:rPr>
              <a:t>	</a:t>
            </a:r>
            <a:r>
              <a:rPr sz="2000" spc="5" dirty="0">
                <a:solidFill>
                  <a:srgbClr val="FFFFFF"/>
                </a:solidFill>
                <a:latin typeface="Arial"/>
                <a:cs typeface="Arial"/>
              </a:rPr>
              <a:t>DE</a:t>
            </a:r>
            <a:r>
              <a:rPr sz="2000" spc="120" dirty="0">
                <a:solidFill>
                  <a:srgbClr val="FFFFFF"/>
                </a:solidFill>
                <a:latin typeface="Arial"/>
                <a:cs typeface="Arial"/>
              </a:rPr>
              <a:t>N</a:t>
            </a:r>
            <a:r>
              <a:rPr sz="2000" spc="114" dirty="0">
                <a:solidFill>
                  <a:srgbClr val="FFFFFF"/>
                </a:solidFill>
                <a:latin typeface="Arial"/>
                <a:cs typeface="Arial"/>
              </a:rPr>
              <a:t>Y</a:t>
            </a:r>
            <a:r>
              <a:rPr sz="2000" spc="-60" dirty="0">
                <a:solidFill>
                  <a:srgbClr val="FFFFFF"/>
                </a:solidFill>
                <a:latin typeface="Arial"/>
                <a:cs typeface="Arial"/>
              </a:rPr>
              <a:t>,</a:t>
            </a:r>
            <a:r>
              <a:rPr sz="2000" dirty="0">
                <a:solidFill>
                  <a:srgbClr val="FFFFFF"/>
                </a:solidFill>
                <a:latin typeface="Arial"/>
                <a:cs typeface="Arial"/>
              </a:rPr>
              <a:t>	</a:t>
            </a:r>
            <a:r>
              <a:rPr sz="2000" spc="-30" dirty="0">
                <a:solidFill>
                  <a:srgbClr val="FFFFFF"/>
                </a:solidFill>
                <a:latin typeface="Arial"/>
                <a:cs typeface="Arial"/>
              </a:rPr>
              <a:t>and  </a:t>
            </a:r>
            <a:r>
              <a:rPr sz="2000" spc="45" dirty="0">
                <a:solidFill>
                  <a:srgbClr val="FFFFFF"/>
                </a:solidFill>
                <a:latin typeface="Arial"/>
                <a:cs typeface="Arial"/>
              </a:rPr>
              <a:t>REVOKE</a:t>
            </a:r>
            <a:r>
              <a:rPr sz="2000" spc="-125" dirty="0">
                <a:solidFill>
                  <a:srgbClr val="FFFFFF"/>
                </a:solidFill>
                <a:latin typeface="Arial"/>
                <a:cs typeface="Arial"/>
              </a:rPr>
              <a:t> </a:t>
            </a:r>
            <a:r>
              <a:rPr sz="2000" spc="-45" dirty="0">
                <a:solidFill>
                  <a:srgbClr val="FFFFFF"/>
                </a:solidFill>
                <a:latin typeface="Arial"/>
                <a:cs typeface="Arial"/>
              </a:rPr>
              <a:t>permissions</a:t>
            </a:r>
            <a:endParaRPr sz="2000">
              <a:latin typeface="Arial"/>
              <a:cs typeface="Arial"/>
            </a:endParaRPr>
          </a:p>
          <a:p>
            <a:pPr>
              <a:lnSpc>
                <a:spcPct val="100000"/>
              </a:lnSpc>
            </a:pPr>
            <a:endParaRPr sz="2800">
              <a:latin typeface="Arial"/>
              <a:cs typeface="Arial"/>
            </a:endParaRPr>
          </a:p>
          <a:p>
            <a:pPr marL="208915">
              <a:lnSpc>
                <a:spcPct val="100000"/>
              </a:lnSpc>
              <a:spcBef>
                <a:spcPts val="1660"/>
              </a:spcBef>
            </a:pPr>
            <a:r>
              <a:rPr sz="2400" spc="345" dirty="0">
                <a:solidFill>
                  <a:srgbClr val="FFFFFF"/>
                </a:solidFill>
                <a:latin typeface="Arial"/>
                <a:cs typeface="Arial"/>
              </a:rPr>
              <a:t>A</a:t>
            </a:r>
            <a:r>
              <a:rPr sz="2400" spc="-355" dirty="0">
                <a:solidFill>
                  <a:srgbClr val="FFFFFF"/>
                </a:solidFill>
                <a:latin typeface="Arial"/>
                <a:cs typeface="Arial"/>
              </a:rPr>
              <a:t> </a:t>
            </a:r>
            <a:r>
              <a:rPr sz="2400" spc="-100" dirty="0">
                <a:solidFill>
                  <a:srgbClr val="FFFFFF"/>
                </a:solidFill>
                <a:latin typeface="Arial"/>
                <a:cs typeface="Arial"/>
              </a:rPr>
              <a:t>system </a:t>
            </a:r>
            <a:r>
              <a:rPr sz="2400" spc="-40" dirty="0">
                <a:solidFill>
                  <a:srgbClr val="FFFFFF"/>
                </a:solidFill>
                <a:latin typeface="Arial"/>
                <a:cs typeface="Arial"/>
              </a:rPr>
              <a:t>stored </a:t>
            </a:r>
            <a:r>
              <a:rPr sz="2400" spc="-35" dirty="0">
                <a:solidFill>
                  <a:srgbClr val="FFFFFF"/>
                </a:solidFill>
                <a:latin typeface="Arial"/>
                <a:cs typeface="Arial"/>
              </a:rPr>
              <a:t>procedure</a:t>
            </a:r>
            <a:endParaRPr sz="2400">
              <a:latin typeface="Arial"/>
              <a:cs typeface="Arial"/>
            </a:endParaRPr>
          </a:p>
          <a:p>
            <a:pPr marL="494665" indent="-286385">
              <a:lnSpc>
                <a:spcPct val="100000"/>
              </a:lnSpc>
              <a:spcBef>
                <a:spcPts val="114"/>
              </a:spcBef>
              <a:buChar char="•"/>
              <a:tabLst>
                <a:tab pos="494665" algn="l"/>
                <a:tab pos="495300" algn="l"/>
              </a:tabLst>
            </a:pPr>
            <a:r>
              <a:rPr sz="1800" spc="-55" dirty="0">
                <a:solidFill>
                  <a:srgbClr val="FFFFFF"/>
                </a:solidFill>
                <a:latin typeface="Arial"/>
                <a:cs typeface="Arial"/>
              </a:rPr>
              <a:t>Is</a:t>
            </a:r>
            <a:r>
              <a:rPr sz="1800" spc="-110" dirty="0">
                <a:solidFill>
                  <a:srgbClr val="FFFFFF"/>
                </a:solidFill>
                <a:latin typeface="Arial"/>
                <a:cs typeface="Arial"/>
              </a:rPr>
              <a:t> </a:t>
            </a:r>
            <a:r>
              <a:rPr sz="1800" spc="-175" dirty="0">
                <a:solidFill>
                  <a:srgbClr val="FFFFFF"/>
                </a:solidFill>
                <a:latin typeface="Arial"/>
                <a:cs typeface="Arial"/>
              </a:rPr>
              <a:t>a</a:t>
            </a:r>
            <a:r>
              <a:rPr sz="1800" spc="-120" dirty="0">
                <a:solidFill>
                  <a:srgbClr val="FFFFFF"/>
                </a:solidFill>
                <a:latin typeface="Arial"/>
                <a:cs typeface="Arial"/>
              </a:rPr>
              <a:t> </a:t>
            </a:r>
            <a:r>
              <a:rPr sz="1800" spc="-80" dirty="0">
                <a:solidFill>
                  <a:srgbClr val="FFFFFF"/>
                </a:solidFill>
                <a:latin typeface="Arial"/>
                <a:cs typeface="Arial"/>
              </a:rPr>
              <a:t>set</a:t>
            </a:r>
            <a:r>
              <a:rPr sz="1800" spc="-110" dirty="0">
                <a:solidFill>
                  <a:srgbClr val="FFFFFF"/>
                </a:solidFill>
                <a:latin typeface="Arial"/>
                <a:cs typeface="Arial"/>
              </a:rPr>
              <a:t> </a:t>
            </a:r>
            <a:r>
              <a:rPr sz="1800" spc="45" dirty="0">
                <a:solidFill>
                  <a:srgbClr val="FFFFFF"/>
                </a:solidFill>
                <a:latin typeface="Arial"/>
                <a:cs typeface="Arial"/>
              </a:rPr>
              <a:t>of</a:t>
            </a:r>
            <a:r>
              <a:rPr sz="1800" spc="-105" dirty="0">
                <a:solidFill>
                  <a:srgbClr val="FFFFFF"/>
                </a:solidFill>
                <a:latin typeface="Arial"/>
                <a:cs typeface="Arial"/>
              </a:rPr>
              <a:t> </a:t>
            </a:r>
            <a:r>
              <a:rPr sz="1800" spc="-15" dirty="0">
                <a:solidFill>
                  <a:srgbClr val="FFFFFF"/>
                </a:solidFill>
                <a:latin typeface="Arial"/>
                <a:cs typeface="Arial"/>
              </a:rPr>
              <a:t>pre-compiled</a:t>
            </a:r>
            <a:r>
              <a:rPr sz="1800" spc="-120" dirty="0">
                <a:solidFill>
                  <a:srgbClr val="FFFFFF"/>
                </a:solidFill>
                <a:latin typeface="Arial"/>
                <a:cs typeface="Arial"/>
              </a:rPr>
              <a:t> </a:t>
            </a:r>
            <a:r>
              <a:rPr sz="1800" spc="-15" dirty="0">
                <a:solidFill>
                  <a:srgbClr val="FFFFFF"/>
                </a:solidFill>
                <a:latin typeface="Arial"/>
                <a:cs typeface="Arial"/>
              </a:rPr>
              <a:t>Transact-SQL</a:t>
            </a:r>
            <a:r>
              <a:rPr sz="1800" spc="-125" dirty="0">
                <a:solidFill>
                  <a:srgbClr val="FFFFFF"/>
                </a:solidFill>
                <a:latin typeface="Arial"/>
                <a:cs typeface="Arial"/>
              </a:rPr>
              <a:t> </a:t>
            </a:r>
            <a:r>
              <a:rPr sz="1800" spc="-50" dirty="0">
                <a:solidFill>
                  <a:srgbClr val="FFFFFF"/>
                </a:solidFill>
                <a:latin typeface="Arial"/>
                <a:cs typeface="Arial"/>
              </a:rPr>
              <a:t>statements</a:t>
            </a:r>
            <a:r>
              <a:rPr sz="1800" spc="-125" dirty="0">
                <a:solidFill>
                  <a:srgbClr val="FFFFFF"/>
                </a:solidFill>
                <a:latin typeface="Arial"/>
                <a:cs typeface="Arial"/>
              </a:rPr>
              <a:t> </a:t>
            </a:r>
            <a:r>
              <a:rPr sz="1800" spc="-40" dirty="0">
                <a:solidFill>
                  <a:srgbClr val="FFFFFF"/>
                </a:solidFill>
                <a:latin typeface="Arial"/>
                <a:cs typeface="Arial"/>
              </a:rPr>
              <a:t>executed</a:t>
            </a:r>
            <a:r>
              <a:rPr sz="1800" spc="-130" dirty="0">
                <a:solidFill>
                  <a:srgbClr val="FFFFFF"/>
                </a:solidFill>
                <a:latin typeface="Arial"/>
                <a:cs typeface="Arial"/>
              </a:rPr>
              <a:t> </a:t>
            </a:r>
            <a:r>
              <a:rPr sz="1800" spc="-185" dirty="0">
                <a:solidFill>
                  <a:srgbClr val="FFFFFF"/>
                </a:solidFill>
                <a:latin typeface="Arial"/>
                <a:cs typeface="Arial"/>
              </a:rPr>
              <a:t>as</a:t>
            </a:r>
            <a:r>
              <a:rPr sz="1800" spc="-105" dirty="0">
                <a:solidFill>
                  <a:srgbClr val="FFFFFF"/>
                </a:solidFill>
                <a:latin typeface="Arial"/>
                <a:cs typeface="Arial"/>
              </a:rPr>
              <a:t> </a:t>
            </a:r>
            <a:r>
              <a:rPr sz="1800" spc="-175" dirty="0">
                <a:solidFill>
                  <a:srgbClr val="FFFFFF"/>
                </a:solidFill>
                <a:latin typeface="Arial"/>
                <a:cs typeface="Arial"/>
              </a:rPr>
              <a:t>a</a:t>
            </a:r>
            <a:r>
              <a:rPr sz="1800" spc="-120" dirty="0">
                <a:solidFill>
                  <a:srgbClr val="FFFFFF"/>
                </a:solidFill>
                <a:latin typeface="Arial"/>
                <a:cs typeface="Arial"/>
              </a:rPr>
              <a:t> </a:t>
            </a:r>
            <a:r>
              <a:rPr sz="1800" spc="-35" dirty="0">
                <a:solidFill>
                  <a:srgbClr val="FFFFFF"/>
                </a:solidFill>
                <a:latin typeface="Arial"/>
                <a:cs typeface="Arial"/>
              </a:rPr>
              <a:t>single</a:t>
            </a:r>
            <a:r>
              <a:rPr sz="1800" spc="-110" dirty="0">
                <a:solidFill>
                  <a:srgbClr val="FFFFFF"/>
                </a:solidFill>
                <a:latin typeface="Arial"/>
                <a:cs typeface="Arial"/>
              </a:rPr>
              <a:t> </a:t>
            </a:r>
            <a:r>
              <a:rPr sz="1800" spc="55" dirty="0">
                <a:solidFill>
                  <a:srgbClr val="FFFFFF"/>
                </a:solidFill>
                <a:latin typeface="Arial"/>
                <a:cs typeface="Arial"/>
              </a:rPr>
              <a:t>unit.</a:t>
            </a:r>
            <a:endParaRPr sz="1800">
              <a:latin typeface="Arial"/>
              <a:cs typeface="Arial"/>
            </a:endParaRPr>
          </a:p>
          <a:p>
            <a:pPr marL="494665" indent="-286385">
              <a:lnSpc>
                <a:spcPct val="100000"/>
              </a:lnSpc>
              <a:buChar char="•"/>
              <a:tabLst>
                <a:tab pos="494665" algn="l"/>
                <a:tab pos="495300" algn="l"/>
              </a:tabLst>
            </a:pPr>
            <a:r>
              <a:rPr sz="1800" spc="-55" dirty="0">
                <a:solidFill>
                  <a:srgbClr val="FFFFFF"/>
                </a:solidFill>
                <a:latin typeface="Arial"/>
                <a:cs typeface="Arial"/>
              </a:rPr>
              <a:t>Is</a:t>
            </a:r>
            <a:r>
              <a:rPr sz="1800" spc="-110" dirty="0">
                <a:solidFill>
                  <a:srgbClr val="FFFFFF"/>
                </a:solidFill>
                <a:latin typeface="Arial"/>
                <a:cs typeface="Arial"/>
              </a:rPr>
              <a:t> </a:t>
            </a:r>
            <a:r>
              <a:rPr sz="1800" spc="-80" dirty="0">
                <a:solidFill>
                  <a:srgbClr val="FFFFFF"/>
                </a:solidFill>
                <a:latin typeface="Arial"/>
                <a:cs typeface="Arial"/>
              </a:rPr>
              <a:t>used</a:t>
            </a:r>
            <a:r>
              <a:rPr sz="1800" spc="-110" dirty="0">
                <a:solidFill>
                  <a:srgbClr val="FFFFFF"/>
                </a:solidFill>
                <a:latin typeface="Arial"/>
                <a:cs typeface="Arial"/>
              </a:rPr>
              <a:t> </a:t>
            </a:r>
            <a:r>
              <a:rPr sz="1800" spc="80" dirty="0">
                <a:solidFill>
                  <a:srgbClr val="FFFFFF"/>
                </a:solidFill>
                <a:latin typeface="Arial"/>
                <a:cs typeface="Arial"/>
              </a:rPr>
              <a:t>in</a:t>
            </a:r>
            <a:r>
              <a:rPr sz="1800" spc="-114" dirty="0">
                <a:solidFill>
                  <a:srgbClr val="FFFFFF"/>
                </a:solidFill>
                <a:latin typeface="Arial"/>
                <a:cs typeface="Arial"/>
              </a:rPr>
              <a:t> </a:t>
            </a:r>
            <a:r>
              <a:rPr sz="1800" spc="-95" dirty="0">
                <a:solidFill>
                  <a:srgbClr val="FFFFFF"/>
                </a:solidFill>
                <a:latin typeface="Arial"/>
                <a:cs typeface="Arial"/>
              </a:rPr>
              <a:t>database</a:t>
            </a:r>
            <a:r>
              <a:rPr sz="1800" spc="-130" dirty="0">
                <a:solidFill>
                  <a:srgbClr val="FFFFFF"/>
                </a:solidFill>
                <a:latin typeface="Arial"/>
                <a:cs typeface="Arial"/>
              </a:rPr>
              <a:t> </a:t>
            </a:r>
            <a:r>
              <a:rPr sz="1800" dirty="0">
                <a:solidFill>
                  <a:srgbClr val="FFFFFF"/>
                </a:solidFill>
                <a:latin typeface="Arial"/>
                <a:cs typeface="Arial"/>
              </a:rPr>
              <a:t>administrative</a:t>
            </a:r>
            <a:r>
              <a:rPr sz="1800" spc="-135" dirty="0">
                <a:solidFill>
                  <a:srgbClr val="FFFFFF"/>
                </a:solidFill>
                <a:latin typeface="Arial"/>
                <a:cs typeface="Arial"/>
              </a:rPr>
              <a:t> </a:t>
            </a:r>
            <a:r>
              <a:rPr sz="1800" spc="-35" dirty="0">
                <a:solidFill>
                  <a:srgbClr val="FFFFFF"/>
                </a:solidFill>
                <a:latin typeface="Arial"/>
                <a:cs typeface="Arial"/>
              </a:rPr>
              <a:t>and</a:t>
            </a:r>
            <a:r>
              <a:rPr sz="1800" spc="-114" dirty="0">
                <a:solidFill>
                  <a:srgbClr val="FFFFFF"/>
                </a:solidFill>
                <a:latin typeface="Arial"/>
                <a:cs typeface="Arial"/>
              </a:rPr>
              <a:t> </a:t>
            </a:r>
            <a:r>
              <a:rPr sz="1800" spc="25" dirty="0">
                <a:solidFill>
                  <a:srgbClr val="FFFFFF"/>
                </a:solidFill>
                <a:latin typeface="Arial"/>
                <a:cs typeface="Arial"/>
              </a:rPr>
              <a:t>informational</a:t>
            </a:r>
            <a:r>
              <a:rPr sz="1800" spc="-125" dirty="0">
                <a:solidFill>
                  <a:srgbClr val="FFFFFF"/>
                </a:solidFill>
                <a:latin typeface="Arial"/>
                <a:cs typeface="Arial"/>
              </a:rPr>
              <a:t> </a:t>
            </a:r>
            <a:r>
              <a:rPr sz="1800" spc="-5" dirty="0">
                <a:solidFill>
                  <a:srgbClr val="FFFFFF"/>
                </a:solidFill>
                <a:latin typeface="Arial"/>
                <a:cs typeface="Arial"/>
              </a:rPr>
              <a:t>activities.</a:t>
            </a:r>
            <a:endParaRPr sz="1800">
              <a:latin typeface="Arial"/>
              <a:cs typeface="Arial"/>
            </a:endParaRPr>
          </a:p>
          <a:p>
            <a:pPr marL="494665" marR="5080" indent="-285750">
              <a:lnSpc>
                <a:spcPct val="100000"/>
              </a:lnSpc>
              <a:buChar char="•"/>
              <a:tabLst>
                <a:tab pos="494665" algn="l"/>
                <a:tab pos="495300" algn="l"/>
              </a:tabLst>
            </a:pPr>
            <a:r>
              <a:rPr sz="1800" spc="-20" dirty="0">
                <a:solidFill>
                  <a:srgbClr val="FFFFFF"/>
                </a:solidFill>
                <a:latin typeface="Arial"/>
                <a:cs typeface="Arial"/>
              </a:rPr>
              <a:t>Provide </a:t>
            </a:r>
            <a:r>
              <a:rPr sz="1800" spc="-135" dirty="0">
                <a:solidFill>
                  <a:srgbClr val="FFFFFF"/>
                </a:solidFill>
                <a:latin typeface="Arial"/>
                <a:cs typeface="Arial"/>
              </a:rPr>
              <a:t>easy </a:t>
            </a:r>
            <a:r>
              <a:rPr sz="1800" spc="-150" dirty="0">
                <a:solidFill>
                  <a:srgbClr val="FFFFFF"/>
                </a:solidFill>
                <a:latin typeface="Arial"/>
                <a:cs typeface="Arial"/>
              </a:rPr>
              <a:t>access </a:t>
            </a:r>
            <a:r>
              <a:rPr sz="1800" spc="45" dirty="0">
                <a:solidFill>
                  <a:srgbClr val="FFFFFF"/>
                </a:solidFill>
                <a:latin typeface="Arial"/>
                <a:cs typeface="Arial"/>
              </a:rPr>
              <a:t>to </a:t>
            </a:r>
            <a:r>
              <a:rPr sz="1800" dirty="0">
                <a:solidFill>
                  <a:srgbClr val="FFFFFF"/>
                </a:solidFill>
                <a:latin typeface="Arial"/>
                <a:cs typeface="Arial"/>
              </a:rPr>
              <a:t>the </a:t>
            </a:r>
            <a:r>
              <a:rPr sz="1800" spc="-60" dirty="0">
                <a:solidFill>
                  <a:srgbClr val="FFFFFF"/>
                </a:solidFill>
                <a:latin typeface="Arial"/>
                <a:cs typeface="Arial"/>
              </a:rPr>
              <a:t>metadata </a:t>
            </a:r>
            <a:r>
              <a:rPr sz="1800" spc="40" dirty="0">
                <a:solidFill>
                  <a:srgbClr val="FFFFFF"/>
                </a:solidFill>
                <a:latin typeface="Arial"/>
                <a:cs typeface="Arial"/>
              </a:rPr>
              <a:t>information </a:t>
            </a:r>
            <a:r>
              <a:rPr sz="1800" spc="-15" dirty="0">
                <a:solidFill>
                  <a:srgbClr val="FFFFFF"/>
                </a:solidFill>
                <a:latin typeface="Arial"/>
                <a:cs typeface="Arial"/>
              </a:rPr>
              <a:t>about </a:t>
            </a:r>
            <a:r>
              <a:rPr sz="1800" spc="-100" dirty="0">
                <a:solidFill>
                  <a:srgbClr val="FFFFFF"/>
                </a:solidFill>
                <a:latin typeface="Arial"/>
                <a:cs typeface="Arial"/>
              </a:rPr>
              <a:t>database </a:t>
            </a:r>
            <a:r>
              <a:rPr sz="1800" spc="-40" dirty="0">
                <a:solidFill>
                  <a:srgbClr val="FFFFFF"/>
                </a:solidFill>
                <a:latin typeface="Arial"/>
                <a:cs typeface="Arial"/>
              </a:rPr>
              <a:t>objects </a:t>
            </a:r>
            <a:r>
              <a:rPr sz="1800" spc="-50" dirty="0">
                <a:solidFill>
                  <a:srgbClr val="FFFFFF"/>
                </a:solidFill>
                <a:latin typeface="Arial"/>
                <a:cs typeface="Arial"/>
              </a:rPr>
              <a:t>such </a:t>
            </a:r>
            <a:r>
              <a:rPr sz="1800" spc="-190" dirty="0">
                <a:solidFill>
                  <a:srgbClr val="FFFFFF"/>
                </a:solidFill>
                <a:latin typeface="Arial"/>
                <a:cs typeface="Arial"/>
              </a:rPr>
              <a:t>as  </a:t>
            </a:r>
            <a:r>
              <a:rPr sz="1800" spc="-75" dirty="0">
                <a:solidFill>
                  <a:srgbClr val="FFFFFF"/>
                </a:solidFill>
                <a:latin typeface="Arial"/>
                <a:cs typeface="Arial"/>
              </a:rPr>
              <a:t>system</a:t>
            </a:r>
            <a:r>
              <a:rPr sz="1800" spc="-110" dirty="0">
                <a:solidFill>
                  <a:srgbClr val="FFFFFF"/>
                </a:solidFill>
                <a:latin typeface="Arial"/>
                <a:cs typeface="Arial"/>
              </a:rPr>
              <a:t> </a:t>
            </a:r>
            <a:r>
              <a:rPr sz="1800" spc="-55" dirty="0">
                <a:solidFill>
                  <a:srgbClr val="FFFFFF"/>
                </a:solidFill>
                <a:latin typeface="Arial"/>
                <a:cs typeface="Arial"/>
              </a:rPr>
              <a:t>tables,</a:t>
            </a:r>
            <a:r>
              <a:rPr sz="1800" spc="-120" dirty="0">
                <a:solidFill>
                  <a:srgbClr val="FFFFFF"/>
                </a:solidFill>
                <a:latin typeface="Arial"/>
                <a:cs typeface="Arial"/>
              </a:rPr>
              <a:t> </a:t>
            </a:r>
            <a:r>
              <a:rPr sz="1800" spc="-20" dirty="0">
                <a:solidFill>
                  <a:srgbClr val="FFFFFF"/>
                </a:solidFill>
                <a:latin typeface="Arial"/>
                <a:cs typeface="Arial"/>
              </a:rPr>
              <a:t>user-defined</a:t>
            </a:r>
            <a:r>
              <a:rPr sz="1800" spc="-130" dirty="0">
                <a:solidFill>
                  <a:srgbClr val="FFFFFF"/>
                </a:solidFill>
                <a:latin typeface="Arial"/>
                <a:cs typeface="Arial"/>
              </a:rPr>
              <a:t> </a:t>
            </a:r>
            <a:r>
              <a:rPr sz="1800" spc="-55" dirty="0">
                <a:solidFill>
                  <a:srgbClr val="FFFFFF"/>
                </a:solidFill>
                <a:latin typeface="Arial"/>
                <a:cs typeface="Arial"/>
              </a:rPr>
              <a:t>tables,</a:t>
            </a:r>
            <a:r>
              <a:rPr sz="1800" spc="-120" dirty="0">
                <a:solidFill>
                  <a:srgbClr val="FFFFFF"/>
                </a:solidFill>
                <a:latin typeface="Arial"/>
                <a:cs typeface="Arial"/>
              </a:rPr>
              <a:t> </a:t>
            </a:r>
            <a:r>
              <a:rPr sz="1800" spc="-35" dirty="0">
                <a:solidFill>
                  <a:srgbClr val="FFFFFF"/>
                </a:solidFill>
                <a:latin typeface="Arial"/>
                <a:cs typeface="Arial"/>
              </a:rPr>
              <a:t>views,</a:t>
            </a:r>
            <a:r>
              <a:rPr sz="1800" spc="-105" dirty="0">
                <a:solidFill>
                  <a:srgbClr val="FFFFFF"/>
                </a:solidFill>
                <a:latin typeface="Arial"/>
                <a:cs typeface="Arial"/>
              </a:rPr>
              <a:t> </a:t>
            </a:r>
            <a:r>
              <a:rPr sz="1800" spc="-35" dirty="0">
                <a:solidFill>
                  <a:srgbClr val="FFFFFF"/>
                </a:solidFill>
                <a:latin typeface="Arial"/>
                <a:cs typeface="Arial"/>
              </a:rPr>
              <a:t>and</a:t>
            </a:r>
            <a:r>
              <a:rPr sz="1800" spc="-120" dirty="0">
                <a:solidFill>
                  <a:srgbClr val="FFFFFF"/>
                </a:solidFill>
                <a:latin typeface="Arial"/>
                <a:cs typeface="Arial"/>
              </a:rPr>
              <a:t> </a:t>
            </a:r>
            <a:r>
              <a:rPr sz="1800" spc="-40" dirty="0">
                <a:solidFill>
                  <a:srgbClr val="FFFFFF"/>
                </a:solidFill>
                <a:latin typeface="Arial"/>
                <a:cs typeface="Arial"/>
              </a:rPr>
              <a:t>indexes.</a:t>
            </a:r>
            <a:endParaRPr sz="1800">
              <a:latin typeface="Arial"/>
              <a:cs typeface="Arial"/>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30</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8460740" cy="574040"/>
          </a:xfrm>
          <a:prstGeom prst="rect">
            <a:avLst/>
          </a:prstGeom>
        </p:spPr>
        <p:txBody>
          <a:bodyPr vert="horz" wrap="square" lIns="0" tIns="12700" rIns="0" bIns="0" rtlCol="0">
            <a:spAutoFit/>
          </a:bodyPr>
          <a:lstStyle/>
          <a:p>
            <a:pPr marL="12700">
              <a:lnSpc>
                <a:spcPct val="100000"/>
              </a:lnSpc>
              <a:spcBef>
                <a:spcPts val="100"/>
              </a:spcBef>
            </a:pPr>
            <a:r>
              <a:rPr b="0" spc="5" dirty="0">
                <a:latin typeface="Arial"/>
                <a:cs typeface="Arial"/>
              </a:rPr>
              <a:t>Classification</a:t>
            </a:r>
            <a:r>
              <a:rPr b="0" spc="-245" dirty="0">
                <a:latin typeface="Arial"/>
                <a:cs typeface="Arial"/>
              </a:rPr>
              <a:t> </a:t>
            </a:r>
            <a:r>
              <a:rPr b="0" spc="100" dirty="0">
                <a:latin typeface="Arial"/>
                <a:cs typeface="Arial"/>
              </a:rPr>
              <a:t>of</a:t>
            </a:r>
            <a:r>
              <a:rPr b="0" spc="-229" dirty="0">
                <a:latin typeface="Arial"/>
                <a:cs typeface="Arial"/>
              </a:rPr>
              <a:t> </a:t>
            </a:r>
            <a:r>
              <a:rPr b="0" spc="-130" dirty="0">
                <a:latin typeface="Arial"/>
                <a:cs typeface="Arial"/>
              </a:rPr>
              <a:t>System</a:t>
            </a:r>
            <a:r>
              <a:rPr b="0" spc="-250" dirty="0">
                <a:latin typeface="Arial"/>
                <a:cs typeface="Arial"/>
              </a:rPr>
              <a:t> </a:t>
            </a:r>
            <a:r>
              <a:rPr b="0" spc="-35" dirty="0">
                <a:latin typeface="Arial"/>
                <a:cs typeface="Arial"/>
              </a:rPr>
              <a:t>Stored</a:t>
            </a:r>
            <a:r>
              <a:rPr b="0" spc="-225" dirty="0">
                <a:latin typeface="Arial"/>
                <a:cs typeface="Arial"/>
              </a:rPr>
              <a:t> </a:t>
            </a:r>
            <a:r>
              <a:rPr b="0" spc="-125" dirty="0">
                <a:latin typeface="Arial"/>
                <a:cs typeface="Arial"/>
              </a:rPr>
              <a:t>Procedures</a:t>
            </a:r>
          </a:p>
        </p:txBody>
      </p:sp>
      <p:grpSp>
        <p:nvGrpSpPr>
          <p:cNvPr id="3" name="object 3"/>
          <p:cNvGrpSpPr/>
          <p:nvPr/>
        </p:nvGrpSpPr>
        <p:grpSpPr>
          <a:xfrm>
            <a:off x="3118739" y="1246505"/>
            <a:ext cx="5581650" cy="782955"/>
            <a:chOff x="3118739" y="1246505"/>
            <a:chExt cx="5581650" cy="782955"/>
          </a:xfrm>
        </p:grpSpPr>
        <p:sp>
          <p:nvSpPr>
            <p:cNvPr id="4" name="object 4"/>
            <p:cNvSpPr/>
            <p:nvPr/>
          </p:nvSpPr>
          <p:spPr>
            <a:xfrm>
              <a:off x="3131439" y="1259205"/>
              <a:ext cx="5556250" cy="757555"/>
            </a:xfrm>
            <a:custGeom>
              <a:avLst/>
              <a:gdLst/>
              <a:ahLst/>
              <a:cxnLst/>
              <a:rect l="l" t="t" r="r" b="b"/>
              <a:pathLst>
                <a:path w="5556250" h="757555">
                  <a:moveTo>
                    <a:pt x="5447665" y="0"/>
                  </a:moveTo>
                  <a:lnTo>
                    <a:pt x="0" y="0"/>
                  </a:lnTo>
                  <a:lnTo>
                    <a:pt x="0" y="757428"/>
                  </a:lnTo>
                  <a:lnTo>
                    <a:pt x="5447665" y="757428"/>
                  </a:lnTo>
                  <a:lnTo>
                    <a:pt x="5489733" y="747508"/>
                  </a:lnTo>
                  <a:lnTo>
                    <a:pt x="5524087" y="720455"/>
                  </a:lnTo>
                  <a:lnTo>
                    <a:pt x="5547248" y="680329"/>
                  </a:lnTo>
                  <a:lnTo>
                    <a:pt x="5555742" y="631190"/>
                  </a:lnTo>
                  <a:lnTo>
                    <a:pt x="5555742" y="126237"/>
                  </a:lnTo>
                  <a:lnTo>
                    <a:pt x="5547248" y="77098"/>
                  </a:lnTo>
                  <a:lnTo>
                    <a:pt x="5524087" y="36972"/>
                  </a:lnTo>
                  <a:lnTo>
                    <a:pt x="5489733" y="9919"/>
                  </a:lnTo>
                  <a:lnTo>
                    <a:pt x="5447665" y="0"/>
                  </a:lnTo>
                  <a:close/>
                </a:path>
              </a:pathLst>
            </a:custGeom>
            <a:solidFill>
              <a:srgbClr val="DEE7D1">
                <a:alpha val="90194"/>
              </a:srgbClr>
            </a:solidFill>
          </p:spPr>
          <p:txBody>
            <a:bodyPr wrap="square" lIns="0" tIns="0" rIns="0" bIns="0" rtlCol="0"/>
            <a:lstStyle/>
            <a:p>
              <a:endParaRPr/>
            </a:p>
          </p:txBody>
        </p:sp>
        <p:sp>
          <p:nvSpPr>
            <p:cNvPr id="5" name="object 5"/>
            <p:cNvSpPr/>
            <p:nvPr/>
          </p:nvSpPr>
          <p:spPr>
            <a:xfrm>
              <a:off x="3131439" y="1259205"/>
              <a:ext cx="5556250" cy="757555"/>
            </a:xfrm>
            <a:custGeom>
              <a:avLst/>
              <a:gdLst/>
              <a:ahLst/>
              <a:cxnLst/>
              <a:rect l="l" t="t" r="r" b="b"/>
              <a:pathLst>
                <a:path w="5556250" h="757555">
                  <a:moveTo>
                    <a:pt x="5555742" y="126237"/>
                  </a:moveTo>
                  <a:lnTo>
                    <a:pt x="5555742" y="631190"/>
                  </a:lnTo>
                  <a:lnTo>
                    <a:pt x="5547248" y="680329"/>
                  </a:lnTo>
                  <a:lnTo>
                    <a:pt x="5524087" y="720455"/>
                  </a:lnTo>
                  <a:lnTo>
                    <a:pt x="5489733" y="747508"/>
                  </a:lnTo>
                  <a:lnTo>
                    <a:pt x="5447665" y="757428"/>
                  </a:lnTo>
                  <a:lnTo>
                    <a:pt x="0" y="757428"/>
                  </a:lnTo>
                  <a:lnTo>
                    <a:pt x="0" y="0"/>
                  </a:lnTo>
                  <a:lnTo>
                    <a:pt x="5447665" y="0"/>
                  </a:lnTo>
                  <a:lnTo>
                    <a:pt x="5489733" y="9919"/>
                  </a:lnTo>
                  <a:lnTo>
                    <a:pt x="5524087" y="36972"/>
                  </a:lnTo>
                  <a:lnTo>
                    <a:pt x="5547248" y="77098"/>
                  </a:lnTo>
                  <a:lnTo>
                    <a:pt x="5555742" y="126237"/>
                  </a:lnTo>
                  <a:close/>
                </a:path>
              </a:pathLst>
            </a:custGeom>
            <a:ln w="25146">
              <a:solidFill>
                <a:srgbClr val="DEE7D1"/>
              </a:solidFill>
            </a:ln>
          </p:spPr>
          <p:txBody>
            <a:bodyPr wrap="square" lIns="0" tIns="0" rIns="0" bIns="0" rtlCol="0"/>
            <a:lstStyle/>
            <a:p>
              <a:endParaRPr/>
            </a:p>
          </p:txBody>
        </p:sp>
      </p:grpSp>
      <p:sp>
        <p:nvSpPr>
          <p:cNvPr id="6" name="object 6"/>
          <p:cNvSpPr txBox="1"/>
          <p:nvPr/>
        </p:nvSpPr>
        <p:spPr>
          <a:xfrm>
            <a:off x="3145027" y="1267714"/>
            <a:ext cx="5354955" cy="702945"/>
          </a:xfrm>
          <a:prstGeom prst="rect">
            <a:avLst/>
          </a:prstGeom>
        </p:spPr>
        <p:txBody>
          <a:bodyPr vert="horz" wrap="square" lIns="0" tIns="30480" rIns="0" bIns="0" rtlCol="0">
            <a:spAutoFit/>
          </a:bodyPr>
          <a:lstStyle/>
          <a:p>
            <a:pPr marL="12700" marR="5080">
              <a:lnSpc>
                <a:spcPct val="90100"/>
              </a:lnSpc>
              <a:spcBef>
                <a:spcPts val="240"/>
              </a:spcBef>
            </a:pPr>
            <a:r>
              <a:rPr sz="1200" dirty="0">
                <a:latin typeface="Calibri"/>
                <a:cs typeface="Calibri"/>
              </a:rPr>
              <a:t>All </a:t>
            </a:r>
            <a:r>
              <a:rPr sz="1200" spc="-10" dirty="0">
                <a:latin typeface="Calibri"/>
                <a:cs typeface="Calibri"/>
              </a:rPr>
              <a:t>information </a:t>
            </a:r>
            <a:r>
              <a:rPr sz="1200" dirty="0">
                <a:latin typeface="Calibri"/>
                <a:cs typeface="Calibri"/>
              </a:rPr>
              <a:t>about </a:t>
            </a:r>
            <a:r>
              <a:rPr sz="1200" spc="-5" dirty="0">
                <a:latin typeface="Calibri"/>
                <a:cs typeface="Calibri"/>
              </a:rPr>
              <a:t>tables </a:t>
            </a:r>
            <a:r>
              <a:rPr sz="1200" dirty="0">
                <a:latin typeface="Calibri"/>
                <a:cs typeface="Calibri"/>
              </a:rPr>
              <a:t>in </a:t>
            </a:r>
            <a:r>
              <a:rPr sz="1200" spc="-5" dirty="0">
                <a:latin typeface="Calibri"/>
                <a:cs typeface="Calibri"/>
              </a:rPr>
              <a:t>the user database </a:t>
            </a:r>
            <a:r>
              <a:rPr sz="1200" dirty="0">
                <a:latin typeface="Calibri"/>
                <a:cs typeface="Calibri"/>
              </a:rPr>
              <a:t>is </a:t>
            </a:r>
            <a:r>
              <a:rPr sz="1200" spc="-10" dirty="0">
                <a:latin typeface="Calibri"/>
                <a:cs typeface="Calibri"/>
              </a:rPr>
              <a:t>stored </a:t>
            </a:r>
            <a:r>
              <a:rPr sz="1200" dirty="0">
                <a:latin typeface="Calibri"/>
                <a:cs typeface="Calibri"/>
              </a:rPr>
              <a:t>in a </a:t>
            </a:r>
            <a:r>
              <a:rPr sz="1200" spc="-5" dirty="0">
                <a:latin typeface="Calibri"/>
                <a:cs typeface="Calibri"/>
              </a:rPr>
              <a:t>set of tables called </a:t>
            </a:r>
            <a:r>
              <a:rPr sz="1200" dirty="0">
                <a:latin typeface="Calibri"/>
                <a:cs typeface="Calibri"/>
              </a:rPr>
              <a:t>the  </a:t>
            </a:r>
            <a:r>
              <a:rPr sz="1200" spc="-15" dirty="0">
                <a:latin typeface="Calibri"/>
                <a:cs typeface="Calibri"/>
              </a:rPr>
              <a:t>system </a:t>
            </a:r>
            <a:r>
              <a:rPr sz="1200" spc="-5" dirty="0">
                <a:latin typeface="Calibri"/>
                <a:cs typeface="Calibri"/>
              </a:rPr>
              <a:t>catalog. </a:t>
            </a:r>
            <a:r>
              <a:rPr sz="1200" spc="-10" dirty="0">
                <a:latin typeface="Calibri"/>
                <a:cs typeface="Calibri"/>
              </a:rPr>
              <a:t>Information from </a:t>
            </a:r>
            <a:r>
              <a:rPr sz="1200" dirty="0">
                <a:latin typeface="Calibri"/>
                <a:cs typeface="Calibri"/>
              </a:rPr>
              <a:t>the </a:t>
            </a:r>
            <a:r>
              <a:rPr sz="1200" spc="-15" dirty="0">
                <a:latin typeface="Calibri"/>
                <a:cs typeface="Calibri"/>
              </a:rPr>
              <a:t>system </a:t>
            </a:r>
            <a:r>
              <a:rPr sz="1200" spc="-10" dirty="0">
                <a:latin typeface="Calibri"/>
                <a:cs typeface="Calibri"/>
              </a:rPr>
              <a:t>catalog </a:t>
            </a:r>
            <a:r>
              <a:rPr sz="1200" spc="-5" dirty="0">
                <a:latin typeface="Calibri"/>
                <a:cs typeface="Calibri"/>
              </a:rPr>
              <a:t>can be accessed using </a:t>
            </a:r>
            <a:r>
              <a:rPr sz="1200" spc="-10" dirty="0">
                <a:latin typeface="Calibri"/>
                <a:cs typeface="Calibri"/>
              </a:rPr>
              <a:t>catalog  procedures. For example, </a:t>
            </a:r>
            <a:r>
              <a:rPr sz="1200" dirty="0">
                <a:latin typeface="Calibri"/>
                <a:cs typeface="Calibri"/>
              </a:rPr>
              <a:t>the </a:t>
            </a:r>
            <a:r>
              <a:rPr sz="1200" spc="-5" dirty="0">
                <a:latin typeface="Calibri"/>
                <a:cs typeface="Calibri"/>
              </a:rPr>
              <a:t>sp_tables </a:t>
            </a:r>
            <a:r>
              <a:rPr sz="1200" spc="-10" dirty="0">
                <a:latin typeface="Calibri"/>
                <a:cs typeface="Calibri"/>
              </a:rPr>
              <a:t>catalog stored procedure displays </a:t>
            </a:r>
            <a:r>
              <a:rPr sz="1200" dirty="0">
                <a:latin typeface="Calibri"/>
                <a:cs typeface="Calibri"/>
              </a:rPr>
              <a:t>the </a:t>
            </a:r>
            <a:r>
              <a:rPr sz="1200" spc="-5" dirty="0">
                <a:latin typeface="Calibri"/>
                <a:cs typeface="Calibri"/>
              </a:rPr>
              <a:t>list of </a:t>
            </a:r>
            <a:r>
              <a:rPr sz="1200" dirty="0">
                <a:latin typeface="Calibri"/>
                <a:cs typeface="Calibri"/>
              </a:rPr>
              <a:t>all  the </a:t>
            </a:r>
            <a:r>
              <a:rPr sz="1200" spc="-5" dirty="0">
                <a:latin typeface="Calibri"/>
                <a:cs typeface="Calibri"/>
              </a:rPr>
              <a:t>tables </a:t>
            </a:r>
            <a:r>
              <a:rPr sz="1200" dirty="0">
                <a:latin typeface="Calibri"/>
                <a:cs typeface="Calibri"/>
              </a:rPr>
              <a:t>in </a:t>
            </a:r>
            <a:r>
              <a:rPr sz="1200" spc="-5" dirty="0">
                <a:latin typeface="Calibri"/>
                <a:cs typeface="Calibri"/>
              </a:rPr>
              <a:t>the current</a:t>
            </a:r>
            <a:r>
              <a:rPr sz="1200" spc="-20" dirty="0">
                <a:latin typeface="Calibri"/>
                <a:cs typeface="Calibri"/>
              </a:rPr>
              <a:t> </a:t>
            </a:r>
            <a:r>
              <a:rPr sz="1200" spc="-5" dirty="0">
                <a:latin typeface="Calibri"/>
                <a:cs typeface="Calibri"/>
              </a:rPr>
              <a:t>database.</a:t>
            </a:r>
            <a:endParaRPr sz="1200">
              <a:latin typeface="Calibri"/>
              <a:cs typeface="Calibri"/>
            </a:endParaRPr>
          </a:p>
        </p:txBody>
      </p:sp>
      <p:grpSp>
        <p:nvGrpSpPr>
          <p:cNvPr id="7" name="object 7"/>
          <p:cNvGrpSpPr/>
          <p:nvPr/>
        </p:nvGrpSpPr>
        <p:grpSpPr>
          <a:xfrm>
            <a:off x="574420" y="1152016"/>
            <a:ext cx="2569845" cy="972819"/>
            <a:chOff x="574420" y="1152016"/>
            <a:chExt cx="2569845" cy="972819"/>
          </a:xfrm>
        </p:grpSpPr>
        <p:sp>
          <p:nvSpPr>
            <p:cNvPr id="8" name="object 8"/>
            <p:cNvSpPr/>
            <p:nvPr/>
          </p:nvSpPr>
          <p:spPr>
            <a:xfrm>
              <a:off x="587120" y="1164716"/>
              <a:ext cx="2544445" cy="947419"/>
            </a:xfrm>
            <a:custGeom>
              <a:avLst/>
              <a:gdLst/>
              <a:ahLst/>
              <a:cxnLst/>
              <a:rect l="l" t="t" r="r" b="b"/>
              <a:pathLst>
                <a:path w="2544445" h="947419">
                  <a:moveTo>
                    <a:pt x="2434336" y="0"/>
                  </a:moveTo>
                  <a:lnTo>
                    <a:pt x="109994" y="0"/>
                  </a:lnTo>
                  <a:lnTo>
                    <a:pt x="75224" y="8053"/>
                  </a:lnTo>
                  <a:lnTo>
                    <a:pt x="45029" y="30475"/>
                  </a:lnTo>
                  <a:lnTo>
                    <a:pt x="21220" y="64657"/>
                  </a:lnTo>
                  <a:lnTo>
                    <a:pt x="5606" y="107988"/>
                  </a:lnTo>
                  <a:lnTo>
                    <a:pt x="0" y="157861"/>
                  </a:lnTo>
                  <a:lnTo>
                    <a:pt x="0" y="789305"/>
                  </a:lnTo>
                  <a:lnTo>
                    <a:pt x="5606" y="839177"/>
                  </a:lnTo>
                  <a:lnTo>
                    <a:pt x="21220" y="882508"/>
                  </a:lnTo>
                  <a:lnTo>
                    <a:pt x="45029" y="916690"/>
                  </a:lnTo>
                  <a:lnTo>
                    <a:pt x="109994" y="947166"/>
                  </a:lnTo>
                  <a:lnTo>
                    <a:pt x="2434336" y="947166"/>
                  </a:lnTo>
                  <a:lnTo>
                    <a:pt x="2499274" y="916690"/>
                  </a:lnTo>
                  <a:lnTo>
                    <a:pt x="2523087" y="882508"/>
                  </a:lnTo>
                  <a:lnTo>
                    <a:pt x="2538707" y="839177"/>
                  </a:lnTo>
                  <a:lnTo>
                    <a:pt x="2544318" y="789305"/>
                  </a:lnTo>
                  <a:lnTo>
                    <a:pt x="2544318" y="157861"/>
                  </a:lnTo>
                  <a:lnTo>
                    <a:pt x="2538707" y="107988"/>
                  </a:lnTo>
                  <a:lnTo>
                    <a:pt x="2523087" y="64657"/>
                  </a:lnTo>
                  <a:lnTo>
                    <a:pt x="2499274" y="30475"/>
                  </a:lnTo>
                  <a:lnTo>
                    <a:pt x="2434336" y="0"/>
                  </a:lnTo>
                  <a:close/>
                </a:path>
              </a:pathLst>
            </a:custGeom>
            <a:solidFill>
              <a:srgbClr val="9BBA58"/>
            </a:solidFill>
          </p:spPr>
          <p:txBody>
            <a:bodyPr wrap="square" lIns="0" tIns="0" rIns="0" bIns="0" rtlCol="0"/>
            <a:lstStyle/>
            <a:p>
              <a:endParaRPr/>
            </a:p>
          </p:txBody>
        </p:sp>
        <p:sp>
          <p:nvSpPr>
            <p:cNvPr id="9" name="object 9"/>
            <p:cNvSpPr/>
            <p:nvPr/>
          </p:nvSpPr>
          <p:spPr>
            <a:xfrm>
              <a:off x="587120" y="1164716"/>
              <a:ext cx="2544445" cy="947419"/>
            </a:xfrm>
            <a:custGeom>
              <a:avLst/>
              <a:gdLst/>
              <a:ahLst/>
              <a:cxnLst/>
              <a:rect l="l" t="t" r="r" b="b"/>
              <a:pathLst>
                <a:path w="2544445" h="947419">
                  <a:moveTo>
                    <a:pt x="0" y="157861"/>
                  </a:moveTo>
                  <a:lnTo>
                    <a:pt x="5606" y="107988"/>
                  </a:lnTo>
                  <a:lnTo>
                    <a:pt x="21220" y="64657"/>
                  </a:lnTo>
                  <a:lnTo>
                    <a:pt x="45029" y="30475"/>
                  </a:lnTo>
                  <a:lnTo>
                    <a:pt x="109994" y="0"/>
                  </a:lnTo>
                  <a:lnTo>
                    <a:pt x="2434336" y="0"/>
                  </a:lnTo>
                  <a:lnTo>
                    <a:pt x="2499274" y="30475"/>
                  </a:lnTo>
                  <a:lnTo>
                    <a:pt x="2523087" y="64657"/>
                  </a:lnTo>
                  <a:lnTo>
                    <a:pt x="2538707" y="107988"/>
                  </a:lnTo>
                  <a:lnTo>
                    <a:pt x="2544318" y="157861"/>
                  </a:lnTo>
                  <a:lnTo>
                    <a:pt x="2544318" y="789305"/>
                  </a:lnTo>
                  <a:lnTo>
                    <a:pt x="2538707" y="839177"/>
                  </a:lnTo>
                  <a:lnTo>
                    <a:pt x="2523087" y="882508"/>
                  </a:lnTo>
                  <a:lnTo>
                    <a:pt x="2499274" y="916690"/>
                  </a:lnTo>
                  <a:lnTo>
                    <a:pt x="2434336" y="947166"/>
                  </a:lnTo>
                  <a:lnTo>
                    <a:pt x="109994" y="947166"/>
                  </a:lnTo>
                  <a:lnTo>
                    <a:pt x="45029" y="916690"/>
                  </a:lnTo>
                  <a:lnTo>
                    <a:pt x="21220" y="882508"/>
                  </a:lnTo>
                  <a:lnTo>
                    <a:pt x="5606" y="839177"/>
                  </a:lnTo>
                  <a:lnTo>
                    <a:pt x="0" y="789305"/>
                  </a:lnTo>
                  <a:lnTo>
                    <a:pt x="0" y="157861"/>
                  </a:lnTo>
                  <a:close/>
                </a:path>
              </a:pathLst>
            </a:custGeom>
            <a:ln w="25146">
              <a:solidFill>
                <a:srgbClr val="FFFFFF"/>
              </a:solidFill>
            </a:ln>
          </p:spPr>
          <p:txBody>
            <a:bodyPr wrap="square" lIns="0" tIns="0" rIns="0" bIns="0" rtlCol="0"/>
            <a:lstStyle/>
            <a:p>
              <a:endParaRPr/>
            </a:p>
          </p:txBody>
        </p:sp>
      </p:grpSp>
      <p:sp>
        <p:nvSpPr>
          <p:cNvPr id="10" name="object 10"/>
          <p:cNvSpPr txBox="1"/>
          <p:nvPr/>
        </p:nvSpPr>
        <p:spPr>
          <a:xfrm>
            <a:off x="1177797" y="1373631"/>
            <a:ext cx="1362075" cy="489584"/>
          </a:xfrm>
          <a:prstGeom prst="rect">
            <a:avLst/>
          </a:prstGeom>
        </p:spPr>
        <p:txBody>
          <a:bodyPr vert="horz" wrap="square" lIns="0" tIns="40005" rIns="0" bIns="0" rtlCol="0">
            <a:spAutoFit/>
          </a:bodyPr>
          <a:lstStyle/>
          <a:p>
            <a:pPr marL="189230" marR="5080" indent="-177165">
              <a:lnSpc>
                <a:spcPts val="1730"/>
              </a:lnSpc>
              <a:spcBef>
                <a:spcPts val="315"/>
              </a:spcBef>
            </a:pPr>
            <a:r>
              <a:rPr sz="1600" b="1" spc="-5" dirty="0">
                <a:solidFill>
                  <a:srgbClr val="FFFFFF"/>
                </a:solidFill>
                <a:latin typeface="Calisto MT"/>
                <a:cs typeface="Calisto MT"/>
              </a:rPr>
              <a:t>Catalog</a:t>
            </a:r>
            <a:r>
              <a:rPr sz="1600" b="1" spc="-70" dirty="0">
                <a:solidFill>
                  <a:srgbClr val="FFFFFF"/>
                </a:solidFill>
                <a:latin typeface="Calisto MT"/>
                <a:cs typeface="Calisto MT"/>
              </a:rPr>
              <a:t> </a:t>
            </a:r>
            <a:r>
              <a:rPr sz="1600" b="1" dirty="0">
                <a:solidFill>
                  <a:srgbClr val="FFFFFF"/>
                </a:solidFill>
                <a:latin typeface="Calisto MT"/>
                <a:cs typeface="Calisto MT"/>
              </a:rPr>
              <a:t>Stored  Procedures</a:t>
            </a:r>
            <a:endParaRPr sz="1600">
              <a:latin typeface="Calisto MT"/>
              <a:cs typeface="Calisto MT"/>
            </a:endParaRPr>
          </a:p>
        </p:txBody>
      </p:sp>
      <p:grpSp>
        <p:nvGrpSpPr>
          <p:cNvPr id="11" name="object 11"/>
          <p:cNvGrpSpPr/>
          <p:nvPr/>
        </p:nvGrpSpPr>
        <p:grpSpPr>
          <a:xfrm>
            <a:off x="3118739" y="2240914"/>
            <a:ext cx="5581650" cy="782955"/>
            <a:chOff x="3118739" y="2240914"/>
            <a:chExt cx="5581650" cy="782955"/>
          </a:xfrm>
        </p:grpSpPr>
        <p:sp>
          <p:nvSpPr>
            <p:cNvPr id="12" name="object 12"/>
            <p:cNvSpPr/>
            <p:nvPr/>
          </p:nvSpPr>
          <p:spPr>
            <a:xfrm>
              <a:off x="3131439" y="2253614"/>
              <a:ext cx="5556250" cy="757555"/>
            </a:xfrm>
            <a:custGeom>
              <a:avLst/>
              <a:gdLst/>
              <a:ahLst/>
              <a:cxnLst/>
              <a:rect l="l" t="t" r="r" b="b"/>
              <a:pathLst>
                <a:path w="5556250" h="757555">
                  <a:moveTo>
                    <a:pt x="5447665" y="0"/>
                  </a:moveTo>
                  <a:lnTo>
                    <a:pt x="0" y="0"/>
                  </a:lnTo>
                  <a:lnTo>
                    <a:pt x="0" y="757428"/>
                  </a:lnTo>
                  <a:lnTo>
                    <a:pt x="5447665" y="757428"/>
                  </a:lnTo>
                  <a:lnTo>
                    <a:pt x="5489733" y="747508"/>
                  </a:lnTo>
                  <a:lnTo>
                    <a:pt x="5524087" y="720455"/>
                  </a:lnTo>
                  <a:lnTo>
                    <a:pt x="5547248" y="680329"/>
                  </a:lnTo>
                  <a:lnTo>
                    <a:pt x="5555742" y="631190"/>
                  </a:lnTo>
                  <a:lnTo>
                    <a:pt x="5555742" y="126237"/>
                  </a:lnTo>
                  <a:lnTo>
                    <a:pt x="5547248" y="77098"/>
                  </a:lnTo>
                  <a:lnTo>
                    <a:pt x="5524087" y="36972"/>
                  </a:lnTo>
                  <a:lnTo>
                    <a:pt x="5489733" y="9919"/>
                  </a:lnTo>
                  <a:lnTo>
                    <a:pt x="5447665" y="0"/>
                  </a:lnTo>
                  <a:close/>
                </a:path>
              </a:pathLst>
            </a:custGeom>
            <a:solidFill>
              <a:srgbClr val="D2E4D4">
                <a:alpha val="90194"/>
              </a:srgbClr>
            </a:solidFill>
          </p:spPr>
          <p:txBody>
            <a:bodyPr wrap="square" lIns="0" tIns="0" rIns="0" bIns="0" rtlCol="0"/>
            <a:lstStyle/>
            <a:p>
              <a:endParaRPr/>
            </a:p>
          </p:txBody>
        </p:sp>
        <p:sp>
          <p:nvSpPr>
            <p:cNvPr id="13" name="object 13"/>
            <p:cNvSpPr/>
            <p:nvPr/>
          </p:nvSpPr>
          <p:spPr>
            <a:xfrm>
              <a:off x="3131439" y="2253614"/>
              <a:ext cx="5556250" cy="757555"/>
            </a:xfrm>
            <a:custGeom>
              <a:avLst/>
              <a:gdLst/>
              <a:ahLst/>
              <a:cxnLst/>
              <a:rect l="l" t="t" r="r" b="b"/>
              <a:pathLst>
                <a:path w="5556250" h="757555">
                  <a:moveTo>
                    <a:pt x="5555742" y="126237"/>
                  </a:moveTo>
                  <a:lnTo>
                    <a:pt x="5555742" y="631190"/>
                  </a:lnTo>
                  <a:lnTo>
                    <a:pt x="5547248" y="680329"/>
                  </a:lnTo>
                  <a:lnTo>
                    <a:pt x="5524087" y="720455"/>
                  </a:lnTo>
                  <a:lnTo>
                    <a:pt x="5489733" y="747508"/>
                  </a:lnTo>
                  <a:lnTo>
                    <a:pt x="5447665" y="757428"/>
                  </a:lnTo>
                  <a:lnTo>
                    <a:pt x="0" y="757428"/>
                  </a:lnTo>
                  <a:lnTo>
                    <a:pt x="0" y="0"/>
                  </a:lnTo>
                  <a:lnTo>
                    <a:pt x="5447665" y="0"/>
                  </a:lnTo>
                  <a:lnTo>
                    <a:pt x="5489733" y="9919"/>
                  </a:lnTo>
                  <a:lnTo>
                    <a:pt x="5524087" y="36972"/>
                  </a:lnTo>
                  <a:lnTo>
                    <a:pt x="5547248" y="77098"/>
                  </a:lnTo>
                  <a:lnTo>
                    <a:pt x="5555742" y="126237"/>
                  </a:lnTo>
                  <a:close/>
                </a:path>
              </a:pathLst>
            </a:custGeom>
            <a:ln w="25146">
              <a:solidFill>
                <a:srgbClr val="D2E4D4"/>
              </a:solidFill>
            </a:ln>
          </p:spPr>
          <p:txBody>
            <a:bodyPr wrap="square" lIns="0" tIns="0" rIns="0" bIns="0" rtlCol="0"/>
            <a:lstStyle/>
            <a:p>
              <a:endParaRPr/>
            </a:p>
          </p:txBody>
        </p:sp>
      </p:grpSp>
      <p:sp>
        <p:nvSpPr>
          <p:cNvPr id="14" name="object 14"/>
          <p:cNvSpPr txBox="1"/>
          <p:nvPr/>
        </p:nvSpPr>
        <p:spPr>
          <a:xfrm>
            <a:off x="3145027" y="2344420"/>
            <a:ext cx="5479415" cy="538480"/>
          </a:xfrm>
          <a:prstGeom prst="rect">
            <a:avLst/>
          </a:prstGeom>
        </p:spPr>
        <p:txBody>
          <a:bodyPr vert="horz" wrap="square" lIns="0" tIns="30480" rIns="0" bIns="0" rtlCol="0">
            <a:spAutoFit/>
          </a:bodyPr>
          <a:lstStyle/>
          <a:p>
            <a:pPr marL="12700" marR="5080">
              <a:lnSpc>
                <a:spcPct val="90200"/>
              </a:lnSpc>
              <a:spcBef>
                <a:spcPts val="240"/>
              </a:spcBef>
            </a:pPr>
            <a:r>
              <a:rPr sz="1200" spc="-5" dirty="0">
                <a:latin typeface="Calibri"/>
                <a:cs typeface="Calibri"/>
              </a:rPr>
              <a:t>Security </a:t>
            </a:r>
            <a:r>
              <a:rPr sz="1200" spc="-10" dirty="0">
                <a:latin typeface="Calibri"/>
                <a:cs typeface="Calibri"/>
              </a:rPr>
              <a:t>stored procedures are </a:t>
            </a:r>
            <a:r>
              <a:rPr sz="1200" spc="-5" dirty="0">
                <a:latin typeface="Calibri"/>
                <a:cs typeface="Calibri"/>
              </a:rPr>
              <a:t>used </a:t>
            </a:r>
            <a:r>
              <a:rPr sz="1200" spc="-10" dirty="0">
                <a:latin typeface="Calibri"/>
                <a:cs typeface="Calibri"/>
              </a:rPr>
              <a:t>to </a:t>
            </a:r>
            <a:r>
              <a:rPr sz="1200" spc="-5" dirty="0">
                <a:latin typeface="Calibri"/>
                <a:cs typeface="Calibri"/>
              </a:rPr>
              <a:t>manage </a:t>
            </a:r>
            <a:r>
              <a:rPr sz="1200" dirty="0">
                <a:latin typeface="Calibri"/>
                <a:cs typeface="Calibri"/>
              </a:rPr>
              <a:t>the </a:t>
            </a:r>
            <a:r>
              <a:rPr sz="1200" spc="-5" dirty="0">
                <a:latin typeface="Calibri"/>
                <a:cs typeface="Calibri"/>
              </a:rPr>
              <a:t>security of </a:t>
            </a:r>
            <a:r>
              <a:rPr sz="1200" dirty="0">
                <a:latin typeface="Calibri"/>
                <a:cs typeface="Calibri"/>
              </a:rPr>
              <a:t>the </a:t>
            </a:r>
            <a:r>
              <a:rPr sz="1200" spc="-5" dirty="0">
                <a:latin typeface="Calibri"/>
                <a:cs typeface="Calibri"/>
              </a:rPr>
              <a:t>database. </a:t>
            </a:r>
            <a:r>
              <a:rPr sz="1200" spc="-10" dirty="0">
                <a:latin typeface="Calibri"/>
                <a:cs typeface="Calibri"/>
              </a:rPr>
              <a:t>For  example, </a:t>
            </a:r>
            <a:r>
              <a:rPr sz="1200" dirty="0">
                <a:latin typeface="Calibri"/>
                <a:cs typeface="Calibri"/>
              </a:rPr>
              <a:t>the </a:t>
            </a:r>
            <a:r>
              <a:rPr sz="1200" spc="-5" dirty="0">
                <a:latin typeface="Calibri"/>
                <a:cs typeface="Calibri"/>
              </a:rPr>
              <a:t>sp_changedbowner security </a:t>
            </a:r>
            <a:r>
              <a:rPr sz="1200" spc="-10" dirty="0">
                <a:latin typeface="Calibri"/>
                <a:cs typeface="Calibri"/>
              </a:rPr>
              <a:t>stored procedure </a:t>
            </a:r>
            <a:r>
              <a:rPr sz="1200" dirty="0">
                <a:latin typeface="Calibri"/>
                <a:cs typeface="Calibri"/>
              </a:rPr>
              <a:t>is </a:t>
            </a:r>
            <a:r>
              <a:rPr sz="1200" spc="-5" dirty="0">
                <a:latin typeface="Calibri"/>
                <a:cs typeface="Calibri"/>
              </a:rPr>
              <a:t>used </a:t>
            </a:r>
            <a:r>
              <a:rPr sz="1200" spc="-10" dirty="0">
                <a:latin typeface="Calibri"/>
                <a:cs typeface="Calibri"/>
              </a:rPr>
              <a:t>to </a:t>
            </a:r>
            <a:r>
              <a:rPr sz="1200" spc="-5" dirty="0">
                <a:latin typeface="Calibri"/>
                <a:cs typeface="Calibri"/>
              </a:rPr>
              <a:t>change </a:t>
            </a:r>
            <a:r>
              <a:rPr sz="1200" dirty="0">
                <a:latin typeface="Calibri"/>
                <a:cs typeface="Calibri"/>
              </a:rPr>
              <a:t>the </a:t>
            </a:r>
            <a:r>
              <a:rPr sz="1200" spc="-5" dirty="0">
                <a:latin typeface="Calibri"/>
                <a:cs typeface="Calibri"/>
              </a:rPr>
              <a:t>owner  of </a:t>
            </a:r>
            <a:r>
              <a:rPr sz="1200" dirty="0">
                <a:latin typeface="Calibri"/>
                <a:cs typeface="Calibri"/>
              </a:rPr>
              <a:t>the </a:t>
            </a:r>
            <a:r>
              <a:rPr sz="1200" spc="-5" dirty="0">
                <a:latin typeface="Calibri"/>
                <a:cs typeface="Calibri"/>
              </a:rPr>
              <a:t>current</a:t>
            </a:r>
            <a:r>
              <a:rPr sz="1200" spc="-25" dirty="0">
                <a:latin typeface="Calibri"/>
                <a:cs typeface="Calibri"/>
              </a:rPr>
              <a:t> </a:t>
            </a:r>
            <a:r>
              <a:rPr sz="1200" spc="-5" dirty="0">
                <a:latin typeface="Calibri"/>
                <a:cs typeface="Calibri"/>
              </a:rPr>
              <a:t>database.</a:t>
            </a:r>
            <a:endParaRPr sz="1200">
              <a:latin typeface="Calibri"/>
              <a:cs typeface="Calibri"/>
            </a:endParaRPr>
          </a:p>
        </p:txBody>
      </p:sp>
      <p:grpSp>
        <p:nvGrpSpPr>
          <p:cNvPr id="15" name="object 15"/>
          <p:cNvGrpSpPr/>
          <p:nvPr/>
        </p:nvGrpSpPr>
        <p:grpSpPr>
          <a:xfrm>
            <a:off x="574420" y="2146426"/>
            <a:ext cx="2569845" cy="972819"/>
            <a:chOff x="574420" y="2146426"/>
            <a:chExt cx="2569845" cy="972819"/>
          </a:xfrm>
        </p:grpSpPr>
        <p:sp>
          <p:nvSpPr>
            <p:cNvPr id="16" name="object 16"/>
            <p:cNvSpPr/>
            <p:nvPr/>
          </p:nvSpPr>
          <p:spPr>
            <a:xfrm>
              <a:off x="587120" y="2159126"/>
              <a:ext cx="2544445" cy="947419"/>
            </a:xfrm>
            <a:custGeom>
              <a:avLst/>
              <a:gdLst/>
              <a:ahLst/>
              <a:cxnLst/>
              <a:rect l="l" t="t" r="r" b="b"/>
              <a:pathLst>
                <a:path w="2544445" h="947419">
                  <a:moveTo>
                    <a:pt x="2434336" y="0"/>
                  </a:moveTo>
                  <a:lnTo>
                    <a:pt x="109994" y="0"/>
                  </a:lnTo>
                  <a:lnTo>
                    <a:pt x="75224" y="8053"/>
                  </a:lnTo>
                  <a:lnTo>
                    <a:pt x="45029" y="30475"/>
                  </a:lnTo>
                  <a:lnTo>
                    <a:pt x="21220" y="64657"/>
                  </a:lnTo>
                  <a:lnTo>
                    <a:pt x="5606" y="107988"/>
                  </a:lnTo>
                  <a:lnTo>
                    <a:pt x="0" y="157861"/>
                  </a:lnTo>
                  <a:lnTo>
                    <a:pt x="0" y="789305"/>
                  </a:lnTo>
                  <a:lnTo>
                    <a:pt x="5606" y="839177"/>
                  </a:lnTo>
                  <a:lnTo>
                    <a:pt x="21220" y="882508"/>
                  </a:lnTo>
                  <a:lnTo>
                    <a:pt x="45029" y="916690"/>
                  </a:lnTo>
                  <a:lnTo>
                    <a:pt x="109994" y="947166"/>
                  </a:lnTo>
                  <a:lnTo>
                    <a:pt x="2434336" y="947166"/>
                  </a:lnTo>
                  <a:lnTo>
                    <a:pt x="2499274" y="916690"/>
                  </a:lnTo>
                  <a:lnTo>
                    <a:pt x="2523087" y="882508"/>
                  </a:lnTo>
                  <a:lnTo>
                    <a:pt x="2538707" y="839177"/>
                  </a:lnTo>
                  <a:lnTo>
                    <a:pt x="2544318" y="789305"/>
                  </a:lnTo>
                  <a:lnTo>
                    <a:pt x="2544318" y="157861"/>
                  </a:lnTo>
                  <a:lnTo>
                    <a:pt x="2538707" y="107988"/>
                  </a:lnTo>
                  <a:lnTo>
                    <a:pt x="2523087" y="64657"/>
                  </a:lnTo>
                  <a:lnTo>
                    <a:pt x="2499274" y="30475"/>
                  </a:lnTo>
                  <a:lnTo>
                    <a:pt x="2434336" y="0"/>
                  </a:lnTo>
                  <a:close/>
                </a:path>
              </a:pathLst>
            </a:custGeom>
            <a:solidFill>
              <a:srgbClr val="5CB564"/>
            </a:solidFill>
          </p:spPr>
          <p:txBody>
            <a:bodyPr wrap="square" lIns="0" tIns="0" rIns="0" bIns="0" rtlCol="0"/>
            <a:lstStyle/>
            <a:p>
              <a:endParaRPr/>
            </a:p>
          </p:txBody>
        </p:sp>
        <p:sp>
          <p:nvSpPr>
            <p:cNvPr id="17" name="object 17"/>
            <p:cNvSpPr/>
            <p:nvPr/>
          </p:nvSpPr>
          <p:spPr>
            <a:xfrm>
              <a:off x="587120" y="2159126"/>
              <a:ext cx="2544445" cy="947419"/>
            </a:xfrm>
            <a:custGeom>
              <a:avLst/>
              <a:gdLst/>
              <a:ahLst/>
              <a:cxnLst/>
              <a:rect l="l" t="t" r="r" b="b"/>
              <a:pathLst>
                <a:path w="2544445" h="947419">
                  <a:moveTo>
                    <a:pt x="0" y="157861"/>
                  </a:moveTo>
                  <a:lnTo>
                    <a:pt x="5606" y="107988"/>
                  </a:lnTo>
                  <a:lnTo>
                    <a:pt x="21220" y="64657"/>
                  </a:lnTo>
                  <a:lnTo>
                    <a:pt x="45029" y="30475"/>
                  </a:lnTo>
                  <a:lnTo>
                    <a:pt x="109994" y="0"/>
                  </a:lnTo>
                  <a:lnTo>
                    <a:pt x="2434336" y="0"/>
                  </a:lnTo>
                  <a:lnTo>
                    <a:pt x="2499274" y="30475"/>
                  </a:lnTo>
                  <a:lnTo>
                    <a:pt x="2523087" y="64657"/>
                  </a:lnTo>
                  <a:lnTo>
                    <a:pt x="2538707" y="107988"/>
                  </a:lnTo>
                  <a:lnTo>
                    <a:pt x="2544318" y="157861"/>
                  </a:lnTo>
                  <a:lnTo>
                    <a:pt x="2544318" y="789305"/>
                  </a:lnTo>
                  <a:lnTo>
                    <a:pt x="2538707" y="839177"/>
                  </a:lnTo>
                  <a:lnTo>
                    <a:pt x="2523087" y="882508"/>
                  </a:lnTo>
                  <a:lnTo>
                    <a:pt x="2499274" y="916690"/>
                  </a:lnTo>
                  <a:lnTo>
                    <a:pt x="2434336" y="947166"/>
                  </a:lnTo>
                  <a:lnTo>
                    <a:pt x="109994" y="947166"/>
                  </a:lnTo>
                  <a:lnTo>
                    <a:pt x="45029" y="916690"/>
                  </a:lnTo>
                  <a:lnTo>
                    <a:pt x="21220" y="882508"/>
                  </a:lnTo>
                  <a:lnTo>
                    <a:pt x="5606" y="839177"/>
                  </a:lnTo>
                  <a:lnTo>
                    <a:pt x="0" y="789305"/>
                  </a:lnTo>
                  <a:lnTo>
                    <a:pt x="0" y="157861"/>
                  </a:lnTo>
                  <a:close/>
                </a:path>
              </a:pathLst>
            </a:custGeom>
            <a:ln w="25146">
              <a:solidFill>
                <a:srgbClr val="FFFFFF"/>
              </a:solidFill>
            </a:ln>
          </p:spPr>
          <p:txBody>
            <a:bodyPr wrap="square" lIns="0" tIns="0" rIns="0" bIns="0" rtlCol="0"/>
            <a:lstStyle/>
            <a:p>
              <a:endParaRPr/>
            </a:p>
          </p:txBody>
        </p:sp>
      </p:grpSp>
      <p:sp>
        <p:nvSpPr>
          <p:cNvPr id="18" name="object 18"/>
          <p:cNvSpPr txBox="1"/>
          <p:nvPr/>
        </p:nvSpPr>
        <p:spPr>
          <a:xfrm>
            <a:off x="1168653" y="2368042"/>
            <a:ext cx="1381760" cy="489584"/>
          </a:xfrm>
          <a:prstGeom prst="rect">
            <a:avLst/>
          </a:prstGeom>
        </p:spPr>
        <p:txBody>
          <a:bodyPr vert="horz" wrap="square" lIns="0" tIns="12700" rIns="0" bIns="0" rtlCol="0">
            <a:spAutoFit/>
          </a:bodyPr>
          <a:lstStyle/>
          <a:p>
            <a:pPr algn="ctr">
              <a:lnSpc>
                <a:spcPts val="1825"/>
              </a:lnSpc>
              <a:spcBef>
                <a:spcPts val="100"/>
              </a:spcBef>
            </a:pPr>
            <a:r>
              <a:rPr sz="1600" b="1" dirty="0">
                <a:solidFill>
                  <a:srgbClr val="FFFFFF"/>
                </a:solidFill>
                <a:latin typeface="Calisto MT"/>
                <a:cs typeface="Calisto MT"/>
              </a:rPr>
              <a:t>Security</a:t>
            </a:r>
            <a:r>
              <a:rPr sz="1600" b="1" spc="-45" dirty="0">
                <a:solidFill>
                  <a:srgbClr val="FFFFFF"/>
                </a:solidFill>
                <a:latin typeface="Calisto MT"/>
                <a:cs typeface="Calisto MT"/>
              </a:rPr>
              <a:t> </a:t>
            </a:r>
            <a:r>
              <a:rPr sz="1600" b="1" spc="-5" dirty="0">
                <a:solidFill>
                  <a:srgbClr val="FFFFFF"/>
                </a:solidFill>
                <a:latin typeface="Calisto MT"/>
                <a:cs typeface="Calisto MT"/>
              </a:rPr>
              <a:t>Stored</a:t>
            </a:r>
            <a:endParaRPr sz="1600">
              <a:latin typeface="Calisto MT"/>
              <a:cs typeface="Calisto MT"/>
            </a:endParaRPr>
          </a:p>
          <a:p>
            <a:pPr algn="ctr">
              <a:lnSpc>
                <a:spcPts val="1825"/>
              </a:lnSpc>
            </a:pPr>
            <a:r>
              <a:rPr sz="1600" b="1" dirty="0">
                <a:solidFill>
                  <a:srgbClr val="FFFFFF"/>
                </a:solidFill>
                <a:latin typeface="Calisto MT"/>
                <a:cs typeface="Calisto MT"/>
              </a:rPr>
              <a:t>Procedures</a:t>
            </a:r>
            <a:endParaRPr sz="1600">
              <a:latin typeface="Calisto MT"/>
              <a:cs typeface="Calisto MT"/>
            </a:endParaRPr>
          </a:p>
        </p:txBody>
      </p:sp>
      <p:grpSp>
        <p:nvGrpSpPr>
          <p:cNvPr id="19" name="object 19"/>
          <p:cNvGrpSpPr/>
          <p:nvPr/>
        </p:nvGrpSpPr>
        <p:grpSpPr>
          <a:xfrm>
            <a:off x="3118739" y="3235325"/>
            <a:ext cx="5581650" cy="783590"/>
            <a:chOff x="3118739" y="3235325"/>
            <a:chExt cx="5581650" cy="783590"/>
          </a:xfrm>
        </p:grpSpPr>
        <p:sp>
          <p:nvSpPr>
            <p:cNvPr id="20" name="object 20"/>
            <p:cNvSpPr/>
            <p:nvPr/>
          </p:nvSpPr>
          <p:spPr>
            <a:xfrm>
              <a:off x="3131439" y="3248025"/>
              <a:ext cx="5556250" cy="758190"/>
            </a:xfrm>
            <a:custGeom>
              <a:avLst/>
              <a:gdLst/>
              <a:ahLst/>
              <a:cxnLst/>
              <a:rect l="l" t="t" r="r" b="b"/>
              <a:pathLst>
                <a:path w="5556250" h="758189">
                  <a:moveTo>
                    <a:pt x="5447665" y="0"/>
                  </a:moveTo>
                  <a:lnTo>
                    <a:pt x="0" y="0"/>
                  </a:lnTo>
                  <a:lnTo>
                    <a:pt x="0" y="758189"/>
                  </a:lnTo>
                  <a:lnTo>
                    <a:pt x="5447665" y="758189"/>
                  </a:lnTo>
                  <a:lnTo>
                    <a:pt x="5489733" y="748268"/>
                  </a:lnTo>
                  <a:lnTo>
                    <a:pt x="5524087" y="721201"/>
                  </a:lnTo>
                  <a:lnTo>
                    <a:pt x="5547248" y="681037"/>
                  </a:lnTo>
                  <a:lnTo>
                    <a:pt x="5555742" y="631824"/>
                  </a:lnTo>
                  <a:lnTo>
                    <a:pt x="5555742" y="126364"/>
                  </a:lnTo>
                  <a:lnTo>
                    <a:pt x="5547248" y="77152"/>
                  </a:lnTo>
                  <a:lnTo>
                    <a:pt x="5524087" y="36988"/>
                  </a:lnTo>
                  <a:lnTo>
                    <a:pt x="5489733" y="9921"/>
                  </a:lnTo>
                  <a:lnTo>
                    <a:pt x="5447665" y="0"/>
                  </a:lnTo>
                  <a:close/>
                </a:path>
              </a:pathLst>
            </a:custGeom>
            <a:solidFill>
              <a:srgbClr val="D2E3E1">
                <a:alpha val="90194"/>
              </a:srgbClr>
            </a:solidFill>
          </p:spPr>
          <p:txBody>
            <a:bodyPr wrap="square" lIns="0" tIns="0" rIns="0" bIns="0" rtlCol="0"/>
            <a:lstStyle/>
            <a:p>
              <a:endParaRPr/>
            </a:p>
          </p:txBody>
        </p:sp>
        <p:sp>
          <p:nvSpPr>
            <p:cNvPr id="21" name="object 21"/>
            <p:cNvSpPr/>
            <p:nvPr/>
          </p:nvSpPr>
          <p:spPr>
            <a:xfrm>
              <a:off x="3131439" y="3248025"/>
              <a:ext cx="5556250" cy="758190"/>
            </a:xfrm>
            <a:custGeom>
              <a:avLst/>
              <a:gdLst/>
              <a:ahLst/>
              <a:cxnLst/>
              <a:rect l="l" t="t" r="r" b="b"/>
              <a:pathLst>
                <a:path w="5556250" h="758189">
                  <a:moveTo>
                    <a:pt x="5555742" y="126364"/>
                  </a:moveTo>
                  <a:lnTo>
                    <a:pt x="5555742" y="631824"/>
                  </a:lnTo>
                  <a:lnTo>
                    <a:pt x="5547248" y="681037"/>
                  </a:lnTo>
                  <a:lnTo>
                    <a:pt x="5524087" y="721201"/>
                  </a:lnTo>
                  <a:lnTo>
                    <a:pt x="5489733" y="748268"/>
                  </a:lnTo>
                  <a:lnTo>
                    <a:pt x="5447665" y="758189"/>
                  </a:lnTo>
                  <a:lnTo>
                    <a:pt x="0" y="758189"/>
                  </a:lnTo>
                  <a:lnTo>
                    <a:pt x="0" y="0"/>
                  </a:lnTo>
                  <a:lnTo>
                    <a:pt x="5447665" y="0"/>
                  </a:lnTo>
                  <a:lnTo>
                    <a:pt x="5489733" y="9921"/>
                  </a:lnTo>
                  <a:lnTo>
                    <a:pt x="5524087" y="36988"/>
                  </a:lnTo>
                  <a:lnTo>
                    <a:pt x="5547248" y="77152"/>
                  </a:lnTo>
                  <a:lnTo>
                    <a:pt x="5555742" y="126364"/>
                  </a:lnTo>
                  <a:close/>
                </a:path>
              </a:pathLst>
            </a:custGeom>
            <a:ln w="25146">
              <a:solidFill>
                <a:srgbClr val="D2E3E1"/>
              </a:solidFill>
            </a:ln>
          </p:spPr>
          <p:txBody>
            <a:bodyPr wrap="square" lIns="0" tIns="0" rIns="0" bIns="0" rtlCol="0"/>
            <a:lstStyle/>
            <a:p>
              <a:endParaRPr/>
            </a:p>
          </p:txBody>
        </p:sp>
      </p:grpSp>
      <p:sp>
        <p:nvSpPr>
          <p:cNvPr id="22" name="object 22"/>
          <p:cNvSpPr txBox="1"/>
          <p:nvPr/>
        </p:nvSpPr>
        <p:spPr>
          <a:xfrm>
            <a:off x="3145027" y="3339084"/>
            <a:ext cx="5443220" cy="538480"/>
          </a:xfrm>
          <a:prstGeom prst="rect">
            <a:avLst/>
          </a:prstGeom>
        </p:spPr>
        <p:txBody>
          <a:bodyPr vert="horz" wrap="square" lIns="0" tIns="30480" rIns="0" bIns="0" rtlCol="0">
            <a:spAutoFit/>
          </a:bodyPr>
          <a:lstStyle/>
          <a:p>
            <a:pPr marL="12700" marR="5080">
              <a:lnSpc>
                <a:spcPct val="90300"/>
              </a:lnSpc>
              <a:spcBef>
                <a:spcPts val="240"/>
              </a:spcBef>
            </a:pPr>
            <a:r>
              <a:rPr sz="1200" spc="-10" dirty="0">
                <a:latin typeface="Calibri"/>
                <a:cs typeface="Calibri"/>
              </a:rPr>
              <a:t>Cursor procedures are </a:t>
            </a:r>
            <a:r>
              <a:rPr sz="1200" spc="-5" dirty="0">
                <a:latin typeface="Calibri"/>
                <a:cs typeface="Calibri"/>
              </a:rPr>
              <a:t>used </a:t>
            </a:r>
            <a:r>
              <a:rPr sz="1200" spc="-10" dirty="0">
                <a:latin typeface="Calibri"/>
                <a:cs typeface="Calibri"/>
              </a:rPr>
              <a:t>to </a:t>
            </a:r>
            <a:r>
              <a:rPr sz="1200" spc="-5" dirty="0">
                <a:latin typeface="Calibri"/>
                <a:cs typeface="Calibri"/>
              </a:rPr>
              <a:t>implement </a:t>
            </a:r>
            <a:r>
              <a:rPr sz="1200" dirty="0">
                <a:latin typeface="Calibri"/>
                <a:cs typeface="Calibri"/>
              </a:rPr>
              <a:t>the </a:t>
            </a:r>
            <a:r>
              <a:rPr sz="1200" spc="-5" dirty="0">
                <a:latin typeface="Calibri"/>
                <a:cs typeface="Calibri"/>
              </a:rPr>
              <a:t>functionality of </a:t>
            </a:r>
            <a:r>
              <a:rPr sz="1200" dirty="0">
                <a:latin typeface="Calibri"/>
                <a:cs typeface="Calibri"/>
              </a:rPr>
              <a:t>a </a:t>
            </a:r>
            <a:r>
              <a:rPr sz="1200" spc="-25" dirty="0">
                <a:latin typeface="Calibri"/>
                <a:cs typeface="Calibri"/>
              </a:rPr>
              <a:t>cursor. </a:t>
            </a:r>
            <a:r>
              <a:rPr sz="1200" spc="-10" dirty="0">
                <a:latin typeface="Calibri"/>
                <a:cs typeface="Calibri"/>
              </a:rPr>
              <a:t>For example, </a:t>
            </a:r>
            <a:r>
              <a:rPr sz="1200" dirty="0">
                <a:latin typeface="Calibri"/>
                <a:cs typeface="Calibri"/>
              </a:rPr>
              <a:t>the  </a:t>
            </a:r>
            <a:r>
              <a:rPr sz="1200" spc="-5" dirty="0">
                <a:latin typeface="Calibri"/>
                <a:cs typeface="Calibri"/>
              </a:rPr>
              <a:t>sp_cursor_list cursor </a:t>
            </a:r>
            <a:r>
              <a:rPr sz="1200" spc="-10" dirty="0">
                <a:latin typeface="Calibri"/>
                <a:cs typeface="Calibri"/>
              </a:rPr>
              <a:t>stored procedure </a:t>
            </a:r>
            <a:r>
              <a:rPr sz="1200" spc="-5" dirty="0">
                <a:latin typeface="Calibri"/>
                <a:cs typeface="Calibri"/>
              </a:rPr>
              <a:t>lists </a:t>
            </a:r>
            <a:r>
              <a:rPr sz="1200" dirty="0">
                <a:latin typeface="Calibri"/>
                <a:cs typeface="Calibri"/>
              </a:rPr>
              <a:t>all the </a:t>
            </a:r>
            <a:r>
              <a:rPr sz="1200" spc="-10" dirty="0">
                <a:latin typeface="Calibri"/>
                <a:cs typeface="Calibri"/>
              </a:rPr>
              <a:t>cursors </a:t>
            </a:r>
            <a:r>
              <a:rPr sz="1200" spc="-5" dirty="0">
                <a:latin typeface="Calibri"/>
                <a:cs typeface="Calibri"/>
              </a:rPr>
              <a:t>opened </a:t>
            </a:r>
            <a:r>
              <a:rPr sz="1200" spc="-10" dirty="0">
                <a:latin typeface="Calibri"/>
                <a:cs typeface="Calibri"/>
              </a:rPr>
              <a:t>by </a:t>
            </a:r>
            <a:r>
              <a:rPr sz="1200" dirty="0">
                <a:latin typeface="Calibri"/>
                <a:cs typeface="Calibri"/>
              </a:rPr>
              <a:t>the </a:t>
            </a:r>
            <a:r>
              <a:rPr sz="1200" spc="-10" dirty="0">
                <a:latin typeface="Calibri"/>
                <a:cs typeface="Calibri"/>
              </a:rPr>
              <a:t>connection  </a:t>
            </a:r>
            <a:r>
              <a:rPr sz="1200" dirty="0">
                <a:latin typeface="Calibri"/>
                <a:cs typeface="Calibri"/>
              </a:rPr>
              <a:t>and </a:t>
            </a:r>
            <a:r>
              <a:rPr sz="1200" spc="-5" dirty="0">
                <a:latin typeface="Calibri"/>
                <a:cs typeface="Calibri"/>
              </a:rPr>
              <a:t>describes </a:t>
            </a:r>
            <a:r>
              <a:rPr sz="1200" dirty="0">
                <a:latin typeface="Calibri"/>
                <a:cs typeface="Calibri"/>
              </a:rPr>
              <a:t>their</a:t>
            </a:r>
            <a:r>
              <a:rPr sz="1200" spc="-20" dirty="0">
                <a:latin typeface="Calibri"/>
                <a:cs typeface="Calibri"/>
              </a:rPr>
              <a:t> </a:t>
            </a:r>
            <a:r>
              <a:rPr sz="1200" spc="-5" dirty="0">
                <a:latin typeface="Calibri"/>
                <a:cs typeface="Calibri"/>
              </a:rPr>
              <a:t>attributes.</a:t>
            </a:r>
            <a:endParaRPr sz="1200">
              <a:latin typeface="Calibri"/>
              <a:cs typeface="Calibri"/>
            </a:endParaRPr>
          </a:p>
        </p:txBody>
      </p:sp>
      <p:grpSp>
        <p:nvGrpSpPr>
          <p:cNvPr id="23" name="object 23"/>
          <p:cNvGrpSpPr/>
          <p:nvPr/>
        </p:nvGrpSpPr>
        <p:grpSpPr>
          <a:xfrm>
            <a:off x="574420" y="3140836"/>
            <a:ext cx="2569845" cy="972819"/>
            <a:chOff x="574420" y="3140836"/>
            <a:chExt cx="2569845" cy="972819"/>
          </a:xfrm>
        </p:grpSpPr>
        <p:sp>
          <p:nvSpPr>
            <p:cNvPr id="24" name="object 24"/>
            <p:cNvSpPr/>
            <p:nvPr/>
          </p:nvSpPr>
          <p:spPr>
            <a:xfrm>
              <a:off x="587120" y="3153536"/>
              <a:ext cx="2544445" cy="947419"/>
            </a:xfrm>
            <a:custGeom>
              <a:avLst/>
              <a:gdLst/>
              <a:ahLst/>
              <a:cxnLst/>
              <a:rect l="l" t="t" r="r" b="b"/>
              <a:pathLst>
                <a:path w="2544445" h="947420">
                  <a:moveTo>
                    <a:pt x="2434336" y="0"/>
                  </a:moveTo>
                  <a:lnTo>
                    <a:pt x="109994" y="0"/>
                  </a:lnTo>
                  <a:lnTo>
                    <a:pt x="75224" y="8053"/>
                  </a:lnTo>
                  <a:lnTo>
                    <a:pt x="45029" y="30475"/>
                  </a:lnTo>
                  <a:lnTo>
                    <a:pt x="21220" y="64657"/>
                  </a:lnTo>
                  <a:lnTo>
                    <a:pt x="5606" y="107988"/>
                  </a:lnTo>
                  <a:lnTo>
                    <a:pt x="0" y="157861"/>
                  </a:lnTo>
                  <a:lnTo>
                    <a:pt x="0" y="789305"/>
                  </a:lnTo>
                  <a:lnTo>
                    <a:pt x="5606" y="839177"/>
                  </a:lnTo>
                  <a:lnTo>
                    <a:pt x="21220" y="882508"/>
                  </a:lnTo>
                  <a:lnTo>
                    <a:pt x="45029" y="916690"/>
                  </a:lnTo>
                  <a:lnTo>
                    <a:pt x="109994" y="947166"/>
                  </a:lnTo>
                  <a:lnTo>
                    <a:pt x="2434336" y="947166"/>
                  </a:lnTo>
                  <a:lnTo>
                    <a:pt x="2499274" y="916690"/>
                  </a:lnTo>
                  <a:lnTo>
                    <a:pt x="2523087" y="882508"/>
                  </a:lnTo>
                  <a:lnTo>
                    <a:pt x="2538707" y="839177"/>
                  </a:lnTo>
                  <a:lnTo>
                    <a:pt x="2544318" y="789305"/>
                  </a:lnTo>
                  <a:lnTo>
                    <a:pt x="2544318" y="157861"/>
                  </a:lnTo>
                  <a:lnTo>
                    <a:pt x="2538707" y="107988"/>
                  </a:lnTo>
                  <a:lnTo>
                    <a:pt x="2523087" y="64657"/>
                  </a:lnTo>
                  <a:lnTo>
                    <a:pt x="2499274" y="30475"/>
                  </a:lnTo>
                  <a:lnTo>
                    <a:pt x="2434336" y="0"/>
                  </a:lnTo>
                  <a:close/>
                </a:path>
              </a:pathLst>
            </a:custGeom>
            <a:solidFill>
              <a:srgbClr val="5EAEA6"/>
            </a:solidFill>
          </p:spPr>
          <p:txBody>
            <a:bodyPr wrap="square" lIns="0" tIns="0" rIns="0" bIns="0" rtlCol="0"/>
            <a:lstStyle/>
            <a:p>
              <a:endParaRPr/>
            </a:p>
          </p:txBody>
        </p:sp>
        <p:sp>
          <p:nvSpPr>
            <p:cNvPr id="25" name="object 25"/>
            <p:cNvSpPr/>
            <p:nvPr/>
          </p:nvSpPr>
          <p:spPr>
            <a:xfrm>
              <a:off x="587120" y="3153536"/>
              <a:ext cx="2544445" cy="947419"/>
            </a:xfrm>
            <a:custGeom>
              <a:avLst/>
              <a:gdLst/>
              <a:ahLst/>
              <a:cxnLst/>
              <a:rect l="l" t="t" r="r" b="b"/>
              <a:pathLst>
                <a:path w="2544445" h="947420">
                  <a:moveTo>
                    <a:pt x="0" y="157861"/>
                  </a:moveTo>
                  <a:lnTo>
                    <a:pt x="5606" y="107988"/>
                  </a:lnTo>
                  <a:lnTo>
                    <a:pt x="21220" y="64657"/>
                  </a:lnTo>
                  <a:lnTo>
                    <a:pt x="45029" y="30475"/>
                  </a:lnTo>
                  <a:lnTo>
                    <a:pt x="109994" y="0"/>
                  </a:lnTo>
                  <a:lnTo>
                    <a:pt x="2434336" y="0"/>
                  </a:lnTo>
                  <a:lnTo>
                    <a:pt x="2499274" y="30475"/>
                  </a:lnTo>
                  <a:lnTo>
                    <a:pt x="2523087" y="64657"/>
                  </a:lnTo>
                  <a:lnTo>
                    <a:pt x="2538707" y="107988"/>
                  </a:lnTo>
                  <a:lnTo>
                    <a:pt x="2544318" y="157861"/>
                  </a:lnTo>
                  <a:lnTo>
                    <a:pt x="2544318" y="789305"/>
                  </a:lnTo>
                  <a:lnTo>
                    <a:pt x="2538707" y="839177"/>
                  </a:lnTo>
                  <a:lnTo>
                    <a:pt x="2523087" y="882508"/>
                  </a:lnTo>
                  <a:lnTo>
                    <a:pt x="2499274" y="916690"/>
                  </a:lnTo>
                  <a:lnTo>
                    <a:pt x="2434336" y="947166"/>
                  </a:lnTo>
                  <a:lnTo>
                    <a:pt x="109994" y="947166"/>
                  </a:lnTo>
                  <a:lnTo>
                    <a:pt x="45029" y="916690"/>
                  </a:lnTo>
                  <a:lnTo>
                    <a:pt x="21220" y="882508"/>
                  </a:lnTo>
                  <a:lnTo>
                    <a:pt x="5606" y="839177"/>
                  </a:lnTo>
                  <a:lnTo>
                    <a:pt x="0" y="789305"/>
                  </a:lnTo>
                  <a:lnTo>
                    <a:pt x="0" y="157861"/>
                  </a:lnTo>
                  <a:close/>
                </a:path>
              </a:pathLst>
            </a:custGeom>
            <a:ln w="25146">
              <a:solidFill>
                <a:srgbClr val="FFFFFF"/>
              </a:solidFill>
            </a:ln>
          </p:spPr>
          <p:txBody>
            <a:bodyPr wrap="square" lIns="0" tIns="0" rIns="0" bIns="0" rtlCol="0"/>
            <a:lstStyle/>
            <a:p>
              <a:endParaRPr/>
            </a:p>
          </p:txBody>
        </p:sp>
      </p:grpSp>
      <p:sp>
        <p:nvSpPr>
          <p:cNvPr id="26" name="object 26"/>
          <p:cNvSpPr txBox="1"/>
          <p:nvPr/>
        </p:nvSpPr>
        <p:spPr>
          <a:xfrm>
            <a:off x="704595" y="3472179"/>
            <a:ext cx="2309495" cy="269875"/>
          </a:xfrm>
          <a:prstGeom prst="rect">
            <a:avLst/>
          </a:prstGeom>
        </p:spPr>
        <p:txBody>
          <a:bodyPr vert="horz" wrap="square" lIns="0" tIns="13335" rIns="0" bIns="0" rtlCol="0">
            <a:spAutoFit/>
          </a:bodyPr>
          <a:lstStyle/>
          <a:p>
            <a:pPr marL="12700">
              <a:lnSpc>
                <a:spcPct val="100000"/>
              </a:lnSpc>
              <a:spcBef>
                <a:spcPts val="105"/>
              </a:spcBef>
            </a:pPr>
            <a:r>
              <a:rPr sz="1600" b="1" dirty="0">
                <a:solidFill>
                  <a:srgbClr val="FFFFFF"/>
                </a:solidFill>
                <a:latin typeface="Calisto MT"/>
                <a:cs typeface="Calisto MT"/>
              </a:rPr>
              <a:t>Cursor </a:t>
            </a:r>
            <a:r>
              <a:rPr sz="1600" b="1" spc="-5" dirty="0">
                <a:solidFill>
                  <a:srgbClr val="FFFFFF"/>
                </a:solidFill>
                <a:latin typeface="Calisto MT"/>
                <a:cs typeface="Calisto MT"/>
              </a:rPr>
              <a:t>Stored</a:t>
            </a:r>
            <a:r>
              <a:rPr sz="1600" b="1" spc="-75" dirty="0">
                <a:solidFill>
                  <a:srgbClr val="FFFFFF"/>
                </a:solidFill>
                <a:latin typeface="Calisto MT"/>
                <a:cs typeface="Calisto MT"/>
              </a:rPr>
              <a:t> </a:t>
            </a:r>
            <a:r>
              <a:rPr sz="1600" b="1" dirty="0">
                <a:solidFill>
                  <a:srgbClr val="FFFFFF"/>
                </a:solidFill>
                <a:latin typeface="Calisto MT"/>
                <a:cs typeface="Calisto MT"/>
              </a:rPr>
              <a:t>Procedures</a:t>
            </a:r>
            <a:endParaRPr sz="1600">
              <a:latin typeface="Calisto MT"/>
              <a:cs typeface="Calisto MT"/>
            </a:endParaRPr>
          </a:p>
        </p:txBody>
      </p:sp>
      <p:grpSp>
        <p:nvGrpSpPr>
          <p:cNvPr id="27" name="object 27"/>
          <p:cNvGrpSpPr/>
          <p:nvPr/>
        </p:nvGrpSpPr>
        <p:grpSpPr>
          <a:xfrm>
            <a:off x="3118739" y="4229734"/>
            <a:ext cx="5581650" cy="783590"/>
            <a:chOff x="3118739" y="4229734"/>
            <a:chExt cx="5581650" cy="783590"/>
          </a:xfrm>
        </p:grpSpPr>
        <p:sp>
          <p:nvSpPr>
            <p:cNvPr id="28" name="object 28"/>
            <p:cNvSpPr/>
            <p:nvPr/>
          </p:nvSpPr>
          <p:spPr>
            <a:xfrm>
              <a:off x="3131439" y="4242434"/>
              <a:ext cx="5556250" cy="758190"/>
            </a:xfrm>
            <a:custGeom>
              <a:avLst/>
              <a:gdLst/>
              <a:ahLst/>
              <a:cxnLst/>
              <a:rect l="l" t="t" r="r" b="b"/>
              <a:pathLst>
                <a:path w="5556250" h="758189">
                  <a:moveTo>
                    <a:pt x="5447665" y="0"/>
                  </a:moveTo>
                  <a:lnTo>
                    <a:pt x="0" y="0"/>
                  </a:lnTo>
                  <a:lnTo>
                    <a:pt x="0" y="758189"/>
                  </a:lnTo>
                  <a:lnTo>
                    <a:pt x="5447665" y="758189"/>
                  </a:lnTo>
                  <a:lnTo>
                    <a:pt x="5489733" y="748268"/>
                  </a:lnTo>
                  <a:lnTo>
                    <a:pt x="5524087" y="721201"/>
                  </a:lnTo>
                  <a:lnTo>
                    <a:pt x="5547248" y="681037"/>
                  </a:lnTo>
                  <a:lnTo>
                    <a:pt x="5555742" y="631824"/>
                  </a:lnTo>
                  <a:lnTo>
                    <a:pt x="5555742" y="126364"/>
                  </a:lnTo>
                  <a:lnTo>
                    <a:pt x="5547248" y="77152"/>
                  </a:lnTo>
                  <a:lnTo>
                    <a:pt x="5524087" y="36988"/>
                  </a:lnTo>
                  <a:lnTo>
                    <a:pt x="5489733" y="9921"/>
                  </a:lnTo>
                  <a:lnTo>
                    <a:pt x="5447665" y="0"/>
                  </a:lnTo>
                  <a:close/>
                </a:path>
              </a:pathLst>
            </a:custGeom>
            <a:solidFill>
              <a:srgbClr val="D2D7E1">
                <a:alpha val="90194"/>
              </a:srgbClr>
            </a:solidFill>
          </p:spPr>
          <p:txBody>
            <a:bodyPr wrap="square" lIns="0" tIns="0" rIns="0" bIns="0" rtlCol="0"/>
            <a:lstStyle/>
            <a:p>
              <a:endParaRPr/>
            </a:p>
          </p:txBody>
        </p:sp>
        <p:sp>
          <p:nvSpPr>
            <p:cNvPr id="29" name="object 29"/>
            <p:cNvSpPr/>
            <p:nvPr/>
          </p:nvSpPr>
          <p:spPr>
            <a:xfrm>
              <a:off x="3131439" y="4242434"/>
              <a:ext cx="5556250" cy="758190"/>
            </a:xfrm>
            <a:custGeom>
              <a:avLst/>
              <a:gdLst/>
              <a:ahLst/>
              <a:cxnLst/>
              <a:rect l="l" t="t" r="r" b="b"/>
              <a:pathLst>
                <a:path w="5556250" h="758189">
                  <a:moveTo>
                    <a:pt x="5555742" y="126364"/>
                  </a:moveTo>
                  <a:lnTo>
                    <a:pt x="5555742" y="631824"/>
                  </a:lnTo>
                  <a:lnTo>
                    <a:pt x="5547248" y="681037"/>
                  </a:lnTo>
                  <a:lnTo>
                    <a:pt x="5524087" y="721201"/>
                  </a:lnTo>
                  <a:lnTo>
                    <a:pt x="5489733" y="748268"/>
                  </a:lnTo>
                  <a:lnTo>
                    <a:pt x="5447665" y="758189"/>
                  </a:lnTo>
                  <a:lnTo>
                    <a:pt x="0" y="758189"/>
                  </a:lnTo>
                  <a:lnTo>
                    <a:pt x="0" y="0"/>
                  </a:lnTo>
                  <a:lnTo>
                    <a:pt x="5447665" y="0"/>
                  </a:lnTo>
                  <a:lnTo>
                    <a:pt x="5489733" y="9921"/>
                  </a:lnTo>
                  <a:lnTo>
                    <a:pt x="5524087" y="36988"/>
                  </a:lnTo>
                  <a:lnTo>
                    <a:pt x="5547248" y="77152"/>
                  </a:lnTo>
                  <a:lnTo>
                    <a:pt x="5555742" y="126364"/>
                  </a:lnTo>
                  <a:close/>
                </a:path>
              </a:pathLst>
            </a:custGeom>
            <a:ln w="25146">
              <a:solidFill>
                <a:srgbClr val="D2D7E1"/>
              </a:solidFill>
            </a:ln>
          </p:spPr>
          <p:txBody>
            <a:bodyPr wrap="square" lIns="0" tIns="0" rIns="0" bIns="0" rtlCol="0"/>
            <a:lstStyle/>
            <a:p>
              <a:endParaRPr/>
            </a:p>
          </p:txBody>
        </p:sp>
      </p:grpSp>
      <p:sp>
        <p:nvSpPr>
          <p:cNvPr id="30" name="object 30"/>
          <p:cNvSpPr txBox="1"/>
          <p:nvPr/>
        </p:nvSpPr>
        <p:spPr>
          <a:xfrm>
            <a:off x="3145027" y="4333747"/>
            <a:ext cx="5367020" cy="538480"/>
          </a:xfrm>
          <a:prstGeom prst="rect">
            <a:avLst/>
          </a:prstGeom>
        </p:spPr>
        <p:txBody>
          <a:bodyPr vert="horz" wrap="square" lIns="0" tIns="30480" rIns="0" bIns="0" rtlCol="0">
            <a:spAutoFit/>
          </a:bodyPr>
          <a:lstStyle/>
          <a:p>
            <a:pPr marL="12700" marR="5080" algn="just">
              <a:lnSpc>
                <a:spcPct val="90200"/>
              </a:lnSpc>
              <a:spcBef>
                <a:spcPts val="240"/>
              </a:spcBef>
            </a:pPr>
            <a:r>
              <a:rPr sz="1200" spc="-5" dirty="0">
                <a:latin typeface="Calibri"/>
                <a:cs typeface="Calibri"/>
              </a:rPr>
              <a:t>Distributed </a:t>
            </a:r>
            <a:r>
              <a:rPr sz="1200" spc="-10" dirty="0">
                <a:latin typeface="Calibri"/>
                <a:cs typeface="Calibri"/>
              </a:rPr>
              <a:t>stored procedures are </a:t>
            </a:r>
            <a:r>
              <a:rPr sz="1200" spc="-5" dirty="0">
                <a:latin typeface="Calibri"/>
                <a:cs typeface="Calibri"/>
              </a:rPr>
              <a:t>used </a:t>
            </a:r>
            <a:r>
              <a:rPr sz="1200" dirty="0">
                <a:latin typeface="Calibri"/>
                <a:cs typeface="Calibri"/>
              </a:rPr>
              <a:t>in the </a:t>
            </a:r>
            <a:r>
              <a:rPr sz="1200" spc="-5" dirty="0">
                <a:latin typeface="Calibri"/>
                <a:cs typeface="Calibri"/>
              </a:rPr>
              <a:t>management of distributed queries. </a:t>
            </a:r>
            <a:r>
              <a:rPr sz="1200" spc="-10" dirty="0">
                <a:latin typeface="Calibri"/>
                <a:cs typeface="Calibri"/>
              </a:rPr>
              <a:t>For  example, </a:t>
            </a:r>
            <a:r>
              <a:rPr sz="1200" dirty="0">
                <a:latin typeface="Calibri"/>
                <a:cs typeface="Calibri"/>
              </a:rPr>
              <a:t>the </a:t>
            </a:r>
            <a:r>
              <a:rPr sz="1200" spc="-10" dirty="0">
                <a:latin typeface="Calibri"/>
                <a:cs typeface="Calibri"/>
              </a:rPr>
              <a:t>sp_indexes </a:t>
            </a:r>
            <a:r>
              <a:rPr sz="1200" spc="-5" dirty="0">
                <a:latin typeface="Calibri"/>
                <a:cs typeface="Calibri"/>
              </a:rPr>
              <a:t>distributed query </a:t>
            </a:r>
            <a:r>
              <a:rPr sz="1200" spc="-10" dirty="0">
                <a:latin typeface="Calibri"/>
                <a:cs typeface="Calibri"/>
              </a:rPr>
              <a:t>stored procedure returns </a:t>
            </a:r>
            <a:r>
              <a:rPr sz="1200" spc="-5" dirty="0">
                <a:latin typeface="Calibri"/>
                <a:cs typeface="Calibri"/>
              </a:rPr>
              <a:t>index </a:t>
            </a:r>
            <a:r>
              <a:rPr sz="1200" spc="-10" dirty="0">
                <a:latin typeface="Calibri"/>
                <a:cs typeface="Calibri"/>
              </a:rPr>
              <a:t>information  for </a:t>
            </a:r>
            <a:r>
              <a:rPr sz="1200" dirty="0">
                <a:latin typeface="Calibri"/>
                <a:cs typeface="Calibri"/>
              </a:rPr>
              <a:t>the </a:t>
            </a:r>
            <a:r>
              <a:rPr sz="1200" spc="-5" dirty="0">
                <a:latin typeface="Calibri"/>
                <a:cs typeface="Calibri"/>
              </a:rPr>
              <a:t>specified </a:t>
            </a:r>
            <a:r>
              <a:rPr sz="1200" spc="-10" dirty="0">
                <a:latin typeface="Calibri"/>
                <a:cs typeface="Calibri"/>
              </a:rPr>
              <a:t>remote</a:t>
            </a:r>
            <a:r>
              <a:rPr sz="1200" spc="5" dirty="0">
                <a:latin typeface="Calibri"/>
                <a:cs typeface="Calibri"/>
              </a:rPr>
              <a:t> </a:t>
            </a:r>
            <a:r>
              <a:rPr sz="1200" spc="-5" dirty="0">
                <a:latin typeface="Calibri"/>
                <a:cs typeface="Calibri"/>
              </a:rPr>
              <a:t>table.</a:t>
            </a:r>
            <a:endParaRPr sz="1200">
              <a:latin typeface="Calibri"/>
              <a:cs typeface="Calibri"/>
            </a:endParaRPr>
          </a:p>
        </p:txBody>
      </p:sp>
      <p:grpSp>
        <p:nvGrpSpPr>
          <p:cNvPr id="31" name="object 31"/>
          <p:cNvGrpSpPr/>
          <p:nvPr/>
        </p:nvGrpSpPr>
        <p:grpSpPr>
          <a:xfrm>
            <a:off x="574420" y="4135246"/>
            <a:ext cx="2569845" cy="972819"/>
            <a:chOff x="574420" y="4135246"/>
            <a:chExt cx="2569845" cy="972819"/>
          </a:xfrm>
        </p:grpSpPr>
        <p:sp>
          <p:nvSpPr>
            <p:cNvPr id="32" name="object 32"/>
            <p:cNvSpPr/>
            <p:nvPr/>
          </p:nvSpPr>
          <p:spPr>
            <a:xfrm>
              <a:off x="587120" y="4147946"/>
              <a:ext cx="2544445" cy="947419"/>
            </a:xfrm>
            <a:custGeom>
              <a:avLst/>
              <a:gdLst/>
              <a:ahLst/>
              <a:cxnLst/>
              <a:rect l="l" t="t" r="r" b="b"/>
              <a:pathLst>
                <a:path w="2544445" h="947420">
                  <a:moveTo>
                    <a:pt x="2434336" y="0"/>
                  </a:moveTo>
                  <a:lnTo>
                    <a:pt x="109994" y="0"/>
                  </a:lnTo>
                  <a:lnTo>
                    <a:pt x="75224" y="8053"/>
                  </a:lnTo>
                  <a:lnTo>
                    <a:pt x="45029" y="30475"/>
                  </a:lnTo>
                  <a:lnTo>
                    <a:pt x="21220" y="64657"/>
                  </a:lnTo>
                  <a:lnTo>
                    <a:pt x="5606" y="107988"/>
                  </a:lnTo>
                  <a:lnTo>
                    <a:pt x="0" y="157860"/>
                  </a:lnTo>
                  <a:lnTo>
                    <a:pt x="0" y="789304"/>
                  </a:lnTo>
                  <a:lnTo>
                    <a:pt x="5606" y="839177"/>
                  </a:lnTo>
                  <a:lnTo>
                    <a:pt x="21220" y="882508"/>
                  </a:lnTo>
                  <a:lnTo>
                    <a:pt x="45029" y="916690"/>
                  </a:lnTo>
                  <a:lnTo>
                    <a:pt x="109994" y="947165"/>
                  </a:lnTo>
                  <a:lnTo>
                    <a:pt x="2434336" y="947165"/>
                  </a:lnTo>
                  <a:lnTo>
                    <a:pt x="2499274" y="916690"/>
                  </a:lnTo>
                  <a:lnTo>
                    <a:pt x="2523087" y="882508"/>
                  </a:lnTo>
                  <a:lnTo>
                    <a:pt x="2538707" y="839177"/>
                  </a:lnTo>
                  <a:lnTo>
                    <a:pt x="2544318" y="789304"/>
                  </a:lnTo>
                  <a:lnTo>
                    <a:pt x="2544318" y="157860"/>
                  </a:lnTo>
                  <a:lnTo>
                    <a:pt x="2538707" y="107988"/>
                  </a:lnTo>
                  <a:lnTo>
                    <a:pt x="2523087" y="64657"/>
                  </a:lnTo>
                  <a:lnTo>
                    <a:pt x="2499274" y="30475"/>
                  </a:lnTo>
                  <a:lnTo>
                    <a:pt x="2434336" y="0"/>
                  </a:lnTo>
                  <a:close/>
                </a:path>
              </a:pathLst>
            </a:custGeom>
            <a:solidFill>
              <a:srgbClr val="6079A8"/>
            </a:solidFill>
          </p:spPr>
          <p:txBody>
            <a:bodyPr wrap="square" lIns="0" tIns="0" rIns="0" bIns="0" rtlCol="0"/>
            <a:lstStyle/>
            <a:p>
              <a:endParaRPr/>
            </a:p>
          </p:txBody>
        </p:sp>
        <p:sp>
          <p:nvSpPr>
            <p:cNvPr id="33" name="object 33"/>
            <p:cNvSpPr/>
            <p:nvPr/>
          </p:nvSpPr>
          <p:spPr>
            <a:xfrm>
              <a:off x="587120" y="4147946"/>
              <a:ext cx="2544445" cy="947419"/>
            </a:xfrm>
            <a:custGeom>
              <a:avLst/>
              <a:gdLst/>
              <a:ahLst/>
              <a:cxnLst/>
              <a:rect l="l" t="t" r="r" b="b"/>
              <a:pathLst>
                <a:path w="2544445" h="947420">
                  <a:moveTo>
                    <a:pt x="0" y="157860"/>
                  </a:moveTo>
                  <a:lnTo>
                    <a:pt x="5606" y="107988"/>
                  </a:lnTo>
                  <a:lnTo>
                    <a:pt x="21220" y="64657"/>
                  </a:lnTo>
                  <a:lnTo>
                    <a:pt x="45029" y="30475"/>
                  </a:lnTo>
                  <a:lnTo>
                    <a:pt x="109994" y="0"/>
                  </a:lnTo>
                  <a:lnTo>
                    <a:pt x="2434336" y="0"/>
                  </a:lnTo>
                  <a:lnTo>
                    <a:pt x="2499274" y="30475"/>
                  </a:lnTo>
                  <a:lnTo>
                    <a:pt x="2523087" y="64657"/>
                  </a:lnTo>
                  <a:lnTo>
                    <a:pt x="2538707" y="107988"/>
                  </a:lnTo>
                  <a:lnTo>
                    <a:pt x="2544318" y="157860"/>
                  </a:lnTo>
                  <a:lnTo>
                    <a:pt x="2544318" y="789304"/>
                  </a:lnTo>
                  <a:lnTo>
                    <a:pt x="2538707" y="839177"/>
                  </a:lnTo>
                  <a:lnTo>
                    <a:pt x="2523087" y="882508"/>
                  </a:lnTo>
                  <a:lnTo>
                    <a:pt x="2499274" y="916690"/>
                  </a:lnTo>
                  <a:lnTo>
                    <a:pt x="2434336" y="947165"/>
                  </a:lnTo>
                  <a:lnTo>
                    <a:pt x="109994" y="947165"/>
                  </a:lnTo>
                  <a:lnTo>
                    <a:pt x="45029" y="916690"/>
                  </a:lnTo>
                  <a:lnTo>
                    <a:pt x="21220" y="882508"/>
                  </a:lnTo>
                  <a:lnTo>
                    <a:pt x="5606" y="839177"/>
                  </a:lnTo>
                  <a:lnTo>
                    <a:pt x="0" y="789304"/>
                  </a:lnTo>
                  <a:lnTo>
                    <a:pt x="0" y="157860"/>
                  </a:lnTo>
                  <a:close/>
                </a:path>
              </a:pathLst>
            </a:custGeom>
            <a:ln w="25146">
              <a:solidFill>
                <a:srgbClr val="FFFFFF"/>
              </a:solidFill>
            </a:ln>
          </p:spPr>
          <p:txBody>
            <a:bodyPr wrap="square" lIns="0" tIns="0" rIns="0" bIns="0" rtlCol="0"/>
            <a:lstStyle/>
            <a:p>
              <a:endParaRPr/>
            </a:p>
          </p:txBody>
        </p:sp>
      </p:grpSp>
      <p:sp>
        <p:nvSpPr>
          <p:cNvPr id="34" name="object 34"/>
          <p:cNvSpPr txBox="1"/>
          <p:nvPr/>
        </p:nvSpPr>
        <p:spPr>
          <a:xfrm>
            <a:off x="716787" y="4357623"/>
            <a:ext cx="2284730" cy="489584"/>
          </a:xfrm>
          <a:prstGeom prst="rect">
            <a:avLst/>
          </a:prstGeom>
        </p:spPr>
        <p:txBody>
          <a:bodyPr vert="horz" wrap="square" lIns="0" tIns="40005" rIns="0" bIns="0" rtlCol="0">
            <a:spAutoFit/>
          </a:bodyPr>
          <a:lstStyle/>
          <a:p>
            <a:pPr marL="650240" marR="5080" indent="-638175">
              <a:lnSpc>
                <a:spcPts val="1730"/>
              </a:lnSpc>
              <a:spcBef>
                <a:spcPts val="315"/>
              </a:spcBef>
            </a:pPr>
            <a:r>
              <a:rPr sz="1600" b="1" dirty="0">
                <a:solidFill>
                  <a:srgbClr val="FFFFFF"/>
                </a:solidFill>
                <a:latin typeface="Calisto MT"/>
                <a:cs typeface="Calisto MT"/>
              </a:rPr>
              <a:t>Distributed </a:t>
            </a:r>
            <a:r>
              <a:rPr sz="1600" b="1" spc="5" dirty="0">
                <a:solidFill>
                  <a:srgbClr val="FFFFFF"/>
                </a:solidFill>
                <a:latin typeface="Calisto MT"/>
                <a:cs typeface="Calisto MT"/>
              </a:rPr>
              <a:t>Query</a:t>
            </a:r>
            <a:r>
              <a:rPr sz="1600" b="1" spc="-95" dirty="0">
                <a:solidFill>
                  <a:srgbClr val="FFFFFF"/>
                </a:solidFill>
                <a:latin typeface="Calisto MT"/>
                <a:cs typeface="Calisto MT"/>
              </a:rPr>
              <a:t> </a:t>
            </a:r>
            <a:r>
              <a:rPr sz="1600" b="1" dirty="0">
                <a:solidFill>
                  <a:srgbClr val="FFFFFF"/>
                </a:solidFill>
                <a:latin typeface="Calisto MT"/>
                <a:cs typeface="Calisto MT"/>
              </a:rPr>
              <a:t>Stored  Procedures</a:t>
            </a:r>
            <a:endParaRPr sz="1600">
              <a:latin typeface="Calisto MT"/>
              <a:cs typeface="Calisto MT"/>
            </a:endParaRPr>
          </a:p>
        </p:txBody>
      </p:sp>
      <p:grpSp>
        <p:nvGrpSpPr>
          <p:cNvPr id="35" name="object 35"/>
          <p:cNvGrpSpPr/>
          <p:nvPr/>
        </p:nvGrpSpPr>
        <p:grpSpPr>
          <a:xfrm>
            <a:off x="3118739" y="5224145"/>
            <a:ext cx="5581650" cy="783590"/>
            <a:chOff x="3118739" y="5224145"/>
            <a:chExt cx="5581650" cy="783590"/>
          </a:xfrm>
        </p:grpSpPr>
        <p:sp>
          <p:nvSpPr>
            <p:cNvPr id="36" name="object 36"/>
            <p:cNvSpPr/>
            <p:nvPr/>
          </p:nvSpPr>
          <p:spPr>
            <a:xfrm>
              <a:off x="3131439" y="5236845"/>
              <a:ext cx="5556250" cy="758190"/>
            </a:xfrm>
            <a:custGeom>
              <a:avLst/>
              <a:gdLst/>
              <a:ahLst/>
              <a:cxnLst/>
              <a:rect l="l" t="t" r="r" b="b"/>
              <a:pathLst>
                <a:path w="5556250" h="758189">
                  <a:moveTo>
                    <a:pt x="5447665" y="0"/>
                  </a:moveTo>
                  <a:lnTo>
                    <a:pt x="0" y="0"/>
                  </a:lnTo>
                  <a:lnTo>
                    <a:pt x="0" y="758189"/>
                  </a:lnTo>
                  <a:lnTo>
                    <a:pt x="5447665" y="758189"/>
                  </a:lnTo>
                  <a:lnTo>
                    <a:pt x="5489733" y="748259"/>
                  </a:lnTo>
                  <a:lnTo>
                    <a:pt x="5524087" y="721177"/>
                  </a:lnTo>
                  <a:lnTo>
                    <a:pt x="5547248" y="681010"/>
                  </a:lnTo>
                  <a:lnTo>
                    <a:pt x="5555742" y="631824"/>
                  </a:lnTo>
                  <a:lnTo>
                    <a:pt x="5555742" y="126364"/>
                  </a:lnTo>
                  <a:lnTo>
                    <a:pt x="5547248" y="77152"/>
                  </a:lnTo>
                  <a:lnTo>
                    <a:pt x="5524087" y="36988"/>
                  </a:lnTo>
                  <a:lnTo>
                    <a:pt x="5489733" y="9921"/>
                  </a:lnTo>
                  <a:lnTo>
                    <a:pt x="5447665" y="0"/>
                  </a:lnTo>
                  <a:close/>
                </a:path>
              </a:pathLst>
            </a:custGeom>
            <a:solidFill>
              <a:srgbClr val="D7D2DF">
                <a:alpha val="90194"/>
              </a:srgbClr>
            </a:solidFill>
          </p:spPr>
          <p:txBody>
            <a:bodyPr wrap="square" lIns="0" tIns="0" rIns="0" bIns="0" rtlCol="0"/>
            <a:lstStyle/>
            <a:p>
              <a:endParaRPr/>
            </a:p>
          </p:txBody>
        </p:sp>
        <p:sp>
          <p:nvSpPr>
            <p:cNvPr id="37" name="object 37"/>
            <p:cNvSpPr/>
            <p:nvPr/>
          </p:nvSpPr>
          <p:spPr>
            <a:xfrm>
              <a:off x="3131439" y="5236845"/>
              <a:ext cx="5556250" cy="758190"/>
            </a:xfrm>
            <a:custGeom>
              <a:avLst/>
              <a:gdLst/>
              <a:ahLst/>
              <a:cxnLst/>
              <a:rect l="l" t="t" r="r" b="b"/>
              <a:pathLst>
                <a:path w="5556250" h="758189">
                  <a:moveTo>
                    <a:pt x="5555742" y="126364"/>
                  </a:moveTo>
                  <a:lnTo>
                    <a:pt x="5555742" y="631824"/>
                  </a:lnTo>
                  <a:lnTo>
                    <a:pt x="5547248" y="681010"/>
                  </a:lnTo>
                  <a:lnTo>
                    <a:pt x="5524087" y="721177"/>
                  </a:lnTo>
                  <a:lnTo>
                    <a:pt x="5489733" y="748259"/>
                  </a:lnTo>
                  <a:lnTo>
                    <a:pt x="5447665" y="758189"/>
                  </a:lnTo>
                  <a:lnTo>
                    <a:pt x="0" y="758189"/>
                  </a:lnTo>
                  <a:lnTo>
                    <a:pt x="0" y="0"/>
                  </a:lnTo>
                  <a:lnTo>
                    <a:pt x="5447665" y="0"/>
                  </a:lnTo>
                  <a:lnTo>
                    <a:pt x="5489733" y="9921"/>
                  </a:lnTo>
                  <a:lnTo>
                    <a:pt x="5524087" y="36988"/>
                  </a:lnTo>
                  <a:lnTo>
                    <a:pt x="5547248" y="77152"/>
                  </a:lnTo>
                  <a:lnTo>
                    <a:pt x="5555742" y="126364"/>
                  </a:lnTo>
                  <a:close/>
                </a:path>
              </a:pathLst>
            </a:custGeom>
            <a:ln w="25146">
              <a:solidFill>
                <a:srgbClr val="D7D2DF"/>
              </a:solidFill>
            </a:ln>
          </p:spPr>
          <p:txBody>
            <a:bodyPr wrap="square" lIns="0" tIns="0" rIns="0" bIns="0" rtlCol="0"/>
            <a:lstStyle/>
            <a:p>
              <a:endParaRPr/>
            </a:p>
          </p:txBody>
        </p:sp>
      </p:grpSp>
      <p:sp>
        <p:nvSpPr>
          <p:cNvPr id="38" name="object 38"/>
          <p:cNvSpPr txBox="1"/>
          <p:nvPr/>
        </p:nvSpPr>
        <p:spPr>
          <a:xfrm>
            <a:off x="3145027" y="5246116"/>
            <a:ext cx="5310505" cy="702945"/>
          </a:xfrm>
          <a:prstGeom prst="rect">
            <a:avLst/>
          </a:prstGeom>
        </p:spPr>
        <p:txBody>
          <a:bodyPr vert="horz" wrap="square" lIns="0" tIns="30480" rIns="0" bIns="0" rtlCol="0">
            <a:spAutoFit/>
          </a:bodyPr>
          <a:lstStyle/>
          <a:p>
            <a:pPr marL="12700" marR="5080">
              <a:lnSpc>
                <a:spcPct val="90100"/>
              </a:lnSpc>
              <a:spcBef>
                <a:spcPts val="240"/>
              </a:spcBef>
            </a:pPr>
            <a:r>
              <a:rPr sz="1200" spc="-5" dirty="0">
                <a:latin typeface="Calibri"/>
                <a:cs typeface="Calibri"/>
              </a:rPr>
              <a:t>Database </a:t>
            </a:r>
            <a:r>
              <a:rPr sz="1200" dirty="0">
                <a:latin typeface="Calibri"/>
                <a:cs typeface="Calibri"/>
              </a:rPr>
              <a:t>Mail and </a:t>
            </a:r>
            <a:r>
              <a:rPr sz="1200" spc="-5" dirty="0">
                <a:latin typeface="Calibri"/>
                <a:cs typeface="Calibri"/>
              </a:rPr>
              <a:t>SQL </a:t>
            </a:r>
            <a:r>
              <a:rPr sz="1200" dirty="0">
                <a:latin typeface="Calibri"/>
                <a:cs typeface="Calibri"/>
              </a:rPr>
              <a:t>Mail </a:t>
            </a:r>
            <a:r>
              <a:rPr sz="1200" spc="-10" dirty="0">
                <a:latin typeface="Calibri"/>
                <a:cs typeface="Calibri"/>
              </a:rPr>
              <a:t>stored procedures are </a:t>
            </a:r>
            <a:r>
              <a:rPr sz="1200" spc="-5" dirty="0">
                <a:latin typeface="Calibri"/>
                <a:cs typeface="Calibri"/>
              </a:rPr>
              <a:t>used </a:t>
            </a:r>
            <a:r>
              <a:rPr sz="1200" spc="-10" dirty="0">
                <a:latin typeface="Calibri"/>
                <a:cs typeface="Calibri"/>
              </a:rPr>
              <a:t>to perform </a:t>
            </a:r>
            <a:r>
              <a:rPr sz="1200" dirty="0">
                <a:latin typeface="Calibri"/>
                <a:cs typeface="Calibri"/>
              </a:rPr>
              <a:t>e-mail </a:t>
            </a:r>
            <a:r>
              <a:rPr sz="1200" spc="-10" dirty="0">
                <a:latin typeface="Calibri"/>
                <a:cs typeface="Calibri"/>
              </a:rPr>
              <a:t>operations  from </a:t>
            </a:r>
            <a:r>
              <a:rPr sz="1200" dirty="0">
                <a:latin typeface="Calibri"/>
                <a:cs typeface="Calibri"/>
              </a:rPr>
              <a:t>within the </a:t>
            </a:r>
            <a:r>
              <a:rPr sz="1200" spc="-5" dirty="0">
                <a:latin typeface="Calibri"/>
                <a:cs typeface="Calibri"/>
              </a:rPr>
              <a:t>SQL </a:t>
            </a:r>
            <a:r>
              <a:rPr sz="1200" spc="-20" dirty="0">
                <a:latin typeface="Calibri"/>
                <a:cs typeface="Calibri"/>
              </a:rPr>
              <a:t>Server. </a:t>
            </a:r>
            <a:r>
              <a:rPr sz="1200" spc="-10" dirty="0">
                <a:latin typeface="Calibri"/>
                <a:cs typeface="Calibri"/>
              </a:rPr>
              <a:t>For example, </a:t>
            </a:r>
            <a:r>
              <a:rPr sz="1200" dirty="0">
                <a:latin typeface="Calibri"/>
                <a:cs typeface="Calibri"/>
              </a:rPr>
              <a:t>the </a:t>
            </a:r>
            <a:r>
              <a:rPr sz="1200" spc="-5" dirty="0">
                <a:latin typeface="Calibri"/>
                <a:cs typeface="Calibri"/>
              </a:rPr>
              <a:t>sp_send_dbmail database </a:t>
            </a:r>
            <a:r>
              <a:rPr sz="1200" dirty="0">
                <a:latin typeface="Calibri"/>
                <a:cs typeface="Calibri"/>
              </a:rPr>
              <a:t>mail </a:t>
            </a:r>
            <a:r>
              <a:rPr sz="1200" spc="-10" dirty="0">
                <a:latin typeface="Calibri"/>
                <a:cs typeface="Calibri"/>
              </a:rPr>
              <a:t>stored  procedure </a:t>
            </a:r>
            <a:r>
              <a:rPr sz="1200" spc="-5" dirty="0">
                <a:latin typeface="Calibri"/>
                <a:cs typeface="Calibri"/>
              </a:rPr>
              <a:t>sends </a:t>
            </a:r>
            <a:r>
              <a:rPr sz="1200" dirty="0">
                <a:latin typeface="Calibri"/>
                <a:cs typeface="Calibri"/>
              </a:rPr>
              <a:t>e-mail </a:t>
            </a:r>
            <a:r>
              <a:rPr sz="1200" spc="-5" dirty="0">
                <a:latin typeface="Calibri"/>
                <a:cs typeface="Calibri"/>
              </a:rPr>
              <a:t>messages </a:t>
            </a:r>
            <a:r>
              <a:rPr sz="1200" spc="-10" dirty="0">
                <a:latin typeface="Calibri"/>
                <a:cs typeface="Calibri"/>
              </a:rPr>
              <a:t>to </a:t>
            </a:r>
            <a:r>
              <a:rPr sz="1200" spc="-5" dirty="0">
                <a:latin typeface="Calibri"/>
                <a:cs typeface="Calibri"/>
              </a:rPr>
              <a:t>specified recipients. The message </a:t>
            </a:r>
            <a:r>
              <a:rPr sz="1200" spc="-10" dirty="0">
                <a:latin typeface="Calibri"/>
                <a:cs typeface="Calibri"/>
              </a:rPr>
              <a:t>may </a:t>
            </a:r>
            <a:r>
              <a:rPr sz="1200" spc="-5" dirty="0">
                <a:latin typeface="Calibri"/>
                <a:cs typeface="Calibri"/>
              </a:rPr>
              <a:t>include </a:t>
            </a:r>
            <a:r>
              <a:rPr sz="1200" dirty="0">
                <a:latin typeface="Calibri"/>
                <a:cs typeface="Calibri"/>
              </a:rPr>
              <a:t>a  </a:t>
            </a:r>
            <a:r>
              <a:rPr sz="1200" spc="-5" dirty="0">
                <a:latin typeface="Calibri"/>
                <a:cs typeface="Calibri"/>
              </a:rPr>
              <a:t>query resultset or file attachments or</a:t>
            </a:r>
            <a:r>
              <a:rPr sz="1200" spc="5" dirty="0">
                <a:latin typeface="Calibri"/>
                <a:cs typeface="Calibri"/>
              </a:rPr>
              <a:t> </a:t>
            </a:r>
            <a:r>
              <a:rPr sz="1200" spc="-5" dirty="0">
                <a:latin typeface="Calibri"/>
                <a:cs typeface="Calibri"/>
              </a:rPr>
              <a:t>both.</a:t>
            </a:r>
            <a:endParaRPr sz="1200">
              <a:latin typeface="Calibri"/>
              <a:cs typeface="Calibri"/>
            </a:endParaRPr>
          </a:p>
        </p:txBody>
      </p:sp>
      <p:grpSp>
        <p:nvGrpSpPr>
          <p:cNvPr id="39" name="object 39"/>
          <p:cNvGrpSpPr/>
          <p:nvPr/>
        </p:nvGrpSpPr>
        <p:grpSpPr>
          <a:xfrm>
            <a:off x="574548" y="5129784"/>
            <a:ext cx="2569845" cy="972819"/>
            <a:chOff x="574548" y="5129784"/>
            <a:chExt cx="2569845" cy="972819"/>
          </a:xfrm>
        </p:grpSpPr>
        <p:sp>
          <p:nvSpPr>
            <p:cNvPr id="40" name="object 40"/>
            <p:cNvSpPr/>
            <p:nvPr/>
          </p:nvSpPr>
          <p:spPr>
            <a:xfrm>
              <a:off x="587121" y="5142357"/>
              <a:ext cx="2544445" cy="947419"/>
            </a:xfrm>
            <a:custGeom>
              <a:avLst/>
              <a:gdLst/>
              <a:ahLst/>
              <a:cxnLst/>
              <a:rect l="l" t="t" r="r" b="b"/>
              <a:pathLst>
                <a:path w="2544445" h="947420">
                  <a:moveTo>
                    <a:pt x="2434336" y="0"/>
                  </a:moveTo>
                  <a:lnTo>
                    <a:pt x="109994" y="0"/>
                  </a:lnTo>
                  <a:lnTo>
                    <a:pt x="75224" y="8053"/>
                  </a:lnTo>
                  <a:lnTo>
                    <a:pt x="45029" y="30475"/>
                  </a:lnTo>
                  <a:lnTo>
                    <a:pt x="21220" y="64657"/>
                  </a:lnTo>
                  <a:lnTo>
                    <a:pt x="5606" y="107988"/>
                  </a:lnTo>
                  <a:lnTo>
                    <a:pt x="0" y="157861"/>
                  </a:lnTo>
                  <a:lnTo>
                    <a:pt x="0" y="789305"/>
                  </a:lnTo>
                  <a:lnTo>
                    <a:pt x="5606" y="839201"/>
                  </a:lnTo>
                  <a:lnTo>
                    <a:pt x="21220" y="882536"/>
                  </a:lnTo>
                  <a:lnTo>
                    <a:pt x="45029" y="916708"/>
                  </a:lnTo>
                  <a:lnTo>
                    <a:pt x="109994" y="947166"/>
                  </a:lnTo>
                  <a:lnTo>
                    <a:pt x="2434336" y="947166"/>
                  </a:lnTo>
                  <a:lnTo>
                    <a:pt x="2499274" y="916708"/>
                  </a:lnTo>
                  <a:lnTo>
                    <a:pt x="2523087" y="882536"/>
                  </a:lnTo>
                  <a:lnTo>
                    <a:pt x="2538707" y="839201"/>
                  </a:lnTo>
                  <a:lnTo>
                    <a:pt x="2544318" y="789305"/>
                  </a:lnTo>
                  <a:lnTo>
                    <a:pt x="2544318" y="157861"/>
                  </a:lnTo>
                  <a:lnTo>
                    <a:pt x="2538707" y="107988"/>
                  </a:lnTo>
                  <a:lnTo>
                    <a:pt x="2523087" y="64657"/>
                  </a:lnTo>
                  <a:lnTo>
                    <a:pt x="2499274" y="30475"/>
                  </a:lnTo>
                  <a:lnTo>
                    <a:pt x="2434336" y="0"/>
                  </a:lnTo>
                  <a:close/>
                </a:path>
              </a:pathLst>
            </a:custGeom>
            <a:solidFill>
              <a:srgbClr val="8063A1"/>
            </a:solidFill>
          </p:spPr>
          <p:txBody>
            <a:bodyPr wrap="square" lIns="0" tIns="0" rIns="0" bIns="0" rtlCol="0"/>
            <a:lstStyle/>
            <a:p>
              <a:endParaRPr/>
            </a:p>
          </p:txBody>
        </p:sp>
        <p:sp>
          <p:nvSpPr>
            <p:cNvPr id="41" name="object 41"/>
            <p:cNvSpPr/>
            <p:nvPr/>
          </p:nvSpPr>
          <p:spPr>
            <a:xfrm>
              <a:off x="587121" y="5142357"/>
              <a:ext cx="2544445" cy="947419"/>
            </a:xfrm>
            <a:custGeom>
              <a:avLst/>
              <a:gdLst/>
              <a:ahLst/>
              <a:cxnLst/>
              <a:rect l="l" t="t" r="r" b="b"/>
              <a:pathLst>
                <a:path w="2544445" h="947420">
                  <a:moveTo>
                    <a:pt x="0" y="157861"/>
                  </a:moveTo>
                  <a:lnTo>
                    <a:pt x="5606" y="107988"/>
                  </a:lnTo>
                  <a:lnTo>
                    <a:pt x="21220" y="64657"/>
                  </a:lnTo>
                  <a:lnTo>
                    <a:pt x="45029" y="30475"/>
                  </a:lnTo>
                  <a:lnTo>
                    <a:pt x="109994" y="0"/>
                  </a:lnTo>
                  <a:lnTo>
                    <a:pt x="2434336" y="0"/>
                  </a:lnTo>
                  <a:lnTo>
                    <a:pt x="2499274" y="30475"/>
                  </a:lnTo>
                  <a:lnTo>
                    <a:pt x="2523087" y="64657"/>
                  </a:lnTo>
                  <a:lnTo>
                    <a:pt x="2538707" y="107988"/>
                  </a:lnTo>
                  <a:lnTo>
                    <a:pt x="2544318" y="157861"/>
                  </a:lnTo>
                  <a:lnTo>
                    <a:pt x="2544318" y="789305"/>
                  </a:lnTo>
                  <a:lnTo>
                    <a:pt x="2538707" y="839201"/>
                  </a:lnTo>
                  <a:lnTo>
                    <a:pt x="2523087" y="882536"/>
                  </a:lnTo>
                  <a:lnTo>
                    <a:pt x="2499274" y="916708"/>
                  </a:lnTo>
                  <a:lnTo>
                    <a:pt x="2434336" y="947166"/>
                  </a:lnTo>
                  <a:lnTo>
                    <a:pt x="109994" y="947166"/>
                  </a:lnTo>
                  <a:lnTo>
                    <a:pt x="45029" y="916708"/>
                  </a:lnTo>
                  <a:lnTo>
                    <a:pt x="21220" y="882536"/>
                  </a:lnTo>
                  <a:lnTo>
                    <a:pt x="5606" y="839201"/>
                  </a:lnTo>
                  <a:lnTo>
                    <a:pt x="0" y="789305"/>
                  </a:lnTo>
                  <a:lnTo>
                    <a:pt x="0" y="157861"/>
                  </a:lnTo>
                  <a:close/>
                </a:path>
              </a:pathLst>
            </a:custGeom>
            <a:ln w="25146">
              <a:solidFill>
                <a:srgbClr val="FFFFFF"/>
              </a:solidFill>
            </a:ln>
          </p:spPr>
          <p:txBody>
            <a:bodyPr wrap="square" lIns="0" tIns="0" rIns="0" bIns="0" rtlCol="0"/>
            <a:lstStyle/>
            <a:p>
              <a:endParaRPr/>
            </a:p>
          </p:txBody>
        </p:sp>
      </p:grpSp>
      <p:sp>
        <p:nvSpPr>
          <p:cNvPr id="42" name="object 42"/>
          <p:cNvSpPr txBox="1"/>
          <p:nvPr/>
        </p:nvSpPr>
        <p:spPr>
          <a:xfrm>
            <a:off x="772413" y="5352034"/>
            <a:ext cx="2172335" cy="489584"/>
          </a:xfrm>
          <a:prstGeom prst="rect">
            <a:avLst/>
          </a:prstGeom>
        </p:spPr>
        <p:txBody>
          <a:bodyPr vert="horz" wrap="square" lIns="0" tIns="40005" rIns="0" bIns="0" rtlCol="0">
            <a:spAutoFit/>
          </a:bodyPr>
          <a:lstStyle/>
          <a:p>
            <a:pPr marL="40640" marR="5080" indent="-28575">
              <a:lnSpc>
                <a:spcPts val="1730"/>
              </a:lnSpc>
              <a:spcBef>
                <a:spcPts val="315"/>
              </a:spcBef>
            </a:pPr>
            <a:r>
              <a:rPr sz="1600" b="1" spc="-5" dirty="0">
                <a:solidFill>
                  <a:srgbClr val="FFFFFF"/>
                </a:solidFill>
                <a:latin typeface="Calisto MT"/>
                <a:cs typeface="Calisto MT"/>
              </a:rPr>
              <a:t>Database </a:t>
            </a:r>
            <a:r>
              <a:rPr sz="1600" b="1" dirty="0">
                <a:solidFill>
                  <a:srgbClr val="FFFFFF"/>
                </a:solidFill>
                <a:latin typeface="Calisto MT"/>
                <a:cs typeface="Calisto MT"/>
              </a:rPr>
              <a:t>Mail and</a:t>
            </a:r>
            <a:r>
              <a:rPr sz="1600" b="1" spc="-65" dirty="0">
                <a:solidFill>
                  <a:srgbClr val="FFFFFF"/>
                </a:solidFill>
                <a:latin typeface="Calisto MT"/>
                <a:cs typeface="Calisto MT"/>
              </a:rPr>
              <a:t> </a:t>
            </a:r>
            <a:r>
              <a:rPr sz="1600" b="1" spc="-5" dirty="0">
                <a:solidFill>
                  <a:srgbClr val="FFFFFF"/>
                </a:solidFill>
                <a:latin typeface="Calisto MT"/>
                <a:cs typeface="Calisto MT"/>
              </a:rPr>
              <a:t>SQL  </a:t>
            </a:r>
            <a:r>
              <a:rPr sz="1600" b="1" dirty="0">
                <a:solidFill>
                  <a:srgbClr val="FFFFFF"/>
                </a:solidFill>
                <a:latin typeface="Calisto MT"/>
                <a:cs typeface="Calisto MT"/>
              </a:rPr>
              <a:t>Mail </a:t>
            </a:r>
            <a:r>
              <a:rPr sz="1600" b="1" spc="-5" dirty="0">
                <a:solidFill>
                  <a:srgbClr val="FFFFFF"/>
                </a:solidFill>
                <a:latin typeface="Calisto MT"/>
                <a:cs typeface="Calisto MT"/>
              </a:rPr>
              <a:t>Stored</a:t>
            </a:r>
            <a:r>
              <a:rPr sz="1600" b="1" spc="-70" dirty="0">
                <a:solidFill>
                  <a:srgbClr val="FFFFFF"/>
                </a:solidFill>
                <a:latin typeface="Calisto MT"/>
                <a:cs typeface="Calisto MT"/>
              </a:rPr>
              <a:t> </a:t>
            </a:r>
            <a:r>
              <a:rPr sz="1600" b="1" dirty="0">
                <a:solidFill>
                  <a:srgbClr val="FFFFFF"/>
                </a:solidFill>
                <a:latin typeface="Calisto MT"/>
                <a:cs typeface="Calisto MT"/>
              </a:rPr>
              <a:t>Procedures</a:t>
            </a:r>
            <a:endParaRPr sz="1600">
              <a:latin typeface="Calisto MT"/>
              <a:cs typeface="Calisto MT"/>
            </a:endParaRPr>
          </a:p>
        </p:txBody>
      </p:sp>
      <p:sp>
        <p:nvSpPr>
          <p:cNvPr id="44" name="object 44"/>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31</a:t>
            </a:fld>
            <a:endParaRPr sz="1200"/>
          </a:p>
        </p:txBody>
      </p:sp>
      <p:sp>
        <p:nvSpPr>
          <p:cNvPr id="45" name="object 45"/>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923280" cy="574040"/>
          </a:xfrm>
          <a:prstGeom prst="rect">
            <a:avLst/>
          </a:prstGeom>
        </p:spPr>
        <p:txBody>
          <a:bodyPr vert="horz" wrap="square" lIns="0" tIns="12700" rIns="0" bIns="0" rtlCol="0">
            <a:spAutoFit/>
          </a:bodyPr>
          <a:lstStyle/>
          <a:p>
            <a:pPr marL="12700">
              <a:lnSpc>
                <a:spcPct val="100000"/>
              </a:lnSpc>
              <a:spcBef>
                <a:spcPts val="100"/>
              </a:spcBef>
            </a:pPr>
            <a:r>
              <a:rPr b="0" spc="-15" dirty="0">
                <a:latin typeface="Arial"/>
                <a:cs typeface="Arial"/>
              </a:rPr>
              <a:t>Temporary </a:t>
            </a:r>
            <a:r>
              <a:rPr b="0" spc="-35" dirty="0">
                <a:latin typeface="Arial"/>
                <a:cs typeface="Arial"/>
              </a:rPr>
              <a:t>Stored</a:t>
            </a:r>
            <a:r>
              <a:rPr b="0" spc="-475" dirty="0">
                <a:latin typeface="Arial"/>
                <a:cs typeface="Arial"/>
              </a:rPr>
              <a:t> </a:t>
            </a:r>
            <a:r>
              <a:rPr b="0" spc="-125" dirty="0">
                <a:latin typeface="Arial"/>
                <a:cs typeface="Arial"/>
              </a:rPr>
              <a:t>Procedures</a:t>
            </a: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32</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graphicFrame>
        <p:nvGraphicFramePr>
          <p:cNvPr id="3" name="object 3"/>
          <p:cNvGraphicFramePr>
            <a:graphicFrameLocks noGrp="1"/>
          </p:cNvGraphicFramePr>
          <p:nvPr>
            <p:extLst>
              <p:ext uri="{D42A27DB-BD31-4B8C-83A1-F6EECF244321}">
                <p14:modId xmlns:p14="http://schemas.microsoft.com/office/powerpoint/2010/main" val="1762273304"/>
              </p:ext>
            </p:extLst>
          </p:nvPr>
        </p:nvGraphicFramePr>
        <p:xfrm>
          <a:off x="504393" y="1984057"/>
          <a:ext cx="8176258" cy="2292411"/>
        </p:xfrm>
        <a:graphic>
          <a:graphicData uri="http://schemas.openxmlformats.org/drawingml/2006/table">
            <a:tbl>
              <a:tblPr firstRow="1" bandRow="1">
                <a:tableStyleId>{2D5ABB26-0587-4C30-8999-92F81FD0307C}</a:tableStyleId>
              </a:tblPr>
              <a:tblGrid>
                <a:gridCol w="4069079">
                  <a:extLst>
                    <a:ext uri="{9D8B030D-6E8A-4147-A177-3AD203B41FA5}">
                      <a16:colId xmlns:a16="http://schemas.microsoft.com/office/drawing/2014/main" val="20000"/>
                    </a:ext>
                  </a:extLst>
                </a:gridCol>
                <a:gridCol w="4107179">
                  <a:extLst>
                    <a:ext uri="{9D8B030D-6E8A-4147-A177-3AD203B41FA5}">
                      <a16:colId xmlns:a16="http://schemas.microsoft.com/office/drawing/2014/main" val="20001"/>
                    </a:ext>
                  </a:extLst>
                </a:gridCol>
              </a:tblGrid>
              <a:tr h="412178">
                <a:tc gridSpan="2">
                  <a:txBody>
                    <a:bodyPr/>
                    <a:lstStyle/>
                    <a:p>
                      <a:pPr marL="610870">
                        <a:lnSpc>
                          <a:spcPts val="2310"/>
                        </a:lnSpc>
                        <a:tabLst>
                          <a:tab pos="4629785" algn="l"/>
                        </a:tabLst>
                      </a:pPr>
                      <a:r>
                        <a:rPr sz="2000" spc="-5" dirty="0">
                          <a:solidFill>
                            <a:srgbClr val="FFFFFF"/>
                          </a:solidFill>
                          <a:latin typeface="Calibri"/>
                          <a:cs typeface="Calibri"/>
                        </a:rPr>
                        <a:t>Local</a:t>
                      </a:r>
                      <a:r>
                        <a:rPr sz="2000" spc="5" dirty="0">
                          <a:solidFill>
                            <a:srgbClr val="FFFFFF"/>
                          </a:solidFill>
                          <a:latin typeface="Calibri"/>
                          <a:cs typeface="Calibri"/>
                        </a:rPr>
                        <a:t> </a:t>
                      </a:r>
                      <a:r>
                        <a:rPr sz="2000" spc="-5" dirty="0">
                          <a:solidFill>
                            <a:srgbClr val="FFFFFF"/>
                          </a:solidFill>
                          <a:latin typeface="Calibri"/>
                          <a:cs typeface="Calibri"/>
                        </a:rPr>
                        <a:t>Temporary</a:t>
                      </a:r>
                      <a:r>
                        <a:rPr sz="2000" spc="10" dirty="0">
                          <a:solidFill>
                            <a:srgbClr val="FFFFFF"/>
                          </a:solidFill>
                          <a:latin typeface="Calibri"/>
                          <a:cs typeface="Calibri"/>
                        </a:rPr>
                        <a:t> </a:t>
                      </a:r>
                      <a:r>
                        <a:rPr sz="2000" spc="-5" dirty="0">
                          <a:solidFill>
                            <a:srgbClr val="FFFFFF"/>
                          </a:solidFill>
                          <a:latin typeface="Calibri"/>
                          <a:cs typeface="Calibri"/>
                        </a:rPr>
                        <a:t>Procedure	Global </a:t>
                      </a:r>
                      <a:r>
                        <a:rPr sz="2000" spc="-10" dirty="0">
                          <a:solidFill>
                            <a:srgbClr val="FFFFFF"/>
                          </a:solidFill>
                          <a:latin typeface="Calibri"/>
                          <a:cs typeface="Calibri"/>
                        </a:rPr>
                        <a:t>Temporary</a:t>
                      </a:r>
                      <a:r>
                        <a:rPr sz="2000" spc="20" dirty="0">
                          <a:solidFill>
                            <a:srgbClr val="FFFFFF"/>
                          </a:solidFill>
                          <a:latin typeface="Calibri"/>
                          <a:cs typeface="Calibri"/>
                        </a:rPr>
                        <a:t> </a:t>
                      </a:r>
                      <a:r>
                        <a:rPr sz="2000" spc="-5" dirty="0">
                          <a:solidFill>
                            <a:srgbClr val="FFFFFF"/>
                          </a:solidFill>
                          <a:latin typeface="Calibri"/>
                          <a:cs typeface="Calibri"/>
                        </a:rPr>
                        <a:t>Procedure</a:t>
                      </a:r>
                      <a:endParaRPr sz="2000">
                        <a:latin typeface="Calibri"/>
                        <a:cs typeface="Calibri"/>
                      </a:endParaRPr>
                    </a:p>
                  </a:txBody>
                  <a:tcPr marL="0" marR="0" marT="0" marB="0">
                    <a:lnB w="12700">
                      <a:solidFill>
                        <a:srgbClr val="000000"/>
                      </a:solidFill>
                      <a:prstDash val="solid"/>
                    </a:lnB>
                    <a:solidFill>
                      <a:srgbClr val="8063A1"/>
                    </a:solidFill>
                  </a:tcPr>
                </a:tc>
                <a:tc hMerge="1">
                  <a:txBody>
                    <a:bodyPr/>
                    <a:lstStyle/>
                    <a:p>
                      <a:endParaRPr/>
                    </a:p>
                  </a:txBody>
                  <a:tcPr marL="0" marR="0" marT="0" marB="0"/>
                </a:tc>
                <a:extLst>
                  <a:ext uri="{0D108BD9-81ED-4DB2-BD59-A6C34878D82A}">
                    <a16:rowId xmlns:a16="http://schemas.microsoft.com/office/drawing/2014/main" val="10000"/>
                  </a:ext>
                </a:extLst>
              </a:tr>
              <a:tr h="402336">
                <a:tc>
                  <a:txBody>
                    <a:bodyPr/>
                    <a:lstStyle/>
                    <a:p>
                      <a:pPr>
                        <a:lnSpc>
                          <a:spcPts val="1820"/>
                        </a:lnSpc>
                      </a:pPr>
                      <a:r>
                        <a:rPr sz="1600" spc="-5" dirty="0">
                          <a:latin typeface="Calibri"/>
                          <a:cs typeface="Calibri"/>
                        </a:rPr>
                        <a:t>Visible only </a:t>
                      </a:r>
                      <a:r>
                        <a:rPr sz="1600" dirty="0">
                          <a:latin typeface="Calibri"/>
                          <a:cs typeface="Calibri"/>
                        </a:rPr>
                        <a:t>to the </a:t>
                      </a:r>
                      <a:r>
                        <a:rPr sz="1600" spc="-5" dirty="0">
                          <a:latin typeface="Calibri"/>
                          <a:cs typeface="Calibri"/>
                        </a:rPr>
                        <a:t>user </a:t>
                      </a:r>
                      <a:r>
                        <a:rPr sz="1600" dirty="0">
                          <a:latin typeface="Calibri"/>
                          <a:cs typeface="Calibri"/>
                        </a:rPr>
                        <a:t>that created</a:t>
                      </a:r>
                      <a:r>
                        <a:rPr sz="1600" spc="-20" dirty="0">
                          <a:latin typeface="Calibri"/>
                          <a:cs typeface="Calibri"/>
                        </a:rPr>
                        <a:t> </a:t>
                      </a:r>
                      <a:r>
                        <a:rPr sz="1600" dirty="0">
                          <a:latin typeface="Calibri"/>
                          <a:cs typeface="Calibri"/>
                        </a:rPr>
                        <a:t>it</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ts val="1820"/>
                        </a:lnSpc>
                      </a:pPr>
                      <a:r>
                        <a:rPr sz="1600" spc="-5" dirty="0">
                          <a:latin typeface="Calibri"/>
                          <a:cs typeface="Calibri"/>
                        </a:rPr>
                        <a:t>Visible </a:t>
                      </a:r>
                      <a:r>
                        <a:rPr sz="1600" dirty="0">
                          <a:latin typeface="Calibri"/>
                          <a:cs typeface="Calibri"/>
                        </a:rPr>
                        <a:t>to all</a:t>
                      </a:r>
                      <a:r>
                        <a:rPr sz="1600" spc="-15" dirty="0">
                          <a:latin typeface="Calibri"/>
                          <a:cs typeface="Calibri"/>
                        </a:rPr>
                        <a:t> </a:t>
                      </a:r>
                      <a:r>
                        <a:rPr sz="1600" spc="-5" dirty="0">
                          <a:latin typeface="Calibri"/>
                          <a:cs typeface="Calibri"/>
                        </a:rPr>
                        <a:t>users</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87985">
                <a:tc>
                  <a:txBody>
                    <a:bodyPr/>
                    <a:lstStyle/>
                    <a:p>
                      <a:pPr>
                        <a:lnSpc>
                          <a:spcPts val="1820"/>
                        </a:lnSpc>
                      </a:pPr>
                      <a:r>
                        <a:rPr sz="1600" spc="-5" dirty="0">
                          <a:latin typeface="Calibri"/>
                          <a:cs typeface="Calibri"/>
                        </a:rPr>
                        <a:t>Dropped </a:t>
                      </a:r>
                      <a:r>
                        <a:rPr sz="1600" dirty="0">
                          <a:latin typeface="Calibri"/>
                          <a:cs typeface="Calibri"/>
                        </a:rPr>
                        <a:t>at </a:t>
                      </a:r>
                      <a:r>
                        <a:rPr sz="1600" spc="-5" dirty="0">
                          <a:latin typeface="Calibri"/>
                          <a:cs typeface="Calibri"/>
                        </a:rPr>
                        <a:t>the </a:t>
                      </a:r>
                      <a:r>
                        <a:rPr sz="1600" dirty="0">
                          <a:latin typeface="Calibri"/>
                          <a:cs typeface="Calibri"/>
                        </a:rPr>
                        <a:t>end </a:t>
                      </a:r>
                      <a:r>
                        <a:rPr sz="1600" spc="-5" dirty="0">
                          <a:latin typeface="Calibri"/>
                          <a:cs typeface="Calibri"/>
                        </a:rPr>
                        <a:t>of </a:t>
                      </a:r>
                      <a:r>
                        <a:rPr sz="1600" dirty="0">
                          <a:latin typeface="Calibri"/>
                          <a:cs typeface="Calibri"/>
                        </a:rPr>
                        <a:t>the current</a:t>
                      </a:r>
                      <a:r>
                        <a:rPr sz="1600" spc="-25" dirty="0">
                          <a:latin typeface="Calibri"/>
                          <a:cs typeface="Calibri"/>
                        </a:rPr>
                        <a:t> </a:t>
                      </a:r>
                      <a:r>
                        <a:rPr sz="1600" spc="-5" dirty="0">
                          <a:latin typeface="Calibri"/>
                          <a:cs typeface="Calibri"/>
                        </a:rPr>
                        <a:t>session</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ts val="1820"/>
                        </a:lnSpc>
                      </a:pPr>
                      <a:r>
                        <a:rPr sz="1600" spc="-5" dirty="0">
                          <a:latin typeface="Calibri"/>
                          <a:cs typeface="Calibri"/>
                        </a:rPr>
                        <a:t>Dropped </a:t>
                      </a:r>
                      <a:r>
                        <a:rPr sz="1600" dirty="0">
                          <a:latin typeface="Calibri"/>
                          <a:cs typeface="Calibri"/>
                        </a:rPr>
                        <a:t>at </a:t>
                      </a:r>
                      <a:r>
                        <a:rPr sz="1600" spc="-5" dirty="0">
                          <a:latin typeface="Calibri"/>
                          <a:cs typeface="Calibri"/>
                        </a:rPr>
                        <a:t>the </a:t>
                      </a:r>
                      <a:r>
                        <a:rPr sz="1600" dirty="0">
                          <a:latin typeface="Calibri"/>
                          <a:cs typeface="Calibri"/>
                        </a:rPr>
                        <a:t>end </a:t>
                      </a:r>
                      <a:r>
                        <a:rPr sz="1600" spc="-5" dirty="0">
                          <a:latin typeface="Calibri"/>
                          <a:cs typeface="Calibri"/>
                        </a:rPr>
                        <a:t>of </a:t>
                      </a:r>
                      <a:r>
                        <a:rPr sz="1600" dirty="0">
                          <a:latin typeface="Calibri"/>
                          <a:cs typeface="Calibri"/>
                        </a:rPr>
                        <a:t>the last</a:t>
                      </a:r>
                      <a:r>
                        <a:rPr sz="1600" spc="-20" dirty="0">
                          <a:latin typeface="Calibri"/>
                          <a:cs typeface="Calibri"/>
                        </a:rPr>
                        <a:t> </a:t>
                      </a:r>
                      <a:r>
                        <a:rPr sz="1600" spc="-5" dirty="0">
                          <a:latin typeface="Calibri"/>
                          <a:cs typeface="Calibri"/>
                        </a:rPr>
                        <a:t>session</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66648">
                <a:tc>
                  <a:txBody>
                    <a:bodyPr/>
                    <a:lstStyle/>
                    <a:p>
                      <a:pPr>
                        <a:lnSpc>
                          <a:spcPts val="1825"/>
                        </a:lnSpc>
                      </a:pPr>
                      <a:r>
                        <a:rPr sz="1600" spc="-5" dirty="0">
                          <a:latin typeface="Calibri"/>
                          <a:cs typeface="Calibri"/>
                        </a:rPr>
                        <a:t>Local Temporary</a:t>
                      </a:r>
                      <a:r>
                        <a:rPr sz="1600" spc="-10" dirty="0">
                          <a:latin typeface="Calibri"/>
                          <a:cs typeface="Calibri"/>
                        </a:rPr>
                        <a:t> </a:t>
                      </a:r>
                      <a:r>
                        <a:rPr sz="1600" dirty="0">
                          <a:latin typeface="Calibri"/>
                          <a:cs typeface="Calibri"/>
                        </a:rPr>
                        <a:t>Procedure</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ts val="1825"/>
                        </a:lnSpc>
                      </a:pPr>
                      <a:r>
                        <a:rPr sz="1600" spc="-5" dirty="0">
                          <a:latin typeface="Calibri"/>
                          <a:cs typeface="Calibri"/>
                        </a:rPr>
                        <a:t>Global Temporary</a:t>
                      </a:r>
                      <a:r>
                        <a:rPr sz="1600" spc="-20" dirty="0">
                          <a:latin typeface="Calibri"/>
                          <a:cs typeface="Calibri"/>
                        </a:rPr>
                        <a:t> </a:t>
                      </a:r>
                      <a:r>
                        <a:rPr sz="1600" dirty="0">
                          <a:latin typeface="Calibri"/>
                          <a:cs typeface="Calibri"/>
                        </a:rPr>
                        <a:t>Procedure</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66649">
                <a:tc>
                  <a:txBody>
                    <a:bodyPr/>
                    <a:lstStyle/>
                    <a:p>
                      <a:pPr>
                        <a:lnSpc>
                          <a:spcPts val="1820"/>
                        </a:lnSpc>
                      </a:pPr>
                      <a:r>
                        <a:rPr sz="1600" spc="-5" dirty="0">
                          <a:latin typeface="Calibri"/>
                          <a:cs typeface="Calibri"/>
                        </a:rPr>
                        <a:t>Can only be used by its</a:t>
                      </a:r>
                      <a:r>
                        <a:rPr sz="1600" spc="-30" dirty="0">
                          <a:latin typeface="Calibri"/>
                          <a:cs typeface="Calibri"/>
                        </a:rPr>
                        <a:t> </a:t>
                      </a:r>
                      <a:r>
                        <a:rPr sz="1600" dirty="0">
                          <a:latin typeface="Calibri"/>
                          <a:cs typeface="Calibri"/>
                        </a:rPr>
                        <a:t>owner</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ts val="1820"/>
                        </a:lnSpc>
                      </a:pPr>
                      <a:r>
                        <a:rPr sz="1600" spc="-5" dirty="0">
                          <a:latin typeface="Calibri"/>
                          <a:cs typeface="Calibri"/>
                        </a:rPr>
                        <a:t>Can be used by </a:t>
                      </a:r>
                      <a:r>
                        <a:rPr sz="1600" dirty="0">
                          <a:latin typeface="Calibri"/>
                          <a:cs typeface="Calibri"/>
                        </a:rPr>
                        <a:t>any</a:t>
                      </a:r>
                      <a:r>
                        <a:rPr sz="1600" spc="-25" dirty="0">
                          <a:latin typeface="Calibri"/>
                          <a:cs typeface="Calibri"/>
                        </a:rPr>
                        <a:t> </a:t>
                      </a:r>
                      <a:r>
                        <a:rPr sz="1600" spc="-5" dirty="0">
                          <a:latin typeface="Calibri"/>
                          <a:cs typeface="Calibri"/>
                        </a:rPr>
                        <a:t>user</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56615">
                <a:tc>
                  <a:txBody>
                    <a:bodyPr/>
                    <a:lstStyle/>
                    <a:p>
                      <a:pPr>
                        <a:lnSpc>
                          <a:spcPts val="1825"/>
                        </a:lnSpc>
                      </a:pPr>
                      <a:r>
                        <a:rPr sz="1600" spc="-5" dirty="0">
                          <a:latin typeface="Calibri"/>
                          <a:cs typeface="Calibri"/>
                        </a:rPr>
                        <a:t>Uses </a:t>
                      </a:r>
                      <a:r>
                        <a:rPr sz="1600" dirty="0">
                          <a:latin typeface="Calibri"/>
                          <a:cs typeface="Calibri"/>
                        </a:rPr>
                        <a:t>the # </a:t>
                      </a:r>
                      <a:r>
                        <a:rPr sz="1600" spc="-5" dirty="0">
                          <a:latin typeface="Calibri"/>
                          <a:cs typeface="Calibri"/>
                        </a:rPr>
                        <a:t>prefix before </a:t>
                      </a:r>
                      <a:r>
                        <a:rPr sz="1600" dirty="0">
                          <a:latin typeface="Calibri"/>
                          <a:cs typeface="Calibri"/>
                        </a:rPr>
                        <a:t>the </a:t>
                      </a:r>
                      <a:r>
                        <a:rPr sz="1600" spc="-5" dirty="0">
                          <a:latin typeface="Calibri"/>
                          <a:cs typeface="Calibri"/>
                        </a:rPr>
                        <a:t>procedure</a:t>
                      </a:r>
                      <a:r>
                        <a:rPr sz="1600" dirty="0">
                          <a:latin typeface="Calibri"/>
                          <a:cs typeface="Calibri"/>
                        </a:rPr>
                        <a:t> </a:t>
                      </a:r>
                      <a:r>
                        <a:rPr sz="1600" spc="-5" dirty="0">
                          <a:latin typeface="Calibri"/>
                          <a:cs typeface="Calibri"/>
                        </a:rPr>
                        <a:t>name</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ts val="1825"/>
                        </a:lnSpc>
                      </a:pPr>
                      <a:r>
                        <a:rPr sz="1600" spc="-5" dirty="0">
                          <a:latin typeface="Calibri"/>
                          <a:cs typeface="Calibri"/>
                        </a:rPr>
                        <a:t>Uses </a:t>
                      </a:r>
                      <a:r>
                        <a:rPr sz="1600" dirty="0">
                          <a:latin typeface="Calibri"/>
                          <a:cs typeface="Calibri"/>
                        </a:rPr>
                        <a:t>the </a:t>
                      </a:r>
                      <a:r>
                        <a:rPr sz="1600" spc="-5" dirty="0">
                          <a:latin typeface="Calibri"/>
                          <a:cs typeface="Calibri"/>
                        </a:rPr>
                        <a:t>## prefix before </a:t>
                      </a:r>
                      <a:r>
                        <a:rPr sz="1600" dirty="0">
                          <a:latin typeface="Calibri"/>
                          <a:cs typeface="Calibri"/>
                        </a:rPr>
                        <a:t>the </a:t>
                      </a:r>
                      <a:r>
                        <a:rPr sz="1600" spc="-5" dirty="0">
                          <a:latin typeface="Calibri"/>
                          <a:cs typeface="Calibri"/>
                        </a:rPr>
                        <a:t>procedure</a:t>
                      </a:r>
                      <a:r>
                        <a:rPr sz="1600" dirty="0">
                          <a:latin typeface="Calibri"/>
                          <a:cs typeface="Calibri"/>
                        </a:rPr>
                        <a:t> </a:t>
                      </a:r>
                      <a:r>
                        <a:rPr sz="1600" spc="-5" dirty="0">
                          <a:latin typeface="Calibri"/>
                          <a:cs typeface="Calibri"/>
                        </a:rPr>
                        <a:t>name</a:t>
                      </a:r>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264785" cy="574040"/>
          </a:xfrm>
          <a:prstGeom prst="rect">
            <a:avLst/>
          </a:prstGeom>
        </p:spPr>
        <p:txBody>
          <a:bodyPr vert="horz" wrap="square" lIns="0" tIns="12700" rIns="0" bIns="0" rtlCol="0">
            <a:spAutoFit/>
          </a:bodyPr>
          <a:lstStyle/>
          <a:p>
            <a:pPr marL="12700">
              <a:lnSpc>
                <a:spcPct val="100000"/>
              </a:lnSpc>
              <a:spcBef>
                <a:spcPts val="100"/>
              </a:spcBef>
            </a:pPr>
            <a:r>
              <a:rPr b="0" spc="-85" dirty="0">
                <a:latin typeface="Arial"/>
                <a:cs typeface="Arial"/>
              </a:rPr>
              <a:t>Remote </a:t>
            </a:r>
            <a:r>
              <a:rPr b="0" spc="-35" dirty="0">
                <a:latin typeface="Arial"/>
                <a:cs typeface="Arial"/>
              </a:rPr>
              <a:t>Stored</a:t>
            </a:r>
            <a:r>
              <a:rPr b="0" spc="-420" dirty="0">
                <a:latin typeface="Arial"/>
                <a:cs typeface="Arial"/>
              </a:rPr>
              <a:t> </a:t>
            </a:r>
            <a:r>
              <a:rPr b="0" spc="-125" dirty="0">
                <a:latin typeface="Arial"/>
                <a:cs typeface="Arial"/>
              </a:rPr>
              <a:t>Procedures</a:t>
            </a:r>
          </a:p>
        </p:txBody>
      </p:sp>
      <p:grpSp>
        <p:nvGrpSpPr>
          <p:cNvPr id="3" name="object 3"/>
          <p:cNvGrpSpPr/>
          <p:nvPr/>
        </p:nvGrpSpPr>
        <p:grpSpPr>
          <a:xfrm>
            <a:off x="440436" y="1226058"/>
            <a:ext cx="7710170" cy="600075"/>
            <a:chOff x="440436" y="1226058"/>
            <a:chExt cx="7710170" cy="600075"/>
          </a:xfrm>
        </p:grpSpPr>
        <p:sp>
          <p:nvSpPr>
            <p:cNvPr id="4" name="object 4"/>
            <p:cNvSpPr/>
            <p:nvPr/>
          </p:nvSpPr>
          <p:spPr>
            <a:xfrm>
              <a:off x="453009" y="1238631"/>
              <a:ext cx="7684770" cy="574675"/>
            </a:xfrm>
            <a:custGeom>
              <a:avLst/>
              <a:gdLst/>
              <a:ahLst/>
              <a:cxnLst/>
              <a:rect l="l" t="t" r="r" b="b"/>
              <a:pathLst>
                <a:path w="7684770" h="574675">
                  <a:moveTo>
                    <a:pt x="7480934" y="0"/>
                  </a:moveTo>
                  <a:lnTo>
                    <a:pt x="203796" y="0"/>
                  </a:lnTo>
                  <a:lnTo>
                    <a:pt x="139378" y="4886"/>
                  </a:lnTo>
                  <a:lnTo>
                    <a:pt x="83434" y="18491"/>
                  </a:lnTo>
                  <a:lnTo>
                    <a:pt x="39319" y="39227"/>
                  </a:lnTo>
                  <a:lnTo>
                    <a:pt x="10389" y="65511"/>
                  </a:lnTo>
                  <a:lnTo>
                    <a:pt x="0" y="95758"/>
                  </a:lnTo>
                  <a:lnTo>
                    <a:pt x="0" y="478790"/>
                  </a:lnTo>
                  <a:lnTo>
                    <a:pt x="39319" y="535320"/>
                  </a:lnTo>
                  <a:lnTo>
                    <a:pt x="83434" y="556056"/>
                  </a:lnTo>
                  <a:lnTo>
                    <a:pt x="139378" y="569661"/>
                  </a:lnTo>
                  <a:lnTo>
                    <a:pt x="203796" y="574548"/>
                  </a:lnTo>
                  <a:lnTo>
                    <a:pt x="7480934" y="574548"/>
                  </a:lnTo>
                  <a:lnTo>
                    <a:pt x="7545391" y="569661"/>
                  </a:lnTo>
                  <a:lnTo>
                    <a:pt x="7601349" y="556056"/>
                  </a:lnTo>
                  <a:lnTo>
                    <a:pt x="7645462" y="535320"/>
                  </a:lnTo>
                  <a:lnTo>
                    <a:pt x="7674385" y="509036"/>
                  </a:lnTo>
                  <a:lnTo>
                    <a:pt x="7684770" y="478790"/>
                  </a:lnTo>
                  <a:lnTo>
                    <a:pt x="7684770" y="95758"/>
                  </a:lnTo>
                  <a:lnTo>
                    <a:pt x="7645462" y="39227"/>
                  </a:lnTo>
                  <a:lnTo>
                    <a:pt x="7601349" y="18491"/>
                  </a:lnTo>
                  <a:lnTo>
                    <a:pt x="7545391" y="4886"/>
                  </a:lnTo>
                  <a:lnTo>
                    <a:pt x="7480934" y="0"/>
                  </a:lnTo>
                  <a:close/>
                </a:path>
              </a:pathLst>
            </a:custGeom>
            <a:solidFill>
              <a:srgbClr val="4AACC5"/>
            </a:solidFill>
          </p:spPr>
          <p:txBody>
            <a:bodyPr wrap="square" lIns="0" tIns="0" rIns="0" bIns="0" rtlCol="0"/>
            <a:lstStyle/>
            <a:p>
              <a:endParaRPr/>
            </a:p>
          </p:txBody>
        </p:sp>
        <p:sp>
          <p:nvSpPr>
            <p:cNvPr id="5" name="object 5"/>
            <p:cNvSpPr/>
            <p:nvPr/>
          </p:nvSpPr>
          <p:spPr>
            <a:xfrm>
              <a:off x="453009" y="1238631"/>
              <a:ext cx="7684770" cy="574675"/>
            </a:xfrm>
            <a:custGeom>
              <a:avLst/>
              <a:gdLst/>
              <a:ahLst/>
              <a:cxnLst/>
              <a:rect l="l" t="t" r="r" b="b"/>
              <a:pathLst>
                <a:path w="7684770" h="574675">
                  <a:moveTo>
                    <a:pt x="0" y="95758"/>
                  </a:moveTo>
                  <a:lnTo>
                    <a:pt x="39319" y="39227"/>
                  </a:lnTo>
                  <a:lnTo>
                    <a:pt x="83434" y="18491"/>
                  </a:lnTo>
                  <a:lnTo>
                    <a:pt x="139378" y="4886"/>
                  </a:lnTo>
                  <a:lnTo>
                    <a:pt x="203796" y="0"/>
                  </a:lnTo>
                  <a:lnTo>
                    <a:pt x="7480934" y="0"/>
                  </a:lnTo>
                  <a:lnTo>
                    <a:pt x="7545391" y="4886"/>
                  </a:lnTo>
                  <a:lnTo>
                    <a:pt x="7601349" y="18491"/>
                  </a:lnTo>
                  <a:lnTo>
                    <a:pt x="7645462" y="39227"/>
                  </a:lnTo>
                  <a:lnTo>
                    <a:pt x="7674385" y="65511"/>
                  </a:lnTo>
                  <a:lnTo>
                    <a:pt x="7684770" y="95758"/>
                  </a:lnTo>
                  <a:lnTo>
                    <a:pt x="7684770" y="478790"/>
                  </a:lnTo>
                  <a:lnTo>
                    <a:pt x="7645462" y="535320"/>
                  </a:lnTo>
                  <a:lnTo>
                    <a:pt x="7601349" y="556056"/>
                  </a:lnTo>
                  <a:lnTo>
                    <a:pt x="7545391" y="569661"/>
                  </a:lnTo>
                  <a:lnTo>
                    <a:pt x="7480934" y="574548"/>
                  </a:lnTo>
                  <a:lnTo>
                    <a:pt x="203796" y="574548"/>
                  </a:lnTo>
                  <a:lnTo>
                    <a:pt x="139378" y="569661"/>
                  </a:lnTo>
                  <a:lnTo>
                    <a:pt x="83434" y="556056"/>
                  </a:lnTo>
                  <a:lnTo>
                    <a:pt x="39319" y="535320"/>
                  </a:lnTo>
                  <a:lnTo>
                    <a:pt x="10389" y="509036"/>
                  </a:lnTo>
                  <a:lnTo>
                    <a:pt x="0" y="478790"/>
                  </a:lnTo>
                  <a:lnTo>
                    <a:pt x="0" y="95758"/>
                  </a:lnTo>
                  <a:close/>
                </a:path>
              </a:pathLst>
            </a:custGeom>
            <a:ln w="25146">
              <a:solidFill>
                <a:srgbClr val="FFFFFF"/>
              </a:solidFill>
            </a:ln>
          </p:spPr>
          <p:txBody>
            <a:bodyPr wrap="square" lIns="0" tIns="0" rIns="0" bIns="0" rtlCol="0"/>
            <a:lstStyle/>
            <a:p>
              <a:endParaRPr/>
            </a:p>
          </p:txBody>
        </p:sp>
      </p:grpSp>
      <p:grpSp>
        <p:nvGrpSpPr>
          <p:cNvPr id="6" name="object 6"/>
          <p:cNvGrpSpPr/>
          <p:nvPr/>
        </p:nvGrpSpPr>
        <p:grpSpPr>
          <a:xfrm>
            <a:off x="440436" y="2109216"/>
            <a:ext cx="7710170" cy="600075"/>
            <a:chOff x="440436" y="2109216"/>
            <a:chExt cx="7710170" cy="600075"/>
          </a:xfrm>
        </p:grpSpPr>
        <p:sp>
          <p:nvSpPr>
            <p:cNvPr id="7" name="object 7"/>
            <p:cNvSpPr/>
            <p:nvPr/>
          </p:nvSpPr>
          <p:spPr>
            <a:xfrm>
              <a:off x="453009" y="2121789"/>
              <a:ext cx="7684770" cy="574675"/>
            </a:xfrm>
            <a:custGeom>
              <a:avLst/>
              <a:gdLst/>
              <a:ahLst/>
              <a:cxnLst/>
              <a:rect l="l" t="t" r="r" b="b"/>
              <a:pathLst>
                <a:path w="7684770" h="574675">
                  <a:moveTo>
                    <a:pt x="7480934" y="0"/>
                  </a:moveTo>
                  <a:lnTo>
                    <a:pt x="203796" y="0"/>
                  </a:lnTo>
                  <a:lnTo>
                    <a:pt x="139378" y="4886"/>
                  </a:lnTo>
                  <a:lnTo>
                    <a:pt x="83434" y="18491"/>
                  </a:lnTo>
                  <a:lnTo>
                    <a:pt x="39319" y="39227"/>
                  </a:lnTo>
                  <a:lnTo>
                    <a:pt x="10389" y="65511"/>
                  </a:lnTo>
                  <a:lnTo>
                    <a:pt x="0" y="95758"/>
                  </a:lnTo>
                  <a:lnTo>
                    <a:pt x="0" y="478790"/>
                  </a:lnTo>
                  <a:lnTo>
                    <a:pt x="39319" y="535320"/>
                  </a:lnTo>
                  <a:lnTo>
                    <a:pt x="83434" y="556056"/>
                  </a:lnTo>
                  <a:lnTo>
                    <a:pt x="139378" y="569661"/>
                  </a:lnTo>
                  <a:lnTo>
                    <a:pt x="203796" y="574548"/>
                  </a:lnTo>
                  <a:lnTo>
                    <a:pt x="7480934" y="574548"/>
                  </a:lnTo>
                  <a:lnTo>
                    <a:pt x="7545391" y="569661"/>
                  </a:lnTo>
                  <a:lnTo>
                    <a:pt x="7601349" y="556056"/>
                  </a:lnTo>
                  <a:lnTo>
                    <a:pt x="7645462" y="535320"/>
                  </a:lnTo>
                  <a:lnTo>
                    <a:pt x="7674385" y="509036"/>
                  </a:lnTo>
                  <a:lnTo>
                    <a:pt x="7684770" y="478790"/>
                  </a:lnTo>
                  <a:lnTo>
                    <a:pt x="7684770" y="95758"/>
                  </a:lnTo>
                  <a:lnTo>
                    <a:pt x="7645462" y="39227"/>
                  </a:lnTo>
                  <a:lnTo>
                    <a:pt x="7601349" y="18491"/>
                  </a:lnTo>
                  <a:lnTo>
                    <a:pt x="7545391" y="4886"/>
                  </a:lnTo>
                  <a:lnTo>
                    <a:pt x="7480934" y="0"/>
                  </a:lnTo>
                  <a:close/>
                </a:path>
              </a:pathLst>
            </a:custGeom>
            <a:solidFill>
              <a:srgbClr val="46D771"/>
            </a:solidFill>
          </p:spPr>
          <p:txBody>
            <a:bodyPr wrap="square" lIns="0" tIns="0" rIns="0" bIns="0" rtlCol="0"/>
            <a:lstStyle/>
            <a:p>
              <a:endParaRPr/>
            </a:p>
          </p:txBody>
        </p:sp>
        <p:sp>
          <p:nvSpPr>
            <p:cNvPr id="8" name="object 8"/>
            <p:cNvSpPr/>
            <p:nvPr/>
          </p:nvSpPr>
          <p:spPr>
            <a:xfrm>
              <a:off x="453009" y="2121789"/>
              <a:ext cx="7684770" cy="574675"/>
            </a:xfrm>
            <a:custGeom>
              <a:avLst/>
              <a:gdLst/>
              <a:ahLst/>
              <a:cxnLst/>
              <a:rect l="l" t="t" r="r" b="b"/>
              <a:pathLst>
                <a:path w="7684770" h="574675">
                  <a:moveTo>
                    <a:pt x="0" y="95758"/>
                  </a:moveTo>
                  <a:lnTo>
                    <a:pt x="39319" y="39227"/>
                  </a:lnTo>
                  <a:lnTo>
                    <a:pt x="83434" y="18491"/>
                  </a:lnTo>
                  <a:lnTo>
                    <a:pt x="139378" y="4886"/>
                  </a:lnTo>
                  <a:lnTo>
                    <a:pt x="203796" y="0"/>
                  </a:lnTo>
                  <a:lnTo>
                    <a:pt x="7480934" y="0"/>
                  </a:lnTo>
                  <a:lnTo>
                    <a:pt x="7545391" y="4886"/>
                  </a:lnTo>
                  <a:lnTo>
                    <a:pt x="7601349" y="18491"/>
                  </a:lnTo>
                  <a:lnTo>
                    <a:pt x="7645462" y="39227"/>
                  </a:lnTo>
                  <a:lnTo>
                    <a:pt x="7674385" y="65511"/>
                  </a:lnTo>
                  <a:lnTo>
                    <a:pt x="7684770" y="95758"/>
                  </a:lnTo>
                  <a:lnTo>
                    <a:pt x="7684770" y="478790"/>
                  </a:lnTo>
                  <a:lnTo>
                    <a:pt x="7645462" y="535320"/>
                  </a:lnTo>
                  <a:lnTo>
                    <a:pt x="7601349" y="556056"/>
                  </a:lnTo>
                  <a:lnTo>
                    <a:pt x="7545391" y="569661"/>
                  </a:lnTo>
                  <a:lnTo>
                    <a:pt x="7480934" y="574548"/>
                  </a:lnTo>
                  <a:lnTo>
                    <a:pt x="203796" y="574548"/>
                  </a:lnTo>
                  <a:lnTo>
                    <a:pt x="139378" y="569661"/>
                  </a:lnTo>
                  <a:lnTo>
                    <a:pt x="83434" y="556056"/>
                  </a:lnTo>
                  <a:lnTo>
                    <a:pt x="39319" y="535320"/>
                  </a:lnTo>
                  <a:lnTo>
                    <a:pt x="10389" y="509036"/>
                  </a:lnTo>
                  <a:lnTo>
                    <a:pt x="0" y="478790"/>
                  </a:lnTo>
                  <a:lnTo>
                    <a:pt x="0" y="95758"/>
                  </a:lnTo>
                  <a:close/>
                </a:path>
              </a:pathLst>
            </a:custGeom>
            <a:ln w="25146">
              <a:solidFill>
                <a:srgbClr val="FFFFFF"/>
              </a:solidFill>
            </a:ln>
          </p:spPr>
          <p:txBody>
            <a:bodyPr wrap="square" lIns="0" tIns="0" rIns="0" bIns="0" rtlCol="0"/>
            <a:lstStyle/>
            <a:p>
              <a:endParaRPr/>
            </a:p>
          </p:txBody>
        </p:sp>
      </p:grpSp>
      <p:grpSp>
        <p:nvGrpSpPr>
          <p:cNvPr id="9" name="object 9"/>
          <p:cNvGrpSpPr/>
          <p:nvPr/>
        </p:nvGrpSpPr>
        <p:grpSpPr>
          <a:xfrm>
            <a:off x="440436" y="2991611"/>
            <a:ext cx="7710170" cy="600075"/>
            <a:chOff x="440436" y="2991611"/>
            <a:chExt cx="7710170" cy="600075"/>
          </a:xfrm>
        </p:grpSpPr>
        <p:sp>
          <p:nvSpPr>
            <p:cNvPr id="10" name="object 10"/>
            <p:cNvSpPr/>
            <p:nvPr/>
          </p:nvSpPr>
          <p:spPr>
            <a:xfrm>
              <a:off x="453009" y="3004184"/>
              <a:ext cx="7684770" cy="574675"/>
            </a:xfrm>
            <a:custGeom>
              <a:avLst/>
              <a:gdLst/>
              <a:ahLst/>
              <a:cxnLst/>
              <a:rect l="l" t="t" r="r" b="b"/>
              <a:pathLst>
                <a:path w="7684770" h="574675">
                  <a:moveTo>
                    <a:pt x="7480934" y="0"/>
                  </a:moveTo>
                  <a:lnTo>
                    <a:pt x="203796" y="0"/>
                  </a:lnTo>
                  <a:lnTo>
                    <a:pt x="139378" y="4886"/>
                  </a:lnTo>
                  <a:lnTo>
                    <a:pt x="83434" y="18491"/>
                  </a:lnTo>
                  <a:lnTo>
                    <a:pt x="39319" y="39227"/>
                  </a:lnTo>
                  <a:lnTo>
                    <a:pt x="10389" y="65511"/>
                  </a:lnTo>
                  <a:lnTo>
                    <a:pt x="0" y="95758"/>
                  </a:lnTo>
                  <a:lnTo>
                    <a:pt x="0" y="478790"/>
                  </a:lnTo>
                  <a:lnTo>
                    <a:pt x="39319" y="535320"/>
                  </a:lnTo>
                  <a:lnTo>
                    <a:pt x="83434" y="556056"/>
                  </a:lnTo>
                  <a:lnTo>
                    <a:pt x="139378" y="569661"/>
                  </a:lnTo>
                  <a:lnTo>
                    <a:pt x="203796" y="574548"/>
                  </a:lnTo>
                  <a:lnTo>
                    <a:pt x="7480934" y="574548"/>
                  </a:lnTo>
                  <a:lnTo>
                    <a:pt x="7545391" y="569661"/>
                  </a:lnTo>
                  <a:lnTo>
                    <a:pt x="7601349" y="556056"/>
                  </a:lnTo>
                  <a:lnTo>
                    <a:pt x="7645462" y="535320"/>
                  </a:lnTo>
                  <a:lnTo>
                    <a:pt x="7674385" y="509036"/>
                  </a:lnTo>
                  <a:lnTo>
                    <a:pt x="7684770" y="478790"/>
                  </a:lnTo>
                  <a:lnTo>
                    <a:pt x="7684770" y="95758"/>
                  </a:lnTo>
                  <a:lnTo>
                    <a:pt x="7645462" y="39227"/>
                  </a:lnTo>
                  <a:lnTo>
                    <a:pt x="7601349" y="18491"/>
                  </a:lnTo>
                  <a:lnTo>
                    <a:pt x="7545391" y="4886"/>
                  </a:lnTo>
                  <a:lnTo>
                    <a:pt x="7480934" y="0"/>
                  </a:lnTo>
                  <a:close/>
                </a:path>
              </a:pathLst>
            </a:custGeom>
            <a:solidFill>
              <a:srgbClr val="ACE946"/>
            </a:solidFill>
          </p:spPr>
          <p:txBody>
            <a:bodyPr wrap="square" lIns="0" tIns="0" rIns="0" bIns="0" rtlCol="0"/>
            <a:lstStyle/>
            <a:p>
              <a:endParaRPr/>
            </a:p>
          </p:txBody>
        </p:sp>
        <p:sp>
          <p:nvSpPr>
            <p:cNvPr id="11" name="object 11"/>
            <p:cNvSpPr/>
            <p:nvPr/>
          </p:nvSpPr>
          <p:spPr>
            <a:xfrm>
              <a:off x="453009" y="3004184"/>
              <a:ext cx="7684770" cy="574675"/>
            </a:xfrm>
            <a:custGeom>
              <a:avLst/>
              <a:gdLst/>
              <a:ahLst/>
              <a:cxnLst/>
              <a:rect l="l" t="t" r="r" b="b"/>
              <a:pathLst>
                <a:path w="7684770" h="574675">
                  <a:moveTo>
                    <a:pt x="0" y="95758"/>
                  </a:moveTo>
                  <a:lnTo>
                    <a:pt x="39319" y="39227"/>
                  </a:lnTo>
                  <a:lnTo>
                    <a:pt x="83434" y="18491"/>
                  </a:lnTo>
                  <a:lnTo>
                    <a:pt x="139378" y="4886"/>
                  </a:lnTo>
                  <a:lnTo>
                    <a:pt x="203796" y="0"/>
                  </a:lnTo>
                  <a:lnTo>
                    <a:pt x="7480934" y="0"/>
                  </a:lnTo>
                  <a:lnTo>
                    <a:pt x="7545391" y="4886"/>
                  </a:lnTo>
                  <a:lnTo>
                    <a:pt x="7601349" y="18491"/>
                  </a:lnTo>
                  <a:lnTo>
                    <a:pt x="7645462" y="39227"/>
                  </a:lnTo>
                  <a:lnTo>
                    <a:pt x="7674385" y="65511"/>
                  </a:lnTo>
                  <a:lnTo>
                    <a:pt x="7684770" y="95758"/>
                  </a:lnTo>
                  <a:lnTo>
                    <a:pt x="7684770" y="478790"/>
                  </a:lnTo>
                  <a:lnTo>
                    <a:pt x="7645462" y="535320"/>
                  </a:lnTo>
                  <a:lnTo>
                    <a:pt x="7601349" y="556056"/>
                  </a:lnTo>
                  <a:lnTo>
                    <a:pt x="7545391" y="569661"/>
                  </a:lnTo>
                  <a:lnTo>
                    <a:pt x="7480934" y="574548"/>
                  </a:lnTo>
                  <a:lnTo>
                    <a:pt x="203796" y="574548"/>
                  </a:lnTo>
                  <a:lnTo>
                    <a:pt x="139378" y="569661"/>
                  </a:lnTo>
                  <a:lnTo>
                    <a:pt x="83434" y="556056"/>
                  </a:lnTo>
                  <a:lnTo>
                    <a:pt x="39319" y="535320"/>
                  </a:lnTo>
                  <a:lnTo>
                    <a:pt x="10389" y="509036"/>
                  </a:lnTo>
                  <a:lnTo>
                    <a:pt x="0" y="478790"/>
                  </a:lnTo>
                  <a:lnTo>
                    <a:pt x="0" y="95758"/>
                  </a:lnTo>
                  <a:close/>
                </a:path>
              </a:pathLst>
            </a:custGeom>
            <a:ln w="25146">
              <a:solidFill>
                <a:srgbClr val="FFFFFF"/>
              </a:solidFill>
            </a:ln>
          </p:spPr>
          <p:txBody>
            <a:bodyPr wrap="square" lIns="0" tIns="0" rIns="0" bIns="0" rtlCol="0"/>
            <a:lstStyle/>
            <a:p>
              <a:endParaRPr/>
            </a:p>
          </p:txBody>
        </p:sp>
      </p:grpSp>
      <p:grpSp>
        <p:nvGrpSpPr>
          <p:cNvPr id="12" name="object 12"/>
          <p:cNvGrpSpPr/>
          <p:nvPr/>
        </p:nvGrpSpPr>
        <p:grpSpPr>
          <a:xfrm>
            <a:off x="440436" y="3874770"/>
            <a:ext cx="7710170" cy="600075"/>
            <a:chOff x="440436" y="3874770"/>
            <a:chExt cx="7710170" cy="600075"/>
          </a:xfrm>
        </p:grpSpPr>
        <p:sp>
          <p:nvSpPr>
            <p:cNvPr id="13" name="object 13"/>
            <p:cNvSpPr/>
            <p:nvPr/>
          </p:nvSpPr>
          <p:spPr>
            <a:xfrm>
              <a:off x="453009" y="3887343"/>
              <a:ext cx="7684770" cy="574675"/>
            </a:xfrm>
            <a:custGeom>
              <a:avLst/>
              <a:gdLst/>
              <a:ahLst/>
              <a:cxnLst/>
              <a:rect l="l" t="t" r="r" b="b"/>
              <a:pathLst>
                <a:path w="7684770" h="574675">
                  <a:moveTo>
                    <a:pt x="7480934" y="0"/>
                  </a:moveTo>
                  <a:lnTo>
                    <a:pt x="203796" y="0"/>
                  </a:lnTo>
                  <a:lnTo>
                    <a:pt x="139378" y="4886"/>
                  </a:lnTo>
                  <a:lnTo>
                    <a:pt x="83434" y="18491"/>
                  </a:lnTo>
                  <a:lnTo>
                    <a:pt x="39319" y="39227"/>
                  </a:lnTo>
                  <a:lnTo>
                    <a:pt x="10389" y="65511"/>
                  </a:lnTo>
                  <a:lnTo>
                    <a:pt x="0" y="95757"/>
                  </a:lnTo>
                  <a:lnTo>
                    <a:pt x="0" y="478789"/>
                  </a:lnTo>
                  <a:lnTo>
                    <a:pt x="39319" y="535320"/>
                  </a:lnTo>
                  <a:lnTo>
                    <a:pt x="83434" y="556056"/>
                  </a:lnTo>
                  <a:lnTo>
                    <a:pt x="139378" y="569661"/>
                  </a:lnTo>
                  <a:lnTo>
                    <a:pt x="203796" y="574547"/>
                  </a:lnTo>
                  <a:lnTo>
                    <a:pt x="7480934" y="574547"/>
                  </a:lnTo>
                  <a:lnTo>
                    <a:pt x="7545391" y="569661"/>
                  </a:lnTo>
                  <a:lnTo>
                    <a:pt x="7601349" y="556056"/>
                  </a:lnTo>
                  <a:lnTo>
                    <a:pt x="7645462" y="535320"/>
                  </a:lnTo>
                  <a:lnTo>
                    <a:pt x="7674385" y="509036"/>
                  </a:lnTo>
                  <a:lnTo>
                    <a:pt x="7684770" y="478789"/>
                  </a:lnTo>
                  <a:lnTo>
                    <a:pt x="7684770" y="95757"/>
                  </a:lnTo>
                  <a:lnTo>
                    <a:pt x="7645462" y="39227"/>
                  </a:lnTo>
                  <a:lnTo>
                    <a:pt x="7601349" y="18491"/>
                  </a:lnTo>
                  <a:lnTo>
                    <a:pt x="7545391" y="4886"/>
                  </a:lnTo>
                  <a:lnTo>
                    <a:pt x="7480934" y="0"/>
                  </a:lnTo>
                  <a:close/>
                </a:path>
              </a:pathLst>
            </a:custGeom>
            <a:solidFill>
              <a:srgbClr val="F79546"/>
            </a:solidFill>
          </p:spPr>
          <p:txBody>
            <a:bodyPr wrap="square" lIns="0" tIns="0" rIns="0" bIns="0" rtlCol="0"/>
            <a:lstStyle/>
            <a:p>
              <a:endParaRPr/>
            </a:p>
          </p:txBody>
        </p:sp>
        <p:sp>
          <p:nvSpPr>
            <p:cNvPr id="14" name="object 14"/>
            <p:cNvSpPr/>
            <p:nvPr/>
          </p:nvSpPr>
          <p:spPr>
            <a:xfrm>
              <a:off x="453009" y="3887343"/>
              <a:ext cx="7684770" cy="574675"/>
            </a:xfrm>
            <a:custGeom>
              <a:avLst/>
              <a:gdLst/>
              <a:ahLst/>
              <a:cxnLst/>
              <a:rect l="l" t="t" r="r" b="b"/>
              <a:pathLst>
                <a:path w="7684770" h="574675">
                  <a:moveTo>
                    <a:pt x="0" y="95757"/>
                  </a:moveTo>
                  <a:lnTo>
                    <a:pt x="39319" y="39227"/>
                  </a:lnTo>
                  <a:lnTo>
                    <a:pt x="83434" y="18491"/>
                  </a:lnTo>
                  <a:lnTo>
                    <a:pt x="139378" y="4886"/>
                  </a:lnTo>
                  <a:lnTo>
                    <a:pt x="203796" y="0"/>
                  </a:lnTo>
                  <a:lnTo>
                    <a:pt x="7480934" y="0"/>
                  </a:lnTo>
                  <a:lnTo>
                    <a:pt x="7545391" y="4886"/>
                  </a:lnTo>
                  <a:lnTo>
                    <a:pt x="7601349" y="18491"/>
                  </a:lnTo>
                  <a:lnTo>
                    <a:pt x="7645462" y="39227"/>
                  </a:lnTo>
                  <a:lnTo>
                    <a:pt x="7674385" y="65511"/>
                  </a:lnTo>
                  <a:lnTo>
                    <a:pt x="7684770" y="95757"/>
                  </a:lnTo>
                  <a:lnTo>
                    <a:pt x="7684770" y="478789"/>
                  </a:lnTo>
                  <a:lnTo>
                    <a:pt x="7645462" y="535320"/>
                  </a:lnTo>
                  <a:lnTo>
                    <a:pt x="7601349" y="556056"/>
                  </a:lnTo>
                  <a:lnTo>
                    <a:pt x="7545391" y="569661"/>
                  </a:lnTo>
                  <a:lnTo>
                    <a:pt x="7480934" y="574547"/>
                  </a:lnTo>
                  <a:lnTo>
                    <a:pt x="203796" y="574547"/>
                  </a:lnTo>
                  <a:lnTo>
                    <a:pt x="139378" y="569661"/>
                  </a:lnTo>
                  <a:lnTo>
                    <a:pt x="83434" y="556056"/>
                  </a:lnTo>
                  <a:lnTo>
                    <a:pt x="39319" y="535320"/>
                  </a:lnTo>
                  <a:lnTo>
                    <a:pt x="10389" y="509036"/>
                  </a:lnTo>
                  <a:lnTo>
                    <a:pt x="0" y="478789"/>
                  </a:lnTo>
                  <a:lnTo>
                    <a:pt x="0" y="95757"/>
                  </a:lnTo>
                  <a:close/>
                </a:path>
              </a:pathLst>
            </a:custGeom>
            <a:ln w="25146">
              <a:solidFill>
                <a:srgbClr val="FFFFFF"/>
              </a:solidFill>
            </a:ln>
          </p:spPr>
          <p:txBody>
            <a:bodyPr wrap="square" lIns="0" tIns="0" rIns="0" bIns="0" rtlCol="0"/>
            <a:lstStyle/>
            <a:p>
              <a:endParaRPr/>
            </a:p>
          </p:txBody>
        </p:sp>
      </p:grpSp>
      <p:sp>
        <p:nvSpPr>
          <p:cNvPr id="15" name="object 15"/>
          <p:cNvSpPr txBox="1"/>
          <p:nvPr/>
        </p:nvSpPr>
        <p:spPr>
          <a:xfrm>
            <a:off x="634491" y="1196340"/>
            <a:ext cx="7277734" cy="3195320"/>
          </a:xfrm>
          <a:prstGeom prst="rect">
            <a:avLst/>
          </a:prstGeom>
        </p:spPr>
        <p:txBody>
          <a:bodyPr vert="horz" wrap="square" lIns="0" tIns="34925" rIns="0" bIns="0" rtlCol="0">
            <a:spAutoFit/>
          </a:bodyPr>
          <a:lstStyle/>
          <a:p>
            <a:pPr marL="12700" marR="198120">
              <a:lnSpc>
                <a:spcPts val="2030"/>
              </a:lnSpc>
              <a:spcBef>
                <a:spcPts val="275"/>
              </a:spcBef>
            </a:pPr>
            <a:r>
              <a:rPr sz="1800" spc="-20" dirty="0">
                <a:latin typeface="Arial"/>
                <a:cs typeface="Arial"/>
              </a:rPr>
              <a:t>Stored</a:t>
            </a:r>
            <a:r>
              <a:rPr sz="1800" spc="-120" dirty="0">
                <a:latin typeface="Arial"/>
                <a:cs typeface="Arial"/>
              </a:rPr>
              <a:t> </a:t>
            </a:r>
            <a:r>
              <a:rPr sz="1800" spc="-45" dirty="0">
                <a:latin typeface="Arial"/>
                <a:cs typeface="Arial"/>
              </a:rPr>
              <a:t>procedures</a:t>
            </a:r>
            <a:r>
              <a:rPr sz="1800" spc="-125" dirty="0">
                <a:latin typeface="Arial"/>
                <a:cs typeface="Arial"/>
              </a:rPr>
              <a:t> </a:t>
            </a:r>
            <a:r>
              <a:rPr sz="1800" spc="25" dirty="0">
                <a:latin typeface="Arial"/>
                <a:cs typeface="Arial"/>
              </a:rPr>
              <a:t>that</a:t>
            </a:r>
            <a:r>
              <a:rPr sz="1800" spc="-114" dirty="0">
                <a:latin typeface="Arial"/>
                <a:cs typeface="Arial"/>
              </a:rPr>
              <a:t> </a:t>
            </a:r>
            <a:r>
              <a:rPr sz="1800" spc="55" dirty="0">
                <a:latin typeface="Arial"/>
                <a:cs typeface="Arial"/>
              </a:rPr>
              <a:t>run</a:t>
            </a:r>
            <a:r>
              <a:rPr sz="1800" spc="-110" dirty="0">
                <a:latin typeface="Arial"/>
                <a:cs typeface="Arial"/>
              </a:rPr>
              <a:t> </a:t>
            </a:r>
            <a:r>
              <a:rPr sz="1800" spc="20" dirty="0">
                <a:latin typeface="Arial"/>
                <a:cs typeface="Arial"/>
              </a:rPr>
              <a:t>on</a:t>
            </a:r>
            <a:r>
              <a:rPr sz="1800" spc="-114" dirty="0">
                <a:latin typeface="Arial"/>
                <a:cs typeface="Arial"/>
              </a:rPr>
              <a:t> </a:t>
            </a:r>
            <a:r>
              <a:rPr sz="1800" spc="-30" dirty="0">
                <a:latin typeface="Arial"/>
                <a:cs typeface="Arial"/>
              </a:rPr>
              <a:t>remote</a:t>
            </a:r>
            <a:r>
              <a:rPr sz="1800" spc="-114" dirty="0">
                <a:latin typeface="Arial"/>
                <a:cs typeface="Arial"/>
              </a:rPr>
              <a:t> </a:t>
            </a:r>
            <a:r>
              <a:rPr sz="1800" spc="20" dirty="0">
                <a:latin typeface="Arial"/>
                <a:cs typeface="Arial"/>
              </a:rPr>
              <a:t>SQL</a:t>
            </a:r>
            <a:r>
              <a:rPr sz="1800" spc="-100" dirty="0">
                <a:latin typeface="Arial"/>
                <a:cs typeface="Arial"/>
              </a:rPr>
              <a:t> </a:t>
            </a:r>
            <a:r>
              <a:rPr sz="1800" spc="-65" dirty="0">
                <a:latin typeface="Arial"/>
                <a:cs typeface="Arial"/>
              </a:rPr>
              <a:t>Servers</a:t>
            </a:r>
            <a:r>
              <a:rPr sz="1800" spc="-114" dirty="0">
                <a:latin typeface="Arial"/>
                <a:cs typeface="Arial"/>
              </a:rPr>
              <a:t> </a:t>
            </a:r>
            <a:r>
              <a:rPr sz="1800" spc="-90" dirty="0">
                <a:latin typeface="Arial"/>
                <a:cs typeface="Arial"/>
              </a:rPr>
              <a:t>are</a:t>
            </a:r>
            <a:r>
              <a:rPr sz="1800" spc="-114" dirty="0">
                <a:latin typeface="Arial"/>
                <a:cs typeface="Arial"/>
              </a:rPr>
              <a:t> </a:t>
            </a:r>
            <a:r>
              <a:rPr sz="1800" spc="45" dirty="0">
                <a:latin typeface="Arial"/>
                <a:cs typeface="Arial"/>
              </a:rPr>
              <a:t>known</a:t>
            </a:r>
            <a:r>
              <a:rPr sz="1800" spc="-114" dirty="0">
                <a:latin typeface="Arial"/>
                <a:cs typeface="Arial"/>
              </a:rPr>
              <a:t> </a:t>
            </a:r>
            <a:r>
              <a:rPr sz="1800" spc="-185" dirty="0">
                <a:latin typeface="Arial"/>
                <a:cs typeface="Arial"/>
              </a:rPr>
              <a:t>as</a:t>
            </a:r>
            <a:r>
              <a:rPr sz="1800" spc="-114" dirty="0">
                <a:latin typeface="Arial"/>
                <a:cs typeface="Arial"/>
              </a:rPr>
              <a:t> </a:t>
            </a:r>
            <a:r>
              <a:rPr sz="1800" spc="-30" dirty="0">
                <a:latin typeface="Arial"/>
                <a:cs typeface="Arial"/>
              </a:rPr>
              <a:t>remote  stored</a:t>
            </a:r>
            <a:r>
              <a:rPr sz="1800" spc="-125" dirty="0">
                <a:latin typeface="Arial"/>
                <a:cs typeface="Arial"/>
              </a:rPr>
              <a:t> </a:t>
            </a:r>
            <a:r>
              <a:rPr sz="1800" spc="-45" dirty="0">
                <a:latin typeface="Arial"/>
                <a:cs typeface="Arial"/>
              </a:rPr>
              <a:t>procedures.</a:t>
            </a:r>
            <a:endParaRPr sz="1800">
              <a:latin typeface="Arial"/>
              <a:cs typeface="Arial"/>
            </a:endParaRPr>
          </a:p>
          <a:p>
            <a:pPr>
              <a:lnSpc>
                <a:spcPct val="100000"/>
              </a:lnSpc>
              <a:spcBef>
                <a:spcPts val="30"/>
              </a:spcBef>
            </a:pPr>
            <a:endParaRPr sz="2550">
              <a:latin typeface="Arial"/>
              <a:cs typeface="Arial"/>
            </a:endParaRPr>
          </a:p>
          <a:p>
            <a:pPr marL="12700" marR="5080">
              <a:lnSpc>
                <a:spcPts val="1939"/>
              </a:lnSpc>
            </a:pPr>
            <a:r>
              <a:rPr sz="1800" spc="-45" dirty="0">
                <a:latin typeface="Arial"/>
                <a:cs typeface="Arial"/>
              </a:rPr>
              <a:t>Remote</a:t>
            </a:r>
            <a:r>
              <a:rPr sz="1800" spc="-120" dirty="0">
                <a:latin typeface="Arial"/>
                <a:cs typeface="Arial"/>
              </a:rPr>
              <a:t> </a:t>
            </a:r>
            <a:r>
              <a:rPr sz="1800" spc="-30" dirty="0">
                <a:latin typeface="Arial"/>
                <a:cs typeface="Arial"/>
              </a:rPr>
              <a:t>stored</a:t>
            </a:r>
            <a:r>
              <a:rPr sz="1800" spc="-114" dirty="0">
                <a:latin typeface="Arial"/>
                <a:cs typeface="Arial"/>
              </a:rPr>
              <a:t> </a:t>
            </a:r>
            <a:r>
              <a:rPr sz="1800" spc="-45" dirty="0">
                <a:latin typeface="Arial"/>
                <a:cs typeface="Arial"/>
              </a:rPr>
              <a:t>procedures</a:t>
            </a:r>
            <a:r>
              <a:rPr sz="1800" spc="-120" dirty="0">
                <a:latin typeface="Arial"/>
                <a:cs typeface="Arial"/>
              </a:rPr>
              <a:t> </a:t>
            </a:r>
            <a:r>
              <a:rPr sz="1800" spc="-65" dirty="0">
                <a:latin typeface="Arial"/>
                <a:cs typeface="Arial"/>
              </a:rPr>
              <a:t>can</a:t>
            </a:r>
            <a:r>
              <a:rPr sz="1800" spc="-120" dirty="0">
                <a:latin typeface="Arial"/>
                <a:cs typeface="Arial"/>
              </a:rPr>
              <a:t> </a:t>
            </a:r>
            <a:r>
              <a:rPr sz="1800" spc="-90" dirty="0">
                <a:latin typeface="Arial"/>
                <a:cs typeface="Arial"/>
              </a:rPr>
              <a:t>be</a:t>
            </a:r>
            <a:r>
              <a:rPr sz="1800" spc="-110" dirty="0">
                <a:latin typeface="Arial"/>
                <a:cs typeface="Arial"/>
              </a:rPr>
              <a:t> </a:t>
            </a:r>
            <a:r>
              <a:rPr sz="1800" spc="-80" dirty="0">
                <a:latin typeface="Arial"/>
                <a:cs typeface="Arial"/>
              </a:rPr>
              <a:t>used</a:t>
            </a:r>
            <a:r>
              <a:rPr sz="1800" spc="-110" dirty="0">
                <a:latin typeface="Arial"/>
                <a:cs typeface="Arial"/>
              </a:rPr>
              <a:t> </a:t>
            </a:r>
            <a:r>
              <a:rPr sz="1800" spc="35" dirty="0">
                <a:latin typeface="Arial"/>
                <a:cs typeface="Arial"/>
              </a:rPr>
              <a:t>only</a:t>
            </a:r>
            <a:r>
              <a:rPr sz="1800" spc="-114" dirty="0">
                <a:latin typeface="Arial"/>
                <a:cs typeface="Arial"/>
              </a:rPr>
              <a:t> </a:t>
            </a:r>
            <a:r>
              <a:rPr sz="1800" dirty="0">
                <a:latin typeface="Arial"/>
                <a:cs typeface="Arial"/>
              </a:rPr>
              <a:t>when</a:t>
            </a:r>
            <a:r>
              <a:rPr sz="1800" spc="-105" dirty="0">
                <a:latin typeface="Arial"/>
                <a:cs typeface="Arial"/>
              </a:rPr>
              <a:t> </a:t>
            </a:r>
            <a:r>
              <a:rPr sz="1800" dirty="0">
                <a:latin typeface="Arial"/>
                <a:cs typeface="Arial"/>
              </a:rPr>
              <a:t>the</a:t>
            </a:r>
            <a:r>
              <a:rPr sz="1800" spc="-105" dirty="0">
                <a:latin typeface="Arial"/>
                <a:cs typeface="Arial"/>
              </a:rPr>
              <a:t> </a:t>
            </a:r>
            <a:r>
              <a:rPr sz="1800" spc="-30" dirty="0">
                <a:latin typeface="Arial"/>
                <a:cs typeface="Arial"/>
              </a:rPr>
              <a:t>remote</a:t>
            </a:r>
            <a:r>
              <a:rPr sz="1800" spc="-114" dirty="0">
                <a:latin typeface="Arial"/>
                <a:cs typeface="Arial"/>
              </a:rPr>
              <a:t> </a:t>
            </a:r>
            <a:r>
              <a:rPr sz="1800" spc="-55" dirty="0">
                <a:latin typeface="Arial"/>
                <a:cs typeface="Arial"/>
              </a:rPr>
              <a:t>server</a:t>
            </a:r>
            <a:r>
              <a:rPr sz="1800" spc="-120" dirty="0">
                <a:latin typeface="Arial"/>
                <a:cs typeface="Arial"/>
              </a:rPr>
              <a:t> </a:t>
            </a:r>
            <a:r>
              <a:rPr sz="1800" spc="-25" dirty="0">
                <a:latin typeface="Arial"/>
                <a:cs typeface="Arial"/>
              </a:rPr>
              <a:t>allows  </a:t>
            </a:r>
            <a:r>
              <a:rPr sz="1800" spc="-30" dirty="0">
                <a:latin typeface="Arial"/>
                <a:cs typeface="Arial"/>
              </a:rPr>
              <a:t>remote</a:t>
            </a:r>
            <a:r>
              <a:rPr sz="1800" spc="-125" dirty="0">
                <a:latin typeface="Arial"/>
                <a:cs typeface="Arial"/>
              </a:rPr>
              <a:t> </a:t>
            </a:r>
            <a:r>
              <a:rPr sz="1800" spc="-140" dirty="0">
                <a:latin typeface="Arial"/>
                <a:cs typeface="Arial"/>
              </a:rPr>
              <a:t>access.</a:t>
            </a:r>
            <a:endParaRPr sz="1800">
              <a:latin typeface="Arial"/>
              <a:cs typeface="Arial"/>
            </a:endParaRPr>
          </a:p>
          <a:p>
            <a:pPr>
              <a:lnSpc>
                <a:spcPct val="100000"/>
              </a:lnSpc>
              <a:spcBef>
                <a:spcPts val="25"/>
              </a:spcBef>
            </a:pPr>
            <a:endParaRPr sz="2650">
              <a:latin typeface="Arial"/>
              <a:cs typeface="Arial"/>
            </a:endParaRPr>
          </a:p>
          <a:p>
            <a:pPr marL="12700" marR="26670">
              <a:lnSpc>
                <a:spcPts val="1939"/>
              </a:lnSpc>
            </a:pPr>
            <a:r>
              <a:rPr sz="1800" spc="60" dirty="0">
                <a:latin typeface="Arial"/>
                <a:cs typeface="Arial"/>
              </a:rPr>
              <a:t>When</a:t>
            </a:r>
            <a:r>
              <a:rPr sz="1800" spc="-110" dirty="0">
                <a:latin typeface="Arial"/>
                <a:cs typeface="Arial"/>
              </a:rPr>
              <a:t> </a:t>
            </a:r>
            <a:r>
              <a:rPr sz="1800" spc="-175" dirty="0">
                <a:latin typeface="Arial"/>
                <a:cs typeface="Arial"/>
              </a:rPr>
              <a:t>a</a:t>
            </a:r>
            <a:r>
              <a:rPr sz="1800" spc="-114" dirty="0">
                <a:latin typeface="Arial"/>
                <a:cs typeface="Arial"/>
              </a:rPr>
              <a:t> </a:t>
            </a:r>
            <a:r>
              <a:rPr sz="1800" spc="-30" dirty="0">
                <a:latin typeface="Arial"/>
                <a:cs typeface="Arial"/>
              </a:rPr>
              <a:t>remote</a:t>
            </a:r>
            <a:r>
              <a:rPr sz="1800" spc="-114" dirty="0">
                <a:latin typeface="Arial"/>
                <a:cs typeface="Arial"/>
              </a:rPr>
              <a:t> </a:t>
            </a:r>
            <a:r>
              <a:rPr sz="1800" spc="-30" dirty="0">
                <a:latin typeface="Arial"/>
                <a:cs typeface="Arial"/>
              </a:rPr>
              <a:t>stored</a:t>
            </a:r>
            <a:r>
              <a:rPr sz="1800" spc="-125" dirty="0">
                <a:latin typeface="Arial"/>
                <a:cs typeface="Arial"/>
              </a:rPr>
              <a:t> </a:t>
            </a:r>
            <a:r>
              <a:rPr sz="1800" spc="-30" dirty="0">
                <a:latin typeface="Arial"/>
                <a:cs typeface="Arial"/>
              </a:rPr>
              <a:t>procedure</a:t>
            </a:r>
            <a:r>
              <a:rPr sz="1800" spc="-125" dirty="0">
                <a:latin typeface="Arial"/>
                <a:cs typeface="Arial"/>
              </a:rPr>
              <a:t> </a:t>
            </a:r>
            <a:r>
              <a:rPr sz="1800" spc="-45" dirty="0">
                <a:latin typeface="Arial"/>
                <a:cs typeface="Arial"/>
              </a:rPr>
              <a:t>is</a:t>
            </a:r>
            <a:r>
              <a:rPr sz="1800" spc="-110" dirty="0">
                <a:latin typeface="Arial"/>
                <a:cs typeface="Arial"/>
              </a:rPr>
              <a:t> </a:t>
            </a:r>
            <a:r>
              <a:rPr sz="1800" spc="-40" dirty="0">
                <a:latin typeface="Arial"/>
                <a:cs typeface="Arial"/>
              </a:rPr>
              <a:t>executed</a:t>
            </a:r>
            <a:r>
              <a:rPr sz="1800" spc="-125" dirty="0">
                <a:latin typeface="Arial"/>
                <a:cs typeface="Arial"/>
              </a:rPr>
              <a:t> </a:t>
            </a:r>
            <a:r>
              <a:rPr sz="1800" spc="40" dirty="0">
                <a:latin typeface="Arial"/>
                <a:cs typeface="Arial"/>
              </a:rPr>
              <a:t>from</a:t>
            </a:r>
            <a:r>
              <a:rPr sz="1800" spc="-114" dirty="0">
                <a:latin typeface="Arial"/>
                <a:cs typeface="Arial"/>
              </a:rPr>
              <a:t> </a:t>
            </a:r>
            <a:r>
              <a:rPr sz="1800" spc="-175" dirty="0">
                <a:latin typeface="Arial"/>
                <a:cs typeface="Arial"/>
              </a:rPr>
              <a:t>a</a:t>
            </a:r>
            <a:r>
              <a:rPr sz="1800" spc="-114" dirty="0">
                <a:latin typeface="Arial"/>
                <a:cs typeface="Arial"/>
              </a:rPr>
              <a:t> </a:t>
            </a:r>
            <a:r>
              <a:rPr sz="1800" spc="-15" dirty="0">
                <a:latin typeface="Arial"/>
                <a:cs typeface="Arial"/>
              </a:rPr>
              <a:t>local</a:t>
            </a:r>
            <a:r>
              <a:rPr sz="1800" spc="-120" dirty="0">
                <a:latin typeface="Arial"/>
                <a:cs typeface="Arial"/>
              </a:rPr>
              <a:t> </a:t>
            </a:r>
            <a:r>
              <a:rPr sz="1800" spc="-35" dirty="0">
                <a:latin typeface="Arial"/>
                <a:cs typeface="Arial"/>
              </a:rPr>
              <a:t>instance</a:t>
            </a:r>
            <a:r>
              <a:rPr sz="1800" spc="-114" dirty="0">
                <a:latin typeface="Arial"/>
                <a:cs typeface="Arial"/>
              </a:rPr>
              <a:t> </a:t>
            </a:r>
            <a:r>
              <a:rPr sz="1800" spc="50" dirty="0">
                <a:latin typeface="Arial"/>
                <a:cs typeface="Arial"/>
              </a:rPr>
              <a:t>of</a:t>
            </a:r>
            <a:r>
              <a:rPr sz="1800" spc="-105" dirty="0">
                <a:latin typeface="Arial"/>
                <a:cs typeface="Arial"/>
              </a:rPr>
              <a:t> </a:t>
            </a:r>
            <a:r>
              <a:rPr sz="1800" spc="20" dirty="0">
                <a:latin typeface="Arial"/>
                <a:cs typeface="Arial"/>
              </a:rPr>
              <a:t>SQL  </a:t>
            </a:r>
            <a:r>
              <a:rPr sz="1800" spc="-45" dirty="0">
                <a:latin typeface="Arial"/>
                <a:cs typeface="Arial"/>
              </a:rPr>
              <a:t>Server</a:t>
            </a:r>
            <a:r>
              <a:rPr sz="1800" spc="-120" dirty="0">
                <a:latin typeface="Arial"/>
                <a:cs typeface="Arial"/>
              </a:rPr>
              <a:t> </a:t>
            </a:r>
            <a:r>
              <a:rPr sz="1800" spc="45" dirty="0">
                <a:latin typeface="Arial"/>
                <a:cs typeface="Arial"/>
              </a:rPr>
              <a:t>to</a:t>
            </a:r>
            <a:r>
              <a:rPr sz="1800" spc="-110" dirty="0">
                <a:latin typeface="Arial"/>
                <a:cs typeface="Arial"/>
              </a:rPr>
              <a:t> </a:t>
            </a:r>
            <a:r>
              <a:rPr sz="1800" spc="-175" dirty="0">
                <a:latin typeface="Arial"/>
                <a:cs typeface="Arial"/>
              </a:rPr>
              <a:t>a</a:t>
            </a:r>
            <a:r>
              <a:rPr sz="1800" spc="-105" dirty="0">
                <a:latin typeface="Arial"/>
                <a:cs typeface="Arial"/>
              </a:rPr>
              <a:t> </a:t>
            </a:r>
            <a:r>
              <a:rPr sz="1800" spc="20" dirty="0">
                <a:latin typeface="Arial"/>
                <a:cs typeface="Arial"/>
              </a:rPr>
              <a:t>client</a:t>
            </a:r>
            <a:r>
              <a:rPr sz="1800" spc="-114" dirty="0">
                <a:latin typeface="Arial"/>
                <a:cs typeface="Arial"/>
              </a:rPr>
              <a:t> </a:t>
            </a:r>
            <a:r>
              <a:rPr sz="1800" spc="-15" dirty="0">
                <a:latin typeface="Arial"/>
                <a:cs typeface="Arial"/>
              </a:rPr>
              <a:t>computer,</a:t>
            </a:r>
            <a:r>
              <a:rPr sz="1800" spc="-114" dirty="0">
                <a:latin typeface="Arial"/>
                <a:cs typeface="Arial"/>
              </a:rPr>
              <a:t> </a:t>
            </a:r>
            <a:r>
              <a:rPr sz="1800" spc="-175" dirty="0">
                <a:latin typeface="Arial"/>
                <a:cs typeface="Arial"/>
              </a:rPr>
              <a:t>a</a:t>
            </a:r>
            <a:r>
              <a:rPr sz="1800" spc="-110" dirty="0">
                <a:latin typeface="Arial"/>
                <a:cs typeface="Arial"/>
              </a:rPr>
              <a:t> </a:t>
            </a:r>
            <a:r>
              <a:rPr sz="1800" spc="-35" dirty="0">
                <a:latin typeface="Arial"/>
                <a:cs typeface="Arial"/>
              </a:rPr>
              <a:t>statement</a:t>
            </a:r>
            <a:r>
              <a:rPr sz="1800" spc="-114" dirty="0">
                <a:latin typeface="Arial"/>
                <a:cs typeface="Arial"/>
              </a:rPr>
              <a:t> </a:t>
            </a:r>
            <a:r>
              <a:rPr sz="1800" spc="-5" dirty="0">
                <a:latin typeface="Arial"/>
                <a:cs typeface="Arial"/>
              </a:rPr>
              <a:t>abort</a:t>
            </a:r>
            <a:r>
              <a:rPr sz="1800" spc="-110" dirty="0">
                <a:latin typeface="Arial"/>
                <a:cs typeface="Arial"/>
              </a:rPr>
              <a:t> </a:t>
            </a:r>
            <a:r>
              <a:rPr sz="1800" spc="5" dirty="0">
                <a:latin typeface="Arial"/>
                <a:cs typeface="Arial"/>
              </a:rPr>
              <a:t>error</a:t>
            </a:r>
            <a:r>
              <a:rPr sz="1800" spc="-105" dirty="0">
                <a:latin typeface="Arial"/>
                <a:cs typeface="Arial"/>
              </a:rPr>
              <a:t> </a:t>
            </a:r>
            <a:r>
              <a:rPr sz="1800" spc="25" dirty="0">
                <a:latin typeface="Arial"/>
                <a:cs typeface="Arial"/>
              </a:rPr>
              <a:t>might</a:t>
            </a:r>
            <a:r>
              <a:rPr sz="1800" spc="-110" dirty="0">
                <a:latin typeface="Arial"/>
                <a:cs typeface="Arial"/>
              </a:rPr>
              <a:t> </a:t>
            </a:r>
            <a:r>
              <a:rPr sz="1800" spc="-90" dirty="0">
                <a:latin typeface="Arial"/>
                <a:cs typeface="Arial"/>
              </a:rPr>
              <a:t>be</a:t>
            </a:r>
            <a:r>
              <a:rPr sz="1800" spc="-105" dirty="0">
                <a:latin typeface="Arial"/>
                <a:cs typeface="Arial"/>
              </a:rPr>
              <a:t> </a:t>
            </a:r>
            <a:r>
              <a:rPr sz="1800" spc="-25" dirty="0">
                <a:latin typeface="Arial"/>
                <a:cs typeface="Arial"/>
              </a:rPr>
              <a:t>encountered.</a:t>
            </a:r>
            <a:endParaRPr sz="1800">
              <a:latin typeface="Arial"/>
              <a:cs typeface="Arial"/>
            </a:endParaRPr>
          </a:p>
          <a:p>
            <a:pPr>
              <a:lnSpc>
                <a:spcPct val="100000"/>
              </a:lnSpc>
              <a:spcBef>
                <a:spcPts val="25"/>
              </a:spcBef>
            </a:pPr>
            <a:endParaRPr sz="2650">
              <a:latin typeface="Arial"/>
              <a:cs typeface="Arial"/>
            </a:endParaRPr>
          </a:p>
          <a:p>
            <a:pPr marL="12700" marR="894080">
              <a:lnSpc>
                <a:spcPts val="1939"/>
              </a:lnSpc>
            </a:pPr>
            <a:r>
              <a:rPr sz="1800" spc="60" dirty="0">
                <a:latin typeface="Arial"/>
                <a:cs typeface="Arial"/>
              </a:rPr>
              <a:t>When</a:t>
            </a:r>
            <a:r>
              <a:rPr sz="1800" spc="-110" dirty="0">
                <a:latin typeface="Arial"/>
                <a:cs typeface="Arial"/>
              </a:rPr>
              <a:t> </a:t>
            </a:r>
            <a:r>
              <a:rPr sz="1800" spc="-50" dirty="0">
                <a:latin typeface="Arial"/>
                <a:cs typeface="Arial"/>
              </a:rPr>
              <a:t>such</a:t>
            </a:r>
            <a:r>
              <a:rPr sz="1800" spc="-105" dirty="0">
                <a:latin typeface="Arial"/>
                <a:cs typeface="Arial"/>
              </a:rPr>
              <a:t> </a:t>
            </a:r>
            <a:r>
              <a:rPr sz="1800" spc="-55" dirty="0">
                <a:latin typeface="Arial"/>
                <a:cs typeface="Arial"/>
              </a:rPr>
              <a:t>an</a:t>
            </a:r>
            <a:r>
              <a:rPr sz="1800" spc="-114" dirty="0">
                <a:latin typeface="Arial"/>
                <a:cs typeface="Arial"/>
              </a:rPr>
              <a:t> </a:t>
            </a:r>
            <a:r>
              <a:rPr sz="1800" spc="10" dirty="0">
                <a:latin typeface="Arial"/>
                <a:cs typeface="Arial"/>
              </a:rPr>
              <a:t>error</a:t>
            </a:r>
            <a:r>
              <a:rPr sz="1800" spc="-114" dirty="0">
                <a:latin typeface="Arial"/>
                <a:cs typeface="Arial"/>
              </a:rPr>
              <a:t> </a:t>
            </a:r>
            <a:r>
              <a:rPr sz="1800" spc="-50" dirty="0">
                <a:latin typeface="Arial"/>
                <a:cs typeface="Arial"/>
              </a:rPr>
              <a:t>occurs,</a:t>
            </a:r>
            <a:r>
              <a:rPr sz="1800" spc="-114" dirty="0">
                <a:latin typeface="Arial"/>
                <a:cs typeface="Arial"/>
              </a:rPr>
              <a:t> </a:t>
            </a:r>
            <a:r>
              <a:rPr sz="1800" dirty="0">
                <a:latin typeface="Arial"/>
                <a:cs typeface="Arial"/>
              </a:rPr>
              <a:t>the</a:t>
            </a:r>
            <a:r>
              <a:rPr sz="1800" spc="-120" dirty="0">
                <a:latin typeface="Arial"/>
                <a:cs typeface="Arial"/>
              </a:rPr>
              <a:t> </a:t>
            </a:r>
            <a:r>
              <a:rPr sz="1800" spc="-35" dirty="0">
                <a:latin typeface="Arial"/>
                <a:cs typeface="Arial"/>
              </a:rPr>
              <a:t>statement</a:t>
            </a:r>
            <a:r>
              <a:rPr sz="1800" spc="-125" dirty="0">
                <a:latin typeface="Arial"/>
                <a:cs typeface="Arial"/>
              </a:rPr>
              <a:t> </a:t>
            </a:r>
            <a:r>
              <a:rPr sz="1800" spc="25" dirty="0">
                <a:latin typeface="Arial"/>
                <a:cs typeface="Arial"/>
              </a:rPr>
              <a:t>that</a:t>
            </a:r>
            <a:r>
              <a:rPr sz="1800" spc="-114" dirty="0">
                <a:latin typeface="Arial"/>
                <a:cs typeface="Arial"/>
              </a:rPr>
              <a:t> </a:t>
            </a:r>
            <a:r>
              <a:rPr sz="1800" spc="-95" dirty="0">
                <a:latin typeface="Arial"/>
                <a:cs typeface="Arial"/>
              </a:rPr>
              <a:t>caused</a:t>
            </a:r>
            <a:r>
              <a:rPr sz="1800" spc="-120" dirty="0">
                <a:latin typeface="Arial"/>
                <a:cs typeface="Arial"/>
              </a:rPr>
              <a:t> </a:t>
            </a:r>
            <a:r>
              <a:rPr sz="1800" dirty="0">
                <a:latin typeface="Arial"/>
                <a:cs typeface="Arial"/>
              </a:rPr>
              <a:t>the</a:t>
            </a:r>
            <a:r>
              <a:rPr sz="1800" spc="-105" dirty="0">
                <a:latin typeface="Arial"/>
                <a:cs typeface="Arial"/>
              </a:rPr>
              <a:t> </a:t>
            </a:r>
            <a:r>
              <a:rPr sz="1800" spc="10" dirty="0">
                <a:latin typeface="Arial"/>
                <a:cs typeface="Arial"/>
              </a:rPr>
              <a:t>error</a:t>
            </a:r>
            <a:r>
              <a:rPr sz="1800" spc="-120" dirty="0">
                <a:latin typeface="Arial"/>
                <a:cs typeface="Arial"/>
              </a:rPr>
              <a:t> </a:t>
            </a:r>
            <a:r>
              <a:rPr sz="1800" spc="-45" dirty="0">
                <a:latin typeface="Arial"/>
                <a:cs typeface="Arial"/>
              </a:rPr>
              <a:t>is  </a:t>
            </a:r>
            <a:r>
              <a:rPr sz="1800" spc="-10" dirty="0">
                <a:latin typeface="Arial"/>
                <a:cs typeface="Arial"/>
              </a:rPr>
              <a:t>terminated,</a:t>
            </a:r>
            <a:r>
              <a:rPr sz="1800" spc="-130" dirty="0">
                <a:latin typeface="Arial"/>
                <a:cs typeface="Arial"/>
              </a:rPr>
              <a:t> </a:t>
            </a:r>
            <a:r>
              <a:rPr sz="1800" spc="40" dirty="0">
                <a:latin typeface="Arial"/>
                <a:cs typeface="Arial"/>
              </a:rPr>
              <a:t>but</a:t>
            </a:r>
            <a:r>
              <a:rPr sz="1800" spc="-110" dirty="0">
                <a:latin typeface="Arial"/>
                <a:cs typeface="Arial"/>
              </a:rPr>
              <a:t> </a:t>
            </a:r>
            <a:r>
              <a:rPr sz="1800" dirty="0">
                <a:latin typeface="Arial"/>
                <a:cs typeface="Arial"/>
              </a:rPr>
              <a:t>the</a:t>
            </a:r>
            <a:r>
              <a:rPr sz="1800" spc="-105" dirty="0">
                <a:latin typeface="Arial"/>
                <a:cs typeface="Arial"/>
              </a:rPr>
              <a:t> </a:t>
            </a:r>
            <a:r>
              <a:rPr sz="1800" spc="-30" dirty="0">
                <a:latin typeface="Arial"/>
                <a:cs typeface="Arial"/>
              </a:rPr>
              <a:t>remote</a:t>
            </a:r>
            <a:r>
              <a:rPr sz="1800" spc="-120" dirty="0">
                <a:latin typeface="Arial"/>
                <a:cs typeface="Arial"/>
              </a:rPr>
              <a:t> </a:t>
            </a:r>
            <a:r>
              <a:rPr sz="1800" spc="-30" dirty="0">
                <a:latin typeface="Arial"/>
                <a:cs typeface="Arial"/>
              </a:rPr>
              <a:t>procedure</a:t>
            </a:r>
            <a:r>
              <a:rPr sz="1800" spc="-120" dirty="0">
                <a:latin typeface="Arial"/>
                <a:cs typeface="Arial"/>
              </a:rPr>
              <a:t> </a:t>
            </a:r>
            <a:r>
              <a:rPr sz="1800" spc="-10" dirty="0">
                <a:latin typeface="Arial"/>
                <a:cs typeface="Arial"/>
              </a:rPr>
              <a:t>continues</a:t>
            </a:r>
            <a:r>
              <a:rPr sz="1800" spc="-110" dirty="0">
                <a:latin typeface="Arial"/>
                <a:cs typeface="Arial"/>
              </a:rPr>
              <a:t> </a:t>
            </a:r>
            <a:r>
              <a:rPr sz="1800" spc="45" dirty="0">
                <a:latin typeface="Arial"/>
                <a:cs typeface="Arial"/>
              </a:rPr>
              <a:t>to</a:t>
            </a:r>
            <a:r>
              <a:rPr sz="1800" spc="-110" dirty="0">
                <a:latin typeface="Arial"/>
                <a:cs typeface="Arial"/>
              </a:rPr>
              <a:t> </a:t>
            </a:r>
            <a:r>
              <a:rPr sz="1800" spc="-90" dirty="0">
                <a:latin typeface="Arial"/>
                <a:cs typeface="Arial"/>
              </a:rPr>
              <a:t>be</a:t>
            </a:r>
            <a:r>
              <a:rPr sz="1800" spc="-100" dirty="0">
                <a:latin typeface="Arial"/>
                <a:cs typeface="Arial"/>
              </a:rPr>
              <a:t> </a:t>
            </a:r>
            <a:r>
              <a:rPr sz="1800" spc="-45" dirty="0">
                <a:latin typeface="Arial"/>
                <a:cs typeface="Arial"/>
              </a:rPr>
              <a:t>executed.</a:t>
            </a:r>
            <a:endParaRPr sz="1800">
              <a:latin typeface="Arial"/>
              <a:cs typeface="Arial"/>
            </a:endParaRPr>
          </a:p>
        </p:txBody>
      </p:sp>
      <p:sp>
        <p:nvSpPr>
          <p:cNvPr id="17" name="object 1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33</a:t>
            </a:fld>
            <a:endParaRPr sz="1200"/>
          </a:p>
        </p:txBody>
      </p:sp>
      <p:sp>
        <p:nvSpPr>
          <p:cNvPr id="18" name="object 1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621655" cy="574040"/>
          </a:xfrm>
          <a:prstGeom prst="rect">
            <a:avLst/>
          </a:prstGeom>
        </p:spPr>
        <p:txBody>
          <a:bodyPr vert="horz" wrap="square" lIns="0" tIns="12700" rIns="0" bIns="0" rtlCol="0">
            <a:spAutoFit/>
          </a:bodyPr>
          <a:lstStyle/>
          <a:p>
            <a:pPr marL="12700">
              <a:lnSpc>
                <a:spcPct val="100000"/>
              </a:lnSpc>
              <a:spcBef>
                <a:spcPts val="100"/>
              </a:spcBef>
            </a:pPr>
            <a:r>
              <a:rPr b="0" spc="-40" dirty="0">
                <a:latin typeface="Arial"/>
                <a:cs typeface="Arial"/>
              </a:rPr>
              <a:t>Extended </a:t>
            </a:r>
            <a:r>
              <a:rPr b="0" spc="-35" dirty="0">
                <a:latin typeface="Arial"/>
                <a:cs typeface="Arial"/>
              </a:rPr>
              <a:t>Stored</a:t>
            </a:r>
            <a:r>
              <a:rPr b="0" spc="-455" dirty="0">
                <a:latin typeface="Arial"/>
                <a:cs typeface="Arial"/>
              </a:rPr>
              <a:t> </a:t>
            </a:r>
            <a:r>
              <a:rPr b="0" spc="-125" dirty="0">
                <a:latin typeface="Arial"/>
                <a:cs typeface="Arial"/>
              </a:rPr>
              <a:t>Procedures</a:t>
            </a:r>
          </a:p>
        </p:txBody>
      </p:sp>
      <p:sp>
        <p:nvSpPr>
          <p:cNvPr id="3" name="object 3"/>
          <p:cNvSpPr/>
          <p:nvPr/>
        </p:nvSpPr>
        <p:spPr>
          <a:xfrm>
            <a:off x="861822" y="1242821"/>
            <a:ext cx="7562850" cy="2893060"/>
          </a:xfrm>
          <a:custGeom>
            <a:avLst/>
            <a:gdLst/>
            <a:ahLst/>
            <a:cxnLst/>
            <a:rect l="l" t="t" r="r" b="b"/>
            <a:pathLst>
              <a:path w="7562850" h="2893060">
                <a:moveTo>
                  <a:pt x="7562850" y="482092"/>
                </a:moveTo>
                <a:lnTo>
                  <a:pt x="7560348" y="432816"/>
                </a:lnTo>
                <a:lnTo>
                  <a:pt x="7553045" y="384962"/>
                </a:lnTo>
                <a:lnTo>
                  <a:pt x="7541158" y="338759"/>
                </a:lnTo>
                <a:lnTo>
                  <a:pt x="7524953" y="294474"/>
                </a:lnTo>
                <a:lnTo>
                  <a:pt x="7504646" y="252336"/>
                </a:lnTo>
                <a:lnTo>
                  <a:pt x="7480490" y="212585"/>
                </a:lnTo>
                <a:lnTo>
                  <a:pt x="7452741" y="175463"/>
                </a:lnTo>
                <a:lnTo>
                  <a:pt x="7421626" y="141224"/>
                </a:lnTo>
                <a:lnTo>
                  <a:pt x="7387387" y="110109"/>
                </a:lnTo>
                <a:lnTo>
                  <a:pt x="7350265" y="82359"/>
                </a:lnTo>
                <a:lnTo>
                  <a:pt x="7310514" y="58204"/>
                </a:lnTo>
                <a:lnTo>
                  <a:pt x="7268375" y="37896"/>
                </a:lnTo>
                <a:lnTo>
                  <a:pt x="7224090" y="21691"/>
                </a:lnTo>
                <a:lnTo>
                  <a:pt x="7177887" y="9804"/>
                </a:lnTo>
                <a:lnTo>
                  <a:pt x="7130034" y="2501"/>
                </a:lnTo>
                <a:lnTo>
                  <a:pt x="7080758" y="0"/>
                </a:lnTo>
                <a:lnTo>
                  <a:pt x="482092" y="0"/>
                </a:lnTo>
                <a:lnTo>
                  <a:pt x="432790" y="2501"/>
                </a:lnTo>
                <a:lnTo>
                  <a:pt x="384924" y="9804"/>
                </a:lnTo>
                <a:lnTo>
                  <a:pt x="338734" y="21691"/>
                </a:lnTo>
                <a:lnTo>
                  <a:pt x="294436" y="37896"/>
                </a:lnTo>
                <a:lnTo>
                  <a:pt x="252298" y="58204"/>
                </a:lnTo>
                <a:lnTo>
                  <a:pt x="212547" y="82359"/>
                </a:lnTo>
                <a:lnTo>
                  <a:pt x="175437" y="110109"/>
                </a:lnTo>
                <a:lnTo>
                  <a:pt x="141198" y="141224"/>
                </a:lnTo>
                <a:lnTo>
                  <a:pt x="110083" y="175463"/>
                </a:lnTo>
                <a:lnTo>
                  <a:pt x="82334" y="212585"/>
                </a:lnTo>
                <a:lnTo>
                  <a:pt x="58178" y="252336"/>
                </a:lnTo>
                <a:lnTo>
                  <a:pt x="37884" y="294474"/>
                </a:lnTo>
                <a:lnTo>
                  <a:pt x="21666" y="338759"/>
                </a:lnTo>
                <a:lnTo>
                  <a:pt x="9791" y="384962"/>
                </a:lnTo>
                <a:lnTo>
                  <a:pt x="2476" y="432816"/>
                </a:lnTo>
                <a:lnTo>
                  <a:pt x="0" y="482092"/>
                </a:lnTo>
                <a:lnTo>
                  <a:pt x="0" y="2410460"/>
                </a:lnTo>
                <a:lnTo>
                  <a:pt x="2476" y="2459748"/>
                </a:lnTo>
                <a:lnTo>
                  <a:pt x="9791" y="2507602"/>
                </a:lnTo>
                <a:lnTo>
                  <a:pt x="21666" y="2553805"/>
                </a:lnTo>
                <a:lnTo>
                  <a:pt x="37884" y="2598089"/>
                </a:lnTo>
                <a:lnTo>
                  <a:pt x="58178" y="2640228"/>
                </a:lnTo>
                <a:lnTo>
                  <a:pt x="82334" y="2679979"/>
                </a:lnTo>
                <a:lnTo>
                  <a:pt x="110083" y="2717101"/>
                </a:lnTo>
                <a:lnTo>
                  <a:pt x="141198" y="2751328"/>
                </a:lnTo>
                <a:lnTo>
                  <a:pt x="175437" y="2782455"/>
                </a:lnTo>
                <a:lnTo>
                  <a:pt x="212547" y="2810205"/>
                </a:lnTo>
                <a:lnTo>
                  <a:pt x="252298" y="2834360"/>
                </a:lnTo>
                <a:lnTo>
                  <a:pt x="294436" y="2854668"/>
                </a:lnTo>
                <a:lnTo>
                  <a:pt x="338734" y="2870873"/>
                </a:lnTo>
                <a:lnTo>
                  <a:pt x="384924" y="2882760"/>
                </a:lnTo>
                <a:lnTo>
                  <a:pt x="432790" y="2890062"/>
                </a:lnTo>
                <a:lnTo>
                  <a:pt x="482092" y="2892552"/>
                </a:lnTo>
                <a:lnTo>
                  <a:pt x="7080758" y="2892552"/>
                </a:lnTo>
                <a:lnTo>
                  <a:pt x="7130034" y="2890062"/>
                </a:lnTo>
                <a:lnTo>
                  <a:pt x="7177887" y="2882760"/>
                </a:lnTo>
                <a:lnTo>
                  <a:pt x="7224090" y="2870873"/>
                </a:lnTo>
                <a:lnTo>
                  <a:pt x="7268375" y="2854668"/>
                </a:lnTo>
                <a:lnTo>
                  <a:pt x="7310514" y="2834360"/>
                </a:lnTo>
                <a:lnTo>
                  <a:pt x="7350265" y="2810205"/>
                </a:lnTo>
                <a:lnTo>
                  <a:pt x="7387387" y="2782455"/>
                </a:lnTo>
                <a:lnTo>
                  <a:pt x="7421613" y="2751328"/>
                </a:lnTo>
                <a:lnTo>
                  <a:pt x="7452741" y="2717101"/>
                </a:lnTo>
                <a:lnTo>
                  <a:pt x="7480490" y="2679979"/>
                </a:lnTo>
                <a:lnTo>
                  <a:pt x="7504646" y="2640228"/>
                </a:lnTo>
                <a:lnTo>
                  <a:pt x="7524953" y="2598089"/>
                </a:lnTo>
                <a:lnTo>
                  <a:pt x="7541158" y="2553805"/>
                </a:lnTo>
                <a:lnTo>
                  <a:pt x="7553045" y="2507602"/>
                </a:lnTo>
                <a:lnTo>
                  <a:pt x="7560348" y="2459748"/>
                </a:lnTo>
                <a:lnTo>
                  <a:pt x="7562850" y="2410460"/>
                </a:lnTo>
                <a:lnTo>
                  <a:pt x="7562850" y="482092"/>
                </a:lnTo>
                <a:close/>
              </a:path>
            </a:pathLst>
          </a:custGeom>
          <a:solidFill>
            <a:srgbClr val="000000"/>
          </a:solidFill>
        </p:spPr>
        <p:txBody>
          <a:bodyPr wrap="square" lIns="0" tIns="0" rIns="0" bIns="0" rtlCol="0"/>
          <a:lstStyle/>
          <a:p>
            <a:endParaRPr/>
          </a:p>
        </p:txBody>
      </p:sp>
      <p:sp>
        <p:nvSpPr>
          <p:cNvPr id="4" name="object 4"/>
          <p:cNvSpPr txBox="1"/>
          <p:nvPr/>
        </p:nvSpPr>
        <p:spPr>
          <a:xfrm>
            <a:off x="1070102" y="1429003"/>
            <a:ext cx="7134225" cy="2220595"/>
          </a:xfrm>
          <a:prstGeom prst="rect">
            <a:avLst/>
          </a:prstGeom>
        </p:spPr>
        <p:txBody>
          <a:bodyPr vert="horz" wrap="square" lIns="0" tIns="12700" rIns="0" bIns="0" rtlCol="0">
            <a:spAutoFit/>
          </a:bodyPr>
          <a:lstStyle/>
          <a:p>
            <a:pPr marL="355600" marR="5715" indent="-342900" algn="just">
              <a:lnSpc>
                <a:spcPct val="100000"/>
              </a:lnSpc>
              <a:spcBef>
                <a:spcPts val="100"/>
              </a:spcBef>
              <a:buFont typeface="Wingdings"/>
              <a:buChar char=""/>
              <a:tabLst>
                <a:tab pos="355600" algn="l"/>
              </a:tabLst>
            </a:pPr>
            <a:r>
              <a:rPr sz="2400" spc="-30" dirty="0">
                <a:solidFill>
                  <a:srgbClr val="FFFFFF"/>
                </a:solidFill>
                <a:latin typeface="Arial"/>
                <a:cs typeface="Arial"/>
              </a:rPr>
              <a:t>Extended </a:t>
            </a:r>
            <a:r>
              <a:rPr sz="2400" spc="-40" dirty="0">
                <a:solidFill>
                  <a:srgbClr val="FFFFFF"/>
                </a:solidFill>
                <a:latin typeface="Arial"/>
                <a:cs typeface="Arial"/>
              </a:rPr>
              <a:t>stored </a:t>
            </a:r>
            <a:r>
              <a:rPr sz="2400" spc="-60" dirty="0">
                <a:solidFill>
                  <a:srgbClr val="FFFFFF"/>
                </a:solidFill>
                <a:latin typeface="Arial"/>
                <a:cs typeface="Arial"/>
              </a:rPr>
              <a:t>procedures </a:t>
            </a:r>
            <a:r>
              <a:rPr sz="2400" spc="-114" dirty="0">
                <a:solidFill>
                  <a:srgbClr val="FFFFFF"/>
                </a:solidFill>
                <a:latin typeface="Arial"/>
                <a:cs typeface="Arial"/>
              </a:rPr>
              <a:t>are </a:t>
            </a:r>
            <a:r>
              <a:rPr sz="2400" spc="-105" dirty="0">
                <a:solidFill>
                  <a:srgbClr val="FFFFFF"/>
                </a:solidFill>
                <a:latin typeface="Arial"/>
                <a:cs typeface="Arial"/>
              </a:rPr>
              <a:t>used </a:t>
            </a:r>
            <a:r>
              <a:rPr sz="2400" spc="65" dirty="0">
                <a:solidFill>
                  <a:srgbClr val="FFFFFF"/>
                </a:solidFill>
                <a:latin typeface="Arial"/>
                <a:cs typeface="Arial"/>
              </a:rPr>
              <a:t>to </a:t>
            </a:r>
            <a:r>
              <a:rPr sz="2400" spc="15" dirty="0">
                <a:solidFill>
                  <a:srgbClr val="FFFFFF"/>
                </a:solidFill>
                <a:latin typeface="Arial"/>
                <a:cs typeface="Arial"/>
              </a:rPr>
              <a:t>perform  </a:t>
            </a:r>
            <a:r>
              <a:rPr sz="2400" spc="-100" dirty="0">
                <a:solidFill>
                  <a:srgbClr val="FFFFFF"/>
                </a:solidFill>
                <a:latin typeface="Arial"/>
                <a:cs typeface="Arial"/>
              </a:rPr>
              <a:t>tasks </a:t>
            </a:r>
            <a:r>
              <a:rPr sz="2400" spc="35" dirty="0">
                <a:solidFill>
                  <a:srgbClr val="FFFFFF"/>
                </a:solidFill>
                <a:latin typeface="Arial"/>
                <a:cs typeface="Arial"/>
              </a:rPr>
              <a:t>that</a:t>
            </a:r>
            <a:r>
              <a:rPr sz="2400" spc="735" dirty="0">
                <a:solidFill>
                  <a:srgbClr val="FFFFFF"/>
                </a:solidFill>
                <a:latin typeface="Arial"/>
                <a:cs typeface="Arial"/>
              </a:rPr>
              <a:t> </a:t>
            </a:r>
            <a:r>
              <a:rPr sz="2400" spc="-114" dirty="0">
                <a:solidFill>
                  <a:srgbClr val="FFFFFF"/>
                </a:solidFill>
                <a:latin typeface="Arial"/>
                <a:cs typeface="Arial"/>
              </a:rPr>
              <a:t>are  </a:t>
            </a:r>
            <a:r>
              <a:rPr sz="2400" spc="-35" dirty="0">
                <a:solidFill>
                  <a:srgbClr val="FFFFFF"/>
                </a:solidFill>
                <a:latin typeface="Arial"/>
                <a:cs typeface="Arial"/>
              </a:rPr>
              <a:t>unable </a:t>
            </a:r>
            <a:r>
              <a:rPr sz="2400" spc="65" dirty="0">
                <a:solidFill>
                  <a:srgbClr val="FFFFFF"/>
                </a:solidFill>
                <a:latin typeface="Arial"/>
                <a:cs typeface="Arial"/>
              </a:rPr>
              <a:t>to </a:t>
            </a:r>
            <a:r>
              <a:rPr sz="2400" spc="-120" dirty="0">
                <a:solidFill>
                  <a:srgbClr val="FFFFFF"/>
                </a:solidFill>
                <a:latin typeface="Arial"/>
                <a:cs typeface="Arial"/>
              </a:rPr>
              <a:t>be </a:t>
            </a:r>
            <a:r>
              <a:rPr sz="2400" spc="-15" dirty="0">
                <a:solidFill>
                  <a:srgbClr val="FFFFFF"/>
                </a:solidFill>
                <a:latin typeface="Arial"/>
                <a:cs typeface="Arial"/>
              </a:rPr>
              <a:t>performed  </a:t>
            </a:r>
            <a:r>
              <a:rPr sz="2400" spc="-30" dirty="0">
                <a:solidFill>
                  <a:srgbClr val="FFFFFF"/>
                </a:solidFill>
                <a:latin typeface="Arial"/>
                <a:cs typeface="Arial"/>
              </a:rPr>
              <a:t>using  </a:t>
            </a:r>
            <a:r>
              <a:rPr sz="2400" spc="-45" dirty="0">
                <a:solidFill>
                  <a:srgbClr val="FFFFFF"/>
                </a:solidFill>
                <a:latin typeface="Arial"/>
                <a:cs typeface="Arial"/>
              </a:rPr>
              <a:t>standard </a:t>
            </a:r>
            <a:r>
              <a:rPr sz="2400" spc="-15" dirty="0">
                <a:solidFill>
                  <a:srgbClr val="FFFFFF"/>
                </a:solidFill>
                <a:latin typeface="Arial"/>
                <a:cs typeface="Arial"/>
              </a:rPr>
              <a:t>Transact-SQL</a:t>
            </a:r>
            <a:r>
              <a:rPr sz="2400" spc="-270" dirty="0">
                <a:solidFill>
                  <a:srgbClr val="FFFFFF"/>
                </a:solidFill>
                <a:latin typeface="Arial"/>
                <a:cs typeface="Arial"/>
              </a:rPr>
              <a:t> </a:t>
            </a:r>
            <a:r>
              <a:rPr sz="2400" spc="-65" dirty="0">
                <a:solidFill>
                  <a:srgbClr val="FFFFFF"/>
                </a:solidFill>
                <a:latin typeface="Arial"/>
                <a:cs typeface="Arial"/>
              </a:rPr>
              <a:t>statements.</a:t>
            </a:r>
            <a:endParaRPr sz="2400">
              <a:latin typeface="Arial"/>
              <a:cs typeface="Arial"/>
            </a:endParaRPr>
          </a:p>
          <a:p>
            <a:pPr marL="355600" marR="5080" indent="-342900" algn="just">
              <a:lnSpc>
                <a:spcPct val="100000"/>
              </a:lnSpc>
              <a:buFont typeface="Wingdings"/>
              <a:buChar char=""/>
              <a:tabLst>
                <a:tab pos="355600" algn="l"/>
              </a:tabLst>
            </a:pPr>
            <a:r>
              <a:rPr sz="2400" spc="-30" dirty="0">
                <a:solidFill>
                  <a:srgbClr val="FFFFFF"/>
                </a:solidFill>
                <a:latin typeface="Arial"/>
                <a:cs typeface="Arial"/>
              </a:rPr>
              <a:t>Extended </a:t>
            </a:r>
            <a:r>
              <a:rPr sz="2400" spc="-40" dirty="0">
                <a:solidFill>
                  <a:srgbClr val="FFFFFF"/>
                </a:solidFill>
                <a:latin typeface="Arial"/>
                <a:cs typeface="Arial"/>
              </a:rPr>
              <a:t>stored </a:t>
            </a:r>
            <a:r>
              <a:rPr sz="2400" spc="-60" dirty="0">
                <a:solidFill>
                  <a:srgbClr val="FFFFFF"/>
                </a:solidFill>
                <a:latin typeface="Arial"/>
                <a:cs typeface="Arial"/>
              </a:rPr>
              <a:t>procedures </a:t>
            </a:r>
            <a:r>
              <a:rPr sz="2400" spc="-145" dirty="0">
                <a:solidFill>
                  <a:srgbClr val="FFFFFF"/>
                </a:solidFill>
                <a:latin typeface="Arial"/>
                <a:cs typeface="Arial"/>
              </a:rPr>
              <a:t>use </a:t>
            </a:r>
            <a:r>
              <a:rPr sz="2400" dirty="0">
                <a:solidFill>
                  <a:srgbClr val="FFFFFF"/>
                </a:solidFill>
                <a:latin typeface="Arial"/>
                <a:cs typeface="Arial"/>
              </a:rPr>
              <a:t>the </a:t>
            </a:r>
            <a:r>
              <a:rPr sz="2400" spc="-75" dirty="0">
                <a:solidFill>
                  <a:srgbClr val="FFFFFF"/>
                </a:solidFill>
                <a:latin typeface="Arial"/>
                <a:cs typeface="Arial"/>
              </a:rPr>
              <a:t>'xp_' </a:t>
            </a:r>
            <a:r>
              <a:rPr sz="2400" spc="30" dirty="0">
                <a:solidFill>
                  <a:srgbClr val="FFFFFF"/>
                </a:solidFill>
                <a:latin typeface="Arial"/>
                <a:cs typeface="Arial"/>
              </a:rPr>
              <a:t>prefix.  </a:t>
            </a:r>
            <a:r>
              <a:rPr sz="2400" spc="-85" dirty="0">
                <a:solidFill>
                  <a:srgbClr val="FFFFFF"/>
                </a:solidFill>
                <a:latin typeface="Arial"/>
                <a:cs typeface="Arial"/>
              </a:rPr>
              <a:t>These </a:t>
            </a:r>
            <a:r>
              <a:rPr sz="2400" spc="-40" dirty="0">
                <a:solidFill>
                  <a:srgbClr val="FFFFFF"/>
                </a:solidFill>
                <a:latin typeface="Arial"/>
                <a:cs typeface="Arial"/>
              </a:rPr>
              <a:t>stored </a:t>
            </a:r>
            <a:r>
              <a:rPr sz="2400" spc="-60" dirty="0">
                <a:solidFill>
                  <a:srgbClr val="FFFFFF"/>
                </a:solidFill>
                <a:latin typeface="Arial"/>
                <a:cs typeface="Arial"/>
              </a:rPr>
              <a:t>procedures </a:t>
            </a:r>
            <a:r>
              <a:rPr sz="2400" spc="-114" dirty="0">
                <a:solidFill>
                  <a:srgbClr val="FFFFFF"/>
                </a:solidFill>
                <a:latin typeface="Arial"/>
                <a:cs typeface="Arial"/>
              </a:rPr>
              <a:t>are </a:t>
            </a:r>
            <a:r>
              <a:rPr sz="2400" spc="-10" dirty="0">
                <a:solidFill>
                  <a:srgbClr val="FFFFFF"/>
                </a:solidFill>
                <a:latin typeface="Arial"/>
                <a:cs typeface="Arial"/>
              </a:rPr>
              <a:t>contained </a:t>
            </a:r>
            <a:r>
              <a:rPr sz="2400" spc="114" dirty="0">
                <a:solidFill>
                  <a:srgbClr val="FFFFFF"/>
                </a:solidFill>
                <a:latin typeface="Arial"/>
                <a:cs typeface="Arial"/>
              </a:rPr>
              <a:t>in </a:t>
            </a:r>
            <a:r>
              <a:rPr sz="2400" dirty="0">
                <a:solidFill>
                  <a:srgbClr val="FFFFFF"/>
                </a:solidFill>
                <a:latin typeface="Arial"/>
                <a:cs typeface="Arial"/>
              </a:rPr>
              <a:t>the </a:t>
            </a:r>
            <a:r>
              <a:rPr sz="2400" spc="-10" dirty="0">
                <a:solidFill>
                  <a:srgbClr val="FFFFFF"/>
                </a:solidFill>
                <a:latin typeface="Arial"/>
                <a:cs typeface="Arial"/>
              </a:rPr>
              <a:t>dbo  </a:t>
            </a:r>
            <a:r>
              <a:rPr sz="2400" spc="-130" dirty="0">
                <a:solidFill>
                  <a:srgbClr val="FFFFFF"/>
                </a:solidFill>
                <a:latin typeface="Arial"/>
                <a:cs typeface="Arial"/>
              </a:rPr>
              <a:t>schema </a:t>
            </a:r>
            <a:r>
              <a:rPr sz="2400" spc="65" dirty="0">
                <a:solidFill>
                  <a:srgbClr val="FFFFFF"/>
                </a:solidFill>
                <a:latin typeface="Arial"/>
                <a:cs typeface="Arial"/>
              </a:rPr>
              <a:t>of </a:t>
            </a:r>
            <a:r>
              <a:rPr sz="2400" dirty="0">
                <a:solidFill>
                  <a:srgbClr val="FFFFFF"/>
                </a:solidFill>
                <a:latin typeface="Arial"/>
                <a:cs typeface="Arial"/>
              </a:rPr>
              <a:t>the</a:t>
            </a:r>
            <a:r>
              <a:rPr sz="2400" spc="-484" dirty="0">
                <a:solidFill>
                  <a:srgbClr val="FFFFFF"/>
                </a:solidFill>
                <a:latin typeface="Arial"/>
                <a:cs typeface="Arial"/>
              </a:rPr>
              <a:t> </a:t>
            </a:r>
            <a:r>
              <a:rPr sz="2400" spc="-80" dirty="0">
                <a:solidFill>
                  <a:srgbClr val="FFFFFF"/>
                </a:solidFill>
                <a:latin typeface="Arial"/>
                <a:cs typeface="Arial"/>
              </a:rPr>
              <a:t>master </a:t>
            </a:r>
            <a:r>
              <a:rPr sz="2400" spc="-120" dirty="0">
                <a:solidFill>
                  <a:srgbClr val="FFFFFF"/>
                </a:solidFill>
                <a:latin typeface="Arial"/>
                <a:cs typeface="Arial"/>
              </a:rPr>
              <a:t>database.</a:t>
            </a:r>
            <a:endParaRPr sz="2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34</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8530590" cy="574040"/>
          </a:xfrm>
          <a:prstGeom prst="rect">
            <a:avLst/>
          </a:prstGeom>
        </p:spPr>
        <p:txBody>
          <a:bodyPr vert="horz" wrap="square" lIns="0" tIns="12700" rIns="0" bIns="0" rtlCol="0">
            <a:spAutoFit/>
          </a:bodyPr>
          <a:lstStyle/>
          <a:p>
            <a:pPr marL="12700">
              <a:lnSpc>
                <a:spcPct val="100000"/>
              </a:lnSpc>
              <a:spcBef>
                <a:spcPts val="100"/>
              </a:spcBef>
            </a:pPr>
            <a:r>
              <a:rPr b="0" spc="25" dirty="0">
                <a:latin typeface="Arial"/>
                <a:cs typeface="Arial"/>
              </a:rPr>
              <a:t>Custom</a:t>
            </a:r>
            <a:r>
              <a:rPr b="0" spc="-240" dirty="0">
                <a:latin typeface="Arial"/>
                <a:cs typeface="Arial"/>
              </a:rPr>
              <a:t> </a:t>
            </a:r>
            <a:r>
              <a:rPr b="0" spc="55" dirty="0">
                <a:latin typeface="Arial"/>
                <a:cs typeface="Arial"/>
              </a:rPr>
              <a:t>or</a:t>
            </a:r>
            <a:r>
              <a:rPr b="0" spc="-229" dirty="0">
                <a:latin typeface="Arial"/>
                <a:cs typeface="Arial"/>
              </a:rPr>
              <a:t> </a:t>
            </a:r>
            <a:r>
              <a:rPr b="0" spc="-20" dirty="0">
                <a:latin typeface="Arial"/>
                <a:cs typeface="Arial"/>
              </a:rPr>
              <a:t>User-defined</a:t>
            </a:r>
            <a:r>
              <a:rPr b="0" spc="-240" dirty="0">
                <a:latin typeface="Arial"/>
                <a:cs typeface="Arial"/>
              </a:rPr>
              <a:t> </a:t>
            </a:r>
            <a:r>
              <a:rPr b="0" spc="-35" dirty="0">
                <a:latin typeface="Arial"/>
                <a:cs typeface="Arial"/>
              </a:rPr>
              <a:t>Stored</a:t>
            </a:r>
            <a:r>
              <a:rPr b="0" spc="-225" dirty="0">
                <a:latin typeface="Arial"/>
                <a:cs typeface="Arial"/>
              </a:rPr>
              <a:t> </a:t>
            </a:r>
            <a:r>
              <a:rPr b="0" spc="-125" dirty="0">
                <a:latin typeface="Arial"/>
                <a:cs typeface="Arial"/>
              </a:rPr>
              <a:t>Procedures</a:t>
            </a:r>
          </a:p>
        </p:txBody>
      </p:sp>
      <p:sp>
        <p:nvSpPr>
          <p:cNvPr id="3" name="object 3"/>
          <p:cNvSpPr/>
          <p:nvPr/>
        </p:nvSpPr>
        <p:spPr>
          <a:xfrm>
            <a:off x="569976" y="951737"/>
            <a:ext cx="8117205" cy="1783080"/>
          </a:xfrm>
          <a:custGeom>
            <a:avLst/>
            <a:gdLst/>
            <a:ahLst/>
            <a:cxnLst/>
            <a:rect l="l" t="t" r="r" b="b"/>
            <a:pathLst>
              <a:path w="8117205" h="1783080">
                <a:moveTo>
                  <a:pt x="8116824" y="297180"/>
                </a:moveTo>
                <a:lnTo>
                  <a:pt x="8112925" y="248996"/>
                </a:lnTo>
                <a:lnTo>
                  <a:pt x="8101660" y="203276"/>
                </a:lnTo>
                <a:lnTo>
                  <a:pt x="8083639" y="160629"/>
                </a:lnTo>
                <a:lnTo>
                  <a:pt x="8059471" y="121691"/>
                </a:lnTo>
                <a:lnTo>
                  <a:pt x="8029765" y="87058"/>
                </a:lnTo>
                <a:lnTo>
                  <a:pt x="7995132" y="57353"/>
                </a:lnTo>
                <a:lnTo>
                  <a:pt x="7956194" y="33185"/>
                </a:lnTo>
                <a:lnTo>
                  <a:pt x="7913548" y="15163"/>
                </a:lnTo>
                <a:lnTo>
                  <a:pt x="7867828" y="3898"/>
                </a:lnTo>
                <a:lnTo>
                  <a:pt x="7819644" y="0"/>
                </a:lnTo>
                <a:lnTo>
                  <a:pt x="297180" y="0"/>
                </a:lnTo>
                <a:lnTo>
                  <a:pt x="248970" y="3898"/>
                </a:lnTo>
                <a:lnTo>
                  <a:pt x="203238" y="15163"/>
                </a:lnTo>
                <a:lnTo>
                  <a:pt x="160604" y="33185"/>
                </a:lnTo>
                <a:lnTo>
                  <a:pt x="121666" y="57353"/>
                </a:lnTo>
                <a:lnTo>
                  <a:pt x="87033" y="87058"/>
                </a:lnTo>
                <a:lnTo>
                  <a:pt x="57327" y="121691"/>
                </a:lnTo>
                <a:lnTo>
                  <a:pt x="33159" y="160629"/>
                </a:lnTo>
                <a:lnTo>
                  <a:pt x="15138" y="203276"/>
                </a:lnTo>
                <a:lnTo>
                  <a:pt x="3886" y="248996"/>
                </a:lnTo>
                <a:lnTo>
                  <a:pt x="0" y="297180"/>
                </a:lnTo>
                <a:lnTo>
                  <a:pt x="0" y="1485900"/>
                </a:lnTo>
                <a:lnTo>
                  <a:pt x="3886" y="1534096"/>
                </a:lnTo>
                <a:lnTo>
                  <a:pt x="15138" y="1579816"/>
                </a:lnTo>
                <a:lnTo>
                  <a:pt x="33159" y="1622463"/>
                </a:lnTo>
                <a:lnTo>
                  <a:pt x="57327" y="1661401"/>
                </a:lnTo>
                <a:lnTo>
                  <a:pt x="87033" y="1696021"/>
                </a:lnTo>
                <a:lnTo>
                  <a:pt x="121666" y="1725739"/>
                </a:lnTo>
                <a:lnTo>
                  <a:pt x="160604" y="1749907"/>
                </a:lnTo>
                <a:lnTo>
                  <a:pt x="203238" y="1767928"/>
                </a:lnTo>
                <a:lnTo>
                  <a:pt x="248970" y="1779193"/>
                </a:lnTo>
                <a:lnTo>
                  <a:pt x="297180" y="1783080"/>
                </a:lnTo>
                <a:lnTo>
                  <a:pt x="7819644" y="1783080"/>
                </a:lnTo>
                <a:lnTo>
                  <a:pt x="7867828" y="1779193"/>
                </a:lnTo>
                <a:lnTo>
                  <a:pt x="7913548" y="1767928"/>
                </a:lnTo>
                <a:lnTo>
                  <a:pt x="7956194" y="1749907"/>
                </a:lnTo>
                <a:lnTo>
                  <a:pt x="7995132" y="1725739"/>
                </a:lnTo>
                <a:lnTo>
                  <a:pt x="8029765" y="1696021"/>
                </a:lnTo>
                <a:lnTo>
                  <a:pt x="8059471" y="1661401"/>
                </a:lnTo>
                <a:lnTo>
                  <a:pt x="8083639" y="1622463"/>
                </a:lnTo>
                <a:lnTo>
                  <a:pt x="8101660" y="1579816"/>
                </a:lnTo>
                <a:lnTo>
                  <a:pt x="8112925" y="1534096"/>
                </a:lnTo>
                <a:lnTo>
                  <a:pt x="8116824" y="1485900"/>
                </a:lnTo>
                <a:lnTo>
                  <a:pt x="8116824" y="1348740"/>
                </a:lnTo>
                <a:lnTo>
                  <a:pt x="8116824" y="434340"/>
                </a:lnTo>
                <a:lnTo>
                  <a:pt x="8116824" y="297180"/>
                </a:lnTo>
                <a:close/>
              </a:path>
            </a:pathLst>
          </a:custGeom>
          <a:solidFill>
            <a:srgbClr val="C0504D"/>
          </a:solidFill>
        </p:spPr>
        <p:txBody>
          <a:bodyPr wrap="square" lIns="0" tIns="0" rIns="0" bIns="0" rtlCol="0"/>
          <a:lstStyle/>
          <a:p>
            <a:endParaRPr/>
          </a:p>
        </p:txBody>
      </p:sp>
      <p:sp>
        <p:nvSpPr>
          <p:cNvPr id="4" name="object 4"/>
          <p:cNvSpPr txBox="1"/>
          <p:nvPr/>
        </p:nvSpPr>
        <p:spPr>
          <a:xfrm>
            <a:off x="784859" y="1031747"/>
            <a:ext cx="7709534" cy="1488440"/>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a:buChar char=""/>
              <a:tabLst>
                <a:tab pos="355600" algn="l"/>
              </a:tabLst>
            </a:pPr>
            <a:r>
              <a:rPr sz="2400" spc="95" dirty="0">
                <a:solidFill>
                  <a:srgbClr val="FFFFFF"/>
                </a:solidFill>
                <a:latin typeface="Arial"/>
                <a:cs typeface="Arial"/>
              </a:rPr>
              <a:t>In </a:t>
            </a:r>
            <a:r>
              <a:rPr sz="2400" spc="25" dirty="0">
                <a:solidFill>
                  <a:srgbClr val="FFFFFF"/>
                </a:solidFill>
                <a:latin typeface="Arial"/>
                <a:cs typeface="Arial"/>
              </a:rPr>
              <a:t>SQL </a:t>
            </a:r>
            <a:r>
              <a:rPr sz="2400" spc="-65" dirty="0">
                <a:solidFill>
                  <a:srgbClr val="FFFFFF"/>
                </a:solidFill>
                <a:latin typeface="Arial"/>
                <a:cs typeface="Arial"/>
              </a:rPr>
              <a:t>Server, </a:t>
            </a:r>
            <a:r>
              <a:rPr sz="2400" spc="-120" dirty="0">
                <a:solidFill>
                  <a:srgbClr val="FFFFFF"/>
                </a:solidFill>
                <a:latin typeface="Arial"/>
                <a:cs typeface="Arial"/>
              </a:rPr>
              <a:t>users </a:t>
            </a:r>
            <a:r>
              <a:rPr sz="2400" spc="-114" dirty="0">
                <a:solidFill>
                  <a:srgbClr val="FFFFFF"/>
                </a:solidFill>
                <a:latin typeface="Arial"/>
                <a:cs typeface="Arial"/>
              </a:rPr>
              <a:t>are </a:t>
            </a:r>
            <a:r>
              <a:rPr sz="2400" spc="-20" dirty="0">
                <a:solidFill>
                  <a:srgbClr val="FFFFFF"/>
                </a:solidFill>
                <a:latin typeface="Arial"/>
                <a:cs typeface="Arial"/>
              </a:rPr>
              <a:t>allowed </a:t>
            </a:r>
            <a:r>
              <a:rPr sz="2400" spc="65" dirty="0">
                <a:solidFill>
                  <a:srgbClr val="FFFFFF"/>
                </a:solidFill>
                <a:latin typeface="Arial"/>
                <a:cs typeface="Arial"/>
              </a:rPr>
              <a:t>to </a:t>
            </a:r>
            <a:r>
              <a:rPr sz="2400" spc="-90" dirty="0">
                <a:solidFill>
                  <a:srgbClr val="FFFFFF"/>
                </a:solidFill>
                <a:latin typeface="Arial"/>
                <a:cs typeface="Arial"/>
              </a:rPr>
              <a:t>create </a:t>
            </a:r>
            <a:r>
              <a:rPr sz="2400" spc="-55" dirty="0">
                <a:solidFill>
                  <a:srgbClr val="FFFFFF"/>
                </a:solidFill>
                <a:latin typeface="Arial"/>
                <a:cs typeface="Arial"/>
              </a:rPr>
              <a:t>customized  </a:t>
            </a:r>
            <a:r>
              <a:rPr sz="2400" spc="-40" dirty="0">
                <a:solidFill>
                  <a:srgbClr val="FFFFFF"/>
                </a:solidFill>
                <a:latin typeface="Arial"/>
                <a:cs typeface="Arial"/>
              </a:rPr>
              <a:t>stored</a:t>
            </a:r>
            <a:r>
              <a:rPr sz="2400" spc="-170" dirty="0">
                <a:solidFill>
                  <a:srgbClr val="FFFFFF"/>
                </a:solidFill>
                <a:latin typeface="Arial"/>
                <a:cs typeface="Arial"/>
              </a:rPr>
              <a:t> </a:t>
            </a:r>
            <a:r>
              <a:rPr sz="2400" spc="-60" dirty="0">
                <a:solidFill>
                  <a:srgbClr val="FFFFFF"/>
                </a:solidFill>
                <a:latin typeface="Arial"/>
                <a:cs typeface="Arial"/>
              </a:rPr>
              <a:t>procedures</a:t>
            </a:r>
            <a:r>
              <a:rPr sz="2400" spc="-165" dirty="0">
                <a:solidFill>
                  <a:srgbClr val="FFFFFF"/>
                </a:solidFill>
                <a:latin typeface="Arial"/>
                <a:cs typeface="Arial"/>
              </a:rPr>
              <a:t> </a:t>
            </a:r>
            <a:r>
              <a:rPr sz="2400" spc="80" dirty="0">
                <a:solidFill>
                  <a:srgbClr val="FFFFFF"/>
                </a:solidFill>
                <a:latin typeface="Arial"/>
                <a:cs typeface="Arial"/>
              </a:rPr>
              <a:t>for</a:t>
            </a:r>
            <a:r>
              <a:rPr sz="2400" spc="-155" dirty="0">
                <a:solidFill>
                  <a:srgbClr val="FFFFFF"/>
                </a:solidFill>
                <a:latin typeface="Arial"/>
                <a:cs typeface="Arial"/>
              </a:rPr>
              <a:t> </a:t>
            </a:r>
            <a:r>
              <a:rPr sz="2400" spc="-35" dirty="0">
                <a:solidFill>
                  <a:srgbClr val="FFFFFF"/>
                </a:solidFill>
                <a:latin typeface="Arial"/>
                <a:cs typeface="Arial"/>
              </a:rPr>
              <a:t>performance</a:t>
            </a:r>
            <a:r>
              <a:rPr sz="2400" spc="-165" dirty="0">
                <a:solidFill>
                  <a:srgbClr val="FFFFFF"/>
                </a:solidFill>
                <a:latin typeface="Arial"/>
                <a:cs typeface="Arial"/>
              </a:rPr>
              <a:t> </a:t>
            </a:r>
            <a:r>
              <a:rPr sz="2400" spc="65" dirty="0">
                <a:solidFill>
                  <a:srgbClr val="FFFFFF"/>
                </a:solidFill>
                <a:latin typeface="Arial"/>
                <a:cs typeface="Arial"/>
              </a:rPr>
              <a:t>of</a:t>
            </a:r>
            <a:r>
              <a:rPr sz="2400" spc="-160" dirty="0">
                <a:solidFill>
                  <a:srgbClr val="FFFFFF"/>
                </a:solidFill>
                <a:latin typeface="Arial"/>
                <a:cs typeface="Arial"/>
              </a:rPr>
              <a:t> </a:t>
            </a:r>
            <a:r>
              <a:rPr sz="2400" spc="-25" dirty="0">
                <a:solidFill>
                  <a:srgbClr val="FFFFFF"/>
                </a:solidFill>
                <a:latin typeface="Arial"/>
                <a:cs typeface="Arial"/>
              </a:rPr>
              <a:t>various</a:t>
            </a:r>
            <a:r>
              <a:rPr sz="2400" spc="-145" dirty="0">
                <a:solidFill>
                  <a:srgbClr val="FFFFFF"/>
                </a:solidFill>
                <a:latin typeface="Arial"/>
                <a:cs typeface="Arial"/>
              </a:rPr>
              <a:t> </a:t>
            </a:r>
            <a:r>
              <a:rPr sz="2400" spc="-95" dirty="0">
                <a:solidFill>
                  <a:srgbClr val="FFFFFF"/>
                </a:solidFill>
                <a:latin typeface="Arial"/>
                <a:cs typeface="Arial"/>
              </a:rPr>
              <a:t>tasks.</a:t>
            </a:r>
            <a:endParaRPr sz="2400">
              <a:latin typeface="Arial"/>
              <a:cs typeface="Arial"/>
            </a:endParaRPr>
          </a:p>
          <a:p>
            <a:pPr marL="355600" marR="5080" indent="-342900">
              <a:lnSpc>
                <a:spcPct val="100000"/>
              </a:lnSpc>
              <a:buFont typeface="Wingdings"/>
              <a:buChar char=""/>
              <a:tabLst>
                <a:tab pos="355600" algn="l"/>
              </a:tabLst>
            </a:pPr>
            <a:r>
              <a:rPr sz="2400" spc="-45" dirty="0">
                <a:solidFill>
                  <a:srgbClr val="FFFFFF"/>
                </a:solidFill>
                <a:latin typeface="Arial"/>
                <a:cs typeface="Arial"/>
              </a:rPr>
              <a:t>Such </a:t>
            </a:r>
            <a:r>
              <a:rPr sz="2400" spc="-40" dirty="0">
                <a:solidFill>
                  <a:srgbClr val="FFFFFF"/>
                </a:solidFill>
                <a:latin typeface="Arial"/>
                <a:cs typeface="Arial"/>
              </a:rPr>
              <a:t>stored </a:t>
            </a:r>
            <a:r>
              <a:rPr sz="2400" spc="-60" dirty="0">
                <a:solidFill>
                  <a:srgbClr val="FFFFFF"/>
                </a:solidFill>
                <a:latin typeface="Arial"/>
                <a:cs typeface="Arial"/>
              </a:rPr>
              <a:t>procedures </a:t>
            </a:r>
            <a:r>
              <a:rPr sz="2400" spc="-114" dirty="0">
                <a:solidFill>
                  <a:srgbClr val="FFFFFF"/>
                </a:solidFill>
                <a:latin typeface="Arial"/>
                <a:cs typeface="Arial"/>
              </a:rPr>
              <a:t>are </a:t>
            </a:r>
            <a:r>
              <a:rPr sz="2400" spc="-25" dirty="0">
                <a:solidFill>
                  <a:srgbClr val="FFFFFF"/>
                </a:solidFill>
                <a:latin typeface="Arial"/>
                <a:cs typeface="Arial"/>
              </a:rPr>
              <a:t>referred </a:t>
            </a:r>
            <a:r>
              <a:rPr sz="2400" spc="65" dirty="0">
                <a:solidFill>
                  <a:srgbClr val="FFFFFF"/>
                </a:solidFill>
                <a:latin typeface="Arial"/>
                <a:cs typeface="Arial"/>
              </a:rPr>
              <a:t>to </a:t>
            </a:r>
            <a:r>
              <a:rPr sz="2400" spc="-250" dirty="0">
                <a:solidFill>
                  <a:srgbClr val="FFFFFF"/>
                </a:solidFill>
                <a:latin typeface="Arial"/>
                <a:cs typeface="Arial"/>
              </a:rPr>
              <a:t>as </a:t>
            </a:r>
            <a:r>
              <a:rPr sz="2400" spc="-30" dirty="0">
                <a:solidFill>
                  <a:srgbClr val="FFFFFF"/>
                </a:solidFill>
                <a:latin typeface="Arial"/>
                <a:cs typeface="Arial"/>
              </a:rPr>
              <a:t>user-defined  </a:t>
            </a:r>
            <a:r>
              <a:rPr sz="2400" spc="35" dirty="0">
                <a:solidFill>
                  <a:srgbClr val="FFFFFF"/>
                </a:solidFill>
                <a:latin typeface="Arial"/>
                <a:cs typeface="Arial"/>
              </a:rPr>
              <a:t>or </a:t>
            </a:r>
            <a:r>
              <a:rPr sz="2400" spc="-35" dirty="0">
                <a:solidFill>
                  <a:srgbClr val="FFFFFF"/>
                </a:solidFill>
                <a:latin typeface="Arial"/>
                <a:cs typeface="Arial"/>
              </a:rPr>
              <a:t>custom </a:t>
            </a:r>
            <a:r>
              <a:rPr sz="2400" spc="-40" dirty="0">
                <a:solidFill>
                  <a:srgbClr val="FFFFFF"/>
                </a:solidFill>
                <a:latin typeface="Arial"/>
                <a:cs typeface="Arial"/>
              </a:rPr>
              <a:t>stored</a:t>
            </a:r>
            <a:r>
              <a:rPr sz="2400" spc="-480" dirty="0">
                <a:solidFill>
                  <a:srgbClr val="FFFFFF"/>
                </a:solidFill>
                <a:latin typeface="Arial"/>
                <a:cs typeface="Arial"/>
              </a:rPr>
              <a:t> </a:t>
            </a:r>
            <a:r>
              <a:rPr sz="2400" spc="-60" dirty="0">
                <a:solidFill>
                  <a:srgbClr val="FFFFFF"/>
                </a:solidFill>
                <a:latin typeface="Arial"/>
                <a:cs typeface="Arial"/>
              </a:rPr>
              <a:t>procedures.</a:t>
            </a:r>
            <a:endParaRPr sz="2400">
              <a:latin typeface="Arial"/>
              <a:cs typeface="Arial"/>
            </a:endParaRPr>
          </a:p>
        </p:txBody>
      </p:sp>
      <p:pic>
        <p:nvPicPr>
          <p:cNvPr id="5" name="object 5"/>
          <p:cNvPicPr/>
          <p:nvPr/>
        </p:nvPicPr>
        <p:blipFill>
          <a:blip r:embed="rId3" cstate="print"/>
          <a:stretch>
            <a:fillRect/>
          </a:stretch>
        </p:blipFill>
        <p:spPr>
          <a:xfrm>
            <a:off x="2667000" y="3083051"/>
            <a:ext cx="3733800" cy="2716530"/>
          </a:xfrm>
          <a:prstGeom prst="rect">
            <a:avLst/>
          </a:prstGeom>
        </p:spPr>
      </p:pic>
      <p:sp>
        <p:nvSpPr>
          <p:cNvPr id="6" name="object 6"/>
          <p:cNvSpPr txBox="1"/>
          <p:nvPr/>
        </p:nvSpPr>
        <p:spPr>
          <a:xfrm>
            <a:off x="3134105" y="5797803"/>
            <a:ext cx="2818130"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Arial"/>
                <a:cs typeface="Arial"/>
              </a:rPr>
              <a:t>Output </a:t>
            </a:r>
            <a:r>
              <a:rPr sz="1400" b="1" spc="-45" dirty="0">
                <a:latin typeface="Arial"/>
                <a:cs typeface="Arial"/>
              </a:rPr>
              <a:t>of</a:t>
            </a:r>
            <a:r>
              <a:rPr sz="1400" b="1" spc="-305" dirty="0">
                <a:latin typeface="Arial"/>
                <a:cs typeface="Arial"/>
              </a:rPr>
              <a:t> </a:t>
            </a:r>
            <a:r>
              <a:rPr sz="1400" b="1" spc="-135" dirty="0">
                <a:latin typeface="Arial"/>
                <a:cs typeface="Arial"/>
              </a:rPr>
              <a:t>a </a:t>
            </a:r>
            <a:r>
              <a:rPr sz="1400" b="1" spc="-75" dirty="0">
                <a:latin typeface="Arial"/>
                <a:cs typeface="Arial"/>
              </a:rPr>
              <a:t>Simple Stored </a:t>
            </a:r>
            <a:r>
              <a:rPr sz="1400" b="1" spc="-100" dirty="0">
                <a:latin typeface="Arial"/>
                <a:cs typeface="Arial"/>
              </a:rPr>
              <a:t>Procedure</a:t>
            </a:r>
            <a:endParaRPr sz="14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35</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3461385" cy="574040"/>
          </a:xfrm>
          <a:prstGeom prst="rect">
            <a:avLst/>
          </a:prstGeom>
        </p:spPr>
        <p:txBody>
          <a:bodyPr vert="horz" wrap="square" lIns="0" tIns="12700" rIns="0" bIns="0" rtlCol="0">
            <a:spAutoFit/>
          </a:bodyPr>
          <a:lstStyle/>
          <a:p>
            <a:pPr marL="12700">
              <a:lnSpc>
                <a:spcPct val="100000"/>
              </a:lnSpc>
              <a:spcBef>
                <a:spcPts val="100"/>
              </a:spcBef>
            </a:pPr>
            <a:r>
              <a:rPr b="0" spc="10" dirty="0">
                <a:latin typeface="Arial"/>
                <a:cs typeface="Arial"/>
              </a:rPr>
              <a:t>Using</a:t>
            </a:r>
            <a:r>
              <a:rPr b="0" spc="-305" dirty="0">
                <a:latin typeface="Arial"/>
                <a:cs typeface="Arial"/>
              </a:rPr>
              <a:t> </a:t>
            </a:r>
            <a:r>
              <a:rPr b="0" spc="-160" dirty="0">
                <a:latin typeface="Arial"/>
                <a:cs typeface="Arial"/>
              </a:rPr>
              <a:t>Parameters</a:t>
            </a:r>
          </a:p>
        </p:txBody>
      </p:sp>
      <p:sp>
        <p:nvSpPr>
          <p:cNvPr id="3" name="object 3"/>
          <p:cNvSpPr txBox="1"/>
          <p:nvPr/>
        </p:nvSpPr>
        <p:spPr>
          <a:xfrm>
            <a:off x="335279" y="1634489"/>
            <a:ext cx="4269740" cy="452755"/>
          </a:xfrm>
          <a:prstGeom prst="rect">
            <a:avLst/>
          </a:prstGeom>
        </p:spPr>
        <p:txBody>
          <a:bodyPr vert="horz" wrap="square" lIns="0" tIns="12700" rIns="0" bIns="0" rtlCol="0">
            <a:spAutoFit/>
          </a:bodyPr>
          <a:lstStyle/>
          <a:p>
            <a:pPr marL="12700">
              <a:lnSpc>
                <a:spcPct val="100000"/>
              </a:lnSpc>
              <a:spcBef>
                <a:spcPts val="100"/>
              </a:spcBef>
            </a:pPr>
            <a:r>
              <a:rPr sz="2800" spc="-125" dirty="0">
                <a:latin typeface="Arial"/>
                <a:cs typeface="Arial"/>
              </a:rPr>
              <a:t>Parameters </a:t>
            </a:r>
            <a:r>
              <a:rPr sz="2800" spc="-140" dirty="0">
                <a:latin typeface="Arial"/>
                <a:cs typeface="Arial"/>
              </a:rPr>
              <a:t>are </a:t>
            </a:r>
            <a:r>
              <a:rPr sz="2800" spc="75" dirty="0">
                <a:latin typeface="Arial"/>
                <a:cs typeface="Arial"/>
              </a:rPr>
              <a:t>of two</a:t>
            </a:r>
            <a:r>
              <a:rPr sz="2800" spc="-560" dirty="0">
                <a:latin typeface="Arial"/>
                <a:cs typeface="Arial"/>
              </a:rPr>
              <a:t> </a:t>
            </a:r>
            <a:r>
              <a:rPr sz="2800" spc="-75" dirty="0">
                <a:latin typeface="Arial"/>
                <a:cs typeface="Arial"/>
              </a:rPr>
              <a:t>types:</a:t>
            </a:r>
            <a:endParaRPr sz="2800">
              <a:latin typeface="Arial"/>
              <a:cs typeface="Arial"/>
            </a:endParaRPr>
          </a:p>
        </p:txBody>
      </p:sp>
      <p:grpSp>
        <p:nvGrpSpPr>
          <p:cNvPr id="4" name="object 4"/>
          <p:cNvGrpSpPr/>
          <p:nvPr/>
        </p:nvGrpSpPr>
        <p:grpSpPr>
          <a:xfrm>
            <a:off x="1165733" y="3379342"/>
            <a:ext cx="3419475" cy="1861185"/>
            <a:chOff x="1165733" y="3379342"/>
            <a:chExt cx="3419475" cy="1861185"/>
          </a:xfrm>
        </p:grpSpPr>
        <p:sp>
          <p:nvSpPr>
            <p:cNvPr id="5" name="object 5"/>
            <p:cNvSpPr/>
            <p:nvPr/>
          </p:nvSpPr>
          <p:spPr>
            <a:xfrm>
              <a:off x="1168908" y="3382517"/>
              <a:ext cx="3413125" cy="1854835"/>
            </a:xfrm>
            <a:custGeom>
              <a:avLst/>
              <a:gdLst/>
              <a:ahLst/>
              <a:cxnLst/>
              <a:rect l="l" t="t" r="r" b="b"/>
              <a:pathLst>
                <a:path w="3413125" h="1854835">
                  <a:moveTo>
                    <a:pt x="3412998" y="0"/>
                  </a:moveTo>
                  <a:lnTo>
                    <a:pt x="0" y="0"/>
                  </a:lnTo>
                  <a:lnTo>
                    <a:pt x="0" y="1854707"/>
                  </a:lnTo>
                  <a:lnTo>
                    <a:pt x="3412998" y="1854707"/>
                  </a:lnTo>
                  <a:lnTo>
                    <a:pt x="3412998" y="0"/>
                  </a:lnTo>
                  <a:close/>
                </a:path>
              </a:pathLst>
            </a:custGeom>
            <a:solidFill>
              <a:srgbClr val="F9DECC">
                <a:alpha val="90194"/>
              </a:srgbClr>
            </a:solidFill>
          </p:spPr>
          <p:txBody>
            <a:bodyPr wrap="square" lIns="0" tIns="0" rIns="0" bIns="0" rtlCol="0"/>
            <a:lstStyle/>
            <a:p>
              <a:endParaRPr/>
            </a:p>
          </p:txBody>
        </p:sp>
        <p:sp>
          <p:nvSpPr>
            <p:cNvPr id="6" name="object 6"/>
            <p:cNvSpPr/>
            <p:nvPr/>
          </p:nvSpPr>
          <p:spPr>
            <a:xfrm>
              <a:off x="1168908" y="3382517"/>
              <a:ext cx="3413125" cy="1854835"/>
            </a:xfrm>
            <a:custGeom>
              <a:avLst/>
              <a:gdLst/>
              <a:ahLst/>
              <a:cxnLst/>
              <a:rect l="l" t="t" r="r" b="b"/>
              <a:pathLst>
                <a:path w="3413125" h="1854835">
                  <a:moveTo>
                    <a:pt x="0" y="1854707"/>
                  </a:moveTo>
                  <a:lnTo>
                    <a:pt x="3412998" y="1854707"/>
                  </a:lnTo>
                  <a:lnTo>
                    <a:pt x="3412998" y="0"/>
                  </a:lnTo>
                  <a:lnTo>
                    <a:pt x="0" y="0"/>
                  </a:lnTo>
                  <a:lnTo>
                    <a:pt x="0" y="1854707"/>
                  </a:lnTo>
                  <a:close/>
                </a:path>
              </a:pathLst>
            </a:custGeom>
            <a:ln w="6096">
              <a:solidFill>
                <a:srgbClr val="F9DECC"/>
              </a:solidFill>
            </a:ln>
          </p:spPr>
          <p:txBody>
            <a:bodyPr wrap="square" lIns="0" tIns="0" rIns="0" bIns="0" rtlCol="0"/>
            <a:lstStyle/>
            <a:p>
              <a:endParaRPr/>
            </a:p>
          </p:txBody>
        </p:sp>
      </p:grpSp>
      <p:sp>
        <p:nvSpPr>
          <p:cNvPr id="7" name="object 7"/>
          <p:cNvSpPr txBox="1"/>
          <p:nvPr/>
        </p:nvSpPr>
        <p:spPr>
          <a:xfrm>
            <a:off x="1562608" y="3465576"/>
            <a:ext cx="2872740" cy="1672589"/>
          </a:xfrm>
          <a:prstGeom prst="rect">
            <a:avLst/>
          </a:prstGeom>
        </p:spPr>
        <p:txBody>
          <a:bodyPr vert="horz" wrap="square" lIns="0" tIns="12700" rIns="0" bIns="0" rtlCol="0">
            <a:spAutoFit/>
          </a:bodyPr>
          <a:lstStyle/>
          <a:p>
            <a:pPr marL="12700" marR="5080" indent="58419">
              <a:lnSpc>
                <a:spcPct val="100000"/>
              </a:lnSpc>
              <a:spcBef>
                <a:spcPts val="100"/>
              </a:spcBef>
            </a:pPr>
            <a:r>
              <a:rPr sz="1800" spc="-10" dirty="0">
                <a:latin typeface="Calisto MT"/>
                <a:cs typeface="Calisto MT"/>
              </a:rPr>
              <a:t>Allow </a:t>
            </a:r>
            <a:r>
              <a:rPr sz="1800" dirty="0">
                <a:latin typeface="Calisto MT"/>
                <a:cs typeface="Calisto MT"/>
              </a:rPr>
              <a:t>the </a:t>
            </a:r>
            <a:r>
              <a:rPr sz="1800" spc="-5" dirty="0">
                <a:latin typeface="Calisto MT"/>
                <a:cs typeface="Calisto MT"/>
              </a:rPr>
              <a:t>calling </a:t>
            </a:r>
            <a:r>
              <a:rPr sz="1800" dirty="0">
                <a:latin typeface="Calisto MT"/>
                <a:cs typeface="Calisto MT"/>
              </a:rPr>
              <a:t>program to  pass </a:t>
            </a:r>
            <a:r>
              <a:rPr sz="1800" spc="-15" dirty="0">
                <a:latin typeface="Calisto MT"/>
                <a:cs typeface="Calisto MT"/>
              </a:rPr>
              <a:t>values </a:t>
            </a:r>
            <a:r>
              <a:rPr sz="1800" dirty="0">
                <a:latin typeface="Calisto MT"/>
                <a:cs typeface="Calisto MT"/>
              </a:rPr>
              <a:t>to a stored  </a:t>
            </a:r>
            <a:r>
              <a:rPr sz="1800" spc="-10" dirty="0">
                <a:latin typeface="Calisto MT"/>
                <a:cs typeface="Calisto MT"/>
              </a:rPr>
              <a:t>procedure. </a:t>
            </a:r>
            <a:r>
              <a:rPr sz="1800" spc="-5" dirty="0">
                <a:latin typeface="Calisto MT"/>
                <a:cs typeface="Calisto MT"/>
              </a:rPr>
              <a:t>These </a:t>
            </a:r>
            <a:r>
              <a:rPr sz="1800" spc="-15" dirty="0">
                <a:latin typeface="Calisto MT"/>
                <a:cs typeface="Calisto MT"/>
              </a:rPr>
              <a:t>values </a:t>
            </a:r>
            <a:r>
              <a:rPr sz="1800" spc="-5" dirty="0">
                <a:latin typeface="Calisto MT"/>
                <a:cs typeface="Calisto MT"/>
              </a:rPr>
              <a:t>are  accepted </a:t>
            </a:r>
            <a:r>
              <a:rPr sz="1800" dirty="0">
                <a:latin typeface="Calisto MT"/>
                <a:cs typeface="Calisto MT"/>
              </a:rPr>
              <a:t>into </a:t>
            </a:r>
            <a:r>
              <a:rPr sz="1800" spc="-15" dirty="0">
                <a:latin typeface="Calisto MT"/>
                <a:cs typeface="Calisto MT"/>
              </a:rPr>
              <a:t>variables  </a:t>
            </a:r>
            <a:r>
              <a:rPr sz="1800" dirty="0">
                <a:latin typeface="Calisto MT"/>
                <a:cs typeface="Calisto MT"/>
              </a:rPr>
              <a:t>defined in the stored  </a:t>
            </a:r>
            <a:r>
              <a:rPr sz="1800" spc="-10" dirty="0">
                <a:latin typeface="Calisto MT"/>
                <a:cs typeface="Calisto MT"/>
              </a:rPr>
              <a:t>procedure.</a:t>
            </a:r>
            <a:endParaRPr sz="1800">
              <a:latin typeface="Calisto MT"/>
              <a:cs typeface="Calisto MT"/>
            </a:endParaRPr>
          </a:p>
        </p:txBody>
      </p:sp>
      <p:pic>
        <p:nvPicPr>
          <p:cNvPr id="8" name="object 8"/>
          <p:cNvPicPr/>
          <p:nvPr/>
        </p:nvPicPr>
        <p:blipFill>
          <a:blip r:embed="rId3" cstate="print"/>
          <a:stretch>
            <a:fillRect/>
          </a:stretch>
        </p:blipFill>
        <p:spPr>
          <a:xfrm>
            <a:off x="147828" y="2454401"/>
            <a:ext cx="1685544" cy="1395983"/>
          </a:xfrm>
          <a:prstGeom prst="rect">
            <a:avLst/>
          </a:prstGeom>
        </p:spPr>
      </p:pic>
      <p:sp>
        <p:nvSpPr>
          <p:cNvPr id="9" name="object 9"/>
          <p:cNvSpPr txBox="1"/>
          <p:nvPr/>
        </p:nvSpPr>
        <p:spPr>
          <a:xfrm>
            <a:off x="705104" y="2856991"/>
            <a:ext cx="5715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Calisto MT"/>
                <a:cs typeface="Calisto MT"/>
              </a:rPr>
              <a:t>Input</a:t>
            </a:r>
            <a:endParaRPr sz="1800">
              <a:latin typeface="Calisto MT"/>
              <a:cs typeface="Calisto MT"/>
            </a:endParaRPr>
          </a:p>
        </p:txBody>
      </p:sp>
      <p:sp>
        <p:nvSpPr>
          <p:cNvPr id="10" name="object 10"/>
          <p:cNvSpPr txBox="1"/>
          <p:nvPr/>
        </p:nvSpPr>
        <p:spPr>
          <a:xfrm>
            <a:off x="419354" y="3131311"/>
            <a:ext cx="114300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FFFF"/>
                </a:solidFill>
                <a:latin typeface="Calisto MT"/>
                <a:cs typeface="Calisto MT"/>
              </a:rPr>
              <a:t>Parameters</a:t>
            </a:r>
            <a:endParaRPr sz="1800">
              <a:latin typeface="Calisto MT"/>
              <a:cs typeface="Calisto MT"/>
            </a:endParaRPr>
          </a:p>
        </p:txBody>
      </p:sp>
      <p:grpSp>
        <p:nvGrpSpPr>
          <p:cNvPr id="11" name="object 11"/>
          <p:cNvGrpSpPr/>
          <p:nvPr/>
        </p:nvGrpSpPr>
        <p:grpSpPr>
          <a:xfrm>
            <a:off x="5792596" y="3276472"/>
            <a:ext cx="3242310" cy="1964055"/>
            <a:chOff x="5792596" y="3276472"/>
            <a:chExt cx="3242310" cy="1964055"/>
          </a:xfrm>
        </p:grpSpPr>
        <p:sp>
          <p:nvSpPr>
            <p:cNvPr id="12" name="object 12"/>
            <p:cNvSpPr/>
            <p:nvPr/>
          </p:nvSpPr>
          <p:spPr>
            <a:xfrm>
              <a:off x="5795771" y="3279647"/>
              <a:ext cx="3235960" cy="1957705"/>
            </a:xfrm>
            <a:custGeom>
              <a:avLst/>
              <a:gdLst/>
              <a:ahLst/>
              <a:cxnLst/>
              <a:rect l="l" t="t" r="r" b="b"/>
              <a:pathLst>
                <a:path w="3235959" h="1957704">
                  <a:moveTo>
                    <a:pt x="3235452" y="0"/>
                  </a:moveTo>
                  <a:lnTo>
                    <a:pt x="0" y="0"/>
                  </a:lnTo>
                  <a:lnTo>
                    <a:pt x="0" y="1957577"/>
                  </a:lnTo>
                  <a:lnTo>
                    <a:pt x="3235452" y="1957577"/>
                  </a:lnTo>
                  <a:lnTo>
                    <a:pt x="3235452" y="0"/>
                  </a:lnTo>
                  <a:close/>
                </a:path>
              </a:pathLst>
            </a:custGeom>
            <a:solidFill>
              <a:srgbClr val="E8CECD">
                <a:alpha val="90194"/>
              </a:srgbClr>
            </a:solidFill>
          </p:spPr>
          <p:txBody>
            <a:bodyPr wrap="square" lIns="0" tIns="0" rIns="0" bIns="0" rtlCol="0"/>
            <a:lstStyle/>
            <a:p>
              <a:endParaRPr/>
            </a:p>
          </p:txBody>
        </p:sp>
        <p:sp>
          <p:nvSpPr>
            <p:cNvPr id="13" name="object 13"/>
            <p:cNvSpPr/>
            <p:nvPr/>
          </p:nvSpPr>
          <p:spPr>
            <a:xfrm>
              <a:off x="5795771" y="3279647"/>
              <a:ext cx="3235960" cy="1957705"/>
            </a:xfrm>
            <a:custGeom>
              <a:avLst/>
              <a:gdLst/>
              <a:ahLst/>
              <a:cxnLst/>
              <a:rect l="l" t="t" r="r" b="b"/>
              <a:pathLst>
                <a:path w="3235959" h="1957704">
                  <a:moveTo>
                    <a:pt x="0" y="1957577"/>
                  </a:moveTo>
                  <a:lnTo>
                    <a:pt x="3235452" y="1957577"/>
                  </a:lnTo>
                  <a:lnTo>
                    <a:pt x="3235452" y="0"/>
                  </a:lnTo>
                  <a:lnTo>
                    <a:pt x="0" y="0"/>
                  </a:lnTo>
                  <a:lnTo>
                    <a:pt x="0" y="1957577"/>
                  </a:lnTo>
                  <a:close/>
                </a:path>
              </a:pathLst>
            </a:custGeom>
            <a:ln w="6095">
              <a:solidFill>
                <a:srgbClr val="E8CECD"/>
              </a:solidFill>
            </a:ln>
          </p:spPr>
          <p:txBody>
            <a:bodyPr wrap="square" lIns="0" tIns="0" rIns="0" bIns="0" rtlCol="0"/>
            <a:lstStyle/>
            <a:p>
              <a:endParaRPr/>
            </a:p>
          </p:txBody>
        </p:sp>
      </p:grpSp>
      <p:sp>
        <p:nvSpPr>
          <p:cNvPr id="14" name="object 14"/>
          <p:cNvSpPr txBox="1"/>
          <p:nvPr/>
        </p:nvSpPr>
        <p:spPr>
          <a:xfrm>
            <a:off x="6189726" y="3413759"/>
            <a:ext cx="2776220" cy="1672589"/>
          </a:xfrm>
          <a:prstGeom prst="rect">
            <a:avLst/>
          </a:prstGeom>
        </p:spPr>
        <p:txBody>
          <a:bodyPr vert="horz" wrap="square" lIns="0" tIns="12700" rIns="0" bIns="0" rtlCol="0">
            <a:spAutoFit/>
          </a:bodyPr>
          <a:lstStyle/>
          <a:p>
            <a:pPr marL="12700" marR="5080" indent="58419">
              <a:lnSpc>
                <a:spcPct val="100000"/>
              </a:lnSpc>
              <a:spcBef>
                <a:spcPts val="100"/>
              </a:spcBef>
            </a:pPr>
            <a:r>
              <a:rPr sz="1800" spc="-10" dirty="0">
                <a:latin typeface="Calisto MT"/>
                <a:cs typeface="Calisto MT"/>
              </a:rPr>
              <a:t>Allow </a:t>
            </a:r>
            <a:r>
              <a:rPr sz="1800" dirty="0">
                <a:latin typeface="Calisto MT"/>
                <a:cs typeface="Calisto MT"/>
              </a:rPr>
              <a:t>a stored procedure</a:t>
            </a:r>
            <a:r>
              <a:rPr sz="1800" spc="-90" dirty="0">
                <a:latin typeface="Calisto MT"/>
                <a:cs typeface="Calisto MT"/>
              </a:rPr>
              <a:t> </a:t>
            </a:r>
            <a:r>
              <a:rPr sz="1800" dirty="0">
                <a:latin typeface="Calisto MT"/>
                <a:cs typeface="Calisto MT"/>
              </a:rPr>
              <a:t>to  pass </a:t>
            </a:r>
            <a:r>
              <a:rPr sz="1800" spc="-15" dirty="0">
                <a:latin typeface="Calisto MT"/>
                <a:cs typeface="Calisto MT"/>
              </a:rPr>
              <a:t>values </a:t>
            </a:r>
            <a:r>
              <a:rPr sz="1800" dirty="0">
                <a:latin typeface="Calisto MT"/>
                <a:cs typeface="Calisto MT"/>
              </a:rPr>
              <a:t>back to the  </a:t>
            </a:r>
            <a:r>
              <a:rPr sz="1800" spc="-5" dirty="0">
                <a:latin typeface="Calisto MT"/>
                <a:cs typeface="Calisto MT"/>
              </a:rPr>
              <a:t>calling </a:t>
            </a:r>
            <a:r>
              <a:rPr sz="1800" dirty="0">
                <a:latin typeface="Calisto MT"/>
                <a:cs typeface="Calisto MT"/>
              </a:rPr>
              <a:t>program. These  </a:t>
            </a:r>
            <a:r>
              <a:rPr sz="1800" spc="-15" dirty="0">
                <a:latin typeface="Calisto MT"/>
                <a:cs typeface="Calisto MT"/>
              </a:rPr>
              <a:t>values </a:t>
            </a:r>
            <a:r>
              <a:rPr sz="1800" spc="-5" dirty="0">
                <a:latin typeface="Calisto MT"/>
                <a:cs typeface="Calisto MT"/>
              </a:rPr>
              <a:t>are accepted </a:t>
            </a:r>
            <a:r>
              <a:rPr sz="1800" dirty="0">
                <a:latin typeface="Calisto MT"/>
                <a:cs typeface="Calisto MT"/>
              </a:rPr>
              <a:t>into  </a:t>
            </a:r>
            <a:r>
              <a:rPr sz="1800" spc="-15" dirty="0">
                <a:latin typeface="Calisto MT"/>
                <a:cs typeface="Calisto MT"/>
              </a:rPr>
              <a:t>variables </a:t>
            </a:r>
            <a:r>
              <a:rPr sz="1800" dirty="0">
                <a:latin typeface="Calisto MT"/>
                <a:cs typeface="Calisto MT"/>
              </a:rPr>
              <a:t>by the </a:t>
            </a:r>
            <a:r>
              <a:rPr sz="1800" spc="-5" dirty="0">
                <a:latin typeface="Calisto MT"/>
                <a:cs typeface="Calisto MT"/>
              </a:rPr>
              <a:t>calling  </a:t>
            </a:r>
            <a:r>
              <a:rPr sz="1800" dirty="0">
                <a:latin typeface="Calisto MT"/>
                <a:cs typeface="Calisto MT"/>
              </a:rPr>
              <a:t>program.</a:t>
            </a:r>
            <a:endParaRPr sz="1800">
              <a:latin typeface="Calisto MT"/>
              <a:cs typeface="Calisto MT"/>
            </a:endParaRPr>
          </a:p>
        </p:txBody>
      </p:sp>
      <p:pic>
        <p:nvPicPr>
          <p:cNvPr id="15" name="object 15"/>
          <p:cNvPicPr/>
          <p:nvPr/>
        </p:nvPicPr>
        <p:blipFill>
          <a:blip r:embed="rId4" cstate="print"/>
          <a:stretch>
            <a:fillRect/>
          </a:stretch>
        </p:blipFill>
        <p:spPr>
          <a:xfrm>
            <a:off x="4744211" y="2449829"/>
            <a:ext cx="1717548" cy="1316736"/>
          </a:xfrm>
          <a:prstGeom prst="rect">
            <a:avLst/>
          </a:prstGeom>
        </p:spPr>
      </p:pic>
      <p:sp>
        <p:nvSpPr>
          <p:cNvPr id="16" name="object 16"/>
          <p:cNvSpPr txBox="1"/>
          <p:nvPr/>
        </p:nvSpPr>
        <p:spPr>
          <a:xfrm>
            <a:off x="5230114" y="2813303"/>
            <a:ext cx="74612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Calisto MT"/>
                <a:cs typeface="Calisto MT"/>
              </a:rPr>
              <a:t>Outp</a:t>
            </a:r>
            <a:r>
              <a:rPr sz="1800" b="1" spc="5" dirty="0">
                <a:solidFill>
                  <a:srgbClr val="FFFFFF"/>
                </a:solidFill>
                <a:latin typeface="Calisto MT"/>
                <a:cs typeface="Calisto MT"/>
              </a:rPr>
              <a:t>u</a:t>
            </a:r>
            <a:r>
              <a:rPr sz="1800" b="1" dirty="0">
                <a:solidFill>
                  <a:srgbClr val="FFFFFF"/>
                </a:solidFill>
                <a:latin typeface="Calisto MT"/>
                <a:cs typeface="Calisto MT"/>
              </a:rPr>
              <a:t>t</a:t>
            </a:r>
            <a:endParaRPr sz="1800">
              <a:latin typeface="Calisto MT"/>
              <a:cs typeface="Calisto MT"/>
            </a:endParaRPr>
          </a:p>
        </p:txBody>
      </p:sp>
      <p:sp>
        <p:nvSpPr>
          <p:cNvPr id="19" name="object 1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36</a:t>
            </a:fld>
            <a:endParaRPr sz="1200"/>
          </a:p>
        </p:txBody>
      </p:sp>
      <p:sp>
        <p:nvSpPr>
          <p:cNvPr id="20" name="object 2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7" name="object 17"/>
          <p:cNvSpPr txBox="1"/>
          <p:nvPr/>
        </p:nvSpPr>
        <p:spPr>
          <a:xfrm>
            <a:off x="5031994" y="3087623"/>
            <a:ext cx="114300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FFFF"/>
                </a:solidFill>
                <a:latin typeface="Calisto MT"/>
                <a:cs typeface="Calisto MT"/>
              </a:rPr>
              <a:t>Parameters</a:t>
            </a:r>
            <a:endParaRPr sz="1800">
              <a:latin typeface="Calisto MT"/>
              <a:cs typeface="Calisto M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8170545" cy="574040"/>
          </a:xfrm>
          <a:prstGeom prst="rect">
            <a:avLst/>
          </a:prstGeom>
        </p:spPr>
        <p:txBody>
          <a:bodyPr vert="horz" wrap="square" lIns="0" tIns="12700" rIns="0" bIns="0" rtlCol="0">
            <a:spAutoFit/>
          </a:bodyPr>
          <a:lstStyle/>
          <a:p>
            <a:pPr marL="12700">
              <a:lnSpc>
                <a:spcPct val="100000"/>
              </a:lnSpc>
              <a:spcBef>
                <a:spcPts val="100"/>
              </a:spcBef>
            </a:pPr>
            <a:r>
              <a:rPr b="0" spc="10" dirty="0">
                <a:latin typeface="Arial"/>
                <a:cs typeface="Arial"/>
              </a:rPr>
              <a:t>Using</a:t>
            </a:r>
            <a:r>
              <a:rPr b="0" spc="-240" dirty="0">
                <a:latin typeface="Arial"/>
                <a:cs typeface="Arial"/>
              </a:rPr>
              <a:t> </a:t>
            </a:r>
            <a:r>
              <a:rPr b="0" spc="-114" dirty="0">
                <a:latin typeface="Arial"/>
                <a:cs typeface="Arial"/>
              </a:rPr>
              <a:t>SSMS</a:t>
            </a:r>
            <a:r>
              <a:rPr b="0" spc="-225" dirty="0">
                <a:latin typeface="Arial"/>
                <a:cs typeface="Arial"/>
              </a:rPr>
              <a:t> </a:t>
            </a:r>
            <a:r>
              <a:rPr b="0" spc="95" dirty="0">
                <a:latin typeface="Arial"/>
                <a:cs typeface="Arial"/>
              </a:rPr>
              <a:t>to</a:t>
            </a:r>
            <a:r>
              <a:rPr b="0" spc="-235" dirty="0">
                <a:latin typeface="Arial"/>
                <a:cs typeface="Arial"/>
              </a:rPr>
              <a:t> </a:t>
            </a:r>
            <a:r>
              <a:rPr b="0" spc="-55" dirty="0">
                <a:latin typeface="Arial"/>
                <a:cs typeface="Arial"/>
              </a:rPr>
              <a:t>Create</a:t>
            </a:r>
            <a:r>
              <a:rPr b="0" spc="-260" dirty="0">
                <a:latin typeface="Arial"/>
                <a:cs typeface="Arial"/>
              </a:rPr>
              <a:t> </a:t>
            </a:r>
            <a:r>
              <a:rPr b="0" spc="-35" dirty="0">
                <a:latin typeface="Arial"/>
                <a:cs typeface="Arial"/>
              </a:rPr>
              <a:t>Stored</a:t>
            </a:r>
            <a:r>
              <a:rPr b="0" spc="-240" dirty="0">
                <a:latin typeface="Arial"/>
                <a:cs typeface="Arial"/>
              </a:rPr>
              <a:t> </a:t>
            </a:r>
            <a:r>
              <a:rPr b="0" spc="-125" dirty="0">
                <a:latin typeface="Arial"/>
                <a:cs typeface="Arial"/>
              </a:rPr>
              <a:t>Procedures</a:t>
            </a:r>
          </a:p>
        </p:txBody>
      </p:sp>
      <p:sp>
        <p:nvSpPr>
          <p:cNvPr id="3" name="object 3"/>
          <p:cNvSpPr/>
          <p:nvPr/>
        </p:nvSpPr>
        <p:spPr>
          <a:xfrm>
            <a:off x="73914" y="951737"/>
            <a:ext cx="8613140" cy="2219325"/>
          </a:xfrm>
          <a:custGeom>
            <a:avLst/>
            <a:gdLst/>
            <a:ahLst/>
            <a:cxnLst/>
            <a:rect l="l" t="t" r="r" b="b"/>
            <a:pathLst>
              <a:path w="8613140" h="2219325">
                <a:moveTo>
                  <a:pt x="8612886" y="369824"/>
                </a:moveTo>
                <a:lnTo>
                  <a:pt x="8610003" y="323443"/>
                </a:lnTo>
                <a:lnTo>
                  <a:pt x="8601583" y="278777"/>
                </a:lnTo>
                <a:lnTo>
                  <a:pt x="8587981" y="236181"/>
                </a:lnTo>
                <a:lnTo>
                  <a:pt x="8569541" y="195986"/>
                </a:lnTo>
                <a:lnTo>
                  <a:pt x="8546605" y="158559"/>
                </a:lnTo>
                <a:lnTo>
                  <a:pt x="8519528" y="124231"/>
                </a:lnTo>
                <a:lnTo>
                  <a:pt x="8488655" y="93357"/>
                </a:lnTo>
                <a:lnTo>
                  <a:pt x="8454326" y="66281"/>
                </a:lnTo>
                <a:lnTo>
                  <a:pt x="8416899" y="43345"/>
                </a:lnTo>
                <a:lnTo>
                  <a:pt x="8376704" y="24904"/>
                </a:lnTo>
                <a:lnTo>
                  <a:pt x="8334108" y="11303"/>
                </a:lnTo>
                <a:lnTo>
                  <a:pt x="8289442" y="2882"/>
                </a:lnTo>
                <a:lnTo>
                  <a:pt x="8243062" y="0"/>
                </a:lnTo>
                <a:lnTo>
                  <a:pt x="369836" y="0"/>
                </a:lnTo>
                <a:lnTo>
                  <a:pt x="323443" y="2882"/>
                </a:lnTo>
                <a:lnTo>
                  <a:pt x="278765" y="11303"/>
                </a:lnTo>
                <a:lnTo>
                  <a:pt x="236156" y="24904"/>
                </a:lnTo>
                <a:lnTo>
                  <a:pt x="195973" y="43345"/>
                </a:lnTo>
                <a:lnTo>
                  <a:pt x="158534" y="66281"/>
                </a:lnTo>
                <a:lnTo>
                  <a:pt x="124206" y="93357"/>
                </a:lnTo>
                <a:lnTo>
                  <a:pt x="93332" y="124231"/>
                </a:lnTo>
                <a:lnTo>
                  <a:pt x="66255" y="158559"/>
                </a:lnTo>
                <a:lnTo>
                  <a:pt x="43319" y="195986"/>
                </a:lnTo>
                <a:lnTo>
                  <a:pt x="24892" y="236181"/>
                </a:lnTo>
                <a:lnTo>
                  <a:pt x="11290" y="278777"/>
                </a:lnTo>
                <a:lnTo>
                  <a:pt x="2870" y="323443"/>
                </a:lnTo>
                <a:lnTo>
                  <a:pt x="0" y="369824"/>
                </a:lnTo>
                <a:lnTo>
                  <a:pt x="0" y="1849120"/>
                </a:lnTo>
                <a:lnTo>
                  <a:pt x="2870" y="1895513"/>
                </a:lnTo>
                <a:lnTo>
                  <a:pt x="11290" y="1940179"/>
                </a:lnTo>
                <a:lnTo>
                  <a:pt x="24892" y="1982774"/>
                </a:lnTo>
                <a:lnTo>
                  <a:pt x="43319" y="2022970"/>
                </a:lnTo>
                <a:lnTo>
                  <a:pt x="66255" y="2060397"/>
                </a:lnTo>
                <a:lnTo>
                  <a:pt x="93332" y="2094725"/>
                </a:lnTo>
                <a:lnTo>
                  <a:pt x="124206" y="2125599"/>
                </a:lnTo>
                <a:lnTo>
                  <a:pt x="158534" y="2152675"/>
                </a:lnTo>
                <a:lnTo>
                  <a:pt x="195973" y="2175611"/>
                </a:lnTo>
                <a:lnTo>
                  <a:pt x="236156" y="2194052"/>
                </a:lnTo>
                <a:lnTo>
                  <a:pt x="278765" y="2207653"/>
                </a:lnTo>
                <a:lnTo>
                  <a:pt x="323443" y="2216073"/>
                </a:lnTo>
                <a:lnTo>
                  <a:pt x="369836" y="2218944"/>
                </a:lnTo>
                <a:lnTo>
                  <a:pt x="8243062" y="2218944"/>
                </a:lnTo>
                <a:lnTo>
                  <a:pt x="8289442" y="2216073"/>
                </a:lnTo>
                <a:lnTo>
                  <a:pt x="8334108" y="2207653"/>
                </a:lnTo>
                <a:lnTo>
                  <a:pt x="8376704" y="2194052"/>
                </a:lnTo>
                <a:lnTo>
                  <a:pt x="8416899" y="2175611"/>
                </a:lnTo>
                <a:lnTo>
                  <a:pt x="8454326" y="2152675"/>
                </a:lnTo>
                <a:lnTo>
                  <a:pt x="8488655" y="2125599"/>
                </a:lnTo>
                <a:lnTo>
                  <a:pt x="8519528" y="2094725"/>
                </a:lnTo>
                <a:lnTo>
                  <a:pt x="8546605" y="2060397"/>
                </a:lnTo>
                <a:lnTo>
                  <a:pt x="8569541" y="2022970"/>
                </a:lnTo>
                <a:lnTo>
                  <a:pt x="8587981" y="1982774"/>
                </a:lnTo>
                <a:lnTo>
                  <a:pt x="8601583" y="1940179"/>
                </a:lnTo>
                <a:lnTo>
                  <a:pt x="8610003" y="1895513"/>
                </a:lnTo>
                <a:lnTo>
                  <a:pt x="8612886" y="1849120"/>
                </a:lnTo>
                <a:lnTo>
                  <a:pt x="8612886" y="1678686"/>
                </a:lnTo>
                <a:lnTo>
                  <a:pt x="8612886" y="540258"/>
                </a:lnTo>
                <a:lnTo>
                  <a:pt x="8612886" y="369824"/>
                </a:lnTo>
                <a:close/>
              </a:path>
            </a:pathLst>
          </a:custGeom>
          <a:solidFill>
            <a:srgbClr val="F79546"/>
          </a:solidFill>
        </p:spPr>
        <p:txBody>
          <a:bodyPr wrap="square" lIns="0" tIns="0" rIns="0" bIns="0" rtlCol="0"/>
          <a:lstStyle/>
          <a:p>
            <a:endParaRPr/>
          </a:p>
        </p:txBody>
      </p:sp>
      <p:sp>
        <p:nvSpPr>
          <p:cNvPr id="4" name="object 4"/>
          <p:cNvSpPr txBox="1"/>
          <p:nvPr/>
        </p:nvSpPr>
        <p:spPr>
          <a:xfrm>
            <a:off x="466598" y="1036319"/>
            <a:ext cx="8030209" cy="1742439"/>
          </a:xfrm>
          <a:prstGeom prst="rect">
            <a:avLst/>
          </a:prstGeom>
        </p:spPr>
        <p:txBody>
          <a:bodyPr vert="horz" wrap="square" lIns="0" tIns="12700" rIns="0" bIns="0" rtlCol="0">
            <a:spAutoFit/>
          </a:bodyPr>
          <a:lstStyle/>
          <a:p>
            <a:pPr marL="355600" indent="-343535">
              <a:lnSpc>
                <a:spcPct val="100000"/>
              </a:lnSpc>
              <a:spcBef>
                <a:spcPts val="100"/>
              </a:spcBef>
              <a:buFont typeface="Wingdings"/>
              <a:buChar char=""/>
              <a:tabLst>
                <a:tab pos="356235" algn="l"/>
              </a:tabLst>
            </a:pPr>
            <a:r>
              <a:rPr sz="2200" spc="-90" dirty="0">
                <a:latin typeface="Arial"/>
                <a:cs typeface="Arial"/>
              </a:rPr>
              <a:t>Steps</a:t>
            </a:r>
            <a:r>
              <a:rPr sz="2200" spc="-160" dirty="0">
                <a:latin typeface="Arial"/>
                <a:cs typeface="Arial"/>
              </a:rPr>
              <a:t> </a:t>
            </a:r>
            <a:r>
              <a:rPr sz="2200" spc="60" dirty="0">
                <a:latin typeface="Arial"/>
                <a:cs typeface="Arial"/>
              </a:rPr>
              <a:t>to</a:t>
            </a:r>
            <a:r>
              <a:rPr sz="2200" spc="-165" dirty="0">
                <a:latin typeface="Arial"/>
                <a:cs typeface="Arial"/>
              </a:rPr>
              <a:t> </a:t>
            </a:r>
            <a:r>
              <a:rPr sz="2200" spc="-80" dirty="0">
                <a:latin typeface="Arial"/>
                <a:cs typeface="Arial"/>
              </a:rPr>
              <a:t>create</a:t>
            </a:r>
            <a:r>
              <a:rPr sz="2200" spc="-160" dirty="0">
                <a:latin typeface="Arial"/>
                <a:cs typeface="Arial"/>
              </a:rPr>
              <a:t> </a:t>
            </a:r>
            <a:r>
              <a:rPr sz="2200" spc="-210" dirty="0">
                <a:latin typeface="Arial"/>
                <a:cs typeface="Arial"/>
              </a:rPr>
              <a:t>a</a:t>
            </a:r>
            <a:r>
              <a:rPr sz="2200" spc="-160" dirty="0">
                <a:latin typeface="Arial"/>
                <a:cs typeface="Arial"/>
              </a:rPr>
              <a:t> </a:t>
            </a:r>
            <a:r>
              <a:rPr sz="2200" spc="-25" dirty="0">
                <a:latin typeface="Arial"/>
                <a:cs typeface="Arial"/>
              </a:rPr>
              <a:t>user-defined</a:t>
            </a:r>
            <a:r>
              <a:rPr sz="2200" spc="-170" dirty="0">
                <a:latin typeface="Arial"/>
                <a:cs typeface="Arial"/>
              </a:rPr>
              <a:t> </a:t>
            </a:r>
            <a:r>
              <a:rPr sz="2200" spc="-35" dirty="0">
                <a:latin typeface="Arial"/>
                <a:cs typeface="Arial"/>
              </a:rPr>
              <a:t>stored</a:t>
            </a:r>
            <a:r>
              <a:rPr sz="2200" spc="-180" dirty="0">
                <a:latin typeface="Arial"/>
                <a:cs typeface="Arial"/>
              </a:rPr>
              <a:t> </a:t>
            </a:r>
            <a:r>
              <a:rPr sz="2200" spc="-30" dirty="0">
                <a:latin typeface="Arial"/>
                <a:cs typeface="Arial"/>
              </a:rPr>
              <a:t>procedure</a:t>
            </a:r>
            <a:r>
              <a:rPr sz="2200" spc="-160" dirty="0">
                <a:latin typeface="Arial"/>
                <a:cs typeface="Arial"/>
              </a:rPr>
              <a:t> </a:t>
            </a:r>
            <a:r>
              <a:rPr sz="2200" spc="-25" dirty="0">
                <a:latin typeface="Arial"/>
                <a:cs typeface="Arial"/>
              </a:rPr>
              <a:t>using</a:t>
            </a:r>
            <a:r>
              <a:rPr sz="2200" spc="-170" dirty="0">
                <a:latin typeface="Arial"/>
                <a:cs typeface="Arial"/>
              </a:rPr>
              <a:t> </a:t>
            </a:r>
            <a:r>
              <a:rPr sz="2200" spc="-70" dirty="0">
                <a:latin typeface="Arial"/>
                <a:cs typeface="Arial"/>
              </a:rPr>
              <a:t>SSMS</a:t>
            </a:r>
            <a:r>
              <a:rPr sz="2200" spc="-150" dirty="0">
                <a:latin typeface="Arial"/>
                <a:cs typeface="Arial"/>
              </a:rPr>
              <a:t> </a:t>
            </a:r>
            <a:r>
              <a:rPr sz="2200" spc="-90" dirty="0">
                <a:latin typeface="Arial"/>
                <a:cs typeface="Arial"/>
              </a:rPr>
              <a:t>are:</a:t>
            </a:r>
            <a:endParaRPr sz="2200">
              <a:latin typeface="Arial"/>
              <a:cs typeface="Arial"/>
            </a:endParaRPr>
          </a:p>
          <a:p>
            <a:pPr marL="641350" lvl="1" indent="-343535">
              <a:lnSpc>
                <a:spcPct val="100000"/>
              </a:lnSpc>
              <a:spcBef>
                <a:spcPts val="75"/>
              </a:spcBef>
              <a:buAutoNum type="arabicPeriod"/>
              <a:tabLst>
                <a:tab pos="641350" algn="l"/>
                <a:tab pos="641985" algn="l"/>
              </a:tabLst>
            </a:pPr>
            <a:r>
              <a:rPr sz="1800" spc="-5" dirty="0">
                <a:latin typeface="Arial"/>
                <a:cs typeface="Arial"/>
              </a:rPr>
              <a:t>Launch </a:t>
            </a:r>
            <a:r>
              <a:rPr sz="1800" spc="15" dirty="0">
                <a:latin typeface="Arial"/>
                <a:cs typeface="Arial"/>
              </a:rPr>
              <a:t>Object</a:t>
            </a:r>
            <a:r>
              <a:rPr sz="1800" spc="-235" dirty="0">
                <a:latin typeface="Arial"/>
                <a:cs typeface="Arial"/>
              </a:rPr>
              <a:t> </a:t>
            </a:r>
            <a:r>
              <a:rPr sz="1800" dirty="0">
                <a:latin typeface="Arial"/>
                <a:cs typeface="Arial"/>
              </a:rPr>
              <a:t>Explorer.</a:t>
            </a:r>
            <a:endParaRPr sz="1800">
              <a:latin typeface="Arial"/>
              <a:cs typeface="Arial"/>
            </a:endParaRPr>
          </a:p>
          <a:p>
            <a:pPr marL="641350" marR="5080" lvl="1" indent="-342900">
              <a:lnSpc>
                <a:spcPct val="100000"/>
              </a:lnSpc>
              <a:buAutoNum type="arabicPeriod"/>
              <a:tabLst>
                <a:tab pos="641350" algn="l"/>
                <a:tab pos="641985" algn="l"/>
              </a:tabLst>
            </a:pPr>
            <a:r>
              <a:rPr sz="1800" spc="70" dirty="0">
                <a:latin typeface="Arial"/>
                <a:cs typeface="Arial"/>
              </a:rPr>
              <a:t>In </a:t>
            </a:r>
            <a:r>
              <a:rPr sz="1800" spc="15" dirty="0">
                <a:latin typeface="Arial"/>
                <a:cs typeface="Arial"/>
              </a:rPr>
              <a:t>Object </a:t>
            </a:r>
            <a:r>
              <a:rPr sz="1800" dirty="0">
                <a:latin typeface="Arial"/>
                <a:cs typeface="Arial"/>
              </a:rPr>
              <a:t>Explorer, </a:t>
            </a:r>
            <a:r>
              <a:rPr sz="1800" spc="-20" dirty="0">
                <a:latin typeface="Arial"/>
                <a:cs typeface="Arial"/>
              </a:rPr>
              <a:t>connect </a:t>
            </a:r>
            <a:r>
              <a:rPr sz="1800" spc="45" dirty="0">
                <a:latin typeface="Arial"/>
                <a:cs typeface="Arial"/>
              </a:rPr>
              <a:t>to </a:t>
            </a:r>
            <a:r>
              <a:rPr sz="1800" spc="-60" dirty="0">
                <a:latin typeface="Arial"/>
                <a:cs typeface="Arial"/>
              </a:rPr>
              <a:t>an </a:t>
            </a:r>
            <a:r>
              <a:rPr sz="1800" spc="-35" dirty="0">
                <a:latin typeface="Arial"/>
                <a:cs typeface="Arial"/>
              </a:rPr>
              <a:t>instance </a:t>
            </a:r>
            <a:r>
              <a:rPr sz="1800" spc="45" dirty="0">
                <a:latin typeface="Arial"/>
                <a:cs typeface="Arial"/>
              </a:rPr>
              <a:t>of </a:t>
            </a:r>
            <a:r>
              <a:rPr sz="1800" spc="-85" dirty="0">
                <a:latin typeface="Arial"/>
                <a:cs typeface="Arial"/>
              </a:rPr>
              <a:t>Database </a:t>
            </a:r>
            <a:r>
              <a:rPr sz="1800" spc="-30" dirty="0">
                <a:latin typeface="Arial"/>
                <a:cs typeface="Arial"/>
              </a:rPr>
              <a:t>Engine </a:t>
            </a:r>
            <a:r>
              <a:rPr sz="1800" spc="-35" dirty="0">
                <a:latin typeface="Arial"/>
                <a:cs typeface="Arial"/>
              </a:rPr>
              <a:t>and </a:t>
            </a:r>
            <a:r>
              <a:rPr sz="1800" spc="-10" dirty="0">
                <a:latin typeface="Arial"/>
                <a:cs typeface="Arial"/>
              </a:rPr>
              <a:t>after  </a:t>
            </a:r>
            <a:r>
              <a:rPr sz="1800" spc="-45" dirty="0">
                <a:latin typeface="Arial"/>
                <a:cs typeface="Arial"/>
              </a:rPr>
              <a:t>successfully</a:t>
            </a:r>
            <a:r>
              <a:rPr sz="1800" spc="-105" dirty="0">
                <a:latin typeface="Arial"/>
                <a:cs typeface="Arial"/>
              </a:rPr>
              <a:t> </a:t>
            </a:r>
            <a:r>
              <a:rPr sz="1800" spc="-5" dirty="0">
                <a:latin typeface="Arial"/>
                <a:cs typeface="Arial"/>
              </a:rPr>
              <a:t>connection,</a:t>
            </a:r>
            <a:r>
              <a:rPr sz="1800" spc="-120" dirty="0">
                <a:latin typeface="Arial"/>
                <a:cs typeface="Arial"/>
              </a:rPr>
              <a:t> </a:t>
            </a:r>
            <a:r>
              <a:rPr sz="1800" spc="-30" dirty="0">
                <a:latin typeface="Arial"/>
                <a:cs typeface="Arial"/>
              </a:rPr>
              <a:t>expand</a:t>
            </a:r>
            <a:r>
              <a:rPr sz="1800" spc="-125" dirty="0">
                <a:latin typeface="Arial"/>
                <a:cs typeface="Arial"/>
              </a:rPr>
              <a:t> </a:t>
            </a:r>
            <a:r>
              <a:rPr sz="1800" dirty="0">
                <a:latin typeface="Arial"/>
                <a:cs typeface="Arial"/>
              </a:rPr>
              <a:t>the</a:t>
            </a:r>
            <a:r>
              <a:rPr sz="1800" spc="-120" dirty="0">
                <a:latin typeface="Arial"/>
                <a:cs typeface="Arial"/>
              </a:rPr>
              <a:t> </a:t>
            </a:r>
            <a:r>
              <a:rPr sz="1800" spc="-35" dirty="0">
                <a:latin typeface="Arial"/>
                <a:cs typeface="Arial"/>
              </a:rPr>
              <a:t>instance.</a:t>
            </a:r>
            <a:endParaRPr sz="1800">
              <a:latin typeface="Arial"/>
              <a:cs typeface="Arial"/>
            </a:endParaRPr>
          </a:p>
          <a:p>
            <a:pPr marL="641350" marR="5080" lvl="1" indent="-342900">
              <a:lnSpc>
                <a:spcPct val="100000"/>
              </a:lnSpc>
              <a:buAutoNum type="arabicPeriod"/>
              <a:tabLst>
                <a:tab pos="641350" algn="l"/>
                <a:tab pos="641985" algn="l"/>
              </a:tabLst>
            </a:pPr>
            <a:r>
              <a:rPr sz="1800" spc="-25" dirty="0">
                <a:latin typeface="Arial"/>
                <a:cs typeface="Arial"/>
              </a:rPr>
              <a:t>Expand </a:t>
            </a:r>
            <a:r>
              <a:rPr sz="1800" dirty="0">
                <a:latin typeface="Arial"/>
                <a:cs typeface="Arial"/>
              </a:rPr>
              <a:t>the </a:t>
            </a:r>
            <a:r>
              <a:rPr sz="1800" spc="-95" dirty="0">
                <a:latin typeface="Arial"/>
                <a:cs typeface="Arial"/>
              </a:rPr>
              <a:t>Databases </a:t>
            </a:r>
            <a:r>
              <a:rPr sz="1800" spc="-25" dirty="0">
                <a:latin typeface="Arial"/>
                <a:cs typeface="Arial"/>
              </a:rPr>
              <a:t>node </a:t>
            </a:r>
            <a:r>
              <a:rPr sz="1800" spc="-35" dirty="0">
                <a:latin typeface="Arial"/>
                <a:cs typeface="Arial"/>
              </a:rPr>
              <a:t>and </a:t>
            </a:r>
            <a:r>
              <a:rPr sz="1800" dirty="0">
                <a:latin typeface="Arial"/>
                <a:cs typeface="Arial"/>
              </a:rPr>
              <a:t>then, </a:t>
            </a:r>
            <a:r>
              <a:rPr sz="1800" spc="-30" dirty="0">
                <a:latin typeface="Arial"/>
                <a:cs typeface="Arial"/>
              </a:rPr>
              <a:t>expand </a:t>
            </a:r>
            <a:r>
              <a:rPr sz="1800" dirty="0">
                <a:latin typeface="Arial"/>
                <a:cs typeface="Arial"/>
              </a:rPr>
              <a:t>the </a:t>
            </a:r>
            <a:r>
              <a:rPr sz="1800" spc="-15" dirty="0">
                <a:latin typeface="Arial"/>
                <a:cs typeface="Arial"/>
              </a:rPr>
              <a:t>AdventureWorks2019  </a:t>
            </a:r>
            <a:r>
              <a:rPr sz="1800" spc="-90" dirty="0">
                <a:latin typeface="Arial"/>
                <a:cs typeface="Arial"/>
              </a:rPr>
              <a:t>database.</a:t>
            </a:r>
            <a:endParaRPr sz="1800">
              <a:latin typeface="Arial"/>
              <a:cs typeface="Arial"/>
            </a:endParaRPr>
          </a:p>
        </p:txBody>
      </p:sp>
      <p:pic>
        <p:nvPicPr>
          <p:cNvPr id="5" name="object 5"/>
          <p:cNvPicPr/>
          <p:nvPr/>
        </p:nvPicPr>
        <p:blipFill>
          <a:blip r:embed="rId3" cstate="print"/>
          <a:stretch>
            <a:fillRect/>
          </a:stretch>
        </p:blipFill>
        <p:spPr>
          <a:xfrm>
            <a:off x="902969" y="3687317"/>
            <a:ext cx="2411730" cy="2112264"/>
          </a:xfrm>
          <a:prstGeom prst="rect">
            <a:avLst/>
          </a:prstGeom>
        </p:spPr>
      </p:pic>
      <p:sp>
        <p:nvSpPr>
          <p:cNvPr id="6" name="object 6"/>
          <p:cNvSpPr txBox="1"/>
          <p:nvPr/>
        </p:nvSpPr>
        <p:spPr>
          <a:xfrm>
            <a:off x="982217" y="5797803"/>
            <a:ext cx="2160905" cy="238760"/>
          </a:xfrm>
          <a:prstGeom prst="rect">
            <a:avLst/>
          </a:prstGeom>
        </p:spPr>
        <p:txBody>
          <a:bodyPr vert="horz" wrap="square" lIns="0" tIns="12065" rIns="0" bIns="0" rtlCol="0">
            <a:spAutoFit/>
          </a:bodyPr>
          <a:lstStyle/>
          <a:p>
            <a:pPr marL="12700">
              <a:lnSpc>
                <a:spcPct val="100000"/>
              </a:lnSpc>
              <a:spcBef>
                <a:spcPts val="95"/>
              </a:spcBef>
            </a:pPr>
            <a:r>
              <a:rPr sz="1400" b="1" spc="-55" dirty="0">
                <a:latin typeface="Arial"/>
                <a:cs typeface="Arial"/>
              </a:rPr>
              <a:t>Creating </a:t>
            </a:r>
            <a:r>
              <a:rPr sz="1400" b="1" spc="-135" dirty="0">
                <a:latin typeface="Arial"/>
                <a:cs typeface="Arial"/>
              </a:rPr>
              <a:t>a </a:t>
            </a:r>
            <a:r>
              <a:rPr sz="1400" b="1" spc="-75" dirty="0">
                <a:latin typeface="Arial"/>
                <a:cs typeface="Arial"/>
              </a:rPr>
              <a:t>Stored</a:t>
            </a:r>
            <a:r>
              <a:rPr sz="1400" b="1" spc="-195" dirty="0">
                <a:latin typeface="Arial"/>
                <a:cs typeface="Arial"/>
              </a:rPr>
              <a:t> </a:t>
            </a:r>
            <a:r>
              <a:rPr sz="1400" b="1" spc="-100" dirty="0">
                <a:latin typeface="Arial"/>
                <a:cs typeface="Arial"/>
              </a:rPr>
              <a:t>Procedure</a:t>
            </a:r>
            <a:endParaRPr sz="1400">
              <a:latin typeface="Arial"/>
              <a:cs typeface="Arial"/>
            </a:endParaRPr>
          </a:p>
        </p:txBody>
      </p:sp>
      <p:pic>
        <p:nvPicPr>
          <p:cNvPr id="7" name="object 7"/>
          <p:cNvPicPr/>
          <p:nvPr/>
        </p:nvPicPr>
        <p:blipFill>
          <a:blip r:embed="rId4" cstate="print"/>
          <a:stretch>
            <a:fillRect/>
          </a:stretch>
        </p:blipFill>
        <p:spPr>
          <a:xfrm>
            <a:off x="3810000" y="3687317"/>
            <a:ext cx="4764024" cy="2064258"/>
          </a:xfrm>
          <a:prstGeom prst="rect">
            <a:avLst/>
          </a:prstGeom>
        </p:spPr>
      </p:pic>
      <p:sp>
        <p:nvSpPr>
          <p:cNvPr id="8" name="object 8"/>
          <p:cNvSpPr txBox="1"/>
          <p:nvPr/>
        </p:nvSpPr>
        <p:spPr>
          <a:xfrm>
            <a:off x="5099558" y="5752338"/>
            <a:ext cx="1344930" cy="238760"/>
          </a:xfrm>
          <a:prstGeom prst="rect">
            <a:avLst/>
          </a:prstGeom>
        </p:spPr>
        <p:txBody>
          <a:bodyPr vert="horz" wrap="square" lIns="0" tIns="12065" rIns="0" bIns="0" rtlCol="0">
            <a:spAutoFit/>
          </a:bodyPr>
          <a:lstStyle/>
          <a:p>
            <a:pPr marL="12700">
              <a:lnSpc>
                <a:spcPct val="100000"/>
              </a:lnSpc>
              <a:spcBef>
                <a:spcPts val="95"/>
              </a:spcBef>
            </a:pPr>
            <a:r>
              <a:rPr sz="1400" b="1" spc="-100" dirty="0">
                <a:latin typeface="Arial"/>
                <a:cs typeface="Arial"/>
              </a:rPr>
              <a:t>Parameter</a:t>
            </a:r>
            <a:r>
              <a:rPr sz="1400" b="1" spc="-175" dirty="0">
                <a:latin typeface="Arial"/>
                <a:cs typeface="Arial"/>
              </a:rPr>
              <a:t> </a:t>
            </a:r>
            <a:r>
              <a:rPr sz="1400" b="1" spc="-65" dirty="0">
                <a:latin typeface="Arial"/>
                <a:cs typeface="Arial"/>
              </a:rPr>
              <a:t>Values</a:t>
            </a:r>
            <a:endParaRPr sz="1400">
              <a:latin typeface="Arial"/>
              <a:cs typeface="Arial"/>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37</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8643620" cy="574040"/>
          </a:xfrm>
          <a:prstGeom prst="rect">
            <a:avLst/>
          </a:prstGeom>
        </p:spPr>
        <p:txBody>
          <a:bodyPr vert="horz" wrap="square" lIns="0" tIns="12700" rIns="0" bIns="0" rtlCol="0">
            <a:spAutoFit/>
          </a:bodyPr>
          <a:lstStyle/>
          <a:p>
            <a:pPr marL="12700">
              <a:lnSpc>
                <a:spcPct val="100000"/>
              </a:lnSpc>
              <a:spcBef>
                <a:spcPts val="100"/>
              </a:spcBef>
            </a:pPr>
            <a:r>
              <a:rPr b="0" spc="95" dirty="0">
                <a:latin typeface="Arial"/>
                <a:cs typeface="Arial"/>
              </a:rPr>
              <a:t>Modifying</a:t>
            </a:r>
            <a:r>
              <a:rPr b="0" spc="-235" dirty="0">
                <a:latin typeface="Arial"/>
                <a:cs typeface="Arial"/>
              </a:rPr>
              <a:t> </a:t>
            </a:r>
            <a:r>
              <a:rPr b="0" spc="-65" dirty="0">
                <a:latin typeface="Arial"/>
                <a:cs typeface="Arial"/>
              </a:rPr>
              <a:t>and</a:t>
            </a:r>
            <a:r>
              <a:rPr b="0" spc="-235" dirty="0">
                <a:latin typeface="Arial"/>
                <a:cs typeface="Arial"/>
              </a:rPr>
              <a:t> </a:t>
            </a:r>
            <a:r>
              <a:rPr b="0" spc="55" dirty="0">
                <a:latin typeface="Arial"/>
                <a:cs typeface="Arial"/>
              </a:rPr>
              <a:t>Dropping</a:t>
            </a:r>
            <a:r>
              <a:rPr b="0" spc="-229" dirty="0">
                <a:latin typeface="Arial"/>
                <a:cs typeface="Arial"/>
              </a:rPr>
              <a:t> </a:t>
            </a:r>
            <a:r>
              <a:rPr b="0" spc="-35" dirty="0">
                <a:latin typeface="Arial"/>
                <a:cs typeface="Arial"/>
              </a:rPr>
              <a:t>Stored</a:t>
            </a:r>
            <a:r>
              <a:rPr b="0" spc="-235" dirty="0">
                <a:latin typeface="Arial"/>
                <a:cs typeface="Arial"/>
              </a:rPr>
              <a:t> </a:t>
            </a:r>
            <a:r>
              <a:rPr b="0" spc="-125" dirty="0">
                <a:latin typeface="Arial"/>
                <a:cs typeface="Arial"/>
              </a:rPr>
              <a:t>Procedures</a:t>
            </a:r>
          </a:p>
        </p:txBody>
      </p:sp>
      <p:sp>
        <p:nvSpPr>
          <p:cNvPr id="3" name="object 3"/>
          <p:cNvSpPr/>
          <p:nvPr/>
        </p:nvSpPr>
        <p:spPr>
          <a:xfrm>
            <a:off x="569976" y="951737"/>
            <a:ext cx="8117205" cy="1892300"/>
          </a:xfrm>
          <a:custGeom>
            <a:avLst/>
            <a:gdLst/>
            <a:ahLst/>
            <a:cxnLst/>
            <a:rect l="l" t="t" r="r" b="b"/>
            <a:pathLst>
              <a:path w="8117205" h="1892300">
                <a:moveTo>
                  <a:pt x="8116824" y="315341"/>
                </a:moveTo>
                <a:lnTo>
                  <a:pt x="8113395" y="268757"/>
                </a:lnTo>
                <a:lnTo>
                  <a:pt x="8103463" y="224282"/>
                </a:lnTo>
                <a:lnTo>
                  <a:pt x="8087500" y="182422"/>
                </a:lnTo>
                <a:lnTo>
                  <a:pt x="8065998" y="143662"/>
                </a:lnTo>
                <a:lnTo>
                  <a:pt x="8039455" y="108483"/>
                </a:lnTo>
                <a:lnTo>
                  <a:pt x="8008340" y="77368"/>
                </a:lnTo>
                <a:lnTo>
                  <a:pt x="7973161" y="50825"/>
                </a:lnTo>
                <a:lnTo>
                  <a:pt x="7934401" y="29324"/>
                </a:lnTo>
                <a:lnTo>
                  <a:pt x="7892542" y="13360"/>
                </a:lnTo>
                <a:lnTo>
                  <a:pt x="7848066" y="3429"/>
                </a:lnTo>
                <a:lnTo>
                  <a:pt x="7801483" y="0"/>
                </a:lnTo>
                <a:lnTo>
                  <a:pt x="315341" y="0"/>
                </a:lnTo>
                <a:lnTo>
                  <a:pt x="268732" y="3429"/>
                </a:lnTo>
                <a:lnTo>
                  <a:pt x="224256" y="13360"/>
                </a:lnTo>
                <a:lnTo>
                  <a:pt x="182397" y="29324"/>
                </a:lnTo>
                <a:lnTo>
                  <a:pt x="143624" y="50825"/>
                </a:lnTo>
                <a:lnTo>
                  <a:pt x="108445" y="77368"/>
                </a:lnTo>
                <a:lnTo>
                  <a:pt x="77343" y="108483"/>
                </a:lnTo>
                <a:lnTo>
                  <a:pt x="50800" y="143662"/>
                </a:lnTo>
                <a:lnTo>
                  <a:pt x="29298" y="182422"/>
                </a:lnTo>
                <a:lnTo>
                  <a:pt x="13347" y="224282"/>
                </a:lnTo>
                <a:lnTo>
                  <a:pt x="3416" y="268757"/>
                </a:lnTo>
                <a:lnTo>
                  <a:pt x="0" y="315341"/>
                </a:lnTo>
                <a:lnTo>
                  <a:pt x="0" y="1576705"/>
                </a:lnTo>
                <a:lnTo>
                  <a:pt x="3416" y="1623301"/>
                </a:lnTo>
                <a:lnTo>
                  <a:pt x="13347" y="1667776"/>
                </a:lnTo>
                <a:lnTo>
                  <a:pt x="29298" y="1709635"/>
                </a:lnTo>
                <a:lnTo>
                  <a:pt x="50800" y="1748396"/>
                </a:lnTo>
                <a:lnTo>
                  <a:pt x="77343" y="1783575"/>
                </a:lnTo>
                <a:lnTo>
                  <a:pt x="108445" y="1814690"/>
                </a:lnTo>
                <a:lnTo>
                  <a:pt x="143624" y="1841233"/>
                </a:lnTo>
                <a:lnTo>
                  <a:pt x="182397" y="1862734"/>
                </a:lnTo>
                <a:lnTo>
                  <a:pt x="224256" y="1878698"/>
                </a:lnTo>
                <a:lnTo>
                  <a:pt x="268732" y="1888629"/>
                </a:lnTo>
                <a:lnTo>
                  <a:pt x="315341" y="1892046"/>
                </a:lnTo>
                <a:lnTo>
                  <a:pt x="7801483" y="1892046"/>
                </a:lnTo>
                <a:lnTo>
                  <a:pt x="7848066" y="1888629"/>
                </a:lnTo>
                <a:lnTo>
                  <a:pt x="7892542" y="1878698"/>
                </a:lnTo>
                <a:lnTo>
                  <a:pt x="7934401" y="1862734"/>
                </a:lnTo>
                <a:lnTo>
                  <a:pt x="7973161" y="1841233"/>
                </a:lnTo>
                <a:lnTo>
                  <a:pt x="8008340" y="1814690"/>
                </a:lnTo>
                <a:lnTo>
                  <a:pt x="8039455" y="1783575"/>
                </a:lnTo>
                <a:lnTo>
                  <a:pt x="8065998" y="1748396"/>
                </a:lnTo>
                <a:lnTo>
                  <a:pt x="8087500" y="1709635"/>
                </a:lnTo>
                <a:lnTo>
                  <a:pt x="8103463" y="1667776"/>
                </a:lnTo>
                <a:lnTo>
                  <a:pt x="8113395" y="1623301"/>
                </a:lnTo>
                <a:lnTo>
                  <a:pt x="8116824" y="1576705"/>
                </a:lnTo>
                <a:lnTo>
                  <a:pt x="8116824" y="1431036"/>
                </a:lnTo>
                <a:lnTo>
                  <a:pt x="8116824" y="461010"/>
                </a:lnTo>
                <a:lnTo>
                  <a:pt x="8116824" y="315341"/>
                </a:lnTo>
                <a:close/>
              </a:path>
            </a:pathLst>
          </a:custGeom>
          <a:solidFill>
            <a:srgbClr val="F79546"/>
          </a:solidFill>
        </p:spPr>
        <p:txBody>
          <a:bodyPr wrap="square" lIns="0" tIns="0" rIns="0" bIns="0" rtlCol="0"/>
          <a:lstStyle/>
          <a:p>
            <a:endParaRPr/>
          </a:p>
        </p:txBody>
      </p:sp>
      <p:pic>
        <p:nvPicPr>
          <p:cNvPr id="4" name="object 4"/>
          <p:cNvPicPr/>
          <p:nvPr/>
        </p:nvPicPr>
        <p:blipFill>
          <a:blip r:embed="rId3" cstate="print"/>
          <a:stretch>
            <a:fillRect/>
          </a:stretch>
        </p:blipFill>
        <p:spPr>
          <a:xfrm>
            <a:off x="304800" y="3616452"/>
            <a:ext cx="6630161" cy="1321308"/>
          </a:xfrm>
          <a:prstGeom prst="rect">
            <a:avLst/>
          </a:prstGeom>
        </p:spPr>
      </p:pic>
      <p:pic>
        <p:nvPicPr>
          <p:cNvPr id="5" name="object 5"/>
          <p:cNvPicPr/>
          <p:nvPr/>
        </p:nvPicPr>
        <p:blipFill>
          <a:blip r:embed="rId4" cstate="print"/>
          <a:stretch>
            <a:fillRect/>
          </a:stretch>
        </p:blipFill>
        <p:spPr>
          <a:xfrm>
            <a:off x="2588514" y="5106923"/>
            <a:ext cx="6222492" cy="1274064"/>
          </a:xfrm>
          <a:prstGeom prst="rect">
            <a:avLst/>
          </a:prstGeom>
        </p:spPr>
      </p:pic>
      <p:sp>
        <p:nvSpPr>
          <p:cNvPr id="6" name="object 6"/>
          <p:cNvSpPr txBox="1"/>
          <p:nvPr/>
        </p:nvSpPr>
        <p:spPr>
          <a:xfrm>
            <a:off x="642619" y="1036319"/>
            <a:ext cx="7893684" cy="5215255"/>
          </a:xfrm>
          <a:prstGeom prst="rect">
            <a:avLst/>
          </a:prstGeom>
        </p:spPr>
        <p:txBody>
          <a:bodyPr vert="horz" wrap="square" lIns="0" tIns="12700" rIns="0" bIns="0" rtlCol="0">
            <a:spAutoFit/>
          </a:bodyPr>
          <a:lstStyle/>
          <a:p>
            <a:pPr marL="497205" marR="45085" indent="-342900" algn="just">
              <a:lnSpc>
                <a:spcPct val="100000"/>
              </a:lnSpc>
              <a:spcBef>
                <a:spcPts val="100"/>
              </a:spcBef>
              <a:buFont typeface="Wingdings"/>
              <a:buChar char=""/>
              <a:tabLst>
                <a:tab pos="497840" algn="l"/>
              </a:tabLst>
            </a:pPr>
            <a:r>
              <a:rPr sz="2200" spc="-70" dirty="0">
                <a:solidFill>
                  <a:srgbClr val="FFFFFF"/>
                </a:solidFill>
                <a:latin typeface="Arial"/>
                <a:cs typeface="Arial"/>
              </a:rPr>
              <a:t>Permissions </a:t>
            </a:r>
            <a:r>
              <a:rPr sz="2200" spc="-95" dirty="0">
                <a:solidFill>
                  <a:srgbClr val="FFFFFF"/>
                </a:solidFill>
                <a:latin typeface="Arial"/>
                <a:cs typeface="Arial"/>
              </a:rPr>
              <a:t>associated </a:t>
            </a:r>
            <a:r>
              <a:rPr sz="2200" spc="100" dirty="0">
                <a:solidFill>
                  <a:srgbClr val="FFFFFF"/>
                </a:solidFill>
                <a:latin typeface="Arial"/>
                <a:cs typeface="Arial"/>
              </a:rPr>
              <a:t>with </a:t>
            </a:r>
            <a:r>
              <a:rPr sz="2200" spc="-35" dirty="0">
                <a:solidFill>
                  <a:srgbClr val="FFFFFF"/>
                </a:solidFill>
                <a:latin typeface="Arial"/>
                <a:cs typeface="Arial"/>
              </a:rPr>
              <a:t>stored procedure </a:t>
            </a:r>
            <a:r>
              <a:rPr sz="2200" spc="-105" dirty="0">
                <a:solidFill>
                  <a:srgbClr val="FFFFFF"/>
                </a:solidFill>
                <a:latin typeface="Arial"/>
                <a:cs typeface="Arial"/>
              </a:rPr>
              <a:t>are </a:t>
            </a:r>
            <a:r>
              <a:rPr sz="2200" spc="-5" dirty="0">
                <a:solidFill>
                  <a:srgbClr val="FFFFFF"/>
                </a:solidFill>
                <a:latin typeface="Arial"/>
                <a:cs typeface="Arial"/>
              </a:rPr>
              <a:t>lost </a:t>
            </a:r>
            <a:r>
              <a:rPr sz="2200" dirty="0">
                <a:solidFill>
                  <a:srgbClr val="FFFFFF"/>
                </a:solidFill>
                <a:latin typeface="Arial"/>
                <a:cs typeface="Arial"/>
              </a:rPr>
              <a:t>when</a:t>
            </a:r>
            <a:r>
              <a:rPr sz="2200" spc="-105" dirty="0">
                <a:solidFill>
                  <a:srgbClr val="FFFFFF"/>
                </a:solidFill>
                <a:latin typeface="Arial"/>
                <a:cs typeface="Arial"/>
              </a:rPr>
              <a:t> </a:t>
            </a:r>
            <a:r>
              <a:rPr sz="2200" spc="-210" dirty="0">
                <a:solidFill>
                  <a:srgbClr val="FFFFFF"/>
                </a:solidFill>
                <a:latin typeface="Arial"/>
                <a:cs typeface="Arial"/>
              </a:rPr>
              <a:t>a  </a:t>
            </a:r>
            <a:r>
              <a:rPr sz="2200" spc="-35" dirty="0">
                <a:solidFill>
                  <a:srgbClr val="FFFFFF"/>
                </a:solidFill>
                <a:latin typeface="Arial"/>
                <a:cs typeface="Arial"/>
              </a:rPr>
              <a:t>stored procedure </a:t>
            </a:r>
            <a:r>
              <a:rPr sz="2200" spc="-55" dirty="0">
                <a:solidFill>
                  <a:srgbClr val="FFFFFF"/>
                </a:solidFill>
                <a:latin typeface="Arial"/>
                <a:cs typeface="Arial"/>
              </a:rPr>
              <a:t>is </a:t>
            </a:r>
            <a:r>
              <a:rPr sz="2200" spc="-60" dirty="0">
                <a:solidFill>
                  <a:srgbClr val="FFFFFF"/>
                </a:solidFill>
                <a:latin typeface="Arial"/>
                <a:cs typeface="Arial"/>
              </a:rPr>
              <a:t>re-created. </a:t>
            </a:r>
            <a:r>
              <a:rPr sz="2200" spc="-20" dirty="0">
                <a:solidFill>
                  <a:srgbClr val="FFFFFF"/>
                </a:solidFill>
                <a:latin typeface="Arial"/>
                <a:cs typeface="Arial"/>
              </a:rPr>
              <a:t>However, </a:t>
            </a:r>
            <a:r>
              <a:rPr sz="2200" spc="-5" dirty="0">
                <a:solidFill>
                  <a:srgbClr val="FFFFFF"/>
                </a:solidFill>
                <a:latin typeface="Arial"/>
                <a:cs typeface="Arial"/>
              </a:rPr>
              <a:t>when </a:t>
            </a:r>
            <a:r>
              <a:rPr sz="2200" spc="-210" dirty="0">
                <a:solidFill>
                  <a:srgbClr val="FFFFFF"/>
                </a:solidFill>
                <a:latin typeface="Arial"/>
                <a:cs typeface="Arial"/>
              </a:rPr>
              <a:t>a </a:t>
            </a:r>
            <a:r>
              <a:rPr sz="2200" spc="-35" dirty="0">
                <a:solidFill>
                  <a:srgbClr val="FFFFFF"/>
                </a:solidFill>
                <a:latin typeface="Arial"/>
                <a:cs typeface="Arial"/>
              </a:rPr>
              <a:t>stored  procedure </a:t>
            </a:r>
            <a:r>
              <a:rPr sz="2200" spc="-55" dirty="0">
                <a:solidFill>
                  <a:srgbClr val="FFFFFF"/>
                </a:solidFill>
                <a:latin typeface="Arial"/>
                <a:cs typeface="Arial"/>
              </a:rPr>
              <a:t>is </a:t>
            </a:r>
            <a:r>
              <a:rPr sz="2200" spc="-40" dirty="0">
                <a:solidFill>
                  <a:srgbClr val="FFFFFF"/>
                </a:solidFill>
                <a:latin typeface="Arial"/>
                <a:cs typeface="Arial"/>
              </a:rPr>
              <a:t>altered, </a:t>
            </a:r>
            <a:r>
              <a:rPr sz="2200" spc="-50" dirty="0">
                <a:solidFill>
                  <a:srgbClr val="FFFFFF"/>
                </a:solidFill>
                <a:latin typeface="Arial"/>
                <a:cs typeface="Arial"/>
              </a:rPr>
              <a:t>permissions </a:t>
            </a:r>
            <a:r>
              <a:rPr sz="2200" spc="-5" dirty="0">
                <a:solidFill>
                  <a:srgbClr val="FFFFFF"/>
                </a:solidFill>
                <a:latin typeface="Arial"/>
                <a:cs typeface="Arial"/>
              </a:rPr>
              <a:t>defined </a:t>
            </a:r>
            <a:r>
              <a:rPr sz="2200" spc="70" dirty="0">
                <a:solidFill>
                  <a:srgbClr val="FFFFFF"/>
                </a:solidFill>
                <a:latin typeface="Arial"/>
                <a:cs typeface="Arial"/>
              </a:rPr>
              <a:t>for </a:t>
            </a:r>
            <a:r>
              <a:rPr sz="2200" spc="-5" dirty="0">
                <a:solidFill>
                  <a:srgbClr val="FFFFFF"/>
                </a:solidFill>
                <a:latin typeface="Arial"/>
                <a:cs typeface="Arial"/>
              </a:rPr>
              <a:t>the </a:t>
            </a:r>
            <a:r>
              <a:rPr sz="2200" spc="-40" dirty="0">
                <a:solidFill>
                  <a:srgbClr val="FFFFFF"/>
                </a:solidFill>
                <a:latin typeface="Arial"/>
                <a:cs typeface="Arial"/>
              </a:rPr>
              <a:t>stored  </a:t>
            </a:r>
            <a:r>
              <a:rPr sz="2200" spc="-35" dirty="0">
                <a:solidFill>
                  <a:srgbClr val="FFFFFF"/>
                </a:solidFill>
                <a:latin typeface="Arial"/>
                <a:cs typeface="Arial"/>
              </a:rPr>
              <a:t>procedure </a:t>
            </a:r>
            <a:r>
              <a:rPr sz="2200" spc="-20" dirty="0">
                <a:solidFill>
                  <a:srgbClr val="FFFFFF"/>
                </a:solidFill>
                <a:latin typeface="Arial"/>
                <a:cs typeface="Arial"/>
              </a:rPr>
              <a:t>remain </a:t>
            </a:r>
            <a:r>
              <a:rPr sz="2200" spc="-170" dirty="0">
                <a:solidFill>
                  <a:srgbClr val="FFFFFF"/>
                </a:solidFill>
                <a:latin typeface="Arial"/>
                <a:cs typeface="Arial"/>
              </a:rPr>
              <a:t>same </a:t>
            </a:r>
            <a:r>
              <a:rPr sz="2200" spc="-75" dirty="0">
                <a:solidFill>
                  <a:srgbClr val="FFFFFF"/>
                </a:solidFill>
                <a:latin typeface="Arial"/>
                <a:cs typeface="Arial"/>
              </a:rPr>
              <a:t>even </a:t>
            </a:r>
            <a:r>
              <a:rPr sz="2200" spc="20" dirty="0">
                <a:solidFill>
                  <a:srgbClr val="FFFFFF"/>
                </a:solidFill>
                <a:latin typeface="Arial"/>
                <a:cs typeface="Arial"/>
              </a:rPr>
              <a:t>though </a:t>
            </a:r>
            <a:r>
              <a:rPr sz="2200" spc="-35" dirty="0">
                <a:solidFill>
                  <a:srgbClr val="FFFFFF"/>
                </a:solidFill>
                <a:latin typeface="Arial"/>
                <a:cs typeface="Arial"/>
              </a:rPr>
              <a:t>procedure </a:t>
            </a:r>
            <a:r>
              <a:rPr sz="2200" spc="65" dirty="0">
                <a:solidFill>
                  <a:srgbClr val="FFFFFF"/>
                </a:solidFill>
                <a:latin typeface="Arial"/>
                <a:cs typeface="Arial"/>
              </a:rPr>
              <a:t>definition </a:t>
            </a:r>
            <a:r>
              <a:rPr sz="2200" spc="-55" dirty="0">
                <a:solidFill>
                  <a:srgbClr val="FFFFFF"/>
                </a:solidFill>
                <a:latin typeface="Arial"/>
                <a:cs typeface="Arial"/>
              </a:rPr>
              <a:t>is  </a:t>
            </a:r>
            <a:r>
              <a:rPr sz="2200" spc="-70" dirty="0">
                <a:solidFill>
                  <a:srgbClr val="FFFFFF"/>
                </a:solidFill>
                <a:latin typeface="Arial"/>
                <a:cs typeface="Arial"/>
              </a:rPr>
              <a:t>changed.</a:t>
            </a:r>
            <a:endParaRPr sz="2200">
              <a:latin typeface="Arial"/>
              <a:cs typeface="Arial"/>
            </a:endParaRPr>
          </a:p>
          <a:p>
            <a:pPr>
              <a:lnSpc>
                <a:spcPct val="100000"/>
              </a:lnSpc>
              <a:spcBef>
                <a:spcPts val="15"/>
              </a:spcBef>
            </a:pPr>
            <a:endParaRPr sz="2550">
              <a:latin typeface="Arial"/>
              <a:cs typeface="Arial"/>
            </a:endParaRPr>
          </a:p>
          <a:p>
            <a:pPr marL="154305">
              <a:lnSpc>
                <a:spcPct val="100000"/>
              </a:lnSpc>
            </a:pPr>
            <a:r>
              <a:rPr sz="2000" b="1" spc="-85" dirty="0">
                <a:latin typeface="Arial"/>
                <a:cs typeface="Arial"/>
              </a:rPr>
              <a:t>Dropping </a:t>
            </a:r>
            <a:r>
              <a:rPr sz="2000" b="1" spc="-135" dirty="0">
                <a:latin typeface="Arial"/>
                <a:cs typeface="Arial"/>
              </a:rPr>
              <a:t>stored</a:t>
            </a:r>
            <a:r>
              <a:rPr sz="2000" b="1" spc="-250" dirty="0">
                <a:latin typeface="Arial"/>
                <a:cs typeface="Arial"/>
              </a:rPr>
              <a:t> </a:t>
            </a:r>
            <a:r>
              <a:rPr sz="2000" b="1" spc="-155" dirty="0">
                <a:latin typeface="Arial"/>
                <a:cs typeface="Arial"/>
              </a:rPr>
              <a:t>procedures</a:t>
            </a:r>
            <a:endParaRPr sz="2000">
              <a:latin typeface="Arial"/>
              <a:cs typeface="Arial"/>
            </a:endParaRPr>
          </a:p>
          <a:p>
            <a:pPr>
              <a:lnSpc>
                <a:spcPct val="100000"/>
              </a:lnSpc>
              <a:spcBef>
                <a:spcPts val="55"/>
              </a:spcBef>
            </a:pPr>
            <a:endParaRPr sz="2450">
              <a:latin typeface="Arial"/>
              <a:cs typeface="Arial"/>
            </a:endParaRPr>
          </a:p>
          <a:p>
            <a:pPr marL="298450" marR="1943735" indent="-286385" algn="just">
              <a:lnSpc>
                <a:spcPct val="100000"/>
              </a:lnSpc>
              <a:buFont typeface="Wingdings"/>
              <a:buChar char=""/>
              <a:tabLst>
                <a:tab pos="299085" algn="l"/>
              </a:tabLst>
            </a:pPr>
            <a:r>
              <a:rPr sz="1800" spc="-20" dirty="0">
                <a:solidFill>
                  <a:srgbClr val="FFFFFF"/>
                </a:solidFill>
                <a:latin typeface="Arial"/>
                <a:cs typeface="Arial"/>
              </a:rPr>
              <a:t>Stored </a:t>
            </a:r>
            <a:r>
              <a:rPr sz="1800" spc="-45" dirty="0">
                <a:solidFill>
                  <a:srgbClr val="FFFFFF"/>
                </a:solidFill>
                <a:latin typeface="Arial"/>
                <a:cs typeface="Arial"/>
              </a:rPr>
              <a:t>procedures </a:t>
            </a:r>
            <a:r>
              <a:rPr sz="1800" spc="-70" dirty="0">
                <a:solidFill>
                  <a:srgbClr val="FFFFFF"/>
                </a:solidFill>
                <a:latin typeface="Arial"/>
                <a:cs typeface="Arial"/>
              </a:rPr>
              <a:t>can </a:t>
            </a:r>
            <a:r>
              <a:rPr sz="1800" spc="-95" dirty="0">
                <a:solidFill>
                  <a:srgbClr val="FFFFFF"/>
                </a:solidFill>
                <a:latin typeface="Arial"/>
                <a:cs typeface="Arial"/>
              </a:rPr>
              <a:t>be </a:t>
            </a:r>
            <a:r>
              <a:rPr sz="1800" spc="-15" dirty="0">
                <a:solidFill>
                  <a:srgbClr val="FFFFFF"/>
                </a:solidFill>
                <a:latin typeface="Arial"/>
                <a:cs typeface="Arial"/>
              </a:rPr>
              <a:t>dropped </a:t>
            </a:r>
            <a:r>
              <a:rPr sz="1800" spc="110" dirty="0">
                <a:solidFill>
                  <a:srgbClr val="FFFFFF"/>
                </a:solidFill>
                <a:latin typeface="Arial"/>
                <a:cs typeface="Arial"/>
              </a:rPr>
              <a:t>if </a:t>
            </a:r>
            <a:r>
              <a:rPr sz="1800" dirty="0">
                <a:solidFill>
                  <a:srgbClr val="FFFFFF"/>
                </a:solidFill>
                <a:latin typeface="Arial"/>
                <a:cs typeface="Arial"/>
              </a:rPr>
              <a:t>they </a:t>
            </a:r>
            <a:r>
              <a:rPr sz="1800" spc="-90" dirty="0">
                <a:solidFill>
                  <a:srgbClr val="FFFFFF"/>
                </a:solidFill>
                <a:latin typeface="Arial"/>
                <a:cs typeface="Arial"/>
              </a:rPr>
              <a:t>are </a:t>
            </a:r>
            <a:r>
              <a:rPr sz="1800" spc="20" dirty="0">
                <a:solidFill>
                  <a:srgbClr val="FFFFFF"/>
                </a:solidFill>
                <a:latin typeface="Arial"/>
                <a:cs typeface="Arial"/>
              </a:rPr>
              <a:t>no </a:t>
            </a:r>
            <a:r>
              <a:rPr sz="1800" spc="-10" dirty="0">
                <a:solidFill>
                  <a:srgbClr val="FFFFFF"/>
                </a:solidFill>
                <a:latin typeface="Arial"/>
                <a:cs typeface="Arial"/>
              </a:rPr>
              <a:t>longer  required. </a:t>
            </a:r>
            <a:r>
              <a:rPr sz="1800" spc="100" dirty="0">
                <a:solidFill>
                  <a:srgbClr val="FFFFFF"/>
                </a:solidFill>
                <a:latin typeface="Arial"/>
                <a:cs typeface="Arial"/>
              </a:rPr>
              <a:t>If </a:t>
            </a:r>
            <a:r>
              <a:rPr sz="1800" spc="-10" dirty="0">
                <a:solidFill>
                  <a:srgbClr val="FFFFFF"/>
                </a:solidFill>
                <a:latin typeface="Arial"/>
                <a:cs typeface="Arial"/>
              </a:rPr>
              <a:t>another </a:t>
            </a:r>
            <a:r>
              <a:rPr sz="1800" spc="-30" dirty="0">
                <a:solidFill>
                  <a:srgbClr val="FFFFFF"/>
                </a:solidFill>
                <a:latin typeface="Arial"/>
                <a:cs typeface="Arial"/>
              </a:rPr>
              <a:t>stored procedure </a:t>
            </a:r>
            <a:r>
              <a:rPr sz="1800" spc="-55" dirty="0">
                <a:solidFill>
                  <a:srgbClr val="FFFFFF"/>
                </a:solidFill>
                <a:latin typeface="Arial"/>
                <a:cs typeface="Arial"/>
              </a:rPr>
              <a:t>calls </a:t>
            </a:r>
            <a:r>
              <a:rPr sz="1800" spc="-175" dirty="0">
                <a:solidFill>
                  <a:srgbClr val="FFFFFF"/>
                </a:solidFill>
                <a:latin typeface="Arial"/>
                <a:cs typeface="Arial"/>
              </a:rPr>
              <a:t>a </a:t>
            </a:r>
            <a:r>
              <a:rPr sz="1800" spc="-40" dirty="0">
                <a:solidFill>
                  <a:srgbClr val="FFFFFF"/>
                </a:solidFill>
                <a:latin typeface="Arial"/>
                <a:cs typeface="Arial"/>
              </a:rPr>
              <a:t>deleted  </a:t>
            </a:r>
            <a:r>
              <a:rPr sz="1800" spc="-30" dirty="0">
                <a:solidFill>
                  <a:srgbClr val="FFFFFF"/>
                </a:solidFill>
                <a:latin typeface="Arial"/>
                <a:cs typeface="Arial"/>
              </a:rPr>
              <a:t>procedure, </a:t>
            </a:r>
            <a:r>
              <a:rPr sz="1800" spc="-60" dirty="0">
                <a:solidFill>
                  <a:srgbClr val="FFFFFF"/>
                </a:solidFill>
                <a:latin typeface="Arial"/>
                <a:cs typeface="Arial"/>
              </a:rPr>
              <a:t>an </a:t>
            </a:r>
            <a:r>
              <a:rPr sz="1800" spc="10" dirty="0">
                <a:solidFill>
                  <a:srgbClr val="FFFFFF"/>
                </a:solidFill>
                <a:latin typeface="Arial"/>
                <a:cs typeface="Arial"/>
              </a:rPr>
              <a:t>error </a:t>
            </a:r>
            <a:r>
              <a:rPr sz="1800" spc="-145" dirty="0">
                <a:solidFill>
                  <a:srgbClr val="FFFFFF"/>
                </a:solidFill>
                <a:latin typeface="Arial"/>
                <a:cs typeface="Arial"/>
              </a:rPr>
              <a:t>message </a:t>
            </a:r>
            <a:r>
              <a:rPr sz="1800" spc="-45" dirty="0">
                <a:solidFill>
                  <a:srgbClr val="FFFFFF"/>
                </a:solidFill>
                <a:latin typeface="Arial"/>
                <a:cs typeface="Arial"/>
              </a:rPr>
              <a:t>is</a:t>
            </a:r>
            <a:r>
              <a:rPr sz="1800" spc="-375" dirty="0">
                <a:solidFill>
                  <a:srgbClr val="FFFFFF"/>
                </a:solidFill>
                <a:latin typeface="Arial"/>
                <a:cs typeface="Arial"/>
              </a:rPr>
              <a:t> </a:t>
            </a:r>
            <a:r>
              <a:rPr sz="1800" spc="-35" dirty="0">
                <a:solidFill>
                  <a:srgbClr val="FFFFFF"/>
                </a:solidFill>
                <a:latin typeface="Arial"/>
                <a:cs typeface="Arial"/>
              </a:rPr>
              <a:t>displayed.</a:t>
            </a:r>
            <a:endParaRPr sz="1800">
              <a:latin typeface="Arial"/>
              <a:cs typeface="Arial"/>
            </a:endParaRPr>
          </a:p>
          <a:p>
            <a:pPr>
              <a:lnSpc>
                <a:spcPct val="100000"/>
              </a:lnSpc>
              <a:spcBef>
                <a:spcPts val="10"/>
              </a:spcBef>
              <a:buClr>
                <a:srgbClr val="FFFFFF"/>
              </a:buClr>
              <a:buFont typeface="Wingdings"/>
              <a:buChar char=""/>
            </a:pPr>
            <a:endParaRPr sz="3750">
              <a:latin typeface="Arial"/>
              <a:cs typeface="Arial"/>
            </a:endParaRPr>
          </a:p>
          <a:p>
            <a:pPr marL="2519045" marR="5080" lvl="1" indent="-285750" algn="just">
              <a:lnSpc>
                <a:spcPct val="100000"/>
              </a:lnSpc>
              <a:buFont typeface="Wingdings"/>
              <a:buChar char=""/>
              <a:tabLst>
                <a:tab pos="2519680" algn="l"/>
              </a:tabLst>
            </a:pPr>
            <a:r>
              <a:rPr sz="1800" spc="100" dirty="0">
                <a:solidFill>
                  <a:srgbClr val="FFFFFF"/>
                </a:solidFill>
                <a:latin typeface="Arial"/>
                <a:cs typeface="Arial"/>
              </a:rPr>
              <a:t>If </a:t>
            </a:r>
            <a:r>
              <a:rPr sz="1800" spc="-175" dirty="0">
                <a:solidFill>
                  <a:srgbClr val="FFFFFF"/>
                </a:solidFill>
                <a:latin typeface="Arial"/>
                <a:cs typeface="Arial"/>
              </a:rPr>
              <a:t>a </a:t>
            </a:r>
            <a:r>
              <a:rPr sz="1800" spc="-25" dirty="0">
                <a:solidFill>
                  <a:srgbClr val="FFFFFF"/>
                </a:solidFill>
                <a:latin typeface="Arial"/>
                <a:cs typeface="Arial"/>
              </a:rPr>
              <a:t>new </a:t>
            </a:r>
            <a:r>
              <a:rPr sz="1800" spc="-30" dirty="0">
                <a:solidFill>
                  <a:srgbClr val="FFFFFF"/>
                </a:solidFill>
                <a:latin typeface="Arial"/>
                <a:cs typeface="Arial"/>
              </a:rPr>
              <a:t>procedure </a:t>
            </a:r>
            <a:r>
              <a:rPr sz="1800" spc="-45" dirty="0">
                <a:solidFill>
                  <a:srgbClr val="FFFFFF"/>
                </a:solidFill>
                <a:latin typeface="Arial"/>
                <a:cs typeface="Arial"/>
              </a:rPr>
              <a:t>is </a:t>
            </a:r>
            <a:r>
              <a:rPr sz="1800" spc="-55" dirty="0">
                <a:solidFill>
                  <a:srgbClr val="FFFFFF"/>
                </a:solidFill>
                <a:latin typeface="Arial"/>
                <a:cs typeface="Arial"/>
              </a:rPr>
              <a:t>created </a:t>
            </a:r>
            <a:r>
              <a:rPr sz="1800" spc="-25" dirty="0">
                <a:solidFill>
                  <a:srgbClr val="FFFFFF"/>
                </a:solidFill>
                <a:latin typeface="Arial"/>
                <a:cs typeface="Arial"/>
              </a:rPr>
              <a:t>using </a:t>
            </a:r>
            <a:r>
              <a:rPr sz="1800" dirty="0">
                <a:solidFill>
                  <a:srgbClr val="FFFFFF"/>
                </a:solidFill>
                <a:latin typeface="Arial"/>
                <a:cs typeface="Arial"/>
              </a:rPr>
              <a:t>the </a:t>
            </a:r>
            <a:r>
              <a:rPr sz="1800" spc="-135" dirty="0">
                <a:solidFill>
                  <a:srgbClr val="FFFFFF"/>
                </a:solidFill>
                <a:latin typeface="Arial"/>
                <a:cs typeface="Arial"/>
              </a:rPr>
              <a:t>same </a:t>
            </a:r>
            <a:r>
              <a:rPr sz="1800" spc="-75" dirty="0">
                <a:solidFill>
                  <a:srgbClr val="FFFFFF"/>
                </a:solidFill>
                <a:latin typeface="Arial"/>
                <a:cs typeface="Arial"/>
              </a:rPr>
              <a:t>name </a:t>
            </a:r>
            <a:r>
              <a:rPr sz="1800" spc="-190" dirty="0">
                <a:solidFill>
                  <a:srgbClr val="FFFFFF"/>
                </a:solidFill>
                <a:latin typeface="Arial"/>
                <a:cs typeface="Arial"/>
              </a:rPr>
              <a:t>as  </a:t>
            </a:r>
            <a:r>
              <a:rPr sz="1800" spc="20" dirty="0">
                <a:solidFill>
                  <a:srgbClr val="FFFFFF"/>
                </a:solidFill>
                <a:latin typeface="Arial"/>
                <a:cs typeface="Arial"/>
              </a:rPr>
              <a:t>well </a:t>
            </a:r>
            <a:r>
              <a:rPr sz="1800" spc="-185" dirty="0">
                <a:solidFill>
                  <a:srgbClr val="FFFFFF"/>
                </a:solidFill>
                <a:latin typeface="Arial"/>
                <a:cs typeface="Arial"/>
              </a:rPr>
              <a:t>as </a:t>
            </a:r>
            <a:r>
              <a:rPr sz="1800" dirty="0">
                <a:solidFill>
                  <a:srgbClr val="FFFFFF"/>
                </a:solidFill>
                <a:latin typeface="Arial"/>
                <a:cs typeface="Arial"/>
              </a:rPr>
              <a:t>the </a:t>
            </a:r>
            <a:r>
              <a:rPr sz="1800" spc="-135" dirty="0">
                <a:solidFill>
                  <a:srgbClr val="FFFFFF"/>
                </a:solidFill>
                <a:latin typeface="Arial"/>
                <a:cs typeface="Arial"/>
              </a:rPr>
              <a:t>same </a:t>
            </a:r>
            <a:r>
              <a:rPr sz="1800" spc="-65" dirty="0">
                <a:solidFill>
                  <a:srgbClr val="FFFFFF"/>
                </a:solidFill>
                <a:latin typeface="Arial"/>
                <a:cs typeface="Arial"/>
              </a:rPr>
              <a:t>parameters </a:t>
            </a:r>
            <a:r>
              <a:rPr sz="1800" spc="-185" dirty="0">
                <a:solidFill>
                  <a:srgbClr val="FFFFFF"/>
                </a:solidFill>
                <a:latin typeface="Arial"/>
                <a:cs typeface="Arial"/>
              </a:rPr>
              <a:t>as </a:t>
            </a:r>
            <a:r>
              <a:rPr sz="1800" dirty="0">
                <a:solidFill>
                  <a:srgbClr val="FFFFFF"/>
                </a:solidFill>
                <a:latin typeface="Arial"/>
                <a:cs typeface="Arial"/>
              </a:rPr>
              <a:t>the </a:t>
            </a:r>
            <a:r>
              <a:rPr sz="1800" spc="-15" dirty="0">
                <a:solidFill>
                  <a:srgbClr val="FFFFFF"/>
                </a:solidFill>
                <a:latin typeface="Arial"/>
                <a:cs typeface="Arial"/>
              </a:rPr>
              <a:t>dropped </a:t>
            </a:r>
            <a:r>
              <a:rPr sz="1800" spc="-30" dirty="0">
                <a:solidFill>
                  <a:srgbClr val="FFFFFF"/>
                </a:solidFill>
                <a:latin typeface="Arial"/>
                <a:cs typeface="Arial"/>
              </a:rPr>
              <a:t>procedure,  </a:t>
            </a:r>
            <a:r>
              <a:rPr sz="1800" spc="5" dirty="0">
                <a:solidFill>
                  <a:srgbClr val="FFFFFF"/>
                </a:solidFill>
                <a:latin typeface="Arial"/>
                <a:cs typeface="Arial"/>
              </a:rPr>
              <a:t>all </a:t>
            </a:r>
            <a:r>
              <a:rPr sz="1800" spc="-55" dirty="0">
                <a:solidFill>
                  <a:srgbClr val="FFFFFF"/>
                </a:solidFill>
                <a:latin typeface="Arial"/>
                <a:cs typeface="Arial"/>
              </a:rPr>
              <a:t>calls </a:t>
            </a:r>
            <a:r>
              <a:rPr sz="1800" spc="45" dirty="0">
                <a:solidFill>
                  <a:srgbClr val="FFFFFF"/>
                </a:solidFill>
                <a:latin typeface="Arial"/>
                <a:cs typeface="Arial"/>
              </a:rPr>
              <a:t>to </a:t>
            </a:r>
            <a:r>
              <a:rPr sz="1800" dirty="0">
                <a:solidFill>
                  <a:srgbClr val="FFFFFF"/>
                </a:solidFill>
                <a:latin typeface="Arial"/>
                <a:cs typeface="Arial"/>
              </a:rPr>
              <a:t>the </a:t>
            </a:r>
            <a:r>
              <a:rPr sz="1800" spc="-15" dirty="0">
                <a:solidFill>
                  <a:srgbClr val="FFFFFF"/>
                </a:solidFill>
                <a:latin typeface="Arial"/>
                <a:cs typeface="Arial"/>
              </a:rPr>
              <a:t>dropped </a:t>
            </a:r>
            <a:r>
              <a:rPr sz="1800" spc="-30" dirty="0">
                <a:solidFill>
                  <a:srgbClr val="FFFFFF"/>
                </a:solidFill>
                <a:latin typeface="Arial"/>
                <a:cs typeface="Arial"/>
              </a:rPr>
              <a:t>procedure </a:t>
            </a:r>
            <a:r>
              <a:rPr sz="1800" spc="90" dirty="0">
                <a:solidFill>
                  <a:srgbClr val="FFFFFF"/>
                </a:solidFill>
                <a:latin typeface="Arial"/>
                <a:cs typeface="Arial"/>
              </a:rPr>
              <a:t>will </a:t>
            </a:r>
            <a:r>
              <a:rPr sz="1800" spc="-95" dirty="0">
                <a:solidFill>
                  <a:srgbClr val="FFFFFF"/>
                </a:solidFill>
                <a:latin typeface="Arial"/>
                <a:cs typeface="Arial"/>
              </a:rPr>
              <a:t>be </a:t>
            </a:r>
            <a:r>
              <a:rPr sz="1800" spc="-40" dirty="0">
                <a:solidFill>
                  <a:srgbClr val="FFFFFF"/>
                </a:solidFill>
                <a:latin typeface="Arial"/>
                <a:cs typeface="Arial"/>
              </a:rPr>
              <a:t>executed  </a:t>
            </a:r>
            <a:r>
              <a:rPr sz="1800" spc="-45" dirty="0">
                <a:solidFill>
                  <a:srgbClr val="FFFFFF"/>
                </a:solidFill>
                <a:latin typeface="Arial"/>
                <a:cs typeface="Arial"/>
              </a:rPr>
              <a:t>successfully.</a:t>
            </a:r>
            <a:endParaRPr sz="18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38</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111115" cy="574040"/>
          </a:xfrm>
          <a:prstGeom prst="rect">
            <a:avLst/>
          </a:prstGeom>
        </p:spPr>
        <p:txBody>
          <a:bodyPr vert="horz" wrap="square" lIns="0" tIns="12700" rIns="0" bIns="0" rtlCol="0">
            <a:spAutoFit/>
          </a:bodyPr>
          <a:lstStyle/>
          <a:p>
            <a:pPr marL="12700">
              <a:lnSpc>
                <a:spcPct val="100000"/>
              </a:lnSpc>
              <a:spcBef>
                <a:spcPts val="100"/>
              </a:spcBef>
            </a:pPr>
            <a:r>
              <a:rPr b="0" spc="-85" dirty="0">
                <a:latin typeface="Arial"/>
                <a:cs typeface="Arial"/>
              </a:rPr>
              <a:t>Nested </a:t>
            </a:r>
            <a:r>
              <a:rPr b="0" spc="-35" dirty="0">
                <a:latin typeface="Arial"/>
                <a:cs typeface="Arial"/>
              </a:rPr>
              <a:t>Stored</a:t>
            </a:r>
            <a:r>
              <a:rPr b="0" spc="-430" dirty="0">
                <a:latin typeface="Arial"/>
                <a:cs typeface="Arial"/>
              </a:rPr>
              <a:t> </a:t>
            </a:r>
            <a:r>
              <a:rPr b="0" spc="-125" dirty="0">
                <a:latin typeface="Arial"/>
                <a:cs typeface="Arial"/>
              </a:rPr>
              <a:t>Procedures</a:t>
            </a:r>
          </a:p>
        </p:txBody>
      </p:sp>
      <p:sp>
        <p:nvSpPr>
          <p:cNvPr id="3" name="object 3"/>
          <p:cNvSpPr txBox="1"/>
          <p:nvPr/>
        </p:nvSpPr>
        <p:spPr>
          <a:xfrm>
            <a:off x="897636" y="3885438"/>
            <a:ext cx="227329" cy="330200"/>
          </a:xfrm>
          <a:prstGeom prst="rect">
            <a:avLst/>
          </a:prstGeom>
        </p:spPr>
        <p:txBody>
          <a:bodyPr vert="horz" wrap="square" lIns="0" tIns="12065" rIns="0" bIns="0" rtlCol="0">
            <a:spAutoFit/>
          </a:bodyPr>
          <a:lstStyle/>
          <a:p>
            <a:pPr marL="12700">
              <a:lnSpc>
                <a:spcPct val="100000"/>
              </a:lnSpc>
              <a:spcBef>
                <a:spcPts val="95"/>
              </a:spcBef>
            </a:pPr>
            <a:r>
              <a:rPr sz="2000" spc="-5" dirty="0">
                <a:solidFill>
                  <a:srgbClr val="FFFFFF"/>
                </a:solidFill>
                <a:latin typeface="Wingdings"/>
                <a:cs typeface="Wingdings"/>
              </a:rPr>
              <a:t></a:t>
            </a:r>
            <a:endParaRPr sz="2000">
              <a:latin typeface="Wingdings"/>
              <a:cs typeface="Wingdings"/>
            </a:endParaRPr>
          </a:p>
        </p:txBody>
      </p:sp>
      <p:grpSp>
        <p:nvGrpSpPr>
          <p:cNvPr id="4" name="object 4"/>
          <p:cNvGrpSpPr/>
          <p:nvPr/>
        </p:nvGrpSpPr>
        <p:grpSpPr>
          <a:xfrm>
            <a:off x="378472" y="963167"/>
            <a:ext cx="8542655" cy="5335270"/>
            <a:chOff x="378472" y="963167"/>
            <a:chExt cx="8542655" cy="5335270"/>
          </a:xfrm>
        </p:grpSpPr>
        <p:sp>
          <p:nvSpPr>
            <p:cNvPr id="5" name="object 5"/>
            <p:cNvSpPr/>
            <p:nvPr/>
          </p:nvSpPr>
          <p:spPr>
            <a:xfrm>
              <a:off x="391172" y="975867"/>
              <a:ext cx="1115060" cy="5309870"/>
            </a:xfrm>
            <a:custGeom>
              <a:avLst/>
              <a:gdLst/>
              <a:ahLst/>
              <a:cxnLst/>
              <a:rect l="l" t="t" r="r" b="b"/>
              <a:pathLst>
                <a:path w="1115060" h="5309870">
                  <a:moveTo>
                    <a:pt x="15290" y="0"/>
                  </a:moveTo>
                  <a:lnTo>
                    <a:pt x="49385" y="34527"/>
                  </a:lnTo>
                  <a:lnTo>
                    <a:pt x="82942" y="69383"/>
                  </a:lnTo>
                  <a:lnTo>
                    <a:pt x="115963" y="104562"/>
                  </a:lnTo>
                  <a:lnTo>
                    <a:pt x="148447" y="140059"/>
                  </a:lnTo>
                  <a:lnTo>
                    <a:pt x="180393" y="175869"/>
                  </a:lnTo>
                  <a:lnTo>
                    <a:pt x="211803" y="211986"/>
                  </a:lnTo>
                  <a:lnTo>
                    <a:pt x="242676" y="248406"/>
                  </a:lnTo>
                  <a:lnTo>
                    <a:pt x="273012" y="285123"/>
                  </a:lnTo>
                  <a:lnTo>
                    <a:pt x="302811" y="322132"/>
                  </a:lnTo>
                  <a:lnTo>
                    <a:pt x="332074" y="359428"/>
                  </a:lnTo>
                  <a:lnTo>
                    <a:pt x="360799" y="397005"/>
                  </a:lnTo>
                  <a:lnTo>
                    <a:pt x="388987" y="434858"/>
                  </a:lnTo>
                  <a:lnTo>
                    <a:pt x="416639" y="472983"/>
                  </a:lnTo>
                  <a:lnTo>
                    <a:pt x="443753" y="511374"/>
                  </a:lnTo>
                  <a:lnTo>
                    <a:pt x="470331" y="550025"/>
                  </a:lnTo>
                  <a:lnTo>
                    <a:pt x="496371" y="588931"/>
                  </a:lnTo>
                  <a:lnTo>
                    <a:pt x="521875" y="628088"/>
                  </a:lnTo>
                  <a:lnTo>
                    <a:pt x="546842" y="667490"/>
                  </a:lnTo>
                  <a:lnTo>
                    <a:pt x="571272" y="707132"/>
                  </a:lnTo>
                  <a:lnTo>
                    <a:pt x="595165" y="747008"/>
                  </a:lnTo>
                  <a:lnTo>
                    <a:pt x="618521" y="787114"/>
                  </a:lnTo>
                  <a:lnTo>
                    <a:pt x="641340" y="827444"/>
                  </a:lnTo>
                  <a:lnTo>
                    <a:pt x="663622" y="867993"/>
                  </a:lnTo>
                  <a:lnTo>
                    <a:pt x="685367" y="908755"/>
                  </a:lnTo>
                  <a:lnTo>
                    <a:pt x="706576" y="949726"/>
                  </a:lnTo>
                  <a:lnTo>
                    <a:pt x="727247" y="990901"/>
                  </a:lnTo>
                  <a:lnTo>
                    <a:pt x="747382" y="1032273"/>
                  </a:lnTo>
                  <a:lnTo>
                    <a:pt x="766979" y="1073839"/>
                  </a:lnTo>
                  <a:lnTo>
                    <a:pt x="786040" y="1115592"/>
                  </a:lnTo>
                  <a:lnTo>
                    <a:pt x="804564" y="1157528"/>
                  </a:lnTo>
                  <a:lnTo>
                    <a:pt x="822551" y="1199641"/>
                  </a:lnTo>
                  <a:lnTo>
                    <a:pt x="840001" y="1241926"/>
                  </a:lnTo>
                  <a:lnTo>
                    <a:pt x="856914" y="1284377"/>
                  </a:lnTo>
                  <a:lnTo>
                    <a:pt x="873290" y="1326991"/>
                  </a:lnTo>
                  <a:lnTo>
                    <a:pt x="889129" y="1369761"/>
                  </a:lnTo>
                  <a:lnTo>
                    <a:pt x="904431" y="1412682"/>
                  </a:lnTo>
                  <a:lnTo>
                    <a:pt x="919196" y="1455748"/>
                  </a:lnTo>
                  <a:lnTo>
                    <a:pt x="933425" y="1498956"/>
                  </a:lnTo>
                  <a:lnTo>
                    <a:pt x="947116" y="1542300"/>
                  </a:lnTo>
                  <a:lnTo>
                    <a:pt x="960271" y="1585773"/>
                  </a:lnTo>
                  <a:lnTo>
                    <a:pt x="972888" y="1629372"/>
                  </a:lnTo>
                  <a:lnTo>
                    <a:pt x="984969" y="1673091"/>
                  </a:lnTo>
                  <a:lnTo>
                    <a:pt x="996513" y="1716924"/>
                  </a:lnTo>
                  <a:lnTo>
                    <a:pt x="1007520" y="1760867"/>
                  </a:lnTo>
                  <a:lnTo>
                    <a:pt x="1017990" y="1804914"/>
                  </a:lnTo>
                  <a:lnTo>
                    <a:pt x="1027923" y="1849060"/>
                  </a:lnTo>
                  <a:lnTo>
                    <a:pt x="1037319" y="1893300"/>
                  </a:lnTo>
                  <a:lnTo>
                    <a:pt x="1046178" y="1937629"/>
                  </a:lnTo>
                  <a:lnTo>
                    <a:pt x="1054500" y="1982041"/>
                  </a:lnTo>
                  <a:lnTo>
                    <a:pt x="1062286" y="2026531"/>
                  </a:lnTo>
                  <a:lnTo>
                    <a:pt x="1069534" y="2071095"/>
                  </a:lnTo>
                  <a:lnTo>
                    <a:pt x="1076246" y="2115726"/>
                  </a:lnTo>
                  <a:lnTo>
                    <a:pt x="1082420" y="2160419"/>
                  </a:lnTo>
                  <a:lnTo>
                    <a:pt x="1088058" y="2205170"/>
                  </a:lnTo>
                  <a:lnTo>
                    <a:pt x="1093159" y="2249974"/>
                  </a:lnTo>
                  <a:lnTo>
                    <a:pt x="1097722" y="2294824"/>
                  </a:lnTo>
                  <a:lnTo>
                    <a:pt x="1101749" y="2339716"/>
                  </a:lnTo>
                  <a:lnTo>
                    <a:pt x="1105239" y="2384644"/>
                  </a:lnTo>
                  <a:lnTo>
                    <a:pt x="1108192" y="2429603"/>
                  </a:lnTo>
                  <a:lnTo>
                    <a:pt x="1110609" y="2474589"/>
                  </a:lnTo>
                  <a:lnTo>
                    <a:pt x="1112488" y="2519596"/>
                  </a:lnTo>
                  <a:lnTo>
                    <a:pt x="1113830" y="2564618"/>
                  </a:lnTo>
                  <a:lnTo>
                    <a:pt x="1114635" y="2609651"/>
                  </a:lnTo>
                  <a:lnTo>
                    <a:pt x="1114904" y="2654688"/>
                  </a:lnTo>
                  <a:lnTo>
                    <a:pt x="1114635" y="2699726"/>
                  </a:lnTo>
                  <a:lnTo>
                    <a:pt x="1113830" y="2744759"/>
                  </a:lnTo>
                  <a:lnTo>
                    <a:pt x="1112488" y="2789781"/>
                  </a:lnTo>
                  <a:lnTo>
                    <a:pt x="1110609" y="2834788"/>
                  </a:lnTo>
                  <a:lnTo>
                    <a:pt x="1108192" y="2879774"/>
                  </a:lnTo>
                  <a:lnTo>
                    <a:pt x="1105239" y="2924733"/>
                  </a:lnTo>
                  <a:lnTo>
                    <a:pt x="1101749" y="2969662"/>
                  </a:lnTo>
                  <a:lnTo>
                    <a:pt x="1097722" y="3014554"/>
                  </a:lnTo>
                  <a:lnTo>
                    <a:pt x="1093159" y="3059404"/>
                  </a:lnTo>
                  <a:lnTo>
                    <a:pt x="1088058" y="3104208"/>
                  </a:lnTo>
                  <a:lnTo>
                    <a:pt x="1082420" y="3148959"/>
                  </a:lnTo>
                  <a:lnTo>
                    <a:pt x="1076246" y="3193653"/>
                  </a:lnTo>
                  <a:lnTo>
                    <a:pt x="1069534" y="3238284"/>
                  </a:lnTo>
                  <a:lnTo>
                    <a:pt x="1062286" y="3282848"/>
                  </a:lnTo>
                  <a:lnTo>
                    <a:pt x="1054500" y="3327338"/>
                  </a:lnTo>
                  <a:lnTo>
                    <a:pt x="1046178" y="3371751"/>
                  </a:lnTo>
                  <a:lnTo>
                    <a:pt x="1037319" y="3416080"/>
                  </a:lnTo>
                  <a:lnTo>
                    <a:pt x="1027923" y="3460320"/>
                  </a:lnTo>
                  <a:lnTo>
                    <a:pt x="1017990" y="3504467"/>
                  </a:lnTo>
                  <a:lnTo>
                    <a:pt x="1007520" y="3548515"/>
                  </a:lnTo>
                  <a:lnTo>
                    <a:pt x="996513" y="3592458"/>
                  </a:lnTo>
                  <a:lnTo>
                    <a:pt x="984969" y="3636292"/>
                  </a:lnTo>
                  <a:lnTo>
                    <a:pt x="972888" y="3680011"/>
                  </a:lnTo>
                  <a:lnTo>
                    <a:pt x="960271" y="3723610"/>
                  </a:lnTo>
                  <a:lnTo>
                    <a:pt x="947116" y="3767085"/>
                  </a:lnTo>
                  <a:lnTo>
                    <a:pt x="933425" y="3810428"/>
                  </a:lnTo>
                  <a:lnTo>
                    <a:pt x="919196" y="3853637"/>
                  </a:lnTo>
                  <a:lnTo>
                    <a:pt x="904431" y="3896704"/>
                  </a:lnTo>
                  <a:lnTo>
                    <a:pt x="889129" y="3939626"/>
                  </a:lnTo>
                  <a:lnTo>
                    <a:pt x="873290" y="3982397"/>
                  </a:lnTo>
                  <a:lnTo>
                    <a:pt x="856914" y="4025011"/>
                  </a:lnTo>
                  <a:lnTo>
                    <a:pt x="840001" y="4067463"/>
                  </a:lnTo>
                  <a:lnTo>
                    <a:pt x="822551" y="4109749"/>
                  </a:lnTo>
                  <a:lnTo>
                    <a:pt x="804564" y="4151863"/>
                  </a:lnTo>
                  <a:lnTo>
                    <a:pt x="786040" y="4193799"/>
                  </a:lnTo>
                  <a:lnTo>
                    <a:pt x="766979" y="4235553"/>
                  </a:lnTo>
                  <a:lnTo>
                    <a:pt x="747382" y="4277119"/>
                  </a:lnTo>
                  <a:lnTo>
                    <a:pt x="727247" y="4318493"/>
                  </a:lnTo>
                  <a:lnTo>
                    <a:pt x="706576" y="4359668"/>
                  </a:lnTo>
                  <a:lnTo>
                    <a:pt x="685367" y="4400640"/>
                  </a:lnTo>
                  <a:lnTo>
                    <a:pt x="663622" y="4441404"/>
                  </a:lnTo>
                  <a:lnTo>
                    <a:pt x="641340" y="4481954"/>
                  </a:lnTo>
                  <a:lnTo>
                    <a:pt x="618521" y="4522284"/>
                  </a:lnTo>
                  <a:lnTo>
                    <a:pt x="595165" y="4562391"/>
                  </a:lnTo>
                  <a:lnTo>
                    <a:pt x="571272" y="4602269"/>
                  </a:lnTo>
                  <a:lnTo>
                    <a:pt x="546842" y="4641911"/>
                  </a:lnTo>
                  <a:lnTo>
                    <a:pt x="521875" y="4681314"/>
                  </a:lnTo>
                  <a:lnTo>
                    <a:pt x="496371" y="4720472"/>
                  </a:lnTo>
                  <a:lnTo>
                    <a:pt x="470331" y="4759380"/>
                  </a:lnTo>
                  <a:lnTo>
                    <a:pt x="443753" y="4798032"/>
                  </a:lnTo>
                  <a:lnTo>
                    <a:pt x="416639" y="4836424"/>
                  </a:lnTo>
                  <a:lnTo>
                    <a:pt x="388987" y="4874550"/>
                  </a:lnTo>
                  <a:lnTo>
                    <a:pt x="360799" y="4912405"/>
                  </a:lnTo>
                  <a:lnTo>
                    <a:pt x="332074" y="4949983"/>
                  </a:lnTo>
                  <a:lnTo>
                    <a:pt x="302811" y="4987280"/>
                  </a:lnTo>
                  <a:lnTo>
                    <a:pt x="273012" y="5024290"/>
                  </a:lnTo>
                  <a:lnTo>
                    <a:pt x="242676" y="5061009"/>
                  </a:lnTo>
                  <a:lnTo>
                    <a:pt x="211803" y="5097430"/>
                  </a:lnTo>
                  <a:lnTo>
                    <a:pt x="180393" y="5133549"/>
                  </a:lnTo>
                  <a:lnTo>
                    <a:pt x="148447" y="5169360"/>
                  </a:lnTo>
                  <a:lnTo>
                    <a:pt x="115963" y="5204858"/>
                  </a:lnTo>
                  <a:lnTo>
                    <a:pt x="82942" y="5240039"/>
                  </a:lnTo>
                  <a:lnTo>
                    <a:pt x="49385" y="5274896"/>
                  </a:lnTo>
                  <a:lnTo>
                    <a:pt x="15290" y="5309425"/>
                  </a:lnTo>
                  <a:lnTo>
                    <a:pt x="0" y="5294134"/>
                  </a:lnTo>
                  <a:lnTo>
                    <a:pt x="33897" y="5259804"/>
                  </a:lnTo>
                  <a:lnTo>
                    <a:pt x="67261" y="5225147"/>
                  </a:lnTo>
                  <a:lnTo>
                    <a:pt x="100091" y="5190169"/>
                  </a:lnTo>
                  <a:lnTo>
                    <a:pt x="132388" y="5154875"/>
                  </a:lnTo>
                  <a:lnTo>
                    <a:pt x="164150" y="5119270"/>
                  </a:lnTo>
                  <a:lnTo>
                    <a:pt x="195379" y="5083359"/>
                  </a:lnTo>
                  <a:lnTo>
                    <a:pt x="226074" y="5047147"/>
                  </a:lnTo>
                  <a:lnTo>
                    <a:pt x="256235" y="5010640"/>
                  </a:lnTo>
                  <a:lnTo>
                    <a:pt x="285862" y="4973843"/>
                  </a:lnTo>
                  <a:lnTo>
                    <a:pt x="314955" y="4936760"/>
                  </a:lnTo>
                  <a:lnTo>
                    <a:pt x="343515" y="4899398"/>
                  </a:lnTo>
                  <a:lnTo>
                    <a:pt x="371540" y="4861761"/>
                  </a:lnTo>
                  <a:lnTo>
                    <a:pt x="399032" y="4823855"/>
                  </a:lnTo>
                  <a:lnTo>
                    <a:pt x="425990" y="4785684"/>
                  </a:lnTo>
                  <a:lnTo>
                    <a:pt x="452415" y="4747254"/>
                  </a:lnTo>
                  <a:lnTo>
                    <a:pt x="478305" y="4708571"/>
                  </a:lnTo>
                  <a:lnTo>
                    <a:pt x="503662" y="4669638"/>
                  </a:lnTo>
                  <a:lnTo>
                    <a:pt x="528484" y="4630462"/>
                  </a:lnTo>
                  <a:lnTo>
                    <a:pt x="552773" y="4591047"/>
                  </a:lnTo>
                  <a:lnTo>
                    <a:pt x="576529" y="4551400"/>
                  </a:lnTo>
                  <a:lnTo>
                    <a:pt x="599750" y="4511524"/>
                  </a:lnTo>
                  <a:lnTo>
                    <a:pt x="622437" y="4471425"/>
                  </a:lnTo>
                  <a:lnTo>
                    <a:pt x="644591" y="4431109"/>
                  </a:lnTo>
                  <a:lnTo>
                    <a:pt x="666211" y="4390580"/>
                  </a:lnTo>
                  <a:lnTo>
                    <a:pt x="687297" y="4349844"/>
                  </a:lnTo>
                  <a:lnTo>
                    <a:pt x="707849" y="4308906"/>
                  </a:lnTo>
                  <a:lnTo>
                    <a:pt x="727867" y="4267771"/>
                  </a:lnTo>
                  <a:lnTo>
                    <a:pt x="747352" y="4226444"/>
                  </a:lnTo>
                  <a:lnTo>
                    <a:pt x="766303" y="4184930"/>
                  </a:lnTo>
                  <a:lnTo>
                    <a:pt x="784720" y="4143235"/>
                  </a:lnTo>
                  <a:lnTo>
                    <a:pt x="802603" y="4101364"/>
                  </a:lnTo>
                  <a:lnTo>
                    <a:pt x="819952" y="4059322"/>
                  </a:lnTo>
                  <a:lnTo>
                    <a:pt x="836767" y="4017114"/>
                  </a:lnTo>
                  <a:lnTo>
                    <a:pt x="853049" y="3974745"/>
                  </a:lnTo>
                  <a:lnTo>
                    <a:pt x="868797" y="3932221"/>
                  </a:lnTo>
                  <a:lnTo>
                    <a:pt x="884011" y="3889546"/>
                  </a:lnTo>
                  <a:lnTo>
                    <a:pt x="898691" y="3846727"/>
                  </a:lnTo>
                  <a:lnTo>
                    <a:pt x="912837" y="3803767"/>
                  </a:lnTo>
                  <a:lnTo>
                    <a:pt x="926450" y="3760673"/>
                  </a:lnTo>
                  <a:lnTo>
                    <a:pt x="939528" y="3717449"/>
                  </a:lnTo>
                  <a:lnTo>
                    <a:pt x="952073" y="3674101"/>
                  </a:lnTo>
                  <a:lnTo>
                    <a:pt x="964084" y="3630634"/>
                  </a:lnTo>
                  <a:lnTo>
                    <a:pt x="975561" y="3587052"/>
                  </a:lnTo>
                  <a:lnTo>
                    <a:pt x="986505" y="3543362"/>
                  </a:lnTo>
                  <a:lnTo>
                    <a:pt x="996914" y="3499568"/>
                  </a:lnTo>
                  <a:lnTo>
                    <a:pt x="1006790" y="3455675"/>
                  </a:lnTo>
                  <a:lnTo>
                    <a:pt x="1016132" y="3411690"/>
                  </a:lnTo>
                  <a:lnTo>
                    <a:pt x="1024940" y="3367616"/>
                  </a:lnTo>
                  <a:lnTo>
                    <a:pt x="1033214" y="3323459"/>
                  </a:lnTo>
                  <a:lnTo>
                    <a:pt x="1040955" y="3279225"/>
                  </a:lnTo>
                  <a:lnTo>
                    <a:pt x="1048161" y="3234918"/>
                  </a:lnTo>
                  <a:lnTo>
                    <a:pt x="1054834" y="3190543"/>
                  </a:lnTo>
                  <a:lnTo>
                    <a:pt x="1060973" y="3146107"/>
                  </a:lnTo>
                  <a:lnTo>
                    <a:pt x="1066578" y="3101613"/>
                  </a:lnTo>
                  <a:lnTo>
                    <a:pt x="1071650" y="3057068"/>
                  </a:lnTo>
                  <a:lnTo>
                    <a:pt x="1076187" y="3012476"/>
                  </a:lnTo>
                  <a:lnTo>
                    <a:pt x="1080191" y="2967842"/>
                  </a:lnTo>
                  <a:lnTo>
                    <a:pt x="1083661" y="2923172"/>
                  </a:lnTo>
                  <a:lnTo>
                    <a:pt x="1086597" y="2878472"/>
                  </a:lnTo>
                  <a:lnTo>
                    <a:pt x="1088999" y="2833745"/>
                  </a:lnTo>
                  <a:lnTo>
                    <a:pt x="1090867" y="2788997"/>
                  </a:lnTo>
                  <a:lnTo>
                    <a:pt x="1092202" y="2744234"/>
                  </a:lnTo>
                  <a:lnTo>
                    <a:pt x="1093003" y="2699461"/>
                  </a:lnTo>
                  <a:lnTo>
                    <a:pt x="1093269" y="2654682"/>
                  </a:lnTo>
                  <a:lnTo>
                    <a:pt x="1093003" y="2609903"/>
                  </a:lnTo>
                  <a:lnTo>
                    <a:pt x="1092202" y="2565130"/>
                  </a:lnTo>
                  <a:lnTo>
                    <a:pt x="1090867" y="2520367"/>
                  </a:lnTo>
                  <a:lnTo>
                    <a:pt x="1088999" y="2475619"/>
                  </a:lnTo>
                  <a:lnTo>
                    <a:pt x="1086597" y="2430893"/>
                  </a:lnTo>
                  <a:lnTo>
                    <a:pt x="1083661" y="2386192"/>
                  </a:lnTo>
                  <a:lnTo>
                    <a:pt x="1080191" y="2341522"/>
                  </a:lnTo>
                  <a:lnTo>
                    <a:pt x="1076187" y="2296889"/>
                  </a:lnTo>
                  <a:lnTo>
                    <a:pt x="1071650" y="2252297"/>
                  </a:lnTo>
                  <a:lnTo>
                    <a:pt x="1066578" y="2207751"/>
                  </a:lnTo>
                  <a:lnTo>
                    <a:pt x="1060973" y="2163258"/>
                  </a:lnTo>
                  <a:lnTo>
                    <a:pt x="1054834" y="2118821"/>
                  </a:lnTo>
                  <a:lnTo>
                    <a:pt x="1048161" y="2074447"/>
                  </a:lnTo>
                  <a:lnTo>
                    <a:pt x="1040955" y="2030140"/>
                  </a:lnTo>
                  <a:lnTo>
                    <a:pt x="1033214" y="1985905"/>
                  </a:lnTo>
                  <a:lnTo>
                    <a:pt x="1024940" y="1941749"/>
                  </a:lnTo>
                  <a:lnTo>
                    <a:pt x="1016132" y="1897675"/>
                  </a:lnTo>
                  <a:lnTo>
                    <a:pt x="1006790" y="1853689"/>
                  </a:lnTo>
                  <a:lnTo>
                    <a:pt x="996914" y="1809797"/>
                  </a:lnTo>
                  <a:lnTo>
                    <a:pt x="986505" y="1766003"/>
                  </a:lnTo>
                  <a:lnTo>
                    <a:pt x="975561" y="1722313"/>
                  </a:lnTo>
                  <a:lnTo>
                    <a:pt x="964084" y="1678732"/>
                  </a:lnTo>
                  <a:lnTo>
                    <a:pt x="952073" y="1635264"/>
                  </a:lnTo>
                  <a:lnTo>
                    <a:pt x="939528" y="1591916"/>
                  </a:lnTo>
                  <a:lnTo>
                    <a:pt x="926450" y="1548693"/>
                  </a:lnTo>
                  <a:lnTo>
                    <a:pt x="912837" y="1505598"/>
                  </a:lnTo>
                  <a:lnTo>
                    <a:pt x="898691" y="1462639"/>
                  </a:lnTo>
                  <a:lnTo>
                    <a:pt x="884011" y="1419820"/>
                  </a:lnTo>
                  <a:lnTo>
                    <a:pt x="868797" y="1377145"/>
                  </a:lnTo>
                  <a:lnTo>
                    <a:pt x="853049" y="1334621"/>
                  </a:lnTo>
                  <a:lnTo>
                    <a:pt x="836767" y="1292253"/>
                  </a:lnTo>
                  <a:lnTo>
                    <a:pt x="819952" y="1250045"/>
                  </a:lnTo>
                  <a:lnTo>
                    <a:pt x="802603" y="1208003"/>
                  </a:lnTo>
                  <a:lnTo>
                    <a:pt x="784720" y="1166132"/>
                  </a:lnTo>
                  <a:lnTo>
                    <a:pt x="766303" y="1124437"/>
                  </a:lnTo>
                  <a:lnTo>
                    <a:pt x="747352" y="1082924"/>
                  </a:lnTo>
                  <a:lnTo>
                    <a:pt x="727867" y="1041597"/>
                  </a:lnTo>
                  <a:lnTo>
                    <a:pt x="707849" y="1000462"/>
                  </a:lnTo>
                  <a:lnTo>
                    <a:pt x="687297" y="959524"/>
                  </a:lnTo>
                  <a:lnTo>
                    <a:pt x="666211" y="918788"/>
                  </a:lnTo>
                  <a:lnTo>
                    <a:pt x="644591" y="878259"/>
                  </a:lnTo>
                  <a:lnTo>
                    <a:pt x="622437" y="837943"/>
                  </a:lnTo>
                  <a:lnTo>
                    <a:pt x="599750" y="797845"/>
                  </a:lnTo>
                  <a:lnTo>
                    <a:pt x="576529" y="757969"/>
                  </a:lnTo>
                  <a:lnTo>
                    <a:pt x="552773" y="718321"/>
                  </a:lnTo>
                  <a:lnTo>
                    <a:pt x="528484" y="678907"/>
                  </a:lnTo>
                  <a:lnTo>
                    <a:pt x="503662" y="639731"/>
                  </a:lnTo>
                  <a:lnTo>
                    <a:pt x="478305" y="600799"/>
                  </a:lnTo>
                  <a:lnTo>
                    <a:pt x="452415" y="562115"/>
                  </a:lnTo>
                  <a:lnTo>
                    <a:pt x="425990" y="523686"/>
                  </a:lnTo>
                  <a:lnTo>
                    <a:pt x="399032" y="485515"/>
                  </a:lnTo>
                  <a:lnTo>
                    <a:pt x="371540" y="447609"/>
                  </a:lnTo>
                  <a:lnTo>
                    <a:pt x="343515" y="409973"/>
                  </a:lnTo>
                  <a:lnTo>
                    <a:pt x="314955" y="372611"/>
                  </a:lnTo>
                  <a:lnTo>
                    <a:pt x="285862" y="335529"/>
                  </a:lnTo>
                  <a:lnTo>
                    <a:pt x="256235" y="298732"/>
                  </a:lnTo>
                  <a:lnTo>
                    <a:pt x="226074" y="262225"/>
                  </a:lnTo>
                  <a:lnTo>
                    <a:pt x="195379" y="226013"/>
                  </a:lnTo>
                  <a:lnTo>
                    <a:pt x="164150" y="190103"/>
                  </a:lnTo>
                  <a:lnTo>
                    <a:pt x="132388" y="154498"/>
                  </a:lnTo>
                  <a:lnTo>
                    <a:pt x="100091" y="119204"/>
                  </a:lnTo>
                  <a:lnTo>
                    <a:pt x="67261" y="84226"/>
                  </a:lnTo>
                  <a:lnTo>
                    <a:pt x="33897" y="49569"/>
                  </a:lnTo>
                  <a:lnTo>
                    <a:pt x="0" y="15240"/>
                  </a:lnTo>
                  <a:lnTo>
                    <a:pt x="15290" y="0"/>
                  </a:lnTo>
                  <a:close/>
                </a:path>
              </a:pathLst>
            </a:custGeom>
            <a:ln w="25146">
              <a:solidFill>
                <a:srgbClr val="C0504D"/>
              </a:solidFill>
            </a:ln>
          </p:spPr>
          <p:txBody>
            <a:bodyPr wrap="square" lIns="0" tIns="0" rIns="0" bIns="0" rtlCol="0"/>
            <a:lstStyle/>
            <a:p>
              <a:endParaRPr/>
            </a:p>
          </p:txBody>
        </p:sp>
        <p:sp>
          <p:nvSpPr>
            <p:cNvPr id="6" name="object 6"/>
            <p:cNvSpPr/>
            <p:nvPr/>
          </p:nvSpPr>
          <p:spPr>
            <a:xfrm>
              <a:off x="752475" y="1134998"/>
              <a:ext cx="8155940" cy="586740"/>
            </a:xfrm>
            <a:custGeom>
              <a:avLst/>
              <a:gdLst/>
              <a:ahLst/>
              <a:cxnLst/>
              <a:rect l="l" t="t" r="r" b="b"/>
              <a:pathLst>
                <a:path w="8155940" h="586739">
                  <a:moveTo>
                    <a:pt x="8155685" y="0"/>
                  </a:moveTo>
                  <a:lnTo>
                    <a:pt x="0" y="0"/>
                  </a:lnTo>
                  <a:lnTo>
                    <a:pt x="0" y="586739"/>
                  </a:lnTo>
                  <a:lnTo>
                    <a:pt x="8155685" y="586739"/>
                  </a:lnTo>
                  <a:lnTo>
                    <a:pt x="8155685" y="0"/>
                  </a:lnTo>
                  <a:close/>
                </a:path>
              </a:pathLst>
            </a:custGeom>
            <a:solidFill>
              <a:srgbClr val="C0504D"/>
            </a:solidFill>
          </p:spPr>
          <p:txBody>
            <a:bodyPr wrap="square" lIns="0" tIns="0" rIns="0" bIns="0" rtlCol="0"/>
            <a:lstStyle/>
            <a:p>
              <a:endParaRPr/>
            </a:p>
          </p:txBody>
        </p:sp>
        <p:sp>
          <p:nvSpPr>
            <p:cNvPr id="7" name="object 7"/>
            <p:cNvSpPr/>
            <p:nvPr/>
          </p:nvSpPr>
          <p:spPr>
            <a:xfrm>
              <a:off x="752475" y="1134998"/>
              <a:ext cx="8155940" cy="586740"/>
            </a:xfrm>
            <a:custGeom>
              <a:avLst/>
              <a:gdLst/>
              <a:ahLst/>
              <a:cxnLst/>
              <a:rect l="l" t="t" r="r" b="b"/>
              <a:pathLst>
                <a:path w="8155940" h="586739">
                  <a:moveTo>
                    <a:pt x="0" y="586739"/>
                  </a:moveTo>
                  <a:lnTo>
                    <a:pt x="8155685" y="586739"/>
                  </a:lnTo>
                  <a:lnTo>
                    <a:pt x="8155685" y="0"/>
                  </a:lnTo>
                  <a:lnTo>
                    <a:pt x="0" y="0"/>
                  </a:lnTo>
                  <a:lnTo>
                    <a:pt x="0" y="586739"/>
                  </a:lnTo>
                  <a:close/>
                </a:path>
              </a:pathLst>
            </a:custGeom>
            <a:ln w="25146">
              <a:solidFill>
                <a:srgbClr val="FFFFFF"/>
              </a:solidFill>
            </a:ln>
          </p:spPr>
          <p:txBody>
            <a:bodyPr wrap="square" lIns="0" tIns="0" rIns="0" bIns="0" rtlCol="0"/>
            <a:lstStyle/>
            <a:p>
              <a:endParaRPr/>
            </a:p>
          </p:txBody>
        </p:sp>
      </p:grpSp>
      <p:sp>
        <p:nvSpPr>
          <p:cNvPr id="8" name="object 8"/>
          <p:cNvSpPr txBox="1"/>
          <p:nvPr/>
        </p:nvSpPr>
        <p:spPr>
          <a:xfrm>
            <a:off x="1205230" y="1249680"/>
            <a:ext cx="7526655" cy="269875"/>
          </a:xfrm>
          <a:prstGeom prst="rect">
            <a:avLst/>
          </a:prstGeom>
        </p:spPr>
        <p:txBody>
          <a:bodyPr vert="horz" wrap="square" lIns="0" tIns="12700" rIns="0" bIns="0" rtlCol="0">
            <a:spAutoFit/>
          </a:bodyPr>
          <a:lstStyle/>
          <a:p>
            <a:pPr marL="12700">
              <a:lnSpc>
                <a:spcPct val="100000"/>
              </a:lnSpc>
              <a:spcBef>
                <a:spcPts val="100"/>
              </a:spcBef>
            </a:pPr>
            <a:r>
              <a:rPr sz="1600" spc="20" dirty="0">
                <a:solidFill>
                  <a:srgbClr val="FFFFFF"/>
                </a:solidFill>
                <a:latin typeface="Arial"/>
                <a:cs typeface="Arial"/>
              </a:rPr>
              <a:t>SQL</a:t>
            </a:r>
            <a:r>
              <a:rPr sz="1600" spc="-100" dirty="0">
                <a:solidFill>
                  <a:srgbClr val="FFFFFF"/>
                </a:solidFill>
                <a:latin typeface="Arial"/>
                <a:cs typeface="Arial"/>
              </a:rPr>
              <a:t> </a:t>
            </a:r>
            <a:r>
              <a:rPr sz="1600" spc="-40" dirty="0">
                <a:solidFill>
                  <a:srgbClr val="FFFFFF"/>
                </a:solidFill>
                <a:latin typeface="Arial"/>
                <a:cs typeface="Arial"/>
              </a:rPr>
              <a:t>Server</a:t>
            </a:r>
            <a:r>
              <a:rPr sz="1600" spc="-95" dirty="0">
                <a:solidFill>
                  <a:srgbClr val="FFFFFF"/>
                </a:solidFill>
                <a:latin typeface="Arial"/>
                <a:cs typeface="Arial"/>
              </a:rPr>
              <a:t> </a:t>
            </a:r>
            <a:r>
              <a:rPr sz="1600" spc="-160" dirty="0">
                <a:solidFill>
                  <a:srgbClr val="FFFFFF"/>
                </a:solidFill>
                <a:latin typeface="Arial"/>
                <a:cs typeface="Arial"/>
              </a:rPr>
              <a:t>2019</a:t>
            </a:r>
            <a:r>
              <a:rPr sz="1600" spc="-105" dirty="0">
                <a:solidFill>
                  <a:srgbClr val="FFFFFF"/>
                </a:solidFill>
                <a:latin typeface="Arial"/>
                <a:cs typeface="Arial"/>
              </a:rPr>
              <a:t> </a:t>
            </a:r>
            <a:r>
              <a:rPr sz="1600" spc="-70" dirty="0">
                <a:solidFill>
                  <a:srgbClr val="FFFFFF"/>
                </a:solidFill>
                <a:latin typeface="Arial"/>
                <a:cs typeface="Arial"/>
              </a:rPr>
              <a:t>enables</a:t>
            </a:r>
            <a:r>
              <a:rPr sz="1600" spc="-95" dirty="0">
                <a:solidFill>
                  <a:srgbClr val="FFFFFF"/>
                </a:solidFill>
                <a:latin typeface="Arial"/>
                <a:cs typeface="Arial"/>
              </a:rPr>
              <a:t> </a:t>
            </a:r>
            <a:r>
              <a:rPr sz="1600" spc="-30" dirty="0">
                <a:solidFill>
                  <a:srgbClr val="FFFFFF"/>
                </a:solidFill>
                <a:latin typeface="Arial"/>
                <a:cs typeface="Arial"/>
              </a:rPr>
              <a:t>stored</a:t>
            </a:r>
            <a:r>
              <a:rPr sz="1600" spc="-100" dirty="0">
                <a:solidFill>
                  <a:srgbClr val="FFFFFF"/>
                </a:solidFill>
                <a:latin typeface="Arial"/>
                <a:cs typeface="Arial"/>
              </a:rPr>
              <a:t> </a:t>
            </a:r>
            <a:r>
              <a:rPr sz="1600" spc="-40" dirty="0">
                <a:solidFill>
                  <a:srgbClr val="FFFFFF"/>
                </a:solidFill>
                <a:latin typeface="Arial"/>
                <a:cs typeface="Arial"/>
              </a:rPr>
              <a:t>procedures</a:t>
            </a:r>
            <a:r>
              <a:rPr sz="1600" spc="-105" dirty="0">
                <a:solidFill>
                  <a:srgbClr val="FFFFFF"/>
                </a:solidFill>
                <a:latin typeface="Arial"/>
                <a:cs typeface="Arial"/>
              </a:rPr>
              <a:t> </a:t>
            </a:r>
            <a:r>
              <a:rPr sz="1600" spc="40" dirty="0">
                <a:solidFill>
                  <a:srgbClr val="FFFFFF"/>
                </a:solidFill>
                <a:latin typeface="Arial"/>
                <a:cs typeface="Arial"/>
              </a:rPr>
              <a:t>to</a:t>
            </a:r>
            <a:r>
              <a:rPr sz="1600" spc="-100" dirty="0">
                <a:solidFill>
                  <a:srgbClr val="FFFFFF"/>
                </a:solidFill>
                <a:latin typeface="Arial"/>
                <a:cs typeface="Arial"/>
              </a:rPr>
              <a:t> </a:t>
            </a:r>
            <a:r>
              <a:rPr sz="1600" spc="-80" dirty="0">
                <a:solidFill>
                  <a:srgbClr val="FFFFFF"/>
                </a:solidFill>
                <a:latin typeface="Arial"/>
                <a:cs typeface="Arial"/>
              </a:rPr>
              <a:t>be</a:t>
            </a:r>
            <a:r>
              <a:rPr sz="1600" spc="-95" dirty="0">
                <a:solidFill>
                  <a:srgbClr val="FFFFFF"/>
                </a:solidFill>
                <a:latin typeface="Arial"/>
                <a:cs typeface="Arial"/>
              </a:rPr>
              <a:t> </a:t>
            </a:r>
            <a:r>
              <a:rPr sz="1600" spc="-30" dirty="0">
                <a:solidFill>
                  <a:srgbClr val="FFFFFF"/>
                </a:solidFill>
                <a:latin typeface="Arial"/>
                <a:cs typeface="Arial"/>
              </a:rPr>
              <a:t>called</a:t>
            </a:r>
            <a:r>
              <a:rPr sz="1600" spc="-105" dirty="0">
                <a:solidFill>
                  <a:srgbClr val="FFFFFF"/>
                </a:solidFill>
                <a:latin typeface="Arial"/>
                <a:cs typeface="Arial"/>
              </a:rPr>
              <a:t> </a:t>
            </a:r>
            <a:r>
              <a:rPr sz="1600" spc="-10" dirty="0">
                <a:solidFill>
                  <a:srgbClr val="FFFFFF"/>
                </a:solidFill>
                <a:latin typeface="Arial"/>
                <a:cs typeface="Arial"/>
              </a:rPr>
              <a:t>inside</a:t>
            </a:r>
            <a:r>
              <a:rPr sz="1600" spc="-100" dirty="0">
                <a:solidFill>
                  <a:srgbClr val="FFFFFF"/>
                </a:solidFill>
                <a:latin typeface="Arial"/>
                <a:cs typeface="Arial"/>
              </a:rPr>
              <a:t> </a:t>
            </a:r>
            <a:r>
              <a:rPr sz="1600" spc="10" dirty="0">
                <a:solidFill>
                  <a:srgbClr val="FFFFFF"/>
                </a:solidFill>
                <a:latin typeface="Arial"/>
                <a:cs typeface="Arial"/>
              </a:rPr>
              <a:t>other</a:t>
            </a:r>
            <a:r>
              <a:rPr sz="1600" spc="-105" dirty="0">
                <a:solidFill>
                  <a:srgbClr val="FFFFFF"/>
                </a:solidFill>
                <a:latin typeface="Arial"/>
                <a:cs typeface="Arial"/>
              </a:rPr>
              <a:t> </a:t>
            </a:r>
            <a:r>
              <a:rPr sz="1600" spc="-25" dirty="0">
                <a:solidFill>
                  <a:srgbClr val="FFFFFF"/>
                </a:solidFill>
                <a:latin typeface="Arial"/>
                <a:cs typeface="Arial"/>
              </a:rPr>
              <a:t>stored</a:t>
            </a:r>
            <a:r>
              <a:rPr sz="1600" spc="-95" dirty="0">
                <a:solidFill>
                  <a:srgbClr val="FFFFFF"/>
                </a:solidFill>
                <a:latin typeface="Arial"/>
                <a:cs typeface="Arial"/>
              </a:rPr>
              <a:t> </a:t>
            </a:r>
            <a:r>
              <a:rPr sz="1600" spc="-40" dirty="0">
                <a:solidFill>
                  <a:srgbClr val="FFFFFF"/>
                </a:solidFill>
                <a:latin typeface="Arial"/>
                <a:cs typeface="Arial"/>
              </a:rPr>
              <a:t>procedures.</a:t>
            </a:r>
            <a:endParaRPr sz="1600">
              <a:latin typeface="Arial"/>
              <a:cs typeface="Arial"/>
            </a:endParaRPr>
          </a:p>
        </p:txBody>
      </p:sp>
      <p:grpSp>
        <p:nvGrpSpPr>
          <p:cNvPr id="9" name="object 9"/>
          <p:cNvGrpSpPr/>
          <p:nvPr/>
        </p:nvGrpSpPr>
        <p:grpSpPr>
          <a:xfrm>
            <a:off x="372490" y="1048385"/>
            <a:ext cx="8548370" cy="2447925"/>
            <a:chOff x="372490" y="1048385"/>
            <a:chExt cx="8548370" cy="2447925"/>
          </a:xfrm>
        </p:grpSpPr>
        <p:sp>
          <p:nvSpPr>
            <p:cNvPr id="10" name="object 10"/>
            <p:cNvSpPr/>
            <p:nvPr/>
          </p:nvSpPr>
          <p:spPr>
            <a:xfrm>
              <a:off x="385190" y="1061085"/>
              <a:ext cx="734060" cy="734695"/>
            </a:xfrm>
            <a:custGeom>
              <a:avLst/>
              <a:gdLst/>
              <a:ahLst/>
              <a:cxnLst/>
              <a:rect l="l" t="t" r="r" b="b"/>
              <a:pathLst>
                <a:path w="734060" h="734694">
                  <a:moveTo>
                    <a:pt x="366903" y="0"/>
                  </a:moveTo>
                  <a:lnTo>
                    <a:pt x="320878" y="2862"/>
                  </a:lnTo>
                  <a:lnTo>
                    <a:pt x="276559" y="11218"/>
                  </a:lnTo>
                  <a:lnTo>
                    <a:pt x="234291" y="24725"/>
                  </a:lnTo>
                  <a:lnTo>
                    <a:pt x="194417" y="43038"/>
                  </a:lnTo>
                  <a:lnTo>
                    <a:pt x="157280" y="65812"/>
                  </a:lnTo>
                  <a:lnTo>
                    <a:pt x="123225" y="92703"/>
                  </a:lnTo>
                  <a:lnTo>
                    <a:pt x="92595" y="123366"/>
                  </a:lnTo>
                  <a:lnTo>
                    <a:pt x="65735" y="157458"/>
                  </a:lnTo>
                  <a:lnTo>
                    <a:pt x="42987" y="194633"/>
                  </a:lnTo>
                  <a:lnTo>
                    <a:pt x="24695" y="234548"/>
                  </a:lnTo>
                  <a:lnTo>
                    <a:pt x="11205" y="276857"/>
                  </a:lnTo>
                  <a:lnTo>
                    <a:pt x="2858" y="321217"/>
                  </a:lnTo>
                  <a:lnTo>
                    <a:pt x="0" y="367284"/>
                  </a:lnTo>
                  <a:lnTo>
                    <a:pt x="2858" y="413350"/>
                  </a:lnTo>
                  <a:lnTo>
                    <a:pt x="11205" y="457710"/>
                  </a:lnTo>
                  <a:lnTo>
                    <a:pt x="24695" y="500019"/>
                  </a:lnTo>
                  <a:lnTo>
                    <a:pt x="42987" y="539934"/>
                  </a:lnTo>
                  <a:lnTo>
                    <a:pt x="65735" y="577109"/>
                  </a:lnTo>
                  <a:lnTo>
                    <a:pt x="92595" y="611201"/>
                  </a:lnTo>
                  <a:lnTo>
                    <a:pt x="123225" y="641864"/>
                  </a:lnTo>
                  <a:lnTo>
                    <a:pt x="157280" y="668755"/>
                  </a:lnTo>
                  <a:lnTo>
                    <a:pt x="194417" y="691529"/>
                  </a:lnTo>
                  <a:lnTo>
                    <a:pt x="234291" y="709842"/>
                  </a:lnTo>
                  <a:lnTo>
                    <a:pt x="276559" y="723349"/>
                  </a:lnTo>
                  <a:lnTo>
                    <a:pt x="320878" y="731705"/>
                  </a:lnTo>
                  <a:lnTo>
                    <a:pt x="366903" y="734568"/>
                  </a:lnTo>
                  <a:lnTo>
                    <a:pt x="412927" y="731705"/>
                  </a:lnTo>
                  <a:lnTo>
                    <a:pt x="457246" y="723349"/>
                  </a:lnTo>
                  <a:lnTo>
                    <a:pt x="499514" y="709842"/>
                  </a:lnTo>
                  <a:lnTo>
                    <a:pt x="539388" y="691529"/>
                  </a:lnTo>
                  <a:lnTo>
                    <a:pt x="576525" y="668755"/>
                  </a:lnTo>
                  <a:lnTo>
                    <a:pt x="610580" y="641864"/>
                  </a:lnTo>
                  <a:lnTo>
                    <a:pt x="641210" y="611201"/>
                  </a:lnTo>
                  <a:lnTo>
                    <a:pt x="668070" y="577109"/>
                  </a:lnTo>
                  <a:lnTo>
                    <a:pt x="690818" y="539934"/>
                  </a:lnTo>
                  <a:lnTo>
                    <a:pt x="709110" y="500019"/>
                  </a:lnTo>
                  <a:lnTo>
                    <a:pt x="722600" y="457710"/>
                  </a:lnTo>
                  <a:lnTo>
                    <a:pt x="730947" y="413350"/>
                  </a:lnTo>
                  <a:lnTo>
                    <a:pt x="733806" y="367284"/>
                  </a:lnTo>
                  <a:lnTo>
                    <a:pt x="730947" y="321217"/>
                  </a:lnTo>
                  <a:lnTo>
                    <a:pt x="722600" y="276857"/>
                  </a:lnTo>
                  <a:lnTo>
                    <a:pt x="709110" y="234548"/>
                  </a:lnTo>
                  <a:lnTo>
                    <a:pt x="690818" y="194633"/>
                  </a:lnTo>
                  <a:lnTo>
                    <a:pt x="668070" y="157458"/>
                  </a:lnTo>
                  <a:lnTo>
                    <a:pt x="641210" y="123366"/>
                  </a:lnTo>
                  <a:lnTo>
                    <a:pt x="610580" y="92703"/>
                  </a:lnTo>
                  <a:lnTo>
                    <a:pt x="576525" y="65812"/>
                  </a:lnTo>
                  <a:lnTo>
                    <a:pt x="539388" y="43038"/>
                  </a:lnTo>
                  <a:lnTo>
                    <a:pt x="499514" y="24725"/>
                  </a:lnTo>
                  <a:lnTo>
                    <a:pt x="457246" y="11218"/>
                  </a:lnTo>
                  <a:lnTo>
                    <a:pt x="412927" y="2862"/>
                  </a:lnTo>
                  <a:lnTo>
                    <a:pt x="366903" y="0"/>
                  </a:lnTo>
                  <a:close/>
                </a:path>
              </a:pathLst>
            </a:custGeom>
            <a:solidFill>
              <a:srgbClr val="FFFFFF"/>
            </a:solidFill>
          </p:spPr>
          <p:txBody>
            <a:bodyPr wrap="square" lIns="0" tIns="0" rIns="0" bIns="0" rtlCol="0"/>
            <a:lstStyle/>
            <a:p>
              <a:endParaRPr/>
            </a:p>
          </p:txBody>
        </p:sp>
        <p:sp>
          <p:nvSpPr>
            <p:cNvPr id="11" name="object 11"/>
            <p:cNvSpPr/>
            <p:nvPr/>
          </p:nvSpPr>
          <p:spPr>
            <a:xfrm>
              <a:off x="385190" y="1061085"/>
              <a:ext cx="734060" cy="734695"/>
            </a:xfrm>
            <a:custGeom>
              <a:avLst/>
              <a:gdLst/>
              <a:ahLst/>
              <a:cxnLst/>
              <a:rect l="l" t="t" r="r" b="b"/>
              <a:pathLst>
                <a:path w="734060" h="734694">
                  <a:moveTo>
                    <a:pt x="0" y="367284"/>
                  </a:moveTo>
                  <a:lnTo>
                    <a:pt x="2858" y="321217"/>
                  </a:lnTo>
                  <a:lnTo>
                    <a:pt x="11205" y="276857"/>
                  </a:lnTo>
                  <a:lnTo>
                    <a:pt x="24695" y="234548"/>
                  </a:lnTo>
                  <a:lnTo>
                    <a:pt x="42987" y="194633"/>
                  </a:lnTo>
                  <a:lnTo>
                    <a:pt x="65735" y="157458"/>
                  </a:lnTo>
                  <a:lnTo>
                    <a:pt x="92595" y="123366"/>
                  </a:lnTo>
                  <a:lnTo>
                    <a:pt x="123225" y="92703"/>
                  </a:lnTo>
                  <a:lnTo>
                    <a:pt x="157280" y="65812"/>
                  </a:lnTo>
                  <a:lnTo>
                    <a:pt x="194417" y="43038"/>
                  </a:lnTo>
                  <a:lnTo>
                    <a:pt x="234291" y="24725"/>
                  </a:lnTo>
                  <a:lnTo>
                    <a:pt x="276559" y="11218"/>
                  </a:lnTo>
                  <a:lnTo>
                    <a:pt x="320878" y="2862"/>
                  </a:lnTo>
                  <a:lnTo>
                    <a:pt x="366903" y="0"/>
                  </a:lnTo>
                  <a:lnTo>
                    <a:pt x="412927" y="2862"/>
                  </a:lnTo>
                  <a:lnTo>
                    <a:pt x="457246" y="11218"/>
                  </a:lnTo>
                  <a:lnTo>
                    <a:pt x="499514" y="24725"/>
                  </a:lnTo>
                  <a:lnTo>
                    <a:pt x="539388" y="43038"/>
                  </a:lnTo>
                  <a:lnTo>
                    <a:pt x="576525" y="65812"/>
                  </a:lnTo>
                  <a:lnTo>
                    <a:pt x="610580" y="92703"/>
                  </a:lnTo>
                  <a:lnTo>
                    <a:pt x="641210" y="123366"/>
                  </a:lnTo>
                  <a:lnTo>
                    <a:pt x="668070" y="157458"/>
                  </a:lnTo>
                  <a:lnTo>
                    <a:pt x="690818" y="194633"/>
                  </a:lnTo>
                  <a:lnTo>
                    <a:pt x="709110" y="234548"/>
                  </a:lnTo>
                  <a:lnTo>
                    <a:pt x="722600" y="276857"/>
                  </a:lnTo>
                  <a:lnTo>
                    <a:pt x="730947" y="321217"/>
                  </a:lnTo>
                  <a:lnTo>
                    <a:pt x="733806" y="367284"/>
                  </a:lnTo>
                  <a:lnTo>
                    <a:pt x="730947" y="413350"/>
                  </a:lnTo>
                  <a:lnTo>
                    <a:pt x="722600" y="457710"/>
                  </a:lnTo>
                  <a:lnTo>
                    <a:pt x="709110" y="500019"/>
                  </a:lnTo>
                  <a:lnTo>
                    <a:pt x="690818" y="539934"/>
                  </a:lnTo>
                  <a:lnTo>
                    <a:pt x="668070" y="577109"/>
                  </a:lnTo>
                  <a:lnTo>
                    <a:pt x="641210" y="611201"/>
                  </a:lnTo>
                  <a:lnTo>
                    <a:pt x="610580" y="641864"/>
                  </a:lnTo>
                  <a:lnTo>
                    <a:pt x="576525" y="668755"/>
                  </a:lnTo>
                  <a:lnTo>
                    <a:pt x="539388" y="691529"/>
                  </a:lnTo>
                  <a:lnTo>
                    <a:pt x="499514" y="709842"/>
                  </a:lnTo>
                  <a:lnTo>
                    <a:pt x="457246" y="723349"/>
                  </a:lnTo>
                  <a:lnTo>
                    <a:pt x="412927" y="731705"/>
                  </a:lnTo>
                  <a:lnTo>
                    <a:pt x="366903" y="734568"/>
                  </a:lnTo>
                  <a:lnTo>
                    <a:pt x="320878" y="731705"/>
                  </a:lnTo>
                  <a:lnTo>
                    <a:pt x="276559" y="723349"/>
                  </a:lnTo>
                  <a:lnTo>
                    <a:pt x="234291" y="709842"/>
                  </a:lnTo>
                  <a:lnTo>
                    <a:pt x="194417" y="691529"/>
                  </a:lnTo>
                  <a:lnTo>
                    <a:pt x="157280" y="668755"/>
                  </a:lnTo>
                  <a:lnTo>
                    <a:pt x="123225" y="641864"/>
                  </a:lnTo>
                  <a:lnTo>
                    <a:pt x="92595" y="611201"/>
                  </a:lnTo>
                  <a:lnTo>
                    <a:pt x="65735" y="577109"/>
                  </a:lnTo>
                  <a:lnTo>
                    <a:pt x="42987" y="539934"/>
                  </a:lnTo>
                  <a:lnTo>
                    <a:pt x="24695" y="500019"/>
                  </a:lnTo>
                  <a:lnTo>
                    <a:pt x="11205" y="457710"/>
                  </a:lnTo>
                  <a:lnTo>
                    <a:pt x="2858" y="413350"/>
                  </a:lnTo>
                  <a:lnTo>
                    <a:pt x="0" y="367284"/>
                  </a:lnTo>
                  <a:close/>
                </a:path>
              </a:pathLst>
            </a:custGeom>
            <a:ln w="25146">
              <a:solidFill>
                <a:srgbClr val="C0504D"/>
              </a:solidFill>
            </a:ln>
          </p:spPr>
          <p:txBody>
            <a:bodyPr wrap="square" lIns="0" tIns="0" rIns="0" bIns="0" rtlCol="0"/>
            <a:lstStyle/>
            <a:p>
              <a:endParaRPr/>
            </a:p>
          </p:txBody>
        </p:sp>
        <p:sp>
          <p:nvSpPr>
            <p:cNvPr id="12" name="object 12"/>
            <p:cNvSpPr/>
            <p:nvPr/>
          </p:nvSpPr>
          <p:spPr>
            <a:xfrm>
              <a:off x="1235582" y="2015871"/>
              <a:ext cx="7672705" cy="586740"/>
            </a:xfrm>
            <a:custGeom>
              <a:avLst/>
              <a:gdLst/>
              <a:ahLst/>
              <a:cxnLst/>
              <a:rect l="l" t="t" r="r" b="b"/>
              <a:pathLst>
                <a:path w="7672705" h="586739">
                  <a:moveTo>
                    <a:pt x="7672578" y="0"/>
                  </a:moveTo>
                  <a:lnTo>
                    <a:pt x="0" y="0"/>
                  </a:lnTo>
                  <a:lnTo>
                    <a:pt x="0" y="586739"/>
                  </a:lnTo>
                  <a:lnTo>
                    <a:pt x="7672578" y="586739"/>
                  </a:lnTo>
                  <a:lnTo>
                    <a:pt x="7672578" y="0"/>
                  </a:lnTo>
                  <a:close/>
                </a:path>
              </a:pathLst>
            </a:custGeom>
            <a:solidFill>
              <a:srgbClr val="9BBA58"/>
            </a:solidFill>
          </p:spPr>
          <p:txBody>
            <a:bodyPr wrap="square" lIns="0" tIns="0" rIns="0" bIns="0" rtlCol="0"/>
            <a:lstStyle/>
            <a:p>
              <a:endParaRPr/>
            </a:p>
          </p:txBody>
        </p:sp>
        <p:sp>
          <p:nvSpPr>
            <p:cNvPr id="13" name="object 13"/>
            <p:cNvSpPr/>
            <p:nvPr/>
          </p:nvSpPr>
          <p:spPr>
            <a:xfrm>
              <a:off x="1235582" y="2015871"/>
              <a:ext cx="7672705" cy="586740"/>
            </a:xfrm>
            <a:custGeom>
              <a:avLst/>
              <a:gdLst/>
              <a:ahLst/>
              <a:cxnLst/>
              <a:rect l="l" t="t" r="r" b="b"/>
              <a:pathLst>
                <a:path w="7672705" h="586739">
                  <a:moveTo>
                    <a:pt x="0" y="586739"/>
                  </a:moveTo>
                  <a:lnTo>
                    <a:pt x="7672578" y="586739"/>
                  </a:lnTo>
                  <a:lnTo>
                    <a:pt x="7672578" y="0"/>
                  </a:lnTo>
                  <a:lnTo>
                    <a:pt x="0" y="0"/>
                  </a:lnTo>
                  <a:lnTo>
                    <a:pt x="0" y="586739"/>
                  </a:lnTo>
                  <a:close/>
                </a:path>
              </a:pathLst>
            </a:custGeom>
            <a:ln w="25146">
              <a:solidFill>
                <a:srgbClr val="FFFFFF"/>
              </a:solidFill>
            </a:ln>
          </p:spPr>
          <p:txBody>
            <a:bodyPr wrap="square" lIns="0" tIns="0" rIns="0" bIns="0" rtlCol="0"/>
            <a:lstStyle/>
            <a:p>
              <a:endParaRPr/>
            </a:p>
          </p:txBody>
        </p:sp>
        <p:sp>
          <p:nvSpPr>
            <p:cNvPr id="14" name="object 14"/>
            <p:cNvSpPr/>
            <p:nvPr/>
          </p:nvSpPr>
          <p:spPr>
            <a:xfrm>
              <a:off x="868299" y="1941957"/>
              <a:ext cx="734060" cy="734695"/>
            </a:xfrm>
            <a:custGeom>
              <a:avLst/>
              <a:gdLst/>
              <a:ahLst/>
              <a:cxnLst/>
              <a:rect l="l" t="t" r="r" b="b"/>
              <a:pathLst>
                <a:path w="734060" h="734694">
                  <a:moveTo>
                    <a:pt x="366903" y="0"/>
                  </a:moveTo>
                  <a:lnTo>
                    <a:pt x="320878" y="2862"/>
                  </a:lnTo>
                  <a:lnTo>
                    <a:pt x="276559" y="11218"/>
                  </a:lnTo>
                  <a:lnTo>
                    <a:pt x="234291" y="24725"/>
                  </a:lnTo>
                  <a:lnTo>
                    <a:pt x="194417" y="43038"/>
                  </a:lnTo>
                  <a:lnTo>
                    <a:pt x="157280" y="65812"/>
                  </a:lnTo>
                  <a:lnTo>
                    <a:pt x="123225" y="92703"/>
                  </a:lnTo>
                  <a:lnTo>
                    <a:pt x="92595" y="123366"/>
                  </a:lnTo>
                  <a:lnTo>
                    <a:pt x="65735" y="157458"/>
                  </a:lnTo>
                  <a:lnTo>
                    <a:pt x="42987" y="194633"/>
                  </a:lnTo>
                  <a:lnTo>
                    <a:pt x="24695" y="234548"/>
                  </a:lnTo>
                  <a:lnTo>
                    <a:pt x="11205" y="276857"/>
                  </a:lnTo>
                  <a:lnTo>
                    <a:pt x="2858" y="321217"/>
                  </a:lnTo>
                  <a:lnTo>
                    <a:pt x="0" y="367284"/>
                  </a:lnTo>
                  <a:lnTo>
                    <a:pt x="2858" y="413350"/>
                  </a:lnTo>
                  <a:lnTo>
                    <a:pt x="11205" y="457710"/>
                  </a:lnTo>
                  <a:lnTo>
                    <a:pt x="24695" y="500019"/>
                  </a:lnTo>
                  <a:lnTo>
                    <a:pt x="42987" y="539934"/>
                  </a:lnTo>
                  <a:lnTo>
                    <a:pt x="65735" y="577109"/>
                  </a:lnTo>
                  <a:lnTo>
                    <a:pt x="92595" y="611201"/>
                  </a:lnTo>
                  <a:lnTo>
                    <a:pt x="123225" y="641864"/>
                  </a:lnTo>
                  <a:lnTo>
                    <a:pt x="157280" y="668755"/>
                  </a:lnTo>
                  <a:lnTo>
                    <a:pt x="194417" y="691529"/>
                  </a:lnTo>
                  <a:lnTo>
                    <a:pt x="234291" y="709842"/>
                  </a:lnTo>
                  <a:lnTo>
                    <a:pt x="276559" y="723349"/>
                  </a:lnTo>
                  <a:lnTo>
                    <a:pt x="320878" y="731705"/>
                  </a:lnTo>
                  <a:lnTo>
                    <a:pt x="366903" y="734568"/>
                  </a:lnTo>
                  <a:lnTo>
                    <a:pt x="412937" y="731705"/>
                  </a:lnTo>
                  <a:lnTo>
                    <a:pt x="457262" y="723349"/>
                  </a:lnTo>
                  <a:lnTo>
                    <a:pt x="499535" y="709842"/>
                  </a:lnTo>
                  <a:lnTo>
                    <a:pt x="539411" y="691529"/>
                  </a:lnTo>
                  <a:lnTo>
                    <a:pt x="576547" y="668755"/>
                  </a:lnTo>
                  <a:lnTo>
                    <a:pt x="610600" y="641864"/>
                  </a:lnTo>
                  <a:lnTo>
                    <a:pt x="641227" y="611201"/>
                  </a:lnTo>
                  <a:lnTo>
                    <a:pt x="668084" y="577109"/>
                  </a:lnTo>
                  <a:lnTo>
                    <a:pt x="690828" y="539934"/>
                  </a:lnTo>
                  <a:lnTo>
                    <a:pt x="709116" y="500019"/>
                  </a:lnTo>
                  <a:lnTo>
                    <a:pt x="722603" y="457710"/>
                  </a:lnTo>
                  <a:lnTo>
                    <a:pt x="730948" y="413350"/>
                  </a:lnTo>
                  <a:lnTo>
                    <a:pt x="733806" y="367284"/>
                  </a:lnTo>
                  <a:lnTo>
                    <a:pt x="730948" y="321217"/>
                  </a:lnTo>
                  <a:lnTo>
                    <a:pt x="722603" y="276857"/>
                  </a:lnTo>
                  <a:lnTo>
                    <a:pt x="709116" y="234548"/>
                  </a:lnTo>
                  <a:lnTo>
                    <a:pt x="690828" y="194633"/>
                  </a:lnTo>
                  <a:lnTo>
                    <a:pt x="668084" y="157458"/>
                  </a:lnTo>
                  <a:lnTo>
                    <a:pt x="641227" y="123366"/>
                  </a:lnTo>
                  <a:lnTo>
                    <a:pt x="610600" y="92703"/>
                  </a:lnTo>
                  <a:lnTo>
                    <a:pt x="576547" y="65812"/>
                  </a:lnTo>
                  <a:lnTo>
                    <a:pt x="539411" y="43038"/>
                  </a:lnTo>
                  <a:lnTo>
                    <a:pt x="499535" y="24725"/>
                  </a:lnTo>
                  <a:lnTo>
                    <a:pt x="457262" y="11218"/>
                  </a:lnTo>
                  <a:lnTo>
                    <a:pt x="412937" y="2862"/>
                  </a:lnTo>
                  <a:lnTo>
                    <a:pt x="366903" y="0"/>
                  </a:lnTo>
                  <a:close/>
                </a:path>
              </a:pathLst>
            </a:custGeom>
            <a:solidFill>
              <a:srgbClr val="FFFFFF"/>
            </a:solidFill>
          </p:spPr>
          <p:txBody>
            <a:bodyPr wrap="square" lIns="0" tIns="0" rIns="0" bIns="0" rtlCol="0"/>
            <a:lstStyle/>
            <a:p>
              <a:endParaRPr/>
            </a:p>
          </p:txBody>
        </p:sp>
        <p:sp>
          <p:nvSpPr>
            <p:cNvPr id="15" name="object 15"/>
            <p:cNvSpPr/>
            <p:nvPr/>
          </p:nvSpPr>
          <p:spPr>
            <a:xfrm>
              <a:off x="868299" y="1941957"/>
              <a:ext cx="734060" cy="734695"/>
            </a:xfrm>
            <a:custGeom>
              <a:avLst/>
              <a:gdLst/>
              <a:ahLst/>
              <a:cxnLst/>
              <a:rect l="l" t="t" r="r" b="b"/>
              <a:pathLst>
                <a:path w="734060" h="734694">
                  <a:moveTo>
                    <a:pt x="0" y="367284"/>
                  </a:moveTo>
                  <a:lnTo>
                    <a:pt x="2858" y="321217"/>
                  </a:lnTo>
                  <a:lnTo>
                    <a:pt x="11205" y="276857"/>
                  </a:lnTo>
                  <a:lnTo>
                    <a:pt x="24695" y="234548"/>
                  </a:lnTo>
                  <a:lnTo>
                    <a:pt x="42987" y="194633"/>
                  </a:lnTo>
                  <a:lnTo>
                    <a:pt x="65735" y="157458"/>
                  </a:lnTo>
                  <a:lnTo>
                    <a:pt x="92595" y="123366"/>
                  </a:lnTo>
                  <a:lnTo>
                    <a:pt x="123225" y="92703"/>
                  </a:lnTo>
                  <a:lnTo>
                    <a:pt x="157280" y="65812"/>
                  </a:lnTo>
                  <a:lnTo>
                    <a:pt x="194417" y="43038"/>
                  </a:lnTo>
                  <a:lnTo>
                    <a:pt x="234291" y="24725"/>
                  </a:lnTo>
                  <a:lnTo>
                    <a:pt x="276559" y="11218"/>
                  </a:lnTo>
                  <a:lnTo>
                    <a:pt x="320878" y="2862"/>
                  </a:lnTo>
                  <a:lnTo>
                    <a:pt x="366903" y="0"/>
                  </a:lnTo>
                  <a:lnTo>
                    <a:pt x="412937" y="2862"/>
                  </a:lnTo>
                  <a:lnTo>
                    <a:pt x="457262" y="11218"/>
                  </a:lnTo>
                  <a:lnTo>
                    <a:pt x="499535" y="24725"/>
                  </a:lnTo>
                  <a:lnTo>
                    <a:pt x="539411" y="43038"/>
                  </a:lnTo>
                  <a:lnTo>
                    <a:pt x="576547" y="65812"/>
                  </a:lnTo>
                  <a:lnTo>
                    <a:pt x="610600" y="92703"/>
                  </a:lnTo>
                  <a:lnTo>
                    <a:pt x="641227" y="123366"/>
                  </a:lnTo>
                  <a:lnTo>
                    <a:pt x="668084" y="157458"/>
                  </a:lnTo>
                  <a:lnTo>
                    <a:pt x="690828" y="194633"/>
                  </a:lnTo>
                  <a:lnTo>
                    <a:pt x="709116" y="234548"/>
                  </a:lnTo>
                  <a:lnTo>
                    <a:pt x="722603" y="276857"/>
                  </a:lnTo>
                  <a:lnTo>
                    <a:pt x="730948" y="321217"/>
                  </a:lnTo>
                  <a:lnTo>
                    <a:pt x="733806" y="367284"/>
                  </a:lnTo>
                  <a:lnTo>
                    <a:pt x="730948" y="413350"/>
                  </a:lnTo>
                  <a:lnTo>
                    <a:pt x="722603" y="457710"/>
                  </a:lnTo>
                  <a:lnTo>
                    <a:pt x="709116" y="500019"/>
                  </a:lnTo>
                  <a:lnTo>
                    <a:pt x="690828" y="539934"/>
                  </a:lnTo>
                  <a:lnTo>
                    <a:pt x="668084" y="577109"/>
                  </a:lnTo>
                  <a:lnTo>
                    <a:pt x="641227" y="611201"/>
                  </a:lnTo>
                  <a:lnTo>
                    <a:pt x="610600" y="641864"/>
                  </a:lnTo>
                  <a:lnTo>
                    <a:pt x="576547" y="668755"/>
                  </a:lnTo>
                  <a:lnTo>
                    <a:pt x="539411" y="691529"/>
                  </a:lnTo>
                  <a:lnTo>
                    <a:pt x="499535" y="709842"/>
                  </a:lnTo>
                  <a:lnTo>
                    <a:pt x="457262" y="723349"/>
                  </a:lnTo>
                  <a:lnTo>
                    <a:pt x="412937" y="731705"/>
                  </a:lnTo>
                  <a:lnTo>
                    <a:pt x="366903" y="734568"/>
                  </a:lnTo>
                  <a:lnTo>
                    <a:pt x="320878" y="731705"/>
                  </a:lnTo>
                  <a:lnTo>
                    <a:pt x="276559" y="723349"/>
                  </a:lnTo>
                  <a:lnTo>
                    <a:pt x="234291" y="709842"/>
                  </a:lnTo>
                  <a:lnTo>
                    <a:pt x="194417" y="691529"/>
                  </a:lnTo>
                  <a:lnTo>
                    <a:pt x="157280" y="668755"/>
                  </a:lnTo>
                  <a:lnTo>
                    <a:pt x="123225" y="641864"/>
                  </a:lnTo>
                  <a:lnTo>
                    <a:pt x="92595" y="611201"/>
                  </a:lnTo>
                  <a:lnTo>
                    <a:pt x="65735" y="577109"/>
                  </a:lnTo>
                  <a:lnTo>
                    <a:pt x="42987" y="539934"/>
                  </a:lnTo>
                  <a:lnTo>
                    <a:pt x="24695" y="500019"/>
                  </a:lnTo>
                  <a:lnTo>
                    <a:pt x="11205" y="457710"/>
                  </a:lnTo>
                  <a:lnTo>
                    <a:pt x="2858" y="413350"/>
                  </a:lnTo>
                  <a:lnTo>
                    <a:pt x="0" y="367284"/>
                  </a:lnTo>
                  <a:close/>
                </a:path>
              </a:pathLst>
            </a:custGeom>
            <a:ln w="25146">
              <a:solidFill>
                <a:srgbClr val="9BBA58"/>
              </a:solidFill>
            </a:ln>
          </p:spPr>
          <p:txBody>
            <a:bodyPr wrap="square" lIns="0" tIns="0" rIns="0" bIns="0" rtlCol="0"/>
            <a:lstStyle/>
            <a:p>
              <a:endParaRPr/>
            </a:p>
          </p:txBody>
        </p:sp>
        <p:sp>
          <p:nvSpPr>
            <p:cNvPr id="16" name="object 16"/>
            <p:cNvSpPr/>
            <p:nvPr/>
          </p:nvSpPr>
          <p:spPr>
            <a:xfrm>
              <a:off x="1456563" y="2896742"/>
              <a:ext cx="7451725" cy="586740"/>
            </a:xfrm>
            <a:custGeom>
              <a:avLst/>
              <a:gdLst/>
              <a:ahLst/>
              <a:cxnLst/>
              <a:rect l="l" t="t" r="r" b="b"/>
              <a:pathLst>
                <a:path w="7451725" h="586739">
                  <a:moveTo>
                    <a:pt x="7451598" y="0"/>
                  </a:moveTo>
                  <a:lnTo>
                    <a:pt x="0" y="0"/>
                  </a:lnTo>
                  <a:lnTo>
                    <a:pt x="0" y="586739"/>
                  </a:lnTo>
                  <a:lnTo>
                    <a:pt x="7451598" y="586739"/>
                  </a:lnTo>
                  <a:lnTo>
                    <a:pt x="7451598" y="0"/>
                  </a:lnTo>
                  <a:close/>
                </a:path>
              </a:pathLst>
            </a:custGeom>
            <a:solidFill>
              <a:srgbClr val="8063A1"/>
            </a:solidFill>
          </p:spPr>
          <p:txBody>
            <a:bodyPr wrap="square" lIns="0" tIns="0" rIns="0" bIns="0" rtlCol="0"/>
            <a:lstStyle/>
            <a:p>
              <a:endParaRPr/>
            </a:p>
          </p:txBody>
        </p:sp>
        <p:sp>
          <p:nvSpPr>
            <p:cNvPr id="17" name="object 17"/>
            <p:cNvSpPr/>
            <p:nvPr/>
          </p:nvSpPr>
          <p:spPr>
            <a:xfrm>
              <a:off x="1456563" y="2896742"/>
              <a:ext cx="7451725" cy="586740"/>
            </a:xfrm>
            <a:custGeom>
              <a:avLst/>
              <a:gdLst/>
              <a:ahLst/>
              <a:cxnLst/>
              <a:rect l="l" t="t" r="r" b="b"/>
              <a:pathLst>
                <a:path w="7451725" h="586739">
                  <a:moveTo>
                    <a:pt x="0" y="586739"/>
                  </a:moveTo>
                  <a:lnTo>
                    <a:pt x="7451598" y="586739"/>
                  </a:lnTo>
                  <a:lnTo>
                    <a:pt x="7451598" y="0"/>
                  </a:lnTo>
                  <a:lnTo>
                    <a:pt x="0" y="0"/>
                  </a:lnTo>
                  <a:lnTo>
                    <a:pt x="0" y="586739"/>
                  </a:lnTo>
                  <a:close/>
                </a:path>
              </a:pathLst>
            </a:custGeom>
            <a:ln w="25145">
              <a:solidFill>
                <a:srgbClr val="FFFFFF"/>
              </a:solidFill>
            </a:ln>
          </p:spPr>
          <p:txBody>
            <a:bodyPr wrap="square" lIns="0" tIns="0" rIns="0" bIns="0" rtlCol="0"/>
            <a:lstStyle/>
            <a:p>
              <a:endParaRPr/>
            </a:p>
          </p:txBody>
        </p:sp>
      </p:grpSp>
      <p:sp>
        <p:nvSpPr>
          <p:cNvPr id="18" name="object 18"/>
          <p:cNvSpPr txBox="1"/>
          <p:nvPr/>
        </p:nvSpPr>
        <p:spPr>
          <a:xfrm>
            <a:off x="1688592" y="2130805"/>
            <a:ext cx="7164705" cy="1282065"/>
          </a:xfrm>
          <a:prstGeom prst="rect">
            <a:avLst/>
          </a:prstGeom>
        </p:spPr>
        <p:txBody>
          <a:bodyPr vert="horz" wrap="square" lIns="0" tIns="12700" rIns="0" bIns="0" rtlCol="0">
            <a:spAutoFit/>
          </a:bodyPr>
          <a:lstStyle/>
          <a:p>
            <a:pPr marL="12700">
              <a:lnSpc>
                <a:spcPct val="100000"/>
              </a:lnSpc>
              <a:spcBef>
                <a:spcPts val="100"/>
              </a:spcBef>
            </a:pPr>
            <a:r>
              <a:rPr sz="1600" spc="15" dirty="0">
                <a:solidFill>
                  <a:srgbClr val="FFFFFF"/>
                </a:solidFill>
                <a:latin typeface="Arial"/>
                <a:cs typeface="Arial"/>
              </a:rPr>
              <a:t>The</a:t>
            </a:r>
            <a:r>
              <a:rPr sz="1600" spc="-105" dirty="0">
                <a:solidFill>
                  <a:srgbClr val="FFFFFF"/>
                </a:solidFill>
                <a:latin typeface="Arial"/>
                <a:cs typeface="Arial"/>
              </a:rPr>
              <a:t> </a:t>
            </a:r>
            <a:r>
              <a:rPr sz="1600" spc="-30" dirty="0">
                <a:solidFill>
                  <a:srgbClr val="FFFFFF"/>
                </a:solidFill>
                <a:latin typeface="Arial"/>
                <a:cs typeface="Arial"/>
              </a:rPr>
              <a:t>called</a:t>
            </a:r>
            <a:r>
              <a:rPr sz="1600" spc="-114" dirty="0">
                <a:solidFill>
                  <a:srgbClr val="FFFFFF"/>
                </a:solidFill>
                <a:latin typeface="Arial"/>
                <a:cs typeface="Arial"/>
              </a:rPr>
              <a:t> </a:t>
            </a:r>
            <a:r>
              <a:rPr sz="1600" spc="-40" dirty="0">
                <a:solidFill>
                  <a:srgbClr val="FFFFFF"/>
                </a:solidFill>
                <a:latin typeface="Arial"/>
                <a:cs typeface="Arial"/>
              </a:rPr>
              <a:t>procedures</a:t>
            </a:r>
            <a:r>
              <a:rPr sz="1600" spc="-114" dirty="0">
                <a:solidFill>
                  <a:srgbClr val="FFFFFF"/>
                </a:solidFill>
                <a:latin typeface="Arial"/>
                <a:cs typeface="Arial"/>
              </a:rPr>
              <a:t> </a:t>
            </a:r>
            <a:r>
              <a:rPr sz="1600" spc="-60" dirty="0">
                <a:solidFill>
                  <a:srgbClr val="FFFFFF"/>
                </a:solidFill>
                <a:latin typeface="Arial"/>
                <a:cs typeface="Arial"/>
              </a:rPr>
              <a:t>can</a:t>
            </a:r>
            <a:r>
              <a:rPr sz="1600" spc="-105" dirty="0">
                <a:solidFill>
                  <a:srgbClr val="FFFFFF"/>
                </a:solidFill>
                <a:latin typeface="Arial"/>
                <a:cs typeface="Arial"/>
              </a:rPr>
              <a:t> </a:t>
            </a:r>
            <a:r>
              <a:rPr sz="1600" spc="75" dirty="0">
                <a:solidFill>
                  <a:srgbClr val="FFFFFF"/>
                </a:solidFill>
                <a:latin typeface="Arial"/>
                <a:cs typeface="Arial"/>
              </a:rPr>
              <a:t>in</a:t>
            </a:r>
            <a:r>
              <a:rPr sz="1600" spc="-110" dirty="0">
                <a:solidFill>
                  <a:srgbClr val="FFFFFF"/>
                </a:solidFill>
                <a:latin typeface="Arial"/>
                <a:cs typeface="Arial"/>
              </a:rPr>
              <a:t> </a:t>
            </a:r>
            <a:r>
              <a:rPr sz="1600" spc="65" dirty="0">
                <a:solidFill>
                  <a:srgbClr val="FFFFFF"/>
                </a:solidFill>
                <a:latin typeface="Arial"/>
                <a:cs typeface="Arial"/>
              </a:rPr>
              <a:t>turn</a:t>
            </a:r>
            <a:r>
              <a:rPr sz="1600" spc="-110" dirty="0">
                <a:solidFill>
                  <a:srgbClr val="FFFFFF"/>
                </a:solidFill>
                <a:latin typeface="Arial"/>
                <a:cs typeface="Arial"/>
              </a:rPr>
              <a:t> </a:t>
            </a:r>
            <a:r>
              <a:rPr sz="1600" spc="-15" dirty="0">
                <a:solidFill>
                  <a:srgbClr val="FFFFFF"/>
                </a:solidFill>
                <a:latin typeface="Arial"/>
                <a:cs typeface="Arial"/>
              </a:rPr>
              <a:t>call</a:t>
            </a:r>
            <a:r>
              <a:rPr sz="1600" spc="-110" dirty="0">
                <a:solidFill>
                  <a:srgbClr val="FFFFFF"/>
                </a:solidFill>
                <a:latin typeface="Arial"/>
                <a:cs typeface="Arial"/>
              </a:rPr>
              <a:t> </a:t>
            </a:r>
            <a:r>
              <a:rPr sz="1600" spc="10" dirty="0">
                <a:solidFill>
                  <a:srgbClr val="FFFFFF"/>
                </a:solidFill>
                <a:latin typeface="Arial"/>
                <a:cs typeface="Arial"/>
              </a:rPr>
              <a:t>other</a:t>
            </a:r>
            <a:r>
              <a:rPr sz="1600" spc="-105" dirty="0">
                <a:solidFill>
                  <a:srgbClr val="FFFFFF"/>
                </a:solidFill>
                <a:latin typeface="Arial"/>
                <a:cs typeface="Arial"/>
              </a:rPr>
              <a:t> </a:t>
            </a:r>
            <a:r>
              <a:rPr sz="1600" spc="-40" dirty="0">
                <a:solidFill>
                  <a:srgbClr val="FFFFFF"/>
                </a:solidFill>
                <a:latin typeface="Arial"/>
                <a:cs typeface="Arial"/>
              </a:rPr>
              <a:t>procedures.</a:t>
            </a:r>
            <a:endParaRPr sz="1600">
              <a:latin typeface="Arial"/>
              <a:cs typeface="Arial"/>
            </a:endParaRPr>
          </a:p>
          <a:p>
            <a:pPr>
              <a:lnSpc>
                <a:spcPct val="100000"/>
              </a:lnSpc>
              <a:spcBef>
                <a:spcPts val="35"/>
              </a:spcBef>
            </a:pPr>
            <a:endParaRPr sz="3300">
              <a:latin typeface="Arial"/>
              <a:cs typeface="Arial"/>
            </a:endParaRPr>
          </a:p>
          <a:p>
            <a:pPr marL="233045" marR="5080">
              <a:lnSpc>
                <a:spcPct val="107800"/>
              </a:lnSpc>
            </a:pPr>
            <a:r>
              <a:rPr sz="1600" spc="30" dirty="0">
                <a:solidFill>
                  <a:srgbClr val="FFFFFF"/>
                </a:solidFill>
                <a:latin typeface="Arial"/>
                <a:cs typeface="Arial"/>
              </a:rPr>
              <a:t>This</a:t>
            </a:r>
            <a:r>
              <a:rPr sz="1600" spc="-105" dirty="0">
                <a:solidFill>
                  <a:srgbClr val="FFFFFF"/>
                </a:solidFill>
                <a:latin typeface="Arial"/>
                <a:cs typeface="Arial"/>
              </a:rPr>
              <a:t> </a:t>
            </a:r>
            <a:r>
              <a:rPr sz="1600" spc="-10" dirty="0">
                <a:solidFill>
                  <a:srgbClr val="FFFFFF"/>
                </a:solidFill>
                <a:latin typeface="Arial"/>
                <a:cs typeface="Arial"/>
              </a:rPr>
              <a:t>architecture</a:t>
            </a:r>
            <a:r>
              <a:rPr sz="1600" spc="-105" dirty="0">
                <a:solidFill>
                  <a:srgbClr val="FFFFFF"/>
                </a:solidFill>
                <a:latin typeface="Arial"/>
                <a:cs typeface="Arial"/>
              </a:rPr>
              <a:t> </a:t>
            </a:r>
            <a:r>
              <a:rPr sz="1600" spc="45" dirty="0">
                <a:solidFill>
                  <a:srgbClr val="FFFFFF"/>
                </a:solidFill>
                <a:latin typeface="Arial"/>
                <a:cs typeface="Arial"/>
              </a:rPr>
              <a:t>of</a:t>
            </a:r>
            <a:r>
              <a:rPr sz="1600" spc="-95" dirty="0">
                <a:solidFill>
                  <a:srgbClr val="FFFFFF"/>
                </a:solidFill>
                <a:latin typeface="Arial"/>
                <a:cs typeface="Arial"/>
              </a:rPr>
              <a:t> </a:t>
            </a:r>
            <a:r>
              <a:rPr sz="1600" dirty="0">
                <a:solidFill>
                  <a:srgbClr val="FFFFFF"/>
                </a:solidFill>
                <a:latin typeface="Arial"/>
                <a:cs typeface="Arial"/>
              </a:rPr>
              <a:t>calling</a:t>
            </a:r>
            <a:r>
              <a:rPr sz="1600" spc="-110" dirty="0">
                <a:solidFill>
                  <a:srgbClr val="FFFFFF"/>
                </a:solidFill>
                <a:latin typeface="Arial"/>
                <a:cs typeface="Arial"/>
              </a:rPr>
              <a:t> </a:t>
            </a:r>
            <a:r>
              <a:rPr sz="1600" spc="-35" dirty="0">
                <a:solidFill>
                  <a:srgbClr val="FFFFFF"/>
                </a:solidFill>
                <a:latin typeface="Arial"/>
                <a:cs typeface="Arial"/>
              </a:rPr>
              <a:t>one</a:t>
            </a:r>
            <a:r>
              <a:rPr sz="1600" spc="-90" dirty="0">
                <a:solidFill>
                  <a:srgbClr val="FFFFFF"/>
                </a:solidFill>
                <a:latin typeface="Arial"/>
                <a:cs typeface="Arial"/>
              </a:rPr>
              <a:t> </a:t>
            </a:r>
            <a:r>
              <a:rPr sz="1600" spc="-25" dirty="0">
                <a:solidFill>
                  <a:srgbClr val="FFFFFF"/>
                </a:solidFill>
                <a:latin typeface="Arial"/>
                <a:cs typeface="Arial"/>
              </a:rPr>
              <a:t>procedure</a:t>
            </a:r>
            <a:r>
              <a:rPr sz="1600" spc="-95" dirty="0">
                <a:solidFill>
                  <a:srgbClr val="FFFFFF"/>
                </a:solidFill>
                <a:latin typeface="Arial"/>
                <a:cs typeface="Arial"/>
              </a:rPr>
              <a:t> </a:t>
            </a:r>
            <a:r>
              <a:rPr sz="1600" spc="35" dirty="0">
                <a:solidFill>
                  <a:srgbClr val="FFFFFF"/>
                </a:solidFill>
                <a:latin typeface="Arial"/>
                <a:cs typeface="Arial"/>
              </a:rPr>
              <a:t>from</a:t>
            </a:r>
            <a:r>
              <a:rPr sz="1600" spc="-95" dirty="0">
                <a:solidFill>
                  <a:srgbClr val="FFFFFF"/>
                </a:solidFill>
                <a:latin typeface="Arial"/>
                <a:cs typeface="Arial"/>
              </a:rPr>
              <a:t> </a:t>
            </a:r>
            <a:r>
              <a:rPr sz="1600" spc="-5" dirty="0">
                <a:solidFill>
                  <a:srgbClr val="FFFFFF"/>
                </a:solidFill>
                <a:latin typeface="Arial"/>
                <a:cs typeface="Arial"/>
              </a:rPr>
              <a:t>another</a:t>
            </a:r>
            <a:r>
              <a:rPr sz="1600" spc="-100" dirty="0">
                <a:solidFill>
                  <a:srgbClr val="FFFFFF"/>
                </a:solidFill>
                <a:latin typeface="Arial"/>
                <a:cs typeface="Arial"/>
              </a:rPr>
              <a:t> </a:t>
            </a:r>
            <a:r>
              <a:rPr sz="1600" spc="-25" dirty="0">
                <a:solidFill>
                  <a:srgbClr val="FFFFFF"/>
                </a:solidFill>
                <a:latin typeface="Arial"/>
                <a:cs typeface="Arial"/>
              </a:rPr>
              <a:t>procedure</a:t>
            </a:r>
            <a:r>
              <a:rPr sz="1600" spc="-100" dirty="0">
                <a:solidFill>
                  <a:srgbClr val="FFFFFF"/>
                </a:solidFill>
                <a:latin typeface="Arial"/>
                <a:cs typeface="Arial"/>
              </a:rPr>
              <a:t> </a:t>
            </a:r>
            <a:r>
              <a:rPr sz="1600" spc="-40" dirty="0">
                <a:solidFill>
                  <a:srgbClr val="FFFFFF"/>
                </a:solidFill>
                <a:latin typeface="Arial"/>
                <a:cs typeface="Arial"/>
              </a:rPr>
              <a:t>is</a:t>
            </a:r>
            <a:r>
              <a:rPr sz="1600" spc="-90" dirty="0">
                <a:solidFill>
                  <a:srgbClr val="FFFFFF"/>
                </a:solidFill>
                <a:latin typeface="Arial"/>
                <a:cs typeface="Arial"/>
              </a:rPr>
              <a:t> </a:t>
            </a:r>
            <a:r>
              <a:rPr sz="1600" spc="-20" dirty="0">
                <a:solidFill>
                  <a:srgbClr val="FFFFFF"/>
                </a:solidFill>
                <a:latin typeface="Arial"/>
                <a:cs typeface="Arial"/>
              </a:rPr>
              <a:t>referred</a:t>
            </a:r>
            <a:r>
              <a:rPr sz="1600" spc="-95" dirty="0">
                <a:solidFill>
                  <a:srgbClr val="FFFFFF"/>
                </a:solidFill>
                <a:latin typeface="Arial"/>
                <a:cs typeface="Arial"/>
              </a:rPr>
              <a:t> </a:t>
            </a:r>
            <a:r>
              <a:rPr sz="1600" spc="40" dirty="0">
                <a:solidFill>
                  <a:srgbClr val="FFFFFF"/>
                </a:solidFill>
                <a:latin typeface="Arial"/>
                <a:cs typeface="Arial"/>
              </a:rPr>
              <a:t>to  </a:t>
            </a:r>
            <a:r>
              <a:rPr sz="1600" spc="-165" dirty="0">
                <a:solidFill>
                  <a:srgbClr val="FFFFFF"/>
                </a:solidFill>
                <a:latin typeface="Arial"/>
                <a:cs typeface="Arial"/>
              </a:rPr>
              <a:t>as </a:t>
            </a:r>
            <a:r>
              <a:rPr sz="1600" spc="-50" dirty="0">
                <a:solidFill>
                  <a:srgbClr val="FFFFFF"/>
                </a:solidFill>
                <a:latin typeface="Arial"/>
                <a:cs typeface="Arial"/>
              </a:rPr>
              <a:t>nested </a:t>
            </a:r>
            <a:r>
              <a:rPr sz="1600" spc="-25" dirty="0">
                <a:solidFill>
                  <a:srgbClr val="FFFFFF"/>
                </a:solidFill>
                <a:latin typeface="Arial"/>
                <a:cs typeface="Arial"/>
              </a:rPr>
              <a:t>stored procedure</a:t>
            </a:r>
            <a:r>
              <a:rPr sz="1600" spc="-200" dirty="0">
                <a:solidFill>
                  <a:srgbClr val="FFFFFF"/>
                </a:solidFill>
                <a:latin typeface="Arial"/>
                <a:cs typeface="Arial"/>
              </a:rPr>
              <a:t> </a:t>
            </a:r>
            <a:r>
              <a:rPr sz="1600" spc="-10" dirty="0">
                <a:solidFill>
                  <a:srgbClr val="FFFFFF"/>
                </a:solidFill>
                <a:latin typeface="Arial"/>
                <a:cs typeface="Arial"/>
              </a:rPr>
              <a:t>architecture.</a:t>
            </a:r>
            <a:endParaRPr sz="1600">
              <a:latin typeface="Arial"/>
              <a:cs typeface="Arial"/>
            </a:endParaRPr>
          </a:p>
        </p:txBody>
      </p:sp>
      <p:grpSp>
        <p:nvGrpSpPr>
          <p:cNvPr id="19" name="object 19"/>
          <p:cNvGrpSpPr/>
          <p:nvPr/>
        </p:nvGrpSpPr>
        <p:grpSpPr>
          <a:xfrm>
            <a:off x="1076578" y="2810129"/>
            <a:ext cx="7844790" cy="1567180"/>
            <a:chOff x="1076578" y="2810129"/>
            <a:chExt cx="7844790" cy="1567180"/>
          </a:xfrm>
        </p:grpSpPr>
        <p:sp>
          <p:nvSpPr>
            <p:cNvPr id="20" name="object 20"/>
            <p:cNvSpPr/>
            <p:nvPr/>
          </p:nvSpPr>
          <p:spPr>
            <a:xfrm>
              <a:off x="1089278" y="2822829"/>
              <a:ext cx="734060" cy="734695"/>
            </a:xfrm>
            <a:custGeom>
              <a:avLst/>
              <a:gdLst/>
              <a:ahLst/>
              <a:cxnLst/>
              <a:rect l="l" t="t" r="r" b="b"/>
              <a:pathLst>
                <a:path w="734060" h="734695">
                  <a:moveTo>
                    <a:pt x="366903" y="0"/>
                  </a:moveTo>
                  <a:lnTo>
                    <a:pt x="320878" y="2862"/>
                  </a:lnTo>
                  <a:lnTo>
                    <a:pt x="276559" y="11218"/>
                  </a:lnTo>
                  <a:lnTo>
                    <a:pt x="234291" y="24725"/>
                  </a:lnTo>
                  <a:lnTo>
                    <a:pt x="194417" y="43038"/>
                  </a:lnTo>
                  <a:lnTo>
                    <a:pt x="157280" y="65812"/>
                  </a:lnTo>
                  <a:lnTo>
                    <a:pt x="123225" y="92703"/>
                  </a:lnTo>
                  <a:lnTo>
                    <a:pt x="92595" y="123366"/>
                  </a:lnTo>
                  <a:lnTo>
                    <a:pt x="65735" y="157458"/>
                  </a:lnTo>
                  <a:lnTo>
                    <a:pt x="42987" y="194633"/>
                  </a:lnTo>
                  <a:lnTo>
                    <a:pt x="24695" y="234548"/>
                  </a:lnTo>
                  <a:lnTo>
                    <a:pt x="11205" y="276857"/>
                  </a:lnTo>
                  <a:lnTo>
                    <a:pt x="2858" y="321217"/>
                  </a:lnTo>
                  <a:lnTo>
                    <a:pt x="0" y="367284"/>
                  </a:lnTo>
                  <a:lnTo>
                    <a:pt x="2858" y="413350"/>
                  </a:lnTo>
                  <a:lnTo>
                    <a:pt x="11205" y="457710"/>
                  </a:lnTo>
                  <a:lnTo>
                    <a:pt x="24695" y="500019"/>
                  </a:lnTo>
                  <a:lnTo>
                    <a:pt x="42987" y="539934"/>
                  </a:lnTo>
                  <a:lnTo>
                    <a:pt x="65735" y="577109"/>
                  </a:lnTo>
                  <a:lnTo>
                    <a:pt x="92595" y="611201"/>
                  </a:lnTo>
                  <a:lnTo>
                    <a:pt x="123225" y="641864"/>
                  </a:lnTo>
                  <a:lnTo>
                    <a:pt x="157280" y="668755"/>
                  </a:lnTo>
                  <a:lnTo>
                    <a:pt x="194417" y="691529"/>
                  </a:lnTo>
                  <a:lnTo>
                    <a:pt x="234291" y="709842"/>
                  </a:lnTo>
                  <a:lnTo>
                    <a:pt x="276559" y="723349"/>
                  </a:lnTo>
                  <a:lnTo>
                    <a:pt x="320878" y="731705"/>
                  </a:lnTo>
                  <a:lnTo>
                    <a:pt x="366903" y="734568"/>
                  </a:lnTo>
                  <a:lnTo>
                    <a:pt x="412937" y="731705"/>
                  </a:lnTo>
                  <a:lnTo>
                    <a:pt x="457262" y="723349"/>
                  </a:lnTo>
                  <a:lnTo>
                    <a:pt x="499535" y="709842"/>
                  </a:lnTo>
                  <a:lnTo>
                    <a:pt x="539411" y="691529"/>
                  </a:lnTo>
                  <a:lnTo>
                    <a:pt x="576547" y="668755"/>
                  </a:lnTo>
                  <a:lnTo>
                    <a:pt x="610600" y="641864"/>
                  </a:lnTo>
                  <a:lnTo>
                    <a:pt x="641227" y="611201"/>
                  </a:lnTo>
                  <a:lnTo>
                    <a:pt x="668084" y="577109"/>
                  </a:lnTo>
                  <a:lnTo>
                    <a:pt x="690828" y="539934"/>
                  </a:lnTo>
                  <a:lnTo>
                    <a:pt x="709116" y="500019"/>
                  </a:lnTo>
                  <a:lnTo>
                    <a:pt x="722603" y="457710"/>
                  </a:lnTo>
                  <a:lnTo>
                    <a:pt x="730948" y="413350"/>
                  </a:lnTo>
                  <a:lnTo>
                    <a:pt x="733806" y="367284"/>
                  </a:lnTo>
                  <a:lnTo>
                    <a:pt x="730948" y="321217"/>
                  </a:lnTo>
                  <a:lnTo>
                    <a:pt x="722603" y="276857"/>
                  </a:lnTo>
                  <a:lnTo>
                    <a:pt x="709116" y="234548"/>
                  </a:lnTo>
                  <a:lnTo>
                    <a:pt x="690828" y="194633"/>
                  </a:lnTo>
                  <a:lnTo>
                    <a:pt x="668084" y="157458"/>
                  </a:lnTo>
                  <a:lnTo>
                    <a:pt x="641227" y="123366"/>
                  </a:lnTo>
                  <a:lnTo>
                    <a:pt x="610600" y="92703"/>
                  </a:lnTo>
                  <a:lnTo>
                    <a:pt x="576547" y="65812"/>
                  </a:lnTo>
                  <a:lnTo>
                    <a:pt x="539411" y="43038"/>
                  </a:lnTo>
                  <a:lnTo>
                    <a:pt x="499535" y="24725"/>
                  </a:lnTo>
                  <a:lnTo>
                    <a:pt x="457262" y="11218"/>
                  </a:lnTo>
                  <a:lnTo>
                    <a:pt x="412937" y="2862"/>
                  </a:lnTo>
                  <a:lnTo>
                    <a:pt x="366903" y="0"/>
                  </a:lnTo>
                  <a:close/>
                </a:path>
              </a:pathLst>
            </a:custGeom>
            <a:solidFill>
              <a:srgbClr val="FFFFFF"/>
            </a:solidFill>
          </p:spPr>
          <p:txBody>
            <a:bodyPr wrap="square" lIns="0" tIns="0" rIns="0" bIns="0" rtlCol="0"/>
            <a:lstStyle/>
            <a:p>
              <a:endParaRPr/>
            </a:p>
          </p:txBody>
        </p:sp>
        <p:sp>
          <p:nvSpPr>
            <p:cNvPr id="21" name="object 21"/>
            <p:cNvSpPr/>
            <p:nvPr/>
          </p:nvSpPr>
          <p:spPr>
            <a:xfrm>
              <a:off x="1089278" y="2822829"/>
              <a:ext cx="734060" cy="734695"/>
            </a:xfrm>
            <a:custGeom>
              <a:avLst/>
              <a:gdLst/>
              <a:ahLst/>
              <a:cxnLst/>
              <a:rect l="l" t="t" r="r" b="b"/>
              <a:pathLst>
                <a:path w="734060" h="734695">
                  <a:moveTo>
                    <a:pt x="0" y="367284"/>
                  </a:moveTo>
                  <a:lnTo>
                    <a:pt x="2858" y="321217"/>
                  </a:lnTo>
                  <a:lnTo>
                    <a:pt x="11205" y="276857"/>
                  </a:lnTo>
                  <a:lnTo>
                    <a:pt x="24695" y="234548"/>
                  </a:lnTo>
                  <a:lnTo>
                    <a:pt x="42987" y="194633"/>
                  </a:lnTo>
                  <a:lnTo>
                    <a:pt x="65735" y="157458"/>
                  </a:lnTo>
                  <a:lnTo>
                    <a:pt x="92595" y="123366"/>
                  </a:lnTo>
                  <a:lnTo>
                    <a:pt x="123225" y="92703"/>
                  </a:lnTo>
                  <a:lnTo>
                    <a:pt x="157280" y="65812"/>
                  </a:lnTo>
                  <a:lnTo>
                    <a:pt x="194417" y="43038"/>
                  </a:lnTo>
                  <a:lnTo>
                    <a:pt x="234291" y="24725"/>
                  </a:lnTo>
                  <a:lnTo>
                    <a:pt x="276559" y="11218"/>
                  </a:lnTo>
                  <a:lnTo>
                    <a:pt x="320878" y="2862"/>
                  </a:lnTo>
                  <a:lnTo>
                    <a:pt x="366903" y="0"/>
                  </a:lnTo>
                  <a:lnTo>
                    <a:pt x="412937" y="2862"/>
                  </a:lnTo>
                  <a:lnTo>
                    <a:pt x="457262" y="11218"/>
                  </a:lnTo>
                  <a:lnTo>
                    <a:pt x="499535" y="24725"/>
                  </a:lnTo>
                  <a:lnTo>
                    <a:pt x="539411" y="43038"/>
                  </a:lnTo>
                  <a:lnTo>
                    <a:pt x="576547" y="65812"/>
                  </a:lnTo>
                  <a:lnTo>
                    <a:pt x="610600" y="92703"/>
                  </a:lnTo>
                  <a:lnTo>
                    <a:pt x="641227" y="123366"/>
                  </a:lnTo>
                  <a:lnTo>
                    <a:pt x="668084" y="157458"/>
                  </a:lnTo>
                  <a:lnTo>
                    <a:pt x="690828" y="194633"/>
                  </a:lnTo>
                  <a:lnTo>
                    <a:pt x="709116" y="234548"/>
                  </a:lnTo>
                  <a:lnTo>
                    <a:pt x="722603" y="276857"/>
                  </a:lnTo>
                  <a:lnTo>
                    <a:pt x="730948" y="321217"/>
                  </a:lnTo>
                  <a:lnTo>
                    <a:pt x="733806" y="367284"/>
                  </a:lnTo>
                  <a:lnTo>
                    <a:pt x="730948" y="413350"/>
                  </a:lnTo>
                  <a:lnTo>
                    <a:pt x="722603" y="457710"/>
                  </a:lnTo>
                  <a:lnTo>
                    <a:pt x="709116" y="500019"/>
                  </a:lnTo>
                  <a:lnTo>
                    <a:pt x="690828" y="539934"/>
                  </a:lnTo>
                  <a:lnTo>
                    <a:pt x="668084" y="577109"/>
                  </a:lnTo>
                  <a:lnTo>
                    <a:pt x="641227" y="611201"/>
                  </a:lnTo>
                  <a:lnTo>
                    <a:pt x="610600" y="641864"/>
                  </a:lnTo>
                  <a:lnTo>
                    <a:pt x="576547" y="668755"/>
                  </a:lnTo>
                  <a:lnTo>
                    <a:pt x="539411" y="691529"/>
                  </a:lnTo>
                  <a:lnTo>
                    <a:pt x="499535" y="709842"/>
                  </a:lnTo>
                  <a:lnTo>
                    <a:pt x="457262" y="723349"/>
                  </a:lnTo>
                  <a:lnTo>
                    <a:pt x="412937" y="731705"/>
                  </a:lnTo>
                  <a:lnTo>
                    <a:pt x="366903" y="734568"/>
                  </a:lnTo>
                  <a:lnTo>
                    <a:pt x="320878" y="731705"/>
                  </a:lnTo>
                  <a:lnTo>
                    <a:pt x="276559" y="723349"/>
                  </a:lnTo>
                  <a:lnTo>
                    <a:pt x="234291" y="709842"/>
                  </a:lnTo>
                  <a:lnTo>
                    <a:pt x="194417" y="691529"/>
                  </a:lnTo>
                  <a:lnTo>
                    <a:pt x="157280" y="668755"/>
                  </a:lnTo>
                  <a:lnTo>
                    <a:pt x="123225" y="641864"/>
                  </a:lnTo>
                  <a:lnTo>
                    <a:pt x="92595" y="611201"/>
                  </a:lnTo>
                  <a:lnTo>
                    <a:pt x="65735" y="577109"/>
                  </a:lnTo>
                  <a:lnTo>
                    <a:pt x="42987" y="539934"/>
                  </a:lnTo>
                  <a:lnTo>
                    <a:pt x="24695" y="500019"/>
                  </a:lnTo>
                  <a:lnTo>
                    <a:pt x="11205" y="457710"/>
                  </a:lnTo>
                  <a:lnTo>
                    <a:pt x="2858" y="413350"/>
                  </a:lnTo>
                  <a:lnTo>
                    <a:pt x="0" y="367284"/>
                  </a:lnTo>
                  <a:close/>
                </a:path>
              </a:pathLst>
            </a:custGeom>
            <a:ln w="25146">
              <a:solidFill>
                <a:srgbClr val="8063A1"/>
              </a:solidFill>
            </a:ln>
          </p:spPr>
          <p:txBody>
            <a:bodyPr wrap="square" lIns="0" tIns="0" rIns="0" bIns="0" rtlCol="0"/>
            <a:lstStyle/>
            <a:p>
              <a:endParaRPr/>
            </a:p>
          </p:txBody>
        </p:sp>
        <p:sp>
          <p:nvSpPr>
            <p:cNvPr id="22" name="object 22"/>
            <p:cNvSpPr/>
            <p:nvPr/>
          </p:nvSpPr>
          <p:spPr>
            <a:xfrm>
              <a:off x="1456562" y="3776853"/>
              <a:ext cx="7451725" cy="588010"/>
            </a:xfrm>
            <a:custGeom>
              <a:avLst/>
              <a:gdLst/>
              <a:ahLst/>
              <a:cxnLst/>
              <a:rect l="l" t="t" r="r" b="b"/>
              <a:pathLst>
                <a:path w="7451725" h="588010">
                  <a:moveTo>
                    <a:pt x="7451598" y="0"/>
                  </a:moveTo>
                  <a:lnTo>
                    <a:pt x="0" y="0"/>
                  </a:lnTo>
                  <a:lnTo>
                    <a:pt x="0" y="587502"/>
                  </a:lnTo>
                  <a:lnTo>
                    <a:pt x="7451598" y="587502"/>
                  </a:lnTo>
                  <a:lnTo>
                    <a:pt x="7451598" y="0"/>
                  </a:lnTo>
                  <a:close/>
                </a:path>
              </a:pathLst>
            </a:custGeom>
            <a:solidFill>
              <a:srgbClr val="4AACC5"/>
            </a:solidFill>
          </p:spPr>
          <p:txBody>
            <a:bodyPr wrap="square" lIns="0" tIns="0" rIns="0" bIns="0" rtlCol="0"/>
            <a:lstStyle/>
            <a:p>
              <a:endParaRPr/>
            </a:p>
          </p:txBody>
        </p:sp>
        <p:sp>
          <p:nvSpPr>
            <p:cNvPr id="23" name="object 23"/>
            <p:cNvSpPr/>
            <p:nvPr/>
          </p:nvSpPr>
          <p:spPr>
            <a:xfrm>
              <a:off x="1456562" y="3776853"/>
              <a:ext cx="7451725" cy="588010"/>
            </a:xfrm>
            <a:custGeom>
              <a:avLst/>
              <a:gdLst/>
              <a:ahLst/>
              <a:cxnLst/>
              <a:rect l="l" t="t" r="r" b="b"/>
              <a:pathLst>
                <a:path w="7451725" h="588010">
                  <a:moveTo>
                    <a:pt x="0" y="587502"/>
                  </a:moveTo>
                  <a:lnTo>
                    <a:pt x="7451598" y="587502"/>
                  </a:lnTo>
                  <a:lnTo>
                    <a:pt x="7451598" y="0"/>
                  </a:lnTo>
                  <a:lnTo>
                    <a:pt x="0" y="0"/>
                  </a:lnTo>
                  <a:lnTo>
                    <a:pt x="0" y="587502"/>
                  </a:lnTo>
                  <a:close/>
                </a:path>
              </a:pathLst>
            </a:custGeom>
            <a:ln w="25146">
              <a:solidFill>
                <a:srgbClr val="FFFFFF"/>
              </a:solidFill>
            </a:ln>
          </p:spPr>
          <p:txBody>
            <a:bodyPr wrap="square" lIns="0" tIns="0" rIns="0" bIns="0" rtlCol="0"/>
            <a:lstStyle/>
            <a:p>
              <a:endParaRPr/>
            </a:p>
          </p:txBody>
        </p:sp>
      </p:grpSp>
      <p:sp>
        <p:nvSpPr>
          <p:cNvPr id="24" name="object 24"/>
          <p:cNvSpPr txBox="1"/>
          <p:nvPr/>
        </p:nvSpPr>
        <p:spPr>
          <a:xfrm>
            <a:off x="1909317" y="3741470"/>
            <a:ext cx="6839584" cy="551815"/>
          </a:xfrm>
          <a:prstGeom prst="rect">
            <a:avLst/>
          </a:prstGeom>
        </p:spPr>
        <p:txBody>
          <a:bodyPr vert="horz" wrap="square" lIns="0" tIns="12700" rIns="0" bIns="0" rtlCol="0">
            <a:spAutoFit/>
          </a:bodyPr>
          <a:lstStyle/>
          <a:p>
            <a:pPr marL="12700" marR="5080">
              <a:lnSpc>
                <a:spcPct val="107900"/>
              </a:lnSpc>
              <a:spcBef>
                <a:spcPts val="100"/>
              </a:spcBef>
            </a:pPr>
            <a:r>
              <a:rPr sz="1600" spc="55" dirty="0">
                <a:solidFill>
                  <a:srgbClr val="FFFFFF"/>
                </a:solidFill>
                <a:latin typeface="Arial"/>
                <a:cs typeface="Arial"/>
              </a:rPr>
              <a:t>When</a:t>
            </a:r>
            <a:r>
              <a:rPr sz="1600" spc="-100" dirty="0">
                <a:solidFill>
                  <a:srgbClr val="FFFFFF"/>
                </a:solidFill>
                <a:latin typeface="Arial"/>
                <a:cs typeface="Arial"/>
              </a:rPr>
              <a:t> </a:t>
            </a:r>
            <a:r>
              <a:rPr sz="1600" spc="-155" dirty="0">
                <a:solidFill>
                  <a:srgbClr val="FFFFFF"/>
                </a:solidFill>
                <a:latin typeface="Arial"/>
                <a:cs typeface="Arial"/>
              </a:rPr>
              <a:t>a</a:t>
            </a:r>
            <a:r>
              <a:rPr sz="1600" spc="-100" dirty="0">
                <a:solidFill>
                  <a:srgbClr val="FFFFFF"/>
                </a:solidFill>
                <a:latin typeface="Arial"/>
                <a:cs typeface="Arial"/>
              </a:rPr>
              <a:t> </a:t>
            </a:r>
            <a:r>
              <a:rPr sz="1600" spc="-30" dirty="0">
                <a:solidFill>
                  <a:srgbClr val="FFFFFF"/>
                </a:solidFill>
                <a:latin typeface="Arial"/>
                <a:cs typeface="Arial"/>
              </a:rPr>
              <a:t>stored</a:t>
            </a:r>
            <a:r>
              <a:rPr sz="1600" spc="-100" dirty="0">
                <a:solidFill>
                  <a:srgbClr val="FFFFFF"/>
                </a:solidFill>
                <a:latin typeface="Arial"/>
                <a:cs typeface="Arial"/>
              </a:rPr>
              <a:t> </a:t>
            </a:r>
            <a:r>
              <a:rPr sz="1600" spc="-25" dirty="0">
                <a:solidFill>
                  <a:srgbClr val="FFFFFF"/>
                </a:solidFill>
                <a:latin typeface="Arial"/>
                <a:cs typeface="Arial"/>
              </a:rPr>
              <a:t>procedure</a:t>
            </a:r>
            <a:r>
              <a:rPr sz="1600" spc="-114" dirty="0">
                <a:solidFill>
                  <a:srgbClr val="FFFFFF"/>
                </a:solidFill>
                <a:latin typeface="Arial"/>
                <a:cs typeface="Arial"/>
              </a:rPr>
              <a:t> </a:t>
            </a:r>
            <a:r>
              <a:rPr sz="1600" spc="-45" dirty="0">
                <a:solidFill>
                  <a:srgbClr val="FFFFFF"/>
                </a:solidFill>
                <a:latin typeface="Arial"/>
                <a:cs typeface="Arial"/>
              </a:rPr>
              <a:t>calls</a:t>
            </a:r>
            <a:r>
              <a:rPr sz="1600" spc="-110" dirty="0">
                <a:solidFill>
                  <a:srgbClr val="FFFFFF"/>
                </a:solidFill>
                <a:latin typeface="Arial"/>
                <a:cs typeface="Arial"/>
              </a:rPr>
              <a:t> </a:t>
            </a:r>
            <a:r>
              <a:rPr sz="1600" spc="-5" dirty="0">
                <a:solidFill>
                  <a:srgbClr val="FFFFFF"/>
                </a:solidFill>
                <a:latin typeface="Arial"/>
                <a:cs typeface="Arial"/>
              </a:rPr>
              <a:t>another</a:t>
            </a:r>
            <a:r>
              <a:rPr sz="1600" spc="-100" dirty="0">
                <a:solidFill>
                  <a:srgbClr val="FFFFFF"/>
                </a:solidFill>
                <a:latin typeface="Arial"/>
                <a:cs typeface="Arial"/>
              </a:rPr>
              <a:t> </a:t>
            </a:r>
            <a:r>
              <a:rPr sz="1600" spc="-30" dirty="0">
                <a:solidFill>
                  <a:srgbClr val="FFFFFF"/>
                </a:solidFill>
                <a:latin typeface="Arial"/>
                <a:cs typeface="Arial"/>
              </a:rPr>
              <a:t>stored</a:t>
            </a:r>
            <a:r>
              <a:rPr sz="1600" spc="-100" dirty="0">
                <a:solidFill>
                  <a:srgbClr val="FFFFFF"/>
                </a:solidFill>
                <a:latin typeface="Arial"/>
                <a:cs typeface="Arial"/>
              </a:rPr>
              <a:t> </a:t>
            </a:r>
            <a:r>
              <a:rPr sz="1600" spc="-25" dirty="0">
                <a:solidFill>
                  <a:srgbClr val="FFFFFF"/>
                </a:solidFill>
                <a:latin typeface="Arial"/>
                <a:cs typeface="Arial"/>
              </a:rPr>
              <a:t>procedure,</a:t>
            </a:r>
            <a:r>
              <a:rPr sz="1600" spc="-95" dirty="0">
                <a:solidFill>
                  <a:srgbClr val="FFFFFF"/>
                </a:solidFill>
                <a:latin typeface="Arial"/>
                <a:cs typeface="Arial"/>
              </a:rPr>
              <a:t> </a:t>
            </a:r>
            <a:r>
              <a:rPr sz="1600" dirty="0">
                <a:solidFill>
                  <a:srgbClr val="FFFFFF"/>
                </a:solidFill>
                <a:latin typeface="Arial"/>
                <a:cs typeface="Arial"/>
              </a:rPr>
              <a:t>the</a:t>
            </a:r>
            <a:r>
              <a:rPr sz="1600" spc="-100" dirty="0">
                <a:solidFill>
                  <a:srgbClr val="FFFFFF"/>
                </a:solidFill>
                <a:latin typeface="Arial"/>
                <a:cs typeface="Arial"/>
              </a:rPr>
              <a:t> </a:t>
            </a:r>
            <a:r>
              <a:rPr sz="1600" spc="-15" dirty="0">
                <a:solidFill>
                  <a:srgbClr val="FFFFFF"/>
                </a:solidFill>
                <a:latin typeface="Arial"/>
                <a:cs typeface="Arial"/>
              </a:rPr>
              <a:t>level</a:t>
            </a:r>
            <a:r>
              <a:rPr sz="1600" spc="-105" dirty="0">
                <a:solidFill>
                  <a:srgbClr val="FFFFFF"/>
                </a:solidFill>
                <a:latin typeface="Arial"/>
                <a:cs typeface="Arial"/>
              </a:rPr>
              <a:t> </a:t>
            </a:r>
            <a:r>
              <a:rPr sz="1600" spc="45" dirty="0">
                <a:solidFill>
                  <a:srgbClr val="FFFFFF"/>
                </a:solidFill>
                <a:latin typeface="Arial"/>
                <a:cs typeface="Arial"/>
              </a:rPr>
              <a:t>of</a:t>
            </a:r>
            <a:r>
              <a:rPr sz="1600" spc="-100" dirty="0">
                <a:solidFill>
                  <a:srgbClr val="FFFFFF"/>
                </a:solidFill>
                <a:latin typeface="Arial"/>
                <a:cs typeface="Arial"/>
              </a:rPr>
              <a:t> </a:t>
            </a:r>
            <a:r>
              <a:rPr sz="1600" spc="-15" dirty="0">
                <a:solidFill>
                  <a:srgbClr val="FFFFFF"/>
                </a:solidFill>
                <a:latin typeface="Arial"/>
                <a:cs typeface="Arial"/>
              </a:rPr>
              <a:t>nesting</a:t>
            </a:r>
            <a:r>
              <a:rPr sz="1600" spc="-100" dirty="0">
                <a:solidFill>
                  <a:srgbClr val="FFFFFF"/>
                </a:solidFill>
                <a:latin typeface="Arial"/>
                <a:cs typeface="Arial"/>
              </a:rPr>
              <a:t> </a:t>
            </a:r>
            <a:r>
              <a:rPr sz="1600" spc="-40" dirty="0">
                <a:solidFill>
                  <a:srgbClr val="FFFFFF"/>
                </a:solidFill>
                <a:latin typeface="Arial"/>
                <a:cs typeface="Arial"/>
              </a:rPr>
              <a:t>is  </a:t>
            </a:r>
            <a:r>
              <a:rPr sz="1600" spc="-55" dirty="0">
                <a:solidFill>
                  <a:srgbClr val="FFFFFF"/>
                </a:solidFill>
                <a:latin typeface="Arial"/>
                <a:cs typeface="Arial"/>
              </a:rPr>
              <a:t>said</a:t>
            </a:r>
            <a:r>
              <a:rPr sz="1600" spc="-110" dirty="0">
                <a:solidFill>
                  <a:srgbClr val="FFFFFF"/>
                </a:solidFill>
                <a:latin typeface="Arial"/>
                <a:cs typeface="Arial"/>
              </a:rPr>
              <a:t> </a:t>
            </a:r>
            <a:r>
              <a:rPr sz="1600" spc="40" dirty="0">
                <a:solidFill>
                  <a:srgbClr val="FFFFFF"/>
                </a:solidFill>
                <a:latin typeface="Arial"/>
                <a:cs typeface="Arial"/>
              </a:rPr>
              <a:t>to</a:t>
            </a:r>
            <a:r>
              <a:rPr sz="1600" spc="-105" dirty="0">
                <a:solidFill>
                  <a:srgbClr val="FFFFFF"/>
                </a:solidFill>
                <a:latin typeface="Arial"/>
                <a:cs typeface="Arial"/>
              </a:rPr>
              <a:t> </a:t>
            </a:r>
            <a:r>
              <a:rPr sz="1600" spc="-80" dirty="0">
                <a:solidFill>
                  <a:srgbClr val="FFFFFF"/>
                </a:solidFill>
                <a:latin typeface="Arial"/>
                <a:cs typeface="Arial"/>
              </a:rPr>
              <a:t>be</a:t>
            </a:r>
            <a:r>
              <a:rPr sz="1600" spc="-110" dirty="0">
                <a:solidFill>
                  <a:srgbClr val="FFFFFF"/>
                </a:solidFill>
                <a:latin typeface="Arial"/>
                <a:cs typeface="Arial"/>
              </a:rPr>
              <a:t> </a:t>
            </a:r>
            <a:r>
              <a:rPr sz="1600" spc="-50" dirty="0">
                <a:solidFill>
                  <a:srgbClr val="FFFFFF"/>
                </a:solidFill>
                <a:latin typeface="Arial"/>
                <a:cs typeface="Arial"/>
              </a:rPr>
              <a:t>increased</a:t>
            </a:r>
            <a:r>
              <a:rPr sz="1600" spc="-120" dirty="0">
                <a:solidFill>
                  <a:srgbClr val="FFFFFF"/>
                </a:solidFill>
                <a:latin typeface="Arial"/>
                <a:cs typeface="Arial"/>
              </a:rPr>
              <a:t> </a:t>
            </a:r>
            <a:r>
              <a:rPr sz="1600" spc="-10" dirty="0">
                <a:solidFill>
                  <a:srgbClr val="FFFFFF"/>
                </a:solidFill>
                <a:latin typeface="Arial"/>
                <a:cs typeface="Arial"/>
              </a:rPr>
              <a:t>by</a:t>
            </a:r>
            <a:r>
              <a:rPr sz="1600" spc="-105" dirty="0">
                <a:solidFill>
                  <a:srgbClr val="FFFFFF"/>
                </a:solidFill>
                <a:latin typeface="Arial"/>
                <a:cs typeface="Arial"/>
              </a:rPr>
              <a:t> </a:t>
            </a:r>
            <a:r>
              <a:rPr sz="1600" spc="-40" dirty="0">
                <a:solidFill>
                  <a:srgbClr val="FFFFFF"/>
                </a:solidFill>
                <a:latin typeface="Arial"/>
                <a:cs typeface="Arial"/>
              </a:rPr>
              <a:t>one.</a:t>
            </a:r>
            <a:endParaRPr sz="1600">
              <a:latin typeface="Arial"/>
              <a:cs typeface="Arial"/>
            </a:endParaRPr>
          </a:p>
        </p:txBody>
      </p:sp>
      <p:grpSp>
        <p:nvGrpSpPr>
          <p:cNvPr id="25" name="object 25"/>
          <p:cNvGrpSpPr/>
          <p:nvPr/>
        </p:nvGrpSpPr>
        <p:grpSpPr>
          <a:xfrm>
            <a:off x="739775" y="3691001"/>
            <a:ext cx="8181340" cy="2447925"/>
            <a:chOff x="739775" y="3691001"/>
            <a:chExt cx="8181340" cy="2447925"/>
          </a:xfrm>
        </p:grpSpPr>
        <p:sp>
          <p:nvSpPr>
            <p:cNvPr id="26" name="object 26"/>
            <p:cNvSpPr/>
            <p:nvPr/>
          </p:nvSpPr>
          <p:spPr>
            <a:xfrm>
              <a:off x="1089279" y="3703701"/>
              <a:ext cx="734060" cy="734060"/>
            </a:xfrm>
            <a:custGeom>
              <a:avLst/>
              <a:gdLst/>
              <a:ahLst/>
              <a:cxnLst/>
              <a:rect l="l" t="t" r="r" b="b"/>
              <a:pathLst>
                <a:path w="734060" h="734060">
                  <a:moveTo>
                    <a:pt x="366903" y="0"/>
                  </a:moveTo>
                  <a:lnTo>
                    <a:pt x="320878" y="2857"/>
                  </a:lnTo>
                  <a:lnTo>
                    <a:pt x="276559" y="11202"/>
                  </a:lnTo>
                  <a:lnTo>
                    <a:pt x="234291" y="24689"/>
                  </a:lnTo>
                  <a:lnTo>
                    <a:pt x="194417" y="42977"/>
                  </a:lnTo>
                  <a:lnTo>
                    <a:pt x="157280" y="65721"/>
                  </a:lnTo>
                  <a:lnTo>
                    <a:pt x="123225" y="92578"/>
                  </a:lnTo>
                  <a:lnTo>
                    <a:pt x="92595" y="123205"/>
                  </a:lnTo>
                  <a:lnTo>
                    <a:pt x="65735" y="157258"/>
                  </a:lnTo>
                  <a:lnTo>
                    <a:pt x="42987" y="194394"/>
                  </a:lnTo>
                  <a:lnTo>
                    <a:pt x="24695" y="234270"/>
                  </a:lnTo>
                  <a:lnTo>
                    <a:pt x="11205" y="276543"/>
                  </a:lnTo>
                  <a:lnTo>
                    <a:pt x="2858" y="320868"/>
                  </a:lnTo>
                  <a:lnTo>
                    <a:pt x="0" y="366903"/>
                  </a:lnTo>
                  <a:lnTo>
                    <a:pt x="2858" y="412937"/>
                  </a:lnTo>
                  <a:lnTo>
                    <a:pt x="11205" y="457262"/>
                  </a:lnTo>
                  <a:lnTo>
                    <a:pt x="24695" y="499535"/>
                  </a:lnTo>
                  <a:lnTo>
                    <a:pt x="42987" y="539411"/>
                  </a:lnTo>
                  <a:lnTo>
                    <a:pt x="65735" y="576547"/>
                  </a:lnTo>
                  <a:lnTo>
                    <a:pt x="92595" y="610600"/>
                  </a:lnTo>
                  <a:lnTo>
                    <a:pt x="123225" y="641227"/>
                  </a:lnTo>
                  <a:lnTo>
                    <a:pt x="157280" y="668084"/>
                  </a:lnTo>
                  <a:lnTo>
                    <a:pt x="194417" y="690828"/>
                  </a:lnTo>
                  <a:lnTo>
                    <a:pt x="234291" y="709116"/>
                  </a:lnTo>
                  <a:lnTo>
                    <a:pt x="276559" y="722603"/>
                  </a:lnTo>
                  <a:lnTo>
                    <a:pt x="320878" y="730948"/>
                  </a:lnTo>
                  <a:lnTo>
                    <a:pt x="366903" y="733806"/>
                  </a:lnTo>
                  <a:lnTo>
                    <a:pt x="412937" y="730948"/>
                  </a:lnTo>
                  <a:lnTo>
                    <a:pt x="457262" y="722603"/>
                  </a:lnTo>
                  <a:lnTo>
                    <a:pt x="499535" y="709116"/>
                  </a:lnTo>
                  <a:lnTo>
                    <a:pt x="539411" y="690828"/>
                  </a:lnTo>
                  <a:lnTo>
                    <a:pt x="576547" y="668084"/>
                  </a:lnTo>
                  <a:lnTo>
                    <a:pt x="610600" y="641227"/>
                  </a:lnTo>
                  <a:lnTo>
                    <a:pt x="641227" y="610600"/>
                  </a:lnTo>
                  <a:lnTo>
                    <a:pt x="668084" y="576547"/>
                  </a:lnTo>
                  <a:lnTo>
                    <a:pt x="690828" y="539411"/>
                  </a:lnTo>
                  <a:lnTo>
                    <a:pt x="709116" y="499535"/>
                  </a:lnTo>
                  <a:lnTo>
                    <a:pt x="722603" y="457262"/>
                  </a:lnTo>
                  <a:lnTo>
                    <a:pt x="730948" y="412937"/>
                  </a:lnTo>
                  <a:lnTo>
                    <a:pt x="733806" y="366903"/>
                  </a:lnTo>
                  <a:lnTo>
                    <a:pt x="730948" y="320868"/>
                  </a:lnTo>
                  <a:lnTo>
                    <a:pt x="722603" y="276543"/>
                  </a:lnTo>
                  <a:lnTo>
                    <a:pt x="709116" y="234270"/>
                  </a:lnTo>
                  <a:lnTo>
                    <a:pt x="690828" y="194394"/>
                  </a:lnTo>
                  <a:lnTo>
                    <a:pt x="668084" y="157258"/>
                  </a:lnTo>
                  <a:lnTo>
                    <a:pt x="641227" y="123205"/>
                  </a:lnTo>
                  <a:lnTo>
                    <a:pt x="610600" y="92578"/>
                  </a:lnTo>
                  <a:lnTo>
                    <a:pt x="576547" y="65721"/>
                  </a:lnTo>
                  <a:lnTo>
                    <a:pt x="539411" y="42977"/>
                  </a:lnTo>
                  <a:lnTo>
                    <a:pt x="499535" y="24689"/>
                  </a:lnTo>
                  <a:lnTo>
                    <a:pt x="457262" y="11202"/>
                  </a:lnTo>
                  <a:lnTo>
                    <a:pt x="412937" y="2857"/>
                  </a:lnTo>
                  <a:lnTo>
                    <a:pt x="366903" y="0"/>
                  </a:lnTo>
                  <a:close/>
                </a:path>
              </a:pathLst>
            </a:custGeom>
            <a:solidFill>
              <a:srgbClr val="FFFFFF"/>
            </a:solidFill>
          </p:spPr>
          <p:txBody>
            <a:bodyPr wrap="square" lIns="0" tIns="0" rIns="0" bIns="0" rtlCol="0"/>
            <a:lstStyle/>
            <a:p>
              <a:endParaRPr/>
            </a:p>
          </p:txBody>
        </p:sp>
        <p:sp>
          <p:nvSpPr>
            <p:cNvPr id="27" name="object 27"/>
            <p:cNvSpPr/>
            <p:nvPr/>
          </p:nvSpPr>
          <p:spPr>
            <a:xfrm>
              <a:off x="1089279" y="3703701"/>
              <a:ext cx="734060" cy="734060"/>
            </a:xfrm>
            <a:custGeom>
              <a:avLst/>
              <a:gdLst/>
              <a:ahLst/>
              <a:cxnLst/>
              <a:rect l="l" t="t" r="r" b="b"/>
              <a:pathLst>
                <a:path w="734060" h="734060">
                  <a:moveTo>
                    <a:pt x="0" y="366903"/>
                  </a:moveTo>
                  <a:lnTo>
                    <a:pt x="2858" y="320868"/>
                  </a:lnTo>
                  <a:lnTo>
                    <a:pt x="11205" y="276543"/>
                  </a:lnTo>
                  <a:lnTo>
                    <a:pt x="24695" y="234270"/>
                  </a:lnTo>
                  <a:lnTo>
                    <a:pt x="42987" y="194394"/>
                  </a:lnTo>
                  <a:lnTo>
                    <a:pt x="65735" y="157258"/>
                  </a:lnTo>
                  <a:lnTo>
                    <a:pt x="92595" y="123205"/>
                  </a:lnTo>
                  <a:lnTo>
                    <a:pt x="123225" y="92578"/>
                  </a:lnTo>
                  <a:lnTo>
                    <a:pt x="157280" y="65721"/>
                  </a:lnTo>
                  <a:lnTo>
                    <a:pt x="194417" y="42977"/>
                  </a:lnTo>
                  <a:lnTo>
                    <a:pt x="234291" y="24689"/>
                  </a:lnTo>
                  <a:lnTo>
                    <a:pt x="276559" y="11202"/>
                  </a:lnTo>
                  <a:lnTo>
                    <a:pt x="320878" y="2857"/>
                  </a:lnTo>
                  <a:lnTo>
                    <a:pt x="366903" y="0"/>
                  </a:lnTo>
                  <a:lnTo>
                    <a:pt x="412937" y="2857"/>
                  </a:lnTo>
                  <a:lnTo>
                    <a:pt x="457262" y="11202"/>
                  </a:lnTo>
                  <a:lnTo>
                    <a:pt x="499535" y="24689"/>
                  </a:lnTo>
                  <a:lnTo>
                    <a:pt x="539411" y="42977"/>
                  </a:lnTo>
                  <a:lnTo>
                    <a:pt x="576547" y="65721"/>
                  </a:lnTo>
                  <a:lnTo>
                    <a:pt x="610600" y="92578"/>
                  </a:lnTo>
                  <a:lnTo>
                    <a:pt x="641227" y="123205"/>
                  </a:lnTo>
                  <a:lnTo>
                    <a:pt x="668084" y="157258"/>
                  </a:lnTo>
                  <a:lnTo>
                    <a:pt x="690828" y="194394"/>
                  </a:lnTo>
                  <a:lnTo>
                    <a:pt x="709116" y="234270"/>
                  </a:lnTo>
                  <a:lnTo>
                    <a:pt x="722603" y="276543"/>
                  </a:lnTo>
                  <a:lnTo>
                    <a:pt x="730948" y="320868"/>
                  </a:lnTo>
                  <a:lnTo>
                    <a:pt x="733806" y="366903"/>
                  </a:lnTo>
                  <a:lnTo>
                    <a:pt x="730948" y="412937"/>
                  </a:lnTo>
                  <a:lnTo>
                    <a:pt x="722603" y="457262"/>
                  </a:lnTo>
                  <a:lnTo>
                    <a:pt x="709116" y="499535"/>
                  </a:lnTo>
                  <a:lnTo>
                    <a:pt x="690828" y="539411"/>
                  </a:lnTo>
                  <a:lnTo>
                    <a:pt x="668084" y="576547"/>
                  </a:lnTo>
                  <a:lnTo>
                    <a:pt x="641227" y="610600"/>
                  </a:lnTo>
                  <a:lnTo>
                    <a:pt x="610600" y="641227"/>
                  </a:lnTo>
                  <a:lnTo>
                    <a:pt x="576547" y="668084"/>
                  </a:lnTo>
                  <a:lnTo>
                    <a:pt x="539411" y="690828"/>
                  </a:lnTo>
                  <a:lnTo>
                    <a:pt x="499535" y="709116"/>
                  </a:lnTo>
                  <a:lnTo>
                    <a:pt x="457262" y="722603"/>
                  </a:lnTo>
                  <a:lnTo>
                    <a:pt x="412937" y="730948"/>
                  </a:lnTo>
                  <a:lnTo>
                    <a:pt x="366903" y="733806"/>
                  </a:lnTo>
                  <a:lnTo>
                    <a:pt x="320878" y="730948"/>
                  </a:lnTo>
                  <a:lnTo>
                    <a:pt x="276559" y="722603"/>
                  </a:lnTo>
                  <a:lnTo>
                    <a:pt x="234291" y="709116"/>
                  </a:lnTo>
                  <a:lnTo>
                    <a:pt x="194417" y="690828"/>
                  </a:lnTo>
                  <a:lnTo>
                    <a:pt x="157280" y="668084"/>
                  </a:lnTo>
                  <a:lnTo>
                    <a:pt x="123225" y="641227"/>
                  </a:lnTo>
                  <a:lnTo>
                    <a:pt x="92595" y="610600"/>
                  </a:lnTo>
                  <a:lnTo>
                    <a:pt x="65735" y="576547"/>
                  </a:lnTo>
                  <a:lnTo>
                    <a:pt x="42987" y="539411"/>
                  </a:lnTo>
                  <a:lnTo>
                    <a:pt x="24695" y="499535"/>
                  </a:lnTo>
                  <a:lnTo>
                    <a:pt x="11205" y="457262"/>
                  </a:lnTo>
                  <a:lnTo>
                    <a:pt x="2858" y="412937"/>
                  </a:lnTo>
                  <a:lnTo>
                    <a:pt x="0" y="366903"/>
                  </a:lnTo>
                  <a:close/>
                </a:path>
              </a:pathLst>
            </a:custGeom>
            <a:ln w="25146">
              <a:solidFill>
                <a:srgbClr val="4AACC5"/>
              </a:solidFill>
            </a:ln>
          </p:spPr>
          <p:txBody>
            <a:bodyPr wrap="square" lIns="0" tIns="0" rIns="0" bIns="0" rtlCol="0"/>
            <a:lstStyle/>
            <a:p>
              <a:endParaRPr/>
            </a:p>
          </p:txBody>
        </p:sp>
        <p:sp>
          <p:nvSpPr>
            <p:cNvPr id="28" name="object 28"/>
            <p:cNvSpPr/>
            <p:nvPr/>
          </p:nvSpPr>
          <p:spPr>
            <a:xfrm>
              <a:off x="1235583" y="4657725"/>
              <a:ext cx="7672705" cy="588010"/>
            </a:xfrm>
            <a:custGeom>
              <a:avLst/>
              <a:gdLst/>
              <a:ahLst/>
              <a:cxnLst/>
              <a:rect l="l" t="t" r="r" b="b"/>
              <a:pathLst>
                <a:path w="7672705" h="588010">
                  <a:moveTo>
                    <a:pt x="7672578" y="0"/>
                  </a:moveTo>
                  <a:lnTo>
                    <a:pt x="0" y="0"/>
                  </a:lnTo>
                  <a:lnTo>
                    <a:pt x="0" y="587502"/>
                  </a:lnTo>
                  <a:lnTo>
                    <a:pt x="7672578" y="587502"/>
                  </a:lnTo>
                  <a:lnTo>
                    <a:pt x="7672578" y="0"/>
                  </a:lnTo>
                  <a:close/>
                </a:path>
              </a:pathLst>
            </a:custGeom>
            <a:solidFill>
              <a:srgbClr val="F79546"/>
            </a:solidFill>
          </p:spPr>
          <p:txBody>
            <a:bodyPr wrap="square" lIns="0" tIns="0" rIns="0" bIns="0" rtlCol="0"/>
            <a:lstStyle/>
            <a:p>
              <a:endParaRPr/>
            </a:p>
          </p:txBody>
        </p:sp>
        <p:sp>
          <p:nvSpPr>
            <p:cNvPr id="29" name="object 29"/>
            <p:cNvSpPr/>
            <p:nvPr/>
          </p:nvSpPr>
          <p:spPr>
            <a:xfrm>
              <a:off x="1235583" y="4657725"/>
              <a:ext cx="7672705" cy="588010"/>
            </a:xfrm>
            <a:custGeom>
              <a:avLst/>
              <a:gdLst/>
              <a:ahLst/>
              <a:cxnLst/>
              <a:rect l="l" t="t" r="r" b="b"/>
              <a:pathLst>
                <a:path w="7672705" h="588010">
                  <a:moveTo>
                    <a:pt x="0" y="587502"/>
                  </a:moveTo>
                  <a:lnTo>
                    <a:pt x="7672578" y="587502"/>
                  </a:lnTo>
                  <a:lnTo>
                    <a:pt x="7672578" y="0"/>
                  </a:lnTo>
                  <a:lnTo>
                    <a:pt x="0" y="0"/>
                  </a:lnTo>
                  <a:lnTo>
                    <a:pt x="0" y="587502"/>
                  </a:lnTo>
                  <a:close/>
                </a:path>
              </a:pathLst>
            </a:custGeom>
            <a:ln w="25146">
              <a:solidFill>
                <a:srgbClr val="FFFFFF"/>
              </a:solidFill>
            </a:ln>
          </p:spPr>
          <p:txBody>
            <a:bodyPr wrap="square" lIns="0" tIns="0" rIns="0" bIns="0" rtlCol="0"/>
            <a:lstStyle/>
            <a:p>
              <a:endParaRPr/>
            </a:p>
          </p:txBody>
        </p:sp>
        <p:sp>
          <p:nvSpPr>
            <p:cNvPr id="30" name="object 30"/>
            <p:cNvSpPr/>
            <p:nvPr/>
          </p:nvSpPr>
          <p:spPr>
            <a:xfrm>
              <a:off x="868298" y="4584573"/>
              <a:ext cx="734060" cy="734060"/>
            </a:xfrm>
            <a:custGeom>
              <a:avLst/>
              <a:gdLst/>
              <a:ahLst/>
              <a:cxnLst/>
              <a:rect l="l" t="t" r="r" b="b"/>
              <a:pathLst>
                <a:path w="734060" h="734060">
                  <a:moveTo>
                    <a:pt x="366903" y="0"/>
                  </a:moveTo>
                  <a:lnTo>
                    <a:pt x="320878" y="2857"/>
                  </a:lnTo>
                  <a:lnTo>
                    <a:pt x="276559" y="11202"/>
                  </a:lnTo>
                  <a:lnTo>
                    <a:pt x="234291" y="24689"/>
                  </a:lnTo>
                  <a:lnTo>
                    <a:pt x="194417" y="42977"/>
                  </a:lnTo>
                  <a:lnTo>
                    <a:pt x="157280" y="65721"/>
                  </a:lnTo>
                  <a:lnTo>
                    <a:pt x="123225" y="92578"/>
                  </a:lnTo>
                  <a:lnTo>
                    <a:pt x="92595" y="123205"/>
                  </a:lnTo>
                  <a:lnTo>
                    <a:pt x="65735" y="157258"/>
                  </a:lnTo>
                  <a:lnTo>
                    <a:pt x="42987" y="194394"/>
                  </a:lnTo>
                  <a:lnTo>
                    <a:pt x="24695" y="234270"/>
                  </a:lnTo>
                  <a:lnTo>
                    <a:pt x="11205" y="276543"/>
                  </a:lnTo>
                  <a:lnTo>
                    <a:pt x="2858" y="320868"/>
                  </a:lnTo>
                  <a:lnTo>
                    <a:pt x="0" y="366902"/>
                  </a:lnTo>
                  <a:lnTo>
                    <a:pt x="2858" y="412937"/>
                  </a:lnTo>
                  <a:lnTo>
                    <a:pt x="11205" y="457262"/>
                  </a:lnTo>
                  <a:lnTo>
                    <a:pt x="24695" y="499535"/>
                  </a:lnTo>
                  <a:lnTo>
                    <a:pt x="42987" y="539411"/>
                  </a:lnTo>
                  <a:lnTo>
                    <a:pt x="65735" y="576547"/>
                  </a:lnTo>
                  <a:lnTo>
                    <a:pt x="92595" y="610600"/>
                  </a:lnTo>
                  <a:lnTo>
                    <a:pt x="123225" y="641227"/>
                  </a:lnTo>
                  <a:lnTo>
                    <a:pt x="157280" y="668084"/>
                  </a:lnTo>
                  <a:lnTo>
                    <a:pt x="194417" y="690828"/>
                  </a:lnTo>
                  <a:lnTo>
                    <a:pt x="234291" y="709116"/>
                  </a:lnTo>
                  <a:lnTo>
                    <a:pt x="276559" y="722603"/>
                  </a:lnTo>
                  <a:lnTo>
                    <a:pt x="320878" y="730948"/>
                  </a:lnTo>
                  <a:lnTo>
                    <a:pt x="366903" y="733805"/>
                  </a:lnTo>
                  <a:lnTo>
                    <a:pt x="412937" y="730948"/>
                  </a:lnTo>
                  <a:lnTo>
                    <a:pt x="457262" y="722603"/>
                  </a:lnTo>
                  <a:lnTo>
                    <a:pt x="499535" y="709116"/>
                  </a:lnTo>
                  <a:lnTo>
                    <a:pt x="539411" y="690828"/>
                  </a:lnTo>
                  <a:lnTo>
                    <a:pt x="576547" y="668084"/>
                  </a:lnTo>
                  <a:lnTo>
                    <a:pt x="610600" y="641227"/>
                  </a:lnTo>
                  <a:lnTo>
                    <a:pt x="641227" y="610600"/>
                  </a:lnTo>
                  <a:lnTo>
                    <a:pt x="668084" y="576547"/>
                  </a:lnTo>
                  <a:lnTo>
                    <a:pt x="690828" y="539411"/>
                  </a:lnTo>
                  <a:lnTo>
                    <a:pt x="709116" y="499535"/>
                  </a:lnTo>
                  <a:lnTo>
                    <a:pt x="722603" y="457262"/>
                  </a:lnTo>
                  <a:lnTo>
                    <a:pt x="730948" y="412937"/>
                  </a:lnTo>
                  <a:lnTo>
                    <a:pt x="733806" y="366902"/>
                  </a:lnTo>
                  <a:lnTo>
                    <a:pt x="730948" y="320868"/>
                  </a:lnTo>
                  <a:lnTo>
                    <a:pt x="722603" y="276543"/>
                  </a:lnTo>
                  <a:lnTo>
                    <a:pt x="709116" y="234270"/>
                  </a:lnTo>
                  <a:lnTo>
                    <a:pt x="690828" y="194394"/>
                  </a:lnTo>
                  <a:lnTo>
                    <a:pt x="668084" y="157258"/>
                  </a:lnTo>
                  <a:lnTo>
                    <a:pt x="641227" y="123205"/>
                  </a:lnTo>
                  <a:lnTo>
                    <a:pt x="610600" y="92578"/>
                  </a:lnTo>
                  <a:lnTo>
                    <a:pt x="576547" y="65721"/>
                  </a:lnTo>
                  <a:lnTo>
                    <a:pt x="539411" y="42977"/>
                  </a:lnTo>
                  <a:lnTo>
                    <a:pt x="499535" y="24689"/>
                  </a:lnTo>
                  <a:lnTo>
                    <a:pt x="457262" y="11202"/>
                  </a:lnTo>
                  <a:lnTo>
                    <a:pt x="412937" y="2857"/>
                  </a:lnTo>
                  <a:lnTo>
                    <a:pt x="366903" y="0"/>
                  </a:lnTo>
                  <a:close/>
                </a:path>
              </a:pathLst>
            </a:custGeom>
            <a:solidFill>
              <a:srgbClr val="FFFFFF"/>
            </a:solidFill>
          </p:spPr>
          <p:txBody>
            <a:bodyPr wrap="square" lIns="0" tIns="0" rIns="0" bIns="0" rtlCol="0"/>
            <a:lstStyle/>
            <a:p>
              <a:endParaRPr/>
            </a:p>
          </p:txBody>
        </p:sp>
        <p:sp>
          <p:nvSpPr>
            <p:cNvPr id="31" name="object 31"/>
            <p:cNvSpPr/>
            <p:nvPr/>
          </p:nvSpPr>
          <p:spPr>
            <a:xfrm>
              <a:off x="868298" y="4584573"/>
              <a:ext cx="734060" cy="734060"/>
            </a:xfrm>
            <a:custGeom>
              <a:avLst/>
              <a:gdLst/>
              <a:ahLst/>
              <a:cxnLst/>
              <a:rect l="l" t="t" r="r" b="b"/>
              <a:pathLst>
                <a:path w="734060" h="734060">
                  <a:moveTo>
                    <a:pt x="0" y="366902"/>
                  </a:moveTo>
                  <a:lnTo>
                    <a:pt x="2858" y="320868"/>
                  </a:lnTo>
                  <a:lnTo>
                    <a:pt x="11205" y="276543"/>
                  </a:lnTo>
                  <a:lnTo>
                    <a:pt x="24695" y="234270"/>
                  </a:lnTo>
                  <a:lnTo>
                    <a:pt x="42987" y="194394"/>
                  </a:lnTo>
                  <a:lnTo>
                    <a:pt x="65735" y="157258"/>
                  </a:lnTo>
                  <a:lnTo>
                    <a:pt x="92595" y="123205"/>
                  </a:lnTo>
                  <a:lnTo>
                    <a:pt x="123225" y="92578"/>
                  </a:lnTo>
                  <a:lnTo>
                    <a:pt x="157280" y="65721"/>
                  </a:lnTo>
                  <a:lnTo>
                    <a:pt x="194417" y="42977"/>
                  </a:lnTo>
                  <a:lnTo>
                    <a:pt x="234291" y="24689"/>
                  </a:lnTo>
                  <a:lnTo>
                    <a:pt x="276559" y="11202"/>
                  </a:lnTo>
                  <a:lnTo>
                    <a:pt x="320878" y="2857"/>
                  </a:lnTo>
                  <a:lnTo>
                    <a:pt x="366903" y="0"/>
                  </a:lnTo>
                  <a:lnTo>
                    <a:pt x="412937" y="2857"/>
                  </a:lnTo>
                  <a:lnTo>
                    <a:pt x="457262" y="11202"/>
                  </a:lnTo>
                  <a:lnTo>
                    <a:pt x="499535" y="24689"/>
                  </a:lnTo>
                  <a:lnTo>
                    <a:pt x="539411" y="42977"/>
                  </a:lnTo>
                  <a:lnTo>
                    <a:pt x="576547" y="65721"/>
                  </a:lnTo>
                  <a:lnTo>
                    <a:pt x="610600" y="92578"/>
                  </a:lnTo>
                  <a:lnTo>
                    <a:pt x="641227" y="123205"/>
                  </a:lnTo>
                  <a:lnTo>
                    <a:pt x="668084" y="157258"/>
                  </a:lnTo>
                  <a:lnTo>
                    <a:pt x="690828" y="194394"/>
                  </a:lnTo>
                  <a:lnTo>
                    <a:pt x="709116" y="234270"/>
                  </a:lnTo>
                  <a:lnTo>
                    <a:pt x="722603" y="276543"/>
                  </a:lnTo>
                  <a:lnTo>
                    <a:pt x="730948" y="320868"/>
                  </a:lnTo>
                  <a:lnTo>
                    <a:pt x="733806" y="366902"/>
                  </a:lnTo>
                  <a:lnTo>
                    <a:pt x="730948" y="412937"/>
                  </a:lnTo>
                  <a:lnTo>
                    <a:pt x="722603" y="457262"/>
                  </a:lnTo>
                  <a:lnTo>
                    <a:pt x="709116" y="499535"/>
                  </a:lnTo>
                  <a:lnTo>
                    <a:pt x="690828" y="539411"/>
                  </a:lnTo>
                  <a:lnTo>
                    <a:pt x="668084" y="576547"/>
                  </a:lnTo>
                  <a:lnTo>
                    <a:pt x="641227" y="610600"/>
                  </a:lnTo>
                  <a:lnTo>
                    <a:pt x="610600" y="641227"/>
                  </a:lnTo>
                  <a:lnTo>
                    <a:pt x="576547" y="668084"/>
                  </a:lnTo>
                  <a:lnTo>
                    <a:pt x="539411" y="690828"/>
                  </a:lnTo>
                  <a:lnTo>
                    <a:pt x="499535" y="709116"/>
                  </a:lnTo>
                  <a:lnTo>
                    <a:pt x="457262" y="722603"/>
                  </a:lnTo>
                  <a:lnTo>
                    <a:pt x="412937" y="730948"/>
                  </a:lnTo>
                  <a:lnTo>
                    <a:pt x="366903" y="733805"/>
                  </a:lnTo>
                  <a:lnTo>
                    <a:pt x="320878" y="730948"/>
                  </a:lnTo>
                  <a:lnTo>
                    <a:pt x="276559" y="722603"/>
                  </a:lnTo>
                  <a:lnTo>
                    <a:pt x="234291" y="709116"/>
                  </a:lnTo>
                  <a:lnTo>
                    <a:pt x="194417" y="690828"/>
                  </a:lnTo>
                  <a:lnTo>
                    <a:pt x="157280" y="668084"/>
                  </a:lnTo>
                  <a:lnTo>
                    <a:pt x="123225" y="641227"/>
                  </a:lnTo>
                  <a:lnTo>
                    <a:pt x="92595" y="610600"/>
                  </a:lnTo>
                  <a:lnTo>
                    <a:pt x="65735" y="576547"/>
                  </a:lnTo>
                  <a:lnTo>
                    <a:pt x="42987" y="539411"/>
                  </a:lnTo>
                  <a:lnTo>
                    <a:pt x="24695" y="499535"/>
                  </a:lnTo>
                  <a:lnTo>
                    <a:pt x="11205" y="457262"/>
                  </a:lnTo>
                  <a:lnTo>
                    <a:pt x="2858" y="412937"/>
                  </a:lnTo>
                  <a:lnTo>
                    <a:pt x="0" y="366902"/>
                  </a:lnTo>
                  <a:close/>
                </a:path>
              </a:pathLst>
            </a:custGeom>
            <a:ln w="25146">
              <a:solidFill>
                <a:srgbClr val="F79546"/>
              </a:solidFill>
            </a:ln>
          </p:spPr>
          <p:txBody>
            <a:bodyPr wrap="square" lIns="0" tIns="0" rIns="0" bIns="0" rtlCol="0"/>
            <a:lstStyle/>
            <a:p>
              <a:endParaRPr/>
            </a:p>
          </p:txBody>
        </p:sp>
        <p:sp>
          <p:nvSpPr>
            <p:cNvPr id="32" name="object 32"/>
            <p:cNvSpPr/>
            <p:nvPr/>
          </p:nvSpPr>
          <p:spPr>
            <a:xfrm>
              <a:off x="752475" y="5538597"/>
              <a:ext cx="8155940" cy="588010"/>
            </a:xfrm>
            <a:custGeom>
              <a:avLst/>
              <a:gdLst/>
              <a:ahLst/>
              <a:cxnLst/>
              <a:rect l="l" t="t" r="r" b="b"/>
              <a:pathLst>
                <a:path w="8155940" h="588010">
                  <a:moveTo>
                    <a:pt x="8155685" y="0"/>
                  </a:moveTo>
                  <a:lnTo>
                    <a:pt x="0" y="0"/>
                  </a:lnTo>
                  <a:lnTo>
                    <a:pt x="0" y="587501"/>
                  </a:lnTo>
                  <a:lnTo>
                    <a:pt x="8155685" y="587501"/>
                  </a:lnTo>
                  <a:lnTo>
                    <a:pt x="8155685" y="0"/>
                  </a:lnTo>
                  <a:close/>
                </a:path>
              </a:pathLst>
            </a:custGeom>
            <a:solidFill>
              <a:srgbClr val="C0504D"/>
            </a:solidFill>
          </p:spPr>
          <p:txBody>
            <a:bodyPr wrap="square" lIns="0" tIns="0" rIns="0" bIns="0" rtlCol="0"/>
            <a:lstStyle/>
            <a:p>
              <a:endParaRPr/>
            </a:p>
          </p:txBody>
        </p:sp>
        <p:sp>
          <p:nvSpPr>
            <p:cNvPr id="33" name="object 33"/>
            <p:cNvSpPr/>
            <p:nvPr/>
          </p:nvSpPr>
          <p:spPr>
            <a:xfrm>
              <a:off x="752475" y="5538597"/>
              <a:ext cx="8155940" cy="588010"/>
            </a:xfrm>
            <a:custGeom>
              <a:avLst/>
              <a:gdLst/>
              <a:ahLst/>
              <a:cxnLst/>
              <a:rect l="l" t="t" r="r" b="b"/>
              <a:pathLst>
                <a:path w="8155940" h="588010">
                  <a:moveTo>
                    <a:pt x="0" y="587501"/>
                  </a:moveTo>
                  <a:lnTo>
                    <a:pt x="8155685" y="587501"/>
                  </a:lnTo>
                  <a:lnTo>
                    <a:pt x="8155685" y="0"/>
                  </a:lnTo>
                  <a:lnTo>
                    <a:pt x="0" y="0"/>
                  </a:lnTo>
                  <a:lnTo>
                    <a:pt x="0" y="587501"/>
                  </a:lnTo>
                  <a:close/>
                </a:path>
              </a:pathLst>
            </a:custGeom>
            <a:ln w="25146">
              <a:solidFill>
                <a:srgbClr val="FFFFFF"/>
              </a:solidFill>
            </a:ln>
          </p:spPr>
          <p:txBody>
            <a:bodyPr wrap="square" lIns="0" tIns="0" rIns="0" bIns="0" rtlCol="0"/>
            <a:lstStyle/>
            <a:p>
              <a:endParaRPr/>
            </a:p>
          </p:txBody>
        </p:sp>
      </p:grpSp>
      <p:sp>
        <p:nvSpPr>
          <p:cNvPr id="34" name="object 34"/>
          <p:cNvSpPr txBox="1"/>
          <p:nvPr/>
        </p:nvSpPr>
        <p:spPr>
          <a:xfrm>
            <a:off x="1205230" y="4622850"/>
            <a:ext cx="7670165" cy="1301115"/>
          </a:xfrm>
          <a:prstGeom prst="rect">
            <a:avLst/>
          </a:prstGeom>
        </p:spPr>
        <p:txBody>
          <a:bodyPr vert="horz" wrap="square" lIns="0" tIns="12700" rIns="0" bIns="0" rtlCol="0">
            <a:spAutoFit/>
          </a:bodyPr>
          <a:lstStyle/>
          <a:p>
            <a:pPr marL="495934" marR="5080">
              <a:lnSpc>
                <a:spcPct val="107800"/>
              </a:lnSpc>
              <a:spcBef>
                <a:spcPts val="100"/>
              </a:spcBef>
            </a:pPr>
            <a:r>
              <a:rPr sz="1600" spc="10" dirty="0">
                <a:solidFill>
                  <a:srgbClr val="FFFFFF"/>
                </a:solidFill>
                <a:latin typeface="Arial"/>
                <a:cs typeface="Arial"/>
              </a:rPr>
              <a:t>Similarly,</a:t>
            </a:r>
            <a:r>
              <a:rPr sz="1600" spc="-114" dirty="0">
                <a:solidFill>
                  <a:srgbClr val="FFFFFF"/>
                </a:solidFill>
                <a:latin typeface="Arial"/>
                <a:cs typeface="Arial"/>
              </a:rPr>
              <a:t> </a:t>
            </a:r>
            <a:r>
              <a:rPr sz="1600" dirty="0">
                <a:solidFill>
                  <a:srgbClr val="FFFFFF"/>
                </a:solidFill>
                <a:latin typeface="Arial"/>
                <a:cs typeface="Arial"/>
              </a:rPr>
              <a:t>when</a:t>
            </a:r>
            <a:r>
              <a:rPr sz="1600" spc="-100" dirty="0">
                <a:solidFill>
                  <a:srgbClr val="FFFFFF"/>
                </a:solidFill>
                <a:latin typeface="Arial"/>
                <a:cs typeface="Arial"/>
              </a:rPr>
              <a:t> </a:t>
            </a:r>
            <a:r>
              <a:rPr sz="1600" spc="-155" dirty="0">
                <a:solidFill>
                  <a:srgbClr val="FFFFFF"/>
                </a:solidFill>
                <a:latin typeface="Arial"/>
                <a:cs typeface="Arial"/>
              </a:rPr>
              <a:t>a</a:t>
            </a:r>
            <a:r>
              <a:rPr sz="1600" spc="-105" dirty="0">
                <a:solidFill>
                  <a:srgbClr val="FFFFFF"/>
                </a:solidFill>
                <a:latin typeface="Arial"/>
                <a:cs typeface="Arial"/>
              </a:rPr>
              <a:t> </a:t>
            </a:r>
            <a:r>
              <a:rPr sz="1600" spc="-30" dirty="0">
                <a:solidFill>
                  <a:srgbClr val="FFFFFF"/>
                </a:solidFill>
                <a:latin typeface="Arial"/>
                <a:cs typeface="Arial"/>
              </a:rPr>
              <a:t>called</a:t>
            </a:r>
            <a:r>
              <a:rPr sz="1600" spc="-114" dirty="0">
                <a:solidFill>
                  <a:srgbClr val="FFFFFF"/>
                </a:solidFill>
                <a:latin typeface="Arial"/>
                <a:cs typeface="Arial"/>
              </a:rPr>
              <a:t> </a:t>
            </a:r>
            <a:r>
              <a:rPr sz="1600" spc="-25" dirty="0">
                <a:solidFill>
                  <a:srgbClr val="FFFFFF"/>
                </a:solidFill>
                <a:latin typeface="Arial"/>
                <a:cs typeface="Arial"/>
              </a:rPr>
              <a:t>procedure</a:t>
            </a:r>
            <a:r>
              <a:rPr sz="1600" spc="-110" dirty="0">
                <a:solidFill>
                  <a:srgbClr val="FFFFFF"/>
                </a:solidFill>
                <a:latin typeface="Arial"/>
                <a:cs typeface="Arial"/>
              </a:rPr>
              <a:t> </a:t>
            </a:r>
            <a:r>
              <a:rPr sz="1600" spc="-40" dirty="0">
                <a:solidFill>
                  <a:srgbClr val="FFFFFF"/>
                </a:solidFill>
                <a:latin typeface="Arial"/>
                <a:cs typeface="Arial"/>
              </a:rPr>
              <a:t>completes</a:t>
            </a:r>
            <a:r>
              <a:rPr sz="1600" spc="-100" dirty="0">
                <a:solidFill>
                  <a:srgbClr val="FFFFFF"/>
                </a:solidFill>
                <a:latin typeface="Arial"/>
                <a:cs typeface="Arial"/>
              </a:rPr>
              <a:t> </a:t>
            </a:r>
            <a:r>
              <a:rPr sz="1600" spc="10" dirty="0">
                <a:solidFill>
                  <a:srgbClr val="FFFFFF"/>
                </a:solidFill>
                <a:latin typeface="Arial"/>
                <a:cs typeface="Arial"/>
              </a:rPr>
              <a:t>its</a:t>
            </a:r>
            <a:r>
              <a:rPr sz="1600" spc="-100" dirty="0">
                <a:solidFill>
                  <a:srgbClr val="FFFFFF"/>
                </a:solidFill>
                <a:latin typeface="Arial"/>
                <a:cs typeface="Arial"/>
              </a:rPr>
              <a:t> </a:t>
            </a:r>
            <a:r>
              <a:rPr sz="1600" spc="-5" dirty="0">
                <a:solidFill>
                  <a:srgbClr val="FFFFFF"/>
                </a:solidFill>
                <a:latin typeface="Arial"/>
                <a:cs typeface="Arial"/>
              </a:rPr>
              <a:t>execution</a:t>
            </a:r>
            <a:r>
              <a:rPr sz="1600" spc="-105" dirty="0">
                <a:solidFill>
                  <a:srgbClr val="FFFFFF"/>
                </a:solidFill>
                <a:latin typeface="Arial"/>
                <a:cs typeface="Arial"/>
              </a:rPr>
              <a:t> </a:t>
            </a:r>
            <a:r>
              <a:rPr sz="1600" spc="-30" dirty="0">
                <a:solidFill>
                  <a:srgbClr val="FFFFFF"/>
                </a:solidFill>
                <a:latin typeface="Arial"/>
                <a:cs typeface="Arial"/>
              </a:rPr>
              <a:t>and</a:t>
            </a:r>
            <a:r>
              <a:rPr sz="1600" spc="-100" dirty="0">
                <a:solidFill>
                  <a:srgbClr val="FFFFFF"/>
                </a:solidFill>
                <a:latin typeface="Arial"/>
                <a:cs typeface="Arial"/>
              </a:rPr>
              <a:t> </a:t>
            </a:r>
            <a:r>
              <a:rPr sz="1600" spc="-140" dirty="0">
                <a:solidFill>
                  <a:srgbClr val="FFFFFF"/>
                </a:solidFill>
                <a:latin typeface="Arial"/>
                <a:cs typeface="Arial"/>
              </a:rPr>
              <a:t>passes</a:t>
            </a:r>
            <a:r>
              <a:rPr sz="1600" spc="-100" dirty="0">
                <a:solidFill>
                  <a:srgbClr val="FFFFFF"/>
                </a:solidFill>
                <a:latin typeface="Arial"/>
                <a:cs typeface="Arial"/>
              </a:rPr>
              <a:t> </a:t>
            </a:r>
            <a:r>
              <a:rPr sz="1600" spc="30" dirty="0">
                <a:solidFill>
                  <a:srgbClr val="FFFFFF"/>
                </a:solidFill>
                <a:latin typeface="Arial"/>
                <a:cs typeface="Arial"/>
              </a:rPr>
              <a:t>control</a:t>
            </a:r>
            <a:r>
              <a:rPr sz="1600" spc="-105" dirty="0">
                <a:solidFill>
                  <a:srgbClr val="FFFFFF"/>
                </a:solidFill>
                <a:latin typeface="Arial"/>
                <a:cs typeface="Arial"/>
              </a:rPr>
              <a:t> </a:t>
            </a:r>
            <a:r>
              <a:rPr sz="1600" spc="-45" dirty="0">
                <a:solidFill>
                  <a:srgbClr val="FFFFFF"/>
                </a:solidFill>
                <a:latin typeface="Arial"/>
                <a:cs typeface="Arial"/>
              </a:rPr>
              <a:t>back  </a:t>
            </a:r>
            <a:r>
              <a:rPr sz="1600" spc="40" dirty="0">
                <a:solidFill>
                  <a:srgbClr val="FFFFFF"/>
                </a:solidFill>
                <a:latin typeface="Arial"/>
                <a:cs typeface="Arial"/>
              </a:rPr>
              <a:t>to</a:t>
            </a:r>
            <a:r>
              <a:rPr sz="1600" spc="-105" dirty="0">
                <a:solidFill>
                  <a:srgbClr val="FFFFFF"/>
                </a:solidFill>
                <a:latin typeface="Arial"/>
                <a:cs typeface="Arial"/>
              </a:rPr>
              <a:t> </a:t>
            </a:r>
            <a:r>
              <a:rPr sz="1600" dirty="0">
                <a:solidFill>
                  <a:srgbClr val="FFFFFF"/>
                </a:solidFill>
                <a:latin typeface="Arial"/>
                <a:cs typeface="Arial"/>
              </a:rPr>
              <a:t>the</a:t>
            </a:r>
            <a:r>
              <a:rPr sz="1600" spc="-105" dirty="0">
                <a:solidFill>
                  <a:srgbClr val="FFFFFF"/>
                </a:solidFill>
                <a:latin typeface="Arial"/>
                <a:cs typeface="Arial"/>
              </a:rPr>
              <a:t> </a:t>
            </a:r>
            <a:r>
              <a:rPr sz="1600" dirty="0">
                <a:solidFill>
                  <a:srgbClr val="FFFFFF"/>
                </a:solidFill>
                <a:latin typeface="Arial"/>
                <a:cs typeface="Arial"/>
              </a:rPr>
              <a:t>calling</a:t>
            </a:r>
            <a:r>
              <a:rPr sz="1600" spc="-125" dirty="0">
                <a:solidFill>
                  <a:srgbClr val="FFFFFF"/>
                </a:solidFill>
                <a:latin typeface="Arial"/>
                <a:cs typeface="Arial"/>
              </a:rPr>
              <a:t> </a:t>
            </a:r>
            <a:r>
              <a:rPr sz="1600" spc="-25" dirty="0">
                <a:solidFill>
                  <a:srgbClr val="FFFFFF"/>
                </a:solidFill>
                <a:latin typeface="Arial"/>
                <a:cs typeface="Arial"/>
              </a:rPr>
              <a:t>procedure,</a:t>
            </a:r>
            <a:r>
              <a:rPr sz="1600" spc="-110" dirty="0">
                <a:solidFill>
                  <a:srgbClr val="FFFFFF"/>
                </a:solidFill>
                <a:latin typeface="Arial"/>
                <a:cs typeface="Arial"/>
              </a:rPr>
              <a:t> </a:t>
            </a:r>
            <a:r>
              <a:rPr sz="1600" dirty="0">
                <a:solidFill>
                  <a:srgbClr val="FFFFFF"/>
                </a:solidFill>
                <a:latin typeface="Arial"/>
                <a:cs typeface="Arial"/>
              </a:rPr>
              <a:t>the</a:t>
            </a:r>
            <a:r>
              <a:rPr sz="1600" spc="-105" dirty="0">
                <a:solidFill>
                  <a:srgbClr val="FFFFFF"/>
                </a:solidFill>
                <a:latin typeface="Arial"/>
                <a:cs typeface="Arial"/>
              </a:rPr>
              <a:t> </a:t>
            </a:r>
            <a:r>
              <a:rPr sz="1600" spc="-15" dirty="0">
                <a:solidFill>
                  <a:srgbClr val="FFFFFF"/>
                </a:solidFill>
                <a:latin typeface="Arial"/>
                <a:cs typeface="Arial"/>
              </a:rPr>
              <a:t>level</a:t>
            </a:r>
            <a:r>
              <a:rPr sz="1600" spc="-114" dirty="0">
                <a:solidFill>
                  <a:srgbClr val="FFFFFF"/>
                </a:solidFill>
                <a:latin typeface="Arial"/>
                <a:cs typeface="Arial"/>
              </a:rPr>
              <a:t> </a:t>
            </a:r>
            <a:r>
              <a:rPr sz="1600" spc="45" dirty="0">
                <a:solidFill>
                  <a:srgbClr val="FFFFFF"/>
                </a:solidFill>
                <a:latin typeface="Arial"/>
                <a:cs typeface="Arial"/>
              </a:rPr>
              <a:t>of</a:t>
            </a:r>
            <a:r>
              <a:rPr sz="1600" spc="-100" dirty="0">
                <a:solidFill>
                  <a:srgbClr val="FFFFFF"/>
                </a:solidFill>
                <a:latin typeface="Arial"/>
                <a:cs typeface="Arial"/>
              </a:rPr>
              <a:t> </a:t>
            </a:r>
            <a:r>
              <a:rPr sz="1600" spc="-15" dirty="0">
                <a:solidFill>
                  <a:srgbClr val="FFFFFF"/>
                </a:solidFill>
                <a:latin typeface="Arial"/>
                <a:cs typeface="Arial"/>
              </a:rPr>
              <a:t>nesting</a:t>
            </a:r>
            <a:r>
              <a:rPr sz="1600" spc="-114" dirty="0">
                <a:solidFill>
                  <a:srgbClr val="FFFFFF"/>
                </a:solidFill>
                <a:latin typeface="Arial"/>
                <a:cs typeface="Arial"/>
              </a:rPr>
              <a:t> </a:t>
            </a:r>
            <a:r>
              <a:rPr sz="1600" spc="-40" dirty="0">
                <a:solidFill>
                  <a:srgbClr val="FFFFFF"/>
                </a:solidFill>
                <a:latin typeface="Arial"/>
                <a:cs typeface="Arial"/>
              </a:rPr>
              <a:t>is</a:t>
            </a:r>
            <a:r>
              <a:rPr sz="1600" spc="-105" dirty="0">
                <a:solidFill>
                  <a:srgbClr val="FFFFFF"/>
                </a:solidFill>
                <a:latin typeface="Arial"/>
                <a:cs typeface="Arial"/>
              </a:rPr>
              <a:t> </a:t>
            </a:r>
            <a:r>
              <a:rPr sz="1600" spc="-55" dirty="0">
                <a:solidFill>
                  <a:srgbClr val="FFFFFF"/>
                </a:solidFill>
                <a:latin typeface="Arial"/>
                <a:cs typeface="Arial"/>
              </a:rPr>
              <a:t>said</a:t>
            </a:r>
            <a:r>
              <a:rPr sz="1600" spc="-110" dirty="0">
                <a:solidFill>
                  <a:srgbClr val="FFFFFF"/>
                </a:solidFill>
                <a:latin typeface="Arial"/>
                <a:cs typeface="Arial"/>
              </a:rPr>
              <a:t> </a:t>
            </a:r>
            <a:r>
              <a:rPr sz="1600" spc="40" dirty="0">
                <a:solidFill>
                  <a:srgbClr val="FFFFFF"/>
                </a:solidFill>
                <a:latin typeface="Arial"/>
                <a:cs typeface="Arial"/>
              </a:rPr>
              <a:t>to</a:t>
            </a:r>
            <a:r>
              <a:rPr sz="1600" spc="-105" dirty="0">
                <a:solidFill>
                  <a:srgbClr val="FFFFFF"/>
                </a:solidFill>
                <a:latin typeface="Arial"/>
                <a:cs typeface="Arial"/>
              </a:rPr>
              <a:t> </a:t>
            </a:r>
            <a:r>
              <a:rPr sz="1600" spc="-80" dirty="0">
                <a:solidFill>
                  <a:srgbClr val="FFFFFF"/>
                </a:solidFill>
                <a:latin typeface="Arial"/>
                <a:cs typeface="Arial"/>
              </a:rPr>
              <a:t>be</a:t>
            </a:r>
            <a:r>
              <a:rPr sz="1600" spc="-105" dirty="0">
                <a:solidFill>
                  <a:srgbClr val="FFFFFF"/>
                </a:solidFill>
                <a:latin typeface="Arial"/>
                <a:cs typeface="Arial"/>
              </a:rPr>
              <a:t> </a:t>
            </a:r>
            <a:r>
              <a:rPr sz="1600" spc="-85" dirty="0">
                <a:solidFill>
                  <a:srgbClr val="FFFFFF"/>
                </a:solidFill>
                <a:latin typeface="Arial"/>
                <a:cs typeface="Arial"/>
              </a:rPr>
              <a:t>decreased</a:t>
            </a:r>
            <a:r>
              <a:rPr sz="1600" spc="-110" dirty="0">
                <a:solidFill>
                  <a:srgbClr val="FFFFFF"/>
                </a:solidFill>
                <a:latin typeface="Arial"/>
                <a:cs typeface="Arial"/>
              </a:rPr>
              <a:t> </a:t>
            </a:r>
            <a:r>
              <a:rPr sz="1600" spc="-10" dirty="0">
                <a:solidFill>
                  <a:srgbClr val="FFFFFF"/>
                </a:solidFill>
                <a:latin typeface="Arial"/>
                <a:cs typeface="Arial"/>
              </a:rPr>
              <a:t>by</a:t>
            </a:r>
            <a:r>
              <a:rPr sz="1600" spc="-105" dirty="0">
                <a:solidFill>
                  <a:srgbClr val="FFFFFF"/>
                </a:solidFill>
                <a:latin typeface="Arial"/>
                <a:cs typeface="Arial"/>
              </a:rPr>
              <a:t> </a:t>
            </a:r>
            <a:r>
              <a:rPr sz="1600" spc="-40" dirty="0">
                <a:solidFill>
                  <a:srgbClr val="FFFFFF"/>
                </a:solidFill>
                <a:latin typeface="Arial"/>
                <a:cs typeface="Arial"/>
              </a:rPr>
              <a:t>one.</a:t>
            </a:r>
            <a:endParaRPr sz="1600">
              <a:latin typeface="Arial"/>
              <a:cs typeface="Arial"/>
            </a:endParaRPr>
          </a:p>
          <a:p>
            <a:pPr>
              <a:lnSpc>
                <a:spcPct val="100000"/>
              </a:lnSpc>
            </a:pPr>
            <a:endParaRPr sz="2300">
              <a:latin typeface="Arial"/>
              <a:cs typeface="Arial"/>
            </a:endParaRPr>
          </a:p>
          <a:p>
            <a:pPr marL="12700">
              <a:lnSpc>
                <a:spcPct val="100000"/>
              </a:lnSpc>
              <a:spcBef>
                <a:spcPts val="1335"/>
              </a:spcBef>
            </a:pPr>
            <a:r>
              <a:rPr sz="1600" spc="20" dirty="0">
                <a:solidFill>
                  <a:srgbClr val="FFFFFF"/>
                </a:solidFill>
                <a:latin typeface="Arial"/>
                <a:cs typeface="Arial"/>
              </a:rPr>
              <a:t>The</a:t>
            </a:r>
            <a:r>
              <a:rPr sz="1600" spc="-120" dirty="0">
                <a:solidFill>
                  <a:srgbClr val="FFFFFF"/>
                </a:solidFill>
                <a:latin typeface="Arial"/>
                <a:cs typeface="Arial"/>
              </a:rPr>
              <a:t> </a:t>
            </a:r>
            <a:r>
              <a:rPr sz="1600" spc="5" dirty="0">
                <a:solidFill>
                  <a:srgbClr val="FFFFFF"/>
                </a:solidFill>
                <a:latin typeface="Arial"/>
                <a:cs typeface="Arial"/>
              </a:rPr>
              <a:t>maximum</a:t>
            </a:r>
            <a:r>
              <a:rPr sz="1600" spc="-110" dirty="0">
                <a:solidFill>
                  <a:srgbClr val="FFFFFF"/>
                </a:solidFill>
                <a:latin typeface="Arial"/>
                <a:cs typeface="Arial"/>
              </a:rPr>
              <a:t> </a:t>
            </a:r>
            <a:r>
              <a:rPr sz="1600" spc="-15" dirty="0">
                <a:solidFill>
                  <a:srgbClr val="FFFFFF"/>
                </a:solidFill>
                <a:latin typeface="Arial"/>
                <a:cs typeface="Arial"/>
              </a:rPr>
              <a:t>level</a:t>
            </a:r>
            <a:r>
              <a:rPr sz="1600" spc="-105" dirty="0">
                <a:solidFill>
                  <a:srgbClr val="FFFFFF"/>
                </a:solidFill>
                <a:latin typeface="Arial"/>
                <a:cs typeface="Arial"/>
              </a:rPr>
              <a:t> </a:t>
            </a:r>
            <a:r>
              <a:rPr sz="1600" spc="45" dirty="0">
                <a:solidFill>
                  <a:srgbClr val="FFFFFF"/>
                </a:solidFill>
                <a:latin typeface="Arial"/>
                <a:cs typeface="Arial"/>
              </a:rPr>
              <a:t>of</a:t>
            </a:r>
            <a:r>
              <a:rPr sz="1600" spc="-114" dirty="0">
                <a:solidFill>
                  <a:srgbClr val="FFFFFF"/>
                </a:solidFill>
                <a:latin typeface="Arial"/>
                <a:cs typeface="Arial"/>
              </a:rPr>
              <a:t> </a:t>
            </a:r>
            <a:r>
              <a:rPr sz="1600" spc="-15" dirty="0">
                <a:solidFill>
                  <a:srgbClr val="FFFFFF"/>
                </a:solidFill>
                <a:latin typeface="Arial"/>
                <a:cs typeface="Arial"/>
              </a:rPr>
              <a:t>nesting</a:t>
            </a:r>
            <a:r>
              <a:rPr sz="1600" spc="-105" dirty="0">
                <a:solidFill>
                  <a:srgbClr val="FFFFFF"/>
                </a:solidFill>
                <a:latin typeface="Arial"/>
                <a:cs typeface="Arial"/>
              </a:rPr>
              <a:t> </a:t>
            </a:r>
            <a:r>
              <a:rPr sz="1600" spc="-15" dirty="0">
                <a:solidFill>
                  <a:srgbClr val="FFFFFF"/>
                </a:solidFill>
                <a:latin typeface="Arial"/>
                <a:cs typeface="Arial"/>
              </a:rPr>
              <a:t>supported</a:t>
            </a:r>
            <a:r>
              <a:rPr sz="1600" spc="-105" dirty="0">
                <a:solidFill>
                  <a:srgbClr val="FFFFFF"/>
                </a:solidFill>
                <a:latin typeface="Arial"/>
                <a:cs typeface="Arial"/>
              </a:rPr>
              <a:t> </a:t>
            </a:r>
            <a:r>
              <a:rPr sz="1600" spc="-10" dirty="0">
                <a:solidFill>
                  <a:srgbClr val="FFFFFF"/>
                </a:solidFill>
                <a:latin typeface="Arial"/>
                <a:cs typeface="Arial"/>
              </a:rPr>
              <a:t>by</a:t>
            </a:r>
            <a:r>
              <a:rPr sz="1600" spc="-105" dirty="0">
                <a:solidFill>
                  <a:srgbClr val="FFFFFF"/>
                </a:solidFill>
                <a:latin typeface="Arial"/>
                <a:cs typeface="Arial"/>
              </a:rPr>
              <a:t> </a:t>
            </a:r>
            <a:r>
              <a:rPr sz="1600" spc="20" dirty="0">
                <a:solidFill>
                  <a:srgbClr val="FFFFFF"/>
                </a:solidFill>
                <a:latin typeface="Arial"/>
                <a:cs typeface="Arial"/>
              </a:rPr>
              <a:t>SQL</a:t>
            </a:r>
            <a:r>
              <a:rPr sz="1600" spc="-105" dirty="0">
                <a:solidFill>
                  <a:srgbClr val="FFFFFF"/>
                </a:solidFill>
                <a:latin typeface="Arial"/>
                <a:cs typeface="Arial"/>
              </a:rPr>
              <a:t> </a:t>
            </a:r>
            <a:r>
              <a:rPr sz="1600" spc="-40" dirty="0">
                <a:solidFill>
                  <a:srgbClr val="FFFFFF"/>
                </a:solidFill>
                <a:latin typeface="Arial"/>
                <a:cs typeface="Arial"/>
              </a:rPr>
              <a:t>Server</a:t>
            </a:r>
            <a:r>
              <a:rPr sz="1600" spc="-105" dirty="0">
                <a:solidFill>
                  <a:srgbClr val="FFFFFF"/>
                </a:solidFill>
                <a:latin typeface="Arial"/>
                <a:cs typeface="Arial"/>
              </a:rPr>
              <a:t> </a:t>
            </a:r>
            <a:r>
              <a:rPr sz="1600" spc="-160" dirty="0">
                <a:solidFill>
                  <a:srgbClr val="FFFFFF"/>
                </a:solidFill>
                <a:latin typeface="Arial"/>
                <a:cs typeface="Arial"/>
              </a:rPr>
              <a:t>2019</a:t>
            </a:r>
            <a:r>
              <a:rPr sz="1600" spc="-110" dirty="0">
                <a:solidFill>
                  <a:srgbClr val="FFFFFF"/>
                </a:solidFill>
                <a:latin typeface="Arial"/>
                <a:cs typeface="Arial"/>
              </a:rPr>
              <a:t> </a:t>
            </a:r>
            <a:r>
              <a:rPr sz="1600" spc="-40" dirty="0">
                <a:solidFill>
                  <a:srgbClr val="FFFFFF"/>
                </a:solidFill>
                <a:latin typeface="Arial"/>
                <a:cs typeface="Arial"/>
              </a:rPr>
              <a:t>is</a:t>
            </a:r>
            <a:r>
              <a:rPr sz="1600" spc="-105" dirty="0">
                <a:solidFill>
                  <a:srgbClr val="FFFFFF"/>
                </a:solidFill>
                <a:latin typeface="Arial"/>
                <a:cs typeface="Arial"/>
              </a:rPr>
              <a:t> </a:t>
            </a:r>
            <a:r>
              <a:rPr sz="1600" spc="-145" dirty="0">
                <a:solidFill>
                  <a:srgbClr val="FFFFFF"/>
                </a:solidFill>
                <a:latin typeface="Arial"/>
                <a:cs typeface="Arial"/>
              </a:rPr>
              <a:t>32.</a:t>
            </a:r>
            <a:endParaRPr sz="1600">
              <a:latin typeface="Arial"/>
              <a:cs typeface="Arial"/>
            </a:endParaRPr>
          </a:p>
        </p:txBody>
      </p:sp>
      <p:grpSp>
        <p:nvGrpSpPr>
          <p:cNvPr id="35" name="object 35"/>
          <p:cNvGrpSpPr/>
          <p:nvPr/>
        </p:nvGrpSpPr>
        <p:grpSpPr>
          <a:xfrm>
            <a:off x="372618" y="5452871"/>
            <a:ext cx="759460" cy="759460"/>
            <a:chOff x="372618" y="5452871"/>
            <a:chExt cx="759460" cy="759460"/>
          </a:xfrm>
        </p:grpSpPr>
        <p:sp>
          <p:nvSpPr>
            <p:cNvPr id="36" name="object 36"/>
            <p:cNvSpPr/>
            <p:nvPr/>
          </p:nvSpPr>
          <p:spPr>
            <a:xfrm>
              <a:off x="385191" y="5465444"/>
              <a:ext cx="734060" cy="734060"/>
            </a:xfrm>
            <a:custGeom>
              <a:avLst/>
              <a:gdLst/>
              <a:ahLst/>
              <a:cxnLst/>
              <a:rect l="l" t="t" r="r" b="b"/>
              <a:pathLst>
                <a:path w="734060" h="734060">
                  <a:moveTo>
                    <a:pt x="366903" y="0"/>
                  </a:moveTo>
                  <a:lnTo>
                    <a:pt x="320878" y="2858"/>
                  </a:lnTo>
                  <a:lnTo>
                    <a:pt x="276559" y="11205"/>
                  </a:lnTo>
                  <a:lnTo>
                    <a:pt x="234291" y="24695"/>
                  </a:lnTo>
                  <a:lnTo>
                    <a:pt x="194417" y="42987"/>
                  </a:lnTo>
                  <a:lnTo>
                    <a:pt x="157280" y="65735"/>
                  </a:lnTo>
                  <a:lnTo>
                    <a:pt x="123225" y="92595"/>
                  </a:lnTo>
                  <a:lnTo>
                    <a:pt x="92595" y="123225"/>
                  </a:lnTo>
                  <a:lnTo>
                    <a:pt x="65735" y="157280"/>
                  </a:lnTo>
                  <a:lnTo>
                    <a:pt x="42987" y="194417"/>
                  </a:lnTo>
                  <a:lnTo>
                    <a:pt x="24695" y="234291"/>
                  </a:lnTo>
                  <a:lnTo>
                    <a:pt x="11205" y="276559"/>
                  </a:lnTo>
                  <a:lnTo>
                    <a:pt x="2858" y="320878"/>
                  </a:lnTo>
                  <a:lnTo>
                    <a:pt x="0" y="366902"/>
                  </a:lnTo>
                  <a:lnTo>
                    <a:pt x="2858" y="412925"/>
                  </a:lnTo>
                  <a:lnTo>
                    <a:pt x="11205" y="457241"/>
                  </a:lnTo>
                  <a:lnTo>
                    <a:pt x="24695" y="499509"/>
                  </a:lnTo>
                  <a:lnTo>
                    <a:pt x="42987" y="539383"/>
                  </a:lnTo>
                  <a:lnTo>
                    <a:pt x="65735" y="576519"/>
                  </a:lnTo>
                  <a:lnTo>
                    <a:pt x="92595" y="610575"/>
                  </a:lnTo>
                  <a:lnTo>
                    <a:pt x="123225" y="641205"/>
                  </a:lnTo>
                  <a:lnTo>
                    <a:pt x="157280" y="668067"/>
                  </a:lnTo>
                  <a:lnTo>
                    <a:pt x="194417" y="690816"/>
                  </a:lnTo>
                  <a:lnTo>
                    <a:pt x="234291" y="709108"/>
                  </a:lnTo>
                  <a:lnTo>
                    <a:pt x="276559" y="722600"/>
                  </a:lnTo>
                  <a:lnTo>
                    <a:pt x="320878" y="730947"/>
                  </a:lnTo>
                  <a:lnTo>
                    <a:pt x="366903" y="733805"/>
                  </a:lnTo>
                  <a:lnTo>
                    <a:pt x="412927" y="730947"/>
                  </a:lnTo>
                  <a:lnTo>
                    <a:pt x="457246" y="722600"/>
                  </a:lnTo>
                  <a:lnTo>
                    <a:pt x="499514" y="709108"/>
                  </a:lnTo>
                  <a:lnTo>
                    <a:pt x="539388" y="690816"/>
                  </a:lnTo>
                  <a:lnTo>
                    <a:pt x="576525" y="668067"/>
                  </a:lnTo>
                  <a:lnTo>
                    <a:pt x="610580" y="641205"/>
                  </a:lnTo>
                  <a:lnTo>
                    <a:pt x="641210" y="610575"/>
                  </a:lnTo>
                  <a:lnTo>
                    <a:pt x="668070" y="576519"/>
                  </a:lnTo>
                  <a:lnTo>
                    <a:pt x="690818" y="539383"/>
                  </a:lnTo>
                  <a:lnTo>
                    <a:pt x="709110" y="499509"/>
                  </a:lnTo>
                  <a:lnTo>
                    <a:pt x="722600" y="457241"/>
                  </a:lnTo>
                  <a:lnTo>
                    <a:pt x="730947" y="412925"/>
                  </a:lnTo>
                  <a:lnTo>
                    <a:pt x="733806" y="366902"/>
                  </a:lnTo>
                  <a:lnTo>
                    <a:pt x="730947" y="320878"/>
                  </a:lnTo>
                  <a:lnTo>
                    <a:pt x="722600" y="276559"/>
                  </a:lnTo>
                  <a:lnTo>
                    <a:pt x="709110" y="234291"/>
                  </a:lnTo>
                  <a:lnTo>
                    <a:pt x="690818" y="194417"/>
                  </a:lnTo>
                  <a:lnTo>
                    <a:pt x="668070" y="157280"/>
                  </a:lnTo>
                  <a:lnTo>
                    <a:pt x="641210" y="123225"/>
                  </a:lnTo>
                  <a:lnTo>
                    <a:pt x="610580" y="92595"/>
                  </a:lnTo>
                  <a:lnTo>
                    <a:pt x="576525" y="65735"/>
                  </a:lnTo>
                  <a:lnTo>
                    <a:pt x="539388" y="42987"/>
                  </a:lnTo>
                  <a:lnTo>
                    <a:pt x="499514" y="24695"/>
                  </a:lnTo>
                  <a:lnTo>
                    <a:pt x="457246" y="11205"/>
                  </a:lnTo>
                  <a:lnTo>
                    <a:pt x="412927" y="2858"/>
                  </a:lnTo>
                  <a:lnTo>
                    <a:pt x="366903" y="0"/>
                  </a:lnTo>
                  <a:close/>
                </a:path>
              </a:pathLst>
            </a:custGeom>
            <a:solidFill>
              <a:srgbClr val="FFFFFF"/>
            </a:solidFill>
          </p:spPr>
          <p:txBody>
            <a:bodyPr wrap="square" lIns="0" tIns="0" rIns="0" bIns="0" rtlCol="0"/>
            <a:lstStyle/>
            <a:p>
              <a:endParaRPr/>
            </a:p>
          </p:txBody>
        </p:sp>
        <p:sp>
          <p:nvSpPr>
            <p:cNvPr id="37" name="object 37"/>
            <p:cNvSpPr/>
            <p:nvPr/>
          </p:nvSpPr>
          <p:spPr>
            <a:xfrm>
              <a:off x="385191" y="5465444"/>
              <a:ext cx="734060" cy="734060"/>
            </a:xfrm>
            <a:custGeom>
              <a:avLst/>
              <a:gdLst/>
              <a:ahLst/>
              <a:cxnLst/>
              <a:rect l="l" t="t" r="r" b="b"/>
              <a:pathLst>
                <a:path w="734060" h="734060">
                  <a:moveTo>
                    <a:pt x="0" y="366902"/>
                  </a:moveTo>
                  <a:lnTo>
                    <a:pt x="2858" y="320878"/>
                  </a:lnTo>
                  <a:lnTo>
                    <a:pt x="11205" y="276559"/>
                  </a:lnTo>
                  <a:lnTo>
                    <a:pt x="24695" y="234291"/>
                  </a:lnTo>
                  <a:lnTo>
                    <a:pt x="42987" y="194417"/>
                  </a:lnTo>
                  <a:lnTo>
                    <a:pt x="65735" y="157280"/>
                  </a:lnTo>
                  <a:lnTo>
                    <a:pt x="92595" y="123225"/>
                  </a:lnTo>
                  <a:lnTo>
                    <a:pt x="123225" y="92595"/>
                  </a:lnTo>
                  <a:lnTo>
                    <a:pt x="157280" y="65735"/>
                  </a:lnTo>
                  <a:lnTo>
                    <a:pt x="194417" y="42987"/>
                  </a:lnTo>
                  <a:lnTo>
                    <a:pt x="234291" y="24695"/>
                  </a:lnTo>
                  <a:lnTo>
                    <a:pt x="276559" y="11205"/>
                  </a:lnTo>
                  <a:lnTo>
                    <a:pt x="320878" y="2858"/>
                  </a:lnTo>
                  <a:lnTo>
                    <a:pt x="366903" y="0"/>
                  </a:lnTo>
                  <a:lnTo>
                    <a:pt x="412927" y="2858"/>
                  </a:lnTo>
                  <a:lnTo>
                    <a:pt x="457246" y="11205"/>
                  </a:lnTo>
                  <a:lnTo>
                    <a:pt x="499514" y="24695"/>
                  </a:lnTo>
                  <a:lnTo>
                    <a:pt x="539388" y="42987"/>
                  </a:lnTo>
                  <a:lnTo>
                    <a:pt x="576525" y="65735"/>
                  </a:lnTo>
                  <a:lnTo>
                    <a:pt x="610580" y="92595"/>
                  </a:lnTo>
                  <a:lnTo>
                    <a:pt x="641210" y="123225"/>
                  </a:lnTo>
                  <a:lnTo>
                    <a:pt x="668070" y="157280"/>
                  </a:lnTo>
                  <a:lnTo>
                    <a:pt x="690818" y="194417"/>
                  </a:lnTo>
                  <a:lnTo>
                    <a:pt x="709110" y="234291"/>
                  </a:lnTo>
                  <a:lnTo>
                    <a:pt x="722600" y="276559"/>
                  </a:lnTo>
                  <a:lnTo>
                    <a:pt x="730947" y="320878"/>
                  </a:lnTo>
                  <a:lnTo>
                    <a:pt x="733806" y="366902"/>
                  </a:lnTo>
                  <a:lnTo>
                    <a:pt x="730947" y="412925"/>
                  </a:lnTo>
                  <a:lnTo>
                    <a:pt x="722600" y="457241"/>
                  </a:lnTo>
                  <a:lnTo>
                    <a:pt x="709110" y="499509"/>
                  </a:lnTo>
                  <a:lnTo>
                    <a:pt x="690818" y="539383"/>
                  </a:lnTo>
                  <a:lnTo>
                    <a:pt x="668070" y="576519"/>
                  </a:lnTo>
                  <a:lnTo>
                    <a:pt x="641210" y="610575"/>
                  </a:lnTo>
                  <a:lnTo>
                    <a:pt x="610580" y="641205"/>
                  </a:lnTo>
                  <a:lnTo>
                    <a:pt x="576525" y="668067"/>
                  </a:lnTo>
                  <a:lnTo>
                    <a:pt x="539388" y="690816"/>
                  </a:lnTo>
                  <a:lnTo>
                    <a:pt x="499514" y="709108"/>
                  </a:lnTo>
                  <a:lnTo>
                    <a:pt x="457246" y="722600"/>
                  </a:lnTo>
                  <a:lnTo>
                    <a:pt x="412927" y="730947"/>
                  </a:lnTo>
                  <a:lnTo>
                    <a:pt x="366903" y="733805"/>
                  </a:lnTo>
                  <a:lnTo>
                    <a:pt x="320878" y="730947"/>
                  </a:lnTo>
                  <a:lnTo>
                    <a:pt x="276559" y="722600"/>
                  </a:lnTo>
                  <a:lnTo>
                    <a:pt x="234291" y="709108"/>
                  </a:lnTo>
                  <a:lnTo>
                    <a:pt x="194417" y="690816"/>
                  </a:lnTo>
                  <a:lnTo>
                    <a:pt x="157280" y="668067"/>
                  </a:lnTo>
                  <a:lnTo>
                    <a:pt x="123225" y="641205"/>
                  </a:lnTo>
                  <a:lnTo>
                    <a:pt x="92595" y="610575"/>
                  </a:lnTo>
                  <a:lnTo>
                    <a:pt x="65735" y="576519"/>
                  </a:lnTo>
                  <a:lnTo>
                    <a:pt x="42987" y="539383"/>
                  </a:lnTo>
                  <a:lnTo>
                    <a:pt x="24695" y="499509"/>
                  </a:lnTo>
                  <a:lnTo>
                    <a:pt x="11205" y="457241"/>
                  </a:lnTo>
                  <a:lnTo>
                    <a:pt x="2858" y="412925"/>
                  </a:lnTo>
                  <a:lnTo>
                    <a:pt x="0" y="366902"/>
                  </a:lnTo>
                  <a:close/>
                </a:path>
              </a:pathLst>
            </a:custGeom>
            <a:ln w="25146">
              <a:solidFill>
                <a:srgbClr val="C0504D"/>
              </a:solidFill>
            </a:ln>
          </p:spPr>
          <p:txBody>
            <a:bodyPr wrap="square" lIns="0" tIns="0" rIns="0" bIns="0" rtlCol="0"/>
            <a:lstStyle/>
            <a:p>
              <a:endParaRPr/>
            </a:p>
          </p:txBody>
        </p:sp>
      </p:grpSp>
      <p:sp>
        <p:nvSpPr>
          <p:cNvPr id="39" name="object 3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39</a:t>
            </a:fld>
            <a:endParaRPr sz="1200"/>
          </a:p>
        </p:txBody>
      </p:sp>
      <p:sp>
        <p:nvSpPr>
          <p:cNvPr id="40" name="object 4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6061075" cy="574040"/>
          </a:xfrm>
          <a:prstGeom prst="rect">
            <a:avLst/>
          </a:prstGeom>
        </p:spPr>
        <p:txBody>
          <a:bodyPr vert="horz" wrap="square" lIns="0" tIns="12700" rIns="0" bIns="0" rtlCol="0">
            <a:spAutoFit/>
          </a:bodyPr>
          <a:lstStyle/>
          <a:p>
            <a:pPr marL="12700">
              <a:lnSpc>
                <a:spcPct val="100000"/>
              </a:lnSpc>
              <a:spcBef>
                <a:spcPts val="100"/>
              </a:spcBef>
            </a:pPr>
            <a:r>
              <a:rPr b="0" spc="25" dirty="0">
                <a:latin typeface="Arial"/>
                <a:cs typeface="Arial"/>
              </a:rPr>
              <a:t>Querying </a:t>
            </a:r>
            <a:r>
              <a:rPr b="0" spc="-130" dirty="0">
                <a:latin typeface="Arial"/>
                <a:cs typeface="Arial"/>
              </a:rPr>
              <a:t>System </a:t>
            </a:r>
            <a:r>
              <a:rPr b="0" spc="-45" dirty="0">
                <a:latin typeface="Arial"/>
                <a:cs typeface="Arial"/>
              </a:rPr>
              <a:t>MetaData</a:t>
            </a:r>
            <a:r>
              <a:rPr b="0" spc="-655" dirty="0">
                <a:latin typeface="Arial"/>
                <a:cs typeface="Arial"/>
              </a:rPr>
              <a:t> </a:t>
            </a:r>
            <a:r>
              <a:rPr b="0" spc="-434" dirty="0">
                <a:latin typeface="Arial"/>
                <a:cs typeface="Arial"/>
              </a:rPr>
              <a:t>1-3</a:t>
            </a:r>
          </a:p>
        </p:txBody>
      </p:sp>
      <p:sp>
        <p:nvSpPr>
          <p:cNvPr id="3" name="object 3"/>
          <p:cNvSpPr/>
          <p:nvPr/>
        </p:nvSpPr>
        <p:spPr>
          <a:xfrm>
            <a:off x="639318" y="5151120"/>
            <a:ext cx="8117205" cy="830580"/>
          </a:xfrm>
          <a:custGeom>
            <a:avLst/>
            <a:gdLst/>
            <a:ahLst/>
            <a:cxnLst/>
            <a:rect l="l" t="t" r="r" b="b"/>
            <a:pathLst>
              <a:path w="8117205" h="830579">
                <a:moveTo>
                  <a:pt x="8116824" y="138430"/>
                </a:moveTo>
                <a:lnTo>
                  <a:pt x="8109763" y="94678"/>
                </a:lnTo>
                <a:lnTo>
                  <a:pt x="8090103" y="56680"/>
                </a:lnTo>
                <a:lnTo>
                  <a:pt x="8060144" y="26720"/>
                </a:lnTo>
                <a:lnTo>
                  <a:pt x="8022145" y="7061"/>
                </a:lnTo>
                <a:lnTo>
                  <a:pt x="7978394" y="0"/>
                </a:lnTo>
                <a:lnTo>
                  <a:pt x="138430" y="0"/>
                </a:lnTo>
                <a:lnTo>
                  <a:pt x="94665" y="7061"/>
                </a:lnTo>
                <a:lnTo>
                  <a:pt x="56667" y="26720"/>
                </a:lnTo>
                <a:lnTo>
                  <a:pt x="26708" y="56680"/>
                </a:lnTo>
                <a:lnTo>
                  <a:pt x="7048" y="94678"/>
                </a:lnTo>
                <a:lnTo>
                  <a:pt x="0" y="138430"/>
                </a:lnTo>
                <a:lnTo>
                  <a:pt x="0" y="692150"/>
                </a:lnTo>
                <a:lnTo>
                  <a:pt x="7048" y="735914"/>
                </a:lnTo>
                <a:lnTo>
                  <a:pt x="26708" y="773912"/>
                </a:lnTo>
                <a:lnTo>
                  <a:pt x="56667" y="803871"/>
                </a:lnTo>
                <a:lnTo>
                  <a:pt x="94665" y="823531"/>
                </a:lnTo>
                <a:lnTo>
                  <a:pt x="138430" y="830580"/>
                </a:lnTo>
                <a:lnTo>
                  <a:pt x="7978394" y="830580"/>
                </a:lnTo>
                <a:lnTo>
                  <a:pt x="8022145" y="823531"/>
                </a:lnTo>
                <a:lnTo>
                  <a:pt x="8060144" y="803871"/>
                </a:lnTo>
                <a:lnTo>
                  <a:pt x="8090103" y="773912"/>
                </a:lnTo>
                <a:lnTo>
                  <a:pt x="8109763" y="735914"/>
                </a:lnTo>
                <a:lnTo>
                  <a:pt x="8116824" y="692150"/>
                </a:lnTo>
                <a:lnTo>
                  <a:pt x="8116824" y="628650"/>
                </a:lnTo>
                <a:lnTo>
                  <a:pt x="8116824" y="201930"/>
                </a:lnTo>
                <a:lnTo>
                  <a:pt x="8116824" y="138430"/>
                </a:lnTo>
                <a:close/>
              </a:path>
            </a:pathLst>
          </a:custGeom>
          <a:solidFill>
            <a:srgbClr val="4F6128"/>
          </a:solidFill>
        </p:spPr>
        <p:txBody>
          <a:bodyPr wrap="square" lIns="0" tIns="0" rIns="0" bIns="0" rtlCol="0"/>
          <a:lstStyle/>
          <a:p>
            <a:endParaRPr/>
          </a:p>
        </p:txBody>
      </p:sp>
      <p:sp>
        <p:nvSpPr>
          <p:cNvPr id="4" name="object 4"/>
          <p:cNvSpPr txBox="1"/>
          <p:nvPr/>
        </p:nvSpPr>
        <p:spPr>
          <a:xfrm>
            <a:off x="623316" y="4517712"/>
            <a:ext cx="6571615" cy="1384300"/>
          </a:xfrm>
          <a:prstGeom prst="rect">
            <a:avLst/>
          </a:prstGeom>
        </p:spPr>
        <p:txBody>
          <a:bodyPr vert="horz" wrap="square" lIns="0" tIns="168910" rIns="0" bIns="0" rtlCol="0">
            <a:spAutoFit/>
          </a:bodyPr>
          <a:lstStyle/>
          <a:p>
            <a:pPr marL="12700">
              <a:lnSpc>
                <a:spcPct val="100000"/>
              </a:lnSpc>
              <a:spcBef>
                <a:spcPts val="1330"/>
              </a:spcBef>
            </a:pPr>
            <a:r>
              <a:rPr sz="2400" b="1" spc="-190" dirty="0">
                <a:latin typeface="Arial"/>
                <a:cs typeface="Arial"/>
              </a:rPr>
              <a:t>System </a:t>
            </a:r>
            <a:r>
              <a:rPr sz="2400" b="1" spc="-114" dirty="0">
                <a:latin typeface="Arial"/>
                <a:cs typeface="Arial"/>
              </a:rPr>
              <a:t>Catalog</a:t>
            </a:r>
            <a:r>
              <a:rPr sz="2400" b="1" spc="-235" dirty="0">
                <a:latin typeface="Arial"/>
                <a:cs typeface="Arial"/>
              </a:rPr>
              <a:t> </a:t>
            </a:r>
            <a:r>
              <a:rPr sz="2400" b="1" spc="-85" dirty="0">
                <a:latin typeface="Arial"/>
                <a:cs typeface="Arial"/>
              </a:rPr>
              <a:t>Views</a:t>
            </a:r>
            <a:endParaRPr sz="2400">
              <a:latin typeface="Arial"/>
              <a:cs typeface="Arial"/>
            </a:endParaRPr>
          </a:p>
          <a:p>
            <a:pPr marL="574675" indent="-343535">
              <a:lnSpc>
                <a:spcPct val="100000"/>
              </a:lnSpc>
              <a:spcBef>
                <a:spcPts val="825"/>
              </a:spcBef>
              <a:buFont typeface="Wingdings"/>
              <a:buChar char=""/>
              <a:tabLst>
                <a:tab pos="574675" algn="l"/>
                <a:tab pos="575310" algn="l"/>
              </a:tabLst>
            </a:pPr>
            <a:r>
              <a:rPr sz="1600" spc="-55" dirty="0">
                <a:solidFill>
                  <a:srgbClr val="FFFFFF"/>
                </a:solidFill>
                <a:latin typeface="Arial"/>
                <a:cs typeface="Arial"/>
              </a:rPr>
              <a:t>These</a:t>
            </a:r>
            <a:r>
              <a:rPr sz="1600" spc="-114" dirty="0">
                <a:solidFill>
                  <a:srgbClr val="FFFFFF"/>
                </a:solidFill>
                <a:latin typeface="Arial"/>
                <a:cs typeface="Arial"/>
              </a:rPr>
              <a:t> </a:t>
            </a:r>
            <a:r>
              <a:rPr sz="1600" spc="10" dirty="0">
                <a:solidFill>
                  <a:srgbClr val="FFFFFF"/>
                </a:solidFill>
                <a:latin typeface="Arial"/>
                <a:cs typeface="Arial"/>
              </a:rPr>
              <a:t>contain</a:t>
            </a:r>
            <a:r>
              <a:rPr sz="1600" spc="-105" dirty="0">
                <a:solidFill>
                  <a:srgbClr val="FFFFFF"/>
                </a:solidFill>
                <a:latin typeface="Arial"/>
                <a:cs typeface="Arial"/>
              </a:rPr>
              <a:t> </a:t>
            </a:r>
            <a:r>
              <a:rPr sz="1600" spc="35" dirty="0">
                <a:solidFill>
                  <a:srgbClr val="FFFFFF"/>
                </a:solidFill>
                <a:latin typeface="Arial"/>
                <a:cs typeface="Arial"/>
              </a:rPr>
              <a:t>information</a:t>
            </a:r>
            <a:r>
              <a:rPr sz="1600" spc="-114" dirty="0">
                <a:solidFill>
                  <a:srgbClr val="FFFFFF"/>
                </a:solidFill>
                <a:latin typeface="Arial"/>
                <a:cs typeface="Arial"/>
              </a:rPr>
              <a:t> </a:t>
            </a:r>
            <a:r>
              <a:rPr sz="1600" spc="-10" dirty="0">
                <a:solidFill>
                  <a:srgbClr val="FFFFFF"/>
                </a:solidFill>
                <a:latin typeface="Arial"/>
                <a:cs typeface="Arial"/>
              </a:rPr>
              <a:t>about</a:t>
            </a:r>
            <a:r>
              <a:rPr sz="1600" spc="-100" dirty="0">
                <a:solidFill>
                  <a:srgbClr val="FFFFFF"/>
                </a:solidFill>
                <a:latin typeface="Arial"/>
                <a:cs typeface="Arial"/>
              </a:rPr>
              <a:t> </a:t>
            </a:r>
            <a:r>
              <a:rPr sz="1600" dirty="0">
                <a:solidFill>
                  <a:srgbClr val="FFFFFF"/>
                </a:solidFill>
                <a:latin typeface="Arial"/>
                <a:cs typeface="Arial"/>
              </a:rPr>
              <a:t>the</a:t>
            </a:r>
            <a:r>
              <a:rPr sz="1600" spc="-110" dirty="0">
                <a:solidFill>
                  <a:srgbClr val="FFFFFF"/>
                </a:solidFill>
                <a:latin typeface="Arial"/>
                <a:cs typeface="Arial"/>
              </a:rPr>
              <a:t> </a:t>
            </a:r>
            <a:r>
              <a:rPr sz="1600" spc="-45" dirty="0">
                <a:solidFill>
                  <a:srgbClr val="FFFFFF"/>
                </a:solidFill>
                <a:latin typeface="Arial"/>
                <a:cs typeface="Arial"/>
              </a:rPr>
              <a:t>catalog</a:t>
            </a:r>
            <a:r>
              <a:rPr sz="1600" spc="-110" dirty="0">
                <a:solidFill>
                  <a:srgbClr val="FFFFFF"/>
                </a:solidFill>
                <a:latin typeface="Arial"/>
                <a:cs typeface="Arial"/>
              </a:rPr>
              <a:t> </a:t>
            </a:r>
            <a:r>
              <a:rPr sz="1600" spc="75" dirty="0">
                <a:solidFill>
                  <a:srgbClr val="FFFFFF"/>
                </a:solidFill>
                <a:latin typeface="Arial"/>
                <a:cs typeface="Arial"/>
              </a:rPr>
              <a:t>in</a:t>
            </a:r>
            <a:r>
              <a:rPr sz="1600" spc="-110" dirty="0">
                <a:solidFill>
                  <a:srgbClr val="FFFFFF"/>
                </a:solidFill>
                <a:latin typeface="Arial"/>
                <a:cs typeface="Arial"/>
              </a:rPr>
              <a:t> </a:t>
            </a:r>
            <a:r>
              <a:rPr sz="1600" spc="-155" dirty="0">
                <a:solidFill>
                  <a:srgbClr val="FFFFFF"/>
                </a:solidFill>
                <a:latin typeface="Arial"/>
                <a:cs typeface="Arial"/>
              </a:rPr>
              <a:t>a</a:t>
            </a:r>
            <a:r>
              <a:rPr sz="1600" spc="-105" dirty="0">
                <a:solidFill>
                  <a:srgbClr val="FFFFFF"/>
                </a:solidFill>
                <a:latin typeface="Arial"/>
                <a:cs typeface="Arial"/>
              </a:rPr>
              <a:t> </a:t>
            </a:r>
            <a:r>
              <a:rPr sz="1600" spc="15" dirty="0">
                <a:solidFill>
                  <a:srgbClr val="FFFFFF"/>
                </a:solidFill>
                <a:latin typeface="Arial"/>
                <a:cs typeface="Arial"/>
              </a:rPr>
              <a:t>SQL</a:t>
            </a:r>
            <a:r>
              <a:rPr sz="1600" spc="-120" dirty="0">
                <a:solidFill>
                  <a:srgbClr val="FFFFFF"/>
                </a:solidFill>
                <a:latin typeface="Arial"/>
                <a:cs typeface="Arial"/>
              </a:rPr>
              <a:t> </a:t>
            </a:r>
            <a:r>
              <a:rPr sz="1600" spc="-40" dirty="0">
                <a:solidFill>
                  <a:srgbClr val="FFFFFF"/>
                </a:solidFill>
                <a:latin typeface="Arial"/>
                <a:cs typeface="Arial"/>
              </a:rPr>
              <a:t>Server</a:t>
            </a:r>
            <a:r>
              <a:rPr sz="1600" spc="-105" dirty="0">
                <a:solidFill>
                  <a:srgbClr val="FFFFFF"/>
                </a:solidFill>
                <a:latin typeface="Arial"/>
                <a:cs typeface="Arial"/>
              </a:rPr>
              <a:t> </a:t>
            </a:r>
            <a:r>
              <a:rPr sz="1600" spc="-65" dirty="0">
                <a:solidFill>
                  <a:srgbClr val="FFFFFF"/>
                </a:solidFill>
                <a:latin typeface="Arial"/>
                <a:cs typeface="Arial"/>
              </a:rPr>
              <a:t>system.</a:t>
            </a:r>
            <a:endParaRPr sz="1600">
              <a:latin typeface="Arial"/>
              <a:cs typeface="Arial"/>
            </a:endParaRPr>
          </a:p>
          <a:p>
            <a:pPr marL="574675" indent="-343535">
              <a:lnSpc>
                <a:spcPct val="100000"/>
              </a:lnSpc>
              <a:buFont typeface="Wingdings"/>
              <a:buChar char=""/>
              <a:tabLst>
                <a:tab pos="574675" algn="l"/>
                <a:tab pos="575310" algn="l"/>
              </a:tabLst>
            </a:pPr>
            <a:r>
              <a:rPr sz="1600" spc="229" dirty="0">
                <a:solidFill>
                  <a:srgbClr val="FFFFFF"/>
                </a:solidFill>
                <a:latin typeface="Arial"/>
                <a:cs typeface="Arial"/>
              </a:rPr>
              <a:t>A</a:t>
            </a:r>
            <a:r>
              <a:rPr sz="1600" spc="-110" dirty="0">
                <a:solidFill>
                  <a:srgbClr val="FFFFFF"/>
                </a:solidFill>
                <a:latin typeface="Arial"/>
                <a:cs typeface="Arial"/>
              </a:rPr>
              <a:t> </a:t>
            </a:r>
            <a:r>
              <a:rPr sz="1600" spc="-45" dirty="0">
                <a:solidFill>
                  <a:srgbClr val="FFFFFF"/>
                </a:solidFill>
                <a:latin typeface="Arial"/>
                <a:cs typeface="Arial"/>
              </a:rPr>
              <a:t>catalog</a:t>
            </a:r>
            <a:r>
              <a:rPr sz="1600" spc="-110" dirty="0">
                <a:solidFill>
                  <a:srgbClr val="FFFFFF"/>
                </a:solidFill>
                <a:latin typeface="Arial"/>
                <a:cs typeface="Arial"/>
              </a:rPr>
              <a:t> </a:t>
            </a:r>
            <a:r>
              <a:rPr sz="1600" spc="-40" dirty="0">
                <a:solidFill>
                  <a:srgbClr val="FFFFFF"/>
                </a:solidFill>
                <a:latin typeface="Arial"/>
                <a:cs typeface="Arial"/>
              </a:rPr>
              <a:t>is</a:t>
            </a:r>
            <a:r>
              <a:rPr sz="1600" spc="-125" dirty="0">
                <a:solidFill>
                  <a:srgbClr val="FFFFFF"/>
                </a:solidFill>
                <a:latin typeface="Arial"/>
                <a:cs typeface="Arial"/>
              </a:rPr>
              <a:t> </a:t>
            </a:r>
            <a:r>
              <a:rPr sz="1600" dirty="0">
                <a:solidFill>
                  <a:srgbClr val="FFFFFF"/>
                </a:solidFill>
                <a:latin typeface="Arial"/>
                <a:cs typeface="Arial"/>
              </a:rPr>
              <a:t>similar</a:t>
            </a:r>
            <a:r>
              <a:rPr sz="1600" spc="-130" dirty="0">
                <a:solidFill>
                  <a:srgbClr val="FFFFFF"/>
                </a:solidFill>
                <a:latin typeface="Arial"/>
                <a:cs typeface="Arial"/>
              </a:rPr>
              <a:t> </a:t>
            </a:r>
            <a:r>
              <a:rPr sz="1600" spc="40" dirty="0">
                <a:solidFill>
                  <a:srgbClr val="FFFFFF"/>
                </a:solidFill>
                <a:latin typeface="Arial"/>
                <a:cs typeface="Arial"/>
              </a:rPr>
              <a:t>to</a:t>
            </a:r>
            <a:r>
              <a:rPr sz="1600" spc="-105" dirty="0">
                <a:solidFill>
                  <a:srgbClr val="FFFFFF"/>
                </a:solidFill>
                <a:latin typeface="Arial"/>
                <a:cs typeface="Arial"/>
              </a:rPr>
              <a:t> </a:t>
            </a:r>
            <a:r>
              <a:rPr sz="1600" spc="-50" dirty="0">
                <a:solidFill>
                  <a:srgbClr val="FFFFFF"/>
                </a:solidFill>
                <a:latin typeface="Arial"/>
                <a:cs typeface="Arial"/>
              </a:rPr>
              <a:t>an</a:t>
            </a:r>
            <a:r>
              <a:rPr sz="1600" spc="-110" dirty="0">
                <a:solidFill>
                  <a:srgbClr val="FFFFFF"/>
                </a:solidFill>
                <a:latin typeface="Arial"/>
                <a:cs typeface="Arial"/>
              </a:rPr>
              <a:t> </a:t>
            </a:r>
            <a:r>
              <a:rPr sz="1600" spc="25" dirty="0">
                <a:solidFill>
                  <a:srgbClr val="FFFFFF"/>
                </a:solidFill>
                <a:latin typeface="Arial"/>
                <a:cs typeface="Arial"/>
              </a:rPr>
              <a:t>inventory</a:t>
            </a:r>
            <a:r>
              <a:rPr sz="1600" spc="-100" dirty="0">
                <a:solidFill>
                  <a:srgbClr val="FFFFFF"/>
                </a:solidFill>
                <a:latin typeface="Arial"/>
                <a:cs typeface="Arial"/>
              </a:rPr>
              <a:t> </a:t>
            </a:r>
            <a:r>
              <a:rPr sz="1600" spc="40" dirty="0">
                <a:solidFill>
                  <a:srgbClr val="FFFFFF"/>
                </a:solidFill>
                <a:latin typeface="Arial"/>
                <a:cs typeface="Arial"/>
              </a:rPr>
              <a:t>of</a:t>
            </a:r>
            <a:r>
              <a:rPr sz="1600" spc="-120" dirty="0">
                <a:solidFill>
                  <a:srgbClr val="FFFFFF"/>
                </a:solidFill>
                <a:latin typeface="Arial"/>
                <a:cs typeface="Arial"/>
              </a:rPr>
              <a:t> </a:t>
            </a:r>
            <a:r>
              <a:rPr sz="1600" spc="-35" dirty="0">
                <a:solidFill>
                  <a:srgbClr val="FFFFFF"/>
                </a:solidFill>
                <a:latin typeface="Arial"/>
                <a:cs typeface="Arial"/>
              </a:rPr>
              <a:t>objects.</a:t>
            </a:r>
            <a:endParaRPr sz="1600">
              <a:latin typeface="Arial"/>
              <a:cs typeface="Arial"/>
            </a:endParaRPr>
          </a:p>
          <a:p>
            <a:pPr marL="574675" indent="-343535">
              <a:lnSpc>
                <a:spcPct val="100000"/>
              </a:lnSpc>
              <a:buFont typeface="Wingdings"/>
              <a:buChar char=""/>
              <a:tabLst>
                <a:tab pos="574675" algn="l"/>
                <a:tab pos="575310" algn="l"/>
              </a:tabLst>
            </a:pPr>
            <a:r>
              <a:rPr sz="1600" spc="-55" dirty="0">
                <a:solidFill>
                  <a:srgbClr val="FFFFFF"/>
                </a:solidFill>
                <a:latin typeface="Arial"/>
                <a:cs typeface="Arial"/>
              </a:rPr>
              <a:t>These</a:t>
            </a:r>
            <a:r>
              <a:rPr sz="1600" spc="-114" dirty="0">
                <a:solidFill>
                  <a:srgbClr val="FFFFFF"/>
                </a:solidFill>
                <a:latin typeface="Arial"/>
                <a:cs typeface="Arial"/>
              </a:rPr>
              <a:t> </a:t>
            </a:r>
            <a:r>
              <a:rPr sz="1600" spc="-30" dirty="0">
                <a:solidFill>
                  <a:srgbClr val="FFFFFF"/>
                </a:solidFill>
                <a:latin typeface="Arial"/>
                <a:cs typeface="Arial"/>
              </a:rPr>
              <a:t>views</a:t>
            </a:r>
            <a:r>
              <a:rPr sz="1600" spc="-114" dirty="0">
                <a:solidFill>
                  <a:srgbClr val="FFFFFF"/>
                </a:solidFill>
                <a:latin typeface="Arial"/>
                <a:cs typeface="Arial"/>
              </a:rPr>
              <a:t> </a:t>
            </a:r>
            <a:r>
              <a:rPr sz="1600" spc="10" dirty="0">
                <a:solidFill>
                  <a:srgbClr val="FFFFFF"/>
                </a:solidFill>
                <a:latin typeface="Arial"/>
                <a:cs typeface="Arial"/>
              </a:rPr>
              <a:t>contain</a:t>
            </a:r>
            <a:r>
              <a:rPr sz="1600" spc="-110" dirty="0">
                <a:solidFill>
                  <a:srgbClr val="FFFFFF"/>
                </a:solidFill>
                <a:latin typeface="Arial"/>
                <a:cs typeface="Arial"/>
              </a:rPr>
              <a:t> </a:t>
            </a:r>
            <a:r>
              <a:rPr sz="1600" spc="-155" dirty="0">
                <a:solidFill>
                  <a:srgbClr val="FFFFFF"/>
                </a:solidFill>
                <a:latin typeface="Arial"/>
                <a:cs typeface="Arial"/>
              </a:rPr>
              <a:t>a</a:t>
            </a:r>
            <a:r>
              <a:rPr sz="1600" spc="-105" dirty="0">
                <a:solidFill>
                  <a:srgbClr val="FFFFFF"/>
                </a:solidFill>
                <a:latin typeface="Arial"/>
                <a:cs typeface="Arial"/>
              </a:rPr>
              <a:t> </a:t>
            </a:r>
            <a:r>
              <a:rPr sz="1600" dirty="0">
                <a:solidFill>
                  <a:srgbClr val="FFFFFF"/>
                </a:solidFill>
                <a:latin typeface="Arial"/>
                <a:cs typeface="Arial"/>
              </a:rPr>
              <a:t>wide</a:t>
            </a:r>
            <a:r>
              <a:rPr sz="1600" spc="-120" dirty="0">
                <a:solidFill>
                  <a:srgbClr val="FFFFFF"/>
                </a:solidFill>
                <a:latin typeface="Arial"/>
                <a:cs typeface="Arial"/>
              </a:rPr>
              <a:t> </a:t>
            </a:r>
            <a:r>
              <a:rPr sz="1600" spc="-60" dirty="0">
                <a:solidFill>
                  <a:srgbClr val="FFFFFF"/>
                </a:solidFill>
                <a:latin typeface="Arial"/>
                <a:cs typeface="Arial"/>
              </a:rPr>
              <a:t>range</a:t>
            </a:r>
            <a:r>
              <a:rPr sz="1600" spc="-114" dirty="0">
                <a:solidFill>
                  <a:srgbClr val="FFFFFF"/>
                </a:solidFill>
                <a:latin typeface="Arial"/>
                <a:cs typeface="Arial"/>
              </a:rPr>
              <a:t> </a:t>
            </a:r>
            <a:r>
              <a:rPr sz="1600" spc="40" dirty="0">
                <a:solidFill>
                  <a:srgbClr val="FFFFFF"/>
                </a:solidFill>
                <a:latin typeface="Arial"/>
                <a:cs typeface="Arial"/>
              </a:rPr>
              <a:t>of</a:t>
            </a:r>
            <a:r>
              <a:rPr sz="1600" spc="-110" dirty="0">
                <a:solidFill>
                  <a:srgbClr val="FFFFFF"/>
                </a:solidFill>
                <a:latin typeface="Arial"/>
                <a:cs typeface="Arial"/>
              </a:rPr>
              <a:t> </a:t>
            </a:r>
            <a:r>
              <a:rPr sz="1600" spc="-50" dirty="0">
                <a:solidFill>
                  <a:srgbClr val="FFFFFF"/>
                </a:solidFill>
                <a:latin typeface="Arial"/>
                <a:cs typeface="Arial"/>
              </a:rPr>
              <a:t>metadata.</a:t>
            </a:r>
            <a:endParaRPr sz="1600">
              <a:latin typeface="Arial"/>
              <a:cs typeface="Arial"/>
            </a:endParaRPr>
          </a:p>
        </p:txBody>
      </p:sp>
      <p:grpSp>
        <p:nvGrpSpPr>
          <p:cNvPr id="5" name="object 5"/>
          <p:cNvGrpSpPr/>
          <p:nvPr/>
        </p:nvGrpSpPr>
        <p:grpSpPr>
          <a:xfrm>
            <a:off x="1364741" y="1012697"/>
            <a:ext cx="1913889" cy="3712845"/>
            <a:chOff x="1364741" y="1012697"/>
            <a:chExt cx="1913889" cy="3712845"/>
          </a:xfrm>
        </p:grpSpPr>
        <p:sp>
          <p:nvSpPr>
            <p:cNvPr id="6" name="object 6"/>
            <p:cNvSpPr/>
            <p:nvPr/>
          </p:nvSpPr>
          <p:spPr>
            <a:xfrm>
              <a:off x="1377314" y="1025270"/>
              <a:ext cx="1888489" cy="3687445"/>
            </a:xfrm>
            <a:custGeom>
              <a:avLst/>
              <a:gdLst/>
              <a:ahLst/>
              <a:cxnLst/>
              <a:rect l="l" t="t" r="r" b="b"/>
              <a:pathLst>
                <a:path w="1888489" h="3687445">
                  <a:moveTo>
                    <a:pt x="0" y="0"/>
                  </a:moveTo>
                  <a:lnTo>
                    <a:pt x="0" y="3687317"/>
                  </a:lnTo>
                  <a:lnTo>
                    <a:pt x="1888236" y="2949829"/>
                  </a:lnTo>
                  <a:lnTo>
                    <a:pt x="1888236" y="737488"/>
                  </a:lnTo>
                  <a:lnTo>
                    <a:pt x="0" y="0"/>
                  </a:lnTo>
                  <a:close/>
                </a:path>
              </a:pathLst>
            </a:custGeom>
            <a:solidFill>
              <a:srgbClr val="8063A1"/>
            </a:solidFill>
          </p:spPr>
          <p:txBody>
            <a:bodyPr wrap="square" lIns="0" tIns="0" rIns="0" bIns="0" rtlCol="0"/>
            <a:lstStyle/>
            <a:p>
              <a:endParaRPr/>
            </a:p>
          </p:txBody>
        </p:sp>
        <p:sp>
          <p:nvSpPr>
            <p:cNvPr id="7" name="object 7"/>
            <p:cNvSpPr/>
            <p:nvPr/>
          </p:nvSpPr>
          <p:spPr>
            <a:xfrm>
              <a:off x="1377314" y="1025270"/>
              <a:ext cx="1888489" cy="3687445"/>
            </a:xfrm>
            <a:custGeom>
              <a:avLst/>
              <a:gdLst/>
              <a:ahLst/>
              <a:cxnLst/>
              <a:rect l="l" t="t" r="r" b="b"/>
              <a:pathLst>
                <a:path w="1888489" h="3687445">
                  <a:moveTo>
                    <a:pt x="0" y="3687317"/>
                  </a:moveTo>
                  <a:lnTo>
                    <a:pt x="0" y="0"/>
                  </a:lnTo>
                  <a:lnTo>
                    <a:pt x="1888236" y="737488"/>
                  </a:lnTo>
                  <a:lnTo>
                    <a:pt x="1888236" y="2949829"/>
                  </a:lnTo>
                  <a:lnTo>
                    <a:pt x="0" y="3687317"/>
                  </a:lnTo>
                  <a:close/>
                </a:path>
              </a:pathLst>
            </a:custGeom>
            <a:ln w="25146">
              <a:solidFill>
                <a:srgbClr val="FFFFFF"/>
              </a:solidFill>
            </a:ln>
          </p:spPr>
          <p:txBody>
            <a:bodyPr wrap="square" lIns="0" tIns="0" rIns="0" bIns="0" rtlCol="0"/>
            <a:lstStyle/>
            <a:p>
              <a:endParaRPr/>
            </a:p>
          </p:txBody>
        </p:sp>
      </p:grpSp>
      <p:sp>
        <p:nvSpPr>
          <p:cNvPr id="8" name="object 8"/>
          <p:cNvSpPr txBox="1"/>
          <p:nvPr/>
        </p:nvSpPr>
        <p:spPr>
          <a:xfrm>
            <a:off x="1509522" y="2245613"/>
            <a:ext cx="1623060" cy="1157605"/>
          </a:xfrm>
          <a:prstGeom prst="rect">
            <a:avLst/>
          </a:prstGeom>
        </p:spPr>
        <p:txBody>
          <a:bodyPr vert="horz" wrap="square" lIns="0" tIns="34925" rIns="0" bIns="0" rtlCol="0">
            <a:spAutoFit/>
          </a:bodyPr>
          <a:lstStyle/>
          <a:p>
            <a:pPr marL="12700" marR="5080" algn="ctr">
              <a:lnSpc>
                <a:spcPct val="91000"/>
              </a:lnSpc>
              <a:spcBef>
                <a:spcPts val="275"/>
              </a:spcBef>
            </a:pPr>
            <a:r>
              <a:rPr sz="1600" spc="15" dirty="0">
                <a:solidFill>
                  <a:srgbClr val="FFFFFF"/>
                </a:solidFill>
                <a:latin typeface="Arial"/>
                <a:cs typeface="Arial"/>
              </a:rPr>
              <a:t>The </a:t>
            </a:r>
            <a:r>
              <a:rPr sz="1600" spc="-15" dirty="0">
                <a:solidFill>
                  <a:srgbClr val="FFFFFF"/>
                </a:solidFill>
                <a:latin typeface="Arial"/>
                <a:cs typeface="Arial"/>
              </a:rPr>
              <a:t>properties </a:t>
            </a:r>
            <a:r>
              <a:rPr sz="1600" spc="45" dirty="0">
                <a:solidFill>
                  <a:srgbClr val="FFFFFF"/>
                </a:solidFill>
                <a:latin typeface="Arial"/>
                <a:cs typeface="Arial"/>
              </a:rPr>
              <a:t>of  </a:t>
            </a:r>
            <a:r>
              <a:rPr sz="1600" spc="-50" dirty="0">
                <a:solidFill>
                  <a:srgbClr val="FFFFFF"/>
                </a:solidFill>
                <a:latin typeface="Arial"/>
                <a:cs typeface="Arial"/>
              </a:rPr>
              <a:t>an </a:t>
            </a:r>
            <a:r>
              <a:rPr sz="1600" spc="-10" dirty="0">
                <a:solidFill>
                  <a:srgbClr val="FFFFFF"/>
                </a:solidFill>
                <a:latin typeface="Arial"/>
                <a:cs typeface="Arial"/>
              </a:rPr>
              <a:t>object </a:t>
            </a:r>
            <a:r>
              <a:rPr sz="1600" spc="-45" dirty="0">
                <a:solidFill>
                  <a:srgbClr val="FFFFFF"/>
                </a:solidFill>
                <a:latin typeface="Arial"/>
                <a:cs typeface="Arial"/>
              </a:rPr>
              <a:t>such</a:t>
            </a:r>
            <a:r>
              <a:rPr sz="1600" spc="-265" dirty="0">
                <a:solidFill>
                  <a:srgbClr val="FFFFFF"/>
                </a:solidFill>
                <a:latin typeface="Arial"/>
                <a:cs typeface="Arial"/>
              </a:rPr>
              <a:t> </a:t>
            </a:r>
            <a:r>
              <a:rPr sz="1600" spc="-165" dirty="0">
                <a:solidFill>
                  <a:srgbClr val="FFFFFF"/>
                </a:solidFill>
                <a:latin typeface="Arial"/>
                <a:cs typeface="Arial"/>
              </a:rPr>
              <a:t>as </a:t>
            </a:r>
            <a:r>
              <a:rPr sz="1600" spc="-155" dirty="0">
                <a:solidFill>
                  <a:srgbClr val="FFFFFF"/>
                </a:solidFill>
                <a:latin typeface="Arial"/>
                <a:cs typeface="Arial"/>
              </a:rPr>
              <a:t>a  </a:t>
            </a:r>
            <a:r>
              <a:rPr sz="1600" spc="-25" dirty="0">
                <a:solidFill>
                  <a:srgbClr val="FFFFFF"/>
                </a:solidFill>
                <a:latin typeface="Arial"/>
                <a:cs typeface="Arial"/>
              </a:rPr>
              <a:t>table </a:t>
            </a:r>
            <a:r>
              <a:rPr sz="1600" spc="25" dirty="0">
                <a:solidFill>
                  <a:srgbClr val="FFFFFF"/>
                </a:solidFill>
                <a:latin typeface="Arial"/>
                <a:cs typeface="Arial"/>
              </a:rPr>
              <a:t>or </a:t>
            </a:r>
            <a:r>
              <a:rPr sz="1600" spc="-155" dirty="0">
                <a:solidFill>
                  <a:srgbClr val="FFFFFF"/>
                </a:solidFill>
                <a:latin typeface="Arial"/>
                <a:cs typeface="Arial"/>
              </a:rPr>
              <a:t>a </a:t>
            </a:r>
            <a:r>
              <a:rPr sz="1600" spc="5" dirty="0">
                <a:solidFill>
                  <a:srgbClr val="FFFFFF"/>
                </a:solidFill>
                <a:latin typeface="Arial"/>
                <a:cs typeface="Arial"/>
              </a:rPr>
              <a:t>view </a:t>
            </a:r>
            <a:r>
              <a:rPr sz="1600" spc="-80" dirty="0">
                <a:solidFill>
                  <a:srgbClr val="FFFFFF"/>
                </a:solidFill>
                <a:latin typeface="Arial"/>
                <a:cs typeface="Arial"/>
              </a:rPr>
              <a:t>are  </a:t>
            </a:r>
            <a:r>
              <a:rPr sz="1600" spc="-25" dirty="0">
                <a:solidFill>
                  <a:srgbClr val="FFFFFF"/>
                </a:solidFill>
                <a:latin typeface="Arial"/>
                <a:cs typeface="Arial"/>
              </a:rPr>
              <a:t>stored </a:t>
            </a:r>
            <a:r>
              <a:rPr sz="1600" spc="75" dirty="0">
                <a:solidFill>
                  <a:srgbClr val="FFFFFF"/>
                </a:solidFill>
                <a:latin typeface="Arial"/>
                <a:cs typeface="Arial"/>
              </a:rPr>
              <a:t>in </a:t>
            </a:r>
            <a:r>
              <a:rPr sz="1600" spc="-55" dirty="0">
                <a:solidFill>
                  <a:srgbClr val="FFFFFF"/>
                </a:solidFill>
                <a:latin typeface="Arial"/>
                <a:cs typeface="Arial"/>
              </a:rPr>
              <a:t>special  </a:t>
            </a:r>
            <a:r>
              <a:rPr sz="1600" spc="-70" dirty="0">
                <a:solidFill>
                  <a:srgbClr val="FFFFFF"/>
                </a:solidFill>
                <a:latin typeface="Arial"/>
                <a:cs typeface="Arial"/>
              </a:rPr>
              <a:t>system</a:t>
            </a:r>
            <a:r>
              <a:rPr sz="1600" spc="-120" dirty="0">
                <a:solidFill>
                  <a:srgbClr val="FFFFFF"/>
                </a:solidFill>
                <a:latin typeface="Arial"/>
                <a:cs typeface="Arial"/>
              </a:rPr>
              <a:t> </a:t>
            </a:r>
            <a:r>
              <a:rPr sz="1600" spc="-50" dirty="0">
                <a:solidFill>
                  <a:srgbClr val="FFFFFF"/>
                </a:solidFill>
                <a:latin typeface="Arial"/>
                <a:cs typeface="Arial"/>
              </a:rPr>
              <a:t>tables.</a:t>
            </a:r>
            <a:endParaRPr sz="1600">
              <a:latin typeface="Arial"/>
              <a:cs typeface="Arial"/>
            </a:endParaRPr>
          </a:p>
        </p:txBody>
      </p:sp>
      <p:grpSp>
        <p:nvGrpSpPr>
          <p:cNvPr id="9" name="object 9"/>
          <p:cNvGrpSpPr/>
          <p:nvPr/>
        </p:nvGrpSpPr>
        <p:grpSpPr>
          <a:xfrm>
            <a:off x="3394709" y="1012697"/>
            <a:ext cx="1912620" cy="3712845"/>
            <a:chOff x="3394709" y="1012697"/>
            <a:chExt cx="1912620" cy="3712845"/>
          </a:xfrm>
        </p:grpSpPr>
        <p:sp>
          <p:nvSpPr>
            <p:cNvPr id="10" name="object 10"/>
            <p:cNvSpPr/>
            <p:nvPr/>
          </p:nvSpPr>
          <p:spPr>
            <a:xfrm>
              <a:off x="3407282" y="1025270"/>
              <a:ext cx="1887855" cy="3687445"/>
            </a:xfrm>
            <a:custGeom>
              <a:avLst/>
              <a:gdLst/>
              <a:ahLst/>
              <a:cxnLst/>
              <a:rect l="l" t="t" r="r" b="b"/>
              <a:pathLst>
                <a:path w="1887854" h="3687445">
                  <a:moveTo>
                    <a:pt x="0" y="0"/>
                  </a:moveTo>
                  <a:lnTo>
                    <a:pt x="0" y="3687317"/>
                  </a:lnTo>
                  <a:lnTo>
                    <a:pt x="1887474" y="2949829"/>
                  </a:lnTo>
                  <a:lnTo>
                    <a:pt x="1887474" y="737488"/>
                  </a:lnTo>
                  <a:lnTo>
                    <a:pt x="0" y="0"/>
                  </a:lnTo>
                  <a:close/>
                </a:path>
              </a:pathLst>
            </a:custGeom>
            <a:solidFill>
              <a:srgbClr val="5667B4"/>
            </a:solidFill>
          </p:spPr>
          <p:txBody>
            <a:bodyPr wrap="square" lIns="0" tIns="0" rIns="0" bIns="0" rtlCol="0"/>
            <a:lstStyle/>
            <a:p>
              <a:endParaRPr/>
            </a:p>
          </p:txBody>
        </p:sp>
        <p:sp>
          <p:nvSpPr>
            <p:cNvPr id="11" name="object 11"/>
            <p:cNvSpPr/>
            <p:nvPr/>
          </p:nvSpPr>
          <p:spPr>
            <a:xfrm>
              <a:off x="3407282" y="1025270"/>
              <a:ext cx="1887855" cy="3687445"/>
            </a:xfrm>
            <a:custGeom>
              <a:avLst/>
              <a:gdLst/>
              <a:ahLst/>
              <a:cxnLst/>
              <a:rect l="l" t="t" r="r" b="b"/>
              <a:pathLst>
                <a:path w="1887854" h="3687445">
                  <a:moveTo>
                    <a:pt x="0" y="3687317"/>
                  </a:moveTo>
                  <a:lnTo>
                    <a:pt x="0" y="0"/>
                  </a:lnTo>
                  <a:lnTo>
                    <a:pt x="1887474" y="737488"/>
                  </a:lnTo>
                  <a:lnTo>
                    <a:pt x="1887474" y="2949829"/>
                  </a:lnTo>
                  <a:lnTo>
                    <a:pt x="0" y="3687317"/>
                  </a:lnTo>
                  <a:close/>
                </a:path>
              </a:pathLst>
            </a:custGeom>
            <a:ln w="25146">
              <a:solidFill>
                <a:srgbClr val="FFFFFF"/>
              </a:solidFill>
            </a:ln>
          </p:spPr>
          <p:txBody>
            <a:bodyPr wrap="square" lIns="0" tIns="0" rIns="0" bIns="0" rtlCol="0"/>
            <a:lstStyle/>
            <a:p>
              <a:endParaRPr/>
            </a:p>
          </p:txBody>
        </p:sp>
      </p:grpSp>
      <p:sp>
        <p:nvSpPr>
          <p:cNvPr id="12" name="object 12"/>
          <p:cNvSpPr txBox="1"/>
          <p:nvPr/>
        </p:nvSpPr>
        <p:spPr>
          <a:xfrm>
            <a:off x="3523234" y="2245613"/>
            <a:ext cx="1654810" cy="1148080"/>
          </a:xfrm>
          <a:prstGeom prst="rect">
            <a:avLst/>
          </a:prstGeom>
        </p:spPr>
        <p:txBody>
          <a:bodyPr vert="horz" wrap="square" lIns="0" tIns="36830" rIns="0" bIns="0" rtlCol="0">
            <a:spAutoFit/>
          </a:bodyPr>
          <a:lstStyle/>
          <a:p>
            <a:pPr marL="12700" marR="5080" algn="ctr">
              <a:lnSpc>
                <a:spcPct val="90000"/>
              </a:lnSpc>
              <a:spcBef>
                <a:spcPts val="290"/>
              </a:spcBef>
            </a:pPr>
            <a:r>
              <a:rPr sz="1600" spc="-55" dirty="0">
                <a:solidFill>
                  <a:srgbClr val="FFFFFF"/>
                </a:solidFill>
                <a:latin typeface="Arial"/>
                <a:cs typeface="Arial"/>
              </a:rPr>
              <a:t>These </a:t>
            </a:r>
            <a:r>
              <a:rPr sz="1600" spc="-15" dirty="0">
                <a:solidFill>
                  <a:srgbClr val="FFFFFF"/>
                </a:solidFill>
                <a:latin typeface="Arial"/>
                <a:cs typeface="Arial"/>
              </a:rPr>
              <a:t>properties  </a:t>
            </a:r>
            <a:r>
              <a:rPr sz="1600" spc="-80" dirty="0">
                <a:solidFill>
                  <a:srgbClr val="FFFFFF"/>
                </a:solidFill>
                <a:latin typeface="Arial"/>
                <a:cs typeface="Arial"/>
              </a:rPr>
              <a:t>are </a:t>
            </a:r>
            <a:r>
              <a:rPr sz="1600" spc="-20" dirty="0">
                <a:solidFill>
                  <a:srgbClr val="FFFFFF"/>
                </a:solidFill>
                <a:latin typeface="Arial"/>
                <a:cs typeface="Arial"/>
              </a:rPr>
              <a:t>referred </a:t>
            </a:r>
            <a:r>
              <a:rPr sz="1600" spc="40" dirty="0">
                <a:solidFill>
                  <a:srgbClr val="FFFFFF"/>
                </a:solidFill>
                <a:latin typeface="Arial"/>
                <a:cs typeface="Arial"/>
              </a:rPr>
              <a:t>to </a:t>
            </a:r>
            <a:r>
              <a:rPr sz="1600" spc="-165" dirty="0">
                <a:solidFill>
                  <a:srgbClr val="FFFFFF"/>
                </a:solidFill>
                <a:latin typeface="Arial"/>
                <a:cs typeface="Arial"/>
              </a:rPr>
              <a:t>as  </a:t>
            </a:r>
            <a:r>
              <a:rPr sz="1600" spc="-50" dirty="0">
                <a:solidFill>
                  <a:srgbClr val="FFFFFF"/>
                </a:solidFill>
                <a:latin typeface="Arial"/>
                <a:cs typeface="Arial"/>
              </a:rPr>
              <a:t>metadata. </a:t>
            </a:r>
            <a:r>
              <a:rPr sz="1600" spc="135" dirty="0">
                <a:solidFill>
                  <a:srgbClr val="FFFFFF"/>
                </a:solidFill>
                <a:latin typeface="Arial"/>
                <a:cs typeface="Arial"/>
              </a:rPr>
              <a:t>All</a:t>
            </a:r>
            <a:r>
              <a:rPr sz="1600" spc="-225" dirty="0">
                <a:solidFill>
                  <a:srgbClr val="FFFFFF"/>
                </a:solidFill>
                <a:latin typeface="Arial"/>
                <a:cs typeface="Arial"/>
              </a:rPr>
              <a:t> </a:t>
            </a:r>
            <a:r>
              <a:rPr sz="1600" spc="20" dirty="0">
                <a:solidFill>
                  <a:srgbClr val="FFFFFF"/>
                </a:solidFill>
                <a:latin typeface="Arial"/>
                <a:cs typeface="Arial"/>
              </a:rPr>
              <a:t>SQL  </a:t>
            </a:r>
            <a:r>
              <a:rPr sz="1600" spc="-35" dirty="0">
                <a:solidFill>
                  <a:srgbClr val="FFFFFF"/>
                </a:solidFill>
                <a:latin typeface="Arial"/>
                <a:cs typeface="Arial"/>
              </a:rPr>
              <a:t>objects </a:t>
            </a:r>
            <a:r>
              <a:rPr sz="1600" spc="-20" dirty="0">
                <a:solidFill>
                  <a:srgbClr val="FFFFFF"/>
                </a:solidFill>
                <a:latin typeface="Arial"/>
                <a:cs typeface="Arial"/>
              </a:rPr>
              <a:t>produce  </a:t>
            </a:r>
            <a:r>
              <a:rPr sz="1600" spc="-50" dirty="0">
                <a:solidFill>
                  <a:srgbClr val="FFFFFF"/>
                </a:solidFill>
                <a:latin typeface="Arial"/>
                <a:cs typeface="Arial"/>
              </a:rPr>
              <a:t>metadata.</a:t>
            </a:r>
            <a:endParaRPr sz="1600">
              <a:latin typeface="Arial"/>
              <a:cs typeface="Arial"/>
            </a:endParaRPr>
          </a:p>
        </p:txBody>
      </p:sp>
      <p:grpSp>
        <p:nvGrpSpPr>
          <p:cNvPr id="13" name="object 13"/>
          <p:cNvGrpSpPr/>
          <p:nvPr/>
        </p:nvGrpSpPr>
        <p:grpSpPr>
          <a:xfrm>
            <a:off x="5423915" y="1012697"/>
            <a:ext cx="1913889" cy="3712845"/>
            <a:chOff x="5423915" y="1012697"/>
            <a:chExt cx="1913889" cy="3712845"/>
          </a:xfrm>
        </p:grpSpPr>
        <p:sp>
          <p:nvSpPr>
            <p:cNvPr id="14" name="object 14"/>
            <p:cNvSpPr/>
            <p:nvPr/>
          </p:nvSpPr>
          <p:spPr>
            <a:xfrm>
              <a:off x="5436488" y="1025270"/>
              <a:ext cx="1888489" cy="3687445"/>
            </a:xfrm>
            <a:custGeom>
              <a:avLst/>
              <a:gdLst/>
              <a:ahLst/>
              <a:cxnLst/>
              <a:rect l="l" t="t" r="r" b="b"/>
              <a:pathLst>
                <a:path w="1888490" h="3687445">
                  <a:moveTo>
                    <a:pt x="0" y="0"/>
                  </a:moveTo>
                  <a:lnTo>
                    <a:pt x="0" y="3687317"/>
                  </a:lnTo>
                  <a:lnTo>
                    <a:pt x="1888236" y="2949829"/>
                  </a:lnTo>
                  <a:lnTo>
                    <a:pt x="1888236" y="737488"/>
                  </a:lnTo>
                  <a:lnTo>
                    <a:pt x="0" y="0"/>
                  </a:lnTo>
                  <a:close/>
                </a:path>
              </a:pathLst>
            </a:custGeom>
            <a:solidFill>
              <a:srgbClr val="4AACC5"/>
            </a:solidFill>
          </p:spPr>
          <p:txBody>
            <a:bodyPr wrap="square" lIns="0" tIns="0" rIns="0" bIns="0" rtlCol="0"/>
            <a:lstStyle/>
            <a:p>
              <a:endParaRPr/>
            </a:p>
          </p:txBody>
        </p:sp>
        <p:sp>
          <p:nvSpPr>
            <p:cNvPr id="15" name="object 15"/>
            <p:cNvSpPr/>
            <p:nvPr/>
          </p:nvSpPr>
          <p:spPr>
            <a:xfrm>
              <a:off x="5436488" y="1025270"/>
              <a:ext cx="1888489" cy="3687445"/>
            </a:xfrm>
            <a:custGeom>
              <a:avLst/>
              <a:gdLst/>
              <a:ahLst/>
              <a:cxnLst/>
              <a:rect l="l" t="t" r="r" b="b"/>
              <a:pathLst>
                <a:path w="1888490" h="3687445">
                  <a:moveTo>
                    <a:pt x="0" y="3687317"/>
                  </a:moveTo>
                  <a:lnTo>
                    <a:pt x="0" y="0"/>
                  </a:lnTo>
                  <a:lnTo>
                    <a:pt x="1888236" y="737488"/>
                  </a:lnTo>
                  <a:lnTo>
                    <a:pt x="1888236" y="2949829"/>
                  </a:lnTo>
                  <a:lnTo>
                    <a:pt x="0" y="3687317"/>
                  </a:lnTo>
                  <a:close/>
                </a:path>
              </a:pathLst>
            </a:custGeom>
            <a:ln w="25146">
              <a:solidFill>
                <a:srgbClr val="FFFFFF"/>
              </a:solidFill>
            </a:ln>
          </p:spPr>
          <p:txBody>
            <a:bodyPr wrap="square" lIns="0" tIns="0" rIns="0" bIns="0" rtlCol="0"/>
            <a:lstStyle/>
            <a:p>
              <a:endParaRPr/>
            </a:p>
          </p:txBody>
        </p:sp>
      </p:grpSp>
      <p:sp>
        <p:nvSpPr>
          <p:cNvPr id="16" name="object 16"/>
          <p:cNvSpPr txBox="1"/>
          <p:nvPr/>
        </p:nvSpPr>
        <p:spPr>
          <a:xfrm>
            <a:off x="5573776" y="2135886"/>
            <a:ext cx="1614170" cy="1367155"/>
          </a:xfrm>
          <a:prstGeom prst="rect">
            <a:avLst/>
          </a:prstGeom>
        </p:spPr>
        <p:txBody>
          <a:bodyPr vert="horz" wrap="square" lIns="0" tIns="36830" rIns="0" bIns="0" rtlCol="0">
            <a:spAutoFit/>
          </a:bodyPr>
          <a:lstStyle/>
          <a:p>
            <a:pPr marL="12700" marR="5080" algn="ctr">
              <a:lnSpc>
                <a:spcPct val="90000"/>
              </a:lnSpc>
              <a:spcBef>
                <a:spcPts val="290"/>
              </a:spcBef>
            </a:pPr>
            <a:r>
              <a:rPr sz="1600" spc="30" dirty="0">
                <a:solidFill>
                  <a:srgbClr val="FFFFFF"/>
                </a:solidFill>
                <a:latin typeface="Arial"/>
                <a:cs typeface="Arial"/>
              </a:rPr>
              <a:t>This </a:t>
            </a:r>
            <a:r>
              <a:rPr sz="1600" spc="-50" dirty="0">
                <a:solidFill>
                  <a:srgbClr val="FFFFFF"/>
                </a:solidFill>
                <a:latin typeface="Arial"/>
                <a:cs typeface="Arial"/>
              </a:rPr>
              <a:t>metadata</a:t>
            </a:r>
            <a:r>
              <a:rPr sz="1600" spc="-330" dirty="0">
                <a:solidFill>
                  <a:srgbClr val="FFFFFF"/>
                </a:solidFill>
                <a:latin typeface="Arial"/>
                <a:cs typeface="Arial"/>
              </a:rPr>
              <a:t> </a:t>
            </a:r>
            <a:r>
              <a:rPr sz="1600" spc="-60" dirty="0">
                <a:solidFill>
                  <a:srgbClr val="FFFFFF"/>
                </a:solidFill>
                <a:latin typeface="Arial"/>
                <a:cs typeface="Arial"/>
              </a:rPr>
              <a:t>can  </a:t>
            </a:r>
            <a:r>
              <a:rPr sz="1600" spc="-80" dirty="0">
                <a:solidFill>
                  <a:srgbClr val="FFFFFF"/>
                </a:solidFill>
                <a:latin typeface="Arial"/>
                <a:cs typeface="Arial"/>
              </a:rPr>
              <a:t>be </a:t>
            </a:r>
            <a:r>
              <a:rPr sz="1600" spc="-20" dirty="0">
                <a:solidFill>
                  <a:srgbClr val="FFFFFF"/>
                </a:solidFill>
                <a:latin typeface="Arial"/>
                <a:cs typeface="Arial"/>
              </a:rPr>
              <a:t>viewed using  </a:t>
            </a:r>
            <a:r>
              <a:rPr sz="1600" spc="-70" dirty="0">
                <a:solidFill>
                  <a:srgbClr val="FFFFFF"/>
                </a:solidFill>
                <a:latin typeface="Arial"/>
                <a:cs typeface="Arial"/>
              </a:rPr>
              <a:t>system </a:t>
            </a:r>
            <a:r>
              <a:rPr sz="1600" spc="-30" dirty="0">
                <a:solidFill>
                  <a:srgbClr val="FFFFFF"/>
                </a:solidFill>
                <a:latin typeface="Arial"/>
                <a:cs typeface="Arial"/>
              </a:rPr>
              <a:t>views,  </a:t>
            </a:r>
            <a:r>
              <a:rPr sz="1600" spc="30" dirty="0">
                <a:solidFill>
                  <a:srgbClr val="FFFFFF"/>
                </a:solidFill>
                <a:latin typeface="Arial"/>
                <a:cs typeface="Arial"/>
              </a:rPr>
              <a:t>which </a:t>
            </a:r>
            <a:r>
              <a:rPr sz="1600" spc="-75" dirty="0">
                <a:solidFill>
                  <a:srgbClr val="FFFFFF"/>
                </a:solidFill>
                <a:latin typeface="Arial"/>
                <a:cs typeface="Arial"/>
              </a:rPr>
              <a:t>are  </a:t>
            </a:r>
            <a:r>
              <a:rPr sz="1600" spc="-10" dirty="0">
                <a:solidFill>
                  <a:srgbClr val="FFFFFF"/>
                </a:solidFill>
                <a:latin typeface="Arial"/>
                <a:cs typeface="Arial"/>
              </a:rPr>
              <a:t>predefined </a:t>
            </a:r>
            <a:r>
              <a:rPr sz="1600" spc="-30" dirty="0">
                <a:solidFill>
                  <a:srgbClr val="FFFFFF"/>
                </a:solidFill>
                <a:latin typeface="Arial"/>
                <a:cs typeface="Arial"/>
              </a:rPr>
              <a:t>views  </a:t>
            </a:r>
            <a:r>
              <a:rPr sz="1600" spc="45" dirty="0">
                <a:solidFill>
                  <a:srgbClr val="FFFFFF"/>
                </a:solidFill>
                <a:latin typeface="Arial"/>
                <a:cs typeface="Arial"/>
              </a:rPr>
              <a:t>of </a:t>
            </a:r>
            <a:r>
              <a:rPr sz="1600" spc="20" dirty="0">
                <a:solidFill>
                  <a:srgbClr val="FFFFFF"/>
                </a:solidFill>
                <a:latin typeface="Arial"/>
                <a:cs typeface="Arial"/>
              </a:rPr>
              <a:t>SQL</a:t>
            </a:r>
            <a:r>
              <a:rPr sz="1600" spc="-300" dirty="0">
                <a:solidFill>
                  <a:srgbClr val="FFFFFF"/>
                </a:solidFill>
                <a:latin typeface="Arial"/>
                <a:cs typeface="Arial"/>
              </a:rPr>
              <a:t> </a:t>
            </a:r>
            <a:r>
              <a:rPr sz="1600" spc="-40" dirty="0">
                <a:solidFill>
                  <a:srgbClr val="FFFFFF"/>
                </a:solidFill>
                <a:latin typeface="Arial"/>
                <a:cs typeface="Arial"/>
              </a:rPr>
              <a:t>Server.</a:t>
            </a:r>
            <a:endParaRPr sz="1600">
              <a:latin typeface="Arial"/>
              <a:cs typeface="Arial"/>
            </a:endParaRPr>
          </a:p>
        </p:txBody>
      </p:sp>
      <p:sp>
        <p:nvSpPr>
          <p:cNvPr id="18" name="object 1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40</a:t>
            </a:fld>
            <a:endParaRPr sz="1200"/>
          </a:p>
        </p:txBody>
      </p:sp>
      <p:sp>
        <p:nvSpPr>
          <p:cNvPr id="19" name="object 1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6119495" cy="574040"/>
          </a:xfrm>
          <a:prstGeom prst="rect">
            <a:avLst/>
          </a:prstGeom>
        </p:spPr>
        <p:txBody>
          <a:bodyPr vert="horz" wrap="square" lIns="0" tIns="12700" rIns="0" bIns="0" rtlCol="0">
            <a:spAutoFit/>
          </a:bodyPr>
          <a:lstStyle/>
          <a:p>
            <a:pPr marL="12700">
              <a:lnSpc>
                <a:spcPct val="100000"/>
              </a:lnSpc>
              <a:spcBef>
                <a:spcPts val="100"/>
              </a:spcBef>
            </a:pPr>
            <a:r>
              <a:rPr b="0" spc="25" dirty="0">
                <a:latin typeface="Arial"/>
                <a:cs typeface="Arial"/>
              </a:rPr>
              <a:t>Querying </a:t>
            </a:r>
            <a:r>
              <a:rPr b="0" spc="-130" dirty="0">
                <a:latin typeface="Arial"/>
                <a:cs typeface="Arial"/>
              </a:rPr>
              <a:t>System </a:t>
            </a:r>
            <a:r>
              <a:rPr b="0" spc="-45" dirty="0">
                <a:latin typeface="Arial"/>
                <a:cs typeface="Arial"/>
              </a:rPr>
              <a:t>MetaData</a:t>
            </a:r>
            <a:r>
              <a:rPr b="0" spc="-660" dirty="0">
                <a:latin typeface="Arial"/>
                <a:cs typeface="Arial"/>
              </a:rPr>
              <a:t> </a:t>
            </a:r>
            <a:r>
              <a:rPr b="0" spc="-280" dirty="0">
                <a:latin typeface="Arial"/>
                <a:cs typeface="Arial"/>
              </a:rPr>
              <a:t>2-3</a:t>
            </a: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41</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952753"/>
            <a:ext cx="3553460" cy="391160"/>
          </a:xfrm>
          <a:prstGeom prst="rect">
            <a:avLst/>
          </a:prstGeom>
        </p:spPr>
        <p:txBody>
          <a:bodyPr vert="horz" wrap="square" lIns="0" tIns="12700" rIns="0" bIns="0" rtlCol="0">
            <a:spAutoFit/>
          </a:bodyPr>
          <a:lstStyle/>
          <a:p>
            <a:pPr marL="12700">
              <a:lnSpc>
                <a:spcPct val="100000"/>
              </a:lnSpc>
              <a:spcBef>
                <a:spcPts val="100"/>
              </a:spcBef>
            </a:pPr>
            <a:r>
              <a:rPr sz="2400" b="1" spc="-75" dirty="0">
                <a:latin typeface="Arial"/>
                <a:cs typeface="Arial"/>
              </a:rPr>
              <a:t>Information </a:t>
            </a:r>
            <a:r>
              <a:rPr sz="2400" b="1" spc="-200" dirty="0">
                <a:latin typeface="Arial"/>
                <a:cs typeface="Arial"/>
              </a:rPr>
              <a:t>Schema</a:t>
            </a:r>
            <a:r>
              <a:rPr sz="2400" b="1" spc="-375" dirty="0">
                <a:latin typeface="Arial"/>
                <a:cs typeface="Arial"/>
              </a:rPr>
              <a:t> </a:t>
            </a:r>
            <a:r>
              <a:rPr sz="2400" b="1" spc="-85" dirty="0">
                <a:latin typeface="Arial"/>
                <a:cs typeface="Arial"/>
              </a:rPr>
              <a:t>Views</a:t>
            </a:r>
            <a:endParaRPr sz="2400">
              <a:latin typeface="Arial"/>
              <a:cs typeface="Arial"/>
            </a:endParaRPr>
          </a:p>
        </p:txBody>
      </p:sp>
      <p:sp>
        <p:nvSpPr>
          <p:cNvPr id="4" name="object 4"/>
          <p:cNvSpPr txBox="1"/>
          <p:nvPr/>
        </p:nvSpPr>
        <p:spPr>
          <a:xfrm>
            <a:off x="637794" y="1511046"/>
            <a:ext cx="7868920" cy="1477645"/>
          </a:xfrm>
          <a:prstGeom prst="rect">
            <a:avLst/>
          </a:prstGeom>
          <a:solidFill>
            <a:srgbClr val="0580C3"/>
          </a:solidFill>
        </p:spPr>
        <p:txBody>
          <a:bodyPr vert="horz" wrap="square" lIns="0" tIns="0" rIns="0" bIns="0" rtlCol="0">
            <a:spAutoFit/>
          </a:bodyPr>
          <a:lstStyle/>
          <a:p>
            <a:pPr marL="434340" indent="-343535">
              <a:lnSpc>
                <a:spcPct val="100000"/>
              </a:lnSpc>
              <a:buFont typeface="Wingdings"/>
              <a:buChar char=""/>
              <a:tabLst>
                <a:tab pos="434340" algn="l"/>
                <a:tab pos="434975" algn="l"/>
              </a:tabLst>
            </a:pPr>
            <a:r>
              <a:rPr sz="1800" spc="-60" dirty="0">
                <a:solidFill>
                  <a:srgbClr val="FFFFFF"/>
                </a:solidFill>
                <a:latin typeface="Arial"/>
                <a:cs typeface="Arial"/>
              </a:rPr>
              <a:t>Users</a:t>
            </a:r>
            <a:r>
              <a:rPr sz="1800" spc="-114" dirty="0">
                <a:solidFill>
                  <a:srgbClr val="FFFFFF"/>
                </a:solidFill>
                <a:latin typeface="Arial"/>
                <a:cs typeface="Arial"/>
              </a:rPr>
              <a:t> </a:t>
            </a:r>
            <a:r>
              <a:rPr sz="1800" spc="-65" dirty="0">
                <a:solidFill>
                  <a:srgbClr val="FFFFFF"/>
                </a:solidFill>
                <a:latin typeface="Arial"/>
                <a:cs typeface="Arial"/>
              </a:rPr>
              <a:t>can</a:t>
            </a:r>
            <a:r>
              <a:rPr sz="1800" spc="-120" dirty="0">
                <a:solidFill>
                  <a:srgbClr val="FFFFFF"/>
                </a:solidFill>
                <a:latin typeface="Arial"/>
                <a:cs typeface="Arial"/>
              </a:rPr>
              <a:t> </a:t>
            </a:r>
            <a:r>
              <a:rPr sz="1800" spc="-10" dirty="0">
                <a:solidFill>
                  <a:srgbClr val="FFFFFF"/>
                </a:solidFill>
                <a:latin typeface="Arial"/>
                <a:cs typeface="Arial"/>
              </a:rPr>
              <a:t>query</a:t>
            </a:r>
            <a:r>
              <a:rPr sz="1800" spc="-125" dirty="0">
                <a:solidFill>
                  <a:srgbClr val="FFFFFF"/>
                </a:solidFill>
                <a:latin typeface="Arial"/>
                <a:cs typeface="Arial"/>
              </a:rPr>
              <a:t> </a:t>
            </a:r>
            <a:r>
              <a:rPr sz="1800" spc="40" dirty="0">
                <a:solidFill>
                  <a:srgbClr val="FFFFFF"/>
                </a:solidFill>
                <a:latin typeface="Arial"/>
                <a:cs typeface="Arial"/>
              </a:rPr>
              <a:t>information</a:t>
            </a:r>
            <a:r>
              <a:rPr sz="1800" spc="-114" dirty="0">
                <a:solidFill>
                  <a:srgbClr val="FFFFFF"/>
                </a:solidFill>
                <a:latin typeface="Arial"/>
                <a:cs typeface="Arial"/>
              </a:rPr>
              <a:t> </a:t>
            </a:r>
            <a:r>
              <a:rPr sz="1800" spc="-95" dirty="0">
                <a:solidFill>
                  <a:srgbClr val="FFFFFF"/>
                </a:solidFill>
                <a:latin typeface="Arial"/>
                <a:cs typeface="Arial"/>
              </a:rPr>
              <a:t>schema</a:t>
            </a:r>
            <a:r>
              <a:rPr sz="1800" spc="-110" dirty="0">
                <a:solidFill>
                  <a:srgbClr val="FFFFFF"/>
                </a:solidFill>
                <a:latin typeface="Arial"/>
                <a:cs typeface="Arial"/>
              </a:rPr>
              <a:t> </a:t>
            </a:r>
            <a:r>
              <a:rPr sz="1800" spc="-35" dirty="0">
                <a:solidFill>
                  <a:srgbClr val="FFFFFF"/>
                </a:solidFill>
                <a:latin typeface="Arial"/>
                <a:cs typeface="Arial"/>
              </a:rPr>
              <a:t>views</a:t>
            </a:r>
            <a:r>
              <a:rPr sz="1800" spc="-114" dirty="0">
                <a:solidFill>
                  <a:srgbClr val="FFFFFF"/>
                </a:solidFill>
                <a:latin typeface="Arial"/>
                <a:cs typeface="Arial"/>
              </a:rPr>
              <a:t> </a:t>
            </a:r>
            <a:r>
              <a:rPr sz="1800" spc="45" dirty="0">
                <a:solidFill>
                  <a:srgbClr val="FFFFFF"/>
                </a:solidFill>
                <a:latin typeface="Arial"/>
                <a:cs typeface="Arial"/>
              </a:rPr>
              <a:t>to</a:t>
            </a:r>
            <a:r>
              <a:rPr sz="1800" spc="-114" dirty="0">
                <a:solidFill>
                  <a:srgbClr val="FFFFFF"/>
                </a:solidFill>
                <a:latin typeface="Arial"/>
                <a:cs typeface="Arial"/>
              </a:rPr>
              <a:t> </a:t>
            </a:r>
            <a:r>
              <a:rPr sz="1800" spc="30" dirty="0">
                <a:solidFill>
                  <a:srgbClr val="FFFFFF"/>
                </a:solidFill>
                <a:latin typeface="Arial"/>
                <a:cs typeface="Arial"/>
              </a:rPr>
              <a:t>return</a:t>
            </a:r>
            <a:r>
              <a:rPr sz="1800" spc="-125" dirty="0">
                <a:solidFill>
                  <a:srgbClr val="FFFFFF"/>
                </a:solidFill>
                <a:latin typeface="Arial"/>
                <a:cs typeface="Arial"/>
              </a:rPr>
              <a:t> </a:t>
            </a:r>
            <a:r>
              <a:rPr sz="1800" spc="-75" dirty="0">
                <a:solidFill>
                  <a:srgbClr val="FFFFFF"/>
                </a:solidFill>
                <a:latin typeface="Arial"/>
                <a:cs typeface="Arial"/>
              </a:rPr>
              <a:t>system</a:t>
            </a:r>
            <a:r>
              <a:rPr sz="1800" spc="-110" dirty="0">
                <a:solidFill>
                  <a:srgbClr val="FFFFFF"/>
                </a:solidFill>
                <a:latin typeface="Arial"/>
                <a:cs typeface="Arial"/>
              </a:rPr>
              <a:t> </a:t>
            </a:r>
            <a:r>
              <a:rPr sz="1800" spc="-60" dirty="0">
                <a:solidFill>
                  <a:srgbClr val="FFFFFF"/>
                </a:solidFill>
                <a:latin typeface="Arial"/>
                <a:cs typeface="Arial"/>
              </a:rPr>
              <a:t>metadata.</a:t>
            </a:r>
            <a:endParaRPr sz="1800">
              <a:latin typeface="Arial"/>
              <a:cs typeface="Arial"/>
            </a:endParaRPr>
          </a:p>
          <a:p>
            <a:pPr marL="434340" marR="84455" indent="-342900">
              <a:lnSpc>
                <a:spcPct val="100000"/>
              </a:lnSpc>
              <a:buFont typeface="Wingdings"/>
              <a:buChar char=""/>
              <a:tabLst>
                <a:tab pos="434340" algn="l"/>
                <a:tab pos="434975" algn="l"/>
              </a:tabLst>
            </a:pPr>
            <a:r>
              <a:rPr sz="1800" spc="-60" dirty="0">
                <a:solidFill>
                  <a:srgbClr val="FFFFFF"/>
                </a:solidFill>
                <a:latin typeface="Arial"/>
                <a:cs typeface="Arial"/>
              </a:rPr>
              <a:t>These</a:t>
            </a:r>
            <a:r>
              <a:rPr sz="1800" spc="-110" dirty="0">
                <a:solidFill>
                  <a:srgbClr val="FFFFFF"/>
                </a:solidFill>
                <a:latin typeface="Arial"/>
                <a:cs typeface="Arial"/>
              </a:rPr>
              <a:t> </a:t>
            </a:r>
            <a:r>
              <a:rPr sz="1800" spc="-35" dirty="0">
                <a:solidFill>
                  <a:srgbClr val="FFFFFF"/>
                </a:solidFill>
                <a:latin typeface="Arial"/>
                <a:cs typeface="Arial"/>
              </a:rPr>
              <a:t>views</a:t>
            </a:r>
            <a:r>
              <a:rPr sz="1800" spc="-95" dirty="0">
                <a:solidFill>
                  <a:srgbClr val="FFFFFF"/>
                </a:solidFill>
                <a:latin typeface="Arial"/>
                <a:cs typeface="Arial"/>
              </a:rPr>
              <a:t> </a:t>
            </a:r>
            <a:r>
              <a:rPr sz="1800" spc="-90" dirty="0">
                <a:solidFill>
                  <a:srgbClr val="FFFFFF"/>
                </a:solidFill>
                <a:latin typeface="Arial"/>
                <a:cs typeface="Arial"/>
              </a:rPr>
              <a:t>are</a:t>
            </a:r>
            <a:r>
              <a:rPr sz="1800" spc="-110" dirty="0">
                <a:solidFill>
                  <a:srgbClr val="FFFFFF"/>
                </a:solidFill>
                <a:latin typeface="Arial"/>
                <a:cs typeface="Arial"/>
              </a:rPr>
              <a:t> </a:t>
            </a:r>
            <a:r>
              <a:rPr sz="1800" spc="-10" dirty="0">
                <a:solidFill>
                  <a:srgbClr val="FFFFFF"/>
                </a:solidFill>
                <a:latin typeface="Arial"/>
                <a:cs typeface="Arial"/>
              </a:rPr>
              <a:t>useful</a:t>
            </a:r>
            <a:r>
              <a:rPr sz="1800" spc="-100" dirty="0">
                <a:solidFill>
                  <a:srgbClr val="FFFFFF"/>
                </a:solidFill>
                <a:latin typeface="Arial"/>
                <a:cs typeface="Arial"/>
              </a:rPr>
              <a:t> </a:t>
            </a:r>
            <a:r>
              <a:rPr sz="1800" spc="45" dirty="0">
                <a:solidFill>
                  <a:srgbClr val="FFFFFF"/>
                </a:solidFill>
                <a:latin typeface="Arial"/>
                <a:cs typeface="Arial"/>
              </a:rPr>
              <a:t>to</a:t>
            </a:r>
            <a:r>
              <a:rPr sz="1800" spc="-100" dirty="0">
                <a:solidFill>
                  <a:srgbClr val="FFFFFF"/>
                </a:solidFill>
                <a:latin typeface="Arial"/>
                <a:cs typeface="Arial"/>
              </a:rPr>
              <a:t> </a:t>
            </a:r>
            <a:r>
              <a:rPr sz="1800" spc="35" dirty="0">
                <a:solidFill>
                  <a:srgbClr val="FFFFFF"/>
                </a:solidFill>
                <a:latin typeface="Arial"/>
                <a:cs typeface="Arial"/>
              </a:rPr>
              <a:t>third-party</a:t>
            </a:r>
            <a:r>
              <a:rPr sz="1800" spc="-105" dirty="0">
                <a:solidFill>
                  <a:srgbClr val="FFFFFF"/>
                </a:solidFill>
                <a:latin typeface="Arial"/>
                <a:cs typeface="Arial"/>
              </a:rPr>
              <a:t> </a:t>
            </a:r>
            <a:r>
              <a:rPr sz="1800" spc="-5" dirty="0">
                <a:solidFill>
                  <a:srgbClr val="FFFFFF"/>
                </a:solidFill>
                <a:latin typeface="Arial"/>
                <a:cs typeface="Arial"/>
              </a:rPr>
              <a:t>tools</a:t>
            </a:r>
            <a:r>
              <a:rPr sz="1800" spc="-105" dirty="0">
                <a:solidFill>
                  <a:srgbClr val="FFFFFF"/>
                </a:solidFill>
                <a:latin typeface="Arial"/>
                <a:cs typeface="Arial"/>
              </a:rPr>
              <a:t> </a:t>
            </a:r>
            <a:r>
              <a:rPr sz="1800" spc="30" dirty="0">
                <a:solidFill>
                  <a:srgbClr val="FFFFFF"/>
                </a:solidFill>
                <a:latin typeface="Arial"/>
                <a:cs typeface="Arial"/>
              </a:rPr>
              <a:t>that</a:t>
            </a:r>
            <a:r>
              <a:rPr sz="1800" spc="-105" dirty="0">
                <a:solidFill>
                  <a:srgbClr val="FFFFFF"/>
                </a:solidFill>
                <a:latin typeface="Arial"/>
                <a:cs typeface="Arial"/>
              </a:rPr>
              <a:t> </a:t>
            </a:r>
            <a:r>
              <a:rPr sz="1800" spc="-65" dirty="0">
                <a:solidFill>
                  <a:srgbClr val="FFFFFF"/>
                </a:solidFill>
                <a:latin typeface="Arial"/>
                <a:cs typeface="Arial"/>
              </a:rPr>
              <a:t>may</a:t>
            </a:r>
            <a:r>
              <a:rPr sz="1800" spc="-105" dirty="0">
                <a:solidFill>
                  <a:srgbClr val="FFFFFF"/>
                </a:solidFill>
                <a:latin typeface="Arial"/>
                <a:cs typeface="Arial"/>
              </a:rPr>
              <a:t> </a:t>
            </a:r>
            <a:r>
              <a:rPr sz="1800" spc="50" dirty="0">
                <a:solidFill>
                  <a:srgbClr val="FFFFFF"/>
                </a:solidFill>
                <a:latin typeface="Arial"/>
                <a:cs typeface="Arial"/>
              </a:rPr>
              <a:t>not</a:t>
            </a:r>
            <a:r>
              <a:rPr sz="1800" spc="-100" dirty="0">
                <a:solidFill>
                  <a:srgbClr val="FFFFFF"/>
                </a:solidFill>
                <a:latin typeface="Arial"/>
                <a:cs typeface="Arial"/>
              </a:rPr>
              <a:t> </a:t>
            </a:r>
            <a:r>
              <a:rPr sz="1800" spc="-95" dirty="0">
                <a:solidFill>
                  <a:srgbClr val="FFFFFF"/>
                </a:solidFill>
                <a:latin typeface="Arial"/>
                <a:cs typeface="Arial"/>
              </a:rPr>
              <a:t>be</a:t>
            </a:r>
            <a:r>
              <a:rPr sz="1800" spc="-105" dirty="0">
                <a:solidFill>
                  <a:srgbClr val="FFFFFF"/>
                </a:solidFill>
                <a:latin typeface="Arial"/>
                <a:cs typeface="Arial"/>
              </a:rPr>
              <a:t> </a:t>
            </a:r>
            <a:r>
              <a:rPr sz="1800" spc="-25" dirty="0">
                <a:solidFill>
                  <a:srgbClr val="FFFFFF"/>
                </a:solidFill>
                <a:latin typeface="Arial"/>
                <a:cs typeface="Arial"/>
              </a:rPr>
              <a:t>specific</a:t>
            </a:r>
            <a:r>
              <a:rPr sz="1800" spc="-95" dirty="0">
                <a:solidFill>
                  <a:srgbClr val="FFFFFF"/>
                </a:solidFill>
                <a:latin typeface="Arial"/>
                <a:cs typeface="Arial"/>
              </a:rPr>
              <a:t> </a:t>
            </a:r>
            <a:r>
              <a:rPr sz="1800" spc="60" dirty="0">
                <a:solidFill>
                  <a:srgbClr val="FFFFFF"/>
                </a:solidFill>
                <a:latin typeface="Arial"/>
                <a:cs typeface="Arial"/>
              </a:rPr>
              <a:t>for</a:t>
            </a:r>
            <a:r>
              <a:rPr sz="1800" spc="-105" dirty="0">
                <a:solidFill>
                  <a:srgbClr val="FFFFFF"/>
                </a:solidFill>
                <a:latin typeface="Arial"/>
                <a:cs typeface="Arial"/>
              </a:rPr>
              <a:t> </a:t>
            </a:r>
            <a:r>
              <a:rPr sz="1800" spc="20" dirty="0">
                <a:solidFill>
                  <a:srgbClr val="FFFFFF"/>
                </a:solidFill>
                <a:latin typeface="Arial"/>
                <a:cs typeface="Arial"/>
              </a:rPr>
              <a:t>SQL  </a:t>
            </a:r>
            <a:r>
              <a:rPr sz="1800" spc="-45" dirty="0">
                <a:solidFill>
                  <a:srgbClr val="FFFFFF"/>
                </a:solidFill>
                <a:latin typeface="Arial"/>
                <a:cs typeface="Arial"/>
              </a:rPr>
              <a:t>Server.</a:t>
            </a:r>
            <a:endParaRPr sz="1800">
              <a:latin typeface="Arial"/>
              <a:cs typeface="Arial"/>
            </a:endParaRPr>
          </a:p>
          <a:p>
            <a:pPr marL="434340" marR="84455" indent="-342900">
              <a:lnSpc>
                <a:spcPct val="100000"/>
              </a:lnSpc>
              <a:buFont typeface="Wingdings"/>
              <a:buChar char=""/>
              <a:tabLst>
                <a:tab pos="434340" algn="l"/>
                <a:tab pos="434975" algn="l"/>
              </a:tabLst>
            </a:pPr>
            <a:r>
              <a:rPr sz="1800" spc="35" dirty="0">
                <a:solidFill>
                  <a:srgbClr val="FFFFFF"/>
                </a:solidFill>
                <a:latin typeface="Arial"/>
                <a:cs typeface="Arial"/>
              </a:rPr>
              <a:t>Information </a:t>
            </a:r>
            <a:r>
              <a:rPr sz="1800" spc="-95" dirty="0">
                <a:solidFill>
                  <a:srgbClr val="FFFFFF"/>
                </a:solidFill>
                <a:latin typeface="Arial"/>
                <a:cs typeface="Arial"/>
              </a:rPr>
              <a:t>schema </a:t>
            </a:r>
            <a:r>
              <a:rPr sz="1800" spc="-35" dirty="0">
                <a:solidFill>
                  <a:srgbClr val="FFFFFF"/>
                </a:solidFill>
                <a:latin typeface="Arial"/>
                <a:cs typeface="Arial"/>
              </a:rPr>
              <a:t>views </a:t>
            </a:r>
            <a:r>
              <a:rPr sz="1800" spc="5" dirty="0">
                <a:solidFill>
                  <a:srgbClr val="FFFFFF"/>
                </a:solidFill>
                <a:latin typeface="Arial"/>
                <a:cs typeface="Arial"/>
              </a:rPr>
              <a:t>provide </a:t>
            </a:r>
            <a:r>
              <a:rPr sz="1800" spc="-60" dirty="0">
                <a:solidFill>
                  <a:srgbClr val="FFFFFF"/>
                </a:solidFill>
                <a:latin typeface="Arial"/>
                <a:cs typeface="Arial"/>
              </a:rPr>
              <a:t>an </a:t>
            </a:r>
            <a:r>
              <a:rPr sz="1800" spc="10" dirty="0">
                <a:solidFill>
                  <a:srgbClr val="FFFFFF"/>
                </a:solidFill>
                <a:latin typeface="Arial"/>
                <a:cs typeface="Arial"/>
              </a:rPr>
              <a:t>internal, </a:t>
            </a:r>
            <a:r>
              <a:rPr sz="1800" spc="-75" dirty="0">
                <a:solidFill>
                  <a:srgbClr val="FFFFFF"/>
                </a:solidFill>
                <a:latin typeface="Arial"/>
                <a:cs typeface="Arial"/>
              </a:rPr>
              <a:t>system </a:t>
            </a:r>
            <a:r>
              <a:rPr sz="1800" spc="-30" dirty="0">
                <a:solidFill>
                  <a:srgbClr val="FFFFFF"/>
                </a:solidFill>
                <a:latin typeface="Arial"/>
                <a:cs typeface="Arial"/>
              </a:rPr>
              <a:t>table </a:t>
            </a:r>
            <a:r>
              <a:rPr sz="1800" spc="-10" dirty="0">
                <a:solidFill>
                  <a:srgbClr val="FFFFFF"/>
                </a:solidFill>
                <a:latin typeface="Arial"/>
                <a:cs typeface="Arial"/>
              </a:rPr>
              <a:t>independent  </a:t>
            </a:r>
            <a:r>
              <a:rPr sz="1800" spc="5" dirty="0">
                <a:solidFill>
                  <a:srgbClr val="FFFFFF"/>
                </a:solidFill>
                <a:latin typeface="Arial"/>
                <a:cs typeface="Arial"/>
              </a:rPr>
              <a:t>view</a:t>
            </a:r>
            <a:r>
              <a:rPr sz="1800" spc="-120" dirty="0">
                <a:solidFill>
                  <a:srgbClr val="FFFFFF"/>
                </a:solidFill>
                <a:latin typeface="Arial"/>
                <a:cs typeface="Arial"/>
              </a:rPr>
              <a:t> </a:t>
            </a:r>
            <a:r>
              <a:rPr sz="1800" spc="45" dirty="0">
                <a:solidFill>
                  <a:srgbClr val="FFFFFF"/>
                </a:solidFill>
                <a:latin typeface="Arial"/>
                <a:cs typeface="Arial"/>
              </a:rPr>
              <a:t>of</a:t>
            </a:r>
            <a:r>
              <a:rPr sz="1800" spc="-110" dirty="0">
                <a:solidFill>
                  <a:srgbClr val="FFFFFF"/>
                </a:solidFill>
                <a:latin typeface="Arial"/>
                <a:cs typeface="Arial"/>
              </a:rPr>
              <a:t> </a:t>
            </a:r>
            <a:r>
              <a:rPr sz="1800" dirty="0">
                <a:solidFill>
                  <a:srgbClr val="FFFFFF"/>
                </a:solidFill>
                <a:latin typeface="Arial"/>
                <a:cs typeface="Arial"/>
              </a:rPr>
              <a:t>the</a:t>
            </a:r>
            <a:r>
              <a:rPr sz="1800" spc="-110" dirty="0">
                <a:solidFill>
                  <a:srgbClr val="FFFFFF"/>
                </a:solidFill>
                <a:latin typeface="Arial"/>
                <a:cs typeface="Arial"/>
              </a:rPr>
              <a:t> </a:t>
            </a:r>
            <a:r>
              <a:rPr sz="1800" spc="20" dirty="0">
                <a:solidFill>
                  <a:srgbClr val="FFFFFF"/>
                </a:solidFill>
                <a:latin typeface="Arial"/>
                <a:cs typeface="Arial"/>
              </a:rPr>
              <a:t>SQL</a:t>
            </a:r>
            <a:r>
              <a:rPr sz="1800" spc="-110" dirty="0">
                <a:solidFill>
                  <a:srgbClr val="FFFFFF"/>
                </a:solidFill>
                <a:latin typeface="Arial"/>
                <a:cs typeface="Arial"/>
              </a:rPr>
              <a:t> </a:t>
            </a:r>
            <a:r>
              <a:rPr sz="1800" spc="-45" dirty="0">
                <a:solidFill>
                  <a:srgbClr val="FFFFFF"/>
                </a:solidFill>
                <a:latin typeface="Arial"/>
                <a:cs typeface="Arial"/>
              </a:rPr>
              <a:t>Server</a:t>
            </a:r>
            <a:r>
              <a:rPr sz="1800" spc="-125" dirty="0">
                <a:solidFill>
                  <a:srgbClr val="FFFFFF"/>
                </a:solidFill>
                <a:latin typeface="Arial"/>
                <a:cs typeface="Arial"/>
              </a:rPr>
              <a:t> </a:t>
            </a:r>
            <a:r>
              <a:rPr sz="1800" spc="-60" dirty="0">
                <a:solidFill>
                  <a:srgbClr val="FFFFFF"/>
                </a:solidFill>
                <a:latin typeface="Arial"/>
                <a:cs typeface="Arial"/>
              </a:rPr>
              <a:t>metadata.</a:t>
            </a:r>
            <a:endParaRPr sz="1800">
              <a:latin typeface="Arial"/>
              <a:cs typeface="Arial"/>
            </a:endParaRPr>
          </a:p>
        </p:txBody>
      </p:sp>
      <p:sp>
        <p:nvSpPr>
          <p:cNvPr id="5" name="object 5"/>
          <p:cNvSpPr txBox="1"/>
          <p:nvPr/>
        </p:nvSpPr>
        <p:spPr>
          <a:xfrm>
            <a:off x="2053589" y="6148577"/>
            <a:ext cx="4417695" cy="238760"/>
          </a:xfrm>
          <a:prstGeom prst="rect">
            <a:avLst/>
          </a:prstGeom>
        </p:spPr>
        <p:txBody>
          <a:bodyPr vert="horz" wrap="square" lIns="0" tIns="12065" rIns="0" bIns="0" rtlCol="0">
            <a:spAutoFit/>
          </a:bodyPr>
          <a:lstStyle/>
          <a:p>
            <a:pPr marL="12700">
              <a:lnSpc>
                <a:spcPct val="100000"/>
              </a:lnSpc>
              <a:spcBef>
                <a:spcPts val="95"/>
              </a:spcBef>
            </a:pPr>
            <a:r>
              <a:rPr sz="1400" b="1" spc="-45" dirty="0">
                <a:latin typeface="Arial"/>
                <a:cs typeface="Arial"/>
              </a:rPr>
              <a:t>Information</a:t>
            </a:r>
            <a:r>
              <a:rPr sz="1400" b="1" spc="-130" dirty="0">
                <a:latin typeface="Arial"/>
                <a:cs typeface="Arial"/>
              </a:rPr>
              <a:t> </a:t>
            </a:r>
            <a:r>
              <a:rPr sz="1400" b="1" spc="-114" dirty="0">
                <a:latin typeface="Arial"/>
                <a:cs typeface="Arial"/>
              </a:rPr>
              <a:t>Schema </a:t>
            </a:r>
            <a:r>
              <a:rPr sz="1400" b="1" spc="-50" dirty="0">
                <a:latin typeface="Arial"/>
                <a:cs typeface="Arial"/>
              </a:rPr>
              <a:t>Views</a:t>
            </a:r>
            <a:r>
              <a:rPr sz="1400" b="1" spc="-120" dirty="0">
                <a:latin typeface="Arial"/>
                <a:cs typeface="Arial"/>
              </a:rPr>
              <a:t> </a:t>
            </a:r>
            <a:r>
              <a:rPr sz="1400" b="1" spc="-85" dirty="0">
                <a:latin typeface="Arial"/>
                <a:cs typeface="Arial"/>
              </a:rPr>
              <a:t>and</a:t>
            </a:r>
            <a:r>
              <a:rPr sz="1400" b="1" spc="-120" dirty="0">
                <a:latin typeface="Arial"/>
                <a:cs typeface="Arial"/>
              </a:rPr>
              <a:t> </a:t>
            </a:r>
            <a:r>
              <a:rPr sz="1400" b="1" spc="-25" dirty="0">
                <a:latin typeface="Arial"/>
                <a:cs typeface="Arial"/>
              </a:rPr>
              <a:t>SQL</a:t>
            </a:r>
            <a:r>
              <a:rPr sz="1400" b="1" spc="-125" dirty="0">
                <a:latin typeface="Arial"/>
                <a:cs typeface="Arial"/>
              </a:rPr>
              <a:t> </a:t>
            </a:r>
            <a:r>
              <a:rPr sz="1400" b="1" spc="-85" dirty="0">
                <a:latin typeface="Arial"/>
                <a:cs typeface="Arial"/>
              </a:rPr>
              <a:t>Server</a:t>
            </a:r>
            <a:r>
              <a:rPr sz="1400" b="1" spc="-125" dirty="0">
                <a:latin typeface="Arial"/>
                <a:cs typeface="Arial"/>
              </a:rPr>
              <a:t> </a:t>
            </a:r>
            <a:r>
              <a:rPr sz="1400" b="1" spc="-110" dirty="0">
                <a:latin typeface="Arial"/>
                <a:cs typeface="Arial"/>
              </a:rPr>
              <a:t>System</a:t>
            </a:r>
            <a:r>
              <a:rPr sz="1400" b="1" spc="-135" dirty="0">
                <a:latin typeface="Arial"/>
                <a:cs typeface="Arial"/>
              </a:rPr>
              <a:t> </a:t>
            </a:r>
            <a:r>
              <a:rPr sz="1400" b="1" spc="-50" dirty="0">
                <a:latin typeface="Arial"/>
                <a:cs typeface="Arial"/>
              </a:rPr>
              <a:t>Views</a:t>
            </a:r>
            <a:endParaRPr sz="1400">
              <a:latin typeface="Arial"/>
              <a:cs typeface="Arial"/>
            </a:endParaRPr>
          </a:p>
        </p:txBody>
      </p:sp>
      <p:graphicFrame>
        <p:nvGraphicFramePr>
          <p:cNvPr id="6" name="object 6"/>
          <p:cNvGraphicFramePr>
            <a:graphicFrameLocks noGrp="1"/>
          </p:cNvGraphicFramePr>
          <p:nvPr/>
        </p:nvGraphicFramePr>
        <p:xfrm>
          <a:off x="751027" y="3494278"/>
          <a:ext cx="7761603" cy="2577794"/>
        </p:xfrm>
        <a:graphic>
          <a:graphicData uri="http://schemas.openxmlformats.org/drawingml/2006/table">
            <a:tbl>
              <a:tblPr firstRow="1" bandRow="1">
                <a:tableStyleId>{2D5ABB26-0587-4C30-8999-92F81FD0307C}</a:tableStyleId>
              </a:tblPr>
              <a:tblGrid>
                <a:gridCol w="1724025">
                  <a:extLst>
                    <a:ext uri="{9D8B030D-6E8A-4147-A177-3AD203B41FA5}">
                      <a16:colId xmlns:a16="http://schemas.microsoft.com/office/drawing/2014/main" val="20000"/>
                    </a:ext>
                  </a:extLst>
                </a:gridCol>
                <a:gridCol w="412114">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1302385">
                  <a:extLst>
                    <a:ext uri="{9D8B030D-6E8A-4147-A177-3AD203B41FA5}">
                      <a16:colId xmlns:a16="http://schemas.microsoft.com/office/drawing/2014/main" val="20003"/>
                    </a:ext>
                  </a:extLst>
                </a:gridCol>
                <a:gridCol w="3875404">
                  <a:extLst>
                    <a:ext uri="{9D8B030D-6E8A-4147-A177-3AD203B41FA5}">
                      <a16:colId xmlns:a16="http://schemas.microsoft.com/office/drawing/2014/main" val="20004"/>
                    </a:ext>
                  </a:extLst>
                </a:gridCol>
              </a:tblGrid>
              <a:tr h="298069">
                <a:tc gridSpan="4">
                  <a:txBody>
                    <a:bodyPr/>
                    <a:lstStyle/>
                    <a:p>
                      <a:pPr marL="882015" marR="3175">
                        <a:lnSpc>
                          <a:spcPts val="1600"/>
                        </a:lnSpc>
                      </a:pPr>
                      <a:r>
                        <a:rPr sz="1400" spc="-5" dirty="0">
                          <a:solidFill>
                            <a:srgbClr val="FFFFFF"/>
                          </a:solidFill>
                          <a:latin typeface="Arial"/>
                          <a:cs typeface="Arial"/>
                        </a:rPr>
                        <a:t>Information Schema</a:t>
                      </a:r>
                      <a:r>
                        <a:rPr sz="1400" spc="-35" dirty="0">
                          <a:solidFill>
                            <a:srgbClr val="FFFFFF"/>
                          </a:solidFill>
                          <a:latin typeface="Arial"/>
                          <a:cs typeface="Arial"/>
                        </a:rPr>
                        <a:t> </a:t>
                      </a:r>
                      <a:r>
                        <a:rPr sz="1400" spc="-5" dirty="0">
                          <a:solidFill>
                            <a:srgbClr val="FFFFFF"/>
                          </a:solidFill>
                          <a:latin typeface="Arial"/>
                          <a:cs typeface="Arial"/>
                        </a:rPr>
                        <a:t>Views</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6F2F9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890905">
                        <a:lnSpc>
                          <a:spcPts val="1600"/>
                        </a:lnSpc>
                      </a:pPr>
                      <a:r>
                        <a:rPr sz="1400" spc="-5" dirty="0">
                          <a:solidFill>
                            <a:srgbClr val="FFFFFF"/>
                          </a:solidFill>
                          <a:latin typeface="Arial"/>
                          <a:cs typeface="Arial"/>
                        </a:rPr>
                        <a:t>SQL Server System</a:t>
                      </a:r>
                      <a:r>
                        <a:rPr sz="1400" spc="-20" dirty="0">
                          <a:solidFill>
                            <a:srgbClr val="FFFFFF"/>
                          </a:solidFill>
                          <a:latin typeface="Arial"/>
                          <a:cs typeface="Arial"/>
                        </a:rPr>
                        <a:t> </a:t>
                      </a:r>
                      <a:r>
                        <a:rPr sz="1400" spc="-5" dirty="0">
                          <a:solidFill>
                            <a:srgbClr val="FFFFFF"/>
                          </a:solidFill>
                          <a:latin typeface="Arial"/>
                          <a:cs typeface="Arial"/>
                        </a:rPr>
                        <a:t>Views</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6F2F9F"/>
                    </a:solidFill>
                  </a:tcPr>
                </a:tc>
                <a:extLst>
                  <a:ext uri="{0D108BD9-81ED-4DB2-BD59-A6C34878D82A}">
                    <a16:rowId xmlns:a16="http://schemas.microsoft.com/office/drawing/2014/main" val="10000"/>
                  </a:ext>
                </a:extLst>
              </a:tr>
              <a:tr h="390397">
                <a:tc>
                  <a:txBody>
                    <a:bodyPr/>
                    <a:lstStyle/>
                    <a:p>
                      <a:pPr>
                        <a:lnSpc>
                          <a:spcPts val="1390"/>
                        </a:lnSpc>
                        <a:tabLst>
                          <a:tab pos="521334" algn="l"/>
                          <a:tab pos="895985" algn="l"/>
                          <a:tab pos="1464310" algn="l"/>
                        </a:tabLst>
                      </a:pPr>
                      <a:r>
                        <a:rPr sz="1200" spc="-5" dirty="0">
                          <a:latin typeface="Arial"/>
                          <a:cs typeface="Arial"/>
                        </a:rPr>
                        <a:t>They	are	stored	</a:t>
                      </a:r>
                      <a:r>
                        <a:rPr sz="1200" spc="-10" dirty="0">
                          <a:latin typeface="Arial"/>
                          <a:cs typeface="Arial"/>
                        </a:rPr>
                        <a:t>in</a:t>
                      </a:r>
                      <a:endParaRPr sz="1200">
                        <a:latin typeface="Arial"/>
                        <a:cs typeface="Arial"/>
                      </a:endParaRPr>
                    </a:p>
                    <a:p>
                      <a:pPr>
                        <a:lnSpc>
                          <a:spcPts val="1425"/>
                        </a:lnSpc>
                      </a:pPr>
                      <a:r>
                        <a:rPr sz="1100" spc="-5" dirty="0">
                          <a:latin typeface="Arial"/>
                          <a:cs typeface="Arial"/>
                        </a:rPr>
                        <a:t>INFORMATION_SCHEMA</a:t>
                      </a:r>
                      <a:r>
                        <a:rPr sz="1200" spc="-5" dirty="0">
                          <a:latin typeface="Arial"/>
                          <a:cs typeface="Arial"/>
                        </a:rPr>
                        <a:t>.</a:t>
                      </a:r>
                      <a:endParaRPr sz="1200">
                        <a:latin typeface="Arial"/>
                        <a:cs typeface="Arial"/>
                      </a:endParaRPr>
                    </a:p>
                  </a:txBody>
                  <a:tcPr marL="0" marR="0" marT="0" marB="0">
                    <a:lnB w="12700">
                      <a:solidFill>
                        <a:srgbClr val="000000"/>
                      </a:solidFill>
                      <a:prstDash val="solid"/>
                    </a:lnB>
                    <a:solidFill>
                      <a:srgbClr val="FFFFFF"/>
                    </a:solidFill>
                  </a:tcPr>
                </a:tc>
                <a:tc>
                  <a:txBody>
                    <a:bodyPr/>
                    <a:lstStyle/>
                    <a:p>
                      <a:pPr marL="28575">
                        <a:lnSpc>
                          <a:spcPts val="1405"/>
                        </a:lnSpc>
                      </a:pPr>
                      <a:r>
                        <a:rPr sz="1200" spc="-5" dirty="0">
                          <a:latin typeface="Arial"/>
                          <a:cs typeface="Arial"/>
                        </a:rPr>
                        <a:t>their</a:t>
                      </a:r>
                      <a:endParaRPr sz="1200">
                        <a:latin typeface="Arial"/>
                        <a:cs typeface="Arial"/>
                      </a:endParaRPr>
                    </a:p>
                  </a:txBody>
                  <a:tcPr marL="0" marR="0" marT="0" marB="0">
                    <a:lnB w="12700">
                      <a:solidFill>
                        <a:srgbClr val="000000"/>
                      </a:solidFill>
                      <a:prstDash val="solid"/>
                    </a:lnB>
                    <a:solidFill>
                      <a:srgbClr val="FFFFFF"/>
                    </a:solidFill>
                  </a:tcPr>
                </a:tc>
                <a:tc>
                  <a:txBody>
                    <a:bodyPr/>
                    <a:lstStyle/>
                    <a:p>
                      <a:pPr marL="85725">
                        <a:lnSpc>
                          <a:spcPts val="1405"/>
                        </a:lnSpc>
                      </a:pPr>
                      <a:r>
                        <a:rPr sz="1200" spc="-5" dirty="0">
                          <a:latin typeface="Arial"/>
                          <a:cs typeface="Arial"/>
                        </a:rPr>
                        <a:t>own</a:t>
                      </a:r>
                      <a:endParaRPr sz="1200">
                        <a:latin typeface="Arial"/>
                        <a:cs typeface="Arial"/>
                      </a:endParaRPr>
                    </a:p>
                  </a:txBody>
                  <a:tcPr marL="0" marR="0" marT="0" marB="0">
                    <a:lnB w="12700">
                      <a:solidFill>
                        <a:srgbClr val="000000"/>
                      </a:solidFill>
                      <a:prstDash val="solid"/>
                    </a:lnB>
                    <a:solidFill>
                      <a:srgbClr val="FFFFFF"/>
                    </a:solidFill>
                  </a:tcPr>
                </a:tc>
                <a:tc>
                  <a:txBody>
                    <a:bodyPr/>
                    <a:lstStyle/>
                    <a:p>
                      <a:pPr marL="81280" marR="3175">
                        <a:lnSpc>
                          <a:spcPts val="1405"/>
                        </a:lnSpc>
                      </a:pPr>
                      <a:r>
                        <a:rPr sz="1200" spc="-20" dirty="0">
                          <a:latin typeface="Arial"/>
                          <a:cs typeface="Arial"/>
                        </a:rPr>
                        <a:t>schema,</a:t>
                      </a:r>
                      <a:endParaRPr sz="1200">
                        <a:latin typeface="Arial"/>
                        <a:cs typeface="Arial"/>
                      </a:endParaRPr>
                    </a:p>
                  </a:txBody>
                  <a:tcPr marL="0" marR="0" marT="0" marB="0">
                    <a:lnR w="12700">
                      <a:solidFill>
                        <a:srgbClr val="000000"/>
                      </a:solidFill>
                      <a:prstDash val="solid"/>
                    </a:lnR>
                    <a:lnB w="12700">
                      <a:solidFill>
                        <a:srgbClr val="000000"/>
                      </a:solidFill>
                      <a:prstDash val="solid"/>
                    </a:lnB>
                    <a:solidFill>
                      <a:srgbClr val="FFFFFF"/>
                    </a:solidFill>
                  </a:tcPr>
                </a:tc>
                <a:tc>
                  <a:txBody>
                    <a:bodyPr/>
                    <a:lstStyle/>
                    <a:p>
                      <a:pPr>
                        <a:lnSpc>
                          <a:spcPct val="100000"/>
                        </a:lnSpc>
                        <a:spcBef>
                          <a:spcPts val="750"/>
                        </a:spcBef>
                      </a:pPr>
                      <a:r>
                        <a:rPr sz="1200" spc="-5" dirty="0">
                          <a:latin typeface="Arial"/>
                          <a:cs typeface="Arial"/>
                        </a:rPr>
                        <a:t>They appear </a:t>
                      </a:r>
                      <a:r>
                        <a:rPr sz="1200" dirty="0">
                          <a:latin typeface="Arial"/>
                          <a:cs typeface="Arial"/>
                        </a:rPr>
                        <a:t>in the </a:t>
                      </a:r>
                      <a:r>
                        <a:rPr sz="1100" dirty="0">
                          <a:latin typeface="Arial"/>
                          <a:cs typeface="Arial"/>
                        </a:rPr>
                        <a:t>sys</a:t>
                      </a:r>
                      <a:r>
                        <a:rPr sz="1100" spc="10" dirty="0">
                          <a:latin typeface="Arial"/>
                          <a:cs typeface="Arial"/>
                        </a:rPr>
                        <a:t> </a:t>
                      </a:r>
                      <a:r>
                        <a:rPr sz="1200" spc="-5" dirty="0">
                          <a:latin typeface="Arial"/>
                          <a:cs typeface="Arial"/>
                        </a:rPr>
                        <a:t>schema.</a:t>
                      </a:r>
                      <a:endParaRPr sz="1200">
                        <a:latin typeface="Arial"/>
                        <a:cs typeface="Arial"/>
                      </a:endParaRPr>
                    </a:p>
                  </a:txBody>
                  <a:tcPr marL="0" marR="0" marT="95250" marB="0">
                    <a:lnL w="12700">
                      <a:solidFill>
                        <a:srgbClr val="000000"/>
                      </a:solidFill>
                      <a:prstDash val="solid"/>
                    </a:lnL>
                    <a:lnB w="12700">
                      <a:solidFill>
                        <a:srgbClr val="000000"/>
                      </a:solidFill>
                      <a:prstDash val="solid"/>
                    </a:lnB>
                    <a:solidFill>
                      <a:srgbClr val="FFFFFF"/>
                    </a:solidFill>
                  </a:tcPr>
                </a:tc>
                <a:extLst>
                  <a:ext uri="{0D108BD9-81ED-4DB2-BD59-A6C34878D82A}">
                    <a16:rowId xmlns:a16="http://schemas.microsoft.com/office/drawing/2014/main" val="10001"/>
                  </a:ext>
                </a:extLst>
              </a:tr>
              <a:tr h="753110">
                <a:tc gridSpan="4">
                  <a:txBody>
                    <a:bodyPr/>
                    <a:lstStyle/>
                    <a:p>
                      <a:pPr>
                        <a:lnSpc>
                          <a:spcPts val="1405"/>
                        </a:lnSpc>
                      </a:pPr>
                      <a:r>
                        <a:rPr sz="1200" spc="-5" dirty="0">
                          <a:latin typeface="Arial"/>
                          <a:cs typeface="Arial"/>
                        </a:rPr>
                        <a:t>They use standard terminology instead of </a:t>
                      </a:r>
                      <a:r>
                        <a:rPr sz="1200" dirty="0">
                          <a:latin typeface="Arial"/>
                          <a:cs typeface="Arial"/>
                        </a:rPr>
                        <a:t>SQL</a:t>
                      </a:r>
                      <a:r>
                        <a:rPr sz="1200" spc="-5" dirty="0">
                          <a:latin typeface="Arial"/>
                          <a:cs typeface="Arial"/>
                        </a:rPr>
                        <a:t> Server</a:t>
                      </a:r>
                      <a:endParaRPr sz="1200">
                        <a:latin typeface="Arial"/>
                        <a:cs typeface="Arial"/>
                      </a:endParaRPr>
                    </a:p>
                    <a:p>
                      <a:pPr>
                        <a:lnSpc>
                          <a:spcPts val="1410"/>
                        </a:lnSpc>
                        <a:spcBef>
                          <a:spcPts val="70"/>
                        </a:spcBef>
                      </a:pPr>
                      <a:r>
                        <a:rPr sz="1200" dirty="0">
                          <a:latin typeface="Arial"/>
                          <a:cs typeface="Arial"/>
                        </a:rPr>
                        <a:t>terms. </a:t>
                      </a:r>
                      <a:r>
                        <a:rPr sz="1200" spc="-5" dirty="0">
                          <a:latin typeface="Arial"/>
                          <a:cs typeface="Arial"/>
                        </a:rPr>
                        <a:t>For example, </a:t>
                      </a:r>
                      <a:r>
                        <a:rPr sz="1200" dirty="0">
                          <a:latin typeface="Arial"/>
                          <a:cs typeface="Arial"/>
                        </a:rPr>
                        <a:t>they </a:t>
                      </a:r>
                      <a:r>
                        <a:rPr sz="1200" spc="-5" dirty="0">
                          <a:latin typeface="Arial"/>
                          <a:cs typeface="Arial"/>
                        </a:rPr>
                        <a:t>use catalog instead of database  and domain instead of user-defined data</a:t>
                      </a:r>
                      <a:r>
                        <a:rPr sz="1200" spc="-50" dirty="0">
                          <a:latin typeface="Arial"/>
                          <a:cs typeface="Arial"/>
                        </a:rPr>
                        <a:t> </a:t>
                      </a:r>
                      <a:r>
                        <a:rPr sz="1200" dirty="0">
                          <a:latin typeface="Arial"/>
                          <a:cs typeface="Arial"/>
                        </a:rPr>
                        <a:t>type.</a:t>
                      </a:r>
                      <a:endParaRPr sz="1200">
                        <a:latin typeface="Arial"/>
                        <a:cs typeface="Arial"/>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spcBef>
                          <a:spcPts val="55"/>
                        </a:spcBef>
                      </a:pPr>
                      <a:endParaRPr sz="1850">
                        <a:latin typeface="Times New Roman"/>
                        <a:cs typeface="Times New Roman"/>
                      </a:endParaRPr>
                    </a:p>
                    <a:p>
                      <a:pPr>
                        <a:lnSpc>
                          <a:spcPct val="100000"/>
                        </a:lnSpc>
                      </a:pPr>
                      <a:r>
                        <a:rPr sz="1200" spc="-5" dirty="0">
                          <a:latin typeface="Arial"/>
                          <a:cs typeface="Arial"/>
                        </a:rPr>
                        <a:t>They adhere </a:t>
                      </a:r>
                      <a:r>
                        <a:rPr sz="1200" dirty="0">
                          <a:latin typeface="Arial"/>
                          <a:cs typeface="Arial"/>
                        </a:rPr>
                        <a:t>to SQL </a:t>
                      </a:r>
                      <a:r>
                        <a:rPr sz="1200" spc="-20" dirty="0">
                          <a:latin typeface="Arial"/>
                          <a:cs typeface="Arial"/>
                        </a:rPr>
                        <a:t>Server</a:t>
                      </a:r>
                      <a:r>
                        <a:rPr sz="1200" spc="-60" dirty="0">
                          <a:latin typeface="Arial"/>
                          <a:cs typeface="Arial"/>
                        </a:rPr>
                        <a:t> </a:t>
                      </a:r>
                      <a:r>
                        <a:rPr sz="1200" spc="-5" dirty="0">
                          <a:latin typeface="Arial"/>
                          <a:cs typeface="Arial"/>
                        </a:rPr>
                        <a:t>terminology.</a:t>
                      </a:r>
                      <a:endParaRPr sz="1200">
                        <a:latin typeface="Arial"/>
                        <a:cs typeface="Arial"/>
                      </a:endParaRPr>
                    </a:p>
                  </a:txBody>
                  <a:tcPr marL="0" marR="0" marT="6985" marB="0">
                    <a:lnL w="12700">
                      <a:solidFill>
                        <a:srgbClr val="000000"/>
                      </a:solidFill>
                      <a:prstDash val="solid"/>
                    </a:lnL>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2"/>
                  </a:ext>
                </a:extLst>
              </a:tr>
              <a:tr h="1136218">
                <a:tc gridSpan="4">
                  <a:txBody>
                    <a:bodyPr/>
                    <a:lstStyle/>
                    <a:p>
                      <a:pPr marR="140970">
                        <a:lnSpc>
                          <a:spcPts val="1440"/>
                        </a:lnSpc>
                        <a:spcBef>
                          <a:spcPts val="15"/>
                        </a:spcBef>
                      </a:pPr>
                      <a:r>
                        <a:rPr sz="1200" spc="-5" dirty="0">
                          <a:latin typeface="Arial"/>
                          <a:cs typeface="Arial"/>
                        </a:rPr>
                        <a:t>They may </a:t>
                      </a:r>
                      <a:r>
                        <a:rPr sz="1200" dirty="0">
                          <a:latin typeface="Arial"/>
                          <a:cs typeface="Arial"/>
                        </a:rPr>
                        <a:t>not </a:t>
                      </a:r>
                      <a:r>
                        <a:rPr sz="1200" spc="-5" dirty="0">
                          <a:latin typeface="Arial"/>
                          <a:cs typeface="Arial"/>
                        </a:rPr>
                        <a:t>expose all </a:t>
                      </a:r>
                      <a:r>
                        <a:rPr sz="1200" dirty="0">
                          <a:latin typeface="Arial"/>
                          <a:cs typeface="Arial"/>
                        </a:rPr>
                        <a:t>the </a:t>
                      </a:r>
                      <a:r>
                        <a:rPr sz="1200" spc="-5" dirty="0">
                          <a:latin typeface="Arial"/>
                          <a:cs typeface="Arial"/>
                        </a:rPr>
                        <a:t>metadata available </a:t>
                      </a:r>
                      <a:r>
                        <a:rPr sz="1200" dirty="0">
                          <a:latin typeface="Arial"/>
                          <a:cs typeface="Arial"/>
                        </a:rPr>
                        <a:t>to SQL  </a:t>
                      </a:r>
                      <a:r>
                        <a:rPr sz="1200" spc="-5" dirty="0">
                          <a:latin typeface="Arial"/>
                          <a:cs typeface="Arial"/>
                        </a:rPr>
                        <a:t>Server's own catalog views. </a:t>
                      </a:r>
                      <a:r>
                        <a:rPr sz="1200" dirty="0">
                          <a:latin typeface="Arial"/>
                          <a:cs typeface="Arial"/>
                        </a:rPr>
                        <a:t>For </a:t>
                      </a:r>
                      <a:r>
                        <a:rPr sz="1200" spc="-5" dirty="0">
                          <a:latin typeface="Arial"/>
                          <a:cs typeface="Arial"/>
                        </a:rPr>
                        <a:t>example, </a:t>
                      </a:r>
                      <a:r>
                        <a:rPr sz="1200" dirty="0">
                          <a:latin typeface="Arial"/>
                          <a:cs typeface="Arial"/>
                        </a:rPr>
                        <a:t>sys.columns  </a:t>
                      </a:r>
                      <a:r>
                        <a:rPr sz="1200" spc="-5" dirty="0">
                          <a:latin typeface="Arial"/>
                          <a:cs typeface="Arial"/>
                        </a:rPr>
                        <a:t>includes </a:t>
                      </a:r>
                      <a:r>
                        <a:rPr sz="1200" dirty="0">
                          <a:latin typeface="Arial"/>
                          <a:cs typeface="Arial"/>
                        </a:rPr>
                        <a:t>attributes </a:t>
                      </a:r>
                      <a:r>
                        <a:rPr sz="1200" spc="-15" dirty="0">
                          <a:latin typeface="Arial"/>
                          <a:cs typeface="Arial"/>
                        </a:rPr>
                        <a:t>for </a:t>
                      </a:r>
                      <a:r>
                        <a:rPr sz="1200" spc="-5" dirty="0">
                          <a:latin typeface="Arial"/>
                          <a:cs typeface="Arial"/>
                        </a:rPr>
                        <a:t>identity property and</a:t>
                      </a:r>
                      <a:r>
                        <a:rPr sz="1200" spc="-20" dirty="0">
                          <a:latin typeface="Arial"/>
                          <a:cs typeface="Arial"/>
                        </a:rPr>
                        <a:t> </a:t>
                      </a:r>
                      <a:r>
                        <a:rPr sz="1200" spc="-5" dirty="0">
                          <a:latin typeface="Arial"/>
                          <a:cs typeface="Arial"/>
                        </a:rPr>
                        <a:t>computed</a:t>
                      </a:r>
                      <a:endParaRPr sz="1200">
                        <a:latin typeface="Arial"/>
                        <a:cs typeface="Arial"/>
                      </a:endParaRPr>
                    </a:p>
                    <a:p>
                      <a:pPr marR="801370">
                        <a:lnSpc>
                          <a:spcPts val="1410"/>
                        </a:lnSpc>
                        <a:spcBef>
                          <a:spcPts val="25"/>
                        </a:spcBef>
                      </a:pPr>
                      <a:r>
                        <a:rPr sz="1200" spc="-5" dirty="0">
                          <a:latin typeface="Arial"/>
                          <a:cs typeface="Arial"/>
                        </a:rPr>
                        <a:t>column </a:t>
                      </a:r>
                      <a:r>
                        <a:rPr sz="1200" spc="-20" dirty="0">
                          <a:latin typeface="Arial"/>
                          <a:cs typeface="Arial"/>
                        </a:rPr>
                        <a:t>property, </a:t>
                      </a:r>
                      <a:r>
                        <a:rPr sz="1200" spc="-5" dirty="0">
                          <a:latin typeface="Arial"/>
                          <a:cs typeface="Arial"/>
                        </a:rPr>
                        <a:t>while  INFORMATION_SCHEMA.columns does</a:t>
                      </a:r>
                      <a:r>
                        <a:rPr sz="1200" spc="-35" dirty="0">
                          <a:latin typeface="Arial"/>
                          <a:cs typeface="Arial"/>
                        </a:rPr>
                        <a:t> </a:t>
                      </a:r>
                      <a:r>
                        <a:rPr sz="1200" dirty="0">
                          <a:latin typeface="Arial"/>
                          <a:cs typeface="Arial"/>
                        </a:rPr>
                        <a:t>not.</a:t>
                      </a:r>
                      <a:endParaRPr sz="1200">
                        <a:latin typeface="Arial"/>
                        <a:cs typeface="Arial"/>
                      </a:endParaRPr>
                    </a:p>
                  </a:txBody>
                  <a:tcPr marL="0" marR="0" marT="1905" marB="0">
                    <a:lnR w="12700">
                      <a:solidFill>
                        <a:srgbClr val="000000"/>
                      </a:solidFill>
                      <a:prstDash val="solid"/>
                    </a:lnR>
                    <a:lnT w="12700">
                      <a:solidFill>
                        <a:srgbClr val="000000"/>
                      </a:solidFill>
                      <a:prstDash val="solid"/>
                    </a:lnT>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300">
                        <a:latin typeface="Times New Roman"/>
                        <a:cs typeface="Times New Roman"/>
                      </a:endParaRPr>
                    </a:p>
                    <a:p>
                      <a:pPr>
                        <a:lnSpc>
                          <a:spcPct val="100000"/>
                        </a:lnSpc>
                      </a:pPr>
                      <a:endParaRPr sz="1350">
                        <a:latin typeface="Times New Roman"/>
                        <a:cs typeface="Times New Roman"/>
                      </a:endParaRPr>
                    </a:p>
                    <a:p>
                      <a:pPr marR="427355">
                        <a:lnSpc>
                          <a:spcPts val="1410"/>
                        </a:lnSpc>
                      </a:pPr>
                      <a:r>
                        <a:rPr sz="1200" spc="-5" dirty="0">
                          <a:latin typeface="Arial"/>
                          <a:cs typeface="Arial"/>
                        </a:rPr>
                        <a:t>They can expose all </a:t>
                      </a:r>
                      <a:r>
                        <a:rPr sz="1200" dirty="0">
                          <a:latin typeface="Arial"/>
                          <a:cs typeface="Arial"/>
                        </a:rPr>
                        <a:t>the </a:t>
                      </a:r>
                      <a:r>
                        <a:rPr sz="1200" spc="-5" dirty="0">
                          <a:latin typeface="Arial"/>
                          <a:cs typeface="Arial"/>
                        </a:rPr>
                        <a:t>metadata available </a:t>
                      </a:r>
                      <a:r>
                        <a:rPr sz="1200" dirty="0">
                          <a:latin typeface="Arial"/>
                          <a:cs typeface="Arial"/>
                        </a:rPr>
                        <a:t>to SQL  </a:t>
                      </a:r>
                      <a:r>
                        <a:rPr sz="1200" spc="-5" dirty="0">
                          <a:latin typeface="Arial"/>
                          <a:cs typeface="Arial"/>
                        </a:rPr>
                        <a:t>Server's catalog</a:t>
                      </a:r>
                      <a:r>
                        <a:rPr sz="1200" spc="-30" dirty="0">
                          <a:latin typeface="Arial"/>
                          <a:cs typeface="Arial"/>
                        </a:rPr>
                        <a:t> </a:t>
                      </a:r>
                      <a:r>
                        <a:rPr sz="1200" spc="-5" dirty="0">
                          <a:latin typeface="Arial"/>
                          <a:cs typeface="Arial"/>
                        </a:rPr>
                        <a:t>views.</a:t>
                      </a:r>
                      <a:endParaRPr sz="1200">
                        <a:latin typeface="Arial"/>
                        <a:cs typeface="Arial"/>
                      </a:endParaRPr>
                    </a:p>
                  </a:txBody>
                  <a:tcPr marL="0" marR="0" marT="0" marB="0">
                    <a:lnL w="12700">
                      <a:solidFill>
                        <a:srgbClr val="000000"/>
                      </a:solidFill>
                      <a:prstDash val="solid"/>
                    </a:lnL>
                    <a:lnT w="12700">
                      <a:solidFill>
                        <a:srgbClr val="000000"/>
                      </a:solidFill>
                      <a:prstDash val="solid"/>
                    </a:lnT>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6089650" cy="574040"/>
          </a:xfrm>
          <a:prstGeom prst="rect">
            <a:avLst/>
          </a:prstGeom>
        </p:spPr>
        <p:txBody>
          <a:bodyPr vert="horz" wrap="square" lIns="0" tIns="12700" rIns="0" bIns="0" rtlCol="0">
            <a:spAutoFit/>
          </a:bodyPr>
          <a:lstStyle/>
          <a:p>
            <a:pPr marL="12700">
              <a:lnSpc>
                <a:spcPct val="100000"/>
              </a:lnSpc>
              <a:spcBef>
                <a:spcPts val="100"/>
              </a:spcBef>
            </a:pPr>
            <a:r>
              <a:rPr b="0" spc="25" dirty="0">
                <a:latin typeface="Arial"/>
                <a:cs typeface="Arial"/>
              </a:rPr>
              <a:t>Querying </a:t>
            </a:r>
            <a:r>
              <a:rPr b="0" spc="-130" dirty="0">
                <a:latin typeface="Arial"/>
                <a:cs typeface="Arial"/>
              </a:rPr>
              <a:t>System </a:t>
            </a:r>
            <a:r>
              <a:rPr b="0" spc="-45" dirty="0">
                <a:latin typeface="Arial"/>
                <a:cs typeface="Arial"/>
              </a:rPr>
              <a:t>MetaData</a:t>
            </a:r>
            <a:r>
              <a:rPr b="0" spc="-655" dirty="0">
                <a:latin typeface="Arial"/>
                <a:cs typeface="Arial"/>
              </a:rPr>
              <a:t> </a:t>
            </a:r>
            <a:r>
              <a:rPr b="0" spc="-360" dirty="0">
                <a:latin typeface="Arial"/>
                <a:cs typeface="Arial"/>
              </a:rPr>
              <a:t>3-3</a:t>
            </a:r>
          </a:p>
        </p:txBody>
      </p:sp>
      <p:sp>
        <p:nvSpPr>
          <p:cNvPr id="3" name="object 3"/>
          <p:cNvSpPr/>
          <p:nvPr/>
        </p:nvSpPr>
        <p:spPr>
          <a:xfrm>
            <a:off x="513588" y="1417319"/>
            <a:ext cx="8117205" cy="1270635"/>
          </a:xfrm>
          <a:custGeom>
            <a:avLst/>
            <a:gdLst/>
            <a:ahLst/>
            <a:cxnLst/>
            <a:rect l="l" t="t" r="r" b="b"/>
            <a:pathLst>
              <a:path w="8117205" h="1270635">
                <a:moveTo>
                  <a:pt x="8116824" y="211709"/>
                </a:moveTo>
                <a:lnTo>
                  <a:pt x="8111223" y="163156"/>
                </a:lnTo>
                <a:lnTo>
                  <a:pt x="8095310" y="118592"/>
                </a:lnTo>
                <a:lnTo>
                  <a:pt x="8070316" y="79286"/>
                </a:lnTo>
                <a:lnTo>
                  <a:pt x="8037538" y="46507"/>
                </a:lnTo>
                <a:lnTo>
                  <a:pt x="7998231" y="21513"/>
                </a:lnTo>
                <a:lnTo>
                  <a:pt x="7953667" y="5600"/>
                </a:lnTo>
                <a:lnTo>
                  <a:pt x="7905115" y="0"/>
                </a:lnTo>
                <a:lnTo>
                  <a:pt x="211709" y="0"/>
                </a:lnTo>
                <a:lnTo>
                  <a:pt x="163156" y="5600"/>
                </a:lnTo>
                <a:lnTo>
                  <a:pt x="118592" y="21513"/>
                </a:lnTo>
                <a:lnTo>
                  <a:pt x="79286" y="46507"/>
                </a:lnTo>
                <a:lnTo>
                  <a:pt x="46507" y="79286"/>
                </a:lnTo>
                <a:lnTo>
                  <a:pt x="21513" y="118592"/>
                </a:lnTo>
                <a:lnTo>
                  <a:pt x="5588" y="163156"/>
                </a:lnTo>
                <a:lnTo>
                  <a:pt x="0" y="211709"/>
                </a:lnTo>
                <a:lnTo>
                  <a:pt x="0" y="1058545"/>
                </a:lnTo>
                <a:lnTo>
                  <a:pt x="5588" y="1107109"/>
                </a:lnTo>
                <a:lnTo>
                  <a:pt x="21513" y="1151674"/>
                </a:lnTo>
                <a:lnTo>
                  <a:pt x="46507" y="1190980"/>
                </a:lnTo>
                <a:lnTo>
                  <a:pt x="79286" y="1223759"/>
                </a:lnTo>
                <a:lnTo>
                  <a:pt x="118592" y="1248752"/>
                </a:lnTo>
                <a:lnTo>
                  <a:pt x="163156" y="1264666"/>
                </a:lnTo>
                <a:lnTo>
                  <a:pt x="211709" y="1270254"/>
                </a:lnTo>
                <a:lnTo>
                  <a:pt x="7905115" y="1270254"/>
                </a:lnTo>
                <a:lnTo>
                  <a:pt x="7953667" y="1264666"/>
                </a:lnTo>
                <a:lnTo>
                  <a:pt x="7998231" y="1248752"/>
                </a:lnTo>
                <a:lnTo>
                  <a:pt x="8037538" y="1223759"/>
                </a:lnTo>
                <a:lnTo>
                  <a:pt x="8070316" y="1190980"/>
                </a:lnTo>
                <a:lnTo>
                  <a:pt x="8095310" y="1151674"/>
                </a:lnTo>
                <a:lnTo>
                  <a:pt x="8111223" y="1107109"/>
                </a:lnTo>
                <a:lnTo>
                  <a:pt x="8116824" y="1058545"/>
                </a:lnTo>
                <a:lnTo>
                  <a:pt x="8116824" y="960882"/>
                </a:lnTo>
                <a:lnTo>
                  <a:pt x="8116824" y="309372"/>
                </a:lnTo>
                <a:lnTo>
                  <a:pt x="8116824" y="211709"/>
                </a:lnTo>
                <a:close/>
              </a:path>
            </a:pathLst>
          </a:custGeom>
          <a:solidFill>
            <a:srgbClr val="4AACC5"/>
          </a:solidFill>
        </p:spPr>
        <p:txBody>
          <a:bodyPr wrap="square" lIns="0" tIns="0" rIns="0" bIns="0" rtlCol="0"/>
          <a:lstStyle/>
          <a:p>
            <a:endParaRPr/>
          </a:p>
        </p:txBody>
      </p:sp>
      <p:sp>
        <p:nvSpPr>
          <p:cNvPr id="4" name="object 4"/>
          <p:cNvSpPr txBox="1"/>
          <p:nvPr/>
        </p:nvSpPr>
        <p:spPr>
          <a:xfrm>
            <a:off x="383540" y="741926"/>
            <a:ext cx="7262495" cy="1691639"/>
          </a:xfrm>
          <a:prstGeom prst="rect">
            <a:avLst/>
          </a:prstGeom>
        </p:spPr>
        <p:txBody>
          <a:bodyPr vert="horz" wrap="square" lIns="0" tIns="223520" rIns="0" bIns="0" rtlCol="0">
            <a:spAutoFit/>
          </a:bodyPr>
          <a:lstStyle/>
          <a:p>
            <a:pPr marL="12700">
              <a:lnSpc>
                <a:spcPct val="100000"/>
              </a:lnSpc>
              <a:spcBef>
                <a:spcPts val="1760"/>
              </a:spcBef>
            </a:pPr>
            <a:r>
              <a:rPr sz="2400" b="1" spc="-190" dirty="0">
                <a:latin typeface="Arial"/>
                <a:cs typeface="Arial"/>
              </a:rPr>
              <a:t>System </a:t>
            </a:r>
            <a:r>
              <a:rPr sz="2400" b="1" spc="-114" dirty="0">
                <a:latin typeface="Arial"/>
                <a:cs typeface="Arial"/>
              </a:rPr>
              <a:t>Metadata</a:t>
            </a:r>
            <a:r>
              <a:rPr sz="2400" b="1" spc="-229" dirty="0">
                <a:latin typeface="Arial"/>
                <a:cs typeface="Arial"/>
              </a:rPr>
              <a:t> </a:t>
            </a:r>
            <a:r>
              <a:rPr sz="2400" b="1" spc="-140" dirty="0">
                <a:latin typeface="Arial"/>
                <a:cs typeface="Arial"/>
              </a:rPr>
              <a:t>Functions</a:t>
            </a:r>
            <a:endParaRPr sz="2400">
              <a:latin typeface="Arial"/>
              <a:cs typeface="Arial"/>
            </a:endParaRPr>
          </a:p>
          <a:p>
            <a:pPr marL="688340" indent="-343535">
              <a:lnSpc>
                <a:spcPct val="100000"/>
              </a:lnSpc>
              <a:spcBef>
                <a:spcPts val="1380"/>
              </a:spcBef>
              <a:buFont typeface="Wingdings"/>
              <a:buChar char=""/>
              <a:tabLst>
                <a:tab pos="688340" algn="l"/>
                <a:tab pos="688975" algn="l"/>
              </a:tabLst>
            </a:pPr>
            <a:r>
              <a:rPr sz="2000" spc="65" dirty="0">
                <a:solidFill>
                  <a:srgbClr val="FFFFFF"/>
                </a:solidFill>
                <a:latin typeface="Arial"/>
                <a:cs typeface="Arial"/>
              </a:rPr>
              <a:t>Built-in</a:t>
            </a:r>
            <a:r>
              <a:rPr sz="2000" spc="-140" dirty="0">
                <a:solidFill>
                  <a:srgbClr val="FFFFFF"/>
                </a:solidFill>
                <a:latin typeface="Arial"/>
                <a:cs typeface="Arial"/>
              </a:rPr>
              <a:t> </a:t>
            </a:r>
            <a:r>
              <a:rPr sz="2000" spc="25" dirty="0">
                <a:solidFill>
                  <a:srgbClr val="FFFFFF"/>
                </a:solidFill>
                <a:latin typeface="Arial"/>
                <a:cs typeface="Arial"/>
              </a:rPr>
              <a:t>functions</a:t>
            </a:r>
            <a:r>
              <a:rPr sz="2000" spc="-120" dirty="0">
                <a:solidFill>
                  <a:srgbClr val="FFFFFF"/>
                </a:solidFill>
                <a:latin typeface="Arial"/>
                <a:cs typeface="Arial"/>
              </a:rPr>
              <a:t> </a:t>
            </a:r>
            <a:r>
              <a:rPr sz="2000" spc="-75" dirty="0">
                <a:solidFill>
                  <a:srgbClr val="FFFFFF"/>
                </a:solidFill>
                <a:latin typeface="Arial"/>
                <a:cs typeface="Arial"/>
              </a:rPr>
              <a:t>can</a:t>
            </a:r>
            <a:r>
              <a:rPr sz="2000" spc="-130" dirty="0">
                <a:solidFill>
                  <a:srgbClr val="FFFFFF"/>
                </a:solidFill>
                <a:latin typeface="Arial"/>
                <a:cs typeface="Arial"/>
              </a:rPr>
              <a:t> </a:t>
            </a:r>
            <a:r>
              <a:rPr sz="2000" spc="35" dirty="0">
                <a:solidFill>
                  <a:srgbClr val="FFFFFF"/>
                </a:solidFill>
                <a:latin typeface="Arial"/>
                <a:cs typeface="Arial"/>
              </a:rPr>
              <a:t>return</a:t>
            </a:r>
            <a:r>
              <a:rPr sz="2000" spc="-114" dirty="0">
                <a:solidFill>
                  <a:srgbClr val="FFFFFF"/>
                </a:solidFill>
                <a:latin typeface="Arial"/>
                <a:cs typeface="Arial"/>
              </a:rPr>
              <a:t> </a:t>
            </a:r>
            <a:r>
              <a:rPr sz="2000" spc="-65" dirty="0">
                <a:solidFill>
                  <a:srgbClr val="FFFFFF"/>
                </a:solidFill>
                <a:latin typeface="Arial"/>
                <a:cs typeface="Arial"/>
              </a:rPr>
              <a:t>metadata</a:t>
            </a:r>
            <a:r>
              <a:rPr sz="2000" spc="-114" dirty="0">
                <a:solidFill>
                  <a:srgbClr val="FFFFFF"/>
                </a:solidFill>
                <a:latin typeface="Arial"/>
                <a:cs typeface="Arial"/>
              </a:rPr>
              <a:t> </a:t>
            </a:r>
            <a:r>
              <a:rPr sz="2000" spc="50" dirty="0">
                <a:solidFill>
                  <a:srgbClr val="FFFFFF"/>
                </a:solidFill>
                <a:latin typeface="Arial"/>
                <a:cs typeface="Arial"/>
              </a:rPr>
              <a:t>to</a:t>
            </a:r>
            <a:r>
              <a:rPr sz="2000" spc="-125" dirty="0">
                <a:solidFill>
                  <a:srgbClr val="FFFFFF"/>
                </a:solidFill>
                <a:latin typeface="Arial"/>
                <a:cs typeface="Arial"/>
              </a:rPr>
              <a:t> </a:t>
            </a:r>
            <a:r>
              <a:rPr sz="2000" spc="-195" dirty="0">
                <a:solidFill>
                  <a:srgbClr val="FFFFFF"/>
                </a:solidFill>
                <a:latin typeface="Arial"/>
                <a:cs typeface="Arial"/>
              </a:rPr>
              <a:t>a</a:t>
            </a:r>
            <a:r>
              <a:rPr sz="2000" spc="-125" dirty="0">
                <a:solidFill>
                  <a:srgbClr val="FFFFFF"/>
                </a:solidFill>
                <a:latin typeface="Arial"/>
                <a:cs typeface="Arial"/>
              </a:rPr>
              <a:t> </a:t>
            </a:r>
            <a:r>
              <a:rPr sz="2000" spc="-20" dirty="0">
                <a:solidFill>
                  <a:srgbClr val="FFFFFF"/>
                </a:solidFill>
                <a:latin typeface="Arial"/>
                <a:cs typeface="Arial"/>
              </a:rPr>
              <a:t>query.</a:t>
            </a:r>
            <a:endParaRPr sz="2000">
              <a:latin typeface="Arial"/>
              <a:cs typeface="Arial"/>
            </a:endParaRPr>
          </a:p>
          <a:p>
            <a:pPr marL="688340" indent="-343535">
              <a:lnSpc>
                <a:spcPct val="100000"/>
              </a:lnSpc>
              <a:buFont typeface="Wingdings"/>
              <a:buChar char=""/>
              <a:tabLst>
                <a:tab pos="688340" algn="l"/>
                <a:tab pos="688975" algn="l"/>
              </a:tabLst>
            </a:pPr>
            <a:r>
              <a:rPr sz="2000" spc="-70" dirty="0">
                <a:solidFill>
                  <a:srgbClr val="FFFFFF"/>
                </a:solidFill>
                <a:latin typeface="Arial"/>
                <a:cs typeface="Arial"/>
              </a:rPr>
              <a:t>These</a:t>
            </a:r>
            <a:r>
              <a:rPr sz="2000" spc="-125" dirty="0">
                <a:solidFill>
                  <a:srgbClr val="FFFFFF"/>
                </a:solidFill>
                <a:latin typeface="Arial"/>
                <a:cs typeface="Arial"/>
              </a:rPr>
              <a:t> </a:t>
            </a:r>
            <a:r>
              <a:rPr sz="2000" spc="10" dirty="0">
                <a:solidFill>
                  <a:srgbClr val="FFFFFF"/>
                </a:solidFill>
                <a:latin typeface="Arial"/>
                <a:cs typeface="Arial"/>
              </a:rPr>
              <a:t>include</a:t>
            </a:r>
            <a:r>
              <a:rPr sz="2000" spc="-140" dirty="0">
                <a:solidFill>
                  <a:srgbClr val="FFFFFF"/>
                </a:solidFill>
                <a:latin typeface="Arial"/>
                <a:cs typeface="Arial"/>
              </a:rPr>
              <a:t> </a:t>
            </a:r>
            <a:r>
              <a:rPr sz="2000" spc="-85" dirty="0">
                <a:solidFill>
                  <a:srgbClr val="FFFFFF"/>
                </a:solidFill>
                <a:latin typeface="Arial"/>
                <a:cs typeface="Arial"/>
              </a:rPr>
              <a:t>scalar</a:t>
            </a:r>
            <a:r>
              <a:rPr sz="2000" spc="-120" dirty="0">
                <a:solidFill>
                  <a:srgbClr val="FFFFFF"/>
                </a:solidFill>
                <a:latin typeface="Arial"/>
                <a:cs typeface="Arial"/>
              </a:rPr>
              <a:t> </a:t>
            </a:r>
            <a:r>
              <a:rPr sz="2000" spc="25" dirty="0">
                <a:solidFill>
                  <a:srgbClr val="FFFFFF"/>
                </a:solidFill>
                <a:latin typeface="Arial"/>
                <a:cs typeface="Arial"/>
              </a:rPr>
              <a:t>functions</a:t>
            </a:r>
            <a:r>
              <a:rPr sz="2000" spc="-125" dirty="0">
                <a:solidFill>
                  <a:srgbClr val="FFFFFF"/>
                </a:solidFill>
                <a:latin typeface="Arial"/>
                <a:cs typeface="Arial"/>
              </a:rPr>
              <a:t> </a:t>
            </a:r>
            <a:r>
              <a:rPr sz="2000" spc="-40" dirty="0">
                <a:solidFill>
                  <a:srgbClr val="FFFFFF"/>
                </a:solidFill>
                <a:latin typeface="Arial"/>
                <a:cs typeface="Arial"/>
              </a:rPr>
              <a:t>and</a:t>
            </a:r>
            <a:r>
              <a:rPr sz="2000" spc="-125" dirty="0">
                <a:solidFill>
                  <a:srgbClr val="FFFFFF"/>
                </a:solidFill>
                <a:latin typeface="Arial"/>
                <a:cs typeface="Arial"/>
              </a:rPr>
              <a:t> </a:t>
            </a:r>
            <a:r>
              <a:rPr sz="2000" spc="-25" dirty="0">
                <a:solidFill>
                  <a:srgbClr val="FFFFFF"/>
                </a:solidFill>
                <a:latin typeface="Arial"/>
                <a:cs typeface="Arial"/>
              </a:rPr>
              <a:t>table-valued</a:t>
            </a:r>
            <a:r>
              <a:rPr sz="2000" spc="-105" dirty="0">
                <a:solidFill>
                  <a:srgbClr val="FFFFFF"/>
                </a:solidFill>
                <a:latin typeface="Arial"/>
                <a:cs typeface="Arial"/>
              </a:rPr>
              <a:t> </a:t>
            </a:r>
            <a:r>
              <a:rPr sz="2000" spc="15" dirty="0">
                <a:solidFill>
                  <a:srgbClr val="FFFFFF"/>
                </a:solidFill>
                <a:latin typeface="Arial"/>
                <a:cs typeface="Arial"/>
              </a:rPr>
              <a:t>functions.</a:t>
            </a:r>
            <a:endParaRPr sz="2000">
              <a:latin typeface="Arial"/>
              <a:cs typeface="Arial"/>
            </a:endParaRPr>
          </a:p>
          <a:p>
            <a:pPr marL="688340" indent="-343535">
              <a:lnSpc>
                <a:spcPct val="100000"/>
              </a:lnSpc>
              <a:buFont typeface="Wingdings"/>
              <a:buChar char=""/>
              <a:tabLst>
                <a:tab pos="688340" algn="l"/>
                <a:tab pos="688975" algn="l"/>
              </a:tabLst>
            </a:pPr>
            <a:r>
              <a:rPr sz="2000" spc="20" dirty="0">
                <a:solidFill>
                  <a:srgbClr val="FFFFFF"/>
                </a:solidFill>
                <a:latin typeface="Arial"/>
                <a:cs typeface="Arial"/>
              </a:rPr>
              <a:t>SQL</a:t>
            </a:r>
            <a:r>
              <a:rPr sz="2000" spc="-140" dirty="0">
                <a:solidFill>
                  <a:srgbClr val="FFFFFF"/>
                </a:solidFill>
                <a:latin typeface="Arial"/>
                <a:cs typeface="Arial"/>
              </a:rPr>
              <a:t> </a:t>
            </a:r>
            <a:r>
              <a:rPr sz="2000" spc="-50" dirty="0">
                <a:solidFill>
                  <a:srgbClr val="FFFFFF"/>
                </a:solidFill>
                <a:latin typeface="Arial"/>
                <a:cs typeface="Arial"/>
              </a:rPr>
              <a:t>Server</a:t>
            </a:r>
            <a:r>
              <a:rPr sz="2000" spc="-120" dirty="0">
                <a:solidFill>
                  <a:srgbClr val="FFFFFF"/>
                </a:solidFill>
                <a:latin typeface="Arial"/>
                <a:cs typeface="Arial"/>
              </a:rPr>
              <a:t> </a:t>
            </a:r>
            <a:r>
              <a:rPr sz="2000" spc="-65" dirty="0">
                <a:solidFill>
                  <a:srgbClr val="FFFFFF"/>
                </a:solidFill>
                <a:latin typeface="Arial"/>
                <a:cs typeface="Arial"/>
              </a:rPr>
              <a:t>metadata</a:t>
            </a:r>
            <a:r>
              <a:rPr sz="2000" spc="-114" dirty="0">
                <a:solidFill>
                  <a:srgbClr val="FFFFFF"/>
                </a:solidFill>
                <a:latin typeface="Arial"/>
                <a:cs typeface="Arial"/>
              </a:rPr>
              <a:t> </a:t>
            </a:r>
            <a:r>
              <a:rPr sz="2000" spc="25" dirty="0">
                <a:solidFill>
                  <a:srgbClr val="FFFFFF"/>
                </a:solidFill>
                <a:latin typeface="Arial"/>
                <a:cs typeface="Arial"/>
              </a:rPr>
              <a:t>functions</a:t>
            </a:r>
            <a:r>
              <a:rPr sz="2000" spc="-125" dirty="0">
                <a:solidFill>
                  <a:srgbClr val="FFFFFF"/>
                </a:solidFill>
                <a:latin typeface="Arial"/>
                <a:cs typeface="Arial"/>
              </a:rPr>
              <a:t> </a:t>
            </a:r>
            <a:r>
              <a:rPr sz="2000" spc="-80" dirty="0">
                <a:solidFill>
                  <a:srgbClr val="FFFFFF"/>
                </a:solidFill>
                <a:latin typeface="Arial"/>
                <a:cs typeface="Arial"/>
              </a:rPr>
              <a:t>come</a:t>
            </a:r>
            <a:r>
              <a:rPr sz="2000" spc="-125" dirty="0">
                <a:solidFill>
                  <a:srgbClr val="FFFFFF"/>
                </a:solidFill>
                <a:latin typeface="Arial"/>
                <a:cs typeface="Arial"/>
              </a:rPr>
              <a:t> </a:t>
            </a:r>
            <a:r>
              <a:rPr sz="2000" spc="95" dirty="0">
                <a:solidFill>
                  <a:srgbClr val="FFFFFF"/>
                </a:solidFill>
                <a:latin typeface="Arial"/>
                <a:cs typeface="Arial"/>
              </a:rPr>
              <a:t>in</a:t>
            </a:r>
            <a:r>
              <a:rPr sz="2000" spc="-135" dirty="0">
                <a:solidFill>
                  <a:srgbClr val="FFFFFF"/>
                </a:solidFill>
                <a:latin typeface="Arial"/>
                <a:cs typeface="Arial"/>
              </a:rPr>
              <a:t> </a:t>
            </a:r>
            <a:r>
              <a:rPr sz="2000" spc="-195" dirty="0">
                <a:solidFill>
                  <a:srgbClr val="FFFFFF"/>
                </a:solidFill>
                <a:latin typeface="Arial"/>
                <a:cs typeface="Arial"/>
              </a:rPr>
              <a:t>a</a:t>
            </a:r>
            <a:r>
              <a:rPr sz="2000" spc="-130" dirty="0">
                <a:solidFill>
                  <a:srgbClr val="FFFFFF"/>
                </a:solidFill>
                <a:latin typeface="Arial"/>
                <a:cs typeface="Arial"/>
              </a:rPr>
              <a:t> </a:t>
            </a:r>
            <a:r>
              <a:rPr sz="2000" dirty="0">
                <a:solidFill>
                  <a:srgbClr val="FFFFFF"/>
                </a:solidFill>
                <a:latin typeface="Arial"/>
                <a:cs typeface="Arial"/>
              </a:rPr>
              <a:t>variety</a:t>
            </a:r>
            <a:r>
              <a:rPr sz="2000" spc="-114" dirty="0">
                <a:solidFill>
                  <a:srgbClr val="FFFFFF"/>
                </a:solidFill>
                <a:latin typeface="Arial"/>
                <a:cs typeface="Arial"/>
              </a:rPr>
              <a:t> </a:t>
            </a:r>
            <a:r>
              <a:rPr sz="2000" spc="50" dirty="0">
                <a:solidFill>
                  <a:srgbClr val="FFFFFF"/>
                </a:solidFill>
                <a:latin typeface="Arial"/>
                <a:cs typeface="Arial"/>
              </a:rPr>
              <a:t>of</a:t>
            </a:r>
            <a:r>
              <a:rPr sz="2000" spc="-130" dirty="0">
                <a:solidFill>
                  <a:srgbClr val="FFFFFF"/>
                </a:solidFill>
                <a:latin typeface="Arial"/>
                <a:cs typeface="Arial"/>
              </a:rPr>
              <a:t> </a:t>
            </a:r>
            <a:r>
              <a:rPr sz="2000" spc="-20" dirty="0">
                <a:solidFill>
                  <a:srgbClr val="FFFFFF"/>
                </a:solidFill>
                <a:latin typeface="Arial"/>
                <a:cs typeface="Arial"/>
              </a:rPr>
              <a:t>formats.</a:t>
            </a:r>
            <a:endParaRPr sz="20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42</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object 5"/>
          <p:cNvSpPr txBox="1"/>
          <p:nvPr/>
        </p:nvSpPr>
        <p:spPr>
          <a:xfrm>
            <a:off x="3291585" y="6174232"/>
            <a:ext cx="2872105" cy="238760"/>
          </a:xfrm>
          <a:prstGeom prst="rect">
            <a:avLst/>
          </a:prstGeom>
        </p:spPr>
        <p:txBody>
          <a:bodyPr vert="horz" wrap="square" lIns="0" tIns="12065" rIns="0" bIns="0" rtlCol="0">
            <a:spAutoFit/>
          </a:bodyPr>
          <a:lstStyle/>
          <a:p>
            <a:pPr marL="12700">
              <a:lnSpc>
                <a:spcPct val="100000"/>
              </a:lnSpc>
              <a:spcBef>
                <a:spcPts val="95"/>
              </a:spcBef>
            </a:pPr>
            <a:r>
              <a:rPr sz="1400" b="1" spc="-60" dirty="0">
                <a:latin typeface="Arial"/>
                <a:cs typeface="Arial"/>
              </a:rPr>
              <a:t>Common </a:t>
            </a:r>
            <a:r>
              <a:rPr sz="1400" b="1" spc="-110" dirty="0">
                <a:latin typeface="Arial"/>
                <a:cs typeface="Arial"/>
              </a:rPr>
              <a:t>System </a:t>
            </a:r>
            <a:r>
              <a:rPr sz="1400" b="1" spc="-65" dirty="0">
                <a:latin typeface="Arial"/>
                <a:cs typeface="Arial"/>
              </a:rPr>
              <a:t>Metadata</a:t>
            </a:r>
            <a:r>
              <a:rPr sz="1400" b="1" spc="-240" dirty="0">
                <a:latin typeface="Arial"/>
                <a:cs typeface="Arial"/>
              </a:rPr>
              <a:t> </a:t>
            </a:r>
            <a:r>
              <a:rPr sz="1400" b="1" spc="-85" dirty="0">
                <a:latin typeface="Arial"/>
                <a:cs typeface="Arial"/>
              </a:rPr>
              <a:t>Functions</a:t>
            </a:r>
            <a:endParaRPr sz="1400">
              <a:latin typeface="Arial"/>
              <a:cs typeface="Arial"/>
            </a:endParaRPr>
          </a:p>
        </p:txBody>
      </p:sp>
      <p:graphicFrame>
        <p:nvGraphicFramePr>
          <p:cNvPr id="6" name="object 6"/>
          <p:cNvGraphicFramePr>
            <a:graphicFrameLocks noGrp="1"/>
          </p:cNvGraphicFramePr>
          <p:nvPr/>
        </p:nvGraphicFramePr>
        <p:xfrm>
          <a:off x="1352994" y="3424237"/>
          <a:ext cx="6429373" cy="2673666"/>
        </p:xfrm>
        <a:graphic>
          <a:graphicData uri="http://schemas.openxmlformats.org/drawingml/2006/table">
            <a:tbl>
              <a:tblPr firstRow="1" bandRow="1">
                <a:tableStyleId>{2D5ABB26-0587-4C30-8999-92F81FD0307C}</a:tableStyleId>
              </a:tblPr>
              <a:tblGrid>
                <a:gridCol w="2161540">
                  <a:extLst>
                    <a:ext uri="{9D8B030D-6E8A-4147-A177-3AD203B41FA5}">
                      <a16:colId xmlns:a16="http://schemas.microsoft.com/office/drawing/2014/main" val="20000"/>
                    </a:ext>
                  </a:extLst>
                </a:gridCol>
                <a:gridCol w="2411094">
                  <a:extLst>
                    <a:ext uri="{9D8B030D-6E8A-4147-A177-3AD203B41FA5}">
                      <a16:colId xmlns:a16="http://schemas.microsoft.com/office/drawing/2014/main" val="20001"/>
                    </a:ext>
                  </a:extLst>
                </a:gridCol>
                <a:gridCol w="1856739">
                  <a:extLst>
                    <a:ext uri="{9D8B030D-6E8A-4147-A177-3AD203B41FA5}">
                      <a16:colId xmlns:a16="http://schemas.microsoft.com/office/drawing/2014/main" val="20002"/>
                    </a:ext>
                  </a:extLst>
                </a:gridCol>
              </a:tblGrid>
              <a:tr h="265938">
                <a:tc>
                  <a:txBody>
                    <a:bodyPr/>
                    <a:lstStyle/>
                    <a:p>
                      <a:pPr marL="450215">
                        <a:lnSpc>
                          <a:spcPts val="1860"/>
                        </a:lnSpc>
                      </a:pPr>
                      <a:r>
                        <a:rPr sz="1600" spc="-5" dirty="0">
                          <a:solidFill>
                            <a:srgbClr val="FFFFFF"/>
                          </a:solidFill>
                          <a:latin typeface="Calibri"/>
                          <a:cs typeface="Calibri"/>
                        </a:rPr>
                        <a:t>Function</a:t>
                      </a:r>
                      <a:r>
                        <a:rPr sz="1600" spc="-25" dirty="0">
                          <a:solidFill>
                            <a:srgbClr val="FFFFFF"/>
                          </a:solidFill>
                          <a:latin typeface="Calibri"/>
                          <a:cs typeface="Calibri"/>
                        </a:rPr>
                        <a:t> </a:t>
                      </a:r>
                      <a:r>
                        <a:rPr sz="1600" dirty="0">
                          <a:solidFill>
                            <a:srgbClr val="FFFFFF"/>
                          </a:solidFill>
                          <a:latin typeface="Calibri"/>
                          <a:cs typeface="Calibri"/>
                        </a:rPr>
                        <a:t>Name</a:t>
                      </a:r>
                      <a:endParaRPr sz="1600">
                        <a:latin typeface="Calibri"/>
                        <a:cs typeface="Calibri"/>
                      </a:endParaRPr>
                    </a:p>
                  </a:txBody>
                  <a:tcPr marL="0" marR="0" marT="0" marB="0">
                    <a:lnL w="9525">
                      <a:solidFill>
                        <a:srgbClr val="BD4A47"/>
                      </a:solidFill>
                      <a:prstDash val="solid"/>
                    </a:lnL>
                    <a:lnR w="9525">
                      <a:solidFill>
                        <a:srgbClr val="BD4A47"/>
                      </a:solidFill>
                      <a:prstDash val="solid"/>
                    </a:lnR>
                    <a:solidFill>
                      <a:srgbClr val="C0504D"/>
                    </a:solidFill>
                  </a:tcPr>
                </a:tc>
                <a:tc>
                  <a:txBody>
                    <a:bodyPr/>
                    <a:lstStyle/>
                    <a:p>
                      <a:pPr marL="733425">
                        <a:lnSpc>
                          <a:spcPts val="1860"/>
                        </a:lnSpc>
                      </a:pPr>
                      <a:r>
                        <a:rPr sz="1600" spc="-10" dirty="0">
                          <a:solidFill>
                            <a:srgbClr val="FFFFFF"/>
                          </a:solidFill>
                          <a:latin typeface="Calibri"/>
                          <a:cs typeface="Calibri"/>
                        </a:rPr>
                        <a:t>Description</a:t>
                      </a:r>
                      <a:endParaRPr sz="1600">
                        <a:latin typeface="Calibri"/>
                        <a:cs typeface="Calibri"/>
                      </a:endParaRPr>
                    </a:p>
                  </a:txBody>
                  <a:tcPr marL="0" marR="0" marT="0" marB="0">
                    <a:lnL w="9525">
                      <a:solidFill>
                        <a:srgbClr val="BD4A47"/>
                      </a:solidFill>
                      <a:prstDash val="solid"/>
                    </a:lnL>
                    <a:lnR w="9525">
                      <a:solidFill>
                        <a:srgbClr val="BD4A47"/>
                      </a:solidFill>
                      <a:prstDash val="solid"/>
                    </a:lnR>
                    <a:solidFill>
                      <a:srgbClr val="C0504D"/>
                    </a:solidFill>
                  </a:tcPr>
                </a:tc>
                <a:tc>
                  <a:txBody>
                    <a:bodyPr/>
                    <a:lstStyle/>
                    <a:p>
                      <a:pPr marL="577215">
                        <a:lnSpc>
                          <a:spcPts val="1860"/>
                        </a:lnSpc>
                      </a:pPr>
                      <a:r>
                        <a:rPr sz="1600" spc="-5" dirty="0">
                          <a:solidFill>
                            <a:srgbClr val="FFFFFF"/>
                          </a:solidFill>
                          <a:latin typeface="Calibri"/>
                          <a:cs typeface="Calibri"/>
                        </a:rPr>
                        <a:t>Example</a:t>
                      </a:r>
                      <a:endParaRPr sz="1600">
                        <a:latin typeface="Calibri"/>
                        <a:cs typeface="Calibri"/>
                      </a:endParaRPr>
                    </a:p>
                  </a:txBody>
                  <a:tcPr marL="0" marR="0" marT="0" marB="0">
                    <a:lnL w="9525">
                      <a:solidFill>
                        <a:srgbClr val="BD4A47"/>
                      </a:solidFill>
                      <a:prstDash val="solid"/>
                    </a:lnL>
                    <a:lnR w="9525">
                      <a:solidFill>
                        <a:srgbClr val="BD4A47"/>
                      </a:solidFill>
                      <a:prstDash val="solid"/>
                    </a:lnR>
                    <a:solidFill>
                      <a:srgbClr val="C0504D"/>
                    </a:solidFill>
                  </a:tcPr>
                </a:tc>
                <a:extLst>
                  <a:ext uri="{0D108BD9-81ED-4DB2-BD59-A6C34878D82A}">
                    <a16:rowId xmlns:a16="http://schemas.microsoft.com/office/drawing/2014/main" val="10000"/>
                  </a:ext>
                </a:extLst>
              </a:tr>
              <a:tr h="421957">
                <a:tc>
                  <a:txBody>
                    <a:bodyPr/>
                    <a:lstStyle/>
                    <a:p>
                      <a:pPr>
                        <a:lnSpc>
                          <a:spcPct val="100000"/>
                        </a:lnSpc>
                        <a:spcBef>
                          <a:spcPts val="710"/>
                        </a:spcBef>
                      </a:pPr>
                      <a:r>
                        <a:rPr sz="1400" spc="-5" dirty="0">
                          <a:latin typeface="Calibri"/>
                          <a:cs typeface="Calibri"/>
                        </a:rPr>
                        <a:t>OBJECT_ID(&lt;object_name&gt;)</a:t>
                      </a:r>
                      <a:endParaRPr sz="1400">
                        <a:latin typeface="Calibri"/>
                        <a:cs typeface="Calibri"/>
                      </a:endParaRPr>
                    </a:p>
                  </a:txBody>
                  <a:tcPr marL="0" marR="0" marT="90170" marB="0">
                    <a:lnL w="9525">
                      <a:solidFill>
                        <a:srgbClr val="BD4A47"/>
                      </a:solidFill>
                      <a:prstDash val="solid"/>
                    </a:lnL>
                    <a:lnR w="9525">
                      <a:solidFill>
                        <a:srgbClr val="BD4A47"/>
                      </a:solidFill>
                      <a:prstDash val="solid"/>
                    </a:lnR>
                    <a:lnB w="9525">
                      <a:solidFill>
                        <a:srgbClr val="BD4A47"/>
                      </a:solidFill>
                      <a:prstDash val="solid"/>
                    </a:lnB>
                  </a:tcPr>
                </a:tc>
                <a:tc>
                  <a:txBody>
                    <a:bodyPr/>
                    <a:lstStyle/>
                    <a:p>
                      <a:pPr>
                        <a:lnSpc>
                          <a:spcPts val="1555"/>
                        </a:lnSpc>
                      </a:pPr>
                      <a:r>
                        <a:rPr sz="1400" spc="-5" dirty="0">
                          <a:latin typeface="Calibri"/>
                          <a:cs typeface="Calibri"/>
                        </a:rPr>
                        <a:t>Returns the object ID of</a:t>
                      </a:r>
                      <a:r>
                        <a:rPr sz="1400" spc="20" dirty="0">
                          <a:latin typeface="Calibri"/>
                          <a:cs typeface="Calibri"/>
                        </a:rPr>
                        <a:t> </a:t>
                      </a:r>
                      <a:r>
                        <a:rPr sz="1400" spc="-5" dirty="0">
                          <a:latin typeface="Calibri"/>
                          <a:cs typeface="Calibri"/>
                        </a:rPr>
                        <a:t>a</a:t>
                      </a:r>
                      <a:endParaRPr sz="1400">
                        <a:latin typeface="Calibri"/>
                        <a:cs typeface="Calibri"/>
                      </a:endParaRPr>
                    </a:p>
                    <a:p>
                      <a:pPr>
                        <a:lnSpc>
                          <a:spcPts val="1670"/>
                        </a:lnSpc>
                      </a:pPr>
                      <a:r>
                        <a:rPr sz="1400" spc="-5" dirty="0">
                          <a:latin typeface="Calibri"/>
                          <a:cs typeface="Calibri"/>
                        </a:rPr>
                        <a:t>database</a:t>
                      </a:r>
                      <a:r>
                        <a:rPr sz="1400" spc="15" dirty="0">
                          <a:latin typeface="Calibri"/>
                          <a:cs typeface="Calibri"/>
                        </a:rPr>
                        <a:t> </a:t>
                      </a:r>
                      <a:r>
                        <a:rPr sz="1400" spc="-10" dirty="0">
                          <a:latin typeface="Calibri"/>
                          <a:cs typeface="Calibri"/>
                        </a:rPr>
                        <a:t>object.</a:t>
                      </a:r>
                      <a:endParaRPr sz="1400">
                        <a:latin typeface="Calibri"/>
                        <a:cs typeface="Calibri"/>
                      </a:endParaRPr>
                    </a:p>
                  </a:txBody>
                  <a:tcPr marL="0" marR="0" marT="0" marB="0">
                    <a:lnL w="9525">
                      <a:solidFill>
                        <a:srgbClr val="BD4A47"/>
                      </a:solidFill>
                      <a:prstDash val="solid"/>
                    </a:lnL>
                    <a:lnR w="9525">
                      <a:solidFill>
                        <a:srgbClr val="BD4A47"/>
                      </a:solidFill>
                      <a:prstDash val="solid"/>
                    </a:lnR>
                    <a:lnB w="9525">
                      <a:solidFill>
                        <a:srgbClr val="BD4A47"/>
                      </a:solidFill>
                      <a:prstDash val="solid"/>
                    </a:lnB>
                  </a:tcPr>
                </a:tc>
                <a:tc>
                  <a:txBody>
                    <a:bodyPr/>
                    <a:lstStyle/>
                    <a:p>
                      <a:pPr>
                        <a:lnSpc>
                          <a:spcPts val="1555"/>
                        </a:lnSpc>
                      </a:pPr>
                      <a:r>
                        <a:rPr sz="1400" spc="-5" dirty="0">
                          <a:latin typeface="Calibri"/>
                          <a:cs typeface="Calibri"/>
                        </a:rPr>
                        <a:t>OBJECT_ID('Sales.Custom</a:t>
                      </a:r>
                      <a:endParaRPr sz="1400">
                        <a:latin typeface="Calibri"/>
                        <a:cs typeface="Calibri"/>
                      </a:endParaRPr>
                    </a:p>
                    <a:p>
                      <a:pPr>
                        <a:lnSpc>
                          <a:spcPts val="1670"/>
                        </a:lnSpc>
                      </a:pPr>
                      <a:r>
                        <a:rPr sz="1400" spc="-5" dirty="0">
                          <a:latin typeface="Calibri"/>
                          <a:cs typeface="Calibri"/>
                        </a:rPr>
                        <a:t>er')</a:t>
                      </a:r>
                      <a:endParaRPr sz="1400">
                        <a:latin typeface="Calibri"/>
                        <a:cs typeface="Calibri"/>
                      </a:endParaRPr>
                    </a:p>
                  </a:txBody>
                  <a:tcPr marL="0" marR="0" marT="0" marB="0">
                    <a:lnL w="9525">
                      <a:solidFill>
                        <a:srgbClr val="BD4A47"/>
                      </a:solidFill>
                      <a:prstDash val="solid"/>
                    </a:lnL>
                    <a:lnR w="9525">
                      <a:solidFill>
                        <a:srgbClr val="BD4A47"/>
                      </a:solidFill>
                      <a:prstDash val="solid"/>
                    </a:lnR>
                    <a:lnB w="9525">
                      <a:solidFill>
                        <a:srgbClr val="BD4A47"/>
                      </a:solidFill>
                      <a:prstDash val="solid"/>
                    </a:lnB>
                  </a:tcPr>
                </a:tc>
                <a:extLst>
                  <a:ext uri="{0D108BD9-81ED-4DB2-BD59-A6C34878D82A}">
                    <a16:rowId xmlns:a16="http://schemas.microsoft.com/office/drawing/2014/main" val="10001"/>
                  </a:ext>
                </a:extLst>
              </a:tr>
              <a:tr h="604519">
                <a:tc>
                  <a:txBody>
                    <a:bodyPr/>
                    <a:lstStyle/>
                    <a:p>
                      <a:pPr>
                        <a:lnSpc>
                          <a:spcPct val="100000"/>
                        </a:lnSpc>
                        <a:spcBef>
                          <a:spcPts val="10"/>
                        </a:spcBef>
                      </a:pPr>
                      <a:endParaRPr sz="1250">
                        <a:latin typeface="Times New Roman"/>
                        <a:cs typeface="Times New Roman"/>
                      </a:endParaRPr>
                    </a:p>
                    <a:p>
                      <a:pPr>
                        <a:lnSpc>
                          <a:spcPct val="100000"/>
                        </a:lnSpc>
                      </a:pPr>
                      <a:r>
                        <a:rPr sz="1400" spc="-5" dirty="0">
                          <a:latin typeface="Calibri"/>
                          <a:cs typeface="Calibri"/>
                        </a:rPr>
                        <a:t>OBJECT_NAME(&lt;object_id&gt;)</a:t>
                      </a:r>
                      <a:endParaRPr sz="1400">
                        <a:latin typeface="Calibri"/>
                        <a:cs typeface="Calibri"/>
                      </a:endParaRPr>
                    </a:p>
                  </a:txBody>
                  <a:tcPr marL="0" marR="0" marT="1270" marB="0">
                    <a:lnL w="9525">
                      <a:solidFill>
                        <a:srgbClr val="BD4A47"/>
                      </a:solidFill>
                      <a:prstDash val="solid"/>
                    </a:lnL>
                    <a:lnR w="9525">
                      <a:solidFill>
                        <a:srgbClr val="BD4A47"/>
                      </a:solidFill>
                      <a:prstDash val="solid"/>
                    </a:lnR>
                    <a:lnT w="9525">
                      <a:solidFill>
                        <a:srgbClr val="BD4A47"/>
                      </a:solidFill>
                      <a:prstDash val="solid"/>
                    </a:lnT>
                    <a:lnB w="9525">
                      <a:solidFill>
                        <a:srgbClr val="BD4A47"/>
                      </a:solidFill>
                      <a:prstDash val="solid"/>
                    </a:lnB>
                  </a:tcPr>
                </a:tc>
                <a:tc>
                  <a:txBody>
                    <a:bodyPr/>
                    <a:lstStyle/>
                    <a:p>
                      <a:pPr>
                        <a:lnSpc>
                          <a:spcPts val="1590"/>
                        </a:lnSpc>
                      </a:pPr>
                      <a:r>
                        <a:rPr sz="1400" spc="-5" dirty="0">
                          <a:latin typeface="Calibri"/>
                          <a:cs typeface="Calibri"/>
                        </a:rPr>
                        <a:t>Returns the name</a:t>
                      </a:r>
                      <a:r>
                        <a:rPr sz="1400" spc="5" dirty="0">
                          <a:latin typeface="Calibri"/>
                          <a:cs typeface="Calibri"/>
                        </a:rPr>
                        <a:t> </a:t>
                      </a:r>
                      <a:r>
                        <a:rPr sz="1400" spc="-5" dirty="0">
                          <a:latin typeface="Calibri"/>
                          <a:cs typeface="Calibri"/>
                        </a:rPr>
                        <a:t>corresponding</a:t>
                      </a:r>
                      <a:endParaRPr sz="1400">
                        <a:latin typeface="Calibri"/>
                        <a:cs typeface="Calibri"/>
                      </a:endParaRPr>
                    </a:p>
                    <a:p>
                      <a:pPr>
                        <a:lnSpc>
                          <a:spcPct val="100000"/>
                        </a:lnSpc>
                      </a:pPr>
                      <a:r>
                        <a:rPr sz="1400" spc="-5" dirty="0">
                          <a:latin typeface="Calibri"/>
                          <a:cs typeface="Calibri"/>
                        </a:rPr>
                        <a:t>to an object</a:t>
                      </a:r>
                      <a:r>
                        <a:rPr sz="1400" dirty="0">
                          <a:latin typeface="Calibri"/>
                          <a:cs typeface="Calibri"/>
                        </a:rPr>
                        <a:t> </a:t>
                      </a:r>
                      <a:r>
                        <a:rPr sz="1400" spc="-5" dirty="0">
                          <a:latin typeface="Calibri"/>
                          <a:cs typeface="Calibri"/>
                        </a:rPr>
                        <a:t>ID.</a:t>
                      </a:r>
                      <a:endParaRPr sz="1400">
                        <a:latin typeface="Calibri"/>
                        <a:cs typeface="Calibri"/>
                      </a:endParaRPr>
                    </a:p>
                  </a:txBody>
                  <a:tcPr marL="0" marR="0" marT="0" marB="0">
                    <a:lnL w="9525">
                      <a:solidFill>
                        <a:srgbClr val="BD4A47"/>
                      </a:solidFill>
                      <a:prstDash val="solid"/>
                    </a:lnL>
                    <a:lnR w="9525">
                      <a:solidFill>
                        <a:srgbClr val="BD4A47"/>
                      </a:solidFill>
                      <a:prstDash val="solid"/>
                    </a:lnR>
                    <a:lnT w="9525">
                      <a:solidFill>
                        <a:srgbClr val="BD4A47"/>
                      </a:solidFill>
                      <a:prstDash val="solid"/>
                    </a:lnT>
                    <a:lnB w="9525">
                      <a:solidFill>
                        <a:srgbClr val="BD4A47"/>
                      </a:solidFill>
                      <a:prstDash val="solid"/>
                    </a:lnB>
                  </a:tcPr>
                </a:tc>
                <a:tc>
                  <a:txBody>
                    <a:bodyPr/>
                    <a:lstStyle/>
                    <a:p>
                      <a:pPr marR="471805">
                        <a:lnSpc>
                          <a:spcPct val="100000"/>
                        </a:lnSpc>
                        <a:spcBef>
                          <a:spcPts val="610"/>
                        </a:spcBef>
                      </a:pPr>
                      <a:r>
                        <a:rPr sz="1400" spc="-10" dirty="0">
                          <a:latin typeface="Calibri"/>
                          <a:cs typeface="Calibri"/>
                        </a:rPr>
                        <a:t>OBJECT_  </a:t>
                      </a:r>
                      <a:r>
                        <a:rPr sz="1400" dirty="0">
                          <a:latin typeface="Calibri"/>
                          <a:cs typeface="Calibri"/>
                        </a:rPr>
                        <a:t>NAME(19757</a:t>
                      </a:r>
                      <a:r>
                        <a:rPr sz="1400" spc="5" dirty="0">
                          <a:latin typeface="Calibri"/>
                          <a:cs typeface="Calibri"/>
                        </a:rPr>
                        <a:t>5</a:t>
                      </a:r>
                      <a:r>
                        <a:rPr sz="1400" dirty="0">
                          <a:latin typeface="Calibri"/>
                          <a:cs typeface="Calibri"/>
                        </a:rPr>
                        <a:t>742)</a:t>
                      </a:r>
                      <a:endParaRPr sz="1400">
                        <a:latin typeface="Calibri"/>
                        <a:cs typeface="Calibri"/>
                      </a:endParaRPr>
                    </a:p>
                  </a:txBody>
                  <a:tcPr marL="0" marR="0" marT="77470" marB="0">
                    <a:lnL w="9525">
                      <a:solidFill>
                        <a:srgbClr val="BD4A47"/>
                      </a:solidFill>
                      <a:prstDash val="solid"/>
                    </a:lnL>
                    <a:lnR w="9525">
                      <a:solidFill>
                        <a:srgbClr val="BD4A47"/>
                      </a:solidFill>
                      <a:prstDash val="solid"/>
                    </a:lnR>
                    <a:lnT w="9525">
                      <a:solidFill>
                        <a:srgbClr val="BD4A47"/>
                      </a:solidFill>
                      <a:prstDash val="solid"/>
                    </a:lnT>
                    <a:lnB w="9525">
                      <a:solidFill>
                        <a:srgbClr val="BD4A47"/>
                      </a:solidFill>
                      <a:prstDash val="solid"/>
                    </a:lnB>
                  </a:tcPr>
                </a:tc>
                <a:extLst>
                  <a:ext uri="{0D108BD9-81ED-4DB2-BD59-A6C34878D82A}">
                    <a16:rowId xmlns:a16="http://schemas.microsoft.com/office/drawing/2014/main" val="10002"/>
                  </a:ext>
                </a:extLst>
              </a:tr>
              <a:tr h="798322">
                <a:tc>
                  <a:txBody>
                    <a:bodyPr/>
                    <a:lstStyle/>
                    <a:p>
                      <a:pPr>
                        <a:lnSpc>
                          <a:spcPct val="100000"/>
                        </a:lnSpc>
                        <a:spcBef>
                          <a:spcPts val="30"/>
                        </a:spcBef>
                      </a:pPr>
                      <a:endParaRPr sz="1900">
                        <a:latin typeface="Times New Roman"/>
                        <a:cs typeface="Times New Roman"/>
                      </a:endParaRPr>
                    </a:p>
                    <a:p>
                      <a:pPr>
                        <a:lnSpc>
                          <a:spcPct val="100000"/>
                        </a:lnSpc>
                      </a:pPr>
                      <a:r>
                        <a:rPr sz="1400" spc="-10" dirty="0">
                          <a:latin typeface="Calibri"/>
                          <a:cs typeface="Calibri"/>
                        </a:rPr>
                        <a:t>@@ERROR</a:t>
                      </a:r>
                      <a:endParaRPr sz="1400">
                        <a:latin typeface="Calibri"/>
                        <a:cs typeface="Calibri"/>
                      </a:endParaRPr>
                    </a:p>
                  </a:txBody>
                  <a:tcPr marL="0" marR="0" marT="3810" marB="0">
                    <a:lnL w="9525">
                      <a:solidFill>
                        <a:srgbClr val="BD4A47"/>
                      </a:solidFill>
                      <a:prstDash val="solid"/>
                    </a:lnL>
                    <a:lnR w="9525">
                      <a:solidFill>
                        <a:srgbClr val="BD4A47"/>
                      </a:solidFill>
                      <a:prstDash val="solid"/>
                    </a:lnR>
                    <a:lnT w="9525">
                      <a:solidFill>
                        <a:srgbClr val="BD4A47"/>
                      </a:solidFill>
                      <a:prstDash val="solid"/>
                    </a:lnT>
                    <a:lnB w="19050">
                      <a:solidFill>
                        <a:srgbClr val="C0504D"/>
                      </a:solidFill>
                      <a:prstDash val="solid"/>
                    </a:lnB>
                  </a:tcPr>
                </a:tc>
                <a:tc>
                  <a:txBody>
                    <a:bodyPr/>
                    <a:lstStyle/>
                    <a:p>
                      <a:pPr>
                        <a:lnSpc>
                          <a:spcPts val="1590"/>
                        </a:lnSpc>
                      </a:pPr>
                      <a:r>
                        <a:rPr sz="1400" spc="-5" dirty="0">
                          <a:latin typeface="Calibri"/>
                          <a:cs typeface="Calibri"/>
                        </a:rPr>
                        <a:t>Returns </a:t>
                      </a:r>
                      <a:r>
                        <a:rPr sz="1400" dirty="0">
                          <a:latin typeface="Calibri"/>
                          <a:cs typeface="Calibri"/>
                        </a:rPr>
                        <a:t>0 </a:t>
                      </a:r>
                      <a:r>
                        <a:rPr sz="1400" spc="-5" dirty="0">
                          <a:latin typeface="Calibri"/>
                          <a:cs typeface="Calibri"/>
                        </a:rPr>
                        <a:t>if </a:t>
                      </a:r>
                      <a:r>
                        <a:rPr sz="1400" dirty="0">
                          <a:latin typeface="Calibri"/>
                          <a:cs typeface="Calibri"/>
                        </a:rPr>
                        <a:t>the last</a:t>
                      </a:r>
                      <a:r>
                        <a:rPr sz="1400" spc="-5" dirty="0">
                          <a:latin typeface="Calibri"/>
                          <a:cs typeface="Calibri"/>
                        </a:rPr>
                        <a:t> statement</a:t>
                      </a:r>
                      <a:endParaRPr sz="1400">
                        <a:latin typeface="Calibri"/>
                        <a:cs typeface="Calibri"/>
                      </a:endParaRPr>
                    </a:p>
                    <a:p>
                      <a:pPr marR="257175">
                        <a:lnSpc>
                          <a:spcPct val="100000"/>
                        </a:lnSpc>
                      </a:pPr>
                      <a:r>
                        <a:rPr sz="1400" spc="-10" dirty="0">
                          <a:latin typeface="Calibri"/>
                          <a:cs typeface="Calibri"/>
                        </a:rPr>
                        <a:t>succeeded; otherwise </a:t>
                      </a:r>
                      <a:r>
                        <a:rPr sz="1400" spc="-5" dirty="0">
                          <a:latin typeface="Calibri"/>
                          <a:cs typeface="Calibri"/>
                        </a:rPr>
                        <a:t>returns  the error number.</a:t>
                      </a:r>
                      <a:endParaRPr sz="1400">
                        <a:latin typeface="Calibri"/>
                        <a:cs typeface="Calibri"/>
                      </a:endParaRPr>
                    </a:p>
                  </a:txBody>
                  <a:tcPr marL="0" marR="0" marT="0" marB="0">
                    <a:lnL w="9525">
                      <a:solidFill>
                        <a:srgbClr val="BD4A47"/>
                      </a:solidFill>
                      <a:prstDash val="solid"/>
                    </a:lnL>
                    <a:lnR w="9525">
                      <a:solidFill>
                        <a:srgbClr val="BD4A47"/>
                      </a:solidFill>
                      <a:prstDash val="solid"/>
                    </a:lnR>
                    <a:lnT w="9525">
                      <a:solidFill>
                        <a:srgbClr val="BD4A47"/>
                      </a:solidFill>
                      <a:prstDash val="solid"/>
                    </a:lnT>
                    <a:lnB w="19050">
                      <a:solidFill>
                        <a:srgbClr val="C0504D"/>
                      </a:solidFill>
                      <a:prstDash val="solid"/>
                    </a:lnB>
                  </a:tcPr>
                </a:tc>
                <a:tc>
                  <a:txBody>
                    <a:bodyPr/>
                    <a:lstStyle/>
                    <a:p>
                      <a:pPr>
                        <a:lnSpc>
                          <a:spcPct val="100000"/>
                        </a:lnSpc>
                        <a:spcBef>
                          <a:spcPts val="30"/>
                        </a:spcBef>
                      </a:pPr>
                      <a:endParaRPr sz="1900">
                        <a:latin typeface="Times New Roman"/>
                        <a:cs typeface="Times New Roman"/>
                      </a:endParaRPr>
                    </a:p>
                    <a:p>
                      <a:pPr>
                        <a:lnSpc>
                          <a:spcPct val="100000"/>
                        </a:lnSpc>
                      </a:pPr>
                      <a:r>
                        <a:rPr sz="1400" spc="-10" dirty="0">
                          <a:latin typeface="Calibri"/>
                          <a:cs typeface="Calibri"/>
                        </a:rPr>
                        <a:t>@@ERROR</a:t>
                      </a:r>
                      <a:endParaRPr sz="1400">
                        <a:latin typeface="Calibri"/>
                        <a:cs typeface="Calibri"/>
                      </a:endParaRPr>
                    </a:p>
                  </a:txBody>
                  <a:tcPr marL="0" marR="0" marT="3810" marB="0">
                    <a:lnL w="9525">
                      <a:solidFill>
                        <a:srgbClr val="BD4A47"/>
                      </a:solidFill>
                      <a:prstDash val="solid"/>
                    </a:lnL>
                    <a:lnR w="9525">
                      <a:solidFill>
                        <a:srgbClr val="BD4A47"/>
                      </a:solidFill>
                      <a:prstDash val="solid"/>
                    </a:lnR>
                    <a:lnT w="9525">
                      <a:solidFill>
                        <a:srgbClr val="BD4A47"/>
                      </a:solidFill>
                      <a:prstDash val="solid"/>
                    </a:lnT>
                    <a:lnB w="19050">
                      <a:solidFill>
                        <a:srgbClr val="C0504D"/>
                      </a:solidFill>
                      <a:prstDash val="solid"/>
                    </a:lnB>
                  </a:tcPr>
                </a:tc>
                <a:extLst>
                  <a:ext uri="{0D108BD9-81ED-4DB2-BD59-A6C34878D82A}">
                    <a16:rowId xmlns:a16="http://schemas.microsoft.com/office/drawing/2014/main" val="10003"/>
                  </a:ext>
                </a:extLst>
              </a:tr>
              <a:tr h="582930">
                <a:tc>
                  <a:txBody>
                    <a:bodyPr/>
                    <a:lstStyle/>
                    <a:p>
                      <a:pPr>
                        <a:lnSpc>
                          <a:spcPct val="100000"/>
                        </a:lnSpc>
                        <a:spcBef>
                          <a:spcPts val="525"/>
                        </a:spcBef>
                      </a:pPr>
                      <a:r>
                        <a:rPr sz="1400" spc="-5" dirty="0">
                          <a:latin typeface="Calibri"/>
                          <a:cs typeface="Calibri"/>
                        </a:rPr>
                        <a:t>SERVERPROPERTY</a:t>
                      </a:r>
                      <a:endParaRPr sz="1400">
                        <a:latin typeface="Calibri"/>
                        <a:cs typeface="Calibri"/>
                      </a:endParaRPr>
                    </a:p>
                    <a:p>
                      <a:pPr>
                        <a:lnSpc>
                          <a:spcPct val="100000"/>
                        </a:lnSpc>
                      </a:pPr>
                      <a:r>
                        <a:rPr sz="1400" spc="-5" dirty="0">
                          <a:latin typeface="Calibri"/>
                          <a:cs typeface="Calibri"/>
                        </a:rPr>
                        <a:t>(&lt;property</a:t>
                      </a:r>
                      <a:r>
                        <a:rPr sz="1400" spc="15" dirty="0">
                          <a:latin typeface="Calibri"/>
                          <a:cs typeface="Calibri"/>
                        </a:rPr>
                        <a:t> </a:t>
                      </a:r>
                      <a:r>
                        <a:rPr sz="1400" spc="-10" dirty="0">
                          <a:latin typeface="Calibri"/>
                          <a:cs typeface="Calibri"/>
                        </a:rPr>
                        <a:t>&gt;)</a:t>
                      </a:r>
                      <a:endParaRPr sz="1400">
                        <a:latin typeface="Calibri"/>
                        <a:cs typeface="Calibri"/>
                      </a:endParaRPr>
                    </a:p>
                  </a:txBody>
                  <a:tcPr marL="0" marR="0" marT="66675" marB="0">
                    <a:lnL w="9525">
                      <a:solidFill>
                        <a:srgbClr val="BD4A47"/>
                      </a:solidFill>
                      <a:prstDash val="solid"/>
                    </a:lnL>
                    <a:lnR w="9525">
                      <a:solidFill>
                        <a:srgbClr val="BD4A47"/>
                      </a:solidFill>
                      <a:prstDash val="solid"/>
                    </a:lnR>
                    <a:lnT w="19050">
                      <a:solidFill>
                        <a:srgbClr val="C0504D"/>
                      </a:solidFill>
                      <a:prstDash val="solid"/>
                    </a:lnT>
                    <a:lnB w="9525">
                      <a:solidFill>
                        <a:srgbClr val="BD4A47"/>
                      </a:solidFill>
                      <a:prstDash val="solid"/>
                    </a:lnB>
                  </a:tcPr>
                </a:tc>
                <a:tc>
                  <a:txBody>
                    <a:bodyPr/>
                    <a:lstStyle/>
                    <a:p>
                      <a:pPr>
                        <a:lnSpc>
                          <a:spcPts val="1590"/>
                        </a:lnSpc>
                      </a:pPr>
                      <a:r>
                        <a:rPr sz="1400" spc="-5" dirty="0">
                          <a:latin typeface="Calibri"/>
                          <a:cs typeface="Calibri"/>
                        </a:rPr>
                        <a:t>Returns the value of</a:t>
                      </a:r>
                      <a:r>
                        <a:rPr sz="1400" spc="40" dirty="0">
                          <a:latin typeface="Calibri"/>
                          <a:cs typeface="Calibri"/>
                        </a:rPr>
                        <a:t> </a:t>
                      </a:r>
                      <a:r>
                        <a:rPr sz="1400" spc="-5" dirty="0">
                          <a:latin typeface="Calibri"/>
                          <a:cs typeface="Calibri"/>
                        </a:rPr>
                        <a:t>the</a:t>
                      </a:r>
                      <a:endParaRPr sz="1400">
                        <a:latin typeface="Calibri"/>
                        <a:cs typeface="Calibri"/>
                      </a:endParaRPr>
                    </a:p>
                    <a:p>
                      <a:pPr>
                        <a:lnSpc>
                          <a:spcPct val="100000"/>
                        </a:lnSpc>
                      </a:pPr>
                      <a:r>
                        <a:rPr sz="1400" spc="-10" dirty="0">
                          <a:latin typeface="Calibri"/>
                          <a:cs typeface="Calibri"/>
                        </a:rPr>
                        <a:t>specified </a:t>
                      </a:r>
                      <a:r>
                        <a:rPr sz="1400" spc="-5" dirty="0">
                          <a:latin typeface="Calibri"/>
                          <a:cs typeface="Calibri"/>
                        </a:rPr>
                        <a:t>server</a:t>
                      </a:r>
                      <a:r>
                        <a:rPr sz="1400" spc="35" dirty="0">
                          <a:latin typeface="Calibri"/>
                          <a:cs typeface="Calibri"/>
                        </a:rPr>
                        <a:t> </a:t>
                      </a:r>
                      <a:r>
                        <a:rPr sz="1400" spc="-5" dirty="0">
                          <a:latin typeface="Calibri"/>
                          <a:cs typeface="Calibri"/>
                        </a:rPr>
                        <a:t>property.</a:t>
                      </a:r>
                      <a:endParaRPr sz="1400">
                        <a:latin typeface="Calibri"/>
                        <a:cs typeface="Calibri"/>
                      </a:endParaRPr>
                    </a:p>
                  </a:txBody>
                  <a:tcPr marL="0" marR="0" marT="0" marB="0">
                    <a:lnL w="9525">
                      <a:solidFill>
                        <a:srgbClr val="BD4A47"/>
                      </a:solidFill>
                      <a:prstDash val="solid"/>
                    </a:lnL>
                    <a:lnR w="9525">
                      <a:solidFill>
                        <a:srgbClr val="BD4A47"/>
                      </a:solidFill>
                      <a:prstDash val="solid"/>
                    </a:lnR>
                    <a:lnT w="19050">
                      <a:solidFill>
                        <a:srgbClr val="C0504D"/>
                      </a:solidFill>
                      <a:prstDash val="solid"/>
                    </a:lnT>
                    <a:lnB w="9525">
                      <a:solidFill>
                        <a:srgbClr val="BD4A47"/>
                      </a:solidFill>
                      <a:prstDash val="solid"/>
                    </a:lnB>
                  </a:tcPr>
                </a:tc>
                <a:tc>
                  <a:txBody>
                    <a:bodyPr/>
                    <a:lstStyle/>
                    <a:p>
                      <a:pPr>
                        <a:lnSpc>
                          <a:spcPct val="100000"/>
                        </a:lnSpc>
                        <a:spcBef>
                          <a:spcPts val="525"/>
                        </a:spcBef>
                      </a:pPr>
                      <a:r>
                        <a:rPr sz="1400" spc="-5" dirty="0">
                          <a:latin typeface="Calibri"/>
                          <a:cs typeface="Calibri"/>
                        </a:rPr>
                        <a:t>SERVERPROPERTY(</a:t>
                      </a:r>
                      <a:endParaRPr sz="1400">
                        <a:latin typeface="Calibri"/>
                        <a:cs typeface="Calibri"/>
                      </a:endParaRPr>
                    </a:p>
                    <a:p>
                      <a:pPr>
                        <a:lnSpc>
                          <a:spcPct val="100000"/>
                        </a:lnSpc>
                      </a:pPr>
                      <a:r>
                        <a:rPr sz="1400" spc="-5" dirty="0">
                          <a:latin typeface="Calibri"/>
                          <a:cs typeface="Calibri"/>
                        </a:rPr>
                        <a:t>'Collation')</a:t>
                      </a:r>
                      <a:endParaRPr sz="1400">
                        <a:latin typeface="Calibri"/>
                        <a:cs typeface="Calibri"/>
                      </a:endParaRPr>
                    </a:p>
                  </a:txBody>
                  <a:tcPr marL="0" marR="0" marT="66675" marB="0">
                    <a:lnL w="9525">
                      <a:solidFill>
                        <a:srgbClr val="BD4A47"/>
                      </a:solidFill>
                      <a:prstDash val="solid"/>
                    </a:lnL>
                    <a:lnR w="9525">
                      <a:solidFill>
                        <a:srgbClr val="BD4A47"/>
                      </a:solidFill>
                      <a:prstDash val="solid"/>
                    </a:lnR>
                    <a:lnT w="19050">
                      <a:solidFill>
                        <a:srgbClr val="C0504D"/>
                      </a:solidFill>
                      <a:prstDash val="solid"/>
                    </a:lnT>
                    <a:lnB w="9525">
                      <a:solidFill>
                        <a:srgbClr val="BD4A47"/>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8072120" cy="574040"/>
          </a:xfrm>
          <a:prstGeom prst="rect">
            <a:avLst/>
          </a:prstGeom>
        </p:spPr>
        <p:txBody>
          <a:bodyPr vert="horz" wrap="square" lIns="0" tIns="12700" rIns="0" bIns="0" rtlCol="0">
            <a:spAutoFit/>
          </a:bodyPr>
          <a:lstStyle/>
          <a:p>
            <a:pPr marL="12700">
              <a:lnSpc>
                <a:spcPct val="100000"/>
              </a:lnSpc>
              <a:spcBef>
                <a:spcPts val="100"/>
              </a:spcBef>
            </a:pPr>
            <a:r>
              <a:rPr b="0" spc="25" dirty="0">
                <a:latin typeface="Arial"/>
                <a:cs typeface="Arial"/>
              </a:rPr>
              <a:t>Querying </a:t>
            </a:r>
            <a:r>
              <a:rPr b="0" spc="5" dirty="0">
                <a:latin typeface="Arial"/>
                <a:cs typeface="Arial"/>
              </a:rPr>
              <a:t>Dynamic</a:t>
            </a:r>
            <a:r>
              <a:rPr b="0" spc="-695" dirty="0">
                <a:latin typeface="Arial"/>
                <a:cs typeface="Arial"/>
              </a:rPr>
              <a:t> </a:t>
            </a:r>
            <a:r>
              <a:rPr b="0" spc="-85" dirty="0">
                <a:latin typeface="Arial"/>
                <a:cs typeface="Arial"/>
              </a:rPr>
              <a:t>Management </a:t>
            </a:r>
            <a:r>
              <a:rPr b="0" spc="-30" dirty="0">
                <a:latin typeface="Arial"/>
                <a:cs typeface="Arial"/>
              </a:rPr>
              <a:t>Objects</a:t>
            </a:r>
          </a:p>
        </p:txBody>
      </p:sp>
      <p:sp>
        <p:nvSpPr>
          <p:cNvPr id="3" name="object 3"/>
          <p:cNvSpPr/>
          <p:nvPr/>
        </p:nvSpPr>
        <p:spPr>
          <a:xfrm>
            <a:off x="389382" y="1018793"/>
            <a:ext cx="8117205" cy="1109980"/>
          </a:xfrm>
          <a:custGeom>
            <a:avLst/>
            <a:gdLst/>
            <a:ahLst/>
            <a:cxnLst/>
            <a:rect l="l" t="t" r="r" b="b"/>
            <a:pathLst>
              <a:path w="8117205" h="1109980">
                <a:moveTo>
                  <a:pt x="8116824" y="184912"/>
                </a:moveTo>
                <a:lnTo>
                  <a:pt x="8110207" y="135763"/>
                </a:lnTo>
                <a:lnTo>
                  <a:pt x="8091564" y="91592"/>
                </a:lnTo>
                <a:lnTo>
                  <a:pt x="8062658" y="54165"/>
                </a:lnTo>
                <a:lnTo>
                  <a:pt x="8025231" y="25260"/>
                </a:lnTo>
                <a:lnTo>
                  <a:pt x="7981061" y="6616"/>
                </a:lnTo>
                <a:lnTo>
                  <a:pt x="7931912" y="0"/>
                </a:lnTo>
                <a:lnTo>
                  <a:pt x="184924" y="0"/>
                </a:lnTo>
                <a:lnTo>
                  <a:pt x="135763" y="6616"/>
                </a:lnTo>
                <a:lnTo>
                  <a:pt x="91579" y="25260"/>
                </a:lnTo>
                <a:lnTo>
                  <a:pt x="54152" y="54165"/>
                </a:lnTo>
                <a:lnTo>
                  <a:pt x="25234" y="91592"/>
                </a:lnTo>
                <a:lnTo>
                  <a:pt x="6604" y="135763"/>
                </a:lnTo>
                <a:lnTo>
                  <a:pt x="0" y="184912"/>
                </a:lnTo>
                <a:lnTo>
                  <a:pt x="0" y="924560"/>
                </a:lnTo>
                <a:lnTo>
                  <a:pt x="6604" y="973721"/>
                </a:lnTo>
                <a:lnTo>
                  <a:pt x="25234" y="1017892"/>
                </a:lnTo>
                <a:lnTo>
                  <a:pt x="54152" y="1055306"/>
                </a:lnTo>
                <a:lnTo>
                  <a:pt x="91579" y="1084224"/>
                </a:lnTo>
                <a:lnTo>
                  <a:pt x="135763" y="1102868"/>
                </a:lnTo>
                <a:lnTo>
                  <a:pt x="184924" y="1109472"/>
                </a:lnTo>
                <a:lnTo>
                  <a:pt x="7931912" y="1109472"/>
                </a:lnTo>
                <a:lnTo>
                  <a:pt x="7981061" y="1102868"/>
                </a:lnTo>
                <a:lnTo>
                  <a:pt x="8025231" y="1084224"/>
                </a:lnTo>
                <a:lnTo>
                  <a:pt x="8062658" y="1055306"/>
                </a:lnTo>
                <a:lnTo>
                  <a:pt x="8091564" y="1017892"/>
                </a:lnTo>
                <a:lnTo>
                  <a:pt x="8110207" y="973721"/>
                </a:lnTo>
                <a:lnTo>
                  <a:pt x="8116824" y="924560"/>
                </a:lnTo>
                <a:lnTo>
                  <a:pt x="8116824" y="838962"/>
                </a:lnTo>
                <a:lnTo>
                  <a:pt x="8116824" y="270510"/>
                </a:lnTo>
                <a:lnTo>
                  <a:pt x="8116824" y="184912"/>
                </a:lnTo>
                <a:close/>
              </a:path>
            </a:pathLst>
          </a:custGeom>
          <a:solidFill>
            <a:srgbClr val="9BBA58"/>
          </a:solidFill>
        </p:spPr>
        <p:txBody>
          <a:bodyPr wrap="square" lIns="0" tIns="0" rIns="0" bIns="0" rtlCol="0"/>
          <a:lstStyle/>
          <a:p>
            <a:endParaRPr/>
          </a:p>
        </p:txBody>
      </p:sp>
      <p:sp>
        <p:nvSpPr>
          <p:cNvPr id="4" name="object 4"/>
          <p:cNvSpPr/>
          <p:nvPr/>
        </p:nvSpPr>
        <p:spPr>
          <a:xfrm>
            <a:off x="389382" y="2507741"/>
            <a:ext cx="8117205" cy="754380"/>
          </a:xfrm>
          <a:custGeom>
            <a:avLst/>
            <a:gdLst/>
            <a:ahLst/>
            <a:cxnLst/>
            <a:rect l="l" t="t" r="r" b="b"/>
            <a:pathLst>
              <a:path w="8117205" h="754379">
                <a:moveTo>
                  <a:pt x="8116824" y="125730"/>
                </a:moveTo>
                <a:lnTo>
                  <a:pt x="8106943" y="76784"/>
                </a:lnTo>
                <a:lnTo>
                  <a:pt x="8080007" y="36817"/>
                </a:lnTo>
                <a:lnTo>
                  <a:pt x="8040040" y="9880"/>
                </a:lnTo>
                <a:lnTo>
                  <a:pt x="7991094" y="0"/>
                </a:lnTo>
                <a:lnTo>
                  <a:pt x="125730" y="0"/>
                </a:lnTo>
                <a:lnTo>
                  <a:pt x="76784" y="9880"/>
                </a:lnTo>
                <a:lnTo>
                  <a:pt x="36817" y="36817"/>
                </a:lnTo>
                <a:lnTo>
                  <a:pt x="9867" y="76784"/>
                </a:lnTo>
                <a:lnTo>
                  <a:pt x="0" y="125730"/>
                </a:lnTo>
                <a:lnTo>
                  <a:pt x="0" y="628650"/>
                </a:lnTo>
                <a:lnTo>
                  <a:pt x="9867" y="677608"/>
                </a:lnTo>
                <a:lnTo>
                  <a:pt x="36817" y="717575"/>
                </a:lnTo>
                <a:lnTo>
                  <a:pt x="76784" y="744512"/>
                </a:lnTo>
                <a:lnTo>
                  <a:pt x="125730" y="754380"/>
                </a:lnTo>
                <a:lnTo>
                  <a:pt x="7991094" y="754380"/>
                </a:lnTo>
                <a:lnTo>
                  <a:pt x="8040040" y="744512"/>
                </a:lnTo>
                <a:lnTo>
                  <a:pt x="8080007" y="717575"/>
                </a:lnTo>
                <a:lnTo>
                  <a:pt x="8106943" y="677608"/>
                </a:lnTo>
                <a:lnTo>
                  <a:pt x="8116824" y="628650"/>
                </a:lnTo>
                <a:lnTo>
                  <a:pt x="8116824" y="570738"/>
                </a:lnTo>
                <a:lnTo>
                  <a:pt x="8116824" y="183642"/>
                </a:lnTo>
                <a:lnTo>
                  <a:pt x="8116824" y="125730"/>
                </a:lnTo>
                <a:close/>
              </a:path>
            </a:pathLst>
          </a:custGeom>
          <a:solidFill>
            <a:srgbClr val="8063A1"/>
          </a:solidFill>
        </p:spPr>
        <p:txBody>
          <a:bodyPr wrap="square" lIns="0" tIns="0" rIns="0" bIns="0" rtlCol="0"/>
          <a:lstStyle/>
          <a:p>
            <a:endParaRPr/>
          </a:p>
        </p:txBody>
      </p:sp>
      <p:sp>
        <p:nvSpPr>
          <p:cNvPr id="5" name="object 5"/>
          <p:cNvSpPr txBox="1"/>
          <p:nvPr/>
        </p:nvSpPr>
        <p:spPr>
          <a:xfrm>
            <a:off x="592327" y="1001521"/>
            <a:ext cx="7725409" cy="2171065"/>
          </a:xfrm>
          <a:prstGeom prst="rect">
            <a:avLst/>
          </a:prstGeom>
        </p:spPr>
        <p:txBody>
          <a:bodyPr vert="horz" wrap="square" lIns="0" tIns="12065" rIns="0" bIns="0" rtlCol="0">
            <a:spAutoFit/>
          </a:bodyPr>
          <a:lstStyle/>
          <a:p>
            <a:pPr marL="355600" marR="20955" indent="-342900" algn="just">
              <a:lnSpc>
                <a:spcPct val="100000"/>
              </a:lnSpc>
              <a:spcBef>
                <a:spcPts val="95"/>
              </a:spcBef>
              <a:buFont typeface="Wingdings"/>
              <a:buChar char=""/>
              <a:tabLst>
                <a:tab pos="355600" algn="l"/>
              </a:tabLst>
            </a:pPr>
            <a:r>
              <a:rPr sz="2000" dirty="0">
                <a:solidFill>
                  <a:srgbClr val="FFFFFF"/>
                </a:solidFill>
                <a:latin typeface="Arial"/>
                <a:cs typeface="Arial"/>
              </a:rPr>
              <a:t>Dynamic </a:t>
            </a:r>
            <a:r>
              <a:rPr sz="2000" spc="-45" dirty="0">
                <a:solidFill>
                  <a:srgbClr val="FFFFFF"/>
                </a:solidFill>
                <a:latin typeface="Arial"/>
                <a:cs typeface="Arial"/>
              </a:rPr>
              <a:t>Management </a:t>
            </a:r>
            <a:r>
              <a:rPr sz="2000" spc="10" dirty="0">
                <a:solidFill>
                  <a:srgbClr val="FFFFFF"/>
                </a:solidFill>
                <a:latin typeface="Arial"/>
                <a:cs typeface="Arial"/>
              </a:rPr>
              <a:t>Views </a:t>
            </a:r>
            <a:r>
              <a:rPr sz="2000" spc="55" dirty="0">
                <a:solidFill>
                  <a:srgbClr val="FFFFFF"/>
                </a:solidFill>
                <a:latin typeface="Arial"/>
                <a:cs typeface="Arial"/>
              </a:rPr>
              <a:t>(DMVs) </a:t>
            </a:r>
            <a:r>
              <a:rPr sz="2000" spc="-40" dirty="0">
                <a:solidFill>
                  <a:srgbClr val="FFFFFF"/>
                </a:solidFill>
                <a:latin typeface="Arial"/>
                <a:cs typeface="Arial"/>
              </a:rPr>
              <a:t>and </a:t>
            </a:r>
            <a:r>
              <a:rPr sz="2000" dirty="0">
                <a:solidFill>
                  <a:srgbClr val="FFFFFF"/>
                </a:solidFill>
                <a:latin typeface="Arial"/>
                <a:cs typeface="Arial"/>
              </a:rPr>
              <a:t>Dynamic </a:t>
            </a:r>
            <a:r>
              <a:rPr sz="2000" spc="-50" dirty="0">
                <a:solidFill>
                  <a:srgbClr val="FFFFFF"/>
                </a:solidFill>
                <a:latin typeface="Arial"/>
                <a:cs typeface="Arial"/>
              </a:rPr>
              <a:t>Management  </a:t>
            </a:r>
            <a:r>
              <a:rPr sz="2000" spc="-5" dirty="0">
                <a:solidFill>
                  <a:srgbClr val="FFFFFF"/>
                </a:solidFill>
                <a:latin typeface="Arial"/>
                <a:cs typeface="Arial"/>
              </a:rPr>
              <a:t>Functions </a:t>
            </a:r>
            <a:r>
              <a:rPr sz="2000" spc="-10" dirty="0">
                <a:solidFill>
                  <a:srgbClr val="FFFFFF"/>
                </a:solidFill>
                <a:latin typeface="Arial"/>
                <a:cs typeface="Arial"/>
              </a:rPr>
              <a:t>(DMFs) </a:t>
            </a:r>
            <a:r>
              <a:rPr sz="2000" spc="-100" dirty="0">
                <a:solidFill>
                  <a:srgbClr val="FFFFFF"/>
                </a:solidFill>
                <a:latin typeface="Arial"/>
                <a:cs typeface="Arial"/>
              </a:rPr>
              <a:t>are </a:t>
            </a:r>
            <a:r>
              <a:rPr sz="2000" spc="-15" dirty="0">
                <a:solidFill>
                  <a:srgbClr val="FFFFFF"/>
                </a:solidFill>
                <a:latin typeface="Arial"/>
                <a:cs typeface="Arial"/>
              </a:rPr>
              <a:t>dynamic </a:t>
            </a:r>
            <a:r>
              <a:rPr sz="2000" spc="-65" dirty="0">
                <a:solidFill>
                  <a:srgbClr val="FFFFFF"/>
                </a:solidFill>
                <a:latin typeface="Arial"/>
                <a:cs typeface="Arial"/>
              </a:rPr>
              <a:t>management </a:t>
            </a:r>
            <a:r>
              <a:rPr sz="2000" spc="-40" dirty="0">
                <a:solidFill>
                  <a:srgbClr val="FFFFFF"/>
                </a:solidFill>
                <a:latin typeface="Arial"/>
                <a:cs typeface="Arial"/>
              </a:rPr>
              <a:t>objects </a:t>
            </a:r>
            <a:r>
              <a:rPr sz="2000" spc="30" dirty="0">
                <a:solidFill>
                  <a:srgbClr val="FFFFFF"/>
                </a:solidFill>
                <a:latin typeface="Arial"/>
                <a:cs typeface="Arial"/>
              </a:rPr>
              <a:t>that </a:t>
            </a:r>
            <a:r>
              <a:rPr sz="2000" spc="35" dirty="0">
                <a:solidFill>
                  <a:srgbClr val="FFFFFF"/>
                </a:solidFill>
                <a:latin typeface="Arial"/>
                <a:cs typeface="Arial"/>
              </a:rPr>
              <a:t>return </a:t>
            </a:r>
            <a:r>
              <a:rPr sz="2000" spc="625" dirty="0">
                <a:solidFill>
                  <a:srgbClr val="FFFFFF"/>
                </a:solidFill>
                <a:latin typeface="Arial"/>
                <a:cs typeface="Arial"/>
              </a:rPr>
              <a:t> </a:t>
            </a:r>
            <a:r>
              <a:rPr sz="2000" spc="-65" dirty="0">
                <a:solidFill>
                  <a:srgbClr val="FFFFFF"/>
                </a:solidFill>
                <a:latin typeface="Arial"/>
                <a:cs typeface="Arial"/>
              </a:rPr>
              <a:t>server </a:t>
            </a:r>
            <a:r>
              <a:rPr sz="2000" spc="-40" dirty="0">
                <a:solidFill>
                  <a:srgbClr val="FFFFFF"/>
                </a:solidFill>
                <a:latin typeface="Arial"/>
                <a:cs typeface="Arial"/>
              </a:rPr>
              <a:t>and </a:t>
            </a:r>
            <a:r>
              <a:rPr sz="2000" spc="-105" dirty="0">
                <a:solidFill>
                  <a:srgbClr val="FFFFFF"/>
                </a:solidFill>
                <a:latin typeface="Arial"/>
                <a:cs typeface="Arial"/>
              </a:rPr>
              <a:t>database </a:t>
            </a:r>
            <a:r>
              <a:rPr sz="2000" spc="-70" dirty="0">
                <a:solidFill>
                  <a:srgbClr val="FFFFFF"/>
                </a:solidFill>
                <a:latin typeface="Arial"/>
                <a:cs typeface="Arial"/>
              </a:rPr>
              <a:t>state</a:t>
            </a:r>
            <a:r>
              <a:rPr sz="2000" spc="-254" dirty="0">
                <a:solidFill>
                  <a:srgbClr val="FFFFFF"/>
                </a:solidFill>
                <a:latin typeface="Arial"/>
                <a:cs typeface="Arial"/>
              </a:rPr>
              <a:t> </a:t>
            </a:r>
            <a:r>
              <a:rPr sz="2000" spc="35" dirty="0">
                <a:solidFill>
                  <a:srgbClr val="FFFFFF"/>
                </a:solidFill>
                <a:latin typeface="Arial"/>
                <a:cs typeface="Arial"/>
              </a:rPr>
              <a:t>information.</a:t>
            </a:r>
            <a:endParaRPr sz="2000">
              <a:latin typeface="Arial"/>
              <a:cs typeface="Arial"/>
            </a:endParaRPr>
          </a:p>
          <a:p>
            <a:pPr>
              <a:lnSpc>
                <a:spcPct val="100000"/>
              </a:lnSpc>
              <a:buClr>
                <a:srgbClr val="FFFFFF"/>
              </a:buClr>
              <a:buFont typeface="Wingdings"/>
              <a:buChar char=""/>
            </a:pPr>
            <a:endParaRPr sz="2800">
              <a:latin typeface="Arial"/>
              <a:cs typeface="Arial"/>
            </a:endParaRPr>
          </a:p>
          <a:p>
            <a:pPr marL="369570" indent="-343535">
              <a:lnSpc>
                <a:spcPct val="100000"/>
              </a:lnSpc>
              <a:spcBef>
                <a:spcPts val="1675"/>
              </a:spcBef>
              <a:buFont typeface="Wingdings"/>
              <a:buChar char=""/>
              <a:tabLst>
                <a:tab pos="369570" algn="l"/>
                <a:tab pos="370205" algn="l"/>
                <a:tab pos="1321435" algn="l"/>
                <a:tab pos="1943735" algn="l"/>
                <a:tab pos="2830830" algn="l"/>
                <a:tab pos="3373754" algn="l"/>
                <a:tab pos="4825365" algn="l"/>
                <a:tab pos="5909945" algn="l"/>
                <a:tab pos="6348095" algn="l"/>
                <a:tab pos="6776720" algn="l"/>
              </a:tabLst>
            </a:pPr>
            <a:r>
              <a:rPr sz="2000" spc="90" dirty="0">
                <a:solidFill>
                  <a:srgbClr val="FFFFFF"/>
                </a:solidFill>
                <a:latin typeface="Arial"/>
                <a:cs typeface="Arial"/>
              </a:rPr>
              <a:t>DMVs	</a:t>
            </a:r>
            <a:r>
              <a:rPr sz="2000" spc="-35" dirty="0">
                <a:solidFill>
                  <a:srgbClr val="FFFFFF"/>
                </a:solidFill>
                <a:latin typeface="Arial"/>
                <a:cs typeface="Arial"/>
              </a:rPr>
              <a:t>and	</a:t>
            </a:r>
            <a:r>
              <a:rPr sz="2000" spc="-5" dirty="0">
                <a:solidFill>
                  <a:srgbClr val="FFFFFF"/>
                </a:solidFill>
                <a:latin typeface="Arial"/>
                <a:cs typeface="Arial"/>
              </a:rPr>
              <a:t>DMFs	</a:t>
            </a:r>
            <a:r>
              <a:rPr sz="2000" spc="-100" dirty="0">
                <a:solidFill>
                  <a:srgbClr val="FFFFFF"/>
                </a:solidFill>
                <a:latin typeface="Arial"/>
                <a:cs typeface="Arial"/>
              </a:rPr>
              <a:t>are	</a:t>
            </a:r>
            <a:r>
              <a:rPr sz="2000" spc="-60" dirty="0">
                <a:solidFill>
                  <a:srgbClr val="FFFFFF"/>
                </a:solidFill>
                <a:latin typeface="Arial"/>
                <a:cs typeface="Arial"/>
              </a:rPr>
              <a:t>co</a:t>
            </a:r>
            <a:r>
              <a:rPr sz="2000" spc="35" dirty="0">
                <a:solidFill>
                  <a:srgbClr val="FFFFFF"/>
                </a:solidFill>
                <a:latin typeface="Arial"/>
                <a:cs typeface="Arial"/>
              </a:rPr>
              <a:t>llect</a:t>
            </a:r>
            <a:r>
              <a:rPr sz="2000" spc="25" dirty="0">
                <a:solidFill>
                  <a:srgbClr val="FFFFFF"/>
                </a:solidFill>
                <a:latin typeface="Arial"/>
                <a:cs typeface="Arial"/>
              </a:rPr>
              <a:t>i</a:t>
            </a:r>
            <a:r>
              <a:rPr sz="2000" spc="-65" dirty="0">
                <a:solidFill>
                  <a:srgbClr val="FFFFFF"/>
                </a:solidFill>
                <a:latin typeface="Arial"/>
                <a:cs typeface="Arial"/>
              </a:rPr>
              <a:t>v</a:t>
            </a:r>
            <a:r>
              <a:rPr sz="2000" spc="-70" dirty="0">
                <a:solidFill>
                  <a:srgbClr val="FFFFFF"/>
                </a:solidFill>
                <a:latin typeface="Arial"/>
                <a:cs typeface="Arial"/>
              </a:rPr>
              <a:t>e</a:t>
            </a:r>
            <a:r>
              <a:rPr sz="2000" spc="50" dirty="0">
                <a:solidFill>
                  <a:srgbClr val="FFFFFF"/>
                </a:solidFill>
                <a:latin typeface="Arial"/>
                <a:cs typeface="Arial"/>
              </a:rPr>
              <a:t>ly</a:t>
            </a:r>
            <a:r>
              <a:rPr sz="2000" dirty="0">
                <a:solidFill>
                  <a:srgbClr val="FFFFFF"/>
                </a:solidFill>
                <a:latin typeface="Arial"/>
                <a:cs typeface="Arial"/>
              </a:rPr>
              <a:t>	</a:t>
            </a:r>
            <a:r>
              <a:rPr sz="2000" spc="-35" dirty="0">
                <a:solidFill>
                  <a:srgbClr val="FFFFFF"/>
                </a:solidFill>
                <a:latin typeface="Arial"/>
                <a:cs typeface="Arial"/>
              </a:rPr>
              <a:t>ref</a:t>
            </a:r>
            <a:r>
              <a:rPr sz="2000" spc="-45" dirty="0">
                <a:solidFill>
                  <a:srgbClr val="FFFFFF"/>
                </a:solidFill>
                <a:latin typeface="Arial"/>
                <a:cs typeface="Arial"/>
              </a:rPr>
              <a:t>e</a:t>
            </a:r>
            <a:r>
              <a:rPr sz="2000" dirty="0">
                <a:solidFill>
                  <a:srgbClr val="FFFFFF"/>
                </a:solidFill>
                <a:latin typeface="Arial"/>
                <a:cs typeface="Arial"/>
              </a:rPr>
              <a:t>rred	</a:t>
            </a:r>
            <a:r>
              <a:rPr sz="2000" spc="40" dirty="0">
                <a:solidFill>
                  <a:srgbClr val="FFFFFF"/>
                </a:solidFill>
                <a:latin typeface="Arial"/>
                <a:cs typeface="Arial"/>
              </a:rPr>
              <a:t>t</a:t>
            </a:r>
            <a:r>
              <a:rPr sz="2000" spc="70" dirty="0">
                <a:solidFill>
                  <a:srgbClr val="FFFFFF"/>
                </a:solidFill>
                <a:latin typeface="Arial"/>
                <a:cs typeface="Arial"/>
              </a:rPr>
              <a:t>o</a:t>
            </a:r>
            <a:r>
              <a:rPr sz="2000" dirty="0">
                <a:solidFill>
                  <a:srgbClr val="FFFFFF"/>
                </a:solidFill>
                <a:latin typeface="Arial"/>
                <a:cs typeface="Arial"/>
              </a:rPr>
              <a:t>	</a:t>
            </a:r>
            <a:r>
              <a:rPr sz="2000" spc="-204" dirty="0">
                <a:solidFill>
                  <a:srgbClr val="FFFFFF"/>
                </a:solidFill>
                <a:latin typeface="Arial"/>
                <a:cs typeface="Arial"/>
              </a:rPr>
              <a:t>as</a:t>
            </a:r>
            <a:r>
              <a:rPr sz="2000" dirty="0">
                <a:solidFill>
                  <a:srgbClr val="FFFFFF"/>
                </a:solidFill>
                <a:latin typeface="Arial"/>
                <a:cs typeface="Arial"/>
              </a:rPr>
              <a:t>	</a:t>
            </a:r>
            <a:r>
              <a:rPr sz="2000" spc="-30" dirty="0">
                <a:solidFill>
                  <a:srgbClr val="FFFFFF"/>
                </a:solidFill>
                <a:latin typeface="Arial"/>
                <a:cs typeface="Arial"/>
              </a:rPr>
              <a:t>dyn</a:t>
            </a:r>
            <a:r>
              <a:rPr sz="2000" spc="-25" dirty="0">
                <a:solidFill>
                  <a:srgbClr val="FFFFFF"/>
                </a:solidFill>
                <a:latin typeface="Arial"/>
                <a:cs typeface="Arial"/>
              </a:rPr>
              <a:t>a</a:t>
            </a:r>
            <a:r>
              <a:rPr sz="2000" spc="5" dirty="0">
                <a:solidFill>
                  <a:srgbClr val="FFFFFF"/>
                </a:solidFill>
                <a:latin typeface="Arial"/>
                <a:cs typeface="Arial"/>
              </a:rPr>
              <a:t>mic</a:t>
            </a:r>
            <a:endParaRPr sz="2000">
              <a:latin typeface="Arial"/>
              <a:cs typeface="Arial"/>
            </a:endParaRPr>
          </a:p>
          <a:p>
            <a:pPr marL="369570">
              <a:lnSpc>
                <a:spcPct val="100000"/>
              </a:lnSpc>
            </a:pPr>
            <a:r>
              <a:rPr sz="2000" spc="-65" dirty="0">
                <a:solidFill>
                  <a:srgbClr val="FFFFFF"/>
                </a:solidFill>
                <a:latin typeface="Arial"/>
                <a:cs typeface="Arial"/>
              </a:rPr>
              <a:t>management</a:t>
            </a:r>
            <a:r>
              <a:rPr sz="2000" spc="-110" dirty="0">
                <a:solidFill>
                  <a:srgbClr val="FFFFFF"/>
                </a:solidFill>
                <a:latin typeface="Arial"/>
                <a:cs typeface="Arial"/>
              </a:rPr>
              <a:t> </a:t>
            </a:r>
            <a:r>
              <a:rPr sz="2000" spc="-45" dirty="0">
                <a:solidFill>
                  <a:srgbClr val="FFFFFF"/>
                </a:solidFill>
                <a:latin typeface="Arial"/>
                <a:cs typeface="Arial"/>
              </a:rPr>
              <a:t>objects.</a:t>
            </a:r>
            <a:endParaRPr sz="2000">
              <a:latin typeface="Arial"/>
              <a:cs typeface="Arial"/>
            </a:endParaRPr>
          </a:p>
        </p:txBody>
      </p:sp>
      <p:sp>
        <p:nvSpPr>
          <p:cNvPr id="6" name="object 6"/>
          <p:cNvSpPr/>
          <p:nvPr/>
        </p:nvSpPr>
        <p:spPr>
          <a:xfrm>
            <a:off x="458724" y="3713988"/>
            <a:ext cx="8117205" cy="754380"/>
          </a:xfrm>
          <a:custGeom>
            <a:avLst/>
            <a:gdLst/>
            <a:ahLst/>
            <a:cxnLst/>
            <a:rect l="l" t="t" r="r" b="b"/>
            <a:pathLst>
              <a:path w="8117205" h="754379">
                <a:moveTo>
                  <a:pt x="8116824" y="125730"/>
                </a:moveTo>
                <a:lnTo>
                  <a:pt x="8106943" y="76784"/>
                </a:lnTo>
                <a:lnTo>
                  <a:pt x="8080007" y="36817"/>
                </a:lnTo>
                <a:lnTo>
                  <a:pt x="8040040" y="9880"/>
                </a:lnTo>
                <a:lnTo>
                  <a:pt x="7991094" y="0"/>
                </a:lnTo>
                <a:lnTo>
                  <a:pt x="125730" y="0"/>
                </a:lnTo>
                <a:lnTo>
                  <a:pt x="76784" y="9880"/>
                </a:lnTo>
                <a:lnTo>
                  <a:pt x="36817" y="36817"/>
                </a:lnTo>
                <a:lnTo>
                  <a:pt x="9867" y="76784"/>
                </a:lnTo>
                <a:lnTo>
                  <a:pt x="0" y="125730"/>
                </a:lnTo>
                <a:lnTo>
                  <a:pt x="0" y="628650"/>
                </a:lnTo>
                <a:lnTo>
                  <a:pt x="9867" y="677608"/>
                </a:lnTo>
                <a:lnTo>
                  <a:pt x="36817" y="717575"/>
                </a:lnTo>
                <a:lnTo>
                  <a:pt x="76784" y="744512"/>
                </a:lnTo>
                <a:lnTo>
                  <a:pt x="125730" y="754380"/>
                </a:lnTo>
                <a:lnTo>
                  <a:pt x="7991094" y="754380"/>
                </a:lnTo>
                <a:lnTo>
                  <a:pt x="8040040" y="744512"/>
                </a:lnTo>
                <a:lnTo>
                  <a:pt x="8080007" y="717575"/>
                </a:lnTo>
                <a:lnTo>
                  <a:pt x="8106943" y="677608"/>
                </a:lnTo>
                <a:lnTo>
                  <a:pt x="8116824" y="628650"/>
                </a:lnTo>
                <a:lnTo>
                  <a:pt x="8116824" y="570738"/>
                </a:lnTo>
                <a:lnTo>
                  <a:pt x="8116824" y="183642"/>
                </a:lnTo>
                <a:lnTo>
                  <a:pt x="8116824" y="125730"/>
                </a:lnTo>
                <a:close/>
              </a:path>
            </a:pathLst>
          </a:custGeom>
          <a:solidFill>
            <a:srgbClr val="F79546"/>
          </a:solidFill>
        </p:spPr>
        <p:txBody>
          <a:bodyPr wrap="square" lIns="0" tIns="0" rIns="0" bIns="0" rtlCol="0"/>
          <a:lstStyle/>
          <a:p>
            <a:endParaRPr/>
          </a:p>
        </p:txBody>
      </p:sp>
      <p:sp>
        <p:nvSpPr>
          <p:cNvPr id="7" name="object 7"/>
          <p:cNvSpPr txBox="1"/>
          <p:nvPr/>
        </p:nvSpPr>
        <p:spPr>
          <a:xfrm>
            <a:off x="5629655" y="3743705"/>
            <a:ext cx="2727325" cy="330200"/>
          </a:xfrm>
          <a:prstGeom prst="rect">
            <a:avLst/>
          </a:prstGeom>
        </p:spPr>
        <p:txBody>
          <a:bodyPr vert="horz" wrap="square" lIns="0" tIns="12065" rIns="0" bIns="0" rtlCol="0">
            <a:spAutoFit/>
          </a:bodyPr>
          <a:lstStyle/>
          <a:p>
            <a:pPr marL="12700">
              <a:lnSpc>
                <a:spcPct val="100000"/>
              </a:lnSpc>
              <a:spcBef>
                <a:spcPts val="95"/>
              </a:spcBef>
              <a:tabLst>
                <a:tab pos="778510" algn="l"/>
                <a:tab pos="1740535" algn="l"/>
              </a:tabLst>
            </a:pPr>
            <a:r>
              <a:rPr sz="2000" spc="20" dirty="0">
                <a:solidFill>
                  <a:srgbClr val="FFFFFF"/>
                </a:solidFill>
                <a:latin typeface="Arial"/>
                <a:cs typeface="Arial"/>
              </a:rPr>
              <a:t>SQ</a:t>
            </a:r>
            <a:r>
              <a:rPr sz="2000" spc="15" dirty="0">
                <a:solidFill>
                  <a:srgbClr val="FFFFFF"/>
                </a:solidFill>
                <a:latin typeface="Arial"/>
                <a:cs typeface="Arial"/>
              </a:rPr>
              <a:t>L</a:t>
            </a:r>
            <a:r>
              <a:rPr sz="2000" dirty="0">
                <a:solidFill>
                  <a:srgbClr val="FFFFFF"/>
                </a:solidFill>
                <a:latin typeface="Arial"/>
                <a:cs typeface="Arial"/>
              </a:rPr>
              <a:t>	</a:t>
            </a:r>
            <a:r>
              <a:rPr sz="2000" spc="-50" dirty="0">
                <a:solidFill>
                  <a:srgbClr val="FFFFFF"/>
                </a:solidFill>
                <a:latin typeface="Arial"/>
                <a:cs typeface="Arial"/>
              </a:rPr>
              <a:t>Ser</a:t>
            </a:r>
            <a:r>
              <a:rPr sz="2000" spc="-45" dirty="0">
                <a:solidFill>
                  <a:srgbClr val="FFFFFF"/>
                </a:solidFill>
                <a:latin typeface="Arial"/>
                <a:cs typeface="Arial"/>
              </a:rPr>
              <a:t>v</a:t>
            </a:r>
            <a:r>
              <a:rPr sz="2000" spc="-50" dirty="0">
                <a:solidFill>
                  <a:srgbClr val="FFFFFF"/>
                </a:solidFill>
                <a:latin typeface="Arial"/>
                <a:cs typeface="Arial"/>
              </a:rPr>
              <a:t>er</a:t>
            </a:r>
            <a:r>
              <a:rPr sz="2000" dirty="0">
                <a:solidFill>
                  <a:srgbClr val="FFFFFF"/>
                </a:solidFill>
                <a:latin typeface="Arial"/>
                <a:cs typeface="Arial"/>
              </a:rPr>
              <a:t>	</a:t>
            </a:r>
            <a:r>
              <a:rPr sz="2000" spc="-20" dirty="0">
                <a:solidFill>
                  <a:srgbClr val="FFFFFF"/>
                </a:solidFill>
                <a:latin typeface="Arial"/>
                <a:cs typeface="Arial"/>
              </a:rPr>
              <a:t>inst</a:t>
            </a:r>
            <a:r>
              <a:rPr sz="2000" spc="-15" dirty="0">
                <a:solidFill>
                  <a:srgbClr val="FFFFFF"/>
                </a:solidFill>
                <a:latin typeface="Arial"/>
                <a:cs typeface="Arial"/>
              </a:rPr>
              <a:t>a</a:t>
            </a:r>
            <a:r>
              <a:rPr sz="2000" spc="-70" dirty="0">
                <a:solidFill>
                  <a:srgbClr val="FFFFFF"/>
                </a:solidFill>
                <a:latin typeface="Arial"/>
                <a:cs typeface="Arial"/>
              </a:rPr>
              <a:t>nce,</a:t>
            </a:r>
            <a:endParaRPr sz="2000">
              <a:latin typeface="Arial"/>
              <a:cs typeface="Arial"/>
            </a:endParaRPr>
          </a:p>
        </p:txBody>
      </p:sp>
      <p:sp>
        <p:nvSpPr>
          <p:cNvPr id="8" name="object 8"/>
          <p:cNvSpPr txBox="1"/>
          <p:nvPr/>
        </p:nvSpPr>
        <p:spPr>
          <a:xfrm>
            <a:off x="647445" y="3743705"/>
            <a:ext cx="4949190" cy="635000"/>
          </a:xfrm>
          <a:prstGeom prst="rect">
            <a:avLst/>
          </a:prstGeom>
        </p:spPr>
        <p:txBody>
          <a:bodyPr vert="horz" wrap="square" lIns="0" tIns="12065" rIns="0" bIns="0" rtlCol="0">
            <a:spAutoFit/>
          </a:bodyPr>
          <a:lstStyle/>
          <a:p>
            <a:pPr marL="355600" marR="5080" indent="-342900">
              <a:lnSpc>
                <a:spcPct val="100000"/>
              </a:lnSpc>
              <a:spcBef>
                <a:spcPts val="95"/>
              </a:spcBef>
              <a:buFont typeface="Wingdings"/>
              <a:buChar char=""/>
              <a:tabLst>
                <a:tab pos="354965" algn="l"/>
                <a:tab pos="355600" algn="l"/>
                <a:tab pos="1173480" algn="l"/>
                <a:tab pos="1746250" algn="l"/>
                <a:tab pos="3150235" algn="l"/>
                <a:tab pos="3756025" algn="l"/>
                <a:tab pos="4517390" algn="l"/>
              </a:tabLst>
            </a:pPr>
            <a:r>
              <a:rPr sz="2000" spc="-50" dirty="0">
                <a:solidFill>
                  <a:srgbClr val="FFFFFF"/>
                </a:solidFill>
                <a:latin typeface="Arial"/>
                <a:cs typeface="Arial"/>
              </a:rPr>
              <a:t>Used	</a:t>
            </a:r>
            <a:r>
              <a:rPr sz="2000" spc="65" dirty="0">
                <a:solidFill>
                  <a:srgbClr val="FFFFFF"/>
                </a:solidFill>
                <a:latin typeface="Arial"/>
                <a:cs typeface="Arial"/>
              </a:rPr>
              <a:t>for	</a:t>
            </a:r>
            <a:r>
              <a:rPr sz="2000" spc="-5" dirty="0">
                <a:solidFill>
                  <a:srgbClr val="FFFFFF"/>
                </a:solidFill>
                <a:latin typeface="Arial"/>
                <a:cs typeface="Arial"/>
              </a:rPr>
              <a:t>examining	</a:t>
            </a:r>
            <a:r>
              <a:rPr sz="2000" dirty="0">
                <a:solidFill>
                  <a:srgbClr val="FFFFFF"/>
                </a:solidFill>
                <a:latin typeface="Arial"/>
                <a:cs typeface="Arial"/>
              </a:rPr>
              <a:t>the	</a:t>
            </a:r>
            <a:r>
              <a:rPr sz="2000" spc="-65" dirty="0">
                <a:solidFill>
                  <a:srgbClr val="FFFFFF"/>
                </a:solidFill>
                <a:latin typeface="Arial"/>
                <a:cs typeface="Arial"/>
              </a:rPr>
              <a:t>state	</a:t>
            </a:r>
            <a:r>
              <a:rPr sz="2000" spc="50" dirty="0">
                <a:solidFill>
                  <a:srgbClr val="FFFFFF"/>
                </a:solidFill>
                <a:latin typeface="Arial"/>
                <a:cs typeface="Arial"/>
              </a:rPr>
              <a:t>of  </a:t>
            </a:r>
            <a:r>
              <a:rPr sz="2000" spc="5" dirty="0">
                <a:solidFill>
                  <a:srgbClr val="FFFFFF"/>
                </a:solidFill>
                <a:latin typeface="Arial"/>
                <a:cs typeface="Arial"/>
              </a:rPr>
              <a:t>troubleshooting, </a:t>
            </a:r>
            <a:r>
              <a:rPr sz="2000" spc="-40" dirty="0">
                <a:solidFill>
                  <a:srgbClr val="FFFFFF"/>
                </a:solidFill>
                <a:latin typeface="Arial"/>
                <a:cs typeface="Arial"/>
              </a:rPr>
              <a:t>and </a:t>
            </a:r>
            <a:r>
              <a:rPr sz="2000" spc="-30" dirty="0">
                <a:solidFill>
                  <a:srgbClr val="FFFFFF"/>
                </a:solidFill>
                <a:latin typeface="Arial"/>
                <a:cs typeface="Arial"/>
              </a:rPr>
              <a:t>performance</a:t>
            </a:r>
            <a:r>
              <a:rPr sz="2000" spc="-325" dirty="0">
                <a:solidFill>
                  <a:srgbClr val="FFFFFF"/>
                </a:solidFill>
                <a:latin typeface="Arial"/>
                <a:cs typeface="Arial"/>
              </a:rPr>
              <a:t> </a:t>
            </a:r>
            <a:r>
              <a:rPr sz="2000" spc="30" dirty="0">
                <a:solidFill>
                  <a:srgbClr val="FFFFFF"/>
                </a:solidFill>
                <a:latin typeface="Arial"/>
                <a:cs typeface="Arial"/>
              </a:rPr>
              <a:t>tuning.</a:t>
            </a:r>
            <a:endParaRPr sz="2000">
              <a:latin typeface="Arial"/>
              <a:cs typeface="Arial"/>
            </a:endParaRPr>
          </a:p>
        </p:txBody>
      </p:sp>
      <p:pic>
        <p:nvPicPr>
          <p:cNvPr id="9" name="object 9"/>
          <p:cNvPicPr/>
          <p:nvPr/>
        </p:nvPicPr>
        <p:blipFill>
          <a:blip r:embed="rId3" cstate="print"/>
          <a:stretch>
            <a:fillRect/>
          </a:stretch>
        </p:blipFill>
        <p:spPr>
          <a:xfrm>
            <a:off x="458723" y="4931664"/>
            <a:ext cx="8116824" cy="1122426"/>
          </a:xfrm>
          <a:prstGeom prst="rect">
            <a:avLst/>
          </a:prstGeom>
        </p:spPr>
      </p:pic>
      <p:sp>
        <p:nvSpPr>
          <p:cNvPr id="10" name="object 10"/>
          <p:cNvSpPr txBox="1"/>
          <p:nvPr/>
        </p:nvSpPr>
        <p:spPr>
          <a:xfrm>
            <a:off x="606805" y="4938776"/>
            <a:ext cx="7709534" cy="939800"/>
          </a:xfrm>
          <a:prstGeom prst="rect">
            <a:avLst/>
          </a:prstGeom>
        </p:spPr>
        <p:txBody>
          <a:bodyPr vert="horz" wrap="square" lIns="0" tIns="12065" rIns="0" bIns="0" rtlCol="0">
            <a:spAutoFit/>
          </a:bodyPr>
          <a:lstStyle/>
          <a:p>
            <a:pPr marL="355600" marR="5080" indent="-342900" algn="just">
              <a:lnSpc>
                <a:spcPct val="100000"/>
              </a:lnSpc>
              <a:spcBef>
                <a:spcPts val="95"/>
              </a:spcBef>
              <a:buFont typeface="Wingdings"/>
              <a:buChar char=""/>
              <a:tabLst>
                <a:tab pos="355600" algn="l"/>
              </a:tabLst>
            </a:pPr>
            <a:r>
              <a:rPr sz="2000" spc="80" dirty="0">
                <a:solidFill>
                  <a:srgbClr val="FFFFFF"/>
                </a:solidFill>
                <a:latin typeface="Arial"/>
                <a:cs typeface="Arial"/>
              </a:rPr>
              <a:t>In </a:t>
            </a:r>
            <a:r>
              <a:rPr sz="2000" spc="-5" dirty="0">
                <a:solidFill>
                  <a:srgbClr val="FFFFFF"/>
                </a:solidFill>
                <a:latin typeface="Arial"/>
                <a:cs typeface="Arial"/>
              </a:rPr>
              <a:t>order </a:t>
            </a:r>
            <a:r>
              <a:rPr sz="2000" spc="55" dirty="0">
                <a:solidFill>
                  <a:srgbClr val="FFFFFF"/>
                </a:solidFill>
                <a:latin typeface="Arial"/>
                <a:cs typeface="Arial"/>
              </a:rPr>
              <a:t>to </a:t>
            </a:r>
            <a:r>
              <a:rPr sz="2000" spc="-15" dirty="0">
                <a:solidFill>
                  <a:srgbClr val="FFFFFF"/>
                </a:solidFill>
                <a:latin typeface="Arial"/>
                <a:cs typeface="Arial"/>
              </a:rPr>
              <a:t>query </a:t>
            </a:r>
            <a:r>
              <a:rPr sz="2000" spc="60" dirty="0">
                <a:solidFill>
                  <a:srgbClr val="FFFFFF"/>
                </a:solidFill>
                <a:latin typeface="Arial"/>
                <a:cs typeface="Arial"/>
              </a:rPr>
              <a:t>DMVs, </a:t>
            </a:r>
            <a:r>
              <a:rPr sz="2000" spc="125" dirty="0">
                <a:solidFill>
                  <a:srgbClr val="FFFFFF"/>
                </a:solidFill>
                <a:latin typeface="Arial"/>
                <a:cs typeface="Arial"/>
              </a:rPr>
              <a:t>it </a:t>
            </a:r>
            <a:r>
              <a:rPr sz="2000" spc="-50" dirty="0">
                <a:solidFill>
                  <a:srgbClr val="FFFFFF"/>
                </a:solidFill>
                <a:latin typeface="Arial"/>
                <a:cs typeface="Arial"/>
              </a:rPr>
              <a:t>is </a:t>
            </a:r>
            <a:r>
              <a:rPr sz="2000" spc="-5" dirty="0">
                <a:solidFill>
                  <a:srgbClr val="FFFFFF"/>
                </a:solidFill>
                <a:latin typeface="Arial"/>
                <a:cs typeface="Arial"/>
              </a:rPr>
              <a:t>required </a:t>
            </a:r>
            <a:r>
              <a:rPr sz="2000" spc="55" dirty="0">
                <a:solidFill>
                  <a:srgbClr val="FFFFFF"/>
                </a:solidFill>
                <a:latin typeface="Arial"/>
                <a:cs typeface="Arial"/>
              </a:rPr>
              <a:t>to </a:t>
            </a:r>
            <a:r>
              <a:rPr sz="2000" spc="-70" dirty="0">
                <a:solidFill>
                  <a:srgbClr val="FFFFFF"/>
                </a:solidFill>
                <a:latin typeface="Arial"/>
                <a:cs typeface="Arial"/>
              </a:rPr>
              <a:t>have </a:t>
            </a:r>
            <a:r>
              <a:rPr sz="2000" spc="145" dirty="0">
                <a:solidFill>
                  <a:srgbClr val="FFFFFF"/>
                </a:solidFill>
                <a:latin typeface="Arial"/>
                <a:cs typeface="Arial"/>
              </a:rPr>
              <a:t>VIEW </a:t>
            </a:r>
            <a:r>
              <a:rPr sz="2000" spc="-25" dirty="0">
                <a:solidFill>
                  <a:srgbClr val="FFFFFF"/>
                </a:solidFill>
                <a:latin typeface="Arial"/>
                <a:cs typeface="Arial"/>
              </a:rPr>
              <a:t>SERVER  </a:t>
            </a:r>
            <a:r>
              <a:rPr sz="2000" spc="70" dirty="0">
                <a:solidFill>
                  <a:srgbClr val="FFFFFF"/>
                </a:solidFill>
                <a:latin typeface="Arial"/>
                <a:cs typeface="Arial"/>
              </a:rPr>
              <a:t>STATE </a:t>
            </a:r>
            <a:r>
              <a:rPr sz="2000" spc="30" dirty="0">
                <a:solidFill>
                  <a:srgbClr val="FFFFFF"/>
                </a:solidFill>
                <a:latin typeface="Arial"/>
                <a:cs typeface="Arial"/>
              </a:rPr>
              <a:t>or </a:t>
            </a:r>
            <a:r>
              <a:rPr sz="2000" spc="145" dirty="0">
                <a:solidFill>
                  <a:srgbClr val="FFFFFF"/>
                </a:solidFill>
                <a:latin typeface="Arial"/>
                <a:cs typeface="Arial"/>
              </a:rPr>
              <a:t>VIEW</a:t>
            </a:r>
            <a:r>
              <a:rPr sz="2000" spc="-390" dirty="0">
                <a:solidFill>
                  <a:srgbClr val="FFFFFF"/>
                </a:solidFill>
                <a:latin typeface="Arial"/>
                <a:cs typeface="Arial"/>
              </a:rPr>
              <a:t> </a:t>
            </a:r>
            <a:r>
              <a:rPr sz="2000" spc="105" dirty="0">
                <a:solidFill>
                  <a:srgbClr val="FFFFFF"/>
                </a:solidFill>
                <a:latin typeface="Arial"/>
                <a:cs typeface="Arial"/>
              </a:rPr>
              <a:t>DATABASE </a:t>
            </a:r>
            <a:r>
              <a:rPr sz="2000" spc="75" dirty="0">
                <a:solidFill>
                  <a:srgbClr val="FFFFFF"/>
                </a:solidFill>
                <a:latin typeface="Arial"/>
                <a:cs typeface="Arial"/>
              </a:rPr>
              <a:t>STATE </a:t>
            </a:r>
            <a:r>
              <a:rPr sz="2000" spc="-30" dirty="0">
                <a:solidFill>
                  <a:srgbClr val="FFFFFF"/>
                </a:solidFill>
                <a:latin typeface="Arial"/>
                <a:cs typeface="Arial"/>
              </a:rPr>
              <a:t>permission, </a:t>
            </a:r>
            <a:r>
              <a:rPr sz="2000" spc="-25" dirty="0">
                <a:solidFill>
                  <a:srgbClr val="FFFFFF"/>
                </a:solidFill>
                <a:latin typeface="Arial"/>
                <a:cs typeface="Arial"/>
              </a:rPr>
              <a:t>depending </a:t>
            </a:r>
            <a:r>
              <a:rPr sz="2000" spc="25" dirty="0">
                <a:solidFill>
                  <a:srgbClr val="FFFFFF"/>
                </a:solidFill>
                <a:latin typeface="Arial"/>
                <a:cs typeface="Arial"/>
              </a:rPr>
              <a:t>on  </a:t>
            </a:r>
            <a:r>
              <a:rPr sz="2000" dirty="0">
                <a:solidFill>
                  <a:srgbClr val="FFFFFF"/>
                </a:solidFill>
                <a:latin typeface="Arial"/>
                <a:cs typeface="Arial"/>
              </a:rPr>
              <a:t>the </a:t>
            </a:r>
            <a:r>
              <a:rPr sz="2000" spc="-105" dirty="0">
                <a:solidFill>
                  <a:srgbClr val="FFFFFF"/>
                </a:solidFill>
                <a:latin typeface="Arial"/>
                <a:cs typeface="Arial"/>
              </a:rPr>
              <a:t>scope </a:t>
            </a:r>
            <a:r>
              <a:rPr sz="2000" spc="50" dirty="0">
                <a:solidFill>
                  <a:srgbClr val="FFFFFF"/>
                </a:solidFill>
                <a:latin typeface="Arial"/>
                <a:cs typeface="Arial"/>
              </a:rPr>
              <a:t>of </a:t>
            </a:r>
            <a:r>
              <a:rPr sz="2000" dirty="0">
                <a:solidFill>
                  <a:srgbClr val="FFFFFF"/>
                </a:solidFill>
                <a:latin typeface="Arial"/>
                <a:cs typeface="Arial"/>
              </a:rPr>
              <a:t>the</a:t>
            </a:r>
            <a:r>
              <a:rPr sz="2000" spc="-425" dirty="0">
                <a:solidFill>
                  <a:srgbClr val="FFFFFF"/>
                </a:solidFill>
                <a:latin typeface="Arial"/>
                <a:cs typeface="Arial"/>
              </a:rPr>
              <a:t> </a:t>
            </a:r>
            <a:r>
              <a:rPr sz="2000" spc="130" dirty="0">
                <a:solidFill>
                  <a:srgbClr val="FFFFFF"/>
                </a:solidFill>
                <a:latin typeface="Arial"/>
                <a:cs typeface="Arial"/>
              </a:rPr>
              <a:t>DMV.</a:t>
            </a:r>
            <a:endParaRPr sz="200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43</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6790055" cy="574040"/>
          </a:xfrm>
          <a:prstGeom prst="rect">
            <a:avLst/>
          </a:prstGeom>
        </p:spPr>
        <p:txBody>
          <a:bodyPr vert="horz" wrap="square" lIns="0" tIns="12700" rIns="0" bIns="0" rtlCol="0">
            <a:spAutoFit/>
          </a:bodyPr>
          <a:lstStyle/>
          <a:p>
            <a:pPr marL="12700">
              <a:lnSpc>
                <a:spcPct val="100000"/>
              </a:lnSpc>
              <a:spcBef>
                <a:spcPts val="100"/>
              </a:spcBef>
            </a:pPr>
            <a:r>
              <a:rPr b="0" spc="-35" dirty="0">
                <a:latin typeface="Arial"/>
                <a:cs typeface="Arial"/>
              </a:rPr>
              <a:t>Categorizing </a:t>
            </a:r>
            <a:r>
              <a:rPr b="0" spc="-65" dirty="0">
                <a:latin typeface="Arial"/>
                <a:cs typeface="Arial"/>
              </a:rPr>
              <a:t>and </a:t>
            </a:r>
            <a:r>
              <a:rPr b="0" spc="25" dirty="0">
                <a:latin typeface="Arial"/>
                <a:cs typeface="Arial"/>
              </a:rPr>
              <a:t>Querying</a:t>
            </a:r>
            <a:r>
              <a:rPr b="0" spc="-635" dirty="0">
                <a:latin typeface="Arial"/>
                <a:cs typeface="Arial"/>
              </a:rPr>
              <a:t> </a:t>
            </a:r>
            <a:r>
              <a:rPr b="0" spc="170" dirty="0">
                <a:latin typeface="Arial"/>
                <a:cs typeface="Arial"/>
              </a:rPr>
              <a:t>DMVs</a:t>
            </a:r>
          </a:p>
        </p:txBody>
      </p:sp>
      <p:sp>
        <p:nvSpPr>
          <p:cNvPr id="3" name="object 3"/>
          <p:cNvSpPr txBox="1"/>
          <p:nvPr/>
        </p:nvSpPr>
        <p:spPr>
          <a:xfrm>
            <a:off x="3342385" y="3587241"/>
            <a:ext cx="2397125"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Organizing </a:t>
            </a:r>
            <a:r>
              <a:rPr sz="1400" b="1" spc="60" dirty="0">
                <a:latin typeface="Arial"/>
                <a:cs typeface="Arial"/>
              </a:rPr>
              <a:t>DMVS</a:t>
            </a:r>
            <a:r>
              <a:rPr sz="1400" b="1" spc="-210" dirty="0">
                <a:latin typeface="Arial"/>
                <a:cs typeface="Arial"/>
              </a:rPr>
              <a:t> </a:t>
            </a:r>
            <a:r>
              <a:rPr sz="1400" b="1" spc="-95" dirty="0">
                <a:latin typeface="Arial"/>
                <a:cs typeface="Arial"/>
              </a:rPr>
              <a:t>by </a:t>
            </a:r>
            <a:r>
              <a:rPr sz="1400" b="1" spc="-65" dirty="0">
                <a:latin typeface="Arial"/>
                <a:cs typeface="Arial"/>
              </a:rPr>
              <a:t>Function</a:t>
            </a:r>
            <a:endParaRPr sz="1400">
              <a:latin typeface="Arial"/>
              <a:cs typeface="Arial"/>
            </a:endParaRPr>
          </a:p>
        </p:txBody>
      </p:sp>
      <p:pic>
        <p:nvPicPr>
          <p:cNvPr id="4" name="object 4"/>
          <p:cNvPicPr/>
          <p:nvPr/>
        </p:nvPicPr>
        <p:blipFill>
          <a:blip r:embed="rId3" cstate="print"/>
          <a:stretch>
            <a:fillRect/>
          </a:stretch>
        </p:blipFill>
        <p:spPr>
          <a:xfrm>
            <a:off x="1075944" y="4067555"/>
            <a:ext cx="7188708" cy="1760220"/>
          </a:xfrm>
          <a:prstGeom prst="rect">
            <a:avLst/>
          </a:prstGeom>
        </p:spPr>
      </p:pic>
      <p:sp>
        <p:nvSpPr>
          <p:cNvPr id="5" name="object 5"/>
          <p:cNvSpPr txBox="1"/>
          <p:nvPr/>
        </p:nvSpPr>
        <p:spPr>
          <a:xfrm>
            <a:off x="2949955" y="5842508"/>
            <a:ext cx="3071495" cy="238760"/>
          </a:xfrm>
          <a:prstGeom prst="rect">
            <a:avLst/>
          </a:prstGeom>
        </p:spPr>
        <p:txBody>
          <a:bodyPr vert="horz" wrap="square" lIns="0" tIns="12065" rIns="0" bIns="0" rtlCol="0">
            <a:spAutoFit/>
          </a:bodyPr>
          <a:lstStyle/>
          <a:p>
            <a:pPr marL="12700">
              <a:lnSpc>
                <a:spcPct val="100000"/>
              </a:lnSpc>
              <a:spcBef>
                <a:spcPts val="95"/>
              </a:spcBef>
            </a:pPr>
            <a:r>
              <a:rPr sz="1400" b="1" spc="-65" dirty="0">
                <a:latin typeface="Arial"/>
                <a:cs typeface="Arial"/>
              </a:rPr>
              <a:t>Querying </a:t>
            </a:r>
            <a:r>
              <a:rPr sz="1400" b="1" spc="-60" dirty="0">
                <a:latin typeface="Arial"/>
                <a:cs typeface="Arial"/>
              </a:rPr>
              <a:t>the </a:t>
            </a:r>
            <a:r>
              <a:rPr sz="1400" b="1" spc="-175" dirty="0">
                <a:latin typeface="Arial"/>
                <a:cs typeface="Arial"/>
              </a:rPr>
              <a:t>sys.dm_exec_sessions</a:t>
            </a:r>
            <a:r>
              <a:rPr sz="1400" b="1" spc="-240" dirty="0">
                <a:latin typeface="Arial"/>
                <a:cs typeface="Arial"/>
              </a:rPr>
              <a:t> </a:t>
            </a:r>
            <a:r>
              <a:rPr sz="1400" b="1" spc="120" dirty="0">
                <a:latin typeface="Arial"/>
                <a:cs typeface="Arial"/>
              </a:rPr>
              <a:t>DMV</a:t>
            </a:r>
            <a:endParaRPr sz="14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44</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graphicFrame>
        <p:nvGraphicFramePr>
          <p:cNvPr id="6" name="object 6"/>
          <p:cNvGraphicFramePr>
            <a:graphicFrameLocks noGrp="1"/>
          </p:cNvGraphicFramePr>
          <p:nvPr/>
        </p:nvGraphicFramePr>
        <p:xfrm>
          <a:off x="1582292" y="1314767"/>
          <a:ext cx="6068695" cy="2132008"/>
        </p:xfrm>
        <a:graphic>
          <a:graphicData uri="http://schemas.openxmlformats.org/drawingml/2006/table">
            <a:tbl>
              <a:tblPr firstRow="1" bandRow="1">
                <a:tableStyleId>{2D5ABB26-0587-4C30-8999-92F81FD0307C}</a:tableStyleId>
              </a:tblPr>
              <a:tblGrid>
                <a:gridCol w="2080895">
                  <a:extLst>
                    <a:ext uri="{9D8B030D-6E8A-4147-A177-3AD203B41FA5}">
                      <a16:colId xmlns:a16="http://schemas.microsoft.com/office/drawing/2014/main" val="20000"/>
                    </a:ext>
                  </a:extLst>
                </a:gridCol>
                <a:gridCol w="3987800">
                  <a:extLst>
                    <a:ext uri="{9D8B030D-6E8A-4147-A177-3AD203B41FA5}">
                      <a16:colId xmlns:a16="http://schemas.microsoft.com/office/drawing/2014/main" val="20001"/>
                    </a:ext>
                  </a:extLst>
                </a:gridCol>
              </a:tblGrid>
              <a:tr h="360489">
                <a:tc gridSpan="2">
                  <a:txBody>
                    <a:bodyPr/>
                    <a:lstStyle/>
                    <a:p>
                      <a:pPr marL="207645">
                        <a:lnSpc>
                          <a:spcPts val="2310"/>
                        </a:lnSpc>
                        <a:tabLst>
                          <a:tab pos="3470910" algn="l"/>
                        </a:tabLst>
                      </a:pPr>
                      <a:r>
                        <a:rPr sz="2000" b="1" spc="-5" dirty="0">
                          <a:solidFill>
                            <a:srgbClr val="FFFFFF"/>
                          </a:solidFill>
                          <a:latin typeface="Calibri"/>
                          <a:cs typeface="Calibri"/>
                        </a:rPr>
                        <a:t>Naming</a:t>
                      </a:r>
                      <a:r>
                        <a:rPr sz="2000" b="1" spc="10" dirty="0">
                          <a:solidFill>
                            <a:srgbClr val="FFFFFF"/>
                          </a:solidFill>
                          <a:latin typeface="Calibri"/>
                          <a:cs typeface="Calibri"/>
                        </a:rPr>
                        <a:t> </a:t>
                      </a:r>
                      <a:r>
                        <a:rPr sz="2000" b="1" spc="-10" dirty="0">
                          <a:solidFill>
                            <a:srgbClr val="FFFFFF"/>
                          </a:solidFill>
                          <a:latin typeface="Calibri"/>
                          <a:cs typeface="Calibri"/>
                        </a:rPr>
                        <a:t>Pattern	Description</a:t>
                      </a:r>
                      <a:endParaRPr sz="2000">
                        <a:latin typeface="Calibri"/>
                        <a:cs typeface="Calibri"/>
                      </a:endParaRPr>
                    </a:p>
                  </a:txBody>
                  <a:tcPr marL="0" marR="0" marT="0" marB="0">
                    <a:lnB w="12700">
                      <a:solidFill>
                        <a:srgbClr val="000000"/>
                      </a:solidFill>
                      <a:prstDash val="solid"/>
                    </a:lnB>
                    <a:solidFill>
                      <a:srgbClr val="4AACC5"/>
                    </a:solidFill>
                  </a:tcPr>
                </a:tc>
                <a:tc hMerge="1">
                  <a:txBody>
                    <a:bodyPr/>
                    <a:lstStyle/>
                    <a:p>
                      <a:endParaRPr/>
                    </a:p>
                  </a:txBody>
                  <a:tcPr marL="0" marR="0" marT="0" marB="0"/>
                </a:tc>
                <a:extLst>
                  <a:ext uri="{0D108BD9-81ED-4DB2-BD59-A6C34878D82A}">
                    <a16:rowId xmlns:a16="http://schemas.microsoft.com/office/drawing/2014/main" val="10000"/>
                  </a:ext>
                </a:extLst>
              </a:tr>
              <a:tr h="316229">
                <a:tc>
                  <a:txBody>
                    <a:bodyPr/>
                    <a:lstStyle/>
                    <a:p>
                      <a:pPr>
                        <a:lnSpc>
                          <a:spcPts val="1800"/>
                        </a:lnSpc>
                      </a:pPr>
                      <a:r>
                        <a:rPr sz="1800" spc="-5" dirty="0">
                          <a:latin typeface="Arial"/>
                          <a:cs typeface="Arial"/>
                        </a:rPr>
                        <a:t>db</a:t>
                      </a:r>
                      <a:endParaRPr sz="18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BEDF4"/>
                    </a:solidFill>
                  </a:tcPr>
                </a:tc>
                <a:tc>
                  <a:txBody>
                    <a:bodyPr/>
                    <a:lstStyle/>
                    <a:p>
                      <a:pPr>
                        <a:lnSpc>
                          <a:spcPts val="1800"/>
                        </a:lnSpc>
                      </a:pPr>
                      <a:r>
                        <a:rPr sz="1800" spc="-85" dirty="0">
                          <a:latin typeface="Arial"/>
                          <a:cs typeface="Arial"/>
                        </a:rPr>
                        <a:t>Database</a:t>
                      </a:r>
                      <a:r>
                        <a:rPr sz="1800" spc="-125" dirty="0">
                          <a:latin typeface="Arial"/>
                          <a:cs typeface="Arial"/>
                        </a:rPr>
                        <a:t> </a:t>
                      </a:r>
                      <a:r>
                        <a:rPr sz="1800" spc="-30" dirty="0">
                          <a:latin typeface="Arial"/>
                          <a:cs typeface="Arial"/>
                        </a:rPr>
                        <a:t>related</a:t>
                      </a:r>
                      <a:endParaRPr sz="18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BEDF4"/>
                    </a:solidFill>
                  </a:tcPr>
                </a:tc>
                <a:extLst>
                  <a:ext uri="{0D108BD9-81ED-4DB2-BD59-A6C34878D82A}">
                    <a16:rowId xmlns:a16="http://schemas.microsoft.com/office/drawing/2014/main" val="10001"/>
                  </a:ext>
                </a:extLst>
              </a:tr>
              <a:tr h="316229">
                <a:tc>
                  <a:txBody>
                    <a:bodyPr/>
                    <a:lstStyle/>
                    <a:p>
                      <a:pPr>
                        <a:lnSpc>
                          <a:spcPts val="1800"/>
                        </a:lnSpc>
                      </a:pPr>
                      <a:r>
                        <a:rPr sz="1800" spc="40" dirty="0">
                          <a:latin typeface="Arial"/>
                          <a:cs typeface="Arial"/>
                        </a:rPr>
                        <a:t>io</a:t>
                      </a:r>
                      <a:endParaRPr sz="18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BEDF4"/>
                    </a:solidFill>
                  </a:tcPr>
                </a:tc>
                <a:tc>
                  <a:txBody>
                    <a:bodyPr/>
                    <a:lstStyle/>
                    <a:p>
                      <a:pPr>
                        <a:lnSpc>
                          <a:spcPts val="1800"/>
                        </a:lnSpc>
                      </a:pPr>
                      <a:r>
                        <a:rPr sz="1800" spc="155" dirty="0">
                          <a:latin typeface="Arial"/>
                          <a:cs typeface="Arial"/>
                        </a:rPr>
                        <a:t>I/O</a:t>
                      </a:r>
                      <a:r>
                        <a:rPr sz="1800" spc="-120" dirty="0">
                          <a:latin typeface="Arial"/>
                          <a:cs typeface="Arial"/>
                        </a:rPr>
                        <a:t> </a:t>
                      </a:r>
                      <a:r>
                        <a:rPr sz="1800" spc="-30" dirty="0">
                          <a:latin typeface="Arial"/>
                          <a:cs typeface="Arial"/>
                        </a:rPr>
                        <a:t>statistics</a:t>
                      </a:r>
                      <a:endParaRPr sz="18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BEDF4"/>
                    </a:solidFill>
                  </a:tcPr>
                </a:tc>
                <a:extLst>
                  <a:ext uri="{0D108BD9-81ED-4DB2-BD59-A6C34878D82A}">
                    <a16:rowId xmlns:a16="http://schemas.microsoft.com/office/drawing/2014/main" val="10002"/>
                  </a:ext>
                </a:extLst>
              </a:tr>
              <a:tr h="548640">
                <a:tc>
                  <a:txBody>
                    <a:bodyPr/>
                    <a:lstStyle/>
                    <a:p>
                      <a:pPr>
                        <a:lnSpc>
                          <a:spcPts val="1800"/>
                        </a:lnSpc>
                      </a:pPr>
                      <a:r>
                        <a:rPr sz="1800" spc="-30" dirty="0">
                          <a:latin typeface="Arial"/>
                          <a:cs typeface="Arial"/>
                        </a:rPr>
                        <a:t>Os</a:t>
                      </a:r>
                      <a:endParaRPr sz="18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BEDF4"/>
                    </a:solidFill>
                  </a:tcPr>
                </a:tc>
                <a:tc>
                  <a:txBody>
                    <a:bodyPr/>
                    <a:lstStyle/>
                    <a:p>
                      <a:pPr>
                        <a:lnSpc>
                          <a:spcPts val="1800"/>
                        </a:lnSpc>
                      </a:pPr>
                      <a:r>
                        <a:rPr sz="1800" spc="20" dirty="0">
                          <a:latin typeface="Arial"/>
                          <a:cs typeface="Arial"/>
                        </a:rPr>
                        <a:t>SQL </a:t>
                      </a:r>
                      <a:r>
                        <a:rPr sz="1800" spc="-45" dirty="0">
                          <a:latin typeface="Arial"/>
                          <a:cs typeface="Arial"/>
                        </a:rPr>
                        <a:t>Server </a:t>
                      </a:r>
                      <a:r>
                        <a:rPr sz="1800" spc="5" dirty="0">
                          <a:latin typeface="Arial"/>
                          <a:cs typeface="Arial"/>
                        </a:rPr>
                        <a:t>Operating</a:t>
                      </a:r>
                      <a:r>
                        <a:rPr sz="1800" spc="-350" dirty="0">
                          <a:latin typeface="Arial"/>
                          <a:cs typeface="Arial"/>
                        </a:rPr>
                        <a:t> </a:t>
                      </a:r>
                      <a:r>
                        <a:rPr sz="1800" spc="-65" dirty="0">
                          <a:latin typeface="Arial"/>
                          <a:cs typeface="Arial"/>
                        </a:rPr>
                        <a:t>System</a:t>
                      </a:r>
                      <a:endParaRPr sz="1800">
                        <a:latin typeface="Arial"/>
                        <a:cs typeface="Arial"/>
                      </a:endParaRPr>
                    </a:p>
                    <a:p>
                      <a:pPr>
                        <a:lnSpc>
                          <a:spcPct val="100000"/>
                        </a:lnSpc>
                      </a:pPr>
                      <a:r>
                        <a:rPr sz="1800" spc="35" dirty="0">
                          <a:latin typeface="Arial"/>
                          <a:cs typeface="Arial"/>
                        </a:rPr>
                        <a:t>Information</a:t>
                      </a:r>
                      <a:endParaRPr sz="18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BEDF4"/>
                    </a:solidFill>
                  </a:tcPr>
                </a:tc>
                <a:extLst>
                  <a:ext uri="{0D108BD9-81ED-4DB2-BD59-A6C34878D82A}">
                    <a16:rowId xmlns:a16="http://schemas.microsoft.com/office/drawing/2014/main" val="10003"/>
                  </a:ext>
                </a:extLst>
              </a:tr>
              <a:tr h="274319">
                <a:tc>
                  <a:txBody>
                    <a:bodyPr/>
                    <a:lstStyle/>
                    <a:p>
                      <a:pPr>
                        <a:lnSpc>
                          <a:spcPts val="1800"/>
                        </a:lnSpc>
                      </a:pPr>
                      <a:r>
                        <a:rPr sz="1800" spc="55" dirty="0">
                          <a:latin typeface="Arial"/>
                          <a:cs typeface="Arial"/>
                        </a:rPr>
                        <a:t>'tran'</a:t>
                      </a:r>
                      <a:endParaRPr sz="18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BEDF4"/>
                    </a:solidFill>
                  </a:tcPr>
                </a:tc>
                <a:tc>
                  <a:txBody>
                    <a:bodyPr/>
                    <a:lstStyle/>
                    <a:p>
                      <a:pPr>
                        <a:lnSpc>
                          <a:spcPts val="1800"/>
                        </a:lnSpc>
                      </a:pPr>
                      <a:r>
                        <a:rPr sz="1800" spc="-15" dirty="0">
                          <a:latin typeface="Arial"/>
                          <a:cs typeface="Arial"/>
                        </a:rPr>
                        <a:t>Transaction-related</a:t>
                      </a:r>
                      <a:endParaRPr sz="18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BEDF4"/>
                    </a:solidFill>
                  </a:tcPr>
                </a:tc>
                <a:extLst>
                  <a:ext uri="{0D108BD9-81ED-4DB2-BD59-A6C34878D82A}">
                    <a16:rowId xmlns:a16="http://schemas.microsoft.com/office/drawing/2014/main" val="10004"/>
                  </a:ext>
                </a:extLst>
              </a:tr>
              <a:tr h="316102">
                <a:tc>
                  <a:txBody>
                    <a:bodyPr/>
                    <a:lstStyle/>
                    <a:p>
                      <a:pPr>
                        <a:lnSpc>
                          <a:spcPts val="1800"/>
                        </a:lnSpc>
                      </a:pPr>
                      <a:r>
                        <a:rPr sz="1800" spc="-10" dirty="0">
                          <a:latin typeface="Arial"/>
                          <a:cs typeface="Arial"/>
                        </a:rPr>
                        <a:t>'exec'</a:t>
                      </a:r>
                      <a:endParaRPr sz="18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BEDF4"/>
                    </a:solidFill>
                  </a:tcPr>
                </a:tc>
                <a:tc>
                  <a:txBody>
                    <a:bodyPr/>
                    <a:lstStyle/>
                    <a:p>
                      <a:pPr>
                        <a:lnSpc>
                          <a:spcPts val="1800"/>
                        </a:lnSpc>
                      </a:pPr>
                      <a:r>
                        <a:rPr sz="1800" spc="10" dirty="0">
                          <a:latin typeface="Arial"/>
                          <a:cs typeface="Arial"/>
                        </a:rPr>
                        <a:t>Query </a:t>
                      </a:r>
                      <a:r>
                        <a:rPr sz="1800" spc="-15" dirty="0">
                          <a:latin typeface="Arial"/>
                          <a:cs typeface="Arial"/>
                        </a:rPr>
                        <a:t>execution-related</a:t>
                      </a:r>
                      <a:r>
                        <a:rPr sz="1800" spc="-250" dirty="0">
                          <a:latin typeface="Arial"/>
                          <a:cs typeface="Arial"/>
                        </a:rPr>
                        <a:t> </a:t>
                      </a:r>
                      <a:r>
                        <a:rPr sz="1800" spc="-60" dirty="0">
                          <a:latin typeface="Arial"/>
                          <a:cs typeface="Arial"/>
                        </a:rPr>
                        <a:t>metadata</a:t>
                      </a:r>
                      <a:endParaRPr sz="18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BEDF4"/>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z="4000" b="0" spc="-70" dirty="0">
                <a:latin typeface="Arial"/>
                <a:cs typeface="Arial"/>
              </a:rPr>
              <a:t>Summary</a:t>
            </a:r>
            <a:endParaRPr sz="40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67" baseline="4629" dirty="0"/>
              <a:t>10/</a:t>
            </a:r>
            <a:r>
              <a:rPr sz="1800" spc="-225" baseline="4629" dirty="0"/>
              <a:t> </a:t>
            </a:r>
            <a:fld id="{81D60167-4931-47E6-BA6A-407CBD079E47}" type="slidenum">
              <a:rPr sz="1200" spc="-110" dirty="0"/>
              <a:t>45</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45440" y="1074928"/>
            <a:ext cx="8453755" cy="4963795"/>
          </a:xfrm>
          <a:prstGeom prst="rect">
            <a:avLst/>
          </a:prstGeom>
        </p:spPr>
        <p:txBody>
          <a:bodyPr vert="horz" wrap="square" lIns="0" tIns="12700" rIns="0" bIns="0" rtlCol="0">
            <a:spAutoFit/>
          </a:bodyPr>
          <a:lstStyle/>
          <a:p>
            <a:pPr marL="353695" marR="5715" indent="-341630" algn="just">
              <a:lnSpc>
                <a:spcPct val="100000"/>
              </a:lnSpc>
              <a:spcBef>
                <a:spcPts val="100"/>
              </a:spcBef>
              <a:buSzPct val="111111"/>
              <a:buFont typeface="Calibri"/>
              <a:buChar char="●"/>
              <a:tabLst>
                <a:tab pos="354330" algn="l"/>
              </a:tabLst>
            </a:pPr>
            <a:r>
              <a:rPr sz="1800" spc="260" dirty="0">
                <a:latin typeface="Arial"/>
                <a:cs typeface="Arial"/>
              </a:rPr>
              <a:t>A </a:t>
            </a:r>
            <a:r>
              <a:rPr sz="1800" spc="5" dirty="0">
                <a:latin typeface="Arial"/>
                <a:cs typeface="Arial"/>
              </a:rPr>
              <a:t>view </a:t>
            </a:r>
            <a:r>
              <a:rPr sz="1800" spc="-45" dirty="0">
                <a:latin typeface="Arial"/>
                <a:cs typeface="Arial"/>
              </a:rPr>
              <a:t>is </a:t>
            </a:r>
            <a:r>
              <a:rPr sz="1800" spc="-175" dirty="0">
                <a:latin typeface="Arial"/>
                <a:cs typeface="Arial"/>
              </a:rPr>
              <a:t>a </a:t>
            </a:r>
            <a:r>
              <a:rPr sz="1800" spc="40" dirty="0">
                <a:latin typeface="Arial"/>
                <a:cs typeface="Arial"/>
              </a:rPr>
              <a:t>virtual </a:t>
            </a:r>
            <a:r>
              <a:rPr sz="1800" spc="-30" dirty="0">
                <a:latin typeface="Arial"/>
                <a:cs typeface="Arial"/>
              </a:rPr>
              <a:t>table </a:t>
            </a:r>
            <a:r>
              <a:rPr sz="1800" spc="25" dirty="0">
                <a:latin typeface="Arial"/>
                <a:cs typeface="Arial"/>
              </a:rPr>
              <a:t>that </a:t>
            </a:r>
            <a:r>
              <a:rPr sz="1800" spc="-45" dirty="0">
                <a:latin typeface="Arial"/>
                <a:cs typeface="Arial"/>
              </a:rPr>
              <a:t>is </a:t>
            </a:r>
            <a:r>
              <a:rPr sz="1800" spc="-85" dirty="0">
                <a:latin typeface="Arial"/>
                <a:cs typeface="Arial"/>
              </a:rPr>
              <a:t>made </a:t>
            </a:r>
            <a:r>
              <a:rPr sz="1800" spc="15" dirty="0">
                <a:latin typeface="Arial"/>
                <a:cs typeface="Arial"/>
              </a:rPr>
              <a:t>up </a:t>
            </a:r>
            <a:r>
              <a:rPr sz="1800" spc="50" dirty="0">
                <a:latin typeface="Arial"/>
                <a:cs typeface="Arial"/>
              </a:rPr>
              <a:t>of </a:t>
            </a:r>
            <a:r>
              <a:rPr sz="1800" spc="-70" dirty="0">
                <a:latin typeface="Arial"/>
                <a:cs typeface="Arial"/>
              </a:rPr>
              <a:t>selected </a:t>
            </a:r>
            <a:r>
              <a:rPr sz="1800" spc="-20" dirty="0">
                <a:latin typeface="Arial"/>
                <a:cs typeface="Arial"/>
              </a:rPr>
              <a:t>columns </a:t>
            </a:r>
            <a:r>
              <a:rPr sz="1800" spc="40" dirty="0">
                <a:latin typeface="Arial"/>
                <a:cs typeface="Arial"/>
              </a:rPr>
              <a:t>from </a:t>
            </a:r>
            <a:r>
              <a:rPr sz="1800" spc="-40" dirty="0">
                <a:latin typeface="Arial"/>
                <a:cs typeface="Arial"/>
              </a:rPr>
              <a:t>one </a:t>
            </a:r>
            <a:r>
              <a:rPr sz="1800" spc="25" dirty="0">
                <a:latin typeface="Arial"/>
                <a:cs typeface="Arial"/>
              </a:rPr>
              <a:t>or </a:t>
            </a:r>
            <a:r>
              <a:rPr sz="1800" spc="-30" dirty="0">
                <a:latin typeface="Arial"/>
                <a:cs typeface="Arial"/>
              </a:rPr>
              <a:t>more  </a:t>
            </a:r>
            <a:r>
              <a:rPr sz="1800" spc="-55" dirty="0">
                <a:latin typeface="Arial"/>
                <a:cs typeface="Arial"/>
              </a:rPr>
              <a:t>tables</a:t>
            </a:r>
            <a:r>
              <a:rPr sz="1800" spc="-120" dirty="0">
                <a:latin typeface="Arial"/>
                <a:cs typeface="Arial"/>
              </a:rPr>
              <a:t> </a:t>
            </a:r>
            <a:r>
              <a:rPr sz="1800" spc="-35" dirty="0">
                <a:latin typeface="Arial"/>
                <a:cs typeface="Arial"/>
              </a:rPr>
              <a:t>and</a:t>
            </a:r>
            <a:r>
              <a:rPr sz="1800" spc="-120" dirty="0">
                <a:latin typeface="Arial"/>
                <a:cs typeface="Arial"/>
              </a:rPr>
              <a:t> </a:t>
            </a:r>
            <a:r>
              <a:rPr sz="1800" spc="-45" dirty="0">
                <a:latin typeface="Arial"/>
                <a:cs typeface="Arial"/>
              </a:rPr>
              <a:t>is</a:t>
            </a:r>
            <a:r>
              <a:rPr sz="1800" spc="-105" dirty="0">
                <a:latin typeface="Arial"/>
                <a:cs typeface="Arial"/>
              </a:rPr>
              <a:t> </a:t>
            </a:r>
            <a:r>
              <a:rPr sz="1800" spc="-55" dirty="0">
                <a:latin typeface="Arial"/>
                <a:cs typeface="Arial"/>
              </a:rPr>
              <a:t>created</a:t>
            </a:r>
            <a:r>
              <a:rPr sz="1800" spc="-130" dirty="0">
                <a:latin typeface="Arial"/>
                <a:cs typeface="Arial"/>
              </a:rPr>
              <a:t> </a:t>
            </a:r>
            <a:r>
              <a:rPr sz="1800" spc="-25" dirty="0">
                <a:latin typeface="Arial"/>
                <a:cs typeface="Arial"/>
              </a:rPr>
              <a:t>using</a:t>
            </a:r>
            <a:r>
              <a:rPr sz="1800" spc="-110" dirty="0">
                <a:latin typeface="Arial"/>
                <a:cs typeface="Arial"/>
              </a:rPr>
              <a:t> </a:t>
            </a:r>
            <a:r>
              <a:rPr sz="1800" dirty="0">
                <a:latin typeface="Arial"/>
                <a:cs typeface="Arial"/>
              </a:rPr>
              <a:t>the</a:t>
            </a:r>
            <a:r>
              <a:rPr sz="1800" spc="-114" dirty="0">
                <a:latin typeface="Arial"/>
                <a:cs typeface="Arial"/>
              </a:rPr>
              <a:t> </a:t>
            </a:r>
            <a:r>
              <a:rPr sz="1800" spc="55" dirty="0">
                <a:latin typeface="Arial"/>
                <a:cs typeface="Arial"/>
              </a:rPr>
              <a:t>CREATE</a:t>
            </a:r>
            <a:r>
              <a:rPr sz="1800" spc="-120" dirty="0">
                <a:latin typeface="Arial"/>
                <a:cs typeface="Arial"/>
              </a:rPr>
              <a:t> </a:t>
            </a:r>
            <a:r>
              <a:rPr sz="1800" spc="130" dirty="0">
                <a:latin typeface="Arial"/>
                <a:cs typeface="Arial"/>
              </a:rPr>
              <a:t>VIEW</a:t>
            </a:r>
            <a:r>
              <a:rPr sz="1800" spc="-120" dirty="0">
                <a:latin typeface="Arial"/>
                <a:cs typeface="Arial"/>
              </a:rPr>
              <a:t> </a:t>
            </a:r>
            <a:r>
              <a:rPr sz="1800" spc="-35" dirty="0">
                <a:latin typeface="Arial"/>
                <a:cs typeface="Arial"/>
              </a:rPr>
              <a:t>command</a:t>
            </a:r>
            <a:r>
              <a:rPr sz="1800" spc="-130" dirty="0">
                <a:latin typeface="Arial"/>
                <a:cs typeface="Arial"/>
              </a:rPr>
              <a:t> </a:t>
            </a:r>
            <a:r>
              <a:rPr sz="1800" spc="80" dirty="0">
                <a:latin typeface="Arial"/>
                <a:cs typeface="Arial"/>
              </a:rPr>
              <a:t>in</a:t>
            </a:r>
            <a:r>
              <a:rPr sz="1800" spc="-114" dirty="0">
                <a:latin typeface="Arial"/>
                <a:cs typeface="Arial"/>
              </a:rPr>
              <a:t> </a:t>
            </a:r>
            <a:r>
              <a:rPr sz="1800" spc="20" dirty="0">
                <a:latin typeface="Arial"/>
                <a:cs typeface="Arial"/>
              </a:rPr>
              <a:t>SQL</a:t>
            </a:r>
            <a:r>
              <a:rPr sz="1800" spc="-110" dirty="0">
                <a:latin typeface="Arial"/>
                <a:cs typeface="Arial"/>
              </a:rPr>
              <a:t> </a:t>
            </a:r>
            <a:r>
              <a:rPr sz="1800" spc="-45" dirty="0">
                <a:latin typeface="Arial"/>
                <a:cs typeface="Arial"/>
              </a:rPr>
              <a:t>Server.</a:t>
            </a:r>
            <a:endParaRPr sz="1800">
              <a:latin typeface="Arial"/>
              <a:cs typeface="Arial"/>
            </a:endParaRPr>
          </a:p>
          <a:p>
            <a:pPr marL="353695" marR="5080" indent="-341630" algn="just">
              <a:lnSpc>
                <a:spcPct val="100000"/>
              </a:lnSpc>
              <a:buSzPct val="111111"/>
              <a:buFont typeface="Calibri"/>
              <a:buChar char="●"/>
              <a:tabLst>
                <a:tab pos="354330" algn="l"/>
              </a:tabLst>
            </a:pPr>
            <a:r>
              <a:rPr sz="1800" spc="-60" dirty="0">
                <a:latin typeface="Arial"/>
                <a:cs typeface="Arial"/>
              </a:rPr>
              <a:t>Users</a:t>
            </a:r>
            <a:r>
              <a:rPr sz="1800" spc="-105" dirty="0">
                <a:latin typeface="Arial"/>
                <a:cs typeface="Arial"/>
              </a:rPr>
              <a:t> </a:t>
            </a:r>
            <a:r>
              <a:rPr sz="1800" spc="-65" dirty="0">
                <a:latin typeface="Arial"/>
                <a:cs typeface="Arial"/>
              </a:rPr>
              <a:t>can</a:t>
            </a:r>
            <a:r>
              <a:rPr sz="1800" spc="-110" dirty="0">
                <a:latin typeface="Arial"/>
                <a:cs typeface="Arial"/>
              </a:rPr>
              <a:t> </a:t>
            </a:r>
            <a:r>
              <a:rPr sz="1800" spc="-10" dirty="0">
                <a:latin typeface="Arial"/>
                <a:cs typeface="Arial"/>
              </a:rPr>
              <a:t>manipulate</a:t>
            </a:r>
            <a:r>
              <a:rPr sz="1800" spc="-114" dirty="0">
                <a:latin typeface="Arial"/>
                <a:cs typeface="Arial"/>
              </a:rPr>
              <a:t> </a:t>
            </a:r>
            <a:r>
              <a:rPr sz="1800" dirty="0">
                <a:latin typeface="Arial"/>
                <a:cs typeface="Arial"/>
              </a:rPr>
              <a:t>the</a:t>
            </a:r>
            <a:r>
              <a:rPr sz="1800" spc="-105" dirty="0">
                <a:latin typeface="Arial"/>
                <a:cs typeface="Arial"/>
              </a:rPr>
              <a:t> </a:t>
            </a:r>
            <a:r>
              <a:rPr sz="1800" spc="-60" dirty="0">
                <a:latin typeface="Arial"/>
                <a:cs typeface="Arial"/>
              </a:rPr>
              <a:t>data</a:t>
            </a:r>
            <a:r>
              <a:rPr sz="1800" spc="-105" dirty="0">
                <a:latin typeface="Arial"/>
                <a:cs typeface="Arial"/>
              </a:rPr>
              <a:t> </a:t>
            </a:r>
            <a:r>
              <a:rPr sz="1800" spc="80" dirty="0">
                <a:latin typeface="Arial"/>
                <a:cs typeface="Arial"/>
              </a:rPr>
              <a:t>in</a:t>
            </a:r>
            <a:r>
              <a:rPr sz="1800" spc="-100" dirty="0">
                <a:latin typeface="Arial"/>
                <a:cs typeface="Arial"/>
              </a:rPr>
              <a:t> </a:t>
            </a:r>
            <a:r>
              <a:rPr sz="1800" spc="-35" dirty="0">
                <a:latin typeface="Arial"/>
                <a:cs typeface="Arial"/>
              </a:rPr>
              <a:t>views,</a:t>
            </a:r>
            <a:r>
              <a:rPr sz="1800" spc="-95" dirty="0">
                <a:latin typeface="Arial"/>
                <a:cs typeface="Arial"/>
              </a:rPr>
              <a:t> </a:t>
            </a:r>
            <a:r>
              <a:rPr sz="1800" spc="-50" dirty="0">
                <a:latin typeface="Arial"/>
                <a:cs typeface="Arial"/>
              </a:rPr>
              <a:t>such</a:t>
            </a:r>
            <a:r>
              <a:rPr sz="1800" spc="-100" dirty="0">
                <a:latin typeface="Arial"/>
                <a:cs typeface="Arial"/>
              </a:rPr>
              <a:t> </a:t>
            </a:r>
            <a:r>
              <a:rPr sz="1800" spc="-185" dirty="0">
                <a:latin typeface="Arial"/>
                <a:cs typeface="Arial"/>
              </a:rPr>
              <a:t>as</a:t>
            </a:r>
            <a:r>
              <a:rPr sz="1800" spc="-95" dirty="0">
                <a:latin typeface="Arial"/>
                <a:cs typeface="Arial"/>
              </a:rPr>
              <a:t> </a:t>
            </a:r>
            <a:r>
              <a:rPr sz="1800" spc="5" dirty="0">
                <a:latin typeface="Arial"/>
                <a:cs typeface="Arial"/>
              </a:rPr>
              <a:t>inserting</a:t>
            </a:r>
            <a:r>
              <a:rPr sz="1800" spc="-110" dirty="0">
                <a:latin typeface="Arial"/>
                <a:cs typeface="Arial"/>
              </a:rPr>
              <a:t> </a:t>
            </a:r>
            <a:r>
              <a:rPr sz="1800" spc="65" dirty="0">
                <a:latin typeface="Arial"/>
                <a:cs typeface="Arial"/>
              </a:rPr>
              <a:t>into</a:t>
            </a:r>
            <a:r>
              <a:rPr sz="1800" spc="-105" dirty="0">
                <a:latin typeface="Arial"/>
                <a:cs typeface="Arial"/>
              </a:rPr>
              <a:t> </a:t>
            </a:r>
            <a:r>
              <a:rPr sz="1800" spc="-35" dirty="0">
                <a:latin typeface="Arial"/>
                <a:cs typeface="Arial"/>
              </a:rPr>
              <a:t>views,</a:t>
            </a:r>
            <a:r>
              <a:rPr sz="1800" spc="-95" dirty="0">
                <a:latin typeface="Arial"/>
                <a:cs typeface="Arial"/>
              </a:rPr>
              <a:t> </a:t>
            </a:r>
            <a:r>
              <a:rPr sz="1800" spc="30" dirty="0">
                <a:latin typeface="Arial"/>
                <a:cs typeface="Arial"/>
              </a:rPr>
              <a:t>modifying</a:t>
            </a:r>
            <a:r>
              <a:rPr sz="1800" spc="-95" dirty="0">
                <a:latin typeface="Arial"/>
                <a:cs typeface="Arial"/>
              </a:rPr>
              <a:t> </a:t>
            </a:r>
            <a:r>
              <a:rPr sz="1800" dirty="0">
                <a:latin typeface="Arial"/>
                <a:cs typeface="Arial"/>
              </a:rPr>
              <a:t>the  </a:t>
            </a:r>
            <a:r>
              <a:rPr sz="1800" spc="-55" dirty="0">
                <a:latin typeface="Arial"/>
                <a:cs typeface="Arial"/>
              </a:rPr>
              <a:t>data</a:t>
            </a:r>
            <a:r>
              <a:rPr sz="1800" spc="-140" dirty="0">
                <a:latin typeface="Arial"/>
                <a:cs typeface="Arial"/>
              </a:rPr>
              <a:t> </a:t>
            </a:r>
            <a:r>
              <a:rPr sz="1800" spc="80" dirty="0">
                <a:latin typeface="Arial"/>
                <a:cs typeface="Arial"/>
              </a:rPr>
              <a:t>in</a:t>
            </a:r>
            <a:r>
              <a:rPr sz="1800" spc="-110" dirty="0">
                <a:latin typeface="Arial"/>
                <a:cs typeface="Arial"/>
              </a:rPr>
              <a:t> </a:t>
            </a:r>
            <a:r>
              <a:rPr sz="1800" spc="-35" dirty="0">
                <a:latin typeface="Arial"/>
                <a:cs typeface="Arial"/>
              </a:rPr>
              <a:t>views,</a:t>
            </a:r>
            <a:r>
              <a:rPr sz="1800" spc="-110" dirty="0">
                <a:latin typeface="Arial"/>
                <a:cs typeface="Arial"/>
              </a:rPr>
              <a:t> </a:t>
            </a:r>
            <a:r>
              <a:rPr sz="1800" spc="-35" dirty="0">
                <a:latin typeface="Arial"/>
                <a:cs typeface="Arial"/>
              </a:rPr>
              <a:t>and</a:t>
            </a:r>
            <a:r>
              <a:rPr sz="1800" spc="-120" dirty="0">
                <a:latin typeface="Arial"/>
                <a:cs typeface="Arial"/>
              </a:rPr>
              <a:t> </a:t>
            </a:r>
            <a:r>
              <a:rPr sz="1800" spc="-10" dirty="0">
                <a:latin typeface="Arial"/>
                <a:cs typeface="Arial"/>
              </a:rPr>
              <a:t>deleting</a:t>
            </a:r>
            <a:r>
              <a:rPr sz="1800" spc="-130" dirty="0">
                <a:latin typeface="Arial"/>
                <a:cs typeface="Arial"/>
              </a:rPr>
              <a:t> </a:t>
            </a:r>
            <a:r>
              <a:rPr sz="1800" spc="40" dirty="0">
                <a:latin typeface="Arial"/>
                <a:cs typeface="Arial"/>
              </a:rPr>
              <a:t>from</a:t>
            </a:r>
            <a:r>
              <a:rPr sz="1800" spc="-110" dirty="0">
                <a:latin typeface="Arial"/>
                <a:cs typeface="Arial"/>
              </a:rPr>
              <a:t> </a:t>
            </a:r>
            <a:r>
              <a:rPr sz="1800" spc="-35" dirty="0">
                <a:latin typeface="Arial"/>
                <a:cs typeface="Arial"/>
              </a:rPr>
              <a:t>views.</a:t>
            </a:r>
            <a:endParaRPr sz="1800">
              <a:latin typeface="Arial"/>
              <a:cs typeface="Arial"/>
            </a:endParaRPr>
          </a:p>
          <a:p>
            <a:pPr marL="353695" marR="6350" indent="-341630" algn="just">
              <a:lnSpc>
                <a:spcPct val="100000"/>
              </a:lnSpc>
              <a:buSzPct val="111111"/>
              <a:buFont typeface="Calibri"/>
              <a:buChar char="●"/>
              <a:tabLst>
                <a:tab pos="354330" algn="l"/>
              </a:tabLst>
            </a:pPr>
            <a:r>
              <a:rPr sz="1800" spc="260" dirty="0">
                <a:latin typeface="Arial"/>
                <a:cs typeface="Arial"/>
              </a:rPr>
              <a:t>A </a:t>
            </a:r>
            <a:r>
              <a:rPr sz="1800" spc="-30" dirty="0">
                <a:latin typeface="Arial"/>
                <a:cs typeface="Arial"/>
              </a:rPr>
              <a:t>stored procedure </a:t>
            </a:r>
            <a:r>
              <a:rPr sz="1800" spc="-45" dirty="0">
                <a:latin typeface="Arial"/>
                <a:cs typeface="Arial"/>
              </a:rPr>
              <a:t>is </a:t>
            </a:r>
            <a:r>
              <a:rPr sz="1800" spc="-175" dirty="0">
                <a:latin typeface="Arial"/>
                <a:cs typeface="Arial"/>
              </a:rPr>
              <a:t>a </a:t>
            </a:r>
            <a:r>
              <a:rPr sz="1800" spc="-10" dirty="0">
                <a:latin typeface="Arial"/>
                <a:cs typeface="Arial"/>
              </a:rPr>
              <a:t>group </a:t>
            </a:r>
            <a:r>
              <a:rPr sz="1800" spc="45" dirty="0">
                <a:latin typeface="Arial"/>
                <a:cs typeface="Arial"/>
              </a:rPr>
              <a:t>of </a:t>
            </a:r>
            <a:r>
              <a:rPr sz="1800" spc="-15" dirty="0">
                <a:latin typeface="Arial"/>
                <a:cs typeface="Arial"/>
              </a:rPr>
              <a:t>Transact-SQL </a:t>
            </a:r>
            <a:r>
              <a:rPr sz="1800" spc="-50" dirty="0">
                <a:latin typeface="Arial"/>
                <a:cs typeface="Arial"/>
              </a:rPr>
              <a:t>statements </a:t>
            </a:r>
            <a:r>
              <a:rPr sz="1800" spc="25" dirty="0">
                <a:latin typeface="Arial"/>
                <a:cs typeface="Arial"/>
              </a:rPr>
              <a:t>that </a:t>
            </a:r>
            <a:r>
              <a:rPr sz="1800" spc="-55" dirty="0">
                <a:latin typeface="Arial"/>
                <a:cs typeface="Arial"/>
              </a:rPr>
              <a:t>act </a:t>
            </a:r>
            <a:r>
              <a:rPr sz="1800" spc="-185" dirty="0">
                <a:latin typeface="Arial"/>
                <a:cs typeface="Arial"/>
              </a:rPr>
              <a:t>as </a:t>
            </a:r>
            <a:r>
              <a:rPr sz="1800" spc="-175" dirty="0">
                <a:latin typeface="Arial"/>
                <a:cs typeface="Arial"/>
              </a:rPr>
              <a:t>a </a:t>
            </a:r>
            <a:r>
              <a:rPr sz="1800" spc="-35" dirty="0">
                <a:latin typeface="Arial"/>
                <a:cs typeface="Arial"/>
              </a:rPr>
              <a:t>single  </a:t>
            </a:r>
            <a:r>
              <a:rPr sz="1800" spc="10" dirty="0">
                <a:latin typeface="Arial"/>
                <a:cs typeface="Arial"/>
              </a:rPr>
              <a:t>block</a:t>
            </a:r>
            <a:r>
              <a:rPr sz="1800" spc="-120" dirty="0">
                <a:latin typeface="Arial"/>
                <a:cs typeface="Arial"/>
              </a:rPr>
              <a:t> </a:t>
            </a:r>
            <a:r>
              <a:rPr sz="1800" spc="45" dirty="0">
                <a:latin typeface="Arial"/>
                <a:cs typeface="Arial"/>
              </a:rPr>
              <a:t>of</a:t>
            </a:r>
            <a:r>
              <a:rPr sz="1800" spc="-114" dirty="0">
                <a:latin typeface="Arial"/>
                <a:cs typeface="Arial"/>
              </a:rPr>
              <a:t> </a:t>
            </a:r>
            <a:r>
              <a:rPr sz="1800" spc="-65" dirty="0">
                <a:latin typeface="Arial"/>
                <a:cs typeface="Arial"/>
              </a:rPr>
              <a:t>code</a:t>
            </a:r>
            <a:r>
              <a:rPr sz="1800" spc="-114" dirty="0">
                <a:latin typeface="Arial"/>
                <a:cs typeface="Arial"/>
              </a:rPr>
              <a:t> </a:t>
            </a:r>
            <a:r>
              <a:rPr sz="1800" spc="25" dirty="0">
                <a:latin typeface="Arial"/>
                <a:cs typeface="Arial"/>
              </a:rPr>
              <a:t>that</a:t>
            </a:r>
            <a:r>
              <a:rPr sz="1800" spc="-114" dirty="0">
                <a:latin typeface="Arial"/>
                <a:cs typeface="Arial"/>
              </a:rPr>
              <a:t> </a:t>
            </a:r>
            <a:r>
              <a:rPr sz="1800" spc="-15" dirty="0">
                <a:latin typeface="Arial"/>
                <a:cs typeface="Arial"/>
              </a:rPr>
              <a:t>performs</a:t>
            </a:r>
            <a:r>
              <a:rPr sz="1800" spc="-114" dirty="0">
                <a:latin typeface="Arial"/>
                <a:cs typeface="Arial"/>
              </a:rPr>
              <a:t> </a:t>
            </a:r>
            <a:r>
              <a:rPr sz="1800" spc="-175" dirty="0">
                <a:latin typeface="Arial"/>
                <a:cs typeface="Arial"/>
              </a:rPr>
              <a:t>a</a:t>
            </a:r>
            <a:r>
              <a:rPr sz="1800" spc="-120" dirty="0">
                <a:latin typeface="Arial"/>
                <a:cs typeface="Arial"/>
              </a:rPr>
              <a:t> </a:t>
            </a:r>
            <a:r>
              <a:rPr sz="1800" spc="-25" dirty="0">
                <a:latin typeface="Arial"/>
                <a:cs typeface="Arial"/>
              </a:rPr>
              <a:t>specific</a:t>
            </a:r>
            <a:r>
              <a:rPr sz="1800" spc="-114" dirty="0">
                <a:latin typeface="Arial"/>
                <a:cs typeface="Arial"/>
              </a:rPr>
              <a:t> </a:t>
            </a:r>
            <a:r>
              <a:rPr sz="1800" spc="-45" dirty="0">
                <a:latin typeface="Arial"/>
                <a:cs typeface="Arial"/>
              </a:rPr>
              <a:t>task.</a:t>
            </a:r>
            <a:endParaRPr sz="1800">
              <a:latin typeface="Arial"/>
              <a:cs typeface="Arial"/>
            </a:endParaRPr>
          </a:p>
          <a:p>
            <a:pPr marL="353695" marR="5080" indent="-341630" algn="just">
              <a:lnSpc>
                <a:spcPct val="100000"/>
              </a:lnSpc>
              <a:buSzPct val="111111"/>
              <a:buFont typeface="Calibri"/>
              <a:buChar char="●"/>
              <a:tabLst>
                <a:tab pos="354330" algn="l"/>
              </a:tabLst>
            </a:pPr>
            <a:r>
              <a:rPr sz="1800" spc="20" dirty="0">
                <a:latin typeface="Arial"/>
                <a:cs typeface="Arial"/>
              </a:rPr>
              <a:t>SQL </a:t>
            </a:r>
            <a:r>
              <a:rPr sz="1800" spc="-45" dirty="0">
                <a:latin typeface="Arial"/>
                <a:cs typeface="Arial"/>
              </a:rPr>
              <a:t>Server </a:t>
            </a:r>
            <a:r>
              <a:rPr sz="1800" spc="-25" dirty="0">
                <a:latin typeface="Arial"/>
                <a:cs typeface="Arial"/>
              </a:rPr>
              <a:t>supports </a:t>
            </a:r>
            <a:r>
              <a:rPr sz="1800" spc="-20" dirty="0">
                <a:latin typeface="Arial"/>
                <a:cs typeface="Arial"/>
              </a:rPr>
              <a:t>various </a:t>
            </a:r>
            <a:r>
              <a:rPr sz="1800" spc="-50" dirty="0">
                <a:latin typeface="Arial"/>
                <a:cs typeface="Arial"/>
              </a:rPr>
              <a:t>types </a:t>
            </a:r>
            <a:r>
              <a:rPr sz="1800" spc="45" dirty="0">
                <a:latin typeface="Arial"/>
                <a:cs typeface="Arial"/>
              </a:rPr>
              <a:t>of </a:t>
            </a:r>
            <a:r>
              <a:rPr sz="1800" spc="-30" dirty="0">
                <a:latin typeface="Arial"/>
                <a:cs typeface="Arial"/>
              </a:rPr>
              <a:t>stored </a:t>
            </a:r>
            <a:r>
              <a:rPr sz="1800" spc="-45" dirty="0">
                <a:latin typeface="Arial"/>
                <a:cs typeface="Arial"/>
              </a:rPr>
              <a:t>procedures, </a:t>
            </a:r>
            <a:r>
              <a:rPr sz="1800" spc="-50" dirty="0">
                <a:latin typeface="Arial"/>
                <a:cs typeface="Arial"/>
              </a:rPr>
              <a:t>such </a:t>
            </a:r>
            <a:r>
              <a:rPr sz="1800" spc="-185" dirty="0">
                <a:latin typeface="Arial"/>
                <a:cs typeface="Arial"/>
              </a:rPr>
              <a:t>as </a:t>
            </a:r>
            <a:r>
              <a:rPr sz="1800" dirty="0">
                <a:latin typeface="Arial"/>
                <a:cs typeface="Arial"/>
              </a:rPr>
              <a:t>User-Defined  </a:t>
            </a:r>
            <a:r>
              <a:rPr sz="1800" spc="-20" dirty="0">
                <a:latin typeface="Arial"/>
                <a:cs typeface="Arial"/>
              </a:rPr>
              <a:t>Stored</a:t>
            </a:r>
            <a:r>
              <a:rPr sz="1800" spc="-125" dirty="0">
                <a:latin typeface="Arial"/>
                <a:cs typeface="Arial"/>
              </a:rPr>
              <a:t> </a:t>
            </a:r>
            <a:r>
              <a:rPr sz="1800" spc="-60" dirty="0">
                <a:latin typeface="Arial"/>
                <a:cs typeface="Arial"/>
              </a:rPr>
              <a:t>Procedures,</a:t>
            </a:r>
            <a:r>
              <a:rPr sz="1800" spc="-120" dirty="0">
                <a:latin typeface="Arial"/>
                <a:cs typeface="Arial"/>
              </a:rPr>
              <a:t> </a:t>
            </a:r>
            <a:r>
              <a:rPr sz="1800" spc="-20" dirty="0">
                <a:latin typeface="Arial"/>
                <a:cs typeface="Arial"/>
              </a:rPr>
              <a:t>Extended</a:t>
            </a:r>
            <a:r>
              <a:rPr sz="1800" spc="-130" dirty="0">
                <a:latin typeface="Arial"/>
                <a:cs typeface="Arial"/>
              </a:rPr>
              <a:t> </a:t>
            </a:r>
            <a:r>
              <a:rPr sz="1800" spc="-20" dirty="0">
                <a:latin typeface="Arial"/>
                <a:cs typeface="Arial"/>
              </a:rPr>
              <a:t>Stored</a:t>
            </a:r>
            <a:r>
              <a:rPr sz="1800" spc="-114" dirty="0">
                <a:latin typeface="Arial"/>
                <a:cs typeface="Arial"/>
              </a:rPr>
              <a:t> </a:t>
            </a:r>
            <a:r>
              <a:rPr sz="1800" spc="-60" dirty="0">
                <a:latin typeface="Arial"/>
                <a:cs typeface="Arial"/>
              </a:rPr>
              <a:t>Procedures,</a:t>
            </a:r>
            <a:r>
              <a:rPr sz="1800" spc="-114" dirty="0">
                <a:latin typeface="Arial"/>
                <a:cs typeface="Arial"/>
              </a:rPr>
              <a:t> </a:t>
            </a:r>
            <a:r>
              <a:rPr sz="1800" spc="-35" dirty="0">
                <a:latin typeface="Arial"/>
                <a:cs typeface="Arial"/>
              </a:rPr>
              <a:t>and</a:t>
            </a:r>
            <a:r>
              <a:rPr sz="1800" spc="-125" dirty="0">
                <a:latin typeface="Arial"/>
                <a:cs typeface="Arial"/>
              </a:rPr>
              <a:t> </a:t>
            </a:r>
            <a:r>
              <a:rPr sz="1800" spc="-65" dirty="0">
                <a:latin typeface="Arial"/>
                <a:cs typeface="Arial"/>
              </a:rPr>
              <a:t>System</a:t>
            </a:r>
            <a:r>
              <a:rPr sz="1800" spc="-105" dirty="0">
                <a:latin typeface="Arial"/>
                <a:cs typeface="Arial"/>
              </a:rPr>
              <a:t> </a:t>
            </a:r>
            <a:r>
              <a:rPr sz="1800" spc="-20" dirty="0">
                <a:latin typeface="Arial"/>
                <a:cs typeface="Arial"/>
              </a:rPr>
              <a:t>Stored</a:t>
            </a:r>
            <a:r>
              <a:rPr sz="1800" spc="-120" dirty="0">
                <a:latin typeface="Arial"/>
                <a:cs typeface="Arial"/>
              </a:rPr>
              <a:t> </a:t>
            </a:r>
            <a:r>
              <a:rPr sz="1800" spc="-60" dirty="0">
                <a:latin typeface="Arial"/>
                <a:cs typeface="Arial"/>
              </a:rPr>
              <a:t>Procedures.</a:t>
            </a:r>
            <a:endParaRPr sz="1800">
              <a:latin typeface="Arial"/>
              <a:cs typeface="Arial"/>
            </a:endParaRPr>
          </a:p>
          <a:p>
            <a:pPr marL="353695" marR="5080" indent="-341630" algn="just">
              <a:lnSpc>
                <a:spcPct val="100000"/>
              </a:lnSpc>
              <a:buSzPct val="111111"/>
              <a:buFont typeface="Calibri"/>
              <a:buChar char="●"/>
              <a:tabLst>
                <a:tab pos="354330" algn="l"/>
              </a:tabLst>
            </a:pPr>
            <a:r>
              <a:rPr sz="1800" spc="-65" dirty="0">
                <a:latin typeface="Arial"/>
                <a:cs typeface="Arial"/>
              </a:rPr>
              <a:t>System </a:t>
            </a:r>
            <a:r>
              <a:rPr sz="1800" spc="-30" dirty="0">
                <a:latin typeface="Arial"/>
                <a:cs typeface="Arial"/>
              </a:rPr>
              <a:t>stored </a:t>
            </a:r>
            <a:r>
              <a:rPr sz="1800" spc="-45" dirty="0">
                <a:latin typeface="Arial"/>
                <a:cs typeface="Arial"/>
              </a:rPr>
              <a:t>procedures </a:t>
            </a:r>
            <a:r>
              <a:rPr sz="1800" spc="-65" dirty="0">
                <a:latin typeface="Arial"/>
                <a:cs typeface="Arial"/>
              </a:rPr>
              <a:t>can </a:t>
            </a:r>
            <a:r>
              <a:rPr sz="1800" spc="-95" dirty="0">
                <a:latin typeface="Arial"/>
                <a:cs typeface="Arial"/>
              </a:rPr>
              <a:t>be </a:t>
            </a:r>
            <a:r>
              <a:rPr sz="1800" spc="-35" dirty="0">
                <a:latin typeface="Arial"/>
                <a:cs typeface="Arial"/>
              </a:rPr>
              <a:t>classified </a:t>
            </a:r>
            <a:r>
              <a:rPr sz="1800" spc="65" dirty="0">
                <a:latin typeface="Arial"/>
                <a:cs typeface="Arial"/>
              </a:rPr>
              <a:t>into </a:t>
            </a:r>
            <a:r>
              <a:rPr sz="1800" spc="30" dirty="0">
                <a:latin typeface="Arial"/>
                <a:cs typeface="Arial"/>
              </a:rPr>
              <a:t>different </a:t>
            </a:r>
            <a:r>
              <a:rPr sz="1800" spc="-65" dirty="0">
                <a:latin typeface="Arial"/>
                <a:cs typeface="Arial"/>
              </a:rPr>
              <a:t>categories </a:t>
            </a:r>
            <a:r>
              <a:rPr sz="1800" spc="-50" dirty="0">
                <a:latin typeface="Arial"/>
                <a:cs typeface="Arial"/>
              </a:rPr>
              <a:t>such </a:t>
            </a:r>
            <a:r>
              <a:rPr sz="1800" spc="-190" dirty="0">
                <a:latin typeface="Arial"/>
                <a:cs typeface="Arial"/>
              </a:rPr>
              <a:t>as  </a:t>
            </a:r>
            <a:r>
              <a:rPr sz="1800" spc="-20" dirty="0">
                <a:latin typeface="Arial"/>
                <a:cs typeface="Arial"/>
              </a:rPr>
              <a:t>Catalog Stored </a:t>
            </a:r>
            <a:r>
              <a:rPr sz="1800" spc="-65" dirty="0">
                <a:latin typeface="Arial"/>
                <a:cs typeface="Arial"/>
              </a:rPr>
              <a:t>Procedures, </a:t>
            </a:r>
            <a:r>
              <a:rPr sz="1800" spc="-10" dirty="0">
                <a:latin typeface="Arial"/>
                <a:cs typeface="Arial"/>
              </a:rPr>
              <a:t>Security </a:t>
            </a:r>
            <a:r>
              <a:rPr sz="1800" spc="-20" dirty="0">
                <a:latin typeface="Arial"/>
                <a:cs typeface="Arial"/>
              </a:rPr>
              <a:t>Stored </a:t>
            </a:r>
            <a:r>
              <a:rPr sz="1800" spc="-60" dirty="0">
                <a:latin typeface="Arial"/>
                <a:cs typeface="Arial"/>
              </a:rPr>
              <a:t>Procedures, </a:t>
            </a:r>
            <a:r>
              <a:rPr sz="1800" spc="-35" dirty="0">
                <a:latin typeface="Arial"/>
                <a:cs typeface="Arial"/>
              </a:rPr>
              <a:t>and </a:t>
            </a:r>
            <a:r>
              <a:rPr sz="1800" spc="20" dirty="0">
                <a:latin typeface="Arial"/>
                <a:cs typeface="Arial"/>
              </a:rPr>
              <a:t>Cursor </a:t>
            </a:r>
            <a:r>
              <a:rPr sz="1800" spc="-20" dirty="0">
                <a:latin typeface="Arial"/>
                <a:cs typeface="Arial"/>
              </a:rPr>
              <a:t>Stored  </a:t>
            </a:r>
            <a:r>
              <a:rPr sz="1800" spc="-60" dirty="0">
                <a:latin typeface="Arial"/>
                <a:cs typeface="Arial"/>
              </a:rPr>
              <a:t>Procedures.</a:t>
            </a:r>
            <a:endParaRPr sz="1800">
              <a:latin typeface="Arial"/>
              <a:cs typeface="Arial"/>
            </a:endParaRPr>
          </a:p>
          <a:p>
            <a:pPr marL="353695" marR="6350" indent="-341630" algn="just">
              <a:lnSpc>
                <a:spcPct val="100000"/>
              </a:lnSpc>
              <a:buSzPct val="111111"/>
              <a:buFont typeface="Calibri"/>
              <a:buChar char="●"/>
              <a:tabLst>
                <a:tab pos="354330" algn="l"/>
              </a:tabLst>
            </a:pPr>
            <a:r>
              <a:rPr sz="1800" spc="60" dirty="0">
                <a:latin typeface="Arial"/>
                <a:cs typeface="Arial"/>
              </a:rPr>
              <a:t>Input </a:t>
            </a:r>
            <a:r>
              <a:rPr sz="1800" spc="-35" dirty="0">
                <a:latin typeface="Arial"/>
                <a:cs typeface="Arial"/>
              </a:rPr>
              <a:t>and </a:t>
            </a:r>
            <a:r>
              <a:rPr sz="1800" spc="45" dirty="0">
                <a:latin typeface="Arial"/>
                <a:cs typeface="Arial"/>
              </a:rPr>
              <a:t>output </a:t>
            </a:r>
            <a:r>
              <a:rPr sz="1800" spc="-65" dirty="0">
                <a:latin typeface="Arial"/>
                <a:cs typeface="Arial"/>
              </a:rPr>
              <a:t>parameters can </a:t>
            </a:r>
            <a:r>
              <a:rPr sz="1800" spc="-90" dirty="0">
                <a:latin typeface="Arial"/>
                <a:cs typeface="Arial"/>
              </a:rPr>
              <a:t>be </a:t>
            </a:r>
            <a:r>
              <a:rPr sz="1800" spc="-80" dirty="0">
                <a:latin typeface="Arial"/>
                <a:cs typeface="Arial"/>
              </a:rPr>
              <a:t>used </a:t>
            </a:r>
            <a:r>
              <a:rPr sz="1800" spc="80" dirty="0">
                <a:latin typeface="Arial"/>
                <a:cs typeface="Arial"/>
              </a:rPr>
              <a:t>with </a:t>
            </a:r>
            <a:r>
              <a:rPr sz="1800" spc="-30" dirty="0">
                <a:latin typeface="Arial"/>
                <a:cs typeface="Arial"/>
              </a:rPr>
              <a:t>stored </a:t>
            </a:r>
            <a:r>
              <a:rPr sz="1800" spc="-45" dirty="0">
                <a:latin typeface="Arial"/>
                <a:cs typeface="Arial"/>
              </a:rPr>
              <a:t>procedures </a:t>
            </a:r>
            <a:r>
              <a:rPr sz="1800" spc="45" dirty="0">
                <a:latin typeface="Arial"/>
                <a:cs typeface="Arial"/>
              </a:rPr>
              <a:t>to </a:t>
            </a:r>
            <a:r>
              <a:rPr sz="1800" spc="-140" dirty="0">
                <a:latin typeface="Arial"/>
                <a:cs typeface="Arial"/>
              </a:rPr>
              <a:t>pass </a:t>
            </a:r>
            <a:r>
              <a:rPr sz="1800" spc="-40" dirty="0">
                <a:latin typeface="Arial"/>
                <a:cs typeface="Arial"/>
              </a:rPr>
              <a:t>and  </a:t>
            </a:r>
            <a:r>
              <a:rPr sz="1800" spc="-50" dirty="0">
                <a:latin typeface="Arial"/>
                <a:cs typeface="Arial"/>
              </a:rPr>
              <a:t>receive </a:t>
            </a:r>
            <a:r>
              <a:rPr sz="1800" spc="-55" dirty="0">
                <a:latin typeface="Arial"/>
                <a:cs typeface="Arial"/>
              </a:rPr>
              <a:t>data </a:t>
            </a:r>
            <a:r>
              <a:rPr sz="1800" spc="40" dirty="0">
                <a:latin typeface="Arial"/>
                <a:cs typeface="Arial"/>
              </a:rPr>
              <a:t>from</a:t>
            </a:r>
            <a:r>
              <a:rPr sz="1800" spc="-365" dirty="0">
                <a:latin typeface="Arial"/>
                <a:cs typeface="Arial"/>
              </a:rPr>
              <a:t> </a:t>
            </a:r>
            <a:r>
              <a:rPr sz="1800" spc="-30" dirty="0">
                <a:latin typeface="Arial"/>
                <a:cs typeface="Arial"/>
              </a:rPr>
              <a:t>stored </a:t>
            </a:r>
            <a:r>
              <a:rPr sz="1800" spc="-45" dirty="0">
                <a:latin typeface="Arial"/>
                <a:cs typeface="Arial"/>
              </a:rPr>
              <a:t>procedures.</a:t>
            </a:r>
            <a:endParaRPr sz="1800">
              <a:latin typeface="Arial"/>
              <a:cs typeface="Arial"/>
            </a:endParaRPr>
          </a:p>
          <a:p>
            <a:pPr marL="353695" marR="6350" indent="-341630" algn="just">
              <a:lnSpc>
                <a:spcPct val="100000"/>
              </a:lnSpc>
              <a:buSzPct val="111111"/>
              <a:buFont typeface="Calibri"/>
              <a:buChar char="●"/>
              <a:tabLst>
                <a:tab pos="354330" algn="l"/>
              </a:tabLst>
            </a:pPr>
            <a:r>
              <a:rPr sz="1800" spc="15" dirty="0">
                <a:latin typeface="Arial"/>
                <a:cs typeface="Arial"/>
              </a:rPr>
              <a:t>The </a:t>
            </a:r>
            <a:r>
              <a:rPr sz="1800" spc="-20" dirty="0">
                <a:latin typeface="Arial"/>
                <a:cs typeface="Arial"/>
              </a:rPr>
              <a:t>properties </a:t>
            </a:r>
            <a:r>
              <a:rPr sz="1800" spc="50" dirty="0">
                <a:latin typeface="Arial"/>
                <a:cs typeface="Arial"/>
              </a:rPr>
              <a:t>of </a:t>
            </a:r>
            <a:r>
              <a:rPr sz="1800" spc="-60" dirty="0">
                <a:latin typeface="Arial"/>
                <a:cs typeface="Arial"/>
              </a:rPr>
              <a:t>an </a:t>
            </a:r>
            <a:r>
              <a:rPr sz="1800" spc="-10" dirty="0">
                <a:latin typeface="Arial"/>
                <a:cs typeface="Arial"/>
              </a:rPr>
              <a:t>object </a:t>
            </a:r>
            <a:r>
              <a:rPr sz="1800" spc="-50" dirty="0">
                <a:latin typeface="Arial"/>
                <a:cs typeface="Arial"/>
              </a:rPr>
              <a:t>such </a:t>
            </a:r>
            <a:r>
              <a:rPr sz="1800" spc="-185" dirty="0">
                <a:latin typeface="Arial"/>
                <a:cs typeface="Arial"/>
              </a:rPr>
              <a:t>as </a:t>
            </a:r>
            <a:r>
              <a:rPr sz="1800" spc="-175" dirty="0">
                <a:latin typeface="Arial"/>
                <a:cs typeface="Arial"/>
              </a:rPr>
              <a:t>a </a:t>
            </a:r>
            <a:r>
              <a:rPr sz="1800" spc="-30" dirty="0">
                <a:latin typeface="Arial"/>
                <a:cs typeface="Arial"/>
              </a:rPr>
              <a:t>table </a:t>
            </a:r>
            <a:r>
              <a:rPr sz="1800" spc="25" dirty="0">
                <a:latin typeface="Arial"/>
                <a:cs typeface="Arial"/>
              </a:rPr>
              <a:t>or </a:t>
            </a:r>
            <a:r>
              <a:rPr sz="1800" spc="-175" dirty="0">
                <a:latin typeface="Arial"/>
                <a:cs typeface="Arial"/>
              </a:rPr>
              <a:t>a </a:t>
            </a:r>
            <a:r>
              <a:rPr sz="1800" spc="5" dirty="0">
                <a:latin typeface="Arial"/>
                <a:cs typeface="Arial"/>
              </a:rPr>
              <a:t>view </a:t>
            </a:r>
            <a:r>
              <a:rPr sz="1800" spc="-90" dirty="0">
                <a:latin typeface="Arial"/>
                <a:cs typeface="Arial"/>
              </a:rPr>
              <a:t>are </a:t>
            </a:r>
            <a:r>
              <a:rPr sz="1800" spc="-30" dirty="0">
                <a:latin typeface="Arial"/>
                <a:cs typeface="Arial"/>
              </a:rPr>
              <a:t>stored </a:t>
            </a:r>
            <a:r>
              <a:rPr sz="1800" spc="80" dirty="0">
                <a:latin typeface="Arial"/>
                <a:cs typeface="Arial"/>
              </a:rPr>
              <a:t>in </a:t>
            </a:r>
            <a:r>
              <a:rPr sz="1800" spc="-60" dirty="0">
                <a:latin typeface="Arial"/>
                <a:cs typeface="Arial"/>
              </a:rPr>
              <a:t>special </a:t>
            </a:r>
            <a:r>
              <a:rPr sz="1800" spc="-75" dirty="0">
                <a:latin typeface="Arial"/>
                <a:cs typeface="Arial"/>
              </a:rPr>
              <a:t>system  </a:t>
            </a:r>
            <a:r>
              <a:rPr sz="1800" spc="-55" dirty="0">
                <a:latin typeface="Arial"/>
                <a:cs typeface="Arial"/>
              </a:rPr>
              <a:t>tables </a:t>
            </a:r>
            <a:r>
              <a:rPr sz="1800" spc="-35" dirty="0">
                <a:latin typeface="Arial"/>
                <a:cs typeface="Arial"/>
              </a:rPr>
              <a:t>and </a:t>
            </a:r>
            <a:r>
              <a:rPr sz="1800" spc="-90" dirty="0">
                <a:latin typeface="Arial"/>
                <a:cs typeface="Arial"/>
              </a:rPr>
              <a:t>are </a:t>
            </a:r>
            <a:r>
              <a:rPr sz="1800" spc="-15" dirty="0">
                <a:latin typeface="Arial"/>
                <a:cs typeface="Arial"/>
              </a:rPr>
              <a:t>referred </a:t>
            </a:r>
            <a:r>
              <a:rPr sz="1800" spc="45" dirty="0">
                <a:latin typeface="Arial"/>
                <a:cs typeface="Arial"/>
              </a:rPr>
              <a:t>to</a:t>
            </a:r>
            <a:r>
              <a:rPr sz="1800" spc="-350" dirty="0">
                <a:latin typeface="Arial"/>
                <a:cs typeface="Arial"/>
              </a:rPr>
              <a:t> </a:t>
            </a:r>
            <a:r>
              <a:rPr sz="1800" spc="-185" dirty="0">
                <a:latin typeface="Arial"/>
                <a:cs typeface="Arial"/>
              </a:rPr>
              <a:t>as </a:t>
            </a:r>
            <a:r>
              <a:rPr sz="1800" spc="-60" dirty="0">
                <a:latin typeface="Arial"/>
                <a:cs typeface="Arial"/>
              </a:rPr>
              <a:t>metadata.</a:t>
            </a:r>
            <a:endParaRPr sz="1800">
              <a:latin typeface="Arial"/>
              <a:cs typeface="Arial"/>
            </a:endParaRPr>
          </a:p>
          <a:p>
            <a:pPr marL="353695" marR="6350" indent="-341630" algn="just">
              <a:lnSpc>
                <a:spcPct val="100000"/>
              </a:lnSpc>
              <a:buSzPct val="111111"/>
              <a:buFont typeface="Calibri"/>
              <a:buChar char="●"/>
              <a:tabLst>
                <a:tab pos="354330" algn="l"/>
              </a:tabLst>
            </a:pPr>
            <a:r>
              <a:rPr sz="1800" spc="85" dirty="0">
                <a:latin typeface="Arial"/>
                <a:cs typeface="Arial"/>
              </a:rPr>
              <a:t>DMVs </a:t>
            </a:r>
            <a:r>
              <a:rPr sz="1800" spc="-35" dirty="0">
                <a:latin typeface="Arial"/>
                <a:cs typeface="Arial"/>
              </a:rPr>
              <a:t>and </a:t>
            </a:r>
            <a:r>
              <a:rPr sz="1800" spc="-5" dirty="0">
                <a:latin typeface="Arial"/>
                <a:cs typeface="Arial"/>
              </a:rPr>
              <a:t>DMFs </a:t>
            </a:r>
            <a:r>
              <a:rPr sz="1800" spc="-90" dirty="0">
                <a:latin typeface="Arial"/>
                <a:cs typeface="Arial"/>
              </a:rPr>
              <a:t>are </a:t>
            </a:r>
            <a:r>
              <a:rPr sz="1800" spc="-15" dirty="0">
                <a:latin typeface="Arial"/>
                <a:cs typeface="Arial"/>
              </a:rPr>
              <a:t>dynamic </a:t>
            </a:r>
            <a:r>
              <a:rPr sz="1800" spc="-60" dirty="0">
                <a:latin typeface="Arial"/>
                <a:cs typeface="Arial"/>
              </a:rPr>
              <a:t>management </a:t>
            </a:r>
            <a:r>
              <a:rPr sz="1800" spc="-40" dirty="0">
                <a:latin typeface="Arial"/>
                <a:cs typeface="Arial"/>
              </a:rPr>
              <a:t>objects </a:t>
            </a:r>
            <a:r>
              <a:rPr sz="1800" spc="25" dirty="0">
                <a:latin typeface="Arial"/>
                <a:cs typeface="Arial"/>
              </a:rPr>
              <a:t>that </a:t>
            </a:r>
            <a:r>
              <a:rPr sz="1800" spc="30" dirty="0">
                <a:latin typeface="Arial"/>
                <a:cs typeface="Arial"/>
              </a:rPr>
              <a:t>return </a:t>
            </a:r>
            <a:r>
              <a:rPr sz="1800" spc="-55" dirty="0">
                <a:latin typeface="Arial"/>
                <a:cs typeface="Arial"/>
              </a:rPr>
              <a:t>server </a:t>
            </a:r>
            <a:r>
              <a:rPr sz="1800" spc="-45" dirty="0">
                <a:latin typeface="Arial"/>
                <a:cs typeface="Arial"/>
              </a:rPr>
              <a:t>and  </a:t>
            </a:r>
            <a:r>
              <a:rPr sz="1800" spc="-100" dirty="0">
                <a:latin typeface="Arial"/>
                <a:cs typeface="Arial"/>
              </a:rPr>
              <a:t>database </a:t>
            </a:r>
            <a:r>
              <a:rPr sz="1800" spc="-60" dirty="0">
                <a:latin typeface="Arial"/>
                <a:cs typeface="Arial"/>
              </a:rPr>
              <a:t>state </a:t>
            </a:r>
            <a:r>
              <a:rPr sz="1800" spc="30" dirty="0">
                <a:latin typeface="Arial"/>
                <a:cs typeface="Arial"/>
              </a:rPr>
              <a:t>information. </a:t>
            </a:r>
            <a:r>
              <a:rPr sz="1800" spc="85" dirty="0">
                <a:latin typeface="Arial"/>
                <a:cs typeface="Arial"/>
              </a:rPr>
              <a:t>DMVs </a:t>
            </a:r>
            <a:r>
              <a:rPr sz="1800" spc="-35" dirty="0">
                <a:latin typeface="Arial"/>
                <a:cs typeface="Arial"/>
              </a:rPr>
              <a:t>and </a:t>
            </a:r>
            <a:r>
              <a:rPr sz="1800" spc="-5" dirty="0">
                <a:latin typeface="Arial"/>
                <a:cs typeface="Arial"/>
              </a:rPr>
              <a:t>DMFs </a:t>
            </a:r>
            <a:r>
              <a:rPr sz="1800" spc="-90" dirty="0">
                <a:latin typeface="Arial"/>
                <a:cs typeface="Arial"/>
              </a:rPr>
              <a:t>are </a:t>
            </a:r>
            <a:r>
              <a:rPr sz="1800" dirty="0">
                <a:latin typeface="Arial"/>
                <a:cs typeface="Arial"/>
              </a:rPr>
              <a:t>collectively </a:t>
            </a:r>
            <a:r>
              <a:rPr sz="1800" spc="-15" dirty="0">
                <a:latin typeface="Arial"/>
                <a:cs typeface="Arial"/>
              </a:rPr>
              <a:t>referred </a:t>
            </a:r>
            <a:r>
              <a:rPr sz="1800" spc="45" dirty="0">
                <a:latin typeface="Arial"/>
                <a:cs typeface="Arial"/>
              </a:rPr>
              <a:t>to </a:t>
            </a:r>
            <a:r>
              <a:rPr sz="1800" spc="-190" dirty="0">
                <a:latin typeface="Arial"/>
                <a:cs typeface="Arial"/>
              </a:rPr>
              <a:t>as  </a:t>
            </a:r>
            <a:r>
              <a:rPr sz="1800" spc="-15" dirty="0">
                <a:latin typeface="Arial"/>
                <a:cs typeface="Arial"/>
              </a:rPr>
              <a:t>dynamic </a:t>
            </a:r>
            <a:r>
              <a:rPr sz="1800" spc="-60" dirty="0">
                <a:latin typeface="Arial"/>
                <a:cs typeface="Arial"/>
              </a:rPr>
              <a:t>management</a:t>
            </a:r>
            <a:r>
              <a:rPr sz="1800" spc="-245" dirty="0">
                <a:latin typeface="Arial"/>
                <a:cs typeface="Arial"/>
              </a:rPr>
              <a:t> </a:t>
            </a:r>
            <a:r>
              <a:rPr sz="1800" spc="-40" dirty="0">
                <a:latin typeface="Arial"/>
                <a:cs typeface="Arial"/>
              </a:rPr>
              <a:t>objects.</a:t>
            </a:r>
            <a:endParaRPr sz="18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846</TotalTime>
  <Words>8169</Words>
  <Application>Microsoft Office PowerPoint</Application>
  <PresentationFormat>On-screen Show (4:3)</PresentationFormat>
  <Paragraphs>827</Paragraphs>
  <Slides>45</Slides>
  <Notes>45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Arial</vt:lpstr>
      <vt:lpstr>Book Antiqua</vt:lpstr>
      <vt:lpstr>Calibri</vt:lpstr>
      <vt:lpstr>Calisto MT</vt:lpstr>
      <vt:lpstr>Consolas</vt:lpstr>
      <vt:lpstr>Courier New</vt:lpstr>
      <vt:lpstr>Palatino Linotype</vt:lpstr>
      <vt:lpstr>Segoe UI Symbol</vt:lpstr>
      <vt:lpstr>Times New Roman</vt:lpstr>
      <vt:lpstr>Wingdings</vt:lpstr>
      <vt:lpstr>Office Theme</vt:lpstr>
      <vt:lpstr>Intelligent Data  Management with SQL  Server</vt:lpstr>
      <vt:lpstr>Objectives</vt:lpstr>
      <vt:lpstr>Introduction</vt:lpstr>
      <vt:lpstr>Views</vt:lpstr>
      <vt:lpstr>Creating Views</vt:lpstr>
      <vt:lpstr>Creating Views Using JOIN Keyword 1-3</vt:lpstr>
      <vt:lpstr>Creating Views Using JOIN Keyword 2-3</vt:lpstr>
      <vt:lpstr>Creating Views Using JOIN Keyword 3-3</vt:lpstr>
      <vt:lpstr>Guidelines and Restrictions on Views</vt:lpstr>
      <vt:lpstr>Modifying Data through Views</vt:lpstr>
      <vt:lpstr>INSERT with Views</vt:lpstr>
      <vt:lpstr>INSERT with Views</vt:lpstr>
      <vt:lpstr>UPDATE with Views</vt:lpstr>
      <vt:lpstr>UPDATE with Views</vt:lpstr>
      <vt:lpstr>DELETE with Views</vt:lpstr>
      <vt:lpstr>DELETE with Views</vt:lpstr>
      <vt:lpstr>Altering Views</vt:lpstr>
      <vt:lpstr>Altering Views</vt:lpstr>
      <vt:lpstr>Dropping Views</vt:lpstr>
      <vt:lpstr>Definition of a View</vt:lpstr>
      <vt:lpstr>Creating a View Using Built-in Functions</vt:lpstr>
      <vt:lpstr>CHECK OPTION</vt:lpstr>
      <vt:lpstr>CHECK OPTION</vt:lpstr>
      <vt:lpstr>SCHEMABINDING Option</vt:lpstr>
      <vt:lpstr>Using sp_refreshview</vt:lpstr>
      <vt:lpstr>Stored Procedures 1-2</vt:lpstr>
      <vt:lpstr>Stored Procedures 2-2</vt:lpstr>
      <vt:lpstr>Types of Stored Procedures 1-3</vt:lpstr>
      <vt:lpstr>Types of Stored Procedures 2-3</vt:lpstr>
      <vt:lpstr>Types of Stored Procedures 3-3</vt:lpstr>
      <vt:lpstr>Classification of System Stored Procedures</vt:lpstr>
      <vt:lpstr>Temporary Stored Procedures</vt:lpstr>
      <vt:lpstr>Remote Stored Procedures</vt:lpstr>
      <vt:lpstr>Extended Stored Procedures</vt:lpstr>
      <vt:lpstr>Custom or User-defined Stored Procedures</vt:lpstr>
      <vt:lpstr>Using Parameters</vt:lpstr>
      <vt:lpstr>Using SSMS to Create Stored Procedures</vt:lpstr>
      <vt:lpstr>Modifying and Dropping Stored Procedures</vt:lpstr>
      <vt:lpstr>Nested Stored Procedures</vt:lpstr>
      <vt:lpstr>Querying System MetaData 1-3</vt:lpstr>
      <vt:lpstr>Querying System MetaData 2-3</vt:lpstr>
      <vt:lpstr>Querying System MetaData 3-3</vt:lpstr>
      <vt:lpstr>Querying Dynamic Management Objects</vt:lpstr>
      <vt:lpstr>Categorizing and Querying DMVs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305</cp:revision>
  <dcterms:created xsi:type="dcterms:W3CDTF">2021-10-11T16:10:18Z</dcterms:created>
  <dcterms:modified xsi:type="dcterms:W3CDTF">2021-10-21T03:45:43Z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