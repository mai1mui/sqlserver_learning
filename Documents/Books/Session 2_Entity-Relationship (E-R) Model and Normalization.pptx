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625" autoAdjust="0"/>
  </p:normalViewPr>
  <p:slideViewPr>
    <p:cSldViewPr>
      <p:cViewPr varScale="1">
        <p:scale>
          <a:sx n="63" d="100"/>
          <a:sy n="63" d="100"/>
        </p:scale>
        <p:origin x="2026"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D31ECE8-2304-4BAA-8F0E-7C68EA8F5427}" type="datetimeFigureOut">
              <a:rPr lang="en-US" smtClean="0"/>
              <a:t>10/12/2021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6095E88-7DEA-4C0A-8853-14E150450747}" type="slidenum">
              <a:rPr lang="en-US" smtClean="0"/>
              <a:t>‹#›</a:t>
            </a:fld>
            <a:endParaRPr lang="en-US"/>
          </a:p>
        </p:txBody>
      </p:sp>
    </p:spTree>
    <p:extLst>
      <p:ext uri="{BB962C8B-B14F-4D97-AF65-F5344CB8AC3E}">
        <p14:creationId xmlns:p14="http://schemas.microsoft.com/office/powerpoint/2010/main" val="788874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Quản Lý Dữ liệu Thông Minh với SQL Server</a:t>
            </a:r>
          </a:p>
          <a:p>
            <a:r>
              <a:rPr lang="en-US" b="1"/>
              <a:t>Phiên 2: Mô hình Quan hệ thực thể (E-R) và Bình th</a:t>
            </a:r>
            <a:r>
              <a:rPr lang="vi-VN" b="1"/>
              <a:t>ư</a:t>
            </a:r>
            <a:r>
              <a:rPr lang="en-US" b="1"/>
              <a:t>ờng hóa</a:t>
            </a:r>
          </a:p>
        </p:txBody>
      </p:sp>
      <p:sp>
        <p:nvSpPr>
          <p:cNvPr id="4" name="Slide Number Placeholder 3"/>
          <p:cNvSpPr>
            <a:spLocks noGrp="1"/>
          </p:cNvSpPr>
          <p:nvPr>
            <p:ph type="sldNum" sz="quarter" idx="5"/>
          </p:nvPr>
        </p:nvSpPr>
        <p:spPr/>
        <p:txBody>
          <a:bodyPr/>
          <a:lstStyle/>
          <a:p>
            <a:fld id="{36095E88-7DEA-4C0A-8853-14E150450747}" type="slidenum">
              <a:rPr lang="en-US" smtClean="0"/>
              <a:t>1</a:t>
            </a:fld>
            <a:endParaRPr lang="en-US"/>
          </a:p>
        </p:txBody>
      </p:sp>
    </p:spTree>
    <p:extLst>
      <p:ext uri="{BB962C8B-B14F-4D97-AF65-F5344CB8AC3E}">
        <p14:creationId xmlns:p14="http://schemas.microsoft.com/office/powerpoint/2010/main" val="2214032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en-US" b="0"/>
              <a:t>Định nghĩa </a:t>
            </a:r>
            <a:r>
              <a:rPr lang="vi-VN" b="0"/>
              <a:t>và mô tả mô hình dữ liệu</a:t>
            </a:r>
          </a:p>
          <a:p>
            <a:pPr marL="171450" indent="-171450">
              <a:buFont typeface="Arial" panose="020B0604020202020204" pitchFamily="34" charset="0"/>
              <a:buChar char="•"/>
            </a:pPr>
            <a:r>
              <a:rPr lang="vi-VN" b="0"/>
              <a:t>Xác định và mô tả các thành phần của mô hình E-R</a:t>
            </a:r>
          </a:p>
          <a:p>
            <a:pPr marL="171450" indent="-171450">
              <a:buFont typeface="Arial" panose="020B0604020202020204" pitchFamily="34" charset="0"/>
              <a:buChar char="•"/>
            </a:pPr>
            <a:r>
              <a:rPr lang="vi-VN" b="0"/>
              <a:t>Xác định các mối quan hệ có thể được hình thành giữa các thực thể</a:t>
            </a:r>
          </a:p>
          <a:p>
            <a:pPr marL="171450" indent="-171450">
              <a:buFont typeface="Arial" panose="020B0604020202020204" pitchFamily="34" charset="0"/>
              <a:buChar char="•"/>
            </a:pPr>
            <a:r>
              <a:rPr lang="vi-VN" b="0"/>
              <a:t>Giải thích sơ đồ E-R và sử dụng của chúng</a:t>
            </a:r>
          </a:p>
          <a:p>
            <a:pPr marL="171450" indent="-171450">
              <a:buFont typeface="Arial" panose="020B0604020202020204" pitchFamily="34" charset="0"/>
              <a:buChar char="•"/>
            </a:pPr>
            <a:r>
              <a:rPr lang="vi-VN" b="0"/>
              <a:t>Mô tả một sơ đồ E-R, các biểu tượng được sử dụng để vẽ và hiển thị các mối quan hệ khác nhau</a:t>
            </a:r>
          </a:p>
          <a:p>
            <a:pPr marL="171450" indent="-171450">
              <a:buFont typeface="Arial" panose="020B0604020202020204" pitchFamily="34" charset="0"/>
              <a:buChar char="•"/>
            </a:pPr>
            <a:r>
              <a:rPr lang="vi-VN" b="0"/>
              <a:t>Mô tả các hình thức bình thường khác nhau</a:t>
            </a:r>
          </a:p>
          <a:p>
            <a:pPr marL="171450" indent="-171450">
              <a:buFont typeface="Arial" panose="020B0604020202020204" pitchFamily="34" charset="0"/>
              <a:buChar char="•"/>
            </a:pPr>
            <a:r>
              <a:rPr lang="vi-VN" b="0"/>
              <a:t>Phác thảo việc sử dụng các </a:t>
            </a:r>
            <a:r>
              <a:rPr lang="en-US" b="0"/>
              <a:t>toán tử</a:t>
            </a:r>
            <a:r>
              <a:rPr lang="vi-VN" b="0"/>
              <a:t> quan hệ khác nhau</a:t>
            </a:r>
            <a:endParaRPr lang="en-US" b="0"/>
          </a:p>
        </p:txBody>
      </p:sp>
      <p:sp>
        <p:nvSpPr>
          <p:cNvPr id="4" name="Slide Number Placeholder 3"/>
          <p:cNvSpPr>
            <a:spLocks noGrp="1"/>
          </p:cNvSpPr>
          <p:nvPr>
            <p:ph type="sldNum" sz="quarter" idx="5"/>
          </p:nvPr>
        </p:nvSpPr>
        <p:spPr/>
        <p:txBody>
          <a:bodyPr/>
          <a:lstStyle/>
          <a:p>
            <a:fld id="{36095E88-7DEA-4C0A-8853-14E150450747}" type="slidenum">
              <a:rPr lang="en-US" smtClean="0"/>
              <a:t>2</a:t>
            </a:fld>
            <a:endParaRPr lang="en-US"/>
          </a:p>
        </p:txBody>
      </p:sp>
    </p:spTree>
    <p:extLst>
      <p:ext uri="{BB962C8B-B14F-4D97-AF65-F5344CB8AC3E}">
        <p14:creationId xmlns:p14="http://schemas.microsoft.com/office/powerpoint/2010/main" val="2338105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vi-VN"/>
              <a:t>Mô hình dữ liệu là một nhóm các công cụ khái niệm mô tả dữ liệu, các mối quan hệ và ngữ nghĩa của nó.</a:t>
            </a:r>
          </a:p>
          <a:p>
            <a:pPr marL="171450" indent="-171450">
              <a:buFont typeface="Arial" panose="020B0604020202020204" pitchFamily="34" charset="0"/>
              <a:buChar char="•"/>
            </a:pPr>
            <a:r>
              <a:rPr lang="vi-VN"/>
              <a:t>Một số ví dụ mô hình dữ liệu như sau:</a:t>
            </a:r>
          </a:p>
          <a:p>
            <a:pPr marL="628650" lvl="1" indent="-171450">
              <a:buFont typeface="Arial" panose="020B0604020202020204" pitchFamily="34" charset="0"/>
              <a:buChar char="•"/>
            </a:pPr>
            <a:r>
              <a:rPr lang="en-US"/>
              <a:t>T</a:t>
            </a:r>
            <a:r>
              <a:rPr lang="vi-VN"/>
              <a:t>hực thể</a:t>
            </a:r>
            <a:r>
              <a:rPr lang="en-US"/>
              <a:t> - </a:t>
            </a:r>
            <a:r>
              <a:rPr lang="vi-VN"/>
              <a:t>Mối quan hệ</a:t>
            </a:r>
          </a:p>
          <a:p>
            <a:pPr marL="628650" lvl="1" indent="-171450">
              <a:buFont typeface="Arial" panose="020B0604020202020204" pitchFamily="34" charset="0"/>
              <a:buChar char="•"/>
            </a:pPr>
            <a:r>
              <a:rPr lang="vi-VN"/>
              <a:t>Quan hệ</a:t>
            </a:r>
          </a:p>
          <a:p>
            <a:pPr marL="628650" lvl="1" indent="-171450">
              <a:buFont typeface="Arial" panose="020B0604020202020204" pitchFamily="34" charset="0"/>
              <a:buChar char="•"/>
            </a:pPr>
            <a:r>
              <a:rPr lang="en-US"/>
              <a:t>Mô hình Mạng</a:t>
            </a:r>
            <a:endParaRPr lang="vi-VN"/>
          </a:p>
          <a:p>
            <a:pPr marL="628650" lvl="1" indent="-171450">
              <a:buFont typeface="Arial" panose="020B0604020202020204" pitchFamily="34" charset="0"/>
              <a:buChar char="•"/>
            </a:pPr>
            <a:r>
              <a:rPr lang="vi-VN"/>
              <a:t>Mô hình </a:t>
            </a:r>
            <a:r>
              <a:rPr lang="en-US"/>
              <a:t>P</a:t>
            </a:r>
            <a:r>
              <a:rPr lang="vi-VN"/>
              <a:t>hân cấp</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3</a:t>
            </a:fld>
            <a:endParaRPr lang="en-US"/>
          </a:p>
        </p:txBody>
      </p:sp>
    </p:spTree>
    <p:extLst>
      <p:ext uri="{BB962C8B-B14F-4D97-AF65-F5344CB8AC3E}">
        <p14:creationId xmlns:p14="http://schemas.microsoft.com/office/powerpoint/2010/main" val="3614411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Mô hình hóa dữ liệu</a:t>
            </a:r>
          </a:p>
          <a:p>
            <a:pPr marL="171450" indent="-171450">
              <a:buFont typeface="Arial" panose="020B0604020202020204" pitchFamily="34" charset="0"/>
              <a:buChar char="•"/>
            </a:pPr>
            <a:r>
              <a:rPr lang="en-US" b="0"/>
              <a:t>Quá trình áp dụng một mô hình dữ liệu thích hợp cho dữ liệu, để tổ chức và cấu trúc nó.</a:t>
            </a:r>
          </a:p>
          <a:p>
            <a:pPr marL="171450" indent="-171450">
              <a:buFont typeface="Arial" panose="020B0604020202020204" pitchFamily="34" charset="0"/>
              <a:buChar char="•"/>
            </a:pPr>
            <a:r>
              <a:rPr lang="vi-VN" b="0"/>
              <a:t>Nó rất cần thiết như lập kế hoạch và là thiết kế cho bất kỳ dự án nào.</a:t>
            </a:r>
            <a:endParaRPr lang="en-US" b="0"/>
          </a:p>
          <a:p>
            <a:pPr marL="171450" indent="-171450">
              <a:buFont typeface="Arial" panose="020B0604020202020204" pitchFamily="34" charset="0"/>
              <a:buChar char="•"/>
            </a:pPr>
            <a:r>
              <a:rPr lang="vi-VN" b="0"/>
              <a:t>Xây dựng cơ sở dữ liệu mà không có mô hình dữ liệu tương tự như phát triển một dự án mà không có kế hoạch và thiết kế của nó.</a:t>
            </a:r>
            <a:endParaRPr lang="en-US" b="0"/>
          </a:p>
          <a:p>
            <a:pPr marL="171450" indent="-171450">
              <a:buFont typeface="Arial" panose="020B0604020202020204" pitchFamily="34" charset="0"/>
              <a:buChar char="•"/>
            </a:pPr>
            <a:r>
              <a:rPr lang="en-US" b="0"/>
              <a:t>Giúp xác định:</a:t>
            </a:r>
          </a:p>
          <a:p>
            <a:pPr marL="628650" lvl="1" indent="-171450">
              <a:buFont typeface="Arial" panose="020B0604020202020204" pitchFamily="34" charset="0"/>
              <a:buChar char="•"/>
            </a:pPr>
            <a:r>
              <a:rPr lang="en-US" b="0"/>
              <a:t>Q</a:t>
            </a:r>
            <a:r>
              <a:rPr lang="vi-VN" b="0"/>
              <a:t>uan hệ</a:t>
            </a:r>
            <a:r>
              <a:rPr lang="en-US" b="0"/>
              <a:t> các b</a:t>
            </a:r>
            <a:r>
              <a:rPr lang="vi-VN" b="0"/>
              <a:t>ảng , </a:t>
            </a:r>
            <a:r>
              <a:rPr lang="en-US" b="0"/>
              <a:t>K</a:t>
            </a:r>
            <a:r>
              <a:rPr lang="vi-VN" b="0"/>
              <a:t>hóa chính và </a:t>
            </a:r>
            <a:r>
              <a:rPr lang="en-US" b="0"/>
              <a:t>K</a:t>
            </a:r>
            <a:r>
              <a:rPr lang="vi-VN" b="0"/>
              <a:t>hóa ngoại, </a:t>
            </a:r>
            <a:r>
              <a:rPr lang="en-US" b="0"/>
              <a:t>T</a:t>
            </a:r>
            <a:r>
              <a:rPr lang="vi-VN" b="0"/>
              <a:t>hủ tục lưu trữ và </a:t>
            </a:r>
            <a:r>
              <a:rPr lang="en-US" b="0"/>
              <a:t>K</a:t>
            </a:r>
            <a:r>
              <a:rPr lang="vi-VN" b="0"/>
              <a:t>ích hoạt</a:t>
            </a:r>
            <a:endParaRPr lang="en-US" b="0"/>
          </a:p>
          <a:p>
            <a:pPr marL="171450" lvl="0" indent="-171450">
              <a:buFont typeface="Arial" panose="020B0604020202020204" pitchFamily="34" charset="0"/>
              <a:buChar char="•"/>
            </a:pPr>
            <a:r>
              <a:rPr lang="en-US" b="0"/>
              <a:t>M</a:t>
            </a:r>
            <a:r>
              <a:rPr lang="vi-VN" b="0"/>
              <a:t>ô hình dữ liệu</a:t>
            </a:r>
            <a:endParaRPr lang="en-US" b="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Mô hình hóa dữ liệu vật lý (PDM)</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Mô hình hóa dữ liệu logic (LDM)</a:t>
            </a:r>
          </a:p>
          <a:p>
            <a:pPr marL="628650" lvl="1" indent="-171450">
              <a:buFont typeface="Arial" panose="020B0604020202020204" pitchFamily="34" charset="0"/>
              <a:buChar char="•"/>
            </a:pPr>
            <a:r>
              <a:rPr lang="en-US" b="0"/>
              <a:t>Mô hình dữ liệu khái niệm (CDM)</a:t>
            </a:r>
          </a:p>
        </p:txBody>
      </p:sp>
      <p:sp>
        <p:nvSpPr>
          <p:cNvPr id="4" name="Slide Number Placeholder 3"/>
          <p:cNvSpPr>
            <a:spLocks noGrp="1"/>
          </p:cNvSpPr>
          <p:nvPr>
            <p:ph type="sldNum" sz="quarter" idx="5"/>
          </p:nvPr>
        </p:nvSpPr>
        <p:spPr/>
        <p:txBody>
          <a:bodyPr/>
          <a:lstStyle/>
          <a:p>
            <a:fld id="{36095E88-7DEA-4C0A-8853-14E150450747}" type="slidenum">
              <a:rPr lang="en-US" smtClean="0"/>
              <a:t>4</a:t>
            </a:fld>
            <a:endParaRPr lang="en-US"/>
          </a:p>
        </p:txBody>
      </p:sp>
    </p:spTree>
    <p:extLst>
      <p:ext uri="{BB962C8B-B14F-4D97-AF65-F5344CB8AC3E}">
        <p14:creationId xmlns:p14="http://schemas.microsoft.com/office/powerpoint/2010/main" val="1253796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Mô hình thực thể-Mối quan hệ (E-R) 1-5</a:t>
            </a:r>
          </a:p>
          <a:p>
            <a:pPr marL="171450" indent="-171450">
              <a:buFont typeface="Arial" panose="020B0604020202020204" pitchFamily="34" charset="0"/>
              <a:buChar char="•"/>
            </a:pPr>
            <a:r>
              <a:rPr lang="vi-VN" b="0"/>
              <a:t>Các mô hình dữ liệu có thể được phân loại thành </a:t>
            </a:r>
            <a:r>
              <a:rPr lang="en-US" b="0"/>
              <a:t>3</a:t>
            </a:r>
            <a:r>
              <a:rPr lang="vi-VN" b="0"/>
              <a:t> nhóm khác nhau:</a:t>
            </a:r>
            <a:endParaRPr lang="en-US" b="0"/>
          </a:p>
          <a:p>
            <a:pPr marL="628650" lvl="1" indent="-171450">
              <a:buFont typeface="Arial" panose="020B0604020202020204" pitchFamily="34" charset="0"/>
              <a:buChar char="•"/>
            </a:pPr>
            <a:r>
              <a:rPr lang="vi-VN" b="0"/>
              <a:t>Mô hình logic dựa trên đối tượng</a:t>
            </a:r>
            <a:endParaRPr lang="en-US" b="0"/>
          </a:p>
          <a:p>
            <a:pPr marL="628650" lvl="1" indent="-171450">
              <a:buFont typeface="Arial" panose="020B0604020202020204" pitchFamily="34" charset="0"/>
              <a:buChar char="•"/>
            </a:pPr>
            <a:r>
              <a:rPr lang="vi-VN" b="0"/>
              <a:t>Mô hình logic dựa trên </a:t>
            </a:r>
            <a:r>
              <a:rPr lang="en-US" b="0"/>
              <a:t>mẫu tin</a:t>
            </a:r>
          </a:p>
          <a:p>
            <a:pPr marL="628650" lvl="1" indent="-171450">
              <a:buFont typeface="Arial" panose="020B0604020202020204" pitchFamily="34" charset="0"/>
              <a:buChar char="•"/>
            </a:pPr>
            <a:r>
              <a:rPr lang="en-US" b="0"/>
              <a:t>Mô hình vật lý</a:t>
            </a:r>
          </a:p>
        </p:txBody>
      </p:sp>
      <p:sp>
        <p:nvSpPr>
          <p:cNvPr id="4" name="Slide Number Placeholder 3"/>
          <p:cNvSpPr>
            <a:spLocks noGrp="1"/>
          </p:cNvSpPr>
          <p:nvPr>
            <p:ph type="sldNum" sz="quarter" idx="5"/>
          </p:nvPr>
        </p:nvSpPr>
        <p:spPr/>
        <p:txBody>
          <a:bodyPr/>
          <a:lstStyle/>
          <a:p>
            <a:fld id="{36095E88-7DEA-4C0A-8853-14E150450747}" type="slidenum">
              <a:rPr lang="en-US" smtClean="0"/>
              <a:t>5</a:t>
            </a:fld>
            <a:endParaRPr lang="en-US"/>
          </a:p>
        </p:txBody>
      </p:sp>
    </p:spTree>
    <p:extLst>
      <p:ext uri="{BB962C8B-B14F-4D97-AF65-F5344CB8AC3E}">
        <p14:creationId xmlns:p14="http://schemas.microsoft.com/office/powerpoint/2010/main" val="2535168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Mô hình - Mối quan hệ thực thể (E-R) 2-5</a:t>
            </a:r>
          </a:p>
          <a:p>
            <a:pPr marL="171450" indent="-171450">
              <a:buFont typeface="Arial" panose="020B0604020202020204" pitchFamily="34" charset="0"/>
              <a:buChar char="•"/>
            </a:pPr>
            <a:r>
              <a:rPr lang="vi-VN" b="0"/>
              <a:t>Các thành phần của một mô hình E-R:</a:t>
            </a:r>
            <a:endParaRPr lang="en-US" b="0"/>
          </a:p>
          <a:p>
            <a:pPr marL="628650" lvl="1" indent="-171450">
              <a:buFont typeface="Arial" panose="020B0604020202020204" pitchFamily="34" charset="0"/>
              <a:buChar char="•"/>
            </a:pPr>
            <a:r>
              <a:rPr lang="en-US" b="1"/>
              <a:t>Thực thể: </a:t>
            </a:r>
            <a:r>
              <a:rPr lang="vi-VN" b="0"/>
              <a:t>là một đối tượng thế giới thực tồn tại thể chất và có thể phân biệt với các đối tượng khác.</a:t>
            </a:r>
            <a:r>
              <a:rPr lang="en-US" b="0"/>
              <a:t> </a:t>
            </a:r>
            <a:r>
              <a:rPr lang="vi-VN" b="0"/>
              <a:t>Ví dụ, nhân viên, bộ phận, phương tiện và tài khoản.</a:t>
            </a:r>
            <a:endParaRPr lang="en-US" b="0"/>
          </a:p>
          <a:p>
            <a:pPr marL="628650" lvl="1" indent="-171450">
              <a:buFont typeface="Arial" panose="020B0604020202020204" pitchFamily="34" charset="0"/>
              <a:buChar char="•"/>
            </a:pPr>
            <a:r>
              <a:rPr lang="en-US" b="1"/>
              <a:t>Mối quan hệ</a:t>
            </a:r>
            <a:r>
              <a:rPr lang="en-US" b="0"/>
              <a:t>: Là một hiệp hội hoặc trái phiếu tồn tại giữa một hoặc nhiều thực thể. </a:t>
            </a:r>
            <a:r>
              <a:rPr lang="vi-VN" b="0"/>
              <a:t>Ví dụ, thuộc về, sở hữu, làm việc cho, tiết kiệm, và như vậy.</a:t>
            </a:r>
            <a:endParaRPr lang="en-US" b="0"/>
          </a:p>
          <a:p>
            <a:pPr marL="628650" lvl="1" indent="-171450">
              <a:buFont typeface="Arial" panose="020B0604020202020204" pitchFamily="34" charset="0"/>
              <a:buChar char="•"/>
            </a:pPr>
            <a:r>
              <a:rPr lang="en-US" b="1"/>
              <a:t>Thuộc tính: </a:t>
            </a:r>
            <a:r>
              <a:rPr lang="en-US" b="0"/>
              <a:t>là các tính năng mà một thực thể có. Ví dụ, các thuộc tính của một học sinh sẽ là roll_number, tên, v.v.</a:t>
            </a:r>
          </a:p>
          <a:p>
            <a:pPr marL="628650" lvl="1" indent="-171450">
              <a:buFont typeface="Arial" panose="020B0604020202020204" pitchFamily="34" charset="0"/>
              <a:buChar char="•"/>
            </a:pPr>
            <a:r>
              <a:rPr lang="en-US" b="1"/>
              <a:t>Bộ thực thể</a:t>
            </a:r>
            <a:r>
              <a:rPr lang="en-US" b="0"/>
              <a:t>: </a:t>
            </a:r>
            <a:r>
              <a:rPr lang="vi-VN" b="0"/>
              <a:t>là bộ sưu tập các thực thể tương tự.</a:t>
            </a:r>
            <a:r>
              <a:rPr lang="en-US" b="0"/>
              <a:t> Ví dụ, nhân viên của một tổ chức tập thể hình thành một thực thể</a:t>
            </a:r>
          </a:p>
          <a:p>
            <a:pPr marL="628650" lvl="1" indent="-171450">
              <a:buFont typeface="Arial" panose="020B0604020202020204" pitchFamily="34" charset="0"/>
              <a:buChar char="•"/>
            </a:pPr>
            <a:r>
              <a:rPr lang="en-US" b="1"/>
              <a:t>Bộ mối quan hệ: </a:t>
            </a:r>
            <a:r>
              <a:rPr lang="vi-VN" b="0"/>
              <a:t>Là một tập hợp các mối quan hệ tương tự giữa hai hoặc nhiều thực thể</a:t>
            </a:r>
            <a:r>
              <a:rPr lang="en-US" b="0"/>
              <a:t>. ví dụ: tập hợp tất cả các mối quan hệ 'trong công việc ' tồn tại giữa nhân viên và bộ phận</a:t>
            </a:r>
          </a:p>
        </p:txBody>
      </p:sp>
      <p:sp>
        <p:nvSpPr>
          <p:cNvPr id="4" name="Slide Number Placeholder 3"/>
          <p:cNvSpPr>
            <a:spLocks noGrp="1"/>
          </p:cNvSpPr>
          <p:nvPr>
            <p:ph type="sldNum" sz="quarter" idx="5"/>
          </p:nvPr>
        </p:nvSpPr>
        <p:spPr/>
        <p:txBody>
          <a:bodyPr/>
          <a:lstStyle/>
          <a:p>
            <a:fld id="{36095E88-7DEA-4C0A-8853-14E150450747}" type="slidenum">
              <a:rPr lang="en-US" smtClean="0"/>
              <a:t>6</a:t>
            </a:fld>
            <a:endParaRPr lang="en-US"/>
          </a:p>
        </p:txBody>
      </p:sp>
    </p:spTree>
    <p:extLst>
      <p:ext uri="{BB962C8B-B14F-4D97-AF65-F5344CB8AC3E}">
        <p14:creationId xmlns:p14="http://schemas.microsoft.com/office/powerpoint/2010/main" val="30839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 Mối quan hệ thực thể (E-R) 3-5</a:t>
            </a:r>
          </a:p>
          <a:p>
            <a:pPr marL="171450" indent="-171450">
              <a:buFont typeface="Arial" panose="020B0604020202020204" pitchFamily="34" charset="0"/>
              <a:buChar char="•"/>
            </a:pPr>
            <a:r>
              <a:rPr lang="en-US" b="1"/>
              <a:t>Tự quan hệ:</a:t>
            </a:r>
          </a:p>
          <a:p>
            <a:pPr marL="628650" lvl="1" indent="-171450">
              <a:buFont typeface="Arial" panose="020B0604020202020204" pitchFamily="34" charset="0"/>
              <a:buChar char="•"/>
            </a:pPr>
            <a:r>
              <a:rPr lang="vi-VN" b="0"/>
              <a:t>Mối quan hệ giữa các thực thể của cùng một bộ thực thể được gọi là </a:t>
            </a:r>
            <a:r>
              <a:rPr lang="en-US" sz="1200" b="1" spc="50">
                <a:latin typeface="Times New Roman"/>
                <a:cs typeface="Times New Roman"/>
              </a:rPr>
              <a:t>self-relationships</a:t>
            </a:r>
            <a:r>
              <a:rPr lang="vi-VN" b="0"/>
              <a:t>.</a:t>
            </a:r>
          </a:p>
          <a:p>
            <a:pPr marL="628650" lvl="1" indent="-171450">
              <a:buFont typeface="Arial" panose="020B0604020202020204" pitchFamily="34" charset="0"/>
              <a:buChar char="•"/>
            </a:pPr>
            <a:r>
              <a:rPr lang="vi-VN" b="0"/>
              <a:t>Ví dụ, một người quản lý và thành viên nhóm của anh ta, cả hai đều thuộc bộ thực thể nhân viên.</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Mối quan hệ nhị phân:</a:t>
            </a:r>
          </a:p>
          <a:p>
            <a:pPr marL="628650" lvl="1" indent="-171450">
              <a:buFont typeface="Arial" panose="020B0604020202020204" pitchFamily="34" charset="0"/>
              <a:buChar char="•"/>
            </a:pPr>
            <a:r>
              <a:rPr lang="en-US" b="0"/>
              <a:t>Các mối quan hệ tồn tại giữa các thực thể của hai bộ thực thể khác nhau </a:t>
            </a:r>
            <a:r>
              <a:rPr lang="vi-VN" b="0"/>
              <a:t>được gọi là </a:t>
            </a:r>
            <a:r>
              <a:rPr lang="en-US" sz="1200" b="1" spc="65">
                <a:latin typeface="Times New Roman"/>
                <a:cs typeface="Times New Roman"/>
              </a:rPr>
              <a:t>binary </a:t>
            </a:r>
            <a:r>
              <a:rPr lang="en-US" sz="1200" b="1" spc="60">
                <a:latin typeface="Times New Roman"/>
                <a:cs typeface="Times New Roman"/>
              </a:rPr>
              <a:t>relationships</a:t>
            </a:r>
            <a:endParaRPr lang="en-US" b="1"/>
          </a:p>
          <a:p>
            <a:pPr marL="628650" lvl="1" indent="-171450">
              <a:buFont typeface="Arial" panose="020B0604020202020204" pitchFamily="34" charset="0"/>
              <a:buChar char="•"/>
            </a:pPr>
            <a:r>
              <a:rPr lang="en-US" b="0"/>
              <a:t>Ví dụ: một nhân viên thuộc về một bộ phận</a:t>
            </a:r>
          </a:p>
        </p:txBody>
      </p:sp>
      <p:sp>
        <p:nvSpPr>
          <p:cNvPr id="4" name="Slide Number Placeholder 3"/>
          <p:cNvSpPr>
            <a:spLocks noGrp="1"/>
          </p:cNvSpPr>
          <p:nvPr>
            <p:ph type="sldNum" sz="quarter" idx="5"/>
          </p:nvPr>
        </p:nvSpPr>
        <p:spPr/>
        <p:txBody>
          <a:bodyPr/>
          <a:lstStyle/>
          <a:p>
            <a:fld id="{36095E88-7DEA-4C0A-8853-14E150450747}" type="slidenum">
              <a:rPr lang="en-US" smtClean="0"/>
              <a:t>7</a:t>
            </a:fld>
            <a:endParaRPr lang="en-US"/>
          </a:p>
        </p:txBody>
      </p:sp>
    </p:spTree>
    <p:extLst>
      <p:ext uri="{BB962C8B-B14F-4D97-AF65-F5344CB8AC3E}">
        <p14:creationId xmlns:p14="http://schemas.microsoft.com/office/powerpoint/2010/main" val="972569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 Mối quan hệ thực thể (E-R) 4-5</a:t>
            </a:r>
          </a:p>
          <a:p>
            <a:pPr marL="171450" lvl="0" indent="-171450">
              <a:buFont typeface="Arial" panose="020B0604020202020204" pitchFamily="34" charset="0"/>
              <a:buChar char="•"/>
            </a:pPr>
            <a:r>
              <a:rPr lang="en-US" b="1"/>
              <a:t>Mối quan hệ tay ba:</a:t>
            </a:r>
          </a:p>
          <a:p>
            <a:pPr marL="628650" lvl="1" indent="-171450">
              <a:buFont typeface="Arial" panose="020B0604020202020204" pitchFamily="34" charset="0"/>
              <a:buChar char="•"/>
            </a:pPr>
            <a:r>
              <a:rPr lang="en-US" b="0"/>
              <a:t>Các mối quan hệ tồn tại giữa ba thực thể của các bộ thực thể khác nhau </a:t>
            </a:r>
            <a:r>
              <a:rPr lang="vi-VN" b="0"/>
              <a:t>được gọi là </a:t>
            </a:r>
            <a:r>
              <a:rPr lang="en-US" sz="1200" b="1" spc="75">
                <a:latin typeface="Times New Roman"/>
                <a:cs typeface="Times New Roman"/>
              </a:rPr>
              <a:t>ternary</a:t>
            </a:r>
            <a:r>
              <a:rPr lang="en-US" sz="1200" b="1" spc="-55">
                <a:latin typeface="Times New Roman"/>
                <a:cs typeface="Times New Roman"/>
              </a:rPr>
              <a:t> </a:t>
            </a:r>
            <a:r>
              <a:rPr lang="en-US" sz="1200" b="1" spc="60">
                <a:latin typeface="Times New Roman"/>
                <a:cs typeface="Times New Roman"/>
              </a:rPr>
              <a:t>relationships</a:t>
            </a:r>
            <a:r>
              <a:rPr lang="en-US" b="0"/>
              <a:t>. </a:t>
            </a:r>
          </a:p>
          <a:p>
            <a:pPr marL="628650" lvl="1" indent="-171450">
              <a:buFont typeface="Arial" panose="020B0604020202020204" pitchFamily="34" charset="0"/>
              <a:buChar char="•"/>
            </a:pPr>
            <a:r>
              <a:rPr lang="en-US" b="0"/>
              <a:t>Ví dụ: một nhân viên làm việc trong bộ phận tài khoản tại chi nhánh khu vực.</a:t>
            </a:r>
          </a:p>
          <a:p>
            <a:pPr marL="171450" lvl="0" indent="-171450">
              <a:buFont typeface="Arial" panose="020B0604020202020204" pitchFamily="34" charset="0"/>
              <a:buChar char="•"/>
            </a:pPr>
            <a:r>
              <a:rPr lang="vi-VN" b="0"/>
              <a:t>Mối quan hệ cũng có thể được ánh xạ như:</a:t>
            </a:r>
          </a:p>
          <a:p>
            <a:pPr marL="628650" lvl="1" indent="-171450">
              <a:buFont typeface="Arial" panose="020B0604020202020204" pitchFamily="34" charset="0"/>
              <a:buChar char="•"/>
            </a:pPr>
            <a:r>
              <a:rPr lang="vi-VN" b="0"/>
              <a:t>Một-</a:t>
            </a:r>
            <a:r>
              <a:rPr lang="en-US" b="0"/>
              <a:t>M</a:t>
            </a:r>
            <a:r>
              <a:rPr lang="vi-VN" b="0"/>
              <a:t>ột</a:t>
            </a:r>
          </a:p>
          <a:p>
            <a:pPr marL="628650" lvl="1" indent="-171450">
              <a:buFont typeface="Arial" panose="020B0604020202020204" pitchFamily="34" charset="0"/>
              <a:buChar char="•"/>
            </a:pPr>
            <a:r>
              <a:rPr lang="vi-VN" b="0"/>
              <a:t>Một-</a:t>
            </a:r>
            <a:r>
              <a:rPr lang="en-US" b="0"/>
              <a:t>N</a:t>
            </a:r>
            <a:r>
              <a:rPr lang="vi-VN" b="0"/>
              <a:t>hiều</a:t>
            </a:r>
          </a:p>
          <a:p>
            <a:pPr marL="628650" lvl="1" indent="-171450">
              <a:buFont typeface="Arial" panose="020B0604020202020204" pitchFamily="34" charset="0"/>
              <a:buChar char="•"/>
            </a:pPr>
            <a:r>
              <a:rPr lang="vi-VN" b="0"/>
              <a:t>Nhiều-</a:t>
            </a:r>
            <a:r>
              <a:rPr lang="en-US" b="0"/>
              <a:t>M</a:t>
            </a:r>
            <a:r>
              <a:rPr lang="vi-VN" b="0"/>
              <a:t>ột</a:t>
            </a:r>
          </a:p>
          <a:p>
            <a:pPr marL="628650" lvl="1" indent="-171450">
              <a:buFont typeface="Arial" panose="020B0604020202020204" pitchFamily="34" charset="0"/>
              <a:buChar char="•"/>
            </a:pPr>
            <a:r>
              <a:rPr lang="vi-VN" b="0"/>
              <a:t>Nhiều</a:t>
            </a:r>
            <a:r>
              <a:rPr lang="en-US" b="0"/>
              <a:t>-N</a:t>
            </a:r>
            <a:r>
              <a:rPr lang="vi-VN" b="0"/>
              <a:t>hiều</a:t>
            </a:r>
            <a:endParaRPr lang="en-US" b="0"/>
          </a:p>
        </p:txBody>
      </p:sp>
      <p:sp>
        <p:nvSpPr>
          <p:cNvPr id="4" name="Slide Number Placeholder 3"/>
          <p:cNvSpPr>
            <a:spLocks noGrp="1"/>
          </p:cNvSpPr>
          <p:nvPr>
            <p:ph type="sldNum" sz="quarter" idx="5"/>
          </p:nvPr>
        </p:nvSpPr>
        <p:spPr/>
        <p:txBody>
          <a:bodyPr/>
          <a:lstStyle/>
          <a:p>
            <a:fld id="{36095E88-7DEA-4C0A-8853-14E150450747}" type="slidenum">
              <a:rPr lang="en-US" smtClean="0"/>
              <a:t>8</a:t>
            </a:fld>
            <a:endParaRPr lang="en-US"/>
          </a:p>
        </p:txBody>
      </p:sp>
    </p:spTree>
    <p:extLst>
      <p:ext uri="{BB962C8B-B14F-4D97-AF65-F5344CB8AC3E}">
        <p14:creationId xmlns:p14="http://schemas.microsoft.com/office/powerpoint/2010/main" val="1792496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 Mối quan hệ thực thể (E-R) 5-5</a:t>
            </a:r>
          </a:p>
          <a:p>
            <a:r>
              <a:rPr lang="vi-VN"/>
              <a:t>Một số khái niệm bổ sung trong mô hình E-R như sau:</a:t>
            </a:r>
            <a:endParaRPr lang="en-US"/>
          </a:p>
          <a:p>
            <a:pPr marL="171450" indent="-171450">
              <a:buFont typeface="Arial" panose="020B0604020202020204" pitchFamily="34" charset="0"/>
              <a:buChar char="•"/>
            </a:pPr>
            <a:r>
              <a:rPr lang="en-US" b="1"/>
              <a:t>Khóa chính</a:t>
            </a:r>
            <a:r>
              <a:rPr lang="en-US"/>
              <a:t>: Khóa chính là một thuộc tính có thể xác định duy nhất một thực thể trong một bộ thực thể.</a:t>
            </a:r>
          </a:p>
          <a:p>
            <a:pPr marL="171450" indent="-171450">
              <a:buFont typeface="Arial" panose="020B0604020202020204" pitchFamily="34" charset="0"/>
              <a:buChar char="•"/>
            </a:pPr>
            <a:r>
              <a:rPr lang="vi-VN" b="1"/>
              <a:t>Bộ thực thể yếu</a:t>
            </a:r>
            <a:r>
              <a:rPr lang="vi-VN"/>
              <a:t>: Bộ thực thể không có đủ thuộc tính để thiết lập khóa chính được gọi là bộ thực thể yếu.</a:t>
            </a:r>
            <a:endParaRPr lang="en-US"/>
          </a:p>
          <a:p>
            <a:pPr marL="171450" indent="-171450">
              <a:buFont typeface="Arial" panose="020B0604020202020204" pitchFamily="34" charset="0"/>
              <a:buChar char="•"/>
            </a:pPr>
            <a:r>
              <a:rPr lang="vi-VN" b="1"/>
              <a:t>Bộ thực thể mạnh</a:t>
            </a:r>
            <a:r>
              <a:rPr lang="vi-VN"/>
              <a:t>: Bộ thực thể có đủ thuộc tính để thiết lập khóa chính được gọi là bộ thực thể mạnh.</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9</a:t>
            </a:fld>
            <a:endParaRPr lang="en-US"/>
          </a:p>
        </p:txBody>
      </p:sp>
    </p:spTree>
    <p:extLst>
      <p:ext uri="{BB962C8B-B14F-4D97-AF65-F5344CB8AC3E}">
        <p14:creationId xmlns:p14="http://schemas.microsoft.com/office/powerpoint/2010/main" val="282230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Sơ đồ </a:t>
            </a:r>
            <a:r>
              <a:rPr lang="en-US" b="1"/>
              <a:t>Q</a:t>
            </a:r>
            <a:r>
              <a:rPr lang="vi-VN" b="1"/>
              <a:t>uan hệ </a:t>
            </a:r>
            <a:r>
              <a:rPr lang="en-US" b="1"/>
              <a:t>- T</a:t>
            </a:r>
            <a:r>
              <a:rPr lang="vi-VN" b="1"/>
              <a:t>hực thể 1-</a:t>
            </a:r>
            <a:r>
              <a:rPr lang="en-US" b="1"/>
              <a:t>3</a:t>
            </a:r>
          </a:p>
          <a:p>
            <a:pPr marL="171450" indent="-171450">
              <a:buFont typeface="Arial" panose="020B0604020202020204" pitchFamily="34" charset="0"/>
              <a:buChar char="•"/>
            </a:pPr>
            <a:r>
              <a:rPr lang="vi-VN" b="0"/>
              <a:t>Sơ đồ E-R là một biểu diễn đồ họa của mô hình E-R. Sơ đồ E-R, với sự trợ giúp của các biểu tượng khác nhau, biểu thị hiệu quả các thành phần khác nhau của mô hình E-R.</a:t>
            </a:r>
            <a:endParaRPr lang="en-US" b="0"/>
          </a:p>
        </p:txBody>
      </p:sp>
      <p:sp>
        <p:nvSpPr>
          <p:cNvPr id="4" name="Slide Number Placeholder 3"/>
          <p:cNvSpPr>
            <a:spLocks noGrp="1"/>
          </p:cNvSpPr>
          <p:nvPr>
            <p:ph type="sldNum" sz="quarter" idx="5"/>
          </p:nvPr>
        </p:nvSpPr>
        <p:spPr/>
        <p:txBody>
          <a:bodyPr/>
          <a:lstStyle/>
          <a:p>
            <a:fld id="{36095E88-7DEA-4C0A-8853-14E150450747}" type="slidenum">
              <a:rPr lang="en-US" smtClean="0"/>
              <a:t>10</a:t>
            </a:fld>
            <a:endParaRPr lang="en-US"/>
          </a:p>
        </p:txBody>
      </p:sp>
    </p:spTree>
    <p:extLst>
      <p:ext uri="{BB962C8B-B14F-4D97-AF65-F5344CB8AC3E}">
        <p14:creationId xmlns:p14="http://schemas.microsoft.com/office/powerpoint/2010/main" val="371504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Sơ đồ </a:t>
            </a:r>
            <a:r>
              <a:rPr lang="en-US" b="1"/>
              <a:t>Q</a:t>
            </a:r>
            <a:r>
              <a:rPr lang="vi-VN" b="1"/>
              <a:t>uan hệ </a:t>
            </a:r>
            <a:r>
              <a:rPr lang="en-US" b="1"/>
              <a:t>- T</a:t>
            </a:r>
            <a:r>
              <a:rPr lang="vi-VN" b="1"/>
              <a:t>hực thể </a:t>
            </a:r>
            <a:r>
              <a:rPr lang="en-US" b="1"/>
              <a:t>2</a:t>
            </a:r>
            <a:r>
              <a:rPr lang="vi-VN" b="1"/>
              <a:t>-</a:t>
            </a:r>
            <a:r>
              <a:rPr lang="en-US" b="1"/>
              <a:t>3</a:t>
            </a:r>
          </a:p>
          <a:p>
            <a:r>
              <a:rPr lang="en-US"/>
              <a:t>C</a:t>
            </a:r>
            <a:r>
              <a:rPr lang="vi-VN"/>
              <a:t>ác thuộc tính trong mô hình E-R có thể được phân loại thêm như sau:</a:t>
            </a: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Đa giá trị: </a:t>
            </a:r>
            <a:r>
              <a:rPr lang="en-US" b="0"/>
              <a:t>Đ</a:t>
            </a:r>
            <a:r>
              <a:rPr lang="vi-VN" b="0"/>
              <a:t>ược minh họa bằng hình elip hai </a:t>
            </a:r>
            <a:r>
              <a:rPr lang="en-US" b="0"/>
              <a:t>v</a:t>
            </a:r>
            <a:r>
              <a:rPr lang="vi-VN" b="0"/>
              <a:t>òng, có nhiều hơn một giá trị cho ít nhất một trường hợp của thực thể.</a:t>
            </a:r>
            <a:endParaRPr lang="en-US"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H</a:t>
            </a:r>
            <a:r>
              <a:rPr lang="vi-VN" b="1"/>
              <a:t>ỗn hợp</a:t>
            </a:r>
            <a:r>
              <a:rPr lang="en-US" b="1"/>
              <a:t>: </a:t>
            </a:r>
            <a:r>
              <a:rPr lang="en-US" b="0"/>
              <a:t>C</a:t>
            </a:r>
            <a:r>
              <a:rPr lang="vi-VN" b="0"/>
              <a:t>hứa </a:t>
            </a:r>
            <a:r>
              <a:rPr lang="en-US" b="0"/>
              <a:t>2 </a:t>
            </a:r>
            <a:r>
              <a:rPr lang="vi-VN" b="0"/>
              <a:t>hoặc nhiều thuộc tính</a:t>
            </a:r>
            <a:endParaRPr lang="en-US"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Dẫn xuất: </a:t>
            </a:r>
            <a:r>
              <a:rPr lang="en-US" b="0"/>
              <a:t>L</a:t>
            </a:r>
            <a:r>
              <a:rPr lang="vi-VN" b="0"/>
              <a:t>à các thuộc tính có giá trị hoàn toàn phụ thuộc vào một thuộc tính khác và được chỉ định bởi các hình elip bị nét.</a:t>
            </a:r>
            <a:endParaRPr lang="en-US" b="1"/>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vi-VN" b="1"/>
              <a:t>Các bước để xây dựng một sơ đồ E-R như sau:</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vi-VN" b="0"/>
              <a:t>Thu thập tất cả các dữ liệu phải được mô hình hóa.</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vi-VN" b="0"/>
              <a:t>Xác định dữ liệu có thể được mô hình hóa như các thực thể trong thế giới thực.</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vi-VN" b="0"/>
              <a:t>Xác định các thuộc tính cho mỗi thực thể.</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vi-VN" b="0"/>
              <a:t>Sắp xếp thực thể đặt thành bộ thực thể yếu hoặc mạnh.</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vi-VN" b="0"/>
              <a:t>Sắp xếp các thuộc tính thực thể là thuộc tính chính, thuộc tính đa giá trị, thuộc tính </a:t>
            </a:r>
            <a:r>
              <a:rPr lang="en-US" b="0"/>
              <a:t>hỗn hợp</a:t>
            </a:r>
            <a:r>
              <a:rPr lang="vi-VN" b="0"/>
              <a:t>, thuộc tính dẫn xuất, v.v.</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vi-VN" b="0"/>
              <a:t>Xác định các mối quan hệ giữa các thực thể khác nhau.</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vi-VN" b="0"/>
              <a:t>Sử dụng các biểu tượng khác nhau rút ra các thực thể, thuộc tính của họ và các mối quan hệ của họ. Sử dụng các biểu tượng thích hợp trong khi vẽ thuộc tính.</a:t>
            </a:r>
            <a:endParaRPr lang="en-US" b="0"/>
          </a:p>
        </p:txBody>
      </p:sp>
      <p:sp>
        <p:nvSpPr>
          <p:cNvPr id="4" name="Slide Number Placeholder 3"/>
          <p:cNvSpPr>
            <a:spLocks noGrp="1"/>
          </p:cNvSpPr>
          <p:nvPr>
            <p:ph type="sldNum" sz="quarter" idx="5"/>
          </p:nvPr>
        </p:nvSpPr>
        <p:spPr/>
        <p:txBody>
          <a:bodyPr/>
          <a:lstStyle/>
          <a:p>
            <a:fld id="{36095E88-7DEA-4C0A-8853-14E150450747}" type="slidenum">
              <a:rPr lang="en-US" smtClean="0"/>
              <a:t>11</a:t>
            </a:fld>
            <a:endParaRPr lang="en-US"/>
          </a:p>
        </p:txBody>
      </p:sp>
    </p:spTree>
    <p:extLst>
      <p:ext uri="{BB962C8B-B14F-4D97-AF65-F5344CB8AC3E}">
        <p14:creationId xmlns:p14="http://schemas.microsoft.com/office/powerpoint/2010/main" val="1395563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Sơ đồ </a:t>
            </a:r>
            <a:r>
              <a:rPr lang="en-US" b="1"/>
              <a:t>Q</a:t>
            </a:r>
            <a:r>
              <a:rPr lang="vi-VN" b="1"/>
              <a:t>uan hệ </a:t>
            </a:r>
            <a:r>
              <a:rPr lang="en-US" b="1"/>
              <a:t>- T</a:t>
            </a:r>
            <a:r>
              <a:rPr lang="vi-VN" b="1"/>
              <a:t>hực thể </a:t>
            </a:r>
            <a:r>
              <a:rPr lang="en-US" b="1"/>
              <a:t>3</a:t>
            </a:r>
            <a:r>
              <a:rPr lang="vi-VN" b="1"/>
              <a:t>-</a:t>
            </a:r>
            <a:r>
              <a:rPr lang="en-US" b="1"/>
              <a:t>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b="0"/>
              <a:t>Một ví dụ về sơ đồ E-R</a:t>
            </a:r>
            <a:endParaRPr lang="en-US" b="0"/>
          </a:p>
        </p:txBody>
      </p:sp>
      <p:sp>
        <p:nvSpPr>
          <p:cNvPr id="4" name="Slide Number Placeholder 3"/>
          <p:cNvSpPr>
            <a:spLocks noGrp="1"/>
          </p:cNvSpPr>
          <p:nvPr>
            <p:ph type="sldNum" sz="quarter" idx="5"/>
          </p:nvPr>
        </p:nvSpPr>
        <p:spPr/>
        <p:txBody>
          <a:bodyPr/>
          <a:lstStyle/>
          <a:p>
            <a:fld id="{36095E88-7DEA-4C0A-8853-14E150450747}" type="slidenum">
              <a:rPr lang="en-US" smtClean="0"/>
              <a:t>12</a:t>
            </a:fld>
            <a:endParaRPr lang="en-US"/>
          </a:p>
        </p:txBody>
      </p:sp>
    </p:spTree>
    <p:extLst>
      <p:ext uri="{BB962C8B-B14F-4D97-AF65-F5344CB8AC3E}">
        <p14:creationId xmlns:p14="http://schemas.microsoft.com/office/powerpoint/2010/main" val="2388848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Bình thường hóa</a:t>
            </a:r>
            <a:endParaRPr lang="en-US" b="1"/>
          </a:p>
          <a:p>
            <a:pPr marL="171450" indent="-171450">
              <a:buFont typeface="Arial" panose="020B0604020202020204" pitchFamily="34" charset="0"/>
              <a:buChar char="•"/>
            </a:pPr>
            <a:r>
              <a:rPr lang="vi-VN" b="0"/>
              <a:t>Cơ sở dữ liệu được đặc trưng bởi số lượng lớn các cột và </a:t>
            </a:r>
            <a:r>
              <a:rPr lang="en-US" b="0"/>
              <a:t>mẫu tin</a:t>
            </a:r>
          </a:p>
          <a:p>
            <a:pPr marL="171450" indent="-171450">
              <a:buFont typeface="Arial" panose="020B0604020202020204" pitchFamily="34" charset="0"/>
              <a:buChar char="•"/>
            </a:pPr>
            <a:r>
              <a:rPr lang="vi-VN" b="0"/>
              <a:t>Nó bao gồm các bất thường sau:</a:t>
            </a:r>
            <a:endParaRPr lang="en-US" b="0"/>
          </a:p>
          <a:p>
            <a:pPr marL="628650" lvl="1" indent="-171450">
              <a:buFont typeface="Arial" panose="020B0604020202020204" pitchFamily="34" charset="0"/>
              <a:buChar char="•"/>
            </a:pPr>
            <a:r>
              <a:rPr lang="vi-VN" b="0"/>
              <a:t>Sự lặp lại bất thường</a:t>
            </a:r>
            <a:endParaRPr lang="en-US" b="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Chèn bất thường</a:t>
            </a:r>
            <a:endParaRPr lang="en-US" b="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Xóa bất thường</a:t>
            </a:r>
            <a:endParaRPr lang="en-US" b="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Cập nhật bất thường</a:t>
            </a:r>
            <a:endParaRPr lang="en-US" b="0"/>
          </a:p>
        </p:txBody>
      </p:sp>
      <p:sp>
        <p:nvSpPr>
          <p:cNvPr id="4" name="Slide Number Placeholder 3"/>
          <p:cNvSpPr>
            <a:spLocks noGrp="1"/>
          </p:cNvSpPr>
          <p:nvPr>
            <p:ph type="sldNum" sz="quarter" idx="5"/>
          </p:nvPr>
        </p:nvSpPr>
        <p:spPr/>
        <p:txBody>
          <a:bodyPr/>
          <a:lstStyle/>
          <a:p>
            <a:fld id="{36095E88-7DEA-4C0A-8853-14E150450747}" type="slidenum">
              <a:rPr lang="en-US" smtClean="0"/>
              <a:t>13</a:t>
            </a:fld>
            <a:endParaRPr lang="en-US"/>
          </a:p>
        </p:txBody>
      </p:sp>
    </p:spTree>
    <p:extLst>
      <p:ext uri="{BB962C8B-B14F-4D97-AF65-F5344CB8AC3E}">
        <p14:creationId xmlns:p14="http://schemas.microsoft.com/office/powerpoint/2010/main" val="3002676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Mẫu bình thường </a:t>
            </a:r>
            <a:r>
              <a:rPr lang="en-US" b="1"/>
              <a:t>hóa </a:t>
            </a:r>
            <a:r>
              <a:rPr lang="vi-VN" b="1"/>
              <a:t>đầu tiên</a:t>
            </a:r>
            <a:endParaRPr lang="en-US" b="1"/>
          </a:p>
          <a:p>
            <a:pPr marL="171450" lvl="0" indent="-171450">
              <a:buFont typeface="Arial" panose="020B0604020202020204" pitchFamily="34" charset="0"/>
              <a:buChar char="•"/>
            </a:pPr>
            <a:r>
              <a:rPr lang="en-US" b="0"/>
              <a:t>Tạo các bảng riêng biệt cho từng nhóm dữ liệu liên quan.</a:t>
            </a:r>
          </a:p>
          <a:p>
            <a:pPr marL="171450" lvl="0" indent="-171450">
              <a:buFont typeface="Arial" panose="020B0604020202020204" pitchFamily="34" charset="0"/>
              <a:buChar char="•"/>
            </a:pPr>
            <a:r>
              <a:rPr lang="en-US" b="0"/>
              <a:t>Các cột bảng phải có giá trị nguyên tử.</a:t>
            </a:r>
          </a:p>
          <a:p>
            <a:pPr marL="171450" lvl="0" indent="-171450">
              <a:buFont typeface="Arial" panose="020B0604020202020204" pitchFamily="34" charset="0"/>
              <a:buChar char="•"/>
            </a:pPr>
            <a:r>
              <a:rPr lang="vi-VN" b="0"/>
              <a:t>Tất cả các thuộc tính chính phải được xác định.</a:t>
            </a:r>
            <a:endParaRPr lang="en-US" b="0"/>
          </a:p>
          <a:p>
            <a:pPr marL="0" lvl="0" indent="0">
              <a:buFont typeface="Arial" panose="020B0604020202020204" pitchFamily="34" charset="0"/>
              <a:buNone/>
            </a:pPr>
            <a:r>
              <a:rPr lang="vi-VN" b="0"/>
              <a:t>Bảng có dữ liệu liên quan đến </a:t>
            </a:r>
            <a:r>
              <a:rPr lang="en-US" sz="1200" b="1" spc="60">
                <a:latin typeface="Times New Roman"/>
                <a:cs typeface="Times New Roman"/>
              </a:rPr>
              <a:t>projects </a:t>
            </a:r>
            <a:r>
              <a:rPr lang="vi-VN" b="0"/>
              <a:t>và </a:t>
            </a:r>
            <a:r>
              <a:rPr lang="en-US" sz="1200" b="1" spc="40">
                <a:latin typeface="Times New Roman"/>
                <a:cs typeface="Times New Roman"/>
              </a:rPr>
              <a:t>employees</a:t>
            </a:r>
            <a:r>
              <a:rPr lang="vi-VN" b="0"/>
              <a:t>. Bảng phải được chia thành </a:t>
            </a:r>
            <a:r>
              <a:rPr lang="en-US" b="0"/>
              <a:t>2</a:t>
            </a:r>
            <a:r>
              <a:rPr lang="vi-VN" b="0"/>
              <a:t> bảng, nghĩa là, bảng </a:t>
            </a:r>
            <a:r>
              <a:rPr lang="en-US" b="0"/>
              <a:t>C</a:t>
            </a:r>
            <a:r>
              <a:rPr lang="vi-VN" b="0"/>
              <a:t>hi tiết dự án và bảng Chi tiết nhân viên.</a:t>
            </a:r>
            <a:endParaRPr lang="en-US" b="0"/>
          </a:p>
        </p:txBody>
      </p:sp>
      <p:sp>
        <p:nvSpPr>
          <p:cNvPr id="4" name="Slide Number Placeholder 3"/>
          <p:cNvSpPr>
            <a:spLocks noGrp="1"/>
          </p:cNvSpPr>
          <p:nvPr>
            <p:ph type="sldNum" sz="quarter" idx="5"/>
          </p:nvPr>
        </p:nvSpPr>
        <p:spPr/>
        <p:txBody>
          <a:bodyPr/>
          <a:lstStyle/>
          <a:p>
            <a:fld id="{36095E88-7DEA-4C0A-8853-14E150450747}" type="slidenum">
              <a:rPr lang="en-US" smtClean="0"/>
              <a:t>14</a:t>
            </a:fld>
            <a:endParaRPr lang="en-US"/>
          </a:p>
        </p:txBody>
      </p:sp>
    </p:spTree>
    <p:extLst>
      <p:ext uri="{BB962C8B-B14F-4D97-AF65-F5344CB8AC3E}">
        <p14:creationId xmlns:p14="http://schemas.microsoft.com/office/powerpoint/2010/main" val="3537469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Mẫu bình thường </a:t>
            </a:r>
            <a:r>
              <a:rPr lang="en-US" b="1"/>
              <a:t>hóa thứ hai</a:t>
            </a:r>
          </a:p>
          <a:p>
            <a:r>
              <a:rPr lang="vi-VN"/>
              <a:t>Các bảng được cho là ở dạng bình thường thứ hai nếu:</a:t>
            </a:r>
          </a:p>
          <a:p>
            <a:pPr marL="171450" indent="-171450">
              <a:buFont typeface="Arial" panose="020B0604020202020204" pitchFamily="34" charset="0"/>
              <a:buChar char="•"/>
            </a:pPr>
            <a:r>
              <a:rPr lang="en-US"/>
              <a:t>Nó</a:t>
            </a:r>
            <a:r>
              <a:rPr lang="vi-VN"/>
              <a:t> đáp ứng các yêu cầu của hình thức bình thường đầu tiên</a:t>
            </a:r>
          </a:p>
          <a:p>
            <a:pPr marL="171450" indent="-171450">
              <a:buFont typeface="Arial" panose="020B0604020202020204" pitchFamily="34" charset="0"/>
              <a:buChar char="•"/>
            </a:pPr>
            <a:r>
              <a:rPr lang="vi-VN"/>
              <a:t>Không có phụ thuộc một phần trong bảng</a:t>
            </a:r>
          </a:p>
          <a:p>
            <a:pPr marL="171450" indent="-171450">
              <a:buFont typeface="Arial" panose="020B0604020202020204" pitchFamily="34" charset="0"/>
              <a:buChar char="•"/>
            </a:pPr>
            <a:r>
              <a:rPr lang="vi-VN"/>
              <a:t>Các bảng có liên quan qua các khóa ngoại</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15</a:t>
            </a:fld>
            <a:endParaRPr lang="en-US"/>
          </a:p>
        </p:txBody>
      </p:sp>
    </p:spTree>
    <p:extLst>
      <p:ext uri="{BB962C8B-B14F-4D97-AF65-F5344CB8AC3E}">
        <p14:creationId xmlns:p14="http://schemas.microsoft.com/office/powerpoint/2010/main" val="421260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Mẫu bình thường </a:t>
            </a:r>
            <a:r>
              <a:rPr lang="en-US" b="1"/>
              <a:t>hóa thứ ba</a:t>
            </a:r>
          </a:p>
          <a:p>
            <a:r>
              <a:rPr lang="vi-VN"/>
              <a:t>Để đạt được hình thức bình thường thứ ba:</a:t>
            </a:r>
          </a:p>
          <a:p>
            <a:pPr marL="171450" indent="-171450">
              <a:buFont typeface="Arial" panose="020B0604020202020204" pitchFamily="34" charset="0"/>
              <a:buChar char="•"/>
            </a:pPr>
            <a:r>
              <a:rPr lang="vi-VN"/>
              <a:t>Các bảng sẽ đáp ứng các yêu cầu của hình thức bình thường thứ hai</a:t>
            </a:r>
          </a:p>
          <a:p>
            <a:pPr marL="171450" indent="-171450">
              <a:buFont typeface="Arial" panose="020B0604020202020204" pitchFamily="34" charset="0"/>
              <a:buChar char="•"/>
            </a:pPr>
            <a:r>
              <a:rPr lang="vi-VN"/>
              <a:t>Các bảng không nên có sự phụ thuộc chuyển tiếp trong đó</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16</a:t>
            </a:fld>
            <a:endParaRPr lang="en-US"/>
          </a:p>
        </p:txBody>
      </p:sp>
    </p:spTree>
    <p:extLst>
      <p:ext uri="{BB962C8B-B14F-4D97-AF65-F5344CB8AC3E}">
        <p14:creationId xmlns:p14="http://schemas.microsoft.com/office/powerpoint/2010/main" val="1467432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Dennormalization</a:t>
            </a:r>
          </a:p>
          <a:p>
            <a:pPr marL="171450" indent="-171450">
              <a:buFont typeface="Arial" panose="020B0604020202020204" pitchFamily="34" charset="0"/>
              <a:buChar char="•"/>
            </a:pPr>
            <a:r>
              <a:rPr lang="vi-VN"/>
              <a:t>Bằng cách bình thường hóa cơ sở dữ liệu, dự </a:t>
            </a:r>
            <a:r>
              <a:rPr lang="en-US"/>
              <a:t>thừa</a:t>
            </a:r>
            <a:r>
              <a:rPr lang="vi-VN"/>
              <a:t> sẽ giảm</a:t>
            </a:r>
            <a:endParaRPr lang="en-US"/>
          </a:p>
          <a:p>
            <a:pPr marL="171450" indent="-171450">
              <a:buFont typeface="Arial" panose="020B0604020202020204" pitchFamily="34" charset="0"/>
              <a:buChar char="•"/>
            </a:pPr>
            <a:r>
              <a:rPr lang="vi-VN"/>
              <a:t>Điều này, lần lượt, giảm các yêu cầu lưu trữ cho cơ sở dữ liệu và đảm bảo tính toàn vẹn dữ liệu.</a:t>
            </a:r>
            <a:endParaRPr lang="en-US"/>
          </a:p>
          <a:p>
            <a:pPr marL="171450" lvl="0" indent="-171450">
              <a:buFont typeface="Arial" panose="020B0604020202020204" pitchFamily="34" charset="0"/>
              <a:buChar char="•"/>
            </a:pPr>
            <a:r>
              <a:rPr lang="vi-VN"/>
              <a:t>Các truy vấn </a:t>
            </a:r>
            <a:r>
              <a:rPr lang="en-US"/>
              <a:t>kết </a:t>
            </a:r>
            <a:r>
              <a:rPr lang="vi-VN"/>
              <a:t>phức tạp có thể phải được viết thường xuyên để kết hợp dữ liệu trong nhiều bảng.</a:t>
            </a:r>
            <a:endParaRPr lang="en-US"/>
          </a:p>
          <a:p>
            <a:pPr marL="171450" lvl="0" indent="-171450">
              <a:buFont typeface="Arial" panose="020B0604020202020204" pitchFamily="34" charset="0"/>
              <a:buChar char="•"/>
            </a:pPr>
            <a:r>
              <a:rPr lang="en-US"/>
              <a:t>Các phép kết </a:t>
            </a:r>
            <a:r>
              <a:rPr lang="vi-VN"/>
              <a:t>có thể liên quan đến nhiều hơn </a:t>
            </a:r>
            <a:r>
              <a:rPr lang="en-US"/>
              <a:t>3</a:t>
            </a:r>
            <a:r>
              <a:rPr lang="vi-VN"/>
              <a:t> bảng tùy thuộc vào nhu cầu thông tin.</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17</a:t>
            </a:fld>
            <a:endParaRPr lang="en-US"/>
          </a:p>
        </p:txBody>
      </p:sp>
    </p:spTree>
    <p:extLst>
      <p:ext uri="{BB962C8B-B14F-4D97-AF65-F5344CB8AC3E}">
        <p14:creationId xmlns:p14="http://schemas.microsoft.com/office/powerpoint/2010/main" val="4289657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Toán tử quan hệ 1-6</a:t>
            </a:r>
          </a:p>
          <a:p>
            <a:pPr marL="171450" indent="-171450">
              <a:buFont typeface="Arial" panose="020B0604020202020204" pitchFamily="34" charset="0"/>
              <a:buChar char="•"/>
            </a:pPr>
            <a:r>
              <a:rPr lang="vi-VN" b="0"/>
              <a:t>Mô hình quan hệ dựa trên nền tảng vững chắc của Đại số Quan hệ.</a:t>
            </a:r>
          </a:p>
          <a:p>
            <a:pPr marL="171450" indent="-171450">
              <a:buFont typeface="Arial" panose="020B0604020202020204" pitchFamily="34" charset="0"/>
              <a:buChar char="•"/>
            </a:pPr>
            <a:r>
              <a:rPr lang="vi-VN" b="0"/>
              <a:t>Đại số quan hệ bao gồm một tập hợp các </a:t>
            </a:r>
            <a:r>
              <a:rPr lang="en-US" b="0"/>
              <a:t>toán tử </a:t>
            </a:r>
            <a:r>
              <a:rPr lang="vi-VN" b="0"/>
              <a:t>hoạt động </a:t>
            </a:r>
            <a:r>
              <a:rPr lang="en-US" b="0"/>
              <a:t>trên</a:t>
            </a:r>
            <a:r>
              <a:rPr lang="vi-VN" b="0"/>
              <a:t> </a:t>
            </a:r>
            <a:r>
              <a:rPr lang="en-US" b="0"/>
              <a:t>các </a:t>
            </a:r>
            <a:r>
              <a:rPr lang="vi-VN" b="0"/>
              <a:t>quan hệ.</a:t>
            </a:r>
          </a:p>
          <a:p>
            <a:pPr marL="171450" indent="-171450">
              <a:buFont typeface="Arial" panose="020B0604020202020204" pitchFamily="34" charset="0"/>
              <a:buChar char="•"/>
            </a:pPr>
            <a:r>
              <a:rPr lang="vi-VN" b="0"/>
              <a:t>Mỗi </a:t>
            </a:r>
            <a:r>
              <a:rPr lang="en-US" b="0"/>
              <a:t>toán tử</a:t>
            </a:r>
            <a:r>
              <a:rPr lang="vi-VN" b="0"/>
              <a:t> </a:t>
            </a:r>
            <a:r>
              <a:rPr lang="en-US" b="0"/>
              <a:t>nhận</a:t>
            </a:r>
            <a:r>
              <a:rPr lang="vi-VN" b="0"/>
              <a:t> một hoặc hai mối quan hệ như đầu vào của nó và tạo ra một mối quan hệ mới là đầu ra của nó</a:t>
            </a:r>
            <a:r>
              <a:rPr lang="en-US" b="0"/>
              <a:t>.</a:t>
            </a:r>
            <a:endParaRPr lang="vi-VN" b="0"/>
          </a:p>
        </p:txBody>
      </p:sp>
      <p:sp>
        <p:nvSpPr>
          <p:cNvPr id="4" name="Slide Number Placeholder 3"/>
          <p:cNvSpPr>
            <a:spLocks noGrp="1"/>
          </p:cNvSpPr>
          <p:nvPr>
            <p:ph type="sldNum" sz="quarter" idx="5"/>
          </p:nvPr>
        </p:nvSpPr>
        <p:spPr/>
        <p:txBody>
          <a:bodyPr/>
          <a:lstStyle/>
          <a:p>
            <a:fld id="{36095E88-7DEA-4C0A-8853-14E150450747}" type="slidenum">
              <a:rPr lang="en-US" smtClean="0"/>
              <a:t>18</a:t>
            </a:fld>
            <a:endParaRPr lang="en-US"/>
          </a:p>
        </p:txBody>
      </p:sp>
    </p:spTree>
    <p:extLst>
      <p:ext uri="{BB962C8B-B14F-4D97-AF65-F5344CB8AC3E}">
        <p14:creationId xmlns:p14="http://schemas.microsoft.com/office/powerpoint/2010/main" val="1121995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Toán tử quan hệ 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Nó bao gồm một tập hợp các toán tử</a:t>
            </a:r>
          </a:p>
          <a:p>
            <a:pPr marL="171450" indent="-171450">
              <a:buFont typeface="Arial" panose="020B0604020202020204" pitchFamily="34" charset="0"/>
              <a:buChar char="•"/>
            </a:pPr>
            <a:r>
              <a:rPr lang="en-US" b="0"/>
              <a:t>Toán tử </a:t>
            </a:r>
            <a:r>
              <a:rPr lang="en-US" b="1"/>
              <a:t>SELECT:</a:t>
            </a:r>
            <a:r>
              <a:rPr lang="en-US" b="0"/>
              <a:t> Toán tử SELECT </a:t>
            </a:r>
            <a:r>
              <a:rPr lang="vi-VN" b="0"/>
              <a:t>được sử dụng để trích xuất dữ liệu đáp ứng một điều kiện nhất định.</a:t>
            </a:r>
            <a:r>
              <a:rPr lang="en-US" b="0"/>
              <a:t> </a:t>
            </a:r>
            <a:r>
              <a:rPr lang="vi-VN" b="0"/>
              <a:t>Chữ cái viết thường tiếng Hy Lạp sigma, '</a:t>
            </a:r>
            <a:r>
              <a:rPr lang="el-GR" b="0"/>
              <a:t>σ', </a:t>
            </a:r>
            <a:r>
              <a:rPr lang="vi-VN" b="0"/>
              <a:t>được sử dụng để biểu thị lựa chọn.</a:t>
            </a:r>
            <a:endParaRPr lang="en-US" b="0"/>
          </a:p>
          <a:p>
            <a:pPr marL="171450" indent="-171450">
              <a:buFont typeface="Arial" panose="020B0604020202020204" pitchFamily="34" charset="0"/>
              <a:buChar char="•"/>
            </a:pPr>
            <a:r>
              <a:rPr lang="en-US" sz="1200">
                <a:cs typeface="Courier New" pitchFamily="49" charset="0"/>
              </a:rPr>
              <a:t>Toán tử </a:t>
            </a:r>
            <a:r>
              <a:rPr lang="en-US" sz="1200" b="1">
                <a:cs typeface="Courier New" pitchFamily="49" charset="0"/>
              </a:rPr>
              <a:t>PROJECT</a:t>
            </a:r>
            <a:r>
              <a:rPr lang="en-US" sz="1200">
                <a:cs typeface="Courier New" pitchFamily="49" charset="0"/>
              </a:rPr>
              <a:t>: Toán tử PROJECT </a:t>
            </a:r>
            <a:r>
              <a:rPr lang="vi-VN" b="0"/>
              <a:t>được sử dụng để  tr</a:t>
            </a:r>
            <a:r>
              <a:rPr lang="en-US" b="0"/>
              <a:t>ù</a:t>
            </a:r>
            <a:r>
              <a:rPr lang="vi-VN" b="0"/>
              <a:t> hoạch một số chi tiết nhất định của bảng quan hệ.</a:t>
            </a:r>
            <a:r>
              <a:rPr lang="en-US" b="0"/>
              <a:t> </a:t>
            </a:r>
            <a:r>
              <a:rPr lang="en-US" sz="1200">
                <a:cs typeface="Courier New" pitchFamily="49" charset="0"/>
              </a:rPr>
              <a:t>PROJECT</a:t>
            </a:r>
            <a:r>
              <a:rPr lang="vi-VN" b="0"/>
              <a:t>chỉ hiển thị các chi tiết cần thiết để bỏ các cột nhất định.</a:t>
            </a:r>
            <a:r>
              <a:rPr lang="en-US" b="0"/>
              <a:t> Toán tử </a:t>
            </a:r>
            <a:r>
              <a:rPr lang="en-US" sz="1200">
                <a:cs typeface="Courier New" pitchFamily="49" charset="0"/>
              </a:rPr>
              <a:t>PROJECT </a:t>
            </a:r>
            <a:r>
              <a:rPr lang="vi-VN" b="0"/>
              <a:t>được ký hiệu bởi chữ Hy Lạp pi</a:t>
            </a:r>
          </a:p>
        </p:txBody>
      </p:sp>
      <p:sp>
        <p:nvSpPr>
          <p:cNvPr id="4" name="Slide Number Placeholder 3"/>
          <p:cNvSpPr>
            <a:spLocks noGrp="1"/>
          </p:cNvSpPr>
          <p:nvPr>
            <p:ph type="sldNum" sz="quarter" idx="5"/>
          </p:nvPr>
        </p:nvSpPr>
        <p:spPr/>
        <p:txBody>
          <a:bodyPr/>
          <a:lstStyle/>
          <a:p>
            <a:fld id="{36095E88-7DEA-4C0A-8853-14E150450747}" type="slidenum">
              <a:rPr lang="en-US" smtClean="0"/>
              <a:t>19</a:t>
            </a:fld>
            <a:endParaRPr lang="en-US"/>
          </a:p>
        </p:txBody>
      </p:sp>
    </p:spTree>
    <p:extLst>
      <p:ext uri="{BB962C8B-B14F-4D97-AF65-F5344CB8AC3E}">
        <p14:creationId xmlns:p14="http://schemas.microsoft.com/office/powerpoint/2010/main" val="788087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Toán tử quan hệ 3-6</a:t>
            </a:r>
          </a:p>
          <a:p>
            <a:pPr marL="171450" indent="-171450">
              <a:buFont typeface="Arial" panose="020B0604020202020204" pitchFamily="34" charset="0"/>
              <a:buChar char="•"/>
            </a:pPr>
            <a:r>
              <a:rPr lang="vi-VN"/>
              <a:t>Toán tử </a:t>
            </a:r>
            <a:r>
              <a:rPr lang="en-US" sz="1200" b="1" spc="165">
                <a:solidFill>
                  <a:srgbClr val="FFFFFF"/>
                </a:solidFill>
                <a:latin typeface="Times New Roman"/>
                <a:cs typeface="Times New Roman"/>
              </a:rPr>
              <a:t>PRODUCT</a:t>
            </a:r>
            <a:r>
              <a:rPr lang="vi-VN"/>
              <a:t>: Toán tử </a:t>
            </a:r>
            <a:r>
              <a:rPr lang="en-US" sz="1200" b="1" spc="165">
                <a:solidFill>
                  <a:srgbClr val="FFFFFF"/>
                </a:solidFill>
                <a:latin typeface="Times New Roman"/>
                <a:cs typeface="Times New Roman"/>
              </a:rPr>
              <a:t>PRODUCT</a:t>
            </a:r>
            <a:r>
              <a:rPr lang="vi-VN"/>
              <a:t>, được biểu thị bằng ‘</a:t>
            </a:r>
            <a:r>
              <a:rPr lang="en-US"/>
              <a:t>x</a:t>
            </a:r>
            <a:r>
              <a:rPr lang="vi-VN"/>
              <a:t>' giúp kết hợp thông tin từ </a:t>
            </a:r>
            <a:r>
              <a:rPr lang="en-US"/>
              <a:t>2</a:t>
            </a:r>
            <a:r>
              <a:rPr lang="vi-VN"/>
              <a:t> bảng quan hệ.</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20</a:t>
            </a:fld>
            <a:endParaRPr lang="en-US"/>
          </a:p>
        </p:txBody>
      </p:sp>
    </p:spTree>
    <p:extLst>
      <p:ext uri="{BB962C8B-B14F-4D97-AF65-F5344CB8AC3E}">
        <p14:creationId xmlns:p14="http://schemas.microsoft.com/office/powerpoint/2010/main" val="40080023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Toán tử quan hệ 4-6</a:t>
            </a:r>
          </a:p>
          <a:p>
            <a:pPr marL="171450" indent="-171450">
              <a:buFont typeface="Arial" panose="020B0604020202020204" pitchFamily="34" charset="0"/>
              <a:buChar char="•"/>
            </a:pPr>
            <a:r>
              <a:rPr lang="vi-VN"/>
              <a:t>Toán tử </a:t>
            </a:r>
            <a:r>
              <a:rPr lang="vi-VN" b="1"/>
              <a:t>UNION</a:t>
            </a:r>
            <a:r>
              <a:rPr lang="vi-VN"/>
              <a:t>: </a:t>
            </a:r>
            <a:r>
              <a:rPr lang="en-US"/>
              <a:t>Toán tử hợp </a:t>
            </a:r>
            <a:r>
              <a:rPr lang="vi-VN"/>
              <a:t>thu thập dữ liệu từ các bảng khác nhau và trình bày một phiên bản thống nhất của dữ liệu hoàn chỉnh. Toán tử </a:t>
            </a:r>
            <a:r>
              <a:rPr lang="en-US"/>
              <a:t>hợp (UNION) </a:t>
            </a:r>
            <a:r>
              <a:rPr lang="vi-VN"/>
              <a:t>được thể hiện bằng biểu tượng, 'U’.</a:t>
            </a:r>
            <a:endParaRPr lang="en-US"/>
          </a:p>
          <a:p>
            <a:pPr marL="171450" indent="-171450">
              <a:buFont typeface="Arial" panose="020B0604020202020204" pitchFamily="34" charset="0"/>
              <a:buChar char="•"/>
            </a:pPr>
            <a:r>
              <a:rPr lang="vi-VN"/>
              <a:t>Toán tử </a:t>
            </a:r>
            <a:r>
              <a:rPr lang="en-US" sz="1200" b="1" spc="105">
                <a:solidFill>
                  <a:srgbClr val="FFFFFF"/>
                </a:solidFill>
                <a:latin typeface="Times New Roman"/>
                <a:cs typeface="Times New Roman"/>
              </a:rPr>
              <a:t>INTERSECT</a:t>
            </a:r>
            <a:r>
              <a:rPr lang="vi-VN"/>
              <a:t>: </a:t>
            </a:r>
            <a:r>
              <a:rPr lang="en-US"/>
              <a:t>Toán tử giao</a:t>
            </a:r>
            <a:r>
              <a:rPr lang="vi-VN"/>
              <a:t> tạo dữ liệu chứa đúng trong tất cả các bảng mà nó được áp dụng trên. Nó dựa trên lý thuyết đặt giao điểm và được biểu thị bằng biểu tượng '∩'</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21</a:t>
            </a:fld>
            <a:endParaRPr lang="en-US"/>
          </a:p>
        </p:txBody>
      </p:sp>
    </p:spTree>
    <p:extLst>
      <p:ext uri="{BB962C8B-B14F-4D97-AF65-F5344CB8AC3E}">
        <p14:creationId xmlns:p14="http://schemas.microsoft.com/office/powerpoint/2010/main" val="11628356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Toán tử quan hệ 5-6</a:t>
            </a:r>
          </a:p>
          <a:p>
            <a:pPr marL="171450" indent="-171450">
              <a:buFont typeface="Arial" panose="020B0604020202020204" pitchFamily="34" charset="0"/>
              <a:buChar char="•"/>
            </a:pPr>
            <a:r>
              <a:rPr lang="vi-VN"/>
              <a:t>Toán tử </a:t>
            </a:r>
            <a:r>
              <a:rPr lang="en-US" sz="1200" b="1" spc="60">
                <a:solidFill>
                  <a:srgbClr val="FFFFFF"/>
                </a:solidFill>
                <a:latin typeface="Times New Roman"/>
                <a:cs typeface="Times New Roman"/>
              </a:rPr>
              <a:t>DIFFERENCE</a:t>
            </a:r>
            <a:r>
              <a:rPr lang="vi-VN"/>
              <a:t>: Toán tử </a:t>
            </a:r>
            <a:r>
              <a:rPr lang="en-US" sz="1200" spc="60">
                <a:solidFill>
                  <a:srgbClr val="FFFFFF"/>
                </a:solidFill>
                <a:latin typeface="Times New Roman"/>
                <a:cs typeface="Times New Roman"/>
              </a:rPr>
              <a:t>khác biệt</a:t>
            </a:r>
            <a:r>
              <a:rPr lang="vi-VN"/>
              <a:t>, được ký hiệu là '-', cũng tạo dữ liệu từ các bảng khác nhau, nhưng nó tạo dữ liệu chứa đúng trong một bảng và không phải cái khác.</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22</a:t>
            </a:fld>
            <a:endParaRPr lang="en-US"/>
          </a:p>
        </p:txBody>
      </p:sp>
    </p:spTree>
    <p:extLst>
      <p:ext uri="{BB962C8B-B14F-4D97-AF65-F5344CB8AC3E}">
        <p14:creationId xmlns:p14="http://schemas.microsoft.com/office/powerpoint/2010/main" val="2757076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Toán tử quan hệ 6-6</a:t>
            </a:r>
          </a:p>
          <a:p>
            <a:pPr marL="171450" indent="-171450">
              <a:buFont typeface="Arial" panose="020B0604020202020204" pitchFamily="34" charset="0"/>
              <a:buChar char="•"/>
            </a:pPr>
            <a:r>
              <a:rPr lang="vi-VN"/>
              <a:t>Toán tử</a:t>
            </a:r>
            <a:r>
              <a:rPr lang="en-US"/>
              <a:t> </a:t>
            </a:r>
            <a:r>
              <a:rPr lang="vi-VN" b="1"/>
              <a:t>DIVIDE</a:t>
            </a:r>
            <a:r>
              <a:rPr lang="vi-VN"/>
              <a:t>: Giả sử một quan chức muốn xem tên chi nhánh và dự trữ của tất cả các chi nhánh có các khoản vay. Quá trình này có thể được thực hiện rất dễ dàng bằng cách sử dụng toán tử chia.</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23</a:t>
            </a:fld>
            <a:endParaRPr lang="en-US"/>
          </a:p>
        </p:txBody>
      </p:sp>
    </p:spTree>
    <p:extLst>
      <p:ext uri="{BB962C8B-B14F-4D97-AF65-F5344CB8AC3E}">
        <p14:creationId xmlns:p14="http://schemas.microsoft.com/office/powerpoint/2010/main" val="2266831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p>
          <a:p>
            <a:pPr marL="171450" indent="-171450">
              <a:buFont typeface="Arial" panose="020B0604020202020204" pitchFamily="34" charset="0"/>
              <a:buChar char="•"/>
            </a:pPr>
            <a:r>
              <a:rPr lang="vi-VN"/>
              <a:t>Mô hình hóa dữ liệu là quá trình áp dụng mô hình dữ liệu thích hợp cho dữ liệu trong tầm tay.</a:t>
            </a:r>
          </a:p>
          <a:p>
            <a:pPr marL="171450" indent="-171450">
              <a:buFont typeface="Arial" panose="020B0604020202020204" pitchFamily="34" charset="0"/>
              <a:buChar char="•"/>
            </a:pPr>
            <a:r>
              <a:rPr lang="vi-VN"/>
              <a:t>Mô hình E-R xem thế giới thực là một tập hợp các đối tượng và mối quan hệ cơ bản trong số đó.</a:t>
            </a:r>
          </a:p>
          <a:p>
            <a:pPr marL="171450" indent="-171450">
              <a:buFont typeface="Arial" panose="020B0604020202020204" pitchFamily="34" charset="0"/>
              <a:buChar char="•"/>
            </a:pPr>
            <a:r>
              <a:rPr lang="vi-VN"/>
              <a:t>Thực thể, thuộc tính, bộ thực thể, mối quan hệ và bộ mối quan hệ tạo thành </a:t>
            </a:r>
            <a:r>
              <a:rPr lang="en-US"/>
              <a:t>5</a:t>
            </a:r>
            <a:r>
              <a:rPr lang="vi-VN"/>
              <a:t> thành phần cơ bản của mô hình E-R.</a:t>
            </a:r>
          </a:p>
          <a:p>
            <a:pPr marL="171450" indent="-171450">
              <a:buFont typeface="Arial" panose="020B0604020202020204" pitchFamily="34" charset="0"/>
              <a:buChar char="•"/>
            </a:pPr>
            <a:r>
              <a:rPr lang="en-US" spc="65"/>
              <a:t>Mapping </a:t>
            </a:r>
            <a:r>
              <a:rPr lang="en-US" spc="50"/>
              <a:t>cardinalities </a:t>
            </a:r>
            <a:r>
              <a:rPr lang="en-US"/>
              <a:t>thể hiện </a:t>
            </a:r>
            <a:r>
              <a:rPr lang="vi-VN"/>
              <a:t>số lượng thực thể mà một thực thể được liên kết với.</a:t>
            </a:r>
          </a:p>
          <a:p>
            <a:pPr marL="171450" indent="-171450">
              <a:buFont typeface="Arial" panose="020B0604020202020204" pitchFamily="34" charset="0"/>
              <a:buChar char="•"/>
            </a:pPr>
            <a:r>
              <a:rPr lang="vi-VN"/>
              <a:t>Quá trình loại bỏ dữ liệu dư thừa khỏi các bảng của cơ sở dữ liệu quan hệ được gọi là chuẩn hóa.</a:t>
            </a:r>
          </a:p>
          <a:p>
            <a:pPr marL="171450" indent="-171450">
              <a:buFont typeface="Arial" panose="020B0604020202020204" pitchFamily="34" charset="0"/>
              <a:buChar char="•"/>
            </a:pPr>
            <a:r>
              <a:rPr lang="vi-VN"/>
              <a:t>Đại số quan hệ bao gồm một bộ sưu tập các </a:t>
            </a:r>
            <a:r>
              <a:rPr lang="en-US"/>
              <a:t>toán tử </a:t>
            </a:r>
            <a:r>
              <a:rPr lang="vi-VN"/>
              <a:t>giúp truy xuất dữ liệu từ các cơ sở dữ liệu quan hệ.</a:t>
            </a:r>
          </a:p>
          <a:p>
            <a:pPr marL="171450" indent="-171450">
              <a:buFont typeface="Arial" panose="020B0604020202020204" pitchFamily="34" charset="0"/>
              <a:buChar char="•"/>
            </a:pPr>
            <a:r>
              <a:rPr lang="en-US" sz="1200" b="1">
                <a:latin typeface="Calibri" pitchFamily="34" charset="0"/>
                <a:cs typeface="Calibri" pitchFamily="34" charset="0"/>
              </a:rPr>
              <a:t>SELECT, PRODUCT, UNION</a:t>
            </a:r>
            <a:r>
              <a:rPr lang="en-US" sz="1200">
                <a:latin typeface="Calibri" pitchFamily="34" charset="0"/>
                <a:cs typeface="Calibri" pitchFamily="34" charset="0"/>
              </a:rPr>
              <a:t>, </a:t>
            </a:r>
            <a:r>
              <a:rPr lang="vi-VN"/>
              <a:t>và </a:t>
            </a:r>
            <a:r>
              <a:rPr lang="vi-VN" b="1"/>
              <a:t>DIVIDE</a:t>
            </a:r>
            <a:r>
              <a:rPr lang="vi-VN"/>
              <a:t> là một số trong các toán tử đại số quan hệ.</a:t>
            </a:r>
            <a:endParaRPr lang="en-US"/>
          </a:p>
        </p:txBody>
      </p:sp>
      <p:sp>
        <p:nvSpPr>
          <p:cNvPr id="4" name="Slide Number Placeholder 3"/>
          <p:cNvSpPr>
            <a:spLocks noGrp="1"/>
          </p:cNvSpPr>
          <p:nvPr>
            <p:ph type="sldNum" sz="quarter" idx="5"/>
          </p:nvPr>
        </p:nvSpPr>
        <p:spPr/>
        <p:txBody>
          <a:bodyPr/>
          <a:lstStyle/>
          <a:p>
            <a:fld id="{36095E88-7DEA-4C0A-8853-14E150450747}" type="slidenum">
              <a:rPr lang="en-US" smtClean="0"/>
              <a:t>24</a:t>
            </a:fld>
            <a:endParaRPr lang="en-US"/>
          </a:p>
        </p:txBody>
      </p:sp>
    </p:spTree>
    <p:extLst>
      <p:ext uri="{BB962C8B-B14F-4D97-AF65-F5344CB8AC3E}">
        <p14:creationId xmlns:p14="http://schemas.microsoft.com/office/powerpoint/2010/main" val="1843146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56641"/>
            <a:ext cx="8376919" cy="57404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83540" y="15493"/>
            <a:ext cx="8376919" cy="635635"/>
          </a:xfrm>
          <a:prstGeom prst="rect">
            <a:avLst/>
          </a:prstGeom>
        </p:spPr>
        <p:txBody>
          <a:bodyPr wrap="square" lIns="0" tIns="0" rIns="0" bIns="0">
            <a:spAutoFit/>
          </a:bodyPr>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383540" y="1125473"/>
            <a:ext cx="8453120" cy="429958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a:xfrm>
            <a:off x="7914893" y="6569709"/>
            <a:ext cx="902334" cy="25654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4.jp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jp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jpg"/><Relationship Id="rId4" Type="http://schemas.openxmlformats.org/officeDocument/2006/relationships/image" Target="../media/image59.png"/></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242060" y="4147173"/>
            <a:ext cx="6696709" cy="1999614"/>
          </a:xfrm>
          <a:prstGeom prst="rect">
            <a:avLst/>
          </a:prstGeom>
        </p:spPr>
        <p:txBody>
          <a:bodyPr vert="horz" wrap="square" lIns="0" tIns="77470" rIns="0" bIns="0" rtlCol="0">
            <a:spAutoFit/>
          </a:bodyPr>
          <a:lstStyle/>
          <a:p>
            <a:pPr marL="200660">
              <a:lnSpc>
                <a:spcPct val="100000"/>
              </a:lnSpc>
              <a:spcBef>
                <a:spcPts val="61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2</a:t>
            </a:r>
            <a:endParaRPr sz="2800">
              <a:latin typeface="Book Antiqua"/>
              <a:cs typeface="Book Antiqua"/>
            </a:endParaRPr>
          </a:p>
          <a:p>
            <a:pPr marL="12700" marR="5080" indent="8255">
              <a:lnSpc>
                <a:spcPct val="101000"/>
              </a:lnSpc>
              <a:spcBef>
                <a:spcPts val="765"/>
              </a:spcBef>
            </a:pPr>
            <a:r>
              <a:rPr sz="4500" b="1" i="1" spc="-5" dirty="0">
                <a:latin typeface="Book Antiqua"/>
                <a:cs typeface="Book Antiqua"/>
              </a:rPr>
              <a:t>Entity-Relationship </a:t>
            </a:r>
            <a:r>
              <a:rPr sz="4500" b="1" i="1" dirty="0">
                <a:latin typeface="Book Antiqua"/>
                <a:cs typeface="Book Antiqua"/>
              </a:rPr>
              <a:t>(E-R)  Model </a:t>
            </a:r>
            <a:r>
              <a:rPr sz="4500" b="1" i="1" spc="-5" dirty="0">
                <a:latin typeface="Book Antiqua"/>
                <a:cs typeface="Book Antiqua"/>
              </a:rPr>
              <a:t>and</a:t>
            </a:r>
            <a:r>
              <a:rPr sz="4500" b="1" i="1" spc="-100" dirty="0">
                <a:latin typeface="Book Antiqua"/>
                <a:cs typeface="Book Antiqua"/>
              </a:rPr>
              <a:t> </a:t>
            </a:r>
            <a:r>
              <a:rPr sz="4500" b="1" i="1" dirty="0">
                <a:latin typeface="Book Antiqua"/>
                <a:cs typeface="Book Antiqua"/>
              </a:rPr>
              <a:t>Normalization</a:t>
            </a:r>
            <a:endParaRPr sz="4500">
              <a:latin typeface="Book Antiqua"/>
              <a:cs typeface="Book Antiqua"/>
            </a:endParaRPr>
          </a:p>
        </p:txBody>
      </p:sp>
      <p:sp>
        <p:nvSpPr>
          <p:cNvPr id="7" name="object 7"/>
          <p:cNvSpPr txBox="1">
            <a:spLocks noGrp="1"/>
          </p:cNvSpPr>
          <p:nvPr>
            <p:ph type="title"/>
          </p:nvPr>
        </p:nvSpPr>
        <p:spPr>
          <a:xfrm>
            <a:off x="2882138" y="1372361"/>
            <a:ext cx="4544060" cy="1694814"/>
          </a:xfrm>
          <a:prstGeom prst="rect">
            <a:avLst/>
          </a:prstGeom>
        </p:spPr>
        <p:txBody>
          <a:bodyPr vert="horz" wrap="square" lIns="0" tIns="12700" rIns="0" bIns="0" rtlCol="0">
            <a:spAutoFit/>
          </a:bodyPr>
          <a:lstStyle/>
          <a:p>
            <a:pPr algn="ctr">
              <a:lnSpc>
                <a:spcPct val="100000"/>
              </a:lnSpc>
              <a:spcBef>
                <a:spcPts val="100"/>
              </a:spcBef>
            </a:pPr>
            <a:r>
              <a:rPr sz="3600" b="1" spc="-5" dirty="0">
                <a:latin typeface="Times New Roman"/>
                <a:cs typeface="Times New Roman"/>
              </a:rPr>
              <a:t>Intelligent</a:t>
            </a:r>
            <a:endParaRPr sz="3600">
              <a:latin typeface="Times New Roman"/>
              <a:cs typeface="Times New Roman"/>
            </a:endParaRPr>
          </a:p>
          <a:p>
            <a:pPr marL="12700" marR="5080" algn="ctr">
              <a:lnSpc>
                <a:spcPts val="4500"/>
              </a:lnSpc>
            </a:pPr>
            <a:r>
              <a:rPr sz="3600" b="1" spc="-30" dirty="0">
                <a:latin typeface="Times New Roman"/>
                <a:cs typeface="Times New Roman"/>
              </a:rPr>
              <a:t>Data </a:t>
            </a:r>
            <a:r>
              <a:rPr sz="3600" b="1" spc="-35" dirty="0">
                <a:latin typeface="Times New Roman"/>
                <a:cs typeface="Times New Roman"/>
              </a:rPr>
              <a:t>Management</a:t>
            </a:r>
            <a:r>
              <a:rPr sz="3600" b="1" spc="-434" dirty="0">
                <a:latin typeface="Times New Roman"/>
                <a:cs typeface="Times New Roman"/>
              </a:rPr>
              <a:t> </a:t>
            </a:r>
            <a:r>
              <a:rPr sz="3600" b="1" spc="45" dirty="0">
                <a:latin typeface="Times New Roman"/>
                <a:cs typeface="Times New Roman"/>
              </a:rPr>
              <a:t>with  </a:t>
            </a:r>
            <a:r>
              <a:rPr sz="3600" b="1" spc="10" dirty="0">
                <a:latin typeface="Times New Roman"/>
                <a:cs typeface="Times New Roman"/>
              </a:rPr>
              <a:t>SQL</a:t>
            </a:r>
            <a:r>
              <a:rPr sz="3600" b="1" spc="-200" dirty="0">
                <a:latin typeface="Times New Roman"/>
                <a:cs typeface="Times New Roman"/>
              </a:rPr>
              <a:t> </a:t>
            </a:r>
            <a:r>
              <a:rPr sz="3600" b="1" spc="-45" dirty="0">
                <a:latin typeface="Times New Roman"/>
                <a:cs typeface="Times New Roman"/>
              </a:rPr>
              <a:t>Server</a:t>
            </a:r>
            <a:endParaRPr sz="36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pc="130" dirty="0"/>
              <a:t>Objectives</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383540" y="1115567"/>
            <a:ext cx="7876540" cy="295973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90" dirty="0">
                <a:latin typeface="Times New Roman"/>
                <a:cs typeface="Times New Roman"/>
              </a:rPr>
              <a:t>Define</a:t>
            </a:r>
            <a:r>
              <a:rPr sz="2400" spc="-120" dirty="0">
                <a:latin typeface="Times New Roman"/>
                <a:cs typeface="Times New Roman"/>
              </a:rPr>
              <a:t> </a:t>
            </a:r>
            <a:r>
              <a:rPr sz="2400" spc="135" dirty="0">
                <a:latin typeface="Times New Roman"/>
                <a:cs typeface="Times New Roman"/>
              </a:rPr>
              <a:t>and</a:t>
            </a:r>
            <a:r>
              <a:rPr sz="2400" spc="-100" dirty="0">
                <a:latin typeface="Times New Roman"/>
                <a:cs typeface="Times New Roman"/>
              </a:rPr>
              <a:t> </a:t>
            </a:r>
            <a:r>
              <a:rPr sz="2400" spc="65" dirty="0">
                <a:latin typeface="Times New Roman"/>
                <a:cs typeface="Times New Roman"/>
              </a:rPr>
              <a:t>describe</a:t>
            </a:r>
            <a:r>
              <a:rPr sz="2400" spc="-110" dirty="0">
                <a:latin typeface="Times New Roman"/>
                <a:cs typeface="Times New Roman"/>
              </a:rPr>
              <a:t> </a:t>
            </a:r>
            <a:r>
              <a:rPr sz="2400" spc="95" dirty="0">
                <a:latin typeface="Times New Roman"/>
                <a:cs typeface="Times New Roman"/>
              </a:rPr>
              <a:t>data</a:t>
            </a:r>
            <a:r>
              <a:rPr sz="2400" spc="-85" dirty="0">
                <a:latin typeface="Times New Roman"/>
                <a:cs typeface="Times New Roman"/>
              </a:rPr>
              <a:t> </a:t>
            </a:r>
            <a:r>
              <a:rPr sz="2400" spc="80" dirty="0">
                <a:latin typeface="Times New Roman"/>
                <a:cs typeface="Times New Roman"/>
              </a:rPr>
              <a:t>modeling</a:t>
            </a:r>
            <a:endParaRPr sz="2400">
              <a:latin typeface="Times New Roman"/>
              <a:cs typeface="Times New Roman"/>
            </a:endParaRPr>
          </a:p>
          <a:p>
            <a:pPr marL="353695" indent="-341630">
              <a:lnSpc>
                <a:spcPct val="100000"/>
              </a:lnSpc>
              <a:spcBef>
                <a:spcPts val="5"/>
              </a:spcBef>
              <a:buFont typeface="Calibri"/>
              <a:buChar char="●"/>
              <a:tabLst>
                <a:tab pos="353695" algn="l"/>
                <a:tab pos="354330" algn="l"/>
              </a:tabLst>
            </a:pPr>
            <a:r>
              <a:rPr sz="2400" spc="75" dirty="0">
                <a:latin typeface="Times New Roman"/>
                <a:cs typeface="Times New Roman"/>
              </a:rPr>
              <a:t>Identify</a:t>
            </a:r>
            <a:r>
              <a:rPr sz="2400" spc="-90" dirty="0">
                <a:latin typeface="Times New Roman"/>
                <a:cs typeface="Times New Roman"/>
              </a:rPr>
              <a:t> </a:t>
            </a:r>
            <a:r>
              <a:rPr sz="2400" spc="135" dirty="0">
                <a:latin typeface="Times New Roman"/>
                <a:cs typeface="Times New Roman"/>
              </a:rPr>
              <a:t>and</a:t>
            </a:r>
            <a:r>
              <a:rPr sz="2400" spc="-85" dirty="0">
                <a:latin typeface="Times New Roman"/>
                <a:cs typeface="Times New Roman"/>
              </a:rPr>
              <a:t> </a:t>
            </a:r>
            <a:r>
              <a:rPr sz="2400" spc="60" dirty="0">
                <a:latin typeface="Times New Roman"/>
                <a:cs typeface="Times New Roman"/>
              </a:rPr>
              <a:t>describe</a:t>
            </a:r>
            <a:r>
              <a:rPr sz="2400" spc="-100" dirty="0">
                <a:latin typeface="Times New Roman"/>
                <a:cs typeface="Times New Roman"/>
              </a:rPr>
              <a:t> </a:t>
            </a:r>
            <a:r>
              <a:rPr sz="2400" spc="135" dirty="0">
                <a:latin typeface="Times New Roman"/>
                <a:cs typeface="Times New Roman"/>
              </a:rPr>
              <a:t>the</a:t>
            </a:r>
            <a:r>
              <a:rPr sz="2400" spc="-85" dirty="0">
                <a:latin typeface="Times New Roman"/>
                <a:cs typeface="Times New Roman"/>
              </a:rPr>
              <a:t> </a:t>
            </a:r>
            <a:r>
              <a:rPr sz="2400" spc="110" dirty="0">
                <a:latin typeface="Times New Roman"/>
                <a:cs typeface="Times New Roman"/>
              </a:rPr>
              <a:t>components</a:t>
            </a:r>
            <a:r>
              <a:rPr sz="2400" spc="-90" dirty="0">
                <a:latin typeface="Times New Roman"/>
                <a:cs typeface="Times New Roman"/>
              </a:rPr>
              <a:t> </a:t>
            </a:r>
            <a:r>
              <a:rPr sz="2400" spc="70" dirty="0">
                <a:latin typeface="Times New Roman"/>
                <a:cs typeface="Times New Roman"/>
              </a:rPr>
              <a:t>of</a:t>
            </a:r>
            <a:r>
              <a:rPr sz="2400" spc="-100" dirty="0">
                <a:latin typeface="Times New Roman"/>
                <a:cs typeface="Times New Roman"/>
              </a:rPr>
              <a:t> </a:t>
            </a:r>
            <a:r>
              <a:rPr sz="2400" spc="135" dirty="0">
                <a:latin typeface="Times New Roman"/>
                <a:cs typeface="Times New Roman"/>
              </a:rPr>
              <a:t>the</a:t>
            </a:r>
            <a:r>
              <a:rPr sz="2400" spc="-85" dirty="0">
                <a:latin typeface="Times New Roman"/>
                <a:cs typeface="Times New Roman"/>
              </a:rPr>
              <a:t> </a:t>
            </a:r>
            <a:r>
              <a:rPr sz="2400" spc="40" dirty="0">
                <a:latin typeface="Times New Roman"/>
                <a:cs typeface="Times New Roman"/>
              </a:rPr>
              <a:t>E-R</a:t>
            </a:r>
            <a:r>
              <a:rPr sz="2400" spc="-85" dirty="0">
                <a:latin typeface="Times New Roman"/>
                <a:cs typeface="Times New Roman"/>
              </a:rPr>
              <a:t> </a:t>
            </a:r>
            <a:r>
              <a:rPr sz="2400" spc="85" dirty="0">
                <a:latin typeface="Times New Roman"/>
                <a:cs typeface="Times New Roman"/>
              </a:rPr>
              <a:t>model</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5" dirty="0">
                <a:latin typeface="Times New Roman"/>
                <a:cs typeface="Times New Roman"/>
              </a:rPr>
              <a:t>Identify</a:t>
            </a:r>
            <a:r>
              <a:rPr sz="2400" spc="-85" dirty="0">
                <a:latin typeface="Times New Roman"/>
                <a:cs typeface="Times New Roman"/>
              </a:rPr>
              <a:t> </a:t>
            </a:r>
            <a:r>
              <a:rPr sz="2400" spc="80" dirty="0">
                <a:latin typeface="Times New Roman"/>
                <a:cs typeface="Times New Roman"/>
              </a:rPr>
              <a:t>relationships</a:t>
            </a:r>
            <a:r>
              <a:rPr sz="2400" spc="-75" dirty="0">
                <a:latin typeface="Times New Roman"/>
                <a:cs typeface="Times New Roman"/>
              </a:rPr>
              <a:t> </a:t>
            </a:r>
            <a:r>
              <a:rPr sz="2400" spc="135" dirty="0">
                <a:latin typeface="Times New Roman"/>
                <a:cs typeface="Times New Roman"/>
              </a:rPr>
              <a:t>that</a:t>
            </a:r>
            <a:r>
              <a:rPr sz="2400" spc="-70" dirty="0">
                <a:latin typeface="Times New Roman"/>
                <a:cs typeface="Times New Roman"/>
              </a:rPr>
              <a:t> </a:t>
            </a:r>
            <a:r>
              <a:rPr sz="2400" spc="90" dirty="0">
                <a:latin typeface="Times New Roman"/>
                <a:cs typeface="Times New Roman"/>
              </a:rPr>
              <a:t>can</a:t>
            </a:r>
            <a:r>
              <a:rPr sz="2400" spc="-85" dirty="0">
                <a:latin typeface="Times New Roman"/>
                <a:cs typeface="Times New Roman"/>
              </a:rPr>
              <a:t> </a:t>
            </a:r>
            <a:r>
              <a:rPr sz="2400" spc="80" dirty="0">
                <a:latin typeface="Times New Roman"/>
                <a:cs typeface="Times New Roman"/>
              </a:rPr>
              <a:t>be</a:t>
            </a:r>
            <a:r>
              <a:rPr sz="2400" spc="-85" dirty="0">
                <a:latin typeface="Times New Roman"/>
                <a:cs typeface="Times New Roman"/>
              </a:rPr>
              <a:t> </a:t>
            </a:r>
            <a:r>
              <a:rPr sz="2400" spc="90" dirty="0">
                <a:latin typeface="Times New Roman"/>
                <a:cs typeface="Times New Roman"/>
              </a:rPr>
              <a:t>formed</a:t>
            </a:r>
            <a:r>
              <a:rPr sz="2400" spc="-100" dirty="0">
                <a:latin typeface="Times New Roman"/>
                <a:cs typeface="Times New Roman"/>
              </a:rPr>
              <a:t> </a:t>
            </a:r>
            <a:r>
              <a:rPr sz="2400" spc="100" dirty="0">
                <a:latin typeface="Times New Roman"/>
                <a:cs typeface="Times New Roman"/>
              </a:rPr>
              <a:t>between</a:t>
            </a:r>
            <a:r>
              <a:rPr sz="2400" spc="-95" dirty="0">
                <a:latin typeface="Times New Roman"/>
                <a:cs typeface="Times New Roman"/>
              </a:rPr>
              <a:t> </a:t>
            </a:r>
            <a:r>
              <a:rPr sz="2400" spc="80" dirty="0">
                <a:latin typeface="Times New Roman"/>
                <a:cs typeface="Times New Roman"/>
              </a:rPr>
              <a:t>entities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40" dirty="0">
                <a:latin typeface="Times New Roman"/>
                <a:cs typeface="Times New Roman"/>
              </a:rPr>
              <a:t>E-R</a:t>
            </a:r>
            <a:r>
              <a:rPr sz="2400" spc="-90" dirty="0">
                <a:latin typeface="Times New Roman"/>
                <a:cs typeface="Times New Roman"/>
              </a:rPr>
              <a:t> </a:t>
            </a:r>
            <a:r>
              <a:rPr sz="2400" spc="55" dirty="0">
                <a:latin typeface="Times New Roman"/>
                <a:cs typeface="Times New Roman"/>
              </a:rPr>
              <a:t>diagrams</a:t>
            </a:r>
            <a:r>
              <a:rPr sz="2400" spc="-85" dirty="0">
                <a:latin typeface="Times New Roman"/>
                <a:cs typeface="Times New Roman"/>
              </a:rPr>
              <a:t> </a:t>
            </a:r>
            <a:r>
              <a:rPr sz="2400" spc="135" dirty="0">
                <a:latin typeface="Times New Roman"/>
                <a:cs typeface="Times New Roman"/>
              </a:rPr>
              <a:t>and</a:t>
            </a:r>
            <a:r>
              <a:rPr sz="2400" spc="-90" dirty="0">
                <a:latin typeface="Times New Roman"/>
                <a:cs typeface="Times New Roman"/>
              </a:rPr>
              <a:t> </a:t>
            </a:r>
            <a:r>
              <a:rPr sz="2400" spc="105" dirty="0">
                <a:latin typeface="Times New Roman"/>
                <a:cs typeface="Times New Roman"/>
              </a:rPr>
              <a:t>their</a:t>
            </a:r>
            <a:r>
              <a:rPr sz="2400" spc="-90" dirty="0">
                <a:latin typeface="Times New Roman"/>
                <a:cs typeface="Times New Roman"/>
              </a:rPr>
              <a:t> </a:t>
            </a:r>
            <a:r>
              <a:rPr sz="2400" spc="80" dirty="0">
                <a:latin typeface="Times New Roman"/>
                <a:cs typeface="Times New Roman"/>
              </a:rPr>
              <a:t>use</a:t>
            </a:r>
            <a:endParaRPr sz="2400">
              <a:latin typeface="Times New Roman"/>
              <a:cs typeface="Times New Roman"/>
            </a:endParaRPr>
          </a:p>
          <a:p>
            <a:pPr marL="353695" marR="255904" indent="-341630">
              <a:lnSpc>
                <a:spcPct val="100000"/>
              </a:lnSpc>
              <a:buFont typeface="Calibri"/>
              <a:buChar char="●"/>
              <a:tabLst>
                <a:tab pos="353695" algn="l"/>
                <a:tab pos="354330" algn="l"/>
              </a:tabLst>
            </a:pPr>
            <a:r>
              <a:rPr sz="2400" spc="65" dirty="0">
                <a:latin typeface="Times New Roman"/>
                <a:cs typeface="Times New Roman"/>
              </a:rPr>
              <a:t>Describe</a:t>
            </a:r>
            <a:r>
              <a:rPr sz="2400" spc="-105" dirty="0">
                <a:latin typeface="Times New Roman"/>
                <a:cs typeface="Times New Roman"/>
              </a:rPr>
              <a:t> </a:t>
            </a:r>
            <a:r>
              <a:rPr sz="2400" spc="125" dirty="0">
                <a:latin typeface="Times New Roman"/>
                <a:cs typeface="Times New Roman"/>
              </a:rPr>
              <a:t>an</a:t>
            </a:r>
            <a:r>
              <a:rPr sz="2400" spc="-95" dirty="0">
                <a:latin typeface="Times New Roman"/>
                <a:cs typeface="Times New Roman"/>
              </a:rPr>
              <a:t> </a:t>
            </a:r>
            <a:r>
              <a:rPr sz="2400" spc="40" dirty="0">
                <a:latin typeface="Times New Roman"/>
                <a:cs typeface="Times New Roman"/>
              </a:rPr>
              <a:t>E-R</a:t>
            </a:r>
            <a:r>
              <a:rPr sz="2400" spc="-95" dirty="0">
                <a:latin typeface="Times New Roman"/>
                <a:cs typeface="Times New Roman"/>
              </a:rPr>
              <a:t> </a:t>
            </a:r>
            <a:r>
              <a:rPr sz="2400" spc="55" dirty="0">
                <a:latin typeface="Times New Roman"/>
                <a:cs typeface="Times New Roman"/>
              </a:rPr>
              <a:t>diagram,</a:t>
            </a:r>
            <a:r>
              <a:rPr sz="2400" spc="-75" dirty="0">
                <a:latin typeface="Times New Roman"/>
                <a:cs typeface="Times New Roman"/>
              </a:rPr>
              <a:t> </a:t>
            </a:r>
            <a:r>
              <a:rPr sz="2400" spc="135" dirty="0">
                <a:latin typeface="Times New Roman"/>
                <a:cs typeface="Times New Roman"/>
              </a:rPr>
              <a:t>the</a:t>
            </a:r>
            <a:r>
              <a:rPr sz="2400" spc="-95" dirty="0">
                <a:latin typeface="Times New Roman"/>
                <a:cs typeface="Times New Roman"/>
              </a:rPr>
              <a:t> </a:t>
            </a:r>
            <a:r>
              <a:rPr sz="2400" spc="50" dirty="0">
                <a:latin typeface="Times New Roman"/>
                <a:cs typeface="Times New Roman"/>
              </a:rPr>
              <a:t>symbols</a:t>
            </a:r>
            <a:r>
              <a:rPr sz="2400" spc="-95" dirty="0">
                <a:latin typeface="Times New Roman"/>
                <a:cs typeface="Times New Roman"/>
              </a:rPr>
              <a:t> </a:t>
            </a:r>
            <a:r>
              <a:rPr sz="2400" spc="95" dirty="0">
                <a:latin typeface="Times New Roman"/>
                <a:cs typeface="Times New Roman"/>
              </a:rPr>
              <a:t>used</a:t>
            </a:r>
            <a:r>
              <a:rPr sz="2400" spc="-105" dirty="0">
                <a:latin typeface="Times New Roman"/>
                <a:cs typeface="Times New Roman"/>
              </a:rPr>
              <a:t> </a:t>
            </a:r>
            <a:r>
              <a:rPr sz="2400" spc="80" dirty="0">
                <a:latin typeface="Times New Roman"/>
                <a:cs typeface="Times New Roman"/>
              </a:rPr>
              <a:t>for</a:t>
            </a:r>
            <a:r>
              <a:rPr sz="2400" spc="-90" dirty="0">
                <a:latin typeface="Times New Roman"/>
                <a:cs typeface="Times New Roman"/>
              </a:rPr>
              <a:t> </a:t>
            </a:r>
            <a:r>
              <a:rPr sz="2400" spc="70" dirty="0">
                <a:latin typeface="Times New Roman"/>
                <a:cs typeface="Times New Roman"/>
              </a:rPr>
              <a:t>drawing,  </a:t>
            </a:r>
            <a:r>
              <a:rPr sz="2400" spc="135" dirty="0">
                <a:latin typeface="Times New Roman"/>
                <a:cs typeface="Times New Roman"/>
              </a:rPr>
              <a:t>and</a:t>
            </a:r>
            <a:r>
              <a:rPr sz="2400" spc="-430" dirty="0">
                <a:latin typeface="Times New Roman"/>
                <a:cs typeface="Times New Roman"/>
              </a:rPr>
              <a:t> </a:t>
            </a:r>
            <a:r>
              <a:rPr sz="2400" spc="95" dirty="0">
                <a:latin typeface="Times New Roman"/>
                <a:cs typeface="Times New Roman"/>
              </a:rPr>
              <a:t>show </a:t>
            </a:r>
            <a:r>
              <a:rPr sz="2400" spc="70" dirty="0">
                <a:latin typeface="Times New Roman"/>
                <a:cs typeface="Times New Roman"/>
              </a:rPr>
              <a:t>various </a:t>
            </a:r>
            <a:r>
              <a:rPr sz="2400" spc="80" dirty="0">
                <a:latin typeface="Times New Roman"/>
                <a:cs typeface="Times New Roman"/>
              </a:rPr>
              <a:t>relationships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 </a:t>
            </a:r>
            <a:r>
              <a:rPr sz="2400" spc="70" dirty="0">
                <a:latin typeface="Times New Roman"/>
                <a:cs typeface="Times New Roman"/>
              </a:rPr>
              <a:t>various </a:t>
            </a:r>
            <a:r>
              <a:rPr sz="2400" spc="90" dirty="0">
                <a:latin typeface="Times New Roman"/>
                <a:cs typeface="Times New Roman"/>
              </a:rPr>
              <a:t>Normal</a:t>
            </a:r>
            <a:r>
              <a:rPr sz="2400" spc="-405" dirty="0">
                <a:latin typeface="Times New Roman"/>
                <a:cs typeface="Times New Roman"/>
              </a:rPr>
              <a:t> </a:t>
            </a:r>
            <a:r>
              <a:rPr sz="2400" spc="65" dirty="0">
                <a:latin typeface="Times New Roman"/>
                <a:cs typeface="Times New Roman"/>
              </a:rPr>
              <a:t>Forms</a:t>
            </a:r>
            <a:endParaRPr sz="2400">
              <a:latin typeface="Times New Roman"/>
              <a:cs typeface="Times New Roman"/>
            </a:endParaRPr>
          </a:p>
          <a:p>
            <a:pPr marL="353695" indent="-341630">
              <a:lnSpc>
                <a:spcPct val="100000"/>
              </a:lnSpc>
              <a:spcBef>
                <a:spcPts val="60"/>
              </a:spcBef>
              <a:buFont typeface="Calibri"/>
              <a:buChar char="●"/>
              <a:tabLst>
                <a:tab pos="353695" algn="l"/>
                <a:tab pos="354330" algn="l"/>
              </a:tabLst>
            </a:pPr>
            <a:r>
              <a:rPr sz="2400" spc="135" dirty="0">
                <a:latin typeface="Times New Roman"/>
                <a:cs typeface="Times New Roman"/>
              </a:rPr>
              <a:t>Outline</a:t>
            </a:r>
            <a:r>
              <a:rPr sz="2400" spc="-90" dirty="0">
                <a:latin typeface="Times New Roman"/>
                <a:cs typeface="Times New Roman"/>
              </a:rPr>
              <a:t> </a:t>
            </a:r>
            <a:r>
              <a:rPr sz="2400" spc="60" dirty="0">
                <a:latin typeface="Times New Roman"/>
                <a:cs typeface="Times New Roman"/>
              </a:rPr>
              <a:t>uses</a:t>
            </a:r>
            <a:r>
              <a:rPr sz="2400" spc="-100" dirty="0">
                <a:latin typeface="Times New Roman"/>
                <a:cs typeface="Times New Roman"/>
              </a:rPr>
              <a:t> </a:t>
            </a:r>
            <a:r>
              <a:rPr sz="2400" spc="70" dirty="0">
                <a:latin typeface="Times New Roman"/>
                <a:cs typeface="Times New Roman"/>
              </a:rPr>
              <a:t>of</a:t>
            </a:r>
            <a:r>
              <a:rPr sz="2400" spc="-90" dirty="0">
                <a:latin typeface="Times New Roman"/>
                <a:cs typeface="Times New Roman"/>
              </a:rPr>
              <a:t> </a:t>
            </a:r>
            <a:r>
              <a:rPr sz="2400" spc="85" dirty="0">
                <a:latin typeface="Times New Roman"/>
                <a:cs typeface="Times New Roman"/>
              </a:rPr>
              <a:t>different</a:t>
            </a:r>
            <a:r>
              <a:rPr sz="2400" spc="-110" dirty="0">
                <a:latin typeface="Times New Roman"/>
                <a:cs typeface="Times New Roman"/>
              </a:rPr>
              <a:t> </a:t>
            </a:r>
            <a:r>
              <a:rPr sz="2400" spc="75" dirty="0">
                <a:latin typeface="Times New Roman"/>
                <a:cs typeface="Times New Roman"/>
              </a:rPr>
              <a:t>Relational</a:t>
            </a:r>
            <a:r>
              <a:rPr sz="2400" spc="-75" dirty="0">
                <a:latin typeface="Times New Roman"/>
                <a:cs typeface="Times New Roman"/>
              </a:rPr>
              <a:t> </a:t>
            </a:r>
            <a:r>
              <a:rPr sz="2400" spc="110" dirty="0">
                <a:latin typeface="Times New Roman"/>
                <a:cs typeface="Times New Roman"/>
              </a:rPr>
              <a:t>Operators</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pc="195" dirty="0"/>
              <a:t>Introduction</a:t>
            </a:r>
          </a:p>
        </p:txBody>
      </p:sp>
      <p:sp>
        <p:nvSpPr>
          <p:cNvPr id="3" name="object 3"/>
          <p:cNvSpPr txBox="1"/>
          <p:nvPr/>
        </p:nvSpPr>
        <p:spPr>
          <a:xfrm>
            <a:off x="126745" y="1139444"/>
            <a:ext cx="3709035" cy="2956560"/>
          </a:xfrm>
          <a:prstGeom prst="rect">
            <a:avLst/>
          </a:prstGeom>
        </p:spPr>
        <p:txBody>
          <a:bodyPr vert="horz" wrap="square" lIns="0" tIns="12065" rIns="0" bIns="0" rtlCol="0">
            <a:spAutoFit/>
          </a:bodyPr>
          <a:lstStyle/>
          <a:p>
            <a:pPr marL="353695" marR="5080" indent="-341630">
              <a:lnSpc>
                <a:spcPct val="100000"/>
              </a:lnSpc>
              <a:spcBef>
                <a:spcPts val="95"/>
              </a:spcBef>
              <a:buFont typeface="Segoe UI Symbol"/>
              <a:buChar char="⮚"/>
              <a:tabLst>
                <a:tab pos="354330" algn="l"/>
              </a:tabLst>
            </a:pPr>
            <a:r>
              <a:rPr sz="2000" spc="175" dirty="0">
                <a:latin typeface="Times New Roman"/>
                <a:cs typeface="Times New Roman"/>
              </a:rPr>
              <a:t>A </a:t>
            </a:r>
            <a:r>
              <a:rPr sz="2000" spc="80" dirty="0">
                <a:latin typeface="Times New Roman"/>
                <a:cs typeface="Times New Roman"/>
              </a:rPr>
              <a:t>data </a:t>
            </a:r>
            <a:r>
              <a:rPr sz="2000" spc="70" dirty="0">
                <a:latin typeface="Times New Roman"/>
                <a:cs typeface="Times New Roman"/>
              </a:rPr>
              <a:t>model </a:t>
            </a:r>
            <a:r>
              <a:rPr sz="2000" spc="5" dirty="0">
                <a:latin typeface="Times New Roman"/>
                <a:cs typeface="Times New Roman"/>
              </a:rPr>
              <a:t>is </a:t>
            </a:r>
            <a:r>
              <a:rPr sz="2000" spc="30" dirty="0">
                <a:latin typeface="Times New Roman"/>
                <a:cs typeface="Times New Roman"/>
              </a:rPr>
              <a:t>a </a:t>
            </a:r>
            <a:r>
              <a:rPr sz="2000" spc="80" dirty="0">
                <a:latin typeface="Times New Roman"/>
                <a:cs typeface="Times New Roman"/>
              </a:rPr>
              <a:t>group </a:t>
            </a:r>
            <a:r>
              <a:rPr sz="2000" spc="55" dirty="0">
                <a:latin typeface="Times New Roman"/>
                <a:cs typeface="Times New Roman"/>
              </a:rPr>
              <a:t>of  </a:t>
            </a:r>
            <a:r>
              <a:rPr sz="2000" spc="75" dirty="0">
                <a:latin typeface="Times New Roman"/>
                <a:cs typeface="Times New Roman"/>
              </a:rPr>
              <a:t>conceptual </a:t>
            </a:r>
            <a:r>
              <a:rPr sz="2000" spc="60" dirty="0">
                <a:latin typeface="Times New Roman"/>
                <a:cs typeface="Times New Roman"/>
              </a:rPr>
              <a:t>tools </a:t>
            </a:r>
            <a:r>
              <a:rPr sz="2000" spc="114" dirty="0">
                <a:latin typeface="Times New Roman"/>
                <a:cs typeface="Times New Roman"/>
              </a:rPr>
              <a:t>that</a:t>
            </a:r>
            <a:r>
              <a:rPr sz="2000" spc="-340" dirty="0">
                <a:latin typeface="Times New Roman"/>
                <a:cs typeface="Times New Roman"/>
              </a:rPr>
              <a:t> </a:t>
            </a:r>
            <a:r>
              <a:rPr sz="2000" spc="45" dirty="0">
                <a:latin typeface="Times New Roman"/>
                <a:cs typeface="Times New Roman"/>
              </a:rPr>
              <a:t>describes  </a:t>
            </a:r>
            <a:r>
              <a:rPr sz="2000" spc="60" dirty="0">
                <a:latin typeface="Times New Roman"/>
                <a:cs typeface="Times New Roman"/>
              </a:rPr>
              <a:t>data, </a:t>
            </a:r>
            <a:r>
              <a:rPr sz="2000" spc="45" dirty="0">
                <a:latin typeface="Times New Roman"/>
                <a:cs typeface="Times New Roman"/>
              </a:rPr>
              <a:t>its </a:t>
            </a:r>
            <a:r>
              <a:rPr sz="2000" spc="60" dirty="0">
                <a:latin typeface="Times New Roman"/>
                <a:cs typeface="Times New Roman"/>
              </a:rPr>
              <a:t>relationships, </a:t>
            </a:r>
            <a:r>
              <a:rPr sz="2000" spc="110" dirty="0">
                <a:latin typeface="Times New Roman"/>
                <a:cs typeface="Times New Roman"/>
              </a:rPr>
              <a:t>and  </a:t>
            </a:r>
            <a:r>
              <a:rPr sz="2000" spc="50" dirty="0">
                <a:latin typeface="Times New Roman"/>
                <a:cs typeface="Times New Roman"/>
              </a:rPr>
              <a:t>semantics.</a:t>
            </a:r>
            <a:endParaRPr sz="2000">
              <a:latin typeface="Times New Roman"/>
              <a:cs typeface="Times New Roman"/>
            </a:endParaRPr>
          </a:p>
          <a:p>
            <a:pPr marL="353695" marR="725170" indent="-341630">
              <a:lnSpc>
                <a:spcPts val="2500"/>
              </a:lnSpc>
              <a:buFont typeface="Segoe UI Symbol"/>
              <a:buChar char="⮚"/>
              <a:tabLst>
                <a:tab pos="354330" algn="l"/>
              </a:tabLst>
            </a:pPr>
            <a:r>
              <a:rPr sz="2000" spc="75" dirty="0">
                <a:latin typeface="Times New Roman"/>
                <a:cs typeface="Times New Roman"/>
              </a:rPr>
              <a:t>Some</a:t>
            </a:r>
            <a:r>
              <a:rPr sz="2000" spc="-80" dirty="0">
                <a:latin typeface="Times New Roman"/>
                <a:cs typeface="Times New Roman"/>
              </a:rPr>
              <a:t> </a:t>
            </a:r>
            <a:r>
              <a:rPr sz="2000" spc="55" dirty="0">
                <a:latin typeface="Times New Roman"/>
                <a:cs typeface="Times New Roman"/>
              </a:rPr>
              <a:t>of</a:t>
            </a:r>
            <a:r>
              <a:rPr sz="2000" spc="-90" dirty="0">
                <a:latin typeface="Times New Roman"/>
                <a:cs typeface="Times New Roman"/>
              </a:rPr>
              <a:t> </a:t>
            </a:r>
            <a:r>
              <a:rPr sz="2000" spc="110" dirty="0">
                <a:latin typeface="Times New Roman"/>
                <a:cs typeface="Times New Roman"/>
              </a:rPr>
              <a:t>the</a:t>
            </a:r>
            <a:r>
              <a:rPr sz="2000" spc="-75" dirty="0">
                <a:latin typeface="Times New Roman"/>
                <a:cs typeface="Times New Roman"/>
              </a:rPr>
              <a:t> </a:t>
            </a:r>
            <a:r>
              <a:rPr sz="2000" spc="80" dirty="0">
                <a:latin typeface="Times New Roman"/>
                <a:cs typeface="Times New Roman"/>
              </a:rPr>
              <a:t>Data</a:t>
            </a:r>
            <a:r>
              <a:rPr sz="2000" spc="-80" dirty="0">
                <a:latin typeface="Times New Roman"/>
                <a:cs typeface="Times New Roman"/>
              </a:rPr>
              <a:t> </a:t>
            </a:r>
            <a:r>
              <a:rPr sz="2000" spc="70" dirty="0">
                <a:latin typeface="Times New Roman"/>
                <a:cs typeface="Times New Roman"/>
              </a:rPr>
              <a:t>model  </a:t>
            </a:r>
            <a:r>
              <a:rPr sz="2000" spc="50" dirty="0">
                <a:latin typeface="Times New Roman"/>
                <a:cs typeface="Times New Roman"/>
              </a:rPr>
              <a:t>examples are </a:t>
            </a:r>
            <a:r>
              <a:rPr sz="2000" spc="20" dirty="0">
                <a:latin typeface="Times New Roman"/>
                <a:cs typeface="Times New Roman"/>
              </a:rPr>
              <a:t>as</a:t>
            </a:r>
            <a:r>
              <a:rPr sz="2000" spc="-315" dirty="0">
                <a:latin typeface="Times New Roman"/>
                <a:cs typeface="Times New Roman"/>
              </a:rPr>
              <a:t> </a:t>
            </a:r>
            <a:r>
              <a:rPr sz="2000" spc="25" dirty="0">
                <a:latin typeface="Times New Roman"/>
                <a:cs typeface="Times New Roman"/>
              </a:rPr>
              <a:t>follows:</a:t>
            </a:r>
            <a:endParaRPr sz="2000">
              <a:latin typeface="Times New Roman"/>
              <a:cs typeface="Times New Roman"/>
            </a:endParaRPr>
          </a:p>
          <a:p>
            <a:pPr marL="639445" lvl="1" indent="-286385">
              <a:lnSpc>
                <a:spcPts val="2000"/>
              </a:lnSpc>
              <a:buFont typeface="Arial"/>
              <a:buChar char="•"/>
              <a:tabLst>
                <a:tab pos="639445" algn="l"/>
                <a:tab pos="640080" algn="l"/>
              </a:tabLst>
            </a:pPr>
            <a:r>
              <a:rPr sz="1800" spc="60" dirty="0">
                <a:latin typeface="Times New Roman"/>
                <a:cs typeface="Times New Roman"/>
              </a:rPr>
              <a:t>Entity-Relationship</a:t>
            </a:r>
            <a:endParaRPr sz="1800">
              <a:latin typeface="Times New Roman"/>
              <a:cs typeface="Times New Roman"/>
            </a:endParaRPr>
          </a:p>
          <a:p>
            <a:pPr marL="639445" lvl="1" indent="-286385">
              <a:lnSpc>
                <a:spcPct val="100000"/>
              </a:lnSpc>
              <a:spcBef>
                <a:spcPts val="5"/>
              </a:spcBef>
              <a:buFont typeface="Arial"/>
              <a:buChar char="•"/>
              <a:tabLst>
                <a:tab pos="639445" algn="l"/>
                <a:tab pos="640080" algn="l"/>
              </a:tabLst>
            </a:pPr>
            <a:r>
              <a:rPr sz="1800" spc="55" dirty="0">
                <a:latin typeface="Times New Roman"/>
                <a:cs typeface="Times New Roman"/>
              </a:rPr>
              <a:t>Relational</a:t>
            </a:r>
            <a:endParaRPr sz="1800">
              <a:latin typeface="Times New Roman"/>
              <a:cs typeface="Times New Roman"/>
            </a:endParaRPr>
          </a:p>
          <a:p>
            <a:pPr marL="639445" lvl="1" indent="-286385">
              <a:lnSpc>
                <a:spcPct val="100000"/>
              </a:lnSpc>
              <a:buFont typeface="Arial"/>
              <a:buChar char="•"/>
              <a:tabLst>
                <a:tab pos="639445" algn="l"/>
                <a:tab pos="640080" algn="l"/>
              </a:tabLst>
            </a:pPr>
            <a:r>
              <a:rPr sz="1800" spc="80" dirty="0">
                <a:latin typeface="Times New Roman"/>
                <a:cs typeface="Times New Roman"/>
              </a:rPr>
              <a:t>Network</a:t>
            </a:r>
            <a:endParaRPr sz="1800">
              <a:latin typeface="Times New Roman"/>
              <a:cs typeface="Times New Roman"/>
            </a:endParaRPr>
          </a:p>
          <a:p>
            <a:pPr marL="639445" lvl="1" indent="-286385">
              <a:lnSpc>
                <a:spcPct val="100000"/>
              </a:lnSpc>
              <a:buFont typeface="Arial"/>
              <a:buChar char="•"/>
              <a:tabLst>
                <a:tab pos="639445" algn="l"/>
                <a:tab pos="640080" algn="l"/>
              </a:tabLst>
            </a:pPr>
            <a:r>
              <a:rPr sz="1800" spc="45" dirty="0">
                <a:latin typeface="Times New Roman"/>
                <a:cs typeface="Times New Roman"/>
              </a:rPr>
              <a:t>Hierarchical</a:t>
            </a:r>
            <a:r>
              <a:rPr sz="1800" spc="-75" dirty="0">
                <a:latin typeface="Times New Roman"/>
                <a:cs typeface="Times New Roman"/>
              </a:rPr>
              <a:t> </a:t>
            </a:r>
            <a:r>
              <a:rPr sz="1800" spc="55" dirty="0">
                <a:latin typeface="Times New Roman"/>
                <a:cs typeface="Times New Roman"/>
              </a:rPr>
              <a:t>models</a:t>
            </a:r>
            <a:endParaRPr sz="1800">
              <a:latin typeface="Times New Roman"/>
              <a:cs typeface="Times New Roman"/>
            </a:endParaRPr>
          </a:p>
        </p:txBody>
      </p:sp>
      <p:pic>
        <p:nvPicPr>
          <p:cNvPr id="4" name="object 4"/>
          <p:cNvPicPr/>
          <p:nvPr/>
        </p:nvPicPr>
        <p:blipFill>
          <a:blip r:embed="rId3" cstate="print"/>
          <a:stretch>
            <a:fillRect/>
          </a:stretch>
        </p:blipFill>
        <p:spPr>
          <a:xfrm>
            <a:off x="4121658" y="1156716"/>
            <a:ext cx="5022342" cy="4216908"/>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3</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282315" cy="635635"/>
          </a:xfrm>
          <a:prstGeom prst="rect">
            <a:avLst/>
          </a:prstGeom>
        </p:spPr>
        <p:txBody>
          <a:bodyPr vert="horz" wrap="square" lIns="0" tIns="12700" rIns="0" bIns="0" rtlCol="0">
            <a:spAutoFit/>
          </a:bodyPr>
          <a:lstStyle/>
          <a:p>
            <a:pPr marL="12700">
              <a:lnSpc>
                <a:spcPct val="100000"/>
              </a:lnSpc>
              <a:spcBef>
                <a:spcPts val="100"/>
              </a:spcBef>
            </a:pPr>
            <a:r>
              <a:rPr spc="165" dirty="0"/>
              <a:t>Data</a:t>
            </a:r>
            <a:r>
              <a:rPr spc="-220" dirty="0"/>
              <a:t> </a:t>
            </a:r>
            <a:r>
              <a:rPr spc="125" dirty="0"/>
              <a:t>Modeling</a:t>
            </a:r>
          </a:p>
        </p:txBody>
      </p:sp>
      <p:grpSp>
        <p:nvGrpSpPr>
          <p:cNvPr id="3" name="object 3"/>
          <p:cNvGrpSpPr/>
          <p:nvPr/>
        </p:nvGrpSpPr>
        <p:grpSpPr>
          <a:xfrm>
            <a:off x="233934" y="826020"/>
            <a:ext cx="8457565" cy="1188085"/>
            <a:chOff x="233934" y="826020"/>
            <a:chExt cx="8457565" cy="1188085"/>
          </a:xfrm>
        </p:grpSpPr>
        <p:pic>
          <p:nvPicPr>
            <p:cNvPr id="4" name="object 4"/>
            <p:cNvPicPr/>
            <p:nvPr/>
          </p:nvPicPr>
          <p:blipFill>
            <a:blip r:embed="rId3" cstate="print"/>
            <a:stretch>
              <a:fillRect/>
            </a:stretch>
          </p:blipFill>
          <p:spPr>
            <a:xfrm>
              <a:off x="233934" y="826020"/>
              <a:ext cx="8457438" cy="1187945"/>
            </a:xfrm>
            <a:prstGeom prst="rect">
              <a:avLst/>
            </a:prstGeom>
          </p:spPr>
        </p:pic>
        <p:pic>
          <p:nvPicPr>
            <p:cNvPr id="5" name="object 5"/>
            <p:cNvPicPr/>
            <p:nvPr/>
          </p:nvPicPr>
          <p:blipFill>
            <a:blip r:embed="rId4" cstate="print"/>
            <a:stretch>
              <a:fillRect/>
            </a:stretch>
          </p:blipFill>
          <p:spPr>
            <a:xfrm>
              <a:off x="275082" y="844296"/>
              <a:ext cx="8382000" cy="1112520"/>
            </a:xfrm>
            <a:prstGeom prst="rect">
              <a:avLst/>
            </a:prstGeom>
          </p:spPr>
        </p:pic>
      </p:grpSp>
      <p:grpSp>
        <p:nvGrpSpPr>
          <p:cNvPr id="6" name="object 6"/>
          <p:cNvGrpSpPr/>
          <p:nvPr/>
        </p:nvGrpSpPr>
        <p:grpSpPr>
          <a:xfrm>
            <a:off x="339852" y="2115324"/>
            <a:ext cx="6019165" cy="913765"/>
            <a:chOff x="339852" y="2115324"/>
            <a:chExt cx="6019165" cy="913765"/>
          </a:xfrm>
        </p:grpSpPr>
        <p:pic>
          <p:nvPicPr>
            <p:cNvPr id="7" name="object 7"/>
            <p:cNvPicPr/>
            <p:nvPr/>
          </p:nvPicPr>
          <p:blipFill>
            <a:blip r:embed="rId5" cstate="print"/>
            <a:stretch>
              <a:fillRect/>
            </a:stretch>
          </p:blipFill>
          <p:spPr>
            <a:xfrm>
              <a:off x="339852" y="2115324"/>
              <a:ext cx="6019038" cy="913625"/>
            </a:xfrm>
            <a:prstGeom prst="rect">
              <a:avLst/>
            </a:prstGeom>
          </p:spPr>
        </p:pic>
        <p:pic>
          <p:nvPicPr>
            <p:cNvPr id="8" name="object 8"/>
            <p:cNvPicPr/>
            <p:nvPr/>
          </p:nvPicPr>
          <p:blipFill>
            <a:blip r:embed="rId6" cstate="print"/>
            <a:stretch>
              <a:fillRect/>
            </a:stretch>
          </p:blipFill>
          <p:spPr>
            <a:xfrm>
              <a:off x="381000" y="2133600"/>
              <a:ext cx="5943600" cy="838200"/>
            </a:xfrm>
            <a:prstGeom prst="rect">
              <a:avLst/>
            </a:prstGeom>
          </p:spPr>
        </p:pic>
      </p:grpSp>
      <p:grpSp>
        <p:nvGrpSpPr>
          <p:cNvPr id="9" name="object 9"/>
          <p:cNvGrpSpPr/>
          <p:nvPr/>
        </p:nvGrpSpPr>
        <p:grpSpPr>
          <a:xfrm>
            <a:off x="339852" y="3182111"/>
            <a:ext cx="5790565" cy="1370965"/>
            <a:chOff x="339852" y="3182111"/>
            <a:chExt cx="5790565" cy="1370965"/>
          </a:xfrm>
        </p:grpSpPr>
        <p:pic>
          <p:nvPicPr>
            <p:cNvPr id="10" name="object 10"/>
            <p:cNvPicPr/>
            <p:nvPr/>
          </p:nvPicPr>
          <p:blipFill>
            <a:blip r:embed="rId7" cstate="print"/>
            <a:stretch>
              <a:fillRect/>
            </a:stretch>
          </p:blipFill>
          <p:spPr>
            <a:xfrm>
              <a:off x="339852" y="3182111"/>
              <a:ext cx="5790438" cy="1370838"/>
            </a:xfrm>
            <a:prstGeom prst="rect">
              <a:avLst/>
            </a:prstGeom>
          </p:spPr>
        </p:pic>
        <p:pic>
          <p:nvPicPr>
            <p:cNvPr id="11" name="object 11"/>
            <p:cNvPicPr/>
            <p:nvPr/>
          </p:nvPicPr>
          <p:blipFill>
            <a:blip r:embed="rId8" cstate="print"/>
            <a:stretch>
              <a:fillRect/>
            </a:stretch>
          </p:blipFill>
          <p:spPr>
            <a:xfrm>
              <a:off x="381000" y="3200399"/>
              <a:ext cx="5715000" cy="1295400"/>
            </a:xfrm>
            <a:prstGeom prst="rect">
              <a:avLst/>
            </a:prstGeom>
          </p:spPr>
        </p:pic>
      </p:grpSp>
      <p:sp>
        <p:nvSpPr>
          <p:cNvPr id="12" name="object 12"/>
          <p:cNvSpPr txBox="1"/>
          <p:nvPr/>
        </p:nvSpPr>
        <p:spPr>
          <a:xfrm>
            <a:off x="410463" y="971041"/>
            <a:ext cx="7433945" cy="3333115"/>
          </a:xfrm>
          <a:prstGeom prst="rect">
            <a:avLst/>
          </a:prstGeom>
        </p:spPr>
        <p:txBody>
          <a:bodyPr vert="horz" wrap="square" lIns="0" tIns="53975" rIns="0" bIns="0" rtlCol="0">
            <a:spAutoFit/>
          </a:bodyPr>
          <a:lstStyle/>
          <a:p>
            <a:pPr marL="12700" marR="5080">
              <a:lnSpc>
                <a:spcPts val="2590"/>
              </a:lnSpc>
              <a:spcBef>
                <a:spcPts val="425"/>
              </a:spcBef>
            </a:pPr>
            <a:r>
              <a:rPr sz="2400" spc="160" dirty="0">
                <a:solidFill>
                  <a:srgbClr val="FFFFFF"/>
                </a:solidFill>
                <a:latin typeface="Times New Roman"/>
                <a:cs typeface="Times New Roman"/>
              </a:rPr>
              <a:t>The</a:t>
            </a:r>
            <a:r>
              <a:rPr sz="2400" spc="-90" dirty="0">
                <a:solidFill>
                  <a:srgbClr val="FFFFFF"/>
                </a:solidFill>
                <a:latin typeface="Times New Roman"/>
                <a:cs typeface="Times New Roman"/>
              </a:rPr>
              <a:t> </a:t>
            </a:r>
            <a:r>
              <a:rPr sz="2400" spc="60" dirty="0">
                <a:solidFill>
                  <a:srgbClr val="FFFFFF"/>
                </a:solidFill>
                <a:latin typeface="Times New Roman"/>
                <a:cs typeface="Times New Roman"/>
              </a:rPr>
              <a:t>process</a:t>
            </a:r>
            <a:r>
              <a:rPr sz="2400" spc="-85" dirty="0">
                <a:solidFill>
                  <a:srgbClr val="FFFFFF"/>
                </a:solidFill>
                <a:latin typeface="Times New Roman"/>
                <a:cs typeface="Times New Roman"/>
              </a:rPr>
              <a:t> </a:t>
            </a:r>
            <a:r>
              <a:rPr sz="2400" spc="70" dirty="0">
                <a:solidFill>
                  <a:srgbClr val="FFFFFF"/>
                </a:solidFill>
                <a:latin typeface="Times New Roman"/>
                <a:cs typeface="Times New Roman"/>
              </a:rPr>
              <a:t>of</a:t>
            </a:r>
            <a:r>
              <a:rPr sz="2400" spc="-100" dirty="0">
                <a:solidFill>
                  <a:srgbClr val="FFFFFF"/>
                </a:solidFill>
                <a:latin typeface="Times New Roman"/>
                <a:cs typeface="Times New Roman"/>
              </a:rPr>
              <a:t> </a:t>
            </a:r>
            <a:r>
              <a:rPr sz="2400" spc="60" dirty="0">
                <a:solidFill>
                  <a:srgbClr val="FFFFFF"/>
                </a:solidFill>
                <a:latin typeface="Times New Roman"/>
                <a:cs typeface="Times New Roman"/>
              </a:rPr>
              <a:t>applying</a:t>
            </a:r>
            <a:r>
              <a:rPr sz="2400" spc="-65" dirty="0">
                <a:solidFill>
                  <a:srgbClr val="FFFFFF"/>
                </a:solidFill>
                <a:latin typeface="Times New Roman"/>
                <a:cs typeface="Times New Roman"/>
              </a:rPr>
              <a:t> </a:t>
            </a:r>
            <a:r>
              <a:rPr sz="2400" spc="125" dirty="0">
                <a:solidFill>
                  <a:srgbClr val="FFFFFF"/>
                </a:solidFill>
                <a:latin typeface="Times New Roman"/>
                <a:cs typeface="Times New Roman"/>
              </a:rPr>
              <a:t>an</a:t>
            </a:r>
            <a:r>
              <a:rPr sz="2400" spc="-90" dirty="0">
                <a:solidFill>
                  <a:srgbClr val="FFFFFF"/>
                </a:solidFill>
                <a:latin typeface="Times New Roman"/>
                <a:cs typeface="Times New Roman"/>
              </a:rPr>
              <a:t> </a:t>
            </a:r>
            <a:r>
              <a:rPr sz="2400" spc="90" dirty="0">
                <a:solidFill>
                  <a:srgbClr val="FFFFFF"/>
                </a:solidFill>
                <a:latin typeface="Times New Roman"/>
                <a:cs typeface="Times New Roman"/>
              </a:rPr>
              <a:t>appropriate</a:t>
            </a:r>
            <a:r>
              <a:rPr sz="2400" spc="-60" dirty="0">
                <a:solidFill>
                  <a:srgbClr val="FFFFFF"/>
                </a:solidFill>
                <a:latin typeface="Times New Roman"/>
                <a:cs typeface="Times New Roman"/>
              </a:rPr>
              <a:t> </a:t>
            </a:r>
            <a:r>
              <a:rPr sz="2400" spc="95" dirty="0">
                <a:solidFill>
                  <a:srgbClr val="FFFFFF"/>
                </a:solidFill>
                <a:latin typeface="Times New Roman"/>
                <a:cs typeface="Times New Roman"/>
              </a:rPr>
              <a:t>data</a:t>
            </a:r>
            <a:r>
              <a:rPr sz="2400" spc="-75" dirty="0">
                <a:solidFill>
                  <a:srgbClr val="FFFFFF"/>
                </a:solidFill>
                <a:latin typeface="Times New Roman"/>
                <a:cs typeface="Times New Roman"/>
              </a:rPr>
              <a:t> </a:t>
            </a:r>
            <a:r>
              <a:rPr sz="2400" spc="85" dirty="0">
                <a:solidFill>
                  <a:srgbClr val="FFFFFF"/>
                </a:solidFill>
                <a:latin typeface="Times New Roman"/>
                <a:cs typeface="Times New Roman"/>
              </a:rPr>
              <a:t>model</a:t>
            </a:r>
            <a:r>
              <a:rPr sz="2400" spc="-85"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85" dirty="0">
                <a:solidFill>
                  <a:srgbClr val="FFFFFF"/>
                </a:solidFill>
                <a:latin typeface="Times New Roman"/>
                <a:cs typeface="Times New Roman"/>
              </a:rPr>
              <a:t> </a:t>
            </a:r>
            <a:r>
              <a:rPr sz="2400" spc="135" dirty="0">
                <a:solidFill>
                  <a:srgbClr val="FFFFFF"/>
                </a:solidFill>
                <a:latin typeface="Times New Roman"/>
                <a:cs typeface="Times New Roman"/>
              </a:rPr>
              <a:t>the  </a:t>
            </a:r>
            <a:r>
              <a:rPr sz="2400" spc="75" dirty="0">
                <a:solidFill>
                  <a:srgbClr val="FFFFFF"/>
                </a:solidFill>
                <a:latin typeface="Times New Roman"/>
                <a:cs typeface="Times New Roman"/>
              </a:rPr>
              <a:t>data,</a:t>
            </a:r>
            <a:r>
              <a:rPr sz="2400" spc="-80"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90" dirty="0">
                <a:solidFill>
                  <a:srgbClr val="FFFFFF"/>
                </a:solidFill>
                <a:latin typeface="Times New Roman"/>
                <a:cs typeface="Times New Roman"/>
              </a:rPr>
              <a:t> </a:t>
            </a:r>
            <a:r>
              <a:rPr sz="2400" spc="100" dirty="0">
                <a:solidFill>
                  <a:srgbClr val="FFFFFF"/>
                </a:solidFill>
                <a:latin typeface="Times New Roman"/>
                <a:cs typeface="Times New Roman"/>
              </a:rPr>
              <a:t>order</a:t>
            </a:r>
            <a:r>
              <a:rPr sz="2400" spc="-100"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90" dirty="0">
                <a:solidFill>
                  <a:srgbClr val="FFFFFF"/>
                </a:solidFill>
                <a:latin typeface="Times New Roman"/>
                <a:cs typeface="Times New Roman"/>
              </a:rPr>
              <a:t> </a:t>
            </a:r>
            <a:r>
              <a:rPr sz="2400" spc="40" dirty="0">
                <a:solidFill>
                  <a:srgbClr val="FFFFFF"/>
                </a:solidFill>
                <a:latin typeface="Times New Roman"/>
                <a:cs typeface="Times New Roman"/>
              </a:rPr>
              <a:t>organize</a:t>
            </a:r>
            <a:r>
              <a:rPr sz="2400" spc="-80" dirty="0">
                <a:solidFill>
                  <a:srgbClr val="FFFFFF"/>
                </a:solidFill>
                <a:latin typeface="Times New Roman"/>
                <a:cs typeface="Times New Roman"/>
              </a:rPr>
              <a:t> </a:t>
            </a:r>
            <a:r>
              <a:rPr sz="2400" spc="135" dirty="0">
                <a:solidFill>
                  <a:srgbClr val="FFFFFF"/>
                </a:solidFill>
                <a:latin typeface="Times New Roman"/>
                <a:cs typeface="Times New Roman"/>
              </a:rPr>
              <a:t>and</a:t>
            </a:r>
            <a:r>
              <a:rPr sz="2400" spc="-90" dirty="0">
                <a:solidFill>
                  <a:srgbClr val="FFFFFF"/>
                </a:solidFill>
                <a:latin typeface="Times New Roman"/>
                <a:cs typeface="Times New Roman"/>
              </a:rPr>
              <a:t> </a:t>
            </a:r>
            <a:r>
              <a:rPr sz="2400" spc="105" dirty="0">
                <a:solidFill>
                  <a:srgbClr val="FFFFFF"/>
                </a:solidFill>
                <a:latin typeface="Times New Roman"/>
                <a:cs typeface="Times New Roman"/>
              </a:rPr>
              <a:t>structure</a:t>
            </a:r>
            <a:r>
              <a:rPr sz="2400" spc="-90" dirty="0">
                <a:solidFill>
                  <a:srgbClr val="FFFFFF"/>
                </a:solidFill>
                <a:latin typeface="Times New Roman"/>
                <a:cs typeface="Times New Roman"/>
              </a:rPr>
              <a:t> </a:t>
            </a:r>
            <a:r>
              <a:rPr sz="2400" spc="55" dirty="0">
                <a:solidFill>
                  <a:srgbClr val="FFFFFF"/>
                </a:solidFill>
                <a:latin typeface="Times New Roman"/>
                <a:cs typeface="Times New Roman"/>
              </a:rPr>
              <a:t>it.</a:t>
            </a:r>
            <a:endParaRPr sz="2400">
              <a:latin typeface="Times New Roman"/>
              <a:cs typeface="Times New Roman"/>
            </a:endParaRPr>
          </a:p>
          <a:p>
            <a:pPr>
              <a:lnSpc>
                <a:spcPct val="100000"/>
              </a:lnSpc>
              <a:spcBef>
                <a:spcPts val="5"/>
              </a:spcBef>
            </a:pPr>
            <a:endParaRPr sz="3300">
              <a:latin typeface="Times New Roman"/>
              <a:cs typeface="Times New Roman"/>
            </a:endParaRPr>
          </a:p>
          <a:p>
            <a:pPr marL="100965" marR="2043430">
              <a:lnSpc>
                <a:spcPts val="2710"/>
              </a:lnSpc>
            </a:pPr>
            <a:r>
              <a:rPr sz="2400" spc="50" dirty="0">
                <a:solidFill>
                  <a:srgbClr val="FFFFFF"/>
                </a:solidFill>
                <a:latin typeface="Times New Roman"/>
                <a:cs typeface="Times New Roman"/>
              </a:rPr>
              <a:t>Its</a:t>
            </a:r>
            <a:r>
              <a:rPr sz="2400" spc="-100" dirty="0">
                <a:solidFill>
                  <a:srgbClr val="FFFFFF"/>
                </a:solidFill>
                <a:latin typeface="Times New Roman"/>
                <a:cs typeface="Times New Roman"/>
              </a:rPr>
              <a:t> </a:t>
            </a:r>
            <a:r>
              <a:rPr sz="2400" spc="25" dirty="0">
                <a:solidFill>
                  <a:srgbClr val="FFFFFF"/>
                </a:solidFill>
                <a:latin typeface="Times New Roman"/>
                <a:cs typeface="Times New Roman"/>
              </a:rPr>
              <a:t>as</a:t>
            </a:r>
            <a:r>
              <a:rPr sz="2400" spc="-95" dirty="0">
                <a:solidFill>
                  <a:srgbClr val="FFFFFF"/>
                </a:solidFill>
                <a:latin typeface="Times New Roman"/>
                <a:cs typeface="Times New Roman"/>
              </a:rPr>
              <a:t> </a:t>
            </a:r>
            <a:r>
              <a:rPr sz="2400" spc="60" dirty="0">
                <a:solidFill>
                  <a:srgbClr val="FFFFFF"/>
                </a:solidFill>
                <a:latin typeface="Times New Roman"/>
                <a:cs typeface="Times New Roman"/>
              </a:rPr>
              <a:t>essential</a:t>
            </a:r>
            <a:r>
              <a:rPr sz="2400" spc="-90" dirty="0">
                <a:solidFill>
                  <a:srgbClr val="FFFFFF"/>
                </a:solidFill>
                <a:latin typeface="Times New Roman"/>
                <a:cs typeface="Times New Roman"/>
              </a:rPr>
              <a:t> </a:t>
            </a:r>
            <a:r>
              <a:rPr sz="2400" spc="25" dirty="0">
                <a:solidFill>
                  <a:srgbClr val="FFFFFF"/>
                </a:solidFill>
                <a:latin typeface="Times New Roman"/>
                <a:cs typeface="Times New Roman"/>
              </a:rPr>
              <a:t>as</a:t>
            </a:r>
            <a:r>
              <a:rPr sz="2400" spc="-95" dirty="0">
                <a:solidFill>
                  <a:srgbClr val="FFFFFF"/>
                </a:solidFill>
                <a:latin typeface="Times New Roman"/>
                <a:cs typeface="Times New Roman"/>
              </a:rPr>
              <a:t> </a:t>
            </a:r>
            <a:r>
              <a:rPr sz="2400" spc="100" dirty="0">
                <a:solidFill>
                  <a:srgbClr val="FFFFFF"/>
                </a:solidFill>
                <a:latin typeface="Times New Roman"/>
                <a:cs typeface="Times New Roman"/>
              </a:rPr>
              <a:t>planning</a:t>
            </a:r>
            <a:r>
              <a:rPr sz="2400" spc="-90" dirty="0">
                <a:solidFill>
                  <a:srgbClr val="FFFFFF"/>
                </a:solidFill>
                <a:latin typeface="Times New Roman"/>
                <a:cs typeface="Times New Roman"/>
              </a:rPr>
              <a:t> </a:t>
            </a:r>
            <a:r>
              <a:rPr sz="2400" spc="135" dirty="0">
                <a:solidFill>
                  <a:srgbClr val="FFFFFF"/>
                </a:solidFill>
                <a:latin typeface="Times New Roman"/>
                <a:cs typeface="Times New Roman"/>
              </a:rPr>
              <a:t>and</a:t>
            </a:r>
            <a:r>
              <a:rPr sz="2400" spc="-95" dirty="0">
                <a:solidFill>
                  <a:srgbClr val="FFFFFF"/>
                </a:solidFill>
                <a:latin typeface="Times New Roman"/>
                <a:cs typeface="Times New Roman"/>
              </a:rPr>
              <a:t> </a:t>
            </a:r>
            <a:r>
              <a:rPr sz="2400" spc="65" dirty="0">
                <a:solidFill>
                  <a:srgbClr val="FFFFFF"/>
                </a:solidFill>
                <a:latin typeface="Times New Roman"/>
                <a:cs typeface="Times New Roman"/>
              </a:rPr>
              <a:t>designing  are </a:t>
            </a:r>
            <a:r>
              <a:rPr sz="2400" spc="130" dirty="0">
                <a:solidFill>
                  <a:srgbClr val="FFFFFF"/>
                </a:solidFill>
                <a:latin typeface="Times New Roman"/>
                <a:cs typeface="Times New Roman"/>
              </a:rPr>
              <a:t>to</a:t>
            </a:r>
            <a:r>
              <a:rPr sz="2400" spc="-415" dirty="0">
                <a:solidFill>
                  <a:srgbClr val="FFFFFF"/>
                </a:solidFill>
                <a:latin typeface="Times New Roman"/>
                <a:cs typeface="Times New Roman"/>
              </a:rPr>
              <a:t> </a:t>
            </a:r>
            <a:r>
              <a:rPr sz="2400" spc="80" dirty="0">
                <a:solidFill>
                  <a:srgbClr val="FFFFFF"/>
                </a:solidFill>
                <a:latin typeface="Times New Roman"/>
                <a:cs typeface="Times New Roman"/>
              </a:rPr>
              <a:t>any </a:t>
            </a:r>
            <a:r>
              <a:rPr sz="2400" spc="70" dirty="0">
                <a:solidFill>
                  <a:srgbClr val="FFFFFF"/>
                </a:solidFill>
                <a:latin typeface="Times New Roman"/>
                <a:cs typeface="Times New Roman"/>
              </a:rPr>
              <a:t>project.</a:t>
            </a:r>
            <a:endParaRPr sz="2400">
              <a:latin typeface="Times New Roman"/>
              <a:cs typeface="Times New Roman"/>
            </a:endParaRPr>
          </a:p>
          <a:p>
            <a:pPr>
              <a:lnSpc>
                <a:spcPct val="100000"/>
              </a:lnSpc>
              <a:spcBef>
                <a:spcPts val="15"/>
              </a:spcBef>
            </a:pPr>
            <a:endParaRPr sz="3100">
              <a:latin typeface="Times New Roman"/>
              <a:cs typeface="Times New Roman"/>
            </a:endParaRPr>
          </a:p>
          <a:p>
            <a:pPr marL="95250" marR="1979295" algn="just">
              <a:lnSpc>
                <a:spcPts val="2590"/>
              </a:lnSpc>
            </a:pPr>
            <a:r>
              <a:rPr sz="2400" spc="55" dirty="0">
                <a:solidFill>
                  <a:srgbClr val="FFFFFF"/>
                </a:solidFill>
                <a:latin typeface="Times New Roman"/>
                <a:cs typeface="Times New Roman"/>
              </a:rPr>
              <a:t>Building</a:t>
            </a:r>
            <a:r>
              <a:rPr sz="2400" spc="-8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85" dirty="0">
                <a:solidFill>
                  <a:srgbClr val="FFFFFF"/>
                </a:solidFill>
                <a:latin typeface="Times New Roman"/>
                <a:cs typeface="Times New Roman"/>
              </a:rPr>
              <a:t> </a:t>
            </a:r>
            <a:r>
              <a:rPr sz="2400" spc="75" dirty="0">
                <a:solidFill>
                  <a:srgbClr val="FFFFFF"/>
                </a:solidFill>
                <a:latin typeface="Times New Roman"/>
                <a:cs typeface="Times New Roman"/>
              </a:rPr>
              <a:t>database</a:t>
            </a:r>
            <a:r>
              <a:rPr sz="2400" spc="-100" dirty="0">
                <a:solidFill>
                  <a:srgbClr val="FFFFFF"/>
                </a:solidFill>
                <a:latin typeface="Times New Roman"/>
                <a:cs typeface="Times New Roman"/>
              </a:rPr>
              <a:t> </a:t>
            </a:r>
            <a:r>
              <a:rPr sz="2400" spc="125" dirty="0">
                <a:solidFill>
                  <a:srgbClr val="FFFFFF"/>
                </a:solidFill>
                <a:latin typeface="Times New Roman"/>
                <a:cs typeface="Times New Roman"/>
              </a:rPr>
              <a:t>without</a:t>
            </a:r>
            <a:r>
              <a:rPr sz="2400" spc="-6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95" dirty="0">
                <a:solidFill>
                  <a:srgbClr val="FFFFFF"/>
                </a:solidFill>
                <a:latin typeface="Times New Roman"/>
                <a:cs typeface="Times New Roman"/>
              </a:rPr>
              <a:t> </a:t>
            </a:r>
            <a:r>
              <a:rPr sz="2400" spc="95" dirty="0">
                <a:solidFill>
                  <a:srgbClr val="FFFFFF"/>
                </a:solidFill>
                <a:latin typeface="Times New Roman"/>
                <a:cs typeface="Times New Roman"/>
              </a:rPr>
              <a:t>data</a:t>
            </a:r>
            <a:r>
              <a:rPr sz="2400" spc="-75" dirty="0">
                <a:solidFill>
                  <a:srgbClr val="FFFFFF"/>
                </a:solidFill>
                <a:latin typeface="Times New Roman"/>
                <a:cs typeface="Times New Roman"/>
              </a:rPr>
              <a:t> </a:t>
            </a:r>
            <a:r>
              <a:rPr sz="2400" spc="85" dirty="0">
                <a:solidFill>
                  <a:srgbClr val="FFFFFF"/>
                </a:solidFill>
                <a:latin typeface="Times New Roman"/>
                <a:cs typeface="Times New Roman"/>
              </a:rPr>
              <a:t>model  </a:t>
            </a:r>
            <a:r>
              <a:rPr sz="2400" spc="10" dirty="0">
                <a:solidFill>
                  <a:srgbClr val="FFFFFF"/>
                </a:solidFill>
                <a:latin typeface="Times New Roman"/>
                <a:cs typeface="Times New Roman"/>
              </a:rPr>
              <a:t>is</a:t>
            </a:r>
            <a:r>
              <a:rPr sz="2400" spc="-90" dirty="0">
                <a:solidFill>
                  <a:srgbClr val="FFFFFF"/>
                </a:solidFill>
                <a:latin typeface="Times New Roman"/>
                <a:cs typeface="Times New Roman"/>
              </a:rPr>
              <a:t> </a:t>
            </a:r>
            <a:r>
              <a:rPr sz="2400" spc="40" dirty="0">
                <a:solidFill>
                  <a:srgbClr val="FFFFFF"/>
                </a:solidFill>
                <a:latin typeface="Times New Roman"/>
                <a:cs typeface="Times New Roman"/>
              </a:rPr>
              <a:t>similar</a:t>
            </a:r>
            <a:r>
              <a:rPr sz="2400" spc="-80"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90" dirty="0">
                <a:solidFill>
                  <a:srgbClr val="FFFFFF"/>
                </a:solidFill>
                <a:latin typeface="Times New Roman"/>
                <a:cs typeface="Times New Roman"/>
              </a:rPr>
              <a:t> </a:t>
            </a:r>
            <a:r>
              <a:rPr sz="2400" spc="75" dirty="0">
                <a:solidFill>
                  <a:srgbClr val="FFFFFF"/>
                </a:solidFill>
                <a:latin typeface="Times New Roman"/>
                <a:cs typeface="Times New Roman"/>
              </a:rPr>
              <a:t>developing</a:t>
            </a:r>
            <a:r>
              <a:rPr sz="2400" spc="-95"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90" dirty="0">
                <a:solidFill>
                  <a:srgbClr val="FFFFFF"/>
                </a:solidFill>
                <a:latin typeface="Times New Roman"/>
                <a:cs typeface="Times New Roman"/>
              </a:rPr>
              <a:t> </a:t>
            </a:r>
            <a:r>
              <a:rPr sz="2400" spc="80" dirty="0">
                <a:solidFill>
                  <a:srgbClr val="FFFFFF"/>
                </a:solidFill>
                <a:latin typeface="Times New Roman"/>
                <a:cs typeface="Times New Roman"/>
              </a:rPr>
              <a:t>project</a:t>
            </a:r>
            <a:r>
              <a:rPr sz="2400" spc="-80" dirty="0">
                <a:solidFill>
                  <a:srgbClr val="FFFFFF"/>
                </a:solidFill>
                <a:latin typeface="Times New Roman"/>
                <a:cs typeface="Times New Roman"/>
              </a:rPr>
              <a:t> </a:t>
            </a:r>
            <a:r>
              <a:rPr sz="2400" spc="125" dirty="0">
                <a:solidFill>
                  <a:srgbClr val="FFFFFF"/>
                </a:solidFill>
                <a:latin typeface="Times New Roman"/>
                <a:cs typeface="Times New Roman"/>
              </a:rPr>
              <a:t>without  </a:t>
            </a:r>
            <a:r>
              <a:rPr sz="2400" spc="55" dirty="0">
                <a:solidFill>
                  <a:srgbClr val="FFFFFF"/>
                </a:solidFill>
                <a:latin typeface="Times New Roman"/>
                <a:cs typeface="Times New Roman"/>
              </a:rPr>
              <a:t>its </a:t>
            </a:r>
            <a:r>
              <a:rPr sz="2400" spc="80" dirty="0">
                <a:solidFill>
                  <a:srgbClr val="FFFFFF"/>
                </a:solidFill>
                <a:latin typeface="Times New Roman"/>
                <a:cs typeface="Times New Roman"/>
              </a:rPr>
              <a:t>plans </a:t>
            </a:r>
            <a:r>
              <a:rPr sz="2400" spc="135" dirty="0">
                <a:solidFill>
                  <a:srgbClr val="FFFFFF"/>
                </a:solidFill>
                <a:latin typeface="Times New Roman"/>
                <a:cs typeface="Times New Roman"/>
              </a:rPr>
              <a:t>and</a:t>
            </a:r>
            <a:r>
              <a:rPr sz="2400" spc="-409" dirty="0">
                <a:solidFill>
                  <a:srgbClr val="FFFFFF"/>
                </a:solidFill>
                <a:latin typeface="Times New Roman"/>
                <a:cs typeface="Times New Roman"/>
              </a:rPr>
              <a:t> </a:t>
            </a:r>
            <a:r>
              <a:rPr sz="2400" spc="60" dirty="0">
                <a:solidFill>
                  <a:srgbClr val="FFFFFF"/>
                </a:solidFill>
                <a:latin typeface="Times New Roman"/>
                <a:cs typeface="Times New Roman"/>
              </a:rPr>
              <a:t>design.</a:t>
            </a:r>
            <a:endParaRPr sz="2400">
              <a:latin typeface="Times New Roman"/>
              <a:cs typeface="Times New Roman"/>
            </a:endParaRPr>
          </a:p>
        </p:txBody>
      </p:sp>
      <p:sp>
        <p:nvSpPr>
          <p:cNvPr id="13" name="object 13"/>
          <p:cNvSpPr/>
          <p:nvPr/>
        </p:nvSpPr>
        <p:spPr>
          <a:xfrm>
            <a:off x="441198" y="5334000"/>
            <a:ext cx="4131310" cy="1216660"/>
          </a:xfrm>
          <a:custGeom>
            <a:avLst/>
            <a:gdLst/>
            <a:ahLst/>
            <a:cxnLst/>
            <a:rect l="l" t="t" r="r" b="b"/>
            <a:pathLst>
              <a:path w="4131310" h="1216659">
                <a:moveTo>
                  <a:pt x="3098038" y="0"/>
                </a:moveTo>
                <a:lnTo>
                  <a:pt x="3020980" y="333"/>
                </a:lnTo>
                <a:lnTo>
                  <a:pt x="2945460" y="1319"/>
                </a:lnTo>
                <a:lnTo>
                  <a:pt x="2871676" y="2933"/>
                </a:lnTo>
                <a:lnTo>
                  <a:pt x="2799827" y="5152"/>
                </a:lnTo>
                <a:lnTo>
                  <a:pt x="2730115" y="7952"/>
                </a:lnTo>
                <a:lnTo>
                  <a:pt x="2662738" y="11309"/>
                </a:lnTo>
                <a:lnTo>
                  <a:pt x="2597897" y="15201"/>
                </a:lnTo>
                <a:lnTo>
                  <a:pt x="2535791" y="19603"/>
                </a:lnTo>
                <a:lnTo>
                  <a:pt x="2476620" y="24493"/>
                </a:lnTo>
                <a:lnTo>
                  <a:pt x="2420584" y="29846"/>
                </a:lnTo>
                <a:lnTo>
                  <a:pt x="2367883" y="35639"/>
                </a:lnTo>
                <a:lnTo>
                  <a:pt x="2318716" y="41848"/>
                </a:lnTo>
                <a:lnTo>
                  <a:pt x="2273283" y="48450"/>
                </a:lnTo>
                <a:lnTo>
                  <a:pt x="2231785" y="55422"/>
                </a:lnTo>
                <a:lnTo>
                  <a:pt x="2161389" y="70379"/>
                </a:lnTo>
                <a:lnTo>
                  <a:pt x="2109128" y="86531"/>
                </a:lnTo>
                <a:lnTo>
                  <a:pt x="2068233" y="112587"/>
                </a:lnTo>
                <a:lnTo>
                  <a:pt x="2062568" y="130728"/>
                </a:lnTo>
                <a:lnTo>
                  <a:pt x="2054202" y="139610"/>
                </a:lnTo>
                <a:lnTo>
                  <a:pt x="1997908" y="164945"/>
                </a:lnTo>
                <a:lnTo>
                  <a:pt x="1936377" y="180505"/>
                </a:lnTo>
                <a:lnTo>
                  <a:pt x="1857509" y="194780"/>
                </a:lnTo>
                <a:lnTo>
                  <a:pt x="1812073" y="201376"/>
                </a:lnTo>
                <a:lnTo>
                  <a:pt x="1762902" y="207581"/>
                </a:lnTo>
                <a:lnTo>
                  <a:pt x="1710196" y="213370"/>
                </a:lnTo>
                <a:lnTo>
                  <a:pt x="1654155" y="218720"/>
                </a:lnTo>
                <a:lnTo>
                  <a:pt x="1594977" y="223607"/>
                </a:lnTo>
                <a:lnTo>
                  <a:pt x="1532864" y="228007"/>
                </a:lnTo>
                <a:lnTo>
                  <a:pt x="1468014" y="231897"/>
                </a:lnTo>
                <a:lnTo>
                  <a:pt x="1400627" y="235254"/>
                </a:lnTo>
                <a:lnTo>
                  <a:pt x="1330904" y="238053"/>
                </a:lnTo>
                <a:lnTo>
                  <a:pt x="1259044" y="240271"/>
                </a:lnTo>
                <a:lnTo>
                  <a:pt x="1185246" y="241885"/>
                </a:lnTo>
                <a:lnTo>
                  <a:pt x="1109710" y="242871"/>
                </a:lnTo>
                <a:lnTo>
                  <a:pt x="1032637" y="243204"/>
                </a:lnTo>
                <a:lnTo>
                  <a:pt x="955573" y="242871"/>
                </a:lnTo>
                <a:lnTo>
                  <a:pt x="880047" y="241885"/>
                </a:lnTo>
                <a:lnTo>
                  <a:pt x="806259" y="240271"/>
                </a:lnTo>
                <a:lnTo>
                  <a:pt x="734408" y="238053"/>
                </a:lnTo>
                <a:lnTo>
                  <a:pt x="664693" y="235254"/>
                </a:lnTo>
                <a:lnTo>
                  <a:pt x="597315" y="231897"/>
                </a:lnTo>
                <a:lnTo>
                  <a:pt x="532473" y="228007"/>
                </a:lnTo>
                <a:lnTo>
                  <a:pt x="470368" y="223607"/>
                </a:lnTo>
                <a:lnTo>
                  <a:pt x="411197" y="218720"/>
                </a:lnTo>
                <a:lnTo>
                  <a:pt x="355162" y="213370"/>
                </a:lnTo>
                <a:lnTo>
                  <a:pt x="302463" y="207581"/>
                </a:lnTo>
                <a:lnTo>
                  <a:pt x="253298" y="201376"/>
                </a:lnTo>
                <a:lnTo>
                  <a:pt x="207867" y="194780"/>
                </a:lnTo>
                <a:lnTo>
                  <a:pt x="166371" y="187815"/>
                </a:lnTo>
                <a:lnTo>
                  <a:pt x="95980" y="172874"/>
                </a:lnTo>
                <a:lnTo>
                  <a:pt x="43723" y="156743"/>
                </a:lnTo>
                <a:lnTo>
                  <a:pt x="2832" y="130728"/>
                </a:lnTo>
                <a:lnTo>
                  <a:pt x="0" y="121665"/>
                </a:lnTo>
                <a:lnTo>
                  <a:pt x="0" y="1094536"/>
                </a:lnTo>
                <a:lnTo>
                  <a:pt x="43723" y="1129662"/>
                </a:lnTo>
                <a:lnTo>
                  <a:pt x="95980" y="1145808"/>
                </a:lnTo>
                <a:lnTo>
                  <a:pt x="166371" y="1160759"/>
                </a:lnTo>
                <a:lnTo>
                  <a:pt x="207867" y="1167727"/>
                </a:lnTo>
                <a:lnTo>
                  <a:pt x="253298" y="1174326"/>
                </a:lnTo>
                <a:lnTo>
                  <a:pt x="302463" y="1180533"/>
                </a:lnTo>
                <a:lnTo>
                  <a:pt x="355162" y="1186323"/>
                </a:lnTo>
                <a:lnTo>
                  <a:pt x="411197" y="1191673"/>
                </a:lnTo>
                <a:lnTo>
                  <a:pt x="470368" y="1196560"/>
                </a:lnTo>
                <a:lnTo>
                  <a:pt x="532473" y="1200959"/>
                </a:lnTo>
                <a:lnTo>
                  <a:pt x="597315" y="1204849"/>
                </a:lnTo>
                <a:lnTo>
                  <a:pt x="664693" y="1208205"/>
                </a:lnTo>
                <a:lnTo>
                  <a:pt x="734408" y="1211003"/>
                </a:lnTo>
                <a:lnTo>
                  <a:pt x="806259" y="1213220"/>
                </a:lnTo>
                <a:lnTo>
                  <a:pt x="880047" y="1214833"/>
                </a:lnTo>
                <a:lnTo>
                  <a:pt x="955573" y="1215818"/>
                </a:lnTo>
                <a:lnTo>
                  <a:pt x="1032637" y="1216152"/>
                </a:lnTo>
                <a:lnTo>
                  <a:pt x="1109710" y="1215818"/>
                </a:lnTo>
                <a:lnTo>
                  <a:pt x="1185246" y="1214833"/>
                </a:lnTo>
                <a:lnTo>
                  <a:pt x="1259044" y="1213220"/>
                </a:lnTo>
                <a:lnTo>
                  <a:pt x="1330904" y="1211003"/>
                </a:lnTo>
                <a:lnTo>
                  <a:pt x="1400627" y="1208205"/>
                </a:lnTo>
                <a:lnTo>
                  <a:pt x="1468014" y="1204849"/>
                </a:lnTo>
                <a:lnTo>
                  <a:pt x="1532864" y="1200959"/>
                </a:lnTo>
                <a:lnTo>
                  <a:pt x="1594977" y="1196560"/>
                </a:lnTo>
                <a:lnTo>
                  <a:pt x="1654155" y="1191673"/>
                </a:lnTo>
                <a:lnTo>
                  <a:pt x="1710196" y="1186323"/>
                </a:lnTo>
                <a:lnTo>
                  <a:pt x="1762902" y="1180533"/>
                </a:lnTo>
                <a:lnTo>
                  <a:pt x="1812073" y="1174326"/>
                </a:lnTo>
                <a:lnTo>
                  <a:pt x="1857509" y="1167727"/>
                </a:lnTo>
                <a:lnTo>
                  <a:pt x="1899010" y="1160759"/>
                </a:lnTo>
                <a:lnTo>
                  <a:pt x="1969409" y="1145808"/>
                </a:lnTo>
                <a:lnTo>
                  <a:pt x="2021672" y="1129662"/>
                </a:lnTo>
                <a:lnTo>
                  <a:pt x="2062568" y="1103613"/>
                </a:lnTo>
                <a:lnTo>
                  <a:pt x="2068233" y="1085460"/>
                </a:lnTo>
                <a:lnTo>
                  <a:pt x="2076599" y="1076564"/>
                </a:lnTo>
                <a:lnTo>
                  <a:pt x="2132892" y="1051200"/>
                </a:lnTo>
                <a:lnTo>
                  <a:pt x="2194420" y="1035628"/>
                </a:lnTo>
                <a:lnTo>
                  <a:pt x="2273283" y="1021345"/>
                </a:lnTo>
                <a:lnTo>
                  <a:pt x="2318716" y="1014746"/>
                </a:lnTo>
                <a:lnTo>
                  <a:pt x="2367883" y="1008540"/>
                </a:lnTo>
                <a:lnTo>
                  <a:pt x="2420584" y="1002750"/>
                </a:lnTo>
                <a:lnTo>
                  <a:pt x="2476620" y="997400"/>
                </a:lnTo>
                <a:lnTo>
                  <a:pt x="2535791" y="992513"/>
                </a:lnTo>
                <a:lnTo>
                  <a:pt x="2597897" y="988113"/>
                </a:lnTo>
                <a:lnTo>
                  <a:pt x="2662738" y="984224"/>
                </a:lnTo>
                <a:lnTo>
                  <a:pt x="2730115" y="980868"/>
                </a:lnTo>
                <a:lnTo>
                  <a:pt x="2799827" y="978070"/>
                </a:lnTo>
                <a:lnTo>
                  <a:pt x="2871676" y="975853"/>
                </a:lnTo>
                <a:lnTo>
                  <a:pt x="2945460" y="974240"/>
                </a:lnTo>
                <a:lnTo>
                  <a:pt x="3020980" y="973255"/>
                </a:lnTo>
                <a:lnTo>
                  <a:pt x="3098038" y="972921"/>
                </a:lnTo>
                <a:lnTo>
                  <a:pt x="3175111" y="973255"/>
                </a:lnTo>
                <a:lnTo>
                  <a:pt x="3250647" y="974240"/>
                </a:lnTo>
                <a:lnTo>
                  <a:pt x="3324445" y="975853"/>
                </a:lnTo>
                <a:lnTo>
                  <a:pt x="3396305" y="978070"/>
                </a:lnTo>
                <a:lnTo>
                  <a:pt x="3466028" y="980868"/>
                </a:lnTo>
                <a:lnTo>
                  <a:pt x="3533415" y="984224"/>
                </a:lnTo>
                <a:lnTo>
                  <a:pt x="3598265" y="988113"/>
                </a:lnTo>
                <a:lnTo>
                  <a:pt x="3660378" y="992513"/>
                </a:lnTo>
                <a:lnTo>
                  <a:pt x="3719556" y="997400"/>
                </a:lnTo>
                <a:lnTo>
                  <a:pt x="3775597" y="1002750"/>
                </a:lnTo>
                <a:lnTo>
                  <a:pt x="3828303" y="1008540"/>
                </a:lnTo>
                <a:lnTo>
                  <a:pt x="3877474" y="1014746"/>
                </a:lnTo>
                <a:lnTo>
                  <a:pt x="3922910" y="1021345"/>
                </a:lnTo>
                <a:lnTo>
                  <a:pt x="3964411" y="1028314"/>
                </a:lnTo>
                <a:lnTo>
                  <a:pt x="4034810" y="1043265"/>
                </a:lnTo>
                <a:lnTo>
                  <a:pt x="4087073" y="1059411"/>
                </a:lnTo>
                <a:lnTo>
                  <a:pt x="4127969" y="1085460"/>
                </a:lnTo>
                <a:lnTo>
                  <a:pt x="4130802" y="1094536"/>
                </a:lnTo>
                <a:lnTo>
                  <a:pt x="4130802" y="121665"/>
                </a:lnTo>
                <a:lnTo>
                  <a:pt x="4087073" y="86531"/>
                </a:lnTo>
                <a:lnTo>
                  <a:pt x="4034810" y="70379"/>
                </a:lnTo>
                <a:lnTo>
                  <a:pt x="3964411" y="55422"/>
                </a:lnTo>
                <a:lnTo>
                  <a:pt x="3922910" y="48450"/>
                </a:lnTo>
                <a:lnTo>
                  <a:pt x="3877474" y="41848"/>
                </a:lnTo>
                <a:lnTo>
                  <a:pt x="3828303" y="35639"/>
                </a:lnTo>
                <a:lnTo>
                  <a:pt x="3775597" y="29846"/>
                </a:lnTo>
                <a:lnTo>
                  <a:pt x="3719556" y="24493"/>
                </a:lnTo>
                <a:lnTo>
                  <a:pt x="3660378" y="19603"/>
                </a:lnTo>
                <a:lnTo>
                  <a:pt x="3598265" y="15201"/>
                </a:lnTo>
                <a:lnTo>
                  <a:pt x="3533415" y="11309"/>
                </a:lnTo>
                <a:lnTo>
                  <a:pt x="3466028" y="7952"/>
                </a:lnTo>
                <a:lnTo>
                  <a:pt x="3396305" y="5152"/>
                </a:lnTo>
                <a:lnTo>
                  <a:pt x="3324445" y="2933"/>
                </a:lnTo>
                <a:lnTo>
                  <a:pt x="3250647" y="1319"/>
                </a:lnTo>
                <a:lnTo>
                  <a:pt x="3175111" y="333"/>
                </a:lnTo>
                <a:lnTo>
                  <a:pt x="3098038" y="0"/>
                </a:lnTo>
                <a:close/>
              </a:path>
            </a:pathLst>
          </a:custGeom>
          <a:solidFill>
            <a:srgbClr val="30859B"/>
          </a:solidFill>
        </p:spPr>
        <p:txBody>
          <a:bodyPr wrap="square" lIns="0" tIns="0" rIns="0" bIns="0" rtlCol="0"/>
          <a:lstStyle/>
          <a:p>
            <a:endParaRPr/>
          </a:p>
        </p:txBody>
      </p:sp>
      <p:sp>
        <p:nvSpPr>
          <p:cNvPr id="14" name="object 14"/>
          <p:cNvSpPr txBox="1"/>
          <p:nvPr/>
        </p:nvSpPr>
        <p:spPr>
          <a:xfrm>
            <a:off x="745236" y="5704332"/>
            <a:ext cx="3521075" cy="556895"/>
          </a:xfrm>
          <a:prstGeom prst="rect">
            <a:avLst/>
          </a:prstGeom>
        </p:spPr>
        <p:txBody>
          <a:bodyPr vert="horz" wrap="square" lIns="0" tIns="90805" rIns="0" bIns="0" rtlCol="0">
            <a:spAutoFit/>
          </a:bodyPr>
          <a:lstStyle/>
          <a:p>
            <a:pPr marL="1120775" marR="5080" indent="-1108710">
              <a:lnSpc>
                <a:spcPct val="74300"/>
              </a:lnSpc>
              <a:spcBef>
                <a:spcPts val="715"/>
              </a:spcBef>
            </a:pPr>
            <a:r>
              <a:rPr sz="2000" spc="50" dirty="0">
                <a:solidFill>
                  <a:srgbClr val="F1F1F1"/>
                </a:solidFill>
                <a:latin typeface="Times New Roman"/>
                <a:cs typeface="Times New Roman"/>
              </a:rPr>
              <a:t>Foreign </a:t>
            </a:r>
            <a:r>
              <a:rPr sz="2000" spc="25" dirty="0">
                <a:solidFill>
                  <a:srgbClr val="F1F1F1"/>
                </a:solidFill>
                <a:latin typeface="Times New Roman"/>
                <a:cs typeface="Times New Roman"/>
              </a:rPr>
              <a:t>keys, </a:t>
            </a:r>
            <a:r>
              <a:rPr sz="2000" spc="90" dirty="0">
                <a:solidFill>
                  <a:srgbClr val="F1F1F1"/>
                </a:solidFill>
                <a:latin typeface="Times New Roman"/>
                <a:cs typeface="Times New Roman"/>
              </a:rPr>
              <a:t>Stored</a:t>
            </a:r>
            <a:r>
              <a:rPr sz="2000" spc="-305" dirty="0">
                <a:solidFill>
                  <a:srgbClr val="F1F1F1"/>
                </a:solidFill>
                <a:latin typeface="Times New Roman"/>
                <a:cs typeface="Times New Roman"/>
              </a:rPr>
              <a:t> </a:t>
            </a:r>
            <a:r>
              <a:rPr sz="2000" spc="75" dirty="0">
                <a:solidFill>
                  <a:srgbClr val="F1F1F1"/>
                </a:solidFill>
                <a:latin typeface="Times New Roman"/>
                <a:cs typeface="Times New Roman"/>
              </a:rPr>
              <a:t>procedures  </a:t>
            </a:r>
            <a:r>
              <a:rPr sz="2000" spc="110" dirty="0">
                <a:solidFill>
                  <a:srgbClr val="F1F1F1"/>
                </a:solidFill>
                <a:latin typeface="Times New Roman"/>
                <a:cs typeface="Times New Roman"/>
              </a:rPr>
              <a:t>and</a:t>
            </a:r>
            <a:r>
              <a:rPr sz="2000" spc="-80" dirty="0">
                <a:solidFill>
                  <a:srgbClr val="F1F1F1"/>
                </a:solidFill>
                <a:latin typeface="Times New Roman"/>
                <a:cs typeface="Times New Roman"/>
              </a:rPr>
              <a:t> </a:t>
            </a:r>
            <a:r>
              <a:rPr sz="2000" spc="35" dirty="0">
                <a:solidFill>
                  <a:srgbClr val="F1F1F1"/>
                </a:solidFill>
                <a:latin typeface="Times New Roman"/>
                <a:cs typeface="Times New Roman"/>
              </a:rPr>
              <a:t>triggers</a:t>
            </a:r>
            <a:endParaRPr sz="2000">
              <a:latin typeface="Times New Roman"/>
              <a:cs typeface="Times New Roman"/>
            </a:endParaRPr>
          </a:p>
        </p:txBody>
      </p:sp>
      <p:sp>
        <p:nvSpPr>
          <p:cNvPr id="15" name="object 15"/>
          <p:cNvSpPr txBox="1"/>
          <p:nvPr/>
        </p:nvSpPr>
        <p:spPr>
          <a:xfrm>
            <a:off x="688340" y="5073396"/>
            <a:ext cx="3460115" cy="74803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Book Antiqua"/>
                <a:cs typeface="Book Antiqua"/>
              </a:rPr>
              <a:t>Helps </a:t>
            </a:r>
            <a:r>
              <a:rPr sz="1400" b="1" spc="50" dirty="0">
                <a:latin typeface="Book Antiqua"/>
                <a:cs typeface="Book Antiqua"/>
              </a:rPr>
              <a:t>to</a:t>
            </a:r>
            <a:r>
              <a:rPr sz="1400" b="1" spc="-50" dirty="0">
                <a:latin typeface="Book Antiqua"/>
                <a:cs typeface="Book Antiqua"/>
              </a:rPr>
              <a:t> </a:t>
            </a:r>
            <a:r>
              <a:rPr sz="1400" b="1" spc="5" dirty="0">
                <a:latin typeface="Book Antiqua"/>
                <a:cs typeface="Book Antiqua"/>
              </a:rPr>
              <a:t>define:</a:t>
            </a:r>
            <a:endParaRPr sz="1400">
              <a:latin typeface="Book Antiqua"/>
              <a:cs typeface="Book Antiqua"/>
            </a:endParaRPr>
          </a:p>
          <a:p>
            <a:pPr marL="187960">
              <a:lnSpc>
                <a:spcPct val="100000"/>
              </a:lnSpc>
              <a:spcBef>
                <a:spcPts val="1610"/>
              </a:spcBef>
            </a:pPr>
            <a:r>
              <a:rPr sz="2000" spc="60" dirty="0">
                <a:solidFill>
                  <a:srgbClr val="F1F1F1"/>
                </a:solidFill>
                <a:latin typeface="Times New Roman"/>
                <a:cs typeface="Times New Roman"/>
              </a:rPr>
              <a:t>Relational </a:t>
            </a:r>
            <a:r>
              <a:rPr sz="2000" spc="40" dirty="0">
                <a:solidFill>
                  <a:srgbClr val="F1F1F1"/>
                </a:solidFill>
                <a:latin typeface="Times New Roman"/>
                <a:cs typeface="Times New Roman"/>
              </a:rPr>
              <a:t>tables, </a:t>
            </a:r>
            <a:r>
              <a:rPr sz="2000" spc="45" dirty="0">
                <a:solidFill>
                  <a:srgbClr val="F1F1F1"/>
                </a:solidFill>
                <a:latin typeface="Times New Roman"/>
                <a:cs typeface="Times New Roman"/>
              </a:rPr>
              <a:t>Primary</a:t>
            </a:r>
            <a:r>
              <a:rPr sz="2000" spc="-290" dirty="0">
                <a:solidFill>
                  <a:srgbClr val="F1F1F1"/>
                </a:solidFill>
                <a:latin typeface="Times New Roman"/>
                <a:cs typeface="Times New Roman"/>
              </a:rPr>
              <a:t> </a:t>
            </a:r>
            <a:r>
              <a:rPr sz="2000" spc="110" dirty="0">
                <a:solidFill>
                  <a:srgbClr val="F1F1F1"/>
                </a:solidFill>
                <a:latin typeface="Times New Roman"/>
                <a:cs typeface="Times New Roman"/>
              </a:rPr>
              <a:t>and</a:t>
            </a:r>
            <a:endParaRPr sz="2000">
              <a:latin typeface="Times New Roman"/>
              <a:cs typeface="Times New Roman"/>
            </a:endParaRPr>
          </a:p>
        </p:txBody>
      </p:sp>
      <p:pic>
        <p:nvPicPr>
          <p:cNvPr id="16" name="object 16"/>
          <p:cNvPicPr/>
          <p:nvPr/>
        </p:nvPicPr>
        <p:blipFill>
          <a:blip r:embed="rId9" cstate="print"/>
          <a:stretch>
            <a:fillRect/>
          </a:stretch>
        </p:blipFill>
        <p:spPr>
          <a:xfrm>
            <a:off x="6215634" y="3148583"/>
            <a:ext cx="2900171" cy="2395728"/>
          </a:xfrm>
          <a:prstGeom prst="rect">
            <a:avLst/>
          </a:prstGeom>
        </p:spPr>
      </p:pic>
      <p:sp>
        <p:nvSpPr>
          <p:cNvPr id="18" name="object 1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4</a:t>
            </a:fld>
            <a:endParaRPr sz="1200"/>
          </a:p>
        </p:txBody>
      </p:sp>
      <p:sp>
        <p:nvSpPr>
          <p:cNvPr id="19" name="object 1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493"/>
            <a:ext cx="7775575" cy="635635"/>
          </a:xfrm>
          <a:prstGeom prst="rect">
            <a:avLst/>
          </a:prstGeom>
        </p:spPr>
        <p:txBody>
          <a:bodyPr vert="horz" wrap="square" lIns="0" tIns="12700" rIns="0" bIns="0" rtlCol="0">
            <a:spAutoFit/>
          </a:bodyPr>
          <a:lstStyle/>
          <a:p>
            <a:pPr marL="12700">
              <a:lnSpc>
                <a:spcPct val="100000"/>
              </a:lnSpc>
              <a:spcBef>
                <a:spcPts val="100"/>
              </a:spcBef>
            </a:pPr>
            <a:r>
              <a:rPr sz="4000" spc="140" dirty="0">
                <a:solidFill>
                  <a:srgbClr val="FFFFFF"/>
                </a:solidFill>
                <a:latin typeface="Times New Roman"/>
                <a:cs typeface="Times New Roman"/>
              </a:rPr>
              <a:t>Entity-Relationship </a:t>
            </a:r>
            <a:r>
              <a:rPr sz="4000" spc="25" dirty="0">
                <a:solidFill>
                  <a:srgbClr val="FFFFFF"/>
                </a:solidFill>
                <a:latin typeface="Times New Roman"/>
                <a:cs typeface="Times New Roman"/>
              </a:rPr>
              <a:t>(E-R) </a:t>
            </a:r>
            <a:r>
              <a:rPr sz="4000" spc="130" dirty="0">
                <a:solidFill>
                  <a:srgbClr val="FFFFFF"/>
                </a:solidFill>
                <a:latin typeface="Times New Roman"/>
                <a:cs typeface="Times New Roman"/>
              </a:rPr>
              <a:t>Model</a:t>
            </a:r>
            <a:r>
              <a:rPr sz="4000" spc="-635" dirty="0">
                <a:solidFill>
                  <a:srgbClr val="FFFFFF"/>
                </a:solidFill>
                <a:latin typeface="Times New Roman"/>
                <a:cs typeface="Times New Roman"/>
              </a:rPr>
              <a:t> </a:t>
            </a:r>
            <a:r>
              <a:rPr sz="4000" spc="-425" dirty="0">
                <a:solidFill>
                  <a:srgbClr val="FFFFFF"/>
                </a:solidFill>
                <a:latin typeface="Times New Roman"/>
                <a:cs typeface="Times New Roman"/>
              </a:rPr>
              <a:t>1-5</a:t>
            </a:r>
            <a:endParaRPr sz="4000">
              <a:latin typeface="Times New Roman"/>
              <a:cs typeface="Times New Roman"/>
            </a:endParaRPr>
          </a:p>
        </p:txBody>
      </p:sp>
      <p:grpSp>
        <p:nvGrpSpPr>
          <p:cNvPr id="3" name="object 3"/>
          <p:cNvGrpSpPr/>
          <p:nvPr/>
        </p:nvGrpSpPr>
        <p:grpSpPr>
          <a:xfrm>
            <a:off x="339852" y="1124724"/>
            <a:ext cx="8228965" cy="913765"/>
            <a:chOff x="339852" y="1124724"/>
            <a:chExt cx="8228965" cy="913765"/>
          </a:xfrm>
        </p:grpSpPr>
        <p:pic>
          <p:nvPicPr>
            <p:cNvPr id="4" name="object 4"/>
            <p:cNvPicPr/>
            <p:nvPr/>
          </p:nvPicPr>
          <p:blipFill>
            <a:blip r:embed="rId3" cstate="print"/>
            <a:stretch>
              <a:fillRect/>
            </a:stretch>
          </p:blipFill>
          <p:spPr>
            <a:xfrm>
              <a:off x="339852" y="1124724"/>
              <a:ext cx="8228838" cy="913625"/>
            </a:xfrm>
            <a:prstGeom prst="rect">
              <a:avLst/>
            </a:prstGeom>
          </p:spPr>
        </p:pic>
        <p:pic>
          <p:nvPicPr>
            <p:cNvPr id="5" name="object 5"/>
            <p:cNvPicPr/>
            <p:nvPr/>
          </p:nvPicPr>
          <p:blipFill>
            <a:blip r:embed="rId4" cstate="print"/>
            <a:stretch>
              <a:fillRect/>
            </a:stretch>
          </p:blipFill>
          <p:spPr>
            <a:xfrm>
              <a:off x="381000" y="1142999"/>
              <a:ext cx="8153400" cy="838200"/>
            </a:xfrm>
            <a:prstGeom prst="rect">
              <a:avLst/>
            </a:prstGeom>
          </p:spPr>
        </p:pic>
      </p:grpSp>
      <p:sp>
        <p:nvSpPr>
          <p:cNvPr id="6" name="object 6"/>
          <p:cNvSpPr txBox="1"/>
          <p:nvPr/>
        </p:nvSpPr>
        <p:spPr>
          <a:xfrm>
            <a:off x="514095" y="1359915"/>
            <a:ext cx="557339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FFFFFF"/>
                </a:solidFill>
                <a:latin typeface="Times New Roman"/>
                <a:cs typeface="Times New Roman"/>
              </a:rPr>
              <a:t>Data</a:t>
            </a:r>
            <a:r>
              <a:rPr sz="1800" spc="-85" dirty="0">
                <a:solidFill>
                  <a:srgbClr val="FFFFFF"/>
                </a:solidFill>
                <a:latin typeface="Times New Roman"/>
                <a:cs typeface="Times New Roman"/>
              </a:rPr>
              <a:t> </a:t>
            </a:r>
            <a:r>
              <a:rPr sz="1800" spc="55" dirty="0">
                <a:solidFill>
                  <a:srgbClr val="FFFFFF"/>
                </a:solidFill>
                <a:latin typeface="Times New Roman"/>
                <a:cs typeface="Times New Roman"/>
              </a:rPr>
              <a:t>models</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can</a:t>
            </a:r>
            <a:r>
              <a:rPr sz="1800" spc="-75" dirty="0">
                <a:solidFill>
                  <a:srgbClr val="FFFFFF"/>
                </a:solidFill>
                <a:latin typeface="Times New Roman"/>
                <a:cs typeface="Times New Roman"/>
              </a:rPr>
              <a:t> </a:t>
            </a:r>
            <a:r>
              <a:rPr sz="1800" spc="60" dirty="0">
                <a:solidFill>
                  <a:srgbClr val="FFFFFF"/>
                </a:solidFill>
                <a:latin typeface="Times New Roman"/>
                <a:cs typeface="Times New Roman"/>
              </a:rPr>
              <a:t>be</a:t>
            </a:r>
            <a:r>
              <a:rPr sz="1800" spc="-60" dirty="0">
                <a:solidFill>
                  <a:srgbClr val="FFFFFF"/>
                </a:solidFill>
                <a:latin typeface="Times New Roman"/>
                <a:cs typeface="Times New Roman"/>
              </a:rPr>
              <a:t> </a:t>
            </a:r>
            <a:r>
              <a:rPr sz="1800" spc="25" dirty="0">
                <a:solidFill>
                  <a:srgbClr val="FFFFFF"/>
                </a:solidFill>
                <a:latin typeface="Times New Roman"/>
                <a:cs typeface="Times New Roman"/>
              </a:rPr>
              <a:t>classified</a:t>
            </a:r>
            <a:r>
              <a:rPr sz="1800" spc="-65" dirty="0">
                <a:solidFill>
                  <a:srgbClr val="FFFFFF"/>
                </a:solidFill>
                <a:latin typeface="Times New Roman"/>
                <a:cs typeface="Times New Roman"/>
              </a:rPr>
              <a:t> </a:t>
            </a:r>
            <a:r>
              <a:rPr sz="1800" spc="90" dirty="0">
                <a:solidFill>
                  <a:srgbClr val="FFFFFF"/>
                </a:solidFill>
                <a:latin typeface="Times New Roman"/>
                <a:cs typeface="Times New Roman"/>
              </a:rPr>
              <a:t>into</a:t>
            </a:r>
            <a:r>
              <a:rPr sz="1800" spc="-70" dirty="0">
                <a:solidFill>
                  <a:srgbClr val="FFFFFF"/>
                </a:solidFill>
                <a:latin typeface="Times New Roman"/>
                <a:cs typeface="Times New Roman"/>
              </a:rPr>
              <a:t> </a:t>
            </a:r>
            <a:r>
              <a:rPr sz="1800" spc="85" dirty="0">
                <a:solidFill>
                  <a:srgbClr val="FFFFFF"/>
                </a:solidFill>
                <a:latin typeface="Times New Roman"/>
                <a:cs typeface="Times New Roman"/>
              </a:rPr>
              <a:t>three</a:t>
            </a:r>
            <a:r>
              <a:rPr sz="1800" spc="-70" dirty="0">
                <a:solidFill>
                  <a:srgbClr val="FFFFFF"/>
                </a:solidFill>
                <a:latin typeface="Times New Roman"/>
                <a:cs typeface="Times New Roman"/>
              </a:rPr>
              <a:t> </a:t>
            </a:r>
            <a:r>
              <a:rPr sz="1800" spc="65" dirty="0">
                <a:solidFill>
                  <a:srgbClr val="FFFFFF"/>
                </a:solidFill>
                <a:latin typeface="Times New Roman"/>
                <a:cs typeface="Times New Roman"/>
              </a:rPr>
              <a:t>different</a:t>
            </a:r>
            <a:r>
              <a:rPr sz="1800" spc="-75" dirty="0">
                <a:solidFill>
                  <a:srgbClr val="FFFFFF"/>
                </a:solidFill>
                <a:latin typeface="Times New Roman"/>
                <a:cs typeface="Times New Roman"/>
              </a:rPr>
              <a:t> </a:t>
            </a:r>
            <a:r>
              <a:rPr sz="1800" spc="50" dirty="0">
                <a:solidFill>
                  <a:srgbClr val="FFFFFF"/>
                </a:solidFill>
                <a:latin typeface="Times New Roman"/>
                <a:cs typeface="Times New Roman"/>
              </a:rPr>
              <a:t>groups:</a:t>
            </a:r>
            <a:endParaRPr sz="1800">
              <a:latin typeface="Times New Roman"/>
              <a:cs typeface="Times New Roman"/>
            </a:endParaRPr>
          </a:p>
        </p:txBody>
      </p:sp>
      <p:pic>
        <p:nvPicPr>
          <p:cNvPr id="7" name="object 7"/>
          <p:cNvPicPr/>
          <p:nvPr/>
        </p:nvPicPr>
        <p:blipFill>
          <a:blip r:embed="rId5" cstate="print"/>
          <a:stretch>
            <a:fillRect/>
          </a:stretch>
        </p:blipFill>
        <p:spPr>
          <a:xfrm>
            <a:off x="520445" y="2359914"/>
            <a:ext cx="8013954" cy="2912364"/>
          </a:xfrm>
          <a:prstGeom prst="rect">
            <a:avLst/>
          </a:prstGeom>
        </p:spPr>
      </p:pic>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5</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0"/>
            <a:ext cx="7840980" cy="635635"/>
          </a:xfrm>
          <a:prstGeom prst="rect">
            <a:avLst/>
          </a:prstGeom>
        </p:spPr>
        <p:txBody>
          <a:bodyPr vert="horz" wrap="square" lIns="0" tIns="12700" rIns="0" bIns="0" rtlCol="0">
            <a:spAutoFit/>
          </a:bodyPr>
          <a:lstStyle/>
          <a:p>
            <a:pPr marL="12700">
              <a:lnSpc>
                <a:spcPct val="100000"/>
              </a:lnSpc>
              <a:spcBef>
                <a:spcPts val="100"/>
              </a:spcBef>
            </a:pPr>
            <a:r>
              <a:rPr sz="4000" spc="140" dirty="0">
                <a:solidFill>
                  <a:srgbClr val="FFFFFF"/>
                </a:solidFill>
                <a:latin typeface="Times New Roman"/>
                <a:cs typeface="Times New Roman"/>
              </a:rPr>
              <a:t>Entity-Relationship </a:t>
            </a:r>
            <a:r>
              <a:rPr sz="4000" spc="20" dirty="0">
                <a:solidFill>
                  <a:srgbClr val="FFFFFF"/>
                </a:solidFill>
                <a:latin typeface="Times New Roman"/>
                <a:cs typeface="Times New Roman"/>
              </a:rPr>
              <a:t>(E-R) </a:t>
            </a:r>
            <a:r>
              <a:rPr sz="4000" spc="130" dirty="0">
                <a:solidFill>
                  <a:srgbClr val="FFFFFF"/>
                </a:solidFill>
                <a:latin typeface="Times New Roman"/>
                <a:cs typeface="Times New Roman"/>
              </a:rPr>
              <a:t>Model</a:t>
            </a:r>
            <a:r>
              <a:rPr sz="4000" spc="-605" dirty="0">
                <a:solidFill>
                  <a:srgbClr val="FFFFFF"/>
                </a:solidFill>
                <a:latin typeface="Times New Roman"/>
                <a:cs typeface="Times New Roman"/>
              </a:rPr>
              <a:t> </a:t>
            </a:r>
            <a:r>
              <a:rPr sz="4000" spc="-254" dirty="0">
                <a:solidFill>
                  <a:srgbClr val="FFFFFF"/>
                </a:solidFill>
                <a:latin typeface="Times New Roman"/>
                <a:cs typeface="Times New Roman"/>
              </a:rPr>
              <a:t>2-5</a:t>
            </a:r>
            <a:endParaRPr sz="4000">
              <a:latin typeface="Times New Roman"/>
              <a:cs typeface="Times New Roman"/>
            </a:endParaRPr>
          </a:p>
        </p:txBody>
      </p:sp>
      <p:sp>
        <p:nvSpPr>
          <p:cNvPr id="3" name="object 3"/>
          <p:cNvSpPr txBox="1"/>
          <p:nvPr/>
        </p:nvSpPr>
        <p:spPr>
          <a:xfrm>
            <a:off x="126745" y="1139444"/>
            <a:ext cx="3689985"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Segoe UI Symbol"/>
                <a:cs typeface="Segoe UI Symbol"/>
              </a:rPr>
              <a:t>⮚ </a:t>
            </a:r>
            <a:r>
              <a:rPr sz="2000" spc="120" dirty="0">
                <a:latin typeface="Times New Roman"/>
                <a:cs typeface="Times New Roman"/>
              </a:rPr>
              <a:t>Components </a:t>
            </a:r>
            <a:r>
              <a:rPr sz="2000" spc="55" dirty="0">
                <a:latin typeface="Times New Roman"/>
                <a:cs typeface="Times New Roman"/>
              </a:rPr>
              <a:t>of </a:t>
            </a:r>
            <a:r>
              <a:rPr sz="2000" spc="105" dirty="0">
                <a:latin typeface="Times New Roman"/>
                <a:cs typeface="Times New Roman"/>
              </a:rPr>
              <a:t>an </a:t>
            </a:r>
            <a:r>
              <a:rPr sz="2000" spc="30" dirty="0">
                <a:latin typeface="Times New Roman"/>
                <a:cs typeface="Times New Roman"/>
              </a:rPr>
              <a:t>E-R</a:t>
            </a:r>
            <a:r>
              <a:rPr sz="2000" spc="-155" dirty="0">
                <a:latin typeface="Times New Roman"/>
                <a:cs typeface="Times New Roman"/>
              </a:rPr>
              <a:t> </a:t>
            </a:r>
            <a:r>
              <a:rPr sz="2000" spc="50" dirty="0">
                <a:latin typeface="Times New Roman"/>
                <a:cs typeface="Times New Roman"/>
              </a:rPr>
              <a:t>model:</a:t>
            </a:r>
            <a:endParaRPr sz="2000">
              <a:latin typeface="Times New Roman"/>
              <a:cs typeface="Times New Roman"/>
            </a:endParaRPr>
          </a:p>
        </p:txBody>
      </p:sp>
      <p:pic>
        <p:nvPicPr>
          <p:cNvPr id="4" name="object 4"/>
          <p:cNvPicPr/>
          <p:nvPr/>
        </p:nvPicPr>
        <p:blipFill>
          <a:blip r:embed="rId3" cstate="print"/>
          <a:stretch>
            <a:fillRect/>
          </a:stretch>
        </p:blipFill>
        <p:spPr>
          <a:xfrm>
            <a:off x="1083563" y="1750314"/>
            <a:ext cx="7258811" cy="4312920"/>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6</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0066"/>
            <a:ext cx="7807959" cy="635635"/>
          </a:xfrm>
          <a:prstGeom prst="rect">
            <a:avLst/>
          </a:prstGeom>
        </p:spPr>
        <p:txBody>
          <a:bodyPr vert="horz" wrap="square" lIns="0" tIns="12700" rIns="0" bIns="0" rtlCol="0">
            <a:spAutoFit/>
          </a:bodyPr>
          <a:lstStyle/>
          <a:p>
            <a:pPr marL="12700">
              <a:lnSpc>
                <a:spcPct val="100000"/>
              </a:lnSpc>
              <a:spcBef>
                <a:spcPts val="100"/>
              </a:spcBef>
            </a:pPr>
            <a:r>
              <a:rPr spc="140" dirty="0"/>
              <a:t>Entity-Relationship </a:t>
            </a:r>
            <a:r>
              <a:rPr spc="25" dirty="0"/>
              <a:t>(E-R) </a:t>
            </a:r>
            <a:r>
              <a:rPr spc="130" dirty="0"/>
              <a:t>Model</a:t>
            </a:r>
            <a:r>
              <a:rPr spc="-640" dirty="0"/>
              <a:t> </a:t>
            </a:r>
            <a:r>
              <a:rPr spc="-340" dirty="0"/>
              <a:t>3-5</a:t>
            </a:r>
          </a:p>
        </p:txBody>
      </p:sp>
      <p:pic>
        <p:nvPicPr>
          <p:cNvPr id="3" name="object 3"/>
          <p:cNvPicPr/>
          <p:nvPr/>
        </p:nvPicPr>
        <p:blipFill>
          <a:blip r:embed="rId3" cstate="print"/>
          <a:stretch>
            <a:fillRect/>
          </a:stretch>
        </p:blipFill>
        <p:spPr>
          <a:xfrm>
            <a:off x="5950458" y="819150"/>
            <a:ext cx="2666238" cy="1493520"/>
          </a:xfrm>
          <a:prstGeom prst="rect">
            <a:avLst/>
          </a:prstGeom>
        </p:spPr>
      </p:pic>
      <p:sp>
        <p:nvSpPr>
          <p:cNvPr id="4" name="object 4"/>
          <p:cNvSpPr txBox="1"/>
          <p:nvPr/>
        </p:nvSpPr>
        <p:spPr>
          <a:xfrm>
            <a:off x="132079" y="801370"/>
            <a:ext cx="5501640" cy="3812540"/>
          </a:xfrm>
          <a:prstGeom prst="rect">
            <a:avLst/>
          </a:prstGeom>
        </p:spPr>
        <p:txBody>
          <a:bodyPr vert="horz" wrap="square" lIns="0" tIns="12700" rIns="0" bIns="0" rtlCol="0">
            <a:spAutoFit/>
          </a:bodyPr>
          <a:lstStyle/>
          <a:p>
            <a:pPr marL="12700">
              <a:lnSpc>
                <a:spcPct val="100000"/>
              </a:lnSpc>
              <a:spcBef>
                <a:spcPts val="100"/>
              </a:spcBef>
            </a:pPr>
            <a:r>
              <a:rPr sz="2000" dirty="0">
                <a:latin typeface="Segoe UI Symbol"/>
                <a:cs typeface="Segoe UI Symbol"/>
              </a:rPr>
              <a:t>⮚</a:t>
            </a:r>
            <a:r>
              <a:rPr sz="2000" spc="409" dirty="0">
                <a:latin typeface="Segoe UI Symbol"/>
                <a:cs typeface="Segoe UI Symbol"/>
              </a:rPr>
              <a:t> </a:t>
            </a:r>
            <a:r>
              <a:rPr sz="2000" b="1" spc="-10" dirty="0">
                <a:latin typeface="Times New Roman"/>
                <a:cs typeface="Times New Roman"/>
              </a:rPr>
              <a:t>Self-relationships:</a:t>
            </a:r>
            <a:endParaRPr sz="2000">
              <a:latin typeface="Times New Roman"/>
              <a:cs typeface="Times New Roman"/>
            </a:endParaRPr>
          </a:p>
          <a:p>
            <a:pPr marL="355600" marR="5080" indent="-342900">
              <a:lnSpc>
                <a:spcPct val="100000"/>
              </a:lnSpc>
              <a:buFont typeface="Arial"/>
              <a:buChar char="•"/>
              <a:tabLst>
                <a:tab pos="354965" algn="l"/>
                <a:tab pos="355600" algn="l"/>
                <a:tab pos="2011680" algn="l"/>
                <a:tab pos="3091815" algn="l"/>
                <a:tab pos="4052570" algn="l"/>
                <a:tab pos="4432935" algn="l"/>
                <a:tab pos="4942205" algn="l"/>
              </a:tabLst>
            </a:pPr>
            <a:r>
              <a:rPr sz="2000" spc="85" dirty="0">
                <a:latin typeface="Times New Roman"/>
                <a:cs typeface="Times New Roman"/>
              </a:rPr>
              <a:t>R</a:t>
            </a:r>
            <a:r>
              <a:rPr sz="2000" spc="60" dirty="0">
                <a:latin typeface="Times New Roman"/>
                <a:cs typeface="Times New Roman"/>
              </a:rPr>
              <a:t>e</a:t>
            </a:r>
            <a:r>
              <a:rPr sz="2000" spc="40" dirty="0">
                <a:latin typeface="Times New Roman"/>
                <a:cs typeface="Times New Roman"/>
              </a:rPr>
              <a:t>lati</a:t>
            </a:r>
            <a:r>
              <a:rPr sz="2000" spc="135" dirty="0">
                <a:latin typeface="Times New Roman"/>
                <a:cs typeface="Times New Roman"/>
              </a:rPr>
              <a:t>o</a:t>
            </a:r>
            <a:r>
              <a:rPr sz="2000" spc="145" dirty="0">
                <a:latin typeface="Times New Roman"/>
                <a:cs typeface="Times New Roman"/>
              </a:rPr>
              <a:t>n</a:t>
            </a:r>
            <a:r>
              <a:rPr sz="2000" spc="70" dirty="0">
                <a:latin typeface="Times New Roman"/>
                <a:cs typeface="Times New Roman"/>
              </a:rPr>
              <a:t>shi</a:t>
            </a:r>
            <a:r>
              <a:rPr sz="2000" spc="95" dirty="0">
                <a:latin typeface="Times New Roman"/>
                <a:cs typeface="Times New Roman"/>
              </a:rPr>
              <a:t>p</a:t>
            </a:r>
            <a:r>
              <a:rPr sz="2000" spc="5" dirty="0">
                <a:latin typeface="Times New Roman"/>
                <a:cs typeface="Times New Roman"/>
              </a:rPr>
              <a:t>s</a:t>
            </a:r>
            <a:r>
              <a:rPr sz="2000" dirty="0">
                <a:latin typeface="Times New Roman"/>
                <a:cs typeface="Times New Roman"/>
              </a:rPr>
              <a:t>	</a:t>
            </a:r>
            <a:r>
              <a:rPr sz="2000" spc="70" dirty="0">
                <a:latin typeface="Times New Roman"/>
                <a:cs typeface="Times New Roman"/>
              </a:rPr>
              <a:t>b</a:t>
            </a:r>
            <a:r>
              <a:rPr sz="2000" spc="65" dirty="0">
                <a:latin typeface="Times New Roman"/>
                <a:cs typeface="Times New Roman"/>
              </a:rPr>
              <a:t>e</a:t>
            </a:r>
            <a:r>
              <a:rPr sz="2000" spc="125" dirty="0">
                <a:latin typeface="Times New Roman"/>
                <a:cs typeface="Times New Roman"/>
              </a:rPr>
              <a:t>t</a:t>
            </a:r>
            <a:r>
              <a:rPr sz="2000" spc="55" dirty="0">
                <a:latin typeface="Times New Roman"/>
                <a:cs typeface="Times New Roman"/>
              </a:rPr>
              <a:t>w</a:t>
            </a:r>
            <a:r>
              <a:rPr sz="2000" spc="40" dirty="0">
                <a:latin typeface="Times New Roman"/>
                <a:cs typeface="Times New Roman"/>
              </a:rPr>
              <a:t>e</a:t>
            </a:r>
            <a:r>
              <a:rPr sz="2000" spc="110" dirty="0">
                <a:latin typeface="Times New Roman"/>
                <a:cs typeface="Times New Roman"/>
              </a:rPr>
              <a:t>en</a:t>
            </a:r>
            <a:r>
              <a:rPr sz="2000" dirty="0">
                <a:latin typeface="Times New Roman"/>
                <a:cs typeface="Times New Roman"/>
              </a:rPr>
              <a:t>	</a:t>
            </a:r>
            <a:r>
              <a:rPr sz="2000" spc="105" dirty="0">
                <a:latin typeface="Times New Roman"/>
                <a:cs typeface="Times New Roman"/>
              </a:rPr>
              <a:t>e</a:t>
            </a:r>
            <a:r>
              <a:rPr sz="2000" spc="125" dirty="0">
                <a:latin typeface="Times New Roman"/>
                <a:cs typeface="Times New Roman"/>
              </a:rPr>
              <a:t>n</a:t>
            </a:r>
            <a:r>
              <a:rPr sz="2000" spc="65" dirty="0">
                <a:latin typeface="Times New Roman"/>
                <a:cs typeface="Times New Roman"/>
              </a:rPr>
              <a:t>titi</a:t>
            </a:r>
            <a:r>
              <a:rPr sz="2000" spc="25" dirty="0">
                <a:latin typeface="Times New Roman"/>
                <a:cs typeface="Times New Roman"/>
              </a:rPr>
              <a:t>es</a:t>
            </a:r>
            <a:r>
              <a:rPr sz="2000" dirty="0">
                <a:latin typeface="Times New Roman"/>
                <a:cs typeface="Times New Roman"/>
              </a:rPr>
              <a:t>	</a:t>
            </a:r>
            <a:r>
              <a:rPr sz="2000" spc="60" dirty="0">
                <a:latin typeface="Times New Roman"/>
                <a:cs typeface="Times New Roman"/>
              </a:rPr>
              <a:t>o</a:t>
            </a:r>
            <a:r>
              <a:rPr sz="2000" spc="45" dirty="0">
                <a:latin typeface="Times New Roman"/>
                <a:cs typeface="Times New Roman"/>
              </a:rPr>
              <a:t>f</a:t>
            </a:r>
            <a:r>
              <a:rPr sz="2000" dirty="0">
                <a:latin typeface="Times New Roman"/>
                <a:cs typeface="Times New Roman"/>
              </a:rPr>
              <a:t>	</a:t>
            </a:r>
            <a:r>
              <a:rPr sz="2000" spc="125" dirty="0">
                <a:latin typeface="Times New Roman"/>
                <a:cs typeface="Times New Roman"/>
              </a:rPr>
              <a:t>t</a:t>
            </a:r>
            <a:r>
              <a:rPr sz="2000" spc="105" dirty="0">
                <a:latin typeface="Times New Roman"/>
                <a:cs typeface="Times New Roman"/>
              </a:rPr>
              <a:t>he</a:t>
            </a:r>
            <a:r>
              <a:rPr sz="2000" dirty="0">
                <a:latin typeface="Times New Roman"/>
                <a:cs typeface="Times New Roman"/>
              </a:rPr>
              <a:t>	</a:t>
            </a:r>
            <a:r>
              <a:rPr sz="2000" spc="5" dirty="0">
                <a:latin typeface="Times New Roman"/>
                <a:cs typeface="Times New Roman"/>
              </a:rPr>
              <a:t>s</a:t>
            </a:r>
            <a:r>
              <a:rPr sz="2000" spc="35" dirty="0">
                <a:latin typeface="Times New Roman"/>
                <a:cs typeface="Times New Roman"/>
              </a:rPr>
              <a:t>a</a:t>
            </a:r>
            <a:r>
              <a:rPr sz="2000" spc="45" dirty="0">
                <a:latin typeface="Times New Roman"/>
                <a:cs typeface="Times New Roman"/>
              </a:rPr>
              <a:t>me  </a:t>
            </a:r>
            <a:r>
              <a:rPr sz="2000" spc="80" dirty="0">
                <a:latin typeface="Times New Roman"/>
                <a:cs typeface="Times New Roman"/>
              </a:rPr>
              <a:t>entity</a:t>
            </a:r>
            <a:r>
              <a:rPr sz="2000" spc="-60" dirty="0">
                <a:latin typeface="Times New Roman"/>
                <a:cs typeface="Times New Roman"/>
              </a:rPr>
              <a:t> </a:t>
            </a:r>
            <a:r>
              <a:rPr sz="2000" spc="55" dirty="0">
                <a:latin typeface="Times New Roman"/>
                <a:cs typeface="Times New Roman"/>
              </a:rPr>
              <a:t>set</a:t>
            </a:r>
            <a:r>
              <a:rPr sz="2000" spc="-65" dirty="0">
                <a:latin typeface="Times New Roman"/>
                <a:cs typeface="Times New Roman"/>
              </a:rPr>
              <a:t> </a:t>
            </a:r>
            <a:r>
              <a:rPr sz="2000" spc="50" dirty="0">
                <a:latin typeface="Times New Roman"/>
                <a:cs typeface="Times New Roman"/>
              </a:rPr>
              <a:t>are</a:t>
            </a:r>
            <a:r>
              <a:rPr sz="2000" spc="-70" dirty="0">
                <a:latin typeface="Times New Roman"/>
                <a:cs typeface="Times New Roman"/>
              </a:rPr>
              <a:t> </a:t>
            </a:r>
            <a:r>
              <a:rPr sz="2000" spc="35" dirty="0">
                <a:latin typeface="Times New Roman"/>
                <a:cs typeface="Times New Roman"/>
              </a:rPr>
              <a:t>called</a:t>
            </a:r>
            <a:r>
              <a:rPr sz="2000" spc="-70" dirty="0">
                <a:latin typeface="Times New Roman"/>
                <a:cs typeface="Times New Roman"/>
              </a:rPr>
              <a:t> </a:t>
            </a:r>
            <a:r>
              <a:rPr sz="2000" spc="50" dirty="0">
                <a:latin typeface="Times New Roman"/>
                <a:cs typeface="Times New Roman"/>
              </a:rPr>
              <a:t>self-relationships.</a:t>
            </a:r>
            <a:endParaRPr sz="2000">
              <a:latin typeface="Times New Roman"/>
              <a:cs typeface="Times New Roman"/>
            </a:endParaRPr>
          </a:p>
          <a:p>
            <a:pPr marL="355600" marR="5715" indent="-342900">
              <a:lnSpc>
                <a:spcPct val="100000"/>
              </a:lnSpc>
              <a:buFont typeface="Arial"/>
              <a:buChar char="•"/>
              <a:tabLst>
                <a:tab pos="354965" algn="l"/>
                <a:tab pos="355600" algn="l"/>
              </a:tabLst>
            </a:pPr>
            <a:r>
              <a:rPr sz="2000" spc="55" dirty="0">
                <a:latin typeface="Times New Roman"/>
                <a:cs typeface="Times New Roman"/>
              </a:rPr>
              <a:t>For </a:t>
            </a:r>
            <a:r>
              <a:rPr sz="2000" spc="50" dirty="0">
                <a:latin typeface="Times New Roman"/>
                <a:cs typeface="Times New Roman"/>
              </a:rPr>
              <a:t>example, </a:t>
            </a:r>
            <a:r>
              <a:rPr sz="2000" spc="30" dirty="0">
                <a:latin typeface="Times New Roman"/>
                <a:cs typeface="Times New Roman"/>
              </a:rPr>
              <a:t>a </a:t>
            </a:r>
            <a:r>
              <a:rPr sz="2000" spc="60" dirty="0">
                <a:latin typeface="Times New Roman"/>
                <a:cs typeface="Times New Roman"/>
              </a:rPr>
              <a:t>manager </a:t>
            </a:r>
            <a:r>
              <a:rPr sz="2000" spc="110" dirty="0">
                <a:latin typeface="Times New Roman"/>
                <a:cs typeface="Times New Roman"/>
              </a:rPr>
              <a:t>and </a:t>
            </a:r>
            <a:r>
              <a:rPr sz="2000" spc="60" dirty="0">
                <a:latin typeface="Times New Roman"/>
                <a:cs typeface="Times New Roman"/>
              </a:rPr>
              <a:t>his </a:t>
            </a:r>
            <a:r>
              <a:rPr sz="2000" spc="75" dirty="0">
                <a:latin typeface="Times New Roman"/>
                <a:cs typeface="Times New Roman"/>
              </a:rPr>
              <a:t>team </a:t>
            </a:r>
            <a:r>
              <a:rPr sz="2000" spc="65" dirty="0">
                <a:latin typeface="Times New Roman"/>
                <a:cs typeface="Times New Roman"/>
              </a:rPr>
              <a:t>member,  </a:t>
            </a:r>
            <a:r>
              <a:rPr sz="2000" spc="120" dirty="0">
                <a:latin typeface="Times New Roman"/>
                <a:cs typeface="Times New Roman"/>
              </a:rPr>
              <a:t>both</a:t>
            </a:r>
            <a:r>
              <a:rPr sz="2000" spc="-60" dirty="0">
                <a:latin typeface="Times New Roman"/>
                <a:cs typeface="Times New Roman"/>
              </a:rPr>
              <a:t> </a:t>
            </a:r>
            <a:r>
              <a:rPr sz="2000" spc="60" dirty="0">
                <a:latin typeface="Times New Roman"/>
                <a:cs typeface="Times New Roman"/>
              </a:rPr>
              <a:t>belong</a:t>
            </a:r>
            <a:r>
              <a:rPr sz="2000" spc="-45" dirty="0">
                <a:latin typeface="Times New Roman"/>
                <a:cs typeface="Times New Roman"/>
              </a:rPr>
              <a:t> </a:t>
            </a:r>
            <a:r>
              <a:rPr sz="2000" spc="110" dirty="0">
                <a:latin typeface="Times New Roman"/>
                <a:cs typeface="Times New Roman"/>
              </a:rPr>
              <a:t>to</a:t>
            </a:r>
            <a:r>
              <a:rPr sz="2000" spc="-65"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50" dirty="0">
                <a:latin typeface="Times New Roman"/>
                <a:cs typeface="Times New Roman"/>
              </a:rPr>
              <a:t>employee</a:t>
            </a:r>
            <a:r>
              <a:rPr sz="2000" spc="-45" dirty="0">
                <a:latin typeface="Times New Roman"/>
                <a:cs typeface="Times New Roman"/>
              </a:rPr>
              <a:t> </a:t>
            </a:r>
            <a:r>
              <a:rPr sz="2000" spc="80" dirty="0">
                <a:latin typeface="Times New Roman"/>
                <a:cs typeface="Times New Roman"/>
              </a:rPr>
              <a:t>entity</a:t>
            </a:r>
            <a:r>
              <a:rPr sz="2000" spc="-60" dirty="0">
                <a:latin typeface="Times New Roman"/>
                <a:cs typeface="Times New Roman"/>
              </a:rPr>
              <a:t> </a:t>
            </a:r>
            <a:r>
              <a:rPr sz="2000" spc="45" dirty="0">
                <a:latin typeface="Times New Roman"/>
                <a:cs typeface="Times New Roman"/>
              </a:rPr>
              <a:t>set.</a:t>
            </a:r>
            <a:endParaRPr sz="2000">
              <a:latin typeface="Times New Roman"/>
              <a:cs typeface="Times New Roman"/>
            </a:endParaRPr>
          </a:p>
          <a:p>
            <a:pPr>
              <a:lnSpc>
                <a:spcPct val="100000"/>
              </a:lnSpc>
              <a:spcBef>
                <a:spcPts val="25"/>
              </a:spcBef>
            </a:pPr>
            <a:endParaRPr sz="2950">
              <a:latin typeface="Times New Roman"/>
              <a:cs typeface="Times New Roman"/>
            </a:endParaRPr>
          </a:p>
          <a:p>
            <a:pPr marL="12700" algn="just">
              <a:lnSpc>
                <a:spcPct val="100000"/>
              </a:lnSpc>
            </a:pPr>
            <a:r>
              <a:rPr sz="2000" spc="-5" dirty="0">
                <a:latin typeface="Segoe UI Symbol"/>
                <a:cs typeface="Segoe UI Symbol"/>
              </a:rPr>
              <a:t>⮚ </a:t>
            </a:r>
            <a:r>
              <a:rPr sz="2000" b="1" spc="-50" dirty="0">
                <a:latin typeface="Times New Roman"/>
                <a:cs typeface="Times New Roman"/>
              </a:rPr>
              <a:t>Binary</a:t>
            </a:r>
            <a:r>
              <a:rPr sz="2000" b="1" spc="-240" dirty="0">
                <a:latin typeface="Times New Roman"/>
                <a:cs typeface="Times New Roman"/>
              </a:rPr>
              <a:t> </a:t>
            </a:r>
            <a:r>
              <a:rPr sz="2000" b="1" spc="-20" dirty="0">
                <a:latin typeface="Times New Roman"/>
                <a:cs typeface="Times New Roman"/>
              </a:rPr>
              <a:t>relationships:</a:t>
            </a:r>
            <a:endParaRPr sz="2000">
              <a:latin typeface="Times New Roman"/>
              <a:cs typeface="Times New Roman"/>
            </a:endParaRPr>
          </a:p>
          <a:p>
            <a:pPr marL="355600" marR="5715" indent="-342900" algn="just">
              <a:lnSpc>
                <a:spcPct val="100000"/>
              </a:lnSpc>
              <a:buFont typeface="Arial"/>
              <a:buChar char="•"/>
              <a:tabLst>
                <a:tab pos="355600" algn="l"/>
              </a:tabLst>
            </a:pPr>
            <a:r>
              <a:rPr sz="2000" spc="70" dirty="0">
                <a:latin typeface="Times New Roman"/>
                <a:cs typeface="Times New Roman"/>
              </a:rPr>
              <a:t>Relationships </a:t>
            </a:r>
            <a:r>
              <a:rPr sz="2000" spc="114" dirty="0">
                <a:latin typeface="Times New Roman"/>
                <a:cs typeface="Times New Roman"/>
              </a:rPr>
              <a:t>that </a:t>
            </a:r>
            <a:r>
              <a:rPr sz="2000" spc="55" dirty="0">
                <a:latin typeface="Times New Roman"/>
                <a:cs typeface="Times New Roman"/>
              </a:rPr>
              <a:t>exist </a:t>
            </a:r>
            <a:r>
              <a:rPr sz="2000" spc="80" dirty="0">
                <a:latin typeface="Times New Roman"/>
                <a:cs typeface="Times New Roman"/>
              </a:rPr>
              <a:t>between </a:t>
            </a:r>
            <a:r>
              <a:rPr sz="2000" spc="70" dirty="0">
                <a:latin typeface="Times New Roman"/>
                <a:cs typeface="Times New Roman"/>
              </a:rPr>
              <a:t>entities </a:t>
            </a:r>
            <a:r>
              <a:rPr sz="2000" spc="50" dirty="0">
                <a:latin typeface="Times New Roman"/>
                <a:cs typeface="Times New Roman"/>
              </a:rPr>
              <a:t>of  </a:t>
            </a:r>
            <a:r>
              <a:rPr sz="2000" spc="90" dirty="0">
                <a:latin typeface="Times New Roman"/>
                <a:cs typeface="Times New Roman"/>
              </a:rPr>
              <a:t>two </a:t>
            </a:r>
            <a:r>
              <a:rPr sz="2000" spc="70" dirty="0">
                <a:latin typeface="Times New Roman"/>
                <a:cs typeface="Times New Roman"/>
              </a:rPr>
              <a:t>different </a:t>
            </a:r>
            <a:r>
              <a:rPr sz="2000" spc="80" dirty="0">
                <a:latin typeface="Times New Roman"/>
                <a:cs typeface="Times New Roman"/>
              </a:rPr>
              <a:t>entity </a:t>
            </a:r>
            <a:r>
              <a:rPr sz="2000" spc="45" dirty="0">
                <a:latin typeface="Times New Roman"/>
                <a:cs typeface="Times New Roman"/>
              </a:rPr>
              <a:t>sets </a:t>
            </a:r>
            <a:r>
              <a:rPr sz="2000" spc="50" dirty="0">
                <a:latin typeface="Times New Roman"/>
                <a:cs typeface="Times New Roman"/>
              </a:rPr>
              <a:t>are </a:t>
            </a:r>
            <a:r>
              <a:rPr sz="2000" spc="35" dirty="0">
                <a:latin typeface="Times New Roman"/>
                <a:cs typeface="Times New Roman"/>
              </a:rPr>
              <a:t>called  </a:t>
            </a:r>
            <a:r>
              <a:rPr sz="2000" spc="65" dirty="0">
                <a:latin typeface="Times New Roman"/>
                <a:cs typeface="Times New Roman"/>
              </a:rPr>
              <a:t>binary  </a:t>
            </a:r>
            <a:r>
              <a:rPr sz="2000" spc="60" dirty="0">
                <a:latin typeface="Times New Roman"/>
                <a:cs typeface="Times New Roman"/>
              </a:rPr>
              <a:t>relationships.</a:t>
            </a:r>
            <a:endParaRPr sz="2000">
              <a:latin typeface="Times New Roman"/>
              <a:cs typeface="Times New Roman"/>
            </a:endParaRPr>
          </a:p>
          <a:p>
            <a:pPr marL="355600" indent="-342900" algn="just">
              <a:lnSpc>
                <a:spcPct val="100000"/>
              </a:lnSpc>
              <a:buFont typeface="Arial"/>
              <a:buChar char="•"/>
              <a:tabLst>
                <a:tab pos="355600" algn="l"/>
              </a:tabLst>
            </a:pPr>
            <a:r>
              <a:rPr sz="2000" spc="55" dirty="0">
                <a:latin typeface="Times New Roman"/>
                <a:cs typeface="Times New Roman"/>
              </a:rPr>
              <a:t>For </a:t>
            </a:r>
            <a:r>
              <a:rPr sz="2000" spc="50" dirty="0">
                <a:latin typeface="Times New Roman"/>
                <a:cs typeface="Times New Roman"/>
              </a:rPr>
              <a:t>example, </a:t>
            </a:r>
            <a:r>
              <a:rPr sz="2000" spc="110" dirty="0">
                <a:latin typeface="Times New Roman"/>
                <a:cs typeface="Times New Roman"/>
              </a:rPr>
              <a:t>an</a:t>
            </a:r>
            <a:r>
              <a:rPr sz="2000" spc="720" dirty="0">
                <a:latin typeface="Times New Roman"/>
                <a:cs typeface="Times New Roman"/>
              </a:rPr>
              <a:t> </a:t>
            </a:r>
            <a:r>
              <a:rPr sz="2000" spc="55" dirty="0">
                <a:latin typeface="Times New Roman"/>
                <a:cs typeface="Times New Roman"/>
              </a:rPr>
              <a:t>employee belongs </a:t>
            </a:r>
            <a:r>
              <a:rPr sz="2000" spc="110" dirty="0">
                <a:latin typeface="Times New Roman"/>
                <a:cs typeface="Times New Roman"/>
              </a:rPr>
              <a:t>to</a:t>
            </a:r>
            <a:r>
              <a:rPr sz="2000" spc="450" dirty="0">
                <a:latin typeface="Times New Roman"/>
                <a:cs typeface="Times New Roman"/>
              </a:rPr>
              <a:t> </a:t>
            </a:r>
            <a:r>
              <a:rPr sz="2000" spc="30" dirty="0">
                <a:latin typeface="Times New Roman"/>
                <a:cs typeface="Times New Roman"/>
              </a:rPr>
              <a:t>a</a:t>
            </a:r>
            <a:endParaRPr sz="2000">
              <a:latin typeface="Times New Roman"/>
              <a:cs typeface="Times New Roman"/>
            </a:endParaRPr>
          </a:p>
          <a:p>
            <a:pPr marL="355600">
              <a:lnSpc>
                <a:spcPct val="100000"/>
              </a:lnSpc>
            </a:pPr>
            <a:r>
              <a:rPr sz="2000" spc="85" dirty="0">
                <a:latin typeface="Times New Roman"/>
                <a:cs typeface="Times New Roman"/>
              </a:rPr>
              <a:t>department.</a:t>
            </a:r>
            <a:endParaRPr sz="2000">
              <a:latin typeface="Times New Roman"/>
              <a:cs typeface="Times New Roman"/>
            </a:endParaRPr>
          </a:p>
        </p:txBody>
      </p:sp>
      <p:pic>
        <p:nvPicPr>
          <p:cNvPr id="5" name="object 5"/>
          <p:cNvPicPr/>
          <p:nvPr/>
        </p:nvPicPr>
        <p:blipFill>
          <a:blip r:embed="rId4" cstate="print"/>
          <a:stretch>
            <a:fillRect/>
          </a:stretch>
        </p:blipFill>
        <p:spPr>
          <a:xfrm>
            <a:off x="5950458" y="2884170"/>
            <a:ext cx="2666238" cy="1597152"/>
          </a:xfrm>
          <a:prstGeom prst="rect">
            <a:avLst/>
          </a:prstGeom>
        </p:spPr>
      </p:pic>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7</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7592"/>
            <a:ext cx="7858759" cy="635635"/>
          </a:xfrm>
          <a:prstGeom prst="rect">
            <a:avLst/>
          </a:prstGeom>
        </p:spPr>
        <p:txBody>
          <a:bodyPr vert="horz" wrap="square" lIns="0" tIns="12700" rIns="0" bIns="0" rtlCol="0">
            <a:spAutoFit/>
          </a:bodyPr>
          <a:lstStyle/>
          <a:p>
            <a:pPr marL="12700">
              <a:lnSpc>
                <a:spcPct val="100000"/>
              </a:lnSpc>
              <a:spcBef>
                <a:spcPts val="100"/>
              </a:spcBef>
            </a:pPr>
            <a:r>
              <a:rPr spc="140" dirty="0"/>
              <a:t>Entity-Relationship </a:t>
            </a:r>
            <a:r>
              <a:rPr spc="25" dirty="0"/>
              <a:t>(E-R) </a:t>
            </a:r>
            <a:r>
              <a:rPr spc="130" dirty="0"/>
              <a:t>Model</a:t>
            </a:r>
            <a:r>
              <a:rPr spc="-640" dirty="0"/>
              <a:t> </a:t>
            </a:r>
            <a:r>
              <a:rPr spc="-204" dirty="0"/>
              <a:t>4-5</a:t>
            </a:r>
          </a:p>
        </p:txBody>
      </p:sp>
      <p:pic>
        <p:nvPicPr>
          <p:cNvPr id="3" name="object 3"/>
          <p:cNvPicPr/>
          <p:nvPr/>
        </p:nvPicPr>
        <p:blipFill>
          <a:blip r:embed="rId3" cstate="print"/>
          <a:stretch>
            <a:fillRect/>
          </a:stretch>
        </p:blipFill>
        <p:spPr>
          <a:xfrm>
            <a:off x="6076950" y="835152"/>
            <a:ext cx="2954274" cy="1975103"/>
          </a:xfrm>
          <a:prstGeom prst="rect">
            <a:avLst/>
          </a:prstGeom>
        </p:spPr>
      </p:pic>
      <p:grpSp>
        <p:nvGrpSpPr>
          <p:cNvPr id="4" name="object 4"/>
          <p:cNvGrpSpPr/>
          <p:nvPr/>
        </p:nvGrpSpPr>
        <p:grpSpPr>
          <a:xfrm>
            <a:off x="339852" y="2929127"/>
            <a:ext cx="8457565" cy="2014855"/>
            <a:chOff x="339852" y="2929127"/>
            <a:chExt cx="8457565" cy="2014855"/>
          </a:xfrm>
        </p:grpSpPr>
        <p:pic>
          <p:nvPicPr>
            <p:cNvPr id="5" name="object 5"/>
            <p:cNvPicPr/>
            <p:nvPr/>
          </p:nvPicPr>
          <p:blipFill>
            <a:blip r:embed="rId4" cstate="print"/>
            <a:stretch>
              <a:fillRect/>
            </a:stretch>
          </p:blipFill>
          <p:spPr>
            <a:xfrm>
              <a:off x="339852" y="2929127"/>
              <a:ext cx="8457438" cy="2014728"/>
            </a:xfrm>
            <a:prstGeom prst="rect">
              <a:avLst/>
            </a:prstGeom>
          </p:spPr>
        </p:pic>
        <p:pic>
          <p:nvPicPr>
            <p:cNvPr id="6" name="object 6"/>
            <p:cNvPicPr/>
            <p:nvPr/>
          </p:nvPicPr>
          <p:blipFill>
            <a:blip r:embed="rId5" cstate="print"/>
            <a:stretch>
              <a:fillRect/>
            </a:stretch>
          </p:blipFill>
          <p:spPr>
            <a:xfrm>
              <a:off x="381000" y="2947415"/>
              <a:ext cx="8382000" cy="1939289"/>
            </a:xfrm>
            <a:prstGeom prst="rect">
              <a:avLst/>
            </a:prstGeom>
          </p:spPr>
        </p:pic>
      </p:grpSp>
      <p:sp>
        <p:nvSpPr>
          <p:cNvPr id="7" name="object 7"/>
          <p:cNvSpPr txBox="1"/>
          <p:nvPr/>
        </p:nvSpPr>
        <p:spPr>
          <a:xfrm>
            <a:off x="313181" y="818133"/>
            <a:ext cx="5347970" cy="3841115"/>
          </a:xfrm>
          <a:prstGeom prst="rect">
            <a:avLst/>
          </a:prstGeom>
        </p:spPr>
        <p:txBody>
          <a:bodyPr vert="horz" wrap="square" lIns="0" tIns="12065" rIns="0" bIns="0" rtlCol="0">
            <a:spAutoFit/>
          </a:bodyPr>
          <a:lstStyle/>
          <a:p>
            <a:pPr marL="12700" algn="just">
              <a:lnSpc>
                <a:spcPct val="100000"/>
              </a:lnSpc>
              <a:spcBef>
                <a:spcPts val="95"/>
              </a:spcBef>
            </a:pPr>
            <a:r>
              <a:rPr sz="2000" spc="-5" dirty="0">
                <a:latin typeface="Segoe UI Symbol"/>
                <a:cs typeface="Segoe UI Symbol"/>
              </a:rPr>
              <a:t>⮚ </a:t>
            </a:r>
            <a:r>
              <a:rPr sz="2000" b="1" spc="-40" dirty="0">
                <a:latin typeface="Times New Roman"/>
                <a:cs typeface="Times New Roman"/>
              </a:rPr>
              <a:t>Ternary</a:t>
            </a:r>
            <a:r>
              <a:rPr sz="2000" b="1" spc="-240" dirty="0">
                <a:latin typeface="Times New Roman"/>
                <a:cs typeface="Times New Roman"/>
              </a:rPr>
              <a:t> </a:t>
            </a:r>
            <a:r>
              <a:rPr sz="2000" b="1" spc="-20" dirty="0">
                <a:latin typeface="Times New Roman"/>
                <a:cs typeface="Times New Roman"/>
              </a:rPr>
              <a:t>relationships:</a:t>
            </a:r>
            <a:endParaRPr sz="2000">
              <a:latin typeface="Times New Roman"/>
              <a:cs typeface="Times New Roman"/>
            </a:endParaRPr>
          </a:p>
          <a:p>
            <a:pPr marL="354965" marR="5080" indent="-342900" algn="just">
              <a:lnSpc>
                <a:spcPct val="100000"/>
              </a:lnSpc>
              <a:buFont typeface="Arial"/>
              <a:buChar char="•"/>
              <a:tabLst>
                <a:tab pos="355600" algn="l"/>
              </a:tabLst>
            </a:pPr>
            <a:r>
              <a:rPr sz="2000" spc="70" dirty="0">
                <a:latin typeface="Times New Roman"/>
                <a:cs typeface="Times New Roman"/>
              </a:rPr>
              <a:t>Relationships </a:t>
            </a:r>
            <a:r>
              <a:rPr sz="2000" spc="114" dirty="0">
                <a:latin typeface="Times New Roman"/>
                <a:cs typeface="Times New Roman"/>
              </a:rPr>
              <a:t>that </a:t>
            </a:r>
            <a:r>
              <a:rPr sz="2000" spc="55" dirty="0">
                <a:latin typeface="Times New Roman"/>
                <a:cs typeface="Times New Roman"/>
              </a:rPr>
              <a:t>exist </a:t>
            </a:r>
            <a:r>
              <a:rPr sz="2000" spc="80" dirty="0">
                <a:latin typeface="Times New Roman"/>
                <a:cs typeface="Times New Roman"/>
              </a:rPr>
              <a:t>between </a:t>
            </a:r>
            <a:r>
              <a:rPr sz="2000" spc="90" dirty="0">
                <a:latin typeface="Times New Roman"/>
                <a:cs typeface="Times New Roman"/>
              </a:rPr>
              <a:t>three  </a:t>
            </a:r>
            <a:r>
              <a:rPr sz="2000" spc="70" dirty="0">
                <a:latin typeface="Times New Roman"/>
                <a:cs typeface="Times New Roman"/>
              </a:rPr>
              <a:t>entities </a:t>
            </a:r>
            <a:r>
              <a:rPr sz="2000" spc="55" dirty="0">
                <a:latin typeface="Times New Roman"/>
                <a:cs typeface="Times New Roman"/>
              </a:rPr>
              <a:t>of </a:t>
            </a:r>
            <a:r>
              <a:rPr sz="2000" spc="70" dirty="0">
                <a:latin typeface="Times New Roman"/>
                <a:cs typeface="Times New Roman"/>
              </a:rPr>
              <a:t>different </a:t>
            </a:r>
            <a:r>
              <a:rPr sz="2000" spc="80" dirty="0">
                <a:latin typeface="Times New Roman"/>
                <a:cs typeface="Times New Roman"/>
              </a:rPr>
              <a:t>entity </a:t>
            </a:r>
            <a:r>
              <a:rPr sz="2000" spc="45" dirty="0">
                <a:latin typeface="Times New Roman"/>
                <a:cs typeface="Times New Roman"/>
              </a:rPr>
              <a:t>sets </a:t>
            </a:r>
            <a:r>
              <a:rPr sz="2000" spc="50" dirty="0">
                <a:latin typeface="Times New Roman"/>
                <a:cs typeface="Times New Roman"/>
              </a:rPr>
              <a:t>are </a:t>
            </a:r>
            <a:r>
              <a:rPr sz="2000" spc="35" dirty="0">
                <a:latin typeface="Times New Roman"/>
                <a:cs typeface="Times New Roman"/>
              </a:rPr>
              <a:t>called  </a:t>
            </a:r>
            <a:r>
              <a:rPr sz="2000" spc="75" dirty="0">
                <a:latin typeface="Times New Roman"/>
                <a:cs typeface="Times New Roman"/>
              </a:rPr>
              <a:t>ternary</a:t>
            </a:r>
            <a:r>
              <a:rPr sz="2000" spc="-55" dirty="0">
                <a:latin typeface="Times New Roman"/>
                <a:cs typeface="Times New Roman"/>
              </a:rPr>
              <a:t> </a:t>
            </a:r>
            <a:r>
              <a:rPr sz="2000" spc="60" dirty="0">
                <a:latin typeface="Times New Roman"/>
                <a:cs typeface="Times New Roman"/>
              </a:rPr>
              <a:t>relationships.</a:t>
            </a:r>
            <a:endParaRPr sz="2000">
              <a:latin typeface="Times New Roman"/>
              <a:cs typeface="Times New Roman"/>
            </a:endParaRPr>
          </a:p>
          <a:p>
            <a:pPr marL="354965" marR="5715" indent="-342900" algn="just">
              <a:lnSpc>
                <a:spcPct val="100000"/>
              </a:lnSpc>
              <a:spcBef>
                <a:spcPts val="5"/>
              </a:spcBef>
              <a:buFont typeface="Arial"/>
              <a:buChar char="•"/>
              <a:tabLst>
                <a:tab pos="355600" algn="l"/>
              </a:tabLst>
            </a:pPr>
            <a:r>
              <a:rPr sz="2000" spc="55" dirty="0">
                <a:latin typeface="Times New Roman"/>
                <a:cs typeface="Times New Roman"/>
              </a:rPr>
              <a:t>For </a:t>
            </a:r>
            <a:r>
              <a:rPr sz="2000" spc="50" dirty="0">
                <a:latin typeface="Times New Roman"/>
                <a:cs typeface="Times New Roman"/>
              </a:rPr>
              <a:t>example, </a:t>
            </a:r>
            <a:r>
              <a:rPr sz="2000" spc="105" dirty="0">
                <a:latin typeface="Times New Roman"/>
                <a:cs typeface="Times New Roman"/>
              </a:rPr>
              <a:t>an </a:t>
            </a:r>
            <a:r>
              <a:rPr sz="2000" spc="55" dirty="0">
                <a:latin typeface="Times New Roman"/>
                <a:cs typeface="Times New Roman"/>
              </a:rPr>
              <a:t>employee </a:t>
            </a:r>
            <a:r>
              <a:rPr sz="2000" spc="65" dirty="0">
                <a:latin typeface="Times New Roman"/>
                <a:cs typeface="Times New Roman"/>
              </a:rPr>
              <a:t>works </a:t>
            </a:r>
            <a:r>
              <a:rPr sz="2000" spc="95" dirty="0">
                <a:latin typeface="Times New Roman"/>
                <a:cs typeface="Times New Roman"/>
              </a:rPr>
              <a:t>in </a:t>
            </a:r>
            <a:r>
              <a:rPr sz="2000" spc="110" dirty="0">
                <a:latin typeface="Times New Roman"/>
                <a:cs typeface="Times New Roman"/>
              </a:rPr>
              <a:t>the </a:t>
            </a:r>
            <a:r>
              <a:rPr sz="2000" spc="720" dirty="0">
                <a:latin typeface="Times New Roman"/>
                <a:cs typeface="Times New Roman"/>
              </a:rPr>
              <a:t> </a:t>
            </a:r>
            <a:r>
              <a:rPr sz="2000" spc="75" dirty="0">
                <a:latin typeface="Times New Roman"/>
                <a:cs typeface="Times New Roman"/>
              </a:rPr>
              <a:t>accounts</a:t>
            </a:r>
            <a:r>
              <a:rPr sz="2000" spc="-65" dirty="0">
                <a:latin typeface="Times New Roman"/>
                <a:cs typeface="Times New Roman"/>
              </a:rPr>
              <a:t> </a:t>
            </a:r>
            <a:r>
              <a:rPr sz="2000" spc="95" dirty="0">
                <a:latin typeface="Times New Roman"/>
                <a:cs typeface="Times New Roman"/>
              </a:rPr>
              <a:t>department</a:t>
            </a:r>
            <a:r>
              <a:rPr sz="2000" spc="-50" dirty="0">
                <a:latin typeface="Times New Roman"/>
                <a:cs typeface="Times New Roman"/>
              </a:rPr>
              <a:t> </a:t>
            </a:r>
            <a:r>
              <a:rPr sz="2000" spc="80" dirty="0">
                <a:latin typeface="Times New Roman"/>
                <a:cs typeface="Times New Roman"/>
              </a:rPr>
              <a:t>at</a:t>
            </a:r>
            <a:r>
              <a:rPr sz="2000" spc="-65"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50" dirty="0">
                <a:latin typeface="Times New Roman"/>
                <a:cs typeface="Times New Roman"/>
              </a:rPr>
              <a:t>regional</a:t>
            </a:r>
            <a:r>
              <a:rPr sz="2000" spc="-55" dirty="0">
                <a:latin typeface="Times New Roman"/>
                <a:cs typeface="Times New Roman"/>
              </a:rPr>
              <a:t> </a:t>
            </a:r>
            <a:r>
              <a:rPr sz="2000" spc="80" dirty="0">
                <a:latin typeface="Times New Roman"/>
                <a:cs typeface="Times New Roman"/>
              </a:rPr>
              <a:t>branch.</a:t>
            </a:r>
            <a:endParaRPr sz="2000">
              <a:latin typeface="Times New Roman"/>
              <a:cs typeface="Times New Roman"/>
            </a:endParaRPr>
          </a:p>
          <a:p>
            <a:pPr marL="246379">
              <a:lnSpc>
                <a:spcPts val="2735"/>
              </a:lnSpc>
              <a:spcBef>
                <a:spcPts val="2395"/>
              </a:spcBef>
            </a:pPr>
            <a:r>
              <a:rPr sz="2400" spc="80" dirty="0">
                <a:solidFill>
                  <a:srgbClr val="FFFFFF"/>
                </a:solidFill>
                <a:latin typeface="Times New Roman"/>
                <a:cs typeface="Times New Roman"/>
              </a:rPr>
              <a:t>Relationships</a:t>
            </a:r>
            <a:r>
              <a:rPr sz="2400" spc="-80" dirty="0">
                <a:solidFill>
                  <a:srgbClr val="FFFFFF"/>
                </a:solidFill>
                <a:latin typeface="Times New Roman"/>
                <a:cs typeface="Times New Roman"/>
              </a:rPr>
              <a:t> </a:t>
            </a:r>
            <a:r>
              <a:rPr sz="2400" spc="90" dirty="0">
                <a:solidFill>
                  <a:srgbClr val="FFFFFF"/>
                </a:solidFill>
                <a:latin typeface="Times New Roman"/>
                <a:cs typeface="Times New Roman"/>
              </a:rPr>
              <a:t>can</a:t>
            </a:r>
            <a:r>
              <a:rPr sz="2400" spc="-90" dirty="0">
                <a:solidFill>
                  <a:srgbClr val="FFFFFF"/>
                </a:solidFill>
                <a:latin typeface="Times New Roman"/>
                <a:cs typeface="Times New Roman"/>
              </a:rPr>
              <a:t> </a:t>
            </a:r>
            <a:r>
              <a:rPr sz="2400" spc="40" dirty="0">
                <a:solidFill>
                  <a:srgbClr val="FFFFFF"/>
                </a:solidFill>
                <a:latin typeface="Times New Roman"/>
                <a:cs typeface="Times New Roman"/>
              </a:rPr>
              <a:t>also</a:t>
            </a:r>
            <a:r>
              <a:rPr sz="2400" spc="-80" dirty="0">
                <a:solidFill>
                  <a:srgbClr val="FFFFFF"/>
                </a:solidFill>
                <a:latin typeface="Times New Roman"/>
                <a:cs typeface="Times New Roman"/>
              </a:rPr>
              <a:t> </a:t>
            </a:r>
            <a:r>
              <a:rPr sz="2400" spc="80" dirty="0">
                <a:solidFill>
                  <a:srgbClr val="FFFFFF"/>
                </a:solidFill>
                <a:latin typeface="Times New Roman"/>
                <a:cs typeface="Times New Roman"/>
              </a:rPr>
              <a:t>be</a:t>
            </a:r>
            <a:r>
              <a:rPr sz="2400" spc="-105" dirty="0">
                <a:solidFill>
                  <a:srgbClr val="FFFFFF"/>
                </a:solidFill>
                <a:latin typeface="Times New Roman"/>
                <a:cs typeface="Times New Roman"/>
              </a:rPr>
              <a:t> </a:t>
            </a:r>
            <a:r>
              <a:rPr sz="2400" spc="105" dirty="0">
                <a:solidFill>
                  <a:srgbClr val="FFFFFF"/>
                </a:solidFill>
                <a:latin typeface="Times New Roman"/>
                <a:cs typeface="Times New Roman"/>
              </a:rPr>
              <a:t>mapped</a:t>
            </a:r>
            <a:r>
              <a:rPr sz="2400" spc="-80" dirty="0">
                <a:solidFill>
                  <a:srgbClr val="FFFFFF"/>
                </a:solidFill>
                <a:latin typeface="Times New Roman"/>
                <a:cs typeface="Times New Roman"/>
              </a:rPr>
              <a:t> </a:t>
            </a:r>
            <a:r>
              <a:rPr sz="2400" dirty="0">
                <a:solidFill>
                  <a:srgbClr val="FFFFFF"/>
                </a:solidFill>
                <a:latin typeface="Times New Roman"/>
                <a:cs typeface="Times New Roman"/>
              </a:rPr>
              <a:t>as:</a:t>
            </a:r>
            <a:endParaRPr sz="2400">
              <a:latin typeface="Times New Roman"/>
              <a:cs typeface="Times New Roman"/>
            </a:endParaRPr>
          </a:p>
          <a:p>
            <a:pPr marL="589280" lvl="1" indent="-343535">
              <a:lnSpc>
                <a:spcPts val="2590"/>
              </a:lnSpc>
              <a:buFont typeface="Wingdings"/>
              <a:buChar char=""/>
              <a:tabLst>
                <a:tab pos="589915" algn="l"/>
              </a:tabLst>
            </a:pPr>
            <a:r>
              <a:rPr sz="2400" spc="145" dirty="0">
                <a:solidFill>
                  <a:srgbClr val="FFFFFF"/>
                </a:solidFill>
                <a:latin typeface="Times New Roman"/>
                <a:cs typeface="Times New Roman"/>
              </a:rPr>
              <a:t>One-to-One</a:t>
            </a:r>
            <a:endParaRPr sz="2400">
              <a:latin typeface="Times New Roman"/>
              <a:cs typeface="Times New Roman"/>
            </a:endParaRPr>
          </a:p>
          <a:p>
            <a:pPr marL="589280" lvl="1" indent="-343535">
              <a:lnSpc>
                <a:spcPts val="2590"/>
              </a:lnSpc>
              <a:buFont typeface="Wingdings"/>
              <a:buChar char=""/>
              <a:tabLst>
                <a:tab pos="589915" algn="l"/>
              </a:tabLst>
            </a:pPr>
            <a:r>
              <a:rPr sz="2400" spc="105" dirty="0">
                <a:solidFill>
                  <a:srgbClr val="FFFFFF"/>
                </a:solidFill>
                <a:latin typeface="Times New Roman"/>
                <a:cs typeface="Times New Roman"/>
              </a:rPr>
              <a:t>One-to-Many</a:t>
            </a:r>
            <a:endParaRPr sz="2400">
              <a:latin typeface="Times New Roman"/>
              <a:cs typeface="Times New Roman"/>
            </a:endParaRPr>
          </a:p>
          <a:p>
            <a:pPr marL="589280" lvl="1" indent="-343535">
              <a:lnSpc>
                <a:spcPts val="2590"/>
              </a:lnSpc>
              <a:buFont typeface="Wingdings"/>
              <a:buChar char=""/>
              <a:tabLst>
                <a:tab pos="589915" algn="l"/>
              </a:tabLst>
            </a:pPr>
            <a:r>
              <a:rPr sz="2400" spc="105" dirty="0">
                <a:solidFill>
                  <a:srgbClr val="FFFFFF"/>
                </a:solidFill>
                <a:latin typeface="Times New Roman"/>
                <a:cs typeface="Times New Roman"/>
              </a:rPr>
              <a:t>Many-to-One</a:t>
            </a:r>
            <a:endParaRPr sz="2400">
              <a:latin typeface="Times New Roman"/>
              <a:cs typeface="Times New Roman"/>
            </a:endParaRPr>
          </a:p>
          <a:p>
            <a:pPr marL="589280" lvl="1" indent="-343535">
              <a:lnSpc>
                <a:spcPts val="2735"/>
              </a:lnSpc>
              <a:buFont typeface="Wingdings"/>
              <a:buChar char=""/>
              <a:tabLst>
                <a:tab pos="589915" algn="l"/>
              </a:tabLst>
            </a:pPr>
            <a:r>
              <a:rPr sz="2400" spc="75" dirty="0">
                <a:solidFill>
                  <a:srgbClr val="FFFFFF"/>
                </a:solidFill>
                <a:latin typeface="Times New Roman"/>
                <a:cs typeface="Times New Roman"/>
              </a:rPr>
              <a:t>Many-to-Many</a:t>
            </a:r>
            <a:endParaRPr sz="2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8</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42925"/>
            <a:ext cx="7776845" cy="635635"/>
          </a:xfrm>
          <a:prstGeom prst="rect">
            <a:avLst/>
          </a:prstGeom>
        </p:spPr>
        <p:txBody>
          <a:bodyPr vert="horz" wrap="square" lIns="0" tIns="12700" rIns="0" bIns="0" rtlCol="0">
            <a:spAutoFit/>
          </a:bodyPr>
          <a:lstStyle/>
          <a:p>
            <a:pPr marL="12700">
              <a:lnSpc>
                <a:spcPct val="100000"/>
              </a:lnSpc>
              <a:spcBef>
                <a:spcPts val="100"/>
              </a:spcBef>
            </a:pPr>
            <a:r>
              <a:rPr spc="140" dirty="0"/>
              <a:t>Entity-Relationship </a:t>
            </a:r>
            <a:r>
              <a:rPr spc="25" dirty="0"/>
              <a:t>(E-R) </a:t>
            </a:r>
            <a:r>
              <a:rPr spc="130" dirty="0"/>
              <a:t>Model</a:t>
            </a:r>
            <a:r>
              <a:rPr spc="-640" dirty="0"/>
              <a:t> </a:t>
            </a:r>
            <a:r>
              <a:rPr spc="-420" dirty="0"/>
              <a:t>5-5</a:t>
            </a:r>
          </a:p>
        </p:txBody>
      </p:sp>
      <p:sp>
        <p:nvSpPr>
          <p:cNvPr id="3" name="object 3"/>
          <p:cNvSpPr txBox="1"/>
          <p:nvPr/>
        </p:nvSpPr>
        <p:spPr>
          <a:xfrm>
            <a:off x="313181" y="913383"/>
            <a:ext cx="8036559" cy="1244600"/>
          </a:xfrm>
          <a:prstGeom prst="rect">
            <a:avLst/>
          </a:prstGeom>
        </p:spPr>
        <p:txBody>
          <a:bodyPr vert="horz" wrap="square" lIns="0" tIns="12065" rIns="0" bIns="0" rtlCol="0">
            <a:spAutoFit/>
          </a:bodyPr>
          <a:lstStyle/>
          <a:p>
            <a:pPr marL="12700">
              <a:lnSpc>
                <a:spcPct val="100000"/>
              </a:lnSpc>
              <a:spcBef>
                <a:spcPts val="95"/>
              </a:spcBef>
            </a:pPr>
            <a:r>
              <a:rPr sz="2000" spc="75" dirty="0">
                <a:latin typeface="Times New Roman"/>
                <a:cs typeface="Times New Roman"/>
              </a:rPr>
              <a:t>Some</a:t>
            </a:r>
            <a:r>
              <a:rPr sz="2000" spc="-65" dirty="0">
                <a:latin typeface="Times New Roman"/>
                <a:cs typeface="Times New Roman"/>
              </a:rPr>
              <a:t> </a:t>
            </a:r>
            <a:r>
              <a:rPr sz="2000" spc="75" dirty="0">
                <a:latin typeface="Times New Roman"/>
                <a:cs typeface="Times New Roman"/>
              </a:rPr>
              <a:t>additional</a:t>
            </a:r>
            <a:r>
              <a:rPr sz="2000" spc="-70" dirty="0">
                <a:latin typeface="Times New Roman"/>
                <a:cs typeface="Times New Roman"/>
              </a:rPr>
              <a:t> </a:t>
            </a:r>
            <a:r>
              <a:rPr sz="2000" spc="70" dirty="0">
                <a:latin typeface="Times New Roman"/>
                <a:cs typeface="Times New Roman"/>
              </a:rPr>
              <a:t>concepts</a:t>
            </a:r>
            <a:r>
              <a:rPr sz="2000" spc="-65" dirty="0">
                <a:latin typeface="Times New Roman"/>
                <a:cs typeface="Times New Roman"/>
              </a:rPr>
              <a:t> </a:t>
            </a:r>
            <a:r>
              <a:rPr sz="2000" spc="95" dirty="0">
                <a:latin typeface="Times New Roman"/>
                <a:cs typeface="Times New Roman"/>
              </a:rPr>
              <a:t>in</a:t>
            </a:r>
            <a:r>
              <a:rPr sz="2000" spc="-75" dirty="0">
                <a:latin typeface="Times New Roman"/>
                <a:cs typeface="Times New Roman"/>
              </a:rPr>
              <a:t> </a:t>
            </a:r>
            <a:r>
              <a:rPr sz="2000" spc="110" dirty="0">
                <a:latin typeface="Times New Roman"/>
                <a:cs typeface="Times New Roman"/>
              </a:rPr>
              <a:t>the</a:t>
            </a:r>
            <a:r>
              <a:rPr sz="2000" spc="-65" dirty="0">
                <a:latin typeface="Times New Roman"/>
                <a:cs typeface="Times New Roman"/>
              </a:rPr>
              <a:t> </a:t>
            </a:r>
            <a:r>
              <a:rPr sz="2000" spc="30" dirty="0">
                <a:latin typeface="Times New Roman"/>
                <a:cs typeface="Times New Roman"/>
              </a:rPr>
              <a:t>E-R</a:t>
            </a:r>
            <a:r>
              <a:rPr sz="2000" spc="-75" dirty="0">
                <a:latin typeface="Times New Roman"/>
                <a:cs typeface="Times New Roman"/>
              </a:rPr>
              <a:t> </a:t>
            </a:r>
            <a:r>
              <a:rPr sz="2000" spc="70" dirty="0">
                <a:latin typeface="Times New Roman"/>
                <a:cs typeface="Times New Roman"/>
              </a:rPr>
              <a:t>model</a:t>
            </a:r>
            <a:r>
              <a:rPr sz="2000" spc="-55" dirty="0">
                <a:latin typeface="Times New Roman"/>
                <a:cs typeface="Times New Roman"/>
              </a:rPr>
              <a:t> </a:t>
            </a:r>
            <a:r>
              <a:rPr sz="2000" spc="50" dirty="0">
                <a:latin typeface="Times New Roman"/>
                <a:cs typeface="Times New Roman"/>
              </a:rPr>
              <a:t>are</a:t>
            </a:r>
            <a:r>
              <a:rPr sz="2000" spc="-70" dirty="0">
                <a:latin typeface="Times New Roman"/>
                <a:cs typeface="Times New Roman"/>
              </a:rPr>
              <a:t> </a:t>
            </a:r>
            <a:r>
              <a:rPr sz="2000" spc="20" dirty="0">
                <a:latin typeface="Times New Roman"/>
                <a:cs typeface="Times New Roman"/>
              </a:rPr>
              <a:t>as</a:t>
            </a:r>
            <a:r>
              <a:rPr sz="2000" spc="-75" dirty="0">
                <a:latin typeface="Times New Roman"/>
                <a:cs typeface="Times New Roman"/>
              </a:rPr>
              <a:t> </a:t>
            </a:r>
            <a:r>
              <a:rPr sz="2000" spc="25" dirty="0">
                <a:latin typeface="Times New Roman"/>
                <a:cs typeface="Times New Roman"/>
              </a:rPr>
              <a:t>follows:</a:t>
            </a:r>
            <a:endParaRPr sz="2000">
              <a:latin typeface="Times New Roman"/>
              <a:cs typeface="Times New Roman"/>
            </a:endParaRPr>
          </a:p>
          <a:p>
            <a:pPr marL="354965" marR="5080" indent="-342900">
              <a:lnSpc>
                <a:spcPct val="100000"/>
              </a:lnSpc>
              <a:spcBef>
                <a:spcPts val="2405"/>
              </a:spcBef>
              <a:buFont typeface="Wingdings"/>
              <a:buChar char=""/>
              <a:tabLst>
                <a:tab pos="354965" algn="l"/>
                <a:tab pos="355600" algn="l"/>
              </a:tabLst>
            </a:pPr>
            <a:r>
              <a:rPr sz="2000" b="1" spc="-80" dirty="0">
                <a:latin typeface="Times New Roman"/>
                <a:cs typeface="Times New Roman"/>
              </a:rPr>
              <a:t>Primary</a:t>
            </a:r>
            <a:r>
              <a:rPr sz="2000" b="1" spc="-120" dirty="0">
                <a:latin typeface="Times New Roman"/>
                <a:cs typeface="Times New Roman"/>
              </a:rPr>
              <a:t> </a:t>
            </a:r>
            <a:r>
              <a:rPr sz="2000" b="1" spc="-60" dirty="0">
                <a:latin typeface="Times New Roman"/>
                <a:cs typeface="Times New Roman"/>
              </a:rPr>
              <a:t>Keys:</a:t>
            </a:r>
            <a:r>
              <a:rPr sz="2000" b="1" spc="-90" dirty="0">
                <a:latin typeface="Times New Roman"/>
                <a:cs typeface="Times New Roman"/>
              </a:rPr>
              <a:t> </a:t>
            </a:r>
            <a:r>
              <a:rPr sz="2000" spc="175" dirty="0">
                <a:latin typeface="Times New Roman"/>
                <a:cs typeface="Times New Roman"/>
              </a:rPr>
              <a:t>A</a:t>
            </a:r>
            <a:r>
              <a:rPr sz="2000" spc="-65" dirty="0">
                <a:latin typeface="Times New Roman"/>
                <a:cs typeface="Times New Roman"/>
              </a:rPr>
              <a:t> </a:t>
            </a:r>
            <a:r>
              <a:rPr sz="2000" spc="55" dirty="0">
                <a:latin typeface="Times New Roman"/>
                <a:cs typeface="Times New Roman"/>
              </a:rPr>
              <a:t>primary</a:t>
            </a:r>
            <a:r>
              <a:rPr sz="2000" spc="-70" dirty="0">
                <a:latin typeface="Times New Roman"/>
                <a:cs typeface="Times New Roman"/>
              </a:rPr>
              <a:t> </a:t>
            </a:r>
            <a:r>
              <a:rPr sz="2000" spc="40" dirty="0">
                <a:latin typeface="Times New Roman"/>
                <a:cs typeface="Times New Roman"/>
              </a:rPr>
              <a:t>key</a:t>
            </a:r>
            <a:r>
              <a:rPr sz="2000" spc="-60" dirty="0">
                <a:latin typeface="Times New Roman"/>
                <a:cs typeface="Times New Roman"/>
              </a:rPr>
              <a:t> </a:t>
            </a:r>
            <a:r>
              <a:rPr sz="2000" spc="5" dirty="0">
                <a:latin typeface="Times New Roman"/>
                <a:cs typeface="Times New Roman"/>
              </a:rPr>
              <a:t>is</a:t>
            </a:r>
            <a:r>
              <a:rPr sz="2000" spc="-70" dirty="0">
                <a:latin typeface="Times New Roman"/>
                <a:cs typeface="Times New Roman"/>
              </a:rPr>
              <a:t> </a:t>
            </a:r>
            <a:r>
              <a:rPr sz="2000" spc="105" dirty="0">
                <a:latin typeface="Times New Roman"/>
                <a:cs typeface="Times New Roman"/>
              </a:rPr>
              <a:t>an</a:t>
            </a:r>
            <a:r>
              <a:rPr sz="2000" spc="-65" dirty="0">
                <a:latin typeface="Times New Roman"/>
                <a:cs typeface="Times New Roman"/>
              </a:rPr>
              <a:t> </a:t>
            </a:r>
            <a:r>
              <a:rPr sz="2000" spc="85" dirty="0">
                <a:latin typeface="Times New Roman"/>
                <a:cs typeface="Times New Roman"/>
              </a:rPr>
              <a:t>attribute</a:t>
            </a:r>
            <a:r>
              <a:rPr sz="2000" spc="-55" dirty="0">
                <a:latin typeface="Times New Roman"/>
                <a:cs typeface="Times New Roman"/>
              </a:rPr>
              <a:t> </a:t>
            </a:r>
            <a:r>
              <a:rPr sz="2000" spc="114" dirty="0">
                <a:latin typeface="Times New Roman"/>
                <a:cs typeface="Times New Roman"/>
              </a:rPr>
              <a:t>that</a:t>
            </a:r>
            <a:r>
              <a:rPr sz="2000" spc="-60" dirty="0">
                <a:latin typeface="Times New Roman"/>
                <a:cs typeface="Times New Roman"/>
              </a:rPr>
              <a:t> </a:t>
            </a:r>
            <a:r>
              <a:rPr sz="2000" spc="75" dirty="0">
                <a:latin typeface="Times New Roman"/>
                <a:cs typeface="Times New Roman"/>
              </a:rPr>
              <a:t>can</a:t>
            </a:r>
            <a:r>
              <a:rPr sz="2000" spc="-65" dirty="0">
                <a:latin typeface="Times New Roman"/>
                <a:cs typeface="Times New Roman"/>
              </a:rPr>
              <a:t> </a:t>
            </a:r>
            <a:r>
              <a:rPr sz="2000" spc="80" dirty="0">
                <a:latin typeface="Times New Roman"/>
                <a:cs typeface="Times New Roman"/>
              </a:rPr>
              <a:t>uniquely</a:t>
            </a:r>
            <a:r>
              <a:rPr sz="2000" spc="-65" dirty="0">
                <a:latin typeface="Times New Roman"/>
                <a:cs typeface="Times New Roman"/>
              </a:rPr>
              <a:t> </a:t>
            </a:r>
            <a:r>
              <a:rPr sz="2000" spc="70" dirty="0">
                <a:latin typeface="Times New Roman"/>
                <a:cs typeface="Times New Roman"/>
              </a:rPr>
              <a:t>define</a:t>
            </a:r>
            <a:r>
              <a:rPr sz="2000" spc="-65" dirty="0">
                <a:latin typeface="Times New Roman"/>
                <a:cs typeface="Times New Roman"/>
              </a:rPr>
              <a:t> </a:t>
            </a:r>
            <a:r>
              <a:rPr sz="2000" spc="105" dirty="0">
                <a:latin typeface="Times New Roman"/>
                <a:cs typeface="Times New Roman"/>
              </a:rPr>
              <a:t>an  </a:t>
            </a:r>
            <a:r>
              <a:rPr sz="2000" spc="80" dirty="0">
                <a:latin typeface="Times New Roman"/>
                <a:cs typeface="Times New Roman"/>
              </a:rPr>
              <a:t>entity</a:t>
            </a:r>
            <a:r>
              <a:rPr sz="2000" spc="-60" dirty="0">
                <a:latin typeface="Times New Roman"/>
                <a:cs typeface="Times New Roman"/>
              </a:rPr>
              <a:t> </a:t>
            </a:r>
            <a:r>
              <a:rPr sz="2000" spc="95" dirty="0">
                <a:latin typeface="Times New Roman"/>
                <a:cs typeface="Times New Roman"/>
              </a:rPr>
              <a:t>in</a:t>
            </a:r>
            <a:r>
              <a:rPr sz="2000" spc="-75" dirty="0">
                <a:latin typeface="Times New Roman"/>
                <a:cs typeface="Times New Roman"/>
              </a:rPr>
              <a:t> </a:t>
            </a:r>
            <a:r>
              <a:rPr sz="2000" spc="105" dirty="0">
                <a:latin typeface="Times New Roman"/>
                <a:cs typeface="Times New Roman"/>
              </a:rPr>
              <a:t>an</a:t>
            </a:r>
            <a:r>
              <a:rPr sz="2000" spc="-70" dirty="0">
                <a:latin typeface="Times New Roman"/>
                <a:cs typeface="Times New Roman"/>
              </a:rPr>
              <a:t> </a:t>
            </a:r>
            <a:r>
              <a:rPr sz="2000" spc="80" dirty="0">
                <a:latin typeface="Times New Roman"/>
                <a:cs typeface="Times New Roman"/>
              </a:rPr>
              <a:t>entity</a:t>
            </a:r>
            <a:r>
              <a:rPr sz="2000" spc="-55" dirty="0">
                <a:latin typeface="Times New Roman"/>
                <a:cs typeface="Times New Roman"/>
              </a:rPr>
              <a:t> </a:t>
            </a:r>
            <a:r>
              <a:rPr sz="2000" spc="45" dirty="0">
                <a:latin typeface="Times New Roman"/>
                <a:cs typeface="Times New Roman"/>
              </a:rPr>
              <a:t>set.</a:t>
            </a:r>
            <a:endParaRPr sz="2000">
              <a:latin typeface="Times New Roman"/>
              <a:cs typeface="Times New Roman"/>
            </a:endParaRPr>
          </a:p>
        </p:txBody>
      </p:sp>
      <p:pic>
        <p:nvPicPr>
          <p:cNvPr id="4" name="object 4"/>
          <p:cNvPicPr/>
          <p:nvPr/>
        </p:nvPicPr>
        <p:blipFill>
          <a:blip r:embed="rId3" cstate="print"/>
          <a:stretch>
            <a:fillRect/>
          </a:stretch>
        </p:blipFill>
        <p:spPr>
          <a:xfrm>
            <a:off x="2616707" y="2127504"/>
            <a:ext cx="4431030" cy="981456"/>
          </a:xfrm>
          <a:prstGeom prst="rect">
            <a:avLst/>
          </a:prstGeom>
        </p:spPr>
      </p:pic>
      <p:sp>
        <p:nvSpPr>
          <p:cNvPr id="5" name="object 5"/>
          <p:cNvSpPr txBox="1"/>
          <p:nvPr/>
        </p:nvSpPr>
        <p:spPr>
          <a:xfrm>
            <a:off x="313181" y="3175000"/>
            <a:ext cx="8034020" cy="1431925"/>
          </a:xfrm>
          <a:prstGeom prst="rect">
            <a:avLst/>
          </a:prstGeom>
        </p:spPr>
        <p:txBody>
          <a:bodyPr vert="horz" wrap="square" lIns="0" tIns="12065" rIns="0" bIns="0" rtlCol="0">
            <a:spAutoFit/>
          </a:bodyPr>
          <a:lstStyle/>
          <a:p>
            <a:pPr marL="354965" marR="530860" indent="-342900">
              <a:lnSpc>
                <a:spcPct val="100000"/>
              </a:lnSpc>
              <a:spcBef>
                <a:spcPts val="95"/>
              </a:spcBef>
              <a:buFont typeface="Wingdings"/>
              <a:buChar char=""/>
              <a:tabLst>
                <a:tab pos="354965" algn="l"/>
                <a:tab pos="355600" algn="l"/>
              </a:tabLst>
            </a:pPr>
            <a:r>
              <a:rPr sz="2000" b="1" spc="20" dirty="0">
                <a:latin typeface="Times New Roman"/>
                <a:cs typeface="Times New Roman"/>
              </a:rPr>
              <a:t>Weak</a:t>
            </a:r>
            <a:r>
              <a:rPr sz="2000" b="1" spc="-110" dirty="0">
                <a:latin typeface="Times New Roman"/>
                <a:cs typeface="Times New Roman"/>
              </a:rPr>
              <a:t> </a:t>
            </a:r>
            <a:r>
              <a:rPr sz="2000" b="1" spc="15" dirty="0">
                <a:latin typeface="Times New Roman"/>
                <a:cs typeface="Times New Roman"/>
              </a:rPr>
              <a:t>entity</a:t>
            </a:r>
            <a:r>
              <a:rPr sz="2000" b="1" spc="-114" dirty="0">
                <a:latin typeface="Times New Roman"/>
                <a:cs typeface="Times New Roman"/>
              </a:rPr>
              <a:t> </a:t>
            </a:r>
            <a:r>
              <a:rPr sz="2000" b="1" spc="-25" dirty="0">
                <a:latin typeface="Times New Roman"/>
                <a:cs typeface="Times New Roman"/>
              </a:rPr>
              <a:t>sets:</a:t>
            </a:r>
            <a:r>
              <a:rPr sz="2000" b="1" spc="-95" dirty="0">
                <a:latin typeface="Times New Roman"/>
                <a:cs typeface="Times New Roman"/>
              </a:rPr>
              <a:t> </a:t>
            </a:r>
            <a:r>
              <a:rPr sz="2000" spc="70" dirty="0">
                <a:latin typeface="Times New Roman"/>
                <a:cs typeface="Times New Roman"/>
              </a:rPr>
              <a:t>Entity</a:t>
            </a:r>
            <a:r>
              <a:rPr sz="2000" spc="-60" dirty="0">
                <a:latin typeface="Times New Roman"/>
                <a:cs typeface="Times New Roman"/>
              </a:rPr>
              <a:t> </a:t>
            </a:r>
            <a:r>
              <a:rPr sz="2000" spc="45" dirty="0">
                <a:latin typeface="Times New Roman"/>
                <a:cs typeface="Times New Roman"/>
              </a:rPr>
              <a:t>sets</a:t>
            </a:r>
            <a:r>
              <a:rPr sz="2000" spc="-65" dirty="0">
                <a:latin typeface="Times New Roman"/>
                <a:cs typeface="Times New Roman"/>
              </a:rPr>
              <a:t> </a:t>
            </a:r>
            <a:r>
              <a:rPr sz="2000" spc="114" dirty="0">
                <a:latin typeface="Times New Roman"/>
                <a:cs typeface="Times New Roman"/>
              </a:rPr>
              <a:t>that</a:t>
            </a:r>
            <a:r>
              <a:rPr sz="2000" spc="-65" dirty="0">
                <a:latin typeface="Times New Roman"/>
                <a:cs typeface="Times New Roman"/>
              </a:rPr>
              <a:t> </a:t>
            </a:r>
            <a:r>
              <a:rPr sz="2000" spc="110" dirty="0">
                <a:latin typeface="Times New Roman"/>
                <a:cs typeface="Times New Roman"/>
              </a:rPr>
              <a:t>do</a:t>
            </a:r>
            <a:r>
              <a:rPr sz="2000" spc="-70" dirty="0">
                <a:latin typeface="Times New Roman"/>
                <a:cs typeface="Times New Roman"/>
              </a:rPr>
              <a:t> </a:t>
            </a:r>
            <a:r>
              <a:rPr sz="2000" spc="130" dirty="0">
                <a:latin typeface="Times New Roman"/>
                <a:cs typeface="Times New Roman"/>
              </a:rPr>
              <a:t>not</a:t>
            </a:r>
            <a:r>
              <a:rPr sz="2000" spc="-55" dirty="0">
                <a:latin typeface="Times New Roman"/>
                <a:cs typeface="Times New Roman"/>
              </a:rPr>
              <a:t> </a:t>
            </a:r>
            <a:r>
              <a:rPr sz="2000" spc="70" dirty="0">
                <a:latin typeface="Times New Roman"/>
                <a:cs typeface="Times New Roman"/>
              </a:rPr>
              <a:t>have</a:t>
            </a:r>
            <a:r>
              <a:rPr sz="2000" spc="-65" dirty="0">
                <a:latin typeface="Times New Roman"/>
                <a:cs typeface="Times New Roman"/>
              </a:rPr>
              <a:t> </a:t>
            </a:r>
            <a:r>
              <a:rPr sz="2000" spc="100" dirty="0">
                <a:latin typeface="Times New Roman"/>
                <a:cs typeface="Times New Roman"/>
              </a:rPr>
              <a:t>enough</a:t>
            </a:r>
            <a:r>
              <a:rPr sz="2000" spc="-60" dirty="0">
                <a:latin typeface="Times New Roman"/>
                <a:cs typeface="Times New Roman"/>
              </a:rPr>
              <a:t> </a:t>
            </a:r>
            <a:r>
              <a:rPr sz="2000" spc="80" dirty="0">
                <a:latin typeface="Times New Roman"/>
                <a:cs typeface="Times New Roman"/>
              </a:rPr>
              <a:t>attributes</a:t>
            </a:r>
            <a:r>
              <a:rPr sz="2000" spc="-60" dirty="0">
                <a:latin typeface="Times New Roman"/>
                <a:cs typeface="Times New Roman"/>
              </a:rPr>
              <a:t> </a:t>
            </a:r>
            <a:r>
              <a:rPr sz="2000" spc="110" dirty="0">
                <a:latin typeface="Times New Roman"/>
                <a:cs typeface="Times New Roman"/>
              </a:rPr>
              <a:t>to  </a:t>
            </a:r>
            <a:r>
              <a:rPr sz="2000" spc="55" dirty="0">
                <a:latin typeface="Times New Roman"/>
                <a:cs typeface="Times New Roman"/>
              </a:rPr>
              <a:t>establish</a:t>
            </a:r>
            <a:r>
              <a:rPr sz="2000" spc="-60" dirty="0">
                <a:latin typeface="Times New Roman"/>
                <a:cs typeface="Times New Roman"/>
              </a:rPr>
              <a:t> </a:t>
            </a:r>
            <a:r>
              <a:rPr sz="2000" spc="30" dirty="0">
                <a:latin typeface="Times New Roman"/>
                <a:cs typeface="Times New Roman"/>
              </a:rPr>
              <a:t>a</a:t>
            </a:r>
            <a:r>
              <a:rPr sz="2000" spc="-75" dirty="0">
                <a:latin typeface="Times New Roman"/>
                <a:cs typeface="Times New Roman"/>
              </a:rPr>
              <a:t> </a:t>
            </a:r>
            <a:r>
              <a:rPr sz="2000" spc="55" dirty="0">
                <a:latin typeface="Times New Roman"/>
                <a:cs typeface="Times New Roman"/>
              </a:rPr>
              <a:t>primary</a:t>
            </a:r>
            <a:r>
              <a:rPr sz="2000" spc="-75" dirty="0">
                <a:latin typeface="Times New Roman"/>
                <a:cs typeface="Times New Roman"/>
              </a:rPr>
              <a:t> </a:t>
            </a:r>
            <a:r>
              <a:rPr sz="2000" spc="40" dirty="0">
                <a:latin typeface="Times New Roman"/>
                <a:cs typeface="Times New Roman"/>
              </a:rPr>
              <a:t>key</a:t>
            </a:r>
            <a:r>
              <a:rPr sz="2000" spc="-70" dirty="0">
                <a:latin typeface="Times New Roman"/>
                <a:cs typeface="Times New Roman"/>
              </a:rPr>
              <a:t> </a:t>
            </a:r>
            <a:r>
              <a:rPr sz="2000" spc="50" dirty="0">
                <a:latin typeface="Times New Roman"/>
                <a:cs typeface="Times New Roman"/>
              </a:rPr>
              <a:t>are</a:t>
            </a:r>
            <a:r>
              <a:rPr sz="2000" spc="-70" dirty="0">
                <a:latin typeface="Times New Roman"/>
                <a:cs typeface="Times New Roman"/>
              </a:rPr>
              <a:t> </a:t>
            </a:r>
            <a:r>
              <a:rPr sz="2000" spc="35" dirty="0">
                <a:latin typeface="Times New Roman"/>
                <a:cs typeface="Times New Roman"/>
              </a:rPr>
              <a:t>called</a:t>
            </a:r>
            <a:r>
              <a:rPr sz="2000" spc="-75" dirty="0">
                <a:latin typeface="Times New Roman"/>
                <a:cs typeface="Times New Roman"/>
              </a:rPr>
              <a:t> </a:t>
            </a:r>
            <a:r>
              <a:rPr sz="2000" spc="55" dirty="0">
                <a:latin typeface="Times New Roman"/>
                <a:cs typeface="Times New Roman"/>
              </a:rPr>
              <a:t>weak</a:t>
            </a:r>
            <a:r>
              <a:rPr sz="2000" spc="-60" dirty="0">
                <a:latin typeface="Times New Roman"/>
                <a:cs typeface="Times New Roman"/>
              </a:rPr>
              <a:t> </a:t>
            </a:r>
            <a:r>
              <a:rPr sz="2000" spc="80" dirty="0">
                <a:latin typeface="Times New Roman"/>
                <a:cs typeface="Times New Roman"/>
              </a:rPr>
              <a:t>entity</a:t>
            </a:r>
            <a:r>
              <a:rPr sz="2000" spc="-65" dirty="0">
                <a:latin typeface="Times New Roman"/>
                <a:cs typeface="Times New Roman"/>
              </a:rPr>
              <a:t> </a:t>
            </a:r>
            <a:r>
              <a:rPr sz="2000" spc="35" dirty="0">
                <a:latin typeface="Times New Roman"/>
                <a:cs typeface="Times New Roman"/>
              </a:rPr>
              <a:t>sets.</a:t>
            </a:r>
            <a:endParaRPr sz="2000">
              <a:latin typeface="Times New Roman"/>
              <a:cs typeface="Times New Roman"/>
            </a:endParaRPr>
          </a:p>
          <a:p>
            <a:pPr marL="376555" marR="5080" indent="-342900">
              <a:lnSpc>
                <a:spcPct val="100000"/>
              </a:lnSpc>
              <a:spcBef>
                <a:spcPts val="1475"/>
              </a:spcBef>
              <a:buFont typeface="Wingdings"/>
              <a:buChar char=""/>
              <a:tabLst>
                <a:tab pos="376555" algn="l"/>
                <a:tab pos="377190" algn="l"/>
              </a:tabLst>
            </a:pPr>
            <a:r>
              <a:rPr sz="2000" b="1" spc="5" dirty="0">
                <a:latin typeface="Times New Roman"/>
                <a:cs typeface="Times New Roman"/>
              </a:rPr>
              <a:t>Strong</a:t>
            </a:r>
            <a:r>
              <a:rPr sz="2000" b="1" spc="-110" dirty="0">
                <a:latin typeface="Times New Roman"/>
                <a:cs typeface="Times New Roman"/>
              </a:rPr>
              <a:t> </a:t>
            </a:r>
            <a:r>
              <a:rPr sz="2000" b="1" spc="15" dirty="0">
                <a:latin typeface="Times New Roman"/>
                <a:cs typeface="Times New Roman"/>
              </a:rPr>
              <a:t>entity</a:t>
            </a:r>
            <a:r>
              <a:rPr sz="2000" b="1" spc="-114" dirty="0">
                <a:latin typeface="Times New Roman"/>
                <a:cs typeface="Times New Roman"/>
              </a:rPr>
              <a:t> </a:t>
            </a:r>
            <a:r>
              <a:rPr sz="2000" b="1" spc="-25" dirty="0">
                <a:latin typeface="Times New Roman"/>
                <a:cs typeface="Times New Roman"/>
              </a:rPr>
              <a:t>sets:</a:t>
            </a:r>
            <a:r>
              <a:rPr sz="2000" b="1" spc="-100" dirty="0">
                <a:latin typeface="Times New Roman"/>
                <a:cs typeface="Times New Roman"/>
              </a:rPr>
              <a:t> </a:t>
            </a:r>
            <a:r>
              <a:rPr sz="2000" spc="70" dirty="0">
                <a:latin typeface="Times New Roman"/>
                <a:cs typeface="Times New Roman"/>
              </a:rPr>
              <a:t>Entity</a:t>
            </a:r>
            <a:r>
              <a:rPr sz="2000" spc="-60" dirty="0">
                <a:latin typeface="Times New Roman"/>
                <a:cs typeface="Times New Roman"/>
              </a:rPr>
              <a:t> </a:t>
            </a:r>
            <a:r>
              <a:rPr sz="2000" spc="45" dirty="0">
                <a:latin typeface="Times New Roman"/>
                <a:cs typeface="Times New Roman"/>
              </a:rPr>
              <a:t>sets</a:t>
            </a:r>
            <a:r>
              <a:rPr sz="2000" spc="-65" dirty="0">
                <a:latin typeface="Times New Roman"/>
                <a:cs typeface="Times New Roman"/>
              </a:rPr>
              <a:t> </a:t>
            </a:r>
            <a:r>
              <a:rPr sz="2000" spc="114" dirty="0">
                <a:latin typeface="Times New Roman"/>
                <a:cs typeface="Times New Roman"/>
              </a:rPr>
              <a:t>that</a:t>
            </a:r>
            <a:r>
              <a:rPr sz="2000" spc="-65" dirty="0">
                <a:latin typeface="Times New Roman"/>
                <a:cs typeface="Times New Roman"/>
              </a:rPr>
              <a:t> </a:t>
            </a:r>
            <a:r>
              <a:rPr sz="2000" spc="70" dirty="0">
                <a:latin typeface="Times New Roman"/>
                <a:cs typeface="Times New Roman"/>
              </a:rPr>
              <a:t>have</a:t>
            </a:r>
            <a:r>
              <a:rPr sz="2000" spc="-65" dirty="0">
                <a:latin typeface="Times New Roman"/>
                <a:cs typeface="Times New Roman"/>
              </a:rPr>
              <a:t> </a:t>
            </a:r>
            <a:r>
              <a:rPr sz="2000" spc="100" dirty="0">
                <a:latin typeface="Times New Roman"/>
                <a:cs typeface="Times New Roman"/>
              </a:rPr>
              <a:t>enough</a:t>
            </a:r>
            <a:r>
              <a:rPr sz="2000" spc="-55" dirty="0">
                <a:latin typeface="Times New Roman"/>
                <a:cs typeface="Times New Roman"/>
              </a:rPr>
              <a:t> </a:t>
            </a:r>
            <a:r>
              <a:rPr sz="2000" spc="80" dirty="0">
                <a:latin typeface="Times New Roman"/>
                <a:cs typeface="Times New Roman"/>
              </a:rPr>
              <a:t>attributes</a:t>
            </a:r>
            <a:r>
              <a:rPr sz="2000" spc="-55" dirty="0">
                <a:latin typeface="Times New Roman"/>
                <a:cs typeface="Times New Roman"/>
              </a:rPr>
              <a:t> </a:t>
            </a:r>
            <a:r>
              <a:rPr sz="2000" spc="110" dirty="0">
                <a:latin typeface="Times New Roman"/>
                <a:cs typeface="Times New Roman"/>
              </a:rPr>
              <a:t>to</a:t>
            </a:r>
            <a:r>
              <a:rPr sz="2000" spc="-75" dirty="0">
                <a:latin typeface="Times New Roman"/>
                <a:cs typeface="Times New Roman"/>
              </a:rPr>
              <a:t> </a:t>
            </a:r>
            <a:r>
              <a:rPr sz="2000" spc="55" dirty="0">
                <a:latin typeface="Times New Roman"/>
                <a:cs typeface="Times New Roman"/>
              </a:rPr>
              <a:t>establish</a:t>
            </a:r>
            <a:r>
              <a:rPr sz="2000" spc="-55" dirty="0">
                <a:latin typeface="Times New Roman"/>
                <a:cs typeface="Times New Roman"/>
              </a:rPr>
              <a:t> </a:t>
            </a:r>
            <a:r>
              <a:rPr sz="2000" spc="30" dirty="0">
                <a:latin typeface="Times New Roman"/>
                <a:cs typeface="Times New Roman"/>
              </a:rPr>
              <a:t>a  </a:t>
            </a:r>
            <a:r>
              <a:rPr sz="2000" spc="55" dirty="0">
                <a:latin typeface="Times New Roman"/>
                <a:cs typeface="Times New Roman"/>
              </a:rPr>
              <a:t>primary</a:t>
            </a:r>
            <a:r>
              <a:rPr sz="2000" spc="-80" dirty="0">
                <a:latin typeface="Times New Roman"/>
                <a:cs typeface="Times New Roman"/>
              </a:rPr>
              <a:t> </a:t>
            </a:r>
            <a:r>
              <a:rPr sz="2000" spc="40" dirty="0">
                <a:latin typeface="Times New Roman"/>
                <a:cs typeface="Times New Roman"/>
              </a:rPr>
              <a:t>key</a:t>
            </a:r>
            <a:r>
              <a:rPr sz="2000" spc="-70" dirty="0">
                <a:latin typeface="Times New Roman"/>
                <a:cs typeface="Times New Roman"/>
              </a:rPr>
              <a:t> </a:t>
            </a:r>
            <a:r>
              <a:rPr sz="2000" spc="50" dirty="0">
                <a:latin typeface="Times New Roman"/>
                <a:cs typeface="Times New Roman"/>
              </a:rPr>
              <a:t>are</a:t>
            </a:r>
            <a:r>
              <a:rPr sz="2000" spc="-70" dirty="0">
                <a:latin typeface="Times New Roman"/>
                <a:cs typeface="Times New Roman"/>
              </a:rPr>
              <a:t> </a:t>
            </a:r>
            <a:r>
              <a:rPr sz="2000" spc="35" dirty="0">
                <a:latin typeface="Times New Roman"/>
                <a:cs typeface="Times New Roman"/>
              </a:rPr>
              <a:t>called</a:t>
            </a:r>
            <a:r>
              <a:rPr sz="2000" spc="-75" dirty="0">
                <a:latin typeface="Times New Roman"/>
                <a:cs typeface="Times New Roman"/>
              </a:rPr>
              <a:t> </a:t>
            </a:r>
            <a:r>
              <a:rPr sz="2000" spc="75" dirty="0">
                <a:latin typeface="Times New Roman"/>
                <a:cs typeface="Times New Roman"/>
              </a:rPr>
              <a:t>strong</a:t>
            </a:r>
            <a:r>
              <a:rPr sz="2000" spc="-55" dirty="0">
                <a:latin typeface="Times New Roman"/>
                <a:cs typeface="Times New Roman"/>
              </a:rPr>
              <a:t> </a:t>
            </a:r>
            <a:r>
              <a:rPr sz="2000" spc="80" dirty="0">
                <a:latin typeface="Times New Roman"/>
                <a:cs typeface="Times New Roman"/>
              </a:rPr>
              <a:t>entity</a:t>
            </a:r>
            <a:r>
              <a:rPr sz="2000" spc="-60" dirty="0">
                <a:latin typeface="Times New Roman"/>
                <a:cs typeface="Times New Roman"/>
              </a:rPr>
              <a:t> </a:t>
            </a:r>
            <a:r>
              <a:rPr sz="2000" spc="35" dirty="0">
                <a:latin typeface="Times New Roman"/>
                <a:cs typeface="Times New Roman"/>
              </a:rPr>
              <a:t>sets.</a:t>
            </a:r>
            <a:endParaRPr sz="2000">
              <a:latin typeface="Times New Roman"/>
              <a:cs typeface="Times New Roman"/>
            </a:endParaRPr>
          </a:p>
        </p:txBody>
      </p:sp>
      <p:pic>
        <p:nvPicPr>
          <p:cNvPr id="6" name="object 6"/>
          <p:cNvPicPr/>
          <p:nvPr/>
        </p:nvPicPr>
        <p:blipFill>
          <a:blip r:embed="rId4" cstate="print"/>
          <a:stretch>
            <a:fillRect/>
          </a:stretch>
        </p:blipFill>
        <p:spPr>
          <a:xfrm>
            <a:off x="2729483" y="4696205"/>
            <a:ext cx="4318254" cy="2013966"/>
          </a:xfrm>
          <a:prstGeom prst="rect">
            <a:avLst/>
          </a:prstGeom>
        </p:spPr>
      </p:pic>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9</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189470" cy="635635"/>
          </a:xfrm>
          <a:prstGeom prst="rect">
            <a:avLst/>
          </a:prstGeom>
        </p:spPr>
        <p:txBody>
          <a:bodyPr vert="horz" wrap="square" lIns="0" tIns="12700" rIns="0" bIns="0" rtlCol="0">
            <a:spAutoFit/>
          </a:bodyPr>
          <a:lstStyle/>
          <a:p>
            <a:pPr marL="12700">
              <a:lnSpc>
                <a:spcPct val="100000"/>
              </a:lnSpc>
              <a:spcBef>
                <a:spcPts val="100"/>
              </a:spcBef>
            </a:pPr>
            <a:r>
              <a:rPr spc="140" dirty="0"/>
              <a:t>Entity-Relationship </a:t>
            </a:r>
            <a:r>
              <a:rPr spc="95" dirty="0"/>
              <a:t>Diagrams</a:t>
            </a:r>
            <a:r>
              <a:rPr spc="-465" dirty="0"/>
              <a:t> </a:t>
            </a:r>
            <a:r>
              <a:rPr spc="-340" dirty="0"/>
              <a:t>1-3</a:t>
            </a:r>
          </a:p>
        </p:txBody>
      </p:sp>
      <p:grpSp>
        <p:nvGrpSpPr>
          <p:cNvPr id="3" name="object 3"/>
          <p:cNvGrpSpPr/>
          <p:nvPr/>
        </p:nvGrpSpPr>
        <p:grpSpPr>
          <a:xfrm>
            <a:off x="339852" y="1124724"/>
            <a:ext cx="8228965" cy="913765"/>
            <a:chOff x="339852" y="1124724"/>
            <a:chExt cx="8228965" cy="913765"/>
          </a:xfrm>
        </p:grpSpPr>
        <p:pic>
          <p:nvPicPr>
            <p:cNvPr id="4" name="object 4"/>
            <p:cNvPicPr/>
            <p:nvPr/>
          </p:nvPicPr>
          <p:blipFill>
            <a:blip r:embed="rId3" cstate="print"/>
            <a:stretch>
              <a:fillRect/>
            </a:stretch>
          </p:blipFill>
          <p:spPr>
            <a:xfrm>
              <a:off x="339852" y="1124724"/>
              <a:ext cx="8228838" cy="913625"/>
            </a:xfrm>
            <a:prstGeom prst="rect">
              <a:avLst/>
            </a:prstGeom>
          </p:spPr>
        </p:pic>
        <p:pic>
          <p:nvPicPr>
            <p:cNvPr id="5" name="object 5"/>
            <p:cNvPicPr/>
            <p:nvPr/>
          </p:nvPicPr>
          <p:blipFill>
            <a:blip r:embed="rId4" cstate="print"/>
            <a:stretch>
              <a:fillRect/>
            </a:stretch>
          </p:blipFill>
          <p:spPr>
            <a:xfrm>
              <a:off x="381000" y="1142999"/>
              <a:ext cx="8153400" cy="838200"/>
            </a:xfrm>
            <a:prstGeom prst="rect">
              <a:avLst/>
            </a:prstGeom>
          </p:spPr>
        </p:pic>
      </p:grpSp>
      <p:sp>
        <p:nvSpPr>
          <p:cNvPr id="6" name="object 6"/>
          <p:cNvSpPr txBox="1"/>
          <p:nvPr/>
        </p:nvSpPr>
        <p:spPr>
          <a:xfrm>
            <a:off x="514095" y="1113028"/>
            <a:ext cx="7130415" cy="793750"/>
          </a:xfrm>
          <a:prstGeom prst="rect">
            <a:avLst/>
          </a:prstGeom>
        </p:spPr>
        <p:txBody>
          <a:bodyPr vert="horz" wrap="square" lIns="0" tIns="43815" rIns="0" bIns="0" rtlCol="0">
            <a:spAutoFit/>
          </a:bodyPr>
          <a:lstStyle/>
          <a:p>
            <a:pPr marL="12700" marR="5080">
              <a:lnSpc>
                <a:spcPts val="1939"/>
              </a:lnSpc>
              <a:spcBef>
                <a:spcPts val="345"/>
              </a:spcBef>
            </a:pPr>
            <a:r>
              <a:rPr sz="1800" spc="120" dirty="0">
                <a:solidFill>
                  <a:srgbClr val="FFFFFF"/>
                </a:solidFill>
                <a:latin typeface="Times New Roman"/>
                <a:cs typeface="Times New Roman"/>
              </a:rPr>
              <a:t>The</a:t>
            </a:r>
            <a:r>
              <a:rPr sz="1800" spc="-60" dirty="0">
                <a:solidFill>
                  <a:srgbClr val="FFFFFF"/>
                </a:solidFill>
                <a:latin typeface="Times New Roman"/>
                <a:cs typeface="Times New Roman"/>
              </a:rPr>
              <a:t> </a:t>
            </a:r>
            <a:r>
              <a:rPr sz="1800" spc="25" dirty="0">
                <a:solidFill>
                  <a:srgbClr val="FFFFFF"/>
                </a:solidFill>
                <a:latin typeface="Times New Roman"/>
                <a:cs typeface="Times New Roman"/>
              </a:rPr>
              <a:t>E-R</a:t>
            </a:r>
            <a:r>
              <a:rPr sz="1800" spc="-65" dirty="0">
                <a:solidFill>
                  <a:srgbClr val="FFFFFF"/>
                </a:solidFill>
                <a:latin typeface="Times New Roman"/>
                <a:cs typeface="Times New Roman"/>
              </a:rPr>
              <a:t> </a:t>
            </a:r>
            <a:r>
              <a:rPr sz="1800" spc="45" dirty="0">
                <a:solidFill>
                  <a:srgbClr val="FFFFFF"/>
                </a:solidFill>
                <a:latin typeface="Times New Roman"/>
                <a:cs typeface="Times New Roman"/>
              </a:rPr>
              <a:t>diagram</a:t>
            </a:r>
            <a:r>
              <a:rPr sz="1800" spc="-85" dirty="0">
                <a:solidFill>
                  <a:srgbClr val="FFFFFF"/>
                </a:solidFill>
                <a:latin typeface="Times New Roman"/>
                <a:cs typeface="Times New Roman"/>
              </a:rPr>
              <a:t> </a:t>
            </a:r>
            <a:r>
              <a:rPr sz="1800" spc="5" dirty="0">
                <a:solidFill>
                  <a:srgbClr val="FFFFFF"/>
                </a:solidFill>
                <a:latin typeface="Times New Roman"/>
                <a:cs typeface="Times New Roman"/>
              </a:rPr>
              <a:t>is</a:t>
            </a:r>
            <a:r>
              <a:rPr sz="1800" spc="-5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40" dirty="0">
                <a:solidFill>
                  <a:srgbClr val="FFFFFF"/>
                </a:solidFill>
                <a:latin typeface="Times New Roman"/>
                <a:cs typeface="Times New Roman"/>
              </a:rPr>
              <a:t>graphical</a:t>
            </a:r>
            <a:r>
              <a:rPr sz="1800" spc="-65" dirty="0">
                <a:solidFill>
                  <a:srgbClr val="FFFFFF"/>
                </a:solidFill>
                <a:latin typeface="Times New Roman"/>
                <a:cs typeface="Times New Roman"/>
              </a:rPr>
              <a:t> </a:t>
            </a:r>
            <a:r>
              <a:rPr sz="1800" spc="75" dirty="0">
                <a:solidFill>
                  <a:srgbClr val="FFFFFF"/>
                </a:solidFill>
                <a:latin typeface="Times New Roman"/>
                <a:cs typeface="Times New Roman"/>
              </a:rPr>
              <a:t>representation</a:t>
            </a:r>
            <a:r>
              <a:rPr sz="1800" spc="-8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70" dirty="0">
                <a:solidFill>
                  <a:srgbClr val="FFFFFF"/>
                </a:solidFill>
                <a:latin typeface="Times New Roman"/>
                <a:cs typeface="Times New Roman"/>
              </a:rPr>
              <a:t> </a:t>
            </a:r>
            <a:r>
              <a:rPr sz="1800" spc="30" dirty="0">
                <a:solidFill>
                  <a:srgbClr val="FFFFFF"/>
                </a:solidFill>
                <a:latin typeface="Times New Roman"/>
                <a:cs typeface="Times New Roman"/>
              </a:rPr>
              <a:t>E-R</a:t>
            </a:r>
            <a:r>
              <a:rPr sz="1800" spc="-65" dirty="0">
                <a:solidFill>
                  <a:srgbClr val="FFFFFF"/>
                </a:solidFill>
                <a:latin typeface="Times New Roman"/>
                <a:cs typeface="Times New Roman"/>
              </a:rPr>
              <a:t> </a:t>
            </a:r>
            <a:r>
              <a:rPr sz="1800" spc="55" dirty="0">
                <a:solidFill>
                  <a:srgbClr val="FFFFFF"/>
                </a:solidFill>
                <a:latin typeface="Times New Roman"/>
                <a:cs typeface="Times New Roman"/>
              </a:rPr>
              <a:t>model.</a:t>
            </a:r>
            <a:r>
              <a:rPr sz="1800" spc="-85" dirty="0">
                <a:solidFill>
                  <a:srgbClr val="FFFFFF"/>
                </a:solidFill>
                <a:latin typeface="Times New Roman"/>
                <a:cs typeface="Times New Roman"/>
              </a:rPr>
              <a:t> </a:t>
            </a:r>
            <a:r>
              <a:rPr sz="1800" spc="120" dirty="0">
                <a:solidFill>
                  <a:srgbClr val="FFFFFF"/>
                </a:solidFill>
                <a:latin typeface="Times New Roman"/>
                <a:cs typeface="Times New Roman"/>
              </a:rPr>
              <a:t>The</a:t>
            </a:r>
            <a:r>
              <a:rPr sz="1800" spc="-60" dirty="0">
                <a:solidFill>
                  <a:srgbClr val="FFFFFF"/>
                </a:solidFill>
                <a:latin typeface="Times New Roman"/>
                <a:cs typeface="Times New Roman"/>
              </a:rPr>
              <a:t> </a:t>
            </a:r>
            <a:r>
              <a:rPr sz="1800" spc="30" dirty="0">
                <a:solidFill>
                  <a:srgbClr val="FFFFFF"/>
                </a:solidFill>
                <a:latin typeface="Times New Roman"/>
                <a:cs typeface="Times New Roman"/>
              </a:rPr>
              <a:t>E-R  </a:t>
            </a:r>
            <a:r>
              <a:rPr sz="1800" spc="40" dirty="0">
                <a:solidFill>
                  <a:srgbClr val="FFFFFF"/>
                </a:solidFill>
                <a:latin typeface="Times New Roman"/>
                <a:cs typeface="Times New Roman"/>
              </a:rPr>
              <a:t>diagram,</a:t>
            </a:r>
            <a:r>
              <a:rPr sz="1800" spc="-80" dirty="0">
                <a:solidFill>
                  <a:srgbClr val="FFFFFF"/>
                </a:solidFill>
                <a:latin typeface="Times New Roman"/>
                <a:cs typeface="Times New Roman"/>
              </a:rPr>
              <a:t> </a:t>
            </a:r>
            <a:r>
              <a:rPr sz="1800" spc="80" dirty="0">
                <a:solidFill>
                  <a:srgbClr val="FFFFFF"/>
                </a:solidFill>
                <a:latin typeface="Times New Roman"/>
                <a:cs typeface="Times New Roman"/>
              </a:rPr>
              <a:t>with</a:t>
            </a:r>
            <a:r>
              <a:rPr sz="1800" spc="-5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0" dirty="0">
                <a:solidFill>
                  <a:srgbClr val="FFFFFF"/>
                </a:solidFill>
                <a:latin typeface="Times New Roman"/>
                <a:cs typeface="Times New Roman"/>
              </a:rPr>
              <a:t> </a:t>
            </a:r>
            <a:r>
              <a:rPr sz="1800" spc="70" dirty="0">
                <a:solidFill>
                  <a:srgbClr val="FFFFFF"/>
                </a:solidFill>
                <a:latin typeface="Times New Roman"/>
                <a:cs typeface="Times New Roman"/>
              </a:rPr>
              <a:t>help</a:t>
            </a:r>
            <a:r>
              <a:rPr sz="1800" spc="-5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5" dirty="0">
                <a:solidFill>
                  <a:srgbClr val="FFFFFF"/>
                </a:solidFill>
                <a:latin typeface="Times New Roman"/>
                <a:cs typeface="Times New Roman"/>
              </a:rPr>
              <a:t> </a:t>
            </a:r>
            <a:r>
              <a:rPr sz="1800" spc="55" dirty="0">
                <a:solidFill>
                  <a:srgbClr val="FFFFFF"/>
                </a:solidFill>
                <a:latin typeface="Times New Roman"/>
                <a:cs typeface="Times New Roman"/>
              </a:rPr>
              <a:t>various</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symbols,</a:t>
            </a:r>
            <a:r>
              <a:rPr sz="1800" spc="-40" dirty="0">
                <a:solidFill>
                  <a:srgbClr val="FFFFFF"/>
                </a:solidFill>
                <a:latin typeface="Times New Roman"/>
                <a:cs typeface="Times New Roman"/>
              </a:rPr>
              <a:t> </a:t>
            </a:r>
            <a:r>
              <a:rPr sz="1800" spc="30" dirty="0">
                <a:solidFill>
                  <a:srgbClr val="FFFFFF"/>
                </a:solidFill>
                <a:latin typeface="Times New Roman"/>
                <a:cs typeface="Times New Roman"/>
              </a:rPr>
              <a:t>effectively</a:t>
            </a:r>
            <a:r>
              <a:rPr sz="1800" spc="-75" dirty="0">
                <a:solidFill>
                  <a:srgbClr val="FFFFFF"/>
                </a:solidFill>
                <a:latin typeface="Times New Roman"/>
                <a:cs typeface="Times New Roman"/>
              </a:rPr>
              <a:t> </a:t>
            </a:r>
            <a:r>
              <a:rPr sz="1800" spc="65" dirty="0">
                <a:solidFill>
                  <a:srgbClr val="FFFFFF"/>
                </a:solidFill>
                <a:latin typeface="Times New Roman"/>
                <a:cs typeface="Times New Roman"/>
              </a:rPr>
              <a:t>represents</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various  </a:t>
            </a:r>
            <a:r>
              <a:rPr sz="1800" spc="85" dirty="0">
                <a:solidFill>
                  <a:srgbClr val="FFFFFF"/>
                </a:solidFill>
                <a:latin typeface="Times New Roman"/>
                <a:cs typeface="Times New Roman"/>
              </a:rPr>
              <a:t>components</a:t>
            </a:r>
            <a:r>
              <a:rPr sz="1800" spc="-7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25" dirty="0">
                <a:solidFill>
                  <a:srgbClr val="FFFFFF"/>
                </a:solidFill>
                <a:latin typeface="Times New Roman"/>
                <a:cs typeface="Times New Roman"/>
              </a:rPr>
              <a:t>E-R</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model.</a:t>
            </a:r>
            <a:endParaRPr sz="1800">
              <a:latin typeface="Times New Roman"/>
              <a:cs typeface="Times New Roman"/>
            </a:endParaRPr>
          </a:p>
        </p:txBody>
      </p:sp>
      <p:grpSp>
        <p:nvGrpSpPr>
          <p:cNvPr id="7" name="object 7"/>
          <p:cNvGrpSpPr/>
          <p:nvPr/>
        </p:nvGrpSpPr>
        <p:grpSpPr>
          <a:xfrm>
            <a:off x="2180844" y="2022348"/>
            <a:ext cx="4684395" cy="3801745"/>
            <a:chOff x="2180844" y="2022348"/>
            <a:chExt cx="4684395" cy="3801745"/>
          </a:xfrm>
        </p:grpSpPr>
        <p:pic>
          <p:nvPicPr>
            <p:cNvPr id="8" name="object 8"/>
            <p:cNvPicPr/>
            <p:nvPr/>
          </p:nvPicPr>
          <p:blipFill>
            <a:blip r:embed="rId5" cstate="print"/>
            <a:stretch>
              <a:fillRect/>
            </a:stretch>
          </p:blipFill>
          <p:spPr>
            <a:xfrm>
              <a:off x="2180844" y="4009644"/>
              <a:ext cx="4684013" cy="1814322"/>
            </a:xfrm>
            <a:prstGeom prst="rect">
              <a:avLst/>
            </a:prstGeom>
          </p:spPr>
        </p:pic>
        <p:pic>
          <p:nvPicPr>
            <p:cNvPr id="9" name="object 9"/>
            <p:cNvPicPr/>
            <p:nvPr/>
          </p:nvPicPr>
          <p:blipFill>
            <a:blip r:embed="rId6" cstate="print"/>
            <a:stretch>
              <a:fillRect/>
            </a:stretch>
          </p:blipFill>
          <p:spPr>
            <a:xfrm>
              <a:off x="2180844" y="2022348"/>
              <a:ext cx="4684013" cy="2029206"/>
            </a:xfrm>
            <a:prstGeom prst="rect">
              <a:avLst/>
            </a:prstGeom>
          </p:spPr>
        </p:pic>
      </p:grpSp>
      <p:sp>
        <p:nvSpPr>
          <p:cNvPr id="10" name="object 10"/>
          <p:cNvSpPr txBox="1"/>
          <p:nvPr/>
        </p:nvSpPr>
        <p:spPr>
          <a:xfrm>
            <a:off x="3672332" y="5822441"/>
            <a:ext cx="1686560" cy="238760"/>
          </a:xfrm>
          <a:prstGeom prst="rect">
            <a:avLst/>
          </a:prstGeom>
        </p:spPr>
        <p:txBody>
          <a:bodyPr vert="horz" wrap="square" lIns="0" tIns="12065" rIns="0" bIns="0" rtlCol="0">
            <a:spAutoFit/>
          </a:bodyPr>
          <a:lstStyle/>
          <a:p>
            <a:pPr marL="12700">
              <a:lnSpc>
                <a:spcPct val="100000"/>
              </a:lnSpc>
              <a:spcBef>
                <a:spcPts val="95"/>
              </a:spcBef>
            </a:pPr>
            <a:r>
              <a:rPr sz="1400" b="1" spc="-40" dirty="0">
                <a:latin typeface="Times New Roman"/>
                <a:cs typeface="Times New Roman"/>
              </a:rPr>
              <a:t>E-R </a:t>
            </a:r>
            <a:r>
              <a:rPr sz="1400" b="1" spc="-25" dirty="0">
                <a:latin typeface="Times New Roman"/>
                <a:cs typeface="Times New Roman"/>
              </a:rPr>
              <a:t>Diagram</a:t>
            </a:r>
            <a:r>
              <a:rPr sz="1400" b="1" spc="-170" dirty="0">
                <a:latin typeface="Times New Roman"/>
                <a:cs typeface="Times New Roman"/>
              </a:rPr>
              <a:t> </a:t>
            </a:r>
            <a:r>
              <a:rPr sz="1400" b="1" dirty="0">
                <a:latin typeface="Times New Roman"/>
                <a:cs typeface="Times New Roman"/>
              </a:rPr>
              <a:t>Symbols</a:t>
            </a:r>
            <a:endParaRPr sz="14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10</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254240" cy="635635"/>
          </a:xfrm>
          <a:prstGeom prst="rect">
            <a:avLst/>
          </a:prstGeom>
        </p:spPr>
        <p:txBody>
          <a:bodyPr vert="horz" wrap="square" lIns="0" tIns="12700" rIns="0" bIns="0" rtlCol="0">
            <a:spAutoFit/>
          </a:bodyPr>
          <a:lstStyle/>
          <a:p>
            <a:pPr marL="12700">
              <a:lnSpc>
                <a:spcPct val="100000"/>
              </a:lnSpc>
              <a:spcBef>
                <a:spcPts val="100"/>
              </a:spcBef>
            </a:pPr>
            <a:r>
              <a:rPr spc="140" dirty="0"/>
              <a:t>Entity-Relationship </a:t>
            </a:r>
            <a:r>
              <a:rPr spc="95" dirty="0"/>
              <a:t>Diagrams</a:t>
            </a:r>
            <a:r>
              <a:rPr spc="-459" dirty="0"/>
              <a:t> </a:t>
            </a:r>
            <a:r>
              <a:rPr spc="-170" dirty="0"/>
              <a:t>2-3</a:t>
            </a:r>
          </a:p>
        </p:txBody>
      </p:sp>
      <p:sp>
        <p:nvSpPr>
          <p:cNvPr id="3" name="object 3"/>
          <p:cNvSpPr txBox="1"/>
          <p:nvPr/>
        </p:nvSpPr>
        <p:spPr>
          <a:xfrm>
            <a:off x="308609" y="941577"/>
            <a:ext cx="6882130" cy="330200"/>
          </a:xfrm>
          <a:prstGeom prst="rect">
            <a:avLst/>
          </a:prstGeom>
        </p:spPr>
        <p:txBody>
          <a:bodyPr vert="horz" wrap="square" lIns="0" tIns="12065" rIns="0" bIns="0" rtlCol="0">
            <a:spAutoFit/>
          </a:bodyPr>
          <a:lstStyle/>
          <a:p>
            <a:pPr marL="12700">
              <a:lnSpc>
                <a:spcPct val="100000"/>
              </a:lnSpc>
              <a:spcBef>
                <a:spcPts val="95"/>
              </a:spcBef>
            </a:pPr>
            <a:r>
              <a:rPr sz="2000" spc="95" dirty="0">
                <a:latin typeface="Times New Roman"/>
                <a:cs typeface="Times New Roman"/>
              </a:rPr>
              <a:t>Attributes</a:t>
            </a:r>
            <a:r>
              <a:rPr sz="2000" spc="-50" dirty="0">
                <a:latin typeface="Times New Roman"/>
                <a:cs typeface="Times New Roman"/>
              </a:rPr>
              <a:t> </a:t>
            </a:r>
            <a:r>
              <a:rPr sz="2000" spc="95" dirty="0">
                <a:latin typeface="Times New Roman"/>
                <a:cs typeface="Times New Roman"/>
              </a:rPr>
              <a:t>in</a:t>
            </a:r>
            <a:r>
              <a:rPr sz="2000" spc="-70" dirty="0">
                <a:latin typeface="Times New Roman"/>
                <a:cs typeface="Times New Roman"/>
              </a:rPr>
              <a:t> </a:t>
            </a:r>
            <a:r>
              <a:rPr sz="2000" spc="110" dirty="0">
                <a:latin typeface="Times New Roman"/>
                <a:cs typeface="Times New Roman"/>
              </a:rPr>
              <a:t>the</a:t>
            </a:r>
            <a:r>
              <a:rPr sz="2000" spc="-60" dirty="0">
                <a:latin typeface="Times New Roman"/>
                <a:cs typeface="Times New Roman"/>
              </a:rPr>
              <a:t> </a:t>
            </a:r>
            <a:r>
              <a:rPr sz="2000" spc="30" dirty="0">
                <a:latin typeface="Times New Roman"/>
                <a:cs typeface="Times New Roman"/>
              </a:rPr>
              <a:t>E-R</a:t>
            </a:r>
            <a:r>
              <a:rPr sz="2000" spc="-75" dirty="0">
                <a:latin typeface="Times New Roman"/>
                <a:cs typeface="Times New Roman"/>
              </a:rPr>
              <a:t> </a:t>
            </a:r>
            <a:r>
              <a:rPr sz="2000" spc="70" dirty="0">
                <a:latin typeface="Times New Roman"/>
                <a:cs typeface="Times New Roman"/>
              </a:rPr>
              <a:t>model</a:t>
            </a:r>
            <a:r>
              <a:rPr sz="2000" spc="-60" dirty="0">
                <a:latin typeface="Times New Roman"/>
                <a:cs typeface="Times New Roman"/>
              </a:rPr>
              <a:t> </a:t>
            </a:r>
            <a:r>
              <a:rPr sz="2000" spc="75" dirty="0">
                <a:latin typeface="Times New Roman"/>
                <a:cs typeface="Times New Roman"/>
              </a:rPr>
              <a:t>can</a:t>
            </a:r>
            <a:r>
              <a:rPr sz="2000" spc="-65" dirty="0">
                <a:latin typeface="Times New Roman"/>
                <a:cs typeface="Times New Roman"/>
              </a:rPr>
              <a:t> </a:t>
            </a:r>
            <a:r>
              <a:rPr sz="2000" spc="65" dirty="0">
                <a:latin typeface="Times New Roman"/>
                <a:cs typeface="Times New Roman"/>
              </a:rPr>
              <a:t>be</a:t>
            </a:r>
            <a:r>
              <a:rPr sz="2000" spc="-60" dirty="0">
                <a:latin typeface="Times New Roman"/>
                <a:cs typeface="Times New Roman"/>
              </a:rPr>
              <a:t> </a:t>
            </a:r>
            <a:r>
              <a:rPr sz="2000" spc="95" dirty="0">
                <a:latin typeface="Times New Roman"/>
                <a:cs typeface="Times New Roman"/>
              </a:rPr>
              <a:t>further</a:t>
            </a:r>
            <a:r>
              <a:rPr sz="2000" spc="-75" dirty="0">
                <a:latin typeface="Times New Roman"/>
                <a:cs typeface="Times New Roman"/>
              </a:rPr>
              <a:t> </a:t>
            </a:r>
            <a:r>
              <a:rPr sz="2000" spc="25" dirty="0">
                <a:latin typeface="Times New Roman"/>
                <a:cs typeface="Times New Roman"/>
              </a:rPr>
              <a:t>classified</a:t>
            </a:r>
            <a:r>
              <a:rPr sz="2000" spc="-80" dirty="0">
                <a:latin typeface="Times New Roman"/>
                <a:cs typeface="Times New Roman"/>
              </a:rPr>
              <a:t> </a:t>
            </a:r>
            <a:r>
              <a:rPr sz="2000" spc="20" dirty="0">
                <a:latin typeface="Times New Roman"/>
                <a:cs typeface="Times New Roman"/>
              </a:rPr>
              <a:t>as</a:t>
            </a:r>
            <a:r>
              <a:rPr sz="2000" spc="-70" dirty="0">
                <a:latin typeface="Times New Roman"/>
                <a:cs typeface="Times New Roman"/>
              </a:rPr>
              <a:t> </a:t>
            </a:r>
            <a:r>
              <a:rPr sz="2000" spc="25" dirty="0">
                <a:latin typeface="Times New Roman"/>
                <a:cs typeface="Times New Roman"/>
              </a:rPr>
              <a:t>follows:</a:t>
            </a:r>
            <a:endParaRPr sz="2000">
              <a:latin typeface="Times New Roman"/>
              <a:cs typeface="Times New Roman"/>
            </a:endParaRPr>
          </a:p>
        </p:txBody>
      </p:sp>
      <p:sp>
        <p:nvSpPr>
          <p:cNvPr id="4" name="object 4"/>
          <p:cNvSpPr txBox="1"/>
          <p:nvPr/>
        </p:nvSpPr>
        <p:spPr>
          <a:xfrm>
            <a:off x="347218" y="2743962"/>
            <a:ext cx="8400415" cy="3073400"/>
          </a:xfrm>
          <a:prstGeom prst="rect">
            <a:avLst/>
          </a:prstGeom>
        </p:spPr>
        <p:txBody>
          <a:bodyPr vert="horz" wrap="square" lIns="0" tIns="12065" rIns="0" bIns="0" rtlCol="0">
            <a:spAutoFit/>
          </a:bodyPr>
          <a:lstStyle/>
          <a:p>
            <a:pPr marL="12700">
              <a:lnSpc>
                <a:spcPct val="100000"/>
              </a:lnSpc>
              <a:spcBef>
                <a:spcPts val="95"/>
              </a:spcBef>
            </a:pPr>
            <a:r>
              <a:rPr sz="2000" b="1" spc="15" dirty="0">
                <a:latin typeface="Times New Roman"/>
                <a:cs typeface="Times New Roman"/>
              </a:rPr>
              <a:t>Steps</a:t>
            </a:r>
            <a:r>
              <a:rPr sz="2000" b="1" spc="-105" dirty="0">
                <a:latin typeface="Times New Roman"/>
                <a:cs typeface="Times New Roman"/>
              </a:rPr>
              <a:t> </a:t>
            </a:r>
            <a:r>
              <a:rPr sz="2000" b="1" spc="50" dirty="0">
                <a:latin typeface="Times New Roman"/>
                <a:cs typeface="Times New Roman"/>
              </a:rPr>
              <a:t>to</a:t>
            </a:r>
            <a:r>
              <a:rPr sz="2000" b="1" spc="-100" dirty="0">
                <a:latin typeface="Times New Roman"/>
                <a:cs typeface="Times New Roman"/>
              </a:rPr>
              <a:t> </a:t>
            </a:r>
            <a:r>
              <a:rPr sz="2000" b="1" dirty="0">
                <a:latin typeface="Times New Roman"/>
                <a:cs typeface="Times New Roman"/>
              </a:rPr>
              <a:t>construct</a:t>
            </a:r>
            <a:r>
              <a:rPr sz="2000" b="1" spc="-105" dirty="0">
                <a:latin typeface="Times New Roman"/>
                <a:cs typeface="Times New Roman"/>
              </a:rPr>
              <a:t> </a:t>
            </a:r>
            <a:r>
              <a:rPr sz="2000" b="1" spc="-15" dirty="0">
                <a:latin typeface="Times New Roman"/>
                <a:cs typeface="Times New Roman"/>
              </a:rPr>
              <a:t>an</a:t>
            </a:r>
            <a:r>
              <a:rPr sz="2000" b="1" spc="-105" dirty="0">
                <a:latin typeface="Times New Roman"/>
                <a:cs typeface="Times New Roman"/>
              </a:rPr>
              <a:t> </a:t>
            </a:r>
            <a:r>
              <a:rPr sz="2000" b="1" spc="-50" dirty="0">
                <a:latin typeface="Times New Roman"/>
                <a:cs typeface="Times New Roman"/>
              </a:rPr>
              <a:t>E-R</a:t>
            </a:r>
            <a:r>
              <a:rPr sz="2000" b="1" spc="-100" dirty="0">
                <a:latin typeface="Times New Roman"/>
                <a:cs typeface="Times New Roman"/>
              </a:rPr>
              <a:t> </a:t>
            </a:r>
            <a:r>
              <a:rPr sz="2000" b="1" spc="-60" dirty="0">
                <a:latin typeface="Times New Roman"/>
                <a:cs typeface="Times New Roman"/>
              </a:rPr>
              <a:t>diagram</a:t>
            </a:r>
            <a:r>
              <a:rPr sz="2000" b="1" spc="-120" dirty="0">
                <a:latin typeface="Times New Roman"/>
                <a:cs typeface="Times New Roman"/>
              </a:rPr>
              <a:t> </a:t>
            </a:r>
            <a:r>
              <a:rPr sz="2000" b="1" spc="-65" dirty="0">
                <a:latin typeface="Times New Roman"/>
                <a:cs typeface="Times New Roman"/>
              </a:rPr>
              <a:t>are</a:t>
            </a:r>
            <a:r>
              <a:rPr sz="2000" b="1" spc="-120" dirty="0">
                <a:latin typeface="Times New Roman"/>
                <a:cs typeface="Times New Roman"/>
              </a:rPr>
              <a:t> </a:t>
            </a:r>
            <a:r>
              <a:rPr sz="2000" b="1" spc="-45" dirty="0">
                <a:latin typeface="Times New Roman"/>
                <a:cs typeface="Times New Roman"/>
              </a:rPr>
              <a:t>as</a:t>
            </a:r>
            <a:r>
              <a:rPr sz="2000" b="1" spc="-100" dirty="0">
                <a:latin typeface="Times New Roman"/>
                <a:cs typeface="Times New Roman"/>
              </a:rPr>
              <a:t> </a:t>
            </a:r>
            <a:r>
              <a:rPr sz="2000" b="1" dirty="0">
                <a:latin typeface="Times New Roman"/>
                <a:cs typeface="Times New Roman"/>
              </a:rPr>
              <a:t>follows:</a:t>
            </a:r>
            <a:endParaRPr sz="2000">
              <a:latin typeface="Times New Roman"/>
              <a:cs typeface="Times New Roman"/>
            </a:endParaRPr>
          </a:p>
          <a:p>
            <a:pPr marL="215900" indent="-203835">
              <a:lnSpc>
                <a:spcPct val="100000"/>
              </a:lnSpc>
              <a:buAutoNum type="arabicPeriod"/>
              <a:tabLst>
                <a:tab pos="216535" algn="l"/>
              </a:tabLst>
            </a:pPr>
            <a:r>
              <a:rPr sz="2000" spc="105" dirty="0">
                <a:latin typeface="Times New Roman"/>
                <a:cs typeface="Times New Roman"/>
              </a:rPr>
              <a:t>Gather</a:t>
            </a:r>
            <a:r>
              <a:rPr sz="2000" spc="-65" dirty="0">
                <a:latin typeface="Times New Roman"/>
                <a:cs typeface="Times New Roman"/>
              </a:rPr>
              <a:t> </a:t>
            </a:r>
            <a:r>
              <a:rPr sz="2000" spc="10" dirty="0">
                <a:latin typeface="Times New Roman"/>
                <a:cs typeface="Times New Roman"/>
              </a:rPr>
              <a:t>all</a:t>
            </a:r>
            <a:r>
              <a:rPr sz="2000" spc="-60"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80" dirty="0">
                <a:latin typeface="Times New Roman"/>
                <a:cs typeface="Times New Roman"/>
              </a:rPr>
              <a:t>data</a:t>
            </a:r>
            <a:r>
              <a:rPr sz="2000" spc="-65" dirty="0">
                <a:latin typeface="Times New Roman"/>
                <a:cs typeface="Times New Roman"/>
              </a:rPr>
              <a:t> </a:t>
            </a:r>
            <a:r>
              <a:rPr sz="2000" spc="114" dirty="0">
                <a:latin typeface="Times New Roman"/>
                <a:cs typeface="Times New Roman"/>
              </a:rPr>
              <a:t>that</a:t>
            </a:r>
            <a:r>
              <a:rPr sz="2000" spc="-65" dirty="0">
                <a:latin typeface="Times New Roman"/>
                <a:cs typeface="Times New Roman"/>
              </a:rPr>
              <a:t> </a:t>
            </a:r>
            <a:r>
              <a:rPr sz="2000" spc="95" dirty="0">
                <a:latin typeface="Times New Roman"/>
                <a:cs typeface="Times New Roman"/>
              </a:rPr>
              <a:t>must</a:t>
            </a:r>
            <a:r>
              <a:rPr sz="2000" spc="-75" dirty="0">
                <a:latin typeface="Times New Roman"/>
                <a:cs typeface="Times New Roman"/>
              </a:rPr>
              <a:t> </a:t>
            </a:r>
            <a:r>
              <a:rPr sz="2000" spc="65" dirty="0">
                <a:latin typeface="Times New Roman"/>
                <a:cs typeface="Times New Roman"/>
              </a:rPr>
              <a:t>be</a:t>
            </a:r>
            <a:r>
              <a:rPr sz="2000" spc="-65" dirty="0">
                <a:latin typeface="Times New Roman"/>
                <a:cs typeface="Times New Roman"/>
              </a:rPr>
              <a:t> </a:t>
            </a:r>
            <a:r>
              <a:rPr sz="2000" spc="65" dirty="0">
                <a:latin typeface="Times New Roman"/>
                <a:cs typeface="Times New Roman"/>
              </a:rPr>
              <a:t>modeled.</a:t>
            </a:r>
            <a:endParaRPr sz="2000">
              <a:latin typeface="Times New Roman"/>
              <a:cs typeface="Times New Roman"/>
            </a:endParaRPr>
          </a:p>
          <a:p>
            <a:pPr marL="248920" indent="-236854">
              <a:lnSpc>
                <a:spcPct val="100000"/>
              </a:lnSpc>
              <a:buAutoNum type="arabicPeriod"/>
              <a:tabLst>
                <a:tab pos="249554" algn="l"/>
              </a:tabLst>
            </a:pPr>
            <a:r>
              <a:rPr sz="2000" spc="60" dirty="0">
                <a:latin typeface="Times New Roman"/>
                <a:cs typeface="Times New Roman"/>
              </a:rPr>
              <a:t>Identify</a:t>
            </a:r>
            <a:r>
              <a:rPr sz="2000" spc="-75" dirty="0">
                <a:latin typeface="Times New Roman"/>
                <a:cs typeface="Times New Roman"/>
              </a:rPr>
              <a:t> </a:t>
            </a:r>
            <a:r>
              <a:rPr sz="2000" spc="80" dirty="0">
                <a:latin typeface="Times New Roman"/>
                <a:cs typeface="Times New Roman"/>
              </a:rPr>
              <a:t>data</a:t>
            </a:r>
            <a:r>
              <a:rPr sz="2000" spc="-70" dirty="0">
                <a:latin typeface="Times New Roman"/>
                <a:cs typeface="Times New Roman"/>
              </a:rPr>
              <a:t> </a:t>
            </a:r>
            <a:r>
              <a:rPr sz="2000" spc="114" dirty="0">
                <a:latin typeface="Times New Roman"/>
                <a:cs typeface="Times New Roman"/>
              </a:rPr>
              <a:t>that</a:t>
            </a:r>
            <a:r>
              <a:rPr sz="2000" spc="-65" dirty="0">
                <a:latin typeface="Times New Roman"/>
                <a:cs typeface="Times New Roman"/>
              </a:rPr>
              <a:t> </a:t>
            </a:r>
            <a:r>
              <a:rPr sz="2000" spc="75" dirty="0">
                <a:latin typeface="Times New Roman"/>
                <a:cs typeface="Times New Roman"/>
              </a:rPr>
              <a:t>can</a:t>
            </a:r>
            <a:r>
              <a:rPr sz="2000" spc="-75" dirty="0">
                <a:latin typeface="Times New Roman"/>
                <a:cs typeface="Times New Roman"/>
              </a:rPr>
              <a:t> </a:t>
            </a:r>
            <a:r>
              <a:rPr sz="2000" spc="65" dirty="0">
                <a:latin typeface="Times New Roman"/>
                <a:cs typeface="Times New Roman"/>
              </a:rPr>
              <a:t>be</a:t>
            </a:r>
            <a:r>
              <a:rPr sz="2000" spc="-65" dirty="0">
                <a:latin typeface="Times New Roman"/>
                <a:cs typeface="Times New Roman"/>
              </a:rPr>
              <a:t> </a:t>
            </a:r>
            <a:r>
              <a:rPr sz="2000" spc="75" dirty="0">
                <a:latin typeface="Times New Roman"/>
                <a:cs typeface="Times New Roman"/>
              </a:rPr>
              <a:t>modeled</a:t>
            </a:r>
            <a:r>
              <a:rPr sz="2000" spc="-55" dirty="0">
                <a:latin typeface="Times New Roman"/>
                <a:cs typeface="Times New Roman"/>
              </a:rPr>
              <a:t> </a:t>
            </a:r>
            <a:r>
              <a:rPr sz="2000" spc="20" dirty="0">
                <a:latin typeface="Times New Roman"/>
                <a:cs typeface="Times New Roman"/>
              </a:rPr>
              <a:t>as</a:t>
            </a:r>
            <a:r>
              <a:rPr sz="2000" spc="-75" dirty="0">
                <a:latin typeface="Times New Roman"/>
                <a:cs typeface="Times New Roman"/>
              </a:rPr>
              <a:t> </a:t>
            </a:r>
            <a:r>
              <a:rPr sz="2000" spc="50" dirty="0">
                <a:latin typeface="Times New Roman"/>
                <a:cs typeface="Times New Roman"/>
              </a:rPr>
              <a:t>real-world</a:t>
            </a:r>
            <a:r>
              <a:rPr sz="2000" spc="-55" dirty="0">
                <a:latin typeface="Times New Roman"/>
                <a:cs typeface="Times New Roman"/>
              </a:rPr>
              <a:t> </a:t>
            </a:r>
            <a:r>
              <a:rPr sz="2000" spc="60" dirty="0">
                <a:latin typeface="Times New Roman"/>
                <a:cs typeface="Times New Roman"/>
              </a:rPr>
              <a:t>entities.</a:t>
            </a:r>
            <a:endParaRPr sz="2000">
              <a:latin typeface="Times New Roman"/>
              <a:cs typeface="Times New Roman"/>
            </a:endParaRPr>
          </a:p>
          <a:p>
            <a:pPr marL="233679" indent="-221615">
              <a:lnSpc>
                <a:spcPct val="100000"/>
              </a:lnSpc>
              <a:buAutoNum type="arabicPeriod"/>
              <a:tabLst>
                <a:tab pos="234315" algn="l"/>
              </a:tabLst>
            </a:pPr>
            <a:r>
              <a:rPr sz="2000" spc="60" dirty="0">
                <a:latin typeface="Times New Roman"/>
                <a:cs typeface="Times New Roman"/>
              </a:rPr>
              <a:t>Identify</a:t>
            </a:r>
            <a:r>
              <a:rPr sz="2000" spc="-80" dirty="0">
                <a:latin typeface="Times New Roman"/>
                <a:cs typeface="Times New Roman"/>
              </a:rPr>
              <a:t> </a:t>
            </a:r>
            <a:r>
              <a:rPr sz="2000" spc="110" dirty="0">
                <a:latin typeface="Times New Roman"/>
                <a:cs typeface="Times New Roman"/>
              </a:rPr>
              <a:t>the</a:t>
            </a:r>
            <a:r>
              <a:rPr sz="2000" spc="-60" dirty="0">
                <a:latin typeface="Times New Roman"/>
                <a:cs typeface="Times New Roman"/>
              </a:rPr>
              <a:t> </a:t>
            </a:r>
            <a:r>
              <a:rPr sz="2000" spc="80" dirty="0">
                <a:latin typeface="Times New Roman"/>
                <a:cs typeface="Times New Roman"/>
              </a:rPr>
              <a:t>attributes</a:t>
            </a:r>
            <a:r>
              <a:rPr sz="2000" spc="-55" dirty="0">
                <a:latin typeface="Times New Roman"/>
                <a:cs typeface="Times New Roman"/>
              </a:rPr>
              <a:t> </a:t>
            </a:r>
            <a:r>
              <a:rPr sz="2000" spc="65" dirty="0">
                <a:latin typeface="Times New Roman"/>
                <a:cs typeface="Times New Roman"/>
              </a:rPr>
              <a:t>for</a:t>
            </a:r>
            <a:r>
              <a:rPr sz="2000" spc="-75" dirty="0">
                <a:latin typeface="Times New Roman"/>
                <a:cs typeface="Times New Roman"/>
              </a:rPr>
              <a:t> </a:t>
            </a:r>
            <a:r>
              <a:rPr sz="2000" spc="65" dirty="0">
                <a:latin typeface="Times New Roman"/>
                <a:cs typeface="Times New Roman"/>
              </a:rPr>
              <a:t>each</a:t>
            </a:r>
            <a:r>
              <a:rPr sz="2000" spc="-70" dirty="0">
                <a:latin typeface="Times New Roman"/>
                <a:cs typeface="Times New Roman"/>
              </a:rPr>
              <a:t> </a:t>
            </a:r>
            <a:r>
              <a:rPr sz="2000" spc="70" dirty="0">
                <a:latin typeface="Times New Roman"/>
                <a:cs typeface="Times New Roman"/>
              </a:rPr>
              <a:t>entity.</a:t>
            </a:r>
            <a:endParaRPr sz="2000">
              <a:latin typeface="Times New Roman"/>
              <a:cs typeface="Times New Roman"/>
            </a:endParaRPr>
          </a:p>
          <a:p>
            <a:pPr marL="259079" indent="-246379">
              <a:lnSpc>
                <a:spcPct val="100000"/>
              </a:lnSpc>
              <a:buAutoNum type="arabicPeriod"/>
              <a:tabLst>
                <a:tab pos="259079" algn="l"/>
              </a:tabLst>
            </a:pPr>
            <a:r>
              <a:rPr sz="2000" spc="95" dirty="0">
                <a:latin typeface="Times New Roman"/>
                <a:cs typeface="Times New Roman"/>
              </a:rPr>
              <a:t>Sort</a:t>
            </a:r>
            <a:r>
              <a:rPr sz="2000" spc="-70" dirty="0">
                <a:latin typeface="Times New Roman"/>
                <a:cs typeface="Times New Roman"/>
              </a:rPr>
              <a:t> </a:t>
            </a:r>
            <a:r>
              <a:rPr sz="2000" spc="80" dirty="0">
                <a:latin typeface="Times New Roman"/>
                <a:cs typeface="Times New Roman"/>
              </a:rPr>
              <a:t>entity</a:t>
            </a:r>
            <a:r>
              <a:rPr sz="2000" spc="-60" dirty="0">
                <a:latin typeface="Times New Roman"/>
                <a:cs typeface="Times New Roman"/>
              </a:rPr>
              <a:t> </a:t>
            </a:r>
            <a:r>
              <a:rPr sz="2000" spc="45" dirty="0">
                <a:latin typeface="Times New Roman"/>
                <a:cs typeface="Times New Roman"/>
              </a:rPr>
              <a:t>sets</a:t>
            </a:r>
            <a:r>
              <a:rPr sz="2000" spc="-65" dirty="0">
                <a:latin typeface="Times New Roman"/>
                <a:cs typeface="Times New Roman"/>
              </a:rPr>
              <a:t> </a:t>
            </a:r>
            <a:r>
              <a:rPr sz="2000" spc="20" dirty="0">
                <a:latin typeface="Times New Roman"/>
                <a:cs typeface="Times New Roman"/>
              </a:rPr>
              <a:t>as</a:t>
            </a:r>
            <a:r>
              <a:rPr sz="2000" spc="-70" dirty="0">
                <a:latin typeface="Times New Roman"/>
                <a:cs typeface="Times New Roman"/>
              </a:rPr>
              <a:t> </a:t>
            </a:r>
            <a:r>
              <a:rPr sz="2000" spc="50" dirty="0">
                <a:latin typeface="Times New Roman"/>
                <a:cs typeface="Times New Roman"/>
              </a:rPr>
              <a:t>weak</a:t>
            </a:r>
            <a:r>
              <a:rPr sz="2000" spc="-65" dirty="0">
                <a:latin typeface="Times New Roman"/>
                <a:cs typeface="Times New Roman"/>
              </a:rPr>
              <a:t> </a:t>
            </a:r>
            <a:r>
              <a:rPr sz="2000" spc="85" dirty="0">
                <a:latin typeface="Times New Roman"/>
                <a:cs typeface="Times New Roman"/>
              </a:rPr>
              <a:t>or</a:t>
            </a:r>
            <a:r>
              <a:rPr sz="2000" spc="-70" dirty="0">
                <a:latin typeface="Times New Roman"/>
                <a:cs typeface="Times New Roman"/>
              </a:rPr>
              <a:t> </a:t>
            </a:r>
            <a:r>
              <a:rPr sz="2000" spc="75" dirty="0">
                <a:latin typeface="Times New Roman"/>
                <a:cs typeface="Times New Roman"/>
              </a:rPr>
              <a:t>strong</a:t>
            </a:r>
            <a:r>
              <a:rPr sz="2000" spc="-50" dirty="0">
                <a:latin typeface="Times New Roman"/>
                <a:cs typeface="Times New Roman"/>
              </a:rPr>
              <a:t> </a:t>
            </a:r>
            <a:r>
              <a:rPr sz="2000" spc="80" dirty="0">
                <a:latin typeface="Times New Roman"/>
                <a:cs typeface="Times New Roman"/>
              </a:rPr>
              <a:t>entity</a:t>
            </a:r>
            <a:r>
              <a:rPr sz="2000" spc="-60" dirty="0">
                <a:latin typeface="Times New Roman"/>
                <a:cs typeface="Times New Roman"/>
              </a:rPr>
              <a:t> </a:t>
            </a:r>
            <a:r>
              <a:rPr sz="2000" spc="35" dirty="0">
                <a:latin typeface="Times New Roman"/>
                <a:cs typeface="Times New Roman"/>
              </a:rPr>
              <a:t>sets.</a:t>
            </a:r>
            <a:endParaRPr sz="2000">
              <a:latin typeface="Times New Roman"/>
              <a:cs typeface="Times New Roman"/>
            </a:endParaRPr>
          </a:p>
          <a:p>
            <a:pPr marL="12700" marR="5080">
              <a:lnSpc>
                <a:spcPct val="100000"/>
              </a:lnSpc>
              <a:buAutoNum type="arabicPeriod"/>
              <a:tabLst>
                <a:tab pos="241935" algn="l"/>
              </a:tabLst>
            </a:pPr>
            <a:r>
              <a:rPr sz="2000" spc="95" dirty="0">
                <a:latin typeface="Times New Roman"/>
                <a:cs typeface="Times New Roman"/>
              </a:rPr>
              <a:t>Sort </a:t>
            </a:r>
            <a:r>
              <a:rPr sz="2000" spc="80" dirty="0">
                <a:latin typeface="Times New Roman"/>
                <a:cs typeface="Times New Roman"/>
              </a:rPr>
              <a:t>entity attributes </a:t>
            </a:r>
            <a:r>
              <a:rPr sz="2000" spc="20" dirty="0">
                <a:latin typeface="Times New Roman"/>
                <a:cs typeface="Times New Roman"/>
              </a:rPr>
              <a:t>as </a:t>
            </a:r>
            <a:r>
              <a:rPr sz="2000" spc="40" dirty="0">
                <a:latin typeface="Times New Roman"/>
                <a:cs typeface="Times New Roman"/>
              </a:rPr>
              <a:t>key </a:t>
            </a:r>
            <a:r>
              <a:rPr sz="2000" spc="70" dirty="0">
                <a:latin typeface="Times New Roman"/>
                <a:cs typeface="Times New Roman"/>
              </a:rPr>
              <a:t>attributes, </a:t>
            </a:r>
            <a:r>
              <a:rPr sz="2000" spc="65" dirty="0">
                <a:latin typeface="Times New Roman"/>
                <a:cs typeface="Times New Roman"/>
              </a:rPr>
              <a:t>multi-valued </a:t>
            </a:r>
            <a:r>
              <a:rPr sz="2000" spc="70" dirty="0">
                <a:latin typeface="Times New Roman"/>
                <a:cs typeface="Times New Roman"/>
              </a:rPr>
              <a:t>attributes, </a:t>
            </a:r>
            <a:r>
              <a:rPr sz="2000" spc="65" dirty="0">
                <a:latin typeface="Times New Roman"/>
                <a:cs typeface="Times New Roman"/>
              </a:rPr>
              <a:t>composite  </a:t>
            </a:r>
            <a:r>
              <a:rPr sz="2000" spc="70" dirty="0">
                <a:latin typeface="Times New Roman"/>
                <a:cs typeface="Times New Roman"/>
              </a:rPr>
              <a:t>attributes,</a:t>
            </a:r>
            <a:r>
              <a:rPr sz="2000" spc="-60" dirty="0">
                <a:latin typeface="Times New Roman"/>
                <a:cs typeface="Times New Roman"/>
              </a:rPr>
              <a:t> </a:t>
            </a:r>
            <a:r>
              <a:rPr sz="2000" spc="65" dirty="0">
                <a:latin typeface="Times New Roman"/>
                <a:cs typeface="Times New Roman"/>
              </a:rPr>
              <a:t>derived</a:t>
            </a:r>
            <a:r>
              <a:rPr sz="2000" spc="-70" dirty="0">
                <a:latin typeface="Times New Roman"/>
                <a:cs typeface="Times New Roman"/>
              </a:rPr>
              <a:t> </a:t>
            </a:r>
            <a:r>
              <a:rPr sz="2000" spc="70" dirty="0">
                <a:latin typeface="Times New Roman"/>
                <a:cs typeface="Times New Roman"/>
              </a:rPr>
              <a:t>attributes,</a:t>
            </a:r>
            <a:r>
              <a:rPr sz="2000" spc="-55" dirty="0">
                <a:latin typeface="Times New Roman"/>
                <a:cs typeface="Times New Roman"/>
              </a:rPr>
              <a:t> </a:t>
            </a:r>
            <a:r>
              <a:rPr sz="2000" spc="114" dirty="0">
                <a:latin typeface="Times New Roman"/>
                <a:cs typeface="Times New Roman"/>
              </a:rPr>
              <a:t>and</a:t>
            </a:r>
            <a:r>
              <a:rPr sz="2000" spc="-75" dirty="0">
                <a:latin typeface="Times New Roman"/>
                <a:cs typeface="Times New Roman"/>
              </a:rPr>
              <a:t> </a:t>
            </a:r>
            <a:r>
              <a:rPr sz="2000" spc="50" dirty="0">
                <a:latin typeface="Times New Roman"/>
                <a:cs typeface="Times New Roman"/>
              </a:rPr>
              <a:t>so</a:t>
            </a:r>
            <a:r>
              <a:rPr sz="2000" spc="-65" dirty="0">
                <a:latin typeface="Times New Roman"/>
                <a:cs typeface="Times New Roman"/>
              </a:rPr>
              <a:t> </a:t>
            </a:r>
            <a:r>
              <a:rPr sz="2000" spc="90" dirty="0">
                <a:latin typeface="Times New Roman"/>
                <a:cs typeface="Times New Roman"/>
              </a:rPr>
              <a:t>on.</a:t>
            </a:r>
            <a:endParaRPr sz="2000">
              <a:latin typeface="Times New Roman"/>
              <a:cs typeface="Times New Roman"/>
            </a:endParaRPr>
          </a:p>
          <a:p>
            <a:pPr marL="257175" indent="-245110">
              <a:lnSpc>
                <a:spcPct val="100000"/>
              </a:lnSpc>
              <a:spcBef>
                <a:spcPts val="5"/>
              </a:spcBef>
              <a:buAutoNum type="arabicPeriod"/>
              <a:tabLst>
                <a:tab pos="257810" algn="l"/>
              </a:tabLst>
            </a:pPr>
            <a:r>
              <a:rPr sz="2000" spc="60" dirty="0">
                <a:latin typeface="Times New Roman"/>
                <a:cs typeface="Times New Roman"/>
              </a:rPr>
              <a:t>Identify</a:t>
            </a:r>
            <a:r>
              <a:rPr sz="2000" spc="-75" dirty="0">
                <a:latin typeface="Times New Roman"/>
                <a:cs typeface="Times New Roman"/>
              </a:rPr>
              <a:t> </a:t>
            </a:r>
            <a:r>
              <a:rPr sz="2000" spc="110" dirty="0">
                <a:latin typeface="Times New Roman"/>
                <a:cs typeface="Times New Roman"/>
              </a:rPr>
              <a:t>the</a:t>
            </a:r>
            <a:r>
              <a:rPr sz="2000" spc="-60" dirty="0">
                <a:latin typeface="Times New Roman"/>
                <a:cs typeface="Times New Roman"/>
              </a:rPr>
              <a:t> </a:t>
            </a:r>
            <a:r>
              <a:rPr sz="2000" spc="60" dirty="0">
                <a:latin typeface="Times New Roman"/>
                <a:cs typeface="Times New Roman"/>
              </a:rPr>
              <a:t>relations</a:t>
            </a:r>
            <a:r>
              <a:rPr sz="2000" spc="-50" dirty="0">
                <a:latin typeface="Times New Roman"/>
                <a:cs typeface="Times New Roman"/>
              </a:rPr>
              <a:t> </a:t>
            </a:r>
            <a:r>
              <a:rPr sz="2000" spc="80" dirty="0">
                <a:latin typeface="Times New Roman"/>
                <a:cs typeface="Times New Roman"/>
              </a:rPr>
              <a:t>between</a:t>
            </a:r>
            <a:r>
              <a:rPr sz="2000" spc="-40" dirty="0">
                <a:latin typeface="Times New Roman"/>
                <a:cs typeface="Times New Roman"/>
              </a:rPr>
              <a:t> </a:t>
            </a:r>
            <a:r>
              <a:rPr sz="2000" spc="110" dirty="0">
                <a:latin typeface="Times New Roman"/>
                <a:cs typeface="Times New Roman"/>
              </a:rPr>
              <a:t>the</a:t>
            </a:r>
            <a:r>
              <a:rPr sz="2000" spc="-60" dirty="0">
                <a:latin typeface="Times New Roman"/>
                <a:cs typeface="Times New Roman"/>
              </a:rPr>
              <a:t> </a:t>
            </a:r>
            <a:r>
              <a:rPr sz="2000" spc="70" dirty="0">
                <a:latin typeface="Times New Roman"/>
                <a:cs typeface="Times New Roman"/>
              </a:rPr>
              <a:t>different</a:t>
            </a:r>
            <a:r>
              <a:rPr sz="2000" spc="-65" dirty="0">
                <a:latin typeface="Times New Roman"/>
                <a:cs typeface="Times New Roman"/>
              </a:rPr>
              <a:t> </a:t>
            </a:r>
            <a:r>
              <a:rPr sz="2000" spc="60" dirty="0">
                <a:latin typeface="Times New Roman"/>
                <a:cs typeface="Times New Roman"/>
              </a:rPr>
              <a:t>entities.</a:t>
            </a:r>
            <a:endParaRPr sz="2000">
              <a:latin typeface="Times New Roman"/>
              <a:cs typeface="Times New Roman"/>
            </a:endParaRPr>
          </a:p>
          <a:p>
            <a:pPr marL="12700" marR="5715">
              <a:lnSpc>
                <a:spcPct val="100000"/>
              </a:lnSpc>
              <a:buAutoNum type="arabicPeriod"/>
              <a:tabLst>
                <a:tab pos="337820" algn="l"/>
                <a:tab pos="338455" algn="l"/>
                <a:tab pos="1123315" algn="l"/>
                <a:tab pos="2218690" algn="l"/>
                <a:tab pos="3239135" algn="l"/>
                <a:tab pos="3920490" algn="l"/>
                <a:tab pos="4410075" algn="l"/>
                <a:tab pos="5414010" algn="l"/>
                <a:tab pos="6070600" algn="l"/>
                <a:tab pos="7319009" algn="l"/>
                <a:tab pos="7864475" algn="l"/>
              </a:tabLst>
            </a:pPr>
            <a:r>
              <a:rPr sz="2000" spc="120" dirty="0">
                <a:latin typeface="Times New Roman"/>
                <a:cs typeface="Times New Roman"/>
              </a:rPr>
              <a:t>U</a:t>
            </a:r>
            <a:r>
              <a:rPr sz="2000" spc="55" dirty="0">
                <a:latin typeface="Times New Roman"/>
                <a:cs typeface="Times New Roman"/>
              </a:rPr>
              <a:t>sing</a:t>
            </a:r>
            <a:r>
              <a:rPr sz="2000" dirty="0">
                <a:latin typeface="Times New Roman"/>
                <a:cs typeface="Times New Roman"/>
              </a:rPr>
              <a:t>	</a:t>
            </a:r>
            <a:r>
              <a:rPr sz="2000" spc="55" dirty="0">
                <a:latin typeface="Times New Roman"/>
                <a:cs typeface="Times New Roman"/>
              </a:rPr>
              <a:t>di</a:t>
            </a:r>
            <a:r>
              <a:rPr sz="2000" spc="35" dirty="0">
                <a:latin typeface="Times New Roman"/>
                <a:cs typeface="Times New Roman"/>
              </a:rPr>
              <a:t>f</a:t>
            </a:r>
            <a:r>
              <a:rPr sz="2000" spc="50" dirty="0">
                <a:latin typeface="Times New Roman"/>
                <a:cs typeface="Times New Roman"/>
              </a:rPr>
              <a:t>fer</a:t>
            </a:r>
            <a:r>
              <a:rPr sz="2000" spc="105" dirty="0">
                <a:latin typeface="Times New Roman"/>
                <a:cs typeface="Times New Roman"/>
              </a:rPr>
              <a:t>e</a:t>
            </a:r>
            <a:r>
              <a:rPr sz="2000" spc="125" dirty="0">
                <a:latin typeface="Times New Roman"/>
                <a:cs typeface="Times New Roman"/>
              </a:rPr>
              <a:t>nt</a:t>
            </a:r>
            <a:r>
              <a:rPr sz="2000" dirty="0">
                <a:latin typeface="Times New Roman"/>
                <a:cs typeface="Times New Roman"/>
              </a:rPr>
              <a:t>	</a:t>
            </a:r>
            <a:r>
              <a:rPr sz="2000" spc="45" dirty="0">
                <a:latin typeface="Times New Roman"/>
                <a:cs typeface="Times New Roman"/>
              </a:rPr>
              <a:t>symb</a:t>
            </a:r>
            <a:r>
              <a:rPr sz="2000" spc="30" dirty="0">
                <a:latin typeface="Times New Roman"/>
                <a:cs typeface="Times New Roman"/>
              </a:rPr>
              <a:t>ols</a:t>
            </a:r>
            <a:r>
              <a:rPr sz="2000" dirty="0">
                <a:latin typeface="Times New Roman"/>
                <a:cs typeface="Times New Roman"/>
              </a:rPr>
              <a:t>	</a:t>
            </a:r>
            <a:r>
              <a:rPr sz="2000" spc="80" dirty="0">
                <a:latin typeface="Times New Roman"/>
                <a:cs typeface="Times New Roman"/>
              </a:rPr>
              <a:t>dr</a:t>
            </a:r>
            <a:r>
              <a:rPr sz="2000" spc="90" dirty="0">
                <a:latin typeface="Times New Roman"/>
                <a:cs typeface="Times New Roman"/>
              </a:rPr>
              <a:t>a</a:t>
            </a:r>
            <a:r>
              <a:rPr sz="2000" spc="50" dirty="0">
                <a:latin typeface="Times New Roman"/>
                <a:cs typeface="Times New Roman"/>
              </a:rPr>
              <a:t>w</a:t>
            </a:r>
            <a:r>
              <a:rPr sz="2000" dirty="0">
                <a:latin typeface="Times New Roman"/>
                <a:cs typeface="Times New Roman"/>
              </a:rPr>
              <a:t>	</a:t>
            </a:r>
            <a:r>
              <a:rPr sz="2000" spc="125" dirty="0">
                <a:latin typeface="Times New Roman"/>
                <a:cs typeface="Times New Roman"/>
              </a:rPr>
              <a:t>t</a:t>
            </a:r>
            <a:r>
              <a:rPr sz="2000" spc="105" dirty="0">
                <a:latin typeface="Times New Roman"/>
                <a:cs typeface="Times New Roman"/>
              </a:rPr>
              <a:t>he</a:t>
            </a:r>
            <a:r>
              <a:rPr sz="2000" dirty="0">
                <a:latin typeface="Times New Roman"/>
                <a:cs typeface="Times New Roman"/>
              </a:rPr>
              <a:t>	</a:t>
            </a:r>
            <a:r>
              <a:rPr sz="2000" spc="105" dirty="0">
                <a:latin typeface="Times New Roman"/>
                <a:cs typeface="Times New Roman"/>
              </a:rPr>
              <a:t>e</a:t>
            </a:r>
            <a:r>
              <a:rPr sz="2000" spc="125" dirty="0">
                <a:latin typeface="Times New Roman"/>
                <a:cs typeface="Times New Roman"/>
              </a:rPr>
              <a:t>n</a:t>
            </a:r>
            <a:r>
              <a:rPr sz="2000" spc="65" dirty="0">
                <a:latin typeface="Times New Roman"/>
                <a:cs typeface="Times New Roman"/>
              </a:rPr>
              <a:t>titi</a:t>
            </a:r>
            <a:r>
              <a:rPr sz="2000" spc="15" dirty="0">
                <a:latin typeface="Times New Roman"/>
                <a:cs typeface="Times New Roman"/>
              </a:rPr>
              <a:t>es,</a:t>
            </a:r>
            <a:r>
              <a:rPr sz="2000" dirty="0">
                <a:latin typeface="Times New Roman"/>
                <a:cs typeface="Times New Roman"/>
              </a:rPr>
              <a:t>	</a:t>
            </a:r>
            <a:r>
              <a:rPr sz="2000" spc="125" dirty="0">
                <a:latin typeface="Times New Roman"/>
                <a:cs typeface="Times New Roman"/>
              </a:rPr>
              <a:t>t</a:t>
            </a:r>
            <a:r>
              <a:rPr sz="2000" spc="75" dirty="0">
                <a:latin typeface="Times New Roman"/>
                <a:cs typeface="Times New Roman"/>
              </a:rPr>
              <a:t>heir</a:t>
            </a:r>
            <a:r>
              <a:rPr sz="2000" dirty="0">
                <a:latin typeface="Times New Roman"/>
                <a:cs typeface="Times New Roman"/>
              </a:rPr>
              <a:t>	</a:t>
            </a:r>
            <a:r>
              <a:rPr sz="2000" spc="100" dirty="0">
                <a:latin typeface="Times New Roman"/>
                <a:cs typeface="Times New Roman"/>
              </a:rPr>
              <a:t>at</a:t>
            </a:r>
            <a:r>
              <a:rPr sz="2000" spc="85" dirty="0">
                <a:latin typeface="Times New Roman"/>
                <a:cs typeface="Times New Roman"/>
              </a:rPr>
              <a:t>t</a:t>
            </a:r>
            <a:r>
              <a:rPr sz="2000" spc="95" dirty="0">
                <a:latin typeface="Times New Roman"/>
                <a:cs typeface="Times New Roman"/>
              </a:rPr>
              <a:t>ribu</a:t>
            </a:r>
            <a:r>
              <a:rPr sz="2000" spc="70" dirty="0">
                <a:latin typeface="Times New Roman"/>
                <a:cs typeface="Times New Roman"/>
              </a:rPr>
              <a:t>t</a:t>
            </a:r>
            <a:r>
              <a:rPr sz="2000" spc="15" dirty="0">
                <a:latin typeface="Times New Roman"/>
                <a:cs typeface="Times New Roman"/>
              </a:rPr>
              <a:t>es,</a:t>
            </a:r>
            <a:r>
              <a:rPr sz="2000" dirty="0">
                <a:latin typeface="Times New Roman"/>
                <a:cs typeface="Times New Roman"/>
              </a:rPr>
              <a:t>	</a:t>
            </a:r>
            <a:r>
              <a:rPr sz="2000" spc="100" dirty="0">
                <a:latin typeface="Times New Roman"/>
                <a:cs typeface="Times New Roman"/>
              </a:rPr>
              <a:t>a</a:t>
            </a:r>
            <a:r>
              <a:rPr sz="2000" spc="114" dirty="0">
                <a:latin typeface="Times New Roman"/>
                <a:cs typeface="Times New Roman"/>
              </a:rPr>
              <a:t>n</a:t>
            </a:r>
            <a:r>
              <a:rPr sz="2000" spc="125" dirty="0">
                <a:latin typeface="Times New Roman"/>
                <a:cs typeface="Times New Roman"/>
              </a:rPr>
              <a:t>d</a:t>
            </a:r>
            <a:r>
              <a:rPr sz="2000" dirty="0">
                <a:latin typeface="Times New Roman"/>
                <a:cs typeface="Times New Roman"/>
              </a:rPr>
              <a:t>	</a:t>
            </a:r>
            <a:r>
              <a:rPr sz="2000" spc="75" dirty="0">
                <a:latin typeface="Times New Roman"/>
                <a:cs typeface="Times New Roman"/>
              </a:rPr>
              <a:t>their  </a:t>
            </a:r>
            <a:r>
              <a:rPr sz="2000" spc="60" dirty="0">
                <a:latin typeface="Times New Roman"/>
                <a:cs typeface="Times New Roman"/>
              </a:rPr>
              <a:t>relationships.</a:t>
            </a:r>
            <a:r>
              <a:rPr sz="2000" spc="-60" dirty="0">
                <a:latin typeface="Times New Roman"/>
                <a:cs typeface="Times New Roman"/>
              </a:rPr>
              <a:t> </a:t>
            </a:r>
            <a:r>
              <a:rPr sz="2000" spc="75" dirty="0">
                <a:latin typeface="Times New Roman"/>
                <a:cs typeface="Times New Roman"/>
              </a:rPr>
              <a:t>Use</a:t>
            </a:r>
            <a:r>
              <a:rPr sz="2000" spc="-65" dirty="0">
                <a:latin typeface="Times New Roman"/>
                <a:cs typeface="Times New Roman"/>
              </a:rPr>
              <a:t> </a:t>
            </a:r>
            <a:r>
              <a:rPr sz="2000" spc="75" dirty="0">
                <a:latin typeface="Times New Roman"/>
                <a:cs typeface="Times New Roman"/>
              </a:rPr>
              <a:t>appropriate</a:t>
            </a:r>
            <a:r>
              <a:rPr sz="2000" spc="-55" dirty="0">
                <a:latin typeface="Times New Roman"/>
                <a:cs typeface="Times New Roman"/>
              </a:rPr>
              <a:t> </a:t>
            </a:r>
            <a:r>
              <a:rPr sz="2000" spc="40" dirty="0">
                <a:latin typeface="Times New Roman"/>
                <a:cs typeface="Times New Roman"/>
              </a:rPr>
              <a:t>symbols</a:t>
            </a:r>
            <a:r>
              <a:rPr sz="2000" spc="-45" dirty="0">
                <a:latin typeface="Times New Roman"/>
                <a:cs typeface="Times New Roman"/>
              </a:rPr>
              <a:t> </a:t>
            </a:r>
            <a:r>
              <a:rPr sz="2000" spc="55" dirty="0">
                <a:latin typeface="Times New Roman"/>
                <a:cs typeface="Times New Roman"/>
              </a:rPr>
              <a:t>while</a:t>
            </a:r>
            <a:r>
              <a:rPr sz="2000" spc="-60" dirty="0">
                <a:latin typeface="Times New Roman"/>
                <a:cs typeface="Times New Roman"/>
              </a:rPr>
              <a:t> </a:t>
            </a:r>
            <a:r>
              <a:rPr sz="2000" spc="65" dirty="0">
                <a:latin typeface="Times New Roman"/>
                <a:cs typeface="Times New Roman"/>
              </a:rPr>
              <a:t>drawing</a:t>
            </a:r>
            <a:r>
              <a:rPr sz="2000" spc="-75" dirty="0">
                <a:latin typeface="Times New Roman"/>
                <a:cs typeface="Times New Roman"/>
              </a:rPr>
              <a:t> </a:t>
            </a:r>
            <a:r>
              <a:rPr sz="2000" spc="70" dirty="0">
                <a:latin typeface="Times New Roman"/>
                <a:cs typeface="Times New Roman"/>
              </a:rPr>
              <a:t>attributes.</a:t>
            </a:r>
            <a:endParaRPr sz="2000">
              <a:latin typeface="Times New Roman"/>
              <a:cs typeface="Times New Roman"/>
            </a:endParaRPr>
          </a:p>
        </p:txBody>
      </p:sp>
      <p:grpSp>
        <p:nvGrpSpPr>
          <p:cNvPr id="5" name="object 5"/>
          <p:cNvGrpSpPr/>
          <p:nvPr/>
        </p:nvGrpSpPr>
        <p:grpSpPr>
          <a:xfrm>
            <a:off x="880110" y="1771713"/>
            <a:ext cx="1743075" cy="615950"/>
            <a:chOff x="880110" y="1771713"/>
            <a:chExt cx="1743075" cy="615950"/>
          </a:xfrm>
        </p:grpSpPr>
        <p:pic>
          <p:nvPicPr>
            <p:cNvPr id="6" name="object 6"/>
            <p:cNvPicPr/>
            <p:nvPr/>
          </p:nvPicPr>
          <p:blipFill>
            <a:blip r:embed="rId3" cstate="print"/>
            <a:stretch>
              <a:fillRect/>
            </a:stretch>
          </p:blipFill>
          <p:spPr>
            <a:xfrm>
              <a:off x="880110" y="1771713"/>
              <a:ext cx="1742693" cy="615632"/>
            </a:xfrm>
            <a:prstGeom prst="rect">
              <a:avLst/>
            </a:prstGeom>
          </p:spPr>
        </p:pic>
        <p:pic>
          <p:nvPicPr>
            <p:cNvPr id="7" name="object 7"/>
            <p:cNvPicPr/>
            <p:nvPr/>
          </p:nvPicPr>
          <p:blipFill>
            <a:blip r:embed="rId4" cstate="print"/>
            <a:stretch>
              <a:fillRect/>
            </a:stretch>
          </p:blipFill>
          <p:spPr>
            <a:xfrm>
              <a:off x="921258" y="1789938"/>
              <a:ext cx="1667255" cy="540257"/>
            </a:xfrm>
            <a:prstGeom prst="rect">
              <a:avLst/>
            </a:prstGeom>
          </p:spPr>
        </p:pic>
      </p:grpSp>
      <p:sp>
        <p:nvSpPr>
          <p:cNvPr id="8" name="object 8"/>
          <p:cNvSpPr txBox="1"/>
          <p:nvPr/>
        </p:nvSpPr>
        <p:spPr>
          <a:xfrm>
            <a:off x="999236" y="1845563"/>
            <a:ext cx="1449705" cy="330200"/>
          </a:xfrm>
          <a:prstGeom prst="rect">
            <a:avLst/>
          </a:prstGeom>
        </p:spPr>
        <p:txBody>
          <a:bodyPr vert="horz" wrap="square" lIns="0" tIns="12065" rIns="0" bIns="0" rtlCol="0">
            <a:spAutoFit/>
          </a:bodyPr>
          <a:lstStyle/>
          <a:p>
            <a:pPr marL="12700">
              <a:lnSpc>
                <a:spcPct val="100000"/>
              </a:lnSpc>
              <a:spcBef>
                <a:spcPts val="95"/>
              </a:spcBef>
            </a:pPr>
            <a:r>
              <a:rPr sz="2000" spc="60" dirty="0">
                <a:solidFill>
                  <a:srgbClr val="FFFFFF"/>
                </a:solidFill>
                <a:latin typeface="Times New Roman"/>
                <a:cs typeface="Times New Roman"/>
              </a:rPr>
              <a:t>Multi-valued</a:t>
            </a:r>
            <a:endParaRPr sz="2000">
              <a:latin typeface="Times New Roman"/>
              <a:cs typeface="Times New Roman"/>
            </a:endParaRPr>
          </a:p>
        </p:txBody>
      </p:sp>
      <p:grpSp>
        <p:nvGrpSpPr>
          <p:cNvPr id="9" name="object 9"/>
          <p:cNvGrpSpPr/>
          <p:nvPr/>
        </p:nvGrpSpPr>
        <p:grpSpPr>
          <a:xfrm>
            <a:off x="3573779" y="1806003"/>
            <a:ext cx="1743075" cy="615950"/>
            <a:chOff x="3573779" y="1806003"/>
            <a:chExt cx="1743075" cy="615950"/>
          </a:xfrm>
        </p:grpSpPr>
        <p:pic>
          <p:nvPicPr>
            <p:cNvPr id="10" name="object 10"/>
            <p:cNvPicPr/>
            <p:nvPr/>
          </p:nvPicPr>
          <p:blipFill>
            <a:blip r:embed="rId3" cstate="print"/>
            <a:stretch>
              <a:fillRect/>
            </a:stretch>
          </p:blipFill>
          <p:spPr>
            <a:xfrm>
              <a:off x="3573779" y="1806003"/>
              <a:ext cx="1742694" cy="615632"/>
            </a:xfrm>
            <a:prstGeom prst="rect">
              <a:avLst/>
            </a:prstGeom>
          </p:spPr>
        </p:pic>
        <p:pic>
          <p:nvPicPr>
            <p:cNvPr id="11" name="object 11"/>
            <p:cNvPicPr/>
            <p:nvPr/>
          </p:nvPicPr>
          <p:blipFill>
            <a:blip r:embed="rId5" cstate="print"/>
            <a:stretch>
              <a:fillRect/>
            </a:stretch>
          </p:blipFill>
          <p:spPr>
            <a:xfrm>
              <a:off x="3614927" y="1824228"/>
              <a:ext cx="1667255" cy="540257"/>
            </a:xfrm>
            <a:prstGeom prst="rect">
              <a:avLst/>
            </a:prstGeom>
          </p:spPr>
        </p:pic>
      </p:grpSp>
      <p:sp>
        <p:nvSpPr>
          <p:cNvPr id="12" name="object 12"/>
          <p:cNvSpPr txBox="1"/>
          <p:nvPr/>
        </p:nvSpPr>
        <p:spPr>
          <a:xfrm>
            <a:off x="3780790" y="1873504"/>
            <a:ext cx="1235710" cy="330200"/>
          </a:xfrm>
          <a:prstGeom prst="rect">
            <a:avLst/>
          </a:prstGeom>
        </p:spPr>
        <p:txBody>
          <a:bodyPr vert="horz" wrap="square" lIns="0" tIns="12065" rIns="0" bIns="0" rtlCol="0">
            <a:spAutoFit/>
          </a:bodyPr>
          <a:lstStyle/>
          <a:p>
            <a:pPr marL="12700">
              <a:lnSpc>
                <a:spcPct val="100000"/>
              </a:lnSpc>
              <a:spcBef>
                <a:spcPts val="95"/>
              </a:spcBef>
            </a:pPr>
            <a:r>
              <a:rPr sz="2000" spc="95" dirty="0">
                <a:solidFill>
                  <a:srgbClr val="FFFFFF"/>
                </a:solidFill>
                <a:latin typeface="Times New Roman"/>
                <a:cs typeface="Times New Roman"/>
              </a:rPr>
              <a:t>Composite</a:t>
            </a:r>
            <a:endParaRPr sz="2000">
              <a:latin typeface="Times New Roman"/>
              <a:cs typeface="Times New Roman"/>
            </a:endParaRPr>
          </a:p>
        </p:txBody>
      </p:sp>
      <p:grpSp>
        <p:nvGrpSpPr>
          <p:cNvPr id="13" name="object 13"/>
          <p:cNvGrpSpPr/>
          <p:nvPr/>
        </p:nvGrpSpPr>
        <p:grpSpPr>
          <a:xfrm>
            <a:off x="6409944" y="1827339"/>
            <a:ext cx="1743075" cy="615950"/>
            <a:chOff x="6409944" y="1827339"/>
            <a:chExt cx="1743075" cy="615950"/>
          </a:xfrm>
        </p:grpSpPr>
        <p:pic>
          <p:nvPicPr>
            <p:cNvPr id="14" name="object 14"/>
            <p:cNvPicPr/>
            <p:nvPr/>
          </p:nvPicPr>
          <p:blipFill>
            <a:blip r:embed="rId3" cstate="print"/>
            <a:stretch>
              <a:fillRect/>
            </a:stretch>
          </p:blipFill>
          <p:spPr>
            <a:xfrm>
              <a:off x="6409944" y="1827339"/>
              <a:ext cx="1742694" cy="615632"/>
            </a:xfrm>
            <a:prstGeom prst="rect">
              <a:avLst/>
            </a:prstGeom>
          </p:spPr>
        </p:pic>
        <p:pic>
          <p:nvPicPr>
            <p:cNvPr id="15" name="object 15"/>
            <p:cNvPicPr/>
            <p:nvPr/>
          </p:nvPicPr>
          <p:blipFill>
            <a:blip r:embed="rId6" cstate="print"/>
            <a:stretch>
              <a:fillRect/>
            </a:stretch>
          </p:blipFill>
          <p:spPr>
            <a:xfrm>
              <a:off x="6451092" y="1845563"/>
              <a:ext cx="1667256" cy="540257"/>
            </a:xfrm>
            <a:prstGeom prst="rect">
              <a:avLst/>
            </a:prstGeom>
          </p:spPr>
        </p:pic>
      </p:grpSp>
      <p:sp>
        <p:nvSpPr>
          <p:cNvPr id="16" name="object 16"/>
          <p:cNvSpPr txBox="1"/>
          <p:nvPr/>
        </p:nvSpPr>
        <p:spPr>
          <a:xfrm>
            <a:off x="6810247" y="1901444"/>
            <a:ext cx="906780" cy="330200"/>
          </a:xfrm>
          <a:prstGeom prst="rect">
            <a:avLst/>
          </a:prstGeom>
        </p:spPr>
        <p:txBody>
          <a:bodyPr vert="horz" wrap="square" lIns="0" tIns="12065" rIns="0" bIns="0" rtlCol="0">
            <a:spAutoFit/>
          </a:bodyPr>
          <a:lstStyle/>
          <a:p>
            <a:pPr marL="12700">
              <a:lnSpc>
                <a:spcPct val="100000"/>
              </a:lnSpc>
              <a:spcBef>
                <a:spcPts val="95"/>
              </a:spcBef>
            </a:pPr>
            <a:r>
              <a:rPr sz="2000" spc="70" dirty="0">
                <a:solidFill>
                  <a:srgbClr val="FFFFFF"/>
                </a:solidFill>
                <a:latin typeface="Times New Roman"/>
                <a:cs typeface="Times New Roman"/>
              </a:rPr>
              <a:t>Derived</a:t>
            </a:r>
            <a:endParaRPr sz="2000">
              <a:latin typeface="Times New Roman"/>
              <a:cs typeface="Times New Roman"/>
            </a:endParaRPr>
          </a:p>
        </p:txBody>
      </p:sp>
      <p:grpSp>
        <p:nvGrpSpPr>
          <p:cNvPr id="17" name="object 17"/>
          <p:cNvGrpSpPr/>
          <p:nvPr/>
        </p:nvGrpSpPr>
        <p:grpSpPr>
          <a:xfrm>
            <a:off x="1688973" y="1374266"/>
            <a:ext cx="5643245" cy="472440"/>
            <a:chOff x="1688973" y="1374266"/>
            <a:chExt cx="5643245" cy="472440"/>
          </a:xfrm>
        </p:grpSpPr>
        <p:pic>
          <p:nvPicPr>
            <p:cNvPr id="18" name="object 18"/>
            <p:cNvPicPr/>
            <p:nvPr/>
          </p:nvPicPr>
          <p:blipFill>
            <a:blip r:embed="rId7" cstate="print"/>
            <a:stretch>
              <a:fillRect/>
            </a:stretch>
          </p:blipFill>
          <p:spPr>
            <a:xfrm>
              <a:off x="1713738" y="1516379"/>
              <a:ext cx="5618225" cy="112267"/>
            </a:xfrm>
            <a:prstGeom prst="rect">
              <a:avLst/>
            </a:prstGeom>
          </p:spPr>
        </p:pic>
        <p:sp>
          <p:nvSpPr>
            <p:cNvPr id="19" name="object 19"/>
            <p:cNvSpPr/>
            <p:nvPr/>
          </p:nvSpPr>
          <p:spPr>
            <a:xfrm>
              <a:off x="1755267" y="1550288"/>
              <a:ext cx="5530215" cy="11430"/>
            </a:xfrm>
            <a:custGeom>
              <a:avLst/>
              <a:gdLst/>
              <a:ahLst/>
              <a:cxnLst/>
              <a:rect l="l" t="t" r="r" b="b"/>
              <a:pathLst>
                <a:path w="5530215" h="11430">
                  <a:moveTo>
                    <a:pt x="0" y="11302"/>
                  </a:moveTo>
                  <a:lnTo>
                    <a:pt x="5529707" y="0"/>
                  </a:lnTo>
                </a:path>
              </a:pathLst>
            </a:custGeom>
            <a:ln w="25146">
              <a:solidFill>
                <a:srgbClr val="000000"/>
              </a:solidFill>
            </a:ln>
          </p:spPr>
          <p:txBody>
            <a:bodyPr wrap="square" lIns="0" tIns="0" rIns="0" bIns="0" rtlCol="0"/>
            <a:lstStyle/>
            <a:p>
              <a:endParaRPr/>
            </a:p>
          </p:txBody>
        </p:sp>
        <p:sp>
          <p:nvSpPr>
            <p:cNvPr id="20" name="object 20"/>
            <p:cNvSpPr/>
            <p:nvPr/>
          </p:nvSpPr>
          <p:spPr>
            <a:xfrm>
              <a:off x="1688973" y="1546478"/>
              <a:ext cx="5634355" cy="299720"/>
            </a:xfrm>
            <a:custGeom>
              <a:avLst/>
              <a:gdLst/>
              <a:ahLst/>
              <a:cxnLst/>
              <a:rect l="l" t="t" r="r" b="b"/>
              <a:pathLst>
                <a:path w="5634355" h="299719">
                  <a:moveTo>
                    <a:pt x="76200" y="209804"/>
                  </a:moveTo>
                  <a:lnTo>
                    <a:pt x="44450" y="209804"/>
                  </a:lnTo>
                  <a:lnTo>
                    <a:pt x="44450" y="1524"/>
                  </a:lnTo>
                  <a:lnTo>
                    <a:pt x="31750" y="1524"/>
                  </a:lnTo>
                  <a:lnTo>
                    <a:pt x="31750" y="209804"/>
                  </a:lnTo>
                  <a:lnTo>
                    <a:pt x="0" y="209804"/>
                  </a:lnTo>
                  <a:lnTo>
                    <a:pt x="38100" y="286004"/>
                  </a:lnTo>
                  <a:lnTo>
                    <a:pt x="69850" y="222504"/>
                  </a:lnTo>
                  <a:lnTo>
                    <a:pt x="76200" y="209804"/>
                  </a:lnTo>
                  <a:close/>
                </a:path>
                <a:path w="5634355" h="299719">
                  <a:moveTo>
                    <a:pt x="2807970" y="223520"/>
                  </a:moveTo>
                  <a:lnTo>
                    <a:pt x="2776220" y="223520"/>
                  </a:lnTo>
                  <a:lnTo>
                    <a:pt x="2776220" y="15240"/>
                  </a:lnTo>
                  <a:lnTo>
                    <a:pt x="2763520" y="15240"/>
                  </a:lnTo>
                  <a:lnTo>
                    <a:pt x="2763520" y="223520"/>
                  </a:lnTo>
                  <a:lnTo>
                    <a:pt x="2731770" y="223520"/>
                  </a:lnTo>
                  <a:lnTo>
                    <a:pt x="2769870" y="299720"/>
                  </a:lnTo>
                  <a:lnTo>
                    <a:pt x="2801620" y="236220"/>
                  </a:lnTo>
                  <a:lnTo>
                    <a:pt x="2807970" y="223520"/>
                  </a:lnTo>
                  <a:close/>
                </a:path>
                <a:path w="5634355" h="299719">
                  <a:moveTo>
                    <a:pt x="5634228" y="208280"/>
                  </a:moveTo>
                  <a:lnTo>
                    <a:pt x="5602478" y="208280"/>
                  </a:lnTo>
                  <a:lnTo>
                    <a:pt x="5602478" y="0"/>
                  </a:lnTo>
                  <a:lnTo>
                    <a:pt x="5589778" y="0"/>
                  </a:lnTo>
                  <a:lnTo>
                    <a:pt x="5589778" y="208280"/>
                  </a:lnTo>
                  <a:lnTo>
                    <a:pt x="5558028" y="208280"/>
                  </a:lnTo>
                  <a:lnTo>
                    <a:pt x="5596128" y="284480"/>
                  </a:lnTo>
                  <a:lnTo>
                    <a:pt x="5627878" y="220980"/>
                  </a:lnTo>
                  <a:lnTo>
                    <a:pt x="5634228" y="208280"/>
                  </a:lnTo>
                  <a:close/>
                </a:path>
              </a:pathLst>
            </a:custGeom>
            <a:solidFill>
              <a:srgbClr val="000000"/>
            </a:solidFill>
          </p:spPr>
          <p:txBody>
            <a:bodyPr wrap="square" lIns="0" tIns="0" rIns="0" bIns="0" rtlCol="0"/>
            <a:lstStyle/>
            <a:p>
              <a:endParaRPr/>
            </a:p>
          </p:txBody>
        </p:sp>
        <p:sp>
          <p:nvSpPr>
            <p:cNvPr id="21" name="object 21"/>
            <p:cNvSpPr/>
            <p:nvPr/>
          </p:nvSpPr>
          <p:spPr>
            <a:xfrm>
              <a:off x="4448937" y="1374266"/>
              <a:ext cx="0" cy="172085"/>
            </a:xfrm>
            <a:custGeom>
              <a:avLst/>
              <a:gdLst/>
              <a:ahLst/>
              <a:cxnLst/>
              <a:rect l="l" t="t" r="r" b="b"/>
              <a:pathLst>
                <a:path h="172084">
                  <a:moveTo>
                    <a:pt x="0" y="171958"/>
                  </a:moveTo>
                  <a:lnTo>
                    <a:pt x="0" y="0"/>
                  </a:lnTo>
                </a:path>
              </a:pathLst>
            </a:custGeom>
            <a:ln w="9906">
              <a:solidFill>
                <a:srgbClr val="000000"/>
              </a:solidFill>
            </a:ln>
          </p:spPr>
          <p:txBody>
            <a:bodyPr wrap="square" lIns="0" tIns="0" rIns="0" bIns="0" rtlCol="0"/>
            <a:lstStyle/>
            <a:p>
              <a:endParaRPr/>
            </a:p>
          </p:txBody>
        </p:sp>
      </p:grpSp>
      <p:sp>
        <p:nvSpPr>
          <p:cNvPr id="23" name="object 2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11</a:t>
            </a:fld>
            <a:endParaRPr sz="1200"/>
          </a:p>
        </p:txBody>
      </p:sp>
      <p:sp>
        <p:nvSpPr>
          <p:cNvPr id="24" name="object 24"/>
          <p:cNvSpPr txBox="1">
            <a:spLocks noGrp="1"/>
          </p:cNvSpPr>
          <p:nvPr>
            <p:ph type="ftr" sz="quarter" idx="5"/>
          </p:nvPr>
        </p:nvSpPr>
        <p:spPr>
          <a:xfrm>
            <a:off x="78738" y="6596379"/>
            <a:ext cx="10642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493"/>
            <a:ext cx="7747762" cy="635635"/>
          </a:xfrm>
          <a:prstGeom prst="rect">
            <a:avLst/>
          </a:prstGeom>
        </p:spPr>
        <p:txBody>
          <a:bodyPr vert="horz" wrap="square" lIns="0" tIns="12700" rIns="0" bIns="0" rtlCol="0">
            <a:spAutoFit/>
          </a:bodyPr>
          <a:lstStyle/>
          <a:p>
            <a:pPr marL="12700">
              <a:lnSpc>
                <a:spcPct val="100000"/>
              </a:lnSpc>
              <a:spcBef>
                <a:spcPts val="100"/>
              </a:spcBef>
            </a:pPr>
            <a:r>
              <a:rPr sz="4000" spc="140" dirty="0">
                <a:solidFill>
                  <a:srgbClr val="FFFFFF"/>
                </a:solidFill>
                <a:latin typeface="Times New Roman"/>
                <a:cs typeface="Times New Roman"/>
              </a:rPr>
              <a:t>Entity-Relationship </a:t>
            </a:r>
            <a:r>
              <a:rPr sz="4000" spc="95" dirty="0">
                <a:solidFill>
                  <a:srgbClr val="FFFFFF"/>
                </a:solidFill>
                <a:latin typeface="Times New Roman"/>
                <a:cs typeface="Times New Roman"/>
              </a:rPr>
              <a:t>Diagrams</a:t>
            </a:r>
            <a:r>
              <a:rPr sz="4000" spc="-455" dirty="0">
                <a:solidFill>
                  <a:srgbClr val="FFFFFF"/>
                </a:solidFill>
                <a:latin typeface="Times New Roman"/>
                <a:cs typeface="Times New Roman"/>
              </a:rPr>
              <a:t> </a:t>
            </a:r>
            <a:r>
              <a:rPr sz="4000" spc="-260" dirty="0">
                <a:solidFill>
                  <a:srgbClr val="FFFFFF"/>
                </a:solidFill>
                <a:latin typeface="Times New Roman"/>
                <a:cs typeface="Times New Roman"/>
              </a:rPr>
              <a:t>3-3</a:t>
            </a:r>
            <a:endParaRPr sz="4000">
              <a:latin typeface="Times New Roman"/>
              <a:cs typeface="Times New Roman"/>
            </a:endParaRPr>
          </a:p>
        </p:txBody>
      </p:sp>
      <p:pic>
        <p:nvPicPr>
          <p:cNvPr id="3" name="object 3"/>
          <p:cNvPicPr/>
          <p:nvPr/>
        </p:nvPicPr>
        <p:blipFill>
          <a:blip r:embed="rId3" cstate="print"/>
          <a:stretch>
            <a:fillRect/>
          </a:stretch>
        </p:blipFill>
        <p:spPr>
          <a:xfrm>
            <a:off x="1280160" y="1530858"/>
            <a:ext cx="6851142" cy="4441698"/>
          </a:xfrm>
          <a:prstGeom prst="rect">
            <a:avLst/>
          </a:prstGeom>
        </p:spPr>
      </p:pic>
      <p:sp>
        <p:nvSpPr>
          <p:cNvPr id="4" name="object 4"/>
          <p:cNvSpPr txBox="1"/>
          <p:nvPr/>
        </p:nvSpPr>
        <p:spPr>
          <a:xfrm>
            <a:off x="501141" y="867918"/>
            <a:ext cx="4147059" cy="319959"/>
          </a:xfrm>
          <a:prstGeom prst="rect">
            <a:avLst/>
          </a:prstGeom>
        </p:spPr>
        <p:txBody>
          <a:bodyPr vert="horz" wrap="square" lIns="0" tIns="12065" rIns="0" bIns="0" rtlCol="0">
            <a:spAutoFit/>
          </a:bodyPr>
          <a:lstStyle/>
          <a:p>
            <a:pPr marL="12700">
              <a:lnSpc>
                <a:spcPct val="100000"/>
              </a:lnSpc>
              <a:spcBef>
                <a:spcPts val="95"/>
              </a:spcBef>
            </a:pPr>
            <a:r>
              <a:rPr sz="2000" spc="175" dirty="0">
                <a:latin typeface="Times New Roman"/>
                <a:cs typeface="Times New Roman"/>
              </a:rPr>
              <a:t>An</a:t>
            </a:r>
            <a:r>
              <a:rPr sz="2000" spc="-75" dirty="0">
                <a:latin typeface="Times New Roman"/>
                <a:cs typeface="Times New Roman"/>
              </a:rPr>
              <a:t> </a:t>
            </a:r>
            <a:r>
              <a:rPr sz="2000" spc="60" dirty="0">
                <a:latin typeface="Times New Roman"/>
                <a:cs typeface="Times New Roman"/>
              </a:rPr>
              <a:t>example</a:t>
            </a:r>
            <a:r>
              <a:rPr sz="2000" spc="-55" dirty="0">
                <a:latin typeface="Times New Roman"/>
                <a:cs typeface="Times New Roman"/>
              </a:rPr>
              <a:t> </a:t>
            </a:r>
            <a:r>
              <a:rPr sz="2000" spc="55" dirty="0">
                <a:latin typeface="Times New Roman"/>
                <a:cs typeface="Times New Roman"/>
              </a:rPr>
              <a:t>of</a:t>
            </a:r>
            <a:r>
              <a:rPr sz="2000" spc="-80" dirty="0">
                <a:latin typeface="Times New Roman"/>
                <a:cs typeface="Times New Roman"/>
              </a:rPr>
              <a:t> </a:t>
            </a:r>
            <a:r>
              <a:rPr sz="2000" spc="110" dirty="0">
                <a:latin typeface="Times New Roman"/>
                <a:cs typeface="Times New Roman"/>
              </a:rPr>
              <a:t>the</a:t>
            </a:r>
            <a:r>
              <a:rPr sz="2000" spc="-75" dirty="0">
                <a:latin typeface="Times New Roman"/>
                <a:cs typeface="Times New Roman"/>
              </a:rPr>
              <a:t> </a:t>
            </a:r>
            <a:r>
              <a:rPr sz="2000" spc="30" dirty="0">
                <a:latin typeface="Times New Roman"/>
                <a:cs typeface="Times New Roman"/>
              </a:rPr>
              <a:t>E-R</a:t>
            </a:r>
            <a:r>
              <a:rPr sz="2000" spc="-80" dirty="0">
                <a:latin typeface="Times New Roman"/>
                <a:cs typeface="Times New Roman"/>
              </a:rPr>
              <a:t> </a:t>
            </a:r>
            <a:r>
              <a:rPr sz="2000" spc="50" dirty="0">
                <a:latin typeface="Times New Roman"/>
                <a:cs typeface="Times New Roman"/>
              </a:rPr>
              <a:t>Diagram</a:t>
            </a:r>
            <a:endParaRPr sz="20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12</a:t>
            </a:fld>
            <a:endParaRPr sz="1200"/>
          </a:p>
        </p:txBody>
      </p:sp>
      <p:sp>
        <p:nvSpPr>
          <p:cNvPr id="7" name="object 7"/>
          <p:cNvSpPr txBox="1">
            <a:spLocks noGrp="1"/>
          </p:cNvSpPr>
          <p:nvPr>
            <p:ph type="ftr" sz="quarter" idx="5"/>
          </p:nvPr>
        </p:nvSpPr>
        <p:spPr>
          <a:xfrm>
            <a:off x="78738" y="6596379"/>
            <a:ext cx="120142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162300" cy="635635"/>
          </a:xfrm>
          <a:prstGeom prst="rect">
            <a:avLst/>
          </a:prstGeom>
        </p:spPr>
        <p:txBody>
          <a:bodyPr vert="horz" wrap="square" lIns="0" tIns="12700" rIns="0" bIns="0" rtlCol="0">
            <a:spAutoFit/>
          </a:bodyPr>
          <a:lstStyle/>
          <a:p>
            <a:pPr marL="12700">
              <a:lnSpc>
                <a:spcPct val="100000"/>
              </a:lnSpc>
              <a:spcBef>
                <a:spcPts val="100"/>
              </a:spcBef>
            </a:pPr>
            <a:r>
              <a:rPr spc="120" dirty="0"/>
              <a:t>Normalization</a:t>
            </a:r>
          </a:p>
        </p:txBody>
      </p:sp>
      <p:grpSp>
        <p:nvGrpSpPr>
          <p:cNvPr id="3" name="object 3"/>
          <p:cNvGrpSpPr/>
          <p:nvPr/>
        </p:nvGrpSpPr>
        <p:grpSpPr>
          <a:xfrm>
            <a:off x="292608" y="1003553"/>
            <a:ext cx="8288020" cy="554355"/>
            <a:chOff x="292608" y="1003553"/>
            <a:chExt cx="8288020" cy="554355"/>
          </a:xfrm>
        </p:grpSpPr>
        <p:sp>
          <p:nvSpPr>
            <p:cNvPr id="4" name="object 4"/>
            <p:cNvSpPr/>
            <p:nvPr/>
          </p:nvSpPr>
          <p:spPr>
            <a:xfrm>
              <a:off x="305181" y="1016126"/>
              <a:ext cx="8262620" cy="528955"/>
            </a:xfrm>
            <a:custGeom>
              <a:avLst/>
              <a:gdLst/>
              <a:ahLst/>
              <a:cxnLst/>
              <a:rect l="l" t="t" r="r" b="b"/>
              <a:pathLst>
                <a:path w="8262620" h="528955">
                  <a:moveTo>
                    <a:pt x="8138922" y="0"/>
                  </a:moveTo>
                  <a:lnTo>
                    <a:pt x="123393" y="0"/>
                  </a:lnTo>
                  <a:lnTo>
                    <a:pt x="75362" y="6931"/>
                  </a:lnTo>
                  <a:lnTo>
                    <a:pt x="36141" y="25828"/>
                  </a:lnTo>
                  <a:lnTo>
                    <a:pt x="9696" y="53846"/>
                  </a:lnTo>
                  <a:lnTo>
                    <a:pt x="0" y="88137"/>
                  </a:lnTo>
                  <a:lnTo>
                    <a:pt x="0" y="440690"/>
                  </a:lnTo>
                  <a:lnTo>
                    <a:pt x="9696" y="474981"/>
                  </a:lnTo>
                  <a:lnTo>
                    <a:pt x="36141" y="502999"/>
                  </a:lnTo>
                  <a:lnTo>
                    <a:pt x="75362" y="521896"/>
                  </a:lnTo>
                  <a:lnTo>
                    <a:pt x="123393" y="528828"/>
                  </a:lnTo>
                  <a:lnTo>
                    <a:pt x="8138922" y="528828"/>
                  </a:lnTo>
                  <a:lnTo>
                    <a:pt x="8186981" y="521896"/>
                  </a:lnTo>
                  <a:lnTo>
                    <a:pt x="8226218" y="502999"/>
                  </a:lnTo>
                  <a:lnTo>
                    <a:pt x="8252668" y="474981"/>
                  </a:lnTo>
                  <a:lnTo>
                    <a:pt x="8262366" y="440690"/>
                  </a:lnTo>
                  <a:lnTo>
                    <a:pt x="8262366" y="88137"/>
                  </a:lnTo>
                  <a:lnTo>
                    <a:pt x="8252668" y="53846"/>
                  </a:lnTo>
                  <a:lnTo>
                    <a:pt x="8226218" y="25828"/>
                  </a:lnTo>
                  <a:lnTo>
                    <a:pt x="8186981" y="6931"/>
                  </a:lnTo>
                  <a:lnTo>
                    <a:pt x="8138922" y="0"/>
                  </a:lnTo>
                  <a:close/>
                </a:path>
              </a:pathLst>
            </a:custGeom>
            <a:solidFill>
              <a:srgbClr val="48ACC5"/>
            </a:solidFill>
          </p:spPr>
          <p:txBody>
            <a:bodyPr wrap="square" lIns="0" tIns="0" rIns="0" bIns="0" rtlCol="0"/>
            <a:lstStyle/>
            <a:p>
              <a:endParaRPr/>
            </a:p>
          </p:txBody>
        </p:sp>
        <p:sp>
          <p:nvSpPr>
            <p:cNvPr id="5" name="object 5"/>
            <p:cNvSpPr/>
            <p:nvPr/>
          </p:nvSpPr>
          <p:spPr>
            <a:xfrm>
              <a:off x="305181" y="1016126"/>
              <a:ext cx="8262620" cy="528955"/>
            </a:xfrm>
            <a:custGeom>
              <a:avLst/>
              <a:gdLst/>
              <a:ahLst/>
              <a:cxnLst/>
              <a:rect l="l" t="t" r="r" b="b"/>
              <a:pathLst>
                <a:path w="8262620" h="528955">
                  <a:moveTo>
                    <a:pt x="0" y="88137"/>
                  </a:moveTo>
                  <a:lnTo>
                    <a:pt x="9696" y="53846"/>
                  </a:lnTo>
                  <a:lnTo>
                    <a:pt x="36141" y="25828"/>
                  </a:lnTo>
                  <a:lnTo>
                    <a:pt x="75362" y="6931"/>
                  </a:lnTo>
                  <a:lnTo>
                    <a:pt x="123393" y="0"/>
                  </a:lnTo>
                  <a:lnTo>
                    <a:pt x="8138922" y="0"/>
                  </a:lnTo>
                  <a:lnTo>
                    <a:pt x="8186981" y="6931"/>
                  </a:lnTo>
                  <a:lnTo>
                    <a:pt x="8226218" y="25828"/>
                  </a:lnTo>
                  <a:lnTo>
                    <a:pt x="8252668" y="53846"/>
                  </a:lnTo>
                  <a:lnTo>
                    <a:pt x="8262366" y="88137"/>
                  </a:lnTo>
                  <a:lnTo>
                    <a:pt x="8262366" y="440690"/>
                  </a:lnTo>
                  <a:lnTo>
                    <a:pt x="8252668" y="474981"/>
                  </a:lnTo>
                  <a:lnTo>
                    <a:pt x="8226218" y="502999"/>
                  </a:lnTo>
                  <a:lnTo>
                    <a:pt x="8186981" y="521896"/>
                  </a:lnTo>
                  <a:lnTo>
                    <a:pt x="8138922" y="528828"/>
                  </a:lnTo>
                  <a:lnTo>
                    <a:pt x="123393" y="528828"/>
                  </a:lnTo>
                  <a:lnTo>
                    <a:pt x="75362" y="521896"/>
                  </a:lnTo>
                  <a:lnTo>
                    <a:pt x="36141" y="502999"/>
                  </a:lnTo>
                  <a:lnTo>
                    <a:pt x="9696" y="474981"/>
                  </a:lnTo>
                  <a:lnTo>
                    <a:pt x="0" y="440690"/>
                  </a:lnTo>
                  <a:lnTo>
                    <a:pt x="0" y="88137"/>
                  </a:lnTo>
                  <a:close/>
                </a:path>
              </a:pathLst>
            </a:custGeom>
            <a:ln w="25146">
              <a:solidFill>
                <a:srgbClr val="FFFFFF"/>
              </a:solidFill>
            </a:ln>
          </p:spPr>
          <p:txBody>
            <a:bodyPr wrap="square" lIns="0" tIns="0" rIns="0" bIns="0" rtlCol="0"/>
            <a:lstStyle/>
            <a:p>
              <a:endParaRPr/>
            </a:p>
          </p:txBody>
        </p:sp>
      </p:grpSp>
      <p:sp>
        <p:nvSpPr>
          <p:cNvPr id="6" name="object 6"/>
          <p:cNvSpPr txBox="1"/>
          <p:nvPr/>
        </p:nvSpPr>
        <p:spPr>
          <a:xfrm>
            <a:off x="528319" y="1096009"/>
            <a:ext cx="7696836" cy="319959"/>
          </a:xfrm>
          <a:prstGeom prst="rect">
            <a:avLst/>
          </a:prstGeom>
        </p:spPr>
        <p:txBody>
          <a:bodyPr vert="horz" wrap="square" lIns="0" tIns="12065" rIns="0" bIns="0" rtlCol="0">
            <a:spAutoFit/>
          </a:bodyPr>
          <a:lstStyle/>
          <a:p>
            <a:pPr marL="12700">
              <a:lnSpc>
                <a:spcPct val="100000"/>
              </a:lnSpc>
              <a:spcBef>
                <a:spcPts val="95"/>
              </a:spcBef>
            </a:pPr>
            <a:r>
              <a:rPr sz="2000" b="1" spc="-25" dirty="0">
                <a:solidFill>
                  <a:srgbClr val="484429"/>
                </a:solidFill>
                <a:latin typeface="Times New Roman"/>
                <a:cs typeface="Times New Roman"/>
              </a:rPr>
              <a:t>Databases</a:t>
            </a:r>
            <a:r>
              <a:rPr sz="2000" b="1" spc="-100" dirty="0">
                <a:solidFill>
                  <a:srgbClr val="484429"/>
                </a:solidFill>
                <a:latin typeface="Times New Roman"/>
                <a:cs typeface="Times New Roman"/>
              </a:rPr>
              <a:t> </a:t>
            </a:r>
            <a:r>
              <a:rPr sz="2000" b="1" spc="-65" dirty="0">
                <a:solidFill>
                  <a:srgbClr val="484429"/>
                </a:solidFill>
                <a:latin typeface="Times New Roman"/>
                <a:cs typeface="Times New Roman"/>
              </a:rPr>
              <a:t>are</a:t>
            </a:r>
            <a:r>
              <a:rPr sz="2000" b="1" spc="-114" dirty="0">
                <a:solidFill>
                  <a:srgbClr val="484429"/>
                </a:solidFill>
                <a:latin typeface="Times New Roman"/>
                <a:cs typeface="Times New Roman"/>
              </a:rPr>
              <a:t> </a:t>
            </a:r>
            <a:r>
              <a:rPr sz="2000" b="1" spc="-45" dirty="0">
                <a:solidFill>
                  <a:srgbClr val="484429"/>
                </a:solidFill>
                <a:latin typeface="Times New Roman"/>
                <a:cs typeface="Times New Roman"/>
              </a:rPr>
              <a:t>characterized</a:t>
            </a:r>
            <a:r>
              <a:rPr sz="2000" b="1" spc="-105" dirty="0">
                <a:solidFill>
                  <a:srgbClr val="484429"/>
                </a:solidFill>
                <a:latin typeface="Times New Roman"/>
                <a:cs typeface="Times New Roman"/>
              </a:rPr>
              <a:t> </a:t>
            </a:r>
            <a:r>
              <a:rPr sz="2000" b="1" spc="-20" dirty="0">
                <a:solidFill>
                  <a:srgbClr val="484429"/>
                </a:solidFill>
                <a:latin typeface="Times New Roman"/>
                <a:cs typeface="Times New Roman"/>
              </a:rPr>
              <a:t>by</a:t>
            </a:r>
            <a:r>
              <a:rPr sz="2000" b="1" spc="-95" dirty="0">
                <a:solidFill>
                  <a:srgbClr val="484429"/>
                </a:solidFill>
                <a:latin typeface="Times New Roman"/>
                <a:cs typeface="Times New Roman"/>
              </a:rPr>
              <a:t> </a:t>
            </a:r>
            <a:r>
              <a:rPr sz="2000" b="1" spc="-50" dirty="0">
                <a:solidFill>
                  <a:srgbClr val="484429"/>
                </a:solidFill>
                <a:latin typeface="Times New Roman"/>
                <a:cs typeface="Times New Roman"/>
              </a:rPr>
              <a:t>large</a:t>
            </a:r>
            <a:r>
              <a:rPr sz="2000" b="1" spc="-105" dirty="0">
                <a:solidFill>
                  <a:srgbClr val="484429"/>
                </a:solidFill>
                <a:latin typeface="Times New Roman"/>
                <a:cs typeface="Times New Roman"/>
              </a:rPr>
              <a:t> </a:t>
            </a:r>
            <a:r>
              <a:rPr sz="2000" b="1" spc="-25" dirty="0">
                <a:solidFill>
                  <a:srgbClr val="484429"/>
                </a:solidFill>
                <a:latin typeface="Times New Roman"/>
                <a:cs typeface="Times New Roman"/>
              </a:rPr>
              <a:t>number</a:t>
            </a:r>
            <a:r>
              <a:rPr sz="2000" b="1" spc="-90" dirty="0">
                <a:solidFill>
                  <a:srgbClr val="484429"/>
                </a:solidFill>
                <a:latin typeface="Times New Roman"/>
                <a:cs typeface="Times New Roman"/>
              </a:rPr>
              <a:t> </a:t>
            </a:r>
            <a:r>
              <a:rPr sz="2000" b="1" spc="50" dirty="0">
                <a:solidFill>
                  <a:srgbClr val="484429"/>
                </a:solidFill>
                <a:latin typeface="Times New Roman"/>
                <a:cs typeface="Times New Roman"/>
              </a:rPr>
              <a:t>of</a:t>
            </a:r>
            <a:r>
              <a:rPr sz="2000" b="1" spc="-95" dirty="0">
                <a:solidFill>
                  <a:srgbClr val="484429"/>
                </a:solidFill>
                <a:latin typeface="Times New Roman"/>
                <a:cs typeface="Times New Roman"/>
              </a:rPr>
              <a:t> </a:t>
            </a:r>
            <a:r>
              <a:rPr sz="2000" b="1" spc="15" dirty="0">
                <a:solidFill>
                  <a:srgbClr val="484429"/>
                </a:solidFill>
                <a:latin typeface="Times New Roman"/>
                <a:cs typeface="Times New Roman"/>
              </a:rPr>
              <a:t>columns</a:t>
            </a:r>
            <a:r>
              <a:rPr sz="2000" b="1" spc="-90" dirty="0">
                <a:solidFill>
                  <a:srgbClr val="484429"/>
                </a:solidFill>
                <a:latin typeface="Times New Roman"/>
                <a:cs typeface="Times New Roman"/>
              </a:rPr>
              <a:t> </a:t>
            </a:r>
            <a:r>
              <a:rPr sz="2000" b="1" spc="-10" dirty="0">
                <a:solidFill>
                  <a:srgbClr val="484429"/>
                </a:solidFill>
                <a:latin typeface="Times New Roman"/>
                <a:cs typeface="Times New Roman"/>
              </a:rPr>
              <a:t>and</a:t>
            </a:r>
            <a:r>
              <a:rPr sz="2000" b="1" spc="-100" dirty="0">
                <a:solidFill>
                  <a:srgbClr val="484429"/>
                </a:solidFill>
                <a:latin typeface="Times New Roman"/>
                <a:cs typeface="Times New Roman"/>
              </a:rPr>
              <a:t> </a:t>
            </a:r>
            <a:r>
              <a:rPr sz="2000" b="1" spc="-30" dirty="0">
                <a:solidFill>
                  <a:srgbClr val="484429"/>
                </a:solidFill>
                <a:latin typeface="Times New Roman"/>
                <a:cs typeface="Times New Roman"/>
              </a:rPr>
              <a:t>records</a:t>
            </a:r>
            <a:endParaRPr sz="2000">
              <a:latin typeface="Times New Roman"/>
              <a:cs typeface="Times New Roman"/>
            </a:endParaRPr>
          </a:p>
        </p:txBody>
      </p:sp>
      <p:grpSp>
        <p:nvGrpSpPr>
          <p:cNvPr id="7" name="object 7"/>
          <p:cNvGrpSpPr/>
          <p:nvPr/>
        </p:nvGrpSpPr>
        <p:grpSpPr>
          <a:xfrm>
            <a:off x="649097" y="5400166"/>
            <a:ext cx="1544955" cy="634365"/>
            <a:chOff x="649097" y="5400166"/>
            <a:chExt cx="1544955" cy="634365"/>
          </a:xfrm>
        </p:grpSpPr>
        <p:sp>
          <p:nvSpPr>
            <p:cNvPr id="8" name="object 8"/>
            <p:cNvSpPr/>
            <p:nvPr/>
          </p:nvSpPr>
          <p:spPr>
            <a:xfrm>
              <a:off x="661797" y="5412866"/>
              <a:ext cx="1519555" cy="608965"/>
            </a:xfrm>
            <a:custGeom>
              <a:avLst/>
              <a:gdLst/>
              <a:ahLst/>
              <a:cxnLst/>
              <a:rect l="l" t="t" r="r" b="b"/>
              <a:pathLst>
                <a:path w="1519555" h="608964">
                  <a:moveTo>
                    <a:pt x="1496695" y="0"/>
                  </a:moveTo>
                  <a:lnTo>
                    <a:pt x="22694" y="0"/>
                  </a:lnTo>
                  <a:lnTo>
                    <a:pt x="13860" y="7979"/>
                  </a:lnTo>
                  <a:lnTo>
                    <a:pt x="6646" y="29733"/>
                  </a:lnTo>
                  <a:lnTo>
                    <a:pt x="1783" y="61989"/>
                  </a:lnTo>
                  <a:lnTo>
                    <a:pt x="0" y="101472"/>
                  </a:lnTo>
                  <a:lnTo>
                    <a:pt x="0" y="507364"/>
                  </a:lnTo>
                  <a:lnTo>
                    <a:pt x="1783" y="546864"/>
                  </a:lnTo>
                  <a:lnTo>
                    <a:pt x="6646" y="579118"/>
                  </a:lnTo>
                  <a:lnTo>
                    <a:pt x="13860" y="600864"/>
                  </a:lnTo>
                  <a:lnTo>
                    <a:pt x="22694" y="608837"/>
                  </a:lnTo>
                  <a:lnTo>
                    <a:pt x="1496695" y="608837"/>
                  </a:lnTo>
                  <a:lnTo>
                    <a:pt x="1505551" y="600864"/>
                  </a:lnTo>
                  <a:lnTo>
                    <a:pt x="1512776" y="579118"/>
                  </a:lnTo>
                  <a:lnTo>
                    <a:pt x="1517644" y="546864"/>
                  </a:lnTo>
                  <a:lnTo>
                    <a:pt x="1519428" y="507364"/>
                  </a:lnTo>
                  <a:lnTo>
                    <a:pt x="1519428" y="101472"/>
                  </a:lnTo>
                  <a:lnTo>
                    <a:pt x="1517644" y="61989"/>
                  </a:lnTo>
                  <a:lnTo>
                    <a:pt x="1512776" y="29733"/>
                  </a:lnTo>
                  <a:lnTo>
                    <a:pt x="1505551" y="7979"/>
                  </a:lnTo>
                  <a:lnTo>
                    <a:pt x="1496695" y="0"/>
                  </a:lnTo>
                  <a:close/>
                </a:path>
              </a:pathLst>
            </a:custGeom>
            <a:solidFill>
              <a:srgbClr val="F69344"/>
            </a:solidFill>
          </p:spPr>
          <p:txBody>
            <a:bodyPr wrap="square" lIns="0" tIns="0" rIns="0" bIns="0" rtlCol="0"/>
            <a:lstStyle/>
            <a:p>
              <a:endParaRPr/>
            </a:p>
          </p:txBody>
        </p:sp>
        <p:sp>
          <p:nvSpPr>
            <p:cNvPr id="9" name="object 9"/>
            <p:cNvSpPr/>
            <p:nvPr/>
          </p:nvSpPr>
          <p:spPr>
            <a:xfrm>
              <a:off x="661797" y="5412866"/>
              <a:ext cx="1519555" cy="608965"/>
            </a:xfrm>
            <a:custGeom>
              <a:avLst/>
              <a:gdLst/>
              <a:ahLst/>
              <a:cxnLst/>
              <a:rect l="l" t="t" r="r" b="b"/>
              <a:pathLst>
                <a:path w="1519555" h="608964">
                  <a:moveTo>
                    <a:pt x="0" y="101472"/>
                  </a:moveTo>
                  <a:lnTo>
                    <a:pt x="1783" y="61989"/>
                  </a:lnTo>
                  <a:lnTo>
                    <a:pt x="6646" y="29733"/>
                  </a:lnTo>
                  <a:lnTo>
                    <a:pt x="13860" y="7979"/>
                  </a:lnTo>
                  <a:lnTo>
                    <a:pt x="22694" y="0"/>
                  </a:lnTo>
                  <a:lnTo>
                    <a:pt x="1496695" y="0"/>
                  </a:lnTo>
                  <a:lnTo>
                    <a:pt x="1505551" y="7979"/>
                  </a:lnTo>
                  <a:lnTo>
                    <a:pt x="1512776" y="29733"/>
                  </a:lnTo>
                  <a:lnTo>
                    <a:pt x="1517644" y="61989"/>
                  </a:lnTo>
                  <a:lnTo>
                    <a:pt x="1519428" y="101472"/>
                  </a:lnTo>
                  <a:lnTo>
                    <a:pt x="1519428" y="507364"/>
                  </a:lnTo>
                  <a:lnTo>
                    <a:pt x="1517644" y="546864"/>
                  </a:lnTo>
                  <a:lnTo>
                    <a:pt x="1512776" y="579118"/>
                  </a:lnTo>
                  <a:lnTo>
                    <a:pt x="1505551" y="600864"/>
                  </a:lnTo>
                  <a:lnTo>
                    <a:pt x="1496695" y="608837"/>
                  </a:lnTo>
                  <a:lnTo>
                    <a:pt x="22694" y="608837"/>
                  </a:lnTo>
                  <a:lnTo>
                    <a:pt x="13860" y="600864"/>
                  </a:lnTo>
                  <a:lnTo>
                    <a:pt x="6646" y="579118"/>
                  </a:lnTo>
                  <a:lnTo>
                    <a:pt x="1783" y="546864"/>
                  </a:lnTo>
                  <a:lnTo>
                    <a:pt x="0" y="507364"/>
                  </a:lnTo>
                  <a:lnTo>
                    <a:pt x="0" y="101472"/>
                  </a:lnTo>
                  <a:close/>
                </a:path>
              </a:pathLst>
            </a:custGeom>
            <a:ln w="25146">
              <a:solidFill>
                <a:srgbClr val="FFFFFF"/>
              </a:solidFill>
            </a:ln>
          </p:spPr>
          <p:txBody>
            <a:bodyPr wrap="square" lIns="0" tIns="0" rIns="0" bIns="0" rtlCol="0"/>
            <a:lstStyle/>
            <a:p>
              <a:endParaRPr/>
            </a:p>
          </p:txBody>
        </p:sp>
      </p:grpSp>
      <p:sp>
        <p:nvSpPr>
          <p:cNvPr id="10" name="object 10"/>
          <p:cNvSpPr txBox="1"/>
          <p:nvPr/>
        </p:nvSpPr>
        <p:spPr>
          <a:xfrm>
            <a:off x="884682" y="5390896"/>
            <a:ext cx="1062990" cy="558800"/>
          </a:xfrm>
          <a:prstGeom prst="rect">
            <a:avLst/>
          </a:prstGeom>
        </p:spPr>
        <p:txBody>
          <a:bodyPr vert="horz" wrap="square" lIns="0" tIns="12700" rIns="0" bIns="0" rtlCol="0">
            <a:spAutoFit/>
          </a:bodyPr>
          <a:lstStyle/>
          <a:p>
            <a:pPr marL="12700">
              <a:lnSpc>
                <a:spcPts val="2100"/>
              </a:lnSpc>
              <a:spcBef>
                <a:spcPts val="100"/>
              </a:spcBef>
            </a:pPr>
            <a:r>
              <a:rPr sz="1800" b="1" spc="10" dirty="0">
                <a:solidFill>
                  <a:srgbClr val="484429"/>
                </a:solidFill>
                <a:latin typeface="Times New Roman"/>
                <a:cs typeface="Times New Roman"/>
              </a:rPr>
              <a:t>Repetition</a:t>
            </a:r>
            <a:endParaRPr sz="1800">
              <a:latin typeface="Times New Roman"/>
              <a:cs typeface="Times New Roman"/>
            </a:endParaRPr>
          </a:p>
          <a:p>
            <a:pPr marL="12700">
              <a:lnSpc>
                <a:spcPts val="2100"/>
              </a:lnSpc>
            </a:pPr>
            <a:r>
              <a:rPr sz="1800" b="1" spc="-15" dirty="0">
                <a:solidFill>
                  <a:srgbClr val="484429"/>
                </a:solidFill>
                <a:latin typeface="Times New Roman"/>
                <a:cs typeface="Times New Roman"/>
              </a:rPr>
              <a:t>anomaly</a:t>
            </a:r>
            <a:endParaRPr sz="1800">
              <a:latin typeface="Times New Roman"/>
              <a:cs typeface="Times New Roman"/>
            </a:endParaRPr>
          </a:p>
        </p:txBody>
      </p:sp>
      <p:pic>
        <p:nvPicPr>
          <p:cNvPr id="11" name="object 11"/>
          <p:cNvPicPr/>
          <p:nvPr/>
        </p:nvPicPr>
        <p:blipFill>
          <a:blip r:embed="rId3" cstate="print"/>
          <a:stretch>
            <a:fillRect/>
          </a:stretch>
        </p:blipFill>
        <p:spPr>
          <a:xfrm>
            <a:off x="661416" y="1687829"/>
            <a:ext cx="7441692" cy="2307336"/>
          </a:xfrm>
          <a:prstGeom prst="rect">
            <a:avLst/>
          </a:prstGeom>
        </p:spPr>
      </p:pic>
      <p:sp>
        <p:nvSpPr>
          <p:cNvPr id="12" name="object 12"/>
          <p:cNvSpPr txBox="1"/>
          <p:nvPr/>
        </p:nvSpPr>
        <p:spPr>
          <a:xfrm>
            <a:off x="803401" y="3983482"/>
            <a:ext cx="4774565" cy="837565"/>
          </a:xfrm>
          <a:prstGeom prst="rect">
            <a:avLst/>
          </a:prstGeom>
        </p:spPr>
        <p:txBody>
          <a:bodyPr vert="horz" wrap="square" lIns="0" tIns="12065" rIns="0" bIns="0" rtlCol="0">
            <a:spAutoFit/>
          </a:bodyPr>
          <a:lstStyle/>
          <a:p>
            <a:pPr marL="2501900">
              <a:lnSpc>
                <a:spcPct val="100000"/>
              </a:lnSpc>
              <a:spcBef>
                <a:spcPts val="95"/>
              </a:spcBef>
            </a:pPr>
            <a:r>
              <a:rPr sz="1400" b="1" spc="-5" dirty="0">
                <a:latin typeface="Times New Roman"/>
                <a:cs typeface="Times New Roman"/>
              </a:rPr>
              <a:t>Department </a:t>
            </a:r>
            <a:r>
              <a:rPr sz="1400" b="1" spc="-10" dirty="0">
                <a:latin typeface="Times New Roman"/>
                <a:cs typeface="Times New Roman"/>
              </a:rPr>
              <a:t>Employee</a:t>
            </a:r>
            <a:r>
              <a:rPr sz="1400" b="1" spc="-210" dirty="0">
                <a:latin typeface="Times New Roman"/>
                <a:cs typeface="Times New Roman"/>
              </a:rPr>
              <a:t> </a:t>
            </a:r>
            <a:r>
              <a:rPr sz="1400" b="1" spc="5" dirty="0">
                <a:latin typeface="Times New Roman"/>
                <a:cs typeface="Times New Roman"/>
              </a:rPr>
              <a:t>Details</a:t>
            </a:r>
            <a:endParaRPr sz="1400">
              <a:latin typeface="Times New Roman"/>
              <a:cs typeface="Times New Roman"/>
            </a:endParaRPr>
          </a:p>
          <a:p>
            <a:pPr>
              <a:lnSpc>
                <a:spcPct val="100000"/>
              </a:lnSpc>
              <a:spcBef>
                <a:spcPts val="15"/>
              </a:spcBef>
            </a:pPr>
            <a:endParaRPr sz="2000">
              <a:latin typeface="Times New Roman"/>
              <a:cs typeface="Times New Roman"/>
            </a:endParaRPr>
          </a:p>
          <a:p>
            <a:pPr marL="12700">
              <a:lnSpc>
                <a:spcPct val="100000"/>
              </a:lnSpc>
              <a:spcBef>
                <a:spcPts val="5"/>
              </a:spcBef>
            </a:pPr>
            <a:r>
              <a:rPr sz="2000" spc="55" dirty="0">
                <a:latin typeface="Times New Roman"/>
                <a:cs typeface="Times New Roman"/>
              </a:rPr>
              <a:t>It</a:t>
            </a:r>
            <a:r>
              <a:rPr sz="2000" spc="-80" dirty="0">
                <a:latin typeface="Times New Roman"/>
                <a:cs typeface="Times New Roman"/>
              </a:rPr>
              <a:t> </a:t>
            </a:r>
            <a:r>
              <a:rPr sz="2000" spc="55" dirty="0">
                <a:latin typeface="Times New Roman"/>
                <a:cs typeface="Times New Roman"/>
              </a:rPr>
              <a:t>consists</a:t>
            </a:r>
            <a:r>
              <a:rPr sz="2000" spc="-70" dirty="0">
                <a:latin typeface="Times New Roman"/>
                <a:cs typeface="Times New Roman"/>
              </a:rPr>
              <a:t> </a:t>
            </a:r>
            <a:r>
              <a:rPr sz="2000" spc="55" dirty="0">
                <a:latin typeface="Times New Roman"/>
                <a:cs typeface="Times New Roman"/>
              </a:rPr>
              <a:t>of</a:t>
            </a:r>
            <a:r>
              <a:rPr sz="2000" spc="-75" dirty="0">
                <a:latin typeface="Times New Roman"/>
                <a:cs typeface="Times New Roman"/>
              </a:rPr>
              <a:t> </a:t>
            </a:r>
            <a:r>
              <a:rPr sz="2000" spc="110" dirty="0">
                <a:latin typeface="Times New Roman"/>
                <a:cs typeface="Times New Roman"/>
              </a:rPr>
              <a:t>the</a:t>
            </a:r>
            <a:r>
              <a:rPr sz="2000" spc="-75" dirty="0">
                <a:latin typeface="Times New Roman"/>
                <a:cs typeface="Times New Roman"/>
              </a:rPr>
              <a:t> </a:t>
            </a:r>
            <a:r>
              <a:rPr sz="2000" spc="45" dirty="0">
                <a:latin typeface="Times New Roman"/>
                <a:cs typeface="Times New Roman"/>
              </a:rPr>
              <a:t>following</a:t>
            </a:r>
            <a:r>
              <a:rPr sz="2000" spc="-50" dirty="0">
                <a:latin typeface="Times New Roman"/>
                <a:cs typeface="Times New Roman"/>
              </a:rPr>
              <a:t> </a:t>
            </a:r>
            <a:r>
              <a:rPr sz="2000" spc="45" dirty="0">
                <a:latin typeface="Times New Roman"/>
                <a:cs typeface="Times New Roman"/>
              </a:rPr>
              <a:t>anomalies:</a:t>
            </a:r>
            <a:endParaRPr sz="2000">
              <a:latin typeface="Times New Roman"/>
              <a:cs typeface="Times New Roman"/>
            </a:endParaRPr>
          </a:p>
        </p:txBody>
      </p:sp>
      <p:grpSp>
        <p:nvGrpSpPr>
          <p:cNvPr id="13" name="object 13"/>
          <p:cNvGrpSpPr/>
          <p:nvPr/>
        </p:nvGrpSpPr>
        <p:grpSpPr>
          <a:xfrm>
            <a:off x="2737739" y="5391784"/>
            <a:ext cx="1544955" cy="634365"/>
            <a:chOff x="2737739" y="5391784"/>
            <a:chExt cx="1544955" cy="634365"/>
          </a:xfrm>
        </p:grpSpPr>
        <p:sp>
          <p:nvSpPr>
            <p:cNvPr id="14" name="object 14"/>
            <p:cNvSpPr/>
            <p:nvPr/>
          </p:nvSpPr>
          <p:spPr>
            <a:xfrm>
              <a:off x="2750439" y="5404484"/>
              <a:ext cx="1519555" cy="608965"/>
            </a:xfrm>
            <a:custGeom>
              <a:avLst/>
              <a:gdLst/>
              <a:ahLst/>
              <a:cxnLst/>
              <a:rect l="l" t="t" r="r" b="b"/>
              <a:pathLst>
                <a:path w="1519554" h="608964">
                  <a:moveTo>
                    <a:pt x="1496695" y="0"/>
                  </a:moveTo>
                  <a:lnTo>
                    <a:pt x="22733" y="0"/>
                  </a:lnTo>
                  <a:lnTo>
                    <a:pt x="13876" y="7979"/>
                  </a:lnTo>
                  <a:lnTo>
                    <a:pt x="6651" y="29733"/>
                  </a:lnTo>
                  <a:lnTo>
                    <a:pt x="1783" y="61989"/>
                  </a:lnTo>
                  <a:lnTo>
                    <a:pt x="0" y="101472"/>
                  </a:lnTo>
                  <a:lnTo>
                    <a:pt x="0" y="507364"/>
                  </a:lnTo>
                  <a:lnTo>
                    <a:pt x="1783" y="546864"/>
                  </a:lnTo>
                  <a:lnTo>
                    <a:pt x="6651" y="579118"/>
                  </a:lnTo>
                  <a:lnTo>
                    <a:pt x="13876" y="600864"/>
                  </a:lnTo>
                  <a:lnTo>
                    <a:pt x="22733" y="608838"/>
                  </a:lnTo>
                  <a:lnTo>
                    <a:pt x="1496695" y="608838"/>
                  </a:lnTo>
                  <a:lnTo>
                    <a:pt x="1505551" y="600864"/>
                  </a:lnTo>
                  <a:lnTo>
                    <a:pt x="1512776" y="579118"/>
                  </a:lnTo>
                  <a:lnTo>
                    <a:pt x="1517644" y="546864"/>
                  </a:lnTo>
                  <a:lnTo>
                    <a:pt x="1519428" y="507364"/>
                  </a:lnTo>
                  <a:lnTo>
                    <a:pt x="1519428" y="101472"/>
                  </a:lnTo>
                  <a:lnTo>
                    <a:pt x="1517644" y="61989"/>
                  </a:lnTo>
                  <a:lnTo>
                    <a:pt x="1512776" y="29733"/>
                  </a:lnTo>
                  <a:lnTo>
                    <a:pt x="1505551" y="7979"/>
                  </a:lnTo>
                  <a:lnTo>
                    <a:pt x="1496695" y="0"/>
                  </a:lnTo>
                  <a:close/>
                </a:path>
              </a:pathLst>
            </a:custGeom>
            <a:solidFill>
              <a:srgbClr val="F69344"/>
            </a:solidFill>
          </p:spPr>
          <p:txBody>
            <a:bodyPr wrap="square" lIns="0" tIns="0" rIns="0" bIns="0" rtlCol="0"/>
            <a:lstStyle/>
            <a:p>
              <a:endParaRPr/>
            </a:p>
          </p:txBody>
        </p:sp>
        <p:sp>
          <p:nvSpPr>
            <p:cNvPr id="15" name="object 15"/>
            <p:cNvSpPr/>
            <p:nvPr/>
          </p:nvSpPr>
          <p:spPr>
            <a:xfrm>
              <a:off x="2750439" y="5404484"/>
              <a:ext cx="1519555" cy="608965"/>
            </a:xfrm>
            <a:custGeom>
              <a:avLst/>
              <a:gdLst/>
              <a:ahLst/>
              <a:cxnLst/>
              <a:rect l="l" t="t" r="r" b="b"/>
              <a:pathLst>
                <a:path w="1519554" h="608964">
                  <a:moveTo>
                    <a:pt x="0" y="101472"/>
                  </a:moveTo>
                  <a:lnTo>
                    <a:pt x="1783" y="61989"/>
                  </a:lnTo>
                  <a:lnTo>
                    <a:pt x="6651" y="29733"/>
                  </a:lnTo>
                  <a:lnTo>
                    <a:pt x="13876" y="7979"/>
                  </a:lnTo>
                  <a:lnTo>
                    <a:pt x="22733" y="0"/>
                  </a:lnTo>
                  <a:lnTo>
                    <a:pt x="1496695" y="0"/>
                  </a:lnTo>
                  <a:lnTo>
                    <a:pt x="1505551" y="7979"/>
                  </a:lnTo>
                  <a:lnTo>
                    <a:pt x="1512776" y="29733"/>
                  </a:lnTo>
                  <a:lnTo>
                    <a:pt x="1517644" y="61989"/>
                  </a:lnTo>
                  <a:lnTo>
                    <a:pt x="1519428" y="101472"/>
                  </a:lnTo>
                  <a:lnTo>
                    <a:pt x="1519428" y="507364"/>
                  </a:lnTo>
                  <a:lnTo>
                    <a:pt x="1517644" y="546864"/>
                  </a:lnTo>
                  <a:lnTo>
                    <a:pt x="1512776" y="579118"/>
                  </a:lnTo>
                  <a:lnTo>
                    <a:pt x="1505551" y="600864"/>
                  </a:lnTo>
                  <a:lnTo>
                    <a:pt x="1496695" y="608838"/>
                  </a:lnTo>
                  <a:lnTo>
                    <a:pt x="22733" y="608838"/>
                  </a:lnTo>
                  <a:lnTo>
                    <a:pt x="13876" y="600864"/>
                  </a:lnTo>
                  <a:lnTo>
                    <a:pt x="6651" y="579118"/>
                  </a:lnTo>
                  <a:lnTo>
                    <a:pt x="1783" y="546864"/>
                  </a:lnTo>
                  <a:lnTo>
                    <a:pt x="0" y="507364"/>
                  </a:lnTo>
                  <a:lnTo>
                    <a:pt x="0" y="101472"/>
                  </a:lnTo>
                  <a:close/>
                </a:path>
              </a:pathLst>
            </a:custGeom>
            <a:ln w="25146">
              <a:solidFill>
                <a:srgbClr val="FFFFFF"/>
              </a:solidFill>
            </a:ln>
          </p:spPr>
          <p:txBody>
            <a:bodyPr wrap="square" lIns="0" tIns="0" rIns="0" bIns="0" rtlCol="0"/>
            <a:lstStyle/>
            <a:p>
              <a:endParaRPr/>
            </a:p>
          </p:txBody>
        </p:sp>
      </p:grpSp>
      <p:sp>
        <p:nvSpPr>
          <p:cNvPr id="16" name="object 16"/>
          <p:cNvSpPr txBox="1"/>
          <p:nvPr/>
        </p:nvSpPr>
        <p:spPr>
          <a:xfrm>
            <a:off x="2973832" y="5383021"/>
            <a:ext cx="911860" cy="558165"/>
          </a:xfrm>
          <a:prstGeom prst="rect">
            <a:avLst/>
          </a:prstGeom>
        </p:spPr>
        <p:txBody>
          <a:bodyPr vert="horz" wrap="square" lIns="0" tIns="12700" rIns="0" bIns="0" rtlCol="0">
            <a:spAutoFit/>
          </a:bodyPr>
          <a:lstStyle/>
          <a:p>
            <a:pPr marL="12700">
              <a:lnSpc>
                <a:spcPts val="2095"/>
              </a:lnSpc>
              <a:spcBef>
                <a:spcPts val="100"/>
              </a:spcBef>
            </a:pPr>
            <a:r>
              <a:rPr sz="1800" b="1" spc="-20" dirty="0">
                <a:solidFill>
                  <a:srgbClr val="484429"/>
                </a:solidFill>
                <a:latin typeface="Times New Roman"/>
                <a:cs typeface="Times New Roman"/>
              </a:rPr>
              <a:t>I</a:t>
            </a:r>
            <a:r>
              <a:rPr sz="1800" b="1" spc="-50" dirty="0">
                <a:solidFill>
                  <a:srgbClr val="484429"/>
                </a:solidFill>
                <a:latin typeface="Times New Roman"/>
                <a:cs typeface="Times New Roman"/>
              </a:rPr>
              <a:t>n</a:t>
            </a:r>
            <a:r>
              <a:rPr sz="1800" b="1" spc="-5" dirty="0">
                <a:solidFill>
                  <a:srgbClr val="484429"/>
                </a:solidFill>
                <a:latin typeface="Times New Roman"/>
                <a:cs typeface="Times New Roman"/>
              </a:rPr>
              <a:t>s</a:t>
            </a:r>
            <a:r>
              <a:rPr sz="1800" b="1" spc="20" dirty="0">
                <a:solidFill>
                  <a:srgbClr val="484429"/>
                </a:solidFill>
                <a:latin typeface="Times New Roman"/>
                <a:cs typeface="Times New Roman"/>
              </a:rPr>
              <a:t>e</a:t>
            </a:r>
            <a:r>
              <a:rPr sz="1800" b="1" spc="-65" dirty="0">
                <a:solidFill>
                  <a:srgbClr val="484429"/>
                </a:solidFill>
                <a:latin typeface="Times New Roman"/>
                <a:cs typeface="Times New Roman"/>
              </a:rPr>
              <a:t>r</a:t>
            </a:r>
            <a:r>
              <a:rPr sz="1800" b="1" spc="-60" dirty="0">
                <a:solidFill>
                  <a:srgbClr val="484429"/>
                </a:solidFill>
                <a:latin typeface="Times New Roman"/>
                <a:cs typeface="Times New Roman"/>
              </a:rPr>
              <a:t>t</a:t>
            </a:r>
            <a:r>
              <a:rPr sz="1800" b="1" dirty="0">
                <a:solidFill>
                  <a:srgbClr val="484429"/>
                </a:solidFill>
                <a:latin typeface="Times New Roman"/>
                <a:cs typeface="Times New Roman"/>
              </a:rPr>
              <a:t>i</a:t>
            </a:r>
            <a:r>
              <a:rPr sz="1800" b="1" spc="50" dirty="0">
                <a:solidFill>
                  <a:srgbClr val="484429"/>
                </a:solidFill>
                <a:latin typeface="Times New Roman"/>
                <a:cs typeface="Times New Roman"/>
              </a:rPr>
              <a:t>o</a:t>
            </a:r>
            <a:r>
              <a:rPr sz="1800" b="1" spc="60" dirty="0">
                <a:solidFill>
                  <a:srgbClr val="484429"/>
                </a:solidFill>
                <a:latin typeface="Times New Roman"/>
                <a:cs typeface="Times New Roman"/>
              </a:rPr>
              <a:t>n</a:t>
            </a:r>
            <a:endParaRPr sz="1800">
              <a:latin typeface="Times New Roman"/>
              <a:cs typeface="Times New Roman"/>
            </a:endParaRPr>
          </a:p>
          <a:p>
            <a:pPr marL="12700">
              <a:lnSpc>
                <a:spcPts val="2095"/>
              </a:lnSpc>
            </a:pPr>
            <a:r>
              <a:rPr sz="1800" b="1" spc="-15" dirty="0">
                <a:solidFill>
                  <a:srgbClr val="484429"/>
                </a:solidFill>
                <a:latin typeface="Times New Roman"/>
                <a:cs typeface="Times New Roman"/>
              </a:rPr>
              <a:t>anomaly</a:t>
            </a:r>
            <a:endParaRPr sz="1800">
              <a:latin typeface="Times New Roman"/>
              <a:cs typeface="Times New Roman"/>
            </a:endParaRPr>
          </a:p>
        </p:txBody>
      </p:sp>
      <p:grpSp>
        <p:nvGrpSpPr>
          <p:cNvPr id="17" name="object 17"/>
          <p:cNvGrpSpPr/>
          <p:nvPr/>
        </p:nvGrpSpPr>
        <p:grpSpPr>
          <a:xfrm>
            <a:off x="4862195" y="5407786"/>
            <a:ext cx="1669414" cy="634365"/>
            <a:chOff x="4862195" y="5407786"/>
            <a:chExt cx="1669414" cy="634365"/>
          </a:xfrm>
        </p:grpSpPr>
        <p:sp>
          <p:nvSpPr>
            <p:cNvPr id="18" name="object 18"/>
            <p:cNvSpPr/>
            <p:nvPr/>
          </p:nvSpPr>
          <p:spPr>
            <a:xfrm>
              <a:off x="4874895" y="5420486"/>
              <a:ext cx="1644014" cy="608965"/>
            </a:xfrm>
            <a:custGeom>
              <a:avLst/>
              <a:gdLst/>
              <a:ahLst/>
              <a:cxnLst/>
              <a:rect l="l" t="t" r="r" b="b"/>
              <a:pathLst>
                <a:path w="1644015" h="608964">
                  <a:moveTo>
                    <a:pt x="1619123" y="0"/>
                  </a:moveTo>
                  <a:lnTo>
                    <a:pt x="24511" y="0"/>
                  </a:lnTo>
                  <a:lnTo>
                    <a:pt x="15001" y="7979"/>
                  </a:lnTo>
                  <a:lnTo>
                    <a:pt x="7207" y="29733"/>
                  </a:lnTo>
                  <a:lnTo>
                    <a:pt x="1936" y="61989"/>
                  </a:lnTo>
                  <a:lnTo>
                    <a:pt x="0" y="101472"/>
                  </a:lnTo>
                  <a:lnTo>
                    <a:pt x="0" y="507364"/>
                  </a:lnTo>
                  <a:lnTo>
                    <a:pt x="1936" y="546864"/>
                  </a:lnTo>
                  <a:lnTo>
                    <a:pt x="7207" y="579118"/>
                  </a:lnTo>
                  <a:lnTo>
                    <a:pt x="15001" y="600864"/>
                  </a:lnTo>
                  <a:lnTo>
                    <a:pt x="24511" y="608838"/>
                  </a:lnTo>
                  <a:lnTo>
                    <a:pt x="1619123" y="608838"/>
                  </a:lnTo>
                  <a:lnTo>
                    <a:pt x="1628632" y="600864"/>
                  </a:lnTo>
                  <a:lnTo>
                    <a:pt x="1636426" y="579118"/>
                  </a:lnTo>
                  <a:lnTo>
                    <a:pt x="1641697" y="546864"/>
                  </a:lnTo>
                  <a:lnTo>
                    <a:pt x="1643633" y="507364"/>
                  </a:lnTo>
                  <a:lnTo>
                    <a:pt x="1643633" y="101472"/>
                  </a:lnTo>
                  <a:lnTo>
                    <a:pt x="1641697" y="61989"/>
                  </a:lnTo>
                  <a:lnTo>
                    <a:pt x="1636426" y="29733"/>
                  </a:lnTo>
                  <a:lnTo>
                    <a:pt x="1628632" y="7979"/>
                  </a:lnTo>
                  <a:lnTo>
                    <a:pt x="1619123" y="0"/>
                  </a:lnTo>
                  <a:close/>
                </a:path>
              </a:pathLst>
            </a:custGeom>
            <a:solidFill>
              <a:srgbClr val="F69344"/>
            </a:solidFill>
          </p:spPr>
          <p:txBody>
            <a:bodyPr wrap="square" lIns="0" tIns="0" rIns="0" bIns="0" rtlCol="0"/>
            <a:lstStyle/>
            <a:p>
              <a:endParaRPr/>
            </a:p>
          </p:txBody>
        </p:sp>
        <p:sp>
          <p:nvSpPr>
            <p:cNvPr id="19" name="object 19"/>
            <p:cNvSpPr/>
            <p:nvPr/>
          </p:nvSpPr>
          <p:spPr>
            <a:xfrm>
              <a:off x="4874895" y="5420486"/>
              <a:ext cx="1644014" cy="608965"/>
            </a:xfrm>
            <a:custGeom>
              <a:avLst/>
              <a:gdLst/>
              <a:ahLst/>
              <a:cxnLst/>
              <a:rect l="l" t="t" r="r" b="b"/>
              <a:pathLst>
                <a:path w="1644015" h="608964">
                  <a:moveTo>
                    <a:pt x="0" y="101472"/>
                  </a:moveTo>
                  <a:lnTo>
                    <a:pt x="1936" y="61989"/>
                  </a:lnTo>
                  <a:lnTo>
                    <a:pt x="7207" y="29733"/>
                  </a:lnTo>
                  <a:lnTo>
                    <a:pt x="15001" y="7979"/>
                  </a:lnTo>
                  <a:lnTo>
                    <a:pt x="24511" y="0"/>
                  </a:lnTo>
                  <a:lnTo>
                    <a:pt x="1619123" y="0"/>
                  </a:lnTo>
                  <a:lnTo>
                    <a:pt x="1628632" y="7979"/>
                  </a:lnTo>
                  <a:lnTo>
                    <a:pt x="1636426" y="29733"/>
                  </a:lnTo>
                  <a:lnTo>
                    <a:pt x="1641697" y="61989"/>
                  </a:lnTo>
                  <a:lnTo>
                    <a:pt x="1643633" y="101472"/>
                  </a:lnTo>
                  <a:lnTo>
                    <a:pt x="1643633" y="507364"/>
                  </a:lnTo>
                  <a:lnTo>
                    <a:pt x="1641697" y="546864"/>
                  </a:lnTo>
                  <a:lnTo>
                    <a:pt x="1636426" y="579118"/>
                  </a:lnTo>
                  <a:lnTo>
                    <a:pt x="1628632" y="600864"/>
                  </a:lnTo>
                  <a:lnTo>
                    <a:pt x="1619123" y="608838"/>
                  </a:lnTo>
                  <a:lnTo>
                    <a:pt x="24511" y="608838"/>
                  </a:lnTo>
                  <a:lnTo>
                    <a:pt x="15001" y="600864"/>
                  </a:lnTo>
                  <a:lnTo>
                    <a:pt x="7207" y="579118"/>
                  </a:lnTo>
                  <a:lnTo>
                    <a:pt x="1936" y="546864"/>
                  </a:lnTo>
                  <a:lnTo>
                    <a:pt x="0" y="507364"/>
                  </a:lnTo>
                  <a:lnTo>
                    <a:pt x="0" y="101472"/>
                  </a:lnTo>
                  <a:close/>
                </a:path>
              </a:pathLst>
            </a:custGeom>
            <a:ln w="25145">
              <a:solidFill>
                <a:srgbClr val="FFFFFF"/>
              </a:solidFill>
            </a:ln>
          </p:spPr>
          <p:txBody>
            <a:bodyPr wrap="square" lIns="0" tIns="0" rIns="0" bIns="0" rtlCol="0"/>
            <a:lstStyle/>
            <a:p>
              <a:endParaRPr/>
            </a:p>
          </p:txBody>
        </p:sp>
      </p:grpSp>
      <p:sp>
        <p:nvSpPr>
          <p:cNvPr id="20" name="object 20"/>
          <p:cNvSpPr txBox="1"/>
          <p:nvPr/>
        </p:nvSpPr>
        <p:spPr>
          <a:xfrm>
            <a:off x="5098288" y="5399023"/>
            <a:ext cx="1143507" cy="558800"/>
          </a:xfrm>
          <a:prstGeom prst="rect">
            <a:avLst/>
          </a:prstGeom>
        </p:spPr>
        <p:txBody>
          <a:bodyPr vert="horz" wrap="square" lIns="0" tIns="12700" rIns="0" bIns="0" rtlCol="0">
            <a:spAutoFit/>
          </a:bodyPr>
          <a:lstStyle/>
          <a:p>
            <a:pPr marL="12700">
              <a:lnSpc>
                <a:spcPts val="2100"/>
              </a:lnSpc>
              <a:spcBef>
                <a:spcPts val="100"/>
              </a:spcBef>
            </a:pPr>
            <a:r>
              <a:rPr sz="1800" b="1" spc="105" dirty="0">
                <a:solidFill>
                  <a:srgbClr val="484429"/>
                </a:solidFill>
                <a:latin typeface="Times New Roman"/>
                <a:cs typeface="Times New Roman"/>
              </a:rPr>
              <a:t>D</a:t>
            </a:r>
            <a:r>
              <a:rPr sz="1800" b="1" spc="25" dirty="0">
                <a:solidFill>
                  <a:srgbClr val="484429"/>
                </a:solidFill>
                <a:latin typeface="Times New Roman"/>
                <a:cs typeface="Times New Roman"/>
              </a:rPr>
              <a:t>e</a:t>
            </a:r>
            <a:r>
              <a:rPr sz="1800" b="1" spc="15" dirty="0">
                <a:solidFill>
                  <a:srgbClr val="484429"/>
                </a:solidFill>
                <a:latin typeface="Times New Roman"/>
                <a:cs typeface="Times New Roman"/>
              </a:rPr>
              <a:t>l</a:t>
            </a:r>
            <a:r>
              <a:rPr sz="1800" b="1" spc="5" dirty="0">
                <a:solidFill>
                  <a:srgbClr val="484429"/>
                </a:solidFill>
                <a:latin typeface="Times New Roman"/>
                <a:cs typeface="Times New Roman"/>
              </a:rPr>
              <a:t>e</a:t>
            </a:r>
            <a:r>
              <a:rPr sz="1800" b="1" spc="15" dirty="0">
                <a:solidFill>
                  <a:srgbClr val="484429"/>
                </a:solidFill>
                <a:latin typeface="Times New Roman"/>
                <a:cs typeface="Times New Roman"/>
              </a:rPr>
              <a:t>t</a:t>
            </a:r>
            <a:r>
              <a:rPr sz="1800" b="1" spc="-5" dirty="0">
                <a:solidFill>
                  <a:srgbClr val="484429"/>
                </a:solidFill>
                <a:latin typeface="Times New Roman"/>
                <a:cs typeface="Times New Roman"/>
              </a:rPr>
              <a:t>i</a:t>
            </a:r>
            <a:r>
              <a:rPr sz="1800" b="1" spc="65" dirty="0">
                <a:solidFill>
                  <a:srgbClr val="484429"/>
                </a:solidFill>
                <a:latin typeface="Times New Roman"/>
                <a:cs typeface="Times New Roman"/>
              </a:rPr>
              <a:t>o</a:t>
            </a:r>
            <a:r>
              <a:rPr sz="1800" b="1" spc="60" dirty="0">
                <a:solidFill>
                  <a:srgbClr val="484429"/>
                </a:solidFill>
                <a:latin typeface="Times New Roman"/>
                <a:cs typeface="Times New Roman"/>
              </a:rPr>
              <a:t>n</a:t>
            </a:r>
            <a:endParaRPr sz="1800">
              <a:latin typeface="Times New Roman"/>
              <a:cs typeface="Times New Roman"/>
            </a:endParaRPr>
          </a:p>
          <a:p>
            <a:pPr marL="12700">
              <a:lnSpc>
                <a:spcPts val="2100"/>
              </a:lnSpc>
            </a:pPr>
            <a:r>
              <a:rPr sz="1800" b="1" spc="-15" dirty="0">
                <a:solidFill>
                  <a:srgbClr val="484429"/>
                </a:solidFill>
                <a:latin typeface="Times New Roman"/>
                <a:cs typeface="Times New Roman"/>
              </a:rPr>
              <a:t>anomaly</a:t>
            </a:r>
            <a:endParaRPr sz="1800">
              <a:latin typeface="Times New Roman"/>
              <a:cs typeface="Times New Roman"/>
            </a:endParaRPr>
          </a:p>
        </p:txBody>
      </p:sp>
      <p:grpSp>
        <p:nvGrpSpPr>
          <p:cNvPr id="21" name="object 21"/>
          <p:cNvGrpSpPr/>
          <p:nvPr/>
        </p:nvGrpSpPr>
        <p:grpSpPr>
          <a:xfrm>
            <a:off x="1594485" y="4903342"/>
            <a:ext cx="7185659" cy="1127760"/>
            <a:chOff x="1594485" y="4903342"/>
            <a:chExt cx="7185659" cy="1127760"/>
          </a:xfrm>
        </p:grpSpPr>
        <p:sp>
          <p:nvSpPr>
            <p:cNvPr id="22" name="object 22"/>
            <p:cNvSpPr/>
            <p:nvPr/>
          </p:nvSpPr>
          <p:spPr>
            <a:xfrm>
              <a:off x="1632585" y="5108828"/>
              <a:ext cx="6313170" cy="61594"/>
            </a:xfrm>
            <a:custGeom>
              <a:avLst/>
              <a:gdLst/>
              <a:ahLst/>
              <a:cxnLst/>
              <a:rect l="l" t="t" r="r" b="b"/>
              <a:pathLst>
                <a:path w="6313170" h="61595">
                  <a:moveTo>
                    <a:pt x="0" y="61468"/>
                  </a:moveTo>
                  <a:lnTo>
                    <a:pt x="6312789" y="0"/>
                  </a:lnTo>
                </a:path>
              </a:pathLst>
            </a:custGeom>
            <a:ln w="9906">
              <a:solidFill>
                <a:srgbClr val="000000"/>
              </a:solidFill>
            </a:ln>
          </p:spPr>
          <p:txBody>
            <a:bodyPr wrap="square" lIns="0" tIns="0" rIns="0" bIns="0" rtlCol="0"/>
            <a:lstStyle/>
            <a:p>
              <a:endParaRPr/>
            </a:p>
          </p:txBody>
        </p:sp>
        <p:pic>
          <p:nvPicPr>
            <p:cNvPr id="23" name="object 23"/>
            <p:cNvPicPr/>
            <p:nvPr/>
          </p:nvPicPr>
          <p:blipFill>
            <a:blip r:embed="rId4" cstate="print"/>
            <a:stretch>
              <a:fillRect/>
            </a:stretch>
          </p:blipFill>
          <p:spPr>
            <a:xfrm>
              <a:off x="1594485" y="5170550"/>
              <a:ext cx="76200" cy="242315"/>
            </a:xfrm>
            <a:prstGeom prst="rect">
              <a:avLst/>
            </a:prstGeom>
          </p:spPr>
        </p:pic>
        <p:pic>
          <p:nvPicPr>
            <p:cNvPr id="24" name="object 24"/>
            <p:cNvPicPr/>
            <p:nvPr/>
          </p:nvPicPr>
          <p:blipFill>
            <a:blip r:embed="rId4" cstate="print"/>
            <a:stretch>
              <a:fillRect/>
            </a:stretch>
          </p:blipFill>
          <p:spPr>
            <a:xfrm>
              <a:off x="3472052" y="5180456"/>
              <a:ext cx="76200" cy="242315"/>
            </a:xfrm>
            <a:prstGeom prst="rect">
              <a:avLst/>
            </a:prstGeom>
          </p:spPr>
        </p:pic>
        <p:pic>
          <p:nvPicPr>
            <p:cNvPr id="25" name="object 25"/>
            <p:cNvPicPr/>
            <p:nvPr/>
          </p:nvPicPr>
          <p:blipFill>
            <a:blip r:embed="rId4" cstate="print"/>
            <a:stretch>
              <a:fillRect/>
            </a:stretch>
          </p:blipFill>
          <p:spPr>
            <a:xfrm>
              <a:off x="5639181" y="5143880"/>
              <a:ext cx="76200" cy="242315"/>
            </a:xfrm>
            <a:prstGeom prst="rect">
              <a:avLst/>
            </a:prstGeom>
          </p:spPr>
        </p:pic>
        <p:sp>
          <p:nvSpPr>
            <p:cNvPr id="26" name="object 26"/>
            <p:cNvSpPr/>
            <p:nvPr/>
          </p:nvSpPr>
          <p:spPr>
            <a:xfrm>
              <a:off x="4572380" y="4908422"/>
              <a:ext cx="0" cy="208915"/>
            </a:xfrm>
            <a:custGeom>
              <a:avLst/>
              <a:gdLst/>
              <a:ahLst/>
              <a:cxnLst/>
              <a:rect l="l" t="t" r="r" b="b"/>
              <a:pathLst>
                <a:path h="208914">
                  <a:moveTo>
                    <a:pt x="0" y="0"/>
                  </a:moveTo>
                  <a:lnTo>
                    <a:pt x="0" y="208661"/>
                  </a:lnTo>
                </a:path>
              </a:pathLst>
            </a:custGeom>
            <a:ln w="9906">
              <a:solidFill>
                <a:srgbClr val="000000"/>
              </a:solidFill>
            </a:ln>
          </p:spPr>
          <p:txBody>
            <a:bodyPr wrap="square" lIns="0" tIns="0" rIns="0" bIns="0" rtlCol="0"/>
            <a:lstStyle/>
            <a:p>
              <a:endParaRPr/>
            </a:p>
          </p:txBody>
        </p:sp>
        <p:sp>
          <p:nvSpPr>
            <p:cNvPr id="27" name="object 27"/>
            <p:cNvSpPr/>
            <p:nvPr/>
          </p:nvSpPr>
          <p:spPr>
            <a:xfrm>
              <a:off x="7123556" y="5409056"/>
              <a:ext cx="1644014" cy="608965"/>
            </a:xfrm>
            <a:custGeom>
              <a:avLst/>
              <a:gdLst/>
              <a:ahLst/>
              <a:cxnLst/>
              <a:rect l="l" t="t" r="r" b="b"/>
              <a:pathLst>
                <a:path w="1644015" h="608964">
                  <a:moveTo>
                    <a:pt x="1619123" y="0"/>
                  </a:moveTo>
                  <a:lnTo>
                    <a:pt x="24511" y="0"/>
                  </a:lnTo>
                  <a:lnTo>
                    <a:pt x="15001" y="7979"/>
                  </a:lnTo>
                  <a:lnTo>
                    <a:pt x="7207" y="29733"/>
                  </a:lnTo>
                  <a:lnTo>
                    <a:pt x="1936" y="61989"/>
                  </a:lnTo>
                  <a:lnTo>
                    <a:pt x="0" y="101472"/>
                  </a:lnTo>
                  <a:lnTo>
                    <a:pt x="0" y="507364"/>
                  </a:lnTo>
                  <a:lnTo>
                    <a:pt x="1936" y="546864"/>
                  </a:lnTo>
                  <a:lnTo>
                    <a:pt x="7207" y="579118"/>
                  </a:lnTo>
                  <a:lnTo>
                    <a:pt x="15001" y="600864"/>
                  </a:lnTo>
                  <a:lnTo>
                    <a:pt x="24511" y="608837"/>
                  </a:lnTo>
                  <a:lnTo>
                    <a:pt x="1619123" y="608837"/>
                  </a:lnTo>
                  <a:lnTo>
                    <a:pt x="1628632" y="600864"/>
                  </a:lnTo>
                  <a:lnTo>
                    <a:pt x="1636426" y="579118"/>
                  </a:lnTo>
                  <a:lnTo>
                    <a:pt x="1641697" y="546864"/>
                  </a:lnTo>
                  <a:lnTo>
                    <a:pt x="1643633" y="507364"/>
                  </a:lnTo>
                  <a:lnTo>
                    <a:pt x="1643633" y="101472"/>
                  </a:lnTo>
                  <a:lnTo>
                    <a:pt x="1641697" y="61989"/>
                  </a:lnTo>
                  <a:lnTo>
                    <a:pt x="1636426" y="29733"/>
                  </a:lnTo>
                  <a:lnTo>
                    <a:pt x="1628632" y="7979"/>
                  </a:lnTo>
                  <a:lnTo>
                    <a:pt x="1619123" y="0"/>
                  </a:lnTo>
                  <a:close/>
                </a:path>
              </a:pathLst>
            </a:custGeom>
            <a:solidFill>
              <a:srgbClr val="F69344"/>
            </a:solidFill>
          </p:spPr>
          <p:txBody>
            <a:bodyPr wrap="square" lIns="0" tIns="0" rIns="0" bIns="0" rtlCol="0"/>
            <a:lstStyle/>
            <a:p>
              <a:endParaRPr/>
            </a:p>
          </p:txBody>
        </p:sp>
        <p:sp>
          <p:nvSpPr>
            <p:cNvPr id="28" name="object 28"/>
            <p:cNvSpPr/>
            <p:nvPr/>
          </p:nvSpPr>
          <p:spPr>
            <a:xfrm>
              <a:off x="7123556" y="5409056"/>
              <a:ext cx="1644014" cy="608965"/>
            </a:xfrm>
            <a:custGeom>
              <a:avLst/>
              <a:gdLst/>
              <a:ahLst/>
              <a:cxnLst/>
              <a:rect l="l" t="t" r="r" b="b"/>
              <a:pathLst>
                <a:path w="1644015" h="608964">
                  <a:moveTo>
                    <a:pt x="0" y="101472"/>
                  </a:moveTo>
                  <a:lnTo>
                    <a:pt x="1936" y="61989"/>
                  </a:lnTo>
                  <a:lnTo>
                    <a:pt x="7207" y="29733"/>
                  </a:lnTo>
                  <a:lnTo>
                    <a:pt x="15001" y="7979"/>
                  </a:lnTo>
                  <a:lnTo>
                    <a:pt x="24511" y="0"/>
                  </a:lnTo>
                  <a:lnTo>
                    <a:pt x="1619123" y="0"/>
                  </a:lnTo>
                  <a:lnTo>
                    <a:pt x="1628632" y="7979"/>
                  </a:lnTo>
                  <a:lnTo>
                    <a:pt x="1636426" y="29733"/>
                  </a:lnTo>
                  <a:lnTo>
                    <a:pt x="1641697" y="61989"/>
                  </a:lnTo>
                  <a:lnTo>
                    <a:pt x="1643633" y="101472"/>
                  </a:lnTo>
                  <a:lnTo>
                    <a:pt x="1643633" y="507364"/>
                  </a:lnTo>
                  <a:lnTo>
                    <a:pt x="1641697" y="546864"/>
                  </a:lnTo>
                  <a:lnTo>
                    <a:pt x="1636426" y="579118"/>
                  </a:lnTo>
                  <a:lnTo>
                    <a:pt x="1628632" y="600864"/>
                  </a:lnTo>
                  <a:lnTo>
                    <a:pt x="1619123" y="608837"/>
                  </a:lnTo>
                  <a:lnTo>
                    <a:pt x="24511" y="608837"/>
                  </a:lnTo>
                  <a:lnTo>
                    <a:pt x="15001" y="600864"/>
                  </a:lnTo>
                  <a:lnTo>
                    <a:pt x="7207" y="579118"/>
                  </a:lnTo>
                  <a:lnTo>
                    <a:pt x="1936" y="546864"/>
                  </a:lnTo>
                  <a:lnTo>
                    <a:pt x="0" y="507364"/>
                  </a:lnTo>
                  <a:lnTo>
                    <a:pt x="0" y="101472"/>
                  </a:lnTo>
                  <a:close/>
                </a:path>
              </a:pathLst>
            </a:custGeom>
            <a:ln w="25145">
              <a:solidFill>
                <a:srgbClr val="FFFFFF"/>
              </a:solidFill>
            </a:ln>
          </p:spPr>
          <p:txBody>
            <a:bodyPr wrap="square" lIns="0" tIns="0" rIns="0" bIns="0" rtlCol="0"/>
            <a:lstStyle/>
            <a:p>
              <a:endParaRPr/>
            </a:p>
          </p:txBody>
        </p:sp>
      </p:grpSp>
      <p:sp>
        <p:nvSpPr>
          <p:cNvPr id="29" name="object 29"/>
          <p:cNvSpPr txBox="1"/>
          <p:nvPr/>
        </p:nvSpPr>
        <p:spPr>
          <a:xfrm>
            <a:off x="7346950" y="5387847"/>
            <a:ext cx="1143507" cy="558165"/>
          </a:xfrm>
          <a:prstGeom prst="rect">
            <a:avLst/>
          </a:prstGeom>
        </p:spPr>
        <p:txBody>
          <a:bodyPr vert="horz" wrap="square" lIns="0" tIns="34925" rIns="0" bIns="0" rtlCol="0">
            <a:spAutoFit/>
          </a:bodyPr>
          <a:lstStyle/>
          <a:p>
            <a:pPr marL="12700" marR="5080">
              <a:lnSpc>
                <a:spcPts val="2030"/>
              </a:lnSpc>
              <a:spcBef>
                <a:spcPts val="275"/>
              </a:spcBef>
            </a:pPr>
            <a:r>
              <a:rPr sz="1800" b="1" spc="105" dirty="0">
                <a:solidFill>
                  <a:srgbClr val="484429"/>
                </a:solidFill>
                <a:latin typeface="Times New Roman"/>
                <a:cs typeface="Times New Roman"/>
              </a:rPr>
              <a:t>D</a:t>
            </a:r>
            <a:r>
              <a:rPr sz="1800" b="1" spc="20" dirty="0">
                <a:solidFill>
                  <a:srgbClr val="484429"/>
                </a:solidFill>
                <a:latin typeface="Times New Roman"/>
                <a:cs typeface="Times New Roman"/>
              </a:rPr>
              <a:t>e</a:t>
            </a:r>
            <a:r>
              <a:rPr sz="1800" b="1" spc="15" dirty="0">
                <a:solidFill>
                  <a:srgbClr val="484429"/>
                </a:solidFill>
                <a:latin typeface="Times New Roman"/>
                <a:cs typeface="Times New Roman"/>
              </a:rPr>
              <a:t>l</a:t>
            </a:r>
            <a:r>
              <a:rPr sz="1800" b="1" spc="10" dirty="0">
                <a:solidFill>
                  <a:srgbClr val="484429"/>
                </a:solidFill>
                <a:latin typeface="Times New Roman"/>
                <a:cs typeface="Times New Roman"/>
              </a:rPr>
              <a:t>et</a:t>
            </a:r>
            <a:r>
              <a:rPr sz="1800" b="1" spc="-5" dirty="0">
                <a:solidFill>
                  <a:srgbClr val="484429"/>
                </a:solidFill>
                <a:latin typeface="Times New Roman"/>
                <a:cs typeface="Times New Roman"/>
              </a:rPr>
              <a:t>i</a:t>
            </a:r>
            <a:r>
              <a:rPr sz="1800" b="1" spc="60" dirty="0">
                <a:solidFill>
                  <a:srgbClr val="484429"/>
                </a:solidFill>
                <a:latin typeface="Times New Roman"/>
                <a:cs typeface="Times New Roman"/>
              </a:rPr>
              <a:t>o</a:t>
            </a:r>
            <a:r>
              <a:rPr sz="1800" b="1" spc="35" dirty="0">
                <a:solidFill>
                  <a:srgbClr val="484429"/>
                </a:solidFill>
                <a:latin typeface="Times New Roman"/>
                <a:cs typeface="Times New Roman"/>
              </a:rPr>
              <a:t>n  </a:t>
            </a:r>
            <a:r>
              <a:rPr sz="1800" b="1" spc="-15" dirty="0">
                <a:solidFill>
                  <a:srgbClr val="484429"/>
                </a:solidFill>
                <a:latin typeface="Times New Roman"/>
                <a:cs typeface="Times New Roman"/>
              </a:rPr>
              <a:t>anomaly</a:t>
            </a:r>
            <a:endParaRPr sz="1800">
              <a:latin typeface="Times New Roman"/>
              <a:cs typeface="Times New Roman"/>
            </a:endParaRPr>
          </a:p>
        </p:txBody>
      </p:sp>
      <p:pic>
        <p:nvPicPr>
          <p:cNvPr id="30" name="object 30"/>
          <p:cNvPicPr/>
          <p:nvPr/>
        </p:nvPicPr>
        <p:blipFill>
          <a:blip r:embed="rId4" cstate="print"/>
          <a:stretch>
            <a:fillRect/>
          </a:stretch>
        </p:blipFill>
        <p:spPr>
          <a:xfrm>
            <a:off x="7906893" y="5117210"/>
            <a:ext cx="76200" cy="242315"/>
          </a:xfrm>
          <a:prstGeom prst="rect">
            <a:avLst/>
          </a:prstGeom>
        </p:spPr>
      </p:pic>
      <p:sp>
        <p:nvSpPr>
          <p:cNvPr id="32" name="object 3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13</a:t>
            </a:fld>
            <a:endParaRPr sz="1200"/>
          </a:p>
        </p:txBody>
      </p:sp>
      <p:sp>
        <p:nvSpPr>
          <p:cNvPr id="33" name="object 33"/>
          <p:cNvSpPr txBox="1">
            <a:spLocks noGrp="1"/>
          </p:cNvSpPr>
          <p:nvPr>
            <p:ph type="ftr" sz="quarter" idx="5"/>
          </p:nvPr>
        </p:nvSpPr>
        <p:spPr>
          <a:xfrm>
            <a:off x="78738" y="6569709"/>
            <a:ext cx="12166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071620" cy="635635"/>
          </a:xfrm>
          <a:prstGeom prst="rect">
            <a:avLst/>
          </a:prstGeom>
        </p:spPr>
        <p:txBody>
          <a:bodyPr vert="horz" wrap="square" lIns="0" tIns="12700" rIns="0" bIns="0" rtlCol="0">
            <a:spAutoFit/>
          </a:bodyPr>
          <a:lstStyle/>
          <a:p>
            <a:pPr marL="12700">
              <a:lnSpc>
                <a:spcPct val="100000"/>
              </a:lnSpc>
              <a:spcBef>
                <a:spcPts val="100"/>
              </a:spcBef>
            </a:pPr>
            <a:r>
              <a:rPr spc="90" dirty="0"/>
              <a:t>First </a:t>
            </a:r>
            <a:r>
              <a:rPr spc="155" dirty="0"/>
              <a:t>Normal</a:t>
            </a:r>
            <a:r>
              <a:rPr spc="-480" dirty="0"/>
              <a:t> </a:t>
            </a:r>
            <a:r>
              <a:rPr spc="135" dirty="0"/>
              <a:t>Form</a:t>
            </a:r>
          </a:p>
        </p:txBody>
      </p:sp>
      <p:pic>
        <p:nvPicPr>
          <p:cNvPr id="3" name="object 3"/>
          <p:cNvPicPr/>
          <p:nvPr/>
        </p:nvPicPr>
        <p:blipFill>
          <a:blip r:embed="rId3" cstate="print"/>
          <a:stretch>
            <a:fillRect/>
          </a:stretch>
        </p:blipFill>
        <p:spPr>
          <a:xfrm>
            <a:off x="900683" y="826008"/>
            <a:ext cx="7553706" cy="1477518"/>
          </a:xfrm>
          <a:prstGeom prst="rect">
            <a:avLst/>
          </a:prstGeom>
        </p:spPr>
      </p:pic>
      <p:sp>
        <p:nvSpPr>
          <p:cNvPr id="4" name="object 4"/>
          <p:cNvSpPr txBox="1"/>
          <p:nvPr/>
        </p:nvSpPr>
        <p:spPr>
          <a:xfrm>
            <a:off x="459740" y="2761742"/>
            <a:ext cx="8154670" cy="939800"/>
          </a:xfrm>
          <a:prstGeom prst="rect">
            <a:avLst/>
          </a:prstGeom>
        </p:spPr>
        <p:txBody>
          <a:bodyPr vert="horz" wrap="square" lIns="0" tIns="12065" rIns="0" bIns="0" rtlCol="0">
            <a:spAutoFit/>
          </a:bodyPr>
          <a:lstStyle/>
          <a:p>
            <a:pPr marL="12700" marR="5080">
              <a:lnSpc>
                <a:spcPct val="100000"/>
              </a:lnSpc>
              <a:spcBef>
                <a:spcPts val="95"/>
              </a:spcBef>
            </a:pPr>
            <a:r>
              <a:rPr sz="2000" spc="130" dirty="0">
                <a:latin typeface="Times New Roman"/>
                <a:cs typeface="Times New Roman"/>
              </a:rPr>
              <a:t>The </a:t>
            </a:r>
            <a:r>
              <a:rPr sz="2000" spc="55" dirty="0">
                <a:latin typeface="Times New Roman"/>
                <a:cs typeface="Times New Roman"/>
              </a:rPr>
              <a:t>table </a:t>
            </a:r>
            <a:r>
              <a:rPr sz="2000" spc="70" dirty="0">
                <a:latin typeface="Times New Roman"/>
                <a:cs typeface="Times New Roman"/>
              </a:rPr>
              <a:t>has </a:t>
            </a:r>
            <a:r>
              <a:rPr sz="2000" spc="80" dirty="0">
                <a:latin typeface="Times New Roman"/>
                <a:cs typeface="Times New Roman"/>
              </a:rPr>
              <a:t>data </a:t>
            </a:r>
            <a:r>
              <a:rPr sz="2000" spc="65" dirty="0">
                <a:latin typeface="Times New Roman"/>
                <a:cs typeface="Times New Roman"/>
              </a:rPr>
              <a:t>related </a:t>
            </a:r>
            <a:r>
              <a:rPr sz="2000" spc="110" dirty="0">
                <a:latin typeface="Times New Roman"/>
                <a:cs typeface="Times New Roman"/>
              </a:rPr>
              <a:t>to </a:t>
            </a:r>
            <a:r>
              <a:rPr sz="2000" b="1" spc="60" dirty="0">
                <a:latin typeface="Times New Roman"/>
                <a:cs typeface="Times New Roman"/>
              </a:rPr>
              <a:t>projects</a:t>
            </a:r>
            <a:r>
              <a:rPr sz="2000" spc="60" dirty="0">
                <a:latin typeface="Times New Roman"/>
                <a:cs typeface="Times New Roman"/>
              </a:rPr>
              <a:t> </a:t>
            </a:r>
            <a:r>
              <a:rPr sz="2000" spc="110" dirty="0">
                <a:latin typeface="Times New Roman"/>
                <a:cs typeface="Times New Roman"/>
              </a:rPr>
              <a:t>and </a:t>
            </a:r>
            <a:r>
              <a:rPr sz="2000" b="1" spc="40" dirty="0">
                <a:latin typeface="Times New Roman"/>
                <a:cs typeface="Times New Roman"/>
              </a:rPr>
              <a:t>employees</a:t>
            </a:r>
            <a:r>
              <a:rPr sz="2000" spc="40" dirty="0">
                <a:latin typeface="Times New Roman"/>
                <a:cs typeface="Times New Roman"/>
              </a:rPr>
              <a:t>. </a:t>
            </a:r>
            <a:r>
              <a:rPr sz="2000" spc="130" dirty="0">
                <a:latin typeface="Times New Roman"/>
                <a:cs typeface="Times New Roman"/>
              </a:rPr>
              <a:t>The </a:t>
            </a:r>
            <a:r>
              <a:rPr sz="2000" spc="55" dirty="0">
                <a:latin typeface="Times New Roman"/>
                <a:cs typeface="Times New Roman"/>
              </a:rPr>
              <a:t>table </a:t>
            </a:r>
            <a:r>
              <a:rPr sz="2000" spc="95" dirty="0">
                <a:latin typeface="Times New Roman"/>
                <a:cs typeface="Times New Roman"/>
              </a:rPr>
              <a:t>must </a:t>
            </a:r>
            <a:r>
              <a:rPr sz="2000" spc="65" dirty="0">
                <a:latin typeface="Times New Roman"/>
                <a:cs typeface="Times New Roman"/>
              </a:rPr>
              <a:t>be  </a:t>
            </a:r>
            <a:r>
              <a:rPr sz="2000" spc="50" dirty="0">
                <a:latin typeface="Times New Roman"/>
                <a:cs typeface="Times New Roman"/>
              </a:rPr>
              <a:t>split</a:t>
            </a:r>
            <a:r>
              <a:rPr sz="2000" spc="-60" dirty="0">
                <a:latin typeface="Times New Roman"/>
                <a:cs typeface="Times New Roman"/>
              </a:rPr>
              <a:t> </a:t>
            </a:r>
            <a:r>
              <a:rPr sz="2000" spc="100" dirty="0">
                <a:latin typeface="Times New Roman"/>
                <a:cs typeface="Times New Roman"/>
              </a:rPr>
              <a:t>into</a:t>
            </a:r>
            <a:r>
              <a:rPr sz="2000" spc="-65" dirty="0">
                <a:latin typeface="Times New Roman"/>
                <a:cs typeface="Times New Roman"/>
              </a:rPr>
              <a:t> </a:t>
            </a:r>
            <a:r>
              <a:rPr sz="2000" spc="90" dirty="0">
                <a:latin typeface="Times New Roman"/>
                <a:cs typeface="Times New Roman"/>
              </a:rPr>
              <a:t>two</a:t>
            </a:r>
            <a:r>
              <a:rPr sz="2000" spc="-55" dirty="0">
                <a:latin typeface="Times New Roman"/>
                <a:cs typeface="Times New Roman"/>
              </a:rPr>
              <a:t> </a:t>
            </a:r>
            <a:r>
              <a:rPr sz="2000" spc="40" dirty="0">
                <a:latin typeface="Times New Roman"/>
                <a:cs typeface="Times New Roman"/>
              </a:rPr>
              <a:t>tables,</a:t>
            </a:r>
            <a:r>
              <a:rPr sz="2000" spc="-50" dirty="0">
                <a:latin typeface="Times New Roman"/>
                <a:cs typeface="Times New Roman"/>
              </a:rPr>
              <a:t> </a:t>
            </a:r>
            <a:r>
              <a:rPr sz="2000" spc="114" dirty="0">
                <a:latin typeface="Times New Roman"/>
                <a:cs typeface="Times New Roman"/>
              </a:rPr>
              <a:t>that</a:t>
            </a:r>
            <a:r>
              <a:rPr sz="2000" spc="-60" dirty="0">
                <a:latin typeface="Times New Roman"/>
                <a:cs typeface="Times New Roman"/>
              </a:rPr>
              <a:t> </a:t>
            </a:r>
            <a:r>
              <a:rPr sz="2000" spc="5" dirty="0">
                <a:latin typeface="Times New Roman"/>
                <a:cs typeface="Times New Roman"/>
              </a:rPr>
              <a:t>is,</a:t>
            </a:r>
            <a:r>
              <a:rPr sz="2000" spc="-70" dirty="0">
                <a:latin typeface="Times New Roman"/>
                <a:cs typeface="Times New Roman"/>
              </a:rPr>
              <a:t> </a:t>
            </a:r>
            <a:r>
              <a:rPr sz="2000" spc="30" dirty="0">
                <a:latin typeface="Times New Roman"/>
                <a:cs typeface="Times New Roman"/>
              </a:rPr>
              <a:t>a</a:t>
            </a:r>
            <a:r>
              <a:rPr sz="2000" spc="-70" dirty="0">
                <a:latin typeface="Times New Roman"/>
                <a:cs typeface="Times New Roman"/>
              </a:rPr>
              <a:t> </a:t>
            </a:r>
            <a:r>
              <a:rPr sz="2000" spc="50" dirty="0">
                <a:latin typeface="Times New Roman"/>
                <a:cs typeface="Times New Roman"/>
              </a:rPr>
              <a:t>Project</a:t>
            </a:r>
            <a:r>
              <a:rPr sz="2000" spc="-55" dirty="0">
                <a:latin typeface="Times New Roman"/>
                <a:cs typeface="Times New Roman"/>
              </a:rPr>
              <a:t> </a:t>
            </a:r>
            <a:r>
              <a:rPr sz="2000" spc="50" dirty="0">
                <a:latin typeface="Times New Roman"/>
                <a:cs typeface="Times New Roman"/>
              </a:rPr>
              <a:t>Details</a:t>
            </a:r>
            <a:r>
              <a:rPr sz="2000" spc="-60" dirty="0">
                <a:latin typeface="Times New Roman"/>
                <a:cs typeface="Times New Roman"/>
              </a:rPr>
              <a:t> </a:t>
            </a:r>
            <a:r>
              <a:rPr sz="2000" spc="55" dirty="0">
                <a:latin typeface="Times New Roman"/>
                <a:cs typeface="Times New Roman"/>
              </a:rPr>
              <a:t>table</a:t>
            </a:r>
            <a:r>
              <a:rPr sz="2000" spc="-50" dirty="0">
                <a:latin typeface="Times New Roman"/>
                <a:cs typeface="Times New Roman"/>
              </a:rPr>
              <a:t> </a:t>
            </a:r>
            <a:r>
              <a:rPr sz="2000" spc="110" dirty="0">
                <a:latin typeface="Times New Roman"/>
                <a:cs typeface="Times New Roman"/>
              </a:rPr>
              <a:t>and</a:t>
            </a:r>
            <a:r>
              <a:rPr sz="2000" spc="-70" dirty="0">
                <a:latin typeface="Times New Roman"/>
                <a:cs typeface="Times New Roman"/>
              </a:rPr>
              <a:t> </a:t>
            </a:r>
            <a:r>
              <a:rPr sz="2000" spc="105" dirty="0">
                <a:latin typeface="Times New Roman"/>
                <a:cs typeface="Times New Roman"/>
              </a:rPr>
              <a:t>an</a:t>
            </a:r>
            <a:r>
              <a:rPr sz="2000" spc="-65" dirty="0">
                <a:latin typeface="Times New Roman"/>
                <a:cs typeface="Times New Roman"/>
              </a:rPr>
              <a:t> </a:t>
            </a:r>
            <a:r>
              <a:rPr sz="2000" spc="45" dirty="0">
                <a:latin typeface="Times New Roman"/>
                <a:cs typeface="Times New Roman"/>
              </a:rPr>
              <a:t>Employee</a:t>
            </a:r>
            <a:r>
              <a:rPr sz="2000" spc="-45" dirty="0">
                <a:latin typeface="Times New Roman"/>
                <a:cs typeface="Times New Roman"/>
              </a:rPr>
              <a:t> </a:t>
            </a:r>
            <a:r>
              <a:rPr sz="2000" spc="50" dirty="0">
                <a:latin typeface="Times New Roman"/>
                <a:cs typeface="Times New Roman"/>
              </a:rPr>
              <a:t>Details  table.</a:t>
            </a:r>
            <a:endParaRPr sz="2000">
              <a:latin typeface="Times New Roman"/>
              <a:cs typeface="Times New Roman"/>
            </a:endParaRPr>
          </a:p>
        </p:txBody>
      </p:sp>
      <p:pic>
        <p:nvPicPr>
          <p:cNvPr id="5" name="object 5"/>
          <p:cNvPicPr/>
          <p:nvPr/>
        </p:nvPicPr>
        <p:blipFill>
          <a:blip r:embed="rId4" cstate="print"/>
          <a:stretch>
            <a:fillRect/>
          </a:stretch>
        </p:blipFill>
        <p:spPr>
          <a:xfrm>
            <a:off x="1181861" y="3587496"/>
            <a:ext cx="7504938" cy="2813304"/>
          </a:xfrm>
          <a:prstGeom prst="rect">
            <a:avLst/>
          </a:prstGeom>
        </p:spPr>
      </p:pic>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14</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712460" cy="635635"/>
          </a:xfrm>
          <a:prstGeom prst="rect">
            <a:avLst/>
          </a:prstGeom>
        </p:spPr>
        <p:txBody>
          <a:bodyPr vert="horz" wrap="square" lIns="0" tIns="12700" rIns="0" bIns="0" rtlCol="0">
            <a:spAutoFit/>
          </a:bodyPr>
          <a:lstStyle/>
          <a:p>
            <a:pPr marL="12700">
              <a:lnSpc>
                <a:spcPct val="100000"/>
              </a:lnSpc>
              <a:spcBef>
                <a:spcPts val="100"/>
              </a:spcBef>
            </a:pPr>
            <a:r>
              <a:rPr spc="180" dirty="0"/>
              <a:t>Second </a:t>
            </a:r>
            <a:r>
              <a:rPr spc="155" dirty="0"/>
              <a:t>Normal</a:t>
            </a:r>
            <a:r>
              <a:rPr spc="-545" dirty="0"/>
              <a:t> </a:t>
            </a:r>
            <a:r>
              <a:rPr spc="135" dirty="0"/>
              <a:t>Form</a:t>
            </a:r>
          </a:p>
        </p:txBody>
      </p:sp>
      <p:sp>
        <p:nvSpPr>
          <p:cNvPr id="3" name="object 3"/>
          <p:cNvSpPr txBox="1"/>
          <p:nvPr/>
        </p:nvSpPr>
        <p:spPr>
          <a:xfrm>
            <a:off x="459740" y="866901"/>
            <a:ext cx="6013450" cy="1257300"/>
          </a:xfrm>
          <a:prstGeom prst="rect">
            <a:avLst/>
          </a:prstGeom>
        </p:spPr>
        <p:txBody>
          <a:bodyPr vert="horz" wrap="square" lIns="0" tIns="12065" rIns="0" bIns="0" rtlCol="0">
            <a:spAutoFit/>
          </a:bodyPr>
          <a:lstStyle/>
          <a:p>
            <a:pPr marL="12700">
              <a:lnSpc>
                <a:spcPct val="100000"/>
              </a:lnSpc>
              <a:spcBef>
                <a:spcPts val="95"/>
              </a:spcBef>
            </a:pPr>
            <a:r>
              <a:rPr sz="2000" spc="60" dirty="0">
                <a:latin typeface="Times New Roman"/>
                <a:cs typeface="Times New Roman"/>
              </a:rPr>
              <a:t>Tables</a:t>
            </a:r>
            <a:r>
              <a:rPr sz="2000" spc="-60" dirty="0">
                <a:latin typeface="Times New Roman"/>
                <a:cs typeface="Times New Roman"/>
              </a:rPr>
              <a:t> </a:t>
            </a:r>
            <a:r>
              <a:rPr sz="2000" spc="50" dirty="0">
                <a:latin typeface="Times New Roman"/>
                <a:cs typeface="Times New Roman"/>
              </a:rPr>
              <a:t>are</a:t>
            </a:r>
            <a:r>
              <a:rPr sz="2000" spc="-70" dirty="0">
                <a:latin typeface="Times New Roman"/>
                <a:cs typeface="Times New Roman"/>
              </a:rPr>
              <a:t> </a:t>
            </a:r>
            <a:r>
              <a:rPr sz="2000" spc="45" dirty="0">
                <a:latin typeface="Times New Roman"/>
                <a:cs typeface="Times New Roman"/>
              </a:rPr>
              <a:t>said</a:t>
            </a:r>
            <a:r>
              <a:rPr sz="2000" spc="-80" dirty="0">
                <a:latin typeface="Times New Roman"/>
                <a:cs typeface="Times New Roman"/>
              </a:rPr>
              <a:t> </a:t>
            </a:r>
            <a:r>
              <a:rPr sz="2000" spc="110" dirty="0">
                <a:latin typeface="Times New Roman"/>
                <a:cs typeface="Times New Roman"/>
              </a:rPr>
              <a:t>to</a:t>
            </a:r>
            <a:r>
              <a:rPr sz="2000" spc="-70" dirty="0">
                <a:latin typeface="Times New Roman"/>
                <a:cs typeface="Times New Roman"/>
              </a:rPr>
              <a:t> </a:t>
            </a:r>
            <a:r>
              <a:rPr sz="2000" spc="65" dirty="0">
                <a:latin typeface="Times New Roman"/>
                <a:cs typeface="Times New Roman"/>
              </a:rPr>
              <a:t>be</a:t>
            </a:r>
            <a:r>
              <a:rPr sz="2000" spc="-60" dirty="0">
                <a:latin typeface="Times New Roman"/>
                <a:cs typeface="Times New Roman"/>
              </a:rPr>
              <a:t> </a:t>
            </a:r>
            <a:r>
              <a:rPr sz="2000" spc="95" dirty="0">
                <a:latin typeface="Times New Roman"/>
                <a:cs typeface="Times New Roman"/>
              </a:rPr>
              <a:t>in</a:t>
            </a:r>
            <a:r>
              <a:rPr sz="2000" spc="-80" dirty="0">
                <a:latin typeface="Times New Roman"/>
                <a:cs typeface="Times New Roman"/>
              </a:rPr>
              <a:t> </a:t>
            </a:r>
            <a:r>
              <a:rPr sz="2000" spc="75" dirty="0">
                <a:latin typeface="Times New Roman"/>
                <a:cs typeface="Times New Roman"/>
              </a:rPr>
              <a:t>second</a:t>
            </a:r>
            <a:r>
              <a:rPr sz="2000" spc="-65" dirty="0">
                <a:latin typeface="Times New Roman"/>
                <a:cs typeface="Times New Roman"/>
              </a:rPr>
              <a:t> </a:t>
            </a:r>
            <a:r>
              <a:rPr sz="2000" spc="80" dirty="0">
                <a:latin typeface="Times New Roman"/>
                <a:cs typeface="Times New Roman"/>
              </a:rPr>
              <a:t>normal</a:t>
            </a:r>
            <a:r>
              <a:rPr sz="2000" spc="-55" dirty="0">
                <a:latin typeface="Times New Roman"/>
                <a:cs typeface="Times New Roman"/>
              </a:rPr>
              <a:t> </a:t>
            </a:r>
            <a:r>
              <a:rPr sz="2000" spc="70" dirty="0">
                <a:latin typeface="Times New Roman"/>
                <a:cs typeface="Times New Roman"/>
              </a:rPr>
              <a:t>form</a:t>
            </a:r>
            <a:r>
              <a:rPr sz="2000" spc="-70" dirty="0">
                <a:latin typeface="Times New Roman"/>
                <a:cs typeface="Times New Roman"/>
              </a:rPr>
              <a:t> </a:t>
            </a:r>
            <a:r>
              <a:rPr sz="2000" spc="-5" dirty="0">
                <a:latin typeface="Times New Roman"/>
                <a:cs typeface="Times New Roman"/>
              </a:rPr>
              <a:t>if:</a:t>
            </a:r>
            <a:endParaRPr sz="2000">
              <a:latin typeface="Times New Roman"/>
              <a:cs typeface="Times New Roman"/>
            </a:endParaRPr>
          </a:p>
          <a:p>
            <a:pPr marL="311150" indent="-299085">
              <a:lnSpc>
                <a:spcPct val="100000"/>
              </a:lnSpc>
              <a:spcBef>
                <a:spcPts val="105"/>
              </a:spcBef>
              <a:buFont typeface="Segoe UI Symbol"/>
              <a:buChar char="➢"/>
              <a:tabLst>
                <a:tab pos="311785" algn="l"/>
              </a:tabLst>
            </a:pPr>
            <a:r>
              <a:rPr sz="2000" spc="95" dirty="0">
                <a:latin typeface="Times New Roman"/>
                <a:cs typeface="Times New Roman"/>
              </a:rPr>
              <a:t>They</a:t>
            </a:r>
            <a:r>
              <a:rPr sz="2000" spc="-70" dirty="0">
                <a:latin typeface="Times New Roman"/>
                <a:cs typeface="Times New Roman"/>
              </a:rPr>
              <a:t> </a:t>
            </a:r>
            <a:r>
              <a:rPr sz="2000" spc="75" dirty="0">
                <a:latin typeface="Times New Roman"/>
                <a:cs typeface="Times New Roman"/>
              </a:rPr>
              <a:t>meet</a:t>
            </a:r>
            <a:r>
              <a:rPr sz="2000" spc="-60"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80" dirty="0">
                <a:latin typeface="Times New Roman"/>
                <a:cs typeface="Times New Roman"/>
              </a:rPr>
              <a:t>requirements</a:t>
            </a:r>
            <a:r>
              <a:rPr sz="2000" spc="-55" dirty="0">
                <a:latin typeface="Times New Roman"/>
                <a:cs typeface="Times New Roman"/>
              </a:rPr>
              <a:t> </a:t>
            </a:r>
            <a:r>
              <a:rPr sz="2000" spc="55" dirty="0">
                <a:latin typeface="Times New Roman"/>
                <a:cs typeface="Times New Roman"/>
              </a:rPr>
              <a:t>of</a:t>
            </a:r>
            <a:r>
              <a:rPr sz="2000" spc="-65"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50" dirty="0">
                <a:latin typeface="Times New Roman"/>
                <a:cs typeface="Times New Roman"/>
              </a:rPr>
              <a:t>first</a:t>
            </a:r>
            <a:r>
              <a:rPr sz="2000" spc="-75" dirty="0">
                <a:latin typeface="Times New Roman"/>
                <a:cs typeface="Times New Roman"/>
              </a:rPr>
              <a:t> </a:t>
            </a:r>
            <a:r>
              <a:rPr sz="2000" spc="80" dirty="0">
                <a:latin typeface="Times New Roman"/>
                <a:cs typeface="Times New Roman"/>
              </a:rPr>
              <a:t>normal</a:t>
            </a:r>
            <a:r>
              <a:rPr sz="2000" spc="-55" dirty="0">
                <a:latin typeface="Times New Roman"/>
                <a:cs typeface="Times New Roman"/>
              </a:rPr>
              <a:t> </a:t>
            </a:r>
            <a:r>
              <a:rPr sz="2000" spc="70" dirty="0">
                <a:latin typeface="Times New Roman"/>
                <a:cs typeface="Times New Roman"/>
              </a:rPr>
              <a:t>form</a:t>
            </a:r>
            <a:endParaRPr sz="2000">
              <a:latin typeface="Times New Roman"/>
              <a:cs typeface="Times New Roman"/>
            </a:endParaRPr>
          </a:p>
          <a:p>
            <a:pPr marL="311150" indent="-299085">
              <a:lnSpc>
                <a:spcPct val="100000"/>
              </a:lnSpc>
              <a:buFont typeface="Segoe UI Symbol"/>
              <a:buChar char="➢"/>
              <a:tabLst>
                <a:tab pos="311785" algn="l"/>
              </a:tabLst>
            </a:pPr>
            <a:r>
              <a:rPr sz="2000" spc="105" dirty="0">
                <a:latin typeface="Times New Roman"/>
                <a:cs typeface="Times New Roman"/>
              </a:rPr>
              <a:t>There</a:t>
            </a:r>
            <a:r>
              <a:rPr sz="2000" spc="-75" dirty="0">
                <a:latin typeface="Times New Roman"/>
                <a:cs typeface="Times New Roman"/>
              </a:rPr>
              <a:t> </a:t>
            </a:r>
            <a:r>
              <a:rPr sz="2000" spc="50" dirty="0">
                <a:latin typeface="Times New Roman"/>
                <a:cs typeface="Times New Roman"/>
              </a:rPr>
              <a:t>are</a:t>
            </a:r>
            <a:r>
              <a:rPr sz="2000" spc="-65" dirty="0">
                <a:latin typeface="Times New Roman"/>
                <a:cs typeface="Times New Roman"/>
              </a:rPr>
              <a:t> </a:t>
            </a:r>
            <a:r>
              <a:rPr sz="2000" spc="135" dirty="0">
                <a:latin typeface="Times New Roman"/>
                <a:cs typeface="Times New Roman"/>
              </a:rPr>
              <a:t>no</a:t>
            </a:r>
            <a:r>
              <a:rPr sz="2000" spc="-60" dirty="0">
                <a:latin typeface="Times New Roman"/>
                <a:cs typeface="Times New Roman"/>
              </a:rPr>
              <a:t> </a:t>
            </a:r>
            <a:r>
              <a:rPr sz="2000" spc="55" dirty="0">
                <a:latin typeface="Times New Roman"/>
                <a:cs typeface="Times New Roman"/>
              </a:rPr>
              <a:t>partial</a:t>
            </a:r>
            <a:r>
              <a:rPr sz="2000" spc="-70" dirty="0">
                <a:latin typeface="Times New Roman"/>
                <a:cs typeface="Times New Roman"/>
              </a:rPr>
              <a:t> </a:t>
            </a:r>
            <a:r>
              <a:rPr sz="2000" spc="75" dirty="0">
                <a:latin typeface="Times New Roman"/>
                <a:cs typeface="Times New Roman"/>
              </a:rPr>
              <a:t>dependencies</a:t>
            </a:r>
            <a:r>
              <a:rPr sz="2000" spc="-50" dirty="0">
                <a:latin typeface="Times New Roman"/>
                <a:cs typeface="Times New Roman"/>
              </a:rPr>
              <a:t> </a:t>
            </a:r>
            <a:r>
              <a:rPr sz="2000" spc="95" dirty="0">
                <a:latin typeface="Times New Roman"/>
                <a:cs typeface="Times New Roman"/>
              </a:rPr>
              <a:t>in</a:t>
            </a:r>
            <a:r>
              <a:rPr sz="2000" spc="-75"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50" dirty="0">
                <a:latin typeface="Times New Roman"/>
                <a:cs typeface="Times New Roman"/>
              </a:rPr>
              <a:t>tables</a:t>
            </a:r>
            <a:endParaRPr sz="2000">
              <a:latin typeface="Times New Roman"/>
              <a:cs typeface="Times New Roman"/>
            </a:endParaRPr>
          </a:p>
          <a:p>
            <a:pPr marL="311150" indent="-299085">
              <a:lnSpc>
                <a:spcPct val="100000"/>
              </a:lnSpc>
              <a:buFont typeface="Segoe UI Symbol"/>
              <a:buChar char="➢"/>
              <a:tabLst>
                <a:tab pos="311785" algn="l"/>
              </a:tabLst>
            </a:pPr>
            <a:r>
              <a:rPr sz="2000" spc="130" dirty="0">
                <a:latin typeface="Times New Roman"/>
                <a:cs typeface="Times New Roman"/>
              </a:rPr>
              <a:t>The</a:t>
            </a:r>
            <a:r>
              <a:rPr sz="2000" spc="-80" dirty="0">
                <a:latin typeface="Times New Roman"/>
                <a:cs typeface="Times New Roman"/>
              </a:rPr>
              <a:t> </a:t>
            </a:r>
            <a:r>
              <a:rPr sz="2000" spc="50" dirty="0">
                <a:latin typeface="Times New Roman"/>
                <a:cs typeface="Times New Roman"/>
              </a:rPr>
              <a:t>tables</a:t>
            </a:r>
            <a:r>
              <a:rPr sz="2000" spc="-45" dirty="0">
                <a:latin typeface="Times New Roman"/>
                <a:cs typeface="Times New Roman"/>
              </a:rPr>
              <a:t> </a:t>
            </a:r>
            <a:r>
              <a:rPr sz="2000" spc="50" dirty="0">
                <a:latin typeface="Times New Roman"/>
                <a:cs typeface="Times New Roman"/>
              </a:rPr>
              <a:t>are</a:t>
            </a:r>
            <a:r>
              <a:rPr sz="2000" spc="-70" dirty="0">
                <a:latin typeface="Times New Roman"/>
                <a:cs typeface="Times New Roman"/>
              </a:rPr>
              <a:t> </a:t>
            </a:r>
            <a:r>
              <a:rPr sz="2000" spc="65" dirty="0">
                <a:latin typeface="Times New Roman"/>
                <a:cs typeface="Times New Roman"/>
              </a:rPr>
              <a:t>related</a:t>
            </a:r>
            <a:r>
              <a:rPr sz="2000" spc="-50" dirty="0">
                <a:latin typeface="Times New Roman"/>
                <a:cs typeface="Times New Roman"/>
              </a:rPr>
              <a:t> </a:t>
            </a:r>
            <a:r>
              <a:rPr sz="2000" spc="110" dirty="0">
                <a:latin typeface="Times New Roman"/>
                <a:cs typeface="Times New Roman"/>
              </a:rPr>
              <a:t>through</a:t>
            </a:r>
            <a:r>
              <a:rPr sz="2000" spc="-65" dirty="0">
                <a:latin typeface="Times New Roman"/>
                <a:cs typeface="Times New Roman"/>
              </a:rPr>
              <a:t> </a:t>
            </a:r>
            <a:r>
              <a:rPr sz="2000" spc="55" dirty="0">
                <a:latin typeface="Times New Roman"/>
                <a:cs typeface="Times New Roman"/>
              </a:rPr>
              <a:t>foreign</a:t>
            </a:r>
            <a:r>
              <a:rPr sz="2000" spc="-70" dirty="0">
                <a:latin typeface="Times New Roman"/>
                <a:cs typeface="Times New Roman"/>
              </a:rPr>
              <a:t> </a:t>
            </a:r>
            <a:r>
              <a:rPr sz="2000" spc="30" dirty="0">
                <a:latin typeface="Times New Roman"/>
                <a:cs typeface="Times New Roman"/>
              </a:rPr>
              <a:t>keys</a:t>
            </a:r>
            <a:endParaRPr sz="2000">
              <a:latin typeface="Times New Roman"/>
              <a:cs typeface="Times New Roman"/>
            </a:endParaRPr>
          </a:p>
        </p:txBody>
      </p:sp>
      <p:pic>
        <p:nvPicPr>
          <p:cNvPr id="4" name="object 4"/>
          <p:cNvPicPr/>
          <p:nvPr/>
        </p:nvPicPr>
        <p:blipFill>
          <a:blip r:embed="rId3" cstate="print"/>
          <a:stretch>
            <a:fillRect/>
          </a:stretch>
        </p:blipFill>
        <p:spPr>
          <a:xfrm>
            <a:off x="900683" y="2451354"/>
            <a:ext cx="2911602" cy="867156"/>
          </a:xfrm>
          <a:prstGeom prst="rect">
            <a:avLst/>
          </a:prstGeom>
        </p:spPr>
      </p:pic>
      <p:pic>
        <p:nvPicPr>
          <p:cNvPr id="5" name="object 5"/>
          <p:cNvPicPr/>
          <p:nvPr/>
        </p:nvPicPr>
        <p:blipFill>
          <a:blip r:embed="rId4" cstate="print"/>
          <a:stretch>
            <a:fillRect/>
          </a:stretch>
        </p:blipFill>
        <p:spPr>
          <a:xfrm>
            <a:off x="759713" y="3896105"/>
            <a:ext cx="3629405" cy="1506474"/>
          </a:xfrm>
          <a:prstGeom prst="rect">
            <a:avLst/>
          </a:prstGeom>
        </p:spPr>
      </p:pic>
      <p:sp>
        <p:nvSpPr>
          <p:cNvPr id="6" name="object 6"/>
          <p:cNvSpPr txBox="1"/>
          <p:nvPr/>
        </p:nvSpPr>
        <p:spPr>
          <a:xfrm>
            <a:off x="459740" y="5449315"/>
            <a:ext cx="5102860" cy="227626"/>
          </a:xfrm>
          <a:prstGeom prst="rect">
            <a:avLst/>
          </a:prstGeom>
        </p:spPr>
        <p:txBody>
          <a:bodyPr vert="horz" wrap="square" lIns="0" tIns="12065" rIns="0" bIns="0" rtlCol="0">
            <a:spAutoFit/>
          </a:bodyPr>
          <a:lstStyle/>
          <a:p>
            <a:pPr marL="12700" marR="5080">
              <a:lnSpc>
                <a:spcPct val="100000"/>
              </a:lnSpc>
              <a:spcBef>
                <a:spcPts val="95"/>
              </a:spcBef>
            </a:pPr>
            <a:r>
              <a:rPr sz="1400" b="1" spc="-10" dirty="0">
                <a:latin typeface="Times New Roman"/>
                <a:cs typeface="Times New Roman"/>
              </a:rPr>
              <a:t>Employee</a:t>
            </a:r>
            <a:r>
              <a:rPr sz="1400" b="1" spc="-90" dirty="0">
                <a:latin typeface="Times New Roman"/>
                <a:cs typeface="Times New Roman"/>
              </a:rPr>
              <a:t> </a:t>
            </a:r>
            <a:r>
              <a:rPr sz="1400" b="1" spc="5" dirty="0">
                <a:latin typeface="Times New Roman"/>
                <a:cs typeface="Times New Roman"/>
              </a:rPr>
              <a:t>Details</a:t>
            </a:r>
            <a:r>
              <a:rPr sz="1400" b="1" spc="-85" dirty="0">
                <a:latin typeface="Times New Roman"/>
                <a:cs typeface="Times New Roman"/>
              </a:rPr>
              <a:t> </a:t>
            </a:r>
            <a:r>
              <a:rPr sz="1400" b="1" spc="10" dirty="0">
                <a:latin typeface="Times New Roman"/>
                <a:cs typeface="Times New Roman"/>
              </a:rPr>
              <a:t>After</a:t>
            </a:r>
            <a:r>
              <a:rPr sz="1400" b="1" spc="-90" dirty="0">
                <a:latin typeface="Times New Roman"/>
                <a:cs typeface="Times New Roman"/>
              </a:rPr>
              <a:t> </a:t>
            </a:r>
            <a:r>
              <a:rPr sz="1400" b="1" spc="20" dirty="0">
                <a:latin typeface="Times New Roman"/>
                <a:cs typeface="Times New Roman"/>
              </a:rPr>
              <a:t>Conversion</a:t>
            </a:r>
            <a:r>
              <a:rPr sz="1400" b="1" spc="-90" dirty="0">
                <a:latin typeface="Times New Roman"/>
                <a:cs typeface="Times New Roman"/>
              </a:rPr>
              <a:t> </a:t>
            </a:r>
            <a:r>
              <a:rPr sz="1400" b="1" spc="35" dirty="0">
                <a:latin typeface="Times New Roman"/>
                <a:cs typeface="Times New Roman"/>
              </a:rPr>
              <a:t>to</a:t>
            </a:r>
            <a:r>
              <a:rPr sz="1400" b="1" spc="-75" dirty="0">
                <a:latin typeface="Times New Roman"/>
                <a:cs typeface="Times New Roman"/>
              </a:rPr>
              <a:t> </a:t>
            </a:r>
            <a:r>
              <a:rPr sz="1400" b="1" spc="25" dirty="0">
                <a:latin typeface="Times New Roman"/>
                <a:cs typeface="Times New Roman"/>
              </a:rPr>
              <a:t>Second</a:t>
            </a:r>
            <a:r>
              <a:rPr sz="1400" b="1" spc="-85" dirty="0">
                <a:latin typeface="Times New Roman"/>
                <a:cs typeface="Times New Roman"/>
              </a:rPr>
              <a:t> </a:t>
            </a:r>
            <a:r>
              <a:rPr sz="1400" b="1" spc="-10" dirty="0">
                <a:latin typeface="Times New Roman"/>
                <a:cs typeface="Times New Roman"/>
              </a:rPr>
              <a:t>Normal  </a:t>
            </a:r>
            <a:r>
              <a:rPr sz="1400" b="1" spc="-40" dirty="0">
                <a:latin typeface="Times New Roman"/>
                <a:cs typeface="Times New Roman"/>
              </a:rPr>
              <a:t>Form</a:t>
            </a:r>
            <a:endParaRPr sz="1400">
              <a:latin typeface="Times New Roman"/>
              <a:cs typeface="Times New Roman"/>
            </a:endParaRPr>
          </a:p>
        </p:txBody>
      </p:sp>
      <p:pic>
        <p:nvPicPr>
          <p:cNvPr id="7" name="object 7"/>
          <p:cNvPicPr/>
          <p:nvPr/>
        </p:nvPicPr>
        <p:blipFill>
          <a:blip r:embed="rId5" cstate="print"/>
          <a:stretch>
            <a:fillRect/>
          </a:stretch>
        </p:blipFill>
        <p:spPr>
          <a:xfrm>
            <a:off x="5078729" y="2394204"/>
            <a:ext cx="3502914" cy="1187958"/>
          </a:xfrm>
          <a:prstGeom prst="rect">
            <a:avLst/>
          </a:prstGeom>
        </p:spPr>
      </p:pic>
      <p:sp>
        <p:nvSpPr>
          <p:cNvPr id="8" name="object 8"/>
          <p:cNvSpPr txBox="1"/>
          <p:nvPr/>
        </p:nvSpPr>
        <p:spPr>
          <a:xfrm>
            <a:off x="459740" y="3312871"/>
            <a:ext cx="8632190" cy="762635"/>
          </a:xfrm>
          <a:prstGeom prst="rect">
            <a:avLst/>
          </a:prstGeom>
        </p:spPr>
        <p:txBody>
          <a:bodyPr vert="horz" wrap="square" lIns="0" tIns="60960" rIns="0" bIns="0" rtlCol="0">
            <a:spAutoFit/>
          </a:bodyPr>
          <a:lstStyle/>
          <a:p>
            <a:pPr marL="12700">
              <a:lnSpc>
                <a:spcPct val="100000"/>
              </a:lnSpc>
              <a:spcBef>
                <a:spcPts val="480"/>
              </a:spcBef>
            </a:pPr>
            <a:r>
              <a:rPr sz="1400" b="1" spc="-25" dirty="0">
                <a:latin typeface="Times New Roman"/>
                <a:cs typeface="Times New Roman"/>
              </a:rPr>
              <a:t>Project</a:t>
            </a:r>
            <a:r>
              <a:rPr sz="1400" b="1" spc="-80" dirty="0">
                <a:latin typeface="Times New Roman"/>
                <a:cs typeface="Times New Roman"/>
              </a:rPr>
              <a:t> </a:t>
            </a:r>
            <a:r>
              <a:rPr sz="1400" b="1" spc="5" dirty="0">
                <a:latin typeface="Times New Roman"/>
                <a:cs typeface="Times New Roman"/>
              </a:rPr>
              <a:t>Details</a:t>
            </a:r>
            <a:r>
              <a:rPr sz="1400" b="1" spc="-80" dirty="0">
                <a:latin typeface="Times New Roman"/>
                <a:cs typeface="Times New Roman"/>
              </a:rPr>
              <a:t> </a:t>
            </a:r>
            <a:r>
              <a:rPr sz="1400" b="1" spc="10" dirty="0">
                <a:latin typeface="Times New Roman"/>
                <a:cs typeface="Times New Roman"/>
              </a:rPr>
              <a:t>After</a:t>
            </a:r>
            <a:r>
              <a:rPr sz="1400" b="1" spc="-80" dirty="0">
                <a:latin typeface="Times New Roman"/>
                <a:cs typeface="Times New Roman"/>
              </a:rPr>
              <a:t> </a:t>
            </a:r>
            <a:r>
              <a:rPr sz="1400" b="1" spc="20" dirty="0">
                <a:latin typeface="Times New Roman"/>
                <a:cs typeface="Times New Roman"/>
              </a:rPr>
              <a:t>Conversion</a:t>
            </a:r>
            <a:r>
              <a:rPr sz="1400" b="1" spc="-80" dirty="0">
                <a:latin typeface="Times New Roman"/>
                <a:cs typeface="Times New Roman"/>
              </a:rPr>
              <a:t> </a:t>
            </a:r>
            <a:r>
              <a:rPr sz="1400" b="1" spc="35" dirty="0">
                <a:latin typeface="Times New Roman"/>
                <a:cs typeface="Times New Roman"/>
              </a:rPr>
              <a:t>to</a:t>
            </a:r>
            <a:r>
              <a:rPr sz="1400" b="1" spc="-65" dirty="0">
                <a:latin typeface="Times New Roman"/>
                <a:cs typeface="Times New Roman"/>
              </a:rPr>
              <a:t> </a:t>
            </a:r>
            <a:r>
              <a:rPr sz="1400" b="1" spc="25" dirty="0">
                <a:latin typeface="Times New Roman"/>
                <a:cs typeface="Times New Roman"/>
              </a:rPr>
              <a:t>Second</a:t>
            </a:r>
            <a:r>
              <a:rPr sz="1400" b="1" spc="-85" dirty="0">
                <a:latin typeface="Times New Roman"/>
                <a:cs typeface="Times New Roman"/>
              </a:rPr>
              <a:t> </a:t>
            </a:r>
            <a:r>
              <a:rPr sz="1400" b="1" spc="-10" dirty="0">
                <a:latin typeface="Times New Roman"/>
                <a:cs typeface="Times New Roman"/>
              </a:rPr>
              <a:t>Normal</a:t>
            </a:r>
            <a:r>
              <a:rPr sz="1400" b="1" spc="-70" dirty="0">
                <a:latin typeface="Times New Roman"/>
                <a:cs typeface="Times New Roman"/>
              </a:rPr>
              <a:t> </a:t>
            </a:r>
            <a:r>
              <a:rPr sz="1400" b="1" spc="-40" dirty="0">
                <a:latin typeface="Times New Roman"/>
                <a:cs typeface="Times New Roman"/>
              </a:rPr>
              <a:t>Form</a:t>
            </a:r>
            <a:endParaRPr sz="1400">
              <a:latin typeface="Times New Roman"/>
              <a:cs typeface="Times New Roman"/>
            </a:endParaRPr>
          </a:p>
          <a:p>
            <a:pPr marL="4569460" marR="5080">
              <a:lnSpc>
                <a:spcPct val="100000"/>
              </a:lnSpc>
              <a:spcBef>
                <a:spcPts val="384"/>
              </a:spcBef>
            </a:pPr>
            <a:r>
              <a:rPr sz="1400" b="1" spc="-10" dirty="0">
                <a:latin typeface="Times New Roman"/>
                <a:cs typeface="Times New Roman"/>
              </a:rPr>
              <a:t>Employee</a:t>
            </a:r>
            <a:r>
              <a:rPr sz="1400" b="1" spc="-95" dirty="0">
                <a:latin typeface="Times New Roman"/>
                <a:cs typeface="Times New Roman"/>
              </a:rPr>
              <a:t> </a:t>
            </a:r>
            <a:r>
              <a:rPr sz="1400" b="1" spc="-25" dirty="0">
                <a:latin typeface="Times New Roman"/>
                <a:cs typeface="Times New Roman"/>
              </a:rPr>
              <a:t>Project</a:t>
            </a:r>
            <a:r>
              <a:rPr sz="1400" b="1" spc="-85" dirty="0">
                <a:latin typeface="Times New Roman"/>
                <a:cs typeface="Times New Roman"/>
              </a:rPr>
              <a:t> </a:t>
            </a:r>
            <a:r>
              <a:rPr sz="1400" b="1" spc="5" dirty="0">
                <a:latin typeface="Times New Roman"/>
                <a:cs typeface="Times New Roman"/>
              </a:rPr>
              <a:t>Details</a:t>
            </a:r>
            <a:r>
              <a:rPr sz="1400" b="1" spc="-85" dirty="0">
                <a:latin typeface="Times New Roman"/>
                <a:cs typeface="Times New Roman"/>
              </a:rPr>
              <a:t> </a:t>
            </a:r>
            <a:r>
              <a:rPr sz="1400" b="1" spc="10" dirty="0">
                <a:latin typeface="Times New Roman"/>
                <a:cs typeface="Times New Roman"/>
              </a:rPr>
              <a:t>After</a:t>
            </a:r>
            <a:r>
              <a:rPr sz="1400" b="1" spc="-90" dirty="0">
                <a:latin typeface="Times New Roman"/>
                <a:cs typeface="Times New Roman"/>
              </a:rPr>
              <a:t> </a:t>
            </a:r>
            <a:r>
              <a:rPr sz="1400" b="1" spc="20" dirty="0">
                <a:latin typeface="Times New Roman"/>
                <a:cs typeface="Times New Roman"/>
              </a:rPr>
              <a:t>Conversion</a:t>
            </a:r>
            <a:r>
              <a:rPr sz="1400" b="1" spc="-85" dirty="0">
                <a:latin typeface="Times New Roman"/>
                <a:cs typeface="Times New Roman"/>
              </a:rPr>
              <a:t> </a:t>
            </a:r>
            <a:r>
              <a:rPr sz="1400" b="1" spc="35" dirty="0">
                <a:latin typeface="Times New Roman"/>
                <a:cs typeface="Times New Roman"/>
              </a:rPr>
              <a:t>to</a:t>
            </a:r>
            <a:r>
              <a:rPr sz="1400" b="1" spc="-75" dirty="0">
                <a:latin typeface="Times New Roman"/>
                <a:cs typeface="Times New Roman"/>
              </a:rPr>
              <a:t> </a:t>
            </a:r>
            <a:r>
              <a:rPr sz="1400" b="1" spc="25" dirty="0">
                <a:latin typeface="Times New Roman"/>
                <a:cs typeface="Times New Roman"/>
              </a:rPr>
              <a:t>Second  </a:t>
            </a:r>
            <a:r>
              <a:rPr sz="1400" b="1" spc="-10" dirty="0">
                <a:latin typeface="Times New Roman"/>
                <a:cs typeface="Times New Roman"/>
              </a:rPr>
              <a:t>Normal</a:t>
            </a:r>
            <a:r>
              <a:rPr sz="1400" b="1" spc="-85" dirty="0">
                <a:latin typeface="Times New Roman"/>
                <a:cs typeface="Times New Roman"/>
              </a:rPr>
              <a:t> </a:t>
            </a:r>
            <a:r>
              <a:rPr sz="1400" b="1" spc="-40" dirty="0">
                <a:latin typeface="Times New Roman"/>
                <a:cs typeface="Times New Roman"/>
              </a:rPr>
              <a:t>Form</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15</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39" y="56641"/>
            <a:ext cx="4875909" cy="574040"/>
          </a:xfrm>
          <a:prstGeom prst="rect">
            <a:avLst/>
          </a:prstGeom>
        </p:spPr>
        <p:txBody>
          <a:bodyPr vert="horz" wrap="square" lIns="0" tIns="12700" rIns="0" bIns="0" rtlCol="0">
            <a:spAutoFit/>
          </a:bodyPr>
          <a:lstStyle/>
          <a:p>
            <a:pPr marL="12700">
              <a:lnSpc>
                <a:spcPct val="100000"/>
              </a:lnSpc>
              <a:spcBef>
                <a:spcPts val="100"/>
              </a:spcBef>
            </a:pPr>
            <a:r>
              <a:rPr sz="3600" spc="210" dirty="0"/>
              <a:t>Third </a:t>
            </a:r>
            <a:r>
              <a:rPr sz="3600" spc="135" dirty="0"/>
              <a:t>Normal</a:t>
            </a:r>
            <a:r>
              <a:rPr sz="3600" spc="-540" dirty="0"/>
              <a:t> </a:t>
            </a:r>
            <a:r>
              <a:rPr sz="3600" spc="120" dirty="0"/>
              <a:t>Form</a:t>
            </a:r>
            <a:endParaRPr sz="3600"/>
          </a:p>
        </p:txBody>
      </p:sp>
      <p:sp>
        <p:nvSpPr>
          <p:cNvPr id="4" name="object 4"/>
          <p:cNvSpPr txBox="1"/>
          <p:nvPr/>
        </p:nvSpPr>
        <p:spPr>
          <a:xfrm>
            <a:off x="383540" y="895095"/>
            <a:ext cx="7704455" cy="952500"/>
          </a:xfrm>
          <a:prstGeom prst="rect">
            <a:avLst/>
          </a:prstGeom>
        </p:spPr>
        <p:txBody>
          <a:bodyPr vert="horz" wrap="square" lIns="0" tIns="12065" rIns="0" bIns="0" rtlCol="0">
            <a:spAutoFit/>
          </a:bodyPr>
          <a:lstStyle/>
          <a:p>
            <a:pPr marL="12700">
              <a:lnSpc>
                <a:spcPct val="100000"/>
              </a:lnSpc>
              <a:spcBef>
                <a:spcPts val="95"/>
              </a:spcBef>
            </a:pPr>
            <a:r>
              <a:rPr sz="2000" spc="135" dirty="0">
                <a:latin typeface="Times New Roman"/>
                <a:cs typeface="Times New Roman"/>
              </a:rPr>
              <a:t>To</a:t>
            </a:r>
            <a:r>
              <a:rPr sz="2000" spc="-75" dirty="0">
                <a:latin typeface="Times New Roman"/>
                <a:cs typeface="Times New Roman"/>
              </a:rPr>
              <a:t> </a:t>
            </a:r>
            <a:r>
              <a:rPr sz="2000" spc="50" dirty="0">
                <a:latin typeface="Times New Roman"/>
                <a:cs typeface="Times New Roman"/>
              </a:rPr>
              <a:t>achieve</a:t>
            </a:r>
            <a:r>
              <a:rPr sz="2000" spc="-60" dirty="0">
                <a:latin typeface="Times New Roman"/>
                <a:cs typeface="Times New Roman"/>
              </a:rPr>
              <a:t> </a:t>
            </a:r>
            <a:r>
              <a:rPr sz="2000" spc="110" dirty="0">
                <a:latin typeface="Times New Roman"/>
                <a:cs typeface="Times New Roman"/>
              </a:rPr>
              <a:t>the</a:t>
            </a:r>
            <a:r>
              <a:rPr sz="2000" spc="-65" dirty="0">
                <a:latin typeface="Times New Roman"/>
                <a:cs typeface="Times New Roman"/>
              </a:rPr>
              <a:t> </a:t>
            </a:r>
            <a:r>
              <a:rPr sz="2000" spc="100" dirty="0">
                <a:latin typeface="Times New Roman"/>
                <a:cs typeface="Times New Roman"/>
              </a:rPr>
              <a:t>third</a:t>
            </a:r>
            <a:r>
              <a:rPr sz="2000" spc="-75" dirty="0">
                <a:latin typeface="Times New Roman"/>
                <a:cs typeface="Times New Roman"/>
              </a:rPr>
              <a:t> </a:t>
            </a:r>
            <a:r>
              <a:rPr sz="2000" spc="80" dirty="0">
                <a:latin typeface="Times New Roman"/>
                <a:cs typeface="Times New Roman"/>
              </a:rPr>
              <a:t>normal</a:t>
            </a:r>
            <a:r>
              <a:rPr sz="2000" spc="-55" dirty="0">
                <a:latin typeface="Times New Roman"/>
                <a:cs typeface="Times New Roman"/>
              </a:rPr>
              <a:t> </a:t>
            </a:r>
            <a:r>
              <a:rPr sz="2000" spc="50" dirty="0">
                <a:latin typeface="Times New Roman"/>
                <a:cs typeface="Times New Roman"/>
              </a:rPr>
              <a:t>form:</a:t>
            </a:r>
            <a:endParaRPr sz="2000">
              <a:latin typeface="Times New Roman"/>
              <a:cs typeface="Times New Roman"/>
            </a:endParaRPr>
          </a:p>
          <a:p>
            <a:pPr marL="311150" indent="-299085">
              <a:lnSpc>
                <a:spcPct val="100000"/>
              </a:lnSpc>
              <a:spcBef>
                <a:spcPts val="105"/>
              </a:spcBef>
              <a:buFont typeface="Segoe UI Symbol"/>
              <a:buChar char="➢"/>
              <a:tabLst>
                <a:tab pos="311785" algn="l"/>
              </a:tabLst>
            </a:pPr>
            <a:r>
              <a:rPr sz="2000" spc="130" dirty="0">
                <a:latin typeface="Times New Roman"/>
                <a:cs typeface="Times New Roman"/>
              </a:rPr>
              <a:t>The</a:t>
            </a:r>
            <a:r>
              <a:rPr sz="2000" spc="-75" dirty="0">
                <a:latin typeface="Times New Roman"/>
                <a:cs typeface="Times New Roman"/>
              </a:rPr>
              <a:t> </a:t>
            </a:r>
            <a:r>
              <a:rPr sz="2000" spc="50" dirty="0">
                <a:latin typeface="Times New Roman"/>
                <a:cs typeface="Times New Roman"/>
              </a:rPr>
              <a:t>tables</a:t>
            </a:r>
            <a:r>
              <a:rPr sz="2000" spc="-40" dirty="0">
                <a:latin typeface="Times New Roman"/>
                <a:cs typeface="Times New Roman"/>
              </a:rPr>
              <a:t> </a:t>
            </a:r>
            <a:r>
              <a:rPr sz="2000" spc="90" dirty="0">
                <a:latin typeface="Times New Roman"/>
                <a:cs typeface="Times New Roman"/>
              </a:rPr>
              <a:t>should</a:t>
            </a:r>
            <a:r>
              <a:rPr sz="2000" spc="-60" dirty="0">
                <a:latin typeface="Times New Roman"/>
                <a:cs typeface="Times New Roman"/>
              </a:rPr>
              <a:t> </a:t>
            </a:r>
            <a:r>
              <a:rPr sz="2000" spc="75" dirty="0">
                <a:latin typeface="Times New Roman"/>
                <a:cs typeface="Times New Roman"/>
              </a:rPr>
              <a:t>meet</a:t>
            </a:r>
            <a:r>
              <a:rPr sz="2000" spc="-55" dirty="0">
                <a:latin typeface="Times New Roman"/>
                <a:cs typeface="Times New Roman"/>
              </a:rPr>
              <a:t> </a:t>
            </a:r>
            <a:r>
              <a:rPr sz="2000" spc="110" dirty="0">
                <a:latin typeface="Times New Roman"/>
                <a:cs typeface="Times New Roman"/>
              </a:rPr>
              <a:t>the</a:t>
            </a:r>
            <a:r>
              <a:rPr sz="2000" spc="-55" dirty="0">
                <a:latin typeface="Times New Roman"/>
                <a:cs typeface="Times New Roman"/>
              </a:rPr>
              <a:t> </a:t>
            </a:r>
            <a:r>
              <a:rPr sz="2000" spc="80" dirty="0">
                <a:latin typeface="Times New Roman"/>
                <a:cs typeface="Times New Roman"/>
              </a:rPr>
              <a:t>requirements</a:t>
            </a:r>
            <a:r>
              <a:rPr sz="2000" spc="-50" dirty="0">
                <a:latin typeface="Times New Roman"/>
                <a:cs typeface="Times New Roman"/>
              </a:rPr>
              <a:t> </a:t>
            </a:r>
            <a:r>
              <a:rPr sz="2000" spc="55" dirty="0">
                <a:latin typeface="Times New Roman"/>
                <a:cs typeface="Times New Roman"/>
              </a:rPr>
              <a:t>of</a:t>
            </a:r>
            <a:r>
              <a:rPr sz="2000" spc="-65" dirty="0">
                <a:latin typeface="Times New Roman"/>
                <a:cs typeface="Times New Roman"/>
              </a:rPr>
              <a:t> </a:t>
            </a:r>
            <a:r>
              <a:rPr sz="2000" spc="110" dirty="0">
                <a:latin typeface="Times New Roman"/>
                <a:cs typeface="Times New Roman"/>
              </a:rPr>
              <a:t>the</a:t>
            </a:r>
            <a:r>
              <a:rPr sz="2000" spc="-65" dirty="0">
                <a:latin typeface="Times New Roman"/>
                <a:cs typeface="Times New Roman"/>
              </a:rPr>
              <a:t> </a:t>
            </a:r>
            <a:r>
              <a:rPr sz="2000" spc="75" dirty="0">
                <a:latin typeface="Times New Roman"/>
                <a:cs typeface="Times New Roman"/>
              </a:rPr>
              <a:t>second</a:t>
            </a:r>
            <a:r>
              <a:rPr sz="2000" spc="-60" dirty="0">
                <a:latin typeface="Times New Roman"/>
                <a:cs typeface="Times New Roman"/>
              </a:rPr>
              <a:t> </a:t>
            </a:r>
            <a:r>
              <a:rPr sz="2000" spc="80" dirty="0">
                <a:latin typeface="Times New Roman"/>
                <a:cs typeface="Times New Roman"/>
              </a:rPr>
              <a:t>normal</a:t>
            </a:r>
            <a:r>
              <a:rPr sz="2000" spc="-50" dirty="0">
                <a:latin typeface="Times New Roman"/>
                <a:cs typeface="Times New Roman"/>
              </a:rPr>
              <a:t> </a:t>
            </a:r>
            <a:r>
              <a:rPr sz="2000" spc="70" dirty="0">
                <a:latin typeface="Times New Roman"/>
                <a:cs typeface="Times New Roman"/>
              </a:rPr>
              <a:t>form</a:t>
            </a:r>
            <a:endParaRPr sz="2000">
              <a:latin typeface="Times New Roman"/>
              <a:cs typeface="Times New Roman"/>
            </a:endParaRPr>
          </a:p>
          <a:p>
            <a:pPr marL="311150" indent="-299085">
              <a:lnSpc>
                <a:spcPct val="100000"/>
              </a:lnSpc>
              <a:buFont typeface="Segoe UI Symbol"/>
              <a:buChar char="➢"/>
              <a:tabLst>
                <a:tab pos="311785" algn="l"/>
              </a:tabLst>
            </a:pPr>
            <a:r>
              <a:rPr sz="2000" spc="130" dirty="0">
                <a:latin typeface="Times New Roman"/>
                <a:cs typeface="Times New Roman"/>
              </a:rPr>
              <a:t>The</a:t>
            </a:r>
            <a:r>
              <a:rPr sz="2000" spc="-75" dirty="0">
                <a:latin typeface="Times New Roman"/>
                <a:cs typeface="Times New Roman"/>
              </a:rPr>
              <a:t> </a:t>
            </a:r>
            <a:r>
              <a:rPr sz="2000" spc="50" dirty="0">
                <a:latin typeface="Times New Roman"/>
                <a:cs typeface="Times New Roman"/>
              </a:rPr>
              <a:t>tables</a:t>
            </a:r>
            <a:r>
              <a:rPr sz="2000" spc="-45" dirty="0">
                <a:latin typeface="Times New Roman"/>
                <a:cs typeface="Times New Roman"/>
              </a:rPr>
              <a:t> </a:t>
            </a:r>
            <a:r>
              <a:rPr sz="2000" spc="90" dirty="0">
                <a:latin typeface="Times New Roman"/>
                <a:cs typeface="Times New Roman"/>
              </a:rPr>
              <a:t>should</a:t>
            </a:r>
            <a:r>
              <a:rPr sz="2000" spc="-65" dirty="0">
                <a:latin typeface="Times New Roman"/>
                <a:cs typeface="Times New Roman"/>
              </a:rPr>
              <a:t> </a:t>
            </a:r>
            <a:r>
              <a:rPr sz="2000" spc="130" dirty="0">
                <a:latin typeface="Times New Roman"/>
                <a:cs typeface="Times New Roman"/>
              </a:rPr>
              <a:t>not</a:t>
            </a:r>
            <a:r>
              <a:rPr sz="2000" spc="-55" dirty="0">
                <a:latin typeface="Times New Roman"/>
                <a:cs typeface="Times New Roman"/>
              </a:rPr>
              <a:t> </a:t>
            </a:r>
            <a:r>
              <a:rPr sz="2000" spc="70" dirty="0">
                <a:latin typeface="Times New Roman"/>
                <a:cs typeface="Times New Roman"/>
              </a:rPr>
              <a:t>have</a:t>
            </a:r>
            <a:r>
              <a:rPr sz="2000" spc="-60" dirty="0">
                <a:latin typeface="Times New Roman"/>
                <a:cs typeface="Times New Roman"/>
              </a:rPr>
              <a:t> </a:t>
            </a:r>
            <a:r>
              <a:rPr sz="2000" spc="65" dirty="0">
                <a:latin typeface="Times New Roman"/>
                <a:cs typeface="Times New Roman"/>
              </a:rPr>
              <a:t>transitive</a:t>
            </a:r>
            <a:r>
              <a:rPr sz="2000" spc="-60" dirty="0">
                <a:latin typeface="Times New Roman"/>
                <a:cs typeface="Times New Roman"/>
              </a:rPr>
              <a:t> </a:t>
            </a:r>
            <a:r>
              <a:rPr sz="2000" spc="75" dirty="0">
                <a:latin typeface="Times New Roman"/>
                <a:cs typeface="Times New Roman"/>
              </a:rPr>
              <a:t>dependencies</a:t>
            </a:r>
            <a:r>
              <a:rPr sz="2000" spc="-45" dirty="0">
                <a:latin typeface="Times New Roman"/>
                <a:cs typeface="Times New Roman"/>
              </a:rPr>
              <a:t> </a:t>
            </a:r>
            <a:r>
              <a:rPr sz="2000" spc="95" dirty="0">
                <a:latin typeface="Times New Roman"/>
                <a:cs typeface="Times New Roman"/>
              </a:rPr>
              <a:t>in</a:t>
            </a:r>
            <a:r>
              <a:rPr sz="2000" spc="-70" dirty="0">
                <a:latin typeface="Times New Roman"/>
                <a:cs typeface="Times New Roman"/>
              </a:rPr>
              <a:t> </a:t>
            </a:r>
            <a:r>
              <a:rPr sz="2000" spc="110" dirty="0">
                <a:latin typeface="Times New Roman"/>
                <a:cs typeface="Times New Roman"/>
              </a:rPr>
              <a:t>them</a:t>
            </a:r>
            <a:endParaRPr sz="2000">
              <a:latin typeface="Times New Roman"/>
              <a:cs typeface="Times New Roman"/>
            </a:endParaRPr>
          </a:p>
        </p:txBody>
      </p:sp>
      <p:pic>
        <p:nvPicPr>
          <p:cNvPr id="5" name="object 5"/>
          <p:cNvPicPr/>
          <p:nvPr/>
        </p:nvPicPr>
        <p:blipFill>
          <a:blip r:embed="rId3" cstate="print"/>
          <a:stretch>
            <a:fillRect/>
          </a:stretch>
        </p:blipFill>
        <p:spPr>
          <a:xfrm>
            <a:off x="1040891" y="2199894"/>
            <a:ext cx="2958846" cy="1147572"/>
          </a:xfrm>
          <a:prstGeom prst="rect">
            <a:avLst/>
          </a:prstGeom>
        </p:spPr>
      </p:pic>
      <p:pic>
        <p:nvPicPr>
          <p:cNvPr id="6" name="object 6"/>
          <p:cNvPicPr/>
          <p:nvPr/>
        </p:nvPicPr>
        <p:blipFill>
          <a:blip r:embed="rId4" cstate="print"/>
          <a:stretch>
            <a:fillRect/>
          </a:stretch>
        </p:blipFill>
        <p:spPr>
          <a:xfrm>
            <a:off x="1040891" y="4037838"/>
            <a:ext cx="2958846" cy="1234440"/>
          </a:xfrm>
          <a:prstGeom prst="rect">
            <a:avLst/>
          </a:prstGeom>
        </p:spPr>
      </p:pic>
      <p:pic>
        <p:nvPicPr>
          <p:cNvPr id="7" name="object 7"/>
          <p:cNvPicPr/>
          <p:nvPr/>
        </p:nvPicPr>
        <p:blipFill>
          <a:blip r:embed="rId5" cstate="print"/>
          <a:stretch>
            <a:fillRect/>
          </a:stretch>
        </p:blipFill>
        <p:spPr>
          <a:xfrm>
            <a:off x="4991861" y="2170176"/>
            <a:ext cx="3694938" cy="1331214"/>
          </a:xfrm>
          <a:prstGeom prst="rect">
            <a:avLst/>
          </a:prstGeom>
        </p:spPr>
      </p:pic>
      <p:pic>
        <p:nvPicPr>
          <p:cNvPr id="8" name="object 8"/>
          <p:cNvPicPr/>
          <p:nvPr/>
        </p:nvPicPr>
        <p:blipFill>
          <a:blip r:embed="rId6" cstate="print"/>
          <a:stretch>
            <a:fillRect/>
          </a:stretch>
        </p:blipFill>
        <p:spPr>
          <a:xfrm>
            <a:off x="5759196" y="4114800"/>
            <a:ext cx="2343911" cy="931926"/>
          </a:xfrm>
          <a:prstGeom prst="rect">
            <a:avLst/>
          </a:prstGeom>
        </p:spPr>
      </p:pic>
      <p:sp>
        <p:nvSpPr>
          <p:cNvPr id="15" name="object 1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16</a:t>
            </a:fld>
            <a:endParaRPr sz="1200"/>
          </a:p>
        </p:txBody>
      </p:sp>
      <p:sp>
        <p:nvSpPr>
          <p:cNvPr id="16" name="object 1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0" name="object 10"/>
          <p:cNvSpPr txBox="1"/>
          <p:nvPr/>
        </p:nvSpPr>
        <p:spPr>
          <a:xfrm>
            <a:off x="4905754" y="5193790"/>
            <a:ext cx="4238246" cy="443070"/>
          </a:xfrm>
          <a:prstGeom prst="rect">
            <a:avLst/>
          </a:prstGeom>
        </p:spPr>
        <p:txBody>
          <a:bodyPr vert="horz" wrap="square" lIns="0" tIns="12065" rIns="0" bIns="0" rtlCol="0">
            <a:spAutoFit/>
          </a:bodyPr>
          <a:lstStyle/>
          <a:p>
            <a:pPr marL="12700">
              <a:lnSpc>
                <a:spcPct val="100000"/>
              </a:lnSpc>
              <a:spcBef>
                <a:spcPts val="95"/>
              </a:spcBef>
            </a:pPr>
            <a:r>
              <a:rPr lang="en-US" sz="1400" b="1">
                <a:latin typeface="Times New Roman" panose="02020603050405020304" pitchFamily="18" charset="0"/>
                <a:cs typeface="Times New Roman" panose="02020603050405020304" pitchFamily="18" charset="0"/>
              </a:rPr>
              <a:t>Employee Project Details After Conversion to </a:t>
            </a:r>
            <a:r>
              <a:rPr lang="en-US" sz="1400" b="1" spc="-10">
                <a:latin typeface="Times New Roman"/>
                <a:cs typeface="Times New Roman"/>
              </a:rPr>
              <a:t>Third</a:t>
            </a:r>
            <a:r>
              <a:rPr lang="en-US" sz="1400" b="1">
                <a:latin typeface="Times New Roman" panose="02020603050405020304" pitchFamily="18" charset="0"/>
                <a:cs typeface="Times New Roman" panose="02020603050405020304" pitchFamily="18" charset="0"/>
              </a:rPr>
              <a:t> Normal Form</a:t>
            </a:r>
            <a:endParaRPr sz="1400" b="1">
              <a:latin typeface="Times New Roman" panose="02020603050405020304" pitchFamily="18" charset="0"/>
              <a:cs typeface="Times New Roman" panose="02020603050405020304" pitchFamily="18" charset="0"/>
            </a:endParaRPr>
          </a:p>
        </p:txBody>
      </p:sp>
      <p:sp>
        <p:nvSpPr>
          <p:cNvPr id="11" name="object 11"/>
          <p:cNvSpPr txBox="1"/>
          <p:nvPr/>
        </p:nvSpPr>
        <p:spPr>
          <a:xfrm>
            <a:off x="4827015" y="3455923"/>
            <a:ext cx="3996054" cy="452120"/>
          </a:xfrm>
          <a:prstGeom prst="rect">
            <a:avLst/>
          </a:prstGeom>
        </p:spPr>
        <p:txBody>
          <a:bodyPr vert="horz" wrap="square" lIns="0" tIns="12065" rIns="0" bIns="0" rtlCol="0">
            <a:spAutoFit/>
          </a:bodyPr>
          <a:lstStyle/>
          <a:p>
            <a:pPr marL="12700" marR="5080">
              <a:lnSpc>
                <a:spcPct val="100000"/>
              </a:lnSpc>
              <a:spcBef>
                <a:spcPts val="95"/>
              </a:spcBef>
            </a:pPr>
            <a:r>
              <a:rPr sz="1400" b="1" spc="-10" dirty="0">
                <a:latin typeface="Times New Roman"/>
                <a:cs typeface="Times New Roman"/>
              </a:rPr>
              <a:t>Employee</a:t>
            </a:r>
            <a:r>
              <a:rPr sz="1400" b="1" spc="-90" dirty="0">
                <a:latin typeface="Times New Roman"/>
                <a:cs typeface="Times New Roman"/>
              </a:rPr>
              <a:t> </a:t>
            </a:r>
            <a:r>
              <a:rPr sz="1400" b="1" spc="5" dirty="0">
                <a:latin typeface="Times New Roman"/>
                <a:cs typeface="Times New Roman"/>
              </a:rPr>
              <a:t>Details</a:t>
            </a:r>
            <a:r>
              <a:rPr sz="1400" b="1" spc="-80" dirty="0">
                <a:latin typeface="Times New Roman"/>
                <a:cs typeface="Times New Roman"/>
              </a:rPr>
              <a:t> </a:t>
            </a:r>
            <a:r>
              <a:rPr sz="1400" b="1" spc="10" dirty="0">
                <a:latin typeface="Times New Roman"/>
                <a:cs typeface="Times New Roman"/>
              </a:rPr>
              <a:t>After</a:t>
            </a:r>
            <a:r>
              <a:rPr sz="1400" b="1" spc="-85" dirty="0">
                <a:latin typeface="Times New Roman"/>
                <a:cs typeface="Times New Roman"/>
              </a:rPr>
              <a:t> </a:t>
            </a:r>
            <a:r>
              <a:rPr sz="1400" b="1" spc="20" dirty="0">
                <a:latin typeface="Times New Roman"/>
                <a:cs typeface="Times New Roman"/>
              </a:rPr>
              <a:t>Conversion</a:t>
            </a:r>
            <a:r>
              <a:rPr sz="1400" b="1" spc="-85" dirty="0">
                <a:latin typeface="Times New Roman"/>
                <a:cs typeface="Times New Roman"/>
              </a:rPr>
              <a:t> </a:t>
            </a:r>
            <a:r>
              <a:rPr sz="1400" b="1" spc="35" dirty="0">
                <a:latin typeface="Times New Roman"/>
                <a:cs typeface="Times New Roman"/>
              </a:rPr>
              <a:t>to</a:t>
            </a:r>
            <a:r>
              <a:rPr sz="1400" b="1" spc="-65" dirty="0">
                <a:latin typeface="Times New Roman"/>
                <a:cs typeface="Times New Roman"/>
              </a:rPr>
              <a:t> </a:t>
            </a:r>
            <a:r>
              <a:rPr sz="1400" b="1" spc="-10" dirty="0">
                <a:latin typeface="Times New Roman"/>
                <a:cs typeface="Times New Roman"/>
              </a:rPr>
              <a:t>Third</a:t>
            </a:r>
            <a:r>
              <a:rPr sz="1400" b="1" spc="-85" dirty="0">
                <a:latin typeface="Times New Roman"/>
                <a:cs typeface="Times New Roman"/>
              </a:rPr>
              <a:t> </a:t>
            </a:r>
            <a:r>
              <a:rPr sz="1400" b="1" spc="-10" dirty="0">
                <a:latin typeface="Times New Roman"/>
                <a:cs typeface="Times New Roman"/>
              </a:rPr>
              <a:t>Normal  </a:t>
            </a:r>
            <a:r>
              <a:rPr sz="1400" b="1" spc="-40" dirty="0">
                <a:latin typeface="Times New Roman"/>
                <a:cs typeface="Times New Roman"/>
              </a:rPr>
              <a:t>Form</a:t>
            </a:r>
            <a:endParaRPr sz="1400">
              <a:latin typeface="Times New Roman"/>
              <a:cs typeface="Times New Roman"/>
            </a:endParaRPr>
          </a:p>
        </p:txBody>
      </p:sp>
      <p:sp>
        <p:nvSpPr>
          <p:cNvPr id="12" name="object 12"/>
          <p:cNvSpPr txBox="1"/>
          <p:nvPr/>
        </p:nvSpPr>
        <p:spPr>
          <a:xfrm>
            <a:off x="228854" y="5375655"/>
            <a:ext cx="3951604" cy="452120"/>
          </a:xfrm>
          <a:prstGeom prst="rect">
            <a:avLst/>
          </a:prstGeom>
        </p:spPr>
        <p:txBody>
          <a:bodyPr vert="horz" wrap="square" lIns="0" tIns="12065" rIns="0" bIns="0" rtlCol="0">
            <a:spAutoFit/>
          </a:bodyPr>
          <a:lstStyle/>
          <a:p>
            <a:pPr marL="12700" marR="5080">
              <a:lnSpc>
                <a:spcPct val="100000"/>
              </a:lnSpc>
              <a:spcBef>
                <a:spcPts val="95"/>
              </a:spcBef>
            </a:pPr>
            <a:r>
              <a:rPr sz="1400" b="1" spc="-10" dirty="0">
                <a:latin typeface="Times New Roman"/>
                <a:cs typeface="Times New Roman"/>
              </a:rPr>
              <a:t>Employee</a:t>
            </a:r>
            <a:r>
              <a:rPr sz="1400" b="1" spc="-95" dirty="0">
                <a:latin typeface="Times New Roman"/>
                <a:cs typeface="Times New Roman"/>
              </a:rPr>
              <a:t> </a:t>
            </a:r>
            <a:r>
              <a:rPr sz="1400" b="1" spc="-25" dirty="0">
                <a:latin typeface="Times New Roman"/>
                <a:cs typeface="Times New Roman"/>
              </a:rPr>
              <a:t>Project</a:t>
            </a:r>
            <a:r>
              <a:rPr sz="1400" b="1" spc="-80" dirty="0">
                <a:latin typeface="Times New Roman"/>
                <a:cs typeface="Times New Roman"/>
              </a:rPr>
              <a:t> </a:t>
            </a:r>
            <a:r>
              <a:rPr sz="1400" b="1" spc="5" dirty="0">
                <a:latin typeface="Times New Roman"/>
                <a:cs typeface="Times New Roman"/>
              </a:rPr>
              <a:t>Details</a:t>
            </a:r>
            <a:r>
              <a:rPr sz="1400" b="1" spc="-85" dirty="0">
                <a:latin typeface="Times New Roman"/>
                <a:cs typeface="Times New Roman"/>
              </a:rPr>
              <a:t> </a:t>
            </a:r>
            <a:r>
              <a:rPr sz="1400" b="1" spc="10" dirty="0">
                <a:latin typeface="Times New Roman"/>
                <a:cs typeface="Times New Roman"/>
              </a:rPr>
              <a:t>After</a:t>
            </a:r>
            <a:r>
              <a:rPr sz="1400" b="1" spc="-85" dirty="0">
                <a:latin typeface="Times New Roman"/>
                <a:cs typeface="Times New Roman"/>
              </a:rPr>
              <a:t> </a:t>
            </a:r>
            <a:r>
              <a:rPr sz="1400" b="1" spc="20" dirty="0">
                <a:latin typeface="Times New Roman"/>
                <a:cs typeface="Times New Roman"/>
              </a:rPr>
              <a:t>Conversion</a:t>
            </a:r>
            <a:r>
              <a:rPr sz="1400" b="1" spc="-85" dirty="0">
                <a:latin typeface="Times New Roman"/>
                <a:cs typeface="Times New Roman"/>
              </a:rPr>
              <a:t> </a:t>
            </a:r>
            <a:r>
              <a:rPr sz="1400" b="1" spc="35" dirty="0">
                <a:latin typeface="Times New Roman"/>
                <a:cs typeface="Times New Roman"/>
              </a:rPr>
              <a:t>to</a:t>
            </a:r>
            <a:r>
              <a:rPr sz="1400" b="1" spc="-70" dirty="0">
                <a:latin typeface="Times New Roman"/>
                <a:cs typeface="Times New Roman"/>
              </a:rPr>
              <a:t> </a:t>
            </a:r>
            <a:r>
              <a:rPr sz="1400" b="1" spc="-10" dirty="0">
                <a:latin typeface="Times New Roman"/>
                <a:cs typeface="Times New Roman"/>
              </a:rPr>
              <a:t>Third  Normal</a:t>
            </a:r>
            <a:r>
              <a:rPr sz="1400" b="1" spc="-85" dirty="0">
                <a:latin typeface="Times New Roman"/>
                <a:cs typeface="Times New Roman"/>
              </a:rPr>
              <a:t> </a:t>
            </a:r>
            <a:r>
              <a:rPr sz="1400" b="1" spc="-40" dirty="0">
                <a:latin typeface="Times New Roman"/>
                <a:cs typeface="Times New Roman"/>
              </a:rPr>
              <a:t>Form</a:t>
            </a:r>
            <a:endParaRPr sz="1400">
              <a:latin typeface="Times New Roman"/>
              <a:cs typeface="Times New Roman"/>
            </a:endParaRPr>
          </a:p>
        </p:txBody>
      </p:sp>
      <p:sp>
        <p:nvSpPr>
          <p:cNvPr id="13" name="object 13"/>
          <p:cNvSpPr txBox="1"/>
          <p:nvPr/>
        </p:nvSpPr>
        <p:spPr>
          <a:xfrm>
            <a:off x="203961" y="3354577"/>
            <a:ext cx="4225925" cy="238760"/>
          </a:xfrm>
          <a:prstGeom prst="rect">
            <a:avLst/>
          </a:prstGeom>
        </p:spPr>
        <p:txBody>
          <a:bodyPr vert="horz" wrap="square" lIns="0" tIns="12065" rIns="0" bIns="0" rtlCol="0">
            <a:spAutoFit/>
          </a:bodyPr>
          <a:lstStyle/>
          <a:p>
            <a:pPr marL="12700">
              <a:lnSpc>
                <a:spcPct val="100000"/>
              </a:lnSpc>
              <a:spcBef>
                <a:spcPts val="95"/>
              </a:spcBef>
            </a:pPr>
            <a:r>
              <a:rPr sz="1400" b="1" spc="-25" dirty="0">
                <a:latin typeface="Times New Roman"/>
                <a:cs typeface="Times New Roman"/>
              </a:rPr>
              <a:t>Project</a:t>
            </a:r>
            <a:r>
              <a:rPr sz="1400" b="1" spc="-80" dirty="0">
                <a:latin typeface="Times New Roman"/>
                <a:cs typeface="Times New Roman"/>
              </a:rPr>
              <a:t> </a:t>
            </a:r>
            <a:r>
              <a:rPr sz="1400" b="1" spc="5" dirty="0">
                <a:latin typeface="Times New Roman"/>
                <a:cs typeface="Times New Roman"/>
              </a:rPr>
              <a:t>Details</a:t>
            </a:r>
            <a:r>
              <a:rPr sz="1400" b="1" spc="-85" dirty="0">
                <a:latin typeface="Times New Roman"/>
                <a:cs typeface="Times New Roman"/>
              </a:rPr>
              <a:t> </a:t>
            </a:r>
            <a:r>
              <a:rPr sz="1400" b="1" spc="10" dirty="0">
                <a:latin typeface="Times New Roman"/>
                <a:cs typeface="Times New Roman"/>
              </a:rPr>
              <a:t>After</a:t>
            </a:r>
            <a:r>
              <a:rPr sz="1400" b="1" spc="-85" dirty="0">
                <a:latin typeface="Times New Roman"/>
                <a:cs typeface="Times New Roman"/>
              </a:rPr>
              <a:t> </a:t>
            </a:r>
            <a:r>
              <a:rPr sz="1400" b="1" spc="20" dirty="0">
                <a:latin typeface="Times New Roman"/>
                <a:cs typeface="Times New Roman"/>
              </a:rPr>
              <a:t>Conversion</a:t>
            </a:r>
            <a:r>
              <a:rPr sz="1400" b="1" spc="-85" dirty="0">
                <a:latin typeface="Times New Roman"/>
                <a:cs typeface="Times New Roman"/>
              </a:rPr>
              <a:t> </a:t>
            </a:r>
            <a:r>
              <a:rPr sz="1400" b="1" spc="35" dirty="0">
                <a:latin typeface="Times New Roman"/>
                <a:cs typeface="Times New Roman"/>
              </a:rPr>
              <a:t>to</a:t>
            </a:r>
            <a:r>
              <a:rPr sz="1400" b="1" spc="-70" dirty="0">
                <a:latin typeface="Times New Roman"/>
                <a:cs typeface="Times New Roman"/>
              </a:rPr>
              <a:t> </a:t>
            </a:r>
            <a:r>
              <a:rPr sz="1400" b="1" spc="-10" dirty="0">
                <a:latin typeface="Times New Roman"/>
                <a:cs typeface="Times New Roman"/>
              </a:rPr>
              <a:t>Third</a:t>
            </a:r>
            <a:r>
              <a:rPr sz="1400" b="1" spc="-85" dirty="0">
                <a:latin typeface="Times New Roman"/>
                <a:cs typeface="Times New Roman"/>
              </a:rPr>
              <a:t> </a:t>
            </a:r>
            <a:r>
              <a:rPr sz="1400" b="1" spc="-10" dirty="0">
                <a:latin typeface="Times New Roman"/>
                <a:cs typeface="Times New Roman"/>
              </a:rPr>
              <a:t>Normal</a:t>
            </a:r>
            <a:r>
              <a:rPr sz="1400" b="1" spc="-85" dirty="0">
                <a:latin typeface="Times New Roman"/>
                <a:cs typeface="Times New Roman"/>
              </a:rPr>
              <a:t> </a:t>
            </a:r>
            <a:r>
              <a:rPr sz="1400" b="1" spc="-40" dirty="0">
                <a:latin typeface="Times New Roman"/>
                <a:cs typeface="Times New Roman"/>
              </a:rPr>
              <a:t>Form</a:t>
            </a:r>
            <a:endParaRPr sz="140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328670" cy="574040"/>
          </a:xfrm>
          <a:prstGeom prst="rect">
            <a:avLst/>
          </a:prstGeom>
        </p:spPr>
        <p:txBody>
          <a:bodyPr vert="horz" wrap="square" lIns="0" tIns="12700" rIns="0" bIns="0" rtlCol="0">
            <a:spAutoFit/>
          </a:bodyPr>
          <a:lstStyle/>
          <a:p>
            <a:pPr marL="12700">
              <a:lnSpc>
                <a:spcPct val="100000"/>
              </a:lnSpc>
              <a:spcBef>
                <a:spcPts val="100"/>
              </a:spcBef>
            </a:pPr>
            <a:r>
              <a:rPr sz="3600" spc="120" dirty="0"/>
              <a:t>Denormalization</a:t>
            </a:r>
            <a:endParaRPr sz="3600"/>
          </a:p>
        </p:txBody>
      </p:sp>
      <p:grpSp>
        <p:nvGrpSpPr>
          <p:cNvPr id="3" name="object 3"/>
          <p:cNvGrpSpPr/>
          <p:nvPr/>
        </p:nvGrpSpPr>
        <p:grpSpPr>
          <a:xfrm>
            <a:off x="339852" y="1124724"/>
            <a:ext cx="5409565" cy="913765"/>
            <a:chOff x="339852" y="1124724"/>
            <a:chExt cx="5409565" cy="913765"/>
          </a:xfrm>
        </p:grpSpPr>
        <p:pic>
          <p:nvPicPr>
            <p:cNvPr id="4" name="object 4"/>
            <p:cNvPicPr/>
            <p:nvPr/>
          </p:nvPicPr>
          <p:blipFill>
            <a:blip r:embed="rId3" cstate="print"/>
            <a:stretch>
              <a:fillRect/>
            </a:stretch>
          </p:blipFill>
          <p:spPr>
            <a:xfrm>
              <a:off x="339852" y="1124724"/>
              <a:ext cx="5409438" cy="913625"/>
            </a:xfrm>
            <a:prstGeom prst="rect">
              <a:avLst/>
            </a:prstGeom>
          </p:spPr>
        </p:pic>
        <p:pic>
          <p:nvPicPr>
            <p:cNvPr id="5" name="object 5"/>
            <p:cNvPicPr/>
            <p:nvPr/>
          </p:nvPicPr>
          <p:blipFill>
            <a:blip r:embed="rId4" cstate="print"/>
            <a:stretch>
              <a:fillRect/>
            </a:stretch>
          </p:blipFill>
          <p:spPr>
            <a:xfrm>
              <a:off x="381000" y="1142999"/>
              <a:ext cx="5334000" cy="838200"/>
            </a:xfrm>
            <a:prstGeom prst="rect">
              <a:avLst/>
            </a:prstGeom>
          </p:spPr>
        </p:pic>
      </p:grpSp>
      <p:grpSp>
        <p:nvGrpSpPr>
          <p:cNvPr id="6" name="object 6"/>
          <p:cNvGrpSpPr/>
          <p:nvPr/>
        </p:nvGrpSpPr>
        <p:grpSpPr>
          <a:xfrm>
            <a:off x="3966971" y="2197569"/>
            <a:ext cx="4830445" cy="1016000"/>
            <a:chOff x="3966971" y="2197569"/>
            <a:chExt cx="4830445" cy="1016000"/>
          </a:xfrm>
        </p:grpSpPr>
        <p:pic>
          <p:nvPicPr>
            <p:cNvPr id="7" name="object 7"/>
            <p:cNvPicPr/>
            <p:nvPr/>
          </p:nvPicPr>
          <p:blipFill>
            <a:blip r:embed="rId5" cstate="print"/>
            <a:stretch>
              <a:fillRect/>
            </a:stretch>
          </p:blipFill>
          <p:spPr>
            <a:xfrm>
              <a:off x="3966971" y="2197569"/>
              <a:ext cx="4830318" cy="1015784"/>
            </a:xfrm>
            <a:prstGeom prst="rect">
              <a:avLst/>
            </a:prstGeom>
          </p:spPr>
        </p:pic>
        <p:pic>
          <p:nvPicPr>
            <p:cNvPr id="8" name="object 8"/>
            <p:cNvPicPr/>
            <p:nvPr/>
          </p:nvPicPr>
          <p:blipFill>
            <a:blip r:embed="rId6" cstate="print"/>
            <a:stretch>
              <a:fillRect/>
            </a:stretch>
          </p:blipFill>
          <p:spPr>
            <a:xfrm>
              <a:off x="4008119" y="2215896"/>
              <a:ext cx="4754880" cy="940307"/>
            </a:xfrm>
            <a:prstGeom prst="rect">
              <a:avLst/>
            </a:prstGeom>
          </p:spPr>
        </p:pic>
      </p:grpSp>
      <p:sp>
        <p:nvSpPr>
          <p:cNvPr id="9" name="object 9"/>
          <p:cNvSpPr txBox="1"/>
          <p:nvPr/>
        </p:nvSpPr>
        <p:spPr>
          <a:xfrm>
            <a:off x="490219" y="1359915"/>
            <a:ext cx="7873365" cy="1703705"/>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FFFFFF"/>
                </a:solidFill>
                <a:latin typeface="Times New Roman"/>
                <a:cs typeface="Times New Roman"/>
              </a:rPr>
              <a:t>By</a:t>
            </a:r>
            <a:r>
              <a:rPr sz="1800" spc="-60" dirty="0">
                <a:solidFill>
                  <a:srgbClr val="FFFFFF"/>
                </a:solidFill>
                <a:latin typeface="Times New Roman"/>
                <a:cs typeface="Times New Roman"/>
              </a:rPr>
              <a:t> </a:t>
            </a:r>
            <a:r>
              <a:rPr sz="1800" spc="40" dirty="0">
                <a:solidFill>
                  <a:srgbClr val="FFFFFF"/>
                </a:solidFill>
                <a:latin typeface="Times New Roman"/>
                <a:cs typeface="Times New Roman"/>
              </a:rPr>
              <a:t>normalizing</a:t>
            </a:r>
            <a:r>
              <a:rPr sz="1800" spc="-70"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database,</a:t>
            </a:r>
            <a:r>
              <a:rPr sz="1800" spc="-80" dirty="0">
                <a:solidFill>
                  <a:srgbClr val="FFFFFF"/>
                </a:solidFill>
                <a:latin typeface="Times New Roman"/>
                <a:cs typeface="Times New Roman"/>
              </a:rPr>
              <a:t> </a:t>
            </a:r>
            <a:r>
              <a:rPr sz="1800" spc="80" dirty="0">
                <a:solidFill>
                  <a:srgbClr val="FFFFFF"/>
                </a:solidFill>
                <a:latin typeface="Times New Roman"/>
                <a:cs typeface="Times New Roman"/>
              </a:rPr>
              <a:t>redundancy</a:t>
            </a:r>
            <a:r>
              <a:rPr sz="1800" spc="-75" dirty="0">
                <a:solidFill>
                  <a:srgbClr val="FFFFFF"/>
                </a:solidFill>
                <a:latin typeface="Times New Roman"/>
                <a:cs typeface="Times New Roman"/>
              </a:rPr>
              <a:t> </a:t>
            </a:r>
            <a:r>
              <a:rPr sz="1800" spc="5" dirty="0">
                <a:solidFill>
                  <a:srgbClr val="FFFFFF"/>
                </a:solidFill>
                <a:latin typeface="Times New Roman"/>
                <a:cs typeface="Times New Roman"/>
              </a:rPr>
              <a:t>is</a:t>
            </a:r>
            <a:r>
              <a:rPr sz="1800" spc="-60" dirty="0">
                <a:solidFill>
                  <a:srgbClr val="FFFFFF"/>
                </a:solidFill>
                <a:latin typeface="Times New Roman"/>
                <a:cs typeface="Times New Roman"/>
              </a:rPr>
              <a:t> </a:t>
            </a:r>
            <a:r>
              <a:rPr sz="1800" spc="75" dirty="0">
                <a:solidFill>
                  <a:srgbClr val="FFFFFF"/>
                </a:solidFill>
                <a:latin typeface="Times New Roman"/>
                <a:cs typeface="Times New Roman"/>
              </a:rPr>
              <a:t>reduced</a:t>
            </a:r>
            <a:endParaRPr sz="1800">
              <a:latin typeface="Times New Roman"/>
              <a:cs typeface="Times New Roman"/>
            </a:endParaRPr>
          </a:p>
          <a:p>
            <a:pPr>
              <a:lnSpc>
                <a:spcPct val="100000"/>
              </a:lnSpc>
            </a:pPr>
            <a:endParaRPr sz="2600">
              <a:latin typeface="Times New Roman"/>
              <a:cs typeface="Times New Roman"/>
            </a:endParaRPr>
          </a:p>
          <a:p>
            <a:pPr marL="3742054" marR="5080">
              <a:lnSpc>
                <a:spcPts val="1939"/>
              </a:lnSpc>
              <a:spcBef>
                <a:spcPts val="2260"/>
              </a:spcBef>
            </a:pPr>
            <a:r>
              <a:rPr sz="1800" spc="65" dirty="0">
                <a:solidFill>
                  <a:srgbClr val="FFFFFF"/>
                </a:solidFill>
                <a:latin typeface="Times New Roman"/>
                <a:cs typeface="Times New Roman"/>
              </a:rPr>
              <a:t>This, </a:t>
            </a:r>
            <a:r>
              <a:rPr sz="1800" spc="85" dirty="0">
                <a:solidFill>
                  <a:srgbClr val="FFFFFF"/>
                </a:solidFill>
                <a:latin typeface="Times New Roman"/>
                <a:cs typeface="Times New Roman"/>
              </a:rPr>
              <a:t>in </a:t>
            </a:r>
            <a:r>
              <a:rPr sz="1800" spc="95" dirty="0">
                <a:solidFill>
                  <a:srgbClr val="FFFFFF"/>
                </a:solidFill>
                <a:latin typeface="Times New Roman"/>
                <a:cs typeface="Times New Roman"/>
              </a:rPr>
              <a:t>turn, </a:t>
            </a:r>
            <a:r>
              <a:rPr sz="1800" spc="60" dirty="0">
                <a:solidFill>
                  <a:srgbClr val="FFFFFF"/>
                </a:solidFill>
                <a:latin typeface="Times New Roman"/>
                <a:cs typeface="Times New Roman"/>
              </a:rPr>
              <a:t>reduces </a:t>
            </a:r>
            <a:r>
              <a:rPr sz="1800" spc="100" dirty="0">
                <a:solidFill>
                  <a:srgbClr val="FFFFFF"/>
                </a:solidFill>
                <a:latin typeface="Times New Roman"/>
                <a:cs typeface="Times New Roman"/>
              </a:rPr>
              <a:t>the </a:t>
            </a:r>
            <a:r>
              <a:rPr sz="1800" spc="45" dirty="0">
                <a:solidFill>
                  <a:srgbClr val="FFFFFF"/>
                </a:solidFill>
                <a:latin typeface="Times New Roman"/>
                <a:cs typeface="Times New Roman"/>
              </a:rPr>
              <a:t>storage  </a:t>
            </a:r>
            <a:r>
              <a:rPr sz="1800" spc="75" dirty="0">
                <a:solidFill>
                  <a:srgbClr val="FFFFFF"/>
                </a:solidFill>
                <a:latin typeface="Times New Roman"/>
                <a:cs typeface="Times New Roman"/>
              </a:rPr>
              <a:t>requirements</a:t>
            </a:r>
            <a:r>
              <a:rPr sz="1800" spc="-90" dirty="0">
                <a:solidFill>
                  <a:srgbClr val="FFFFFF"/>
                </a:solidFill>
                <a:latin typeface="Times New Roman"/>
                <a:cs typeface="Times New Roman"/>
              </a:rPr>
              <a:t> </a:t>
            </a:r>
            <a:r>
              <a:rPr sz="1800" spc="60" dirty="0">
                <a:solidFill>
                  <a:srgbClr val="FFFFFF"/>
                </a:solidFill>
                <a:latin typeface="Times New Roman"/>
                <a:cs typeface="Times New Roman"/>
              </a:rPr>
              <a:t>for</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75" dirty="0">
                <a:solidFill>
                  <a:srgbClr val="FFFFFF"/>
                </a:solidFill>
                <a:latin typeface="Times New Roman"/>
                <a:cs typeface="Times New Roman"/>
              </a:rPr>
              <a:t> </a:t>
            </a:r>
            <a:r>
              <a:rPr sz="1800" spc="55" dirty="0">
                <a:solidFill>
                  <a:srgbClr val="FFFFFF"/>
                </a:solidFill>
                <a:latin typeface="Times New Roman"/>
                <a:cs typeface="Times New Roman"/>
              </a:rPr>
              <a:t>database</a:t>
            </a:r>
            <a:r>
              <a:rPr sz="1800" spc="-90" dirty="0">
                <a:solidFill>
                  <a:srgbClr val="FFFFFF"/>
                </a:solidFill>
                <a:latin typeface="Times New Roman"/>
                <a:cs typeface="Times New Roman"/>
              </a:rPr>
              <a:t> </a:t>
            </a:r>
            <a:r>
              <a:rPr sz="1800" spc="100" dirty="0">
                <a:solidFill>
                  <a:srgbClr val="FFFFFF"/>
                </a:solidFill>
                <a:latin typeface="Times New Roman"/>
                <a:cs typeface="Times New Roman"/>
              </a:rPr>
              <a:t>and</a:t>
            </a:r>
            <a:r>
              <a:rPr sz="1800" spc="-80" dirty="0">
                <a:solidFill>
                  <a:srgbClr val="FFFFFF"/>
                </a:solidFill>
                <a:latin typeface="Times New Roman"/>
                <a:cs typeface="Times New Roman"/>
              </a:rPr>
              <a:t> </a:t>
            </a:r>
            <a:r>
              <a:rPr sz="1800" spc="65" dirty="0">
                <a:solidFill>
                  <a:srgbClr val="FFFFFF"/>
                </a:solidFill>
                <a:latin typeface="Times New Roman"/>
                <a:cs typeface="Times New Roman"/>
              </a:rPr>
              <a:t>ensures  </a:t>
            </a:r>
            <a:r>
              <a:rPr sz="1800" spc="70" dirty="0">
                <a:solidFill>
                  <a:srgbClr val="FFFFFF"/>
                </a:solidFill>
                <a:latin typeface="Times New Roman"/>
                <a:cs typeface="Times New Roman"/>
              </a:rPr>
              <a:t>data</a:t>
            </a:r>
            <a:r>
              <a:rPr sz="1800" spc="-90" dirty="0">
                <a:solidFill>
                  <a:srgbClr val="FFFFFF"/>
                </a:solidFill>
                <a:latin typeface="Times New Roman"/>
                <a:cs typeface="Times New Roman"/>
              </a:rPr>
              <a:t> </a:t>
            </a:r>
            <a:r>
              <a:rPr sz="1800" spc="50" dirty="0">
                <a:solidFill>
                  <a:srgbClr val="FFFFFF"/>
                </a:solidFill>
                <a:latin typeface="Times New Roman"/>
                <a:cs typeface="Times New Roman"/>
              </a:rPr>
              <a:t>integrity.</a:t>
            </a:r>
            <a:endParaRPr sz="1800">
              <a:latin typeface="Times New Roman"/>
              <a:cs typeface="Times New Roman"/>
            </a:endParaRPr>
          </a:p>
        </p:txBody>
      </p:sp>
      <p:pic>
        <p:nvPicPr>
          <p:cNvPr id="10" name="object 10"/>
          <p:cNvPicPr/>
          <p:nvPr/>
        </p:nvPicPr>
        <p:blipFill>
          <a:blip r:embed="rId7" cstate="print"/>
          <a:stretch>
            <a:fillRect/>
          </a:stretch>
        </p:blipFill>
        <p:spPr>
          <a:xfrm>
            <a:off x="1378458" y="3516629"/>
            <a:ext cx="6809232" cy="2307336"/>
          </a:xfrm>
          <a:prstGeom prst="rect">
            <a:avLst/>
          </a:prstGeom>
        </p:spPr>
      </p:pic>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17</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560060" cy="574040"/>
          </a:xfrm>
          <a:prstGeom prst="rect">
            <a:avLst/>
          </a:prstGeom>
        </p:spPr>
        <p:txBody>
          <a:bodyPr vert="horz" wrap="square" lIns="0" tIns="12700" rIns="0" bIns="0" rtlCol="0">
            <a:spAutoFit/>
          </a:bodyPr>
          <a:lstStyle/>
          <a:p>
            <a:pPr marL="12700">
              <a:lnSpc>
                <a:spcPct val="100000"/>
              </a:lnSpc>
              <a:spcBef>
                <a:spcPts val="100"/>
              </a:spcBef>
            </a:pPr>
            <a:r>
              <a:rPr sz="3600" spc="110" dirty="0"/>
              <a:t>Relational </a:t>
            </a:r>
            <a:r>
              <a:rPr sz="3600" spc="165" dirty="0"/>
              <a:t>Operators</a:t>
            </a:r>
            <a:r>
              <a:rPr sz="3600" spc="-380" dirty="0"/>
              <a:t> </a:t>
            </a:r>
            <a:r>
              <a:rPr sz="3600" spc="-195" dirty="0"/>
              <a:t>1-6</a:t>
            </a:r>
            <a:endParaRPr sz="3600"/>
          </a:p>
        </p:txBody>
      </p:sp>
      <p:sp>
        <p:nvSpPr>
          <p:cNvPr id="3" name="object 3"/>
          <p:cNvSpPr txBox="1"/>
          <p:nvPr/>
        </p:nvSpPr>
        <p:spPr>
          <a:xfrm>
            <a:off x="459740" y="871727"/>
            <a:ext cx="8171815" cy="1854200"/>
          </a:xfrm>
          <a:prstGeom prst="rect">
            <a:avLst/>
          </a:prstGeom>
        </p:spPr>
        <p:txBody>
          <a:bodyPr vert="horz" wrap="square" lIns="0" tIns="12065" rIns="0" bIns="0" rtlCol="0">
            <a:spAutoFit/>
          </a:bodyPr>
          <a:lstStyle/>
          <a:p>
            <a:pPr marL="355600" marR="553085" indent="-342900">
              <a:lnSpc>
                <a:spcPct val="100000"/>
              </a:lnSpc>
              <a:spcBef>
                <a:spcPts val="95"/>
              </a:spcBef>
              <a:buFont typeface="Arial"/>
              <a:buChar char="•"/>
              <a:tabLst>
                <a:tab pos="354965" algn="l"/>
                <a:tab pos="355600" algn="l"/>
              </a:tabLst>
            </a:pPr>
            <a:r>
              <a:rPr sz="2000" spc="130" dirty="0">
                <a:latin typeface="Times New Roman"/>
                <a:cs typeface="Times New Roman"/>
              </a:rPr>
              <a:t>The</a:t>
            </a:r>
            <a:r>
              <a:rPr sz="2000" spc="-70" dirty="0">
                <a:latin typeface="Times New Roman"/>
                <a:cs typeface="Times New Roman"/>
              </a:rPr>
              <a:t> </a:t>
            </a:r>
            <a:r>
              <a:rPr sz="2000" spc="60" dirty="0">
                <a:latin typeface="Times New Roman"/>
                <a:cs typeface="Times New Roman"/>
              </a:rPr>
              <a:t>relational</a:t>
            </a:r>
            <a:r>
              <a:rPr sz="2000" spc="-40" dirty="0">
                <a:latin typeface="Times New Roman"/>
                <a:cs typeface="Times New Roman"/>
              </a:rPr>
              <a:t> </a:t>
            </a:r>
            <a:r>
              <a:rPr sz="2000" spc="70" dirty="0">
                <a:latin typeface="Times New Roman"/>
                <a:cs typeface="Times New Roman"/>
              </a:rPr>
              <a:t>model</a:t>
            </a:r>
            <a:r>
              <a:rPr sz="2000" spc="-65" dirty="0">
                <a:latin typeface="Times New Roman"/>
                <a:cs typeface="Times New Roman"/>
              </a:rPr>
              <a:t> </a:t>
            </a:r>
            <a:r>
              <a:rPr sz="2000" spc="5" dirty="0">
                <a:latin typeface="Times New Roman"/>
                <a:cs typeface="Times New Roman"/>
              </a:rPr>
              <a:t>is</a:t>
            </a:r>
            <a:r>
              <a:rPr sz="2000" spc="-70" dirty="0">
                <a:latin typeface="Times New Roman"/>
                <a:cs typeface="Times New Roman"/>
              </a:rPr>
              <a:t> </a:t>
            </a:r>
            <a:r>
              <a:rPr sz="2000" spc="60" dirty="0">
                <a:latin typeface="Times New Roman"/>
                <a:cs typeface="Times New Roman"/>
              </a:rPr>
              <a:t>based</a:t>
            </a:r>
            <a:r>
              <a:rPr sz="2000" spc="-55" dirty="0">
                <a:latin typeface="Times New Roman"/>
                <a:cs typeface="Times New Roman"/>
              </a:rPr>
              <a:t> </a:t>
            </a:r>
            <a:r>
              <a:rPr sz="2000" spc="135" dirty="0">
                <a:latin typeface="Times New Roman"/>
                <a:cs typeface="Times New Roman"/>
              </a:rPr>
              <a:t>on</a:t>
            </a:r>
            <a:r>
              <a:rPr sz="2000" spc="-60" dirty="0">
                <a:latin typeface="Times New Roman"/>
                <a:cs typeface="Times New Roman"/>
              </a:rPr>
              <a:t> </a:t>
            </a:r>
            <a:r>
              <a:rPr sz="2000" spc="110" dirty="0">
                <a:latin typeface="Times New Roman"/>
                <a:cs typeface="Times New Roman"/>
              </a:rPr>
              <a:t>the</a:t>
            </a:r>
            <a:r>
              <a:rPr sz="2000" spc="-65" dirty="0">
                <a:latin typeface="Times New Roman"/>
                <a:cs typeface="Times New Roman"/>
              </a:rPr>
              <a:t> </a:t>
            </a:r>
            <a:r>
              <a:rPr sz="2000" spc="45" dirty="0">
                <a:latin typeface="Times New Roman"/>
                <a:cs typeface="Times New Roman"/>
              </a:rPr>
              <a:t>solid</a:t>
            </a:r>
            <a:r>
              <a:rPr sz="2000" spc="-65" dirty="0">
                <a:latin typeface="Times New Roman"/>
                <a:cs typeface="Times New Roman"/>
              </a:rPr>
              <a:t> </a:t>
            </a:r>
            <a:r>
              <a:rPr sz="2000" spc="100" dirty="0">
                <a:latin typeface="Times New Roman"/>
                <a:cs typeface="Times New Roman"/>
              </a:rPr>
              <a:t>foundation</a:t>
            </a:r>
            <a:r>
              <a:rPr sz="2000" spc="-60" dirty="0">
                <a:latin typeface="Times New Roman"/>
                <a:cs typeface="Times New Roman"/>
              </a:rPr>
              <a:t> </a:t>
            </a:r>
            <a:r>
              <a:rPr sz="2000" spc="55" dirty="0">
                <a:latin typeface="Times New Roman"/>
                <a:cs typeface="Times New Roman"/>
              </a:rPr>
              <a:t>of</a:t>
            </a:r>
            <a:r>
              <a:rPr sz="2000" spc="-70" dirty="0">
                <a:latin typeface="Times New Roman"/>
                <a:cs typeface="Times New Roman"/>
              </a:rPr>
              <a:t> </a:t>
            </a:r>
            <a:r>
              <a:rPr sz="2000" spc="60" dirty="0">
                <a:latin typeface="Times New Roman"/>
                <a:cs typeface="Times New Roman"/>
              </a:rPr>
              <a:t>Relational  </a:t>
            </a:r>
            <a:r>
              <a:rPr sz="2000" spc="50" dirty="0">
                <a:latin typeface="Times New Roman"/>
                <a:cs typeface="Times New Roman"/>
              </a:rPr>
              <a:t>Algebra.</a:t>
            </a:r>
            <a:endParaRPr sz="2000">
              <a:latin typeface="Times New Roman"/>
              <a:cs typeface="Times New Roman"/>
            </a:endParaRPr>
          </a:p>
          <a:p>
            <a:pPr marL="355600" marR="170180" indent="-342900">
              <a:lnSpc>
                <a:spcPct val="100000"/>
              </a:lnSpc>
              <a:buFont typeface="Arial"/>
              <a:buChar char="•"/>
              <a:tabLst>
                <a:tab pos="354965" algn="l"/>
                <a:tab pos="355600" algn="l"/>
              </a:tabLst>
            </a:pPr>
            <a:r>
              <a:rPr sz="2000" spc="60" dirty="0">
                <a:latin typeface="Times New Roman"/>
                <a:cs typeface="Times New Roman"/>
              </a:rPr>
              <a:t>Relational</a:t>
            </a:r>
            <a:r>
              <a:rPr sz="2000" spc="-40" dirty="0">
                <a:latin typeface="Times New Roman"/>
                <a:cs typeface="Times New Roman"/>
              </a:rPr>
              <a:t> </a:t>
            </a:r>
            <a:r>
              <a:rPr sz="2000" spc="55" dirty="0">
                <a:latin typeface="Times New Roman"/>
                <a:cs typeface="Times New Roman"/>
              </a:rPr>
              <a:t>Algebra</a:t>
            </a:r>
            <a:r>
              <a:rPr sz="2000" spc="-45" dirty="0">
                <a:latin typeface="Times New Roman"/>
                <a:cs typeface="Times New Roman"/>
              </a:rPr>
              <a:t> </a:t>
            </a:r>
            <a:r>
              <a:rPr sz="2000" spc="55" dirty="0">
                <a:latin typeface="Times New Roman"/>
                <a:cs typeface="Times New Roman"/>
              </a:rPr>
              <a:t>consists</a:t>
            </a:r>
            <a:r>
              <a:rPr sz="2000" spc="-60" dirty="0">
                <a:latin typeface="Times New Roman"/>
                <a:cs typeface="Times New Roman"/>
              </a:rPr>
              <a:t> </a:t>
            </a:r>
            <a:r>
              <a:rPr sz="2000" spc="55" dirty="0">
                <a:latin typeface="Times New Roman"/>
                <a:cs typeface="Times New Roman"/>
              </a:rPr>
              <a:t>of</a:t>
            </a:r>
            <a:r>
              <a:rPr sz="2000" spc="-70" dirty="0">
                <a:latin typeface="Times New Roman"/>
                <a:cs typeface="Times New Roman"/>
              </a:rPr>
              <a:t> </a:t>
            </a:r>
            <a:r>
              <a:rPr sz="2000" spc="30" dirty="0">
                <a:latin typeface="Times New Roman"/>
                <a:cs typeface="Times New Roman"/>
              </a:rPr>
              <a:t>a</a:t>
            </a:r>
            <a:r>
              <a:rPr sz="2000" spc="-70" dirty="0">
                <a:latin typeface="Times New Roman"/>
                <a:cs typeface="Times New Roman"/>
              </a:rPr>
              <a:t> </a:t>
            </a:r>
            <a:r>
              <a:rPr sz="2000" spc="55" dirty="0">
                <a:latin typeface="Times New Roman"/>
                <a:cs typeface="Times New Roman"/>
              </a:rPr>
              <a:t>collection</a:t>
            </a:r>
            <a:r>
              <a:rPr sz="2000" spc="-45" dirty="0">
                <a:latin typeface="Times New Roman"/>
                <a:cs typeface="Times New Roman"/>
              </a:rPr>
              <a:t> </a:t>
            </a:r>
            <a:r>
              <a:rPr sz="2000" spc="55" dirty="0">
                <a:latin typeface="Times New Roman"/>
                <a:cs typeface="Times New Roman"/>
              </a:rPr>
              <a:t>of</a:t>
            </a:r>
            <a:r>
              <a:rPr sz="2000" spc="-70" dirty="0">
                <a:latin typeface="Times New Roman"/>
                <a:cs typeface="Times New Roman"/>
              </a:rPr>
              <a:t> </a:t>
            </a:r>
            <a:r>
              <a:rPr sz="2000" spc="70" dirty="0">
                <a:latin typeface="Times New Roman"/>
                <a:cs typeface="Times New Roman"/>
              </a:rPr>
              <a:t>operators</a:t>
            </a:r>
            <a:r>
              <a:rPr sz="2000" spc="-40" dirty="0">
                <a:latin typeface="Times New Roman"/>
                <a:cs typeface="Times New Roman"/>
              </a:rPr>
              <a:t> </a:t>
            </a:r>
            <a:r>
              <a:rPr sz="2000" spc="114" dirty="0">
                <a:latin typeface="Times New Roman"/>
                <a:cs typeface="Times New Roman"/>
              </a:rPr>
              <a:t>that</a:t>
            </a:r>
            <a:r>
              <a:rPr sz="2000" spc="-55" dirty="0">
                <a:latin typeface="Times New Roman"/>
                <a:cs typeface="Times New Roman"/>
              </a:rPr>
              <a:t> </a:t>
            </a:r>
            <a:r>
              <a:rPr sz="2000" spc="75" dirty="0">
                <a:latin typeface="Times New Roman"/>
                <a:cs typeface="Times New Roman"/>
              </a:rPr>
              <a:t>operate</a:t>
            </a:r>
            <a:r>
              <a:rPr sz="2000" spc="-40" dirty="0">
                <a:latin typeface="Times New Roman"/>
                <a:cs typeface="Times New Roman"/>
              </a:rPr>
              <a:t> </a:t>
            </a:r>
            <a:r>
              <a:rPr sz="2000" spc="135" dirty="0">
                <a:latin typeface="Times New Roman"/>
                <a:cs typeface="Times New Roman"/>
              </a:rPr>
              <a:t>on  </a:t>
            </a:r>
            <a:r>
              <a:rPr sz="2000" spc="55" dirty="0">
                <a:latin typeface="Times New Roman"/>
                <a:cs typeface="Times New Roman"/>
              </a:rPr>
              <a:t>relations.</a:t>
            </a:r>
            <a:endParaRPr sz="2000">
              <a:latin typeface="Times New Roman"/>
              <a:cs typeface="Times New Roman"/>
            </a:endParaRPr>
          </a:p>
          <a:p>
            <a:pPr marL="355600" marR="5080" indent="-342900">
              <a:lnSpc>
                <a:spcPct val="100000"/>
              </a:lnSpc>
              <a:buFont typeface="Arial"/>
              <a:buChar char="•"/>
              <a:tabLst>
                <a:tab pos="354965" algn="l"/>
                <a:tab pos="355600" algn="l"/>
              </a:tabLst>
            </a:pPr>
            <a:r>
              <a:rPr sz="2000" spc="50" dirty="0">
                <a:latin typeface="Times New Roman"/>
                <a:cs typeface="Times New Roman"/>
              </a:rPr>
              <a:t>Each</a:t>
            </a:r>
            <a:r>
              <a:rPr sz="2000" spc="-70" dirty="0">
                <a:latin typeface="Times New Roman"/>
                <a:cs typeface="Times New Roman"/>
              </a:rPr>
              <a:t> </a:t>
            </a:r>
            <a:r>
              <a:rPr sz="2000" spc="80" dirty="0">
                <a:latin typeface="Times New Roman"/>
                <a:cs typeface="Times New Roman"/>
              </a:rPr>
              <a:t>operator</a:t>
            </a:r>
            <a:r>
              <a:rPr sz="2000" spc="-40" dirty="0">
                <a:latin typeface="Times New Roman"/>
                <a:cs typeface="Times New Roman"/>
              </a:rPr>
              <a:t> </a:t>
            </a:r>
            <a:r>
              <a:rPr sz="2000" spc="60" dirty="0">
                <a:latin typeface="Times New Roman"/>
                <a:cs typeface="Times New Roman"/>
              </a:rPr>
              <a:t>takes</a:t>
            </a:r>
            <a:r>
              <a:rPr sz="2000" spc="-65" dirty="0">
                <a:latin typeface="Times New Roman"/>
                <a:cs typeface="Times New Roman"/>
              </a:rPr>
              <a:t> </a:t>
            </a:r>
            <a:r>
              <a:rPr sz="2000" spc="105" dirty="0">
                <a:latin typeface="Times New Roman"/>
                <a:cs typeface="Times New Roman"/>
              </a:rPr>
              <a:t>one</a:t>
            </a:r>
            <a:r>
              <a:rPr sz="2000" spc="-50" dirty="0">
                <a:latin typeface="Times New Roman"/>
                <a:cs typeface="Times New Roman"/>
              </a:rPr>
              <a:t> </a:t>
            </a:r>
            <a:r>
              <a:rPr sz="2000" spc="85" dirty="0">
                <a:latin typeface="Times New Roman"/>
                <a:cs typeface="Times New Roman"/>
              </a:rPr>
              <a:t>or</a:t>
            </a:r>
            <a:r>
              <a:rPr sz="2000" spc="-70" dirty="0">
                <a:latin typeface="Times New Roman"/>
                <a:cs typeface="Times New Roman"/>
              </a:rPr>
              <a:t> </a:t>
            </a:r>
            <a:r>
              <a:rPr sz="2000" spc="90" dirty="0">
                <a:latin typeface="Times New Roman"/>
                <a:cs typeface="Times New Roman"/>
              </a:rPr>
              <a:t>two</a:t>
            </a:r>
            <a:r>
              <a:rPr sz="2000" spc="-65" dirty="0">
                <a:latin typeface="Times New Roman"/>
                <a:cs typeface="Times New Roman"/>
              </a:rPr>
              <a:t> </a:t>
            </a:r>
            <a:r>
              <a:rPr sz="2000" spc="60" dirty="0">
                <a:latin typeface="Times New Roman"/>
                <a:cs typeface="Times New Roman"/>
              </a:rPr>
              <a:t>relations</a:t>
            </a:r>
            <a:r>
              <a:rPr sz="2000" spc="-50" dirty="0">
                <a:latin typeface="Times New Roman"/>
                <a:cs typeface="Times New Roman"/>
              </a:rPr>
              <a:t> </a:t>
            </a:r>
            <a:r>
              <a:rPr sz="2000" spc="20" dirty="0">
                <a:latin typeface="Times New Roman"/>
                <a:cs typeface="Times New Roman"/>
              </a:rPr>
              <a:t>as</a:t>
            </a:r>
            <a:r>
              <a:rPr sz="2000" spc="-65" dirty="0">
                <a:latin typeface="Times New Roman"/>
                <a:cs typeface="Times New Roman"/>
              </a:rPr>
              <a:t> </a:t>
            </a:r>
            <a:r>
              <a:rPr sz="2000" spc="45" dirty="0">
                <a:latin typeface="Times New Roman"/>
                <a:cs typeface="Times New Roman"/>
              </a:rPr>
              <a:t>its</a:t>
            </a:r>
            <a:r>
              <a:rPr sz="2000" spc="-75" dirty="0">
                <a:latin typeface="Times New Roman"/>
                <a:cs typeface="Times New Roman"/>
              </a:rPr>
              <a:t> </a:t>
            </a:r>
            <a:r>
              <a:rPr sz="2000" spc="114" dirty="0">
                <a:latin typeface="Times New Roman"/>
                <a:cs typeface="Times New Roman"/>
              </a:rPr>
              <a:t>input</a:t>
            </a:r>
            <a:r>
              <a:rPr sz="2000" spc="-70" dirty="0">
                <a:latin typeface="Times New Roman"/>
                <a:cs typeface="Times New Roman"/>
              </a:rPr>
              <a:t> </a:t>
            </a:r>
            <a:r>
              <a:rPr sz="2000" spc="114" dirty="0">
                <a:latin typeface="Times New Roman"/>
                <a:cs typeface="Times New Roman"/>
              </a:rPr>
              <a:t>and</a:t>
            </a:r>
            <a:r>
              <a:rPr sz="2000" spc="-75" dirty="0">
                <a:latin typeface="Times New Roman"/>
                <a:cs typeface="Times New Roman"/>
              </a:rPr>
              <a:t> </a:t>
            </a:r>
            <a:r>
              <a:rPr sz="2000" spc="75" dirty="0">
                <a:latin typeface="Times New Roman"/>
                <a:cs typeface="Times New Roman"/>
              </a:rPr>
              <a:t>produces</a:t>
            </a:r>
            <a:r>
              <a:rPr sz="2000" spc="-65" dirty="0">
                <a:latin typeface="Times New Roman"/>
                <a:cs typeface="Times New Roman"/>
              </a:rPr>
              <a:t> </a:t>
            </a:r>
            <a:r>
              <a:rPr sz="2000" spc="30" dirty="0">
                <a:latin typeface="Times New Roman"/>
                <a:cs typeface="Times New Roman"/>
              </a:rPr>
              <a:t>a</a:t>
            </a:r>
            <a:r>
              <a:rPr sz="2000" spc="-70" dirty="0">
                <a:latin typeface="Times New Roman"/>
                <a:cs typeface="Times New Roman"/>
              </a:rPr>
              <a:t> </a:t>
            </a:r>
            <a:r>
              <a:rPr sz="2000" spc="90" dirty="0">
                <a:latin typeface="Times New Roman"/>
                <a:cs typeface="Times New Roman"/>
              </a:rPr>
              <a:t>new  </a:t>
            </a:r>
            <a:r>
              <a:rPr sz="2000" spc="70" dirty="0">
                <a:latin typeface="Times New Roman"/>
                <a:cs typeface="Times New Roman"/>
              </a:rPr>
              <a:t>relation </a:t>
            </a:r>
            <a:r>
              <a:rPr sz="2000" spc="20" dirty="0">
                <a:latin typeface="Times New Roman"/>
                <a:cs typeface="Times New Roman"/>
              </a:rPr>
              <a:t>as </a:t>
            </a:r>
            <a:r>
              <a:rPr sz="2000" spc="45" dirty="0">
                <a:latin typeface="Times New Roman"/>
                <a:cs typeface="Times New Roman"/>
              </a:rPr>
              <a:t>its</a:t>
            </a:r>
            <a:r>
              <a:rPr sz="2000" spc="-300" dirty="0">
                <a:latin typeface="Times New Roman"/>
                <a:cs typeface="Times New Roman"/>
              </a:rPr>
              <a:t> </a:t>
            </a:r>
            <a:r>
              <a:rPr sz="2000" spc="105" dirty="0">
                <a:latin typeface="Times New Roman"/>
                <a:cs typeface="Times New Roman"/>
              </a:rPr>
              <a:t>output.</a:t>
            </a:r>
            <a:endParaRPr sz="2000">
              <a:latin typeface="Times New Roman"/>
              <a:cs typeface="Times New Roman"/>
            </a:endParaRPr>
          </a:p>
        </p:txBody>
      </p:sp>
      <p:pic>
        <p:nvPicPr>
          <p:cNvPr id="4" name="object 4"/>
          <p:cNvPicPr/>
          <p:nvPr/>
        </p:nvPicPr>
        <p:blipFill>
          <a:blip r:embed="rId3" cstate="print"/>
          <a:stretch>
            <a:fillRect/>
          </a:stretch>
        </p:blipFill>
        <p:spPr>
          <a:xfrm>
            <a:off x="1406652" y="2961132"/>
            <a:ext cx="6668261" cy="2437638"/>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407660" cy="574040"/>
          </a:xfrm>
          <a:prstGeom prst="rect">
            <a:avLst/>
          </a:prstGeom>
        </p:spPr>
        <p:txBody>
          <a:bodyPr vert="horz" wrap="square" lIns="0" tIns="12700" rIns="0" bIns="0" rtlCol="0">
            <a:spAutoFit/>
          </a:bodyPr>
          <a:lstStyle/>
          <a:p>
            <a:pPr marL="12700">
              <a:lnSpc>
                <a:spcPct val="100000"/>
              </a:lnSpc>
              <a:spcBef>
                <a:spcPts val="100"/>
              </a:spcBef>
            </a:pPr>
            <a:r>
              <a:rPr sz="3600" spc="110" dirty="0"/>
              <a:t>Relational </a:t>
            </a:r>
            <a:r>
              <a:rPr sz="3600" spc="165" dirty="0"/>
              <a:t>Operators</a:t>
            </a:r>
            <a:r>
              <a:rPr sz="3600" spc="-385" dirty="0"/>
              <a:t> </a:t>
            </a:r>
            <a:r>
              <a:rPr sz="3600" spc="-40" dirty="0"/>
              <a:t>2-6</a:t>
            </a:r>
            <a:endParaRPr sz="3600"/>
          </a:p>
        </p:txBody>
      </p:sp>
      <p:grpSp>
        <p:nvGrpSpPr>
          <p:cNvPr id="3" name="object 3"/>
          <p:cNvGrpSpPr/>
          <p:nvPr/>
        </p:nvGrpSpPr>
        <p:grpSpPr>
          <a:xfrm>
            <a:off x="539495" y="1277886"/>
            <a:ext cx="8087359" cy="1106170"/>
            <a:chOff x="539495" y="1277886"/>
            <a:chExt cx="8087359" cy="1106170"/>
          </a:xfrm>
        </p:grpSpPr>
        <p:pic>
          <p:nvPicPr>
            <p:cNvPr id="4" name="object 4"/>
            <p:cNvPicPr/>
            <p:nvPr/>
          </p:nvPicPr>
          <p:blipFill>
            <a:blip r:embed="rId3" cstate="print"/>
            <a:stretch>
              <a:fillRect/>
            </a:stretch>
          </p:blipFill>
          <p:spPr>
            <a:xfrm>
              <a:off x="539495" y="1277886"/>
              <a:ext cx="8087106" cy="1105649"/>
            </a:xfrm>
            <a:prstGeom prst="rect">
              <a:avLst/>
            </a:prstGeom>
          </p:spPr>
        </p:pic>
        <p:pic>
          <p:nvPicPr>
            <p:cNvPr id="5" name="object 5"/>
            <p:cNvPicPr/>
            <p:nvPr/>
          </p:nvPicPr>
          <p:blipFill>
            <a:blip r:embed="rId4" cstate="print"/>
            <a:stretch>
              <a:fillRect/>
            </a:stretch>
          </p:blipFill>
          <p:spPr>
            <a:xfrm>
              <a:off x="580643" y="1296162"/>
              <a:ext cx="8011668" cy="1030223"/>
            </a:xfrm>
            <a:prstGeom prst="rect">
              <a:avLst/>
            </a:prstGeom>
          </p:spPr>
        </p:pic>
      </p:grpSp>
      <p:sp>
        <p:nvSpPr>
          <p:cNvPr id="6" name="object 6"/>
          <p:cNvSpPr txBox="1"/>
          <p:nvPr/>
        </p:nvSpPr>
        <p:spPr>
          <a:xfrm>
            <a:off x="629412" y="766775"/>
            <a:ext cx="7830820" cy="1426210"/>
          </a:xfrm>
          <a:prstGeom prst="rect">
            <a:avLst/>
          </a:prstGeom>
        </p:spPr>
        <p:txBody>
          <a:bodyPr vert="horz" wrap="square" lIns="0" tIns="133985" rIns="0" bIns="0" rtlCol="0">
            <a:spAutoFit/>
          </a:bodyPr>
          <a:lstStyle/>
          <a:p>
            <a:pPr marL="12700" algn="just">
              <a:lnSpc>
                <a:spcPct val="100000"/>
              </a:lnSpc>
              <a:spcBef>
                <a:spcPts val="1055"/>
              </a:spcBef>
            </a:pPr>
            <a:r>
              <a:rPr sz="2000" spc="55" dirty="0">
                <a:latin typeface="Times New Roman"/>
                <a:cs typeface="Times New Roman"/>
              </a:rPr>
              <a:t>It</a:t>
            </a:r>
            <a:r>
              <a:rPr sz="2000" spc="-80" dirty="0">
                <a:latin typeface="Times New Roman"/>
                <a:cs typeface="Times New Roman"/>
              </a:rPr>
              <a:t> </a:t>
            </a:r>
            <a:r>
              <a:rPr sz="2000" spc="55" dirty="0">
                <a:latin typeface="Times New Roman"/>
                <a:cs typeface="Times New Roman"/>
              </a:rPr>
              <a:t>consists</a:t>
            </a:r>
            <a:r>
              <a:rPr sz="2000" spc="-70" dirty="0">
                <a:latin typeface="Times New Roman"/>
                <a:cs typeface="Times New Roman"/>
              </a:rPr>
              <a:t> </a:t>
            </a:r>
            <a:r>
              <a:rPr sz="2000" spc="55" dirty="0">
                <a:latin typeface="Times New Roman"/>
                <a:cs typeface="Times New Roman"/>
              </a:rPr>
              <a:t>of</a:t>
            </a:r>
            <a:r>
              <a:rPr sz="2000" spc="-75" dirty="0">
                <a:latin typeface="Times New Roman"/>
                <a:cs typeface="Times New Roman"/>
              </a:rPr>
              <a:t> </a:t>
            </a:r>
            <a:r>
              <a:rPr sz="2000" spc="30" dirty="0">
                <a:latin typeface="Times New Roman"/>
                <a:cs typeface="Times New Roman"/>
              </a:rPr>
              <a:t>a</a:t>
            </a:r>
            <a:r>
              <a:rPr sz="2000" spc="-75" dirty="0">
                <a:latin typeface="Times New Roman"/>
                <a:cs typeface="Times New Roman"/>
              </a:rPr>
              <a:t> </a:t>
            </a:r>
            <a:r>
              <a:rPr sz="2000" spc="55" dirty="0">
                <a:latin typeface="Times New Roman"/>
                <a:cs typeface="Times New Roman"/>
              </a:rPr>
              <a:t>set</a:t>
            </a:r>
            <a:r>
              <a:rPr sz="2000" spc="-65" dirty="0">
                <a:latin typeface="Times New Roman"/>
                <a:cs typeface="Times New Roman"/>
              </a:rPr>
              <a:t> </a:t>
            </a:r>
            <a:r>
              <a:rPr sz="2000" spc="55" dirty="0">
                <a:latin typeface="Times New Roman"/>
                <a:cs typeface="Times New Roman"/>
              </a:rPr>
              <a:t>of</a:t>
            </a:r>
            <a:r>
              <a:rPr sz="2000" spc="-75" dirty="0">
                <a:latin typeface="Times New Roman"/>
                <a:cs typeface="Times New Roman"/>
              </a:rPr>
              <a:t> </a:t>
            </a:r>
            <a:r>
              <a:rPr sz="2000" spc="75" dirty="0">
                <a:latin typeface="Times New Roman"/>
                <a:cs typeface="Times New Roman"/>
              </a:rPr>
              <a:t>operators</a:t>
            </a:r>
            <a:endParaRPr sz="2000">
              <a:latin typeface="Times New Roman"/>
              <a:cs typeface="Times New Roman"/>
            </a:endParaRPr>
          </a:p>
          <a:p>
            <a:pPr marL="95250" marR="5080" algn="just">
              <a:lnSpc>
                <a:spcPct val="90000"/>
              </a:lnSpc>
              <a:spcBef>
                <a:spcPts val="1190"/>
              </a:spcBef>
            </a:pPr>
            <a:r>
              <a:rPr sz="2000" spc="80" dirty="0">
                <a:solidFill>
                  <a:srgbClr val="FFFFFF"/>
                </a:solidFill>
                <a:latin typeface="Times New Roman"/>
                <a:cs typeface="Times New Roman"/>
              </a:rPr>
              <a:t>SELECT </a:t>
            </a:r>
            <a:r>
              <a:rPr sz="2000" spc="90" dirty="0">
                <a:solidFill>
                  <a:srgbClr val="FFFFFF"/>
                </a:solidFill>
                <a:latin typeface="Times New Roman"/>
                <a:cs typeface="Times New Roman"/>
              </a:rPr>
              <a:t>Operator: </a:t>
            </a:r>
            <a:r>
              <a:rPr sz="2000" spc="130" dirty="0">
                <a:solidFill>
                  <a:srgbClr val="FFFFFF"/>
                </a:solidFill>
                <a:latin typeface="Times New Roman"/>
                <a:cs typeface="Times New Roman"/>
              </a:rPr>
              <a:t>The </a:t>
            </a:r>
            <a:r>
              <a:rPr sz="2000" spc="80" dirty="0">
                <a:solidFill>
                  <a:srgbClr val="FFFFFF"/>
                </a:solidFill>
                <a:latin typeface="Times New Roman"/>
                <a:cs typeface="Times New Roman"/>
              </a:rPr>
              <a:t>SELECT operator </a:t>
            </a:r>
            <a:r>
              <a:rPr sz="2000" spc="5" dirty="0">
                <a:solidFill>
                  <a:srgbClr val="FFFFFF"/>
                </a:solidFill>
                <a:latin typeface="Times New Roman"/>
                <a:cs typeface="Times New Roman"/>
              </a:rPr>
              <a:t>is </a:t>
            </a:r>
            <a:r>
              <a:rPr sz="2000" spc="80" dirty="0">
                <a:solidFill>
                  <a:srgbClr val="FFFFFF"/>
                </a:solidFill>
                <a:latin typeface="Times New Roman"/>
                <a:cs typeface="Times New Roman"/>
              </a:rPr>
              <a:t>used </a:t>
            </a:r>
            <a:r>
              <a:rPr sz="2000" spc="110" dirty="0">
                <a:solidFill>
                  <a:srgbClr val="FFFFFF"/>
                </a:solidFill>
                <a:latin typeface="Times New Roman"/>
                <a:cs typeface="Times New Roman"/>
              </a:rPr>
              <a:t>to </a:t>
            </a:r>
            <a:r>
              <a:rPr sz="2000" spc="75" dirty="0">
                <a:solidFill>
                  <a:srgbClr val="FFFFFF"/>
                </a:solidFill>
                <a:latin typeface="Times New Roman"/>
                <a:cs typeface="Times New Roman"/>
              </a:rPr>
              <a:t>extract </a:t>
            </a:r>
            <a:r>
              <a:rPr sz="2000" spc="80" dirty="0">
                <a:solidFill>
                  <a:srgbClr val="FFFFFF"/>
                </a:solidFill>
                <a:latin typeface="Times New Roman"/>
                <a:cs typeface="Times New Roman"/>
              </a:rPr>
              <a:t>data</a:t>
            </a:r>
            <a:r>
              <a:rPr sz="2000" spc="-180" dirty="0">
                <a:solidFill>
                  <a:srgbClr val="FFFFFF"/>
                </a:solidFill>
                <a:latin typeface="Times New Roman"/>
                <a:cs typeface="Times New Roman"/>
              </a:rPr>
              <a:t> </a:t>
            </a:r>
            <a:r>
              <a:rPr sz="2000" spc="114" dirty="0">
                <a:solidFill>
                  <a:srgbClr val="FFFFFF"/>
                </a:solidFill>
                <a:latin typeface="Times New Roman"/>
                <a:cs typeface="Times New Roman"/>
              </a:rPr>
              <a:t>that  </a:t>
            </a:r>
            <a:r>
              <a:rPr sz="2000" spc="30" dirty="0">
                <a:solidFill>
                  <a:srgbClr val="FFFFFF"/>
                </a:solidFill>
                <a:latin typeface="Times New Roman"/>
                <a:cs typeface="Times New Roman"/>
              </a:rPr>
              <a:t>satisfies a </a:t>
            </a:r>
            <a:r>
              <a:rPr sz="2000" spc="50" dirty="0">
                <a:solidFill>
                  <a:srgbClr val="FFFFFF"/>
                </a:solidFill>
                <a:latin typeface="Times New Roman"/>
                <a:cs typeface="Times New Roman"/>
              </a:rPr>
              <a:t>given </a:t>
            </a:r>
            <a:r>
              <a:rPr sz="2000" spc="85" dirty="0">
                <a:solidFill>
                  <a:srgbClr val="FFFFFF"/>
                </a:solidFill>
                <a:latin typeface="Times New Roman"/>
                <a:cs typeface="Times New Roman"/>
              </a:rPr>
              <a:t>condition. </a:t>
            </a:r>
            <a:r>
              <a:rPr sz="2000" spc="130" dirty="0">
                <a:solidFill>
                  <a:srgbClr val="FFFFFF"/>
                </a:solidFill>
                <a:latin typeface="Times New Roman"/>
                <a:cs typeface="Times New Roman"/>
              </a:rPr>
              <a:t>The </a:t>
            </a:r>
            <a:r>
              <a:rPr sz="2000" spc="40" dirty="0">
                <a:solidFill>
                  <a:srgbClr val="FFFFFF"/>
                </a:solidFill>
                <a:latin typeface="Times New Roman"/>
                <a:cs typeface="Times New Roman"/>
              </a:rPr>
              <a:t>lowercase </a:t>
            </a:r>
            <a:r>
              <a:rPr sz="2000" spc="90" dirty="0">
                <a:solidFill>
                  <a:srgbClr val="FFFFFF"/>
                </a:solidFill>
                <a:latin typeface="Times New Roman"/>
                <a:cs typeface="Times New Roman"/>
              </a:rPr>
              <a:t>Greek </a:t>
            </a:r>
            <a:r>
              <a:rPr sz="2000" spc="70" dirty="0">
                <a:solidFill>
                  <a:srgbClr val="FFFFFF"/>
                </a:solidFill>
                <a:latin typeface="Times New Roman"/>
                <a:cs typeface="Times New Roman"/>
              </a:rPr>
              <a:t>letter </a:t>
            </a:r>
            <a:r>
              <a:rPr sz="2000" spc="20" dirty="0">
                <a:solidFill>
                  <a:srgbClr val="FFFFFF"/>
                </a:solidFill>
                <a:latin typeface="Times New Roman"/>
                <a:cs typeface="Times New Roman"/>
              </a:rPr>
              <a:t>sigma, </a:t>
            </a:r>
            <a:r>
              <a:rPr sz="2000" spc="80" dirty="0">
                <a:solidFill>
                  <a:srgbClr val="FFFFFF"/>
                </a:solidFill>
                <a:latin typeface="Times New Roman"/>
                <a:cs typeface="Times New Roman"/>
              </a:rPr>
              <a:t>'</a:t>
            </a:r>
            <a:r>
              <a:rPr sz="2000" spc="80" dirty="0">
                <a:solidFill>
                  <a:srgbClr val="FFFFFF"/>
                </a:solidFill>
                <a:latin typeface="Cambria"/>
                <a:cs typeface="Cambria"/>
              </a:rPr>
              <a:t>σ</a:t>
            </a:r>
            <a:r>
              <a:rPr sz="2000" spc="80" dirty="0">
                <a:solidFill>
                  <a:srgbClr val="FFFFFF"/>
                </a:solidFill>
                <a:latin typeface="Times New Roman"/>
                <a:cs typeface="Times New Roman"/>
              </a:rPr>
              <a:t>', </a:t>
            </a:r>
            <a:r>
              <a:rPr sz="2000" spc="5" dirty="0">
                <a:solidFill>
                  <a:srgbClr val="FFFFFF"/>
                </a:solidFill>
                <a:latin typeface="Times New Roman"/>
                <a:cs typeface="Times New Roman"/>
              </a:rPr>
              <a:t>is  </a:t>
            </a:r>
            <a:r>
              <a:rPr sz="2000" spc="80" dirty="0">
                <a:solidFill>
                  <a:srgbClr val="FFFFFF"/>
                </a:solidFill>
                <a:latin typeface="Times New Roman"/>
                <a:cs typeface="Times New Roman"/>
              </a:rPr>
              <a:t>used</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70" dirty="0">
                <a:solidFill>
                  <a:srgbClr val="FFFFFF"/>
                </a:solidFill>
                <a:latin typeface="Times New Roman"/>
                <a:cs typeface="Times New Roman"/>
              </a:rPr>
              <a:t> </a:t>
            </a:r>
            <a:r>
              <a:rPr sz="2000" spc="100" dirty="0">
                <a:solidFill>
                  <a:srgbClr val="FFFFFF"/>
                </a:solidFill>
                <a:latin typeface="Times New Roman"/>
                <a:cs typeface="Times New Roman"/>
              </a:rPr>
              <a:t>denote</a:t>
            </a:r>
            <a:r>
              <a:rPr sz="2000" spc="-50" dirty="0">
                <a:solidFill>
                  <a:srgbClr val="FFFFFF"/>
                </a:solidFill>
                <a:latin typeface="Times New Roman"/>
                <a:cs typeface="Times New Roman"/>
              </a:rPr>
              <a:t> </a:t>
            </a:r>
            <a:r>
              <a:rPr sz="2000" spc="55" dirty="0">
                <a:solidFill>
                  <a:srgbClr val="FFFFFF"/>
                </a:solidFill>
                <a:latin typeface="Times New Roman"/>
                <a:cs typeface="Times New Roman"/>
              </a:rPr>
              <a:t>selection</a:t>
            </a:r>
            <a:endParaRPr sz="2000">
              <a:latin typeface="Times New Roman"/>
              <a:cs typeface="Times New Roman"/>
            </a:endParaRPr>
          </a:p>
        </p:txBody>
      </p:sp>
      <p:pic>
        <p:nvPicPr>
          <p:cNvPr id="7" name="object 7"/>
          <p:cNvPicPr/>
          <p:nvPr/>
        </p:nvPicPr>
        <p:blipFill>
          <a:blip r:embed="rId5" cstate="print"/>
          <a:stretch>
            <a:fillRect/>
          </a:stretch>
        </p:blipFill>
        <p:spPr>
          <a:xfrm>
            <a:off x="2431542" y="2416301"/>
            <a:ext cx="4310633" cy="605027"/>
          </a:xfrm>
          <a:prstGeom prst="rect">
            <a:avLst/>
          </a:prstGeom>
        </p:spPr>
      </p:pic>
      <p:grpSp>
        <p:nvGrpSpPr>
          <p:cNvPr id="8" name="object 8"/>
          <p:cNvGrpSpPr/>
          <p:nvPr/>
        </p:nvGrpSpPr>
        <p:grpSpPr>
          <a:xfrm>
            <a:off x="539495" y="3182111"/>
            <a:ext cx="8329930" cy="1441450"/>
            <a:chOff x="539495" y="3182111"/>
            <a:chExt cx="8329930" cy="1441450"/>
          </a:xfrm>
        </p:grpSpPr>
        <p:pic>
          <p:nvPicPr>
            <p:cNvPr id="9" name="object 9"/>
            <p:cNvPicPr/>
            <p:nvPr/>
          </p:nvPicPr>
          <p:blipFill>
            <a:blip r:embed="rId6" cstate="print"/>
            <a:stretch>
              <a:fillRect/>
            </a:stretch>
          </p:blipFill>
          <p:spPr>
            <a:xfrm>
              <a:off x="539495" y="3182111"/>
              <a:ext cx="8329422" cy="1440942"/>
            </a:xfrm>
            <a:prstGeom prst="rect">
              <a:avLst/>
            </a:prstGeom>
          </p:spPr>
        </p:pic>
        <p:pic>
          <p:nvPicPr>
            <p:cNvPr id="10" name="object 10"/>
            <p:cNvPicPr/>
            <p:nvPr/>
          </p:nvPicPr>
          <p:blipFill>
            <a:blip r:embed="rId7" cstate="print"/>
            <a:stretch>
              <a:fillRect/>
            </a:stretch>
          </p:blipFill>
          <p:spPr>
            <a:xfrm>
              <a:off x="580643" y="3200399"/>
              <a:ext cx="8253983" cy="1365504"/>
            </a:xfrm>
            <a:prstGeom prst="rect">
              <a:avLst/>
            </a:prstGeom>
          </p:spPr>
        </p:pic>
      </p:grpSp>
      <p:sp>
        <p:nvSpPr>
          <p:cNvPr id="11" name="object 11"/>
          <p:cNvSpPr txBox="1"/>
          <p:nvPr/>
        </p:nvSpPr>
        <p:spPr>
          <a:xfrm>
            <a:off x="714501" y="3228848"/>
            <a:ext cx="7986395" cy="1153160"/>
          </a:xfrm>
          <a:prstGeom prst="rect">
            <a:avLst/>
          </a:prstGeom>
        </p:spPr>
        <p:txBody>
          <a:bodyPr vert="horz" wrap="square" lIns="0" tIns="46990" rIns="0" bIns="0" rtlCol="0">
            <a:spAutoFit/>
          </a:bodyPr>
          <a:lstStyle/>
          <a:p>
            <a:pPr marL="12700" marR="5080" algn="just">
              <a:lnSpc>
                <a:spcPts val="2160"/>
              </a:lnSpc>
              <a:spcBef>
                <a:spcPts val="370"/>
              </a:spcBef>
            </a:pPr>
            <a:r>
              <a:rPr sz="2000" spc="85" dirty="0">
                <a:solidFill>
                  <a:srgbClr val="FFFFFF"/>
                </a:solidFill>
                <a:latin typeface="Times New Roman"/>
                <a:cs typeface="Times New Roman"/>
              </a:rPr>
              <a:t>PROJECT Operator: </a:t>
            </a:r>
            <a:r>
              <a:rPr sz="2000" spc="130" dirty="0">
                <a:solidFill>
                  <a:srgbClr val="FFFFFF"/>
                </a:solidFill>
                <a:latin typeface="Times New Roman"/>
                <a:cs typeface="Times New Roman"/>
              </a:rPr>
              <a:t>The </a:t>
            </a:r>
            <a:r>
              <a:rPr sz="2000" spc="85" dirty="0">
                <a:solidFill>
                  <a:srgbClr val="FFFFFF"/>
                </a:solidFill>
                <a:latin typeface="Times New Roman"/>
                <a:cs typeface="Times New Roman"/>
              </a:rPr>
              <a:t>PROJECT </a:t>
            </a:r>
            <a:r>
              <a:rPr sz="2000" spc="80" dirty="0">
                <a:solidFill>
                  <a:srgbClr val="FFFFFF"/>
                </a:solidFill>
                <a:latin typeface="Times New Roman"/>
                <a:cs typeface="Times New Roman"/>
              </a:rPr>
              <a:t>operator </a:t>
            </a:r>
            <a:r>
              <a:rPr sz="2000" spc="5" dirty="0">
                <a:solidFill>
                  <a:srgbClr val="FFFFFF"/>
                </a:solidFill>
                <a:latin typeface="Times New Roman"/>
                <a:cs typeface="Times New Roman"/>
              </a:rPr>
              <a:t>is </a:t>
            </a:r>
            <a:r>
              <a:rPr sz="2000" spc="80" dirty="0">
                <a:solidFill>
                  <a:srgbClr val="FFFFFF"/>
                </a:solidFill>
                <a:latin typeface="Times New Roman"/>
                <a:cs typeface="Times New Roman"/>
              </a:rPr>
              <a:t>used </a:t>
            </a:r>
            <a:r>
              <a:rPr sz="2000" spc="110" dirty="0">
                <a:solidFill>
                  <a:srgbClr val="FFFFFF"/>
                </a:solidFill>
                <a:latin typeface="Times New Roman"/>
                <a:cs typeface="Times New Roman"/>
              </a:rPr>
              <a:t>to </a:t>
            </a:r>
            <a:r>
              <a:rPr sz="2000" spc="65" dirty="0">
                <a:solidFill>
                  <a:srgbClr val="FFFFFF"/>
                </a:solidFill>
                <a:latin typeface="Times New Roman"/>
                <a:cs typeface="Times New Roman"/>
              </a:rPr>
              <a:t>project </a:t>
            </a:r>
            <a:r>
              <a:rPr sz="2000" spc="70" dirty="0">
                <a:solidFill>
                  <a:srgbClr val="FFFFFF"/>
                </a:solidFill>
                <a:latin typeface="Times New Roman"/>
                <a:cs typeface="Times New Roman"/>
              </a:rPr>
              <a:t>certain  </a:t>
            </a:r>
            <a:r>
              <a:rPr sz="2000" spc="50" dirty="0">
                <a:solidFill>
                  <a:srgbClr val="FFFFFF"/>
                </a:solidFill>
                <a:latin typeface="Times New Roman"/>
                <a:cs typeface="Times New Roman"/>
              </a:rPr>
              <a:t>details </a:t>
            </a:r>
            <a:r>
              <a:rPr sz="2000" spc="55" dirty="0">
                <a:solidFill>
                  <a:srgbClr val="FFFFFF"/>
                </a:solidFill>
                <a:latin typeface="Times New Roman"/>
                <a:cs typeface="Times New Roman"/>
              </a:rPr>
              <a:t>of </a:t>
            </a:r>
            <a:r>
              <a:rPr sz="2000" spc="30" dirty="0">
                <a:solidFill>
                  <a:srgbClr val="FFFFFF"/>
                </a:solidFill>
                <a:latin typeface="Times New Roman"/>
                <a:cs typeface="Times New Roman"/>
              </a:rPr>
              <a:t>a </a:t>
            </a:r>
            <a:r>
              <a:rPr sz="2000" spc="60" dirty="0">
                <a:solidFill>
                  <a:srgbClr val="FFFFFF"/>
                </a:solidFill>
                <a:latin typeface="Times New Roman"/>
                <a:cs typeface="Times New Roman"/>
              </a:rPr>
              <a:t>relational </a:t>
            </a:r>
            <a:r>
              <a:rPr sz="2000" spc="50" dirty="0">
                <a:solidFill>
                  <a:srgbClr val="FFFFFF"/>
                </a:solidFill>
                <a:latin typeface="Times New Roman"/>
                <a:cs typeface="Times New Roman"/>
              </a:rPr>
              <a:t>table. </a:t>
            </a:r>
            <a:r>
              <a:rPr sz="2000" spc="130" dirty="0">
                <a:solidFill>
                  <a:srgbClr val="FFFFFF"/>
                </a:solidFill>
                <a:latin typeface="Times New Roman"/>
                <a:cs typeface="Times New Roman"/>
              </a:rPr>
              <a:t>The </a:t>
            </a:r>
            <a:r>
              <a:rPr sz="2000" spc="85" dirty="0">
                <a:solidFill>
                  <a:srgbClr val="FFFFFF"/>
                </a:solidFill>
                <a:latin typeface="Times New Roman"/>
                <a:cs typeface="Times New Roman"/>
              </a:rPr>
              <a:t>PROJECT operator </a:t>
            </a:r>
            <a:r>
              <a:rPr sz="2000" spc="70" dirty="0">
                <a:solidFill>
                  <a:srgbClr val="FFFFFF"/>
                </a:solidFill>
                <a:latin typeface="Times New Roman"/>
                <a:cs typeface="Times New Roman"/>
              </a:rPr>
              <a:t>only </a:t>
            </a:r>
            <a:r>
              <a:rPr sz="2000" spc="35" dirty="0">
                <a:solidFill>
                  <a:srgbClr val="FFFFFF"/>
                </a:solidFill>
                <a:latin typeface="Times New Roman"/>
                <a:cs typeface="Times New Roman"/>
              </a:rPr>
              <a:t>displays </a:t>
            </a:r>
            <a:r>
              <a:rPr sz="2000" spc="110" dirty="0">
                <a:solidFill>
                  <a:srgbClr val="FFFFFF"/>
                </a:solidFill>
                <a:latin typeface="Times New Roman"/>
                <a:cs typeface="Times New Roman"/>
              </a:rPr>
              <a:t>the </a:t>
            </a:r>
            <a:r>
              <a:rPr sz="2000" spc="720" dirty="0">
                <a:solidFill>
                  <a:srgbClr val="FFFFFF"/>
                </a:solidFill>
                <a:latin typeface="Times New Roman"/>
                <a:cs typeface="Times New Roman"/>
              </a:rPr>
              <a:t> </a:t>
            </a:r>
            <a:r>
              <a:rPr sz="2000" spc="80" dirty="0">
                <a:solidFill>
                  <a:srgbClr val="FFFFFF"/>
                </a:solidFill>
                <a:latin typeface="Times New Roman"/>
                <a:cs typeface="Times New Roman"/>
              </a:rPr>
              <a:t>required </a:t>
            </a:r>
            <a:r>
              <a:rPr sz="2000" spc="50" dirty="0">
                <a:solidFill>
                  <a:srgbClr val="FFFFFF"/>
                </a:solidFill>
                <a:latin typeface="Times New Roman"/>
                <a:cs typeface="Times New Roman"/>
              </a:rPr>
              <a:t>details </a:t>
            </a:r>
            <a:r>
              <a:rPr sz="2000" spc="40" dirty="0">
                <a:solidFill>
                  <a:srgbClr val="FFFFFF"/>
                </a:solidFill>
                <a:latin typeface="Times New Roman"/>
                <a:cs typeface="Times New Roman"/>
              </a:rPr>
              <a:t>leaving </a:t>
            </a:r>
            <a:r>
              <a:rPr sz="2000" spc="120" dirty="0">
                <a:solidFill>
                  <a:srgbClr val="FFFFFF"/>
                </a:solidFill>
                <a:latin typeface="Times New Roman"/>
                <a:cs typeface="Times New Roman"/>
              </a:rPr>
              <a:t>out </a:t>
            </a:r>
            <a:r>
              <a:rPr sz="2000" spc="70" dirty="0">
                <a:solidFill>
                  <a:srgbClr val="FFFFFF"/>
                </a:solidFill>
                <a:latin typeface="Times New Roman"/>
                <a:cs typeface="Times New Roman"/>
              </a:rPr>
              <a:t>certain </a:t>
            </a:r>
            <a:r>
              <a:rPr sz="2000" spc="65" dirty="0">
                <a:solidFill>
                  <a:srgbClr val="FFFFFF"/>
                </a:solidFill>
                <a:latin typeface="Times New Roman"/>
                <a:cs typeface="Times New Roman"/>
              </a:rPr>
              <a:t>columns. </a:t>
            </a:r>
            <a:r>
              <a:rPr sz="2000" spc="130" dirty="0">
                <a:solidFill>
                  <a:srgbClr val="FFFFFF"/>
                </a:solidFill>
                <a:latin typeface="Times New Roman"/>
                <a:cs typeface="Times New Roman"/>
              </a:rPr>
              <a:t>The </a:t>
            </a:r>
            <a:r>
              <a:rPr sz="2000" spc="85" dirty="0">
                <a:solidFill>
                  <a:srgbClr val="FFFFFF"/>
                </a:solidFill>
                <a:latin typeface="Times New Roman"/>
                <a:cs typeface="Times New Roman"/>
              </a:rPr>
              <a:t>PROJECT </a:t>
            </a:r>
            <a:r>
              <a:rPr sz="2000" spc="80" dirty="0">
                <a:solidFill>
                  <a:srgbClr val="FFFFFF"/>
                </a:solidFill>
                <a:latin typeface="Times New Roman"/>
                <a:cs typeface="Times New Roman"/>
              </a:rPr>
              <a:t>operator </a:t>
            </a:r>
            <a:r>
              <a:rPr sz="2000" dirty="0">
                <a:solidFill>
                  <a:srgbClr val="FFFFFF"/>
                </a:solidFill>
                <a:latin typeface="Times New Roman"/>
                <a:cs typeface="Times New Roman"/>
              </a:rPr>
              <a:t>is  </a:t>
            </a:r>
            <a:r>
              <a:rPr sz="2000" spc="105" dirty="0">
                <a:solidFill>
                  <a:srgbClr val="FFFFFF"/>
                </a:solidFill>
                <a:latin typeface="Times New Roman"/>
                <a:cs typeface="Times New Roman"/>
              </a:rPr>
              <a:t>denoted</a:t>
            </a:r>
            <a:r>
              <a:rPr sz="2000" spc="-60" dirty="0">
                <a:solidFill>
                  <a:srgbClr val="FFFFFF"/>
                </a:solidFill>
                <a:latin typeface="Times New Roman"/>
                <a:cs typeface="Times New Roman"/>
              </a:rPr>
              <a:t> </a:t>
            </a:r>
            <a:r>
              <a:rPr sz="2000" spc="45" dirty="0">
                <a:solidFill>
                  <a:srgbClr val="FFFFFF"/>
                </a:solidFill>
                <a:latin typeface="Times New Roman"/>
                <a:cs typeface="Times New Roman"/>
              </a:rPr>
              <a:t>by</a:t>
            </a:r>
            <a:r>
              <a:rPr sz="2000" spc="-65" dirty="0">
                <a:solidFill>
                  <a:srgbClr val="FFFFFF"/>
                </a:solidFill>
                <a:latin typeface="Times New Roman"/>
                <a:cs typeface="Times New Roman"/>
              </a:rPr>
              <a:t> </a:t>
            </a:r>
            <a:r>
              <a:rPr sz="2000" spc="114"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85" dirty="0">
                <a:solidFill>
                  <a:srgbClr val="FFFFFF"/>
                </a:solidFill>
                <a:latin typeface="Times New Roman"/>
                <a:cs typeface="Times New Roman"/>
              </a:rPr>
              <a:t>Greek</a:t>
            </a:r>
            <a:r>
              <a:rPr sz="2000" spc="-65" dirty="0">
                <a:solidFill>
                  <a:srgbClr val="FFFFFF"/>
                </a:solidFill>
                <a:latin typeface="Times New Roman"/>
                <a:cs typeface="Times New Roman"/>
              </a:rPr>
              <a:t> </a:t>
            </a:r>
            <a:r>
              <a:rPr sz="2000" spc="70" dirty="0">
                <a:solidFill>
                  <a:srgbClr val="FFFFFF"/>
                </a:solidFill>
                <a:latin typeface="Times New Roman"/>
                <a:cs typeface="Times New Roman"/>
              </a:rPr>
              <a:t>letter</a:t>
            </a:r>
            <a:r>
              <a:rPr sz="2000" spc="-55" dirty="0">
                <a:solidFill>
                  <a:srgbClr val="FFFFFF"/>
                </a:solidFill>
                <a:latin typeface="Times New Roman"/>
                <a:cs typeface="Times New Roman"/>
              </a:rPr>
              <a:t> </a:t>
            </a:r>
            <a:r>
              <a:rPr sz="2000" spc="40" dirty="0">
                <a:solidFill>
                  <a:srgbClr val="FFFFFF"/>
                </a:solidFill>
                <a:latin typeface="Times New Roman"/>
                <a:cs typeface="Times New Roman"/>
              </a:rPr>
              <a:t>pi.</a:t>
            </a:r>
            <a:endParaRPr sz="2000">
              <a:latin typeface="Times New Roman"/>
              <a:cs typeface="Times New Roman"/>
            </a:endParaRPr>
          </a:p>
        </p:txBody>
      </p:sp>
      <p:pic>
        <p:nvPicPr>
          <p:cNvPr id="12" name="object 12"/>
          <p:cNvPicPr/>
          <p:nvPr/>
        </p:nvPicPr>
        <p:blipFill>
          <a:blip r:embed="rId8" cstate="print"/>
          <a:stretch>
            <a:fillRect/>
          </a:stretch>
        </p:blipFill>
        <p:spPr>
          <a:xfrm>
            <a:off x="2236470" y="4744973"/>
            <a:ext cx="5092446" cy="1501902"/>
          </a:xfrm>
          <a:prstGeom prst="rect">
            <a:avLst/>
          </a:prstGeom>
        </p:spPr>
      </p:pic>
      <p:sp>
        <p:nvSpPr>
          <p:cNvPr id="14" name="object 14"/>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19</a:t>
            </a:fld>
            <a:endParaRPr sz="1200"/>
          </a:p>
        </p:txBody>
      </p:sp>
      <p:sp>
        <p:nvSpPr>
          <p:cNvPr id="15" name="object 15"/>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026660" cy="574040"/>
          </a:xfrm>
          <a:prstGeom prst="rect">
            <a:avLst/>
          </a:prstGeom>
        </p:spPr>
        <p:txBody>
          <a:bodyPr vert="horz" wrap="square" lIns="0" tIns="12700" rIns="0" bIns="0" rtlCol="0">
            <a:spAutoFit/>
          </a:bodyPr>
          <a:lstStyle/>
          <a:p>
            <a:pPr marL="12700">
              <a:lnSpc>
                <a:spcPct val="100000"/>
              </a:lnSpc>
              <a:spcBef>
                <a:spcPts val="100"/>
              </a:spcBef>
            </a:pPr>
            <a:r>
              <a:rPr sz="3600" spc="110" dirty="0"/>
              <a:t>Relational </a:t>
            </a:r>
            <a:r>
              <a:rPr sz="3600" spc="165" dirty="0"/>
              <a:t>Operators</a:t>
            </a:r>
            <a:r>
              <a:rPr sz="3600" spc="-390" dirty="0"/>
              <a:t> </a:t>
            </a:r>
            <a:r>
              <a:rPr sz="3600" spc="-114" dirty="0"/>
              <a:t>3-6</a:t>
            </a:r>
            <a:endParaRPr sz="3600"/>
          </a:p>
        </p:txBody>
      </p:sp>
      <p:grpSp>
        <p:nvGrpSpPr>
          <p:cNvPr id="3" name="object 3"/>
          <p:cNvGrpSpPr/>
          <p:nvPr/>
        </p:nvGrpSpPr>
        <p:grpSpPr>
          <a:xfrm>
            <a:off x="327659" y="765060"/>
            <a:ext cx="8329930" cy="969010"/>
            <a:chOff x="327659" y="765060"/>
            <a:chExt cx="8329930" cy="969010"/>
          </a:xfrm>
        </p:grpSpPr>
        <p:pic>
          <p:nvPicPr>
            <p:cNvPr id="4" name="object 4"/>
            <p:cNvPicPr/>
            <p:nvPr/>
          </p:nvPicPr>
          <p:blipFill>
            <a:blip r:embed="rId3" cstate="print"/>
            <a:stretch>
              <a:fillRect/>
            </a:stretch>
          </p:blipFill>
          <p:spPr>
            <a:xfrm>
              <a:off x="327659" y="765060"/>
              <a:ext cx="8329422" cy="968489"/>
            </a:xfrm>
            <a:prstGeom prst="rect">
              <a:avLst/>
            </a:prstGeom>
          </p:spPr>
        </p:pic>
        <p:pic>
          <p:nvPicPr>
            <p:cNvPr id="5" name="object 5"/>
            <p:cNvPicPr/>
            <p:nvPr/>
          </p:nvPicPr>
          <p:blipFill>
            <a:blip r:embed="rId4" cstate="print"/>
            <a:stretch>
              <a:fillRect/>
            </a:stretch>
          </p:blipFill>
          <p:spPr>
            <a:xfrm>
              <a:off x="368807" y="783336"/>
              <a:ext cx="8253983" cy="893064"/>
            </a:xfrm>
            <a:prstGeom prst="rect">
              <a:avLst/>
            </a:prstGeom>
          </p:spPr>
        </p:pic>
      </p:grpSp>
      <p:sp>
        <p:nvSpPr>
          <p:cNvPr id="6" name="object 6"/>
          <p:cNvSpPr txBox="1"/>
          <p:nvPr/>
        </p:nvSpPr>
        <p:spPr>
          <a:xfrm>
            <a:off x="510540" y="869695"/>
            <a:ext cx="7985125" cy="604520"/>
          </a:xfrm>
          <a:prstGeom prst="rect">
            <a:avLst/>
          </a:prstGeom>
        </p:spPr>
        <p:txBody>
          <a:bodyPr vert="horz" wrap="square" lIns="0" tIns="46990" rIns="0" bIns="0" rtlCol="0">
            <a:spAutoFit/>
          </a:bodyPr>
          <a:lstStyle/>
          <a:p>
            <a:pPr marL="12700" marR="5080">
              <a:lnSpc>
                <a:spcPts val="2160"/>
              </a:lnSpc>
              <a:spcBef>
                <a:spcPts val="370"/>
              </a:spcBef>
            </a:pPr>
            <a:r>
              <a:rPr sz="2000" spc="165" dirty="0">
                <a:solidFill>
                  <a:srgbClr val="FFFFFF"/>
                </a:solidFill>
                <a:latin typeface="Times New Roman"/>
                <a:cs typeface="Times New Roman"/>
              </a:rPr>
              <a:t>PRODUCT </a:t>
            </a:r>
            <a:r>
              <a:rPr sz="2000" spc="90" dirty="0">
                <a:solidFill>
                  <a:srgbClr val="FFFFFF"/>
                </a:solidFill>
                <a:latin typeface="Times New Roman"/>
                <a:cs typeface="Times New Roman"/>
              </a:rPr>
              <a:t>Operator: </a:t>
            </a:r>
            <a:r>
              <a:rPr sz="2000" spc="130" dirty="0">
                <a:solidFill>
                  <a:srgbClr val="FFFFFF"/>
                </a:solidFill>
                <a:latin typeface="Times New Roman"/>
                <a:cs typeface="Times New Roman"/>
              </a:rPr>
              <a:t>The </a:t>
            </a:r>
            <a:r>
              <a:rPr sz="2000" spc="165" dirty="0">
                <a:solidFill>
                  <a:srgbClr val="FFFFFF"/>
                </a:solidFill>
                <a:latin typeface="Times New Roman"/>
                <a:cs typeface="Times New Roman"/>
              </a:rPr>
              <a:t>PRODUCT </a:t>
            </a:r>
            <a:r>
              <a:rPr sz="2000" spc="75" dirty="0">
                <a:solidFill>
                  <a:srgbClr val="FFFFFF"/>
                </a:solidFill>
                <a:latin typeface="Times New Roman"/>
                <a:cs typeface="Times New Roman"/>
              </a:rPr>
              <a:t>operator, </a:t>
            </a:r>
            <a:r>
              <a:rPr sz="2000" spc="105" dirty="0">
                <a:solidFill>
                  <a:srgbClr val="FFFFFF"/>
                </a:solidFill>
                <a:latin typeface="Times New Roman"/>
                <a:cs typeface="Times New Roman"/>
              </a:rPr>
              <a:t>denoted </a:t>
            </a:r>
            <a:r>
              <a:rPr sz="2000" spc="40" dirty="0">
                <a:solidFill>
                  <a:srgbClr val="FFFFFF"/>
                </a:solidFill>
                <a:latin typeface="Times New Roman"/>
                <a:cs typeface="Times New Roman"/>
              </a:rPr>
              <a:t>by </a:t>
            </a:r>
            <a:r>
              <a:rPr sz="2000" spc="140" dirty="0">
                <a:solidFill>
                  <a:srgbClr val="FFFFFF"/>
                </a:solidFill>
                <a:latin typeface="Times New Roman"/>
                <a:cs typeface="Times New Roman"/>
              </a:rPr>
              <a:t>'x' </a:t>
            </a:r>
            <a:r>
              <a:rPr sz="2000" spc="65" dirty="0">
                <a:solidFill>
                  <a:srgbClr val="FFFFFF"/>
                </a:solidFill>
                <a:latin typeface="Times New Roman"/>
                <a:cs typeface="Times New Roman"/>
              </a:rPr>
              <a:t>helps  </a:t>
            </a:r>
            <a:r>
              <a:rPr sz="2000" spc="75" dirty="0">
                <a:solidFill>
                  <a:srgbClr val="FFFFFF"/>
                </a:solidFill>
                <a:latin typeface="Times New Roman"/>
                <a:cs typeface="Times New Roman"/>
              </a:rPr>
              <a:t>combine</a:t>
            </a:r>
            <a:r>
              <a:rPr sz="2000" spc="-65" dirty="0">
                <a:solidFill>
                  <a:srgbClr val="FFFFFF"/>
                </a:solidFill>
                <a:latin typeface="Times New Roman"/>
                <a:cs typeface="Times New Roman"/>
              </a:rPr>
              <a:t> </a:t>
            </a:r>
            <a:r>
              <a:rPr sz="2000" spc="85" dirty="0">
                <a:solidFill>
                  <a:srgbClr val="FFFFFF"/>
                </a:solidFill>
                <a:latin typeface="Times New Roman"/>
                <a:cs typeface="Times New Roman"/>
              </a:rPr>
              <a:t>information</a:t>
            </a:r>
            <a:r>
              <a:rPr sz="2000" spc="-55" dirty="0">
                <a:solidFill>
                  <a:srgbClr val="FFFFFF"/>
                </a:solidFill>
                <a:latin typeface="Times New Roman"/>
                <a:cs typeface="Times New Roman"/>
              </a:rPr>
              <a:t> </a:t>
            </a:r>
            <a:r>
              <a:rPr sz="2000" spc="70" dirty="0">
                <a:solidFill>
                  <a:srgbClr val="FFFFFF"/>
                </a:solidFill>
                <a:latin typeface="Times New Roman"/>
                <a:cs typeface="Times New Roman"/>
              </a:rPr>
              <a:t>from</a:t>
            </a:r>
            <a:r>
              <a:rPr sz="2000" spc="-80" dirty="0">
                <a:solidFill>
                  <a:srgbClr val="FFFFFF"/>
                </a:solidFill>
                <a:latin typeface="Times New Roman"/>
                <a:cs typeface="Times New Roman"/>
              </a:rPr>
              <a:t> </a:t>
            </a:r>
            <a:r>
              <a:rPr sz="2000" spc="90" dirty="0">
                <a:solidFill>
                  <a:srgbClr val="FFFFFF"/>
                </a:solidFill>
                <a:latin typeface="Times New Roman"/>
                <a:cs typeface="Times New Roman"/>
              </a:rPr>
              <a:t>two</a:t>
            </a:r>
            <a:r>
              <a:rPr sz="2000" spc="-60" dirty="0">
                <a:solidFill>
                  <a:srgbClr val="FFFFFF"/>
                </a:solidFill>
                <a:latin typeface="Times New Roman"/>
                <a:cs typeface="Times New Roman"/>
              </a:rPr>
              <a:t> </a:t>
            </a:r>
            <a:r>
              <a:rPr sz="2000" spc="60" dirty="0">
                <a:solidFill>
                  <a:srgbClr val="FFFFFF"/>
                </a:solidFill>
                <a:latin typeface="Times New Roman"/>
                <a:cs typeface="Times New Roman"/>
              </a:rPr>
              <a:t>relational</a:t>
            </a:r>
            <a:r>
              <a:rPr sz="2000" spc="-40" dirty="0">
                <a:solidFill>
                  <a:srgbClr val="FFFFFF"/>
                </a:solidFill>
                <a:latin typeface="Times New Roman"/>
                <a:cs typeface="Times New Roman"/>
              </a:rPr>
              <a:t> </a:t>
            </a:r>
            <a:r>
              <a:rPr sz="2000" spc="40" dirty="0">
                <a:solidFill>
                  <a:srgbClr val="FFFFFF"/>
                </a:solidFill>
                <a:latin typeface="Times New Roman"/>
                <a:cs typeface="Times New Roman"/>
              </a:rPr>
              <a:t>tables.</a:t>
            </a:r>
            <a:endParaRPr sz="2000">
              <a:latin typeface="Times New Roman"/>
              <a:cs typeface="Times New Roman"/>
            </a:endParaRPr>
          </a:p>
        </p:txBody>
      </p:sp>
      <p:pic>
        <p:nvPicPr>
          <p:cNvPr id="7" name="object 7"/>
          <p:cNvPicPr/>
          <p:nvPr/>
        </p:nvPicPr>
        <p:blipFill>
          <a:blip r:embed="rId5" cstate="print"/>
          <a:stretch>
            <a:fillRect/>
          </a:stretch>
        </p:blipFill>
        <p:spPr>
          <a:xfrm>
            <a:off x="2250948" y="1732788"/>
            <a:ext cx="4642104" cy="707898"/>
          </a:xfrm>
          <a:prstGeom prst="rect">
            <a:avLst/>
          </a:prstGeom>
        </p:spPr>
      </p:pic>
      <p:sp>
        <p:nvSpPr>
          <p:cNvPr id="8" name="object 8"/>
          <p:cNvSpPr txBox="1"/>
          <p:nvPr/>
        </p:nvSpPr>
        <p:spPr>
          <a:xfrm>
            <a:off x="517905" y="2475484"/>
            <a:ext cx="7954645" cy="574040"/>
          </a:xfrm>
          <a:prstGeom prst="rect">
            <a:avLst/>
          </a:prstGeom>
        </p:spPr>
        <p:txBody>
          <a:bodyPr vert="horz" wrap="square" lIns="0" tIns="12700" rIns="0" bIns="0" rtlCol="0">
            <a:spAutoFit/>
          </a:bodyPr>
          <a:lstStyle/>
          <a:p>
            <a:pPr marL="12700" marR="5080">
              <a:lnSpc>
                <a:spcPct val="100000"/>
              </a:lnSpc>
              <a:spcBef>
                <a:spcPts val="100"/>
              </a:spcBef>
            </a:pPr>
            <a:r>
              <a:rPr sz="1800" spc="120" dirty="0">
                <a:latin typeface="Times New Roman"/>
                <a:cs typeface="Times New Roman"/>
              </a:rPr>
              <a:t>The </a:t>
            </a:r>
            <a:r>
              <a:rPr sz="1800" spc="90" dirty="0">
                <a:latin typeface="Times New Roman"/>
                <a:cs typeface="Times New Roman"/>
              </a:rPr>
              <a:t>product </a:t>
            </a:r>
            <a:r>
              <a:rPr sz="1800" spc="75" dirty="0">
                <a:latin typeface="Times New Roman"/>
                <a:cs typeface="Times New Roman"/>
              </a:rPr>
              <a:t>operation </a:t>
            </a:r>
            <a:r>
              <a:rPr sz="1800" spc="120" dirty="0">
                <a:latin typeface="Times New Roman"/>
                <a:cs typeface="Times New Roman"/>
              </a:rPr>
              <a:t>on </a:t>
            </a:r>
            <a:r>
              <a:rPr sz="1800" spc="105" dirty="0">
                <a:latin typeface="Times New Roman"/>
                <a:cs typeface="Times New Roman"/>
              </a:rPr>
              <a:t>the </a:t>
            </a:r>
            <a:r>
              <a:rPr sz="1800" spc="60" dirty="0">
                <a:latin typeface="Times New Roman"/>
                <a:cs typeface="Times New Roman"/>
              </a:rPr>
              <a:t>Branch </a:t>
            </a:r>
            <a:r>
              <a:rPr sz="1800" spc="45" dirty="0">
                <a:latin typeface="Times New Roman"/>
                <a:cs typeface="Times New Roman"/>
              </a:rPr>
              <a:t>Reserve </a:t>
            </a:r>
            <a:r>
              <a:rPr sz="1800" spc="40" dirty="0">
                <a:latin typeface="Times New Roman"/>
                <a:cs typeface="Times New Roman"/>
              </a:rPr>
              <a:t>Details </a:t>
            </a:r>
            <a:r>
              <a:rPr sz="1800" spc="100" dirty="0">
                <a:latin typeface="Times New Roman"/>
                <a:cs typeface="Times New Roman"/>
              </a:rPr>
              <a:t>and </a:t>
            </a:r>
            <a:r>
              <a:rPr sz="1800" spc="60" dirty="0">
                <a:latin typeface="Times New Roman"/>
                <a:cs typeface="Times New Roman"/>
              </a:rPr>
              <a:t>Branch </a:t>
            </a:r>
            <a:r>
              <a:rPr sz="1800" spc="65" dirty="0">
                <a:latin typeface="Times New Roman"/>
                <a:cs typeface="Times New Roman"/>
              </a:rPr>
              <a:t>Loan </a:t>
            </a:r>
            <a:r>
              <a:rPr sz="1800" spc="45" dirty="0">
                <a:latin typeface="Times New Roman"/>
                <a:cs typeface="Times New Roman"/>
              </a:rPr>
              <a:t>Details  tables</a:t>
            </a:r>
            <a:r>
              <a:rPr sz="1800" spc="-75" dirty="0">
                <a:latin typeface="Times New Roman"/>
                <a:cs typeface="Times New Roman"/>
              </a:rPr>
              <a:t> </a:t>
            </a:r>
            <a:r>
              <a:rPr sz="1800" spc="75" dirty="0">
                <a:latin typeface="Times New Roman"/>
                <a:cs typeface="Times New Roman"/>
              </a:rPr>
              <a:t>would</a:t>
            </a:r>
            <a:r>
              <a:rPr sz="1800" spc="-60" dirty="0">
                <a:latin typeface="Times New Roman"/>
                <a:cs typeface="Times New Roman"/>
              </a:rPr>
              <a:t> </a:t>
            </a:r>
            <a:r>
              <a:rPr sz="1800" spc="60" dirty="0">
                <a:latin typeface="Times New Roman"/>
                <a:cs typeface="Times New Roman"/>
              </a:rPr>
              <a:t>result</a:t>
            </a:r>
            <a:r>
              <a:rPr sz="1800" spc="-75" dirty="0">
                <a:latin typeface="Times New Roman"/>
                <a:cs typeface="Times New Roman"/>
              </a:rPr>
              <a:t> </a:t>
            </a:r>
            <a:r>
              <a:rPr sz="1800" spc="85" dirty="0">
                <a:latin typeface="Times New Roman"/>
                <a:cs typeface="Times New Roman"/>
              </a:rPr>
              <a:t>in</a:t>
            </a:r>
            <a:r>
              <a:rPr sz="1800" spc="-65" dirty="0">
                <a:latin typeface="Times New Roman"/>
                <a:cs typeface="Times New Roman"/>
              </a:rPr>
              <a:t> </a:t>
            </a:r>
            <a:r>
              <a:rPr sz="1800" spc="40" dirty="0">
                <a:latin typeface="Times New Roman"/>
                <a:cs typeface="Times New Roman"/>
              </a:rPr>
              <a:t>table:</a:t>
            </a:r>
            <a:endParaRPr sz="1800">
              <a:latin typeface="Times New Roman"/>
              <a:cs typeface="Times New Roman"/>
            </a:endParaRPr>
          </a:p>
        </p:txBody>
      </p:sp>
      <p:pic>
        <p:nvPicPr>
          <p:cNvPr id="9" name="object 9"/>
          <p:cNvPicPr/>
          <p:nvPr/>
        </p:nvPicPr>
        <p:blipFill>
          <a:blip r:embed="rId6" cstate="print"/>
          <a:stretch>
            <a:fillRect/>
          </a:stretch>
        </p:blipFill>
        <p:spPr>
          <a:xfrm>
            <a:off x="1772411" y="3134105"/>
            <a:ext cx="5612892" cy="2234183"/>
          </a:xfrm>
          <a:prstGeom prst="rect">
            <a:avLst/>
          </a:prstGeom>
        </p:spPr>
      </p:pic>
      <p:sp>
        <p:nvSpPr>
          <p:cNvPr id="10" name="object 10"/>
          <p:cNvSpPr txBox="1"/>
          <p:nvPr/>
        </p:nvSpPr>
        <p:spPr>
          <a:xfrm>
            <a:off x="519176" y="5356352"/>
            <a:ext cx="8340725" cy="848360"/>
          </a:xfrm>
          <a:prstGeom prst="rect">
            <a:avLst/>
          </a:prstGeom>
        </p:spPr>
        <p:txBody>
          <a:bodyPr vert="horz" wrap="square" lIns="0" tIns="12700" rIns="0" bIns="0" rtlCol="0">
            <a:spAutoFit/>
          </a:bodyPr>
          <a:lstStyle/>
          <a:p>
            <a:pPr marL="12700" marR="5080">
              <a:lnSpc>
                <a:spcPct val="100000"/>
              </a:lnSpc>
              <a:spcBef>
                <a:spcPts val="100"/>
              </a:spcBef>
            </a:pPr>
            <a:r>
              <a:rPr sz="1800" spc="120" dirty="0">
                <a:latin typeface="Times New Roman"/>
                <a:cs typeface="Times New Roman"/>
              </a:rPr>
              <a:t>The</a:t>
            </a:r>
            <a:r>
              <a:rPr sz="1800" spc="-60" dirty="0">
                <a:latin typeface="Times New Roman"/>
                <a:cs typeface="Times New Roman"/>
              </a:rPr>
              <a:t> </a:t>
            </a:r>
            <a:r>
              <a:rPr sz="1800" spc="90" dirty="0">
                <a:latin typeface="Times New Roman"/>
                <a:cs typeface="Times New Roman"/>
              </a:rPr>
              <a:t>product</a:t>
            </a:r>
            <a:r>
              <a:rPr sz="1800" spc="-80" dirty="0">
                <a:latin typeface="Times New Roman"/>
                <a:cs typeface="Times New Roman"/>
              </a:rPr>
              <a:t> </a:t>
            </a:r>
            <a:r>
              <a:rPr sz="1800" spc="75" dirty="0">
                <a:latin typeface="Times New Roman"/>
                <a:cs typeface="Times New Roman"/>
              </a:rPr>
              <a:t>operation</a:t>
            </a:r>
            <a:r>
              <a:rPr sz="1800" spc="-65" dirty="0">
                <a:latin typeface="Times New Roman"/>
                <a:cs typeface="Times New Roman"/>
              </a:rPr>
              <a:t> </a:t>
            </a:r>
            <a:r>
              <a:rPr sz="1800" spc="60" dirty="0">
                <a:latin typeface="Times New Roman"/>
                <a:cs typeface="Times New Roman"/>
              </a:rPr>
              <a:t>combines</a:t>
            </a:r>
            <a:r>
              <a:rPr sz="1800" spc="-55" dirty="0">
                <a:latin typeface="Times New Roman"/>
                <a:cs typeface="Times New Roman"/>
              </a:rPr>
              <a:t> </a:t>
            </a:r>
            <a:r>
              <a:rPr sz="1800" spc="60" dirty="0">
                <a:latin typeface="Times New Roman"/>
                <a:cs typeface="Times New Roman"/>
              </a:rPr>
              <a:t>each</a:t>
            </a:r>
            <a:r>
              <a:rPr sz="1800" spc="-60" dirty="0">
                <a:latin typeface="Times New Roman"/>
                <a:cs typeface="Times New Roman"/>
              </a:rPr>
              <a:t> </a:t>
            </a:r>
            <a:r>
              <a:rPr sz="1800" spc="65" dirty="0">
                <a:latin typeface="Times New Roman"/>
                <a:cs typeface="Times New Roman"/>
              </a:rPr>
              <a:t>record</a:t>
            </a:r>
            <a:r>
              <a:rPr sz="1800" spc="-70" dirty="0">
                <a:latin typeface="Times New Roman"/>
                <a:cs typeface="Times New Roman"/>
              </a:rPr>
              <a:t> </a:t>
            </a:r>
            <a:r>
              <a:rPr sz="1800" spc="65" dirty="0">
                <a:latin typeface="Times New Roman"/>
                <a:cs typeface="Times New Roman"/>
              </a:rPr>
              <a:t>from</a:t>
            </a:r>
            <a:r>
              <a:rPr sz="1800" spc="-65" dirty="0">
                <a:latin typeface="Times New Roman"/>
                <a:cs typeface="Times New Roman"/>
              </a:rPr>
              <a:t> </a:t>
            </a:r>
            <a:r>
              <a:rPr sz="1800" spc="105" dirty="0">
                <a:latin typeface="Times New Roman"/>
                <a:cs typeface="Times New Roman"/>
              </a:rPr>
              <a:t>the</a:t>
            </a:r>
            <a:r>
              <a:rPr sz="1800" spc="-65" dirty="0">
                <a:latin typeface="Times New Roman"/>
                <a:cs typeface="Times New Roman"/>
              </a:rPr>
              <a:t> </a:t>
            </a:r>
            <a:r>
              <a:rPr sz="1800" spc="45" dirty="0">
                <a:latin typeface="Times New Roman"/>
                <a:cs typeface="Times New Roman"/>
              </a:rPr>
              <a:t>first</a:t>
            </a:r>
            <a:r>
              <a:rPr sz="1800" spc="-65" dirty="0">
                <a:latin typeface="Times New Roman"/>
                <a:cs typeface="Times New Roman"/>
              </a:rPr>
              <a:t> </a:t>
            </a:r>
            <a:r>
              <a:rPr sz="1800" spc="50" dirty="0">
                <a:latin typeface="Times New Roman"/>
                <a:cs typeface="Times New Roman"/>
              </a:rPr>
              <a:t>table</a:t>
            </a:r>
            <a:r>
              <a:rPr sz="1800" spc="-60" dirty="0">
                <a:latin typeface="Times New Roman"/>
                <a:cs typeface="Times New Roman"/>
              </a:rPr>
              <a:t> </a:t>
            </a:r>
            <a:r>
              <a:rPr sz="1800" spc="75" dirty="0">
                <a:latin typeface="Times New Roman"/>
                <a:cs typeface="Times New Roman"/>
              </a:rPr>
              <a:t>with</a:t>
            </a:r>
            <a:r>
              <a:rPr sz="1800" spc="-55" dirty="0">
                <a:latin typeface="Times New Roman"/>
                <a:cs typeface="Times New Roman"/>
              </a:rPr>
              <a:t> </a:t>
            </a:r>
            <a:r>
              <a:rPr sz="1800" spc="10" dirty="0">
                <a:latin typeface="Times New Roman"/>
                <a:cs typeface="Times New Roman"/>
              </a:rPr>
              <a:t>all</a:t>
            </a:r>
            <a:r>
              <a:rPr sz="1800" spc="-65" dirty="0">
                <a:latin typeface="Times New Roman"/>
                <a:cs typeface="Times New Roman"/>
              </a:rPr>
              <a:t> </a:t>
            </a:r>
            <a:r>
              <a:rPr sz="1800" spc="100" dirty="0">
                <a:latin typeface="Times New Roman"/>
                <a:cs typeface="Times New Roman"/>
              </a:rPr>
              <a:t>the</a:t>
            </a:r>
            <a:r>
              <a:rPr sz="1800" spc="-65" dirty="0">
                <a:latin typeface="Times New Roman"/>
                <a:cs typeface="Times New Roman"/>
              </a:rPr>
              <a:t> </a:t>
            </a:r>
            <a:r>
              <a:rPr sz="1800" spc="55" dirty="0">
                <a:latin typeface="Times New Roman"/>
                <a:cs typeface="Times New Roman"/>
              </a:rPr>
              <a:t>records  </a:t>
            </a:r>
            <a:r>
              <a:rPr sz="1800" spc="85" dirty="0">
                <a:latin typeface="Times New Roman"/>
                <a:cs typeface="Times New Roman"/>
              </a:rPr>
              <a:t>in</a:t>
            </a:r>
            <a:r>
              <a:rPr sz="1800" spc="-65" dirty="0">
                <a:latin typeface="Times New Roman"/>
                <a:cs typeface="Times New Roman"/>
              </a:rPr>
              <a:t> </a:t>
            </a:r>
            <a:r>
              <a:rPr sz="1800" spc="100" dirty="0">
                <a:latin typeface="Times New Roman"/>
                <a:cs typeface="Times New Roman"/>
              </a:rPr>
              <a:t>the</a:t>
            </a:r>
            <a:r>
              <a:rPr sz="1800" spc="-65" dirty="0">
                <a:latin typeface="Times New Roman"/>
                <a:cs typeface="Times New Roman"/>
              </a:rPr>
              <a:t> </a:t>
            </a:r>
            <a:r>
              <a:rPr sz="1800" spc="70" dirty="0">
                <a:latin typeface="Times New Roman"/>
                <a:cs typeface="Times New Roman"/>
              </a:rPr>
              <a:t>second</a:t>
            </a:r>
            <a:r>
              <a:rPr sz="1800" spc="-65" dirty="0">
                <a:latin typeface="Times New Roman"/>
                <a:cs typeface="Times New Roman"/>
              </a:rPr>
              <a:t> </a:t>
            </a:r>
            <a:r>
              <a:rPr sz="1800" spc="45" dirty="0">
                <a:latin typeface="Times New Roman"/>
                <a:cs typeface="Times New Roman"/>
              </a:rPr>
              <a:t>table,</a:t>
            </a:r>
            <a:r>
              <a:rPr sz="1800" spc="-60" dirty="0">
                <a:latin typeface="Times New Roman"/>
                <a:cs typeface="Times New Roman"/>
              </a:rPr>
              <a:t> </a:t>
            </a:r>
            <a:r>
              <a:rPr sz="1800" spc="65" dirty="0">
                <a:latin typeface="Times New Roman"/>
                <a:cs typeface="Times New Roman"/>
              </a:rPr>
              <a:t>somewhat</a:t>
            </a:r>
            <a:r>
              <a:rPr sz="1800" spc="-50" dirty="0">
                <a:latin typeface="Times New Roman"/>
                <a:cs typeface="Times New Roman"/>
              </a:rPr>
              <a:t> </a:t>
            </a:r>
            <a:r>
              <a:rPr sz="1800" spc="55" dirty="0">
                <a:latin typeface="Times New Roman"/>
                <a:cs typeface="Times New Roman"/>
              </a:rPr>
              <a:t>generating</a:t>
            </a:r>
            <a:r>
              <a:rPr sz="1800" spc="-80" dirty="0">
                <a:latin typeface="Times New Roman"/>
                <a:cs typeface="Times New Roman"/>
              </a:rPr>
              <a:t> </a:t>
            </a:r>
            <a:r>
              <a:rPr sz="1800" spc="10" dirty="0">
                <a:latin typeface="Times New Roman"/>
                <a:cs typeface="Times New Roman"/>
              </a:rPr>
              <a:t>all</a:t>
            </a:r>
            <a:r>
              <a:rPr sz="1800" spc="-60" dirty="0">
                <a:latin typeface="Times New Roman"/>
                <a:cs typeface="Times New Roman"/>
              </a:rPr>
              <a:t> </a:t>
            </a:r>
            <a:r>
              <a:rPr sz="1800" spc="40" dirty="0">
                <a:latin typeface="Times New Roman"/>
                <a:cs typeface="Times New Roman"/>
              </a:rPr>
              <a:t>possible</a:t>
            </a:r>
            <a:r>
              <a:rPr sz="1800" spc="-50" dirty="0">
                <a:latin typeface="Times New Roman"/>
                <a:cs typeface="Times New Roman"/>
              </a:rPr>
              <a:t> </a:t>
            </a:r>
            <a:r>
              <a:rPr sz="1800" spc="70" dirty="0">
                <a:latin typeface="Times New Roman"/>
                <a:cs typeface="Times New Roman"/>
              </a:rPr>
              <a:t>combinations</a:t>
            </a:r>
            <a:r>
              <a:rPr sz="1800" spc="-60" dirty="0">
                <a:latin typeface="Times New Roman"/>
                <a:cs typeface="Times New Roman"/>
              </a:rPr>
              <a:t> </a:t>
            </a:r>
            <a:r>
              <a:rPr sz="1800" spc="75" dirty="0">
                <a:latin typeface="Times New Roman"/>
                <a:cs typeface="Times New Roman"/>
              </a:rPr>
              <a:t>between</a:t>
            </a:r>
            <a:r>
              <a:rPr sz="1800" spc="-60" dirty="0">
                <a:latin typeface="Times New Roman"/>
                <a:cs typeface="Times New Roman"/>
              </a:rPr>
              <a:t> </a:t>
            </a:r>
            <a:r>
              <a:rPr sz="1800" spc="100" dirty="0">
                <a:latin typeface="Times New Roman"/>
                <a:cs typeface="Times New Roman"/>
              </a:rPr>
              <a:t>the</a:t>
            </a:r>
            <a:r>
              <a:rPr sz="1800" spc="-65" dirty="0">
                <a:latin typeface="Times New Roman"/>
                <a:cs typeface="Times New Roman"/>
              </a:rPr>
              <a:t> </a:t>
            </a:r>
            <a:r>
              <a:rPr sz="1800" spc="55" dirty="0">
                <a:latin typeface="Times New Roman"/>
                <a:cs typeface="Times New Roman"/>
              </a:rPr>
              <a:t>table  </a:t>
            </a:r>
            <a:r>
              <a:rPr sz="1800" spc="50" dirty="0">
                <a:latin typeface="Times New Roman"/>
                <a:cs typeface="Times New Roman"/>
              </a:rPr>
              <a:t>records.</a:t>
            </a:r>
            <a:endParaRPr sz="18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20</a:t>
            </a:fld>
            <a:endParaRPr sz="1200"/>
          </a:p>
        </p:txBody>
      </p:sp>
      <p:sp>
        <p:nvSpPr>
          <p:cNvPr id="13" name="object 13"/>
          <p:cNvSpPr txBox="1">
            <a:spLocks noGrp="1"/>
          </p:cNvSpPr>
          <p:nvPr>
            <p:ph type="ftr" sz="quarter" idx="5"/>
          </p:nvPr>
        </p:nvSpPr>
        <p:spPr>
          <a:xfrm>
            <a:off x="78738" y="6672327"/>
            <a:ext cx="11404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77952" y="941857"/>
            <a:ext cx="8228965" cy="1012825"/>
            <a:chOff x="377952" y="941857"/>
            <a:chExt cx="8228965" cy="1012825"/>
          </a:xfrm>
        </p:grpSpPr>
        <p:pic>
          <p:nvPicPr>
            <p:cNvPr id="3" name="object 3"/>
            <p:cNvPicPr/>
            <p:nvPr/>
          </p:nvPicPr>
          <p:blipFill>
            <a:blip r:embed="rId3" cstate="print"/>
            <a:stretch>
              <a:fillRect/>
            </a:stretch>
          </p:blipFill>
          <p:spPr>
            <a:xfrm>
              <a:off x="377952" y="941857"/>
              <a:ext cx="8228838" cy="1012672"/>
            </a:xfrm>
            <a:prstGeom prst="rect">
              <a:avLst/>
            </a:prstGeom>
          </p:spPr>
        </p:pic>
        <p:pic>
          <p:nvPicPr>
            <p:cNvPr id="4" name="object 4"/>
            <p:cNvPicPr/>
            <p:nvPr/>
          </p:nvPicPr>
          <p:blipFill>
            <a:blip r:embed="rId4" cstate="print"/>
            <a:stretch>
              <a:fillRect/>
            </a:stretch>
          </p:blipFill>
          <p:spPr>
            <a:xfrm>
              <a:off x="419100" y="960120"/>
              <a:ext cx="8153400" cy="937260"/>
            </a:xfrm>
            <a:prstGeom prst="rect">
              <a:avLst/>
            </a:prstGeom>
          </p:spPr>
        </p:pic>
      </p:grpSp>
      <p:sp>
        <p:nvSpPr>
          <p:cNvPr id="5" name="object 5"/>
          <p:cNvSpPr txBox="1"/>
          <p:nvPr/>
        </p:nvSpPr>
        <p:spPr>
          <a:xfrm>
            <a:off x="552195" y="1026413"/>
            <a:ext cx="7778115" cy="878840"/>
          </a:xfrm>
          <a:prstGeom prst="rect">
            <a:avLst/>
          </a:prstGeom>
        </p:spPr>
        <p:txBody>
          <a:bodyPr vert="horz" wrap="square" lIns="0" tIns="46990" rIns="0" bIns="0" rtlCol="0">
            <a:spAutoFit/>
          </a:bodyPr>
          <a:lstStyle/>
          <a:p>
            <a:pPr marL="12700" marR="5080">
              <a:lnSpc>
                <a:spcPts val="2160"/>
              </a:lnSpc>
              <a:spcBef>
                <a:spcPts val="370"/>
              </a:spcBef>
            </a:pPr>
            <a:r>
              <a:rPr sz="2000" spc="145" dirty="0">
                <a:solidFill>
                  <a:srgbClr val="FFFFFF"/>
                </a:solidFill>
                <a:latin typeface="Times New Roman"/>
                <a:cs typeface="Times New Roman"/>
              </a:rPr>
              <a:t>UNION </a:t>
            </a:r>
            <a:r>
              <a:rPr sz="2000" spc="85" dirty="0">
                <a:solidFill>
                  <a:srgbClr val="FFFFFF"/>
                </a:solidFill>
                <a:latin typeface="Times New Roman"/>
                <a:cs typeface="Times New Roman"/>
              </a:rPr>
              <a:t>Operator: </a:t>
            </a:r>
            <a:r>
              <a:rPr sz="2000" spc="55" dirty="0">
                <a:solidFill>
                  <a:srgbClr val="FFFFFF"/>
                </a:solidFill>
                <a:latin typeface="Times New Roman"/>
                <a:cs typeface="Times New Roman"/>
              </a:rPr>
              <a:t>It </a:t>
            </a:r>
            <a:r>
              <a:rPr sz="2000" spc="35" dirty="0">
                <a:solidFill>
                  <a:srgbClr val="FFFFFF"/>
                </a:solidFill>
                <a:latin typeface="Times New Roman"/>
                <a:cs typeface="Times New Roman"/>
              </a:rPr>
              <a:t>collects </a:t>
            </a:r>
            <a:r>
              <a:rPr sz="2000" spc="80" dirty="0">
                <a:solidFill>
                  <a:srgbClr val="FFFFFF"/>
                </a:solidFill>
                <a:latin typeface="Times New Roman"/>
                <a:cs typeface="Times New Roman"/>
              </a:rPr>
              <a:t>data </a:t>
            </a:r>
            <a:r>
              <a:rPr sz="2000" spc="70" dirty="0">
                <a:solidFill>
                  <a:srgbClr val="FFFFFF"/>
                </a:solidFill>
                <a:latin typeface="Times New Roman"/>
                <a:cs typeface="Times New Roman"/>
              </a:rPr>
              <a:t>from different </a:t>
            </a:r>
            <a:r>
              <a:rPr sz="2000" spc="50" dirty="0">
                <a:solidFill>
                  <a:srgbClr val="FFFFFF"/>
                </a:solidFill>
                <a:latin typeface="Times New Roman"/>
                <a:cs typeface="Times New Roman"/>
              </a:rPr>
              <a:t>tables </a:t>
            </a:r>
            <a:r>
              <a:rPr sz="2000" spc="114" dirty="0">
                <a:solidFill>
                  <a:srgbClr val="FFFFFF"/>
                </a:solidFill>
                <a:latin typeface="Times New Roman"/>
                <a:cs typeface="Times New Roman"/>
              </a:rPr>
              <a:t>and </a:t>
            </a:r>
            <a:r>
              <a:rPr sz="2000" spc="75" dirty="0">
                <a:solidFill>
                  <a:srgbClr val="FFFFFF"/>
                </a:solidFill>
                <a:latin typeface="Times New Roman"/>
                <a:cs typeface="Times New Roman"/>
              </a:rPr>
              <a:t>presents </a:t>
            </a:r>
            <a:r>
              <a:rPr sz="2000" spc="30" dirty="0">
                <a:solidFill>
                  <a:srgbClr val="FFFFFF"/>
                </a:solidFill>
                <a:latin typeface="Times New Roman"/>
                <a:cs typeface="Times New Roman"/>
              </a:rPr>
              <a:t>a  </a:t>
            </a:r>
            <a:r>
              <a:rPr sz="2000" spc="75" dirty="0">
                <a:solidFill>
                  <a:srgbClr val="FFFFFF"/>
                </a:solidFill>
                <a:latin typeface="Times New Roman"/>
                <a:cs typeface="Times New Roman"/>
              </a:rPr>
              <a:t>unified</a:t>
            </a:r>
            <a:r>
              <a:rPr sz="2000" spc="-80" dirty="0">
                <a:solidFill>
                  <a:srgbClr val="FFFFFF"/>
                </a:solidFill>
                <a:latin typeface="Times New Roman"/>
                <a:cs typeface="Times New Roman"/>
              </a:rPr>
              <a:t> </a:t>
            </a:r>
            <a:r>
              <a:rPr sz="2000" spc="65" dirty="0">
                <a:solidFill>
                  <a:srgbClr val="FFFFFF"/>
                </a:solidFill>
                <a:latin typeface="Times New Roman"/>
                <a:cs typeface="Times New Roman"/>
              </a:rPr>
              <a:t>version</a:t>
            </a:r>
            <a:r>
              <a:rPr sz="2000" spc="-4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0" dirty="0">
                <a:solidFill>
                  <a:srgbClr val="FFFFFF"/>
                </a:solidFill>
                <a:latin typeface="Times New Roman"/>
                <a:cs typeface="Times New Roman"/>
              </a:rPr>
              <a:t> </a:t>
            </a:r>
            <a:r>
              <a:rPr sz="2000" spc="65" dirty="0">
                <a:solidFill>
                  <a:srgbClr val="FFFFFF"/>
                </a:solidFill>
                <a:latin typeface="Times New Roman"/>
                <a:cs typeface="Times New Roman"/>
              </a:rPr>
              <a:t>complete</a:t>
            </a:r>
            <a:r>
              <a:rPr sz="2000" spc="-45" dirty="0">
                <a:solidFill>
                  <a:srgbClr val="FFFFFF"/>
                </a:solidFill>
                <a:latin typeface="Times New Roman"/>
                <a:cs typeface="Times New Roman"/>
              </a:rPr>
              <a:t> </a:t>
            </a:r>
            <a:r>
              <a:rPr sz="2000" spc="65" dirty="0">
                <a:solidFill>
                  <a:srgbClr val="FFFFFF"/>
                </a:solidFill>
                <a:latin typeface="Times New Roman"/>
                <a:cs typeface="Times New Roman"/>
              </a:rPr>
              <a:t>data.</a:t>
            </a:r>
            <a:r>
              <a:rPr sz="2000" spc="-65" dirty="0">
                <a:solidFill>
                  <a:srgbClr val="FFFFFF"/>
                </a:solidFill>
                <a:latin typeface="Times New Roman"/>
                <a:cs typeface="Times New Roman"/>
              </a:rPr>
              <a:t> </a:t>
            </a:r>
            <a:r>
              <a:rPr sz="2000" spc="130"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120" dirty="0">
                <a:solidFill>
                  <a:srgbClr val="FFFFFF"/>
                </a:solidFill>
                <a:latin typeface="Times New Roman"/>
                <a:cs typeface="Times New Roman"/>
              </a:rPr>
              <a:t>union</a:t>
            </a:r>
            <a:r>
              <a:rPr sz="2000" spc="-60" dirty="0">
                <a:solidFill>
                  <a:srgbClr val="FFFFFF"/>
                </a:solidFill>
                <a:latin typeface="Times New Roman"/>
                <a:cs typeface="Times New Roman"/>
              </a:rPr>
              <a:t> </a:t>
            </a:r>
            <a:r>
              <a:rPr sz="2000" spc="80" dirty="0">
                <a:solidFill>
                  <a:srgbClr val="FFFFFF"/>
                </a:solidFill>
                <a:latin typeface="Times New Roman"/>
                <a:cs typeface="Times New Roman"/>
              </a:rPr>
              <a:t>operator</a:t>
            </a:r>
            <a:r>
              <a:rPr sz="2000" spc="-5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represented  </a:t>
            </a:r>
            <a:r>
              <a:rPr sz="2000" spc="40" dirty="0">
                <a:solidFill>
                  <a:srgbClr val="FFFFFF"/>
                </a:solidFill>
                <a:latin typeface="Times New Roman"/>
                <a:cs typeface="Times New Roman"/>
              </a:rPr>
              <a:t>by </a:t>
            </a:r>
            <a:r>
              <a:rPr sz="2000" spc="110" dirty="0">
                <a:solidFill>
                  <a:srgbClr val="FFFFFF"/>
                </a:solidFill>
                <a:latin typeface="Times New Roman"/>
                <a:cs typeface="Times New Roman"/>
              </a:rPr>
              <a:t>the </a:t>
            </a:r>
            <a:r>
              <a:rPr sz="2000" spc="40" dirty="0">
                <a:solidFill>
                  <a:srgbClr val="FFFFFF"/>
                </a:solidFill>
                <a:latin typeface="Times New Roman"/>
                <a:cs typeface="Times New Roman"/>
              </a:rPr>
              <a:t>symbol,</a:t>
            </a:r>
            <a:r>
              <a:rPr sz="2000" spc="-335" dirty="0">
                <a:solidFill>
                  <a:srgbClr val="FFFFFF"/>
                </a:solidFill>
                <a:latin typeface="Times New Roman"/>
                <a:cs typeface="Times New Roman"/>
              </a:rPr>
              <a:t> </a:t>
            </a:r>
            <a:r>
              <a:rPr sz="2000" spc="-25" dirty="0">
                <a:solidFill>
                  <a:srgbClr val="FFFFFF"/>
                </a:solidFill>
                <a:latin typeface="Times New Roman"/>
                <a:cs typeface="Times New Roman"/>
              </a:rPr>
              <a:t>‘U’.</a:t>
            </a:r>
            <a:endParaRPr sz="2000">
              <a:latin typeface="Times New Roman"/>
              <a:cs typeface="Times New Roman"/>
            </a:endParaRPr>
          </a:p>
        </p:txBody>
      </p:sp>
      <p:sp>
        <p:nvSpPr>
          <p:cNvPr id="6" name="object 6"/>
          <p:cNvSpPr txBox="1">
            <a:spLocks noGrp="1"/>
          </p:cNvSpPr>
          <p:nvPr>
            <p:ph type="title"/>
          </p:nvPr>
        </p:nvSpPr>
        <p:spPr>
          <a:xfrm>
            <a:off x="383540" y="56641"/>
            <a:ext cx="5179060" cy="574040"/>
          </a:xfrm>
          <a:prstGeom prst="rect">
            <a:avLst/>
          </a:prstGeom>
        </p:spPr>
        <p:txBody>
          <a:bodyPr vert="horz" wrap="square" lIns="0" tIns="12700" rIns="0" bIns="0" rtlCol="0">
            <a:spAutoFit/>
          </a:bodyPr>
          <a:lstStyle/>
          <a:p>
            <a:pPr marL="12700">
              <a:lnSpc>
                <a:spcPct val="100000"/>
              </a:lnSpc>
              <a:spcBef>
                <a:spcPts val="100"/>
              </a:spcBef>
            </a:pPr>
            <a:r>
              <a:rPr sz="3600" spc="110" dirty="0"/>
              <a:t>Relational </a:t>
            </a:r>
            <a:r>
              <a:rPr sz="3600" spc="165" dirty="0"/>
              <a:t>Operators</a:t>
            </a:r>
            <a:r>
              <a:rPr sz="3600" spc="-390" dirty="0"/>
              <a:t> </a:t>
            </a:r>
            <a:r>
              <a:rPr sz="3600" spc="5" dirty="0"/>
              <a:t>4-6</a:t>
            </a:r>
            <a:endParaRPr sz="3600"/>
          </a:p>
        </p:txBody>
      </p:sp>
      <p:pic>
        <p:nvPicPr>
          <p:cNvPr id="7" name="object 7"/>
          <p:cNvPicPr/>
          <p:nvPr/>
        </p:nvPicPr>
        <p:blipFill>
          <a:blip r:embed="rId5" cstate="print"/>
          <a:stretch>
            <a:fillRect/>
          </a:stretch>
        </p:blipFill>
        <p:spPr>
          <a:xfrm>
            <a:off x="2645664" y="1927098"/>
            <a:ext cx="3700272" cy="1030986"/>
          </a:xfrm>
          <a:prstGeom prst="rect">
            <a:avLst/>
          </a:prstGeom>
        </p:spPr>
      </p:pic>
      <p:grpSp>
        <p:nvGrpSpPr>
          <p:cNvPr id="8" name="object 8"/>
          <p:cNvGrpSpPr/>
          <p:nvPr/>
        </p:nvGrpSpPr>
        <p:grpSpPr>
          <a:xfrm>
            <a:off x="377952" y="3350501"/>
            <a:ext cx="8228965" cy="1156970"/>
            <a:chOff x="377952" y="3350501"/>
            <a:chExt cx="8228965" cy="1156970"/>
          </a:xfrm>
        </p:grpSpPr>
        <p:pic>
          <p:nvPicPr>
            <p:cNvPr id="9" name="object 9"/>
            <p:cNvPicPr/>
            <p:nvPr/>
          </p:nvPicPr>
          <p:blipFill>
            <a:blip r:embed="rId6" cstate="print"/>
            <a:stretch>
              <a:fillRect/>
            </a:stretch>
          </p:blipFill>
          <p:spPr>
            <a:xfrm>
              <a:off x="377952" y="3350501"/>
              <a:ext cx="8228838" cy="1156728"/>
            </a:xfrm>
            <a:prstGeom prst="rect">
              <a:avLst/>
            </a:prstGeom>
          </p:spPr>
        </p:pic>
        <p:pic>
          <p:nvPicPr>
            <p:cNvPr id="10" name="object 10"/>
            <p:cNvPicPr/>
            <p:nvPr/>
          </p:nvPicPr>
          <p:blipFill>
            <a:blip r:embed="rId7" cstate="print"/>
            <a:stretch>
              <a:fillRect/>
            </a:stretch>
          </p:blipFill>
          <p:spPr>
            <a:xfrm>
              <a:off x="419100" y="3368802"/>
              <a:ext cx="8153400" cy="1081277"/>
            </a:xfrm>
            <a:prstGeom prst="rect">
              <a:avLst/>
            </a:prstGeom>
          </p:spPr>
        </p:pic>
      </p:grpSp>
      <p:sp>
        <p:nvSpPr>
          <p:cNvPr id="11" name="object 11"/>
          <p:cNvSpPr txBox="1"/>
          <p:nvPr/>
        </p:nvSpPr>
        <p:spPr>
          <a:xfrm>
            <a:off x="552195" y="3464814"/>
            <a:ext cx="7781290" cy="891540"/>
          </a:xfrm>
          <a:prstGeom prst="rect">
            <a:avLst/>
          </a:prstGeom>
        </p:spPr>
        <p:txBody>
          <a:bodyPr vert="horz" wrap="square" lIns="0" tIns="36830" rIns="0" bIns="0" rtlCol="0">
            <a:spAutoFit/>
          </a:bodyPr>
          <a:lstStyle/>
          <a:p>
            <a:pPr marL="12700" marR="5080" algn="just">
              <a:lnSpc>
                <a:spcPct val="92000"/>
              </a:lnSpc>
              <a:spcBef>
                <a:spcPts val="290"/>
              </a:spcBef>
            </a:pPr>
            <a:r>
              <a:rPr sz="2000" spc="105" dirty="0">
                <a:solidFill>
                  <a:srgbClr val="FFFFFF"/>
                </a:solidFill>
                <a:latin typeface="Times New Roman"/>
                <a:cs typeface="Times New Roman"/>
              </a:rPr>
              <a:t>INTERSECT</a:t>
            </a:r>
            <a:r>
              <a:rPr sz="2000" spc="-70" dirty="0">
                <a:solidFill>
                  <a:srgbClr val="FFFFFF"/>
                </a:solidFill>
                <a:latin typeface="Times New Roman"/>
                <a:cs typeface="Times New Roman"/>
              </a:rPr>
              <a:t> </a:t>
            </a:r>
            <a:r>
              <a:rPr sz="2000" spc="85" dirty="0">
                <a:solidFill>
                  <a:srgbClr val="FFFFFF"/>
                </a:solidFill>
                <a:latin typeface="Times New Roman"/>
                <a:cs typeface="Times New Roman"/>
              </a:rPr>
              <a:t>Operator:</a:t>
            </a:r>
            <a:r>
              <a:rPr sz="2000" spc="-60" dirty="0">
                <a:solidFill>
                  <a:srgbClr val="FFFFFF"/>
                </a:solidFill>
                <a:latin typeface="Times New Roman"/>
                <a:cs typeface="Times New Roman"/>
              </a:rPr>
              <a:t> </a:t>
            </a:r>
            <a:r>
              <a:rPr sz="2000" spc="130"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105" dirty="0">
                <a:solidFill>
                  <a:srgbClr val="FFFFFF"/>
                </a:solidFill>
                <a:latin typeface="Times New Roman"/>
                <a:cs typeface="Times New Roman"/>
              </a:rPr>
              <a:t>INTERSECT</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operator</a:t>
            </a:r>
            <a:r>
              <a:rPr sz="2000" spc="-55" dirty="0">
                <a:solidFill>
                  <a:srgbClr val="FFFFFF"/>
                </a:solidFill>
                <a:latin typeface="Times New Roman"/>
                <a:cs typeface="Times New Roman"/>
              </a:rPr>
              <a:t> </a:t>
            </a:r>
            <a:r>
              <a:rPr sz="2000" spc="60" dirty="0">
                <a:solidFill>
                  <a:srgbClr val="FFFFFF"/>
                </a:solidFill>
                <a:latin typeface="Times New Roman"/>
                <a:cs typeface="Times New Roman"/>
              </a:rPr>
              <a:t>generates</a:t>
            </a:r>
            <a:r>
              <a:rPr sz="2000" spc="-50"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70" dirty="0">
                <a:solidFill>
                  <a:srgbClr val="FFFFFF"/>
                </a:solidFill>
                <a:latin typeface="Times New Roman"/>
                <a:cs typeface="Times New Roman"/>
              </a:rPr>
              <a:t> </a:t>
            </a:r>
            <a:r>
              <a:rPr sz="2000" spc="114" dirty="0">
                <a:solidFill>
                  <a:srgbClr val="FFFFFF"/>
                </a:solidFill>
                <a:latin typeface="Times New Roman"/>
                <a:cs typeface="Times New Roman"/>
              </a:rPr>
              <a:t>that  </a:t>
            </a:r>
            <a:r>
              <a:rPr sz="2000" spc="80" dirty="0">
                <a:solidFill>
                  <a:srgbClr val="FFFFFF"/>
                </a:solidFill>
                <a:latin typeface="Times New Roman"/>
                <a:cs typeface="Times New Roman"/>
              </a:rPr>
              <a:t>holds</a:t>
            </a:r>
            <a:r>
              <a:rPr sz="2000" spc="-55" dirty="0">
                <a:solidFill>
                  <a:srgbClr val="FFFFFF"/>
                </a:solidFill>
                <a:latin typeface="Times New Roman"/>
                <a:cs typeface="Times New Roman"/>
              </a:rPr>
              <a:t> </a:t>
            </a:r>
            <a:r>
              <a:rPr sz="2000" spc="100" dirty="0">
                <a:solidFill>
                  <a:srgbClr val="FFFFFF"/>
                </a:solidFill>
                <a:latin typeface="Times New Roman"/>
                <a:cs typeface="Times New Roman"/>
              </a:rPr>
              <a:t>true</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10" dirty="0">
                <a:solidFill>
                  <a:srgbClr val="FFFFFF"/>
                </a:solidFill>
                <a:latin typeface="Times New Roman"/>
                <a:cs typeface="Times New Roman"/>
              </a:rPr>
              <a:t>all</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50" dirty="0">
                <a:solidFill>
                  <a:srgbClr val="FFFFFF"/>
                </a:solidFill>
                <a:latin typeface="Times New Roman"/>
                <a:cs typeface="Times New Roman"/>
              </a:rPr>
              <a:t>tables</a:t>
            </a:r>
            <a:r>
              <a:rPr sz="2000" spc="-45" dirty="0">
                <a:solidFill>
                  <a:srgbClr val="FFFFFF"/>
                </a:solidFill>
                <a:latin typeface="Times New Roman"/>
                <a:cs typeface="Times New Roman"/>
              </a:rPr>
              <a:t> </a:t>
            </a:r>
            <a:r>
              <a:rPr sz="2000" spc="65" dirty="0">
                <a:solidFill>
                  <a:srgbClr val="FFFFFF"/>
                </a:solidFill>
                <a:latin typeface="Times New Roman"/>
                <a:cs typeface="Times New Roman"/>
              </a:rPr>
              <a:t>it</a:t>
            </a:r>
            <a:r>
              <a:rPr sz="2000" spc="-7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applied</a:t>
            </a:r>
            <a:r>
              <a:rPr sz="2000" spc="-65" dirty="0">
                <a:solidFill>
                  <a:srgbClr val="FFFFFF"/>
                </a:solidFill>
                <a:latin typeface="Times New Roman"/>
                <a:cs typeface="Times New Roman"/>
              </a:rPr>
              <a:t> </a:t>
            </a:r>
            <a:r>
              <a:rPr sz="2000" spc="90" dirty="0">
                <a:solidFill>
                  <a:srgbClr val="FFFFFF"/>
                </a:solidFill>
                <a:latin typeface="Times New Roman"/>
                <a:cs typeface="Times New Roman"/>
              </a:rPr>
              <a:t>on.</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It</a:t>
            </a:r>
            <a:r>
              <a:rPr sz="2000" spc="-7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75" dirty="0">
                <a:solidFill>
                  <a:srgbClr val="FFFFFF"/>
                </a:solidFill>
                <a:latin typeface="Times New Roman"/>
                <a:cs typeface="Times New Roman"/>
              </a:rPr>
              <a:t> </a:t>
            </a:r>
            <a:r>
              <a:rPr sz="2000" spc="60" dirty="0">
                <a:solidFill>
                  <a:srgbClr val="FFFFFF"/>
                </a:solidFill>
                <a:latin typeface="Times New Roman"/>
                <a:cs typeface="Times New Roman"/>
              </a:rPr>
              <a:t>based</a:t>
            </a:r>
            <a:r>
              <a:rPr sz="2000" spc="-60" dirty="0">
                <a:solidFill>
                  <a:srgbClr val="FFFFFF"/>
                </a:solidFill>
                <a:latin typeface="Times New Roman"/>
                <a:cs typeface="Times New Roman"/>
              </a:rPr>
              <a:t> </a:t>
            </a:r>
            <a:r>
              <a:rPr sz="2000" spc="135" dirty="0">
                <a:solidFill>
                  <a:srgbClr val="FFFFFF"/>
                </a:solidFill>
                <a:latin typeface="Times New Roman"/>
                <a:cs typeface="Times New Roman"/>
              </a:rPr>
              <a:t>on</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intersection  </a:t>
            </a:r>
            <a:r>
              <a:rPr sz="2000" spc="55" dirty="0">
                <a:solidFill>
                  <a:srgbClr val="FFFFFF"/>
                </a:solidFill>
                <a:latin typeface="Times New Roman"/>
                <a:cs typeface="Times New Roman"/>
              </a:rPr>
              <a:t>set</a:t>
            </a:r>
            <a:r>
              <a:rPr sz="2000" spc="-65" dirty="0">
                <a:solidFill>
                  <a:srgbClr val="FFFFFF"/>
                </a:solidFill>
                <a:latin typeface="Times New Roman"/>
                <a:cs typeface="Times New Roman"/>
              </a:rPr>
              <a:t> </a:t>
            </a:r>
            <a:r>
              <a:rPr sz="2000" spc="85" dirty="0">
                <a:solidFill>
                  <a:srgbClr val="FFFFFF"/>
                </a:solidFill>
                <a:latin typeface="Times New Roman"/>
                <a:cs typeface="Times New Roman"/>
              </a:rPr>
              <a:t>theory</a:t>
            </a:r>
            <a:r>
              <a:rPr sz="2000" spc="-50" dirty="0">
                <a:solidFill>
                  <a:srgbClr val="FFFFFF"/>
                </a:solidFill>
                <a:latin typeface="Times New Roman"/>
                <a:cs typeface="Times New Roman"/>
              </a:rPr>
              <a:t> </a:t>
            </a:r>
            <a:r>
              <a:rPr sz="2000" spc="114" dirty="0">
                <a:solidFill>
                  <a:srgbClr val="FFFFFF"/>
                </a:solidFill>
                <a:latin typeface="Times New Roman"/>
                <a:cs typeface="Times New Roman"/>
              </a:rPr>
              <a:t>and</a:t>
            </a:r>
            <a:r>
              <a:rPr sz="2000" spc="-7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represented</a:t>
            </a:r>
            <a:r>
              <a:rPr sz="2000" spc="-55" dirty="0">
                <a:solidFill>
                  <a:srgbClr val="FFFFFF"/>
                </a:solidFill>
                <a:latin typeface="Times New Roman"/>
                <a:cs typeface="Times New Roman"/>
              </a:rPr>
              <a:t> </a:t>
            </a:r>
            <a:r>
              <a:rPr sz="2000" spc="40" dirty="0">
                <a:solidFill>
                  <a:srgbClr val="FFFFFF"/>
                </a:solidFill>
                <a:latin typeface="Times New Roman"/>
                <a:cs typeface="Times New Roman"/>
              </a:rPr>
              <a:t>by</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100" dirty="0">
                <a:solidFill>
                  <a:srgbClr val="FFFFFF"/>
                </a:solidFill>
                <a:latin typeface="Times New Roman"/>
                <a:cs typeface="Times New Roman"/>
              </a:rPr>
              <a:t>'∩'</a:t>
            </a:r>
            <a:r>
              <a:rPr sz="2000" spc="-75" dirty="0">
                <a:solidFill>
                  <a:srgbClr val="FFFFFF"/>
                </a:solidFill>
                <a:latin typeface="Times New Roman"/>
                <a:cs typeface="Times New Roman"/>
              </a:rPr>
              <a:t> </a:t>
            </a:r>
            <a:r>
              <a:rPr sz="2000" spc="45" dirty="0">
                <a:solidFill>
                  <a:srgbClr val="FFFFFF"/>
                </a:solidFill>
                <a:latin typeface="Times New Roman"/>
                <a:cs typeface="Times New Roman"/>
              </a:rPr>
              <a:t>symbol</a:t>
            </a:r>
            <a:endParaRPr sz="2000">
              <a:latin typeface="Times New Roman"/>
              <a:cs typeface="Times New Roman"/>
            </a:endParaRPr>
          </a:p>
        </p:txBody>
      </p:sp>
      <p:pic>
        <p:nvPicPr>
          <p:cNvPr id="12" name="object 12"/>
          <p:cNvPicPr/>
          <p:nvPr/>
        </p:nvPicPr>
        <p:blipFill>
          <a:blip r:embed="rId8" cstate="print"/>
          <a:stretch>
            <a:fillRect/>
          </a:stretch>
        </p:blipFill>
        <p:spPr>
          <a:xfrm>
            <a:off x="2462022" y="4554473"/>
            <a:ext cx="4529328" cy="1081278"/>
          </a:xfrm>
          <a:prstGeom prst="rect">
            <a:avLst/>
          </a:prstGeom>
        </p:spPr>
      </p:pic>
      <p:sp>
        <p:nvSpPr>
          <p:cNvPr id="14" name="object 14"/>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21</a:t>
            </a:fld>
            <a:endParaRPr sz="1200"/>
          </a:p>
        </p:txBody>
      </p:sp>
      <p:sp>
        <p:nvSpPr>
          <p:cNvPr id="15" name="object 15"/>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255260" cy="574040"/>
          </a:xfrm>
          <a:prstGeom prst="rect">
            <a:avLst/>
          </a:prstGeom>
        </p:spPr>
        <p:txBody>
          <a:bodyPr vert="horz" wrap="square" lIns="0" tIns="12700" rIns="0" bIns="0" rtlCol="0">
            <a:spAutoFit/>
          </a:bodyPr>
          <a:lstStyle/>
          <a:p>
            <a:pPr marL="12700">
              <a:lnSpc>
                <a:spcPct val="100000"/>
              </a:lnSpc>
              <a:spcBef>
                <a:spcPts val="100"/>
              </a:spcBef>
            </a:pPr>
            <a:r>
              <a:rPr sz="3600" spc="110" dirty="0"/>
              <a:t>Relational </a:t>
            </a:r>
            <a:r>
              <a:rPr sz="3600" spc="165" dirty="0"/>
              <a:t>Operators</a:t>
            </a:r>
            <a:r>
              <a:rPr sz="3600" spc="-390" dirty="0"/>
              <a:t> </a:t>
            </a:r>
            <a:r>
              <a:rPr sz="3600" spc="-190" dirty="0"/>
              <a:t>5-6</a:t>
            </a:r>
            <a:endParaRPr sz="3600"/>
          </a:p>
        </p:txBody>
      </p:sp>
      <p:grpSp>
        <p:nvGrpSpPr>
          <p:cNvPr id="3" name="object 3"/>
          <p:cNvGrpSpPr/>
          <p:nvPr/>
        </p:nvGrpSpPr>
        <p:grpSpPr>
          <a:xfrm>
            <a:off x="377952" y="941819"/>
            <a:ext cx="8228965" cy="1183640"/>
            <a:chOff x="377952" y="941819"/>
            <a:chExt cx="8228965" cy="1183640"/>
          </a:xfrm>
        </p:grpSpPr>
        <p:pic>
          <p:nvPicPr>
            <p:cNvPr id="4" name="object 4"/>
            <p:cNvPicPr/>
            <p:nvPr/>
          </p:nvPicPr>
          <p:blipFill>
            <a:blip r:embed="rId3" cstate="print"/>
            <a:stretch>
              <a:fillRect/>
            </a:stretch>
          </p:blipFill>
          <p:spPr>
            <a:xfrm>
              <a:off x="377952" y="941819"/>
              <a:ext cx="8228838" cy="1183398"/>
            </a:xfrm>
            <a:prstGeom prst="rect">
              <a:avLst/>
            </a:prstGeom>
          </p:spPr>
        </p:pic>
        <p:pic>
          <p:nvPicPr>
            <p:cNvPr id="5" name="object 5"/>
            <p:cNvPicPr/>
            <p:nvPr/>
          </p:nvPicPr>
          <p:blipFill>
            <a:blip r:embed="rId4" cstate="print"/>
            <a:stretch>
              <a:fillRect/>
            </a:stretch>
          </p:blipFill>
          <p:spPr>
            <a:xfrm>
              <a:off x="419100" y="960119"/>
              <a:ext cx="8153400" cy="1107948"/>
            </a:xfrm>
            <a:prstGeom prst="rect">
              <a:avLst/>
            </a:prstGeom>
          </p:spPr>
        </p:pic>
      </p:grpSp>
      <p:sp>
        <p:nvSpPr>
          <p:cNvPr id="6" name="object 6"/>
          <p:cNvSpPr txBox="1"/>
          <p:nvPr/>
        </p:nvSpPr>
        <p:spPr>
          <a:xfrm>
            <a:off x="552195" y="1016762"/>
            <a:ext cx="7882890" cy="878840"/>
          </a:xfrm>
          <a:prstGeom prst="rect">
            <a:avLst/>
          </a:prstGeom>
        </p:spPr>
        <p:txBody>
          <a:bodyPr vert="horz" wrap="square" lIns="0" tIns="46990" rIns="0" bIns="0" rtlCol="0">
            <a:spAutoFit/>
          </a:bodyPr>
          <a:lstStyle/>
          <a:p>
            <a:pPr marL="12700" marR="5080">
              <a:lnSpc>
                <a:spcPts val="2160"/>
              </a:lnSpc>
              <a:spcBef>
                <a:spcPts val="370"/>
              </a:spcBef>
            </a:pPr>
            <a:r>
              <a:rPr sz="2000" spc="60" dirty="0">
                <a:solidFill>
                  <a:srgbClr val="FFFFFF"/>
                </a:solidFill>
                <a:latin typeface="Times New Roman"/>
                <a:cs typeface="Times New Roman"/>
              </a:rPr>
              <a:t>DIFFERENCE</a:t>
            </a:r>
            <a:r>
              <a:rPr sz="2000" spc="-45" dirty="0">
                <a:solidFill>
                  <a:srgbClr val="FFFFFF"/>
                </a:solidFill>
                <a:latin typeface="Times New Roman"/>
                <a:cs typeface="Times New Roman"/>
              </a:rPr>
              <a:t> </a:t>
            </a:r>
            <a:r>
              <a:rPr sz="2000" spc="85" dirty="0">
                <a:solidFill>
                  <a:srgbClr val="FFFFFF"/>
                </a:solidFill>
                <a:latin typeface="Times New Roman"/>
                <a:cs typeface="Times New Roman"/>
              </a:rPr>
              <a:t>Operator:</a:t>
            </a:r>
            <a:r>
              <a:rPr sz="2000" spc="-55" dirty="0">
                <a:solidFill>
                  <a:srgbClr val="FFFFFF"/>
                </a:solidFill>
                <a:latin typeface="Times New Roman"/>
                <a:cs typeface="Times New Roman"/>
              </a:rPr>
              <a:t> </a:t>
            </a:r>
            <a:r>
              <a:rPr sz="2000" spc="13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60" dirty="0">
                <a:solidFill>
                  <a:srgbClr val="FFFFFF"/>
                </a:solidFill>
                <a:latin typeface="Times New Roman"/>
                <a:cs typeface="Times New Roman"/>
              </a:rPr>
              <a:t>DIFFERENCE</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operator,</a:t>
            </a:r>
            <a:r>
              <a:rPr sz="2000" spc="-50" dirty="0">
                <a:solidFill>
                  <a:srgbClr val="FFFFFF"/>
                </a:solidFill>
                <a:latin typeface="Times New Roman"/>
                <a:cs typeface="Times New Roman"/>
              </a:rPr>
              <a:t> </a:t>
            </a:r>
            <a:r>
              <a:rPr sz="2000" spc="30" dirty="0">
                <a:solidFill>
                  <a:srgbClr val="FFFFFF"/>
                </a:solidFill>
                <a:latin typeface="Times New Roman"/>
                <a:cs typeface="Times New Roman"/>
              </a:rPr>
              <a:t>symbolized</a:t>
            </a:r>
            <a:r>
              <a:rPr sz="2000" spc="-55"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65" dirty="0">
                <a:solidFill>
                  <a:srgbClr val="FFFFFF"/>
                </a:solidFill>
                <a:latin typeface="Times New Roman"/>
                <a:cs typeface="Times New Roman"/>
              </a:rPr>
              <a:t> </a:t>
            </a:r>
            <a:r>
              <a:rPr sz="2000" spc="75" dirty="0">
                <a:solidFill>
                  <a:srgbClr val="FFFFFF"/>
                </a:solidFill>
                <a:latin typeface="Times New Roman"/>
                <a:cs typeface="Times New Roman"/>
              </a:rPr>
              <a:t>'-',  </a:t>
            </a:r>
            <a:r>
              <a:rPr sz="2000" spc="60" dirty="0">
                <a:solidFill>
                  <a:srgbClr val="FFFFFF"/>
                </a:solidFill>
                <a:latin typeface="Times New Roman"/>
                <a:cs typeface="Times New Roman"/>
              </a:rPr>
              <a:t>generates</a:t>
            </a:r>
            <a:r>
              <a:rPr sz="2000" spc="-45"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75" dirty="0">
                <a:solidFill>
                  <a:srgbClr val="FFFFFF"/>
                </a:solidFill>
                <a:latin typeface="Times New Roman"/>
                <a:cs typeface="Times New Roman"/>
              </a:rPr>
              <a:t> </a:t>
            </a:r>
            <a:r>
              <a:rPr sz="2000" spc="70" dirty="0">
                <a:solidFill>
                  <a:srgbClr val="FFFFFF"/>
                </a:solidFill>
                <a:latin typeface="Times New Roman"/>
                <a:cs typeface="Times New Roman"/>
              </a:rPr>
              <a:t>from</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different</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tables</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too,</a:t>
            </a:r>
            <a:r>
              <a:rPr sz="2000" spc="-55" dirty="0">
                <a:solidFill>
                  <a:srgbClr val="FFFFFF"/>
                </a:solidFill>
                <a:latin typeface="Times New Roman"/>
                <a:cs typeface="Times New Roman"/>
              </a:rPr>
              <a:t> </a:t>
            </a:r>
            <a:r>
              <a:rPr sz="2000" spc="120" dirty="0">
                <a:solidFill>
                  <a:srgbClr val="FFFFFF"/>
                </a:solidFill>
                <a:latin typeface="Times New Roman"/>
                <a:cs typeface="Times New Roman"/>
              </a:rPr>
              <a:t>but</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it</a:t>
            </a:r>
            <a:r>
              <a:rPr sz="2000" spc="-75" dirty="0">
                <a:solidFill>
                  <a:srgbClr val="FFFFFF"/>
                </a:solidFill>
                <a:latin typeface="Times New Roman"/>
                <a:cs typeface="Times New Roman"/>
              </a:rPr>
              <a:t> </a:t>
            </a:r>
            <a:r>
              <a:rPr sz="2000" spc="60" dirty="0">
                <a:solidFill>
                  <a:srgbClr val="FFFFFF"/>
                </a:solidFill>
                <a:latin typeface="Times New Roman"/>
                <a:cs typeface="Times New Roman"/>
              </a:rPr>
              <a:t>generates</a:t>
            </a:r>
            <a:r>
              <a:rPr sz="2000" spc="-55"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6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60" dirty="0">
                <a:solidFill>
                  <a:srgbClr val="FFFFFF"/>
                </a:solidFill>
                <a:latin typeface="Times New Roman"/>
                <a:cs typeface="Times New Roman"/>
              </a:rPr>
              <a:t> </a:t>
            </a:r>
            <a:r>
              <a:rPr sz="2000" spc="80" dirty="0">
                <a:solidFill>
                  <a:srgbClr val="FFFFFF"/>
                </a:solidFill>
                <a:latin typeface="Times New Roman"/>
                <a:cs typeface="Times New Roman"/>
              </a:rPr>
              <a:t>holds  </a:t>
            </a:r>
            <a:r>
              <a:rPr sz="2000" spc="100" dirty="0">
                <a:solidFill>
                  <a:srgbClr val="FFFFFF"/>
                </a:solidFill>
                <a:latin typeface="Times New Roman"/>
                <a:cs typeface="Times New Roman"/>
              </a:rPr>
              <a:t>true</a:t>
            </a:r>
            <a:r>
              <a:rPr sz="2000" spc="-7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105" dirty="0">
                <a:solidFill>
                  <a:srgbClr val="FFFFFF"/>
                </a:solidFill>
                <a:latin typeface="Times New Roman"/>
                <a:cs typeface="Times New Roman"/>
              </a:rPr>
              <a:t>one</a:t>
            </a:r>
            <a:r>
              <a:rPr sz="2000" spc="-55" dirty="0">
                <a:solidFill>
                  <a:srgbClr val="FFFFFF"/>
                </a:solidFill>
                <a:latin typeface="Times New Roman"/>
                <a:cs typeface="Times New Roman"/>
              </a:rPr>
              <a:t> </a:t>
            </a:r>
            <a:r>
              <a:rPr sz="2000" spc="60" dirty="0">
                <a:solidFill>
                  <a:srgbClr val="FFFFFF"/>
                </a:solidFill>
                <a:latin typeface="Times New Roman"/>
                <a:cs typeface="Times New Roman"/>
              </a:rPr>
              <a:t>table</a:t>
            </a:r>
            <a:r>
              <a:rPr sz="2000" spc="-50" dirty="0">
                <a:solidFill>
                  <a:srgbClr val="FFFFFF"/>
                </a:solidFill>
                <a:latin typeface="Times New Roman"/>
                <a:cs typeface="Times New Roman"/>
              </a:rPr>
              <a:t> </a:t>
            </a:r>
            <a:r>
              <a:rPr sz="2000" spc="114"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135" dirty="0">
                <a:solidFill>
                  <a:srgbClr val="FFFFFF"/>
                </a:solidFill>
                <a:latin typeface="Times New Roman"/>
                <a:cs typeface="Times New Roman"/>
              </a:rPr>
              <a:t>not</a:t>
            </a:r>
            <a:r>
              <a:rPr sz="2000" spc="-65" dirty="0">
                <a:solidFill>
                  <a:srgbClr val="FFFFFF"/>
                </a:solidFill>
                <a:latin typeface="Times New Roman"/>
                <a:cs typeface="Times New Roman"/>
              </a:rPr>
              <a:t> </a:t>
            </a:r>
            <a:r>
              <a:rPr sz="2000" spc="114"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other.</a:t>
            </a:r>
            <a:endParaRPr sz="2000">
              <a:latin typeface="Times New Roman"/>
              <a:cs typeface="Times New Roman"/>
            </a:endParaRPr>
          </a:p>
        </p:txBody>
      </p:sp>
      <p:pic>
        <p:nvPicPr>
          <p:cNvPr id="7" name="object 7"/>
          <p:cNvPicPr/>
          <p:nvPr/>
        </p:nvPicPr>
        <p:blipFill>
          <a:blip r:embed="rId5" cstate="print"/>
          <a:stretch>
            <a:fillRect/>
          </a:stretch>
        </p:blipFill>
        <p:spPr>
          <a:xfrm>
            <a:off x="2989326" y="2135885"/>
            <a:ext cx="3559302" cy="841248"/>
          </a:xfrm>
          <a:prstGeom prst="rect">
            <a:avLst/>
          </a:prstGeom>
        </p:spPr>
      </p:pic>
      <p:grpSp>
        <p:nvGrpSpPr>
          <p:cNvPr id="8" name="object 8"/>
          <p:cNvGrpSpPr/>
          <p:nvPr/>
        </p:nvGrpSpPr>
        <p:grpSpPr>
          <a:xfrm>
            <a:off x="377952" y="3270491"/>
            <a:ext cx="8228965" cy="1183640"/>
            <a:chOff x="377952" y="3270491"/>
            <a:chExt cx="8228965" cy="1183640"/>
          </a:xfrm>
        </p:grpSpPr>
        <p:pic>
          <p:nvPicPr>
            <p:cNvPr id="9" name="object 9"/>
            <p:cNvPicPr/>
            <p:nvPr/>
          </p:nvPicPr>
          <p:blipFill>
            <a:blip r:embed="rId3" cstate="print"/>
            <a:stretch>
              <a:fillRect/>
            </a:stretch>
          </p:blipFill>
          <p:spPr>
            <a:xfrm>
              <a:off x="377952" y="3270491"/>
              <a:ext cx="8228838" cy="1183398"/>
            </a:xfrm>
            <a:prstGeom prst="rect">
              <a:avLst/>
            </a:prstGeom>
          </p:spPr>
        </p:pic>
        <p:pic>
          <p:nvPicPr>
            <p:cNvPr id="10" name="object 10"/>
            <p:cNvPicPr/>
            <p:nvPr/>
          </p:nvPicPr>
          <p:blipFill>
            <a:blip r:embed="rId6" cstate="print"/>
            <a:stretch>
              <a:fillRect/>
            </a:stretch>
          </p:blipFill>
          <p:spPr>
            <a:xfrm>
              <a:off x="419100" y="3288792"/>
              <a:ext cx="8153400" cy="1107948"/>
            </a:xfrm>
            <a:prstGeom prst="rect">
              <a:avLst/>
            </a:prstGeom>
          </p:spPr>
        </p:pic>
      </p:grpSp>
      <p:sp>
        <p:nvSpPr>
          <p:cNvPr id="11" name="object 11"/>
          <p:cNvSpPr txBox="1"/>
          <p:nvPr/>
        </p:nvSpPr>
        <p:spPr>
          <a:xfrm>
            <a:off x="552195" y="3483102"/>
            <a:ext cx="7824470" cy="604520"/>
          </a:xfrm>
          <a:prstGeom prst="rect">
            <a:avLst/>
          </a:prstGeom>
        </p:spPr>
        <p:txBody>
          <a:bodyPr vert="horz" wrap="square" lIns="0" tIns="46990" rIns="0" bIns="0" rtlCol="0">
            <a:spAutoFit/>
          </a:bodyPr>
          <a:lstStyle/>
          <a:p>
            <a:pPr marL="12700" marR="5080">
              <a:lnSpc>
                <a:spcPts val="2160"/>
              </a:lnSpc>
              <a:spcBef>
                <a:spcPts val="370"/>
              </a:spcBef>
            </a:pPr>
            <a:r>
              <a:rPr sz="2000" spc="50" dirty="0">
                <a:solidFill>
                  <a:srgbClr val="FFFFFF"/>
                </a:solidFill>
                <a:latin typeface="Times New Roman"/>
                <a:cs typeface="Times New Roman"/>
              </a:rPr>
              <a:t>JOIN</a:t>
            </a:r>
            <a:r>
              <a:rPr sz="2000" spc="-85" dirty="0">
                <a:solidFill>
                  <a:srgbClr val="FFFFFF"/>
                </a:solidFill>
                <a:latin typeface="Times New Roman"/>
                <a:cs typeface="Times New Roman"/>
              </a:rPr>
              <a:t> </a:t>
            </a:r>
            <a:r>
              <a:rPr sz="2000" spc="85" dirty="0">
                <a:solidFill>
                  <a:srgbClr val="FFFFFF"/>
                </a:solidFill>
                <a:latin typeface="Times New Roman"/>
                <a:cs typeface="Times New Roman"/>
              </a:rPr>
              <a:t>Operator:</a:t>
            </a:r>
            <a:r>
              <a:rPr sz="2000" spc="-55" dirty="0">
                <a:solidFill>
                  <a:srgbClr val="FFFFFF"/>
                </a:solidFill>
                <a:latin typeface="Times New Roman"/>
                <a:cs typeface="Times New Roman"/>
              </a:rPr>
              <a:t> </a:t>
            </a:r>
            <a:r>
              <a:rPr sz="2000" spc="13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50" dirty="0">
                <a:solidFill>
                  <a:srgbClr val="FFFFFF"/>
                </a:solidFill>
                <a:latin typeface="Times New Roman"/>
                <a:cs typeface="Times New Roman"/>
              </a:rPr>
              <a:t>JOIN</a:t>
            </a:r>
            <a:r>
              <a:rPr sz="2000" spc="-85" dirty="0">
                <a:solidFill>
                  <a:srgbClr val="FFFFFF"/>
                </a:solidFill>
                <a:latin typeface="Times New Roman"/>
                <a:cs typeface="Times New Roman"/>
              </a:rPr>
              <a:t> </a:t>
            </a:r>
            <a:r>
              <a:rPr sz="2000" spc="85" dirty="0">
                <a:solidFill>
                  <a:srgbClr val="FFFFFF"/>
                </a:solidFill>
                <a:latin typeface="Times New Roman"/>
                <a:cs typeface="Times New Roman"/>
              </a:rPr>
              <a:t>operation</a:t>
            </a:r>
            <a:r>
              <a:rPr sz="2000" spc="-5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70" dirty="0">
                <a:solidFill>
                  <a:srgbClr val="FFFFFF"/>
                </a:solidFill>
                <a:latin typeface="Times New Roman"/>
                <a:cs typeface="Times New Roman"/>
              </a:rPr>
              <a:t> </a:t>
            </a:r>
            <a:r>
              <a:rPr sz="2000" spc="105" dirty="0">
                <a:solidFill>
                  <a:srgbClr val="FFFFFF"/>
                </a:solidFill>
                <a:latin typeface="Times New Roman"/>
                <a:cs typeface="Times New Roman"/>
              </a:rPr>
              <a:t>an</a:t>
            </a:r>
            <a:r>
              <a:rPr sz="2000" spc="-65" dirty="0">
                <a:solidFill>
                  <a:srgbClr val="FFFFFF"/>
                </a:solidFill>
                <a:latin typeface="Times New Roman"/>
                <a:cs typeface="Times New Roman"/>
              </a:rPr>
              <a:t> </a:t>
            </a:r>
            <a:r>
              <a:rPr sz="2000" spc="100" dirty="0">
                <a:solidFill>
                  <a:srgbClr val="FFFFFF"/>
                </a:solidFill>
                <a:latin typeface="Times New Roman"/>
                <a:cs typeface="Times New Roman"/>
              </a:rPr>
              <a:t>enhancement</a:t>
            </a:r>
            <a:r>
              <a:rPr sz="2000" spc="-4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100" dirty="0">
                <a:solidFill>
                  <a:srgbClr val="FFFFFF"/>
                </a:solidFill>
                <a:latin typeface="Times New Roman"/>
                <a:cs typeface="Times New Roman"/>
              </a:rPr>
              <a:t>product  </a:t>
            </a:r>
            <a:r>
              <a:rPr sz="2000" spc="75" dirty="0">
                <a:solidFill>
                  <a:srgbClr val="FFFFFF"/>
                </a:solidFill>
                <a:latin typeface="Times New Roman"/>
                <a:cs typeface="Times New Roman"/>
              </a:rPr>
              <a:t>operation.</a:t>
            </a:r>
            <a:r>
              <a:rPr sz="2000" spc="-50" dirty="0">
                <a:solidFill>
                  <a:srgbClr val="FFFFFF"/>
                </a:solidFill>
                <a:latin typeface="Times New Roman"/>
                <a:cs typeface="Times New Roman"/>
              </a:rPr>
              <a:t> </a:t>
            </a:r>
            <a:r>
              <a:rPr sz="2000" spc="55" dirty="0">
                <a:solidFill>
                  <a:srgbClr val="FFFFFF"/>
                </a:solidFill>
                <a:latin typeface="Times New Roman"/>
                <a:cs typeface="Times New Roman"/>
              </a:rPr>
              <a:t>It</a:t>
            </a:r>
            <a:r>
              <a:rPr sz="2000" spc="-65" dirty="0">
                <a:solidFill>
                  <a:srgbClr val="FFFFFF"/>
                </a:solidFill>
                <a:latin typeface="Times New Roman"/>
                <a:cs typeface="Times New Roman"/>
              </a:rPr>
              <a:t> </a:t>
            </a:r>
            <a:r>
              <a:rPr sz="2000" spc="30" dirty="0">
                <a:solidFill>
                  <a:srgbClr val="FFFFFF"/>
                </a:solidFill>
                <a:latin typeface="Times New Roman"/>
                <a:cs typeface="Times New Roman"/>
              </a:rPr>
              <a:t>allows</a:t>
            </a:r>
            <a:r>
              <a:rPr sz="2000" spc="-5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selection</a:t>
            </a:r>
            <a:r>
              <a:rPr sz="2000" spc="-45"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0"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performed</a:t>
            </a:r>
            <a:r>
              <a:rPr sz="2000" spc="-50" dirty="0">
                <a:solidFill>
                  <a:srgbClr val="FFFFFF"/>
                </a:solidFill>
                <a:latin typeface="Times New Roman"/>
                <a:cs typeface="Times New Roman"/>
              </a:rPr>
              <a:t> </a:t>
            </a:r>
            <a:r>
              <a:rPr sz="2000" spc="135" dirty="0">
                <a:solidFill>
                  <a:srgbClr val="FFFFFF"/>
                </a:solidFill>
                <a:latin typeface="Times New Roman"/>
                <a:cs typeface="Times New Roman"/>
              </a:rPr>
              <a:t>on</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0" dirty="0">
                <a:solidFill>
                  <a:srgbClr val="FFFFFF"/>
                </a:solidFill>
                <a:latin typeface="Times New Roman"/>
                <a:cs typeface="Times New Roman"/>
              </a:rPr>
              <a:t> </a:t>
            </a:r>
            <a:r>
              <a:rPr sz="2000" spc="100" dirty="0">
                <a:solidFill>
                  <a:srgbClr val="FFFFFF"/>
                </a:solidFill>
                <a:latin typeface="Times New Roman"/>
                <a:cs typeface="Times New Roman"/>
              </a:rPr>
              <a:t>product</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60" dirty="0">
                <a:solidFill>
                  <a:srgbClr val="FFFFFF"/>
                </a:solidFill>
                <a:latin typeface="Times New Roman"/>
                <a:cs typeface="Times New Roman"/>
              </a:rPr>
              <a:t> </a:t>
            </a:r>
            <a:r>
              <a:rPr sz="2000" spc="40" dirty="0">
                <a:solidFill>
                  <a:srgbClr val="FFFFFF"/>
                </a:solidFill>
                <a:latin typeface="Times New Roman"/>
                <a:cs typeface="Times New Roman"/>
              </a:rPr>
              <a:t>tables.</a:t>
            </a:r>
            <a:endParaRPr sz="2000">
              <a:latin typeface="Times New Roman"/>
              <a:cs typeface="Times New Roman"/>
            </a:endParaRPr>
          </a:p>
        </p:txBody>
      </p:sp>
      <p:pic>
        <p:nvPicPr>
          <p:cNvPr id="12" name="object 12"/>
          <p:cNvPicPr/>
          <p:nvPr/>
        </p:nvPicPr>
        <p:blipFill>
          <a:blip r:embed="rId7" cstate="print"/>
          <a:stretch>
            <a:fillRect/>
          </a:stretch>
        </p:blipFill>
        <p:spPr>
          <a:xfrm>
            <a:off x="1476755" y="4600194"/>
            <a:ext cx="6316980" cy="1107948"/>
          </a:xfrm>
          <a:prstGeom prst="rect">
            <a:avLst/>
          </a:prstGeom>
        </p:spPr>
      </p:pic>
      <p:sp>
        <p:nvSpPr>
          <p:cNvPr id="14" name="object 14"/>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22</a:t>
            </a:fld>
            <a:endParaRPr sz="1200"/>
          </a:p>
        </p:txBody>
      </p:sp>
      <p:sp>
        <p:nvSpPr>
          <p:cNvPr id="15" name="object 15"/>
          <p:cNvSpPr txBox="1">
            <a:spLocks noGrp="1"/>
          </p:cNvSpPr>
          <p:nvPr>
            <p:ph type="ftr" sz="quarter" idx="5"/>
          </p:nvPr>
        </p:nvSpPr>
        <p:spPr>
          <a:xfrm>
            <a:off x="78738" y="6596379"/>
            <a:ext cx="11404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77952" y="941819"/>
            <a:ext cx="8228965" cy="1183640"/>
            <a:chOff x="377952" y="941819"/>
            <a:chExt cx="8228965" cy="1183640"/>
          </a:xfrm>
        </p:grpSpPr>
        <p:pic>
          <p:nvPicPr>
            <p:cNvPr id="3" name="object 3"/>
            <p:cNvPicPr/>
            <p:nvPr/>
          </p:nvPicPr>
          <p:blipFill>
            <a:blip r:embed="rId3" cstate="print"/>
            <a:stretch>
              <a:fillRect/>
            </a:stretch>
          </p:blipFill>
          <p:spPr>
            <a:xfrm>
              <a:off x="377952" y="941819"/>
              <a:ext cx="8228838" cy="1183398"/>
            </a:xfrm>
            <a:prstGeom prst="rect">
              <a:avLst/>
            </a:prstGeom>
          </p:spPr>
        </p:pic>
        <p:pic>
          <p:nvPicPr>
            <p:cNvPr id="4" name="object 4"/>
            <p:cNvPicPr/>
            <p:nvPr/>
          </p:nvPicPr>
          <p:blipFill>
            <a:blip r:embed="rId4" cstate="print"/>
            <a:stretch>
              <a:fillRect/>
            </a:stretch>
          </p:blipFill>
          <p:spPr>
            <a:xfrm>
              <a:off x="419100" y="960119"/>
              <a:ext cx="8153400" cy="1107948"/>
            </a:xfrm>
            <a:prstGeom prst="rect">
              <a:avLst/>
            </a:prstGeom>
          </p:spPr>
        </p:pic>
      </p:grpSp>
      <p:sp>
        <p:nvSpPr>
          <p:cNvPr id="5" name="object 5"/>
          <p:cNvSpPr txBox="1"/>
          <p:nvPr/>
        </p:nvSpPr>
        <p:spPr>
          <a:xfrm>
            <a:off x="552195" y="1016762"/>
            <a:ext cx="7884159" cy="878840"/>
          </a:xfrm>
          <a:prstGeom prst="rect">
            <a:avLst/>
          </a:prstGeom>
        </p:spPr>
        <p:txBody>
          <a:bodyPr vert="horz" wrap="square" lIns="0" tIns="46990" rIns="0" bIns="0" rtlCol="0">
            <a:spAutoFit/>
          </a:bodyPr>
          <a:lstStyle/>
          <a:p>
            <a:pPr marL="12700" marR="5080">
              <a:lnSpc>
                <a:spcPts val="2160"/>
              </a:lnSpc>
              <a:spcBef>
                <a:spcPts val="370"/>
              </a:spcBef>
            </a:pPr>
            <a:r>
              <a:rPr sz="2000" spc="65" dirty="0">
                <a:solidFill>
                  <a:srgbClr val="FFFFFF"/>
                </a:solidFill>
                <a:latin typeface="Times New Roman"/>
                <a:cs typeface="Times New Roman"/>
              </a:rPr>
              <a:t>DIVIDE</a:t>
            </a:r>
            <a:r>
              <a:rPr sz="2000" spc="-70" dirty="0">
                <a:solidFill>
                  <a:srgbClr val="FFFFFF"/>
                </a:solidFill>
                <a:latin typeface="Times New Roman"/>
                <a:cs typeface="Times New Roman"/>
              </a:rPr>
              <a:t> </a:t>
            </a:r>
            <a:r>
              <a:rPr sz="2000" spc="85" dirty="0">
                <a:solidFill>
                  <a:srgbClr val="FFFFFF"/>
                </a:solidFill>
                <a:latin typeface="Times New Roman"/>
                <a:cs typeface="Times New Roman"/>
              </a:rPr>
              <a:t>Operator:</a:t>
            </a:r>
            <a:r>
              <a:rPr sz="2000" spc="380" dirty="0">
                <a:solidFill>
                  <a:srgbClr val="FFFFFF"/>
                </a:solidFill>
                <a:latin typeface="Times New Roman"/>
                <a:cs typeface="Times New Roman"/>
              </a:rPr>
              <a:t> </a:t>
            </a:r>
            <a:r>
              <a:rPr sz="2000" spc="85" dirty="0">
                <a:solidFill>
                  <a:srgbClr val="FFFFFF"/>
                </a:solidFill>
                <a:latin typeface="Times New Roman"/>
                <a:cs typeface="Times New Roman"/>
              </a:rPr>
              <a:t>Suppose</a:t>
            </a:r>
            <a:r>
              <a:rPr sz="2000" spc="-50" dirty="0">
                <a:solidFill>
                  <a:srgbClr val="FFFFFF"/>
                </a:solidFill>
                <a:latin typeface="Times New Roman"/>
                <a:cs typeface="Times New Roman"/>
              </a:rPr>
              <a:t> </a:t>
            </a:r>
            <a:r>
              <a:rPr sz="2000" spc="105" dirty="0">
                <a:solidFill>
                  <a:srgbClr val="FFFFFF"/>
                </a:solidFill>
                <a:latin typeface="Times New Roman"/>
                <a:cs typeface="Times New Roman"/>
              </a:rPr>
              <a:t>an</a:t>
            </a:r>
            <a:r>
              <a:rPr sz="2000" spc="-60" dirty="0">
                <a:solidFill>
                  <a:srgbClr val="FFFFFF"/>
                </a:solidFill>
                <a:latin typeface="Times New Roman"/>
                <a:cs typeface="Times New Roman"/>
              </a:rPr>
              <a:t> </a:t>
            </a:r>
            <a:r>
              <a:rPr sz="2000" spc="25" dirty="0">
                <a:solidFill>
                  <a:srgbClr val="FFFFFF"/>
                </a:solidFill>
                <a:latin typeface="Times New Roman"/>
                <a:cs typeface="Times New Roman"/>
              </a:rPr>
              <a:t>official</a:t>
            </a:r>
            <a:r>
              <a:rPr sz="2000" spc="-85" dirty="0">
                <a:solidFill>
                  <a:srgbClr val="FFFFFF"/>
                </a:solidFill>
                <a:latin typeface="Times New Roman"/>
                <a:cs typeface="Times New Roman"/>
              </a:rPr>
              <a:t> </a:t>
            </a:r>
            <a:r>
              <a:rPr sz="2000" spc="90" dirty="0">
                <a:solidFill>
                  <a:srgbClr val="FFFFFF"/>
                </a:solidFill>
                <a:latin typeface="Times New Roman"/>
                <a:cs typeface="Times New Roman"/>
              </a:rPr>
              <a:t>wanted</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0" dirty="0">
                <a:solidFill>
                  <a:srgbClr val="FFFFFF"/>
                </a:solidFill>
                <a:latin typeface="Times New Roman"/>
                <a:cs typeface="Times New Roman"/>
              </a:rPr>
              <a:t> </a:t>
            </a:r>
            <a:r>
              <a:rPr sz="2000" spc="30" dirty="0">
                <a:solidFill>
                  <a:srgbClr val="FFFFFF"/>
                </a:solidFill>
                <a:latin typeface="Times New Roman"/>
                <a:cs typeface="Times New Roman"/>
              </a:rPr>
              <a:t>see</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5" dirty="0">
                <a:solidFill>
                  <a:srgbClr val="FFFFFF"/>
                </a:solidFill>
                <a:latin typeface="Times New Roman"/>
                <a:cs typeface="Times New Roman"/>
              </a:rPr>
              <a:t> </a:t>
            </a:r>
            <a:r>
              <a:rPr sz="2000" spc="95" dirty="0">
                <a:solidFill>
                  <a:srgbClr val="FFFFFF"/>
                </a:solidFill>
                <a:latin typeface="Times New Roman"/>
                <a:cs typeface="Times New Roman"/>
              </a:rPr>
              <a:t>branch</a:t>
            </a:r>
            <a:r>
              <a:rPr sz="2000" spc="-60" dirty="0">
                <a:solidFill>
                  <a:srgbClr val="FFFFFF"/>
                </a:solidFill>
                <a:latin typeface="Times New Roman"/>
                <a:cs typeface="Times New Roman"/>
              </a:rPr>
              <a:t> </a:t>
            </a:r>
            <a:r>
              <a:rPr sz="2000" spc="70" dirty="0">
                <a:solidFill>
                  <a:srgbClr val="FFFFFF"/>
                </a:solidFill>
                <a:latin typeface="Times New Roman"/>
                <a:cs typeface="Times New Roman"/>
              </a:rPr>
              <a:t>names  </a:t>
            </a:r>
            <a:r>
              <a:rPr sz="2000" spc="114" dirty="0">
                <a:solidFill>
                  <a:srgbClr val="FFFFFF"/>
                </a:solidFill>
                <a:latin typeface="Times New Roman"/>
                <a:cs typeface="Times New Roman"/>
              </a:rPr>
              <a:t>and</a:t>
            </a:r>
            <a:r>
              <a:rPr sz="2000" spc="-70" dirty="0">
                <a:solidFill>
                  <a:srgbClr val="FFFFFF"/>
                </a:solidFill>
                <a:latin typeface="Times New Roman"/>
                <a:cs typeface="Times New Roman"/>
              </a:rPr>
              <a:t> </a:t>
            </a:r>
            <a:r>
              <a:rPr sz="2000" spc="40" dirty="0">
                <a:solidFill>
                  <a:srgbClr val="FFFFFF"/>
                </a:solidFill>
                <a:latin typeface="Times New Roman"/>
                <a:cs typeface="Times New Roman"/>
              </a:rPr>
              <a:t>reserves</a:t>
            </a:r>
            <a:r>
              <a:rPr sz="2000" spc="-4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10" dirty="0">
                <a:solidFill>
                  <a:srgbClr val="FFFFFF"/>
                </a:solidFill>
                <a:latin typeface="Times New Roman"/>
                <a:cs typeface="Times New Roman"/>
              </a:rPr>
              <a:t>all</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75" dirty="0">
                <a:solidFill>
                  <a:srgbClr val="FFFFFF"/>
                </a:solidFill>
                <a:latin typeface="Times New Roman"/>
                <a:cs typeface="Times New Roman"/>
              </a:rPr>
              <a:t>branches</a:t>
            </a:r>
            <a:r>
              <a:rPr sz="2000" spc="-5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50" dirty="0">
                <a:solidFill>
                  <a:srgbClr val="FFFFFF"/>
                </a:solidFill>
                <a:latin typeface="Times New Roman"/>
                <a:cs typeface="Times New Roman"/>
              </a:rPr>
              <a:t> </a:t>
            </a:r>
            <a:r>
              <a:rPr sz="2000" spc="110" dirty="0">
                <a:solidFill>
                  <a:srgbClr val="FFFFFF"/>
                </a:solidFill>
                <a:latin typeface="Times New Roman"/>
                <a:cs typeface="Times New Roman"/>
              </a:rPr>
              <a:t>had</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loans.</a:t>
            </a:r>
            <a:r>
              <a:rPr sz="2000" spc="-50" dirty="0">
                <a:solidFill>
                  <a:srgbClr val="FFFFFF"/>
                </a:solidFill>
                <a:latin typeface="Times New Roman"/>
                <a:cs typeface="Times New Roman"/>
              </a:rPr>
              <a:t> </a:t>
            </a:r>
            <a:r>
              <a:rPr sz="2000" spc="90" dirty="0">
                <a:solidFill>
                  <a:srgbClr val="FFFFFF"/>
                </a:solidFill>
                <a:latin typeface="Times New Roman"/>
                <a:cs typeface="Times New Roman"/>
              </a:rPr>
              <a:t>This</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process</a:t>
            </a:r>
            <a:r>
              <a:rPr sz="2000" spc="-6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55" dirty="0">
                <a:solidFill>
                  <a:srgbClr val="FFFFFF"/>
                </a:solidFill>
                <a:latin typeface="Times New Roman"/>
                <a:cs typeface="Times New Roman"/>
              </a:rPr>
              <a:t> </a:t>
            </a:r>
            <a:r>
              <a:rPr sz="2000" spc="75" dirty="0">
                <a:solidFill>
                  <a:srgbClr val="FFFFFF"/>
                </a:solidFill>
                <a:latin typeface="Times New Roman"/>
                <a:cs typeface="Times New Roman"/>
              </a:rPr>
              <a:t>made  </a:t>
            </a:r>
            <a:r>
              <a:rPr sz="2000" spc="40" dirty="0">
                <a:solidFill>
                  <a:srgbClr val="FFFFFF"/>
                </a:solidFill>
                <a:latin typeface="Times New Roman"/>
                <a:cs typeface="Times New Roman"/>
              </a:rPr>
              <a:t>very</a:t>
            </a:r>
            <a:r>
              <a:rPr sz="2000" spc="-65" dirty="0">
                <a:solidFill>
                  <a:srgbClr val="FFFFFF"/>
                </a:solidFill>
                <a:latin typeface="Times New Roman"/>
                <a:cs typeface="Times New Roman"/>
              </a:rPr>
              <a:t> </a:t>
            </a:r>
            <a:r>
              <a:rPr sz="2000" spc="20" dirty="0">
                <a:solidFill>
                  <a:srgbClr val="FFFFFF"/>
                </a:solidFill>
                <a:latin typeface="Times New Roman"/>
                <a:cs typeface="Times New Roman"/>
              </a:rPr>
              <a:t>easy</a:t>
            </a:r>
            <a:r>
              <a:rPr sz="2000" spc="-60" dirty="0">
                <a:solidFill>
                  <a:srgbClr val="FFFFFF"/>
                </a:solidFill>
                <a:latin typeface="Times New Roman"/>
                <a:cs typeface="Times New Roman"/>
              </a:rPr>
              <a:t> </a:t>
            </a:r>
            <a:r>
              <a:rPr sz="2000" spc="45" dirty="0">
                <a:solidFill>
                  <a:srgbClr val="FFFFFF"/>
                </a:solidFill>
                <a:latin typeface="Times New Roman"/>
                <a:cs typeface="Times New Roman"/>
              </a:rPr>
              <a:t>by</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using</a:t>
            </a:r>
            <a:r>
              <a:rPr sz="2000" spc="-75" dirty="0">
                <a:solidFill>
                  <a:srgbClr val="FFFFFF"/>
                </a:solidFill>
                <a:latin typeface="Times New Roman"/>
                <a:cs typeface="Times New Roman"/>
              </a:rPr>
              <a:t> </a:t>
            </a:r>
            <a:r>
              <a:rPr sz="2000" spc="114" dirty="0">
                <a:solidFill>
                  <a:srgbClr val="FFFFFF"/>
                </a:solidFill>
                <a:latin typeface="Times New Roman"/>
                <a:cs typeface="Times New Roman"/>
              </a:rPr>
              <a:t>the</a:t>
            </a:r>
            <a:r>
              <a:rPr sz="2000" spc="-80" dirty="0">
                <a:solidFill>
                  <a:srgbClr val="FFFFFF"/>
                </a:solidFill>
                <a:latin typeface="Times New Roman"/>
                <a:cs typeface="Times New Roman"/>
              </a:rPr>
              <a:t> </a:t>
            </a:r>
            <a:r>
              <a:rPr sz="2000" spc="65" dirty="0">
                <a:solidFill>
                  <a:srgbClr val="FFFFFF"/>
                </a:solidFill>
                <a:latin typeface="Times New Roman"/>
                <a:cs typeface="Times New Roman"/>
              </a:rPr>
              <a:t>DIVIDE</a:t>
            </a:r>
            <a:r>
              <a:rPr sz="2000" spc="-80" dirty="0">
                <a:solidFill>
                  <a:srgbClr val="FFFFFF"/>
                </a:solidFill>
                <a:latin typeface="Times New Roman"/>
                <a:cs typeface="Times New Roman"/>
              </a:rPr>
              <a:t> </a:t>
            </a:r>
            <a:r>
              <a:rPr sz="2000" spc="75" dirty="0">
                <a:solidFill>
                  <a:srgbClr val="FFFFFF"/>
                </a:solidFill>
                <a:latin typeface="Times New Roman"/>
                <a:cs typeface="Times New Roman"/>
              </a:rPr>
              <a:t>operator.</a:t>
            </a:r>
            <a:endParaRPr sz="2000">
              <a:latin typeface="Times New Roman"/>
              <a:cs typeface="Times New Roman"/>
            </a:endParaRPr>
          </a:p>
        </p:txBody>
      </p:sp>
      <p:sp>
        <p:nvSpPr>
          <p:cNvPr id="6" name="object 6"/>
          <p:cNvSpPr txBox="1"/>
          <p:nvPr/>
        </p:nvSpPr>
        <p:spPr>
          <a:xfrm>
            <a:off x="383540" y="56641"/>
            <a:ext cx="5636260" cy="574040"/>
          </a:xfrm>
          <a:prstGeom prst="rect">
            <a:avLst/>
          </a:prstGeom>
        </p:spPr>
        <p:txBody>
          <a:bodyPr vert="horz" wrap="square" lIns="0" tIns="12700" rIns="0" bIns="0" rtlCol="0">
            <a:spAutoFit/>
          </a:bodyPr>
          <a:lstStyle/>
          <a:p>
            <a:pPr marL="12700">
              <a:lnSpc>
                <a:spcPct val="100000"/>
              </a:lnSpc>
              <a:spcBef>
                <a:spcPts val="100"/>
              </a:spcBef>
            </a:pPr>
            <a:r>
              <a:rPr sz="3600" spc="110" dirty="0">
                <a:solidFill>
                  <a:srgbClr val="FFFFFF"/>
                </a:solidFill>
                <a:latin typeface="Times New Roman"/>
                <a:cs typeface="Times New Roman"/>
              </a:rPr>
              <a:t>Relational </a:t>
            </a:r>
            <a:r>
              <a:rPr sz="3600" spc="165" dirty="0">
                <a:solidFill>
                  <a:srgbClr val="FFFFFF"/>
                </a:solidFill>
                <a:latin typeface="Times New Roman"/>
                <a:cs typeface="Times New Roman"/>
              </a:rPr>
              <a:t>Operators</a:t>
            </a:r>
            <a:r>
              <a:rPr sz="3600" spc="-385" dirty="0">
                <a:solidFill>
                  <a:srgbClr val="FFFFFF"/>
                </a:solidFill>
                <a:latin typeface="Times New Roman"/>
                <a:cs typeface="Times New Roman"/>
              </a:rPr>
              <a:t> </a:t>
            </a:r>
            <a:r>
              <a:rPr sz="3600" spc="-5" dirty="0">
                <a:solidFill>
                  <a:srgbClr val="FFFFFF"/>
                </a:solidFill>
                <a:latin typeface="Times New Roman"/>
                <a:cs typeface="Times New Roman"/>
              </a:rPr>
              <a:t>6-6</a:t>
            </a:r>
            <a:endParaRPr sz="3600">
              <a:latin typeface="Times New Roman"/>
              <a:cs typeface="Times New Roman"/>
            </a:endParaRPr>
          </a:p>
        </p:txBody>
      </p:sp>
      <p:pic>
        <p:nvPicPr>
          <p:cNvPr id="7" name="object 7"/>
          <p:cNvPicPr/>
          <p:nvPr/>
        </p:nvPicPr>
        <p:blipFill>
          <a:blip r:embed="rId5" cstate="print"/>
          <a:stretch>
            <a:fillRect/>
          </a:stretch>
        </p:blipFill>
        <p:spPr>
          <a:xfrm>
            <a:off x="2667000" y="2159507"/>
            <a:ext cx="3938778" cy="1269491"/>
          </a:xfrm>
          <a:prstGeom prst="rect">
            <a:avLst/>
          </a:prstGeom>
        </p:spPr>
      </p:pic>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23</a:t>
            </a:fld>
            <a:endParaRPr sz="1200"/>
          </a:p>
        </p:txBody>
      </p:sp>
      <p:sp>
        <p:nvSpPr>
          <p:cNvPr id="10" name="object 10"/>
          <p:cNvSpPr txBox="1">
            <a:spLocks noGrp="1"/>
          </p:cNvSpPr>
          <p:nvPr>
            <p:ph type="ftr" sz="quarter" idx="5"/>
          </p:nvPr>
        </p:nvSpPr>
        <p:spPr>
          <a:xfrm>
            <a:off x="78738" y="6596379"/>
            <a:ext cx="12166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pc="155" dirty="0"/>
              <a:t>Summary</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89" baseline="4629" dirty="0"/>
              <a:t>2/</a:t>
            </a:r>
            <a:r>
              <a:rPr sz="1800" spc="-262" baseline="4629" dirty="0"/>
              <a:t> </a:t>
            </a:r>
            <a:fld id="{81D60167-4931-47E6-BA6A-407CBD079E47}" type="slidenum">
              <a:rPr sz="1200" spc="-5" dirty="0"/>
              <a:t>24</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pc="85" dirty="0"/>
              <a:t>Data</a:t>
            </a:r>
            <a:r>
              <a:rPr dirty="0"/>
              <a:t> </a:t>
            </a:r>
            <a:r>
              <a:rPr spc="65" dirty="0"/>
              <a:t>modeling</a:t>
            </a:r>
            <a:r>
              <a:rPr spc="10" dirty="0"/>
              <a:t> is</a:t>
            </a:r>
            <a:r>
              <a:rPr dirty="0"/>
              <a:t> </a:t>
            </a:r>
            <a:r>
              <a:rPr spc="114" dirty="0"/>
              <a:t>the</a:t>
            </a:r>
            <a:r>
              <a:rPr dirty="0"/>
              <a:t> </a:t>
            </a:r>
            <a:r>
              <a:rPr spc="50" dirty="0"/>
              <a:t>process</a:t>
            </a:r>
            <a:r>
              <a:rPr spc="10" dirty="0"/>
              <a:t> </a:t>
            </a:r>
            <a:r>
              <a:rPr spc="55" dirty="0"/>
              <a:t>of</a:t>
            </a:r>
            <a:r>
              <a:rPr spc="5" dirty="0"/>
              <a:t> </a:t>
            </a:r>
            <a:r>
              <a:rPr spc="50" dirty="0"/>
              <a:t>applying</a:t>
            </a:r>
            <a:r>
              <a:rPr spc="5" dirty="0"/>
              <a:t> </a:t>
            </a:r>
            <a:r>
              <a:rPr spc="105" dirty="0"/>
              <a:t>an</a:t>
            </a:r>
            <a:r>
              <a:rPr spc="5" dirty="0"/>
              <a:t> </a:t>
            </a:r>
            <a:r>
              <a:rPr spc="75" dirty="0"/>
              <a:t>appropriate</a:t>
            </a:r>
            <a:r>
              <a:rPr dirty="0"/>
              <a:t> </a:t>
            </a:r>
            <a:r>
              <a:rPr spc="80" dirty="0"/>
              <a:t>data</a:t>
            </a:r>
            <a:r>
              <a:rPr spc="5" dirty="0"/>
              <a:t> </a:t>
            </a:r>
            <a:r>
              <a:rPr spc="70" dirty="0"/>
              <a:t>model</a:t>
            </a:r>
            <a:r>
              <a:rPr spc="5" dirty="0"/>
              <a:t> </a:t>
            </a:r>
            <a:r>
              <a:rPr spc="110" dirty="0"/>
              <a:t>to</a:t>
            </a:r>
            <a:r>
              <a:rPr spc="5" dirty="0"/>
              <a:t> </a:t>
            </a:r>
            <a:r>
              <a:rPr spc="114" dirty="0"/>
              <a:t>the</a:t>
            </a:r>
          </a:p>
          <a:p>
            <a:pPr marL="353695">
              <a:lnSpc>
                <a:spcPct val="100000"/>
              </a:lnSpc>
            </a:pPr>
            <a:r>
              <a:rPr spc="80" dirty="0"/>
              <a:t>data at</a:t>
            </a:r>
            <a:r>
              <a:rPr spc="-225" dirty="0"/>
              <a:t> </a:t>
            </a:r>
            <a:r>
              <a:rPr spc="100" dirty="0"/>
              <a:t>hand.</a:t>
            </a:r>
          </a:p>
          <a:p>
            <a:pPr marL="353695" marR="5715" indent="-341630">
              <a:lnSpc>
                <a:spcPct val="100000"/>
              </a:lnSpc>
              <a:buFont typeface="Calibri"/>
              <a:buChar char="●"/>
              <a:tabLst>
                <a:tab pos="353695" algn="l"/>
                <a:tab pos="354330" algn="l"/>
              </a:tabLst>
            </a:pPr>
            <a:r>
              <a:rPr spc="25" dirty="0"/>
              <a:t>E-R </a:t>
            </a:r>
            <a:r>
              <a:rPr spc="70" dirty="0"/>
              <a:t>model </a:t>
            </a:r>
            <a:r>
              <a:rPr spc="30" dirty="0"/>
              <a:t>views </a:t>
            </a:r>
            <a:r>
              <a:rPr spc="110" dirty="0"/>
              <a:t>the </a:t>
            </a:r>
            <a:r>
              <a:rPr spc="50" dirty="0"/>
              <a:t>real-world </a:t>
            </a:r>
            <a:r>
              <a:rPr spc="20" dirty="0"/>
              <a:t>as </a:t>
            </a:r>
            <a:r>
              <a:rPr spc="30" dirty="0"/>
              <a:t>a </a:t>
            </a:r>
            <a:r>
              <a:rPr spc="55" dirty="0"/>
              <a:t>set of </a:t>
            </a:r>
            <a:r>
              <a:rPr spc="30" dirty="0"/>
              <a:t>basic </a:t>
            </a:r>
            <a:r>
              <a:rPr spc="55" dirty="0"/>
              <a:t>objects </a:t>
            </a:r>
            <a:r>
              <a:rPr spc="114" dirty="0"/>
              <a:t>and </a:t>
            </a:r>
            <a:r>
              <a:rPr spc="65" dirty="0"/>
              <a:t>relationships  </a:t>
            </a:r>
            <a:r>
              <a:rPr spc="75" dirty="0"/>
              <a:t>among</a:t>
            </a:r>
            <a:r>
              <a:rPr spc="-65" dirty="0"/>
              <a:t> </a:t>
            </a:r>
            <a:r>
              <a:rPr spc="85" dirty="0"/>
              <a:t>them.</a:t>
            </a:r>
          </a:p>
          <a:p>
            <a:pPr marL="353695" marR="6985" indent="-341630">
              <a:lnSpc>
                <a:spcPct val="100000"/>
              </a:lnSpc>
              <a:buFont typeface="Calibri"/>
              <a:buChar char="●"/>
              <a:tabLst>
                <a:tab pos="353695" algn="l"/>
                <a:tab pos="354330" algn="l"/>
              </a:tabLst>
            </a:pPr>
            <a:r>
              <a:rPr spc="60" dirty="0"/>
              <a:t>Entity, </a:t>
            </a:r>
            <a:r>
              <a:rPr spc="70" dirty="0"/>
              <a:t>attributes, </a:t>
            </a:r>
            <a:r>
              <a:rPr spc="80" dirty="0"/>
              <a:t>entity </a:t>
            </a:r>
            <a:r>
              <a:rPr spc="40" dirty="0"/>
              <a:t>set, </a:t>
            </a:r>
            <a:r>
              <a:rPr spc="60" dirty="0"/>
              <a:t>relationships, </a:t>
            </a:r>
            <a:r>
              <a:rPr spc="114" dirty="0"/>
              <a:t>and </a:t>
            </a:r>
            <a:r>
              <a:rPr spc="70" dirty="0"/>
              <a:t>relationship </a:t>
            </a:r>
            <a:r>
              <a:rPr spc="45" dirty="0"/>
              <a:t>sets </a:t>
            </a:r>
            <a:r>
              <a:rPr spc="70" dirty="0"/>
              <a:t>form </a:t>
            </a:r>
            <a:r>
              <a:rPr spc="114" dirty="0"/>
              <a:t>the  </a:t>
            </a:r>
            <a:r>
              <a:rPr spc="30" dirty="0"/>
              <a:t>five</a:t>
            </a:r>
            <a:r>
              <a:rPr spc="-80" dirty="0"/>
              <a:t> </a:t>
            </a:r>
            <a:r>
              <a:rPr spc="30" dirty="0"/>
              <a:t>basic</a:t>
            </a:r>
            <a:r>
              <a:rPr spc="-70" dirty="0"/>
              <a:t> </a:t>
            </a:r>
            <a:r>
              <a:rPr spc="95" dirty="0"/>
              <a:t>components</a:t>
            </a:r>
            <a:r>
              <a:rPr spc="-55" dirty="0"/>
              <a:t> </a:t>
            </a:r>
            <a:r>
              <a:rPr spc="55" dirty="0"/>
              <a:t>of</a:t>
            </a:r>
            <a:r>
              <a:rPr spc="-75" dirty="0"/>
              <a:t> </a:t>
            </a:r>
            <a:r>
              <a:rPr spc="25" dirty="0"/>
              <a:t>E-R</a:t>
            </a:r>
            <a:r>
              <a:rPr spc="-70" dirty="0"/>
              <a:t> </a:t>
            </a:r>
            <a:r>
              <a:rPr spc="60" dirty="0"/>
              <a:t>model.</a:t>
            </a:r>
          </a:p>
          <a:p>
            <a:pPr marL="353695" marR="5080" indent="-341630">
              <a:lnSpc>
                <a:spcPct val="100000"/>
              </a:lnSpc>
              <a:buFont typeface="Calibri"/>
              <a:buChar char="●"/>
              <a:tabLst>
                <a:tab pos="353695" algn="l"/>
                <a:tab pos="354330" algn="l"/>
              </a:tabLst>
            </a:pPr>
            <a:r>
              <a:rPr spc="65" dirty="0"/>
              <a:t>Mapping </a:t>
            </a:r>
            <a:r>
              <a:rPr spc="50" dirty="0"/>
              <a:t>cardinalities </a:t>
            </a:r>
            <a:r>
              <a:rPr spc="55" dirty="0"/>
              <a:t>express </a:t>
            </a:r>
            <a:r>
              <a:rPr spc="110" dirty="0"/>
              <a:t>the </a:t>
            </a:r>
            <a:r>
              <a:rPr spc="105" dirty="0"/>
              <a:t>number </a:t>
            </a:r>
            <a:r>
              <a:rPr spc="55" dirty="0"/>
              <a:t>of </a:t>
            </a:r>
            <a:r>
              <a:rPr spc="70" dirty="0"/>
              <a:t>entities </a:t>
            </a:r>
            <a:r>
              <a:rPr spc="114" dirty="0"/>
              <a:t>that </a:t>
            </a:r>
            <a:r>
              <a:rPr spc="105" dirty="0"/>
              <a:t>an </a:t>
            </a:r>
            <a:r>
              <a:rPr spc="80" dirty="0"/>
              <a:t>entity </a:t>
            </a:r>
            <a:r>
              <a:rPr spc="5" dirty="0"/>
              <a:t>is  </a:t>
            </a:r>
            <a:r>
              <a:rPr spc="50" dirty="0"/>
              <a:t>associated</a:t>
            </a:r>
            <a:r>
              <a:rPr spc="-75" dirty="0"/>
              <a:t> </a:t>
            </a:r>
            <a:r>
              <a:rPr spc="70" dirty="0"/>
              <a:t>with.</a:t>
            </a:r>
          </a:p>
          <a:p>
            <a:pPr marL="353695" marR="7620" indent="-341630">
              <a:lnSpc>
                <a:spcPct val="100000"/>
              </a:lnSpc>
              <a:buFont typeface="Calibri"/>
              <a:buChar char="●"/>
              <a:tabLst>
                <a:tab pos="353695" algn="l"/>
                <a:tab pos="354330" algn="l"/>
              </a:tabLst>
            </a:pPr>
            <a:r>
              <a:rPr spc="130" dirty="0"/>
              <a:t>The </a:t>
            </a:r>
            <a:r>
              <a:rPr spc="50" dirty="0"/>
              <a:t>process </a:t>
            </a:r>
            <a:r>
              <a:rPr spc="55" dirty="0"/>
              <a:t>of </a:t>
            </a:r>
            <a:r>
              <a:rPr spc="65" dirty="0"/>
              <a:t>removing </a:t>
            </a:r>
            <a:r>
              <a:rPr spc="114" dirty="0"/>
              <a:t>redundant </a:t>
            </a:r>
            <a:r>
              <a:rPr spc="80" dirty="0"/>
              <a:t>data </a:t>
            </a:r>
            <a:r>
              <a:rPr spc="75" dirty="0"/>
              <a:t>from </a:t>
            </a:r>
            <a:r>
              <a:rPr spc="110" dirty="0"/>
              <a:t>the </a:t>
            </a:r>
            <a:r>
              <a:rPr spc="50" dirty="0"/>
              <a:t>tables </a:t>
            </a:r>
            <a:r>
              <a:rPr spc="55" dirty="0"/>
              <a:t>of </a:t>
            </a:r>
            <a:r>
              <a:rPr spc="30" dirty="0"/>
              <a:t>a </a:t>
            </a:r>
            <a:r>
              <a:rPr spc="60" dirty="0"/>
              <a:t>relational  database </a:t>
            </a:r>
            <a:r>
              <a:rPr spc="5" dirty="0"/>
              <a:t>is </a:t>
            </a:r>
            <a:r>
              <a:rPr spc="35" dirty="0"/>
              <a:t>called</a:t>
            </a:r>
            <a:r>
              <a:rPr spc="-270" dirty="0"/>
              <a:t> </a:t>
            </a:r>
            <a:r>
              <a:rPr spc="55" dirty="0"/>
              <a:t>normalization.</a:t>
            </a:r>
          </a:p>
          <a:p>
            <a:pPr marL="353695" marR="6985" indent="-341630">
              <a:lnSpc>
                <a:spcPct val="100000"/>
              </a:lnSpc>
              <a:spcBef>
                <a:spcPts val="5"/>
              </a:spcBef>
              <a:buFont typeface="Calibri"/>
              <a:buChar char="●"/>
              <a:tabLst>
                <a:tab pos="353695" algn="l"/>
                <a:tab pos="354330" algn="l"/>
              </a:tabLst>
            </a:pPr>
            <a:r>
              <a:rPr spc="60" dirty="0"/>
              <a:t>Relational </a:t>
            </a:r>
            <a:r>
              <a:rPr spc="55" dirty="0"/>
              <a:t>Algebra consists of </a:t>
            </a:r>
            <a:r>
              <a:rPr spc="30" dirty="0"/>
              <a:t>a </a:t>
            </a:r>
            <a:r>
              <a:rPr spc="55" dirty="0"/>
              <a:t>collection of </a:t>
            </a:r>
            <a:r>
              <a:rPr spc="75" dirty="0"/>
              <a:t>operators </a:t>
            </a:r>
            <a:r>
              <a:rPr spc="114" dirty="0"/>
              <a:t>that </a:t>
            </a:r>
            <a:r>
              <a:rPr spc="80" dirty="0"/>
              <a:t>help </a:t>
            </a:r>
            <a:r>
              <a:rPr spc="60" dirty="0"/>
              <a:t>retrieve  </a:t>
            </a:r>
            <a:r>
              <a:rPr spc="80" dirty="0"/>
              <a:t>data</a:t>
            </a:r>
            <a:r>
              <a:rPr spc="-75" dirty="0"/>
              <a:t> </a:t>
            </a:r>
            <a:r>
              <a:rPr spc="70" dirty="0"/>
              <a:t>from</a:t>
            </a:r>
            <a:r>
              <a:rPr spc="-70" dirty="0"/>
              <a:t> </a:t>
            </a:r>
            <a:r>
              <a:rPr spc="110" dirty="0"/>
              <a:t>the</a:t>
            </a:r>
            <a:r>
              <a:rPr spc="-60" dirty="0"/>
              <a:t> </a:t>
            </a:r>
            <a:r>
              <a:rPr spc="60" dirty="0"/>
              <a:t>relational</a:t>
            </a:r>
            <a:r>
              <a:rPr spc="-45" dirty="0"/>
              <a:t> </a:t>
            </a:r>
            <a:r>
              <a:rPr spc="50" dirty="0"/>
              <a:t>databases.</a:t>
            </a:r>
          </a:p>
          <a:p>
            <a:pPr marL="353695" marR="6350" indent="-341630">
              <a:lnSpc>
                <a:spcPts val="2450"/>
              </a:lnSpc>
              <a:spcBef>
                <a:spcPts val="40"/>
              </a:spcBef>
              <a:buFont typeface="Calibri"/>
              <a:buChar char="●"/>
              <a:tabLst>
                <a:tab pos="353695" algn="l"/>
                <a:tab pos="354330" algn="l"/>
              </a:tabLst>
            </a:pPr>
            <a:r>
              <a:rPr spc="70" dirty="0"/>
              <a:t>SELECT, </a:t>
            </a:r>
            <a:r>
              <a:rPr spc="145" dirty="0"/>
              <a:t>PRODUCT, </a:t>
            </a:r>
            <a:r>
              <a:rPr spc="120" dirty="0"/>
              <a:t>UNION, </a:t>
            </a:r>
            <a:r>
              <a:rPr spc="114" dirty="0"/>
              <a:t>and </a:t>
            </a:r>
            <a:r>
              <a:rPr spc="65" dirty="0"/>
              <a:t>DIVIDE </a:t>
            </a:r>
            <a:r>
              <a:rPr spc="55" dirty="0"/>
              <a:t>are </a:t>
            </a:r>
            <a:r>
              <a:rPr spc="60" dirty="0"/>
              <a:t>some </a:t>
            </a:r>
            <a:r>
              <a:rPr spc="55" dirty="0"/>
              <a:t>of </a:t>
            </a:r>
            <a:r>
              <a:rPr spc="110" dirty="0"/>
              <a:t>the </a:t>
            </a:r>
            <a:r>
              <a:rPr spc="60" dirty="0"/>
              <a:t>relational  </a:t>
            </a:r>
            <a:r>
              <a:rPr spc="35" dirty="0"/>
              <a:t>algebra</a:t>
            </a:r>
            <a:r>
              <a:rPr spc="-60" dirty="0"/>
              <a:t> </a:t>
            </a:r>
            <a:r>
              <a:rPr spc="65" dirty="0"/>
              <a:t>operators.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276</TotalTime>
  <Words>3526</Words>
  <Application>Microsoft Office PowerPoint</Application>
  <PresentationFormat>On-screen Show (4:3)</PresentationFormat>
  <Paragraphs>334</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Book Antiqua</vt:lpstr>
      <vt:lpstr>Calibri</vt:lpstr>
      <vt:lpstr>Cambria</vt:lpstr>
      <vt:lpstr>Palatino Linotype</vt:lpstr>
      <vt:lpstr>Segoe UI Symbol</vt:lpstr>
      <vt:lpstr>Times New Roman</vt:lpstr>
      <vt:lpstr>Wingdings</vt:lpstr>
      <vt:lpstr>Office Theme</vt:lpstr>
      <vt:lpstr>Intelligent Data Management with  SQL Server</vt:lpstr>
      <vt:lpstr>Objectives</vt:lpstr>
      <vt:lpstr>Introduction</vt:lpstr>
      <vt:lpstr>Data Modeling</vt:lpstr>
      <vt:lpstr>PowerPoint Presentation</vt:lpstr>
      <vt:lpstr>PowerPoint Presentation</vt:lpstr>
      <vt:lpstr>Entity-Relationship (E-R) Model 3-5</vt:lpstr>
      <vt:lpstr>Entity-Relationship (E-R) Model 4-5</vt:lpstr>
      <vt:lpstr>Entity-Relationship (E-R) Model 5-5</vt:lpstr>
      <vt:lpstr>Entity-Relationship Diagrams 1-3</vt:lpstr>
      <vt:lpstr>Entity-Relationship Diagrams 2-3</vt:lpstr>
      <vt:lpstr>PowerPoint Presentation</vt:lpstr>
      <vt:lpstr>Normalization</vt:lpstr>
      <vt:lpstr>First Normal Form</vt:lpstr>
      <vt:lpstr>Second Normal Form</vt:lpstr>
      <vt:lpstr>Third Normal Form</vt:lpstr>
      <vt:lpstr>Denormalization</vt:lpstr>
      <vt:lpstr>Relational Operators 1-6</vt:lpstr>
      <vt:lpstr>Relational Operators 2-6</vt:lpstr>
      <vt:lpstr>Relational Operators 3-6</vt:lpstr>
      <vt:lpstr>Relational Operators 4-6</vt:lpstr>
      <vt:lpstr>Relational Operators 5-6</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148</cp:revision>
  <dcterms:created xsi:type="dcterms:W3CDTF">2021-10-11T16:07:24Z</dcterms:created>
  <dcterms:modified xsi:type="dcterms:W3CDTF">2021-10-12T04:03:06Z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